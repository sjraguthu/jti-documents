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18"/>
  </p:notesMasterIdLst>
  <p:sldIdLst>
    <p:sldId id="3316" r:id="rId7"/>
    <p:sldId id="3319" r:id="rId8"/>
    <p:sldId id="3320" r:id="rId9"/>
    <p:sldId id="3321" r:id="rId10"/>
    <p:sldId id="3322" r:id="rId11"/>
    <p:sldId id="2147477290" r:id="rId12"/>
    <p:sldId id="2147477291" r:id="rId13"/>
    <p:sldId id="2147477292" r:id="rId14"/>
    <p:sldId id="3323" r:id="rId15"/>
    <p:sldId id="2147477293" r:id="rId16"/>
    <p:sldId id="214747729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1AE3D2-E978-4CFA-BF69-8DC6C7BD6B8A}" v="4" dt="2024-04-26T10:56:52.9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DA1AE3D2-E978-4CFA-BF69-8DC6C7BD6B8A}"/>
    <pc:docChg chg="delSld">
      <pc:chgData name="Wang, Wei" userId="627587dd-935f-4f2b-a6c6-edd4e0dcbff5" providerId="ADAL" clId="{DA1AE3D2-E978-4CFA-BF69-8DC6C7BD6B8A}" dt="2024-04-26T10:57:02.786" v="2" actId="47"/>
      <pc:docMkLst>
        <pc:docMk/>
      </pc:docMkLst>
      <pc:sldChg chg="del">
        <pc:chgData name="Wang, Wei" userId="627587dd-935f-4f2b-a6c6-edd4e0dcbff5" providerId="ADAL" clId="{DA1AE3D2-E978-4CFA-BF69-8DC6C7BD6B8A}" dt="2024-04-25T18:29:56.854" v="0" actId="47"/>
        <pc:sldMkLst>
          <pc:docMk/>
          <pc:sldMk cId="2127992302" sldId="3319"/>
        </pc:sldMkLst>
      </pc:sldChg>
      <pc:sldChg chg="del">
        <pc:chgData name="Wang, Wei" userId="627587dd-935f-4f2b-a6c6-edd4e0dcbff5" providerId="ADAL" clId="{DA1AE3D2-E978-4CFA-BF69-8DC6C7BD6B8A}" dt="2024-04-25T18:29:56.854" v="0" actId="47"/>
        <pc:sldMkLst>
          <pc:docMk/>
          <pc:sldMk cId="2777060430" sldId="3320"/>
        </pc:sldMkLst>
      </pc:sldChg>
      <pc:sldChg chg="del">
        <pc:chgData name="Wang, Wei" userId="627587dd-935f-4f2b-a6c6-edd4e0dcbff5" providerId="ADAL" clId="{DA1AE3D2-E978-4CFA-BF69-8DC6C7BD6B8A}" dt="2024-04-25T18:29:56.854" v="0" actId="47"/>
        <pc:sldMkLst>
          <pc:docMk/>
          <pc:sldMk cId="1945554767" sldId="3321"/>
        </pc:sldMkLst>
      </pc:sldChg>
      <pc:sldChg chg="del">
        <pc:chgData name="Wang, Wei" userId="627587dd-935f-4f2b-a6c6-edd4e0dcbff5" providerId="ADAL" clId="{DA1AE3D2-E978-4CFA-BF69-8DC6C7BD6B8A}" dt="2024-04-25T18:29:56.854" v="0" actId="47"/>
        <pc:sldMkLst>
          <pc:docMk/>
          <pc:sldMk cId="2127991632" sldId="3322"/>
        </pc:sldMkLst>
      </pc:sldChg>
      <pc:sldChg chg="del">
        <pc:chgData name="Wang, Wei" userId="627587dd-935f-4f2b-a6c6-edd4e0dcbff5" providerId="ADAL" clId="{DA1AE3D2-E978-4CFA-BF69-8DC6C7BD6B8A}" dt="2024-04-25T18:29:56.854" v="0" actId="47"/>
        <pc:sldMkLst>
          <pc:docMk/>
          <pc:sldMk cId="4281611941" sldId="3323"/>
        </pc:sldMkLst>
      </pc:sldChg>
      <pc:sldChg chg="del">
        <pc:chgData name="Wang, Wei" userId="627587dd-935f-4f2b-a6c6-edd4e0dcbff5" providerId="ADAL" clId="{DA1AE3D2-E978-4CFA-BF69-8DC6C7BD6B8A}" dt="2024-04-26T10:57:02.786" v="2" actId="47"/>
        <pc:sldMkLst>
          <pc:docMk/>
          <pc:sldMk cId="3390179843" sldId="3326"/>
        </pc:sldMkLst>
      </pc:sldChg>
      <pc:sldChg chg="del">
        <pc:chgData name="Wang, Wei" userId="627587dd-935f-4f2b-a6c6-edd4e0dcbff5" providerId="ADAL" clId="{DA1AE3D2-E978-4CFA-BF69-8DC6C7BD6B8A}" dt="2024-04-26T10:57:01.839" v="1" actId="47"/>
        <pc:sldMkLst>
          <pc:docMk/>
          <pc:sldMk cId="3124520466" sldId="3327"/>
        </pc:sldMkLst>
      </pc:sldChg>
      <pc:sldMasterChg chg="delSldLayout">
        <pc:chgData name="Wang, Wei" userId="627587dd-935f-4f2b-a6c6-edd4e0dcbff5" providerId="ADAL" clId="{DA1AE3D2-E978-4CFA-BF69-8DC6C7BD6B8A}" dt="2024-04-25T18:29:56.854" v="0" actId="47"/>
        <pc:sldMasterMkLst>
          <pc:docMk/>
          <pc:sldMasterMk cId="2216067138" sldId="2147483931"/>
        </pc:sldMasterMkLst>
        <pc:sldLayoutChg chg="del">
          <pc:chgData name="Wang, Wei" userId="627587dd-935f-4f2b-a6c6-edd4e0dcbff5" providerId="ADAL" clId="{DA1AE3D2-E978-4CFA-BF69-8DC6C7BD6B8A}" dt="2024-04-25T18:29:56.854" v="0" actId="47"/>
          <pc:sldLayoutMkLst>
            <pc:docMk/>
            <pc:sldMasterMk cId="2216067138" sldId="2147483931"/>
            <pc:sldLayoutMk cId="3162750045" sldId="2147483996"/>
          </pc:sldLayoutMkLst>
        </pc:sldLayoutChg>
      </pc:sldMasterChg>
    </pc:docChg>
  </pc:docChgLst>
  <pc:docChgLst>
    <pc:chgData name="Wang, Wei" userId="627587dd-935f-4f2b-a6c6-edd4e0dcbff5" providerId="ADAL" clId="{7CF14D51-DD2E-44E7-8504-4CFF4B47EE1A}"/>
    <pc:docChg chg="delSld delMainMaster">
      <pc:chgData name="Wang, Wei" userId="627587dd-935f-4f2b-a6c6-edd4e0dcbff5" providerId="ADAL" clId="{7CF14D51-DD2E-44E7-8504-4CFF4B47EE1A}" dt="2020-05-21T16:20:02.697" v="45" actId="2696"/>
      <pc:docMkLst>
        <pc:docMk/>
      </pc:docMkLst>
      <pc:sldChg chg="del">
        <pc:chgData name="Wang, Wei" userId="627587dd-935f-4f2b-a6c6-edd4e0dcbff5" providerId="ADAL" clId="{7CF14D51-DD2E-44E7-8504-4CFF4B47EE1A}" dt="2020-05-21T16:20:02.647" v="17" actId="2696"/>
        <pc:sldMkLst>
          <pc:docMk/>
          <pc:sldMk cId="22907484" sldId="2522"/>
        </pc:sldMkLst>
      </pc:sldChg>
      <pc:sldChg chg="del">
        <pc:chgData name="Wang, Wei" userId="627587dd-935f-4f2b-a6c6-edd4e0dcbff5" providerId="ADAL" clId="{7CF14D51-DD2E-44E7-8504-4CFF4B47EE1A}" dt="2020-05-21T16:20:02.629" v="15" actId="2696"/>
        <pc:sldMkLst>
          <pc:docMk/>
          <pc:sldMk cId="391170887" sldId="2638"/>
        </pc:sldMkLst>
      </pc:sldChg>
      <pc:sldChg chg="del">
        <pc:chgData name="Wang, Wei" userId="627587dd-935f-4f2b-a6c6-edd4e0dcbff5" providerId="ADAL" clId="{7CF14D51-DD2E-44E7-8504-4CFF4B47EE1A}" dt="2020-05-21T16:20:02.286" v="0" actId="2696"/>
        <pc:sldMkLst>
          <pc:docMk/>
          <pc:sldMk cId="526447841" sldId="3317"/>
        </pc:sldMkLst>
      </pc:sldChg>
      <pc:sldChg chg="del">
        <pc:chgData name="Wang, Wei" userId="627587dd-935f-4f2b-a6c6-edd4e0dcbff5" providerId="ADAL" clId="{7CF14D51-DD2E-44E7-8504-4CFF4B47EE1A}" dt="2020-05-21T16:20:02.321" v="2" actId="2696"/>
        <pc:sldMkLst>
          <pc:docMk/>
          <pc:sldMk cId="3477645088" sldId="3328"/>
        </pc:sldMkLst>
      </pc:sldChg>
      <pc:sldChg chg="del">
        <pc:chgData name="Wang, Wei" userId="627587dd-935f-4f2b-a6c6-edd4e0dcbff5" providerId="ADAL" clId="{7CF14D51-DD2E-44E7-8504-4CFF4B47EE1A}" dt="2020-05-21T16:20:02.344" v="3" actId="2696"/>
        <pc:sldMkLst>
          <pc:docMk/>
          <pc:sldMk cId="1662053451" sldId="3329"/>
        </pc:sldMkLst>
      </pc:sldChg>
      <pc:sldChg chg="del">
        <pc:chgData name="Wang, Wei" userId="627587dd-935f-4f2b-a6c6-edd4e0dcbff5" providerId="ADAL" clId="{7CF14D51-DD2E-44E7-8504-4CFF4B47EE1A}" dt="2020-05-21T16:20:02.400" v="6" actId="2696"/>
        <pc:sldMkLst>
          <pc:docMk/>
          <pc:sldMk cId="346396587" sldId="3330"/>
        </pc:sldMkLst>
      </pc:sldChg>
      <pc:sldChg chg="del">
        <pc:chgData name="Wang, Wei" userId="627587dd-935f-4f2b-a6c6-edd4e0dcbff5" providerId="ADAL" clId="{7CF14D51-DD2E-44E7-8504-4CFF4B47EE1A}" dt="2020-05-21T16:20:02.443" v="8" actId="2696"/>
        <pc:sldMkLst>
          <pc:docMk/>
          <pc:sldMk cId="1291678737" sldId="3331"/>
        </pc:sldMkLst>
      </pc:sldChg>
      <pc:sldChg chg="del">
        <pc:chgData name="Wang, Wei" userId="627587dd-935f-4f2b-a6c6-edd4e0dcbff5" providerId="ADAL" clId="{7CF14D51-DD2E-44E7-8504-4CFF4B47EE1A}" dt="2020-05-21T16:20:02.500" v="10" actId="2696"/>
        <pc:sldMkLst>
          <pc:docMk/>
          <pc:sldMk cId="3148421959" sldId="3332"/>
        </pc:sldMkLst>
      </pc:sldChg>
      <pc:sldChg chg="del">
        <pc:chgData name="Wang, Wei" userId="627587dd-935f-4f2b-a6c6-edd4e0dcbff5" providerId="ADAL" clId="{7CF14D51-DD2E-44E7-8504-4CFF4B47EE1A}" dt="2020-05-21T16:20:02.303" v="1" actId="2696"/>
        <pc:sldMkLst>
          <pc:docMk/>
          <pc:sldMk cId="3111119971" sldId="3334"/>
        </pc:sldMkLst>
      </pc:sldChg>
      <pc:sldChg chg="del">
        <pc:chgData name="Wang, Wei" userId="627587dd-935f-4f2b-a6c6-edd4e0dcbff5" providerId="ADAL" clId="{7CF14D51-DD2E-44E7-8504-4CFF4B47EE1A}" dt="2020-05-21T16:20:02.362" v="4" actId="2696"/>
        <pc:sldMkLst>
          <pc:docMk/>
          <pc:sldMk cId="380740504" sldId="3335"/>
        </pc:sldMkLst>
      </pc:sldChg>
      <pc:sldChg chg="del">
        <pc:chgData name="Wang, Wei" userId="627587dd-935f-4f2b-a6c6-edd4e0dcbff5" providerId="ADAL" clId="{7CF14D51-DD2E-44E7-8504-4CFF4B47EE1A}" dt="2020-05-21T16:20:02.573" v="12" actId="2696"/>
        <pc:sldMkLst>
          <pc:docMk/>
          <pc:sldMk cId="4214234733" sldId="3337"/>
        </pc:sldMkLst>
      </pc:sldChg>
      <pc:sldChg chg="del">
        <pc:chgData name="Wang, Wei" userId="627587dd-935f-4f2b-a6c6-edd4e0dcbff5" providerId="ADAL" clId="{7CF14D51-DD2E-44E7-8504-4CFF4B47EE1A}" dt="2020-05-21T16:20:02.620" v="14" actId="2696"/>
        <pc:sldMkLst>
          <pc:docMk/>
          <pc:sldMk cId="3949925884" sldId="3338"/>
        </pc:sldMkLst>
      </pc:sldChg>
      <pc:sldChg chg="del">
        <pc:chgData name="Wang, Wei" userId="627587dd-935f-4f2b-a6c6-edd4e0dcbff5" providerId="ADAL" clId="{7CF14D51-DD2E-44E7-8504-4CFF4B47EE1A}" dt="2020-05-21T16:20:02.601" v="13" actId="2696"/>
        <pc:sldMkLst>
          <pc:docMk/>
          <pc:sldMk cId="4188551729" sldId="3339"/>
        </pc:sldMkLst>
      </pc:sldChg>
      <pc:sldChg chg="del">
        <pc:chgData name="Wang, Wei" userId="627587dd-935f-4f2b-a6c6-edd4e0dcbff5" providerId="ADAL" clId="{7CF14D51-DD2E-44E7-8504-4CFF4B47EE1A}" dt="2020-05-21T16:20:02.383" v="5" actId="2696"/>
        <pc:sldMkLst>
          <pc:docMk/>
          <pc:sldMk cId="3603535866" sldId="3340"/>
        </pc:sldMkLst>
      </pc:sldChg>
      <pc:sldChg chg="del">
        <pc:chgData name="Wang, Wei" userId="627587dd-935f-4f2b-a6c6-edd4e0dcbff5" providerId="ADAL" clId="{7CF14D51-DD2E-44E7-8504-4CFF4B47EE1A}" dt="2020-05-21T16:20:02.426" v="7" actId="2696"/>
        <pc:sldMkLst>
          <pc:docMk/>
          <pc:sldMk cId="3144107531" sldId="3341"/>
        </pc:sldMkLst>
      </pc:sldChg>
      <pc:sldChg chg="del">
        <pc:chgData name="Wang, Wei" userId="627587dd-935f-4f2b-a6c6-edd4e0dcbff5" providerId="ADAL" clId="{7CF14D51-DD2E-44E7-8504-4CFF4B47EE1A}" dt="2020-05-21T16:20:02.468" v="9" actId="2696"/>
        <pc:sldMkLst>
          <pc:docMk/>
          <pc:sldMk cId="2740622052" sldId="3342"/>
        </pc:sldMkLst>
      </pc:sldChg>
      <pc:sldChg chg="del">
        <pc:chgData name="Wang, Wei" userId="627587dd-935f-4f2b-a6c6-edd4e0dcbff5" providerId="ADAL" clId="{7CF14D51-DD2E-44E7-8504-4CFF4B47EE1A}" dt="2020-05-21T16:20:02.540" v="11" actId="2696"/>
        <pc:sldMkLst>
          <pc:docMk/>
          <pc:sldMk cId="2567629624" sldId="3394"/>
        </pc:sldMkLst>
      </pc:sldChg>
      <pc:sldMasterChg chg="del delSldLayout">
        <pc:chgData name="Wang, Wei" userId="627587dd-935f-4f2b-a6c6-edd4e0dcbff5" providerId="ADAL" clId="{7CF14D51-DD2E-44E7-8504-4CFF4B47EE1A}" dt="2020-05-21T16:20:02.697" v="45" actId="2696"/>
        <pc:sldMasterMkLst>
          <pc:docMk/>
          <pc:sldMasterMk cId="3877396151" sldId="2147483849"/>
        </pc:sldMasterMkLst>
        <pc:sldLayoutChg chg="del">
          <pc:chgData name="Wang, Wei" userId="627587dd-935f-4f2b-a6c6-edd4e0dcbff5" providerId="ADAL" clId="{7CF14D51-DD2E-44E7-8504-4CFF4B47EE1A}" dt="2020-05-21T16:20:02.648" v="18" actId="2696"/>
          <pc:sldLayoutMkLst>
            <pc:docMk/>
            <pc:sldMasterMk cId="3877396151" sldId="2147483849"/>
            <pc:sldLayoutMk cId="2809059773" sldId="2147483850"/>
          </pc:sldLayoutMkLst>
        </pc:sldLayoutChg>
        <pc:sldLayoutChg chg="del">
          <pc:chgData name="Wang, Wei" userId="627587dd-935f-4f2b-a6c6-edd4e0dcbff5" providerId="ADAL" clId="{7CF14D51-DD2E-44E7-8504-4CFF4B47EE1A}" dt="2020-05-21T16:20:02.650" v="19" actId="2696"/>
          <pc:sldLayoutMkLst>
            <pc:docMk/>
            <pc:sldMasterMk cId="3877396151" sldId="2147483849"/>
            <pc:sldLayoutMk cId="4210182259" sldId="2147483851"/>
          </pc:sldLayoutMkLst>
        </pc:sldLayoutChg>
        <pc:sldLayoutChg chg="del">
          <pc:chgData name="Wang, Wei" userId="627587dd-935f-4f2b-a6c6-edd4e0dcbff5" providerId="ADAL" clId="{7CF14D51-DD2E-44E7-8504-4CFF4B47EE1A}" dt="2020-05-21T16:20:02.651" v="20" actId="2696"/>
          <pc:sldLayoutMkLst>
            <pc:docMk/>
            <pc:sldMasterMk cId="3877396151" sldId="2147483849"/>
            <pc:sldLayoutMk cId="3881125674" sldId="2147483852"/>
          </pc:sldLayoutMkLst>
        </pc:sldLayoutChg>
        <pc:sldLayoutChg chg="del">
          <pc:chgData name="Wang, Wei" userId="627587dd-935f-4f2b-a6c6-edd4e0dcbff5" providerId="ADAL" clId="{7CF14D51-DD2E-44E7-8504-4CFF4B47EE1A}" dt="2020-05-21T16:20:02.653" v="21" actId="2696"/>
          <pc:sldLayoutMkLst>
            <pc:docMk/>
            <pc:sldMasterMk cId="3877396151" sldId="2147483849"/>
            <pc:sldLayoutMk cId="214291803" sldId="2147483853"/>
          </pc:sldLayoutMkLst>
        </pc:sldLayoutChg>
        <pc:sldLayoutChg chg="del">
          <pc:chgData name="Wang, Wei" userId="627587dd-935f-4f2b-a6c6-edd4e0dcbff5" providerId="ADAL" clId="{7CF14D51-DD2E-44E7-8504-4CFF4B47EE1A}" dt="2020-05-21T16:20:02.654" v="22" actId="2696"/>
          <pc:sldLayoutMkLst>
            <pc:docMk/>
            <pc:sldMasterMk cId="3877396151" sldId="2147483849"/>
            <pc:sldLayoutMk cId="1474066911" sldId="2147483854"/>
          </pc:sldLayoutMkLst>
        </pc:sldLayoutChg>
        <pc:sldLayoutChg chg="del">
          <pc:chgData name="Wang, Wei" userId="627587dd-935f-4f2b-a6c6-edd4e0dcbff5" providerId="ADAL" clId="{7CF14D51-DD2E-44E7-8504-4CFF4B47EE1A}" dt="2020-05-21T16:20:02.656" v="23" actId="2696"/>
          <pc:sldLayoutMkLst>
            <pc:docMk/>
            <pc:sldMasterMk cId="3877396151" sldId="2147483849"/>
            <pc:sldLayoutMk cId="1847845935" sldId="2147483855"/>
          </pc:sldLayoutMkLst>
        </pc:sldLayoutChg>
        <pc:sldLayoutChg chg="del">
          <pc:chgData name="Wang, Wei" userId="627587dd-935f-4f2b-a6c6-edd4e0dcbff5" providerId="ADAL" clId="{7CF14D51-DD2E-44E7-8504-4CFF4B47EE1A}" dt="2020-05-21T16:20:02.662" v="24" actId="2696"/>
          <pc:sldLayoutMkLst>
            <pc:docMk/>
            <pc:sldMasterMk cId="3877396151" sldId="2147483849"/>
            <pc:sldLayoutMk cId="4057498967" sldId="2147483856"/>
          </pc:sldLayoutMkLst>
        </pc:sldLayoutChg>
        <pc:sldLayoutChg chg="del">
          <pc:chgData name="Wang, Wei" userId="627587dd-935f-4f2b-a6c6-edd4e0dcbff5" providerId="ADAL" clId="{7CF14D51-DD2E-44E7-8504-4CFF4B47EE1A}" dt="2020-05-21T16:20:02.663" v="25" actId="2696"/>
          <pc:sldLayoutMkLst>
            <pc:docMk/>
            <pc:sldMasterMk cId="3877396151" sldId="2147483849"/>
            <pc:sldLayoutMk cId="439931139" sldId="2147483857"/>
          </pc:sldLayoutMkLst>
        </pc:sldLayoutChg>
        <pc:sldLayoutChg chg="del">
          <pc:chgData name="Wang, Wei" userId="627587dd-935f-4f2b-a6c6-edd4e0dcbff5" providerId="ADAL" clId="{7CF14D51-DD2E-44E7-8504-4CFF4B47EE1A}" dt="2020-05-21T16:20:02.665" v="26" actId="2696"/>
          <pc:sldLayoutMkLst>
            <pc:docMk/>
            <pc:sldMasterMk cId="3877396151" sldId="2147483849"/>
            <pc:sldLayoutMk cId="740488066" sldId="2147483858"/>
          </pc:sldLayoutMkLst>
        </pc:sldLayoutChg>
        <pc:sldLayoutChg chg="del">
          <pc:chgData name="Wang, Wei" userId="627587dd-935f-4f2b-a6c6-edd4e0dcbff5" providerId="ADAL" clId="{7CF14D51-DD2E-44E7-8504-4CFF4B47EE1A}" dt="2020-05-21T16:20:02.666" v="27" actId="2696"/>
          <pc:sldLayoutMkLst>
            <pc:docMk/>
            <pc:sldMasterMk cId="3877396151" sldId="2147483849"/>
            <pc:sldLayoutMk cId="1760919890" sldId="2147483859"/>
          </pc:sldLayoutMkLst>
        </pc:sldLayoutChg>
        <pc:sldLayoutChg chg="del">
          <pc:chgData name="Wang, Wei" userId="627587dd-935f-4f2b-a6c6-edd4e0dcbff5" providerId="ADAL" clId="{7CF14D51-DD2E-44E7-8504-4CFF4B47EE1A}" dt="2020-05-21T16:20:02.667" v="28" actId="2696"/>
          <pc:sldLayoutMkLst>
            <pc:docMk/>
            <pc:sldMasterMk cId="3877396151" sldId="2147483849"/>
            <pc:sldLayoutMk cId="2694469045" sldId="2147483860"/>
          </pc:sldLayoutMkLst>
        </pc:sldLayoutChg>
        <pc:sldLayoutChg chg="del">
          <pc:chgData name="Wang, Wei" userId="627587dd-935f-4f2b-a6c6-edd4e0dcbff5" providerId="ADAL" clId="{7CF14D51-DD2E-44E7-8504-4CFF4B47EE1A}" dt="2020-05-21T16:20:02.668" v="29" actId="2696"/>
          <pc:sldLayoutMkLst>
            <pc:docMk/>
            <pc:sldMasterMk cId="3877396151" sldId="2147483849"/>
            <pc:sldLayoutMk cId="2180933198" sldId="2147483861"/>
          </pc:sldLayoutMkLst>
        </pc:sldLayoutChg>
        <pc:sldLayoutChg chg="del">
          <pc:chgData name="Wang, Wei" userId="627587dd-935f-4f2b-a6c6-edd4e0dcbff5" providerId="ADAL" clId="{7CF14D51-DD2E-44E7-8504-4CFF4B47EE1A}" dt="2020-05-21T16:20:02.669" v="30" actId="2696"/>
          <pc:sldLayoutMkLst>
            <pc:docMk/>
            <pc:sldMasterMk cId="3877396151" sldId="2147483849"/>
            <pc:sldLayoutMk cId="3841452663" sldId="2147483862"/>
          </pc:sldLayoutMkLst>
        </pc:sldLayoutChg>
        <pc:sldLayoutChg chg="del">
          <pc:chgData name="Wang, Wei" userId="627587dd-935f-4f2b-a6c6-edd4e0dcbff5" providerId="ADAL" clId="{7CF14D51-DD2E-44E7-8504-4CFF4B47EE1A}" dt="2020-05-21T16:20:02.670" v="31" actId="2696"/>
          <pc:sldLayoutMkLst>
            <pc:docMk/>
            <pc:sldMasterMk cId="3877396151" sldId="2147483849"/>
            <pc:sldLayoutMk cId="1875997094" sldId="2147483863"/>
          </pc:sldLayoutMkLst>
        </pc:sldLayoutChg>
        <pc:sldLayoutChg chg="del">
          <pc:chgData name="Wang, Wei" userId="627587dd-935f-4f2b-a6c6-edd4e0dcbff5" providerId="ADAL" clId="{7CF14D51-DD2E-44E7-8504-4CFF4B47EE1A}" dt="2020-05-21T16:20:02.672" v="32" actId="2696"/>
          <pc:sldLayoutMkLst>
            <pc:docMk/>
            <pc:sldMasterMk cId="3877396151" sldId="2147483849"/>
            <pc:sldLayoutMk cId="2610778980" sldId="2147483864"/>
          </pc:sldLayoutMkLst>
        </pc:sldLayoutChg>
        <pc:sldLayoutChg chg="del">
          <pc:chgData name="Wang, Wei" userId="627587dd-935f-4f2b-a6c6-edd4e0dcbff5" providerId="ADAL" clId="{7CF14D51-DD2E-44E7-8504-4CFF4B47EE1A}" dt="2020-05-21T16:20:02.676" v="33" actId="2696"/>
          <pc:sldLayoutMkLst>
            <pc:docMk/>
            <pc:sldMasterMk cId="3877396151" sldId="2147483849"/>
            <pc:sldLayoutMk cId="2535699597" sldId="2147483865"/>
          </pc:sldLayoutMkLst>
        </pc:sldLayoutChg>
        <pc:sldLayoutChg chg="del">
          <pc:chgData name="Wang, Wei" userId="627587dd-935f-4f2b-a6c6-edd4e0dcbff5" providerId="ADAL" clId="{7CF14D51-DD2E-44E7-8504-4CFF4B47EE1A}" dt="2020-05-21T16:20:02.679" v="34" actId="2696"/>
          <pc:sldLayoutMkLst>
            <pc:docMk/>
            <pc:sldMasterMk cId="3877396151" sldId="2147483849"/>
            <pc:sldLayoutMk cId="3601425507" sldId="2147483866"/>
          </pc:sldLayoutMkLst>
        </pc:sldLayoutChg>
        <pc:sldLayoutChg chg="del">
          <pc:chgData name="Wang, Wei" userId="627587dd-935f-4f2b-a6c6-edd4e0dcbff5" providerId="ADAL" clId="{7CF14D51-DD2E-44E7-8504-4CFF4B47EE1A}" dt="2020-05-21T16:20:02.680" v="35" actId="2696"/>
          <pc:sldLayoutMkLst>
            <pc:docMk/>
            <pc:sldMasterMk cId="3877396151" sldId="2147483849"/>
            <pc:sldLayoutMk cId="2609394409" sldId="2147483867"/>
          </pc:sldLayoutMkLst>
        </pc:sldLayoutChg>
        <pc:sldLayoutChg chg="del">
          <pc:chgData name="Wang, Wei" userId="627587dd-935f-4f2b-a6c6-edd4e0dcbff5" providerId="ADAL" clId="{7CF14D51-DD2E-44E7-8504-4CFF4B47EE1A}" dt="2020-05-21T16:20:02.682" v="36" actId="2696"/>
          <pc:sldLayoutMkLst>
            <pc:docMk/>
            <pc:sldMasterMk cId="3877396151" sldId="2147483849"/>
            <pc:sldLayoutMk cId="3610381843" sldId="2147483868"/>
          </pc:sldLayoutMkLst>
        </pc:sldLayoutChg>
        <pc:sldLayoutChg chg="del">
          <pc:chgData name="Wang, Wei" userId="627587dd-935f-4f2b-a6c6-edd4e0dcbff5" providerId="ADAL" clId="{7CF14D51-DD2E-44E7-8504-4CFF4B47EE1A}" dt="2020-05-21T16:20:02.683" v="37" actId="2696"/>
          <pc:sldLayoutMkLst>
            <pc:docMk/>
            <pc:sldMasterMk cId="3877396151" sldId="2147483849"/>
            <pc:sldLayoutMk cId="286573086" sldId="2147483869"/>
          </pc:sldLayoutMkLst>
        </pc:sldLayoutChg>
        <pc:sldLayoutChg chg="del">
          <pc:chgData name="Wang, Wei" userId="627587dd-935f-4f2b-a6c6-edd4e0dcbff5" providerId="ADAL" clId="{7CF14D51-DD2E-44E7-8504-4CFF4B47EE1A}" dt="2020-05-21T16:20:02.685" v="38" actId="2696"/>
          <pc:sldLayoutMkLst>
            <pc:docMk/>
            <pc:sldMasterMk cId="3877396151" sldId="2147483849"/>
            <pc:sldLayoutMk cId="1939716253" sldId="2147483870"/>
          </pc:sldLayoutMkLst>
        </pc:sldLayoutChg>
        <pc:sldLayoutChg chg="del">
          <pc:chgData name="Wang, Wei" userId="627587dd-935f-4f2b-a6c6-edd4e0dcbff5" providerId="ADAL" clId="{7CF14D51-DD2E-44E7-8504-4CFF4B47EE1A}" dt="2020-05-21T16:20:02.686" v="39" actId="2696"/>
          <pc:sldLayoutMkLst>
            <pc:docMk/>
            <pc:sldMasterMk cId="3877396151" sldId="2147483849"/>
            <pc:sldLayoutMk cId="3360775297" sldId="2147483871"/>
          </pc:sldLayoutMkLst>
        </pc:sldLayoutChg>
        <pc:sldLayoutChg chg="del">
          <pc:chgData name="Wang, Wei" userId="627587dd-935f-4f2b-a6c6-edd4e0dcbff5" providerId="ADAL" clId="{7CF14D51-DD2E-44E7-8504-4CFF4B47EE1A}" dt="2020-05-21T16:20:02.687" v="40" actId="2696"/>
          <pc:sldLayoutMkLst>
            <pc:docMk/>
            <pc:sldMasterMk cId="3877396151" sldId="2147483849"/>
            <pc:sldLayoutMk cId="1765900942" sldId="2147483872"/>
          </pc:sldLayoutMkLst>
        </pc:sldLayoutChg>
        <pc:sldLayoutChg chg="del">
          <pc:chgData name="Wang, Wei" userId="627587dd-935f-4f2b-a6c6-edd4e0dcbff5" providerId="ADAL" clId="{7CF14D51-DD2E-44E7-8504-4CFF4B47EE1A}" dt="2020-05-21T16:20:02.688" v="41" actId="2696"/>
          <pc:sldLayoutMkLst>
            <pc:docMk/>
            <pc:sldMasterMk cId="3877396151" sldId="2147483849"/>
            <pc:sldLayoutMk cId="1953932773" sldId="2147483873"/>
          </pc:sldLayoutMkLst>
        </pc:sldLayoutChg>
        <pc:sldLayoutChg chg="del">
          <pc:chgData name="Wang, Wei" userId="627587dd-935f-4f2b-a6c6-edd4e0dcbff5" providerId="ADAL" clId="{7CF14D51-DD2E-44E7-8504-4CFF4B47EE1A}" dt="2020-05-21T16:20:02.690" v="42" actId="2696"/>
          <pc:sldLayoutMkLst>
            <pc:docMk/>
            <pc:sldMasterMk cId="3877396151" sldId="2147483849"/>
            <pc:sldLayoutMk cId="2795723551" sldId="2147483874"/>
          </pc:sldLayoutMkLst>
        </pc:sldLayoutChg>
        <pc:sldLayoutChg chg="del">
          <pc:chgData name="Wang, Wei" userId="627587dd-935f-4f2b-a6c6-edd4e0dcbff5" providerId="ADAL" clId="{7CF14D51-DD2E-44E7-8504-4CFF4B47EE1A}" dt="2020-05-21T16:20:02.693" v="43" actId="2696"/>
          <pc:sldLayoutMkLst>
            <pc:docMk/>
            <pc:sldMasterMk cId="3877396151" sldId="2147483849"/>
            <pc:sldLayoutMk cId="3625183382" sldId="2147483875"/>
          </pc:sldLayoutMkLst>
        </pc:sldLayoutChg>
        <pc:sldLayoutChg chg="del">
          <pc:chgData name="Wang, Wei" userId="627587dd-935f-4f2b-a6c6-edd4e0dcbff5" providerId="ADAL" clId="{7CF14D51-DD2E-44E7-8504-4CFF4B47EE1A}" dt="2020-05-21T16:20:02.695" v="44" actId="2696"/>
          <pc:sldLayoutMkLst>
            <pc:docMk/>
            <pc:sldMasterMk cId="3877396151" sldId="2147483849"/>
            <pc:sldLayoutMk cId="3754326233" sldId="2147483876"/>
          </pc:sldLayoutMkLst>
        </pc:sldLayoutChg>
      </pc:sldMasterChg>
      <pc:sldMasterChg chg="delSldLayout">
        <pc:chgData name="Wang, Wei" userId="627587dd-935f-4f2b-a6c6-edd4e0dcbff5" providerId="ADAL" clId="{7CF14D51-DD2E-44E7-8504-4CFF4B47EE1A}" dt="2020-05-21T16:20:02.631" v="16" actId="2696"/>
        <pc:sldMasterMkLst>
          <pc:docMk/>
          <pc:sldMasterMk cId="2216067138" sldId="2147483931"/>
        </pc:sldMasterMkLst>
        <pc:sldLayoutChg chg="del">
          <pc:chgData name="Wang, Wei" userId="627587dd-935f-4f2b-a6c6-edd4e0dcbff5" providerId="ADAL" clId="{7CF14D51-DD2E-44E7-8504-4CFF4B47EE1A}" dt="2020-05-21T16:20:02.631" v="16" actId="2696"/>
          <pc:sldLayoutMkLst>
            <pc:docMk/>
            <pc:sldMasterMk cId="2216067138" sldId="2147483931"/>
            <pc:sldLayoutMk cId="852366077" sldId="2147483997"/>
          </pc:sldLayoutMkLst>
        </pc:sldLayoutChg>
      </pc:sldMasterChg>
    </pc:docChg>
  </pc:docChgLst>
  <pc:docChgLst>
    <pc:chgData name="Wang, Wei" userId="627587dd-935f-4f2b-a6c6-edd4e0dcbff5" providerId="ADAL" clId="{CA4E89E4-842A-4FC6-8E2B-51B2DA5662AB}"/>
    <pc:docChg chg="delSld">
      <pc:chgData name="Wang, Wei" userId="627587dd-935f-4f2b-a6c6-edd4e0dcbff5" providerId="ADAL" clId="{CA4E89E4-842A-4FC6-8E2B-51B2DA5662AB}" dt="2020-05-21T16:19:11.629" v="4" actId="2696"/>
      <pc:docMkLst>
        <pc:docMk/>
      </pc:docMkLst>
      <pc:sldChg chg="del">
        <pc:chgData name="Wang, Wei" userId="627587dd-935f-4f2b-a6c6-edd4e0dcbff5" providerId="ADAL" clId="{CA4E89E4-842A-4FC6-8E2B-51B2DA5662AB}" dt="2020-05-21T16:19:11.629" v="4" actId="2696"/>
        <pc:sldMkLst>
          <pc:docMk/>
          <pc:sldMk cId="1713380516" sldId="2558"/>
        </pc:sldMkLst>
      </pc:sldChg>
      <pc:sldChg chg="del">
        <pc:chgData name="Wang, Wei" userId="627587dd-935f-4f2b-a6c6-edd4e0dcbff5" providerId="ADAL" clId="{CA4E89E4-842A-4FC6-8E2B-51B2DA5662AB}" dt="2020-05-21T16:19:11.542" v="0" actId="2696"/>
        <pc:sldMkLst>
          <pc:docMk/>
          <pc:sldMk cId="215748073" sldId="3313"/>
        </pc:sldMkLst>
      </pc:sldChg>
      <pc:sldChg chg="del">
        <pc:chgData name="Wang, Wei" userId="627587dd-935f-4f2b-a6c6-edd4e0dcbff5" providerId="ADAL" clId="{CA4E89E4-842A-4FC6-8E2B-51B2DA5662AB}" dt="2020-05-21T16:19:11.569" v="1" actId="2696"/>
        <pc:sldMkLst>
          <pc:docMk/>
          <pc:sldMk cId="4262673835" sldId="3314"/>
        </pc:sldMkLst>
      </pc:sldChg>
      <pc:sldChg chg="del">
        <pc:chgData name="Wang, Wei" userId="627587dd-935f-4f2b-a6c6-edd4e0dcbff5" providerId="ADAL" clId="{CA4E89E4-842A-4FC6-8E2B-51B2DA5662AB}" dt="2020-05-21T16:19:11.593" v="2" actId="2696"/>
        <pc:sldMkLst>
          <pc:docMk/>
          <pc:sldMk cId="3335184793" sldId="3315"/>
        </pc:sldMkLst>
      </pc:sldChg>
      <pc:sldChg chg="del">
        <pc:chgData name="Wang, Wei" userId="627587dd-935f-4f2b-a6c6-edd4e0dcbff5" providerId="ADAL" clId="{CA4E89E4-842A-4FC6-8E2B-51B2DA5662AB}" dt="2020-05-21T16:19:11.612" v="3" actId="2696"/>
        <pc:sldMkLst>
          <pc:docMk/>
          <pc:sldMk cId="2947608363" sldId="331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26/04/2024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73363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4537672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3.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9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11.xml"/><Relationship Id="rId6" Type="http://schemas.openxmlformats.org/officeDocument/2006/relationships/image" Target="../media/image12.png"/><Relationship Id="rId5" Type="http://schemas.microsoft.com/office/2007/relationships/hdphoto" Target="../media/hdphoto4.wdp"/><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 Id="rId4" Type="http://schemas.microsoft.com/office/2007/relationships/hdphoto" Target="../media/hdphoto5.wdp"/></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p:cNvSpPr>
            <a:spLocks noGrp="1"/>
          </p:cNvSpPr>
          <p:nvPr>
            <p:ph type="sldNum" sz="quarter" idx="12"/>
          </p:nvPr>
        </p:nvSpPr>
        <p:spPr/>
        <p:txBody>
          <a:bodyPr/>
          <a:lstStyle/>
          <a:p>
            <a:fld id="{F4C94289-3309-4C35-850A-56FD49B3E346}" type="slidenum">
              <a:rPr lang="en-GB" smtClean="0"/>
              <a:pPr/>
              <a:t>1</a:t>
            </a:fld>
            <a:endParaRPr lang="en-GB"/>
          </a:p>
        </p:txBody>
      </p:sp>
      <p:sp>
        <p:nvSpPr>
          <p:cNvPr id="34" name="Title 33"/>
          <p:cNvSpPr>
            <a:spLocks noGrp="1"/>
          </p:cNvSpPr>
          <p:nvPr>
            <p:ph type="title"/>
          </p:nvPr>
        </p:nvSpPr>
        <p:spPr/>
        <p:txBody>
          <a:bodyPr/>
          <a:lstStyle/>
          <a:p>
            <a:r>
              <a:rPr lang="en-GB"/>
              <a:t>Period End Closing Execution (BSC) </a:t>
            </a:r>
          </a:p>
        </p:txBody>
      </p:sp>
      <p:cxnSp>
        <p:nvCxnSpPr>
          <p:cNvPr id="8" name="Elbow Connector 7"/>
          <p:cNvCxnSpPr>
            <a:cxnSpLocks/>
          </p:cNvCxnSpPr>
          <p:nvPr/>
        </p:nvCxnSpPr>
        <p:spPr>
          <a:xfrm rot="16200000" flipH="1">
            <a:off x="2744086" y="4077167"/>
            <a:ext cx="1967667" cy="740429"/>
          </a:xfrm>
          <a:prstGeom prst="bentConnector3">
            <a:avLst>
              <a:gd name="adj1" fmla="val 9964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379734" y="3632028"/>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a:off x="3357704" y="4536961"/>
            <a:ext cx="740428"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4234198" y="2439972"/>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chemeClr val="bg1"/>
                </a:solidFill>
                <a:latin typeface="Arial" charset="0"/>
                <a:ea typeface="Arial" charset="0"/>
                <a:cs typeface="Arial" charset="0"/>
              </a:rPr>
              <a:t>Period End Closing Overview</a:t>
            </a:r>
            <a:endParaRPr lang="en-GB" sz="1400">
              <a:solidFill>
                <a:schemeClr val="bg1"/>
              </a:solidFill>
            </a:endParaRPr>
          </a:p>
        </p:txBody>
      </p:sp>
      <p:sp>
        <p:nvSpPr>
          <p:cNvPr id="40" name="Rounded Rectangle 39"/>
          <p:cNvSpPr/>
          <p:nvPr/>
        </p:nvSpPr>
        <p:spPr>
          <a:xfrm>
            <a:off x="4234198" y="3353104"/>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chemeClr val="bg1"/>
                </a:solidFill>
                <a:ea typeface="Arial" charset="0"/>
                <a:cs typeface="Arial"/>
              </a:rPr>
              <a:t>Period End Closing Key Process Areas and New Period End Checks</a:t>
            </a:r>
          </a:p>
        </p:txBody>
      </p:sp>
      <p:sp>
        <p:nvSpPr>
          <p:cNvPr id="41" name="Rounded Rectangle 40"/>
          <p:cNvSpPr/>
          <p:nvPr/>
        </p:nvSpPr>
        <p:spPr>
          <a:xfrm>
            <a:off x="4234198" y="426623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Post Closing Activities</a:t>
            </a:r>
          </a:p>
        </p:txBody>
      </p:sp>
      <p:sp>
        <p:nvSpPr>
          <p:cNvPr id="42" name="Rounded Rectangle 41"/>
          <p:cNvSpPr/>
          <p:nvPr/>
        </p:nvSpPr>
        <p:spPr>
          <a:xfrm>
            <a:off x="4234198" y="5179367"/>
            <a:ext cx="609852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chemeClr val="bg1"/>
                </a:solidFill>
                <a:cs typeface="Arial"/>
              </a:rPr>
              <a:t>Year End Specific Closing Activities</a:t>
            </a:r>
            <a:endParaRPr lang="en-GB" sz="1400" b="1">
              <a:solidFill>
                <a:schemeClr val="bg1"/>
              </a:solidFill>
              <a:latin typeface="Arial"/>
              <a:cs typeface="Arial"/>
            </a:endParaRPr>
          </a:p>
        </p:txBody>
      </p:sp>
      <p:cxnSp>
        <p:nvCxnSpPr>
          <p:cNvPr id="17" name="Connector: Elbow 16">
            <a:extLst>
              <a:ext uri="{FF2B5EF4-FFF2-40B4-BE49-F238E27FC236}">
                <a16:creationId xmlns:a16="http://schemas.microsoft.com/office/drawing/2014/main" id="{0F65B0DB-7517-46A1-8934-276D3565448D}"/>
              </a:ext>
            </a:extLst>
          </p:cNvPr>
          <p:cNvCxnSpPr>
            <a:cxnSpLocks/>
          </p:cNvCxnSpPr>
          <p:nvPr/>
        </p:nvCxnSpPr>
        <p:spPr>
          <a:xfrm rot="10800000" flipV="1">
            <a:off x="2487149" y="2727095"/>
            <a:ext cx="1642156" cy="904932"/>
          </a:xfrm>
          <a:prstGeom prst="bentConnector3">
            <a:avLst>
              <a:gd name="adj1" fmla="val 46836"/>
            </a:avLst>
          </a:prstGeom>
          <a:ln w="28575">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79D84CA8-1570-4568-81C4-DA4A4A6EAA20}"/>
              </a:ext>
            </a:extLst>
          </p:cNvPr>
          <p:cNvGrpSpPr/>
          <p:nvPr/>
        </p:nvGrpSpPr>
        <p:grpSpPr>
          <a:xfrm>
            <a:off x="762742" y="2727095"/>
            <a:ext cx="1821250" cy="1809866"/>
            <a:chOff x="515937" y="326276"/>
            <a:chExt cx="902611" cy="902611"/>
          </a:xfrm>
        </p:grpSpPr>
        <p:grpSp>
          <p:nvGrpSpPr>
            <p:cNvPr id="50" name="Group 49">
              <a:extLst>
                <a:ext uri="{FF2B5EF4-FFF2-40B4-BE49-F238E27FC236}">
                  <a16:creationId xmlns:a16="http://schemas.microsoft.com/office/drawing/2014/main" id="{7AD3D2AB-812B-4EEB-8A6B-C310FC95D81F}"/>
                </a:ext>
              </a:extLst>
            </p:cNvPr>
            <p:cNvGrpSpPr/>
            <p:nvPr/>
          </p:nvGrpSpPr>
          <p:grpSpPr>
            <a:xfrm>
              <a:off x="515937" y="326276"/>
              <a:ext cx="902611" cy="902611"/>
              <a:chOff x="4492144" y="190843"/>
              <a:chExt cx="855656" cy="855656"/>
            </a:xfrm>
          </p:grpSpPr>
          <p:sp>
            <p:nvSpPr>
              <p:cNvPr id="52" name="Oval 51">
                <a:extLst>
                  <a:ext uri="{FF2B5EF4-FFF2-40B4-BE49-F238E27FC236}">
                    <a16:creationId xmlns:a16="http://schemas.microsoft.com/office/drawing/2014/main" id="{2BABECE1-DBAB-4194-B8BA-B5C33B4B683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Oval 53">
                <a:extLst>
                  <a:ext uri="{FF2B5EF4-FFF2-40B4-BE49-F238E27FC236}">
                    <a16:creationId xmlns:a16="http://schemas.microsoft.com/office/drawing/2014/main" id="{503EC1E2-1AA5-4CB4-AF33-999BAD7FA59F}"/>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1" name="Picture 50">
              <a:extLst>
                <a:ext uri="{FF2B5EF4-FFF2-40B4-BE49-F238E27FC236}">
                  <a16:creationId xmlns:a16="http://schemas.microsoft.com/office/drawing/2014/main" id="{D7E63B56-5370-4BAA-8D45-F6BC2DA8B7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416137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dirty="0"/>
              <a:t>Period End Closing Execution (GBS/JTBC) </a:t>
            </a: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000000"/>
                </a:solidFill>
                <a:latin typeface="Arial" charset="0"/>
                <a:cs typeface="Arial" charset="0"/>
              </a:rPr>
              <a:t>Post Closing Activities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087053" y="2654953"/>
            <a:ext cx="3608060"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Reversal of Documents with a Specified Reversal Date (F.81)</a:t>
            </a:r>
          </a:p>
        </p:txBody>
      </p:sp>
      <p:cxnSp>
        <p:nvCxnSpPr>
          <p:cNvPr id="41" name="Elbow Connector 7">
            <a:extLst>
              <a:ext uri="{FF2B5EF4-FFF2-40B4-BE49-F238E27FC236}">
                <a16:creationId xmlns:a16="http://schemas.microsoft.com/office/drawing/2014/main" id="{9D5CB863-C719-46D6-930C-1EFAD313C26F}"/>
              </a:ext>
            </a:extLst>
          </p:cNvPr>
          <p:cNvCxnSpPr>
            <a:cxnSpLocks/>
          </p:cNvCxnSpPr>
          <p:nvPr/>
        </p:nvCxnSpPr>
        <p:spPr>
          <a:xfrm rot="16200000" flipH="1">
            <a:off x="3534061" y="3851968"/>
            <a:ext cx="2299014" cy="552637"/>
          </a:xfrm>
          <a:prstGeom prst="bentConnector3">
            <a:avLst>
              <a:gd name="adj1" fmla="val 9989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40233" y="2906801"/>
            <a:ext cx="1044304" cy="797376"/>
          </a:xfrm>
          <a:prstGeom prst="bentConnector3">
            <a:avLst>
              <a:gd name="adj1" fmla="val 4442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3" name="Rounded Rectangle 39">
            <a:extLst>
              <a:ext uri="{FF2B5EF4-FFF2-40B4-BE49-F238E27FC236}">
                <a16:creationId xmlns:a16="http://schemas.microsoft.com/office/drawing/2014/main" id="{84DE1B7C-5151-4EC9-B9A5-B80A5BD549E1}"/>
              </a:ext>
            </a:extLst>
          </p:cNvPr>
          <p:cNvSpPr/>
          <p:nvPr/>
        </p:nvSpPr>
        <p:spPr>
          <a:xfrm>
            <a:off x="5087054" y="4958201"/>
            <a:ext cx="360805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Update Period Control Related Locks</a:t>
            </a:r>
          </a:p>
        </p:txBody>
      </p:sp>
    </p:spTree>
    <p:extLst>
      <p:ext uri="{BB962C8B-B14F-4D97-AF65-F5344CB8AC3E}">
        <p14:creationId xmlns:p14="http://schemas.microsoft.com/office/powerpoint/2010/main" val="2127992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D253ACB-4210-4CEA-8226-C0E5B89F50B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6179130" y="1455691"/>
            <a:ext cx="5917878" cy="2823126"/>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Reversal  of Documents with a Specified Reversal Date (F.81)</a:t>
            </a: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868789"/>
            <a:ext cx="3107689" cy="77448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kumimoji="0" lang="fr-FR" sz="1600" b="0" i="0" u="none" strike="noStrike" kern="1200" cap="none" spc="0" normalizeH="0" baseline="0" noProof="0">
                <a:ln>
                  <a:noFill/>
                </a:ln>
                <a:solidFill>
                  <a:srgbClr val="000000"/>
                </a:solidFill>
                <a:effectLst/>
                <a:uLnTx/>
                <a:uFillTx/>
                <a:latin typeface="Arial" panose="020B0604020202020204"/>
                <a:ea typeface="+mn-ea"/>
                <a:cs typeface="+mn-cs"/>
              </a:rPr>
              <a:t>F.81</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234772"/>
            <a:ext cx="3107689" cy="450330"/>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a:t>
            </a:r>
            <a:endPar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a:p>
            <a:pPr marL="0" marR="0" lvl="0" indent="0" algn="ctr" defTabSz="1644650" rtl="0" eaLnBrk="1" fontAlgn="auto" latinLnBrk="0" hangingPunct="1">
              <a:lnSpc>
                <a:spcPct val="100000"/>
              </a:lnSpc>
              <a:spcBef>
                <a:spcPct val="0"/>
              </a:spcBef>
              <a:spcAft>
                <a:spcPts val="0"/>
              </a:spcAft>
              <a:buClrTx/>
              <a:buSzTx/>
              <a:buFontTx/>
              <a:buNone/>
              <a:tabLst/>
              <a:defRPr/>
            </a:pPr>
            <a:r>
              <a:rPr lang="en-US" sz="1300">
                <a:solidFill>
                  <a:srgbClr val="000000">
                    <a:hueOff val="0"/>
                    <a:satOff val="0"/>
                    <a:lumOff val="0"/>
                    <a:alphaOff val="0"/>
                  </a:srgbClr>
                </a:solidFill>
                <a:latin typeface="Arial" panose="020B0604020202020204"/>
              </a:rPr>
              <a:t>WD4 – IFRS, </a:t>
            </a:r>
            <a:r>
              <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WD14 – STAT</a:t>
            </a:r>
            <a:r>
              <a:rPr lang="en-US" sz="1300">
                <a:solidFill>
                  <a:srgbClr val="000000">
                    <a:hueOff val="0"/>
                    <a:satOff val="0"/>
                    <a:lumOff val="0"/>
                    <a:alphaOff val="0"/>
                  </a:srgbClr>
                </a:solidFill>
                <a:latin typeface="Arial" panose="020B0604020202020204"/>
              </a:rPr>
              <a:t>/TAX</a:t>
            </a:r>
            <a:endPar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707607"/>
            <a:ext cx="3107689" cy="447612"/>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GBS/JTBC Level</a:t>
            </a:r>
          </a:p>
        </p:txBody>
      </p:sp>
      <p:sp>
        <p:nvSpPr>
          <p:cNvPr id="5" name="Rectangle 4">
            <a:extLst>
              <a:ext uri="{FF2B5EF4-FFF2-40B4-BE49-F238E27FC236}">
                <a16:creationId xmlns:a16="http://schemas.microsoft.com/office/drawing/2014/main" id="{45F95EF3-7599-40F1-BC7E-247951A21F76}"/>
              </a:ext>
            </a:extLst>
          </p:cNvPr>
          <p:cNvSpPr/>
          <p:nvPr/>
        </p:nvSpPr>
        <p:spPr>
          <a:xfrm>
            <a:off x="3802937" y="5093949"/>
            <a:ext cx="8170987" cy="553998"/>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F.81 functionality remains the same in S/4 HANA as compared to ECC. In S/4 HANA, because of the introduction of Parallel Ledger, the document types have changed, as a result, the document types requiring mass reversal via F.81 have also changed. It now includes document types Z0 and Y0 impacting IFRS ledger and YL impacting STAT/TAX ledger(s).</a:t>
            </a:r>
          </a:p>
        </p:txBody>
      </p:sp>
      <p:sp>
        <p:nvSpPr>
          <p:cNvPr id="10" name="Rectangle 9">
            <a:extLst>
              <a:ext uri="{FF2B5EF4-FFF2-40B4-BE49-F238E27FC236}">
                <a16:creationId xmlns:a16="http://schemas.microsoft.com/office/drawing/2014/main" id="{141AA02A-B49B-45C1-8C1D-6AD74350EDB8}"/>
              </a:ext>
            </a:extLst>
          </p:cNvPr>
          <p:cNvSpPr/>
          <p:nvPr/>
        </p:nvSpPr>
        <p:spPr>
          <a:xfrm>
            <a:off x="3802937" y="6282954"/>
            <a:ext cx="7627062" cy="246221"/>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The same transaction is used to perform reversal for both IFRS ledger closing and STAT/TAX ledger closing. </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40" name="Rectangle 39">
            <a:extLst>
              <a:ext uri="{FF2B5EF4-FFF2-40B4-BE49-F238E27FC236}">
                <a16:creationId xmlns:a16="http://schemas.microsoft.com/office/drawing/2014/main" id="{689CBDBA-83EE-41DF-8DA7-B8B49163AD50}"/>
              </a:ext>
            </a:extLst>
          </p:cNvPr>
          <p:cNvSpPr/>
          <p:nvPr/>
        </p:nvSpPr>
        <p:spPr>
          <a:xfrm>
            <a:off x="3802937" y="5839445"/>
            <a:ext cx="7873124" cy="246221"/>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F.81 task is set at GBS/JTBC level for all entities within a given GBS/JTBC that have such documents.</a:t>
            </a:r>
          </a:p>
        </p:txBody>
      </p:sp>
      <p:grpSp>
        <p:nvGrpSpPr>
          <p:cNvPr id="39" name="Group 38">
            <a:extLst>
              <a:ext uri="{FF2B5EF4-FFF2-40B4-BE49-F238E27FC236}">
                <a16:creationId xmlns:a16="http://schemas.microsoft.com/office/drawing/2014/main" id="{D0FA25D9-BF41-4683-B496-FC5050A69AEA}"/>
              </a:ext>
            </a:extLst>
          </p:cNvPr>
          <p:cNvGrpSpPr/>
          <p:nvPr/>
        </p:nvGrpSpPr>
        <p:grpSpPr>
          <a:xfrm>
            <a:off x="441244" y="1370654"/>
            <a:ext cx="5609953" cy="3135408"/>
            <a:chOff x="589454" y="3508514"/>
            <a:chExt cx="5428347" cy="1709660"/>
          </a:xfrm>
        </p:grpSpPr>
        <p:sp>
          <p:nvSpPr>
            <p:cNvPr id="41" name="Rectangle: Rounded Corners 40">
              <a:extLst>
                <a:ext uri="{FF2B5EF4-FFF2-40B4-BE49-F238E27FC236}">
                  <a16:creationId xmlns:a16="http://schemas.microsoft.com/office/drawing/2014/main" id="{B73273D1-46D9-4C6D-8AB9-D75A7F54A84F}"/>
                </a:ext>
              </a:extLst>
            </p:cNvPr>
            <p:cNvSpPr/>
            <p:nvPr/>
          </p:nvSpPr>
          <p:spPr>
            <a:xfrm>
              <a:off x="607926" y="3508514"/>
              <a:ext cx="5409875" cy="1709660"/>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63255F36-FCDE-4F4F-9E48-50B709331374}"/>
                </a:ext>
              </a:extLst>
            </p:cNvPr>
            <p:cNvSpPr txBox="1"/>
            <p:nvPr/>
          </p:nvSpPr>
          <p:spPr>
            <a:xfrm>
              <a:off x="589454" y="3559809"/>
              <a:ext cx="5409875" cy="2882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Process of F.81</a:t>
              </a:r>
            </a:p>
          </p:txBody>
        </p:sp>
      </p:grpSp>
      <p:sp>
        <p:nvSpPr>
          <p:cNvPr id="3" name="Rectangle 2">
            <a:extLst>
              <a:ext uri="{FF2B5EF4-FFF2-40B4-BE49-F238E27FC236}">
                <a16:creationId xmlns:a16="http://schemas.microsoft.com/office/drawing/2014/main" id="{9A9FBA65-5DA8-4D0B-A5A3-EB21A28EBDF0}"/>
              </a:ext>
            </a:extLst>
          </p:cNvPr>
          <p:cNvSpPr/>
          <p:nvPr/>
        </p:nvSpPr>
        <p:spPr>
          <a:xfrm>
            <a:off x="568102" y="2796563"/>
            <a:ext cx="2181395" cy="1925065"/>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During the month entities submit MyRequest templates to post documents. </a:t>
            </a:r>
          </a:p>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Some of these documents have a Reversal Date specified on the document header. These are normally a date in the following period.</a:t>
            </a:r>
          </a:p>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These documents can be posted to any of the core ledger(s), which include document types Z0, Y0 and YL.</a:t>
            </a:r>
          </a:p>
        </p:txBody>
      </p:sp>
      <p:sp>
        <p:nvSpPr>
          <p:cNvPr id="22" name="Rectangle 21">
            <a:extLst>
              <a:ext uri="{FF2B5EF4-FFF2-40B4-BE49-F238E27FC236}">
                <a16:creationId xmlns:a16="http://schemas.microsoft.com/office/drawing/2014/main" id="{249B87B8-CF9F-4018-B066-F0AC80FE3252}"/>
              </a:ext>
            </a:extLst>
          </p:cNvPr>
          <p:cNvSpPr/>
          <p:nvPr/>
        </p:nvSpPr>
        <p:spPr>
          <a:xfrm>
            <a:off x="3441469" y="2728476"/>
            <a:ext cx="2539082" cy="1264872"/>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dirty="0">
                <a:solidFill>
                  <a:srgbClr val="000000"/>
                </a:solidFill>
                <a:latin typeface="Calibri" panose="020F0502020204030204" pitchFamily="34" charset="0"/>
                <a:cs typeface="Calibri" panose="020F0502020204030204" pitchFamily="34" charset="0"/>
              </a:rPr>
              <a:t>When period end closing activities are all completed after WD3, GBS/JTBC will execute T-Code F.81 to mass reverse all the documents which have a reversal date of the new period.</a:t>
            </a:r>
          </a:p>
          <a:p>
            <a:pPr marL="108000" indent="-108000">
              <a:lnSpc>
                <a:spcPts val="1050"/>
              </a:lnSpc>
              <a:spcBef>
                <a:spcPts val="300"/>
              </a:spcBef>
              <a:buFont typeface="Arial" panose="020B0604020202020204" pitchFamily="34" charset="0"/>
              <a:buChar char="•"/>
            </a:pPr>
            <a:r>
              <a:rPr lang="en-GB" sz="1050" dirty="0">
                <a:solidFill>
                  <a:srgbClr val="000000"/>
                </a:solidFill>
                <a:latin typeface="Calibri" panose="020F0502020204030204" pitchFamily="34" charset="0"/>
                <a:cs typeface="Calibri" panose="020F0502020204030204" pitchFamily="34" charset="0"/>
              </a:rPr>
              <a:t>This is done for the 3 document types (Z0, Y0 and YL), on different WDs for IFRS closing and STAT/TAX closing respectively.</a:t>
            </a:r>
          </a:p>
          <a:p>
            <a:pPr marL="108000" indent="-108000">
              <a:lnSpc>
                <a:spcPts val="1050"/>
              </a:lnSpc>
              <a:spcBef>
                <a:spcPts val="300"/>
              </a:spcBef>
              <a:buFont typeface="Arial" panose="020B0604020202020204" pitchFamily="34" charset="0"/>
              <a:buChar char="•"/>
            </a:pPr>
            <a:endParaRPr lang="en-GB" sz="1050" dirty="0">
              <a:solidFill>
                <a:srgbClr val="000000"/>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C1B8E791-9822-4F75-8C8B-1C7F5BAE4445}"/>
              </a:ext>
            </a:extLst>
          </p:cNvPr>
          <p:cNvSpPr/>
          <p:nvPr/>
        </p:nvSpPr>
        <p:spPr>
          <a:xfrm>
            <a:off x="6338153" y="3318933"/>
            <a:ext cx="1391914" cy="169334"/>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9" name="Rectangle: Rounded Corners 18">
            <a:extLst>
              <a:ext uri="{FF2B5EF4-FFF2-40B4-BE49-F238E27FC236}">
                <a16:creationId xmlns:a16="http://schemas.microsoft.com/office/drawing/2014/main" id="{97B46EF3-AD85-401E-8F56-B3439F6FF6DA}"/>
              </a:ext>
            </a:extLst>
          </p:cNvPr>
          <p:cNvSpPr/>
          <p:nvPr/>
        </p:nvSpPr>
        <p:spPr>
          <a:xfrm>
            <a:off x="11522885" y="2079455"/>
            <a:ext cx="306351" cy="112985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Freeform: Shape 22">
            <a:extLst>
              <a:ext uri="{FF2B5EF4-FFF2-40B4-BE49-F238E27FC236}">
                <a16:creationId xmlns:a16="http://schemas.microsoft.com/office/drawing/2014/main" id="{D09D2C55-04E2-48D6-8586-E154CD72C46C}"/>
              </a:ext>
            </a:extLst>
          </p:cNvPr>
          <p:cNvSpPr/>
          <p:nvPr/>
        </p:nvSpPr>
        <p:spPr>
          <a:xfrm>
            <a:off x="618340" y="1880535"/>
            <a:ext cx="1659350"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lvl="0" algn="ctr" fontAlgn="base">
              <a:spcBef>
                <a:spcPct val="0"/>
              </a:spcBef>
              <a:spcAft>
                <a:spcPct val="0"/>
              </a:spcAft>
              <a:defRPr/>
            </a:pPr>
            <a:r>
              <a:rPr lang="en-US" sz="1200" b="1">
                <a:solidFill>
                  <a:srgbClr val="000000"/>
                </a:solidFill>
                <a:latin typeface="Arial" panose="020B0604020202020204"/>
              </a:rPr>
              <a:t>Documents </a:t>
            </a:r>
            <a:r>
              <a:rPr lang="en-US" sz="1200" b="1">
                <a:solidFill>
                  <a:srgbClr val="000000"/>
                </a:solidFill>
              </a:rPr>
              <a:t>posted in </a:t>
            </a:r>
            <a:r>
              <a:rPr lang="en-US" sz="1200" b="1" u="sng">
                <a:solidFill>
                  <a:srgbClr val="000000"/>
                </a:solidFill>
              </a:rPr>
              <a:t>current period </a:t>
            </a:r>
            <a:r>
              <a:rPr lang="en-US" sz="1200" b="1">
                <a:solidFill>
                  <a:srgbClr val="000000"/>
                </a:solidFill>
                <a:latin typeface="Arial" panose="020B0604020202020204"/>
              </a:rPr>
              <a:t>with future Reversal Date</a:t>
            </a:r>
            <a:endParaRPr kumimoji="0" lang="en-US" sz="1200" b="1" i="0" u="sng"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6" name="Group 25">
            <a:extLst>
              <a:ext uri="{FF2B5EF4-FFF2-40B4-BE49-F238E27FC236}">
                <a16:creationId xmlns:a16="http://schemas.microsoft.com/office/drawing/2014/main" id="{06D52F4D-BC10-4306-BA6B-ED43E7AB17C1}"/>
              </a:ext>
            </a:extLst>
          </p:cNvPr>
          <p:cNvGrpSpPr/>
          <p:nvPr/>
        </p:nvGrpSpPr>
        <p:grpSpPr>
          <a:xfrm>
            <a:off x="2900161" y="2079455"/>
            <a:ext cx="738309" cy="251429"/>
            <a:chOff x="2992582" y="2277837"/>
            <a:chExt cx="368264" cy="191043"/>
          </a:xfrm>
        </p:grpSpPr>
        <p:sp>
          <p:nvSpPr>
            <p:cNvPr id="28" name="Arrow: Chevron 27">
              <a:extLst>
                <a:ext uri="{FF2B5EF4-FFF2-40B4-BE49-F238E27FC236}">
                  <a16:creationId xmlns:a16="http://schemas.microsoft.com/office/drawing/2014/main" id="{09664CED-9A8D-4D56-8B98-C0D59C240EC4}"/>
                </a:ext>
              </a:extLst>
            </p:cNvPr>
            <p:cNvSpPr/>
            <p:nvPr/>
          </p:nvSpPr>
          <p:spPr>
            <a:xfrm>
              <a:off x="2992582"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sp>
          <p:nvSpPr>
            <p:cNvPr id="29" name="Arrow: Chevron 28">
              <a:extLst>
                <a:ext uri="{FF2B5EF4-FFF2-40B4-BE49-F238E27FC236}">
                  <a16:creationId xmlns:a16="http://schemas.microsoft.com/office/drawing/2014/main" id="{4540C50E-D54D-4039-93E4-601213635507}"/>
                </a:ext>
              </a:extLst>
            </p:cNvPr>
            <p:cNvSpPr/>
            <p:nvPr/>
          </p:nvSpPr>
          <p:spPr>
            <a:xfrm>
              <a:off x="3174666"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grpSp>
      <p:sp>
        <p:nvSpPr>
          <p:cNvPr id="31" name="Freeform: Shape 30">
            <a:extLst>
              <a:ext uri="{FF2B5EF4-FFF2-40B4-BE49-F238E27FC236}">
                <a16:creationId xmlns:a16="http://schemas.microsoft.com/office/drawing/2014/main" id="{3F5F5D14-4603-4F9D-8E05-A7662C42CDCC}"/>
              </a:ext>
            </a:extLst>
          </p:cNvPr>
          <p:cNvSpPr/>
          <p:nvPr/>
        </p:nvSpPr>
        <p:spPr>
          <a:xfrm>
            <a:off x="4064924" y="1848794"/>
            <a:ext cx="1659350"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a:solidFill>
                  <a:srgbClr val="000000"/>
                </a:solidFill>
                <a:latin typeface="Arial" panose="020B0604020202020204"/>
              </a:rPr>
              <a:t>Reversal of these documents in </a:t>
            </a:r>
            <a:r>
              <a:rPr lang="en-US" sz="1200" b="1" u="sng">
                <a:solidFill>
                  <a:srgbClr val="000000"/>
                </a:solidFill>
                <a:latin typeface="Arial" panose="020B0604020202020204"/>
              </a:rPr>
              <a:t>new period</a:t>
            </a:r>
            <a:endParaRPr kumimoji="0" lang="en-US" sz="1200" b="1" i="0" u="sng"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4E8D1C03-978A-41A8-9C3C-B6DE4DBF65CF}"/>
              </a:ext>
            </a:extLst>
          </p:cNvPr>
          <p:cNvSpPr/>
          <p:nvPr/>
        </p:nvSpPr>
        <p:spPr>
          <a:xfrm>
            <a:off x="10804396" y="4077538"/>
            <a:ext cx="1285074" cy="221281"/>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6" name="Rectangle: Rounded Corners 35">
            <a:extLst>
              <a:ext uri="{FF2B5EF4-FFF2-40B4-BE49-F238E27FC236}">
                <a16:creationId xmlns:a16="http://schemas.microsoft.com/office/drawing/2014/main" id="{69DA69C3-AC1B-4B2C-9B1F-5A51295EF4B9}"/>
              </a:ext>
            </a:extLst>
          </p:cNvPr>
          <p:cNvSpPr/>
          <p:nvPr/>
        </p:nvSpPr>
        <p:spPr>
          <a:xfrm>
            <a:off x="6347585" y="3939501"/>
            <a:ext cx="1391914" cy="169334"/>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63BB0C9F-BF5B-41EA-92B7-6AC63DB4B447}"/>
              </a:ext>
            </a:extLst>
          </p:cNvPr>
          <p:cNvSpPr/>
          <p:nvPr/>
        </p:nvSpPr>
        <p:spPr>
          <a:xfrm>
            <a:off x="3282688" y="1794415"/>
            <a:ext cx="2806465" cy="225154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peech Bubble: Rectangle 31">
            <a:extLst>
              <a:ext uri="{FF2B5EF4-FFF2-40B4-BE49-F238E27FC236}">
                <a16:creationId xmlns:a16="http://schemas.microsoft.com/office/drawing/2014/main" id="{32214470-BC9A-446C-9981-D059B4228692}"/>
              </a:ext>
            </a:extLst>
          </p:cNvPr>
          <p:cNvSpPr/>
          <p:nvPr/>
        </p:nvSpPr>
        <p:spPr>
          <a:xfrm>
            <a:off x="6172370" y="4439070"/>
            <a:ext cx="5917100" cy="633483"/>
          </a:xfrm>
          <a:prstGeom prst="wedgeRectCallout">
            <a:avLst>
              <a:gd name="adj1" fmla="val 40766"/>
              <a:gd name="adj2" fmla="val -85205"/>
            </a:avLst>
          </a:prstGeom>
          <a:solidFill>
            <a:schemeClr val="accent6">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US" sz="1050" i="1" dirty="0">
                <a:solidFill>
                  <a:schemeClr val="tx1"/>
                </a:solidFill>
                <a:latin typeface="Georgia" panose="02040502050405020303" pitchFamily="18" charset="0"/>
              </a:rPr>
              <a:t>The variants used in F.81 are GBS/JTBC variants therefore should use Company Code variable. They also use dates/periods/years variables. You should always check/amend the values of Company Code and dates/periods/years fields to ensure they are correct before executing the transaction outside of FCC. </a:t>
            </a:r>
          </a:p>
        </p:txBody>
      </p:sp>
    </p:spTree>
    <p:extLst>
      <p:ext uri="{BB962C8B-B14F-4D97-AF65-F5344CB8AC3E}">
        <p14:creationId xmlns:p14="http://schemas.microsoft.com/office/powerpoint/2010/main" val="2777060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B2AC-F663-4308-837E-395164FD9403}"/>
              </a:ext>
            </a:extLst>
          </p:cNvPr>
          <p:cNvSpPr>
            <a:spLocks noGrp="1"/>
          </p:cNvSpPr>
          <p:nvPr>
            <p:ph type="title"/>
          </p:nvPr>
        </p:nvSpPr>
        <p:spPr/>
        <p:txBody>
          <a:bodyPr/>
          <a:lstStyle/>
          <a:p>
            <a:r>
              <a:rPr lang="en-GB"/>
              <a:t>Reversal  of Documents with a Specified Reversal Date (F.81): Execution</a:t>
            </a:r>
            <a:endParaRPr lang="en-US"/>
          </a:p>
        </p:txBody>
      </p:sp>
      <p:sp>
        <p:nvSpPr>
          <p:cNvPr id="4" name="Footer Placeholder 3">
            <a:extLst>
              <a:ext uri="{FF2B5EF4-FFF2-40B4-BE49-F238E27FC236}">
                <a16:creationId xmlns:a16="http://schemas.microsoft.com/office/drawing/2014/main" id="{2CB1A0FB-3973-4F78-B900-1215DAB4B5DC}"/>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F1C510A7-F771-490F-AA35-8E578E6BBB22}"/>
              </a:ext>
            </a:extLst>
          </p:cNvPr>
          <p:cNvSpPr>
            <a:spLocks noGrp="1"/>
          </p:cNvSpPr>
          <p:nvPr>
            <p:ph type="sldNum" sz="quarter" idx="12"/>
          </p:nvPr>
        </p:nvSpPr>
        <p:spPr/>
        <p:txBody>
          <a:bodyPr/>
          <a:lstStyle/>
          <a:p>
            <a:fld id="{F4C94289-3309-4C35-850A-56FD49B3E346}" type="slidenum">
              <a:rPr lang="en-GB" smtClean="0"/>
              <a:t>4</a:t>
            </a:fld>
            <a:endParaRPr lang="en-GB"/>
          </a:p>
        </p:txBody>
      </p:sp>
      <p:pic>
        <p:nvPicPr>
          <p:cNvPr id="6" name="Picture 5">
            <a:extLst>
              <a:ext uri="{FF2B5EF4-FFF2-40B4-BE49-F238E27FC236}">
                <a16:creationId xmlns:a16="http://schemas.microsoft.com/office/drawing/2014/main" id="{868B6ABD-75CA-42C6-887F-96E73A207D9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28644" y="1379912"/>
            <a:ext cx="4467800" cy="5130847"/>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B242245D-A890-4D1E-BEC3-6B23AC2476B3}"/>
              </a:ext>
            </a:extLst>
          </p:cNvPr>
          <p:cNvPicPr>
            <a:picLocks noChangeAspect="1"/>
          </p:cNvPicPr>
          <p:nvPr/>
        </p:nvPicPr>
        <p:blipFill>
          <a:blip r:embed="rId4"/>
          <a:stretch>
            <a:fillRect/>
          </a:stretch>
        </p:blipFill>
        <p:spPr>
          <a:xfrm>
            <a:off x="4506591" y="1869807"/>
            <a:ext cx="515191" cy="984247"/>
          </a:xfrm>
          <a:prstGeom prst="rect">
            <a:avLst/>
          </a:prstGeom>
          <a:ln>
            <a:solidFill>
              <a:srgbClr val="FF0000"/>
            </a:solidFill>
          </a:ln>
        </p:spPr>
      </p:pic>
      <p:sp>
        <p:nvSpPr>
          <p:cNvPr id="9" name="Rectangle: Rounded Corners 8">
            <a:extLst>
              <a:ext uri="{FF2B5EF4-FFF2-40B4-BE49-F238E27FC236}">
                <a16:creationId xmlns:a16="http://schemas.microsoft.com/office/drawing/2014/main" id="{B1D4FA39-9C2C-4401-AB55-3478D567531B}"/>
              </a:ext>
            </a:extLst>
          </p:cNvPr>
          <p:cNvSpPr/>
          <p:nvPr/>
        </p:nvSpPr>
        <p:spPr>
          <a:xfrm>
            <a:off x="1111340" y="1969429"/>
            <a:ext cx="3111523" cy="154129"/>
          </a:xfrm>
          <a:prstGeom prst="roundRect">
            <a:avLst>
              <a:gd name="adj" fmla="val 4268"/>
            </a:avLst>
          </a:prstGeom>
          <a:noFill/>
          <a:ln w="19050">
            <a:solidFill>
              <a:schemeClr val="accent3">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BC4FA715-80E1-4486-B38B-E3C62A5EC1BE}"/>
              </a:ext>
            </a:extLst>
          </p:cNvPr>
          <p:cNvSpPr/>
          <p:nvPr/>
        </p:nvSpPr>
        <p:spPr>
          <a:xfrm>
            <a:off x="1111340" y="2457108"/>
            <a:ext cx="3111523" cy="154129"/>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9ABC85CE-F2B4-4AF9-8997-43FE85005A4F}"/>
              </a:ext>
            </a:extLst>
          </p:cNvPr>
          <p:cNvSpPr/>
          <p:nvPr/>
        </p:nvSpPr>
        <p:spPr>
          <a:xfrm>
            <a:off x="1111340" y="2665995"/>
            <a:ext cx="3111523" cy="154129"/>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9CC6CC2E-8BFE-4482-AC98-530CBEB917EA}"/>
              </a:ext>
            </a:extLst>
          </p:cNvPr>
          <p:cNvSpPr/>
          <p:nvPr/>
        </p:nvSpPr>
        <p:spPr>
          <a:xfrm>
            <a:off x="1111340" y="3988738"/>
            <a:ext cx="3111523" cy="154129"/>
          </a:xfrm>
          <a:prstGeom prst="roundRect">
            <a:avLst>
              <a:gd name="adj" fmla="val 4268"/>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7CC15A50-65EF-4B21-9548-C812F9AAD0EA}"/>
              </a:ext>
            </a:extLst>
          </p:cNvPr>
          <p:cNvSpPr/>
          <p:nvPr/>
        </p:nvSpPr>
        <p:spPr>
          <a:xfrm>
            <a:off x="5247120" y="1404530"/>
            <a:ext cx="6673970" cy="365125"/>
          </a:xfrm>
          <a:prstGeom prst="rect">
            <a:avLst/>
          </a:prstGeom>
          <a:noFill/>
          <a:ln w="19050">
            <a:solidFill>
              <a:schemeClr val="accent3">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dirty="0">
                <a:solidFill>
                  <a:schemeClr val="tx1"/>
                </a:solidFill>
                <a:latin typeface="Calibri" panose="020F0502020204030204" pitchFamily="34" charset="0"/>
                <a:cs typeface="Calibri" panose="020F0502020204030204" pitchFamily="34" charset="0"/>
              </a:rPr>
              <a:t>In the variants used by each GBS/JTBC, the company codes which use such documents are selected. This of course needs to be updated when you have new entities joining.</a:t>
            </a:r>
          </a:p>
        </p:txBody>
      </p:sp>
      <p:cxnSp>
        <p:nvCxnSpPr>
          <p:cNvPr id="14" name="Connector: Elbow 13">
            <a:extLst>
              <a:ext uri="{FF2B5EF4-FFF2-40B4-BE49-F238E27FC236}">
                <a16:creationId xmlns:a16="http://schemas.microsoft.com/office/drawing/2014/main" id="{11F792E1-D6DE-406F-B135-C2DD0E047627}"/>
              </a:ext>
            </a:extLst>
          </p:cNvPr>
          <p:cNvCxnSpPr>
            <a:cxnSpLocks/>
            <a:stCxn id="9" idx="0"/>
            <a:endCxn id="13" idx="1"/>
          </p:cNvCxnSpPr>
          <p:nvPr/>
        </p:nvCxnSpPr>
        <p:spPr>
          <a:xfrm rot="5400000" flipH="1" flipV="1">
            <a:off x="3765943" y="488252"/>
            <a:ext cx="382336" cy="2580018"/>
          </a:xfrm>
          <a:prstGeom prst="bentConnector2">
            <a:avLst/>
          </a:prstGeom>
          <a:ln w="127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2F7B8C1F-5140-4C22-9DEC-7B7F66B189FD}"/>
              </a:ext>
            </a:extLst>
          </p:cNvPr>
          <p:cNvCxnSpPr>
            <a:stCxn id="10" idx="3"/>
            <a:endCxn id="7" idx="1"/>
          </p:cNvCxnSpPr>
          <p:nvPr/>
        </p:nvCxnSpPr>
        <p:spPr>
          <a:xfrm flipV="1">
            <a:off x="4222863" y="2361931"/>
            <a:ext cx="283728" cy="172242"/>
          </a:xfrm>
          <a:prstGeom prst="bentConnector3">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61397779-8589-40F0-B6F9-A5A893640701}"/>
              </a:ext>
            </a:extLst>
          </p:cNvPr>
          <p:cNvSpPr/>
          <p:nvPr/>
        </p:nvSpPr>
        <p:spPr>
          <a:xfrm>
            <a:off x="5247120" y="1869808"/>
            <a:ext cx="6673970" cy="400248"/>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In this example we have Document Type Z0 and Y0, as this is a variant for IFRS closing. In the variant for STAT/TAX closing you will see Document Type YL included.  </a:t>
            </a:r>
          </a:p>
        </p:txBody>
      </p:sp>
      <p:cxnSp>
        <p:nvCxnSpPr>
          <p:cNvPr id="23" name="Connector: Elbow 22">
            <a:extLst>
              <a:ext uri="{FF2B5EF4-FFF2-40B4-BE49-F238E27FC236}">
                <a16:creationId xmlns:a16="http://schemas.microsoft.com/office/drawing/2014/main" id="{628A9AC6-4F2E-47AB-8994-CEB818715333}"/>
              </a:ext>
            </a:extLst>
          </p:cNvPr>
          <p:cNvCxnSpPr>
            <a:cxnSpLocks/>
            <a:stCxn id="7" idx="3"/>
            <a:endCxn id="21" idx="1"/>
          </p:cNvCxnSpPr>
          <p:nvPr/>
        </p:nvCxnSpPr>
        <p:spPr>
          <a:xfrm flipV="1">
            <a:off x="5021782" y="2069932"/>
            <a:ext cx="225338" cy="291999"/>
          </a:xfrm>
          <a:prstGeom prst="bentConnector3">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439182BE-4C02-417D-9EDC-F22D7356F48B}"/>
              </a:ext>
            </a:extLst>
          </p:cNvPr>
          <p:cNvCxnSpPr>
            <a:cxnSpLocks/>
            <a:stCxn id="11" idx="3"/>
          </p:cNvCxnSpPr>
          <p:nvPr/>
        </p:nvCxnSpPr>
        <p:spPr>
          <a:xfrm>
            <a:off x="4222863" y="2743060"/>
            <a:ext cx="273145" cy="685853"/>
          </a:xfrm>
          <a:prstGeom prst="bentConnector3">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EEE2706-0256-43AF-9BD9-D784470D709F}"/>
              </a:ext>
            </a:extLst>
          </p:cNvPr>
          <p:cNvSpPr/>
          <p:nvPr/>
        </p:nvSpPr>
        <p:spPr>
          <a:xfrm>
            <a:off x="5793970" y="2627931"/>
            <a:ext cx="6127119" cy="1129422"/>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a:cs typeface="Calibri"/>
              </a:rPr>
              <a:t>Again as this is for IFRS, you can see the document types we selected, Z0 and Y0, which could be posted to these four ledger groups: Blank &amp; ALL – for All ledgers, 0L – for IFRS only, ST0L – for STAT and IFRS, and TX0L - for TAX and IFRS.  </a:t>
            </a:r>
            <a:endParaRPr lang="en-US" sz="1100">
              <a:solidFill>
                <a:schemeClr val="tx1"/>
              </a:solidFill>
              <a:latin typeface="Calibri" panose="020F0502020204030204" pitchFamily="34" charset="0"/>
              <a:cs typeface="Calibri" panose="020F0502020204030204" pitchFamily="34" charset="0"/>
            </a:endParaRPr>
          </a:p>
          <a:p>
            <a:endParaRPr lang="en-US" sz="1100">
              <a:solidFill>
                <a:schemeClr val="tx1"/>
              </a:solidFill>
              <a:latin typeface="Calibri" panose="020F0502020204030204" pitchFamily="34" charset="0"/>
              <a:cs typeface="Calibri" panose="020F0502020204030204" pitchFamily="34" charset="0"/>
            </a:endParaRPr>
          </a:p>
          <a:p>
            <a:r>
              <a:rPr lang="en-US" sz="1100">
                <a:solidFill>
                  <a:schemeClr val="tx1"/>
                </a:solidFill>
                <a:latin typeface="Calibri" panose="020F0502020204030204" pitchFamily="34" charset="0"/>
                <a:cs typeface="Calibri" panose="020F0502020204030204" pitchFamily="34" charset="0"/>
              </a:rPr>
              <a:t>In the variant for STAT/TAX, the Ledger group selected are: ST – STAT only, TX – TAX only and STTX – for STAT and TAX ledgers.</a:t>
            </a:r>
          </a:p>
        </p:txBody>
      </p:sp>
      <p:cxnSp>
        <p:nvCxnSpPr>
          <p:cNvPr id="29" name="Connector: Elbow 28">
            <a:extLst>
              <a:ext uri="{FF2B5EF4-FFF2-40B4-BE49-F238E27FC236}">
                <a16:creationId xmlns:a16="http://schemas.microsoft.com/office/drawing/2014/main" id="{10D6512A-7EEB-4C79-9087-5D523701386F}"/>
              </a:ext>
            </a:extLst>
          </p:cNvPr>
          <p:cNvCxnSpPr>
            <a:cxnSpLocks/>
            <a:endCxn id="27" idx="1"/>
          </p:cNvCxnSpPr>
          <p:nvPr/>
        </p:nvCxnSpPr>
        <p:spPr>
          <a:xfrm flipV="1">
            <a:off x="5406122" y="3192642"/>
            <a:ext cx="387848" cy="278604"/>
          </a:xfrm>
          <a:prstGeom prst="bentConnector3">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F3BE29BD-945A-44CC-81AB-A2A8DECEB1A5}"/>
              </a:ext>
            </a:extLst>
          </p:cNvPr>
          <p:cNvSpPr/>
          <p:nvPr/>
        </p:nvSpPr>
        <p:spPr>
          <a:xfrm>
            <a:off x="5247120" y="4333966"/>
            <a:ext cx="6673969" cy="878351"/>
          </a:xfrm>
          <a:prstGeom prst="rect">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You can simply select the one month period which is currently open, i.e. in this case from 01.10.2019 to 31.10.2019. However this date comes from a variable specified in FCC task list, which will automatically recognize the period which we are closing, from which it determines the date for reversal postings. You should not try to change it unless the automatically determined date is incorrect for the purpose of your execution outside of FCC.</a:t>
            </a:r>
          </a:p>
        </p:txBody>
      </p:sp>
      <p:cxnSp>
        <p:nvCxnSpPr>
          <p:cNvPr id="35" name="Connector: Elbow 34">
            <a:extLst>
              <a:ext uri="{FF2B5EF4-FFF2-40B4-BE49-F238E27FC236}">
                <a16:creationId xmlns:a16="http://schemas.microsoft.com/office/drawing/2014/main" id="{C9ADED55-1662-4BA7-A643-F6B59C8E3F4F}"/>
              </a:ext>
            </a:extLst>
          </p:cNvPr>
          <p:cNvCxnSpPr>
            <a:cxnSpLocks/>
            <a:stCxn id="12" idx="3"/>
            <a:endCxn id="33" idx="1"/>
          </p:cNvCxnSpPr>
          <p:nvPr/>
        </p:nvCxnSpPr>
        <p:spPr>
          <a:xfrm>
            <a:off x="4222863" y="4065803"/>
            <a:ext cx="1024257" cy="707339"/>
          </a:xfrm>
          <a:prstGeom prst="bentConnector3">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B488CD03-B335-4265-BDB1-12F19F67C1D0}"/>
              </a:ext>
            </a:extLst>
          </p:cNvPr>
          <p:cNvSpPr/>
          <p:nvPr/>
        </p:nvSpPr>
        <p:spPr>
          <a:xfrm>
            <a:off x="1111340" y="5023951"/>
            <a:ext cx="3111523" cy="154129"/>
          </a:xfrm>
          <a:prstGeom prst="roundRect">
            <a:avLst>
              <a:gd name="adj" fmla="val 4268"/>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819B3C49-12FA-474A-A76A-BBF326B195E6}"/>
              </a:ext>
            </a:extLst>
          </p:cNvPr>
          <p:cNvSpPr/>
          <p:nvPr/>
        </p:nvSpPr>
        <p:spPr>
          <a:xfrm>
            <a:off x="5247120" y="5369179"/>
            <a:ext cx="6673969" cy="878351"/>
          </a:xfrm>
          <a:prstGeom prst="rect">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Test Run is not selected in the variants however if you are to execute it outside of FCC, it is recommended that you run Test Run first then Update Run, as there might be errors you may want to fix before doing an Update Run.</a:t>
            </a:r>
          </a:p>
        </p:txBody>
      </p:sp>
      <p:cxnSp>
        <p:nvCxnSpPr>
          <p:cNvPr id="39" name="Connector: Elbow 38">
            <a:extLst>
              <a:ext uri="{FF2B5EF4-FFF2-40B4-BE49-F238E27FC236}">
                <a16:creationId xmlns:a16="http://schemas.microsoft.com/office/drawing/2014/main" id="{F61675B6-7A92-49FF-BC9D-80EA9C5971AC}"/>
              </a:ext>
            </a:extLst>
          </p:cNvPr>
          <p:cNvCxnSpPr>
            <a:cxnSpLocks/>
            <a:stCxn id="37" idx="3"/>
            <a:endCxn id="38" idx="1"/>
          </p:cNvCxnSpPr>
          <p:nvPr/>
        </p:nvCxnSpPr>
        <p:spPr>
          <a:xfrm>
            <a:off x="4222863" y="5101016"/>
            <a:ext cx="1024257" cy="707339"/>
          </a:xfrm>
          <a:prstGeom prst="bentConnector3">
            <a:avLst/>
          </a:prstGeom>
          <a:ln w="9525">
            <a:solidFill>
              <a:schemeClr val="accent4"/>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BBB08B50-2DCD-43D0-B97D-1EF19EF82187}"/>
              </a:ext>
            </a:extLst>
          </p:cNvPr>
          <p:cNvSpPr/>
          <p:nvPr/>
        </p:nvSpPr>
        <p:spPr>
          <a:xfrm>
            <a:off x="341194" y="1325014"/>
            <a:ext cx="2580019" cy="22610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F.81: Reverse Accrual/Deferral Documents</a:t>
            </a:r>
          </a:p>
        </p:txBody>
      </p:sp>
      <p:pic>
        <p:nvPicPr>
          <p:cNvPr id="18" name="Picture 18" descr="A screenshot of a cell phone&#10;&#10;Description generated with very high confidence">
            <a:extLst>
              <a:ext uri="{FF2B5EF4-FFF2-40B4-BE49-F238E27FC236}">
                <a16:creationId xmlns:a16="http://schemas.microsoft.com/office/drawing/2014/main" id="{1B86332A-0C4F-440A-90E2-1B2169CE6A63}"/>
              </a:ext>
            </a:extLst>
          </p:cNvPr>
          <p:cNvPicPr>
            <a:picLocks noChangeAspect="1"/>
          </p:cNvPicPr>
          <p:nvPr/>
        </p:nvPicPr>
        <p:blipFill>
          <a:blip r:embed="rId5"/>
          <a:stretch>
            <a:fillRect/>
          </a:stretch>
        </p:blipFill>
        <p:spPr>
          <a:xfrm>
            <a:off x="4505324" y="2901950"/>
            <a:ext cx="927100" cy="1128184"/>
          </a:xfrm>
          <a:prstGeom prst="rect">
            <a:avLst/>
          </a:prstGeom>
          <a:ln>
            <a:solidFill>
              <a:schemeClr val="accent6"/>
            </a:solidFill>
          </a:ln>
        </p:spPr>
      </p:pic>
    </p:spTree>
    <p:extLst>
      <p:ext uri="{BB962C8B-B14F-4D97-AF65-F5344CB8AC3E}">
        <p14:creationId xmlns:p14="http://schemas.microsoft.com/office/powerpoint/2010/main" val="1945554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B2AC-F663-4308-837E-395164FD9403}"/>
              </a:ext>
            </a:extLst>
          </p:cNvPr>
          <p:cNvSpPr>
            <a:spLocks noGrp="1"/>
          </p:cNvSpPr>
          <p:nvPr>
            <p:ph type="title"/>
          </p:nvPr>
        </p:nvSpPr>
        <p:spPr/>
        <p:txBody>
          <a:bodyPr/>
          <a:lstStyle/>
          <a:p>
            <a:r>
              <a:rPr lang="en-GB"/>
              <a:t>Reversal  of Documents with a Specified Reversal Date (F.81): Output</a:t>
            </a:r>
            <a:endParaRPr lang="en-US"/>
          </a:p>
        </p:txBody>
      </p:sp>
      <p:sp>
        <p:nvSpPr>
          <p:cNvPr id="4" name="Footer Placeholder 3">
            <a:extLst>
              <a:ext uri="{FF2B5EF4-FFF2-40B4-BE49-F238E27FC236}">
                <a16:creationId xmlns:a16="http://schemas.microsoft.com/office/drawing/2014/main" id="{2CB1A0FB-3973-4F78-B900-1215DAB4B5DC}"/>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F1C510A7-F771-490F-AA35-8E578E6BBB22}"/>
              </a:ext>
            </a:extLst>
          </p:cNvPr>
          <p:cNvSpPr>
            <a:spLocks noGrp="1"/>
          </p:cNvSpPr>
          <p:nvPr>
            <p:ph type="sldNum" sz="quarter" idx="12"/>
          </p:nvPr>
        </p:nvSpPr>
        <p:spPr/>
        <p:txBody>
          <a:bodyPr/>
          <a:lstStyle/>
          <a:p>
            <a:fld id="{F4C94289-3309-4C35-850A-56FD49B3E346}" type="slidenum">
              <a:rPr lang="en-GB" smtClean="0"/>
              <a:t>5</a:t>
            </a:fld>
            <a:endParaRPr lang="en-GB"/>
          </a:p>
        </p:txBody>
      </p:sp>
      <p:pic>
        <p:nvPicPr>
          <p:cNvPr id="3" name="Picture 2">
            <a:extLst>
              <a:ext uri="{FF2B5EF4-FFF2-40B4-BE49-F238E27FC236}">
                <a16:creationId xmlns:a16="http://schemas.microsoft.com/office/drawing/2014/main" id="{E04D40A9-3464-4DD3-813E-9C832430B7C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22344" y="4152687"/>
            <a:ext cx="5087127" cy="2649854"/>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872E499A-0CCB-4727-B227-B8DEA347A7B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311920" y="1334438"/>
            <a:ext cx="5066277" cy="2741750"/>
          </a:xfrm>
          <a:prstGeom prst="rect">
            <a:avLst/>
          </a:prstGeom>
          <a:effectLst>
            <a:outerShdw blurRad="50800" dist="38100" dir="2700000" algn="tl" rotWithShape="0">
              <a:prstClr val="black">
                <a:alpha val="40000"/>
              </a:prstClr>
            </a:outerShdw>
          </a:effectLst>
        </p:spPr>
      </p:pic>
      <p:pic>
        <p:nvPicPr>
          <p:cNvPr id="16" name="Picture 15">
            <a:extLst>
              <a:ext uri="{FF2B5EF4-FFF2-40B4-BE49-F238E27FC236}">
                <a16:creationId xmlns:a16="http://schemas.microsoft.com/office/drawing/2014/main" id="{88C4C57A-09B3-4387-91BC-D1506987C8A2}"/>
              </a:ext>
            </a:extLst>
          </p:cNvPr>
          <p:cNvPicPr>
            <a:picLocks noChangeAspect="1"/>
          </p:cNvPicPr>
          <p:nvPr/>
        </p:nvPicPr>
        <p:blipFill>
          <a:blip r:embed="rId6"/>
          <a:stretch>
            <a:fillRect/>
          </a:stretch>
        </p:blipFill>
        <p:spPr>
          <a:xfrm>
            <a:off x="5636028" y="1502331"/>
            <a:ext cx="6317673" cy="3362036"/>
          </a:xfrm>
          <a:prstGeom prst="rect">
            <a:avLst/>
          </a:prstGeom>
          <a:ln>
            <a:solidFill>
              <a:srgbClr val="FF0000"/>
            </a:solidFill>
          </a:ln>
          <a:effectLst>
            <a:outerShdw blurRad="50800" dist="38100" dir="2700000" algn="tl" rotWithShape="0">
              <a:prstClr val="black">
                <a:alpha val="40000"/>
              </a:prstClr>
            </a:outerShdw>
          </a:effectLst>
        </p:spPr>
      </p:pic>
      <p:sp>
        <p:nvSpPr>
          <p:cNvPr id="31" name="Rectangle: Rounded Corners 30">
            <a:extLst>
              <a:ext uri="{FF2B5EF4-FFF2-40B4-BE49-F238E27FC236}">
                <a16:creationId xmlns:a16="http://schemas.microsoft.com/office/drawing/2014/main" id="{3C8AC109-D681-4EC2-928C-841BA9FCA7C0}"/>
              </a:ext>
            </a:extLst>
          </p:cNvPr>
          <p:cNvSpPr/>
          <p:nvPr/>
        </p:nvSpPr>
        <p:spPr>
          <a:xfrm>
            <a:off x="341194" y="1325014"/>
            <a:ext cx="5012063" cy="22610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F.81: Reverse Accrual/Deferral Documents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a:t>
            </a:r>
            <a:r>
              <a:rPr kumimoji="0" lang="en-GB" sz="900" b="1" i="0" u="none" strike="noStrike" kern="1200" cap="none" spc="0" normalizeH="0" baseline="0" noProof="0">
                <a:ln>
                  <a:noFill/>
                </a:ln>
                <a:solidFill>
                  <a:srgbClr val="00B2A9">
                    <a:lumMod val="50000"/>
                  </a:srgbClr>
                </a:solidFill>
                <a:effectLst/>
                <a:highlight>
                  <a:srgbClr val="7DD9A2"/>
                </a:highlight>
                <a:uLnTx/>
                <a:uFillTx/>
                <a:latin typeface="Arial" panose="020B0604020202020204"/>
                <a:ea typeface="+mn-ea"/>
                <a:cs typeface="+mn-cs"/>
              </a:rPr>
              <a:t>Test Run </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Output when documents </a:t>
            </a:r>
            <a:r>
              <a:rPr kumimoji="0" lang="en-GB" sz="900" b="1" i="0" u="none" strike="noStrike" kern="1200" cap="none" spc="0" normalizeH="0" baseline="0" noProof="0">
                <a:ln>
                  <a:noFill/>
                </a:ln>
                <a:solidFill>
                  <a:srgbClr val="00B2A9">
                    <a:lumMod val="50000"/>
                  </a:srgbClr>
                </a:solidFill>
                <a:effectLst/>
                <a:highlight>
                  <a:srgbClr val="7DD9A2"/>
                </a:highlight>
                <a:uLnTx/>
                <a:uFillTx/>
                <a:latin typeface="Arial" panose="020B0604020202020204"/>
                <a:ea typeface="+mn-ea"/>
                <a:cs typeface="+mn-cs"/>
              </a:rPr>
              <a:t>can</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be reversed</a:t>
            </a:r>
          </a:p>
        </p:txBody>
      </p:sp>
      <p:sp>
        <p:nvSpPr>
          <p:cNvPr id="32" name="Rectangle: Rounded Corners 31">
            <a:extLst>
              <a:ext uri="{FF2B5EF4-FFF2-40B4-BE49-F238E27FC236}">
                <a16:creationId xmlns:a16="http://schemas.microsoft.com/office/drawing/2014/main" id="{5B05E793-9EEC-4ED7-B3EE-2AC8E80FE7C8}"/>
              </a:ext>
            </a:extLst>
          </p:cNvPr>
          <p:cNvSpPr/>
          <p:nvPr/>
        </p:nvSpPr>
        <p:spPr>
          <a:xfrm>
            <a:off x="322344" y="4216035"/>
            <a:ext cx="5097552" cy="25621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F.81: Reverse Accrual/Deferral Documents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a:t>
            </a:r>
            <a:r>
              <a:rPr kumimoji="0" lang="en-GB" sz="900" b="1" i="0" u="none" strike="noStrike" kern="1200" cap="none" spc="0" normalizeH="0" baseline="0" noProof="0">
                <a:ln>
                  <a:noFill/>
                </a:ln>
                <a:solidFill>
                  <a:srgbClr val="00B2A9">
                    <a:lumMod val="50000"/>
                  </a:srgbClr>
                </a:solidFill>
                <a:effectLst/>
                <a:highlight>
                  <a:srgbClr val="7DD9A2"/>
                </a:highlight>
                <a:uLnTx/>
                <a:uFillTx/>
                <a:latin typeface="Arial" panose="020B0604020202020204"/>
                <a:ea typeface="+mn-ea"/>
                <a:cs typeface="+mn-cs"/>
              </a:rPr>
              <a:t>Test Run</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Output when documents</a:t>
            </a:r>
            <a:r>
              <a:rPr kumimoji="0" lang="en-GB" sz="900" b="1" i="0" u="none" strike="noStrike" kern="1200" cap="none" spc="0" normalizeH="0" baseline="0" noProof="0">
                <a:ln>
                  <a:noFill/>
                </a:ln>
                <a:solidFill>
                  <a:srgbClr val="00B2A9">
                    <a:lumMod val="50000"/>
                  </a:srgbClr>
                </a:solidFill>
                <a:effectLst/>
                <a:highlight>
                  <a:srgbClr val="7DD9A2"/>
                </a:highlight>
                <a:uLnTx/>
                <a:uFillTx/>
                <a:latin typeface="Arial" panose="020B0604020202020204"/>
                <a:ea typeface="+mn-ea"/>
                <a:cs typeface="+mn-cs"/>
              </a:rPr>
              <a:t> cannot </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be reversed</a:t>
            </a:r>
          </a:p>
        </p:txBody>
      </p:sp>
      <p:sp>
        <p:nvSpPr>
          <p:cNvPr id="34" name="Rectangle: Rounded Corners 33">
            <a:extLst>
              <a:ext uri="{FF2B5EF4-FFF2-40B4-BE49-F238E27FC236}">
                <a16:creationId xmlns:a16="http://schemas.microsoft.com/office/drawing/2014/main" id="{E5F306DC-1B75-4C4B-994E-D027C0199200}"/>
              </a:ext>
            </a:extLst>
          </p:cNvPr>
          <p:cNvSpPr/>
          <p:nvPr/>
        </p:nvSpPr>
        <p:spPr>
          <a:xfrm>
            <a:off x="1169528" y="1590478"/>
            <a:ext cx="3111523" cy="154129"/>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6" name="Rectangle: Rounded Corners 35">
            <a:extLst>
              <a:ext uri="{FF2B5EF4-FFF2-40B4-BE49-F238E27FC236}">
                <a16:creationId xmlns:a16="http://schemas.microsoft.com/office/drawing/2014/main" id="{B1F22450-3569-4B4D-9E21-DF090601F773}"/>
              </a:ext>
            </a:extLst>
          </p:cNvPr>
          <p:cNvSpPr/>
          <p:nvPr/>
        </p:nvSpPr>
        <p:spPr>
          <a:xfrm>
            <a:off x="1169528" y="3429000"/>
            <a:ext cx="3111523" cy="154129"/>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0" name="Rectangle: Rounded Corners 39">
            <a:extLst>
              <a:ext uri="{FF2B5EF4-FFF2-40B4-BE49-F238E27FC236}">
                <a16:creationId xmlns:a16="http://schemas.microsoft.com/office/drawing/2014/main" id="{6A434F45-8A79-4D17-851F-EC0732E8B4DF}"/>
              </a:ext>
            </a:extLst>
          </p:cNvPr>
          <p:cNvSpPr/>
          <p:nvPr/>
        </p:nvSpPr>
        <p:spPr>
          <a:xfrm>
            <a:off x="1289296" y="5758046"/>
            <a:ext cx="3111523" cy="154129"/>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8" name="Straight Arrow Connector 17">
            <a:extLst>
              <a:ext uri="{FF2B5EF4-FFF2-40B4-BE49-F238E27FC236}">
                <a16:creationId xmlns:a16="http://schemas.microsoft.com/office/drawing/2014/main" id="{DE5B6331-88E1-4763-8DA0-B2DC5B9D9814}"/>
              </a:ext>
            </a:extLst>
          </p:cNvPr>
          <p:cNvCxnSpPr>
            <a:cxnSpLocks/>
            <a:stCxn id="15" idx="3"/>
            <a:endCxn id="16" idx="1"/>
          </p:cNvCxnSpPr>
          <p:nvPr/>
        </p:nvCxnSpPr>
        <p:spPr>
          <a:xfrm>
            <a:off x="5378197" y="2705313"/>
            <a:ext cx="257831" cy="478036"/>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04F3C5AC-4037-4575-A2AB-F125967446A6}"/>
              </a:ext>
            </a:extLst>
          </p:cNvPr>
          <p:cNvSpPr/>
          <p:nvPr/>
        </p:nvSpPr>
        <p:spPr>
          <a:xfrm>
            <a:off x="6317879" y="2628248"/>
            <a:ext cx="1820282" cy="70515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2" name="Rectangle 41">
            <a:extLst>
              <a:ext uri="{FF2B5EF4-FFF2-40B4-BE49-F238E27FC236}">
                <a16:creationId xmlns:a16="http://schemas.microsoft.com/office/drawing/2014/main" id="{F62E6217-566A-4DDC-A474-B133F33905E0}"/>
              </a:ext>
            </a:extLst>
          </p:cNvPr>
          <p:cNvSpPr/>
          <p:nvPr/>
        </p:nvSpPr>
        <p:spPr>
          <a:xfrm>
            <a:off x="5576041" y="5204289"/>
            <a:ext cx="6377660" cy="78483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The output will show you which documents can be reversed and which cannot, and if not what the reason is.</a:t>
            </a:r>
          </a:p>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In an update run where some documents can be reversed, the output will provide you with the reversal document numbers. </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43" name="Rectangle: Rounded Corners 42">
            <a:extLst>
              <a:ext uri="{FF2B5EF4-FFF2-40B4-BE49-F238E27FC236}">
                <a16:creationId xmlns:a16="http://schemas.microsoft.com/office/drawing/2014/main" id="{5E49FC75-9896-4F6F-B446-80E571E1A894}"/>
              </a:ext>
            </a:extLst>
          </p:cNvPr>
          <p:cNvSpPr/>
          <p:nvPr/>
        </p:nvSpPr>
        <p:spPr>
          <a:xfrm>
            <a:off x="5636028" y="1374225"/>
            <a:ext cx="5097552" cy="25621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F.81: Reverse Accrual/Deferral Documents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a:t>
            </a:r>
            <a:r>
              <a:rPr kumimoji="0" lang="en-GB" sz="900" b="1" i="0" u="none" strike="noStrike" kern="1200" cap="none" spc="0" normalizeH="0" baseline="0" noProof="0">
                <a:ln>
                  <a:noFill/>
                </a:ln>
                <a:solidFill>
                  <a:srgbClr val="00B2A9">
                    <a:lumMod val="50000"/>
                  </a:srgbClr>
                </a:solidFill>
                <a:effectLst/>
                <a:highlight>
                  <a:srgbClr val="EAAA00"/>
                </a:highlight>
                <a:uLnTx/>
                <a:uFillTx/>
                <a:latin typeface="Arial" panose="020B0604020202020204"/>
                <a:ea typeface="+mn-ea"/>
                <a:cs typeface="+mn-cs"/>
              </a:rPr>
              <a:t>Update Run </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Output when documents </a:t>
            </a:r>
            <a:r>
              <a:rPr kumimoji="0" lang="en-GB" sz="900" b="1" i="0" u="none" strike="noStrike" kern="1200" cap="none" spc="0" normalizeH="0" baseline="0" noProof="0">
                <a:ln>
                  <a:noFill/>
                </a:ln>
                <a:solidFill>
                  <a:srgbClr val="00B2A9">
                    <a:lumMod val="50000"/>
                  </a:srgbClr>
                </a:solidFill>
                <a:effectLst/>
                <a:highlight>
                  <a:srgbClr val="EAAA00"/>
                </a:highlight>
                <a:uLnTx/>
                <a:uFillTx/>
                <a:latin typeface="Arial" panose="020B0604020202020204"/>
                <a:ea typeface="+mn-ea"/>
                <a:cs typeface="+mn-cs"/>
              </a:rPr>
              <a:t>can</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be reversed</a:t>
            </a:r>
          </a:p>
        </p:txBody>
      </p:sp>
    </p:spTree>
    <p:extLst>
      <p:ext uri="{BB962C8B-B14F-4D97-AF65-F5344CB8AC3E}">
        <p14:creationId xmlns:p14="http://schemas.microsoft.com/office/powerpoint/2010/main" val="2127991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B4ABB8A-EFAD-3E2C-960C-A53BD0D77917}"/>
              </a:ext>
              <a:ext uri="{147F2762-F138-4A5C-976F-8EAC2B608ADB}">
                <a16:predDERef xmlns:a16="http://schemas.microsoft.com/office/drawing/2014/main" pred="{00000000-0008-0000-1000-000003000000}"/>
              </a:ext>
            </a:extLst>
          </p:cNvPr>
          <p:cNvPicPr>
            <a:picLocks noChangeAspect="1"/>
          </p:cNvPicPr>
          <p:nvPr/>
        </p:nvPicPr>
        <p:blipFill>
          <a:blip r:embed="rId2"/>
          <a:stretch>
            <a:fillRect/>
          </a:stretch>
        </p:blipFill>
        <p:spPr>
          <a:xfrm>
            <a:off x="369901" y="4939194"/>
            <a:ext cx="9643472" cy="15904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6F5704A5-AC82-1CDD-4D0F-7764EB56409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69901" y="3286627"/>
            <a:ext cx="7640624" cy="15904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a:extLst>
              <a:ext uri="{FF2B5EF4-FFF2-40B4-BE49-F238E27FC236}">
                <a16:creationId xmlns:a16="http://schemas.microsoft.com/office/drawing/2014/main" id="{33EF4A0C-7349-1D9B-F167-DE82DF5D9EE8}"/>
              </a:ext>
            </a:extLst>
          </p:cNvPr>
          <p:cNvSpPr>
            <a:spLocks noGrp="1"/>
          </p:cNvSpPr>
          <p:nvPr>
            <p:ph type="title"/>
          </p:nvPr>
        </p:nvSpPr>
        <p:spPr/>
        <p:txBody>
          <a:bodyPr/>
          <a:lstStyle/>
          <a:p>
            <a:r>
              <a:rPr lang="en-GB"/>
              <a:t>Reversal  of Documents with a Specified Reversal Date (F.81):Common Errors</a:t>
            </a:r>
            <a:endParaRPr lang="en-US"/>
          </a:p>
        </p:txBody>
      </p:sp>
      <p:sp>
        <p:nvSpPr>
          <p:cNvPr id="5" name="Slide Number Placeholder 4">
            <a:extLst>
              <a:ext uri="{FF2B5EF4-FFF2-40B4-BE49-F238E27FC236}">
                <a16:creationId xmlns:a16="http://schemas.microsoft.com/office/drawing/2014/main" id="{D644F4AD-E455-9BEA-3382-5D6C83A73940}"/>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7" name="TextBox 6">
            <a:extLst>
              <a:ext uri="{FF2B5EF4-FFF2-40B4-BE49-F238E27FC236}">
                <a16:creationId xmlns:a16="http://schemas.microsoft.com/office/drawing/2014/main" id="{D01373D6-CC4E-4CDD-BEAC-48E4124B3143}"/>
              </a:ext>
            </a:extLst>
          </p:cNvPr>
          <p:cNvSpPr txBox="1"/>
          <p:nvPr/>
        </p:nvSpPr>
        <p:spPr>
          <a:xfrm>
            <a:off x="365590" y="1427303"/>
            <a:ext cx="11283853"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t>Detail of the “Errors” can be checked from the “Output Logs”. GL Team needs to check the error and work as per the resolution mentioned below.</a:t>
            </a:r>
          </a:p>
        </p:txBody>
      </p:sp>
      <p:graphicFrame>
        <p:nvGraphicFramePr>
          <p:cNvPr id="8" name="Table 7">
            <a:extLst>
              <a:ext uri="{FF2B5EF4-FFF2-40B4-BE49-F238E27FC236}">
                <a16:creationId xmlns:a16="http://schemas.microsoft.com/office/drawing/2014/main" id="{98630F5E-C7F8-414E-EA1E-4FE5F403F76E}"/>
              </a:ext>
            </a:extLst>
          </p:cNvPr>
          <p:cNvGraphicFramePr>
            <a:graphicFrameLocks noGrp="1"/>
          </p:cNvGraphicFramePr>
          <p:nvPr/>
        </p:nvGraphicFramePr>
        <p:xfrm>
          <a:off x="365590" y="1787337"/>
          <a:ext cx="11310471" cy="136076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4678886">
                  <a:extLst>
                    <a:ext uri="{9D8B030D-6E8A-4147-A177-3AD203B41FA5}">
                      <a16:colId xmlns:a16="http://schemas.microsoft.com/office/drawing/2014/main" val="1965869314"/>
                    </a:ext>
                  </a:extLst>
                </a:gridCol>
                <a:gridCol w="3770157">
                  <a:extLst>
                    <a:ext uri="{9D8B030D-6E8A-4147-A177-3AD203B41FA5}">
                      <a16:colId xmlns:a16="http://schemas.microsoft.com/office/drawing/2014/main" val="566335056"/>
                    </a:ext>
                  </a:extLst>
                </a:gridCol>
              </a:tblGrid>
              <a:tr h="622895">
                <a:tc>
                  <a:txBody>
                    <a:bodyPr/>
                    <a:lstStyle/>
                    <a:p>
                      <a:pPr algn="ctr" fontAlgn="b"/>
                      <a:r>
                        <a:rPr lang="en-US" sz="1200" b="1" i="0" u="none" strike="noStrike">
                          <a:solidFill>
                            <a:schemeClr val="tx1"/>
                          </a:solidFill>
                          <a:effectLst/>
                          <a:latin typeface="+mn-lt"/>
                        </a:rPr>
                        <a:t>Errors</a:t>
                      </a:r>
                    </a:p>
                  </a:txBody>
                  <a:tcPr marL="72000" marR="6350" marT="6350" marB="0" anchor="ctr"/>
                </a:tc>
                <a:tc>
                  <a:txBody>
                    <a:bodyPr/>
                    <a:lstStyle/>
                    <a:p>
                      <a:pPr algn="ctr" fontAlgn="b"/>
                      <a:r>
                        <a:rPr lang="en-US" sz="1200" b="1" i="0" u="none" strike="noStrike">
                          <a:solidFill>
                            <a:schemeClr val="tx1"/>
                          </a:solidFill>
                          <a:effectLst/>
                          <a:latin typeface="+mn-lt"/>
                        </a:rPr>
                        <a:t>Error Description (Reason)</a:t>
                      </a:r>
                    </a:p>
                  </a:txBody>
                  <a:tcPr marL="72000" marR="6350" marT="6350" marB="0" anchor="ctr"/>
                </a:tc>
                <a:tc>
                  <a:txBody>
                    <a:bodyPr/>
                    <a:lstStyle/>
                    <a:p>
                      <a:pPr algn="ctr" fontAlgn="b"/>
                      <a:r>
                        <a:rPr lang="en-US" sz="12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0">
                <a:tc>
                  <a:txBody>
                    <a:bodyPr/>
                    <a:lstStyle/>
                    <a:p>
                      <a:r>
                        <a:rPr lang="en-US" sz="1200">
                          <a:solidFill>
                            <a:schemeClr val="tx1"/>
                          </a:solidFill>
                        </a:rPr>
                        <a:t>Posting period  XX 20XX not open for variant 1000 and ledger 0L</a:t>
                      </a:r>
                    </a:p>
                  </a:txBody>
                  <a:tcPr marL="72000" marR="6350" marT="6350" marB="0" anchor="ctr"/>
                </a:tc>
                <a:tc>
                  <a:txBody>
                    <a:bodyPr/>
                    <a:lstStyle/>
                    <a:p>
                      <a:r>
                        <a:rPr lang="en-US" sz="1200">
                          <a:solidFill>
                            <a:schemeClr val="tx1"/>
                          </a:solidFill>
                        </a:rPr>
                        <a:t>This error occurs when the Reversal Date entered in Journal Posting Template is in the same period as posting date or in already closed period.</a:t>
                      </a:r>
                    </a:p>
                  </a:txBody>
                  <a:tcPr marL="72000" marR="6350" marT="6350" marB="0" anchor="ctr"/>
                </a:tc>
                <a:tc>
                  <a:txBody>
                    <a:bodyPr/>
                    <a:lstStyle/>
                    <a:p>
                      <a:r>
                        <a:rPr lang="en-US" sz="1200" dirty="0">
                          <a:solidFill>
                            <a:schemeClr val="tx1"/>
                          </a:solidFill>
                        </a:rPr>
                        <a:t>GL Team needs to contact Requestor, explain that the indicated reversal date is in the closed period. Ask requestor to initiate MR request GL04 template for correction of reversal date.</a:t>
                      </a:r>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583018577"/>
                  </a:ext>
                </a:extLst>
              </a:tr>
            </a:tbl>
          </a:graphicData>
        </a:graphic>
      </p:graphicFrame>
      <p:sp>
        <p:nvSpPr>
          <p:cNvPr id="13" name="Rectangle 12">
            <a:extLst>
              <a:ext uri="{FF2B5EF4-FFF2-40B4-BE49-F238E27FC236}">
                <a16:creationId xmlns:a16="http://schemas.microsoft.com/office/drawing/2014/main" id="{F535D72A-251E-CF50-FB1F-076617CB20F8}"/>
              </a:ext>
            </a:extLst>
          </p:cNvPr>
          <p:cNvSpPr/>
          <p:nvPr/>
        </p:nvSpPr>
        <p:spPr>
          <a:xfrm>
            <a:off x="4123538" y="5288566"/>
            <a:ext cx="735723" cy="2001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261335-C75F-658D-FC2C-57F745B28085}"/>
              </a:ext>
            </a:extLst>
          </p:cNvPr>
          <p:cNvSpPr/>
          <p:nvPr/>
        </p:nvSpPr>
        <p:spPr>
          <a:xfrm>
            <a:off x="7111009" y="5312995"/>
            <a:ext cx="914401" cy="17575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CFAEA69-990E-6A3E-FCE6-0F1B2E35595A}"/>
              </a:ext>
            </a:extLst>
          </p:cNvPr>
          <p:cNvSpPr/>
          <p:nvPr/>
        </p:nvSpPr>
        <p:spPr>
          <a:xfrm>
            <a:off x="1109516" y="4163783"/>
            <a:ext cx="5658818" cy="14566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9292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1BF7D0C-C8DC-1CD4-2F72-A57F3BB30285}"/>
              </a:ext>
              <a:ext uri="{147F2762-F138-4A5C-976F-8EAC2B608ADB}">
                <a16:predDERef xmlns:a16="http://schemas.microsoft.com/office/drawing/2014/main" pred="{89C4939E-2312-C567-88E2-0C908EA5A77C}"/>
              </a:ext>
            </a:extLst>
          </p:cNvPr>
          <p:cNvPicPr>
            <a:picLocks noChangeAspect="1"/>
          </p:cNvPicPr>
          <p:nvPr/>
        </p:nvPicPr>
        <p:blipFill>
          <a:blip r:embed="rId2"/>
          <a:stretch>
            <a:fillRect/>
          </a:stretch>
        </p:blipFill>
        <p:spPr>
          <a:xfrm>
            <a:off x="375449" y="4315588"/>
            <a:ext cx="9606752" cy="1598202"/>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A894EE41-AECD-6F49-27DF-37450F0406DA}"/>
              </a:ext>
            </a:extLst>
          </p:cNvPr>
          <p:cNvPicPr>
            <a:picLocks noChangeAspect="1"/>
          </p:cNvPicPr>
          <p:nvPr/>
        </p:nvPicPr>
        <p:blipFill>
          <a:blip r:embed="rId3"/>
          <a:stretch>
            <a:fillRect/>
          </a:stretch>
        </p:blipFill>
        <p:spPr>
          <a:xfrm>
            <a:off x="414928" y="3644365"/>
            <a:ext cx="10837333" cy="591927"/>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33EF4A0C-7349-1D9B-F167-DE82DF5D9EE8}"/>
              </a:ext>
            </a:extLst>
          </p:cNvPr>
          <p:cNvSpPr>
            <a:spLocks noGrp="1"/>
          </p:cNvSpPr>
          <p:nvPr>
            <p:ph type="title"/>
          </p:nvPr>
        </p:nvSpPr>
        <p:spPr/>
        <p:txBody>
          <a:bodyPr/>
          <a:lstStyle/>
          <a:p>
            <a:r>
              <a:rPr lang="en-GB"/>
              <a:t>Reversal  of Documents with a Specified Reversal Date (F.81):Common Errors</a:t>
            </a:r>
            <a:endParaRPr lang="en-US"/>
          </a:p>
        </p:txBody>
      </p:sp>
      <p:sp>
        <p:nvSpPr>
          <p:cNvPr id="5" name="Slide Number Placeholder 4">
            <a:extLst>
              <a:ext uri="{FF2B5EF4-FFF2-40B4-BE49-F238E27FC236}">
                <a16:creationId xmlns:a16="http://schemas.microsoft.com/office/drawing/2014/main" id="{D644F4AD-E455-9BEA-3382-5D6C83A73940}"/>
              </a:ext>
            </a:extLst>
          </p:cNvPr>
          <p:cNvSpPr>
            <a:spLocks noGrp="1"/>
          </p:cNvSpPr>
          <p:nvPr>
            <p:ph type="sldNum" sz="quarter" idx="12"/>
          </p:nvPr>
        </p:nvSpPr>
        <p:spPr/>
        <p:txBody>
          <a:bodyPr/>
          <a:lstStyle/>
          <a:p>
            <a:fld id="{F4C94289-3309-4C35-850A-56FD49B3E346}" type="slidenum">
              <a:rPr lang="en-GB" smtClean="0"/>
              <a:t>7</a:t>
            </a:fld>
            <a:endParaRPr lang="en-GB"/>
          </a:p>
        </p:txBody>
      </p:sp>
      <p:graphicFrame>
        <p:nvGraphicFramePr>
          <p:cNvPr id="8" name="Table 7">
            <a:extLst>
              <a:ext uri="{FF2B5EF4-FFF2-40B4-BE49-F238E27FC236}">
                <a16:creationId xmlns:a16="http://schemas.microsoft.com/office/drawing/2014/main" id="{98630F5E-C7F8-414E-EA1E-4FE5F403F76E}"/>
              </a:ext>
            </a:extLst>
          </p:cNvPr>
          <p:cNvGraphicFramePr>
            <a:graphicFrameLocks noGrp="1"/>
          </p:cNvGraphicFramePr>
          <p:nvPr/>
        </p:nvGraphicFramePr>
        <p:xfrm>
          <a:off x="365590" y="1480153"/>
          <a:ext cx="11310471" cy="190940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4678886">
                  <a:extLst>
                    <a:ext uri="{9D8B030D-6E8A-4147-A177-3AD203B41FA5}">
                      <a16:colId xmlns:a16="http://schemas.microsoft.com/office/drawing/2014/main" val="1965869314"/>
                    </a:ext>
                  </a:extLst>
                </a:gridCol>
                <a:gridCol w="3770157">
                  <a:extLst>
                    <a:ext uri="{9D8B030D-6E8A-4147-A177-3AD203B41FA5}">
                      <a16:colId xmlns:a16="http://schemas.microsoft.com/office/drawing/2014/main" val="566335056"/>
                    </a:ext>
                  </a:extLst>
                </a:gridCol>
              </a:tblGrid>
              <a:tr h="622895">
                <a:tc>
                  <a:txBody>
                    <a:bodyPr/>
                    <a:lstStyle/>
                    <a:p>
                      <a:pPr algn="ctr" fontAlgn="b"/>
                      <a:r>
                        <a:rPr lang="en-US" sz="1200" b="1" i="0" u="none" strike="noStrike">
                          <a:solidFill>
                            <a:schemeClr val="tx1"/>
                          </a:solidFill>
                          <a:effectLst/>
                          <a:latin typeface="+mn-lt"/>
                        </a:rPr>
                        <a:t>Errors</a:t>
                      </a:r>
                    </a:p>
                  </a:txBody>
                  <a:tcPr marL="72000" marR="6350" marT="6350" marB="0" anchor="ctr"/>
                </a:tc>
                <a:tc>
                  <a:txBody>
                    <a:bodyPr/>
                    <a:lstStyle/>
                    <a:p>
                      <a:pPr algn="ctr" fontAlgn="b"/>
                      <a:r>
                        <a:rPr lang="en-US" sz="1200" b="1" i="0" u="none" strike="noStrike">
                          <a:solidFill>
                            <a:schemeClr val="tx1"/>
                          </a:solidFill>
                          <a:effectLst/>
                          <a:latin typeface="+mn-lt"/>
                        </a:rPr>
                        <a:t>Error Description (Reason)</a:t>
                      </a:r>
                    </a:p>
                  </a:txBody>
                  <a:tcPr marL="72000" marR="6350" marT="6350" marB="0" anchor="ctr"/>
                </a:tc>
                <a:tc>
                  <a:txBody>
                    <a:bodyPr/>
                    <a:lstStyle/>
                    <a:p>
                      <a:pPr algn="ctr" fontAlgn="b"/>
                      <a:r>
                        <a:rPr lang="en-US" sz="12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0">
                <a:tc>
                  <a:txBody>
                    <a:bodyPr/>
                    <a:lstStyle/>
                    <a:p>
                      <a:r>
                        <a:rPr lang="en-US" sz="1200">
                          <a:solidFill>
                            <a:schemeClr val="tx1"/>
                          </a:solidFill>
                        </a:rPr>
                        <a:t>Posting period 001 20XX not open for variant 3000 and ledger TX/ST</a:t>
                      </a:r>
                    </a:p>
                  </a:txBody>
                  <a:tcPr marL="72000" marR="6350" marT="6350" marB="0" anchor="ctr"/>
                </a:tc>
                <a:tc>
                  <a:txBody>
                    <a:bodyPr/>
                    <a:lstStyle/>
                    <a:p>
                      <a:r>
                        <a:rPr lang="en-US" sz="1200">
                          <a:solidFill>
                            <a:schemeClr val="tx1"/>
                          </a:solidFill>
                        </a:rPr>
                        <a:t>This error occurs when  For posting done in period 14 the correct reversal date is not in January. It should be the next period after the one the document was entered to the system.</a:t>
                      </a:r>
                    </a:p>
                    <a:p>
                      <a:r>
                        <a:rPr lang="en-US" sz="1200">
                          <a:solidFill>
                            <a:schemeClr val="tx1"/>
                          </a:solidFill>
                        </a:rPr>
                        <a:t>Posting date: 31.12.2021</a:t>
                      </a:r>
                    </a:p>
                    <a:p>
                      <a:r>
                        <a:rPr lang="en-US" sz="1200">
                          <a:solidFill>
                            <a:schemeClr val="tx1"/>
                          </a:solidFill>
                        </a:rPr>
                        <a:t>Posting period: 14</a:t>
                      </a:r>
                    </a:p>
                    <a:p>
                      <a:r>
                        <a:rPr lang="en-US" sz="1200">
                          <a:solidFill>
                            <a:schemeClr val="tx1"/>
                          </a:solidFill>
                        </a:rPr>
                        <a:t>Entry date: 27.01.2022</a:t>
                      </a:r>
                    </a:p>
                    <a:p>
                      <a:r>
                        <a:rPr lang="en-US" sz="1200">
                          <a:solidFill>
                            <a:schemeClr val="tx1"/>
                          </a:solidFill>
                        </a:rPr>
                        <a:t>Reversal Date: 01.02.2022</a:t>
                      </a:r>
                    </a:p>
                  </a:txBody>
                  <a:tcPr marL="72000" marR="6350" marT="6350" marB="0" anchor="ctr"/>
                </a:tc>
                <a:tc>
                  <a:txBody>
                    <a:bodyPr/>
                    <a:lstStyle/>
                    <a:p>
                      <a:r>
                        <a:rPr lang="en-US" sz="1200">
                          <a:solidFill>
                            <a:schemeClr val="tx1"/>
                          </a:solidFill>
                        </a:rPr>
                        <a:t>Contact requestor, explain that the indicated reversal date is incorrect. Ask requestor to initiate MR request GL04 template for correction of reversal date.</a:t>
                      </a:r>
                    </a:p>
                    <a:p>
                      <a:endParaRPr lang="en-US" sz="1200">
                        <a:solidFill>
                          <a:schemeClr val="tx1"/>
                        </a:solidFill>
                        <a:latin typeface="+mn-lt"/>
                      </a:endParaRPr>
                    </a:p>
                  </a:txBody>
                  <a:tcPr marL="72000" marR="6350" marT="6350" marB="0" anchor="ctr"/>
                </a:tc>
                <a:extLst>
                  <a:ext uri="{0D108BD9-81ED-4DB2-BD59-A6C34878D82A}">
                    <a16:rowId xmlns:a16="http://schemas.microsoft.com/office/drawing/2014/main" val="583018577"/>
                  </a:ext>
                </a:extLst>
              </a:tr>
            </a:tbl>
          </a:graphicData>
        </a:graphic>
      </p:graphicFrame>
      <p:sp>
        <p:nvSpPr>
          <p:cNvPr id="13" name="Rectangle 12">
            <a:extLst>
              <a:ext uri="{FF2B5EF4-FFF2-40B4-BE49-F238E27FC236}">
                <a16:creationId xmlns:a16="http://schemas.microsoft.com/office/drawing/2014/main" id="{F535D72A-251E-CF50-FB1F-076617CB20F8}"/>
              </a:ext>
            </a:extLst>
          </p:cNvPr>
          <p:cNvSpPr/>
          <p:nvPr/>
        </p:nvSpPr>
        <p:spPr>
          <a:xfrm>
            <a:off x="4821121" y="4556835"/>
            <a:ext cx="357704" cy="2389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261335-C75F-658D-FC2C-57F745B28085}"/>
              </a:ext>
            </a:extLst>
          </p:cNvPr>
          <p:cNvSpPr/>
          <p:nvPr/>
        </p:nvSpPr>
        <p:spPr>
          <a:xfrm>
            <a:off x="7123312" y="4579910"/>
            <a:ext cx="914401" cy="17575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CFAEA69-990E-6A3E-FCE6-0F1B2E35595A}"/>
              </a:ext>
            </a:extLst>
          </p:cNvPr>
          <p:cNvSpPr/>
          <p:nvPr/>
        </p:nvSpPr>
        <p:spPr>
          <a:xfrm>
            <a:off x="1698423" y="3867494"/>
            <a:ext cx="5658818" cy="2249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2087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810BE2-463D-7A45-D90B-A04CC74886B6}"/>
              </a:ext>
              <a:ext uri="{147F2762-F138-4A5C-976F-8EAC2B608ADB}">
                <a16:predDERef xmlns:a16="http://schemas.microsoft.com/office/drawing/2014/main" pred="{9C77294A-FA44-F12D-F79B-F87EEDCE40FA}"/>
              </a:ext>
            </a:extLst>
          </p:cNvPr>
          <p:cNvPicPr>
            <a:picLocks noChangeAspect="1"/>
          </p:cNvPicPr>
          <p:nvPr/>
        </p:nvPicPr>
        <p:blipFill>
          <a:blip r:embed="rId2"/>
          <a:stretch>
            <a:fillRect/>
          </a:stretch>
        </p:blipFill>
        <p:spPr>
          <a:xfrm>
            <a:off x="345398" y="5377847"/>
            <a:ext cx="4984790" cy="867124"/>
          </a:xfrm>
          <a:prstGeom prst="rect">
            <a:avLst/>
          </a:prstGeom>
          <a:effectLst>
            <a:outerShdw blurRad="63500" sx="102000" sy="102000" algn="ctr" rotWithShape="0">
              <a:prstClr val="black">
                <a:alpha val="40000"/>
              </a:prstClr>
            </a:outerShdw>
          </a:effectLst>
        </p:spPr>
      </p:pic>
      <p:sp>
        <p:nvSpPr>
          <p:cNvPr id="16" name="Rectangle 15">
            <a:extLst>
              <a:ext uri="{FF2B5EF4-FFF2-40B4-BE49-F238E27FC236}">
                <a16:creationId xmlns:a16="http://schemas.microsoft.com/office/drawing/2014/main" id="{BCFAEA69-990E-6A3E-FCE6-0F1B2E35595A}"/>
              </a:ext>
            </a:extLst>
          </p:cNvPr>
          <p:cNvSpPr/>
          <p:nvPr/>
        </p:nvSpPr>
        <p:spPr>
          <a:xfrm>
            <a:off x="414928" y="5742780"/>
            <a:ext cx="3651342" cy="3212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894EE41-AECD-6F49-27DF-37450F0406DA}"/>
              </a:ext>
            </a:extLst>
          </p:cNvPr>
          <p:cNvPicPr>
            <a:picLocks noChangeAspect="1"/>
          </p:cNvPicPr>
          <p:nvPr/>
        </p:nvPicPr>
        <p:blipFill>
          <a:blip r:embed="rId3"/>
          <a:stretch>
            <a:fillRect/>
          </a:stretch>
        </p:blipFill>
        <p:spPr>
          <a:xfrm>
            <a:off x="414928" y="3644365"/>
            <a:ext cx="10837333" cy="591927"/>
          </a:xfrm>
          <a:prstGeom prst="rect">
            <a:avLst/>
          </a:prstGeom>
        </p:spPr>
      </p:pic>
      <p:sp>
        <p:nvSpPr>
          <p:cNvPr id="2" name="Title 1">
            <a:extLst>
              <a:ext uri="{FF2B5EF4-FFF2-40B4-BE49-F238E27FC236}">
                <a16:creationId xmlns:a16="http://schemas.microsoft.com/office/drawing/2014/main" id="{33EF4A0C-7349-1D9B-F167-DE82DF5D9EE8}"/>
              </a:ext>
            </a:extLst>
          </p:cNvPr>
          <p:cNvSpPr>
            <a:spLocks noGrp="1"/>
          </p:cNvSpPr>
          <p:nvPr>
            <p:ph type="title"/>
          </p:nvPr>
        </p:nvSpPr>
        <p:spPr/>
        <p:txBody>
          <a:bodyPr/>
          <a:lstStyle/>
          <a:p>
            <a:r>
              <a:rPr lang="en-GB"/>
              <a:t>Reversal  of Documents with a Specified Reversal Date (F.81):Common Errors</a:t>
            </a:r>
            <a:endParaRPr lang="en-US"/>
          </a:p>
        </p:txBody>
      </p:sp>
      <p:sp>
        <p:nvSpPr>
          <p:cNvPr id="5" name="Slide Number Placeholder 4">
            <a:extLst>
              <a:ext uri="{FF2B5EF4-FFF2-40B4-BE49-F238E27FC236}">
                <a16:creationId xmlns:a16="http://schemas.microsoft.com/office/drawing/2014/main" id="{D644F4AD-E455-9BEA-3382-5D6C83A73940}"/>
              </a:ext>
            </a:extLst>
          </p:cNvPr>
          <p:cNvSpPr>
            <a:spLocks noGrp="1"/>
          </p:cNvSpPr>
          <p:nvPr>
            <p:ph type="sldNum" sz="quarter" idx="12"/>
          </p:nvPr>
        </p:nvSpPr>
        <p:spPr/>
        <p:txBody>
          <a:bodyPr/>
          <a:lstStyle/>
          <a:p>
            <a:fld id="{F4C94289-3309-4C35-850A-56FD49B3E346}" type="slidenum">
              <a:rPr lang="en-GB" smtClean="0"/>
              <a:t>8</a:t>
            </a:fld>
            <a:endParaRPr lang="en-GB"/>
          </a:p>
        </p:txBody>
      </p:sp>
      <p:graphicFrame>
        <p:nvGraphicFramePr>
          <p:cNvPr id="8" name="Table 7">
            <a:extLst>
              <a:ext uri="{FF2B5EF4-FFF2-40B4-BE49-F238E27FC236}">
                <a16:creationId xmlns:a16="http://schemas.microsoft.com/office/drawing/2014/main" id="{98630F5E-C7F8-414E-EA1E-4FE5F403F76E}"/>
              </a:ext>
            </a:extLst>
          </p:cNvPr>
          <p:cNvGraphicFramePr>
            <a:graphicFrameLocks noGrp="1"/>
          </p:cNvGraphicFramePr>
          <p:nvPr/>
        </p:nvGraphicFramePr>
        <p:xfrm>
          <a:off x="365590" y="1480153"/>
          <a:ext cx="11310471" cy="375725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1428">
                  <a:extLst>
                    <a:ext uri="{9D8B030D-6E8A-4147-A177-3AD203B41FA5}">
                      <a16:colId xmlns:a16="http://schemas.microsoft.com/office/drawing/2014/main" val="9356114"/>
                    </a:ext>
                  </a:extLst>
                </a:gridCol>
                <a:gridCol w="3907207">
                  <a:extLst>
                    <a:ext uri="{9D8B030D-6E8A-4147-A177-3AD203B41FA5}">
                      <a16:colId xmlns:a16="http://schemas.microsoft.com/office/drawing/2014/main" val="1965869314"/>
                    </a:ext>
                  </a:extLst>
                </a:gridCol>
                <a:gridCol w="4541836">
                  <a:extLst>
                    <a:ext uri="{9D8B030D-6E8A-4147-A177-3AD203B41FA5}">
                      <a16:colId xmlns:a16="http://schemas.microsoft.com/office/drawing/2014/main" val="566335056"/>
                    </a:ext>
                  </a:extLst>
                </a:gridCol>
              </a:tblGrid>
              <a:tr h="622895">
                <a:tc>
                  <a:txBody>
                    <a:bodyPr/>
                    <a:lstStyle/>
                    <a:p>
                      <a:pPr algn="ctr" fontAlgn="b"/>
                      <a:r>
                        <a:rPr lang="en-US" sz="1200" b="1" i="0" u="none" strike="noStrike">
                          <a:solidFill>
                            <a:schemeClr val="tx1"/>
                          </a:solidFill>
                          <a:effectLst/>
                          <a:latin typeface="+mn-lt"/>
                        </a:rPr>
                        <a:t>Errors</a:t>
                      </a:r>
                    </a:p>
                  </a:txBody>
                  <a:tcPr marL="72000" marR="6350" marT="6350" marB="0" anchor="ctr"/>
                </a:tc>
                <a:tc>
                  <a:txBody>
                    <a:bodyPr/>
                    <a:lstStyle/>
                    <a:p>
                      <a:pPr algn="ctr" fontAlgn="b"/>
                      <a:r>
                        <a:rPr lang="en-US" sz="1200" b="1" i="0" u="none" strike="noStrike">
                          <a:solidFill>
                            <a:schemeClr val="tx1"/>
                          </a:solidFill>
                          <a:effectLst/>
                          <a:latin typeface="+mn-lt"/>
                        </a:rPr>
                        <a:t>Error Description (Reason)</a:t>
                      </a:r>
                    </a:p>
                  </a:txBody>
                  <a:tcPr marL="72000" marR="6350" marT="6350" marB="0" anchor="ctr"/>
                </a:tc>
                <a:tc>
                  <a:txBody>
                    <a:bodyPr/>
                    <a:lstStyle/>
                    <a:p>
                      <a:pPr algn="ctr" fontAlgn="b"/>
                      <a:r>
                        <a:rPr lang="en-US" sz="12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0">
                <a:tc>
                  <a:txBody>
                    <a:bodyPr/>
                    <a:lstStyle/>
                    <a:p>
                      <a:r>
                        <a:rPr lang="en-US" sz="1200">
                          <a:solidFill>
                            <a:schemeClr val="tx1"/>
                          </a:solidFill>
                        </a:rPr>
                        <a:t>Item XXX WBS XXXXXXX budget exceeded</a:t>
                      </a:r>
                    </a:p>
                  </a:txBody>
                  <a:tcPr marL="72000" marR="6350" marT="6350" marB="0" anchor="ctr"/>
                </a:tc>
                <a:tc>
                  <a:txBody>
                    <a:bodyPr/>
                    <a:lstStyle/>
                    <a:p>
                      <a:r>
                        <a:rPr lang="en-US" sz="1200">
                          <a:solidFill>
                            <a:schemeClr val="tx1"/>
                          </a:solidFill>
                        </a:rPr>
                        <a:t>This error occurs when budget for WBS becomes exceeded.</a:t>
                      </a:r>
                    </a:p>
                  </a:txBody>
                  <a:tcPr marL="72000" marR="6350" marT="6350" marB="0" anchor="ctr"/>
                </a:tc>
                <a:tc>
                  <a:txBody>
                    <a:bodyPr/>
                    <a:lstStyle/>
                    <a:p>
                      <a:r>
                        <a:rPr lang="en-US" sz="1200" dirty="0">
                          <a:solidFill>
                            <a:schemeClr val="tx1"/>
                          </a:solidFill>
                        </a:rPr>
                        <a:t>GL Team needs to request market to increase budget for WBS. Re-execute the transaction with T-code F.81 (for mass reversal) or FB08 (for single reversal)</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583018577"/>
                  </a:ext>
                </a:extLst>
              </a:tr>
              <a:tr h="0">
                <a:tc>
                  <a:txBody>
                    <a:bodyPr/>
                    <a:lstStyle/>
                    <a:p>
                      <a:r>
                        <a:rPr lang="en-US" sz="1200">
                          <a:solidFill>
                            <a:schemeClr val="tx1"/>
                          </a:solidFill>
                        </a:rPr>
                        <a:t>Cost center XXXXX blocked against direct posting on XX.XX.XXXX</a:t>
                      </a:r>
                    </a:p>
                  </a:txBody>
                  <a:tcPr marL="72000" marR="6350" marT="6350" marB="0" anchor="ctr"/>
                </a:tc>
                <a:tc>
                  <a:txBody>
                    <a:bodyPr/>
                    <a:lstStyle/>
                    <a:p>
                      <a:r>
                        <a:rPr lang="en-US" sz="1200">
                          <a:solidFill>
                            <a:schemeClr val="tx1"/>
                          </a:solidFill>
                        </a:rPr>
                        <a:t>This error occurs when Cost Center is Blocked.</a:t>
                      </a:r>
                    </a:p>
                  </a:txBody>
                  <a:tcPr marL="7200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GL Team needs to </a:t>
                      </a:r>
                      <a:r>
                        <a:rPr lang="en-US" sz="1200" dirty="0" err="1">
                          <a:solidFill>
                            <a:schemeClr val="tx1"/>
                          </a:solidFill>
                        </a:rPr>
                        <a:t>sk</a:t>
                      </a:r>
                      <a:r>
                        <a:rPr lang="en-US" sz="1200" dirty="0">
                          <a:solidFill>
                            <a:schemeClr val="tx1"/>
                          </a:solidFill>
                        </a:rPr>
                        <a:t> market to unblock cost center. Re-execute the transaction with T-code F.81 (for mass reversal) or FB08 (for single reversal)</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219312446"/>
                  </a:ext>
                </a:extLst>
              </a:tr>
              <a:tr h="0">
                <a:tc>
                  <a:txBody>
                    <a:bodyPr/>
                    <a:lstStyle/>
                    <a:p>
                      <a:r>
                        <a:rPr lang="en-US" sz="1200">
                          <a:solidFill>
                            <a:schemeClr val="tx1"/>
                          </a:solidFill>
                        </a:rPr>
                        <a:t>GL account XXXXXX is blocked</a:t>
                      </a:r>
                    </a:p>
                  </a:txBody>
                  <a:tcPr marL="72000" marR="6350" marT="6350" marB="0" anchor="ctr"/>
                </a:tc>
                <a:tc>
                  <a:txBody>
                    <a:bodyPr/>
                    <a:lstStyle/>
                    <a:p>
                      <a:r>
                        <a:rPr lang="en-US" sz="1200">
                          <a:solidFill>
                            <a:schemeClr val="tx1"/>
                          </a:solidFill>
                        </a:rPr>
                        <a:t>This error occurs, when GL account is blocked for posting</a:t>
                      </a:r>
                    </a:p>
                  </a:txBody>
                  <a:tcPr marL="7200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GL Team needs to ask market to unblock GL account. Re-execute the transaction with T-code F.81 (for mass reversal) or FB08 (for single reversal).</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2762441291"/>
                  </a:ext>
                </a:extLst>
              </a:tr>
              <a:tr h="0">
                <a:tc>
                  <a:txBody>
                    <a:bodyPr/>
                    <a:lstStyle/>
                    <a:p>
                      <a:r>
                        <a:rPr lang="en-US" sz="1200">
                          <a:solidFill>
                            <a:schemeClr val="tx1"/>
                          </a:solidFill>
                        </a:rPr>
                        <a:t>Project XXXXXX is currently being processed by XXXXXX</a:t>
                      </a:r>
                    </a:p>
                  </a:txBody>
                  <a:tcPr marL="72000" marR="6350" marT="6350" marB="0" anchor="ctr"/>
                </a:tc>
                <a:tc>
                  <a:txBody>
                    <a:bodyPr/>
                    <a:lstStyle/>
                    <a:p>
                      <a:r>
                        <a:rPr lang="en-US" sz="1200">
                          <a:solidFill>
                            <a:schemeClr val="tx1"/>
                          </a:solidFill>
                        </a:rPr>
                        <a:t>This error occurs when User from other team entered WBS element details during reversal done by FCC.</a:t>
                      </a:r>
                    </a:p>
                  </a:txBody>
                  <a:tcPr marL="7200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GL Team to contact respective user who is currently processing the Project to close this Project in SAP. Post receiving confirmation proceed to re-run FCC task or </a:t>
                      </a:r>
                      <a:r>
                        <a:rPr lang="en-US" sz="1200" strike="noStrike" dirty="0">
                          <a:solidFill>
                            <a:schemeClr val="tx1"/>
                          </a:solidFill>
                        </a:rPr>
                        <a:t>document need to be reversed  manually in the next period.</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788237997"/>
                  </a:ext>
                </a:extLst>
              </a:tr>
            </a:tbl>
          </a:graphicData>
        </a:graphic>
      </p:graphicFrame>
      <p:sp>
        <p:nvSpPr>
          <p:cNvPr id="6" name="Rectangle 5">
            <a:extLst>
              <a:ext uri="{FF2B5EF4-FFF2-40B4-BE49-F238E27FC236}">
                <a16:creationId xmlns:a16="http://schemas.microsoft.com/office/drawing/2014/main" id="{0F9DB30C-23D1-2DDD-8B7A-11CEECE7132A}"/>
              </a:ext>
            </a:extLst>
          </p:cNvPr>
          <p:cNvSpPr/>
          <p:nvPr/>
        </p:nvSpPr>
        <p:spPr>
          <a:xfrm>
            <a:off x="414928" y="2263036"/>
            <a:ext cx="2422865" cy="4906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2580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dirty="0"/>
              <a:t>Period End Closing Execution (GBS/JTBC) </a:t>
            </a: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000000"/>
                </a:solidFill>
                <a:latin typeface="Arial" charset="0"/>
                <a:cs typeface="Arial" charset="0"/>
              </a:rPr>
              <a:t>Post Closing Activities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087053" y="2654953"/>
            <a:ext cx="360806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Reversal of Documents with a Specified Reversal Date (F.81)</a:t>
            </a:r>
          </a:p>
        </p:txBody>
      </p:sp>
      <p:cxnSp>
        <p:nvCxnSpPr>
          <p:cNvPr id="41" name="Elbow Connector 7">
            <a:extLst>
              <a:ext uri="{FF2B5EF4-FFF2-40B4-BE49-F238E27FC236}">
                <a16:creationId xmlns:a16="http://schemas.microsoft.com/office/drawing/2014/main" id="{9D5CB863-C719-46D6-930C-1EFAD313C26F}"/>
              </a:ext>
            </a:extLst>
          </p:cNvPr>
          <p:cNvCxnSpPr>
            <a:cxnSpLocks/>
          </p:cNvCxnSpPr>
          <p:nvPr/>
        </p:nvCxnSpPr>
        <p:spPr>
          <a:xfrm rot="16200000" flipH="1">
            <a:off x="3534061" y="3851968"/>
            <a:ext cx="2299014" cy="552637"/>
          </a:xfrm>
          <a:prstGeom prst="bentConnector3">
            <a:avLst>
              <a:gd name="adj1" fmla="val 9989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40233" y="2906801"/>
            <a:ext cx="1044304" cy="797376"/>
          </a:xfrm>
          <a:prstGeom prst="bentConnector3">
            <a:avLst>
              <a:gd name="adj1" fmla="val 4442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3" name="Rounded Rectangle 39">
            <a:extLst>
              <a:ext uri="{FF2B5EF4-FFF2-40B4-BE49-F238E27FC236}">
                <a16:creationId xmlns:a16="http://schemas.microsoft.com/office/drawing/2014/main" id="{84DE1B7C-5151-4EC9-B9A5-B80A5BD549E1}"/>
              </a:ext>
            </a:extLst>
          </p:cNvPr>
          <p:cNvSpPr/>
          <p:nvPr/>
        </p:nvSpPr>
        <p:spPr>
          <a:xfrm>
            <a:off x="5087054" y="4958201"/>
            <a:ext cx="3608059"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Update Period Control Related Locks</a:t>
            </a:r>
          </a:p>
        </p:txBody>
      </p:sp>
    </p:spTree>
    <p:extLst>
      <p:ext uri="{BB962C8B-B14F-4D97-AF65-F5344CB8AC3E}">
        <p14:creationId xmlns:p14="http://schemas.microsoft.com/office/powerpoint/2010/main" val="4281611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3B2FE2-5FCA-40D5-9AB0-A34021790302}"/>
              </a:ext>
            </a:extLst>
          </p:cNvPr>
          <p:cNvSpPr/>
          <p:nvPr/>
        </p:nvSpPr>
        <p:spPr>
          <a:xfrm>
            <a:off x="751164" y="6103136"/>
            <a:ext cx="11062569" cy="553998"/>
          </a:xfrm>
          <a:prstGeom prst="rect">
            <a:avLst/>
          </a:prstGeom>
          <a:solidFill>
            <a:schemeClr val="bg1"/>
          </a:solidFill>
        </p:spPr>
        <p:txBody>
          <a:bodyPr wrap="square">
            <a:spAutoFit/>
          </a:bodyPr>
          <a:lstStyle/>
          <a:p>
            <a:pPr>
              <a:lnSpc>
                <a:spcPts val="1200"/>
              </a:lnSpc>
              <a:spcBef>
                <a:spcPts val="600"/>
              </a:spcBef>
            </a:pPr>
            <a:r>
              <a:rPr lang="en-US" sz="1200" i="1">
                <a:solidFill>
                  <a:srgbClr val="000000"/>
                </a:solidFill>
                <a:latin typeface="Georgia" panose="02040502050405020303" pitchFamily="18" charset="0"/>
              </a:rPr>
              <a:t>If you remember from the previous chapters, the above dates and blocks have been set in order to stop postings of certain items (Assets, G&amp;A/Marketing, GR/IR) in the period that we are closing, but allow such postings in the new period. Therefore when we have finished closing, we should remove these locks and set the date for the new period, so that when are closing the next period, we can continue to set the lock as we did for the month we just closed.</a:t>
            </a:r>
          </a:p>
        </p:txBody>
      </p:sp>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a:spcAft>
                <a:spcPts val="1000"/>
              </a:spcAft>
            </a:pPr>
            <a:r>
              <a:rPr lang="en-US">
                <a:solidFill>
                  <a:srgbClr val="000000"/>
                </a:solidFill>
                <a:latin typeface="Arial" charset="0"/>
                <a:cs typeface="Arial" charset="0"/>
              </a:rPr>
              <a:t>Update Period Control Related Locks</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fld id="{1A6A2304-23DC-2B46-BD14-F082077842FF}" type="slidenum">
              <a:rPr lang="en-US" smtClean="0"/>
              <a:pPr/>
              <a:t>10</a:t>
            </a:fld>
            <a:endParaRPr lang="en-US"/>
          </a:p>
        </p:txBody>
      </p:sp>
      <p:pic>
        <p:nvPicPr>
          <p:cNvPr id="40" name="Graphic 39" descr="Person with idea">
            <a:extLst>
              <a:ext uri="{FF2B5EF4-FFF2-40B4-BE49-F238E27FC236}">
                <a16:creationId xmlns:a16="http://schemas.microsoft.com/office/drawing/2014/main" id="{D469B65F-7DCC-4BF5-82D3-1D87DA9470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8266" y="5704433"/>
            <a:ext cx="661199" cy="661199"/>
          </a:xfrm>
          <a:prstGeom prst="rect">
            <a:avLst/>
          </a:prstGeom>
          <a:effectLst>
            <a:outerShdw blurRad="50800" dist="38100" dir="5400000" algn="t" rotWithShape="0">
              <a:prstClr val="black">
                <a:alpha val="40000"/>
              </a:prstClr>
            </a:outerShdw>
          </a:effectLst>
        </p:spPr>
      </p:pic>
      <p:sp>
        <p:nvSpPr>
          <p:cNvPr id="5" name="Freeform: Shape 4">
            <a:extLst>
              <a:ext uri="{FF2B5EF4-FFF2-40B4-BE49-F238E27FC236}">
                <a16:creationId xmlns:a16="http://schemas.microsoft.com/office/drawing/2014/main" id="{5E5D26C0-39A4-08EB-3C33-6A85B003D6E0}"/>
              </a:ext>
            </a:extLst>
          </p:cNvPr>
          <p:cNvSpPr/>
          <p:nvPr/>
        </p:nvSpPr>
        <p:spPr>
          <a:xfrm>
            <a:off x="5613514" y="4475378"/>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3715316"/>
              <a:satOff val="-27221"/>
              <a:lumOff val="447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WD4</a:t>
            </a:r>
            <a:endParaRPr lang="en-US" sz="1400" kern="1200"/>
          </a:p>
        </p:txBody>
      </p:sp>
      <p:sp>
        <p:nvSpPr>
          <p:cNvPr id="6" name="Freeform: Shape 5">
            <a:extLst>
              <a:ext uri="{FF2B5EF4-FFF2-40B4-BE49-F238E27FC236}">
                <a16:creationId xmlns:a16="http://schemas.microsoft.com/office/drawing/2014/main" id="{A00EEC09-3596-D28A-6D59-AB37DABAE771}"/>
              </a:ext>
            </a:extLst>
          </p:cNvPr>
          <p:cNvSpPr/>
          <p:nvPr/>
        </p:nvSpPr>
        <p:spPr>
          <a:xfrm>
            <a:off x="7563885" y="1527208"/>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bg1">
              <a:lumMod val="50000"/>
            </a:schemeClr>
          </a:solidFill>
          <a:ln>
            <a:noFill/>
          </a:ln>
        </p:spPr>
        <p:style>
          <a:lnRef idx="0">
            <a:schemeClr val="lt1">
              <a:hueOff val="0"/>
              <a:satOff val="0"/>
              <a:lumOff val="0"/>
              <a:alphaOff val="0"/>
            </a:schemeClr>
          </a:lnRef>
          <a:fillRef idx="3">
            <a:schemeClr val="accent3">
              <a:hueOff val="6192194"/>
              <a:satOff val="-45368"/>
              <a:lumOff val="7450"/>
              <a:alphaOff val="0"/>
            </a:schemeClr>
          </a:fillRef>
          <a:effectRef idx="3">
            <a:schemeClr val="accent3">
              <a:hueOff val="6192194"/>
              <a:satOff val="-45368"/>
              <a:lumOff val="745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sz="2000"/>
              <a:t>Unlock Posting to all GR/IR</a:t>
            </a:r>
          </a:p>
        </p:txBody>
      </p:sp>
      <p:sp>
        <p:nvSpPr>
          <p:cNvPr id="7" name="Freeform: Shape 6">
            <a:extLst>
              <a:ext uri="{FF2B5EF4-FFF2-40B4-BE49-F238E27FC236}">
                <a16:creationId xmlns:a16="http://schemas.microsoft.com/office/drawing/2014/main" id="{B2B6830E-C682-37EC-9C67-4A0389BB0E93}"/>
              </a:ext>
            </a:extLst>
          </p:cNvPr>
          <p:cNvSpPr/>
          <p:nvPr/>
        </p:nvSpPr>
        <p:spPr>
          <a:xfrm>
            <a:off x="7872754" y="3001293"/>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a:t>
            </a:r>
          </a:p>
          <a:p>
            <a:pPr algn="ctr" defTabSz="1644650">
              <a:lnSpc>
                <a:spcPct val="90000"/>
              </a:lnSpc>
              <a:spcBef>
                <a:spcPct val="0"/>
              </a:spcBef>
              <a:spcAft>
                <a:spcPct val="35000"/>
              </a:spcAft>
            </a:pPr>
            <a:r>
              <a:rPr lang="en-US" sz="1200"/>
              <a:t>ZFFITCOMPANY_CD</a:t>
            </a:r>
            <a:r>
              <a:rPr lang="en-US" sz="1600"/>
              <a:t> </a:t>
            </a:r>
          </a:p>
        </p:txBody>
      </p:sp>
      <p:sp>
        <p:nvSpPr>
          <p:cNvPr id="8" name="Freeform: Shape 7">
            <a:extLst>
              <a:ext uri="{FF2B5EF4-FFF2-40B4-BE49-F238E27FC236}">
                <a16:creationId xmlns:a16="http://schemas.microsoft.com/office/drawing/2014/main" id="{BA6FAD49-44C8-CD37-AF35-BA6564D6DDF2}"/>
              </a:ext>
            </a:extLst>
          </p:cNvPr>
          <p:cNvSpPr/>
          <p:nvPr/>
        </p:nvSpPr>
        <p:spPr>
          <a:xfrm>
            <a:off x="7712057" y="2756580"/>
            <a:ext cx="235853" cy="2358536"/>
          </a:xfrm>
          <a:custGeom>
            <a:avLst/>
            <a:gdLst/>
            <a:ahLst/>
            <a:cxnLst/>
            <a:rect l="0" t="0" r="0" b="0"/>
            <a:pathLst>
              <a:path>
                <a:moveTo>
                  <a:pt x="0" y="0"/>
                </a:moveTo>
                <a:lnTo>
                  <a:pt x="0" y="2358536"/>
                </a:lnTo>
                <a:lnTo>
                  <a:pt x="235853" y="2358536"/>
                </a:lnTo>
              </a:path>
            </a:pathLst>
          </a:cu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9" name="Freeform: Shape 8">
            <a:extLst>
              <a:ext uri="{FF2B5EF4-FFF2-40B4-BE49-F238E27FC236}">
                <a16:creationId xmlns:a16="http://schemas.microsoft.com/office/drawing/2014/main" id="{092D2696-5412-6C62-9BD5-FD2CFC9101D0}"/>
              </a:ext>
            </a:extLst>
          </p:cNvPr>
          <p:cNvSpPr/>
          <p:nvPr/>
        </p:nvSpPr>
        <p:spPr>
          <a:xfrm>
            <a:off x="7947910" y="4475378"/>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6192194"/>
              <a:satOff val="-45368"/>
              <a:lumOff val="745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WD4</a:t>
            </a:r>
            <a:endParaRPr lang="en-US" sz="1400" kern="1200"/>
          </a:p>
        </p:txBody>
      </p:sp>
      <p:cxnSp>
        <p:nvCxnSpPr>
          <p:cNvPr id="10" name="Straight Connector 9">
            <a:extLst>
              <a:ext uri="{FF2B5EF4-FFF2-40B4-BE49-F238E27FC236}">
                <a16:creationId xmlns:a16="http://schemas.microsoft.com/office/drawing/2014/main" id="{EE612FD2-CA87-1DED-B612-6A790094BE8D}"/>
              </a:ext>
            </a:extLst>
          </p:cNvPr>
          <p:cNvCxnSpPr>
            <a:cxnSpLocks/>
          </p:cNvCxnSpPr>
          <p:nvPr/>
        </p:nvCxnSpPr>
        <p:spPr>
          <a:xfrm>
            <a:off x="3657038" y="3329389"/>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11" name="Straight Connector 10">
            <a:extLst>
              <a:ext uri="{FF2B5EF4-FFF2-40B4-BE49-F238E27FC236}">
                <a16:creationId xmlns:a16="http://schemas.microsoft.com/office/drawing/2014/main" id="{70231FDA-F080-F9B8-1E26-AE24C7C4B8E2}"/>
              </a:ext>
            </a:extLst>
          </p:cNvPr>
          <p:cNvCxnSpPr>
            <a:cxnSpLocks/>
          </p:cNvCxnSpPr>
          <p:nvPr/>
        </p:nvCxnSpPr>
        <p:spPr>
          <a:xfrm>
            <a:off x="6605208" y="3336108"/>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12" name="Straight Connector 11">
            <a:extLst>
              <a:ext uri="{FF2B5EF4-FFF2-40B4-BE49-F238E27FC236}">
                <a16:creationId xmlns:a16="http://schemas.microsoft.com/office/drawing/2014/main" id="{28582B15-64A1-2DC7-A6D6-F1B35B8494DE}"/>
              </a:ext>
            </a:extLst>
          </p:cNvPr>
          <p:cNvCxnSpPr>
            <a:cxnSpLocks/>
          </p:cNvCxnSpPr>
          <p:nvPr/>
        </p:nvCxnSpPr>
        <p:spPr>
          <a:xfrm>
            <a:off x="3657037" y="4062218"/>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14" name="Straight Connector 13">
            <a:extLst>
              <a:ext uri="{FF2B5EF4-FFF2-40B4-BE49-F238E27FC236}">
                <a16:creationId xmlns:a16="http://schemas.microsoft.com/office/drawing/2014/main" id="{D85E6C78-C4E6-48E2-40F9-E14944D38119}"/>
              </a:ext>
            </a:extLst>
          </p:cNvPr>
          <p:cNvCxnSpPr>
            <a:cxnSpLocks/>
          </p:cNvCxnSpPr>
          <p:nvPr/>
        </p:nvCxnSpPr>
        <p:spPr>
          <a:xfrm>
            <a:off x="6605207" y="4068937"/>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19" name="Freeform: Shape 18">
            <a:extLst>
              <a:ext uri="{FF2B5EF4-FFF2-40B4-BE49-F238E27FC236}">
                <a16:creationId xmlns:a16="http://schemas.microsoft.com/office/drawing/2014/main" id="{A428EE9B-07E1-EB94-CA4B-ADD881D1BF15}"/>
              </a:ext>
            </a:extLst>
          </p:cNvPr>
          <p:cNvSpPr/>
          <p:nvPr/>
        </p:nvSpPr>
        <p:spPr>
          <a:xfrm>
            <a:off x="7885280" y="3745758"/>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a:t>FCC Task</a:t>
            </a:r>
            <a:r>
              <a:rPr lang="en-US" sz="1600"/>
              <a:t>: JTBC Level </a:t>
            </a:r>
            <a:r>
              <a:rPr lang="en-US" sz="1000"/>
              <a:t>(Note task in FCC)</a:t>
            </a:r>
          </a:p>
        </p:txBody>
      </p:sp>
      <p:cxnSp>
        <p:nvCxnSpPr>
          <p:cNvPr id="24" name="Straight Connector 23">
            <a:extLst>
              <a:ext uri="{FF2B5EF4-FFF2-40B4-BE49-F238E27FC236}">
                <a16:creationId xmlns:a16="http://schemas.microsoft.com/office/drawing/2014/main" id="{868E918B-2CF4-1E2F-2042-940C2F6D3330}"/>
              </a:ext>
            </a:extLst>
          </p:cNvPr>
          <p:cNvCxnSpPr>
            <a:cxnSpLocks/>
          </p:cNvCxnSpPr>
          <p:nvPr/>
        </p:nvCxnSpPr>
        <p:spPr>
          <a:xfrm>
            <a:off x="944720" y="3329389"/>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45" name="Straight Connector 44">
            <a:extLst>
              <a:ext uri="{FF2B5EF4-FFF2-40B4-BE49-F238E27FC236}">
                <a16:creationId xmlns:a16="http://schemas.microsoft.com/office/drawing/2014/main" id="{AE536001-EB98-76A2-6E59-3D06CBF29EBE}"/>
              </a:ext>
            </a:extLst>
          </p:cNvPr>
          <p:cNvCxnSpPr>
            <a:cxnSpLocks/>
          </p:cNvCxnSpPr>
          <p:nvPr/>
        </p:nvCxnSpPr>
        <p:spPr>
          <a:xfrm>
            <a:off x="944719" y="4062218"/>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46" name="Freeform: Shape 45">
            <a:extLst>
              <a:ext uri="{FF2B5EF4-FFF2-40B4-BE49-F238E27FC236}">
                <a16:creationId xmlns:a16="http://schemas.microsoft.com/office/drawing/2014/main" id="{2B65C88A-1224-163E-E673-6E9090769D51}"/>
              </a:ext>
            </a:extLst>
          </p:cNvPr>
          <p:cNvSpPr/>
          <p:nvPr/>
        </p:nvSpPr>
        <p:spPr>
          <a:xfrm>
            <a:off x="2707203" y="1532125"/>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sz="2000"/>
              <a:t>Unlock Posting to Asset Accounts</a:t>
            </a:r>
          </a:p>
        </p:txBody>
      </p:sp>
      <p:sp>
        <p:nvSpPr>
          <p:cNvPr id="47" name="Freeform: Shape 46">
            <a:extLst>
              <a:ext uri="{FF2B5EF4-FFF2-40B4-BE49-F238E27FC236}">
                <a16:creationId xmlns:a16="http://schemas.microsoft.com/office/drawing/2014/main" id="{9002F1D3-4828-62D5-E0A6-449EEAEE080F}"/>
              </a:ext>
            </a:extLst>
          </p:cNvPr>
          <p:cNvSpPr/>
          <p:nvPr/>
        </p:nvSpPr>
        <p:spPr>
          <a:xfrm>
            <a:off x="3178911" y="3006210"/>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a:t>
            </a:r>
          </a:p>
          <a:p>
            <a:pPr algn="ctr" defTabSz="1644650">
              <a:lnSpc>
                <a:spcPct val="90000"/>
              </a:lnSpc>
              <a:spcBef>
                <a:spcPct val="0"/>
              </a:spcBef>
              <a:spcAft>
                <a:spcPct val="35000"/>
              </a:spcAft>
            </a:pPr>
            <a:r>
              <a:rPr lang="en-US" sz="1200"/>
              <a:t>ZFFITCOMPANY_AS </a:t>
            </a:r>
          </a:p>
        </p:txBody>
      </p:sp>
      <p:sp>
        <p:nvSpPr>
          <p:cNvPr id="48" name="Freeform: Shape 47">
            <a:extLst>
              <a:ext uri="{FF2B5EF4-FFF2-40B4-BE49-F238E27FC236}">
                <a16:creationId xmlns:a16="http://schemas.microsoft.com/office/drawing/2014/main" id="{C3E0AF80-BD7C-0072-B149-EA777A3DB50D}"/>
              </a:ext>
            </a:extLst>
          </p:cNvPr>
          <p:cNvSpPr/>
          <p:nvPr/>
        </p:nvSpPr>
        <p:spPr>
          <a:xfrm>
            <a:off x="2943057" y="2711393"/>
            <a:ext cx="235853" cy="2358536"/>
          </a:xfrm>
          <a:custGeom>
            <a:avLst/>
            <a:gdLst/>
            <a:ahLst/>
            <a:cxnLst/>
            <a:rect l="0" t="0" r="0" b="0"/>
            <a:pathLst>
              <a:path>
                <a:moveTo>
                  <a:pt x="0" y="0"/>
                </a:moveTo>
                <a:lnTo>
                  <a:pt x="0" y="2358536"/>
                </a:lnTo>
                <a:lnTo>
                  <a:pt x="235853" y="2358536"/>
                </a:lnTo>
              </a:path>
            </a:pathLst>
          </a:custGeom>
          <a:solidFill>
            <a:srgbClr val="36C4BE"/>
          </a:solidFill>
          <a:ln>
            <a:solidFill>
              <a:srgbClr val="74D9D5"/>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49" name="Freeform: Shape 48">
            <a:extLst>
              <a:ext uri="{FF2B5EF4-FFF2-40B4-BE49-F238E27FC236}">
                <a16:creationId xmlns:a16="http://schemas.microsoft.com/office/drawing/2014/main" id="{DD9766C2-4BE3-6202-4649-C5BBBF1867FD}"/>
              </a:ext>
            </a:extLst>
          </p:cNvPr>
          <p:cNvSpPr/>
          <p:nvPr/>
        </p:nvSpPr>
        <p:spPr>
          <a:xfrm>
            <a:off x="3178910" y="4480295"/>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Timing: </a:t>
            </a:r>
            <a:r>
              <a:rPr lang="en-US" sz="1600" kern="1200"/>
              <a:t>WD4</a:t>
            </a:r>
          </a:p>
        </p:txBody>
      </p:sp>
      <p:sp>
        <p:nvSpPr>
          <p:cNvPr id="50" name="Freeform: Shape 49">
            <a:extLst>
              <a:ext uri="{FF2B5EF4-FFF2-40B4-BE49-F238E27FC236}">
                <a16:creationId xmlns:a16="http://schemas.microsoft.com/office/drawing/2014/main" id="{8E75DA74-5BBE-60E7-EF77-B91BB58B9CE4}"/>
              </a:ext>
            </a:extLst>
          </p:cNvPr>
          <p:cNvSpPr/>
          <p:nvPr/>
        </p:nvSpPr>
        <p:spPr>
          <a:xfrm>
            <a:off x="5141808" y="1532125"/>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rgbClr val="0070C0"/>
          </a:solidFill>
        </p:spPr>
        <p:style>
          <a:lnRef idx="0">
            <a:schemeClr val="lt1">
              <a:hueOff val="0"/>
              <a:satOff val="0"/>
              <a:lumOff val="0"/>
              <a:alphaOff val="0"/>
            </a:schemeClr>
          </a:lnRef>
          <a:fillRef idx="3">
            <a:schemeClr val="accent3">
              <a:hueOff val="3096097"/>
              <a:satOff val="-22684"/>
              <a:lumOff val="3725"/>
              <a:alphaOff val="0"/>
            </a:schemeClr>
          </a:fillRef>
          <a:effectRef idx="3">
            <a:schemeClr val="accent3">
              <a:hueOff val="3096097"/>
              <a:satOff val="-22684"/>
              <a:lumOff val="3725"/>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sz="2000"/>
              <a:t>Unlock Posting to  G&amp;A/Marketing</a:t>
            </a:r>
          </a:p>
        </p:txBody>
      </p:sp>
      <p:sp>
        <p:nvSpPr>
          <p:cNvPr id="51" name="Freeform: Shape 50">
            <a:extLst>
              <a:ext uri="{FF2B5EF4-FFF2-40B4-BE49-F238E27FC236}">
                <a16:creationId xmlns:a16="http://schemas.microsoft.com/office/drawing/2014/main" id="{025A335D-4A52-D015-E04B-16BD0E44126D}"/>
              </a:ext>
            </a:extLst>
          </p:cNvPr>
          <p:cNvSpPr/>
          <p:nvPr/>
        </p:nvSpPr>
        <p:spPr>
          <a:xfrm>
            <a:off x="5613515" y="3006210"/>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p>
          <a:p>
            <a:pPr algn="ctr" defTabSz="1644650">
              <a:lnSpc>
                <a:spcPct val="90000"/>
              </a:lnSpc>
              <a:spcBef>
                <a:spcPct val="0"/>
              </a:spcBef>
              <a:spcAft>
                <a:spcPct val="35000"/>
              </a:spcAft>
            </a:pPr>
            <a:r>
              <a:rPr lang="en-US" sz="1200"/>
              <a:t>ZPERIOD_BLOCK_CD </a:t>
            </a:r>
          </a:p>
        </p:txBody>
      </p:sp>
      <p:sp>
        <p:nvSpPr>
          <p:cNvPr id="52" name="Freeform: Shape 51">
            <a:extLst>
              <a:ext uri="{FF2B5EF4-FFF2-40B4-BE49-F238E27FC236}">
                <a16:creationId xmlns:a16="http://schemas.microsoft.com/office/drawing/2014/main" id="{724E3822-A09E-3F81-C332-E7BF102FA6FD}"/>
              </a:ext>
            </a:extLst>
          </p:cNvPr>
          <p:cNvSpPr/>
          <p:nvPr/>
        </p:nvSpPr>
        <p:spPr>
          <a:xfrm>
            <a:off x="5377661" y="2711393"/>
            <a:ext cx="235853" cy="2358536"/>
          </a:xfrm>
          <a:custGeom>
            <a:avLst/>
            <a:gdLst/>
            <a:ahLst/>
            <a:cxnLst/>
            <a:rect l="0" t="0" r="0" b="0"/>
            <a:pathLst>
              <a:path>
                <a:moveTo>
                  <a:pt x="0" y="0"/>
                </a:moveTo>
                <a:lnTo>
                  <a:pt x="0" y="2358536"/>
                </a:lnTo>
                <a:lnTo>
                  <a:pt x="235853" y="2358536"/>
                </a:lnTo>
              </a:path>
            </a:pathLst>
          </a:custGeom>
          <a:solidFill>
            <a:srgbClr val="0070C0"/>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cxnSp>
        <p:nvCxnSpPr>
          <p:cNvPr id="53" name="Straight Connector 52">
            <a:extLst>
              <a:ext uri="{FF2B5EF4-FFF2-40B4-BE49-F238E27FC236}">
                <a16:creationId xmlns:a16="http://schemas.microsoft.com/office/drawing/2014/main" id="{A39D54CF-4FA3-DD63-1D38-1034FD84D04A}"/>
              </a:ext>
            </a:extLst>
          </p:cNvPr>
          <p:cNvCxnSpPr>
            <a:cxnSpLocks/>
          </p:cNvCxnSpPr>
          <p:nvPr/>
        </p:nvCxnSpPr>
        <p:spPr>
          <a:xfrm>
            <a:off x="2943057" y="3221572"/>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54" name="Straight Connector 53">
            <a:extLst>
              <a:ext uri="{FF2B5EF4-FFF2-40B4-BE49-F238E27FC236}">
                <a16:creationId xmlns:a16="http://schemas.microsoft.com/office/drawing/2014/main" id="{23D93BAA-242F-71A9-2BF7-4FCE81F99665}"/>
              </a:ext>
            </a:extLst>
          </p:cNvPr>
          <p:cNvCxnSpPr>
            <a:cxnSpLocks/>
          </p:cNvCxnSpPr>
          <p:nvPr/>
        </p:nvCxnSpPr>
        <p:spPr>
          <a:xfrm>
            <a:off x="6141747" y="3228291"/>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55" name="Freeform: Shape 54">
            <a:extLst>
              <a:ext uri="{FF2B5EF4-FFF2-40B4-BE49-F238E27FC236}">
                <a16:creationId xmlns:a16="http://schemas.microsoft.com/office/drawing/2014/main" id="{B5A9A6DA-AD2D-AC33-9D80-97B4522B0AD6}"/>
              </a:ext>
            </a:extLst>
          </p:cNvPr>
          <p:cNvSpPr/>
          <p:nvPr/>
        </p:nvSpPr>
        <p:spPr>
          <a:xfrm>
            <a:off x="3178910" y="3739039"/>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kern="1200"/>
              <a:t>FCC Task</a:t>
            </a:r>
            <a:r>
              <a:rPr lang="en-US" sz="1600" kern="1200"/>
              <a:t>: </a:t>
            </a:r>
            <a:r>
              <a:rPr lang="en-US" sz="1600"/>
              <a:t>JTBC Level </a:t>
            </a:r>
            <a:r>
              <a:rPr lang="en-US" sz="1000"/>
              <a:t>(Note task in FCC)</a:t>
            </a:r>
            <a:endParaRPr lang="en-US" sz="1000" kern="1200"/>
          </a:p>
        </p:txBody>
      </p:sp>
      <p:cxnSp>
        <p:nvCxnSpPr>
          <p:cNvPr id="56" name="Straight Connector 55">
            <a:extLst>
              <a:ext uri="{FF2B5EF4-FFF2-40B4-BE49-F238E27FC236}">
                <a16:creationId xmlns:a16="http://schemas.microsoft.com/office/drawing/2014/main" id="{8DCC22B7-8DE4-52A7-A841-07E13928DBD5}"/>
              </a:ext>
            </a:extLst>
          </p:cNvPr>
          <p:cNvCxnSpPr>
            <a:cxnSpLocks/>
          </p:cNvCxnSpPr>
          <p:nvPr/>
        </p:nvCxnSpPr>
        <p:spPr>
          <a:xfrm>
            <a:off x="3005686" y="3954401"/>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57" name="Freeform: Shape 56">
            <a:extLst>
              <a:ext uri="{FF2B5EF4-FFF2-40B4-BE49-F238E27FC236}">
                <a16:creationId xmlns:a16="http://schemas.microsoft.com/office/drawing/2014/main" id="{CC91C60E-F410-75B0-E53B-22F3B93EC6CA}"/>
              </a:ext>
            </a:extLst>
          </p:cNvPr>
          <p:cNvSpPr/>
          <p:nvPr/>
        </p:nvSpPr>
        <p:spPr>
          <a:xfrm>
            <a:off x="5613514" y="3745758"/>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a:t>FCC Task</a:t>
            </a:r>
            <a:r>
              <a:rPr lang="en-US" sz="1600"/>
              <a:t>: JTBC Level </a:t>
            </a:r>
            <a:r>
              <a:rPr lang="en-US" sz="1000"/>
              <a:t>(Note task in FCC)</a:t>
            </a:r>
          </a:p>
        </p:txBody>
      </p:sp>
      <p:cxnSp>
        <p:nvCxnSpPr>
          <p:cNvPr id="58" name="Straight Connector 57">
            <a:extLst>
              <a:ext uri="{FF2B5EF4-FFF2-40B4-BE49-F238E27FC236}">
                <a16:creationId xmlns:a16="http://schemas.microsoft.com/office/drawing/2014/main" id="{A11621CA-FFB4-5EFF-51CF-7436537D5F72}"/>
              </a:ext>
            </a:extLst>
          </p:cNvPr>
          <p:cNvCxnSpPr>
            <a:cxnSpLocks/>
          </p:cNvCxnSpPr>
          <p:nvPr/>
        </p:nvCxnSpPr>
        <p:spPr>
          <a:xfrm>
            <a:off x="6141746" y="3961120"/>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59" name="Freeform: Shape 58">
            <a:extLst>
              <a:ext uri="{FF2B5EF4-FFF2-40B4-BE49-F238E27FC236}">
                <a16:creationId xmlns:a16="http://schemas.microsoft.com/office/drawing/2014/main" id="{30CC5F9F-EBAC-845A-CCC3-7C106DADC75D}"/>
              </a:ext>
            </a:extLst>
          </p:cNvPr>
          <p:cNvSpPr/>
          <p:nvPr/>
        </p:nvSpPr>
        <p:spPr>
          <a:xfrm>
            <a:off x="245405" y="1532125"/>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accent3">
              <a:lumMod val="75000"/>
            </a:schemeClr>
          </a:soli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sz="2000"/>
              <a:t>GBS Warsaw updates “Date of Prior Period Last Posting Date”</a:t>
            </a:r>
            <a:endParaRPr lang="en-US" sz="2000" kern="1200"/>
          </a:p>
        </p:txBody>
      </p:sp>
      <p:sp>
        <p:nvSpPr>
          <p:cNvPr id="60" name="Freeform: Shape 59">
            <a:extLst>
              <a:ext uri="{FF2B5EF4-FFF2-40B4-BE49-F238E27FC236}">
                <a16:creationId xmlns:a16="http://schemas.microsoft.com/office/drawing/2014/main" id="{4A7B3EF7-C9DC-63F1-7FE1-6BDA675A1434}"/>
              </a:ext>
            </a:extLst>
          </p:cNvPr>
          <p:cNvSpPr/>
          <p:nvPr/>
        </p:nvSpPr>
        <p:spPr>
          <a:xfrm>
            <a:off x="717113" y="3006210"/>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kern="1200"/>
              <a:t>T-Code</a:t>
            </a:r>
            <a:r>
              <a:rPr lang="en-US" sz="1600" kern="1200"/>
              <a:t>: </a:t>
            </a:r>
            <a:r>
              <a:rPr lang="en-US" sz="1200"/>
              <a:t>ZFFITMONTH_END</a:t>
            </a:r>
            <a:endParaRPr lang="en-US" sz="1200" kern="1200"/>
          </a:p>
        </p:txBody>
      </p:sp>
      <p:sp>
        <p:nvSpPr>
          <p:cNvPr id="61" name="Freeform: Shape 60">
            <a:extLst>
              <a:ext uri="{FF2B5EF4-FFF2-40B4-BE49-F238E27FC236}">
                <a16:creationId xmlns:a16="http://schemas.microsoft.com/office/drawing/2014/main" id="{D3DB8A1E-C6FA-83DD-BB0C-CBCD835D95B5}"/>
              </a:ext>
            </a:extLst>
          </p:cNvPr>
          <p:cNvSpPr/>
          <p:nvPr/>
        </p:nvSpPr>
        <p:spPr>
          <a:xfrm>
            <a:off x="481259" y="2711393"/>
            <a:ext cx="235853" cy="2358536"/>
          </a:xfrm>
          <a:custGeom>
            <a:avLst/>
            <a:gdLst/>
            <a:ahLst/>
            <a:cxnLst/>
            <a:rect l="0" t="0" r="0" b="0"/>
            <a:pathLst>
              <a:path>
                <a:moveTo>
                  <a:pt x="0" y="0"/>
                </a:moveTo>
                <a:lnTo>
                  <a:pt x="0" y="2358536"/>
                </a:lnTo>
                <a:lnTo>
                  <a:pt x="235853" y="2358536"/>
                </a:lnTo>
              </a:path>
            </a:pathLst>
          </a:custGeom>
          <a:solidFill>
            <a:schemeClr val="accent3"/>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62" name="Freeform: Shape 61">
            <a:extLst>
              <a:ext uri="{FF2B5EF4-FFF2-40B4-BE49-F238E27FC236}">
                <a16:creationId xmlns:a16="http://schemas.microsoft.com/office/drawing/2014/main" id="{6001F93B-5303-FEC2-568D-A7196B57211C}"/>
              </a:ext>
            </a:extLst>
          </p:cNvPr>
          <p:cNvSpPr/>
          <p:nvPr/>
        </p:nvSpPr>
        <p:spPr>
          <a:xfrm>
            <a:off x="717112" y="4480295"/>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Timing: </a:t>
            </a:r>
            <a:r>
              <a:rPr lang="en-US" sz="1600" kern="1200"/>
              <a:t>WD4</a:t>
            </a:r>
          </a:p>
        </p:txBody>
      </p:sp>
      <p:cxnSp>
        <p:nvCxnSpPr>
          <p:cNvPr id="63" name="Straight Connector 62">
            <a:extLst>
              <a:ext uri="{FF2B5EF4-FFF2-40B4-BE49-F238E27FC236}">
                <a16:creationId xmlns:a16="http://schemas.microsoft.com/office/drawing/2014/main" id="{E6EE1CF3-2F36-2AE3-0D39-36A085A06EE5}"/>
              </a:ext>
            </a:extLst>
          </p:cNvPr>
          <p:cNvCxnSpPr>
            <a:cxnSpLocks/>
          </p:cNvCxnSpPr>
          <p:nvPr/>
        </p:nvCxnSpPr>
        <p:spPr>
          <a:xfrm>
            <a:off x="481259" y="3221572"/>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64" name="Freeform: Shape 63">
            <a:extLst>
              <a:ext uri="{FF2B5EF4-FFF2-40B4-BE49-F238E27FC236}">
                <a16:creationId xmlns:a16="http://schemas.microsoft.com/office/drawing/2014/main" id="{C5B13912-9A13-CCD9-1C47-D49D74711214}"/>
              </a:ext>
            </a:extLst>
          </p:cNvPr>
          <p:cNvSpPr/>
          <p:nvPr/>
        </p:nvSpPr>
        <p:spPr>
          <a:xfrm>
            <a:off x="717112" y="3739039"/>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FCC Task</a:t>
            </a:r>
            <a:r>
              <a:rPr lang="en-US" sz="1600" kern="1200"/>
              <a:t>: Global </a:t>
            </a:r>
            <a:r>
              <a:rPr lang="en-US" sz="1000" kern="1200"/>
              <a:t>(Note task in FCC)</a:t>
            </a:r>
          </a:p>
        </p:txBody>
      </p:sp>
      <p:cxnSp>
        <p:nvCxnSpPr>
          <p:cNvPr id="65" name="Straight Connector 64">
            <a:extLst>
              <a:ext uri="{FF2B5EF4-FFF2-40B4-BE49-F238E27FC236}">
                <a16:creationId xmlns:a16="http://schemas.microsoft.com/office/drawing/2014/main" id="{627A67E9-B22E-7A41-67AF-49230CDD5A23}"/>
              </a:ext>
            </a:extLst>
          </p:cNvPr>
          <p:cNvCxnSpPr>
            <a:cxnSpLocks/>
          </p:cNvCxnSpPr>
          <p:nvPr/>
        </p:nvCxnSpPr>
        <p:spPr>
          <a:xfrm>
            <a:off x="481258" y="3954401"/>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66" name="Freeform: Shape 65">
            <a:extLst>
              <a:ext uri="{FF2B5EF4-FFF2-40B4-BE49-F238E27FC236}">
                <a16:creationId xmlns:a16="http://schemas.microsoft.com/office/drawing/2014/main" id="{F734C882-4A0D-607E-E0C0-0F50D4B99E6A}"/>
              </a:ext>
            </a:extLst>
          </p:cNvPr>
          <p:cNvSpPr/>
          <p:nvPr/>
        </p:nvSpPr>
        <p:spPr>
          <a:xfrm>
            <a:off x="9998489" y="1527208"/>
            <a:ext cx="2193225" cy="1126733"/>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rgbClr val="92D050"/>
          </a:solidFill>
          <a:ln>
            <a:noFill/>
          </a:ln>
        </p:spPr>
        <p:style>
          <a:lnRef idx="0">
            <a:schemeClr val="lt1">
              <a:hueOff val="0"/>
              <a:satOff val="0"/>
              <a:lumOff val="0"/>
              <a:alphaOff val="0"/>
            </a:schemeClr>
          </a:lnRef>
          <a:fillRef idx="3">
            <a:schemeClr val="accent3">
              <a:hueOff val="6192194"/>
              <a:satOff val="-45368"/>
              <a:lumOff val="7450"/>
              <a:alphaOff val="0"/>
            </a:schemeClr>
          </a:fillRef>
          <a:effectRef idx="3">
            <a:schemeClr val="accent3">
              <a:hueOff val="6192194"/>
              <a:satOff val="-45368"/>
              <a:lumOff val="745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sz="2000"/>
              <a:t>GBS Warsaw control to Unlock all COGS</a:t>
            </a:r>
          </a:p>
        </p:txBody>
      </p:sp>
      <p:sp>
        <p:nvSpPr>
          <p:cNvPr id="67" name="Freeform: Shape 66">
            <a:extLst>
              <a:ext uri="{FF2B5EF4-FFF2-40B4-BE49-F238E27FC236}">
                <a16:creationId xmlns:a16="http://schemas.microsoft.com/office/drawing/2014/main" id="{65D79237-DB43-284F-576E-346AC2B01DE0}"/>
              </a:ext>
            </a:extLst>
          </p:cNvPr>
          <p:cNvSpPr/>
          <p:nvPr/>
        </p:nvSpPr>
        <p:spPr>
          <a:xfrm>
            <a:off x="10046454" y="2990855"/>
            <a:ext cx="2045054"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dirty="0"/>
              <a:t>T-Code</a:t>
            </a:r>
            <a:r>
              <a:rPr lang="en-US" sz="1600" dirty="0"/>
              <a:t>:</a:t>
            </a:r>
          </a:p>
          <a:p>
            <a:pPr algn="ctr" defTabSz="1644650">
              <a:lnSpc>
                <a:spcPct val="90000"/>
              </a:lnSpc>
              <a:spcBef>
                <a:spcPct val="0"/>
              </a:spcBef>
              <a:spcAft>
                <a:spcPct val="35000"/>
              </a:spcAft>
            </a:pPr>
            <a:r>
              <a:rPr lang="en-US" sz="1200" dirty="0"/>
              <a:t>ZFFITCOMPANY_COGS</a:t>
            </a:r>
            <a:r>
              <a:rPr lang="en-US" sz="1600" dirty="0"/>
              <a:t> </a:t>
            </a:r>
          </a:p>
        </p:txBody>
      </p:sp>
      <p:sp>
        <p:nvSpPr>
          <p:cNvPr id="68" name="Freeform: Shape 67">
            <a:extLst>
              <a:ext uri="{FF2B5EF4-FFF2-40B4-BE49-F238E27FC236}">
                <a16:creationId xmlns:a16="http://schemas.microsoft.com/office/drawing/2014/main" id="{7A1F7CF9-C459-461F-1728-FF93FD4BCC39}"/>
              </a:ext>
            </a:extLst>
          </p:cNvPr>
          <p:cNvSpPr/>
          <p:nvPr/>
        </p:nvSpPr>
        <p:spPr>
          <a:xfrm>
            <a:off x="9981351" y="2808772"/>
            <a:ext cx="235853" cy="2358536"/>
          </a:xfrm>
          <a:custGeom>
            <a:avLst/>
            <a:gdLst/>
            <a:ahLst/>
            <a:cxnLst/>
            <a:rect l="0" t="0" r="0" b="0"/>
            <a:pathLst>
              <a:path>
                <a:moveTo>
                  <a:pt x="0" y="0"/>
                </a:moveTo>
                <a:lnTo>
                  <a:pt x="0" y="2358536"/>
                </a:lnTo>
                <a:lnTo>
                  <a:pt x="235853" y="2358536"/>
                </a:lnTo>
              </a:path>
            </a:pathLst>
          </a:custGeom>
          <a:solidFill>
            <a:srgbClr val="92D050"/>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69" name="Freeform: Shape 68">
            <a:extLst>
              <a:ext uri="{FF2B5EF4-FFF2-40B4-BE49-F238E27FC236}">
                <a16:creationId xmlns:a16="http://schemas.microsoft.com/office/drawing/2014/main" id="{C7BE1E2C-DCC7-B270-8160-83620627A83C}"/>
              </a:ext>
            </a:extLst>
          </p:cNvPr>
          <p:cNvSpPr/>
          <p:nvPr/>
        </p:nvSpPr>
        <p:spPr>
          <a:xfrm>
            <a:off x="10217204" y="4464940"/>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6192194"/>
              <a:satOff val="-45368"/>
              <a:lumOff val="745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WD4</a:t>
            </a:r>
            <a:endParaRPr lang="en-US" sz="1400" kern="1200"/>
          </a:p>
        </p:txBody>
      </p:sp>
      <p:sp>
        <p:nvSpPr>
          <p:cNvPr id="70" name="Freeform: Shape 69">
            <a:extLst>
              <a:ext uri="{FF2B5EF4-FFF2-40B4-BE49-F238E27FC236}">
                <a16:creationId xmlns:a16="http://schemas.microsoft.com/office/drawing/2014/main" id="{D1A0AB01-AB75-56D8-544F-40AA05890680}"/>
              </a:ext>
            </a:extLst>
          </p:cNvPr>
          <p:cNvSpPr/>
          <p:nvPr/>
        </p:nvSpPr>
        <p:spPr>
          <a:xfrm>
            <a:off x="10179626" y="376037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a:t>FCC Task</a:t>
            </a:r>
            <a:r>
              <a:rPr lang="en-US" sz="1600"/>
              <a:t>: </a:t>
            </a:r>
            <a:r>
              <a:rPr lang="en-US" sz="1600">
                <a:solidFill>
                  <a:schemeClr val="tx1"/>
                </a:solidFill>
              </a:rPr>
              <a:t>GBS</a:t>
            </a:r>
            <a:r>
              <a:rPr lang="en-US" sz="1600"/>
              <a:t>  Level </a:t>
            </a:r>
            <a:r>
              <a:rPr lang="en-US" sz="1000"/>
              <a:t>(Note task in FCC)</a:t>
            </a:r>
          </a:p>
        </p:txBody>
      </p:sp>
    </p:spTree>
    <p:extLst>
      <p:ext uri="{BB962C8B-B14F-4D97-AF65-F5344CB8AC3E}">
        <p14:creationId xmlns:p14="http://schemas.microsoft.com/office/powerpoint/2010/main" val="3581297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76DA6-F829-4B13-A025-3D4E208B506C}"/>
              </a:ext>
            </a:extLst>
          </p:cNvPr>
          <p:cNvSpPr>
            <a:spLocks noGrp="1"/>
          </p:cNvSpPr>
          <p:nvPr>
            <p:ph type="title"/>
          </p:nvPr>
        </p:nvSpPr>
        <p:spPr/>
        <p:txBody>
          <a:bodyPr/>
          <a:lstStyle/>
          <a:p>
            <a:r>
              <a:rPr lang="en-US">
                <a:solidFill>
                  <a:srgbClr val="000000"/>
                </a:solidFill>
                <a:latin typeface="Arial" charset="0"/>
                <a:cs typeface="Arial" charset="0"/>
              </a:rPr>
              <a:t>Update Period Control Related Locks</a:t>
            </a:r>
            <a:endParaRPr lang="en-US"/>
          </a:p>
        </p:txBody>
      </p:sp>
      <p:sp>
        <p:nvSpPr>
          <p:cNvPr id="5" name="Slide Number Placeholder 4">
            <a:extLst>
              <a:ext uri="{FF2B5EF4-FFF2-40B4-BE49-F238E27FC236}">
                <a16:creationId xmlns:a16="http://schemas.microsoft.com/office/drawing/2014/main" id="{A569A68D-FC5E-4396-9369-71696BD149D4}"/>
              </a:ext>
            </a:extLst>
          </p:cNvPr>
          <p:cNvSpPr>
            <a:spLocks noGrp="1"/>
          </p:cNvSpPr>
          <p:nvPr>
            <p:ph type="sldNum" sz="quarter" idx="12"/>
          </p:nvPr>
        </p:nvSpPr>
        <p:spPr/>
        <p:txBody>
          <a:bodyPr/>
          <a:lstStyle/>
          <a:p>
            <a:fld id="{F4C94289-3309-4C35-850A-56FD49B3E346}" type="slidenum">
              <a:rPr lang="en-GB" smtClean="0"/>
              <a:t>11</a:t>
            </a:fld>
            <a:endParaRPr lang="en-GB"/>
          </a:p>
        </p:txBody>
      </p:sp>
      <p:pic>
        <p:nvPicPr>
          <p:cNvPr id="6" name="Picture 5">
            <a:extLst>
              <a:ext uri="{FF2B5EF4-FFF2-40B4-BE49-F238E27FC236}">
                <a16:creationId xmlns:a16="http://schemas.microsoft.com/office/drawing/2014/main" id="{C14DC825-7670-4945-8D1F-78D77536E53B}"/>
              </a:ext>
            </a:extLst>
          </p:cNvPr>
          <p:cNvPicPr>
            <a:picLocks noChangeAspect="1"/>
          </p:cNvPicPr>
          <p:nvPr/>
        </p:nvPicPr>
        <p:blipFill>
          <a:blip r:embed="rId2"/>
          <a:stretch>
            <a:fillRect/>
          </a:stretch>
        </p:blipFill>
        <p:spPr>
          <a:xfrm>
            <a:off x="391979" y="1387625"/>
            <a:ext cx="6323347" cy="1688083"/>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705523F7-8B81-4EB0-8E72-4A8DFE1D2FCA}"/>
              </a:ext>
            </a:extLst>
          </p:cNvPr>
          <p:cNvPicPr>
            <a:picLocks noChangeAspect="1"/>
          </p:cNvPicPr>
          <p:nvPr/>
        </p:nvPicPr>
        <p:blipFill>
          <a:blip r:embed="rId3"/>
          <a:stretch>
            <a:fillRect/>
          </a:stretch>
        </p:blipFill>
        <p:spPr>
          <a:xfrm>
            <a:off x="6106540" y="3608124"/>
            <a:ext cx="2636308" cy="2160909"/>
          </a:xfrm>
          <a:prstGeom prst="rect">
            <a:avLst/>
          </a:prstGeom>
          <a:ln>
            <a:solidFill>
              <a:schemeClr val="accent6"/>
            </a:solid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BD648517-2710-413C-A40B-C22D5CC69B67}"/>
              </a:ext>
            </a:extLst>
          </p:cNvPr>
          <p:cNvPicPr>
            <a:picLocks noChangeAspect="1"/>
          </p:cNvPicPr>
          <p:nvPr/>
        </p:nvPicPr>
        <p:blipFill>
          <a:blip r:embed="rId4"/>
          <a:stretch>
            <a:fillRect/>
          </a:stretch>
        </p:blipFill>
        <p:spPr>
          <a:xfrm>
            <a:off x="3177580" y="3608124"/>
            <a:ext cx="2733588" cy="2160909"/>
          </a:xfrm>
          <a:prstGeom prst="rect">
            <a:avLst/>
          </a:prstGeom>
          <a:ln>
            <a:solidFill>
              <a:schemeClr val="accent6"/>
            </a:solidFill>
          </a:ln>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D909309D-0304-4288-A39F-E50458E8A621}"/>
              </a:ext>
            </a:extLst>
          </p:cNvPr>
          <p:cNvPicPr>
            <a:picLocks noChangeAspect="1"/>
          </p:cNvPicPr>
          <p:nvPr/>
        </p:nvPicPr>
        <p:blipFill>
          <a:blip r:embed="rId5"/>
          <a:stretch>
            <a:fillRect/>
          </a:stretch>
        </p:blipFill>
        <p:spPr>
          <a:xfrm>
            <a:off x="391979" y="3608124"/>
            <a:ext cx="2590229" cy="2160909"/>
          </a:xfrm>
          <a:prstGeom prst="rect">
            <a:avLst/>
          </a:prstGeom>
          <a:ln>
            <a:solidFill>
              <a:schemeClr val="accent6"/>
            </a:solidFill>
          </a:ln>
          <a:effectLst>
            <a:outerShdw blurRad="50800" dist="38100" dir="2700000" algn="tl" rotWithShape="0">
              <a:prstClr val="black">
                <a:alpha val="40000"/>
              </a:prstClr>
            </a:outerShdw>
          </a:effectLst>
        </p:spPr>
      </p:pic>
      <p:sp>
        <p:nvSpPr>
          <p:cNvPr id="11" name="Rectangle: Rounded Corners 10">
            <a:extLst>
              <a:ext uri="{FF2B5EF4-FFF2-40B4-BE49-F238E27FC236}">
                <a16:creationId xmlns:a16="http://schemas.microsoft.com/office/drawing/2014/main" id="{08E8618C-199D-4AC4-BAF2-9AE0B28E08E9}"/>
              </a:ext>
            </a:extLst>
          </p:cNvPr>
          <p:cNvSpPr/>
          <p:nvPr/>
        </p:nvSpPr>
        <p:spPr>
          <a:xfrm>
            <a:off x="341194" y="1325014"/>
            <a:ext cx="1570733" cy="22610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grpSp>
        <p:nvGrpSpPr>
          <p:cNvPr id="17" name="Group 16">
            <a:extLst>
              <a:ext uri="{FF2B5EF4-FFF2-40B4-BE49-F238E27FC236}">
                <a16:creationId xmlns:a16="http://schemas.microsoft.com/office/drawing/2014/main" id="{1B1B1DFC-E7ED-4FAF-A636-450F8CDF21E0}"/>
              </a:ext>
            </a:extLst>
          </p:cNvPr>
          <p:cNvGrpSpPr/>
          <p:nvPr/>
        </p:nvGrpSpPr>
        <p:grpSpPr>
          <a:xfrm>
            <a:off x="7077073" y="1483522"/>
            <a:ext cx="2886361" cy="1688083"/>
            <a:chOff x="6818883" y="1387625"/>
            <a:chExt cx="2886361" cy="1688083"/>
          </a:xfrm>
        </p:grpSpPr>
        <p:pic>
          <p:nvPicPr>
            <p:cNvPr id="7" name="Picture 6">
              <a:extLst>
                <a:ext uri="{FF2B5EF4-FFF2-40B4-BE49-F238E27FC236}">
                  <a16:creationId xmlns:a16="http://schemas.microsoft.com/office/drawing/2014/main" id="{7E003864-B6CC-4055-9E14-B9B4D53D0AC9}"/>
                </a:ext>
              </a:extLst>
            </p:cNvPr>
            <p:cNvPicPr>
              <a:picLocks noChangeAspect="1"/>
            </p:cNvPicPr>
            <p:nvPr/>
          </p:nvPicPr>
          <p:blipFill>
            <a:blip r:embed="rId6"/>
            <a:stretch>
              <a:fillRect/>
            </a:stretch>
          </p:blipFill>
          <p:spPr>
            <a:xfrm>
              <a:off x="6818883" y="1387625"/>
              <a:ext cx="2886361" cy="1688083"/>
            </a:xfrm>
            <a:prstGeom prst="rect">
              <a:avLst/>
            </a:prstGeom>
            <a:ln>
              <a:solidFill>
                <a:srgbClr val="FF0000"/>
              </a:solidFill>
            </a:ln>
            <a:effectLst>
              <a:outerShdw blurRad="50800" dist="38100" dir="2700000" algn="tl" rotWithShape="0">
                <a:prstClr val="black">
                  <a:alpha val="40000"/>
                </a:prstClr>
              </a:outerShdw>
            </a:effectLst>
          </p:spPr>
        </p:pic>
        <p:sp>
          <p:nvSpPr>
            <p:cNvPr id="12" name="Rectangle: Rounded Corners 11">
              <a:extLst>
                <a:ext uri="{FF2B5EF4-FFF2-40B4-BE49-F238E27FC236}">
                  <a16:creationId xmlns:a16="http://schemas.microsoft.com/office/drawing/2014/main" id="{D37336F4-A40D-4674-8E24-093B0B87F884}"/>
                </a:ext>
              </a:extLst>
            </p:cNvPr>
            <p:cNvSpPr/>
            <p:nvPr/>
          </p:nvSpPr>
          <p:spPr>
            <a:xfrm>
              <a:off x="8742847" y="1387625"/>
              <a:ext cx="962397" cy="226101"/>
            </a:xfrm>
            <a:prstGeom prst="roundRect">
              <a:avLst/>
            </a:prstGeom>
            <a:no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sp>
        <p:nvSpPr>
          <p:cNvPr id="13" name="Rectangle: Rounded Corners 12">
            <a:extLst>
              <a:ext uri="{FF2B5EF4-FFF2-40B4-BE49-F238E27FC236}">
                <a16:creationId xmlns:a16="http://schemas.microsoft.com/office/drawing/2014/main" id="{CC667980-7364-4378-A9E5-9C17A50B5465}"/>
              </a:ext>
            </a:extLst>
          </p:cNvPr>
          <p:cNvSpPr/>
          <p:nvPr/>
        </p:nvSpPr>
        <p:spPr>
          <a:xfrm>
            <a:off x="7813484" y="3604196"/>
            <a:ext cx="962397" cy="226101"/>
          </a:xfrm>
          <a:prstGeom prst="roundRect">
            <a:avLst/>
          </a:prstGeom>
          <a:no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41D4017F-41D4-4FD7-BE7B-065E1B6376E4}"/>
              </a:ext>
            </a:extLst>
          </p:cNvPr>
          <p:cNvSpPr/>
          <p:nvPr/>
        </p:nvSpPr>
        <p:spPr>
          <a:xfrm>
            <a:off x="4771870" y="3604195"/>
            <a:ext cx="1139298" cy="226101"/>
          </a:xfrm>
          <a:prstGeom prst="roundRect">
            <a:avLst/>
          </a:prstGeom>
          <a:no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357C7F06-9233-4D90-B32C-29BF4350135C}"/>
              </a:ext>
            </a:extLst>
          </p:cNvPr>
          <p:cNvSpPr/>
          <p:nvPr/>
        </p:nvSpPr>
        <p:spPr>
          <a:xfrm>
            <a:off x="2019811" y="3599710"/>
            <a:ext cx="962397" cy="226101"/>
          </a:xfrm>
          <a:prstGeom prst="roundRect">
            <a:avLst/>
          </a:prstGeom>
          <a:no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502F2AD9-4C1E-44B2-ADC5-2ACC212A00F0}"/>
              </a:ext>
            </a:extLst>
          </p:cNvPr>
          <p:cNvSpPr/>
          <p:nvPr/>
        </p:nvSpPr>
        <p:spPr>
          <a:xfrm>
            <a:off x="2643510" y="2171048"/>
            <a:ext cx="4006671" cy="15651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9" name="Connector: Elbow 18">
            <a:extLst>
              <a:ext uri="{FF2B5EF4-FFF2-40B4-BE49-F238E27FC236}">
                <a16:creationId xmlns:a16="http://schemas.microsoft.com/office/drawing/2014/main" id="{B28C6F61-8CA8-4E1F-A1D1-6264B314B919}"/>
              </a:ext>
            </a:extLst>
          </p:cNvPr>
          <p:cNvCxnSpPr>
            <a:stCxn id="16" idx="3"/>
            <a:endCxn id="7" idx="1"/>
          </p:cNvCxnSpPr>
          <p:nvPr/>
        </p:nvCxnSpPr>
        <p:spPr>
          <a:xfrm>
            <a:off x="6650181" y="2249306"/>
            <a:ext cx="426892" cy="78258"/>
          </a:xfrm>
          <a:prstGeom prst="bentConnector3">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3240B4E4-3C06-4A2A-8D17-F01BB518A134}"/>
              </a:ext>
            </a:extLst>
          </p:cNvPr>
          <p:cNvSpPr/>
          <p:nvPr/>
        </p:nvSpPr>
        <p:spPr>
          <a:xfrm>
            <a:off x="7090755" y="2975956"/>
            <a:ext cx="898837" cy="179023"/>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A42C35EF-57D1-4C89-AB51-F156BAE59575}"/>
              </a:ext>
            </a:extLst>
          </p:cNvPr>
          <p:cNvSpPr/>
          <p:nvPr/>
        </p:nvSpPr>
        <p:spPr>
          <a:xfrm>
            <a:off x="10089802" y="1483522"/>
            <a:ext cx="1888838" cy="882431"/>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Update this date to the last date of the current period (as per system date) to prepare for the next closing.</a:t>
            </a:r>
          </a:p>
        </p:txBody>
      </p:sp>
      <p:sp>
        <p:nvSpPr>
          <p:cNvPr id="22" name="Rectangle: Rounded Corners 21">
            <a:extLst>
              <a:ext uri="{FF2B5EF4-FFF2-40B4-BE49-F238E27FC236}">
                <a16:creationId xmlns:a16="http://schemas.microsoft.com/office/drawing/2014/main" id="{6435AEB3-A4DD-426E-B8B5-D3121D4E4F29}"/>
              </a:ext>
            </a:extLst>
          </p:cNvPr>
          <p:cNvSpPr/>
          <p:nvPr/>
        </p:nvSpPr>
        <p:spPr>
          <a:xfrm>
            <a:off x="2643509" y="2358541"/>
            <a:ext cx="4006671" cy="405542"/>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24" name="Connector: Elbow 23">
            <a:extLst>
              <a:ext uri="{FF2B5EF4-FFF2-40B4-BE49-F238E27FC236}">
                <a16:creationId xmlns:a16="http://schemas.microsoft.com/office/drawing/2014/main" id="{67926DF3-A308-4070-A512-869DD3C7D09C}"/>
              </a:ext>
            </a:extLst>
          </p:cNvPr>
          <p:cNvCxnSpPr>
            <a:stCxn id="22" idx="2"/>
            <a:endCxn id="10" idx="0"/>
          </p:cNvCxnSpPr>
          <p:nvPr/>
        </p:nvCxnSpPr>
        <p:spPr>
          <a:xfrm rot="5400000">
            <a:off x="2744950" y="1706228"/>
            <a:ext cx="844041" cy="2959751"/>
          </a:xfrm>
          <a:prstGeom prst="bentConnector3">
            <a:avLst>
              <a:gd name="adj1" fmla="val 64773"/>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F81D1CF4-8D36-4C46-9DD7-D36BF1D0EAD3}"/>
              </a:ext>
            </a:extLst>
          </p:cNvPr>
          <p:cNvCxnSpPr>
            <a:stCxn id="22" idx="2"/>
            <a:endCxn id="9" idx="0"/>
          </p:cNvCxnSpPr>
          <p:nvPr/>
        </p:nvCxnSpPr>
        <p:spPr>
          <a:xfrm rot="5400000">
            <a:off x="4173590" y="3134868"/>
            <a:ext cx="844041" cy="102471"/>
          </a:xfrm>
          <a:prstGeom prst="bentConnector3">
            <a:avLst>
              <a:gd name="adj1" fmla="val 63788"/>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BEF0C1D6-704C-47CF-A5D1-702441912453}"/>
              </a:ext>
            </a:extLst>
          </p:cNvPr>
          <p:cNvCxnSpPr>
            <a:cxnSpLocks/>
            <a:stCxn id="22" idx="2"/>
            <a:endCxn id="8" idx="0"/>
          </p:cNvCxnSpPr>
          <p:nvPr/>
        </p:nvCxnSpPr>
        <p:spPr>
          <a:xfrm rot="16200000" flipH="1">
            <a:off x="5613749" y="1797178"/>
            <a:ext cx="844041" cy="2777849"/>
          </a:xfrm>
          <a:prstGeom prst="bentConnector3">
            <a:avLst>
              <a:gd name="adj1" fmla="val 64773"/>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4EA72D6-BFF2-44A8-9D46-2B4E4E57260C}"/>
              </a:ext>
            </a:extLst>
          </p:cNvPr>
          <p:cNvSpPr/>
          <p:nvPr/>
        </p:nvSpPr>
        <p:spPr>
          <a:xfrm>
            <a:off x="391979" y="5890197"/>
            <a:ext cx="11029708" cy="390698"/>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Remove the lock indicators in these tables. You should then start ticking them again during the course of the next closing, as we explained in various earlier chapters of this course. </a:t>
            </a:r>
          </a:p>
        </p:txBody>
      </p:sp>
      <p:pic>
        <p:nvPicPr>
          <p:cNvPr id="3" name="Picture 2">
            <a:extLst>
              <a:ext uri="{FF2B5EF4-FFF2-40B4-BE49-F238E27FC236}">
                <a16:creationId xmlns:a16="http://schemas.microsoft.com/office/drawing/2014/main" id="{9158A6AB-E776-85C8-7D35-A23847FE271E}"/>
              </a:ext>
            </a:extLst>
          </p:cNvPr>
          <p:cNvPicPr>
            <a:picLocks noChangeAspect="1"/>
          </p:cNvPicPr>
          <p:nvPr/>
        </p:nvPicPr>
        <p:blipFill rotWithShape="1">
          <a:blip r:embed="rId7">
            <a:duotone>
              <a:schemeClr val="accent6">
                <a:shade val="45000"/>
                <a:satMod val="135000"/>
              </a:schemeClr>
              <a:prstClr val="white"/>
            </a:duotone>
            <a:extLst>
              <a:ext uri="{BEBA8EAE-BF5A-486C-A8C5-ECC9F3942E4B}">
                <a14:imgProps xmlns:a14="http://schemas.microsoft.com/office/drawing/2010/main">
                  <a14:imgLayer r:embed="rId8">
                    <a14:imgEffect>
                      <a14:sharpenSoften amount="25000"/>
                    </a14:imgEffect>
                  </a14:imgLayer>
                </a14:imgProps>
              </a:ext>
            </a:extLst>
          </a:blip>
          <a:srcRect r="42107" b="34760"/>
          <a:stretch/>
        </p:blipFill>
        <p:spPr>
          <a:xfrm>
            <a:off x="8881166" y="3573302"/>
            <a:ext cx="2794896" cy="2194481"/>
          </a:xfrm>
          <a:prstGeom prst="rect">
            <a:avLst/>
          </a:prstGeom>
          <a:ln>
            <a:solidFill>
              <a:schemeClr val="accent6"/>
            </a:solidFill>
          </a:ln>
          <a:effectLst>
            <a:outerShdw blurRad="50800" dist="38100" dir="2700000" algn="tl" rotWithShape="0">
              <a:prstClr val="black">
                <a:alpha val="40000"/>
              </a:prstClr>
            </a:outerShdw>
          </a:effectLst>
        </p:spPr>
      </p:pic>
      <p:sp>
        <p:nvSpPr>
          <p:cNvPr id="4" name="Rectangle: Rounded Corners 3">
            <a:extLst>
              <a:ext uri="{FF2B5EF4-FFF2-40B4-BE49-F238E27FC236}">
                <a16:creationId xmlns:a16="http://schemas.microsoft.com/office/drawing/2014/main" id="{598EB0CD-6997-9BB3-4EB0-0DADF625229E}"/>
              </a:ext>
            </a:extLst>
          </p:cNvPr>
          <p:cNvSpPr/>
          <p:nvPr/>
        </p:nvSpPr>
        <p:spPr>
          <a:xfrm>
            <a:off x="10449792" y="3573302"/>
            <a:ext cx="1200198" cy="252509"/>
          </a:xfrm>
          <a:prstGeom prst="roundRect">
            <a:avLst/>
          </a:prstGeom>
          <a:solidFill>
            <a:schemeClr val="accent6">
              <a:lumMod val="20000"/>
              <a:lumOff val="80000"/>
            </a:schemeClr>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dirty="0">
                <a:solidFill>
                  <a:schemeClr val="accent6">
                    <a:lumMod val="50000"/>
                  </a:schemeClr>
                </a:solidFill>
              </a:rPr>
              <a:t>ZFFITCOMPANY_COGS</a:t>
            </a:r>
            <a:endParaRPr kumimoji="0" lang="en-GB" sz="800" b="1" i="0" u="none" strike="noStrike" kern="1200" cap="none" spc="0" normalizeH="0" baseline="0" noProof="0" dirty="0">
              <a:ln>
                <a:noFill/>
              </a:ln>
              <a:solidFill>
                <a:schemeClr val="accent6">
                  <a:lumMod val="50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01457380"/>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35E37C-5923-4155-BC15-A142475AA989}"/>
</file>

<file path=customXml/itemProps2.xml><?xml version="1.0" encoding="utf-8"?>
<ds:datastoreItem xmlns:ds="http://schemas.openxmlformats.org/officeDocument/2006/customXml" ds:itemID="{E3BC77B7-89BE-45D2-B43A-94AB4C5F40F4}">
  <ds:schemaRefs>
    <ds:schemaRef ds:uri="ba249638-b5c4-4b59-8094-70d8491c2e9c"/>
    <ds:schemaRef ds:uri="http://schemas.microsoft.com/office/2006/metadata/properties"/>
    <ds:schemaRef ds:uri="http://schemas.openxmlformats.org/package/2006/metadata/core-properties"/>
    <ds:schemaRef ds:uri="http://schemas.microsoft.com/office/2006/documentManagement/types"/>
    <ds:schemaRef ds:uri="http://www.w3.org/XML/1998/namespace"/>
    <ds:schemaRef ds:uri="http://purl.org/dc/terms/"/>
    <ds:schemaRef ds:uri="http://purl.org/dc/elements/1.1/"/>
    <ds:schemaRef ds:uri="91871c47-af2e-43ea-ad3f-7bb4c536bc45"/>
    <ds:schemaRef ds:uri="http://schemas.microsoft.com/office/infopath/2007/PartnerControls"/>
    <ds:schemaRef ds:uri="cb52ee0d-5346-4ae8-a9f9-d746adffeb6b"/>
    <ds:schemaRef ds:uri="http://purl.org/dc/dcmitype/"/>
  </ds:schemaRefs>
</ds:datastoreItem>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76</TotalTime>
  <Words>1685</Words>
  <Application>Microsoft Office PowerPoint</Application>
  <PresentationFormat>Widescreen</PresentationFormat>
  <Paragraphs>128</Paragraphs>
  <Slides>11</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11</vt:i4>
      </vt:variant>
    </vt:vector>
  </HeadingPairs>
  <TitlesOfParts>
    <vt:vector size="18" baseType="lpstr">
      <vt:lpstr>Aharoni</vt:lpstr>
      <vt:lpstr>Arial</vt:lpstr>
      <vt:lpstr>Calibri</vt:lpstr>
      <vt:lpstr>Georgia</vt:lpstr>
      <vt:lpstr>1_S4F-ERP Clean IFRS Stat &amp; Tax Rep</vt:lpstr>
      <vt:lpstr>S4F-ERP Period End Closing</vt:lpstr>
      <vt:lpstr>1_S4F-ERP Period End Closing</vt:lpstr>
      <vt:lpstr>Period End Closing Execution (BSC) </vt:lpstr>
      <vt:lpstr>Period End Closing Execution (GBS/JTBC) </vt:lpstr>
      <vt:lpstr>Reversal  of Documents with a Specified Reversal Date (F.81)</vt:lpstr>
      <vt:lpstr>Reversal  of Documents with a Specified Reversal Date (F.81): Execution</vt:lpstr>
      <vt:lpstr>Reversal  of Documents with a Specified Reversal Date (F.81): Output</vt:lpstr>
      <vt:lpstr>Reversal  of Documents with a Specified Reversal Date (F.81):Common Errors</vt:lpstr>
      <vt:lpstr>Reversal  of Documents with a Specified Reversal Date (F.81):Common Errors</vt:lpstr>
      <vt:lpstr>Reversal  of Documents with a Specified Reversal Date (F.81):Common Errors</vt:lpstr>
      <vt:lpstr>Period End Closing Execution (GBS/JTBC) </vt:lpstr>
      <vt:lpstr>Update Period Control Related Locks</vt:lpstr>
      <vt:lpstr>Update Period Control Related Locks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1</cp:revision>
  <dcterms:created xsi:type="dcterms:W3CDTF">2019-04-11T09:35:08Z</dcterms:created>
  <dcterms:modified xsi:type="dcterms:W3CDTF">2024-04-26T10:57:04Z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1339000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