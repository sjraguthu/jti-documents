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4" r:id="rId4"/>
    <p:sldMasterId id="2147483926" r:id="rId5"/>
    <p:sldMasterId id="2147483931" r:id="rId6"/>
  </p:sldMasterIdLst>
  <p:notesMasterIdLst>
    <p:notesMasterId r:id="rId14"/>
  </p:notesMasterIdLst>
  <p:sldIdLst>
    <p:sldId id="3357" r:id="rId7"/>
    <p:sldId id="3279" r:id="rId8"/>
    <p:sldId id="3280" r:id="rId9"/>
    <p:sldId id="3281" r:id="rId10"/>
    <p:sldId id="3282" r:id="rId11"/>
    <p:sldId id="3284" r:id="rId12"/>
    <p:sldId id="214747728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ng, Wei" initials="WW" lastIdx="20" clrIdx="0">
    <p:extLst>
      <p:ext uri="{19B8F6BF-5375-455C-9EA6-DF929625EA0E}">
        <p15:presenceInfo xmlns:p15="http://schemas.microsoft.com/office/powerpoint/2012/main" userId="S-1-5-21-1645522239-1214440339-682003330-696358" providerId="AD"/>
      </p:ext>
    </p:extLst>
  </p:cmAuthor>
  <p:cmAuthor id="2" name="Riggien, Samantha" initials="RS" lastIdx="3" clrIdx="1">
    <p:extLst>
      <p:ext uri="{19B8F6BF-5375-455C-9EA6-DF929625EA0E}">
        <p15:presenceInfo xmlns:p15="http://schemas.microsoft.com/office/powerpoint/2012/main" userId="S-1-5-21-1645522239-1214440339-682003330-754366" providerId="AD"/>
      </p:ext>
    </p:extLst>
  </p:cmAuthor>
  <p:cmAuthor id="3" name="Wang, Wei" initials="WW [2]" lastIdx="304" clrIdx="2">
    <p:extLst>
      <p:ext uri="{19B8F6BF-5375-455C-9EA6-DF929625EA0E}">
        <p15:presenceInfo xmlns:p15="http://schemas.microsoft.com/office/powerpoint/2012/main" userId="S::CSTWANGW@CORP.JTI.COM::627587dd-935f-4f2b-a6c6-edd4e0dcbff5" providerId="AD"/>
      </p:ext>
    </p:extLst>
  </p:cmAuthor>
  <p:cmAuthor id="4" name="Aardse, Leone" initials="AL" lastIdx="24" clrIdx="3">
    <p:extLst>
      <p:ext uri="{19B8F6BF-5375-455C-9EA6-DF929625EA0E}">
        <p15:presenceInfo xmlns:p15="http://schemas.microsoft.com/office/powerpoint/2012/main" userId="S::GVAAARDSL@CORP.JTI.COM::739cd3d2-ccb6-46e7-9410-591a9a971dee" providerId="AD"/>
      </p:ext>
    </p:extLst>
  </p:cmAuthor>
  <p:cmAuthor id="5" name="Vostrenkova, Anna" initials="VA" lastIdx="5" clrIdx="4">
    <p:extLst>
      <p:ext uri="{19B8F6BF-5375-455C-9EA6-DF929625EA0E}">
        <p15:presenceInfo xmlns:p15="http://schemas.microsoft.com/office/powerpoint/2012/main" userId="S::SPBVOSTRA@CORP.JTI.COM::714b791a-f154-4e8e-a89b-2941418e6a84" providerId="AD"/>
      </p:ext>
    </p:extLst>
  </p:cmAuthor>
  <p:cmAuthor id="6" name="Kandrotiene, Ilmante" initials="KI" lastIdx="55" clrIdx="5">
    <p:extLst>
      <p:ext uri="{19B8F6BF-5375-455C-9EA6-DF929625EA0E}">
        <p15:presenceInfo xmlns:p15="http://schemas.microsoft.com/office/powerpoint/2012/main" userId="S::GVAKANDRI@CORP.JTI.COM::9c9540c0-163c-4c36-9d78-d3fff8b35cb9" providerId="AD"/>
      </p:ext>
    </p:extLst>
  </p:cmAuthor>
  <p:cmAuthor id="7" name="Hill, Daniel" initials="HD" lastIdx="72" clrIdx="6">
    <p:extLst>
      <p:ext uri="{19B8F6BF-5375-455C-9EA6-DF929625EA0E}">
        <p15:presenceInfo xmlns:p15="http://schemas.microsoft.com/office/powerpoint/2012/main" userId="S::MANHILLD@CORP.JTI.COM::e75359db-c6a9-4245-8308-303af67184cd" providerId="AD"/>
      </p:ext>
    </p:extLst>
  </p:cmAuthor>
  <p:cmAuthor id="8" name="Sandler, Marina" initials="SM" lastIdx="7" clrIdx="7">
    <p:extLst>
      <p:ext uri="{19B8F6BF-5375-455C-9EA6-DF929625EA0E}">
        <p15:presenceInfo xmlns:p15="http://schemas.microsoft.com/office/powerpoint/2012/main" userId="S::GVASANDLMB@CORP.JTI.COM::b711e7c6-a7ab-441a-b8e7-d5e5b2cdc6ec" providerId="AD"/>
      </p:ext>
    </p:extLst>
  </p:cmAuthor>
  <p:cmAuthor id="9" name="Parshina, Olga" initials="PO" lastIdx="8" clrIdx="8">
    <p:extLst>
      <p:ext uri="{19B8F6BF-5375-455C-9EA6-DF929625EA0E}">
        <p15:presenceInfo xmlns:p15="http://schemas.microsoft.com/office/powerpoint/2012/main" userId="S::SPBPARSHOD@CORP.JTI.COM::873a8ef6-ff3d-4f50-8df2-5293041e8e5f" providerId="AD"/>
      </p:ext>
    </p:extLst>
  </p:cmAuthor>
  <p:cmAuthor id="10" name="Marchais, Helene" initials="MH" lastIdx="2" clrIdx="9">
    <p:extLst>
      <p:ext uri="{19B8F6BF-5375-455C-9EA6-DF929625EA0E}">
        <p15:presenceInfo xmlns:p15="http://schemas.microsoft.com/office/powerpoint/2012/main" userId="S::GVAMARCHH@CORP.JTI.COM::17418108-8412-4e41-8311-0d6f205b872e" providerId="AD"/>
      </p:ext>
    </p:extLst>
  </p:cmAuthor>
  <p:cmAuthor id="11" name="McVey, Suzanne" initials="MS" lastIdx="2" clrIdx="10">
    <p:extLst>
      <p:ext uri="{19B8F6BF-5375-455C-9EA6-DF929625EA0E}">
        <p15:presenceInfo xmlns:p15="http://schemas.microsoft.com/office/powerpoint/2012/main" userId="S::gvamcveys@corp.jti.com::d4086ca4-ef1f-4ada-91cc-91d6702702bb" providerId="AD"/>
      </p:ext>
    </p:extLst>
  </p:cmAuthor>
  <p:cmAuthor id="12" name="Tierney, Jacqueline" initials="TJ" lastIdx="2" clrIdx="11">
    <p:extLst>
      <p:ext uri="{19B8F6BF-5375-455C-9EA6-DF929625EA0E}">
        <p15:presenceInfo xmlns:p15="http://schemas.microsoft.com/office/powerpoint/2012/main" userId="S::mantiernj@corp.jti.com::c724e8cc-4489-4c36-9411-a0d84306cb81" providerId="AD"/>
      </p:ext>
    </p:extLst>
  </p:cmAuthor>
  <p:cmAuthor id="13" name="Ng, Leo" initials="NL" lastIdx="20" clrIdx="12">
    <p:extLst>
      <p:ext uri="{19B8F6BF-5375-455C-9EA6-DF929625EA0E}">
        <p15:presenceInfo xmlns:p15="http://schemas.microsoft.com/office/powerpoint/2012/main" userId="S::KUANGL@CORP.JTI.COM::ab3a9736-2aae-4d22-bdfd-26ab630f437e" providerId="AD"/>
      </p:ext>
    </p:extLst>
  </p:cmAuthor>
  <p:cmAuthor id="14" name="O'Neill, Shauna" initials="OS" lastIdx="9" clrIdx="13">
    <p:extLst>
      <p:ext uri="{19B8F6BF-5375-455C-9EA6-DF929625EA0E}">
        <p15:presenceInfo xmlns:p15="http://schemas.microsoft.com/office/powerpoint/2012/main" userId="S::cstoneils2@corp.jti.com::1d0a8ccc-c260-429c-86e4-d406a5ac1d3d" providerId="AD"/>
      </p:ext>
    </p:extLst>
  </p:cmAuthor>
  <p:cmAuthor id="15" name="McDonald, Pippa" initials="MP" lastIdx="6" clrIdx="14">
    <p:extLst>
      <p:ext uri="{19B8F6BF-5375-455C-9EA6-DF929625EA0E}">
        <p15:presenceInfo xmlns:p15="http://schemas.microsoft.com/office/powerpoint/2012/main" userId="S::manmcdonp@corp.jti.com::2ed36ef8-ebae-4e24-821e-a2650104ad6d" providerId="AD"/>
      </p:ext>
    </p:extLst>
  </p:cmAuthor>
  <p:cmAuthor id="16" name="Lim, Yen Ping (Fynn)" initials="L(" lastIdx="8" clrIdx="15">
    <p:extLst>
      <p:ext uri="{19B8F6BF-5375-455C-9EA6-DF929625EA0E}">
        <p15:presenceInfo xmlns:p15="http://schemas.microsoft.com/office/powerpoint/2012/main" userId="S::kualimyp@corp.jti.com::525a2945-a468-48a4-8798-4320c60077ff" providerId="AD"/>
      </p:ext>
    </p:extLst>
  </p:cmAuthor>
  <p:cmAuthor id="17" name="Chong, Crystal" initials="CC" lastIdx="4" clrIdx="16">
    <p:extLst>
      <p:ext uri="{19B8F6BF-5375-455C-9EA6-DF929625EA0E}">
        <p15:presenceInfo xmlns:p15="http://schemas.microsoft.com/office/powerpoint/2012/main" userId="S::kuachongc@corp.jti.com::d3b25bd2-e090-4a14-88fa-ea464c19b5b9" providerId="AD"/>
      </p:ext>
    </p:extLst>
  </p:cmAuthor>
  <p:cmAuthor id="18" name="Polyakova, Alexandra" initials="PA" lastIdx="13" clrIdx="17">
    <p:extLst>
      <p:ext uri="{19B8F6BF-5375-455C-9EA6-DF929625EA0E}">
        <p15:presenceInfo xmlns:p15="http://schemas.microsoft.com/office/powerpoint/2012/main" userId="S::spbpolyaa@corp.jti.com::8426ce0f-1f14-446c-9762-b32f13d7d8d4" providerId="AD"/>
      </p:ext>
    </p:extLst>
  </p:cmAuthor>
  <p:cmAuthor id="19" name="Jarvis, Aaron" initials="JA" lastIdx="17" clrIdx="18">
    <p:extLst>
      <p:ext uri="{19B8F6BF-5375-455C-9EA6-DF929625EA0E}">
        <p15:presenceInfo xmlns:p15="http://schemas.microsoft.com/office/powerpoint/2012/main" userId="S::MANJARVIA@CORP.JTI.COM::26a134ec-3939-4533-807c-1ff3cfe41ae7" providerId="AD"/>
      </p:ext>
    </p:extLst>
  </p:cmAuthor>
  <p:cmAuthor id="20" name="Jarvis, Chris" initials="JC" lastIdx="4" clrIdx="19">
    <p:extLst>
      <p:ext uri="{19B8F6BF-5375-455C-9EA6-DF929625EA0E}">
        <p15:presenceInfo xmlns:p15="http://schemas.microsoft.com/office/powerpoint/2012/main" userId="S::manjarvic1@corp.jti.com::4151bf10-c6f8-44fb-9722-90b2018781db" providerId="AD"/>
      </p:ext>
    </p:extLst>
  </p:cmAuthor>
  <p:cmAuthor id="21" name="Kovzhik, Lina" initials="KL" lastIdx="10" clrIdx="20">
    <p:extLst>
      <p:ext uri="{19B8F6BF-5375-455C-9EA6-DF929625EA0E}">
        <p15:presenceInfo xmlns:p15="http://schemas.microsoft.com/office/powerpoint/2012/main" userId="S::spbkovzhl@corp.jti.com::666477bb-32b9-4dd3-90a8-a3c49814c101" providerId="AD"/>
      </p:ext>
    </p:extLst>
  </p:cmAuthor>
  <p:cmAuthor id="22" name="Harvey-Ascroft, Mike" initials="HM" lastIdx="1" clrIdx="21">
    <p:extLst>
      <p:ext uri="{19B8F6BF-5375-455C-9EA6-DF929625EA0E}">
        <p15:presenceInfo xmlns:p15="http://schemas.microsoft.com/office/powerpoint/2012/main" userId="S::manharvem@corp.jti.com::4d8eba1c-0aef-42c6-8f5f-fb79cd2a516a" providerId="AD"/>
      </p:ext>
    </p:extLst>
  </p:cmAuthor>
  <p:cmAuthor id="23" name="Vrzhesnevskaya, Eugenia" initials="VE" lastIdx="6" clrIdx="22">
    <p:extLst>
      <p:ext uri="{19B8F6BF-5375-455C-9EA6-DF929625EA0E}">
        <p15:presenceInfo xmlns:p15="http://schemas.microsoft.com/office/powerpoint/2012/main" userId="S::spbvrzhee@corp.jti.com::76edc36c-0c8b-48b9-8f3a-b38671d2a9a2" providerId="AD"/>
      </p:ext>
    </p:extLst>
  </p:cmAuthor>
  <p:cmAuthor id="24" name="Tolstaya, Aleksandra" initials="TA" lastIdx="8" clrIdx="23">
    <p:extLst>
      <p:ext uri="{19B8F6BF-5375-455C-9EA6-DF929625EA0E}">
        <p15:presenceInfo xmlns:p15="http://schemas.microsoft.com/office/powerpoint/2012/main" userId="S::spbtolsta@corp.jti.com::b1d6c31e-3cf3-468b-8ba5-69804c559cd4" providerId="AD"/>
      </p:ext>
    </p:extLst>
  </p:cmAuthor>
  <p:cmAuthor id="25" name="Matthews, Tamsin" initials="MT" lastIdx="5" clrIdx="24">
    <p:extLst>
      <p:ext uri="{19B8F6BF-5375-455C-9EA6-DF929625EA0E}">
        <p15:presenceInfo xmlns:p15="http://schemas.microsoft.com/office/powerpoint/2012/main" userId="S::manmattht@corp.jti.com::9da61704-b5a9-4579-add8-ec9a9822e6e4" providerId="AD"/>
      </p:ext>
    </p:extLst>
  </p:cmAuthor>
  <p:cmAuthor id="26" name="Koay, Li Min" initials="KM" lastIdx="2" clrIdx="25">
    <p:extLst>
      <p:ext uri="{19B8F6BF-5375-455C-9EA6-DF929625EA0E}">
        <p15:presenceInfo xmlns:p15="http://schemas.microsoft.com/office/powerpoint/2012/main" userId="S::kuakoaylm@corp.jti.com::703457b3-a307-46c3-8549-6b5de8d482e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AAA00"/>
    <a:srgbClr val="C3EBE9"/>
    <a:srgbClr val="33C781"/>
    <a:srgbClr val="7DD9A2"/>
    <a:srgbClr val="74D9D5"/>
    <a:srgbClr val="E6E6E6"/>
    <a:srgbClr val="0D3919"/>
    <a:srgbClr val="005855"/>
    <a:srgbClr val="005955"/>
    <a:srgbClr val="606F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E5A39B1-4A9F-4C4D-9B6B-50F2F390FD6F}" v="1" dt="2024-04-25T17:44:07.30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792" y="1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5" Type="http://schemas.openxmlformats.org/officeDocument/2006/relationships/slideMaster" Target="slideMasters/slideMaster2.xml"/><Relationship Id="rId15" Type="http://schemas.openxmlformats.org/officeDocument/2006/relationships/commentAuthors" Target="commentAuthors.xml"/><Relationship Id="rId10" Type="http://schemas.openxmlformats.org/officeDocument/2006/relationships/slide" Target="slides/slide4.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ust, Tatiana" userId="S::cstshustt@corp.jti.com::83f76e49-8fcc-4b3e-99fe-2ba8ae2bd8b0" providerId="AD" clId="Web-{1E84DE57-8F18-4E3E-38C7-796E828D6438}"/>
    <pc:docChg chg="mod">
      <pc:chgData name="Shust, Tatiana" userId="S::cstshustt@corp.jti.com::83f76e49-8fcc-4b3e-99fe-2ba8ae2bd8b0" providerId="AD" clId="Web-{1E84DE57-8F18-4E3E-38C7-796E828D6438}" dt="2022-06-08T07:04:03.336" v="0" actId="33475"/>
      <pc:docMkLst>
        <pc:docMk/>
      </pc:docMkLst>
    </pc:docChg>
  </pc:docChgLst>
  <pc:docChgLst>
    <pc:chgData name="Wang, Wei" userId="627587dd-935f-4f2b-a6c6-edd4e0dcbff5" providerId="ADAL" clId="{F4502AFD-873B-4E80-B3F4-C49752C41C6E}"/>
    <pc:docChg chg="delSld modSld delMainMaster">
      <pc:chgData name="Wang, Wei" userId="627587dd-935f-4f2b-a6c6-edd4e0dcbff5" providerId="ADAL" clId="{F4502AFD-873B-4E80-B3F4-C49752C41C6E}" dt="2020-06-03T09:50:01.707" v="129" actId="207"/>
      <pc:docMkLst>
        <pc:docMk/>
      </pc:docMkLst>
      <pc:sldChg chg="modSp">
        <pc:chgData name="Wang, Wei" userId="627587dd-935f-4f2b-a6c6-edd4e0dcbff5" providerId="ADAL" clId="{F4502AFD-873B-4E80-B3F4-C49752C41C6E}" dt="2020-06-03T09:50:01.707" v="129" actId="207"/>
        <pc:sldMkLst>
          <pc:docMk/>
          <pc:sldMk cId="3139898537" sldId="3282"/>
        </pc:sldMkLst>
        <pc:spChg chg="mod">
          <ac:chgData name="Wang, Wei" userId="627587dd-935f-4f2b-a6c6-edd4e0dcbff5" providerId="ADAL" clId="{F4502AFD-873B-4E80-B3F4-C49752C41C6E}" dt="2020-06-03T09:50:01.707" v="129" actId="207"/>
          <ac:spMkLst>
            <pc:docMk/>
            <pc:sldMk cId="3139898537" sldId="3282"/>
            <ac:spMk id="8" creationId="{137AFE1C-2FB7-4C07-BA1A-3210B13F8B11}"/>
          </ac:spMkLst>
        </pc:spChg>
      </pc:sldChg>
      <pc:sldMasterChg chg="delSldLayout">
        <pc:chgData name="Wang, Wei" userId="627587dd-935f-4f2b-a6c6-edd4e0dcbff5" providerId="ADAL" clId="{F4502AFD-873B-4E80-B3F4-C49752C41C6E}" dt="2020-05-21T16:09:49.527" v="99" actId="2696"/>
        <pc:sldMasterMkLst>
          <pc:docMk/>
          <pc:sldMasterMk cId="2216067138" sldId="2147483931"/>
        </pc:sldMasterMkLst>
      </pc:sldMasterChg>
    </pc:docChg>
  </pc:docChgLst>
  <pc:docChgLst>
    <pc:chgData name="Wang, Wei" userId="627587dd-935f-4f2b-a6c6-edd4e0dcbff5" providerId="ADAL" clId="{CA4E89E4-842A-4FC6-8E2B-51B2DA5662AB}"/>
    <pc:docChg chg="delSld">
      <pc:chgData name="Wang, Wei" userId="627587dd-935f-4f2b-a6c6-edd4e0dcbff5" providerId="ADAL" clId="{CA4E89E4-842A-4FC6-8E2B-51B2DA5662AB}" dt="2020-05-21T16:08:18.656" v="30" actId="2696"/>
      <pc:docMkLst>
        <pc:docMk/>
      </pc:docMkLst>
    </pc:docChg>
  </pc:docChgLst>
  <pc:docChgLst>
    <pc:chgData name="Wang, Wei" userId="627587dd-935f-4f2b-a6c6-edd4e0dcbff5" providerId="ADAL" clId="{EE5A39B1-4A9F-4C4D-9B6B-50F2F390FD6F}"/>
    <pc:docChg chg="delSld">
      <pc:chgData name="Wang, Wei" userId="627587dd-935f-4f2b-a6c6-edd4e0dcbff5" providerId="ADAL" clId="{EE5A39B1-4A9F-4C4D-9B6B-50F2F390FD6F}" dt="2024-04-25T17:43:53.660" v="0" actId="47"/>
      <pc:docMkLst>
        <pc:docMk/>
      </pc:docMkLst>
      <pc:sldChg chg="del">
        <pc:chgData name="Wang, Wei" userId="627587dd-935f-4f2b-a6c6-edd4e0dcbff5" providerId="ADAL" clId="{EE5A39B1-4A9F-4C4D-9B6B-50F2F390FD6F}" dt="2024-04-25T17:43:53.660" v="0" actId="47"/>
        <pc:sldMkLst>
          <pc:docMk/>
          <pc:sldMk cId="1068174136" sldId="3279"/>
        </pc:sldMkLst>
      </pc:sldChg>
      <pc:sldChg chg="del">
        <pc:chgData name="Wang, Wei" userId="627587dd-935f-4f2b-a6c6-edd4e0dcbff5" providerId="ADAL" clId="{EE5A39B1-4A9F-4C4D-9B6B-50F2F390FD6F}" dt="2024-04-25T17:43:53.660" v="0" actId="47"/>
        <pc:sldMkLst>
          <pc:docMk/>
          <pc:sldMk cId="1016294463" sldId="3280"/>
        </pc:sldMkLst>
      </pc:sldChg>
      <pc:sldChg chg="del">
        <pc:chgData name="Wang, Wei" userId="627587dd-935f-4f2b-a6c6-edd4e0dcbff5" providerId="ADAL" clId="{EE5A39B1-4A9F-4C4D-9B6B-50F2F390FD6F}" dt="2024-04-25T17:43:53.660" v="0" actId="47"/>
        <pc:sldMkLst>
          <pc:docMk/>
          <pc:sldMk cId="2375318970" sldId="3281"/>
        </pc:sldMkLst>
      </pc:sldChg>
      <pc:sldChg chg="del">
        <pc:chgData name="Wang, Wei" userId="627587dd-935f-4f2b-a6c6-edd4e0dcbff5" providerId="ADAL" clId="{EE5A39B1-4A9F-4C4D-9B6B-50F2F390FD6F}" dt="2024-04-25T17:43:53.660" v="0" actId="47"/>
        <pc:sldMkLst>
          <pc:docMk/>
          <pc:sldMk cId="3139898537" sldId="3282"/>
        </pc:sldMkLst>
      </pc:sldChg>
      <pc:sldChg chg="del">
        <pc:chgData name="Wang, Wei" userId="627587dd-935f-4f2b-a6c6-edd4e0dcbff5" providerId="ADAL" clId="{EE5A39B1-4A9F-4C4D-9B6B-50F2F390FD6F}" dt="2024-04-25T17:43:53.660" v="0" actId="47"/>
        <pc:sldMkLst>
          <pc:docMk/>
          <pc:sldMk cId="3981214641" sldId="3284"/>
        </pc:sldMkLst>
      </pc:sldChg>
      <pc:sldMasterChg chg="delSldLayout">
        <pc:chgData name="Wang, Wei" userId="627587dd-935f-4f2b-a6c6-edd4e0dcbff5" providerId="ADAL" clId="{EE5A39B1-4A9F-4C4D-9B6B-50F2F390FD6F}" dt="2024-04-25T17:43:53.660" v="0" actId="47"/>
        <pc:sldMasterMkLst>
          <pc:docMk/>
          <pc:sldMasterMk cId="2027459739" sldId="2147483926"/>
        </pc:sldMasterMkLst>
        <pc:sldLayoutChg chg="del">
          <pc:chgData name="Wang, Wei" userId="627587dd-935f-4f2b-a6c6-edd4e0dcbff5" providerId="ADAL" clId="{EE5A39B1-4A9F-4C4D-9B6B-50F2F390FD6F}" dt="2024-04-25T17:43:53.660" v="0" actId="47"/>
          <pc:sldLayoutMkLst>
            <pc:docMk/>
            <pc:sldMasterMk cId="2027459739" sldId="2147483926"/>
            <pc:sldLayoutMk cId="1571272697" sldId="2147483992"/>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D2E298-1248-4401-9F3E-79067294A229}" type="datetimeFigureOut">
              <a:rPr lang="en-GB" smtClean="0"/>
              <a:t>25/04/2024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944EB3-E743-414B-A21A-64E051E5FA09}" type="slidenum">
              <a:rPr lang="en-GB" smtClean="0"/>
              <a:t>‹#›</a:t>
            </a:fld>
            <a:endParaRPr lang="en-GB"/>
          </a:p>
        </p:txBody>
      </p:sp>
    </p:spTree>
    <p:extLst>
      <p:ext uri="{BB962C8B-B14F-4D97-AF65-F5344CB8AC3E}">
        <p14:creationId xmlns:p14="http://schemas.microsoft.com/office/powerpoint/2010/main" val="1844677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655218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3.xml"/><Relationship Id="rId4"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2" name="Group 21">
            <a:extLst>
              <a:ext uri="{FF2B5EF4-FFF2-40B4-BE49-F238E27FC236}">
                <a16:creationId xmlns:a16="http://schemas.microsoft.com/office/drawing/2014/main" id="{119BDA20-998B-457A-B579-10860DCD0A1C}"/>
              </a:ext>
            </a:extLst>
          </p:cNvPr>
          <p:cNvGrpSpPr/>
          <p:nvPr userDrawn="1"/>
        </p:nvGrpSpPr>
        <p:grpSpPr>
          <a:xfrm>
            <a:off x="534277" y="380597"/>
            <a:ext cx="902611" cy="902611"/>
            <a:chOff x="515937" y="326276"/>
            <a:chExt cx="902611" cy="902611"/>
          </a:xfrm>
        </p:grpSpPr>
        <p:grpSp>
          <p:nvGrpSpPr>
            <p:cNvPr id="23" name="Group 22">
              <a:extLst>
                <a:ext uri="{FF2B5EF4-FFF2-40B4-BE49-F238E27FC236}">
                  <a16:creationId xmlns:a16="http://schemas.microsoft.com/office/drawing/2014/main" id="{461574AA-36DC-4AA1-8288-BB699FC616CA}"/>
                </a:ext>
              </a:extLst>
            </p:cNvPr>
            <p:cNvGrpSpPr/>
            <p:nvPr/>
          </p:nvGrpSpPr>
          <p:grpSpPr>
            <a:xfrm>
              <a:off x="515937" y="326276"/>
              <a:ext cx="902611" cy="902611"/>
              <a:chOff x="4492144" y="190843"/>
              <a:chExt cx="855656" cy="855656"/>
            </a:xfrm>
          </p:grpSpPr>
          <p:sp>
            <p:nvSpPr>
              <p:cNvPr id="25" name="Oval 24">
                <a:extLst>
                  <a:ext uri="{FF2B5EF4-FFF2-40B4-BE49-F238E27FC236}">
                    <a16:creationId xmlns:a16="http://schemas.microsoft.com/office/drawing/2014/main" id="{1F46EE58-4E15-4047-BA0A-08D806BDD0C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6" name="Oval 25">
                <a:extLst>
                  <a:ext uri="{FF2B5EF4-FFF2-40B4-BE49-F238E27FC236}">
                    <a16:creationId xmlns:a16="http://schemas.microsoft.com/office/drawing/2014/main" id="{D491A383-0A05-4DB6-8C35-81A9AE683911}"/>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4" name="Picture 23">
              <a:extLst>
                <a:ext uri="{FF2B5EF4-FFF2-40B4-BE49-F238E27FC236}">
                  <a16:creationId xmlns:a16="http://schemas.microsoft.com/office/drawing/2014/main" id="{9B915A6A-1CF1-4842-9A60-D4810548BDB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2793661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a:extLst>
              <a:ext uri="{FF2B5EF4-FFF2-40B4-BE49-F238E27FC236}">
                <a16:creationId xmlns:a16="http://schemas.microsoft.com/office/drawing/2014/main" id="{D1121BA3-DFDA-4363-BC31-122FB93EABAF}"/>
              </a:ext>
            </a:extLst>
          </p:cNvPr>
          <p:cNvGrpSpPr/>
          <p:nvPr userDrawn="1"/>
        </p:nvGrpSpPr>
        <p:grpSpPr>
          <a:xfrm>
            <a:off x="480180" y="350564"/>
            <a:ext cx="902611" cy="902611"/>
            <a:chOff x="515937" y="326276"/>
            <a:chExt cx="902611" cy="902611"/>
          </a:xfrm>
        </p:grpSpPr>
        <p:grpSp>
          <p:nvGrpSpPr>
            <p:cNvPr id="22" name="Group 21">
              <a:extLst>
                <a:ext uri="{FF2B5EF4-FFF2-40B4-BE49-F238E27FC236}">
                  <a16:creationId xmlns:a16="http://schemas.microsoft.com/office/drawing/2014/main" id="{52474FB6-94CF-4B97-ACDD-CA64BE8D759B}"/>
                </a:ext>
              </a:extLst>
            </p:cNvPr>
            <p:cNvGrpSpPr/>
            <p:nvPr/>
          </p:nvGrpSpPr>
          <p:grpSpPr>
            <a:xfrm>
              <a:off x="515937" y="326276"/>
              <a:ext cx="902611" cy="902611"/>
              <a:chOff x="4492144" y="190843"/>
              <a:chExt cx="855656" cy="855656"/>
            </a:xfrm>
          </p:grpSpPr>
          <p:sp>
            <p:nvSpPr>
              <p:cNvPr id="29" name="Oval 28">
                <a:extLst>
                  <a:ext uri="{FF2B5EF4-FFF2-40B4-BE49-F238E27FC236}">
                    <a16:creationId xmlns:a16="http://schemas.microsoft.com/office/drawing/2014/main" id="{B9F5856B-5698-43AD-BCFC-2C10B8A97B78}"/>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0" name="Oval 29">
                <a:extLst>
                  <a:ext uri="{FF2B5EF4-FFF2-40B4-BE49-F238E27FC236}">
                    <a16:creationId xmlns:a16="http://schemas.microsoft.com/office/drawing/2014/main" id="{21963F15-A1C0-4470-B411-E0046E12E4B7}"/>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8" name="Picture 27">
              <a:extLst>
                <a:ext uri="{FF2B5EF4-FFF2-40B4-BE49-F238E27FC236}">
                  <a16:creationId xmlns:a16="http://schemas.microsoft.com/office/drawing/2014/main" id="{71FC43D5-4C18-40D6-9BB7-C5A28C7442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4010346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03">
    <p:spTree>
      <p:nvGrpSpPr>
        <p:cNvPr id="1" name=""/>
        <p:cNvGrpSpPr/>
        <p:nvPr/>
      </p:nvGrpSpPr>
      <p:grpSpPr>
        <a:xfrm>
          <a:off x="0" y="0"/>
          <a:ext cx="0" cy="0"/>
          <a:chOff x="0" y="0"/>
          <a:chExt cx="0" cy="0"/>
        </a:xfrm>
      </p:grpSpPr>
      <p:grpSp>
        <p:nvGrpSpPr>
          <p:cNvPr id="6" name="Group 5"/>
          <p:cNvGrpSpPr/>
          <p:nvPr userDrawn="1"/>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8" name="Rectangle 7"/>
            <p:cNvSpPr/>
            <p:nvPr/>
          </p:nvSpPr>
          <p:spPr>
            <a:xfrm>
              <a:off x="6096000" y="-11151"/>
              <a:ext cx="6096000" cy="686915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a:p>
        </p:txBody>
      </p:sp>
      <p:cxnSp>
        <p:nvCxnSpPr>
          <p:cNvPr id="12" name="Straight Connector 11"/>
          <p:cNvCxnSpPr/>
          <p:nvPr userDrawn="1"/>
        </p:nvCxnSpPr>
        <p:spPr>
          <a:xfrm>
            <a:off x="515939" y="1340547"/>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532335" y="210344"/>
            <a:ext cx="8881665" cy="984247"/>
          </a:xfrm>
        </p:spPr>
        <p:txBody>
          <a:bodyPr/>
          <a:lstStyle/>
          <a:p>
            <a:r>
              <a:rPr lang="en-US"/>
              <a:t>Click to edit Master title style</a:t>
            </a:r>
          </a:p>
        </p:txBody>
      </p:sp>
      <p:grpSp>
        <p:nvGrpSpPr>
          <p:cNvPr id="20" name="Group 19">
            <a:extLst>
              <a:ext uri="{FF2B5EF4-FFF2-40B4-BE49-F238E27FC236}">
                <a16:creationId xmlns:a16="http://schemas.microsoft.com/office/drawing/2014/main" id="{4D3E3ED3-E1D0-48F5-B172-777303D896C3}"/>
              </a:ext>
            </a:extLst>
          </p:cNvPr>
          <p:cNvGrpSpPr/>
          <p:nvPr userDrawn="1"/>
        </p:nvGrpSpPr>
        <p:grpSpPr>
          <a:xfrm>
            <a:off x="445437" y="339706"/>
            <a:ext cx="902611" cy="902611"/>
            <a:chOff x="515937" y="326276"/>
            <a:chExt cx="902611" cy="902611"/>
          </a:xfrm>
        </p:grpSpPr>
        <p:grpSp>
          <p:nvGrpSpPr>
            <p:cNvPr id="21" name="Group 20">
              <a:extLst>
                <a:ext uri="{FF2B5EF4-FFF2-40B4-BE49-F238E27FC236}">
                  <a16:creationId xmlns:a16="http://schemas.microsoft.com/office/drawing/2014/main" id="{21A762A3-16E6-49DD-8A26-37F5555A1037}"/>
                </a:ext>
              </a:extLst>
            </p:cNvPr>
            <p:cNvGrpSpPr/>
            <p:nvPr/>
          </p:nvGrpSpPr>
          <p:grpSpPr>
            <a:xfrm>
              <a:off x="515937" y="326276"/>
              <a:ext cx="902611" cy="902611"/>
              <a:chOff x="4492144" y="190843"/>
              <a:chExt cx="855656" cy="855656"/>
            </a:xfrm>
          </p:grpSpPr>
          <p:sp>
            <p:nvSpPr>
              <p:cNvPr id="23" name="Oval 22">
                <a:extLst>
                  <a:ext uri="{FF2B5EF4-FFF2-40B4-BE49-F238E27FC236}">
                    <a16:creationId xmlns:a16="http://schemas.microsoft.com/office/drawing/2014/main" id="{EACDF384-011B-4FDE-A421-145C11992406}"/>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 name="Oval 23">
                <a:extLst>
                  <a:ext uri="{FF2B5EF4-FFF2-40B4-BE49-F238E27FC236}">
                    <a16:creationId xmlns:a16="http://schemas.microsoft.com/office/drawing/2014/main" id="{4C7C968A-376D-438A-92CD-5E062A0ACAE8}"/>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2" name="Picture 21">
              <a:extLst>
                <a:ext uri="{FF2B5EF4-FFF2-40B4-BE49-F238E27FC236}">
                  <a16:creationId xmlns:a16="http://schemas.microsoft.com/office/drawing/2014/main" id="{00ADBB0A-57B8-4C48-B096-6520C0B734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266652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rgbClr val="0058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a:extLst>
              <a:ext uri="{FF2B5EF4-FFF2-40B4-BE49-F238E27FC236}">
                <a16:creationId xmlns:a16="http://schemas.microsoft.com/office/drawing/2014/main" id="{E3E30CAE-C48E-4C10-823D-7B7B055C1621}"/>
              </a:ext>
            </a:extLst>
          </p:cNvPr>
          <p:cNvGrpSpPr/>
          <p:nvPr userDrawn="1"/>
        </p:nvGrpSpPr>
        <p:grpSpPr>
          <a:xfrm>
            <a:off x="445437" y="339706"/>
            <a:ext cx="902611" cy="902611"/>
            <a:chOff x="515937" y="326276"/>
            <a:chExt cx="902611" cy="902611"/>
          </a:xfrm>
        </p:grpSpPr>
        <p:grpSp>
          <p:nvGrpSpPr>
            <p:cNvPr id="19" name="Group 18">
              <a:extLst>
                <a:ext uri="{FF2B5EF4-FFF2-40B4-BE49-F238E27FC236}">
                  <a16:creationId xmlns:a16="http://schemas.microsoft.com/office/drawing/2014/main" id="{448B2734-2F5C-4117-AEB7-A94237D67448}"/>
                </a:ext>
              </a:extLst>
            </p:cNvPr>
            <p:cNvGrpSpPr/>
            <p:nvPr/>
          </p:nvGrpSpPr>
          <p:grpSpPr>
            <a:xfrm>
              <a:off x="515937" y="326276"/>
              <a:ext cx="902611" cy="902611"/>
              <a:chOff x="4492144" y="190843"/>
              <a:chExt cx="855656" cy="855656"/>
            </a:xfrm>
          </p:grpSpPr>
          <p:sp>
            <p:nvSpPr>
              <p:cNvPr id="26" name="Oval 25">
                <a:extLst>
                  <a:ext uri="{FF2B5EF4-FFF2-40B4-BE49-F238E27FC236}">
                    <a16:creationId xmlns:a16="http://schemas.microsoft.com/office/drawing/2014/main" id="{54C76669-00B0-4607-8644-F90CB369E0B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Oval 26">
                <a:extLst>
                  <a:ext uri="{FF2B5EF4-FFF2-40B4-BE49-F238E27FC236}">
                    <a16:creationId xmlns:a16="http://schemas.microsoft.com/office/drawing/2014/main" id="{DCEA192E-2BDC-4203-AC54-8AD16575143B}"/>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5" name="Picture 24">
              <a:extLst>
                <a:ext uri="{FF2B5EF4-FFF2-40B4-BE49-F238E27FC236}">
                  <a16:creationId xmlns:a16="http://schemas.microsoft.com/office/drawing/2014/main" id="{F905EC3A-FD2E-44C9-BC8C-D41A7528EB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660642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46809"/>
            <a:ext cx="12192017" cy="4992630"/>
          </a:xfrm>
          <a:prstGeom prst="rect">
            <a:avLst/>
          </a:prstGeom>
        </p:spPr>
      </p:pic>
      <p:sp>
        <p:nvSpPr>
          <p:cNvPr id="6" name="Rectangle 5"/>
          <p:cNvSpPr/>
          <p:nvPr userDrawn="1"/>
        </p:nvSpPr>
        <p:spPr>
          <a:xfrm>
            <a:off x="0" y="4199439"/>
            <a:ext cx="12192000" cy="1440000"/>
          </a:xfrm>
          <a:prstGeom prst="rect">
            <a:avLst/>
          </a:prstGeom>
          <a:solidFill>
            <a:schemeClr val="accent3">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22529626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5" name="Group 14"/>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9924792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a:xfrm>
            <a:off x="7077073" y="6297521"/>
            <a:ext cx="4201727" cy="365125"/>
          </a:xfrm>
          <a:prstGeom prst="rect">
            <a:avLst/>
          </a:prstGeom>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22" name="Group 21"/>
            <p:cNvGrpSpPr/>
            <p:nvPr/>
          </p:nvGrpSpPr>
          <p:grpSpPr>
            <a:xfrm>
              <a:off x="515937" y="326276"/>
              <a:ext cx="902611" cy="902611"/>
              <a:chOff x="4492144" y="190843"/>
              <a:chExt cx="855656" cy="855656"/>
            </a:xfrm>
          </p:grpSpPr>
          <p:sp>
            <p:nvSpPr>
              <p:cNvPr id="29" name="Oval 28"/>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8" name="Picture 2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181678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a:xfrm>
            <a:off x="7077073" y="6297521"/>
            <a:ext cx="4201727" cy="365125"/>
          </a:xfrm>
          <a:prstGeom prst="rect">
            <a:avLst/>
          </a:prstGeom>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p:cNvGrpSpPr/>
          <p:nvPr userDrawn="1"/>
        </p:nvGrpSpPr>
        <p:grpSpPr>
          <a:xfrm>
            <a:off x="515937" y="326276"/>
            <a:ext cx="902611" cy="902611"/>
            <a:chOff x="515937" y="326276"/>
            <a:chExt cx="902611" cy="902611"/>
          </a:xfrm>
        </p:grpSpPr>
        <p:grpSp>
          <p:nvGrpSpPr>
            <p:cNvPr id="19" name="Group 18"/>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751020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3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60521" y="19143"/>
            <a:ext cx="10837863" cy="1325563"/>
          </a:xfrm>
        </p:spPr>
        <p:txBody>
          <a:bodyPr>
            <a:normAutofit/>
          </a:bodyPr>
          <a:lstStyle>
            <a:lvl1pPr>
              <a:defRPr sz="3000">
                <a:latin typeface="Arial" charset="0"/>
                <a:ea typeface="Arial" charset="0"/>
                <a:cs typeface="Arial" charset="0"/>
              </a:defRPr>
            </a:lvl1pPr>
          </a:lstStyle>
          <a:p>
            <a:r>
              <a:rPr lang="en-US"/>
              <a:t>Click to edit Master title style</a:t>
            </a:r>
          </a:p>
        </p:txBody>
      </p:sp>
      <p:sp>
        <p:nvSpPr>
          <p:cNvPr id="5" name="Slide Number Placeholder 4"/>
          <p:cNvSpPr>
            <a:spLocks noGrp="1"/>
          </p:cNvSpPr>
          <p:nvPr>
            <p:ph type="sldNum" sz="quarter" idx="12"/>
          </p:nvPr>
        </p:nvSpPr>
        <p:spPr>
          <a:xfrm>
            <a:off x="9139383" y="6465095"/>
            <a:ext cx="2743200" cy="365125"/>
          </a:xfrm>
        </p:spPr>
        <p:txBody>
          <a:bodyPr/>
          <a:lstStyle>
            <a:lvl1pPr>
              <a:defRPr sz="800"/>
            </a:lvl1pPr>
          </a:lstStyle>
          <a:p>
            <a:fld id="{1A6A2304-23DC-2B46-BD14-F082077842FF}" type="slidenum">
              <a:rPr lang="en-US" smtClean="0"/>
              <a:pPr/>
              <a:t>‹#›</a:t>
            </a:fld>
            <a:endParaRPr lang="en-US"/>
          </a:p>
        </p:txBody>
      </p:sp>
      <p:sp>
        <p:nvSpPr>
          <p:cNvPr id="6" name="Rectangle 5"/>
          <p:cNvSpPr/>
          <p:nvPr/>
        </p:nvSpPr>
        <p:spPr>
          <a:xfrm>
            <a:off x="0" y="678875"/>
            <a:ext cx="207818" cy="5968783"/>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sp>
        <p:nvSpPr>
          <p:cNvPr id="18"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8" y="1695453"/>
            <a:ext cx="10837863" cy="496548"/>
          </a:xfrm>
        </p:spPr>
        <p:txBody>
          <a:bodyPr/>
          <a:lstStyle>
            <a:lvl3pPr marL="399930" indent="-195204">
              <a:defRPr/>
            </a:lvl3pPr>
          </a:lstStyle>
          <a:p>
            <a:pPr lvl="0"/>
            <a:r>
              <a:rPr lang="en-US"/>
              <a:t>Edit Master text styles</a:t>
            </a:r>
          </a:p>
        </p:txBody>
      </p:sp>
      <p:cxnSp>
        <p:nvCxnSpPr>
          <p:cNvPr id="19" name="Straight Connector 18"/>
          <p:cNvCxnSpPr/>
          <p:nvPr/>
        </p:nvCxnSpPr>
        <p:spPr>
          <a:xfrm>
            <a:off x="515939"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EC8EE6D-3E29-41D5-BCF4-F699C8F035C9}"/>
              </a:ext>
            </a:extLst>
          </p:cNvPr>
          <p:cNvSpPr txBox="1"/>
          <p:nvPr/>
        </p:nvSpPr>
        <p:spPr>
          <a:xfrm>
            <a:off x="515938" y="6282533"/>
            <a:ext cx="1799722" cy="365125"/>
          </a:xfrm>
          <a:prstGeom prst="rect">
            <a:avLst/>
          </a:prstGeom>
          <a:noFill/>
        </p:spPr>
        <p:txBody>
          <a:bodyPr wrap="square" lIns="0" tIns="0" rIns="0" bIns="0" rtlCol="0" anchor="b" anchorCtr="0">
            <a:noAutofit/>
          </a:bodyPr>
          <a:lstStyle/>
          <a:p>
            <a:r>
              <a:rPr lang="en-GB" sz="800"/>
              <a:t>© JTI 2018 Confidential </a:t>
            </a:r>
          </a:p>
        </p:txBody>
      </p:sp>
      <p:grpSp>
        <p:nvGrpSpPr>
          <p:cNvPr id="9" name="Group 8"/>
          <p:cNvGrpSpPr/>
          <p:nvPr userDrawn="1"/>
        </p:nvGrpSpPr>
        <p:grpSpPr>
          <a:xfrm>
            <a:off x="10086109" y="394278"/>
            <a:ext cx="2105891" cy="569193"/>
            <a:chOff x="10086109" y="5763491"/>
            <a:chExt cx="2105891" cy="569193"/>
          </a:xfrm>
        </p:grpSpPr>
        <p:sp>
          <p:nvSpPr>
            <p:cNvPr id="10" name="Rectangle 9"/>
            <p:cNvSpPr/>
            <p:nvPr/>
          </p:nvSpPr>
          <p:spPr>
            <a:xfrm>
              <a:off x="10086109" y="5763491"/>
              <a:ext cx="2105891" cy="519040"/>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nvGrpSpPr>
            <p:cNvPr id="11" name="Group 10"/>
            <p:cNvGrpSpPr/>
            <p:nvPr/>
          </p:nvGrpSpPr>
          <p:grpSpPr>
            <a:xfrm>
              <a:off x="10538695" y="5812704"/>
              <a:ext cx="1343888" cy="519980"/>
              <a:chOff x="515938" y="466803"/>
              <a:chExt cx="2499478" cy="967103"/>
            </a:xfrm>
          </p:grpSpPr>
          <p:grpSp>
            <p:nvGrpSpPr>
              <p:cNvPr id="12" name="Group 11"/>
              <p:cNvGrpSpPr/>
              <p:nvPr/>
            </p:nvGrpSpPr>
            <p:grpSpPr>
              <a:xfrm>
                <a:off x="515938" y="466803"/>
                <a:ext cx="281354" cy="780960"/>
                <a:chOff x="4342156" y="2541184"/>
                <a:chExt cx="219003" cy="683186"/>
              </a:xfrm>
            </p:grpSpPr>
            <p:sp>
              <p:nvSpPr>
                <p:cNvPr id="14" name="Rectangle 13"/>
                <p:cNvSpPr/>
                <p:nvPr/>
              </p:nvSpPr>
              <p:spPr>
                <a:xfrm>
                  <a:off x="4342156" y="2541184"/>
                  <a:ext cx="92606" cy="544709"/>
                </a:xfrm>
                <a:prstGeom prst="rect">
                  <a:avLst/>
                </a:prstGeom>
                <a:solidFill>
                  <a:srgbClr val="1A3140"/>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FFFFFF"/>
                    </a:solidFill>
                    <a:effectLst/>
                    <a:uLnTx/>
                    <a:uFillTx/>
                    <a:latin typeface="Arial"/>
                    <a:ea typeface="+mn-ea"/>
                    <a:cs typeface="+mn-cs"/>
                  </a:endParaRPr>
                </a:p>
              </p:txBody>
            </p:sp>
            <p:sp>
              <p:nvSpPr>
                <p:cNvPr id="15" name="Rounded Rectangle 14"/>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126"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3" name="TextBox 12"/>
              <p:cNvSpPr txBox="1"/>
              <p:nvPr/>
            </p:nvSpPr>
            <p:spPr>
              <a:xfrm>
                <a:off x="891194" y="589844"/>
                <a:ext cx="2124222" cy="844062"/>
              </a:xfrm>
              <a:prstGeom prst="rect">
                <a:avLst/>
              </a:prstGeom>
              <a:noFill/>
            </p:spPr>
            <p:txBody>
              <a:bodyPr wrap="square" lIns="0" tIns="0" rIns="0" bIns="0" rtlCol="0">
                <a:noAutofit/>
              </a:bodyPr>
              <a:lstStyle/>
              <a:p>
                <a:pPr algn="l"/>
                <a:r>
                  <a:rPr lang="en-US" sz="1999" b="1">
                    <a:solidFill>
                      <a:schemeClr val="bg1"/>
                    </a:solidFill>
                  </a:rPr>
                  <a:t>S4F-ERP</a:t>
                </a:r>
              </a:p>
            </p:txBody>
          </p:sp>
        </p:grpSp>
      </p:grpSp>
    </p:spTree>
    <p:extLst>
      <p:ext uri="{BB962C8B-B14F-4D97-AF65-F5344CB8AC3E}">
        <p14:creationId xmlns:p14="http://schemas.microsoft.com/office/powerpoint/2010/main" val="4285613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le Only 03">
    <p:spTree>
      <p:nvGrpSpPr>
        <p:cNvPr id="1" name=""/>
        <p:cNvGrpSpPr/>
        <p:nvPr/>
      </p:nvGrpSpPr>
      <p:grpSpPr>
        <a:xfrm>
          <a:off x="0" y="0"/>
          <a:ext cx="0" cy="0"/>
          <a:chOff x="0" y="0"/>
          <a:chExt cx="0" cy="0"/>
        </a:xfrm>
      </p:grpSpPr>
      <p:grpSp>
        <p:nvGrpSpPr>
          <p:cNvPr id="6" name="Group 5"/>
          <p:cNvGrpSpPr/>
          <p:nvPr userDrawn="1"/>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8" name="Rectangle 7"/>
            <p:cNvSpPr/>
            <p:nvPr/>
          </p:nvSpPr>
          <p:spPr>
            <a:xfrm>
              <a:off x="6096000" y="-11151"/>
              <a:ext cx="6096000" cy="686915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4" name="Footer Placeholder 3"/>
          <p:cNvSpPr>
            <a:spLocks noGrp="1"/>
          </p:cNvSpPr>
          <p:nvPr>
            <p:ph type="ftr" sz="quarter" idx="11"/>
          </p:nvPr>
        </p:nvSpPr>
        <p:spPr>
          <a:xfrm>
            <a:off x="7077073" y="6297521"/>
            <a:ext cx="4201727"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a:p>
        </p:txBody>
      </p:sp>
      <p:cxnSp>
        <p:nvCxnSpPr>
          <p:cNvPr id="12" name="Straight Connector 11"/>
          <p:cNvCxnSpPr/>
          <p:nvPr userDrawn="1"/>
        </p:nvCxnSpPr>
        <p:spPr>
          <a:xfrm>
            <a:off x="515939" y="1340547"/>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532335" y="210344"/>
            <a:ext cx="8881665" cy="984247"/>
          </a:xfrm>
        </p:spPr>
        <p:txBody>
          <a:bodyPr/>
          <a:lstStyle/>
          <a:p>
            <a:r>
              <a:rPr lang="en-US"/>
              <a:t>Click to edit Master title style</a:t>
            </a:r>
          </a:p>
        </p:txBody>
      </p:sp>
      <p:grpSp>
        <p:nvGrpSpPr>
          <p:cNvPr id="20" name="Group 19">
            <a:extLst>
              <a:ext uri="{FF2B5EF4-FFF2-40B4-BE49-F238E27FC236}">
                <a16:creationId xmlns:a16="http://schemas.microsoft.com/office/drawing/2014/main" id="{4D3E3ED3-E1D0-48F5-B172-777303D896C3}"/>
              </a:ext>
            </a:extLst>
          </p:cNvPr>
          <p:cNvGrpSpPr/>
          <p:nvPr userDrawn="1"/>
        </p:nvGrpSpPr>
        <p:grpSpPr>
          <a:xfrm>
            <a:off x="445437" y="339706"/>
            <a:ext cx="902611" cy="902611"/>
            <a:chOff x="515937" y="326276"/>
            <a:chExt cx="902611" cy="902611"/>
          </a:xfrm>
        </p:grpSpPr>
        <p:grpSp>
          <p:nvGrpSpPr>
            <p:cNvPr id="21" name="Group 20">
              <a:extLst>
                <a:ext uri="{FF2B5EF4-FFF2-40B4-BE49-F238E27FC236}">
                  <a16:creationId xmlns:a16="http://schemas.microsoft.com/office/drawing/2014/main" id="{21A762A3-16E6-49DD-8A26-37F5555A1037}"/>
                </a:ext>
              </a:extLst>
            </p:cNvPr>
            <p:cNvGrpSpPr/>
            <p:nvPr/>
          </p:nvGrpSpPr>
          <p:grpSpPr>
            <a:xfrm>
              <a:off x="515937" y="326276"/>
              <a:ext cx="902611" cy="902611"/>
              <a:chOff x="4492144" y="190843"/>
              <a:chExt cx="855656" cy="855656"/>
            </a:xfrm>
          </p:grpSpPr>
          <p:sp>
            <p:nvSpPr>
              <p:cNvPr id="23" name="Oval 22">
                <a:extLst>
                  <a:ext uri="{FF2B5EF4-FFF2-40B4-BE49-F238E27FC236}">
                    <a16:creationId xmlns:a16="http://schemas.microsoft.com/office/drawing/2014/main" id="{EACDF384-011B-4FDE-A421-145C11992406}"/>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 name="Oval 23">
                <a:extLst>
                  <a:ext uri="{FF2B5EF4-FFF2-40B4-BE49-F238E27FC236}">
                    <a16:creationId xmlns:a16="http://schemas.microsoft.com/office/drawing/2014/main" id="{4C7C968A-376D-438A-92CD-5E062A0ACAE8}"/>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2" name="Picture 21">
              <a:extLst>
                <a:ext uri="{FF2B5EF4-FFF2-40B4-BE49-F238E27FC236}">
                  <a16:creationId xmlns:a16="http://schemas.microsoft.com/office/drawing/2014/main" id="{00ADBB0A-57B8-4C48-B096-6520C0B734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591961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46809"/>
            <a:ext cx="12192017" cy="4992630"/>
          </a:xfrm>
          <a:prstGeom prst="rect">
            <a:avLst/>
          </a:prstGeom>
        </p:spPr>
      </p:pic>
      <p:sp>
        <p:nvSpPr>
          <p:cNvPr id="6" name="Rectangle 5"/>
          <p:cNvSpPr/>
          <p:nvPr userDrawn="1"/>
        </p:nvSpPr>
        <p:spPr>
          <a:xfrm>
            <a:off x="0" y="4199439"/>
            <a:ext cx="12192000" cy="1440000"/>
          </a:xfrm>
          <a:prstGeom prst="rect">
            <a:avLst/>
          </a:prstGeom>
          <a:solidFill>
            <a:schemeClr val="accent3">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29189006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5" name="Group 14"/>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7989141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22" name="Group 21"/>
            <p:cNvGrpSpPr/>
            <p:nvPr/>
          </p:nvGrpSpPr>
          <p:grpSpPr>
            <a:xfrm>
              <a:off x="515937" y="326276"/>
              <a:ext cx="902611" cy="902611"/>
              <a:chOff x="4492144" y="190843"/>
              <a:chExt cx="855656" cy="855656"/>
            </a:xfrm>
          </p:grpSpPr>
          <p:sp>
            <p:nvSpPr>
              <p:cNvPr id="29" name="Oval 28"/>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8" name="Picture 2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7651452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p:cNvGrpSpPr/>
          <p:nvPr userDrawn="1"/>
        </p:nvGrpSpPr>
        <p:grpSpPr>
          <a:xfrm>
            <a:off x="515937" y="326276"/>
            <a:ext cx="902611" cy="902611"/>
            <a:chOff x="515937" y="326276"/>
            <a:chExt cx="902611" cy="902611"/>
          </a:xfrm>
        </p:grpSpPr>
        <p:grpSp>
          <p:nvGrpSpPr>
            <p:cNvPr id="19" name="Group 18"/>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283070739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slideLayout" Target="../slideLayouts/slideLayout12.xml"/><Relationship Id="rId1" Type="http://schemas.openxmlformats.org/officeDocument/2006/relationships/slideLayout" Target="../slideLayouts/slideLayout11.xml"/><Relationship Id="rId5" Type="http://schemas.openxmlformats.org/officeDocument/2006/relationships/theme" Target="../theme/theme3.xml"/><Relationship Id="rId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1059941870"/>
      </p:ext>
    </p:extLst>
  </p:cSld>
  <p:clrMap bg1="lt1" tx1="dk1" bg2="lt2" tx2="dk2" accent1="accent1" accent2="accent2" accent3="accent3" accent4="accent4" accent5="accent5" accent6="accent6" hlink="hlink" folHlink="folHlink"/>
  <p:sldLayoutIdLst>
    <p:sldLayoutId id="2147483846" r:id="rId1"/>
    <p:sldLayoutId id="2147483847" r:id="rId2"/>
    <p:sldLayoutId id="2147483991" r:id="rId3"/>
    <p:sldLayoutId id="2147483848" r:id="rId4"/>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027459739"/>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94" r:id="rId5"/>
    <p:sldLayoutId id="2147483995" r:id="rId6"/>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216067138"/>
      </p:ext>
    </p:extLst>
  </p:cSld>
  <p:clrMap bg1="lt1" tx1="dk1" bg2="lt2" tx2="dk2" accent1="accent1" accent2="accent2" accent3="accent3" accent4="accent4" accent5="accent5" accent6="accent6" hlink="hlink" folHlink="folHlink"/>
  <p:sldLayoutIdLst>
    <p:sldLayoutId id="2147483932" r:id="rId1"/>
    <p:sldLayoutId id="2147483933" r:id="rId2"/>
    <p:sldLayoutId id="2147483934" r:id="rId3"/>
    <p:sldLayoutId id="2147483935" r:id="rId4"/>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6.xml"/><Relationship Id="rId6" Type="http://schemas.microsoft.com/office/2007/relationships/hdphoto" Target="../media/hdphoto2.wdp"/><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 Id="rId4" Type="http://schemas.microsoft.com/office/2007/relationships/hdphoto" Target="../media/hdphoto3.wdp"/></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microsoft.com/office/2007/relationships/hdphoto" Target="../media/hdphoto6.wdp"/><Relationship Id="rId3" Type="http://schemas.microsoft.com/office/2007/relationships/hdphoto" Target="../media/hdphoto4.wdp"/><Relationship Id="rId7" Type="http://schemas.openxmlformats.org/officeDocument/2006/relationships/image" Target="../media/image17.png"/><Relationship Id="rId2" Type="http://schemas.openxmlformats.org/officeDocument/2006/relationships/image" Target="../media/image14.png"/><Relationship Id="rId1" Type="http://schemas.openxmlformats.org/officeDocument/2006/relationships/slideLayout" Target="../slideLayouts/slideLayout6.xml"/><Relationship Id="rId6" Type="http://schemas.openxmlformats.org/officeDocument/2006/relationships/image" Target="../media/image16.png"/><Relationship Id="rId5" Type="http://schemas.microsoft.com/office/2007/relationships/hdphoto" Target="../media/hdphoto5.wdp"/><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38" name="Rectangle 37"/>
          <p:cNvSpPr/>
          <p:nvPr/>
        </p:nvSpPr>
        <p:spPr>
          <a:xfrm>
            <a:off x="0" y="1340095"/>
            <a:ext cx="12192000" cy="4902409"/>
          </a:xfrm>
          <a:prstGeom prst="rect">
            <a:avLst/>
          </a:prstGeom>
          <a:gradFill flip="none" rotWithShape="1">
            <a:gsLst>
              <a:gs pos="0">
                <a:schemeClr val="accent6"/>
              </a:gs>
              <a:gs pos="100000">
                <a:schemeClr val="accent1">
                  <a:lumMod val="20000"/>
                  <a:lumOff val="80000"/>
                  <a:alpha val="41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t>Period End Closing Execution (BSC) </a:t>
            </a:r>
          </a:p>
        </p:txBody>
      </p:sp>
      <p:sp>
        <p:nvSpPr>
          <p:cNvPr id="40" name="Rounded Rectangle 39"/>
          <p:cNvSpPr/>
          <p:nvPr/>
        </p:nvSpPr>
        <p:spPr>
          <a:xfrm>
            <a:off x="3281078" y="1399526"/>
            <a:ext cx="6098522"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a:ln>
                  <a:noFill/>
                </a:ln>
                <a:solidFill>
                  <a:srgbClr val="000000"/>
                </a:solidFill>
                <a:effectLst/>
                <a:uLnTx/>
                <a:uFillTx/>
                <a:latin typeface="Arial" charset="0"/>
                <a:ea typeface="+mn-ea"/>
                <a:cs typeface="Arial" charset="0"/>
              </a:rPr>
              <a:t>Period End Closing Key Process Areas and New Period End Checks</a:t>
            </a:r>
          </a:p>
        </p:txBody>
      </p:sp>
      <p:sp>
        <p:nvSpPr>
          <p:cNvPr id="41" name="Rounded Rectangle 40"/>
          <p:cNvSpPr/>
          <p:nvPr/>
        </p:nvSpPr>
        <p:spPr>
          <a:xfrm>
            <a:off x="673313" y="2910726"/>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Lease Accounting and Period End Closing</a:t>
            </a:r>
          </a:p>
        </p:txBody>
      </p:sp>
      <p:sp>
        <p:nvSpPr>
          <p:cNvPr id="22" name="Rounded Rectangle 40">
            <a:extLst>
              <a:ext uri="{FF2B5EF4-FFF2-40B4-BE49-F238E27FC236}">
                <a16:creationId xmlns:a16="http://schemas.microsoft.com/office/drawing/2014/main" id="{091BB016-E8F1-4AAD-AF98-88E474CD8BB2}"/>
              </a:ext>
            </a:extLst>
          </p:cNvPr>
          <p:cNvSpPr/>
          <p:nvPr/>
        </p:nvSpPr>
        <p:spPr>
          <a:xfrm>
            <a:off x="673313" y="3593671"/>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Period End Closing for Accruals and Recurring Entries</a:t>
            </a:r>
          </a:p>
        </p:txBody>
      </p:sp>
      <p:sp>
        <p:nvSpPr>
          <p:cNvPr id="23" name="Rounded Rectangle 40">
            <a:extLst>
              <a:ext uri="{FF2B5EF4-FFF2-40B4-BE49-F238E27FC236}">
                <a16:creationId xmlns:a16="http://schemas.microsoft.com/office/drawing/2014/main" id="{205DE5C2-7760-4191-BCD4-8195DDE0BF39}"/>
              </a:ext>
            </a:extLst>
          </p:cNvPr>
          <p:cNvSpPr/>
          <p:nvPr/>
        </p:nvSpPr>
        <p:spPr>
          <a:xfrm>
            <a:off x="673313" y="4276616"/>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Asset Accounting Closing Activities</a:t>
            </a:r>
          </a:p>
        </p:txBody>
      </p:sp>
      <p:sp>
        <p:nvSpPr>
          <p:cNvPr id="24" name="Rounded Rectangle 40">
            <a:extLst>
              <a:ext uri="{FF2B5EF4-FFF2-40B4-BE49-F238E27FC236}">
                <a16:creationId xmlns:a16="http://schemas.microsoft.com/office/drawing/2014/main" id="{8FFA192F-87C5-48EB-9C2E-BEAA28CDE5C6}"/>
              </a:ext>
            </a:extLst>
          </p:cNvPr>
          <p:cNvSpPr/>
          <p:nvPr/>
        </p:nvSpPr>
        <p:spPr>
          <a:xfrm>
            <a:off x="673313" y="4959561"/>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GR/IR Closing Activities</a:t>
            </a:r>
          </a:p>
        </p:txBody>
      </p:sp>
      <p:sp>
        <p:nvSpPr>
          <p:cNvPr id="25" name="Rounded Rectangle 40">
            <a:extLst>
              <a:ext uri="{FF2B5EF4-FFF2-40B4-BE49-F238E27FC236}">
                <a16:creationId xmlns:a16="http://schemas.microsoft.com/office/drawing/2014/main" id="{E379EF69-99DA-4912-A17E-41FCD589B730}"/>
              </a:ext>
            </a:extLst>
          </p:cNvPr>
          <p:cNvSpPr/>
          <p:nvPr/>
        </p:nvSpPr>
        <p:spPr>
          <a:xfrm>
            <a:off x="673313" y="5642505"/>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Automatic Clearing of LSC</a:t>
            </a:r>
            <a:r>
              <a:rPr lang="en-GB" sz="1400" i="1" baseline="30000">
                <a:solidFill>
                  <a:srgbClr val="FF0000"/>
                </a:solidFill>
                <a:latin typeface="Arial" charset="0"/>
                <a:cs typeface="Arial" charset="0"/>
              </a:rPr>
              <a:t>1)</a:t>
            </a:r>
            <a:r>
              <a:rPr lang="en-GB" sz="1400" b="1">
                <a:solidFill>
                  <a:srgbClr val="FFFFFF"/>
                </a:solidFill>
                <a:latin typeface="Arial" charset="0"/>
                <a:cs typeface="Arial" charset="0"/>
              </a:rPr>
              <a:t>  Accounts</a:t>
            </a:r>
          </a:p>
        </p:txBody>
      </p:sp>
      <p:sp>
        <p:nvSpPr>
          <p:cNvPr id="26" name="Rounded Rectangle 40">
            <a:extLst>
              <a:ext uri="{FF2B5EF4-FFF2-40B4-BE49-F238E27FC236}">
                <a16:creationId xmlns:a16="http://schemas.microsoft.com/office/drawing/2014/main" id="{4329EBC2-8992-4195-8E13-999726E21761}"/>
              </a:ext>
            </a:extLst>
          </p:cNvPr>
          <p:cNvSpPr/>
          <p:nvPr/>
        </p:nvSpPr>
        <p:spPr>
          <a:xfrm>
            <a:off x="6695134" y="2910726"/>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Cost Management Closing Activities</a:t>
            </a:r>
          </a:p>
        </p:txBody>
      </p:sp>
      <p:sp>
        <p:nvSpPr>
          <p:cNvPr id="27" name="Rounded Rectangle 40">
            <a:extLst>
              <a:ext uri="{FF2B5EF4-FFF2-40B4-BE49-F238E27FC236}">
                <a16:creationId xmlns:a16="http://schemas.microsoft.com/office/drawing/2014/main" id="{478B7F94-42EC-425F-9F47-5A42225822AD}"/>
              </a:ext>
            </a:extLst>
          </p:cNvPr>
          <p:cNvSpPr/>
          <p:nvPr/>
        </p:nvSpPr>
        <p:spPr>
          <a:xfrm>
            <a:off x="6695134" y="3593671"/>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Period End Data Checks</a:t>
            </a:r>
          </a:p>
        </p:txBody>
      </p:sp>
      <p:sp>
        <p:nvSpPr>
          <p:cNvPr id="28" name="Rounded Rectangle 40">
            <a:extLst>
              <a:ext uri="{FF2B5EF4-FFF2-40B4-BE49-F238E27FC236}">
                <a16:creationId xmlns:a16="http://schemas.microsoft.com/office/drawing/2014/main" id="{1C57AD5B-BBB5-4766-909A-B0F414925B5B}"/>
              </a:ext>
            </a:extLst>
          </p:cNvPr>
          <p:cNvSpPr/>
          <p:nvPr/>
        </p:nvSpPr>
        <p:spPr>
          <a:xfrm>
            <a:off x="6695134" y="4276616"/>
            <a:ext cx="4944971"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000000"/>
                </a:solidFill>
                <a:latin typeface="Arial" charset="0"/>
                <a:cs typeface="Arial" charset="0"/>
              </a:rPr>
              <a:t>VAT Clearing and Reporting</a:t>
            </a:r>
          </a:p>
        </p:txBody>
      </p:sp>
      <p:sp>
        <p:nvSpPr>
          <p:cNvPr id="29" name="Rounded Rectangle 40">
            <a:extLst>
              <a:ext uri="{FF2B5EF4-FFF2-40B4-BE49-F238E27FC236}">
                <a16:creationId xmlns:a16="http://schemas.microsoft.com/office/drawing/2014/main" id="{D796FE03-AABA-4EB3-BA42-BC9F43C15FD3}"/>
              </a:ext>
            </a:extLst>
          </p:cNvPr>
          <p:cNvSpPr/>
          <p:nvPr/>
        </p:nvSpPr>
        <p:spPr>
          <a:xfrm>
            <a:off x="6695134" y="4959561"/>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charset="0"/>
                <a:ea typeface="+mn-ea"/>
                <a:cs typeface="Arial" charset="0"/>
              </a:rPr>
              <a:t>Material Ledger Closing (Non-GSC Activities)</a:t>
            </a: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0" name="Rounded Rectangle 40">
            <a:extLst>
              <a:ext uri="{FF2B5EF4-FFF2-40B4-BE49-F238E27FC236}">
                <a16:creationId xmlns:a16="http://schemas.microsoft.com/office/drawing/2014/main" id="{7DD719F9-E985-4F5E-A70A-5AFC7C99D2CE}"/>
              </a:ext>
            </a:extLst>
          </p:cNvPr>
          <p:cNvSpPr/>
          <p:nvPr/>
        </p:nvSpPr>
        <p:spPr>
          <a:xfrm>
            <a:off x="6695134" y="5642505"/>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charset="0"/>
                <a:ea typeface="+mn-ea"/>
                <a:cs typeface="Arial" charset="0"/>
              </a:rPr>
              <a:t>G/L Closing Activities for Financial Statement Preparation</a:t>
            </a: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5" name="Connector: Elbow 4">
            <a:extLst>
              <a:ext uri="{FF2B5EF4-FFF2-40B4-BE49-F238E27FC236}">
                <a16:creationId xmlns:a16="http://schemas.microsoft.com/office/drawing/2014/main" id="{E4E3B551-8A19-41F9-B96A-F3D36604A60A}"/>
              </a:ext>
            </a:extLst>
          </p:cNvPr>
          <p:cNvCxnSpPr>
            <a:cxnSpLocks/>
          </p:cNvCxnSpPr>
          <p:nvPr/>
        </p:nvCxnSpPr>
        <p:spPr>
          <a:xfrm rot="10800000" flipV="1">
            <a:off x="571718" y="2082470"/>
            <a:ext cx="5657025" cy="3811882"/>
          </a:xfrm>
          <a:prstGeom prst="bentConnector3">
            <a:avLst>
              <a:gd name="adj1" fmla="val 105978"/>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91E4123E-477A-425D-9FBC-58AF1A698C84}"/>
              </a:ext>
            </a:extLst>
          </p:cNvPr>
          <p:cNvCxnSpPr>
            <a:cxnSpLocks/>
          </p:cNvCxnSpPr>
          <p:nvPr/>
        </p:nvCxnSpPr>
        <p:spPr>
          <a:xfrm rot="16200000" flipH="1">
            <a:off x="4405376" y="3706192"/>
            <a:ext cx="3991130" cy="385189"/>
          </a:xfrm>
          <a:prstGeom prst="bentConnector3">
            <a:avLst>
              <a:gd name="adj1" fmla="val 10016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B3EBEE6B-2DD2-4C84-98CD-E5ED4E58D20C}"/>
              </a:ext>
            </a:extLst>
          </p:cNvPr>
          <p:cNvCxnSpPr>
            <a:cxnSpLocks/>
          </p:cNvCxnSpPr>
          <p:nvPr/>
        </p:nvCxnSpPr>
        <p:spPr>
          <a:xfrm>
            <a:off x="237114" y="3099962"/>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C88FA4E5-5E3C-4BAB-8D83-7A18F42B78B6}"/>
              </a:ext>
            </a:extLst>
          </p:cNvPr>
          <p:cNvCxnSpPr>
            <a:cxnSpLocks/>
          </p:cNvCxnSpPr>
          <p:nvPr/>
        </p:nvCxnSpPr>
        <p:spPr>
          <a:xfrm>
            <a:off x="237114" y="3771108"/>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5E2183E-AF10-4629-B7B8-E9B9986DB435}"/>
              </a:ext>
            </a:extLst>
          </p:cNvPr>
          <p:cNvCxnSpPr>
            <a:cxnSpLocks/>
          </p:cNvCxnSpPr>
          <p:nvPr/>
        </p:nvCxnSpPr>
        <p:spPr>
          <a:xfrm>
            <a:off x="237114" y="4559975"/>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5638197A-BD05-4467-A0B3-1123B54A7910}"/>
              </a:ext>
            </a:extLst>
          </p:cNvPr>
          <p:cNvCxnSpPr>
            <a:cxnSpLocks/>
          </p:cNvCxnSpPr>
          <p:nvPr/>
        </p:nvCxnSpPr>
        <p:spPr>
          <a:xfrm>
            <a:off x="237114" y="5211408"/>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F0BA6438-1A74-436F-9160-CB0FB704C8A4}"/>
              </a:ext>
            </a:extLst>
          </p:cNvPr>
          <p:cNvCxnSpPr>
            <a:cxnSpLocks/>
          </p:cNvCxnSpPr>
          <p:nvPr/>
        </p:nvCxnSpPr>
        <p:spPr>
          <a:xfrm>
            <a:off x="6235949" y="3094104"/>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933A4AA-F545-4E3B-B48D-08711E8FCF6A}"/>
              </a:ext>
            </a:extLst>
          </p:cNvPr>
          <p:cNvCxnSpPr>
            <a:cxnSpLocks/>
          </p:cNvCxnSpPr>
          <p:nvPr/>
        </p:nvCxnSpPr>
        <p:spPr>
          <a:xfrm>
            <a:off x="6235949" y="3818002"/>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846830C5-8D0A-496A-9F17-E7945754D25C}"/>
              </a:ext>
            </a:extLst>
          </p:cNvPr>
          <p:cNvCxnSpPr>
            <a:cxnSpLocks/>
          </p:cNvCxnSpPr>
          <p:nvPr/>
        </p:nvCxnSpPr>
        <p:spPr>
          <a:xfrm>
            <a:off x="6235949" y="4554117"/>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0A8D59F-EA27-49EC-A25F-785761157405}"/>
              </a:ext>
            </a:extLst>
          </p:cNvPr>
          <p:cNvCxnSpPr>
            <a:cxnSpLocks/>
          </p:cNvCxnSpPr>
          <p:nvPr/>
        </p:nvCxnSpPr>
        <p:spPr>
          <a:xfrm>
            <a:off x="6235949" y="5205550"/>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31" name="Rounded Rectangle 40">
            <a:extLst>
              <a:ext uri="{FF2B5EF4-FFF2-40B4-BE49-F238E27FC236}">
                <a16:creationId xmlns:a16="http://schemas.microsoft.com/office/drawing/2014/main" id="{BDACF3D3-2286-4EE6-939F-BD6495EE430E}"/>
              </a:ext>
            </a:extLst>
          </p:cNvPr>
          <p:cNvSpPr/>
          <p:nvPr/>
        </p:nvSpPr>
        <p:spPr>
          <a:xfrm>
            <a:off x="6675312" y="2211643"/>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Intercompany and Period End Closing</a:t>
            </a:r>
          </a:p>
        </p:txBody>
      </p:sp>
      <p:cxnSp>
        <p:nvCxnSpPr>
          <p:cNvPr id="32" name="Straight Connector 31">
            <a:extLst>
              <a:ext uri="{FF2B5EF4-FFF2-40B4-BE49-F238E27FC236}">
                <a16:creationId xmlns:a16="http://schemas.microsoft.com/office/drawing/2014/main" id="{884238E6-E8C6-46A4-A65E-938DFAE16828}"/>
              </a:ext>
            </a:extLst>
          </p:cNvPr>
          <p:cNvCxnSpPr>
            <a:cxnSpLocks/>
          </p:cNvCxnSpPr>
          <p:nvPr/>
        </p:nvCxnSpPr>
        <p:spPr>
          <a:xfrm>
            <a:off x="6228742" y="2420025"/>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03035EF1-E9BE-44DE-BA35-80386C719969}"/>
              </a:ext>
            </a:extLst>
          </p:cNvPr>
          <p:cNvSpPr txBox="1"/>
          <p:nvPr/>
        </p:nvSpPr>
        <p:spPr>
          <a:xfrm>
            <a:off x="1978269" y="6409592"/>
            <a:ext cx="3490546" cy="365125"/>
          </a:xfrm>
          <a:prstGeom prst="rect">
            <a:avLst/>
          </a:prstGeom>
          <a:noFill/>
        </p:spPr>
        <p:txBody>
          <a:bodyPr wrap="square" lIns="0" tIns="0" rIns="0" bIns="0" rtlCol="0">
            <a:noAutofit/>
          </a:bodyPr>
          <a:lstStyle/>
          <a:p>
            <a:pPr algn="l"/>
            <a:r>
              <a:rPr lang="en-US" sz="900" i="1" baseline="30000">
                <a:solidFill>
                  <a:srgbClr val="FF0000"/>
                </a:solidFill>
              </a:rPr>
              <a:t>1) </a:t>
            </a:r>
            <a:r>
              <a:rPr lang="en-US" sz="900" b="1" i="1"/>
              <a:t>LSC</a:t>
            </a:r>
            <a:r>
              <a:rPr lang="en-US" sz="900" i="1"/>
              <a:t> – Accounts with indicator “Clearing Specific to Ledger Groups” active.</a:t>
            </a:r>
          </a:p>
        </p:txBody>
      </p:sp>
      <p:sp>
        <p:nvSpPr>
          <p:cNvPr id="33" name="Rounded Rectangle 40">
            <a:extLst>
              <a:ext uri="{FF2B5EF4-FFF2-40B4-BE49-F238E27FC236}">
                <a16:creationId xmlns:a16="http://schemas.microsoft.com/office/drawing/2014/main" id="{3B7A6A7E-D54B-4464-8203-DF984ED60F8B}"/>
              </a:ext>
            </a:extLst>
          </p:cNvPr>
          <p:cNvSpPr/>
          <p:nvPr/>
        </p:nvSpPr>
        <p:spPr>
          <a:xfrm>
            <a:off x="673313" y="2223801"/>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Posting Period Control</a:t>
            </a:r>
          </a:p>
        </p:txBody>
      </p:sp>
      <p:cxnSp>
        <p:nvCxnSpPr>
          <p:cNvPr id="37" name="Straight Connector 36">
            <a:extLst>
              <a:ext uri="{FF2B5EF4-FFF2-40B4-BE49-F238E27FC236}">
                <a16:creationId xmlns:a16="http://schemas.microsoft.com/office/drawing/2014/main" id="{401AB3D3-7BD8-4F78-9906-C339BF054918}"/>
              </a:ext>
            </a:extLst>
          </p:cNvPr>
          <p:cNvCxnSpPr>
            <a:cxnSpLocks/>
          </p:cNvCxnSpPr>
          <p:nvPr/>
        </p:nvCxnSpPr>
        <p:spPr>
          <a:xfrm>
            <a:off x="247717" y="2450265"/>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8555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Slide Number Placeholder 2">
            <a:extLst>
              <a:ext uri="{FF2B5EF4-FFF2-40B4-BE49-F238E27FC236}">
                <a16:creationId xmlns:a16="http://schemas.microsoft.com/office/drawing/2014/main" id="{5F78778B-8AE7-403D-A352-D875AF28F10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2FDAB986-BF86-4644-9EF9-32D75C653C5E}"/>
              </a:ext>
            </a:extLst>
          </p:cNvPr>
          <p:cNvSpPr>
            <a:spLocks noGrp="1"/>
          </p:cNvSpPr>
          <p:nvPr>
            <p:ph type="title"/>
          </p:nvPr>
        </p:nvSpPr>
        <p:spPr>
          <a:xfrm>
            <a:off x="1576968" y="233127"/>
            <a:ext cx="10220126" cy="984247"/>
          </a:xfrm>
        </p:spPr>
        <p:txBody>
          <a:bodyPr/>
          <a:lstStyle/>
          <a:p>
            <a:r>
              <a:rPr lang="en-GB"/>
              <a:t>VAT Clearing and Reporting</a:t>
            </a:r>
          </a:p>
        </p:txBody>
      </p:sp>
      <p:sp>
        <p:nvSpPr>
          <p:cNvPr id="8" name="Rectangle 7">
            <a:extLst>
              <a:ext uri="{FF2B5EF4-FFF2-40B4-BE49-F238E27FC236}">
                <a16:creationId xmlns:a16="http://schemas.microsoft.com/office/drawing/2014/main" id="{23CA56EC-827F-49BB-A015-79EA68FD2EFE}"/>
              </a:ext>
            </a:extLst>
          </p:cNvPr>
          <p:cNvSpPr/>
          <p:nvPr/>
        </p:nvSpPr>
        <p:spPr>
          <a:xfrm>
            <a:off x="6367352" y="2078954"/>
            <a:ext cx="5429742" cy="307777"/>
          </a:xfrm>
          <a:prstGeom prst="rect">
            <a:avLst/>
          </a:prstGeom>
        </p:spPr>
        <p:txBody>
          <a:bodyPr wrap="square">
            <a:spAutoFit/>
          </a:bodyPr>
          <a:lstStyle/>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4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5" name="Freeform: Shape 24">
            <a:extLst>
              <a:ext uri="{FF2B5EF4-FFF2-40B4-BE49-F238E27FC236}">
                <a16:creationId xmlns:a16="http://schemas.microsoft.com/office/drawing/2014/main" id="{513203DA-10E1-4520-B0AF-701FDA830BC8}"/>
              </a:ext>
            </a:extLst>
          </p:cNvPr>
          <p:cNvSpPr/>
          <p:nvPr/>
        </p:nvSpPr>
        <p:spPr>
          <a:xfrm>
            <a:off x="558224" y="4815221"/>
            <a:ext cx="3107689" cy="619635"/>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marL="0" marR="0" lvl="0" indent="0" algn="ctr" defTabSz="1644650" rtl="0" eaLnBrk="1" fontAlgn="auto" latinLnBrk="0" hangingPunct="1">
              <a:spcBef>
                <a:spcPct val="0"/>
              </a:spcBef>
              <a:buClrTx/>
              <a:buSzTx/>
              <a:buFontTx/>
              <a:buNone/>
              <a:tabLst/>
              <a:defRPr/>
            </a:pPr>
            <a:r>
              <a:rPr kumimoji="0" lang="en-US" sz="1600" b="1"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a:ea typeface="+mn-ea"/>
                <a:cs typeface="+mn-cs"/>
              </a:rPr>
              <a:t>T-Code</a:t>
            </a:r>
            <a:r>
              <a:rPr kumimoji="0" lang="en-US" sz="1600" b="0"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a:ea typeface="+mn-ea"/>
                <a:cs typeface="+mn-cs"/>
              </a:rPr>
              <a:t>: </a:t>
            </a:r>
          </a:p>
          <a:p>
            <a:pPr algn="ctr" defTabSz="1644650">
              <a:spcBef>
                <a:spcPct val="0"/>
              </a:spcBef>
              <a:defRPr/>
            </a:pPr>
            <a:r>
              <a:rPr lang="en-US" sz="1200" dirty="0">
                <a:solidFill>
                  <a:srgbClr val="000000">
                    <a:hueOff val="0"/>
                    <a:satOff val="0"/>
                    <a:lumOff val="0"/>
                    <a:alphaOff val="0"/>
                  </a:srgbClr>
                </a:solidFill>
                <a:latin typeface="Arial" panose="020B0604020202020204"/>
              </a:rPr>
              <a:t>S_ALR_87012357 </a:t>
            </a:r>
            <a:r>
              <a:rPr lang="en-US" sz="1600" i="1" baseline="30000" dirty="0">
                <a:solidFill>
                  <a:srgbClr val="FF0000"/>
                </a:solidFill>
                <a:latin typeface="Arial" panose="020B0604020202020204"/>
              </a:rPr>
              <a:t>1) </a:t>
            </a:r>
            <a:r>
              <a:rPr lang="en-US" sz="1200" dirty="0">
                <a:solidFill>
                  <a:schemeClr val="tx1"/>
                </a:solidFill>
                <a:latin typeface="Arial" panose="020B0604020202020204"/>
              </a:rPr>
              <a:t>F.13 </a:t>
            </a:r>
          </a:p>
        </p:txBody>
      </p:sp>
      <p:sp>
        <p:nvSpPr>
          <p:cNvPr id="27" name="Freeform: Shape 26">
            <a:extLst>
              <a:ext uri="{FF2B5EF4-FFF2-40B4-BE49-F238E27FC236}">
                <a16:creationId xmlns:a16="http://schemas.microsoft.com/office/drawing/2014/main" id="{F70E22DA-9C3D-4EF6-9EEC-7D94927A4C2B}"/>
              </a:ext>
            </a:extLst>
          </p:cNvPr>
          <p:cNvSpPr/>
          <p:nvPr/>
        </p:nvSpPr>
        <p:spPr>
          <a:xfrm>
            <a:off x="558224" y="6202096"/>
            <a:ext cx="3107689" cy="623397"/>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1238439"/>
              <a:satOff val="-9074"/>
              <a:lumOff val="149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marL="0" marR="0" lvl="0" indent="0" algn="ctr" defTabSz="1644650" rtl="0" eaLnBrk="1" fontAlgn="auto" latinLnBrk="0" hangingPunct="1">
              <a:spcBef>
                <a:spcPct val="0"/>
              </a:spcBef>
              <a:buClrTx/>
              <a:buSzTx/>
              <a:buFontTx/>
              <a:buNone/>
              <a:tabLst/>
              <a:defRPr/>
            </a:pPr>
            <a:r>
              <a:rPr kumimoji="0" lang="en-US" sz="1600" b="1"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Timing: </a:t>
            </a:r>
            <a:r>
              <a:rPr lang="en-US" sz="1300">
                <a:solidFill>
                  <a:srgbClr val="000000">
                    <a:hueOff val="0"/>
                    <a:satOff val="0"/>
                    <a:lumOff val="0"/>
                    <a:alphaOff val="0"/>
                  </a:srgbClr>
                </a:solidFill>
                <a:latin typeface="Arial" panose="020B0604020202020204"/>
              </a:rPr>
              <a:t>WD3</a:t>
            </a:r>
            <a:endParaRPr kumimoji="0" lang="en-US" sz="13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endParaRPr>
          </a:p>
        </p:txBody>
      </p:sp>
      <p:sp>
        <p:nvSpPr>
          <p:cNvPr id="38" name="Freeform: Shape 37">
            <a:extLst>
              <a:ext uri="{FF2B5EF4-FFF2-40B4-BE49-F238E27FC236}">
                <a16:creationId xmlns:a16="http://schemas.microsoft.com/office/drawing/2014/main" id="{454F50E9-FEB5-4789-BF3B-3A639F5DC84C}"/>
              </a:ext>
            </a:extLst>
          </p:cNvPr>
          <p:cNvSpPr/>
          <p:nvPr/>
        </p:nvSpPr>
        <p:spPr>
          <a:xfrm>
            <a:off x="568102" y="5500489"/>
            <a:ext cx="3107689" cy="619635"/>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marL="0" marR="0" lvl="0" indent="0" algn="ctr" defTabSz="1644650" rtl="0" eaLnBrk="1" fontAlgn="auto" latinLnBrk="0" hangingPunct="1">
              <a:lnSpc>
                <a:spcPct val="90000"/>
              </a:lnSpc>
              <a:spcBef>
                <a:spcPct val="0"/>
              </a:spcBef>
              <a:spcAft>
                <a:spcPct val="35000"/>
              </a:spcAft>
              <a:buClrTx/>
              <a:buSzTx/>
              <a:buFontTx/>
              <a:buNone/>
              <a:tabLst/>
              <a:defRPr/>
            </a:pPr>
            <a:r>
              <a:rPr kumimoji="0" lang="en-US" sz="1600" b="1"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FCC Task</a:t>
            </a:r>
            <a:r>
              <a:rPr kumimoji="0" lang="en-US" sz="16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 Entity Level</a:t>
            </a:r>
          </a:p>
        </p:txBody>
      </p:sp>
      <p:sp>
        <p:nvSpPr>
          <p:cNvPr id="5" name="Rectangle 4">
            <a:extLst>
              <a:ext uri="{FF2B5EF4-FFF2-40B4-BE49-F238E27FC236}">
                <a16:creationId xmlns:a16="http://schemas.microsoft.com/office/drawing/2014/main" id="{45F95EF3-7599-40F1-BC7E-247951A21F76}"/>
              </a:ext>
            </a:extLst>
          </p:cNvPr>
          <p:cNvSpPr/>
          <p:nvPr/>
        </p:nvSpPr>
        <p:spPr>
          <a:xfrm>
            <a:off x="3802937" y="4725634"/>
            <a:ext cx="8170987" cy="938719"/>
          </a:xfrm>
          <a:prstGeom prst="rect">
            <a:avLst/>
          </a:prstGeom>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15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In S/4 HANA, VAT accounts continue to be posted ledger-through as they are related to sales and purchase postings which are ledger-through. </a:t>
            </a:r>
            <a:r>
              <a:rPr lang="en-GB" sz="1150" i="1" dirty="0">
                <a:solidFill>
                  <a:srgbClr val="000000"/>
                </a:solidFill>
                <a:latin typeface="Georgia" panose="02040502050405020303" pitchFamily="18" charset="0"/>
              </a:rPr>
              <a:t>As a result all the VAT regrouping/reclassification/transfer/clearing transactions make postings to all ledgers at the same time.</a:t>
            </a:r>
          </a:p>
          <a:p>
            <a:pPr marL="0" marR="0" lvl="0" indent="0" algn="l" defTabSz="914400" rtl="0" eaLnBrk="1" fontAlgn="auto" latinLnBrk="0" hangingPunct="1">
              <a:lnSpc>
                <a:spcPts val="1200"/>
              </a:lnSpc>
              <a:spcBef>
                <a:spcPts val="600"/>
              </a:spcBef>
              <a:spcAft>
                <a:spcPts val="0"/>
              </a:spcAft>
              <a:buClrTx/>
              <a:buSzTx/>
              <a:buFontTx/>
              <a:buNone/>
              <a:tabLst/>
              <a:defRPr/>
            </a:pPr>
            <a:r>
              <a:rPr lang="en-GB" sz="1150" i="1" dirty="0">
                <a:solidFill>
                  <a:srgbClr val="000000"/>
                </a:solidFill>
                <a:latin typeface="Georgia" panose="02040502050405020303" pitchFamily="18" charset="0"/>
              </a:rPr>
              <a:t>Note that there are also other VAT reports (e.g. EC Sales, Intrastat – on Fiori) used by indirect tax users at period ends, which are not part of Parallel Ledger closing process and not recorded in FCC.</a:t>
            </a:r>
            <a:endParaRPr kumimoji="0" lang="en-GB" sz="1150" i="1" u="none" strike="noStrike" kern="1200" cap="none" spc="0" normalizeH="0" baseline="0" noProof="0" dirty="0">
              <a:ln>
                <a:noFill/>
              </a:ln>
              <a:solidFill>
                <a:srgbClr val="000000"/>
              </a:solidFill>
              <a:effectLst/>
              <a:uLnTx/>
              <a:uFillTx/>
              <a:latin typeface="Georgia" panose="02040502050405020303" pitchFamily="18" charset="0"/>
              <a:ea typeface="+mn-ea"/>
              <a:cs typeface="+mn-cs"/>
            </a:endParaRPr>
          </a:p>
        </p:txBody>
      </p:sp>
      <p:sp>
        <p:nvSpPr>
          <p:cNvPr id="10" name="Rectangle 9">
            <a:extLst>
              <a:ext uri="{FF2B5EF4-FFF2-40B4-BE49-F238E27FC236}">
                <a16:creationId xmlns:a16="http://schemas.microsoft.com/office/drawing/2014/main" id="{141AA02A-B49B-45C1-8C1D-6AD74350EDB8}"/>
              </a:ext>
            </a:extLst>
          </p:cNvPr>
          <p:cNvSpPr/>
          <p:nvPr/>
        </p:nvSpPr>
        <p:spPr>
          <a:xfrm>
            <a:off x="3791637" y="6318906"/>
            <a:ext cx="7627062" cy="246221"/>
          </a:xfrm>
          <a:prstGeom prst="rect">
            <a:avLst/>
          </a:prstGeom>
        </p:spPr>
        <p:txBody>
          <a:bodyPr wrap="square">
            <a:spAutoFit/>
          </a:bodyPr>
          <a:lstStyle/>
          <a:p>
            <a:pPr lvl="0">
              <a:lnSpc>
                <a:spcPts val="1200"/>
              </a:lnSpc>
              <a:spcBef>
                <a:spcPts val="600"/>
              </a:spcBef>
              <a:defRPr/>
            </a:pPr>
            <a:r>
              <a:rPr kumimoji="0" lang="en-GB" sz="115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VAT closing activities are performed on WD3 before Revaluation process. </a:t>
            </a:r>
          </a:p>
        </p:txBody>
      </p:sp>
      <p:sp>
        <p:nvSpPr>
          <p:cNvPr id="40" name="Rectangle 39">
            <a:extLst>
              <a:ext uri="{FF2B5EF4-FFF2-40B4-BE49-F238E27FC236}">
                <a16:creationId xmlns:a16="http://schemas.microsoft.com/office/drawing/2014/main" id="{689CBDBA-83EE-41DF-8DA7-B8B49163AD50}"/>
              </a:ext>
            </a:extLst>
          </p:cNvPr>
          <p:cNvSpPr/>
          <p:nvPr/>
        </p:nvSpPr>
        <p:spPr>
          <a:xfrm>
            <a:off x="3802937" y="5701183"/>
            <a:ext cx="7873124" cy="400110"/>
          </a:xfrm>
          <a:prstGeom prst="rect">
            <a:avLst/>
          </a:prstGeom>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15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VAT </a:t>
            </a:r>
            <a:r>
              <a:rPr lang="en-GB" sz="1150" i="1" dirty="0">
                <a:solidFill>
                  <a:srgbClr val="000000"/>
                </a:solidFill>
                <a:latin typeface="Georgia" panose="02040502050405020303" pitchFamily="18" charset="0"/>
              </a:rPr>
              <a:t>closing tasks are set at entity level to allow flexibility within each entity, as some have a number of tax registrations in different countries which require longer time to complete.</a:t>
            </a:r>
            <a:endParaRPr kumimoji="0" lang="en-GB" sz="115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endParaRPr>
          </a:p>
        </p:txBody>
      </p:sp>
      <p:grpSp>
        <p:nvGrpSpPr>
          <p:cNvPr id="26" name="Group 25">
            <a:extLst>
              <a:ext uri="{FF2B5EF4-FFF2-40B4-BE49-F238E27FC236}">
                <a16:creationId xmlns:a16="http://schemas.microsoft.com/office/drawing/2014/main" id="{4C5E2CC5-2C66-4542-8223-46C3080CF74E}"/>
              </a:ext>
            </a:extLst>
          </p:cNvPr>
          <p:cNvGrpSpPr/>
          <p:nvPr/>
        </p:nvGrpSpPr>
        <p:grpSpPr>
          <a:xfrm>
            <a:off x="459716" y="1398367"/>
            <a:ext cx="5409875" cy="3223251"/>
            <a:chOff x="607926" y="3508514"/>
            <a:chExt cx="5409875" cy="1872367"/>
          </a:xfrm>
        </p:grpSpPr>
        <p:sp>
          <p:nvSpPr>
            <p:cNvPr id="28" name="Rectangle: Rounded Corners 27">
              <a:extLst>
                <a:ext uri="{FF2B5EF4-FFF2-40B4-BE49-F238E27FC236}">
                  <a16:creationId xmlns:a16="http://schemas.microsoft.com/office/drawing/2014/main" id="{632755FA-8251-4818-B7EC-7A033CCBD198}"/>
                </a:ext>
              </a:extLst>
            </p:cNvPr>
            <p:cNvSpPr/>
            <p:nvPr/>
          </p:nvSpPr>
          <p:spPr>
            <a:xfrm>
              <a:off x="607926" y="3508514"/>
              <a:ext cx="5409875" cy="1872367"/>
            </a:xfrm>
            <a:prstGeom prst="roundRect">
              <a:avLst>
                <a:gd name="adj" fmla="val 4667"/>
              </a:avLst>
            </a:prstGeom>
            <a:solidFill>
              <a:schemeClr val="accent6">
                <a:lumMod val="20000"/>
                <a:lumOff val="80000"/>
              </a:schemeClr>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9" name="TextBox 28">
              <a:extLst>
                <a:ext uri="{FF2B5EF4-FFF2-40B4-BE49-F238E27FC236}">
                  <a16:creationId xmlns:a16="http://schemas.microsoft.com/office/drawing/2014/main" id="{5A971985-60E8-4735-9D02-63B2F413B723}"/>
                </a:ext>
              </a:extLst>
            </p:cNvPr>
            <p:cNvSpPr txBox="1"/>
            <p:nvPr/>
          </p:nvSpPr>
          <p:spPr>
            <a:xfrm>
              <a:off x="1106022" y="3581269"/>
              <a:ext cx="4538749" cy="288235"/>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sng" strike="noStrike" kern="1200" cap="none" spc="0" normalizeH="0" baseline="0" noProof="0">
                  <a:ln>
                    <a:noFill/>
                  </a:ln>
                  <a:solidFill>
                    <a:srgbClr val="000000"/>
                  </a:solidFill>
                  <a:effectLst/>
                  <a:uLnTx/>
                  <a:uFillTx/>
                  <a:latin typeface="Aharoni" panose="02010803020104030203" pitchFamily="2" charset="-79"/>
                  <a:ea typeface="+mn-ea"/>
                  <a:cs typeface="Aharoni" panose="02010803020104030203" pitchFamily="2" charset="-79"/>
                </a:rPr>
                <a:t>Basic Process of VAT at Period End</a:t>
              </a:r>
            </a:p>
          </p:txBody>
        </p:sp>
      </p:grpSp>
      <p:sp>
        <p:nvSpPr>
          <p:cNvPr id="34" name="Freeform: Shape 33">
            <a:extLst>
              <a:ext uri="{FF2B5EF4-FFF2-40B4-BE49-F238E27FC236}">
                <a16:creationId xmlns:a16="http://schemas.microsoft.com/office/drawing/2014/main" id="{6D35B591-ACF2-4365-86BF-DF8238236438}"/>
              </a:ext>
            </a:extLst>
          </p:cNvPr>
          <p:cNvSpPr/>
          <p:nvPr/>
        </p:nvSpPr>
        <p:spPr>
          <a:xfrm>
            <a:off x="568102" y="2202730"/>
            <a:ext cx="1495573" cy="759060"/>
          </a:xfrm>
          <a:custGeom>
            <a:avLst/>
            <a:gdLst>
              <a:gd name="connsiteX0" fmla="*/ 0 w 3076611"/>
              <a:gd name="connsiteY0" fmla="*/ 184597 h 1845966"/>
              <a:gd name="connsiteX1" fmla="*/ 184597 w 3076611"/>
              <a:gd name="connsiteY1" fmla="*/ 0 h 1845966"/>
              <a:gd name="connsiteX2" fmla="*/ 2892014 w 3076611"/>
              <a:gd name="connsiteY2" fmla="*/ 0 h 1845966"/>
              <a:gd name="connsiteX3" fmla="*/ 3076611 w 3076611"/>
              <a:gd name="connsiteY3" fmla="*/ 184597 h 1845966"/>
              <a:gd name="connsiteX4" fmla="*/ 3076611 w 3076611"/>
              <a:gd name="connsiteY4" fmla="*/ 1661369 h 1845966"/>
              <a:gd name="connsiteX5" fmla="*/ 2892014 w 3076611"/>
              <a:gd name="connsiteY5" fmla="*/ 1845966 h 1845966"/>
              <a:gd name="connsiteX6" fmla="*/ 184597 w 3076611"/>
              <a:gd name="connsiteY6" fmla="*/ 1845966 h 1845966"/>
              <a:gd name="connsiteX7" fmla="*/ 0 w 3076611"/>
              <a:gd name="connsiteY7" fmla="*/ 1661369 h 1845966"/>
              <a:gd name="connsiteX8" fmla="*/ 0 w 3076611"/>
              <a:gd name="connsiteY8" fmla="*/ 184597 h 1845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6611" h="1845966">
                <a:moveTo>
                  <a:pt x="0" y="184597"/>
                </a:moveTo>
                <a:cubicBezTo>
                  <a:pt x="0" y="82647"/>
                  <a:pt x="82647" y="0"/>
                  <a:pt x="184597" y="0"/>
                </a:cubicBezTo>
                <a:lnTo>
                  <a:pt x="2892014" y="0"/>
                </a:lnTo>
                <a:cubicBezTo>
                  <a:pt x="2993964" y="0"/>
                  <a:pt x="3076611" y="82647"/>
                  <a:pt x="3076611" y="184597"/>
                </a:cubicBezTo>
                <a:lnTo>
                  <a:pt x="3076611" y="1661369"/>
                </a:lnTo>
                <a:cubicBezTo>
                  <a:pt x="3076611" y="1763319"/>
                  <a:pt x="2993964" y="1845966"/>
                  <a:pt x="2892014" y="1845966"/>
                </a:cubicBezTo>
                <a:lnTo>
                  <a:pt x="184597" y="1845966"/>
                </a:lnTo>
                <a:cubicBezTo>
                  <a:pt x="82647" y="1845966"/>
                  <a:pt x="0" y="1763319"/>
                  <a:pt x="0" y="1661369"/>
                </a:cubicBezTo>
                <a:lnTo>
                  <a:pt x="0" y="184597"/>
                </a:lnTo>
                <a:close/>
              </a:path>
            </a:pathLst>
          </a:custGeom>
          <a:noFill/>
          <a:ln w="28575">
            <a:solidFill>
              <a:schemeClr val="accent3">
                <a:lumMod val="50000"/>
              </a:schemeClr>
            </a:solidFill>
          </a:ln>
        </p:spPr>
        <p:style>
          <a:lnRef idx="0">
            <a:schemeClr val="lt1">
              <a:hueOff val="0"/>
              <a:satOff val="0"/>
              <a:lumOff val="0"/>
              <a:alphaOff val="0"/>
            </a:schemeClr>
          </a:lnRef>
          <a:fillRef idx="3">
            <a:schemeClr val="accent1">
              <a:shade val="50000"/>
              <a:hueOff val="0"/>
              <a:satOff val="0"/>
              <a:lumOff val="0"/>
              <a:alphaOff val="0"/>
            </a:schemeClr>
          </a:fillRef>
          <a:effectRef idx="3">
            <a:schemeClr val="accent1">
              <a:shade val="50000"/>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a:ea typeface="+mn-ea"/>
                <a:cs typeface="+mn-cs"/>
              </a:rPr>
              <a:t>VAT Regrouping via S_ALR_87012357</a:t>
            </a:r>
          </a:p>
        </p:txBody>
      </p:sp>
      <p:sp>
        <p:nvSpPr>
          <p:cNvPr id="35" name="TextBox 34">
            <a:extLst>
              <a:ext uri="{FF2B5EF4-FFF2-40B4-BE49-F238E27FC236}">
                <a16:creationId xmlns:a16="http://schemas.microsoft.com/office/drawing/2014/main" id="{16A7252A-394C-4476-A42F-3E53C7B88A3D}"/>
              </a:ext>
            </a:extLst>
          </p:cNvPr>
          <p:cNvSpPr txBox="1"/>
          <p:nvPr/>
        </p:nvSpPr>
        <p:spPr>
          <a:xfrm>
            <a:off x="573460" y="3075927"/>
            <a:ext cx="3408549" cy="1517983"/>
          </a:xfrm>
          <a:prstGeom prst="rect">
            <a:avLst/>
          </a:prstGeom>
          <a:noFill/>
        </p:spPr>
        <p:txBody>
          <a:bodyPr wrap="square" lIns="0" tIns="0" rIns="0" bIns="0" rtlCol="0">
            <a:noAutofit/>
          </a:bodyPr>
          <a:lstStyle>
            <a:defPPr>
              <a:defRPr lang="en-US"/>
            </a:defPPr>
            <a:lvl1pPr marL="108000" marR="0" lvl="0" indent="-108000" fontAlgn="auto">
              <a:lnSpc>
                <a:spcPts val="1050"/>
              </a:lnSpc>
              <a:spcBef>
                <a:spcPts val="300"/>
              </a:spcBef>
              <a:spcAft>
                <a:spcPts val="0"/>
              </a:spcAft>
              <a:buClrTx/>
              <a:buSzTx/>
              <a:buFont typeface="Arial" panose="020B0604020202020204" pitchFamily="34" charset="0"/>
              <a:buChar char="•"/>
              <a:tabLst/>
              <a:defRPr sz="1050">
                <a:solidFill>
                  <a:srgbClr val="000000"/>
                </a:solidFill>
                <a:latin typeface="Calibri" panose="020F0502020204030204" pitchFamily="34" charset="0"/>
                <a:cs typeface="Calibri" panose="020F0502020204030204" pitchFamily="34" charset="0"/>
              </a:defRPr>
            </a:lvl1pPr>
          </a:lstStyle>
          <a:p>
            <a:r>
              <a:rPr lang="en-GB"/>
              <a:t>Prior to VAT Regrouping via S_ALR_87012357 report, some entities have processes such as Deferred Tax Transfer via F.38 for Romanian entities, VAT transfer via ​ZRUSECEVENT for Russian and Belarus, and Deferred Tax Transfer via </a:t>
            </a:r>
            <a:r>
              <a:rPr lang="en-US"/>
              <a:t>S_ALR_87012360 for Philippines. </a:t>
            </a:r>
            <a:r>
              <a:rPr lang="en-US" i="1" baseline="30000">
                <a:solidFill>
                  <a:srgbClr val="FF0000"/>
                </a:solidFill>
              </a:rPr>
              <a:t>1)</a:t>
            </a:r>
          </a:p>
          <a:p>
            <a:r>
              <a:rPr lang="en-US"/>
              <a:t>S_ALR_87012357 </a:t>
            </a:r>
            <a:r>
              <a:rPr lang="en-GB"/>
              <a:t>re-classes the balances on Input and Output VAT accounts for each VAT registration to the Due/Recoverable account at period close. </a:t>
            </a:r>
          </a:p>
          <a:p>
            <a:r>
              <a:rPr lang="en-GB"/>
              <a:t>If there’s any balance left in LC1 in input/output VAT accounts then a GL journal is posted to remove them.</a:t>
            </a:r>
          </a:p>
        </p:txBody>
      </p:sp>
      <p:sp>
        <p:nvSpPr>
          <p:cNvPr id="36" name="Freeform: Shape 35">
            <a:extLst>
              <a:ext uri="{FF2B5EF4-FFF2-40B4-BE49-F238E27FC236}">
                <a16:creationId xmlns:a16="http://schemas.microsoft.com/office/drawing/2014/main" id="{4D5DBE57-AF7D-41CA-B3DD-8E8DDCEF6C77}"/>
              </a:ext>
            </a:extLst>
          </p:cNvPr>
          <p:cNvSpPr/>
          <p:nvPr/>
        </p:nvSpPr>
        <p:spPr>
          <a:xfrm>
            <a:off x="2395089" y="2202730"/>
            <a:ext cx="1495573" cy="759059"/>
          </a:xfrm>
          <a:custGeom>
            <a:avLst/>
            <a:gdLst>
              <a:gd name="connsiteX0" fmla="*/ 0 w 3076611"/>
              <a:gd name="connsiteY0" fmla="*/ 184597 h 1845966"/>
              <a:gd name="connsiteX1" fmla="*/ 184597 w 3076611"/>
              <a:gd name="connsiteY1" fmla="*/ 0 h 1845966"/>
              <a:gd name="connsiteX2" fmla="*/ 2892014 w 3076611"/>
              <a:gd name="connsiteY2" fmla="*/ 0 h 1845966"/>
              <a:gd name="connsiteX3" fmla="*/ 3076611 w 3076611"/>
              <a:gd name="connsiteY3" fmla="*/ 184597 h 1845966"/>
              <a:gd name="connsiteX4" fmla="*/ 3076611 w 3076611"/>
              <a:gd name="connsiteY4" fmla="*/ 1661369 h 1845966"/>
              <a:gd name="connsiteX5" fmla="*/ 2892014 w 3076611"/>
              <a:gd name="connsiteY5" fmla="*/ 1845966 h 1845966"/>
              <a:gd name="connsiteX6" fmla="*/ 184597 w 3076611"/>
              <a:gd name="connsiteY6" fmla="*/ 1845966 h 1845966"/>
              <a:gd name="connsiteX7" fmla="*/ 0 w 3076611"/>
              <a:gd name="connsiteY7" fmla="*/ 1661369 h 1845966"/>
              <a:gd name="connsiteX8" fmla="*/ 0 w 3076611"/>
              <a:gd name="connsiteY8" fmla="*/ 184597 h 1845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6611" h="1845966">
                <a:moveTo>
                  <a:pt x="0" y="184597"/>
                </a:moveTo>
                <a:cubicBezTo>
                  <a:pt x="0" y="82647"/>
                  <a:pt x="82647" y="0"/>
                  <a:pt x="184597" y="0"/>
                </a:cubicBezTo>
                <a:lnTo>
                  <a:pt x="2892014" y="0"/>
                </a:lnTo>
                <a:cubicBezTo>
                  <a:pt x="2993964" y="0"/>
                  <a:pt x="3076611" y="82647"/>
                  <a:pt x="3076611" y="184597"/>
                </a:cubicBezTo>
                <a:lnTo>
                  <a:pt x="3076611" y="1661369"/>
                </a:lnTo>
                <a:cubicBezTo>
                  <a:pt x="3076611" y="1763319"/>
                  <a:pt x="2993964" y="1845966"/>
                  <a:pt x="2892014" y="1845966"/>
                </a:cubicBezTo>
                <a:lnTo>
                  <a:pt x="184597" y="1845966"/>
                </a:lnTo>
                <a:cubicBezTo>
                  <a:pt x="82647" y="1845966"/>
                  <a:pt x="0" y="1763319"/>
                  <a:pt x="0" y="1661369"/>
                </a:cubicBezTo>
                <a:lnTo>
                  <a:pt x="0" y="184597"/>
                </a:lnTo>
                <a:close/>
              </a:path>
            </a:pathLst>
          </a:custGeom>
          <a:noFill/>
          <a:ln w="28575">
            <a:solidFill>
              <a:schemeClr val="accent3">
                <a:lumMod val="50000"/>
              </a:schemeClr>
            </a:solidFill>
          </a:ln>
        </p:spPr>
        <p:style>
          <a:lnRef idx="0">
            <a:schemeClr val="lt1">
              <a:hueOff val="0"/>
              <a:satOff val="0"/>
              <a:lumOff val="0"/>
              <a:alphaOff val="0"/>
            </a:schemeClr>
          </a:lnRef>
          <a:fillRef idx="3">
            <a:schemeClr val="accent1">
              <a:shade val="50000"/>
              <a:hueOff val="0"/>
              <a:satOff val="0"/>
              <a:lumOff val="0"/>
              <a:alphaOff val="0"/>
            </a:schemeClr>
          </a:fillRef>
          <a:effectRef idx="3">
            <a:schemeClr val="accent1">
              <a:shade val="50000"/>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algn="ctr" fontAlgn="base">
              <a:spcBef>
                <a:spcPct val="0"/>
              </a:spcBef>
              <a:spcAft>
                <a:spcPct val="0"/>
              </a:spcAft>
            </a:pPr>
            <a:r>
              <a:rPr lang="en-US" sz="1200" b="1">
                <a:solidFill>
                  <a:srgbClr val="000000"/>
                </a:solidFill>
                <a:latin typeface="Arial" panose="020B0604020202020204"/>
              </a:rPr>
              <a:t>Check VAT account balances and reclass if needed</a:t>
            </a:r>
          </a:p>
        </p:txBody>
      </p:sp>
      <p:sp>
        <p:nvSpPr>
          <p:cNvPr id="7" name="Arrow: Chevron 6">
            <a:extLst>
              <a:ext uri="{FF2B5EF4-FFF2-40B4-BE49-F238E27FC236}">
                <a16:creationId xmlns:a16="http://schemas.microsoft.com/office/drawing/2014/main" id="{2AD794A7-CE34-4F91-88D0-6067FEBAD549}"/>
              </a:ext>
            </a:extLst>
          </p:cNvPr>
          <p:cNvSpPr/>
          <p:nvPr/>
        </p:nvSpPr>
        <p:spPr>
          <a:xfrm>
            <a:off x="2084222" y="2431857"/>
            <a:ext cx="291814" cy="251429"/>
          </a:xfrm>
          <a:prstGeom prst="chevron">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a:solidFill>
                <a:schemeClr val="tx1"/>
              </a:solidFill>
            </a:endParaRPr>
          </a:p>
        </p:txBody>
      </p:sp>
      <p:sp>
        <p:nvSpPr>
          <p:cNvPr id="50" name="TextBox 49">
            <a:extLst>
              <a:ext uri="{FF2B5EF4-FFF2-40B4-BE49-F238E27FC236}">
                <a16:creationId xmlns:a16="http://schemas.microsoft.com/office/drawing/2014/main" id="{57502CB5-A902-4B8C-AAD8-B37C4C672E0E}"/>
              </a:ext>
            </a:extLst>
          </p:cNvPr>
          <p:cNvSpPr txBox="1"/>
          <p:nvPr/>
        </p:nvSpPr>
        <p:spPr>
          <a:xfrm>
            <a:off x="558224" y="1965622"/>
            <a:ext cx="5068339" cy="432775"/>
          </a:xfrm>
          <a:prstGeom prst="rect">
            <a:avLst/>
          </a:prstGeom>
          <a:noFill/>
        </p:spPr>
        <p:txBody>
          <a:bodyPr wrap="square" lIns="0" tIns="0" rIns="0" bIns="0" rtlCol="0">
            <a:noAutofit/>
          </a:bodyPr>
          <a:lstStyle/>
          <a:p>
            <a:pPr marL="108000" marR="0" lvl="0" indent="-108000" algn="l" defTabSz="914400" rtl="0" eaLnBrk="1" fontAlgn="auto" latinLnBrk="0" hangingPunct="1">
              <a:lnSpc>
                <a:spcPts val="1050"/>
              </a:lnSpc>
              <a:spcBef>
                <a:spcPts val="300"/>
              </a:spcBef>
              <a:spcAft>
                <a:spcPts val="0"/>
              </a:spcAft>
              <a:buClrTx/>
              <a:buSzTx/>
              <a:buFont typeface="Arial" panose="020B0604020202020204" pitchFamily="34" charset="0"/>
              <a:buChar char="•"/>
              <a:tabLst/>
              <a:defRPr/>
            </a:pPr>
            <a:r>
              <a:rPr lang="en-GB" sz="1050">
                <a:solidFill>
                  <a:srgbClr val="000000"/>
                </a:solidFill>
                <a:latin typeface="Calibri" panose="020F0502020204030204" pitchFamily="34" charset="0"/>
                <a:cs typeface="Calibri" panose="020F0502020204030204" pitchFamily="34" charset="0"/>
              </a:rPr>
              <a:t>In S/4HANA, the VAT period end process has not changed from ECC</a:t>
            </a:r>
            <a:endParaRPr kumimoji="0" lang="en-GB" sz="105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2" name="Rectangle 1">
            <a:extLst>
              <a:ext uri="{FF2B5EF4-FFF2-40B4-BE49-F238E27FC236}">
                <a16:creationId xmlns:a16="http://schemas.microsoft.com/office/drawing/2014/main" id="{99BD268B-C716-485A-AB0B-41CEF17BEB30}"/>
              </a:ext>
            </a:extLst>
          </p:cNvPr>
          <p:cNvSpPr/>
          <p:nvPr/>
        </p:nvSpPr>
        <p:spPr>
          <a:xfrm>
            <a:off x="3982010" y="3101903"/>
            <a:ext cx="1818426" cy="374718"/>
          </a:xfrm>
          <a:prstGeom prst="rect">
            <a:avLst/>
          </a:prstGeom>
          <a:noFill/>
        </p:spPr>
        <p:txBody>
          <a:bodyPr wrap="square" lIns="0" tIns="0" rIns="0" bIns="0" rtlCol="0">
            <a:noAutofit/>
          </a:bodyPr>
          <a:lstStyle/>
          <a:p>
            <a:pPr marL="108000" indent="-108000">
              <a:lnSpc>
                <a:spcPts val="1050"/>
              </a:lnSpc>
              <a:spcBef>
                <a:spcPts val="300"/>
              </a:spcBef>
              <a:buFont typeface="Arial" panose="020B0604020202020204" pitchFamily="34" charset="0"/>
              <a:buChar char="•"/>
            </a:pPr>
            <a:r>
              <a:rPr lang="en-GB" sz="1050">
                <a:solidFill>
                  <a:srgbClr val="000000"/>
                </a:solidFill>
                <a:latin typeface="Calibri" panose="020F0502020204030204" pitchFamily="34" charset="0"/>
                <a:cs typeface="Calibri" panose="020F0502020204030204" pitchFamily="34" charset="0"/>
              </a:rPr>
              <a:t>VAT Accounts are Open Item Management accounts, which should be cleared prior to Revaluation/Translation processes.</a:t>
            </a:r>
          </a:p>
          <a:p>
            <a:pPr marL="108000" indent="-108000">
              <a:lnSpc>
                <a:spcPts val="1050"/>
              </a:lnSpc>
              <a:spcBef>
                <a:spcPts val="300"/>
              </a:spcBef>
              <a:buFont typeface="Arial" panose="020B0604020202020204" pitchFamily="34" charset="0"/>
              <a:buChar char="•"/>
            </a:pPr>
            <a:r>
              <a:rPr lang="en-GB" sz="1050">
                <a:solidFill>
                  <a:srgbClr val="000000"/>
                </a:solidFill>
                <a:latin typeface="Calibri" panose="020F0502020204030204" pitchFamily="34" charset="0"/>
                <a:cs typeface="Calibri" panose="020F0502020204030204" pitchFamily="34" charset="0"/>
              </a:rPr>
              <a:t>The process is automated in FCC with a Test Run, followed by a note task to confirm successful test run, which then triggers the update run task</a:t>
            </a:r>
          </a:p>
        </p:txBody>
      </p:sp>
      <p:sp>
        <p:nvSpPr>
          <p:cNvPr id="30" name="Freeform: Shape 29">
            <a:extLst>
              <a:ext uri="{FF2B5EF4-FFF2-40B4-BE49-F238E27FC236}">
                <a16:creationId xmlns:a16="http://schemas.microsoft.com/office/drawing/2014/main" id="{EE353236-5DBF-40B3-B168-4E3715432A0D}"/>
              </a:ext>
            </a:extLst>
          </p:cNvPr>
          <p:cNvSpPr/>
          <p:nvPr/>
        </p:nvSpPr>
        <p:spPr>
          <a:xfrm>
            <a:off x="4222075" y="2202729"/>
            <a:ext cx="1495573" cy="759059"/>
          </a:xfrm>
          <a:custGeom>
            <a:avLst/>
            <a:gdLst>
              <a:gd name="connsiteX0" fmla="*/ 0 w 3076611"/>
              <a:gd name="connsiteY0" fmla="*/ 184597 h 1845966"/>
              <a:gd name="connsiteX1" fmla="*/ 184597 w 3076611"/>
              <a:gd name="connsiteY1" fmla="*/ 0 h 1845966"/>
              <a:gd name="connsiteX2" fmla="*/ 2892014 w 3076611"/>
              <a:gd name="connsiteY2" fmla="*/ 0 h 1845966"/>
              <a:gd name="connsiteX3" fmla="*/ 3076611 w 3076611"/>
              <a:gd name="connsiteY3" fmla="*/ 184597 h 1845966"/>
              <a:gd name="connsiteX4" fmla="*/ 3076611 w 3076611"/>
              <a:gd name="connsiteY4" fmla="*/ 1661369 h 1845966"/>
              <a:gd name="connsiteX5" fmla="*/ 2892014 w 3076611"/>
              <a:gd name="connsiteY5" fmla="*/ 1845966 h 1845966"/>
              <a:gd name="connsiteX6" fmla="*/ 184597 w 3076611"/>
              <a:gd name="connsiteY6" fmla="*/ 1845966 h 1845966"/>
              <a:gd name="connsiteX7" fmla="*/ 0 w 3076611"/>
              <a:gd name="connsiteY7" fmla="*/ 1661369 h 1845966"/>
              <a:gd name="connsiteX8" fmla="*/ 0 w 3076611"/>
              <a:gd name="connsiteY8" fmla="*/ 184597 h 1845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6611" h="1845966">
                <a:moveTo>
                  <a:pt x="0" y="184597"/>
                </a:moveTo>
                <a:cubicBezTo>
                  <a:pt x="0" y="82647"/>
                  <a:pt x="82647" y="0"/>
                  <a:pt x="184597" y="0"/>
                </a:cubicBezTo>
                <a:lnTo>
                  <a:pt x="2892014" y="0"/>
                </a:lnTo>
                <a:cubicBezTo>
                  <a:pt x="2993964" y="0"/>
                  <a:pt x="3076611" y="82647"/>
                  <a:pt x="3076611" y="184597"/>
                </a:cubicBezTo>
                <a:lnTo>
                  <a:pt x="3076611" y="1661369"/>
                </a:lnTo>
                <a:cubicBezTo>
                  <a:pt x="3076611" y="1763319"/>
                  <a:pt x="2993964" y="1845966"/>
                  <a:pt x="2892014" y="1845966"/>
                </a:cubicBezTo>
                <a:lnTo>
                  <a:pt x="184597" y="1845966"/>
                </a:lnTo>
                <a:cubicBezTo>
                  <a:pt x="82647" y="1845966"/>
                  <a:pt x="0" y="1763319"/>
                  <a:pt x="0" y="1661369"/>
                </a:cubicBezTo>
                <a:lnTo>
                  <a:pt x="0" y="184597"/>
                </a:lnTo>
                <a:close/>
              </a:path>
            </a:pathLst>
          </a:custGeom>
          <a:noFill/>
          <a:ln w="28575">
            <a:solidFill>
              <a:schemeClr val="accent3">
                <a:lumMod val="50000"/>
              </a:schemeClr>
            </a:solidFill>
          </a:ln>
        </p:spPr>
        <p:style>
          <a:lnRef idx="0">
            <a:schemeClr val="lt1">
              <a:hueOff val="0"/>
              <a:satOff val="0"/>
              <a:lumOff val="0"/>
              <a:alphaOff val="0"/>
            </a:schemeClr>
          </a:lnRef>
          <a:fillRef idx="3">
            <a:schemeClr val="accent1">
              <a:shade val="50000"/>
              <a:hueOff val="0"/>
              <a:satOff val="0"/>
              <a:lumOff val="0"/>
              <a:alphaOff val="0"/>
            </a:schemeClr>
          </a:fillRef>
          <a:effectRef idx="3">
            <a:schemeClr val="accent1">
              <a:shade val="50000"/>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1200" b="1">
                <a:solidFill>
                  <a:srgbClr val="000000"/>
                </a:solidFill>
                <a:latin typeface="Arial" panose="020B0604020202020204"/>
              </a:rPr>
              <a:t>Auto-clear VAT accounts via F.13</a:t>
            </a:r>
            <a:endParaRPr kumimoji="0" lang="en-US" sz="1200" b="1"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1" name="Arrow: Chevron 30">
            <a:extLst>
              <a:ext uri="{FF2B5EF4-FFF2-40B4-BE49-F238E27FC236}">
                <a16:creationId xmlns:a16="http://schemas.microsoft.com/office/drawing/2014/main" id="{5A403D17-98C7-4BB8-B1E6-65F980E33523}"/>
              </a:ext>
            </a:extLst>
          </p:cNvPr>
          <p:cNvSpPr/>
          <p:nvPr/>
        </p:nvSpPr>
        <p:spPr>
          <a:xfrm>
            <a:off x="3908426" y="2441960"/>
            <a:ext cx="291814" cy="251429"/>
          </a:xfrm>
          <a:prstGeom prst="chevron">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a:solidFill>
                <a:schemeClr val="tx1"/>
              </a:solidFill>
            </a:endParaRPr>
          </a:p>
        </p:txBody>
      </p:sp>
      <p:sp>
        <p:nvSpPr>
          <p:cNvPr id="32" name="TextBox 31">
            <a:extLst>
              <a:ext uri="{FF2B5EF4-FFF2-40B4-BE49-F238E27FC236}">
                <a16:creationId xmlns:a16="http://schemas.microsoft.com/office/drawing/2014/main" id="{69F09A9B-19A0-40CE-8039-FAAC3469F166}"/>
              </a:ext>
            </a:extLst>
          </p:cNvPr>
          <p:cNvSpPr txBox="1"/>
          <p:nvPr/>
        </p:nvSpPr>
        <p:spPr>
          <a:xfrm>
            <a:off x="6353379" y="6576724"/>
            <a:ext cx="6042681" cy="171844"/>
          </a:xfrm>
          <a:prstGeom prst="rect">
            <a:avLst/>
          </a:prstGeom>
          <a:noFill/>
        </p:spPr>
        <p:txBody>
          <a:bodyPr wrap="square" lIns="0" tIns="0" rIns="0" bIns="0" rtlCol="0">
            <a:noAutofit/>
          </a:bodyPr>
          <a:lstStyle/>
          <a:p>
            <a:pPr algn="l"/>
            <a:r>
              <a:rPr lang="en-GB" sz="900" i="1" baseline="30000" dirty="0">
                <a:solidFill>
                  <a:srgbClr val="FF0000"/>
                </a:solidFill>
              </a:rPr>
              <a:t>1) </a:t>
            </a:r>
            <a:r>
              <a:rPr lang="en-GB" sz="900" i="1" dirty="0"/>
              <a:t>Refer to existing GBS/JTBC process documentation for the country specific process steps. </a:t>
            </a:r>
          </a:p>
        </p:txBody>
      </p:sp>
      <p:pic>
        <p:nvPicPr>
          <p:cNvPr id="9" name="Picture 8">
            <a:extLst>
              <a:ext uri="{FF2B5EF4-FFF2-40B4-BE49-F238E27FC236}">
                <a16:creationId xmlns:a16="http://schemas.microsoft.com/office/drawing/2014/main" id="{73587DA5-C4B1-15F8-FB10-41E13B81EDAA}"/>
              </a:ext>
            </a:extLst>
          </p:cNvPr>
          <p:cNvPicPr>
            <a:picLocks noChangeAspect="1"/>
          </p:cNvPicPr>
          <p:nvPr/>
        </p:nvPicPr>
        <p:blipFill>
          <a:blip r:embed="rId3"/>
          <a:stretch>
            <a:fillRect/>
          </a:stretch>
        </p:blipFill>
        <p:spPr>
          <a:xfrm>
            <a:off x="6201004" y="1444318"/>
            <a:ext cx="5217695" cy="3157173"/>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0681741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9D32B-E882-42B8-86A7-2D4B3E5BF9E5}"/>
              </a:ext>
            </a:extLst>
          </p:cNvPr>
          <p:cNvSpPr>
            <a:spLocks noGrp="1"/>
          </p:cNvSpPr>
          <p:nvPr>
            <p:ph type="title"/>
          </p:nvPr>
        </p:nvSpPr>
        <p:spPr/>
        <p:txBody>
          <a:bodyPr/>
          <a:lstStyle/>
          <a:p>
            <a:r>
              <a:rPr lang="en-GB"/>
              <a:t>VAT Regrouping S_ALR_87012357: Execution</a:t>
            </a:r>
            <a:endParaRPr lang="en-US"/>
          </a:p>
        </p:txBody>
      </p:sp>
      <p:pic>
        <p:nvPicPr>
          <p:cNvPr id="3" name="Picture 2">
            <a:extLst>
              <a:ext uri="{FF2B5EF4-FFF2-40B4-BE49-F238E27FC236}">
                <a16:creationId xmlns:a16="http://schemas.microsoft.com/office/drawing/2014/main" id="{F98DFD87-C0D0-48E3-8FD2-3980246D6A36}"/>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457201" y="1388783"/>
            <a:ext cx="3148265" cy="3931362"/>
          </a:xfrm>
          <a:prstGeom prst="rect">
            <a:avLst/>
          </a:prstGeom>
          <a:effectLst>
            <a:outerShdw blurRad="50800" dist="38100" dir="2700000" algn="tl" rotWithShape="0">
              <a:prstClr val="black">
                <a:alpha val="40000"/>
              </a:prstClr>
            </a:outerShdw>
          </a:effectLst>
        </p:spPr>
      </p:pic>
      <p:pic>
        <p:nvPicPr>
          <p:cNvPr id="6" name="Picture 5">
            <a:extLst>
              <a:ext uri="{FF2B5EF4-FFF2-40B4-BE49-F238E27FC236}">
                <a16:creationId xmlns:a16="http://schemas.microsoft.com/office/drawing/2014/main" id="{3D6CEB09-00A0-4970-8F45-C36E4296EBC0}"/>
              </a:ext>
            </a:extLst>
          </p:cNvPr>
          <p:cNvPicPr>
            <a:picLocks noChangeAspect="1"/>
          </p:cNvPicPr>
          <p:nvPr/>
        </p:nvPicPr>
        <p:blipFill>
          <a:blip r:embed="rId4"/>
          <a:stretch>
            <a:fillRect/>
          </a:stretch>
        </p:blipFill>
        <p:spPr>
          <a:xfrm>
            <a:off x="2262768" y="4773433"/>
            <a:ext cx="2359108" cy="2040959"/>
          </a:xfrm>
          <a:prstGeom prst="rect">
            <a:avLst/>
          </a:prstGeom>
          <a:effectLst>
            <a:outerShdw blurRad="50800" dist="38100" dir="2700000" algn="tl" rotWithShape="0">
              <a:prstClr val="black">
                <a:alpha val="40000"/>
              </a:prstClr>
            </a:outerShdw>
          </a:effectLst>
        </p:spPr>
      </p:pic>
      <p:sp>
        <p:nvSpPr>
          <p:cNvPr id="7" name="Rectangle: Rounded Corners 6">
            <a:extLst>
              <a:ext uri="{FF2B5EF4-FFF2-40B4-BE49-F238E27FC236}">
                <a16:creationId xmlns:a16="http://schemas.microsoft.com/office/drawing/2014/main" id="{1CFF202A-A50B-4929-8169-9D3552BFC0E0}"/>
              </a:ext>
            </a:extLst>
          </p:cNvPr>
          <p:cNvSpPr/>
          <p:nvPr/>
        </p:nvSpPr>
        <p:spPr>
          <a:xfrm>
            <a:off x="2685009" y="1370311"/>
            <a:ext cx="665019" cy="174010"/>
          </a:xfrm>
          <a:prstGeom prst="roundRect">
            <a:avLst/>
          </a:prstGeom>
          <a:no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endPar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8" name="Rectangle: Rounded Corners 7">
            <a:extLst>
              <a:ext uri="{FF2B5EF4-FFF2-40B4-BE49-F238E27FC236}">
                <a16:creationId xmlns:a16="http://schemas.microsoft.com/office/drawing/2014/main" id="{95DE3F5F-645D-4002-8BA5-CA534673AB9A}"/>
              </a:ext>
            </a:extLst>
          </p:cNvPr>
          <p:cNvSpPr/>
          <p:nvPr/>
        </p:nvSpPr>
        <p:spPr>
          <a:xfrm>
            <a:off x="1293092" y="3727112"/>
            <a:ext cx="812800" cy="152161"/>
          </a:xfrm>
          <a:prstGeom prst="roundRect">
            <a:avLst>
              <a:gd name="adj" fmla="val 952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9" name="Rectangle: Rounded Corners 8">
            <a:extLst>
              <a:ext uri="{FF2B5EF4-FFF2-40B4-BE49-F238E27FC236}">
                <a16:creationId xmlns:a16="http://schemas.microsoft.com/office/drawing/2014/main" id="{BF1D0DE7-5E84-479E-A797-FE32D55D8301}"/>
              </a:ext>
            </a:extLst>
          </p:cNvPr>
          <p:cNvSpPr/>
          <p:nvPr/>
        </p:nvSpPr>
        <p:spPr>
          <a:xfrm>
            <a:off x="2792666" y="4928971"/>
            <a:ext cx="1779334" cy="1176265"/>
          </a:xfrm>
          <a:prstGeom prst="roundRect">
            <a:avLst>
              <a:gd name="adj" fmla="val 2461"/>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pic>
        <p:nvPicPr>
          <p:cNvPr id="10" name="Picture 9">
            <a:extLst>
              <a:ext uri="{FF2B5EF4-FFF2-40B4-BE49-F238E27FC236}">
                <a16:creationId xmlns:a16="http://schemas.microsoft.com/office/drawing/2014/main" id="{E8A7D5A3-9348-403B-85BD-F4C275EC932C}"/>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25000"/>
                    </a14:imgEffect>
                  </a14:imgLayer>
                </a14:imgProps>
              </a:ext>
            </a:extLst>
          </a:blip>
          <a:stretch>
            <a:fillRect/>
          </a:stretch>
        </p:blipFill>
        <p:spPr>
          <a:xfrm>
            <a:off x="5072779" y="1388783"/>
            <a:ext cx="4023218" cy="3772913"/>
          </a:xfrm>
          <a:prstGeom prst="rect">
            <a:avLst/>
          </a:prstGeom>
          <a:effectLst>
            <a:outerShdw blurRad="50800" dist="38100" dir="2700000" algn="tl" rotWithShape="0">
              <a:prstClr val="black">
                <a:alpha val="40000"/>
              </a:prstClr>
            </a:outerShdw>
          </a:effectLst>
        </p:spPr>
      </p:pic>
      <p:sp>
        <p:nvSpPr>
          <p:cNvPr id="11" name="Rectangle: Rounded Corners 10">
            <a:extLst>
              <a:ext uri="{FF2B5EF4-FFF2-40B4-BE49-F238E27FC236}">
                <a16:creationId xmlns:a16="http://schemas.microsoft.com/office/drawing/2014/main" id="{17C51355-E2B5-477B-8749-075A068ABCC8}"/>
              </a:ext>
            </a:extLst>
          </p:cNvPr>
          <p:cNvSpPr/>
          <p:nvPr/>
        </p:nvSpPr>
        <p:spPr>
          <a:xfrm>
            <a:off x="5084993" y="2178255"/>
            <a:ext cx="770859" cy="2983441"/>
          </a:xfrm>
          <a:prstGeom prst="roundRect">
            <a:avLst>
              <a:gd name="adj" fmla="val 4735"/>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pic>
        <p:nvPicPr>
          <p:cNvPr id="12" name="Picture 11">
            <a:extLst>
              <a:ext uri="{FF2B5EF4-FFF2-40B4-BE49-F238E27FC236}">
                <a16:creationId xmlns:a16="http://schemas.microsoft.com/office/drawing/2014/main" id="{6B4AA082-E789-453A-8DA9-BCAC42C27125}"/>
              </a:ext>
            </a:extLst>
          </p:cNvPr>
          <p:cNvPicPr>
            <a:picLocks noChangeAspect="1"/>
          </p:cNvPicPr>
          <p:nvPr/>
        </p:nvPicPr>
        <p:blipFill>
          <a:blip r:embed="rId7"/>
          <a:stretch>
            <a:fillRect/>
          </a:stretch>
        </p:blipFill>
        <p:spPr>
          <a:xfrm>
            <a:off x="5084993" y="5363035"/>
            <a:ext cx="6986934" cy="572797"/>
          </a:xfrm>
          <a:prstGeom prst="rect">
            <a:avLst/>
          </a:prstGeom>
          <a:effectLst>
            <a:outerShdw blurRad="50800" dist="38100" dir="2700000" algn="tl" rotWithShape="0">
              <a:prstClr val="black">
                <a:alpha val="40000"/>
              </a:prstClr>
            </a:outerShdw>
          </a:effectLst>
        </p:spPr>
      </p:pic>
      <p:sp>
        <p:nvSpPr>
          <p:cNvPr id="13" name="Arrow: Striped Right 12">
            <a:extLst>
              <a:ext uri="{FF2B5EF4-FFF2-40B4-BE49-F238E27FC236}">
                <a16:creationId xmlns:a16="http://schemas.microsoft.com/office/drawing/2014/main" id="{32562523-619C-4F04-941D-7666C1AC93B4}"/>
              </a:ext>
            </a:extLst>
          </p:cNvPr>
          <p:cNvSpPr/>
          <p:nvPr/>
        </p:nvSpPr>
        <p:spPr>
          <a:xfrm>
            <a:off x="4493875" y="4928971"/>
            <a:ext cx="578904" cy="155538"/>
          </a:xfrm>
          <a:prstGeom prst="stripedRightArrow">
            <a:avLst>
              <a:gd name="adj1" fmla="val 50000"/>
              <a:gd name="adj2" fmla="val 50000"/>
            </a:avLst>
          </a:prstGeom>
          <a:solidFill>
            <a:schemeClr val="accent3"/>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Arrow: Striped Right 14">
            <a:extLst>
              <a:ext uri="{FF2B5EF4-FFF2-40B4-BE49-F238E27FC236}">
                <a16:creationId xmlns:a16="http://schemas.microsoft.com/office/drawing/2014/main" id="{AEA61586-9D36-44E4-906F-72EF3E3AD6C6}"/>
              </a:ext>
            </a:extLst>
          </p:cNvPr>
          <p:cNvSpPr/>
          <p:nvPr/>
        </p:nvSpPr>
        <p:spPr>
          <a:xfrm>
            <a:off x="4493875" y="5780294"/>
            <a:ext cx="578904" cy="155538"/>
          </a:xfrm>
          <a:prstGeom prst="stripedRightArrow">
            <a:avLst>
              <a:gd name="adj1" fmla="val 50000"/>
              <a:gd name="adj2" fmla="val 50000"/>
            </a:avLst>
          </a:prstGeom>
          <a:solidFill>
            <a:schemeClr val="accent3"/>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6" name="Rectangle: Rounded Corners 15">
            <a:extLst>
              <a:ext uri="{FF2B5EF4-FFF2-40B4-BE49-F238E27FC236}">
                <a16:creationId xmlns:a16="http://schemas.microsoft.com/office/drawing/2014/main" id="{46BDEBA7-4B3C-4F10-8B87-467305260EC5}"/>
              </a:ext>
            </a:extLst>
          </p:cNvPr>
          <p:cNvSpPr/>
          <p:nvPr/>
        </p:nvSpPr>
        <p:spPr>
          <a:xfrm>
            <a:off x="11536218" y="5365111"/>
            <a:ext cx="528167" cy="195179"/>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SM35</a:t>
            </a:r>
          </a:p>
        </p:txBody>
      </p:sp>
      <p:sp>
        <p:nvSpPr>
          <p:cNvPr id="17" name="Rectangle 16">
            <a:extLst>
              <a:ext uri="{FF2B5EF4-FFF2-40B4-BE49-F238E27FC236}">
                <a16:creationId xmlns:a16="http://schemas.microsoft.com/office/drawing/2014/main" id="{5E89D726-B004-4847-B1DD-2094972EA23D}"/>
              </a:ext>
            </a:extLst>
          </p:cNvPr>
          <p:cNvSpPr/>
          <p:nvPr/>
        </p:nvSpPr>
        <p:spPr>
          <a:xfrm>
            <a:off x="9108212" y="1429769"/>
            <a:ext cx="2963715" cy="3708708"/>
          </a:xfrm>
          <a:prstGeom prst="rect">
            <a:avLst/>
          </a:prstGeom>
        </p:spPr>
        <p:txBody>
          <a:bodyPr wrap="square" anchor="t">
            <a:spAutoFit/>
          </a:bodyPr>
          <a:lstStyle/>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50" i="1" dirty="0">
                <a:solidFill>
                  <a:srgbClr val="000000"/>
                </a:solidFill>
                <a:latin typeface="Georgia"/>
              </a:rPr>
              <a:t>S_ALR_87012357 is </a:t>
            </a:r>
            <a:r>
              <a:rPr lang="en-GB" sz="1150" b="1" i="1" dirty="0">
                <a:solidFill>
                  <a:srgbClr val="000000"/>
                </a:solidFill>
                <a:latin typeface="Georgia"/>
              </a:rPr>
              <a:t>executed via FCC </a:t>
            </a:r>
            <a:r>
              <a:rPr lang="en-GB" sz="1150" i="1" dirty="0">
                <a:solidFill>
                  <a:srgbClr val="000000"/>
                </a:solidFill>
                <a:latin typeface="Georgia"/>
              </a:rPr>
              <a:t>as an entity level task using a Company Code variant specific to each company code.</a:t>
            </a:r>
          </a:p>
          <a:p>
            <a:pPr marL="171450" indent="-171450">
              <a:lnSpc>
                <a:spcPts val="1200"/>
              </a:lnSpc>
              <a:spcBef>
                <a:spcPts val="600"/>
              </a:spcBef>
              <a:buFont typeface="Arial" panose="020B0604020202020204" pitchFamily="34" charset="0"/>
              <a:buChar char="•"/>
              <a:defRPr/>
            </a:pPr>
            <a:r>
              <a:rPr kumimoji="0" lang="en-GB" sz="1150" b="0" i="1" u="none" strike="noStrike" kern="1200" cap="none" spc="0" normalizeH="0" baseline="0" noProof="0" dirty="0">
                <a:ln>
                  <a:noFill/>
                </a:ln>
                <a:solidFill>
                  <a:srgbClr val="000000"/>
                </a:solidFill>
                <a:effectLst/>
                <a:uLnTx/>
                <a:uFillTx/>
                <a:latin typeface="Georgia"/>
              </a:rPr>
              <a:t>There’s </a:t>
            </a:r>
            <a:r>
              <a:rPr kumimoji="0" lang="en-GB" sz="1150" b="1" i="1" u="none" strike="noStrike" kern="1200" cap="none" spc="0" normalizeH="0" baseline="0" noProof="0" dirty="0">
                <a:ln>
                  <a:noFill/>
                </a:ln>
                <a:solidFill>
                  <a:srgbClr val="000000"/>
                </a:solidFill>
                <a:effectLst/>
                <a:uLnTx/>
                <a:uFillTx/>
                <a:latin typeface="Georgia"/>
              </a:rPr>
              <a:t>no change </a:t>
            </a:r>
            <a:r>
              <a:rPr kumimoji="0" lang="en-GB" sz="1150" b="0" i="1" u="none" strike="noStrike" kern="1200" cap="none" spc="0" normalizeH="0" baseline="0" noProof="0" dirty="0">
                <a:ln>
                  <a:noFill/>
                </a:ln>
                <a:solidFill>
                  <a:srgbClr val="000000"/>
                </a:solidFill>
                <a:effectLst/>
                <a:uLnTx/>
                <a:uFillTx/>
                <a:latin typeface="Georgia"/>
              </a:rPr>
              <a:t>from ECC to S/4 HANA in executing this transaction. There should be a </a:t>
            </a:r>
            <a:r>
              <a:rPr kumimoji="0" lang="en-GB" sz="1150" b="1" i="1" u="none" strike="noStrike" kern="1200" cap="none" spc="0" normalizeH="0" baseline="0" noProof="0" dirty="0">
                <a:ln>
                  <a:noFill/>
                </a:ln>
                <a:solidFill>
                  <a:srgbClr val="000000"/>
                </a:solidFill>
                <a:effectLst/>
                <a:uLnTx/>
                <a:uFillTx/>
                <a:latin typeface="Georgia"/>
              </a:rPr>
              <a:t>variant set up for </a:t>
            </a:r>
            <a:r>
              <a:rPr lang="en-GB" sz="1150" b="1" i="1" dirty="0">
                <a:solidFill>
                  <a:srgbClr val="000000"/>
                </a:solidFill>
                <a:latin typeface="Georgia"/>
              </a:rPr>
              <a:t>each Tax Registration</a:t>
            </a:r>
            <a:r>
              <a:rPr lang="en-GB" sz="1150" i="1" dirty="0">
                <a:solidFill>
                  <a:srgbClr val="000000"/>
                </a:solidFill>
                <a:latin typeface="Georgia"/>
              </a:rPr>
              <a:t> for each entity. This is specially critical for company codes in Europe, which tend to have several tax registrations. </a:t>
            </a:r>
            <a:endParaRPr lang="en-GB" sz="1150" i="1" baseline="-25000" dirty="0">
              <a:solidFill>
                <a:srgbClr val="FF0000"/>
              </a:solidFill>
              <a:latin typeface="Georgia" panose="02040502050405020303" pitchFamily="18" charset="0"/>
            </a:endParaRP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kumimoji="0" lang="en-GB" sz="1150" b="0" i="1" u="none" strike="noStrike" kern="1200" cap="none" spc="0" normalizeH="0" baseline="0" noProof="0" dirty="0">
                <a:ln>
                  <a:noFill/>
                </a:ln>
                <a:solidFill>
                  <a:srgbClr val="000000"/>
                </a:solidFill>
                <a:effectLst/>
                <a:uLnTx/>
                <a:uFillTx/>
                <a:latin typeface="Georgia"/>
              </a:rPr>
              <a:t>The </a:t>
            </a:r>
            <a:r>
              <a:rPr kumimoji="0" lang="en-GB" sz="1150" b="1" i="1" u="none" strike="noStrike" kern="1200" cap="none" spc="0" normalizeH="0" baseline="0" noProof="0" dirty="0">
                <a:ln>
                  <a:noFill/>
                </a:ln>
                <a:solidFill>
                  <a:srgbClr val="000000"/>
                </a:solidFill>
                <a:effectLst/>
                <a:uLnTx/>
                <a:uFillTx/>
                <a:latin typeface="Georgia"/>
              </a:rPr>
              <a:t>Pos</a:t>
            </a:r>
            <a:r>
              <a:rPr lang="en-GB" sz="1150" b="1" i="1" dirty="0">
                <a:solidFill>
                  <a:srgbClr val="000000"/>
                </a:solidFill>
                <a:latin typeface="Georgia"/>
              </a:rPr>
              <a:t>ting Parameters </a:t>
            </a:r>
            <a:r>
              <a:rPr lang="en-GB" sz="1150" i="1" dirty="0">
                <a:solidFill>
                  <a:srgbClr val="000000"/>
                </a:solidFill>
                <a:latin typeface="Georgia"/>
              </a:rPr>
              <a:t>of the transaction determines the </a:t>
            </a:r>
            <a:r>
              <a:rPr lang="en-GB" sz="1150" b="1" i="1" dirty="0">
                <a:solidFill>
                  <a:srgbClr val="000000"/>
                </a:solidFill>
                <a:latin typeface="Georgia"/>
              </a:rPr>
              <a:t>VAT Due/Recoverable G/L account </a:t>
            </a:r>
            <a:r>
              <a:rPr lang="en-GB" sz="1150" i="1" dirty="0">
                <a:solidFill>
                  <a:srgbClr val="000000"/>
                </a:solidFill>
                <a:latin typeface="Georgia"/>
              </a:rPr>
              <a:t>to be used for VAT Regrouping. Make sure your variants always include the correct VAT Due/Recoverable account for each Tax Registration.</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50" i="1" dirty="0">
                <a:solidFill>
                  <a:srgbClr val="000000"/>
                </a:solidFill>
                <a:latin typeface="Georgia"/>
              </a:rPr>
              <a:t>The batch input SM35 task is also incorporated in FCC. GL team may display the session to check the posted document number. </a:t>
            </a:r>
            <a:endParaRPr lang="en-GB" sz="1150" b="0" i="1" u="none" strike="noStrike" kern="1200" cap="none" spc="0" normalizeH="0" baseline="0" noProof="0" dirty="0">
              <a:ln>
                <a:noFill/>
              </a:ln>
              <a:solidFill>
                <a:srgbClr val="000000"/>
              </a:solidFill>
              <a:effectLst/>
              <a:uLnTx/>
              <a:uFillTx/>
              <a:latin typeface="Georgia"/>
            </a:endParaRPr>
          </a:p>
        </p:txBody>
      </p:sp>
      <p:sp>
        <p:nvSpPr>
          <p:cNvPr id="18" name="Rectangle 17">
            <a:extLst>
              <a:ext uri="{FF2B5EF4-FFF2-40B4-BE49-F238E27FC236}">
                <a16:creationId xmlns:a16="http://schemas.microsoft.com/office/drawing/2014/main" id="{AEC610C8-9F3E-49D2-8D8A-CC111A557D5A}"/>
              </a:ext>
            </a:extLst>
          </p:cNvPr>
          <p:cNvSpPr/>
          <p:nvPr/>
        </p:nvSpPr>
        <p:spPr>
          <a:xfrm>
            <a:off x="4653129" y="6000312"/>
            <a:ext cx="6883089" cy="861774"/>
          </a:xfrm>
          <a:prstGeom prst="rect">
            <a:avLst/>
          </a:prstGeom>
          <a:solidFill>
            <a:schemeClr val="bg1"/>
          </a:solidFill>
        </p:spPr>
        <p:txBody>
          <a:bodyPr wrap="square">
            <a:spAutoFit/>
          </a:bodyPr>
          <a:lstStyle/>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50" i="1" dirty="0">
                <a:solidFill>
                  <a:srgbClr val="000000"/>
                </a:solidFill>
                <a:latin typeface="Georgia" panose="02040502050405020303" pitchFamily="18" charset="0"/>
              </a:rPr>
              <a:t>It is worth knowing that the </a:t>
            </a:r>
            <a:r>
              <a:rPr lang="en-GB" sz="1150" b="1" i="1" dirty="0">
                <a:solidFill>
                  <a:srgbClr val="000000"/>
                </a:solidFill>
                <a:latin typeface="Georgia" panose="02040502050405020303" pitchFamily="18" charset="0"/>
              </a:rPr>
              <a:t>Indirect Tax users in entities and GBS VAT Compliance teams </a:t>
            </a:r>
            <a:r>
              <a:rPr lang="en-GB" sz="1150" i="1" dirty="0">
                <a:solidFill>
                  <a:srgbClr val="000000"/>
                </a:solidFill>
                <a:latin typeface="Georgia" panose="02040502050405020303" pitchFamily="18" charset="0"/>
              </a:rPr>
              <a:t>also use the same report. When they execute it they would ensure the output layouts meet their reporting requirements which supports VAT returns, while </a:t>
            </a:r>
            <a:r>
              <a:rPr lang="en-GB" sz="1150" b="1" i="1" dirty="0">
                <a:solidFill>
                  <a:srgbClr val="000000"/>
                </a:solidFill>
                <a:latin typeface="Georgia" panose="02040502050405020303" pitchFamily="18" charset="0"/>
              </a:rPr>
              <a:t>no Posting Parameter</a:t>
            </a:r>
            <a:r>
              <a:rPr lang="en-GB" sz="1150" i="1" dirty="0">
                <a:solidFill>
                  <a:srgbClr val="000000"/>
                </a:solidFill>
                <a:latin typeface="Georgia" panose="02040502050405020303" pitchFamily="18" charset="0"/>
              </a:rPr>
              <a:t> is entered as shown on our screenshot because they run the report for reporting compliance purposes rather than for VAT Regrouping postings.</a:t>
            </a:r>
          </a:p>
        </p:txBody>
      </p:sp>
      <p:sp>
        <p:nvSpPr>
          <p:cNvPr id="5" name="Slide Number Placeholder 4">
            <a:extLst>
              <a:ext uri="{FF2B5EF4-FFF2-40B4-BE49-F238E27FC236}">
                <a16:creationId xmlns:a16="http://schemas.microsoft.com/office/drawing/2014/main" id="{EA74FD87-17D3-4C49-BE24-EB479635A75B}"/>
              </a:ext>
            </a:extLst>
          </p:cNvPr>
          <p:cNvSpPr>
            <a:spLocks noGrp="1"/>
          </p:cNvSpPr>
          <p:nvPr>
            <p:ph type="sldNum" sz="quarter" idx="12"/>
          </p:nvPr>
        </p:nvSpPr>
        <p:spPr/>
        <p:txBody>
          <a:bodyPr/>
          <a:lstStyle/>
          <a:p>
            <a:fld id="{F4C94289-3309-4C35-850A-56FD49B3E346}" type="slidenum">
              <a:rPr lang="en-GB" smtClean="0"/>
              <a:t>3</a:t>
            </a:fld>
            <a:endParaRPr lang="en-GB"/>
          </a:p>
        </p:txBody>
      </p:sp>
    </p:spTree>
    <p:extLst>
      <p:ext uri="{BB962C8B-B14F-4D97-AF65-F5344CB8AC3E}">
        <p14:creationId xmlns:p14="http://schemas.microsoft.com/office/powerpoint/2010/main" val="10162944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7D109AB-CFE4-9863-9789-4E73A39D530C}"/>
              </a:ext>
            </a:extLst>
          </p:cNvPr>
          <p:cNvPicPr>
            <a:picLocks noChangeAspect="1"/>
          </p:cNvPicPr>
          <p:nvPr/>
        </p:nvPicPr>
        <p:blipFill>
          <a:blip r:embed="rId2"/>
          <a:stretch>
            <a:fillRect/>
          </a:stretch>
        </p:blipFill>
        <p:spPr>
          <a:xfrm>
            <a:off x="535709" y="1367551"/>
            <a:ext cx="8270332" cy="3747183"/>
          </a:xfrm>
          <a:prstGeom prst="rect">
            <a:avLst/>
          </a:prstGeom>
          <a:effectLst>
            <a:outerShdw blurRad="50800" dist="38100" dir="2700000" algn="tl" rotWithShape="0">
              <a:prstClr val="black">
                <a:alpha val="40000"/>
              </a:prstClr>
            </a:outerShdw>
          </a:effectLst>
        </p:spPr>
      </p:pic>
      <p:sp>
        <p:nvSpPr>
          <p:cNvPr id="2" name="Title 1">
            <a:extLst>
              <a:ext uri="{FF2B5EF4-FFF2-40B4-BE49-F238E27FC236}">
                <a16:creationId xmlns:a16="http://schemas.microsoft.com/office/drawing/2014/main" id="{8109D32B-E882-42B8-86A7-2D4B3E5BF9E5}"/>
              </a:ext>
            </a:extLst>
          </p:cNvPr>
          <p:cNvSpPr>
            <a:spLocks noGrp="1"/>
          </p:cNvSpPr>
          <p:nvPr>
            <p:ph type="title"/>
          </p:nvPr>
        </p:nvSpPr>
        <p:spPr/>
        <p:txBody>
          <a:bodyPr/>
          <a:lstStyle/>
          <a:p>
            <a:r>
              <a:rPr lang="en-GB"/>
              <a:t>VAT Regrouping S_ALR_87012357: Postings</a:t>
            </a:r>
            <a:endParaRPr lang="en-US"/>
          </a:p>
        </p:txBody>
      </p:sp>
      <p:sp>
        <p:nvSpPr>
          <p:cNvPr id="5" name="Slide Number Placeholder 4">
            <a:extLst>
              <a:ext uri="{FF2B5EF4-FFF2-40B4-BE49-F238E27FC236}">
                <a16:creationId xmlns:a16="http://schemas.microsoft.com/office/drawing/2014/main" id="{EA74FD87-17D3-4C49-BE24-EB479635A75B}"/>
              </a:ext>
            </a:extLst>
          </p:cNvPr>
          <p:cNvSpPr>
            <a:spLocks noGrp="1"/>
          </p:cNvSpPr>
          <p:nvPr>
            <p:ph type="sldNum" sz="quarter" idx="12"/>
          </p:nvPr>
        </p:nvSpPr>
        <p:spPr/>
        <p:txBody>
          <a:bodyPr/>
          <a:lstStyle/>
          <a:p>
            <a:fld id="{F4C94289-3309-4C35-850A-56FD49B3E346}" type="slidenum">
              <a:rPr lang="en-GB" smtClean="0"/>
              <a:t>4</a:t>
            </a:fld>
            <a:endParaRPr lang="en-GB"/>
          </a:p>
        </p:txBody>
      </p:sp>
      <p:sp>
        <p:nvSpPr>
          <p:cNvPr id="7" name="Rectangle: Rounded Corners 6">
            <a:extLst>
              <a:ext uri="{FF2B5EF4-FFF2-40B4-BE49-F238E27FC236}">
                <a16:creationId xmlns:a16="http://schemas.microsoft.com/office/drawing/2014/main" id="{1BD9BAB7-E4D7-451F-96F4-E5A1CE680CAC}"/>
              </a:ext>
            </a:extLst>
          </p:cNvPr>
          <p:cNvSpPr/>
          <p:nvPr/>
        </p:nvSpPr>
        <p:spPr>
          <a:xfrm>
            <a:off x="535709" y="1417781"/>
            <a:ext cx="1948873" cy="226292"/>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FB03: Display FI Documents</a:t>
            </a:r>
          </a:p>
        </p:txBody>
      </p:sp>
      <p:sp>
        <p:nvSpPr>
          <p:cNvPr id="8" name="Rectangle: Rounded Corners 7">
            <a:extLst>
              <a:ext uri="{FF2B5EF4-FFF2-40B4-BE49-F238E27FC236}">
                <a16:creationId xmlns:a16="http://schemas.microsoft.com/office/drawing/2014/main" id="{151A15DD-F146-44A8-BA0B-3AC0FB7E94EB}"/>
              </a:ext>
            </a:extLst>
          </p:cNvPr>
          <p:cNvSpPr/>
          <p:nvPr/>
        </p:nvSpPr>
        <p:spPr>
          <a:xfrm>
            <a:off x="2258008" y="1736335"/>
            <a:ext cx="317241" cy="226292"/>
          </a:xfrm>
          <a:prstGeom prst="roundRect">
            <a:avLst>
              <a:gd name="adj" fmla="val 952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2" name="Rectangle: Rounded Corners 11">
            <a:extLst>
              <a:ext uri="{FF2B5EF4-FFF2-40B4-BE49-F238E27FC236}">
                <a16:creationId xmlns:a16="http://schemas.microsoft.com/office/drawing/2014/main" id="{5E659863-EAEF-4135-BE04-8232F3D25B5F}"/>
              </a:ext>
            </a:extLst>
          </p:cNvPr>
          <p:cNvSpPr/>
          <p:nvPr/>
        </p:nvSpPr>
        <p:spPr>
          <a:xfrm>
            <a:off x="6922656" y="4073476"/>
            <a:ext cx="1006762" cy="161397"/>
          </a:xfrm>
          <a:prstGeom prst="roundRect">
            <a:avLst>
              <a:gd name="adj" fmla="val 952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4" name="Rectangle: Rounded Corners 13">
            <a:extLst>
              <a:ext uri="{FF2B5EF4-FFF2-40B4-BE49-F238E27FC236}">
                <a16:creationId xmlns:a16="http://schemas.microsoft.com/office/drawing/2014/main" id="{2A959642-9420-4FB0-AC6C-6E0451B1ED2C}"/>
              </a:ext>
            </a:extLst>
          </p:cNvPr>
          <p:cNvSpPr/>
          <p:nvPr/>
        </p:nvSpPr>
        <p:spPr>
          <a:xfrm>
            <a:off x="5089238" y="2994505"/>
            <a:ext cx="1096958" cy="177903"/>
          </a:xfrm>
          <a:prstGeom prst="roundRect">
            <a:avLst>
              <a:gd name="adj" fmla="val 952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5" name="Rectangle 14">
            <a:extLst>
              <a:ext uri="{FF2B5EF4-FFF2-40B4-BE49-F238E27FC236}">
                <a16:creationId xmlns:a16="http://schemas.microsoft.com/office/drawing/2014/main" id="{BF92F833-F8A8-4424-BEA7-95B5A2D4B195}"/>
              </a:ext>
            </a:extLst>
          </p:cNvPr>
          <p:cNvSpPr/>
          <p:nvPr/>
        </p:nvSpPr>
        <p:spPr>
          <a:xfrm>
            <a:off x="422705" y="5157686"/>
            <a:ext cx="11526982" cy="1400383"/>
          </a:xfrm>
          <a:prstGeom prst="rect">
            <a:avLst/>
          </a:prstGeom>
          <a:noFill/>
        </p:spPr>
        <p:txBody>
          <a:bodyPr wrap="square">
            <a:spAutoFit/>
          </a:bodyPr>
          <a:lstStyle/>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50" i="1" dirty="0">
                <a:latin typeface="Georgia" panose="02040502050405020303" pitchFamily="18" charset="0"/>
              </a:rPr>
              <a:t>You can find the VAT Regrouping document number from the processed SM35 session or search in FB03 using the unique features of such document, e.g. the Document Type, Session Name, Tcode, etc., along with the Posting Date, Document Date, etc. information. As you can see from the above screenshot, the document shows that it was posted by the FCC account (</a:t>
            </a:r>
            <a:r>
              <a:rPr lang="en-GB" sz="1150" i="1" dirty="0" err="1">
                <a:latin typeface="Georgia" panose="02040502050405020303" pitchFamily="18" charset="0"/>
              </a:rPr>
              <a:t>WAWFCCGl</a:t>
            </a:r>
            <a:r>
              <a:rPr lang="en-GB" sz="1150" i="1" dirty="0">
                <a:latin typeface="Georgia" panose="02040502050405020303" pitchFamily="18" charset="0"/>
              </a:rPr>
              <a:t> for Warsaw GBS), under the session name defined in the variant used in the S_ALR_87012357 task in FCC.</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50" i="1" dirty="0">
                <a:latin typeface="Georgia" panose="02040502050405020303" pitchFamily="18" charset="0"/>
              </a:rPr>
              <a:t>T-Code FB41 is used because automatic Input and Output VAT accounts do not allow direct posting without tax code via any other T-Code.</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50" i="1" dirty="0">
                <a:latin typeface="Georgia" panose="02040502050405020303" pitchFamily="18" charset="0"/>
              </a:rPr>
              <a:t>The VAT Regrouping documents are posted ledger-through, as you can see from the above screenshot, with blank “Ledger Group”.</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50" i="1" dirty="0">
                <a:latin typeface="Georgia" panose="02040502050405020303" pitchFamily="18" charset="0"/>
              </a:rPr>
              <a:t>In S/4 HANA, all Balance Sheet Accounts are posted with Profit Centers, which are also present in the VAT Regrouping postings. Please note that when you display in Ledger View for each ledger, you will see the Document Splitting effect as part of the Market Free Cash Flow requirement.  </a:t>
            </a:r>
          </a:p>
        </p:txBody>
      </p:sp>
      <p:pic>
        <p:nvPicPr>
          <p:cNvPr id="20" name="Picture 19">
            <a:extLst>
              <a:ext uri="{FF2B5EF4-FFF2-40B4-BE49-F238E27FC236}">
                <a16:creationId xmlns:a16="http://schemas.microsoft.com/office/drawing/2014/main" id="{FB62F622-D1D6-D6C3-7D62-C16D85781421}"/>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8615479" y="1555513"/>
            <a:ext cx="3305957" cy="3055885"/>
          </a:xfrm>
          <a:prstGeom prst="rect">
            <a:avLst/>
          </a:prstGeom>
          <a:effectLst>
            <a:outerShdw blurRad="50800" dist="38100" dir="2700000" algn="tl" rotWithShape="0">
              <a:prstClr val="black">
                <a:alpha val="40000"/>
              </a:prstClr>
            </a:outerShdw>
          </a:effectLst>
        </p:spPr>
      </p:pic>
      <p:sp>
        <p:nvSpPr>
          <p:cNvPr id="16" name="Rectangle: Rounded Corners 15">
            <a:extLst>
              <a:ext uri="{FF2B5EF4-FFF2-40B4-BE49-F238E27FC236}">
                <a16:creationId xmlns:a16="http://schemas.microsoft.com/office/drawing/2014/main" id="{85BABDFF-D291-403A-89A1-03DB8D0D11D1}"/>
              </a:ext>
            </a:extLst>
          </p:cNvPr>
          <p:cNvSpPr/>
          <p:nvPr/>
        </p:nvSpPr>
        <p:spPr>
          <a:xfrm>
            <a:off x="8806041" y="1882572"/>
            <a:ext cx="1722299" cy="160109"/>
          </a:xfrm>
          <a:prstGeom prst="roundRect">
            <a:avLst>
              <a:gd name="adj" fmla="val 952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3" name="Rectangle: Rounded Corners 12">
            <a:extLst>
              <a:ext uri="{FF2B5EF4-FFF2-40B4-BE49-F238E27FC236}">
                <a16:creationId xmlns:a16="http://schemas.microsoft.com/office/drawing/2014/main" id="{C412CB32-0DEF-4BA5-978B-9645345FCB30}"/>
              </a:ext>
            </a:extLst>
          </p:cNvPr>
          <p:cNvSpPr/>
          <p:nvPr/>
        </p:nvSpPr>
        <p:spPr>
          <a:xfrm>
            <a:off x="9099639" y="3669759"/>
            <a:ext cx="1309954" cy="163089"/>
          </a:xfrm>
          <a:prstGeom prst="roundRect">
            <a:avLst>
              <a:gd name="adj" fmla="val 952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cxnSp>
        <p:nvCxnSpPr>
          <p:cNvPr id="10" name="Straight Arrow Connector 9">
            <a:extLst>
              <a:ext uri="{FF2B5EF4-FFF2-40B4-BE49-F238E27FC236}">
                <a16:creationId xmlns:a16="http://schemas.microsoft.com/office/drawing/2014/main" id="{AE9F3D6F-6480-4D17-9B19-5A8D7994AAF5}"/>
              </a:ext>
            </a:extLst>
          </p:cNvPr>
          <p:cNvCxnSpPr>
            <a:cxnSpLocks/>
            <a:stCxn id="8" idx="3"/>
          </p:cNvCxnSpPr>
          <p:nvPr/>
        </p:nvCxnSpPr>
        <p:spPr>
          <a:xfrm flipV="1">
            <a:off x="2575249" y="1662470"/>
            <a:ext cx="6916853" cy="187011"/>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Rectangle: Rounded Corners 22">
            <a:extLst>
              <a:ext uri="{FF2B5EF4-FFF2-40B4-BE49-F238E27FC236}">
                <a16:creationId xmlns:a16="http://schemas.microsoft.com/office/drawing/2014/main" id="{FC224C8E-0EB3-72A5-2137-90A22CD7720C}"/>
              </a:ext>
            </a:extLst>
          </p:cNvPr>
          <p:cNvSpPr/>
          <p:nvPr/>
        </p:nvSpPr>
        <p:spPr>
          <a:xfrm>
            <a:off x="10496978" y="3832848"/>
            <a:ext cx="1309954" cy="163089"/>
          </a:xfrm>
          <a:prstGeom prst="roundRect">
            <a:avLst>
              <a:gd name="adj" fmla="val 952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4" name="Rectangle: Rounded Corners 23">
            <a:extLst>
              <a:ext uri="{FF2B5EF4-FFF2-40B4-BE49-F238E27FC236}">
                <a16:creationId xmlns:a16="http://schemas.microsoft.com/office/drawing/2014/main" id="{61DA2F86-8745-640A-D3B6-655D890C1292}"/>
              </a:ext>
            </a:extLst>
          </p:cNvPr>
          <p:cNvSpPr/>
          <p:nvPr/>
        </p:nvSpPr>
        <p:spPr>
          <a:xfrm>
            <a:off x="9012213" y="3326402"/>
            <a:ext cx="1102171" cy="150158"/>
          </a:xfrm>
          <a:prstGeom prst="roundRect">
            <a:avLst>
              <a:gd name="adj" fmla="val 952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23753189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9D32B-E882-42B8-86A7-2D4B3E5BF9E5}"/>
              </a:ext>
            </a:extLst>
          </p:cNvPr>
          <p:cNvSpPr>
            <a:spLocks noGrp="1"/>
          </p:cNvSpPr>
          <p:nvPr>
            <p:ph type="title"/>
          </p:nvPr>
        </p:nvSpPr>
        <p:spPr/>
        <p:txBody>
          <a:bodyPr/>
          <a:lstStyle/>
          <a:p>
            <a:r>
              <a:rPr lang="en-GB"/>
              <a:t>Check VAT Account Balances and GL Journal</a:t>
            </a:r>
          </a:p>
        </p:txBody>
      </p:sp>
      <p:sp>
        <p:nvSpPr>
          <p:cNvPr id="5" name="Slide Number Placeholder 4">
            <a:extLst>
              <a:ext uri="{FF2B5EF4-FFF2-40B4-BE49-F238E27FC236}">
                <a16:creationId xmlns:a16="http://schemas.microsoft.com/office/drawing/2014/main" id="{EA74FD87-17D3-4C49-BE24-EB479635A75B}"/>
              </a:ext>
            </a:extLst>
          </p:cNvPr>
          <p:cNvSpPr>
            <a:spLocks noGrp="1"/>
          </p:cNvSpPr>
          <p:nvPr>
            <p:ph type="sldNum" sz="quarter" idx="12"/>
          </p:nvPr>
        </p:nvSpPr>
        <p:spPr/>
        <p:txBody>
          <a:bodyPr/>
          <a:lstStyle/>
          <a:p>
            <a:fld id="{F4C94289-3309-4C35-850A-56FD49B3E346}" type="slidenum">
              <a:rPr lang="en-GB" smtClean="0"/>
              <a:t>5</a:t>
            </a:fld>
            <a:endParaRPr lang="en-GB"/>
          </a:p>
        </p:txBody>
      </p:sp>
      <p:pic>
        <p:nvPicPr>
          <p:cNvPr id="3" name="Picture 2">
            <a:extLst>
              <a:ext uri="{FF2B5EF4-FFF2-40B4-BE49-F238E27FC236}">
                <a16:creationId xmlns:a16="http://schemas.microsoft.com/office/drawing/2014/main" id="{8401FC7A-DCCD-4490-8055-A1EF39975D92}"/>
              </a:ext>
            </a:extLst>
          </p:cNvPr>
          <p:cNvPicPr>
            <a:picLocks noChangeAspect="1"/>
          </p:cNvPicPr>
          <p:nvPr/>
        </p:nvPicPr>
        <p:blipFill>
          <a:blip r:embed="rId2"/>
          <a:stretch>
            <a:fillRect/>
          </a:stretch>
        </p:blipFill>
        <p:spPr>
          <a:xfrm>
            <a:off x="526419" y="1403379"/>
            <a:ext cx="6131944" cy="4129203"/>
          </a:xfrm>
          <a:prstGeom prst="rect">
            <a:avLst/>
          </a:prstGeom>
          <a:effectLst>
            <a:outerShdw blurRad="50800" dist="38100" dir="2700000" algn="tl" rotWithShape="0">
              <a:prstClr val="black">
                <a:alpha val="40000"/>
              </a:prstClr>
            </a:outerShdw>
          </a:effectLst>
        </p:spPr>
      </p:pic>
      <p:sp>
        <p:nvSpPr>
          <p:cNvPr id="6" name="TextBox 5">
            <a:extLst>
              <a:ext uri="{FF2B5EF4-FFF2-40B4-BE49-F238E27FC236}">
                <a16:creationId xmlns:a16="http://schemas.microsoft.com/office/drawing/2014/main" id="{2A559917-27AD-4880-9D81-B3C3C4D7D47D}"/>
              </a:ext>
            </a:extLst>
          </p:cNvPr>
          <p:cNvSpPr txBox="1"/>
          <p:nvPr/>
        </p:nvSpPr>
        <p:spPr>
          <a:xfrm>
            <a:off x="7018780" y="6114959"/>
            <a:ext cx="4657281" cy="365124"/>
          </a:xfrm>
          <a:prstGeom prst="rect">
            <a:avLst/>
          </a:prstGeom>
          <a:noFill/>
        </p:spPr>
        <p:txBody>
          <a:bodyPr wrap="square" lIns="0" tIns="0" rIns="0" bIns="0" rtlCol="0">
            <a:noAutofit/>
          </a:bodyPr>
          <a:lstStyle/>
          <a:p>
            <a:pPr algn="l"/>
            <a:r>
              <a:rPr lang="en-GB" sz="900" i="1" baseline="30000">
                <a:solidFill>
                  <a:srgbClr val="FF0000"/>
                </a:solidFill>
              </a:rPr>
              <a:t>1) </a:t>
            </a:r>
            <a:r>
              <a:rPr lang="en-GB" sz="900" i="1"/>
              <a:t>Refer Parallel Ledger training materials for the G/L Journal process in S/4HANA.</a:t>
            </a:r>
          </a:p>
        </p:txBody>
      </p:sp>
      <p:sp>
        <p:nvSpPr>
          <p:cNvPr id="7" name="Rectangle: Rounded Corners 6">
            <a:extLst>
              <a:ext uri="{FF2B5EF4-FFF2-40B4-BE49-F238E27FC236}">
                <a16:creationId xmlns:a16="http://schemas.microsoft.com/office/drawing/2014/main" id="{349C1E73-18CB-4211-B4D8-89BAFA7DEDAF}"/>
              </a:ext>
            </a:extLst>
          </p:cNvPr>
          <p:cNvSpPr/>
          <p:nvPr/>
        </p:nvSpPr>
        <p:spPr>
          <a:xfrm>
            <a:off x="5403273" y="1430550"/>
            <a:ext cx="1255090" cy="226292"/>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ZFGL_CTA Report</a:t>
            </a:r>
          </a:p>
        </p:txBody>
      </p:sp>
      <p:sp>
        <p:nvSpPr>
          <p:cNvPr id="8" name="Rectangle 7">
            <a:extLst>
              <a:ext uri="{FF2B5EF4-FFF2-40B4-BE49-F238E27FC236}">
                <a16:creationId xmlns:a16="http://schemas.microsoft.com/office/drawing/2014/main" id="{137AFE1C-2FB7-4C07-BA1A-3210B13F8B11}"/>
              </a:ext>
            </a:extLst>
          </p:cNvPr>
          <p:cNvSpPr/>
          <p:nvPr/>
        </p:nvSpPr>
        <p:spPr>
          <a:xfrm>
            <a:off x="6759074" y="1656842"/>
            <a:ext cx="5002998" cy="2631490"/>
          </a:xfrm>
          <a:prstGeom prst="rect">
            <a:avLst/>
          </a:prstGeom>
          <a:noFill/>
        </p:spPr>
        <p:txBody>
          <a:bodyPr wrap="square">
            <a:spAutoFit/>
          </a:bodyPr>
          <a:lstStyle/>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50" i="1" dirty="0">
                <a:latin typeface="Georgia" panose="02040502050405020303" pitchFamily="18" charset="0"/>
              </a:rPr>
              <a:t>Prior to automatic clearing of Input/Output VAT accounts, GBS/JTBC perform a check of LC1 balance in these automatically posted VAT accounts. Technically many reports in the system can be used, such as ZFGL_CTA, which is demonstrated here.</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50" i="1" dirty="0">
                <a:latin typeface="Georgia" panose="02040502050405020303" pitchFamily="18" charset="0"/>
              </a:rPr>
              <a:t>The check can be performed either before or after the test run of F.13, because if there are LC1 balances left in </a:t>
            </a:r>
            <a:r>
              <a:rPr lang="en-GB" sz="1150" i="1" dirty="0" err="1">
                <a:latin typeface="Georgia" panose="02040502050405020303" pitchFamily="18" charset="0"/>
              </a:rPr>
              <a:t>Input/Output</a:t>
            </a:r>
            <a:r>
              <a:rPr lang="en-GB" sz="1150" i="1" dirty="0">
                <a:latin typeface="Georgia" panose="02040502050405020303" pitchFamily="18" charset="0"/>
              </a:rPr>
              <a:t> VAT accounts, the test run of F.13 will show that they can’t be cleared.</a:t>
            </a:r>
          </a:p>
          <a:p>
            <a:pPr marL="171450" indent="-171450">
              <a:lnSpc>
                <a:spcPts val="1200"/>
              </a:lnSpc>
              <a:spcBef>
                <a:spcPts val="600"/>
              </a:spcBef>
              <a:buFont typeface="Arial" panose="020B0604020202020204" pitchFamily="34" charset="0"/>
              <a:buChar char="•"/>
              <a:defRPr/>
            </a:pPr>
            <a:r>
              <a:rPr lang="en-GB" sz="1150" i="1" dirty="0">
                <a:latin typeface="Georgia" panose="02040502050405020303" pitchFamily="18" charset="0"/>
              </a:rPr>
              <a:t>If LC1 balances are found, then a MyRequest GL Journal </a:t>
            </a:r>
            <a:r>
              <a:rPr lang="en-GB" sz="1150" i="1" baseline="30000" dirty="0">
                <a:solidFill>
                  <a:srgbClr val="FF0000"/>
                </a:solidFill>
                <a:latin typeface="Georgia" panose="02040502050405020303" pitchFamily="18" charset="0"/>
              </a:rPr>
              <a:t>1) </a:t>
            </a:r>
            <a:r>
              <a:rPr lang="en-GB" sz="1150" i="1" dirty="0">
                <a:latin typeface="Georgia" panose="02040502050405020303" pitchFamily="18" charset="0"/>
              </a:rPr>
              <a:t>template needs to be raised and posted to remove these balances. This is currently done by GBS WAW and MNL for their entities, while GBS St. Pete advises their entities to submit the correction MyRequest template.</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50" i="1" dirty="0">
                <a:latin typeface="Georgia" panose="02040502050405020303" pitchFamily="18" charset="0"/>
              </a:rPr>
              <a:t>After the GL Journal, you can re-run ZFGL_CTA, which should show a similar picture like the screenshot, i.e. all local currency balances in VAT Input and Output Accounts should be zero.</a:t>
            </a:r>
          </a:p>
        </p:txBody>
      </p:sp>
      <p:sp>
        <p:nvSpPr>
          <p:cNvPr id="9" name="Rectangle: Rounded Corners 8">
            <a:extLst>
              <a:ext uri="{FF2B5EF4-FFF2-40B4-BE49-F238E27FC236}">
                <a16:creationId xmlns:a16="http://schemas.microsoft.com/office/drawing/2014/main" id="{9A881985-F2E5-479B-93A8-4517CAA82B98}"/>
              </a:ext>
            </a:extLst>
          </p:cNvPr>
          <p:cNvSpPr/>
          <p:nvPr/>
        </p:nvSpPr>
        <p:spPr>
          <a:xfrm>
            <a:off x="1874983" y="3306583"/>
            <a:ext cx="4451925" cy="226292"/>
          </a:xfrm>
          <a:prstGeom prst="roundRect">
            <a:avLst>
              <a:gd name="adj" fmla="val 952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0" name="Rectangle: Rounded Corners 9">
            <a:extLst>
              <a:ext uri="{FF2B5EF4-FFF2-40B4-BE49-F238E27FC236}">
                <a16:creationId xmlns:a16="http://schemas.microsoft.com/office/drawing/2014/main" id="{1374A48D-BDF8-4942-8E91-F6E0FF1DD308}"/>
              </a:ext>
            </a:extLst>
          </p:cNvPr>
          <p:cNvSpPr/>
          <p:nvPr/>
        </p:nvSpPr>
        <p:spPr>
          <a:xfrm>
            <a:off x="1874982" y="4306436"/>
            <a:ext cx="4451925" cy="226292"/>
          </a:xfrm>
          <a:prstGeom prst="roundRect">
            <a:avLst>
              <a:gd name="adj" fmla="val 952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31398985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9D32B-E882-42B8-86A7-2D4B3E5BF9E5}"/>
              </a:ext>
            </a:extLst>
          </p:cNvPr>
          <p:cNvSpPr>
            <a:spLocks noGrp="1"/>
          </p:cNvSpPr>
          <p:nvPr>
            <p:ph type="title"/>
          </p:nvPr>
        </p:nvSpPr>
        <p:spPr/>
        <p:txBody>
          <a:bodyPr/>
          <a:lstStyle/>
          <a:p>
            <a:r>
              <a:rPr lang="en-GB"/>
              <a:t>VAT Account Automatic Clearing</a:t>
            </a:r>
            <a:endParaRPr lang="en-US"/>
          </a:p>
        </p:txBody>
      </p:sp>
      <p:sp>
        <p:nvSpPr>
          <p:cNvPr id="5" name="Slide Number Placeholder 4">
            <a:extLst>
              <a:ext uri="{FF2B5EF4-FFF2-40B4-BE49-F238E27FC236}">
                <a16:creationId xmlns:a16="http://schemas.microsoft.com/office/drawing/2014/main" id="{EA74FD87-17D3-4C49-BE24-EB479635A75B}"/>
              </a:ext>
            </a:extLst>
          </p:cNvPr>
          <p:cNvSpPr>
            <a:spLocks noGrp="1"/>
          </p:cNvSpPr>
          <p:nvPr>
            <p:ph type="sldNum" sz="quarter" idx="12"/>
          </p:nvPr>
        </p:nvSpPr>
        <p:spPr/>
        <p:txBody>
          <a:bodyPr/>
          <a:lstStyle/>
          <a:p>
            <a:fld id="{F4C94289-3309-4C35-850A-56FD49B3E346}" type="slidenum">
              <a:rPr lang="en-GB" smtClean="0"/>
              <a:t>6</a:t>
            </a:fld>
            <a:endParaRPr lang="en-GB"/>
          </a:p>
        </p:txBody>
      </p:sp>
      <p:sp>
        <p:nvSpPr>
          <p:cNvPr id="6" name="TextBox 5">
            <a:extLst>
              <a:ext uri="{FF2B5EF4-FFF2-40B4-BE49-F238E27FC236}">
                <a16:creationId xmlns:a16="http://schemas.microsoft.com/office/drawing/2014/main" id="{3ABF3241-064F-414A-9D49-7D45D5E465C3}"/>
              </a:ext>
            </a:extLst>
          </p:cNvPr>
          <p:cNvSpPr txBox="1"/>
          <p:nvPr/>
        </p:nvSpPr>
        <p:spPr>
          <a:xfrm>
            <a:off x="5002222" y="6567488"/>
            <a:ext cx="6042681" cy="171844"/>
          </a:xfrm>
          <a:prstGeom prst="rect">
            <a:avLst/>
          </a:prstGeom>
          <a:solidFill>
            <a:schemeClr val="bg1"/>
          </a:solidFill>
        </p:spPr>
        <p:txBody>
          <a:bodyPr wrap="square" lIns="0" tIns="0" rIns="0" bIns="0" rtlCol="0">
            <a:noAutofit/>
          </a:bodyPr>
          <a:lstStyle/>
          <a:p>
            <a:pPr algn="l"/>
            <a:r>
              <a:rPr lang="en-GB" sz="900" i="1" baseline="30000">
                <a:solidFill>
                  <a:srgbClr val="FF0000"/>
                </a:solidFill>
              </a:rPr>
              <a:t>1) </a:t>
            </a:r>
            <a:r>
              <a:rPr lang="en-GB" sz="900" i="1"/>
              <a:t>Refer to Parallel Ledger training materials for the Automatic clearing process using T-Code F.13.</a:t>
            </a:r>
          </a:p>
        </p:txBody>
      </p:sp>
      <p:pic>
        <p:nvPicPr>
          <p:cNvPr id="3" name="Picture 2">
            <a:extLst>
              <a:ext uri="{FF2B5EF4-FFF2-40B4-BE49-F238E27FC236}">
                <a16:creationId xmlns:a16="http://schemas.microsoft.com/office/drawing/2014/main" id="{F2DEB0E6-4F5A-45EA-9C97-C4478076DF1B}"/>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763380" y="1375332"/>
            <a:ext cx="5643958" cy="2106802"/>
          </a:xfrm>
          <a:prstGeom prst="rect">
            <a:avLst/>
          </a:prstGeom>
          <a:effectLst>
            <a:outerShdw blurRad="50800" dist="38100" dir="2700000" algn="tl" rotWithShape="0">
              <a:prstClr val="black">
                <a:alpha val="40000"/>
              </a:prstClr>
            </a:outerShdw>
          </a:effectLst>
        </p:spPr>
      </p:pic>
      <p:pic>
        <p:nvPicPr>
          <p:cNvPr id="7" name="Picture 6">
            <a:extLst>
              <a:ext uri="{FF2B5EF4-FFF2-40B4-BE49-F238E27FC236}">
                <a16:creationId xmlns:a16="http://schemas.microsoft.com/office/drawing/2014/main" id="{A5500950-B6FE-4163-A955-B0A6442370BA}"/>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264367" y="3143471"/>
            <a:ext cx="3605669" cy="3682737"/>
          </a:xfrm>
          <a:prstGeom prst="rect">
            <a:avLst/>
          </a:prstGeom>
          <a:effectLst>
            <a:outerShdw blurRad="63500" sx="102000" sy="102000" algn="ctr" rotWithShape="0">
              <a:prstClr val="black">
                <a:alpha val="40000"/>
              </a:prstClr>
            </a:outerShdw>
          </a:effectLst>
        </p:spPr>
      </p:pic>
      <p:pic>
        <p:nvPicPr>
          <p:cNvPr id="8" name="Picture 7">
            <a:extLst>
              <a:ext uri="{FF2B5EF4-FFF2-40B4-BE49-F238E27FC236}">
                <a16:creationId xmlns:a16="http://schemas.microsoft.com/office/drawing/2014/main" id="{78FCAB02-4F12-4804-A9A7-6F02319080E0}"/>
              </a:ext>
            </a:extLst>
          </p:cNvPr>
          <p:cNvPicPr>
            <a:picLocks noChangeAspect="1"/>
          </p:cNvPicPr>
          <p:nvPr/>
        </p:nvPicPr>
        <p:blipFill>
          <a:blip r:embed="rId6"/>
          <a:stretch>
            <a:fillRect/>
          </a:stretch>
        </p:blipFill>
        <p:spPr>
          <a:xfrm>
            <a:off x="4012800" y="4803445"/>
            <a:ext cx="906812" cy="1120561"/>
          </a:xfrm>
          <a:prstGeom prst="rect">
            <a:avLst/>
          </a:prstGeom>
          <a:ln>
            <a:solidFill>
              <a:srgbClr val="FF0000"/>
            </a:solidFill>
          </a:ln>
          <a:effectLst>
            <a:outerShdw blurRad="50800" dist="38100" dir="2700000" algn="tl" rotWithShape="0">
              <a:prstClr val="black">
                <a:alpha val="40000"/>
              </a:prstClr>
            </a:outerShdw>
          </a:effectLst>
        </p:spPr>
      </p:pic>
      <p:pic>
        <p:nvPicPr>
          <p:cNvPr id="9" name="Picture 8">
            <a:extLst>
              <a:ext uri="{FF2B5EF4-FFF2-40B4-BE49-F238E27FC236}">
                <a16:creationId xmlns:a16="http://schemas.microsoft.com/office/drawing/2014/main" id="{E0F7BC45-2DE4-4BAE-BF35-6E6F0551A455}"/>
              </a:ext>
            </a:extLst>
          </p:cNvPr>
          <p:cNvPicPr>
            <a:picLocks noChangeAspect="1"/>
          </p:cNvPicPr>
          <p:nvPr/>
        </p:nvPicPr>
        <p:blipFill>
          <a:blip r:embed="rId7">
            <a:extLst>
              <a:ext uri="{BEBA8EAE-BF5A-486C-A8C5-ECC9F3942E4B}">
                <a14:imgProps xmlns:a14="http://schemas.microsoft.com/office/drawing/2010/main">
                  <a14:imgLayer r:embed="rId8">
                    <a14:imgEffect>
                      <a14:sharpenSoften amount="25000"/>
                    </a14:imgEffect>
                  </a14:imgLayer>
                </a14:imgProps>
              </a:ext>
            </a:extLst>
          </a:blip>
          <a:stretch>
            <a:fillRect/>
          </a:stretch>
        </p:blipFill>
        <p:spPr>
          <a:xfrm>
            <a:off x="6706383" y="1346564"/>
            <a:ext cx="4596304" cy="3574903"/>
          </a:xfrm>
          <a:prstGeom prst="rect">
            <a:avLst/>
          </a:prstGeom>
          <a:effectLst>
            <a:outerShdw blurRad="50800" dist="38100" dir="2700000" algn="tl" rotWithShape="0">
              <a:prstClr val="black">
                <a:alpha val="40000"/>
              </a:prstClr>
            </a:outerShdw>
          </a:effectLst>
        </p:spPr>
      </p:pic>
      <p:sp>
        <p:nvSpPr>
          <p:cNvPr id="10" name="Rectangle: Rounded Corners 9">
            <a:extLst>
              <a:ext uri="{FF2B5EF4-FFF2-40B4-BE49-F238E27FC236}">
                <a16:creationId xmlns:a16="http://schemas.microsoft.com/office/drawing/2014/main" id="{5D40EDBB-92CA-469B-AB99-4F38B53CE36F}"/>
              </a:ext>
            </a:extLst>
          </p:cNvPr>
          <p:cNvSpPr/>
          <p:nvPr/>
        </p:nvSpPr>
        <p:spPr>
          <a:xfrm>
            <a:off x="5309616" y="3320737"/>
            <a:ext cx="1097721" cy="161397"/>
          </a:xfrm>
          <a:prstGeom prst="roundRect">
            <a:avLst>
              <a:gd name="adj" fmla="val 952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cxnSp>
        <p:nvCxnSpPr>
          <p:cNvPr id="12" name="Straight Arrow Connector 11">
            <a:extLst>
              <a:ext uri="{FF2B5EF4-FFF2-40B4-BE49-F238E27FC236}">
                <a16:creationId xmlns:a16="http://schemas.microsoft.com/office/drawing/2014/main" id="{ECB8BF85-B6BC-4006-AD64-A6B7F14E62CA}"/>
              </a:ext>
            </a:extLst>
          </p:cNvPr>
          <p:cNvCxnSpPr>
            <a:cxnSpLocks/>
          </p:cNvCxnSpPr>
          <p:nvPr/>
        </p:nvCxnSpPr>
        <p:spPr>
          <a:xfrm flipH="1">
            <a:off x="3870036" y="3482134"/>
            <a:ext cx="1782619" cy="235742"/>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Rounded Corners 12">
            <a:extLst>
              <a:ext uri="{FF2B5EF4-FFF2-40B4-BE49-F238E27FC236}">
                <a16:creationId xmlns:a16="http://schemas.microsoft.com/office/drawing/2014/main" id="{FEB0E55C-7AC8-4A11-AE75-D02074B27E52}"/>
              </a:ext>
            </a:extLst>
          </p:cNvPr>
          <p:cNvSpPr/>
          <p:nvPr/>
        </p:nvSpPr>
        <p:spPr>
          <a:xfrm>
            <a:off x="264365" y="3143471"/>
            <a:ext cx="1592143" cy="226292"/>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F.13: Automatic Clearing</a:t>
            </a:r>
          </a:p>
        </p:txBody>
      </p:sp>
      <p:sp>
        <p:nvSpPr>
          <p:cNvPr id="14" name="Rectangle: Rounded Corners 13">
            <a:extLst>
              <a:ext uri="{FF2B5EF4-FFF2-40B4-BE49-F238E27FC236}">
                <a16:creationId xmlns:a16="http://schemas.microsoft.com/office/drawing/2014/main" id="{25DF017E-5379-4E96-A0E3-9F9584FA46D8}"/>
              </a:ext>
            </a:extLst>
          </p:cNvPr>
          <p:cNvSpPr/>
          <p:nvPr/>
        </p:nvSpPr>
        <p:spPr>
          <a:xfrm>
            <a:off x="1147097" y="6581947"/>
            <a:ext cx="2722939" cy="244261"/>
          </a:xfrm>
          <a:prstGeom prst="roundRect">
            <a:avLst>
              <a:gd name="adj" fmla="val 952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cxnSp>
        <p:nvCxnSpPr>
          <p:cNvPr id="16" name="Straight Arrow Connector 15">
            <a:extLst>
              <a:ext uri="{FF2B5EF4-FFF2-40B4-BE49-F238E27FC236}">
                <a16:creationId xmlns:a16="http://schemas.microsoft.com/office/drawing/2014/main" id="{51312318-B50A-4A08-BE50-E433E0AC73D8}"/>
              </a:ext>
            </a:extLst>
          </p:cNvPr>
          <p:cNvCxnSpPr>
            <a:cxnSpLocks/>
            <a:stCxn id="14" idx="3"/>
          </p:cNvCxnSpPr>
          <p:nvPr/>
        </p:nvCxnSpPr>
        <p:spPr>
          <a:xfrm flipV="1">
            <a:off x="3870036" y="5924006"/>
            <a:ext cx="314037" cy="780072"/>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Rounded Corners 16">
            <a:extLst>
              <a:ext uri="{FF2B5EF4-FFF2-40B4-BE49-F238E27FC236}">
                <a16:creationId xmlns:a16="http://schemas.microsoft.com/office/drawing/2014/main" id="{515DF0BC-AA94-45AA-B676-8B291676EEAF}"/>
              </a:ext>
            </a:extLst>
          </p:cNvPr>
          <p:cNvSpPr/>
          <p:nvPr/>
        </p:nvSpPr>
        <p:spPr>
          <a:xfrm>
            <a:off x="7392415" y="4744794"/>
            <a:ext cx="3910271" cy="171844"/>
          </a:xfrm>
          <a:prstGeom prst="roundRect">
            <a:avLst>
              <a:gd name="adj" fmla="val 952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8" name="Rectangle: Rounded Corners 17">
            <a:extLst>
              <a:ext uri="{FF2B5EF4-FFF2-40B4-BE49-F238E27FC236}">
                <a16:creationId xmlns:a16="http://schemas.microsoft.com/office/drawing/2014/main" id="{9B53485A-CCA5-4738-B8F0-CD9231E9922A}"/>
              </a:ext>
            </a:extLst>
          </p:cNvPr>
          <p:cNvSpPr/>
          <p:nvPr/>
        </p:nvSpPr>
        <p:spPr>
          <a:xfrm>
            <a:off x="10379710" y="2803584"/>
            <a:ext cx="922978" cy="2113054"/>
          </a:xfrm>
          <a:prstGeom prst="roundRect">
            <a:avLst>
              <a:gd name="adj" fmla="val 3524"/>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9" name="Rectangle 18">
            <a:extLst>
              <a:ext uri="{FF2B5EF4-FFF2-40B4-BE49-F238E27FC236}">
                <a16:creationId xmlns:a16="http://schemas.microsoft.com/office/drawing/2014/main" id="{80D8E489-6F58-486C-920B-2A6E7245C3CA}"/>
              </a:ext>
            </a:extLst>
          </p:cNvPr>
          <p:cNvSpPr/>
          <p:nvPr/>
        </p:nvSpPr>
        <p:spPr>
          <a:xfrm>
            <a:off x="4919612" y="4922534"/>
            <a:ext cx="7234017" cy="1708160"/>
          </a:xfrm>
          <a:prstGeom prst="rect">
            <a:avLst/>
          </a:prstGeom>
          <a:noFill/>
        </p:spPr>
        <p:txBody>
          <a:bodyPr wrap="square" anchor="t">
            <a:spAutoFit/>
          </a:bodyPr>
          <a:lstStyle/>
          <a:p>
            <a:pPr marL="171450" lvl="0" indent="-171450">
              <a:lnSpc>
                <a:spcPts val="1200"/>
              </a:lnSpc>
              <a:spcBef>
                <a:spcPts val="600"/>
              </a:spcBef>
              <a:buFont typeface="Arial" panose="020B0604020202020204" pitchFamily="34" charset="0"/>
              <a:buChar char="•"/>
              <a:defRPr/>
            </a:pPr>
            <a:r>
              <a:rPr lang="en-GB" sz="1150" i="1" dirty="0">
                <a:latin typeface="Georgia"/>
              </a:rPr>
              <a:t>With the balances of the VAT Input and Output accounts being zero or brought to zero if a GL journal was posted in case of LC1 balances, these accounts can then be cleared via F.13 – Automatic Clearing.</a:t>
            </a:r>
            <a:r>
              <a:rPr lang="en-GB" sz="1150" i="1" baseline="30000" dirty="0">
                <a:solidFill>
                  <a:srgbClr val="FF0000"/>
                </a:solidFill>
                <a:latin typeface="Georgia"/>
              </a:rPr>
              <a:t>1) </a:t>
            </a:r>
            <a:r>
              <a:rPr lang="en-GB" sz="1150" i="1" dirty="0">
                <a:latin typeface="Georgia"/>
              </a:rPr>
              <a:t>The F.13 Test Run task allows you to check if the accounts can be cleared. Then GL team should confirm the next “Note” task to confirm that F.13 will clear, which will trigger the F.13 production run task in FCC.</a:t>
            </a:r>
            <a:endParaRPr lang="en-GB" sz="1150" i="1" baseline="30000" dirty="0">
              <a:latin typeface="Georgia"/>
            </a:endParaRP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lang="en-GB" sz="1150" i="1" dirty="0">
                <a:latin typeface="Georgia"/>
              </a:rPr>
              <a:t>Every account which needs to be automatically cleared should have its automatic clearing criteria defined. In the case of VAT Input and Output accounts, this criterion is </a:t>
            </a:r>
            <a:r>
              <a:rPr lang="en-GB" sz="1150" b="1" i="1" dirty="0">
                <a:latin typeface="Georgia"/>
              </a:rPr>
              <a:t>Reference Key 2</a:t>
            </a:r>
            <a:r>
              <a:rPr lang="en-GB" sz="1150" i="1" dirty="0">
                <a:latin typeface="Georgia"/>
              </a:rPr>
              <a:t>, which indicates the </a:t>
            </a:r>
            <a:r>
              <a:rPr lang="en-GB" sz="1150" b="1" i="1" dirty="0">
                <a:latin typeface="Georgia"/>
              </a:rPr>
              <a:t>Tax Registration country</a:t>
            </a:r>
            <a:r>
              <a:rPr lang="en-GB" sz="1150" i="1" dirty="0">
                <a:latin typeface="Georgia"/>
              </a:rPr>
              <a:t>. This means for items posted to the same VAT account and with the same Reference Key 2, if their total balance is zero then these items will be automatically cleared.</a:t>
            </a:r>
          </a:p>
        </p:txBody>
      </p:sp>
      <p:sp>
        <p:nvSpPr>
          <p:cNvPr id="20" name="Rectangle: Rounded Corners 19">
            <a:extLst>
              <a:ext uri="{FF2B5EF4-FFF2-40B4-BE49-F238E27FC236}">
                <a16:creationId xmlns:a16="http://schemas.microsoft.com/office/drawing/2014/main" id="{1D3BA91A-E913-47A6-A9CE-1556B4ED0A69}"/>
              </a:ext>
            </a:extLst>
          </p:cNvPr>
          <p:cNvSpPr/>
          <p:nvPr/>
        </p:nvSpPr>
        <p:spPr>
          <a:xfrm>
            <a:off x="763379" y="1367273"/>
            <a:ext cx="1948873" cy="226292"/>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FCLOCO: FCC Task List</a:t>
            </a:r>
          </a:p>
        </p:txBody>
      </p:sp>
      <p:sp>
        <p:nvSpPr>
          <p:cNvPr id="21" name="Speech Bubble: Rectangle 20">
            <a:extLst>
              <a:ext uri="{FF2B5EF4-FFF2-40B4-BE49-F238E27FC236}">
                <a16:creationId xmlns:a16="http://schemas.microsoft.com/office/drawing/2014/main" id="{61F51F46-A80D-4C2E-8A7B-EA785CA95E67}"/>
              </a:ext>
            </a:extLst>
          </p:cNvPr>
          <p:cNvSpPr/>
          <p:nvPr/>
        </p:nvSpPr>
        <p:spPr>
          <a:xfrm>
            <a:off x="4184073" y="3643532"/>
            <a:ext cx="2565197" cy="1006463"/>
          </a:xfrm>
          <a:prstGeom prst="wedgeRectCallout">
            <a:avLst>
              <a:gd name="adj1" fmla="val 19541"/>
              <a:gd name="adj2" fmla="val -66286"/>
            </a:avLst>
          </a:prstGeom>
          <a:ln/>
        </p:spPr>
        <p:style>
          <a:lnRef idx="0">
            <a:schemeClr val="accent1"/>
          </a:lnRef>
          <a:fillRef idx="3">
            <a:schemeClr val="accent1"/>
          </a:fillRef>
          <a:effectRef idx="3">
            <a:schemeClr val="accent1"/>
          </a:effectRef>
          <a:fontRef idx="minor">
            <a:schemeClr val="lt1"/>
          </a:fontRef>
        </p:style>
        <p:txBody>
          <a:bodyPr rtlCol="0" anchor="ctr"/>
          <a:lstStyle/>
          <a:p>
            <a:pPr lvl="0">
              <a:lnSpc>
                <a:spcPts val="1200"/>
              </a:lnSpc>
              <a:spcBef>
                <a:spcPts val="600"/>
              </a:spcBef>
              <a:defRPr/>
            </a:pPr>
            <a:endParaRPr lang="en-GB" sz="1100" i="1" dirty="0">
              <a:solidFill>
                <a:schemeClr val="tx1"/>
              </a:solidFill>
              <a:latin typeface="Georgia" panose="02040502050405020303" pitchFamily="18" charset="0"/>
            </a:endParaRPr>
          </a:p>
          <a:p>
            <a:pPr>
              <a:lnSpc>
                <a:spcPts val="1200"/>
              </a:lnSpc>
              <a:spcBef>
                <a:spcPts val="600"/>
              </a:spcBef>
              <a:defRPr/>
            </a:pPr>
            <a:r>
              <a:rPr lang="en-US" sz="1100" i="1" dirty="0">
                <a:solidFill>
                  <a:schemeClr val="tx1"/>
                </a:solidFill>
                <a:latin typeface="Georgia" panose="02040502050405020303" pitchFamily="18" charset="0"/>
              </a:rPr>
              <a:t>This is a “global” variant using Company Code and dates/years variables. Please review/amend Company Code and relevant Date/Year fields when using it outside of FCC.</a:t>
            </a:r>
          </a:p>
          <a:p>
            <a:pPr>
              <a:lnSpc>
                <a:spcPts val="1200"/>
              </a:lnSpc>
              <a:spcBef>
                <a:spcPts val="600"/>
              </a:spcBef>
              <a:defRPr/>
            </a:pPr>
            <a:endParaRPr lang="en-US" sz="1100" i="1" dirty="0">
              <a:solidFill>
                <a:schemeClr val="tx1"/>
              </a:solidFill>
              <a:latin typeface="Georgia" panose="02040502050405020303" pitchFamily="18" charset="0"/>
            </a:endParaRPr>
          </a:p>
        </p:txBody>
      </p:sp>
    </p:spTree>
    <p:extLst>
      <p:ext uri="{BB962C8B-B14F-4D97-AF65-F5344CB8AC3E}">
        <p14:creationId xmlns:p14="http://schemas.microsoft.com/office/powerpoint/2010/main" val="39812146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4046D-B126-6387-4D95-E12CA96C6445}"/>
              </a:ext>
            </a:extLst>
          </p:cNvPr>
          <p:cNvSpPr>
            <a:spLocks noGrp="1"/>
          </p:cNvSpPr>
          <p:nvPr>
            <p:ph type="title"/>
          </p:nvPr>
        </p:nvSpPr>
        <p:spPr>
          <a:xfrm>
            <a:off x="1511276" y="210344"/>
            <a:ext cx="9060308" cy="984247"/>
          </a:xfrm>
        </p:spPr>
        <p:txBody>
          <a:bodyPr/>
          <a:lstStyle/>
          <a:p>
            <a:r>
              <a:rPr lang="en-GB" cap="none" dirty="0"/>
              <a:t>VAT F.13 Automatic Clearing – Common Errors</a:t>
            </a:r>
            <a:endParaRPr lang="en-GB" dirty="0"/>
          </a:p>
        </p:txBody>
      </p:sp>
      <p:sp>
        <p:nvSpPr>
          <p:cNvPr id="5" name="Slide Number Placeholder 4">
            <a:extLst>
              <a:ext uri="{FF2B5EF4-FFF2-40B4-BE49-F238E27FC236}">
                <a16:creationId xmlns:a16="http://schemas.microsoft.com/office/drawing/2014/main" id="{09669CA4-3447-1937-4E95-EF8F34BD3554}"/>
              </a:ext>
            </a:extLst>
          </p:cNvPr>
          <p:cNvSpPr>
            <a:spLocks noGrp="1"/>
          </p:cNvSpPr>
          <p:nvPr>
            <p:ph type="sldNum" sz="quarter" idx="12"/>
          </p:nvPr>
        </p:nvSpPr>
        <p:spPr/>
        <p:txBody>
          <a:bodyPr/>
          <a:lstStyle/>
          <a:p>
            <a:fld id="{F4C94289-3309-4C35-850A-56FD49B3E346}" type="slidenum">
              <a:rPr lang="en-GB" smtClean="0"/>
              <a:t>7</a:t>
            </a:fld>
            <a:endParaRPr lang="en-GB"/>
          </a:p>
        </p:txBody>
      </p:sp>
      <p:graphicFrame>
        <p:nvGraphicFramePr>
          <p:cNvPr id="6" name="Table 6">
            <a:extLst>
              <a:ext uri="{FF2B5EF4-FFF2-40B4-BE49-F238E27FC236}">
                <a16:creationId xmlns:a16="http://schemas.microsoft.com/office/drawing/2014/main" id="{4CDBBEE5-369D-C997-4D19-08A7B6A69328}"/>
              </a:ext>
            </a:extLst>
          </p:cNvPr>
          <p:cNvGraphicFramePr>
            <a:graphicFrameLocks noGrp="1"/>
          </p:cNvGraphicFramePr>
          <p:nvPr/>
        </p:nvGraphicFramePr>
        <p:xfrm>
          <a:off x="571037" y="2902748"/>
          <a:ext cx="11188908" cy="1624965"/>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3114757">
                  <a:extLst>
                    <a:ext uri="{9D8B030D-6E8A-4147-A177-3AD203B41FA5}">
                      <a16:colId xmlns:a16="http://schemas.microsoft.com/office/drawing/2014/main" val="4175835808"/>
                    </a:ext>
                  </a:extLst>
                </a:gridCol>
                <a:gridCol w="3785616">
                  <a:extLst>
                    <a:ext uri="{9D8B030D-6E8A-4147-A177-3AD203B41FA5}">
                      <a16:colId xmlns:a16="http://schemas.microsoft.com/office/drawing/2014/main" val="3494736957"/>
                    </a:ext>
                  </a:extLst>
                </a:gridCol>
                <a:gridCol w="4288535">
                  <a:extLst>
                    <a:ext uri="{9D8B030D-6E8A-4147-A177-3AD203B41FA5}">
                      <a16:colId xmlns:a16="http://schemas.microsoft.com/office/drawing/2014/main" val="3274509539"/>
                    </a:ext>
                  </a:extLst>
                </a:gridCol>
              </a:tblGrid>
              <a:tr h="370840">
                <a:tc>
                  <a:txBody>
                    <a:bodyPr/>
                    <a:lstStyle/>
                    <a:p>
                      <a:r>
                        <a:rPr lang="en-GB" sz="1400">
                          <a:solidFill>
                            <a:schemeClr val="tx1"/>
                          </a:solidFill>
                        </a:rPr>
                        <a:t>F.13 Transaction Common Errors</a:t>
                      </a:r>
                    </a:p>
                  </a:txBody>
                  <a:tcPr/>
                </a:tc>
                <a:tc>
                  <a:txBody>
                    <a:bodyPr/>
                    <a:lstStyle/>
                    <a:p>
                      <a:r>
                        <a:rPr lang="en-GB" sz="1400">
                          <a:solidFill>
                            <a:schemeClr val="tx1"/>
                          </a:solidFill>
                        </a:rPr>
                        <a:t>Error Reason</a:t>
                      </a:r>
                    </a:p>
                  </a:txBody>
                  <a:tcPr/>
                </a:tc>
                <a:tc>
                  <a:txBody>
                    <a:bodyPr/>
                    <a:lstStyle/>
                    <a:p>
                      <a:r>
                        <a:rPr lang="en-GB" sz="1400">
                          <a:solidFill>
                            <a:schemeClr val="tx1"/>
                          </a:solidFill>
                        </a:rPr>
                        <a:t>Error Resolution</a:t>
                      </a:r>
                    </a:p>
                  </a:txBody>
                  <a:tcPr/>
                </a:tc>
                <a:extLst>
                  <a:ext uri="{0D108BD9-81ED-4DB2-BD59-A6C34878D82A}">
                    <a16:rowId xmlns:a16="http://schemas.microsoft.com/office/drawing/2014/main" val="4189051396"/>
                  </a:ext>
                </a:extLst>
              </a:tr>
              <a:tr h="370840">
                <a:tc>
                  <a:txBody>
                    <a:bodyPr/>
                    <a:lstStyle/>
                    <a:p>
                      <a:pPr algn="l" fontAlgn="ctr"/>
                      <a:r>
                        <a:rPr lang="en-GB" sz="1100" b="0" i="0" u="none" strike="noStrike">
                          <a:solidFill>
                            <a:srgbClr val="000000"/>
                          </a:solidFill>
                          <a:effectLst/>
                          <a:latin typeface="+mj-lt"/>
                        </a:rPr>
                        <a:t>FX clearing accounts are not setup for clearing </a:t>
                      </a:r>
                    </a:p>
                  </a:txBody>
                  <a:tcPr marL="72000" marR="9525" marT="9525" marB="0" anchor="ctr"/>
                </a:tc>
                <a:tc>
                  <a:txBody>
                    <a:bodyPr/>
                    <a:lstStyle/>
                    <a:p>
                      <a:pPr algn="l" fontAlgn="ctr"/>
                      <a:r>
                        <a:rPr lang="en-GB" sz="1100" b="0" i="0" u="none" strike="noStrike">
                          <a:solidFill>
                            <a:srgbClr val="000000"/>
                          </a:solidFill>
                          <a:effectLst/>
                          <a:latin typeface="+mj-lt"/>
                        </a:rPr>
                        <a:t>FX clearing accounts are not setup in the system for clearing </a:t>
                      </a:r>
                    </a:p>
                  </a:txBody>
                  <a:tcPr marL="72000" marR="9525" marT="9525" marB="0" anchor="ctr"/>
                </a:tc>
                <a:tc>
                  <a:txBody>
                    <a:bodyPr/>
                    <a:lstStyle/>
                    <a:p>
                      <a:pPr algn="l" fontAlgn="ctr"/>
                      <a:r>
                        <a:rPr lang="en-GB" sz="1100" b="0" i="0" u="none" strike="noStrike">
                          <a:solidFill>
                            <a:srgbClr val="000000"/>
                          </a:solidFill>
                          <a:effectLst/>
                          <a:latin typeface="+mj-lt"/>
                        </a:rPr>
                        <a:t>Contact the Market and ask them to raise the RITM request via the IT Service Portal. Once the request is completed the task can be re-run or executed manually</a:t>
                      </a:r>
                    </a:p>
                  </a:txBody>
                  <a:tcPr marL="72000" marR="9525" marT="9525" marB="0" anchor="ctr"/>
                </a:tc>
                <a:extLst>
                  <a:ext uri="{0D108BD9-81ED-4DB2-BD59-A6C34878D82A}">
                    <a16:rowId xmlns:a16="http://schemas.microsoft.com/office/drawing/2014/main" val="4208081998"/>
                  </a:ext>
                </a:extLst>
              </a:tr>
              <a:tr h="370840">
                <a:tc>
                  <a:txBody>
                    <a:bodyPr/>
                    <a:lstStyle/>
                    <a:p>
                      <a:pPr algn="l" fontAlgn="ctr"/>
                      <a:r>
                        <a:rPr lang="en-GB" sz="1100" b="0" i="0" u="none" strike="noStrike">
                          <a:solidFill>
                            <a:srgbClr val="000000"/>
                          </a:solidFill>
                          <a:effectLst/>
                          <a:latin typeface="+mj-lt"/>
                        </a:rPr>
                        <a:t>The difference is too large for clearing</a:t>
                      </a:r>
                    </a:p>
                  </a:txBody>
                  <a:tcPr marL="72000" marR="9525" marT="9525" marB="0" anchor="ctr"/>
                </a:tc>
                <a:tc>
                  <a:txBody>
                    <a:bodyPr/>
                    <a:lstStyle/>
                    <a:p>
                      <a:pPr algn="l" fontAlgn="ctr"/>
                      <a:r>
                        <a:rPr lang="en-GB" sz="1100" b="0" i="0" u="none" strike="noStrike">
                          <a:solidFill>
                            <a:srgbClr val="000000"/>
                          </a:solidFill>
                          <a:effectLst/>
                          <a:latin typeface="+mj-lt"/>
                        </a:rPr>
                        <a:t>The system confirms that the clearing criteria were not met due to difference in clearing process</a:t>
                      </a:r>
                    </a:p>
                  </a:txBody>
                  <a:tcPr marL="72000" marR="9525" marT="9525" marB="0" anchor="ctr"/>
                </a:tc>
                <a:tc>
                  <a:txBody>
                    <a:bodyPr/>
                    <a:lstStyle/>
                    <a:p>
                      <a:pPr algn="l" fontAlgn="ctr"/>
                      <a:r>
                        <a:rPr lang="en-GB" sz="1100" b="0" i="0" u="none" strike="noStrike">
                          <a:solidFill>
                            <a:srgbClr val="000000"/>
                          </a:solidFill>
                          <a:effectLst/>
                          <a:latin typeface="+mj-lt"/>
                        </a:rPr>
                        <a:t>No action to be taken, we can ignore the message</a:t>
                      </a:r>
                    </a:p>
                  </a:txBody>
                  <a:tcPr marL="72000" marR="9525" marT="9525" marB="0" anchor="ctr"/>
                </a:tc>
                <a:extLst>
                  <a:ext uri="{0D108BD9-81ED-4DB2-BD59-A6C34878D82A}">
                    <a16:rowId xmlns:a16="http://schemas.microsoft.com/office/drawing/2014/main" val="4015071510"/>
                  </a:ext>
                </a:extLst>
              </a:tr>
              <a:tr h="370840">
                <a:tc>
                  <a:txBody>
                    <a:bodyPr/>
                    <a:lstStyle/>
                    <a:p>
                      <a:pPr algn="l" fontAlgn="ctr"/>
                      <a:r>
                        <a:rPr lang="en-GB" sz="1100" b="0" i="0" u="none" strike="noStrike">
                          <a:solidFill>
                            <a:srgbClr val="000000"/>
                          </a:solidFill>
                          <a:effectLst/>
                          <a:latin typeface="+mj-lt"/>
                        </a:rPr>
                        <a:t>No G/L account documents selected</a:t>
                      </a:r>
                    </a:p>
                  </a:txBody>
                  <a:tcPr marL="72000" marR="9525" marT="9525" marB="0" anchor="ctr"/>
                </a:tc>
                <a:tc>
                  <a:txBody>
                    <a:bodyPr/>
                    <a:lstStyle/>
                    <a:p>
                      <a:pPr algn="l" fontAlgn="ctr"/>
                      <a:r>
                        <a:rPr lang="en-GB" sz="1100" b="0" i="0" u="none" strike="noStrike">
                          <a:solidFill>
                            <a:srgbClr val="000000"/>
                          </a:solidFill>
                          <a:effectLst/>
                          <a:latin typeface="+mj-lt"/>
                        </a:rPr>
                        <a:t>Not a real error, message informing that there is no posting to be cleared for the selected account</a:t>
                      </a:r>
                    </a:p>
                  </a:txBody>
                  <a:tcPr marL="72000" marR="9525" marT="9525" marB="0" anchor="ctr"/>
                </a:tc>
                <a:tc>
                  <a:txBody>
                    <a:bodyPr/>
                    <a:lstStyle/>
                    <a:p>
                      <a:pPr algn="l" fontAlgn="ctr"/>
                      <a:r>
                        <a:rPr lang="en-GB" sz="1100" b="0" i="0" u="none" strike="noStrike">
                          <a:solidFill>
                            <a:srgbClr val="000000"/>
                          </a:solidFill>
                          <a:effectLst/>
                          <a:latin typeface="+mj-lt"/>
                        </a:rPr>
                        <a:t>No action to be taken, we can ignore the message</a:t>
                      </a:r>
                    </a:p>
                  </a:txBody>
                  <a:tcPr marL="72000" marR="9525" marT="9525" marB="0" anchor="ctr"/>
                </a:tc>
                <a:extLst>
                  <a:ext uri="{0D108BD9-81ED-4DB2-BD59-A6C34878D82A}">
                    <a16:rowId xmlns:a16="http://schemas.microsoft.com/office/drawing/2014/main" val="1179639376"/>
                  </a:ext>
                </a:extLst>
              </a:tr>
            </a:tbl>
          </a:graphicData>
        </a:graphic>
      </p:graphicFrame>
      <p:sp>
        <p:nvSpPr>
          <p:cNvPr id="8" name="TextBox 7">
            <a:extLst>
              <a:ext uri="{FF2B5EF4-FFF2-40B4-BE49-F238E27FC236}">
                <a16:creationId xmlns:a16="http://schemas.microsoft.com/office/drawing/2014/main" id="{DA899E60-63F6-0321-6447-727CE0593A11}"/>
              </a:ext>
            </a:extLst>
          </p:cNvPr>
          <p:cNvSpPr txBox="1"/>
          <p:nvPr/>
        </p:nvSpPr>
        <p:spPr>
          <a:xfrm>
            <a:off x="543488" y="1986757"/>
            <a:ext cx="11105024" cy="400050"/>
          </a:xfrm>
          <a:prstGeom prst="rect">
            <a:avLst/>
          </a:prstGeom>
          <a:noFill/>
        </p:spPr>
        <p:txBody>
          <a:bodyPr wrap="square" lIns="0" tIns="0" rIns="0" bIns="0" rtlCol="0">
            <a:noAutofit/>
          </a:bodyPr>
          <a:lstStyle/>
          <a:p>
            <a:pPr marL="285750" indent="-285750" algn="l">
              <a:buFont typeface="Arial" panose="020B0604020202020204" pitchFamily="34" charset="0"/>
              <a:buChar char="•"/>
            </a:pPr>
            <a:r>
              <a:rPr lang="en-GB"/>
              <a:t>F.13 is not only used for Automatic Clearing of VAT accounts, but many accounts, such as GR/IR accounts.</a:t>
            </a:r>
          </a:p>
          <a:p>
            <a:pPr marL="285750" indent="-285750" algn="l">
              <a:buFont typeface="Arial" panose="020B0604020202020204" pitchFamily="34" charset="0"/>
              <a:buChar char="•"/>
            </a:pPr>
            <a:r>
              <a:rPr lang="en-GB"/>
              <a:t>The following common errors may occur during both Test Run and Update Run: </a:t>
            </a:r>
          </a:p>
          <a:p>
            <a:pPr marL="285750" indent="-285750" algn="l">
              <a:buFont typeface="Arial" panose="020B0604020202020204" pitchFamily="34" charset="0"/>
              <a:buChar char="•"/>
            </a:pPr>
            <a:endParaRPr lang="en-GB"/>
          </a:p>
          <a:p>
            <a:pPr marL="285750" indent="-285750" algn="l">
              <a:buFont typeface="Arial" panose="020B0604020202020204" pitchFamily="34" charset="0"/>
              <a:buChar char="•"/>
            </a:pPr>
            <a:endParaRPr lang="en-GB"/>
          </a:p>
        </p:txBody>
      </p:sp>
    </p:spTree>
    <p:extLst>
      <p:ext uri="{BB962C8B-B14F-4D97-AF65-F5344CB8AC3E}">
        <p14:creationId xmlns:p14="http://schemas.microsoft.com/office/powerpoint/2010/main" val="969135920"/>
      </p:ext>
    </p:extLst>
  </p:cSld>
  <p:clrMapOvr>
    <a:masterClrMapping/>
  </p:clrMapOvr>
</p:sld>
</file>

<file path=ppt/theme/theme1.xml><?xml version="1.0" encoding="utf-8"?>
<a:theme xmlns:a="http://schemas.openxmlformats.org/drawingml/2006/main" name="1_S4F-ERP Clean IFRS Stat &amp; Tax Rep">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effectLst>
          <a:outerShdw blurRad="50800" dist="38100" dir="2700000" algn="tl" rotWithShape="0">
            <a:prstClr val="black">
              <a:alpha val="4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2.xml><?xml version="1.0" encoding="utf-8"?>
<a:theme xmlns:a="http://schemas.openxmlformats.org/drawingml/2006/main" name="S4F-ERP Period End Closing">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3.xml><?xml version="1.0" encoding="utf-8"?>
<a:theme xmlns:a="http://schemas.openxmlformats.org/drawingml/2006/main" name="1_S4F-ERP Period End Closing">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effectLst>
          <a:outerShdw blurRad="50800" dist="38100" dir="2700000" algn="tl" rotWithShape="0">
            <a:prstClr val="black">
              <a:alpha val="4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rgbClr val="FF0000"/>
          </a:solidFill>
          <a:tailEnd type="triangle"/>
        </a:ln>
        <a:effectLst>
          <a:outerShdw blurRad="50800" dist="38100" dir="2700000" algn="tl" rotWithShape="0">
            <a:prstClr val="black">
              <a:alpha val="40000"/>
            </a:prstClr>
          </a:outerShdw>
        </a:effectLst>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A691DA1475FED40816A34A9887BD419" ma:contentTypeVersion="25" ma:contentTypeDescription="Create a new document." ma:contentTypeScope="" ma:versionID="f84ceb03c7fb484362c32ee8faf439b3">
  <xsd:schema xmlns:xsd="http://www.w3.org/2001/XMLSchema" xmlns:xs="http://www.w3.org/2001/XMLSchema" xmlns:p="http://schemas.microsoft.com/office/2006/metadata/properties" xmlns:ns1="http://schemas.microsoft.com/sharepoint/v3" xmlns:ns2="91871c47-af2e-43ea-ad3f-7bb4c536bc45" xmlns:ns3="ba249638-b5c4-4b59-8094-70d8491c2e9c" xmlns:ns4="cb52ee0d-5346-4ae8-a9f9-d746adffeb6b" targetNamespace="http://schemas.microsoft.com/office/2006/metadata/properties" ma:root="true" ma:fieldsID="54372b6b2bb40f924c416d4186193cec" ns1:_="" ns2:_="" ns3:_="" ns4:_="">
    <xsd:import namespace="http://schemas.microsoft.com/sharepoint/v3"/>
    <xsd:import namespace="91871c47-af2e-43ea-ad3f-7bb4c536bc45"/>
    <xsd:import namespace="ba249638-b5c4-4b59-8094-70d8491c2e9c"/>
    <xsd:import namespace="cb52ee0d-5346-4ae8-a9f9-d746adffeb6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MediaLengthInSeconds" minOccurs="0"/>
                <xsd:element ref="ns2:ReportDate" minOccurs="0"/>
                <xsd:element ref="ns2:MediaServiceAutoTags"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MediaServiceLocation" minOccurs="0"/>
                <xsd:element ref="ns2:MediaServiceObjectDetectorVersions" minOccurs="0"/>
                <xsd:element ref="ns2:MediaServiceSearchProperties" minOccurs="0"/>
                <xsd:element ref="ns1:_ip_UnifiedCompliancePolicyProperties" minOccurs="0"/>
                <xsd:element ref="ns1:_ip_UnifiedCompliancePolicyUIAction" minOccurs="0"/>
                <xsd:element ref="ns2:Remarks" minOccurs="0"/>
                <xsd:element ref="ns2:Details" minOccurs="0"/>
                <xsd:element ref="ns2:FolderInfo" minOccurs="0"/>
                <xsd:element ref="ns2:T_x002d_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Unified Compliance Policy Properties" ma:hidden="true" ma:internalName="_ip_UnifiedCompliancePolicyProperties">
      <xsd:simpleType>
        <xsd:restriction base="dms:Note"/>
      </xsd:simpleType>
    </xsd:element>
    <xsd:element name="_ip_UnifiedCompliancePolicyUIAction" ma:index="2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871c47-af2e-43ea-ad3f-7bb4c536bc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ReportDate" ma:index="16" nillable="true" ma:displayName="Report Date" ma:format="DateOnly" ma:internalName="ReportDate">
      <xsd:simpleType>
        <xsd:restriction base="dms:DateTime"/>
      </xsd:simpleType>
    </xsd:element>
    <xsd:element name="MediaServiceAutoTags" ma:index="17" nillable="true" ma:displayName="Tags" ma:internalName="MediaServiceAutoTags"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dfe741-475c-44cf-bcd4-46bfd3fd0691" ma:termSetId="09814cd3-568e-fe90-9814-8d621ff8fb84" ma:anchorId="fba54fb3-c3e1-fe81-a776-ca4b69148c4d" ma:open="true" ma:isKeyword="false">
      <xsd:complexType>
        <xsd:sequence>
          <xsd:element ref="pc:Terms" minOccurs="0" maxOccurs="1"/>
        </xsd:sequence>
      </xsd:complex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Location" ma:index="24" nillable="true" ma:displayName="Location" ma:indexed="true" ma:internalName="MediaServiceLocation" ma:readOnly="true">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Remarks" ma:index="29" nillable="true" ma:displayName="Remarks" ma:format="Dropdown" ma:internalName="Remarks">
      <xsd:simpleType>
        <xsd:restriction base="dms:Text">
          <xsd:maxLength value="255"/>
        </xsd:restriction>
      </xsd:simpleType>
    </xsd:element>
    <xsd:element name="Details" ma:index="30" nillable="true" ma:displayName="Details" ma:format="Dropdown" ma:internalName="Details">
      <xsd:simpleType>
        <xsd:restriction base="dms:Note">
          <xsd:maxLength value="255"/>
        </xsd:restriction>
      </xsd:simpleType>
    </xsd:element>
    <xsd:element name="FolderInfo" ma:index="31" nillable="true" ma:displayName="Folder/File Info" ma:format="Dropdown" ma:internalName="FolderInfo">
      <xsd:simpleType>
        <xsd:restriction base="dms:Note">
          <xsd:maxLength value="255"/>
        </xsd:restriction>
      </xsd:simpleType>
    </xsd:element>
    <xsd:element name="T_x002d_Code" ma:index="32" nillable="true" ma:displayName="T-Code" ma:format="Dropdown" ma:internalName="T_x002d_Cod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a249638-b5c4-4b59-8094-70d8491c2e9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b52ee0d-5346-4ae8-a9f9-d746adffeb6b"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4cb22aed-3451-4198-9f27-006c28665e31}" ma:internalName="TaxCatchAll" ma:showField="CatchAllData" ma:web="cb52ee0d-5346-4ae8-a9f9-d746adffeb6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ba249638-b5c4-4b59-8094-70d8491c2e9c">
      <UserInfo>
        <DisplayName>Kovzhik, Lina</DisplayName>
        <AccountId>3249</AccountId>
        <AccountType/>
      </UserInfo>
      <UserInfo>
        <DisplayName>Eliseeva, Julia</DisplayName>
        <AccountId>2595</AccountId>
        <AccountType/>
      </UserInfo>
    </SharedWithUsers>
    <ReportDate xmlns="91871c47-af2e-43ea-ad3f-7bb4c536bc45" xsi:nil="true"/>
    <lcf76f155ced4ddcb4097134ff3c332f xmlns="91871c47-af2e-43ea-ad3f-7bb4c536bc45">
      <Terms xmlns="http://schemas.microsoft.com/office/infopath/2007/PartnerControls"/>
    </lcf76f155ced4ddcb4097134ff3c332f>
    <TaxCatchAll xmlns="cb52ee0d-5346-4ae8-a9f9-d746adffeb6b" xsi:nil="true"/>
    <_ip_UnifiedCompliancePolicyUIAction xmlns="http://schemas.microsoft.com/sharepoint/v3" xsi:nil="true"/>
    <_ip_UnifiedCompliancePolicyProperties xmlns="http://schemas.microsoft.com/sharepoint/v3" xsi:nil="true"/>
    <Remarks xmlns="91871c47-af2e-43ea-ad3f-7bb4c536bc45" xsi:nil="true"/>
    <Details xmlns="91871c47-af2e-43ea-ad3f-7bb4c536bc45" xsi:nil="true"/>
    <FolderInfo xmlns="91871c47-af2e-43ea-ad3f-7bb4c536bc45" xsi:nil="true"/>
    <T_x002d_Code xmlns="91871c47-af2e-43ea-ad3f-7bb4c536bc45" xsi:nil="true"/>
  </documentManagement>
</p:properties>
</file>

<file path=customXml/itemProps1.xml><?xml version="1.0" encoding="utf-8"?>
<ds:datastoreItem xmlns:ds="http://schemas.openxmlformats.org/officeDocument/2006/customXml" ds:itemID="{5F43394D-A9A2-4315-AC7E-DD8C77BEB19A}">
  <ds:schemaRefs>
    <ds:schemaRef ds:uri="http://schemas.microsoft.com/sharepoint/v3/contenttype/forms"/>
  </ds:schemaRefs>
</ds:datastoreItem>
</file>

<file path=customXml/itemProps2.xml><?xml version="1.0" encoding="utf-8"?>
<ds:datastoreItem xmlns:ds="http://schemas.openxmlformats.org/officeDocument/2006/customXml" ds:itemID="{8A9B0112-BB58-4D62-AB25-2FDA96A56C0D}"/>
</file>

<file path=customXml/itemProps3.xml><?xml version="1.0" encoding="utf-8"?>
<ds:datastoreItem xmlns:ds="http://schemas.openxmlformats.org/officeDocument/2006/customXml" ds:itemID="{E3BC77B7-89BE-45D2-B43A-94AB4C5F40F4}">
  <ds:schemaRefs>
    <ds:schemaRef ds:uri="http://purl.org/dc/terms/"/>
    <ds:schemaRef ds:uri="http://schemas.microsoft.com/office/2006/metadata/properties"/>
    <ds:schemaRef ds:uri="http://schemas.microsoft.com/office/infopath/2007/PartnerControls"/>
    <ds:schemaRef ds:uri="http://www.w3.org/XML/1998/namespace"/>
    <ds:schemaRef ds:uri="http://purl.org/dc/elements/1.1/"/>
    <ds:schemaRef ds:uri="http://schemas.microsoft.com/office/2006/documentManagement/types"/>
    <ds:schemaRef ds:uri="cb52ee0d-5346-4ae8-a9f9-d746adffeb6b"/>
    <ds:schemaRef ds:uri="91871c47-af2e-43ea-ad3f-7bb4c536bc45"/>
    <ds:schemaRef ds:uri="http://purl.org/dc/dcmitype/"/>
    <ds:schemaRef ds:uri="http://schemas.openxmlformats.org/package/2006/metadata/core-properties"/>
    <ds:schemaRef ds:uri="ba249638-b5c4-4b59-8094-70d8491c2e9c"/>
  </ds:schemaRefs>
</ds:datastoreItem>
</file>

<file path=docProps/app.xml><?xml version="1.0" encoding="utf-8"?>
<Properties xmlns="http://schemas.openxmlformats.org/officeDocument/2006/extended-properties" xmlns:vt="http://schemas.openxmlformats.org/officeDocument/2006/docPropsVTypes">
  <Template>S4F Template</Template>
  <TotalTime>63</TotalTime>
  <Words>1548</Words>
  <Application>Microsoft Office PowerPoint</Application>
  <PresentationFormat>Widescreen</PresentationFormat>
  <Paragraphs>86</Paragraphs>
  <Slides>7</Slides>
  <Notes>1</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7</vt:i4>
      </vt:variant>
    </vt:vector>
  </HeadingPairs>
  <TitlesOfParts>
    <vt:vector size="14" baseType="lpstr">
      <vt:lpstr>Aharoni</vt:lpstr>
      <vt:lpstr>Arial</vt:lpstr>
      <vt:lpstr>Calibri</vt:lpstr>
      <vt:lpstr>Georgia</vt:lpstr>
      <vt:lpstr>1_S4F-ERP Clean IFRS Stat &amp; Tax Rep</vt:lpstr>
      <vt:lpstr>S4F-ERP Period End Closing</vt:lpstr>
      <vt:lpstr>1_S4F-ERP Period End Closing</vt:lpstr>
      <vt:lpstr>Period End Closing Execution (BSC) </vt:lpstr>
      <vt:lpstr>VAT Clearing and Reporting</vt:lpstr>
      <vt:lpstr>VAT Regrouping S_ALR_87012357: Execution</vt:lpstr>
      <vt:lpstr>VAT Regrouping S_ALR_87012357: Postings</vt:lpstr>
      <vt:lpstr>Check VAT Account Balances and GL Journal</vt:lpstr>
      <vt:lpstr>VAT Account Automatic Clearing</vt:lpstr>
      <vt:lpstr>VAT F.13 Automatic Clearing – Common Errors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Sara Griffiths</dc:creator>
  <cp:lastModifiedBy>Wang, Wei</cp:lastModifiedBy>
  <cp:revision>2</cp:revision>
  <dcterms:created xsi:type="dcterms:W3CDTF">2019-04-11T09:35:08Z</dcterms:created>
  <dcterms:modified xsi:type="dcterms:W3CDTF">2024-04-25T17:44:14Z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0x010100EA691DA1475FED40816A34A9887BD419</vt:lpwstr>
  </property>
  <property fmtid="{D5CDD505-2E9C-101B-9397-08002B2CF9AE}" pid="3" name="Order">
    <vt:r8>1338400</vt:r8>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MSIP_Label_b020b37f-db72-473e-ae54-fb16df408069_Enabled">
    <vt:lpwstr>true</vt:lpwstr>
  </property>
  <property fmtid="{D5CDD505-2E9C-101B-9397-08002B2CF9AE}" pid="9" name="MSIP_Label_b020b37f-db72-473e-ae54-fb16df408069_SetDate">
    <vt:lpwstr>2022-06-08T07:04:03Z</vt:lpwstr>
  </property>
  <property fmtid="{D5CDD505-2E9C-101B-9397-08002B2CF9AE}" pid="10" name="MSIP_Label_b020b37f-db72-473e-ae54-fb16df408069_Method">
    <vt:lpwstr>Standard</vt:lpwstr>
  </property>
  <property fmtid="{D5CDD505-2E9C-101B-9397-08002B2CF9AE}" pid="11" name="MSIP_Label_b020b37f-db72-473e-ae54-fb16df408069_Name">
    <vt:lpwstr>General</vt:lpwstr>
  </property>
  <property fmtid="{D5CDD505-2E9C-101B-9397-08002B2CF9AE}" pid="12" name="MSIP_Label_b020b37f-db72-473e-ae54-fb16df408069_SiteId">
    <vt:lpwstr>705d07a3-2eea-4f3b-ab59-65ca29abeb26</vt:lpwstr>
  </property>
  <property fmtid="{D5CDD505-2E9C-101B-9397-08002B2CF9AE}" pid="13" name="MSIP_Label_b020b37f-db72-473e-ae54-fb16df408069_ActionId">
    <vt:lpwstr>77bc1306-c567-4900-9859-9f46e9d48a81</vt:lpwstr>
  </property>
  <property fmtid="{D5CDD505-2E9C-101B-9397-08002B2CF9AE}" pid="14" name="MSIP_Label_b020b37f-db72-473e-ae54-fb16df408069_ContentBits">
    <vt:lpwstr>0</vt:lpwstr>
  </property>
  <property fmtid="{D5CDD505-2E9C-101B-9397-08002B2CF9AE}" pid="15" name="MediaServiceImageTags">
    <vt:lpwstr/>
  </property>
  <property fmtid="{D5CDD505-2E9C-101B-9397-08002B2CF9AE}" pid="16" name="_SourceUrl">
    <vt:lpwstr/>
  </property>
  <property fmtid="{D5CDD505-2E9C-101B-9397-08002B2CF9AE}" pid="17" name="_SharedFileIndex">
    <vt:lpwstr/>
  </property>
</Properties>
</file>