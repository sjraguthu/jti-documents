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926" r:id="rId5"/>
    <p:sldMasterId id="2147483931" r:id="rId6"/>
  </p:sldMasterIdLst>
  <p:notesMasterIdLst>
    <p:notesMasterId r:id="rId21"/>
  </p:notesMasterIdLst>
  <p:sldIdLst>
    <p:sldId id="3312" r:id="rId7"/>
    <p:sldId id="3300" r:id="rId8"/>
    <p:sldId id="3301" r:id="rId9"/>
    <p:sldId id="3302" r:id="rId10"/>
    <p:sldId id="3305" r:id="rId11"/>
    <p:sldId id="3306" r:id="rId12"/>
    <p:sldId id="2560" r:id="rId13"/>
    <p:sldId id="2564" r:id="rId14"/>
    <p:sldId id="3404" r:id="rId15"/>
    <p:sldId id="2134961533" r:id="rId16"/>
    <p:sldId id="2147477289" r:id="rId17"/>
    <p:sldId id="2134961535" r:id="rId18"/>
    <p:sldId id="2134961536" r:id="rId19"/>
    <p:sldId id="263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4"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AA00"/>
    <a:srgbClr val="C3EBE9"/>
    <a:srgbClr val="33C781"/>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99A052-F69E-4D6A-B230-6EDE8FFF76ED}" v="1" dt="2024-04-25T18:22:33.0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038DACB1-3DD0-4257-9BEC-E202CB5AABF5}"/>
    <pc:docChg chg="addSld delSld modSld delMainMaster">
      <pc:chgData name="Wang, Wei" userId="627587dd-935f-4f2b-a6c6-edd4e0dcbff5" providerId="ADAL" clId="{038DACB1-3DD0-4257-9BEC-E202CB5AABF5}" dt="2020-05-22T10:50:51.405" v="62" actId="2696"/>
      <pc:docMkLst>
        <pc:docMk/>
      </pc:docMkLst>
      <pc:sldChg chg="del">
        <pc:chgData name="Wang, Wei" userId="627587dd-935f-4f2b-a6c6-edd4e0dcbff5" providerId="ADAL" clId="{038DACB1-3DD0-4257-9BEC-E202CB5AABF5}" dt="2020-05-22T10:50:03.943" v="28" actId="2696"/>
        <pc:sldMkLst>
          <pc:docMk/>
          <pc:sldMk cId="22907484" sldId="2522"/>
        </pc:sldMkLst>
      </pc:sldChg>
      <pc:sldChg chg="del">
        <pc:chgData name="Wang, Wei" userId="627587dd-935f-4f2b-a6c6-edd4e0dcbff5" providerId="ADAL" clId="{038DACB1-3DD0-4257-9BEC-E202CB5AABF5}" dt="2020-05-22T10:50:01.488" v="4" actId="2696"/>
        <pc:sldMkLst>
          <pc:docMk/>
          <pc:sldMk cId="1713380516" sldId="2558"/>
        </pc:sldMkLst>
      </pc:sldChg>
      <pc:sldChg chg="modSp">
        <pc:chgData name="Wang, Wei" userId="627587dd-935f-4f2b-a6c6-edd4e0dcbff5" providerId="ADAL" clId="{038DACB1-3DD0-4257-9BEC-E202CB5AABF5}" dt="2020-05-22T10:50:17.907" v="60" actId="14100"/>
        <pc:sldMkLst>
          <pc:docMk/>
          <pc:sldMk cId="391170887" sldId="2638"/>
        </pc:sldMkLst>
        <pc:spChg chg="mod">
          <ac:chgData name="Wang, Wei" userId="627587dd-935f-4f2b-a6c6-edd4e0dcbff5" providerId="ADAL" clId="{038DACB1-3DD0-4257-9BEC-E202CB5AABF5}" dt="2020-05-22T10:50:16.194" v="59" actId="14100"/>
          <ac:spMkLst>
            <pc:docMk/>
            <pc:sldMk cId="391170887" sldId="2638"/>
            <ac:spMk id="4" creationId="{7DF6DE24-71F6-4B4D-B00E-1C92B20D83D9}"/>
          </ac:spMkLst>
        </pc:spChg>
        <pc:spChg chg="mod">
          <ac:chgData name="Wang, Wei" userId="627587dd-935f-4f2b-a6c6-edd4e0dcbff5" providerId="ADAL" clId="{038DACB1-3DD0-4257-9BEC-E202CB5AABF5}" dt="2020-05-22T10:50:17.907" v="60" actId="14100"/>
          <ac:spMkLst>
            <pc:docMk/>
            <pc:sldMk cId="391170887" sldId="2638"/>
            <ac:spMk id="6" creationId="{BE07B137-E250-4AC5-81D1-F142F8E125F0}"/>
          </ac:spMkLst>
        </pc:spChg>
      </pc:sldChg>
      <pc:sldChg chg="del">
        <pc:chgData name="Wang, Wei" userId="627587dd-935f-4f2b-a6c6-edd4e0dcbff5" providerId="ADAL" clId="{038DACB1-3DD0-4257-9BEC-E202CB5AABF5}" dt="2020-05-22T10:50:01.412" v="0" actId="2696"/>
        <pc:sldMkLst>
          <pc:docMk/>
          <pc:sldMk cId="215748073" sldId="3313"/>
        </pc:sldMkLst>
      </pc:sldChg>
      <pc:sldChg chg="del">
        <pc:chgData name="Wang, Wei" userId="627587dd-935f-4f2b-a6c6-edd4e0dcbff5" providerId="ADAL" clId="{038DACB1-3DD0-4257-9BEC-E202CB5AABF5}" dt="2020-05-22T10:50:01.434" v="1" actId="2696"/>
        <pc:sldMkLst>
          <pc:docMk/>
          <pc:sldMk cId="4262673835" sldId="3314"/>
        </pc:sldMkLst>
      </pc:sldChg>
      <pc:sldChg chg="del">
        <pc:chgData name="Wang, Wei" userId="627587dd-935f-4f2b-a6c6-edd4e0dcbff5" providerId="ADAL" clId="{038DACB1-3DD0-4257-9BEC-E202CB5AABF5}" dt="2020-05-22T10:50:01.453" v="2" actId="2696"/>
        <pc:sldMkLst>
          <pc:docMk/>
          <pc:sldMk cId="3335184793" sldId="3315"/>
        </pc:sldMkLst>
      </pc:sldChg>
      <pc:sldChg chg="del">
        <pc:chgData name="Wang, Wei" userId="627587dd-935f-4f2b-a6c6-edd4e0dcbff5" providerId="ADAL" clId="{038DACB1-3DD0-4257-9BEC-E202CB5AABF5}" dt="2020-05-22T10:50:01.503" v="5" actId="2696"/>
        <pc:sldMkLst>
          <pc:docMk/>
          <pc:sldMk cId="2416137483" sldId="3316"/>
        </pc:sldMkLst>
      </pc:sldChg>
      <pc:sldChg chg="del">
        <pc:chgData name="Wang, Wei" userId="627587dd-935f-4f2b-a6c6-edd4e0dcbff5" providerId="ADAL" clId="{038DACB1-3DD0-4257-9BEC-E202CB5AABF5}" dt="2020-05-22T10:50:01.713" v="13" actId="2696"/>
        <pc:sldMkLst>
          <pc:docMk/>
          <pc:sldMk cId="526447841" sldId="3317"/>
        </pc:sldMkLst>
      </pc:sldChg>
      <pc:sldChg chg="del">
        <pc:chgData name="Wang, Wei" userId="627587dd-935f-4f2b-a6c6-edd4e0dcbff5" providerId="ADAL" clId="{038DACB1-3DD0-4257-9BEC-E202CB5AABF5}" dt="2020-05-22T10:50:01.471" v="3" actId="2696"/>
        <pc:sldMkLst>
          <pc:docMk/>
          <pc:sldMk cId="2947608363" sldId="3318"/>
        </pc:sldMkLst>
      </pc:sldChg>
      <pc:sldChg chg="del">
        <pc:chgData name="Wang, Wei" userId="627587dd-935f-4f2b-a6c6-edd4e0dcbff5" providerId="ADAL" clId="{038DACB1-3DD0-4257-9BEC-E202CB5AABF5}" dt="2020-05-22T10:50:01.539" v="6" actId="2696"/>
        <pc:sldMkLst>
          <pc:docMk/>
          <pc:sldMk cId="2127992302" sldId="3319"/>
        </pc:sldMkLst>
      </pc:sldChg>
      <pc:sldChg chg="del">
        <pc:chgData name="Wang, Wei" userId="627587dd-935f-4f2b-a6c6-edd4e0dcbff5" providerId="ADAL" clId="{038DACB1-3DD0-4257-9BEC-E202CB5AABF5}" dt="2020-05-22T10:50:01.565" v="7" actId="2696"/>
        <pc:sldMkLst>
          <pc:docMk/>
          <pc:sldMk cId="2777060430" sldId="3320"/>
        </pc:sldMkLst>
      </pc:sldChg>
      <pc:sldChg chg="del">
        <pc:chgData name="Wang, Wei" userId="627587dd-935f-4f2b-a6c6-edd4e0dcbff5" providerId="ADAL" clId="{038DACB1-3DD0-4257-9BEC-E202CB5AABF5}" dt="2020-05-22T10:50:01.586" v="8" actId="2696"/>
        <pc:sldMkLst>
          <pc:docMk/>
          <pc:sldMk cId="1945554767" sldId="3321"/>
        </pc:sldMkLst>
      </pc:sldChg>
      <pc:sldChg chg="del">
        <pc:chgData name="Wang, Wei" userId="627587dd-935f-4f2b-a6c6-edd4e0dcbff5" providerId="ADAL" clId="{038DACB1-3DD0-4257-9BEC-E202CB5AABF5}" dt="2020-05-22T10:50:01.603" v="9" actId="2696"/>
        <pc:sldMkLst>
          <pc:docMk/>
          <pc:sldMk cId="2127991632" sldId="3322"/>
        </pc:sldMkLst>
      </pc:sldChg>
      <pc:sldChg chg="del">
        <pc:chgData name="Wang, Wei" userId="627587dd-935f-4f2b-a6c6-edd4e0dcbff5" providerId="ADAL" clId="{038DACB1-3DD0-4257-9BEC-E202CB5AABF5}" dt="2020-05-22T10:50:01.638" v="10" actId="2696"/>
        <pc:sldMkLst>
          <pc:docMk/>
          <pc:sldMk cId="4281611941" sldId="3323"/>
        </pc:sldMkLst>
      </pc:sldChg>
      <pc:sldChg chg="del">
        <pc:chgData name="Wang, Wei" userId="627587dd-935f-4f2b-a6c6-edd4e0dcbff5" providerId="ADAL" clId="{038DACB1-3DD0-4257-9BEC-E202CB5AABF5}" dt="2020-05-22T10:50:01.673" v="12" actId="2696"/>
        <pc:sldMkLst>
          <pc:docMk/>
          <pc:sldMk cId="3390179843" sldId="3326"/>
        </pc:sldMkLst>
      </pc:sldChg>
      <pc:sldChg chg="del">
        <pc:chgData name="Wang, Wei" userId="627587dd-935f-4f2b-a6c6-edd4e0dcbff5" providerId="ADAL" clId="{038DACB1-3DD0-4257-9BEC-E202CB5AABF5}" dt="2020-05-22T10:50:01.657" v="11" actId="2696"/>
        <pc:sldMkLst>
          <pc:docMk/>
          <pc:sldMk cId="3124520466" sldId="3327"/>
        </pc:sldMkLst>
      </pc:sldChg>
      <pc:sldChg chg="del">
        <pc:chgData name="Wang, Wei" userId="627587dd-935f-4f2b-a6c6-edd4e0dcbff5" providerId="ADAL" clId="{038DACB1-3DD0-4257-9BEC-E202CB5AABF5}" dt="2020-05-22T10:50:01.766" v="15" actId="2696"/>
        <pc:sldMkLst>
          <pc:docMk/>
          <pc:sldMk cId="3477645088" sldId="3328"/>
        </pc:sldMkLst>
      </pc:sldChg>
      <pc:sldChg chg="del">
        <pc:chgData name="Wang, Wei" userId="627587dd-935f-4f2b-a6c6-edd4e0dcbff5" providerId="ADAL" clId="{038DACB1-3DD0-4257-9BEC-E202CB5AABF5}" dt="2020-05-22T10:50:01.785" v="16" actId="2696"/>
        <pc:sldMkLst>
          <pc:docMk/>
          <pc:sldMk cId="1662053451" sldId="3329"/>
        </pc:sldMkLst>
      </pc:sldChg>
      <pc:sldChg chg="del">
        <pc:chgData name="Wang, Wei" userId="627587dd-935f-4f2b-a6c6-edd4e0dcbff5" providerId="ADAL" clId="{038DACB1-3DD0-4257-9BEC-E202CB5AABF5}" dt="2020-05-22T10:50:01.837" v="19" actId="2696"/>
        <pc:sldMkLst>
          <pc:docMk/>
          <pc:sldMk cId="346396587" sldId="3330"/>
        </pc:sldMkLst>
      </pc:sldChg>
      <pc:sldChg chg="del">
        <pc:chgData name="Wang, Wei" userId="627587dd-935f-4f2b-a6c6-edd4e0dcbff5" providerId="ADAL" clId="{038DACB1-3DD0-4257-9BEC-E202CB5AABF5}" dt="2020-05-22T10:50:01.880" v="21" actId="2696"/>
        <pc:sldMkLst>
          <pc:docMk/>
          <pc:sldMk cId="1291678737" sldId="3331"/>
        </pc:sldMkLst>
      </pc:sldChg>
      <pc:sldChg chg="del">
        <pc:chgData name="Wang, Wei" userId="627587dd-935f-4f2b-a6c6-edd4e0dcbff5" providerId="ADAL" clId="{038DACB1-3DD0-4257-9BEC-E202CB5AABF5}" dt="2020-05-22T10:50:01.918" v="23" actId="2696"/>
        <pc:sldMkLst>
          <pc:docMk/>
          <pc:sldMk cId="3148421959" sldId="3332"/>
        </pc:sldMkLst>
      </pc:sldChg>
      <pc:sldChg chg="del">
        <pc:chgData name="Wang, Wei" userId="627587dd-935f-4f2b-a6c6-edd4e0dcbff5" providerId="ADAL" clId="{038DACB1-3DD0-4257-9BEC-E202CB5AABF5}" dt="2020-05-22T10:50:01.735" v="14" actId="2696"/>
        <pc:sldMkLst>
          <pc:docMk/>
          <pc:sldMk cId="3111119971" sldId="3334"/>
        </pc:sldMkLst>
      </pc:sldChg>
      <pc:sldChg chg="del">
        <pc:chgData name="Wang, Wei" userId="627587dd-935f-4f2b-a6c6-edd4e0dcbff5" providerId="ADAL" clId="{038DACB1-3DD0-4257-9BEC-E202CB5AABF5}" dt="2020-05-22T10:50:01.802" v="17" actId="2696"/>
        <pc:sldMkLst>
          <pc:docMk/>
          <pc:sldMk cId="380740504" sldId="3335"/>
        </pc:sldMkLst>
      </pc:sldChg>
      <pc:sldChg chg="del">
        <pc:chgData name="Wang, Wei" userId="627587dd-935f-4f2b-a6c6-edd4e0dcbff5" providerId="ADAL" clId="{038DACB1-3DD0-4257-9BEC-E202CB5AABF5}" dt="2020-05-22T10:50:01.957" v="25" actId="2696"/>
        <pc:sldMkLst>
          <pc:docMk/>
          <pc:sldMk cId="4214234733" sldId="3337"/>
        </pc:sldMkLst>
      </pc:sldChg>
      <pc:sldChg chg="del">
        <pc:chgData name="Wang, Wei" userId="627587dd-935f-4f2b-a6c6-edd4e0dcbff5" providerId="ADAL" clId="{038DACB1-3DD0-4257-9BEC-E202CB5AABF5}" dt="2020-05-22T10:50:01.998" v="27" actId="2696"/>
        <pc:sldMkLst>
          <pc:docMk/>
          <pc:sldMk cId="3949925884" sldId="3338"/>
        </pc:sldMkLst>
      </pc:sldChg>
      <pc:sldChg chg="del">
        <pc:chgData name="Wang, Wei" userId="627587dd-935f-4f2b-a6c6-edd4e0dcbff5" providerId="ADAL" clId="{038DACB1-3DD0-4257-9BEC-E202CB5AABF5}" dt="2020-05-22T10:50:01.979" v="26" actId="2696"/>
        <pc:sldMkLst>
          <pc:docMk/>
          <pc:sldMk cId="4188551729" sldId="3339"/>
        </pc:sldMkLst>
      </pc:sldChg>
      <pc:sldChg chg="del">
        <pc:chgData name="Wang, Wei" userId="627587dd-935f-4f2b-a6c6-edd4e0dcbff5" providerId="ADAL" clId="{038DACB1-3DD0-4257-9BEC-E202CB5AABF5}" dt="2020-05-22T10:50:01.821" v="18" actId="2696"/>
        <pc:sldMkLst>
          <pc:docMk/>
          <pc:sldMk cId="3603535866" sldId="3340"/>
        </pc:sldMkLst>
      </pc:sldChg>
      <pc:sldChg chg="del">
        <pc:chgData name="Wang, Wei" userId="627587dd-935f-4f2b-a6c6-edd4e0dcbff5" providerId="ADAL" clId="{038DACB1-3DD0-4257-9BEC-E202CB5AABF5}" dt="2020-05-22T10:50:01.863" v="20" actId="2696"/>
        <pc:sldMkLst>
          <pc:docMk/>
          <pc:sldMk cId="3144107531" sldId="3341"/>
        </pc:sldMkLst>
      </pc:sldChg>
      <pc:sldChg chg="del">
        <pc:chgData name="Wang, Wei" userId="627587dd-935f-4f2b-a6c6-edd4e0dcbff5" providerId="ADAL" clId="{038DACB1-3DD0-4257-9BEC-E202CB5AABF5}" dt="2020-05-22T10:50:01.899" v="22" actId="2696"/>
        <pc:sldMkLst>
          <pc:docMk/>
          <pc:sldMk cId="2740622052" sldId="3342"/>
        </pc:sldMkLst>
      </pc:sldChg>
      <pc:sldChg chg="del">
        <pc:chgData name="Wang, Wei" userId="627587dd-935f-4f2b-a6c6-edd4e0dcbff5" providerId="ADAL" clId="{038DACB1-3DD0-4257-9BEC-E202CB5AABF5}" dt="2020-05-22T10:50:01.934" v="24" actId="2696"/>
        <pc:sldMkLst>
          <pc:docMk/>
          <pc:sldMk cId="2567629624" sldId="3394"/>
        </pc:sldMkLst>
      </pc:sldChg>
      <pc:sldChg chg="del">
        <pc:chgData name="Wang, Wei" userId="627587dd-935f-4f2b-a6c6-edd4e0dcbff5" providerId="ADAL" clId="{038DACB1-3DD0-4257-9BEC-E202CB5AABF5}" dt="2020-05-22T10:50:51.405" v="62" actId="2696"/>
        <pc:sldMkLst>
          <pc:docMk/>
          <pc:sldMk cId="3615517084" sldId="3403"/>
        </pc:sldMkLst>
      </pc:sldChg>
      <pc:sldChg chg="add">
        <pc:chgData name="Wang, Wei" userId="627587dd-935f-4f2b-a6c6-edd4e0dcbff5" providerId="ADAL" clId="{038DACB1-3DD0-4257-9BEC-E202CB5AABF5}" dt="2020-05-22T10:50:47.803" v="61"/>
        <pc:sldMkLst>
          <pc:docMk/>
          <pc:sldMk cId="4096840923" sldId="3404"/>
        </pc:sldMkLst>
      </pc:sldChg>
      <pc:sldMasterChg chg="del delSldLayout">
        <pc:chgData name="Wang, Wei" userId="627587dd-935f-4f2b-a6c6-edd4e0dcbff5" providerId="ADAL" clId="{038DACB1-3DD0-4257-9BEC-E202CB5AABF5}" dt="2020-05-22T10:50:03.988" v="56" actId="2696"/>
        <pc:sldMasterMkLst>
          <pc:docMk/>
          <pc:sldMasterMk cId="3877396151" sldId="2147483849"/>
        </pc:sldMasterMkLst>
        <pc:sldLayoutChg chg="del">
          <pc:chgData name="Wang, Wei" userId="627587dd-935f-4f2b-a6c6-edd4e0dcbff5" providerId="ADAL" clId="{038DACB1-3DD0-4257-9BEC-E202CB5AABF5}" dt="2020-05-22T10:50:03.945" v="29" actId="2696"/>
          <pc:sldLayoutMkLst>
            <pc:docMk/>
            <pc:sldMasterMk cId="3877396151" sldId="2147483849"/>
            <pc:sldLayoutMk cId="2809059773" sldId="2147483850"/>
          </pc:sldLayoutMkLst>
        </pc:sldLayoutChg>
        <pc:sldLayoutChg chg="del">
          <pc:chgData name="Wang, Wei" userId="627587dd-935f-4f2b-a6c6-edd4e0dcbff5" providerId="ADAL" clId="{038DACB1-3DD0-4257-9BEC-E202CB5AABF5}" dt="2020-05-22T10:50:03.946" v="30" actId="2696"/>
          <pc:sldLayoutMkLst>
            <pc:docMk/>
            <pc:sldMasterMk cId="3877396151" sldId="2147483849"/>
            <pc:sldLayoutMk cId="4210182259" sldId="2147483851"/>
          </pc:sldLayoutMkLst>
        </pc:sldLayoutChg>
        <pc:sldLayoutChg chg="del">
          <pc:chgData name="Wang, Wei" userId="627587dd-935f-4f2b-a6c6-edd4e0dcbff5" providerId="ADAL" clId="{038DACB1-3DD0-4257-9BEC-E202CB5AABF5}" dt="2020-05-22T10:50:03.948" v="31" actId="2696"/>
          <pc:sldLayoutMkLst>
            <pc:docMk/>
            <pc:sldMasterMk cId="3877396151" sldId="2147483849"/>
            <pc:sldLayoutMk cId="3881125674" sldId="2147483852"/>
          </pc:sldLayoutMkLst>
        </pc:sldLayoutChg>
        <pc:sldLayoutChg chg="del">
          <pc:chgData name="Wang, Wei" userId="627587dd-935f-4f2b-a6c6-edd4e0dcbff5" providerId="ADAL" clId="{038DACB1-3DD0-4257-9BEC-E202CB5AABF5}" dt="2020-05-22T10:50:03.949" v="32" actId="2696"/>
          <pc:sldLayoutMkLst>
            <pc:docMk/>
            <pc:sldMasterMk cId="3877396151" sldId="2147483849"/>
            <pc:sldLayoutMk cId="214291803" sldId="2147483853"/>
          </pc:sldLayoutMkLst>
        </pc:sldLayoutChg>
        <pc:sldLayoutChg chg="del">
          <pc:chgData name="Wang, Wei" userId="627587dd-935f-4f2b-a6c6-edd4e0dcbff5" providerId="ADAL" clId="{038DACB1-3DD0-4257-9BEC-E202CB5AABF5}" dt="2020-05-22T10:50:03.951" v="33" actId="2696"/>
          <pc:sldLayoutMkLst>
            <pc:docMk/>
            <pc:sldMasterMk cId="3877396151" sldId="2147483849"/>
            <pc:sldLayoutMk cId="1474066911" sldId="2147483854"/>
          </pc:sldLayoutMkLst>
        </pc:sldLayoutChg>
        <pc:sldLayoutChg chg="del">
          <pc:chgData name="Wang, Wei" userId="627587dd-935f-4f2b-a6c6-edd4e0dcbff5" providerId="ADAL" clId="{038DACB1-3DD0-4257-9BEC-E202CB5AABF5}" dt="2020-05-22T10:50:03.953" v="34" actId="2696"/>
          <pc:sldLayoutMkLst>
            <pc:docMk/>
            <pc:sldMasterMk cId="3877396151" sldId="2147483849"/>
            <pc:sldLayoutMk cId="1847845935" sldId="2147483855"/>
          </pc:sldLayoutMkLst>
        </pc:sldLayoutChg>
        <pc:sldLayoutChg chg="del">
          <pc:chgData name="Wang, Wei" userId="627587dd-935f-4f2b-a6c6-edd4e0dcbff5" providerId="ADAL" clId="{038DACB1-3DD0-4257-9BEC-E202CB5AABF5}" dt="2020-05-22T10:50:03.955" v="35" actId="2696"/>
          <pc:sldLayoutMkLst>
            <pc:docMk/>
            <pc:sldMasterMk cId="3877396151" sldId="2147483849"/>
            <pc:sldLayoutMk cId="4057498967" sldId="2147483856"/>
          </pc:sldLayoutMkLst>
        </pc:sldLayoutChg>
        <pc:sldLayoutChg chg="del">
          <pc:chgData name="Wang, Wei" userId="627587dd-935f-4f2b-a6c6-edd4e0dcbff5" providerId="ADAL" clId="{038DACB1-3DD0-4257-9BEC-E202CB5AABF5}" dt="2020-05-22T10:50:03.958" v="36" actId="2696"/>
          <pc:sldLayoutMkLst>
            <pc:docMk/>
            <pc:sldMasterMk cId="3877396151" sldId="2147483849"/>
            <pc:sldLayoutMk cId="439931139" sldId="2147483857"/>
          </pc:sldLayoutMkLst>
        </pc:sldLayoutChg>
        <pc:sldLayoutChg chg="del">
          <pc:chgData name="Wang, Wei" userId="627587dd-935f-4f2b-a6c6-edd4e0dcbff5" providerId="ADAL" clId="{038DACB1-3DD0-4257-9BEC-E202CB5AABF5}" dt="2020-05-22T10:50:03.959" v="37" actId="2696"/>
          <pc:sldLayoutMkLst>
            <pc:docMk/>
            <pc:sldMasterMk cId="3877396151" sldId="2147483849"/>
            <pc:sldLayoutMk cId="740488066" sldId="2147483858"/>
          </pc:sldLayoutMkLst>
        </pc:sldLayoutChg>
        <pc:sldLayoutChg chg="del">
          <pc:chgData name="Wang, Wei" userId="627587dd-935f-4f2b-a6c6-edd4e0dcbff5" providerId="ADAL" clId="{038DACB1-3DD0-4257-9BEC-E202CB5AABF5}" dt="2020-05-22T10:50:03.961" v="38" actId="2696"/>
          <pc:sldLayoutMkLst>
            <pc:docMk/>
            <pc:sldMasterMk cId="3877396151" sldId="2147483849"/>
            <pc:sldLayoutMk cId="1760919890" sldId="2147483859"/>
          </pc:sldLayoutMkLst>
        </pc:sldLayoutChg>
        <pc:sldLayoutChg chg="del">
          <pc:chgData name="Wang, Wei" userId="627587dd-935f-4f2b-a6c6-edd4e0dcbff5" providerId="ADAL" clId="{038DACB1-3DD0-4257-9BEC-E202CB5AABF5}" dt="2020-05-22T10:50:03.962" v="39" actId="2696"/>
          <pc:sldLayoutMkLst>
            <pc:docMk/>
            <pc:sldMasterMk cId="3877396151" sldId="2147483849"/>
            <pc:sldLayoutMk cId="2694469045" sldId="2147483860"/>
          </pc:sldLayoutMkLst>
        </pc:sldLayoutChg>
        <pc:sldLayoutChg chg="del">
          <pc:chgData name="Wang, Wei" userId="627587dd-935f-4f2b-a6c6-edd4e0dcbff5" providerId="ADAL" clId="{038DACB1-3DD0-4257-9BEC-E202CB5AABF5}" dt="2020-05-22T10:50:03.964" v="40" actId="2696"/>
          <pc:sldLayoutMkLst>
            <pc:docMk/>
            <pc:sldMasterMk cId="3877396151" sldId="2147483849"/>
            <pc:sldLayoutMk cId="2180933198" sldId="2147483861"/>
          </pc:sldLayoutMkLst>
        </pc:sldLayoutChg>
        <pc:sldLayoutChg chg="del">
          <pc:chgData name="Wang, Wei" userId="627587dd-935f-4f2b-a6c6-edd4e0dcbff5" providerId="ADAL" clId="{038DACB1-3DD0-4257-9BEC-E202CB5AABF5}" dt="2020-05-22T10:50:03.965" v="41" actId="2696"/>
          <pc:sldLayoutMkLst>
            <pc:docMk/>
            <pc:sldMasterMk cId="3877396151" sldId="2147483849"/>
            <pc:sldLayoutMk cId="3841452663" sldId="2147483862"/>
          </pc:sldLayoutMkLst>
        </pc:sldLayoutChg>
        <pc:sldLayoutChg chg="del">
          <pc:chgData name="Wang, Wei" userId="627587dd-935f-4f2b-a6c6-edd4e0dcbff5" providerId="ADAL" clId="{038DACB1-3DD0-4257-9BEC-E202CB5AABF5}" dt="2020-05-22T10:50:03.966" v="42" actId="2696"/>
          <pc:sldLayoutMkLst>
            <pc:docMk/>
            <pc:sldMasterMk cId="3877396151" sldId="2147483849"/>
            <pc:sldLayoutMk cId="1875997094" sldId="2147483863"/>
          </pc:sldLayoutMkLst>
        </pc:sldLayoutChg>
        <pc:sldLayoutChg chg="del">
          <pc:chgData name="Wang, Wei" userId="627587dd-935f-4f2b-a6c6-edd4e0dcbff5" providerId="ADAL" clId="{038DACB1-3DD0-4257-9BEC-E202CB5AABF5}" dt="2020-05-22T10:50:03.968" v="43" actId="2696"/>
          <pc:sldLayoutMkLst>
            <pc:docMk/>
            <pc:sldMasterMk cId="3877396151" sldId="2147483849"/>
            <pc:sldLayoutMk cId="2610778980" sldId="2147483864"/>
          </pc:sldLayoutMkLst>
        </pc:sldLayoutChg>
        <pc:sldLayoutChg chg="del">
          <pc:chgData name="Wang, Wei" userId="627587dd-935f-4f2b-a6c6-edd4e0dcbff5" providerId="ADAL" clId="{038DACB1-3DD0-4257-9BEC-E202CB5AABF5}" dt="2020-05-22T10:50:03.969" v="44" actId="2696"/>
          <pc:sldLayoutMkLst>
            <pc:docMk/>
            <pc:sldMasterMk cId="3877396151" sldId="2147483849"/>
            <pc:sldLayoutMk cId="2535699597" sldId="2147483865"/>
          </pc:sldLayoutMkLst>
        </pc:sldLayoutChg>
        <pc:sldLayoutChg chg="del">
          <pc:chgData name="Wang, Wei" userId="627587dd-935f-4f2b-a6c6-edd4e0dcbff5" providerId="ADAL" clId="{038DACB1-3DD0-4257-9BEC-E202CB5AABF5}" dt="2020-05-22T10:50:03.970" v="45" actId="2696"/>
          <pc:sldLayoutMkLst>
            <pc:docMk/>
            <pc:sldMasterMk cId="3877396151" sldId="2147483849"/>
            <pc:sldLayoutMk cId="3601425507" sldId="2147483866"/>
          </pc:sldLayoutMkLst>
        </pc:sldLayoutChg>
        <pc:sldLayoutChg chg="del">
          <pc:chgData name="Wang, Wei" userId="627587dd-935f-4f2b-a6c6-edd4e0dcbff5" providerId="ADAL" clId="{038DACB1-3DD0-4257-9BEC-E202CB5AABF5}" dt="2020-05-22T10:50:03.972" v="46" actId="2696"/>
          <pc:sldLayoutMkLst>
            <pc:docMk/>
            <pc:sldMasterMk cId="3877396151" sldId="2147483849"/>
            <pc:sldLayoutMk cId="2609394409" sldId="2147483867"/>
          </pc:sldLayoutMkLst>
        </pc:sldLayoutChg>
        <pc:sldLayoutChg chg="del">
          <pc:chgData name="Wang, Wei" userId="627587dd-935f-4f2b-a6c6-edd4e0dcbff5" providerId="ADAL" clId="{038DACB1-3DD0-4257-9BEC-E202CB5AABF5}" dt="2020-05-22T10:50:03.975" v="47" actId="2696"/>
          <pc:sldLayoutMkLst>
            <pc:docMk/>
            <pc:sldMasterMk cId="3877396151" sldId="2147483849"/>
            <pc:sldLayoutMk cId="3610381843" sldId="2147483868"/>
          </pc:sldLayoutMkLst>
        </pc:sldLayoutChg>
        <pc:sldLayoutChg chg="del">
          <pc:chgData name="Wang, Wei" userId="627587dd-935f-4f2b-a6c6-edd4e0dcbff5" providerId="ADAL" clId="{038DACB1-3DD0-4257-9BEC-E202CB5AABF5}" dt="2020-05-22T10:50:03.977" v="48" actId="2696"/>
          <pc:sldLayoutMkLst>
            <pc:docMk/>
            <pc:sldMasterMk cId="3877396151" sldId="2147483849"/>
            <pc:sldLayoutMk cId="286573086" sldId="2147483869"/>
          </pc:sldLayoutMkLst>
        </pc:sldLayoutChg>
        <pc:sldLayoutChg chg="del">
          <pc:chgData name="Wang, Wei" userId="627587dd-935f-4f2b-a6c6-edd4e0dcbff5" providerId="ADAL" clId="{038DACB1-3DD0-4257-9BEC-E202CB5AABF5}" dt="2020-05-22T10:50:03.979" v="49" actId="2696"/>
          <pc:sldLayoutMkLst>
            <pc:docMk/>
            <pc:sldMasterMk cId="3877396151" sldId="2147483849"/>
            <pc:sldLayoutMk cId="1939716253" sldId="2147483870"/>
          </pc:sldLayoutMkLst>
        </pc:sldLayoutChg>
        <pc:sldLayoutChg chg="del">
          <pc:chgData name="Wang, Wei" userId="627587dd-935f-4f2b-a6c6-edd4e0dcbff5" providerId="ADAL" clId="{038DACB1-3DD0-4257-9BEC-E202CB5AABF5}" dt="2020-05-22T10:50:03.980" v="50" actId="2696"/>
          <pc:sldLayoutMkLst>
            <pc:docMk/>
            <pc:sldMasterMk cId="3877396151" sldId="2147483849"/>
            <pc:sldLayoutMk cId="3360775297" sldId="2147483871"/>
          </pc:sldLayoutMkLst>
        </pc:sldLayoutChg>
        <pc:sldLayoutChg chg="del">
          <pc:chgData name="Wang, Wei" userId="627587dd-935f-4f2b-a6c6-edd4e0dcbff5" providerId="ADAL" clId="{038DACB1-3DD0-4257-9BEC-E202CB5AABF5}" dt="2020-05-22T10:50:03.981" v="51" actId="2696"/>
          <pc:sldLayoutMkLst>
            <pc:docMk/>
            <pc:sldMasterMk cId="3877396151" sldId="2147483849"/>
            <pc:sldLayoutMk cId="1765900942" sldId="2147483872"/>
          </pc:sldLayoutMkLst>
        </pc:sldLayoutChg>
        <pc:sldLayoutChg chg="del">
          <pc:chgData name="Wang, Wei" userId="627587dd-935f-4f2b-a6c6-edd4e0dcbff5" providerId="ADAL" clId="{038DACB1-3DD0-4257-9BEC-E202CB5AABF5}" dt="2020-05-22T10:50:03.982" v="52" actId="2696"/>
          <pc:sldLayoutMkLst>
            <pc:docMk/>
            <pc:sldMasterMk cId="3877396151" sldId="2147483849"/>
            <pc:sldLayoutMk cId="1953932773" sldId="2147483873"/>
          </pc:sldLayoutMkLst>
        </pc:sldLayoutChg>
        <pc:sldLayoutChg chg="del">
          <pc:chgData name="Wang, Wei" userId="627587dd-935f-4f2b-a6c6-edd4e0dcbff5" providerId="ADAL" clId="{038DACB1-3DD0-4257-9BEC-E202CB5AABF5}" dt="2020-05-22T10:50:03.984" v="53" actId="2696"/>
          <pc:sldLayoutMkLst>
            <pc:docMk/>
            <pc:sldMasterMk cId="3877396151" sldId="2147483849"/>
            <pc:sldLayoutMk cId="2795723551" sldId="2147483874"/>
          </pc:sldLayoutMkLst>
        </pc:sldLayoutChg>
        <pc:sldLayoutChg chg="del">
          <pc:chgData name="Wang, Wei" userId="627587dd-935f-4f2b-a6c6-edd4e0dcbff5" providerId="ADAL" clId="{038DACB1-3DD0-4257-9BEC-E202CB5AABF5}" dt="2020-05-22T10:50:03.985" v="54" actId="2696"/>
          <pc:sldLayoutMkLst>
            <pc:docMk/>
            <pc:sldMasterMk cId="3877396151" sldId="2147483849"/>
            <pc:sldLayoutMk cId="3625183382" sldId="2147483875"/>
          </pc:sldLayoutMkLst>
        </pc:sldLayoutChg>
        <pc:sldLayoutChg chg="del">
          <pc:chgData name="Wang, Wei" userId="627587dd-935f-4f2b-a6c6-edd4e0dcbff5" providerId="ADAL" clId="{038DACB1-3DD0-4257-9BEC-E202CB5AABF5}" dt="2020-05-22T10:50:03.986" v="55" actId="2696"/>
          <pc:sldLayoutMkLst>
            <pc:docMk/>
            <pc:sldMasterMk cId="3877396151" sldId="2147483849"/>
            <pc:sldLayoutMk cId="3754326233" sldId="2147483876"/>
          </pc:sldLayoutMkLst>
        </pc:sldLayoutChg>
      </pc:sldMasterChg>
    </pc:docChg>
  </pc:docChgLst>
  <pc:docChgLst>
    <pc:chgData name="Wang, Wei" userId="627587dd-935f-4f2b-a6c6-edd4e0dcbff5" providerId="ADAL" clId="{2B99A052-F69E-4D6A-B230-6EDE8FFF76ED}"/>
    <pc:docChg chg="delSld">
      <pc:chgData name="Wang, Wei" userId="627587dd-935f-4f2b-a6c6-edd4e0dcbff5" providerId="ADAL" clId="{2B99A052-F69E-4D6A-B230-6EDE8FFF76ED}" dt="2024-04-25T18:22:11.686" v="0" actId="47"/>
      <pc:docMkLst>
        <pc:docMk/>
      </pc:docMkLst>
      <pc:sldChg chg="del">
        <pc:chgData name="Wang, Wei" userId="627587dd-935f-4f2b-a6c6-edd4e0dcbff5" providerId="ADAL" clId="{2B99A052-F69E-4D6A-B230-6EDE8FFF76ED}" dt="2024-04-25T18:22:11.686" v="0" actId="47"/>
        <pc:sldMkLst>
          <pc:docMk/>
          <pc:sldMk cId="523632826" sldId="2560"/>
        </pc:sldMkLst>
      </pc:sldChg>
      <pc:sldChg chg="del">
        <pc:chgData name="Wang, Wei" userId="627587dd-935f-4f2b-a6c6-edd4e0dcbff5" providerId="ADAL" clId="{2B99A052-F69E-4D6A-B230-6EDE8FFF76ED}" dt="2024-04-25T18:22:11.686" v="0" actId="47"/>
        <pc:sldMkLst>
          <pc:docMk/>
          <pc:sldMk cId="881083979" sldId="2564"/>
        </pc:sldMkLst>
      </pc:sldChg>
      <pc:sldChg chg="del">
        <pc:chgData name="Wang, Wei" userId="627587dd-935f-4f2b-a6c6-edd4e0dcbff5" providerId="ADAL" clId="{2B99A052-F69E-4D6A-B230-6EDE8FFF76ED}" dt="2024-04-25T18:22:11.686" v="0" actId="47"/>
        <pc:sldMkLst>
          <pc:docMk/>
          <pc:sldMk cId="2813254392" sldId="3300"/>
        </pc:sldMkLst>
      </pc:sldChg>
      <pc:sldChg chg="del">
        <pc:chgData name="Wang, Wei" userId="627587dd-935f-4f2b-a6c6-edd4e0dcbff5" providerId="ADAL" clId="{2B99A052-F69E-4D6A-B230-6EDE8FFF76ED}" dt="2024-04-25T18:22:11.686" v="0" actId="47"/>
        <pc:sldMkLst>
          <pc:docMk/>
          <pc:sldMk cId="2168276619" sldId="3301"/>
        </pc:sldMkLst>
      </pc:sldChg>
      <pc:sldChg chg="del">
        <pc:chgData name="Wang, Wei" userId="627587dd-935f-4f2b-a6c6-edd4e0dcbff5" providerId="ADAL" clId="{2B99A052-F69E-4D6A-B230-6EDE8FFF76ED}" dt="2024-04-25T18:22:11.686" v="0" actId="47"/>
        <pc:sldMkLst>
          <pc:docMk/>
          <pc:sldMk cId="606603448" sldId="3302"/>
        </pc:sldMkLst>
      </pc:sldChg>
      <pc:sldChg chg="del">
        <pc:chgData name="Wang, Wei" userId="627587dd-935f-4f2b-a6c6-edd4e0dcbff5" providerId="ADAL" clId="{2B99A052-F69E-4D6A-B230-6EDE8FFF76ED}" dt="2024-04-25T18:22:11.686" v="0" actId="47"/>
        <pc:sldMkLst>
          <pc:docMk/>
          <pc:sldMk cId="83612990" sldId="3305"/>
        </pc:sldMkLst>
      </pc:sldChg>
      <pc:sldChg chg="del">
        <pc:chgData name="Wang, Wei" userId="627587dd-935f-4f2b-a6c6-edd4e0dcbff5" providerId="ADAL" clId="{2B99A052-F69E-4D6A-B230-6EDE8FFF76ED}" dt="2024-04-25T18:22:11.686" v="0" actId="47"/>
        <pc:sldMkLst>
          <pc:docMk/>
          <pc:sldMk cId="1312951834" sldId="3306"/>
        </pc:sldMkLst>
      </pc:sldChg>
      <pc:sldChg chg="del">
        <pc:chgData name="Wang, Wei" userId="627587dd-935f-4f2b-a6c6-edd4e0dcbff5" providerId="ADAL" clId="{2B99A052-F69E-4D6A-B230-6EDE8FFF76ED}" dt="2024-04-25T18:22:11.686" v="0" actId="47"/>
        <pc:sldMkLst>
          <pc:docMk/>
          <pc:sldMk cId="4096840923" sldId="3404"/>
        </pc:sldMkLst>
      </pc:sldChg>
      <pc:sldMasterChg chg="delSldLayout">
        <pc:chgData name="Wang, Wei" userId="627587dd-935f-4f2b-a6c6-edd4e0dcbff5" providerId="ADAL" clId="{2B99A052-F69E-4D6A-B230-6EDE8FFF76ED}" dt="2024-04-25T18:22:11.686" v="0" actId="47"/>
        <pc:sldMasterMkLst>
          <pc:docMk/>
          <pc:sldMasterMk cId="2216067138" sldId="2147483931"/>
        </pc:sldMasterMkLst>
        <pc:sldLayoutChg chg="del">
          <pc:chgData name="Wang, Wei" userId="627587dd-935f-4f2b-a6c6-edd4e0dcbff5" providerId="ADAL" clId="{2B99A052-F69E-4D6A-B230-6EDE8FFF76ED}" dt="2024-04-25T18:22:11.686" v="0" actId="47"/>
          <pc:sldLayoutMkLst>
            <pc:docMk/>
            <pc:sldMasterMk cId="2216067138" sldId="2147483931"/>
            <pc:sldLayoutMk cId="3162750045" sldId="2147483996"/>
          </pc:sldLayoutMkLst>
        </pc:sldLayoutChg>
      </pc:sldMasterChg>
    </pc:docChg>
  </pc:docChgLst>
  <pc:docChgLst>
    <pc:chgData name="Wang, Wei" userId="627587dd-935f-4f2b-a6c6-edd4e0dcbff5" providerId="ADAL" clId="{CA4E89E4-842A-4FC6-8E2B-51B2DA5662AB}"/>
    <pc:docChg chg="delSld delMainMaster">
      <pc:chgData name="Wang, Wei" userId="627587dd-935f-4f2b-a6c6-edd4e0dcbff5" providerId="ADAL" clId="{CA4E89E4-842A-4FC6-8E2B-51B2DA5662AB}" dt="2020-05-21T16:15:16.063" v="41" actId="2696"/>
      <pc:docMkLst>
        <pc:docMk/>
      </pc:docMkLst>
      <pc:sldChg chg="del">
        <pc:chgData name="Wang, Wei" userId="627587dd-935f-4f2b-a6c6-edd4e0dcbff5" providerId="ADAL" clId="{CA4E89E4-842A-4FC6-8E2B-51B2DA5662AB}" dt="2020-05-21T16:15:15.863" v="34" actId="2696"/>
        <pc:sldMkLst>
          <pc:docMk/>
          <pc:sldMk cId="2955668432" sldId="2559"/>
        </pc:sldMkLst>
      </pc:sldChg>
      <pc:sldChg chg="del">
        <pc:chgData name="Wang, Wei" userId="627587dd-935f-4f2b-a6c6-edd4e0dcbff5" providerId="ADAL" clId="{CA4E89E4-842A-4FC6-8E2B-51B2DA5662AB}" dt="2020-05-21T16:15:16.063" v="41" actId="2696"/>
        <pc:sldMkLst>
          <pc:docMk/>
          <pc:sldMk cId="167443583" sldId="2561"/>
        </pc:sldMkLst>
      </pc:sldChg>
      <pc:sldChg chg="del">
        <pc:chgData name="Wang, Wei" userId="627587dd-935f-4f2b-a6c6-edd4e0dcbff5" providerId="ADAL" clId="{CA4E89E4-842A-4FC6-8E2B-51B2DA5662AB}" dt="2020-05-21T16:15:15.610" v="1" actId="2696"/>
        <pc:sldMkLst>
          <pc:docMk/>
          <pc:sldMk cId="3797758620" sldId="2574"/>
        </pc:sldMkLst>
      </pc:sldChg>
      <pc:sldChg chg="del">
        <pc:chgData name="Wang, Wei" userId="627587dd-935f-4f2b-a6c6-edd4e0dcbff5" providerId="ADAL" clId="{CA4E89E4-842A-4FC6-8E2B-51B2DA5662AB}" dt="2020-05-21T16:15:15.718" v="28" actId="2696"/>
        <pc:sldMkLst>
          <pc:docMk/>
          <pc:sldMk cId="2795661269" sldId="3292"/>
        </pc:sldMkLst>
      </pc:sldChg>
      <pc:sldChg chg="del">
        <pc:chgData name="Wang, Wei" userId="627587dd-935f-4f2b-a6c6-edd4e0dcbff5" providerId="ADAL" clId="{CA4E89E4-842A-4FC6-8E2B-51B2DA5662AB}" dt="2020-05-21T16:15:15.668" v="26" actId="2696"/>
        <pc:sldMkLst>
          <pc:docMk/>
          <pc:sldMk cId="1553453907" sldId="3293"/>
        </pc:sldMkLst>
      </pc:sldChg>
      <pc:sldChg chg="del">
        <pc:chgData name="Wang, Wei" userId="627587dd-935f-4f2b-a6c6-edd4e0dcbff5" providerId="ADAL" clId="{CA4E89E4-842A-4FC6-8E2B-51B2DA5662AB}" dt="2020-05-21T16:15:15.964" v="37" actId="2696"/>
        <pc:sldMkLst>
          <pc:docMk/>
          <pc:sldMk cId="929812060" sldId="3294"/>
        </pc:sldMkLst>
      </pc:sldChg>
      <pc:sldChg chg="del">
        <pc:chgData name="Wang, Wei" userId="627587dd-935f-4f2b-a6c6-edd4e0dcbff5" providerId="ADAL" clId="{CA4E89E4-842A-4FC6-8E2B-51B2DA5662AB}" dt="2020-05-21T16:15:15.741" v="29" actId="2696"/>
        <pc:sldMkLst>
          <pc:docMk/>
          <pc:sldMk cId="1479512413" sldId="3295"/>
        </pc:sldMkLst>
      </pc:sldChg>
      <pc:sldChg chg="del">
        <pc:chgData name="Wang, Wei" userId="627587dd-935f-4f2b-a6c6-edd4e0dcbff5" providerId="ADAL" clId="{CA4E89E4-842A-4FC6-8E2B-51B2DA5662AB}" dt="2020-05-21T16:15:15.769" v="30" actId="2696"/>
        <pc:sldMkLst>
          <pc:docMk/>
          <pc:sldMk cId="3954248733" sldId="3296"/>
        </pc:sldMkLst>
      </pc:sldChg>
      <pc:sldChg chg="del">
        <pc:chgData name="Wang, Wei" userId="627587dd-935f-4f2b-a6c6-edd4e0dcbff5" providerId="ADAL" clId="{CA4E89E4-842A-4FC6-8E2B-51B2DA5662AB}" dt="2020-05-21T16:15:15.795" v="31" actId="2696"/>
        <pc:sldMkLst>
          <pc:docMk/>
          <pc:sldMk cId="3156802134" sldId="3297"/>
        </pc:sldMkLst>
      </pc:sldChg>
      <pc:sldChg chg="del">
        <pc:chgData name="Wang, Wei" userId="627587dd-935f-4f2b-a6c6-edd4e0dcbff5" providerId="ADAL" clId="{CA4E89E4-842A-4FC6-8E2B-51B2DA5662AB}" dt="2020-05-21T16:15:15.817" v="32" actId="2696"/>
        <pc:sldMkLst>
          <pc:docMk/>
          <pc:sldMk cId="2403325956" sldId="3298"/>
        </pc:sldMkLst>
      </pc:sldChg>
      <pc:sldChg chg="del">
        <pc:chgData name="Wang, Wei" userId="627587dd-935f-4f2b-a6c6-edd4e0dcbff5" providerId="ADAL" clId="{CA4E89E4-842A-4FC6-8E2B-51B2DA5662AB}" dt="2020-05-21T16:15:15.838" v="33" actId="2696"/>
        <pc:sldMkLst>
          <pc:docMk/>
          <pc:sldMk cId="4278664167" sldId="3299"/>
        </pc:sldMkLst>
      </pc:sldChg>
      <pc:sldChg chg="del">
        <pc:chgData name="Wang, Wei" userId="627587dd-935f-4f2b-a6c6-edd4e0dcbff5" providerId="ADAL" clId="{CA4E89E4-842A-4FC6-8E2B-51B2DA5662AB}" dt="2020-05-21T16:15:15.988" v="38" actId="2696"/>
        <pc:sldMkLst>
          <pc:docMk/>
          <pc:sldMk cId="1996300682" sldId="3307"/>
        </pc:sldMkLst>
      </pc:sldChg>
      <pc:sldChg chg="del">
        <pc:chgData name="Wang, Wei" userId="627587dd-935f-4f2b-a6c6-edd4e0dcbff5" providerId="ADAL" clId="{CA4E89E4-842A-4FC6-8E2B-51B2DA5662AB}" dt="2020-05-21T16:15:16.015" v="39" actId="2696"/>
        <pc:sldMkLst>
          <pc:docMk/>
          <pc:sldMk cId="2269029745" sldId="3309"/>
        </pc:sldMkLst>
      </pc:sldChg>
      <pc:sldChg chg="del">
        <pc:chgData name="Wang, Wei" userId="627587dd-935f-4f2b-a6c6-edd4e0dcbff5" providerId="ADAL" clId="{CA4E89E4-842A-4FC6-8E2B-51B2DA5662AB}" dt="2020-05-21T16:15:16.041" v="40" actId="2696"/>
        <pc:sldMkLst>
          <pc:docMk/>
          <pc:sldMk cId="667677968" sldId="3310"/>
        </pc:sldMkLst>
      </pc:sldChg>
      <pc:sldChg chg="del">
        <pc:chgData name="Wang, Wei" userId="627587dd-935f-4f2b-a6c6-edd4e0dcbff5" providerId="ADAL" clId="{CA4E89E4-842A-4FC6-8E2B-51B2DA5662AB}" dt="2020-05-21T16:15:15.933" v="36" actId="2696"/>
        <pc:sldMkLst>
          <pc:docMk/>
          <pc:sldMk cId="1892545769" sldId="3311"/>
        </pc:sldMkLst>
      </pc:sldChg>
      <pc:sldChg chg="del">
        <pc:chgData name="Wang, Wei" userId="627587dd-935f-4f2b-a6c6-edd4e0dcbff5" providerId="ADAL" clId="{CA4E89E4-842A-4FC6-8E2B-51B2DA5662AB}" dt="2020-05-21T16:15:15.578" v="0" actId="2696"/>
        <pc:sldMkLst>
          <pc:docMk/>
          <pc:sldMk cId="644571749" sldId="3359"/>
        </pc:sldMkLst>
      </pc:sldChg>
      <pc:sldChg chg="del">
        <pc:chgData name="Wang, Wei" userId="627587dd-935f-4f2b-a6c6-edd4e0dcbff5" providerId="ADAL" clId="{CA4E89E4-842A-4FC6-8E2B-51B2DA5662AB}" dt="2020-05-21T16:15:15.882" v="35" actId="2696"/>
        <pc:sldMkLst>
          <pc:docMk/>
          <pc:sldMk cId="2707993506" sldId="3402"/>
        </pc:sldMkLst>
      </pc:sldChg>
      <pc:sldMasterChg chg="del delSldLayout">
        <pc:chgData name="Wang, Wei" userId="627587dd-935f-4f2b-a6c6-edd4e0dcbff5" providerId="ADAL" clId="{CA4E89E4-842A-4FC6-8E2B-51B2DA5662AB}" dt="2020-05-21T16:15:15.640" v="25" actId="2696"/>
        <pc:sldMasterMkLst>
          <pc:docMk/>
          <pc:sldMasterMk cId="1583574900" sldId="2147483648"/>
        </pc:sldMasterMkLst>
        <pc:sldLayoutChg chg="del">
          <pc:chgData name="Wang, Wei" userId="627587dd-935f-4f2b-a6c6-edd4e0dcbff5" providerId="ADAL" clId="{CA4E89E4-842A-4FC6-8E2B-51B2DA5662AB}" dt="2020-05-21T16:15:15.618" v="7" actId="2696"/>
          <pc:sldLayoutMkLst>
            <pc:docMk/>
            <pc:sldMasterMk cId="1583574900" sldId="2147483648"/>
            <pc:sldLayoutMk cId="1650472377" sldId="2147483650"/>
          </pc:sldLayoutMkLst>
        </pc:sldLayoutChg>
        <pc:sldLayoutChg chg="del">
          <pc:chgData name="Wang, Wei" userId="627587dd-935f-4f2b-a6c6-edd4e0dcbff5" providerId="ADAL" clId="{CA4E89E4-842A-4FC6-8E2B-51B2DA5662AB}" dt="2020-05-21T16:15:15.620" v="9" actId="2696"/>
          <pc:sldLayoutMkLst>
            <pc:docMk/>
            <pc:sldMasterMk cId="1583574900" sldId="2147483648"/>
            <pc:sldLayoutMk cId="1636589590" sldId="2147483654"/>
          </pc:sldLayoutMkLst>
        </pc:sldLayoutChg>
        <pc:sldLayoutChg chg="del">
          <pc:chgData name="Wang, Wei" userId="627587dd-935f-4f2b-a6c6-edd4e0dcbff5" providerId="ADAL" clId="{CA4E89E4-842A-4FC6-8E2B-51B2DA5662AB}" dt="2020-05-21T16:15:15.631" v="17" actId="2696"/>
          <pc:sldLayoutMkLst>
            <pc:docMk/>
            <pc:sldMasterMk cId="1583574900" sldId="2147483648"/>
            <pc:sldLayoutMk cId="2202305574" sldId="2147483655"/>
          </pc:sldLayoutMkLst>
        </pc:sldLayoutChg>
        <pc:sldLayoutChg chg="del">
          <pc:chgData name="Wang, Wei" userId="627587dd-935f-4f2b-a6c6-edd4e0dcbff5" providerId="ADAL" clId="{CA4E89E4-842A-4FC6-8E2B-51B2DA5662AB}" dt="2020-05-21T16:15:15.619" v="8" actId="2696"/>
          <pc:sldLayoutMkLst>
            <pc:docMk/>
            <pc:sldMasterMk cId="1583574900" sldId="2147483648"/>
            <pc:sldLayoutMk cId="1882155853" sldId="2147483657"/>
          </pc:sldLayoutMkLst>
        </pc:sldLayoutChg>
        <pc:sldLayoutChg chg="del">
          <pc:chgData name="Wang, Wei" userId="627587dd-935f-4f2b-a6c6-edd4e0dcbff5" providerId="ADAL" clId="{CA4E89E4-842A-4FC6-8E2B-51B2DA5662AB}" dt="2020-05-21T16:15:15.622" v="11" actId="2696"/>
          <pc:sldLayoutMkLst>
            <pc:docMk/>
            <pc:sldMasterMk cId="1583574900" sldId="2147483648"/>
            <pc:sldLayoutMk cId="1265934994" sldId="2147483664"/>
          </pc:sldLayoutMkLst>
        </pc:sldLayoutChg>
        <pc:sldLayoutChg chg="del">
          <pc:chgData name="Wang, Wei" userId="627587dd-935f-4f2b-a6c6-edd4e0dcbff5" providerId="ADAL" clId="{CA4E89E4-842A-4FC6-8E2B-51B2DA5662AB}" dt="2020-05-21T16:15:15.616" v="5" actId="2696"/>
          <pc:sldLayoutMkLst>
            <pc:docMk/>
            <pc:sldMasterMk cId="1583574900" sldId="2147483648"/>
            <pc:sldLayoutMk cId="3792690241" sldId="2147483668"/>
          </pc:sldLayoutMkLst>
        </pc:sldLayoutChg>
        <pc:sldLayoutChg chg="del">
          <pc:chgData name="Wang, Wei" userId="627587dd-935f-4f2b-a6c6-edd4e0dcbff5" providerId="ADAL" clId="{CA4E89E4-842A-4FC6-8E2B-51B2DA5662AB}" dt="2020-05-21T16:15:15.621" v="10" actId="2696"/>
          <pc:sldLayoutMkLst>
            <pc:docMk/>
            <pc:sldMasterMk cId="1583574900" sldId="2147483648"/>
            <pc:sldLayoutMk cId="1239496803" sldId="2147483679"/>
          </pc:sldLayoutMkLst>
        </pc:sldLayoutChg>
        <pc:sldLayoutChg chg="del">
          <pc:chgData name="Wang, Wei" userId="627587dd-935f-4f2b-a6c6-edd4e0dcbff5" providerId="ADAL" clId="{CA4E89E4-842A-4FC6-8E2B-51B2DA5662AB}" dt="2020-05-21T16:15:15.636" v="21" actId="2696"/>
          <pc:sldLayoutMkLst>
            <pc:docMk/>
            <pc:sldMasterMk cId="1583574900" sldId="2147483648"/>
            <pc:sldLayoutMk cId="1669711868" sldId="2147483684"/>
          </pc:sldLayoutMkLst>
        </pc:sldLayoutChg>
        <pc:sldLayoutChg chg="del">
          <pc:chgData name="Wang, Wei" userId="627587dd-935f-4f2b-a6c6-edd4e0dcbff5" providerId="ADAL" clId="{CA4E89E4-842A-4FC6-8E2B-51B2DA5662AB}" dt="2020-05-21T16:15:15.633" v="19" actId="2696"/>
          <pc:sldLayoutMkLst>
            <pc:docMk/>
            <pc:sldMasterMk cId="1583574900" sldId="2147483648"/>
            <pc:sldLayoutMk cId="0" sldId="2147483685"/>
          </pc:sldLayoutMkLst>
        </pc:sldLayoutChg>
        <pc:sldLayoutChg chg="del">
          <pc:chgData name="Wang, Wei" userId="627587dd-935f-4f2b-a6c6-edd4e0dcbff5" providerId="ADAL" clId="{CA4E89E4-842A-4FC6-8E2B-51B2DA5662AB}" dt="2020-05-21T16:15:15.623" v="12" actId="2696"/>
          <pc:sldLayoutMkLst>
            <pc:docMk/>
            <pc:sldMasterMk cId="1583574900" sldId="2147483648"/>
            <pc:sldLayoutMk cId="673999311" sldId="2147483688"/>
          </pc:sldLayoutMkLst>
        </pc:sldLayoutChg>
        <pc:sldLayoutChg chg="del">
          <pc:chgData name="Wang, Wei" userId="627587dd-935f-4f2b-a6c6-edd4e0dcbff5" providerId="ADAL" clId="{CA4E89E4-842A-4FC6-8E2B-51B2DA5662AB}" dt="2020-05-21T16:15:15.635" v="20" actId="2696"/>
          <pc:sldLayoutMkLst>
            <pc:docMk/>
            <pc:sldMasterMk cId="1583574900" sldId="2147483648"/>
            <pc:sldLayoutMk cId="0" sldId="2147483691"/>
          </pc:sldLayoutMkLst>
        </pc:sldLayoutChg>
        <pc:sldLayoutChg chg="del">
          <pc:chgData name="Wang, Wei" userId="627587dd-935f-4f2b-a6c6-edd4e0dcbff5" providerId="ADAL" clId="{CA4E89E4-842A-4FC6-8E2B-51B2DA5662AB}" dt="2020-05-21T16:15:15.615" v="4" actId="2696"/>
          <pc:sldLayoutMkLst>
            <pc:docMk/>
            <pc:sldMasterMk cId="1583574900" sldId="2147483648"/>
            <pc:sldLayoutMk cId="0" sldId="2147483692"/>
          </pc:sldLayoutMkLst>
        </pc:sldLayoutChg>
        <pc:sldLayoutChg chg="del">
          <pc:chgData name="Wang, Wei" userId="627587dd-935f-4f2b-a6c6-edd4e0dcbff5" providerId="ADAL" clId="{CA4E89E4-842A-4FC6-8E2B-51B2DA5662AB}" dt="2020-05-21T16:15:15.632" v="18" actId="2696"/>
          <pc:sldLayoutMkLst>
            <pc:docMk/>
            <pc:sldMasterMk cId="1583574900" sldId="2147483648"/>
            <pc:sldLayoutMk cId="1283683246" sldId="2147483693"/>
          </pc:sldLayoutMkLst>
        </pc:sldLayoutChg>
        <pc:sldLayoutChg chg="del">
          <pc:chgData name="Wang, Wei" userId="627587dd-935f-4f2b-a6c6-edd4e0dcbff5" providerId="ADAL" clId="{CA4E89E4-842A-4FC6-8E2B-51B2DA5662AB}" dt="2020-05-21T16:15:15.617" v="6" actId="2696"/>
          <pc:sldLayoutMkLst>
            <pc:docMk/>
            <pc:sldMasterMk cId="1583574900" sldId="2147483648"/>
            <pc:sldLayoutMk cId="0" sldId="2147483695"/>
          </pc:sldLayoutMkLst>
        </pc:sldLayoutChg>
        <pc:sldLayoutChg chg="del">
          <pc:chgData name="Wang, Wei" userId="627587dd-935f-4f2b-a6c6-edd4e0dcbff5" providerId="ADAL" clId="{CA4E89E4-842A-4FC6-8E2B-51B2DA5662AB}" dt="2020-05-21T16:15:15.612" v="2" actId="2696"/>
          <pc:sldLayoutMkLst>
            <pc:docMk/>
            <pc:sldMasterMk cId="1583574900" sldId="2147483648"/>
            <pc:sldLayoutMk cId="0" sldId="2147483696"/>
          </pc:sldLayoutMkLst>
        </pc:sldLayoutChg>
        <pc:sldLayoutChg chg="del">
          <pc:chgData name="Wang, Wei" userId="627587dd-935f-4f2b-a6c6-edd4e0dcbff5" providerId="ADAL" clId="{CA4E89E4-842A-4FC6-8E2B-51B2DA5662AB}" dt="2020-05-21T16:15:15.629" v="15" actId="2696"/>
          <pc:sldLayoutMkLst>
            <pc:docMk/>
            <pc:sldMasterMk cId="1583574900" sldId="2147483648"/>
            <pc:sldLayoutMk cId="0" sldId="2147483698"/>
          </pc:sldLayoutMkLst>
        </pc:sldLayoutChg>
        <pc:sldLayoutChg chg="del">
          <pc:chgData name="Wang, Wei" userId="627587dd-935f-4f2b-a6c6-edd4e0dcbff5" providerId="ADAL" clId="{CA4E89E4-842A-4FC6-8E2B-51B2DA5662AB}" dt="2020-05-21T16:15:15.630" v="16" actId="2696"/>
          <pc:sldLayoutMkLst>
            <pc:docMk/>
            <pc:sldMasterMk cId="1583574900" sldId="2147483648"/>
            <pc:sldLayoutMk cId="0" sldId="2147483699"/>
          </pc:sldLayoutMkLst>
        </pc:sldLayoutChg>
        <pc:sldLayoutChg chg="del">
          <pc:chgData name="Wang, Wei" userId="627587dd-935f-4f2b-a6c6-edd4e0dcbff5" providerId="ADAL" clId="{CA4E89E4-842A-4FC6-8E2B-51B2DA5662AB}" dt="2020-05-21T16:15:15.624" v="13" actId="2696"/>
          <pc:sldLayoutMkLst>
            <pc:docMk/>
            <pc:sldMasterMk cId="1583574900" sldId="2147483648"/>
            <pc:sldLayoutMk cId="0" sldId="2147483700"/>
          </pc:sldLayoutMkLst>
        </pc:sldLayoutChg>
        <pc:sldLayoutChg chg="del">
          <pc:chgData name="Wang, Wei" userId="627587dd-935f-4f2b-a6c6-edd4e0dcbff5" providerId="ADAL" clId="{CA4E89E4-842A-4FC6-8E2B-51B2DA5662AB}" dt="2020-05-21T16:15:15.627" v="14" actId="2696"/>
          <pc:sldLayoutMkLst>
            <pc:docMk/>
            <pc:sldMasterMk cId="1583574900" sldId="2147483648"/>
            <pc:sldLayoutMk cId="0" sldId="2147483701"/>
          </pc:sldLayoutMkLst>
        </pc:sldLayoutChg>
        <pc:sldLayoutChg chg="del">
          <pc:chgData name="Wang, Wei" userId="627587dd-935f-4f2b-a6c6-edd4e0dcbff5" providerId="ADAL" clId="{CA4E89E4-842A-4FC6-8E2B-51B2DA5662AB}" dt="2020-05-21T16:15:15.636" v="22" actId="2696"/>
          <pc:sldLayoutMkLst>
            <pc:docMk/>
            <pc:sldMasterMk cId="1583574900" sldId="2147483648"/>
            <pc:sldLayoutMk cId="0" sldId="2147483717"/>
          </pc:sldLayoutMkLst>
        </pc:sldLayoutChg>
        <pc:sldLayoutChg chg="del">
          <pc:chgData name="Wang, Wei" userId="627587dd-935f-4f2b-a6c6-edd4e0dcbff5" providerId="ADAL" clId="{CA4E89E4-842A-4FC6-8E2B-51B2DA5662AB}" dt="2020-05-21T16:15:15.638" v="23" actId="2696"/>
          <pc:sldLayoutMkLst>
            <pc:docMk/>
            <pc:sldMasterMk cId="1583574900" sldId="2147483648"/>
            <pc:sldLayoutMk cId="1228748614" sldId="2147483817"/>
          </pc:sldLayoutMkLst>
        </pc:sldLayoutChg>
        <pc:sldLayoutChg chg="del">
          <pc:chgData name="Wang, Wei" userId="627587dd-935f-4f2b-a6c6-edd4e0dcbff5" providerId="ADAL" clId="{CA4E89E4-842A-4FC6-8E2B-51B2DA5662AB}" dt="2020-05-21T16:15:15.613" v="3" actId="2696"/>
          <pc:sldLayoutMkLst>
            <pc:docMk/>
            <pc:sldMasterMk cId="1583574900" sldId="2147483648"/>
            <pc:sldLayoutMk cId="4061941092" sldId="2147483818"/>
          </pc:sldLayoutMkLst>
        </pc:sldLayoutChg>
        <pc:sldLayoutChg chg="del">
          <pc:chgData name="Wang, Wei" userId="627587dd-935f-4f2b-a6c6-edd4e0dcbff5" providerId="ADAL" clId="{CA4E89E4-842A-4FC6-8E2B-51B2DA5662AB}" dt="2020-05-21T16:15:15.638" v="24" actId="2696"/>
          <pc:sldLayoutMkLst>
            <pc:docMk/>
            <pc:sldMasterMk cId="1583574900" sldId="2147483648"/>
            <pc:sldLayoutMk cId="280407589" sldId="2147483819"/>
          </pc:sldLayoutMkLst>
        </pc:sldLayoutChg>
      </pc:sldMasterChg>
      <pc:sldMasterChg chg="delSldLayout">
        <pc:chgData name="Wang, Wei" userId="627587dd-935f-4f2b-a6c6-edd4e0dcbff5" providerId="ADAL" clId="{CA4E89E4-842A-4FC6-8E2B-51B2DA5662AB}" dt="2020-05-21T16:15:15.687" v="27" actId="2696"/>
        <pc:sldMasterMkLst>
          <pc:docMk/>
          <pc:sldMasterMk cId="2027459739" sldId="2147483926"/>
        </pc:sldMasterMkLst>
        <pc:sldLayoutChg chg="del">
          <pc:chgData name="Wang, Wei" userId="627587dd-935f-4f2b-a6c6-edd4e0dcbff5" providerId="ADAL" clId="{CA4E89E4-842A-4FC6-8E2B-51B2DA5662AB}" dt="2020-05-21T16:15:15.687" v="27" actId="2696"/>
          <pc:sldLayoutMkLst>
            <pc:docMk/>
            <pc:sldMasterMk cId="2027459739" sldId="2147483926"/>
            <pc:sldLayoutMk cId="1571272697" sldId="214748399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25/04/2024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7876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944EB3-E743-414B-A21A-64E051E5FA09}" type="slidenum">
              <a:rPr lang="en-GB" smtClean="0"/>
              <a:t>3</a:t>
            </a:fld>
            <a:endParaRPr lang="en-GB"/>
          </a:p>
        </p:txBody>
      </p:sp>
    </p:spTree>
    <p:extLst>
      <p:ext uri="{BB962C8B-B14F-4D97-AF65-F5344CB8AC3E}">
        <p14:creationId xmlns:p14="http://schemas.microsoft.com/office/powerpoint/2010/main" val="2190437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944EB3-E743-414B-A21A-64E051E5FA09}" type="slidenum">
              <a:rPr lang="en-GB" smtClean="0"/>
              <a:t>4</a:t>
            </a:fld>
            <a:endParaRPr lang="en-GB"/>
          </a:p>
        </p:txBody>
      </p:sp>
    </p:spTree>
    <p:extLst>
      <p:ext uri="{BB962C8B-B14F-4D97-AF65-F5344CB8AC3E}">
        <p14:creationId xmlns:p14="http://schemas.microsoft.com/office/powerpoint/2010/main" val="3316628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944EB3-E743-414B-A21A-64E051E5FA09}" type="slidenum">
              <a:rPr lang="en-GB" smtClean="0"/>
              <a:t>5</a:t>
            </a:fld>
            <a:endParaRPr lang="en-GB"/>
          </a:p>
        </p:txBody>
      </p:sp>
    </p:spTree>
    <p:extLst>
      <p:ext uri="{BB962C8B-B14F-4D97-AF65-F5344CB8AC3E}">
        <p14:creationId xmlns:p14="http://schemas.microsoft.com/office/powerpoint/2010/main" val="635661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944EB3-E743-414B-A21A-64E051E5FA09}" type="slidenum">
              <a:rPr lang="en-GB" smtClean="0"/>
              <a:t>6</a:t>
            </a:fld>
            <a:endParaRPr lang="en-GB"/>
          </a:p>
        </p:txBody>
      </p:sp>
    </p:spTree>
    <p:extLst>
      <p:ext uri="{BB962C8B-B14F-4D97-AF65-F5344CB8AC3E}">
        <p14:creationId xmlns:p14="http://schemas.microsoft.com/office/powerpoint/2010/main" val="949687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944EB3-E743-414B-A21A-64E051E5FA09}" type="slidenum">
              <a:rPr lang="en-GB" smtClean="0"/>
              <a:t>8</a:t>
            </a:fld>
            <a:endParaRPr lang="en-GB"/>
          </a:p>
        </p:txBody>
      </p:sp>
    </p:spTree>
    <p:extLst>
      <p:ext uri="{BB962C8B-B14F-4D97-AF65-F5344CB8AC3E}">
        <p14:creationId xmlns:p14="http://schemas.microsoft.com/office/powerpoint/2010/main" val="2714757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944EB3-E743-414B-A21A-64E051E5FA09}" type="slidenum">
              <a:rPr lang="en-GB" smtClean="0"/>
              <a:t>9</a:t>
            </a:fld>
            <a:endParaRPr lang="en-GB"/>
          </a:p>
        </p:txBody>
      </p:sp>
    </p:spTree>
    <p:extLst>
      <p:ext uri="{BB962C8B-B14F-4D97-AF65-F5344CB8AC3E}">
        <p14:creationId xmlns:p14="http://schemas.microsoft.com/office/powerpoint/2010/main" val="21526896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852366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8942836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theme" Target="../theme/theme3.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 id="2147483997" r:id="rId5"/>
    <p:sldLayoutId id="2147483998" r:id="rId6"/>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1.xml"/><Relationship Id="rId5" Type="http://schemas.openxmlformats.org/officeDocument/2006/relationships/image" Target="../media/image11.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2.png"/><Relationship Id="rId7" Type="http://schemas.microsoft.com/office/2007/relationships/hdphoto" Target="../media/hdphoto3.wdp"/><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14.png"/><Relationship Id="rId5" Type="http://schemas.openxmlformats.org/officeDocument/2006/relationships/image" Target="../media/image13.png"/><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22.png"/><Relationship Id="rId5" Type="http://schemas.microsoft.com/office/2007/relationships/hdphoto" Target="../media/hdphoto4.wdp"/><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microsoft.com/office/2007/relationships/hdphoto" Target="../media/hdphoto5.wdp"/></Relationships>
</file>

<file path=ppt/slides/_rels/slide9.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1.xml"/><Relationship Id="rId5" Type="http://schemas.openxmlformats.org/officeDocument/2006/relationships/image" Target="../media/image36.png"/><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9406"/>
            <a:ext cx="12192000" cy="4902409"/>
          </a:xfrm>
          <a:prstGeom prst="rect">
            <a:avLst/>
          </a:prstGeom>
          <a:gradFill flip="none" rotWithShape="1">
            <a:gsLst>
              <a:gs pos="0">
                <a:schemeClr val="accent1">
                  <a:lumMod val="75000"/>
                </a:schemeClr>
              </a:gs>
              <a:gs pos="100000">
                <a:schemeClr val="accent1">
                  <a:lumMod val="20000"/>
                  <a:lumOff val="80000"/>
                  <a:alpha val="3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Period End Closing Key Process Areas and New Period End Checks</a:t>
            </a:r>
          </a:p>
        </p:txBody>
      </p:sp>
      <p:sp>
        <p:nvSpPr>
          <p:cNvPr id="40" name="Rounded Rectangle 39"/>
          <p:cNvSpPr/>
          <p:nvPr/>
        </p:nvSpPr>
        <p:spPr>
          <a:xfrm>
            <a:off x="164492" y="3524970"/>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lvl="0" algn="ctr">
              <a:spcAft>
                <a:spcPts val="1000"/>
              </a:spcAft>
              <a:defRPr/>
            </a:pPr>
            <a:r>
              <a:rPr lang="en-GB" sz="1400" b="1">
                <a:solidFill>
                  <a:srgbClr val="000000"/>
                </a:solidFill>
                <a:latin typeface="Arial" charset="0"/>
                <a:cs typeface="Arial" charset="0"/>
              </a:rPr>
              <a:t>G/L Closing Activities for Financial Statement Preparation</a:t>
            </a:r>
          </a:p>
        </p:txBody>
      </p:sp>
      <p:sp>
        <p:nvSpPr>
          <p:cNvPr id="32" name="Rounded Rectangle 39">
            <a:extLst>
              <a:ext uri="{FF2B5EF4-FFF2-40B4-BE49-F238E27FC236}">
                <a16:creationId xmlns:a16="http://schemas.microsoft.com/office/drawing/2014/main" id="{95943B57-958A-4B14-9959-D27D9C2163B5}"/>
              </a:ext>
            </a:extLst>
          </p:cNvPr>
          <p:cNvSpPr/>
          <p:nvPr/>
        </p:nvSpPr>
        <p:spPr>
          <a:xfrm>
            <a:off x="5087053" y="5025947"/>
            <a:ext cx="2623046"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Arial"/>
              </a:rPr>
              <a:t>Functional Area Adjustment</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087053" y="2654953"/>
            <a:ext cx="2623046"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latin typeface="Arial" panose="020B0604020202020204"/>
                <a:cs typeface="Arial"/>
              </a:rPr>
              <a:t>Currency Revaluation</a:t>
            </a:r>
          </a:p>
        </p:txBody>
      </p:sp>
      <p:cxnSp>
        <p:nvCxnSpPr>
          <p:cNvPr id="41" name="Elbow Connector 7">
            <a:extLst>
              <a:ext uri="{FF2B5EF4-FFF2-40B4-BE49-F238E27FC236}">
                <a16:creationId xmlns:a16="http://schemas.microsoft.com/office/drawing/2014/main" id="{9D5CB863-C719-46D6-930C-1EFAD313C26F}"/>
              </a:ext>
            </a:extLst>
          </p:cNvPr>
          <p:cNvCxnSpPr>
            <a:cxnSpLocks/>
          </p:cNvCxnSpPr>
          <p:nvPr/>
        </p:nvCxnSpPr>
        <p:spPr>
          <a:xfrm rot="16200000" flipH="1">
            <a:off x="3534061" y="3851968"/>
            <a:ext cx="2299014" cy="552637"/>
          </a:xfrm>
          <a:prstGeom prst="bentConnector3">
            <a:avLst>
              <a:gd name="adj1" fmla="val 99898"/>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3" name="Elbow Connector 4">
            <a:extLst>
              <a:ext uri="{FF2B5EF4-FFF2-40B4-BE49-F238E27FC236}">
                <a16:creationId xmlns:a16="http://schemas.microsoft.com/office/drawing/2014/main" id="{213A4D26-F0F8-4F27-B89A-429D9EA6A4EC}"/>
              </a:ext>
            </a:extLst>
          </p:cNvPr>
          <p:cNvCxnSpPr>
            <a:cxnSpLocks/>
          </p:cNvCxnSpPr>
          <p:nvPr/>
        </p:nvCxnSpPr>
        <p:spPr>
          <a:xfrm flipV="1">
            <a:off x="3940233" y="2906801"/>
            <a:ext cx="1044304" cy="797376"/>
          </a:xfrm>
          <a:prstGeom prst="bentConnector3">
            <a:avLst>
              <a:gd name="adj1" fmla="val 44428"/>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E7F26A0-7314-4FF1-BA92-49E05E717F58}"/>
              </a:ext>
            </a:extLst>
          </p:cNvPr>
          <p:cNvCxnSpPr>
            <a:cxnSpLocks/>
          </p:cNvCxnSpPr>
          <p:nvPr/>
        </p:nvCxnSpPr>
        <p:spPr>
          <a:xfrm>
            <a:off x="3854608" y="3707971"/>
            <a:ext cx="1105279" cy="6992"/>
          </a:xfrm>
          <a:prstGeom prst="line">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3" name="Rounded Rectangle 39">
            <a:extLst>
              <a:ext uri="{FF2B5EF4-FFF2-40B4-BE49-F238E27FC236}">
                <a16:creationId xmlns:a16="http://schemas.microsoft.com/office/drawing/2014/main" id="{84DE1B7C-5151-4EC9-B9A5-B80A5BD549E1}"/>
              </a:ext>
            </a:extLst>
          </p:cNvPr>
          <p:cNvSpPr/>
          <p:nvPr/>
        </p:nvSpPr>
        <p:spPr>
          <a:xfrm>
            <a:off x="5087053" y="3445284"/>
            <a:ext cx="2623046"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latin typeface="Arial" panose="020B0604020202020204"/>
                <a:cs typeface="Arial"/>
              </a:rPr>
              <a:t>AP/AR Regrouping</a:t>
            </a:r>
          </a:p>
        </p:txBody>
      </p:sp>
      <p:sp>
        <p:nvSpPr>
          <p:cNvPr id="15" name="Rounded Rectangle 39">
            <a:extLst>
              <a:ext uri="{FF2B5EF4-FFF2-40B4-BE49-F238E27FC236}">
                <a16:creationId xmlns:a16="http://schemas.microsoft.com/office/drawing/2014/main" id="{94A33D2A-CF2C-4FBA-BC57-8CA71CBA9B2B}"/>
              </a:ext>
            </a:extLst>
          </p:cNvPr>
          <p:cNvSpPr/>
          <p:nvPr/>
        </p:nvSpPr>
        <p:spPr>
          <a:xfrm>
            <a:off x="5087053" y="4235615"/>
            <a:ext cx="2623046"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US" sz="1400" b="1">
                <a:solidFill>
                  <a:srgbClr val="000000"/>
                </a:solidFill>
                <a:latin typeface="Arial" charset="0"/>
                <a:cs typeface="Arial" charset="0"/>
              </a:rPr>
              <a:t>Currency Translation</a:t>
            </a:r>
          </a:p>
        </p:txBody>
      </p:sp>
      <p:cxnSp>
        <p:nvCxnSpPr>
          <p:cNvPr id="36" name="Straight Connector 35">
            <a:extLst>
              <a:ext uri="{FF2B5EF4-FFF2-40B4-BE49-F238E27FC236}">
                <a16:creationId xmlns:a16="http://schemas.microsoft.com/office/drawing/2014/main" id="{AE381658-B4E2-44E0-B9F2-C2E7AAB62AFB}"/>
              </a:ext>
            </a:extLst>
          </p:cNvPr>
          <p:cNvCxnSpPr>
            <a:cxnSpLocks/>
          </p:cNvCxnSpPr>
          <p:nvPr/>
        </p:nvCxnSpPr>
        <p:spPr>
          <a:xfrm>
            <a:off x="4384940" y="4458139"/>
            <a:ext cx="585837" cy="0"/>
          </a:xfrm>
          <a:prstGeom prst="line">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4838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C02D307-1E83-400E-B020-44DC6768065A}"/>
              </a:ext>
            </a:extLst>
          </p:cNvPr>
          <p:cNvPicPr>
            <a:picLocks noChangeAspect="1"/>
          </p:cNvPicPr>
          <p:nvPr/>
        </p:nvPicPr>
        <p:blipFill>
          <a:blip r:embed="rId3"/>
          <a:stretch>
            <a:fillRect/>
          </a:stretch>
        </p:blipFill>
        <p:spPr>
          <a:xfrm>
            <a:off x="6140805" y="1480439"/>
            <a:ext cx="6023170" cy="2293539"/>
          </a:xfrm>
          <a:prstGeom prst="rect">
            <a:avLst/>
          </a:prstGeom>
          <a:effectLst>
            <a:outerShdw blurRad="50800" dist="38100" dir="2700000" algn="tl" rotWithShape="0">
              <a:prstClr val="black">
                <a:alpha val="40000"/>
              </a:prstClr>
            </a:outerShdw>
          </a:effectLst>
        </p:spPr>
      </p:pic>
      <p:sp>
        <p:nvSpPr>
          <p:cNvPr id="24" name="Slide Number Placeholder 2">
            <a:extLst>
              <a:ext uri="{FF2B5EF4-FFF2-40B4-BE49-F238E27FC236}">
                <a16:creationId xmlns:a16="http://schemas.microsoft.com/office/drawing/2014/main" id="{5F78778B-8AE7-403D-A352-D875AF28F10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2FDAB986-BF86-4644-9EF9-32D75C653C5E}"/>
              </a:ext>
            </a:extLst>
          </p:cNvPr>
          <p:cNvSpPr>
            <a:spLocks noGrp="1"/>
          </p:cNvSpPr>
          <p:nvPr>
            <p:ph type="title"/>
          </p:nvPr>
        </p:nvSpPr>
        <p:spPr>
          <a:xfrm>
            <a:off x="1576968" y="233127"/>
            <a:ext cx="10220126" cy="984247"/>
          </a:xfrm>
        </p:spPr>
        <p:txBody>
          <a:bodyPr/>
          <a:lstStyle/>
          <a:p>
            <a:r>
              <a:rPr lang="en-GB"/>
              <a:t>Currency Translation Process Overview</a:t>
            </a:r>
          </a:p>
        </p:txBody>
      </p:sp>
      <p:sp>
        <p:nvSpPr>
          <p:cNvPr id="8" name="Rectangle 7">
            <a:extLst>
              <a:ext uri="{FF2B5EF4-FFF2-40B4-BE49-F238E27FC236}">
                <a16:creationId xmlns:a16="http://schemas.microsoft.com/office/drawing/2014/main" id="{23CA56EC-827F-49BB-A015-79EA68FD2EFE}"/>
              </a:ext>
            </a:extLst>
          </p:cNvPr>
          <p:cNvSpPr/>
          <p:nvPr/>
        </p:nvSpPr>
        <p:spPr>
          <a:xfrm>
            <a:off x="6395060" y="2383750"/>
            <a:ext cx="5429742" cy="307777"/>
          </a:xfrm>
          <a:prstGeom prst="rect">
            <a:avLst/>
          </a:prstGeom>
        </p:spPr>
        <p:txBody>
          <a:bodyPr wrap="square">
            <a:spAutoFit/>
          </a:bodyPr>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Freeform: Shape 24">
            <a:extLst>
              <a:ext uri="{FF2B5EF4-FFF2-40B4-BE49-F238E27FC236}">
                <a16:creationId xmlns:a16="http://schemas.microsoft.com/office/drawing/2014/main" id="{513203DA-10E1-4520-B0AF-701FDA830BC8}"/>
              </a:ext>
            </a:extLst>
          </p:cNvPr>
          <p:cNvSpPr/>
          <p:nvPr/>
        </p:nvSpPr>
        <p:spPr>
          <a:xfrm>
            <a:off x="558224" y="4868789"/>
            <a:ext cx="3107689" cy="77448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T-Code</a:t>
            </a:r>
            <a:r>
              <a:rPr kumimoji="0" lang="en-US" sz="16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a:t>
            </a:r>
            <a:r>
              <a:rPr kumimoji="0" lang="fr-FR" sz="1600" b="0" i="0" u="none" strike="noStrike" kern="1200" cap="none" spc="0" normalizeH="0" baseline="0" noProof="0">
                <a:ln>
                  <a:noFill/>
                </a:ln>
                <a:solidFill>
                  <a:srgbClr val="000000"/>
                </a:solidFill>
                <a:effectLst/>
                <a:uLnTx/>
                <a:uFillTx/>
                <a:latin typeface="Arial" panose="020B0604020202020204"/>
                <a:ea typeface="+mn-ea"/>
                <a:cs typeface="+mn-cs"/>
              </a:rPr>
              <a:t>FAGL_FC_TRANS</a:t>
            </a: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7" name="Freeform: Shape 26">
            <a:extLst>
              <a:ext uri="{FF2B5EF4-FFF2-40B4-BE49-F238E27FC236}">
                <a16:creationId xmlns:a16="http://schemas.microsoft.com/office/drawing/2014/main" id="{F70E22DA-9C3D-4EF6-9EEC-7D94927A4C2B}"/>
              </a:ext>
            </a:extLst>
          </p:cNvPr>
          <p:cNvSpPr/>
          <p:nvPr/>
        </p:nvSpPr>
        <p:spPr>
          <a:xfrm>
            <a:off x="558224" y="6177022"/>
            <a:ext cx="3107689" cy="450330"/>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Timing: </a:t>
            </a:r>
            <a:r>
              <a:rPr kumimoji="0" lang="en-US" sz="13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WD3 – IFRS</a:t>
            </a:r>
          </a:p>
          <a:p>
            <a:pPr marL="0" marR="0" lvl="0" indent="0" algn="ctr" defTabSz="1644650" rtl="0" eaLnBrk="1" fontAlgn="auto" latinLnBrk="0" hangingPunct="1">
              <a:lnSpc>
                <a:spcPct val="100000"/>
              </a:lnSpc>
              <a:spcBef>
                <a:spcPct val="0"/>
              </a:spcBef>
              <a:spcAft>
                <a:spcPts val="0"/>
              </a:spcAft>
              <a:buClrTx/>
              <a:buSzTx/>
              <a:buFontTx/>
              <a:buNone/>
              <a:tabLst/>
              <a:defRPr/>
            </a:pPr>
            <a:r>
              <a:rPr lang="en-US" sz="1300">
                <a:solidFill>
                  <a:srgbClr val="000000">
                    <a:hueOff val="0"/>
                    <a:satOff val="0"/>
                    <a:lumOff val="0"/>
                    <a:alphaOff val="0"/>
                  </a:srgbClr>
                </a:solidFill>
                <a:latin typeface="Arial" panose="020B0604020202020204"/>
              </a:rPr>
              <a:t>WD10 – STAT/TAX </a:t>
            </a:r>
            <a:r>
              <a:rPr lang="en-US" sz="1300" i="1" baseline="30000">
                <a:solidFill>
                  <a:srgbClr val="FF0000"/>
                </a:solidFill>
                <a:latin typeface="Arial" panose="020B0604020202020204"/>
              </a:rPr>
              <a:t>2)</a:t>
            </a:r>
            <a:endParaRPr lang="en-US" sz="1300" i="1" u="none" kern="1200" cap="none" spc="0" normalizeH="0" baseline="30000" noProof="0">
              <a:ln>
                <a:noFill/>
              </a:ln>
              <a:solidFill>
                <a:srgbClr val="FF0000"/>
              </a:solidFill>
              <a:effectLst/>
              <a:uLnTx/>
              <a:uFillTx/>
              <a:latin typeface="Arial" panose="020B0604020202020204"/>
              <a:cs typeface="Arial"/>
            </a:endParaRPr>
          </a:p>
        </p:txBody>
      </p:sp>
      <p:sp>
        <p:nvSpPr>
          <p:cNvPr id="38" name="Freeform: Shape 37">
            <a:extLst>
              <a:ext uri="{FF2B5EF4-FFF2-40B4-BE49-F238E27FC236}">
                <a16:creationId xmlns:a16="http://schemas.microsoft.com/office/drawing/2014/main" id="{454F50E9-FEB5-4789-BF3B-3A639F5DC84C}"/>
              </a:ext>
            </a:extLst>
          </p:cNvPr>
          <p:cNvSpPr/>
          <p:nvPr/>
        </p:nvSpPr>
        <p:spPr>
          <a:xfrm>
            <a:off x="568102" y="5688357"/>
            <a:ext cx="3107689" cy="447612"/>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FCC Task</a:t>
            </a:r>
            <a:r>
              <a:rPr kumimoji="0" lang="en-US" sz="16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Entity Level</a:t>
            </a:r>
          </a:p>
        </p:txBody>
      </p:sp>
      <p:sp>
        <p:nvSpPr>
          <p:cNvPr id="5" name="Rectangle 4">
            <a:extLst>
              <a:ext uri="{FF2B5EF4-FFF2-40B4-BE49-F238E27FC236}">
                <a16:creationId xmlns:a16="http://schemas.microsoft.com/office/drawing/2014/main" id="{45F95EF3-7599-40F1-BC7E-247951A21F76}"/>
              </a:ext>
            </a:extLst>
          </p:cNvPr>
          <p:cNvSpPr/>
          <p:nvPr/>
        </p:nvSpPr>
        <p:spPr>
          <a:xfrm>
            <a:off x="3802937" y="4854189"/>
            <a:ext cx="8170987" cy="938719"/>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There should be more than one B/S and P&amp;L Translation tasks per entity as these are executed for each ledger using the corresponding Valuation Areas, which determine the valuation calculation methods, the rates and how postings should be made. </a:t>
            </a:r>
          </a:p>
          <a:p>
            <a:pPr marL="0" marR="0" lvl="0" indent="0" algn="l" defTabSz="914400" rtl="0" eaLnBrk="1" fontAlgn="auto" latinLnBrk="0" hangingPunct="1">
              <a:lnSpc>
                <a:spcPts val="1200"/>
              </a:lnSpc>
              <a:spcBef>
                <a:spcPts val="600"/>
              </a:spcBef>
              <a:spcAft>
                <a:spcPts val="0"/>
              </a:spcAft>
              <a:buClrTx/>
              <a:buSzTx/>
              <a:buFontTx/>
              <a:buNone/>
              <a:tabLst/>
              <a:defRPr/>
            </a:pPr>
            <a:r>
              <a:rPr lang="en-GB" sz="1150" i="1">
                <a:solidFill>
                  <a:srgbClr val="000000"/>
                </a:solidFill>
                <a:latin typeface="Georgia" panose="02040502050405020303" pitchFamily="18" charset="0"/>
              </a:rPr>
              <a:t>In S/4 HANA, the transaction will post the documents simultaneously with only erroneous entries sent to a Batch Input session for user to process.</a:t>
            </a:r>
            <a:r>
              <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a:t>
            </a:r>
          </a:p>
        </p:txBody>
      </p:sp>
      <p:sp>
        <p:nvSpPr>
          <p:cNvPr id="10" name="Rectangle 9">
            <a:extLst>
              <a:ext uri="{FF2B5EF4-FFF2-40B4-BE49-F238E27FC236}">
                <a16:creationId xmlns:a16="http://schemas.microsoft.com/office/drawing/2014/main" id="{141AA02A-B49B-45C1-8C1D-6AD74350EDB8}"/>
              </a:ext>
            </a:extLst>
          </p:cNvPr>
          <p:cNvSpPr/>
          <p:nvPr/>
        </p:nvSpPr>
        <p:spPr>
          <a:xfrm>
            <a:off x="3802937" y="6167013"/>
            <a:ext cx="7627062" cy="400110"/>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GB" sz="1150" i="1">
                <a:solidFill>
                  <a:srgbClr val="000000"/>
                </a:solidFill>
                <a:latin typeface="Georgia" panose="02040502050405020303" pitchFamily="18" charset="0"/>
              </a:rPr>
              <a:t>Translation are to be performed as one of the final financial statements preparation tasks, after Revaluation and AP/AR Regrouping, which will be WD3 for IFRS and WD10 for STAT/TAX.</a:t>
            </a:r>
            <a:endPar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40" name="Rectangle 39">
            <a:extLst>
              <a:ext uri="{FF2B5EF4-FFF2-40B4-BE49-F238E27FC236}">
                <a16:creationId xmlns:a16="http://schemas.microsoft.com/office/drawing/2014/main" id="{689CBDBA-83EE-41DF-8DA7-B8B49163AD50}"/>
              </a:ext>
            </a:extLst>
          </p:cNvPr>
          <p:cNvSpPr/>
          <p:nvPr/>
        </p:nvSpPr>
        <p:spPr>
          <a:xfrm>
            <a:off x="3802937" y="5820195"/>
            <a:ext cx="7873124" cy="246221"/>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The Translation tasks are set at entity level.</a:t>
            </a:r>
          </a:p>
        </p:txBody>
      </p:sp>
      <p:grpSp>
        <p:nvGrpSpPr>
          <p:cNvPr id="39" name="Group 38">
            <a:extLst>
              <a:ext uri="{FF2B5EF4-FFF2-40B4-BE49-F238E27FC236}">
                <a16:creationId xmlns:a16="http://schemas.microsoft.com/office/drawing/2014/main" id="{D0FA25D9-BF41-4683-B496-FC5050A69AEA}"/>
              </a:ext>
            </a:extLst>
          </p:cNvPr>
          <p:cNvGrpSpPr/>
          <p:nvPr/>
        </p:nvGrpSpPr>
        <p:grpSpPr>
          <a:xfrm>
            <a:off x="441244" y="1370653"/>
            <a:ext cx="5609953" cy="3483536"/>
            <a:chOff x="589454" y="3508514"/>
            <a:chExt cx="5428347" cy="1872367"/>
          </a:xfrm>
        </p:grpSpPr>
        <p:sp>
          <p:nvSpPr>
            <p:cNvPr id="41" name="Rectangle: Rounded Corners 40">
              <a:extLst>
                <a:ext uri="{FF2B5EF4-FFF2-40B4-BE49-F238E27FC236}">
                  <a16:creationId xmlns:a16="http://schemas.microsoft.com/office/drawing/2014/main" id="{B73273D1-46D9-4C6D-8AB9-D75A7F54A84F}"/>
                </a:ext>
              </a:extLst>
            </p:cNvPr>
            <p:cNvSpPr/>
            <p:nvPr/>
          </p:nvSpPr>
          <p:spPr>
            <a:xfrm>
              <a:off x="607926" y="3508514"/>
              <a:ext cx="5409875" cy="1872367"/>
            </a:xfrm>
            <a:prstGeom prst="roundRect">
              <a:avLst>
                <a:gd name="adj" fmla="val 4667"/>
              </a:avLst>
            </a:prstGeom>
            <a:solidFill>
              <a:schemeClr val="accent6">
                <a:lumMod val="20000"/>
                <a:lumOff val="80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TextBox 41">
              <a:extLst>
                <a:ext uri="{FF2B5EF4-FFF2-40B4-BE49-F238E27FC236}">
                  <a16:creationId xmlns:a16="http://schemas.microsoft.com/office/drawing/2014/main" id="{63255F36-FCDE-4F4F-9E48-50B709331374}"/>
                </a:ext>
              </a:extLst>
            </p:cNvPr>
            <p:cNvSpPr txBox="1"/>
            <p:nvPr/>
          </p:nvSpPr>
          <p:spPr>
            <a:xfrm>
              <a:off x="589454" y="3559809"/>
              <a:ext cx="5409875" cy="288235"/>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sng" strike="noStrike" kern="1200" cap="none" spc="0" normalizeH="0" baseline="0" noProof="0">
                  <a:ln>
                    <a:noFill/>
                  </a:ln>
                  <a:solidFill>
                    <a:srgbClr val="000000"/>
                  </a:solidFill>
                  <a:effectLst/>
                  <a:uLnTx/>
                  <a:uFillTx/>
                  <a:latin typeface="Aharoni" panose="02010803020104030203" pitchFamily="2" charset="-79"/>
                  <a:ea typeface="+mn-ea"/>
                  <a:cs typeface="Aharoni" panose="02010803020104030203" pitchFamily="2" charset="-79"/>
                </a:rPr>
                <a:t>Basic Process of Translation</a:t>
              </a:r>
            </a:p>
          </p:txBody>
        </p:sp>
      </p:grpSp>
      <p:pic>
        <p:nvPicPr>
          <p:cNvPr id="28" name="Picture 27">
            <a:extLst>
              <a:ext uri="{FF2B5EF4-FFF2-40B4-BE49-F238E27FC236}">
                <a16:creationId xmlns:a16="http://schemas.microsoft.com/office/drawing/2014/main" id="{24AE9822-925F-478F-90A8-15739091F043}"/>
              </a:ext>
            </a:extLst>
          </p:cNvPr>
          <p:cNvPicPr>
            <a:picLocks noChangeAspect="1"/>
          </p:cNvPicPr>
          <p:nvPr/>
        </p:nvPicPr>
        <p:blipFill>
          <a:blip r:embed="rId4"/>
          <a:stretch>
            <a:fillRect/>
          </a:stretch>
        </p:blipFill>
        <p:spPr>
          <a:xfrm>
            <a:off x="500591" y="2182713"/>
            <a:ext cx="5515166" cy="1362362"/>
          </a:xfrm>
          <a:prstGeom prst="rect">
            <a:avLst/>
          </a:prstGeom>
        </p:spPr>
      </p:pic>
      <p:sp>
        <p:nvSpPr>
          <p:cNvPr id="29" name="Rectangle 28">
            <a:extLst>
              <a:ext uri="{FF2B5EF4-FFF2-40B4-BE49-F238E27FC236}">
                <a16:creationId xmlns:a16="http://schemas.microsoft.com/office/drawing/2014/main" id="{C6FA43B1-8FE4-4D0A-9406-73BA43774C56}"/>
              </a:ext>
            </a:extLst>
          </p:cNvPr>
          <p:cNvSpPr/>
          <p:nvPr/>
        </p:nvSpPr>
        <p:spPr>
          <a:xfrm>
            <a:off x="500590" y="3267290"/>
            <a:ext cx="5266406" cy="245853"/>
          </a:xfrm>
          <a:prstGeom prst="rect">
            <a:avLst/>
          </a:prstGeom>
          <a:noFill/>
          <a:ln w="28575">
            <a:solidFill>
              <a:srgbClr val="FF0000"/>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8EEC0292-E3C7-4626-938D-F1DB79238E3F}"/>
              </a:ext>
            </a:extLst>
          </p:cNvPr>
          <p:cNvSpPr/>
          <p:nvPr/>
        </p:nvSpPr>
        <p:spPr>
          <a:xfrm>
            <a:off x="617913" y="1716232"/>
            <a:ext cx="5321069" cy="374718"/>
          </a:xfrm>
          <a:prstGeom prst="rect">
            <a:avLst/>
          </a:prstGeom>
          <a:noFill/>
        </p:spPr>
        <p:txBody>
          <a:bodyPr wrap="square" lIns="0" tIns="0" rIns="0" bIns="0" rtlCol="0">
            <a:noAutofit/>
          </a:bodyPr>
          <a:lstStyle/>
          <a:p>
            <a:pPr marL="108000" indent="-108000">
              <a:lnSpc>
                <a:spcPts val="1050"/>
              </a:lnSpc>
              <a:spcBef>
                <a:spcPts val="300"/>
              </a:spcBef>
              <a:buFont typeface="Arial" panose="020B0604020202020204" pitchFamily="34" charset="0"/>
              <a:buChar char="•"/>
            </a:pPr>
            <a:r>
              <a:rPr lang="en-GB" sz="1050">
                <a:solidFill>
                  <a:srgbClr val="000000"/>
                </a:solidFill>
                <a:latin typeface="Calibri" panose="020F0502020204030204" pitchFamily="34" charset="0"/>
                <a:cs typeface="Calibri" panose="020F0502020204030204" pitchFamily="34" charset="0"/>
              </a:rPr>
              <a:t>Balance Sheet Translation is the process at period end for all B/S account balances in LC1 to be translated from LC1 to group currency LC3 at balance sheet date rate (JT Rate), and P&amp;L accounts at RM (monthly average) Rate.</a:t>
            </a:r>
          </a:p>
        </p:txBody>
      </p:sp>
      <p:sp>
        <p:nvSpPr>
          <p:cNvPr id="3" name="Rectangle 2">
            <a:extLst>
              <a:ext uri="{FF2B5EF4-FFF2-40B4-BE49-F238E27FC236}">
                <a16:creationId xmlns:a16="http://schemas.microsoft.com/office/drawing/2014/main" id="{9A9FBA65-5DA8-4D0B-A5A3-EB21A28EBDF0}"/>
              </a:ext>
            </a:extLst>
          </p:cNvPr>
          <p:cNvSpPr/>
          <p:nvPr/>
        </p:nvSpPr>
        <p:spPr>
          <a:xfrm>
            <a:off x="550468" y="3603042"/>
            <a:ext cx="5438391" cy="1264872"/>
          </a:xfrm>
          <a:prstGeom prst="rect">
            <a:avLst/>
          </a:prstGeom>
          <a:noFill/>
        </p:spPr>
        <p:txBody>
          <a:bodyPr wrap="square" lIns="0" tIns="0" rIns="0" bIns="0" rtlCol="0">
            <a:noAutofit/>
          </a:bodyPr>
          <a:lstStyle/>
          <a:p>
            <a:pPr marL="108000" indent="-108000">
              <a:lnSpc>
                <a:spcPts val="1050"/>
              </a:lnSpc>
              <a:spcBef>
                <a:spcPts val="300"/>
              </a:spcBef>
              <a:buFont typeface="Arial" panose="020B0604020202020204" pitchFamily="34" charset="0"/>
              <a:buChar char="•"/>
            </a:pPr>
            <a:r>
              <a:rPr lang="en-GB" sz="1050">
                <a:solidFill>
                  <a:srgbClr val="000000"/>
                </a:solidFill>
                <a:latin typeface="Calibri" panose="020F0502020204030204" pitchFamily="34" charset="0"/>
                <a:cs typeface="Calibri" panose="020F0502020204030204" pitchFamily="34" charset="0"/>
              </a:rPr>
              <a:t>In S/4HANA the </a:t>
            </a:r>
            <a:r>
              <a:rPr lang="en-GB" sz="1050" b="1">
                <a:solidFill>
                  <a:srgbClr val="000000"/>
                </a:solidFill>
                <a:latin typeface="Calibri" panose="020F0502020204030204" pitchFamily="34" charset="0"/>
                <a:cs typeface="Calibri" panose="020F0502020204030204" pitchFamily="34" charset="0"/>
              </a:rPr>
              <a:t>Core Principles </a:t>
            </a:r>
            <a:r>
              <a:rPr lang="en-GB" sz="1050">
                <a:solidFill>
                  <a:srgbClr val="000000"/>
                </a:solidFill>
                <a:latin typeface="Calibri" panose="020F0502020204030204" pitchFamily="34" charset="0"/>
                <a:cs typeface="Calibri" panose="020F0502020204030204" pitchFamily="34" charset="0"/>
              </a:rPr>
              <a:t>on FX Rate sources, FX Rate trigger dates and Translation calculations remain unchanged.</a:t>
            </a:r>
          </a:p>
          <a:p>
            <a:pPr marL="108000" indent="-108000">
              <a:lnSpc>
                <a:spcPts val="1050"/>
              </a:lnSpc>
              <a:spcBef>
                <a:spcPts val="300"/>
              </a:spcBef>
              <a:buFont typeface="Arial" panose="020B0604020202020204" pitchFamily="34" charset="0"/>
              <a:buChar char="•"/>
            </a:pPr>
            <a:r>
              <a:rPr lang="en-GB" sz="1050">
                <a:solidFill>
                  <a:srgbClr val="000000"/>
                </a:solidFill>
                <a:latin typeface="Calibri" panose="020F0502020204030204" pitchFamily="34" charset="0"/>
                <a:cs typeface="Calibri" panose="020F0502020204030204" pitchFamily="34" charset="0"/>
              </a:rPr>
              <a:t>At period end </a:t>
            </a:r>
            <a:r>
              <a:rPr lang="en-GB" sz="1050" b="1">
                <a:solidFill>
                  <a:srgbClr val="000000"/>
                </a:solidFill>
                <a:latin typeface="Calibri" panose="020F0502020204030204" pitchFamily="34" charset="0"/>
                <a:cs typeface="Calibri" panose="020F0502020204030204" pitchFamily="34" charset="0"/>
              </a:rPr>
              <a:t>all G/L balances which have balances in LC1</a:t>
            </a:r>
            <a:r>
              <a:rPr lang="en-GB" sz="1050">
                <a:solidFill>
                  <a:srgbClr val="000000"/>
                </a:solidFill>
                <a:latin typeface="Calibri" panose="020F0502020204030204" pitchFamily="34" charset="0"/>
                <a:cs typeface="Calibri" panose="020F0502020204030204" pitchFamily="34" charset="0"/>
              </a:rPr>
              <a:t> (except equity accounts) are translated to </a:t>
            </a:r>
            <a:r>
              <a:rPr lang="en-GB" sz="1050" b="1">
                <a:solidFill>
                  <a:srgbClr val="000000"/>
                </a:solidFill>
                <a:latin typeface="Calibri" panose="020F0502020204030204" pitchFamily="34" charset="0"/>
                <a:cs typeface="Calibri" panose="020F0502020204030204" pitchFamily="34" charset="0"/>
              </a:rPr>
              <a:t>LC3 in IFRS </a:t>
            </a:r>
            <a:r>
              <a:rPr lang="en-GB" sz="1050">
                <a:solidFill>
                  <a:srgbClr val="000000"/>
                </a:solidFill>
                <a:latin typeface="Calibri" panose="020F0502020204030204" pitchFamily="34" charset="0"/>
                <a:cs typeface="Calibri" panose="020F0502020204030204" pitchFamily="34" charset="0"/>
              </a:rPr>
              <a:t>ledger and to </a:t>
            </a:r>
            <a:r>
              <a:rPr lang="en-GB" sz="1050" b="1">
                <a:solidFill>
                  <a:srgbClr val="000000"/>
                </a:solidFill>
                <a:latin typeface="Calibri" panose="020F0502020204030204" pitchFamily="34" charset="0"/>
                <a:cs typeface="Calibri" panose="020F0502020204030204" pitchFamily="34" charset="0"/>
              </a:rPr>
              <a:t>LC2 in STAT and TAX</a:t>
            </a:r>
            <a:r>
              <a:rPr lang="en-GB" sz="1050">
                <a:solidFill>
                  <a:srgbClr val="000000"/>
                </a:solidFill>
                <a:latin typeface="Calibri" panose="020F0502020204030204" pitchFamily="34" charset="0"/>
                <a:cs typeface="Calibri" panose="020F0502020204030204" pitchFamily="34" charset="0"/>
              </a:rPr>
              <a:t> ledgers </a:t>
            </a:r>
            <a:r>
              <a:rPr lang="en-GB" sz="1050" b="1">
                <a:solidFill>
                  <a:srgbClr val="000000"/>
                </a:solidFill>
                <a:latin typeface="Calibri" panose="020F0502020204030204" pitchFamily="34" charset="0"/>
                <a:cs typeface="Calibri" panose="020F0502020204030204" pitchFamily="34" charset="0"/>
              </a:rPr>
              <a:t>@JT Rate for B/S items and @RM rate for P&amp;L items. </a:t>
            </a:r>
          </a:p>
          <a:p>
            <a:pPr marL="108000" lvl="3" indent="-108000">
              <a:lnSpc>
                <a:spcPts val="1050"/>
              </a:lnSpc>
              <a:spcBef>
                <a:spcPts val="300"/>
              </a:spcBef>
              <a:buFont typeface="Arial" panose="020B0604020202020204" pitchFamily="34" charset="0"/>
              <a:buChar char="•"/>
            </a:pPr>
            <a:r>
              <a:rPr lang="en-US" sz="1050">
                <a:solidFill>
                  <a:srgbClr val="000000"/>
                </a:solidFill>
                <a:latin typeface="Calibri" panose="020F0502020204030204" pitchFamily="34" charset="0"/>
                <a:cs typeface="Calibri" panose="020F0502020204030204" pitchFamily="34" charset="0"/>
              </a:rPr>
              <a:t>Translation </a:t>
            </a:r>
            <a:r>
              <a:rPr lang="en-US" sz="1050" b="1">
                <a:solidFill>
                  <a:srgbClr val="000000"/>
                </a:solidFill>
                <a:latin typeface="Calibri" panose="020F0502020204030204" pitchFamily="34" charset="0"/>
                <a:cs typeface="Calibri" panose="020F0502020204030204" pitchFamily="34" charset="0"/>
              </a:rPr>
              <a:t>posts CTA </a:t>
            </a:r>
            <a:r>
              <a:rPr lang="en-US" sz="1050">
                <a:solidFill>
                  <a:srgbClr val="000000"/>
                </a:solidFill>
                <a:latin typeface="Calibri" panose="020F0502020204030204" pitchFamily="34" charset="0"/>
                <a:cs typeface="Calibri" panose="020F0502020204030204" pitchFamily="34" charset="0"/>
              </a:rPr>
              <a:t>(B/S to B/S in B/S Translation and B/S to P&amp;L in P&amp;L Translation) in LC3/LC2.</a:t>
            </a:r>
          </a:p>
          <a:p>
            <a:pPr marL="108000" lvl="3" indent="-108000">
              <a:lnSpc>
                <a:spcPts val="1050"/>
              </a:lnSpc>
              <a:spcBef>
                <a:spcPts val="300"/>
              </a:spcBef>
              <a:buFont typeface="Arial" panose="020B0604020202020204" pitchFamily="34" charset="0"/>
              <a:buChar char="•"/>
            </a:pPr>
            <a:r>
              <a:rPr lang="en-US" sz="1050">
                <a:solidFill>
                  <a:srgbClr val="000000"/>
                </a:solidFill>
                <a:latin typeface="Calibri" panose="020F0502020204030204" pitchFamily="34" charset="0"/>
                <a:cs typeface="Calibri" panose="020F0502020204030204" pitchFamily="34" charset="0"/>
              </a:rPr>
              <a:t>Translation is performed separately for different ledgers as per closing calendar. To meet the different translation calculation requirements in different ledgers, </a:t>
            </a:r>
            <a:r>
              <a:rPr lang="en-US" sz="1050" b="1">
                <a:solidFill>
                  <a:srgbClr val="000000"/>
                </a:solidFill>
                <a:latin typeface="Calibri" panose="020F0502020204030204" pitchFamily="34" charset="0"/>
                <a:cs typeface="Calibri" panose="020F0502020204030204" pitchFamily="34" charset="0"/>
              </a:rPr>
              <a:t>Valuation Areas</a:t>
            </a:r>
            <a:r>
              <a:rPr lang="en-US" sz="1050" i="1" baseline="30000">
                <a:solidFill>
                  <a:srgbClr val="FF0000"/>
                </a:solidFill>
                <a:latin typeface="Calibri" panose="020F0502020204030204" pitchFamily="34" charset="0"/>
                <a:cs typeface="Calibri" panose="020F0502020204030204" pitchFamily="34" charset="0"/>
              </a:rPr>
              <a:t>1)</a:t>
            </a:r>
            <a:r>
              <a:rPr lang="en-US" sz="1050" b="1">
                <a:solidFill>
                  <a:srgbClr val="000000"/>
                </a:solidFill>
                <a:latin typeface="Calibri" panose="020F0502020204030204" pitchFamily="34" charset="0"/>
                <a:cs typeface="Calibri" panose="020F0502020204030204" pitchFamily="34" charset="0"/>
              </a:rPr>
              <a:t> </a:t>
            </a:r>
            <a:r>
              <a:rPr lang="en-US" sz="1050">
                <a:solidFill>
                  <a:srgbClr val="000000"/>
                </a:solidFill>
                <a:latin typeface="Calibri" panose="020F0502020204030204" pitchFamily="34" charset="0"/>
                <a:cs typeface="Calibri" panose="020F0502020204030204" pitchFamily="34" charset="0"/>
              </a:rPr>
              <a:t>are used.</a:t>
            </a:r>
          </a:p>
        </p:txBody>
      </p:sp>
      <p:sp>
        <p:nvSpPr>
          <p:cNvPr id="6" name="TextBox 5">
            <a:extLst>
              <a:ext uri="{FF2B5EF4-FFF2-40B4-BE49-F238E27FC236}">
                <a16:creationId xmlns:a16="http://schemas.microsoft.com/office/drawing/2014/main" id="{77DEEF9E-A697-41A4-B6CC-62B8FA5DA639}"/>
              </a:ext>
            </a:extLst>
          </p:cNvPr>
          <p:cNvSpPr txBox="1"/>
          <p:nvPr/>
        </p:nvSpPr>
        <p:spPr>
          <a:xfrm>
            <a:off x="6140805" y="4624487"/>
            <a:ext cx="5190837" cy="162848"/>
          </a:xfrm>
          <a:prstGeom prst="rect">
            <a:avLst/>
          </a:prstGeom>
          <a:noFill/>
        </p:spPr>
        <p:txBody>
          <a:bodyPr wrap="square" lIns="0" tIns="0" rIns="0" bIns="0" rtlCol="0">
            <a:noAutofit/>
          </a:bodyPr>
          <a:lstStyle/>
          <a:p>
            <a:pPr algn="l"/>
            <a:r>
              <a:rPr lang="en-US" sz="800" i="1" baseline="30000">
                <a:solidFill>
                  <a:srgbClr val="FF0000"/>
                </a:solidFill>
              </a:rPr>
              <a:t>1) </a:t>
            </a:r>
            <a:r>
              <a:rPr lang="en-US" sz="800" i="1"/>
              <a:t>Details on Valuation Areas and Translation Calculation Methods are available in Parallel Ledger training course.</a:t>
            </a:r>
          </a:p>
        </p:txBody>
      </p:sp>
      <p:sp>
        <p:nvSpPr>
          <p:cNvPr id="33" name="Rectangle: Rounded Corners 32">
            <a:extLst>
              <a:ext uri="{FF2B5EF4-FFF2-40B4-BE49-F238E27FC236}">
                <a16:creationId xmlns:a16="http://schemas.microsoft.com/office/drawing/2014/main" id="{D94C164B-9BFC-4199-84A2-74E148F9B267}"/>
              </a:ext>
            </a:extLst>
          </p:cNvPr>
          <p:cNvSpPr/>
          <p:nvPr/>
        </p:nvSpPr>
        <p:spPr>
          <a:xfrm>
            <a:off x="7616468" y="2289055"/>
            <a:ext cx="4461926" cy="454145"/>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2370D566-C6F6-4F15-87D8-2177E3D5AA93}"/>
              </a:ext>
            </a:extLst>
          </p:cNvPr>
          <p:cNvSpPr txBox="1"/>
          <p:nvPr/>
        </p:nvSpPr>
        <p:spPr>
          <a:xfrm>
            <a:off x="3899577" y="6697630"/>
            <a:ext cx="7551018" cy="151981"/>
          </a:xfrm>
          <a:prstGeom prst="rect">
            <a:avLst/>
          </a:prstGeom>
          <a:noFill/>
        </p:spPr>
        <p:txBody>
          <a:bodyPr wrap="square" lIns="0" tIns="0" rIns="0" bIns="0" rtlCol="0" anchor="t">
            <a:noAutofit/>
          </a:bodyPr>
          <a:lstStyle/>
          <a:p>
            <a:pPr algn="l"/>
            <a:r>
              <a:rPr lang="en-US" sz="900" i="1" baseline="30000">
                <a:solidFill>
                  <a:srgbClr val="FF0000"/>
                </a:solidFill>
              </a:rPr>
              <a:t>2) </a:t>
            </a:r>
            <a:r>
              <a:rPr lang="en-US" sz="900" i="1"/>
              <a:t>There are approved exceptions for entities (Turkey and Russia) to run Translation for STAT/TAX on WD14.</a:t>
            </a:r>
          </a:p>
        </p:txBody>
      </p:sp>
      <p:sp>
        <p:nvSpPr>
          <p:cNvPr id="22" name="Speech Bubble: Rectangle 21">
            <a:extLst>
              <a:ext uri="{FF2B5EF4-FFF2-40B4-BE49-F238E27FC236}">
                <a16:creationId xmlns:a16="http://schemas.microsoft.com/office/drawing/2014/main" id="{7A1DC15E-39C0-46CF-9B5E-DB70FDE76054}"/>
              </a:ext>
            </a:extLst>
          </p:cNvPr>
          <p:cNvSpPr/>
          <p:nvPr/>
        </p:nvSpPr>
        <p:spPr>
          <a:xfrm>
            <a:off x="6170239" y="3937549"/>
            <a:ext cx="5274563" cy="672380"/>
          </a:xfrm>
          <a:prstGeom prst="wedgeRectCallout">
            <a:avLst>
              <a:gd name="adj1" fmla="val 41403"/>
              <a:gd name="adj2" fmla="val -80617"/>
            </a:avLst>
          </a:prstGeom>
          <a:solidFill>
            <a:schemeClr val="accent6">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nSpc>
                <a:spcPts val="1200"/>
              </a:lnSpc>
              <a:spcBef>
                <a:spcPts val="600"/>
              </a:spcBef>
              <a:defRPr/>
            </a:pPr>
            <a:r>
              <a:rPr lang="en-US" sz="1050" i="1">
                <a:solidFill>
                  <a:schemeClr val="tx1"/>
                </a:solidFill>
                <a:latin typeface="Georgia" panose="02040502050405020303" pitchFamily="18" charset="0"/>
              </a:rPr>
              <a:t>The variants used in Translation transaction are unique to each entity but they all use variables for dates/periods/years fields. You should always check/amend the values of these fields to ensure they are correct before executing Translation outside of FCC.</a:t>
            </a:r>
          </a:p>
        </p:txBody>
      </p:sp>
      <p:sp>
        <p:nvSpPr>
          <p:cNvPr id="11" name="Rectangle: Rounded Corners 10">
            <a:extLst>
              <a:ext uri="{FF2B5EF4-FFF2-40B4-BE49-F238E27FC236}">
                <a16:creationId xmlns:a16="http://schemas.microsoft.com/office/drawing/2014/main" id="{319B74D5-F1C7-476D-BA79-4CF34C02BC06}"/>
              </a:ext>
            </a:extLst>
          </p:cNvPr>
          <p:cNvSpPr/>
          <p:nvPr/>
        </p:nvSpPr>
        <p:spPr>
          <a:xfrm>
            <a:off x="10607041" y="3646510"/>
            <a:ext cx="1432853" cy="125227"/>
          </a:xfrm>
          <a:prstGeom prst="round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3254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1DD333B8-D081-486E-BD13-966724165915}"/>
              </a:ext>
            </a:extLst>
          </p:cNvPr>
          <p:cNvSpPr/>
          <p:nvPr/>
        </p:nvSpPr>
        <p:spPr>
          <a:xfrm>
            <a:off x="3973483" y="6007509"/>
            <a:ext cx="8024551" cy="825552"/>
          </a:xfrm>
          <a:prstGeom prst="rect">
            <a:avLst/>
          </a:prstGeom>
          <a:solidFill>
            <a:schemeClr val="bg1"/>
          </a:solidFill>
          <a:ln w="19050">
            <a:solidFill>
              <a:schemeClr val="accent2"/>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These fields need to be populated in case you wish to reset a previous Translation run, for example when a Translation run was done incorrectly. You should populate other fields based on the actual Translation run you wish to reverse, otherwise you may be reversing a wrong Translation Run. </a:t>
            </a:r>
          </a:p>
          <a:p>
            <a:r>
              <a:rPr lang="en-GB" sz="1100">
                <a:solidFill>
                  <a:schemeClr val="tx1"/>
                </a:solidFill>
                <a:latin typeface="Calibri" panose="020F0502020204030204" pitchFamily="34" charset="0"/>
                <a:cs typeface="Calibri" panose="020F0502020204030204" pitchFamily="34" charset="0"/>
              </a:rPr>
              <a:t>This will reverse the Translation postings, which is why you need to provide a Reason for Reset. Make sure you consult your GL Team Lead or the person in charge of closing before resetting any Translation. </a:t>
            </a:r>
            <a:endParaRPr lang="en-US" sz="1100">
              <a:solidFill>
                <a:schemeClr val="tx1"/>
              </a:solidFill>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335DF964-E958-4021-AC2D-274062A3B0B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504320" y="1364065"/>
            <a:ext cx="3282587" cy="5061673"/>
          </a:xfrm>
          <a:prstGeom prst="rect">
            <a:avLst/>
          </a:prstGeom>
          <a:effectLst>
            <a:outerShdw blurRad="50800" dist="38100" dir="2700000" algn="tl" rotWithShape="0">
              <a:prstClr val="black">
                <a:alpha val="40000"/>
              </a:prstClr>
            </a:outerShdw>
          </a:effectLst>
        </p:spPr>
      </p:pic>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p:txBody>
          <a:bodyPr/>
          <a:lstStyle/>
          <a:p>
            <a:r>
              <a:rPr lang="en-GB"/>
              <a:t>Currency Translation: Execution (1/2)</a:t>
            </a:r>
          </a:p>
        </p:txBody>
      </p:sp>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a:xfrm>
            <a:off x="11489049" y="6420285"/>
            <a:ext cx="397261" cy="365125"/>
          </a:xfrm>
        </p:spPr>
        <p:txBody>
          <a:bodyPr/>
          <a:lstStyle/>
          <a:p>
            <a:fld id="{F4C94289-3309-4C35-850A-56FD49B3E346}" type="slidenum">
              <a:rPr lang="en-GB" smtClean="0"/>
              <a:t>3</a:t>
            </a:fld>
            <a:endParaRPr lang="en-GB"/>
          </a:p>
        </p:txBody>
      </p:sp>
      <p:sp>
        <p:nvSpPr>
          <p:cNvPr id="17" name="Rectangle 16">
            <a:extLst>
              <a:ext uri="{FF2B5EF4-FFF2-40B4-BE49-F238E27FC236}">
                <a16:creationId xmlns:a16="http://schemas.microsoft.com/office/drawing/2014/main" id="{A7B60E32-AD4C-46BB-BFE4-F836B84BE9D5}"/>
              </a:ext>
            </a:extLst>
          </p:cNvPr>
          <p:cNvSpPr/>
          <p:nvPr/>
        </p:nvSpPr>
        <p:spPr>
          <a:xfrm>
            <a:off x="3973482" y="1369048"/>
            <a:ext cx="8024554" cy="400110"/>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GB" sz="1150" i="1">
                <a:solidFill>
                  <a:srgbClr val="000000"/>
                </a:solidFill>
                <a:latin typeface="Georgia" panose="02040502050405020303" pitchFamily="18" charset="0"/>
              </a:rPr>
              <a:t>Transaction FAGL_FC_TRANS is new in S/4 HANA, and this is </a:t>
            </a:r>
            <a:r>
              <a:rPr lang="en-GB" sz="1150" b="1" i="1">
                <a:solidFill>
                  <a:srgbClr val="000000"/>
                </a:solidFill>
                <a:latin typeface="Georgia" panose="02040502050405020303" pitchFamily="18" charset="0"/>
              </a:rPr>
              <a:t>a different transaction from Revaluation</a:t>
            </a:r>
            <a:r>
              <a:rPr lang="en-GB" sz="1150" i="1">
                <a:solidFill>
                  <a:srgbClr val="000000"/>
                </a:solidFill>
                <a:latin typeface="Georgia" panose="02040502050405020303" pitchFamily="18" charset="0"/>
              </a:rPr>
              <a:t>. Make sure you use the same Variant as stated in the FCC task if you execute this transaction outside of FCC.</a:t>
            </a:r>
            <a:endPar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18" name="Rectangle: Rounded Corners 17">
            <a:extLst>
              <a:ext uri="{FF2B5EF4-FFF2-40B4-BE49-F238E27FC236}">
                <a16:creationId xmlns:a16="http://schemas.microsoft.com/office/drawing/2014/main" id="{072FB5AF-7560-4EEA-83C0-F9B01C02B6C0}"/>
              </a:ext>
            </a:extLst>
          </p:cNvPr>
          <p:cNvSpPr/>
          <p:nvPr/>
        </p:nvSpPr>
        <p:spPr>
          <a:xfrm>
            <a:off x="1303457" y="2202943"/>
            <a:ext cx="1993923" cy="208888"/>
          </a:xfrm>
          <a:prstGeom prst="roundRect">
            <a:avLst>
              <a:gd name="adj" fmla="val 4268"/>
            </a:avLst>
          </a:prstGeom>
          <a:no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0" name="Rectangle: Rounded Corners 19">
            <a:extLst>
              <a:ext uri="{FF2B5EF4-FFF2-40B4-BE49-F238E27FC236}">
                <a16:creationId xmlns:a16="http://schemas.microsoft.com/office/drawing/2014/main" id="{59C291AA-FBB5-411D-9300-25C08C79BF1F}"/>
              </a:ext>
            </a:extLst>
          </p:cNvPr>
          <p:cNvSpPr/>
          <p:nvPr/>
        </p:nvSpPr>
        <p:spPr>
          <a:xfrm>
            <a:off x="1303457" y="2586180"/>
            <a:ext cx="1993923" cy="422477"/>
          </a:xfrm>
          <a:prstGeom prst="roundRect">
            <a:avLst>
              <a:gd name="adj" fmla="val 4268"/>
            </a:avLst>
          </a:prstGeom>
          <a:noFill/>
          <a:ln w="19050">
            <a:solidFill>
              <a:schemeClr val="accent3">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1" name="Rectangle: Rounded Corners 20">
            <a:extLst>
              <a:ext uri="{FF2B5EF4-FFF2-40B4-BE49-F238E27FC236}">
                <a16:creationId xmlns:a16="http://schemas.microsoft.com/office/drawing/2014/main" id="{14367CE5-506F-4835-83A5-C9887B3E4251}"/>
              </a:ext>
            </a:extLst>
          </p:cNvPr>
          <p:cNvSpPr/>
          <p:nvPr/>
        </p:nvSpPr>
        <p:spPr>
          <a:xfrm>
            <a:off x="1303457" y="3234451"/>
            <a:ext cx="1993923" cy="192396"/>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2" name="Rectangle: Rounded Corners 21">
            <a:extLst>
              <a:ext uri="{FF2B5EF4-FFF2-40B4-BE49-F238E27FC236}">
                <a16:creationId xmlns:a16="http://schemas.microsoft.com/office/drawing/2014/main" id="{83413D00-23F1-4BD8-A198-75828C9BD269}"/>
              </a:ext>
            </a:extLst>
          </p:cNvPr>
          <p:cNvSpPr/>
          <p:nvPr/>
        </p:nvSpPr>
        <p:spPr>
          <a:xfrm>
            <a:off x="1011735" y="3617987"/>
            <a:ext cx="2285645" cy="192396"/>
          </a:xfrm>
          <a:prstGeom prst="roundRect">
            <a:avLst>
              <a:gd name="adj" fmla="val 4268"/>
            </a:avLst>
          </a:prstGeom>
          <a:noFill/>
          <a:ln w="19050">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3" name="Rectangle: Rounded Corners 22">
            <a:extLst>
              <a:ext uri="{FF2B5EF4-FFF2-40B4-BE49-F238E27FC236}">
                <a16:creationId xmlns:a16="http://schemas.microsoft.com/office/drawing/2014/main" id="{BD6AFB87-9808-4259-A040-EE489F58908C}"/>
              </a:ext>
            </a:extLst>
          </p:cNvPr>
          <p:cNvSpPr/>
          <p:nvPr/>
        </p:nvSpPr>
        <p:spPr>
          <a:xfrm>
            <a:off x="1303457" y="4735040"/>
            <a:ext cx="1993923" cy="191983"/>
          </a:xfrm>
          <a:prstGeom prst="roundRect">
            <a:avLst>
              <a:gd name="adj" fmla="val 4268"/>
            </a:avLst>
          </a:prstGeom>
          <a:noFill/>
          <a:ln w="1905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4" name="Rectangle: Rounded Corners 23">
            <a:extLst>
              <a:ext uri="{FF2B5EF4-FFF2-40B4-BE49-F238E27FC236}">
                <a16:creationId xmlns:a16="http://schemas.microsoft.com/office/drawing/2014/main" id="{A47F0F12-4232-4BF0-AD17-AF7E93784EF5}"/>
              </a:ext>
            </a:extLst>
          </p:cNvPr>
          <p:cNvSpPr/>
          <p:nvPr/>
        </p:nvSpPr>
        <p:spPr>
          <a:xfrm>
            <a:off x="1303457" y="3032030"/>
            <a:ext cx="1993924" cy="169205"/>
          </a:xfrm>
          <a:prstGeom prst="roundRect">
            <a:avLst>
              <a:gd name="adj" fmla="val 4268"/>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5" name="Rectangle: Rounded Corners 24">
            <a:extLst>
              <a:ext uri="{FF2B5EF4-FFF2-40B4-BE49-F238E27FC236}">
                <a16:creationId xmlns:a16="http://schemas.microsoft.com/office/drawing/2014/main" id="{C1940AE6-EC1A-454A-A2D1-9A43A82CEC0B}"/>
              </a:ext>
            </a:extLst>
          </p:cNvPr>
          <p:cNvSpPr/>
          <p:nvPr/>
        </p:nvSpPr>
        <p:spPr>
          <a:xfrm>
            <a:off x="1303457" y="5968097"/>
            <a:ext cx="1993924" cy="339909"/>
          </a:xfrm>
          <a:prstGeom prst="roundRect">
            <a:avLst>
              <a:gd name="adj" fmla="val 4268"/>
            </a:avLst>
          </a:prstGeom>
          <a:noFill/>
          <a:ln w="19050">
            <a:solidFill>
              <a:schemeClr val="accent2"/>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6" name="Rectangle: Rounded Corners 25">
            <a:extLst>
              <a:ext uri="{FF2B5EF4-FFF2-40B4-BE49-F238E27FC236}">
                <a16:creationId xmlns:a16="http://schemas.microsoft.com/office/drawing/2014/main" id="{06997168-EBD7-48A1-B1E3-1BBC47C11B91}"/>
              </a:ext>
            </a:extLst>
          </p:cNvPr>
          <p:cNvSpPr/>
          <p:nvPr/>
        </p:nvSpPr>
        <p:spPr>
          <a:xfrm>
            <a:off x="515939" y="1328908"/>
            <a:ext cx="2365806" cy="226292"/>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FAGL_FC_TRANS: Translation</a:t>
            </a:r>
          </a:p>
        </p:txBody>
      </p:sp>
      <p:sp>
        <p:nvSpPr>
          <p:cNvPr id="16" name="Rectangle 15">
            <a:extLst>
              <a:ext uri="{FF2B5EF4-FFF2-40B4-BE49-F238E27FC236}">
                <a16:creationId xmlns:a16="http://schemas.microsoft.com/office/drawing/2014/main" id="{F602B4F0-5D98-4157-B579-7381D0B9B34B}"/>
              </a:ext>
            </a:extLst>
          </p:cNvPr>
          <p:cNvSpPr/>
          <p:nvPr/>
        </p:nvSpPr>
        <p:spPr>
          <a:xfrm>
            <a:off x="3973484" y="1766313"/>
            <a:ext cx="8024552" cy="532505"/>
          </a:xfrm>
          <a:prstGeom prst="rect">
            <a:avLst/>
          </a:prstGeom>
          <a:no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a:cs typeface="Calibri"/>
              </a:rPr>
              <a:t>Translation is executed </a:t>
            </a:r>
            <a:r>
              <a:rPr lang="en-US" sz="1100" b="1">
                <a:solidFill>
                  <a:schemeClr val="tx1"/>
                </a:solidFill>
                <a:latin typeface="Calibri"/>
                <a:cs typeface="Calibri"/>
              </a:rPr>
              <a:t>for one entity at a time in JTI </a:t>
            </a:r>
            <a:r>
              <a:rPr lang="en-US" sz="1100">
                <a:solidFill>
                  <a:schemeClr val="tx1"/>
                </a:solidFill>
                <a:latin typeface="Calibri"/>
                <a:cs typeface="Calibri"/>
              </a:rPr>
              <a:t>(although the system does allow you to input more than one company codes).</a:t>
            </a:r>
            <a:r>
              <a:rPr lang="en-US" sz="1100" b="1">
                <a:solidFill>
                  <a:schemeClr val="tx1"/>
                </a:solidFill>
                <a:latin typeface="Calibri"/>
                <a:cs typeface="Calibri"/>
              </a:rPr>
              <a:t> </a:t>
            </a:r>
            <a:r>
              <a:rPr lang="en-US" sz="1100">
                <a:solidFill>
                  <a:schemeClr val="tx1"/>
                </a:solidFill>
                <a:latin typeface="Calibri"/>
                <a:cs typeface="Calibri"/>
              </a:rPr>
              <a:t>Variants for each Translation requirements of each entity has been created. If you have a new requirement you should liaise with the entity and BTS to have the new variant created and updated in FCC. </a:t>
            </a:r>
            <a:endParaRPr lang="en-US" sz="1100">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492E6C75-DEB3-40A2-A5B6-1CE9B2DE5FA6}"/>
              </a:ext>
            </a:extLst>
          </p:cNvPr>
          <p:cNvSpPr/>
          <p:nvPr/>
        </p:nvSpPr>
        <p:spPr>
          <a:xfrm>
            <a:off x="3973484" y="2341873"/>
            <a:ext cx="8024552" cy="206439"/>
          </a:xfrm>
          <a:prstGeom prst="rect">
            <a:avLst/>
          </a:prstGeom>
          <a:noFill/>
          <a:ln w="19050">
            <a:solidFill>
              <a:schemeClr val="accent1">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panose="020F0502020204030204" pitchFamily="34" charset="0"/>
                <a:cs typeface="Calibri" panose="020F0502020204030204" pitchFamily="34" charset="0"/>
              </a:rPr>
              <a:t>Valuation P&amp;L Accounts and Val. Period Balance Only checkboxes are ticked </a:t>
            </a:r>
            <a:r>
              <a:rPr lang="en-US" sz="1100" b="1">
                <a:solidFill>
                  <a:schemeClr val="tx1"/>
                </a:solidFill>
                <a:latin typeface="Calibri" panose="020F0502020204030204" pitchFamily="34" charset="0"/>
                <a:cs typeface="Calibri" panose="020F0502020204030204" pitchFamily="34" charset="0"/>
              </a:rPr>
              <a:t>in P&amp;L Translation </a:t>
            </a:r>
            <a:r>
              <a:rPr lang="en-US" sz="1100">
                <a:solidFill>
                  <a:schemeClr val="tx1"/>
                </a:solidFill>
                <a:latin typeface="Calibri" panose="020F0502020204030204" pitchFamily="34" charset="0"/>
                <a:cs typeface="Calibri" panose="020F0502020204030204" pitchFamily="34" charset="0"/>
              </a:rPr>
              <a:t>variants.</a:t>
            </a:r>
          </a:p>
        </p:txBody>
      </p:sp>
      <p:sp>
        <p:nvSpPr>
          <p:cNvPr id="28" name="Rectangle 27">
            <a:extLst>
              <a:ext uri="{FF2B5EF4-FFF2-40B4-BE49-F238E27FC236}">
                <a16:creationId xmlns:a16="http://schemas.microsoft.com/office/drawing/2014/main" id="{AFD12024-D026-4993-B0BB-F497293FB460}"/>
              </a:ext>
            </a:extLst>
          </p:cNvPr>
          <p:cNvSpPr/>
          <p:nvPr/>
        </p:nvSpPr>
        <p:spPr>
          <a:xfrm>
            <a:off x="4962698" y="2854963"/>
            <a:ext cx="7035336" cy="709922"/>
          </a:xfrm>
          <a:prstGeom prst="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b="1">
                <a:solidFill>
                  <a:schemeClr val="tx1"/>
                </a:solidFill>
                <a:latin typeface="Calibri" panose="020F0502020204030204" pitchFamily="34" charset="0"/>
                <a:cs typeface="Calibri" panose="020F0502020204030204" pitchFamily="34" charset="0"/>
              </a:rPr>
              <a:t>Value Area </a:t>
            </a:r>
            <a:r>
              <a:rPr lang="en-GB" sz="1100">
                <a:solidFill>
                  <a:schemeClr val="tx1"/>
                </a:solidFill>
                <a:latin typeface="Calibri" panose="020F0502020204030204" pitchFamily="34" charset="0"/>
                <a:cs typeface="Calibri" panose="020F0502020204030204" pitchFamily="34" charset="0"/>
              </a:rPr>
              <a:t>determines how the revaluation/translation is to be calculated. We use different Valuation Areas for different Accounting Principles (E.g. IFRS, STAT, Tax).</a:t>
            </a:r>
            <a:r>
              <a:rPr lang="en-US" sz="1100">
                <a:solidFill>
                  <a:schemeClr val="tx1"/>
                </a:solidFill>
                <a:latin typeface="Calibri" panose="020F0502020204030204" pitchFamily="34" charset="0"/>
                <a:cs typeface="Calibri" panose="020F0502020204030204" pitchFamily="34" charset="0"/>
              </a:rPr>
              <a:t> </a:t>
            </a:r>
            <a:r>
              <a:rPr lang="en-GB" sz="1100">
                <a:solidFill>
                  <a:schemeClr val="tx1"/>
                </a:solidFill>
                <a:latin typeface="Calibri" panose="020F0502020204030204" pitchFamily="34" charset="0"/>
                <a:cs typeface="Calibri" panose="020F0502020204030204" pitchFamily="34" charset="0"/>
              </a:rPr>
              <a:t>For Translation, the following Valuation Areas are used: C0-for IFRS, CS-for STAT and CT-for Tax.</a:t>
            </a:r>
            <a:endParaRPr lang="en-US" sz="1100">
              <a:solidFill>
                <a:schemeClr val="tx1"/>
              </a:solidFill>
              <a:latin typeface="Calibri" panose="020F0502020204030204" pitchFamily="34" charset="0"/>
              <a:cs typeface="Calibri" panose="020F0502020204030204" pitchFamily="34" charset="0"/>
            </a:endParaRPr>
          </a:p>
        </p:txBody>
      </p:sp>
      <p:cxnSp>
        <p:nvCxnSpPr>
          <p:cNvPr id="36" name="Straight Arrow Connector 35">
            <a:extLst>
              <a:ext uri="{FF2B5EF4-FFF2-40B4-BE49-F238E27FC236}">
                <a16:creationId xmlns:a16="http://schemas.microsoft.com/office/drawing/2014/main" id="{56E64BC0-2D95-4336-B5E8-0AB0E43783DB}"/>
              </a:ext>
            </a:extLst>
          </p:cNvPr>
          <p:cNvCxnSpPr>
            <a:cxnSpLocks/>
            <a:endCxn id="28" idx="1"/>
          </p:cNvCxnSpPr>
          <p:nvPr/>
        </p:nvCxnSpPr>
        <p:spPr>
          <a:xfrm>
            <a:off x="4645672" y="3209924"/>
            <a:ext cx="317026" cy="0"/>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832D4AF1-3771-40AB-B4C2-C1C93597D560}"/>
              </a:ext>
            </a:extLst>
          </p:cNvPr>
          <p:cNvSpPr/>
          <p:nvPr/>
        </p:nvSpPr>
        <p:spPr>
          <a:xfrm>
            <a:off x="4962698" y="3668718"/>
            <a:ext cx="7035336" cy="286624"/>
          </a:xfrm>
          <a:prstGeom prst="rect">
            <a:avLst/>
          </a:prstGeom>
          <a:noFill/>
          <a:ln w="19050">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This is the base currency for Translation. In our case it will be currency type 10 – LC1. </a:t>
            </a:r>
            <a:endParaRPr lang="en-US" sz="1100">
              <a:solidFill>
                <a:schemeClr val="tx1"/>
              </a:solidFill>
              <a:latin typeface="Calibri" panose="020F0502020204030204" pitchFamily="34" charset="0"/>
              <a:cs typeface="Calibri" panose="020F0502020204030204" pitchFamily="34" charset="0"/>
            </a:endParaRPr>
          </a:p>
        </p:txBody>
      </p:sp>
      <p:cxnSp>
        <p:nvCxnSpPr>
          <p:cNvPr id="45" name="Connector: Elbow 44">
            <a:extLst>
              <a:ext uri="{FF2B5EF4-FFF2-40B4-BE49-F238E27FC236}">
                <a16:creationId xmlns:a16="http://schemas.microsoft.com/office/drawing/2014/main" id="{A126DB8F-651C-4DDC-8AAA-6A5F0863C996}"/>
              </a:ext>
            </a:extLst>
          </p:cNvPr>
          <p:cNvCxnSpPr>
            <a:cxnSpLocks/>
            <a:stCxn id="18" idx="3"/>
            <a:endCxn id="16" idx="1"/>
          </p:cNvCxnSpPr>
          <p:nvPr/>
        </p:nvCxnSpPr>
        <p:spPr>
          <a:xfrm flipV="1">
            <a:off x="3297380" y="2032566"/>
            <a:ext cx="676104" cy="274821"/>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5CF2CC16-698B-4F6E-992F-D7937AF21E0B}"/>
              </a:ext>
            </a:extLst>
          </p:cNvPr>
          <p:cNvCxnSpPr>
            <a:cxnSpLocks/>
            <a:stCxn id="20" idx="3"/>
            <a:endCxn id="27" idx="1"/>
          </p:cNvCxnSpPr>
          <p:nvPr/>
        </p:nvCxnSpPr>
        <p:spPr>
          <a:xfrm flipV="1">
            <a:off x="3297380" y="2445093"/>
            <a:ext cx="676104" cy="352326"/>
          </a:xfrm>
          <a:prstGeom prst="bentConnector3">
            <a:avLst>
              <a:gd name="adj1" fmla="val 50000"/>
            </a:avLst>
          </a:prstGeom>
          <a:ln w="1270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CC804835-3AFF-4D06-9743-36186D0A75ED}"/>
              </a:ext>
            </a:extLst>
          </p:cNvPr>
          <p:cNvCxnSpPr>
            <a:cxnSpLocks/>
            <a:stCxn id="22" idx="3"/>
            <a:endCxn id="43" idx="2"/>
          </p:cNvCxnSpPr>
          <p:nvPr/>
        </p:nvCxnSpPr>
        <p:spPr>
          <a:xfrm>
            <a:off x="3297380" y="3714185"/>
            <a:ext cx="5182986" cy="241157"/>
          </a:xfrm>
          <a:prstGeom prst="bentConnector4">
            <a:avLst>
              <a:gd name="adj1" fmla="val 6442"/>
              <a:gd name="adj2" fmla="val 160323"/>
            </a:avLst>
          </a:prstGeom>
          <a:ln w="12700">
            <a:solidFill>
              <a:schemeClr val="accent4">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1136A41D-0272-4146-8570-C3713E9F0F54}"/>
              </a:ext>
            </a:extLst>
          </p:cNvPr>
          <p:cNvSpPr/>
          <p:nvPr/>
        </p:nvSpPr>
        <p:spPr>
          <a:xfrm>
            <a:off x="3973483" y="4931431"/>
            <a:ext cx="8024552" cy="545857"/>
          </a:xfrm>
          <a:prstGeom prst="rect">
            <a:avLst/>
          </a:prstGeom>
          <a:solidFill>
            <a:schemeClr val="bg1"/>
          </a:solidFill>
          <a:ln w="1905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The Batch Input session name corresponds to the Translation variant names.  It is needed when documents can’t be posted simultaneously when the transaction is run. This example means it is for Balance Sheet Translation (TBS), entity 1100 and for IFRS ledger (I).</a:t>
            </a:r>
            <a:endParaRPr lang="en-US" sz="1100">
              <a:solidFill>
                <a:schemeClr val="tx1"/>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6EBCD3F5-FC0B-4E73-A9EF-864A3BEBCBA4}"/>
              </a:ext>
            </a:extLst>
          </p:cNvPr>
          <p:cNvSpPr/>
          <p:nvPr/>
        </p:nvSpPr>
        <p:spPr>
          <a:xfrm>
            <a:off x="3973482" y="2608505"/>
            <a:ext cx="8024552" cy="210963"/>
          </a:xfrm>
          <a:prstGeom prst="rect">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Key Date for Translation is the last date of the month that is being closed. </a:t>
            </a:r>
            <a:endParaRPr lang="en-US" sz="1100">
              <a:solidFill>
                <a:schemeClr val="tx1"/>
              </a:solidFill>
              <a:latin typeface="Calibri" panose="020F0502020204030204" pitchFamily="34" charset="0"/>
              <a:cs typeface="Calibri" panose="020F0502020204030204" pitchFamily="34" charset="0"/>
            </a:endParaRPr>
          </a:p>
        </p:txBody>
      </p:sp>
      <p:cxnSp>
        <p:nvCxnSpPr>
          <p:cNvPr id="56" name="Connector: Elbow 55">
            <a:extLst>
              <a:ext uri="{FF2B5EF4-FFF2-40B4-BE49-F238E27FC236}">
                <a16:creationId xmlns:a16="http://schemas.microsoft.com/office/drawing/2014/main" id="{B46A399A-BCC5-4750-B0ED-F38B3F9C4052}"/>
              </a:ext>
            </a:extLst>
          </p:cNvPr>
          <p:cNvCxnSpPr>
            <a:cxnSpLocks/>
            <a:stCxn id="23" idx="3"/>
            <a:endCxn id="53" idx="1"/>
          </p:cNvCxnSpPr>
          <p:nvPr/>
        </p:nvCxnSpPr>
        <p:spPr>
          <a:xfrm>
            <a:off x="3297380" y="4831032"/>
            <a:ext cx="676103" cy="373328"/>
          </a:xfrm>
          <a:prstGeom prst="bentConnector3">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84C0FBE9-06C0-4EB6-9E59-6454A2629FEB}"/>
              </a:ext>
            </a:extLst>
          </p:cNvPr>
          <p:cNvCxnSpPr>
            <a:cxnSpLocks/>
            <a:stCxn id="24" idx="3"/>
            <a:endCxn id="54" idx="1"/>
          </p:cNvCxnSpPr>
          <p:nvPr/>
        </p:nvCxnSpPr>
        <p:spPr>
          <a:xfrm flipV="1">
            <a:off x="3297381" y="2713987"/>
            <a:ext cx="676101" cy="402646"/>
          </a:xfrm>
          <a:prstGeom prst="bentConnector3">
            <a:avLst>
              <a:gd name="adj1" fmla="val 63525"/>
            </a:avLst>
          </a:prstGeom>
          <a:ln w="127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13F30D70-067A-4080-B000-474DC9A09821}"/>
              </a:ext>
            </a:extLst>
          </p:cNvPr>
          <p:cNvCxnSpPr>
            <a:cxnSpLocks/>
            <a:stCxn id="25" idx="3"/>
            <a:endCxn id="64" idx="1"/>
          </p:cNvCxnSpPr>
          <p:nvPr/>
        </p:nvCxnSpPr>
        <p:spPr>
          <a:xfrm>
            <a:off x="3297381" y="6138052"/>
            <a:ext cx="676102" cy="282233"/>
          </a:xfrm>
          <a:prstGeom prst="bentConnector3">
            <a:avLst>
              <a:gd name="adj1" fmla="val 50000"/>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57" name="Picture 56">
            <a:extLst>
              <a:ext uri="{FF2B5EF4-FFF2-40B4-BE49-F238E27FC236}">
                <a16:creationId xmlns:a16="http://schemas.microsoft.com/office/drawing/2014/main" id="{6D8FD092-DA8D-4430-A4E2-FC45FF7AEB06}"/>
              </a:ext>
            </a:extLst>
          </p:cNvPr>
          <p:cNvPicPr>
            <a:picLocks noChangeAspect="1"/>
          </p:cNvPicPr>
          <p:nvPr/>
        </p:nvPicPr>
        <p:blipFill>
          <a:blip r:embed="rId5"/>
          <a:stretch>
            <a:fillRect/>
          </a:stretch>
        </p:blipFill>
        <p:spPr>
          <a:xfrm>
            <a:off x="3930715" y="2870619"/>
            <a:ext cx="714957" cy="1189963"/>
          </a:xfrm>
          <a:prstGeom prst="rect">
            <a:avLst/>
          </a:prstGeom>
          <a:ln>
            <a:solidFill>
              <a:srgbClr val="FF0000"/>
            </a:solidFill>
          </a:ln>
        </p:spPr>
      </p:pic>
      <p:cxnSp>
        <p:nvCxnSpPr>
          <p:cNvPr id="59" name="Connector: Elbow 58">
            <a:extLst>
              <a:ext uri="{FF2B5EF4-FFF2-40B4-BE49-F238E27FC236}">
                <a16:creationId xmlns:a16="http://schemas.microsoft.com/office/drawing/2014/main" id="{73C437F0-25F9-40A3-9737-700A030AAA9B}"/>
              </a:ext>
            </a:extLst>
          </p:cNvPr>
          <p:cNvCxnSpPr>
            <a:cxnSpLocks/>
            <a:stCxn id="21" idx="3"/>
            <a:endCxn id="57" idx="1"/>
          </p:cNvCxnSpPr>
          <p:nvPr/>
        </p:nvCxnSpPr>
        <p:spPr>
          <a:xfrm>
            <a:off x="3297380" y="3330649"/>
            <a:ext cx="633335" cy="134952"/>
          </a:xfrm>
          <a:prstGeom prst="bentConnector3">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93" name="Rectangle: Rounded Corners 92">
            <a:extLst>
              <a:ext uri="{FF2B5EF4-FFF2-40B4-BE49-F238E27FC236}">
                <a16:creationId xmlns:a16="http://schemas.microsoft.com/office/drawing/2014/main" id="{18FA55B3-867B-4829-A7C9-D36E97DA9069}"/>
              </a:ext>
            </a:extLst>
          </p:cNvPr>
          <p:cNvSpPr/>
          <p:nvPr/>
        </p:nvSpPr>
        <p:spPr>
          <a:xfrm>
            <a:off x="1303457" y="4178399"/>
            <a:ext cx="1993923" cy="352449"/>
          </a:xfrm>
          <a:prstGeom prst="roundRect">
            <a:avLst>
              <a:gd name="adj" fmla="val 4268"/>
            </a:avLst>
          </a:prstGeom>
          <a:noFill/>
          <a:ln w="19050">
            <a:solidFill>
              <a:schemeClr val="accent5"/>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94" name="Rectangle 93">
            <a:extLst>
              <a:ext uri="{FF2B5EF4-FFF2-40B4-BE49-F238E27FC236}">
                <a16:creationId xmlns:a16="http://schemas.microsoft.com/office/drawing/2014/main" id="{D490C906-EBB3-44CB-9559-E53D9F2AFBAE}"/>
              </a:ext>
            </a:extLst>
          </p:cNvPr>
          <p:cNvSpPr/>
          <p:nvPr/>
        </p:nvSpPr>
        <p:spPr>
          <a:xfrm>
            <a:off x="3973483" y="4181237"/>
            <a:ext cx="8024552" cy="674756"/>
          </a:xfrm>
          <a:prstGeom prst="rect">
            <a:avLst/>
          </a:prstGeom>
          <a:noFill/>
          <a:ln w="19050">
            <a:solidFill>
              <a:schemeClr val="accent5"/>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Generate Postings will trigger the Translation postings. If you do it outside of FCC, you may first execute the transaction without ticking Generate Postings, which effectively will give you a Test Run result. </a:t>
            </a:r>
          </a:p>
          <a:p>
            <a:r>
              <a:rPr lang="en-GB" sz="1100">
                <a:solidFill>
                  <a:schemeClr val="tx1"/>
                </a:solidFill>
                <a:latin typeface="Calibri" panose="020F0502020204030204" pitchFamily="34" charset="0"/>
                <a:cs typeface="Calibri" panose="020F0502020204030204" pitchFamily="34" charset="0"/>
              </a:rPr>
              <a:t>Reverse Postings should be selected for B/S translations as these should be reversed at the beginning of the following period. P&amp;L Translation is not reversed.</a:t>
            </a:r>
            <a:endParaRPr lang="en-US" sz="1100">
              <a:solidFill>
                <a:schemeClr val="tx1"/>
              </a:solidFill>
              <a:latin typeface="Calibri" panose="020F0502020204030204" pitchFamily="34" charset="0"/>
              <a:cs typeface="Calibri" panose="020F0502020204030204" pitchFamily="34" charset="0"/>
            </a:endParaRPr>
          </a:p>
        </p:txBody>
      </p:sp>
      <p:cxnSp>
        <p:nvCxnSpPr>
          <p:cNvPr id="95" name="Connector: Elbow 94">
            <a:extLst>
              <a:ext uri="{FF2B5EF4-FFF2-40B4-BE49-F238E27FC236}">
                <a16:creationId xmlns:a16="http://schemas.microsoft.com/office/drawing/2014/main" id="{D91E62AD-847A-4E17-AA82-11051F4896A0}"/>
              </a:ext>
            </a:extLst>
          </p:cNvPr>
          <p:cNvCxnSpPr>
            <a:cxnSpLocks/>
            <a:stCxn id="93" idx="3"/>
            <a:endCxn id="94" idx="1"/>
          </p:cNvCxnSpPr>
          <p:nvPr/>
        </p:nvCxnSpPr>
        <p:spPr>
          <a:xfrm>
            <a:off x="3297380" y="4354624"/>
            <a:ext cx="676103" cy="163991"/>
          </a:xfrm>
          <a:prstGeom prst="bentConnector3">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02" name="Rectangle: Rounded Corners 101">
            <a:extLst>
              <a:ext uri="{FF2B5EF4-FFF2-40B4-BE49-F238E27FC236}">
                <a16:creationId xmlns:a16="http://schemas.microsoft.com/office/drawing/2014/main" id="{8DB39438-05F6-43A9-8D5C-CC739290473D}"/>
              </a:ext>
            </a:extLst>
          </p:cNvPr>
          <p:cNvSpPr/>
          <p:nvPr/>
        </p:nvSpPr>
        <p:spPr>
          <a:xfrm>
            <a:off x="1303456" y="4989566"/>
            <a:ext cx="1993923" cy="905138"/>
          </a:xfrm>
          <a:prstGeom prst="roundRect">
            <a:avLst>
              <a:gd name="adj" fmla="val 4268"/>
            </a:avLst>
          </a:prstGeom>
          <a:noFill/>
          <a:ln w="19050">
            <a:solidFill>
              <a:srgbClr val="00B05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03" name="Rectangle 102">
            <a:extLst>
              <a:ext uri="{FF2B5EF4-FFF2-40B4-BE49-F238E27FC236}">
                <a16:creationId xmlns:a16="http://schemas.microsoft.com/office/drawing/2014/main" id="{507C4D79-473B-4BD5-BFE4-6DA113E8D04F}"/>
              </a:ext>
            </a:extLst>
          </p:cNvPr>
          <p:cNvSpPr/>
          <p:nvPr/>
        </p:nvSpPr>
        <p:spPr>
          <a:xfrm>
            <a:off x="3973482" y="5520308"/>
            <a:ext cx="8024552" cy="436702"/>
          </a:xfrm>
          <a:prstGeom prst="rect">
            <a:avLst/>
          </a:prstGeom>
          <a:solidFill>
            <a:schemeClr val="bg1"/>
          </a:solidFill>
          <a:ln w="19050">
            <a:solidFill>
              <a:srgbClr val="00B05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Translation is to be posted on the last date of a month that is being closed and reversed (only B/S Translation) on the first date of the following month.</a:t>
            </a:r>
            <a:endParaRPr lang="en-US" sz="1100">
              <a:solidFill>
                <a:schemeClr val="tx1"/>
              </a:solidFill>
              <a:latin typeface="Calibri" panose="020F0502020204030204" pitchFamily="34" charset="0"/>
              <a:cs typeface="Calibri" panose="020F0502020204030204" pitchFamily="34" charset="0"/>
            </a:endParaRPr>
          </a:p>
        </p:txBody>
      </p:sp>
      <p:cxnSp>
        <p:nvCxnSpPr>
          <p:cNvPr id="104" name="Connector: Elbow 103">
            <a:extLst>
              <a:ext uri="{FF2B5EF4-FFF2-40B4-BE49-F238E27FC236}">
                <a16:creationId xmlns:a16="http://schemas.microsoft.com/office/drawing/2014/main" id="{06A93DD6-DCA8-42AD-A69E-36CB17AD5969}"/>
              </a:ext>
            </a:extLst>
          </p:cNvPr>
          <p:cNvCxnSpPr>
            <a:cxnSpLocks/>
            <a:stCxn id="102" idx="3"/>
            <a:endCxn id="103" idx="1"/>
          </p:cNvCxnSpPr>
          <p:nvPr/>
        </p:nvCxnSpPr>
        <p:spPr>
          <a:xfrm>
            <a:off x="3297379" y="5442135"/>
            <a:ext cx="676103" cy="296524"/>
          </a:xfrm>
          <a:prstGeom prst="bentConnector3">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8276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p:txBody>
          <a:bodyPr/>
          <a:lstStyle/>
          <a:p>
            <a:r>
              <a:rPr lang="en-GB"/>
              <a:t>Currency Translation: Execution (2/2)</a:t>
            </a:r>
          </a:p>
        </p:txBody>
      </p:sp>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p:txBody>
          <a:bodyPr/>
          <a:lstStyle/>
          <a:p>
            <a:fld id="{F4C94289-3309-4C35-850A-56FD49B3E346}" type="slidenum">
              <a:rPr lang="en-GB" smtClean="0"/>
              <a:t>4</a:t>
            </a:fld>
            <a:endParaRPr lang="en-GB"/>
          </a:p>
        </p:txBody>
      </p:sp>
      <p:pic>
        <p:nvPicPr>
          <p:cNvPr id="5" name="Picture 4">
            <a:extLst>
              <a:ext uri="{FF2B5EF4-FFF2-40B4-BE49-F238E27FC236}">
                <a16:creationId xmlns:a16="http://schemas.microsoft.com/office/drawing/2014/main" id="{EBA5BAFA-EE41-4231-8EEB-AE3664EBA50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327754" y="1361311"/>
            <a:ext cx="4111242" cy="1772279"/>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ABBA27FC-335C-45B2-9AE6-80D077C66259}"/>
              </a:ext>
            </a:extLst>
          </p:cNvPr>
          <p:cNvPicPr>
            <a:picLocks noChangeAspect="1"/>
          </p:cNvPicPr>
          <p:nvPr/>
        </p:nvPicPr>
        <p:blipFill>
          <a:blip r:embed="rId5"/>
          <a:stretch>
            <a:fillRect/>
          </a:stretch>
        </p:blipFill>
        <p:spPr>
          <a:xfrm>
            <a:off x="3170707" y="2107362"/>
            <a:ext cx="5744808" cy="1321638"/>
          </a:xfrm>
          <a:prstGeom prst="rect">
            <a:avLst/>
          </a:prstGeom>
          <a:effectLst>
            <a:outerShdw blurRad="63500" sx="102000" sy="102000" algn="ctr" rotWithShape="0">
              <a:prstClr val="black">
                <a:alpha val="40000"/>
              </a:prstClr>
            </a:outerShdw>
          </a:effectLst>
        </p:spPr>
      </p:pic>
      <p:sp>
        <p:nvSpPr>
          <p:cNvPr id="23" name="Rectangle: Rounded Corners 22">
            <a:extLst>
              <a:ext uri="{FF2B5EF4-FFF2-40B4-BE49-F238E27FC236}">
                <a16:creationId xmlns:a16="http://schemas.microsoft.com/office/drawing/2014/main" id="{B683AAB4-193A-4188-AC77-5E17CA51A0D9}"/>
              </a:ext>
            </a:extLst>
          </p:cNvPr>
          <p:cNvSpPr/>
          <p:nvPr/>
        </p:nvSpPr>
        <p:spPr>
          <a:xfrm>
            <a:off x="327753" y="1311538"/>
            <a:ext cx="3255031" cy="226292"/>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FAGL_FC_TRANS: Translation – P&amp;L Trans Variant</a:t>
            </a:r>
          </a:p>
        </p:txBody>
      </p:sp>
      <p:sp>
        <p:nvSpPr>
          <p:cNvPr id="24" name="Rectangle: Rounded Corners 23">
            <a:extLst>
              <a:ext uri="{FF2B5EF4-FFF2-40B4-BE49-F238E27FC236}">
                <a16:creationId xmlns:a16="http://schemas.microsoft.com/office/drawing/2014/main" id="{48D5FAAB-BF69-41F6-B7A6-C767BD1220F8}"/>
              </a:ext>
            </a:extLst>
          </p:cNvPr>
          <p:cNvSpPr/>
          <p:nvPr/>
        </p:nvSpPr>
        <p:spPr>
          <a:xfrm>
            <a:off x="2383376" y="1735408"/>
            <a:ext cx="418014" cy="226292"/>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5" name="Rectangle: Rounded Corners 24">
            <a:extLst>
              <a:ext uri="{FF2B5EF4-FFF2-40B4-BE49-F238E27FC236}">
                <a16:creationId xmlns:a16="http://schemas.microsoft.com/office/drawing/2014/main" id="{65936D9C-BDB8-4C4B-9434-A29C7432AE8B}"/>
              </a:ext>
            </a:extLst>
          </p:cNvPr>
          <p:cNvSpPr/>
          <p:nvPr/>
        </p:nvSpPr>
        <p:spPr>
          <a:xfrm>
            <a:off x="5062845" y="3067396"/>
            <a:ext cx="2967250" cy="207818"/>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13" name="Connector: Elbow 12">
            <a:extLst>
              <a:ext uri="{FF2B5EF4-FFF2-40B4-BE49-F238E27FC236}">
                <a16:creationId xmlns:a16="http://schemas.microsoft.com/office/drawing/2014/main" id="{D4E1D3D2-3580-4364-9C32-CC49B37A7015}"/>
              </a:ext>
            </a:extLst>
          </p:cNvPr>
          <p:cNvCxnSpPr>
            <a:stCxn id="24" idx="3"/>
            <a:endCxn id="25" idx="0"/>
          </p:cNvCxnSpPr>
          <p:nvPr/>
        </p:nvCxnSpPr>
        <p:spPr>
          <a:xfrm>
            <a:off x="2801390" y="1848554"/>
            <a:ext cx="3745080" cy="1218842"/>
          </a:xfrm>
          <a:prstGeom prst="bentConnector2">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080B8098-A9B2-4A94-AF30-39556724B780}"/>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327753" y="3957756"/>
            <a:ext cx="4111242" cy="1582594"/>
          </a:xfrm>
          <a:prstGeom prst="rect">
            <a:avLst/>
          </a:prstGeom>
          <a:effectLst>
            <a:outerShdw blurRad="50800" dist="38100" dir="2700000" algn="tl" rotWithShape="0">
              <a:prstClr val="black">
                <a:alpha val="40000"/>
              </a:prstClr>
            </a:outerShdw>
          </a:effectLst>
        </p:spPr>
      </p:pic>
      <p:sp>
        <p:nvSpPr>
          <p:cNvPr id="34" name="Rectangle: Rounded Corners 33">
            <a:extLst>
              <a:ext uri="{FF2B5EF4-FFF2-40B4-BE49-F238E27FC236}">
                <a16:creationId xmlns:a16="http://schemas.microsoft.com/office/drawing/2014/main" id="{0B56A38F-97ED-46D3-902C-5B4A846A69DD}"/>
              </a:ext>
            </a:extLst>
          </p:cNvPr>
          <p:cNvSpPr/>
          <p:nvPr/>
        </p:nvSpPr>
        <p:spPr>
          <a:xfrm>
            <a:off x="2275545" y="4137812"/>
            <a:ext cx="418014" cy="226292"/>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pic>
        <p:nvPicPr>
          <p:cNvPr id="15" name="Picture 14">
            <a:extLst>
              <a:ext uri="{FF2B5EF4-FFF2-40B4-BE49-F238E27FC236}">
                <a16:creationId xmlns:a16="http://schemas.microsoft.com/office/drawing/2014/main" id="{6487595F-B127-4720-8BBC-DFFEFFD133BB}"/>
              </a:ext>
            </a:extLst>
          </p:cNvPr>
          <p:cNvPicPr>
            <a:picLocks noChangeAspect="1"/>
          </p:cNvPicPr>
          <p:nvPr/>
        </p:nvPicPr>
        <p:blipFill>
          <a:blip r:embed="rId8"/>
          <a:stretch>
            <a:fillRect/>
          </a:stretch>
        </p:blipFill>
        <p:spPr>
          <a:xfrm>
            <a:off x="3179018" y="4892697"/>
            <a:ext cx="5744808" cy="1321637"/>
          </a:xfrm>
          <a:prstGeom prst="rect">
            <a:avLst/>
          </a:prstGeom>
          <a:effectLst>
            <a:outerShdw blurRad="63500" sx="102000" sy="102000" algn="ctr" rotWithShape="0">
              <a:prstClr val="black">
                <a:alpha val="40000"/>
              </a:prstClr>
            </a:outerShdw>
          </a:effectLst>
        </p:spPr>
      </p:pic>
      <p:sp>
        <p:nvSpPr>
          <p:cNvPr id="29" name="Rectangle: Rounded Corners 28">
            <a:extLst>
              <a:ext uri="{FF2B5EF4-FFF2-40B4-BE49-F238E27FC236}">
                <a16:creationId xmlns:a16="http://schemas.microsoft.com/office/drawing/2014/main" id="{D11B09AD-0448-4F25-838E-A44FCE339777}"/>
              </a:ext>
            </a:extLst>
          </p:cNvPr>
          <p:cNvSpPr/>
          <p:nvPr/>
        </p:nvSpPr>
        <p:spPr>
          <a:xfrm>
            <a:off x="5071155" y="5774686"/>
            <a:ext cx="2967250" cy="207818"/>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18" name="Connector: Elbow 17">
            <a:extLst>
              <a:ext uri="{FF2B5EF4-FFF2-40B4-BE49-F238E27FC236}">
                <a16:creationId xmlns:a16="http://schemas.microsoft.com/office/drawing/2014/main" id="{97D01F7C-65F2-4383-B91F-B9E0AC35B498}"/>
              </a:ext>
            </a:extLst>
          </p:cNvPr>
          <p:cNvCxnSpPr>
            <a:stCxn id="34" idx="3"/>
            <a:endCxn id="29" idx="0"/>
          </p:cNvCxnSpPr>
          <p:nvPr/>
        </p:nvCxnSpPr>
        <p:spPr>
          <a:xfrm>
            <a:off x="2693559" y="4250958"/>
            <a:ext cx="3861221" cy="1523728"/>
          </a:xfrm>
          <a:prstGeom prst="bentConnector2">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5" name="Rectangle: Rounded Corners 34">
            <a:extLst>
              <a:ext uri="{FF2B5EF4-FFF2-40B4-BE49-F238E27FC236}">
                <a16:creationId xmlns:a16="http://schemas.microsoft.com/office/drawing/2014/main" id="{76A295F3-507B-423B-B2EA-4CDF6831DB4B}"/>
              </a:ext>
            </a:extLst>
          </p:cNvPr>
          <p:cNvSpPr/>
          <p:nvPr/>
        </p:nvSpPr>
        <p:spPr>
          <a:xfrm>
            <a:off x="327753" y="3826572"/>
            <a:ext cx="3255031" cy="226292"/>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FAGL_FC_TRANS: Translation – B/S Trans Variant</a:t>
            </a:r>
          </a:p>
        </p:txBody>
      </p:sp>
      <p:sp>
        <p:nvSpPr>
          <p:cNvPr id="36" name="Rectangle 35">
            <a:extLst>
              <a:ext uri="{FF2B5EF4-FFF2-40B4-BE49-F238E27FC236}">
                <a16:creationId xmlns:a16="http://schemas.microsoft.com/office/drawing/2014/main" id="{12C8248A-8F51-4A00-8720-CC602F7024C8}"/>
              </a:ext>
            </a:extLst>
          </p:cNvPr>
          <p:cNvSpPr/>
          <p:nvPr/>
        </p:nvSpPr>
        <p:spPr>
          <a:xfrm>
            <a:off x="4438995" y="1381124"/>
            <a:ext cx="7556270" cy="400110"/>
          </a:xfrm>
          <a:prstGeom prst="rect">
            <a:avLst/>
          </a:prstGeom>
        </p:spPr>
        <p:txBody>
          <a:bodyPr wrap="square">
            <a:spAutoFit/>
          </a:bodyPr>
          <a:lstStyle/>
          <a:p>
            <a:pPr marR="0" lvl="0" algn="l" defTabSz="914400" rtl="0" eaLnBrk="1" fontAlgn="auto" latinLnBrk="0" hangingPunct="1">
              <a:lnSpc>
                <a:spcPts val="1200"/>
              </a:lnSpc>
              <a:spcBef>
                <a:spcPts val="600"/>
              </a:spcBef>
              <a:spcAft>
                <a:spcPts val="0"/>
              </a:spcAft>
              <a:buClrTx/>
              <a:buSzTx/>
              <a:tabLst/>
              <a:defRPr/>
            </a:pPr>
            <a:r>
              <a:rPr lang="en-GB" sz="1150" i="1">
                <a:solidFill>
                  <a:srgbClr val="000000"/>
                </a:solidFill>
                <a:latin typeface="Georgia" panose="02040502050405020303" pitchFamily="18" charset="0"/>
              </a:rPr>
              <a:t>You may have noticed that our Translation variants do not have restrictions/selection of G/L accounts. However G/L accounts are indeed restricted, which is done via the “</a:t>
            </a:r>
            <a:r>
              <a:rPr lang="en-GB" sz="1150" b="1" i="1">
                <a:solidFill>
                  <a:srgbClr val="000000"/>
                </a:solidFill>
                <a:latin typeface="Georgia" panose="02040502050405020303" pitchFamily="18" charset="0"/>
              </a:rPr>
              <a:t>Dynamic Selection</a:t>
            </a:r>
            <a:r>
              <a:rPr lang="en-GB" sz="1150" i="1">
                <a:solidFill>
                  <a:srgbClr val="000000"/>
                </a:solidFill>
                <a:latin typeface="Georgia" panose="02040502050405020303" pitchFamily="18" charset="0"/>
              </a:rPr>
              <a:t>” shown below.</a:t>
            </a:r>
          </a:p>
        </p:txBody>
      </p:sp>
      <p:sp>
        <p:nvSpPr>
          <p:cNvPr id="19" name="Rectangle 18">
            <a:extLst>
              <a:ext uri="{FF2B5EF4-FFF2-40B4-BE49-F238E27FC236}">
                <a16:creationId xmlns:a16="http://schemas.microsoft.com/office/drawing/2014/main" id="{E5D75C2C-ADAF-4993-BC26-F6FA2F18B163}"/>
              </a:ext>
            </a:extLst>
          </p:cNvPr>
          <p:cNvSpPr/>
          <p:nvPr/>
        </p:nvSpPr>
        <p:spPr>
          <a:xfrm>
            <a:off x="6673379" y="3631154"/>
            <a:ext cx="5190868" cy="769441"/>
          </a:xfrm>
          <a:prstGeom prst="rect">
            <a:avLst/>
          </a:prstGeom>
        </p:spPr>
        <p:txBody>
          <a:bodyPr wrap="square">
            <a:spAutoFit/>
          </a:bodyPr>
          <a:lstStyle/>
          <a:p>
            <a:pPr marL="171450" indent="-171450">
              <a:buFont typeface="Arial" panose="020B0604020202020204" pitchFamily="34" charset="0"/>
              <a:buChar char="•"/>
            </a:pPr>
            <a:r>
              <a:rPr lang="en-GB" sz="1100" b="1">
                <a:latin typeface="Calibri" panose="020F0502020204030204" pitchFamily="34" charset="0"/>
                <a:cs typeface="Calibri" panose="020F0502020204030204" pitchFamily="34" charset="0"/>
              </a:rPr>
              <a:t>Exchange Rate Different Key (ERDK) </a:t>
            </a:r>
            <a:r>
              <a:rPr lang="en-GB" sz="1100" i="1" baseline="30000">
                <a:solidFill>
                  <a:srgbClr val="FF0000"/>
                </a:solidFill>
                <a:latin typeface="Calibri" panose="020F0502020204030204" pitchFamily="34" charset="0"/>
                <a:cs typeface="Calibri" panose="020F0502020204030204" pitchFamily="34" charset="0"/>
              </a:rPr>
              <a:t>1)</a:t>
            </a:r>
          </a:p>
          <a:p>
            <a:pPr marL="360000" lvl="1" indent="-171450">
              <a:buFont typeface="Courier New" panose="02070309020205020404" pitchFamily="49" charset="0"/>
              <a:buChar char="o"/>
            </a:pPr>
            <a:r>
              <a:rPr lang="en-GB" sz="1100">
                <a:latin typeface="Calibri" panose="020F0502020204030204" pitchFamily="34" charset="0"/>
                <a:cs typeface="Calibri" panose="020F0502020204030204" pitchFamily="34" charset="0"/>
              </a:rPr>
              <a:t>P&amp;L Accounts subject to Translation are assigned with ERDK range 6000-7999</a:t>
            </a:r>
          </a:p>
          <a:p>
            <a:pPr marL="360000" lvl="1" indent="-171450">
              <a:buFont typeface="Courier New" panose="02070309020205020404" pitchFamily="49" charset="0"/>
              <a:buChar char="o"/>
            </a:pPr>
            <a:r>
              <a:rPr lang="en-GB" sz="1100">
                <a:latin typeface="Calibri" panose="020F0502020204030204" pitchFamily="34" charset="0"/>
                <a:cs typeface="Calibri" panose="020F0502020204030204" pitchFamily="34" charset="0"/>
              </a:rPr>
              <a:t>Balance Sheet accounts subject to Translation are assigned with ERDK range 8000-9999.</a:t>
            </a:r>
          </a:p>
        </p:txBody>
      </p:sp>
      <p:sp>
        <p:nvSpPr>
          <p:cNvPr id="20" name="TextBox 19">
            <a:extLst>
              <a:ext uri="{FF2B5EF4-FFF2-40B4-BE49-F238E27FC236}">
                <a16:creationId xmlns:a16="http://schemas.microsoft.com/office/drawing/2014/main" id="{47B76E62-0E29-4111-9E70-A8F1E3FB7C20}"/>
              </a:ext>
            </a:extLst>
          </p:cNvPr>
          <p:cNvSpPr txBox="1"/>
          <p:nvPr/>
        </p:nvSpPr>
        <p:spPr>
          <a:xfrm>
            <a:off x="9134194" y="6214334"/>
            <a:ext cx="2144606" cy="643666"/>
          </a:xfrm>
          <a:prstGeom prst="rect">
            <a:avLst/>
          </a:prstGeom>
          <a:noFill/>
        </p:spPr>
        <p:txBody>
          <a:bodyPr wrap="square" lIns="0" tIns="0" rIns="0" bIns="0" rtlCol="0">
            <a:noAutofit/>
          </a:bodyPr>
          <a:lstStyle/>
          <a:p>
            <a:pPr algn="l"/>
            <a:r>
              <a:rPr lang="en-US" sz="900" i="1" baseline="30000">
                <a:solidFill>
                  <a:srgbClr val="FF0000"/>
                </a:solidFill>
              </a:rPr>
              <a:t>1) </a:t>
            </a:r>
            <a:r>
              <a:rPr lang="en-US" sz="900" i="1"/>
              <a:t>Refer to Chart of Accounts course materials for details on ERDK.</a:t>
            </a:r>
          </a:p>
        </p:txBody>
      </p:sp>
    </p:spTree>
    <p:extLst>
      <p:ext uri="{BB962C8B-B14F-4D97-AF65-F5344CB8AC3E}">
        <p14:creationId xmlns:p14="http://schemas.microsoft.com/office/powerpoint/2010/main" val="606603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Picture 47">
            <a:extLst>
              <a:ext uri="{FF2B5EF4-FFF2-40B4-BE49-F238E27FC236}">
                <a16:creationId xmlns:a16="http://schemas.microsoft.com/office/drawing/2014/main" id="{56BBF69D-BEEA-4724-AD69-87E7D81823A8}"/>
              </a:ext>
            </a:extLst>
          </p:cNvPr>
          <p:cNvPicPr>
            <a:picLocks noChangeAspect="1"/>
          </p:cNvPicPr>
          <p:nvPr/>
        </p:nvPicPr>
        <p:blipFill>
          <a:blip r:embed="rId3"/>
          <a:stretch>
            <a:fillRect/>
          </a:stretch>
        </p:blipFill>
        <p:spPr>
          <a:xfrm>
            <a:off x="452953" y="1851932"/>
            <a:ext cx="8062974" cy="4327584"/>
          </a:xfrm>
          <a:prstGeom prst="rect">
            <a:avLst/>
          </a:prstGeom>
          <a:effectLst>
            <a:outerShdw blurRad="63500" sx="102000" sy="102000" algn="ctr" rotWithShape="0">
              <a:prstClr val="black">
                <a:alpha val="40000"/>
              </a:prstClr>
            </a:outerShdw>
          </a:effectLst>
        </p:spPr>
      </p:pic>
      <p:sp>
        <p:nvSpPr>
          <p:cNvPr id="66" name="Rectangle: Rounded Corners 65">
            <a:extLst>
              <a:ext uri="{FF2B5EF4-FFF2-40B4-BE49-F238E27FC236}">
                <a16:creationId xmlns:a16="http://schemas.microsoft.com/office/drawing/2014/main" id="{2082E93B-48B4-4ACD-8227-61BA9C4DB9A0}"/>
              </a:ext>
            </a:extLst>
          </p:cNvPr>
          <p:cNvSpPr/>
          <p:nvPr/>
        </p:nvSpPr>
        <p:spPr>
          <a:xfrm>
            <a:off x="7545939" y="2162780"/>
            <a:ext cx="4332947" cy="4611238"/>
          </a:xfrm>
          <a:prstGeom prst="roundRect">
            <a:avLst>
              <a:gd name="adj" fmla="val 3579"/>
            </a:avLst>
          </a:prstGeom>
          <a:gradFill>
            <a:gsLst>
              <a:gs pos="0">
                <a:schemeClr val="bg1"/>
              </a:gs>
              <a:gs pos="100000">
                <a:schemeClr val="accent2">
                  <a:lumMod val="60000"/>
                  <a:lumOff val="40000"/>
                </a:schemeClr>
              </a:gs>
            </a:gsLst>
            <a:lin ang="5400000" scaled="1"/>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p:txBody>
          <a:bodyPr/>
          <a:lstStyle/>
          <a:p>
            <a:r>
              <a:rPr lang="en-GB"/>
              <a:t>Currency Translation: Output (1/2)</a:t>
            </a:r>
          </a:p>
        </p:txBody>
      </p:sp>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p:txBody>
          <a:bodyPr/>
          <a:lstStyle/>
          <a:p>
            <a:fld id="{F4C94289-3309-4C35-850A-56FD49B3E346}" type="slidenum">
              <a:rPr lang="en-GB" smtClean="0"/>
              <a:t>5</a:t>
            </a:fld>
            <a:endParaRPr lang="en-GB"/>
          </a:p>
        </p:txBody>
      </p:sp>
      <p:sp>
        <p:nvSpPr>
          <p:cNvPr id="36" name="Rectangle 35">
            <a:extLst>
              <a:ext uri="{FF2B5EF4-FFF2-40B4-BE49-F238E27FC236}">
                <a16:creationId xmlns:a16="http://schemas.microsoft.com/office/drawing/2014/main" id="{25AA2B82-BE34-488D-B5ED-DF229167A8EE}"/>
              </a:ext>
            </a:extLst>
          </p:cNvPr>
          <p:cNvSpPr/>
          <p:nvPr/>
        </p:nvSpPr>
        <p:spPr>
          <a:xfrm>
            <a:off x="428515" y="1377941"/>
            <a:ext cx="11247545" cy="400110"/>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GB" sz="1150" i="1">
                <a:solidFill>
                  <a:srgbClr val="000000"/>
                </a:solidFill>
                <a:latin typeface="Georgia" panose="02040502050405020303" pitchFamily="18" charset="0"/>
              </a:rPr>
              <a:t>If you execute Translation via or outside of FCC, you will see an output looks like the below. The illustration below explains how the Translation is calculated using an example for IFRS Translation, i.e. target currency is LC3.</a:t>
            </a:r>
            <a:endPar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49" name="Rectangle 48">
            <a:extLst>
              <a:ext uri="{FF2B5EF4-FFF2-40B4-BE49-F238E27FC236}">
                <a16:creationId xmlns:a16="http://schemas.microsoft.com/office/drawing/2014/main" id="{422A08C6-0288-4B06-92F8-38C4AAB4B4B9}"/>
              </a:ext>
            </a:extLst>
          </p:cNvPr>
          <p:cNvSpPr/>
          <p:nvPr/>
        </p:nvSpPr>
        <p:spPr>
          <a:xfrm>
            <a:off x="1710446" y="5505472"/>
            <a:ext cx="1236510" cy="180000"/>
          </a:xfrm>
          <a:prstGeom prst="rect">
            <a:avLst/>
          </a:prstGeom>
          <a:noFill/>
          <a:ln w="28575">
            <a:solidFill>
              <a:srgbClr val="00B0F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A77283BB-4FBE-441E-9E41-810D2D7F9439}"/>
              </a:ext>
            </a:extLst>
          </p:cNvPr>
          <p:cNvSpPr/>
          <p:nvPr/>
        </p:nvSpPr>
        <p:spPr>
          <a:xfrm>
            <a:off x="1710445" y="5198910"/>
            <a:ext cx="1236510" cy="336460"/>
          </a:xfrm>
          <a:prstGeom prst="rect">
            <a:avLst/>
          </a:prstGeom>
          <a:solidFill>
            <a:schemeClr val="bg1"/>
          </a:solidFill>
          <a:ln w="28575">
            <a:solidFill>
              <a:srgbClr val="00B0F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rgbClr val="00B0F0"/>
                </a:solidFill>
              </a:rPr>
              <a:t>LC1 Balance</a:t>
            </a:r>
          </a:p>
        </p:txBody>
      </p:sp>
      <p:sp>
        <p:nvSpPr>
          <p:cNvPr id="51" name="Rectangle 50">
            <a:extLst>
              <a:ext uri="{FF2B5EF4-FFF2-40B4-BE49-F238E27FC236}">
                <a16:creationId xmlns:a16="http://schemas.microsoft.com/office/drawing/2014/main" id="{B59CD157-D49D-4728-9CDE-76A294803210}"/>
              </a:ext>
            </a:extLst>
          </p:cNvPr>
          <p:cNvSpPr/>
          <p:nvPr/>
        </p:nvSpPr>
        <p:spPr>
          <a:xfrm>
            <a:off x="4696467" y="5516557"/>
            <a:ext cx="996884" cy="180000"/>
          </a:xfrm>
          <a:prstGeom prst="rect">
            <a:avLst/>
          </a:prstGeom>
          <a:noFill/>
          <a:ln w="28575">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ectangle 51">
            <a:extLst>
              <a:ext uri="{FF2B5EF4-FFF2-40B4-BE49-F238E27FC236}">
                <a16:creationId xmlns:a16="http://schemas.microsoft.com/office/drawing/2014/main" id="{102ABC03-1DED-4581-8BC5-C7A783567A60}"/>
              </a:ext>
            </a:extLst>
          </p:cNvPr>
          <p:cNvSpPr/>
          <p:nvPr/>
        </p:nvSpPr>
        <p:spPr>
          <a:xfrm>
            <a:off x="4695453" y="5210096"/>
            <a:ext cx="996884" cy="316297"/>
          </a:xfrm>
          <a:prstGeom prst="rect">
            <a:avLst/>
          </a:prstGeom>
          <a:solidFill>
            <a:schemeClr val="bg1"/>
          </a:solidFill>
          <a:ln w="28575">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accent2"/>
                </a:solidFill>
              </a:rPr>
              <a:t>Calculated LC1@JT Rate</a:t>
            </a:r>
          </a:p>
        </p:txBody>
      </p:sp>
      <p:sp>
        <p:nvSpPr>
          <p:cNvPr id="53" name="Rectangle 52">
            <a:extLst>
              <a:ext uri="{FF2B5EF4-FFF2-40B4-BE49-F238E27FC236}">
                <a16:creationId xmlns:a16="http://schemas.microsoft.com/office/drawing/2014/main" id="{03A7056C-54A6-4863-9216-F6D465FD3271}"/>
              </a:ext>
            </a:extLst>
          </p:cNvPr>
          <p:cNvSpPr/>
          <p:nvPr/>
        </p:nvSpPr>
        <p:spPr>
          <a:xfrm>
            <a:off x="5695380" y="5535370"/>
            <a:ext cx="695004" cy="150102"/>
          </a:xfrm>
          <a:prstGeom prst="rect">
            <a:avLst/>
          </a:prstGeom>
          <a:noFill/>
          <a:ln w="28575">
            <a:solidFill>
              <a:schemeClr val="accent4">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ctangle 53">
            <a:extLst>
              <a:ext uri="{FF2B5EF4-FFF2-40B4-BE49-F238E27FC236}">
                <a16:creationId xmlns:a16="http://schemas.microsoft.com/office/drawing/2014/main" id="{32B69817-C90F-4E1E-95AB-7D61E2C1A762}"/>
              </a:ext>
            </a:extLst>
          </p:cNvPr>
          <p:cNvSpPr/>
          <p:nvPr/>
        </p:nvSpPr>
        <p:spPr>
          <a:xfrm>
            <a:off x="5694365" y="5210575"/>
            <a:ext cx="696185" cy="316297"/>
          </a:xfrm>
          <a:prstGeom prst="rect">
            <a:avLst/>
          </a:prstGeom>
          <a:solidFill>
            <a:schemeClr val="bg1"/>
          </a:solidFill>
          <a:ln w="28575">
            <a:solidFill>
              <a:schemeClr val="accent4">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accent4">
                    <a:lumMod val="60000"/>
                    <a:lumOff val="40000"/>
                  </a:schemeClr>
                </a:solidFill>
              </a:rPr>
              <a:t>JT Rate</a:t>
            </a:r>
          </a:p>
        </p:txBody>
      </p:sp>
      <p:sp>
        <p:nvSpPr>
          <p:cNvPr id="55" name="Rectangle 54">
            <a:extLst>
              <a:ext uri="{FF2B5EF4-FFF2-40B4-BE49-F238E27FC236}">
                <a16:creationId xmlns:a16="http://schemas.microsoft.com/office/drawing/2014/main" id="{AD846E8B-5A9E-4E71-A4E8-DC608E689714}"/>
              </a:ext>
            </a:extLst>
          </p:cNvPr>
          <p:cNvSpPr/>
          <p:nvPr/>
        </p:nvSpPr>
        <p:spPr>
          <a:xfrm>
            <a:off x="6464767" y="5515949"/>
            <a:ext cx="906866" cy="180000"/>
          </a:xfrm>
          <a:prstGeom prst="rect">
            <a:avLst/>
          </a:prstGeom>
          <a:noFill/>
          <a:ln w="28575">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ctangle 55">
            <a:extLst>
              <a:ext uri="{FF2B5EF4-FFF2-40B4-BE49-F238E27FC236}">
                <a16:creationId xmlns:a16="http://schemas.microsoft.com/office/drawing/2014/main" id="{5B31F6A3-8B2F-4D3C-9086-F27CAE4E427D}"/>
              </a:ext>
            </a:extLst>
          </p:cNvPr>
          <p:cNvSpPr/>
          <p:nvPr/>
        </p:nvSpPr>
        <p:spPr>
          <a:xfrm>
            <a:off x="6463753" y="5209488"/>
            <a:ext cx="906866" cy="316297"/>
          </a:xfrm>
          <a:prstGeom prst="rect">
            <a:avLst/>
          </a:prstGeom>
          <a:solidFill>
            <a:schemeClr val="bg1"/>
          </a:solidFill>
          <a:ln w="28575">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accent2"/>
                </a:solidFill>
              </a:rPr>
              <a:t>CTA</a:t>
            </a:r>
          </a:p>
        </p:txBody>
      </p:sp>
      <p:sp>
        <p:nvSpPr>
          <p:cNvPr id="57" name="Rectangle: Rounded Corners 56">
            <a:extLst>
              <a:ext uri="{FF2B5EF4-FFF2-40B4-BE49-F238E27FC236}">
                <a16:creationId xmlns:a16="http://schemas.microsoft.com/office/drawing/2014/main" id="{9E05FC1B-214B-426D-AA1E-307260FA3275}"/>
              </a:ext>
            </a:extLst>
          </p:cNvPr>
          <p:cNvSpPr/>
          <p:nvPr/>
        </p:nvSpPr>
        <p:spPr>
          <a:xfrm>
            <a:off x="2990028" y="6308746"/>
            <a:ext cx="1094233" cy="47318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900" b="1">
                <a:solidFill>
                  <a:schemeClr val="accent3">
                    <a:lumMod val="50000"/>
                  </a:schemeClr>
                </a:solidFill>
              </a:rPr>
              <a:t>ZFCMA13 – Display FX Rate</a:t>
            </a:r>
          </a:p>
        </p:txBody>
      </p:sp>
      <p:sp>
        <p:nvSpPr>
          <p:cNvPr id="59" name="Rectangle 58">
            <a:extLst>
              <a:ext uri="{FF2B5EF4-FFF2-40B4-BE49-F238E27FC236}">
                <a16:creationId xmlns:a16="http://schemas.microsoft.com/office/drawing/2014/main" id="{20B25D65-61BE-4BBD-9D04-C65E96A34C1B}"/>
              </a:ext>
            </a:extLst>
          </p:cNvPr>
          <p:cNvSpPr/>
          <p:nvPr/>
        </p:nvSpPr>
        <p:spPr>
          <a:xfrm>
            <a:off x="3029513" y="5505472"/>
            <a:ext cx="1236510" cy="180000"/>
          </a:xfrm>
          <a:prstGeom prst="rect">
            <a:avLst/>
          </a:prstGeom>
          <a:noFill/>
          <a:ln w="28575">
            <a:solidFill>
              <a:srgbClr val="06F09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59">
            <a:extLst>
              <a:ext uri="{FF2B5EF4-FFF2-40B4-BE49-F238E27FC236}">
                <a16:creationId xmlns:a16="http://schemas.microsoft.com/office/drawing/2014/main" id="{EEB35DFB-206C-4E5D-9F64-906B82C8EC4A}"/>
              </a:ext>
            </a:extLst>
          </p:cNvPr>
          <p:cNvSpPr/>
          <p:nvPr/>
        </p:nvSpPr>
        <p:spPr>
          <a:xfrm>
            <a:off x="3029512" y="5198910"/>
            <a:ext cx="1236510" cy="336460"/>
          </a:xfrm>
          <a:prstGeom prst="rect">
            <a:avLst/>
          </a:prstGeom>
          <a:solidFill>
            <a:schemeClr val="bg1"/>
          </a:solidFill>
          <a:ln w="28575">
            <a:solidFill>
              <a:srgbClr val="06F09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accent1"/>
                </a:solidFill>
              </a:rPr>
              <a:t>LC3 Balance</a:t>
            </a:r>
          </a:p>
        </p:txBody>
      </p:sp>
      <p:pic>
        <p:nvPicPr>
          <p:cNvPr id="61" name="Picture 60">
            <a:extLst>
              <a:ext uri="{FF2B5EF4-FFF2-40B4-BE49-F238E27FC236}">
                <a16:creationId xmlns:a16="http://schemas.microsoft.com/office/drawing/2014/main" id="{F6342E00-6F02-49D5-8B95-6FE71EB92B26}"/>
              </a:ext>
            </a:extLst>
          </p:cNvPr>
          <p:cNvPicPr>
            <a:picLocks noChangeAspect="1"/>
          </p:cNvPicPr>
          <p:nvPr/>
        </p:nvPicPr>
        <p:blipFill>
          <a:blip r:embed="rId4"/>
          <a:stretch>
            <a:fillRect/>
          </a:stretch>
        </p:blipFill>
        <p:spPr>
          <a:xfrm>
            <a:off x="4153143" y="6308746"/>
            <a:ext cx="3217476" cy="465272"/>
          </a:xfrm>
          <a:prstGeom prst="rect">
            <a:avLst/>
          </a:prstGeom>
        </p:spPr>
      </p:pic>
      <p:sp>
        <p:nvSpPr>
          <p:cNvPr id="62" name="Speech Bubble: Rectangle 61">
            <a:extLst>
              <a:ext uri="{FF2B5EF4-FFF2-40B4-BE49-F238E27FC236}">
                <a16:creationId xmlns:a16="http://schemas.microsoft.com/office/drawing/2014/main" id="{BEDCE14E-D550-4EBE-B68F-DAADE0A44386}"/>
              </a:ext>
            </a:extLst>
          </p:cNvPr>
          <p:cNvSpPr/>
          <p:nvPr/>
        </p:nvSpPr>
        <p:spPr>
          <a:xfrm>
            <a:off x="4084261" y="3829577"/>
            <a:ext cx="2812211" cy="725187"/>
          </a:xfrm>
          <a:prstGeom prst="wedgeRectCallout">
            <a:avLst>
              <a:gd name="adj1" fmla="val 45567"/>
              <a:gd name="adj2" fmla="val 136099"/>
            </a:avLst>
          </a:prstGeom>
          <a:solidFill>
            <a:schemeClr val="accent1"/>
          </a:solidFill>
          <a:ln w="1905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GB" sz="1000">
                <a:solidFill>
                  <a:schemeClr val="bg1"/>
                </a:solidFill>
              </a:rPr>
              <a:t>Translated LC1 in USD = </a:t>
            </a:r>
          </a:p>
          <a:p>
            <a:r>
              <a:rPr lang="en-GB" sz="1000">
                <a:solidFill>
                  <a:schemeClr val="bg1"/>
                </a:solidFill>
              </a:rPr>
              <a:t>     17,439,436.80/63.37910 = 275,160.69</a:t>
            </a:r>
          </a:p>
          <a:p>
            <a:pPr marL="171450" indent="-171450">
              <a:buFont typeface="Arial" panose="020B0604020202020204" pitchFamily="34" charset="0"/>
              <a:buChar char="•"/>
            </a:pPr>
            <a:r>
              <a:rPr lang="en-GB" sz="1000">
                <a:solidFill>
                  <a:schemeClr val="bg1"/>
                </a:solidFill>
              </a:rPr>
              <a:t>CTA= 275,160.69-276,580.53 = -1,419.84</a:t>
            </a:r>
          </a:p>
        </p:txBody>
      </p:sp>
      <p:sp>
        <p:nvSpPr>
          <p:cNvPr id="37" name="Rectangle: Rounded Corners 36">
            <a:extLst>
              <a:ext uri="{FF2B5EF4-FFF2-40B4-BE49-F238E27FC236}">
                <a16:creationId xmlns:a16="http://schemas.microsoft.com/office/drawing/2014/main" id="{A65E40A5-4060-4839-9205-8A91B77DBA2C}"/>
              </a:ext>
            </a:extLst>
          </p:cNvPr>
          <p:cNvSpPr/>
          <p:nvPr/>
        </p:nvSpPr>
        <p:spPr>
          <a:xfrm>
            <a:off x="2201012" y="1848449"/>
            <a:ext cx="2893510" cy="317035"/>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FAGL_FC_TRANS: Translation – Output Log</a:t>
            </a:r>
          </a:p>
        </p:txBody>
      </p:sp>
      <p:pic>
        <p:nvPicPr>
          <p:cNvPr id="63" name="Graphic 62" descr="Head with gears">
            <a:extLst>
              <a:ext uri="{FF2B5EF4-FFF2-40B4-BE49-F238E27FC236}">
                <a16:creationId xmlns:a16="http://schemas.microsoft.com/office/drawing/2014/main" id="{226746F1-EB19-45EC-B1A8-ACA89F9FAAE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45939" y="2185362"/>
            <a:ext cx="406400" cy="406400"/>
          </a:xfrm>
          <a:prstGeom prst="rect">
            <a:avLst/>
          </a:prstGeom>
        </p:spPr>
      </p:pic>
      <p:sp>
        <p:nvSpPr>
          <p:cNvPr id="64" name="TextBox 63">
            <a:extLst>
              <a:ext uri="{FF2B5EF4-FFF2-40B4-BE49-F238E27FC236}">
                <a16:creationId xmlns:a16="http://schemas.microsoft.com/office/drawing/2014/main" id="{163C654C-1104-4A45-8F9C-36D68691B68E}"/>
              </a:ext>
            </a:extLst>
          </p:cNvPr>
          <p:cNvSpPr txBox="1"/>
          <p:nvPr/>
        </p:nvSpPr>
        <p:spPr>
          <a:xfrm>
            <a:off x="7952339" y="2248296"/>
            <a:ext cx="3862252" cy="395472"/>
          </a:xfrm>
          <a:prstGeom prst="rect">
            <a:avLst/>
          </a:prstGeom>
          <a:noFill/>
        </p:spPr>
        <p:txBody>
          <a:bodyPr wrap="square" lIns="0" tIns="0" rIns="0" bIns="0" rtlCol="0">
            <a:noAutofit/>
          </a:bodyPr>
          <a:lstStyle/>
          <a:p>
            <a:pPr algn="l"/>
            <a:r>
              <a:rPr lang="en-GB" sz="1400" b="1" i="1">
                <a:latin typeface="Georgia" panose="02040502050405020303" pitchFamily="18" charset="0"/>
              </a:rPr>
              <a:t>What has changed in S/4HANA?</a:t>
            </a:r>
            <a:endParaRPr lang="en-GB" sz="1200" i="1">
              <a:latin typeface="Georgia" panose="02040502050405020303" pitchFamily="18" charset="0"/>
            </a:endParaRPr>
          </a:p>
        </p:txBody>
      </p:sp>
      <p:sp>
        <p:nvSpPr>
          <p:cNvPr id="65" name="Rectangle 64">
            <a:extLst>
              <a:ext uri="{FF2B5EF4-FFF2-40B4-BE49-F238E27FC236}">
                <a16:creationId xmlns:a16="http://schemas.microsoft.com/office/drawing/2014/main" id="{0B88F444-95EB-4615-99F9-3A99D74E7E87}"/>
              </a:ext>
            </a:extLst>
          </p:cNvPr>
          <p:cNvSpPr/>
          <p:nvPr/>
        </p:nvSpPr>
        <p:spPr>
          <a:xfrm>
            <a:off x="7608858" y="2569180"/>
            <a:ext cx="4082380" cy="3970318"/>
          </a:xfrm>
          <a:prstGeom prst="rect">
            <a:avLst/>
          </a:prstGeom>
        </p:spPr>
        <p:txBody>
          <a:bodyPr wrap="square">
            <a:spAutoFit/>
          </a:bodyPr>
          <a:lstStyle/>
          <a:p>
            <a:pPr marL="144000" indent="-144000">
              <a:buFont typeface="Arial" panose="020B0604020202020204" pitchFamily="34" charset="0"/>
              <a:buChar char="•"/>
            </a:pPr>
            <a:r>
              <a:rPr lang="en-GB" sz="1200" i="1">
                <a:latin typeface="Georgia" panose="02040502050405020303" pitchFamily="18" charset="0"/>
              </a:rPr>
              <a:t>Only LC1 balances at G/L account level are taken into account for calculation, i.e.</a:t>
            </a:r>
          </a:p>
          <a:p>
            <a:pPr marL="628650" lvl="1" indent="-171450">
              <a:spcBef>
                <a:spcPts val="600"/>
              </a:spcBef>
              <a:buFont typeface="Courier New" panose="02070309020205020404" pitchFamily="49" charset="0"/>
              <a:buChar char="o"/>
            </a:pPr>
            <a:r>
              <a:rPr lang="en-GB" sz="1100" i="1">
                <a:latin typeface="Georgia" panose="02040502050405020303" pitchFamily="18" charset="0"/>
              </a:rPr>
              <a:t>Open Items are not listed in the log</a:t>
            </a:r>
          </a:p>
          <a:p>
            <a:pPr marL="628650" lvl="1" indent="-171450">
              <a:buFont typeface="Courier New" panose="02070309020205020404" pitchFamily="49" charset="0"/>
              <a:buChar char="o"/>
            </a:pPr>
            <a:r>
              <a:rPr lang="en-GB" sz="1100" i="1">
                <a:latin typeface="Georgia" panose="02040502050405020303" pitchFamily="18" charset="0"/>
              </a:rPr>
              <a:t>LC1 and LC2/LC3 amounts </a:t>
            </a:r>
            <a:r>
              <a:rPr lang="en-GB" sz="1100" i="1" u="sng">
                <a:latin typeface="Georgia" panose="02040502050405020303" pitchFamily="18" charset="0"/>
              </a:rPr>
              <a:t>at Open Item level </a:t>
            </a:r>
            <a:r>
              <a:rPr lang="en-GB" sz="1100" i="1">
                <a:latin typeface="Georgia" panose="02040502050405020303" pitchFamily="18" charset="0"/>
              </a:rPr>
              <a:t>are not used for calculation</a:t>
            </a:r>
          </a:p>
          <a:p>
            <a:pPr marL="628650" lvl="1" indent="-171450">
              <a:buFont typeface="Courier New" panose="02070309020205020404" pitchFamily="49" charset="0"/>
              <a:buChar char="o"/>
            </a:pPr>
            <a:r>
              <a:rPr lang="en-GB" sz="1100" i="1">
                <a:latin typeface="Georgia" panose="02040502050405020303" pitchFamily="18" charset="0"/>
              </a:rPr>
              <a:t>Each G/L account which have LC1 balances are listed </a:t>
            </a:r>
            <a:r>
              <a:rPr lang="en-GB" sz="1100" b="1" i="1">
                <a:latin typeface="Georgia" panose="02040502050405020303" pitchFamily="18" charset="0"/>
              </a:rPr>
              <a:t>based on balances in different Profit Centers</a:t>
            </a:r>
            <a:r>
              <a:rPr lang="en-GB" sz="1100" i="1">
                <a:latin typeface="Georgia" panose="02040502050405020303" pitchFamily="18" charset="0"/>
              </a:rPr>
              <a:t>, based on which the LC1@JT Rate for B/S items and LC1@RM Rate for P&amp;L items are calculated.</a:t>
            </a:r>
          </a:p>
          <a:p>
            <a:pPr marL="171450" indent="-171450">
              <a:spcBef>
                <a:spcPts val="600"/>
              </a:spcBef>
              <a:buFont typeface="Arial" panose="020B0604020202020204" pitchFamily="34" charset="0"/>
              <a:buChar char="•"/>
            </a:pPr>
            <a:r>
              <a:rPr lang="en-GB" sz="1200" i="1">
                <a:latin typeface="Georgia" panose="02040502050405020303" pitchFamily="18" charset="0"/>
              </a:rPr>
              <a:t>Unlike in ECC, the Translation process looks at the original LC1 and LC3 balances, instead of the LC1/LC3 amounts which were updated during the Revaluation process (UFX). As a result:</a:t>
            </a:r>
          </a:p>
          <a:p>
            <a:pPr marL="628650" lvl="1" indent="-171450">
              <a:spcBef>
                <a:spcPts val="600"/>
              </a:spcBef>
              <a:buFont typeface="Courier New" panose="02070309020205020404" pitchFamily="49" charset="0"/>
              <a:buChar char="o"/>
            </a:pPr>
            <a:r>
              <a:rPr lang="en-GB" sz="1100" i="1">
                <a:latin typeface="Georgia" panose="02040502050405020303" pitchFamily="18" charset="0"/>
              </a:rPr>
              <a:t>The FX Adjustment accounts, which receives postings from Revaluation runs, must be included in Translation run selection.</a:t>
            </a:r>
          </a:p>
          <a:p>
            <a:pPr marL="628650" lvl="1" indent="-171450">
              <a:buFont typeface="Courier New" panose="02070309020205020404" pitchFamily="49" charset="0"/>
              <a:buChar char="o"/>
            </a:pPr>
            <a:r>
              <a:rPr lang="en-GB" sz="1100" i="1">
                <a:latin typeface="Georgia" panose="02040502050405020303" pitchFamily="18" charset="0"/>
              </a:rPr>
              <a:t>Translation is executed after AR/AP Regrouping process, as AR/AP Regrouping also doesn’t take into account the valuation differences (UFX or CTA) in LC3 posted via Revaluation and Translation. </a:t>
            </a:r>
          </a:p>
        </p:txBody>
      </p:sp>
    </p:spTree>
    <p:extLst>
      <p:ext uri="{BB962C8B-B14F-4D97-AF65-F5344CB8AC3E}">
        <p14:creationId xmlns:p14="http://schemas.microsoft.com/office/powerpoint/2010/main" val="83612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681A606B-F65E-4BF6-8285-4C9C44980C7F}"/>
              </a:ext>
            </a:extLst>
          </p:cNvPr>
          <p:cNvPicPr>
            <a:picLocks noChangeAspect="1"/>
          </p:cNvPicPr>
          <p:nvPr/>
        </p:nvPicPr>
        <p:blipFill>
          <a:blip r:embed="rId3"/>
          <a:stretch>
            <a:fillRect/>
          </a:stretch>
        </p:blipFill>
        <p:spPr>
          <a:xfrm>
            <a:off x="6235155" y="1438157"/>
            <a:ext cx="5688678" cy="3680909"/>
          </a:xfrm>
          <a:prstGeom prst="rect">
            <a:avLst/>
          </a:prstGeom>
          <a:ln>
            <a:solidFill>
              <a:srgbClr val="FF0000"/>
            </a:solidFill>
          </a:ln>
          <a:effectLst>
            <a:outerShdw blurRad="50800" dist="38100" dir="5400000" algn="t" rotWithShape="0">
              <a:prstClr val="black">
                <a:alpha val="40000"/>
              </a:prstClr>
            </a:outerShdw>
          </a:effectLst>
        </p:spPr>
      </p:pic>
      <p:pic>
        <p:nvPicPr>
          <p:cNvPr id="2" name="Picture 1">
            <a:extLst>
              <a:ext uri="{FF2B5EF4-FFF2-40B4-BE49-F238E27FC236}">
                <a16:creationId xmlns:a16="http://schemas.microsoft.com/office/drawing/2014/main" id="{1838DBDB-938E-4049-BE70-B9215E44806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394149" y="1364703"/>
            <a:ext cx="5509743" cy="2827157"/>
          </a:xfrm>
          <a:prstGeom prst="rect">
            <a:avLst/>
          </a:prstGeom>
          <a:effectLst>
            <a:outerShdw blurRad="50800" dist="38100" dir="2700000" algn="tl" rotWithShape="0">
              <a:prstClr val="black">
                <a:alpha val="40000"/>
              </a:prstClr>
            </a:outerShdw>
          </a:effectLst>
        </p:spPr>
      </p:pic>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p:txBody>
          <a:bodyPr/>
          <a:lstStyle/>
          <a:p>
            <a:r>
              <a:rPr lang="en-GB"/>
              <a:t>Currency Translation: Output (2/2)</a:t>
            </a:r>
          </a:p>
        </p:txBody>
      </p:sp>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p:txBody>
          <a:bodyPr/>
          <a:lstStyle/>
          <a:p>
            <a:fld id="{F4C94289-3309-4C35-850A-56FD49B3E346}" type="slidenum">
              <a:rPr lang="en-GB" smtClean="0"/>
              <a:t>6</a:t>
            </a:fld>
            <a:endParaRPr lang="en-GB"/>
          </a:p>
        </p:txBody>
      </p:sp>
      <p:sp>
        <p:nvSpPr>
          <p:cNvPr id="25" name="Rectangle: Rounded Corners 24">
            <a:extLst>
              <a:ext uri="{FF2B5EF4-FFF2-40B4-BE49-F238E27FC236}">
                <a16:creationId xmlns:a16="http://schemas.microsoft.com/office/drawing/2014/main" id="{AD527BD7-A69B-4DF3-8495-1C5741317F3B}"/>
              </a:ext>
            </a:extLst>
          </p:cNvPr>
          <p:cNvSpPr/>
          <p:nvPr/>
        </p:nvSpPr>
        <p:spPr>
          <a:xfrm>
            <a:off x="2409999" y="1333576"/>
            <a:ext cx="2639881" cy="212793"/>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FAGL_FC_TRANS: Translation – Output Log</a:t>
            </a:r>
          </a:p>
        </p:txBody>
      </p:sp>
      <p:sp>
        <p:nvSpPr>
          <p:cNvPr id="30" name="Rectangle: Rounded Corners 29">
            <a:extLst>
              <a:ext uri="{FF2B5EF4-FFF2-40B4-BE49-F238E27FC236}">
                <a16:creationId xmlns:a16="http://schemas.microsoft.com/office/drawing/2014/main" id="{DB422197-7A5B-41C9-9DF7-2695DA209E24}"/>
              </a:ext>
            </a:extLst>
          </p:cNvPr>
          <p:cNvSpPr/>
          <p:nvPr/>
        </p:nvSpPr>
        <p:spPr>
          <a:xfrm>
            <a:off x="2032466" y="1778923"/>
            <a:ext cx="336666" cy="118101"/>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2" name="Rectangle: Rounded Corners 31">
            <a:extLst>
              <a:ext uri="{FF2B5EF4-FFF2-40B4-BE49-F238E27FC236}">
                <a16:creationId xmlns:a16="http://schemas.microsoft.com/office/drawing/2014/main" id="{B5D94432-7B24-40D0-B2A1-923A563BEFFE}"/>
              </a:ext>
            </a:extLst>
          </p:cNvPr>
          <p:cNvSpPr/>
          <p:nvPr/>
        </p:nvSpPr>
        <p:spPr>
          <a:xfrm>
            <a:off x="2409999" y="1772607"/>
            <a:ext cx="448887" cy="124417"/>
          </a:xfrm>
          <a:prstGeom prst="roundRect">
            <a:avLst>
              <a:gd name="adj" fmla="val 4268"/>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9" name="Connector: Elbow 8">
            <a:extLst>
              <a:ext uri="{FF2B5EF4-FFF2-40B4-BE49-F238E27FC236}">
                <a16:creationId xmlns:a16="http://schemas.microsoft.com/office/drawing/2014/main" id="{2DE364C4-7B0B-4B1B-BF0D-96769A182ADB}"/>
              </a:ext>
            </a:extLst>
          </p:cNvPr>
          <p:cNvCxnSpPr>
            <a:cxnSpLocks/>
            <a:stCxn id="32" idx="2"/>
            <a:endCxn id="16" idx="1"/>
          </p:cNvCxnSpPr>
          <p:nvPr/>
        </p:nvCxnSpPr>
        <p:spPr>
          <a:xfrm rot="5400000">
            <a:off x="-267312" y="2615995"/>
            <a:ext cx="3620727" cy="2182785"/>
          </a:xfrm>
          <a:prstGeom prst="bentConnector4">
            <a:avLst>
              <a:gd name="adj1" fmla="val 12127"/>
              <a:gd name="adj2" fmla="val 105522"/>
            </a:avLst>
          </a:prstGeom>
          <a:ln w="952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C3A5CB6B-480E-4B46-8F15-9F4DECA18077}"/>
              </a:ext>
            </a:extLst>
          </p:cNvPr>
          <p:cNvCxnSpPr>
            <a:cxnSpLocks/>
            <a:stCxn id="30" idx="0"/>
            <a:endCxn id="14" idx="0"/>
          </p:cNvCxnSpPr>
          <p:nvPr/>
        </p:nvCxnSpPr>
        <p:spPr>
          <a:xfrm rot="5400000" flipH="1" flipV="1">
            <a:off x="5469763" y="-1830807"/>
            <a:ext cx="340766" cy="6878695"/>
          </a:xfrm>
          <a:prstGeom prst="bentConnector3">
            <a:avLst>
              <a:gd name="adj1" fmla="val 167084"/>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D867C01B-4A10-416A-8D67-2A280BE3AA30}"/>
              </a:ext>
            </a:extLst>
          </p:cNvPr>
          <p:cNvSpPr/>
          <p:nvPr/>
        </p:nvSpPr>
        <p:spPr>
          <a:xfrm>
            <a:off x="5170516" y="5260381"/>
            <a:ext cx="6769332" cy="1015663"/>
          </a:xfrm>
          <a:prstGeom prst="rect">
            <a:avLst/>
          </a:prstGeom>
        </p:spPr>
        <p:txBody>
          <a:bodyPr wrap="square">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50" i="1">
                <a:solidFill>
                  <a:srgbClr val="000000"/>
                </a:solidFill>
                <a:latin typeface="Georgia" panose="02040502050405020303" pitchFamily="18" charset="0"/>
              </a:rPr>
              <a:t>You should review and save the output log of FAGL_FC_TRANS if you execute it outside of FCC.</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Postings log allows you to see the document posted (Translation and Reversal), which even allows you to Display the document directly from this screen if needed.</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50" i="1">
                <a:solidFill>
                  <a:srgbClr val="000000"/>
                </a:solidFill>
                <a:latin typeface="Georgia" panose="02040502050405020303" pitchFamily="18" charset="0"/>
              </a:rPr>
              <a:t>Messages are important especially when there are errors. You should Test Run (untick Generate Posting) this transaction to prevent critical errors during update run.</a:t>
            </a:r>
            <a:endPar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38" name="Rectangle: Rounded Corners 37">
            <a:extLst>
              <a:ext uri="{FF2B5EF4-FFF2-40B4-BE49-F238E27FC236}">
                <a16:creationId xmlns:a16="http://schemas.microsoft.com/office/drawing/2014/main" id="{60BA275B-3AA0-4AAB-95D4-1D1DE2A81391}"/>
              </a:ext>
            </a:extLst>
          </p:cNvPr>
          <p:cNvSpPr/>
          <p:nvPr/>
        </p:nvSpPr>
        <p:spPr>
          <a:xfrm>
            <a:off x="6504226" y="3026927"/>
            <a:ext cx="445213" cy="148535"/>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9" name="Rectangle: Rounded Corners 38">
            <a:extLst>
              <a:ext uri="{FF2B5EF4-FFF2-40B4-BE49-F238E27FC236}">
                <a16:creationId xmlns:a16="http://schemas.microsoft.com/office/drawing/2014/main" id="{6C55EB17-D6AC-4D26-ABDF-14490468E2FF}"/>
              </a:ext>
            </a:extLst>
          </p:cNvPr>
          <p:cNvSpPr/>
          <p:nvPr/>
        </p:nvSpPr>
        <p:spPr>
          <a:xfrm>
            <a:off x="8064353" y="1745756"/>
            <a:ext cx="639071" cy="174483"/>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pic>
        <p:nvPicPr>
          <p:cNvPr id="16" name="Picture 15">
            <a:extLst>
              <a:ext uri="{FF2B5EF4-FFF2-40B4-BE49-F238E27FC236}">
                <a16:creationId xmlns:a16="http://schemas.microsoft.com/office/drawing/2014/main" id="{5FCCF73C-0F1D-4F10-BEEB-2C4ABCE64342}"/>
              </a:ext>
            </a:extLst>
          </p:cNvPr>
          <p:cNvPicPr>
            <a:picLocks noChangeAspect="1"/>
          </p:cNvPicPr>
          <p:nvPr/>
        </p:nvPicPr>
        <p:blipFill>
          <a:blip r:embed="rId6"/>
          <a:stretch>
            <a:fillRect/>
          </a:stretch>
        </p:blipFill>
        <p:spPr>
          <a:xfrm>
            <a:off x="451658" y="4387846"/>
            <a:ext cx="4598222" cy="2259810"/>
          </a:xfrm>
          <a:prstGeom prst="rect">
            <a:avLst/>
          </a:prstGeom>
          <a:ln>
            <a:solidFill>
              <a:schemeClr val="accent6"/>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312951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837C7E7-C2AA-4AAE-8064-0AC72BD4F306}"/>
              </a:ext>
            </a:extLst>
          </p:cNvPr>
          <p:cNvPicPr>
            <a:picLocks noChangeAspect="1"/>
          </p:cNvPicPr>
          <p:nvPr/>
        </p:nvPicPr>
        <p:blipFill>
          <a:blip r:embed="rId2"/>
          <a:stretch>
            <a:fillRect/>
          </a:stretch>
        </p:blipFill>
        <p:spPr>
          <a:xfrm>
            <a:off x="307175" y="1384804"/>
            <a:ext cx="11244143" cy="5031252"/>
          </a:xfrm>
          <a:prstGeom prst="rect">
            <a:avLst/>
          </a:prstGeom>
          <a:effectLst>
            <a:outerShdw blurRad="50800" dist="38100" dir="2700000" algn="tl" rotWithShape="0">
              <a:prstClr val="black">
                <a:alpha val="40000"/>
              </a:prstClr>
            </a:outerShdw>
          </a:effectLst>
        </p:spPr>
      </p:pic>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p:txBody>
          <a:bodyPr/>
          <a:lstStyle/>
          <a:p>
            <a:fld id="{F4C94289-3309-4C35-850A-56FD49B3E346}" type="slidenum">
              <a:rPr lang="en-GB" smtClean="0"/>
              <a:t>7</a:t>
            </a:fld>
            <a:endParaRPr lang="en-GB"/>
          </a:p>
        </p:txBody>
      </p:sp>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p:txBody>
          <a:bodyPr/>
          <a:lstStyle/>
          <a:p>
            <a:r>
              <a:rPr lang="en-GB"/>
              <a:t>Currency Translation Posting Example </a:t>
            </a:r>
            <a:br>
              <a:rPr lang="en-GB"/>
            </a:br>
            <a:r>
              <a:rPr lang="en-GB"/>
              <a:t>– Balance Sheet (B/S) Accounts</a:t>
            </a:r>
          </a:p>
        </p:txBody>
      </p:sp>
      <p:sp>
        <p:nvSpPr>
          <p:cNvPr id="6" name="Rectangle 5">
            <a:extLst>
              <a:ext uri="{FF2B5EF4-FFF2-40B4-BE49-F238E27FC236}">
                <a16:creationId xmlns:a16="http://schemas.microsoft.com/office/drawing/2014/main" id="{64576D48-0694-46D4-BE57-A7A444050654}"/>
              </a:ext>
            </a:extLst>
          </p:cNvPr>
          <p:cNvSpPr/>
          <p:nvPr/>
        </p:nvSpPr>
        <p:spPr>
          <a:xfrm>
            <a:off x="5347855" y="3352800"/>
            <a:ext cx="1311563" cy="30480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62DC43AB-6B2F-4400-BA01-C864BCA1A926}"/>
              </a:ext>
            </a:extLst>
          </p:cNvPr>
          <p:cNvSpPr/>
          <p:nvPr/>
        </p:nvSpPr>
        <p:spPr>
          <a:xfrm>
            <a:off x="7380160" y="5972682"/>
            <a:ext cx="2540000" cy="439523"/>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Connector 8">
            <a:extLst>
              <a:ext uri="{FF2B5EF4-FFF2-40B4-BE49-F238E27FC236}">
                <a16:creationId xmlns:a16="http://schemas.microsoft.com/office/drawing/2014/main" id="{AE76AC59-4091-4D20-841C-6740AD7F672E}"/>
              </a:ext>
            </a:extLst>
          </p:cNvPr>
          <p:cNvCxnSpPr>
            <a:cxnSpLocks/>
          </p:cNvCxnSpPr>
          <p:nvPr/>
        </p:nvCxnSpPr>
        <p:spPr>
          <a:xfrm>
            <a:off x="6628451" y="3657600"/>
            <a:ext cx="848333" cy="2311231"/>
          </a:xfrm>
          <a:prstGeom prst="line">
            <a:avLst/>
          </a:prstGeom>
          <a:ln w="9525">
            <a:solidFill>
              <a:srgbClr val="FF0000"/>
            </a:solidFill>
            <a:tailEnd type="non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08E2BE41-19B9-446A-9894-FA2AAD557225}"/>
              </a:ext>
            </a:extLst>
          </p:cNvPr>
          <p:cNvSpPr/>
          <p:nvPr/>
        </p:nvSpPr>
        <p:spPr>
          <a:xfrm>
            <a:off x="7075054" y="2750669"/>
            <a:ext cx="2669309" cy="314036"/>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08F78FE3-6266-47A6-B76C-B6B997EB77F8}"/>
              </a:ext>
            </a:extLst>
          </p:cNvPr>
          <p:cNvSpPr/>
          <p:nvPr/>
        </p:nvSpPr>
        <p:spPr>
          <a:xfrm>
            <a:off x="7601527" y="4734695"/>
            <a:ext cx="1819564" cy="236324"/>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2FE2539C-3AC4-4E63-89BE-EC2D4514F768}"/>
              </a:ext>
            </a:extLst>
          </p:cNvPr>
          <p:cNvSpPr/>
          <p:nvPr/>
        </p:nvSpPr>
        <p:spPr>
          <a:xfrm>
            <a:off x="704036" y="4379107"/>
            <a:ext cx="1930400" cy="434108"/>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Speech Bubble: Rectangle 12">
            <a:extLst>
              <a:ext uri="{FF2B5EF4-FFF2-40B4-BE49-F238E27FC236}">
                <a16:creationId xmlns:a16="http://schemas.microsoft.com/office/drawing/2014/main" id="{A9AE773B-F801-4F89-B82D-F3F599EB00EB}"/>
              </a:ext>
            </a:extLst>
          </p:cNvPr>
          <p:cNvSpPr/>
          <p:nvPr/>
        </p:nvSpPr>
        <p:spPr>
          <a:xfrm>
            <a:off x="8414327" y="5194084"/>
            <a:ext cx="3439425" cy="683492"/>
          </a:xfrm>
          <a:prstGeom prst="wedgeRectCallout">
            <a:avLst>
              <a:gd name="adj1" fmla="val -47859"/>
              <a:gd name="adj2" fmla="val 66962"/>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b="1"/>
              <a:t>B/S Translation is </a:t>
            </a:r>
            <a:r>
              <a:rPr lang="en-GB" sz="1050" b="1" u="sng"/>
              <a:t>executed for each accounting principle separately </a:t>
            </a:r>
            <a:r>
              <a:rPr lang="en-GB" sz="1050" b="1"/>
              <a:t>using different valuation areas (explained in Parallel Ledger course). Postings are made to the corresponding ledger only.</a:t>
            </a:r>
          </a:p>
        </p:txBody>
      </p:sp>
      <p:sp>
        <p:nvSpPr>
          <p:cNvPr id="14" name="Speech Bubble: Rectangle 13">
            <a:extLst>
              <a:ext uri="{FF2B5EF4-FFF2-40B4-BE49-F238E27FC236}">
                <a16:creationId xmlns:a16="http://schemas.microsoft.com/office/drawing/2014/main" id="{1206B3F2-76AD-43E8-B9BF-8DA87002F74C}"/>
              </a:ext>
            </a:extLst>
          </p:cNvPr>
          <p:cNvSpPr/>
          <p:nvPr/>
        </p:nvSpPr>
        <p:spPr>
          <a:xfrm>
            <a:off x="8650160" y="3797062"/>
            <a:ext cx="2837804" cy="612594"/>
          </a:xfrm>
          <a:prstGeom prst="wedgeRectCallout">
            <a:avLst>
              <a:gd name="adj1" fmla="val -30428"/>
              <a:gd name="adj2" fmla="val 98866"/>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b="1"/>
              <a:t>B/S Translation task is built in FCC, which is automatically triggered. Entities can display the job log and spool list in FCC.</a:t>
            </a:r>
          </a:p>
        </p:txBody>
      </p:sp>
      <p:sp>
        <p:nvSpPr>
          <p:cNvPr id="15" name="Speech Bubble: Rectangle 14">
            <a:extLst>
              <a:ext uri="{FF2B5EF4-FFF2-40B4-BE49-F238E27FC236}">
                <a16:creationId xmlns:a16="http://schemas.microsoft.com/office/drawing/2014/main" id="{95C011D2-EBF3-492A-98A4-4448EDC25233}"/>
              </a:ext>
            </a:extLst>
          </p:cNvPr>
          <p:cNvSpPr/>
          <p:nvPr/>
        </p:nvSpPr>
        <p:spPr>
          <a:xfrm>
            <a:off x="10138250" y="2247536"/>
            <a:ext cx="1475440" cy="612594"/>
          </a:xfrm>
          <a:prstGeom prst="wedgeRectCallout">
            <a:avLst>
              <a:gd name="adj1" fmla="val -74223"/>
              <a:gd name="adj2" fmla="val 47603"/>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b="1"/>
              <a:t>B/S Translation posting uses Doc. Type SR, same as in ECC.</a:t>
            </a:r>
          </a:p>
        </p:txBody>
      </p:sp>
      <p:sp>
        <p:nvSpPr>
          <p:cNvPr id="16" name="Speech Bubble: Rectangle 15">
            <a:extLst>
              <a:ext uri="{FF2B5EF4-FFF2-40B4-BE49-F238E27FC236}">
                <a16:creationId xmlns:a16="http://schemas.microsoft.com/office/drawing/2014/main" id="{E1737324-69B6-4104-AD49-ADE09C1A06B9}"/>
              </a:ext>
            </a:extLst>
          </p:cNvPr>
          <p:cNvSpPr/>
          <p:nvPr/>
        </p:nvSpPr>
        <p:spPr>
          <a:xfrm>
            <a:off x="1597891" y="5323139"/>
            <a:ext cx="3536817" cy="1069071"/>
          </a:xfrm>
          <a:prstGeom prst="wedgeRectCallout">
            <a:avLst>
              <a:gd name="adj1" fmla="val -35980"/>
              <a:gd name="adj2" fmla="val -98414"/>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b="1"/>
              <a:t>Accounting entries on B/S Translation documents are between the original account or FX adjustment accounts (for OIM, LSC and AR/AP Reconciliation accounts) and CTA accounts. Refer to Currency Conversion section of Parallel Ledger course for how the values are calculated.</a:t>
            </a:r>
          </a:p>
        </p:txBody>
      </p:sp>
    </p:spTree>
    <p:extLst>
      <p:ext uri="{BB962C8B-B14F-4D97-AF65-F5344CB8AC3E}">
        <p14:creationId xmlns:p14="http://schemas.microsoft.com/office/powerpoint/2010/main" val="523632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12567FA-66D0-405E-8DF3-DBA0813F7F16}"/>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373225" y="1572879"/>
            <a:ext cx="11353029" cy="4240092"/>
          </a:xfrm>
          <a:prstGeom prst="rect">
            <a:avLst/>
          </a:prstGeom>
          <a:effectLst>
            <a:outerShdw blurRad="50800" dist="38100" dir="2700000" algn="tl" rotWithShape="0">
              <a:prstClr val="black">
                <a:alpha val="40000"/>
              </a:prstClr>
            </a:outerShdw>
          </a:effectLst>
        </p:spPr>
      </p:pic>
      <p:sp>
        <p:nvSpPr>
          <p:cNvPr id="3" name="Slide Number Placeholder 2">
            <a:extLst>
              <a:ext uri="{FF2B5EF4-FFF2-40B4-BE49-F238E27FC236}">
                <a16:creationId xmlns:a16="http://schemas.microsoft.com/office/drawing/2014/main" id="{26CE2234-E654-4AB1-BCDA-8CFDA4474C48}"/>
              </a:ext>
            </a:extLst>
          </p:cNvPr>
          <p:cNvSpPr>
            <a:spLocks noGrp="1"/>
          </p:cNvSpPr>
          <p:nvPr>
            <p:ph type="sldNum" sz="quarter" idx="12"/>
          </p:nvPr>
        </p:nvSpPr>
        <p:spPr/>
        <p:txBody>
          <a:bodyPr/>
          <a:lstStyle/>
          <a:p>
            <a:fld id="{F4C94289-3309-4C35-850A-56FD49B3E346}" type="slidenum">
              <a:rPr lang="en-GB" smtClean="0"/>
              <a:t>8</a:t>
            </a:fld>
            <a:endParaRPr lang="en-GB"/>
          </a:p>
        </p:txBody>
      </p:sp>
      <p:sp>
        <p:nvSpPr>
          <p:cNvPr id="4" name="Title 3">
            <a:extLst>
              <a:ext uri="{FF2B5EF4-FFF2-40B4-BE49-F238E27FC236}">
                <a16:creationId xmlns:a16="http://schemas.microsoft.com/office/drawing/2014/main" id="{DF6CB4A2-B5CA-42FE-8952-C081A18611B0}"/>
              </a:ext>
            </a:extLst>
          </p:cNvPr>
          <p:cNvSpPr>
            <a:spLocks noGrp="1"/>
          </p:cNvSpPr>
          <p:nvPr>
            <p:ph type="title"/>
          </p:nvPr>
        </p:nvSpPr>
        <p:spPr/>
        <p:txBody>
          <a:bodyPr/>
          <a:lstStyle/>
          <a:p>
            <a:r>
              <a:rPr lang="en-GB"/>
              <a:t>P&amp;L Translation Posting Example</a:t>
            </a:r>
          </a:p>
        </p:txBody>
      </p:sp>
      <p:sp>
        <p:nvSpPr>
          <p:cNvPr id="6" name="Rectangle 5">
            <a:extLst>
              <a:ext uri="{FF2B5EF4-FFF2-40B4-BE49-F238E27FC236}">
                <a16:creationId xmlns:a16="http://schemas.microsoft.com/office/drawing/2014/main" id="{CCE8193D-28DD-4986-9244-EF1EDF19DD01}"/>
              </a:ext>
            </a:extLst>
          </p:cNvPr>
          <p:cNvSpPr/>
          <p:nvPr/>
        </p:nvSpPr>
        <p:spPr>
          <a:xfrm>
            <a:off x="7777338" y="2491841"/>
            <a:ext cx="2050473" cy="212437"/>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6A76F5CB-8133-4A4C-A723-3C8BD45C0215}"/>
              </a:ext>
            </a:extLst>
          </p:cNvPr>
          <p:cNvSpPr/>
          <p:nvPr/>
        </p:nvSpPr>
        <p:spPr>
          <a:xfrm>
            <a:off x="8031018" y="4264218"/>
            <a:ext cx="1524000" cy="212437"/>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1C75051B-97E0-4BE5-8AA7-A3FC101B1E73}"/>
              </a:ext>
            </a:extLst>
          </p:cNvPr>
          <p:cNvSpPr/>
          <p:nvPr/>
        </p:nvSpPr>
        <p:spPr>
          <a:xfrm>
            <a:off x="7767782" y="5512316"/>
            <a:ext cx="2646218" cy="466726"/>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03EE2B63-5ACE-489E-8888-B5F8C59068DF}"/>
              </a:ext>
            </a:extLst>
          </p:cNvPr>
          <p:cNvSpPr/>
          <p:nvPr/>
        </p:nvSpPr>
        <p:spPr>
          <a:xfrm>
            <a:off x="4788112" y="3424407"/>
            <a:ext cx="1560946" cy="268518"/>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Straight Connector 10">
            <a:extLst>
              <a:ext uri="{FF2B5EF4-FFF2-40B4-BE49-F238E27FC236}">
                <a16:creationId xmlns:a16="http://schemas.microsoft.com/office/drawing/2014/main" id="{36F2C2F8-0681-4FFC-885F-72157AD2F4E8}"/>
              </a:ext>
            </a:extLst>
          </p:cNvPr>
          <p:cNvCxnSpPr>
            <a:cxnSpLocks/>
          </p:cNvCxnSpPr>
          <p:nvPr/>
        </p:nvCxnSpPr>
        <p:spPr>
          <a:xfrm>
            <a:off x="6349058" y="3692925"/>
            <a:ext cx="1418724" cy="1950493"/>
          </a:xfrm>
          <a:prstGeom prst="line">
            <a:avLst/>
          </a:prstGeom>
          <a:ln w="9525">
            <a:solidFill>
              <a:srgbClr val="FF0000"/>
            </a:solidFill>
            <a:tailEnd type="non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3CF6D612-0E13-4B82-B080-4E0FD893DE6A}"/>
              </a:ext>
            </a:extLst>
          </p:cNvPr>
          <p:cNvSpPr/>
          <p:nvPr/>
        </p:nvSpPr>
        <p:spPr>
          <a:xfrm>
            <a:off x="997243" y="4535528"/>
            <a:ext cx="1681302" cy="397163"/>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Speech Bubble: Rectangle 12">
            <a:extLst>
              <a:ext uri="{FF2B5EF4-FFF2-40B4-BE49-F238E27FC236}">
                <a16:creationId xmlns:a16="http://schemas.microsoft.com/office/drawing/2014/main" id="{0EA0371B-37DA-4508-B050-DF3FB8C00B8D}"/>
              </a:ext>
            </a:extLst>
          </p:cNvPr>
          <p:cNvSpPr/>
          <p:nvPr/>
        </p:nvSpPr>
        <p:spPr>
          <a:xfrm>
            <a:off x="7225205" y="6142470"/>
            <a:ext cx="4252225" cy="683492"/>
          </a:xfrm>
          <a:prstGeom prst="wedgeRectCallout">
            <a:avLst>
              <a:gd name="adj1" fmla="val -8528"/>
              <a:gd name="adj2" fmla="val -68173"/>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b="1"/>
              <a:t>P&amp;L Translation is </a:t>
            </a:r>
            <a:r>
              <a:rPr lang="en-GB" sz="1050" b="1" u="sng"/>
              <a:t>executed for each accounting principle separately </a:t>
            </a:r>
            <a:r>
              <a:rPr lang="en-GB" sz="1050" b="1"/>
              <a:t>using different valuation areas (explained in Parallel Ledger course). Postings are made to the corresponding ledger only.</a:t>
            </a:r>
          </a:p>
        </p:txBody>
      </p:sp>
      <p:sp>
        <p:nvSpPr>
          <p:cNvPr id="14" name="Speech Bubble: Rectangle 13">
            <a:extLst>
              <a:ext uri="{FF2B5EF4-FFF2-40B4-BE49-F238E27FC236}">
                <a16:creationId xmlns:a16="http://schemas.microsoft.com/office/drawing/2014/main" id="{0C30C054-2460-4664-8284-65D9C33E8769}"/>
              </a:ext>
            </a:extLst>
          </p:cNvPr>
          <p:cNvSpPr/>
          <p:nvPr/>
        </p:nvSpPr>
        <p:spPr>
          <a:xfrm>
            <a:off x="9078911" y="4761360"/>
            <a:ext cx="2837804" cy="704957"/>
          </a:xfrm>
          <a:prstGeom prst="wedgeRectCallout">
            <a:avLst>
              <a:gd name="adj1" fmla="val -40365"/>
              <a:gd name="adj2" fmla="val -86034"/>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b="1"/>
              <a:t>P&amp;L Translation task is built in FCC, which is automatically triggered. Entities can display the job log and spool list in FCC.</a:t>
            </a:r>
          </a:p>
        </p:txBody>
      </p:sp>
      <p:sp>
        <p:nvSpPr>
          <p:cNvPr id="15" name="Speech Bubble: Rectangle 14">
            <a:extLst>
              <a:ext uri="{FF2B5EF4-FFF2-40B4-BE49-F238E27FC236}">
                <a16:creationId xmlns:a16="http://schemas.microsoft.com/office/drawing/2014/main" id="{790F36AD-7E7E-4F80-8032-B9E339F10FC3}"/>
              </a:ext>
            </a:extLst>
          </p:cNvPr>
          <p:cNvSpPr/>
          <p:nvPr/>
        </p:nvSpPr>
        <p:spPr>
          <a:xfrm>
            <a:off x="10497813" y="2398460"/>
            <a:ext cx="1475440" cy="704957"/>
          </a:xfrm>
          <a:prstGeom prst="wedgeRectCallout">
            <a:avLst>
              <a:gd name="adj1" fmla="val -94242"/>
              <a:gd name="adj2" fmla="val -13799"/>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b="1"/>
              <a:t>P&amp;L Translation is also posted with Doc. Type SR, same as in ECC.</a:t>
            </a:r>
          </a:p>
        </p:txBody>
      </p:sp>
      <p:sp>
        <p:nvSpPr>
          <p:cNvPr id="16" name="Speech Bubble: Rectangle 15">
            <a:extLst>
              <a:ext uri="{FF2B5EF4-FFF2-40B4-BE49-F238E27FC236}">
                <a16:creationId xmlns:a16="http://schemas.microsoft.com/office/drawing/2014/main" id="{3DC3C794-86CD-4911-A814-A8C11681EB17}"/>
              </a:ext>
            </a:extLst>
          </p:cNvPr>
          <p:cNvSpPr/>
          <p:nvPr/>
        </p:nvSpPr>
        <p:spPr>
          <a:xfrm>
            <a:off x="1667162" y="5717309"/>
            <a:ext cx="3299633" cy="1069071"/>
          </a:xfrm>
          <a:prstGeom prst="wedgeRectCallout">
            <a:avLst>
              <a:gd name="adj1" fmla="val -31781"/>
              <a:gd name="adj2" fmla="val -126061"/>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b="1"/>
              <a:t>Accounting entries P&amp;L Translation documents are between the CTA accounts (279xxx) and the P&amp;L accounts defined as per ERDK for use in P&amp;L translation posting. Refer to Finance Fundamentals Master Data – Chart of Accounts course for ERDK in P&amp;L accounts.</a:t>
            </a:r>
          </a:p>
        </p:txBody>
      </p:sp>
    </p:spTree>
    <p:extLst>
      <p:ext uri="{BB962C8B-B14F-4D97-AF65-F5344CB8AC3E}">
        <p14:creationId xmlns:p14="http://schemas.microsoft.com/office/powerpoint/2010/main" val="881083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3A7AD83B-0F10-4398-9E75-24688D1FA341}"/>
              </a:ext>
            </a:extLst>
          </p:cNvPr>
          <p:cNvSpPr/>
          <p:nvPr/>
        </p:nvSpPr>
        <p:spPr>
          <a:xfrm>
            <a:off x="306558" y="1363475"/>
            <a:ext cx="11705771" cy="427995"/>
          </a:xfrm>
          <a:prstGeom prst="roundRect">
            <a:avLst>
              <a:gd name="adj" fmla="val 8611"/>
            </a:avLst>
          </a:prstGeom>
          <a:gradFill>
            <a:gsLst>
              <a:gs pos="0">
                <a:schemeClr val="accent1">
                  <a:lumMod val="5000"/>
                  <a:lumOff val="95000"/>
                </a:schemeClr>
              </a:gs>
              <a:gs pos="74000">
                <a:schemeClr val="accent1"/>
              </a:gs>
              <a:gs pos="83000">
                <a:schemeClr val="accent1"/>
              </a:gs>
              <a:gs pos="100000">
                <a:schemeClr val="accent1">
                  <a:lumMod val="75000"/>
                </a:schemeClr>
              </a:gs>
            </a:gsLst>
            <a:lin ang="5400000" scaled="1"/>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a:xfrm>
            <a:off x="1511277" y="210344"/>
            <a:ext cx="9672538" cy="984247"/>
          </a:xfrm>
        </p:spPr>
        <p:txBody>
          <a:bodyPr/>
          <a:lstStyle/>
          <a:p>
            <a:r>
              <a:rPr lang="en-GB"/>
              <a:t>Currency Translation: FX Adjustment Accounts</a:t>
            </a:r>
          </a:p>
        </p:txBody>
      </p:sp>
      <p:pic>
        <p:nvPicPr>
          <p:cNvPr id="6" name="Picture 5">
            <a:extLst>
              <a:ext uri="{FF2B5EF4-FFF2-40B4-BE49-F238E27FC236}">
                <a16:creationId xmlns:a16="http://schemas.microsoft.com/office/drawing/2014/main" id="{1D9A47E9-C448-4666-A337-96DFA2AC978E}"/>
              </a:ext>
            </a:extLst>
          </p:cNvPr>
          <p:cNvPicPr>
            <a:picLocks noChangeAspect="1"/>
          </p:cNvPicPr>
          <p:nvPr/>
        </p:nvPicPr>
        <p:blipFill>
          <a:blip r:embed="rId3"/>
          <a:stretch>
            <a:fillRect/>
          </a:stretch>
        </p:blipFill>
        <p:spPr>
          <a:xfrm>
            <a:off x="306558" y="1813695"/>
            <a:ext cx="3043311" cy="1682481"/>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819A7778-356A-4802-ADE7-F92A90ABEC30}"/>
              </a:ext>
            </a:extLst>
          </p:cNvPr>
          <p:cNvPicPr>
            <a:picLocks noChangeAspect="1"/>
          </p:cNvPicPr>
          <p:nvPr/>
        </p:nvPicPr>
        <p:blipFill>
          <a:blip r:embed="rId4"/>
          <a:stretch>
            <a:fillRect/>
          </a:stretch>
        </p:blipFill>
        <p:spPr>
          <a:xfrm>
            <a:off x="306558" y="3654056"/>
            <a:ext cx="3985358" cy="2162908"/>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F81F6E69-3698-4B5D-AF37-79B18D33042E}"/>
              </a:ext>
            </a:extLst>
          </p:cNvPr>
          <p:cNvPicPr>
            <a:picLocks noChangeAspect="1"/>
          </p:cNvPicPr>
          <p:nvPr/>
        </p:nvPicPr>
        <p:blipFill>
          <a:blip r:embed="rId5"/>
          <a:stretch>
            <a:fillRect/>
          </a:stretch>
        </p:blipFill>
        <p:spPr>
          <a:xfrm>
            <a:off x="1321347" y="5149188"/>
            <a:ext cx="3543729" cy="915011"/>
          </a:xfrm>
          <a:prstGeom prst="rect">
            <a:avLst/>
          </a:prstGeom>
          <a:effectLst>
            <a:outerShdw blurRad="63500" sx="102000" sy="102000" algn="ctr" rotWithShape="0">
              <a:prstClr val="black">
                <a:alpha val="40000"/>
              </a:prstClr>
            </a:outerShdw>
          </a:effectLst>
        </p:spPr>
      </p:pic>
      <p:pic>
        <p:nvPicPr>
          <p:cNvPr id="9" name="Picture 8">
            <a:extLst>
              <a:ext uri="{FF2B5EF4-FFF2-40B4-BE49-F238E27FC236}">
                <a16:creationId xmlns:a16="http://schemas.microsoft.com/office/drawing/2014/main" id="{9122D746-78C6-452D-8390-74A7BFD81442}"/>
              </a:ext>
            </a:extLst>
          </p:cNvPr>
          <p:cNvPicPr>
            <a:picLocks noChangeAspect="1"/>
          </p:cNvPicPr>
          <p:nvPr/>
        </p:nvPicPr>
        <p:blipFill>
          <a:blip r:embed="rId6"/>
          <a:stretch>
            <a:fillRect/>
          </a:stretch>
        </p:blipFill>
        <p:spPr>
          <a:xfrm>
            <a:off x="5327311" y="1810764"/>
            <a:ext cx="3985359" cy="2543451"/>
          </a:xfrm>
          <a:prstGeom prst="rect">
            <a:avLst/>
          </a:prstGeom>
          <a:effectLst>
            <a:outerShdw blurRad="50800" dist="38100" dir="2700000" algn="tl" rotWithShape="0">
              <a:prstClr val="black">
                <a:alpha val="40000"/>
              </a:prstClr>
            </a:outerShdw>
          </a:effectLst>
        </p:spPr>
      </p:pic>
      <p:pic>
        <p:nvPicPr>
          <p:cNvPr id="13" name="Graphic 12" descr="Lightbulb and gear">
            <a:extLst>
              <a:ext uri="{FF2B5EF4-FFF2-40B4-BE49-F238E27FC236}">
                <a16:creationId xmlns:a16="http://schemas.microsoft.com/office/drawing/2014/main" id="{A97683CC-1FAC-4B04-B1D2-C7200484C67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15044" y="1339904"/>
            <a:ext cx="377268" cy="377268"/>
          </a:xfrm>
          <a:prstGeom prst="rect">
            <a:avLst/>
          </a:prstGeom>
        </p:spPr>
      </p:pic>
      <p:sp>
        <p:nvSpPr>
          <p:cNvPr id="14" name="TextBox 13">
            <a:extLst>
              <a:ext uri="{FF2B5EF4-FFF2-40B4-BE49-F238E27FC236}">
                <a16:creationId xmlns:a16="http://schemas.microsoft.com/office/drawing/2014/main" id="{1D7548F2-0C3C-41DE-8150-7C81DE66E989}"/>
              </a:ext>
            </a:extLst>
          </p:cNvPr>
          <p:cNvSpPr txBox="1"/>
          <p:nvPr/>
        </p:nvSpPr>
        <p:spPr>
          <a:xfrm>
            <a:off x="700798" y="1375072"/>
            <a:ext cx="11202102" cy="500914"/>
          </a:xfrm>
          <a:prstGeom prst="rect">
            <a:avLst/>
          </a:prstGeom>
          <a:noFill/>
        </p:spPr>
        <p:txBody>
          <a:bodyPr wrap="square" lIns="0" tIns="0" rIns="0" bIns="0" rtlCol="0">
            <a:noAutofit/>
          </a:bodyPr>
          <a:lstStyle/>
          <a:p>
            <a:pPr marR="0" lvl="0" algn="l" defTabSz="914400" rtl="0" eaLnBrk="1" fontAlgn="auto" latinLnBrk="0" hangingPunct="1">
              <a:lnSpc>
                <a:spcPct val="100000"/>
              </a:lnSpc>
              <a:spcBef>
                <a:spcPts val="200"/>
              </a:spcBef>
              <a:spcAft>
                <a:spcPts val="0"/>
              </a:spcAft>
              <a:buClrTx/>
              <a:buSzTx/>
              <a:tabLst/>
              <a:defRPr/>
            </a:pP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In S/4 the FX Adjustment Accounts and CTA accounts used in Currency Translation postings are defined based on Financial Statement Versions (FSV). FSV “ZCTA” is created for this purpose. </a:t>
            </a:r>
            <a:r>
              <a:rPr kumimoji="0" lang="en-GB" sz="1200" b="0" i="1" u="none" strike="noStrike" kern="1200" cap="none" spc="0" normalizeH="0" baseline="0" noProof="0" err="1">
                <a:ln>
                  <a:noFill/>
                </a:ln>
                <a:solidFill>
                  <a:srgbClr val="000000"/>
                </a:solidFill>
                <a:effectLst/>
                <a:uLnTx/>
                <a:uFillTx/>
                <a:latin typeface="Georgia" panose="02040502050405020303" pitchFamily="18" charset="0"/>
                <a:ea typeface="+mn-ea"/>
                <a:cs typeface="+mn-cs"/>
              </a:rPr>
              <a:t>Yo</a:t>
            </a:r>
            <a:r>
              <a:rPr lang="en-GB" sz="1200" i="1">
                <a:solidFill>
                  <a:srgbClr val="000000"/>
                </a:solidFill>
                <a:latin typeface="Georgia" panose="02040502050405020303" pitchFamily="18" charset="0"/>
              </a:rPr>
              <a:t>u can find the relevant FX Adjustment and CTA accounts for a given G/L accounts by following the steps below. </a:t>
            </a:r>
            <a:r>
              <a:rPr lang="en-GB" sz="1200" i="1" baseline="30000">
                <a:solidFill>
                  <a:srgbClr val="FF0000"/>
                </a:solidFill>
                <a:latin typeface="Georgia" panose="02040502050405020303" pitchFamily="18" charset="0"/>
              </a:rPr>
              <a:t>1)</a:t>
            </a:r>
            <a:endParaRPr kumimoji="0" lang="en-GB" sz="1200" b="0" i="1" u="none" strike="noStrike" kern="1200" cap="none" spc="0" normalizeH="0" baseline="30000" noProof="0">
              <a:ln>
                <a:noFill/>
              </a:ln>
              <a:solidFill>
                <a:srgbClr val="FF0000"/>
              </a:solidFill>
              <a:effectLst/>
              <a:uLnTx/>
              <a:uFillTx/>
              <a:latin typeface="Georgia" panose="02040502050405020303" pitchFamily="18" charset="0"/>
              <a:ea typeface="+mn-ea"/>
              <a:cs typeface="+mn-cs"/>
            </a:endParaRPr>
          </a:p>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endParaRPr kumimoji="0" lang="en-GB" sz="1200" b="1"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15" name="Rectangle: Rounded Corners 14">
            <a:extLst>
              <a:ext uri="{FF2B5EF4-FFF2-40B4-BE49-F238E27FC236}">
                <a16:creationId xmlns:a16="http://schemas.microsoft.com/office/drawing/2014/main" id="{0BF19399-0E00-4FB6-8703-2D0EC20F26A4}"/>
              </a:ext>
            </a:extLst>
          </p:cNvPr>
          <p:cNvSpPr/>
          <p:nvPr/>
        </p:nvSpPr>
        <p:spPr>
          <a:xfrm>
            <a:off x="309489" y="1820133"/>
            <a:ext cx="1281920" cy="224930"/>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FSE3: Display FSV</a:t>
            </a:r>
          </a:p>
        </p:txBody>
      </p:sp>
      <p:sp>
        <p:nvSpPr>
          <p:cNvPr id="17" name="Rectangle: Rounded Corners 16">
            <a:extLst>
              <a:ext uri="{FF2B5EF4-FFF2-40B4-BE49-F238E27FC236}">
                <a16:creationId xmlns:a16="http://schemas.microsoft.com/office/drawing/2014/main" id="{742C06B0-47C9-48F0-A64A-A38DF69C4B3E}"/>
              </a:ext>
            </a:extLst>
          </p:cNvPr>
          <p:cNvSpPr/>
          <p:nvPr/>
        </p:nvSpPr>
        <p:spPr>
          <a:xfrm>
            <a:off x="315044" y="3652056"/>
            <a:ext cx="3448064" cy="328719"/>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You may also display FSV via G/L Account Display T-Code FS00. Then click “Edit financial statement version”</a:t>
            </a:r>
          </a:p>
        </p:txBody>
      </p:sp>
      <p:sp>
        <p:nvSpPr>
          <p:cNvPr id="11" name="Rectangle: Rounded Corners 10">
            <a:extLst>
              <a:ext uri="{FF2B5EF4-FFF2-40B4-BE49-F238E27FC236}">
                <a16:creationId xmlns:a16="http://schemas.microsoft.com/office/drawing/2014/main" id="{63A02EEE-B9A2-400F-8F2E-46AA650EF7E6}"/>
              </a:ext>
            </a:extLst>
          </p:cNvPr>
          <p:cNvSpPr/>
          <p:nvPr/>
        </p:nvSpPr>
        <p:spPr>
          <a:xfrm>
            <a:off x="2321169" y="4120046"/>
            <a:ext cx="1257300" cy="146693"/>
          </a:xfrm>
          <a:prstGeom prst="round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EE615639-7B90-428C-BDD2-06E1A67733C9}"/>
              </a:ext>
            </a:extLst>
          </p:cNvPr>
          <p:cNvCxnSpPr/>
          <p:nvPr/>
        </p:nvCxnSpPr>
        <p:spPr>
          <a:xfrm flipH="1">
            <a:off x="2162908" y="4266739"/>
            <a:ext cx="1011115" cy="1559784"/>
          </a:xfrm>
          <a:prstGeom prst="straightConnector1">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26E83AAD-FCB5-4CC6-BFE5-9E313B20D217}"/>
              </a:ext>
            </a:extLst>
          </p:cNvPr>
          <p:cNvSpPr/>
          <p:nvPr/>
        </p:nvSpPr>
        <p:spPr>
          <a:xfrm>
            <a:off x="1580956" y="5839717"/>
            <a:ext cx="573160" cy="146693"/>
          </a:xfrm>
          <a:prstGeom prst="round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043E0818-360C-4596-B4AB-8DEE6094AEF3}"/>
              </a:ext>
            </a:extLst>
          </p:cNvPr>
          <p:cNvSpPr/>
          <p:nvPr/>
        </p:nvSpPr>
        <p:spPr>
          <a:xfrm>
            <a:off x="1002325" y="2537430"/>
            <a:ext cx="1406769" cy="176317"/>
          </a:xfrm>
          <a:prstGeom prst="round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Brace 21">
            <a:extLst>
              <a:ext uri="{FF2B5EF4-FFF2-40B4-BE49-F238E27FC236}">
                <a16:creationId xmlns:a16="http://schemas.microsoft.com/office/drawing/2014/main" id="{D564E652-5B15-4F15-A8C8-4ACAF291F5D8}"/>
              </a:ext>
            </a:extLst>
          </p:cNvPr>
          <p:cNvSpPr/>
          <p:nvPr/>
        </p:nvSpPr>
        <p:spPr>
          <a:xfrm>
            <a:off x="4873562" y="1978635"/>
            <a:ext cx="315072" cy="3592142"/>
          </a:xfrm>
          <a:prstGeom prst="rightBrace">
            <a:avLst/>
          </a:prstGeom>
          <a:ln w="9525">
            <a:solidFill>
              <a:srgbClr val="FF0000"/>
            </a:solidFill>
            <a:tailEnd type="non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36DBAE60-0A08-4D00-8B82-53A3BB085598}"/>
              </a:ext>
            </a:extLst>
          </p:cNvPr>
          <p:cNvCxnSpPr>
            <a:cxnSpLocks/>
          </p:cNvCxnSpPr>
          <p:nvPr/>
        </p:nvCxnSpPr>
        <p:spPr>
          <a:xfrm>
            <a:off x="5112741" y="3777590"/>
            <a:ext cx="196091" cy="5418"/>
          </a:xfrm>
          <a:prstGeom prst="straightConnector1">
            <a:avLst/>
          </a:prstGeom>
          <a:ln w="19050">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69E4FB7F-C081-4A13-AA05-AA643D47BFCD}"/>
              </a:ext>
            </a:extLst>
          </p:cNvPr>
          <p:cNvSpPr/>
          <p:nvPr/>
        </p:nvSpPr>
        <p:spPr>
          <a:xfrm>
            <a:off x="5522530" y="2619301"/>
            <a:ext cx="1347122" cy="158050"/>
          </a:xfrm>
          <a:prstGeom prst="roundRect">
            <a:avLst/>
          </a:prstGeom>
          <a:noFill/>
          <a:ln w="19050">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56AD89A6-98BE-495E-8F09-7B80C73AF537}"/>
              </a:ext>
            </a:extLst>
          </p:cNvPr>
          <p:cNvSpPr/>
          <p:nvPr/>
        </p:nvSpPr>
        <p:spPr>
          <a:xfrm>
            <a:off x="5698843" y="2871481"/>
            <a:ext cx="1681018" cy="158051"/>
          </a:xfrm>
          <a:prstGeom prst="roundRect">
            <a:avLst/>
          </a:prstGeom>
          <a:noFill/>
          <a:ln w="19050">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843DFE61-4E9E-40BC-90F7-E9990A375B9C}"/>
              </a:ext>
            </a:extLst>
          </p:cNvPr>
          <p:cNvSpPr/>
          <p:nvPr/>
        </p:nvSpPr>
        <p:spPr>
          <a:xfrm>
            <a:off x="5929751" y="3162131"/>
            <a:ext cx="2549237" cy="183745"/>
          </a:xfrm>
          <a:prstGeom prst="roundRect">
            <a:avLst/>
          </a:prstGeom>
          <a:noFill/>
          <a:ln w="19050">
            <a:solidFill>
              <a:srgbClr val="00B05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23CCF76A-1CD0-4092-86B0-577048792A76}"/>
              </a:ext>
            </a:extLst>
          </p:cNvPr>
          <p:cNvSpPr/>
          <p:nvPr/>
        </p:nvSpPr>
        <p:spPr>
          <a:xfrm>
            <a:off x="6154074" y="3409041"/>
            <a:ext cx="3019920" cy="174611"/>
          </a:xfrm>
          <a:prstGeom prst="roundRect">
            <a:avLst/>
          </a:prstGeom>
          <a:noFill/>
          <a:ln w="1905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8E5E5E39-ACE3-4E21-93C6-3E5CB5E106E1}"/>
              </a:ext>
            </a:extLst>
          </p:cNvPr>
          <p:cNvSpPr txBox="1"/>
          <p:nvPr/>
        </p:nvSpPr>
        <p:spPr>
          <a:xfrm>
            <a:off x="221673" y="6315993"/>
            <a:ext cx="5411703" cy="413651"/>
          </a:xfrm>
          <a:prstGeom prst="rect">
            <a:avLst/>
          </a:prstGeom>
          <a:solidFill>
            <a:schemeClr val="bg1"/>
          </a:solidFill>
        </p:spPr>
        <p:txBody>
          <a:bodyPr wrap="square" lIns="0" tIns="0" rIns="252000" bIns="0" rtlCol="0">
            <a:noAutofit/>
          </a:bodyPr>
          <a:lstStyle/>
          <a:p>
            <a:pPr algn="l"/>
            <a:r>
              <a:rPr lang="en-US" sz="850" i="1" baseline="30000" dirty="0">
                <a:solidFill>
                  <a:srgbClr val="FF0000"/>
                </a:solidFill>
              </a:rPr>
              <a:t>1) </a:t>
            </a:r>
            <a:r>
              <a:rPr lang="en-US" sz="850" i="1" dirty="0"/>
              <a:t>This is not a routine activity for end users. GBS/JTBC G/L users may want to perform this check during testing (e.g. test a newly created G/L account) or investigate any posting errors during period end Currency Translation. R2R CC should be contacted for any queries.</a:t>
            </a:r>
          </a:p>
        </p:txBody>
      </p:sp>
      <p:sp>
        <p:nvSpPr>
          <p:cNvPr id="29" name="Rectangle: Rounded Corners 28">
            <a:extLst>
              <a:ext uri="{FF2B5EF4-FFF2-40B4-BE49-F238E27FC236}">
                <a16:creationId xmlns:a16="http://schemas.microsoft.com/office/drawing/2014/main" id="{8C0B5487-AD1E-48CC-88B2-31B17484819C}"/>
              </a:ext>
            </a:extLst>
          </p:cNvPr>
          <p:cNvSpPr/>
          <p:nvPr/>
        </p:nvSpPr>
        <p:spPr>
          <a:xfrm>
            <a:off x="5977130" y="5583114"/>
            <a:ext cx="4108985" cy="891581"/>
          </a:xfrm>
          <a:prstGeom prst="roundRect">
            <a:avLst>
              <a:gd name="adj" fmla="val 6216"/>
            </a:avLst>
          </a:prstGeom>
          <a:noFill/>
          <a:ln w="1905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B934ADAB-FB51-4F14-A9AE-18EC6E6A28DB}"/>
              </a:ext>
            </a:extLst>
          </p:cNvPr>
          <p:cNvSpPr/>
          <p:nvPr/>
        </p:nvSpPr>
        <p:spPr>
          <a:xfrm>
            <a:off x="9458036" y="1842243"/>
            <a:ext cx="2554293" cy="423884"/>
          </a:xfrm>
          <a:prstGeom prst="rect">
            <a:avLst/>
          </a:prstGeom>
          <a:noFill/>
          <a:ln w="1905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lang="en-US" sz="1100">
                <a:solidFill>
                  <a:schemeClr val="tx1"/>
                </a:solidFill>
                <a:latin typeface="Calibri" panose="020F0502020204030204" pitchFamily="34" charset="0"/>
                <a:cs typeface="Calibri" panose="020F0502020204030204" pitchFamily="34" charset="0"/>
              </a:rPr>
              <a:t>FSV ZCTA is organized by CTA accounts as the highest hierarchy node.</a:t>
            </a:r>
          </a:p>
        </p:txBody>
      </p:sp>
      <p:sp>
        <p:nvSpPr>
          <p:cNvPr id="33" name="Rectangle 32">
            <a:extLst>
              <a:ext uri="{FF2B5EF4-FFF2-40B4-BE49-F238E27FC236}">
                <a16:creationId xmlns:a16="http://schemas.microsoft.com/office/drawing/2014/main" id="{41120156-5EEB-4ED6-B014-8EA5F43F3913}"/>
              </a:ext>
            </a:extLst>
          </p:cNvPr>
          <p:cNvSpPr/>
          <p:nvPr/>
        </p:nvSpPr>
        <p:spPr>
          <a:xfrm>
            <a:off x="9451347" y="2334724"/>
            <a:ext cx="2554293" cy="434514"/>
          </a:xfrm>
          <a:prstGeom prst="rect">
            <a:avLst/>
          </a:prstGeom>
          <a:noFill/>
          <a:ln w="1905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lang="en-US" sz="1100">
                <a:solidFill>
                  <a:schemeClr val="tx1"/>
                </a:solidFill>
                <a:latin typeface="Calibri" panose="020F0502020204030204" pitchFamily="34" charset="0"/>
                <a:cs typeface="Calibri" panose="020F0502020204030204" pitchFamily="34" charset="0"/>
              </a:rPr>
              <a:t>The node under CTA folders are ERDK(Exchange Rate Different Key) folders</a:t>
            </a:r>
          </a:p>
        </p:txBody>
      </p:sp>
      <p:sp>
        <p:nvSpPr>
          <p:cNvPr id="34" name="Rectangle 33">
            <a:extLst>
              <a:ext uri="{FF2B5EF4-FFF2-40B4-BE49-F238E27FC236}">
                <a16:creationId xmlns:a16="http://schemas.microsoft.com/office/drawing/2014/main" id="{9B88619B-7040-401B-A440-EDF6C9618469}"/>
              </a:ext>
            </a:extLst>
          </p:cNvPr>
          <p:cNvSpPr/>
          <p:nvPr/>
        </p:nvSpPr>
        <p:spPr>
          <a:xfrm>
            <a:off x="9458036" y="2845984"/>
            <a:ext cx="2554293" cy="743612"/>
          </a:xfrm>
          <a:prstGeom prst="rect">
            <a:avLst/>
          </a:prstGeom>
          <a:noFill/>
          <a:ln w="19050">
            <a:solidFill>
              <a:srgbClr val="00B050"/>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lang="en-US" sz="1100">
                <a:solidFill>
                  <a:schemeClr val="tx1"/>
                </a:solidFill>
                <a:latin typeface="Calibri" panose="020F0502020204030204" pitchFamily="34" charset="0"/>
                <a:cs typeface="Calibri" panose="020F0502020204030204" pitchFamily="34" charset="0"/>
              </a:rPr>
              <a:t>G/L accounts under this folder are folders for each of the FX Adjustment accounts (ending with 9) which is used to post against CTA during Translation.</a:t>
            </a:r>
          </a:p>
        </p:txBody>
      </p:sp>
      <p:cxnSp>
        <p:nvCxnSpPr>
          <p:cNvPr id="38" name="Connector: Elbow 37">
            <a:extLst>
              <a:ext uri="{FF2B5EF4-FFF2-40B4-BE49-F238E27FC236}">
                <a16:creationId xmlns:a16="http://schemas.microsoft.com/office/drawing/2014/main" id="{6AA6C031-CFA9-4912-9E9B-7108E13CA2E7}"/>
              </a:ext>
            </a:extLst>
          </p:cNvPr>
          <p:cNvCxnSpPr>
            <a:cxnSpLocks/>
            <a:stCxn id="25" idx="0"/>
            <a:endCxn id="32" idx="1"/>
          </p:cNvCxnSpPr>
          <p:nvPr/>
        </p:nvCxnSpPr>
        <p:spPr>
          <a:xfrm rot="5400000" flipH="1" flipV="1">
            <a:off x="7544505" y="705771"/>
            <a:ext cx="565116" cy="3261945"/>
          </a:xfrm>
          <a:prstGeom prst="bentConnector2">
            <a:avLst/>
          </a:prstGeom>
          <a:ln w="9525">
            <a:solidFill>
              <a:schemeClr val="accent2"/>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2CD15F76-FFE9-47B4-8D5D-D11859CCA758}"/>
              </a:ext>
            </a:extLst>
          </p:cNvPr>
          <p:cNvCxnSpPr>
            <a:cxnSpLocks/>
            <a:stCxn id="26" idx="3"/>
            <a:endCxn id="33" idx="1"/>
          </p:cNvCxnSpPr>
          <p:nvPr/>
        </p:nvCxnSpPr>
        <p:spPr>
          <a:xfrm flipV="1">
            <a:off x="7379861" y="2551981"/>
            <a:ext cx="2071486" cy="398526"/>
          </a:xfrm>
          <a:prstGeom prst="bentConnector3">
            <a:avLst>
              <a:gd name="adj1" fmla="val 50000"/>
            </a:avLst>
          </a:prstGeom>
          <a:ln w="9525">
            <a:solidFill>
              <a:schemeClr val="accent4"/>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F13FF411-333D-438A-B5F1-82B59017059C}"/>
              </a:ext>
            </a:extLst>
          </p:cNvPr>
          <p:cNvCxnSpPr>
            <a:stCxn id="27" idx="3"/>
            <a:endCxn id="34" idx="1"/>
          </p:cNvCxnSpPr>
          <p:nvPr/>
        </p:nvCxnSpPr>
        <p:spPr>
          <a:xfrm flipV="1">
            <a:off x="8478988" y="3217790"/>
            <a:ext cx="979048" cy="36214"/>
          </a:xfrm>
          <a:prstGeom prst="bentConnector3">
            <a:avLst/>
          </a:prstGeom>
          <a:ln w="9525">
            <a:solidFill>
              <a:srgbClr val="00B05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67A51AD5-159D-4D86-836D-0A76302742D8}"/>
              </a:ext>
            </a:extLst>
          </p:cNvPr>
          <p:cNvCxnSpPr>
            <a:cxnSpLocks/>
            <a:stCxn id="28" idx="3"/>
            <a:endCxn id="35" idx="1"/>
          </p:cNvCxnSpPr>
          <p:nvPr/>
        </p:nvCxnSpPr>
        <p:spPr>
          <a:xfrm>
            <a:off x="9173994" y="3496347"/>
            <a:ext cx="284042" cy="858005"/>
          </a:xfrm>
          <a:prstGeom prst="bentConnector3">
            <a:avLst>
              <a:gd name="adj1" fmla="val 33741"/>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A5F35D8E-95BE-49F3-86FE-731C8F873886}"/>
              </a:ext>
            </a:extLst>
          </p:cNvPr>
          <p:cNvCxnSpPr>
            <a:cxnSpLocks/>
            <a:stCxn id="29" idx="0"/>
            <a:endCxn id="36" idx="0"/>
          </p:cNvCxnSpPr>
          <p:nvPr/>
        </p:nvCxnSpPr>
        <p:spPr>
          <a:xfrm rot="5400000" flipH="1" flipV="1">
            <a:off x="9454281" y="3910812"/>
            <a:ext cx="249644" cy="3094960"/>
          </a:xfrm>
          <a:prstGeom prst="bentConnector3">
            <a:avLst>
              <a:gd name="adj1" fmla="val 191570"/>
            </a:avLst>
          </a:prstGeom>
          <a:ln w="9525">
            <a:solidFill>
              <a:schemeClr val="accent6"/>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7" name="Speech Bubble: Rectangle 36">
            <a:extLst>
              <a:ext uri="{FF2B5EF4-FFF2-40B4-BE49-F238E27FC236}">
                <a16:creationId xmlns:a16="http://schemas.microsoft.com/office/drawing/2014/main" id="{CAB1678C-ED8D-4F4E-B2B9-1102C0E92920}"/>
              </a:ext>
            </a:extLst>
          </p:cNvPr>
          <p:cNvSpPr/>
          <p:nvPr/>
        </p:nvSpPr>
        <p:spPr>
          <a:xfrm>
            <a:off x="59771" y="5242024"/>
            <a:ext cx="1349351" cy="786784"/>
          </a:xfrm>
          <a:prstGeom prst="wedgeRectCallout">
            <a:avLst>
              <a:gd name="adj1" fmla="val 62668"/>
              <a:gd name="adj2" fmla="val 42893"/>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lang="en-GB" sz="1050" i="1">
                <a:solidFill>
                  <a:schemeClr val="tx1"/>
                </a:solidFill>
                <a:latin typeface="Georgia" panose="02040502050405020303" pitchFamily="18" charset="0"/>
              </a:rPr>
              <a:t>You may enter </a:t>
            </a:r>
            <a:r>
              <a:rPr lang="en-GB" sz="1050" b="1" i="1">
                <a:solidFill>
                  <a:schemeClr val="tx1"/>
                </a:solidFill>
                <a:latin typeface="Georgia" panose="02040502050405020303" pitchFamily="18" charset="0"/>
              </a:rPr>
              <a:t>ZCTA</a:t>
            </a:r>
            <a:r>
              <a:rPr lang="en-GB" sz="1050" i="1">
                <a:solidFill>
                  <a:schemeClr val="tx1"/>
                </a:solidFill>
                <a:latin typeface="Georgia" panose="02040502050405020303" pitchFamily="18" charset="0"/>
              </a:rPr>
              <a:t> here or select it from the dropdown list. Then click “Choose”.</a:t>
            </a:r>
            <a:r>
              <a:rPr lang="en-GB" sz="1050" i="1" baseline="30000">
                <a:solidFill>
                  <a:srgbClr val="FF0000"/>
                </a:solidFill>
                <a:latin typeface="Georgia" panose="02040502050405020303" pitchFamily="18" charset="0"/>
              </a:rPr>
              <a:t>2)</a:t>
            </a:r>
          </a:p>
        </p:txBody>
      </p:sp>
      <p:pic>
        <p:nvPicPr>
          <p:cNvPr id="2" name="Picture 1">
            <a:extLst>
              <a:ext uri="{FF2B5EF4-FFF2-40B4-BE49-F238E27FC236}">
                <a16:creationId xmlns:a16="http://schemas.microsoft.com/office/drawing/2014/main" id="{E7FCCDC9-D8B6-4CA0-B839-9B413A686026}"/>
              </a:ext>
            </a:extLst>
          </p:cNvPr>
          <p:cNvPicPr>
            <a:picLocks noChangeAspect="1"/>
          </p:cNvPicPr>
          <p:nvPr/>
        </p:nvPicPr>
        <p:blipFill>
          <a:blip r:embed="rId9"/>
          <a:stretch>
            <a:fillRect/>
          </a:stretch>
        </p:blipFill>
        <p:spPr>
          <a:xfrm>
            <a:off x="1321346" y="6115715"/>
            <a:ext cx="3552216" cy="147044"/>
          </a:xfrm>
          <a:prstGeom prst="rect">
            <a:avLst/>
          </a:prstGeom>
        </p:spPr>
      </p:pic>
      <p:cxnSp>
        <p:nvCxnSpPr>
          <p:cNvPr id="16" name="Straight Arrow Connector 15">
            <a:extLst>
              <a:ext uri="{FF2B5EF4-FFF2-40B4-BE49-F238E27FC236}">
                <a16:creationId xmlns:a16="http://schemas.microsoft.com/office/drawing/2014/main" id="{561983CE-808B-4CC4-A263-01583DDD1F69}"/>
              </a:ext>
            </a:extLst>
          </p:cNvPr>
          <p:cNvCxnSpPr>
            <a:stCxn id="20" idx="2"/>
          </p:cNvCxnSpPr>
          <p:nvPr/>
        </p:nvCxnSpPr>
        <p:spPr>
          <a:xfrm>
            <a:off x="1867536" y="5986410"/>
            <a:ext cx="1710933" cy="191043"/>
          </a:xfrm>
          <a:prstGeom prst="straightConnector1">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135BCCE9-C494-4BB3-B629-96BDB5490683}"/>
              </a:ext>
            </a:extLst>
          </p:cNvPr>
          <p:cNvSpPr txBox="1"/>
          <p:nvPr/>
        </p:nvSpPr>
        <p:spPr>
          <a:xfrm>
            <a:off x="5112741" y="6534829"/>
            <a:ext cx="6563320" cy="341644"/>
          </a:xfrm>
          <a:prstGeom prst="rect">
            <a:avLst/>
          </a:prstGeom>
          <a:solidFill>
            <a:schemeClr val="bg1"/>
          </a:solidFill>
        </p:spPr>
        <p:txBody>
          <a:bodyPr wrap="square" lIns="36000" tIns="72000" rIns="36000" bIns="36000" rtlCol="0">
            <a:noAutofit/>
          </a:bodyPr>
          <a:lstStyle/>
          <a:p>
            <a:pPr algn="l"/>
            <a:r>
              <a:rPr lang="en-US" sz="850" i="1" baseline="30000">
                <a:solidFill>
                  <a:srgbClr val="FF0000"/>
                </a:solidFill>
              </a:rPr>
              <a:t>2) </a:t>
            </a:r>
            <a:r>
              <a:rPr lang="en-US" sz="850" i="1"/>
              <a:t>End users do not have access to “Edit” FSV therefore this action will take you to the display of FSV ZCTA as shown in this example. </a:t>
            </a:r>
          </a:p>
        </p:txBody>
      </p:sp>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p:txBody>
          <a:bodyPr/>
          <a:lstStyle/>
          <a:p>
            <a:fld id="{F4C94289-3309-4C35-850A-56FD49B3E346}" type="slidenum">
              <a:rPr lang="en-GB" smtClean="0"/>
              <a:t>9</a:t>
            </a:fld>
            <a:endParaRPr lang="en-GB"/>
          </a:p>
        </p:txBody>
      </p:sp>
      <p:pic>
        <p:nvPicPr>
          <p:cNvPr id="10" name="Picture 9">
            <a:extLst>
              <a:ext uri="{FF2B5EF4-FFF2-40B4-BE49-F238E27FC236}">
                <a16:creationId xmlns:a16="http://schemas.microsoft.com/office/drawing/2014/main" id="{403EDD29-0165-4AA6-9CDA-5CC5DA01F7B8}"/>
              </a:ext>
            </a:extLst>
          </p:cNvPr>
          <p:cNvPicPr>
            <a:picLocks noChangeAspect="1"/>
          </p:cNvPicPr>
          <p:nvPr/>
        </p:nvPicPr>
        <p:blipFill>
          <a:blip r:embed="rId10"/>
          <a:stretch>
            <a:fillRect/>
          </a:stretch>
        </p:blipFill>
        <p:spPr>
          <a:xfrm>
            <a:off x="5380099" y="4383152"/>
            <a:ext cx="4789144" cy="2162908"/>
          </a:xfrm>
          <a:prstGeom prst="rect">
            <a:avLst/>
          </a:prstGeom>
          <a:effectLst>
            <a:outerShdw blurRad="50800" dist="38100" dir="2700000" algn="tl" rotWithShape="0">
              <a:prstClr val="black">
                <a:alpha val="40000"/>
              </a:prstClr>
            </a:outerShdw>
          </a:effectLst>
        </p:spPr>
      </p:pic>
      <p:sp>
        <p:nvSpPr>
          <p:cNvPr id="36" name="Rectangle 35">
            <a:extLst>
              <a:ext uri="{FF2B5EF4-FFF2-40B4-BE49-F238E27FC236}">
                <a16:creationId xmlns:a16="http://schemas.microsoft.com/office/drawing/2014/main" id="{BD55BE91-2845-498B-BF79-93A67EE6D556}"/>
              </a:ext>
            </a:extLst>
          </p:cNvPr>
          <p:cNvSpPr/>
          <p:nvPr/>
        </p:nvSpPr>
        <p:spPr>
          <a:xfrm>
            <a:off x="10233351" y="5333470"/>
            <a:ext cx="1786464" cy="1212590"/>
          </a:xfrm>
          <a:prstGeom prst="rect">
            <a:avLst/>
          </a:prstGeom>
          <a:noFill/>
          <a:ln w="19050">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lang="en-US" sz="1100">
                <a:solidFill>
                  <a:schemeClr val="tx1"/>
                </a:solidFill>
                <a:latin typeface="Calibri" panose="020F0502020204030204" pitchFamily="34" charset="0"/>
                <a:cs typeface="Calibri" panose="020F0502020204030204" pitchFamily="34" charset="0"/>
              </a:rPr>
              <a:t>There’s also a folder like this “…_NOIM”. These folders group the flat accounts which would post translation results to themselves against the corresponding CTA accounts as per ERDK.</a:t>
            </a:r>
          </a:p>
        </p:txBody>
      </p:sp>
      <p:sp>
        <p:nvSpPr>
          <p:cNvPr id="35" name="Rectangle 34">
            <a:extLst>
              <a:ext uri="{FF2B5EF4-FFF2-40B4-BE49-F238E27FC236}">
                <a16:creationId xmlns:a16="http://schemas.microsoft.com/office/drawing/2014/main" id="{D81070E1-FF0A-46CB-9DC2-620248A96B13}"/>
              </a:ext>
            </a:extLst>
          </p:cNvPr>
          <p:cNvSpPr/>
          <p:nvPr/>
        </p:nvSpPr>
        <p:spPr>
          <a:xfrm>
            <a:off x="9458036" y="3674880"/>
            <a:ext cx="2554293" cy="1358944"/>
          </a:xfrm>
          <a:prstGeom prst="rect">
            <a:avLst/>
          </a:prstGeom>
          <a:solidFill>
            <a:schemeClr val="bg1"/>
          </a:solidFill>
          <a:ln w="1905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lang="en-US" sz="1100">
                <a:solidFill>
                  <a:schemeClr val="tx1"/>
                </a:solidFill>
                <a:latin typeface="Calibri" panose="020F0502020204030204" pitchFamily="34" charset="0"/>
                <a:cs typeface="Calibri" panose="020F0502020204030204" pitchFamily="34" charset="0"/>
              </a:rPr>
              <a:t>Under the folders of each FX Adjustment account, are the “original” G/L accounts which have their CTA amount posted against the corresponding FX Adjustment account. E.g. in this example, G/L 152002 has ERDK 9330 assigned to its G/L master and the translation posting for this account is posted to 152009 against CTA 279330.</a:t>
            </a:r>
          </a:p>
        </p:txBody>
      </p:sp>
    </p:spTree>
    <p:extLst>
      <p:ext uri="{BB962C8B-B14F-4D97-AF65-F5344CB8AC3E}">
        <p14:creationId xmlns:p14="http://schemas.microsoft.com/office/powerpoint/2010/main" val="1985116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F4A0C-7349-1D9B-F167-DE82DF5D9EE8}"/>
              </a:ext>
            </a:extLst>
          </p:cNvPr>
          <p:cNvSpPr>
            <a:spLocks noGrp="1"/>
          </p:cNvSpPr>
          <p:nvPr>
            <p:ph type="title"/>
          </p:nvPr>
        </p:nvSpPr>
        <p:spPr/>
        <p:txBody>
          <a:bodyPr/>
          <a:lstStyle/>
          <a:p>
            <a:r>
              <a:rPr lang="en-GB" dirty="0"/>
              <a:t>Currency Translation - </a:t>
            </a:r>
            <a:r>
              <a:rPr lang="en-GB" cap="none" dirty="0"/>
              <a:t>Common Errors</a:t>
            </a:r>
            <a:endParaRPr lang="en-US" dirty="0"/>
          </a:p>
        </p:txBody>
      </p:sp>
      <p:sp>
        <p:nvSpPr>
          <p:cNvPr id="5" name="Slide Number Placeholder 4">
            <a:extLst>
              <a:ext uri="{FF2B5EF4-FFF2-40B4-BE49-F238E27FC236}">
                <a16:creationId xmlns:a16="http://schemas.microsoft.com/office/drawing/2014/main" id="{D644F4AD-E455-9BEA-3382-5D6C83A73940}"/>
              </a:ext>
            </a:extLst>
          </p:cNvPr>
          <p:cNvSpPr>
            <a:spLocks noGrp="1"/>
          </p:cNvSpPr>
          <p:nvPr>
            <p:ph type="sldNum" sz="quarter" idx="12"/>
          </p:nvPr>
        </p:nvSpPr>
        <p:spPr/>
        <p:txBody>
          <a:bodyPr/>
          <a:lstStyle/>
          <a:p>
            <a:fld id="{F4C94289-3309-4C35-850A-56FD49B3E346}" type="slidenum">
              <a:rPr lang="en-GB" smtClean="0"/>
              <a:t>10</a:t>
            </a:fld>
            <a:endParaRPr lang="en-GB"/>
          </a:p>
        </p:txBody>
      </p:sp>
      <p:sp>
        <p:nvSpPr>
          <p:cNvPr id="7" name="TextBox 6">
            <a:extLst>
              <a:ext uri="{FF2B5EF4-FFF2-40B4-BE49-F238E27FC236}">
                <a16:creationId xmlns:a16="http://schemas.microsoft.com/office/drawing/2014/main" id="{D01373D6-CC4E-4CDD-BEAC-48E4124B3143}"/>
              </a:ext>
            </a:extLst>
          </p:cNvPr>
          <p:cNvSpPr txBox="1"/>
          <p:nvPr/>
        </p:nvSpPr>
        <p:spPr>
          <a:xfrm>
            <a:off x="365590" y="1427303"/>
            <a:ext cx="11283853" cy="276999"/>
          </a:xfrm>
          <a:prstGeom prst="rect">
            <a:avLst/>
          </a:prstGeom>
          <a:ln/>
        </p:spPr>
        <p:style>
          <a:lnRef idx="0">
            <a:schemeClr val="accent3"/>
          </a:lnRef>
          <a:fillRef idx="3">
            <a:schemeClr val="accent3"/>
          </a:fillRef>
          <a:effectRef idx="3">
            <a:schemeClr val="accent3"/>
          </a:effectRef>
          <a:fontRef idx="minor">
            <a:schemeClr val="lt1"/>
          </a:fontRef>
        </p:style>
        <p:txBody>
          <a:bodyPr wrap="square">
            <a:spAutoFit/>
          </a:bodyPr>
          <a:lstStyle>
            <a:defPPr>
              <a:defRPr lang="en-US"/>
            </a:defPPr>
            <a:lvl1pPr>
              <a:defRPr sz="1200"/>
            </a:lvl1pPr>
          </a:lstStyle>
          <a:p>
            <a:r>
              <a:rPr lang="en-US" sz="1200" dirty="0"/>
              <a:t>Detail of the “Errors” can be checked from the “Output Logs”. GL Team needs to check the error and work as per the resolution mentioned below.</a:t>
            </a:r>
          </a:p>
        </p:txBody>
      </p:sp>
      <p:graphicFrame>
        <p:nvGraphicFramePr>
          <p:cNvPr id="8" name="Table 7">
            <a:extLst>
              <a:ext uri="{FF2B5EF4-FFF2-40B4-BE49-F238E27FC236}">
                <a16:creationId xmlns:a16="http://schemas.microsoft.com/office/drawing/2014/main" id="{98630F5E-C7F8-414E-EA1E-4FE5F403F76E}"/>
              </a:ext>
            </a:extLst>
          </p:cNvPr>
          <p:cNvGraphicFramePr>
            <a:graphicFrameLocks noGrp="1"/>
          </p:cNvGraphicFramePr>
          <p:nvPr/>
        </p:nvGraphicFramePr>
        <p:xfrm>
          <a:off x="365590" y="1787337"/>
          <a:ext cx="11310471" cy="2092285"/>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861428">
                  <a:extLst>
                    <a:ext uri="{9D8B030D-6E8A-4147-A177-3AD203B41FA5}">
                      <a16:colId xmlns:a16="http://schemas.microsoft.com/office/drawing/2014/main" val="9356114"/>
                    </a:ext>
                  </a:extLst>
                </a:gridCol>
                <a:gridCol w="4678886">
                  <a:extLst>
                    <a:ext uri="{9D8B030D-6E8A-4147-A177-3AD203B41FA5}">
                      <a16:colId xmlns:a16="http://schemas.microsoft.com/office/drawing/2014/main" val="1965869314"/>
                    </a:ext>
                  </a:extLst>
                </a:gridCol>
                <a:gridCol w="3770157">
                  <a:extLst>
                    <a:ext uri="{9D8B030D-6E8A-4147-A177-3AD203B41FA5}">
                      <a16:colId xmlns:a16="http://schemas.microsoft.com/office/drawing/2014/main" val="566335056"/>
                    </a:ext>
                  </a:extLst>
                </a:gridCol>
              </a:tblGrid>
              <a:tr h="622895">
                <a:tc>
                  <a:txBody>
                    <a:bodyPr/>
                    <a:lstStyle/>
                    <a:p>
                      <a:pPr algn="ctr" fontAlgn="b"/>
                      <a:r>
                        <a:rPr lang="en-US" sz="1200" b="1" i="0" u="none" strike="noStrike">
                          <a:solidFill>
                            <a:schemeClr val="tx1"/>
                          </a:solidFill>
                          <a:effectLst/>
                          <a:latin typeface="+mn-lt"/>
                        </a:rPr>
                        <a:t>Errors</a:t>
                      </a:r>
                    </a:p>
                  </a:txBody>
                  <a:tcPr marL="72000" marR="6350" marT="6350" marB="0" anchor="ctr"/>
                </a:tc>
                <a:tc>
                  <a:txBody>
                    <a:bodyPr/>
                    <a:lstStyle/>
                    <a:p>
                      <a:pPr algn="ctr" fontAlgn="b"/>
                      <a:r>
                        <a:rPr lang="en-US" sz="1200" b="1" i="0" u="none" strike="noStrike">
                          <a:solidFill>
                            <a:schemeClr val="tx1"/>
                          </a:solidFill>
                          <a:effectLst/>
                          <a:latin typeface="+mn-lt"/>
                        </a:rPr>
                        <a:t>Error Description (Reason)</a:t>
                      </a:r>
                    </a:p>
                  </a:txBody>
                  <a:tcPr marL="72000" marR="6350" marT="6350" marB="0" anchor="ctr"/>
                </a:tc>
                <a:tc>
                  <a:txBody>
                    <a:bodyPr/>
                    <a:lstStyle/>
                    <a:p>
                      <a:pPr algn="ctr" fontAlgn="b"/>
                      <a:r>
                        <a:rPr lang="en-US" sz="1200" b="1" i="0" u="none" strike="noStrike">
                          <a:solidFill>
                            <a:schemeClr val="tx1"/>
                          </a:solidFill>
                          <a:effectLst/>
                          <a:latin typeface="+mn-lt"/>
                        </a:rPr>
                        <a:t>Resolution </a:t>
                      </a:r>
                    </a:p>
                  </a:txBody>
                  <a:tcPr marL="72000" marR="6350" marT="6350" marB="0" anchor="ctr"/>
                </a:tc>
                <a:extLst>
                  <a:ext uri="{0D108BD9-81ED-4DB2-BD59-A6C34878D82A}">
                    <a16:rowId xmlns:a16="http://schemas.microsoft.com/office/drawing/2014/main" val="409099569"/>
                  </a:ext>
                </a:extLst>
              </a:tr>
              <a:tr h="537862">
                <a:tc>
                  <a:txBody>
                    <a:bodyPr/>
                    <a:lstStyle/>
                    <a:p>
                      <a:r>
                        <a:rPr lang="en-US" sz="1200">
                          <a:solidFill>
                            <a:schemeClr val="tx1"/>
                          </a:solidFill>
                        </a:rPr>
                        <a:t>Account determination for account XXX: </a:t>
                      </a:r>
                    </a:p>
                    <a:p>
                      <a:endParaRPr lang="en-US" sz="1200">
                        <a:solidFill>
                          <a:schemeClr val="tx1"/>
                        </a:solidFill>
                      </a:endParaRPr>
                    </a:p>
                    <a:p>
                      <a:r>
                        <a:rPr lang="en-US" sz="1200">
                          <a:solidFill>
                            <a:schemeClr val="tx1"/>
                          </a:solidFill>
                        </a:rPr>
                        <a:t>Account XXX missing in company code</a:t>
                      </a:r>
                    </a:p>
                    <a:p>
                      <a:r>
                        <a:rPr lang="en-US" sz="1200">
                          <a:solidFill>
                            <a:schemeClr val="tx1"/>
                          </a:solidFill>
                        </a:rPr>
                        <a:t>G/L account XXX is not defined in company code.</a:t>
                      </a:r>
                    </a:p>
                    <a:p>
                      <a:endParaRPr lang="en-US" sz="1200">
                        <a:solidFill>
                          <a:schemeClr val="tx1"/>
                        </a:solidFill>
                      </a:endParaRPr>
                    </a:p>
                    <a:p>
                      <a:r>
                        <a:rPr lang="en-US" sz="1200">
                          <a:solidFill>
                            <a:schemeClr val="tx1"/>
                          </a:solidFill>
                        </a:rPr>
                        <a:t>G/L account does not exist in company code</a:t>
                      </a:r>
                    </a:p>
                  </a:txBody>
                  <a:tcPr marL="72000" marR="6350" marT="6350" marB="0" anchor="ctr"/>
                </a:tc>
                <a:tc>
                  <a:txBody>
                    <a:bodyPr/>
                    <a:lstStyle/>
                    <a:p>
                      <a:r>
                        <a:rPr lang="en-US" sz="1200">
                          <a:solidFill>
                            <a:schemeClr val="tx1"/>
                          </a:solidFill>
                        </a:rPr>
                        <a:t>These error occurs when G/L Account does not exist in Company Code</a:t>
                      </a:r>
                      <a:endParaRPr lang="en-US" sz="1200">
                        <a:solidFill>
                          <a:schemeClr val="tx1"/>
                        </a:solidFill>
                        <a:latin typeface="+mn-lt"/>
                      </a:endParaRPr>
                    </a:p>
                  </a:txBody>
                  <a:tcPr marL="72000" marR="6350" marT="6350" marB="0" anchor="ctr"/>
                </a:tc>
                <a:tc>
                  <a:txBody>
                    <a:bodyPr/>
                    <a:lstStyle/>
                    <a:p>
                      <a:r>
                        <a:rPr lang="en-US" sz="1200" dirty="0">
                          <a:solidFill>
                            <a:schemeClr val="tx1"/>
                          </a:solidFill>
                        </a:rPr>
                        <a:t>GL Team to ask Market to create required account. </a:t>
                      </a:r>
                    </a:p>
                    <a:p>
                      <a:r>
                        <a:rPr lang="en-US" sz="1200" dirty="0">
                          <a:solidFill>
                            <a:schemeClr val="tx1"/>
                          </a:solidFill>
                        </a:rPr>
                        <a:t>If amount is immaterial, it is ok to change status to “checked” in FCC, if material it might be a subject to HQ</a:t>
                      </a:r>
                    </a:p>
                    <a:p>
                      <a:endParaRPr lang="en-US" sz="1200" dirty="0">
                        <a:solidFill>
                          <a:schemeClr val="tx1"/>
                        </a:solidFill>
                        <a:latin typeface="+mn-lt"/>
                      </a:endParaRPr>
                    </a:p>
                  </a:txBody>
                  <a:tcPr marL="72000" marR="6350" marT="6350" marB="0" anchor="ctr"/>
                </a:tc>
                <a:extLst>
                  <a:ext uri="{0D108BD9-81ED-4DB2-BD59-A6C34878D82A}">
                    <a16:rowId xmlns:a16="http://schemas.microsoft.com/office/drawing/2014/main" val="583018577"/>
                  </a:ext>
                </a:extLst>
              </a:tr>
            </a:tbl>
          </a:graphicData>
        </a:graphic>
      </p:graphicFrame>
      <p:pic>
        <p:nvPicPr>
          <p:cNvPr id="9" name="Picture 8">
            <a:extLst>
              <a:ext uri="{FF2B5EF4-FFF2-40B4-BE49-F238E27FC236}">
                <a16:creationId xmlns:a16="http://schemas.microsoft.com/office/drawing/2014/main" id="{60E02923-084D-3361-8D69-1B68E8585B12}"/>
              </a:ext>
            </a:extLst>
          </p:cNvPr>
          <p:cNvPicPr>
            <a:picLocks noChangeAspect="1"/>
          </p:cNvPicPr>
          <p:nvPr/>
        </p:nvPicPr>
        <p:blipFill>
          <a:blip r:embed="rId2"/>
          <a:stretch>
            <a:fillRect/>
          </a:stretch>
        </p:blipFill>
        <p:spPr>
          <a:xfrm>
            <a:off x="447694" y="4146357"/>
            <a:ext cx="4875051" cy="628143"/>
          </a:xfrm>
          <a:prstGeom prst="rect">
            <a:avLst/>
          </a:prstGeom>
          <a:effectLst>
            <a:outerShdw blurRad="63500" sx="102000" sy="102000" algn="ctr" rotWithShape="0">
              <a:prstClr val="black">
                <a:alpha val="40000"/>
              </a:prstClr>
            </a:outerShdw>
          </a:effectLst>
        </p:spPr>
      </p:pic>
      <p:pic>
        <p:nvPicPr>
          <p:cNvPr id="10" name="Picture 9">
            <a:extLst>
              <a:ext uri="{FF2B5EF4-FFF2-40B4-BE49-F238E27FC236}">
                <a16:creationId xmlns:a16="http://schemas.microsoft.com/office/drawing/2014/main" id="{6CBBF4C0-75AB-EC42-9C48-0EA4D8D49804}"/>
              </a:ext>
              <a:ext uri="{147F2762-F138-4A5C-976F-8EAC2B608ADB}">
                <a16:predDERef xmlns:a16="http://schemas.microsoft.com/office/drawing/2014/main" pred="{0AA92C70-C715-AE34-1DD6-948E96390D54}"/>
              </a:ext>
            </a:extLst>
          </p:cNvPr>
          <p:cNvPicPr>
            <a:picLocks noChangeAspect="1"/>
          </p:cNvPicPr>
          <p:nvPr/>
        </p:nvPicPr>
        <p:blipFill>
          <a:blip r:embed="rId3"/>
          <a:stretch>
            <a:fillRect/>
          </a:stretch>
        </p:blipFill>
        <p:spPr>
          <a:xfrm>
            <a:off x="447694" y="5041235"/>
            <a:ext cx="4618292" cy="1475980"/>
          </a:xfrm>
          <a:prstGeom prst="rect">
            <a:avLst/>
          </a:prstGeom>
          <a:effectLst>
            <a:outerShdw blurRad="63500" sx="102000" sy="102000" algn="ctr" rotWithShape="0">
              <a:prstClr val="black">
                <a:alpha val="40000"/>
              </a:prstClr>
            </a:outerShdw>
          </a:effectLst>
        </p:spPr>
      </p:pic>
      <p:pic>
        <p:nvPicPr>
          <p:cNvPr id="11" name="Picture 10">
            <a:extLst>
              <a:ext uri="{FF2B5EF4-FFF2-40B4-BE49-F238E27FC236}">
                <a16:creationId xmlns:a16="http://schemas.microsoft.com/office/drawing/2014/main" id="{04C0EBEF-0888-7531-94D3-AD50E0D98169}"/>
              </a:ext>
              <a:ext uri="{147F2762-F138-4A5C-976F-8EAC2B608ADB}">
                <a16:predDERef xmlns:a16="http://schemas.microsoft.com/office/drawing/2014/main" pred="{6D84D9C3-C536-CD5E-C62B-B44ED904089B}"/>
              </a:ext>
            </a:extLst>
          </p:cNvPr>
          <p:cNvPicPr>
            <a:picLocks noChangeAspect="1"/>
          </p:cNvPicPr>
          <p:nvPr/>
        </p:nvPicPr>
        <p:blipFill>
          <a:blip r:embed="rId4"/>
          <a:stretch>
            <a:fillRect/>
          </a:stretch>
        </p:blipFill>
        <p:spPr>
          <a:xfrm>
            <a:off x="5620057" y="4101795"/>
            <a:ext cx="5857373" cy="939440"/>
          </a:xfrm>
          <a:prstGeom prst="rect">
            <a:avLst/>
          </a:prstGeom>
          <a:effectLst>
            <a:outerShdw blurRad="63500" sx="102000" sy="102000" algn="ctr" rotWithShape="0">
              <a:prstClr val="black">
                <a:alpha val="40000"/>
              </a:prstClr>
            </a:outerShdw>
          </a:effectLst>
        </p:spPr>
      </p:pic>
      <p:pic>
        <p:nvPicPr>
          <p:cNvPr id="12" name="Picture 11">
            <a:extLst>
              <a:ext uri="{FF2B5EF4-FFF2-40B4-BE49-F238E27FC236}">
                <a16:creationId xmlns:a16="http://schemas.microsoft.com/office/drawing/2014/main" id="{A0EEE4C8-25E8-41FB-58B6-BE360B2BF400}"/>
              </a:ext>
              <a:ext uri="{147F2762-F138-4A5C-976F-8EAC2B608ADB}">
                <a16:predDERef xmlns:a16="http://schemas.microsoft.com/office/drawing/2014/main" pred="{74450C48-5FFD-F350-5696-FCB1B4282F27}"/>
              </a:ext>
            </a:extLst>
          </p:cNvPr>
          <p:cNvPicPr>
            <a:picLocks noChangeAspect="1"/>
          </p:cNvPicPr>
          <p:nvPr/>
        </p:nvPicPr>
        <p:blipFill>
          <a:blip r:embed="rId5"/>
          <a:stretch>
            <a:fillRect/>
          </a:stretch>
        </p:blipFill>
        <p:spPr>
          <a:xfrm>
            <a:off x="5620057" y="5135908"/>
            <a:ext cx="5857371" cy="1344175"/>
          </a:xfrm>
          <a:prstGeom prst="rect">
            <a:avLst/>
          </a:prstGeom>
          <a:effectLst>
            <a:outerShdw blurRad="63500" sx="102000" sy="102000" algn="ctr" rotWithShape="0">
              <a:prstClr val="black">
                <a:alpha val="40000"/>
              </a:prstClr>
            </a:outerShdw>
          </a:effectLst>
        </p:spPr>
      </p:pic>
      <p:sp>
        <p:nvSpPr>
          <p:cNvPr id="13" name="Rectangle 12">
            <a:extLst>
              <a:ext uri="{FF2B5EF4-FFF2-40B4-BE49-F238E27FC236}">
                <a16:creationId xmlns:a16="http://schemas.microsoft.com/office/drawing/2014/main" id="{F535D72A-251E-CF50-FB1F-076617CB20F8}"/>
              </a:ext>
            </a:extLst>
          </p:cNvPr>
          <p:cNvSpPr/>
          <p:nvPr/>
        </p:nvSpPr>
        <p:spPr>
          <a:xfrm>
            <a:off x="5620058" y="4371818"/>
            <a:ext cx="3555474" cy="20018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261335-C75F-658D-FC2C-57F745B28085}"/>
              </a:ext>
            </a:extLst>
          </p:cNvPr>
          <p:cNvSpPr/>
          <p:nvPr/>
        </p:nvSpPr>
        <p:spPr>
          <a:xfrm>
            <a:off x="5620057" y="5973736"/>
            <a:ext cx="5247640" cy="20018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5B352E1-9121-2F03-E277-01FBF3728457}"/>
              </a:ext>
            </a:extLst>
          </p:cNvPr>
          <p:cNvSpPr/>
          <p:nvPr/>
        </p:nvSpPr>
        <p:spPr>
          <a:xfrm>
            <a:off x="372417" y="5351626"/>
            <a:ext cx="2002921" cy="16630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CFAEA69-990E-6A3E-FCE6-0F1B2E35595A}"/>
              </a:ext>
            </a:extLst>
          </p:cNvPr>
          <p:cNvSpPr/>
          <p:nvPr/>
        </p:nvSpPr>
        <p:spPr>
          <a:xfrm>
            <a:off x="447693" y="4498185"/>
            <a:ext cx="4754928" cy="27631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3696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F3714B6-A2D1-E6F3-6B9B-E6B2E775B7BA}"/>
              </a:ext>
              <a:ext uri="{147F2762-F138-4A5C-976F-8EAC2B608ADB}">
                <a16:predDERef xmlns:a16="http://schemas.microsoft.com/office/drawing/2014/main" pred="{1928192C-0D8D-7FC3-9717-6BC9FAC98494}"/>
              </a:ext>
            </a:extLst>
          </p:cNvPr>
          <p:cNvPicPr>
            <a:picLocks noChangeAspect="1"/>
          </p:cNvPicPr>
          <p:nvPr/>
        </p:nvPicPr>
        <p:blipFill>
          <a:blip r:embed="rId2"/>
          <a:stretch>
            <a:fillRect/>
          </a:stretch>
        </p:blipFill>
        <p:spPr>
          <a:xfrm>
            <a:off x="6441361" y="4805646"/>
            <a:ext cx="4879538" cy="1924681"/>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94CE9FC9-E76C-932D-D4AE-CB521BC2675A}"/>
              </a:ext>
              <a:ext uri="{147F2762-F138-4A5C-976F-8EAC2B608ADB}">
                <a16:predDERef xmlns:a16="http://schemas.microsoft.com/office/drawing/2014/main" pred="{00000000-0008-0000-0F00-000005000000}"/>
              </a:ext>
            </a:extLst>
          </p:cNvPr>
          <p:cNvPicPr>
            <a:picLocks noChangeAspect="1"/>
          </p:cNvPicPr>
          <p:nvPr/>
        </p:nvPicPr>
        <p:blipFill>
          <a:blip r:embed="rId3"/>
          <a:stretch>
            <a:fillRect/>
          </a:stretch>
        </p:blipFill>
        <p:spPr>
          <a:xfrm>
            <a:off x="365590" y="4922874"/>
            <a:ext cx="5584316" cy="1724782"/>
          </a:xfrm>
          <a:prstGeom prst="rect">
            <a:avLst/>
          </a:prstGeom>
          <a:effectLst>
            <a:outerShdw blurRad="63500" sx="102000" sy="102000" algn="ctr" rotWithShape="0">
              <a:prstClr val="black">
                <a:alpha val="40000"/>
              </a:prstClr>
            </a:outerShdw>
          </a:effectLst>
        </p:spPr>
      </p:pic>
      <p:sp>
        <p:nvSpPr>
          <p:cNvPr id="2" name="Title 1">
            <a:extLst>
              <a:ext uri="{FF2B5EF4-FFF2-40B4-BE49-F238E27FC236}">
                <a16:creationId xmlns:a16="http://schemas.microsoft.com/office/drawing/2014/main" id="{33EF4A0C-7349-1D9B-F167-DE82DF5D9EE8}"/>
              </a:ext>
            </a:extLst>
          </p:cNvPr>
          <p:cNvSpPr>
            <a:spLocks noGrp="1"/>
          </p:cNvSpPr>
          <p:nvPr>
            <p:ph type="title"/>
          </p:nvPr>
        </p:nvSpPr>
        <p:spPr/>
        <p:txBody>
          <a:bodyPr/>
          <a:lstStyle/>
          <a:p>
            <a:r>
              <a:rPr lang="en-GB" dirty="0"/>
              <a:t>Currency Translation - </a:t>
            </a:r>
            <a:r>
              <a:rPr lang="en-GB" cap="none" dirty="0"/>
              <a:t>Common Errors</a:t>
            </a:r>
            <a:endParaRPr lang="en-US" dirty="0"/>
          </a:p>
        </p:txBody>
      </p:sp>
      <p:sp>
        <p:nvSpPr>
          <p:cNvPr id="5" name="Slide Number Placeholder 4">
            <a:extLst>
              <a:ext uri="{FF2B5EF4-FFF2-40B4-BE49-F238E27FC236}">
                <a16:creationId xmlns:a16="http://schemas.microsoft.com/office/drawing/2014/main" id="{D644F4AD-E455-9BEA-3382-5D6C83A73940}"/>
              </a:ext>
            </a:extLst>
          </p:cNvPr>
          <p:cNvSpPr>
            <a:spLocks noGrp="1"/>
          </p:cNvSpPr>
          <p:nvPr>
            <p:ph type="sldNum" sz="quarter" idx="12"/>
          </p:nvPr>
        </p:nvSpPr>
        <p:spPr/>
        <p:txBody>
          <a:bodyPr/>
          <a:lstStyle/>
          <a:p>
            <a:fld id="{F4C94289-3309-4C35-850A-56FD49B3E346}" type="slidenum">
              <a:rPr lang="en-GB" smtClean="0"/>
              <a:t>11</a:t>
            </a:fld>
            <a:endParaRPr lang="en-GB"/>
          </a:p>
        </p:txBody>
      </p:sp>
      <p:graphicFrame>
        <p:nvGraphicFramePr>
          <p:cNvPr id="8" name="Table 7">
            <a:extLst>
              <a:ext uri="{FF2B5EF4-FFF2-40B4-BE49-F238E27FC236}">
                <a16:creationId xmlns:a16="http://schemas.microsoft.com/office/drawing/2014/main" id="{98630F5E-C7F8-414E-EA1E-4FE5F403F76E}"/>
              </a:ext>
            </a:extLst>
          </p:cNvPr>
          <p:cNvGraphicFramePr>
            <a:graphicFrameLocks noGrp="1"/>
          </p:cNvGraphicFramePr>
          <p:nvPr/>
        </p:nvGraphicFramePr>
        <p:xfrm>
          <a:off x="365587" y="1424671"/>
          <a:ext cx="11310471" cy="3297966"/>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861428">
                  <a:extLst>
                    <a:ext uri="{9D8B030D-6E8A-4147-A177-3AD203B41FA5}">
                      <a16:colId xmlns:a16="http://schemas.microsoft.com/office/drawing/2014/main" val="9356114"/>
                    </a:ext>
                  </a:extLst>
                </a:gridCol>
                <a:gridCol w="3554782">
                  <a:extLst>
                    <a:ext uri="{9D8B030D-6E8A-4147-A177-3AD203B41FA5}">
                      <a16:colId xmlns:a16="http://schemas.microsoft.com/office/drawing/2014/main" val="1965869314"/>
                    </a:ext>
                  </a:extLst>
                </a:gridCol>
                <a:gridCol w="4894261">
                  <a:extLst>
                    <a:ext uri="{9D8B030D-6E8A-4147-A177-3AD203B41FA5}">
                      <a16:colId xmlns:a16="http://schemas.microsoft.com/office/drawing/2014/main" val="566335056"/>
                    </a:ext>
                  </a:extLst>
                </a:gridCol>
              </a:tblGrid>
              <a:tr h="397008">
                <a:tc>
                  <a:txBody>
                    <a:bodyPr/>
                    <a:lstStyle/>
                    <a:p>
                      <a:pPr algn="ctr" fontAlgn="b"/>
                      <a:r>
                        <a:rPr lang="en-US" sz="1000" b="1" i="0" u="none" strike="noStrike">
                          <a:solidFill>
                            <a:schemeClr val="tx1"/>
                          </a:solidFill>
                          <a:effectLst/>
                          <a:latin typeface="+mn-lt"/>
                        </a:rPr>
                        <a:t>Errors</a:t>
                      </a:r>
                    </a:p>
                  </a:txBody>
                  <a:tcPr marL="72000" marR="6350" marT="6350" marB="0" anchor="ctr"/>
                </a:tc>
                <a:tc>
                  <a:txBody>
                    <a:bodyPr/>
                    <a:lstStyle/>
                    <a:p>
                      <a:pPr algn="ctr" fontAlgn="b"/>
                      <a:r>
                        <a:rPr lang="en-US" sz="1000" b="1" i="0" u="none" strike="noStrike">
                          <a:solidFill>
                            <a:schemeClr val="tx1"/>
                          </a:solidFill>
                          <a:effectLst/>
                          <a:latin typeface="+mn-lt"/>
                        </a:rPr>
                        <a:t>Error Description (Reason)</a:t>
                      </a:r>
                    </a:p>
                  </a:txBody>
                  <a:tcPr marL="72000" marR="6350" marT="6350" marB="0" anchor="ctr"/>
                </a:tc>
                <a:tc>
                  <a:txBody>
                    <a:bodyPr/>
                    <a:lstStyle/>
                    <a:p>
                      <a:pPr algn="ctr" fontAlgn="b"/>
                      <a:r>
                        <a:rPr lang="en-US" sz="1000" b="1" i="0" u="none" strike="noStrike">
                          <a:solidFill>
                            <a:schemeClr val="tx1"/>
                          </a:solidFill>
                          <a:effectLst/>
                          <a:latin typeface="+mn-lt"/>
                        </a:rPr>
                        <a:t>Resolution </a:t>
                      </a:r>
                    </a:p>
                  </a:txBody>
                  <a:tcPr marL="72000" marR="6350" marT="6350" marB="0" anchor="ctr"/>
                </a:tc>
                <a:extLst>
                  <a:ext uri="{0D108BD9-81ED-4DB2-BD59-A6C34878D82A}">
                    <a16:rowId xmlns:a16="http://schemas.microsoft.com/office/drawing/2014/main" val="409099569"/>
                  </a:ext>
                </a:extLst>
              </a:tr>
              <a:tr h="1995536">
                <a:tc>
                  <a:txBody>
                    <a:bodyPr/>
                    <a:lstStyle/>
                    <a:p>
                      <a:r>
                        <a:rPr lang="en-US" sz="1000">
                          <a:solidFill>
                            <a:schemeClr val="tx1"/>
                          </a:solidFill>
                        </a:rPr>
                        <a:t>Account XXX is blocked for posting</a:t>
                      </a:r>
                    </a:p>
                  </a:txBody>
                  <a:tcPr marL="72000" marR="6350" marT="6350" marB="0" anchor="ctr"/>
                </a:tc>
                <a:tc>
                  <a:txBody>
                    <a:bodyPr/>
                    <a:lstStyle/>
                    <a:p>
                      <a:r>
                        <a:rPr lang="en-US" sz="1000">
                          <a:solidFill>
                            <a:schemeClr val="tx1"/>
                          </a:solidFill>
                        </a:rPr>
                        <a:t>This error occurs when Account is not in use in Company Code and block for posting.</a:t>
                      </a:r>
                      <a:endParaRPr lang="en-US" sz="1000">
                        <a:solidFill>
                          <a:schemeClr val="tx1"/>
                        </a:solidFill>
                        <a:latin typeface="+mn-lt"/>
                      </a:endParaRPr>
                    </a:p>
                  </a:txBody>
                  <a:tcPr marL="72000" marR="6350" marT="6350" marB="0" anchor="ctr"/>
                </a:tc>
                <a:tc>
                  <a:txBody>
                    <a:bodyPr/>
                    <a:lstStyle/>
                    <a:p>
                      <a:pPr marL="0" indent="0">
                        <a:buNone/>
                      </a:pPr>
                      <a:r>
                        <a:rPr lang="en-US" sz="1000" dirty="0">
                          <a:solidFill>
                            <a:schemeClr val="tx1"/>
                          </a:solidFill>
                        </a:rPr>
                        <a:t>GL Team needs to check the balance on the account:</a:t>
                      </a:r>
                    </a:p>
                    <a:p>
                      <a:pPr marL="228600" indent="-228600">
                        <a:buFont typeface="Arial" panose="020B0604020202020204" pitchFamily="34" charset="0"/>
                        <a:buChar char="•"/>
                      </a:pPr>
                      <a:r>
                        <a:rPr lang="en-US" sz="1000" dirty="0">
                          <a:solidFill>
                            <a:schemeClr val="tx1"/>
                          </a:solidFill>
                        </a:rPr>
                        <a:t>If there is a balance and amount is not material, GL Team  contacts Market to unblock account a</a:t>
                      </a:r>
                      <a:r>
                        <a:rPr lang="ru-RU" sz="1000" dirty="0">
                          <a:solidFill>
                            <a:schemeClr val="tx1"/>
                          </a:solidFill>
                        </a:rPr>
                        <a:t>т</a:t>
                      </a:r>
                      <a:r>
                        <a:rPr lang="en-US" sz="1000" dirty="0">
                          <a:solidFill>
                            <a:schemeClr val="tx1"/>
                          </a:solidFill>
                        </a:rPr>
                        <a:t>d clean-up the balance  for next period. </a:t>
                      </a:r>
                    </a:p>
                    <a:p>
                      <a:pPr marL="228600" indent="-228600">
                        <a:buFont typeface="Arial" panose="020B0604020202020204" pitchFamily="34" charset="0"/>
                        <a:buChar char="•"/>
                      </a:pPr>
                      <a:r>
                        <a:rPr lang="en-US" sz="1000" dirty="0">
                          <a:solidFill>
                            <a:schemeClr val="tx1"/>
                          </a:solidFill>
                        </a:rPr>
                        <a:t>If amount is material, GL Team needs to ask Market to unblock account for the same period. Once account is unblocked GL Team can run the translation for this particular account  manually. If Market is not be able to unblock account quickly then HQ journal will be required.</a:t>
                      </a:r>
                    </a:p>
                    <a:p>
                      <a:pPr marL="228600" indent="-228600">
                        <a:buFont typeface="Arial" panose="020B0604020202020204" pitchFamily="34" charset="0"/>
                        <a:buChar char="•"/>
                      </a:pPr>
                      <a:r>
                        <a:rPr lang="en-US" sz="1000" dirty="0">
                          <a:solidFill>
                            <a:schemeClr val="tx1"/>
                          </a:solidFill>
                        </a:rPr>
                        <a:t>If account balance is zero GL Team needs to check whether posting on blocked account is </a:t>
                      </a:r>
                      <a:r>
                        <a:rPr lang="en-US" sz="1000" dirty="0">
                          <a:solidFill>
                            <a:schemeClr val="tx1"/>
                          </a:solidFill>
                          <a:latin typeface="+mn-lt"/>
                        </a:rPr>
                        <a:t>zeroed out on Profit Center and/or Trading partner level. If not, GL Team needs contact market to perform necessary corrections, otherwise the system will be picking up these items for revaluation even though on the account level the balance is zero. </a:t>
                      </a:r>
                    </a:p>
                  </a:txBody>
                  <a:tcPr marL="72000" marR="6350" marT="6350" marB="0" anchor="ctr"/>
                </a:tc>
                <a:extLst>
                  <a:ext uri="{0D108BD9-81ED-4DB2-BD59-A6C34878D82A}">
                    <a16:rowId xmlns:a16="http://schemas.microsoft.com/office/drawing/2014/main" val="583018577"/>
                  </a:ext>
                </a:extLst>
              </a:tr>
              <a:tr h="905422">
                <a:tc>
                  <a:txBody>
                    <a:bodyPr/>
                    <a:lstStyle/>
                    <a:p>
                      <a:r>
                        <a:rPr lang="en-US" sz="1000">
                          <a:solidFill>
                            <a:schemeClr val="tx1"/>
                          </a:solidFill>
                        </a:rPr>
                        <a:t>Balancing field "Profit Center" not filled. </a:t>
                      </a:r>
                    </a:p>
                  </a:txBody>
                  <a:tcPr marL="72000" marR="6350" marT="6350" marB="0" anchor="ctr"/>
                </a:tc>
                <a:tc>
                  <a:txBody>
                    <a:bodyPr/>
                    <a:lstStyle/>
                    <a:p>
                      <a:r>
                        <a:rPr lang="en-US" sz="1000">
                          <a:solidFill>
                            <a:schemeClr val="tx1"/>
                          </a:solidFill>
                        </a:rPr>
                        <a:t>This error occur when initial posting is without Profit Center.</a:t>
                      </a:r>
                      <a:endParaRPr lang="en-US" sz="1000">
                        <a:solidFill>
                          <a:schemeClr val="tx1"/>
                        </a:solidFill>
                        <a:latin typeface="+mn-lt"/>
                      </a:endParaRPr>
                    </a:p>
                  </a:txBody>
                  <a:tcPr marL="72000" marR="6350" marT="6350" marB="0" anchor="ctr"/>
                </a:tc>
                <a:tc>
                  <a:txBody>
                    <a:bodyPr/>
                    <a:lstStyle/>
                    <a:p>
                      <a:r>
                        <a:rPr lang="en-US" sz="1000" dirty="0">
                          <a:solidFill>
                            <a:schemeClr val="tx1"/>
                          </a:solidFill>
                        </a:rPr>
                        <a:t>From S/4HANA perspective, such items are not subject for translation.</a:t>
                      </a:r>
                    </a:p>
                    <a:p>
                      <a:r>
                        <a:rPr lang="en-US" sz="1000" dirty="0">
                          <a:solidFill>
                            <a:schemeClr val="tx1"/>
                          </a:solidFill>
                        </a:rPr>
                        <a:t>Moreover, such documents should not exist in the system at all.</a:t>
                      </a:r>
                    </a:p>
                    <a:p>
                      <a:r>
                        <a:rPr lang="en-US" sz="1000" dirty="0">
                          <a:solidFill>
                            <a:schemeClr val="tx1"/>
                          </a:solidFill>
                        </a:rPr>
                        <a:t>GL Team needs to skip such error message during SM35 processing and discuss with Market how to correct wrongly posted documents.</a:t>
                      </a:r>
                    </a:p>
                    <a:p>
                      <a:r>
                        <a:rPr lang="en-US" sz="1000" dirty="0">
                          <a:solidFill>
                            <a:schemeClr val="tx1"/>
                          </a:solidFill>
                        </a:rPr>
                        <a:t>Workaround - Enter a Profit Center number to clear the items</a:t>
                      </a:r>
                    </a:p>
                  </a:txBody>
                  <a:tcPr marL="72000" marR="6350" marT="6350" marB="0" anchor="ctr"/>
                </a:tc>
                <a:extLst>
                  <a:ext uri="{0D108BD9-81ED-4DB2-BD59-A6C34878D82A}">
                    <a16:rowId xmlns:a16="http://schemas.microsoft.com/office/drawing/2014/main" val="1119786997"/>
                  </a:ext>
                </a:extLst>
              </a:tr>
            </a:tbl>
          </a:graphicData>
        </a:graphic>
      </p:graphicFrame>
      <p:sp>
        <p:nvSpPr>
          <p:cNvPr id="13" name="Rectangle 12">
            <a:extLst>
              <a:ext uri="{FF2B5EF4-FFF2-40B4-BE49-F238E27FC236}">
                <a16:creationId xmlns:a16="http://schemas.microsoft.com/office/drawing/2014/main" id="{F535D72A-251E-CF50-FB1F-076617CB20F8}"/>
              </a:ext>
            </a:extLst>
          </p:cNvPr>
          <p:cNvSpPr/>
          <p:nvPr/>
        </p:nvSpPr>
        <p:spPr>
          <a:xfrm>
            <a:off x="6399262" y="5558331"/>
            <a:ext cx="3555474" cy="283948"/>
          </a:xfrm>
          <a:prstGeom prst="rect">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5B352E1-9121-2F03-E277-01FBF3728457}"/>
              </a:ext>
            </a:extLst>
          </p:cNvPr>
          <p:cNvSpPr/>
          <p:nvPr/>
        </p:nvSpPr>
        <p:spPr>
          <a:xfrm>
            <a:off x="365589" y="5642058"/>
            <a:ext cx="3313275" cy="286414"/>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D6F6D84-30DB-F6FB-1430-68C4F09F1972}"/>
              </a:ext>
            </a:extLst>
          </p:cNvPr>
          <p:cNvSpPr/>
          <p:nvPr/>
        </p:nvSpPr>
        <p:spPr>
          <a:xfrm>
            <a:off x="365589" y="2694978"/>
            <a:ext cx="2303183" cy="286414"/>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B41A3D3-D65F-885F-6E49-226BD875F71A}"/>
              </a:ext>
            </a:extLst>
          </p:cNvPr>
          <p:cNvSpPr/>
          <p:nvPr/>
        </p:nvSpPr>
        <p:spPr>
          <a:xfrm>
            <a:off x="365589" y="4134757"/>
            <a:ext cx="2494569" cy="362815"/>
          </a:xfrm>
          <a:prstGeom prst="rect">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nector: Elbow 9">
            <a:extLst>
              <a:ext uri="{FF2B5EF4-FFF2-40B4-BE49-F238E27FC236}">
                <a16:creationId xmlns:a16="http://schemas.microsoft.com/office/drawing/2014/main" id="{2EA46672-E491-BB33-C925-1D3B74144617}"/>
              </a:ext>
            </a:extLst>
          </p:cNvPr>
          <p:cNvCxnSpPr>
            <a:stCxn id="4" idx="1"/>
            <a:endCxn id="15" idx="1"/>
          </p:cNvCxnSpPr>
          <p:nvPr/>
        </p:nvCxnSpPr>
        <p:spPr>
          <a:xfrm rot="10800000" flipV="1">
            <a:off x="365589" y="2838185"/>
            <a:ext cx="12700" cy="2947080"/>
          </a:xfrm>
          <a:prstGeom prst="bentConnector3">
            <a:avLst>
              <a:gd name="adj1" fmla="val 1800000"/>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41F5B269-4115-27B0-1CDA-CCCAD8D48DCB}"/>
              </a:ext>
            </a:extLst>
          </p:cNvPr>
          <p:cNvCxnSpPr>
            <a:cxnSpLocks/>
            <a:endCxn id="13" idx="1"/>
          </p:cNvCxnSpPr>
          <p:nvPr/>
        </p:nvCxnSpPr>
        <p:spPr>
          <a:xfrm>
            <a:off x="2860158" y="4455853"/>
            <a:ext cx="3539104" cy="1244452"/>
          </a:xfrm>
          <a:prstGeom prst="bentConnector3">
            <a:avLst>
              <a:gd name="adj1" fmla="val 93262"/>
            </a:avLst>
          </a:prstGeom>
          <a:ln w="9525">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3162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7639E7A-B4DE-9647-055C-BFD26C68C0E1}"/>
              </a:ext>
              <a:ext uri="{147F2762-F138-4A5C-976F-8EAC2B608ADB}">
                <a16:predDERef xmlns:a16="http://schemas.microsoft.com/office/drawing/2014/main" pred="{00000000-0008-0000-0F00-00000B000000}"/>
              </a:ext>
            </a:extLst>
          </p:cNvPr>
          <p:cNvPicPr>
            <a:picLocks noChangeAspect="1"/>
          </p:cNvPicPr>
          <p:nvPr/>
        </p:nvPicPr>
        <p:blipFill>
          <a:blip r:embed="rId2"/>
          <a:stretch>
            <a:fillRect/>
          </a:stretch>
        </p:blipFill>
        <p:spPr>
          <a:xfrm>
            <a:off x="6268372" y="3783724"/>
            <a:ext cx="4838056" cy="1750368"/>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32EEB2D0-71B5-050F-B3A6-E2F6972472E8}"/>
              </a:ext>
              <a:ext uri="{147F2762-F138-4A5C-976F-8EAC2B608ADB}">
                <a16:predDERef xmlns:a16="http://schemas.microsoft.com/office/drawing/2014/main" pred="{00000000-0008-0000-0F00-00000A000000}"/>
              </a:ext>
            </a:extLst>
          </p:cNvPr>
          <p:cNvPicPr>
            <a:picLocks noChangeAspect="1"/>
          </p:cNvPicPr>
          <p:nvPr/>
        </p:nvPicPr>
        <p:blipFill>
          <a:blip r:embed="rId3"/>
          <a:stretch>
            <a:fillRect/>
          </a:stretch>
        </p:blipFill>
        <p:spPr>
          <a:xfrm>
            <a:off x="409575" y="3688100"/>
            <a:ext cx="5686425" cy="1808811"/>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33EF4A0C-7349-1D9B-F167-DE82DF5D9EE8}"/>
              </a:ext>
            </a:extLst>
          </p:cNvPr>
          <p:cNvSpPr>
            <a:spLocks noGrp="1"/>
          </p:cNvSpPr>
          <p:nvPr>
            <p:ph type="title"/>
          </p:nvPr>
        </p:nvSpPr>
        <p:spPr/>
        <p:txBody>
          <a:bodyPr/>
          <a:lstStyle/>
          <a:p>
            <a:r>
              <a:rPr lang="en-GB" dirty="0"/>
              <a:t>Currency Translation - </a:t>
            </a:r>
            <a:r>
              <a:rPr lang="en-GB" cap="none" dirty="0"/>
              <a:t>Common Errors</a:t>
            </a:r>
            <a:endParaRPr lang="en-US" dirty="0"/>
          </a:p>
        </p:txBody>
      </p:sp>
      <p:sp>
        <p:nvSpPr>
          <p:cNvPr id="5" name="Slide Number Placeholder 4">
            <a:extLst>
              <a:ext uri="{FF2B5EF4-FFF2-40B4-BE49-F238E27FC236}">
                <a16:creationId xmlns:a16="http://schemas.microsoft.com/office/drawing/2014/main" id="{D644F4AD-E455-9BEA-3382-5D6C83A73940}"/>
              </a:ext>
            </a:extLst>
          </p:cNvPr>
          <p:cNvSpPr>
            <a:spLocks noGrp="1"/>
          </p:cNvSpPr>
          <p:nvPr>
            <p:ph type="sldNum" sz="quarter" idx="12"/>
          </p:nvPr>
        </p:nvSpPr>
        <p:spPr/>
        <p:txBody>
          <a:bodyPr/>
          <a:lstStyle/>
          <a:p>
            <a:fld id="{F4C94289-3309-4C35-850A-56FD49B3E346}" type="slidenum">
              <a:rPr lang="en-GB" smtClean="0"/>
              <a:t>12</a:t>
            </a:fld>
            <a:endParaRPr lang="en-GB"/>
          </a:p>
        </p:txBody>
      </p:sp>
      <p:graphicFrame>
        <p:nvGraphicFramePr>
          <p:cNvPr id="8" name="Table 7">
            <a:extLst>
              <a:ext uri="{FF2B5EF4-FFF2-40B4-BE49-F238E27FC236}">
                <a16:creationId xmlns:a16="http://schemas.microsoft.com/office/drawing/2014/main" id="{98630F5E-C7F8-414E-EA1E-4FE5F403F76E}"/>
              </a:ext>
            </a:extLst>
          </p:cNvPr>
          <p:cNvGraphicFramePr>
            <a:graphicFrameLocks noGrp="1"/>
          </p:cNvGraphicFramePr>
          <p:nvPr/>
        </p:nvGraphicFramePr>
        <p:xfrm>
          <a:off x="365590" y="1483468"/>
          <a:ext cx="11310471" cy="2098635"/>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861428">
                  <a:extLst>
                    <a:ext uri="{9D8B030D-6E8A-4147-A177-3AD203B41FA5}">
                      <a16:colId xmlns:a16="http://schemas.microsoft.com/office/drawing/2014/main" val="9356114"/>
                    </a:ext>
                  </a:extLst>
                </a:gridCol>
                <a:gridCol w="4678886">
                  <a:extLst>
                    <a:ext uri="{9D8B030D-6E8A-4147-A177-3AD203B41FA5}">
                      <a16:colId xmlns:a16="http://schemas.microsoft.com/office/drawing/2014/main" val="1965869314"/>
                    </a:ext>
                  </a:extLst>
                </a:gridCol>
                <a:gridCol w="3770157">
                  <a:extLst>
                    <a:ext uri="{9D8B030D-6E8A-4147-A177-3AD203B41FA5}">
                      <a16:colId xmlns:a16="http://schemas.microsoft.com/office/drawing/2014/main" val="566335056"/>
                    </a:ext>
                  </a:extLst>
                </a:gridCol>
              </a:tblGrid>
              <a:tr h="622895">
                <a:tc>
                  <a:txBody>
                    <a:bodyPr/>
                    <a:lstStyle/>
                    <a:p>
                      <a:pPr algn="ctr" fontAlgn="b"/>
                      <a:r>
                        <a:rPr lang="en-US" sz="1200" b="1" i="0" u="none" strike="noStrike">
                          <a:solidFill>
                            <a:schemeClr val="tx1"/>
                          </a:solidFill>
                          <a:effectLst/>
                          <a:latin typeface="+mn-lt"/>
                        </a:rPr>
                        <a:t>Errors</a:t>
                      </a:r>
                    </a:p>
                  </a:txBody>
                  <a:tcPr marL="72000" marR="6350" marT="6350" marB="0" anchor="ctr"/>
                </a:tc>
                <a:tc>
                  <a:txBody>
                    <a:bodyPr/>
                    <a:lstStyle/>
                    <a:p>
                      <a:pPr algn="ctr" fontAlgn="b"/>
                      <a:r>
                        <a:rPr lang="en-US" sz="1200" b="1" i="0" u="none" strike="noStrike">
                          <a:solidFill>
                            <a:schemeClr val="tx1"/>
                          </a:solidFill>
                          <a:effectLst/>
                          <a:latin typeface="+mn-lt"/>
                        </a:rPr>
                        <a:t>Error Description (Reason)</a:t>
                      </a:r>
                    </a:p>
                  </a:txBody>
                  <a:tcPr marL="72000" marR="6350" marT="6350" marB="0" anchor="ctr"/>
                </a:tc>
                <a:tc>
                  <a:txBody>
                    <a:bodyPr/>
                    <a:lstStyle/>
                    <a:p>
                      <a:pPr algn="ctr" fontAlgn="b"/>
                      <a:r>
                        <a:rPr lang="en-US" sz="1200" b="1" i="0" u="none" strike="noStrike">
                          <a:solidFill>
                            <a:schemeClr val="tx1"/>
                          </a:solidFill>
                          <a:effectLst/>
                          <a:latin typeface="+mn-lt"/>
                        </a:rPr>
                        <a:t>Resolution </a:t>
                      </a:r>
                    </a:p>
                  </a:txBody>
                  <a:tcPr marL="72000" marR="6350" marT="6350" marB="0" anchor="ctr"/>
                </a:tc>
                <a:extLst>
                  <a:ext uri="{0D108BD9-81ED-4DB2-BD59-A6C34878D82A}">
                    <a16:rowId xmlns:a16="http://schemas.microsoft.com/office/drawing/2014/main" val="409099569"/>
                  </a:ext>
                </a:extLst>
              </a:tr>
              <a:tr h="159354">
                <a:tc>
                  <a:txBody>
                    <a:bodyPr/>
                    <a:lstStyle/>
                    <a:p>
                      <a:r>
                        <a:rPr lang="en-US" sz="1200">
                          <a:solidFill>
                            <a:schemeClr val="tx1"/>
                          </a:solidFill>
                        </a:rPr>
                        <a:t>Profit Center is locked </a:t>
                      </a:r>
                      <a:r>
                        <a:rPr lang="en-US" altLang="ja-JP" sz="1200">
                          <a:solidFill>
                            <a:schemeClr val="tx1"/>
                          </a:solidFill>
                        </a:rPr>
                        <a:t>for</a:t>
                      </a:r>
                      <a:r>
                        <a:rPr lang="en-US" sz="1200">
                          <a:solidFill>
                            <a:schemeClr val="tx1"/>
                          </a:solidFill>
                        </a:rPr>
                        <a:t> the date</a:t>
                      </a:r>
                    </a:p>
                  </a:txBody>
                  <a:tcPr marL="72000" marR="6350" marT="6350" marB="0" anchor="ctr"/>
                </a:tc>
                <a:tc>
                  <a:txBody>
                    <a:bodyPr/>
                    <a:lstStyle/>
                    <a:p>
                      <a:r>
                        <a:rPr lang="en-US" sz="1200">
                          <a:solidFill>
                            <a:schemeClr val="tx1"/>
                          </a:solidFill>
                        </a:rPr>
                        <a:t>This error occurs when Profit Center is blocked for posting. </a:t>
                      </a:r>
                      <a:endParaRPr lang="en-US" sz="1200">
                        <a:solidFill>
                          <a:schemeClr val="tx1"/>
                        </a:solidFill>
                        <a:latin typeface="+mn-lt"/>
                      </a:endParaRPr>
                    </a:p>
                  </a:txBody>
                  <a:tcPr marL="72000" marR="6350" marT="6350" marB="0" anchor="ctr"/>
                </a:tc>
                <a:tc>
                  <a:txBody>
                    <a:bodyPr/>
                    <a:lstStyle/>
                    <a:p>
                      <a:r>
                        <a:rPr lang="en-US" sz="1200" dirty="0">
                          <a:solidFill>
                            <a:schemeClr val="tx1"/>
                          </a:solidFill>
                        </a:rPr>
                        <a:t>GL Team to Inform Market about the error, and if Profit Center is wrongly locked, Market should extend the related validity to current period.</a:t>
                      </a:r>
                    </a:p>
                    <a:p>
                      <a:endParaRPr lang="en-US" sz="1200" dirty="0">
                        <a:solidFill>
                          <a:schemeClr val="tx1"/>
                        </a:solidFill>
                        <a:latin typeface="+mn-lt"/>
                      </a:endParaRPr>
                    </a:p>
                  </a:txBody>
                  <a:tcPr marL="72000" marR="6350" marT="6350" marB="0" anchor="ctr"/>
                </a:tc>
                <a:extLst>
                  <a:ext uri="{0D108BD9-81ED-4DB2-BD59-A6C34878D82A}">
                    <a16:rowId xmlns:a16="http://schemas.microsoft.com/office/drawing/2014/main" val="583018577"/>
                  </a:ext>
                </a:extLst>
              </a:tr>
              <a:tr h="159354">
                <a:tc>
                  <a:txBody>
                    <a:bodyPr/>
                    <a:lstStyle/>
                    <a:p>
                      <a:r>
                        <a:rPr lang="en-US" sz="1200">
                          <a:solidFill>
                            <a:schemeClr val="tx1"/>
                          </a:solidFill>
                        </a:rPr>
                        <a:t>Document splitting causes field overflow for currency type 30</a:t>
                      </a:r>
                    </a:p>
                  </a:txBody>
                  <a:tcPr marL="72000" marR="6350" marT="6350" marB="0" anchor="ctr"/>
                </a:tc>
                <a:tc>
                  <a:txBody>
                    <a:bodyPr/>
                    <a:lstStyle/>
                    <a:p>
                      <a:endParaRPr lang="en-US" sz="1200">
                        <a:solidFill>
                          <a:schemeClr val="tx1"/>
                        </a:solidFill>
                        <a:latin typeface="+mn-lt"/>
                      </a:endParaRPr>
                    </a:p>
                  </a:txBody>
                  <a:tcPr marL="72000" marR="6350" marT="6350" marB="0" anchor="ctr"/>
                </a:tc>
                <a:tc>
                  <a:txBody>
                    <a:bodyPr/>
                    <a:lstStyle/>
                    <a:p>
                      <a:r>
                        <a:rPr lang="en-US" sz="1200" dirty="0">
                          <a:solidFill>
                            <a:schemeClr val="tx1"/>
                          </a:solidFill>
                        </a:rPr>
                        <a:t>GL Team to check the financial impact, if amount is material GL Team should inform Market Team and raise ticket with IT.</a:t>
                      </a:r>
                    </a:p>
                    <a:p>
                      <a:endParaRPr lang="en-US" sz="1200" dirty="0">
                        <a:solidFill>
                          <a:schemeClr val="tx1"/>
                        </a:solidFill>
                        <a:latin typeface="+mn-lt"/>
                      </a:endParaRPr>
                    </a:p>
                  </a:txBody>
                  <a:tcPr marL="72000" marR="6350" marT="6350" marB="0" anchor="ctr"/>
                </a:tc>
                <a:extLst>
                  <a:ext uri="{0D108BD9-81ED-4DB2-BD59-A6C34878D82A}">
                    <a16:rowId xmlns:a16="http://schemas.microsoft.com/office/drawing/2014/main" val="1119786997"/>
                  </a:ext>
                </a:extLst>
              </a:tr>
            </a:tbl>
          </a:graphicData>
        </a:graphic>
      </p:graphicFrame>
      <p:sp>
        <p:nvSpPr>
          <p:cNvPr id="13" name="Rectangle 12">
            <a:extLst>
              <a:ext uri="{FF2B5EF4-FFF2-40B4-BE49-F238E27FC236}">
                <a16:creationId xmlns:a16="http://schemas.microsoft.com/office/drawing/2014/main" id="{F535D72A-251E-CF50-FB1F-076617CB20F8}"/>
              </a:ext>
            </a:extLst>
          </p:cNvPr>
          <p:cNvSpPr/>
          <p:nvPr/>
        </p:nvSpPr>
        <p:spPr>
          <a:xfrm>
            <a:off x="6268372" y="4658908"/>
            <a:ext cx="3555474" cy="243285"/>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5B352E1-9121-2F03-E277-01FBF3728457}"/>
              </a:ext>
            </a:extLst>
          </p:cNvPr>
          <p:cNvSpPr/>
          <p:nvPr/>
        </p:nvSpPr>
        <p:spPr>
          <a:xfrm>
            <a:off x="449028" y="4673671"/>
            <a:ext cx="3074213" cy="21287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A01AA30-6897-1116-465B-895D3804E4AA}"/>
              </a:ext>
            </a:extLst>
          </p:cNvPr>
          <p:cNvSpPr/>
          <p:nvPr/>
        </p:nvSpPr>
        <p:spPr>
          <a:xfrm>
            <a:off x="365591" y="2284455"/>
            <a:ext cx="2514244" cy="32211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AF7C4DB-2785-5D38-BD53-4B06E662F71D}"/>
              </a:ext>
            </a:extLst>
          </p:cNvPr>
          <p:cNvSpPr/>
          <p:nvPr/>
        </p:nvSpPr>
        <p:spPr>
          <a:xfrm>
            <a:off x="378044" y="2974428"/>
            <a:ext cx="2890673" cy="454572"/>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nector: Elbow 9">
            <a:extLst>
              <a:ext uri="{FF2B5EF4-FFF2-40B4-BE49-F238E27FC236}">
                <a16:creationId xmlns:a16="http://schemas.microsoft.com/office/drawing/2014/main" id="{1400440B-291D-654F-0B63-3632A5625034}"/>
              </a:ext>
            </a:extLst>
          </p:cNvPr>
          <p:cNvCxnSpPr>
            <a:cxnSpLocks/>
            <a:stCxn id="3" idx="1"/>
            <a:endCxn id="15" idx="1"/>
          </p:cNvCxnSpPr>
          <p:nvPr/>
        </p:nvCxnSpPr>
        <p:spPr>
          <a:xfrm rot="10800000" flipH="1" flipV="1">
            <a:off x="365590" y="2445510"/>
            <a:ext cx="83437" cy="2334599"/>
          </a:xfrm>
          <a:prstGeom prst="bentConnector3">
            <a:avLst>
              <a:gd name="adj1" fmla="val -273979"/>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9CC1AE63-C814-CF67-FC51-0736FB4BC415}"/>
              </a:ext>
            </a:extLst>
          </p:cNvPr>
          <p:cNvCxnSpPr>
            <a:cxnSpLocks/>
            <a:stCxn id="4" idx="3"/>
            <a:endCxn id="13" idx="3"/>
          </p:cNvCxnSpPr>
          <p:nvPr/>
        </p:nvCxnSpPr>
        <p:spPr>
          <a:xfrm>
            <a:off x="3268717" y="3201714"/>
            <a:ext cx="6555129" cy="1578837"/>
          </a:xfrm>
          <a:prstGeom prst="bentConnector3">
            <a:avLst>
              <a:gd name="adj1" fmla="val 103487"/>
            </a:avLst>
          </a:prstGeom>
          <a:ln w="9525">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0103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9AA34D9-B221-F6F2-B3E9-A6760EAD5EB1}"/>
              </a:ext>
              <a:ext uri="{147F2762-F138-4A5C-976F-8EAC2B608ADB}">
                <a16:predDERef xmlns:a16="http://schemas.microsoft.com/office/drawing/2014/main" pred="{C8B61940-D9E7-B294-A69F-137408D09960}"/>
              </a:ext>
            </a:extLst>
          </p:cNvPr>
          <p:cNvPicPr>
            <a:picLocks noChangeAspect="1"/>
          </p:cNvPicPr>
          <p:nvPr/>
        </p:nvPicPr>
        <p:blipFill>
          <a:blip r:embed="rId2"/>
          <a:stretch>
            <a:fillRect/>
          </a:stretch>
        </p:blipFill>
        <p:spPr>
          <a:xfrm>
            <a:off x="6363795" y="4394403"/>
            <a:ext cx="4918067" cy="2136150"/>
          </a:xfrm>
          <a:prstGeom prst="rect">
            <a:avLst/>
          </a:prstGeom>
          <a:effectLst>
            <a:outerShdw blurRad="63500" sx="102000" sy="102000" algn="ctr" rotWithShape="0">
              <a:prstClr val="black">
                <a:alpha val="40000"/>
              </a:prstClr>
            </a:outerShdw>
          </a:effectLst>
        </p:spPr>
      </p:pic>
      <p:pic>
        <p:nvPicPr>
          <p:cNvPr id="3" name="Picture 2">
            <a:extLst>
              <a:ext uri="{FF2B5EF4-FFF2-40B4-BE49-F238E27FC236}">
                <a16:creationId xmlns:a16="http://schemas.microsoft.com/office/drawing/2014/main" id="{53DE1FD7-A45F-F3B7-A771-7BE50D6DDEC3}"/>
              </a:ext>
              <a:ext uri="{147F2762-F138-4A5C-976F-8EAC2B608ADB}">
                <a16:predDERef xmlns:a16="http://schemas.microsoft.com/office/drawing/2014/main" pred="{00000000-0008-0000-0F00-00000C000000}"/>
              </a:ext>
            </a:extLst>
          </p:cNvPr>
          <p:cNvPicPr>
            <a:picLocks noChangeAspect="1"/>
          </p:cNvPicPr>
          <p:nvPr/>
        </p:nvPicPr>
        <p:blipFill>
          <a:blip r:embed="rId3"/>
          <a:stretch>
            <a:fillRect/>
          </a:stretch>
        </p:blipFill>
        <p:spPr>
          <a:xfrm>
            <a:off x="376392" y="4085079"/>
            <a:ext cx="5593205" cy="2623867"/>
          </a:xfrm>
          <a:prstGeom prst="rect">
            <a:avLst/>
          </a:prstGeom>
          <a:effectLst>
            <a:outerShdw blurRad="63500" sx="102000" sy="102000" algn="ctr" rotWithShape="0">
              <a:prstClr val="black">
                <a:alpha val="40000"/>
              </a:prstClr>
            </a:outerShdw>
          </a:effectLst>
        </p:spPr>
      </p:pic>
      <p:sp>
        <p:nvSpPr>
          <p:cNvPr id="2" name="Title 1">
            <a:extLst>
              <a:ext uri="{FF2B5EF4-FFF2-40B4-BE49-F238E27FC236}">
                <a16:creationId xmlns:a16="http://schemas.microsoft.com/office/drawing/2014/main" id="{33EF4A0C-7349-1D9B-F167-DE82DF5D9EE8}"/>
              </a:ext>
            </a:extLst>
          </p:cNvPr>
          <p:cNvSpPr>
            <a:spLocks noGrp="1"/>
          </p:cNvSpPr>
          <p:nvPr>
            <p:ph type="title"/>
          </p:nvPr>
        </p:nvSpPr>
        <p:spPr/>
        <p:txBody>
          <a:bodyPr/>
          <a:lstStyle/>
          <a:p>
            <a:r>
              <a:rPr lang="en-GB" dirty="0"/>
              <a:t>Currency Translation - </a:t>
            </a:r>
            <a:r>
              <a:rPr lang="en-GB" cap="none" dirty="0"/>
              <a:t>Common Errors</a:t>
            </a:r>
            <a:endParaRPr lang="en-US" dirty="0"/>
          </a:p>
        </p:txBody>
      </p:sp>
      <p:sp>
        <p:nvSpPr>
          <p:cNvPr id="5" name="Slide Number Placeholder 4">
            <a:extLst>
              <a:ext uri="{FF2B5EF4-FFF2-40B4-BE49-F238E27FC236}">
                <a16:creationId xmlns:a16="http://schemas.microsoft.com/office/drawing/2014/main" id="{D644F4AD-E455-9BEA-3382-5D6C83A73940}"/>
              </a:ext>
            </a:extLst>
          </p:cNvPr>
          <p:cNvSpPr>
            <a:spLocks noGrp="1"/>
          </p:cNvSpPr>
          <p:nvPr>
            <p:ph type="sldNum" sz="quarter" idx="12"/>
          </p:nvPr>
        </p:nvSpPr>
        <p:spPr/>
        <p:txBody>
          <a:bodyPr/>
          <a:lstStyle/>
          <a:p>
            <a:fld id="{F4C94289-3309-4C35-850A-56FD49B3E346}" type="slidenum">
              <a:rPr lang="en-GB" smtClean="0"/>
              <a:t>13</a:t>
            </a:fld>
            <a:endParaRPr lang="en-GB"/>
          </a:p>
        </p:txBody>
      </p:sp>
      <p:graphicFrame>
        <p:nvGraphicFramePr>
          <p:cNvPr id="8" name="Table 7">
            <a:extLst>
              <a:ext uri="{FF2B5EF4-FFF2-40B4-BE49-F238E27FC236}">
                <a16:creationId xmlns:a16="http://schemas.microsoft.com/office/drawing/2014/main" id="{98630F5E-C7F8-414E-EA1E-4FE5F403F76E}"/>
              </a:ext>
            </a:extLst>
          </p:cNvPr>
          <p:cNvGraphicFramePr>
            <a:graphicFrameLocks noGrp="1"/>
          </p:cNvGraphicFramePr>
          <p:nvPr/>
        </p:nvGraphicFramePr>
        <p:xfrm>
          <a:off x="365590" y="1483468"/>
          <a:ext cx="11310471" cy="2830155"/>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861428">
                  <a:extLst>
                    <a:ext uri="{9D8B030D-6E8A-4147-A177-3AD203B41FA5}">
                      <a16:colId xmlns:a16="http://schemas.microsoft.com/office/drawing/2014/main" val="9356114"/>
                    </a:ext>
                  </a:extLst>
                </a:gridCol>
                <a:gridCol w="3107107">
                  <a:extLst>
                    <a:ext uri="{9D8B030D-6E8A-4147-A177-3AD203B41FA5}">
                      <a16:colId xmlns:a16="http://schemas.microsoft.com/office/drawing/2014/main" val="1965869314"/>
                    </a:ext>
                  </a:extLst>
                </a:gridCol>
                <a:gridCol w="5341936">
                  <a:extLst>
                    <a:ext uri="{9D8B030D-6E8A-4147-A177-3AD203B41FA5}">
                      <a16:colId xmlns:a16="http://schemas.microsoft.com/office/drawing/2014/main" val="566335056"/>
                    </a:ext>
                  </a:extLst>
                </a:gridCol>
              </a:tblGrid>
              <a:tr h="622895">
                <a:tc>
                  <a:txBody>
                    <a:bodyPr/>
                    <a:lstStyle/>
                    <a:p>
                      <a:pPr algn="ctr" fontAlgn="b"/>
                      <a:r>
                        <a:rPr lang="en-US" sz="1200" b="1" i="0" u="none" strike="noStrike">
                          <a:solidFill>
                            <a:schemeClr val="tx1"/>
                          </a:solidFill>
                          <a:effectLst/>
                          <a:latin typeface="+mn-lt"/>
                        </a:rPr>
                        <a:t>Errors</a:t>
                      </a:r>
                    </a:p>
                  </a:txBody>
                  <a:tcPr marL="72000" marR="6350" marT="6350" marB="0" anchor="ctr"/>
                </a:tc>
                <a:tc>
                  <a:txBody>
                    <a:bodyPr/>
                    <a:lstStyle/>
                    <a:p>
                      <a:pPr algn="ctr" fontAlgn="b"/>
                      <a:r>
                        <a:rPr lang="en-US" sz="1200" b="1" i="0" u="none" strike="noStrike">
                          <a:solidFill>
                            <a:schemeClr val="tx1"/>
                          </a:solidFill>
                          <a:effectLst/>
                          <a:latin typeface="+mn-lt"/>
                        </a:rPr>
                        <a:t>Error Description (Reason)</a:t>
                      </a:r>
                    </a:p>
                  </a:txBody>
                  <a:tcPr marL="72000" marR="6350" marT="6350" marB="0" anchor="ctr"/>
                </a:tc>
                <a:tc>
                  <a:txBody>
                    <a:bodyPr/>
                    <a:lstStyle/>
                    <a:p>
                      <a:pPr algn="ctr" fontAlgn="b"/>
                      <a:r>
                        <a:rPr lang="en-US" sz="1200" b="1" i="0" u="none" strike="noStrike">
                          <a:solidFill>
                            <a:schemeClr val="tx1"/>
                          </a:solidFill>
                          <a:effectLst/>
                          <a:latin typeface="+mn-lt"/>
                        </a:rPr>
                        <a:t>Resolution </a:t>
                      </a:r>
                    </a:p>
                  </a:txBody>
                  <a:tcPr marL="72000" marR="6350" marT="6350" marB="0" anchor="ctr"/>
                </a:tc>
                <a:extLst>
                  <a:ext uri="{0D108BD9-81ED-4DB2-BD59-A6C34878D82A}">
                    <a16:rowId xmlns:a16="http://schemas.microsoft.com/office/drawing/2014/main" val="409099569"/>
                  </a:ext>
                </a:extLst>
              </a:tr>
              <a:tr h="159354">
                <a:tc>
                  <a:txBody>
                    <a:bodyPr/>
                    <a:lstStyle/>
                    <a:p>
                      <a:r>
                        <a:rPr lang="en-US" sz="1200">
                          <a:solidFill>
                            <a:schemeClr val="tx1"/>
                          </a:solidFill>
                        </a:rPr>
                        <a:t>Enter rate type M in the system settings</a:t>
                      </a:r>
                    </a:p>
                  </a:txBody>
                  <a:tcPr marL="72000" marR="6350" marT="6350" marB="0" anchor="ctr"/>
                </a:tc>
                <a:tc>
                  <a:txBody>
                    <a:bodyPr/>
                    <a:lstStyle/>
                    <a:p>
                      <a:r>
                        <a:rPr lang="en-US" sz="1200">
                          <a:solidFill>
                            <a:schemeClr val="tx1"/>
                          </a:solidFill>
                        </a:rPr>
                        <a:t>This error occurs when ML Documents posted with Exchange Rate logic enhancement.</a:t>
                      </a:r>
                      <a:endParaRPr lang="en-US" sz="1200">
                        <a:solidFill>
                          <a:schemeClr val="tx1"/>
                        </a:solidFill>
                        <a:latin typeface="+mn-lt"/>
                      </a:endParaRPr>
                    </a:p>
                  </a:txBody>
                  <a:tcPr marL="72000" marR="6350" marT="6350" marB="0" anchor="ctr"/>
                </a:tc>
                <a:tc>
                  <a:txBody>
                    <a:bodyPr/>
                    <a:lstStyle/>
                    <a:p>
                      <a:r>
                        <a:rPr lang="en-US" sz="1200" dirty="0">
                          <a:solidFill>
                            <a:schemeClr val="tx1"/>
                          </a:solidFill>
                        </a:rPr>
                        <a:t>GL Team to Inform Market Team and raise IT ticket if needed.</a:t>
                      </a:r>
                    </a:p>
                    <a:p>
                      <a:r>
                        <a:rPr lang="en-US" sz="1200" dirty="0">
                          <a:solidFill>
                            <a:schemeClr val="tx1"/>
                          </a:solidFill>
                        </a:rPr>
                        <a:t>Workaround: During SM35 batch processing GL Team needs to update Transaction currency to Company Code Currency </a:t>
                      </a:r>
                    </a:p>
                    <a:p>
                      <a:endParaRPr lang="en-US" sz="1200" dirty="0">
                        <a:solidFill>
                          <a:schemeClr val="tx1"/>
                        </a:solidFill>
                        <a:latin typeface="+mn-lt"/>
                      </a:endParaRPr>
                    </a:p>
                  </a:txBody>
                  <a:tcPr marL="72000" marR="6350" marT="6350" marB="0" anchor="ctr"/>
                </a:tc>
                <a:extLst>
                  <a:ext uri="{0D108BD9-81ED-4DB2-BD59-A6C34878D82A}">
                    <a16:rowId xmlns:a16="http://schemas.microsoft.com/office/drawing/2014/main" val="583018577"/>
                  </a:ext>
                </a:extLst>
              </a:tr>
              <a:tr h="159354">
                <a:tc>
                  <a:txBody>
                    <a:bodyPr/>
                    <a:lstStyle/>
                    <a:p>
                      <a:r>
                        <a:rPr lang="en-US" sz="1200">
                          <a:solidFill>
                            <a:schemeClr val="tx1"/>
                          </a:solidFill>
                        </a:rPr>
                        <a:t>GL Account XXX is not defined in chart of accounts JTIO</a:t>
                      </a:r>
                    </a:p>
                  </a:txBody>
                  <a:tcPr marL="72000" marR="6350" marT="6350" marB="0" anchor="ctr"/>
                </a:tc>
                <a:tc>
                  <a:txBody>
                    <a:bodyPr/>
                    <a:lstStyle/>
                    <a:p>
                      <a:r>
                        <a:rPr lang="en-US" sz="1200">
                          <a:solidFill>
                            <a:schemeClr val="tx1"/>
                          </a:solidFill>
                        </a:rPr>
                        <a:t>This error occurs when B/S Account is included in P&amp;L Translation.</a:t>
                      </a:r>
                      <a:endParaRPr lang="en-US" sz="1200">
                        <a:solidFill>
                          <a:schemeClr val="tx1"/>
                        </a:solidFill>
                        <a:latin typeface="+mn-lt"/>
                      </a:endParaRPr>
                    </a:p>
                  </a:txBody>
                  <a:tcPr marL="72000" marR="6350" marT="6350" marB="0" anchor="ctr"/>
                </a:tc>
                <a:tc>
                  <a:txBody>
                    <a:bodyPr/>
                    <a:lstStyle/>
                    <a:p>
                      <a:r>
                        <a:rPr lang="en-US" sz="1200" dirty="0">
                          <a:solidFill>
                            <a:schemeClr val="tx1"/>
                          </a:solidFill>
                        </a:rPr>
                        <a:t>GL Team to check if account has correct ERDK.</a:t>
                      </a:r>
                    </a:p>
                    <a:p>
                      <a:r>
                        <a:rPr lang="en-US" sz="1200" dirty="0">
                          <a:solidFill>
                            <a:schemeClr val="tx1"/>
                          </a:solidFill>
                        </a:rPr>
                        <a:t>If not, GL Team to contact R2R Competency Center to submit a Change Request for the change of ERDK.</a:t>
                      </a:r>
                    </a:p>
                    <a:p>
                      <a:r>
                        <a:rPr lang="en-US" sz="1200" dirty="0">
                          <a:solidFill>
                            <a:schemeClr val="tx1"/>
                          </a:solidFill>
                        </a:rPr>
                        <a:t>P&amp;L Accounts subject to Translation are assigned with ERDK range 6000-7999.</a:t>
                      </a:r>
                    </a:p>
                    <a:p>
                      <a:r>
                        <a:rPr lang="en-US" sz="1200" dirty="0">
                          <a:solidFill>
                            <a:schemeClr val="tx1"/>
                          </a:solidFill>
                        </a:rPr>
                        <a:t>Balance Sheet accounts subject to Translation are assigned with ERDK range 8000-9999.</a:t>
                      </a:r>
                    </a:p>
                    <a:p>
                      <a:endParaRPr lang="en-US" sz="1200" dirty="0">
                        <a:solidFill>
                          <a:schemeClr val="tx1"/>
                        </a:solidFill>
                        <a:latin typeface="+mn-lt"/>
                      </a:endParaRPr>
                    </a:p>
                  </a:txBody>
                  <a:tcPr marL="72000" marR="6350" marT="6350" marB="0" anchor="ctr"/>
                </a:tc>
                <a:extLst>
                  <a:ext uri="{0D108BD9-81ED-4DB2-BD59-A6C34878D82A}">
                    <a16:rowId xmlns:a16="http://schemas.microsoft.com/office/drawing/2014/main" val="1119786997"/>
                  </a:ext>
                </a:extLst>
              </a:tr>
            </a:tbl>
          </a:graphicData>
        </a:graphic>
      </p:graphicFrame>
      <p:sp>
        <p:nvSpPr>
          <p:cNvPr id="13" name="Rectangle 12">
            <a:extLst>
              <a:ext uri="{FF2B5EF4-FFF2-40B4-BE49-F238E27FC236}">
                <a16:creationId xmlns:a16="http://schemas.microsoft.com/office/drawing/2014/main" id="{F535D72A-251E-CF50-FB1F-076617CB20F8}"/>
              </a:ext>
            </a:extLst>
          </p:cNvPr>
          <p:cNvSpPr/>
          <p:nvPr/>
        </p:nvSpPr>
        <p:spPr>
          <a:xfrm>
            <a:off x="6444852" y="6175878"/>
            <a:ext cx="3555474" cy="243285"/>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5B352E1-9121-2F03-E277-01FBF3728457}"/>
              </a:ext>
            </a:extLst>
          </p:cNvPr>
          <p:cNvSpPr/>
          <p:nvPr/>
        </p:nvSpPr>
        <p:spPr>
          <a:xfrm>
            <a:off x="365590" y="4992415"/>
            <a:ext cx="3544258" cy="75674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1AC19C9-BCEB-E040-9393-E25870F6E62A}"/>
              </a:ext>
            </a:extLst>
          </p:cNvPr>
          <p:cNvSpPr/>
          <p:nvPr/>
        </p:nvSpPr>
        <p:spPr>
          <a:xfrm>
            <a:off x="351109" y="2312276"/>
            <a:ext cx="2844036" cy="34684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917678B-0740-AEB9-E794-5EA64DFBA40B}"/>
              </a:ext>
            </a:extLst>
          </p:cNvPr>
          <p:cNvSpPr/>
          <p:nvPr/>
        </p:nvSpPr>
        <p:spPr>
          <a:xfrm>
            <a:off x="376392" y="3305504"/>
            <a:ext cx="2844036" cy="490698"/>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nector: Elbow 9">
            <a:extLst>
              <a:ext uri="{FF2B5EF4-FFF2-40B4-BE49-F238E27FC236}">
                <a16:creationId xmlns:a16="http://schemas.microsoft.com/office/drawing/2014/main" id="{AC7AFABB-68EA-4E7B-00F6-151917AA613D}"/>
              </a:ext>
            </a:extLst>
          </p:cNvPr>
          <p:cNvCxnSpPr>
            <a:stCxn id="4" idx="1"/>
            <a:endCxn id="3" idx="1"/>
          </p:cNvCxnSpPr>
          <p:nvPr/>
        </p:nvCxnSpPr>
        <p:spPr>
          <a:xfrm rot="10800000" flipH="1" flipV="1">
            <a:off x="351108" y="2485697"/>
            <a:ext cx="25283" cy="2911316"/>
          </a:xfrm>
          <a:prstGeom prst="bentConnector3">
            <a:avLst>
              <a:gd name="adj1" fmla="val -904165"/>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88E40CA4-A435-F0C3-6D41-78E3434F4437}"/>
              </a:ext>
            </a:extLst>
          </p:cNvPr>
          <p:cNvCxnSpPr>
            <a:endCxn id="13" idx="1"/>
          </p:cNvCxnSpPr>
          <p:nvPr/>
        </p:nvCxnSpPr>
        <p:spPr>
          <a:xfrm>
            <a:off x="3220428" y="3573517"/>
            <a:ext cx="3224424" cy="2724004"/>
          </a:xfrm>
          <a:prstGeom prst="bentConnector3">
            <a:avLst>
              <a:gd name="adj1" fmla="val 87811"/>
            </a:avLst>
          </a:prstGeom>
          <a:ln w="9525">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6256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90CC5F-7E64-4D1A-90F2-3D2368F93671}"/>
              </a:ext>
            </a:extLst>
          </p:cNvPr>
          <p:cNvSpPr>
            <a:spLocks noGrp="1"/>
          </p:cNvSpPr>
          <p:nvPr>
            <p:ph type="title"/>
          </p:nvPr>
        </p:nvSpPr>
        <p:spPr>
          <a:xfrm>
            <a:off x="515938" y="866408"/>
            <a:ext cx="8961437" cy="4334668"/>
          </a:xfrm>
        </p:spPr>
        <p:txBody>
          <a:bodyPr/>
          <a:lstStyle/>
          <a:p>
            <a:r>
              <a:rPr lang="en-GB"/>
              <a:t>Demonstration &amp; exercises</a:t>
            </a:r>
          </a:p>
        </p:txBody>
      </p:sp>
      <p:sp>
        <p:nvSpPr>
          <p:cNvPr id="2" name="Slide Number Placeholder 1">
            <a:extLst>
              <a:ext uri="{FF2B5EF4-FFF2-40B4-BE49-F238E27FC236}">
                <a16:creationId xmlns:a16="http://schemas.microsoft.com/office/drawing/2014/main" id="{45968D6E-A1C2-48A1-8EEA-68D04FC7DD8F}"/>
              </a:ext>
            </a:extLst>
          </p:cNvPr>
          <p:cNvSpPr>
            <a:spLocks noGrp="1"/>
          </p:cNvSpPr>
          <p:nvPr>
            <p:ph type="sldNum" sz="quarter" idx="12"/>
          </p:nvPr>
        </p:nvSpPr>
        <p:spPr/>
        <p:txBody>
          <a:bodyPr/>
          <a:lstStyle/>
          <a:p>
            <a:fld id="{1A6A2304-23DC-2B46-BD14-F082077842FF}" type="slidenum">
              <a:rPr lang="en-US" smtClean="0"/>
              <a:t>14</a:t>
            </a:fld>
            <a:endParaRPr lang="en-US"/>
          </a:p>
        </p:txBody>
      </p:sp>
      <p:sp>
        <p:nvSpPr>
          <p:cNvPr id="4" name="Rectangle 3">
            <a:extLst>
              <a:ext uri="{FF2B5EF4-FFF2-40B4-BE49-F238E27FC236}">
                <a16:creationId xmlns:a16="http://schemas.microsoft.com/office/drawing/2014/main" id="{7DF6DE24-71F6-4B4D-B00E-1C92B20D83D9}"/>
              </a:ext>
            </a:extLst>
          </p:cNvPr>
          <p:cNvSpPr>
            <a:spLocks noChangeArrowheads="1"/>
          </p:cNvSpPr>
          <p:nvPr/>
        </p:nvSpPr>
        <p:spPr bwMode="auto">
          <a:xfrm>
            <a:off x="725715" y="3429000"/>
            <a:ext cx="10111656" cy="3051082"/>
          </a:xfrm>
          <a:prstGeom prst="rect">
            <a:avLst/>
          </a:prstGeom>
          <a:noFill/>
          <a:ln w="12700">
            <a:noFill/>
            <a:miter lim="800000"/>
            <a:headEnd/>
            <a:tailEnd/>
          </a:ln>
          <a:effectLst/>
        </p:spPr>
        <p:txBody>
          <a:bodyPr lIns="92075" tIns="457200" rIns="92075" bIns="457200"/>
          <a:lstStyle/>
          <a:p>
            <a:pPr marL="180000" indent="-180000" algn="l">
              <a:spcBef>
                <a:spcPct val="40000"/>
              </a:spcBef>
              <a:buClr>
                <a:schemeClr val="bg2"/>
              </a:buClr>
              <a:buSzPct val="80000"/>
              <a:buFont typeface="Wingdings" pitchFamily="2" charset="2"/>
              <a:buChar char="§"/>
            </a:pPr>
            <a:r>
              <a:rPr lang="en-US" b="1" dirty="0">
                <a:solidFill>
                  <a:schemeClr val="bg1"/>
                </a:solidFill>
                <a:cs typeface="Arial" pitchFamily="34" charset="0"/>
              </a:rPr>
              <a:t>Exercise No. 5: </a:t>
            </a:r>
            <a:r>
              <a:rPr lang="en-US" dirty="0">
                <a:solidFill>
                  <a:schemeClr val="bg1"/>
                </a:solidFill>
                <a:cs typeface="Arial" pitchFamily="34" charset="0"/>
              </a:rPr>
              <a:t>Perform Currency Translation using T-Code FAGL_FC_TRANS</a:t>
            </a:r>
          </a:p>
          <a:p>
            <a:pPr marL="180000" indent="-180000" algn="l">
              <a:spcBef>
                <a:spcPct val="40000"/>
              </a:spcBef>
              <a:buClr>
                <a:schemeClr val="bg2"/>
              </a:buClr>
              <a:buSzPct val="80000"/>
              <a:buFont typeface="Wingdings" pitchFamily="2" charset="2"/>
              <a:buChar char="§"/>
            </a:pPr>
            <a:endParaRPr lang="en-US" sz="1800" dirty="0">
              <a:solidFill>
                <a:schemeClr val="bg1"/>
              </a:solidFill>
              <a:cs typeface="Arial" pitchFamily="34" charset="0"/>
            </a:endParaRPr>
          </a:p>
        </p:txBody>
      </p:sp>
      <p:sp>
        <p:nvSpPr>
          <p:cNvPr id="6" name="Rectangle: Rounded Corners 5">
            <a:extLst>
              <a:ext uri="{FF2B5EF4-FFF2-40B4-BE49-F238E27FC236}">
                <a16:creationId xmlns:a16="http://schemas.microsoft.com/office/drawing/2014/main" id="{BE07B137-E250-4AC5-81D1-F142F8E125F0}"/>
              </a:ext>
            </a:extLst>
          </p:cNvPr>
          <p:cNvSpPr/>
          <p:nvPr/>
        </p:nvSpPr>
        <p:spPr>
          <a:xfrm>
            <a:off x="600318" y="3429000"/>
            <a:ext cx="10152673" cy="3051082"/>
          </a:xfrm>
          <a:prstGeom prst="roundRect">
            <a:avLst>
              <a:gd name="adj" fmla="val 7381"/>
            </a:avLst>
          </a:prstGeom>
          <a:noFill/>
          <a:ln w="57150">
            <a:solidFill>
              <a:schemeClr val="bg1"/>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1170887"/>
      </p:ext>
    </p:extLst>
  </p:cSld>
  <p:clrMapOvr>
    <a:masterClrMapping/>
  </p:clrMapOvr>
</p:sld>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Remarks xmlns="91871c47-af2e-43ea-ad3f-7bb4c536bc45" xsi:nil="true"/>
    <Details xmlns="91871c47-af2e-43ea-ad3f-7bb4c536bc45" xsi:nil="true"/>
    <FolderInfo xmlns="91871c47-af2e-43ea-ad3f-7bb4c536bc45" xsi:nil="true"/>
    <T_x002d_Code xmlns="91871c47-af2e-43ea-ad3f-7bb4c536bc4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BC77B7-89BE-45D2-B43A-94AB4C5F40F4}">
  <ds:schemaRefs>
    <ds:schemaRef ds:uri="http://schemas.openxmlformats.org/package/2006/metadata/core-properties"/>
    <ds:schemaRef ds:uri="http://purl.org/dc/dcmitype/"/>
    <ds:schemaRef ds:uri="http://schemas.microsoft.com/office/2006/metadata/properties"/>
    <ds:schemaRef ds:uri="cb52ee0d-5346-4ae8-a9f9-d746adffeb6b"/>
    <ds:schemaRef ds:uri="http://schemas.microsoft.com/office/infopath/2007/PartnerControls"/>
    <ds:schemaRef ds:uri="ba249638-b5c4-4b59-8094-70d8491c2e9c"/>
    <ds:schemaRef ds:uri="http://schemas.microsoft.com/office/2006/documentManagement/types"/>
    <ds:schemaRef ds:uri="91871c47-af2e-43ea-ad3f-7bb4c536bc45"/>
    <ds:schemaRef ds:uri="http://www.w3.org/XML/1998/namespace"/>
    <ds:schemaRef ds:uri="http://purl.org/dc/terms/"/>
    <ds:schemaRef ds:uri="http://purl.org/dc/elements/1.1/"/>
  </ds:schemaRefs>
</ds:datastoreItem>
</file>

<file path=customXml/itemProps2.xml><?xml version="1.0" encoding="utf-8"?>
<ds:datastoreItem xmlns:ds="http://schemas.openxmlformats.org/officeDocument/2006/customXml" ds:itemID="{5F43394D-A9A2-4315-AC7E-DD8C77BEB19A}">
  <ds:schemaRefs>
    <ds:schemaRef ds:uri="http://schemas.microsoft.com/sharepoint/v3/contenttype/forms"/>
  </ds:schemaRefs>
</ds:datastoreItem>
</file>

<file path=customXml/itemProps3.xml><?xml version="1.0" encoding="utf-8"?>
<ds:datastoreItem xmlns:ds="http://schemas.openxmlformats.org/officeDocument/2006/customXml" ds:itemID="{02368320-A3E1-487A-9099-4E7DDFDE2609}"/>
</file>

<file path=docMetadata/LabelInfo.xml><?xml version="1.0" encoding="utf-8"?>
<clbl:labelList xmlns:clbl="http://schemas.microsoft.com/office/2020/mipLabelMetadata">
  <clbl:label id="{b020b37f-db72-473e-ae54-fb16df408069}" enabled="1" method="Standard" siteId="{705d07a3-2eea-4f3b-ab59-65ca29abeb26}" removed="0"/>
</clbl:labelList>
</file>

<file path=docProps/app.xml><?xml version="1.0" encoding="utf-8"?>
<Properties xmlns="http://schemas.openxmlformats.org/officeDocument/2006/extended-properties" xmlns:vt="http://schemas.openxmlformats.org/officeDocument/2006/docPropsVTypes">
  <Template>S4F Template</Template>
  <TotalTime>72</TotalTime>
  <Words>2739</Words>
  <Application>Microsoft Office PowerPoint</Application>
  <PresentationFormat>Widescreen</PresentationFormat>
  <Paragraphs>169</Paragraphs>
  <Slides>14</Slides>
  <Notes>7</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14</vt:i4>
      </vt:variant>
    </vt:vector>
  </HeadingPairs>
  <TitlesOfParts>
    <vt:vector size="23" baseType="lpstr">
      <vt:lpstr>Aharoni</vt:lpstr>
      <vt:lpstr>Arial</vt:lpstr>
      <vt:lpstr>Calibri</vt:lpstr>
      <vt:lpstr>Courier New</vt:lpstr>
      <vt:lpstr>Georgia</vt:lpstr>
      <vt:lpstr>Wingdings</vt:lpstr>
      <vt:lpstr>1_S4F-ERP Clean IFRS Stat &amp; Tax Rep</vt:lpstr>
      <vt:lpstr>S4F-ERP Period End Closing</vt:lpstr>
      <vt:lpstr>1_S4F-ERP Period End Closing</vt:lpstr>
      <vt:lpstr>Period End Closing Key Process Areas and New Period End Checks</vt:lpstr>
      <vt:lpstr>Currency Translation Process Overview</vt:lpstr>
      <vt:lpstr>Currency Translation: Execution (1/2)</vt:lpstr>
      <vt:lpstr>Currency Translation: Execution (2/2)</vt:lpstr>
      <vt:lpstr>Currency Translation: Output (1/2)</vt:lpstr>
      <vt:lpstr>Currency Translation: Output (2/2)</vt:lpstr>
      <vt:lpstr>Currency Translation Posting Example  – Balance Sheet (B/S) Accounts</vt:lpstr>
      <vt:lpstr>P&amp;L Translation Posting Example</vt:lpstr>
      <vt:lpstr>Currency Translation: FX Adjustment Accounts</vt:lpstr>
      <vt:lpstr>Currency Translation - Common Errors</vt:lpstr>
      <vt:lpstr>Currency Translation - Common Errors</vt:lpstr>
      <vt:lpstr>Currency Translation - Common Errors</vt:lpstr>
      <vt:lpstr>Currency Translation - Common Errors</vt:lpstr>
      <vt:lpstr>Demonstration &amp; exercises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3</cp:revision>
  <dcterms:created xsi:type="dcterms:W3CDTF">2019-04-11T09:35:08Z</dcterms:created>
  <dcterms:modified xsi:type="dcterms:W3CDTF">2024-04-25T18:22:41Z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1338800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