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 id="2147483936" r:id="rId7"/>
  </p:sldMasterIdLst>
  <p:notesMasterIdLst>
    <p:notesMasterId r:id="rId15"/>
  </p:notesMasterIdLst>
  <p:sldIdLst>
    <p:sldId id="3206" r:id="rId8"/>
    <p:sldId id="3209" r:id="rId9"/>
    <p:sldId id="3210" r:id="rId10"/>
    <p:sldId id="3211" r:id="rId11"/>
    <p:sldId id="2134961522" r:id="rId12"/>
    <p:sldId id="2134961524" r:id="rId13"/>
    <p:sldId id="213496153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CBDC24-1B4B-4A68-8C12-E66E50854BDC}" v="1" dt="2024-04-25T17:19:12.1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5BCBDC24-1B4B-4A68-8C12-E66E50854BDC}"/>
    <pc:docChg chg="delSld">
      <pc:chgData name="Wang, Wei" userId="627587dd-935f-4f2b-a6c6-edd4e0dcbff5" providerId="ADAL" clId="{5BCBDC24-1B4B-4A68-8C12-E66E50854BDC}" dt="2024-04-25T17:19:09.981" v="0" actId="47"/>
      <pc:docMkLst>
        <pc:docMk/>
      </pc:docMkLst>
      <pc:sldChg chg="del">
        <pc:chgData name="Wang, Wei" userId="627587dd-935f-4f2b-a6c6-edd4e0dcbff5" providerId="ADAL" clId="{5BCBDC24-1B4B-4A68-8C12-E66E50854BDC}" dt="2024-04-25T17:19:09.981" v="0" actId="47"/>
        <pc:sldMkLst>
          <pc:docMk/>
          <pc:sldMk cId="1981241024" sldId="3209"/>
        </pc:sldMkLst>
      </pc:sldChg>
      <pc:sldChg chg="del">
        <pc:chgData name="Wang, Wei" userId="627587dd-935f-4f2b-a6c6-edd4e0dcbff5" providerId="ADAL" clId="{5BCBDC24-1B4B-4A68-8C12-E66E50854BDC}" dt="2024-04-25T17:19:09.981" v="0" actId="47"/>
        <pc:sldMkLst>
          <pc:docMk/>
          <pc:sldMk cId="2805832465" sldId="3210"/>
        </pc:sldMkLst>
      </pc:sldChg>
      <pc:sldChg chg="del">
        <pc:chgData name="Wang, Wei" userId="627587dd-935f-4f2b-a6c6-edd4e0dcbff5" providerId="ADAL" clId="{5BCBDC24-1B4B-4A68-8C12-E66E50854BDC}" dt="2024-04-25T17:19:09.981" v="0" actId="47"/>
        <pc:sldMkLst>
          <pc:docMk/>
          <pc:sldMk cId="2052222845" sldId="321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21525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4.xml"/><Relationship Id="rId4" Type="http://schemas.openxmlformats.org/officeDocument/2006/relationships/image" Target="../media/image11.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jpeg"/><Relationship Id="rId1" Type="http://schemas.openxmlformats.org/officeDocument/2006/relationships/slideMaster" Target="../slideMasters/slideMaster4.xml"/><Relationship Id="rId4" Type="http://schemas.openxmlformats.org/officeDocument/2006/relationships/image" Target="../media/image11.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jpe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5.jpe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6.jpe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roject Title Slid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Date Placeholder 1"/>
          <p:cNvSpPr txBox="1">
            <a:spLocks/>
          </p:cNvSpPr>
          <p:nvPr userDrawn="1"/>
        </p:nvSpPr>
        <p:spPr>
          <a:xfrm>
            <a:off x="4151273" y="5923728"/>
            <a:ext cx="3889454"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i="0">
                <a:solidFill>
                  <a:schemeClr val="bg1"/>
                </a:solidFill>
                <a:latin typeface="+mn-lt"/>
                <a:ea typeface="Roboto" charset="0"/>
                <a:cs typeface="Roboto" charset="0"/>
              </a:rPr>
              <a:t>Simplify, Standardize, Accelerate </a:t>
            </a:r>
          </a:p>
        </p:txBody>
      </p:sp>
      <p:sp>
        <p:nvSpPr>
          <p:cNvPr id="9" name="TextBox 8"/>
          <p:cNvSpPr txBox="1"/>
          <p:nvPr userDrawn="1"/>
        </p:nvSpPr>
        <p:spPr>
          <a:xfrm>
            <a:off x="3398969" y="2345440"/>
            <a:ext cx="5387927" cy="1941342"/>
          </a:xfrm>
          <a:prstGeom prst="rect">
            <a:avLst/>
          </a:prstGeom>
          <a:noFill/>
        </p:spPr>
        <p:txBody>
          <a:bodyPr wrap="square" lIns="0" tIns="0" rIns="0" bIns="0" rtlCol="0">
            <a:noAutofit/>
          </a:bodyPr>
          <a:lstStyle/>
          <a:p>
            <a:pPr algn="l"/>
            <a:r>
              <a:rPr lang="en-US" sz="9600" b="1">
                <a:solidFill>
                  <a:schemeClr val="bg1"/>
                </a:solidFill>
                <a:latin typeface="Arial" charset="0"/>
                <a:ea typeface="Arial" charset="0"/>
                <a:cs typeface="Arial" charset="0"/>
              </a:rPr>
              <a:t>S4F-ERP</a:t>
            </a:r>
          </a:p>
        </p:txBody>
      </p:sp>
      <p:sp>
        <p:nvSpPr>
          <p:cNvPr id="10" name="Rectangle 9"/>
          <p:cNvSpPr/>
          <p:nvPr userDrawn="1"/>
        </p:nvSpPr>
        <p:spPr>
          <a:xfrm>
            <a:off x="5517737" y="1642984"/>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userDrawn="1"/>
        </p:nvSpPr>
        <p:spPr>
          <a:xfrm>
            <a:off x="4271627" y="4115677"/>
            <a:ext cx="3642610" cy="704538"/>
          </a:xfrm>
          <a:prstGeom prst="rect">
            <a:avLst/>
          </a:prstGeom>
          <a:noFill/>
        </p:spPr>
        <p:txBody>
          <a:bodyPr wrap="square" lIns="0" tIns="0" rIns="0" bIns="0" rtlCol="0">
            <a:noAutofit/>
          </a:bodyPr>
          <a:lstStyle/>
          <a:p>
            <a:pPr algn="ctr"/>
            <a:r>
              <a:rPr lang="en-US" spc="1000">
                <a:solidFill>
                  <a:schemeClr val="bg1"/>
                </a:solidFill>
                <a:latin typeface="Arial" charset="0"/>
                <a:ea typeface="Arial" charset="0"/>
                <a:cs typeface="Arial" charset="0"/>
              </a:rPr>
              <a:t>PROJECT</a:t>
            </a:r>
          </a:p>
        </p:txBody>
      </p:sp>
      <p:sp>
        <p:nvSpPr>
          <p:cNvPr id="12" name="Rectangle 11"/>
          <p:cNvSpPr/>
          <p:nvPr userDrawn="1"/>
        </p:nvSpPr>
        <p:spPr>
          <a:xfrm>
            <a:off x="5517737" y="5047786"/>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775643" y="498252"/>
            <a:ext cx="634576" cy="474992"/>
          </a:xfrm>
          <a:prstGeom prst="rect">
            <a:avLst/>
          </a:prstGeom>
        </p:spPr>
      </p:pic>
    </p:spTree>
    <p:extLst>
      <p:ext uri="{BB962C8B-B14F-4D97-AF65-F5344CB8AC3E}">
        <p14:creationId xmlns:p14="http://schemas.microsoft.com/office/powerpoint/2010/main" val="8184171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3343037" cy="6858001"/>
          </a:xfrm>
          <a:prstGeom prst="rect">
            <a:avLst/>
          </a:prstGeom>
        </p:spPr>
      </p:pic>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10" name="Content Placeholder 2"/>
          <p:cNvSpPr>
            <a:spLocks noGrp="1"/>
          </p:cNvSpPr>
          <p:nvPr>
            <p:ph idx="1"/>
          </p:nvPr>
        </p:nvSpPr>
        <p:spPr>
          <a:xfrm>
            <a:off x="5792779" y="987425"/>
            <a:ext cx="5561021" cy="4873625"/>
          </a:xfrm>
        </p:spPr>
        <p:txBody>
          <a:bodyPr>
            <a:normAutofit/>
          </a:bodyPr>
          <a:lstStyle>
            <a:lvl1pPr>
              <a:defRPr sz="2000">
                <a:latin typeface="Arial" charset="0"/>
                <a:ea typeface="Arial" charset="0"/>
                <a:cs typeface="Arial" charset="0"/>
              </a:defRPr>
            </a:lvl1pPr>
            <a:lvl2pPr>
              <a:defRPr sz="1800">
                <a:latin typeface="Arial" charset="0"/>
                <a:ea typeface="Arial" charset="0"/>
                <a:cs typeface="Arial" charset="0"/>
              </a:defRPr>
            </a:lvl2pPr>
            <a:lvl3pPr>
              <a:defRPr sz="1600">
                <a:latin typeface="Arial" charset="0"/>
                <a:ea typeface="Arial" charset="0"/>
                <a:cs typeface="Arial" charset="0"/>
              </a:defRPr>
            </a:lvl3pPr>
            <a:lvl4pPr>
              <a:defRPr sz="1400">
                <a:latin typeface="Arial" charset="0"/>
                <a:ea typeface="Arial" charset="0"/>
                <a:cs typeface="Arial" charset="0"/>
              </a:defRPr>
            </a:lvl4pPr>
            <a:lvl5pPr>
              <a:defRPr sz="1400">
                <a:latin typeface="Arial" charset="0"/>
                <a:ea typeface="Arial" charset="0"/>
                <a:cs typeface="Arial"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p:cNvSpPr txBox="1"/>
          <p:nvPr userDrawn="1"/>
        </p:nvSpPr>
        <p:spPr>
          <a:xfrm>
            <a:off x="141298" y="2139775"/>
            <a:ext cx="2989658" cy="1941342"/>
          </a:xfrm>
          <a:prstGeom prst="rect">
            <a:avLst/>
          </a:prstGeom>
          <a:noFill/>
        </p:spPr>
        <p:txBody>
          <a:bodyPr wrap="square" lIns="0" tIns="0" rIns="0" bIns="0" rtlCol="0">
            <a:noAutofit/>
          </a:bodyPr>
          <a:lstStyle/>
          <a:p>
            <a:pPr algn="ctr"/>
            <a:r>
              <a:rPr lang="en-US" sz="4400" b="1">
                <a:solidFill>
                  <a:schemeClr val="bg1"/>
                </a:solidFill>
                <a:latin typeface="Arial" charset="0"/>
                <a:ea typeface="Arial" charset="0"/>
                <a:cs typeface="Arial" charset="0"/>
              </a:rPr>
              <a:t>S4F-ERP</a:t>
            </a:r>
          </a:p>
        </p:txBody>
      </p:sp>
      <p:sp>
        <p:nvSpPr>
          <p:cNvPr id="12" name="Rectangle 11"/>
          <p:cNvSpPr/>
          <p:nvPr userDrawn="1"/>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3" name="Rectangle 12"/>
          <p:cNvSpPr/>
          <p:nvPr userDrawn="1"/>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Date Placeholder 1"/>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sp>
        <p:nvSpPr>
          <p:cNvPr id="15" name="Rectangle 14"/>
          <p:cNvSpPr/>
          <p:nvPr userDrawn="1"/>
        </p:nvSpPr>
        <p:spPr>
          <a:xfrm>
            <a:off x="4731547" y="1017332"/>
            <a:ext cx="250825" cy="58406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pic>
        <p:nvPicPr>
          <p:cNvPr id="16" name="Picture 15">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sp>
        <p:nvSpPr>
          <p:cNvPr id="17" name="TextBox 16"/>
          <p:cNvSpPr txBox="1"/>
          <p:nvPr userDrawn="1"/>
        </p:nvSpPr>
        <p:spPr>
          <a:xfrm>
            <a:off x="389295" y="3213617"/>
            <a:ext cx="2493664" cy="704538"/>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PROJECT</a:t>
            </a:r>
          </a:p>
        </p:txBody>
      </p:sp>
    </p:spTree>
    <p:extLst>
      <p:ext uri="{BB962C8B-B14F-4D97-AF65-F5344CB8AC3E}">
        <p14:creationId xmlns:p14="http://schemas.microsoft.com/office/powerpoint/2010/main" val="543811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1"/>
            <a:ext cx="3332215" cy="6858001"/>
          </a:xfrm>
          <a:prstGeom prst="rect">
            <a:avLst/>
          </a:prstGeom>
        </p:spPr>
      </p:pic>
      <p:sp>
        <p:nvSpPr>
          <p:cNvPr id="6" name="Slide Number Placeholder 5"/>
          <p:cNvSpPr>
            <a:spLocks noGrp="1"/>
          </p:cNvSpPr>
          <p:nvPr>
            <p:ph type="sldNum" sz="quarter" idx="12"/>
          </p:nvPr>
        </p:nvSpPr>
        <p:spPr>
          <a:xfrm>
            <a:off x="9448800" y="6492875"/>
            <a:ext cx="2743200" cy="365125"/>
          </a:xfrm>
        </p:spPr>
        <p:txBody>
          <a:bodyPr/>
          <a:lstStyle>
            <a:lvl1pPr>
              <a:defRPr sz="800"/>
            </a:lvl1pPr>
          </a:lstStyle>
          <a:p>
            <a:fld id="{1A6A2304-23DC-2B46-BD14-F082077842FF}" type="slidenum">
              <a:rPr lang="en-US" smtClean="0"/>
              <a:pPr/>
              <a:t>‹#›</a:t>
            </a:fld>
            <a:endParaRPr lang="en-US"/>
          </a:p>
        </p:txBody>
      </p:sp>
      <p:sp>
        <p:nvSpPr>
          <p:cNvPr id="12" name="Date Placeholder 1"/>
          <p:cNvSpPr txBox="1">
            <a:spLocks/>
          </p:cNvSpPr>
          <p:nvPr/>
        </p:nvSpPr>
        <p:spPr>
          <a:xfrm>
            <a:off x="-308599" y="5855770"/>
            <a:ext cx="3889454"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1">
                <a:solidFill>
                  <a:schemeClr val="bg1"/>
                </a:solidFill>
                <a:latin typeface="Roboto" charset="0"/>
                <a:ea typeface="Roboto" charset="0"/>
                <a:cs typeface="Roboto" charset="0"/>
              </a:rPr>
              <a:t>Simplify, Standardize, Accelerate </a:t>
            </a:r>
          </a:p>
        </p:txBody>
      </p:sp>
      <p:sp>
        <p:nvSpPr>
          <p:cNvPr id="8" name="Rectangle 7"/>
          <p:cNvSpPr/>
          <p:nvPr userDrawn="1"/>
        </p:nvSpPr>
        <p:spPr>
          <a:xfrm>
            <a:off x="1060933" y="1604524"/>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1A3140"/>
              </a:solidFill>
            </a:endParaRPr>
          </a:p>
        </p:txBody>
      </p:sp>
      <p:sp>
        <p:nvSpPr>
          <p:cNvPr id="9" name="Rectangle 8"/>
          <p:cNvSpPr/>
          <p:nvPr userDrawn="1"/>
        </p:nvSpPr>
        <p:spPr>
          <a:xfrm>
            <a:off x="1060933" y="4091122"/>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Tree>
    <p:extLst>
      <p:ext uri="{BB962C8B-B14F-4D97-AF65-F5344CB8AC3E}">
        <p14:creationId xmlns:p14="http://schemas.microsoft.com/office/powerpoint/2010/main" val="14301335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Image Title 01">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647272"/>
            <a:ext cx="12192001" cy="4498847"/>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8" name="Picture 7"/>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37358281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Image Title 0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633845"/>
            <a:ext cx="12201057" cy="4499140"/>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10" name="Picture 9"/>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4236123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extLst>
      <p:ext uri="{BB962C8B-B14F-4D97-AF65-F5344CB8AC3E}">
        <p14:creationId xmlns:p14="http://schemas.microsoft.com/office/powerpoint/2010/main" val="17242190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29344211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8888732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21703280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grpSp>
        <p:nvGrpSpPr>
          <p:cNvPr id="6" name="Group 5"/>
          <p:cNvGrpSpPr/>
          <p:nvPr userDrawn="1"/>
        </p:nvGrpSpPr>
        <p:grpSpPr>
          <a:xfrm>
            <a:off x="10086109" y="417870"/>
            <a:ext cx="2105891" cy="569193"/>
            <a:chOff x="10086109" y="5763491"/>
            <a:chExt cx="2105891" cy="569193"/>
          </a:xfrm>
        </p:grpSpPr>
        <p:sp>
          <p:nvSpPr>
            <p:cNvPr id="7" name="Rectangle 6"/>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8" name="Group 7"/>
            <p:cNvGrpSpPr/>
            <p:nvPr/>
          </p:nvGrpSpPr>
          <p:grpSpPr>
            <a:xfrm>
              <a:off x="10538695" y="5812704"/>
              <a:ext cx="1343888" cy="519980"/>
              <a:chOff x="515938" y="466803"/>
              <a:chExt cx="2499478" cy="967103"/>
            </a:xfrm>
          </p:grpSpPr>
          <p:grpSp>
            <p:nvGrpSpPr>
              <p:cNvPr id="9" name="Group 8"/>
              <p:cNvGrpSpPr/>
              <p:nvPr/>
            </p:nvGrpSpPr>
            <p:grpSpPr>
              <a:xfrm>
                <a:off x="515938" y="466803"/>
                <a:ext cx="281354" cy="780960"/>
                <a:chOff x="4342156" y="2541184"/>
                <a:chExt cx="219003" cy="683186"/>
              </a:xfrm>
            </p:grpSpPr>
            <p:sp>
              <p:nvSpPr>
                <p:cNvPr id="11" name="Rectangle 10"/>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2" name="Rounded Rectangle 11"/>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0" name="TextBox 9"/>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42623574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6610232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Divider 02">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7603985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3026644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2897341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131758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2397839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Only 0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5" name="TextBox 4">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7" name="Title 6"/>
          <p:cNvSpPr>
            <a:spLocks noGrp="1"/>
          </p:cNvSpPr>
          <p:nvPr>
            <p:ph type="title"/>
          </p:nvPr>
        </p:nvSpPr>
        <p:spPr/>
        <p:txBody>
          <a:bodyPr/>
          <a:lstStyle/>
          <a:p>
            <a:r>
              <a:rPr lang="en-US"/>
              <a:t>Click to edit Master title style</a:t>
            </a:r>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5094785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8950108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3916663" y="1945294"/>
            <a:ext cx="4405534" cy="1971681"/>
          </a:xfrm>
          <a:prstGeom prst="rect">
            <a:avLst/>
          </a:prstGeom>
          <a:noFill/>
        </p:spPr>
        <p:txBody>
          <a:bodyPr wrap="square" lIns="0" tIns="0" rIns="0" bIns="0" rtlCol="0">
            <a:noAutofit/>
          </a:bodyPr>
          <a:lstStyle/>
          <a:p>
            <a:pPr algn="l"/>
            <a:r>
              <a:rPr lang="en-US" sz="15000" b="1" i="0">
                <a:solidFill>
                  <a:schemeClr val="bg1"/>
                </a:solidFill>
                <a:latin typeface="Arial" charset="0"/>
                <a:ea typeface="Arial" charset="0"/>
                <a:cs typeface="Arial" charset="0"/>
              </a:rPr>
              <a:t>Q&amp;A</a:t>
            </a:r>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rgbClr val="A7E6E4"/>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6" name="TextBox 15">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sp>
        <p:nvSpPr>
          <p:cNvPr id="18" name="TextBox 1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8550967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7" name="TextBox 16">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0202242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770608" y="2544869"/>
            <a:ext cx="2650782" cy="1984161"/>
          </a:xfrm>
          <a:prstGeom prst="rect">
            <a:avLst/>
          </a:prstGeom>
        </p:spPr>
      </p:pic>
      <p:sp>
        <p:nvSpPr>
          <p:cNvPr id="6" name="TextBox 5">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5432009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3843004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448800" y="6484902"/>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29975552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S4F-ERP Knowledge Transfer</a:t>
            </a:r>
          </a:p>
        </p:txBody>
      </p:sp>
      <p:sp>
        <p:nvSpPr>
          <p:cNvPr id="4" name="Slide Number Placeholder 3"/>
          <p:cNvSpPr>
            <a:spLocks noGrp="1"/>
          </p:cNvSpPr>
          <p:nvPr>
            <p:ph type="sldNum" sz="quarter" idx="12"/>
          </p:nvPr>
        </p:nvSpPr>
        <p:spPr>
          <a:xfrm>
            <a:off x="9448800" y="6492875"/>
            <a:ext cx="2743200" cy="365125"/>
          </a:xfrm>
        </p:spPr>
        <p:txBody>
          <a:bodyPr/>
          <a:lstStyle>
            <a:lvl1pPr>
              <a:defRPr sz="800"/>
            </a:lvl1pPr>
          </a:lstStyle>
          <a:p>
            <a:fld id="{1A6A2304-23DC-2B46-BD14-F082077842FF}" type="slidenum">
              <a:rPr lang="en-US" smtClean="0"/>
              <a:pPr/>
              <a:t>‹#›</a:t>
            </a:fld>
            <a:endParaRPr lang="en-US"/>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6" name="TextBox 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spTree>
    <p:extLst>
      <p:ext uri="{BB962C8B-B14F-4D97-AF65-F5344CB8AC3E}">
        <p14:creationId xmlns:p14="http://schemas.microsoft.com/office/powerpoint/2010/main" val="30701193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5938" y="12539"/>
            <a:ext cx="10837863" cy="1325563"/>
          </a:xfrm>
        </p:spPr>
        <p:txBody>
          <a:bodyPr>
            <a:normAutofit/>
          </a:bodyPr>
          <a:lstStyle>
            <a:lvl1pPr>
              <a:defRPr sz="3199">
                <a:latin typeface="Arial" charset="0"/>
                <a:ea typeface="Arial" charset="0"/>
                <a:cs typeface="Arial" charset="0"/>
              </a:defRPr>
            </a:lvl1pPr>
          </a:lstStyle>
          <a:p>
            <a:r>
              <a:rPr lang="en-US"/>
              <a:t>Click to edit Master title style</a:t>
            </a:r>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7" name="Group 6"/>
          <p:cNvGrpSpPr/>
          <p:nvPr/>
        </p:nvGrpSpPr>
        <p:grpSpPr>
          <a:xfrm>
            <a:off x="10086109" y="301055"/>
            <a:ext cx="2105891" cy="569193"/>
            <a:chOff x="10086109" y="5763491"/>
            <a:chExt cx="2105891" cy="569193"/>
          </a:xfrm>
        </p:grpSpPr>
        <p:sp>
          <p:nvSpPr>
            <p:cNvPr id="8" name="Rectangle 7"/>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2"/>
            <a:ext cx="10837863" cy="4067101"/>
          </a:xfrm>
        </p:spPr>
        <p:txBody>
          <a:bodyPr/>
          <a:lstStyle>
            <a:lvl3pPr marL="399930" indent="-195204">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sp>
        <p:nvSpPr>
          <p:cNvPr id="15" name="Date Placeholder 14"/>
          <p:cNvSpPr>
            <a:spLocks noGrp="1"/>
          </p:cNvSpPr>
          <p:nvPr>
            <p:ph type="dt" sz="half" idx="10"/>
          </p:nvPr>
        </p:nvSpPr>
        <p:spPr/>
        <p:txBody>
          <a:bodyPr/>
          <a:lstStyle/>
          <a:p>
            <a:endParaRPr lang="en-GB"/>
          </a:p>
        </p:txBody>
      </p:sp>
      <p:sp>
        <p:nvSpPr>
          <p:cNvPr id="17" name="Footer Placeholder 16"/>
          <p:cNvSpPr>
            <a:spLocks noGrp="1"/>
          </p:cNvSpPr>
          <p:nvPr>
            <p:ph type="ftr" sz="quarter" idx="11"/>
          </p:nvPr>
        </p:nvSpPr>
        <p:spPr>
          <a:xfrm>
            <a:off x="7316057" y="6356352"/>
            <a:ext cx="4114800" cy="365125"/>
          </a:xfrm>
        </p:spPr>
        <p:txBody>
          <a:bodyPr/>
          <a:lstStyle>
            <a:lvl1pPr algn="r">
              <a:defRPr sz="800"/>
            </a:lvl1pPr>
          </a:lstStyle>
          <a:p>
            <a:pPr>
              <a:defRPr/>
            </a:pPr>
            <a:fld id="{737923CA-60CF-4E27-AE00-5869EACE0DFB}" type="slidenum">
              <a:rPr lang="en-US" smtClean="0"/>
              <a:pPr>
                <a:defRPr/>
              </a:pPr>
              <a:t>‹#›</a:t>
            </a:fld>
            <a:endParaRPr lang="en-US"/>
          </a:p>
        </p:txBody>
      </p:sp>
    </p:spTree>
    <p:extLst>
      <p:ext uri="{BB962C8B-B14F-4D97-AF65-F5344CB8AC3E}">
        <p14:creationId xmlns:p14="http://schemas.microsoft.com/office/powerpoint/2010/main" val="5677511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theme" Target="../theme/theme4.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29" Type="http://schemas.openxmlformats.org/officeDocument/2006/relationships/oleObject" Target="../embeddings/oleObject1.bin"/><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tags" Target="../tags/tag2.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tags" Target="../tags/tag1.xml"/><Relationship Id="rId30" Type="http://schemas.openxmlformats.org/officeDocument/2006/relationships/image" Target="../media/image5.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64364AC-3F7D-42EF-8317-6E0E4319EEB1}"/>
              </a:ext>
            </a:extLst>
          </p:cNvPr>
          <p:cNvGraphicFramePr>
            <a:graphicFrameLocks noChangeAspect="1"/>
          </p:cNvGraphicFramePr>
          <p:nvPr userDrawn="1">
            <p:custDataLst>
              <p:tags r:id="rId27"/>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9" imgW="499" imgH="499" progId="TCLayout.ActiveDocument.1">
                  <p:embed/>
                </p:oleObj>
              </mc:Choice>
              <mc:Fallback>
                <p:oleObj name="think-cell Slide" r:id="rId29" imgW="499" imgH="499" progId="TCLayout.ActiveDocument.1">
                  <p:embed/>
                  <p:pic>
                    <p:nvPicPr>
                      <p:cNvPr id="7" name="Object 6" hidden="1">
                        <a:extLst>
                          <a:ext uri="{FF2B5EF4-FFF2-40B4-BE49-F238E27FC236}">
                            <a16:creationId xmlns:a16="http://schemas.microsoft.com/office/drawing/2014/main" id="{264364AC-3F7D-42EF-8317-6E0E4319EEB1}"/>
                          </a:ext>
                        </a:extLst>
                      </p:cNvPr>
                      <p:cNvPicPr/>
                      <p:nvPr/>
                    </p:nvPicPr>
                    <p:blipFill>
                      <a:blip r:embed="rId3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39EE2B7-B72B-4000-9F67-6AE66419B6F9}"/>
              </a:ext>
            </a:extLst>
          </p:cNvPr>
          <p:cNvSpPr/>
          <p:nvPr userDrawn="1">
            <p:custDataLst>
              <p:tags r:id="rId28"/>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1"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954369021"/>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 id="2147483948" r:id="rId12"/>
    <p:sldLayoutId id="2147483949" r:id="rId13"/>
    <p:sldLayoutId id="2147483950" r:id="rId14"/>
    <p:sldLayoutId id="2147483951" r:id="rId15"/>
    <p:sldLayoutId id="2147483952" r:id="rId16"/>
    <p:sldLayoutId id="2147483953" r:id="rId17"/>
    <p:sldLayoutId id="2147483954" r:id="rId18"/>
    <p:sldLayoutId id="2147483955" r:id="rId19"/>
    <p:sldLayoutId id="2147483956" r:id="rId20"/>
    <p:sldLayoutId id="2147483957" r:id="rId21"/>
    <p:sldLayoutId id="2147483958" r:id="rId22"/>
    <p:sldLayoutId id="2147483959" r:id="rId23"/>
    <p:sldLayoutId id="2147483960" r:id="rId24"/>
    <p:sldLayoutId id="2147483961" r:id="rId2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3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9.png"/><Relationship Id="rId1" Type="http://schemas.openxmlformats.org/officeDocument/2006/relationships/slideLayout" Target="../slideLayouts/slideLayout20.xml"/><Relationship Id="rId5" Type="http://schemas.openxmlformats.org/officeDocument/2006/relationships/image" Target="../media/image21.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2.png"/><Relationship Id="rId1" Type="http://schemas.openxmlformats.org/officeDocument/2006/relationships/slideLayout" Target="../slideLayouts/slideLayout20.xml"/><Relationship Id="rId5" Type="http://schemas.microsoft.com/office/2007/relationships/hdphoto" Target="../media/hdphoto4.wdp"/><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2.xml"/><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microsoft.com/office/2007/relationships/hdphoto" Target="../media/hdphoto5.wdp"/><Relationship Id="rId7" Type="http://schemas.microsoft.com/office/2007/relationships/hdphoto" Target="../media/hdphoto7.wdp"/><Relationship Id="rId2" Type="http://schemas.openxmlformats.org/officeDocument/2006/relationships/image" Target="../media/image29.png"/><Relationship Id="rId1" Type="http://schemas.openxmlformats.org/officeDocument/2006/relationships/slideLayout" Target="../slideLayouts/slideLayout22.xml"/><Relationship Id="rId6" Type="http://schemas.openxmlformats.org/officeDocument/2006/relationships/image" Target="../media/image31.png"/><Relationship Id="rId5" Type="http://schemas.microsoft.com/office/2007/relationships/hdphoto" Target="../media/hdphoto6.wdp"/><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9406"/>
            <a:ext cx="12192000" cy="4902409"/>
          </a:xfrm>
          <a:prstGeom prst="rect">
            <a:avLst/>
          </a:prstGeom>
          <a:gradFill flip="none" rotWithShape="1">
            <a:gsLst>
              <a:gs pos="0">
                <a:schemeClr val="accent1">
                  <a:lumMod val="75000"/>
                </a:schemeClr>
              </a:gs>
              <a:gs pos="100000">
                <a:schemeClr val="accent1">
                  <a:lumMod val="20000"/>
                  <a:lumOff val="80000"/>
                  <a:alpha val="3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a:xfrm>
            <a:off x="11278800" y="628253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solidFill>
                  <a:srgbClr val="000000"/>
                </a:solidFill>
              </a:rPr>
              <a:t>Period End Closing Key Process Areas and New Period End Checks</a:t>
            </a:r>
          </a:p>
        </p:txBody>
      </p:sp>
      <p:sp>
        <p:nvSpPr>
          <p:cNvPr id="40" name="Rounded Rectangle 39"/>
          <p:cNvSpPr/>
          <p:nvPr/>
        </p:nvSpPr>
        <p:spPr>
          <a:xfrm>
            <a:off x="853017" y="3177153"/>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000000"/>
                </a:solidFill>
                <a:effectLst/>
                <a:uLnTx/>
                <a:uFillTx/>
                <a:latin typeface="Arial" charset="0"/>
                <a:ea typeface="+mn-ea"/>
                <a:cs typeface="Arial" charset="0"/>
              </a:rPr>
              <a:t>Period End Closing for Accruals and Recurring Entries</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807351" y="4027904"/>
            <a:ext cx="412441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Monthly Recurring Entries Posting</a:t>
            </a:r>
          </a:p>
        </p:txBody>
      </p: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4529469" y="2592572"/>
            <a:ext cx="1127055" cy="79139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17" name="Elbow Connector 7">
            <a:extLst>
              <a:ext uri="{FF2B5EF4-FFF2-40B4-BE49-F238E27FC236}">
                <a16:creationId xmlns:a16="http://schemas.microsoft.com/office/drawing/2014/main" id="{06B3D66A-D303-4524-8C8E-FC2882AAAE9A}"/>
              </a:ext>
            </a:extLst>
          </p:cNvPr>
          <p:cNvCxnSpPr>
            <a:cxnSpLocks/>
          </p:cNvCxnSpPr>
          <p:nvPr/>
        </p:nvCxnSpPr>
        <p:spPr>
          <a:xfrm rot="16200000" flipH="1">
            <a:off x="4934912" y="3558138"/>
            <a:ext cx="879696" cy="563529"/>
          </a:xfrm>
          <a:prstGeom prst="bentConnector3">
            <a:avLst>
              <a:gd name="adj1" fmla="val 100764"/>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1" name="Rounded Rectangle 39">
            <a:extLst>
              <a:ext uri="{FF2B5EF4-FFF2-40B4-BE49-F238E27FC236}">
                <a16:creationId xmlns:a16="http://schemas.microsoft.com/office/drawing/2014/main" id="{924F80A1-1595-4D0A-99BB-4E4BC34E0927}"/>
              </a:ext>
            </a:extLst>
          </p:cNvPr>
          <p:cNvSpPr/>
          <p:nvPr/>
        </p:nvSpPr>
        <p:spPr>
          <a:xfrm>
            <a:off x="5807351" y="2166899"/>
            <a:ext cx="412441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latin typeface="Arial" panose="020B0604020202020204"/>
                <a:cs typeface="Arial"/>
              </a:rPr>
              <a:t>Monthly Accrual Run</a:t>
            </a:r>
          </a:p>
        </p:txBody>
      </p:sp>
    </p:spTree>
    <p:extLst>
      <p:ext uri="{BB962C8B-B14F-4D97-AF65-F5344CB8AC3E}">
        <p14:creationId xmlns:p14="http://schemas.microsoft.com/office/powerpoint/2010/main" val="3993921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93E0862-2BD4-4B88-9ABD-1AAB8668BE5B}"/>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6164511" y="1402042"/>
            <a:ext cx="5872157" cy="3136434"/>
          </a:xfrm>
          <a:prstGeom prst="rect">
            <a:avLst/>
          </a:prstGeom>
          <a:effectLst>
            <a:outerShdw blurRad="50800" dist="38100" dir="2700000" algn="tl" rotWithShape="0">
              <a:prstClr val="black">
                <a:alpha val="40000"/>
              </a:prstClr>
            </a:outerShdw>
          </a:effectLst>
        </p:spPr>
      </p:pic>
      <p:sp>
        <p:nvSpPr>
          <p:cNvPr id="24" name="Slide Number Placeholder 2">
            <a:extLst>
              <a:ext uri="{FF2B5EF4-FFF2-40B4-BE49-F238E27FC236}">
                <a16:creationId xmlns:a16="http://schemas.microsoft.com/office/drawing/2014/main" id="{5F78778B-8AE7-403D-A352-D875AF28F1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2FDAB986-BF86-4644-9EF9-32D75C653C5E}"/>
              </a:ext>
            </a:extLst>
          </p:cNvPr>
          <p:cNvSpPr>
            <a:spLocks noGrp="1"/>
          </p:cNvSpPr>
          <p:nvPr>
            <p:ph type="title"/>
          </p:nvPr>
        </p:nvSpPr>
        <p:spPr>
          <a:xfrm>
            <a:off x="1576968" y="233127"/>
            <a:ext cx="10220126" cy="984247"/>
          </a:xfrm>
        </p:spPr>
        <p:txBody>
          <a:bodyPr/>
          <a:lstStyle/>
          <a:p>
            <a:r>
              <a:rPr lang="en-GB"/>
              <a:t>Monthly Recurring Entries Posting (1/3): Overview</a:t>
            </a:r>
          </a:p>
        </p:txBody>
      </p:sp>
      <p:sp>
        <p:nvSpPr>
          <p:cNvPr id="8" name="Rectangle 7">
            <a:extLst>
              <a:ext uri="{FF2B5EF4-FFF2-40B4-BE49-F238E27FC236}">
                <a16:creationId xmlns:a16="http://schemas.microsoft.com/office/drawing/2014/main" id="{23CA56EC-827F-49BB-A015-79EA68FD2EFE}"/>
              </a:ext>
            </a:extLst>
          </p:cNvPr>
          <p:cNvSpPr/>
          <p:nvPr/>
        </p:nvSpPr>
        <p:spPr>
          <a:xfrm>
            <a:off x="6367352" y="2078954"/>
            <a:ext cx="5429742" cy="307777"/>
          </a:xfrm>
          <a:prstGeom prst="rect">
            <a:avLst/>
          </a:prstGeom>
        </p:spPr>
        <p:txBody>
          <a:bodyPr wrap="square">
            <a:spAutoFit/>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Freeform: Shape 24">
            <a:extLst>
              <a:ext uri="{FF2B5EF4-FFF2-40B4-BE49-F238E27FC236}">
                <a16:creationId xmlns:a16="http://schemas.microsoft.com/office/drawing/2014/main" id="{513203DA-10E1-4520-B0AF-701FDA830BC8}"/>
              </a:ext>
            </a:extLst>
          </p:cNvPr>
          <p:cNvSpPr/>
          <p:nvPr/>
        </p:nvSpPr>
        <p:spPr>
          <a:xfrm>
            <a:off x="558224" y="4732091"/>
            <a:ext cx="1886829" cy="619635"/>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T-Code</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F.14</a:t>
            </a:r>
          </a:p>
        </p:txBody>
      </p:sp>
      <p:sp>
        <p:nvSpPr>
          <p:cNvPr id="27" name="Freeform: Shape 26">
            <a:extLst>
              <a:ext uri="{FF2B5EF4-FFF2-40B4-BE49-F238E27FC236}">
                <a16:creationId xmlns:a16="http://schemas.microsoft.com/office/drawing/2014/main" id="{F70E22DA-9C3D-4EF6-9EEC-7D94927A4C2B}"/>
              </a:ext>
            </a:extLst>
          </p:cNvPr>
          <p:cNvSpPr/>
          <p:nvPr/>
        </p:nvSpPr>
        <p:spPr>
          <a:xfrm>
            <a:off x="558224" y="6205160"/>
            <a:ext cx="1886829" cy="537203"/>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Timing: </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WD-3 to WD2 daily</a:t>
            </a:r>
          </a:p>
        </p:txBody>
      </p:sp>
      <p:sp>
        <p:nvSpPr>
          <p:cNvPr id="38" name="Freeform: Shape 37">
            <a:extLst>
              <a:ext uri="{FF2B5EF4-FFF2-40B4-BE49-F238E27FC236}">
                <a16:creationId xmlns:a16="http://schemas.microsoft.com/office/drawing/2014/main" id="{454F50E9-FEB5-4789-BF3B-3A639F5DC84C}"/>
              </a:ext>
            </a:extLst>
          </p:cNvPr>
          <p:cNvSpPr/>
          <p:nvPr/>
        </p:nvSpPr>
        <p:spPr>
          <a:xfrm>
            <a:off x="568102" y="5458924"/>
            <a:ext cx="1886829" cy="619635"/>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FCC Task</a:t>
            </a:r>
            <a:r>
              <a:rPr kumimoji="0" lang="en-US" sz="16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 GBS/JTBC Level</a:t>
            </a:r>
          </a:p>
        </p:txBody>
      </p:sp>
      <p:sp>
        <p:nvSpPr>
          <p:cNvPr id="5" name="Rectangle 4">
            <a:extLst>
              <a:ext uri="{FF2B5EF4-FFF2-40B4-BE49-F238E27FC236}">
                <a16:creationId xmlns:a16="http://schemas.microsoft.com/office/drawing/2014/main" id="{45F95EF3-7599-40F1-BC7E-247951A21F76}"/>
              </a:ext>
            </a:extLst>
          </p:cNvPr>
          <p:cNvSpPr/>
          <p:nvPr/>
        </p:nvSpPr>
        <p:spPr>
          <a:xfrm>
            <a:off x="2454930" y="4800645"/>
            <a:ext cx="8975069" cy="784830"/>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 Monthly Recurring Entries Posting run posts the actual accounting document for the period </a:t>
            </a:r>
            <a:r>
              <a:rPr lang="en-GB" sz="1200" i="1">
                <a:solidFill>
                  <a:srgbClr val="000000"/>
                </a:solidFill>
                <a:latin typeface="Georgia" panose="02040502050405020303" pitchFamily="18" charset="0"/>
              </a:rPr>
              <a:t>using selected valid Recurring Entries documents as reference documents. The use of T-Code F.14 remains the same in S/4 as in ECC.</a:t>
            </a:r>
          </a:p>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i="1" u="none" strike="noStrike" kern="1200" cap="none" spc="0" normalizeH="0" baseline="0" noProof="0">
                <a:ln>
                  <a:noFill/>
                </a:ln>
                <a:solidFill>
                  <a:srgbClr val="000000"/>
                </a:solidFill>
                <a:effectLst/>
                <a:uLnTx/>
                <a:uFillTx/>
                <a:latin typeface="Georgia" panose="02040502050405020303" pitchFamily="18" charset="0"/>
                <a:ea typeface="+mn-ea"/>
                <a:cs typeface="+mn-cs"/>
              </a:rPr>
              <a:t>It is important to note that Recurring Entries postings are </a:t>
            </a:r>
            <a:r>
              <a:rPr kumimoji="0" lang="en-GB" sz="12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ledger-through postings </a:t>
            </a:r>
            <a:r>
              <a:rPr kumimoji="0" lang="en-GB" sz="1200" i="1" u="none" strike="noStrike" kern="1200" cap="none" spc="0" normalizeH="0" baseline="0" noProof="0">
                <a:ln>
                  <a:noFill/>
                </a:ln>
                <a:solidFill>
                  <a:srgbClr val="000000"/>
                </a:solidFill>
                <a:effectLst/>
                <a:uLnTx/>
                <a:uFillTx/>
                <a:latin typeface="Georgia" panose="02040502050405020303" pitchFamily="18" charset="0"/>
                <a:ea typeface="+mn-ea"/>
                <a:cs typeface="+mn-cs"/>
              </a:rPr>
              <a:t>which impact all ledgers at the same time.</a:t>
            </a:r>
          </a:p>
        </p:txBody>
      </p:sp>
      <p:sp>
        <p:nvSpPr>
          <p:cNvPr id="10" name="Rectangle 9">
            <a:extLst>
              <a:ext uri="{FF2B5EF4-FFF2-40B4-BE49-F238E27FC236}">
                <a16:creationId xmlns:a16="http://schemas.microsoft.com/office/drawing/2014/main" id="{141AA02A-B49B-45C1-8C1D-6AD74350EDB8}"/>
              </a:ext>
            </a:extLst>
          </p:cNvPr>
          <p:cNvSpPr/>
          <p:nvPr/>
        </p:nvSpPr>
        <p:spPr>
          <a:xfrm>
            <a:off x="2443630" y="6300244"/>
            <a:ext cx="8975069" cy="246221"/>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This is to ensure any newly created Recurring Entries can be picked </a:t>
            </a:r>
            <a:r>
              <a:rPr lang="en-GB" sz="1200" i="1">
                <a:solidFill>
                  <a:srgbClr val="000000"/>
                </a:solidFill>
                <a:latin typeface="Georgia" panose="02040502050405020303" pitchFamily="18" charset="0"/>
              </a:rPr>
              <a:t>up</a:t>
            </a: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for the monthly run.</a:t>
            </a:r>
          </a:p>
        </p:txBody>
      </p:sp>
      <p:sp>
        <p:nvSpPr>
          <p:cNvPr id="40" name="Rectangle 39">
            <a:extLst>
              <a:ext uri="{FF2B5EF4-FFF2-40B4-BE49-F238E27FC236}">
                <a16:creationId xmlns:a16="http://schemas.microsoft.com/office/drawing/2014/main" id="{689CBDBA-83EE-41DF-8DA7-B8B49163AD50}"/>
              </a:ext>
            </a:extLst>
          </p:cNvPr>
          <p:cNvSpPr/>
          <p:nvPr/>
        </p:nvSpPr>
        <p:spPr>
          <a:xfrm>
            <a:off x="2443630" y="5588890"/>
            <a:ext cx="8975069" cy="400110"/>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Entities using Recurring Entries are included in the GBS/JTBC variant for F.14. Like any task set at GBS/JTBC level, you should ensure the variant has included the required entities before the tasks are due to be run. </a:t>
            </a:r>
          </a:p>
        </p:txBody>
      </p:sp>
      <p:sp>
        <p:nvSpPr>
          <p:cNvPr id="41" name="Rectangle: Rounded Corners 40">
            <a:extLst>
              <a:ext uri="{FF2B5EF4-FFF2-40B4-BE49-F238E27FC236}">
                <a16:creationId xmlns:a16="http://schemas.microsoft.com/office/drawing/2014/main" id="{0BAE89FA-D485-41D3-B31A-1D7EC9BAC655}"/>
              </a:ext>
            </a:extLst>
          </p:cNvPr>
          <p:cNvSpPr/>
          <p:nvPr/>
        </p:nvSpPr>
        <p:spPr>
          <a:xfrm>
            <a:off x="6634552" y="2928929"/>
            <a:ext cx="2043456" cy="1239559"/>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2" name="Rectangle: Rounded Corners 41">
            <a:extLst>
              <a:ext uri="{FF2B5EF4-FFF2-40B4-BE49-F238E27FC236}">
                <a16:creationId xmlns:a16="http://schemas.microsoft.com/office/drawing/2014/main" id="{ED552CFC-CBAD-4F25-973D-DFCC6918A1FC}"/>
              </a:ext>
            </a:extLst>
          </p:cNvPr>
          <p:cNvSpPr/>
          <p:nvPr/>
        </p:nvSpPr>
        <p:spPr>
          <a:xfrm>
            <a:off x="11553092" y="4181764"/>
            <a:ext cx="420832" cy="223182"/>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grpSp>
        <p:nvGrpSpPr>
          <p:cNvPr id="26" name="Group 25">
            <a:extLst>
              <a:ext uri="{FF2B5EF4-FFF2-40B4-BE49-F238E27FC236}">
                <a16:creationId xmlns:a16="http://schemas.microsoft.com/office/drawing/2014/main" id="{4C5E2CC5-2C66-4542-8223-46C3080CF74E}"/>
              </a:ext>
            </a:extLst>
          </p:cNvPr>
          <p:cNvGrpSpPr/>
          <p:nvPr/>
        </p:nvGrpSpPr>
        <p:grpSpPr>
          <a:xfrm>
            <a:off x="459716" y="1453784"/>
            <a:ext cx="5409875" cy="2741304"/>
            <a:chOff x="607926" y="3508514"/>
            <a:chExt cx="5409875" cy="2741304"/>
          </a:xfrm>
        </p:grpSpPr>
        <p:sp>
          <p:nvSpPr>
            <p:cNvPr id="28" name="Rectangle: Rounded Corners 27">
              <a:extLst>
                <a:ext uri="{FF2B5EF4-FFF2-40B4-BE49-F238E27FC236}">
                  <a16:creationId xmlns:a16="http://schemas.microsoft.com/office/drawing/2014/main" id="{632755FA-8251-4818-B7EC-7A033CCBD198}"/>
                </a:ext>
              </a:extLst>
            </p:cNvPr>
            <p:cNvSpPr/>
            <p:nvPr/>
          </p:nvSpPr>
          <p:spPr>
            <a:xfrm>
              <a:off x="607926" y="3508514"/>
              <a:ext cx="5409875" cy="2481954"/>
            </a:xfrm>
            <a:prstGeom prst="roundRect">
              <a:avLst>
                <a:gd name="adj" fmla="val 4667"/>
              </a:avLst>
            </a:prstGeom>
            <a:solidFill>
              <a:schemeClr val="accent6">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TextBox 28">
              <a:extLst>
                <a:ext uri="{FF2B5EF4-FFF2-40B4-BE49-F238E27FC236}">
                  <a16:creationId xmlns:a16="http://schemas.microsoft.com/office/drawing/2014/main" id="{5A971985-60E8-4735-9D02-63B2F413B723}"/>
                </a:ext>
              </a:extLst>
            </p:cNvPr>
            <p:cNvSpPr txBox="1"/>
            <p:nvPr/>
          </p:nvSpPr>
          <p:spPr>
            <a:xfrm>
              <a:off x="1739348" y="3647661"/>
              <a:ext cx="3441952" cy="28823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sng" strike="noStrike" kern="1200" cap="none" spc="0" normalizeH="0" baseline="0" noProof="0">
                  <a:ln>
                    <a:noFill/>
                  </a:ln>
                  <a:solidFill>
                    <a:srgbClr val="000000"/>
                  </a:solidFill>
                  <a:effectLst/>
                  <a:uLnTx/>
                  <a:uFillTx/>
                  <a:latin typeface="Aharoni" panose="02010803020104030203" pitchFamily="2" charset="-79"/>
                  <a:ea typeface="+mn-ea"/>
                  <a:cs typeface="Aharoni" panose="02010803020104030203" pitchFamily="2" charset="-79"/>
                </a:rPr>
                <a:t>Basic Recurring Entries Process</a:t>
              </a:r>
            </a:p>
          </p:txBody>
        </p:sp>
        <p:sp>
          <p:nvSpPr>
            <p:cNvPr id="35" name="Freeform: Shape 34">
              <a:extLst>
                <a:ext uri="{FF2B5EF4-FFF2-40B4-BE49-F238E27FC236}">
                  <a16:creationId xmlns:a16="http://schemas.microsoft.com/office/drawing/2014/main" id="{996D2CF9-7E72-4991-963E-9CE3CAE5C97C}"/>
                </a:ext>
              </a:extLst>
            </p:cNvPr>
            <p:cNvSpPr/>
            <p:nvPr/>
          </p:nvSpPr>
          <p:spPr>
            <a:xfrm>
              <a:off x="1040117" y="4072761"/>
              <a:ext cx="1495573" cy="759060"/>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lumMod val="50000"/>
                </a:schemeClr>
              </a:solidFill>
            </a:ln>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Create Recurring Document during the month</a:t>
              </a:r>
            </a:p>
          </p:txBody>
        </p:sp>
        <p:sp>
          <p:nvSpPr>
            <p:cNvPr id="36" name="Freeform: Shape 35">
              <a:extLst>
                <a:ext uri="{FF2B5EF4-FFF2-40B4-BE49-F238E27FC236}">
                  <a16:creationId xmlns:a16="http://schemas.microsoft.com/office/drawing/2014/main" id="{33386936-6732-4E43-AB43-C448154C3062}"/>
                </a:ext>
              </a:extLst>
            </p:cNvPr>
            <p:cNvSpPr/>
            <p:nvPr/>
          </p:nvSpPr>
          <p:spPr>
            <a:xfrm>
              <a:off x="2937894" y="4233621"/>
              <a:ext cx="739145" cy="427038"/>
            </a:xfrm>
            <a:custGeom>
              <a:avLst/>
              <a:gdLst>
                <a:gd name="connsiteX0" fmla="*/ 0 w 652241"/>
                <a:gd name="connsiteY0" fmla="*/ 152600 h 762999"/>
                <a:gd name="connsiteX1" fmla="*/ 326121 w 652241"/>
                <a:gd name="connsiteY1" fmla="*/ 152600 h 762999"/>
                <a:gd name="connsiteX2" fmla="*/ 326121 w 652241"/>
                <a:gd name="connsiteY2" fmla="*/ 0 h 762999"/>
                <a:gd name="connsiteX3" fmla="*/ 652241 w 652241"/>
                <a:gd name="connsiteY3" fmla="*/ 381500 h 762999"/>
                <a:gd name="connsiteX4" fmla="*/ 326121 w 652241"/>
                <a:gd name="connsiteY4" fmla="*/ 762999 h 762999"/>
                <a:gd name="connsiteX5" fmla="*/ 326121 w 652241"/>
                <a:gd name="connsiteY5" fmla="*/ 610399 h 762999"/>
                <a:gd name="connsiteX6" fmla="*/ 0 w 652241"/>
                <a:gd name="connsiteY6" fmla="*/ 610399 h 762999"/>
                <a:gd name="connsiteX7" fmla="*/ 0 w 652241"/>
                <a:gd name="connsiteY7" fmla="*/ 152600 h 76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2241" h="762999">
                  <a:moveTo>
                    <a:pt x="0" y="152600"/>
                  </a:moveTo>
                  <a:lnTo>
                    <a:pt x="326121" y="152600"/>
                  </a:lnTo>
                  <a:lnTo>
                    <a:pt x="326121" y="0"/>
                  </a:lnTo>
                  <a:lnTo>
                    <a:pt x="652241" y="381500"/>
                  </a:lnTo>
                  <a:lnTo>
                    <a:pt x="326121" y="762999"/>
                  </a:lnTo>
                  <a:lnTo>
                    <a:pt x="326121" y="610399"/>
                  </a:lnTo>
                  <a:lnTo>
                    <a:pt x="0" y="610399"/>
                  </a:lnTo>
                  <a:lnTo>
                    <a:pt x="0" y="152600"/>
                  </a:lnTo>
                  <a:close/>
                </a:path>
              </a:pathLst>
            </a:custGeom>
            <a:solidFill>
              <a:schemeClr val="accent3"/>
            </a:solidFill>
          </p:spPr>
          <p:style>
            <a:lnRef idx="0">
              <a:schemeClr val="accent1">
                <a:shade val="90000"/>
                <a:hueOff val="0"/>
                <a:satOff val="0"/>
                <a:lumOff val="0"/>
                <a:alphaOff val="0"/>
              </a:schemeClr>
            </a:lnRef>
            <a:fillRef idx="3">
              <a:schemeClr val="accent1">
                <a:shade val="90000"/>
                <a:hueOff val="0"/>
                <a:satOff val="0"/>
                <a:lumOff val="0"/>
                <a:alphaOff val="0"/>
              </a:schemeClr>
            </a:fillRef>
            <a:effectRef idx="3">
              <a:schemeClr val="accent1">
                <a:shade val="90000"/>
                <a:hueOff val="0"/>
                <a:satOff val="0"/>
                <a:lumOff val="0"/>
                <a:alphaOff val="0"/>
              </a:schemeClr>
            </a:effectRef>
            <a:fontRef idx="minor">
              <a:schemeClr val="lt1"/>
            </a:fontRef>
          </p:style>
          <p:txBody>
            <a:bodyPr spcFirstLastPara="0" vert="horz" wrap="square" lIns="0" tIns="152600" rIns="195672" bIns="152600"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en-GB" sz="3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7" name="Freeform: Shape 36">
              <a:extLst>
                <a:ext uri="{FF2B5EF4-FFF2-40B4-BE49-F238E27FC236}">
                  <a16:creationId xmlns:a16="http://schemas.microsoft.com/office/drawing/2014/main" id="{9ADA254F-9403-471B-8E40-E989D9C72786}"/>
                </a:ext>
              </a:extLst>
            </p:cNvPr>
            <p:cNvSpPr/>
            <p:nvPr/>
          </p:nvSpPr>
          <p:spPr>
            <a:xfrm>
              <a:off x="4052008" y="4054963"/>
              <a:ext cx="1495573" cy="759060"/>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1">
                  <a:lumMod val="50000"/>
                </a:schemeClr>
              </a:solidFill>
            </a:ln>
          </p:spPr>
          <p:style>
            <a:lnRef idx="0">
              <a:schemeClr val="lt1">
                <a:hueOff val="0"/>
                <a:satOff val="0"/>
                <a:lumOff val="0"/>
                <a:alphaOff val="0"/>
              </a:schemeClr>
            </a:lnRef>
            <a:fillRef idx="3">
              <a:schemeClr val="accent1">
                <a:shade val="50000"/>
                <a:hueOff val="-22819"/>
                <a:satOff val="12637"/>
                <a:lumOff val="24540"/>
                <a:alphaOff val="0"/>
              </a:schemeClr>
            </a:fillRef>
            <a:effectRef idx="3">
              <a:schemeClr val="accent1">
                <a:shade val="50000"/>
                <a:hueOff val="-22819"/>
                <a:satOff val="12637"/>
                <a:lumOff val="2454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288925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srgbClr val="000000">
                      <a:lumMod val="75000"/>
                      <a:lumOff val="25000"/>
                    </a:srgbClr>
                  </a:solidFill>
                  <a:effectLst/>
                  <a:uLnTx/>
                  <a:uFillTx/>
                  <a:latin typeface="Arial" panose="020B0604020202020204"/>
                  <a:ea typeface="+mn-ea"/>
                  <a:cs typeface="+mn-cs"/>
                </a:rPr>
                <a:t>Periodic run for Recurring Entries </a:t>
              </a:r>
            </a:p>
          </p:txBody>
        </p:sp>
        <p:sp>
          <p:nvSpPr>
            <p:cNvPr id="43" name="TextBox 42">
              <a:extLst>
                <a:ext uri="{FF2B5EF4-FFF2-40B4-BE49-F238E27FC236}">
                  <a16:creationId xmlns:a16="http://schemas.microsoft.com/office/drawing/2014/main" id="{09856F5B-064C-4F17-88FD-538040626EE9}"/>
                </a:ext>
              </a:extLst>
            </p:cNvPr>
            <p:cNvSpPr txBox="1"/>
            <p:nvPr/>
          </p:nvSpPr>
          <p:spPr>
            <a:xfrm>
              <a:off x="1040117" y="4919870"/>
              <a:ext cx="2343329" cy="1329948"/>
            </a:xfrm>
            <a:prstGeom prst="rect">
              <a:avLst/>
            </a:prstGeom>
            <a:noFill/>
          </p:spPr>
          <p:txBody>
            <a:bodyPr wrap="square" lIns="0" tIns="0" rIns="0" bIns="0" rtlCol="0">
              <a:noAutofit/>
            </a:bodyPr>
            <a:lstStyle/>
            <a:p>
              <a:pPr marL="108000" marR="0" lvl="0" indent="-108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Define the document header and line items that are to be re-used periodically for generating actual postings.</a:t>
              </a:r>
            </a:p>
            <a:p>
              <a:pPr marL="108000" marR="0" lvl="0" indent="-108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Define the posting date and posting intervals of the periodic postings.</a:t>
              </a:r>
            </a:p>
          </p:txBody>
        </p:sp>
        <p:sp>
          <p:nvSpPr>
            <p:cNvPr id="46" name="TextBox 45">
              <a:extLst>
                <a:ext uri="{FF2B5EF4-FFF2-40B4-BE49-F238E27FC236}">
                  <a16:creationId xmlns:a16="http://schemas.microsoft.com/office/drawing/2014/main" id="{4BDFF688-E9CD-4A5A-8319-8BF8285FF7CD}"/>
                </a:ext>
              </a:extLst>
            </p:cNvPr>
            <p:cNvSpPr txBox="1"/>
            <p:nvPr/>
          </p:nvSpPr>
          <p:spPr>
            <a:xfrm>
              <a:off x="4025347" y="4893270"/>
              <a:ext cx="1751591" cy="1329948"/>
            </a:xfrm>
            <a:prstGeom prst="rect">
              <a:avLst/>
            </a:prstGeom>
            <a:noFill/>
          </p:spPr>
          <p:txBody>
            <a:bodyPr wrap="square" lIns="0" tIns="0" rIns="0" bIns="0" rtlCol="0">
              <a:noAutofit/>
            </a:bodyPr>
            <a:lstStyle/>
            <a:p>
              <a:pPr marL="108000" marR="0" lvl="0" indent="-108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Monthly execution of the selected Recurring Entries, generating accounting document for a given posting period.</a:t>
              </a:r>
            </a:p>
          </p:txBody>
        </p:sp>
      </p:grpSp>
      <p:sp>
        <p:nvSpPr>
          <p:cNvPr id="47" name="Rectangle 46">
            <a:extLst>
              <a:ext uri="{FF2B5EF4-FFF2-40B4-BE49-F238E27FC236}">
                <a16:creationId xmlns:a16="http://schemas.microsoft.com/office/drawing/2014/main" id="{6BFBE1EE-0108-4F72-9906-687A8F236F44}"/>
              </a:ext>
            </a:extLst>
          </p:cNvPr>
          <p:cNvSpPr/>
          <p:nvPr/>
        </p:nvSpPr>
        <p:spPr>
          <a:xfrm>
            <a:off x="3754752" y="1831512"/>
            <a:ext cx="1871893" cy="18723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1241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F7B135-3906-4F73-B6E5-4263288E053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517931" y="1394376"/>
            <a:ext cx="4591790" cy="4722591"/>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AF05CB04-6686-480D-9D8E-C7E9FD47A4D8}"/>
              </a:ext>
            </a:extLst>
          </p:cNvPr>
          <p:cNvSpPr>
            <a:spLocks noGrp="1"/>
          </p:cNvSpPr>
          <p:nvPr>
            <p:ph type="title"/>
          </p:nvPr>
        </p:nvSpPr>
        <p:spPr/>
        <p:txBody>
          <a:bodyPr/>
          <a:lstStyle/>
          <a:p>
            <a:r>
              <a:rPr lang="en-GB"/>
              <a:t>Monthly Recurring Entries Posting (2/3):  Execution</a:t>
            </a:r>
            <a:endParaRPr lang="en-US"/>
          </a:p>
        </p:txBody>
      </p:sp>
      <p:sp>
        <p:nvSpPr>
          <p:cNvPr id="5" name="Slide Number Placeholder 4">
            <a:extLst>
              <a:ext uri="{FF2B5EF4-FFF2-40B4-BE49-F238E27FC236}">
                <a16:creationId xmlns:a16="http://schemas.microsoft.com/office/drawing/2014/main" id="{DBDD6361-8403-4DAF-A6D1-27C877BC989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Rectangle: Rounded Corners 6">
            <a:extLst>
              <a:ext uri="{FF2B5EF4-FFF2-40B4-BE49-F238E27FC236}">
                <a16:creationId xmlns:a16="http://schemas.microsoft.com/office/drawing/2014/main" id="{425496C8-DBAA-475B-A3FA-E68AC9ECD9CF}"/>
              </a:ext>
            </a:extLst>
          </p:cNvPr>
          <p:cNvSpPr/>
          <p:nvPr/>
        </p:nvSpPr>
        <p:spPr>
          <a:xfrm>
            <a:off x="2540977" y="1394376"/>
            <a:ext cx="2549767"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F.14 - Recurring Entries Periodic Run</a:t>
            </a:r>
          </a:p>
        </p:txBody>
      </p:sp>
      <p:sp>
        <p:nvSpPr>
          <p:cNvPr id="10" name="Rectangle: Rounded Corners 9">
            <a:extLst>
              <a:ext uri="{FF2B5EF4-FFF2-40B4-BE49-F238E27FC236}">
                <a16:creationId xmlns:a16="http://schemas.microsoft.com/office/drawing/2014/main" id="{0216BBFF-9E83-4E7B-B28B-0522B6738510}"/>
              </a:ext>
            </a:extLst>
          </p:cNvPr>
          <p:cNvSpPr/>
          <p:nvPr/>
        </p:nvSpPr>
        <p:spPr>
          <a:xfrm>
            <a:off x="1511276" y="3119160"/>
            <a:ext cx="3579468" cy="217491"/>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1" name="Arrow: Striped Right 10">
            <a:extLst>
              <a:ext uri="{FF2B5EF4-FFF2-40B4-BE49-F238E27FC236}">
                <a16:creationId xmlns:a16="http://schemas.microsoft.com/office/drawing/2014/main" id="{C09552E2-05FC-4405-9978-5DC9444B169A}"/>
              </a:ext>
            </a:extLst>
          </p:cNvPr>
          <p:cNvSpPr/>
          <p:nvPr/>
        </p:nvSpPr>
        <p:spPr>
          <a:xfrm>
            <a:off x="5105406" y="3152382"/>
            <a:ext cx="290147" cy="151046"/>
          </a:xfrm>
          <a:prstGeom prst="stripedRightArrow">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Rectangle 13">
            <a:extLst>
              <a:ext uri="{FF2B5EF4-FFF2-40B4-BE49-F238E27FC236}">
                <a16:creationId xmlns:a16="http://schemas.microsoft.com/office/drawing/2014/main" id="{BC608DD2-838F-44FF-AD91-6319A3265820}"/>
              </a:ext>
            </a:extLst>
          </p:cNvPr>
          <p:cNvSpPr/>
          <p:nvPr/>
        </p:nvSpPr>
        <p:spPr>
          <a:xfrm>
            <a:off x="6881393" y="1375145"/>
            <a:ext cx="4792676" cy="3400931"/>
          </a:xfrm>
          <a:prstGeom prst="rect">
            <a:avLst/>
          </a:prstGeom>
        </p:spPr>
        <p:txBody>
          <a:bodyPr wrap="square" anchor="t">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a:rPr>
              <a:t>The use of T-Code F.14 remains the same in S/4 as in ECC.</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a:rPr>
              <a:t>There is no Ledger or Ledger Group selection in F.14 as this transaction is </a:t>
            </a:r>
            <a:r>
              <a:rPr kumimoji="0" lang="en-GB" sz="1200" b="1" i="1" u="none" strike="noStrike" kern="1200" cap="none" spc="0" normalizeH="0" baseline="0" noProof="0" dirty="0">
                <a:ln>
                  <a:noFill/>
                </a:ln>
                <a:solidFill>
                  <a:srgbClr val="000000"/>
                </a:solidFill>
                <a:effectLst/>
                <a:uLnTx/>
                <a:uFillTx/>
                <a:latin typeface="Georgia"/>
              </a:rPr>
              <a:t>ledger-through</a:t>
            </a:r>
            <a:r>
              <a:rPr kumimoji="0" lang="en-GB" sz="1200" b="0" i="1" u="none" strike="noStrike" kern="1200" cap="none" spc="0" normalizeH="0" baseline="0" noProof="0" dirty="0">
                <a:ln>
                  <a:noFill/>
                </a:ln>
                <a:solidFill>
                  <a:srgbClr val="000000"/>
                </a:solidFill>
                <a:effectLst/>
                <a:uLnTx/>
                <a:uFillTx/>
                <a:latin typeface="Georgia"/>
              </a:rPr>
              <a:t>, which will post the documents to all ledgers at the same time.</a:t>
            </a:r>
            <a:endParaRPr lang="en-GB" sz="1200" b="0" i="1" u="none" strike="noStrike" kern="1200" cap="none" spc="0" normalizeH="0" baseline="0" noProof="0" dirty="0">
              <a:ln>
                <a:noFill/>
              </a:ln>
              <a:solidFill>
                <a:srgbClr val="000000"/>
              </a:solidFill>
              <a:effectLst/>
              <a:uLnTx/>
              <a:uFillTx/>
              <a:latin typeface="Georgia"/>
            </a:endParaRP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200" i="1" dirty="0">
                <a:latin typeface="Georgia"/>
              </a:rPr>
              <a:t>Some of the </a:t>
            </a:r>
            <a:r>
              <a:rPr lang="en-GB" sz="1200" b="1" i="1" dirty="0">
                <a:latin typeface="Georgia"/>
              </a:rPr>
              <a:t>Recurring Entries </a:t>
            </a:r>
            <a:r>
              <a:rPr lang="en-GB" sz="1200" i="1" dirty="0">
                <a:latin typeface="Georgia"/>
              </a:rPr>
              <a:t>used in ECC, which needed to be posted to specific ledger groups instead of all ledgers, are now created as Accrual Object in S/4 using the required Accounting Principles. This is due to Recurring Entries in S/4 can only be posted Ledger-through.</a:t>
            </a:r>
            <a:r>
              <a:rPr lang="en-GB" sz="1200" i="1" baseline="30000" dirty="0">
                <a:latin typeface="Georgia"/>
              </a:rPr>
              <a:t>1)</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effectLst/>
                <a:uLnTx/>
                <a:uFillTx/>
                <a:latin typeface="Georgia"/>
              </a:rPr>
              <a:t>There are a number of different document types included in the F.14 variants. These are Recurring Entry documents created with different types of accounts used for posting. (E.g. ZZ for Bank accounts, IE for Intercompany AP and IV for Intercompany AR)</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200" i="1" dirty="0">
                <a:latin typeface="Georgia"/>
              </a:rPr>
              <a:t>Review/amend Company Code and Settlement Period fields before executing it outside of FCC.</a:t>
            </a:r>
            <a:endParaRPr lang="en-GB" sz="1200" b="0" i="1" u="none" strike="noStrike" kern="1200" cap="none" spc="0" normalizeH="0" baseline="0" noProof="0" dirty="0">
              <a:ln>
                <a:noFill/>
              </a:ln>
              <a:effectLst/>
              <a:uLnTx/>
              <a:uFillTx/>
              <a:latin typeface="Georgia"/>
            </a:endParaRP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a:rPr>
              <a:t>Batch Input session is generated from F.14, which needs to be processed by the GBS/JTBC (or FCC if executed within FCC) via SM35.</a:t>
            </a:r>
            <a:endParaRPr lang="en-GB" sz="1200" b="0" i="1" u="none" strike="noStrike" kern="1200" cap="none" spc="0" normalizeH="0" baseline="0" noProof="0" dirty="0">
              <a:ln>
                <a:noFill/>
              </a:ln>
              <a:solidFill>
                <a:srgbClr val="000000"/>
              </a:solidFill>
              <a:effectLst/>
              <a:uLnTx/>
              <a:uFillTx/>
              <a:latin typeface="Georgia"/>
            </a:endParaRPr>
          </a:p>
        </p:txBody>
      </p:sp>
      <p:pic>
        <p:nvPicPr>
          <p:cNvPr id="16" name="Picture 15">
            <a:extLst>
              <a:ext uri="{FF2B5EF4-FFF2-40B4-BE49-F238E27FC236}">
                <a16:creationId xmlns:a16="http://schemas.microsoft.com/office/drawing/2014/main" id="{5B561F49-3824-440B-8470-789F55B0F5FA}"/>
              </a:ext>
            </a:extLst>
          </p:cNvPr>
          <p:cNvPicPr>
            <a:picLocks noChangeAspect="1"/>
          </p:cNvPicPr>
          <p:nvPr/>
        </p:nvPicPr>
        <p:blipFill>
          <a:blip r:embed="rId4"/>
          <a:stretch>
            <a:fillRect/>
          </a:stretch>
        </p:blipFill>
        <p:spPr>
          <a:xfrm>
            <a:off x="5391238" y="2629000"/>
            <a:ext cx="1098103" cy="1246495"/>
          </a:xfrm>
          <a:prstGeom prst="rect">
            <a:avLst/>
          </a:prstGeom>
          <a:ln>
            <a:solidFill>
              <a:srgbClr val="FF0000"/>
            </a:solidFill>
          </a:ln>
        </p:spPr>
      </p:pic>
      <p:pic>
        <p:nvPicPr>
          <p:cNvPr id="17" name="Picture 16">
            <a:extLst>
              <a:ext uri="{FF2B5EF4-FFF2-40B4-BE49-F238E27FC236}">
                <a16:creationId xmlns:a16="http://schemas.microsoft.com/office/drawing/2014/main" id="{8C98ED59-57BF-4A96-A78D-7238EF633BD8}"/>
              </a:ext>
            </a:extLst>
          </p:cNvPr>
          <p:cNvPicPr>
            <a:picLocks noChangeAspect="1"/>
          </p:cNvPicPr>
          <p:nvPr/>
        </p:nvPicPr>
        <p:blipFill>
          <a:blip r:embed="rId5"/>
          <a:stretch>
            <a:fillRect/>
          </a:stretch>
        </p:blipFill>
        <p:spPr>
          <a:xfrm>
            <a:off x="5250479" y="4569971"/>
            <a:ext cx="4327069" cy="2000618"/>
          </a:xfrm>
          <a:prstGeom prst="rect">
            <a:avLst/>
          </a:prstGeom>
          <a:ln>
            <a:solidFill>
              <a:srgbClr val="FF0000"/>
            </a:solidFill>
          </a:ln>
          <a:effectLst>
            <a:outerShdw blurRad="50800" dist="38100" dir="2700000" algn="tl" rotWithShape="0">
              <a:prstClr val="black">
                <a:alpha val="40000"/>
              </a:prstClr>
            </a:outerShdw>
          </a:effectLst>
        </p:spPr>
      </p:pic>
      <p:sp>
        <p:nvSpPr>
          <p:cNvPr id="18" name="Rectangle: Rounded Corners 17">
            <a:extLst>
              <a:ext uri="{FF2B5EF4-FFF2-40B4-BE49-F238E27FC236}">
                <a16:creationId xmlns:a16="http://schemas.microsoft.com/office/drawing/2014/main" id="{6FF3F517-AA7D-4F17-901F-EA2B506748EF}"/>
              </a:ext>
            </a:extLst>
          </p:cNvPr>
          <p:cNvSpPr/>
          <p:nvPr/>
        </p:nvSpPr>
        <p:spPr>
          <a:xfrm>
            <a:off x="1364738" y="5742199"/>
            <a:ext cx="1923585" cy="217491"/>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9" name="Arrow: Striped Right 18">
            <a:extLst>
              <a:ext uri="{FF2B5EF4-FFF2-40B4-BE49-F238E27FC236}">
                <a16:creationId xmlns:a16="http://schemas.microsoft.com/office/drawing/2014/main" id="{F39D8561-1FCA-4F3D-AE99-CD2402956C2B}"/>
              </a:ext>
            </a:extLst>
          </p:cNvPr>
          <p:cNvSpPr/>
          <p:nvPr/>
        </p:nvSpPr>
        <p:spPr>
          <a:xfrm>
            <a:off x="3404153" y="5775421"/>
            <a:ext cx="1923585" cy="151046"/>
          </a:xfrm>
          <a:prstGeom prst="stripedRightArrow">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 name="Rectangle: Rounded Corners 19">
            <a:extLst>
              <a:ext uri="{FF2B5EF4-FFF2-40B4-BE49-F238E27FC236}">
                <a16:creationId xmlns:a16="http://schemas.microsoft.com/office/drawing/2014/main" id="{FC8FB038-4D05-47F9-ABA2-3F1BCEC6C203}"/>
              </a:ext>
            </a:extLst>
          </p:cNvPr>
          <p:cNvSpPr/>
          <p:nvPr/>
        </p:nvSpPr>
        <p:spPr>
          <a:xfrm>
            <a:off x="5267209" y="4575932"/>
            <a:ext cx="2549767"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SM35- Batch Input Session</a:t>
            </a:r>
          </a:p>
        </p:txBody>
      </p:sp>
      <p:sp>
        <p:nvSpPr>
          <p:cNvPr id="21" name="Rectangle: Rounded Corners 20">
            <a:extLst>
              <a:ext uri="{FF2B5EF4-FFF2-40B4-BE49-F238E27FC236}">
                <a16:creationId xmlns:a16="http://schemas.microsoft.com/office/drawing/2014/main" id="{F3D1A740-630A-435F-9B86-F53E5BA3617C}"/>
              </a:ext>
            </a:extLst>
          </p:cNvPr>
          <p:cNvSpPr/>
          <p:nvPr/>
        </p:nvSpPr>
        <p:spPr>
          <a:xfrm>
            <a:off x="5254780" y="6405238"/>
            <a:ext cx="4322767" cy="165351"/>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FA0FE12D-23DB-4BB1-BED4-3B1FA3C670C0}"/>
              </a:ext>
            </a:extLst>
          </p:cNvPr>
          <p:cNvSpPr txBox="1"/>
          <p:nvPr/>
        </p:nvSpPr>
        <p:spPr>
          <a:xfrm>
            <a:off x="9837019" y="6116967"/>
            <a:ext cx="1665170" cy="659218"/>
          </a:xfrm>
          <a:prstGeom prst="rect">
            <a:avLst/>
          </a:prstGeom>
          <a:noFill/>
        </p:spPr>
        <p:txBody>
          <a:bodyPr wrap="square" lIns="0" tIns="0" rIns="0" bIns="0" rtlCol="0">
            <a:noAutofit/>
          </a:bodyPr>
          <a:lstStyle/>
          <a:p>
            <a:pPr algn="l"/>
            <a:r>
              <a:rPr lang="en-US" sz="1000" i="1" baseline="30000">
                <a:solidFill>
                  <a:srgbClr val="FF0000"/>
                </a:solidFill>
              </a:rPr>
              <a:t>1) </a:t>
            </a:r>
            <a:r>
              <a:rPr lang="en-US" sz="1000" i="1"/>
              <a:t>Details on Recurring Entries are described in Parallel Ledger course.</a:t>
            </a:r>
          </a:p>
        </p:txBody>
      </p:sp>
      <p:sp>
        <p:nvSpPr>
          <p:cNvPr id="22" name="Speech Bubble: Rectangle 21">
            <a:extLst>
              <a:ext uri="{FF2B5EF4-FFF2-40B4-BE49-F238E27FC236}">
                <a16:creationId xmlns:a16="http://schemas.microsoft.com/office/drawing/2014/main" id="{D644F589-1062-4AA0-BC84-73FC5E68840D}"/>
              </a:ext>
            </a:extLst>
          </p:cNvPr>
          <p:cNvSpPr/>
          <p:nvPr/>
        </p:nvSpPr>
        <p:spPr>
          <a:xfrm>
            <a:off x="5250480" y="1415576"/>
            <a:ext cx="1630914" cy="1150433"/>
          </a:xfrm>
          <a:prstGeom prst="wedgeRectCallout">
            <a:avLst>
              <a:gd name="adj1" fmla="val -64466"/>
              <a:gd name="adj2" fmla="val 31212"/>
            </a:avLst>
          </a:prstGeom>
          <a:ln/>
        </p:spPr>
        <p:style>
          <a:lnRef idx="0">
            <a:schemeClr val="accent1"/>
          </a:lnRef>
          <a:fillRef idx="3">
            <a:schemeClr val="accent1"/>
          </a:fillRef>
          <a:effectRef idx="3">
            <a:schemeClr val="accent1"/>
          </a:effectRef>
          <a:fontRef idx="minor">
            <a:schemeClr val="lt1"/>
          </a:fontRef>
        </p:style>
        <p:txBody>
          <a:bodyPr rtlCol="0" anchor="ctr"/>
          <a:lstStyle/>
          <a:p>
            <a:pPr>
              <a:lnSpc>
                <a:spcPts val="1200"/>
              </a:lnSpc>
              <a:spcBef>
                <a:spcPts val="600"/>
              </a:spcBef>
            </a:pPr>
            <a:r>
              <a:rPr lang="en-US" sz="1200" i="1" dirty="0">
                <a:solidFill>
                  <a:srgbClr val="000000"/>
                </a:solidFill>
                <a:latin typeface="Georgia" panose="02040502050405020303" pitchFamily="18" charset="0"/>
              </a:rPr>
              <a:t>Remember this is a “GBS/JTBC variant” therefore Company Code field must be reviewed / amended when executed outside of FCC!</a:t>
            </a:r>
          </a:p>
        </p:txBody>
      </p:sp>
      <p:sp>
        <p:nvSpPr>
          <p:cNvPr id="23" name="Rectangle: Rounded Corners 22">
            <a:extLst>
              <a:ext uri="{FF2B5EF4-FFF2-40B4-BE49-F238E27FC236}">
                <a16:creationId xmlns:a16="http://schemas.microsoft.com/office/drawing/2014/main" id="{99681799-E6C4-41F9-8B4F-2E3DF3C44F6A}"/>
              </a:ext>
            </a:extLst>
          </p:cNvPr>
          <p:cNvSpPr/>
          <p:nvPr/>
        </p:nvSpPr>
        <p:spPr>
          <a:xfrm>
            <a:off x="1488089" y="2196484"/>
            <a:ext cx="3600468" cy="217491"/>
          </a:xfrm>
          <a:prstGeom prst="round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5832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5CB04-6686-480D-9D8E-C7E9FD47A4D8}"/>
              </a:ext>
            </a:extLst>
          </p:cNvPr>
          <p:cNvSpPr>
            <a:spLocks noGrp="1"/>
          </p:cNvSpPr>
          <p:nvPr>
            <p:ph type="title"/>
          </p:nvPr>
        </p:nvSpPr>
        <p:spPr/>
        <p:txBody>
          <a:bodyPr/>
          <a:lstStyle/>
          <a:p>
            <a:r>
              <a:rPr lang="en-GB"/>
              <a:t>Monthly Recurring Entries Posting (3/3):  Posted Documents</a:t>
            </a:r>
            <a:endParaRPr lang="en-US"/>
          </a:p>
        </p:txBody>
      </p:sp>
      <p:sp>
        <p:nvSpPr>
          <p:cNvPr id="5" name="Slide Number Placeholder 4">
            <a:extLst>
              <a:ext uri="{FF2B5EF4-FFF2-40B4-BE49-F238E27FC236}">
                <a16:creationId xmlns:a16="http://schemas.microsoft.com/office/drawing/2014/main" id="{DBDD6361-8403-4DAF-A6D1-27C877BC989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4" name="Picture 3">
            <a:extLst>
              <a:ext uri="{FF2B5EF4-FFF2-40B4-BE49-F238E27FC236}">
                <a16:creationId xmlns:a16="http://schemas.microsoft.com/office/drawing/2014/main" id="{626639AA-B03A-45C6-9653-3AC3099256E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470582" y="1464526"/>
            <a:ext cx="7310611" cy="2727941"/>
          </a:xfrm>
          <a:prstGeom prst="rect">
            <a:avLst/>
          </a:prstGeom>
          <a:effectLst>
            <a:outerShdw blurRad="50800" dist="38100" dir="5400000" algn="t" rotWithShape="0">
              <a:prstClr val="black">
                <a:alpha val="40000"/>
              </a:prstClr>
            </a:outerShdw>
          </a:effectLst>
        </p:spPr>
      </p:pic>
      <p:pic>
        <p:nvPicPr>
          <p:cNvPr id="6" name="Picture 5">
            <a:extLst>
              <a:ext uri="{FF2B5EF4-FFF2-40B4-BE49-F238E27FC236}">
                <a16:creationId xmlns:a16="http://schemas.microsoft.com/office/drawing/2014/main" id="{E371BFB2-E845-4CF6-9947-58E43952034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8116211" y="1424455"/>
            <a:ext cx="3423676" cy="2979556"/>
          </a:xfrm>
          <a:prstGeom prst="rect">
            <a:avLst/>
          </a:prstGeom>
          <a:effectLst>
            <a:outerShdw blurRad="50800" dist="38100" dir="5400000" algn="t" rotWithShape="0">
              <a:prstClr val="black">
                <a:alpha val="40000"/>
              </a:prstClr>
            </a:outerShdw>
          </a:effectLst>
        </p:spPr>
      </p:pic>
      <p:sp>
        <p:nvSpPr>
          <p:cNvPr id="22" name="Rectangle: Rounded Corners 21">
            <a:extLst>
              <a:ext uri="{FF2B5EF4-FFF2-40B4-BE49-F238E27FC236}">
                <a16:creationId xmlns:a16="http://schemas.microsoft.com/office/drawing/2014/main" id="{6EA29A68-FBAA-4259-AA31-63927061139D}"/>
              </a:ext>
            </a:extLst>
          </p:cNvPr>
          <p:cNvSpPr/>
          <p:nvPr/>
        </p:nvSpPr>
        <p:spPr>
          <a:xfrm>
            <a:off x="481817" y="1396092"/>
            <a:ext cx="2426676"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 – Display FI Document</a:t>
            </a:r>
          </a:p>
        </p:txBody>
      </p:sp>
      <p:sp>
        <p:nvSpPr>
          <p:cNvPr id="23" name="Rectangle 22">
            <a:extLst>
              <a:ext uri="{FF2B5EF4-FFF2-40B4-BE49-F238E27FC236}">
                <a16:creationId xmlns:a16="http://schemas.microsoft.com/office/drawing/2014/main" id="{F126B1C6-8823-4085-A6F6-F7BD5EC42C7A}"/>
              </a:ext>
            </a:extLst>
          </p:cNvPr>
          <p:cNvSpPr/>
          <p:nvPr/>
        </p:nvSpPr>
        <p:spPr>
          <a:xfrm>
            <a:off x="384167" y="4361364"/>
            <a:ext cx="7643210" cy="2323713"/>
          </a:xfrm>
          <a:prstGeom prst="rect">
            <a:avLst/>
          </a:prstGeom>
        </p:spPr>
        <p:txBody>
          <a:bodyPr wrap="square">
            <a:spAutoFit/>
          </a:bodyPr>
          <a:lstStyle/>
          <a:p>
            <a:pPr>
              <a:lnSpc>
                <a:spcPts val="1200"/>
              </a:lnSpc>
              <a:spcBef>
                <a:spcPts val="600"/>
              </a:spcBef>
            </a:pPr>
            <a:r>
              <a:rPr lang="en-GB" sz="1200" b="1" i="1" u="sng">
                <a:solidFill>
                  <a:srgbClr val="000000"/>
                </a:solidFill>
                <a:latin typeface="Georgia" panose="02040502050405020303" pitchFamily="18" charset="0"/>
              </a:rPr>
              <a:t>Posted Document from Monthly Recurring Entries Posting:</a:t>
            </a:r>
          </a:p>
          <a:p>
            <a:pPr marL="171450" indent="-171450">
              <a:lnSpc>
                <a:spcPts val="1200"/>
              </a:lnSpc>
              <a:spcBef>
                <a:spcPts val="600"/>
              </a:spcBef>
              <a:buFont typeface="Arial" panose="020B0604020202020204" pitchFamily="34" charset="0"/>
              <a:buChar char="•"/>
            </a:pPr>
            <a:r>
              <a:rPr lang="en-GB" sz="1200" i="1">
                <a:solidFill>
                  <a:srgbClr val="000000"/>
                </a:solidFill>
                <a:latin typeface="Georgia" panose="02040502050405020303" pitchFamily="18" charset="0"/>
              </a:rPr>
              <a:t>The documents posted via the Monthly Recurring Entries Posting contain information based on the selected Recurring Entry Documents data, the parameters used in the Monthly Recurring Entries Posting, as well as automatically generated information by the system.</a:t>
            </a:r>
          </a:p>
          <a:p>
            <a:pPr marL="171450" indent="-171450">
              <a:lnSpc>
                <a:spcPts val="1200"/>
              </a:lnSpc>
              <a:spcBef>
                <a:spcPts val="600"/>
              </a:spcBef>
              <a:buFont typeface="Arial" panose="020B0604020202020204" pitchFamily="34" charset="0"/>
              <a:buChar char="•"/>
            </a:pPr>
            <a:r>
              <a:rPr lang="en-GB" sz="1200" i="1">
                <a:solidFill>
                  <a:srgbClr val="000000"/>
                </a:solidFill>
                <a:latin typeface="Georgia" panose="02040502050405020303" pitchFamily="18" charset="0"/>
              </a:rPr>
              <a:t>The field Reference </a:t>
            </a:r>
            <a:r>
              <a:rPr lang="en-GB" sz="1200" i="1" err="1">
                <a:solidFill>
                  <a:srgbClr val="000000"/>
                </a:solidFill>
                <a:latin typeface="Georgia" panose="02040502050405020303" pitchFamily="18" charset="0"/>
              </a:rPr>
              <a:t>Rec.Entry</a:t>
            </a:r>
            <a:r>
              <a:rPr lang="en-GB" sz="1200" i="1">
                <a:solidFill>
                  <a:srgbClr val="000000"/>
                </a:solidFill>
                <a:latin typeface="Georgia" panose="02040502050405020303" pitchFamily="18" charset="0"/>
              </a:rPr>
              <a:t> Doc. (in Document Header) is the Recurring Entry Document Number based on which the monthly document is posted.</a:t>
            </a:r>
          </a:p>
          <a:p>
            <a:pPr marL="171450" indent="-171450">
              <a:lnSpc>
                <a:spcPts val="1200"/>
              </a:lnSpc>
              <a:spcBef>
                <a:spcPts val="600"/>
              </a:spcBef>
              <a:buFont typeface="Arial" panose="020B0604020202020204" pitchFamily="34" charset="0"/>
              <a:buChar char="•"/>
            </a:pPr>
            <a:r>
              <a:rPr lang="en-GB" sz="1200" i="1">
                <a:solidFill>
                  <a:srgbClr val="000000"/>
                </a:solidFill>
                <a:latin typeface="Georgia" panose="02040502050405020303" pitchFamily="18" charset="0"/>
              </a:rPr>
              <a:t>You should always have a Session Name, which can be used to identify which documents are posted in which Recurring Entries Posting run.</a:t>
            </a:r>
          </a:p>
          <a:p>
            <a:pPr marL="171450" indent="-171450">
              <a:lnSpc>
                <a:spcPts val="1200"/>
              </a:lnSpc>
              <a:spcBef>
                <a:spcPts val="600"/>
              </a:spcBef>
              <a:buFont typeface="Arial" panose="020B0604020202020204" pitchFamily="34" charset="0"/>
              <a:buChar char="•"/>
            </a:pPr>
            <a:r>
              <a:rPr lang="en-GB" sz="1200" i="1">
                <a:solidFill>
                  <a:srgbClr val="000000"/>
                </a:solidFill>
                <a:latin typeface="Georgia" panose="02040502050405020303" pitchFamily="18" charset="0"/>
              </a:rPr>
              <a:t>There are parameters maintained in the Recurring Entry Documents, which determine whether a Recurring Entry Document will be picked up in the periodic run and the posting intervals. Please refer to Parallel Ledger course for further details.</a:t>
            </a:r>
          </a:p>
          <a:p>
            <a:pPr marL="171450" indent="-171450">
              <a:lnSpc>
                <a:spcPts val="1200"/>
              </a:lnSpc>
              <a:spcBef>
                <a:spcPts val="600"/>
              </a:spcBef>
              <a:buFont typeface="Arial" panose="020B0604020202020204" pitchFamily="34" charset="0"/>
              <a:buChar char="•"/>
            </a:pPr>
            <a:endParaRPr lang="en-GB" sz="1200" i="1">
              <a:solidFill>
                <a:srgbClr val="000000"/>
              </a:solidFill>
              <a:latin typeface="Georgia" panose="02040502050405020303" pitchFamily="18" charset="0"/>
            </a:endParaRPr>
          </a:p>
        </p:txBody>
      </p:sp>
      <p:grpSp>
        <p:nvGrpSpPr>
          <p:cNvPr id="24" name="Group 23">
            <a:extLst>
              <a:ext uri="{FF2B5EF4-FFF2-40B4-BE49-F238E27FC236}">
                <a16:creationId xmlns:a16="http://schemas.microsoft.com/office/drawing/2014/main" id="{EE28EB49-063D-4695-9288-DEDF7B975816}"/>
              </a:ext>
            </a:extLst>
          </p:cNvPr>
          <p:cNvGrpSpPr/>
          <p:nvPr/>
        </p:nvGrpSpPr>
        <p:grpSpPr>
          <a:xfrm>
            <a:off x="8122746" y="4616338"/>
            <a:ext cx="3433815" cy="1890346"/>
            <a:chOff x="7081785" y="4686300"/>
            <a:chExt cx="3433815" cy="1890346"/>
          </a:xfrm>
        </p:grpSpPr>
        <p:sp>
          <p:nvSpPr>
            <p:cNvPr id="25" name="Rectangle 24">
              <a:extLst>
                <a:ext uri="{FF2B5EF4-FFF2-40B4-BE49-F238E27FC236}">
                  <a16:creationId xmlns:a16="http://schemas.microsoft.com/office/drawing/2014/main" id="{B3B3137C-B101-4905-9925-4CEFD78CACEF}"/>
                </a:ext>
              </a:extLst>
            </p:cNvPr>
            <p:cNvSpPr/>
            <p:nvPr/>
          </p:nvSpPr>
          <p:spPr>
            <a:xfrm>
              <a:off x="7081785" y="4686300"/>
              <a:ext cx="3433815" cy="1890346"/>
            </a:xfrm>
            <a:prstGeom prst="rect">
              <a:avLst/>
            </a:prstGeom>
            <a:solidFill>
              <a:schemeClr val="accent2">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DC401A74-578E-4027-A1EE-BFF39BA5B472}"/>
                </a:ext>
              </a:extLst>
            </p:cNvPr>
            <p:cNvSpPr/>
            <p:nvPr/>
          </p:nvSpPr>
          <p:spPr>
            <a:xfrm>
              <a:off x="7240215" y="5198801"/>
              <a:ext cx="2892430" cy="347083"/>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i="0" u="none" strike="noStrike" kern="1200" cap="none" spc="0" normalizeH="0" baseline="0" noProof="0">
                  <a:ln>
                    <a:noFill/>
                  </a:ln>
                  <a:solidFill>
                    <a:schemeClr val="tx1"/>
                  </a:solidFill>
                  <a:effectLst/>
                  <a:uLnTx/>
                  <a:uFillTx/>
                  <a:latin typeface="Arial" panose="020B0604020202020204"/>
                  <a:ea typeface="+mn-ea"/>
                  <a:cs typeface="+mn-cs"/>
                </a:rPr>
                <a:t>Automatically generated by the system</a:t>
              </a:r>
            </a:p>
          </p:txBody>
        </p:sp>
        <p:sp>
          <p:nvSpPr>
            <p:cNvPr id="27" name="Rectangle: Rounded Corners 26">
              <a:extLst>
                <a:ext uri="{FF2B5EF4-FFF2-40B4-BE49-F238E27FC236}">
                  <a16:creationId xmlns:a16="http://schemas.microsoft.com/office/drawing/2014/main" id="{FFA79074-F70E-447A-B744-28B37A16DB48}"/>
                </a:ext>
              </a:extLst>
            </p:cNvPr>
            <p:cNvSpPr/>
            <p:nvPr/>
          </p:nvSpPr>
          <p:spPr>
            <a:xfrm>
              <a:off x="7240215" y="5593073"/>
              <a:ext cx="2892430" cy="347083"/>
            </a:xfrm>
            <a:prstGeom prst="roundRect">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000">
                  <a:solidFill>
                    <a:schemeClr val="tx1"/>
                  </a:solidFill>
                  <a:latin typeface="Arial" panose="020B0604020202020204"/>
                </a:rPr>
                <a:t>Determined by the Recurring Entry Document Data</a:t>
              </a:r>
            </a:p>
          </p:txBody>
        </p:sp>
        <p:sp>
          <p:nvSpPr>
            <p:cNvPr id="28" name="Rectangle: Rounded Corners 27">
              <a:extLst>
                <a:ext uri="{FF2B5EF4-FFF2-40B4-BE49-F238E27FC236}">
                  <a16:creationId xmlns:a16="http://schemas.microsoft.com/office/drawing/2014/main" id="{EE38D553-C6F1-4A5A-BF81-51EDFCEFB0D2}"/>
                </a:ext>
              </a:extLst>
            </p:cNvPr>
            <p:cNvSpPr/>
            <p:nvPr/>
          </p:nvSpPr>
          <p:spPr>
            <a:xfrm>
              <a:off x="7240213" y="5987345"/>
              <a:ext cx="2892431" cy="347083"/>
            </a:xfrm>
            <a:prstGeom prst="round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000">
                  <a:solidFill>
                    <a:schemeClr val="tx1"/>
                  </a:solidFill>
                  <a:latin typeface="Arial" panose="020B0604020202020204"/>
                </a:rPr>
                <a:t>Determined by the Monthly Recurring Entries Run execution parameter</a:t>
              </a:r>
            </a:p>
          </p:txBody>
        </p:sp>
        <p:sp>
          <p:nvSpPr>
            <p:cNvPr id="29" name="TextBox 28">
              <a:extLst>
                <a:ext uri="{FF2B5EF4-FFF2-40B4-BE49-F238E27FC236}">
                  <a16:creationId xmlns:a16="http://schemas.microsoft.com/office/drawing/2014/main" id="{AC9274DF-BFF5-4184-8BC1-419F8BCE5543}"/>
                </a:ext>
              </a:extLst>
            </p:cNvPr>
            <p:cNvSpPr txBox="1"/>
            <p:nvPr/>
          </p:nvSpPr>
          <p:spPr>
            <a:xfrm>
              <a:off x="7240213" y="4800691"/>
              <a:ext cx="888023" cy="177380"/>
            </a:xfrm>
            <a:prstGeom prst="rect">
              <a:avLst/>
            </a:prstGeom>
            <a:noFill/>
          </p:spPr>
          <p:txBody>
            <a:bodyPr wrap="square" lIns="0" tIns="0" rIns="0" bIns="0" rtlCol="0">
              <a:noAutofit/>
            </a:bodyPr>
            <a:lstStyle/>
            <a:p>
              <a:pPr algn="l"/>
              <a:r>
                <a:rPr lang="en-US" b="1">
                  <a:latin typeface="Agency FB" panose="020B0503020202020204" pitchFamily="34" charset="0"/>
                  <a:cs typeface="Aldhabi" panose="020B0604020202020204" pitchFamily="2" charset="-78"/>
                </a:rPr>
                <a:t>Legend</a:t>
              </a:r>
            </a:p>
          </p:txBody>
        </p:sp>
      </p:grpSp>
      <p:sp>
        <p:nvSpPr>
          <p:cNvPr id="30" name="Rectangle: Rounded Corners 29">
            <a:extLst>
              <a:ext uri="{FF2B5EF4-FFF2-40B4-BE49-F238E27FC236}">
                <a16:creationId xmlns:a16="http://schemas.microsoft.com/office/drawing/2014/main" id="{15A6AD6E-405E-484C-A348-8B004E82EA8C}"/>
              </a:ext>
            </a:extLst>
          </p:cNvPr>
          <p:cNvSpPr/>
          <p:nvPr/>
        </p:nvSpPr>
        <p:spPr>
          <a:xfrm>
            <a:off x="518761" y="2461846"/>
            <a:ext cx="1538639" cy="149469"/>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00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31" name="Rectangle: Rounded Corners 30">
            <a:extLst>
              <a:ext uri="{FF2B5EF4-FFF2-40B4-BE49-F238E27FC236}">
                <a16:creationId xmlns:a16="http://schemas.microsoft.com/office/drawing/2014/main" id="{9A408DCA-2FB7-423A-8E46-79BC23DEE1F1}"/>
              </a:ext>
            </a:extLst>
          </p:cNvPr>
          <p:cNvSpPr/>
          <p:nvPr/>
        </p:nvSpPr>
        <p:spPr>
          <a:xfrm>
            <a:off x="518760" y="2638613"/>
            <a:ext cx="1538639" cy="149469"/>
          </a:xfrm>
          <a:prstGeom prst="roundRect">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00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32" name="Rectangle: Rounded Corners 31">
            <a:extLst>
              <a:ext uri="{FF2B5EF4-FFF2-40B4-BE49-F238E27FC236}">
                <a16:creationId xmlns:a16="http://schemas.microsoft.com/office/drawing/2014/main" id="{9762EAE6-EF42-48DE-9523-55ABD25981D1}"/>
              </a:ext>
            </a:extLst>
          </p:cNvPr>
          <p:cNvSpPr/>
          <p:nvPr/>
        </p:nvSpPr>
        <p:spPr>
          <a:xfrm>
            <a:off x="2587248" y="2461846"/>
            <a:ext cx="1538639" cy="326236"/>
          </a:xfrm>
          <a:prstGeom prst="roundRect">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00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33" name="Rectangle: Rounded Corners 32">
            <a:extLst>
              <a:ext uri="{FF2B5EF4-FFF2-40B4-BE49-F238E27FC236}">
                <a16:creationId xmlns:a16="http://schemas.microsoft.com/office/drawing/2014/main" id="{ECACDFAC-4941-49DB-8F0E-24C7AA53BAB1}"/>
              </a:ext>
            </a:extLst>
          </p:cNvPr>
          <p:cNvSpPr/>
          <p:nvPr/>
        </p:nvSpPr>
        <p:spPr>
          <a:xfrm>
            <a:off x="4328760" y="2461845"/>
            <a:ext cx="735609" cy="326236"/>
          </a:xfrm>
          <a:prstGeom prst="round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00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34" name="Rectangle: Rounded Corners 33">
            <a:extLst>
              <a:ext uri="{FF2B5EF4-FFF2-40B4-BE49-F238E27FC236}">
                <a16:creationId xmlns:a16="http://schemas.microsoft.com/office/drawing/2014/main" id="{079B2741-6607-4779-8365-C448D314F49F}"/>
              </a:ext>
            </a:extLst>
          </p:cNvPr>
          <p:cNvSpPr/>
          <p:nvPr/>
        </p:nvSpPr>
        <p:spPr>
          <a:xfrm>
            <a:off x="518760" y="2831958"/>
            <a:ext cx="1538639" cy="326236"/>
          </a:xfrm>
          <a:prstGeom prst="roundRect">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00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35" name="Rectangle: Rounded Corners 34">
            <a:extLst>
              <a:ext uri="{FF2B5EF4-FFF2-40B4-BE49-F238E27FC236}">
                <a16:creationId xmlns:a16="http://schemas.microsoft.com/office/drawing/2014/main" id="{42D035C2-A7D9-44BB-A69B-3EEB7FF18F8C}"/>
              </a:ext>
            </a:extLst>
          </p:cNvPr>
          <p:cNvSpPr/>
          <p:nvPr/>
        </p:nvSpPr>
        <p:spPr>
          <a:xfrm>
            <a:off x="838214" y="3813110"/>
            <a:ext cx="6942979" cy="353521"/>
          </a:xfrm>
          <a:prstGeom prst="roundRect">
            <a:avLst>
              <a:gd name="adj" fmla="val 5321"/>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00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36" name="Rectangle: Rounded Corners 35">
            <a:extLst>
              <a:ext uri="{FF2B5EF4-FFF2-40B4-BE49-F238E27FC236}">
                <a16:creationId xmlns:a16="http://schemas.microsoft.com/office/drawing/2014/main" id="{0A9576F8-3368-4E7A-A226-D15A415E8609}"/>
              </a:ext>
            </a:extLst>
          </p:cNvPr>
          <p:cNvSpPr/>
          <p:nvPr/>
        </p:nvSpPr>
        <p:spPr>
          <a:xfrm>
            <a:off x="8380535" y="2787999"/>
            <a:ext cx="1844920" cy="326236"/>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7" name="Rectangle 36">
            <a:extLst>
              <a:ext uri="{FF2B5EF4-FFF2-40B4-BE49-F238E27FC236}">
                <a16:creationId xmlns:a16="http://schemas.microsoft.com/office/drawing/2014/main" id="{1A386087-4563-46A7-8247-26269A911BA8}"/>
              </a:ext>
            </a:extLst>
          </p:cNvPr>
          <p:cNvSpPr/>
          <p:nvPr/>
        </p:nvSpPr>
        <p:spPr>
          <a:xfrm>
            <a:off x="4967654" y="1907424"/>
            <a:ext cx="1093178" cy="253915"/>
          </a:xfrm>
          <a:prstGeom prst="rect">
            <a:avLst/>
          </a:prstGeom>
          <a:noFill/>
          <a:ln w="19050">
            <a:solidFill>
              <a:schemeClr val="accent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Striped Right 37">
            <a:extLst>
              <a:ext uri="{FF2B5EF4-FFF2-40B4-BE49-F238E27FC236}">
                <a16:creationId xmlns:a16="http://schemas.microsoft.com/office/drawing/2014/main" id="{F71BE408-5E5C-4AFA-AE4F-A54B5DD623A9}"/>
              </a:ext>
            </a:extLst>
          </p:cNvPr>
          <p:cNvSpPr/>
          <p:nvPr/>
        </p:nvSpPr>
        <p:spPr>
          <a:xfrm rot="20743435">
            <a:off x="5984457" y="1772349"/>
            <a:ext cx="2158670" cy="166332"/>
          </a:xfrm>
          <a:prstGeom prst="stripedRightArrow">
            <a:avLst>
              <a:gd name="adj1" fmla="val 50000"/>
              <a:gd name="adj2" fmla="val 50000"/>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9" name="Rectangle: Rounded Corners 38">
            <a:extLst>
              <a:ext uri="{FF2B5EF4-FFF2-40B4-BE49-F238E27FC236}">
                <a16:creationId xmlns:a16="http://schemas.microsoft.com/office/drawing/2014/main" id="{D0AC14B1-C788-4534-BFAE-13BE93E47DF6}"/>
              </a:ext>
            </a:extLst>
          </p:cNvPr>
          <p:cNvSpPr/>
          <p:nvPr/>
        </p:nvSpPr>
        <p:spPr>
          <a:xfrm>
            <a:off x="8380535" y="3607064"/>
            <a:ext cx="1314432" cy="136702"/>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0" name="Rectangle: Rounded Corners 39">
            <a:extLst>
              <a:ext uri="{FF2B5EF4-FFF2-40B4-BE49-F238E27FC236}">
                <a16:creationId xmlns:a16="http://schemas.microsoft.com/office/drawing/2014/main" id="{F0B9D85F-D694-4CA6-BC50-E5DBCAEAD20B}"/>
              </a:ext>
            </a:extLst>
          </p:cNvPr>
          <p:cNvSpPr/>
          <p:nvPr/>
        </p:nvSpPr>
        <p:spPr>
          <a:xfrm>
            <a:off x="10225455" y="3743766"/>
            <a:ext cx="1248507" cy="189534"/>
          </a:xfrm>
          <a:prstGeom prst="round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1" name="Rectangle: Rounded Corners 40">
            <a:extLst>
              <a:ext uri="{FF2B5EF4-FFF2-40B4-BE49-F238E27FC236}">
                <a16:creationId xmlns:a16="http://schemas.microsoft.com/office/drawing/2014/main" id="{52178F93-945D-41D3-A330-62D2578BF169}"/>
              </a:ext>
            </a:extLst>
          </p:cNvPr>
          <p:cNvSpPr/>
          <p:nvPr/>
        </p:nvSpPr>
        <p:spPr>
          <a:xfrm>
            <a:off x="9927248" y="2120244"/>
            <a:ext cx="1546714" cy="174926"/>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2" name="Rectangle: Rounded Corners 41">
            <a:extLst>
              <a:ext uri="{FF2B5EF4-FFF2-40B4-BE49-F238E27FC236}">
                <a16:creationId xmlns:a16="http://schemas.microsoft.com/office/drawing/2014/main" id="{F8FDD442-649C-401A-ADBA-DAD0473434B3}"/>
              </a:ext>
            </a:extLst>
          </p:cNvPr>
          <p:cNvSpPr/>
          <p:nvPr/>
        </p:nvSpPr>
        <p:spPr>
          <a:xfrm>
            <a:off x="9927248" y="2315983"/>
            <a:ext cx="1546714" cy="268956"/>
          </a:xfrm>
          <a:prstGeom prst="roundRect">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3" name="Rectangle: Rounded Corners 42">
            <a:extLst>
              <a:ext uri="{FF2B5EF4-FFF2-40B4-BE49-F238E27FC236}">
                <a16:creationId xmlns:a16="http://schemas.microsoft.com/office/drawing/2014/main" id="{0F179C2E-31DB-4F7A-A6F4-F320B8D3972D}"/>
              </a:ext>
            </a:extLst>
          </p:cNvPr>
          <p:cNvSpPr/>
          <p:nvPr/>
        </p:nvSpPr>
        <p:spPr>
          <a:xfrm>
            <a:off x="9927248" y="2606947"/>
            <a:ext cx="1546714" cy="174926"/>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4" name="Rectangle: Rounded Corners 43">
            <a:extLst>
              <a:ext uri="{FF2B5EF4-FFF2-40B4-BE49-F238E27FC236}">
                <a16:creationId xmlns:a16="http://schemas.microsoft.com/office/drawing/2014/main" id="{7BC8361E-B874-4837-8AB1-244D945DC77A}"/>
              </a:ext>
            </a:extLst>
          </p:cNvPr>
          <p:cNvSpPr/>
          <p:nvPr/>
        </p:nvSpPr>
        <p:spPr>
          <a:xfrm>
            <a:off x="8380535" y="3778974"/>
            <a:ext cx="1314432" cy="136702"/>
          </a:xfrm>
          <a:prstGeom prst="roundRect">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5" name="Rectangle: Rounded Corners 44">
            <a:extLst>
              <a:ext uri="{FF2B5EF4-FFF2-40B4-BE49-F238E27FC236}">
                <a16:creationId xmlns:a16="http://schemas.microsoft.com/office/drawing/2014/main" id="{B1028FCF-E4EA-4CE2-B5DE-F1CE2E7B56EA}"/>
              </a:ext>
            </a:extLst>
          </p:cNvPr>
          <p:cNvSpPr/>
          <p:nvPr/>
        </p:nvSpPr>
        <p:spPr>
          <a:xfrm>
            <a:off x="8380534" y="1794008"/>
            <a:ext cx="1728533" cy="326236"/>
          </a:xfrm>
          <a:prstGeom prst="roundRect">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000" i="0" u="none" strike="noStrike" kern="1200" cap="none" spc="0" normalizeH="0" baseline="0" noProof="0">
              <a:ln>
                <a:noFill/>
              </a:ln>
              <a:solidFill>
                <a:schemeClr val="tx1"/>
              </a:solidFill>
              <a:effectLst/>
              <a:uLnTx/>
              <a:uFillTx/>
              <a:latin typeface="Arial" panose="020B0604020202020204"/>
              <a:ea typeface="+mn-ea"/>
              <a:cs typeface="+mn-cs"/>
            </a:endParaRPr>
          </a:p>
        </p:txBody>
      </p:sp>
    </p:spTree>
    <p:extLst>
      <p:ext uri="{BB962C8B-B14F-4D97-AF65-F5344CB8AC3E}">
        <p14:creationId xmlns:p14="http://schemas.microsoft.com/office/powerpoint/2010/main" val="2052222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0000000-0008-0000-0600-000002000000}"/>
              </a:ext>
            </a:extLst>
          </p:cNvPr>
          <p:cNvPicPr>
            <a:picLocks noChangeAspect="1"/>
          </p:cNvPicPr>
          <p:nvPr/>
        </p:nvPicPr>
        <p:blipFill>
          <a:blip r:embed="rId2"/>
          <a:stretch>
            <a:fillRect/>
          </a:stretch>
        </p:blipFill>
        <p:spPr>
          <a:xfrm>
            <a:off x="496052" y="4453364"/>
            <a:ext cx="5044963" cy="1035357"/>
          </a:xfrm>
          <a:prstGeom prst="rect">
            <a:avLst/>
          </a:prstGeom>
          <a:effectLst>
            <a:outerShdw blurRad="63500" sx="102000" sy="102000" algn="ctr" rotWithShape="0">
              <a:prstClr val="black">
                <a:alpha val="40000"/>
              </a:prstClr>
            </a:outerShdw>
          </a:effectLst>
        </p:spPr>
      </p:pic>
      <p:pic>
        <p:nvPicPr>
          <p:cNvPr id="16" name="Picture 15">
            <a:extLst>
              <a:ext uri="{FF2B5EF4-FFF2-40B4-BE49-F238E27FC236}">
                <a16:creationId xmlns:a16="http://schemas.microsoft.com/office/drawing/2014/main" id="{00000000-0008-0000-0600-000003000000}"/>
              </a:ext>
              <a:ext uri="{147F2762-F138-4A5C-976F-8EAC2B608ADB}">
                <a16:predDERef xmlns:a16="http://schemas.microsoft.com/office/drawing/2014/main" pred="{732FED40-C180-1600-062A-27FB202B2D34}"/>
              </a:ext>
            </a:extLst>
          </p:cNvPr>
          <p:cNvPicPr>
            <a:picLocks noChangeAspect="1"/>
          </p:cNvPicPr>
          <p:nvPr/>
        </p:nvPicPr>
        <p:blipFill>
          <a:blip r:embed="rId3"/>
          <a:stretch>
            <a:fillRect/>
          </a:stretch>
        </p:blipFill>
        <p:spPr>
          <a:xfrm>
            <a:off x="496052" y="5578349"/>
            <a:ext cx="5044963" cy="1182579"/>
          </a:xfrm>
          <a:prstGeom prst="rect">
            <a:avLst/>
          </a:prstGeom>
          <a:effectLst>
            <a:outerShdw blurRad="63500" sx="102000" sy="102000" algn="ctr" rotWithShape="0">
              <a:prstClr val="black">
                <a:alpha val="40000"/>
              </a:prstClr>
            </a:outerShdw>
          </a:effectLst>
        </p:spPr>
      </p:pic>
      <p:sp>
        <p:nvSpPr>
          <p:cNvPr id="3" name="Slide Number Placeholder 2">
            <a:extLst>
              <a:ext uri="{FF2B5EF4-FFF2-40B4-BE49-F238E27FC236}">
                <a16:creationId xmlns:a16="http://schemas.microsoft.com/office/drawing/2014/main" id="{D6F24A8E-1191-B58C-C7F7-A6DAA8B9E888}"/>
              </a:ext>
            </a:extLst>
          </p:cNvPr>
          <p:cNvSpPr>
            <a:spLocks noGrp="1"/>
          </p:cNvSpPr>
          <p:nvPr>
            <p:ph type="sldNum" sz="quarter" idx="12"/>
          </p:nvPr>
        </p:nvSpPr>
        <p:spPr/>
        <p:txBody>
          <a:bodyPr/>
          <a:lstStyle/>
          <a:p>
            <a:fld id="{F4C94289-3309-4C35-850A-56FD49B3E346}" type="slidenum">
              <a:rPr lang="en-GB" smtClean="0"/>
              <a:t>5</a:t>
            </a:fld>
            <a:endParaRPr lang="en-GB"/>
          </a:p>
        </p:txBody>
      </p:sp>
      <p:sp>
        <p:nvSpPr>
          <p:cNvPr id="4" name="Title 3">
            <a:extLst>
              <a:ext uri="{FF2B5EF4-FFF2-40B4-BE49-F238E27FC236}">
                <a16:creationId xmlns:a16="http://schemas.microsoft.com/office/drawing/2014/main" id="{D70DFC20-DE46-45FB-9E38-039F9C02A5ED}"/>
              </a:ext>
            </a:extLst>
          </p:cNvPr>
          <p:cNvSpPr>
            <a:spLocks noGrp="1"/>
          </p:cNvSpPr>
          <p:nvPr>
            <p:ph type="title"/>
          </p:nvPr>
        </p:nvSpPr>
        <p:spPr/>
        <p:txBody>
          <a:bodyPr/>
          <a:lstStyle/>
          <a:p>
            <a:r>
              <a:rPr lang="en-GB">
                <a:latin typeface="+mn-lt"/>
              </a:rPr>
              <a:t>Monthly </a:t>
            </a:r>
            <a:r>
              <a:rPr lang="en-GB" cap="none">
                <a:latin typeface="+mn-lt"/>
              </a:rPr>
              <a:t>Recurring Entries Posting</a:t>
            </a:r>
            <a:br>
              <a:rPr lang="en-GB" cap="none">
                <a:latin typeface="+mn-lt"/>
              </a:rPr>
            </a:br>
            <a:r>
              <a:rPr lang="en-GB" cap="none">
                <a:latin typeface="+mn-lt"/>
              </a:rPr>
              <a:t>Common Error</a:t>
            </a:r>
            <a:endParaRPr lang="en-US">
              <a:latin typeface="+mn-lt"/>
            </a:endParaRPr>
          </a:p>
        </p:txBody>
      </p:sp>
      <p:sp>
        <p:nvSpPr>
          <p:cNvPr id="9" name="TextBox 8">
            <a:extLst>
              <a:ext uri="{FF2B5EF4-FFF2-40B4-BE49-F238E27FC236}">
                <a16:creationId xmlns:a16="http://schemas.microsoft.com/office/drawing/2014/main" id="{CF0870DC-34C3-EC0D-3626-9D4CE7B24CA1}"/>
              </a:ext>
            </a:extLst>
          </p:cNvPr>
          <p:cNvSpPr txBox="1"/>
          <p:nvPr/>
        </p:nvSpPr>
        <p:spPr>
          <a:xfrm>
            <a:off x="365590" y="1427303"/>
            <a:ext cx="11283853" cy="276999"/>
          </a:xfrm>
          <a:prstGeom prst="rect">
            <a:avLst/>
          </a:prstGeom>
          <a:ln/>
        </p:spPr>
        <p:style>
          <a:lnRef idx="0">
            <a:schemeClr val="accent3"/>
          </a:lnRef>
          <a:fillRef idx="3">
            <a:schemeClr val="accent3"/>
          </a:fillRef>
          <a:effectRef idx="3">
            <a:schemeClr val="accent3"/>
          </a:effectRef>
          <a:fontRef idx="minor">
            <a:schemeClr val="lt1"/>
          </a:fontRef>
        </p:style>
        <p:txBody>
          <a:bodyPr wrap="square">
            <a:spAutoFit/>
          </a:bodyPr>
          <a:lstStyle>
            <a:defPPr>
              <a:defRPr lang="en-US"/>
            </a:defPPr>
            <a:lvl1pPr>
              <a:defRPr sz="1200"/>
            </a:lvl1pPr>
          </a:lstStyle>
          <a:p>
            <a:r>
              <a:rPr lang="en-US" sz="1200" dirty="0"/>
              <a:t>Detail of the “Errors” can be checked from the “Output Logs”. GL Team needs to check the error and work as per the resolution mentioned below.</a:t>
            </a:r>
          </a:p>
        </p:txBody>
      </p:sp>
      <p:sp>
        <p:nvSpPr>
          <p:cNvPr id="12" name="Rectangle 11">
            <a:extLst>
              <a:ext uri="{FF2B5EF4-FFF2-40B4-BE49-F238E27FC236}">
                <a16:creationId xmlns:a16="http://schemas.microsoft.com/office/drawing/2014/main" id="{55657E6C-0E96-1EBE-B2B7-F5BE4C5C9809}"/>
              </a:ext>
            </a:extLst>
          </p:cNvPr>
          <p:cNvSpPr/>
          <p:nvPr/>
        </p:nvSpPr>
        <p:spPr>
          <a:xfrm>
            <a:off x="613677" y="6368833"/>
            <a:ext cx="2205998" cy="2225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C6C0CE3D-346A-6D51-5CFE-2B80B890BE57}"/>
              </a:ext>
              <a:ext uri="{147F2762-F138-4A5C-976F-8EAC2B608ADB}">
                <a16:predDERef xmlns:a16="http://schemas.microsoft.com/office/drawing/2014/main" pred="{550DF2D9-2C7B-4521-C4AB-A2EDA967DDBE}"/>
              </a:ext>
            </a:extLst>
          </p:cNvPr>
          <p:cNvPicPr>
            <a:picLocks noChangeAspect="1"/>
          </p:cNvPicPr>
          <p:nvPr/>
        </p:nvPicPr>
        <p:blipFill>
          <a:blip r:embed="rId4"/>
          <a:stretch>
            <a:fillRect/>
          </a:stretch>
        </p:blipFill>
        <p:spPr>
          <a:xfrm>
            <a:off x="5795443" y="5066224"/>
            <a:ext cx="5483357" cy="1190625"/>
          </a:xfrm>
          <a:prstGeom prst="rect">
            <a:avLst/>
          </a:prstGeom>
          <a:effectLst>
            <a:outerShdw blurRad="63500" sx="102000" sy="102000" algn="ctr" rotWithShape="0">
              <a:prstClr val="black">
                <a:alpha val="40000"/>
              </a:prstClr>
            </a:outerShdw>
          </a:effectLst>
        </p:spPr>
      </p:pic>
      <p:sp>
        <p:nvSpPr>
          <p:cNvPr id="34" name="Rectangle 33">
            <a:extLst>
              <a:ext uri="{FF2B5EF4-FFF2-40B4-BE49-F238E27FC236}">
                <a16:creationId xmlns:a16="http://schemas.microsoft.com/office/drawing/2014/main" id="{A861C6DD-E062-6526-7A9D-9AC776226B66}"/>
              </a:ext>
            </a:extLst>
          </p:cNvPr>
          <p:cNvSpPr/>
          <p:nvPr/>
        </p:nvSpPr>
        <p:spPr>
          <a:xfrm>
            <a:off x="5795443" y="5778912"/>
            <a:ext cx="2740182" cy="25349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5">
            <a:extLst>
              <a:ext uri="{FF2B5EF4-FFF2-40B4-BE49-F238E27FC236}">
                <a16:creationId xmlns:a16="http://schemas.microsoft.com/office/drawing/2014/main" id="{3912A233-BBDE-EA0A-9055-0B9099698E5D}"/>
              </a:ext>
            </a:extLst>
          </p:cNvPr>
          <p:cNvGraphicFramePr>
            <a:graphicFrameLocks noGrp="1"/>
          </p:cNvGraphicFramePr>
          <p:nvPr/>
        </p:nvGraphicFramePr>
        <p:xfrm>
          <a:off x="338972" y="1780977"/>
          <a:ext cx="11310471" cy="2447942"/>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861428">
                  <a:extLst>
                    <a:ext uri="{9D8B030D-6E8A-4147-A177-3AD203B41FA5}">
                      <a16:colId xmlns:a16="http://schemas.microsoft.com/office/drawing/2014/main" val="9356114"/>
                    </a:ext>
                  </a:extLst>
                </a:gridCol>
                <a:gridCol w="4678886">
                  <a:extLst>
                    <a:ext uri="{9D8B030D-6E8A-4147-A177-3AD203B41FA5}">
                      <a16:colId xmlns:a16="http://schemas.microsoft.com/office/drawing/2014/main" val="1965869314"/>
                    </a:ext>
                  </a:extLst>
                </a:gridCol>
                <a:gridCol w="3770157">
                  <a:extLst>
                    <a:ext uri="{9D8B030D-6E8A-4147-A177-3AD203B41FA5}">
                      <a16:colId xmlns:a16="http://schemas.microsoft.com/office/drawing/2014/main" val="566335056"/>
                    </a:ext>
                  </a:extLst>
                </a:gridCol>
              </a:tblGrid>
              <a:tr h="362708">
                <a:tc>
                  <a:txBody>
                    <a:bodyPr/>
                    <a:lstStyle/>
                    <a:p>
                      <a:pPr algn="ctr" fontAlgn="b"/>
                      <a:r>
                        <a:rPr lang="en-US" sz="1200" b="1" i="0" u="none" strike="noStrike">
                          <a:solidFill>
                            <a:srgbClr val="000000"/>
                          </a:solidFill>
                          <a:effectLst/>
                          <a:latin typeface="+mn-lt"/>
                        </a:rPr>
                        <a:t>Errors</a:t>
                      </a:r>
                    </a:p>
                  </a:txBody>
                  <a:tcPr marL="72000" marR="6350" marT="6350" marB="0" anchor="ctr"/>
                </a:tc>
                <a:tc>
                  <a:txBody>
                    <a:bodyPr/>
                    <a:lstStyle/>
                    <a:p>
                      <a:pPr algn="ctr" fontAlgn="b"/>
                      <a:r>
                        <a:rPr lang="en-US" sz="1200" b="1" i="0" u="none" strike="noStrike" dirty="0">
                          <a:solidFill>
                            <a:srgbClr val="000000"/>
                          </a:solidFill>
                          <a:effectLst/>
                          <a:latin typeface="+mn-lt"/>
                        </a:rPr>
                        <a:t>Error Description (Reason)</a:t>
                      </a:r>
                    </a:p>
                  </a:txBody>
                  <a:tcPr marL="72000" marR="6350" marT="6350" marB="0" anchor="ctr"/>
                </a:tc>
                <a:tc>
                  <a:txBody>
                    <a:bodyPr/>
                    <a:lstStyle/>
                    <a:p>
                      <a:pPr algn="ctr" fontAlgn="b"/>
                      <a:r>
                        <a:rPr lang="en-US" sz="1200" b="1" i="0" u="none" strike="noStrike">
                          <a:solidFill>
                            <a:srgbClr val="000000"/>
                          </a:solidFill>
                          <a:effectLst/>
                          <a:latin typeface="+mn-lt"/>
                        </a:rPr>
                        <a:t>Resolution </a:t>
                      </a:r>
                    </a:p>
                  </a:txBody>
                  <a:tcPr marL="72000" marR="6350" marT="6350" marB="0" anchor="ctr"/>
                </a:tc>
                <a:extLst>
                  <a:ext uri="{0D108BD9-81ED-4DB2-BD59-A6C34878D82A}">
                    <a16:rowId xmlns:a16="http://schemas.microsoft.com/office/drawing/2014/main" val="409099569"/>
                  </a:ext>
                </a:extLst>
              </a:tr>
              <a:tr h="1042617">
                <a:tc>
                  <a:txBody>
                    <a:bodyPr/>
                    <a:lstStyle/>
                    <a:p>
                      <a:pPr algn="l" fontAlgn="b"/>
                      <a:r>
                        <a:rPr lang="en-US" sz="1200" dirty="0">
                          <a:latin typeface="+mn-lt"/>
                        </a:rPr>
                        <a:t>Session “*******” was not created.</a:t>
                      </a:r>
                      <a:endParaRPr lang="en-US" sz="1200" b="0" i="0" u="none" strike="noStrike" dirty="0">
                        <a:solidFill>
                          <a:srgbClr val="000000"/>
                        </a:solidFill>
                        <a:effectLst/>
                        <a:latin typeface="+mn-lt"/>
                      </a:endParaRPr>
                    </a:p>
                  </a:txBody>
                  <a:tcPr marL="108000" marR="6350" marT="36000" marB="0" anchor="ctr"/>
                </a:tc>
                <a:tc>
                  <a:txBody>
                    <a:bodyPr/>
                    <a:lstStyle/>
                    <a:p>
                      <a:r>
                        <a:rPr lang="en-US" sz="1200" dirty="0">
                          <a:latin typeface="+mn-lt"/>
                        </a:rPr>
                        <a:t>The status in this step is always green, but GL Team needs to check Job log because there is no information available to see if any session was generated. There should be a Session generated in the second step. If the session was not generated, the status will be green.</a:t>
                      </a:r>
                    </a:p>
                  </a:txBody>
                  <a:tcPr marL="108000" marR="6350" marT="36000" marB="0" anchor="ctr"/>
                </a:tc>
                <a:tc>
                  <a:txBody>
                    <a:bodyPr/>
                    <a:lstStyle/>
                    <a:p>
                      <a:r>
                        <a:rPr lang="en-US" sz="1200">
                          <a:latin typeface="+mn-lt"/>
                        </a:rPr>
                        <a:t>No action required.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mn-lt"/>
                        </a:rPr>
                        <a:t>This is not considered as an error but be aware of this message while doing the FCC Monitoring.</a:t>
                      </a:r>
                    </a:p>
                    <a:p>
                      <a:endParaRPr lang="en-US" sz="1200">
                        <a:latin typeface="+mn-lt"/>
                      </a:endParaRPr>
                    </a:p>
                  </a:txBody>
                  <a:tcPr marL="108000" marR="6350" marT="36000" marB="0" anchor="ctr"/>
                </a:tc>
                <a:extLst>
                  <a:ext uri="{0D108BD9-81ED-4DB2-BD59-A6C34878D82A}">
                    <a16:rowId xmlns:a16="http://schemas.microsoft.com/office/drawing/2014/main" val="583018577"/>
                  </a:ext>
                </a:extLst>
              </a:tr>
              <a:tr h="104261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a:latin typeface="+mn-lt"/>
                        </a:rPr>
                        <a:t> No session found for the task *****.</a:t>
                      </a:r>
                    </a:p>
                    <a:p>
                      <a:pPr algn="l" fontAlgn="b"/>
                      <a:endParaRPr lang="en-US" sz="1200" b="0" i="0" u="none" strike="noStrike">
                        <a:solidFill>
                          <a:srgbClr val="000000"/>
                        </a:solidFill>
                        <a:effectLst/>
                        <a:latin typeface="+mn-lt"/>
                      </a:endParaRPr>
                    </a:p>
                  </a:txBody>
                  <a:tcPr marL="108000" marR="6350" marT="3600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n-lt"/>
                        </a:rPr>
                        <a:t>The error message comes from job log of Post Recurring entry batch task when session  is not created in the previous step “Create Recurring entries batch”. In this case there is no spool list in the output logs.</a:t>
                      </a:r>
                    </a:p>
                    <a:p>
                      <a:endParaRPr lang="en-US" sz="1200" dirty="0">
                        <a:latin typeface="+mn-lt"/>
                      </a:endParaRPr>
                    </a:p>
                  </a:txBody>
                  <a:tcPr marL="108000" marR="6350" marT="3600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n-lt"/>
                        </a:rPr>
                        <a:t>Change the status to checked with the comment “No Batch to post"</a:t>
                      </a:r>
                    </a:p>
                    <a:p>
                      <a:endParaRPr lang="en-US" sz="1200" dirty="0">
                        <a:latin typeface="+mn-lt"/>
                      </a:endParaRPr>
                    </a:p>
                  </a:txBody>
                  <a:tcPr marL="108000" marR="6350" marT="36000" marB="0" anchor="ctr"/>
                </a:tc>
                <a:extLst>
                  <a:ext uri="{0D108BD9-81ED-4DB2-BD59-A6C34878D82A}">
                    <a16:rowId xmlns:a16="http://schemas.microsoft.com/office/drawing/2014/main" val="151272233"/>
                  </a:ext>
                </a:extLst>
              </a:tr>
            </a:tbl>
          </a:graphicData>
        </a:graphic>
      </p:graphicFrame>
      <p:cxnSp>
        <p:nvCxnSpPr>
          <p:cNvPr id="7" name="Connector: Elbow 6">
            <a:extLst>
              <a:ext uri="{FF2B5EF4-FFF2-40B4-BE49-F238E27FC236}">
                <a16:creationId xmlns:a16="http://schemas.microsoft.com/office/drawing/2014/main" id="{FBACECC9-1544-01AC-7127-0A26D4A580D9}"/>
              </a:ext>
            </a:extLst>
          </p:cNvPr>
          <p:cNvCxnSpPr>
            <a:cxnSpLocks/>
            <a:stCxn id="36" idx="1"/>
            <a:endCxn id="12" idx="1"/>
          </p:cNvCxnSpPr>
          <p:nvPr/>
        </p:nvCxnSpPr>
        <p:spPr>
          <a:xfrm rot="10800000" flipH="1" flipV="1">
            <a:off x="420063" y="2713041"/>
            <a:ext cx="193613" cy="3767041"/>
          </a:xfrm>
          <a:prstGeom prst="bentConnector3">
            <a:avLst>
              <a:gd name="adj1" fmla="val -11807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14946448-B4EA-10A3-1449-3AD1A5FFCAEF}"/>
              </a:ext>
            </a:extLst>
          </p:cNvPr>
          <p:cNvCxnSpPr>
            <a:cxnSpLocks/>
            <a:stCxn id="37" idx="2"/>
            <a:endCxn id="21" idx="0"/>
          </p:cNvCxnSpPr>
          <p:nvPr/>
        </p:nvCxnSpPr>
        <p:spPr>
          <a:xfrm rot="16200000" flipH="1">
            <a:off x="4439151" y="968252"/>
            <a:ext cx="1288687" cy="6907255"/>
          </a:xfrm>
          <a:prstGeom prst="bentConnector3">
            <a:avLst>
              <a:gd name="adj1" fmla="val 50000"/>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39B88E6D-F945-1134-C22F-7CEFF4FA932A}"/>
              </a:ext>
            </a:extLst>
          </p:cNvPr>
          <p:cNvSpPr/>
          <p:nvPr/>
        </p:nvSpPr>
        <p:spPr>
          <a:xfrm>
            <a:off x="420064" y="2574543"/>
            <a:ext cx="2313886" cy="27699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7323CD82-E9C8-B8F2-7FB5-AAD71F34C775}"/>
              </a:ext>
            </a:extLst>
          </p:cNvPr>
          <p:cNvSpPr/>
          <p:nvPr/>
        </p:nvSpPr>
        <p:spPr>
          <a:xfrm>
            <a:off x="440059" y="3500539"/>
            <a:ext cx="2379616" cy="276998"/>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DC9C71C-C228-AE09-3913-EFC16DB78A47}"/>
              </a:ext>
            </a:extLst>
          </p:cNvPr>
          <p:cNvSpPr/>
          <p:nvPr/>
        </p:nvSpPr>
        <p:spPr>
          <a:xfrm>
            <a:off x="613677" y="5186254"/>
            <a:ext cx="2205998" cy="2225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Connector: Elbow 26">
            <a:extLst>
              <a:ext uri="{FF2B5EF4-FFF2-40B4-BE49-F238E27FC236}">
                <a16:creationId xmlns:a16="http://schemas.microsoft.com/office/drawing/2014/main" id="{0F8DAF32-F71E-01C8-71A4-4F8F81C4CBF3}"/>
              </a:ext>
            </a:extLst>
          </p:cNvPr>
          <p:cNvCxnSpPr>
            <a:cxnSpLocks/>
            <a:stCxn id="36" idx="1"/>
            <a:endCxn id="26" idx="1"/>
          </p:cNvCxnSpPr>
          <p:nvPr/>
        </p:nvCxnSpPr>
        <p:spPr>
          <a:xfrm rot="10800000" flipH="1" flipV="1">
            <a:off x="420063" y="2713042"/>
            <a:ext cx="193613" cy="2584462"/>
          </a:xfrm>
          <a:prstGeom prst="bentConnector3">
            <a:avLst>
              <a:gd name="adj1" fmla="val -11807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3863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0000000-0008-0000-0600-000006000000}"/>
              </a:ext>
              <a:ext uri="{147F2762-F138-4A5C-976F-8EAC2B608ADB}">
                <a16:predDERef xmlns:a16="http://schemas.microsoft.com/office/drawing/2014/main" pred="{C73C4F54-A48F-11A7-59C1-3EBC038680DA}"/>
              </a:ext>
            </a:extLst>
          </p:cNvPr>
          <p:cNvPicPr>
            <a:picLocks noChangeAspect="1"/>
          </p:cNvPicPr>
          <p:nvPr/>
        </p:nvPicPr>
        <p:blipFill>
          <a:blip r:embed="rId2"/>
          <a:stretch>
            <a:fillRect/>
          </a:stretch>
        </p:blipFill>
        <p:spPr>
          <a:xfrm>
            <a:off x="521130" y="3626011"/>
            <a:ext cx="4944639" cy="1600200"/>
          </a:xfrm>
          <a:prstGeom prst="rect">
            <a:avLst/>
          </a:prstGeom>
          <a:effectLst>
            <a:outerShdw blurRad="63500" sx="102000" sy="102000" algn="ctr" rotWithShape="0">
              <a:prstClr val="black">
                <a:alpha val="40000"/>
              </a:prstClr>
            </a:outerShdw>
          </a:effectLst>
        </p:spPr>
      </p:pic>
      <p:sp>
        <p:nvSpPr>
          <p:cNvPr id="3" name="Slide Number Placeholder 2">
            <a:extLst>
              <a:ext uri="{FF2B5EF4-FFF2-40B4-BE49-F238E27FC236}">
                <a16:creationId xmlns:a16="http://schemas.microsoft.com/office/drawing/2014/main" id="{D6F24A8E-1191-B58C-C7F7-A6DAA8B9E888}"/>
              </a:ext>
            </a:extLst>
          </p:cNvPr>
          <p:cNvSpPr>
            <a:spLocks noGrp="1"/>
          </p:cNvSpPr>
          <p:nvPr>
            <p:ph type="sldNum" sz="quarter" idx="12"/>
          </p:nvPr>
        </p:nvSpPr>
        <p:spPr/>
        <p:txBody>
          <a:bodyPr/>
          <a:lstStyle/>
          <a:p>
            <a:fld id="{F4C94289-3309-4C35-850A-56FD49B3E346}" type="slidenum">
              <a:rPr lang="en-GB" smtClean="0"/>
              <a:t>6</a:t>
            </a:fld>
            <a:endParaRPr lang="en-GB"/>
          </a:p>
        </p:txBody>
      </p:sp>
      <p:sp>
        <p:nvSpPr>
          <p:cNvPr id="4" name="Title 3">
            <a:extLst>
              <a:ext uri="{FF2B5EF4-FFF2-40B4-BE49-F238E27FC236}">
                <a16:creationId xmlns:a16="http://schemas.microsoft.com/office/drawing/2014/main" id="{D70DFC20-DE46-45FB-9E38-039F9C02A5ED}"/>
              </a:ext>
            </a:extLst>
          </p:cNvPr>
          <p:cNvSpPr>
            <a:spLocks noGrp="1"/>
          </p:cNvSpPr>
          <p:nvPr>
            <p:ph type="title"/>
          </p:nvPr>
        </p:nvSpPr>
        <p:spPr/>
        <p:txBody>
          <a:bodyPr/>
          <a:lstStyle/>
          <a:p>
            <a:r>
              <a:rPr lang="en-GB">
                <a:latin typeface="+mn-lt"/>
              </a:rPr>
              <a:t>Monthly </a:t>
            </a:r>
            <a:r>
              <a:rPr lang="en-GB" cap="none">
                <a:latin typeface="+mn-lt"/>
              </a:rPr>
              <a:t>Recurring Entries Posting</a:t>
            </a:r>
            <a:br>
              <a:rPr lang="en-GB" cap="none">
                <a:latin typeface="+mn-lt"/>
              </a:rPr>
            </a:br>
            <a:r>
              <a:rPr lang="en-GB" cap="none">
                <a:latin typeface="+mn-lt"/>
              </a:rPr>
              <a:t>Common Error</a:t>
            </a:r>
            <a:endParaRPr lang="en-US">
              <a:latin typeface="+mn-lt"/>
            </a:endParaRPr>
          </a:p>
        </p:txBody>
      </p:sp>
      <p:sp>
        <p:nvSpPr>
          <p:cNvPr id="12" name="Rectangle 11">
            <a:extLst>
              <a:ext uri="{FF2B5EF4-FFF2-40B4-BE49-F238E27FC236}">
                <a16:creationId xmlns:a16="http://schemas.microsoft.com/office/drawing/2014/main" id="{55657E6C-0E96-1EBE-B2B7-F5BE4C5C9809}"/>
              </a:ext>
            </a:extLst>
          </p:cNvPr>
          <p:cNvSpPr/>
          <p:nvPr/>
        </p:nvSpPr>
        <p:spPr>
          <a:xfrm>
            <a:off x="586464" y="4668902"/>
            <a:ext cx="2205998" cy="202255"/>
          </a:xfrm>
          <a:prstGeom prst="rect">
            <a:avLst/>
          </a:prstGeom>
          <a:noFill/>
          <a:ln w="38100">
            <a:solidFill>
              <a:srgbClr val="FF00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0000000-0008-0000-0600-000005000000}"/>
              </a:ext>
              <a:ext uri="{147F2762-F138-4A5C-976F-8EAC2B608ADB}">
                <a16:predDERef xmlns:a16="http://schemas.microsoft.com/office/drawing/2014/main" pred="{3C6E005B-CA48-60E2-AAB6-C6578381CB1B}"/>
              </a:ext>
            </a:extLst>
          </p:cNvPr>
          <p:cNvPicPr>
            <a:picLocks noChangeAspect="1"/>
          </p:cNvPicPr>
          <p:nvPr/>
        </p:nvPicPr>
        <p:blipFill>
          <a:blip r:embed="rId3"/>
          <a:stretch>
            <a:fillRect/>
          </a:stretch>
        </p:blipFill>
        <p:spPr>
          <a:xfrm>
            <a:off x="521129" y="5371903"/>
            <a:ext cx="4944639" cy="905025"/>
          </a:xfrm>
          <a:prstGeom prst="rect">
            <a:avLst/>
          </a:prstGeom>
          <a:effectLst>
            <a:outerShdw blurRad="63500" sx="102000" sy="102000" algn="ctr" rotWithShape="0">
              <a:prstClr val="black">
                <a:alpha val="40000"/>
              </a:prstClr>
            </a:outerShdw>
          </a:effectLst>
        </p:spPr>
      </p:pic>
      <p:graphicFrame>
        <p:nvGraphicFramePr>
          <p:cNvPr id="5" name="Table 5">
            <a:extLst>
              <a:ext uri="{FF2B5EF4-FFF2-40B4-BE49-F238E27FC236}">
                <a16:creationId xmlns:a16="http://schemas.microsoft.com/office/drawing/2014/main" id="{60592432-BA98-51D5-0B22-40430956101C}"/>
              </a:ext>
            </a:extLst>
          </p:cNvPr>
          <p:cNvGraphicFramePr>
            <a:graphicFrameLocks noGrp="1"/>
          </p:cNvGraphicFramePr>
          <p:nvPr/>
        </p:nvGraphicFramePr>
        <p:xfrm>
          <a:off x="530655" y="1359615"/>
          <a:ext cx="11310471" cy="2092285"/>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974545">
                  <a:extLst>
                    <a:ext uri="{9D8B030D-6E8A-4147-A177-3AD203B41FA5}">
                      <a16:colId xmlns:a16="http://schemas.microsoft.com/office/drawing/2014/main" val="9356114"/>
                    </a:ext>
                  </a:extLst>
                </a:gridCol>
                <a:gridCol w="3629025">
                  <a:extLst>
                    <a:ext uri="{9D8B030D-6E8A-4147-A177-3AD203B41FA5}">
                      <a16:colId xmlns:a16="http://schemas.microsoft.com/office/drawing/2014/main" val="1965869314"/>
                    </a:ext>
                  </a:extLst>
                </a:gridCol>
                <a:gridCol w="4706901">
                  <a:extLst>
                    <a:ext uri="{9D8B030D-6E8A-4147-A177-3AD203B41FA5}">
                      <a16:colId xmlns:a16="http://schemas.microsoft.com/office/drawing/2014/main" val="566335056"/>
                    </a:ext>
                  </a:extLst>
                </a:gridCol>
              </a:tblGrid>
              <a:tr h="622895">
                <a:tc>
                  <a:txBody>
                    <a:bodyPr/>
                    <a:lstStyle/>
                    <a:p>
                      <a:pPr algn="ctr" fontAlgn="b"/>
                      <a:r>
                        <a:rPr lang="en-US" sz="1200" b="1" i="0" u="none" strike="noStrike">
                          <a:solidFill>
                            <a:srgbClr val="000000"/>
                          </a:solidFill>
                          <a:effectLst/>
                          <a:latin typeface="+mn-lt"/>
                        </a:rPr>
                        <a:t>Errors</a:t>
                      </a:r>
                    </a:p>
                  </a:txBody>
                  <a:tcPr marL="108000" marR="6350" marT="6350" marB="0" anchor="ctr"/>
                </a:tc>
                <a:tc>
                  <a:txBody>
                    <a:bodyPr/>
                    <a:lstStyle/>
                    <a:p>
                      <a:pPr algn="ctr" fontAlgn="b"/>
                      <a:r>
                        <a:rPr lang="en-US" sz="1200" b="1" i="0" u="none" strike="noStrike">
                          <a:solidFill>
                            <a:srgbClr val="000000"/>
                          </a:solidFill>
                          <a:effectLst/>
                          <a:latin typeface="+mn-lt"/>
                        </a:rPr>
                        <a:t>Error Description (Reason)</a:t>
                      </a:r>
                    </a:p>
                  </a:txBody>
                  <a:tcPr marL="108000" marR="6350" marT="6350" marB="0" anchor="ctr"/>
                </a:tc>
                <a:tc>
                  <a:txBody>
                    <a:bodyPr/>
                    <a:lstStyle/>
                    <a:p>
                      <a:pPr algn="ctr" fontAlgn="b"/>
                      <a:r>
                        <a:rPr lang="en-US" sz="1200" b="1" i="0" u="none" strike="noStrike">
                          <a:solidFill>
                            <a:srgbClr val="000000"/>
                          </a:solidFill>
                          <a:effectLst/>
                          <a:latin typeface="+mn-lt"/>
                        </a:rPr>
                        <a:t>Resolution </a:t>
                      </a:r>
                    </a:p>
                  </a:txBody>
                  <a:tcPr marL="108000" marR="6350" marT="6350" marB="0" anchor="ctr"/>
                </a:tc>
                <a:extLst>
                  <a:ext uri="{0D108BD9-81ED-4DB2-BD59-A6C34878D82A}">
                    <a16:rowId xmlns:a16="http://schemas.microsoft.com/office/drawing/2014/main" val="409099569"/>
                  </a:ext>
                </a:extLst>
              </a:tr>
              <a:tr h="537862">
                <a:tc>
                  <a:txBody>
                    <a:bodyPr/>
                    <a:lstStyle/>
                    <a:p>
                      <a:pPr algn="l" fontAlgn="b"/>
                      <a:r>
                        <a:rPr lang="en-US" sz="1200" dirty="0">
                          <a:latin typeface="+mn-lt"/>
                        </a:rPr>
                        <a:t>X session(s) have been passed to background processing.</a:t>
                      </a:r>
                      <a:endParaRPr lang="en-US" sz="1200" b="0" i="0" u="none" strike="noStrike" dirty="0">
                        <a:solidFill>
                          <a:srgbClr val="000000"/>
                        </a:solidFill>
                        <a:effectLst/>
                        <a:latin typeface="+mn-lt"/>
                      </a:endParaRPr>
                    </a:p>
                  </a:txBody>
                  <a:tcPr marL="108000" marR="6350" marT="6350" marB="0" anchor="ctr"/>
                </a:tc>
                <a:tc>
                  <a:txBody>
                    <a:bodyPr/>
                    <a:lstStyle/>
                    <a:p>
                      <a:r>
                        <a:rPr lang="en-US" sz="1200" dirty="0">
                          <a:solidFill>
                            <a:schemeClr val="tx1"/>
                          </a:solidFill>
                          <a:latin typeface="+mn-lt"/>
                        </a:rPr>
                        <a:t>This error comes when session was created in the first step, but in the second step the status is red. Which means  </a:t>
                      </a:r>
                      <a:r>
                        <a:rPr kumimoji="0" lang="en-GB" sz="1200" b="0" i="0" u="none" kern="1200" cap="none" spc="0" normalizeH="0" baseline="0" noProof="0" dirty="0">
                          <a:ln>
                            <a:noFill/>
                          </a:ln>
                          <a:solidFill>
                            <a:schemeClr val="tx1"/>
                          </a:solidFill>
                          <a:effectLst/>
                          <a:uLnTx/>
                          <a:uFillTx/>
                          <a:latin typeface="+mn-lt"/>
                          <a:ea typeface="+mn-ea"/>
                          <a:cs typeface="+mn-cs"/>
                        </a:rPr>
                        <a:t>Batch </a:t>
                      </a:r>
                      <a:r>
                        <a:rPr kumimoji="0" lang="en-GB" sz="1200" b="0" i="0" u="none" strike="noStrike" kern="1200" cap="none" spc="0" normalizeH="0" baseline="0" noProof="0" dirty="0">
                          <a:ln>
                            <a:noFill/>
                          </a:ln>
                          <a:solidFill>
                            <a:schemeClr val="tx1"/>
                          </a:solidFill>
                          <a:effectLst/>
                          <a:uLnTx/>
                          <a:uFillTx/>
                          <a:latin typeface="+mn-lt"/>
                          <a:ea typeface="+mn-ea"/>
                          <a:cs typeface="+mn-cs"/>
                        </a:rPr>
                        <a:t>Input session has been generated and sent to background processing. </a:t>
                      </a:r>
                      <a:r>
                        <a:rPr lang="en-GB" sz="1200" dirty="0">
                          <a:solidFill>
                            <a:schemeClr val="tx1"/>
                          </a:solidFill>
                          <a:latin typeface="+mn-lt"/>
                        </a:rPr>
                        <a:t>But</a:t>
                      </a:r>
                      <a:r>
                        <a:rPr kumimoji="0" lang="en-GB" sz="1200" b="0" i="0" u="none" strike="noStrike" kern="1200" cap="none" spc="0" normalizeH="0" baseline="0" noProof="0" dirty="0">
                          <a:ln>
                            <a:noFill/>
                          </a:ln>
                          <a:solidFill>
                            <a:schemeClr val="tx1"/>
                          </a:solidFill>
                          <a:effectLst/>
                          <a:uLnTx/>
                          <a:uFillTx/>
                          <a:latin typeface="+mn-lt"/>
                          <a:ea typeface="+mn-ea"/>
                          <a:cs typeface="+mn-cs"/>
                        </a:rPr>
                        <a:t> it does not tell us whether the processing is finished or not.</a:t>
                      </a:r>
                      <a:endParaRPr lang="en-US" sz="1200" dirty="0">
                        <a:solidFill>
                          <a:schemeClr val="tx1"/>
                        </a:solidFill>
                        <a:latin typeface="+mn-lt"/>
                      </a:endParaRPr>
                    </a:p>
                  </a:txBody>
                  <a:tcPr marL="108000" marR="6350" marT="6350" marB="0" anchor="ctr"/>
                </a:tc>
                <a:tc>
                  <a:txBody>
                    <a:bodyPr/>
                    <a:lstStyle/>
                    <a:p>
                      <a:r>
                        <a:rPr lang="en-US" sz="1200" dirty="0">
                          <a:latin typeface="+mn-lt"/>
                        </a:rPr>
                        <a:t>Check the session name in the spool list and find it in the T-code SM35. Tick the session and select Process -&gt; Display errors </a:t>
                      </a:r>
                      <a:r>
                        <a:rPr lang="en-US" sz="1200" dirty="0">
                          <a:solidFill>
                            <a:schemeClr val="tx1"/>
                          </a:solidFill>
                          <a:latin typeface="+mn-lt"/>
                        </a:rPr>
                        <a:t>only to process Batch. </a:t>
                      </a:r>
                      <a:r>
                        <a:rPr lang="en-US" sz="1200" dirty="0">
                          <a:latin typeface="+mn-lt"/>
                        </a:rPr>
                        <a:t>If posting has completed successfully, change the status to checked with the comment “Batch has been posted". </a:t>
                      </a:r>
                    </a:p>
                    <a:p>
                      <a:r>
                        <a:rPr lang="en-US" sz="1200" dirty="0">
                          <a:latin typeface="+mn-lt"/>
                        </a:rPr>
                        <a:t>If there is an error that is blocking posting in Inter-Company recurring, then send an e-mail to the GBS Intercompany Team with the error message, and they will advise on the next action.</a:t>
                      </a:r>
                      <a:endParaRPr lang="en-US" sz="1200" strike="sngStrike" dirty="0">
                        <a:latin typeface="+mn-lt"/>
                      </a:endParaRPr>
                    </a:p>
                    <a:p>
                      <a:endParaRPr lang="en-US" sz="1200" dirty="0">
                        <a:latin typeface="+mn-lt"/>
                      </a:endParaRPr>
                    </a:p>
                  </a:txBody>
                  <a:tcPr marL="108000" marR="6350" marT="6350" marB="0" anchor="ctr"/>
                </a:tc>
                <a:extLst>
                  <a:ext uri="{0D108BD9-81ED-4DB2-BD59-A6C34878D82A}">
                    <a16:rowId xmlns:a16="http://schemas.microsoft.com/office/drawing/2014/main" val="583018577"/>
                  </a:ext>
                </a:extLst>
              </a:tr>
            </a:tbl>
          </a:graphicData>
        </a:graphic>
      </p:graphicFrame>
    </p:spTree>
    <p:extLst>
      <p:ext uri="{BB962C8B-B14F-4D97-AF65-F5344CB8AC3E}">
        <p14:creationId xmlns:p14="http://schemas.microsoft.com/office/powerpoint/2010/main" val="2151697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C6EA32EE-DA99-8304-1B2A-D556B9166D01}"/>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5689" t="22095" r="6165" b="14854"/>
          <a:stretch/>
        </p:blipFill>
        <p:spPr>
          <a:xfrm>
            <a:off x="4751396" y="4757568"/>
            <a:ext cx="6135393" cy="1846459"/>
          </a:xfrm>
          <a:prstGeom prst="rect">
            <a:avLst/>
          </a:prstGeom>
          <a:effectLst>
            <a:outerShdw blurRad="63500" sx="102000" sy="102000" algn="ctr" rotWithShape="0">
              <a:prstClr val="black">
                <a:alpha val="40000"/>
              </a:prstClr>
            </a:outerShdw>
          </a:effectLst>
        </p:spPr>
      </p:pic>
      <p:sp>
        <p:nvSpPr>
          <p:cNvPr id="3" name="Slide Number Placeholder 2">
            <a:extLst>
              <a:ext uri="{FF2B5EF4-FFF2-40B4-BE49-F238E27FC236}">
                <a16:creationId xmlns:a16="http://schemas.microsoft.com/office/drawing/2014/main" id="{D6F24A8E-1191-B58C-C7F7-A6DAA8B9E888}"/>
              </a:ext>
            </a:extLst>
          </p:cNvPr>
          <p:cNvSpPr>
            <a:spLocks noGrp="1"/>
          </p:cNvSpPr>
          <p:nvPr>
            <p:ph type="sldNum" sz="quarter" idx="12"/>
          </p:nvPr>
        </p:nvSpPr>
        <p:spPr/>
        <p:txBody>
          <a:bodyPr/>
          <a:lstStyle/>
          <a:p>
            <a:fld id="{F4C94289-3309-4C35-850A-56FD49B3E346}" type="slidenum">
              <a:rPr lang="en-GB" smtClean="0"/>
              <a:t>7</a:t>
            </a:fld>
            <a:endParaRPr lang="en-GB"/>
          </a:p>
        </p:txBody>
      </p:sp>
      <p:sp>
        <p:nvSpPr>
          <p:cNvPr id="4" name="Title 3">
            <a:extLst>
              <a:ext uri="{FF2B5EF4-FFF2-40B4-BE49-F238E27FC236}">
                <a16:creationId xmlns:a16="http://schemas.microsoft.com/office/drawing/2014/main" id="{D70DFC20-DE46-45FB-9E38-039F9C02A5ED}"/>
              </a:ext>
            </a:extLst>
          </p:cNvPr>
          <p:cNvSpPr>
            <a:spLocks noGrp="1"/>
          </p:cNvSpPr>
          <p:nvPr>
            <p:ph type="title"/>
          </p:nvPr>
        </p:nvSpPr>
        <p:spPr/>
        <p:txBody>
          <a:bodyPr/>
          <a:lstStyle/>
          <a:p>
            <a:r>
              <a:rPr lang="en-GB">
                <a:latin typeface="+mn-lt"/>
              </a:rPr>
              <a:t>Monthly </a:t>
            </a:r>
            <a:r>
              <a:rPr lang="en-GB" cap="none">
                <a:latin typeface="+mn-lt"/>
              </a:rPr>
              <a:t>Recurring Entries Posting</a:t>
            </a:r>
            <a:br>
              <a:rPr lang="en-GB" cap="none">
                <a:latin typeface="+mn-lt"/>
              </a:rPr>
            </a:br>
            <a:r>
              <a:rPr lang="en-GB" cap="none">
                <a:latin typeface="+mn-lt"/>
              </a:rPr>
              <a:t>Common Error</a:t>
            </a:r>
            <a:endParaRPr lang="en-US">
              <a:latin typeface="+mn-lt"/>
            </a:endParaRPr>
          </a:p>
        </p:txBody>
      </p:sp>
      <p:sp>
        <p:nvSpPr>
          <p:cNvPr id="25" name="TextBox 24">
            <a:extLst>
              <a:ext uri="{FF2B5EF4-FFF2-40B4-BE49-F238E27FC236}">
                <a16:creationId xmlns:a16="http://schemas.microsoft.com/office/drawing/2014/main" id="{A9A4F935-543F-347B-B03D-8F61839D00E7}"/>
              </a:ext>
            </a:extLst>
          </p:cNvPr>
          <p:cNvSpPr txBox="1"/>
          <p:nvPr/>
        </p:nvSpPr>
        <p:spPr>
          <a:xfrm>
            <a:off x="515271" y="3199125"/>
            <a:ext cx="3401936" cy="830997"/>
          </a:xfrm>
          <a:prstGeom prst="wedgeRectCallout">
            <a:avLst>
              <a:gd name="adj1" fmla="val 72535"/>
              <a:gd name="adj2" fmla="val -11629"/>
            </a:avLst>
          </a:prstGeom>
          <a:ln/>
        </p:spPr>
        <p:style>
          <a:lnRef idx="0">
            <a:schemeClr val="accent3"/>
          </a:lnRef>
          <a:fillRef idx="3">
            <a:schemeClr val="accent3"/>
          </a:fillRef>
          <a:effectRef idx="3">
            <a:schemeClr val="accent3"/>
          </a:effectRef>
          <a:fontRef idx="minor">
            <a:schemeClr val="lt1"/>
          </a:fontRef>
        </p:style>
        <p:txBody>
          <a:bodyPr wrap="square">
            <a:spAutoFit/>
          </a:bodyPr>
          <a:lstStyle>
            <a:defPPr>
              <a:defRPr lang="en-US"/>
            </a:defPPr>
            <a:lvl1pPr>
              <a:defRPr sz="1200">
                <a:latin typeface="Georgia" panose="02040502050405020303" pitchFamily="18" charset="0"/>
              </a:defRPr>
            </a:lvl1pPr>
          </a:lstStyle>
          <a:p>
            <a:r>
              <a:rPr lang="en-GB">
                <a:latin typeface="+mn-lt"/>
              </a:rPr>
              <a:t>Sometimes, Recurring Entries Document will not be posted because of the “Deletion Indicator” is set for that document Number. This can be checked in two possible ways. </a:t>
            </a:r>
            <a:endParaRPr lang="en-US">
              <a:latin typeface="+mn-lt"/>
            </a:endParaRPr>
          </a:p>
        </p:txBody>
      </p:sp>
      <p:sp>
        <p:nvSpPr>
          <p:cNvPr id="26" name="TextBox 25">
            <a:extLst>
              <a:ext uri="{FF2B5EF4-FFF2-40B4-BE49-F238E27FC236}">
                <a16:creationId xmlns:a16="http://schemas.microsoft.com/office/drawing/2014/main" id="{F7218173-A45A-C709-0708-68460290EA55}"/>
              </a:ext>
            </a:extLst>
          </p:cNvPr>
          <p:cNvSpPr txBox="1"/>
          <p:nvPr/>
        </p:nvSpPr>
        <p:spPr>
          <a:xfrm>
            <a:off x="4710172" y="1447190"/>
            <a:ext cx="6953546" cy="461665"/>
          </a:xfrm>
          <a:prstGeom prst="rect">
            <a:avLst/>
          </a:prstGeom>
          <a:ln/>
        </p:spPr>
        <p:style>
          <a:lnRef idx="0">
            <a:schemeClr val="accent3"/>
          </a:lnRef>
          <a:fillRef idx="3">
            <a:schemeClr val="accent3"/>
          </a:fillRef>
          <a:effectRef idx="3">
            <a:schemeClr val="accent3"/>
          </a:effectRef>
          <a:fontRef idx="minor">
            <a:schemeClr val="lt1"/>
          </a:fontRef>
        </p:style>
        <p:txBody>
          <a:bodyPr wrap="square">
            <a:spAutoFit/>
          </a:bodyPr>
          <a:lstStyle/>
          <a:p>
            <a:r>
              <a:rPr lang="en-US" sz="1200"/>
              <a:t>Step 1: </a:t>
            </a:r>
            <a:r>
              <a:rPr lang="en-US" sz="1200" b="1"/>
              <a:t>Execute the T-Code FBD3 </a:t>
            </a:r>
            <a:r>
              <a:rPr lang="en-US" sz="1200"/>
              <a:t>and give the Recurring Entries document number which has not been selected. </a:t>
            </a:r>
          </a:p>
        </p:txBody>
      </p:sp>
      <p:pic>
        <p:nvPicPr>
          <p:cNvPr id="27" name="Picture 26">
            <a:extLst>
              <a:ext uri="{FF2B5EF4-FFF2-40B4-BE49-F238E27FC236}">
                <a16:creationId xmlns:a16="http://schemas.microsoft.com/office/drawing/2014/main" id="{0EA9272C-D97C-2917-8B4A-25DC26BE17CF}"/>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25000"/>
                    </a14:imgEffect>
                  </a14:imgLayer>
                </a14:imgProps>
              </a:ext>
            </a:extLst>
          </a:blip>
          <a:srcRect b="13438"/>
          <a:stretch/>
        </p:blipFill>
        <p:spPr>
          <a:xfrm>
            <a:off x="4751396" y="2077879"/>
            <a:ext cx="4314745" cy="2241548"/>
          </a:xfrm>
          <a:prstGeom prst="rect">
            <a:avLst/>
          </a:prstGeom>
          <a:effectLst>
            <a:outerShdw blurRad="63500" sx="102000" sy="102000" algn="ctr" rotWithShape="0">
              <a:prstClr val="black">
                <a:alpha val="40000"/>
              </a:prstClr>
            </a:outerShdw>
          </a:effectLst>
        </p:spPr>
      </p:pic>
      <p:pic>
        <p:nvPicPr>
          <p:cNvPr id="28" name="Picture 27">
            <a:extLst>
              <a:ext uri="{FF2B5EF4-FFF2-40B4-BE49-F238E27FC236}">
                <a16:creationId xmlns:a16="http://schemas.microsoft.com/office/drawing/2014/main" id="{D4667344-B9D6-96D6-1F37-DD0C9213DCAB}"/>
              </a:ext>
            </a:extLst>
          </p:cNvPr>
          <p:cNvPicPr>
            <a:picLocks noChangeAspect="1"/>
          </p:cNvPicPr>
          <p:nvPr/>
        </p:nvPicPr>
        <p:blipFill rotWithShape="1">
          <a:blip r:embed="rId6">
            <a:extLst>
              <a:ext uri="{BEBA8EAE-BF5A-486C-A8C5-ECC9F3942E4B}">
                <a14:imgProps xmlns:a14="http://schemas.microsoft.com/office/drawing/2010/main">
                  <a14:imgLayer r:embed="rId7">
                    <a14:imgEffect>
                      <a14:sharpenSoften amount="50000"/>
                    </a14:imgEffect>
                  </a14:imgLayer>
                </a14:imgProps>
              </a:ext>
            </a:extLst>
          </a:blip>
          <a:srcRect b="25591"/>
          <a:stretch/>
        </p:blipFill>
        <p:spPr>
          <a:xfrm>
            <a:off x="8763653" y="1929578"/>
            <a:ext cx="2786162" cy="1992447"/>
          </a:xfrm>
          <a:prstGeom prst="rect">
            <a:avLst/>
          </a:prstGeom>
          <a:effectLst>
            <a:outerShdw blurRad="63500" sx="102000" sy="102000" algn="ctr" rotWithShape="0">
              <a:prstClr val="black">
                <a:alpha val="40000"/>
              </a:prstClr>
            </a:outerShdw>
          </a:effectLst>
        </p:spPr>
      </p:pic>
      <p:sp>
        <p:nvSpPr>
          <p:cNvPr id="29" name="Rectangle 28">
            <a:extLst>
              <a:ext uri="{FF2B5EF4-FFF2-40B4-BE49-F238E27FC236}">
                <a16:creationId xmlns:a16="http://schemas.microsoft.com/office/drawing/2014/main" id="{23310182-57DE-C729-0AB5-5000F5D5D788}"/>
              </a:ext>
            </a:extLst>
          </p:cNvPr>
          <p:cNvSpPr/>
          <p:nvPr/>
        </p:nvSpPr>
        <p:spPr>
          <a:xfrm>
            <a:off x="8795558" y="3706284"/>
            <a:ext cx="897485" cy="21574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9964ADCD-75BB-1C79-2135-31C766E82151}"/>
              </a:ext>
            </a:extLst>
          </p:cNvPr>
          <p:cNvSpPr txBox="1"/>
          <p:nvPr/>
        </p:nvSpPr>
        <p:spPr>
          <a:xfrm>
            <a:off x="5265010" y="2434899"/>
            <a:ext cx="2492953" cy="430887"/>
          </a:xfrm>
          <a:prstGeom prst="rect">
            <a:avLst/>
          </a:prstGeom>
          <a:solidFill>
            <a:schemeClr val="bg1"/>
          </a:solidFill>
          <a:ln w="19050">
            <a:solidFill>
              <a:srgbClr val="FF0000"/>
            </a:solidFill>
          </a:ln>
        </p:spPr>
        <p:txBody>
          <a:bodyPr wrap="square">
            <a:spAutoFit/>
          </a:bodyPr>
          <a:lstStyle/>
          <a:p>
            <a:r>
              <a:rPr lang="en-US" sz="1050"/>
              <a:t>Click on “Goto” in the menu bar and select the “Recurring Entries Data”.</a:t>
            </a:r>
          </a:p>
        </p:txBody>
      </p:sp>
      <p:sp>
        <p:nvSpPr>
          <p:cNvPr id="31" name="Rectangle 30">
            <a:extLst>
              <a:ext uri="{FF2B5EF4-FFF2-40B4-BE49-F238E27FC236}">
                <a16:creationId xmlns:a16="http://schemas.microsoft.com/office/drawing/2014/main" id="{1863071A-DB18-641F-B216-12A7711A57C2}"/>
              </a:ext>
            </a:extLst>
          </p:cNvPr>
          <p:cNvSpPr/>
          <p:nvPr/>
        </p:nvSpPr>
        <p:spPr>
          <a:xfrm>
            <a:off x="5495780" y="2047736"/>
            <a:ext cx="344349" cy="1971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Connector: Elbow 31">
            <a:extLst>
              <a:ext uri="{FF2B5EF4-FFF2-40B4-BE49-F238E27FC236}">
                <a16:creationId xmlns:a16="http://schemas.microsoft.com/office/drawing/2014/main" id="{757F2A00-509F-98EC-8956-2718CF99E06D}"/>
              </a:ext>
            </a:extLst>
          </p:cNvPr>
          <p:cNvCxnSpPr>
            <a:cxnSpLocks/>
            <a:stCxn id="31" idx="3"/>
            <a:endCxn id="30" idx="0"/>
          </p:cNvCxnSpPr>
          <p:nvPr/>
        </p:nvCxnSpPr>
        <p:spPr>
          <a:xfrm>
            <a:off x="5840129" y="2146315"/>
            <a:ext cx="671358" cy="288584"/>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0C44419-2802-CAA6-DFA0-4CAD45DFF732}"/>
              </a:ext>
            </a:extLst>
          </p:cNvPr>
          <p:cNvSpPr txBox="1"/>
          <p:nvPr/>
        </p:nvSpPr>
        <p:spPr>
          <a:xfrm>
            <a:off x="4722515" y="4399998"/>
            <a:ext cx="6953544" cy="276999"/>
          </a:xfrm>
          <a:prstGeom prst="rect">
            <a:avLst/>
          </a:prstGeom>
          <a:ln/>
        </p:spPr>
        <p:style>
          <a:lnRef idx="0">
            <a:schemeClr val="accent3"/>
          </a:lnRef>
          <a:fillRef idx="3">
            <a:schemeClr val="accent3"/>
          </a:fillRef>
          <a:effectRef idx="3">
            <a:schemeClr val="accent3"/>
          </a:effectRef>
          <a:fontRef idx="minor">
            <a:schemeClr val="lt1"/>
          </a:fontRef>
        </p:style>
        <p:txBody>
          <a:bodyPr wrap="square">
            <a:spAutoFit/>
          </a:bodyPr>
          <a:lstStyle>
            <a:defPPr>
              <a:defRPr lang="en-US"/>
            </a:defPPr>
            <a:lvl1pPr>
              <a:defRPr sz="1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Step 2: Execute the T-Code F.15  </a:t>
            </a:r>
          </a:p>
        </p:txBody>
      </p:sp>
      <p:sp>
        <p:nvSpPr>
          <p:cNvPr id="37" name="Rectangle 36">
            <a:extLst>
              <a:ext uri="{FF2B5EF4-FFF2-40B4-BE49-F238E27FC236}">
                <a16:creationId xmlns:a16="http://schemas.microsoft.com/office/drawing/2014/main" id="{CAB83446-B32E-7305-5E81-576FBE10DE64}"/>
              </a:ext>
            </a:extLst>
          </p:cNvPr>
          <p:cNvSpPr/>
          <p:nvPr/>
        </p:nvSpPr>
        <p:spPr>
          <a:xfrm>
            <a:off x="4993058" y="6208468"/>
            <a:ext cx="183044" cy="193052"/>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DE71E890-752E-BAC9-5A8C-56F4A1FD6AD3}"/>
              </a:ext>
            </a:extLst>
          </p:cNvPr>
          <p:cNvSpPr txBox="1"/>
          <p:nvPr/>
        </p:nvSpPr>
        <p:spPr>
          <a:xfrm>
            <a:off x="6176395" y="5722375"/>
            <a:ext cx="3773656" cy="461665"/>
          </a:xfrm>
          <a:prstGeom prst="rect">
            <a:avLst/>
          </a:prstGeom>
          <a:solidFill>
            <a:schemeClr val="bg1"/>
          </a:solidFill>
          <a:ln w="19050">
            <a:solidFill>
              <a:srgbClr val="00B050"/>
            </a:solidFill>
          </a:ln>
        </p:spPr>
        <p:txBody>
          <a:bodyPr wrap="square">
            <a:spAutoFit/>
          </a:bodyPr>
          <a:lstStyle>
            <a:defPPr>
              <a:defRPr lang="en-US"/>
            </a:defPPr>
            <a:lvl1pPr>
              <a:defRPr sz="1200">
                <a:latin typeface="Georgia" panose="02040502050405020303" pitchFamily="18" charset="0"/>
              </a:defRPr>
            </a:lvl1pPr>
          </a:lstStyle>
          <a:p>
            <a:r>
              <a:rPr lang="en-US">
                <a:latin typeface="+mn-lt"/>
              </a:rPr>
              <a:t>“DID” Stands for “Deletion Indicator”. Confirm if there is “X” for the document number.</a:t>
            </a:r>
          </a:p>
        </p:txBody>
      </p:sp>
      <p:sp>
        <p:nvSpPr>
          <p:cNvPr id="39" name="TextBox 38">
            <a:extLst>
              <a:ext uri="{FF2B5EF4-FFF2-40B4-BE49-F238E27FC236}">
                <a16:creationId xmlns:a16="http://schemas.microsoft.com/office/drawing/2014/main" id="{9A6760C1-EE6A-3211-61F3-2158C73B3AD7}"/>
              </a:ext>
            </a:extLst>
          </p:cNvPr>
          <p:cNvSpPr txBox="1"/>
          <p:nvPr/>
        </p:nvSpPr>
        <p:spPr>
          <a:xfrm>
            <a:off x="515271" y="2831862"/>
            <a:ext cx="679778" cy="276999"/>
          </a:xfrm>
          <a:prstGeom prst="rect">
            <a:avLst/>
          </a:prstGeom>
          <a:solidFill>
            <a:srgbClr val="0070C0"/>
          </a:solidFill>
          <a:ln>
            <a:noFill/>
          </a:ln>
        </p:spPr>
        <p:txBody>
          <a:bodyPr wrap="square">
            <a:spAutoFit/>
          </a:bodyPr>
          <a:lstStyle/>
          <a:p>
            <a:r>
              <a:rPr lang="en-US" sz="1200" b="1">
                <a:solidFill>
                  <a:schemeClr val="bg1"/>
                </a:solidFill>
              </a:rPr>
              <a:t> Note</a:t>
            </a:r>
          </a:p>
        </p:txBody>
      </p:sp>
      <p:cxnSp>
        <p:nvCxnSpPr>
          <p:cNvPr id="41" name="Straight Connector 40">
            <a:extLst>
              <a:ext uri="{FF2B5EF4-FFF2-40B4-BE49-F238E27FC236}">
                <a16:creationId xmlns:a16="http://schemas.microsoft.com/office/drawing/2014/main" id="{6C97D2AD-4FB2-70BB-7903-3555677770EE}"/>
              </a:ext>
            </a:extLst>
          </p:cNvPr>
          <p:cNvCxnSpPr/>
          <p:nvPr/>
        </p:nvCxnSpPr>
        <p:spPr>
          <a:xfrm>
            <a:off x="4538441" y="1422426"/>
            <a:ext cx="0" cy="527999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5" name="TextBox 4">
            <a:extLst>
              <a:ext uri="{FF2B5EF4-FFF2-40B4-BE49-F238E27FC236}">
                <a16:creationId xmlns:a16="http://schemas.microsoft.com/office/drawing/2014/main" id="{B7BB0540-C778-47CE-1504-D2D5D5773BD6}"/>
              </a:ext>
            </a:extLst>
          </p:cNvPr>
          <p:cNvSpPr txBox="1"/>
          <p:nvPr/>
        </p:nvSpPr>
        <p:spPr>
          <a:xfrm>
            <a:off x="6746662" y="2975588"/>
            <a:ext cx="3942940" cy="430887"/>
          </a:xfrm>
          <a:prstGeom prst="rect">
            <a:avLst/>
          </a:prstGeom>
          <a:solidFill>
            <a:schemeClr val="bg1"/>
          </a:solidFill>
          <a:ln w="19050">
            <a:solidFill>
              <a:srgbClr val="FF0000"/>
            </a:solidFill>
          </a:ln>
        </p:spPr>
        <p:txBody>
          <a:bodyPr wrap="square">
            <a:spAutoFit/>
          </a:bodyPr>
          <a:lstStyle/>
          <a:p>
            <a:r>
              <a:rPr lang="en-US" sz="1050"/>
              <a:t>Check the “Deletion Indicator” is ticked, which means the document is block for posting.</a:t>
            </a:r>
          </a:p>
        </p:txBody>
      </p:sp>
      <p:cxnSp>
        <p:nvCxnSpPr>
          <p:cNvPr id="10" name="Connector: Elbow 9">
            <a:extLst>
              <a:ext uri="{FF2B5EF4-FFF2-40B4-BE49-F238E27FC236}">
                <a16:creationId xmlns:a16="http://schemas.microsoft.com/office/drawing/2014/main" id="{D11D6425-93A4-2355-1A8B-85BE9AC98814}"/>
              </a:ext>
            </a:extLst>
          </p:cNvPr>
          <p:cNvCxnSpPr>
            <a:cxnSpLocks/>
            <a:endCxn id="29" idx="0"/>
          </p:cNvCxnSpPr>
          <p:nvPr/>
        </p:nvCxnSpPr>
        <p:spPr>
          <a:xfrm rot="16200000" flipH="1">
            <a:off x="9067131" y="3529113"/>
            <a:ext cx="299809" cy="54532"/>
          </a:xfrm>
          <a:prstGeom prst="bentConnector3">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9535BDA5-749D-F547-3341-C049F74683E0}"/>
              </a:ext>
            </a:extLst>
          </p:cNvPr>
          <p:cNvSpPr/>
          <p:nvPr/>
        </p:nvSpPr>
        <p:spPr>
          <a:xfrm>
            <a:off x="5009329" y="5364361"/>
            <a:ext cx="183044" cy="193052"/>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Connector: Elbow 13">
            <a:extLst>
              <a:ext uri="{FF2B5EF4-FFF2-40B4-BE49-F238E27FC236}">
                <a16:creationId xmlns:a16="http://schemas.microsoft.com/office/drawing/2014/main" id="{40784F35-011F-0E1F-C36A-BBB056054271}"/>
              </a:ext>
            </a:extLst>
          </p:cNvPr>
          <p:cNvCxnSpPr/>
          <p:nvPr/>
        </p:nvCxnSpPr>
        <p:spPr>
          <a:xfrm>
            <a:off x="5192373" y="5453884"/>
            <a:ext cx="976205" cy="413881"/>
          </a:xfrm>
          <a:prstGeom prst="bentConnector3">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or: Elbow 7">
            <a:extLst>
              <a:ext uri="{FF2B5EF4-FFF2-40B4-BE49-F238E27FC236}">
                <a16:creationId xmlns:a16="http://schemas.microsoft.com/office/drawing/2014/main" id="{590D9BA4-A370-14DB-91D1-6385B49841F6}"/>
              </a:ext>
            </a:extLst>
          </p:cNvPr>
          <p:cNvCxnSpPr>
            <a:cxnSpLocks/>
            <a:stCxn id="30" idx="3"/>
            <a:endCxn id="28" idx="1"/>
          </p:cNvCxnSpPr>
          <p:nvPr/>
        </p:nvCxnSpPr>
        <p:spPr>
          <a:xfrm>
            <a:off x="7757963" y="2650343"/>
            <a:ext cx="1005690" cy="275459"/>
          </a:xfrm>
          <a:prstGeom prst="bentConnector3">
            <a:avLst>
              <a:gd name="adj1" fmla="val 50000"/>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2405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DJ9IeTG2tw1a0MhCifZEZg"/>
</p:tagLst>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2_JTI">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6" ma:contentTypeDescription="Create a new document." ma:contentTypeScope="" ma:versionID="f1bfec99b7120fc41ecdfe5db34ab04d">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6fb91d6a9c4b20f36a20c4886e61de75"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Details xmlns="91871c47-af2e-43ea-ad3f-7bb4c536bc45" xsi:nil="true"/>
    <_ip_UnifiedCompliancePolicyUIAction xmlns="http://schemas.microsoft.com/sharepoint/v3" xsi:nil="true"/>
    <FolderInfo xmlns="91871c47-af2e-43ea-ad3f-7bb4c536bc45" xsi:nil="true"/>
    <_ip_UnifiedCompliancePolicyProperties xmlns="http://schemas.microsoft.com/sharepoint/v3" xsi:nil="true"/>
    <Remarks xmlns="91871c47-af2e-43ea-ad3f-7bb4c536bc45" xsi:nil="true"/>
    <T_x002d_Code xmlns="91871c47-af2e-43ea-ad3f-7bb4c536bc4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824BD88-BC1E-4317-A44A-AE3B84BB2BF3}"/>
</file>

<file path=customXml/itemProps2.xml><?xml version="1.0" encoding="utf-8"?>
<ds:datastoreItem xmlns:ds="http://schemas.openxmlformats.org/officeDocument/2006/customXml" ds:itemID="{E3BC77B7-89BE-45D2-B43A-94AB4C5F40F4}">
  <ds:schemaRefs>
    <ds:schemaRef ds:uri="ba249638-b5c4-4b59-8094-70d8491c2e9c"/>
    <ds:schemaRef ds:uri="http://schemas.microsoft.com/office/infopath/2007/PartnerControls"/>
    <ds:schemaRef ds:uri="http://www.w3.org/XML/1998/namespace"/>
    <ds:schemaRef ds:uri="http://purl.org/dc/elements/1.1/"/>
    <ds:schemaRef ds:uri="http://schemas.microsoft.com/office/2006/documentManagement/types"/>
    <ds:schemaRef ds:uri="http://purl.org/dc/dcmitype/"/>
    <ds:schemaRef ds:uri="cb52ee0d-5346-4ae8-a9f9-d746adffeb6b"/>
    <ds:schemaRef ds:uri="http://schemas.openxmlformats.org/package/2006/metadata/core-properties"/>
    <ds:schemaRef ds:uri="91871c47-af2e-43ea-ad3f-7bb4c536bc45"/>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5F43394D-A9A2-4315-AC7E-DD8C77BEB19A}">
  <ds:schemaRefs>
    <ds:schemaRef ds:uri="http://schemas.microsoft.com/sharepoint/v3/contenttype/forms"/>
  </ds:schemaRefs>
</ds:datastoreItem>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emplate>S4F Template</Template>
  <TotalTime>0</TotalTime>
  <Words>1168</Words>
  <Application>Microsoft Office PowerPoint</Application>
  <PresentationFormat>Widescreen</PresentationFormat>
  <Paragraphs>76</Paragraphs>
  <Slides>7</Slides>
  <Notes>1</Notes>
  <HiddenSlides>0</HiddenSlides>
  <MMClips>0</MMClips>
  <ScaleCrop>false</ScaleCrop>
  <HeadingPairs>
    <vt:vector size="8" baseType="variant">
      <vt:variant>
        <vt:lpstr>Fonts Used</vt:lpstr>
      </vt:variant>
      <vt:variant>
        <vt:i4>6</vt:i4>
      </vt:variant>
      <vt:variant>
        <vt:lpstr>Theme</vt:lpstr>
      </vt:variant>
      <vt:variant>
        <vt:i4>4</vt:i4>
      </vt:variant>
      <vt:variant>
        <vt:lpstr>Embedded OLE Servers</vt:lpstr>
      </vt:variant>
      <vt:variant>
        <vt:i4>1</vt:i4>
      </vt:variant>
      <vt:variant>
        <vt:lpstr>Slide Titles</vt:lpstr>
      </vt:variant>
      <vt:variant>
        <vt:i4>7</vt:i4>
      </vt:variant>
    </vt:vector>
  </HeadingPairs>
  <TitlesOfParts>
    <vt:vector size="18" baseType="lpstr">
      <vt:lpstr>Agency FB</vt:lpstr>
      <vt:lpstr>Aharoni</vt:lpstr>
      <vt:lpstr>Arial</vt:lpstr>
      <vt:lpstr>Calibri</vt:lpstr>
      <vt:lpstr>Georgia</vt:lpstr>
      <vt:lpstr>Roboto</vt:lpstr>
      <vt:lpstr>1_S4F-ERP Clean IFRS Stat &amp; Tax Rep</vt:lpstr>
      <vt:lpstr>S4F-ERP Period End Closing</vt:lpstr>
      <vt:lpstr>1_S4F-ERP Period End Closing</vt:lpstr>
      <vt:lpstr>2_JTI</vt:lpstr>
      <vt:lpstr>think-cell Slide</vt:lpstr>
      <vt:lpstr>Period End Closing Key Process Areas and New Period End Checks</vt:lpstr>
      <vt:lpstr>Monthly Recurring Entries Posting (1/3): Overview</vt:lpstr>
      <vt:lpstr>Monthly Recurring Entries Posting (2/3):  Execution</vt:lpstr>
      <vt:lpstr>Monthly Recurring Entries Posting (3/3):  Posted Documents</vt:lpstr>
      <vt:lpstr>Monthly Recurring Entries Posting Common Error</vt:lpstr>
      <vt:lpstr>Monthly Recurring Entries Posting Common Error</vt:lpstr>
      <vt:lpstr>Monthly Recurring Entries Posting Common Error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3</cp:revision>
  <dcterms:created xsi:type="dcterms:W3CDTF">2019-04-11T09:35:08Z</dcterms:created>
  <dcterms:modified xsi:type="dcterms:W3CDTF">2024-04-25T17:19:18Z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1337400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