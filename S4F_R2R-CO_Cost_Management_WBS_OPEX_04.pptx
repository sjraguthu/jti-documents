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359" r:id="rId5"/>
    <p:sldId id="2498" r:id="rId6"/>
    <p:sldId id="2327" r:id="rId7"/>
    <p:sldId id="2328" r:id="rId8"/>
    <p:sldId id="3016" r:id="rId9"/>
    <p:sldId id="2330" r:id="rId10"/>
    <p:sldId id="2331" r:id="rId11"/>
    <p:sldId id="2333" r:id="rId12"/>
    <p:sldId id="2303" r:id="rId13"/>
    <p:sldId id="301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1B5E5B-5AED-4A79-A1F6-A4C155362934}" v="2" dt="2020-01-14T12:09:47.3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1" d="100"/>
          <a:sy n="41" d="100"/>
        </p:scale>
        <p:origin x="80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9B1B5E5B-5AED-4A79-A1F6-A4C155362934}"/>
    <pc:docChg chg="custSel addSld delSld modSld">
      <pc:chgData name="O'Neill, Shauna" userId="1d0a8ccc-c260-429c-86e4-d406a5ac1d3d" providerId="ADAL" clId="{9B1B5E5B-5AED-4A79-A1F6-A4C155362934}" dt="2020-01-14T12:09:49.892" v="13" actId="20577"/>
      <pc:docMkLst>
        <pc:docMk/>
      </pc:docMkLst>
      <pc:sldChg chg="del">
        <pc:chgData name="O'Neill, Shauna" userId="1d0a8ccc-c260-429c-86e4-d406a5ac1d3d" providerId="ADAL" clId="{9B1B5E5B-5AED-4A79-A1F6-A4C155362934}" dt="2020-01-14T10:41:29.094" v="1" actId="2696"/>
        <pc:sldMkLst>
          <pc:docMk/>
          <pc:sldMk cId="661879890" sldId="2329"/>
        </pc:sldMkLst>
      </pc:sldChg>
      <pc:sldChg chg="modSp add">
        <pc:chgData name="O'Neill, Shauna" userId="1d0a8ccc-c260-429c-86e4-d406a5ac1d3d" providerId="ADAL" clId="{9B1B5E5B-5AED-4A79-A1F6-A4C155362934}" dt="2020-01-14T12:09:49.892" v="13" actId="20577"/>
        <pc:sldMkLst>
          <pc:docMk/>
          <pc:sldMk cId="1337052736" sldId="3016"/>
        </pc:sldMkLst>
        <pc:spChg chg="mod">
          <ac:chgData name="O'Neill, Shauna" userId="1d0a8ccc-c260-429c-86e4-d406a5ac1d3d" providerId="ADAL" clId="{9B1B5E5B-5AED-4A79-A1F6-A4C155362934}" dt="2020-01-14T12:09:49.892" v="13" actId="20577"/>
          <ac:spMkLst>
            <pc:docMk/>
            <pc:sldMk cId="1337052736" sldId="3016"/>
            <ac:spMk id="22" creationId="{162EB2C9-53E4-4080-A17B-35D548D5DF81}"/>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588437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4130759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620404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617596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dirty="0"/>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dirty="0"/>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56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4C61B20-CA8C-448B-B3DE-7949AC7831DB}"/>
              </a:ext>
            </a:extLst>
          </p:cNvPr>
          <p:cNvGraphicFramePr>
            <a:graphicFrameLocks noChangeAspect="1"/>
          </p:cNvGraphicFramePr>
          <p:nvPr userDrawn="1">
            <p:custDataLst>
              <p:tags r:id="rId8"/>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10" imgW="415" imgH="416" progId="TCLayout.ActiveDocument.1">
                  <p:embed/>
                </p:oleObj>
              </mc:Choice>
              <mc:Fallback>
                <p:oleObj name="think-cell Slide" r:id="rId10" imgW="415" imgH="416" progId="TCLayout.ActiveDocument.1">
                  <p:embed/>
                  <p:pic>
                    <p:nvPicPr>
                      <p:cNvPr id="7" name="Object 6" hidden="1">
                        <a:extLst>
                          <a:ext uri="{FF2B5EF4-FFF2-40B4-BE49-F238E27FC236}">
                            <a16:creationId xmlns:a16="http://schemas.microsoft.com/office/drawing/2014/main" id="{74C61B20-CA8C-448B-B3DE-7949AC7831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349891-03CB-4764-ACA2-C55EBD04A016}"/>
              </a:ext>
            </a:extLst>
          </p:cNvPr>
          <p:cNvSpPr/>
          <p:nvPr userDrawn="1">
            <p:custDataLst>
              <p:tags r:id="rId9"/>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617709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5806879" y="2301485"/>
            <a:ext cx="5811088" cy="2486295"/>
            <a:chOff x="5080067" y="1750491"/>
            <a:chExt cx="5811088" cy="2486295"/>
          </a:xfrm>
        </p:grpSpPr>
        <p:cxnSp>
          <p:nvCxnSpPr>
            <p:cNvPr id="5" name="Elbow Connector 4"/>
            <p:cNvCxnSpPr/>
            <p:nvPr/>
          </p:nvCxnSpPr>
          <p:spPr>
            <a:xfrm flipV="1">
              <a:off x="6011091" y="197423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5080067" y="1750491"/>
              <a:ext cx="5811088" cy="2486295"/>
              <a:chOff x="5080067" y="1750491"/>
              <a:chExt cx="5811088" cy="2486295"/>
            </a:xfrm>
          </p:grpSpPr>
          <p:cxnSp>
            <p:nvCxnSpPr>
              <p:cNvPr id="8" name="Elbow Connector 7"/>
              <p:cNvCxnSpPr>
                <a:cxnSpLocks/>
              </p:cNvCxnSpPr>
              <p:nvPr/>
            </p:nvCxnSpPr>
            <p:spPr>
              <a:xfrm>
                <a:off x="5080067" y="2877062"/>
                <a:ext cx="2452108" cy="1169005"/>
              </a:xfrm>
              <a:prstGeom prst="bentConnector3">
                <a:avLst>
                  <a:gd name="adj1" fmla="val 68646"/>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771633" y="2875818"/>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1" y="3733093"/>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800" b="1" i="0" u="none" strike="noStrike" kern="1200" cap="none" spc="0" normalizeH="0" baseline="0" noProof="0" dirty="0">
                    <a:ln>
                      <a:noFill/>
                    </a:ln>
                    <a:solidFill>
                      <a:srgbClr val="1A3040"/>
                    </a:solidFill>
                    <a:effectLst/>
                    <a:uLnTx/>
                    <a:uFillTx/>
                    <a:latin typeface="Arial" charset="0"/>
                    <a:ea typeface="Arial" charset="0"/>
                    <a:cs typeface="Arial" charset="0"/>
                  </a:rPr>
                  <a:t>Project Status</a:t>
                </a:r>
              </a:p>
            </p:txBody>
          </p:sp>
          <p:sp>
            <p:nvSpPr>
              <p:cNvPr id="40" name="Rounded Rectangle 39"/>
              <p:cNvSpPr/>
              <p:nvPr/>
            </p:nvSpPr>
            <p:spPr>
              <a:xfrm>
                <a:off x="7667062" y="1750491"/>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a:ea typeface="+mn-ea"/>
                    <a:cs typeface="Arial"/>
                  </a:rPr>
                  <a:t>Creating a Project</a:t>
                </a:r>
                <a:endParaRPr kumimoji="0" lang="en-US" sz="1800" b="0" i="0" u="none" strike="noStrike" kern="1200" cap="none" spc="0" normalizeH="0" baseline="0" noProof="0" dirty="0">
                  <a:ln>
                    <a:noFill/>
                  </a:ln>
                  <a:solidFill>
                    <a:srgbClr val="FFFFFF"/>
                  </a:solidFill>
                  <a:effectLst/>
                  <a:uLnTx/>
                  <a:uFillTx/>
                  <a:latin typeface="Arial"/>
                  <a:ea typeface="+mn-ea"/>
                  <a:cs typeface="Arial"/>
                </a:endParaRPr>
              </a:p>
            </p:txBody>
          </p:sp>
          <p:sp>
            <p:nvSpPr>
              <p:cNvPr id="45" name="Rounded Rectangle 41">
                <a:extLst>
                  <a:ext uri="{FF2B5EF4-FFF2-40B4-BE49-F238E27FC236}">
                    <a16:creationId xmlns:a16="http://schemas.microsoft.com/office/drawing/2014/main" id="{E963A717-D630-4DA8-B336-CCE6DE1BD091}"/>
                  </a:ext>
                </a:extLst>
              </p:cNvPr>
              <p:cNvSpPr/>
              <p:nvPr/>
            </p:nvSpPr>
            <p:spPr>
              <a:xfrm>
                <a:off x="7667061" y="2636041"/>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WBS Budgeting</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844527" y="2528101"/>
            <a:ext cx="6653918" cy="1801797"/>
            <a:chOff x="4372240" y="2883731"/>
            <a:chExt cx="8542646"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470582"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50831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A41A61-1DCB-47F7-A895-79231856BC65}"/>
              </a:ext>
            </a:extLst>
          </p:cNvPr>
          <p:cNvPicPr>
            <a:picLocks noChangeAspect="1"/>
          </p:cNvPicPr>
          <p:nvPr/>
        </p:nvPicPr>
        <p:blipFill>
          <a:blip r:embed="rId2"/>
          <a:stretch>
            <a:fillRect/>
          </a:stretch>
        </p:blipFill>
        <p:spPr>
          <a:xfrm>
            <a:off x="914288" y="1605543"/>
            <a:ext cx="6917398" cy="4317738"/>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dirty="0"/>
              <a:t>Project Status</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B94A97F-1925-4343-AF06-A4A24B3BCB18}"/>
              </a:ext>
            </a:extLst>
          </p:cNvPr>
          <p:cNvSpPr/>
          <p:nvPr/>
        </p:nvSpPr>
        <p:spPr>
          <a:xfrm>
            <a:off x="6783532" y="1728003"/>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CJ13 – Display WBS Master Data</a:t>
            </a:r>
          </a:p>
        </p:txBody>
      </p:sp>
      <p:sp>
        <p:nvSpPr>
          <p:cNvPr id="15" name="Rectangle: Rounded Corners 14">
            <a:extLst>
              <a:ext uri="{FF2B5EF4-FFF2-40B4-BE49-F238E27FC236}">
                <a16:creationId xmlns:a16="http://schemas.microsoft.com/office/drawing/2014/main" id="{4ACEF317-23B1-4AB3-8953-B919753289CE}"/>
              </a:ext>
            </a:extLst>
          </p:cNvPr>
          <p:cNvSpPr/>
          <p:nvPr/>
        </p:nvSpPr>
        <p:spPr>
          <a:xfrm>
            <a:off x="8433527" y="1415690"/>
            <a:ext cx="3242534" cy="5012160"/>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Every project and every WBS element has a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System Status and User Status</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Both Statuses are set either by users manually or by system automatically upon certain triggers, e.g. the WBS status will reflect that a budget has been entered if a user maintains budget for it.</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Status set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at Project level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is automatically inherited by its lower level WBS elements, however status set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at WBS element level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is only applicable to itself.</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Depending on the statuses of a WBS element, the </a:t>
            </a: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system restricts the user actions </a:t>
            </a: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that can be taken to process a WBS element. </a:t>
            </a:r>
          </a:p>
          <a:p>
            <a:pPr marL="468000" marR="0" lvl="1" indent="-22860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000000"/>
                </a:solidFill>
                <a:effectLst/>
                <a:uLnTx/>
                <a:uFillTx/>
                <a:latin typeface="Arial" panose="020B0604020202020204"/>
                <a:ea typeface="+mn-ea"/>
                <a:cs typeface="+mn-cs"/>
              </a:rPr>
              <a:t>E.g. if the WBS element has status “TECO”, it means no further purchase requisitions can be raised against this WBS but you can continue to post invoices from POs linked to this WBS that were created before the TECO status was set. </a:t>
            </a:r>
          </a:p>
        </p:txBody>
      </p:sp>
      <p:sp>
        <p:nvSpPr>
          <p:cNvPr id="14" name="Callout: Line 13">
            <a:extLst>
              <a:ext uri="{FF2B5EF4-FFF2-40B4-BE49-F238E27FC236}">
                <a16:creationId xmlns:a16="http://schemas.microsoft.com/office/drawing/2014/main" id="{E6A06899-2B07-4819-A17B-C1E9A67C2715}"/>
              </a:ext>
            </a:extLst>
          </p:cNvPr>
          <p:cNvSpPr/>
          <p:nvPr/>
        </p:nvSpPr>
        <p:spPr>
          <a:xfrm>
            <a:off x="1511276" y="4277843"/>
            <a:ext cx="3585744" cy="588901"/>
          </a:xfrm>
          <a:prstGeom prst="borderCallout1">
            <a:avLst>
              <a:gd name="adj1" fmla="val 37981"/>
              <a:gd name="adj2" fmla="val 100017"/>
              <a:gd name="adj3" fmla="val -190631"/>
              <a:gd name="adj4" fmla="val 193462"/>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14822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dirty="0"/>
              <a:t>Project Status: System Status</a:t>
            </a:r>
            <a:endParaRPr lang="en-US" dirty="0"/>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4" name="Group 23">
            <a:extLst>
              <a:ext uri="{FF2B5EF4-FFF2-40B4-BE49-F238E27FC236}">
                <a16:creationId xmlns:a16="http://schemas.microsoft.com/office/drawing/2014/main" id="{8313F1AA-8DFF-4E3A-A3B0-2BFAF9805F03}"/>
              </a:ext>
            </a:extLst>
          </p:cNvPr>
          <p:cNvGrpSpPr/>
          <p:nvPr/>
        </p:nvGrpSpPr>
        <p:grpSpPr>
          <a:xfrm>
            <a:off x="800100" y="2638599"/>
            <a:ext cx="11038114" cy="3703578"/>
            <a:chOff x="816429" y="1851866"/>
            <a:chExt cx="10900695" cy="4392337"/>
          </a:xfrm>
        </p:grpSpPr>
        <p:cxnSp>
          <p:nvCxnSpPr>
            <p:cNvPr id="25" name="Straight Connector 24">
              <a:extLst>
                <a:ext uri="{FF2B5EF4-FFF2-40B4-BE49-F238E27FC236}">
                  <a16:creationId xmlns:a16="http://schemas.microsoft.com/office/drawing/2014/main" id="{7F6E95FD-B1B3-4572-8B79-043835C05727}"/>
                </a:ext>
              </a:extLst>
            </p:cNvPr>
            <p:cNvCxnSpPr>
              <a:cxnSpLocks/>
            </p:cNvCxnSpPr>
            <p:nvPr/>
          </p:nvCxnSpPr>
          <p:spPr>
            <a:xfrm>
              <a:off x="7571013" y="3714750"/>
              <a:ext cx="0" cy="330933"/>
            </a:xfrm>
            <a:prstGeom prst="line">
              <a:avLst/>
            </a:prstGeom>
            <a:noFill/>
            <a:ln w="19050" cap="flat" cmpd="sng" algn="ctr">
              <a:solidFill>
                <a:srgbClr val="000000"/>
              </a:solidFill>
              <a:prstDash val="solid"/>
              <a:miter lim="800000"/>
            </a:ln>
            <a:effectLst/>
          </p:spPr>
        </p:cxnSp>
        <p:grpSp>
          <p:nvGrpSpPr>
            <p:cNvPr id="26" name="Group 25">
              <a:extLst>
                <a:ext uri="{FF2B5EF4-FFF2-40B4-BE49-F238E27FC236}">
                  <a16:creationId xmlns:a16="http://schemas.microsoft.com/office/drawing/2014/main" id="{610CC25A-7F52-43E1-BB22-615D508B280E}"/>
                </a:ext>
              </a:extLst>
            </p:cNvPr>
            <p:cNvGrpSpPr/>
            <p:nvPr/>
          </p:nvGrpSpPr>
          <p:grpSpPr>
            <a:xfrm>
              <a:off x="816429" y="1851866"/>
              <a:ext cx="10900695" cy="4392337"/>
              <a:chOff x="816429" y="1851866"/>
              <a:chExt cx="10900695" cy="4392337"/>
            </a:xfrm>
          </p:grpSpPr>
          <p:sp>
            <p:nvSpPr>
              <p:cNvPr id="27" name="Rectangle 26">
                <a:extLst>
                  <a:ext uri="{FF2B5EF4-FFF2-40B4-BE49-F238E27FC236}">
                    <a16:creationId xmlns:a16="http://schemas.microsoft.com/office/drawing/2014/main" id="{1CBECB03-5194-4F47-8419-CFCB6295597E}"/>
                  </a:ext>
                </a:extLst>
              </p:cNvPr>
              <p:cNvSpPr/>
              <p:nvPr/>
            </p:nvSpPr>
            <p:spPr>
              <a:xfrm>
                <a:off x="816429" y="1898245"/>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CRTD</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8" name="Rectangle 27">
                <a:extLst>
                  <a:ext uri="{FF2B5EF4-FFF2-40B4-BE49-F238E27FC236}">
                    <a16:creationId xmlns:a16="http://schemas.microsoft.com/office/drawing/2014/main" id="{0E761588-6AB7-41BE-996A-C5DC3B1ACE3D}"/>
                  </a:ext>
                </a:extLst>
              </p:cNvPr>
              <p:cNvSpPr/>
              <p:nvPr/>
            </p:nvSpPr>
            <p:spPr>
              <a:xfrm>
                <a:off x="816429" y="3131611"/>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REL</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 name="Rectangle 28">
                <a:extLst>
                  <a:ext uri="{FF2B5EF4-FFF2-40B4-BE49-F238E27FC236}">
                    <a16:creationId xmlns:a16="http://schemas.microsoft.com/office/drawing/2014/main" id="{E8143C0F-008C-4C50-9698-04035B73F2B3}"/>
                  </a:ext>
                </a:extLst>
              </p:cNvPr>
              <p:cNvSpPr/>
              <p:nvPr/>
            </p:nvSpPr>
            <p:spPr>
              <a:xfrm>
                <a:off x="816429" y="4364977"/>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TECO</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C4B56A55-BAEE-4D08-95D1-AB8C79060CC5}"/>
                  </a:ext>
                </a:extLst>
              </p:cNvPr>
              <p:cNvSpPr/>
              <p:nvPr/>
            </p:nvSpPr>
            <p:spPr>
              <a:xfrm>
                <a:off x="816429" y="5598343"/>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CLSD</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nvGrpSpPr>
              <p:cNvPr id="31" name="Group 30">
                <a:extLst>
                  <a:ext uri="{FF2B5EF4-FFF2-40B4-BE49-F238E27FC236}">
                    <a16:creationId xmlns:a16="http://schemas.microsoft.com/office/drawing/2014/main" id="{71E51677-85B9-4492-A8A4-FEE0AD27915E}"/>
                  </a:ext>
                </a:extLst>
              </p:cNvPr>
              <p:cNvGrpSpPr/>
              <p:nvPr/>
            </p:nvGrpSpPr>
            <p:grpSpPr>
              <a:xfrm>
                <a:off x="2677885" y="1851866"/>
                <a:ext cx="9039239" cy="4392337"/>
                <a:chOff x="2677885" y="1851866"/>
                <a:chExt cx="9039239" cy="4392337"/>
              </a:xfrm>
            </p:grpSpPr>
            <p:sp>
              <p:nvSpPr>
                <p:cNvPr id="38" name="Rectangle 37">
                  <a:extLst>
                    <a:ext uri="{FF2B5EF4-FFF2-40B4-BE49-F238E27FC236}">
                      <a16:creationId xmlns:a16="http://schemas.microsoft.com/office/drawing/2014/main" id="{9FFA2BDF-BBD8-43C7-BA62-EA8E1DF4112F}"/>
                    </a:ext>
                  </a:extLst>
                </p:cNvPr>
                <p:cNvSpPr/>
                <p:nvPr/>
              </p:nvSpPr>
              <p:spPr>
                <a:xfrm>
                  <a:off x="6795407" y="3143250"/>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PREL</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9" name="TextBox 38">
                  <a:extLst>
                    <a:ext uri="{FF2B5EF4-FFF2-40B4-BE49-F238E27FC236}">
                      <a16:creationId xmlns:a16="http://schemas.microsoft.com/office/drawing/2014/main" id="{8761E89C-77D8-4167-9C4E-A0B33DFA7678}"/>
                    </a:ext>
                  </a:extLst>
                </p:cNvPr>
                <p:cNvSpPr txBox="1"/>
                <p:nvPr/>
              </p:nvSpPr>
              <p:spPr>
                <a:xfrm>
                  <a:off x="2677885" y="1851866"/>
                  <a:ext cx="44112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Created</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 Initial System Status.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Automatic</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(on Project creation)</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40" name="TextBox 39">
                  <a:extLst>
                    <a:ext uri="{FF2B5EF4-FFF2-40B4-BE49-F238E27FC236}">
                      <a16:creationId xmlns:a16="http://schemas.microsoft.com/office/drawing/2014/main" id="{E3320A46-CD5F-459F-813F-A12F6177D53D}"/>
                    </a:ext>
                  </a:extLst>
                </p:cNvPr>
                <p:cNvSpPr txBox="1"/>
                <p:nvPr/>
              </p:nvSpPr>
              <p:spPr>
                <a:xfrm>
                  <a:off x="2677885" y="3020297"/>
                  <a:ext cx="375557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Released</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(Non reversable status). Allows logistical operations (Creating PR/PO/postings)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Manual</a:t>
                  </a:r>
                  <a:endParaRPr kumimoji="0" lang="en-US" sz="1800" b="0" i="0" u="none" strike="noStrike" kern="0" cap="none" spc="0" normalizeH="0" baseline="0" noProof="0" dirty="0">
                    <a:ln>
                      <a:noFill/>
                    </a:ln>
                    <a:solidFill>
                      <a:srgbClr val="00BDB7"/>
                    </a:solidFill>
                    <a:effectLst/>
                    <a:uLnTx/>
                    <a:uFillTx/>
                    <a:latin typeface="Arial" panose="020B0604020202020204"/>
                    <a:ea typeface="+mn-ea"/>
                    <a:cs typeface="+mn-cs"/>
                  </a:endParaRPr>
                </a:p>
              </p:txBody>
            </p:sp>
            <p:sp>
              <p:nvSpPr>
                <p:cNvPr id="41" name="TextBox 40">
                  <a:extLst>
                    <a:ext uri="{FF2B5EF4-FFF2-40B4-BE49-F238E27FC236}">
                      <a16:creationId xmlns:a16="http://schemas.microsoft.com/office/drawing/2014/main" id="{78F516D3-91A1-470E-B069-507DFA973F6B}"/>
                    </a:ext>
                  </a:extLst>
                </p:cNvPr>
                <p:cNvSpPr txBox="1"/>
                <p:nvPr/>
              </p:nvSpPr>
              <p:spPr>
                <a:xfrm>
                  <a:off x="8436428" y="3020297"/>
                  <a:ext cx="328069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Partially Released </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indicates that subordinate WBS elements were released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Automatic</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FDD7DC40-3DDA-459F-978D-2C925481D968}"/>
                    </a:ext>
                  </a:extLst>
                </p:cNvPr>
                <p:cNvSpPr txBox="1"/>
                <p:nvPr/>
              </p:nvSpPr>
              <p:spPr>
                <a:xfrm>
                  <a:off x="2677885" y="4276672"/>
                  <a:ext cx="512717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Technically Complete</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(Reversable status). Does not allow </a:t>
                  </a: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NEW</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logistical operations (Creating PR/PO) Can still post to.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Manual</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43" name="TextBox 42">
                  <a:extLst>
                    <a:ext uri="{FF2B5EF4-FFF2-40B4-BE49-F238E27FC236}">
                      <a16:creationId xmlns:a16="http://schemas.microsoft.com/office/drawing/2014/main" id="{9B8DF9CD-5ECE-4375-A52A-E7E90522A5D8}"/>
                    </a:ext>
                  </a:extLst>
                </p:cNvPr>
                <p:cNvSpPr txBox="1"/>
                <p:nvPr/>
              </p:nvSpPr>
              <p:spPr>
                <a:xfrm>
                  <a:off x="2677885" y="5597872"/>
                  <a:ext cx="573405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Closed </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(Reversable status). Does not allow any actual data input including new logistical operations.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Manual</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grpSp>
          <p:cxnSp>
            <p:nvCxnSpPr>
              <p:cNvPr id="32" name="Straight Arrow Connector 31">
                <a:extLst>
                  <a:ext uri="{FF2B5EF4-FFF2-40B4-BE49-F238E27FC236}">
                    <a16:creationId xmlns:a16="http://schemas.microsoft.com/office/drawing/2014/main" id="{32C227AF-02A9-49F1-B40B-A0F81DF34522}"/>
                  </a:ext>
                </a:extLst>
              </p:cNvPr>
              <p:cNvCxnSpPr>
                <a:stCxn id="27" idx="2"/>
                <a:endCxn id="28" idx="0"/>
              </p:cNvCxnSpPr>
              <p:nvPr/>
            </p:nvCxnSpPr>
            <p:spPr>
              <a:xfrm>
                <a:off x="1624693" y="2469745"/>
                <a:ext cx="0" cy="661866"/>
              </a:xfrm>
              <a:prstGeom prst="straightConnector1">
                <a:avLst/>
              </a:prstGeom>
              <a:noFill/>
              <a:ln w="19050" cap="flat" cmpd="sng" algn="ctr">
                <a:solidFill>
                  <a:srgbClr val="000000"/>
                </a:solidFill>
                <a:prstDash val="solid"/>
                <a:miter lim="800000"/>
                <a:tailEnd type="triangle"/>
              </a:ln>
              <a:effectLst/>
            </p:spPr>
          </p:cxnSp>
          <p:cxnSp>
            <p:nvCxnSpPr>
              <p:cNvPr id="33" name="Straight Arrow Connector 32">
                <a:extLst>
                  <a:ext uri="{FF2B5EF4-FFF2-40B4-BE49-F238E27FC236}">
                    <a16:creationId xmlns:a16="http://schemas.microsoft.com/office/drawing/2014/main" id="{D8FC01DC-4A9B-40BF-A10F-2D59ED25F551}"/>
                  </a:ext>
                </a:extLst>
              </p:cNvPr>
              <p:cNvCxnSpPr/>
              <p:nvPr/>
            </p:nvCxnSpPr>
            <p:spPr>
              <a:xfrm>
                <a:off x="1621972" y="3714750"/>
                <a:ext cx="0" cy="661866"/>
              </a:xfrm>
              <a:prstGeom prst="straightConnector1">
                <a:avLst/>
              </a:prstGeom>
              <a:noFill/>
              <a:ln w="19050" cap="flat" cmpd="sng" algn="ctr">
                <a:solidFill>
                  <a:srgbClr val="000000"/>
                </a:solidFill>
                <a:prstDash val="solid"/>
                <a:miter lim="800000"/>
                <a:tailEnd type="triangle"/>
              </a:ln>
              <a:effectLst/>
            </p:spPr>
          </p:cxnSp>
          <p:cxnSp>
            <p:nvCxnSpPr>
              <p:cNvPr id="34" name="Straight Arrow Connector 33">
                <a:extLst>
                  <a:ext uri="{FF2B5EF4-FFF2-40B4-BE49-F238E27FC236}">
                    <a16:creationId xmlns:a16="http://schemas.microsoft.com/office/drawing/2014/main" id="{5140BA88-45DB-4DC7-8F29-BA69CB1A358B}"/>
                  </a:ext>
                </a:extLst>
              </p:cNvPr>
              <p:cNvCxnSpPr/>
              <p:nvPr/>
            </p:nvCxnSpPr>
            <p:spPr>
              <a:xfrm>
                <a:off x="1621972" y="4936477"/>
                <a:ext cx="0" cy="661866"/>
              </a:xfrm>
              <a:prstGeom prst="straightConnector1">
                <a:avLst/>
              </a:prstGeom>
              <a:noFill/>
              <a:ln w="19050" cap="flat" cmpd="sng" algn="ctr">
                <a:solidFill>
                  <a:srgbClr val="000000"/>
                </a:solidFill>
                <a:prstDash val="solid"/>
                <a:miter lim="800000"/>
                <a:tailEnd type="triangle"/>
              </a:ln>
              <a:effectLst/>
            </p:spPr>
          </p:cxnSp>
          <p:cxnSp>
            <p:nvCxnSpPr>
              <p:cNvPr id="35" name="Connector: Elbow 34">
                <a:extLst>
                  <a:ext uri="{FF2B5EF4-FFF2-40B4-BE49-F238E27FC236}">
                    <a16:creationId xmlns:a16="http://schemas.microsoft.com/office/drawing/2014/main" id="{811B2BBE-3AA9-4B9B-8782-17D6DD2745FF}"/>
                  </a:ext>
                </a:extLst>
              </p:cNvPr>
              <p:cNvCxnSpPr>
                <a:cxnSpLocks/>
                <a:endCxn id="38" idx="0"/>
              </p:cNvCxnSpPr>
              <p:nvPr/>
            </p:nvCxnSpPr>
            <p:spPr>
              <a:xfrm>
                <a:off x="1621972" y="2808514"/>
                <a:ext cx="5981699" cy="334736"/>
              </a:xfrm>
              <a:prstGeom prst="bentConnector2">
                <a:avLst/>
              </a:prstGeom>
              <a:noFill/>
              <a:ln w="19050" cap="flat" cmpd="sng" algn="ctr">
                <a:solidFill>
                  <a:srgbClr val="000000"/>
                </a:solidFill>
                <a:prstDash val="solid"/>
                <a:miter lim="800000"/>
                <a:tailEnd type="triangle"/>
              </a:ln>
              <a:effectLst/>
            </p:spPr>
          </p:cxnSp>
          <p:cxnSp>
            <p:nvCxnSpPr>
              <p:cNvPr id="36" name="Straight Connector 35">
                <a:extLst>
                  <a:ext uri="{FF2B5EF4-FFF2-40B4-BE49-F238E27FC236}">
                    <a16:creationId xmlns:a16="http://schemas.microsoft.com/office/drawing/2014/main" id="{DF9268CC-56FB-435D-BDD8-740DBA16CCC7}"/>
                  </a:ext>
                </a:extLst>
              </p:cNvPr>
              <p:cNvCxnSpPr>
                <a:cxnSpLocks/>
              </p:cNvCxnSpPr>
              <p:nvPr/>
            </p:nvCxnSpPr>
            <p:spPr>
              <a:xfrm flipH="1">
                <a:off x="2024743" y="4036156"/>
                <a:ext cx="5546270" cy="25856"/>
              </a:xfrm>
              <a:prstGeom prst="line">
                <a:avLst/>
              </a:prstGeom>
              <a:noFill/>
              <a:ln w="19050" cap="flat" cmpd="sng" algn="ctr">
                <a:solidFill>
                  <a:srgbClr val="000000"/>
                </a:solidFill>
                <a:prstDash val="solid"/>
                <a:miter lim="800000"/>
              </a:ln>
              <a:effectLst/>
            </p:spPr>
          </p:cxnSp>
          <p:cxnSp>
            <p:nvCxnSpPr>
              <p:cNvPr id="37" name="Straight Arrow Connector 36">
                <a:extLst>
                  <a:ext uri="{FF2B5EF4-FFF2-40B4-BE49-F238E27FC236}">
                    <a16:creationId xmlns:a16="http://schemas.microsoft.com/office/drawing/2014/main" id="{3920F774-33EE-40F2-9D93-CB09DBBED62F}"/>
                  </a:ext>
                </a:extLst>
              </p:cNvPr>
              <p:cNvCxnSpPr>
                <a:cxnSpLocks/>
              </p:cNvCxnSpPr>
              <p:nvPr/>
            </p:nvCxnSpPr>
            <p:spPr>
              <a:xfrm flipV="1">
                <a:off x="2036302" y="3703111"/>
                <a:ext cx="0" cy="358902"/>
              </a:xfrm>
              <a:prstGeom prst="straightConnector1">
                <a:avLst/>
              </a:prstGeom>
              <a:noFill/>
              <a:ln w="19050" cap="flat" cmpd="sng" algn="ctr">
                <a:solidFill>
                  <a:srgbClr val="000000"/>
                </a:solidFill>
                <a:prstDash val="solid"/>
                <a:miter lim="800000"/>
                <a:tailEnd type="triangle"/>
              </a:ln>
              <a:effectLst/>
            </p:spPr>
          </p:cxnSp>
        </p:grpSp>
      </p:grpSp>
      <p:sp>
        <p:nvSpPr>
          <p:cNvPr id="64" name="Rectangle: Rounded Corners 63">
            <a:extLst>
              <a:ext uri="{FF2B5EF4-FFF2-40B4-BE49-F238E27FC236}">
                <a16:creationId xmlns:a16="http://schemas.microsoft.com/office/drawing/2014/main" id="{431D0D3F-6707-4196-B4AA-78663161A8E5}"/>
              </a:ext>
            </a:extLst>
          </p:cNvPr>
          <p:cNvSpPr/>
          <p:nvPr/>
        </p:nvSpPr>
        <p:spPr>
          <a:xfrm>
            <a:off x="474875" y="1454930"/>
            <a:ext cx="11242249" cy="923330"/>
          </a:xfrm>
          <a:prstGeom prst="roundRect">
            <a:avLst/>
          </a:prstGeom>
          <a:gradFill rotWithShape="1">
            <a:gsLst>
              <a:gs pos="0">
                <a:srgbClr val="ACE8E6"/>
              </a:gs>
              <a:gs pos="50000">
                <a:srgbClr val="78DAD6"/>
              </a:gs>
              <a:gs pos="100000">
                <a:srgbClr val="30AFAA"/>
              </a:gs>
            </a:gsLst>
            <a:lin ang="54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System Status: </a:t>
            </a:r>
            <a:r>
              <a:rPr kumimoji="0" lang="en-GB"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System generated status. SAP Standard. Defines what business transactions are allowed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User Status: </a:t>
            </a:r>
            <a:r>
              <a:rPr kumimoji="0" lang="en-GB"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Customisable indicator. Defines what business transactions are allowed according to which step of the process a user has completed </a:t>
            </a:r>
            <a:endParaRPr kumimoji="0" lang="en-US"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162516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anim calcmode="lin" valueType="num">
                                      <p:cBhvr>
                                        <p:cTn id="8" dur="1000" fill="hold"/>
                                        <p:tgtEl>
                                          <p:spTgt spid="64"/>
                                        </p:tgtEl>
                                        <p:attrNameLst>
                                          <p:attrName>ppt_x</p:attrName>
                                        </p:attrNameLst>
                                      </p:cBhvr>
                                      <p:tavLst>
                                        <p:tav tm="0">
                                          <p:val>
                                            <p:strVal val="#ppt_x"/>
                                          </p:val>
                                        </p:tav>
                                        <p:tav tm="100000">
                                          <p:val>
                                            <p:strVal val="#ppt_x"/>
                                          </p:val>
                                        </p:tav>
                                      </p:tavLst>
                                    </p:anim>
                                    <p:anim calcmode="lin" valueType="num">
                                      <p:cBhvr>
                                        <p:cTn id="9"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dirty="0"/>
              <a:t>Project Status: System Status</a:t>
            </a:r>
            <a:endParaRPr lang="en-US" dirty="0"/>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7" name="Table 6">
            <a:extLst>
              <a:ext uri="{FF2B5EF4-FFF2-40B4-BE49-F238E27FC236}">
                <a16:creationId xmlns:a16="http://schemas.microsoft.com/office/drawing/2014/main" id="{5B9A210F-2FD7-443D-AC8C-634696201A73}"/>
              </a:ext>
            </a:extLst>
          </p:cNvPr>
          <p:cNvGraphicFramePr>
            <a:graphicFrameLocks noGrp="1"/>
          </p:cNvGraphicFramePr>
          <p:nvPr>
            <p:extLst/>
          </p:nvPr>
        </p:nvGraphicFramePr>
        <p:xfrm>
          <a:off x="636996" y="1475066"/>
          <a:ext cx="11068551" cy="4892040"/>
        </p:xfrm>
        <a:graphic>
          <a:graphicData uri="http://schemas.openxmlformats.org/drawingml/2006/table">
            <a:tbl>
              <a:tblPr firstRow="1" bandRow="1">
                <a:tableStyleId>{E8B1032C-EA38-4F05-BA0D-38AFFFC7BED3}</a:tableStyleId>
              </a:tblPr>
              <a:tblGrid>
                <a:gridCol w="1010434">
                  <a:extLst>
                    <a:ext uri="{9D8B030D-6E8A-4147-A177-3AD203B41FA5}">
                      <a16:colId xmlns:a16="http://schemas.microsoft.com/office/drawing/2014/main" val="1102886967"/>
                    </a:ext>
                  </a:extLst>
                </a:gridCol>
                <a:gridCol w="6758980">
                  <a:extLst>
                    <a:ext uri="{9D8B030D-6E8A-4147-A177-3AD203B41FA5}">
                      <a16:colId xmlns:a16="http://schemas.microsoft.com/office/drawing/2014/main" val="3125240366"/>
                    </a:ext>
                  </a:extLst>
                </a:gridCol>
                <a:gridCol w="3299137">
                  <a:extLst>
                    <a:ext uri="{9D8B030D-6E8A-4147-A177-3AD203B41FA5}">
                      <a16:colId xmlns:a16="http://schemas.microsoft.com/office/drawing/2014/main" val="2827794869"/>
                    </a:ext>
                  </a:extLst>
                </a:gridCol>
              </a:tblGrid>
              <a:tr h="55068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solidFill>
                            <a:schemeClr val="tx1"/>
                          </a:solidFill>
                        </a:rPr>
                        <a:t>System Status</a:t>
                      </a:r>
                      <a:endParaRPr lang="en-US">
                        <a:solidFill>
                          <a:schemeClr val="tx1"/>
                        </a:solidFill>
                      </a:endParaRPr>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solidFill>
                            <a:schemeClr val="tx1"/>
                          </a:solidFill>
                        </a:rPr>
                        <a:t>Description</a:t>
                      </a:r>
                      <a:endParaRPr lang="en-US">
                        <a:solidFill>
                          <a:schemeClr val="tx1"/>
                        </a:solidFill>
                      </a:endParaRPr>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solidFill>
                            <a:schemeClr val="tx1"/>
                          </a:solidFill>
                        </a:rPr>
                        <a:t>Actions Allowed</a:t>
                      </a:r>
                      <a:endParaRPr lang="en-US">
                        <a:solidFill>
                          <a:schemeClr val="tx1"/>
                        </a:solidFill>
                      </a:endParaRPr>
                    </a:p>
                  </a:txBody>
                  <a:tcPr/>
                </a:tc>
                <a:extLst>
                  <a:ext uri="{0D108BD9-81ED-4DB2-BD59-A6C34878D82A}">
                    <a16:rowId xmlns:a16="http://schemas.microsoft.com/office/drawing/2014/main" val="414467477"/>
                  </a:ext>
                </a:extLst>
              </a:tr>
              <a:tr h="1075153">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0" indent="0">
                        <a:buNone/>
                      </a:pPr>
                      <a:r>
                        <a:rPr lang="en-GB" sz="1600">
                          <a:solidFill>
                            <a:schemeClr val="tx1"/>
                          </a:solidFill>
                        </a:rPr>
                        <a:t>CRTD</a:t>
                      </a:r>
                      <a:endParaRPr lang="en-US" sz="1600">
                        <a:solidFill>
                          <a:schemeClr val="tx1"/>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US" sz="1400">
                          <a:solidFill>
                            <a:schemeClr val="tx1"/>
                          </a:solidFill>
                        </a:rPr>
                        <a:t>This is the initial system status for new WBS elements. In this status you structure the project and plan dates, costs and revenues. The system sets this status automatically, when you create a new WBS element.</a:t>
                      </a: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a:spcBef>
                          <a:spcPts val="0"/>
                        </a:spcBef>
                      </a:pPr>
                      <a:r>
                        <a:rPr lang="en-GB" sz="1400">
                          <a:solidFill>
                            <a:schemeClr val="tx1"/>
                          </a:solidFill>
                        </a:rPr>
                        <a:t>√</a:t>
                      </a:r>
                      <a:r>
                        <a:rPr lang="en-GB" sz="1600">
                          <a:solidFill>
                            <a:schemeClr val="tx1"/>
                          </a:solidFill>
                        </a:rPr>
                        <a:t> </a:t>
                      </a:r>
                      <a:r>
                        <a:rPr lang="en-US" sz="1100">
                          <a:solidFill>
                            <a:schemeClr val="tx1"/>
                          </a:solidFill>
                        </a:rPr>
                        <a:t>create new WBS</a:t>
                      </a:r>
                      <a:r>
                        <a:rPr lang="en-US" sz="1600" kern="1200">
                          <a:solidFill>
                            <a:schemeClr val="tx1"/>
                          </a:solidFill>
                        </a:rPr>
                        <a:t>/</a:t>
                      </a:r>
                      <a:r>
                        <a:rPr lang="en-US" sz="1100" kern="1200">
                          <a:solidFill>
                            <a:schemeClr val="tx1"/>
                          </a:solidFill>
                        </a:rPr>
                        <a:t>settlement rules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400" kern="1200">
                          <a:solidFill>
                            <a:schemeClr val="tx1"/>
                          </a:solidFill>
                        </a:rPr>
                        <a:t>√ </a:t>
                      </a:r>
                      <a:r>
                        <a:rPr lang="en-US" sz="1100" kern="1200">
                          <a:solidFill>
                            <a:schemeClr val="tx1"/>
                          </a:solidFill>
                        </a:rPr>
                        <a:t>budgeting</a:t>
                      </a:r>
                      <a:endParaRPr lang="en-US" sz="1600">
                        <a:solidFill>
                          <a:schemeClr val="tx1"/>
                        </a:solidFill>
                      </a:endParaRPr>
                    </a:p>
                    <a:p>
                      <a:r>
                        <a:rPr lang="en-GB" sz="1200">
                          <a:solidFill>
                            <a:schemeClr val="tx1"/>
                          </a:solidFill>
                        </a:rPr>
                        <a:t>X </a:t>
                      </a:r>
                      <a:r>
                        <a:rPr lang="en-US" sz="1100" kern="1200">
                          <a:solidFill>
                            <a:schemeClr val="tx1"/>
                          </a:solidFill>
                        </a:rPr>
                        <a:t>create PR/PO</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a:solidFill>
                            <a:schemeClr val="tx1"/>
                          </a:solidFill>
                        </a:rPr>
                        <a:t>X </a:t>
                      </a:r>
                      <a:r>
                        <a:rPr lang="en-US" sz="1100" kern="1200">
                          <a:solidFill>
                            <a:schemeClr val="tx1"/>
                          </a:solidFill>
                        </a:rPr>
                        <a:t>post costs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a:solidFill>
                            <a:schemeClr val="tx1"/>
                          </a:solidFill>
                        </a:rPr>
                        <a:t>X </a:t>
                      </a:r>
                      <a:r>
                        <a:rPr lang="en-US" sz="1100" kern="1200">
                          <a:solidFill>
                            <a:schemeClr val="tx1"/>
                          </a:solidFill>
                        </a:rPr>
                        <a:t>run allocations</a:t>
                      </a:r>
                      <a:endParaRPr lang="en-US" sz="1100" kern="1200">
                        <a:solidFill>
                          <a:schemeClr val="tx1"/>
                        </a:solidFill>
                        <a:latin typeface="+mn-lt"/>
                        <a:ea typeface="+mn-ea"/>
                        <a:cs typeface="+mn-cs"/>
                      </a:endParaRPr>
                    </a:p>
                  </a:txBody>
                  <a:tcPr/>
                </a:tc>
                <a:extLst>
                  <a:ext uri="{0D108BD9-81ED-4DB2-BD59-A6C34878D82A}">
                    <a16:rowId xmlns:a16="http://schemas.microsoft.com/office/drawing/2014/main" val="3095091705"/>
                  </a:ext>
                </a:extLst>
              </a:tr>
              <a:tr h="1101376">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sz="1600">
                          <a:solidFill>
                            <a:schemeClr val="tx1"/>
                          </a:solidFill>
                        </a:rPr>
                        <a:t>REL</a:t>
                      </a:r>
                      <a:endParaRPr lang="en-US" sz="1600">
                        <a:solidFill>
                          <a:schemeClr val="tx1"/>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US" sz="1400" kern="1200">
                          <a:solidFill>
                            <a:schemeClr val="tx1"/>
                          </a:solidFill>
                        </a:rPr>
                        <a:t>In Released status you can still create new WBS elements and change the project hierarchy but more actions are now allowed and postings can now be made to the WBS elements. The status is passed on to subordinate WBS elements. You cannot change the status from Released to Created , as actual values from, for instance, purchase orders or confirmations may have been posted</a:t>
                      </a:r>
                      <a:endParaRPr lang="en-US" sz="1400" kern="1200">
                        <a:solidFill>
                          <a:schemeClr val="tx1"/>
                        </a:solidFill>
                        <a:latin typeface="+mn-lt"/>
                        <a:ea typeface="+mn-ea"/>
                        <a:cs typeface="+mn-cs"/>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a:spcBef>
                          <a:spcPts val="0"/>
                        </a:spcBef>
                      </a:pPr>
                      <a:r>
                        <a:rPr lang="en-US" sz="1200" kern="1200">
                          <a:solidFill>
                            <a:schemeClr val="tx1"/>
                          </a:solidFill>
                        </a:rPr>
                        <a:t>√</a:t>
                      </a:r>
                      <a:r>
                        <a:rPr lang="en-US" sz="1600">
                          <a:solidFill>
                            <a:schemeClr val="tx1"/>
                          </a:solidFill>
                        </a:rPr>
                        <a:t> </a:t>
                      </a:r>
                      <a:r>
                        <a:rPr lang="en-US" sz="1100" kern="1200">
                          <a:solidFill>
                            <a:schemeClr val="tx1"/>
                          </a:solidFill>
                        </a:rPr>
                        <a:t>create new WBS/settlement rules</a:t>
                      </a:r>
                    </a:p>
                    <a:p>
                      <a:pPr>
                        <a:spcBef>
                          <a:spcPts val="0"/>
                        </a:spcBef>
                      </a:pPr>
                      <a:r>
                        <a:rPr lang="en-US" sz="1200" kern="1200">
                          <a:solidFill>
                            <a:schemeClr val="tx1"/>
                          </a:solidFill>
                        </a:rPr>
                        <a:t>√</a:t>
                      </a:r>
                      <a:r>
                        <a:rPr lang="en-US" sz="1600">
                          <a:solidFill>
                            <a:schemeClr val="tx1"/>
                          </a:solidFill>
                        </a:rPr>
                        <a:t> </a:t>
                      </a:r>
                      <a:r>
                        <a:rPr lang="en-US" sz="1100" kern="1200">
                          <a:solidFill>
                            <a:schemeClr val="tx1"/>
                          </a:solidFill>
                        </a:rPr>
                        <a:t>budget </a:t>
                      </a:r>
                    </a:p>
                    <a:p>
                      <a:r>
                        <a:rPr lang="en-GB" sz="1200">
                          <a:solidFill>
                            <a:schemeClr val="tx1"/>
                          </a:solidFill>
                        </a:rPr>
                        <a:t>√ </a:t>
                      </a:r>
                      <a:r>
                        <a:rPr lang="en-US" sz="1100" kern="1200">
                          <a:solidFill>
                            <a:schemeClr val="tx1"/>
                          </a:solidFill>
                        </a:rPr>
                        <a:t>create PR/PO</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a:solidFill>
                            <a:schemeClr val="tx1"/>
                          </a:solidFill>
                        </a:rPr>
                        <a:t>√ </a:t>
                      </a:r>
                      <a:r>
                        <a:rPr lang="en-US" sz="1100" kern="1200">
                          <a:solidFill>
                            <a:schemeClr val="tx1"/>
                          </a:solidFill>
                        </a:rPr>
                        <a:t>post costs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a:solidFill>
                            <a:schemeClr val="tx1"/>
                          </a:solidFill>
                        </a:rPr>
                        <a:t>√ </a:t>
                      </a:r>
                      <a:r>
                        <a:rPr lang="en-US" sz="1100" kern="1200">
                          <a:solidFill>
                            <a:schemeClr val="tx1"/>
                          </a:solidFill>
                        </a:rPr>
                        <a:t>run allocations</a:t>
                      </a:r>
                      <a:endParaRPr lang="en-US" sz="1100" kern="1200">
                        <a:solidFill>
                          <a:schemeClr val="tx1"/>
                        </a:solidFill>
                        <a:latin typeface="+mn-lt"/>
                        <a:ea typeface="+mn-ea"/>
                        <a:cs typeface="+mn-cs"/>
                      </a:endParaRPr>
                    </a:p>
                  </a:txBody>
                  <a:tcPr/>
                </a:tc>
                <a:extLst>
                  <a:ext uri="{0D108BD9-81ED-4DB2-BD59-A6C34878D82A}">
                    <a16:rowId xmlns:a16="http://schemas.microsoft.com/office/drawing/2014/main" val="797400607"/>
                  </a:ext>
                </a:extLst>
              </a:tr>
              <a:tr h="1153823">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sz="1600">
                          <a:solidFill>
                            <a:schemeClr val="tx1"/>
                          </a:solidFill>
                        </a:rPr>
                        <a:t>TECO</a:t>
                      </a:r>
                      <a:endParaRPr lang="en-US" sz="1600">
                        <a:solidFill>
                          <a:schemeClr val="tx1"/>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US" sz="1400" kern="1200">
                          <a:solidFill>
                            <a:schemeClr val="tx1"/>
                          </a:solidFill>
                        </a:rPr>
                        <a:t>Technically Complete status for WBS elements that are completed from a technical point of view, but where you still expect costs to accrue. </a:t>
                      </a:r>
                    </a:p>
                    <a:p>
                      <a:r>
                        <a:rPr lang="en-US" sz="1400" kern="1200">
                          <a:solidFill>
                            <a:schemeClr val="tx1"/>
                          </a:solidFill>
                        </a:rPr>
                        <a:t>The status is passed on to subordinate WBS Elements.</a:t>
                      </a:r>
                    </a:p>
                    <a:p>
                      <a:r>
                        <a:rPr lang="en-GB" sz="1400" kern="1200">
                          <a:solidFill>
                            <a:schemeClr val="tx1"/>
                          </a:solidFill>
                        </a:rPr>
                        <a:t>T</a:t>
                      </a:r>
                      <a:r>
                        <a:rPr lang="en-US" sz="1400" kern="1200">
                          <a:solidFill>
                            <a:schemeClr val="tx1"/>
                          </a:solidFill>
                        </a:rPr>
                        <a:t>he status can be revoked and set back to Released.</a:t>
                      </a:r>
                      <a:endParaRPr lang="en-US" sz="1400" kern="1200">
                        <a:solidFill>
                          <a:schemeClr val="tx1"/>
                        </a:solidFill>
                        <a:latin typeface="+mn-lt"/>
                        <a:ea typeface="+mn-ea"/>
                        <a:cs typeface="+mn-cs"/>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0" algn="l" defTabSz="914126" rtl="0" eaLnBrk="1" latinLnBrk="0" hangingPunct="1"/>
                      <a:r>
                        <a:rPr lang="en-US" sz="1200" kern="1200">
                          <a:solidFill>
                            <a:schemeClr val="tx1"/>
                          </a:solidFill>
                        </a:rPr>
                        <a:t>▲ </a:t>
                      </a:r>
                      <a:r>
                        <a:rPr lang="en-US" sz="1100" kern="1200">
                          <a:solidFill>
                            <a:schemeClr val="tx1"/>
                          </a:solidFill>
                        </a:rPr>
                        <a:t>create new subordinate WBS/settlement rules (warning) </a:t>
                      </a:r>
                    </a:p>
                    <a:p>
                      <a:pPr marL="0" algn="l" defTabSz="914126" rtl="0" eaLnBrk="1" latinLnBrk="0" hangingPunct="1"/>
                      <a:r>
                        <a:rPr lang="en-GB" sz="1200">
                          <a:solidFill>
                            <a:schemeClr val="tx1"/>
                          </a:solidFill>
                        </a:rPr>
                        <a:t>X</a:t>
                      </a:r>
                      <a:r>
                        <a:rPr lang="en-US" sz="1200" kern="1200">
                          <a:solidFill>
                            <a:schemeClr val="tx1"/>
                          </a:solidFill>
                        </a:rPr>
                        <a:t> </a:t>
                      </a:r>
                      <a:r>
                        <a:rPr lang="en-US" sz="1100" kern="1200">
                          <a:solidFill>
                            <a:schemeClr val="tx1"/>
                          </a:solidFill>
                        </a:rPr>
                        <a:t>budget </a:t>
                      </a:r>
                    </a:p>
                    <a:p>
                      <a:pPr marL="0" algn="l" defTabSz="914126" rtl="0" eaLnBrk="1" latinLnBrk="0" hangingPunct="1"/>
                      <a:r>
                        <a:rPr lang="en-GB" sz="1200">
                          <a:solidFill>
                            <a:schemeClr val="tx1"/>
                          </a:solidFill>
                        </a:rPr>
                        <a:t>X</a:t>
                      </a:r>
                      <a:r>
                        <a:rPr lang="en-US" sz="1200" kern="1200">
                          <a:solidFill>
                            <a:schemeClr val="tx1"/>
                          </a:solidFill>
                        </a:rPr>
                        <a:t> </a:t>
                      </a:r>
                      <a:r>
                        <a:rPr lang="en-US" sz="1100" kern="1200">
                          <a:solidFill>
                            <a:schemeClr val="tx1"/>
                          </a:solidFill>
                        </a:rPr>
                        <a:t>create PR</a:t>
                      </a:r>
                    </a:p>
                    <a:p>
                      <a:pPr marL="0" algn="l" defTabSz="914126" rtl="0" eaLnBrk="1" latinLnBrk="0" hangingPunct="1"/>
                      <a:r>
                        <a:rPr lang="en-US" sz="1200" kern="1200">
                          <a:solidFill>
                            <a:schemeClr val="tx1"/>
                          </a:solidFill>
                        </a:rPr>
                        <a:t>√ </a:t>
                      </a:r>
                      <a:r>
                        <a:rPr lang="en-US" sz="1100" kern="1200">
                          <a:solidFill>
                            <a:schemeClr val="tx1"/>
                          </a:solidFill>
                        </a:rPr>
                        <a:t>post costs</a:t>
                      </a:r>
                    </a:p>
                    <a:p>
                      <a:pPr marL="0" algn="l" defTabSz="914126" rtl="0" eaLnBrk="1" latinLnBrk="0" hangingPunct="1"/>
                      <a:r>
                        <a:rPr lang="en-US" sz="1200" kern="1200">
                          <a:solidFill>
                            <a:schemeClr val="tx1"/>
                          </a:solidFill>
                        </a:rPr>
                        <a:t>√ </a:t>
                      </a:r>
                      <a:r>
                        <a:rPr lang="en-US" sz="1100" kern="1200">
                          <a:solidFill>
                            <a:schemeClr val="tx1"/>
                          </a:solidFill>
                        </a:rPr>
                        <a:t>run allocations</a:t>
                      </a:r>
                      <a:endParaRPr lang="en-US" sz="1100" b="0" kern="1200">
                        <a:solidFill>
                          <a:schemeClr val="tx1"/>
                        </a:solidFill>
                        <a:latin typeface="+mn-lt"/>
                        <a:ea typeface="+mn-ea"/>
                        <a:cs typeface="+mn-cs"/>
                      </a:endParaRPr>
                    </a:p>
                  </a:txBody>
                  <a:tcPr/>
                </a:tc>
                <a:extLst>
                  <a:ext uri="{0D108BD9-81ED-4DB2-BD59-A6C34878D82A}">
                    <a16:rowId xmlns:a16="http://schemas.microsoft.com/office/drawing/2014/main" val="1084524107"/>
                  </a:ext>
                </a:extLst>
              </a:tr>
              <a:tr h="812921">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sz="1600">
                          <a:solidFill>
                            <a:schemeClr val="tx1"/>
                          </a:solidFill>
                        </a:rPr>
                        <a:t>CLSD</a:t>
                      </a:r>
                      <a:endParaRPr lang="en-US" sz="1600">
                        <a:solidFill>
                          <a:schemeClr val="tx1"/>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US" sz="1400" kern="1200">
                          <a:solidFill>
                            <a:schemeClr val="tx1"/>
                          </a:solidFill>
                        </a:rPr>
                        <a:t>Closed status for a work breakdown structure or WBS element that has been completed from both a logistic and an accounting point of view.</a:t>
                      </a:r>
                      <a:endParaRPr lang="en-US" sz="1400" kern="1200">
                        <a:solidFill>
                          <a:schemeClr val="tx1"/>
                        </a:solidFill>
                        <a:latin typeface="+mn-lt"/>
                        <a:ea typeface="+mn-ea"/>
                        <a:cs typeface="+mn-cs"/>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GB" sz="1200" kern="1200">
                          <a:solidFill>
                            <a:schemeClr val="tx1"/>
                          </a:solidFill>
                        </a:rPr>
                        <a:t>X </a:t>
                      </a:r>
                      <a:r>
                        <a:rPr lang="en-US" sz="1100" kern="1200">
                          <a:solidFill>
                            <a:schemeClr val="tx1"/>
                          </a:solidFill>
                        </a:rPr>
                        <a:t>create new WBS/settlement rules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kern="1200">
                          <a:solidFill>
                            <a:schemeClr val="tx1"/>
                          </a:solidFill>
                        </a:rPr>
                        <a:t>X </a:t>
                      </a:r>
                      <a:r>
                        <a:rPr lang="en-US" sz="1100" kern="1200">
                          <a:solidFill>
                            <a:schemeClr val="tx1"/>
                          </a:solidFill>
                        </a:rPr>
                        <a:t>create PR/PO</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kern="1200">
                          <a:solidFill>
                            <a:schemeClr val="tx1"/>
                          </a:solidFill>
                        </a:rPr>
                        <a:t>X </a:t>
                      </a:r>
                      <a:r>
                        <a:rPr lang="en-US" sz="1100" kern="1200">
                          <a:solidFill>
                            <a:schemeClr val="tx1"/>
                          </a:solidFill>
                        </a:rPr>
                        <a:t>post costs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kern="1200">
                          <a:solidFill>
                            <a:schemeClr val="tx1"/>
                          </a:solidFill>
                        </a:rPr>
                        <a:t>X </a:t>
                      </a:r>
                      <a:r>
                        <a:rPr lang="en-US" sz="1100" kern="1200">
                          <a:solidFill>
                            <a:schemeClr val="tx1"/>
                          </a:solidFill>
                        </a:rPr>
                        <a:t>run allocations</a:t>
                      </a:r>
                      <a:endParaRPr lang="en-US" sz="1100" b="0" kern="1200">
                        <a:solidFill>
                          <a:schemeClr val="tx1"/>
                        </a:solidFill>
                        <a:latin typeface="+mn-lt"/>
                        <a:ea typeface="+mn-ea"/>
                        <a:cs typeface="+mn-cs"/>
                      </a:endParaRPr>
                    </a:p>
                  </a:txBody>
                  <a:tcPr/>
                </a:tc>
                <a:extLst>
                  <a:ext uri="{0D108BD9-81ED-4DB2-BD59-A6C34878D82A}">
                    <a16:rowId xmlns:a16="http://schemas.microsoft.com/office/drawing/2014/main" val="58292407"/>
                  </a:ext>
                </a:extLst>
              </a:tr>
            </a:tbl>
          </a:graphicData>
        </a:graphic>
      </p:graphicFrame>
    </p:spTree>
    <p:extLst>
      <p:ext uri="{BB962C8B-B14F-4D97-AF65-F5344CB8AC3E}">
        <p14:creationId xmlns:p14="http://schemas.microsoft.com/office/powerpoint/2010/main" val="2878121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dirty="0"/>
              <a:t>Project Status: System and User Status</a:t>
            </a:r>
            <a:endParaRPr lang="en-US" dirty="0"/>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B80A619E-53EC-4D40-8439-77D6F9057443}"/>
              </a:ext>
            </a:extLst>
          </p:cNvPr>
          <p:cNvSpPr/>
          <p:nvPr/>
        </p:nvSpPr>
        <p:spPr>
          <a:xfrm>
            <a:off x="474875" y="1437204"/>
            <a:ext cx="11242249" cy="577478"/>
          </a:xfrm>
          <a:prstGeom prst="roundRect">
            <a:avLst/>
          </a:prstGeom>
          <a:gradFill rotWithShape="1">
            <a:gsLst>
              <a:gs pos="0">
                <a:srgbClr val="ACE8E6"/>
              </a:gs>
              <a:gs pos="50000">
                <a:srgbClr val="78DAD6"/>
              </a:gs>
              <a:gs pos="100000">
                <a:srgbClr val="30AFAA"/>
              </a:gs>
            </a:gsLst>
            <a:lin ang="54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There are also statuses available to show what stage if any the </a:t>
            </a:r>
            <a:r>
              <a:rPr kumimoji="0" lang="en-GB" sz="16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Budget </a:t>
            </a:r>
            <a:r>
              <a:rPr kumimoji="0" lang="en-GB"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for a WBS is</a:t>
            </a:r>
            <a:endParaRPr kumimoji="0" lang="en-US"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grpSp>
        <p:nvGrpSpPr>
          <p:cNvPr id="19" name="Group 18">
            <a:extLst>
              <a:ext uri="{FF2B5EF4-FFF2-40B4-BE49-F238E27FC236}">
                <a16:creationId xmlns:a16="http://schemas.microsoft.com/office/drawing/2014/main" id="{DB98A5A2-1B98-40E5-AF2C-886AAD739803}"/>
              </a:ext>
            </a:extLst>
          </p:cNvPr>
          <p:cNvGrpSpPr/>
          <p:nvPr/>
        </p:nvGrpSpPr>
        <p:grpSpPr>
          <a:xfrm>
            <a:off x="627729" y="2107104"/>
            <a:ext cx="11242248" cy="3611771"/>
            <a:chOff x="813708" y="1785272"/>
            <a:chExt cx="11063218" cy="4592197"/>
          </a:xfrm>
        </p:grpSpPr>
        <p:sp>
          <p:nvSpPr>
            <p:cNvPr id="7" name="Rectangle 6">
              <a:extLst>
                <a:ext uri="{FF2B5EF4-FFF2-40B4-BE49-F238E27FC236}">
                  <a16:creationId xmlns:a16="http://schemas.microsoft.com/office/drawing/2014/main" id="{EF870E05-4CA1-46BE-9391-34817FC89764}"/>
                </a:ext>
              </a:extLst>
            </p:cNvPr>
            <p:cNvSpPr/>
            <p:nvPr/>
          </p:nvSpPr>
          <p:spPr>
            <a:xfrm>
              <a:off x="816429" y="2586397"/>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BUDG</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7E44CF2D-356E-4B53-9BA7-87E28BFD03DB}"/>
                </a:ext>
              </a:extLst>
            </p:cNvPr>
            <p:cNvSpPr/>
            <p:nvPr/>
          </p:nvSpPr>
          <p:spPr>
            <a:xfrm>
              <a:off x="816429" y="3392546"/>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AVAC</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ECFC6B7A-FF44-426E-9707-5C8DEBA97529}"/>
                </a:ext>
              </a:extLst>
            </p:cNvPr>
            <p:cNvSpPr/>
            <p:nvPr/>
          </p:nvSpPr>
          <p:spPr>
            <a:xfrm>
              <a:off x="813708" y="4198695"/>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BGRL</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E8BC59A4-AA4D-48B6-A127-FE2023B2CD72}"/>
                </a:ext>
              </a:extLst>
            </p:cNvPr>
            <p:cNvSpPr/>
            <p:nvPr/>
          </p:nvSpPr>
          <p:spPr>
            <a:xfrm>
              <a:off x="813708" y="5004844"/>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BGPR</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455E226C-4336-4BED-8348-C703759A158C}"/>
                </a:ext>
              </a:extLst>
            </p:cNvPr>
            <p:cNvSpPr txBox="1"/>
            <p:nvPr/>
          </p:nvSpPr>
          <p:spPr>
            <a:xfrm>
              <a:off x="2677884" y="2713150"/>
              <a:ext cx="62964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Budgeted</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 The WBS has been budgeted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Automatic</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3CB9746A-12FB-446D-BD06-F97DB314D515}"/>
                </a:ext>
              </a:extLst>
            </p:cNvPr>
            <p:cNvSpPr txBox="1"/>
            <p:nvPr/>
          </p:nvSpPr>
          <p:spPr>
            <a:xfrm>
              <a:off x="2677881" y="3473034"/>
              <a:ext cx="87945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Availability Control Active </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System checks available budget in real time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Automatic</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360F6BB5-EF45-4258-AD19-2EBBA04A6D40}"/>
                </a:ext>
              </a:extLst>
            </p:cNvPr>
            <p:cNvSpPr txBox="1"/>
            <p:nvPr/>
          </p:nvSpPr>
          <p:spPr>
            <a:xfrm>
              <a:off x="2677882" y="4292082"/>
              <a:ext cx="84928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Budget Released </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Budget has been released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Automatic</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4" name="TextBox 13">
              <a:extLst>
                <a:ext uri="{FF2B5EF4-FFF2-40B4-BE49-F238E27FC236}">
                  <a16:creationId xmlns:a16="http://schemas.microsoft.com/office/drawing/2014/main" id="{728DB4F7-455F-467A-A2EC-5C47F356993A}"/>
                </a:ext>
              </a:extLst>
            </p:cNvPr>
            <p:cNvSpPr txBox="1"/>
            <p:nvPr/>
          </p:nvSpPr>
          <p:spPr>
            <a:xfrm>
              <a:off x="2677882" y="5086052"/>
              <a:ext cx="919904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Budget Proposed </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Budget has been proposed but not approved/released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Automatic</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825CE374-DDAD-4875-A813-93273CA6B480}"/>
                </a:ext>
              </a:extLst>
            </p:cNvPr>
            <p:cNvSpPr/>
            <p:nvPr/>
          </p:nvSpPr>
          <p:spPr>
            <a:xfrm>
              <a:off x="813708" y="5805969"/>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NAPR</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7613CCAD-277F-4CBD-ADB3-30CD26B24212}"/>
                </a:ext>
              </a:extLst>
            </p:cNvPr>
            <p:cNvSpPr txBox="1"/>
            <p:nvPr/>
          </p:nvSpPr>
          <p:spPr>
            <a:xfrm>
              <a:off x="2677882" y="5879080"/>
              <a:ext cx="84928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Not Approved </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Approval is required before a subsequent step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Automatic</a:t>
              </a: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A280778E-0064-4D29-9FEB-C31D84D7A7D5}"/>
                </a:ext>
              </a:extLst>
            </p:cNvPr>
            <p:cNvSpPr/>
            <p:nvPr/>
          </p:nvSpPr>
          <p:spPr>
            <a:xfrm>
              <a:off x="813708" y="1785272"/>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PLAN</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D5B845CB-C701-4981-A435-FF6987E1B76E}"/>
                </a:ext>
              </a:extLst>
            </p:cNvPr>
            <p:cNvSpPr txBox="1"/>
            <p:nvPr/>
          </p:nvSpPr>
          <p:spPr>
            <a:xfrm>
              <a:off x="2677882" y="1894102"/>
              <a:ext cx="82743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Plan</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 The WBS has been created and included in plan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Automatic</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grpSp>
      <p:sp>
        <p:nvSpPr>
          <p:cNvPr id="21" name="Rectangle 20">
            <a:extLst>
              <a:ext uri="{FF2B5EF4-FFF2-40B4-BE49-F238E27FC236}">
                <a16:creationId xmlns:a16="http://schemas.microsoft.com/office/drawing/2014/main" id="{09DCBB55-55B3-4B6E-B8BD-BE975EDB905A}"/>
              </a:ext>
            </a:extLst>
          </p:cNvPr>
          <p:cNvSpPr/>
          <p:nvPr/>
        </p:nvSpPr>
        <p:spPr>
          <a:xfrm>
            <a:off x="627728" y="5899475"/>
            <a:ext cx="1642687" cy="449486"/>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SETC</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162EB2C9-53E4-4080-A17B-35D548D5DF81}"/>
              </a:ext>
            </a:extLst>
          </p:cNvPr>
          <p:cNvSpPr txBox="1"/>
          <p:nvPr/>
        </p:nvSpPr>
        <p:spPr>
          <a:xfrm>
            <a:off x="2522070" y="5942843"/>
            <a:ext cx="9042202" cy="369332"/>
          </a:xfrm>
          <a:prstGeom prst="rect">
            <a:avLst/>
          </a:prstGeom>
          <a:noFill/>
        </p:spPr>
        <p:txBody>
          <a:bodyPr wrap="square" rtlCol="0">
            <a:spAutoFit/>
          </a:bodyPr>
          <a:lstStyle/>
          <a:p>
            <a:pPr lvl="0">
              <a:defRPr/>
            </a:pPr>
            <a:r>
              <a:rPr lang="en-GB" b="1" dirty="0"/>
              <a:t>Settlement Rule Created </a:t>
            </a:r>
            <a:r>
              <a:rPr lang="en-GB" dirty="0"/>
              <a:t>– Settlement rules have been created (BSC)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Automatic</a:t>
            </a:r>
            <a:r>
              <a:rPr kumimoji="0" lang="en-GB" sz="1800" b="1"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3705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dirty="0"/>
              <a:t>Project Status: Example</a:t>
            </a:r>
            <a:endParaRPr lang="en-US" dirty="0"/>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Table 5">
            <a:extLst>
              <a:ext uri="{FF2B5EF4-FFF2-40B4-BE49-F238E27FC236}">
                <a16:creationId xmlns:a16="http://schemas.microsoft.com/office/drawing/2014/main" id="{1DB89D42-E2B6-421B-A1D5-F8FC56469664}"/>
              </a:ext>
            </a:extLst>
          </p:cNvPr>
          <p:cNvGraphicFramePr>
            <a:graphicFrameLocks noGrp="1"/>
          </p:cNvGraphicFramePr>
          <p:nvPr>
            <p:extLst/>
          </p:nvPr>
        </p:nvGraphicFramePr>
        <p:xfrm>
          <a:off x="979714" y="2400300"/>
          <a:ext cx="10417628" cy="3792761"/>
        </p:xfrm>
        <a:graphic>
          <a:graphicData uri="http://schemas.openxmlformats.org/drawingml/2006/table">
            <a:tbl>
              <a:tblPr firstRow="1" bandRow="1">
                <a:tableStyleId>{69C7853C-536D-4A76-A0AE-DD22124D55A5}</a:tableStyleId>
              </a:tblPr>
              <a:tblGrid>
                <a:gridCol w="3763174">
                  <a:extLst>
                    <a:ext uri="{9D8B030D-6E8A-4147-A177-3AD203B41FA5}">
                      <a16:colId xmlns:a16="http://schemas.microsoft.com/office/drawing/2014/main" val="1102886967"/>
                    </a:ext>
                  </a:extLst>
                </a:gridCol>
                <a:gridCol w="3662984">
                  <a:extLst>
                    <a:ext uri="{9D8B030D-6E8A-4147-A177-3AD203B41FA5}">
                      <a16:colId xmlns:a16="http://schemas.microsoft.com/office/drawing/2014/main" val="193715012"/>
                    </a:ext>
                  </a:extLst>
                </a:gridCol>
                <a:gridCol w="2991470">
                  <a:extLst>
                    <a:ext uri="{9D8B030D-6E8A-4147-A177-3AD203B41FA5}">
                      <a16:colId xmlns:a16="http://schemas.microsoft.com/office/drawing/2014/main" val="3125240366"/>
                    </a:ext>
                  </a:extLst>
                </a:gridCol>
              </a:tblGrid>
              <a:tr h="312521">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dirty="0"/>
                        <a:t>Process Action</a:t>
                      </a:r>
                      <a:endParaRPr lang="en-US" dirty="0"/>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dirty="0"/>
                        <a:t>Root WBS</a:t>
                      </a:r>
                      <a:endParaRPr lang="en-US" dirty="0"/>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dirty="0"/>
                        <a:t>WBS Element</a:t>
                      </a:r>
                      <a:endParaRPr lang="en-US" dirty="0"/>
                    </a:p>
                  </a:txBody>
                  <a:tcPr/>
                </a:tc>
                <a:extLst>
                  <a:ext uri="{0D108BD9-81ED-4DB2-BD59-A6C34878D82A}">
                    <a16:rowId xmlns:a16="http://schemas.microsoft.com/office/drawing/2014/main" val="414467477"/>
                  </a:ext>
                </a:extLst>
              </a:tr>
              <a:tr h="903186">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342900" indent="-342900">
                        <a:buAutoNum type="arabicPeriod"/>
                      </a:pPr>
                      <a:r>
                        <a:rPr lang="en-GB" dirty="0"/>
                        <a:t>Project Creation</a:t>
                      </a:r>
                    </a:p>
                    <a:p>
                      <a:pPr marL="342900" marR="0" lvl="0" indent="-342900" algn="l" defTabSz="914126" rtl="0" eaLnBrk="1" fontAlgn="auto" latinLnBrk="0" hangingPunct="1">
                        <a:lnSpc>
                          <a:spcPct val="100000"/>
                        </a:lnSpc>
                        <a:spcBef>
                          <a:spcPts val="0"/>
                        </a:spcBef>
                        <a:spcAft>
                          <a:spcPts val="0"/>
                        </a:spcAft>
                        <a:buClrTx/>
                        <a:buSzTx/>
                        <a:buFontTx/>
                        <a:buAutoNum type="arabicPeriod"/>
                        <a:tabLst/>
                        <a:defRPr/>
                      </a:pPr>
                      <a:r>
                        <a:rPr lang="en-GB" dirty="0"/>
                        <a:t>Change Status: Approve Plan (Include project into plan)</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CRTD  </a:t>
                      </a:r>
                    </a:p>
                    <a:p>
                      <a:r>
                        <a:rPr lang="en-GB" dirty="0"/>
                        <a:t>User: PLAN NAPR</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CRTD  </a:t>
                      </a:r>
                    </a:p>
                    <a:p>
                      <a:r>
                        <a:rPr lang="en-GB" dirty="0"/>
                        <a:t>User: PLAN</a:t>
                      </a:r>
                      <a:endParaRPr lang="en-US" dirty="0"/>
                    </a:p>
                  </a:txBody>
                  <a:tcPr/>
                </a:tc>
                <a:extLst>
                  <a:ext uri="{0D108BD9-81ED-4DB2-BD59-A6C34878D82A}">
                    <a16:rowId xmlns:a16="http://schemas.microsoft.com/office/drawing/2014/main" val="3095091705"/>
                  </a:ext>
                </a:extLst>
              </a:tr>
              <a:tr h="781302">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3a. Maintain Budget, Manually Add Budget Line Item &amp; Approve</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CRTD BUDG AVAC</a:t>
                      </a:r>
                    </a:p>
                    <a:p>
                      <a:r>
                        <a:rPr lang="en-GB" dirty="0"/>
                        <a:t>User: PLAN BGRL</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CRTD AVAC</a:t>
                      </a:r>
                    </a:p>
                    <a:p>
                      <a:r>
                        <a:rPr lang="en-GB" dirty="0"/>
                        <a:t>User: PLAN</a:t>
                      </a:r>
                      <a:endParaRPr lang="en-US" dirty="0"/>
                    </a:p>
                    <a:p>
                      <a:endParaRPr lang="en-US" dirty="0"/>
                    </a:p>
                  </a:txBody>
                  <a:tcPr/>
                </a:tc>
                <a:extLst>
                  <a:ext uri="{0D108BD9-81ED-4DB2-BD59-A6C34878D82A}">
                    <a16:rowId xmlns:a16="http://schemas.microsoft.com/office/drawing/2014/main" val="797400607"/>
                  </a:ext>
                </a:extLst>
              </a:tr>
              <a:tr h="546912">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3b. Add BAP ID</a:t>
                      </a:r>
                      <a:endParaRPr lang="en-US" dirty="0">
                        <a:solidFill>
                          <a:srgbClr val="FFC000"/>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CRTD  </a:t>
                      </a:r>
                    </a:p>
                    <a:p>
                      <a:r>
                        <a:rPr lang="en-GB" dirty="0"/>
                        <a:t>User: PLAN</a:t>
                      </a:r>
                      <a:endParaRPr lang="en-US" dirty="0">
                        <a:solidFill>
                          <a:srgbClr val="FFC000"/>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CRTD  </a:t>
                      </a:r>
                    </a:p>
                    <a:p>
                      <a:r>
                        <a:rPr lang="en-GB" dirty="0"/>
                        <a:t>User: PLAN</a:t>
                      </a:r>
                      <a:endParaRPr lang="en-US" dirty="0">
                        <a:solidFill>
                          <a:srgbClr val="FFC000"/>
                        </a:solidFill>
                      </a:endParaRPr>
                    </a:p>
                  </a:txBody>
                  <a:tcPr/>
                </a:tc>
                <a:extLst>
                  <a:ext uri="{0D108BD9-81ED-4DB2-BD59-A6C34878D82A}">
                    <a16:rowId xmlns:a16="http://schemas.microsoft.com/office/drawing/2014/main" val="1084524107"/>
                  </a:ext>
                </a:extLst>
              </a:tr>
              <a:tr h="958121">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3c. Change Status (Budget Not Required)</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CRTD  </a:t>
                      </a:r>
                    </a:p>
                    <a:p>
                      <a:r>
                        <a:rPr lang="en-GB" dirty="0"/>
                        <a:t>User: PLAN</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CRTD  </a:t>
                      </a:r>
                    </a:p>
                    <a:p>
                      <a:r>
                        <a:rPr lang="en-GB" dirty="0"/>
                        <a:t>User: PLAN</a:t>
                      </a:r>
                      <a:endParaRPr lang="en-US" dirty="0"/>
                    </a:p>
                  </a:txBody>
                  <a:tcPr/>
                </a:tc>
                <a:extLst>
                  <a:ext uri="{0D108BD9-81ED-4DB2-BD59-A6C34878D82A}">
                    <a16:rowId xmlns:a16="http://schemas.microsoft.com/office/drawing/2014/main" val="58292407"/>
                  </a:ext>
                </a:extLst>
              </a:tr>
            </a:tbl>
          </a:graphicData>
        </a:graphic>
      </p:graphicFrame>
      <p:pic>
        <p:nvPicPr>
          <p:cNvPr id="7" name="Picture 6" descr="A close up of a sign&#10;&#10;Description generated with very high confidence">
            <a:extLst>
              <a:ext uri="{FF2B5EF4-FFF2-40B4-BE49-F238E27FC236}">
                <a16:creationId xmlns:a16="http://schemas.microsoft.com/office/drawing/2014/main" id="{692772E3-7800-4DD8-B4D6-B520C72C5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0461" y="5658316"/>
            <a:ext cx="3697024" cy="1278410"/>
          </a:xfrm>
          <a:prstGeom prst="rect">
            <a:avLst/>
          </a:prstGeom>
        </p:spPr>
      </p:pic>
      <p:sp>
        <p:nvSpPr>
          <p:cNvPr id="9" name="Rectangle: Rounded Corners 8">
            <a:extLst>
              <a:ext uri="{FF2B5EF4-FFF2-40B4-BE49-F238E27FC236}">
                <a16:creationId xmlns:a16="http://schemas.microsoft.com/office/drawing/2014/main" id="{15C0B517-2E52-45D5-9964-2EBC54C34AA7}"/>
              </a:ext>
            </a:extLst>
          </p:cNvPr>
          <p:cNvSpPr/>
          <p:nvPr/>
        </p:nvSpPr>
        <p:spPr>
          <a:xfrm>
            <a:off x="567403" y="1475771"/>
            <a:ext cx="11242249" cy="650449"/>
          </a:xfrm>
          <a:prstGeom prst="roundRect">
            <a:avLst/>
          </a:prstGeom>
          <a:gradFill rotWithShape="1">
            <a:gsLst>
              <a:gs pos="0">
                <a:srgbClr val="30AFAA"/>
              </a:gs>
              <a:gs pos="50000">
                <a:srgbClr val="78DAD6"/>
              </a:gs>
              <a:gs pos="100000">
                <a:srgbClr val="ACE8E6"/>
              </a:gs>
            </a:gsLst>
            <a:lin ang="162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Project system and user status change on different actions during the process. The following changes are completed in Fiori:</a:t>
            </a:r>
            <a:endParaRPr kumimoji="0" lang="en-US"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388111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06335F9-39B1-4334-929F-E7E23A2CC6A4}"/>
              </a:ext>
            </a:extLst>
          </p:cNvPr>
          <p:cNvGraphicFramePr>
            <a:graphicFrameLocks noGrp="1"/>
          </p:cNvGraphicFramePr>
          <p:nvPr>
            <p:extLst/>
          </p:nvPr>
        </p:nvGraphicFramePr>
        <p:xfrm>
          <a:off x="1126672" y="2338162"/>
          <a:ext cx="9731828" cy="3500586"/>
        </p:xfrm>
        <a:graphic>
          <a:graphicData uri="http://schemas.openxmlformats.org/drawingml/2006/table">
            <a:tbl>
              <a:tblPr firstRow="1" bandRow="1">
                <a:tableStyleId>{69C7853C-536D-4A76-A0AE-DD22124D55A5}</a:tableStyleId>
              </a:tblPr>
              <a:tblGrid>
                <a:gridCol w="3515442">
                  <a:extLst>
                    <a:ext uri="{9D8B030D-6E8A-4147-A177-3AD203B41FA5}">
                      <a16:colId xmlns:a16="http://schemas.microsoft.com/office/drawing/2014/main" val="1102886967"/>
                    </a:ext>
                  </a:extLst>
                </a:gridCol>
                <a:gridCol w="3421846">
                  <a:extLst>
                    <a:ext uri="{9D8B030D-6E8A-4147-A177-3AD203B41FA5}">
                      <a16:colId xmlns:a16="http://schemas.microsoft.com/office/drawing/2014/main" val="193715012"/>
                    </a:ext>
                  </a:extLst>
                </a:gridCol>
                <a:gridCol w="2794540">
                  <a:extLst>
                    <a:ext uri="{9D8B030D-6E8A-4147-A177-3AD203B41FA5}">
                      <a16:colId xmlns:a16="http://schemas.microsoft.com/office/drawing/2014/main" val="3125240366"/>
                    </a:ext>
                  </a:extLst>
                </a:gridCol>
              </a:tblGrid>
              <a:tr h="2937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dirty="0"/>
                        <a:t>Process Action</a:t>
                      </a:r>
                      <a:endParaRPr lang="en-US" dirty="0"/>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dirty="0"/>
                        <a:t>Root WBS</a:t>
                      </a:r>
                      <a:endParaRPr lang="en-US" dirty="0"/>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dirty="0"/>
                        <a:t>WBS Element</a:t>
                      </a:r>
                      <a:endParaRPr lang="en-US" dirty="0"/>
                    </a:p>
                  </a:txBody>
                  <a:tcPr/>
                </a:tc>
                <a:extLst>
                  <a:ext uri="{0D108BD9-81ED-4DB2-BD59-A6C34878D82A}">
                    <a16:rowId xmlns:a16="http://schemas.microsoft.com/office/drawing/2014/main" val="414467477"/>
                  </a:ext>
                </a:extLst>
              </a:tr>
              <a:tr h="848908">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0" indent="0">
                        <a:buNone/>
                      </a:pPr>
                      <a:r>
                        <a:rPr lang="en-GB" dirty="0"/>
                        <a:t>4a. Release Root WBS (automatically releases sub ordinate WBS)</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REL  *AVAC</a:t>
                      </a:r>
                    </a:p>
                    <a:p>
                      <a:r>
                        <a:rPr lang="en-GB" dirty="0"/>
                        <a:t>User: REL </a:t>
                      </a: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REL  *AVAC</a:t>
                      </a:r>
                    </a:p>
                    <a:p>
                      <a:r>
                        <a:rPr lang="en-GB" dirty="0"/>
                        <a:t>User: REL </a:t>
                      </a:r>
                    </a:p>
                  </a:txBody>
                  <a:tcPr/>
                </a:tc>
                <a:extLst>
                  <a:ext uri="{0D108BD9-81ED-4DB2-BD59-A6C34878D82A}">
                    <a16:rowId xmlns:a16="http://schemas.microsoft.com/office/drawing/2014/main" val="3095091705"/>
                  </a:ext>
                </a:extLst>
              </a:tr>
              <a:tr h="653013">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4b. Release Sub Ordinate (Lower level) WBS</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PREL  *AVAC</a:t>
                      </a:r>
                    </a:p>
                    <a:p>
                      <a:r>
                        <a:rPr lang="en-GB" dirty="0"/>
                        <a:t>User: PREL </a:t>
                      </a: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REL  *AVAC</a:t>
                      </a:r>
                    </a:p>
                    <a:p>
                      <a:r>
                        <a:rPr lang="en-GB" dirty="0"/>
                        <a:t>User: REL </a:t>
                      </a:r>
                    </a:p>
                  </a:txBody>
                  <a:tcPr/>
                </a:tc>
                <a:extLst>
                  <a:ext uri="{0D108BD9-81ED-4DB2-BD59-A6C34878D82A}">
                    <a16:rowId xmlns:a16="http://schemas.microsoft.com/office/drawing/2014/main" val="797400607"/>
                  </a:ext>
                </a:extLst>
              </a:tr>
              <a:tr h="734349">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5. Set to Technically Complete (TECO)</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TECO BUDG *AVAC</a:t>
                      </a:r>
                    </a:p>
                    <a:p>
                      <a:r>
                        <a:rPr lang="en-GB" dirty="0"/>
                        <a:t>User: TECO BGRL </a:t>
                      </a:r>
                    </a:p>
                    <a:p>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TECO BUDG AVAC SETC</a:t>
                      </a:r>
                    </a:p>
                    <a:p>
                      <a:r>
                        <a:rPr lang="en-GB" dirty="0"/>
                        <a:t>User: TECO BGRL </a:t>
                      </a:r>
                    </a:p>
                  </a:txBody>
                  <a:tcPr/>
                </a:tc>
                <a:extLst>
                  <a:ext uri="{0D108BD9-81ED-4DB2-BD59-A6C34878D82A}">
                    <a16:rowId xmlns:a16="http://schemas.microsoft.com/office/drawing/2014/main" val="2051093922"/>
                  </a:ext>
                </a:extLst>
              </a:tr>
              <a:tr h="653013">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6. Close Project</a:t>
                      </a:r>
                      <a:endParaRPr lang="en-US" dirty="0"/>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CLSD</a:t>
                      </a:r>
                    </a:p>
                    <a:p>
                      <a:r>
                        <a:rPr lang="en-GB" dirty="0"/>
                        <a:t>User: CLSD</a:t>
                      </a: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dirty="0"/>
                        <a:t>System: CLSD *AVAC</a:t>
                      </a:r>
                    </a:p>
                    <a:p>
                      <a:r>
                        <a:rPr lang="en-GB" dirty="0"/>
                        <a:t>User: CLSD</a:t>
                      </a:r>
                    </a:p>
                  </a:txBody>
                  <a:tcPr/>
                </a:tc>
                <a:extLst>
                  <a:ext uri="{0D108BD9-81ED-4DB2-BD59-A6C34878D82A}">
                    <a16:rowId xmlns:a16="http://schemas.microsoft.com/office/drawing/2014/main" val="1910610389"/>
                  </a:ext>
                </a:extLst>
              </a:tr>
            </a:tbl>
          </a:graphicData>
        </a:graphic>
      </p:graphicFrame>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dirty="0"/>
              <a:t>Project Status: Example</a:t>
            </a:r>
            <a:endParaRPr lang="en-US" dirty="0"/>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descr="A close up of a logo&#10;&#10;Description generated with very high confidence">
            <a:extLst>
              <a:ext uri="{FF2B5EF4-FFF2-40B4-BE49-F238E27FC236}">
                <a16:creationId xmlns:a16="http://schemas.microsoft.com/office/drawing/2014/main" id="{D22615E5-4D5F-4B9C-83D2-8758E8D4C6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8088" y="5429760"/>
            <a:ext cx="1493985" cy="1493985"/>
          </a:xfrm>
          <a:prstGeom prst="rect">
            <a:avLst/>
          </a:prstGeom>
        </p:spPr>
      </p:pic>
      <p:sp>
        <p:nvSpPr>
          <p:cNvPr id="8" name="Rectangle 7">
            <a:extLst>
              <a:ext uri="{FF2B5EF4-FFF2-40B4-BE49-F238E27FC236}">
                <a16:creationId xmlns:a16="http://schemas.microsoft.com/office/drawing/2014/main" id="{7A15EA3F-D59B-4C50-B015-A125729429F2}"/>
              </a:ext>
            </a:extLst>
          </p:cNvPr>
          <p:cNvSpPr/>
          <p:nvPr/>
        </p:nvSpPr>
        <p:spPr>
          <a:xfrm>
            <a:off x="6095689" y="5806260"/>
            <a:ext cx="1962767" cy="707886"/>
          </a:xfrm>
          <a:prstGeom prst="rect">
            <a:avLst/>
          </a:prstGeom>
          <a:noFill/>
        </p:spPr>
        <p:txBody>
          <a:bodyPr wrap="square" lIns="91440" tIns="45720" rIns="91440" bIns="45720">
            <a:spAutoFit/>
            <a:scene3d>
              <a:camera prst="orthographicFront"/>
              <a:lightRig rig="harsh" dir="t"/>
            </a:scene3d>
            <a:sp3d prstMaterial="matte">
              <a:contourClr>
                <a:schemeClr val="bg1">
                  <a:lumMod val="65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1F4E79"/>
                </a:solidFill>
                <a:effectLst>
                  <a:outerShdw blurRad="50800" dist="38100" dir="2700000" algn="tl" rotWithShape="0">
                    <a:prstClr val="black">
                      <a:alpha val="40000"/>
                    </a:prstClr>
                  </a:outerShdw>
                </a:effectLst>
                <a:uLnTx/>
                <a:uFillTx/>
                <a:latin typeface="Calibri" panose="020F0502020204030204" pitchFamily="34" charset="0"/>
                <a:ea typeface="+mn-ea"/>
                <a:cs typeface="Calibri" panose="020F0502020204030204" pitchFamily="34" charset="0"/>
              </a:rPr>
              <a:t>SAP GUI</a:t>
            </a:r>
          </a:p>
        </p:txBody>
      </p:sp>
      <p:sp>
        <p:nvSpPr>
          <p:cNvPr id="9" name="TextBox 8">
            <a:extLst>
              <a:ext uri="{FF2B5EF4-FFF2-40B4-BE49-F238E27FC236}">
                <a16:creationId xmlns:a16="http://schemas.microsoft.com/office/drawing/2014/main" id="{AC01A66F-A690-474A-8753-698B51F8C0FC}"/>
              </a:ext>
            </a:extLst>
          </p:cNvPr>
          <p:cNvSpPr txBox="1"/>
          <p:nvPr/>
        </p:nvSpPr>
        <p:spPr>
          <a:xfrm>
            <a:off x="368300" y="6022885"/>
            <a:ext cx="90805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*AVAC if Budget assigned and approved</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2DB142C6-D592-4AA4-9540-C68BF31A8C42}"/>
              </a:ext>
            </a:extLst>
          </p:cNvPr>
          <p:cNvSpPr/>
          <p:nvPr/>
        </p:nvSpPr>
        <p:spPr>
          <a:xfrm>
            <a:off x="532487" y="1519514"/>
            <a:ext cx="11259172" cy="540086"/>
          </a:xfrm>
          <a:prstGeom prst="roundRect">
            <a:avLst/>
          </a:prstGeom>
          <a:gradFill flip="none" rotWithShape="1">
            <a:gsLst>
              <a:gs pos="0">
                <a:srgbClr val="30AFAA"/>
              </a:gs>
              <a:gs pos="48000">
                <a:srgbClr val="78DAD6"/>
              </a:gs>
              <a:gs pos="100000">
                <a:srgbClr val="ACE8E6"/>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2" name="Group 11">
            <a:extLst>
              <a:ext uri="{FF2B5EF4-FFF2-40B4-BE49-F238E27FC236}">
                <a16:creationId xmlns:a16="http://schemas.microsoft.com/office/drawing/2014/main" id="{81322D8A-412E-460B-970E-AF0DE29405AF}"/>
              </a:ext>
            </a:extLst>
          </p:cNvPr>
          <p:cNvGrpSpPr/>
          <p:nvPr/>
        </p:nvGrpSpPr>
        <p:grpSpPr>
          <a:xfrm>
            <a:off x="19037" y="1530535"/>
            <a:ext cx="10991234" cy="445564"/>
            <a:chOff x="19037" y="1530535"/>
            <a:chExt cx="10991234" cy="445564"/>
          </a:xfrm>
        </p:grpSpPr>
        <p:pic>
          <p:nvPicPr>
            <p:cNvPr id="13" name="Graphic 12" descr="Lightbulb and gear">
              <a:extLst>
                <a:ext uri="{FF2B5EF4-FFF2-40B4-BE49-F238E27FC236}">
                  <a16:creationId xmlns:a16="http://schemas.microsoft.com/office/drawing/2014/main" id="{97887E3F-8CBA-46C5-93F4-126C9721AA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1108" y="1530535"/>
              <a:ext cx="445564" cy="445564"/>
            </a:xfrm>
            <a:prstGeom prst="rect">
              <a:avLst/>
            </a:prstGeom>
          </p:spPr>
        </p:pic>
        <p:sp>
          <p:nvSpPr>
            <p:cNvPr id="15" name="Rectangle 14">
              <a:extLst>
                <a:ext uri="{FF2B5EF4-FFF2-40B4-BE49-F238E27FC236}">
                  <a16:creationId xmlns:a16="http://schemas.microsoft.com/office/drawing/2014/main" id="{95F82DCD-28A2-4D5E-A877-F94D389FF878}"/>
                </a:ext>
              </a:extLst>
            </p:cNvPr>
            <p:cNvSpPr/>
            <p:nvPr/>
          </p:nvSpPr>
          <p:spPr>
            <a:xfrm>
              <a:off x="19037" y="1637545"/>
              <a:ext cx="10991234"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All other status changes are performed in CJ20N in SAP GUI, under More </a:t>
              </a:r>
              <a:r>
                <a:rPr kumimoji="0" lang="en-US"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sym typeface="Wingdings" panose="05000000000000000000" pitchFamily="2" charset="2"/>
                </a:rPr>
                <a:t> </a:t>
              </a:r>
              <a:r>
                <a:rPr kumimoji="0" lang="en-US"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Edit </a:t>
              </a:r>
              <a:r>
                <a:rPr kumimoji="0" lang="en-US"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sym typeface="Wingdings" panose="05000000000000000000" pitchFamily="2" charset="2"/>
                </a:rPr>
                <a:t></a:t>
              </a:r>
              <a:r>
                <a:rPr kumimoji="0" lang="en-US" sz="16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Status</a:t>
              </a:r>
            </a:p>
          </p:txBody>
        </p:sp>
      </p:grpSp>
    </p:spTree>
    <p:extLst>
      <p:ext uri="{BB962C8B-B14F-4D97-AF65-F5344CB8AC3E}">
        <p14:creationId xmlns:p14="http://schemas.microsoft.com/office/powerpoint/2010/main" val="3222039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dirty="0"/>
              <a:t>Project Status: Lock/Unlock WBS Elements</a:t>
            </a:r>
            <a:endParaRPr lang="en-US" dirty="0"/>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1D1C03B3-2D21-42F3-A6E5-38F22E106E7F}"/>
              </a:ext>
            </a:extLst>
          </p:cNvPr>
          <p:cNvPicPr>
            <a:picLocks noChangeAspect="1"/>
          </p:cNvPicPr>
          <p:nvPr/>
        </p:nvPicPr>
        <p:blipFill>
          <a:blip r:embed="rId2"/>
          <a:stretch>
            <a:fillRect/>
          </a:stretch>
        </p:blipFill>
        <p:spPr>
          <a:xfrm>
            <a:off x="1200070" y="2782283"/>
            <a:ext cx="3244964" cy="3092550"/>
          </a:xfrm>
          <a:prstGeom prst="rect">
            <a:avLst/>
          </a:prstGeom>
        </p:spPr>
      </p:pic>
      <p:grpSp>
        <p:nvGrpSpPr>
          <p:cNvPr id="8" name="Group 7">
            <a:extLst>
              <a:ext uri="{FF2B5EF4-FFF2-40B4-BE49-F238E27FC236}">
                <a16:creationId xmlns:a16="http://schemas.microsoft.com/office/drawing/2014/main" id="{E9FD7431-76B6-4F3B-AC9A-9B3FCA502469}"/>
              </a:ext>
            </a:extLst>
          </p:cNvPr>
          <p:cNvGrpSpPr/>
          <p:nvPr/>
        </p:nvGrpSpPr>
        <p:grpSpPr>
          <a:xfrm>
            <a:off x="5359288" y="2782283"/>
            <a:ext cx="5507514" cy="3134272"/>
            <a:chOff x="5622013" y="2732547"/>
            <a:chExt cx="5507514" cy="3893526"/>
          </a:xfrm>
        </p:grpSpPr>
        <p:sp>
          <p:nvSpPr>
            <p:cNvPr id="9" name="Rectangle 8">
              <a:extLst>
                <a:ext uri="{FF2B5EF4-FFF2-40B4-BE49-F238E27FC236}">
                  <a16:creationId xmlns:a16="http://schemas.microsoft.com/office/drawing/2014/main" id="{8BBFFE12-8198-43AE-A45A-54AE20DF53E4}"/>
                </a:ext>
              </a:extLst>
            </p:cNvPr>
            <p:cNvSpPr/>
            <p:nvPr/>
          </p:nvSpPr>
          <p:spPr>
            <a:xfrm>
              <a:off x="5622013" y="2732547"/>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MDLK</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955B7B65-8FEE-4704-93FE-6632A872B624}"/>
                </a:ext>
              </a:extLst>
            </p:cNvPr>
            <p:cNvSpPr/>
            <p:nvPr/>
          </p:nvSpPr>
          <p:spPr>
            <a:xfrm>
              <a:off x="5622013" y="3415969"/>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DDLK</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A1F61C6C-BBAD-439F-A7B1-D6CC4827A9DE}"/>
                </a:ext>
              </a:extLst>
            </p:cNvPr>
            <p:cNvSpPr/>
            <p:nvPr/>
          </p:nvSpPr>
          <p:spPr>
            <a:xfrm>
              <a:off x="5622013" y="4783955"/>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BMLK</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5A852DFA-984B-4E03-B36B-BCD8930ACB64}"/>
                </a:ext>
              </a:extLst>
            </p:cNvPr>
            <p:cNvSpPr/>
            <p:nvPr/>
          </p:nvSpPr>
          <p:spPr>
            <a:xfrm>
              <a:off x="5622013" y="5468519"/>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AALK</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EE922919-3F86-4541-8B6F-618E1F5B66D0}"/>
                </a:ext>
              </a:extLst>
            </p:cNvPr>
            <p:cNvSpPr/>
            <p:nvPr/>
          </p:nvSpPr>
          <p:spPr>
            <a:xfrm>
              <a:off x="5622013" y="6153083"/>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LKD</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4" name="TextBox 13">
              <a:extLst>
                <a:ext uri="{FF2B5EF4-FFF2-40B4-BE49-F238E27FC236}">
                  <a16:creationId xmlns:a16="http://schemas.microsoft.com/office/drawing/2014/main" id="{0E13B28D-CDAA-4543-BFB4-A63BD11B97DE}"/>
                </a:ext>
              </a:extLst>
            </p:cNvPr>
            <p:cNvSpPr txBox="1"/>
            <p:nvPr/>
          </p:nvSpPr>
          <p:spPr>
            <a:xfrm>
              <a:off x="6938312" y="2784376"/>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Master Data Locked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77E3857C-0F30-486D-9BF2-6728711FFD81}"/>
                </a:ext>
              </a:extLst>
            </p:cNvPr>
            <p:cNvSpPr/>
            <p:nvPr/>
          </p:nvSpPr>
          <p:spPr>
            <a:xfrm>
              <a:off x="5622013" y="4099391"/>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Arial" panose="020B0604020202020204"/>
                  <a:ea typeface="+mn-ea"/>
                  <a:cs typeface="+mn-cs"/>
                </a:rPr>
                <a:t>PLLK</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BBBF5135-D468-4A23-BC6E-0041AF8E2E11}"/>
                </a:ext>
              </a:extLst>
            </p:cNvPr>
            <p:cNvSpPr txBox="1"/>
            <p:nvPr/>
          </p:nvSpPr>
          <p:spPr>
            <a:xfrm>
              <a:off x="6938311" y="3467798"/>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Date Definition Locked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A10DDFD2-A882-414E-BA93-14DE0B40DC77}"/>
                </a:ext>
              </a:extLst>
            </p:cNvPr>
            <p:cNvSpPr txBox="1"/>
            <p:nvPr/>
          </p:nvSpPr>
          <p:spPr>
            <a:xfrm>
              <a:off x="6938311" y="4151220"/>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Planning Locked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1837E27B-1187-42B8-A56E-6C247F87B84F}"/>
                </a:ext>
              </a:extLst>
            </p:cNvPr>
            <p:cNvSpPr txBox="1"/>
            <p:nvPr/>
          </p:nvSpPr>
          <p:spPr>
            <a:xfrm>
              <a:off x="6938310" y="4835784"/>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Budget Management Locked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2E199D31-1C91-41D2-8B67-B73F0DD804CE}"/>
                </a:ext>
              </a:extLst>
            </p:cNvPr>
            <p:cNvSpPr txBox="1"/>
            <p:nvPr/>
          </p:nvSpPr>
          <p:spPr>
            <a:xfrm>
              <a:off x="6938309" y="5520348"/>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Account Assignment Locked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F3F84FF9-A25A-4501-A4C9-A484EE689B07}"/>
                </a:ext>
              </a:extLst>
            </p:cNvPr>
            <p:cNvSpPr txBox="1"/>
            <p:nvPr/>
          </p:nvSpPr>
          <p:spPr>
            <a:xfrm>
              <a:off x="6938309" y="6204912"/>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All Locked </a:t>
              </a:r>
              <a:r>
                <a:rPr kumimoji="0" lang="en-GB" sz="1800" b="0" i="0" u="none" strike="noStrike" kern="0" cap="none" spc="0" normalizeH="0" baseline="0" noProof="0" dirty="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dirty="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grpSp>
      <p:sp>
        <p:nvSpPr>
          <p:cNvPr id="21" name="Rectangle: Rounded Corners 20">
            <a:extLst>
              <a:ext uri="{FF2B5EF4-FFF2-40B4-BE49-F238E27FC236}">
                <a16:creationId xmlns:a16="http://schemas.microsoft.com/office/drawing/2014/main" id="{2F33FA97-08D4-4D4D-A854-CC40EC5E65A3}"/>
              </a:ext>
            </a:extLst>
          </p:cNvPr>
          <p:cNvSpPr/>
          <p:nvPr/>
        </p:nvSpPr>
        <p:spPr>
          <a:xfrm>
            <a:off x="515939" y="1382358"/>
            <a:ext cx="11259172" cy="97723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3" name="Group 2">
            <a:extLst>
              <a:ext uri="{FF2B5EF4-FFF2-40B4-BE49-F238E27FC236}">
                <a16:creationId xmlns:a16="http://schemas.microsoft.com/office/drawing/2014/main" id="{CFFDE06D-516C-4EC2-B746-0E1BBBFBD22B}"/>
              </a:ext>
            </a:extLst>
          </p:cNvPr>
          <p:cNvGrpSpPr/>
          <p:nvPr/>
        </p:nvGrpSpPr>
        <p:grpSpPr>
          <a:xfrm>
            <a:off x="561095" y="1382358"/>
            <a:ext cx="11325407" cy="803597"/>
            <a:chOff x="561095" y="1382358"/>
            <a:chExt cx="11325407" cy="803597"/>
          </a:xfrm>
        </p:grpSpPr>
        <p:pic>
          <p:nvPicPr>
            <p:cNvPr id="22" name="Graphic 21" descr="Lightbulb and gear">
              <a:extLst>
                <a:ext uri="{FF2B5EF4-FFF2-40B4-BE49-F238E27FC236}">
                  <a16:creationId xmlns:a16="http://schemas.microsoft.com/office/drawing/2014/main" id="{9B29B042-0E71-4CA2-8407-30362E6B50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1095" y="1382358"/>
              <a:ext cx="445564" cy="445564"/>
            </a:xfrm>
            <a:prstGeom prst="rect">
              <a:avLst/>
            </a:prstGeom>
          </p:spPr>
        </p:pic>
        <p:sp>
          <p:nvSpPr>
            <p:cNvPr id="23" name="Rectangle 22">
              <a:extLst>
                <a:ext uri="{FF2B5EF4-FFF2-40B4-BE49-F238E27FC236}">
                  <a16:creationId xmlns:a16="http://schemas.microsoft.com/office/drawing/2014/main" id="{D500C597-F2C3-46D7-91CE-F1B7EC707014}"/>
                </a:ext>
              </a:extLst>
            </p:cNvPr>
            <p:cNvSpPr/>
            <p:nvPr/>
          </p:nvSpPr>
          <p:spPr>
            <a:xfrm>
              <a:off x="895268" y="1447291"/>
              <a:ext cx="10991234" cy="73866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It is possible to Lock WBS elements so that certain actions cannot be performed or changes made to a specific WBS element.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For example, if a WBS element is created in error but budget has been assigned at one point, it is not possible to delete that WBS. It then becomes important to be able to lock this WBS. </a:t>
              </a:r>
            </a:p>
          </p:txBody>
        </p:sp>
      </p:grpSp>
    </p:spTree>
    <p:extLst>
      <p:ext uri="{BB962C8B-B14F-4D97-AF65-F5344CB8AC3E}">
        <p14:creationId xmlns:p14="http://schemas.microsoft.com/office/powerpoint/2010/main" val="3869788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0D4E-131C-4658-883B-FC873434006B}"/>
              </a:ext>
            </a:extLst>
          </p:cNvPr>
          <p:cNvSpPr>
            <a:spLocks noGrp="1"/>
          </p:cNvSpPr>
          <p:nvPr>
            <p:ph type="title"/>
          </p:nvPr>
        </p:nvSpPr>
        <p:spPr/>
        <p:txBody>
          <a:bodyPr/>
          <a:lstStyle/>
          <a:p>
            <a:r>
              <a:rPr lang="en-GB" dirty="0"/>
              <a:t>Project Builder Basic Navigation</a:t>
            </a:r>
            <a:endParaRPr lang="en-US" dirty="0"/>
          </a:p>
        </p:txBody>
      </p:sp>
      <p:sp>
        <p:nvSpPr>
          <p:cNvPr id="4" name="Footer Placeholder 3">
            <a:extLst>
              <a:ext uri="{FF2B5EF4-FFF2-40B4-BE49-F238E27FC236}">
                <a16:creationId xmlns:a16="http://schemas.microsoft.com/office/drawing/2014/main" id="{24477E87-1E19-4C42-AC88-62B19C05092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D4AD82F-5A54-4EBC-9F19-86C8B70571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D2DBC651-9281-4321-AC9A-DE771B10C855}"/>
              </a:ext>
            </a:extLst>
          </p:cNvPr>
          <p:cNvGrpSpPr/>
          <p:nvPr/>
        </p:nvGrpSpPr>
        <p:grpSpPr>
          <a:xfrm>
            <a:off x="402906" y="1376465"/>
            <a:ext cx="11386188" cy="5312562"/>
            <a:chOff x="389430" y="1519580"/>
            <a:chExt cx="11299545" cy="5312562"/>
          </a:xfrm>
        </p:grpSpPr>
        <p:sp>
          <p:nvSpPr>
            <p:cNvPr id="12" name="Rectangle: Rounded Corners 11">
              <a:extLst>
                <a:ext uri="{FF2B5EF4-FFF2-40B4-BE49-F238E27FC236}">
                  <a16:creationId xmlns:a16="http://schemas.microsoft.com/office/drawing/2014/main" id="{31F27DE6-9A50-45F9-829D-FE2B180B636E}"/>
                </a:ext>
              </a:extLst>
            </p:cNvPr>
            <p:cNvSpPr/>
            <p:nvPr/>
          </p:nvSpPr>
          <p:spPr>
            <a:xfrm>
              <a:off x="389430" y="1589888"/>
              <a:ext cx="3781877" cy="5057767"/>
            </a:xfrm>
            <a:prstGeom prst="roundRect">
              <a:avLst/>
            </a:prstGeom>
            <a:solidFill>
              <a:srgbClr val="88D5B8">
                <a:lumMod val="60000"/>
                <a:lumOff val="4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nvGrpSpPr>
            <p:cNvPr id="13" name="Group 12">
              <a:extLst>
                <a:ext uri="{FF2B5EF4-FFF2-40B4-BE49-F238E27FC236}">
                  <a16:creationId xmlns:a16="http://schemas.microsoft.com/office/drawing/2014/main" id="{8E7F33BA-9ED1-4169-9FC9-7DAFAAE3CF2E}"/>
                </a:ext>
              </a:extLst>
            </p:cNvPr>
            <p:cNvGrpSpPr/>
            <p:nvPr/>
          </p:nvGrpSpPr>
          <p:grpSpPr>
            <a:xfrm>
              <a:off x="503024" y="1519580"/>
              <a:ext cx="11185951" cy="5312562"/>
              <a:chOff x="503024" y="1519580"/>
              <a:chExt cx="11185951" cy="5312562"/>
            </a:xfrm>
          </p:grpSpPr>
          <p:sp>
            <p:nvSpPr>
              <p:cNvPr id="14" name="TextBox 13">
                <a:extLst>
                  <a:ext uri="{FF2B5EF4-FFF2-40B4-BE49-F238E27FC236}">
                    <a16:creationId xmlns:a16="http://schemas.microsoft.com/office/drawing/2014/main" id="{18F47C0E-BE2D-4187-BAE8-C0BFE6B0417D}"/>
                  </a:ext>
                </a:extLst>
              </p:cNvPr>
              <p:cNvSpPr txBox="1"/>
              <p:nvPr/>
            </p:nvSpPr>
            <p:spPr>
              <a:xfrm>
                <a:off x="503024" y="1692273"/>
                <a:ext cx="3575815" cy="5139869"/>
              </a:xfrm>
              <a:prstGeom prst="rect">
                <a:avLst/>
              </a:prstGeom>
              <a:noFill/>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sng"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Project Builder CJ20N</a:t>
                </a:r>
                <a:r>
                  <a:rPr kumimoji="0" lang="en-GB" sz="1200" b="0" i="0" u="sng"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 </a:t>
                </a:r>
                <a:r>
                  <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is used to change the status of Project and Project WBS Elements beginning with setting status to Release. </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200" b="1"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sng"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Project Structure </a:t>
                </a:r>
                <a:r>
                  <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shows the project hierarchy including Project Definition, Structure WBS Elements and WBS Elements. </a:t>
                </a:r>
                <a:r>
                  <a:rPr kumimoji="0" lang="en-US"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You can display the full hierarchical project structure and navigate to individual WBS elements within it</a:t>
                </a:r>
                <a:endPar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sng" strike="noStrike" kern="0" cap="none" spc="0" normalizeH="0" baseline="0" noProof="0" dirty="0" err="1">
                    <a:ln>
                      <a:noFill/>
                    </a:ln>
                    <a:solidFill>
                      <a:srgbClr val="000000"/>
                    </a:solidFill>
                    <a:effectLst/>
                    <a:uLnTx/>
                    <a:uFillTx/>
                    <a:latin typeface="Arial" panose="020B0604020202020204"/>
                    <a:ea typeface="ＭＳ Ｐゴシック" pitchFamily="80" charset="-128"/>
                    <a:cs typeface="+mn-cs"/>
                  </a:rPr>
                  <a:t>WorkList</a:t>
                </a:r>
                <a:r>
                  <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 shows list of Projects in a users history</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sng"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Identification view </a:t>
                </a:r>
                <a:r>
                  <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shows the WBS specific details, such as Master Data, status and organisation details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none" strike="noStrike" kern="0" cap="none" spc="0" normalizeH="0" baseline="0" noProof="0" dirty="0">
                    <a:ln>
                      <a:noFill/>
                    </a:ln>
                    <a:solidFill>
                      <a:srgbClr val="FF0000"/>
                    </a:solidFill>
                    <a:effectLst/>
                    <a:uLnTx/>
                    <a:uFillTx/>
                    <a:latin typeface="Arial" panose="020B0604020202020204"/>
                    <a:ea typeface="ＭＳ Ｐゴシック" pitchFamily="80" charset="-128"/>
                    <a:cs typeface="+mn-cs"/>
                  </a:rPr>
                  <a:t>ATTENTION! Ensure the required WBS is selected in the hierarchy to ensure the data for THAT WBS is displayed in the Identification and View Selection display panel.</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rPr>
                  <a:t>Select the WBS Element to change status. Go to More </a:t>
                </a:r>
                <a:r>
                  <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rPr>
                  <a:t> Edit  Status  Release etc</a:t>
                </a:r>
                <a:endParaRPr kumimoji="0" lang="en-GB" sz="1200" b="0" i="0" u="none" strike="noStrike" kern="0" cap="none" spc="0" normalizeH="0" baseline="0" noProof="0" dirty="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400" b="0" i="0" u="none" strike="noStrike" kern="0" cap="none" spc="0" normalizeH="0" baseline="0" noProof="0" dirty="0">
                  <a:ln>
                    <a:noFill/>
                  </a:ln>
                  <a:solidFill>
                    <a:srgbClr val="FFFFFF"/>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US" sz="1400" b="0" i="0" u="none" strike="noStrike" kern="0" cap="none" spc="0" normalizeH="0" baseline="0" noProof="0" dirty="0">
                  <a:ln>
                    <a:noFill/>
                  </a:ln>
                  <a:solidFill>
                    <a:srgbClr val="FFFFFF"/>
                  </a:solidFill>
                  <a:effectLst/>
                  <a:uLnTx/>
                  <a:uFillTx/>
                  <a:latin typeface="Arial" panose="020B0604020202020204"/>
                  <a:ea typeface="ＭＳ Ｐゴシック" pitchFamily="80" charset="-128"/>
                  <a:cs typeface="+mn-cs"/>
                </a:endParaRPr>
              </a:p>
            </p:txBody>
          </p:sp>
          <p:pic>
            <p:nvPicPr>
              <p:cNvPr id="15" name="Picture 14">
                <a:extLst>
                  <a:ext uri="{FF2B5EF4-FFF2-40B4-BE49-F238E27FC236}">
                    <a16:creationId xmlns:a16="http://schemas.microsoft.com/office/drawing/2014/main" id="{D72480C4-6603-48A1-82D1-4A79F0909764}"/>
                  </a:ext>
                </a:extLst>
              </p:cNvPr>
              <p:cNvPicPr>
                <a:picLocks noChangeAspect="1"/>
              </p:cNvPicPr>
              <p:nvPr/>
            </p:nvPicPr>
            <p:blipFill>
              <a:blip r:embed="rId2"/>
              <a:stretch>
                <a:fillRect/>
              </a:stretch>
            </p:blipFill>
            <p:spPr>
              <a:xfrm>
                <a:off x="4254589" y="1519580"/>
                <a:ext cx="7434386" cy="4162029"/>
              </a:xfrm>
              <a:prstGeom prst="rect">
                <a:avLst/>
              </a:prstGeom>
            </p:spPr>
          </p:pic>
          <p:cxnSp>
            <p:nvCxnSpPr>
              <p:cNvPr id="16" name="Straight Arrow Connector 15">
                <a:extLst>
                  <a:ext uri="{FF2B5EF4-FFF2-40B4-BE49-F238E27FC236}">
                    <a16:creationId xmlns:a16="http://schemas.microsoft.com/office/drawing/2014/main" id="{072F88D6-3A9E-4B98-9105-79457E7CE380}"/>
                  </a:ext>
                </a:extLst>
              </p:cNvPr>
              <p:cNvCxnSpPr>
                <a:cxnSpLocks/>
              </p:cNvCxnSpPr>
              <p:nvPr/>
            </p:nvCxnSpPr>
            <p:spPr>
              <a:xfrm flipV="1">
                <a:off x="3410441" y="2819469"/>
                <a:ext cx="1017721" cy="1994087"/>
              </a:xfrm>
              <a:prstGeom prst="straightConnector1">
                <a:avLst/>
              </a:prstGeom>
              <a:noFill/>
              <a:ln w="31750" cap="flat" cmpd="sng" algn="ctr">
                <a:solidFill>
                  <a:srgbClr val="00BDB7"/>
                </a:solidFill>
                <a:prstDash val="solid"/>
                <a:miter lim="800000"/>
                <a:tailEnd type="triangle"/>
              </a:ln>
              <a:effectLst/>
            </p:spPr>
          </p:cxnSp>
          <p:cxnSp>
            <p:nvCxnSpPr>
              <p:cNvPr id="17" name="Straight Arrow Connector 16">
                <a:extLst>
                  <a:ext uri="{FF2B5EF4-FFF2-40B4-BE49-F238E27FC236}">
                    <a16:creationId xmlns:a16="http://schemas.microsoft.com/office/drawing/2014/main" id="{EBBA5811-7E3E-4D66-BE95-343899D3D51A}"/>
                  </a:ext>
                </a:extLst>
              </p:cNvPr>
              <p:cNvCxnSpPr>
                <a:cxnSpLocks/>
              </p:cNvCxnSpPr>
              <p:nvPr/>
            </p:nvCxnSpPr>
            <p:spPr>
              <a:xfrm flipV="1">
                <a:off x="3410441" y="4232953"/>
                <a:ext cx="3093101" cy="572621"/>
              </a:xfrm>
              <a:prstGeom prst="straightConnector1">
                <a:avLst/>
              </a:prstGeom>
              <a:noFill/>
              <a:ln w="31750" cap="flat" cmpd="sng" algn="ctr">
                <a:solidFill>
                  <a:srgbClr val="00BDB7"/>
                </a:solidFill>
                <a:prstDash val="solid"/>
                <a:miter lim="800000"/>
                <a:tailEnd type="triangle"/>
              </a:ln>
              <a:effectLst/>
            </p:spPr>
          </p:cxnSp>
        </p:grpSp>
      </p:grpSp>
      <p:pic>
        <p:nvPicPr>
          <p:cNvPr id="18" name="Picture 17">
            <a:extLst>
              <a:ext uri="{FF2B5EF4-FFF2-40B4-BE49-F238E27FC236}">
                <a16:creationId xmlns:a16="http://schemas.microsoft.com/office/drawing/2014/main" id="{9640040B-EC74-44CD-88B0-DE76820991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135" y="5165727"/>
            <a:ext cx="545777" cy="545777"/>
          </a:xfrm>
          <a:prstGeom prst="rect">
            <a:avLst/>
          </a:prstGeom>
        </p:spPr>
      </p:pic>
      <p:pic>
        <p:nvPicPr>
          <p:cNvPr id="3" name="Picture 2">
            <a:extLst>
              <a:ext uri="{FF2B5EF4-FFF2-40B4-BE49-F238E27FC236}">
                <a16:creationId xmlns:a16="http://schemas.microsoft.com/office/drawing/2014/main" id="{7C7E6569-F399-493F-B826-570F2B38E7DB}"/>
              </a:ext>
            </a:extLst>
          </p:cNvPr>
          <p:cNvPicPr>
            <a:picLocks noChangeAspect="1"/>
          </p:cNvPicPr>
          <p:nvPr/>
        </p:nvPicPr>
        <p:blipFill>
          <a:blip r:embed="rId4"/>
          <a:stretch>
            <a:fillRect/>
          </a:stretch>
        </p:blipFill>
        <p:spPr>
          <a:xfrm>
            <a:off x="7678947" y="1519580"/>
            <a:ext cx="4210266" cy="1397072"/>
          </a:xfrm>
          <a:prstGeom prst="rect">
            <a:avLst/>
          </a:prstGeom>
          <a:ln w="28575">
            <a:solidFill>
              <a:srgbClr val="00BDB7"/>
            </a:solidFill>
            <a:prstDash val="dash"/>
          </a:ln>
        </p:spPr>
      </p:pic>
      <p:cxnSp>
        <p:nvCxnSpPr>
          <p:cNvPr id="19" name="Straight Arrow Connector 18">
            <a:extLst>
              <a:ext uri="{FF2B5EF4-FFF2-40B4-BE49-F238E27FC236}">
                <a16:creationId xmlns:a16="http://schemas.microsoft.com/office/drawing/2014/main" id="{1E2BBB0A-8C64-4312-AB54-CEFDE50E5F97}"/>
              </a:ext>
            </a:extLst>
          </p:cNvPr>
          <p:cNvCxnSpPr>
            <a:cxnSpLocks/>
          </p:cNvCxnSpPr>
          <p:nvPr/>
        </p:nvCxnSpPr>
        <p:spPr>
          <a:xfrm flipV="1">
            <a:off x="3769360" y="2092960"/>
            <a:ext cx="4050153" cy="3879572"/>
          </a:xfrm>
          <a:prstGeom prst="straightConnector1">
            <a:avLst/>
          </a:prstGeom>
          <a:noFill/>
          <a:ln w="31750" cap="flat" cmpd="sng" algn="ctr">
            <a:solidFill>
              <a:srgbClr val="00BDB7"/>
            </a:solidFill>
            <a:prstDash val="solid"/>
            <a:miter lim="800000"/>
            <a:tailEnd type="triangle"/>
          </a:ln>
          <a:effectLst/>
        </p:spPr>
      </p:cxnSp>
    </p:spTree>
    <p:extLst>
      <p:ext uri="{BB962C8B-B14F-4D97-AF65-F5344CB8AC3E}">
        <p14:creationId xmlns:p14="http://schemas.microsoft.com/office/powerpoint/2010/main" val="1759719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dirty="0"/>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Exercise 1.8:</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1" i="0" u="none" strike="noStrike" kern="1200" cap="none" spc="0" normalizeH="0" baseline="0" noProof="0" dirty="0">
                <a:ln>
                  <a:noFill/>
                </a:ln>
                <a:solidFill>
                  <a:srgbClr val="000000"/>
                </a:solidFill>
                <a:effectLst/>
                <a:uLnTx/>
                <a:uFillTx/>
                <a:latin typeface="Arial" panose="020B0604020202020204"/>
                <a:ea typeface="+mn-ea"/>
                <a:cs typeface="Arial"/>
              </a:rPr>
              <a:t>CJ20N – Project Builder – </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Arial"/>
              </a:rPr>
              <a:t>Set WBS Status to Released (REL)</a:t>
            </a:r>
            <a:endParaRPr kumimoji="0" lang="en-GB" sz="1600" b="1" i="0" u="none" strike="noStrike" kern="1200" cap="none" spc="0" normalizeH="0" baseline="0" noProof="0" dirty="0">
              <a:ln>
                <a:noFill/>
              </a:ln>
              <a:solidFill>
                <a:srgbClr val="000000"/>
              </a:solidFill>
              <a:effectLst/>
              <a:uLnTx/>
              <a:uFillTx/>
              <a:latin typeface="Arial" panose="020B0604020202020204"/>
              <a:ea typeface="+mn-ea"/>
              <a:cs typeface="Arial"/>
            </a:endParaRPr>
          </a:p>
        </p:txBody>
      </p:sp>
    </p:spTree>
    <p:extLst>
      <p:ext uri="{BB962C8B-B14F-4D97-AF65-F5344CB8AC3E}">
        <p14:creationId xmlns:p14="http://schemas.microsoft.com/office/powerpoint/2010/main" val="40018335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nsZEfql.UEc4aecHaoopIA"/>
</p:tagLst>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1CEB321C-E605-4461-8833-4D9D348FDBF6}"/>
</file>

<file path=customXml/itemProps2.xml><?xml version="1.0" encoding="utf-8"?>
<ds:datastoreItem xmlns:ds="http://schemas.openxmlformats.org/officeDocument/2006/customXml" ds:itemID="{8C2D7E0D-D594-4DDA-91D3-5AAFBAC1D1E4}">
  <ds:schemaRefs>
    <ds:schemaRef ds:uri="http://schemas.microsoft.com/sharepoint/v3/contenttype/forms"/>
  </ds:schemaRefs>
</ds:datastoreItem>
</file>

<file path=customXml/itemProps3.xml><?xml version="1.0" encoding="utf-8"?>
<ds:datastoreItem xmlns:ds="http://schemas.openxmlformats.org/officeDocument/2006/customXml" ds:itemID="{D0E0D8B2-7243-487F-A601-FF23C7050B65}">
  <ds:schemaRefs>
    <ds:schemaRef ds:uri="da913ec1-a210-4093-97d6-83558d020e4c"/>
    <ds:schemaRef ds:uri="http://purl.org/dc/elements/1.1/"/>
    <ds:schemaRef ds:uri="http://schemas.microsoft.com/office/2006/metadata/properties"/>
    <ds:schemaRef ds:uri="033d2065-0f41-4cc7-b07b-20f12998cf8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1237</Words>
  <Application>Microsoft Office PowerPoint</Application>
  <PresentationFormat>Widescreen</PresentationFormat>
  <Paragraphs>177</Paragraphs>
  <Slides>10</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7" baseType="lpstr">
      <vt:lpstr>Arial</vt:lpstr>
      <vt:lpstr>Calibri</vt:lpstr>
      <vt:lpstr>Courier New</vt:lpstr>
      <vt:lpstr>Georgia</vt:lpstr>
      <vt:lpstr>Wingdings</vt:lpstr>
      <vt:lpstr>S4F-ERP G&amp;A &amp; Marketing Cost Management</vt:lpstr>
      <vt:lpstr>think-cell Slide</vt:lpstr>
      <vt:lpstr>Course Structure</vt:lpstr>
      <vt:lpstr>Project Status</vt:lpstr>
      <vt:lpstr>Project Status: System Status</vt:lpstr>
      <vt:lpstr>Project Status: System Status</vt:lpstr>
      <vt:lpstr>Project Status: System and User Status</vt:lpstr>
      <vt:lpstr>Project Status: Example</vt:lpstr>
      <vt:lpstr>Project Status: Example</vt:lpstr>
      <vt:lpstr>Project Status: Lock/Unlock WBS Elements</vt:lpstr>
      <vt:lpstr>Project Builder Basic Navigation</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O'Neill, Shauna</cp:lastModifiedBy>
  <cp:revision>1</cp:revision>
  <dcterms:created xsi:type="dcterms:W3CDTF">2019-10-13T15:15:55Z</dcterms:created>
  <dcterms:modified xsi:type="dcterms:W3CDTF">2020-01-14T12:09:56Z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1281500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