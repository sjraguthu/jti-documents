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16"/>
  </p:notesMasterIdLst>
  <p:sldIdLst>
    <p:sldId id="3311" r:id="rId7"/>
    <p:sldId id="3294" r:id="rId8"/>
    <p:sldId id="3307" r:id="rId9"/>
    <p:sldId id="3309" r:id="rId10"/>
    <p:sldId id="3310" r:id="rId11"/>
    <p:sldId id="2561" r:id="rId12"/>
    <p:sldId id="2147477287" r:id="rId13"/>
    <p:sldId id="2147477288" r:id="rId14"/>
    <p:sldId id="263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D775C0-3F43-4E56-B7BD-E034F8F7E2DD}" v="1" dt="2024-04-25T18:20:56.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5EFFFE12-321A-499C-A52D-CBD5F4678CDD}"/>
    <pc:docChg chg="addSld delSld modSld delMainMaster">
      <pc:chgData name="Wang, Wei" userId="627587dd-935f-4f2b-a6c6-edd4e0dcbff5" providerId="ADAL" clId="{5EFFFE12-321A-499C-A52D-CBD5F4678CDD}" dt="2020-06-03T09:56:51.340" v="116" actId="14100"/>
      <pc:docMkLst>
        <pc:docMk/>
      </pc:docMkLst>
      <pc:sldChg chg="modSp add del">
        <pc:chgData name="Wang, Wei" userId="627587dd-935f-4f2b-a6c6-edd4e0dcbff5" providerId="ADAL" clId="{5EFFFE12-321A-499C-A52D-CBD5F4678CDD}" dt="2020-05-22T10:47:09.680" v="108" actId="14100"/>
        <pc:sldMkLst>
          <pc:docMk/>
          <pc:sldMk cId="391170887" sldId="2638"/>
        </pc:sldMkLst>
        <pc:spChg chg="mod">
          <ac:chgData name="Wang, Wei" userId="627587dd-935f-4f2b-a6c6-edd4e0dcbff5" providerId="ADAL" clId="{5EFFFE12-321A-499C-A52D-CBD5F4678CDD}" dt="2020-05-22T10:47:07.253" v="107" actId="14100"/>
          <ac:spMkLst>
            <pc:docMk/>
            <pc:sldMk cId="391170887" sldId="2638"/>
            <ac:spMk id="4" creationId="{7DF6DE24-71F6-4B4D-B00E-1C92B20D83D9}"/>
          </ac:spMkLst>
        </pc:spChg>
        <pc:spChg chg="mod">
          <ac:chgData name="Wang, Wei" userId="627587dd-935f-4f2b-a6c6-edd4e0dcbff5" providerId="ADAL" clId="{5EFFFE12-321A-499C-A52D-CBD5F4678CDD}" dt="2020-05-22T10:47:09.680" v="108" actId="14100"/>
          <ac:spMkLst>
            <pc:docMk/>
            <pc:sldMk cId="391170887" sldId="2638"/>
            <ac:spMk id="6" creationId="{BE07B137-E250-4AC5-81D1-F142F8E125F0}"/>
          </ac:spMkLst>
        </pc:spChg>
      </pc:sldChg>
      <pc:sldChg chg="addSp modSp">
        <pc:chgData name="Wang, Wei" userId="627587dd-935f-4f2b-a6c6-edd4e0dcbff5" providerId="ADAL" clId="{5EFFFE12-321A-499C-A52D-CBD5F4678CDD}" dt="2020-06-03T09:56:51.340" v="116" actId="14100"/>
        <pc:sldMkLst>
          <pc:docMk/>
          <pc:sldMk cId="929812060" sldId="3294"/>
        </pc:sldMkLst>
        <pc:spChg chg="mod">
          <ac:chgData name="Wang, Wei" userId="627587dd-935f-4f2b-a6c6-edd4e0dcbff5" providerId="ADAL" clId="{5EFFFE12-321A-499C-A52D-CBD5F4678CDD}" dt="2020-06-03T09:56:42.990" v="112" actId="20577"/>
          <ac:spMkLst>
            <pc:docMk/>
            <pc:sldMk cId="929812060" sldId="3294"/>
            <ac:spMk id="31" creationId="{0E86E3C7-976A-42A2-AA27-8F3F84651A6F}"/>
          </ac:spMkLst>
        </pc:spChg>
        <pc:spChg chg="add mod">
          <ac:chgData name="Wang, Wei" userId="627587dd-935f-4f2b-a6c6-edd4e0dcbff5" providerId="ADAL" clId="{5EFFFE12-321A-499C-A52D-CBD5F4678CDD}" dt="2020-06-03T09:56:51.340" v="116" actId="14100"/>
          <ac:spMkLst>
            <pc:docMk/>
            <pc:sldMk cId="929812060" sldId="3294"/>
            <ac:spMk id="46" creationId="{1350A4F9-2E0B-436B-8BE9-C90FFC3973F3}"/>
          </ac:spMkLst>
        </pc:spChg>
      </pc:sldChg>
      <pc:sldMasterChg chg="delSldLayout">
        <pc:chgData name="Wang, Wei" userId="627587dd-935f-4f2b-a6c6-edd4e0dcbff5" providerId="ADAL" clId="{5EFFFE12-321A-499C-A52D-CBD5F4678CDD}" dt="2020-05-21T16:14:43.564" v="27" actId="2696"/>
        <pc:sldMasterMkLst>
          <pc:docMk/>
          <pc:sldMasterMk cId="2027459739" sldId="2147483926"/>
        </pc:sldMasterMkLst>
      </pc:sldMasterChg>
      <pc:sldMasterChg chg="delSldLayout">
        <pc:chgData name="Wang, Wei" userId="627587dd-935f-4f2b-a6c6-edd4e0dcbff5" providerId="ADAL" clId="{5EFFFE12-321A-499C-A52D-CBD5F4678CDD}" dt="2020-05-21T16:14:51.688" v="74" actId="2696"/>
        <pc:sldMasterMkLst>
          <pc:docMk/>
          <pc:sldMasterMk cId="2216067138" sldId="2147483931"/>
        </pc:sldMasterMkLst>
      </pc:sldMasterChg>
    </pc:docChg>
  </pc:docChgLst>
  <pc:docChgLst>
    <pc:chgData name="Wang, Wei" userId="627587dd-935f-4f2b-a6c6-edd4e0dcbff5" providerId="ADAL" clId="{CCD775C0-3F43-4E56-B7BD-E034F8F7E2DD}"/>
    <pc:docChg chg="delSld">
      <pc:chgData name="Wang, Wei" userId="627587dd-935f-4f2b-a6c6-edd4e0dcbff5" providerId="ADAL" clId="{CCD775C0-3F43-4E56-B7BD-E034F8F7E2DD}" dt="2024-04-25T18:20:37.826" v="0" actId="47"/>
      <pc:docMkLst>
        <pc:docMk/>
      </pc:docMkLst>
      <pc:sldChg chg="del">
        <pc:chgData name="Wang, Wei" userId="627587dd-935f-4f2b-a6c6-edd4e0dcbff5" providerId="ADAL" clId="{CCD775C0-3F43-4E56-B7BD-E034F8F7E2DD}" dt="2024-04-25T18:20:37.826" v="0" actId="47"/>
        <pc:sldMkLst>
          <pc:docMk/>
          <pc:sldMk cId="167443583" sldId="2561"/>
        </pc:sldMkLst>
      </pc:sldChg>
      <pc:sldChg chg="del">
        <pc:chgData name="Wang, Wei" userId="627587dd-935f-4f2b-a6c6-edd4e0dcbff5" providerId="ADAL" clId="{CCD775C0-3F43-4E56-B7BD-E034F8F7E2DD}" dt="2024-04-25T18:20:37.826" v="0" actId="47"/>
        <pc:sldMkLst>
          <pc:docMk/>
          <pc:sldMk cId="929812060" sldId="3294"/>
        </pc:sldMkLst>
      </pc:sldChg>
      <pc:sldChg chg="del">
        <pc:chgData name="Wang, Wei" userId="627587dd-935f-4f2b-a6c6-edd4e0dcbff5" providerId="ADAL" clId="{CCD775C0-3F43-4E56-B7BD-E034F8F7E2DD}" dt="2024-04-25T18:20:37.826" v="0" actId="47"/>
        <pc:sldMkLst>
          <pc:docMk/>
          <pc:sldMk cId="1996300682" sldId="3307"/>
        </pc:sldMkLst>
      </pc:sldChg>
      <pc:sldChg chg="del">
        <pc:chgData name="Wang, Wei" userId="627587dd-935f-4f2b-a6c6-edd4e0dcbff5" providerId="ADAL" clId="{CCD775C0-3F43-4E56-B7BD-E034F8F7E2DD}" dt="2024-04-25T18:20:37.826" v="0" actId="47"/>
        <pc:sldMkLst>
          <pc:docMk/>
          <pc:sldMk cId="2269029745" sldId="3309"/>
        </pc:sldMkLst>
      </pc:sldChg>
      <pc:sldChg chg="del">
        <pc:chgData name="Wang, Wei" userId="627587dd-935f-4f2b-a6c6-edd4e0dcbff5" providerId="ADAL" clId="{CCD775C0-3F43-4E56-B7BD-E034F8F7E2DD}" dt="2024-04-25T18:20:37.826" v="0" actId="47"/>
        <pc:sldMkLst>
          <pc:docMk/>
          <pc:sldMk cId="667677968" sldId="3310"/>
        </pc:sldMkLst>
      </pc:sldChg>
      <pc:sldMasterChg chg="delSldLayout">
        <pc:chgData name="Wang, Wei" userId="627587dd-935f-4f2b-a6c6-edd4e0dcbff5" providerId="ADAL" clId="{CCD775C0-3F43-4E56-B7BD-E034F8F7E2DD}" dt="2024-04-25T18:20:37.826" v="0" actId="47"/>
        <pc:sldMasterMkLst>
          <pc:docMk/>
          <pc:sldMasterMk cId="2216067138" sldId="2147483931"/>
        </pc:sldMasterMkLst>
        <pc:sldLayoutChg chg="del">
          <pc:chgData name="Wang, Wei" userId="627587dd-935f-4f2b-a6c6-edd4e0dcbff5" providerId="ADAL" clId="{CCD775C0-3F43-4E56-B7BD-E034F8F7E2DD}" dt="2024-04-25T18:20:37.826" v="0" actId="47"/>
          <pc:sldLayoutMkLst>
            <pc:docMk/>
            <pc:sldMasterMk cId="2216067138" sldId="2147483931"/>
            <pc:sldLayoutMk cId="3162750045" sldId="214748399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094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3</a:t>
            </a:fld>
            <a:endParaRPr lang="en-GB"/>
          </a:p>
        </p:txBody>
      </p:sp>
    </p:spTree>
    <p:extLst>
      <p:ext uri="{BB962C8B-B14F-4D97-AF65-F5344CB8AC3E}">
        <p14:creationId xmlns:p14="http://schemas.microsoft.com/office/powerpoint/2010/main" val="804911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1816907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944EB3-E743-414B-A21A-64E051E5FA09}" type="slidenum">
              <a:rPr lang="en-GB" smtClean="0"/>
              <a:t>5</a:t>
            </a:fld>
            <a:endParaRPr lang="en-GB"/>
          </a:p>
        </p:txBody>
      </p:sp>
    </p:spTree>
    <p:extLst>
      <p:ext uri="{BB962C8B-B14F-4D97-AF65-F5344CB8AC3E}">
        <p14:creationId xmlns:p14="http://schemas.microsoft.com/office/powerpoint/2010/main" val="8909586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773172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6852333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97" r:id="rId5"/>
    <p:sldLayoutId id="2147483998"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microsoft.com/office/2007/relationships/hdphoto" Target="../media/hdphoto4.wdp"/><Relationship Id="rId5" Type="http://schemas.openxmlformats.org/officeDocument/2006/relationships/image" Target="../media/image11.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Key Process Areas and New Period End Checks</a:t>
            </a: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G/L Closing Activities for Financial Statement Preparation</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087053" y="5025947"/>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Arial"/>
              </a:rPr>
              <a:t>Functional Area Adjustment</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087053" y="2654953"/>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Currency Revaluation</a:t>
            </a:r>
          </a:p>
        </p:txBody>
      </p:sp>
      <p:cxnSp>
        <p:nvCxnSpPr>
          <p:cNvPr id="41" name="Elbow Connector 7">
            <a:extLst>
              <a:ext uri="{FF2B5EF4-FFF2-40B4-BE49-F238E27FC236}">
                <a16:creationId xmlns:a16="http://schemas.microsoft.com/office/drawing/2014/main" id="{9D5CB863-C719-46D6-930C-1EFAD313C26F}"/>
              </a:ext>
            </a:extLst>
          </p:cNvPr>
          <p:cNvCxnSpPr>
            <a:cxnSpLocks/>
          </p:cNvCxnSpPr>
          <p:nvPr/>
        </p:nvCxnSpPr>
        <p:spPr>
          <a:xfrm rot="16200000" flipH="1">
            <a:off x="3534061" y="3851968"/>
            <a:ext cx="2299014" cy="552637"/>
          </a:xfrm>
          <a:prstGeom prst="bentConnector3">
            <a:avLst>
              <a:gd name="adj1" fmla="val 9989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40233" y="2906801"/>
            <a:ext cx="1044304" cy="797376"/>
          </a:xfrm>
          <a:prstGeom prst="bentConnector3">
            <a:avLst>
              <a:gd name="adj1" fmla="val 4442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E7F26A0-7314-4FF1-BA92-49E05E717F58}"/>
              </a:ext>
            </a:extLst>
          </p:cNvPr>
          <p:cNvCxnSpPr>
            <a:cxnSpLocks/>
          </p:cNvCxnSpPr>
          <p:nvPr/>
        </p:nvCxnSpPr>
        <p:spPr>
          <a:xfrm>
            <a:off x="3854608" y="3707971"/>
            <a:ext cx="1105279" cy="6992"/>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3" name="Rounded Rectangle 39">
            <a:extLst>
              <a:ext uri="{FF2B5EF4-FFF2-40B4-BE49-F238E27FC236}">
                <a16:creationId xmlns:a16="http://schemas.microsoft.com/office/drawing/2014/main" id="{84DE1B7C-5151-4EC9-B9A5-B80A5BD549E1}"/>
              </a:ext>
            </a:extLst>
          </p:cNvPr>
          <p:cNvSpPr/>
          <p:nvPr/>
        </p:nvSpPr>
        <p:spPr>
          <a:xfrm>
            <a:off x="5087053" y="3445284"/>
            <a:ext cx="2623046"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AP/AR Regrouping</a:t>
            </a:r>
          </a:p>
        </p:txBody>
      </p:sp>
      <p:sp>
        <p:nvSpPr>
          <p:cNvPr id="15" name="Rounded Rectangle 39">
            <a:extLst>
              <a:ext uri="{FF2B5EF4-FFF2-40B4-BE49-F238E27FC236}">
                <a16:creationId xmlns:a16="http://schemas.microsoft.com/office/drawing/2014/main" id="{94A33D2A-CF2C-4FBA-BC57-8CA71CBA9B2B}"/>
              </a:ext>
            </a:extLst>
          </p:cNvPr>
          <p:cNvSpPr/>
          <p:nvPr/>
        </p:nvSpPr>
        <p:spPr>
          <a:xfrm>
            <a:off x="5087053" y="4235615"/>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Arial"/>
              </a:rPr>
              <a:t>Currency Translation</a:t>
            </a:r>
          </a:p>
        </p:txBody>
      </p:sp>
      <p:cxnSp>
        <p:nvCxnSpPr>
          <p:cNvPr id="36" name="Straight Connector 35">
            <a:extLst>
              <a:ext uri="{FF2B5EF4-FFF2-40B4-BE49-F238E27FC236}">
                <a16:creationId xmlns:a16="http://schemas.microsoft.com/office/drawing/2014/main" id="{AE381658-B4E2-44E0-B9F2-C2E7AAB62AFB}"/>
              </a:ext>
            </a:extLst>
          </p:cNvPr>
          <p:cNvCxnSpPr>
            <a:cxnSpLocks/>
          </p:cNvCxnSpPr>
          <p:nvPr/>
        </p:nvCxnSpPr>
        <p:spPr>
          <a:xfrm>
            <a:off x="4384940" y="4458139"/>
            <a:ext cx="585837"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54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36D16B-8B88-4B69-B613-D14160A9509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152841" y="1383062"/>
            <a:ext cx="6009886" cy="2733927"/>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AP/AR Regrouping Process Overview</a:t>
            </a:r>
          </a:p>
        </p:txBody>
      </p:sp>
      <p:sp>
        <p:nvSpPr>
          <p:cNvPr id="8" name="Rectangle 7">
            <a:extLst>
              <a:ext uri="{FF2B5EF4-FFF2-40B4-BE49-F238E27FC236}">
                <a16:creationId xmlns:a16="http://schemas.microsoft.com/office/drawing/2014/main" id="{23CA56EC-827F-49BB-A015-79EA68FD2EFE}"/>
              </a:ext>
            </a:extLst>
          </p:cNvPr>
          <p:cNvSpPr/>
          <p:nvPr/>
        </p:nvSpPr>
        <p:spPr>
          <a:xfrm>
            <a:off x="6395060" y="2277875"/>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935293"/>
            <a:ext cx="3107689" cy="77448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600" b="0" i="0" u="none" strike="noStrike" kern="1200" cap="none" spc="0" normalizeH="0" baseline="0" noProof="0">
                <a:ln>
                  <a:noFill/>
                </a:ln>
                <a:solidFill>
                  <a:srgbClr val="000000"/>
                </a:solidFill>
                <a:effectLst/>
                <a:uLnTx/>
                <a:uFillTx/>
                <a:latin typeface="Arial" panose="020B0604020202020204"/>
                <a:ea typeface="+mn-ea"/>
                <a:cs typeface="+mn-cs"/>
              </a:rPr>
              <a:t>FAGLF101</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301276"/>
            <a:ext cx="3107689" cy="450330"/>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WD3 – IFRS</a:t>
            </a:r>
          </a:p>
          <a:p>
            <a:pPr marL="0" marR="0" lvl="0" indent="0" algn="ctr" defTabSz="1644650" rtl="0" eaLnBrk="1" fontAlgn="auto" latinLnBrk="0" hangingPunct="1">
              <a:lnSpc>
                <a:spcPct val="100000"/>
              </a:lnSpc>
              <a:spcBef>
                <a:spcPct val="0"/>
              </a:spcBef>
              <a:spcAft>
                <a:spcPts val="0"/>
              </a:spcAft>
              <a:buClrTx/>
              <a:buSzTx/>
              <a:buFontTx/>
              <a:buNone/>
              <a:tabLst/>
              <a:defRPr/>
            </a:pPr>
            <a:r>
              <a:rPr lang="en-US" sz="1300">
                <a:solidFill>
                  <a:srgbClr val="000000">
                    <a:hueOff val="0"/>
                    <a:satOff val="0"/>
                    <a:lumOff val="0"/>
                    <a:alphaOff val="0"/>
                  </a:srgbClr>
                </a:solidFill>
                <a:latin typeface="Arial" panose="020B0604020202020204"/>
              </a:rPr>
              <a:t>WD10 – STAT/TAX</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774111"/>
            <a:ext cx="3107689" cy="447612"/>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GBS/JTBC Level</a:t>
            </a:r>
          </a:p>
        </p:txBody>
      </p:sp>
      <p:sp>
        <p:nvSpPr>
          <p:cNvPr id="5" name="Rectangle 4">
            <a:extLst>
              <a:ext uri="{FF2B5EF4-FFF2-40B4-BE49-F238E27FC236}">
                <a16:creationId xmlns:a16="http://schemas.microsoft.com/office/drawing/2014/main" id="{45F95EF3-7599-40F1-BC7E-247951A21F76}"/>
              </a:ext>
            </a:extLst>
          </p:cNvPr>
          <p:cNvSpPr/>
          <p:nvPr/>
        </p:nvSpPr>
        <p:spPr>
          <a:xfrm>
            <a:off x="3791028" y="4899703"/>
            <a:ext cx="8170987" cy="938719"/>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dirty="0">
                <a:solidFill>
                  <a:srgbClr val="000000"/>
                </a:solidFill>
                <a:latin typeface="Georgia" panose="02040502050405020303" pitchFamily="18" charset="0"/>
              </a:rPr>
              <a:t>This is a new transaction code but very similar to the one used in ECC for the same purpose.</a:t>
            </a:r>
          </a:p>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Variants</a:t>
            </a:r>
            <a:r>
              <a:rPr lang="en-GB" sz="1150" i="1" dirty="0">
                <a:solidFill>
                  <a:srgbClr val="000000"/>
                </a:solidFill>
                <a:latin typeface="Georgia" panose="02040502050405020303" pitchFamily="18" charset="0"/>
              </a:rPr>
              <a:t> are created for the similar categories as in ECC, e.g. USD/Non-USD entities, for 3</a:t>
            </a:r>
            <a:r>
              <a:rPr lang="en-GB" sz="1150" i="1" baseline="30000" dirty="0">
                <a:solidFill>
                  <a:srgbClr val="000000"/>
                </a:solidFill>
                <a:latin typeface="Georgia" panose="02040502050405020303" pitchFamily="18" charset="0"/>
              </a:rPr>
              <a:t>rd</a:t>
            </a:r>
            <a:r>
              <a:rPr lang="en-GB" sz="1150" i="1" dirty="0">
                <a:solidFill>
                  <a:srgbClr val="000000"/>
                </a:solidFill>
                <a:latin typeface="Georgia" panose="02040502050405020303" pitchFamily="18" charset="0"/>
              </a:rPr>
              <a:t> party or IC AP/AR, regrouping of LC1 or LC3, plus for each core ledger IFRS, STAT and TAX (if STAT/TAX regrouping is requested by entities.) Some variants are for a group of entities within one country, some are for specific types of entities, although all such tasks are set at GBS/JTBC level.</a:t>
            </a:r>
            <a:endPar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10" name="Rectangle 9">
            <a:extLst>
              <a:ext uri="{FF2B5EF4-FFF2-40B4-BE49-F238E27FC236}">
                <a16:creationId xmlns:a16="http://schemas.microsoft.com/office/drawing/2014/main" id="{141AA02A-B49B-45C1-8C1D-6AD74350EDB8}"/>
              </a:ext>
            </a:extLst>
          </p:cNvPr>
          <p:cNvSpPr/>
          <p:nvPr/>
        </p:nvSpPr>
        <p:spPr>
          <a:xfrm>
            <a:off x="3802937" y="6376480"/>
            <a:ext cx="7627062"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panose="02040502050405020303" pitchFamily="18" charset="0"/>
              </a:rPr>
              <a:t>AP/AR Regrouping is performed on WD3 for IFRS and WD10 for STAT/TAX, before the execution of Currency Translation steps for the respective ledgers.</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797880"/>
            <a:ext cx="7873124" cy="553998"/>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AP/AR Regrouping task is set at GBS/JTBC level. If you need to execute AP/AR Regrouping outside of FCC due to any delay of closing of specific entities, you may need to check the variant and make necessary changes before executing it manually.</a:t>
            </a:r>
          </a:p>
        </p:txBody>
      </p:sp>
      <p:grpSp>
        <p:nvGrpSpPr>
          <p:cNvPr id="39" name="Group 38">
            <a:extLst>
              <a:ext uri="{FF2B5EF4-FFF2-40B4-BE49-F238E27FC236}">
                <a16:creationId xmlns:a16="http://schemas.microsoft.com/office/drawing/2014/main" id="{D0FA25D9-BF41-4683-B496-FC5050A69AEA}"/>
              </a:ext>
            </a:extLst>
          </p:cNvPr>
          <p:cNvGrpSpPr/>
          <p:nvPr/>
        </p:nvGrpSpPr>
        <p:grpSpPr>
          <a:xfrm>
            <a:off x="458651" y="1467109"/>
            <a:ext cx="5609953" cy="3361438"/>
            <a:chOff x="589454" y="3508514"/>
            <a:chExt cx="5428347" cy="1872367"/>
          </a:xfrm>
        </p:grpSpPr>
        <p:sp>
          <p:nvSpPr>
            <p:cNvPr id="41" name="Rectangle: Rounded Corners 40">
              <a:extLst>
                <a:ext uri="{FF2B5EF4-FFF2-40B4-BE49-F238E27FC236}">
                  <a16:creationId xmlns:a16="http://schemas.microsoft.com/office/drawing/2014/main" id="{B73273D1-46D9-4C6D-8AB9-D75A7F54A84F}"/>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63255F36-FCDE-4F4F-9E48-50B709331374}"/>
                </a:ext>
              </a:extLst>
            </p:cNvPr>
            <p:cNvSpPr txBox="1"/>
            <p:nvPr/>
          </p:nvSpPr>
          <p:spPr>
            <a:xfrm>
              <a:off x="589454" y="3559809"/>
              <a:ext cx="5409875"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AP/AR Regrouping</a:t>
              </a:r>
            </a:p>
          </p:txBody>
        </p:sp>
      </p:grpSp>
      <p:sp>
        <p:nvSpPr>
          <p:cNvPr id="2" name="Rectangle 1">
            <a:extLst>
              <a:ext uri="{FF2B5EF4-FFF2-40B4-BE49-F238E27FC236}">
                <a16:creationId xmlns:a16="http://schemas.microsoft.com/office/drawing/2014/main" id="{8EEC0292-E3C7-4626-938D-F1DB79238E3F}"/>
              </a:ext>
            </a:extLst>
          </p:cNvPr>
          <p:cNvSpPr/>
          <p:nvPr/>
        </p:nvSpPr>
        <p:spPr>
          <a:xfrm>
            <a:off x="561978" y="2795205"/>
            <a:ext cx="1468583" cy="374718"/>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All monetary B/S accounts are revaluated in the Revaluation step. </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These include the Vendor and Customer open items which will be assessed during the AP/AR Regrouping process.</a:t>
            </a:r>
          </a:p>
        </p:txBody>
      </p:sp>
      <p:sp>
        <p:nvSpPr>
          <p:cNvPr id="33" name="Rectangle: Rounded Corners 32">
            <a:extLst>
              <a:ext uri="{FF2B5EF4-FFF2-40B4-BE49-F238E27FC236}">
                <a16:creationId xmlns:a16="http://schemas.microsoft.com/office/drawing/2014/main" id="{D94C164B-9BFC-4199-84A2-74E148F9B267}"/>
              </a:ext>
            </a:extLst>
          </p:cNvPr>
          <p:cNvSpPr/>
          <p:nvPr/>
        </p:nvSpPr>
        <p:spPr>
          <a:xfrm>
            <a:off x="6493240" y="3321327"/>
            <a:ext cx="1470353" cy="795661"/>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Freeform: Shape 20">
            <a:extLst>
              <a:ext uri="{FF2B5EF4-FFF2-40B4-BE49-F238E27FC236}">
                <a16:creationId xmlns:a16="http://schemas.microsoft.com/office/drawing/2014/main" id="{3B5C87B1-F2A8-4F2A-B2A9-57E520FCA0EA}"/>
              </a:ext>
            </a:extLst>
          </p:cNvPr>
          <p:cNvSpPr/>
          <p:nvPr/>
        </p:nvSpPr>
        <p:spPr>
          <a:xfrm>
            <a:off x="744371" y="1880535"/>
            <a:ext cx="1059492"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a:solidFill>
                  <a:srgbClr val="000000"/>
                </a:solidFill>
                <a:latin typeface="Arial" panose="020B0604020202020204"/>
              </a:rPr>
              <a:t>Revaluation</a:t>
            </a:r>
            <a:endParaRPr kumimoji="0" lang="en-US"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3" name="Group 22">
            <a:extLst>
              <a:ext uri="{FF2B5EF4-FFF2-40B4-BE49-F238E27FC236}">
                <a16:creationId xmlns:a16="http://schemas.microsoft.com/office/drawing/2014/main" id="{3B4B3845-D09F-438C-942F-99B5044A2808}"/>
              </a:ext>
            </a:extLst>
          </p:cNvPr>
          <p:cNvGrpSpPr/>
          <p:nvPr/>
        </p:nvGrpSpPr>
        <p:grpSpPr>
          <a:xfrm>
            <a:off x="1919259" y="2079455"/>
            <a:ext cx="738309" cy="251429"/>
            <a:chOff x="2992582" y="2277837"/>
            <a:chExt cx="368264" cy="191043"/>
          </a:xfrm>
        </p:grpSpPr>
        <p:sp>
          <p:nvSpPr>
            <p:cNvPr id="26" name="Arrow: Chevron 25">
              <a:extLst>
                <a:ext uri="{FF2B5EF4-FFF2-40B4-BE49-F238E27FC236}">
                  <a16:creationId xmlns:a16="http://schemas.microsoft.com/office/drawing/2014/main" id="{C652E3E5-0882-4C7A-92CF-601FA042F1BF}"/>
                </a:ext>
              </a:extLst>
            </p:cNvPr>
            <p:cNvSpPr/>
            <p:nvPr/>
          </p:nvSpPr>
          <p:spPr>
            <a:xfrm>
              <a:off x="2992582"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30" name="Arrow: Chevron 29">
              <a:extLst>
                <a:ext uri="{FF2B5EF4-FFF2-40B4-BE49-F238E27FC236}">
                  <a16:creationId xmlns:a16="http://schemas.microsoft.com/office/drawing/2014/main" id="{6E008FA5-D9EF-449E-B397-EF9DC08FE525}"/>
                </a:ext>
              </a:extLst>
            </p:cNvPr>
            <p:cNvSpPr/>
            <p:nvPr/>
          </p:nvSpPr>
          <p:spPr>
            <a:xfrm>
              <a:off x="3174666"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31" name="Freeform: Shape 30">
            <a:extLst>
              <a:ext uri="{FF2B5EF4-FFF2-40B4-BE49-F238E27FC236}">
                <a16:creationId xmlns:a16="http://schemas.microsoft.com/office/drawing/2014/main" id="{0E86E3C7-976A-42A2-AA27-8F3F84651A6F}"/>
              </a:ext>
            </a:extLst>
          </p:cNvPr>
          <p:cNvSpPr/>
          <p:nvPr/>
        </p:nvSpPr>
        <p:spPr>
          <a:xfrm>
            <a:off x="2742481" y="1871420"/>
            <a:ext cx="1059492"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dirty="0">
                <a:solidFill>
                  <a:srgbClr val="000000"/>
                </a:solidFill>
                <a:latin typeface="Arial" panose="020B0604020202020204"/>
              </a:rPr>
              <a:t>AP/AR Regrouping</a:t>
            </a: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2" name="Freeform: Shape 31">
            <a:extLst>
              <a:ext uri="{FF2B5EF4-FFF2-40B4-BE49-F238E27FC236}">
                <a16:creationId xmlns:a16="http://schemas.microsoft.com/office/drawing/2014/main" id="{FB197D28-5809-46AF-B20E-0A5488D3BBB9}"/>
              </a:ext>
            </a:extLst>
          </p:cNvPr>
          <p:cNvSpPr/>
          <p:nvPr/>
        </p:nvSpPr>
        <p:spPr>
          <a:xfrm>
            <a:off x="4664782" y="1848794"/>
            <a:ext cx="1059492"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a:solidFill>
                  <a:srgbClr val="000000"/>
                </a:solidFill>
                <a:latin typeface="Arial" panose="020B0604020202020204"/>
              </a:rPr>
              <a:t>Translation</a:t>
            </a:r>
            <a:endParaRPr kumimoji="0" lang="en-US"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34" name="Group 33">
            <a:extLst>
              <a:ext uri="{FF2B5EF4-FFF2-40B4-BE49-F238E27FC236}">
                <a16:creationId xmlns:a16="http://schemas.microsoft.com/office/drawing/2014/main" id="{07191D1F-AB03-4118-866D-B989BA9B4EB9}"/>
              </a:ext>
            </a:extLst>
          </p:cNvPr>
          <p:cNvGrpSpPr/>
          <p:nvPr/>
        </p:nvGrpSpPr>
        <p:grpSpPr>
          <a:xfrm>
            <a:off x="3851658" y="2073742"/>
            <a:ext cx="738309" cy="251429"/>
            <a:chOff x="2992582" y="2277837"/>
            <a:chExt cx="368264" cy="191043"/>
          </a:xfrm>
        </p:grpSpPr>
        <p:sp>
          <p:nvSpPr>
            <p:cNvPr id="35" name="Arrow: Chevron 34">
              <a:extLst>
                <a:ext uri="{FF2B5EF4-FFF2-40B4-BE49-F238E27FC236}">
                  <a16:creationId xmlns:a16="http://schemas.microsoft.com/office/drawing/2014/main" id="{7FF73167-861B-455D-BFCB-38EFECD954EB}"/>
                </a:ext>
              </a:extLst>
            </p:cNvPr>
            <p:cNvSpPr/>
            <p:nvPr/>
          </p:nvSpPr>
          <p:spPr>
            <a:xfrm>
              <a:off x="2992582"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36" name="Arrow: Chevron 35">
              <a:extLst>
                <a:ext uri="{FF2B5EF4-FFF2-40B4-BE49-F238E27FC236}">
                  <a16:creationId xmlns:a16="http://schemas.microsoft.com/office/drawing/2014/main" id="{C06D9D8D-3447-4EEC-81BB-3AFAF88C87D9}"/>
                </a:ext>
              </a:extLst>
            </p:cNvPr>
            <p:cNvSpPr/>
            <p:nvPr/>
          </p:nvSpPr>
          <p:spPr>
            <a:xfrm>
              <a:off x="3174666"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9" name="Rectangle 8">
            <a:extLst>
              <a:ext uri="{FF2B5EF4-FFF2-40B4-BE49-F238E27FC236}">
                <a16:creationId xmlns:a16="http://schemas.microsoft.com/office/drawing/2014/main" id="{FF56214A-EBCC-4506-B0C3-1A3B9EE35D1D}"/>
              </a:ext>
            </a:extLst>
          </p:cNvPr>
          <p:cNvSpPr/>
          <p:nvPr/>
        </p:nvSpPr>
        <p:spPr>
          <a:xfrm>
            <a:off x="2023356" y="2783108"/>
            <a:ext cx="2425290" cy="705641"/>
          </a:xfrm>
          <a:prstGeom prst="rect">
            <a:avLst/>
          </a:prstGeom>
          <a:noFill/>
        </p:spPr>
        <p:txBody>
          <a:bodyPr wrap="square" lIns="0" tIns="0" rIns="0" bIns="0" rtlCol="0">
            <a:noAutofit/>
          </a:bodyPr>
          <a:lstStyle/>
          <a:p>
            <a:pPr marL="108000" lvl="1"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AP/AR Regrouping logic in S/4 remains the same as in ECC. The system checks the balances on Vendor/Customer accounts per reconciliation account, then make reclassification postings based on the AP/AR Regrouping rules, i.e. reclassification from short term to long term, or reclassify the debit balances in AP to AR and vice versa, using AP/AR Regrouping accounts (ending with 7).</a:t>
            </a:r>
          </a:p>
          <a:p>
            <a:pPr marL="108000" lvl="1"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The process will be executed for all entities in IFRS ledger. For STAT and/or TAX it will be executed only for entities which request it.</a:t>
            </a:r>
          </a:p>
          <a:p>
            <a:pPr marL="108000" lvl="1" indent="-108000">
              <a:lnSpc>
                <a:spcPts val="1050"/>
              </a:lnSpc>
              <a:spcBef>
                <a:spcPts val="300"/>
              </a:spcBef>
              <a:buFont typeface="Arial" panose="020B0604020202020204" pitchFamily="34" charset="0"/>
              <a:buChar char="•"/>
            </a:pPr>
            <a:endParaRPr lang="en-GB" sz="1050">
              <a:solidFill>
                <a:srgbClr val="000000"/>
              </a:solidFill>
              <a:latin typeface="Calibri" panose="020F0502020204030204" pitchFamily="34" charset="0"/>
              <a:cs typeface="Calibri" panose="020F0502020204030204" pitchFamily="34" charset="0"/>
            </a:endParaRPr>
          </a:p>
          <a:p>
            <a:pPr marL="108000" lvl="1" indent="-108000">
              <a:lnSpc>
                <a:spcPts val="1050"/>
              </a:lnSpc>
              <a:spcBef>
                <a:spcPts val="300"/>
              </a:spcBef>
              <a:buFont typeface="Arial" panose="020B0604020202020204" pitchFamily="34" charset="0"/>
              <a:buChar char="•"/>
            </a:pPr>
            <a:endParaRPr lang="en-GB" sz="1050">
              <a:solidFill>
                <a:srgbClr val="000000"/>
              </a:solidFill>
              <a:latin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45EA045B-69AB-40BC-9087-FD0AA5706E46}"/>
              </a:ext>
            </a:extLst>
          </p:cNvPr>
          <p:cNvSpPr/>
          <p:nvPr/>
        </p:nvSpPr>
        <p:spPr>
          <a:xfrm>
            <a:off x="4560913" y="2773110"/>
            <a:ext cx="1468583" cy="374718"/>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In S/4 Translation is scheduled after AP/AR Regrouping as Regrouping does not capture the LC2/LC3 amounts correctly. </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During Translation for B/S accounts, all B/S accounts are included in calculation. This means the balances for AP/AR Regrouping accounts are translated too. </a:t>
            </a:r>
          </a:p>
        </p:txBody>
      </p:sp>
      <p:sp>
        <p:nvSpPr>
          <p:cNvPr id="43" name="Rectangle: Rounded Corners 42">
            <a:extLst>
              <a:ext uri="{FF2B5EF4-FFF2-40B4-BE49-F238E27FC236}">
                <a16:creationId xmlns:a16="http://schemas.microsoft.com/office/drawing/2014/main" id="{B5E68A45-6945-486C-BCC6-F6E4FCAB3D85}"/>
              </a:ext>
            </a:extLst>
          </p:cNvPr>
          <p:cNvSpPr/>
          <p:nvPr/>
        </p:nvSpPr>
        <p:spPr>
          <a:xfrm>
            <a:off x="8308090" y="2033932"/>
            <a:ext cx="3653925" cy="1201909"/>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4" name="Rectangle: Rounded Corners 43">
            <a:extLst>
              <a:ext uri="{FF2B5EF4-FFF2-40B4-BE49-F238E27FC236}">
                <a16:creationId xmlns:a16="http://schemas.microsoft.com/office/drawing/2014/main" id="{8823F6D3-002F-4CE6-9BC6-45ACBDD913D7}"/>
              </a:ext>
            </a:extLst>
          </p:cNvPr>
          <p:cNvSpPr/>
          <p:nvPr/>
        </p:nvSpPr>
        <p:spPr>
          <a:xfrm>
            <a:off x="10798232" y="3986930"/>
            <a:ext cx="1364495" cy="155701"/>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5" name="Speech Bubble: Rectangle 44">
            <a:extLst>
              <a:ext uri="{FF2B5EF4-FFF2-40B4-BE49-F238E27FC236}">
                <a16:creationId xmlns:a16="http://schemas.microsoft.com/office/drawing/2014/main" id="{687EA669-33CB-4F00-B29B-0AA4FC0E7764}"/>
              </a:ext>
            </a:extLst>
          </p:cNvPr>
          <p:cNvSpPr/>
          <p:nvPr/>
        </p:nvSpPr>
        <p:spPr>
          <a:xfrm>
            <a:off x="6107882" y="4282677"/>
            <a:ext cx="5969370" cy="652615"/>
          </a:xfrm>
          <a:prstGeom prst="wedgeRectCallout">
            <a:avLst>
              <a:gd name="adj1" fmla="val 37491"/>
              <a:gd name="adj2" fmla="val -78510"/>
            </a:avLst>
          </a:prstGeom>
          <a:solidFill>
            <a:schemeClr val="accent6">
              <a:lumMod val="20000"/>
              <a:lumOff val="8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050" i="1">
                <a:solidFill>
                  <a:schemeClr val="tx1"/>
                </a:solidFill>
                <a:latin typeface="Georgia" panose="02040502050405020303" pitchFamily="18" charset="0"/>
              </a:rPr>
              <a:t>AP/AR Regrouping uses the results from Revaluation, therefore the variants are specific to different groups of company codes, which do not use the Company Code variable. The variants use variables for dates/periods/years. You should always check the dates/periods/years are correctly populated before executing Regrouping outside of FCC.</a:t>
            </a:r>
          </a:p>
        </p:txBody>
      </p:sp>
      <p:sp>
        <p:nvSpPr>
          <p:cNvPr id="46" name="Rectangle 45">
            <a:extLst>
              <a:ext uri="{FF2B5EF4-FFF2-40B4-BE49-F238E27FC236}">
                <a16:creationId xmlns:a16="http://schemas.microsoft.com/office/drawing/2014/main" id="{558320D2-4312-47C1-B26A-F69FCF3C728B}"/>
              </a:ext>
            </a:extLst>
          </p:cNvPr>
          <p:cNvSpPr/>
          <p:nvPr/>
        </p:nvSpPr>
        <p:spPr>
          <a:xfrm>
            <a:off x="2569417" y="1808873"/>
            <a:ext cx="1391833" cy="9496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9812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C67D13-BBD5-4F60-AE91-B9F53F79A67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15940" y="1528414"/>
            <a:ext cx="2965084" cy="4597624"/>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AP/AR Regrouping: Execution (1/2)</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3</a:t>
            </a:fld>
            <a:endParaRPr lang="en-GB"/>
          </a:p>
        </p:txBody>
      </p:sp>
      <p:sp>
        <p:nvSpPr>
          <p:cNvPr id="17" name="Rectangle 16">
            <a:extLst>
              <a:ext uri="{FF2B5EF4-FFF2-40B4-BE49-F238E27FC236}">
                <a16:creationId xmlns:a16="http://schemas.microsoft.com/office/drawing/2014/main" id="{A7B60E32-AD4C-46BB-BFE4-F836B84BE9D5}"/>
              </a:ext>
            </a:extLst>
          </p:cNvPr>
          <p:cNvSpPr/>
          <p:nvPr/>
        </p:nvSpPr>
        <p:spPr>
          <a:xfrm>
            <a:off x="3541223" y="1352421"/>
            <a:ext cx="8456814" cy="553998"/>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Make sure you use the same variant as </a:t>
            </a:r>
            <a:r>
              <a:rPr lang="en-GB" sz="1100" i="1">
                <a:solidFill>
                  <a:srgbClr val="000000"/>
                </a:solidFill>
                <a:latin typeface="Georgia" panose="02040502050405020303" pitchFamily="18" charset="0"/>
              </a:rPr>
              <a:t>specified in the corresponding FCC task if you need to execute this transaction outside of FCC. It is possible you may need to modify the variant if need (e.g. if something is wrong, or one entity is delaying the global closing, etc.)</a:t>
            </a: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18" name="Rectangle: Rounded Corners 17">
            <a:extLst>
              <a:ext uri="{FF2B5EF4-FFF2-40B4-BE49-F238E27FC236}">
                <a16:creationId xmlns:a16="http://schemas.microsoft.com/office/drawing/2014/main" id="{072FB5AF-7560-4EEA-83C0-F9B01C02B6C0}"/>
              </a:ext>
            </a:extLst>
          </p:cNvPr>
          <p:cNvSpPr/>
          <p:nvPr/>
        </p:nvSpPr>
        <p:spPr>
          <a:xfrm>
            <a:off x="1303457" y="2327632"/>
            <a:ext cx="1993923" cy="208888"/>
          </a:xfrm>
          <a:prstGeom prst="roundRect">
            <a:avLst>
              <a:gd name="adj" fmla="val 4268"/>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59C291AA-FBB5-411D-9300-25C08C79BF1F}"/>
              </a:ext>
            </a:extLst>
          </p:cNvPr>
          <p:cNvSpPr/>
          <p:nvPr/>
        </p:nvSpPr>
        <p:spPr>
          <a:xfrm>
            <a:off x="1303457" y="2577887"/>
            <a:ext cx="1993923" cy="141655"/>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14367CE5-506F-4835-83A5-C9887B3E4251}"/>
              </a:ext>
            </a:extLst>
          </p:cNvPr>
          <p:cNvSpPr/>
          <p:nvPr/>
        </p:nvSpPr>
        <p:spPr>
          <a:xfrm>
            <a:off x="1303456" y="2927172"/>
            <a:ext cx="1993923" cy="19239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83413D00-23F1-4BD8-A198-75828C9BD269}"/>
              </a:ext>
            </a:extLst>
          </p:cNvPr>
          <p:cNvSpPr/>
          <p:nvPr/>
        </p:nvSpPr>
        <p:spPr>
          <a:xfrm>
            <a:off x="1303456" y="3466715"/>
            <a:ext cx="1993923" cy="164870"/>
          </a:xfrm>
          <a:prstGeom prst="roundRect">
            <a:avLst>
              <a:gd name="adj" fmla="val 4268"/>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BD6AFB87-9808-4259-A040-EE489F58908C}"/>
              </a:ext>
            </a:extLst>
          </p:cNvPr>
          <p:cNvSpPr/>
          <p:nvPr/>
        </p:nvSpPr>
        <p:spPr>
          <a:xfrm>
            <a:off x="1303456" y="4084180"/>
            <a:ext cx="1993923" cy="1269314"/>
          </a:xfrm>
          <a:prstGeom prst="roundRect">
            <a:avLst>
              <a:gd name="adj" fmla="val 164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A47F0F12-4232-4BF0-AD17-AF7E93784EF5}"/>
              </a:ext>
            </a:extLst>
          </p:cNvPr>
          <p:cNvSpPr/>
          <p:nvPr/>
        </p:nvSpPr>
        <p:spPr>
          <a:xfrm>
            <a:off x="1303456" y="2731710"/>
            <a:ext cx="1993924" cy="169205"/>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06997168-EBD7-48A1-B1E3-1BBC47C11B91}"/>
              </a:ext>
            </a:extLst>
          </p:cNvPr>
          <p:cNvSpPr/>
          <p:nvPr/>
        </p:nvSpPr>
        <p:spPr>
          <a:xfrm>
            <a:off x="515939" y="1486849"/>
            <a:ext cx="2781440" cy="22411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FAGLF101: AP/AR Regrouping –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Postings</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sp>
        <p:nvSpPr>
          <p:cNvPr id="16" name="Rectangle 15">
            <a:extLst>
              <a:ext uri="{FF2B5EF4-FFF2-40B4-BE49-F238E27FC236}">
                <a16:creationId xmlns:a16="http://schemas.microsoft.com/office/drawing/2014/main" id="{F602B4F0-5D98-4157-B579-7381D0B9B34B}"/>
              </a:ext>
            </a:extLst>
          </p:cNvPr>
          <p:cNvSpPr/>
          <p:nvPr/>
        </p:nvSpPr>
        <p:spPr>
          <a:xfrm>
            <a:off x="3815542" y="1924254"/>
            <a:ext cx="8182494" cy="532505"/>
          </a:xfrm>
          <a:prstGeom prst="rect">
            <a:avLst/>
          </a:prstGeom>
          <a:no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The entities included in each variant are determined based on the similarity of the their business requirements, therefore do not mix entities which are set in different variants into one when executing this transaction outside of FCC. When you have a new entity, or an existing entity which changes its business requirement, you should carefully add/remove the corresponding company code to/from a variant.</a:t>
            </a:r>
          </a:p>
        </p:txBody>
      </p:sp>
      <p:sp>
        <p:nvSpPr>
          <p:cNvPr id="27" name="Rectangle 26">
            <a:extLst>
              <a:ext uri="{FF2B5EF4-FFF2-40B4-BE49-F238E27FC236}">
                <a16:creationId xmlns:a16="http://schemas.microsoft.com/office/drawing/2014/main" id="{492E6C75-DEB3-40A2-A5B6-1CE9B2DE5FA6}"/>
              </a:ext>
            </a:extLst>
          </p:cNvPr>
          <p:cNvSpPr/>
          <p:nvPr/>
        </p:nvSpPr>
        <p:spPr>
          <a:xfrm>
            <a:off x="3815542" y="2499814"/>
            <a:ext cx="8182494" cy="206439"/>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1100">
                <a:solidFill>
                  <a:schemeClr val="tx1"/>
                </a:solidFill>
                <a:latin typeface="Calibri" panose="020F0502020204030204" pitchFamily="34" charset="0"/>
                <a:cs typeface="Calibri" panose="020F0502020204030204" pitchFamily="34" charset="0"/>
              </a:rPr>
              <a:t>AP/AR Regrouping is to be done with the key date of the last day of the month being closed.</a:t>
            </a:r>
          </a:p>
        </p:txBody>
      </p:sp>
      <p:sp>
        <p:nvSpPr>
          <p:cNvPr id="28" name="Rectangle 27">
            <a:extLst>
              <a:ext uri="{FF2B5EF4-FFF2-40B4-BE49-F238E27FC236}">
                <a16:creationId xmlns:a16="http://schemas.microsoft.com/office/drawing/2014/main" id="{AFD12024-D026-4993-B0BB-F497293FB460}"/>
              </a:ext>
            </a:extLst>
          </p:cNvPr>
          <p:cNvSpPr/>
          <p:nvPr/>
        </p:nvSpPr>
        <p:spPr>
          <a:xfrm>
            <a:off x="3815540" y="3131826"/>
            <a:ext cx="8182494" cy="571348"/>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This is exactly the </a:t>
            </a:r>
            <a:r>
              <a:rPr lang="en-GB" sz="1100" b="1">
                <a:solidFill>
                  <a:schemeClr val="tx1"/>
                </a:solidFill>
                <a:latin typeface="Calibri" panose="020F0502020204030204" pitchFamily="34" charset="0"/>
                <a:cs typeface="Calibri" panose="020F0502020204030204" pitchFamily="34" charset="0"/>
              </a:rPr>
              <a:t>same Valuation Area used in Revaluation</a:t>
            </a:r>
            <a:r>
              <a:rPr lang="en-GB" sz="1100">
                <a:solidFill>
                  <a:schemeClr val="tx1"/>
                </a:solidFill>
                <a:latin typeface="Calibri" panose="020F0502020204030204" pitchFamily="34" charset="0"/>
                <a:cs typeface="Calibri" panose="020F0502020204030204" pitchFamily="34" charset="0"/>
              </a:rPr>
              <a:t> and Translation (after AP/AR Regrouping). As explained earlier, we use Valuation areas </a:t>
            </a:r>
            <a:r>
              <a:rPr lang="en-GB" sz="1100" b="1">
                <a:solidFill>
                  <a:schemeClr val="tx1"/>
                </a:solidFill>
                <a:latin typeface="Calibri" panose="020F0502020204030204" pitchFamily="34" charset="0"/>
                <a:cs typeface="Calibri" panose="020F0502020204030204" pitchFamily="34" charset="0"/>
              </a:rPr>
              <a:t>01-03 for IFRS, S* for Statutory and T* for Tax </a:t>
            </a:r>
            <a:r>
              <a:rPr lang="en-GB" sz="1100">
                <a:solidFill>
                  <a:schemeClr val="tx1"/>
                </a:solidFill>
                <a:latin typeface="Calibri" panose="020F0502020204030204" pitchFamily="34" charset="0"/>
                <a:cs typeface="Calibri" panose="020F0502020204030204" pitchFamily="34" charset="0"/>
              </a:rPr>
              <a:t>ledgers respectively. Therefore depending on the AP/AR Regrouping variant, the corresponding Valuation Area is specified here.</a:t>
            </a:r>
            <a:endParaRPr lang="en-US" sz="1100">
              <a:solidFill>
                <a:schemeClr val="tx1"/>
              </a:solidFill>
              <a:latin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832D4AF1-3771-40AB-B4C2-C1C93597D560}"/>
              </a:ext>
            </a:extLst>
          </p:cNvPr>
          <p:cNvSpPr/>
          <p:nvPr/>
        </p:nvSpPr>
        <p:spPr>
          <a:xfrm>
            <a:off x="3815540" y="3951200"/>
            <a:ext cx="8182494" cy="251832"/>
          </a:xfrm>
          <a:prstGeom prst="rect">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Select Generate Postings for an update run with Batch Input session generated. De-select it works as a test run with no posting generated.</a:t>
            </a:r>
            <a:endParaRPr lang="en-US" sz="1100">
              <a:solidFill>
                <a:schemeClr val="tx1"/>
              </a:solidFill>
              <a:latin typeface="Calibri" panose="020F0502020204030204" pitchFamily="34" charset="0"/>
              <a:cs typeface="Calibri" panose="020F0502020204030204" pitchFamily="34" charset="0"/>
            </a:endParaRPr>
          </a:p>
        </p:txBody>
      </p:sp>
      <p:cxnSp>
        <p:nvCxnSpPr>
          <p:cNvPr id="45" name="Connector: Elbow 44">
            <a:extLst>
              <a:ext uri="{FF2B5EF4-FFF2-40B4-BE49-F238E27FC236}">
                <a16:creationId xmlns:a16="http://schemas.microsoft.com/office/drawing/2014/main" id="{A126DB8F-651C-4DDC-8AAA-6A5F0863C996}"/>
              </a:ext>
            </a:extLst>
          </p:cNvPr>
          <p:cNvCxnSpPr>
            <a:cxnSpLocks/>
            <a:stCxn id="18" idx="3"/>
            <a:endCxn id="16" idx="1"/>
          </p:cNvCxnSpPr>
          <p:nvPr/>
        </p:nvCxnSpPr>
        <p:spPr>
          <a:xfrm flipV="1">
            <a:off x="3297380" y="2190507"/>
            <a:ext cx="518162" cy="241569"/>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5CF2CC16-698B-4F6E-992F-D7937AF21E0B}"/>
              </a:ext>
            </a:extLst>
          </p:cNvPr>
          <p:cNvCxnSpPr>
            <a:cxnSpLocks/>
            <a:stCxn id="20" idx="3"/>
            <a:endCxn id="27" idx="1"/>
          </p:cNvCxnSpPr>
          <p:nvPr/>
        </p:nvCxnSpPr>
        <p:spPr>
          <a:xfrm flipV="1">
            <a:off x="3297380" y="2603034"/>
            <a:ext cx="518162" cy="45681"/>
          </a:xfrm>
          <a:prstGeom prst="bentConnector3">
            <a:avLst>
              <a:gd name="adj1" fmla="val 50000"/>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CC804835-3AFF-4D06-9743-36186D0A75ED}"/>
              </a:ext>
            </a:extLst>
          </p:cNvPr>
          <p:cNvCxnSpPr>
            <a:cxnSpLocks/>
            <a:stCxn id="22" idx="3"/>
            <a:endCxn id="43" idx="1"/>
          </p:cNvCxnSpPr>
          <p:nvPr/>
        </p:nvCxnSpPr>
        <p:spPr>
          <a:xfrm>
            <a:off x="3297379" y="3549150"/>
            <a:ext cx="518161" cy="527966"/>
          </a:xfrm>
          <a:prstGeom prst="bentConnector3">
            <a:avLst>
              <a:gd name="adj1" fmla="val 50000"/>
            </a:avLst>
          </a:prstGeom>
          <a:ln w="12700">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136A41D-0272-4146-8570-C3713E9F0F54}"/>
              </a:ext>
            </a:extLst>
          </p:cNvPr>
          <p:cNvSpPr/>
          <p:nvPr/>
        </p:nvSpPr>
        <p:spPr>
          <a:xfrm>
            <a:off x="3815540" y="5060922"/>
            <a:ext cx="8182495" cy="828312"/>
          </a:xfrm>
          <a:prstGeom prst="rect">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 AP/AR Regrouping shall be posted with Document Date and Posting Date of the last date of the month being closed, and reversed on the first date of the following month. </a:t>
            </a:r>
          </a:p>
          <a:p>
            <a:r>
              <a:rPr lang="en-GB" sz="1100">
                <a:solidFill>
                  <a:schemeClr val="tx1"/>
                </a:solidFill>
                <a:latin typeface="Calibri" panose="020F0502020204030204" pitchFamily="34" charset="0"/>
                <a:cs typeface="Calibri" panose="020F0502020204030204" pitchFamily="34" charset="0"/>
              </a:rPr>
              <a:t>Note that depending on the purpose of a variant, e.g. in this example it is for IC vendors/customers, then the Document Type should be IC. If this is for 3</a:t>
            </a:r>
            <a:r>
              <a:rPr lang="en-GB" sz="1100" baseline="30000">
                <a:solidFill>
                  <a:schemeClr val="tx1"/>
                </a:solidFill>
                <a:latin typeface="Calibri" panose="020F0502020204030204" pitchFamily="34" charset="0"/>
                <a:cs typeface="Calibri" panose="020F0502020204030204" pitchFamily="34" charset="0"/>
              </a:rPr>
              <a:t>rd</a:t>
            </a:r>
            <a:r>
              <a:rPr lang="en-GB" sz="1100">
                <a:solidFill>
                  <a:schemeClr val="tx1"/>
                </a:solidFill>
                <a:latin typeface="Calibri" panose="020F0502020204030204" pitchFamily="34" charset="0"/>
                <a:cs typeface="Calibri" panose="020F0502020204030204" pitchFamily="34" charset="0"/>
              </a:rPr>
              <a:t> party vendors/customer, then the Document Type should be SA.</a:t>
            </a:r>
            <a:endParaRPr lang="en-US" sz="1100">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6EBCD3F5-FC0B-4E73-A9EF-864A3BEBCBA4}"/>
              </a:ext>
            </a:extLst>
          </p:cNvPr>
          <p:cNvSpPr/>
          <p:nvPr/>
        </p:nvSpPr>
        <p:spPr>
          <a:xfrm>
            <a:off x="3815540" y="2766446"/>
            <a:ext cx="8182494" cy="337905"/>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 Sort Method </a:t>
            </a:r>
            <a:r>
              <a:rPr lang="en-GB" sz="1100" b="1">
                <a:solidFill>
                  <a:schemeClr val="tx1"/>
                </a:solidFill>
                <a:latin typeface="Calibri" panose="020F0502020204030204" pitchFamily="34" charset="0"/>
                <a:cs typeface="Calibri" panose="020F0502020204030204" pitchFamily="34" charset="0"/>
              </a:rPr>
              <a:t>JTI </a:t>
            </a:r>
            <a:r>
              <a:rPr lang="en-GB" sz="1100">
                <a:solidFill>
                  <a:schemeClr val="tx1"/>
                </a:solidFill>
                <a:latin typeface="Calibri" panose="020F0502020204030204" pitchFamily="34" charset="0"/>
                <a:cs typeface="Calibri" panose="020F0502020204030204" pitchFamily="34" charset="0"/>
              </a:rPr>
              <a:t>controls which AP/AR open item is to be selected for regrouping, in which category of regrouping and how the regrouping postings should be made.</a:t>
            </a:r>
            <a:endParaRPr lang="en-US" sz="1100">
              <a:solidFill>
                <a:schemeClr val="tx1"/>
              </a:solidFill>
              <a:latin typeface="Calibri" panose="020F0502020204030204" pitchFamily="34" charset="0"/>
              <a:cs typeface="Calibri" panose="020F0502020204030204" pitchFamily="34" charset="0"/>
            </a:endParaRPr>
          </a:p>
        </p:txBody>
      </p:sp>
      <p:cxnSp>
        <p:nvCxnSpPr>
          <p:cNvPr id="56" name="Connector: Elbow 55">
            <a:extLst>
              <a:ext uri="{FF2B5EF4-FFF2-40B4-BE49-F238E27FC236}">
                <a16:creationId xmlns:a16="http://schemas.microsoft.com/office/drawing/2014/main" id="{B46A399A-BCC5-4750-B0ED-F38B3F9C4052}"/>
              </a:ext>
            </a:extLst>
          </p:cNvPr>
          <p:cNvCxnSpPr>
            <a:cxnSpLocks/>
            <a:stCxn id="23" idx="3"/>
            <a:endCxn id="53" idx="1"/>
          </p:cNvCxnSpPr>
          <p:nvPr/>
        </p:nvCxnSpPr>
        <p:spPr>
          <a:xfrm>
            <a:off x="3297379" y="4718837"/>
            <a:ext cx="518161" cy="756241"/>
          </a:xfrm>
          <a:prstGeom prst="bentConnector3">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84C0FBE9-06C0-4EB6-9E59-6454A2629FEB}"/>
              </a:ext>
            </a:extLst>
          </p:cNvPr>
          <p:cNvCxnSpPr>
            <a:cxnSpLocks/>
            <a:stCxn id="24" idx="3"/>
            <a:endCxn id="54" idx="1"/>
          </p:cNvCxnSpPr>
          <p:nvPr/>
        </p:nvCxnSpPr>
        <p:spPr>
          <a:xfrm>
            <a:off x="3297380" y="2816313"/>
            <a:ext cx="518160" cy="119086"/>
          </a:xfrm>
          <a:prstGeom prst="bentConnector3">
            <a:avLst>
              <a:gd name="adj1" fmla="val 50000"/>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73C437F0-25F9-40A3-9737-700A030AAA9B}"/>
              </a:ext>
            </a:extLst>
          </p:cNvPr>
          <p:cNvCxnSpPr>
            <a:cxnSpLocks/>
            <a:stCxn id="21" idx="3"/>
            <a:endCxn id="28" idx="1"/>
          </p:cNvCxnSpPr>
          <p:nvPr/>
        </p:nvCxnSpPr>
        <p:spPr>
          <a:xfrm>
            <a:off x="3297379" y="3023370"/>
            <a:ext cx="518161" cy="394130"/>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3" name="Rectangle: Rounded Corners 92">
            <a:extLst>
              <a:ext uri="{FF2B5EF4-FFF2-40B4-BE49-F238E27FC236}">
                <a16:creationId xmlns:a16="http://schemas.microsoft.com/office/drawing/2014/main" id="{18FA55B3-867B-4829-A7C9-D36E97DA9069}"/>
              </a:ext>
            </a:extLst>
          </p:cNvPr>
          <p:cNvSpPr/>
          <p:nvPr/>
        </p:nvSpPr>
        <p:spPr>
          <a:xfrm>
            <a:off x="1303456" y="3670179"/>
            <a:ext cx="1993923" cy="352449"/>
          </a:xfrm>
          <a:prstGeom prst="roundRect">
            <a:avLst>
              <a:gd name="adj" fmla="val 4268"/>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D490C906-EBB3-44CB-9559-E53D9F2AFBAE}"/>
              </a:ext>
            </a:extLst>
          </p:cNvPr>
          <p:cNvSpPr/>
          <p:nvPr/>
        </p:nvSpPr>
        <p:spPr>
          <a:xfrm>
            <a:off x="3815540" y="4395839"/>
            <a:ext cx="8182494" cy="519522"/>
          </a:xfrm>
          <a:prstGeom prst="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These settings ensure that a Batch Input session is generated for processing, which will retain the document numbers information once the session is successfully processed. The Batch Input session name corresponds to the AP/AR Regrouping variant name, which helps users to identify them easily.</a:t>
            </a:r>
            <a:endParaRPr lang="en-US" sz="1100">
              <a:solidFill>
                <a:schemeClr val="tx1"/>
              </a:solidFill>
              <a:latin typeface="Calibri" panose="020F0502020204030204" pitchFamily="34" charset="0"/>
              <a:cs typeface="Calibri" panose="020F0502020204030204" pitchFamily="34" charset="0"/>
            </a:endParaRPr>
          </a:p>
        </p:txBody>
      </p:sp>
      <p:cxnSp>
        <p:nvCxnSpPr>
          <p:cNvPr id="95" name="Connector: Elbow 94">
            <a:extLst>
              <a:ext uri="{FF2B5EF4-FFF2-40B4-BE49-F238E27FC236}">
                <a16:creationId xmlns:a16="http://schemas.microsoft.com/office/drawing/2014/main" id="{D91E62AD-847A-4E17-AA82-11051F4896A0}"/>
              </a:ext>
            </a:extLst>
          </p:cNvPr>
          <p:cNvCxnSpPr>
            <a:cxnSpLocks/>
            <a:stCxn id="93" idx="3"/>
            <a:endCxn id="94" idx="1"/>
          </p:cNvCxnSpPr>
          <p:nvPr/>
        </p:nvCxnSpPr>
        <p:spPr>
          <a:xfrm>
            <a:off x="3297379" y="3846404"/>
            <a:ext cx="518161" cy="809196"/>
          </a:xfrm>
          <a:prstGeom prst="bentConnector3">
            <a:avLst>
              <a:gd name="adj1" fmla="val 25045"/>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30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74BC0C-D65A-49AB-9F6B-CA03B45C37B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15939" y="1352421"/>
            <a:ext cx="2959145" cy="3708501"/>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AP/AR Regrouping: Execution (2/2)</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4</a:t>
            </a:fld>
            <a:endParaRPr lang="en-GB"/>
          </a:p>
        </p:txBody>
      </p:sp>
      <p:sp>
        <p:nvSpPr>
          <p:cNvPr id="21" name="Rectangle: Rounded Corners 20">
            <a:extLst>
              <a:ext uri="{FF2B5EF4-FFF2-40B4-BE49-F238E27FC236}">
                <a16:creationId xmlns:a16="http://schemas.microsoft.com/office/drawing/2014/main" id="{14367CE5-506F-4835-83A5-C9887B3E4251}"/>
              </a:ext>
            </a:extLst>
          </p:cNvPr>
          <p:cNvSpPr/>
          <p:nvPr/>
        </p:nvSpPr>
        <p:spPr>
          <a:xfrm>
            <a:off x="1303456" y="3035628"/>
            <a:ext cx="2171628" cy="667546"/>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06997168-EBD7-48A1-B1E3-1BBC47C11B91}"/>
              </a:ext>
            </a:extLst>
          </p:cNvPr>
          <p:cNvSpPr/>
          <p:nvPr/>
        </p:nvSpPr>
        <p:spPr>
          <a:xfrm>
            <a:off x="515939" y="1345528"/>
            <a:ext cx="2781440" cy="22411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FAGLF101: AP/AR Regrouping – </a:t>
            </a: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Selections</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sp>
        <p:nvSpPr>
          <p:cNvPr id="28" name="Rectangle 27">
            <a:extLst>
              <a:ext uri="{FF2B5EF4-FFF2-40B4-BE49-F238E27FC236}">
                <a16:creationId xmlns:a16="http://schemas.microsoft.com/office/drawing/2014/main" id="{AFD12024-D026-4993-B0BB-F497293FB460}"/>
              </a:ext>
            </a:extLst>
          </p:cNvPr>
          <p:cNvSpPr/>
          <p:nvPr/>
        </p:nvSpPr>
        <p:spPr>
          <a:xfrm>
            <a:off x="3715787" y="1537270"/>
            <a:ext cx="8182494" cy="1583429"/>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As explained, the AP/AR Regrouping variants are created for different categories of company codes, vendors/customers, currencies and ledgers. One of the categories is whether the vendors/customers that we are regrouping are 3</a:t>
            </a:r>
            <a:r>
              <a:rPr lang="en-GB" sz="1100" baseline="30000">
                <a:solidFill>
                  <a:schemeClr val="tx1"/>
                </a:solidFill>
                <a:latin typeface="Calibri" panose="020F0502020204030204" pitchFamily="34" charset="0"/>
                <a:cs typeface="Calibri" panose="020F0502020204030204" pitchFamily="34" charset="0"/>
              </a:rPr>
              <a:t>rd</a:t>
            </a:r>
            <a:r>
              <a:rPr lang="en-GB" sz="1100">
                <a:solidFill>
                  <a:schemeClr val="tx1"/>
                </a:solidFill>
                <a:latin typeface="Calibri" panose="020F0502020204030204" pitchFamily="34" charset="0"/>
                <a:cs typeface="Calibri" panose="020F0502020204030204" pitchFamily="34" charset="0"/>
              </a:rPr>
              <a:t> Party vendors/customers or Intercompany ones. This is the place where you specify them.</a:t>
            </a:r>
          </a:p>
          <a:p>
            <a:endParaRPr lang="en-GB" sz="1100">
              <a:solidFill>
                <a:schemeClr val="tx1"/>
              </a:solidFill>
              <a:latin typeface="Calibri" panose="020F0502020204030204" pitchFamily="34" charset="0"/>
              <a:cs typeface="Calibri" panose="020F0502020204030204" pitchFamily="34" charset="0"/>
            </a:endParaRPr>
          </a:p>
          <a:p>
            <a:r>
              <a:rPr lang="en-GB" sz="1100">
                <a:solidFill>
                  <a:schemeClr val="tx1"/>
                </a:solidFill>
                <a:latin typeface="Calibri" panose="020F0502020204030204" pitchFamily="34" charset="0"/>
                <a:cs typeface="Calibri" panose="020F0502020204030204" pitchFamily="34" charset="0"/>
              </a:rPr>
              <a:t>For IC AP/AR Regrouping variants, we will put vendor and customer range of 1000-3000. For 3</a:t>
            </a:r>
            <a:r>
              <a:rPr lang="en-GB" sz="1100" baseline="30000">
                <a:solidFill>
                  <a:schemeClr val="tx1"/>
                </a:solidFill>
                <a:latin typeface="Calibri" panose="020F0502020204030204" pitchFamily="34" charset="0"/>
                <a:cs typeface="Calibri" panose="020F0502020204030204" pitchFamily="34" charset="0"/>
              </a:rPr>
              <a:t>rd</a:t>
            </a:r>
            <a:r>
              <a:rPr lang="en-GB" sz="1100">
                <a:solidFill>
                  <a:schemeClr val="tx1"/>
                </a:solidFill>
                <a:latin typeface="Calibri" panose="020F0502020204030204" pitchFamily="34" charset="0"/>
                <a:cs typeface="Calibri" panose="020F0502020204030204" pitchFamily="34" charset="0"/>
              </a:rPr>
              <a:t> Party vendors/customers we will put the range of not equal to 1000-3000.</a:t>
            </a:r>
            <a:r>
              <a:rPr lang="en-US" sz="1100">
                <a:solidFill>
                  <a:schemeClr val="tx1"/>
                </a:solidFill>
                <a:latin typeface="Calibri" panose="020F0502020204030204" pitchFamily="34" charset="0"/>
                <a:cs typeface="Calibri" panose="020F0502020204030204" pitchFamily="34" charset="0"/>
              </a:rPr>
              <a:t> Account Type selection is always D and K, which represents customers and vendors accounts only.</a:t>
            </a:r>
            <a:endParaRPr lang="en-GB" sz="1100">
              <a:solidFill>
                <a:schemeClr val="tx1"/>
              </a:solidFill>
              <a:latin typeface="Calibri" panose="020F0502020204030204" pitchFamily="34" charset="0"/>
              <a:cs typeface="Calibri" panose="020F0502020204030204" pitchFamily="34" charset="0"/>
            </a:endParaRPr>
          </a:p>
        </p:txBody>
      </p:sp>
      <p:cxnSp>
        <p:nvCxnSpPr>
          <p:cNvPr id="59" name="Connector: Elbow 58">
            <a:extLst>
              <a:ext uri="{FF2B5EF4-FFF2-40B4-BE49-F238E27FC236}">
                <a16:creationId xmlns:a16="http://schemas.microsoft.com/office/drawing/2014/main" id="{73C437F0-25F9-40A3-9737-700A030AAA9B}"/>
              </a:ext>
            </a:extLst>
          </p:cNvPr>
          <p:cNvCxnSpPr>
            <a:cxnSpLocks/>
            <a:stCxn id="21" idx="3"/>
            <a:endCxn id="28" idx="1"/>
          </p:cNvCxnSpPr>
          <p:nvPr/>
        </p:nvCxnSpPr>
        <p:spPr>
          <a:xfrm flipV="1">
            <a:off x="3475084" y="2328985"/>
            <a:ext cx="240703" cy="1040416"/>
          </a:xfrm>
          <a:prstGeom prst="bentConnector3">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DCDD51C-244A-48F1-83E9-5F7189EACD27}"/>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2389269" y="3964567"/>
            <a:ext cx="2171627" cy="2821854"/>
          </a:xfrm>
          <a:prstGeom prst="rect">
            <a:avLst/>
          </a:prstGeom>
          <a:effectLst>
            <a:outerShdw blurRad="50800" dist="38100" dir="2700000" algn="tl" rotWithShape="0">
              <a:prstClr val="black">
                <a:alpha val="40000"/>
              </a:prstClr>
            </a:outerShdw>
          </a:effectLst>
        </p:spPr>
      </p:pic>
      <p:sp>
        <p:nvSpPr>
          <p:cNvPr id="36" name="Rectangle: Rounded Corners 35">
            <a:extLst>
              <a:ext uri="{FF2B5EF4-FFF2-40B4-BE49-F238E27FC236}">
                <a16:creationId xmlns:a16="http://schemas.microsoft.com/office/drawing/2014/main" id="{4303EA17-8DBD-4178-B473-0C139F0227A4}"/>
              </a:ext>
            </a:extLst>
          </p:cNvPr>
          <p:cNvSpPr/>
          <p:nvPr/>
        </p:nvSpPr>
        <p:spPr>
          <a:xfrm>
            <a:off x="3330994" y="5652303"/>
            <a:ext cx="1124628" cy="200334"/>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8" name="Rectangle 37">
            <a:extLst>
              <a:ext uri="{FF2B5EF4-FFF2-40B4-BE49-F238E27FC236}">
                <a16:creationId xmlns:a16="http://schemas.microsoft.com/office/drawing/2014/main" id="{17E07AA9-D6D5-47DE-A972-0B50D8494ECD}"/>
              </a:ext>
            </a:extLst>
          </p:cNvPr>
          <p:cNvSpPr/>
          <p:nvPr/>
        </p:nvSpPr>
        <p:spPr>
          <a:xfrm>
            <a:off x="4871257" y="3206672"/>
            <a:ext cx="7027023" cy="916442"/>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This checkbox is ticked as we would like to repost the balances in a vendor/customer which are linked to their old reconciliation account to the new one, in case the reconciliation account for the vendor/customer has changed during the month.</a:t>
            </a:r>
          </a:p>
        </p:txBody>
      </p:sp>
      <p:sp>
        <p:nvSpPr>
          <p:cNvPr id="39" name="Rectangle: Rounded Corners 38">
            <a:extLst>
              <a:ext uri="{FF2B5EF4-FFF2-40B4-BE49-F238E27FC236}">
                <a16:creationId xmlns:a16="http://schemas.microsoft.com/office/drawing/2014/main" id="{42B22A56-B323-4492-8EB4-21036ECC03E3}"/>
              </a:ext>
            </a:extLst>
          </p:cNvPr>
          <p:cNvSpPr/>
          <p:nvPr/>
        </p:nvSpPr>
        <p:spPr>
          <a:xfrm>
            <a:off x="2394723" y="3963988"/>
            <a:ext cx="1080359" cy="22411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sng" strike="noStrike" kern="1200" cap="none" spc="0" normalizeH="0" baseline="0" noProof="0">
                <a:ln>
                  <a:noFill/>
                </a:ln>
                <a:solidFill>
                  <a:srgbClr val="00B2A9">
                    <a:lumMod val="50000"/>
                  </a:srgbClr>
                </a:solidFill>
                <a:effectLst/>
                <a:uLnTx/>
                <a:uFillTx/>
                <a:latin typeface="Arial" panose="020B0604020202020204"/>
                <a:ea typeface="+mn-ea"/>
                <a:cs typeface="+mn-cs"/>
              </a:rPr>
              <a:t>Parameters</a:t>
            </a: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tab</a:t>
            </a:r>
          </a:p>
        </p:txBody>
      </p:sp>
      <p:cxnSp>
        <p:nvCxnSpPr>
          <p:cNvPr id="15" name="Connector: Elbow 14">
            <a:extLst>
              <a:ext uri="{FF2B5EF4-FFF2-40B4-BE49-F238E27FC236}">
                <a16:creationId xmlns:a16="http://schemas.microsoft.com/office/drawing/2014/main" id="{CE7D15BC-4638-4351-8AED-389076951C9C}"/>
              </a:ext>
            </a:extLst>
          </p:cNvPr>
          <p:cNvCxnSpPr>
            <a:cxnSpLocks/>
            <a:stCxn id="36" idx="3"/>
            <a:endCxn id="38" idx="1"/>
          </p:cNvCxnSpPr>
          <p:nvPr/>
        </p:nvCxnSpPr>
        <p:spPr>
          <a:xfrm flipV="1">
            <a:off x="4455622" y="3664893"/>
            <a:ext cx="415635" cy="2087577"/>
          </a:xfrm>
          <a:prstGeom prst="bentConnector3">
            <a:avLst>
              <a:gd name="adj1" fmla="val 50000"/>
            </a:avLst>
          </a:prstGeom>
          <a:ln w="9525">
            <a:solidFill>
              <a:schemeClr val="accent6"/>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AD1632F9-E390-4D0F-9B6B-9B1690A03F11}"/>
              </a:ext>
            </a:extLst>
          </p:cNvPr>
          <p:cNvSpPr/>
          <p:nvPr/>
        </p:nvSpPr>
        <p:spPr>
          <a:xfrm>
            <a:off x="3330994" y="6022276"/>
            <a:ext cx="1124628" cy="200334"/>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6" name="Rectangle 45">
            <a:extLst>
              <a:ext uri="{FF2B5EF4-FFF2-40B4-BE49-F238E27FC236}">
                <a16:creationId xmlns:a16="http://schemas.microsoft.com/office/drawing/2014/main" id="{C0ECB9E2-D7B7-4789-9FAA-23C6B421BA4B}"/>
              </a:ext>
            </a:extLst>
          </p:cNvPr>
          <p:cNvSpPr/>
          <p:nvPr/>
        </p:nvSpPr>
        <p:spPr>
          <a:xfrm>
            <a:off x="4868464" y="4203085"/>
            <a:ext cx="7027023" cy="916442"/>
          </a:xfrm>
          <a:prstGeom prst="rect">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This shows “1” by default and this default should be kept in your variant. This means when we run AP/AR Regrouping, the system will take into consideration of the revaluation results for the vendors/customers that going to be regrouped.</a:t>
            </a:r>
          </a:p>
        </p:txBody>
      </p:sp>
      <p:cxnSp>
        <p:nvCxnSpPr>
          <p:cNvPr id="30" name="Connector: Elbow 29">
            <a:extLst>
              <a:ext uri="{FF2B5EF4-FFF2-40B4-BE49-F238E27FC236}">
                <a16:creationId xmlns:a16="http://schemas.microsoft.com/office/drawing/2014/main" id="{57B625CE-24D0-447B-A4E9-737F6FEC30A8}"/>
              </a:ext>
            </a:extLst>
          </p:cNvPr>
          <p:cNvCxnSpPr>
            <a:stCxn id="44" idx="3"/>
            <a:endCxn id="46" idx="1"/>
          </p:cNvCxnSpPr>
          <p:nvPr/>
        </p:nvCxnSpPr>
        <p:spPr>
          <a:xfrm flipV="1">
            <a:off x="4455622" y="4661306"/>
            <a:ext cx="412842" cy="1461137"/>
          </a:xfrm>
          <a:prstGeom prst="bentConnector3">
            <a:avLst>
              <a:gd name="adj1" fmla="val 70135"/>
            </a:avLst>
          </a:prstGeom>
          <a:ln w="9525">
            <a:solidFill>
              <a:schemeClr val="accent2"/>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111C9F1-4F3E-420D-84EA-A60DF9E9AAF2}"/>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5009463" y="5534669"/>
            <a:ext cx="2042365" cy="1175547"/>
          </a:xfrm>
          <a:prstGeom prst="rect">
            <a:avLst/>
          </a:prstGeom>
          <a:effectLst>
            <a:outerShdw blurRad="50800" dist="38100" dir="2700000" algn="tl" rotWithShape="0">
              <a:prstClr val="black">
                <a:alpha val="40000"/>
              </a:prstClr>
            </a:outerShdw>
          </a:effectLst>
        </p:spPr>
      </p:pic>
      <p:sp>
        <p:nvSpPr>
          <p:cNvPr id="19" name="Rectangle: Rounded Corners 18">
            <a:extLst>
              <a:ext uri="{FF2B5EF4-FFF2-40B4-BE49-F238E27FC236}">
                <a16:creationId xmlns:a16="http://schemas.microsoft.com/office/drawing/2014/main" id="{17ABFCFF-F31C-4659-B356-F5055CD18D92}"/>
              </a:ext>
            </a:extLst>
          </p:cNvPr>
          <p:cNvSpPr/>
          <p:nvPr/>
        </p:nvSpPr>
        <p:spPr>
          <a:xfrm>
            <a:off x="5018741" y="5540247"/>
            <a:ext cx="830261" cy="22411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Output tab</a:t>
            </a:r>
          </a:p>
        </p:txBody>
      </p:sp>
      <p:sp>
        <p:nvSpPr>
          <p:cNvPr id="20" name="Rectangle: Rounded Corners 19">
            <a:extLst>
              <a:ext uri="{FF2B5EF4-FFF2-40B4-BE49-F238E27FC236}">
                <a16:creationId xmlns:a16="http://schemas.microsoft.com/office/drawing/2014/main" id="{CD9C29B9-0D4A-409F-99B2-88B6E1EFAF37}"/>
              </a:ext>
            </a:extLst>
          </p:cNvPr>
          <p:cNvSpPr/>
          <p:nvPr/>
        </p:nvSpPr>
        <p:spPr>
          <a:xfrm>
            <a:off x="6159730" y="6036953"/>
            <a:ext cx="813899" cy="185657"/>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A1C998CE-2328-4957-B929-4DF691B36458}"/>
              </a:ext>
            </a:extLst>
          </p:cNvPr>
          <p:cNvSpPr/>
          <p:nvPr/>
        </p:nvSpPr>
        <p:spPr>
          <a:xfrm>
            <a:off x="7500396" y="5267513"/>
            <a:ext cx="4395092" cy="916442"/>
          </a:xfrm>
          <a:prstGeom prst="rect">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100">
                <a:solidFill>
                  <a:schemeClr val="tx1"/>
                </a:solidFill>
                <a:latin typeface="Calibri" panose="020F0502020204030204" pitchFamily="34" charset="0"/>
                <a:cs typeface="Calibri" panose="020F0502020204030204" pitchFamily="34" charset="0"/>
              </a:rPr>
              <a:t>This is ticked by system default. It will allow the log to be displayed once you have executed this transaction on the screen.</a:t>
            </a:r>
          </a:p>
        </p:txBody>
      </p:sp>
      <p:cxnSp>
        <p:nvCxnSpPr>
          <p:cNvPr id="23" name="Connector: Elbow 22">
            <a:extLst>
              <a:ext uri="{FF2B5EF4-FFF2-40B4-BE49-F238E27FC236}">
                <a16:creationId xmlns:a16="http://schemas.microsoft.com/office/drawing/2014/main" id="{AD68EEE0-2E93-4E2B-984E-C66592D78D3E}"/>
              </a:ext>
            </a:extLst>
          </p:cNvPr>
          <p:cNvCxnSpPr>
            <a:cxnSpLocks/>
            <a:stCxn id="5" idx="3"/>
            <a:endCxn id="22" idx="1"/>
          </p:cNvCxnSpPr>
          <p:nvPr/>
        </p:nvCxnSpPr>
        <p:spPr>
          <a:xfrm flipV="1">
            <a:off x="7051828" y="5725734"/>
            <a:ext cx="448568" cy="396709"/>
          </a:xfrm>
          <a:prstGeom prst="bentConnector3">
            <a:avLst>
              <a:gd name="adj1" fmla="val 50000"/>
            </a:avLst>
          </a:prstGeom>
          <a:ln w="9525">
            <a:solidFill>
              <a:schemeClr val="accent4"/>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029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AP/AR Regrouping: Output</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5</a:t>
            </a:fld>
            <a:endParaRPr lang="en-GB"/>
          </a:p>
        </p:txBody>
      </p:sp>
      <p:pic>
        <p:nvPicPr>
          <p:cNvPr id="6" name="Picture 5">
            <a:extLst>
              <a:ext uri="{FF2B5EF4-FFF2-40B4-BE49-F238E27FC236}">
                <a16:creationId xmlns:a16="http://schemas.microsoft.com/office/drawing/2014/main" id="{A6002002-527C-48FD-86B6-6B7D372E6B6F}"/>
              </a:ext>
            </a:extLst>
          </p:cNvPr>
          <p:cNvPicPr>
            <a:picLocks noChangeAspect="1"/>
          </p:cNvPicPr>
          <p:nvPr/>
        </p:nvPicPr>
        <p:blipFill>
          <a:blip r:embed="rId3"/>
          <a:stretch>
            <a:fillRect/>
          </a:stretch>
        </p:blipFill>
        <p:spPr>
          <a:xfrm>
            <a:off x="357100" y="1507228"/>
            <a:ext cx="5745230" cy="2192433"/>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7D6EFBF8-6011-493F-8B7A-9D597B4A0E48}"/>
              </a:ext>
            </a:extLst>
          </p:cNvPr>
          <p:cNvPicPr>
            <a:picLocks noChangeAspect="1"/>
          </p:cNvPicPr>
          <p:nvPr/>
        </p:nvPicPr>
        <p:blipFill>
          <a:blip r:embed="rId4"/>
          <a:stretch>
            <a:fillRect/>
          </a:stretch>
        </p:blipFill>
        <p:spPr>
          <a:xfrm>
            <a:off x="6237543" y="1507228"/>
            <a:ext cx="5597357" cy="2308399"/>
          </a:xfrm>
          <a:prstGeom prst="rect">
            <a:avLst/>
          </a:prstGeom>
          <a:ln>
            <a:solidFill>
              <a:srgbClr val="FF0000"/>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C0A965C5-E4D2-4989-8B5B-701F96EFEA75}"/>
              </a:ext>
            </a:extLst>
          </p:cNvPr>
          <p:cNvPicPr>
            <a:picLocks noChangeAspect="1"/>
          </p:cNvPicPr>
          <p:nvPr/>
        </p:nvPicPr>
        <p:blipFill>
          <a:blip r:embed="rId5"/>
          <a:stretch>
            <a:fillRect/>
          </a:stretch>
        </p:blipFill>
        <p:spPr>
          <a:xfrm>
            <a:off x="392815" y="3829412"/>
            <a:ext cx="4559696" cy="1833997"/>
          </a:xfrm>
          <a:prstGeom prst="rect">
            <a:avLst/>
          </a:prstGeom>
          <a:ln>
            <a:solidFill>
              <a:schemeClr val="accent4"/>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DA6CE7F7-90EC-4A97-B9B7-49FCF727B252}"/>
              </a:ext>
            </a:extLst>
          </p:cNvPr>
          <p:cNvPicPr>
            <a:picLocks noChangeAspect="1"/>
          </p:cNvPicPr>
          <p:nvPr/>
        </p:nvPicPr>
        <p:blipFill>
          <a:blip r:embed="rId6"/>
          <a:stretch>
            <a:fillRect/>
          </a:stretch>
        </p:blipFill>
        <p:spPr>
          <a:xfrm>
            <a:off x="357100" y="5895729"/>
            <a:ext cx="6166492" cy="606909"/>
          </a:xfrm>
          <a:prstGeom prst="rect">
            <a:avLst/>
          </a:prstGeom>
          <a:ln>
            <a:solidFill>
              <a:schemeClr val="accent2"/>
            </a:solidFill>
          </a:ln>
          <a:effectLst>
            <a:outerShdw blurRad="50800" dist="38100" dir="2700000" algn="tl" rotWithShape="0">
              <a:prstClr val="black">
                <a:alpha val="40000"/>
              </a:prstClr>
            </a:outerShdw>
          </a:effectLst>
        </p:spPr>
      </p:pic>
      <p:sp>
        <p:nvSpPr>
          <p:cNvPr id="27" name="Rectangle: Rounded Corners 26">
            <a:extLst>
              <a:ext uri="{FF2B5EF4-FFF2-40B4-BE49-F238E27FC236}">
                <a16:creationId xmlns:a16="http://schemas.microsoft.com/office/drawing/2014/main" id="{5E5E6223-CAB1-4005-B19A-F04E093C3103}"/>
              </a:ext>
            </a:extLst>
          </p:cNvPr>
          <p:cNvSpPr/>
          <p:nvPr/>
        </p:nvSpPr>
        <p:spPr>
          <a:xfrm>
            <a:off x="2261062" y="1495645"/>
            <a:ext cx="448887" cy="12441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205B6D05-0308-4DA1-96BE-919CEAD69D98}"/>
              </a:ext>
            </a:extLst>
          </p:cNvPr>
          <p:cNvSpPr/>
          <p:nvPr/>
        </p:nvSpPr>
        <p:spPr>
          <a:xfrm>
            <a:off x="2762718" y="1507228"/>
            <a:ext cx="448887" cy="124417"/>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31" name="Connector: Elbow 30">
            <a:extLst>
              <a:ext uri="{FF2B5EF4-FFF2-40B4-BE49-F238E27FC236}">
                <a16:creationId xmlns:a16="http://schemas.microsoft.com/office/drawing/2014/main" id="{F7CF7853-2E08-4084-8F23-5005FBB14527}"/>
              </a:ext>
            </a:extLst>
          </p:cNvPr>
          <p:cNvCxnSpPr>
            <a:cxnSpLocks/>
            <a:stCxn id="29" idx="2"/>
            <a:endCxn id="8" idx="1"/>
          </p:cNvCxnSpPr>
          <p:nvPr/>
        </p:nvCxnSpPr>
        <p:spPr>
          <a:xfrm rot="5400000">
            <a:off x="132606" y="1891855"/>
            <a:ext cx="3114766" cy="2594347"/>
          </a:xfrm>
          <a:prstGeom prst="bentConnector4">
            <a:avLst>
              <a:gd name="adj1" fmla="val 13929"/>
              <a:gd name="adj2" fmla="val 103043"/>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AB764F4F-6880-43D6-A503-33FBB57D3417}"/>
              </a:ext>
            </a:extLst>
          </p:cNvPr>
          <p:cNvCxnSpPr>
            <a:cxnSpLocks/>
            <a:stCxn id="27" idx="0"/>
            <a:endCxn id="7" idx="0"/>
          </p:cNvCxnSpPr>
          <p:nvPr/>
        </p:nvCxnSpPr>
        <p:spPr>
          <a:xfrm rot="16200000" flipH="1">
            <a:off x="5755072" y="-1773922"/>
            <a:ext cx="11583" cy="6550716"/>
          </a:xfrm>
          <a:prstGeom prst="bentConnector3">
            <a:avLst>
              <a:gd name="adj1" fmla="val -1973582"/>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245BECA0-F9BE-444E-B815-79E83C4E79BC}"/>
              </a:ext>
            </a:extLst>
          </p:cNvPr>
          <p:cNvSpPr/>
          <p:nvPr/>
        </p:nvSpPr>
        <p:spPr>
          <a:xfrm>
            <a:off x="568036" y="5507817"/>
            <a:ext cx="1693026" cy="130653"/>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8" name="Connector: Elbow 17">
            <a:extLst>
              <a:ext uri="{FF2B5EF4-FFF2-40B4-BE49-F238E27FC236}">
                <a16:creationId xmlns:a16="http://schemas.microsoft.com/office/drawing/2014/main" id="{95F28DE4-584F-45F1-8705-6C7413B3990A}"/>
              </a:ext>
            </a:extLst>
          </p:cNvPr>
          <p:cNvCxnSpPr>
            <a:cxnSpLocks/>
            <a:stCxn id="8" idx="2"/>
            <a:endCxn id="9" idx="0"/>
          </p:cNvCxnSpPr>
          <p:nvPr/>
        </p:nvCxnSpPr>
        <p:spPr>
          <a:xfrm rot="16200000" flipH="1">
            <a:off x="2940344" y="5395727"/>
            <a:ext cx="232320" cy="767683"/>
          </a:xfrm>
          <a:prstGeom prst="bentConnector3">
            <a:avLst/>
          </a:prstGeom>
          <a:ln w="9525">
            <a:solidFill>
              <a:schemeClr val="accent2"/>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E1491864-ED52-4587-A631-AD7C8C353BB2}"/>
              </a:ext>
            </a:extLst>
          </p:cNvPr>
          <p:cNvSpPr/>
          <p:nvPr/>
        </p:nvSpPr>
        <p:spPr>
          <a:xfrm>
            <a:off x="357100" y="1428455"/>
            <a:ext cx="1413511" cy="22411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FAGLF101 output log</a:t>
            </a:r>
          </a:p>
        </p:txBody>
      </p:sp>
      <p:sp>
        <p:nvSpPr>
          <p:cNvPr id="41" name="Rectangle: Rounded Corners 40">
            <a:extLst>
              <a:ext uri="{FF2B5EF4-FFF2-40B4-BE49-F238E27FC236}">
                <a16:creationId xmlns:a16="http://schemas.microsoft.com/office/drawing/2014/main" id="{B83D40FD-55FD-423A-9F4E-188BE98AFA19}"/>
              </a:ext>
            </a:extLst>
          </p:cNvPr>
          <p:cNvSpPr/>
          <p:nvPr/>
        </p:nvSpPr>
        <p:spPr>
          <a:xfrm>
            <a:off x="5993476" y="5731914"/>
            <a:ext cx="530116" cy="224111"/>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SM35</a:t>
            </a:r>
          </a:p>
        </p:txBody>
      </p:sp>
      <p:sp>
        <p:nvSpPr>
          <p:cNvPr id="42" name="Rectangle 41">
            <a:extLst>
              <a:ext uri="{FF2B5EF4-FFF2-40B4-BE49-F238E27FC236}">
                <a16:creationId xmlns:a16="http://schemas.microsoft.com/office/drawing/2014/main" id="{FC6518BC-DE45-4488-AB25-13D6ED43FEF4}"/>
              </a:ext>
            </a:extLst>
          </p:cNvPr>
          <p:cNvSpPr/>
          <p:nvPr/>
        </p:nvSpPr>
        <p:spPr>
          <a:xfrm>
            <a:off x="5125392" y="3931981"/>
            <a:ext cx="6836623" cy="1862048"/>
          </a:xfrm>
          <a:prstGeom prst="rect">
            <a:avLst/>
          </a:prstGeom>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a:solidFill>
                  <a:srgbClr val="000000"/>
                </a:solidFill>
                <a:latin typeface="Georgia" panose="02040502050405020303" pitchFamily="18" charset="0"/>
              </a:rPr>
              <a:t>You should review and save the output log of FAGLF101 if you execute it outside of FCC.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Unlike Revaluation and Translation, you will not be able to see the actual document number of the AP/AR Regrouping posting on the Postings tab of the output log, as these documents are only proposed to be posted and will only be posted once the Batch Input session is executed in SM35.</a:t>
            </a:r>
          </a:p>
          <a:p>
            <a:pPr marL="171450" lvl="0" indent="-171450">
              <a:lnSpc>
                <a:spcPts val="1200"/>
              </a:lnSpc>
              <a:spcBef>
                <a:spcPts val="600"/>
              </a:spcBef>
              <a:buFont typeface="Arial" panose="020B0604020202020204" pitchFamily="34" charset="0"/>
              <a:buChar char="•"/>
              <a:defRPr/>
            </a:pPr>
            <a:r>
              <a:rPr lang="en-GB" sz="1150" i="1">
                <a:solidFill>
                  <a:srgbClr val="000000"/>
                </a:solidFill>
                <a:latin typeface="Georgia" panose="02040502050405020303" pitchFamily="18" charset="0"/>
              </a:rPr>
              <a:t>Postings are made based on the “Sort Method” rules. In this example, a customer open item under reconciliation account 165010 has a negative balance  of USD 500, which needs to be regrouped to a payable account, as you can see on the Postings log. The Line Item text describes the source reconciliation account from which the regrouping has been done.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a:solidFill>
                  <a:srgbClr val="000000"/>
                </a:solidFill>
                <a:latin typeface="Georgia" panose="02040502050405020303" pitchFamily="18" charset="0"/>
              </a:rPr>
              <a:t>Messages are important especially when there are errors. You should Test Run this transaction (do not select Generate Postings) to prevent critical errors during update run.</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3" name="Rectangle: Rounded Corners 42">
            <a:extLst>
              <a:ext uri="{FF2B5EF4-FFF2-40B4-BE49-F238E27FC236}">
                <a16:creationId xmlns:a16="http://schemas.microsoft.com/office/drawing/2014/main" id="{673BEC3D-1FDC-4F74-9F4F-CF3A40E06FD6}"/>
              </a:ext>
            </a:extLst>
          </p:cNvPr>
          <p:cNvSpPr/>
          <p:nvPr/>
        </p:nvSpPr>
        <p:spPr>
          <a:xfrm>
            <a:off x="568036" y="3064611"/>
            <a:ext cx="4104268" cy="157892"/>
          </a:xfrm>
          <a:prstGeom prst="roundRect">
            <a:avLst>
              <a:gd name="adj" fmla="val 4268"/>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5F1A7115-CC8D-4DF8-82C3-1367F1DDE12F}"/>
              </a:ext>
            </a:extLst>
          </p:cNvPr>
          <p:cNvSpPr/>
          <p:nvPr/>
        </p:nvSpPr>
        <p:spPr>
          <a:xfrm>
            <a:off x="6317793" y="2667003"/>
            <a:ext cx="4096206" cy="1120826"/>
          </a:xfrm>
          <a:prstGeom prst="roundRect">
            <a:avLst>
              <a:gd name="adj" fmla="val 4268"/>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33" name="Straight Arrow Connector 32">
            <a:extLst>
              <a:ext uri="{FF2B5EF4-FFF2-40B4-BE49-F238E27FC236}">
                <a16:creationId xmlns:a16="http://schemas.microsoft.com/office/drawing/2014/main" id="{CD547B0D-C9EC-4391-B659-82358B348623}"/>
              </a:ext>
            </a:extLst>
          </p:cNvPr>
          <p:cNvCxnSpPr>
            <a:cxnSpLocks/>
            <a:stCxn id="43" idx="3"/>
          </p:cNvCxnSpPr>
          <p:nvPr/>
        </p:nvCxnSpPr>
        <p:spPr>
          <a:xfrm>
            <a:off x="4672304" y="3143557"/>
            <a:ext cx="1645489" cy="62321"/>
          </a:xfrm>
          <a:prstGeom prst="straightConnector1">
            <a:avLst/>
          </a:prstGeom>
          <a:ln w="9525">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677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AP/AR Regrouping Posting Example</a:t>
            </a:r>
          </a:p>
        </p:txBody>
      </p:sp>
      <p:pic>
        <p:nvPicPr>
          <p:cNvPr id="5" name="Picture 4">
            <a:extLst>
              <a:ext uri="{FF2B5EF4-FFF2-40B4-BE49-F238E27FC236}">
                <a16:creationId xmlns:a16="http://schemas.microsoft.com/office/drawing/2014/main" id="{7EFFE5F6-8260-4233-AB91-50845364B52D}"/>
              </a:ext>
            </a:extLst>
          </p:cNvPr>
          <p:cNvPicPr>
            <a:picLocks noChangeAspect="1"/>
          </p:cNvPicPr>
          <p:nvPr/>
        </p:nvPicPr>
        <p:blipFill>
          <a:blip r:embed="rId2"/>
          <a:stretch>
            <a:fillRect/>
          </a:stretch>
        </p:blipFill>
        <p:spPr>
          <a:xfrm>
            <a:off x="284350" y="1371323"/>
            <a:ext cx="5135416" cy="165595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E43F941B-A1BC-44CC-8B68-ED255C91171E}"/>
              </a:ext>
            </a:extLst>
          </p:cNvPr>
          <p:cNvPicPr>
            <a:picLocks noChangeAspect="1"/>
          </p:cNvPicPr>
          <p:nvPr/>
        </p:nvPicPr>
        <p:blipFill>
          <a:blip r:embed="rId3"/>
          <a:stretch>
            <a:fillRect/>
          </a:stretch>
        </p:blipFill>
        <p:spPr>
          <a:xfrm>
            <a:off x="5454671" y="1749261"/>
            <a:ext cx="6221390" cy="1278012"/>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79DB4EC1-0109-4704-ACE9-25BBB45D11B3}"/>
              </a:ext>
            </a:extLst>
          </p:cNvPr>
          <p:cNvPicPr>
            <a:picLocks noChangeAspect="1"/>
          </p:cNvPicPr>
          <p:nvPr/>
        </p:nvPicPr>
        <p:blipFill>
          <a:blip r:embed="rId4"/>
          <a:stretch>
            <a:fillRect/>
          </a:stretch>
        </p:blipFill>
        <p:spPr>
          <a:xfrm>
            <a:off x="284350" y="3245788"/>
            <a:ext cx="9023927" cy="2912295"/>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2D1A8FA4-1B65-470B-95DA-FAEE2CAA8B84}"/>
              </a:ext>
            </a:extLst>
          </p:cNvPr>
          <p:cNvPicPr>
            <a:picLocks noChangeAspect="1"/>
          </p:cNvPicPr>
          <p:nvPr/>
        </p:nvPicPr>
        <p:blipFill>
          <a:blip r:embed="rId5"/>
          <a:stretch>
            <a:fillRect/>
          </a:stretch>
        </p:blipFill>
        <p:spPr>
          <a:xfrm>
            <a:off x="7254351" y="3549119"/>
            <a:ext cx="3408450" cy="3261534"/>
          </a:xfrm>
          <a:prstGeom prst="rect">
            <a:avLst/>
          </a:prstGeom>
          <a:effectLst>
            <a:outerShdw blurRad="63500" sx="102000" sy="102000" algn="ctr" rotWithShape="0">
              <a:prstClr val="black">
                <a:alpha val="40000"/>
              </a:prstClr>
            </a:outerShdw>
          </a:effectLst>
        </p:spPr>
      </p:pic>
      <p:sp>
        <p:nvSpPr>
          <p:cNvPr id="11" name="Rounded Rectangle 8">
            <a:extLst>
              <a:ext uri="{FF2B5EF4-FFF2-40B4-BE49-F238E27FC236}">
                <a16:creationId xmlns:a16="http://schemas.microsoft.com/office/drawing/2014/main" id="{9B694C10-96EA-4819-AE37-07A4AE0C1424}"/>
              </a:ext>
            </a:extLst>
          </p:cNvPr>
          <p:cNvSpPr/>
          <p:nvPr/>
        </p:nvSpPr>
        <p:spPr bwMode="auto">
          <a:xfrm>
            <a:off x="3287489" y="1371323"/>
            <a:ext cx="2132277" cy="356325"/>
          </a:xfrm>
          <a:prstGeom prst="roundRect">
            <a:avLst/>
          </a:prstGeom>
          <a:ln w="41275">
            <a:solidFill>
              <a:schemeClr val="accent3"/>
            </a:solidFill>
          </a:ln>
        </p:spPr>
        <p:style>
          <a:lnRef idx="2">
            <a:schemeClr val="accent4"/>
          </a:lnRef>
          <a:fillRef idx="1">
            <a:schemeClr val="lt1"/>
          </a:fillRef>
          <a:effectRef idx="0">
            <a:schemeClr val="accent4"/>
          </a:effectRef>
          <a:fontRef idx="minor">
            <a:schemeClr val="dk1"/>
          </a:fontRef>
        </p:style>
        <p:txBody>
          <a:bodyPr vert="horz" wrap="square" lIns="0" tIns="0" rIns="0" bIns="0" numCol="1" rtlCol="0" anchor="ctr" anchorCtr="1" compatLnSpc="1">
            <a:prstTxWarp prst="textNoShape">
              <a:avLst/>
            </a:prstTxWarp>
          </a:bodyPr>
          <a:lstStyle/>
          <a:p>
            <a:pPr>
              <a:spcBef>
                <a:spcPct val="20000"/>
              </a:spcBef>
            </a:pPr>
            <a:r>
              <a:rPr lang="en-GB" sz="900" b="1">
                <a:solidFill>
                  <a:srgbClr val="00B2A9">
                    <a:lumMod val="50000"/>
                  </a:srgbClr>
                </a:solidFill>
                <a:latin typeface="Arial" panose="020B0604020202020204"/>
              </a:rPr>
              <a:t>AP/AR Regrouping Log – Spool list can be displayed in FCC</a:t>
            </a:r>
          </a:p>
        </p:txBody>
      </p:sp>
      <p:sp>
        <p:nvSpPr>
          <p:cNvPr id="12" name="Rounded Rectangle 8">
            <a:extLst>
              <a:ext uri="{FF2B5EF4-FFF2-40B4-BE49-F238E27FC236}">
                <a16:creationId xmlns:a16="http://schemas.microsoft.com/office/drawing/2014/main" id="{8EAC910D-AF86-4F89-A93B-9C69D866C07D}"/>
              </a:ext>
            </a:extLst>
          </p:cNvPr>
          <p:cNvSpPr/>
          <p:nvPr/>
        </p:nvSpPr>
        <p:spPr bwMode="auto">
          <a:xfrm>
            <a:off x="9561126" y="1371322"/>
            <a:ext cx="2132277" cy="356325"/>
          </a:xfrm>
          <a:prstGeom prst="roundRect">
            <a:avLst/>
          </a:prstGeom>
          <a:ln w="41275">
            <a:solidFill>
              <a:schemeClr val="accent3"/>
            </a:solidFill>
          </a:ln>
        </p:spPr>
        <p:style>
          <a:lnRef idx="2">
            <a:schemeClr val="accent4"/>
          </a:lnRef>
          <a:fillRef idx="1">
            <a:schemeClr val="lt1"/>
          </a:fillRef>
          <a:effectRef idx="0">
            <a:schemeClr val="accent4"/>
          </a:effectRef>
          <a:fontRef idx="minor">
            <a:schemeClr val="dk1"/>
          </a:fontRef>
        </p:style>
        <p:txBody>
          <a:bodyPr vert="horz" wrap="square" lIns="0" tIns="0" rIns="0" bIns="0" numCol="1" rtlCol="0" anchor="ctr" anchorCtr="1" compatLnSpc="1">
            <a:prstTxWarp prst="textNoShape">
              <a:avLst/>
            </a:prstTxWarp>
          </a:bodyPr>
          <a:lstStyle/>
          <a:p>
            <a:pPr>
              <a:spcBef>
                <a:spcPct val="20000"/>
              </a:spcBef>
            </a:pPr>
            <a:r>
              <a:rPr lang="en-GB" sz="900" b="1">
                <a:solidFill>
                  <a:srgbClr val="00B2A9">
                    <a:lumMod val="50000"/>
                  </a:srgbClr>
                </a:solidFill>
                <a:latin typeface="Arial" panose="020B0604020202020204"/>
              </a:rPr>
              <a:t>AP/AR Regrouping Log – Spool list can be displayed in FCC</a:t>
            </a:r>
          </a:p>
        </p:txBody>
      </p:sp>
      <p:sp>
        <p:nvSpPr>
          <p:cNvPr id="13" name="Rectangle 12">
            <a:extLst>
              <a:ext uri="{FF2B5EF4-FFF2-40B4-BE49-F238E27FC236}">
                <a16:creationId xmlns:a16="http://schemas.microsoft.com/office/drawing/2014/main" id="{B61CE082-283A-4F75-ACF5-8D6E0DCA20C6}"/>
              </a:ext>
            </a:extLst>
          </p:cNvPr>
          <p:cNvSpPr/>
          <p:nvPr/>
        </p:nvSpPr>
        <p:spPr>
          <a:xfrm>
            <a:off x="5589037" y="2547255"/>
            <a:ext cx="4282751" cy="401217"/>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unded Rectangle 8">
            <a:extLst>
              <a:ext uri="{FF2B5EF4-FFF2-40B4-BE49-F238E27FC236}">
                <a16:creationId xmlns:a16="http://schemas.microsoft.com/office/drawing/2014/main" id="{3C0A7CF8-E9BE-4D75-84AE-78F3CC540E1B}"/>
              </a:ext>
            </a:extLst>
          </p:cNvPr>
          <p:cNvSpPr/>
          <p:nvPr/>
        </p:nvSpPr>
        <p:spPr bwMode="auto">
          <a:xfrm>
            <a:off x="6204858" y="3250837"/>
            <a:ext cx="2480620" cy="178163"/>
          </a:xfrm>
          <a:prstGeom prst="roundRect">
            <a:avLst/>
          </a:prstGeom>
          <a:ln w="41275">
            <a:solidFill>
              <a:schemeClr val="accent3"/>
            </a:solidFill>
          </a:ln>
        </p:spPr>
        <p:style>
          <a:lnRef idx="2">
            <a:schemeClr val="accent4"/>
          </a:lnRef>
          <a:fillRef idx="1">
            <a:schemeClr val="lt1"/>
          </a:fillRef>
          <a:effectRef idx="0">
            <a:schemeClr val="accent4"/>
          </a:effectRef>
          <a:fontRef idx="minor">
            <a:schemeClr val="dk1"/>
          </a:fontRef>
        </p:style>
        <p:txBody>
          <a:bodyPr vert="horz" wrap="square" lIns="0" tIns="0" rIns="0" bIns="0" numCol="1" rtlCol="0" anchor="ctr" anchorCtr="1" compatLnSpc="1">
            <a:prstTxWarp prst="textNoShape">
              <a:avLst/>
            </a:prstTxWarp>
          </a:bodyPr>
          <a:lstStyle/>
          <a:p>
            <a:pPr>
              <a:spcBef>
                <a:spcPct val="20000"/>
              </a:spcBef>
            </a:pPr>
            <a:r>
              <a:rPr lang="en-GB" sz="900" b="1">
                <a:solidFill>
                  <a:srgbClr val="00B2A9">
                    <a:lumMod val="50000"/>
                  </a:srgbClr>
                </a:solidFill>
                <a:latin typeface="Arial" panose="020B0604020202020204"/>
              </a:rPr>
              <a:t>Document posted based on the above log</a:t>
            </a:r>
          </a:p>
        </p:txBody>
      </p:sp>
      <p:sp>
        <p:nvSpPr>
          <p:cNvPr id="15" name="Rectangle 14">
            <a:extLst>
              <a:ext uri="{FF2B5EF4-FFF2-40B4-BE49-F238E27FC236}">
                <a16:creationId xmlns:a16="http://schemas.microsoft.com/office/drawing/2014/main" id="{536FB00B-ABBF-446F-9524-82258CD80701}"/>
              </a:ext>
            </a:extLst>
          </p:cNvPr>
          <p:cNvSpPr/>
          <p:nvPr/>
        </p:nvSpPr>
        <p:spPr>
          <a:xfrm>
            <a:off x="4460033" y="4880071"/>
            <a:ext cx="1212979" cy="203627"/>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F1CCE12-004F-4CFE-A75C-6750D89D4CF4}"/>
              </a:ext>
            </a:extLst>
          </p:cNvPr>
          <p:cNvSpPr/>
          <p:nvPr/>
        </p:nvSpPr>
        <p:spPr>
          <a:xfrm>
            <a:off x="920720" y="5738327"/>
            <a:ext cx="2690227" cy="41975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C912E3A2-5D08-4D83-8A2B-71005995C140}"/>
              </a:ext>
            </a:extLst>
          </p:cNvPr>
          <p:cNvSpPr/>
          <p:nvPr/>
        </p:nvSpPr>
        <p:spPr>
          <a:xfrm>
            <a:off x="7254351" y="3965510"/>
            <a:ext cx="1964294" cy="177282"/>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F4EA1CEB-7922-40AE-A1EA-497221AA9599}"/>
              </a:ext>
            </a:extLst>
          </p:cNvPr>
          <p:cNvSpPr/>
          <p:nvPr/>
        </p:nvSpPr>
        <p:spPr>
          <a:xfrm>
            <a:off x="7473820" y="6461414"/>
            <a:ext cx="1968760" cy="349239"/>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EA4A3DFB-719E-4B4E-8864-F8997B333294}"/>
              </a:ext>
            </a:extLst>
          </p:cNvPr>
          <p:cNvSpPr/>
          <p:nvPr/>
        </p:nvSpPr>
        <p:spPr>
          <a:xfrm>
            <a:off x="7473820" y="5318449"/>
            <a:ext cx="1287625" cy="161748"/>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peech Bubble: Rectangle 19">
            <a:extLst>
              <a:ext uri="{FF2B5EF4-FFF2-40B4-BE49-F238E27FC236}">
                <a16:creationId xmlns:a16="http://schemas.microsoft.com/office/drawing/2014/main" id="{C558A72A-22E4-44CB-8C79-DAE4943AF3A3}"/>
              </a:ext>
            </a:extLst>
          </p:cNvPr>
          <p:cNvSpPr/>
          <p:nvPr/>
        </p:nvSpPr>
        <p:spPr>
          <a:xfrm>
            <a:off x="2811537" y="6419050"/>
            <a:ext cx="4252225" cy="419756"/>
          </a:xfrm>
          <a:prstGeom prst="wedgeRectCallout">
            <a:avLst>
              <a:gd name="adj1" fmla="val 61414"/>
              <a:gd name="adj2" fmla="val 22367"/>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solidFill>
                  <a:schemeClr val="bg1"/>
                </a:solidFill>
                <a:latin typeface="Arial" charset="0"/>
                <a:ea typeface="ＭＳ Ｐゴシック" charset="0"/>
              </a:rPr>
              <a:t>AP/AR </a:t>
            </a:r>
            <a:r>
              <a:rPr lang="en-GB" sz="1050" b="1">
                <a:solidFill>
                  <a:schemeClr val="bg1"/>
                </a:solidFill>
              </a:rPr>
              <a:t>Regrouping is </a:t>
            </a:r>
            <a:r>
              <a:rPr lang="en-GB" sz="1050" b="1" u="sng">
                <a:solidFill>
                  <a:schemeClr val="bg1"/>
                </a:solidFill>
              </a:rPr>
              <a:t>executed for each accounting principle separately,</a:t>
            </a:r>
            <a:r>
              <a:rPr lang="en-GB" sz="1050" b="1">
                <a:solidFill>
                  <a:schemeClr val="bg1"/>
                </a:solidFill>
              </a:rPr>
              <a:t> therefore each posting is made to a specific ledger.</a:t>
            </a:r>
          </a:p>
        </p:txBody>
      </p:sp>
      <p:sp>
        <p:nvSpPr>
          <p:cNvPr id="21" name="Speech Bubble: Rectangle 20">
            <a:extLst>
              <a:ext uri="{FF2B5EF4-FFF2-40B4-BE49-F238E27FC236}">
                <a16:creationId xmlns:a16="http://schemas.microsoft.com/office/drawing/2014/main" id="{80C242DA-1DCD-4D9E-A37C-D09C47B8F2AB}"/>
              </a:ext>
            </a:extLst>
          </p:cNvPr>
          <p:cNvSpPr/>
          <p:nvPr/>
        </p:nvSpPr>
        <p:spPr>
          <a:xfrm>
            <a:off x="9218645" y="4693371"/>
            <a:ext cx="2837804" cy="1167395"/>
          </a:xfrm>
          <a:prstGeom prst="wedgeRectCallout">
            <a:avLst>
              <a:gd name="adj1" fmla="val -65161"/>
              <a:gd name="adj2" fmla="val 13434"/>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dirty="0">
                <a:solidFill>
                  <a:schemeClr val="bg1"/>
                </a:solidFill>
                <a:latin typeface="Arial" charset="0"/>
                <a:ea typeface="ＭＳ Ｐゴシック" charset="0"/>
              </a:rPr>
              <a:t>AP/AR </a:t>
            </a:r>
            <a:r>
              <a:rPr lang="en-GB" sz="1050" b="1" dirty="0">
                <a:solidFill>
                  <a:schemeClr val="bg1"/>
                </a:solidFill>
              </a:rPr>
              <a:t>Regrouping task is built in FCC, which is automatically triggered. Entities can display the job log and spool list in FCC. Note this is a GBS/JTBC level task therefore when reviewing the log you need to first locate the section for your company code on the log.</a:t>
            </a:r>
          </a:p>
        </p:txBody>
      </p:sp>
      <p:sp>
        <p:nvSpPr>
          <p:cNvPr id="22" name="Speech Bubble: Rectangle 21">
            <a:extLst>
              <a:ext uri="{FF2B5EF4-FFF2-40B4-BE49-F238E27FC236}">
                <a16:creationId xmlns:a16="http://schemas.microsoft.com/office/drawing/2014/main" id="{7DE18C31-7468-45A8-B0C9-E7C2171ACBAC}"/>
              </a:ext>
            </a:extLst>
          </p:cNvPr>
          <p:cNvSpPr/>
          <p:nvPr/>
        </p:nvSpPr>
        <p:spPr>
          <a:xfrm>
            <a:off x="9616040" y="3147392"/>
            <a:ext cx="2485763" cy="728209"/>
          </a:xfrm>
          <a:prstGeom prst="wedgeRectCallout">
            <a:avLst>
              <a:gd name="adj1" fmla="val -66716"/>
              <a:gd name="adj2" fmla="val 63277"/>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solidFill>
                  <a:schemeClr val="bg1"/>
                </a:solidFill>
                <a:latin typeface="Arial" charset="0"/>
                <a:ea typeface="ＭＳ Ｐゴシック" charset="0"/>
              </a:rPr>
              <a:t>AP/AR </a:t>
            </a:r>
            <a:r>
              <a:rPr lang="en-GB" sz="1050" b="1">
                <a:solidFill>
                  <a:schemeClr val="bg1"/>
                </a:solidFill>
              </a:rPr>
              <a:t>Regrouping is executed separately for IC </a:t>
            </a:r>
            <a:r>
              <a:rPr lang="en-GB" sz="1050" b="1">
                <a:solidFill>
                  <a:schemeClr val="bg1"/>
                </a:solidFill>
                <a:latin typeface="Arial" charset="0"/>
                <a:ea typeface="ＭＳ Ｐゴシック" charset="0"/>
              </a:rPr>
              <a:t>AP/AR </a:t>
            </a:r>
            <a:r>
              <a:rPr lang="en-GB" sz="1050" b="1">
                <a:solidFill>
                  <a:schemeClr val="bg1"/>
                </a:solidFill>
              </a:rPr>
              <a:t>and 3</a:t>
            </a:r>
            <a:r>
              <a:rPr lang="en-GB" sz="1050" b="1" baseline="30000">
                <a:solidFill>
                  <a:schemeClr val="bg1"/>
                </a:solidFill>
              </a:rPr>
              <a:t>rd</a:t>
            </a:r>
            <a:r>
              <a:rPr lang="en-GB" sz="1050" b="1">
                <a:solidFill>
                  <a:schemeClr val="bg1"/>
                </a:solidFill>
              </a:rPr>
              <a:t> Party </a:t>
            </a:r>
            <a:r>
              <a:rPr lang="en-GB" sz="1050" b="1">
                <a:solidFill>
                  <a:schemeClr val="bg1"/>
                </a:solidFill>
                <a:latin typeface="Arial" charset="0"/>
                <a:ea typeface="ＭＳ Ｐゴシック" charset="0"/>
              </a:rPr>
              <a:t>AP/AR </a:t>
            </a:r>
            <a:r>
              <a:rPr lang="en-GB" sz="1050" b="1">
                <a:solidFill>
                  <a:schemeClr val="bg1"/>
                </a:solidFill>
              </a:rPr>
              <a:t>open items. Doc. Type </a:t>
            </a:r>
            <a:r>
              <a:rPr lang="en-GB" sz="1050" b="1" u="sng">
                <a:solidFill>
                  <a:schemeClr val="bg1"/>
                </a:solidFill>
              </a:rPr>
              <a:t>IC </a:t>
            </a:r>
            <a:r>
              <a:rPr lang="en-GB" sz="1050" b="1">
                <a:solidFill>
                  <a:schemeClr val="bg1"/>
                </a:solidFill>
              </a:rPr>
              <a:t>and </a:t>
            </a:r>
            <a:r>
              <a:rPr lang="en-GB" sz="1050" b="1" u="sng">
                <a:solidFill>
                  <a:schemeClr val="bg1"/>
                </a:solidFill>
              </a:rPr>
              <a:t>SA</a:t>
            </a:r>
            <a:r>
              <a:rPr lang="en-GB" sz="1050" b="1">
                <a:solidFill>
                  <a:schemeClr val="bg1"/>
                </a:solidFill>
              </a:rPr>
              <a:t> are used accordingly.</a:t>
            </a:r>
          </a:p>
        </p:txBody>
      </p:sp>
      <p:sp>
        <p:nvSpPr>
          <p:cNvPr id="23" name="Speech Bubble: Rectangle 22">
            <a:extLst>
              <a:ext uri="{FF2B5EF4-FFF2-40B4-BE49-F238E27FC236}">
                <a16:creationId xmlns:a16="http://schemas.microsoft.com/office/drawing/2014/main" id="{94CE5914-29A8-41EA-823B-2F183CA002C3}"/>
              </a:ext>
            </a:extLst>
          </p:cNvPr>
          <p:cNvSpPr/>
          <p:nvPr/>
        </p:nvSpPr>
        <p:spPr>
          <a:xfrm>
            <a:off x="1766889" y="3248333"/>
            <a:ext cx="3299633" cy="1069071"/>
          </a:xfrm>
          <a:prstGeom prst="wedgeRectCallout">
            <a:avLst>
              <a:gd name="adj1" fmla="val -55015"/>
              <a:gd name="adj2" fmla="val 177190"/>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t>Accounting entries on </a:t>
            </a:r>
            <a:r>
              <a:rPr lang="en-GB" sz="1050" b="1">
                <a:solidFill>
                  <a:schemeClr val="bg1"/>
                </a:solidFill>
                <a:latin typeface="Arial" charset="0"/>
                <a:ea typeface="ＭＳ Ｐゴシック" charset="0"/>
              </a:rPr>
              <a:t>AP/AR </a:t>
            </a:r>
            <a:r>
              <a:rPr lang="en-GB" sz="1050" b="1">
                <a:solidFill>
                  <a:schemeClr val="bg1"/>
                </a:solidFill>
              </a:rPr>
              <a:t>Regrouping documents are between the </a:t>
            </a:r>
            <a:r>
              <a:rPr lang="en-GB" sz="1050" b="1">
                <a:solidFill>
                  <a:schemeClr val="bg1"/>
                </a:solidFill>
                <a:latin typeface="Arial" charset="0"/>
                <a:ea typeface="ＭＳ Ｐゴシック" charset="0"/>
              </a:rPr>
              <a:t>AP/AR </a:t>
            </a:r>
            <a:r>
              <a:rPr lang="en-GB" sz="1050" b="1">
                <a:solidFill>
                  <a:schemeClr val="bg1"/>
                </a:solidFill>
              </a:rPr>
              <a:t>Regrouping </a:t>
            </a:r>
            <a:r>
              <a:rPr lang="en-GB" sz="1050" b="1"/>
              <a:t>Adjustment accounts, which are defined per JTIG account. Values are based on the calculations that can be seen on the above logs when the transaction is executed.</a:t>
            </a:r>
          </a:p>
        </p:txBody>
      </p:sp>
      <p:cxnSp>
        <p:nvCxnSpPr>
          <p:cNvPr id="25" name="Straight Connector 24">
            <a:extLst>
              <a:ext uri="{FF2B5EF4-FFF2-40B4-BE49-F238E27FC236}">
                <a16:creationId xmlns:a16="http://schemas.microsoft.com/office/drawing/2014/main" id="{2C749C0F-3E02-4838-84C3-86E51D076331}"/>
              </a:ext>
            </a:extLst>
          </p:cNvPr>
          <p:cNvCxnSpPr>
            <a:cxnSpLocks/>
          </p:cNvCxnSpPr>
          <p:nvPr/>
        </p:nvCxnSpPr>
        <p:spPr>
          <a:xfrm>
            <a:off x="5589037" y="5083698"/>
            <a:ext cx="1879584" cy="1396385"/>
          </a:xfrm>
          <a:prstGeom prst="line">
            <a:avLst/>
          </a:prstGeom>
          <a:ln w="9525">
            <a:solidFill>
              <a:srgbClr val="FF00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443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5">
            <a:extLst>
              <a:ext uri="{FF2B5EF4-FFF2-40B4-BE49-F238E27FC236}">
                <a16:creationId xmlns:a16="http://schemas.microsoft.com/office/drawing/2014/main" id="{6E398C48-7401-785D-2507-1230DEB5E7AA}"/>
              </a:ext>
            </a:extLst>
          </p:cNvPr>
          <p:cNvGraphicFramePr>
            <a:graphicFrameLocks noGrp="1"/>
          </p:cNvGraphicFramePr>
          <p:nvPr/>
        </p:nvGraphicFramePr>
        <p:xfrm>
          <a:off x="392137" y="1780977"/>
          <a:ext cx="11331737" cy="2561791"/>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6808">
                  <a:extLst>
                    <a:ext uri="{9D8B030D-6E8A-4147-A177-3AD203B41FA5}">
                      <a16:colId xmlns:a16="http://schemas.microsoft.com/office/drawing/2014/main" val="9356114"/>
                    </a:ext>
                  </a:extLst>
                </a:gridCol>
                <a:gridCol w="4306512">
                  <a:extLst>
                    <a:ext uri="{9D8B030D-6E8A-4147-A177-3AD203B41FA5}">
                      <a16:colId xmlns:a16="http://schemas.microsoft.com/office/drawing/2014/main" val="1965869314"/>
                    </a:ext>
                  </a:extLst>
                </a:gridCol>
                <a:gridCol w="4158417">
                  <a:extLst>
                    <a:ext uri="{9D8B030D-6E8A-4147-A177-3AD203B41FA5}">
                      <a16:colId xmlns:a16="http://schemas.microsoft.com/office/drawing/2014/main" val="566335056"/>
                    </a:ext>
                  </a:extLst>
                </a:gridCol>
              </a:tblGrid>
              <a:tr h="354531">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905525">
                <a:tc>
                  <a:txBody>
                    <a:bodyPr/>
                    <a:lstStyle/>
                    <a:p>
                      <a:pPr algn="l" fontAlgn="b"/>
                      <a:r>
                        <a:rPr lang="en-US" sz="1200">
                          <a:solidFill>
                            <a:schemeClr val="tx1"/>
                          </a:solidFill>
                        </a:rPr>
                        <a:t>No batch in SM35 generated</a:t>
                      </a:r>
                      <a:endParaRPr lang="en-US" sz="1200" b="0" i="0" u="none" strike="noStrike">
                        <a:solidFill>
                          <a:schemeClr val="tx1"/>
                        </a:solidFill>
                        <a:effectLst/>
                        <a:latin typeface="+mn-lt"/>
                      </a:endParaRPr>
                    </a:p>
                  </a:txBody>
                  <a:tcPr marL="72000" marR="6350" marT="6350" marB="0" anchor="ctr"/>
                </a:tc>
                <a:tc>
                  <a:txBody>
                    <a:bodyPr/>
                    <a:lstStyle/>
                    <a:p>
                      <a:r>
                        <a:rPr lang="en-US" sz="1200">
                          <a:solidFill>
                            <a:schemeClr val="tx1"/>
                          </a:solidFill>
                        </a:rPr>
                        <a:t>In FCLOCO the task is red for the Batch SM35</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check spool list with list of documents to be regrouped, if no documents visible and  if session name in SM35 was not generated, then it means there is nothing to post – this will not be considered as error. Change status to checked in FCC.</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r h="7554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a:solidFill>
                            <a:schemeClr val="tx1"/>
                          </a:solidFill>
                          <a:latin typeface="+mn-lt"/>
                        </a:rPr>
                        <a:t> </a:t>
                      </a:r>
                      <a:r>
                        <a:rPr lang="en-US" sz="1200">
                          <a:solidFill>
                            <a:schemeClr val="tx1"/>
                          </a:solidFill>
                        </a:rPr>
                        <a:t>Account determination for transaction V05 is missing for account XXX</a:t>
                      </a:r>
                      <a:endParaRPr lang="en-US" sz="1200" b="0" i="0" u="none" strike="noStrike">
                        <a:solidFill>
                          <a:schemeClr val="tx1"/>
                        </a:solidFill>
                        <a:effectLst/>
                        <a:latin typeface="+mn-lt"/>
                      </a:endParaRPr>
                    </a:p>
                  </a:txBody>
                  <a:tcPr marL="7200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This error occurs when customization for Account Determination is not done.</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GL Team to check in Chart of Accounts if account determination exists for XXXXXX account. If yes, inform Market that they missed account determination for their Entity and they need to raise RITM to resolve issue. Till then no need to wait, GL Team can skip this error for this month.</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151272233"/>
                  </a:ext>
                </a:extLst>
              </a:tr>
            </a:tbl>
          </a:graphicData>
        </a:graphic>
      </p:graphicFrame>
      <p:pic>
        <p:nvPicPr>
          <p:cNvPr id="6" name="Picture 5">
            <a:extLst>
              <a:ext uri="{FF2B5EF4-FFF2-40B4-BE49-F238E27FC236}">
                <a16:creationId xmlns:a16="http://schemas.microsoft.com/office/drawing/2014/main" id="{00000000-0008-0000-0E00-000003000000}"/>
              </a:ext>
              <a:ext uri="{147F2762-F138-4A5C-976F-8EAC2B608ADB}">
                <a16:predDERef xmlns:a16="http://schemas.microsoft.com/office/drawing/2014/main" pred="{A4159A33-0474-2D0A-C82F-426C75BA1948}"/>
              </a:ext>
            </a:extLst>
          </p:cNvPr>
          <p:cNvPicPr>
            <a:picLocks noChangeAspect="1"/>
          </p:cNvPicPr>
          <p:nvPr/>
        </p:nvPicPr>
        <p:blipFill>
          <a:blip r:embed="rId2"/>
          <a:stretch>
            <a:fillRect/>
          </a:stretch>
        </p:blipFill>
        <p:spPr>
          <a:xfrm>
            <a:off x="440021" y="4535660"/>
            <a:ext cx="4817117" cy="1832605"/>
          </a:xfrm>
          <a:prstGeom prst="rect">
            <a:avLst/>
          </a:prstGeom>
          <a:ln>
            <a:noFill/>
          </a:ln>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00000000-0008-0000-0E00-000002000000}"/>
              </a:ext>
            </a:extLst>
          </p:cNvPr>
          <p:cNvPicPr>
            <a:picLocks noChangeAspect="1"/>
          </p:cNvPicPr>
          <p:nvPr/>
        </p:nvPicPr>
        <p:blipFill>
          <a:blip r:embed="rId3"/>
          <a:stretch>
            <a:fillRect/>
          </a:stretch>
        </p:blipFill>
        <p:spPr>
          <a:xfrm>
            <a:off x="5720645" y="4710223"/>
            <a:ext cx="5569765" cy="1489378"/>
          </a:xfrm>
          <a:prstGeom prst="rect">
            <a:avLst/>
          </a:prstGeom>
          <a:ln w="19050">
            <a:noFill/>
          </a:ln>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US" dirty="0"/>
              <a:t>AP/AR Regrouping - </a:t>
            </a:r>
            <a:r>
              <a:rPr lang="en-GB" cap="none" dirty="0"/>
              <a:t>Common Errors</a:t>
            </a:r>
            <a:endParaRPr lang="en-US" dirty="0"/>
          </a:p>
        </p:txBody>
      </p:sp>
      <p:sp>
        <p:nvSpPr>
          <p:cNvPr id="34" name="Rectangle 33">
            <a:extLst>
              <a:ext uri="{FF2B5EF4-FFF2-40B4-BE49-F238E27FC236}">
                <a16:creationId xmlns:a16="http://schemas.microsoft.com/office/drawing/2014/main" id="{A861C6DD-E062-6526-7A9D-9AC776226B66}"/>
              </a:ext>
            </a:extLst>
          </p:cNvPr>
          <p:cNvSpPr/>
          <p:nvPr/>
        </p:nvSpPr>
        <p:spPr>
          <a:xfrm>
            <a:off x="5749060" y="5086840"/>
            <a:ext cx="5569765" cy="36512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E1EF37D-4A1E-6E40-23B2-AEF8CE0AB03D}"/>
              </a:ext>
            </a:extLst>
          </p:cNvPr>
          <p:cNvSpPr txBox="1"/>
          <p:nvPr/>
        </p:nvSpPr>
        <p:spPr>
          <a:xfrm>
            <a:off x="440021" y="1406037"/>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sp>
        <p:nvSpPr>
          <p:cNvPr id="10" name="Rectangle 9">
            <a:extLst>
              <a:ext uri="{FF2B5EF4-FFF2-40B4-BE49-F238E27FC236}">
                <a16:creationId xmlns:a16="http://schemas.microsoft.com/office/drawing/2014/main" id="{4545D265-28AC-DF67-C975-533DBB075D99}"/>
              </a:ext>
            </a:extLst>
          </p:cNvPr>
          <p:cNvSpPr/>
          <p:nvPr/>
        </p:nvSpPr>
        <p:spPr>
          <a:xfrm>
            <a:off x="440022" y="2427425"/>
            <a:ext cx="2090528" cy="453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02DEAB8-3F2C-D3D3-E8CA-6C5207F9700D}"/>
              </a:ext>
            </a:extLst>
          </p:cNvPr>
          <p:cNvSpPr/>
          <p:nvPr/>
        </p:nvSpPr>
        <p:spPr>
          <a:xfrm>
            <a:off x="392137" y="3496241"/>
            <a:ext cx="2744468" cy="69298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Connector: Elbow 26">
            <a:extLst>
              <a:ext uri="{FF2B5EF4-FFF2-40B4-BE49-F238E27FC236}">
                <a16:creationId xmlns:a16="http://schemas.microsoft.com/office/drawing/2014/main" id="{A0C5E911-8B51-C036-B9B8-7F4068900F02}"/>
              </a:ext>
            </a:extLst>
          </p:cNvPr>
          <p:cNvCxnSpPr>
            <a:cxnSpLocks/>
            <a:stCxn id="11" idx="2"/>
            <a:endCxn id="5" idx="0"/>
          </p:cNvCxnSpPr>
          <p:nvPr/>
        </p:nvCxnSpPr>
        <p:spPr>
          <a:xfrm rot="16200000" flipH="1">
            <a:off x="4874452" y="1079146"/>
            <a:ext cx="520995" cy="6741157"/>
          </a:xfrm>
          <a:prstGeom prst="bentConnector3">
            <a:avLst>
              <a:gd name="adj1" fmla="val 50000"/>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A0C61701-E0AE-6701-B1B6-243CE8856E1E}"/>
              </a:ext>
            </a:extLst>
          </p:cNvPr>
          <p:cNvCxnSpPr>
            <a:cxnSpLocks/>
            <a:endCxn id="6" idx="1"/>
          </p:cNvCxnSpPr>
          <p:nvPr/>
        </p:nvCxnSpPr>
        <p:spPr>
          <a:xfrm rot="5400000">
            <a:off x="-962649" y="3830095"/>
            <a:ext cx="3024538" cy="219198"/>
          </a:xfrm>
          <a:prstGeom prst="bentConnector4">
            <a:avLst>
              <a:gd name="adj1" fmla="val -9091"/>
              <a:gd name="adj2" fmla="val 204289"/>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6395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A69EB9A-8C7E-3F66-8463-5F93AA84F1B0}"/>
              </a:ext>
              <a:ext uri="{147F2762-F138-4A5C-976F-8EAC2B608ADB}">
                <a16:predDERef xmlns:a16="http://schemas.microsoft.com/office/drawing/2014/main" pred="{00000000-0008-0000-0E00-000006000000}"/>
              </a:ext>
            </a:extLst>
          </p:cNvPr>
          <p:cNvPicPr>
            <a:picLocks noChangeAspect="1"/>
          </p:cNvPicPr>
          <p:nvPr/>
        </p:nvPicPr>
        <p:blipFill>
          <a:blip r:embed="rId2"/>
          <a:stretch>
            <a:fillRect/>
          </a:stretch>
        </p:blipFill>
        <p:spPr>
          <a:xfrm>
            <a:off x="440021" y="4383577"/>
            <a:ext cx="4572000" cy="1771650"/>
          </a:xfrm>
          <a:prstGeom prst="rect">
            <a:avLst/>
          </a:prstGeom>
          <a:effectLst>
            <a:outerShdw blurRad="63500" sx="102000" sy="102000" algn="ctr" rotWithShape="0">
              <a:prstClr val="black">
                <a:alpha val="40000"/>
              </a:prstClr>
            </a:outerShdw>
          </a:effectLst>
        </p:spPr>
      </p:pic>
      <p:graphicFrame>
        <p:nvGraphicFramePr>
          <p:cNvPr id="8" name="Table 5">
            <a:extLst>
              <a:ext uri="{FF2B5EF4-FFF2-40B4-BE49-F238E27FC236}">
                <a16:creationId xmlns:a16="http://schemas.microsoft.com/office/drawing/2014/main" id="{6E398C48-7401-785D-2507-1230DEB5E7AA}"/>
              </a:ext>
            </a:extLst>
          </p:cNvPr>
          <p:cNvGraphicFramePr>
            <a:graphicFrameLocks noGrp="1"/>
          </p:cNvGraphicFramePr>
          <p:nvPr/>
        </p:nvGraphicFramePr>
        <p:xfrm>
          <a:off x="392137" y="1780977"/>
          <a:ext cx="11331737" cy="1641041"/>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2866808">
                  <a:extLst>
                    <a:ext uri="{9D8B030D-6E8A-4147-A177-3AD203B41FA5}">
                      <a16:colId xmlns:a16="http://schemas.microsoft.com/office/drawing/2014/main" val="9356114"/>
                    </a:ext>
                  </a:extLst>
                </a:gridCol>
                <a:gridCol w="4687683">
                  <a:extLst>
                    <a:ext uri="{9D8B030D-6E8A-4147-A177-3AD203B41FA5}">
                      <a16:colId xmlns:a16="http://schemas.microsoft.com/office/drawing/2014/main" val="1965869314"/>
                    </a:ext>
                  </a:extLst>
                </a:gridCol>
                <a:gridCol w="3777246">
                  <a:extLst>
                    <a:ext uri="{9D8B030D-6E8A-4147-A177-3AD203B41FA5}">
                      <a16:colId xmlns:a16="http://schemas.microsoft.com/office/drawing/2014/main" val="566335056"/>
                    </a:ext>
                  </a:extLst>
                </a:gridCol>
              </a:tblGrid>
              <a:tr h="354531">
                <a:tc>
                  <a:txBody>
                    <a:bodyPr/>
                    <a:lstStyle/>
                    <a:p>
                      <a:pPr algn="ctr" fontAlgn="b"/>
                      <a:r>
                        <a:rPr lang="en-US" sz="1200" b="1" i="0" u="none" strike="noStrike">
                          <a:solidFill>
                            <a:schemeClr val="tx1"/>
                          </a:solidFill>
                          <a:effectLst/>
                          <a:latin typeface="+mn-lt"/>
                        </a:rPr>
                        <a:t>Errors</a:t>
                      </a:r>
                    </a:p>
                  </a:txBody>
                  <a:tcPr marL="72000" marR="6350" marT="6350" marB="0" anchor="ctr"/>
                </a:tc>
                <a:tc>
                  <a:txBody>
                    <a:bodyPr/>
                    <a:lstStyle/>
                    <a:p>
                      <a:pPr algn="ctr" fontAlgn="b"/>
                      <a:r>
                        <a:rPr lang="en-US" sz="1200" b="1" i="0" u="none" strike="noStrike">
                          <a:solidFill>
                            <a:schemeClr val="tx1"/>
                          </a:solidFill>
                          <a:effectLst/>
                          <a:latin typeface="+mn-lt"/>
                        </a:rPr>
                        <a:t>Error Description (Reason)</a:t>
                      </a:r>
                    </a:p>
                  </a:txBody>
                  <a:tcPr marL="72000" marR="6350" marT="6350" marB="0" anchor="ctr"/>
                </a:tc>
                <a:tc>
                  <a:txBody>
                    <a:bodyPr/>
                    <a:lstStyle/>
                    <a:p>
                      <a:pPr algn="ctr" fontAlgn="b"/>
                      <a:r>
                        <a:rPr lang="en-US" sz="1200" b="1" i="0" u="none" strike="noStrike">
                          <a:solidFill>
                            <a:schemeClr val="tx1"/>
                          </a:solidFill>
                          <a:effectLst/>
                          <a:latin typeface="+mn-lt"/>
                        </a:rPr>
                        <a:t>Resolution </a:t>
                      </a:r>
                    </a:p>
                  </a:txBody>
                  <a:tcPr marL="72000" marR="6350" marT="6350" marB="0" anchor="ctr"/>
                </a:tc>
                <a:extLst>
                  <a:ext uri="{0D108BD9-81ED-4DB2-BD59-A6C34878D82A}">
                    <a16:rowId xmlns:a16="http://schemas.microsoft.com/office/drawing/2014/main" val="409099569"/>
                  </a:ext>
                </a:extLst>
              </a:tr>
              <a:tr h="905525">
                <a:tc>
                  <a:txBody>
                    <a:bodyPr/>
                    <a:lstStyle/>
                    <a:p>
                      <a:pPr algn="l" fontAlgn="b"/>
                      <a:r>
                        <a:rPr lang="en-US" sz="1200">
                          <a:solidFill>
                            <a:schemeClr val="tx1"/>
                          </a:solidFill>
                        </a:rPr>
                        <a:t>GL Account XXX does not exist</a:t>
                      </a:r>
                      <a:endParaRPr lang="en-US" sz="1200" b="0" i="0" u="none" strike="noStrike">
                        <a:solidFill>
                          <a:schemeClr val="tx1"/>
                        </a:solidFill>
                        <a:effectLst/>
                        <a:latin typeface="+mn-lt"/>
                      </a:endParaRPr>
                    </a:p>
                  </a:txBody>
                  <a:tcPr marL="72000" marR="6350" marT="6350" marB="0" anchor="ctr"/>
                </a:tc>
                <a:tc>
                  <a:txBody>
                    <a:bodyPr/>
                    <a:lstStyle/>
                    <a:p>
                      <a:r>
                        <a:rPr lang="en-US" sz="1200">
                          <a:solidFill>
                            <a:schemeClr val="tx1"/>
                          </a:solidFill>
                        </a:rPr>
                        <a:t>This error occurs when GL Account for regrouping does not exist in a Company Code.</a:t>
                      </a:r>
                      <a:endParaRPr lang="en-US" sz="1200">
                        <a:solidFill>
                          <a:schemeClr val="tx1"/>
                        </a:solidFill>
                        <a:latin typeface="+mn-lt"/>
                      </a:endParaRPr>
                    </a:p>
                  </a:txBody>
                  <a:tcPr marL="72000" marR="6350" marT="6350" marB="0" anchor="ctr"/>
                </a:tc>
                <a:tc>
                  <a:txBody>
                    <a:bodyPr/>
                    <a:lstStyle/>
                    <a:p>
                      <a:r>
                        <a:rPr lang="en-US" sz="1200" dirty="0">
                          <a:solidFill>
                            <a:schemeClr val="tx1"/>
                          </a:solidFill>
                        </a:rPr>
                        <a:t>In the month when the issue is identified:</a:t>
                      </a:r>
                    </a:p>
                    <a:p>
                      <a:r>
                        <a:rPr lang="en-US" sz="1200" dirty="0">
                          <a:solidFill>
                            <a:schemeClr val="tx1"/>
                          </a:solidFill>
                        </a:rPr>
                        <a:t>-  In order to process the Batch, GL Team go to T-Code SM35 and run batch manually (pass errors by clicking Enter)</a:t>
                      </a:r>
                    </a:p>
                    <a:p>
                      <a:r>
                        <a:rPr lang="en-US" sz="1200" dirty="0">
                          <a:solidFill>
                            <a:schemeClr val="tx1"/>
                          </a:solidFill>
                        </a:rPr>
                        <a:t>-  GL Team to ask Market to create the account for next Period regrouping</a:t>
                      </a:r>
                    </a:p>
                    <a:p>
                      <a:endParaRPr lang="en-US" sz="1200" dirty="0">
                        <a:solidFill>
                          <a:schemeClr val="tx1"/>
                        </a:solidFill>
                        <a:latin typeface="+mn-lt"/>
                      </a:endParaRPr>
                    </a:p>
                  </a:txBody>
                  <a:tcPr marL="72000" marR="6350" marT="6350" marB="0" anchor="ctr"/>
                </a:tc>
                <a:extLst>
                  <a:ext uri="{0D108BD9-81ED-4DB2-BD59-A6C34878D82A}">
                    <a16:rowId xmlns:a16="http://schemas.microsoft.com/office/drawing/2014/main" val="583018577"/>
                  </a:ext>
                </a:extLst>
              </a:tr>
            </a:tbl>
          </a:graphicData>
        </a:graphic>
      </p:graphicFrame>
      <p:sp>
        <p:nvSpPr>
          <p:cNvPr id="3" name="Slide Number Placeholder 2">
            <a:extLst>
              <a:ext uri="{FF2B5EF4-FFF2-40B4-BE49-F238E27FC236}">
                <a16:creationId xmlns:a16="http://schemas.microsoft.com/office/drawing/2014/main" id="{D6F24A8E-1191-B58C-C7F7-A6DAA8B9E888}"/>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4" name="Title 3">
            <a:extLst>
              <a:ext uri="{FF2B5EF4-FFF2-40B4-BE49-F238E27FC236}">
                <a16:creationId xmlns:a16="http://schemas.microsoft.com/office/drawing/2014/main" id="{D70DFC20-DE46-45FB-9E38-039F9C02A5ED}"/>
              </a:ext>
            </a:extLst>
          </p:cNvPr>
          <p:cNvSpPr>
            <a:spLocks noGrp="1"/>
          </p:cNvSpPr>
          <p:nvPr>
            <p:ph type="title"/>
          </p:nvPr>
        </p:nvSpPr>
        <p:spPr/>
        <p:txBody>
          <a:bodyPr/>
          <a:lstStyle/>
          <a:p>
            <a:r>
              <a:rPr lang="en-US" dirty="0"/>
              <a:t>AP/AR Regrouping - </a:t>
            </a:r>
            <a:r>
              <a:rPr lang="en-GB" cap="none" dirty="0"/>
              <a:t>Common Errors</a:t>
            </a:r>
            <a:endParaRPr lang="en-US" dirty="0"/>
          </a:p>
        </p:txBody>
      </p:sp>
      <p:sp>
        <p:nvSpPr>
          <p:cNvPr id="34" name="Rectangle 33">
            <a:extLst>
              <a:ext uri="{FF2B5EF4-FFF2-40B4-BE49-F238E27FC236}">
                <a16:creationId xmlns:a16="http://schemas.microsoft.com/office/drawing/2014/main" id="{A861C6DD-E062-6526-7A9D-9AC776226B66}"/>
              </a:ext>
            </a:extLst>
          </p:cNvPr>
          <p:cNvSpPr/>
          <p:nvPr/>
        </p:nvSpPr>
        <p:spPr>
          <a:xfrm>
            <a:off x="434914" y="5485419"/>
            <a:ext cx="4619148" cy="3162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E1EF37D-4A1E-6E40-23B2-AEF8CE0AB03D}"/>
              </a:ext>
            </a:extLst>
          </p:cNvPr>
          <p:cNvSpPr txBox="1"/>
          <p:nvPr/>
        </p:nvSpPr>
        <p:spPr>
          <a:xfrm>
            <a:off x="440021" y="1406037"/>
            <a:ext cx="11283853"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t>Detail of the “Errors” can be checked from the “Output Logs”.  GL Team needs to check the error and work as per the resolution mentioned below.</a:t>
            </a:r>
          </a:p>
        </p:txBody>
      </p:sp>
      <p:sp>
        <p:nvSpPr>
          <p:cNvPr id="10" name="Rectangle 9">
            <a:extLst>
              <a:ext uri="{FF2B5EF4-FFF2-40B4-BE49-F238E27FC236}">
                <a16:creationId xmlns:a16="http://schemas.microsoft.com/office/drawing/2014/main" id="{4545D265-28AC-DF67-C975-533DBB075D99}"/>
              </a:ext>
            </a:extLst>
          </p:cNvPr>
          <p:cNvSpPr/>
          <p:nvPr/>
        </p:nvSpPr>
        <p:spPr>
          <a:xfrm>
            <a:off x="392137" y="2588247"/>
            <a:ext cx="2744467" cy="453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Connector: Elbow 29">
            <a:extLst>
              <a:ext uri="{FF2B5EF4-FFF2-40B4-BE49-F238E27FC236}">
                <a16:creationId xmlns:a16="http://schemas.microsoft.com/office/drawing/2014/main" id="{A0C61701-E0AE-6701-B1B6-243CE8856E1E}"/>
              </a:ext>
            </a:extLst>
          </p:cNvPr>
          <p:cNvCxnSpPr>
            <a:cxnSpLocks/>
            <a:stCxn id="10" idx="2"/>
            <a:endCxn id="34" idx="3"/>
          </p:cNvCxnSpPr>
          <p:nvPr/>
        </p:nvCxnSpPr>
        <p:spPr>
          <a:xfrm rot="16200000" flipH="1">
            <a:off x="2108556" y="2698058"/>
            <a:ext cx="2601321" cy="3289691"/>
          </a:xfrm>
          <a:prstGeom prst="bentConnector4">
            <a:avLst>
              <a:gd name="adj1" fmla="val 46960"/>
              <a:gd name="adj2" fmla="val 106949"/>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103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a:xfrm>
            <a:off x="515938" y="866408"/>
            <a:ext cx="8961437" cy="4334668"/>
          </a:xfrm>
        </p:spPr>
        <p:txBody>
          <a:bodyPr/>
          <a:lstStyle/>
          <a:p>
            <a:r>
              <a:rPr lang="en-GB"/>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fld id="{1A6A2304-23DC-2B46-BD14-F082077842FF}" type="slidenum">
              <a:rPr lang="en-US" smtClean="0"/>
              <a:t>9</a:t>
            </a:fld>
            <a:endParaRPr lang="en-US"/>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725715" y="3736731"/>
            <a:ext cx="10111656" cy="2743351"/>
          </a:xfrm>
          <a:prstGeom prst="rect">
            <a:avLst/>
          </a:prstGeom>
          <a:noFill/>
          <a:ln w="12700">
            <a:noFill/>
            <a:miter lim="800000"/>
            <a:headEnd/>
            <a:tailEnd/>
          </a:ln>
          <a:effectLst/>
        </p:spPr>
        <p:txBody>
          <a:bodyPr lIns="92075" tIns="457200" rIns="92075" bIns="457200"/>
          <a:lstStyle/>
          <a:p>
            <a:pPr marL="180000" indent="-180000" algn="l">
              <a:spcBef>
                <a:spcPct val="40000"/>
              </a:spcBef>
              <a:buClr>
                <a:schemeClr val="bg2"/>
              </a:buClr>
              <a:buSzPct val="80000"/>
              <a:buFont typeface="Wingdings" pitchFamily="2" charset="2"/>
              <a:buChar char="§"/>
            </a:pPr>
            <a:r>
              <a:rPr lang="en-US" b="1" dirty="0">
                <a:solidFill>
                  <a:schemeClr val="bg1"/>
                </a:solidFill>
                <a:cs typeface="Arial" pitchFamily="34" charset="0"/>
              </a:rPr>
              <a:t>Exercise No. 4: </a:t>
            </a:r>
            <a:r>
              <a:rPr lang="en-US" dirty="0">
                <a:solidFill>
                  <a:schemeClr val="bg1"/>
                </a:solidFill>
                <a:cs typeface="Arial" pitchFamily="34" charset="0"/>
              </a:rPr>
              <a:t>Perform AP/AR Regrouping using T-Code FAGLF101</a:t>
            </a:r>
          </a:p>
          <a:p>
            <a:pPr marL="180000" indent="-180000" algn="l">
              <a:spcBef>
                <a:spcPct val="40000"/>
              </a:spcBef>
              <a:buClr>
                <a:schemeClr val="bg2"/>
              </a:buClr>
              <a:buSzPct val="80000"/>
              <a:buFont typeface="Wingdings" pitchFamily="2" charset="2"/>
              <a:buChar char="§"/>
            </a:pPr>
            <a:endParaRPr lang="en-US" sz="1800" dirty="0">
              <a:solidFill>
                <a:schemeClr val="bg1"/>
              </a:solidFill>
              <a:cs typeface="Arial" pitchFamily="34" charset="0"/>
            </a:endParaRP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600318" y="3534508"/>
            <a:ext cx="10152673" cy="2945574"/>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170887"/>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2.xml><?xml version="1.0" encoding="utf-8"?>
<ds:datastoreItem xmlns:ds="http://schemas.openxmlformats.org/officeDocument/2006/customXml" ds:itemID="{E3BC77B7-89BE-45D2-B43A-94AB4C5F40F4}">
  <ds:schemaRefs>
    <ds:schemaRef ds:uri="http://purl.org/dc/dcmitype/"/>
    <ds:schemaRef ds:uri="http://purl.org/dc/elements/1.1/"/>
    <ds:schemaRef ds:uri="http://purl.org/dc/terms/"/>
    <ds:schemaRef ds:uri="http://schemas.microsoft.com/office/infopath/2007/PartnerControls"/>
    <ds:schemaRef ds:uri="http://schemas.microsoft.com/office/2006/metadata/properties"/>
    <ds:schemaRef ds:uri="91871c47-af2e-43ea-ad3f-7bb4c536bc45"/>
    <ds:schemaRef ds:uri="http://schemas.openxmlformats.org/package/2006/metadata/core-properties"/>
    <ds:schemaRef ds:uri="http://schemas.microsoft.com/office/2006/documentManagement/types"/>
    <ds:schemaRef ds:uri="cb52ee0d-5346-4ae8-a9f9-d746adffeb6b"/>
    <ds:schemaRef ds:uri="ba249638-b5c4-4b59-8094-70d8491c2e9c"/>
    <ds:schemaRef ds:uri="http://www.w3.org/XML/1998/namespace"/>
  </ds:schemaRefs>
</ds:datastoreItem>
</file>

<file path=customXml/itemProps3.xml><?xml version="1.0" encoding="utf-8"?>
<ds:datastoreItem xmlns:ds="http://schemas.openxmlformats.org/officeDocument/2006/customXml" ds:itemID="{515BE001-EAC7-4792-A221-6077816CA42A}"/>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67</TotalTime>
  <Words>1904</Words>
  <Application>Microsoft Office PowerPoint</Application>
  <PresentationFormat>Widescreen</PresentationFormat>
  <Paragraphs>98</Paragraphs>
  <Slides>9</Slides>
  <Notes>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9</vt:i4>
      </vt:variant>
    </vt:vector>
  </HeadingPairs>
  <TitlesOfParts>
    <vt:vector size="17" baseType="lpstr">
      <vt:lpstr>Aharoni</vt:lpstr>
      <vt:lpstr>Arial</vt:lpstr>
      <vt:lpstr>Calibri</vt:lpstr>
      <vt:lpstr>Georgia</vt:lpstr>
      <vt:lpstr>Wingdings</vt:lpstr>
      <vt:lpstr>1_S4F-ERP Clean IFRS Stat &amp; Tax Rep</vt:lpstr>
      <vt:lpstr>S4F-ERP Period End Closing</vt:lpstr>
      <vt:lpstr>1_S4F-ERP Period End Closing</vt:lpstr>
      <vt:lpstr>Period End Closing Key Process Areas and New Period End Checks</vt:lpstr>
      <vt:lpstr>AP/AR Regrouping Process Overview</vt:lpstr>
      <vt:lpstr>AP/AR Regrouping: Execution (1/2)</vt:lpstr>
      <vt:lpstr>AP/AR Regrouping: Execution (2/2)</vt:lpstr>
      <vt:lpstr>AP/AR Regrouping: Output</vt:lpstr>
      <vt:lpstr>AP/AR Regrouping Posting Example</vt:lpstr>
      <vt:lpstr>AP/AR Regrouping - Common Errors</vt:lpstr>
      <vt:lpstr>AP/AR Regrouping - Common Errors</vt:lpstr>
      <vt:lpstr>Demonstration &amp;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2024-04-25T18:21:06Z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1338700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