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9"/>
  </p:notesMasterIdLst>
  <p:sldIdLst>
    <p:sldId id="3348" r:id="rId7"/>
    <p:sldId id="21349615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8C1E21-DC35-40AC-8B69-E4AEE32ECD99}" v="4" dt="2024-05-08T16:29:47.0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FB8C1E21-DC35-40AC-8B69-E4AEE32ECD99}"/>
    <pc:docChg chg="undo redo custSel delSld modSld">
      <pc:chgData name="Wang, Wei" userId="627587dd-935f-4f2b-a6c6-edd4e0dcbff5" providerId="ADAL" clId="{FB8C1E21-DC35-40AC-8B69-E4AEE32ECD99}" dt="2024-05-08T16:43:40.170" v="156" actId="790"/>
      <pc:docMkLst>
        <pc:docMk/>
      </pc:docMkLst>
      <pc:sldChg chg="del">
        <pc:chgData name="Wang, Wei" userId="627587dd-935f-4f2b-a6c6-edd4e0dcbff5" providerId="ADAL" clId="{FB8C1E21-DC35-40AC-8B69-E4AEE32ECD99}" dt="2024-05-08T16:30:28.366" v="150" actId="47"/>
        <pc:sldMkLst>
          <pc:docMk/>
          <pc:sldMk cId="254823969" sldId="3344"/>
        </pc:sldMkLst>
      </pc:sldChg>
      <pc:sldChg chg="modSp mod">
        <pc:chgData name="Wang, Wei" userId="627587dd-935f-4f2b-a6c6-edd4e0dcbff5" providerId="ADAL" clId="{FB8C1E21-DC35-40AC-8B69-E4AEE32ECD99}" dt="2024-05-08T16:43:40.170" v="156" actId="790"/>
        <pc:sldMkLst>
          <pc:docMk/>
          <pc:sldMk cId="3394631521" sldId="2134961536"/>
        </pc:sldMkLst>
        <pc:spChg chg="mod">
          <ac:chgData name="Wang, Wei" userId="627587dd-935f-4f2b-a6c6-edd4e0dcbff5" providerId="ADAL" clId="{FB8C1E21-DC35-40AC-8B69-E4AEE32ECD99}" dt="2024-05-08T16:24:54.061" v="110" actId="6549"/>
          <ac:spMkLst>
            <pc:docMk/>
            <pc:sldMk cId="3394631521" sldId="2134961536"/>
            <ac:spMk id="4" creationId="{DEE17BAC-9811-E7D1-22B0-629827BE5BA8}"/>
          </ac:spMkLst>
        </pc:spChg>
        <pc:graphicFrameChg chg="modGraphic">
          <ac:chgData name="Wang, Wei" userId="627587dd-935f-4f2b-a6c6-edd4e0dcbff5" providerId="ADAL" clId="{FB8C1E21-DC35-40AC-8B69-E4AEE32ECD99}" dt="2024-05-08T16:42:43.753" v="151" actId="790"/>
          <ac:graphicFrameMkLst>
            <pc:docMk/>
            <pc:sldMk cId="3394631521" sldId="2134961536"/>
            <ac:graphicFrameMk id="9" creationId="{CA3F493C-6999-09F4-1A9B-4FD6397C9821}"/>
          </ac:graphicFrameMkLst>
        </pc:graphicFrameChg>
        <pc:graphicFrameChg chg="mod modGraphic">
          <ac:chgData name="Wang, Wei" userId="627587dd-935f-4f2b-a6c6-edd4e0dcbff5" providerId="ADAL" clId="{FB8C1E21-DC35-40AC-8B69-E4AEE32ECD99}" dt="2024-05-08T16:43:40.170" v="156" actId="790"/>
          <ac:graphicFrameMkLst>
            <pc:docMk/>
            <pc:sldMk cId="3394631521" sldId="2134961536"/>
            <ac:graphicFrameMk id="14" creationId="{8D68E0B4-D1DC-CB68-79D7-26E9F5D49BD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08/05/2024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dirty="0"/>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dirty="0"/>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dirty="0"/>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dirty="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dirty="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dirty="0">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dirty="0"/>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dirty="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dirty="0">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JTI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JTI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dirty="0"/>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dirty="0"/>
              <a:t>© JTI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dirty="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dirty="0"/>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dirty="0">
                <a:solidFill>
                  <a:srgbClr val="000000"/>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dirty="0">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dirty="0">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charset="0"/>
                <a:ea typeface="+mn-ea"/>
                <a:cs typeface="Arial" charset="0"/>
              </a:rPr>
              <a:t>GR/IR Closing Activities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dirty="0">
                <a:solidFill>
                  <a:srgbClr val="FFFFFF"/>
                </a:solidFill>
                <a:latin typeface="Arial" charset="0"/>
                <a:cs typeface="Arial" charset="0"/>
              </a:rPr>
              <a:t>Automatic Clearing of LSC</a:t>
            </a:r>
            <a:r>
              <a:rPr lang="en-GB" sz="1400" i="1" baseline="30000" dirty="0">
                <a:solidFill>
                  <a:srgbClr val="FF0000"/>
                </a:solidFill>
                <a:latin typeface="Arial" charset="0"/>
                <a:cs typeface="Arial" charset="0"/>
              </a:rPr>
              <a:t>1)</a:t>
            </a:r>
            <a:r>
              <a:rPr lang="en-GB" sz="1400" b="1" dirty="0">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charset="0"/>
                <a:ea typeface="+mn-ea"/>
                <a:cs typeface="Arial" charset="0"/>
              </a:rPr>
              <a:t>Cost Management Closing Activities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dirty="0">
                <a:solidFill>
                  <a:srgbClr val="FFFFFF"/>
                </a:solidFill>
                <a:latin typeface="Arial" charset="0"/>
                <a:cs typeface="Arial" charset="0"/>
              </a:rPr>
              <a:t>Intercompany and Period End Closing</a:t>
            </a:r>
            <a:endParaRPr lang="en-GB" sz="1400" dirty="0">
              <a:solidFill>
                <a:srgbClr val="FFFFFF"/>
              </a:solidFill>
            </a:endParaRP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dirty="0">
                <a:solidFill>
                  <a:srgbClr val="FF0000"/>
                </a:solidFill>
              </a:rPr>
              <a:t>1) </a:t>
            </a:r>
            <a:r>
              <a:rPr lang="en-US" sz="900" b="1" i="1" dirty="0"/>
              <a:t>LSC</a:t>
            </a:r>
            <a:r>
              <a:rPr lang="en-US" sz="900" i="1" dirty="0"/>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dirty="0">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927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813EE6-6D86-D9A7-8BEE-9B86A9A6D52E}"/>
              </a:ext>
            </a:extLst>
          </p:cNvPr>
          <p:cNvSpPr>
            <a:spLocks noGrp="1"/>
          </p:cNvSpPr>
          <p:nvPr>
            <p:ph type="sldNum" sz="quarter" idx="12"/>
          </p:nvPr>
        </p:nvSpPr>
        <p:spPr/>
        <p:txBody>
          <a:bodyPr/>
          <a:lstStyle/>
          <a:p>
            <a:fld id="{F4C94289-3309-4C35-850A-56FD49B3E346}" type="slidenum">
              <a:rPr lang="en-GB" smtClean="0">
                <a:latin typeface="+mj-lt"/>
              </a:rPr>
              <a:t>2</a:t>
            </a:fld>
            <a:endParaRPr lang="en-GB" dirty="0">
              <a:latin typeface="+mj-lt"/>
            </a:endParaRPr>
          </a:p>
        </p:txBody>
      </p:sp>
      <p:sp>
        <p:nvSpPr>
          <p:cNvPr id="6" name="Title 3">
            <a:extLst>
              <a:ext uri="{FF2B5EF4-FFF2-40B4-BE49-F238E27FC236}">
                <a16:creationId xmlns:a16="http://schemas.microsoft.com/office/drawing/2014/main" id="{C8372511-D319-6A5B-E32E-F121D0D9DB51}"/>
              </a:ext>
            </a:extLst>
          </p:cNvPr>
          <p:cNvSpPr txBox="1">
            <a:spLocks/>
          </p:cNvSpPr>
          <p:nvPr/>
        </p:nvSpPr>
        <p:spPr>
          <a:xfrm>
            <a:off x="1663677" y="289174"/>
            <a:ext cx="8902723"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Lease Accounting Overview and</a:t>
            </a:r>
            <a:br>
              <a:rPr lang="en-US" dirty="0"/>
            </a:br>
            <a:r>
              <a:rPr lang="en-US" dirty="0"/>
              <a:t>Period End Closing</a:t>
            </a:r>
          </a:p>
        </p:txBody>
      </p:sp>
      <p:sp>
        <p:nvSpPr>
          <p:cNvPr id="7" name="Freeform: Shape 6">
            <a:extLst>
              <a:ext uri="{FF2B5EF4-FFF2-40B4-BE49-F238E27FC236}">
                <a16:creationId xmlns:a16="http://schemas.microsoft.com/office/drawing/2014/main" id="{C9FF3614-8F22-6BF8-5E8F-04D6B4D0B5D9}"/>
              </a:ext>
            </a:extLst>
          </p:cNvPr>
          <p:cNvSpPr/>
          <p:nvPr/>
        </p:nvSpPr>
        <p:spPr>
          <a:xfrm>
            <a:off x="1663677" y="2192931"/>
            <a:ext cx="3495243" cy="44332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tx2">
                <a:lumMod val="90000"/>
                <a:lumOff val="10000"/>
              </a:schemeClr>
            </a:solidFill>
          </a:ln>
          <a:effectLst>
            <a:outerShdw blurRad="57150" dist="19050" dir="5400000" algn="ctr" rotWithShape="0">
              <a:schemeClr val="tx2">
                <a:lumMod val="90000"/>
                <a:lumOff val="10000"/>
                <a:alpha val="63000"/>
              </a:schemeClr>
            </a:outerShdw>
          </a:effectLst>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tx1"/>
                </a:solidFill>
                <a:uLnTx/>
                <a:uFillTx/>
                <a:latin typeface="+mj-lt"/>
              </a:rPr>
              <a:t>Activities during the month &amp; prior to closing</a:t>
            </a:r>
          </a:p>
        </p:txBody>
      </p:sp>
      <p:sp>
        <p:nvSpPr>
          <p:cNvPr id="8" name="Freeform: Shape 7">
            <a:extLst>
              <a:ext uri="{FF2B5EF4-FFF2-40B4-BE49-F238E27FC236}">
                <a16:creationId xmlns:a16="http://schemas.microsoft.com/office/drawing/2014/main" id="{760EAF82-A2FD-8677-2322-4FB42092FA94}"/>
              </a:ext>
            </a:extLst>
          </p:cNvPr>
          <p:cNvSpPr/>
          <p:nvPr/>
        </p:nvSpPr>
        <p:spPr>
          <a:xfrm>
            <a:off x="8339667" y="2192931"/>
            <a:ext cx="2493456" cy="44332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solidFill>
          </a:ln>
          <a:effectLst>
            <a:outerShdw blurRad="57150" dist="19050" dir="5400000" algn="ctr" rotWithShape="0">
              <a:schemeClr val="accent3">
                <a:alpha val="63000"/>
              </a:schemeClr>
            </a:outerShdw>
          </a:effectLst>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tx1"/>
                </a:solidFill>
                <a:uLnTx/>
                <a:uFillTx/>
                <a:latin typeface="+mj-lt"/>
              </a:rPr>
              <a:t>Activities during Month End</a:t>
            </a:r>
          </a:p>
        </p:txBody>
      </p:sp>
      <p:graphicFrame>
        <p:nvGraphicFramePr>
          <p:cNvPr id="9" name="Table 8">
            <a:extLst>
              <a:ext uri="{FF2B5EF4-FFF2-40B4-BE49-F238E27FC236}">
                <a16:creationId xmlns:a16="http://schemas.microsoft.com/office/drawing/2014/main" id="{CA3F493C-6999-09F4-1A9B-4FD6397C9821}"/>
              </a:ext>
            </a:extLst>
          </p:cNvPr>
          <p:cNvGraphicFramePr>
            <a:graphicFrameLocks noGrp="1"/>
          </p:cNvGraphicFramePr>
          <p:nvPr>
            <p:extLst>
              <p:ext uri="{D42A27DB-BD31-4B8C-83A1-F6EECF244321}">
                <p14:modId xmlns:p14="http://schemas.microsoft.com/office/powerpoint/2010/main" val="150224028"/>
              </p:ext>
            </p:extLst>
          </p:nvPr>
        </p:nvGraphicFramePr>
        <p:xfrm>
          <a:off x="433339" y="2729652"/>
          <a:ext cx="6273866" cy="2402228"/>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755494">
                  <a:extLst>
                    <a:ext uri="{9D8B030D-6E8A-4147-A177-3AD203B41FA5}">
                      <a16:colId xmlns:a16="http://schemas.microsoft.com/office/drawing/2014/main" val="1361516894"/>
                    </a:ext>
                  </a:extLst>
                </a:gridCol>
                <a:gridCol w="3223203">
                  <a:extLst>
                    <a:ext uri="{9D8B030D-6E8A-4147-A177-3AD203B41FA5}">
                      <a16:colId xmlns:a16="http://schemas.microsoft.com/office/drawing/2014/main" val="2383006886"/>
                    </a:ext>
                  </a:extLst>
                </a:gridCol>
                <a:gridCol w="1295169">
                  <a:extLst>
                    <a:ext uri="{9D8B030D-6E8A-4147-A177-3AD203B41FA5}">
                      <a16:colId xmlns:a16="http://schemas.microsoft.com/office/drawing/2014/main" val="2832271025"/>
                    </a:ext>
                  </a:extLst>
                </a:gridCol>
              </a:tblGrid>
              <a:tr h="365329">
                <a:tc>
                  <a:txBody>
                    <a:bodyPr/>
                    <a:lstStyle/>
                    <a:p>
                      <a:r>
                        <a:rPr lang="en-US" sz="1200" dirty="0">
                          <a:latin typeface="+mj-lt"/>
                        </a:rPr>
                        <a:t>Activity</a:t>
                      </a:r>
                    </a:p>
                  </a:txBody>
                  <a:tcPr>
                    <a:solidFill>
                      <a:schemeClr val="tx2">
                        <a:lumMod val="90000"/>
                        <a:lumOff val="10000"/>
                      </a:schemeClr>
                    </a:solidFill>
                  </a:tcPr>
                </a:tc>
                <a:tc>
                  <a:txBody>
                    <a:bodyPr/>
                    <a:lstStyle/>
                    <a:p>
                      <a:r>
                        <a:rPr lang="en-US" sz="1200" dirty="0">
                          <a:latin typeface="+mj-lt"/>
                        </a:rPr>
                        <a:t>Description</a:t>
                      </a:r>
                    </a:p>
                  </a:txBody>
                  <a:tcPr>
                    <a:solidFill>
                      <a:schemeClr val="tx2">
                        <a:lumMod val="90000"/>
                        <a:lumOff val="10000"/>
                      </a:schemeClr>
                    </a:solidFill>
                  </a:tcPr>
                </a:tc>
                <a:tc>
                  <a:txBody>
                    <a:bodyPr/>
                    <a:lstStyle/>
                    <a:p>
                      <a:r>
                        <a:rPr lang="en-US" sz="1200" dirty="0">
                          <a:latin typeface="+mj-lt"/>
                        </a:rPr>
                        <a:t>When</a:t>
                      </a:r>
                    </a:p>
                  </a:txBody>
                  <a:tcPr>
                    <a:solidFill>
                      <a:schemeClr val="tx2">
                        <a:lumMod val="90000"/>
                        <a:lumOff val="10000"/>
                      </a:schemeClr>
                    </a:solidFill>
                  </a:tcPr>
                </a:tc>
                <a:extLst>
                  <a:ext uri="{0D108BD9-81ED-4DB2-BD59-A6C34878D82A}">
                    <a16:rowId xmlns:a16="http://schemas.microsoft.com/office/drawing/2014/main" val="3618782354"/>
                  </a:ext>
                </a:extLst>
              </a:tr>
              <a:tr h="251241">
                <a:tc>
                  <a:txBody>
                    <a:bodyPr/>
                    <a:lstStyle/>
                    <a:p>
                      <a:pPr marL="0" marR="0" lvl="0" indent="0" algn="l" rtl="0" eaLnBrk="1" fontAlgn="auto" latinLnBrk="0" hangingPunct="1">
                        <a:lnSpc>
                          <a:spcPct val="100000"/>
                        </a:lnSpc>
                        <a:spcBef>
                          <a:spcPts val="0"/>
                        </a:spcBef>
                        <a:spcAft>
                          <a:spcPts val="0"/>
                        </a:spcAft>
                        <a:buFontTx/>
                        <a:buNone/>
                      </a:pPr>
                      <a:r>
                        <a:rPr lang="en-US" sz="1200" dirty="0">
                          <a:solidFill>
                            <a:schemeClr val="tx1"/>
                          </a:solidFill>
                          <a:latin typeface="+mj-lt"/>
                          <a:cs typeface="Calibri"/>
                        </a:rPr>
                        <a:t>Asset Creation</a:t>
                      </a:r>
                      <a:endParaRPr lang="en-US" sz="1200" dirty="0">
                        <a:solidFill>
                          <a:schemeClr val="tx1"/>
                        </a:solidFill>
                        <a:latin typeface="+mj-lt"/>
                      </a:endParaRPr>
                    </a:p>
                    <a:p>
                      <a:pPr marL="0" marR="0" lvl="0" indent="0" algn="l">
                        <a:lnSpc>
                          <a:spcPct val="100000"/>
                        </a:lnSpc>
                        <a:spcBef>
                          <a:spcPts val="0"/>
                        </a:spcBef>
                        <a:spcAft>
                          <a:spcPts val="0"/>
                        </a:spcAft>
                        <a:buFontTx/>
                        <a:buNone/>
                      </a:pPr>
                      <a:r>
                        <a:rPr lang="en-US" sz="1200" dirty="0">
                          <a:solidFill>
                            <a:schemeClr val="tx1"/>
                          </a:solidFill>
                          <a:latin typeface="+mj-lt"/>
                          <a:cs typeface="Calibri"/>
                        </a:rPr>
                        <a:t> /Maintenance</a:t>
                      </a:r>
                    </a:p>
                    <a:p>
                      <a:endParaRPr lang="en-US" sz="1200" dirty="0">
                        <a:solidFill>
                          <a:schemeClr val="tx1"/>
                        </a:solidFill>
                        <a:latin typeface="+mj-lt"/>
                        <a:cs typeface="Calibri" panose="020F0502020204030204" pitchFamily="34" charset="0"/>
                      </a:endParaRPr>
                    </a:p>
                  </a:txBody>
                  <a:tcPr>
                    <a:solidFill>
                      <a:schemeClr val="accent6">
                        <a:lumMod val="40000"/>
                        <a:lumOff val="60000"/>
                      </a:schemeClr>
                    </a:solidFill>
                  </a:tcPr>
                </a:tc>
                <a:tc>
                  <a:txBody>
                    <a:bodyPr/>
                    <a:lstStyle/>
                    <a:p>
                      <a:r>
                        <a:rPr lang="pl-PL" sz="1200" strike="noStrike">
                          <a:solidFill>
                            <a:schemeClr val="tx1"/>
                          </a:solidFill>
                          <a:latin typeface="+mj-lt"/>
                          <a:cs typeface="Calibri"/>
                        </a:rPr>
                        <a:t>SAP CLM creates and maintain</a:t>
                      </a:r>
                      <a:r>
                        <a:rPr lang="en-GB" sz="1200" strike="noStrike" dirty="0">
                          <a:solidFill>
                            <a:schemeClr val="tx1"/>
                          </a:solidFill>
                          <a:latin typeface="+mj-lt"/>
                          <a:cs typeface="Calibri"/>
                        </a:rPr>
                        <a:t>s</a:t>
                      </a:r>
                      <a:r>
                        <a:rPr lang="pl-PL" sz="1200" strike="noStrike">
                          <a:solidFill>
                            <a:schemeClr val="tx1"/>
                          </a:solidFill>
                          <a:latin typeface="+mj-lt"/>
                          <a:cs typeface="Calibri"/>
                        </a:rPr>
                        <a:t> the asset in SAP</a:t>
                      </a:r>
                      <a:endParaRPr lang="en-US" sz="1200" strike="noStrike" dirty="0">
                        <a:solidFill>
                          <a:schemeClr val="tx1"/>
                        </a:solidFill>
                        <a:latin typeface="+mj-lt"/>
                        <a:cs typeface="Calibri"/>
                      </a:endParaRPr>
                    </a:p>
                  </a:txBody>
                  <a:tcPr>
                    <a:solidFill>
                      <a:schemeClr val="accent6">
                        <a:lumMod val="40000"/>
                        <a:lumOff val="60000"/>
                      </a:schemeClr>
                    </a:solidFill>
                  </a:tcPr>
                </a:tc>
                <a:tc>
                  <a:txBody>
                    <a:bodyPr/>
                    <a:lstStyle/>
                    <a:p>
                      <a:r>
                        <a:rPr lang="pl-PL" sz="1200">
                          <a:latin typeface="+mj-lt"/>
                          <a:cs typeface="Calibri"/>
                        </a:rPr>
                        <a:t>Monthly</a:t>
                      </a:r>
                      <a:endParaRPr lang="en-US" sz="1200" dirty="0">
                        <a:latin typeface="+mj-lt"/>
                        <a:cs typeface="Calibri"/>
                      </a:endParaRPr>
                    </a:p>
                  </a:txBody>
                  <a:tcPr>
                    <a:solidFill>
                      <a:schemeClr val="accent6">
                        <a:lumMod val="40000"/>
                        <a:lumOff val="60000"/>
                      </a:schemeClr>
                    </a:solidFill>
                  </a:tcPr>
                </a:tc>
                <a:extLst>
                  <a:ext uri="{0D108BD9-81ED-4DB2-BD59-A6C34878D82A}">
                    <a16:rowId xmlns:a16="http://schemas.microsoft.com/office/drawing/2014/main" val="4282313284"/>
                  </a:ext>
                </a:extLst>
              </a:tr>
              <a:tr h="466300">
                <a:tc>
                  <a:txBody>
                    <a:bodyPr/>
                    <a:lstStyle/>
                    <a:p>
                      <a:r>
                        <a:rPr lang="en-US" sz="1200" dirty="0">
                          <a:latin typeface="+mj-lt"/>
                          <a:cs typeface="Calibri"/>
                        </a:rPr>
                        <a:t>Liability Inception Posting</a:t>
                      </a:r>
                    </a:p>
                  </a:txBody>
                  <a:tcPr>
                    <a:solidFill>
                      <a:schemeClr val="accent6">
                        <a:lumMod val="40000"/>
                        <a:lumOff val="60000"/>
                      </a:schemeClr>
                    </a:solidFill>
                  </a:tcPr>
                </a:tc>
                <a:tc>
                  <a:txBody>
                    <a:bodyPr/>
                    <a:lstStyle/>
                    <a:p>
                      <a:r>
                        <a:rPr lang="en-US" sz="1200" dirty="0">
                          <a:solidFill>
                            <a:schemeClr val="tx1"/>
                          </a:solidFill>
                          <a:latin typeface="+mj-lt"/>
                          <a:cs typeface="Calibri" panose="020F0502020204030204" pitchFamily="34" charset="0"/>
                        </a:rPr>
                        <a:t>Make Liability Inception posting in SAP based on </a:t>
                      </a:r>
                      <a:r>
                        <a:rPr lang="pl-PL" sz="1200" dirty="0">
                          <a:solidFill>
                            <a:schemeClr val="tx1"/>
                          </a:solidFill>
                          <a:latin typeface="+mj-lt"/>
                          <a:cs typeface="Calibri" panose="020F0502020204030204" pitchFamily="34" charset="0"/>
                        </a:rPr>
                        <a:t>SAP </a:t>
                      </a:r>
                      <a:r>
                        <a:rPr lang="en-US" sz="1200" dirty="0">
                          <a:solidFill>
                            <a:schemeClr val="tx1"/>
                          </a:solidFill>
                          <a:latin typeface="+mj-lt"/>
                          <a:cs typeface="Calibri" panose="020F0502020204030204" pitchFamily="34" charset="0"/>
                        </a:rPr>
                        <a:t>CLM</a:t>
                      </a:r>
                    </a:p>
                  </a:txBody>
                  <a:tcPr>
                    <a:solidFill>
                      <a:schemeClr val="accent6">
                        <a:lumMod val="40000"/>
                        <a:lumOff val="60000"/>
                      </a:schemeClr>
                    </a:solidFill>
                  </a:tcPr>
                </a:tc>
                <a:tc>
                  <a:txBody>
                    <a:bodyPr/>
                    <a:lstStyle/>
                    <a:p>
                      <a:r>
                        <a:rPr lang="pl-PL" sz="1200" strike="noStrike" dirty="0">
                          <a:latin typeface="+mj-lt"/>
                          <a:cs typeface="Calibri"/>
                        </a:rPr>
                        <a:t>Monthly</a:t>
                      </a:r>
                      <a:endParaRPr lang="en-US" sz="1200" dirty="0">
                        <a:latin typeface="+mj-lt"/>
                        <a:cs typeface="Calibri"/>
                      </a:endParaRPr>
                    </a:p>
                  </a:txBody>
                  <a:tcPr>
                    <a:solidFill>
                      <a:schemeClr val="accent6">
                        <a:lumMod val="40000"/>
                        <a:lumOff val="60000"/>
                      </a:schemeClr>
                    </a:solidFill>
                  </a:tcPr>
                </a:tc>
                <a:extLst>
                  <a:ext uri="{0D108BD9-81ED-4DB2-BD59-A6C34878D82A}">
                    <a16:rowId xmlns:a16="http://schemas.microsoft.com/office/drawing/2014/main" val="1815487813"/>
                  </a:ext>
                </a:extLst>
              </a:tr>
              <a:tr h="473319">
                <a:tc>
                  <a:txBody>
                    <a:bodyPr/>
                    <a:lstStyle/>
                    <a:p>
                      <a:r>
                        <a:rPr lang="en-US" sz="1200" dirty="0">
                          <a:latin typeface="+mj-lt"/>
                          <a:cs typeface="Calibri"/>
                        </a:rPr>
                        <a:t>Liability Adjustment Posting</a:t>
                      </a:r>
                    </a:p>
                  </a:txBody>
                  <a:tcPr>
                    <a:solidFill>
                      <a:schemeClr val="accent6">
                        <a:lumMod val="40000"/>
                        <a:lumOff val="60000"/>
                      </a:schemeClr>
                    </a:solidFill>
                  </a:tcPr>
                </a:tc>
                <a:tc>
                  <a:txBody>
                    <a:bodyPr/>
                    <a:lstStyle/>
                    <a:p>
                      <a:r>
                        <a:rPr lang="en-US" sz="1200" dirty="0">
                          <a:latin typeface="+mj-lt"/>
                          <a:cs typeface="Calibri"/>
                        </a:rPr>
                        <a:t>Make Liability Adjustment Postings in SAP based on </a:t>
                      </a:r>
                      <a:r>
                        <a:rPr lang="pl-PL" sz="1200">
                          <a:solidFill>
                            <a:schemeClr val="tx1"/>
                          </a:solidFill>
                          <a:latin typeface="+mj-lt"/>
                          <a:cs typeface="Calibri"/>
                        </a:rPr>
                        <a:t>SAP </a:t>
                      </a:r>
                      <a:r>
                        <a:rPr lang="en-US" sz="1200" dirty="0">
                          <a:solidFill>
                            <a:schemeClr val="tx1"/>
                          </a:solidFill>
                          <a:latin typeface="+mj-lt"/>
                          <a:cs typeface="Calibri"/>
                        </a:rPr>
                        <a:t>CLM (change of LT</a:t>
                      </a:r>
                      <a:r>
                        <a:rPr lang="en-US" sz="1200" b="0" i="1" baseline="30000" dirty="0">
                          <a:solidFill>
                            <a:schemeClr val="tx1"/>
                          </a:solidFill>
                          <a:latin typeface="+mj-lt"/>
                          <a:cs typeface="Calibri"/>
                        </a:rPr>
                        <a:t>1)</a:t>
                      </a:r>
                      <a:r>
                        <a:rPr lang="en-US" sz="1200" dirty="0">
                          <a:solidFill>
                            <a:schemeClr val="tx1"/>
                          </a:solidFill>
                          <a:latin typeface="+mj-lt"/>
                          <a:cs typeface="Calibri"/>
                        </a:rPr>
                        <a:t> liability) </a:t>
                      </a:r>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1200" strike="noStrike" dirty="0">
                          <a:latin typeface="+mj-lt"/>
                          <a:cs typeface="Calibri"/>
                        </a:rPr>
                        <a:t>Monthly</a:t>
                      </a:r>
                      <a:endParaRPr lang="en-US" sz="1200" strike="noStrike" dirty="0">
                        <a:latin typeface="+mj-lt"/>
                        <a:cs typeface="Calibri"/>
                      </a:endParaRPr>
                    </a:p>
                  </a:txBody>
                  <a:tcPr>
                    <a:solidFill>
                      <a:schemeClr val="accent6">
                        <a:lumMod val="40000"/>
                        <a:lumOff val="60000"/>
                      </a:schemeClr>
                    </a:solidFill>
                  </a:tcPr>
                </a:tc>
                <a:extLst>
                  <a:ext uri="{0D108BD9-81ED-4DB2-BD59-A6C34878D82A}">
                    <a16:rowId xmlns:a16="http://schemas.microsoft.com/office/drawing/2014/main" val="1915152959"/>
                  </a:ext>
                </a:extLst>
              </a:tr>
              <a:tr h="283991">
                <a:tc>
                  <a:txBody>
                    <a:bodyPr/>
                    <a:lstStyle/>
                    <a:p>
                      <a:r>
                        <a:rPr lang="en-US" sz="1200" dirty="0">
                          <a:latin typeface="+mj-lt"/>
                          <a:cs typeface="Calibri"/>
                        </a:rPr>
                        <a:t>Asset Retirement Posting</a:t>
                      </a:r>
                    </a:p>
                  </a:txBody>
                  <a:tcPr>
                    <a:solidFill>
                      <a:schemeClr val="accent6">
                        <a:lumMod val="40000"/>
                        <a:lumOff val="60000"/>
                      </a:schemeClr>
                    </a:solidFill>
                  </a:tcPr>
                </a:tc>
                <a:tc>
                  <a:txBody>
                    <a:bodyPr/>
                    <a:lstStyle/>
                    <a:p>
                      <a:r>
                        <a:rPr lang="en-US" sz="1200" dirty="0">
                          <a:latin typeface="+mj-lt"/>
                          <a:cs typeface="Calibri" panose="020F0502020204030204" pitchFamily="34" charset="0"/>
                        </a:rPr>
                        <a:t>Post Asset Retirement in SAP</a:t>
                      </a:r>
                    </a:p>
                  </a:txBody>
                  <a:tcP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strike="noStrike" noProof="0" dirty="0">
                          <a:latin typeface="+mj-lt"/>
                          <a:cs typeface="Calibri"/>
                        </a:rPr>
                        <a:t>Monthly</a:t>
                      </a:r>
                      <a:endParaRPr lang="en-US" sz="1200" noProof="0" dirty="0">
                        <a:latin typeface="+mj-lt"/>
                        <a:cs typeface="Calibri"/>
                      </a:endParaRPr>
                    </a:p>
                  </a:txBody>
                  <a:tcPr>
                    <a:solidFill>
                      <a:schemeClr val="accent6">
                        <a:lumMod val="40000"/>
                        <a:lumOff val="60000"/>
                      </a:schemeClr>
                    </a:solidFill>
                  </a:tcPr>
                </a:tc>
                <a:extLst>
                  <a:ext uri="{0D108BD9-81ED-4DB2-BD59-A6C34878D82A}">
                    <a16:rowId xmlns:a16="http://schemas.microsoft.com/office/drawing/2014/main" val="3160491738"/>
                  </a:ext>
                </a:extLst>
              </a:tr>
            </a:tbl>
          </a:graphicData>
        </a:graphic>
      </p:graphicFrame>
      <p:sp>
        <p:nvSpPr>
          <p:cNvPr id="10" name="Rectangle: Rounded Corners 9">
            <a:extLst>
              <a:ext uri="{FF2B5EF4-FFF2-40B4-BE49-F238E27FC236}">
                <a16:creationId xmlns:a16="http://schemas.microsoft.com/office/drawing/2014/main" id="{342BC5E1-2C9F-1177-BE08-4D037548AAC1}"/>
              </a:ext>
            </a:extLst>
          </p:cNvPr>
          <p:cNvSpPr/>
          <p:nvPr/>
        </p:nvSpPr>
        <p:spPr>
          <a:xfrm>
            <a:off x="414866" y="1531579"/>
            <a:ext cx="11701567" cy="579656"/>
          </a:xfrm>
          <a:prstGeom prst="roundRect">
            <a:avLst>
              <a:gd name="adj" fmla="val 8611"/>
            </a:avLst>
          </a:prstGeom>
          <a:gradFill>
            <a:gsLst>
              <a:gs pos="0">
                <a:schemeClr val="accent1">
                  <a:lumMod val="5000"/>
                  <a:lumOff val="95000"/>
                </a:schemeClr>
              </a:gs>
              <a:gs pos="74000">
                <a:schemeClr val="accent1"/>
              </a:gs>
              <a:gs pos="83000">
                <a:schemeClr val="accent1"/>
              </a:gs>
              <a:gs pos="100000">
                <a:schemeClr val="accent1">
                  <a:lumMod val="7500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solidFill>
                <a:schemeClr val="tx1"/>
              </a:solidFill>
            </a:endParaRPr>
          </a:p>
        </p:txBody>
      </p:sp>
      <p:pic>
        <p:nvPicPr>
          <p:cNvPr id="11" name="Graphic 10" descr="Lightbulb and gear">
            <a:extLst>
              <a:ext uri="{FF2B5EF4-FFF2-40B4-BE49-F238E27FC236}">
                <a16:creationId xmlns:a16="http://schemas.microsoft.com/office/drawing/2014/main" id="{507BCABA-F481-4CEC-5C47-9E595AD528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0366" y="1531579"/>
            <a:ext cx="377268" cy="377268"/>
          </a:xfrm>
          <a:prstGeom prst="rect">
            <a:avLst/>
          </a:prstGeom>
        </p:spPr>
      </p:pic>
      <p:sp>
        <p:nvSpPr>
          <p:cNvPr id="12" name="TextBox 11">
            <a:extLst>
              <a:ext uri="{FF2B5EF4-FFF2-40B4-BE49-F238E27FC236}">
                <a16:creationId xmlns:a16="http://schemas.microsoft.com/office/drawing/2014/main" id="{20E79449-CE79-429B-AD64-9F0D5674121C}"/>
              </a:ext>
            </a:extLst>
          </p:cNvPr>
          <p:cNvSpPr txBox="1"/>
          <p:nvPr/>
        </p:nvSpPr>
        <p:spPr>
          <a:xfrm>
            <a:off x="757634" y="1583764"/>
            <a:ext cx="10962062" cy="441163"/>
          </a:xfrm>
          <a:prstGeom prst="rect">
            <a:avLst/>
          </a:prstGeom>
          <a:noFill/>
        </p:spPr>
        <p:txBody>
          <a:bodyPr wrap="square" lIns="0" tIns="0" rIns="0" bIns="0" rtlCol="0">
            <a:noAutofit/>
          </a:bodyPr>
          <a:lstStyle/>
          <a:p>
            <a:pPr>
              <a:spcBef>
                <a:spcPts val="200"/>
              </a:spcBef>
            </a:pPr>
            <a:r>
              <a:rPr lang="en-GB" sz="1200" dirty="0">
                <a:latin typeface="+mj-lt"/>
              </a:rPr>
              <a:t>Lease Accounting is performed centrally </a:t>
            </a:r>
            <a:r>
              <a:rPr lang="en-GB" sz="1200" b="1" dirty="0">
                <a:latin typeface="+mj-lt"/>
              </a:rPr>
              <a:t>by GBS Warsaw, Lease Accounting Team (LAT)</a:t>
            </a:r>
            <a:r>
              <a:rPr lang="en-GB" sz="1200" dirty="0">
                <a:latin typeface="+mj-lt"/>
              </a:rPr>
              <a:t>. The below activities are then carried out. Once Lease Accounting is closed, the Leased Assets will be included in Depreciation Runs during Asset Accounting Closing, where the monthly RoU (Right of Use) amortization is recorded.</a:t>
            </a:r>
          </a:p>
        </p:txBody>
      </p:sp>
      <p:sp>
        <p:nvSpPr>
          <p:cNvPr id="13" name="TextBox 12">
            <a:extLst>
              <a:ext uri="{FF2B5EF4-FFF2-40B4-BE49-F238E27FC236}">
                <a16:creationId xmlns:a16="http://schemas.microsoft.com/office/drawing/2014/main" id="{13336538-4653-F5E9-FD3B-55C3CA70BED0}"/>
              </a:ext>
            </a:extLst>
          </p:cNvPr>
          <p:cNvSpPr txBox="1"/>
          <p:nvPr/>
        </p:nvSpPr>
        <p:spPr>
          <a:xfrm>
            <a:off x="3684362" y="6662646"/>
            <a:ext cx="1992430" cy="195354"/>
          </a:xfrm>
          <a:prstGeom prst="rect">
            <a:avLst/>
          </a:prstGeom>
          <a:noFill/>
        </p:spPr>
        <p:txBody>
          <a:bodyPr wrap="square" lIns="0" tIns="0" rIns="0" bIns="0" rtlCol="0">
            <a:noAutofit/>
          </a:bodyPr>
          <a:lstStyle/>
          <a:p>
            <a:pPr algn="l"/>
            <a:r>
              <a:rPr lang="en-US" sz="900" baseline="30000" dirty="0"/>
              <a:t>1) </a:t>
            </a:r>
            <a:r>
              <a:rPr lang="en-US" sz="900" dirty="0"/>
              <a:t>LT: Long Term  ST: Short Term</a:t>
            </a:r>
          </a:p>
        </p:txBody>
      </p:sp>
      <p:graphicFrame>
        <p:nvGraphicFramePr>
          <p:cNvPr id="14" name="Table 13">
            <a:extLst>
              <a:ext uri="{FF2B5EF4-FFF2-40B4-BE49-F238E27FC236}">
                <a16:creationId xmlns:a16="http://schemas.microsoft.com/office/drawing/2014/main" id="{8D68E0B4-D1DC-CB68-79D7-26E9F5D49BD2}"/>
              </a:ext>
            </a:extLst>
          </p:cNvPr>
          <p:cNvGraphicFramePr>
            <a:graphicFrameLocks noGrp="1"/>
          </p:cNvGraphicFramePr>
          <p:nvPr>
            <p:extLst>
              <p:ext uri="{D42A27DB-BD31-4B8C-83A1-F6EECF244321}">
                <p14:modId xmlns:p14="http://schemas.microsoft.com/office/powerpoint/2010/main" val="296383179"/>
              </p:ext>
            </p:extLst>
          </p:nvPr>
        </p:nvGraphicFramePr>
        <p:xfrm>
          <a:off x="6836202" y="2711815"/>
          <a:ext cx="5280232" cy="3470375"/>
        </p:xfrm>
        <a:graphic>
          <a:graphicData uri="http://schemas.openxmlformats.org/drawingml/2006/table">
            <a:tbl>
              <a:tblPr firstRow="1" bandRow="1">
                <a:effectLst>
                  <a:outerShdw blurRad="63500" sx="102000" sy="102000" algn="ctr" rotWithShape="0">
                    <a:prstClr val="black">
                      <a:alpha val="40000"/>
                    </a:prstClr>
                  </a:outerShdw>
                </a:effectLst>
                <a:tableStyleId>{F5AB1C69-6EDB-4FF4-983F-18BD219EF322}</a:tableStyleId>
              </a:tblPr>
              <a:tblGrid>
                <a:gridCol w="1468796">
                  <a:extLst>
                    <a:ext uri="{9D8B030D-6E8A-4147-A177-3AD203B41FA5}">
                      <a16:colId xmlns:a16="http://schemas.microsoft.com/office/drawing/2014/main" val="245064235"/>
                    </a:ext>
                  </a:extLst>
                </a:gridCol>
                <a:gridCol w="2887579">
                  <a:extLst>
                    <a:ext uri="{9D8B030D-6E8A-4147-A177-3AD203B41FA5}">
                      <a16:colId xmlns:a16="http://schemas.microsoft.com/office/drawing/2014/main" val="1964254355"/>
                    </a:ext>
                  </a:extLst>
                </a:gridCol>
                <a:gridCol w="923857">
                  <a:extLst>
                    <a:ext uri="{9D8B030D-6E8A-4147-A177-3AD203B41FA5}">
                      <a16:colId xmlns:a16="http://schemas.microsoft.com/office/drawing/2014/main" val="1022301585"/>
                    </a:ext>
                  </a:extLst>
                </a:gridCol>
              </a:tblGrid>
              <a:tr h="390350">
                <a:tc>
                  <a:txBody>
                    <a:bodyPr/>
                    <a:lstStyle/>
                    <a:p>
                      <a:r>
                        <a:rPr lang="en-US" sz="1200" dirty="0">
                          <a:latin typeface="+mn-lt"/>
                        </a:rPr>
                        <a:t>Activity</a:t>
                      </a:r>
                    </a:p>
                  </a:txBody>
                  <a:tcPr>
                    <a:solidFill>
                      <a:schemeClr val="accent3">
                        <a:lumMod val="75000"/>
                      </a:schemeClr>
                    </a:solidFill>
                  </a:tcPr>
                </a:tc>
                <a:tc>
                  <a:txBody>
                    <a:bodyPr/>
                    <a:lstStyle/>
                    <a:p>
                      <a:r>
                        <a:rPr lang="en-US" sz="1200" dirty="0">
                          <a:latin typeface="+mn-lt"/>
                        </a:rPr>
                        <a:t>Description</a:t>
                      </a:r>
                    </a:p>
                  </a:txBody>
                  <a:tcPr>
                    <a:solidFill>
                      <a:schemeClr val="accent3">
                        <a:lumMod val="75000"/>
                      </a:schemeClr>
                    </a:solidFill>
                  </a:tcPr>
                </a:tc>
                <a:tc>
                  <a:txBody>
                    <a:bodyPr/>
                    <a:lstStyle/>
                    <a:p>
                      <a:r>
                        <a:rPr lang="en-US" sz="1200" dirty="0">
                          <a:latin typeface="+mn-lt"/>
                        </a:rPr>
                        <a:t>Deadline</a:t>
                      </a:r>
                    </a:p>
                  </a:txBody>
                  <a:tcPr>
                    <a:solidFill>
                      <a:schemeClr val="accent3">
                        <a:lumMod val="75000"/>
                      </a:schemeClr>
                    </a:solidFill>
                  </a:tcPr>
                </a:tc>
                <a:extLst>
                  <a:ext uri="{0D108BD9-81ED-4DB2-BD59-A6C34878D82A}">
                    <a16:rowId xmlns:a16="http://schemas.microsoft.com/office/drawing/2014/main" val="1648451328"/>
                  </a:ext>
                </a:extLst>
              </a:tr>
              <a:tr h="481254">
                <a:tc>
                  <a:txBody>
                    <a:bodyPr/>
                    <a:lstStyle/>
                    <a:p>
                      <a:pPr lvl="0">
                        <a:buNone/>
                      </a:pPr>
                      <a:r>
                        <a:rPr lang="en-US" sz="1200" dirty="0">
                          <a:solidFill>
                            <a:schemeClr val="tx1"/>
                          </a:solidFill>
                          <a:latin typeface="+mn-lt"/>
                          <a:cs typeface="Calibri"/>
                        </a:rPr>
                        <a:t>CLM  Postings</a:t>
                      </a:r>
                    </a:p>
                  </a:txBody>
                  <a:tcPr>
                    <a:solidFill>
                      <a:schemeClr val="accent1">
                        <a:lumMod val="20000"/>
                        <a:lumOff val="80000"/>
                      </a:schemeClr>
                    </a:solidFill>
                  </a:tcPr>
                </a:tc>
                <a:tc>
                  <a:txBody>
                    <a:bodyPr/>
                    <a:lstStyle/>
                    <a:p>
                      <a:pPr lvl="0">
                        <a:buNone/>
                      </a:pPr>
                      <a:r>
                        <a:rPr lang="en-US" sz="1200" dirty="0">
                          <a:solidFill>
                            <a:schemeClr val="tx1"/>
                          </a:solidFill>
                          <a:latin typeface="+mn-lt"/>
                          <a:cs typeface="Calibri"/>
                        </a:rPr>
                        <a:t>Post the lease Payment and Interest accrual entries in CLM</a:t>
                      </a:r>
                      <a:endParaRPr lang="en-US" sz="1200" strike="sngStrike" dirty="0">
                        <a:solidFill>
                          <a:schemeClr val="tx1"/>
                        </a:solidFill>
                        <a:latin typeface="+mn-lt"/>
                        <a:cs typeface="Calibri"/>
                      </a:endParaRPr>
                    </a:p>
                  </a:txBody>
                  <a:tcPr>
                    <a:solidFill>
                      <a:schemeClr val="accent1">
                        <a:lumMod val="20000"/>
                        <a:lumOff val="80000"/>
                      </a:schemeClr>
                    </a:solidFill>
                  </a:tcPr>
                </a:tc>
                <a:tc>
                  <a:txBody>
                    <a:bodyPr/>
                    <a:lstStyle/>
                    <a:p>
                      <a:pPr lvl="0">
                        <a:buNone/>
                      </a:pPr>
                      <a:r>
                        <a:rPr lang="en-US" sz="1200" dirty="0">
                          <a:solidFill>
                            <a:schemeClr val="tx1"/>
                          </a:solidFill>
                          <a:latin typeface="+mn-lt"/>
                          <a:cs typeface="Calibri"/>
                        </a:rPr>
                        <a:t>WD-2</a:t>
                      </a:r>
                    </a:p>
                  </a:txBody>
                  <a:tcPr>
                    <a:solidFill>
                      <a:schemeClr val="accent1">
                        <a:lumMod val="20000"/>
                        <a:lumOff val="80000"/>
                      </a:schemeClr>
                    </a:solidFill>
                  </a:tcPr>
                </a:tc>
                <a:extLst>
                  <a:ext uri="{0D108BD9-81ED-4DB2-BD59-A6C34878D82A}">
                    <a16:rowId xmlns:a16="http://schemas.microsoft.com/office/drawing/2014/main" val="928943663"/>
                  </a:ext>
                </a:extLst>
              </a:tr>
              <a:tr h="481254">
                <a:tc>
                  <a:txBody>
                    <a:bodyPr/>
                    <a:lstStyle/>
                    <a:p>
                      <a:r>
                        <a:rPr lang="en-US" sz="1200" dirty="0">
                          <a:latin typeface="+mn-lt"/>
                          <a:cs typeface="Calibri" panose="020F0502020204030204" pitchFamily="34" charset="0"/>
                        </a:rPr>
                        <a:t>Reconciliations of key account/report</a:t>
                      </a:r>
                      <a:endParaRPr lang="en-US" sz="1200" strike="sngStrike" dirty="0">
                        <a:solidFill>
                          <a:srgbClr val="FF0000"/>
                        </a:solidFill>
                        <a:latin typeface="+mn-lt"/>
                        <a:cs typeface="Calibri" panose="020F0502020204030204" pitchFamily="34" charset="0"/>
                      </a:endParaRPr>
                    </a:p>
                  </a:txBody>
                  <a:tcPr>
                    <a:solidFill>
                      <a:schemeClr val="accent1">
                        <a:lumMod val="60000"/>
                        <a:lumOff val="40000"/>
                      </a:schemeClr>
                    </a:solidFill>
                  </a:tcPr>
                </a:tc>
                <a:tc>
                  <a:txBody>
                    <a:bodyPr/>
                    <a:lstStyle/>
                    <a:p>
                      <a:r>
                        <a:rPr lang="en-US" sz="1200" dirty="0">
                          <a:latin typeface="+mn-lt"/>
                          <a:cs typeface="Calibri" panose="020F0502020204030204" pitchFamily="34" charset="0"/>
                        </a:rPr>
                        <a:t>Reconciliation of key account 203031 to ensure assets and liabilities net off</a:t>
                      </a:r>
                      <a:endParaRPr lang="en-US" sz="1200" strike="sngStrike" dirty="0">
                        <a:latin typeface="+mn-lt"/>
                        <a:cs typeface="Calibri" panose="020F0502020204030204" pitchFamily="34" charset="0"/>
                      </a:endParaRPr>
                    </a:p>
                  </a:txBody>
                  <a:tcPr>
                    <a:solidFill>
                      <a:schemeClr val="accent1">
                        <a:lumMod val="60000"/>
                        <a:lumOff val="40000"/>
                      </a:schemeClr>
                    </a:solidFill>
                  </a:tcPr>
                </a:tc>
                <a:tc>
                  <a:txBody>
                    <a:bodyPr/>
                    <a:lstStyle/>
                    <a:p>
                      <a:r>
                        <a:rPr lang="en-US" sz="1200" dirty="0">
                          <a:latin typeface="+mn-lt"/>
                          <a:cs typeface="Calibri"/>
                        </a:rPr>
                        <a:t>WD-</a:t>
                      </a:r>
                      <a:r>
                        <a:rPr lang="pl-PL" sz="1200">
                          <a:latin typeface="+mn-lt"/>
                          <a:cs typeface="Calibri"/>
                        </a:rPr>
                        <a:t>2</a:t>
                      </a:r>
                      <a:endParaRPr lang="en-US" sz="1200" dirty="0">
                        <a:latin typeface="+mn-lt"/>
                        <a:cs typeface="Calibri"/>
                      </a:endParaRPr>
                    </a:p>
                  </a:txBody>
                  <a:tcPr>
                    <a:solidFill>
                      <a:schemeClr val="accent1">
                        <a:lumMod val="60000"/>
                        <a:lumOff val="40000"/>
                      </a:schemeClr>
                    </a:solidFill>
                  </a:tcPr>
                </a:tc>
                <a:extLst>
                  <a:ext uri="{0D108BD9-81ED-4DB2-BD59-A6C34878D82A}">
                    <a16:rowId xmlns:a16="http://schemas.microsoft.com/office/drawing/2014/main" val="3640670692"/>
                  </a:ext>
                </a:extLst>
              </a:tr>
              <a:tr h="481254">
                <a:tc>
                  <a:txBody>
                    <a:bodyPr/>
                    <a:lstStyle/>
                    <a:p>
                      <a:r>
                        <a:rPr lang="pl-PL" sz="1200">
                          <a:latin typeface="+mn-lt"/>
                          <a:cs typeface="Calibri" panose="020F0502020204030204" pitchFamily="34" charset="0"/>
                        </a:rPr>
                        <a:t>Post Interest Accrued</a:t>
                      </a:r>
                      <a:endParaRPr lang="en-US" sz="1200" dirty="0">
                        <a:latin typeface="+mn-lt"/>
                        <a:cs typeface="Calibri" panose="020F0502020204030204" pitchFamily="34" charset="0"/>
                      </a:endParaRPr>
                    </a:p>
                  </a:txBody>
                  <a:tcPr>
                    <a:solidFill>
                      <a:schemeClr val="accent1">
                        <a:lumMod val="60000"/>
                        <a:lumOff val="40000"/>
                      </a:schemeClr>
                    </a:solidFill>
                  </a:tcPr>
                </a:tc>
                <a:tc>
                  <a:txBody>
                    <a:bodyPr/>
                    <a:lstStyle/>
                    <a:p>
                      <a:r>
                        <a:rPr lang="pl-PL" sz="1200" dirty="0">
                          <a:latin typeface="+mn-lt"/>
                          <a:cs typeface="Calibri" panose="020F0502020204030204" pitchFamily="34" charset="0"/>
                        </a:rPr>
                        <a:t>SAP CLM post </a:t>
                      </a:r>
                      <a:r>
                        <a:rPr lang="en-US" sz="1200" noProof="0" dirty="0">
                          <a:latin typeface="+mn-lt"/>
                          <a:cs typeface="Calibri" panose="020F0502020204030204" pitchFamily="34" charset="0"/>
                        </a:rPr>
                        <a:t>accrued</a:t>
                      </a:r>
                      <a:r>
                        <a:rPr lang="pl-PL" sz="1200" dirty="0">
                          <a:latin typeface="+mn-lt"/>
                          <a:cs typeface="Calibri" panose="020F0502020204030204" pitchFamily="34" charset="0"/>
                        </a:rPr>
                        <a:t> interest for active contracts</a:t>
                      </a:r>
                      <a:endParaRPr lang="en-US" sz="1200" dirty="0">
                        <a:latin typeface="+mn-lt"/>
                        <a:cs typeface="Calibri" panose="020F0502020204030204" pitchFamily="34" charset="0"/>
                      </a:endParaRPr>
                    </a:p>
                  </a:txBody>
                  <a:tcPr>
                    <a:solidFill>
                      <a:schemeClr val="accent1">
                        <a:lumMod val="60000"/>
                        <a:lumOff val="40000"/>
                      </a:schemeClr>
                    </a:solidFill>
                  </a:tcPr>
                </a:tc>
                <a:tc>
                  <a:txBody>
                    <a:bodyPr/>
                    <a:lstStyle/>
                    <a:p>
                      <a:r>
                        <a:rPr lang="pl-PL" sz="1200">
                          <a:latin typeface="+mn-lt"/>
                          <a:cs typeface="Calibri"/>
                        </a:rPr>
                        <a:t>WD 1</a:t>
                      </a:r>
                      <a:endParaRPr lang="en-US" sz="1200" dirty="0">
                        <a:latin typeface="+mn-lt"/>
                        <a:cs typeface="Calibri"/>
                      </a:endParaRPr>
                    </a:p>
                  </a:txBody>
                  <a:tcPr>
                    <a:solidFill>
                      <a:schemeClr val="accent1">
                        <a:lumMod val="60000"/>
                        <a:lumOff val="40000"/>
                      </a:schemeClr>
                    </a:solidFill>
                  </a:tcPr>
                </a:tc>
                <a:extLst>
                  <a:ext uri="{0D108BD9-81ED-4DB2-BD59-A6C34878D82A}">
                    <a16:rowId xmlns:a16="http://schemas.microsoft.com/office/drawing/2014/main" val="777112945"/>
                  </a:ext>
                </a:extLst>
              </a:tr>
              <a:tr h="481254">
                <a:tc>
                  <a:txBody>
                    <a:bodyPr/>
                    <a:lstStyle/>
                    <a:p>
                      <a:r>
                        <a:rPr lang="en-US" sz="1200" noProof="0" dirty="0">
                          <a:solidFill>
                            <a:schemeClr val="tx1"/>
                          </a:solidFill>
                          <a:latin typeface="+mn-lt"/>
                          <a:cs typeface="Calibri" panose="020F0502020204030204" pitchFamily="34" charset="0"/>
                        </a:rPr>
                        <a:t>Revaluation</a:t>
                      </a:r>
                      <a:r>
                        <a:rPr lang="pl-PL" sz="1200" dirty="0">
                          <a:solidFill>
                            <a:schemeClr val="tx1"/>
                          </a:solidFill>
                          <a:latin typeface="+mn-lt"/>
                          <a:cs typeface="Calibri" panose="020F0502020204030204" pitchFamily="34" charset="0"/>
                        </a:rPr>
                        <a:t> of LT Liab</a:t>
                      </a:r>
                      <a:endParaRPr lang="en-US" sz="1200" dirty="0">
                        <a:solidFill>
                          <a:schemeClr val="tx1"/>
                        </a:solidFill>
                        <a:latin typeface="+mn-lt"/>
                        <a:cs typeface="Calibri" panose="020F0502020204030204" pitchFamily="34" charset="0"/>
                      </a:endParaRPr>
                    </a:p>
                  </a:txBody>
                  <a:tcPr>
                    <a:solidFill>
                      <a:schemeClr val="accent1">
                        <a:lumMod val="60000"/>
                        <a:lumOff val="40000"/>
                      </a:schemeClr>
                    </a:solidFill>
                  </a:tcPr>
                </a:tc>
                <a:tc>
                  <a:txBody>
                    <a:bodyPr/>
                    <a:lstStyle/>
                    <a:p>
                      <a:pPr lvl="0">
                        <a:buNone/>
                      </a:pPr>
                      <a:r>
                        <a:rPr lang="pl-PL" sz="1200" b="0" i="0" u="none" strike="noStrike" noProof="0" dirty="0">
                          <a:solidFill>
                            <a:schemeClr val="tx1"/>
                          </a:solidFill>
                          <a:latin typeface="+mn-lt"/>
                        </a:rPr>
                        <a:t>SAP CLM to post </a:t>
                      </a:r>
                      <a:r>
                        <a:rPr lang="en-US" sz="1200" b="0" i="0" u="none" strike="noStrike" noProof="0" dirty="0">
                          <a:solidFill>
                            <a:schemeClr val="tx1"/>
                          </a:solidFill>
                          <a:latin typeface="+mn-lt"/>
                        </a:rPr>
                        <a:t>revaluation</a:t>
                      </a:r>
                      <a:r>
                        <a:rPr lang="pl-PL" sz="1200" b="0" i="0" u="none" strike="noStrike" noProof="0" dirty="0">
                          <a:solidFill>
                            <a:schemeClr val="tx1"/>
                          </a:solidFill>
                          <a:latin typeface="+mn-lt"/>
                        </a:rPr>
                        <a:t> of LT liab 262540</a:t>
                      </a:r>
                      <a:endParaRPr lang="en-US" sz="1200" b="0" i="1" baseline="30000" dirty="0">
                        <a:solidFill>
                          <a:schemeClr val="tx1"/>
                        </a:solidFill>
                        <a:highlight>
                          <a:srgbClr val="FFFF00"/>
                        </a:highlight>
                        <a:latin typeface="+mn-lt"/>
                        <a:cs typeface="Calibri"/>
                      </a:endParaRPr>
                    </a:p>
                  </a:txBody>
                  <a:tcPr>
                    <a:solidFill>
                      <a:schemeClr val="accent1">
                        <a:lumMod val="60000"/>
                        <a:lumOff val="40000"/>
                      </a:schemeClr>
                    </a:solidFill>
                  </a:tcPr>
                </a:tc>
                <a:tc>
                  <a:txBody>
                    <a:bodyPr/>
                    <a:lstStyle/>
                    <a:p>
                      <a:r>
                        <a:rPr lang="pl-PL" sz="1200" dirty="0">
                          <a:latin typeface="+mn-lt"/>
                          <a:cs typeface="Calibri" panose="020F0502020204030204" pitchFamily="34" charset="0"/>
                        </a:rPr>
                        <a:t>WD 1</a:t>
                      </a:r>
                      <a:endParaRPr lang="en-US" sz="1200" dirty="0">
                        <a:latin typeface="+mn-lt"/>
                        <a:cs typeface="Calibri" panose="020F0502020204030204" pitchFamily="34" charset="0"/>
                      </a:endParaRPr>
                    </a:p>
                  </a:txBody>
                  <a:tcPr>
                    <a:solidFill>
                      <a:schemeClr val="accent1">
                        <a:lumMod val="60000"/>
                        <a:lumOff val="40000"/>
                      </a:schemeClr>
                    </a:solidFill>
                  </a:tcPr>
                </a:tc>
                <a:extLst>
                  <a:ext uri="{0D108BD9-81ED-4DB2-BD59-A6C34878D82A}">
                    <a16:rowId xmlns:a16="http://schemas.microsoft.com/office/drawing/2014/main" val="2917755788"/>
                  </a:ext>
                </a:extLst>
              </a:tr>
              <a:tr h="481254">
                <a:tc>
                  <a:txBody>
                    <a:bodyPr/>
                    <a:lstStyle/>
                    <a:p>
                      <a:pPr marL="0" lvl="0" algn="l" defTabSz="914400" rtl="0" eaLnBrk="1" latinLnBrk="0" hangingPunct="1">
                        <a:buNone/>
                      </a:pPr>
                      <a:r>
                        <a:rPr lang="pl-PL" sz="1200" b="0" i="0" u="none" strike="noStrike" kern="1200">
                          <a:solidFill>
                            <a:schemeClr val="tx1"/>
                          </a:solidFill>
                          <a:latin typeface="+mn-lt"/>
                          <a:ea typeface="+mn-ea"/>
                          <a:cs typeface="+mn-cs"/>
                        </a:rPr>
                        <a:t>Regroup St/LT Liability</a:t>
                      </a:r>
                      <a:endParaRPr lang="en-US" sz="1200" b="0" i="0" u="none" strike="noStrike" kern="1200" dirty="0">
                        <a:solidFill>
                          <a:schemeClr val="tx1"/>
                        </a:solidFill>
                        <a:latin typeface="+mn-lt"/>
                        <a:ea typeface="+mn-ea"/>
                        <a:cs typeface="+mn-cs"/>
                      </a:endParaRPr>
                    </a:p>
                  </a:txBody>
                  <a:tcPr>
                    <a:solidFill>
                      <a:schemeClr val="accent1">
                        <a:lumMod val="60000"/>
                        <a:lumOff val="40000"/>
                      </a:schemeClr>
                    </a:solidFill>
                  </a:tcPr>
                </a:tc>
                <a:tc>
                  <a:txBody>
                    <a:bodyPr/>
                    <a:lstStyle/>
                    <a:p>
                      <a:pPr marL="0" lvl="0" algn="l" defTabSz="914400" rtl="0" eaLnBrk="1" latinLnBrk="0" hangingPunct="1">
                        <a:buNone/>
                      </a:pPr>
                      <a:r>
                        <a:rPr lang="pl-PL" sz="1200" b="0" i="0" u="none" strike="noStrike" kern="1200" dirty="0">
                          <a:solidFill>
                            <a:schemeClr val="tx1"/>
                          </a:solidFill>
                          <a:latin typeface="+mn-lt"/>
                          <a:ea typeface="+mn-ea"/>
                          <a:cs typeface="+mn-cs"/>
                        </a:rPr>
                        <a:t>Reclass from LT Liability of a ST portion to ST liability</a:t>
                      </a:r>
                      <a:endParaRPr lang="en-US" sz="1200" b="0" i="0" u="none" strike="noStrike" kern="1200" dirty="0">
                        <a:solidFill>
                          <a:schemeClr val="tx1"/>
                        </a:solidFill>
                        <a:latin typeface="+mn-lt"/>
                        <a:ea typeface="+mn-ea"/>
                        <a:cs typeface="+mn-cs"/>
                      </a:endParaRPr>
                    </a:p>
                  </a:txBody>
                  <a:tcPr>
                    <a:solidFill>
                      <a:schemeClr val="accent1">
                        <a:lumMod val="60000"/>
                        <a:lumOff val="40000"/>
                      </a:schemeClr>
                    </a:solidFill>
                  </a:tcPr>
                </a:tc>
                <a:tc>
                  <a:txBody>
                    <a:bodyPr/>
                    <a:lstStyle/>
                    <a:p>
                      <a:r>
                        <a:rPr lang="pl-PL" sz="1200" dirty="0">
                          <a:latin typeface="+mn-lt"/>
                          <a:cs typeface="Calibri" panose="020F0502020204030204" pitchFamily="34" charset="0"/>
                        </a:rPr>
                        <a:t>WD 2</a:t>
                      </a:r>
                      <a:endParaRPr lang="en-US" sz="1200" dirty="0">
                        <a:latin typeface="+mn-lt"/>
                        <a:cs typeface="Calibri" panose="020F0502020204030204" pitchFamily="34" charset="0"/>
                      </a:endParaRPr>
                    </a:p>
                  </a:txBody>
                  <a:tcPr>
                    <a:solidFill>
                      <a:schemeClr val="accent1">
                        <a:lumMod val="60000"/>
                        <a:lumOff val="40000"/>
                      </a:schemeClr>
                    </a:solidFill>
                  </a:tcPr>
                </a:tc>
                <a:extLst>
                  <a:ext uri="{0D108BD9-81ED-4DB2-BD59-A6C34878D82A}">
                    <a16:rowId xmlns:a16="http://schemas.microsoft.com/office/drawing/2014/main" val="657074325"/>
                  </a:ext>
                </a:extLst>
              </a:tr>
              <a:tr h="673755">
                <a:tc>
                  <a:txBody>
                    <a:bodyPr/>
                    <a:lstStyle/>
                    <a:p>
                      <a:r>
                        <a:rPr lang="en-US" sz="1200" dirty="0">
                          <a:latin typeface="+mn-lt"/>
                          <a:cs typeface="Calibri" panose="020F0502020204030204" pitchFamily="34" charset="0"/>
                        </a:rPr>
                        <a:t>Review and clearing of transitory account</a:t>
                      </a:r>
                      <a:endParaRPr lang="en-US" sz="1200" strike="sngStrike" dirty="0">
                        <a:solidFill>
                          <a:srgbClr val="FF0000"/>
                        </a:solidFill>
                        <a:latin typeface="+mn-lt"/>
                        <a:cs typeface="Calibri" panose="020F0502020204030204" pitchFamily="34" charset="0"/>
                      </a:endParaRPr>
                    </a:p>
                  </a:txBody>
                  <a:tcPr>
                    <a:solidFill>
                      <a:schemeClr val="accent1"/>
                    </a:solidFill>
                  </a:tcPr>
                </a:tc>
                <a:tc>
                  <a:txBody>
                    <a:bodyPr/>
                    <a:lstStyle/>
                    <a:p>
                      <a:r>
                        <a:rPr lang="en-US" sz="1200" dirty="0">
                          <a:latin typeface="+mn-lt"/>
                          <a:cs typeface="Calibri" panose="020F0502020204030204" pitchFamily="34" charset="0"/>
                        </a:rPr>
                        <a:t>Transitory account </a:t>
                      </a:r>
                      <a:r>
                        <a:rPr lang="pl-PL" sz="1200" dirty="0">
                          <a:solidFill>
                            <a:schemeClr val="tx1"/>
                          </a:solidFill>
                          <a:latin typeface="+mn-lt"/>
                          <a:cs typeface="Calibri" panose="020F0502020204030204" pitchFamily="34" charset="0"/>
                        </a:rPr>
                        <a:t>(24303</a:t>
                      </a:r>
                      <a:r>
                        <a:rPr lang="en-GB" sz="1200" dirty="0">
                          <a:solidFill>
                            <a:schemeClr val="tx1"/>
                          </a:solidFill>
                          <a:latin typeface="+mn-lt"/>
                          <a:cs typeface="Calibri" panose="020F0502020204030204" pitchFamily="34" charset="0"/>
                        </a:rPr>
                        <a:t>1) </a:t>
                      </a:r>
                      <a:r>
                        <a:rPr lang="en-US" sz="1200" dirty="0">
                          <a:latin typeface="+mn-lt"/>
                          <a:cs typeface="Calibri" panose="020F0502020204030204" pitchFamily="34" charset="0"/>
                        </a:rPr>
                        <a:t>used in Lease Accounting </a:t>
                      </a:r>
                      <a:r>
                        <a:rPr lang="en-US" sz="1200" noProof="0" dirty="0">
                          <a:latin typeface="+mn-lt"/>
                          <a:cs typeface="Calibri" panose="020F0502020204030204" pitchFamily="34" charset="0"/>
                        </a:rPr>
                        <a:t>is</a:t>
                      </a:r>
                      <a:r>
                        <a:rPr lang="en-US" sz="1200" dirty="0">
                          <a:latin typeface="+mn-lt"/>
                          <a:cs typeface="Calibri" panose="020F0502020204030204" pitchFamily="34" charset="0"/>
                        </a:rPr>
                        <a:t> reviewed and open items are then </a:t>
                      </a:r>
                      <a:r>
                        <a:rPr lang="en-US" sz="1200" dirty="0">
                          <a:solidFill>
                            <a:schemeClr val="tx1"/>
                          </a:solidFill>
                          <a:latin typeface="+mn-lt"/>
                          <a:cs typeface="Calibri" panose="020F0502020204030204" pitchFamily="34" charset="0"/>
                        </a:rPr>
                        <a:t>cleared</a:t>
                      </a:r>
                    </a:p>
                  </a:txBody>
                  <a:tcPr>
                    <a:solidFill>
                      <a:schemeClr val="accent1"/>
                    </a:solidFill>
                  </a:tcPr>
                </a:tc>
                <a:tc>
                  <a:txBody>
                    <a:bodyPr/>
                    <a:lstStyle/>
                    <a:p>
                      <a:r>
                        <a:rPr lang="en-US" sz="1200" dirty="0">
                          <a:latin typeface="+mn-lt"/>
                          <a:cs typeface="Calibri"/>
                        </a:rPr>
                        <a:t>WD</a:t>
                      </a:r>
                      <a:r>
                        <a:rPr lang="pl-PL" sz="1200" dirty="0">
                          <a:latin typeface="+mn-lt"/>
                          <a:cs typeface="Calibri"/>
                        </a:rPr>
                        <a:t> </a:t>
                      </a:r>
                      <a:r>
                        <a:rPr lang="en-US" sz="1200" dirty="0">
                          <a:latin typeface="+mn-lt"/>
                          <a:cs typeface="Calibri"/>
                        </a:rPr>
                        <a:t>2</a:t>
                      </a:r>
                      <a:endParaRPr lang="en-US" sz="1200" dirty="0">
                        <a:latin typeface="+mn-lt"/>
                        <a:cs typeface="Calibri" panose="020F0502020204030204" pitchFamily="34" charset="0"/>
                      </a:endParaRPr>
                    </a:p>
                  </a:txBody>
                  <a:tcPr>
                    <a:solidFill>
                      <a:schemeClr val="accent1"/>
                    </a:solidFill>
                  </a:tcPr>
                </a:tc>
                <a:extLst>
                  <a:ext uri="{0D108BD9-81ED-4DB2-BD59-A6C34878D82A}">
                    <a16:rowId xmlns:a16="http://schemas.microsoft.com/office/drawing/2014/main" val="2756683030"/>
                  </a:ext>
                </a:extLst>
              </a:tr>
            </a:tbl>
          </a:graphicData>
        </a:graphic>
      </p:graphicFrame>
      <p:sp>
        <p:nvSpPr>
          <p:cNvPr id="4" name="Rectangle 3">
            <a:extLst>
              <a:ext uri="{FF2B5EF4-FFF2-40B4-BE49-F238E27FC236}">
                <a16:creationId xmlns:a16="http://schemas.microsoft.com/office/drawing/2014/main" id="{DEE17BAC-9811-E7D1-22B0-629827BE5BA8}"/>
              </a:ext>
            </a:extLst>
          </p:cNvPr>
          <p:cNvSpPr/>
          <p:nvPr/>
        </p:nvSpPr>
        <p:spPr>
          <a:xfrm>
            <a:off x="414866" y="5234133"/>
            <a:ext cx="5738271" cy="13305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This material is for the reference for GBS and Entity Accounting Teams, as this task is performed by GBS Warsaw, Lease Accounting Team (LAT). </a:t>
            </a:r>
          </a:p>
          <a:p>
            <a:endParaRPr lang="en-US" sz="1200" dirty="0">
              <a:solidFill>
                <a:schemeClr val="tx1"/>
              </a:solidFill>
              <a:latin typeface="+mj-lt"/>
            </a:endParaRPr>
          </a:p>
          <a:p>
            <a:r>
              <a:rPr lang="en-US" sz="1200" dirty="0">
                <a:solidFill>
                  <a:schemeClr val="tx1"/>
                </a:solidFill>
                <a:latin typeface="+mj-lt"/>
              </a:rPr>
              <a:t>Entity Accounting Teams should know when and what activity is performed during the month from a Lease Accounting perspective. </a:t>
            </a:r>
          </a:p>
        </p:txBody>
      </p:sp>
    </p:spTree>
    <p:extLst>
      <p:ext uri="{BB962C8B-B14F-4D97-AF65-F5344CB8AC3E}">
        <p14:creationId xmlns:p14="http://schemas.microsoft.com/office/powerpoint/2010/main" val="3394631521"/>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6" ma:contentTypeDescription="Create a new document." ma:contentTypeScope="" ma:versionID="f1bfec99b7120fc41ecdfe5db34ab04d">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6fb91d6a9c4b20f36a20c4886e61de75"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1B88CD-BA41-44ED-834E-86F80F4BB665}"/>
</file>

<file path=customXml/itemProps2.xml><?xml version="1.0" encoding="utf-8"?>
<ds:datastoreItem xmlns:ds="http://schemas.openxmlformats.org/officeDocument/2006/customXml" ds:itemID="{E3BC77B7-89BE-45D2-B43A-94AB4C5F40F4}">
  <ds:schemaRefs>
    <ds:schemaRef ds:uri="http://schemas.microsoft.com/office/2006/documentManagement/types"/>
    <ds:schemaRef ds:uri="cb52ee0d-5346-4ae8-a9f9-d746adffeb6b"/>
    <ds:schemaRef ds:uri="http://purl.org/dc/elements/1.1/"/>
    <ds:schemaRef ds:uri="http://schemas.openxmlformats.org/package/2006/metadata/core-properties"/>
    <ds:schemaRef ds:uri="http://schemas.microsoft.com/office/2006/metadata/properties"/>
    <ds:schemaRef ds:uri="http://purl.org/dc/terms/"/>
    <ds:schemaRef ds:uri="http://schemas.microsoft.com/office/infopath/2007/PartnerControls"/>
    <ds:schemaRef ds:uri="91871c47-af2e-43ea-ad3f-7bb4c536bc45"/>
    <ds:schemaRef ds:uri="ba249638-b5c4-4b59-8094-70d8491c2e9c"/>
    <ds:schemaRef ds:uri="http://www.w3.org/XML/1998/namespace"/>
    <ds:schemaRef ds:uri="http://purl.org/dc/dcmitype/"/>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21</TotalTime>
  <Words>406</Words>
  <Application>Microsoft Office PowerPoint</Application>
  <PresentationFormat>Widescreen</PresentationFormat>
  <Paragraphs>62</Paragraphs>
  <Slides>2</Slides>
  <Notes>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2</vt:i4>
      </vt:variant>
    </vt:vector>
  </HeadingPairs>
  <TitlesOfParts>
    <vt:vector size="7" baseType="lpstr">
      <vt:lpstr>Arial</vt:lpstr>
      <vt:lpstr>Calibri</vt:lpstr>
      <vt:lpstr>1_S4F-ERP Clean IFRS Stat &amp; Tax Rep</vt:lpstr>
      <vt:lpstr>S4F-ERP Period End Closing</vt:lpstr>
      <vt:lpstr>1_S4F-ERP Period End Closing</vt:lpstr>
      <vt:lpstr>Period End Closing Execution (BSC)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2024-05-08T16:43:43Z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1337000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