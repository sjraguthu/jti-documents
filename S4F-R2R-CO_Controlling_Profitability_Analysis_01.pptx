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3" r:id="rId5"/>
  </p:sldMasterIdLst>
  <p:notesMasterIdLst>
    <p:notesMasterId r:id="rId32"/>
  </p:notesMasterIdLst>
  <p:sldIdLst>
    <p:sldId id="403" r:id="rId6"/>
    <p:sldId id="404" r:id="rId7"/>
    <p:sldId id="409" r:id="rId8"/>
    <p:sldId id="3014" r:id="rId9"/>
    <p:sldId id="3056" r:id="rId10"/>
    <p:sldId id="414" r:id="rId11"/>
    <p:sldId id="2337" r:id="rId12"/>
    <p:sldId id="2341" r:id="rId13"/>
    <p:sldId id="2293" r:id="rId14"/>
    <p:sldId id="2344" r:id="rId15"/>
    <p:sldId id="2357" r:id="rId16"/>
    <p:sldId id="455" r:id="rId17"/>
    <p:sldId id="2338" r:id="rId18"/>
    <p:sldId id="2340" r:id="rId19"/>
    <p:sldId id="2342" r:id="rId20"/>
    <p:sldId id="2345" r:id="rId21"/>
    <p:sldId id="2339" r:id="rId22"/>
    <p:sldId id="2347" r:id="rId23"/>
    <p:sldId id="2346" r:id="rId24"/>
    <p:sldId id="457" r:id="rId25"/>
    <p:sldId id="2395" r:id="rId26"/>
    <p:sldId id="2291" r:id="rId27"/>
    <p:sldId id="2348" r:id="rId28"/>
    <p:sldId id="2343" r:id="rId29"/>
    <p:sldId id="2349" r:id="rId30"/>
    <p:sldId id="300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eill, Shauna" userId="S::cstoneils2@corp.jti.com::1d0a8ccc-c260-429c-86e4-d406a5ac1d3d" providerId="AD" clId="Web-{15042FE7-81A1-CC9A-5092-3152BB77733D}"/>
    <pc:docChg chg="mod">
      <pc:chgData name="O'Neill, Shauna" userId="S::cstoneils2@corp.jti.com::1d0a8ccc-c260-429c-86e4-d406a5ac1d3d" providerId="AD" clId="Web-{15042FE7-81A1-CC9A-5092-3152BB77733D}" dt="2023-05-16T03:04:06.494" v="0" actId="33475"/>
      <pc:docMkLst>
        <pc:docMk/>
      </pc:docMkLst>
    </pc:docChg>
  </pc:docChgLst>
</pc:chgInfo>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8EB535-0B76-4BE1-BA30-2E93F29A740B}" type="doc">
      <dgm:prSet loTypeId="urn:microsoft.com/office/officeart/2005/8/layout/default" loCatId="list" qsTypeId="urn:microsoft.com/office/officeart/2005/8/quickstyle/simple1" qsCatId="simple" csTypeId="urn:microsoft.com/office/officeart/2005/8/colors/colorful3" csCatId="colorful" phldr="1"/>
      <dgm:spPr/>
      <dgm:t>
        <a:bodyPr/>
        <a:lstStyle/>
        <a:p>
          <a:endParaRPr lang="en-US"/>
        </a:p>
      </dgm:t>
    </dgm:pt>
    <dgm:pt modelId="{26018A1D-1870-461A-B3B6-3D253A9175B7}">
      <dgm:prSet phldrT="[Text]" custT="1"/>
      <dgm:spPr/>
      <dgm:t>
        <a:bodyPr/>
        <a:lstStyle/>
        <a:p>
          <a:pPr algn="ctr"/>
          <a:r>
            <a:rPr lang="en-GB" sz="1600" b="1"/>
            <a:t>Rationalization of Profit Centers to support the strategic direction of Market FCF</a:t>
          </a:r>
          <a:endParaRPr lang="en-US" sz="1600" b="1"/>
        </a:p>
      </dgm:t>
    </dgm:pt>
    <dgm:pt modelId="{D39F9F2C-1DB0-474D-96F6-016373DE3D0B}" type="parTrans" cxnId="{34DD469D-CA9F-4017-8BA6-014D7748ABF5}">
      <dgm:prSet/>
      <dgm:spPr/>
      <dgm:t>
        <a:bodyPr/>
        <a:lstStyle/>
        <a:p>
          <a:endParaRPr lang="en-US"/>
        </a:p>
      </dgm:t>
    </dgm:pt>
    <dgm:pt modelId="{DB86D947-2590-47AF-8A67-32D5C7162FA8}" type="sibTrans" cxnId="{34DD469D-CA9F-4017-8BA6-014D7748ABF5}">
      <dgm:prSet/>
      <dgm:spPr/>
      <dgm:t>
        <a:bodyPr/>
        <a:lstStyle/>
        <a:p>
          <a:endParaRPr lang="en-US"/>
        </a:p>
      </dgm:t>
    </dgm:pt>
    <dgm:pt modelId="{3B00357C-1084-4864-AD64-DB19D1369CCE}">
      <dgm:prSet custT="1"/>
      <dgm:spPr>
        <a:solidFill>
          <a:srgbClr val="78C2B0"/>
        </a:solidFill>
      </dgm:spPr>
      <dgm:t>
        <a:bodyPr/>
        <a:lstStyle/>
        <a:p>
          <a:pPr algn="ctr"/>
          <a:r>
            <a:rPr lang="en-GB" sz="1600" b="1"/>
            <a:t>Development of flexible profitability model for brand contribution </a:t>
          </a:r>
        </a:p>
      </dgm:t>
    </dgm:pt>
    <dgm:pt modelId="{3FC74310-1F35-418C-B568-5E20B6B32FE6}" type="parTrans" cxnId="{85210467-E143-45B7-B293-A4371DA8E447}">
      <dgm:prSet/>
      <dgm:spPr/>
      <dgm:t>
        <a:bodyPr/>
        <a:lstStyle/>
        <a:p>
          <a:endParaRPr lang="en-US"/>
        </a:p>
      </dgm:t>
    </dgm:pt>
    <dgm:pt modelId="{615329AD-ED2E-4F4B-A0BF-1623316D197E}" type="sibTrans" cxnId="{85210467-E143-45B7-B293-A4371DA8E447}">
      <dgm:prSet/>
      <dgm:spPr/>
      <dgm:t>
        <a:bodyPr/>
        <a:lstStyle/>
        <a:p>
          <a:endParaRPr lang="en-US"/>
        </a:p>
      </dgm:t>
    </dgm:pt>
    <dgm:pt modelId="{86DC54B0-7159-493B-B264-AE420220E957}">
      <dgm:prSet custT="1"/>
      <dgm:spPr>
        <a:solidFill>
          <a:schemeClr val="bg1">
            <a:lumMod val="65000"/>
          </a:schemeClr>
        </a:solidFill>
      </dgm:spPr>
      <dgm:t>
        <a:bodyPr/>
        <a:lstStyle/>
        <a:p>
          <a:pPr algn="ctr"/>
          <a:r>
            <a:rPr lang="en-GB" sz="1600" b="1"/>
            <a:t>Improved analytical capabilities</a:t>
          </a:r>
        </a:p>
      </dgm:t>
    </dgm:pt>
    <dgm:pt modelId="{0C921F68-53FB-4EC2-8685-D83897867077}" type="parTrans" cxnId="{90A04C95-460E-4FD5-A89B-B15F42BB3739}">
      <dgm:prSet/>
      <dgm:spPr/>
      <dgm:t>
        <a:bodyPr/>
        <a:lstStyle/>
        <a:p>
          <a:endParaRPr lang="en-US"/>
        </a:p>
      </dgm:t>
    </dgm:pt>
    <dgm:pt modelId="{AFB2FF56-796C-41A3-A766-77B215074C05}" type="sibTrans" cxnId="{90A04C95-460E-4FD5-A89B-B15F42BB3739}">
      <dgm:prSet/>
      <dgm:spPr/>
      <dgm:t>
        <a:bodyPr/>
        <a:lstStyle/>
        <a:p>
          <a:endParaRPr lang="en-US"/>
        </a:p>
      </dgm:t>
    </dgm:pt>
    <dgm:pt modelId="{DF72BB88-6052-408B-9C7E-825E2B1B1800}">
      <dgm:prSet/>
      <dgm:spPr>
        <a:solidFill>
          <a:schemeClr val="bg1">
            <a:lumMod val="65000"/>
          </a:schemeClr>
        </a:solidFill>
      </dgm:spPr>
      <dgm:t>
        <a:bodyPr/>
        <a:lstStyle/>
        <a:p>
          <a:pPr algn="l"/>
          <a:r>
            <a:rPr lang="en-GB" sz="1100"/>
            <a:t>Visibility of different marketing initiatives across Regions and Markets </a:t>
          </a:r>
        </a:p>
      </dgm:t>
    </dgm:pt>
    <dgm:pt modelId="{C6F4B1C7-8D51-4E4A-A4D0-BE6AA9A4041E}" type="parTrans" cxnId="{45237920-EE32-4AEE-ACA7-85F2C204076E}">
      <dgm:prSet/>
      <dgm:spPr/>
      <dgm:t>
        <a:bodyPr/>
        <a:lstStyle/>
        <a:p>
          <a:endParaRPr lang="en-US"/>
        </a:p>
      </dgm:t>
    </dgm:pt>
    <dgm:pt modelId="{F580A3C7-716D-4A47-98E3-3885A211B11C}" type="sibTrans" cxnId="{45237920-EE32-4AEE-ACA7-85F2C204076E}">
      <dgm:prSet/>
      <dgm:spPr/>
      <dgm:t>
        <a:bodyPr/>
        <a:lstStyle/>
        <a:p>
          <a:endParaRPr lang="en-US"/>
        </a:p>
      </dgm:t>
    </dgm:pt>
    <dgm:pt modelId="{4D47E6B2-3FCD-4B78-9BF6-A041B9D9AC2A}">
      <dgm:prSet/>
      <dgm:spPr>
        <a:solidFill>
          <a:schemeClr val="bg1">
            <a:lumMod val="65000"/>
          </a:schemeClr>
        </a:solidFill>
      </dgm:spPr>
      <dgm:t>
        <a:bodyPr/>
        <a:lstStyle/>
        <a:p>
          <a:pPr algn="l"/>
          <a:r>
            <a:rPr lang="en-GB" sz="1100"/>
            <a:t>Increased visibility in understanding drivers in COGS variances </a:t>
          </a:r>
        </a:p>
      </dgm:t>
    </dgm:pt>
    <dgm:pt modelId="{2146026A-3D0E-4580-98D1-56F2EE540DA4}" type="parTrans" cxnId="{6219EF3D-3B18-43FC-A1E5-AA6740F6891C}">
      <dgm:prSet/>
      <dgm:spPr/>
      <dgm:t>
        <a:bodyPr/>
        <a:lstStyle/>
        <a:p>
          <a:endParaRPr lang="en-US"/>
        </a:p>
      </dgm:t>
    </dgm:pt>
    <dgm:pt modelId="{32C5D6D4-9C6D-402B-B66C-A3855E811EAA}" type="sibTrans" cxnId="{6219EF3D-3B18-43FC-A1E5-AA6740F6891C}">
      <dgm:prSet/>
      <dgm:spPr/>
      <dgm:t>
        <a:bodyPr/>
        <a:lstStyle/>
        <a:p>
          <a:endParaRPr lang="en-US"/>
        </a:p>
      </dgm:t>
    </dgm:pt>
    <dgm:pt modelId="{6F57CCA1-CCFC-4DB9-A6A4-0A420618CF9F}">
      <dgm:prSet custT="1"/>
      <dgm:spPr>
        <a:solidFill>
          <a:schemeClr val="accent6">
            <a:lumMod val="20000"/>
            <a:lumOff val="80000"/>
          </a:schemeClr>
        </a:solidFill>
      </dgm:spPr>
      <dgm:t>
        <a:bodyPr/>
        <a:lstStyle/>
        <a:p>
          <a:pPr algn="ctr"/>
          <a:r>
            <a:rPr lang="en-GB" sz="1600" b="1">
              <a:solidFill>
                <a:schemeClr val="bg1">
                  <a:lumMod val="50000"/>
                </a:schemeClr>
              </a:solidFill>
            </a:rPr>
            <a:t>Consistent view of brand portfolio for Finance &amp; Commercial data </a:t>
          </a:r>
        </a:p>
      </dgm:t>
    </dgm:pt>
    <dgm:pt modelId="{DCC57244-3474-476C-8AC9-DC30B98EC0DD}" type="parTrans" cxnId="{1B9DF70F-965C-46C2-8008-88B96C12DF43}">
      <dgm:prSet/>
      <dgm:spPr/>
      <dgm:t>
        <a:bodyPr/>
        <a:lstStyle/>
        <a:p>
          <a:endParaRPr lang="en-US"/>
        </a:p>
      </dgm:t>
    </dgm:pt>
    <dgm:pt modelId="{5120F255-5EAB-4065-96E7-D47DD04FBEA5}" type="sibTrans" cxnId="{1B9DF70F-965C-46C2-8008-88B96C12DF43}">
      <dgm:prSet/>
      <dgm:spPr/>
      <dgm:t>
        <a:bodyPr/>
        <a:lstStyle/>
        <a:p>
          <a:endParaRPr lang="en-US"/>
        </a:p>
      </dgm:t>
    </dgm:pt>
    <dgm:pt modelId="{0A0D93AB-7570-41C8-B4E5-B1B191A15F4E}">
      <dgm:prSet/>
      <dgm:spPr>
        <a:solidFill>
          <a:schemeClr val="accent6">
            <a:lumMod val="20000"/>
            <a:lumOff val="80000"/>
          </a:schemeClr>
        </a:solidFill>
      </dgm:spPr>
      <dgm:t>
        <a:bodyPr/>
        <a:lstStyle/>
        <a:p>
          <a:pPr algn="l"/>
          <a:r>
            <a:rPr lang="en-GB" sz="1100">
              <a:solidFill>
                <a:schemeClr val="bg1">
                  <a:lumMod val="50000"/>
                </a:schemeClr>
              </a:solidFill>
            </a:rPr>
            <a:t>“One Language One view” across Marketing, Finance and GSC both locally, Regional and in HQ</a:t>
          </a:r>
        </a:p>
      </dgm:t>
    </dgm:pt>
    <dgm:pt modelId="{BFD6E7E5-2CCE-4F02-832C-E9401D78B218}" type="parTrans" cxnId="{42E44772-A01C-4466-8353-C782C9B454DC}">
      <dgm:prSet/>
      <dgm:spPr/>
      <dgm:t>
        <a:bodyPr/>
        <a:lstStyle/>
        <a:p>
          <a:endParaRPr lang="en-US"/>
        </a:p>
      </dgm:t>
    </dgm:pt>
    <dgm:pt modelId="{A489078C-14B2-4FBD-9157-BE6B7138B3E0}" type="sibTrans" cxnId="{42E44772-A01C-4466-8353-C782C9B454DC}">
      <dgm:prSet/>
      <dgm:spPr/>
      <dgm:t>
        <a:bodyPr/>
        <a:lstStyle/>
        <a:p>
          <a:endParaRPr lang="en-US"/>
        </a:p>
      </dgm:t>
    </dgm:pt>
    <dgm:pt modelId="{8141B10C-29F4-4151-91A6-2F1A0ACA4EB0}">
      <dgm:prSet phldrT="[Text]"/>
      <dgm:spPr/>
      <dgm:t>
        <a:bodyPr/>
        <a:lstStyle/>
        <a:p>
          <a:pPr algn="l"/>
          <a:r>
            <a:rPr lang="en-US" sz="1100"/>
            <a:t>Increasingly competitive global tobacco market, utilization of cash for new business opportunities</a:t>
          </a:r>
        </a:p>
      </dgm:t>
    </dgm:pt>
    <dgm:pt modelId="{82E1B8F7-ACE6-4CF3-953A-F987DA8E909F}" type="parTrans" cxnId="{A4F7EE36-814B-4C25-A373-E6E7AA258722}">
      <dgm:prSet/>
      <dgm:spPr/>
      <dgm:t>
        <a:bodyPr/>
        <a:lstStyle/>
        <a:p>
          <a:endParaRPr lang="en-US"/>
        </a:p>
      </dgm:t>
    </dgm:pt>
    <dgm:pt modelId="{A1C1EA38-7B51-4EFC-8EAD-4E273090944D}" type="sibTrans" cxnId="{A4F7EE36-814B-4C25-A373-E6E7AA258722}">
      <dgm:prSet/>
      <dgm:spPr/>
      <dgm:t>
        <a:bodyPr/>
        <a:lstStyle/>
        <a:p>
          <a:endParaRPr lang="en-US"/>
        </a:p>
      </dgm:t>
    </dgm:pt>
    <dgm:pt modelId="{78997B65-8295-4218-B5DB-FAEC0C46B9F8}">
      <dgm:prSet/>
      <dgm:spPr>
        <a:solidFill>
          <a:srgbClr val="78C2B0"/>
        </a:solidFill>
      </dgm:spPr>
      <dgm:t>
        <a:bodyPr/>
        <a:lstStyle/>
        <a:p>
          <a:pPr algn="l"/>
          <a:endParaRPr lang="en-GB" sz="1100"/>
        </a:p>
      </dgm:t>
    </dgm:pt>
    <dgm:pt modelId="{98EB62FD-4FC8-4D2B-BC2B-AE387185EC37}" type="parTrans" cxnId="{4E36BDC0-9082-48DF-A4D1-BEB24C643BDD}">
      <dgm:prSet/>
      <dgm:spPr/>
      <dgm:t>
        <a:bodyPr/>
        <a:lstStyle/>
        <a:p>
          <a:endParaRPr lang="en-US"/>
        </a:p>
      </dgm:t>
    </dgm:pt>
    <dgm:pt modelId="{DAA294B1-F55A-40FD-BCAA-391B2248CD15}" type="sibTrans" cxnId="{4E36BDC0-9082-48DF-A4D1-BEB24C643BDD}">
      <dgm:prSet/>
      <dgm:spPr/>
      <dgm:t>
        <a:bodyPr/>
        <a:lstStyle/>
        <a:p>
          <a:endParaRPr lang="en-US"/>
        </a:p>
      </dgm:t>
    </dgm:pt>
    <dgm:pt modelId="{37A46AFD-A896-4F8C-8B20-4886D1A83D51}">
      <dgm:prSet/>
      <dgm:spPr>
        <a:solidFill>
          <a:schemeClr val="bg1">
            <a:lumMod val="65000"/>
          </a:schemeClr>
        </a:solidFill>
      </dgm:spPr>
      <dgm:t>
        <a:bodyPr/>
        <a:lstStyle/>
        <a:p>
          <a:pPr algn="l"/>
          <a:r>
            <a:rPr lang="en-GB" sz="1100" i="1"/>
            <a:t>Standardised definitions of marketing investments and allowances and allocation of marketing investments </a:t>
          </a:r>
        </a:p>
      </dgm:t>
    </dgm:pt>
    <dgm:pt modelId="{856D59CC-1D6D-40E0-BD57-B9A5E174BB30}" type="parTrans" cxnId="{64EC75C1-5471-404C-AE0C-F342A1C3B7F2}">
      <dgm:prSet/>
      <dgm:spPr/>
      <dgm:t>
        <a:bodyPr/>
        <a:lstStyle/>
        <a:p>
          <a:endParaRPr lang="en-US"/>
        </a:p>
      </dgm:t>
    </dgm:pt>
    <dgm:pt modelId="{7B178CEC-97F2-4109-83A4-4730AF6164EB}" type="sibTrans" cxnId="{64EC75C1-5471-404C-AE0C-F342A1C3B7F2}">
      <dgm:prSet/>
      <dgm:spPr/>
      <dgm:t>
        <a:bodyPr/>
        <a:lstStyle/>
        <a:p>
          <a:endParaRPr lang="en-US"/>
        </a:p>
      </dgm:t>
    </dgm:pt>
    <dgm:pt modelId="{63FC99BF-817F-4EB0-9959-79027D6A36C4}">
      <dgm:prSet/>
      <dgm:spPr>
        <a:solidFill>
          <a:schemeClr val="bg1">
            <a:lumMod val="65000"/>
          </a:schemeClr>
        </a:solidFill>
      </dgm:spPr>
      <dgm:t>
        <a:bodyPr/>
        <a:lstStyle/>
        <a:p>
          <a:pPr algn="l"/>
          <a:endParaRPr lang="en-GB" sz="1100"/>
        </a:p>
      </dgm:t>
    </dgm:pt>
    <dgm:pt modelId="{CF5DC01F-E6C7-4A89-A077-133AE0C7419A}" type="parTrans" cxnId="{8F21DE1D-7D5B-4017-88F5-EABCE1EE8E1D}">
      <dgm:prSet/>
      <dgm:spPr/>
      <dgm:t>
        <a:bodyPr/>
        <a:lstStyle/>
        <a:p>
          <a:endParaRPr lang="en-US"/>
        </a:p>
      </dgm:t>
    </dgm:pt>
    <dgm:pt modelId="{8C090070-F409-4E3A-9425-0ADE232987E4}" type="sibTrans" cxnId="{8F21DE1D-7D5B-4017-88F5-EABCE1EE8E1D}">
      <dgm:prSet/>
      <dgm:spPr/>
      <dgm:t>
        <a:bodyPr/>
        <a:lstStyle/>
        <a:p>
          <a:endParaRPr lang="en-US"/>
        </a:p>
      </dgm:t>
    </dgm:pt>
    <dgm:pt modelId="{28C3290E-B9E9-46D2-937D-E0A485A61190}">
      <dgm:prSet/>
      <dgm:spPr>
        <a:solidFill>
          <a:schemeClr val="accent6">
            <a:lumMod val="20000"/>
            <a:lumOff val="80000"/>
          </a:schemeClr>
        </a:solidFill>
      </dgm:spPr>
      <dgm:t>
        <a:bodyPr/>
        <a:lstStyle/>
        <a:p>
          <a:pPr algn="l"/>
          <a:r>
            <a:rPr lang="en-GB" sz="1100" i="1">
              <a:solidFill>
                <a:schemeClr val="bg1">
                  <a:lumMod val="50000"/>
                </a:schemeClr>
              </a:solidFill>
            </a:rPr>
            <a:t>Standardize required SKU characteristics and subsequent view of JTI’s ‘Commercial SKU’ portfolio</a:t>
          </a:r>
        </a:p>
      </dgm:t>
    </dgm:pt>
    <dgm:pt modelId="{9E1E0BCB-D578-457C-BF63-89756703E556}" type="parTrans" cxnId="{31837496-1F58-4A30-A7E0-41E6A7DF526B}">
      <dgm:prSet/>
      <dgm:spPr/>
      <dgm:t>
        <a:bodyPr/>
        <a:lstStyle/>
        <a:p>
          <a:endParaRPr lang="en-US"/>
        </a:p>
      </dgm:t>
    </dgm:pt>
    <dgm:pt modelId="{1145FFEF-5832-425E-93C7-6100090DD8D8}" type="sibTrans" cxnId="{31837496-1F58-4A30-A7E0-41E6A7DF526B}">
      <dgm:prSet/>
      <dgm:spPr/>
      <dgm:t>
        <a:bodyPr/>
        <a:lstStyle/>
        <a:p>
          <a:endParaRPr lang="en-US"/>
        </a:p>
      </dgm:t>
    </dgm:pt>
    <dgm:pt modelId="{32991EDB-1D7C-49E2-B3B7-0D599DF47160}">
      <dgm:prSet phldrT="[Text]"/>
      <dgm:spPr/>
      <dgm:t>
        <a:bodyPr/>
        <a:lstStyle/>
        <a:p>
          <a:pPr algn="l"/>
          <a:r>
            <a:rPr lang="en-US" sz="1100" i="1"/>
            <a:t>Simplify current PC use with clear definitions and converge to SAP best practices</a:t>
          </a:r>
        </a:p>
      </dgm:t>
    </dgm:pt>
    <dgm:pt modelId="{6CAC79A9-F362-43E2-9393-F4B2E86AFC27}" type="parTrans" cxnId="{18E17D19-30FA-4B02-B22A-AF0D40CA1D18}">
      <dgm:prSet/>
      <dgm:spPr/>
      <dgm:t>
        <a:bodyPr/>
        <a:lstStyle/>
        <a:p>
          <a:endParaRPr lang="en-US"/>
        </a:p>
      </dgm:t>
    </dgm:pt>
    <dgm:pt modelId="{D8C1199E-50F2-4D73-A728-C3891DD98859}" type="sibTrans" cxnId="{18E17D19-30FA-4B02-B22A-AF0D40CA1D18}">
      <dgm:prSet/>
      <dgm:spPr/>
      <dgm:t>
        <a:bodyPr/>
        <a:lstStyle/>
        <a:p>
          <a:endParaRPr lang="en-US"/>
        </a:p>
      </dgm:t>
    </dgm:pt>
    <dgm:pt modelId="{701764E9-53AD-467C-85DC-A72562D0A024}">
      <dgm:prSet/>
      <dgm:spPr>
        <a:solidFill>
          <a:schemeClr val="bg1">
            <a:lumMod val="65000"/>
          </a:schemeClr>
        </a:solidFill>
      </dgm:spPr>
      <dgm:t>
        <a:bodyPr/>
        <a:lstStyle/>
        <a:p>
          <a:pPr algn="l"/>
          <a:endParaRPr lang="en-GB" sz="1100"/>
        </a:p>
      </dgm:t>
    </dgm:pt>
    <dgm:pt modelId="{DC7CB027-1A66-44D3-9106-6041BFEFFBD4}" type="parTrans" cxnId="{23BD5649-E47F-4815-AEAE-B621471D4983}">
      <dgm:prSet/>
      <dgm:spPr/>
      <dgm:t>
        <a:bodyPr/>
        <a:lstStyle/>
        <a:p>
          <a:endParaRPr lang="en-US"/>
        </a:p>
      </dgm:t>
    </dgm:pt>
    <dgm:pt modelId="{5F24FC39-FA37-4DC3-A77F-0C75577E3DE6}" type="sibTrans" cxnId="{23BD5649-E47F-4815-AEAE-B621471D4983}">
      <dgm:prSet/>
      <dgm:spPr/>
      <dgm:t>
        <a:bodyPr/>
        <a:lstStyle/>
        <a:p>
          <a:endParaRPr lang="en-US"/>
        </a:p>
      </dgm:t>
    </dgm:pt>
    <dgm:pt modelId="{E5A19C37-2C72-4900-A74E-C9693B6CEBB0}">
      <dgm:prSet phldrT="[Text]"/>
      <dgm:spPr/>
      <dgm:t>
        <a:bodyPr/>
        <a:lstStyle/>
        <a:p>
          <a:pPr algn="l"/>
          <a:endParaRPr lang="en-US" sz="1100"/>
        </a:p>
      </dgm:t>
    </dgm:pt>
    <dgm:pt modelId="{58ABC313-DC17-4394-9519-48E1A6A62FD5}" type="parTrans" cxnId="{71DDB326-7307-49E5-9643-462807B14645}">
      <dgm:prSet/>
      <dgm:spPr/>
      <dgm:t>
        <a:bodyPr/>
        <a:lstStyle/>
        <a:p>
          <a:endParaRPr lang="en-US"/>
        </a:p>
      </dgm:t>
    </dgm:pt>
    <dgm:pt modelId="{0F3EEA3E-1AE2-4FCA-823A-F47F5D951037}" type="sibTrans" cxnId="{71DDB326-7307-49E5-9643-462807B14645}">
      <dgm:prSet/>
      <dgm:spPr/>
      <dgm:t>
        <a:bodyPr/>
        <a:lstStyle/>
        <a:p>
          <a:endParaRPr lang="en-US"/>
        </a:p>
      </dgm:t>
    </dgm:pt>
    <dgm:pt modelId="{230AC2C4-FE50-4787-9900-F16E6F080904}">
      <dgm:prSet phldrT="[Text]"/>
      <dgm:spPr/>
      <dgm:t>
        <a:bodyPr/>
        <a:lstStyle/>
        <a:p>
          <a:pPr algn="l"/>
          <a:endParaRPr lang="en-US" sz="1100"/>
        </a:p>
      </dgm:t>
    </dgm:pt>
    <dgm:pt modelId="{D4F8A232-DA4A-4894-84B4-CCC340AC93E6}" type="parTrans" cxnId="{924B691C-4BAB-4412-B134-9B90070B2DC2}">
      <dgm:prSet/>
      <dgm:spPr/>
      <dgm:t>
        <a:bodyPr/>
        <a:lstStyle/>
        <a:p>
          <a:endParaRPr lang="en-US"/>
        </a:p>
      </dgm:t>
    </dgm:pt>
    <dgm:pt modelId="{C77455A7-C37F-424C-99FB-BEB2EAC57F8C}" type="sibTrans" cxnId="{924B691C-4BAB-4412-B134-9B90070B2DC2}">
      <dgm:prSet/>
      <dgm:spPr/>
      <dgm:t>
        <a:bodyPr/>
        <a:lstStyle/>
        <a:p>
          <a:endParaRPr lang="en-US"/>
        </a:p>
      </dgm:t>
    </dgm:pt>
    <dgm:pt modelId="{6E837884-E773-4DA7-836E-32217E0BD376}">
      <dgm:prSet phldrT="[Text]"/>
      <dgm:spPr/>
      <dgm:t>
        <a:bodyPr/>
        <a:lstStyle/>
        <a:p>
          <a:pPr algn="l"/>
          <a:endParaRPr lang="en-US" sz="1100"/>
        </a:p>
      </dgm:t>
    </dgm:pt>
    <dgm:pt modelId="{E470DFF3-A08A-484B-B8C5-736D6F6803DA}" type="parTrans" cxnId="{427006FE-C001-437F-8E3A-B0581A9F7632}">
      <dgm:prSet/>
      <dgm:spPr/>
      <dgm:t>
        <a:bodyPr/>
        <a:lstStyle/>
        <a:p>
          <a:endParaRPr lang="en-US"/>
        </a:p>
      </dgm:t>
    </dgm:pt>
    <dgm:pt modelId="{0F4F828D-5EEC-4766-B0A6-5901BCD1F774}" type="sibTrans" cxnId="{427006FE-C001-437F-8E3A-B0581A9F7632}">
      <dgm:prSet/>
      <dgm:spPr/>
      <dgm:t>
        <a:bodyPr/>
        <a:lstStyle/>
        <a:p>
          <a:endParaRPr lang="en-US"/>
        </a:p>
      </dgm:t>
    </dgm:pt>
    <dgm:pt modelId="{5C35C4E8-53CE-4AAB-B8B0-AB960806083E}">
      <dgm:prSet/>
      <dgm:spPr>
        <a:solidFill>
          <a:srgbClr val="78C2B0"/>
        </a:solidFill>
      </dgm:spPr>
      <dgm:t>
        <a:bodyPr/>
        <a:lstStyle/>
        <a:p>
          <a:pPr algn="l"/>
          <a:r>
            <a:rPr lang="en-GB" sz="1100"/>
            <a:t>Consider profitability of Commercial SKU across JTI</a:t>
          </a:r>
        </a:p>
      </dgm:t>
    </dgm:pt>
    <dgm:pt modelId="{4DBE1B1D-AFA8-491D-887F-87503012640B}" type="parTrans" cxnId="{63DB16D9-6305-471F-B706-65716C0CE7D1}">
      <dgm:prSet/>
      <dgm:spPr/>
      <dgm:t>
        <a:bodyPr/>
        <a:lstStyle/>
        <a:p>
          <a:endParaRPr lang="en-US"/>
        </a:p>
      </dgm:t>
    </dgm:pt>
    <dgm:pt modelId="{E4C9C1BA-A974-4C88-AD6D-C56B67A18A8C}" type="sibTrans" cxnId="{63DB16D9-6305-471F-B706-65716C0CE7D1}">
      <dgm:prSet/>
      <dgm:spPr/>
      <dgm:t>
        <a:bodyPr/>
        <a:lstStyle/>
        <a:p>
          <a:endParaRPr lang="en-US"/>
        </a:p>
      </dgm:t>
    </dgm:pt>
    <dgm:pt modelId="{E4B188D2-BDF0-42A5-A552-C05FF51E986A}">
      <dgm:prSet/>
      <dgm:spPr>
        <a:solidFill>
          <a:schemeClr val="accent6">
            <a:lumMod val="20000"/>
            <a:lumOff val="80000"/>
          </a:schemeClr>
        </a:solidFill>
      </dgm:spPr>
      <dgm:t>
        <a:bodyPr/>
        <a:lstStyle/>
        <a:p>
          <a:pPr algn="l"/>
          <a:endParaRPr lang="en-GB" sz="1100">
            <a:solidFill>
              <a:schemeClr val="bg1">
                <a:lumMod val="50000"/>
              </a:schemeClr>
            </a:solidFill>
          </a:endParaRPr>
        </a:p>
      </dgm:t>
    </dgm:pt>
    <dgm:pt modelId="{BAF52370-B61A-4F5C-966E-4D83463DD87E}" type="parTrans" cxnId="{2BB6F25E-6F7D-4FCE-B4A1-E94369A1AE5A}">
      <dgm:prSet/>
      <dgm:spPr/>
      <dgm:t>
        <a:bodyPr/>
        <a:lstStyle/>
        <a:p>
          <a:endParaRPr lang="en-US"/>
        </a:p>
      </dgm:t>
    </dgm:pt>
    <dgm:pt modelId="{9AC029D7-F676-47FB-975F-0310F85793C3}" type="sibTrans" cxnId="{2BB6F25E-6F7D-4FCE-B4A1-E94369A1AE5A}">
      <dgm:prSet/>
      <dgm:spPr/>
      <dgm:t>
        <a:bodyPr/>
        <a:lstStyle/>
        <a:p>
          <a:endParaRPr lang="en-US"/>
        </a:p>
      </dgm:t>
    </dgm:pt>
    <dgm:pt modelId="{3639E8EB-8833-4694-8C5B-83FAC9744C2E}">
      <dgm:prSet/>
      <dgm:spPr>
        <a:solidFill>
          <a:schemeClr val="accent6">
            <a:lumMod val="20000"/>
            <a:lumOff val="80000"/>
          </a:schemeClr>
        </a:solidFill>
      </dgm:spPr>
      <dgm:t>
        <a:bodyPr/>
        <a:lstStyle/>
        <a:p>
          <a:pPr algn="l"/>
          <a:endParaRPr lang="en-GB" sz="1100">
            <a:solidFill>
              <a:schemeClr val="bg1">
                <a:lumMod val="50000"/>
              </a:schemeClr>
            </a:solidFill>
          </a:endParaRPr>
        </a:p>
      </dgm:t>
    </dgm:pt>
    <dgm:pt modelId="{FDC8B92A-B6D1-4AE8-9D11-00A149F12639}" type="parTrans" cxnId="{514B8C9F-B4CE-4A01-BFC2-A67256C82E7B}">
      <dgm:prSet/>
      <dgm:spPr/>
      <dgm:t>
        <a:bodyPr/>
        <a:lstStyle/>
        <a:p>
          <a:endParaRPr lang="en-US"/>
        </a:p>
      </dgm:t>
    </dgm:pt>
    <dgm:pt modelId="{8B4769D4-BB32-4716-923C-AFA10D8319DC}" type="sibTrans" cxnId="{514B8C9F-B4CE-4A01-BFC2-A67256C82E7B}">
      <dgm:prSet/>
      <dgm:spPr/>
      <dgm:t>
        <a:bodyPr/>
        <a:lstStyle/>
        <a:p>
          <a:endParaRPr lang="en-US"/>
        </a:p>
      </dgm:t>
    </dgm:pt>
    <dgm:pt modelId="{E786F24D-FBDC-4D53-B0E9-19B89FA10DCA}">
      <dgm:prSet/>
      <dgm:spPr>
        <a:solidFill>
          <a:srgbClr val="78C2B0"/>
        </a:solidFill>
      </dgm:spPr>
      <dgm:t>
        <a:bodyPr/>
        <a:lstStyle/>
        <a:p>
          <a:pPr algn="l"/>
          <a:r>
            <a:rPr lang="en-GB" sz="1100"/>
            <a:t>Define standard approach and bridge Gap between Corporate and Market</a:t>
          </a:r>
        </a:p>
      </dgm:t>
    </dgm:pt>
    <dgm:pt modelId="{804FC7B2-D0F4-4904-9B18-421F201DF66F}" type="parTrans" cxnId="{9CD353BF-F1CB-431E-BCBE-DEEF34D8E427}">
      <dgm:prSet/>
      <dgm:spPr/>
      <dgm:t>
        <a:bodyPr/>
        <a:lstStyle/>
        <a:p>
          <a:endParaRPr lang="en-US"/>
        </a:p>
      </dgm:t>
    </dgm:pt>
    <dgm:pt modelId="{6611FA3C-1BF1-420F-9D9D-168A82984BE5}" type="sibTrans" cxnId="{9CD353BF-F1CB-431E-BCBE-DEEF34D8E427}">
      <dgm:prSet/>
      <dgm:spPr/>
      <dgm:t>
        <a:bodyPr/>
        <a:lstStyle/>
        <a:p>
          <a:endParaRPr lang="en-US"/>
        </a:p>
      </dgm:t>
    </dgm:pt>
    <dgm:pt modelId="{122C4D70-CDE8-4CDC-9AF4-A0D08FEF8CAD}">
      <dgm:prSet/>
      <dgm:spPr>
        <a:solidFill>
          <a:srgbClr val="78C2B0"/>
        </a:solidFill>
      </dgm:spPr>
      <dgm:t>
        <a:bodyPr/>
        <a:lstStyle/>
        <a:p>
          <a:pPr algn="l"/>
          <a:r>
            <a:rPr lang="en-GB" sz="1100" i="1"/>
            <a:t>Utilise SKU characteristics to provide Product type, Brand family,..</a:t>
          </a:r>
        </a:p>
      </dgm:t>
    </dgm:pt>
    <dgm:pt modelId="{575C6AFB-F6DF-4F9E-8C93-033677BB9C5B}" type="sibTrans" cxnId="{3FFF6D0A-81A1-45AD-ABC2-8163D1886497}">
      <dgm:prSet/>
      <dgm:spPr/>
      <dgm:t>
        <a:bodyPr/>
        <a:lstStyle/>
        <a:p>
          <a:endParaRPr lang="en-US"/>
        </a:p>
      </dgm:t>
    </dgm:pt>
    <dgm:pt modelId="{EAAD8CFC-F3B1-4D12-9824-5F35AFD29075}" type="parTrans" cxnId="{3FFF6D0A-81A1-45AD-ABC2-8163D1886497}">
      <dgm:prSet/>
      <dgm:spPr/>
      <dgm:t>
        <a:bodyPr/>
        <a:lstStyle/>
        <a:p>
          <a:endParaRPr lang="en-US"/>
        </a:p>
      </dgm:t>
    </dgm:pt>
    <dgm:pt modelId="{1A5958F1-4F83-4C48-8019-48768832BA87}">
      <dgm:prSet/>
      <dgm:spPr>
        <a:solidFill>
          <a:srgbClr val="78C2B0"/>
        </a:solidFill>
      </dgm:spPr>
      <dgm:t>
        <a:bodyPr/>
        <a:lstStyle/>
        <a:p>
          <a:pPr algn="l"/>
          <a:endParaRPr lang="en-GB" sz="1100"/>
        </a:p>
      </dgm:t>
    </dgm:pt>
    <dgm:pt modelId="{74AEAFCE-6C69-4B00-A80A-0B9A29321AFC}" type="parTrans" cxnId="{94DAB6B4-6940-4228-BC11-316FB2A236C8}">
      <dgm:prSet/>
      <dgm:spPr/>
      <dgm:t>
        <a:bodyPr/>
        <a:lstStyle/>
        <a:p>
          <a:endParaRPr lang="en-US"/>
        </a:p>
      </dgm:t>
    </dgm:pt>
    <dgm:pt modelId="{95C40D4A-58FD-4205-8B37-61B74323B994}" type="sibTrans" cxnId="{94DAB6B4-6940-4228-BC11-316FB2A236C8}">
      <dgm:prSet/>
      <dgm:spPr/>
      <dgm:t>
        <a:bodyPr/>
        <a:lstStyle/>
        <a:p>
          <a:endParaRPr lang="en-US"/>
        </a:p>
      </dgm:t>
    </dgm:pt>
    <dgm:pt modelId="{65CB8545-B91D-4D98-9E6F-2109573ADEA4}">
      <dgm:prSet/>
      <dgm:spPr>
        <a:solidFill>
          <a:schemeClr val="accent6">
            <a:lumMod val="20000"/>
            <a:lumOff val="80000"/>
          </a:schemeClr>
        </a:solidFill>
      </dgm:spPr>
      <dgm:t>
        <a:bodyPr/>
        <a:lstStyle/>
        <a:p>
          <a:pPr algn="l"/>
          <a:r>
            <a:rPr lang="en-GB" sz="1100">
              <a:solidFill>
                <a:schemeClr val="bg1">
                  <a:lumMod val="50000"/>
                </a:schemeClr>
              </a:solidFill>
            </a:rPr>
            <a:t>Link with OneData  </a:t>
          </a:r>
        </a:p>
      </dgm:t>
    </dgm:pt>
    <dgm:pt modelId="{5B515F9A-2C3F-4A5F-9062-D9C852CC1190}" type="parTrans" cxnId="{743B59C2-76B0-4429-A265-FD8CFFE7D19E}">
      <dgm:prSet/>
      <dgm:spPr/>
    </dgm:pt>
    <dgm:pt modelId="{5380337A-EAC7-421D-B5A4-67B1F173C1CF}" type="sibTrans" cxnId="{743B59C2-76B0-4429-A265-FD8CFFE7D19E}">
      <dgm:prSet/>
      <dgm:spPr/>
    </dgm:pt>
    <dgm:pt modelId="{A77758CB-AA75-41C9-AD14-21E21A9FD425}" type="pres">
      <dgm:prSet presAssocID="{708EB535-0B76-4BE1-BA30-2E93F29A740B}" presName="diagram" presStyleCnt="0">
        <dgm:presLayoutVars>
          <dgm:dir/>
          <dgm:resizeHandles val="exact"/>
        </dgm:presLayoutVars>
      </dgm:prSet>
      <dgm:spPr/>
    </dgm:pt>
    <dgm:pt modelId="{350BABEB-3FCF-47CA-93C9-503303016445}" type="pres">
      <dgm:prSet presAssocID="{26018A1D-1870-461A-B3B6-3D253A9175B7}" presName="node" presStyleLbl="node1" presStyleIdx="0" presStyleCnt="4">
        <dgm:presLayoutVars>
          <dgm:bulletEnabled val="1"/>
        </dgm:presLayoutVars>
      </dgm:prSet>
      <dgm:spPr/>
    </dgm:pt>
    <dgm:pt modelId="{FE1179AD-808F-46A2-BB27-4EA82DD6C9A0}" type="pres">
      <dgm:prSet presAssocID="{DB86D947-2590-47AF-8A67-32D5C7162FA8}" presName="sibTrans" presStyleCnt="0"/>
      <dgm:spPr/>
    </dgm:pt>
    <dgm:pt modelId="{D921864D-5467-4053-8BE1-A988CB15226E}" type="pres">
      <dgm:prSet presAssocID="{3B00357C-1084-4864-AD64-DB19D1369CCE}" presName="node" presStyleLbl="node1" presStyleIdx="1" presStyleCnt="4">
        <dgm:presLayoutVars>
          <dgm:bulletEnabled val="1"/>
        </dgm:presLayoutVars>
      </dgm:prSet>
      <dgm:spPr/>
    </dgm:pt>
    <dgm:pt modelId="{79B31E7C-FEEF-4156-A741-87860170DD7C}" type="pres">
      <dgm:prSet presAssocID="{615329AD-ED2E-4F4B-A0BF-1623316D197E}" presName="sibTrans" presStyleCnt="0"/>
      <dgm:spPr/>
    </dgm:pt>
    <dgm:pt modelId="{9FD96032-C3F0-445F-A6A9-90102304EE72}" type="pres">
      <dgm:prSet presAssocID="{86DC54B0-7159-493B-B264-AE420220E957}" presName="node" presStyleLbl="node1" presStyleIdx="2" presStyleCnt="4">
        <dgm:presLayoutVars>
          <dgm:bulletEnabled val="1"/>
        </dgm:presLayoutVars>
      </dgm:prSet>
      <dgm:spPr/>
    </dgm:pt>
    <dgm:pt modelId="{6107AA4F-5DFC-4263-B562-B7551C76BA91}" type="pres">
      <dgm:prSet presAssocID="{AFB2FF56-796C-41A3-A766-77B215074C05}" presName="sibTrans" presStyleCnt="0"/>
      <dgm:spPr/>
    </dgm:pt>
    <dgm:pt modelId="{243CBE73-AD40-4B02-AD1F-51C3F58E9B37}" type="pres">
      <dgm:prSet presAssocID="{6F57CCA1-CCFC-4DB9-A6A4-0A420618CF9F}" presName="node" presStyleLbl="node1" presStyleIdx="3" presStyleCnt="4">
        <dgm:presLayoutVars>
          <dgm:bulletEnabled val="1"/>
        </dgm:presLayoutVars>
      </dgm:prSet>
      <dgm:spPr/>
    </dgm:pt>
  </dgm:ptLst>
  <dgm:cxnLst>
    <dgm:cxn modelId="{3FFF6D0A-81A1-45AD-ABC2-8163D1886497}" srcId="{3B00357C-1084-4864-AD64-DB19D1369CCE}" destId="{122C4D70-CDE8-4CDC-9AF4-A0D08FEF8CAD}" srcOrd="4" destOrd="0" parTransId="{EAAD8CFC-F3B1-4D12-9824-5F35AFD29075}" sibTransId="{575C6AFB-F6DF-4F9E-8C93-033677BB9C5B}"/>
    <dgm:cxn modelId="{1B9DF70F-965C-46C2-8008-88B96C12DF43}" srcId="{708EB535-0B76-4BE1-BA30-2E93F29A740B}" destId="{6F57CCA1-CCFC-4DB9-A6A4-0A420618CF9F}" srcOrd="3" destOrd="0" parTransId="{DCC57244-3474-476C-8AC9-DC30B98EC0DD}" sibTransId="{5120F255-5EAB-4065-96E7-D47DD04FBEA5}"/>
    <dgm:cxn modelId="{18E17D19-30FA-4B02-B22A-AF0D40CA1D18}" srcId="{26018A1D-1870-461A-B3B6-3D253A9175B7}" destId="{32991EDB-1D7C-49E2-B3B7-0D599DF47160}" srcOrd="4" destOrd="0" parTransId="{6CAC79A9-F362-43E2-9393-F4B2E86AFC27}" sibTransId="{D8C1199E-50F2-4D73-A728-C3891DD98859}"/>
    <dgm:cxn modelId="{924B691C-4BAB-4412-B134-9B90070B2DC2}" srcId="{26018A1D-1870-461A-B3B6-3D253A9175B7}" destId="{230AC2C4-FE50-4787-9900-F16E6F080904}" srcOrd="2" destOrd="0" parTransId="{D4F8A232-DA4A-4894-84B4-CCC340AC93E6}" sibTransId="{C77455A7-C37F-424C-99FB-BEB2EAC57F8C}"/>
    <dgm:cxn modelId="{8F21DE1D-7D5B-4017-88F5-EABCE1EE8E1D}" srcId="{86DC54B0-7159-493B-B264-AE420220E957}" destId="{63FC99BF-817F-4EB0-9959-79027D6A36C4}" srcOrd="3" destOrd="0" parTransId="{CF5DC01F-E6C7-4A89-A077-133AE0C7419A}" sibTransId="{8C090070-F409-4E3A-9425-0ADE232987E4}"/>
    <dgm:cxn modelId="{45237920-EE32-4AEE-ACA7-85F2C204076E}" srcId="{86DC54B0-7159-493B-B264-AE420220E957}" destId="{DF72BB88-6052-408B-9C7E-825E2B1B1800}" srcOrd="0" destOrd="0" parTransId="{C6F4B1C7-8D51-4E4A-A4D0-BE6AA9A4041E}" sibTransId="{F580A3C7-716D-4A47-98E3-3885A211B11C}"/>
    <dgm:cxn modelId="{71DDB326-7307-49E5-9643-462807B14645}" srcId="{26018A1D-1870-461A-B3B6-3D253A9175B7}" destId="{E5A19C37-2C72-4900-A74E-C9693B6CEBB0}" srcOrd="1" destOrd="0" parTransId="{58ABC313-DC17-4394-9519-48E1A6A62FD5}" sibTransId="{0F3EEA3E-1AE2-4FCA-823A-F47F5D951037}"/>
    <dgm:cxn modelId="{788F2532-A707-4BF1-AC91-6AA5FE301AD2}" type="presOf" srcId="{65CB8545-B91D-4D98-9E6F-2109573ADEA4}" destId="{243CBE73-AD40-4B02-AD1F-51C3F58E9B37}" srcOrd="0" destOrd="2" presId="urn:microsoft.com/office/officeart/2005/8/layout/default"/>
    <dgm:cxn modelId="{DAA38B35-21FB-4E7D-98C5-B843A707B6B4}" type="presOf" srcId="{0A0D93AB-7570-41C8-B4E5-B1B191A15F4E}" destId="{243CBE73-AD40-4B02-AD1F-51C3F58E9B37}" srcOrd="0" destOrd="1" presId="urn:microsoft.com/office/officeart/2005/8/layout/default"/>
    <dgm:cxn modelId="{A4F7EE36-814B-4C25-A373-E6E7AA258722}" srcId="{26018A1D-1870-461A-B3B6-3D253A9175B7}" destId="{8141B10C-29F4-4151-91A6-2F1A0ACA4EB0}" srcOrd="0" destOrd="0" parTransId="{82E1B8F7-ACE6-4CF3-953A-F987DA8E909F}" sibTransId="{A1C1EA38-7B51-4EFC-8EAD-4E273090944D}"/>
    <dgm:cxn modelId="{A239393B-8CD6-4015-AE22-67AA5E84F6C7}" type="presOf" srcId="{4D47E6B2-3FCD-4B78-9BF6-A041B9D9AC2A}" destId="{9FD96032-C3F0-445F-A6A9-90102304EE72}" srcOrd="0" destOrd="2" presId="urn:microsoft.com/office/officeart/2005/8/layout/default"/>
    <dgm:cxn modelId="{6219EF3D-3B18-43FC-A1E5-AA6740F6891C}" srcId="{86DC54B0-7159-493B-B264-AE420220E957}" destId="{4D47E6B2-3FCD-4B78-9BF6-A041B9D9AC2A}" srcOrd="1" destOrd="0" parTransId="{2146026A-3D0E-4580-98D1-56F2EE540DA4}" sibTransId="{32C5D6D4-9C6D-402B-B66C-A3855E811EAA}"/>
    <dgm:cxn modelId="{99C96C3E-7FDC-46B4-88B1-93DA6E23D63D}" type="presOf" srcId="{6E837884-E773-4DA7-836E-32217E0BD376}" destId="{350BABEB-3FCF-47CA-93C9-503303016445}" srcOrd="0" destOrd="4" presId="urn:microsoft.com/office/officeart/2005/8/layout/default"/>
    <dgm:cxn modelId="{2BB6F25E-6F7D-4FCE-B4A1-E94369A1AE5A}" srcId="{6F57CCA1-CCFC-4DB9-A6A4-0A420618CF9F}" destId="{E4B188D2-BDF0-42A5-A552-C05FF51E986A}" srcOrd="3" destOrd="0" parTransId="{BAF52370-B61A-4F5C-966E-4D83463DD87E}" sibTransId="{9AC029D7-F676-47FB-975F-0310F85793C3}"/>
    <dgm:cxn modelId="{CF33AA62-054B-4714-BF9D-B76E56A1D69E}" type="presOf" srcId="{28C3290E-B9E9-46D2-937D-E0A485A61190}" destId="{243CBE73-AD40-4B02-AD1F-51C3F58E9B37}" srcOrd="0" destOrd="5" presId="urn:microsoft.com/office/officeart/2005/8/layout/default"/>
    <dgm:cxn modelId="{85210467-E143-45B7-B293-A4371DA8E447}" srcId="{708EB535-0B76-4BE1-BA30-2E93F29A740B}" destId="{3B00357C-1084-4864-AD64-DB19D1369CCE}" srcOrd="1" destOrd="0" parTransId="{3FC74310-1F35-418C-B568-5E20B6B32FE6}" sibTransId="{615329AD-ED2E-4F4B-A0BF-1623316D197E}"/>
    <dgm:cxn modelId="{23BD5649-E47F-4815-AEAE-B621471D4983}" srcId="{86DC54B0-7159-493B-B264-AE420220E957}" destId="{701764E9-53AD-467C-85DC-A72562D0A024}" srcOrd="2" destOrd="0" parTransId="{DC7CB027-1A66-44D3-9106-6041BFEFFBD4}" sibTransId="{5F24FC39-FA37-4DC3-A77F-0C75577E3DE6}"/>
    <dgm:cxn modelId="{53DCE46A-5795-4D86-ABE6-E00A72B9635A}" type="presOf" srcId="{86DC54B0-7159-493B-B264-AE420220E957}" destId="{9FD96032-C3F0-445F-A6A9-90102304EE72}" srcOrd="0" destOrd="0" presId="urn:microsoft.com/office/officeart/2005/8/layout/default"/>
    <dgm:cxn modelId="{CD473151-D6D5-4996-9DB3-6E82F2523C1D}" type="presOf" srcId="{8141B10C-29F4-4151-91A6-2F1A0ACA4EB0}" destId="{350BABEB-3FCF-47CA-93C9-503303016445}" srcOrd="0" destOrd="1" presId="urn:microsoft.com/office/officeart/2005/8/layout/default"/>
    <dgm:cxn modelId="{42E44772-A01C-4466-8353-C782C9B454DC}" srcId="{6F57CCA1-CCFC-4DB9-A6A4-0A420618CF9F}" destId="{0A0D93AB-7570-41C8-B4E5-B1B191A15F4E}" srcOrd="0" destOrd="0" parTransId="{BFD6E7E5-2CCE-4F02-832C-E9401D78B218}" sibTransId="{A489078C-14B2-4FBD-9157-BE6B7138B3E0}"/>
    <dgm:cxn modelId="{48368652-356C-4BB9-8B25-EAA7978AB224}" type="presOf" srcId="{26018A1D-1870-461A-B3B6-3D253A9175B7}" destId="{350BABEB-3FCF-47CA-93C9-503303016445}" srcOrd="0" destOrd="0" presId="urn:microsoft.com/office/officeart/2005/8/layout/default"/>
    <dgm:cxn modelId="{6AB4B377-9334-407C-9CE4-9CD8C44B216C}" type="presOf" srcId="{E4B188D2-BDF0-42A5-A552-C05FF51E986A}" destId="{243CBE73-AD40-4B02-AD1F-51C3F58E9B37}" srcOrd="0" destOrd="4" presId="urn:microsoft.com/office/officeart/2005/8/layout/default"/>
    <dgm:cxn modelId="{1C99D680-2B99-4414-A59E-C5329FE24AA1}" type="presOf" srcId="{6F57CCA1-CCFC-4DB9-A6A4-0A420618CF9F}" destId="{243CBE73-AD40-4B02-AD1F-51C3F58E9B37}" srcOrd="0" destOrd="0" presId="urn:microsoft.com/office/officeart/2005/8/layout/default"/>
    <dgm:cxn modelId="{22D76595-A39C-478C-9EFC-BE6B43B3458F}" type="presOf" srcId="{5C35C4E8-53CE-4AAB-B8B0-AB960806083E}" destId="{D921864D-5467-4053-8BE1-A988CB15226E}" srcOrd="0" destOrd="2" presId="urn:microsoft.com/office/officeart/2005/8/layout/default"/>
    <dgm:cxn modelId="{90A04C95-460E-4FD5-A89B-B15F42BB3739}" srcId="{708EB535-0B76-4BE1-BA30-2E93F29A740B}" destId="{86DC54B0-7159-493B-B264-AE420220E957}" srcOrd="2" destOrd="0" parTransId="{0C921F68-53FB-4EC2-8685-D83897867077}" sibTransId="{AFB2FF56-796C-41A3-A766-77B215074C05}"/>
    <dgm:cxn modelId="{31837496-1F58-4A30-A7E0-41E6A7DF526B}" srcId="{6F57CCA1-CCFC-4DB9-A6A4-0A420618CF9F}" destId="{28C3290E-B9E9-46D2-937D-E0A485A61190}" srcOrd="4" destOrd="0" parTransId="{9E1E0BCB-D578-457C-BF63-89756703E556}" sibTransId="{1145FFEF-5832-425E-93C7-6100090DD8D8}"/>
    <dgm:cxn modelId="{34DD469D-CA9F-4017-8BA6-014D7748ABF5}" srcId="{708EB535-0B76-4BE1-BA30-2E93F29A740B}" destId="{26018A1D-1870-461A-B3B6-3D253A9175B7}" srcOrd="0" destOrd="0" parTransId="{D39F9F2C-1DB0-474D-96F6-016373DE3D0B}" sibTransId="{DB86D947-2590-47AF-8A67-32D5C7162FA8}"/>
    <dgm:cxn modelId="{514B8C9F-B4CE-4A01-BFC2-A67256C82E7B}" srcId="{6F57CCA1-CCFC-4DB9-A6A4-0A420618CF9F}" destId="{3639E8EB-8833-4694-8C5B-83FAC9744C2E}" srcOrd="2" destOrd="0" parTransId="{FDC8B92A-B6D1-4AE8-9D11-00A149F12639}" sibTransId="{8B4769D4-BB32-4716-923C-AFA10D8319DC}"/>
    <dgm:cxn modelId="{E20DFF9F-FB40-445C-A5CA-3EDE592FDDAD}" type="presOf" srcId="{708EB535-0B76-4BE1-BA30-2E93F29A740B}" destId="{A77758CB-AA75-41C9-AD14-21E21A9FD425}" srcOrd="0" destOrd="0" presId="urn:microsoft.com/office/officeart/2005/8/layout/default"/>
    <dgm:cxn modelId="{D66C56A4-4482-4F35-BE5C-79A0AEB6A99B}" type="presOf" srcId="{1A5958F1-4F83-4C48-8019-48768832BA87}" destId="{D921864D-5467-4053-8BE1-A988CB15226E}" srcOrd="0" destOrd="3" presId="urn:microsoft.com/office/officeart/2005/8/layout/default"/>
    <dgm:cxn modelId="{A37E9CA6-A792-4A6F-A736-C4DA62AA9E54}" type="presOf" srcId="{37A46AFD-A896-4F8C-8B20-4886D1A83D51}" destId="{9FD96032-C3F0-445F-A6A9-90102304EE72}" srcOrd="0" destOrd="5" presId="urn:microsoft.com/office/officeart/2005/8/layout/default"/>
    <dgm:cxn modelId="{E28091A7-2321-401A-9E2D-09D7607EFB7F}" type="presOf" srcId="{DF72BB88-6052-408B-9C7E-825E2B1B1800}" destId="{9FD96032-C3F0-445F-A6A9-90102304EE72}" srcOrd="0" destOrd="1" presId="urn:microsoft.com/office/officeart/2005/8/layout/default"/>
    <dgm:cxn modelId="{94DAB6B4-6940-4228-BC11-316FB2A236C8}" srcId="{3B00357C-1084-4864-AD64-DB19D1369CCE}" destId="{1A5958F1-4F83-4C48-8019-48768832BA87}" srcOrd="2" destOrd="0" parTransId="{74AEAFCE-6C69-4B00-A80A-0B9A29321AFC}" sibTransId="{95C40D4A-58FD-4205-8B37-61B74323B994}"/>
    <dgm:cxn modelId="{B7794EB8-9065-457C-A12E-54DE9107D442}" type="presOf" srcId="{E786F24D-FBDC-4D53-B0E9-19B89FA10DCA}" destId="{D921864D-5467-4053-8BE1-A988CB15226E}" srcOrd="0" destOrd="1" presId="urn:microsoft.com/office/officeart/2005/8/layout/default"/>
    <dgm:cxn modelId="{9F97B6BD-3891-49F9-B53C-B2891E07481D}" type="presOf" srcId="{32991EDB-1D7C-49E2-B3B7-0D599DF47160}" destId="{350BABEB-3FCF-47CA-93C9-503303016445}" srcOrd="0" destOrd="5" presId="urn:microsoft.com/office/officeart/2005/8/layout/default"/>
    <dgm:cxn modelId="{9CD353BF-F1CB-431E-BCBE-DEEF34D8E427}" srcId="{3B00357C-1084-4864-AD64-DB19D1369CCE}" destId="{E786F24D-FBDC-4D53-B0E9-19B89FA10DCA}" srcOrd="0" destOrd="0" parTransId="{804FC7B2-D0F4-4904-9B18-421F201DF66F}" sibTransId="{6611FA3C-1BF1-420F-9D9D-168A82984BE5}"/>
    <dgm:cxn modelId="{4E36BDC0-9082-48DF-A4D1-BEB24C643BDD}" srcId="{3B00357C-1084-4864-AD64-DB19D1369CCE}" destId="{78997B65-8295-4218-B5DB-FAEC0C46B9F8}" srcOrd="3" destOrd="0" parTransId="{98EB62FD-4FC8-4D2B-BC2B-AE387185EC37}" sibTransId="{DAA294B1-F55A-40FD-BCAA-391B2248CD15}"/>
    <dgm:cxn modelId="{64EC75C1-5471-404C-AE0C-F342A1C3B7F2}" srcId="{86DC54B0-7159-493B-B264-AE420220E957}" destId="{37A46AFD-A896-4F8C-8B20-4886D1A83D51}" srcOrd="4" destOrd="0" parTransId="{856D59CC-1D6D-40E0-BD57-B9A5E174BB30}" sibTransId="{7B178CEC-97F2-4109-83A4-4730AF6164EB}"/>
    <dgm:cxn modelId="{743B59C2-76B0-4429-A265-FD8CFFE7D19E}" srcId="{6F57CCA1-CCFC-4DB9-A6A4-0A420618CF9F}" destId="{65CB8545-B91D-4D98-9E6F-2109573ADEA4}" srcOrd="1" destOrd="0" parTransId="{5B515F9A-2C3F-4A5F-9062-D9C852CC1190}" sibTransId="{5380337A-EAC7-421D-B5A4-67B1F173C1CF}"/>
    <dgm:cxn modelId="{4EFB14C7-549B-4C5D-8477-3582265DD0B3}" type="presOf" srcId="{3B00357C-1084-4864-AD64-DB19D1369CCE}" destId="{D921864D-5467-4053-8BE1-A988CB15226E}" srcOrd="0" destOrd="0" presId="urn:microsoft.com/office/officeart/2005/8/layout/default"/>
    <dgm:cxn modelId="{C8BB68C9-8410-438A-A636-596EEB8316BD}" type="presOf" srcId="{230AC2C4-FE50-4787-9900-F16E6F080904}" destId="{350BABEB-3FCF-47CA-93C9-503303016445}" srcOrd="0" destOrd="3" presId="urn:microsoft.com/office/officeart/2005/8/layout/default"/>
    <dgm:cxn modelId="{170976D7-5FCA-4FAC-B1CA-50B41DD0583E}" type="presOf" srcId="{63FC99BF-817F-4EB0-9959-79027D6A36C4}" destId="{9FD96032-C3F0-445F-A6A9-90102304EE72}" srcOrd="0" destOrd="4" presId="urn:microsoft.com/office/officeart/2005/8/layout/default"/>
    <dgm:cxn modelId="{AD1877D7-73D3-4C2F-9278-AD3A112C6FAA}" type="presOf" srcId="{3639E8EB-8833-4694-8C5B-83FAC9744C2E}" destId="{243CBE73-AD40-4B02-AD1F-51C3F58E9B37}" srcOrd="0" destOrd="3" presId="urn:microsoft.com/office/officeart/2005/8/layout/default"/>
    <dgm:cxn modelId="{63DB16D9-6305-471F-B706-65716C0CE7D1}" srcId="{3B00357C-1084-4864-AD64-DB19D1369CCE}" destId="{5C35C4E8-53CE-4AAB-B8B0-AB960806083E}" srcOrd="1" destOrd="0" parTransId="{4DBE1B1D-AFA8-491D-887F-87503012640B}" sibTransId="{E4C9C1BA-A974-4C88-AD6D-C56B67A18A8C}"/>
    <dgm:cxn modelId="{07971DDB-72BC-4A3E-877C-BA9C7DDA1C24}" type="presOf" srcId="{78997B65-8295-4218-B5DB-FAEC0C46B9F8}" destId="{D921864D-5467-4053-8BE1-A988CB15226E}" srcOrd="0" destOrd="4" presId="urn:microsoft.com/office/officeart/2005/8/layout/default"/>
    <dgm:cxn modelId="{BEE0E6EE-7F38-4D22-B5CA-8193ADA3A65A}" type="presOf" srcId="{122C4D70-CDE8-4CDC-9AF4-A0D08FEF8CAD}" destId="{D921864D-5467-4053-8BE1-A988CB15226E}" srcOrd="0" destOrd="5" presId="urn:microsoft.com/office/officeart/2005/8/layout/default"/>
    <dgm:cxn modelId="{0157FDF4-3163-4DA8-986F-58C3502B857F}" type="presOf" srcId="{701764E9-53AD-467C-85DC-A72562D0A024}" destId="{9FD96032-C3F0-445F-A6A9-90102304EE72}" srcOrd="0" destOrd="3" presId="urn:microsoft.com/office/officeart/2005/8/layout/default"/>
    <dgm:cxn modelId="{B5550CF8-5A7A-418C-8577-C027C5739E08}" type="presOf" srcId="{E5A19C37-2C72-4900-A74E-C9693B6CEBB0}" destId="{350BABEB-3FCF-47CA-93C9-503303016445}" srcOrd="0" destOrd="2" presId="urn:microsoft.com/office/officeart/2005/8/layout/default"/>
    <dgm:cxn modelId="{427006FE-C001-437F-8E3A-B0581A9F7632}" srcId="{26018A1D-1870-461A-B3B6-3D253A9175B7}" destId="{6E837884-E773-4DA7-836E-32217E0BD376}" srcOrd="3" destOrd="0" parTransId="{E470DFF3-A08A-484B-B8C5-736D6F6803DA}" sibTransId="{0F4F828D-5EEC-4766-B0A6-5901BCD1F774}"/>
    <dgm:cxn modelId="{74B8752B-510B-48D8-B38C-BCFE504BF3C6}" type="presParOf" srcId="{A77758CB-AA75-41C9-AD14-21E21A9FD425}" destId="{350BABEB-3FCF-47CA-93C9-503303016445}" srcOrd="0" destOrd="0" presId="urn:microsoft.com/office/officeart/2005/8/layout/default"/>
    <dgm:cxn modelId="{4EEDADDD-B6AD-420A-A08F-EC953970EC42}" type="presParOf" srcId="{A77758CB-AA75-41C9-AD14-21E21A9FD425}" destId="{FE1179AD-808F-46A2-BB27-4EA82DD6C9A0}" srcOrd="1" destOrd="0" presId="urn:microsoft.com/office/officeart/2005/8/layout/default"/>
    <dgm:cxn modelId="{81C00E3C-5699-41CE-99F9-DEBBAA89890D}" type="presParOf" srcId="{A77758CB-AA75-41C9-AD14-21E21A9FD425}" destId="{D921864D-5467-4053-8BE1-A988CB15226E}" srcOrd="2" destOrd="0" presId="urn:microsoft.com/office/officeart/2005/8/layout/default"/>
    <dgm:cxn modelId="{8E5A6AF2-7941-4406-8B06-94A2F00FC006}" type="presParOf" srcId="{A77758CB-AA75-41C9-AD14-21E21A9FD425}" destId="{79B31E7C-FEEF-4156-A741-87860170DD7C}" srcOrd="3" destOrd="0" presId="urn:microsoft.com/office/officeart/2005/8/layout/default"/>
    <dgm:cxn modelId="{896A53B9-0656-4D68-8D70-AC98BA884846}" type="presParOf" srcId="{A77758CB-AA75-41C9-AD14-21E21A9FD425}" destId="{9FD96032-C3F0-445F-A6A9-90102304EE72}" srcOrd="4" destOrd="0" presId="urn:microsoft.com/office/officeart/2005/8/layout/default"/>
    <dgm:cxn modelId="{628E9018-E011-4956-85D0-2E43796EE47E}" type="presParOf" srcId="{A77758CB-AA75-41C9-AD14-21E21A9FD425}" destId="{6107AA4F-5DFC-4263-B562-B7551C76BA91}" srcOrd="5" destOrd="0" presId="urn:microsoft.com/office/officeart/2005/8/layout/default"/>
    <dgm:cxn modelId="{073799A9-5B51-460E-9663-CEC22F5A3086}" type="presParOf" srcId="{A77758CB-AA75-41C9-AD14-21E21A9FD425}" destId="{243CBE73-AD40-4B02-AD1F-51C3F58E9B37}"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0BABEB-3FCF-47CA-93C9-503303016445}">
      <dsp:nvSpPr>
        <dsp:cNvPr id="0" name=""/>
        <dsp:cNvSpPr/>
      </dsp:nvSpPr>
      <dsp:spPr>
        <a:xfrm>
          <a:off x="899" y="158890"/>
          <a:ext cx="3507884" cy="210473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ctr" defTabSz="711200">
            <a:lnSpc>
              <a:spcPct val="90000"/>
            </a:lnSpc>
            <a:spcBef>
              <a:spcPct val="0"/>
            </a:spcBef>
            <a:spcAft>
              <a:spcPct val="35000"/>
            </a:spcAft>
            <a:buNone/>
          </a:pPr>
          <a:r>
            <a:rPr lang="en-GB" sz="1600" b="1" kern="1200"/>
            <a:t>Rationalization of Profit Centers to support the strategic direction of Market FCF</a:t>
          </a:r>
          <a:endParaRPr lang="en-US" sz="1600" b="1" kern="1200"/>
        </a:p>
        <a:p>
          <a:pPr marL="57150" lvl="1" indent="-57150" algn="l" defTabSz="488950">
            <a:lnSpc>
              <a:spcPct val="90000"/>
            </a:lnSpc>
            <a:spcBef>
              <a:spcPct val="0"/>
            </a:spcBef>
            <a:spcAft>
              <a:spcPct val="15000"/>
            </a:spcAft>
            <a:buChar char="•"/>
          </a:pPr>
          <a:r>
            <a:rPr lang="en-US" sz="1100" kern="1200"/>
            <a:t>Increasingly competitive global tobacco market, utilization of cash for new business opportunities</a:t>
          </a:r>
        </a:p>
        <a:p>
          <a:pPr marL="57150" lvl="1" indent="-57150" algn="l" defTabSz="488950">
            <a:lnSpc>
              <a:spcPct val="90000"/>
            </a:lnSpc>
            <a:spcBef>
              <a:spcPct val="0"/>
            </a:spcBef>
            <a:spcAft>
              <a:spcPct val="15000"/>
            </a:spcAft>
            <a:buChar char="•"/>
          </a:pPr>
          <a:endParaRPr lang="en-US" sz="1100" kern="1200"/>
        </a:p>
        <a:p>
          <a:pPr marL="57150" lvl="1" indent="-57150" algn="l" defTabSz="488950">
            <a:lnSpc>
              <a:spcPct val="90000"/>
            </a:lnSpc>
            <a:spcBef>
              <a:spcPct val="0"/>
            </a:spcBef>
            <a:spcAft>
              <a:spcPct val="15000"/>
            </a:spcAft>
            <a:buChar char="•"/>
          </a:pPr>
          <a:endParaRPr lang="en-US" sz="1100" kern="1200"/>
        </a:p>
        <a:p>
          <a:pPr marL="57150" lvl="1" indent="-57150" algn="l" defTabSz="488950">
            <a:lnSpc>
              <a:spcPct val="90000"/>
            </a:lnSpc>
            <a:spcBef>
              <a:spcPct val="0"/>
            </a:spcBef>
            <a:spcAft>
              <a:spcPct val="15000"/>
            </a:spcAft>
            <a:buChar char="•"/>
          </a:pPr>
          <a:endParaRPr lang="en-US" sz="1100" kern="1200"/>
        </a:p>
        <a:p>
          <a:pPr marL="57150" lvl="1" indent="-57150" algn="l" defTabSz="488950">
            <a:lnSpc>
              <a:spcPct val="90000"/>
            </a:lnSpc>
            <a:spcBef>
              <a:spcPct val="0"/>
            </a:spcBef>
            <a:spcAft>
              <a:spcPct val="15000"/>
            </a:spcAft>
            <a:buChar char="•"/>
          </a:pPr>
          <a:r>
            <a:rPr lang="en-US" sz="1100" i="1" kern="1200"/>
            <a:t>Simplify current PC use with clear definitions and converge to SAP best practices</a:t>
          </a:r>
        </a:p>
      </dsp:txBody>
      <dsp:txXfrm>
        <a:off x="899" y="158890"/>
        <a:ext cx="3507884" cy="2104730"/>
      </dsp:txXfrm>
    </dsp:sp>
    <dsp:sp modelId="{D921864D-5467-4053-8BE1-A988CB15226E}">
      <dsp:nvSpPr>
        <dsp:cNvPr id="0" name=""/>
        <dsp:cNvSpPr/>
      </dsp:nvSpPr>
      <dsp:spPr>
        <a:xfrm>
          <a:off x="3859572" y="158890"/>
          <a:ext cx="3507884" cy="2104730"/>
        </a:xfrm>
        <a:prstGeom prst="rect">
          <a:avLst/>
        </a:prstGeom>
        <a:solidFill>
          <a:srgbClr val="78C2B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ctr" defTabSz="711200">
            <a:lnSpc>
              <a:spcPct val="90000"/>
            </a:lnSpc>
            <a:spcBef>
              <a:spcPct val="0"/>
            </a:spcBef>
            <a:spcAft>
              <a:spcPct val="35000"/>
            </a:spcAft>
            <a:buNone/>
          </a:pPr>
          <a:r>
            <a:rPr lang="en-GB" sz="1600" b="1" kern="1200"/>
            <a:t>Development of flexible profitability model for brand contribution </a:t>
          </a:r>
        </a:p>
        <a:p>
          <a:pPr marL="57150" lvl="1" indent="-57150" algn="l" defTabSz="488950">
            <a:lnSpc>
              <a:spcPct val="90000"/>
            </a:lnSpc>
            <a:spcBef>
              <a:spcPct val="0"/>
            </a:spcBef>
            <a:spcAft>
              <a:spcPct val="15000"/>
            </a:spcAft>
            <a:buChar char="•"/>
          </a:pPr>
          <a:r>
            <a:rPr lang="en-GB" sz="1100" kern="1200"/>
            <a:t>Define standard approach and bridge Gap between Corporate and Market</a:t>
          </a:r>
        </a:p>
        <a:p>
          <a:pPr marL="57150" lvl="1" indent="-57150" algn="l" defTabSz="488950">
            <a:lnSpc>
              <a:spcPct val="90000"/>
            </a:lnSpc>
            <a:spcBef>
              <a:spcPct val="0"/>
            </a:spcBef>
            <a:spcAft>
              <a:spcPct val="15000"/>
            </a:spcAft>
            <a:buChar char="•"/>
          </a:pPr>
          <a:r>
            <a:rPr lang="en-GB" sz="1100" kern="1200"/>
            <a:t>Consider profitability of Commercial SKU across JTI</a:t>
          </a:r>
        </a:p>
        <a:p>
          <a:pPr marL="57150" lvl="1" indent="-57150" algn="l" defTabSz="488950">
            <a:lnSpc>
              <a:spcPct val="90000"/>
            </a:lnSpc>
            <a:spcBef>
              <a:spcPct val="0"/>
            </a:spcBef>
            <a:spcAft>
              <a:spcPct val="15000"/>
            </a:spcAft>
            <a:buChar char="•"/>
          </a:pPr>
          <a:endParaRPr lang="en-GB" sz="1100" kern="1200"/>
        </a:p>
        <a:p>
          <a:pPr marL="57150" lvl="1" indent="-57150" algn="l" defTabSz="488950">
            <a:lnSpc>
              <a:spcPct val="90000"/>
            </a:lnSpc>
            <a:spcBef>
              <a:spcPct val="0"/>
            </a:spcBef>
            <a:spcAft>
              <a:spcPct val="15000"/>
            </a:spcAft>
            <a:buChar char="•"/>
          </a:pPr>
          <a:endParaRPr lang="en-GB" sz="1100" kern="1200"/>
        </a:p>
        <a:p>
          <a:pPr marL="57150" lvl="1" indent="-57150" algn="l" defTabSz="488950">
            <a:lnSpc>
              <a:spcPct val="90000"/>
            </a:lnSpc>
            <a:spcBef>
              <a:spcPct val="0"/>
            </a:spcBef>
            <a:spcAft>
              <a:spcPct val="15000"/>
            </a:spcAft>
            <a:buChar char="•"/>
          </a:pPr>
          <a:r>
            <a:rPr lang="en-GB" sz="1100" i="1" kern="1200"/>
            <a:t>Utilise SKU characteristics to provide Product type, Brand family,..</a:t>
          </a:r>
        </a:p>
      </dsp:txBody>
      <dsp:txXfrm>
        <a:off x="3859572" y="158890"/>
        <a:ext cx="3507884" cy="2104730"/>
      </dsp:txXfrm>
    </dsp:sp>
    <dsp:sp modelId="{9FD96032-C3F0-445F-A6A9-90102304EE72}">
      <dsp:nvSpPr>
        <dsp:cNvPr id="0" name=""/>
        <dsp:cNvSpPr/>
      </dsp:nvSpPr>
      <dsp:spPr>
        <a:xfrm>
          <a:off x="899" y="2614409"/>
          <a:ext cx="3507884" cy="2104730"/>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ctr" defTabSz="711200">
            <a:lnSpc>
              <a:spcPct val="90000"/>
            </a:lnSpc>
            <a:spcBef>
              <a:spcPct val="0"/>
            </a:spcBef>
            <a:spcAft>
              <a:spcPct val="35000"/>
            </a:spcAft>
            <a:buNone/>
          </a:pPr>
          <a:r>
            <a:rPr lang="en-GB" sz="1600" b="1" kern="1200"/>
            <a:t>Improved analytical capabilities</a:t>
          </a:r>
        </a:p>
        <a:p>
          <a:pPr marL="57150" lvl="1" indent="-57150" algn="l" defTabSz="488950">
            <a:lnSpc>
              <a:spcPct val="90000"/>
            </a:lnSpc>
            <a:spcBef>
              <a:spcPct val="0"/>
            </a:spcBef>
            <a:spcAft>
              <a:spcPct val="15000"/>
            </a:spcAft>
            <a:buChar char="•"/>
          </a:pPr>
          <a:r>
            <a:rPr lang="en-GB" sz="1100" kern="1200"/>
            <a:t>Visibility of different marketing initiatives across Regions and Markets </a:t>
          </a:r>
        </a:p>
        <a:p>
          <a:pPr marL="57150" lvl="1" indent="-57150" algn="l" defTabSz="488950">
            <a:lnSpc>
              <a:spcPct val="90000"/>
            </a:lnSpc>
            <a:spcBef>
              <a:spcPct val="0"/>
            </a:spcBef>
            <a:spcAft>
              <a:spcPct val="15000"/>
            </a:spcAft>
            <a:buChar char="•"/>
          </a:pPr>
          <a:r>
            <a:rPr lang="en-GB" sz="1100" kern="1200"/>
            <a:t>Increased visibility in understanding drivers in COGS variances </a:t>
          </a:r>
        </a:p>
        <a:p>
          <a:pPr marL="57150" lvl="1" indent="-57150" algn="l" defTabSz="488950">
            <a:lnSpc>
              <a:spcPct val="90000"/>
            </a:lnSpc>
            <a:spcBef>
              <a:spcPct val="0"/>
            </a:spcBef>
            <a:spcAft>
              <a:spcPct val="15000"/>
            </a:spcAft>
            <a:buChar char="•"/>
          </a:pPr>
          <a:endParaRPr lang="en-GB" sz="1100" kern="1200"/>
        </a:p>
        <a:p>
          <a:pPr marL="57150" lvl="1" indent="-57150" algn="l" defTabSz="488950">
            <a:lnSpc>
              <a:spcPct val="90000"/>
            </a:lnSpc>
            <a:spcBef>
              <a:spcPct val="0"/>
            </a:spcBef>
            <a:spcAft>
              <a:spcPct val="15000"/>
            </a:spcAft>
            <a:buChar char="•"/>
          </a:pPr>
          <a:endParaRPr lang="en-GB" sz="1100" kern="1200"/>
        </a:p>
        <a:p>
          <a:pPr marL="57150" lvl="1" indent="-57150" algn="l" defTabSz="488950">
            <a:lnSpc>
              <a:spcPct val="90000"/>
            </a:lnSpc>
            <a:spcBef>
              <a:spcPct val="0"/>
            </a:spcBef>
            <a:spcAft>
              <a:spcPct val="15000"/>
            </a:spcAft>
            <a:buChar char="•"/>
          </a:pPr>
          <a:r>
            <a:rPr lang="en-GB" sz="1100" i="1" kern="1200"/>
            <a:t>Standardised definitions of marketing investments and allowances and allocation of marketing investments </a:t>
          </a:r>
        </a:p>
      </dsp:txBody>
      <dsp:txXfrm>
        <a:off x="899" y="2614409"/>
        <a:ext cx="3507884" cy="2104730"/>
      </dsp:txXfrm>
    </dsp:sp>
    <dsp:sp modelId="{243CBE73-AD40-4B02-AD1F-51C3F58E9B37}">
      <dsp:nvSpPr>
        <dsp:cNvPr id="0" name=""/>
        <dsp:cNvSpPr/>
      </dsp:nvSpPr>
      <dsp:spPr>
        <a:xfrm>
          <a:off x="3859572" y="2614409"/>
          <a:ext cx="3507884" cy="2104730"/>
        </a:xfrm>
        <a:prstGeom prst="rect">
          <a:avLst/>
        </a:prstGeom>
        <a:solidFill>
          <a:schemeClr val="accent6">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t" anchorCtr="0">
          <a:noAutofit/>
        </a:bodyPr>
        <a:lstStyle/>
        <a:p>
          <a:pPr marL="0" lvl="0" indent="0" algn="ctr" defTabSz="711200">
            <a:lnSpc>
              <a:spcPct val="90000"/>
            </a:lnSpc>
            <a:spcBef>
              <a:spcPct val="0"/>
            </a:spcBef>
            <a:spcAft>
              <a:spcPct val="35000"/>
            </a:spcAft>
            <a:buNone/>
          </a:pPr>
          <a:r>
            <a:rPr lang="en-GB" sz="1600" b="1" kern="1200">
              <a:solidFill>
                <a:schemeClr val="bg1">
                  <a:lumMod val="50000"/>
                </a:schemeClr>
              </a:solidFill>
            </a:rPr>
            <a:t>Consistent view of brand portfolio for Finance &amp; Commercial data </a:t>
          </a:r>
        </a:p>
        <a:p>
          <a:pPr marL="57150" lvl="1" indent="-57150" algn="l" defTabSz="488950">
            <a:lnSpc>
              <a:spcPct val="90000"/>
            </a:lnSpc>
            <a:spcBef>
              <a:spcPct val="0"/>
            </a:spcBef>
            <a:spcAft>
              <a:spcPct val="15000"/>
            </a:spcAft>
            <a:buChar char="•"/>
          </a:pPr>
          <a:r>
            <a:rPr lang="en-GB" sz="1100" kern="1200">
              <a:solidFill>
                <a:schemeClr val="bg1">
                  <a:lumMod val="50000"/>
                </a:schemeClr>
              </a:solidFill>
            </a:rPr>
            <a:t>“One Language One view” across Marketing, Finance and GSC both locally, Regional and in HQ</a:t>
          </a:r>
        </a:p>
        <a:p>
          <a:pPr marL="57150" lvl="1" indent="-57150" algn="l" defTabSz="488950">
            <a:lnSpc>
              <a:spcPct val="90000"/>
            </a:lnSpc>
            <a:spcBef>
              <a:spcPct val="0"/>
            </a:spcBef>
            <a:spcAft>
              <a:spcPct val="15000"/>
            </a:spcAft>
            <a:buChar char="•"/>
          </a:pPr>
          <a:r>
            <a:rPr lang="en-GB" sz="1100" kern="1200">
              <a:solidFill>
                <a:schemeClr val="bg1">
                  <a:lumMod val="50000"/>
                </a:schemeClr>
              </a:solidFill>
            </a:rPr>
            <a:t>Link with OneData  </a:t>
          </a:r>
        </a:p>
        <a:p>
          <a:pPr marL="57150" lvl="1" indent="-57150" algn="l" defTabSz="488950">
            <a:lnSpc>
              <a:spcPct val="90000"/>
            </a:lnSpc>
            <a:spcBef>
              <a:spcPct val="0"/>
            </a:spcBef>
            <a:spcAft>
              <a:spcPct val="15000"/>
            </a:spcAft>
            <a:buChar char="•"/>
          </a:pPr>
          <a:endParaRPr lang="en-GB" sz="1100" kern="1200">
            <a:solidFill>
              <a:schemeClr val="bg1">
                <a:lumMod val="50000"/>
              </a:schemeClr>
            </a:solidFill>
          </a:endParaRPr>
        </a:p>
        <a:p>
          <a:pPr marL="57150" lvl="1" indent="-57150" algn="l" defTabSz="488950">
            <a:lnSpc>
              <a:spcPct val="90000"/>
            </a:lnSpc>
            <a:spcBef>
              <a:spcPct val="0"/>
            </a:spcBef>
            <a:spcAft>
              <a:spcPct val="15000"/>
            </a:spcAft>
            <a:buChar char="•"/>
          </a:pPr>
          <a:endParaRPr lang="en-GB" sz="1100" kern="1200">
            <a:solidFill>
              <a:schemeClr val="bg1">
                <a:lumMod val="50000"/>
              </a:schemeClr>
            </a:solidFill>
          </a:endParaRPr>
        </a:p>
        <a:p>
          <a:pPr marL="57150" lvl="1" indent="-57150" algn="l" defTabSz="488950">
            <a:lnSpc>
              <a:spcPct val="90000"/>
            </a:lnSpc>
            <a:spcBef>
              <a:spcPct val="0"/>
            </a:spcBef>
            <a:spcAft>
              <a:spcPct val="15000"/>
            </a:spcAft>
            <a:buChar char="•"/>
          </a:pPr>
          <a:r>
            <a:rPr lang="en-GB" sz="1100" i="1" kern="1200">
              <a:solidFill>
                <a:schemeClr val="bg1">
                  <a:lumMod val="50000"/>
                </a:schemeClr>
              </a:solidFill>
            </a:rPr>
            <a:t>Standardize required SKU characteristics and subsequent view of JTI’s ‘Commercial SKU’ portfolio</a:t>
          </a:r>
        </a:p>
      </dsp:txBody>
      <dsp:txXfrm>
        <a:off x="3859572" y="2614409"/>
        <a:ext cx="3507884" cy="210473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8C8A78-59D7-44FB-9F6C-954700358E12}" type="datetimeFigureOut">
              <a:rPr lang="en-US" smtClean="0"/>
              <a:t>5/15/2023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F0DC24-9925-4116-9864-5EC59E5E1523}" type="slidenum">
              <a:rPr lang="en-US" smtClean="0"/>
              <a:t>‹#›</a:t>
            </a:fld>
            <a:endParaRPr lang="en-US"/>
          </a:p>
        </p:txBody>
      </p:sp>
    </p:spTree>
    <p:extLst>
      <p:ext uri="{BB962C8B-B14F-4D97-AF65-F5344CB8AC3E}">
        <p14:creationId xmlns:p14="http://schemas.microsoft.com/office/powerpoint/2010/main" val="3613665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20668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2.jpe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5.emf"/><Relationship Id="rId4" Type="http://schemas.openxmlformats.org/officeDocument/2006/relationships/oleObject" Target="../embeddings/oleObject1.bin"/></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Project Title Slid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Date Placeholder 1"/>
          <p:cNvSpPr txBox="1">
            <a:spLocks/>
          </p:cNvSpPr>
          <p:nvPr userDrawn="1"/>
        </p:nvSpPr>
        <p:spPr>
          <a:xfrm>
            <a:off x="4151273" y="5923728"/>
            <a:ext cx="3889454"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i="0">
                <a:solidFill>
                  <a:schemeClr val="bg1"/>
                </a:solidFill>
                <a:latin typeface="+mn-lt"/>
                <a:ea typeface="Roboto" charset="0"/>
                <a:cs typeface="Roboto" charset="0"/>
              </a:rPr>
              <a:t>Simplify, Standardize, Accelerate </a:t>
            </a:r>
          </a:p>
        </p:txBody>
      </p:sp>
      <p:sp>
        <p:nvSpPr>
          <p:cNvPr id="9" name="TextBox 8"/>
          <p:cNvSpPr txBox="1"/>
          <p:nvPr userDrawn="1"/>
        </p:nvSpPr>
        <p:spPr>
          <a:xfrm>
            <a:off x="3398969" y="2345440"/>
            <a:ext cx="5387927" cy="1941342"/>
          </a:xfrm>
          <a:prstGeom prst="rect">
            <a:avLst/>
          </a:prstGeom>
          <a:noFill/>
        </p:spPr>
        <p:txBody>
          <a:bodyPr wrap="square" lIns="0" tIns="0" rIns="0" bIns="0" rtlCol="0">
            <a:noAutofit/>
          </a:bodyPr>
          <a:lstStyle/>
          <a:p>
            <a:pPr algn="l"/>
            <a:r>
              <a:rPr lang="en-US" sz="9600" b="1">
                <a:solidFill>
                  <a:schemeClr val="bg1"/>
                </a:solidFill>
                <a:latin typeface="Arial" charset="0"/>
                <a:ea typeface="Arial" charset="0"/>
                <a:cs typeface="Arial" charset="0"/>
              </a:rPr>
              <a:t>S4F-ERP</a:t>
            </a:r>
          </a:p>
        </p:txBody>
      </p:sp>
      <p:sp>
        <p:nvSpPr>
          <p:cNvPr id="10" name="Rectangle 9"/>
          <p:cNvSpPr/>
          <p:nvPr userDrawn="1"/>
        </p:nvSpPr>
        <p:spPr>
          <a:xfrm>
            <a:off x="5517737" y="1642984"/>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userDrawn="1"/>
        </p:nvSpPr>
        <p:spPr>
          <a:xfrm>
            <a:off x="4271627" y="4115677"/>
            <a:ext cx="3642610" cy="704538"/>
          </a:xfrm>
          <a:prstGeom prst="rect">
            <a:avLst/>
          </a:prstGeom>
          <a:noFill/>
        </p:spPr>
        <p:txBody>
          <a:bodyPr wrap="square" lIns="0" tIns="0" rIns="0" bIns="0" rtlCol="0">
            <a:noAutofit/>
          </a:bodyPr>
          <a:lstStyle/>
          <a:p>
            <a:pPr algn="ctr"/>
            <a:r>
              <a:rPr lang="en-US" spc="1000">
                <a:solidFill>
                  <a:schemeClr val="bg1"/>
                </a:solidFill>
                <a:latin typeface="Arial" charset="0"/>
                <a:ea typeface="Arial" charset="0"/>
                <a:cs typeface="Arial" charset="0"/>
              </a:rPr>
              <a:t>PROJECT</a:t>
            </a:r>
          </a:p>
        </p:txBody>
      </p:sp>
      <p:sp>
        <p:nvSpPr>
          <p:cNvPr id="12" name="Rectangle 11"/>
          <p:cNvSpPr/>
          <p:nvPr userDrawn="1"/>
        </p:nvSpPr>
        <p:spPr>
          <a:xfrm>
            <a:off x="5517737" y="5047786"/>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775643" y="498252"/>
            <a:ext cx="634576" cy="474992"/>
          </a:xfrm>
          <a:prstGeom prst="rect">
            <a:avLst/>
          </a:prstGeom>
        </p:spPr>
      </p:pic>
    </p:spTree>
    <p:extLst>
      <p:ext uri="{BB962C8B-B14F-4D97-AF65-F5344CB8AC3E}">
        <p14:creationId xmlns:p14="http://schemas.microsoft.com/office/powerpoint/2010/main" val="2273787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3343037" cy="6858001"/>
          </a:xfrm>
          <a:prstGeom prst="rect">
            <a:avLst/>
          </a:prstGeom>
        </p:spPr>
      </p:pic>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10" name="Content Placeholder 2"/>
          <p:cNvSpPr>
            <a:spLocks noGrp="1"/>
          </p:cNvSpPr>
          <p:nvPr>
            <p:ph idx="1"/>
          </p:nvPr>
        </p:nvSpPr>
        <p:spPr>
          <a:xfrm>
            <a:off x="5792779" y="987425"/>
            <a:ext cx="5561021" cy="4873625"/>
          </a:xfrm>
        </p:spPr>
        <p:txBody>
          <a:bodyPr>
            <a:normAutofit/>
          </a:bodyPr>
          <a:lstStyle>
            <a:lvl1pPr>
              <a:defRPr sz="2000">
                <a:latin typeface="Arial" charset="0"/>
                <a:ea typeface="Arial" charset="0"/>
                <a:cs typeface="Arial" charset="0"/>
              </a:defRPr>
            </a:lvl1pPr>
            <a:lvl2pPr>
              <a:defRPr sz="1800">
                <a:latin typeface="Arial" charset="0"/>
                <a:ea typeface="Arial" charset="0"/>
                <a:cs typeface="Arial" charset="0"/>
              </a:defRPr>
            </a:lvl2pPr>
            <a:lvl3pPr>
              <a:defRPr sz="1600">
                <a:latin typeface="Arial" charset="0"/>
                <a:ea typeface="Arial" charset="0"/>
                <a:cs typeface="Arial" charset="0"/>
              </a:defRPr>
            </a:lvl3pPr>
            <a:lvl4pPr>
              <a:defRPr sz="1400">
                <a:latin typeface="Arial" charset="0"/>
                <a:ea typeface="Arial" charset="0"/>
                <a:cs typeface="Arial" charset="0"/>
              </a:defRPr>
            </a:lvl4pPr>
            <a:lvl5pPr>
              <a:defRPr sz="1400">
                <a:latin typeface="Arial" charset="0"/>
                <a:ea typeface="Arial" charset="0"/>
                <a:cs typeface="Arial"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p:cNvSpPr txBox="1"/>
          <p:nvPr userDrawn="1"/>
        </p:nvSpPr>
        <p:spPr>
          <a:xfrm>
            <a:off x="141298" y="2139775"/>
            <a:ext cx="2989658" cy="1941342"/>
          </a:xfrm>
          <a:prstGeom prst="rect">
            <a:avLst/>
          </a:prstGeom>
          <a:noFill/>
        </p:spPr>
        <p:txBody>
          <a:bodyPr wrap="square" lIns="0" tIns="0" rIns="0" bIns="0" rtlCol="0">
            <a:noAutofit/>
          </a:bodyPr>
          <a:lstStyle/>
          <a:p>
            <a:pPr algn="ctr"/>
            <a:r>
              <a:rPr lang="en-US" sz="4400" b="1">
                <a:solidFill>
                  <a:schemeClr val="bg1"/>
                </a:solidFill>
                <a:latin typeface="Arial" charset="0"/>
                <a:ea typeface="Arial" charset="0"/>
                <a:cs typeface="Arial" charset="0"/>
              </a:rPr>
              <a:t>S4F-ERP</a:t>
            </a:r>
          </a:p>
        </p:txBody>
      </p:sp>
      <p:sp>
        <p:nvSpPr>
          <p:cNvPr id="12" name="Rectangle 11"/>
          <p:cNvSpPr/>
          <p:nvPr userDrawn="1"/>
        </p:nvSpPr>
        <p:spPr>
          <a:xfrm>
            <a:off x="1060932"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3" name="Rectangle 12"/>
          <p:cNvSpPr/>
          <p:nvPr userDrawn="1"/>
        </p:nvSpPr>
        <p:spPr>
          <a:xfrm>
            <a:off x="1060932"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Date Placeholder 1"/>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a:solidFill>
                  <a:schemeClr val="bg1"/>
                </a:solidFill>
                <a:latin typeface="+mn-lt"/>
                <a:ea typeface="Roboto" charset="0"/>
                <a:cs typeface="Roboto" charset="0"/>
              </a:rPr>
              <a:t>Simplify, Standardize, Accelerate </a:t>
            </a:r>
          </a:p>
        </p:txBody>
      </p:sp>
      <p:sp>
        <p:nvSpPr>
          <p:cNvPr id="15" name="Rectangle 14"/>
          <p:cNvSpPr/>
          <p:nvPr userDrawn="1"/>
        </p:nvSpPr>
        <p:spPr>
          <a:xfrm>
            <a:off x="4731547" y="1017332"/>
            <a:ext cx="250825" cy="58406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pic>
        <p:nvPicPr>
          <p:cNvPr id="16" name="Picture 15">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15690" y="365125"/>
            <a:ext cx="576887" cy="431811"/>
          </a:xfrm>
          <a:prstGeom prst="rect">
            <a:avLst/>
          </a:prstGeom>
        </p:spPr>
      </p:pic>
      <p:sp>
        <p:nvSpPr>
          <p:cNvPr id="17" name="TextBox 16"/>
          <p:cNvSpPr txBox="1"/>
          <p:nvPr userDrawn="1"/>
        </p:nvSpPr>
        <p:spPr>
          <a:xfrm>
            <a:off x="389295" y="3213617"/>
            <a:ext cx="2493664" cy="704538"/>
          </a:xfrm>
          <a:prstGeom prst="rect">
            <a:avLst/>
          </a:prstGeom>
          <a:noFill/>
        </p:spPr>
        <p:txBody>
          <a:bodyPr wrap="square" lIns="0" tIns="0" rIns="0" bIns="0" rtlCol="0">
            <a:noAutofit/>
          </a:bodyPr>
          <a:lstStyle/>
          <a:p>
            <a:pPr algn="ctr"/>
            <a:r>
              <a:rPr lang="en-US" sz="1600" spc="1000">
                <a:solidFill>
                  <a:schemeClr val="bg1"/>
                </a:solidFill>
                <a:latin typeface="Arial" charset="0"/>
                <a:ea typeface="Arial" charset="0"/>
                <a:cs typeface="Arial" charset="0"/>
              </a:rPr>
              <a:t>PROJECT</a:t>
            </a:r>
          </a:p>
        </p:txBody>
      </p:sp>
    </p:spTree>
    <p:extLst>
      <p:ext uri="{BB962C8B-B14F-4D97-AF65-F5344CB8AC3E}">
        <p14:creationId xmlns:p14="http://schemas.microsoft.com/office/powerpoint/2010/main" val="207513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Image Title 01">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647272"/>
            <a:ext cx="12192001" cy="4498847"/>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8" name="Picture 7"/>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2116723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Image Title 0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633845"/>
            <a:ext cx="12201057" cy="4499140"/>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10" name="Picture 9"/>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19171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pectrum Title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45274"/>
            <a:ext cx="12193587" cy="5001275"/>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Tree>
    <p:extLst>
      <p:ext uri="{BB962C8B-B14F-4D97-AF65-F5344CB8AC3E}">
        <p14:creationId xmlns:p14="http://schemas.microsoft.com/office/powerpoint/2010/main" val="3459315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3308346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1125067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1872487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grpSp>
        <p:nvGrpSpPr>
          <p:cNvPr id="6" name="Group 5"/>
          <p:cNvGrpSpPr/>
          <p:nvPr userDrawn="1"/>
        </p:nvGrpSpPr>
        <p:grpSpPr>
          <a:xfrm>
            <a:off x="10086109" y="417870"/>
            <a:ext cx="2105891" cy="569193"/>
            <a:chOff x="10086109" y="5763491"/>
            <a:chExt cx="2105891" cy="569193"/>
          </a:xfrm>
        </p:grpSpPr>
        <p:sp>
          <p:nvSpPr>
            <p:cNvPr id="7" name="Rectangle 6"/>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8" name="Group 7"/>
            <p:cNvGrpSpPr/>
            <p:nvPr/>
          </p:nvGrpSpPr>
          <p:grpSpPr>
            <a:xfrm>
              <a:off x="10538695" y="5812704"/>
              <a:ext cx="1343888" cy="519980"/>
              <a:chOff x="515938" y="466803"/>
              <a:chExt cx="2499478" cy="967103"/>
            </a:xfrm>
          </p:grpSpPr>
          <p:grpSp>
            <p:nvGrpSpPr>
              <p:cNvPr id="9" name="Group 8"/>
              <p:cNvGrpSpPr/>
              <p:nvPr/>
            </p:nvGrpSpPr>
            <p:grpSpPr>
              <a:xfrm>
                <a:off x="515938" y="466803"/>
                <a:ext cx="281354" cy="780960"/>
                <a:chOff x="4342156" y="2541184"/>
                <a:chExt cx="219003" cy="683186"/>
              </a:xfrm>
            </p:grpSpPr>
            <p:sp>
              <p:nvSpPr>
                <p:cNvPr id="11" name="Rectangle 10"/>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2" name="Rounded Rectangle 11"/>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0" name="TextBox 9"/>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3081192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798581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Divider 02">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2936112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11197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04">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4819338"/>
            <a:ext cx="8961437" cy="1463192"/>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373969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5513179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3903758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le Only 0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5" name="TextBox 4">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7" name="Title 6"/>
          <p:cNvSpPr>
            <a:spLocks noGrp="1"/>
          </p:cNvSpPr>
          <p:nvPr>
            <p:ph type="title"/>
          </p:nvPr>
        </p:nvSpPr>
        <p:spPr/>
        <p:txBody>
          <a:bodyPr/>
          <a:lstStyle/>
          <a:p>
            <a:r>
              <a:rPr lang="en-US"/>
              <a:t>Click to edit Master title style</a:t>
            </a:r>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9836769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2" name="Title 1"/>
          <p:cNvSpPr>
            <a:spLocks noGrp="1"/>
          </p:cNvSpPr>
          <p:nvPr>
            <p:ph type="title"/>
          </p:nvPr>
        </p:nvSpPr>
        <p:spPr/>
        <p:txBody>
          <a:bodyPr/>
          <a:lstStyle/>
          <a:p>
            <a:r>
              <a:rPr lang="en-US"/>
              <a:t>Click to edit Master title style</a:t>
            </a:r>
          </a:p>
        </p:txBody>
      </p:sp>
      <p:sp>
        <p:nvSpPr>
          <p:cNvPr id="14" name="TextBox 13">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1919271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3916663" y="1945294"/>
            <a:ext cx="4405534" cy="1971681"/>
          </a:xfrm>
          <a:prstGeom prst="rect">
            <a:avLst/>
          </a:prstGeom>
          <a:noFill/>
        </p:spPr>
        <p:txBody>
          <a:bodyPr wrap="square" lIns="0" tIns="0" rIns="0" bIns="0" rtlCol="0">
            <a:noAutofit/>
          </a:bodyPr>
          <a:lstStyle/>
          <a:p>
            <a:pPr algn="l"/>
            <a:r>
              <a:rPr lang="en-US" sz="15000" b="1" i="0">
                <a:solidFill>
                  <a:schemeClr val="bg1"/>
                </a:solidFill>
                <a:latin typeface="Arial" charset="0"/>
                <a:ea typeface="Arial" charset="0"/>
                <a:cs typeface="Arial" charset="0"/>
              </a:rPr>
              <a:t>Q&amp;A</a:t>
            </a:r>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rgbClr val="A7E6E4"/>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6" name="TextBox 15">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sp>
        <p:nvSpPr>
          <p:cNvPr id="18" name="TextBox 1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785033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7" name="TextBox 16">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2053883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770608" y="2544869"/>
            <a:ext cx="2650782" cy="1984161"/>
          </a:xfrm>
          <a:prstGeom prst="rect">
            <a:avLst/>
          </a:prstGeom>
        </p:spPr>
      </p:pic>
      <p:sp>
        <p:nvSpPr>
          <p:cNvPr id="6" name="TextBox 5">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9318964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663440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3114"/>
          </a:xfrm>
          <a:prstGeom prst="rect">
            <a:avLst/>
          </a:prstGeom>
        </p:spPr>
      </p:pic>
      <p:sp>
        <p:nvSpPr>
          <p:cNvPr id="6" name="Rectangle 5"/>
          <p:cNvSpPr/>
          <p:nvPr userDrawn="1"/>
        </p:nvSpPr>
        <p:spPr>
          <a:xfrm>
            <a:off x="0" y="4199439"/>
            <a:ext cx="12192000" cy="1440000"/>
          </a:xfrm>
          <a:prstGeom prst="rect">
            <a:avLst/>
          </a:prstGeom>
          <a:solidFill>
            <a:schemeClr val="accent2">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50359" y="4381467"/>
            <a:ext cx="1118616" cy="1075944"/>
          </a:xfrm>
          <a:prstGeom prst="rect">
            <a:avLst/>
          </a:prstGeom>
        </p:spPr>
      </p:pic>
    </p:spTree>
    <p:extLst>
      <p:ext uri="{BB962C8B-B14F-4D97-AF65-F5344CB8AC3E}">
        <p14:creationId xmlns:p14="http://schemas.microsoft.com/office/powerpoint/2010/main" val="39071295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3114"/>
          </a:xfrm>
          <a:prstGeom prst="rect">
            <a:avLst/>
          </a:prstGeom>
        </p:spPr>
      </p:pic>
      <p:sp>
        <p:nvSpPr>
          <p:cNvPr id="6" name="Rectangle 5"/>
          <p:cNvSpPr/>
          <p:nvPr userDrawn="1"/>
        </p:nvSpPr>
        <p:spPr>
          <a:xfrm>
            <a:off x="0" y="4199439"/>
            <a:ext cx="12192000" cy="1440000"/>
          </a:xfrm>
          <a:prstGeom prst="rect">
            <a:avLst/>
          </a:prstGeom>
          <a:solidFill>
            <a:schemeClr val="accent2">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50359" y="4381467"/>
            <a:ext cx="1118616" cy="1075944"/>
          </a:xfrm>
          <a:prstGeom prst="rect">
            <a:avLst/>
          </a:prstGeom>
        </p:spPr>
      </p:pic>
    </p:spTree>
    <p:extLst>
      <p:ext uri="{BB962C8B-B14F-4D97-AF65-F5344CB8AC3E}">
        <p14:creationId xmlns:p14="http://schemas.microsoft.com/office/powerpoint/2010/main" val="27693825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4805" y="553120"/>
              <a:ext cx="448056" cy="429768"/>
            </a:xfrm>
            <a:prstGeom prst="rect">
              <a:avLst/>
            </a:prstGeom>
          </p:spPr>
        </p:pic>
      </p:grpSp>
    </p:spTree>
    <p:extLst>
      <p:ext uri="{BB962C8B-B14F-4D97-AF65-F5344CB8AC3E}">
        <p14:creationId xmlns:p14="http://schemas.microsoft.com/office/powerpoint/2010/main" val="33420200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4805" y="553120"/>
              <a:ext cx="448056" cy="429768"/>
            </a:xfrm>
            <a:prstGeom prst="rect">
              <a:avLst/>
            </a:prstGeom>
          </p:spPr>
        </p:pic>
      </p:grpSp>
    </p:spTree>
    <p:extLst>
      <p:ext uri="{BB962C8B-B14F-4D97-AF65-F5344CB8AC3E}">
        <p14:creationId xmlns:p14="http://schemas.microsoft.com/office/powerpoint/2010/main" val="39442295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34805" y="553120"/>
              <a:ext cx="448056" cy="429768"/>
            </a:xfrm>
            <a:prstGeom prst="rect">
              <a:avLst/>
            </a:prstGeom>
          </p:spPr>
        </p:pic>
      </p:grpSp>
    </p:spTree>
    <p:extLst>
      <p:ext uri="{BB962C8B-B14F-4D97-AF65-F5344CB8AC3E}">
        <p14:creationId xmlns:p14="http://schemas.microsoft.com/office/powerpoint/2010/main" val="24405862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Divider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20012353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Divider 04">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4819338"/>
            <a:ext cx="8961437" cy="1463192"/>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8757784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cSld name="Spectrum Title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45274"/>
            <a:ext cx="12193587" cy="5001275"/>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Tree>
    <p:extLst>
      <p:ext uri="{BB962C8B-B14F-4D97-AF65-F5344CB8AC3E}">
        <p14:creationId xmlns:p14="http://schemas.microsoft.com/office/powerpoint/2010/main" val="42701185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 </a:t>
            </a:r>
            <a:r>
              <a:rPr kumimoji="0" lang="en-GB" sz="800" b="0" i="0" u="none" strike="noStrike" kern="1200" cap="none" spc="0" normalizeH="0" baseline="0" noProof="0" err="1">
                <a:ln>
                  <a:noFill/>
                </a:ln>
                <a:solidFill>
                  <a:srgbClr val="FFFFFF"/>
                </a:solidFill>
                <a:effectLst/>
                <a:uLnTx/>
                <a:uFillTx/>
                <a:latin typeface="Arial" panose="020B0604020202020204"/>
                <a:ea typeface="+mn-ea"/>
                <a:cs typeface="+mn-cs"/>
              </a:rPr>
              <a:t>JTI</a:t>
            </a: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a:ea typeface="Roboto" charset="0"/>
                <a:cs typeface="Roboto" charset="0"/>
              </a:rPr>
              <a:t>Simplify, Standardize, Accelerate </a:t>
            </a:r>
          </a:p>
        </p:txBody>
      </p:sp>
    </p:spTree>
    <p:extLst>
      <p:ext uri="{BB962C8B-B14F-4D97-AF65-F5344CB8AC3E}">
        <p14:creationId xmlns:p14="http://schemas.microsoft.com/office/powerpoint/2010/main" val="38502699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5938" y="12539"/>
            <a:ext cx="10837863" cy="1325563"/>
          </a:xfrm>
        </p:spPr>
        <p:txBody>
          <a:bodyPr>
            <a:normAutofit/>
          </a:bodyPr>
          <a:lstStyle>
            <a:lvl1pPr>
              <a:defRPr sz="3199">
                <a:latin typeface="Arial" charset="0"/>
                <a:ea typeface="Arial" charset="0"/>
                <a:cs typeface="Arial" charset="0"/>
              </a:defRPr>
            </a:lvl1pPr>
          </a:lstStyle>
          <a:p>
            <a:r>
              <a:rPr lang="en-US"/>
              <a:t>Click to edit Master title style</a:t>
            </a:r>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2"/>
            <a:ext cx="10837863" cy="4067101"/>
          </a:xfrm>
        </p:spPr>
        <p:txBody>
          <a:bodyPr/>
          <a:lstStyle>
            <a:lvl3pPr marL="399930" indent="-195204">
              <a:defRPr/>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Date Placeholder 14"/>
          <p:cNvSpPr>
            <a:spLocks noGrp="1"/>
          </p:cNvSpPr>
          <p:nvPr>
            <p:ph type="dt" sz="half" idx="10"/>
          </p:nvPr>
        </p:nvSpPr>
        <p:spPr/>
        <p:txBody>
          <a:bodyPr/>
          <a:lstStyle/>
          <a:p>
            <a:endParaRPr lang="en-GB"/>
          </a:p>
        </p:txBody>
      </p:sp>
      <p:sp>
        <p:nvSpPr>
          <p:cNvPr id="17" name="Footer Placeholder 16"/>
          <p:cNvSpPr>
            <a:spLocks noGrp="1"/>
          </p:cNvSpPr>
          <p:nvPr>
            <p:ph type="ftr" sz="quarter" idx="11"/>
          </p:nvPr>
        </p:nvSpPr>
        <p:spPr>
          <a:xfrm>
            <a:off x="7316057" y="6356352"/>
            <a:ext cx="4114800" cy="365125"/>
          </a:xfrm>
        </p:spPr>
        <p:txBody>
          <a:bodyPr/>
          <a:lstStyle>
            <a:lvl1pPr algn="r">
              <a:defRPr sz="800"/>
            </a:lvl1pPr>
          </a:lstStyle>
          <a:p>
            <a:pPr>
              <a:defRPr/>
            </a:pPr>
            <a:fld id="{737923CA-60CF-4E27-AE00-5869EACE0DFB}" type="slidenum">
              <a:rPr lang="en-US" smtClean="0"/>
              <a:pPr>
                <a:defRPr/>
              </a:pPr>
              <a:t>‹#›</a:t>
            </a:fld>
            <a:endParaRPr lang="en-US"/>
          </a:p>
        </p:txBody>
      </p:sp>
    </p:spTree>
    <p:extLst>
      <p:ext uri="{BB962C8B-B14F-4D97-AF65-F5344CB8AC3E}">
        <p14:creationId xmlns:p14="http://schemas.microsoft.com/office/powerpoint/2010/main" val="420833424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1BBF04DD-055F-4DF8-8046-823C8DE061D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3" name="Object 2" hidden="1">
                        <a:extLst>
                          <a:ext uri="{FF2B5EF4-FFF2-40B4-BE49-F238E27FC236}">
                            <a16:creationId xmlns:a16="http://schemas.microsoft.com/office/drawing/2014/main" id="{1BBF04DD-055F-4DF8-8046-823C8DE061D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31270673-9415-401F-89B5-DB068CE9828E}"/>
              </a:ext>
            </a:extLst>
          </p:cNvPr>
          <p:cNvSpPr/>
          <p:nvPr userDrawn="1">
            <p:custDataLst>
              <p:tags r:id="rId2"/>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199" b="1" i="0" baseline="0">
              <a:latin typeface="Arial" panose="020B0604020202020204" pitchFamily="34" charset="0"/>
              <a:ea typeface="+mj-ea"/>
              <a:cs typeface="+mj-cs"/>
              <a:sym typeface="Arial" panose="020B0604020202020204" pitchFamily="34" charset="0"/>
            </a:endParaRPr>
          </a:p>
        </p:txBody>
      </p:sp>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8" name="Rectangle 7"/>
            <p:cNvSpPr/>
            <p:nvPr/>
          </p:nvSpPr>
          <p:spPr>
            <a:xfrm>
              <a:off x="6096000" y="-11151"/>
              <a:ext cx="6096000" cy="6869151"/>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4" name="Footer Placeholder 3"/>
          <p:cNvSpPr>
            <a:spLocks noGrp="1"/>
          </p:cNvSpPr>
          <p:nvPr>
            <p:ph type="ftr" sz="quarter" idx="11"/>
          </p:nvPr>
        </p:nvSpPr>
        <p:spPr/>
        <p:txBody>
          <a:bodyPr/>
          <a:lstStyle/>
          <a:p>
            <a:r>
              <a:rPr lang="en-US"/>
              <a:t>S4F-ERP FIT 2</a:t>
            </a:r>
          </a:p>
        </p:txBody>
      </p:sp>
      <p:sp>
        <p:nvSpPr>
          <p:cNvPr id="5" name="Slide Number Placeholder 4"/>
          <p:cNvSpPr>
            <a:spLocks noGrp="1"/>
          </p:cNvSpPr>
          <p:nvPr>
            <p:ph type="sldNum" sz="quarter" idx="12"/>
          </p:nvPr>
        </p:nvSpPr>
        <p:spPr>
          <a:xfrm>
            <a:off x="9144000" y="6465095"/>
            <a:ext cx="2743200" cy="365125"/>
          </a:xfrm>
        </p:spPr>
        <p:txBody>
          <a:bodyPr/>
          <a:lstStyle>
            <a:lvl1pPr>
              <a:defRPr sz="800"/>
            </a:lvl1pPr>
          </a:lstStyle>
          <a:p>
            <a:fld id="{1A6A2304-23DC-2B46-BD14-F082077842FF}" type="slidenum">
              <a:rPr lang="en-US" smtClean="0"/>
              <a:pPr/>
              <a:t>‹#›</a:t>
            </a:fld>
            <a:endParaRPr lang="en-US"/>
          </a:p>
        </p:txBody>
      </p:sp>
      <p:sp>
        <p:nvSpPr>
          <p:cNvPr id="11" name="Title 1">
            <a:extLst>
              <a:ext uri="{FF2B5EF4-FFF2-40B4-BE49-F238E27FC236}">
                <a16:creationId xmlns:a16="http://schemas.microsoft.com/office/drawing/2014/main" id="{42F2BE79-9CF6-49D0-828F-83304EE10FA4}"/>
              </a:ext>
            </a:extLst>
          </p:cNvPr>
          <p:cNvSpPr>
            <a:spLocks noGrp="1"/>
          </p:cNvSpPr>
          <p:nvPr>
            <p:ph type="title"/>
          </p:nvPr>
        </p:nvSpPr>
        <p:spPr>
          <a:xfrm>
            <a:off x="515940" y="210346"/>
            <a:ext cx="9898061" cy="984247"/>
          </a:xfrm>
        </p:spPr>
        <p:txBody>
          <a:bodyPr>
            <a:normAutofit/>
          </a:bodyPr>
          <a:lstStyle>
            <a:lvl1pPr>
              <a:defRPr sz="3199"/>
            </a:lvl1pPr>
          </a:lstStyle>
          <a:p>
            <a:r>
              <a:rPr lang="en-US"/>
              <a:t>Click to edit Master title style</a:t>
            </a:r>
          </a:p>
        </p:txBody>
      </p:sp>
      <p:cxnSp>
        <p:nvCxnSpPr>
          <p:cNvPr id="12" name="Straight Connector 11"/>
          <p:cNvCxnSpPr/>
          <p:nvPr/>
        </p:nvCxnSpPr>
        <p:spPr>
          <a:xfrm>
            <a:off x="515940" y="1348042"/>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US" sz="800"/>
              <a:t>© JTI 2018 Confidential </a:t>
            </a:r>
          </a:p>
        </p:txBody>
      </p:sp>
    </p:spTree>
    <p:extLst>
      <p:ext uri="{BB962C8B-B14F-4D97-AF65-F5344CB8AC3E}">
        <p14:creationId xmlns:p14="http://schemas.microsoft.com/office/powerpoint/2010/main" val="2041288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theme" Target="../theme/theme2.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3163803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61328869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7.jpeg"/><Relationship Id="rId1" Type="http://schemas.openxmlformats.org/officeDocument/2006/relationships/slideLayout" Target="../slideLayouts/slideLayout21.xml"/><Relationship Id="rId5" Type="http://schemas.openxmlformats.org/officeDocument/2006/relationships/image" Target="../media/image18.emf"/><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9.jpe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21.jp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9.jpeg"/><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4.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4.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4.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9.jpe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6.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9.jpeg"/><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24.xml"/><Relationship Id="rId6" Type="http://schemas.openxmlformats.org/officeDocument/2006/relationships/image" Target="../media/image39.sv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2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9.jpeg"/><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9.jpeg"/><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9.jpeg"/><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9.jpeg"/><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859003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cap="none"/>
              <a:t>PROFITABILITY ANALYSIS</a:t>
            </a:r>
          </a:p>
        </p:txBody>
      </p:sp>
    </p:spTree>
    <p:extLst>
      <p:ext uri="{BB962C8B-B14F-4D97-AF65-F5344CB8AC3E}">
        <p14:creationId xmlns:p14="http://schemas.microsoft.com/office/powerpoint/2010/main" val="1292908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cstate="email">
            <a:alphaModFix/>
            <a:extLst>
              <a:ext uri="{28A0092B-C50C-407E-A947-70E740481C1C}">
                <a14:useLocalDpi xmlns:a14="http://schemas.microsoft.com/office/drawing/2010/main"/>
              </a:ext>
            </a:extLst>
          </a:blip>
          <a:srcRect/>
          <a:stretch/>
        </p:blipFill>
        <p:spPr>
          <a:xfrm>
            <a:off x="0" y="1340603"/>
            <a:ext cx="12192000" cy="4897465"/>
          </a:xfrm>
          <a:prstGeom prst="rect">
            <a:avLst/>
          </a:prstGeom>
        </p:spPr>
      </p:pic>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Overview – About this course</a:t>
            </a:r>
          </a:p>
        </p:txBody>
      </p:sp>
      <p:sp>
        <p:nvSpPr>
          <p:cNvPr id="13" name="Rounded Rectangle 12"/>
          <p:cNvSpPr/>
          <p:nvPr/>
        </p:nvSpPr>
        <p:spPr>
          <a:xfrm>
            <a:off x="515939" y="1650568"/>
            <a:ext cx="3265647" cy="4277534"/>
          </a:xfrm>
          <a:prstGeom prst="roundRect">
            <a:avLst>
              <a:gd name="adj" fmla="val 11255"/>
            </a:avLst>
          </a:prstGeom>
          <a:solidFill>
            <a:schemeClr val="bg1"/>
          </a:solidFill>
          <a:ln w="50800">
            <a:gradFill>
              <a:gsLst>
                <a:gs pos="0">
                  <a:srgbClr val="8DDDD9"/>
                </a:gs>
                <a:gs pos="38000">
                  <a:srgbClr val="19BEB8"/>
                </a:gs>
                <a:gs pos="60000">
                  <a:srgbClr val="36A9AA"/>
                </a:gs>
                <a:gs pos="100000">
                  <a:srgbClr val="0983C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tIns="180000" rIns="90000" rtlCol="0" anchor="t"/>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000000"/>
                </a:solidFill>
                <a:effectLst/>
                <a:uLnTx/>
                <a:uFillTx/>
                <a:latin typeface="Arial" charset="0"/>
                <a:ea typeface="Arial" charset="0"/>
                <a:cs typeface="Arial" charset="0"/>
              </a:rPr>
              <a:t>Course Objectives</a:t>
            </a:r>
          </a:p>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200" b="1" i="0" u="none" strike="noStrike" kern="1200" cap="none" spc="0" normalizeH="0" baseline="0" noProof="0">
                <a:ln>
                  <a:noFill/>
                </a:ln>
                <a:solidFill>
                  <a:srgbClr val="00B2A9"/>
                </a:solidFill>
                <a:effectLst/>
                <a:uLnTx/>
                <a:uFillTx/>
                <a:latin typeface="Arial" panose="020B0604020202020204"/>
                <a:ea typeface="+mn-ea"/>
                <a:cs typeface="+mn-cs"/>
              </a:rPr>
              <a:t>This course provides information on:</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Prepare Power Users for delivering this training materials to end-users</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Refresh knowledge of Power Users in the understanding of Profitability Analysis including: </a:t>
            </a:r>
          </a:p>
          <a:p>
            <a:pPr marL="457200" marR="0" lvl="3" indent="-22860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CO-PA using dimensions, characteristics and derivation rules</a:t>
            </a:r>
          </a:p>
          <a:p>
            <a:pPr marL="457200" marR="0" lvl="3" indent="-228600"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Changes made to Market P&amp;L and the new reporting features of S/4 Hana as well as reporting methods.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Arial" charset="0"/>
              <a:ea typeface="Arial" charset="0"/>
              <a:cs typeface="Arial" charset="0"/>
            </a:endParaRPr>
          </a:p>
        </p:txBody>
      </p:sp>
      <p:sp>
        <p:nvSpPr>
          <p:cNvPr id="17" name="Rounded Rectangle 16"/>
          <p:cNvSpPr/>
          <p:nvPr/>
        </p:nvSpPr>
        <p:spPr>
          <a:xfrm>
            <a:off x="4430553" y="1650568"/>
            <a:ext cx="3265647" cy="4277534"/>
          </a:xfrm>
          <a:prstGeom prst="roundRect">
            <a:avLst>
              <a:gd name="adj" fmla="val 11255"/>
            </a:avLst>
          </a:prstGeom>
          <a:solidFill>
            <a:schemeClr val="bg1"/>
          </a:solidFill>
          <a:ln w="50800">
            <a:gradFill>
              <a:gsLst>
                <a:gs pos="0">
                  <a:srgbClr val="8DDDD9"/>
                </a:gs>
                <a:gs pos="38000">
                  <a:srgbClr val="19BEB8"/>
                </a:gs>
                <a:gs pos="60000">
                  <a:srgbClr val="36A9AA"/>
                </a:gs>
                <a:gs pos="100000">
                  <a:srgbClr val="0983C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tIns="180000" rIns="90000" rtlCol="0" anchor="t"/>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a:ln>
                  <a:noFill/>
                </a:ln>
                <a:solidFill>
                  <a:srgbClr val="1A3040">
                    <a:lumMod val="50000"/>
                  </a:srgbClr>
                </a:solidFill>
                <a:effectLst/>
                <a:uLnTx/>
                <a:uFillTx/>
                <a:latin typeface="Arial" charset="0"/>
                <a:ea typeface="Arial" charset="0"/>
                <a:cs typeface="Arial" charset="0"/>
              </a:rPr>
              <a:t>Target Audiences</a:t>
            </a:r>
          </a:p>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00B2A9"/>
                </a:solidFill>
                <a:effectLst/>
                <a:uLnTx/>
                <a:uFillTx/>
                <a:latin typeface="Arial" panose="020B0604020202020204"/>
                <a:ea typeface="+mn-ea"/>
                <a:cs typeface="+mn-cs"/>
              </a:rPr>
              <a:t>This course is mandatory for:</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mn-ea"/>
                <a:cs typeface="+mn-cs"/>
              </a:rPr>
              <a:t>ALL </a:t>
            </a: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Power Users for Controlling Profitability Analysis</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FP&amp;A Community</a:t>
            </a:r>
          </a:p>
        </p:txBody>
      </p:sp>
      <p:sp>
        <p:nvSpPr>
          <p:cNvPr id="18" name="Rounded Rectangle 17"/>
          <p:cNvSpPr/>
          <p:nvPr/>
        </p:nvSpPr>
        <p:spPr>
          <a:xfrm>
            <a:off x="8075561" y="1607408"/>
            <a:ext cx="3729672" cy="4277534"/>
          </a:xfrm>
          <a:prstGeom prst="roundRect">
            <a:avLst>
              <a:gd name="adj" fmla="val 11255"/>
            </a:avLst>
          </a:prstGeom>
          <a:solidFill>
            <a:schemeClr val="bg1"/>
          </a:solidFill>
          <a:ln w="50800">
            <a:gradFill>
              <a:gsLst>
                <a:gs pos="0">
                  <a:srgbClr val="8DDDD9"/>
                </a:gs>
                <a:gs pos="38000">
                  <a:srgbClr val="19BEB8"/>
                </a:gs>
                <a:gs pos="60000">
                  <a:srgbClr val="36A9AA"/>
                </a:gs>
                <a:gs pos="100000">
                  <a:srgbClr val="0983C7"/>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tIns="180000" rIns="90000" rtlCol="0" anchor="t"/>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1A3040">
                    <a:lumMod val="50000"/>
                  </a:srgbClr>
                </a:solidFill>
                <a:effectLst/>
                <a:uLnTx/>
                <a:uFillTx/>
                <a:latin typeface="Arial" charset="0"/>
                <a:ea typeface="Arial" charset="0"/>
                <a:cs typeface="Arial" charset="0"/>
              </a:rPr>
              <a:t>Learning Guide</a:t>
            </a:r>
          </a:p>
          <a:p>
            <a:pPr marL="0" marR="0" lvl="2" indent="0" algn="l" defTabSz="914400" rtl="0" eaLnBrk="1" fontAlgn="auto" latinLnBrk="0" hangingPunct="1">
              <a:lnSpc>
                <a:spcPct val="100000"/>
              </a:lnSpc>
              <a:spcBef>
                <a:spcPts val="300"/>
              </a:spcBef>
              <a:spcAft>
                <a:spcPts val="1000"/>
              </a:spcAft>
              <a:buClrTx/>
              <a:buSzTx/>
              <a:buFontTx/>
              <a:buNone/>
              <a:tabLst/>
              <a:defRPr/>
            </a:pPr>
            <a:r>
              <a:rPr kumimoji="0" lang="en-GB" sz="1600" b="1" i="0" u="none" strike="noStrike" kern="1200" cap="none" spc="0" normalizeH="0" baseline="0" noProof="0" dirty="0">
                <a:ln>
                  <a:noFill/>
                </a:ln>
                <a:solidFill>
                  <a:srgbClr val="00B2A9"/>
                </a:solidFill>
                <a:effectLst/>
                <a:uLnTx/>
                <a:uFillTx/>
                <a:latin typeface="Arial" panose="020B0604020202020204"/>
                <a:ea typeface="+mn-ea"/>
                <a:cs typeface="+mn-cs"/>
              </a:rPr>
              <a:t>Prerequisite training:</a:t>
            </a:r>
          </a:p>
          <a:p>
            <a:pPr marL="179946" marR="0" lvl="2" indent="-179946"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Finance Fundamentals Overview</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Finance Fundamentals</a:t>
            </a:r>
            <a:endParaRPr kumimoji="0" lang="en-GB" sz="1200" b="0" i="0" u="none" strike="noStrike" kern="1200" cap="none" spc="0" normalizeH="0" baseline="0" noProof="0" dirty="0">
              <a:ln>
                <a:noFill/>
              </a:ln>
              <a:solidFill>
                <a:srgbClr val="000000"/>
              </a:solidFill>
              <a:effectLst/>
              <a:uLnTx/>
              <a:uFillTx/>
              <a:latin typeface="Arial" charset="0"/>
              <a:ea typeface="+mn-ea"/>
              <a:cs typeface="Arial" charset="0"/>
            </a:endParaRPr>
          </a:p>
          <a:p>
            <a:pPr marL="0" marR="0" lvl="2" indent="0" algn="l" defTabSz="914400" rtl="0" eaLnBrk="1" fontAlgn="auto" latinLnBrk="0" hangingPunct="1">
              <a:lnSpc>
                <a:spcPct val="100000"/>
              </a:lnSpc>
              <a:spcBef>
                <a:spcPts val="600"/>
              </a:spcBef>
              <a:spcAft>
                <a:spcPts val="0"/>
              </a:spcAft>
              <a:buClrTx/>
              <a:buSzTx/>
              <a:buFontTx/>
              <a:buNone/>
              <a:tabLst/>
              <a:defRPr/>
            </a:pPr>
            <a:r>
              <a:rPr kumimoji="0" lang="en-GB" sz="1600" b="1" i="0" u="none" strike="noStrike" kern="1200" cap="none" spc="0" normalizeH="0" baseline="0" noProof="0" dirty="0">
                <a:ln>
                  <a:noFill/>
                </a:ln>
                <a:solidFill>
                  <a:srgbClr val="00B2A9"/>
                </a:solidFill>
                <a:effectLst/>
                <a:uLnTx/>
                <a:uFillTx/>
                <a:latin typeface="Arial" panose="020B0604020202020204"/>
                <a:ea typeface="+mn-ea"/>
                <a:cs typeface="+mn-cs"/>
              </a:rPr>
              <a:t>Related training:</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Chart of Accounts (CoA)</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CO Cost Man. – CC and Allocations</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CO Controlling WBS Elements &amp; Projects – OPEX</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CO Controlling WBS Elements &amp; Projects – ABC </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PC - Product Costing </a:t>
            </a:r>
          </a:p>
          <a:p>
            <a:pPr marL="179946" marR="0" lvl="2" indent="-179946"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Arial" panose="020B0604020202020204"/>
                <a:ea typeface="+mn-ea"/>
                <a:cs typeface="+mn-cs"/>
              </a:rPr>
              <a:t>R2R Guidelines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srgbClr val="000000"/>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446603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432461" y="-648"/>
            <a:ext cx="8759952" cy="6858000"/>
          </a:xfrm>
          <a:prstGeom prst="rect">
            <a:avLst/>
          </a:prstGeom>
        </p:spPr>
      </p:pic>
      <p:sp>
        <p:nvSpPr>
          <p:cNvPr id="13" name="Rectangle 12"/>
          <p:cNvSpPr/>
          <p:nvPr/>
        </p:nvSpPr>
        <p:spPr>
          <a:xfrm>
            <a:off x="3438474" y="648"/>
            <a:ext cx="8759126" cy="6857352"/>
          </a:xfrm>
          <a:prstGeom prst="rect">
            <a:avLst/>
          </a:prstGeom>
          <a:gradFill flip="none" rotWithShape="1">
            <a:gsLst>
              <a:gs pos="0">
                <a:schemeClr val="accent6">
                  <a:lumMod val="75000"/>
                  <a:alpha val="80000"/>
                </a:schemeClr>
              </a:gs>
              <a:gs pos="100000">
                <a:schemeClr val="accent3">
                  <a:alpha val="8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23" name="Picture 22"/>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0901" y="0"/>
            <a:ext cx="3343037" cy="6858001"/>
          </a:xfrm>
          <a:prstGeom prst="rect">
            <a:avLst/>
          </a:prstGeom>
        </p:spPr>
      </p:pic>
      <p:sp>
        <p:nvSpPr>
          <p:cNvPr id="24" name="TextBox 23"/>
          <p:cNvSpPr txBox="1"/>
          <p:nvPr/>
        </p:nvSpPr>
        <p:spPr>
          <a:xfrm>
            <a:off x="130397" y="2139775"/>
            <a:ext cx="2989658" cy="1941342"/>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srgbClr val="FFFFFF"/>
                </a:solidFill>
                <a:effectLst/>
                <a:uLnTx/>
                <a:uFillTx/>
                <a:latin typeface="Arial" charset="0"/>
                <a:ea typeface="Arial" charset="0"/>
                <a:cs typeface="Arial" charset="0"/>
              </a:rPr>
              <a:t>S4F-ERP</a:t>
            </a:r>
          </a:p>
        </p:txBody>
      </p:sp>
      <p:sp>
        <p:nvSpPr>
          <p:cNvPr id="25" name="Rectangle 24"/>
          <p:cNvSpPr/>
          <p:nvPr/>
        </p:nvSpPr>
        <p:spPr>
          <a:xfrm>
            <a:off x="1050031"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3140"/>
              </a:solidFill>
              <a:effectLst/>
              <a:uLnTx/>
              <a:uFillTx/>
              <a:latin typeface="Arial" panose="020B0604020202020204"/>
              <a:ea typeface="+mn-ea"/>
              <a:cs typeface="+mn-cs"/>
            </a:endParaRPr>
          </a:p>
        </p:txBody>
      </p:sp>
      <p:sp>
        <p:nvSpPr>
          <p:cNvPr id="26" name="Rectangle 25"/>
          <p:cNvSpPr/>
          <p:nvPr/>
        </p:nvSpPr>
        <p:spPr>
          <a:xfrm>
            <a:off x="1050031"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Date Placeholder 1"/>
          <p:cNvSpPr txBox="1">
            <a:spLocks/>
          </p:cNvSpPr>
          <p:nvPr/>
        </p:nvSpPr>
        <p:spPr>
          <a:xfrm>
            <a:off x="-10901"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a:ea typeface="Roboto" charset="0"/>
                <a:cs typeface="Roboto" charset="0"/>
              </a:rPr>
              <a:t>Simplify, Standardize, Accelerate </a:t>
            </a:r>
          </a:p>
        </p:txBody>
      </p:sp>
      <p:pic>
        <p:nvPicPr>
          <p:cNvPr id="28" name="Picture 27">
            <a:extLst>
              <a:ext uri="{FF2B5EF4-FFF2-40B4-BE49-F238E27FC236}">
                <a16:creationId xmlns:a16="http://schemas.microsoft.com/office/drawing/2014/main" id="{DD2F868E-F9E5-4FD0-AA54-A0611266E9A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04789" y="365125"/>
            <a:ext cx="576887" cy="431811"/>
          </a:xfrm>
          <a:prstGeom prst="rect">
            <a:avLst/>
          </a:prstGeom>
        </p:spPr>
      </p:pic>
      <p:sp>
        <p:nvSpPr>
          <p:cNvPr id="29" name="TextBox 28"/>
          <p:cNvSpPr txBox="1"/>
          <p:nvPr/>
        </p:nvSpPr>
        <p:spPr>
          <a:xfrm>
            <a:off x="378394" y="3213617"/>
            <a:ext cx="2493664" cy="704538"/>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00" normalizeH="0" baseline="0" noProof="0">
                <a:ln>
                  <a:noFill/>
                </a:ln>
                <a:solidFill>
                  <a:srgbClr val="FFFFFF"/>
                </a:solidFill>
                <a:effectLst/>
                <a:uLnTx/>
                <a:uFillTx/>
                <a:latin typeface="Arial" charset="0"/>
                <a:ea typeface="Arial" charset="0"/>
                <a:cs typeface="Arial" charset="0"/>
              </a:rPr>
              <a:t>PROJECT</a:t>
            </a: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TextBox 4"/>
          <p:cNvSpPr txBox="1"/>
          <p:nvPr/>
        </p:nvSpPr>
        <p:spPr>
          <a:xfrm>
            <a:off x="0" y="4657460"/>
            <a:ext cx="3332136" cy="654135"/>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598" b="1" i="0" u="none" strike="noStrike" kern="1200" cap="none" spc="0" normalizeH="0" baseline="0" noProof="0">
                <a:ln>
                  <a:noFill/>
                </a:ln>
                <a:solidFill>
                  <a:srgbClr val="FFFFFF"/>
                </a:solidFill>
                <a:effectLst/>
                <a:uLnTx/>
                <a:uFillTx/>
                <a:latin typeface="Arial" charset="0"/>
                <a:ea typeface="Arial" charset="0"/>
                <a:cs typeface="Arial" charset="0"/>
              </a:rPr>
              <a:t>CONTENT</a:t>
            </a:r>
          </a:p>
        </p:txBody>
      </p:sp>
      <p:sp>
        <p:nvSpPr>
          <p:cNvPr id="42" name="Title 33">
            <a:extLst>
              <a:ext uri="{FF2B5EF4-FFF2-40B4-BE49-F238E27FC236}">
                <a16:creationId xmlns:a16="http://schemas.microsoft.com/office/drawing/2014/main" id="{D7E4679B-D792-42BC-B7A7-92385EE86911}"/>
              </a:ext>
            </a:extLst>
          </p:cNvPr>
          <p:cNvSpPr txBox="1">
            <a:spLocks/>
          </p:cNvSpPr>
          <p:nvPr/>
        </p:nvSpPr>
        <p:spPr>
          <a:xfrm>
            <a:off x="4377680" y="367597"/>
            <a:ext cx="6756400" cy="1073112"/>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1000"/>
              </a:spcAft>
              <a:buClrTx/>
              <a:buSzTx/>
              <a:buFontTx/>
              <a:buNone/>
              <a:tabLst/>
              <a:defRPr/>
            </a:pPr>
            <a:r>
              <a:rPr kumimoji="0" lang="en-GB" sz="3200" b="1" i="0" u="none" strike="noStrike" kern="1200" cap="none" spc="0" normalizeH="0" baseline="0" noProof="0">
                <a:ln>
                  <a:noFill/>
                </a:ln>
                <a:solidFill>
                  <a:srgbClr val="FFFFFF"/>
                </a:solidFill>
                <a:effectLst/>
                <a:uLnTx/>
                <a:uFillTx/>
                <a:latin typeface="Arial" panose="020B0604020202020204"/>
                <a:ea typeface="+mj-ea"/>
                <a:cs typeface="+mj-cs"/>
              </a:rPr>
              <a:t>Controlling (CO): Profitability Analysis</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3200" b="0" i="0" u="none" strike="noStrike" kern="1200" cap="none" spc="0" normalizeH="0" baseline="0" noProof="0">
                <a:ln>
                  <a:noFill/>
                </a:ln>
                <a:solidFill>
                  <a:srgbClr val="FFFFFF"/>
                </a:solidFill>
                <a:effectLst/>
                <a:uLnTx/>
                <a:uFillTx/>
                <a:latin typeface="Arial" panose="020B0604020202020204"/>
                <a:ea typeface="+mj-ea"/>
                <a:cs typeface="+mj-cs"/>
              </a:rPr>
              <a:t>Structure of the course</a:t>
            </a:r>
            <a:endParaRPr kumimoji="0" lang="en-GB" sz="3200" b="1" i="0" u="none" strike="noStrike" kern="1200" cap="none" spc="0" normalizeH="0" baseline="0" noProof="0">
              <a:ln>
                <a:noFill/>
              </a:ln>
              <a:solidFill>
                <a:srgbClr val="FFFFFF"/>
              </a:solidFill>
              <a:effectLst/>
              <a:uLnTx/>
              <a:uFillTx/>
              <a:latin typeface="Arial" panose="020B0604020202020204"/>
              <a:ea typeface="+mj-ea"/>
              <a:cs typeface="+mj-cs"/>
            </a:endParaRPr>
          </a:p>
        </p:txBody>
      </p:sp>
      <p:grpSp>
        <p:nvGrpSpPr>
          <p:cNvPr id="14" name="Group 13">
            <a:extLst>
              <a:ext uri="{FF2B5EF4-FFF2-40B4-BE49-F238E27FC236}">
                <a16:creationId xmlns:a16="http://schemas.microsoft.com/office/drawing/2014/main" id="{408C5CD1-64C9-483E-B780-62968E850E83}"/>
              </a:ext>
            </a:extLst>
          </p:cNvPr>
          <p:cNvGrpSpPr/>
          <p:nvPr/>
        </p:nvGrpSpPr>
        <p:grpSpPr>
          <a:xfrm>
            <a:off x="4428422" y="2334368"/>
            <a:ext cx="7806123" cy="3512903"/>
            <a:chOff x="4428422" y="2334368"/>
            <a:chExt cx="7806123" cy="3512903"/>
          </a:xfrm>
        </p:grpSpPr>
        <p:cxnSp>
          <p:nvCxnSpPr>
            <p:cNvPr id="39" name="Straight Connector 38">
              <a:extLst>
                <a:ext uri="{FF2B5EF4-FFF2-40B4-BE49-F238E27FC236}">
                  <a16:creationId xmlns:a16="http://schemas.microsoft.com/office/drawing/2014/main" id="{E83EBFC7-91CD-49D7-85B2-BD45AEEBCEFC}"/>
                </a:ext>
              </a:extLst>
            </p:cNvPr>
            <p:cNvCxnSpPr>
              <a:cxnSpLocks/>
            </p:cNvCxnSpPr>
            <p:nvPr/>
          </p:nvCxnSpPr>
          <p:spPr>
            <a:xfrm>
              <a:off x="6781086" y="3324312"/>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28DFABE-326E-41FC-8E7B-118C94A7C22E}"/>
                </a:ext>
              </a:extLst>
            </p:cNvPr>
            <p:cNvCxnSpPr>
              <a:cxnSpLocks/>
            </p:cNvCxnSpPr>
            <p:nvPr/>
          </p:nvCxnSpPr>
          <p:spPr>
            <a:xfrm>
              <a:off x="6795663" y="4793898"/>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E8FC1F7D-112B-4BD5-B316-E82EDA34ED5F}"/>
                </a:ext>
              </a:extLst>
            </p:cNvPr>
            <p:cNvGrpSpPr/>
            <p:nvPr/>
          </p:nvGrpSpPr>
          <p:grpSpPr>
            <a:xfrm>
              <a:off x="4428422" y="2334368"/>
              <a:ext cx="7806123" cy="3512903"/>
              <a:chOff x="4428422" y="2334368"/>
              <a:chExt cx="7806123" cy="3512903"/>
            </a:xfrm>
          </p:grpSpPr>
          <p:grpSp>
            <p:nvGrpSpPr>
              <p:cNvPr id="58" name="Group 57">
                <a:extLst>
                  <a:ext uri="{FF2B5EF4-FFF2-40B4-BE49-F238E27FC236}">
                    <a16:creationId xmlns:a16="http://schemas.microsoft.com/office/drawing/2014/main" id="{E99BAFC3-3632-49C9-B605-351E6FCD75B8}"/>
                  </a:ext>
                </a:extLst>
              </p:cNvPr>
              <p:cNvGrpSpPr/>
              <p:nvPr/>
            </p:nvGrpSpPr>
            <p:grpSpPr>
              <a:xfrm>
                <a:off x="4428422" y="2334368"/>
                <a:ext cx="7796979" cy="3512903"/>
                <a:chOff x="4371016" y="2260587"/>
                <a:chExt cx="7796979" cy="3512903"/>
              </a:xfrm>
            </p:grpSpPr>
            <p:cxnSp>
              <p:nvCxnSpPr>
                <p:cNvPr id="38" name="Elbow Connector 37"/>
                <p:cNvCxnSpPr>
                  <a:cxnSpLocks/>
                </p:cNvCxnSpPr>
                <p:nvPr/>
              </p:nvCxnSpPr>
              <p:spPr>
                <a:xfrm>
                  <a:off x="6204970" y="3996147"/>
                  <a:ext cx="1096000" cy="14997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F474994F-6A2A-45A4-BECA-6FF7401C0362}"/>
                    </a:ext>
                  </a:extLst>
                </p:cNvPr>
                <p:cNvGrpSpPr/>
                <p:nvPr/>
              </p:nvGrpSpPr>
              <p:grpSpPr>
                <a:xfrm>
                  <a:off x="4371016" y="2260587"/>
                  <a:ext cx="7796979" cy="3512903"/>
                  <a:chOff x="4371016" y="2260587"/>
                  <a:chExt cx="7796979" cy="3512903"/>
                </a:xfrm>
              </p:grpSpPr>
              <p:cxnSp>
                <p:nvCxnSpPr>
                  <p:cNvPr id="32" name="Elbow Connector 31"/>
                  <p:cNvCxnSpPr>
                    <a:cxnSpLocks/>
                  </p:cNvCxnSpPr>
                  <p:nvPr/>
                </p:nvCxnSpPr>
                <p:spPr>
                  <a:xfrm flipV="1">
                    <a:off x="6194084" y="2527165"/>
                    <a:ext cx="1121463" cy="1465481"/>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795C4EFD-0277-4128-940A-CC9F0BC3167A}"/>
                      </a:ext>
                    </a:extLst>
                  </p:cNvPr>
                  <p:cNvGrpSpPr/>
                  <p:nvPr/>
                </p:nvGrpSpPr>
                <p:grpSpPr>
                  <a:xfrm>
                    <a:off x="4371016" y="2260587"/>
                    <a:ext cx="7796979" cy="3512903"/>
                    <a:chOff x="4371016" y="2260587"/>
                    <a:chExt cx="7796979" cy="3512903"/>
                  </a:xfrm>
                </p:grpSpPr>
                <p:sp>
                  <p:nvSpPr>
                    <p:cNvPr id="20" name="TextBox 19"/>
                    <p:cNvSpPr txBox="1"/>
                    <p:nvPr/>
                  </p:nvSpPr>
                  <p:spPr>
                    <a:xfrm>
                      <a:off x="7532636" y="226058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a:ea typeface="+mn-ea"/>
                          <a:cs typeface="+mn-cs"/>
                        </a:rPr>
                        <a:t>Profitability Analysis: Intro S/4 </a:t>
                      </a:r>
                    </a:p>
                  </p:txBody>
                </p:sp>
                <p:grpSp>
                  <p:nvGrpSpPr>
                    <p:cNvPr id="30" name="Group 29">
                      <a:extLst>
                        <a:ext uri="{FF2B5EF4-FFF2-40B4-BE49-F238E27FC236}">
                          <a16:creationId xmlns:a16="http://schemas.microsoft.com/office/drawing/2014/main" id="{7B817CF0-6A37-4AA4-BEFB-51ECBF852A26}"/>
                        </a:ext>
                      </a:extLst>
                    </p:cNvPr>
                    <p:cNvGrpSpPr/>
                    <p:nvPr/>
                  </p:nvGrpSpPr>
                  <p:grpSpPr>
                    <a:xfrm>
                      <a:off x="4371016" y="3031011"/>
                      <a:ext cx="1867560" cy="1901181"/>
                      <a:chOff x="575788" y="4361808"/>
                      <a:chExt cx="624164" cy="624164"/>
                    </a:xfrm>
                  </p:grpSpPr>
                  <p:grpSp>
                    <p:nvGrpSpPr>
                      <p:cNvPr id="31" name="Group 30">
                        <a:extLst>
                          <a:ext uri="{FF2B5EF4-FFF2-40B4-BE49-F238E27FC236}">
                            <a16:creationId xmlns:a16="http://schemas.microsoft.com/office/drawing/2014/main" id="{0BEB3805-8169-4C00-B124-68F0FA9C3028}"/>
                          </a:ext>
                        </a:extLst>
                      </p:cNvPr>
                      <p:cNvGrpSpPr/>
                      <p:nvPr/>
                    </p:nvGrpSpPr>
                    <p:grpSpPr>
                      <a:xfrm>
                        <a:off x="575788" y="4361808"/>
                        <a:ext cx="624164" cy="624164"/>
                        <a:chOff x="4492144" y="190843"/>
                        <a:chExt cx="855656" cy="855656"/>
                      </a:xfrm>
                    </p:grpSpPr>
                    <p:sp>
                      <p:nvSpPr>
                        <p:cNvPr id="34" name="Oval 33">
                          <a:extLst>
                            <a:ext uri="{FF2B5EF4-FFF2-40B4-BE49-F238E27FC236}">
                              <a16:creationId xmlns:a16="http://schemas.microsoft.com/office/drawing/2014/main" id="{63E17919-0FF8-424B-BE64-2A6E196CDF4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5" name="Oval 34">
                          <a:extLst>
                            <a:ext uri="{FF2B5EF4-FFF2-40B4-BE49-F238E27FC236}">
                              <a16:creationId xmlns:a16="http://schemas.microsoft.com/office/drawing/2014/main" id="{232F5AA0-DD10-45C0-9A31-A93ED20EE13D}"/>
                            </a:ext>
                          </a:extLst>
                        </p:cNvPr>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33" name="Picture 32">
                        <a:extLst>
                          <a:ext uri="{FF2B5EF4-FFF2-40B4-BE49-F238E27FC236}">
                            <a16:creationId xmlns:a16="http://schemas.microsoft.com/office/drawing/2014/main" id="{9C967ACB-6DE3-4A3D-BE7E-8D1EBEF88634}"/>
                          </a:ext>
                        </a:extLst>
                      </p:cNvPr>
                      <p:cNvPicPr>
                        <a:picLocks noChangeAspect="1"/>
                      </p:cNvPicPr>
                      <p:nvPr/>
                    </p:nvPicPr>
                    <p:blipFill>
                      <a:blip r:embed="rId5"/>
                      <a:stretch>
                        <a:fillRect/>
                      </a:stretch>
                    </p:blipFill>
                    <p:spPr>
                      <a:xfrm>
                        <a:off x="718607" y="4514537"/>
                        <a:ext cx="328080" cy="318706"/>
                      </a:xfrm>
                      <a:prstGeom prst="rect">
                        <a:avLst/>
                      </a:prstGeom>
                    </p:spPr>
                  </p:pic>
                </p:grpSp>
                <p:sp>
                  <p:nvSpPr>
                    <p:cNvPr id="49" name="TextBox 48">
                      <a:extLst>
                        <a:ext uri="{FF2B5EF4-FFF2-40B4-BE49-F238E27FC236}">
                          <a16:creationId xmlns:a16="http://schemas.microsoft.com/office/drawing/2014/main" id="{013FD6C9-4091-41F9-9400-D46EA390ACE5}"/>
                        </a:ext>
                      </a:extLst>
                    </p:cNvPr>
                    <p:cNvSpPr txBox="1"/>
                    <p:nvPr/>
                  </p:nvSpPr>
                  <p:spPr>
                    <a:xfrm>
                      <a:off x="7558856" y="5218301"/>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a:ea typeface="+mn-ea"/>
                          <a:cs typeface="+mn-cs"/>
                        </a:rPr>
                        <a:t>Reporting Capabilities</a:t>
                      </a:r>
                      <a:endParaRPr kumimoji="0" lang="en-GB"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sp>
            <p:nvSpPr>
              <p:cNvPr id="41" name="TextBox 40">
                <a:extLst>
                  <a:ext uri="{FF2B5EF4-FFF2-40B4-BE49-F238E27FC236}">
                    <a16:creationId xmlns:a16="http://schemas.microsoft.com/office/drawing/2014/main" id="{19DDCCC1-5333-4344-89C8-66213FFA6AE8}"/>
                  </a:ext>
                </a:extLst>
              </p:cNvPr>
              <p:cNvSpPr txBox="1"/>
              <p:nvPr/>
            </p:nvSpPr>
            <p:spPr>
              <a:xfrm>
                <a:off x="7616262" y="4511768"/>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a:ea typeface="+mn-ea"/>
                    <a:cs typeface="+mn-cs"/>
                  </a:rPr>
                  <a:t>Market P&amp;L</a:t>
                </a:r>
                <a:endParaRPr kumimoji="0" lang="en-GB"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43" name="Straight Connector 42">
                <a:extLst>
                  <a:ext uri="{FF2B5EF4-FFF2-40B4-BE49-F238E27FC236}">
                    <a16:creationId xmlns:a16="http://schemas.microsoft.com/office/drawing/2014/main" id="{2B1CCB9F-79C6-484D-92D8-48820F2B2EBB}"/>
                  </a:ext>
                </a:extLst>
              </p:cNvPr>
              <p:cNvCxnSpPr>
                <a:cxnSpLocks/>
              </p:cNvCxnSpPr>
              <p:nvPr/>
            </p:nvCxnSpPr>
            <p:spPr>
              <a:xfrm>
                <a:off x="6810376" y="4066427"/>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6793EA5D-BE36-488D-960F-B8F8C9E3D11E}"/>
                  </a:ext>
                </a:extLst>
              </p:cNvPr>
              <p:cNvSpPr txBox="1"/>
              <p:nvPr/>
            </p:nvSpPr>
            <p:spPr>
              <a:xfrm>
                <a:off x="7590041" y="3107175"/>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a:ea typeface="+mn-ea"/>
                    <a:cs typeface="+mn-cs"/>
                  </a:rPr>
                  <a:t>Profit Center Reorganization</a:t>
                </a:r>
              </a:p>
            </p:txBody>
          </p:sp>
          <p:sp>
            <p:nvSpPr>
              <p:cNvPr id="45" name="TextBox 44">
                <a:extLst>
                  <a:ext uri="{FF2B5EF4-FFF2-40B4-BE49-F238E27FC236}">
                    <a16:creationId xmlns:a16="http://schemas.microsoft.com/office/drawing/2014/main" id="{308260AC-EC13-4708-BD24-D172C949755F}"/>
                  </a:ext>
                </a:extLst>
              </p:cNvPr>
              <p:cNvSpPr txBox="1"/>
              <p:nvPr/>
            </p:nvSpPr>
            <p:spPr>
              <a:xfrm>
                <a:off x="7599186" y="383682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a:ln>
                      <a:noFill/>
                    </a:ln>
                    <a:solidFill>
                      <a:srgbClr val="FFFFFF"/>
                    </a:solidFill>
                    <a:effectLst/>
                    <a:uLnTx/>
                    <a:uFillTx/>
                    <a:latin typeface="Arial" panose="020B0604020202020204"/>
                    <a:ea typeface="+mn-ea"/>
                    <a:cs typeface="+mn-cs"/>
                  </a:rPr>
                  <a:t>Standardization of Dimensions</a:t>
                </a:r>
              </a:p>
            </p:txBody>
          </p:sp>
        </p:grpSp>
      </p:grpSp>
    </p:spTree>
    <p:extLst>
      <p:ext uri="{BB962C8B-B14F-4D97-AF65-F5344CB8AC3E}">
        <p14:creationId xmlns:p14="http://schemas.microsoft.com/office/powerpoint/2010/main" val="3316835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901" y="0"/>
            <a:ext cx="3343037" cy="6858001"/>
          </a:xfrm>
          <a:prstGeom prst="rect">
            <a:avLst/>
          </a:prstGeom>
        </p:spPr>
      </p:pic>
      <p:sp>
        <p:nvSpPr>
          <p:cNvPr id="24" name="TextBox 23"/>
          <p:cNvSpPr txBox="1"/>
          <p:nvPr/>
        </p:nvSpPr>
        <p:spPr>
          <a:xfrm>
            <a:off x="130397" y="2139775"/>
            <a:ext cx="2989658" cy="1941342"/>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srgbClr val="FFFFFF"/>
                </a:solidFill>
                <a:effectLst/>
                <a:uLnTx/>
                <a:uFillTx/>
                <a:latin typeface="Arial" charset="0"/>
                <a:ea typeface="Arial" charset="0"/>
                <a:cs typeface="Arial" charset="0"/>
              </a:rPr>
              <a:t>S4F-ERP</a:t>
            </a:r>
          </a:p>
        </p:txBody>
      </p:sp>
      <p:sp>
        <p:nvSpPr>
          <p:cNvPr id="25" name="Rectangle 24"/>
          <p:cNvSpPr/>
          <p:nvPr/>
        </p:nvSpPr>
        <p:spPr>
          <a:xfrm>
            <a:off x="1050031"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1A3140"/>
              </a:solidFill>
              <a:effectLst/>
              <a:uLnTx/>
              <a:uFillTx/>
              <a:latin typeface="Arial" panose="020B0604020202020204"/>
              <a:ea typeface="+mn-ea"/>
              <a:cs typeface="+mn-cs"/>
            </a:endParaRPr>
          </a:p>
        </p:txBody>
      </p:sp>
      <p:sp>
        <p:nvSpPr>
          <p:cNvPr id="26" name="Rectangle 25"/>
          <p:cNvSpPr/>
          <p:nvPr/>
        </p:nvSpPr>
        <p:spPr>
          <a:xfrm>
            <a:off x="1050031"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Date Placeholder 1"/>
          <p:cNvSpPr txBox="1">
            <a:spLocks/>
          </p:cNvSpPr>
          <p:nvPr/>
        </p:nvSpPr>
        <p:spPr>
          <a:xfrm>
            <a:off x="-10901"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a:ea typeface="Roboto" charset="0"/>
                <a:cs typeface="Roboto" charset="0"/>
              </a:rPr>
              <a:t>Simplify, Standardize, Accelerate </a:t>
            </a:r>
          </a:p>
        </p:txBody>
      </p:sp>
      <p:pic>
        <p:nvPicPr>
          <p:cNvPr id="28" name="Picture 27">
            <a:extLst>
              <a:ext uri="{FF2B5EF4-FFF2-40B4-BE49-F238E27FC236}">
                <a16:creationId xmlns:a16="http://schemas.microsoft.com/office/drawing/2014/main" id="{DD2F868E-F9E5-4FD0-AA54-A0611266E9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04789" y="365125"/>
            <a:ext cx="576887" cy="431811"/>
          </a:xfrm>
          <a:prstGeom prst="rect">
            <a:avLst/>
          </a:prstGeom>
        </p:spPr>
      </p:pic>
      <p:sp>
        <p:nvSpPr>
          <p:cNvPr id="29" name="TextBox 28"/>
          <p:cNvSpPr txBox="1"/>
          <p:nvPr/>
        </p:nvSpPr>
        <p:spPr>
          <a:xfrm>
            <a:off x="378394" y="3213617"/>
            <a:ext cx="2493664" cy="704538"/>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00" normalizeH="0" baseline="0" noProof="0">
                <a:ln>
                  <a:noFill/>
                </a:ln>
                <a:solidFill>
                  <a:srgbClr val="FFFFFF"/>
                </a:solidFill>
                <a:effectLst/>
                <a:uLnTx/>
                <a:uFillTx/>
                <a:latin typeface="Arial" charset="0"/>
                <a:ea typeface="Arial" charset="0"/>
                <a:cs typeface="Arial" charset="0"/>
              </a:rPr>
              <a:t>PROJECT</a:t>
            </a: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FFFF"/>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TextBox 4"/>
          <p:cNvSpPr txBox="1"/>
          <p:nvPr/>
        </p:nvSpPr>
        <p:spPr>
          <a:xfrm>
            <a:off x="0" y="4657460"/>
            <a:ext cx="3332136" cy="654135"/>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598" b="1" i="0" u="none" strike="noStrike" kern="1200" cap="none" spc="0" normalizeH="0" baseline="0" noProof="0">
                <a:ln>
                  <a:noFill/>
                </a:ln>
                <a:solidFill>
                  <a:srgbClr val="FFFFFF"/>
                </a:solidFill>
                <a:effectLst/>
                <a:uLnTx/>
                <a:uFillTx/>
                <a:latin typeface="Arial" charset="0"/>
                <a:ea typeface="Arial" charset="0"/>
                <a:cs typeface="Arial" charset="0"/>
              </a:rPr>
              <a:t>CONTENT</a:t>
            </a:r>
          </a:p>
        </p:txBody>
      </p:sp>
      <p:graphicFrame>
        <p:nvGraphicFramePr>
          <p:cNvPr id="46" name="Content Placeholder 1">
            <a:extLst>
              <a:ext uri="{FF2B5EF4-FFF2-40B4-BE49-F238E27FC236}">
                <a16:creationId xmlns:a16="http://schemas.microsoft.com/office/drawing/2014/main" id="{90FF8638-6A0E-400D-A989-4BCE79650C4E}"/>
              </a:ext>
            </a:extLst>
          </p:cNvPr>
          <p:cNvGraphicFramePr>
            <a:graphicFrameLocks/>
          </p:cNvGraphicFramePr>
          <p:nvPr/>
        </p:nvGraphicFramePr>
        <p:xfrm>
          <a:off x="3479797" y="276241"/>
          <a:ext cx="8196264" cy="6140358"/>
        </p:xfrm>
        <a:graphic>
          <a:graphicData uri="http://schemas.openxmlformats.org/drawingml/2006/table">
            <a:tbl>
              <a:tblPr firstRow="1">
                <a:tableStyleId>{F2DE63D5-997A-4646-A377-4702673A728D}</a:tableStyleId>
              </a:tblPr>
              <a:tblGrid>
                <a:gridCol w="7021948">
                  <a:extLst>
                    <a:ext uri="{9D8B030D-6E8A-4147-A177-3AD203B41FA5}">
                      <a16:colId xmlns:a16="http://schemas.microsoft.com/office/drawing/2014/main" val="2332326454"/>
                    </a:ext>
                  </a:extLst>
                </a:gridCol>
                <a:gridCol w="1174316">
                  <a:extLst>
                    <a:ext uri="{9D8B030D-6E8A-4147-A177-3AD203B41FA5}">
                      <a16:colId xmlns:a16="http://schemas.microsoft.com/office/drawing/2014/main" val="3205819883"/>
                    </a:ext>
                  </a:extLst>
                </a:gridCol>
              </a:tblGrid>
              <a:tr h="292557">
                <a:tc>
                  <a:txBody>
                    <a:bodyPr/>
                    <a:lstStyle/>
                    <a:p>
                      <a:r>
                        <a:rPr lang="en-GB" sz="1600" dirty="0">
                          <a:latin typeface="Arial Black" panose="020B0A04020102020204" pitchFamily="34" charset="0"/>
                        </a:rPr>
                        <a:t>Profitability Analysis </a:t>
                      </a:r>
                      <a:r>
                        <a:rPr lang="en-GB" sz="1600" dirty="0"/>
                        <a:t>Chapter/Topic</a:t>
                      </a:r>
                      <a:endParaRPr lang="en-GB" sz="1600" b="1" dirty="0"/>
                    </a:p>
                  </a:txBody>
                  <a:tcPr>
                    <a:lnL w="12700" cap="flat" cmpd="sng" algn="ctr">
                      <a:solidFill>
                        <a:schemeClr val="tx2">
                          <a:lumMod val="90000"/>
                          <a:lumOff val="10000"/>
                        </a:schemeClr>
                      </a:solidFill>
                      <a:prstDash val="solid"/>
                      <a:round/>
                      <a:headEnd type="none" w="med" len="med"/>
                      <a:tailEnd type="none" w="med" len="med"/>
                    </a:lnL>
                    <a:lnT w="12700" cap="flat" cmpd="sng" algn="ctr">
                      <a:solidFill>
                        <a:schemeClr val="tx2">
                          <a:lumMod val="90000"/>
                          <a:lumOff val="10000"/>
                        </a:schemeClr>
                      </a:solidFill>
                      <a:prstDash val="solid"/>
                      <a:round/>
                      <a:headEnd type="none" w="med" len="med"/>
                      <a:tailEnd type="none" w="med" len="med"/>
                    </a:lnT>
                    <a:solidFill>
                      <a:schemeClr val="tx2">
                        <a:lumMod val="75000"/>
                        <a:lumOff val="25000"/>
                      </a:schemeClr>
                    </a:solidFill>
                  </a:tcPr>
                </a:tc>
                <a:tc>
                  <a:txBody>
                    <a:bodyPr/>
                    <a:lstStyle/>
                    <a:p>
                      <a:r>
                        <a:rPr lang="en-GB" sz="1600" dirty="0"/>
                        <a:t>Page No.</a:t>
                      </a:r>
                      <a:endParaRPr lang="en-GB" sz="1600" b="1" i="1" dirty="0"/>
                    </a:p>
                  </a:txBody>
                  <a:tcPr>
                    <a:lnR w="12700" cap="flat" cmpd="sng" algn="ctr">
                      <a:solidFill>
                        <a:schemeClr val="tx2">
                          <a:lumMod val="90000"/>
                          <a:lumOff val="10000"/>
                        </a:schemeClr>
                      </a:solidFill>
                      <a:prstDash val="solid"/>
                      <a:round/>
                      <a:headEnd type="none" w="med" len="med"/>
                      <a:tailEnd type="none" w="med" len="med"/>
                    </a:lnR>
                    <a:lnT w="12700" cap="flat" cmpd="sng" algn="ctr">
                      <a:solidFill>
                        <a:schemeClr val="tx2">
                          <a:lumMod val="90000"/>
                          <a:lumOff val="10000"/>
                        </a:schemeClr>
                      </a:solidFill>
                      <a:prstDash val="solid"/>
                      <a:round/>
                      <a:headEnd type="none" w="med" len="med"/>
                      <a:tailEnd type="none" w="med" len="med"/>
                    </a:lnT>
                    <a:solidFill>
                      <a:schemeClr val="tx2">
                        <a:lumMod val="75000"/>
                        <a:lumOff val="25000"/>
                      </a:schemeClr>
                    </a:solidFill>
                  </a:tcPr>
                </a:tc>
                <a:extLst>
                  <a:ext uri="{0D108BD9-81ED-4DB2-BD59-A6C34878D82A}">
                    <a16:rowId xmlns:a16="http://schemas.microsoft.com/office/drawing/2014/main" val="1968182685"/>
                  </a:ext>
                </a:extLst>
              </a:tr>
              <a:tr h="330921">
                <a:tc>
                  <a:txBody>
                    <a:bodyPr/>
                    <a:lstStyle/>
                    <a:p>
                      <a:r>
                        <a:rPr lang="en-GB" sz="1400" b="1" i="1" dirty="0"/>
                        <a:t>Profitability Analysis At A Glance    -</a:t>
                      </a:r>
                      <a:r>
                        <a:rPr lang="en-GB" sz="1400" b="1" i="1" spc="300" dirty="0"/>
                        <a:t>---------------------------------------</a:t>
                      </a:r>
                    </a:p>
                  </a:txBody>
                  <a:tcPr>
                    <a:lnL w="12700" cap="flat" cmpd="sng" algn="ctr">
                      <a:solidFill>
                        <a:schemeClr val="tx2">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ctr"/>
                      <a:r>
                        <a:rPr lang="en-GB" sz="1200" b="1" i="1" dirty="0"/>
                        <a:t>6</a:t>
                      </a:r>
                    </a:p>
                  </a:txBody>
                  <a:tcPr>
                    <a:lnL w="12700" cap="flat" cmpd="sng" algn="ctr">
                      <a:solidFill>
                        <a:schemeClr val="bg1"/>
                      </a:solidFill>
                      <a:prstDash val="solid"/>
                      <a:round/>
                      <a:headEnd type="none" w="med" len="med"/>
                      <a:tailEnd type="none" w="med" len="med"/>
                    </a:lnL>
                    <a:lnR w="12700" cap="flat" cmpd="sng" algn="ctr">
                      <a:solidFill>
                        <a:schemeClr val="tx2">
                          <a:lumMod val="90000"/>
                          <a:lumOff val="10000"/>
                        </a:schemeClr>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426810143"/>
                  </a:ext>
                </a:extLst>
              </a:tr>
              <a:tr h="292557">
                <a:tc>
                  <a:txBody>
                    <a:bodyPr/>
                    <a:lstStyle/>
                    <a:p>
                      <a:r>
                        <a:rPr lang="en-GB" sz="1400" b="1" i="1" dirty="0"/>
                        <a:t>Business Rationale for Changes     </a:t>
                      </a:r>
                      <a:r>
                        <a:rPr lang="en-GB" sz="1400" b="1" i="1" spc="300" dirty="0"/>
                        <a:t>----------------------------------------</a:t>
                      </a:r>
                    </a:p>
                  </a:txBody>
                  <a:tcPr>
                    <a:lnL w="12700" cap="flat" cmpd="sng" algn="ctr">
                      <a:solidFill>
                        <a:schemeClr val="tx2">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b="1" i="1" dirty="0"/>
                        <a:t>23</a:t>
                      </a:r>
                    </a:p>
                  </a:txBody>
                  <a:tcPr>
                    <a:lnL w="12700" cap="flat" cmpd="sng" algn="ctr">
                      <a:solidFill>
                        <a:schemeClr val="bg1"/>
                      </a:solidFill>
                      <a:prstDash val="solid"/>
                      <a:round/>
                      <a:headEnd type="none" w="med" len="med"/>
                      <a:tailEnd type="none" w="med" len="med"/>
                    </a:lnL>
                    <a:lnR w="12700" cap="flat" cmpd="sng" algn="ctr">
                      <a:solidFill>
                        <a:schemeClr val="tx2">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02873158"/>
                  </a:ext>
                </a:extLst>
              </a:tr>
              <a:tr h="292557">
                <a:tc>
                  <a:txBody>
                    <a:bodyPr/>
                    <a:lstStyle/>
                    <a:p>
                      <a:r>
                        <a:rPr lang="en-GB" sz="1400" b="1" i="1" kern="1200" dirty="0">
                          <a:solidFill>
                            <a:schemeClr val="tx1"/>
                          </a:solidFill>
                          <a:latin typeface="+mn-lt"/>
                          <a:ea typeface="+mn-ea"/>
                          <a:cs typeface="+mn-cs"/>
                        </a:rPr>
                        <a:t>The 3 Building Blocks                      </a:t>
                      </a:r>
                      <a:r>
                        <a:rPr lang="en-GB" sz="1400" b="1" i="1" spc="300" dirty="0"/>
                        <a:t>----------------------------------------</a:t>
                      </a:r>
                    </a:p>
                  </a:txBody>
                  <a:tcPr>
                    <a:lnL w="12700" cap="flat" cmpd="sng" algn="ctr">
                      <a:solidFill>
                        <a:schemeClr val="tx2">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b="1" i="1" dirty="0"/>
                        <a:t>25</a:t>
                      </a:r>
                    </a:p>
                  </a:txBody>
                  <a:tcPr>
                    <a:lnL w="12700" cap="flat" cmpd="sng" algn="ctr">
                      <a:solidFill>
                        <a:schemeClr val="bg1"/>
                      </a:solidFill>
                      <a:prstDash val="solid"/>
                      <a:round/>
                      <a:headEnd type="none" w="med" len="med"/>
                      <a:tailEnd type="none" w="med" len="med"/>
                    </a:lnL>
                    <a:lnR w="12700" cap="flat" cmpd="sng" algn="ctr">
                      <a:solidFill>
                        <a:schemeClr val="tx2">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45981504"/>
                  </a:ext>
                </a:extLst>
              </a:tr>
              <a:tr h="292557">
                <a:tc>
                  <a:txBody>
                    <a:bodyPr/>
                    <a:lstStyle/>
                    <a:p>
                      <a:r>
                        <a:rPr lang="en-GB" sz="1400" b="1" i="1" kern="1200" dirty="0">
                          <a:solidFill>
                            <a:schemeClr val="tx1"/>
                          </a:solidFill>
                          <a:latin typeface="+mn-lt"/>
                          <a:ea typeface="+mn-ea"/>
                          <a:cs typeface="+mn-cs"/>
                        </a:rPr>
                        <a:t>Profit </a:t>
                      </a:r>
                      <a:r>
                        <a:rPr lang="en-GB" sz="1400" b="1" i="1" kern="1200" dirty="0" err="1">
                          <a:solidFill>
                            <a:schemeClr val="tx1"/>
                          </a:solidFill>
                          <a:latin typeface="+mn-lt"/>
                          <a:ea typeface="+mn-ea"/>
                          <a:cs typeface="+mn-cs"/>
                        </a:rPr>
                        <a:t>Center</a:t>
                      </a:r>
                      <a:r>
                        <a:rPr lang="en-GB" sz="1400" b="1" i="1" kern="1200" dirty="0">
                          <a:solidFill>
                            <a:schemeClr val="tx1"/>
                          </a:solidFill>
                          <a:latin typeface="+mn-lt"/>
                          <a:ea typeface="+mn-ea"/>
                          <a:cs typeface="+mn-cs"/>
                        </a:rPr>
                        <a:t> Reorganization           </a:t>
                      </a:r>
                      <a:r>
                        <a:rPr lang="en-GB" sz="1400" b="1" i="1" spc="300" dirty="0"/>
                        <a:t>----------------------------------------</a:t>
                      </a:r>
                    </a:p>
                  </a:txBody>
                  <a:tcPr>
                    <a:lnL w="12700" cap="flat" cmpd="sng" algn="ctr">
                      <a:solidFill>
                        <a:schemeClr val="tx2">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b="1" i="1" dirty="0"/>
                        <a:t>27</a:t>
                      </a:r>
                    </a:p>
                  </a:txBody>
                  <a:tcPr>
                    <a:lnL w="12700" cap="flat" cmpd="sng" algn="ctr">
                      <a:solidFill>
                        <a:schemeClr val="bg1"/>
                      </a:solidFill>
                      <a:prstDash val="solid"/>
                      <a:round/>
                      <a:headEnd type="none" w="med" len="med"/>
                      <a:tailEnd type="none" w="med" len="med"/>
                    </a:lnL>
                    <a:lnR w="12700" cap="flat" cmpd="sng" algn="ctr">
                      <a:solidFill>
                        <a:schemeClr val="tx2">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177451445"/>
                  </a:ext>
                </a:extLst>
              </a:tr>
              <a:tr h="292557">
                <a:tc>
                  <a:txBody>
                    <a:bodyPr/>
                    <a:lstStyle/>
                    <a:p>
                      <a:r>
                        <a:rPr lang="en-GB" sz="1400" b="1" i="1" kern="1200" dirty="0">
                          <a:solidFill>
                            <a:schemeClr val="tx1"/>
                          </a:solidFill>
                          <a:latin typeface="+mn-lt"/>
                          <a:ea typeface="+mn-ea"/>
                          <a:cs typeface="+mn-cs"/>
                        </a:rPr>
                        <a:t>Cost </a:t>
                      </a:r>
                      <a:r>
                        <a:rPr lang="en-GB" sz="1400" b="1" i="1" kern="1200" dirty="0" err="1">
                          <a:solidFill>
                            <a:schemeClr val="tx1"/>
                          </a:solidFill>
                          <a:latin typeface="+mn-lt"/>
                          <a:ea typeface="+mn-ea"/>
                          <a:cs typeface="+mn-cs"/>
                        </a:rPr>
                        <a:t>Center</a:t>
                      </a:r>
                      <a:r>
                        <a:rPr lang="en-GB" sz="1400" b="1" i="1" kern="1200" dirty="0">
                          <a:solidFill>
                            <a:schemeClr val="tx1"/>
                          </a:solidFill>
                          <a:latin typeface="+mn-lt"/>
                          <a:ea typeface="+mn-ea"/>
                          <a:cs typeface="+mn-cs"/>
                        </a:rPr>
                        <a:t> Standardization           </a:t>
                      </a:r>
                      <a:r>
                        <a:rPr lang="en-GB" sz="1400" b="1" i="1" spc="300" dirty="0"/>
                        <a:t>----------------------------------------</a:t>
                      </a:r>
                    </a:p>
                  </a:txBody>
                  <a:tcPr>
                    <a:lnL w="12700" cap="flat" cmpd="sng" algn="ctr">
                      <a:solidFill>
                        <a:schemeClr val="tx2">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b="1" i="1" dirty="0"/>
                        <a:t>33</a:t>
                      </a:r>
                    </a:p>
                  </a:txBody>
                  <a:tcPr>
                    <a:lnL w="12700" cap="flat" cmpd="sng" algn="ctr">
                      <a:solidFill>
                        <a:schemeClr val="bg1"/>
                      </a:solidFill>
                      <a:prstDash val="solid"/>
                      <a:round/>
                      <a:headEnd type="none" w="med" len="med"/>
                      <a:tailEnd type="none" w="med" len="med"/>
                    </a:lnL>
                    <a:lnR w="12700" cap="flat" cmpd="sng" algn="ctr">
                      <a:solidFill>
                        <a:schemeClr val="tx2">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42558026"/>
                  </a:ext>
                </a:extLst>
              </a:tr>
              <a:tr h="292557">
                <a:tc>
                  <a:txBody>
                    <a:bodyPr/>
                    <a:lstStyle/>
                    <a:p>
                      <a:r>
                        <a:rPr lang="en-GB" sz="1400" b="1" i="1" kern="1200" dirty="0">
                          <a:solidFill>
                            <a:schemeClr val="tx1"/>
                          </a:solidFill>
                          <a:latin typeface="+mn-lt"/>
                          <a:ea typeface="+mn-ea"/>
                          <a:cs typeface="+mn-cs"/>
                        </a:rPr>
                        <a:t>Standardization of Dimensions       </a:t>
                      </a:r>
                      <a:r>
                        <a:rPr lang="en-GB" sz="1400" b="1" i="1" spc="300" dirty="0"/>
                        <a:t>----------------------------------------</a:t>
                      </a:r>
                    </a:p>
                  </a:txBody>
                  <a:tcPr>
                    <a:lnL w="12700" cap="flat" cmpd="sng" algn="ctr">
                      <a:solidFill>
                        <a:schemeClr val="tx2">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b="1" i="1" dirty="0"/>
                        <a:t>35</a:t>
                      </a:r>
                    </a:p>
                  </a:txBody>
                  <a:tcPr>
                    <a:lnL w="12700" cap="flat" cmpd="sng" algn="ctr">
                      <a:solidFill>
                        <a:schemeClr val="bg1"/>
                      </a:solidFill>
                      <a:prstDash val="solid"/>
                      <a:round/>
                      <a:headEnd type="none" w="med" len="med"/>
                      <a:tailEnd type="none" w="med" len="med"/>
                    </a:lnL>
                    <a:lnR w="12700" cap="flat" cmpd="sng" algn="ctr">
                      <a:solidFill>
                        <a:schemeClr val="tx2">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18350536"/>
                  </a:ext>
                </a:extLst>
              </a:tr>
              <a:tr h="292557">
                <a:tc>
                  <a:txBody>
                    <a:bodyPr/>
                    <a:lstStyle/>
                    <a:p>
                      <a:r>
                        <a:rPr lang="en-GB" sz="1400" b="1" i="1" kern="1200" dirty="0">
                          <a:solidFill>
                            <a:schemeClr val="tx1"/>
                          </a:solidFill>
                          <a:latin typeface="+mn-lt"/>
                          <a:ea typeface="+mn-ea"/>
                          <a:cs typeface="+mn-cs"/>
                        </a:rPr>
                        <a:t>New Market P&amp;L                               </a:t>
                      </a:r>
                      <a:r>
                        <a:rPr lang="en-GB" sz="1400" b="1" i="1" spc="300" dirty="0"/>
                        <a:t>----------------------------------------</a:t>
                      </a:r>
                    </a:p>
                  </a:txBody>
                  <a:tcPr>
                    <a:lnL w="12700" cap="flat" cmpd="sng" algn="ctr">
                      <a:solidFill>
                        <a:schemeClr val="tx2">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endParaRPr lang="en-GB" sz="1200" b="1" i="1" dirty="0"/>
                    </a:p>
                  </a:txBody>
                  <a:tcPr>
                    <a:lnL w="12700" cap="flat" cmpd="sng" algn="ctr">
                      <a:solidFill>
                        <a:schemeClr val="bg1"/>
                      </a:solidFill>
                      <a:prstDash val="solid"/>
                      <a:round/>
                      <a:headEnd type="none" w="med" len="med"/>
                      <a:tailEnd type="none" w="med" len="med"/>
                    </a:lnL>
                    <a:lnR w="12700" cap="flat" cmpd="sng" algn="ctr">
                      <a:solidFill>
                        <a:schemeClr val="tx2">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749683903"/>
                  </a:ext>
                </a:extLst>
              </a:tr>
              <a:tr h="292557">
                <a:tc>
                  <a:txBody>
                    <a:bodyPr/>
                    <a:lstStyle/>
                    <a:p>
                      <a:pPr lvl="0"/>
                      <a:r>
                        <a:rPr lang="en-GB" sz="1400" i="1" dirty="0"/>
                        <a:t>Changes to Market P&amp;L                </a:t>
                      </a:r>
                      <a:r>
                        <a:rPr lang="en-GB" sz="1400" i="1" spc="300" dirty="0"/>
                        <a:t>      ----------------------------------</a:t>
                      </a:r>
                    </a:p>
                  </a:txBody>
                  <a:tcPr marL="360000">
                    <a:lnL w="12700" cap="flat" cmpd="sng" algn="ctr">
                      <a:solidFill>
                        <a:schemeClr val="tx2">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i="1" dirty="0"/>
                        <a:t>70</a:t>
                      </a:r>
                    </a:p>
                  </a:txBody>
                  <a:tcPr>
                    <a:lnL w="12700" cap="flat" cmpd="sng" algn="ctr">
                      <a:solidFill>
                        <a:schemeClr val="bg1"/>
                      </a:solidFill>
                      <a:prstDash val="solid"/>
                      <a:round/>
                      <a:headEnd type="none" w="med" len="med"/>
                      <a:tailEnd type="none" w="med" len="med"/>
                    </a:lnL>
                    <a:lnR w="12700" cap="flat" cmpd="sng" algn="ctr">
                      <a:solidFill>
                        <a:schemeClr val="tx2">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259492735"/>
                  </a:ext>
                </a:extLst>
              </a:tr>
              <a:tr h="292557">
                <a:tc>
                  <a:txBody>
                    <a:bodyPr/>
                    <a:lstStyle/>
                    <a:p>
                      <a:r>
                        <a:rPr lang="en-GB" sz="1400" i="1" dirty="0"/>
                        <a:t>Simplification of Revenue Lines              </a:t>
                      </a:r>
                      <a:r>
                        <a:rPr lang="en-GB" sz="1400" i="1" spc="300" dirty="0"/>
                        <a:t>-----------------------------------</a:t>
                      </a:r>
                    </a:p>
                  </a:txBody>
                  <a:tcPr marL="360000">
                    <a:lnL w="12700" cap="flat" cmpd="sng" algn="ctr">
                      <a:solidFill>
                        <a:schemeClr val="tx2">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i="1" dirty="0"/>
                        <a:t>75</a:t>
                      </a:r>
                    </a:p>
                  </a:txBody>
                  <a:tcPr>
                    <a:lnL w="12700" cap="flat" cmpd="sng" algn="ctr">
                      <a:solidFill>
                        <a:schemeClr val="bg1"/>
                      </a:solidFill>
                      <a:prstDash val="solid"/>
                      <a:round/>
                      <a:headEnd type="none" w="med" len="med"/>
                      <a:tailEnd type="none" w="med" len="med"/>
                    </a:lnL>
                    <a:lnR w="12700" cap="flat" cmpd="sng" algn="ctr">
                      <a:solidFill>
                        <a:schemeClr val="tx2">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00057453"/>
                  </a:ext>
                </a:extLst>
              </a:tr>
              <a:tr h="292557">
                <a:tc>
                  <a:txBody>
                    <a:bodyPr/>
                    <a:lstStyle/>
                    <a:p>
                      <a:r>
                        <a:rPr lang="en-GB" sz="1400" i="1" kern="1200" dirty="0">
                          <a:solidFill>
                            <a:schemeClr val="tx1"/>
                          </a:solidFill>
                          <a:latin typeface="+mn-lt"/>
                          <a:ea typeface="+mn-ea"/>
                          <a:cs typeface="+mn-cs"/>
                        </a:rPr>
                        <a:t>New Allowances and Marketing Investment Framework  </a:t>
                      </a:r>
                      <a:r>
                        <a:rPr lang="en-GB" sz="1400" i="1" spc="300" dirty="0"/>
                        <a:t>----------------------</a:t>
                      </a:r>
                      <a:endParaRPr lang="en-GB" sz="1400" i="1" kern="1200" dirty="0">
                        <a:solidFill>
                          <a:schemeClr val="tx1"/>
                        </a:solidFill>
                        <a:latin typeface="+mn-lt"/>
                        <a:ea typeface="+mn-ea"/>
                        <a:cs typeface="+mn-cs"/>
                      </a:endParaRPr>
                    </a:p>
                  </a:txBody>
                  <a:tcPr marL="360000">
                    <a:lnL w="12700" cap="flat" cmpd="sng" algn="ctr">
                      <a:solidFill>
                        <a:schemeClr val="tx2">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i="1" dirty="0"/>
                        <a:t>79</a:t>
                      </a:r>
                    </a:p>
                  </a:txBody>
                  <a:tcPr>
                    <a:lnL w="12700" cap="flat" cmpd="sng" algn="ctr">
                      <a:solidFill>
                        <a:schemeClr val="bg1"/>
                      </a:solidFill>
                      <a:prstDash val="solid"/>
                      <a:round/>
                      <a:headEnd type="none" w="med" len="med"/>
                      <a:tailEnd type="none" w="med" len="med"/>
                    </a:lnL>
                    <a:lnR w="12700" cap="flat" cmpd="sng" algn="ctr">
                      <a:solidFill>
                        <a:schemeClr val="tx2">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479562755"/>
                  </a:ext>
                </a:extLst>
              </a:tr>
              <a:tr h="2925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kern="1200" dirty="0">
                          <a:solidFill>
                            <a:schemeClr val="tx1"/>
                          </a:solidFill>
                          <a:latin typeface="+mn-lt"/>
                          <a:ea typeface="+mn-ea"/>
                          <a:cs typeface="+mn-cs"/>
                        </a:rPr>
                        <a:t>COGS Transparency in Cost Component Split       </a:t>
                      </a:r>
                      <a:r>
                        <a:rPr lang="en-GB" sz="1400" i="1" spc="300" dirty="0"/>
                        <a:t>---------------------------</a:t>
                      </a:r>
                      <a:endParaRPr lang="en-GB" sz="1400" i="1" kern="1200" dirty="0">
                        <a:solidFill>
                          <a:schemeClr val="tx1"/>
                        </a:solidFill>
                        <a:latin typeface="+mn-lt"/>
                        <a:ea typeface="+mn-ea"/>
                        <a:cs typeface="+mn-cs"/>
                      </a:endParaRPr>
                    </a:p>
                  </a:txBody>
                  <a:tcPr marL="360000">
                    <a:lnL w="12700" cap="flat" cmpd="sng" algn="ctr">
                      <a:solidFill>
                        <a:schemeClr val="tx2">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i="1" dirty="0"/>
                        <a:t>83</a:t>
                      </a:r>
                    </a:p>
                  </a:txBody>
                  <a:tcPr>
                    <a:lnL w="12700" cap="flat" cmpd="sng" algn="ctr">
                      <a:solidFill>
                        <a:schemeClr val="bg1"/>
                      </a:solidFill>
                      <a:prstDash val="solid"/>
                      <a:round/>
                      <a:headEnd type="none" w="med" len="med"/>
                      <a:tailEnd type="none" w="med" len="med"/>
                    </a:lnL>
                    <a:lnR w="12700" cap="flat" cmpd="sng" algn="ctr">
                      <a:solidFill>
                        <a:schemeClr val="tx2">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76267152"/>
                  </a:ext>
                </a:extLst>
              </a:tr>
              <a:tr h="292557">
                <a:tc>
                  <a:txBody>
                    <a:bodyPr/>
                    <a:lstStyle/>
                    <a:p>
                      <a:r>
                        <a:rPr lang="en-GB" sz="1400" b="1" i="1" dirty="0"/>
                        <a:t>Granularity behind P&amp;L Lines          -</a:t>
                      </a:r>
                      <a:r>
                        <a:rPr lang="en-GB" sz="1400" b="1" i="1" spc="300" dirty="0"/>
                        <a:t>---------------------------------------</a:t>
                      </a:r>
                    </a:p>
                  </a:txBody>
                  <a:tcPr>
                    <a:lnL w="12700" cap="flat" cmpd="sng" algn="ctr">
                      <a:solidFill>
                        <a:schemeClr val="tx2">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b="1" i="1" dirty="0"/>
                        <a:t>93</a:t>
                      </a:r>
                    </a:p>
                  </a:txBody>
                  <a:tcPr>
                    <a:lnL w="12700" cap="flat" cmpd="sng" algn="ctr">
                      <a:solidFill>
                        <a:schemeClr val="bg1"/>
                      </a:solidFill>
                      <a:prstDash val="solid"/>
                      <a:round/>
                      <a:headEnd type="none" w="med" len="med"/>
                      <a:tailEnd type="none" w="med" len="med"/>
                    </a:lnL>
                    <a:lnR w="12700" cap="flat" cmpd="sng" algn="ctr">
                      <a:solidFill>
                        <a:schemeClr val="tx2">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06493617"/>
                  </a:ext>
                </a:extLst>
              </a:tr>
              <a:tr h="292557">
                <a:tc>
                  <a:txBody>
                    <a:bodyPr/>
                    <a:lstStyle/>
                    <a:p>
                      <a:r>
                        <a:rPr lang="en-GB" sz="1400" b="1" i="1" dirty="0"/>
                        <a:t>Volume Conversion                          </a:t>
                      </a:r>
                      <a:r>
                        <a:rPr lang="en-GB" sz="1400" b="1" i="1" spc="300" dirty="0"/>
                        <a:t>----------------------------------------</a:t>
                      </a:r>
                    </a:p>
                  </a:txBody>
                  <a:tcPr>
                    <a:lnL w="12700" cap="flat" cmpd="sng" algn="ctr">
                      <a:solidFill>
                        <a:schemeClr val="tx2">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b="1" i="1" dirty="0"/>
                        <a:t>102</a:t>
                      </a:r>
                    </a:p>
                  </a:txBody>
                  <a:tcPr>
                    <a:lnL w="12700" cap="flat" cmpd="sng" algn="ctr">
                      <a:solidFill>
                        <a:schemeClr val="bg1"/>
                      </a:solidFill>
                      <a:prstDash val="solid"/>
                      <a:round/>
                      <a:headEnd type="none" w="med" len="med"/>
                      <a:tailEnd type="none" w="med" len="med"/>
                    </a:lnL>
                    <a:lnR w="12700" cap="flat" cmpd="sng" algn="ctr">
                      <a:solidFill>
                        <a:schemeClr val="tx2">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711102062"/>
                  </a:ext>
                </a:extLst>
              </a:tr>
              <a:tr h="292557">
                <a:tc>
                  <a:txBody>
                    <a:bodyPr/>
                    <a:lstStyle/>
                    <a:p>
                      <a:r>
                        <a:rPr lang="en-GB" sz="1400" b="1" i="1" dirty="0"/>
                        <a:t>Reporting Capabilities                    </a:t>
                      </a:r>
                      <a:r>
                        <a:rPr lang="en-GB" sz="1400" b="1" i="1" spc="300" dirty="0"/>
                        <a:t>-----------------------------------------</a:t>
                      </a:r>
                    </a:p>
                  </a:txBody>
                  <a:tcPr>
                    <a:lnL w="12700" cap="flat" cmpd="sng" algn="ctr">
                      <a:solidFill>
                        <a:schemeClr val="tx2">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b="1" i="1" dirty="0"/>
                        <a:t>110</a:t>
                      </a:r>
                    </a:p>
                  </a:txBody>
                  <a:tcPr>
                    <a:lnL w="12700" cap="flat" cmpd="sng" algn="ctr">
                      <a:solidFill>
                        <a:schemeClr val="bg1"/>
                      </a:solidFill>
                      <a:prstDash val="solid"/>
                      <a:round/>
                      <a:headEnd type="none" w="med" len="med"/>
                      <a:tailEnd type="none" w="med" len="med"/>
                    </a:lnL>
                    <a:lnR w="12700" cap="flat" cmpd="sng" algn="ctr">
                      <a:solidFill>
                        <a:schemeClr val="tx2">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85036963"/>
                  </a:ext>
                </a:extLst>
              </a:tr>
              <a:tr h="2925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kern="1200" dirty="0">
                          <a:solidFill>
                            <a:schemeClr val="tx1"/>
                          </a:solidFill>
                          <a:latin typeface="+mn-lt"/>
                          <a:ea typeface="+mn-ea"/>
                          <a:cs typeface="+mn-cs"/>
                        </a:rPr>
                        <a:t>Reporting Overview                       </a:t>
                      </a:r>
                      <a:r>
                        <a:rPr lang="en-GB" sz="1400" i="1" spc="300" dirty="0"/>
                        <a:t>----------------------------------------</a:t>
                      </a:r>
                      <a:endParaRPr lang="en-GB" sz="1400" i="1" kern="1200" dirty="0">
                        <a:solidFill>
                          <a:schemeClr val="tx1"/>
                        </a:solidFill>
                        <a:latin typeface="+mn-lt"/>
                        <a:ea typeface="+mn-ea"/>
                        <a:cs typeface="+mn-cs"/>
                      </a:endParaRPr>
                    </a:p>
                  </a:txBody>
                  <a:tcPr marL="360000">
                    <a:lnL w="12700" cap="flat" cmpd="sng" algn="ctr">
                      <a:solidFill>
                        <a:schemeClr val="tx2">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i="1" dirty="0"/>
                        <a:t>110</a:t>
                      </a:r>
                    </a:p>
                  </a:txBody>
                  <a:tcPr>
                    <a:lnL w="12700" cap="flat" cmpd="sng" algn="ctr">
                      <a:solidFill>
                        <a:schemeClr val="bg1"/>
                      </a:solidFill>
                      <a:prstDash val="solid"/>
                      <a:round/>
                      <a:headEnd type="none" w="med" len="med"/>
                      <a:tailEnd type="none" w="med" len="med"/>
                    </a:lnL>
                    <a:lnR w="12700" cap="flat" cmpd="sng" algn="ctr">
                      <a:solidFill>
                        <a:schemeClr val="tx2">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31828730"/>
                  </a:ext>
                </a:extLst>
              </a:tr>
              <a:tr h="2925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kern="1200" dirty="0">
                          <a:solidFill>
                            <a:schemeClr val="tx1"/>
                          </a:solidFill>
                          <a:latin typeface="+mn-lt"/>
                          <a:ea typeface="+mn-ea"/>
                          <a:cs typeface="+mn-cs"/>
                        </a:rPr>
                        <a:t>SAP GUI Reports                          </a:t>
                      </a:r>
                      <a:r>
                        <a:rPr lang="en-GB" sz="1400" i="1" spc="300" dirty="0"/>
                        <a:t>----------------------------------------</a:t>
                      </a:r>
                      <a:endParaRPr lang="en-GB" sz="1400" i="1" kern="1200" dirty="0">
                        <a:solidFill>
                          <a:schemeClr val="tx1"/>
                        </a:solidFill>
                        <a:latin typeface="+mn-lt"/>
                        <a:ea typeface="+mn-ea"/>
                        <a:cs typeface="+mn-cs"/>
                      </a:endParaRPr>
                    </a:p>
                  </a:txBody>
                  <a:tcPr marL="360000">
                    <a:lnL w="12700" cap="flat" cmpd="sng" algn="ctr">
                      <a:solidFill>
                        <a:schemeClr val="tx2">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i="1" dirty="0"/>
                        <a:t>115</a:t>
                      </a:r>
                    </a:p>
                  </a:txBody>
                  <a:tcPr>
                    <a:lnL w="12700" cap="flat" cmpd="sng" algn="ctr">
                      <a:solidFill>
                        <a:schemeClr val="bg1"/>
                      </a:solidFill>
                      <a:prstDash val="solid"/>
                      <a:round/>
                      <a:headEnd type="none" w="med" len="med"/>
                      <a:tailEnd type="none" w="med" len="med"/>
                    </a:lnL>
                    <a:lnR w="12700" cap="flat" cmpd="sng" algn="ctr">
                      <a:solidFill>
                        <a:schemeClr val="tx2">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938537584"/>
                  </a:ext>
                </a:extLst>
              </a:tr>
              <a:tr h="2925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i="1" kern="1200" dirty="0">
                          <a:solidFill>
                            <a:schemeClr val="tx1"/>
                          </a:solidFill>
                          <a:latin typeface="+mn-lt"/>
                          <a:ea typeface="+mn-ea"/>
                          <a:cs typeface="+mn-cs"/>
                        </a:rPr>
                        <a:t>S/4 CDS Views (Analysis for Office)         </a:t>
                      </a:r>
                      <a:r>
                        <a:rPr lang="en-GB" sz="1400" i="1" spc="300" dirty="0"/>
                        <a:t>----------------------------------</a:t>
                      </a:r>
                      <a:endParaRPr lang="en-GB" sz="1400" i="1" kern="1200" dirty="0">
                        <a:solidFill>
                          <a:schemeClr val="tx1"/>
                        </a:solidFill>
                        <a:latin typeface="+mn-lt"/>
                        <a:ea typeface="+mn-ea"/>
                        <a:cs typeface="+mn-cs"/>
                      </a:endParaRPr>
                    </a:p>
                  </a:txBody>
                  <a:tcPr marL="360000">
                    <a:lnL w="12700" cap="flat" cmpd="sng" algn="ctr">
                      <a:solidFill>
                        <a:schemeClr val="tx2">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GB" sz="1200" i="1" dirty="0"/>
                        <a:t>122</a:t>
                      </a:r>
                    </a:p>
                  </a:txBody>
                  <a:tcPr>
                    <a:lnL w="12700" cap="flat" cmpd="sng" algn="ctr">
                      <a:solidFill>
                        <a:schemeClr val="bg1"/>
                      </a:solidFill>
                      <a:prstDash val="solid"/>
                      <a:round/>
                      <a:headEnd type="none" w="med" len="med"/>
                      <a:tailEnd type="none" w="med" len="med"/>
                    </a:lnL>
                    <a:lnR w="12700" cap="flat" cmpd="sng" algn="ctr">
                      <a:solidFill>
                        <a:schemeClr val="tx2">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62405111"/>
                  </a:ext>
                </a:extLst>
              </a:tr>
              <a:tr h="292557">
                <a:tc>
                  <a:txBody>
                    <a:bodyPr/>
                    <a:lstStyle/>
                    <a:p>
                      <a:pPr algn="ctr"/>
                      <a:r>
                        <a:rPr lang="en-GB" sz="1200" b="1" i="1" dirty="0">
                          <a:solidFill>
                            <a:schemeClr val="bg1"/>
                          </a:solidFill>
                        </a:rPr>
                        <a:t>Backup Slides       </a:t>
                      </a:r>
                      <a:r>
                        <a:rPr lang="en-GB" sz="1200" b="1" i="1" spc="300" dirty="0">
                          <a:solidFill>
                            <a:schemeClr val="bg1"/>
                          </a:solidFill>
                        </a:rPr>
                        <a:t>------------------------------------------------------</a:t>
                      </a:r>
                    </a:p>
                  </a:txBody>
                  <a:tcPr>
                    <a:lnL w="12700" cap="flat" cmpd="sng" algn="ctr">
                      <a:solidFill>
                        <a:schemeClr val="tx2">
                          <a:lumMod val="90000"/>
                          <a:lumOff val="10000"/>
                        </a:schemeClr>
                      </a:solidFill>
                      <a:prstDash val="solid"/>
                      <a:round/>
                      <a:headEnd type="none" w="med" len="med"/>
                      <a:tailEnd type="none" w="med" len="med"/>
                    </a:lnL>
                    <a:lnT w="12700" cap="flat" cmpd="sng" algn="ctr">
                      <a:solidFill>
                        <a:schemeClr val="bg1"/>
                      </a:solidFill>
                      <a:prstDash val="solid"/>
                      <a:round/>
                      <a:headEnd type="none" w="med" len="med"/>
                      <a:tailEnd type="none" w="med" len="med"/>
                    </a:lnT>
                    <a:solidFill>
                      <a:schemeClr val="bg1">
                        <a:lumMod val="50000"/>
                      </a:schemeClr>
                    </a:solidFill>
                  </a:tcPr>
                </a:tc>
                <a:tc>
                  <a:txBody>
                    <a:bodyPr/>
                    <a:lstStyle/>
                    <a:p>
                      <a:pPr algn="ctr"/>
                      <a:r>
                        <a:rPr lang="en-GB" sz="1200" b="1" i="1" dirty="0">
                          <a:solidFill>
                            <a:schemeClr val="bg1"/>
                          </a:solidFill>
                        </a:rPr>
                        <a:t>140</a:t>
                      </a:r>
                    </a:p>
                  </a:txBody>
                  <a:tcPr>
                    <a:lnR w="12700" cap="flat" cmpd="sng" algn="ctr">
                      <a:solidFill>
                        <a:schemeClr val="tx2">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bg1">
                        <a:lumMod val="50000"/>
                      </a:schemeClr>
                    </a:solidFill>
                  </a:tcPr>
                </a:tc>
                <a:extLst>
                  <a:ext uri="{0D108BD9-81ED-4DB2-BD59-A6C34878D82A}">
                    <a16:rowId xmlns:a16="http://schemas.microsoft.com/office/drawing/2014/main" val="4027352898"/>
                  </a:ext>
                </a:extLst>
              </a:tr>
              <a:tr h="292557">
                <a:tc>
                  <a:txBody>
                    <a:bodyPr/>
                    <a:lstStyle/>
                    <a:p>
                      <a:r>
                        <a:rPr lang="en-GB" sz="1400" i="1" dirty="0"/>
                        <a:t>Acronyms* used in Controlling and other modules    </a:t>
                      </a:r>
                      <a:r>
                        <a:rPr lang="en-GB" sz="1400" i="1" spc="300" dirty="0"/>
                        <a:t>---------------------------</a:t>
                      </a:r>
                    </a:p>
                  </a:txBody>
                  <a:tcPr>
                    <a:lnL w="12700" cap="flat" cmpd="sng" algn="ctr">
                      <a:solidFill>
                        <a:schemeClr val="tx2">
                          <a:lumMod val="90000"/>
                          <a:lumOff val="10000"/>
                        </a:schemeClr>
                      </a:solidFill>
                      <a:prstDash val="solid"/>
                      <a:round/>
                      <a:headEnd type="none" w="med" len="med"/>
                      <a:tailEnd type="none" w="med" len="med"/>
                    </a:lnL>
                  </a:tcPr>
                </a:tc>
                <a:tc>
                  <a:txBody>
                    <a:bodyPr/>
                    <a:lstStyle/>
                    <a:p>
                      <a:pPr algn="ctr"/>
                      <a:r>
                        <a:rPr lang="en-GB" sz="1200" i="1" dirty="0"/>
                        <a:t>141</a:t>
                      </a:r>
                    </a:p>
                  </a:txBody>
                  <a:tcPr>
                    <a:lnR w="12700" cap="flat" cmpd="sng" algn="ctr">
                      <a:solidFill>
                        <a:schemeClr val="tx2">
                          <a:lumMod val="90000"/>
                          <a:lumOff val="10000"/>
                        </a:schemeClr>
                      </a:solidFill>
                      <a:prstDash val="solid"/>
                      <a:round/>
                      <a:headEnd type="none" w="med" len="med"/>
                      <a:tailEnd type="none" w="med" len="med"/>
                    </a:lnR>
                  </a:tcPr>
                </a:tc>
                <a:extLst>
                  <a:ext uri="{0D108BD9-81ED-4DB2-BD59-A6C34878D82A}">
                    <a16:rowId xmlns:a16="http://schemas.microsoft.com/office/drawing/2014/main" val="1842271598"/>
                  </a:ext>
                </a:extLst>
              </a:tr>
            </a:tbl>
          </a:graphicData>
        </a:graphic>
      </p:graphicFrame>
    </p:spTree>
    <p:extLst>
      <p:ext uri="{BB962C8B-B14F-4D97-AF65-F5344CB8AC3E}">
        <p14:creationId xmlns:p14="http://schemas.microsoft.com/office/powerpoint/2010/main" val="3283095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2562"/>
            <a:ext cx="12192000" cy="490044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9" name="Group 8">
            <a:extLst>
              <a:ext uri="{FF2B5EF4-FFF2-40B4-BE49-F238E27FC236}">
                <a16:creationId xmlns:a16="http://schemas.microsoft.com/office/drawing/2014/main" id="{2FA5B4E8-F357-4C79-B637-6B77816AF0AC}"/>
              </a:ext>
            </a:extLst>
          </p:cNvPr>
          <p:cNvGrpSpPr/>
          <p:nvPr/>
        </p:nvGrpSpPr>
        <p:grpSpPr>
          <a:xfrm>
            <a:off x="6533280" y="1453923"/>
            <a:ext cx="4824874" cy="3579660"/>
            <a:chOff x="6137040" y="1921283"/>
            <a:chExt cx="4824874" cy="3579660"/>
          </a:xfrm>
        </p:grpSpPr>
        <p:cxnSp>
          <p:nvCxnSpPr>
            <p:cNvPr id="54" name="Straight Connector 53">
              <a:extLst>
                <a:ext uri="{FF2B5EF4-FFF2-40B4-BE49-F238E27FC236}">
                  <a16:creationId xmlns:a16="http://schemas.microsoft.com/office/drawing/2014/main" id="{07919984-F404-412F-9166-F0185B5D23FE}"/>
                </a:ext>
              </a:extLst>
            </p:cNvPr>
            <p:cNvCxnSpPr>
              <a:cxnSpLocks/>
            </p:cNvCxnSpPr>
            <p:nvPr/>
          </p:nvCxnSpPr>
          <p:spPr>
            <a:xfrm>
              <a:off x="6658703" y="3827996"/>
              <a:ext cx="487038"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E4B24403-CF69-4275-A412-BDC7F6BDA9A8}"/>
                </a:ext>
              </a:extLst>
            </p:cNvPr>
            <p:cNvGrpSpPr/>
            <p:nvPr/>
          </p:nvGrpSpPr>
          <p:grpSpPr>
            <a:xfrm>
              <a:off x="6137040" y="1921283"/>
              <a:ext cx="4824874" cy="3579660"/>
              <a:chOff x="6137040" y="1921283"/>
              <a:chExt cx="4824874" cy="3579660"/>
            </a:xfrm>
          </p:grpSpPr>
          <p:grpSp>
            <p:nvGrpSpPr>
              <p:cNvPr id="19" name="Group 18">
                <a:extLst>
                  <a:ext uri="{FF2B5EF4-FFF2-40B4-BE49-F238E27FC236}">
                    <a16:creationId xmlns:a16="http://schemas.microsoft.com/office/drawing/2014/main" id="{3F49BABF-73A4-41A0-8EC8-DC283FC79D84}"/>
                  </a:ext>
                </a:extLst>
              </p:cNvPr>
              <p:cNvGrpSpPr/>
              <p:nvPr/>
            </p:nvGrpSpPr>
            <p:grpSpPr>
              <a:xfrm>
                <a:off x="6137040" y="1921283"/>
                <a:ext cx="4824874" cy="2640554"/>
                <a:chOff x="7304060" y="1822181"/>
                <a:chExt cx="4824874" cy="2640554"/>
              </a:xfrm>
            </p:grpSpPr>
            <p:cxnSp>
              <p:nvCxnSpPr>
                <p:cNvPr id="8" name="Elbow Connector 7"/>
                <p:cNvCxnSpPr>
                  <a:cxnSpLocks/>
                </p:cNvCxnSpPr>
                <p:nvPr/>
              </p:nvCxnSpPr>
              <p:spPr>
                <a:xfrm>
                  <a:off x="7304060" y="3060320"/>
                  <a:ext cx="1009162" cy="1402415"/>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 name="Elbow Connector 4"/>
                <p:cNvCxnSpPr>
                  <a:cxnSpLocks/>
                </p:cNvCxnSpPr>
                <p:nvPr/>
              </p:nvCxnSpPr>
              <p:spPr>
                <a:xfrm flipV="1">
                  <a:off x="7304060" y="2095049"/>
                  <a:ext cx="1008701" cy="958351"/>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cxnSpLocks/>
                </p:cNvCxnSpPr>
                <p:nvPr/>
              </p:nvCxnSpPr>
              <p:spPr>
                <a:xfrm>
                  <a:off x="7785534" y="3053401"/>
                  <a:ext cx="527227" cy="6919"/>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8437139" y="1822181"/>
                  <a:ext cx="3691795" cy="803812"/>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a:ln>
                        <a:noFill/>
                      </a:ln>
                      <a:solidFill>
                        <a:srgbClr val="1A3040"/>
                      </a:solidFill>
                      <a:effectLst/>
                      <a:uLnTx/>
                      <a:uFillTx/>
                      <a:latin typeface="Arial" charset="0"/>
                      <a:ea typeface="+mn-ea"/>
                      <a:cs typeface="Arial" charset="0"/>
                    </a:rPr>
                    <a:t>Introduction to Profitability Analysis CO-PA</a:t>
                  </a:r>
                  <a:endParaRPr kumimoji="0" lang="en-GB" sz="1400" b="0" i="0" u="none" strike="noStrike" kern="1200" cap="none" spc="0" normalizeH="0" baseline="0" noProof="0">
                    <a:ln>
                      <a:noFill/>
                    </a:ln>
                    <a:solidFill>
                      <a:srgbClr val="1A3040"/>
                    </a:solidFill>
                    <a:effectLst/>
                    <a:uLnTx/>
                    <a:uFillTx/>
                    <a:latin typeface="Arial" panose="020B0604020202020204"/>
                    <a:ea typeface="+mn-ea"/>
                    <a:cs typeface="+mn-cs"/>
                  </a:endParaRPr>
                </a:p>
              </p:txBody>
            </p:sp>
            <p:sp>
              <p:nvSpPr>
                <p:cNvPr id="40" name="Rounded Rectangle 39"/>
                <p:cNvSpPr/>
                <p:nvPr/>
              </p:nvSpPr>
              <p:spPr>
                <a:xfrm>
                  <a:off x="8426129" y="2773964"/>
                  <a:ext cx="3691795" cy="54308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a:ea typeface="+mn-ea"/>
                      <a:cs typeface="Arial"/>
                    </a:rPr>
                    <a:t>Profitability Analysis Structure</a:t>
                  </a:r>
                  <a:endParaRPr kumimoji="0" lang="en-US" sz="1400" b="0" i="0" u="none" strike="noStrike" kern="1200" cap="none" spc="0" normalizeH="0" baseline="0" noProof="0">
                    <a:ln>
                      <a:noFill/>
                    </a:ln>
                    <a:solidFill>
                      <a:srgbClr val="FFFFFF"/>
                    </a:solidFill>
                    <a:effectLst/>
                    <a:uLnTx/>
                    <a:uFillTx/>
                    <a:latin typeface="Arial"/>
                    <a:ea typeface="+mn-ea"/>
                    <a:cs typeface="Arial"/>
                  </a:endParaRPr>
                </a:p>
              </p:txBody>
            </p:sp>
            <p:sp>
              <p:nvSpPr>
                <p:cNvPr id="41" name="Rounded Rectangle 40"/>
                <p:cNvSpPr/>
                <p:nvPr/>
              </p:nvSpPr>
              <p:spPr>
                <a:xfrm>
                  <a:off x="8437139" y="3495256"/>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charset="0"/>
                      <a:ea typeface="+mn-ea"/>
                      <a:cs typeface="Arial" charset="0"/>
                    </a:rPr>
                    <a:t>Profitability Analysis Master Data</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33" name="Rounded Rectangle 40">
                <a:extLst>
                  <a:ext uri="{FF2B5EF4-FFF2-40B4-BE49-F238E27FC236}">
                    <a16:creationId xmlns:a16="http://schemas.microsoft.com/office/drawing/2014/main" id="{C0DE0473-E9C3-45C1-B6CE-13D1798C2E31}"/>
                  </a:ext>
                </a:extLst>
              </p:cNvPr>
              <p:cNvSpPr/>
              <p:nvPr/>
            </p:nvSpPr>
            <p:spPr>
              <a:xfrm>
                <a:off x="7259108" y="4282346"/>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charset="0"/>
                    <a:ea typeface="+mn-ea"/>
                    <a:cs typeface="Arial" charset="0"/>
                  </a:rPr>
                  <a:t>Profitability Analysis Derivation </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5" name="Rounded Rectangle 40">
                <a:extLst>
                  <a:ext uri="{FF2B5EF4-FFF2-40B4-BE49-F238E27FC236}">
                    <a16:creationId xmlns:a16="http://schemas.microsoft.com/office/drawing/2014/main" id="{93DF157D-91E6-4C99-ADF2-62E894FD6F16}"/>
                  </a:ext>
                </a:extLst>
              </p:cNvPr>
              <p:cNvSpPr/>
              <p:nvPr/>
            </p:nvSpPr>
            <p:spPr>
              <a:xfrm>
                <a:off x="7270119" y="4970334"/>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charset="0"/>
                    <a:ea typeface="+mn-ea"/>
                    <a:cs typeface="Arial" charset="0"/>
                  </a:rPr>
                  <a:t>Profitability Analysis Value Flows</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6" name="Elbow Connector 7">
                <a:extLst>
                  <a:ext uri="{FF2B5EF4-FFF2-40B4-BE49-F238E27FC236}">
                    <a16:creationId xmlns:a16="http://schemas.microsoft.com/office/drawing/2014/main" id="{B7CE1320-EE55-4BCB-84D7-96F7860FF4AF}"/>
                  </a:ext>
                </a:extLst>
              </p:cNvPr>
              <p:cNvCxnSpPr>
                <a:cxnSpLocks/>
              </p:cNvCxnSpPr>
              <p:nvPr/>
            </p:nvCxnSpPr>
            <p:spPr>
              <a:xfrm>
                <a:off x="6137040" y="3159111"/>
                <a:ext cx="1009162" cy="2053277"/>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grpSp>
      <p:grpSp>
        <p:nvGrpSpPr>
          <p:cNvPr id="74" name="Group 73">
            <a:extLst>
              <a:ext uri="{FF2B5EF4-FFF2-40B4-BE49-F238E27FC236}">
                <a16:creationId xmlns:a16="http://schemas.microsoft.com/office/drawing/2014/main" id="{54DC8E04-350F-415B-A9E2-037010E8379B}"/>
              </a:ext>
            </a:extLst>
          </p:cNvPr>
          <p:cNvGrpSpPr/>
          <p:nvPr/>
        </p:nvGrpSpPr>
        <p:grpSpPr>
          <a:xfrm>
            <a:off x="287357" y="2445394"/>
            <a:ext cx="6180447" cy="2739184"/>
            <a:chOff x="4428422" y="2334369"/>
            <a:chExt cx="7806123" cy="3512902"/>
          </a:xfrm>
        </p:grpSpPr>
        <p:cxnSp>
          <p:nvCxnSpPr>
            <p:cNvPr id="75" name="Straight Connector 74">
              <a:extLst>
                <a:ext uri="{FF2B5EF4-FFF2-40B4-BE49-F238E27FC236}">
                  <a16:creationId xmlns:a16="http://schemas.microsoft.com/office/drawing/2014/main" id="{FE5A9458-FC35-48B0-8FCC-B4EA2351957E}"/>
                </a:ext>
              </a:extLst>
            </p:cNvPr>
            <p:cNvCxnSpPr>
              <a:cxnSpLocks/>
            </p:cNvCxnSpPr>
            <p:nvPr/>
          </p:nvCxnSpPr>
          <p:spPr>
            <a:xfrm>
              <a:off x="6781086" y="3324312"/>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25E773E1-4E1E-407F-BE5A-C265255DB705}"/>
                </a:ext>
              </a:extLst>
            </p:cNvPr>
            <p:cNvCxnSpPr>
              <a:cxnSpLocks/>
            </p:cNvCxnSpPr>
            <p:nvPr/>
          </p:nvCxnSpPr>
          <p:spPr>
            <a:xfrm>
              <a:off x="6795663" y="4793898"/>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77" name="Group 76">
              <a:extLst>
                <a:ext uri="{FF2B5EF4-FFF2-40B4-BE49-F238E27FC236}">
                  <a16:creationId xmlns:a16="http://schemas.microsoft.com/office/drawing/2014/main" id="{1F5C7776-B5CE-448A-BE5A-A66C46EC0640}"/>
                </a:ext>
              </a:extLst>
            </p:cNvPr>
            <p:cNvGrpSpPr/>
            <p:nvPr/>
          </p:nvGrpSpPr>
          <p:grpSpPr>
            <a:xfrm>
              <a:off x="4428422" y="2334369"/>
              <a:ext cx="7806123" cy="3512902"/>
              <a:chOff x="4428422" y="2334369"/>
              <a:chExt cx="7806123" cy="3512902"/>
            </a:xfrm>
          </p:grpSpPr>
          <p:grpSp>
            <p:nvGrpSpPr>
              <p:cNvPr id="78" name="Group 77">
                <a:extLst>
                  <a:ext uri="{FF2B5EF4-FFF2-40B4-BE49-F238E27FC236}">
                    <a16:creationId xmlns:a16="http://schemas.microsoft.com/office/drawing/2014/main" id="{F7367246-4731-4557-8294-5D72DE67E14F}"/>
                  </a:ext>
                </a:extLst>
              </p:cNvPr>
              <p:cNvGrpSpPr/>
              <p:nvPr/>
            </p:nvGrpSpPr>
            <p:grpSpPr>
              <a:xfrm>
                <a:off x="4428422" y="2334369"/>
                <a:ext cx="7796979" cy="3512902"/>
                <a:chOff x="4371016" y="2260588"/>
                <a:chExt cx="7796979" cy="3512902"/>
              </a:xfrm>
            </p:grpSpPr>
            <p:cxnSp>
              <p:nvCxnSpPr>
                <p:cNvPr id="83" name="Elbow Connector 37">
                  <a:extLst>
                    <a:ext uri="{FF2B5EF4-FFF2-40B4-BE49-F238E27FC236}">
                      <a16:creationId xmlns:a16="http://schemas.microsoft.com/office/drawing/2014/main" id="{CD7A5746-BD90-4B36-9D95-8700EFC78649}"/>
                    </a:ext>
                  </a:extLst>
                </p:cNvPr>
                <p:cNvCxnSpPr>
                  <a:cxnSpLocks/>
                </p:cNvCxnSpPr>
                <p:nvPr/>
              </p:nvCxnSpPr>
              <p:spPr>
                <a:xfrm>
                  <a:off x="6204970" y="3996147"/>
                  <a:ext cx="1096000" cy="14997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84" name="Group 83">
                  <a:extLst>
                    <a:ext uri="{FF2B5EF4-FFF2-40B4-BE49-F238E27FC236}">
                      <a16:creationId xmlns:a16="http://schemas.microsoft.com/office/drawing/2014/main" id="{124FCC55-2BC2-49F2-ADDE-8A66B97CF5BD}"/>
                    </a:ext>
                  </a:extLst>
                </p:cNvPr>
                <p:cNvGrpSpPr/>
                <p:nvPr/>
              </p:nvGrpSpPr>
              <p:grpSpPr>
                <a:xfrm>
                  <a:off x="4371016" y="2260588"/>
                  <a:ext cx="7796979" cy="3512902"/>
                  <a:chOff x="4371016" y="2260588"/>
                  <a:chExt cx="7796979" cy="3512902"/>
                </a:xfrm>
              </p:grpSpPr>
              <p:cxnSp>
                <p:nvCxnSpPr>
                  <p:cNvPr id="85" name="Elbow Connector 31">
                    <a:extLst>
                      <a:ext uri="{FF2B5EF4-FFF2-40B4-BE49-F238E27FC236}">
                        <a16:creationId xmlns:a16="http://schemas.microsoft.com/office/drawing/2014/main" id="{85C4DC54-5DFF-40A7-9080-9AE86DD9A57E}"/>
                      </a:ext>
                    </a:extLst>
                  </p:cNvPr>
                  <p:cNvCxnSpPr>
                    <a:cxnSpLocks/>
                  </p:cNvCxnSpPr>
                  <p:nvPr/>
                </p:nvCxnSpPr>
                <p:spPr>
                  <a:xfrm flipV="1">
                    <a:off x="6194084" y="2527165"/>
                    <a:ext cx="1121463" cy="1465481"/>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86" name="Group 85">
                    <a:extLst>
                      <a:ext uri="{FF2B5EF4-FFF2-40B4-BE49-F238E27FC236}">
                        <a16:creationId xmlns:a16="http://schemas.microsoft.com/office/drawing/2014/main" id="{EB36E816-CCDB-413C-85C1-E01826B42ED7}"/>
                      </a:ext>
                    </a:extLst>
                  </p:cNvPr>
                  <p:cNvGrpSpPr/>
                  <p:nvPr/>
                </p:nvGrpSpPr>
                <p:grpSpPr>
                  <a:xfrm>
                    <a:off x="4371016" y="2260588"/>
                    <a:ext cx="7796979" cy="3512902"/>
                    <a:chOff x="4371016" y="2260588"/>
                    <a:chExt cx="7796979" cy="3512902"/>
                  </a:xfrm>
                </p:grpSpPr>
                <p:sp>
                  <p:nvSpPr>
                    <p:cNvPr id="87" name="TextBox 86">
                      <a:extLst>
                        <a:ext uri="{FF2B5EF4-FFF2-40B4-BE49-F238E27FC236}">
                          <a16:creationId xmlns:a16="http://schemas.microsoft.com/office/drawing/2014/main" id="{169E0499-5E0D-448E-83F3-47679DC0ED11}"/>
                        </a:ext>
                      </a:extLst>
                    </p:cNvPr>
                    <p:cNvSpPr txBox="1"/>
                    <p:nvPr/>
                  </p:nvSpPr>
                  <p:spPr>
                    <a:xfrm>
                      <a:off x="7532636" y="2260588"/>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Profitability Analysis: Intro to S/4 </a:t>
                      </a:r>
                    </a:p>
                  </p:txBody>
                </p:sp>
                <p:grpSp>
                  <p:nvGrpSpPr>
                    <p:cNvPr id="88" name="Group 87">
                      <a:extLst>
                        <a:ext uri="{FF2B5EF4-FFF2-40B4-BE49-F238E27FC236}">
                          <a16:creationId xmlns:a16="http://schemas.microsoft.com/office/drawing/2014/main" id="{CA6533CE-CAEA-4A8B-97EB-94D8AACBFAB1}"/>
                        </a:ext>
                      </a:extLst>
                    </p:cNvPr>
                    <p:cNvGrpSpPr/>
                    <p:nvPr/>
                  </p:nvGrpSpPr>
                  <p:grpSpPr>
                    <a:xfrm>
                      <a:off x="4371016" y="3031011"/>
                      <a:ext cx="1867560" cy="1901181"/>
                      <a:chOff x="575788" y="4361808"/>
                      <a:chExt cx="624164" cy="624164"/>
                    </a:xfrm>
                  </p:grpSpPr>
                  <p:grpSp>
                    <p:nvGrpSpPr>
                      <p:cNvPr id="90" name="Group 89">
                        <a:extLst>
                          <a:ext uri="{FF2B5EF4-FFF2-40B4-BE49-F238E27FC236}">
                            <a16:creationId xmlns:a16="http://schemas.microsoft.com/office/drawing/2014/main" id="{B41FFC8A-91C0-47F5-8FDD-7DEEC8847250}"/>
                          </a:ext>
                        </a:extLst>
                      </p:cNvPr>
                      <p:cNvGrpSpPr/>
                      <p:nvPr/>
                    </p:nvGrpSpPr>
                    <p:grpSpPr>
                      <a:xfrm>
                        <a:off x="575788" y="4361808"/>
                        <a:ext cx="624164" cy="624164"/>
                        <a:chOff x="4492144" y="190843"/>
                        <a:chExt cx="855656" cy="855656"/>
                      </a:xfrm>
                    </p:grpSpPr>
                    <p:sp>
                      <p:nvSpPr>
                        <p:cNvPr id="92" name="Oval 91">
                          <a:extLst>
                            <a:ext uri="{FF2B5EF4-FFF2-40B4-BE49-F238E27FC236}">
                              <a16:creationId xmlns:a16="http://schemas.microsoft.com/office/drawing/2014/main" id="{EEC790A9-CA82-4AE1-BAF0-9E2A97C6D55C}"/>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3" name="Oval 92">
                          <a:extLst>
                            <a:ext uri="{FF2B5EF4-FFF2-40B4-BE49-F238E27FC236}">
                              <a16:creationId xmlns:a16="http://schemas.microsoft.com/office/drawing/2014/main" id="{1794AE44-66BB-444F-8195-545E31A3E1CC}"/>
                            </a:ext>
                          </a:extLst>
                        </p:cNvPr>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91" name="Picture 90">
                        <a:extLst>
                          <a:ext uri="{FF2B5EF4-FFF2-40B4-BE49-F238E27FC236}">
                            <a16:creationId xmlns:a16="http://schemas.microsoft.com/office/drawing/2014/main" id="{2695EA04-CC79-4732-8EFF-99B2C640483F}"/>
                          </a:ext>
                        </a:extLst>
                      </p:cNvPr>
                      <p:cNvPicPr>
                        <a:picLocks noChangeAspect="1"/>
                      </p:cNvPicPr>
                      <p:nvPr/>
                    </p:nvPicPr>
                    <p:blipFill>
                      <a:blip r:embed="rId3"/>
                      <a:stretch>
                        <a:fillRect/>
                      </a:stretch>
                    </p:blipFill>
                    <p:spPr>
                      <a:xfrm>
                        <a:off x="718607" y="4514537"/>
                        <a:ext cx="328080" cy="318706"/>
                      </a:xfrm>
                      <a:prstGeom prst="rect">
                        <a:avLst/>
                      </a:prstGeom>
                    </p:spPr>
                  </p:pic>
                </p:grpSp>
                <p:sp>
                  <p:nvSpPr>
                    <p:cNvPr id="89" name="TextBox 88">
                      <a:extLst>
                        <a:ext uri="{FF2B5EF4-FFF2-40B4-BE49-F238E27FC236}">
                          <a16:creationId xmlns:a16="http://schemas.microsoft.com/office/drawing/2014/main" id="{C5302863-E8DA-42A1-A39B-5AFA0678C02D}"/>
                        </a:ext>
                      </a:extLst>
                    </p:cNvPr>
                    <p:cNvSpPr txBox="1"/>
                    <p:nvPr/>
                  </p:nvSpPr>
                  <p:spPr>
                    <a:xfrm>
                      <a:off x="7558856" y="5218301"/>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Reporting Capabilities</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sp>
            <p:nvSpPr>
              <p:cNvPr id="79" name="TextBox 78">
                <a:extLst>
                  <a:ext uri="{FF2B5EF4-FFF2-40B4-BE49-F238E27FC236}">
                    <a16:creationId xmlns:a16="http://schemas.microsoft.com/office/drawing/2014/main" id="{B366CD69-EE55-4812-92A9-4CD9F6C48ACD}"/>
                  </a:ext>
                </a:extLst>
              </p:cNvPr>
              <p:cNvSpPr txBox="1"/>
              <p:nvPr/>
            </p:nvSpPr>
            <p:spPr>
              <a:xfrm>
                <a:off x="7616262" y="4511768"/>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Market P&amp;L</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80" name="Straight Connector 79">
                <a:extLst>
                  <a:ext uri="{FF2B5EF4-FFF2-40B4-BE49-F238E27FC236}">
                    <a16:creationId xmlns:a16="http://schemas.microsoft.com/office/drawing/2014/main" id="{02E7935A-DB5D-4319-9112-C9D05245C243}"/>
                  </a:ext>
                </a:extLst>
              </p:cNvPr>
              <p:cNvCxnSpPr>
                <a:cxnSpLocks/>
              </p:cNvCxnSpPr>
              <p:nvPr/>
            </p:nvCxnSpPr>
            <p:spPr>
              <a:xfrm>
                <a:off x="6810376" y="4066427"/>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74227D40-06B1-469C-8302-B2253BD1B8B3}"/>
                  </a:ext>
                </a:extLst>
              </p:cNvPr>
              <p:cNvSpPr txBox="1"/>
              <p:nvPr/>
            </p:nvSpPr>
            <p:spPr>
              <a:xfrm>
                <a:off x="7590041" y="3107175"/>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 </a:t>
                </a:r>
                <a:r>
                  <a:rPr kumimoji="0" lang="en-GB" sz="1800" b="1" i="0" u="none" strike="noStrike" kern="1200" cap="none" spc="0" normalizeH="0" baseline="0" noProof="0" err="1">
                    <a:ln>
                      <a:noFill/>
                    </a:ln>
                    <a:solidFill>
                      <a:srgbClr val="FFFFFF"/>
                    </a:solidFill>
                    <a:effectLst/>
                    <a:uLnTx/>
                    <a:uFillTx/>
                    <a:latin typeface="Arial" panose="020B0604020202020204"/>
                    <a:ea typeface="+mn-ea"/>
                    <a:cs typeface="+mn-cs"/>
                  </a:rPr>
                  <a:t>Center</a:t>
                </a: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 Reorganization</a:t>
                </a:r>
              </a:p>
            </p:txBody>
          </p:sp>
          <p:sp>
            <p:nvSpPr>
              <p:cNvPr id="82" name="TextBox 81">
                <a:extLst>
                  <a:ext uri="{FF2B5EF4-FFF2-40B4-BE49-F238E27FC236}">
                    <a16:creationId xmlns:a16="http://schemas.microsoft.com/office/drawing/2014/main" id="{DC298380-567E-4FDF-A280-C3F8384AFFF9}"/>
                  </a:ext>
                </a:extLst>
              </p:cNvPr>
              <p:cNvSpPr txBox="1"/>
              <p:nvPr/>
            </p:nvSpPr>
            <p:spPr>
              <a:xfrm>
                <a:off x="7599186" y="383682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Standardization of Dimensions</a:t>
                </a:r>
              </a:p>
            </p:txBody>
          </p:sp>
        </p:grpSp>
      </p:grpSp>
    </p:spTree>
    <p:extLst>
      <p:ext uri="{BB962C8B-B14F-4D97-AF65-F5344CB8AC3E}">
        <p14:creationId xmlns:p14="http://schemas.microsoft.com/office/powerpoint/2010/main" val="543354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2530D-6801-49B3-B1FF-1719A8A3EA8D}"/>
              </a:ext>
            </a:extLst>
          </p:cNvPr>
          <p:cNvSpPr>
            <a:spLocks noGrp="1"/>
          </p:cNvSpPr>
          <p:nvPr>
            <p:ph type="title"/>
          </p:nvPr>
        </p:nvSpPr>
        <p:spPr/>
        <p:txBody>
          <a:bodyPr/>
          <a:lstStyle/>
          <a:p>
            <a:r>
              <a:rPr lang="en-GB"/>
              <a:t>Profitability Analysis (CO-PA) Purpose</a:t>
            </a:r>
            <a:endParaRPr lang="en-US"/>
          </a:p>
        </p:txBody>
      </p:sp>
      <p:sp>
        <p:nvSpPr>
          <p:cNvPr id="3" name="Content Placeholder 2">
            <a:extLst>
              <a:ext uri="{FF2B5EF4-FFF2-40B4-BE49-F238E27FC236}">
                <a16:creationId xmlns:a16="http://schemas.microsoft.com/office/drawing/2014/main" id="{9B90CFFC-54F4-4A84-8BAF-1874AE6659BC}"/>
              </a:ext>
            </a:extLst>
          </p:cNvPr>
          <p:cNvSpPr>
            <a:spLocks noGrp="1"/>
          </p:cNvSpPr>
          <p:nvPr>
            <p:ph idx="1"/>
          </p:nvPr>
        </p:nvSpPr>
        <p:spPr>
          <a:xfrm>
            <a:off x="515937" y="1695450"/>
            <a:ext cx="10762863" cy="4587081"/>
          </a:xfrm>
        </p:spPr>
        <p:txBody>
          <a:bodyPr/>
          <a:lstStyle/>
          <a:p>
            <a:r>
              <a:rPr lang="en-US" b="1" dirty="0"/>
              <a:t>Profitability Analysis (CO-PA)</a:t>
            </a:r>
          </a:p>
          <a:p>
            <a:endParaRPr lang="en-US" dirty="0"/>
          </a:p>
          <a:p>
            <a:r>
              <a:rPr lang="en-US" dirty="0"/>
              <a:t>The applications </a:t>
            </a:r>
            <a:r>
              <a:rPr lang="en-US" b="1" dirty="0"/>
              <a:t>Profitability Analysis</a:t>
            </a:r>
            <a:r>
              <a:rPr lang="en-US" dirty="0"/>
              <a:t> (CO-PA) provides effective tools for analyzing profitability a</a:t>
            </a:r>
            <a:r>
              <a:rPr lang="en-US"/>
              <a:t>nd forms the basis performance management.</a:t>
            </a:r>
            <a:endParaRPr lang="en-US">
              <a:cs typeface="Arial"/>
            </a:endParaRPr>
          </a:p>
          <a:p>
            <a:r>
              <a:rPr lang="en-US" dirty="0"/>
              <a:t>The application CO-PA lets you analyze the profitability of segments of your market - structured according to </a:t>
            </a:r>
            <a:r>
              <a:rPr lang="en-US" b="1" dirty="0"/>
              <a:t>products, customers</a:t>
            </a:r>
            <a:r>
              <a:rPr lang="en-US" dirty="0"/>
              <a:t>, orders, and summarizations of these </a:t>
            </a:r>
            <a:r>
              <a:rPr lang="en-US" b="1" dirty="0"/>
              <a:t>and other characteristics</a:t>
            </a:r>
            <a:r>
              <a:rPr lang="en-US" dirty="0"/>
              <a:t> - and organizational units such as company codes or business areas, in JTI we use Profit Centers. </a:t>
            </a:r>
          </a:p>
          <a:p>
            <a:r>
              <a:rPr lang="en-US" dirty="0"/>
              <a:t>The aim is to provide your sales, marketing, planning, and management organizations with decision-support from a </a:t>
            </a:r>
            <a:r>
              <a:rPr lang="en-US" b="1" dirty="0"/>
              <a:t>market-oriented viewpoint.</a:t>
            </a:r>
            <a:endParaRPr lang="en-US" dirty="0"/>
          </a:p>
          <a:p>
            <a:r>
              <a:rPr lang="en-US" dirty="0"/>
              <a:t>The data can be analyzed by period, or by order or project.</a:t>
            </a:r>
          </a:p>
          <a:p>
            <a:r>
              <a:rPr lang="de-CH" dirty="0"/>
              <a:t>S/4 will also provide </a:t>
            </a:r>
            <a:r>
              <a:rPr lang="de-CH" b="1" dirty="0"/>
              <a:t>embedded analysis for office queries</a:t>
            </a:r>
            <a:r>
              <a:rPr lang="de-CH" dirty="0"/>
              <a:t> to support </a:t>
            </a:r>
            <a:r>
              <a:rPr lang="de-CH" u="sng" dirty="0"/>
              <a:t>real-time «slice and </a:t>
            </a:r>
            <a:r>
              <a:rPr lang="de-CH" u="sng"/>
              <a:t>dice</a:t>
            </a:r>
            <a:r>
              <a:rPr lang="de-CH" u="sng" dirty="0"/>
              <a:t>» </a:t>
            </a:r>
            <a:r>
              <a:rPr lang="de-CH" u="sng"/>
              <a:t>functionalities</a:t>
            </a:r>
            <a:r>
              <a:rPr lang="de-CH" u="sng" dirty="0"/>
              <a:t> in </a:t>
            </a:r>
            <a:r>
              <a:rPr lang="de-CH" u="sng"/>
              <a:t>management</a:t>
            </a:r>
            <a:r>
              <a:rPr lang="de-CH" u="sng" dirty="0"/>
              <a:t> </a:t>
            </a:r>
            <a:r>
              <a:rPr lang="de-CH" u="sng"/>
              <a:t>reporting</a:t>
            </a:r>
            <a:r>
              <a:rPr lang="de-CH" u="sng" dirty="0"/>
              <a:t>. </a:t>
            </a:r>
            <a:endParaRPr lang="de-CH" u="sng" dirty="0">
              <a:cs typeface="Arial"/>
            </a:endParaRPr>
          </a:p>
          <a:p>
            <a:endParaRPr lang="en-US" dirty="0"/>
          </a:p>
          <a:p>
            <a:endParaRPr lang="en-US" dirty="0"/>
          </a:p>
        </p:txBody>
      </p:sp>
      <p:sp>
        <p:nvSpPr>
          <p:cNvPr id="4" name="Footer Placeholder 3">
            <a:extLst>
              <a:ext uri="{FF2B5EF4-FFF2-40B4-BE49-F238E27FC236}">
                <a16:creationId xmlns:a16="http://schemas.microsoft.com/office/drawing/2014/main" id="{3B16C1F6-1DE7-4A3E-B173-2C7DF48CF2E1}"/>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0CC83B44-F7F1-468A-ADE5-91D5E6E5E8D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531027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4F01B-A9CD-43E1-8ACB-E580E8C3DAA4}"/>
              </a:ext>
            </a:extLst>
          </p:cNvPr>
          <p:cNvSpPr>
            <a:spLocks noGrp="1"/>
          </p:cNvSpPr>
          <p:nvPr>
            <p:ph type="title"/>
          </p:nvPr>
        </p:nvSpPr>
        <p:spPr/>
        <p:txBody>
          <a:bodyPr/>
          <a:lstStyle/>
          <a:p>
            <a:r>
              <a:rPr lang="en-GB"/>
              <a:t>Profitability Analysis (CO-PA) Purpose</a:t>
            </a:r>
            <a:endParaRPr lang="en-US"/>
          </a:p>
        </p:txBody>
      </p:sp>
      <p:sp>
        <p:nvSpPr>
          <p:cNvPr id="4" name="Footer Placeholder 3">
            <a:extLst>
              <a:ext uri="{FF2B5EF4-FFF2-40B4-BE49-F238E27FC236}">
                <a16:creationId xmlns:a16="http://schemas.microsoft.com/office/drawing/2014/main" id="{40C65EB7-31FF-416C-829B-D2D1DE4990BB}"/>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D2C93E30-02EA-4252-8ACD-D6F31B4A7AB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3" name="Picture 12" descr="A picture containing parachute, outdoor object&#10;&#10;Description generated with very high confidence">
            <a:extLst>
              <a:ext uri="{FF2B5EF4-FFF2-40B4-BE49-F238E27FC236}">
                <a16:creationId xmlns:a16="http://schemas.microsoft.com/office/drawing/2014/main" id="{DF955C4D-EB63-495E-A208-42FEB511C6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321" y="2291747"/>
            <a:ext cx="5204005" cy="3079527"/>
          </a:xfrm>
          <a:prstGeom prst="rect">
            <a:avLst/>
          </a:prstGeom>
        </p:spPr>
      </p:pic>
      <p:sp>
        <p:nvSpPr>
          <p:cNvPr id="14" name="Diamond 13">
            <a:extLst>
              <a:ext uri="{FF2B5EF4-FFF2-40B4-BE49-F238E27FC236}">
                <a16:creationId xmlns:a16="http://schemas.microsoft.com/office/drawing/2014/main" id="{81F1CA96-6649-4143-96C2-4EB205C5779D}"/>
              </a:ext>
            </a:extLst>
          </p:cNvPr>
          <p:cNvSpPr/>
          <p:nvPr/>
        </p:nvSpPr>
        <p:spPr>
          <a:xfrm>
            <a:off x="8164116" y="1456578"/>
            <a:ext cx="1132284" cy="1123336"/>
          </a:xfrm>
          <a:prstGeom prst="diamond">
            <a:avLst/>
          </a:prstGeom>
          <a:solidFill>
            <a:schemeClr val="accent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CO-PA</a:t>
            </a:r>
            <a:endParaRPr kumimoji="0" lang="en-US" sz="18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Arrow: Striped Right 8">
            <a:extLst>
              <a:ext uri="{FF2B5EF4-FFF2-40B4-BE49-F238E27FC236}">
                <a16:creationId xmlns:a16="http://schemas.microsoft.com/office/drawing/2014/main" id="{3B8AAC54-AE82-4684-8F03-9DE6F8000F13}"/>
              </a:ext>
            </a:extLst>
          </p:cNvPr>
          <p:cNvSpPr/>
          <p:nvPr/>
        </p:nvSpPr>
        <p:spPr>
          <a:xfrm rot="5400000">
            <a:off x="8342378" y="2836832"/>
            <a:ext cx="775759" cy="443775"/>
          </a:xfrm>
          <a:prstGeom prst="striped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TextBox 9">
            <a:extLst>
              <a:ext uri="{FF2B5EF4-FFF2-40B4-BE49-F238E27FC236}">
                <a16:creationId xmlns:a16="http://schemas.microsoft.com/office/drawing/2014/main" id="{E943D3A9-D180-43AC-A6C5-1BC97B04AB68}"/>
              </a:ext>
            </a:extLst>
          </p:cNvPr>
          <p:cNvSpPr txBox="1"/>
          <p:nvPr/>
        </p:nvSpPr>
        <p:spPr>
          <a:xfrm>
            <a:off x="6367406" y="2733153"/>
            <a:ext cx="2115104" cy="651134"/>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Answers questions such as:</a:t>
            </a:r>
            <a:endParaRPr kumimoji="0" lang="en-US" sz="1800" b="0" i="0" u="none" strike="noStrike" kern="1200" cap="none" spc="0" normalizeH="0" baseline="0" noProof="0" err="1">
              <a:ln>
                <a:noFill/>
              </a:ln>
              <a:solidFill>
                <a:srgbClr val="000000"/>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BD79952E-0852-4777-B173-3E981ED95FD8}"/>
              </a:ext>
            </a:extLst>
          </p:cNvPr>
          <p:cNvSpPr/>
          <p:nvPr/>
        </p:nvSpPr>
        <p:spPr>
          <a:xfrm>
            <a:off x="6737501" y="4418618"/>
            <a:ext cx="5204005" cy="823717"/>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Arial" panose="020B0604020202020204"/>
                <a:ea typeface="+mn-ea"/>
                <a:cs typeface="+mn-cs"/>
              </a:rPr>
              <a:t>How have sales and brand contribution margins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Arial" panose="020B0604020202020204"/>
                <a:ea typeface="+mn-ea"/>
                <a:cs typeface="+mn-cs"/>
              </a:rPr>
              <a:t>changed in the last period for certain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Arial" panose="020B0604020202020204"/>
                <a:ea typeface="+mn-ea"/>
                <a:cs typeface="+mn-cs"/>
              </a:rPr>
              <a:t>Brands and Product Types?</a:t>
            </a:r>
          </a:p>
        </p:txBody>
      </p:sp>
      <p:sp>
        <p:nvSpPr>
          <p:cNvPr id="21" name="Rectangle: Rounded Corners 20">
            <a:extLst>
              <a:ext uri="{FF2B5EF4-FFF2-40B4-BE49-F238E27FC236}">
                <a16:creationId xmlns:a16="http://schemas.microsoft.com/office/drawing/2014/main" id="{FD300C38-7D0A-4CE6-9CBD-D2CE08C9744C}"/>
              </a:ext>
            </a:extLst>
          </p:cNvPr>
          <p:cNvSpPr/>
          <p:nvPr/>
        </p:nvSpPr>
        <p:spPr>
          <a:xfrm>
            <a:off x="6737500" y="3537526"/>
            <a:ext cx="5204005" cy="775759"/>
          </a:xfrm>
          <a:prstGeom prst="round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What are my top performing products in different Markets?</a:t>
            </a: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2" name="Rectangle: Rounded Corners 21">
            <a:extLst>
              <a:ext uri="{FF2B5EF4-FFF2-40B4-BE49-F238E27FC236}">
                <a16:creationId xmlns:a16="http://schemas.microsoft.com/office/drawing/2014/main" id="{EC2CB462-08DD-492E-98D9-20EBD0CFA911}"/>
              </a:ext>
            </a:extLst>
          </p:cNvPr>
          <p:cNvSpPr/>
          <p:nvPr/>
        </p:nvSpPr>
        <p:spPr>
          <a:xfrm>
            <a:off x="6737499" y="5325325"/>
            <a:ext cx="5204005" cy="775759"/>
          </a:xfrm>
          <a:prstGeom prst="round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How much are we investing in Trade Programs across different Markets?</a:t>
            </a:r>
          </a:p>
        </p:txBody>
      </p:sp>
    </p:spTree>
    <p:extLst>
      <p:ext uri="{BB962C8B-B14F-4D97-AF65-F5344CB8AC3E}">
        <p14:creationId xmlns:p14="http://schemas.microsoft.com/office/powerpoint/2010/main" val="803770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4F01B-A9CD-43E1-8ACB-E580E8C3DAA4}"/>
              </a:ext>
            </a:extLst>
          </p:cNvPr>
          <p:cNvSpPr>
            <a:spLocks noGrp="1"/>
          </p:cNvSpPr>
          <p:nvPr>
            <p:ph type="title"/>
          </p:nvPr>
        </p:nvSpPr>
        <p:spPr/>
        <p:txBody>
          <a:bodyPr/>
          <a:lstStyle/>
          <a:p>
            <a:r>
              <a:rPr lang="en-GB"/>
              <a:t>Profitability Analysis (CO-PA) Overview</a:t>
            </a:r>
            <a:endParaRPr lang="en-US"/>
          </a:p>
        </p:txBody>
      </p:sp>
      <p:pic>
        <p:nvPicPr>
          <p:cNvPr id="7" name="Content Placeholder 6" descr="A view of a road&#10;&#10;Description generated with very high confidence">
            <a:extLst>
              <a:ext uri="{FF2B5EF4-FFF2-40B4-BE49-F238E27FC236}">
                <a16:creationId xmlns:a16="http://schemas.microsoft.com/office/drawing/2014/main" id="{D25C5812-C96C-4246-AEC0-AC991447E1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3200" y="2722559"/>
            <a:ext cx="3378260" cy="2248654"/>
          </a:xfrm>
          <a:effectLst>
            <a:softEdge rad="76200"/>
          </a:effectLst>
        </p:spPr>
      </p:pic>
      <p:sp>
        <p:nvSpPr>
          <p:cNvPr id="4" name="Footer Placeholder 3">
            <a:extLst>
              <a:ext uri="{FF2B5EF4-FFF2-40B4-BE49-F238E27FC236}">
                <a16:creationId xmlns:a16="http://schemas.microsoft.com/office/drawing/2014/main" id="{40C65EB7-31FF-416C-829B-D2D1DE4990BB}"/>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D2C93E30-02EA-4252-8ACD-D6F31B4A7AB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 name="Diamond 7">
            <a:extLst>
              <a:ext uri="{FF2B5EF4-FFF2-40B4-BE49-F238E27FC236}">
                <a16:creationId xmlns:a16="http://schemas.microsoft.com/office/drawing/2014/main" id="{64DC6D40-7A62-4D57-99BB-38E89335FB37}"/>
              </a:ext>
            </a:extLst>
          </p:cNvPr>
          <p:cNvSpPr/>
          <p:nvPr/>
        </p:nvSpPr>
        <p:spPr>
          <a:xfrm>
            <a:off x="2099790" y="4761067"/>
            <a:ext cx="1249388" cy="1309454"/>
          </a:xfrm>
          <a:prstGeom prst="diamond">
            <a:avLst/>
          </a:prstGeom>
          <a:solidFill>
            <a:schemeClr val="accent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SD</a:t>
            </a:r>
            <a:endParaRPr kumimoji="0" lang="en-US" sz="18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Arrow: Right 10">
            <a:extLst>
              <a:ext uri="{FF2B5EF4-FFF2-40B4-BE49-F238E27FC236}">
                <a16:creationId xmlns:a16="http://schemas.microsoft.com/office/drawing/2014/main" id="{35CC664E-4AB8-4277-8730-F412A93A7DFB}"/>
              </a:ext>
            </a:extLst>
          </p:cNvPr>
          <p:cNvSpPr/>
          <p:nvPr/>
        </p:nvSpPr>
        <p:spPr>
          <a:xfrm>
            <a:off x="4970761" y="3543745"/>
            <a:ext cx="1828801" cy="606282"/>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3" name="Picture 12" descr="A picture containing parachute, outdoor object&#10;&#10;Description generated with very high confidence">
            <a:extLst>
              <a:ext uri="{FF2B5EF4-FFF2-40B4-BE49-F238E27FC236}">
                <a16:creationId xmlns:a16="http://schemas.microsoft.com/office/drawing/2014/main" id="{DF955C4D-EB63-495E-A208-42FEB511C6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8864" y="2722559"/>
            <a:ext cx="3799936" cy="2248654"/>
          </a:xfrm>
          <a:prstGeom prst="rect">
            <a:avLst/>
          </a:prstGeom>
        </p:spPr>
      </p:pic>
      <p:sp>
        <p:nvSpPr>
          <p:cNvPr id="14" name="Diamond 13">
            <a:extLst>
              <a:ext uri="{FF2B5EF4-FFF2-40B4-BE49-F238E27FC236}">
                <a16:creationId xmlns:a16="http://schemas.microsoft.com/office/drawing/2014/main" id="{81F1CA96-6649-4143-96C2-4EB205C5779D}"/>
              </a:ext>
            </a:extLst>
          </p:cNvPr>
          <p:cNvSpPr/>
          <p:nvPr/>
        </p:nvSpPr>
        <p:spPr>
          <a:xfrm>
            <a:off x="8931507" y="4728409"/>
            <a:ext cx="1311708" cy="1374770"/>
          </a:xfrm>
          <a:prstGeom prst="diamond">
            <a:avLst/>
          </a:prstGeom>
          <a:solidFill>
            <a:schemeClr val="accent3"/>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CO-PA</a:t>
            </a:r>
            <a:endParaRPr kumimoji="0" lang="en-US" sz="18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TextBox 14">
            <a:extLst>
              <a:ext uri="{FF2B5EF4-FFF2-40B4-BE49-F238E27FC236}">
                <a16:creationId xmlns:a16="http://schemas.microsoft.com/office/drawing/2014/main" id="{C98E6DD5-B4C4-439E-80B6-BB2A87211B13}"/>
              </a:ext>
            </a:extLst>
          </p:cNvPr>
          <p:cNvSpPr txBox="1"/>
          <p:nvPr/>
        </p:nvSpPr>
        <p:spPr>
          <a:xfrm>
            <a:off x="4970761" y="2139043"/>
            <a:ext cx="2262796" cy="984247"/>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sng" strike="noStrike" kern="1200" cap="none" spc="0" normalizeH="0" baseline="0" noProof="0">
                <a:ln>
                  <a:noFill/>
                </a:ln>
                <a:solidFill>
                  <a:srgbClr val="33C1BA"/>
                </a:solidFill>
                <a:effectLst/>
                <a:uLnTx/>
                <a:uFillTx/>
                <a:latin typeface="Arial" panose="020B0604020202020204"/>
                <a:ea typeface="+mn-ea"/>
                <a:cs typeface="+mn-cs"/>
              </a:rPr>
              <a:t>Key Sales Figures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a:ea typeface="+mn-ea"/>
                <a:cs typeface="+mn-cs"/>
              </a:rPr>
              <a:t>Revenues, Cost of Sales…</a:t>
            </a:r>
            <a:endParaRPr kumimoji="0" lang="en-US" sz="2000" b="1" i="0" u="none" strike="noStrike" kern="1200" cap="none" spc="0" normalizeH="0" baseline="0" noProof="0" err="1">
              <a:ln>
                <a:noFill/>
              </a:ln>
              <a:solidFill>
                <a:srgbClr val="000000"/>
              </a:solidFill>
              <a:effectLst/>
              <a:uLnTx/>
              <a:uFillTx/>
              <a:latin typeface="Arial" panose="020B0604020202020204"/>
              <a:ea typeface="+mn-ea"/>
              <a:cs typeface="+mn-cs"/>
            </a:endParaRPr>
          </a:p>
        </p:txBody>
      </p:sp>
      <p:sp>
        <p:nvSpPr>
          <p:cNvPr id="16" name="TextBox 15">
            <a:extLst>
              <a:ext uri="{FF2B5EF4-FFF2-40B4-BE49-F238E27FC236}">
                <a16:creationId xmlns:a16="http://schemas.microsoft.com/office/drawing/2014/main" id="{4548C5ED-B28C-4B20-A0E8-799C13923654}"/>
              </a:ext>
            </a:extLst>
          </p:cNvPr>
          <p:cNvSpPr txBox="1"/>
          <p:nvPr/>
        </p:nvSpPr>
        <p:spPr>
          <a:xfrm>
            <a:off x="4964602" y="4449598"/>
            <a:ext cx="2373458" cy="984247"/>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sng" strike="noStrike" kern="1200" cap="none" spc="0" normalizeH="0" baseline="0" noProof="0">
                <a:ln>
                  <a:noFill/>
                </a:ln>
                <a:solidFill>
                  <a:srgbClr val="33C1BA"/>
                </a:solidFill>
                <a:effectLst/>
                <a:uLnTx/>
                <a:uFillTx/>
                <a:latin typeface="Arial" panose="020B0604020202020204"/>
                <a:ea typeface="+mn-ea"/>
                <a:cs typeface="+mn-cs"/>
              </a:rPr>
              <a:t>Market Segments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a:ea typeface="+mn-ea"/>
                <a:cs typeface="+mn-cs"/>
              </a:rPr>
              <a:t>Product,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a:ln>
                  <a:noFill/>
                </a:ln>
                <a:solidFill>
                  <a:srgbClr val="000000"/>
                </a:solidFill>
                <a:effectLst/>
                <a:uLnTx/>
                <a:uFillTx/>
                <a:latin typeface="Arial" panose="020B0604020202020204"/>
                <a:ea typeface="+mn-ea"/>
                <a:cs typeface="+mn-cs"/>
              </a:rPr>
              <a:t>Product Type, Customer, Brand Family, Distribution Channel…</a:t>
            </a:r>
            <a:endParaRPr kumimoji="0" lang="en-US" sz="20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 name="Rectangle: Rounded Corners 17">
            <a:extLst>
              <a:ext uri="{FF2B5EF4-FFF2-40B4-BE49-F238E27FC236}">
                <a16:creationId xmlns:a16="http://schemas.microsoft.com/office/drawing/2014/main" id="{3BD49FD8-40C1-4E38-89EE-4E45D0C1F880}"/>
              </a:ext>
            </a:extLst>
          </p:cNvPr>
          <p:cNvSpPr/>
          <p:nvPr/>
        </p:nvSpPr>
        <p:spPr>
          <a:xfrm>
            <a:off x="1289957" y="1718588"/>
            <a:ext cx="2262796" cy="420455"/>
          </a:xfrm>
          <a:prstGeom prst="roundRect">
            <a:avLst/>
          </a:prstGeom>
          <a:solidFill>
            <a:schemeClr val="accent3">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FACTORY</a:t>
            </a:r>
            <a:endParaRPr kumimoji="0" lang="en-US" sz="18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Rectangle: Rounded Corners 18">
            <a:extLst>
              <a:ext uri="{FF2B5EF4-FFF2-40B4-BE49-F238E27FC236}">
                <a16:creationId xmlns:a16="http://schemas.microsoft.com/office/drawing/2014/main" id="{995290C8-5D99-4826-9977-7A93673BCF91}"/>
              </a:ext>
            </a:extLst>
          </p:cNvPr>
          <p:cNvSpPr/>
          <p:nvPr/>
        </p:nvSpPr>
        <p:spPr>
          <a:xfrm>
            <a:off x="8247434" y="1718588"/>
            <a:ext cx="2262796" cy="420455"/>
          </a:xfrm>
          <a:prstGeom prst="roundRect">
            <a:avLst/>
          </a:prstGeom>
          <a:solidFill>
            <a:schemeClr val="accent3">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MARKET</a:t>
            </a:r>
            <a:endParaRPr kumimoji="0" lang="en-US" sz="18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 name="TextBox 19">
            <a:extLst>
              <a:ext uri="{FF2B5EF4-FFF2-40B4-BE49-F238E27FC236}">
                <a16:creationId xmlns:a16="http://schemas.microsoft.com/office/drawing/2014/main" id="{806A0BF7-6AB0-4C20-9224-C1E029C22B8D}"/>
              </a:ext>
            </a:extLst>
          </p:cNvPr>
          <p:cNvSpPr txBox="1"/>
          <p:nvPr/>
        </p:nvSpPr>
        <p:spPr>
          <a:xfrm>
            <a:off x="587829" y="5763986"/>
            <a:ext cx="2498271" cy="339193"/>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Billing Document</a:t>
            </a:r>
            <a:endParaRPr kumimoji="0" lang="en-US" sz="1800" b="0" i="0" u="none" strike="noStrike" kern="1200" cap="none" spc="0" normalizeH="0" baseline="0" noProof="0" err="1">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231343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4744" y="1340603"/>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4" name="Group 3">
            <a:extLst>
              <a:ext uri="{FF2B5EF4-FFF2-40B4-BE49-F238E27FC236}">
                <a16:creationId xmlns:a16="http://schemas.microsoft.com/office/drawing/2014/main" id="{B875A926-C785-427C-9772-AEF3BBE8C5DD}"/>
              </a:ext>
            </a:extLst>
          </p:cNvPr>
          <p:cNvGrpSpPr/>
          <p:nvPr/>
        </p:nvGrpSpPr>
        <p:grpSpPr>
          <a:xfrm>
            <a:off x="6482480" y="1476657"/>
            <a:ext cx="4824874" cy="3546766"/>
            <a:chOff x="6137040" y="1954177"/>
            <a:chExt cx="4824874" cy="3546766"/>
          </a:xfrm>
        </p:grpSpPr>
        <p:grpSp>
          <p:nvGrpSpPr>
            <p:cNvPr id="19" name="Group 18">
              <a:extLst>
                <a:ext uri="{FF2B5EF4-FFF2-40B4-BE49-F238E27FC236}">
                  <a16:creationId xmlns:a16="http://schemas.microsoft.com/office/drawing/2014/main" id="{3F49BABF-73A4-41A0-8EC8-DC283FC79D84}"/>
                </a:ext>
              </a:extLst>
            </p:cNvPr>
            <p:cNvGrpSpPr/>
            <p:nvPr/>
          </p:nvGrpSpPr>
          <p:grpSpPr>
            <a:xfrm>
              <a:off x="6137040" y="1954177"/>
              <a:ext cx="4824874" cy="2607660"/>
              <a:chOff x="7304060" y="1855075"/>
              <a:chExt cx="4824874" cy="2607660"/>
            </a:xfrm>
          </p:grpSpPr>
          <p:cxnSp>
            <p:nvCxnSpPr>
              <p:cNvPr id="8" name="Elbow Connector 7"/>
              <p:cNvCxnSpPr>
                <a:cxnSpLocks/>
              </p:cNvCxnSpPr>
              <p:nvPr/>
            </p:nvCxnSpPr>
            <p:spPr>
              <a:xfrm>
                <a:off x="7304060" y="3060320"/>
                <a:ext cx="1009162" cy="1402415"/>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 name="Elbow Connector 4"/>
              <p:cNvCxnSpPr>
                <a:cxnSpLocks/>
              </p:cNvCxnSpPr>
              <p:nvPr/>
            </p:nvCxnSpPr>
            <p:spPr>
              <a:xfrm flipV="1">
                <a:off x="7304060" y="2095049"/>
                <a:ext cx="1008701" cy="958351"/>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cxnSpLocks/>
              </p:cNvCxnSpPr>
              <p:nvPr/>
            </p:nvCxnSpPr>
            <p:spPr>
              <a:xfrm>
                <a:off x="7785534" y="3053401"/>
                <a:ext cx="525287" cy="17084"/>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8426127" y="2544799"/>
                <a:ext cx="3691795" cy="803812"/>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a:ln>
                      <a:noFill/>
                    </a:ln>
                    <a:solidFill>
                      <a:srgbClr val="1A3040"/>
                    </a:solidFill>
                    <a:effectLst/>
                    <a:uLnTx/>
                    <a:uFillTx/>
                    <a:latin typeface="Arial" charset="0"/>
                    <a:ea typeface="+mn-ea"/>
                    <a:cs typeface="Arial" charset="0"/>
                  </a:rPr>
                  <a:t>Profitability Analysis Structure</a:t>
                </a:r>
                <a:endParaRPr kumimoji="0" lang="en-GB" sz="1400" b="0" i="0" u="none" strike="noStrike" kern="1200" cap="none" spc="0" normalizeH="0" baseline="0" noProof="0">
                  <a:ln>
                    <a:noFill/>
                  </a:ln>
                  <a:solidFill>
                    <a:srgbClr val="1A3040"/>
                  </a:solidFill>
                  <a:effectLst/>
                  <a:uLnTx/>
                  <a:uFillTx/>
                  <a:latin typeface="Arial" panose="020B0604020202020204"/>
                  <a:ea typeface="+mn-ea"/>
                  <a:cs typeface="+mn-cs"/>
                </a:endParaRPr>
              </a:p>
            </p:txBody>
          </p:sp>
          <p:sp>
            <p:nvSpPr>
              <p:cNvPr id="40" name="Rounded Rectangle 39"/>
              <p:cNvSpPr/>
              <p:nvPr/>
            </p:nvSpPr>
            <p:spPr>
              <a:xfrm>
                <a:off x="8437138" y="1855075"/>
                <a:ext cx="3691795" cy="54308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a:ea typeface="+mn-ea"/>
                    <a:cs typeface="Arial"/>
                  </a:rPr>
                  <a:t>Introduction to Profitability Analysis CO-PA</a:t>
                </a:r>
                <a:endParaRPr kumimoji="0" lang="en-US" sz="1400" b="0" i="0" u="none" strike="noStrike" kern="1200" cap="none" spc="0" normalizeH="0" baseline="0" noProof="0">
                  <a:ln>
                    <a:noFill/>
                  </a:ln>
                  <a:solidFill>
                    <a:srgbClr val="FFFFFF"/>
                  </a:solidFill>
                  <a:effectLst/>
                  <a:uLnTx/>
                  <a:uFillTx/>
                  <a:latin typeface="Arial"/>
                  <a:ea typeface="+mn-ea"/>
                  <a:cs typeface="Arial"/>
                </a:endParaRPr>
              </a:p>
            </p:txBody>
          </p:sp>
          <p:sp>
            <p:nvSpPr>
              <p:cNvPr id="41" name="Rounded Rectangle 40"/>
              <p:cNvSpPr/>
              <p:nvPr/>
            </p:nvSpPr>
            <p:spPr>
              <a:xfrm>
                <a:off x="8437139" y="3495256"/>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charset="0"/>
                    <a:ea typeface="+mn-ea"/>
                    <a:cs typeface="Arial" charset="0"/>
                  </a:rPr>
                  <a:t>Profitability Analysis Master Data</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cxnSp>
          <p:nvCxnSpPr>
            <p:cNvPr id="54" name="Straight Connector 53">
              <a:extLst>
                <a:ext uri="{FF2B5EF4-FFF2-40B4-BE49-F238E27FC236}">
                  <a16:creationId xmlns:a16="http://schemas.microsoft.com/office/drawing/2014/main" id="{07919984-F404-412F-9166-F0185B5D23FE}"/>
                </a:ext>
              </a:extLst>
            </p:cNvPr>
            <p:cNvCxnSpPr>
              <a:cxnSpLocks/>
            </p:cNvCxnSpPr>
            <p:nvPr/>
          </p:nvCxnSpPr>
          <p:spPr>
            <a:xfrm>
              <a:off x="6658703" y="3827996"/>
              <a:ext cx="485098"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55" name="Rounded Rectangle 40">
              <a:extLst>
                <a:ext uri="{FF2B5EF4-FFF2-40B4-BE49-F238E27FC236}">
                  <a16:creationId xmlns:a16="http://schemas.microsoft.com/office/drawing/2014/main" id="{2D2503B0-04F9-4BCC-8872-CB1ED195769A}"/>
                </a:ext>
              </a:extLst>
            </p:cNvPr>
            <p:cNvSpPr/>
            <p:nvPr/>
          </p:nvSpPr>
          <p:spPr>
            <a:xfrm>
              <a:off x="7270118" y="4314752"/>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charset="0"/>
                  <a:ea typeface="+mn-ea"/>
                  <a:cs typeface="Arial" charset="0"/>
                </a:rPr>
                <a:t>Profitability Analysis Derivation </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3" name="Rounded Rectangle 40">
              <a:extLst>
                <a:ext uri="{FF2B5EF4-FFF2-40B4-BE49-F238E27FC236}">
                  <a16:creationId xmlns:a16="http://schemas.microsoft.com/office/drawing/2014/main" id="{57DABD82-58AF-4C79-BFAC-C980730BAEBE}"/>
                </a:ext>
              </a:extLst>
            </p:cNvPr>
            <p:cNvSpPr/>
            <p:nvPr/>
          </p:nvSpPr>
          <p:spPr>
            <a:xfrm>
              <a:off x="7270119" y="4970334"/>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charset="0"/>
                  <a:ea typeface="+mn-ea"/>
                  <a:cs typeface="Arial" charset="0"/>
                </a:rPr>
                <a:t>Profitability Analysis Value Flows</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6" name="Elbow Connector 7">
              <a:extLst>
                <a:ext uri="{FF2B5EF4-FFF2-40B4-BE49-F238E27FC236}">
                  <a16:creationId xmlns:a16="http://schemas.microsoft.com/office/drawing/2014/main" id="{31143BFE-DE42-47C0-88FF-A2DE07D4EDEB}"/>
                </a:ext>
              </a:extLst>
            </p:cNvPr>
            <p:cNvCxnSpPr>
              <a:cxnSpLocks/>
            </p:cNvCxnSpPr>
            <p:nvPr/>
          </p:nvCxnSpPr>
          <p:spPr>
            <a:xfrm>
              <a:off x="6137040" y="3159111"/>
              <a:ext cx="1009162" cy="2053277"/>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BF5C3353-432B-4FB7-BCDD-F125B7948867}"/>
              </a:ext>
            </a:extLst>
          </p:cNvPr>
          <p:cNvGrpSpPr/>
          <p:nvPr/>
        </p:nvGrpSpPr>
        <p:grpSpPr>
          <a:xfrm>
            <a:off x="203600" y="2495267"/>
            <a:ext cx="6278878" cy="2644251"/>
            <a:chOff x="4428422" y="2334368"/>
            <a:chExt cx="7806123" cy="3512903"/>
          </a:xfrm>
        </p:grpSpPr>
        <p:cxnSp>
          <p:nvCxnSpPr>
            <p:cNvPr id="58" name="Straight Connector 57">
              <a:extLst>
                <a:ext uri="{FF2B5EF4-FFF2-40B4-BE49-F238E27FC236}">
                  <a16:creationId xmlns:a16="http://schemas.microsoft.com/office/drawing/2014/main" id="{BC376F16-1560-4421-9792-656FDC06F652}"/>
                </a:ext>
              </a:extLst>
            </p:cNvPr>
            <p:cNvCxnSpPr>
              <a:cxnSpLocks/>
            </p:cNvCxnSpPr>
            <p:nvPr/>
          </p:nvCxnSpPr>
          <p:spPr>
            <a:xfrm>
              <a:off x="6781086" y="3324312"/>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F87E645-17BE-4559-8BBC-AF5B8D713972}"/>
                </a:ext>
              </a:extLst>
            </p:cNvPr>
            <p:cNvCxnSpPr>
              <a:cxnSpLocks/>
            </p:cNvCxnSpPr>
            <p:nvPr/>
          </p:nvCxnSpPr>
          <p:spPr>
            <a:xfrm>
              <a:off x="6795663" y="4793898"/>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0" name="Group 59">
              <a:extLst>
                <a:ext uri="{FF2B5EF4-FFF2-40B4-BE49-F238E27FC236}">
                  <a16:creationId xmlns:a16="http://schemas.microsoft.com/office/drawing/2014/main" id="{20691D65-AD67-4C09-A598-0073AA46E739}"/>
                </a:ext>
              </a:extLst>
            </p:cNvPr>
            <p:cNvGrpSpPr/>
            <p:nvPr/>
          </p:nvGrpSpPr>
          <p:grpSpPr>
            <a:xfrm>
              <a:off x="4428422" y="2334368"/>
              <a:ext cx="7806123" cy="3512903"/>
              <a:chOff x="4428422" y="2334368"/>
              <a:chExt cx="7806123" cy="3512903"/>
            </a:xfrm>
          </p:grpSpPr>
          <p:grpSp>
            <p:nvGrpSpPr>
              <p:cNvPr id="61" name="Group 60">
                <a:extLst>
                  <a:ext uri="{FF2B5EF4-FFF2-40B4-BE49-F238E27FC236}">
                    <a16:creationId xmlns:a16="http://schemas.microsoft.com/office/drawing/2014/main" id="{7059ED27-25F8-478B-BB88-AA91F714FDAF}"/>
                  </a:ext>
                </a:extLst>
              </p:cNvPr>
              <p:cNvGrpSpPr/>
              <p:nvPr/>
            </p:nvGrpSpPr>
            <p:grpSpPr>
              <a:xfrm>
                <a:off x="4428422" y="2334368"/>
                <a:ext cx="7796979" cy="3512903"/>
                <a:chOff x="4371016" y="2260587"/>
                <a:chExt cx="7796979" cy="3512903"/>
              </a:xfrm>
            </p:grpSpPr>
            <p:cxnSp>
              <p:nvCxnSpPr>
                <p:cNvPr id="66" name="Elbow Connector 37">
                  <a:extLst>
                    <a:ext uri="{FF2B5EF4-FFF2-40B4-BE49-F238E27FC236}">
                      <a16:creationId xmlns:a16="http://schemas.microsoft.com/office/drawing/2014/main" id="{D249767B-4A61-4CDC-9598-2EA7D53CC01E}"/>
                    </a:ext>
                  </a:extLst>
                </p:cNvPr>
                <p:cNvCxnSpPr>
                  <a:cxnSpLocks/>
                </p:cNvCxnSpPr>
                <p:nvPr/>
              </p:nvCxnSpPr>
              <p:spPr>
                <a:xfrm>
                  <a:off x="6204970" y="3996147"/>
                  <a:ext cx="1096000" cy="14997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2196EF3B-424D-4D18-A32F-B634C524B39B}"/>
                    </a:ext>
                  </a:extLst>
                </p:cNvPr>
                <p:cNvGrpSpPr/>
                <p:nvPr/>
              </p:nvGrpSpPr>
              <p:grpSpPr>
                <a:xfrm>
                  <a:off x="4371016" y="2260587"/>
                  <a:ext cx="7796979" cy="3512903"/>
                  <a:chOff x="4371016" y="2260587"/>
                  <a:chExt cx="7796979" cy="3512903"/>
                </a:xfrm>
              </p:grpSpPr>
              <p:cxnSp>
                <p:nvCxnSpPr>
                  <p:cNvPr id="68" name="Elbow Connector 31">
                    <a:extLst>
                      <a:ext uri="{FF2B5EF4-FFF2-40B4-BE49-F238E27FC236}">
                        <a16:creationId xmlns:a16="http://schemas.microsoft.com/office/drawing/2014/main" id="{E7287F4D-16B5-4E84-B056-392D543D1B2E}"/>
                      </a:ext>
                    </a:extLst>
                  </p:cNvPr>
                  <p:cNvCxnSpPr>
                    <a:cxnSpLocks/>
                  </p:cNvCxnSpPr>
                  <p:nvPr/>
                </p:nvCxnSpPr>
                <p:spPr>
                  <a:xfrm flipV="1">
                    <a:off x="6194084" y="2527165"/>
                    <a:ext cx="1121463" cy="1465481"/>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6EF99E86-FD4B-4206-912A-7DC1FFCEC82F}"/>
                      </a:ext>
                    </a:extLst>
                  </p:cNvPr>
                  <p:cNvGrpSpPr/>
                  <p:nvPr/>
                </p:nvGrpSpPr>
                <p:grpSpPr>
                  <a:xfrm>
                    <a:off x="4371016" y="2260587"/>
                    <a:ext cx="7796979" cy="3512903"/>
                    <a:chOff x="4371016" y="2260587"/>
                    <a:chExt cx="7796979" cy="3512903"/>
                  </a:xfrm>
                </p:grpSpPr>
                <p:sp>
                  <p:nvSpPr>
                    <p:cNvPr id="70" name="TextBox 69">
                      <a:extLst>
                        <a:ext uri="{FF2B5EF4-FFF2-40B4-BE49-F238E27FC236}">
                          <a16:creationId xmlns:a16="http://schemas.microsoft.com/office/drawing/2014/main" id="{D590C6A3-8F06-432E-96B2-0D4566347004}"/>
                        </a:ext>
                      </a:extLst>
                    </p:cNvPr>
                    <p:cNvSpPr txBox="1"/>
                    <p:nvPr/>
                  </p:nvSpPr>
                  <p:spPr>
                    <a:xfrm>
                      <a:off x="7532636" y="226058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Profitability Analysis: Intro to S/4 </a:t>
                      </a:r>
                    </a:p>
                  </p:txBody>
                </p:sp>
                <p:grpSp>
                  <p:nvGrpSpPr>
                    <p:cNvPr id="71" name="Group 70">
                      <a:extLst>
                        <a:ext uri="{FF2B5EF4-FFF2-40B4-BE49-F238E27FC236}">
                          <a16:creationId xmlns:a16="http://schemas.microsoft.com/office/drawing/2014/main" id="{D263E054-3AE1-4AAF-A991-75C2825EDA13}"/>
                        </a:ext>
                      </a:extLst>
                    </p:cNvPr>
                    <p:cNvGrpSpPr/>
                    <p:nvPr/>
                  </p:nvGrpSpPr>
                  <p:grpSpPr>
                    <a:xfrm>
                      <a:off x="4371016" y="3031011"/>
                      <a:ext cx="1867560" cy="1901181"/>
                      <a:chOff x="575788" y="4361808"/>
                      <a:chExt cx="624164" cy="624164"/>
                    </a:xfrm>
                  </p:grpSpPr>
                  <p:grpSp>
                    <p:nvGrpSpPr>
                      <p:cNvPr id="73" name="Group 72">
                        <a:extLst>
                          <a:ext uri="{FF2B5EF4-FFF2-40B4-BE49-F238E27FC236}">
                            <a16:creationId xmlns:a16="http://schemas.microsoft.com/office/drawing/2014/main" id="{77B210FF-3E39-43C6-AD0A-B158E41A11C4}"/>
                          </a:ext>
                        </a:extLst>
                      </p:cNvPr>
                      <p:cNvGrpSpPr/>
                      <p:nvPr/>
                    </p:nvGrpSpPr>
                    <p:grpSpPr>
                      <a:xfrm>
                        <a:off x="575788" y="4361808"/>
                        <a:ext cx="624164" cy="624164"/>
                        <a:chOff x="4492144" y="190843"/>
                        <a:chExt cx="855656" cy="855656"/>
                      </a:xfrm>
                    </p:grpSpPr>
                    <p:sp>
                      <p:nvSpPr>
                        <p:cNvPr id="75" name="Oval 74">
                          <a:extLst>
                            <a:ext uri="{FF2B5EF4-FFF2-40B4-BE49-F238E27FC236}">
                              <a16:creationId xmlns:a16="http://schemas.microsoft.com/office/drawing/2014/main" id="{FFBA2FCC-5706-4B01-A513-D555ED2353B2}"/>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6" name="Oval 75">
                          <a:extLst>
                            <a:ext uri="{FF2B5EF4-FFF2-40B4-BE49-F238E27FC236}">
                              <a16:creationId xmlns:a16="http://schemas.microsoft.com/office/drawing/2014/main" id="{E941601C-B7A7-43C2-8F21-1744378EC1C2}"/>
                            </a:ext>
                          </a:extLst>
                        </p:cNvPr>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74" name="Picture 73">
                        <a:extLst>
                          <a:ext uri="{FF2B5EF4-FFF2-40B4-BE49-F238E27FC236}">
                            <a16:creationId xmlns:a16="http://schemas.microsoft.com/office/drawing/2014/main" id="{33E5A2FD-BE40-478F-B70B-B799515AB074}"/>
                          </a:ext>
                        </a:extLst>
                      </p:cNvPr>
                      <p:cNvPicPr>
                        <a:picLocks noChangeAspect="1"/>
                      </p:cNvPicPr>
                      <p:nvPr/>
                    </p:nvPicPr>
                    <p:blipFill>
                      <a:blip r:embed="rId3"/>
                      <a:stretch>
                        <a:fillRect/>
                      </a:stretch>
                    </p:blipFill>
                    <p:spPr>
                      <a:xfrm>
                        <a:off x="718607" y="4514537"/>
                        <a:ext cx="328080" cy="318706"/>
                      </a:xfrm>
                      <a:prstGeom prst="rect">
                        <a:avLst/>
                      </a:prstGeom>
                    </p:spPr>
                  </p:pic>
                </p:grpSp>
                <p:sp>
                  <p:nvSpPr>
                    <p:cNvPr id="72" name="TextBox 71">
                      <a:extLst>
                        <a:ext uri="{FF2B5EF4-FFF2-40B4-BE49-F238E27FC236}">
                          <a16:creationId xmlns:a16="http://schemas.microsoft.com/office/drawing/2014/main" id="{97B9FF2D-18A5-41D6-9E9E-BE94C981B8DE}"/>
                        </a:ext>
                      </a:extLst>
                    </p:cNvPr>
                    <p:cNvSpPr txBox="1"/>
                    <p:nvPr/>
                  </p:nvSpPr>
                  <p:spPr>
                    <a:xfrm>
                      <a:off x="7558856" y="5218301"/>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Reporting Capabilities</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sp>
            <p:nvSpPr>
              <p:cNvPr id="62" name="TextBox 61">
                <a:extLst>
                  <a:ext uri="{FF2B5EF4-FFF2-40B4-BE49-F238E27FC236}">
                    <a16:creationId xmlns:a16="http://schemas.microsoft.com/office/drawing/2014/main" id="{5ABBC761-8B5D-4A40-ADCC-CCF26E3C5EBF}"/>
                  </a:ext>
                </a:extLst>
              </p:cNvPr>
              <p:cNvSpPr txBox="1"/>
              <p:nvPr/>
            </p:nvSpPr>
            <p:spPr>
              <a:xfrm>
                <a:off x="7616262" y="4511768"/>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Market P&amp;L</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63" name="Straight Connector 62">
                <a:extLst>
                  <a:ext uri="{FF2B5EF4-FFF2-40B4-BE49-F238E27FC236}">
                    <a16:creationId xmlns:a16="http://schemas.microsoft.com/office/drawing/2014/main" id="{42ECBF97-F161-4C69-A116-68BC268FFAB0}"/>
                  </a:ext>
                </a:extLst>
              </p:cNvPr>
              <p:cNvCxnSpPr>
                <a:cxnSpLocks/>
              </p:cNvCxnSpPr>
              <p:nvPr/>
            </p:nvCxnSpPr>
            <p:spPr>
              <a:xfrm>
                <a:off x="6810376" y="4066427"/>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D768C6D4-857B-44E7-9D45-862398EA1400}"/>
                  </a:ext>
                </a:extLst>
              </p:cNvPr>
              <p:cNvSpPr txBox="1"/>
              <p:nvPr/>
            </p:nvSpPr>
            <p:spPr>
              <a:xfrm>
                <a:off x="7590041" y="3107175"/>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 </a:t>
                </a:r>
                <a:r>
                  <a:rPr kumimoji="0" lang="en-GB" sz="1800" b="1" i="0" u="none" strike="noStrike" kern="1200" cap="none" spc="0" normalizeH="0" baseline="0" noProof="0" err="1">
                    <a:ln>
                      <a:noFill/>
                    </a:ln>
                    <a:solidFill>
                      <a:srgbClr val="FFFFFF"/>
                    </a:solidFill>
                    <a:effectLst/>
                    <a:uLnTx/>
                    <a:uFillTx/>
                    <a:latin typeface="Arial" panose="020B0604020202020204"/>
                    <a:ea typeface="+mn-ea"/>
                    <a:cs typeface="+mn-cs"/>
                  </a:rPr>
                  <a:t>Center</a:t>
                </a: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 Reorganization</a:t>
                </a:r>
              </a:p>
            </p:txBody>
          </p:sp>
          <p:sp>
            <p:nvSpPr>
              <p:cNvPr id="65" name="TextBox 64">
                <a:extLst>
                  <a:ext uri="{FF2B5EF4-FFF2-40B4-BE49-F238E27FC236}">
                    <a16:creationId xmlns:a16="http://schemas.microsoft.com/office/drawing/2014/main" id="{DA75FDFF-E489-4828-BA57-A61DCC533171}"/>
                  </a:ext>
                </a:extLst>
              </p:cNvPr>
              <p:cNvSpPr txBox="1"/>
              <p:nvPr/>
            </p:nvSpPr>
            <p:spPr>
              <a:xfrm>
                <a:off x="7599186" y="383682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Standardization of Dimensions</a:t>
                </a:r>
              </a:p>
            </p:txBody>
          </p:sp>
        </p:grpSp>
      </p:grpSp>
    </p:spTree>
    <p:extLst>
      <p:ext uri="{BB962C8B-B14F-4D97-AF65-F5344CB8AC3E}">
        <p14:creationId xmlns:p14="http://schemas.microsoft.com/office/powerpoint/2010/main" val="1896462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9315BFF-2B5E-422B-9DCA-3A7D483232BC}"/>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a:extLst>
              <a:ext uri="{FF2B5EF4-FFF2-40B4-BE49-F238E27FC236}">
                <a16:creationId xmlns:a16="http://schemas.microsoft.com/office/drawing/2014/main" id="{D1D11703-A918-479A-8142-89F1F4B7CA6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63A0A82A-1E84-4C62-B4D6-E0D4F93AE0C1}"/>
              </a:ext>
            </a:extLst>
          </p:cNvPr>
          <p:cNvSpPr>
            <a:spLocks noGrp="1"/>
          </p:cNvSpPr>
          <p:nvPr>
            <p:ph type="title"/>
          </p:nvPr>
        </p:nvSpPr>
        <p:spPr/>
        <p:txBody>
          <a:bodyPr/>
          <a:lstStyle/>
          <a:p>
            <a:r>
              <a:rPr lang="en-GB" dirty="0"/>
              <a:t>Organizational level in S/4 HANA - Finance</a:t>
            </a:r>
            <a:endParaRPr lang="en-US" dirty="0"/>
          </a:p>
        </p:txBody>
      </p:sp>
      <p:sp>
        <p:nvSpPr>
          <p:cNvPr id="8" name="Slide Number Placeholder 4">
            <a:extLst>
              <a:ext uri="{FF2B5EF4-FFF2-40B4-BE49-F238E27FC236}">
                <a16:creationId xmlns:a16="http://schemas.microsoft.com/office/drawing/2014/main" id="{EC190E01-201B-4CBE-85A2-5BB4B48FEA0D}"/>
              </a:ext>
            </a:extLst>
          </p:cNvPr>
          <p:cNvSpPr txBox="1">
            <a:spLocks/>
          </p:cNvSpPr>
          <p:nvPr/>
        </p:nvSpPr>
        <p:spPr>
          <a:xfrm>
            <a:off x="11278800" y="6297521"/>
            <a:ext cx="397261" cy="365125"/>
          </a:xfrm>
          <a:prstGeom prst="rect">
            <a:avLst/>
          </a:prstGeom>
        </p:spPr>
        <p:txBody>
          <a:bodyPr vert="horz" lIns="0" tIns="0" rIns="0" bIns="0" rtlCol="0" anchor="b" anchorCtr="0">
            <a:noAutofit/>
          </a:bodyPr>
          <a:lstStyle>
            <a:defPPr>
              <a:defRPr lang="en-US"/>
            </a:defPPr>
            <a:lvl1pPr marL="0" algn="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9" name="Group 8">
            <a:extLst>
              <a:ext uri="{FF2B5EF4-FFF2-40B4-BE49-F238E27FC236}">
                <a16:creationId xmlns:a16="http://schemas.microsoft.com/office/drawing/2014/main" id="{CE6274E1-A14B-47E4-8DEE-217611E23FAE}"/>
              </a:ext>
            </a:extLst>
          </p:cNvPr>
          <p:cNvGrpSpPr>
            <a:grpSpLocks/>
          </p:cNvGrpSpPr>
          <p:nvPr/>
        </p:nvGrpSpPr>
        <p:grpSpPr bwMode="auto">
          <a:xfrm>
            <a:off x="3640899" y="1401627"/>
            <a:ext cx="1717675" cy="475010"/>
            <a:chOff x="3640899" y="1401627"/>
            <a:chExt cx="854" cy="272"/>
          </a:xfrm>
          <a:solidFill>
            <a:schemeClr val="accent1"/>
          </a:solidFill>
        </p:grpSpPr>
        <p:sp>
          <p:nvSpPr>
            <p:cNvPr id="10" name="Freeform 48">
              <a:extLst>
                <a:ext uri="{FF2B5EF4-FFF2-40B4-BE49-F238E27FC236}">
                  <a16:creationId xmlns:a16="http://schemas.microsoft.com/office/drawing/2014/main" id="{9CA9C77E-F68F-4EAC-B963-78A8B45235F1}"/>
                </a:ext>
              </a:extLst>
            </p:cNvPr>
            <p:cNvSpPr>
              <a:spLocks/>
            </p:cNvSpPr>
            <p:nvPr/>
          </p:nvSpPr>
          <p:spPr bwMode="auto">
            <a:xfrm>
              <a:off x="3640899" y="1401627"/>
              <a:ext cx="854" cy="272"/>
            </a:xfrm>
            <a:custGeom>
              <a:avLst/>
              <a:gdLst>
                <a:gd name="T0" fmla="*/ 3250 w 6500"/>
                <a:gd name="T1" fmla="*/ 0 h 2000"/>
                <a:gd name="T2" fmla="*/ 0 w 6500"/>
                <a:gd name="T3" fmla="*/ 250 h 2000"/>
                <a:gd name="T4" fmla="*/ 0 w 6500"/>
                <a:gd name="T5" fmla="*/ 1750 h 2000"/>
                <a:gd name="T6" fmla="*/ 3250 w 6500"/>
                <a:gd name="T7" fmla="*/ 2000 h 2000"/>
                <a:gd name="T8" fmla="*/ 6500 w 6500"/>
                <a:gd name="T9" fmla="*/ 1750 h 2000"/>
                <a:gd name="T10" fmla="*/ 6500 w 6500"/>
                <a:gd name="T11" fmla="*/ 250 h 2000"/>
                <a:gd name="T12" fmla="*/ 3250 w 6500"/>
                <a:gd name="T13" fmla="*/ 0 h 2000"/>
              </a:gdLst>
              <a:ahLst/>
              <a:cxnLst>
                <a:cxn ang="0">
                  <a:pos x="T0" y="T1"/>
                </a:cxn>
                <a:cxn ang="0">
                  <a:pos x="T2" y="T3"/>
                </a:cxn>
                <a:cxn ang="0">
                  <a:pos x="T4" y="T5"/>
                </a:cxn>
                <a:cxn ang="0">
                  <a:pos x="T6" y="T7"/>
                </a:cxn>
                <a:cxn ang="0">
                  <a:pos x="T8" y="T9"/>
                </a:cxn>
                <a:cxn ang="0">
                  <a:pos x="T10" y="T11"/>
                </a:cxn>
                <a:cxn ang="0">
                  <a:pos x="T12" y="T13"/>
                </a:cxn>
              </a:cxnLst>
              <a:rect l="0" t="0" r="r" b="b"/>
              <a:pathLst>
                <a:path w="6500" h="2000">
                  <a:moveTo>
                    <a:pt x="3250" y="0"/>
                  </a:moveTo>
                  <a:cubicBezTo>
                    <a:pt x="1455" y="0"/>
                    <a:pt x="0" y="112"/>
                    <a:pt x="0" y="250"/>
                  </a:cubicBezTo>
                  <a:lnTo>
                    <a:pt x="0" y="1750"/>
                  </a:lnTo>
                  <a:cubicBezTo>
                    <a:pt x="0" y="1889"/>
                    <a:pt x="1455" y="2000"/>
                    <a:pt x="3250" y="2000"/>
                  </a:cubicBezTo>
                  <a:cubicBezTo>
                    <a:pt x="5045" y="2000"/>
                    <a:pt x="6500" y="1889"/>
                    <a:pt x="6500" y="1750"/>
                  </a:cubicBezTo>
                  <a:lnTo>
                    <a:pt x="6500" y="250"/>
                  </a:lnTo>
                  <a:cubicBezTo>
                    <a:pt x="6500" y="112"/>
                    <a:pt x="5045" y="0"/>
                    <a:pt x="3250" y="0"/>
                  </a:cubicBezTo>
                  <a:close/>
                </a:path>
              </a:pathLst>
            </a:custGeom>
            <a:grpFill/>
            <a:ln w="0">
              <a:solidFill>
                <a:schemeClr val="bg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 name="Oval 10">
              <a:extLst>
                <a:ext uri="{FF2B5EF4-FFF2-40B4-BE49-F238E27FC236}">
                  <a16:creationId xmlns:a16="http://schemas.microsoft.com/office/drawing/2014/main" id="{D104771A-ACC9-4D29-8B15-63525E8BFA26}"/>
                </a:ext>
              </a:extLst>
            </p:cNvPr>
            <p:cNvSpPr>
              <a:spLocks noChangeArrowheads="1"/>
            </p:cNvSpPr>
            <p:nvPr/>
          </p:nvSpPr>
          <p:spPr bwMode="auto">
            <a:xfrm>
              <a:off x="3640899" y="1401627"/>
              <a:ext cx="854" cy="68"/>
            </a:xfrm>
            <a:prstGeom prst="ellipse">
              <a:avLst/>
            </a:prstGeom>
            <a:grpFill/>
            <a:ln w="0">
              <a:solidFill>
                <a:schemeClr val="bg1"/>
              </a:solidFill>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Freeform 50">
              <a:extLst>
                <a:ext uri="{FF2B5EF4-FFF2-40B4-BE49-F238E27FC236}">
                  <a16:creationId xmlns:a16="http://schemas.microsoft.com/office/drawing/2014/main" id="{EBBCA472-CCB5-4662-9D7E-3AAFA97B3991}"/>
                </a:ext>
              </a:extLst>
            </p:cNvPr>
            <p:cNvSpPr>
              <a:spLocks/>
            </p:cNvSpPr>
            <p:nvPr/>
          </p:nvSpPr>
          <p:spPr bwMode="auto">
            <a:xfrm>
              <a:off x="3640899" y="1401627"/>
              <a:ext cx="854" cy="272"/>
            </a:xfrm>
            <a:custGeom>
              <a:avLst/>
              <a:gdLst>
                <a:gd name="T0" fmla="*/ 3250 w 6500"/>
                <a:gd name="T1" fmla="*/ 0 h 2000"/>
                <a:gd name="T2" fmla="*/ 0 w 6500"/>
                <a:gd name="T3" fmla="*/ 250 h 2000"/>
                <a:gd name="T4" fmla="*/ 0 w 6500"/>
                <a:gd name="T5" fmla="*/ 1750 h 2000"/>
                <a:gd name="T6" fmla="*/ 3250 w 6500"/>
                <a:gd name="T7" fmla="*/ 2000 h 2000"/>
                <a:gd name="T8" fmla="*/ 6500 w 6500"/>
                <a:gd name="T9" fmla="*/ 1750 h 2000"/>
                <a:gd name="T10" fmla="*/ 6500 w 6500"/>
                <a:gd name="T11" fmla="*/ 250 h 2000"/>
                <a:gd name="T12" fmla="*/ 3250 w 6500"/>
                <a:gd name="T13" fmla="*/ 0 h 2000"/>
              </a:gdLst>
              <a:ahLst/>
              <a:cxnLst>
                <a:cxn ang="0">
                  <a:pos x="T0" y="T1"/>
                </a:cxn>
                <a:cxn ang="0">
                  <a:pos x="T2" y="T3"/>
                </a:cxn>
                <a:cxn ang="0">
                  <a:pos x="T4" y="T5"/>
                </a:cxn>
                <a:cxn ang="0">
                  <a:pos x="T6" y="T7"/>
                </a:cxn>
                <a:cxn ang="0">
                  <a:pos x="T8" y="T9"/>
                </a:cxn>
                <a:cxn ang="0">
                  <a:pos x="T10" y="T11"/>
                </a:cxn>
                <a:cxn ang="0">
                  <a:pos x="T12" y="T13"/>
                </a:cxn>
              </a:cxnLst>
              <a:rect l="0" t="0" r="r" b="b"/>
              <a:pathLst>
                <a:path w="6500" h="2000">
                  <a:moveTo>
                    <a:pt x="3250" y="0"/>
                  </a:moveTo>
                  <a:cubicBezTo>
                    <a:pt x="1455" y="0"/>
                    <a:pt x="0" y="112"/>
                    <a:pt x="0" y="250"/>
                  </a:cubicBezTo>
                  <a:lnTo>
                    <a:pt x="0" y="1750"/>
                  </a:lnTo>
                  <a:cubicBezTo>
                    <a:pt x="0" y="1889"/>
                    <a:pt x="1455" y="2000"/>
                    <a:pt x="3250" y="2000"/>
                  </a:cubicBezTo>
                  <a:cubicBezTo>
                    <a:pt x="5045" y="2000"/>
                    <a:pt x="6500" y="1889"/>
                    <a:pt x="6500" y="1750"/>
                  </a:cubicBezTo>
                  <a:lnTo>
                    <a:pt x="6500" y="250"/>
                  </a:lnTo>
                  <a:cubicBezTo>
                    <a:pt x="6500" y="112"/>
                    <a:pt x="5045" y="0"/>
                    <a:pt x="3250" y="0"/>
                  </a:cubicBezTo>
                  <a:close/>
                </a:path>
              </a:pathLst>
            </a:custGeom>
            <a:grpFill/>
            <a:ln w="6350" cap="rnd">
              <a:solidFill>
                <a:schemeClr val="bg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3" name="Freeform 51">
              <a:extLst>
                <a:ext uri="{FF2B5EF4-FFF2-40B4-BE49-F238E27FC236}">
                  <a16:creationId xmlns:a16="http://schemas.microsoft.com/office/drawing/2014/main" id="{D0812E93-607F-455B-A093-D80F27F0CA60}"/>
                </a:ext>
              </a:extLst>
            </p:cNvPr>
            <p:cNvSpPr>
              <a:spLocks/>
            </p:cNvSpPr>
            <p:nvPr/>
          </p:nvSpPr>
          <p:spPr bwMode="auto">
            <a:xfrm>
              <a:off x="3640899" y="1401661"/>
              <a:ext cx="854" cy="34"/>
            </a:xfrm>
            <a:custGeom>
              <a:avLst/>
              <a:gdLst>
                <a:gd name="T0" fmla="*/ 0 w 854"/>
                <a:gd name="T1" fmla="*/ 0 h 34"/>
                <a:gd name="T2" fmla="*/ 427 w 854"/>
                <a:gd name="T3" fmla="*/ 34 h 34"/>
                <a:gd name="T4" fmla="*/ 854 w 854"/>
                <a:gd name="T5" fmla="*/ 0 h 34"/>
              </a:gdLst>
              <a:ahLst/>
              <a:cxnLst>
                <a:cxn ang="0">
                  <a:pos x="T0" y="T1"/>
                </a:cxn>
                <a:cxn ang="0">
                  <a:pos x="T2" y="T3"/>
                </a:cxn>
                <a:cxn ang="0">
                  <a:pos x="T4" y="T5"/>
                </a:cxn>
              </a:cxnLst>
              <a:rect l="0" t="0" r="r" b="b"/>
              <a:pathLst>
                <a:path w="854" h="34">
                  <a:moveTo>
                    <a:pt x="0" y="0"/>
                  </a:moveTo>
                  <a:cubicBezTo>
                    <a:pt x="0" y="19"/>
                    <a:pt x="191" y="34"/>
                    <a:pt x="427" y="34"/>
                  </a:cubicBezTo>
                  <a:cubicBezTo>
                    <a:pt x="663" y="34"/>
                    <a:pt x="854" y="19"/>
                    <a:pt x="854" y="0"/>
                  </a:cubicBezTo>
                </a:path>
              </a:pathLst>
            </a:custGeom>
            <a:grpFill/>
            <a:ln w="6350" cap="rnd">
              <a:solidFill>
                <a:schemeClr val="bg1"/>
              </a:solidFill>
              <a:prstDash val="solid"/>
              <a:round/>
              <a:headEnd/>
              <a:tailE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cxnSp>
        <p:nvCxnSpPr>
          <p:cNvPr id="14" name="Straight Connector 13">
            <a:extLst>
              <a:ext uri="{FF2B5EF4-FFF2-40B4-BE49-F238E27FC236}">
                <a16:creationId xmlns:a16="http://schemas.microsoft.com/office/drawing/2014/main" id="{29EC4BD4-0A47-4AEA-A5A3-3F9BE43CAAEF}"/>
              </a:ext>
            </a:extLst>
          </p:cNvPr>
          <p:cNvCxnSpPr/>
          <p:nvPr/>
        </p:nvCxnSpPr>
        <p:spPr>
          <a:xfrm>
            <a:off x="434340" y="6319271"/>
            <a:ext cx="11276011" cy="53975"/>
          </a:xfrm>
          <a:prstGeom prst="line">
            <a:avLst/>
          </a:prstGeom>
          <a:ln w="19050" cap="flat" cmpd="sng" algn="ctr">
            <a:solidFill>
              <a:schemeClr val="accent3">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5" name="AutoShape 44">
            <a:extLst>
              <a:ext uri="{FF2B5EF4-FFF2-40B4-BE49-F238E27FC236}">
                <a16:creationId xmlns:a16="http://schemas.microsoft.com/office/drawing/2014/main" id="{26C62A08-EA68-47FE-9616-3EF827782BDF}"/>
              </a:ext>
            </a:extLst>
          </p:cNvPr>
          <p:cNvSpPr>
            <a:spLocks noChangeAspect="1" noChangeArrowheads="1" noTextEdit="1"/>
          </p:cNvSpPr>
          <p:nvPr/>
        </p:nvSpPr>
        <p:spPr bwMode="auto">
          <a:xfrm>
            <a:off x="687546" y="1638508"/>
            <a:ext cx="8415338" cy="407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Line 46">
            <a:extLst>
              <a:ext uri="{FF2B5EF4-FFF2-40B4-BE49-F238E27FC236}">
                <a16:creationId xmlns:a16="http://schemas.microsoft.com/office/drawing/2014/main" id="{B01D955B-123E-4E39-AE36-BA66E4F1197C}"/>
              </a:ext>
            </a:extLst>
          </p:cNvPr>
          <p:cNvSpPr>
            <a:spLocks noChangeShapeType="1"/>
          </p:cNvSpPr>
          <p:nvPr/>
        </p:nvSpPr>
        <p:spPr bwMode="auto">
          <a:xfrm>
            <a:off x="2602071" y="4221371"/>
            <a:ext cx="3976688" cy="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7" name="Line 47">
            <a:extLst>
              <a:ext uri="{FF2B5EF4-FFF2-40B4-BE49-F238E27FC236}">
                <a16:creationId xmlns:a16="http://schemas.microsoft.com/office/drawing/2014/main" id="{EB3B2841-F874-4F82-8F1D-3B02355ABD22}"/>
              </a:ext>
            </a:extLst>
          </p:cNvPr>
          <p:cNvSpPr>
            <a:spLocks noChangeShapeType="1"/>
          </p:cNvSpPr>
          <p:nvPr/>
        </p:nvSpPr>
        <p:spPr bwMode="auto">
          <a:xfrm flipH="1">
            <a:off x="4500173" y="1892316"/>
            <a:ext cx="19830" cy="3317269"/>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 name="Rectangle 17">
            <a:extLst>
              <a:ext uri="{FF2B5EF4-FFF2-40B4-BE49-F238E27FC236}">
                <a16:creationId xmlns:a16="http://schemas.microsoft.com/office/drawing/2014/main" id="{9590609D-A6DE-406A-9AA0-BEA422F20425}"/>
              </a:ext>
            </a:extLst>
          </p:cNvPr>
          <p:cNvSpPr>
            <a:spLocks noChangeArrowheads="1"/>
          </p:cNvSpPr>
          <p:nvPr/>
        </p:nvSpPr>
        <p:spPr bwMode="auto">
          <a:xfrm>
            <a:off x="3790841" y="1548829"/>
            <a:ext cx="159888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 JTI S/4HANA System </a:t>
            </a:r>
            <a:r>
              <a:rPr kumimoji="0" lang="en-US" altLang="en-US" sz="900" b="0" i="0" u="none" strike="noStrike" kern="1200" cap="none" spc="0" normalizeH="0" baseline="0" noProof="0">
                <a:ln>
                  <a:noFill/>
                </a:ln>
                <a:solidFill>
                  <a:srgbClr val="000000"/>
                </a:solidFill>
                <a:effectLst/>
                <a:uLnTx/>
                <a:uFillTx/>
                <a:latin typeface="Arial" panose="020B060402020202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1200" cap="none" spc="0" normalizeH="0" baseline="0" noProof="0">
                <a:ln>
                  <a:noFill/>
                </a:ln>
                <a:solidFill>
                  <a:srgbClr val="000000"/>
                </a:solidFill>
                <a:effectLst/>
                <a:uLnTx/>
                <a:uFillTx/>
                <a:latin typeface="Arial" panose="020B0604020202020204"/>
                <a:ea typeface="+mn-ea"/>
                <a:cs typeface="+mn-cs"/>
              </a:rPr>
              <a:t>(PRD Client 900</a:t>
            </a:r>
            <a:r>
              <a:rPr kumimoji="0" lang="en-US" altLang="en-US" sz="900" b="0" i="0" u="none" strike="noStrike" kern="1200" cap="none" spc="0" normalizeH="0" baseline="0" noProof="0">
                <a:ln>
                  <a:noFill/>
                </a:ln>
                <a:solidFill>
                  <a:srgbClr val="000000"/>
                </a:solidFill>
                <a:effectLst/>
                <a:uLnTx/>
                <a:uFillTx/>
                <a:latin typeface="Arial" panose="020B0604020202020204"/>
                <a:ea typeface="+mn-ea"/>
                <a:cs typeface="+mn-cs"/>
              </a:rPr>
              <a:t>)</a:t>
            </a:r>
          </a:p>
        </p:txBody>
      </p:sp>
      <p:sp>
        <p:nvSpPr>
          <p:cNvPr id="19" name="Rectangle 18">
            <a:extLst>
              <a:ext uri="{FF2B5EF4-FFF2-40B4-BE49-F238E27FC236}">
                <a16:creationId xmlns:a16="http://schemas.microsoft.com/office/drawing/2014/main" id="{87EFE6D8-BF4B-42DD-A6BA-0EDD8F10B380}"/>
              </a:ext>
            </a:extLst>
          </p:cNvPr>
          <p:cNvSpPr>
            <a:spLocks noChangeArrowheads="1"/>
          </p:cNvSpPr>
          <p:nvPr/>
        </p:nvSpPr>
        <p:spPr bwMode="auto">
          <a:xfrm>
            <a:off x="3403917" y="3241089"/>
            <a:ext cx="2298515" cy="322264"/>
          </a:xfrm>
          <a:prstGeom prst="rect">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Operating Concern 1001</a:t>
            </a:r>
          </a:p>
        </p:txBody>
      </p:sp>
      <p:sp>
        <p:nvSpPr>
          <p:cNvPr id="20" name="Rectangle 19">
            <a:extLst>
              <a:ext uri="{FF2B5EF4-FFF2-40B4-BE49-F238E27FC236}">
                <a16:creationId xmlns:a16="http://schemas.microsoft.com/office/drawing/2014/main" id="{157A820B-F73B-4B7A-93DB-28F00655EDB0}"/>
              </a:ext>
            </a:extLst>
          </p:cNvPr>
          <p:cNvSpPr>
            <a:spLocks noChangeArrowheads="1"/>
          </p:cNvSpPr>
          <p:nvPr/>
        </p:nvSpPr>
        <p:spPr bwMode="auto">
          <a:xfrm>
            <a:off x="687546" y="5193727"/>
            <a:ext cx="1201738" cy="693257"/>
          </a:xfrm>
          <a:prstGeom prst="rect">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Company code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2101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JTI Gallaher </a:t>
            </a:r>
          </a:p>
        </p:txBody>
      </p:sp>
      <p:sp>
        <p:nvSpPr>
          <p:cNvPr id="21" name="Rectangle 20">
            <a:extLst>
              <a:ext uri="{FF2B5EF4-FFF2-40B4-BE49-F238E27FC236}">
                <a16:creationId xmlns:a16="http://schemas.microsoft.com/office/drawing/2014/main" id="{E5D8D9FF-B1A9-4A1F-AE96-27BFA1519767}"/>
              </a:ext>
            </a:extLst>
          </p:cNvPr>
          <p:cNvSpPr>
            <a:spLocks noChangeArrowheads="1"/>
          </p:cNvSpPr>
          <p:nvPr/>
        </p:nvSpPr>
        <p:spPr bwMode="auto">
          <a:xfrm>
            <a:off x="990604" y="3879251"/>
            <a:ext cx="1606706" cy="635002"/>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Cost Center Standard Hierarchy: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JTI</a:t>
            </a:r>
          </a:p>
        </p:txBody>
      </p:sp>
      <p:sp>
        <p:nvSpPr>
          <p:cNvPr id="22" name="Line 138">
            <a:extLst>
              <a:ext uri="{FF2B5EF4-FFF2-40B4-BE49-F238E27FC236}">
                <a16:creationId xmlns:a16="http://schemas.microsoft.com/office/drawing/2014/main" id="{D889B5AF-D80E-4B46-8C1D-E1A874756DAA}"/>
              </a:ext>
            </a:extLst>
          </p:cNvPr>
          <p:cNvSpPr>
            <a:spLocks noChangeShapeType="1"/>
          </p:cNvSpPr>
          <p:nvPr/>
        </p:nvSpPr>
        <p:spPr bwMode="auto">
          <a:xfrm>
            <a:off x="1250830" y="4789696"/>
            <a:ext cx="4889779" cy="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3" name="Line 139">
            <a:extLst>
              <a:ext uri="{FF2B5EF4-FFF2-40B4-BE49-F238E27FC236}">
                <a16:creationId xmlns:a16="http://schemas.microsoft.com/office/drawing/2014/main" id="{BD8E7FD5-365E-464A-9048-33B9A99AB13C}"/>
              </a:ext>
            </a:extLst>
          </p:cNvPr>
          <p:cNvSpPr>
            <a:spLocks noChangeShapeType="1"/>
          </p:cNvSpPr>
          <p:nvPr/>
        </p:nvSpPr>
        <p:spPr bwMode="auto">
          <a:xfrm>
            <a:off x="2851322" y="4789696"/>
            <a:ext cx="1588" cy="41057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24" name="Straight Connector 23">
            <a:extLst>
              <a:ext uri="{FF2B5EF4-FFF2-40B4-BE49-F238E27FC236}">
                <a16:creationId xmlns:a16="http://schemas.microsoft.com/office/drawing/2014/main" id="{7B9A593D-929D-4010-9BAA-C4851029D0C5}"/>
              </a:ext>
            </a:extLst>
          </p:cNvPr>
          <p:cNvCxnSpPr>
            <a:cxnSpLocks/>
          </p:cNvCxnSpPr>
          <p:nvPr/>
        </p:nvCxnSpPr>
        <p:spPr>
          <a:xfrm flipH="1">
            <a:off x="3046798" y="2795701"/>
            <a:ext cx="307999" cy="2129"/>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5" name="Straight Connector 24">
            <a:extLst>
              <a:ext uri="{FF2B5EF4-FFF2-40B4-BE49-F238E27FC236}">
                <a16:creationId xmlns:a16="http://schemas.microsoft.com/office/drawing/2014/main" id="{10DBA2DA-F6B5-456C-AACE-0319AD79E03B}"/>
              </a:ext>
            </a:extLst>
          </p:cNvPr>
          <p:cNvCxnSpPr/>
          <p:nvPr/>
        </p:nvCxnSpPr>
        <p:spPr>
          <a:xfrm>
            <a:off x="515939" y="3033921"/>
            <a:ext cx="11276011" cy="53975"/>
          </a:xfrm>
          <a:prstGeom prst="line">
            <a:avLst/>
          </a:prstGeom>
          <a:ln w="19050" cap="flat" cmpd="sng" algn="ctr">
            <a:solidFill>
              <a:schemeClr val="accent3">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6" name="TextBox 12">
            <a:extLst>
              <a:ext uri="{FF2B5EF4-FFF2-40B4-BE49-F238E27FC236}">
                <a16:creationId xmlns:a16="http://schemas.microsoft.com/office/drawing/2014/main" id="{D00D86C4-7561-4D2A-9878-687B8F67833C}"/>
              </a:ext>
            </a:extLst>
          </p:cNvPr>
          <p:cNvSpPr txBox="1"/>
          <p:nvPr/>
        </p:nvSpPr>
        <p:spPr>
          <a:xfrm>
            <a:off x="8247785" y="1950367"/>
            <a:ext cx="3570010" cy="116759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Group CoA JTIG is used for group consolidation purposes.</a:t>
            </a:r>
          </a:p>
          <a:p>
            <a:pPr marL="108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JTI uses a single 6-digit range Operational CoA (JTIO) for financial postings in S/4. It is assigned to all entities.</a:t>
            </a:r>
          </a:p>
          <a:p>
            <a:pPr marL="108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Every JTIO is assigned to a JTIG account, and an Alternative account if an entity uses a Country CoA.</a:t>
            </a:r>
          </a:p>
          <a:p>
            <a:pPr marL="108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Reporting can be done at all levels of </a:t>
            </a:r>
            <a:r>
              <a:rPr kumimoji="0" lang="en-GB" sz="900" b="0" i="1" u="none" strike="noStrike" kern="1200" cap="none" spc="0" normalizeH="0" baseline="0" noProof="0" err="1">
                <a:ln>
                  <a:noFill/>
                </a:ln>
                <a:solidFill>
                  <a:srgbClr val="000000"/>
                </a:solidFill>
                <a:effectLst/>
                <a:uLnTx/>
                <a:uFillTx/>
                <a:latin typeface="Georgia" panose="02040502050405020303" pitchFamily="18" charset="0"/>
                <a:ea typeface="+mn-ea"/>
                <a:cs typeface="+mn-cs"/>
              </a:rPr>
              <a:t>CoAs</a:t>
            </a:r>
            <a:r>
              <a:rPr kumimoji="0" lang="en-GB" sz="9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i.e. by JTIO, JTIG or Country CoA, provided appropriate Financial Statement Versions are created using those accounts.</a:t>
            </a:r>
          </a:p>
        </p:txBody>
      </p:sp>
      <p:cxnSp>
        <p:nvCxnSpPr>
          <p:cNvPr id="27" name="Straight Connector 26">
            <a:extLst>
              <a:ext uri="{FF2B5EF4-FFF2-40B4-BE49-F238E27FC236}">
                <a16:creationId xmlns:a16="http://schemas.microsoft.com/office/drawing/2014/main" id="{06854D43-EE7A-45AD-B486-8FCA853DFC09}"/>
              </a:ext>
            </a:extLst>
          </p:cNvPr>
          <p:cNvCxnSpPr/>
          <p:nvPr/>
        </p:nvCxnSpPr>
        <p:spPr>
          <a:xfrm>
            <a:off x="526415" y="3814969"/>
            <a:ext cx="11276011" cy="53975"/>
          </a:xfrm>
          <a:prstGeom prst="line">
            <a:avLst/>
          </a:prstGeom>
          <a:ln w="19050" cap="flat" cmpd="sng" algn="ctr">
            <a:solidFill>
              <a:schemeClr val="accent3">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8" name="TextBox 14">
            <a:extLst>
              <a:ext uri="{FF2B5EF4-FFF2-40B4-BE49-F238E27FC236}">
                <a16:creationId xmlns:a16="http://schemas.microsoft.com/office/drawing/2014/main" id="{C72EA3C6-30E5-4325-9D2E-E6E43FFB7488}"/>
              </a:ext>
            </a:extLst>
          </p:cNvPr>
          <p:cNvSpPr txBox="1"/>
          <p:nvPr/>
        </p:nvSpPr>
        <p:spPr>
          <a:xfrm>
            <a:off x="8239126" y="3117745"/>
            <a:ext cx="3570010" cy="704865"/>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An Operating Concern is the valuation level for Profitability Analysis (CO-PA).</a:t>
            </a:r>
          </a:p>
          <a:p>
            <a:pPr marL="108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All JTI entities belong to Operating Concern 1001</a:t>
            </a:r>
            <a:r>
              <a:rPr kumimoji="0" lang="en-GB" sz="9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through company code assignment to controlling area, which is subsequently assigned to this operating concern.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p:txBody>
      </p:sp>
      <p:sp>
        <p:nvSpPr>
          <p:cNvPr id="29" name="Rectangle 28">
            <a:extLst>
              <a:ext uri="{FF2B5EF4-FFF2-40B4-BE49-F238E27FC236}">
                <a16:creationId xmlns:a16="http://schemas.microsoft.com/office/drawing/2014/main" id="{0F138057-283C-427C-BB79-9A5D0C39836A}"/>
              </a:ext>
            </a:extLst>
          </p:cNvPr>
          <p:cNvSpPr/>
          <p:nvPr/>
        </p:nvSpPr>
        <p:spPr>
          <a:xfrm>
            <a:off x="3357722" y="2175384"/>
            <a:ext cx="2330450" cy="303211"/>
          </a:xfrm>
          <a:prstGeom prst="rect">
            <a:avLst/>
          </a:prstGeom>
          <a:solidFill>
            <a:schemeClr val="accent2">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Group Chart of Account: JTIG</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ectangle 29">
            <a:extLst>
              <a:ext uri="{FF2B5EF4-FFF2-40B4-BE49-F238E27FC236}">
                <a16:creationId xmlns:a16="http://schemas.microsoft.com/office/drawing/2014/main" id="{C8626EBF-03DF-464B-89E5-60C3EA39DC71}"/>
              </a:ext>
            </a:extLst>
          </p:cNvPr>
          <p:cNvSpPr/>
          <p:nvPr/>
        </p:nvSpPr>
        <p:spPr>
          <a:xfrm>
            <a:off x="3371983" y="2660860"/>
            <a:ext cx="2330450" cy="303211"/>
          </a:xfrm>
          <a:prstGeom prst="rect">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Operational CoA: JTIO</a:t>
            </a:r>
            <a:endParaRPr kumimoji="0" lang="en-US" altLang="en-US" sz="11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1" name="Rectangle 30">
            <a:extLst>
              <a:ext uri="{FF2B5EF4-FFF2-40B4-BE49-F238E27FC236}">
                <a16:creationId xmlns:a16="http://schemas.microsoft.com/office/drawing/2014/main" id="{6661B0DF-B0E0-4857-A452-A899DB7ABDF4}"/>
              </a:ext>
            </a:extLst>
          </p:cNvPr>
          <p:cNvSpPr/>
          <p:nvPr/>
        </p:nvSpPr>
        <p:spPr>
          <a:xfrm>
            <a:off x="1171625" y="2547343"/>
            <a:ext cx="1819294" cy="434191"/>
          </a:xfrm>
          <a:prstGeom prst="rect">
            <a:avLst/>
          </a:prstGeom>
          <a:solidFill>
            <a:schemeClr val="accent2">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Arial" panose="020B0604020202020204"/>
                <a:ea typeface="+mn-ea"/>
                <a:cs typeface="+mn-cs"/>
              </a:rPr>
              <a:t>Country CoA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Arial" panose="020B0604020202020204"/>
                <a:ea typeface="+mn-ea"/>
                <a:cs typeface="+mn-cs"/>
              </a:rPr>
              <a:t>(Alternative Accounts)</a:t>
            </a:r>
          </a:p>
        </p:txBody>
      </p:sp>
      <p:sp>
        <p:nvSpPr>
          <p:cNvPr id="32" name="Rectangle 31">
            <a:extLst>
              <a:ext uri="{FF2B5EF4-FFF2-40B4-BE49-F238E27FC236}">
                <a16:creationId xmlns:a16="http://schemas.microsoft.com/office/drawing/2014/main" id="{AAE92C3B-F648-4F84-8A7B-7C09AC19C502}"/>
              </a:ext>
            </a:extLst>
          </p:cNvPr>
          <p:cNvSpPr>
            <a:spLocks noChangeArrowheads="1"/>
          </p:cNvSpPr>
          <p:nvPr/>
        </p:nvSpPr>
        <p:spPr bwMode="auto">
          <a:xfrm>
            <a:off x="3414871" y="4045157"/>
            <a:ext cx="2282984" cy="311451"/>
          </a:xfrm>
          <a:prstGeom prst="rect">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Controlling Area 1000</a:t>
            </a:r>
          </a:p>
        </p:txBody>
      </p:sp>
      <p:sp>
        <p:nvSpPr>
          <p:cNvPr id="33" name="Rectangle 32">
            <a:extLst>
              <a:ext uri="{FF2B5EF4-FFF2-40B4-BE49-F238E27FC236}">
                <a16:creationId xmlns:a16="http://schemas.microsoft.com/office/drawing/2014/main" id="{15CE1F3E-233F-45CC-AFE9-F214E3C5D5DD}"/>
              </a:ext>
            </a:extLst>
          </p:cNvPr>
          <p:cNvSpPr>
            <a:spLocks noChangeArrowheads="1"/>
          </p:cNvSpPr>
          <p:nvPr/>
        </p:nvSpPr>
        <p:spPr bwMode="auto">
          <a:xfrm>
            <a:off x="6319996" y="3907826"/>
            <a:ext cx="1603375" cy="635002"/>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Profit Center Standard Hierarchy: JTI</a:t>
            </a:r>
          </a:p>
        </p:txBody>
      </p:sp>
      <p:cxnSp>
        <p:nvCxnSpPr>
          <p:cNvPr id="34" name="Straight Connector 33">
            <a:extLst>
              <a:ext uri="{FF2B5EF4-FFF2-40B4-BE49-F238E27FC236}">
                <a16:creationId xmlns:a16="http://schemas.microsoft.com/office/drawing/2014/main" id="{C7918435-29EF-49EB-8AF3-FD2B0374FBD0}"/>
              </a:ext>
            </a:extLst>
          </p:cNvPr>
          <p:cNvCxnSpPr/>
          <p:nvPr/>
        </p:nvCxnSpPr>
        <p:spPr>
          <a:xfrm>
            <a:off x="515939" y="5040352"/>
            <a:ext cx="11276011" cy="53975"/>
          </a:xfrm>
          <a:prstGeom prst="line">
            <a:avLst/>
          </a:prstGeom>
          <a:ln w="19050" cap="flat" cmpd="sng" algn="ctr">
            <a:solidFill>
              <a:schemeClr val="accent3">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5" name="TextBox 21">
            <a:extLst>
              <a:ext uri="{FF2B5EF4-FFF2-40B4-BE49-F238E27FC236}">
                <a16:creationId xmlns:a16="http://schemas.microsoft.com/office/drawing/2014/main" id="{9D274A0D-9D23-4AB7-9F33-338658795318}"/>
              </a:ext>
            </a:extLst>
          </p:cNvPr>
          <p:cNvSpPr txBox="1"/>
          <p:nvPr/>
        </p:nvSpPr>
        <p:spPr>
          <a:xfrm>
            <a:off x="8248743" y="3904042"/>
            <a:ext cx="3764675" cy="1177269"/>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A controlling area represents a closed system used for cost accounting purposes. </a:t>
            </a:r>
            <a:r>
              <a:rPr kumimoji="0" lang="en-GB" sz="9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JTI uses only one controlling area “1000”.</a:t>
            </a:r>
          </a:p>
          <a:p>
            <a:pPr marL="108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Profit </a:t>
            </a:r>
            <a:r>
              <a:rPr kumimoji="0" lang="en-GB" sz="900" b="1" i="1" u="none" strike="noStrike" kern="1200" cap="none" spc="0" normalizeH="0" baseline="0" noProof="0" err="1">
                <a:ln>
                  <a:noFill/>
                </a:ln>
                <a:solidFill>
                  <a:srgbClr val="000000"/>
                </a:solidFill>
                <a:effectLst/>
                <a:uLnTx/>
                <a:uFillTx/>
                <a:latin typeface="Georgia" panose="02040502050405020303" pitchFamily="18" charset="0"/>
                <a:ea typeface="+mn-ea"/>
                <a:cs typeface="+mn-cs"/>
              </a:rPr>
              <a:t>Centers</a:t>
            </a:r>
            <a:r>
              <a:rPr kumimoji="0" lang="en-GB" sz="9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 (PC) and Cost </a:t>
            </a:r>
            <a:r>
              <a:rPr kumimoji="0" lang="en-GB" sz="900" b="1" i="1" u="none" strike="noStrike" kern="1200" cap="none" spc="0" normalizeH="0" baseline="0" noProof="0" err="1">
                <a:ln>
                  <a:noFill/>
                </a:ln>
                <a:solidFill>
                  <a:srgbClr val="000000"/>
                </a:solidFill>
                <a:effectLst/>
                <a:uLnTx/>
                <a:uFillTx/>
                <a:latin typeface="Georgia" panose="02040502050405020303" pitchFamily="18" charset="0"/>
                <a:ea typeface="+mn-ea"/>
                <a:cs typeface="+mn-cs"/>
              </a:rPr>
              <a:t>centers</a:t>
            </a:r>
            <a:r>
              <a:rPr kumimoji="0" lang="en-GB" sz="9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 (CC) are created within a controlling area. </a:t>
            </a:r>
          </a:p>
          <a:p>
            <a:pPr marL="108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Every Cost </a:t>
            </a:r>
            <a:r>
              <a:rPr kumimoji="0" lang="en-GB" sz="900" b="0" i="1" u="none" strike="noStrike" kern="1200" cap="none" spc="0" normalizeH="0" baseline="0" noProof="0" err="1">
                <a:ln>
                  <a:noFill/>
                </a:ln>
                <a:solidFill>
                  <a:srgbClr val="000000"/>
                </a:solidFill>
                <a:effectLst/>
                <a:uLnTx/>
                <a:uFillTx/>
                <a:latin typeface="Georgia" panose="02040502050405020303" pitchFamily="18" charset="0"/>
                <a:ea typeface="+mn-ea"/>
                <a:cs typeface="+mn-cs"/>
              </a:rPr>
              <a:t>Center</a:t>
            </a:r>
            <a:r>
              <a:rPr kumimoji="0" lang="en-GB" sz="9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is assigned to a Profit </a:t>
            </a:r>
            <a:r>
              <a:rPr kumimoji="0" lang="en-GB" sz="900" b="0" i="1" u="none" strike="noStrike" kern="1200" cap="none" spc="0" normalizeH="0" baseline="0" noProof="0" err="1">
                <a:ln>
                  <a:noFill/>
                </a:ln>
                <a:solidFill>
                  <a:srgbClr val="000000"/>
                </a:solidFill>
                <a:effectLst/>
                <a:uLnTx/>
                <a:uFillTx/>
                <a:latin typeface="Georgia" panose="02040502050405020303" pitchFamily="18" charset="0"/>
                <a:ea typeface="+mn-ea"/>
                <a:cs typeface="+mn-cs"/>
              </a:rPr>
              <a:t>Center</a:t>
            </a:r>
            <a:r>
              <a:rPr kumimoji="0" lang="en-GB" sz="9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 </a:t>
            </a:r>
          </a:p>
          <a:p>
            <a:pPr marL="108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 standard hierarchies of PC and CC are tree structures representing all CCs and PCs belonging to a controlling area from a Controlling perspective.</a:t>
            </a:r>
          </a:p>
        </p:txBody>
      </p:sp>
      <p:sp>
        <p:nvSpPr>
          <p:cNvPr id="36" name="Rectangle 35">
            <a:extLst>
              <a:ext uri="{FF2B5EF4-FFF2-40B4-BE49-F238E27FC236}">
                <a16:creationId xmlns:a16="http://schemas.microsoft.com/office/drawing/2014/main" id="{6C44D011-A925-4EDE-B351-7A92866C75B8}"/>
              </a:ext>
            </a:extLst>
          </p:cNvPr>
          <p:cNvSpPr>
            <a:spLocks noChangeArrowheads="1"/>
          </p:cNvSpPr>
          <p:nvPr/>
        </p:nvSpPr>
        <p:spPr bwMode="auto">
          <a:xfrm>
            <a:off x="2302033" y="5193727"/>
            <a:ext cx="1201738" cy="693257"/>
          </a:xfrm>
          <a:prstGeom prst="rect">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Company code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1106</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JTI GMBH</a:t>
            </a:r>
          </a:p>
        </p:txBody>
      </p:sp>
      <p:sp>
        <p:nvSpPr>
          <p:cNvPr id="37" name="Rectangle 36">
            <a:extLst>
              <a:ext uri="{FF2B5EF4-FFF2-40B4-BE49-F238E27FC236}">
                <a16:creationId xmlns:a16="http://schemas.microsoft.com/office/drawing/2014/main" id="{9FAB3140-7D0A-4441-BA88-E6FFD278FB29}"/>
              </a:ext>
            </a:extLst>
          </p:cNvPr>
          <p:cNvSpPr>
            <a:spLocks noChangeArrowheads="1"/>
          </p:cNvSpPr>
          <p:nvPr/>
        </p:nvSpPr>
        <p:spPr bwMode="auto">
          <a:xfrm>
            <a:off x="3945890" y="5193727"/>
            <a:ext cx="1201738" cy="693257"/>
          </a:xfrm>
          <a:prstGeom prst="rect">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Company code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1799</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JTI SA</a:t>
            </a:r>
          </a:p>
        </p:txBody>
      </p:sp>
      <p:sp>
        <p:nvSpPr>
          <p:cNvPr id="38" name="Line 139">
            <a:extLst>
              <a:ext uri="{FF2B5EF4-FFF2-40B4-BE49-F238E27FC236}">
                <a16:creationId xmlns:a16="http://schemas.microsoft.com/office/drawing/2014/main" id="{6DE295D0-BED3-4354-9F06-62C553762673}"/>
              </a:ext>
            </a:extLst>
          </p:cNvPr>
          <p:cNvSpPr>
            <a:spLocks noChangeShapeType="1"/>
          </p:cNvSpPr>
          <p:nvPr/>
        </p:nvSpPr>
        <p:spPr bwMode="auto">
          <a:xfrm>
            <a:off x="6144031" y="4789696"/>
            <a:ext cx="1588" cy="41057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9" name="Line 139">
            <a:extLst>
              <a:ext uri="{FF2B5EF4-FFF2-40B4-BE49-F238E27FC236}">
                <a16:creationId xmlns:a16="http://schemas.microsoft.com/office/drawing/2014/main" id="{DDE2C477-28EC-4AA6-856C-41D13CCBDAC9}"/>
              </a:ext>
            </a:extLst>
          </p:cNvPr>
          <p:cNvSpPr>
            <a:spLocks noChangeShapeType="1"/>
          </p:cNvSpPr>
          <p:nvPr/>
        </p:nvSpPr>
        <p:spPr bwMode="auto">
          <a:xfrm>
            <a:off x="1256824" y="4794637"/>
            <a:ext cx="1588" cy="41057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0" name="Rectangle 39">
            <a:extLst>
              <a:ext uri="{FF2B5EF4-FFF2-40B4-BE49-F238E27FC236}">
                <a16:creationId xmlns:a16="http://schemas.microsoft.com/office/drawing/2014/main" id="{9FBF741D-D79D-4C83-B705-007C9F1A8075}"/>
              </a:ext>
            </a:extLst>
          </p:cNvPr>
          <p:cNvSpPr>
            <a:spLocks noChangeArrowheads="1"/>
          </p:cNvSpPr>
          <p:nvPr/>
        </p:nvSpPr>
        <p:spPr bwMode="auto">
          <a:xfrm>
            <a:off x="5589747" y="5193726"/>
            <a:ext cx="1201738" cy="693257"/>
          </a:xfrm>
          <a:prstGeom prst="rect">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rPr>
              <a:t>Company code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1200" cap="none" spc="0" normalizeH="0" baseline="0" noProof="0" err="1">
                <a:ln>
                  <a:noFill/>
                </a:ln>
                <a:solidFill>
                  <a:srgbClr val="000000"/>
                </a:solidFill>
                <a:effectLst/>
                <a:uLnTx/>
                <a:uFillTx/>
                <a:latin typeface="Arial" panose="020B0604020202020204" pitchFamily="34" charset="0"/>
                <a:ea typeface="+mn-ea"/>
                <a:cs typeface="+mn-cs"/>
              </a:rPr>
              <a:t>xxxx</a:t>
            </a:r>
            <a:endParaRPr kumimoji="0" lang="en-US" altLang="en-US" sz="11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41" name="TextBox 27">
            <a:extLst>
              <a:ext uri="{FF2B5EF4-FFF2-40B4-BE49-F238E27FC236}">
                <a16:creationId xmlns:a16="http://schemas.microsoft.com/office/drawing/2014/main" id="{97E4DD6E-7BE3-442F-9879-CCF97F0C732F}"/>
              </a:ext>
            </a:extLst>
          </p:cNvPr>
          <p:cNvSpPr txBox="1"/>
          <p:nvPr/>
        </p:nvSpPr>
        <p:spPr>
          <a:xfrm>
            <a:off x="8255565" y="5133315"/>
            <a:ext cx="3647081" cy="1177269"/>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A Company Code is the smallest organizational unit of external accounting for which a complete, self-contained set of accounts can be created. </a:t>
            </a:r>
          </a:p>
          <a:p>
            <a:pPr marL="108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This includes the entry of all transactions that must be posted and the creation of all items for legal individual financial statements, such as the balance sheet and the profit and loss statement.</a:t>
            </a:r>
          </a:p>
          <a:p>
            <a:pPr marL="108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1" i="1" u="none" strike="noStrike" kern="1200" cap="none" spc="0" normalizeH="0" baseline="0" noProof="0">
                <a:ln>
                  <a:noFill/>
                </a:ln>
                <a:solidFill>
                  <a:srgbClr val="000000"/>
                </a:solidFill>
                <a:effectLst/>
                <a:uLnTx/>
                <a:uFillTx/>
                <a:latin typeface="Georgia" panose="02040502050405020303" pitchFamily="18" charset="0"/>
                <a:ea typeface="+mn-ea"/>
                <a:cs typeface="+mn-cs"/>
              </a:rPr>
              <a:t>All company codes in JTI is assigned to the same controlling area and use the same operational CoA.</a:t>
            </a:r>
          </a:p>
        </p:txBody>
      </p:sp>
      <p:cxnSp>
        <p:nvCxnSpPr>
          <p:cNvPr id="42" name="Straight Connector 41">
            <a:extLst>
              <a:ext uri="{FF2B5EF4-FFF2-40B4-BE49-F238E27FC236}">
                <a16:creationId xmlns:a16="http://schemas.microsoft.com/office/drawing/2014/main" id="{8E4AB638-97D3-4C11-8BFF-CAD1E7FFA921}"/>
              </a:ext>
            </a:extLst>
          </p:cNvPr>
          <p:cNvCxnSpPr/>
          <p:nvPr/>
        </p:nvCxnSpPr>
        <p:spPr>
          <a:xfrm>
            <a:off x="491649" y="1900707"/>
            <a:ext cx="11276011" cy="53975"/>
          </a:xfrm>
          <a:prstGeom prst="line">
            <a:avLst/>
          </a:prstGeom>
          <a:ln w="19050" cap="flat" cmpd="sng" algn="ctr">
            <a:solidFill>
              <a:schemeClr val="accent3">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3" name="TextBox 29">
            <a:extLst>
              <a:ext uri="{FF2B5EF4-FFF2-40B4-BE49-F238E27FC236}">
                <a16:creationId xmlns:a16="http://schemas.microsoft.com/office/drawing/2014/main" id="{0B1C53F3-CED7-4428-9691-D4C55CE23657}"/>
              </a:ext>
            </a:extLst>
          </p:cNvPr>
          <p:cNvSpPr txBox="1"/>
          <p:nvPr/>
        </p:nvSpPr>
        <p:spPr>
          <a:xfrm>
            <a:off x="8239126" y="1520379"/>
            <a:ext cx="3570010" cy="328323"/>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08000" marR="0" lvl="0" indent="-108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A client is a separate unit of SAP with its own set of tables, master data and documents.</a:t>
            </a:r>
          </a:p>
        </p:txBody>
      </p:sp>
      <p:sp>
        <p:nvSpPr>
          <p:cNvPr id="44" name="Freeform 29">
            <a:extLst>
              <a:ext uri="{FF2B5EF4-FFF2-40B4-BE49-F238E27FC236}">
                <a16:creationId xmlns:a16="http://schemas.microsoft.com/office/drawing/2014/main" id="{9D741DE7-DEA7-403A-8958-17BD9F605C26}"/>
              </a:ext>
            </a:extLst>
          </p:cNvPr>
          <p:cNvSpPr>
            <a:spLocks/>
          </p:cNvSpPr>
          <p:nvPr/>
        </p:nvSpPr>
        <p:spPr bwMode="gray">
          <a:xfrm>
            <a:off x="3532888" y="3666060"/>
            <a:ext cx="1954400" cy="1073208"/>
          </a:xfrm>
          <a:custGeom>
            <a:avLst/>
            <a:gdLst>
              <a:gd name="T0" fmla="*/ 2147483647 w 3884"/>
              <a:gd name="T1" fmla="*/ 2147483647 h 1600"/>
              <a:gd name="T2" fmla="*/ 2147483647 w 3884"/>
              <a:gd name="T3" fmla="*/ 2147483647 h 1600"/>
              <a:gd name="T4" fmla="*/ 2147483647 w 3884"/>
              <a:gd name="T5" fmla="*/ 2147483647 h 1600"/>
              <a:gd name="T6" fmla="*/ 2147483647 w 3884"/>
              <a:gd name="T7" fmla="*/ 2147483647 h 1600"/>
              <a:gd name="T8" fmla="*/ 2147483647 w 3884"/>
              <a:gd name="T9" fmla="*/ 2147483647 h 1600"/>
              <a:gd name="T10" fmla="*/ 2147483647 w 3884"/>
              <a:gd name="T11" fmla="*/ 2147483647 h 1600"/>
              <a:gd name="T12" fmla="*/ 0 w 3884"/>
              <a:gd name="T13" fmla="*/ 2147483647 h 1600"/>
              <a:gd name="T14" fmla="*/ 2147483647 w 3884"/>
              <a:gd name="T15" fmla="*/ 2147483647 h 1600"/>
              <a:gd name="T16" fmla="*/ 2147483647 w 3884"/>
              <a:gd name="T17" fmla="*/ 2147483647 h 1600"/>
              <a:gd name="T18" fmla="*/ 2147483647 w 3884"/>
              <a:gd name="T19" fmla="*/ 2147483647 h 1600"/>
              <a:gd name="T20" fmla="*/ 2147483647 w 3884"/>
              <a:gd name="T21" fmla="*/ 2147483647 h 1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84"/>
              <a:gd name="T34" fmla="*/ 0 h 1600"/>
              <a:gd name="T35" fmla="*/ 3884 w 3884"/>
              <a:gd name="T36" fmla="*/ 1600 h 16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84" h="1600">
                <a:moveTo>
                  <a:pt x="297" y="1346"/>
                </a:moveTo>
                <a:cubicBezTo>
                  <a:pt x="918" y="1523"/>
                  <a:pt x="1726" y="1533"/>
                  <a:pt x="2310" y="1448"/>
                </a:cubicBezTo>
                <a:cubicBezTo>
                  <a:pt x="3125" y="1334"/>
                  <a:pt x="3798" y="1192"/>
                  <a:pt x="3810" y="884"/>
                </a:cubicBezTo>
                <a:cubicBezTo>
                  <a:pt x="3822" y="576"/>
                  <a:pt x="3114" y="204"/>
                  <a:pt x="1945" y="137"/>
                </a:cubicBezTo>
                <a:cubicBezTo>
                  <a:pt x="645" y="63"/>
                  <a:pt x="74" y="564"/>
                  <a:pt x="74" y="724"/>
                </a:cubicBezTo>
                <a:cubicBezTo>
                  <a:pt x="74" y="884"/>
                  <a:pt x="394" y="1032"/>
                  <a:pt x="781" y="1072"/>
                </a:cubicBezTo>
                <a:cubicBezTo>
                  <a:pt x="280" y="1135"/>
                  <a:pt x="0" y="912"/>
                  <a:pt x="0" y="724"/>
                </a:cubicBezTo>
                <a:cubicBezTo>
                  <a:pt x="0" y="536"/>
                  <a:pt x="473" y="0"/>
                  <a:pt x="1951" y="68"/>
                </a:cubicBezTo>
                <a:cubicBezTo>
                  <a:pt x="2863" y="110"/>
                  <a:pt x="3884" y="433"/>
                  <a:pt x="3878" y="884"/>
                </a:cubicBezTo>
                <a:cubicBezTo>
                  <a:pt x="3872" y="1335"/>
                  <a:pt x="2873" y="1446"/>
                  <a:pt x="2276" y="1523"/>
                </a:cubicBezTo>
                <a:cubicBezTo>
                  <a:pt x="1679" y="1600"/>
                  <a:pt x="553" y="1580"/>
                  <a:pt x="297" y="1346"/>
                </a:cubicBezTo>
                <a:close/>
              </a:path>
            </a:pathLst>
          </a:custGeom>
          <a:solidFill>
            <a:srgbClr val="33C1BA"/>
          </a:solidFill>
          <a:ln w="38100">
            <a:solidFill>
              <a:srgbClr val="33C1BA"/>
            </a:solidFill>
            <a:round/>
            <a:headEnd/>
            <a:tailEnd/>
          </a:ln>
        </p:spPr>
        <p:txBody>
          <a:bodyPr vert="horz" wrap="square" lIns="91440" tIns="91440" rIns="91440" bIns="9144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panose="020B0604020202020204"/>
              <a:ea typeface="ＭＳ Ｐゴシック" pitchFamily="80" charset="-128"/>
              <a:cs typeface="+mn-cs"/>
            </a:endParaRPr>
          </a:p>
        </p:txBody>
      </p:sp>
    </p:spTree>
    <p:extLst>
      <p:ext uri="{BB962C8B-B14F-4D97-AF65-F5344CB8AC3E}">
        <p14:creationId xmlns:p14="http://schemas.microsoft.com/office/powerpoint/2010/main" val="243331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4B03F-5C5E-487B-ABE7-4B9C0F2C9F66}"/>
              </a:ext>
            </a:extLst>
          </p:cNvPr>
          <p:cNvSpPr>
            <a:spLocks noGrp="1"/>
          </p:cNvSpPr>
          <p:nvPr>
            <p:ph type="title"/>
          </p:nvPr>
        </p:nvSpPr>
        <p:spPr/>
        <p:txBody>
          <a:bodyPr/>
          <a:lstStyle/>
          <a:p>
            <a:r>
              <a:rPr lang="en-GB"/>
              <a:t>Profitability Analysis – Operating Concern</a:t>
            </a:r>
            <a:endParaRPr lang="en-US"/>
          </a:p>
        </p:txBody>
      </p:sp>
      <p:sp>
        <p:nvSpPr>
          <p:cNvPr id="4" name="Footer Placeholder 3">
            <a:extLst>
              <a:ext uri="{FF2B5EF4-FFF2-40B4-BE49-F238E27FC236}">
                <a16:creationId xmlns:a16="http://schemas.microsoft.com/office/drawing/2014/main" id="{0BF4487A-BF10-4C58-9EE8-6AC891784670}"/>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C7A3084-9BE0-40E0-8291-49A9C19679D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4B2C5A26-4D04-4FB0-8772-D12F09573541}"/>
              </a:ext>
            </a:extLst>
          </p:cNvPr>
          <p:cNvPicPr>
            <a:picLocks noChangeAspect="1"/>
          </p:cNvPicPr>
          <p:nvPr/>
        </p:nvPicPr>
        <p:blipFill>
          <a:blip r:embed="rId2"/>
          <a:stretch>
            <a:fillRect/>
          </a:stretch>
        </p:blipFill>
        <p:spPr>
          <a:xfrm>
            <a:off x="750309" y="1528179"/>
            <a:ext cx="4746602" cy="3168565"/>
          </a:xfrm>
          <a:prstGeom prst="rect">
            <a:avLst/>
          </a:prstGeom>
        </p:spPr>
      </p:pic>
      <p:pic>
        <p:nvPicPr>
          <p:cNvPr id="7" name="Picture 6">
            <a:extLst>
              <a:ext uri="{FF2B5EF4-FFF2-40B4-BE49-F238E27FC236}">
                <a16:creationId xmlns:a16="http://schemas.microsoft.com/office/drawing/2014/main" id="{6622D665-BA90-4AD1-B3C9-AC15F37A1731}"/>
              </a:ext>
            </a:extLst>
          </p:cNvPr>
          <p:cNvPicPr>
            <a:picLocks noChangeAspect="1"/>
          </p:cNvPicPr>
          <p:nvPr/>
        </p:nvPicPr>
        <p:blipFill>
          <a:blip r:embed="rId3"/>
          <a:stretch>
            <a:fillRect/>
          </a:stretch>
        </p:blipFill>
        <p:spPr>
          <a:xfrm>
            <a:off x="1864117" y="3996480"/>
            <a:ext cx="4231883" cy="2301041"/>
          </a:xfrm>
          <a:prstGeom prst="rect">
            <a:avLst/>
          </a:prstGeom>
        </p:spPr>
      </p:pic>
      <p:sp>
        <p:nvSpPr>
          <p:cNvPr id="3" name="TextBox 2">
            <a:extLst>
              <a:ext uri="{FF2B5EF4-FFF2-40B4-BE49-F238E27FC236}">
                <a16:creationId xmlns:a16="http://schemas.microsoft.com/office/drawing/2014/main" id="{8BF3DA8E-142C-482D-AED6-87817951E35C}"/>
              </a:ext>
            </a:extLst>
          </p:cNvPr>
          <p:cNvSpPr txBox="1"/>
          <p:nvPr/>
        </p:nvSpPr>
        <p:spPr>
          <a:xfrm>
            <a:off x="6272463" y="1074821"/>
            <a:ext cx="5432364" cy="2651452"/>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 The Operating Concern contains </a:t>
            </a: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a structure composed by selected data objects (Characteristics and Cost Elements) </a:t>
            </a: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that will be extracted from specific SAP Tables and that are part of the  profitability segments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 Controlling Area(s) (</a:t>
            </a: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JTI use one controlling area – 1000</a:t>
            </a: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 Having one Chart of Accounts allows the use of one Controlling area which allows better flow of costs across different company codes). A controlling area needs to be assigned to an Operating Concern to enable CO-PA to work (1001 for JTI).</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T</a:t>
            </a: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he currency of the Operating concern is set as Master Data</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GB" sz="1800" b="0" i="0" u="none" strike="noStrike" kern="1200" cap="none" spc="0" normalizeH="0" baseline="0" noProof="0">
                <a:ln>
                  <a:noFill/>
                </a:ln>
                <a:solidFill>
                  <a:srgbClr val="000000"/>
                </a:solidFill>
                <a:effectLst/>
                <a:uLnTx/>
                <a:uFillTx/>
                <a:latin typeface="Arial" panose="020B0604020202020204"/>
                <a:ea typeface="+mn-ea"/>
                <a:cs typeface="+mn-cs"/>
              </a:rPr>
              <a:t>T</a:t>
            </a: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he Fiscal year variant controls parameters for a financial </a:t>
            </a: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year</a:t>
            </a: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 such as managing financial accounting </a:t>
            </a: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year</a:t>
            </a: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 and posting </a:t>
            </a: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period variants</a:t>
            </a: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 to open and close posting periods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8" name="Picture 7">
            <a:extLst>
              <a:ext uri="{FF2B5EF4-FFF2-40B4-BE49-F238E27FC236}">
                <a16:creationId xmlns:a16="http://schemas.microsoft.com/office/drawing/2014/main" id="{185D395F-FB01-4596-BCE7-049276AD7553}"/>
              </a:ext>
            </a:extLst>
          </p:cNvPr>
          <p:cNvPicPr>
            <a:picLocks noChangeAspect="1"/>
          </p:cNvPicPr>
          <p:nvPr/>
        </p:nvPicPr>
        <p:blipFill>
          <a:blip r:embed="rId4"/>
          <a:stretch>
            <a:fillRect/>
          </a:stretch>
        </p:blipFill>
        <p:spPr>
          <a:xfrm>
            <a:off x="4013093" y="2473284"/>
            <a:ext cx="2082907" cy="457223"/>
          </a:xfrm>
          <a:prstGeom prst="rect">
            <a:avLst/>
          </a:prstGeom>
        </p:spPr>
      </p:pic>
      <p:sp>
        <p:nvSpPr>
          <p:cNvPr id="9" name="Rectangle: Rounded Corners 8">
            <a:extLst>
              <a:ext uri="{FF2B5EF4-FFF2-40B4-BE49-F238E27FC236}">
                <a16:creationId xmlns:a16="http://schemas.microsoft.com/office/drawing/2014/main" id="{5904A7CF-A620-4B2E-962A-0BF342DEF87E}"/>
              </a:ext>
            </a:extLst>
          </p:cNvPr>
          <p:cNvSpPr/>
          <p:nvPr/>
        </p:nvSpPr>
        <p:spPr>
          <a:xfrm>
            <a:off x="3823138" y="2380593"/>
            <a:ext cx="2215055" cy="662152"/>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113734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44BE9AA-19FC-476E-A2DA-B886C1038A93}"/>
              </a:ext>
            </a:extLst>
          </p:cNvPr>
          <p:cNvSpPr/>
          <p:nvPr/>
        </p:nvSpPr>
        <p:spPr>
          <a:xfrm rot="19291090">
            <a:off x="249452" y="2019533"/>
            <a:ext cx="1133644" cy="646331"/>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w="0"/>
                <a:solidFill>
                  <a:srgbClr val="FF0000">
                    <a:alpha val="38000"/>
                  </a:srgbClr>
                </a:solidFill>
                <a:effectLst>
                  <a:outerShdw blurRad="38100" dist="25400" dir="5400000" algn="ctr" rotWithShape="0">
                    <a:srgbClr val="6E747A">
                      <a:alpha val="43000"/>
                    </a:srgbClr>
                  </a:outerShdw>
                </a:effectLst>
                <a:uLnTx/>
                <a:uFillTx/>
                <a:latin typeface="Arial" panose="020B0604020202020204"/>
                <a:ea typeface="+mn-ea"/>
                <a:cs typeface="+mn-cs"/>
              </a:rPr>
              <a:t>OLD</a:t>
            </a:r>
          </a:p>
        </p:txBody>
      </p:sp>
      <p:sp>
        <p:nvSpPr>
          <p:cNvPr id="2" name="Title 1">
            <a:extLst>
              <a:ext uri="{FF2B5EF4-FFF2-40B4-BE49-F238E27FC236}">
                <a16:creationId xmlns:a16="http://schemas.microsoft.com/office/drawing/2014/main" id="{B8F4B03F-5C5E-487B-ABE7-4B9C0F2C9F66}"/>
              </a:ext>
            </a:extLst>
          </p:cNvPr>
          <p:cNvSpPr>
            <a:spLocks noGrp="1"/>
          </p:cNvSpPr>
          <p:nvPr>
            <p:ph type="title"/>
          </p:nvPr>
        </p:nvSpPr>
        <p:spPr/>
        <p:txBody>
          <a:bodyPr/>
          <a:lstStyle/>
          <a:p>
            <a:r>
              <a:rPr lang="en-GB"/>
              <a:t>Profitability Analysis – Changes in CO-PA</a:t>
            </a:r>
            <a:endParaRPr lang="en-US"/>
          </a:p>
        </p:txBody>
      </p:sp>
      <p:sp>
        <p:nvSpPr>
          <p:cNvPr id="4" name="Footer Placeholder 3">
            <a:extLst>
              <a:ext uri="{FF2B5EF4-FFF2-40B4-BE49-F238E27FC236}">
                <a16:creationId xmlns:a16="http://schemas.microsoft.com/office/drawing/2014/main" id="{0BF4487A-BF10-4C58-9EE8-6AC891784670}"/>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7C7A3084-9BE0-40E0-8291-49A9C19679D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8BF3DA8E-142C-482D-AED6-87817951E35C}"/>
              </a:ext>
            </a:extLst>
          </p:cNvPr>
          <p:cNvSpPr txBox="1"/>
          <p:nvPr/>
        </p:nvSpPr>
        <p:spPr>
          <a:xfrm>
            <a:off x="1366587" y="1527803"/>
            <a:ext cx="6470420" cy="2841172"/>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In </a:t>
            </a: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ECC JTI used a “Costing-based” CO-PA approach</a:t>
            </a: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 But this is changing!! This approach:</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Groups Revenues and costs based on Value Fields and Costing-based valuation approaches, both customized to fit JTI business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Was recommended for ECC but with move to S/4 HANA not many improvements have been made and is now outdated approach (</a:t>
            </a:r>
            <a:r>
              <a:rPr kumimoji="0" lang="en-US" sz="1800" b="0" i="1" u="none" strike="noStrike" kern="1200" cap="none" spc="0" normalizeH="0" baseline="0" noProof="0" err="1">
                <a:ln>
                  <a:noFill/>
                </a:ln>
                <a:solidFill>
                  <a:srgbClr val="000000"/>
                </a:solidFill>
                <a:effectLst/>
                <a:uLnTx/>
                <a:uFillTx/>
                <a:latin typeface="Arial" panose="020B0604020202020204"/>
                <a:ea typeface="+mn-ea"/>
                <a:cs typeface="+mn-cs"/>
              </a:rPr>
              <a:t>eg.</a:t>
            </a:r>
            <a:r>
              <a:rPr kumimoji="0" lang="en-US" sz="1800" b="0" i="1" u="none" strike="noStrike" kern="1200" cap="none" spc="0" normalizeH="0" baseline="0" noProof="0">
                <a:ln>
                  <a:noFill/>
                </a:ln>
                <a:solidFill>
                  <a:srgbClr val="000000"/>
                </a:solidFill>
                <a:effectLst/>
                <a:uLnTx/>
                <a:uFillTx/>
                <a:latin typeface="Arial" panose="020B0604020202020204"/>
                <a:ea typeface="+mn-ea"/>
                <a:cs typeface="+mn-cs"/>
              </a:rPr>
              <a:t> </a:t>
            </a:r>
            <a:r>
              <a:rPr kumimoji="0" lang="en-US" sz="1800" b="0" i="1" u="none" strike="noStrike" kern="1200" cap="none" spc="0" normalizeH="0" baseline="0" noProof="0" err="1">
                <a:ln>
                  <a:noFill/>
                </a:ln>
                <a:solidFill>
                  <a:srgbClr val="000000"/>
                </a:solidFill>
                <a:effectLst/>
                <a:uLnTx/>
                <a:uFillTx/>
                <a:latin typeface="Arial" panose="020B0604020202020204"/>
                <a:ea typeface="+mn-ea"/>
                <a:cs typeface="+mn-cs"/>
              </a:rPr>
              <a:t>Tcodes</a:t>
            </a:r>
            <a:r>
              <a:rPr kumimoji="0" lang="en-US" sz="1800" b="0" i="1" u="none" strike="noStrike" kern="1200" cap="none" spc="0" normalizeH="0" baseline="0" noProof="0">
                <a:ln>
                  <a:noFill/>
                </a:ln>
                <a:solidFill>
                  <a:srgbClr val="000000"/>
                </a:solidFill>
                <a:effectLst/>
                <a:uLnTx/>
                <a:uFillTx/>
                <a:latin typeface="Arial" panose="020B0604020202020204"/>
                <a:ea typeface="+mn-ea"/>
                <a:cs typeface="+mn-cs"/>
              </a:rPr>
              <a:t> KE24 and KE30</a:t>
            </a: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Moving forward with </a:t>
            </a: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S/4 HANA JTI are changing to an</a:t>
            </a: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 “</a:t>
            </a:r>
            <a:r>
              <a:rPr kumimoji="0" lang="en-US" sz="1800" b="1" i="0" u="none" strike="noStrike" kern="1200" cap="none" spc="0" normalizeH="0" baseline="0" noProof="0">
                <a:ln>
                  <a:noFill/>
                </a:ln>
                <a:solidFill>
                  <a:srgbClr val="000000"/>
                </a:solidFill>
                <a:effectLst/>
                <a:uLnTx/>
                <a:uFillTx/>
                <a:latin typeface="Arial" panose="020B0604020202020204"/>
                <a:ea typeface="+mn-ea"/>
                <a:cs typeface="+mn-cs"/>
              </a:rPr>
              <a:t>Account-based</a:t>
            </a: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 CO-PA. This is in part due to the improvements made as part of the move to S/4 HANA offered by SAP </a:t>
            </a:r>
            <a:r>
              <a:rPr kumimoji="0" lang="en-US" sz="1800" b="0" i="1" u="none" strike="noStrike" kern="1200" cap="none" spc="0" normalizeH="0" baseline="0" noProof="0">
                <a:ln>
                  <a:noFill/>
                </a:ln>
                <a:solidFill>
                  <a:srgbClr val="000000"/>
                </a:solidFill>
                <a:effectLst/>
                <a:uLnTx/>
                <a:uFillTx/>
                <a:latin typeface="Arial" panose="020B0604020202020204"/>
                <a:ea typeface="+mn-ea"/>
                <a:cs typeface="+mn-cs"/>
              </a:rPr>
              <a:t>(</a:t>
            </a:r>
            <a:r>
              <a:rPr kumimoji="0" lang="en-US" sz="1800" b="0" i="1" u="none" strike="noStrike" kern="1200" cap="none" spc="0" normalizeH="0" baseline="0" noProof="0" err="1">
                <a:ln>
                  <a:noFill/>
                </a:ln>
                <a:solidFill>
                  <a:srgbClr val="000000"/>
                </a:solidFill>
                <a:effectLst/>
                <a:uLnTx/>
                <a:uFillTx/>
                <a:latin typeface="Arial" panose="020B0604020202020204"/>
                <a:ea typeface="+mn-ea"/>
                <a:cs typeface="+mn-cs"/>
              </a:rPr>
              <a:t>eg.</a:t>
            </a:r>
            <a:r>
              <a:rPr kumimoji="0" lang="en-US" sz="1800" b="0" i="1" u="none" strike="noStrike" kern="1200" cap="none" spc="0" normalizeH="0" baseline="0" noProof="0">
                <a:ln>
                  <a:noFill/>
                </a:ln>
                <a:solidFill>
                  <a:srgbClr val="000000"/>
                </a:solidFill>
                <a:effectLst/>
                <a:uLnTx/>
                <a:uFillTx/>
                <a:latin typeface="Arial" panose="020B0604020202020204"/>
                <a:ea typeface="+mn-ea"/>
                <a:cs typeface="+mn-cs"/>
              </a:rPr>
              <a:t> </a:t>
            </a:r>
            <a:r>
              <a:rPr kumimoji="0" lang="en-US" sz="1800" b="0" i="1" u="none" strike="noStrike" kern="1200" cap="none" spc="0" normalizeH="0" baseline="0" noProof="0" err="1">
                <a:ln>
                  <a:noFill/>
                </a:ln>
                <a:solidFill>
                  <a:srgbClr val="000000"/>
                </a:solidFill>
                <a:effectLst/>
                <a:uLnTx/>
                <a:uFillTx/>
                <a:latin typeface="Arial" panose="020B0604020202020204"/>
                <a:ea typeface="+mn-ea"/>
                <a:cs typeface="+mn-cs"/>
              </a:rPr>
              <a:t>Tcode</a:t>
            </a:r>
            <a:r>
              <a:rPr kumimoji="0" lang="en-US" sz="1800" b="0" i="1" u="none" strike="noStrike" kern="1200" cap="none" spc="0" normalizeH="0" baseline="0" noProof="0">
                <a:ln>
                  <a:noFill/>
                </a:ln>
                <a:solidFill>
                  <a:srgbClr val="000000"/>
                </a:solidFill>
                <a:effectLst/>
                <a:uLnTx/>
                <a:uFillTx/>
                <a:latin typeface="Arial" panose="020B0604020202020204"/>
                <a:ea typeface="+mn-ea"/>
                <a:cs typeface="+mn-cs"/>
              </a:rPr>
              <a:t> GR55)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This approach offers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Reporting fully based on costs and revenues elements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A permanently reconciled profitability report with Financial Accounting (</a:t>
            </a:r>
            <a:r>
              <a:rPr kumimoji="0" lang="en-US" sz="1800" b="0" i="0" u="none" strike="noStrike" kern="1200" cap="none" spc="0" normalizeH="0" baseline="0" noProof="0" err="1">
                <a:ln>
                  <a:noFill/>
                </a:ln>
                <a:solidFill>
                  <a:srgbClr val="000000"/>
                </a:solidFill>
                <a:effectLst/>
                <a:uLnTx/>
                <a:uFillTx/>
                <a:latin typeface="Arial" panose="020B0604020202020204"/>
                <a:ea typeface="+mn-ea"/>
                <a:cs typeface="+mn-cs"/>
              </a:rPr>
              <a:t>Tcode</a:t>
            </a:r>
            <a:r>
              <a:rPr kumimoji="0" lang="en-US" sz="1800" b="0" i="0" u="none" strike="noStrike" kern="1200" cap="none" spc="0" normalizeH="0" baseline="0" noProof="0">
                <a:ln>
                  <a:noFill/>
                </a:ln>
                <a:solidFill>
                  <a:srgbClr val="000000"/>
                </a:solidFill>
                <a:effectLst/>
                <a:uLnTx/>
                <a:uFillTx/>
                <a:latin typeface="Arial" panose="020B0604020202020204"/>
                <a:ea typeface="+mn-ea"/>
                <a:cs typeface="+mn-cs"/>
              </a:rPr>
              <a:t> FAGLL03H)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8" name="Picture 7">
            <a:extLst>
              <a:ext uri="{FF2B5EF4-FFF2-40B4-BE49-F238E27FC236}">
                <a16:creationId xmlns:a16="http://schemas.microsoft.com/office/drawing/2014/main" id="{4DF3EA61-8B1E-4CDE-80C4-D91934BCBC2F}"/>
              </a:ext>
            </a:extLst>
          </p:cNvPr>
          <p:cNvPicPr>
            <a:picLocks noChangeAspect="1"/>
          </p:cNvPicPr>
          <p:nvPr/>
        </p:nvPicPr>
        <p:blipFill>
          <a:blip r:embed="rId2"/>
          <a:stretch>
            <a:fillRect/>
          </a:stretch>
        </p:blipFill>
        <p:spPr>
          <a:xfrm>
            <a:off x="8047177" y="2717024"/>
            <a:ext cx="3973356" cy="1940690"/>
          </a:xfrm>
          <a:prstGeom prst="rect">
            <a:avLst/>
          </a:prstGeom>
        </p:spPr>
      </p:pic>
      <p:sp>
        <p:nvSpPr>
          <p:cNvPr id="10" name="Rectangle 9">
            <a:extLst>
              <a:ext uri="{FF2B5EF4-FFF2-40B4-BE49-F238E27FC236}">
                <a16:creationId xmlns:a16="http://schemas.microsoft.com/office/drawing/2014/main" id="{7C709B05-E1A7-4B3A-8CF9-07BC5074DE4E}"/>
              </a:ext>
            </a:extLst>
          </p:cNvPr>
          <p:cNvSpPr/>
          <p:nvPr/>
        </p:nvSpPr>
        <p:spPr>
          <a:xfrm rot="19291090">
            <a:off x="185332" y="4334549"/>
            <a:ext cx="1261885" cy="646331"/>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a:ln w="0"/>
                <a:solidFill>
                  <a:srgbClr val="33C1BA">
                    <a:alpha val="92000"/>
                  </a:srgbClr>
                </a:solidFill>
                <a:effectLst>
                  <a:outerShdw blurRad="38100" dist="25400" dir="5400000" algn="ctr" rotWithShape="0">
                    <a:srgbClr val="6E747A">
                      <a:alpha val="43000"/>
                    </a:srgbClr>
                  </a:outerShdw>
                </a:effectLst>
                <a:uLnTx/>
                <a:uFillTx/>
                <a:latin typeface="Arial" panose="020B0604020202020204"/>
                <a:ea typeface="+mn-ea"/>
                <a:cs typeface="+mn-cs"/>
              </a:rPr>
              <a:t>N</a:t>
            </a:r>
            <a:r>
              <a:rPr kumimoji="0" lang="en-US" sz="3600" b="0" i="0" u="none" strike="noStrike" kern="1200" cap="none" spc="0" normalizeH="0" baseline="0" noProof="0">
                <a:ln w="0"/>
                <a:solidFill>
                  <a:srgbClr val="33C1BA">
                    <a:alpha val="92000"/>
                  </a:srgbClr>
                </a:solidFill>
                <a:effectLst>
                  <a:outerShdw blurRad="38100" dist="25400" dir="5400000" algn="ctr" rotWithShape="0">
                    <a:srgbClr val="6E747A">
                      <a:alpha val="43000"/>
                    </a:srgbClr>
                  </a:outerShdw>
                </a:effectLst>
                <a:uLnTx/>
                <a:uFillTx/>
                <a:latin typeface="Arial" panose="020B0604020202020204"/>
                <a:ea typeface="+mn-ea"/>
                <a:cs typeface="+mn-cs"/>
              </a:rPr>
              <a:t>EW</a:t>
            </a:r>
          </a:p>
        </p:txBody>
      </p:sp>
      <p:sp>
        <p:nvSpPr>
          <p:cNvPr id="11" name="Rectangle: Rounded Corners 10">
            <a:extLst>
              <a:ext uri="{FF2B5EF4-FFF2-40B4-BE49-F238E27FC236}">
                <a16:creationId xmlns:a16="http://schemas.microsoft.com/office/drawing/2014/main" id="{52551D78-F736-4F20-804A-611B9D75FCC9}"/>
              </a:ext>
            </a:extLst>
          </p:cNvPr>
          <p:cNvSpPr/>
          <p:nvPr/>
        </p:nvSpPr>
        <p:spPr>
          <a:xfrm>
            <a:off x="8834119" y="2022656"/>
            <a:ext cx="1808480" cy="449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err="1">
                <a:ln>
                  <a:noFill/>
                </a:ln>
                <a:solidFill>
                  <a:srgbClr val="00B2A9">
                    <a:lumMod val="50000"/>
                  </a:srgbClr>
                </a:solidFill>
                <a:effectLst/>
                <a:uLnTx/>
                <a:uFillTx/>
                <a:latin typeface="Arial" panose="020B0604020202020204"/>
                <a:ea typeface="+mn-ea"/>
                <a:cs typeface="+mn-cs"/>
              </a:rPr>
              <a:t>Tcodes</a:t>
            </a: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KE24 &amp; 	KE30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FBL3N  </a:t>
            </a:r>
          </a:p>
        </p:txBody>
      </p:sp>
      <p:sp>
        <p:nvSpPr>
          <p:cNvPr id="12" name="Rectangle: Rounded Corners 11">
            <a:extLst>
              <a:ext uri="{FF2B5EF4-FFF2-40B4-BE49-F238E27FC236}">
                <a16:creationId xmlns:a16="http://schemas.microsoft.com/office/drawing/2014/main" id="{D09F6045-3267-44A0-93A0-60D5BEF297BB}"/>
              </a:ext>
            </a:extLst>
          </p:cNvPr>
          <p:cNvSpPr/>
          <p:nvPr/>
        </p:nvSpPr>
        <p:spPr>
          <a:xfrm>
            <a:off x="8896464" y="5253042"/>
            <a:ext cx="1808480" cy="449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New </a:t>
            </a:r>
            <a:r>
              <a:rPr kumimoji="0" lang="en-GB" sz="1000" b="1" i="0" u="none" strike="noStrike" kern="1200" cap="none" spc="0" normalizeH="0" baseline="0" noProof="0" err="1">
                <a:ln>
                  <a:noFill/>
                </a:ln>
                <a:solidFill>
                  <a:srgbClr val="00B2A9">
                    <a:lumMod val="50000"/>
                  </a:srgbClr>
                </a:solidFill>
                <a:effectLst/>
                <a:uLnTx/>
                <a:uFillTx/>
                <a:latin typeface="Arial" panose="020B0604020202020204"/>
                <a:ea typeface="+mn-ea"/>
                <a:cs typeface="+mn-cs"/>
              </a:rPr>
              <a:t>Tcode</a:t>
            </a: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GR55 &amp; FAGLL03H (line item)</a:t>
            </a:r>
          </a:p>
        </p:txBody>
      </p:sp>
      <p:pic>
        <p:nvPicPr>
          <p:cNvPr id="7" name="Graphic 6" descr="Forbidden">
            <a:extLst>
              <a:ext uri="{FF2B5EF4-FFF2-40B4-BE49-F238E27FC236}">
                <a16:creationId xmlns:a16="http://schemas.microsoft.com/office/drawing/2014/main" id="{15196898-5E32-4654-92B6-0AE5779F252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36886" y="1912939"/>
            <a:ext cx="581992" cy="581992"/>
          </a:xfrm>
          <a:prstGeom prst="rect">
            <a:avLst/>
          </a:prstGeom>
        </p:spPr>
      </p:pic>
      <p:cxnSp>
        <p:nvCxnSpPr>
          <p:cNvPr id="37" name="Straight Connector 36">
            <a:extLst>
              <a:ext uri="{FF2B5EF4-FFF2-40B4-BE49-F238E27FC236}">
                <a16:creationId xmlns:a16="http://schemas.microsoft.com/office/drawing/2014/main" id="{8B2E4AD8-C07C-4652-9007-11609B6A9A80}"/>
              </a:ext>
            </a:extLst>
          </p:cNvPr>
          <p:cNvCxnSpPr>
            <a:cxnSpLocks/>
          </p:cNvCxnSpPr>
          <p:nvPr/>
        </p:nvCxnSpPr>
        <p:spPr>
          <a:xfrm>
            <a:off x="9836727" y="2022656"/>
            <a:ext cx="805872" cy="472275"/>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4BF3DEF-5997-43EA-93C3-A16A6D969FCC}"/>
              </a:ext>
            </a:extLst>
          </p:cNvPr>
          <p:cNvCxnSpPr>
            <a:cxnSpLocks/>
          </p:cNvCxnSpPr>
          <p:nvPr/>
        </p:nvCxnSpPr>
        <p:spPr>
          <a:xfrm flipH="1">
            <a:off x="9836728" y="2022656"/>
            <a:ext cx="727363" cy="472275"/>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pic>
        <p:nvPicPr>
          <p:cNvPr id="45" name="Graphic 44" descr="Thumbs up sign">
            <a:extLst>
              <a:ext uri="{FF2B5EF4-FFF2-40B4-BE49-F238E27FC236}">
                <a16:creationId xmlns:a16="http://schemas.microsoft.com/office/drawing/2014/main" id="{DABFF2E6-C16B-4509-B700-807BFF9C464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68452" y="5056908"/>
            <a:ext cx="718859" cy="718859"/>
          </a:xfrm>
          <a:prstGeom prst="rect">
            <a:avLst/>
          </a:prstGeom>
        </p:spPr>
      </p:pic>
    </p:spTree>
    <p:extLst>
      <p:ext uri="{BB962C8B-B14F-4D97-AF65-F5344CB8AC3E}">
        <p14:creationId xmlns:p14="http://schemas.microsoft.com/office/powerpoint/2010/main" val="1613054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4DB377D0-2B49-41EE-9379-C1584D114A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9199" y="1968826"/>
            <a:ext cx="3578439" cy="2162510"/>
          </a:xfrm>
          <a:prstGeom prst="rect">
            <a:avLst/>
          </a:prstGeom>
        </p:spPr>
      </p:pic>
      <p:graphicFrame>
        <p:nvGraphicFramePr>
          <p:cNvPr id="27" name="Table 26">
            <a:extLst>
              <a:ext uri="{FF2B5EF4-FFF2-40B4-BE49-F238E27FC236}">
                <a16:creationId xmlns:a16="http://schemas.microsoft.com/office/drawing/2014/main" id="{8122F707-7539-44D7-AE86-8679877AFB9D}"/>
              </a:ext>
            </a:extLst>
          </p:cNvPr>
          <p:cNvGraphicFramePr>
            <a:graphicFrameLocks noGrp="1"/>
          </p:cNvGraphicFramePr>
          <p:nvPr/>
        </p:nvGraphicFramePr>
        <p:xfrm>
          <a:off x="5335336" y="1709472"/>
          <a:ext cx="3016383" cy="1828800"/>
        </p:xfrm>
        <a:graphic>
          <a:graphicData uri="http://schemas.openxmlformats.org/drawingml/2006/table">
            <a:tbl>
              <a:tblPr firstRow="1" bandRow="1">
                <a:tableStyleId>{00A15C55-8517-42AA-B614-E9B94910E393}</a:tableStyleId>
              </a:tblPr>
              <a:tblGrid>
                <a:gridCol w="1820514">
                  <a:extLst>
                    <a:ext uri="{9D8B030D-6E8A-4147-A177-3AD203B41FA5}">
                      <a16:colId xmlns:a16="http://schemas.microsoft.com/office/drawing/2014/main" val="2528711831"/>
                    </a:ext>
                  </a:extLst>
                </a:gridCol>
                <a:gridCol w="1195869">
                  <a:extLst>
                    <a:ext uri="{9D8B030D-6E8A-4147-A177-3AD203B41FA5}">
                      <a16:colId xmlns:a16="http://schemas.microsoft.com/office/drawing/2014/main" val="377174828"/>
                    </a:ext>
                  </a:extLst>
                </a:gridCol>
              </a:tblGrid>
              <a:tr h="0">
                <a:tc>
                  <a:txBody>
                    <a:bodyPr/>
                    <a:lstStyle/>
                    <a:p>
                      <a:r>
                        <a:rPr lang="en-GB" sz="1400"/>
                        <a:t>Characteristics</a:t>
                      </a:r>
                      <a:endParaRPr lang="en-US" sz="1400"/>
                    </a:p>
                  </a:txBody>
                  <a:tcPr>
                    <a:solidFill>
                      <a:schemeClr val="accent3"/>
                    </a:solidFill>
                  </a:tcPr>
                </a:tc>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GB" sz="1200"/>
                        <a:t>ID</a:t>
                      </a:r>
                      <a:endParaRPr lang="en-US"/>
                    </a:p>
                  </a:txBody>
                  <a:tcPr>
                    <a:solidFill>
                      <a:schemeClr val="accent3"/>
                    </a:solidFill>
                  </a:tcPr>
                </a:tc>
                <a:extLst>
                  <a:ext uri="{0D108BD9-81ED-4DB2-BD59-A6C34878D82A}">
                    <a16:rowId xmlns:a16="http://schemas.microsoft.com/office/drawing/2014/main" val="2080132305"/>
                  </a:ext>
                </a:extLst>
              </a:tr>
              <a:tr h="206145">
                <a:tc>
                  <a:txBody>
                    <a:bodyPr/>
                    <a:lstStyle/>
                    <a:p>
                      <a:r>
                        <a:rPr lang="en-GB" sz="1400"/>
                        <a:t>Sales Order</a:t>
                      </a:r>
                      <a:endParaRPr lang="en-US" sz="1400"/>
                    </a:p>
                  </a:txBody>
                  <a:tcPr/>
                </a:tc>
                <a:tc>
                  <a:txBody>
                    <a:bodyPr/>
                    <a:lstStyle/>
                    <a:p>
                      <a:r>
                        <a:rPr lang="en-GB" sz="1400"/>
                        <a:t>1015975925</a:t>
                      </a:r>
                      <a:endParaRPr lang="en-US" sz="1400"/>
                    </a:p>
                  </a:txBody>
                  <a:tcPr/>
                </a:tc>
                <a:extLst>
                  <a:ext uri="{0D108BD9-81ED-4DB2-BD59-A6C34878D82A}">
                    <a16:rowId xmlns:a16="http://schemas.microsoft.com/office/drawing/2014/main" val="1070326951"/>
                  </a:ext>
                </a:extLst>
              </a:tr>
              <a:tr h="206145">
                <a:tc>
                  <a:txBody>
                    <a:bodyPr/>
                    <a:lstStyle/>
                    <a:p>
                      <a:r>
                        <a:rPr lang="en-GB" sz="1400" kern="1200">
                          <a:solidFill>
                            <a:schemeClr val="dk1"/>
                          </a:solidFill>
                          <a:latin typeface="+mn-lt"/>
                          <a:ea typeface="+mn-ea"/>
                          <a:cs typeface="+mn-cs"/>
                        </a:rPr>
                        <a:t>Prod. Group Sold</a:t>
                      </a:r>
                      <a:endParaRPr lang="en-US" sz="1400" kern="1200">
                        <a:solidFill>
                          <a:schemeClr val="dk1"/>
                        </a:solidFill>
                        <a:latin typeface="+mn-lt"/>
                        <a:ea typeface="+mn-ea"/>
                        <a:cs typeface="+mn-cs"/>
                      </a:endParaRPr>
                    </a:p>
                  </a:txBody>
                  <a:tcPr/>
                </a:tc>
                <a:tc>
                  <a:txBody>
                    <a:bodyPr/>
                    <a:lstStyle/>
                    <a:p>
                      <a:r>
                        <a:rPr lang="en-GB" sz="1400"/>
                        <a:t>SKU</a:t>
                      </a:r>
                      <a:endParaRPr lang="en-US" sz="1400"/>
                    </a:p>
                  </a:txBody>
                  <a:tcPr/>
                </a:tc>
                <a:extLst>
                  <a:ext uri="{0D108BD9-81ED-4DB2-BD59-A6C34878D82A}">
                    <a16:rowId xmlns:a16="http://schemas.microsoft.com/office/drawing/2014/main" val="2550838982"/>
                  </a:ext>
                </a:extLst>
              </a:tr>
              <a:tr h="206145">
                <a:tc>
                  <a:txBody>
                    <a:bodyPr/>
                    <a:lstStyle/>
                    <a:p>
                      <a:r>
                        <a:rPr lang="en-GB" sz="1400" kern="1200">
                          <a:solidFill>
                            <a:schemeClr val="dk1"/>
                          </a:solidFill>
                          <a:latin typeface="+mn-lt"/>
                          <a:ea typeface="+mn-ea"/>
                          <a:cs typeface="+mn-cs"/>
                        </a:rPr>
                        <a:t>Brand Family</a:t>
                      </a:r>
                      <a:endParaRPr lang="en-US" sz="1400" kern="1200">
                        <a:solidFill>
                          <a:schemeClr val="dk1"/>
                        </a:solidFill>
                        <a:latin typeface="+mn-lt"/>
                        <a:ea typeface="+mn-ea"/>
                        <a:cs typeface="+mn-cs"/>
                      </a:endParaRPr>
                    </a:p>
                  </a:txBody>
                  <a:tcPr/>
                </a:tc>
                <a:tc>
                  <a:txBody>
                    <a:bodyPr/>
                    <a:lstStyle/>
                    <a:p>
                      <a:r>
                        <a:rPr lang="en-GB" sz="1400"/>
                        <a:t>SC</a:t>
                      </a:r>
                      <a:endParaRPr lang="en-US" sz="1400"/>
                    </a:p>
                  </a:txBody>
                  <a:tcPr/>
                </a:tc>
                <a:extLst>
                  <a:ext uri="{0D108BD9-81ED-4DB2-BD59-A6C34878D82A}">
                    <a16:rowId xmlns:a16="http://schemas.microsoft.com/office/drawing/2014/main" val="3179077182"/>
                  </a:ext>
                </a:extLst>
              </a:tr>
              <a:tr h="206145">
                <a:tc>
                  <a:txBody>
                    <a:bodyPr/>
                    <a:lstStyle/>
                    <a:p>
                      <a:r>
                        <a:rPr lang="en-GB" sz="1400" kern="1200">
                          <a:solidFill>
                            <a:schemeClr val="dk1"/>
                          </a:solidFill>
                          <a:latin typeface="+mn-lt"/>
                          <a:ea typeface="+mn-ea"/>
                          <a:cs typeface="+mn-cs"/>
                        </a:rPr>
                        <a:t>Customer</a:t>
                      </a:r>
                      <a:endParaRPr lang="en-US" sz="1400" kern="1200">
                        <a:solidFill>
                          <a:schemeClr val="dk1"/>
                        </a:solidFill>
                        <a:latin typeface="+mn-lt"/>
                        <a:ea typeface="+mn-ea"/>
                        <a:cs typeface="+mn-cs"/>
                      </a:endParaRPr>
                    </a:p>
                  </a:txBody>
                  <a:tcPr/>
                </a:tc>
                <a:tc>
                  <a:txBody>
                    <a:bodyPr/>
                    <a:lstStyle/>
                    <a:p>
                      <a:r>
                        <a:rPr lang="en-GB" sz="1400"/>
                        <a:t>1095727</a:t>
                      </a:r>
                      <a:endParaRPr lang="en-US" sz="1400"/>
                    </a:p>
                  </a:txBody>
                  <a:tcPr/>
                </a:tc>
                <a:extLst>
                  <a:ext uri="{0D108BD9-81ED-4DB2-BD59-A6C34878D82A}">
                    <a16:rowId xmlns:a16="http://schemas.microsoft.com/office/drawing/2014/main" val="1956115060"/>
                  </a:ext>
                </a:extLst>
              </a:tr>
              <a:tr h="206145">
                <a:tc>
                  <a:txBody>
                    <a:bodyPr/>
                    <a:lstStyle/>
                    <a:p>
                      <a:r>
                        <a:rPr lang="en-GB" sz="1400" kern="1200">
                          <a:solidFill>
                            <a:schemeClr val="dk1"/>
                          </a:solidFill>
                          <a:latin typeface="+mn-lt"/>
                          <a:ea typeface="+mn-ea"/>
                          <a:cs typeface="+mn-cs"/>
                        </a:rPr>
                        <a:t>Sales District</a:t>
                      </a:r>
                      <a:endParaRPr lang="en-US" sz="1400" kern="1200">
                        <a:solidFill>
                          <a:schemeClr val="dk1"/>
                        </a:solidFill>
                        <a:latin typeface="+mn-lt"/>
                        <a:ea typeface="+mn-ea"/>
                        <a:cs typeface="+mn-cs"/>
                      </a:endParaRPr>
                    </a:p>
                  </a:txBody>
                  <a:tcPr/>
                </a:tc>
                <a:tc>
                  <a:txBody>
                    <a:bodyPr/>
                    <a:lstStyle/>
                    <a:p>
                      <a:r>
                        <a:rPr lang="en-GB" sz="1400"/>
                        <a:t>Ireland</a:t>
                      </a:r>
                      <a:endParaRPr lang="en-US" sz="1400"/>
                    </a:p>
                  </a:txBody>
                  <a:tcPr/>
                </a:tc>
                <a:extLst>
                  <a:ext uri="{0D108BD9-81ED-4DB2-BD59-A6C34878D82A}">
                    <a16:rowId xmlns:a16="http://schemas.microsoft.com/office/drawing/2014/main" val="3606402810"/>
                  </a:ext>
                </a:extLst>
              </a:tr>
            </a:tbl>
          </a:graphicData>
        </a:graphic>
      </p:graphicFrame>
      <p:graphicFrame>
        <p:nvGraphicFramePr>
          <p:cNvPr id="28" name="Table 27">
            <a:extLst>
              <a:ext uri="{FF2B5EF4-FFF2-40B4-BE49-F238E27FC236}">
                <a16:creationId xmlns:a16="http://schemas.microsoft.com/office/drawing/2014/main" id="{8E0B5951-149B-41A4-B485-028D2C219223}"/>
              </a:ext>
            </a:extLst>
          </p:cNvPr>
          <p:cNvGraphicFramePr>
            <a:graphicFrameLocks noGrp="1"/>
          </p:cNvGraphicFramePr>
          <p:nvPr/>
        </p:nvGraphicFramePr>
        <p:xfrm>
          <a:off x="5366964" y="4501863"/>
          <a:ext cx="2451645" cy="1219200"/>
        </p:xfrm>
        <a:graphic>
          <a:graphicData uri="http://schemas.openxmlformats.org/drawingml/2006/table">
            <a:tbl>
              <a:tblPr firstRow="1" bandRow="1">
                <a:tableStyleId>{00A15C55-8517-42AA-B614-E9B94910E393}</a:tableStyleId>
              </a:tblPr>
              <a:tblGrid>
                <a:gridCol w="1586129">
                  <a:extLst>
                    <a:ext uri="{9D8B030D-6E8A-4147-A177-3AD203B41FA5}">
                      <a16:colId xmlns:a16="http://schemas.microsoft.com/office/drawing/2014/main" val="2528711831"/>
                    </a:ext>
                  </a:extLst>
                </a:gridCol>
                <a:gridCol w="865516">
                  <a:extLst>
                    <a:ext uri="{9D8B030D-6E8A-4147-A177-3AD203B41FA5}">
                      <a16:colId xmlns:a16="http://schemas.microsoft.com/office/drawing/2014/main" val="377174828"/>
                    </a:ext>
                  </a:extLst>
                </a:gridCol>
              </a:tblGrid>
              <a:tr h="206145">
                <a:tc>
                  <a:txBody>
                    <a:bodyPr/>
                    <a:lstStyle/>
                    <a:p>
                      <a:r>
                        <a:rPr lang="en-GB" sz="1400"/>
                        <a:t>Cost Elements</a:t>
                      </a:r>
                      <a:endParaRPr lang="en-US" sz="1400"/>
                    </a:p>
                  </a:txBody>
                  <a:tcPr>
                    <a:solidFill>
                      <a:schemeClr val="accent3"/>
                    </a:solidFill>
                  </a:tcPr>
                </a:tc>
                <a:tc>
                  <a:txBody>
                    <a:bodyPr/>
                    <a:lstStyle/>
                    <a:p>
                      <a:endParaRPr lang="en-US" sz="1400"/>
                    </a:p>
                  </a:txBody>
                  <a:tcPr>
                    <a:solidFill>
                      <a:schemeClr val="accent3"/>
                    </a:solidFill>
                  </a:tcPr>
                </a:tc>
                <a:extLst>
                  <a:ext uri="{0D108BD9-81ED-4DB2-BD59-A6C34878D82A}">
                    <a16:rowId xmlns:a16="http://schemas.microsoft.com/office/drawing/2014/main" val="1070326951"/>
                  </a:ext>
                </a:extLst>
              </a:tr>
              <a:tr h="206145">
                <a:tc>
                  <a:txBody>
                    <a:bodyPr/>
                    <a:lstStyle/>
                    <a:p>
                      <a:r>
                        <a:rPr lang="en-GB" sz="1400" kern="1200">
                          <a:solidFill>
                            <a:schemeClr val="dk1"/>
                          </a:solidFill>
                          <a:latin typeface="+mn-lt"/>
                          <a:ea typeface="+mn-ea"/>
                          <a:cs typeface="+mn-cs"/>
                        </a:rPr>
                        <a:t>Revenue</a:t>
                      </a:r>
                      <a:endParaRPr lang="en-US" sz="1400" kern="1200">
                        <a:solidFill>
                          <a:schemeClr val="dk1"/>
                        </a:solidFill>
                        <a:latin typeface="+mn-lt"/>
                        <a:ea typeface="+mn-ea"/>
                        <a:cs typeface="+mn-cs"/>
                      </a:endParaRPr>
                    </a:p>
                  </a:txBody>
                  <a:tcPr/>
                </a:tc>
                <a:tc>
                  <a:txBody>
                    <a:bodyPr/>
                    <a:lstStyle/>
                    <a:p>
                      <a:r>
                        <a:rPr lang="en-GB" sz="1400"/>
                        <a:t>900</a:t>
                      </a:r>
                      <a:endParaRPr lang="en-US" sz="1400"/>
                    </a:p>
                  </a:txBody>
                  <a:tcPr/>
                </a:tc>
                <a:extLst>
                  <a:ext uri="{0D108BD9-81ED-4DB2-BD59-A6C34878D82A}">
                    <a16:rowId xmlns:a16="http://schemas.microsoft.com/office/drawing/2014/main" val="2550838982"/>
                  </a:ext>
                </a:extLst>
              </a:tr>
              <a:tr h="206145">
                <a:tc>
                  <a:txBody>
                    <a:bodyPr/>
                    <a:lstStyle/>
                    <a:p>
                      <a:r>
                        <a:rPr lang="en-GB" sz="1400" kern="1200">
                          <a:solidFill>
                            <a:schemeClr val="dk1"/>
                          </a:solidFill>
                          <a:latin typeface="+mn-lt"/>
                          <a:ea typeface="+mn-ea"/>
                          <a:cs typeface="+mn-cs"/>
                        </a:rPr>
                        <a:t>Allowances</a:t>
                      </a:r>
                      <a:endParaRPr lang="en-US" sz="1400" kern="1200">
                        <a:solidFill>
                          <a:schemeClr val="dk1"/>
                        </a:solidFill>
                        <a:latin typeface="+mn-lt"/>
                        <a:ea typeface="+mn-ea"/>
                        <a:cs typeface="+mn-cs"/>
                      </a:endParaRPr>
                    </a:p>
                  </a:txBody>
                  <a:tcPr/>
                </a:tc>
                <a:tc>
                  <a:txBody>
                    <a:bodyPr/>
                    <a:lstStyle/>
                    <a:p>
                      <a:r>
                        <a:rPr lang="en-GB" sz="1400"/>
                        <a:t>100</a:t>
                      </a:r>
                      <a:endParaRPr lang="en-US" sz="1400"/>
                    </a:p>
                  </a:txBody>
                  <a:tcPr/>
                </a:tc>
                <a:extLst>
                  <a:ext uri="{0D108BD9-81ED-4DB2-BD59-A6C34878D82A}">
                    <a16:rowId xmlns:a16="http://schemas.microsoft.com/office/drawing/2014/main" val="3179077182"/>
                  </a:ext>
                </a:extLst>
              </a:tr>
              <a:tr h="206145">
                <a:tc>
                  <a:txBody>
                    <a:bodyPr/>
                    <a:lstStyle/>
                    <a:p>
                      <a:r>
                        <a:rPr lang="en-GB" sz="1400" kern="1200">
                          <a:solidFill>
                            <a:schemeClr val="dk1"/>
                          </a:solidFill>
                          <a:latin typeface="+mn-lt"/>
                          <a:ea typeface="+mn-ea"/>
                          <a:cs typeface="+mn-cs"/>
                        </a:rPr>
                        <a:t>COGS</a:t>
                      </a:r>
                      <a:endParaRPr lang="en-US" sz="1400" kern="1200">
                        <a:solidFill>
                          <a:schemeClr val="dk1"/>
                        </a:solidFill>
                        <a:latin typeface="+mn-lt"/>
                        <a:ea typeface="+mn-ea"/>
                        <a:cs typeface="+mn-cs"/>
                      </a:endParaRPr>
                    </a:p>
                  </a:txBody>
                  <a:tcPr/>
                </a:tc>
                <a:tc>
                  <a:txBody>
                    <a:bodyPr/>
                    <a:lstStyle/>
                    <a:p>
                      <a:r>
                        <a:rPr lang="en-GB" sz="1400"/>
                        <a:t>600</a:t>
                      </a:r>
                      <a:endParaRPr lang="en-US" sz="1400"/>
                    </a:p>
                  </a:txBody>
                  <a:tcPr/>
                </a:tc>
                <a:extLst>
                  <a:ext uri="{0D108BD9-81ED-4DB2-BD59-A6C34878D82A}">
                    <a16:rowId xmlns:a16="http://schemas.microsoft.com/office/drawing/2014/main" val="1956115060"/>
                  </a:ext>
                </a:extLst>
              </a:tr>
            </a:tbl>
          </a:graphicData>
        </a:graphic>
      </p:graphicFrame>
      <p:sp>
        <p:nvSpPr>
          <p:cNvPr id="2" name="Title 1">
            <a:extLst>
              <a:ext uri="{FF2B5EF4-FFF2-40B4-BE49-F238E27FC236}">
                <a16:creationId xmlns:a16="http://schemas.microsoft.com/office/drawing/2014/main" id="{F1AB56C9-21A0-42D3-98A7-4E23061A3DEC}"/>
              </a:ext>
            </a:extLst>
          </p:cNvPr>
          <p:cNvSpPr>
            <a:spLocks noGrp="1"/>
          </p:cNvSpPr>
          <p:nvPr>
            <p:ph type="title"/>
          </p:nvPr>
        </p:nvSpPr>
        <p:spPr/>
        <p:txBody>
          <a:bodyPr/>
          <a:lstStyle/>
          <a:p>
            <a:r>
              <a:rPr lang="en-GB"/>
              <a:t>Profitability Analysis – Characteristics and Cost Elements</a:t>
            </a:r>
            <a:endParaRPr lang="en-US"/>
          </a:p>
        </p:txBody>
      </p:sp>
      <p:sp>
        <p:nvSpPr>
          <p:cNvPr id="4" name="Footer Placeholder 3">
            <a:extLst>
              <a:ext uri="{FF2B5EF4-FFF2-40B4-BE49-F238E27FC236}">
                <a16:creationId xmlns:a16="http://schemas.microsoft.com/office/drawing/2014/main" id="{A9BB6224-5BAD-4D66-BCFC-11E840A51782}"/>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5D4BFC73-9600-4C20-BEE4-734596E7C50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2" name="Arrow: Curved Right 31">
            <a:extLst>
              <a:ext uri="{FF2B5EF4-FFF2-40B4-BE49-F238E27FC236}">
                <a16:creationId xmlns:a16="http://schemas.microsoft.com/office/drawing/2014/main" id="{9B3CD459-2BBA-4598-B6C8-D79F08D7B8C5}"/>
              </a:ext>
            </a:extLst>
          </p:cNvPr>
          <p:cNvSpPr/>
          <p:nvPr/>
        </p:nvSpPr>
        <p:spPr>
          <a:xfrm rot="16200000">
            <a:off x="8600849" y="2607962"/>
            <a:ext cx="696685" cy="1938199"/>
          </a:xfrm>
          <a:prstGeom prst="curvedRight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20" name="Group 19">
            <a:extLst>
              <a:ext uri="{FF2B5EF4-FFF2-40B4-BE49-F238E27FC236}">
                <a16:creationId xmlns:a16="http://schemas.microsoft.com/office/drawing/2014/main" id="{89227952-BDFB-4327-9B63-AABB2CEA8B7C}"/>
              </a:ext>
            </a:extLst>
          </p:cNvPr>
          <p:cNvGrpSpPr/>
          <p:nvPr/>
        </p:nvGrpSpPr>
        <p:grpSpPr>
          <a:xfrm>
            <a:off x="8582891" y="4731472"/>
            <a:ext cx="1609753" cy="1314347"/>
            <a:chOff x="9766980" y="5286505"/>
            <a:chExt cx="660487" cy="632787"/>
          </a:xfrm>
          <a:solidFill>
            <a:srgbClr val="3AB54A"/>
          </a:solidFill>
        </p:grpSpPr>
        <p:sp>
          <p:nvSpPr>
            <p:cNvPr id="21" name="Cube 20">
              <a:extLst>
                <a:ext uri="{FF2B5EF4-FFF2-40B4-BE49-F238E27FC236}">
                  <a16:creationId xmlns:a16="http://schemas.microsoft.com/office/drawing/2014/main" id="{9B919D4D-9043-4F5B-A17F-50F56A0191EE}"/>
                </a:ext>
              </a:extLst>
            </p:cNvPr>
            <p:cNvSpPr/>
            <p:nvPr/>
          </p:nvSpPr>
          <p:spPr>
            <a:xfrm>
              <a:off x="9766980" y="5286505"/>
              <a:ext cx="660487" cy="632787"/>
            </a:xfrm>
            <a:prstGeom prst="cube">
              <a:avLst>
                <a:gd name="adj" fmla="val 23036"/>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2" name="Rectangle 21">
              <a:extLst>
                <a:ext uri="{FF2B5EF4-FFF2-40B4-BE49-F238E27FC236}">
                  <a16:creationId xmlns:a16="http://schemas.microsoft.com/office/drawing/2014/main" id="{B66C9AFB-60ED-4210-BBFF-555BE159A096}"/>
                </a:ext>
              </a:extLst>
            </p:cNvPr>
            <p:cNvSpPr/>
            <p:nvPr/>
          </p:nvSpPr>
          <p:spPr>
            <a:xfrm>
              <a:off x="9890863" y="5483263"/>
              <a:ext cx="342492" cy="359257"/>
            </a:xfrm>
            <a:prstGeom prst="rect">
              <a:avLst/>
            </a:prstGeom>
            <a:grpFill/>
          </p:spPr>
          <p:txBody>
            <a:bodyPr wrap="none" lIns="91440" tIns="45720" rIns="91440" bIns="45720">
              <a:prstTxWarp prst="textPlai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w="10160">
                    <a:solidFill>
                      <a:srgbClr val="FFFFFF"/>
                    </a:solidFill>
                    <a:prstDash val="solid"/>
                  </a:ln>
                  <a:solidFill>
                    <a:srgbClr val="FFFFFF"/>
                  </a:solidFill>
                  <a:effectLst/>
                  <a:uLnTx/>
                  <a:uFillTx/>
                  <a:latin typeface="Arial" panose="020B0604020202020204"/>
                  <a:ea typeface="+mn-ea"/>
                  <a:cs typeface="+mn-cs"/>
                </a:rPr>
                <a:t>Revenue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w="10160">
                    <a:solidFill>
                      <a:srgbClr val="FFFFFF"/>
                    </a:solidFill>
                    <a:prstDash val="solid"/>
                  </a:ln>
                  <a:solidFill>
                    <a:srgbClr val="FFFFFF"/>
                  </a:solidFill>
                  <a:effectLst/>
                  <a:uLnTx/>
                  <a:uFillTx/>
                  <a:latin typeface="Arial" panose="020B0604020202020204"/>
                  <a:ea typeface="+mn-ea"/>
                  <a:cs typeface="+mn-cs"/>
                </a:rPr>
                <a:t>Allowances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w="10160">
                    <a:solidFill>
                      <a:srgbClr val="FFFFFF"/>
                    </a:solidFill>
                    <a:prstDash val="solid"/>
                  </a:ln>
                  <a:solidFill>
                    <a:srgbClr val="FFFFFF"/>
                  </a:solidFill>
                  <a:effectLst/>
                  <a:uLnTx/>
                  <a:uFillTx/>
                  <a:latin typeface="Arial" panose="020B0604020202020204"/>
                  <a:ea typeface="+mn-ea"/>
                  <a:cs typeface="+mn-cs"/>
                </a:rPr>
                <a:t>COGS</a:t>
              </a:r>
              <a:endParaRPr kumimoji="0" lang="en-US" sz="4800" b="0" i="0" u="none" strike="noStrike" kern="1200" cap="none" spc="0" normalizeH="0" baseline="0" noProof="0">
                <a:ln w="10160">
                  <a:solidFill>
                    <a:srgbClr val="FFFFFF"/>
                  </a:solidFill>
                  <a:prstDash val="solid"/>
                </a:ln>
                <a:solidFill>
                  <a:srgbClr val="FFFFFF"/>
                </a:solidFill>
                <a:effectLst/>
                <a:uLnTx/>
                <a:uFillTx/>
                <a:latin typeface="Arial" panose="020B0604020202020204"/>
                <a:ea typeface="+mn-ea"/>
                <a:cs typeface="+mn-cs"/>
              </a:endParaRPr>
            </a:p>
          </p:txBody>
        </p:sp>
      </p:grpSp>
      <p:sp>
        <p:nvSpPr>
          <p:cNvPr id="33" name="Arrow: Curved Right 32">
            <a:extLst>
              <a:ext uri="{FF2B5EF4-FFF2-40B4-BE49-F238E27FC236}">
                <a16:creationId xmlns:a16="http://schemas.microsoft.com/office/drawing/2014/main" id="{8C3B9D44-C482-4C13-A8A2-8505B8A09177}"/>
              </a:ext>
            </a:extLst>
          </p:cNvPr>
          <p:cNvSpPr/>
          <p:nvPr/>
        </p:nvSpPr>
        <p:spPr>
          <a:xfrm rot="689459" flipH="1">
            <a:off x="10086684" y="2975729"/>
            <a:ext cx="914729" cy="2814615"/>
          </a:xfrm>
          <a:prstGeom prst="curvedRight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34" name="Straight Connector 33">
            <a:extLst>
              <a:ext uri="{FF2B5EF4-FFF2-40B4-BE49-F238E27FC236}">
                <a16:creationId xmlns:a16="http://schemas.microsoft.com/office/drawing/2014/main" id="{50CDCC5D-BA0D-4C36-B70A-64B4EFD2BF57}"/>
              </a:ext>
            </a:extLst>
          </p:cNvPr>
          <p:cNvCxnSpPr>
            <a:cxnSpLocks/>
          </p:cNvCxnSpPr>
          <p:nvPr/>
        </p:nvCxnSpPr>
        <p:spPr>
          <a:xfrm flipH="1" flipV="1">
            <a:off x="10003000" y="3136000"/>
            <a:ext cx="1378807" cy="2185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30A8619-8E65-4F54-A020-E7D997EAF670}"/>
              </a:ext>
            </a:extLst>
          </p:cNvPr>
          <p:cNvCxnSpPr>
            <a:cxnSpLocks/>
            <a:endCxn id="30" idx="6"/>
          </p:cNvCxnSpPr>
          <p:nvPr/>
        </p:nvCxnSpPr>
        <p:spPr>
          <a:xfrm flipH="1">
            <a:off x="9505972" y="3346314"/>
            <a:ext cx="1867696" cy="15488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4CCA50B4-DAC4-4BEA-B33F-A6F4E2ADC9E5}"/>
              </a:ext>
            </a:extLst>
          </p:cNvPr>
          <p:cNvSpPr/>
          <p:nvPr/>
        </p:nvSpPr>
        <p:spPr>
          <a:xfrm>
            <a:off x="9401047" y="4842659"/>
            <a:ext cx="104925" cy="10492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0" name="Rectangle: Rounded Corners 39">
            <a:extLst>
              <a:ext uri="{FF2B5EF4-FFF2-40B4-BE49-F238E27FC236}">
                <a16:creationId xmlns:a16="http://schemas.microsoft.com/office/drawing/2014/main" id="{A1FED758-380F-4C6E-9985-71D4D6E1148C}"/>
              </a:ext>
            </a:extLst>
          </p:cNvPr>
          <p:cNvSpPr/>
          <p:nvPr/>
        </p:nvSpPr>
        <p:spPr>
          <a:xfrm>
            <a:off x="467552" y="1541511"/>
            <a:ext cx="4558260" cy="4756009"/>
          </a:xfrm>
          <a:prstGeom prst="roundRect">
            <a:avLst/>
          </a:prstGeom>
          <a:solidFill>
            <a:schemeClr val="accent1">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sng" strike="noStrike" kern="1200" cap="none" spc="0" normalizeH="0" baseline="0" noProof="0" dirty="0">
                <a:ln>
                  <a:noFill/>
                </a:ln>
                <a:solidFill>
                  <a:srgbClr val="000000"/>
                </a:solidFill>
                <a:effectLst/>
                <a:uLnTx/>
                <a:uFillTx/>
                <a:latin typeface="Arial" panose="020B0604020202020204"/>
                <a:ea typeface="+mn-ea"/>
                <a:cs typeface="+mn-cs"/>
              </a:rPr>
              <a:t>Characteristics: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Provide the </a:t>
            </a:r>
            <a:r>
              <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rPr>
              <a:t>classification of the data </a:t>
            </a: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and describe it. </a:t>
            </a:r>
            <a:r>
              <a:rPr kumimoji="0" lang="en-US" sz="1400" b="0" i="0" u="none" strike="noStrike" kern="1200" cap="none" spc="0" normalizeH="0" baseline="0" noProof="0" dirty="0" err="1">
                <a:ln>
                  <a:noFill/>
                </a:ln>
                <a:solidFill>
                  <a:srgbClr val="000000"/>
                </a:solidFill>
                <a:effectLst/>
                <a:uLnTx/>
                <a:uFillTx/>
                <a:latin typeface="Arial" panose="020B0604020202020204"/>
                <a:ea typeface="+mn-ea"/>
                <a:cs typeface="+mn-cs"/>
              </a:rPr>
              <a:t>e.g.</a:t>
            </a:r>
            <a:r>
              <a:rPr kumimoji="0" lang="en-US" sz="1400" b="1" i="0" u="none" strike="noStrike" kern="1200" cap="none" spc="0" normalizeH="0" baseline="0" noProof="0" dirty="0" err="1">
                <a:ln>
                  <a:noFill/>
                </a:ln>
                <a:solidFill>
                  <a:srgbClr val="000000"/>
                </a:solidFill>
                <a:effectLst/>
                <a:uLnTx/>
                <a:uFillTx/>
                <a:latin typeface="Arial" panose="020B0604020202020204"/>
                <a:ea typeface="+mn-ea"/>
                <a:cs typeface="+mn-cs"/>
              </a:rPr>
              <a:t>Customer</a:t>
            </a:r>
            <a:r>
              <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rPr>
              <a:t>, Product, Region…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Are dimensions </a:t>
            </a:r>
            <a:r>
              <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rPr>
              <a:t>to analyze the operating results</a:t>
            </a: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 and perform differentiated sales and profit planning/reporting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Can be </a:t>
            </a:r>
            <a:r>
              <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rPr>
              <a:t>fixed or user defined characteristics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sng" strike="noStrike" kern="1200" cap="none" spc="0" normalizeH="0" baseline="0" noProof="0" dirty="0">
                <a:ln>
                  <a:noFill/>
                </a:ln>
                <a:solidFill>
                  <a:srgbClr val="000000"/>
                </a:solidFill>
                <a:effectLst/>
                <a:uLnTx/>
                <a:uFillTx/>
                <a:latin typeface="Arial" panose="020B0604020202020204"/>
                <a:ea typeface="+mn-ea"/>
                <a:cs typeface="+mn-cs"/>
              </a:rPr>
              <a:t>Cost Elements: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Store the </a:t>
            </a:r>
            <a:r>
              <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rPr>
              <a:t>base quantities and amounts </a:t>
            </a: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for reporting and represent the structure of the costs and revenues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Can either be highly </a:t>
            </a:r>
            <a:r>
              <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rPr>
              <a:t>summarized </a:t>
            </a: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(representing a summary of cost element balances) or highly </a:t>
            </a:r>
            <a:r>
              <a:rPr kumimoji="0" lang="en-US" sz="1400" b="1" i="0" u="none" strike="noStrike" kern="1200" cap="none" spc="0" normalizeH="0" baseline="0" noProof="0" dirty="0">
                <a:ln>
                  <a:noFill/>
                </a:ln>
                <a:solidFill>
                  <a:srgbClr val="000000"/>
                </a:solidFill>
                <a:effectLst/>
                <a:uLnTx/>
                <a:uFillTx/>
                <a:latin typeface="Arial" panose="020B0604020202020204"/>
                <a:ea typeface="+mn-ea"/>
                <a:cs typeface="+mn-cs"/>
              </a:rPr>
              <a:t>detailed</a:t>
            </a:r>
            <a:r>
              <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rPr>
              <a:t> (representing just one part of a single cost element balance)</a:t>
            </a:r>
          </a:p>
        </p:txBody>
      </p:sp>
    </p:spTree>
    <p:extLst>
      <p:ext uri="{BB962C8B-B14F-4D97-AF65-F5344CB8AC3E}">
        <p14:creationId xmlns:p14="http://schemas.microsoft.com/office/powerpoint/2010/main" val="3860556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additive="base">
                                        <p:cTn id="15" dur="500" fill="hold"/>
                                        <p:tgtEl>
                                          <p:spTgt spid="32"/>
                                        </p:tgtEl>
                                        <p:attrNameLst>
                                          <p:attrName>ppt_x</p:attrName>
                                        </p:attrNameLst>
                                      </p:cBhvr>
                                      <p:tavLst>
                                        <p:tav tm="0">
                                          <p:val>
                                            <p:strVal val="#ppt_x"/>
                                          </p:val>
                                        </p:tav>
                                        <p:tav tm="100000">
                                          <p:val>
                                            <p:strVal val="#ppt_x"/>
                                          </p:val>
                                        </p:tav>
                                      </p:tavLst>
                                    </p:anim>
                                    <p:anim calcmode="lin" valueType="num">
                                      <p:cBhvr additive="base">
                                        <p:cTn id="16" dur="500" fill="hold"/>
                                        <p:tgtEl>
                                          <p:spTgt spid="3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anim calcmode="lin" valueType="num">
                                      <p:cBhvr additive="base">
                                        <p:cTn id="23" dur="500" fill="hold"/>
                                        <p:tgtEl>
                                          <p:spTgt spid="34"/>
                                        </p:tgtEl>
                                        <p:attrNameLst>
                                          <p:attrName>ppt_x</p:attrName>
                                        </p:attrNameLst>
                                      </p:cBhvr>
                                      <p:tavLst>
                                        <p:tav tm="0">
                                          <p:val>
                                            <p:strVal val="#ppt_x"/>
                                          </p:val>
                                        </p:tav>
                                        <p:tav tm="100000">
                                          <p:val>
                                            <p:strVal val="#ppt_x"/>
                                          </p:val>
                                        </p:tav>
                                      </p:tavLst>
                                    </p:anim>
                                    <p:anim calcmode="lin" valueType="num">
                                      <p:cBhvr additive="base">
                                        <p:cTn id="24"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anim calcmode="lin" valueType="num">
                                      <p:cBhvr additive="base">
                                        <p:cTn id="29" dur="500" fill="hold"/>
                                        <p:tgtEl>
                                          <p:spTgt spid="33"/>
                                        </p:tgtEl>
                                        <p:attrNameLst>
                                          <p:attrName>ppt_x</p:attrName>
                                        </p:attrNameLst>
                                      </p:cBhvr>
                                      <p:tavLst>
                                        <p:tav tm="0">
                                          <p:val>
                                            <p:strVal val="#ppt_x"/>
                                          </p:val>
                                        </p:tav>
                                        <p:tav tm="100000">
                                          <p:val>
                                            <p:strVal val="#ppt_x"/>
                                          </p:val>
                                        </p:tav>
                                      </p:tavLst>
                                    </p:anim>
                                    <p:anim calcmode="lin" valueType="num">
                                      <p:cBhvr additive="base">
                                        <p:cTn id="30" dur="500" fill="hold"/>
                                        <p:tgtEl>
                                          <p:spTgt spid="33"/>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additive="base">
                                        <p:cTn id="33" dur="500" fill="hold"/>
                                        <p:tgtEl>
                                          <p:spTgt spid="29"/>
                                        </p:tgtEl>
                                        <p:attrNameLst>
                                          <p:attrName>ppt_x</p:attrName>
                                        </p:attrNameLst>
                                      </p:cBhvr>
                                      <p:tavLst>
                                        <p:tav tm="0">
                                          <p:val>
                                            <p:strVal val="#ppt_x"/>
                                          </p:val>
                                        </p:tav>
                                        <p:tav tm="100000">
                                          <p:val>
                                            <p:strVal val="#ppt_x"/>
                                          </p:val>
                                        </p:tav>
                                      </p:tavLst>
                                    </p:anim>
                                    <p:anim calcmode="lin" valueType="num">
                                      <p:cBhvr additive="base">
                                        <p:cTn id="34" dur="500" fill="hold"/>
                                        <p:tgtEl>
                                          <p:spTgt spid="29"/>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ppt_x"/>
                                          </p:val>
                                        </p:tav>
                                        <p:tav tm="100000">
                                          <p:val>
                                            <p:strVal val="#ppt_x"/>
                                          </p:val>
                                        </p:tav>
                                      </p:tavLst>
                                    </p:anim>
                                    <p:anim calcmode="lin" valueType="num">
                                      <p:cBhvr additive="base">
                                        <p:cTn id="38" dur="500" fill="hold"/>
                                        <p:tgtEl>
                                          <p:spTgt spid="20"/>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anim calcmode="lin" valueType="num">
                                      <p:cBhvr additive="base">
                                        <p:cTn id="41" dur="500" fill="hold"/>
                                        <p:tgtEl>
                                          <p:spTgt spid="28"/>
                                        </p:tgtEl>
                                        <p:attrNameLst>
                                          <p:attrName>ppt_x</p:attrName>
                                        </p:attrNameLst>
                                      </p:cBhvr>
                                      <p:tavLst>
                                        <p:tav tm="0">
                                          <p:val>
                                            <p:strVal val="#ppt_x"/>
                                          </p:val>
                                        </p:tav>
                                        <p:tav tm="100000">
                                          <p:val>
                                            <p:strVal val="#ppt_x"/>
                                          </p:val>
                                        </p:tav>
                                      </p:tavLst>
                                    </p:anim>
                                    <p:anim calcmode="lin" valueType="num">
                                      <p:cBhvr additive="base">
                                        <p:cTn id="42" dur="500" fill="hold"/>
                                        <p:tgtEl>
                                          <p:spTgt spid="28"/>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anim calcmode="lin" valueType="num">
                                      <p:cBhvr additive="base">
                                        <p:cTn id="45" dur="500" fill="hold"/>
                                        <p:tgtEl>
                                          <p:spTgt spid="30"/>
                                        </p:tgtEl>
                                        <p:attrNameLst>
                                          <p:attrName>ppt_x</p:attrName>
                                        </p:attrNameLst>
                                      </p:cBhvr>
                                      <p:tavLst>
                                        <p:tav tm="0">
                                          <p:val>
                                            <p:strVal val="#ppt_x"/>
                                          </p:val>
                                        </p:tav>
                                        <p:tav tm="100000">
                                          <p:val>
                                            <p:strVal val="#ppt_x"/>
                                          </p:val>
                                        </p:tav>
                                      </p:tavLst>
                                    </p:anim>
                                    <p:anim calcmode="lin" valueType="num">
                                      <p:cBhvr additive="base">
                                        <p:cTn id="4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0" grpId="0" animBg="1"/>
      <p:bldP spid="4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4DB377D0-2B49-41EE-9379-C1584D114A99}"/>
              </a:ext>
            </a:extLst>
          </p:cNvPr>
          <p:cNvPicPr>
            <a:picLocks noChangeAspect="1"/>
          </p:cNvPicPr>
          <p:nvPr/>
        </p:nvPicPr>
        <p:blipFill rotWithShape="1">
          <a:blip r:embed="rId2">
            <a:extLst>
              <a:ext uri="{28A0092B-C50C-407E-A947-70E740481C1C}">
                <a14:useLocalDpi xmlns:a14="http://schemas.microsoft.com/office/drawing/2010/main" val="0"/>
              </a:ext>
            </a:extLst>
          </a:blip>
          <a:srcRect r="12913"/>
          <a:stretch/>
        </p:blipFill>
        <p:spPr>
          <a:xfrm>
            <a:off x="691457" y="2813146"/>
            <a:ext cx="4696644" cy="3259088"/>
          </a:xfrm>
          <a:prstGeom prst="rect">
            <a:avLst/>
          </a:prstGeom>
        </p:spPr>
      </p:pic>
      <p:sp>
        <p:nvSpPr>
          <p:cNvPr id="2" name="Title 1">
            <a:extLst>
              <a:ext uri="{FF2B5EF4-FFF2-40B4-BE49-F238E27FC236}">
                <a16:creationId xmlns:a16="http://schemas.microsoft.com/office/drawing/2014/main" id="{F1AB56C9-21A0-42D3-98A7-4E23061A3DEC}"/>
              </a:ext>
            </a:extLst>
          </p:cNvPr>
          <p:cNvSpPr>
            <a:spLocks noGrp="1"/>
          </p:cNvSpPr>
          <p:nvPr>
            <p:ph type="title"/>
          </p:nvPr>
        </p:nvSpPr>
        <p:spPr/>
        <p:txBody>
          <a:bodyPr/>
          <a:lstStyle/>
          <a:p>
            <a:r>
              <a:rPr lang="en-GB"/>
              <a:t>Profitability Analysis – Profitability Segment</a:t>
            </a:r>
            <a:endParaRPr lang="en-US"/>
          </a:p>
        </p:txBody>
      </p:sp>
      <p:sp>
        <p:nvSpPr>
          <p:cNvPr id="4" name="Footer Placeholder 3">
            <a:extLst>
              <a:ext uri="{FF2B5EF4-FFF2-40B4-BE49-F238E27FC236}">
                <a16:creationId xmlns:a16="http://schemas.microsoft.com/office/drawing/2014/main" id="{A9BB6224-5BAD-4D66-BCFC-11E840A51782}"/>
              </a:ext>
            </a:extLst>
          </p:cNvPr>
          <p:cNvSpPr>
            <a:spLocks noGrp="1"/>
          </p:cNvSpPr>
          <p:nvPr>
            <p:ph type="ftr" sz="quarter" idx="11"/>
          </p:nvPr>
        </p:nvSpPr>
        <p:spPr>
          <a:xfrm>
            <a:off x="6751478" y="6213158"/>
            <a:ext cx="420172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5D4BFC73-9600-4C20-BEE4-734596E7C50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6" name="Rectangle: Rounded Corners 25">
            <a:extLst>
              <a:ext uri="{FF2B5EF4-FFF2-40B4-BE49-F238E27FC236}">
                <a16:creationId xmlns:a16="http://schemas.microsoft.com/office/drawing/2014/main" id="{EBCBBF66-1190-4E9A-BC10-FC7FA17FA064}"/>
              </a:ext>
            </a:extLst>
          </p:cNvPr>
          <p:cNvSpPr/>
          <p:nvPr/>
        </p:nvSpPr>
        <p:spPr>
          <a:xfrm>
            <a:off x="1082312" y="1499111"/>
            <a:ext cx="10027375" cy="917446"/>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a:ln>
                  <a:noFill/>
                </a:ln>
                <a:solidFill>
                  <a:srgbClr val="000000"/>
                </a:solidFill>
                <a:effectLst/>
                <a:uLnTx/>
                <a:uFillTx/>
                <a:latin typeface="Arial" panose="020B0604020202020204"/>
                <a:ea typeface="+mn-ea"/>
                <a:cs typeface="+mn-cs"/>
              </a:rPr>
              <a:t>Profitability Segments: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A profitability Segment represents a </a:t>
            </a:r>
            <a:r>
              <a:rPr kumimoji="0" lang="en-US" sz="1600" b="1" i="0" u="none" strike="noStrike" kern="1200" cap="none" spc="0" normalizeH="0" baseline="0" noProof="0">
                <a:ln>
                  <a:noFill/>
                </a:ln>
                <a:solidFill>
                  <a:srgbClr val="000000"/>
                </a:solidFill>
                <a:effectLst/>
                <a:uLnTx/>
                <a:uFillTx/>
                <a:latin typeface="Arial" panose="020B0604020202020204"/>
                <a:ea typeface="+mn-ea"/>
                <a:cs typeface="+mn-cs"/>
              </a:rPr>
              <a:t>fixed combination of Characteristic </a:t>
            </a: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values, e.g. Ireland &amp; Camel</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Is the </a:t>
            </a:r>
            <a:r>
              <a:rPr kumimoji="0" lang="en-US" sz="1600" b="1" i="0" u="none" strike="noStrike" kern="1200" cap="none" spc="0" normalizeH="0" baseline="0" noProof="0">
                <a:ln>
                  <a:noFill/>
                </a:ln>
                <a:solidFill>
                  <a:srgbClr val="000000"/>
                </a:solidFill>
                <a:effectLst/>
                <a:uLnTx/>
                <a:uFillTx/>
                <a:latin typeface="Arial" panose="020B0604020202020204"/>
                <a:ea typeface="+mn-ea"/>
                <a:cs typeface="+mn-cs"/>
              </a:rPr>
              <a:t>object within Profitability Analysis to which costs and revenues are assigned</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5D4C1D5E-54CA-4AB6-A48E-6F2D586D1AF3}"/>
              </a:ext>
            </a:extLst>
          </p:cNvPr>
          <p:cNvPicPr>
            <a:picLocks noChangeAspect="1"/>
          </p:cNvPicPr>
          <p:nvPr/>
        </p:nvPicPr>
        <p:blipFill>
          <a:blip r:embed="rId3"/>
          <a:stretch>
            <a:fillRect/>
          </a:stretch>
        </p:blipFill>
        <p:spPr>
          <a:xfrm>
            <a:off x="6350683" y="2598315"/>
            <a:ext cx="4201727" cy="3834670"/>
          </a:xfrm>
          <a:prstGeom prst="rect">
            <a:avLst/>
          </a:prstGeom>
          <a:solidFill>
            <a:schemeClr val="accent1">
              <a:lumMod val="20000"/>
              <a:lumOff val="80000"/>
            </a:schemeClr>
          </a:solidFill>
          <a:ln w="6350">
            <a:solidFill>
              <a:srgbClr val="33C1BA"/>
            </a:solidFill>
            <a:prstDash val="solid"/>
          </a:ln>
        </p:spPr>
      </p:pic>
      <p:sp>
        <p:nvSpPr>
          <p:cNvPr id="7" name="TextBox 6">
            <a:extLst>
              <a:ext uri="{FF2B5EF4-FFF2-40B4-BE49-F238E27FC236}">
                <a16:creationId xmlns:a16="http://schemas.microsoft.com/office/drawing/2014/main" id="{24370597-C459-430A-A3C7-B0B94B1DB707}"/>
              </a:ext>
            </a:extLst>
          </p:cNvPr>
          <p:cNvSpPr txBox="1"/>
          <p:nvPr/>
        </p:nvSpPr>
        <p:spPr>
          <a:xfrm>
            <a:off x="3163199" y="4231188"/>
            <a:ext cx="418641" cy="471055"/>
          </a:xfrm>
          <a:prstGeom prst="rect">
            <a:avLst/>
          </a:prstGeom>
          <a:solidFill>
            <a:srgbClr val="3AB54A"/>
          </a:solidFill>
          <a:scene3d>
            <a:camera prst="isometricRightUp"/>
            <a:lightRig rig="threePt" dir="t"/>
          </a:scene3d>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FFFFFF"/>
                </a:solidFill>
                <a:effectLst/>
                <a:uLnTx/>
                <a:uFillTx/>
                <a:latin typeface="Arial" panose="020B0604020202020204"/>
                <a:ea typeface="+mn-ea"/>
                <a:cs typeface="+mn-cs"/>
              </a:rPr>
              <a:t> IE</a:t>
            </a:r>
            <a:endParaRPr kumimoji="0" lang="en-US" sz="1800" b="0" i="0" u="none" strike="noStrike" kern="1200" cap="none" spc="0" normalizeH="0" baseline="0" noProof="0" err="1">
              <a:ln>
                <a:noFill/>
              </a:ln>
              <a:solidFill>
                <a:srgbClr val="FFFFFF"/>
              </a:solidFill>
              <a:effectLst/>
              <a:uLnTx/>
              <a:uFillTx/>
              <a:latin typeface="Arial" panose="020B0604020202020204"/>
              <a:ea typeface="+mn-ea"/>
              <a:cs typeface="+mn-cs"/>
            </a:endParaRPr>
          </a:p>
        </p:txBody>
      </p:sp>
      <p:cxnSp>
        <p:nvCxnSpPr>
          <p:cNvPr id="12" name="Straight Arrow Connector 11">
            <a:extLst>
              <a:ext uri="{FF2B5EF4-FFF2-40B4-BE49-F238E27FC236}">
                <a16:creationId xmlns:a16="http://schemas.microsoft.com/office/drawing/2014/main" id="{ED0745A2-C032-4A6A-92E1-C4B667DBF433}"/>
              </a:ext>
            </a:extLst>
          </p:cNvPr>
          <p:cNvCxnSpPr>
            <a:cxnSpLocks/>
          </p:cNvCxnSpPr>
          <p:nvPr/>
        </p:nvCxnSpPr>
        <p:spPr>
          <a:xfrm flipH="1">
            <a:off x="2497496" y="4924540"/>
            <a:ext cx="281472" cy="958467"/>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02CBAD7-061F-4CA6-B67C-D19F8F9F8AB9}"/>
              </a:ext>
            </a:extLst>
          </p:cNvPr>
          <p:cNvCxnSpPr>
            <a:cxnSpLocks/>
          </p:cNvCxnSpPr>
          <p:nvPr/>
        </p:nvCxnSpPr>
        <p:spPr>
          <a:xfrm flipH="1">
            <a:off x="845365" y="4600013"/>
            <a:ext cx="1600752"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4CE1B3F-8318-47E0-AB60-E41A70F3E70F}"/>
              </a:ext>
            </a:extLst>
          </p:cNvPr>
          <p:cNvCxnSpPr>
            <a:cxnSpLocks/>
          </p:cNvCxnSpPr>
          <p:nvPr/>
        </p:nvCxnSpPr>
        <p:spPr>
          <a:xfrm>
            <a:off x="3163199" y="4600013"/>
            <a:ext cx="1705981" cy="23358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7202F291-A0E9-4539-9C62-F591E6FF9EE5}"/>
              </a:ext>
            </a:extLst>
          </p:cNvPr>
          <p:cNvSpPr/>
          <p:nvPr/>
        </p:nvSpPr>
        <p:spPr>
          <a:xfrm>
            <a:off x="6301691" y="3038392"/>
            <a:ext cx="850217" cy="206117"/>
          </a:xfrm>
          <a:prstGeom prst="roundRect">
            <a:avLst/>
          </a:prstGeom>
          <a:noFill/>
          <a:ln w="38100">
            <a:solidFill>
              <a:srgbClr val="33C1B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9" name="Picture 18">
            <a:extLst>
              <a:ext uri="{FF2B5EF4-FFF2-40B4-BE49-F238E27FC236}">
                <a16:creationId xmlns:a16="http://schemas.microsoft.com/office/drawing/2014/main" id="{76E2F676-B662-488C-9E9A-8997DCF76362}"/>
              </a:ext>
            </a:extLst>
          </p:cNvPr>
          <p:cNvPicPr>
            <a:picLocks noChangeAspect="1"/>
          </p:cNvPicPr>
          <p:nvPr/>
        </p:nvPicPr>
        <p:blipFill rotWithShape="1">
          <a:blip r:embed="rId4"/>
          <a:srcRect t="6057" r="71191"/>
          <a:stretch/>
        </p:blipFill>
        <p:spPr>
          <a:xfrm>
            <a:off x="10620245" y="3493059"/>
            <a:ext cx="1104202" cy="2939926"/>
          </a:xfrm>
          <a:prstGeom prst="rect">
            <a:avLst/>
          </a:prstGeom>
          <a:ln w="3175">
            <a:solidFill>
              <a:schemeClr val="accent1"/>
            </a:solidFill>
            <a:prstDash val="solid"/>
          </a:ln>
        </p:spPr>
      </p:pic>
      <p:sp>
        <p:nvSpPr>
          <p:cNvPr id="13" name="TextBox 12">
            <a:extLst>
              <a:ext uri="{FF2B5EF4-FFF2-40B4-BE49-F238E27FC236}">
                <a16:creationId xmlns:a16="http://schemas.microsoft.com/office/drawing/2014/main" id="{0B00B7D2-2B6D-49AB-A8D6-64787397DE49}"/>
              </a:ext>
            </a:extLst>
          </p:cNvPr>
          <p:cNvSpPr txBox="1"/>
          <p:nvPr/>
        </p:nvSpPr>
        <p:spPr>
          <a:xfrm>
            <a:off x="10551600" y="3141450"/>
            <a:ext cx="914400" cy="914400"/>
          </a:xfrm>
          <a:prstGeom prst="rect">
            <a:avLst/>
          </a:prstGeom>
          <a:ln w="6350">
            <a:noFill/>
            <a:prstDash val="solid"/>
          </a:ln>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74D9D5">
                    <a:lumMod val="50000"/>
                  </a:srgbClr>
                </a:solidFill>
                <a:effectLst/>
                <a:uLnTx/>
                <a:uFillTx/>
                <a:latin typeface="Arial" panose="020B0604020202020204"/>
                <a:ea typeface="+mn-ea"/>
                <a:cs typeface="+mn-cs"/>
              </a:rPr>
              <a:t>..and more</a:t>
            </a:r>
          </a:p>
        </p:txBody>
      </p:sp>
      <p:sp>
        <p:nvSpPr>
          <p:cNvPr id="11" name="Right Brace 10">
            <a:extLst>
              <a:ext uri="{FF2B5EF4-FFF2-40B4-BE49-F238E27FC236}">
                <a16:creationId xmlns:a16="http://schemas.microsoft.com/office/drawing/2014/main" id="{9DFFEC44-5375-4F86-83B5-79C7AB6C61D5}"/>
              </a:ext>
            </a:extLst>
          </p:cNvPr>
          <p:cNvSpPr/>
          <p:nvPr/>
        </p:nvSpPr>
        <p:spPr>
          <a:xfrm flipH="1">
            <a:off x="5870509" y="2729746"/>
            <a:ext cx="480174" cy="3750337"/>
          </a:xfrm>
          <a:prstGeom prst="rightBrace">
            <a:avLst>
              <a:gd name="adj1" fmla="val 118232"/>
              <a:gd name="adj2" fmla="val 56966"/>
            </a:avLst>
          </a:prstGeom>
          <a:ln w="47625">
            <a:solidFill>
              <a:srgbClr val="33C1BA"/>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 name="Rectangle: Rounded Corners 2">
            <a:extLst>
              <a:ext uri="{FF2B5EF4-FFF2-40B4-BE49-F238E27FC236}">
                <a16:creationId xmlns:a16="http://schemas.microsoft.com/office/drawing/2014/main" id="{2A54528C-3E49-46CF-B7D3-0D0E4193B043}"/>
              </a:ext>
            </a:extLst>
          </p:cNvPr>
          <p:cNvSpPr/>
          <p:nvPr/>
        </p:nvSpPr>
        <p:spPr>
          <a:xfrm>
            <a:off x="4195755" y="4422546"/>
            <a:ext cx="1420288" cy="86954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srgbClr val="FFFFFF"/>
                </a:solidFill>
                <a:effectLst/>
                <a:uLnTx/>
                <a:uFillTx/>
                <a:latin typeface="Arial" panose="020B0604020202020204"/>
                <a:ea typeface="+mn-ea"/>
                <a:cs typeface="+mn-cs"/>
              </a:rPr>
              <a:t>Profitability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CH" sz="1800" b="0" i="0" u="none" strike="noStrike" kern="1200" cap="none" spc="0" normalizeH="0" baseline="0" noProof="0">
                <a:ln>
                  <a:noFill/>
                </a:ln>
                <a:solidFill>
                  <a:srgbClr val="FFFFFF"/>
                </a:solidFill>
                <a:effectLst/>
                <a:uLnTx/>
                <a:uFillTx/>
                <a:latin typeface="Arial" panose="020B0604020202020204"/>
                <a:ea typeface="+mn-ea"/>
                <a:cs typeface="+mn-cs"/>
              </a:rPr>
              <a:t>Segment</a:t>
            </a: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25243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256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4" name="Group 3">
            <a:extLst>
              <a:ext uri="{FF2B5EF4-FFF2-40B4-BE49-F238E27FC236}">
                <a16:creationId xmlns:a16="http://schemas.microsoft.com/office/drawing/2014/main" id="{D966A70C-3B79-4FC9-AE35-308268050AC1}"/>
              </a:ext>
            </a:extLst>
          </p:cNvPr>
          <p:cNvGrpSpPr/>
          <p:nvPr/>
        </p:nvGrpSpPr>
        <p:grpSpPr>
          <a:xfrm>
            <a:off x="6411360" y="1476657"/>
            <a:ext cx="4824874" cy="3546766"/>
            <a:chOff x="6137040" y="1954177"/>
            <a:chExt cx="4824874" cy="3546766"/>
          </a:xfrm>
        </p:grpSpPr>
        <p:sp>
          <p:nvSpPr>
            <p:cNvPr id="55" name="Rounded Rectangle 40">
              <a:extLst>
                <a:ext uri="{FF2B5EF4-FFF2-40B4-BE49-F238E27FC236}">
                  <a16:creationId xmlns:a16="http://schemas.microsoft.com/office/drawing/2014/main" id="{E72DFDB4-195D-45BA-80E5-481F7D3E7CE2}"/>
                </a:ext>
              </a:extLst>
            </p:cNvPr>
            <p:cNvSpPr/>
            <p:nvPr/>
          </p:nvSpPr>
          <p:spPr>
            <a:xfrm>
              <a:off x="7259108" y="4336776"/>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charset="0"/>
                  <a:ea typeface="+mn-ea"/>
                  <a:cs typeface="Arial" charset="0"/>
                </a:rPr>
                <a:t>Profitability Analysis Derivation </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19" name="Group 18">
              <a:extLst>
                <a:ext uri="{FF2B5EF4-FFF2-40B4-BE49-F238E27FC236}">
                  <a16:creationId xmlns:a16="http://schemas.microsoft.com/office/drawing/2014/main" id="{3F49BABF-73A4-41A0-8EC8-DC283FC79D84}"/>
                </a:ext>
              </a:extLst>
            </p:cNvPr>
            <p:cNvGrpSpPr/>
            <p:nvPr/>
          </p:nvGrpSpPr>
          <p:grpSpPr>
            <a:xfrm>
              <a:off x="6137040" y="1954177"/>
              <a:ext cx="4824873" cy="2607660"/>
              <a:chOff x="7304060" y="1855075"/>
              <a:chExt cx="4824873" cy="2607660"/>
            </a:xfrm>
          </p:grpSpPr>
          <p:cxnSp>
            <p:nvCxnSpPr>
              <p:cNvPr id="8" name="Elbow Connector 7"/>
              <p:cNvCxnSpPr>
                <a:cxnSpLocks/>
              </p:cNvCxnSpPr>
              <p:nvPr/>
            </p:nvCxnSpPr>
            <p:spPr>
              <a:xfrm>
                <a:off x="7304060" y="3060320"/>
                <a:ext cx="1009162" cy="1402415"/>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 name="Elbow Connector 4"/>
              <p:cNvCxnSpPr>
                <a:cxnSpLocks/>
              </p:cNvCxnSpPr>
              <p:nvPr/>
            </p:nvCxnSpPr>
            <p:spPr>
              <a:xfrm flipV="1">
                <a:off x="7304060" y="2095049"/>
                <a:ext cx="1008701" cy="958351"/>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cxnSpLocks/>
              </p:cNvCxnSpPr>
              <p:nvPr/>
            </p:nvCxnSpPr>
            <p:spPr>
              <a:xfrm>
                <a:off x="7785534" y="3053401"/>
                <a:ext cx="447673"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8437137" y="3290799"/>
                <a:ext cx="3691795" cy="803812"/>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a:ln>
                      <a:noFill/>
                    </a:ln>
                    <a:solidFill>
                      <a:srgbClr val="1A3040"/>
                    </a:solidFill>
                    <a:effectLst/>
                    <a:uLnTx/>
                    <a:uFillTx/>
                    <a:latin typeface="Arial" charset="0"/>
                    <a:ea typeface="+mn-ea"/>
                    <a:cs typeface="Arial" charset="0"/>
                  </a:rPr>
                  <a:t>Profitability Analysis Master Data</a:t>
                </a:r>
                <a:endParaRPr kumimoji="0" lang="en-GB" sz="1400" b="0" i="0" u="none" strike="noStrike" kern="1200" cap="none" spc="0" normalizeH="0" baseline="0" noProof="0">
                  <a:ln>
                    <a:noFill/>
                  </a:ln>
                  <a:solidFill>
                    <a:srgbClr val="1A3040"/>
                  </a:solidFill>
                  <a:effectLst/>
                  <a:uLnTx/>
                  <a:uFillTx/>
                  <a:latin typeface="Arial" panose="020B0604020202020204"/>
                  <a:ea typeface="+mn-ea"/>
                  <a:cs typeface="+mn-cs"/>
                </a:endParaRPr>
              </a:p>
            </p:txBody>
          </p:sp>
          <p:sp>
            <p:nvSpPr>
              <p:cNvPr id="40" name="Rounded Rectangle 39"/>
              <p:cNvSpPr/>
              <p:nvPr/>
            </p:nvSpPr>
            <p:spPr>
              <a:xfrm>
                <a:off x="8437138" y="1855075"/>
                <a:ext cx="3691795" cy="54308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a:ea typeface="+mn-ea"/>
                    <a:cs typeface="Arial"/>
                  </a:rPr>
                  <a:t>Introduction to Profitability Analysis CO-PA</a:t>
                </a:r>
                <a:endParaRPr kumimoji="0" lang="en-US" sz="1400" b="0" i="0" u="none" strike="noStrike" kern="1200" cap="none" spc="0" normalizeH="0" baseline="0" noProof="0">
                  <a:ln>
                    <a:noFill/>
                  </a:ln>
                  <a:solidFill>
                    <a:srgbClr val="FFFFFF"/>
                  </a:solidFill>
                  <a:effectLst/>
                  <a:uLnTx/>
                  <a:uFillTx/>
                  <a:latin typeface="Arial"/>
                  <a:ea typeface="+mn-ea"/>
                  <a:cs typeface="Arial"/>
                </a:endParaRPr>
              </a:p>
            </p:txBody>
          </p:sp>
          <p:sp>
            <p:nvSpPr>
              <p:cNvPr id="41" name="Rounded Rectangle 40"/>
              <p:cNvSpPr/>
              <p:nvPr/>
            </p:nvSpPr>
            <p:spPr>
              <a:xfrm>
                <a:off x="8437136" y="2581559"/>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charset="0"/>
                    <a:ea typeface="+mn-ea"/>
                    <a:cs typeface="Arial" charset="0"/>
                  </a:rPr>
                  <a:t>Profitability Analysis Structure</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cxnSp>
          <p:nvCxnSpPr>
            <p:cNvPr id="54" name="Straight Connector 53">
              <a:extLst>
                <a:ext uri="{FF2B5EF4-FFF2-40B4-BE49-F238E27FC236}">
                  <a16:creationId xmlns:a16="http://schemas.microsoft.com/office/drawing/2014/main" id="{07919984-F404-412F-9166-F0185B5D23FE}"/>
                </a:ext>
              </a:extLst>
            </p:cNvPr>
            <p:cNvCxnSpPr>
              <a:cxnSpLocks/>
            </p:cNvCxnSpPr>
            <p:nvPr/>
          </p:nvCxnSpPr>
          <p:spPr>
            <a:xfrm>
              <a:off x="6658703" y="3827996"/>
              <a:ext cx="396598"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3" name="Rounded Rectangle 40">
              <a:extLst>
                <a:ext uri="{FF2B5EF4-FFF2-40B4-BE49-F238E27FC236}">
                  <a16:creationId xmlns:a16="http://schemas.microsoft.com/office/drawing/2014/main" id="{F519ADD3-BC58-46BA-AE17-89347AC11E75}"/>
                </a:ext>
              </a:extLst>
            </p:cNvPr>
            <p:cNvSpPr/>
            <p:nvPr/>
          </p:nvSpPr>
          <p:spPr>
            <a:xfrm>
              <a:off x="7270119" y="4970334"/>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charset="0"/>
                  <a:ea typeface="+mn-ea"/>
                  <a:cs typeface="Arial" charset="0"/>
                </a:rPr>
                <a:t>Profitability Analysis Value Flows</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6" name="Elbow Connector 7">
              <a:extLst>
                <a:ext uri="{FF2B5EF4-FFF2-40B4-BE49-F238E27FC236}">
                  <a16:creationId xmlns:a16="http://schemas.microsoft.com/office/drawing/2014/main" id="{2403B158-9D43-4598-89B6-746009942625}"/>
                </a:ext>
              </a:extLst>
            </p:cNvPr>
            <p:cNvCxnSpPr>
              <a:cxnSpLocks/>
            </p:cNvCxnSpPr>
            <p:nvPr/>
          </p:nvCxnSpPr>
          <p:spPr>
            <a:xfrm>
              <a:off x="6137040" y="3159111"/>
              <a:ext cx="1009162" cy="2053277"/>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4B38E169-E0B7-45A3-908C-2AF11A020A91}"/>
              </a:ext>
            </a:extLst>
          </p:cNvPr>
          <p:cNvGrpSpPr/>
          <p:nvPr/>
        </p:nvGrpSpPr>
        <p:grpSpPr>
          <a:xfrm>
            <a:off x="132480" y="2499943"/>
            <a:ext cx="6278878" cy="2488617"/>
            <a:chOff x="4428422" y="2334368"/>
            <a:chExt cx="7806123" cy="3512903"/>
          </a:xfrm>
        </p:grpSpPr>
        <p:cxnSp>
          <p:nvCxnSpPr>
            <p:cNvPr id="58" name="Straight Connector 57">
              <a:extLst>
                <a:ext uri="{FF2B5EF4-FFF2-40B4-BE49-F238E27FC236}">
                  <a16:creationId xmlns:a16="http://schemas.microsoft.com/office/drawing/2014/main" id="{9DCF54C5-34CA-4A76-BB79-25DAA7824C0B}"/>
                </a:ext>
              </a:extLst>
            </p:cNvPr>
            <p:cNvCxnSpPr>
              <a:cxnSpLocks/>
            </p:cNvCxnSpPr>
            <p:nvPr/>
          </p:nvCxnSpPr>
          <p:spPr>
            <a:xfrm>
              <a:off x="6781086" y="3324312"/>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FBCE771-942B-43CF-93FE-44E79D68AE42}"/>
                </a:ext>
              </a:extLst>
            </p:cNvPr>
            <p:cNvCxnSpPr>
              <a:cxnSpLocks/>
            </p:cNvCxnSpPr>
            <p:nvPr/>
          </p:nvCxnSpPr>
          <p:spPr>
            <a:xfrm>
              <a:off x="6795663" y="4793898"/>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0" name="Group 59">
              <a:extLst>
                <a:ext uri="{FF2B5EF4-FFF2-40B4-BE49-F238E27FC236}">
                  <a16:creationId xmlns:a16="http://schemas.microsoft.com/office/drawing/2014/main" id="{6E0C2BFA-3518-4ED8-AADD-135786630FE7}"/>
                </a:ext>
              </a:extLst>
            </p:cNvPr>
            <p:cNvGrpSpPr/>
            <p:nvPr/>
          </p:nvGrpSpPr>
          <p:grpSpPr>
            <a:xfrm>
              <a:off x="4428422" y="2334368"/>
              <a:ext cx="7806123" cy="3512903"/>
              <a:chOff x="4428422" y="2334368"/>
              <a:chExt cx="7806123" cy="3512903"/>
            </a:xfrm>
          </p:grpSpPr>
          <p:grpSp>
            <p:nvGrpSpPr>
              <p:cNvPr id="61" name="Group 60">
                <a:extLst>
                  <a:ext uri="{FF2B5EF4-FFF2-40B4-BE49-F238E27FC236}">
                    <a16:creationId xmlns:a16="http://schemas.microsoft.com/office/drawing/2014/main" id="{BB0D51D3-05C2-43B4-AEB4-3AE0FA5681F1}"/>
                  </a:ext>
                </a:extLst>
              </p:cNvPr>
              <p:cNvGrpSpPr/>
              <p:nvPr/>
            </p:nvGrpSpPr>
            <p:grpSpPr>
              <a:xfrm>
                <a:off x="4428422" y="2334368"/>
                <a:ext cx="7796979" cy="3512903"/>
                <a:chOff x="4371016" y="2260587"/>
                <a:chExt cx="7796979" cy="3512903"/>
              </a:xfrm>
            </p:grpSpPr>
            <p:cxnSp>
              <p:nvCxnSpPr>
                <p:cNvPr id="66" name="Elbow Connector 37">
                  <a:extLst>
                    <a:ext uri="{FF2B5EF4-FFF2-40B4-BE49-F238E27FC236}">
                      <a16:creationId xmlns:a16="http://schemas.microsoft.com/office/drawing/2014/main" id="{4179C84C-CB00-437D-AECC-9542295C7A0E}"/>
                    </a:ext>
                  </a:extLst>
                </p:cNvPr>
                <p:cNvCxnSpPr>
                  <a:cxnSpLocks/>
                </p:cNvCxnSpPr>
                <p:nvPr/>
              </p:nvCxnSpPr>
              <p:spPr>
                <a:xfrm>
                  <a:off x="6204970" y="3996147"/>
                  <a:ext cx="1096000" cy="14997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FBB50856-65C1-412E-8C92-5CDBAFD2207F}"/>
                    </a:ext>
                  </a:extLst>
                </p:cNvPr>
                <p:cNvGrpSpPr/>
                <p:nvPr/>
              </p:nvGrpSpPr>
              <p:grpSpPr>
                <a:xfrm>
                  <a:off x="4371016" y="2260587"/>
                  <a:ext cx="7796979" cy="3512903"/>
                  <a:chOff x="4371016" y="2260587"/>
                  <a:chExt cx="7796979" cy="3512903"/>
                </a:xfrm>
              </p:grpSpPr>
              <p:cxnSp>
                <p:nvCxnSpPr>
                  <p:cNvPr id="68" name="Elbow Connector 31">
                    <a:extLst>
                      <a:ext uri="{FF2B5EF4-FFF2-40B4-BE49-F238E27FC236}">
                        <a16:creationId xmlns:a16="http://schemas.microsoft.com/office/drawing/2014/main" id="{F275E643-3B88-4F60-84B1-A0F4E0531C58}"/>
                      </a:ext>
                    </a:extLst>
                  </p:cNvPr>
                  <p:cNvCxnSpPr>
                    <a:cxnSpLocks/>
                  </p:cNvCxnSpPr>
                  <p:nvPr/>
                </p:nvCxnSpPr>
                <p:spPr>
                  <a:xfrm flipV="1">
                    <a:off x="6194084" y="2527165"/>
                    <a:ext cx="1121463" cy="1465481"/>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025DFFA8-B51D-4BB8-BD03-DC86E1CD4ADC}"/>
                      </a:ext>
                    </a:extLst>
                  </p:cNvPr>
                  <p:cNvGrpSpPr/>
                  <p:nvPr/>
                </p:nvGrpSpPr>
                <p:grpSpPr>
                  <a:xfrm>
                    <a:off x="4371016" y="2260587"/>
                    <a:ext cx="7796979" cy="3512903"/>
                    <a:chOff x="4371016" y="2260587"/>
                    <a:chExt cx="7796979" cy="3512903"/>
                  </a:xfrm>
                </p:grpSpPr>
                <p:sp>
                  <p:nvSpPr>
                    <p:cNvPr id="70" name="TextBox 69">
                      <a:extLst>
                        <a:ext uri="{FF2B5EF4-FFF2-40B4-BE49-F238E27FC236}">
                          <a16:creationId xmlns:a16="http://schemas.microsoft.com/office/drawing/2014/main" id="{DE202624-A211-4009-A2E0-D8CD82DD6908}"/>
                        </a:ext>
                      </a:extLst>
                    </p:cNvPr>
                    <p:cNvSpPr txBox="1"/>
                    <p:nvPr/>
                  </p:nvSpPr>
                  <p:spPr>
                    <a:xfrm>
                      <a:off x="7532636" y="226058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Profitability Analysis: Intro to S/4 </a:t>
                      </a:r>
                    </a:p>
                  </p:txBody>
                </p:sp>
                <p:grpSp>
                  <p:nvGrpSpPr>
                    <p:cNvPr id="71" name="Group 70">
                      <a:extLst>
                        <a:ext uri="{FF2B5EF4-FFF2-40B4-BE49-F238E27FC236}">
                          <a16:creationId xmlns:a16="http://schemas.microsoft.com/office/drawing/2014/main" id="{89B58682-2FDC-4536-9165-47C21B6F5928}"/>
                        </a:ext>
                      </a:extLst>
                    </p:cNvPr>
                    <p:cNvGrpSpPr/>
                    <p:nvPr/>
                  </p:nvGrpSpPr>
                  <p:grpSpPr>
                    <a:xfrm>
                      <a:off x="4371016" y="3031011"/>
                      <a:ext cx="1867560" cy="1901181"/>
                      <a:chOff x="575788" y="4361808"/>
                      <a:chExt cx="624164" cy="624164"/>
                    </a:xfrm>
                  </p:grpSpPr>
                  <p:grpSp>
                    <p:nvGrpSpPr>
                      <p:cNvPr id="73" name="Group 72">
                        <a:extLst>
                          <a:ext uri="{FF2B5EF4-FFF2-40B4-BE49-F238E27FC236}">
                            <a16:creationId xmlns:a16="http://schemas.microsoft.com/office/drawing/2014/main" id="{0479EC0E-FA4C-4762-8990-9B56BDB40F7D}"/>
                          </a:ext>
                        </a:extLst>
                      </p:cNvPr>
                      <p:cNvGrpSpPr/>
                      <p:nvPr/>
                    </p:nvGrpSpPr>
                    <p:grpSpPr>
                      <a:xfrm>
                        <a:off x="575788" y="4361808"/>
                        <a:ext cx="624164" cy="624164"/>
                        <a:chOff x="4492144" y="190843"/>
                        <a:chExt cx="855656" cy="855656"/>
                      </a:xfrm>
                    </p:grpSpPr>
                    <p:sp>
                      <p:nvSpPr>
                        <p:cNvPr id="75" name="Oval 74">
                          <a:extLst>
                            <a:ext uri="{FF2B5EF4-FFF2-40B4-BE49-F238E27FC236}">
                              <a16:creationId xmlns:a16="http://schemas.microsoft.com/office/drawing/2014/main" id="{BFB5BF58-97BB-471C-8505-F2816B4312C1}"/>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6" name="Oval 75">
                          <a:extLst>
                            <a:ext uri="{FF2B5EF4-FFF2-40B4-BE49-F238E27FC236}">
                              <a16:creationId xmlns:a16="http://schemas.microsoft.com/office/drawing/2014/main" id="{1BD38FD9-D685-4C2A-A30F-DE7EA1575050}"/>
                            </a:ext>
                          </a:extLst>
                        </p:cNvPr>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74" name="Picture 73">
                        <a:extLst>
                          <a:ext uri="{FF2B5EF4-FFF2-40B4-BE49-F238E27FC236}">
                            <a16:creationId xmlns:a16="http://schemas.microsoft.com/office/drawing/2014/main" id="{95EE05B5-A691-403E-8016-84C858C37A52}"/>
                          </a:ext>
                        </a:extLst>
                      </p:cNvPr>
                      <p:cNvPicPr>
                        <a:picLocks noChangeAspect="1"/>
                      </p:cNvPicPr>
                      <p:nvPr/>
                    </p:nvPicPr>
                    <p:blipFill>
                      <a:blip r:embed="rId3"/>
                      <a:stretch>
                        <a:fillRect/>
                      </a:stretch>
                    </p:blipFill>
                    <p:spPr>
                      <a:xfrm>
                        <a:off x="718607" y="4514537"/>
                        <a:ext cx="328080" cy="318706"/>
                      </a:xfrm>
                      <a:prstGeom prst="rect">
                        <a:avLst/>
                      </a:prstGeom>
                    </p:spPr>
                  </p:pic>
                </p:grpSp>
                <p:sp>
                  <p:nvSpPr>
                    <p:cNvPr id="72" name="TextBox 71">
                      <a:extLst>
                        <a:ext uri="{FF2B5EF4-FFF2-40B4-BE49-F238E27FC236}">
                          <a16:creationId xmlns:a16="http://schemas.microsoft.com/office/drawing/2014/main" id="{72B546BC-37E2-4464-A88B-9670A95DFA0E}"/>
                        </a:ext>
                      </a:extLst>
                    </p:cNvPr>
                    <p:cNvSpPr txBox="1"/>
                    <p:nvPr/>
                  </p:nvSpPr>
                  <p:spPr>
                    <a:xfrm>
                      <a:off x="7558856" y="5218301"/>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Reporting Capabilities</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sp>
            <p:nvSpPr>
              <p:cNvPr id="62" name="TextBox 61">
                <a:extLst>
                  <a:ext uri="{FF2B5EF4-FFF2-40B4-BE49-F238E27FC236}">
                    <a16:creationId xmlns:a16="http://schemas.microsoft.com/office/drawing/2014/main" id="{46486D08-D9B4-44E3-B06B-731C22AB8F76}"/>
                  </a:ext>
                </a:extLst>
              </p:cNvPr>
              <p:cNvSpPr txBox="1"/>
              <p:nvPr/>
            </p:nvSpPr>
            <p:spPr>
              <a:xfrm>
                <a:off x="7616262" y="4511768"/>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Market P&amp;L</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63" name="Straight Connector 62">
                <a:extLst>
                  <a:ext uri="{FF2B5EF4-FFF2-40B4-BE49-F238E27FC236}">
                    <a16:creationId xmlns:a16="http://schemas.microsoft.com/office/drawing/2014/main" id="{4C93D6EB-B88D-490C-8DE9-E7C9ED7B22B5}"/>
                  </a:ext>
                </a:extLst>
              </p:cNvPr>
              <p:cNvCxnSpPr>
                <a:cxnSpLocks/>
              </p:cNvCxnSpPr>
              <p:nvPr/>
            </p:nvCxnSpPr>
            <p:spPr>
              <a:xfrm>
                <a:off x="6810376" y="4066427"/>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B04A1592-8717-41DC-9A44-49B6EC25865A}"/>
                  </a:ext>
                </a:extLst>
              </p:cNvPr>
              <p:cNvSpPr txBox="1"/>
              <p:nvPr/>
            </p:nvSpPr>
            <p:spPr>
              <a:xfrm>
                <a:off x="7590041" y="3107175"/>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 </a:t>
                </a:r>
                <a:r>
                  <a:rPr kumimoji="0" lang="en-GB" sz="1800" b="1" i="0" u="none" strike="noStrike" kern="1200" cap="none" spc="0" normalizeH="0" baseline="0" noProof="0" err="1">
                    <a:ln>
                      <a:noFill/>
                    </a:ln>
                    <a:solidFill>
                      <a:srgbClr val="FFFFFF"/>
                    </a:solidFill>
                    <a:effectLst/>
                    <a:uLnTx/>
                    <a:uFillTx/>
                    <a:latin typeface="Arial" panose="020B0604020202020204"/>
                    <a:ea typeface="+mn-ea"/>
                    <a:cs typeface="+mn-cs"/>
                  </a:rPr>
                  <a:t>Center</a:t>
                </a: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 Reorganization</a:t>
                </a:r>
              </a:p>
            </p:txBody>
          </p:sp>
          <p:sp>
            <p:nvSpPr>
              <p:cNvPr id="65" name="TextBox 64">
                <a:extLst>
                  <a:ext uri="{FF2B5EF4-FFF2-40B4-BE49-F238E27FC236}">
                    <a16:creationId xmlns:a16="http://schemas.microsoft.com/office/drawing/2014/main" id="{706575BD-FB4F-4E2A-B6B4-F427208A2065}"/>
                  </a:ext>
                </a:extLst>
              </p:cNvPr>
              <p:cNvSpPr txBox="1"/>
              <p:nvPr/>
            </p:nvSpPr>
            <p:spPr>
              <a:xfrm>
                <a:off x="7599186" y="383682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Standardization of Dimensions</a:t>
                </a:r>
              </a:p>
            </p:txBody>
          </p:sp>
        </p:grpSp>
      </p:grpSp>
    </p:spTree>
    <p:extLst>
      <p:ext uri="{BB962C8B-B14F-4D97-AF65-F5344CB8AC3E}">
        <p14:creationId xmlns:p14="http://schemas.microsoft.com/office/powerpoint/2010/main" val="3547914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2530D-6801-49B3-B1FF-1719A8A3EA8D}"/>
              </a:ext>
            </a:extLst>
          </p:cNvPr>
          <p:cNvSpPr>
            <a:spLocks noGrp="1"/>
          </p:cNvSpPr>
          <p:nvPr>
            <p:ph type="title"/>
          </p:nvPr>
        </p:nvSpPr>
        <p:spPr/>
        <p:txBody>
          <a:bodyPr/>
          <a:lstStyle/>
          <a:p>
            <a:r>
              <a:rPr lang="en-GB"/>
              <a:t>Profitability Analysis (CO-PA) Master Data</a:t>
            </a:r>
            <a:endParaRPr lang="en-US"/>
          </a:p>
        </p:txBody>
      </p:sp>
      <p:sp>
        <p:nvSpPr>
          <p:cNvPr id="3" name="Content Placeholder 2">
            <a:extLst>
              <a:ext uri="{FF2B5EF4-FFF2-40B4-BE49-F238E27FC236}">
                <a16:creationId xmlns:a16="http://schemas.microsoft.com/office/drawing/2014/main" id="{9B90CFFC-54F4-4A84-8BAF-1874AE6659BC}"/>
              </a:ext>
            </a:extLst>
          </p:cNvPr>
          <p:cNvSpPr>
            <a:spLocks noGrp="1"/>
          </p:cNvSpPr>
          <p:nvPr>
            <p:ph idx="1"/>
          </p:nvPr>
        </p:nvSpPr>
        <p:spPr>
          <a:xfrm>
            <a:off x="630237" y="2557145"/>
            <a:ext cx="10762863" cy="3539331"/>
          </a:xfrm>
        </p:spPr>
        <p:txBody>
          <a:bodyPr/>
          <a:lstStyle/>
          <a:p>
            <a:pPr marL="285750" indent="-285750">
              <a:buFont typeface="Wingdings" panose="05000000000000000000" pitchFamily="2" charset="2"/>
              <a:buChar char="v"/>
            </a:pPr>
            <a:r>
              <a:rPr lang="en-US" b="1" dirty="0"/>
              <a:t>Master Data</a:t>
            </a:r>
            <a:r>
              <a:rPr lang="en-US" dirty="0"/>
              <a:t>: Using the SAP master data (</a:t>
            </a:r>
            <a:r>
              <a:rPr lang="en-US" b="1" dirty="0">
                <a:solidFill>
                  <a:srgbClr val="33C1BA"/>
                </a:solidFill>
              </a:rPr>
              <a:t>Customer, Product, ..</a:t>
            </a:r>
            <a:r>
              <a:rPr lang="en-US" dirty="0"/>
              <a:t>) or </a:t>
            </a:r>
            <a:r>
              <a:rPr lang="en-US" b="1" dirty="0">
                <a:solidFill>
                  <a:schemeClr val="accent1">
                    <a:lumMod val="75000"/>
                  </a:schemeClr>
                </a:solidFill>
              </a:rPr>
              <a:t>CO‑PA derivation rules</a:t>
            </a:r>
            <a:r>
              <a:rPr lang="en-US" dirty="0"/>
              <a:t>, the system can </a:t>
            </a:r>
            <a:r>
              <a:rPr lang="en-US" u="sng" dirty="0"/>
              <a:t>derive additional </a:t>
            </a:r>
            <a:r>
              <a:rPr lang="en-US" b="1" dirty="0">
                <a:solidFill>
                  <a:srgbClr val="33C1BA"/>
                </a:solidFill>
              </a:rPr>
              <a:t>characteristics</a:t>
            </a:r>
            <a:r>
              <a:rPr lang="en-US" u="sng" dirty="0"/>
              <a:t> </a:t>
            </a:r>
            <a:r>
              <a:rPr lang="en-US" dirty="0"/>
              <a:t>based on the ones entered manually or transferred from primary transactions. A combination of characteristic values forms a multidimensional </a:t>
            </a:r>
            <a:r>
              <a:rPr lang="en-US" b="1" dirty="0"/>
              <a:t>profitability segment</a:t>
            </a:r>
            <a:r>
              <a:rPr lang="en-US" dirty="0"/>
              <a:t> for which you can analyze profit by comparing its costs and revenues</a:t>
            </a:r>
          </a:p>
          <a:p>
            <a:pPr marL="285750" indent="-285750">
              <a:buFont typeface="Wingdings" panose="05000000000000000000" pitchFamily="2" charset="2"/>
              <a:buChar char="v"/>
            </a:pPr>
            <a:r>
              <a:rPr lang="en-US" b="1" dirty="0"/>
              <a:t>Flows of Actual Values: </a:t>
            </a:r>
            <a:r>
              <a:rPr lang="en-US" dirty="0"/>
              <a:t>The flows of actual values represent the most important source of information in CO‑PA. You can transfer both </a:t>
            </a:r>
            <a:r>
              <a:rPr lang="en-US" b="1" dirty="0">
                <a:solidFill>
                  <a:srgbClr val="33C1BA"/>
                </a:solidFill>
              </a:rPr>
              <a:t>sales orders and billing documents from the Sales and Distribution (SD</a:t>
            </a:r>
            <a:r>
              <a:rPr lang="en-US" b="1" dirty="0">
                <a:solidFill>
                  <a:schemeClr val="accent1"/>
                </a:solidFill>
              </a:rPr>
              <a:t>) </a:t>
            </a:r>
            <a:r>
              <a:rPr lang="en-US" dirty="0"/>
              <a:t>application component to CO-PA in </a:t>
            </a:r>
            <a:r>
              <a:rPr lang="en-US" dirty="0" err="1"/>
              <a:t>realtime</a:t>
            </a:r>
            <a:r>
              <a:rPr lang="en-US" dirty="0"/>
              <a:t>. In addition, an interface program is available to let you transfer external data to the R/3 System such as from Payroll systems. You can also transfer </a:t>
            </a:r>
            <a:r>
              <a:rPr lang="en-US" b="1" dirty="0"/>
              <a:t>costs from cost centers, orders and projects</a:t>
            </a:r>
            <a:r>
              <a:rPr lang="en-US" dirty="0"/>
              <a:t>, as well as costs and revenues from direct postings (for example, G/L account postings in FI) or </a:t>
            </a:r>
            <a:r>
              <a:rPr lang="en-US" b="1" dirty="0">
                <a:solidFill>
                  <a:srgbClr val="33C1BA"/>
                </a:solidFill>
              </a:rPr>
              <a:t>settle costs from CO to profitability segments.</a:t>
            </a:r>
            <a:endParaRPr lang="en-US" dirty="0"/>
          </a:p>
        </p:txBody>
      </p:sp>
      <p:sp>
        <p:nvSpPr>
          <p:cNvPr id="4" name="Footer Placeholder 3">
            <a:extLst>
              <a:ext uri="{FF2B5EF4-FFF2-40B4-BE49-F238E27FC236}">
                <a16:creationId xmlns:a16="http://schemas.microsoft.com/office/drawing/2014/main" id="{3B16C1F6-1DE7-4A3E-B173-2C7DF48CF2E1}"/>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0CC83B44-F7F1-468A-ADE5-91D5E6E5E8D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DF5E6B95-AD67-4B1E-A3F9-3902956F79B1}"/>
              </a:ext>
            </a:extLst>
          </p:cNvPr>
          <p:cNvSpPr/>
          <p:nvPr/>
        </p:nvSpPr>
        <p:spPr>
          <a:xfrm>
            <a:off x="1302508" y="1615438"/>
            <a:ext cx="9601200" cy="719322"/>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000000"/>
                </a:solidFill>
                <a:effectLst/>
                <a:uLnTx/>
                <a:uFillTx/>
                <a:latin typeface="Arial" panose="020B0604020202020204"/>
                <a:ea typeface="+mn-ea"/>
                <a:cs typeface="+mn-cs"/>
              </a:rPr>
              <a:t>It is preferable to leverage as much as possible on standard transactional processes that have embedded Master Data (dimensions) at the source</a:t>
            </a:r>
          </a:p>
        </p:txBody>
      </p:sp>
    </p:spTree>
    <p:extLst>
      <p:ext uri="{BB962C8B-B14F-4D97-AF65-F5344CB8AC3E}">
        <p14:creationId xmlns:p14="http://schemas.microsoft.com/office/powerpoint/2010/main" val="1446493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7650FBA-7196-48CD-8160-8939936E30F9}"/>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a:extLst>
              <a:ext uri="{FF2B5EF4-FFF2-40B4-BE49-F238E27FC236}">
                <a16:creationId xmlns:a16="http://schemas.microsoft.com/office/drawing/2014/main" id="{C16D5877-962E-42DD-A8C2-23117D4C53A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FB6BC801-1D54-49B9-B8C2-C6523B698BBC}"/>
              </a:ext>
            </a:extLst>
          </p:cNvPr>
          <p:cNvSpPr>
            <a:spLocks noGrp="1"/>
          </p:cNvSpPr>
          <p:nvPr>
            <p:ph type="title"/>
          </p:nvPr>
        </p:nvSpPr>
        <p:spPr/>
        <p:txBody>
          <a:bodyPr/>
          <a:lstStyle/>
          <a:p>
            <a:r>
              <a:rPr lang="en-GB"/>
              <a:t>Profitability Analysis – Master Data</a:t>
            </a:r>
            <a:endParaRPr lang="en-US"/>
          </a:p>
        </p:txBody>
      </p:sp>
      <p:pic>
        <p:nvPicPr>
          <p:cNvPr id="5" name="Picture 4">
            <a:extLst>
              <a:ext uri="{FF2B5EF4-FFF2-40B4-BE49-F238E27FC236}">
                <a16:creationId xmlns:a16="http://schemas.microsoft.com/office/drawing/2014/main" id="{38341935-FFB7-45AF-9B18-BE22CBA0E7D7}"/>
              </a:ext>
            </a:extLst>
          </p:cNvPr>
          <p:cNvPicPr>
            <a:picLocks noChangeAspect="1"/>
          </p:cNvPicPr>
          <p:nvPr/>
        </p:nvPicPr>
        <p:blipFill rotWithShape="1">
          <a:blip r:embed="rId2"/>
          <a:srcRect t="6255"/>
          <a:stretch/>
        </p:blipFill>
        <p:spPr>
          <a:xfrm>
            <a:off x="909257" y="2562547"/>
            <a:ext cx="7087990" cy="3734974"/>
          </a:xfrm>
          <a:prstGeom prst="rect">
            <a:avLst/>
          </a:prstGeom>
        </p:spPr>
      </p:pic>
      <p:pic>
        <p:nvPicPr>
          <p:cNvPr id="6" name="Picture 5">
            <a:extLst>
              <a:ext uri="{FF2B5EF4-FFF2-40B4-BE49-F238E27FC236}">
                <a16:creationId xmlns:a16="http://schemas.microsoft.com/office/drawing/2014/main" id="{2B48AADD-98D5-4CC9-922B-7998323CE2F8}"/>
              </a:ext>
            </a:extLst>
          </p:cNvPr>
          <p:cNvPicPr>
            <a:picLocks noChangeAspect="1"/>
          </p:cNvPicPr>
          <p:nvPr/>
        </p:nvPicPr>
        <p:blipFill>
          <a:blip r:embed="rId3"/>
          <a:stretch>
            <a:fillRect/>
          </a:stretch>
        </p:blipFill>
        <p:spPr>
          <a:xfrm>
            <a:off x="4640616" y="2994349"/>
            <a:ext cx="3571504" cy="3396323"/>
          </a:xfrm>
          <a:prstGeom prst="rect">
            <a:avLst/>
          </a:prstGeom>
        </p:spPr>
      </p:pic>
      <p:pic>
        <p:nvPicPr>
          <p:cNvPr id="7" name="Picture 6">
            <a:extLst>
              <a:ext uri="{FF2B5EF4-FFF2-40B4-BE49-F238E27FC236}">
                <a16:creationId xmlns:a16="http://schemas.microsoft.com/office/drawing/2014/main" id="{C8E2F6A6-1783-42AA-ABAC-0FA6C3FBA832}"/>
              </a:ext>
            </a:extLst>
          </p:cNvPr>
          <p:cNvPicPr>
            <a:picLocks noChangeAspect="1"/>
          </p:cNvPicPr>
          <p:nvPr/>
        </p:nvPicPr>
        <p:blipFill rotWithShape="1">
          <a:blip r:embed="rId4"/>
          <a:srcRect b="4738"/>
          <a:stretch/>
        </p:blipFill>
        <p:spPr>
          <a:xfrm>
            <a:off x="8342017" y="3010268"/>
            <a:ext cx="3427016" cy="3287253"/>
          </a:xfrm>
          <a:prstGeom prst="rect">
            <a:avLst/>
          </a:prstGeom>
        </p:spPr>
      </p:pic>
      <p:sp>
        <p:nvSpPr>
          <p:cNvPr id="8" name="Rectangle: Rounded Corners 7">
            <a:extLst>
              <a:ext uri="{FF2B5EF4-FFF2-40B4-BE49-F238E27FC236}">
                <a16:creationId xmlns:a16="http://schemas.microsoft.com/office/drawing/2014/main" id="{14182E03-A06F-4902-B4DD-04959EF0BB5B}"/>
              </a:ext>
            </a:extLst>
          </p:cNvPr>
          <p:cNvSpPr/>
          <p:nvPr/>
        </p:nvSpPr>
        <p:spPr>
          <a:xfrm>
            <a:off x="1313426" y="1615438"/>
            <a:ext cx="9601200" cy="719322"/>
          </a:xfrm>
          <a:prstGeom prst="roundRect">
            <a:avLst/>
          </a:prstGeom>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sng" strike="noStrike" kern="1200" cap="none" spc="0" normalizeH="0" baseline="0" noProof="0">
                <a:ln>
                  <a:noFill/>
                </a:ln>
                <a:solidFill>
                  <a:srgbClr val="000000"/>
                </a:solidFill>
                <a:effectLst/>
                <a:uLnTx/>
                <a:uFillTx/>
                <a:latin typeface="Arial" panose="020B0604020202020204"/>
                <a:ea typeface="+mn-ea"/>
                <a:cs typeface="+mn-cs"/>
              </a:rPr>
              <a:t>M</a:t>
            </a:r>
            <a:r>
              <a:rPr kumimoji="0" lang="en-US" sz="1800" b="1" i="0" u="sng" strike="noStrike" kern="1200" cap="none" spc="0" normalizeH="0" baseline="0" noProof="0">
                <a:ln>
                  <a:noFill/>
                </a:ln>
                <a:solidFill>
                  <a:srgbClr val="000000"/>
                </a:solidFill>
                <a:effectLst/>
                <a:uLnTx/>
                <a:uFillTx/>
                <a:latin typeface="Arial" panose="020B0604020202020204"/>
                <a:ea typeface="+mn-ea"/>
                <a:cs typeface="+mn-cs"/>
              </a:rPr>
              <a:t>aster Data: </a:t>
            </a: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In Profitability Analysis, Master Data provide the fundamental data and content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within the structures you have already determined by </a:t>
            </a:r>
            <a:r>
              <a:rPr kumimoji="0" lang="en-US" sz="1600" b="1" i="0" u="none" strike="noStrike" kern="1200" cap="none" spc="0" normalizeH="0" baseline="0" noProof="0">
                <a:ln>
                  <a:noFill/>
                </a:ln>
                <a:solidFill>
                  <a:srgbClr val="000000"/>
                </a:solidFill>
                <a:effectLst/>
                <a:uLnTx/>
                <a:uFillTx/>
                <a:latin typeface="Arial" panose="020B0604020202020204"/>
                <a:ea typeface="+mn-ea"/>
                <a:cs typeface="+mn-cs"/>
              </a:rPr>
              <a:t>Characteristics </a:t>
            </a:r>
            <a:r>
              <a:rPr kumimoji="0" lang="en-US" sz="1600" b="0" i="0" u="none" strike="noStrike" kern="1200" cap="none" spc="0" normalizeH="0" baseline="0" noProof="0">
                <a:ln>
                  <a:noFill/>
                </a:ln>
                <a:solidFill>
                  <a:srgbClr val="000000"/>
                </a:solidFill>
                <a:effectLst/>
                <a:uLnTx/>
                <a:uFillTx/>
                <a:latin typeface="Arial" panose="020B0604020202020204"/>
                <a:ea typeface="+mn-ea"/>
                <a:cs typeface="+mn-cs"/>
              </a:rPr>
              <a:t>and </a:t>
            </a:r>
            <a:r>
              <a:rPr kumimoji="0" lang="en-US" sz="1600" b="1" i="0" u="none" strike="noStrike" kern="1200" cap="none" spc="0" normalizeH="0" baseline="0" noProof="0">
                <a:ln>
                  <a:noFill/>
                </a:ln>
                <a:solidFill>
                  <a:srgbClr val="000000"/>
                </a:solidFill>
                <a:effectLst/>
                <a:uLnTx/>
                <a:uFillTx/>
                <a:latin typeface="Arial" panose="020B0604020202020204"/>
                <a:ea typeface="+mn-ea"/>
                <a:cs typeface="+mn-cs"/>
              </a:rPr>
              <a:t>Cost Elements. </a:t>
            </a:r>
            <a:endParaRPr kumimoji="0" lang="en-US" sz="12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9EBF16F3-08D2-4555-8E35-1CC782D3A534}"/>
              </a:ext>
            </a:extLst>
          </p:cNvPr>
          <p:cNvSpPr/>
          <p:nvPr/>
        </p:nvSpPr>
        <p:spPr>
          <a:xfrm>
            <a:off x="7766738" y="2562547"/>
            <a:ext cx="4083562" cy="331385"/>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E.g. Background configuration tables in S/4 maintained by BTS</a:t>
            </a:r>
          </a:p>
        </p:txBody>
      </p:sp>
    </p:spTree>
    <p:extLst>
      <p:ext uri="{BB962C8B-B14F-4D97-AF65-F5344CB8AC3E}">
        <p14:creationId xmlns:p14="http://schemas.microsoft.com/office/powerpoint/2010/main" val="962170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256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4" name="Group 3">
            <a:extLst>
              <a:ext uri="{FF2B5EF4-FFF2-40B4-BE49-F238E27FC236}">
                <a16:creationId xmlns:a16="http://schemas.microsoft.com/office/drawing/2014/main" id="{432C4A39-0A12-416A-ACE9-34F04D3A3A16}"/>
              </a:ext>
            </a:extLst>
          </p:cNvPr>
          <p:cNvGrpSpPr/>
          <p:nvPr/>
        </p:nvGrpSpPr>
        <p:grpSpPr>
          <a:xfrm>
            <a:off x="6470142" y="1486817"/>
            <a:ext cx="4857531" cy="3932149"/>
            <a:chOff x="6104382" y="1954177"/>
            <a:chExt cx="4857531" cy="3932149"/>
          </a:xfrm>
        </p:grpSpPr>
        <p:grpSp>
          <p:nvGrpSpPr>
            <p:cNvPr id="19" name="Group 18">
              <a:extLst>
                <a:ext uri="{FF2B5EF4-FFF2-40B4-BE49-F238E27FC236}">
                  <a16:creationId xmlns:a16="http://schemas.microsoft.com/office/drawing/2014/main" id="{3F49BABF-73A4-41A0-8EC8-DC283FC79D84}"/>
                </a:ext>
              </a:extLst>
            </p:cNvPr>
            <p:cNvGrpSpPr/>
            <p:nvPr/>
          </p:nvGrpSpPr>
          <p:grpSpPr>
            <a:xfrm>
              <a:off x="6104382" y="1954177"/>
              <a:ext cx="4857531" cy="3169652"/>
              <a:chOff x="7271402" y="1855075"/>
              <a:chExt cx="4857531" cy="3169652"/>
            </a:xfrm>
          </p:grpSpPr>
          <p:cxnSp>
            <p:nvCxnSpPr>
              <p:cNvPr id="8" name="Elbow Connector 7"/>
              <p:cNvCxnSpPr>
                <a:cxnSpLocks/>
              </p:cNvCxnSpPr>
              <p:nvPr/>
            </p:nvCxnSpPr>
            <p:spPr>
              <a:xfrm>
                <a:off x="7271402" y="3043698"/>
                <a:ext cx="1009162" cy="1696923"/>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 name="Elbow Connector 4"/>
              <p:cNvCxnSpPr>
                <a:cxnSpLocks/>
              </p:cNvCxnSpPr>
              <p:nvPr/>
            </p:nvCxnSpPr>
            <p:spPr>
              <a:xfrm flipV="1">
                <a:off x="7271402" y="2095049"/>
                <a:ext cx="1008701" cy="958351"/>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cxnSpLocks/>
              </p:cNvCxnSpPr>
              <p:nvPr/>
            </p:nvCxnSpPr>
            <p:spPr>
              <a:xfrm>
                <a:off x="7785534" y="3053401"/>
                <a:ext cx="447673"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8437135" y="4220915"/>
                <a:ext cx="3691795" cy="803812"/>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a:ln>
                      <a:noFill/>
                    </a:ln>
                    <a:solidFill>
                      <a:srgbClr val="1A3040"/>
                    </a:solidFill>
                    <a:effectLst/>
                    <a:uLnTx/>
                    <a:uFillTx/>
                    <a:latin typeface="Arial" charset="0"/>
                    <a:ea typeface="+mn-ea"/>
                    <a:cs typeface="Arial" charset="0"/>
                  </a:rPr>
                  <a:t>Profitability Analysis Derivation</a:t>
                </a:r>
                <a:endParaRPr kumimoji="0" lang="en-GB" sz="1400" b="0" i="0" u="none" strike="noStrike" kern="1200" cap="none" spc="0" normalizeH="0" baseline="0" noProof="0">
                  <a:ln>
                    <a:noFill/>
                  </a:ln>
                  <a:solidFill>
                    <a:srgbClr val="1A3040"/>
                  </a:solidFill>
                  <a:effectLst/>
                  <a:uLnTx/>
                  <a:uFillTx/>
                  <a:latin typeface="Arial" panose="020B0604020202020204"/>
                  <a:ea typeface="+mn-ea"/>
                  <a:cs typeface="+mn-cs"/>
                </a:endParaRPr>
              </a:p>
            </p:txBody>
          </p:sp>
          <p:sp>
            <p:nvSpPr>
              <p:cNvPr id="40" name="Rounded Rectangle 39"/>
              <p:cNvSpPr/>
              <p:nvPr/>
            </p:nvSpPr>
            <p:spPr>
              <a:xfrm>
                <a:off x="8437138" y="1855075"/>
                <a:ext cx="3691795" cy="54308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a:ea typeface="+mn-ea"/>
                    <a:cs typeface="Arial"/>
                  </a:rPr>
                  <a:t>Introduction to Profitability Analysis CO-PA</a:t>
                </a:r>
                <a:endParaRPr kumimoji="0" lang="en-US" sz="1400" b="0" i="0" u="none" strike="noStrike" kern="1200" cap="none" spc="0" normalizeH="0" baseline="0" noProof="0">
                  <a:ln>
                    <a:noFill/>
                  </a:ln>
                  <a:solidFill>
                    <a:srgbClr val="FFFFFF"/>
                  </a:solidFill>
                  <a:effectLst/>
                  <a:uLnTx/>
                  <a:uFillTx/>
                  <a:latin typeface="Arial"/>
                  <a:ea typeface="+mn-ea"/>
                  <a:cs typeface="Arial"/>
                </a:endParaRPr>
              </a:p>
            </p:txBody>
          </p:sp>
          <p:sp>
            <p:nvSpPr>
              <p:cNvPr id="41" name="Rounded Rectangle 40"/>
              <p:cNvSpPr/>
              <p:nvPr/>
            </p:nvSpPr>
            <p:spPr>
              <a:xfrm>
                <a:off x="8437135" y="2662881"/>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charset="0"/>
                    <a:ea typeface="+mn-ea"/>
                    <a:cs typeface="Arial" charset="0"/>
                  </a:rPr>
                  <a:t>Profitability Analysis Structure</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33" name="Rounded Rectangle 40">
              <a:extLst>
                <a:ext uri="{FF2B5EF4-FFF2-40B4-BE49-F238E27FC236}">
                  <a16:creationId xmlns:a16="http://schemas.microsoft.com/office/drawing/2014/main" id="{C0DE0473-E9C3-45C1-B6CE-13D1798C2E31}"/>
                </a:ext>
              </a:extLst>
            </p:cNvPr>
            <p:cNvSpPr/>
            <p:nvPr/>
          </p:nvSpPr>
          <p:spPr>
            <a:xfrm>
              <a:off x="7270115" y="3550307"/>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charset="0"/>
                  <a:ea typeface="+mn-ea"/>
                  <a:cs typeface="Arial" charset="0"/>
                </a:rPr>
                <a:t>Profitability Analysis Master Data</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4" name="Straight Connector 53">
              <a:extLst>
                <a:ext uri="{FF2B5EF4-FFF2-40B4-BE49-F238E27FC236}">
                  <a16:creationId xmlns:a16="http://schemas.microsoft.com/office/drawing/2014/main" id="{07919984-F404-412F-9166-F0185B5D23FE}"/>
                </a:ext>
              </a:extLst>
            </p:cNvPr>
            <p:cNvCxnSpPr>
              <a:cxnSpLocks/>
            </p:cNvCxnSpPr>
            <p:nvPr/>
          </p:nvCxnSpPr>
          <p:spPr>
            <a:xfrm flipV="1">
              <a:off x="6626045" y="3827996"/>
              <a:ext cx="487038" cy="1"/>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55" name="Rounded Rectangle 40">
              <a:extLst>
                <a:ext uri="{FF2B5EF4-FFF2-40B4-BE49-F238E27FC236}">
                  <a16:creationId xmlns:a16="http://schemas.microsoft.com/office/drawing/2014/main" id="{C5146ADF-3ADE-4510-ABAF-391B2FF16EC9}"/>
                </a:ext>
              </a:extLst>
            </p:cNvPr>
            <p:cNvSpPr/>
            <p:nvPr/>
          </p:nvSpPr>
          <p:spPr>
            <a:xfrm>
              <a:off x="7270115" y="5355717"/>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charset="0"/>
                  <a:ea typeface="+mn-ea"/>
                  <a:cs typeface="Arial" charset="0"/>
                </a:rPr>
                <a:t>Profitability Analysis Value Flows</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6" name="Elbow Connector 7">
              <a:extLst>
                <a:ext uri="{FF2B5EF4-FFF2-40B4-BE49-F238E27FC236}">
                  <a16:creationId xmlns:a16="http://schemas.microsoft.com/office/drawing/2014/main" id="{665E32BB-4AAB-4666-AF79-FCB73C58F652}"/>
                </a:ext>
              </a:extLst>
            </p:cNvPr>
            <p:cNvCxnSpPr>
              <a:cxnSpLocks/>
            </p:cNvCxnSpPr>
            <p:nvPr/>
          </p:nvCxnSpPr>
          <p:spPr>
            <a:xfrm>
              <a:off x="6116720" y="3136556"/>
              <a:ext cx="1009162" cy="2484466"/>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2BC3F31D-1E6B-4B56-A668-6663833E0826}"/>
              </a:ext>
            </a:extLst>
          </p:cNvPr>
          <p:cNvGrpSpPr/>
          <p:nvPr/>
        </p:nvGrpSpPr>
        <p:grpSpPr>
          <a:xfrm>
            <a:off x="203600" y="2477599"/>
            <a:ext cx="6278878" cy="2590799"/>
            <a:chOff x="4428422" y="2334368"/>
            <a:chExt cx="7806123" cy="3512903"/>
          </a:xfrm>
        </p:grpSpPr>
        <p:cxnSp>
          <p:nvCxnSpPr>
            <p:cNvPr id="58" name="Straight Connector 57">
              <a:extLst>
                <a:ext uri="{FF2B5EF4-FFF2-40B4-BE49-F238E27FC236}">
                  <a16:creationId xmlns:a16="http://schemas.microsoft.com/office/drawing/2014/main" id="{1D8E2627-CC44-4630-BBE5-D071383AEFBC}"/>
                </a:ext>
              </a:extLst>
            </p:cNvPr>
            <p:cNvCxnSpPr>
              <a:cxnSpLocks/>
            </p:cNvCxnSpPr>
            <p:nvPr/>
          </p:nvCxnSpPr>
          <p:spPr>
            <a:xfrm>
              <a:off x="6781086" y="3324312"/>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CA82910-13B9-40E6-A9A0-4502F4274F3F}"/>
                </a:ext>
              </a:extLst>
            </p:cNvPr>
            <p:cNvCxnSpPr>
              <a:cxnSpLocks/>
            </p:cNvCxnSpPr>
            <p:nvPr/>
          </p:nvCxnSpPr>
          <p:spPr>
            <a:xfrm>
              <a:off x="6795663" y="4793898"/>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0" name="Group 59">
              <a:extLst>
                <a:ext uri="{FF2B5EF4-FFF2-40B4-BE49-F238E27FC236}">
                  <a16:creationId xmlns:a16="http://schemas.microsoft.com/office/drawing/2014/main" id="{D7AA50A0-A7C0-4FD1-B8A7-99F4AD1DA714}"/>
                </a:ext>
              </a:extLst>
            </p:cNvPr>
            <p:cNvGrpSpPr/>
            <p:nvPr/>
          </p:nvGrpSpPr>
          <p:grpSpPr>
            <a:xfrm>
              <a:off x="4428422" y="2334368"/>
              <a:ext cx="7806123" cy="3512903"/>
              <a:chOff x="4428422" y="2334368"/>
              <a:chExt cx="7806123" cy="3512903"/>
            </a:xfrm>
          </p:grpSpPr>
          <p:grpSp>
            <p:nvGrpSpPr>
              <p:cNvPr id="61" name="Group 60">
                <a:extLst>
                  <a:ext uri="{FF2B5EF4-FFF2-40B4-BE49-F238E27FC236}">
                    <a16:creationId xmlns:a16="http://schemas.microsoft.com/office/drawing/2014/main" id="{BC69580D-6F9E-4C67-98F6-645F80FE9118}"/>
                  </a:ext>
                </a:extLst>
              </p:cNvPr>
              <p:cNvGrpSpPr/>
              <p:nvPr/>
            </p:nvGrpSpPr>
            <p:grpSpPr>
              <a:xfrm>
                <a:off x="4428422" y="2334368"/>
                <a:ext cx="7796979" cy="3512903"/>
                <a:chOff x="4371016" y="2260587"/>
                <a:chExt cx="7796979" cy="3512903"/>
              </a:xfrm>
            </p:grpSpPr>
            <p:cxnSp>
              <p:nvCxnSpPr>
                <p:cNvPr id="66" name="Elbow Connector 37">
                  <a:extLst>
                    <a:ext uri="{FF2B5EF4-FFF2-40B4-BE49-F238E27FC236}">
                      <a16:creationId xmlns:a16="http://schemas.microsoft.com/office/drawing/2014/main" id="{BD24B88B-777C-4A53-B5BC-4BA71E4B4628}"/>
                    </a:ext>
                  </a:extLst>
                </p:cNvPr>
                <p:cNvCxnSpPr>
                  <a:cxnSpLocks/>
                </p:cNvCxnSpPr>
                <p:nvPr/>
              </p:nvCxnSpPr>
              <p:spPr>
                <a:xfrm>
                  <a:off x="6204970" y="3996147"/>
                  <a:ext cx="1096000" cy="14997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E5C41533-521F-4D50-8F85-5D0469E2F06E}"/>
                    </a:ext>
                  </a:extLst>
                </p:cNvPr>
                <p:cNvGrpSpPr/>
                <p:nvPr/>
              </p:nvGrpSpPr>
              <p:grpSpPr>
                <a:xfrm>
                  <a:off x="4371016" y="2260587"/>
                  <a:ext cx="7796979" cy="3512903"/>
                  <a:chOff x="4371016" y="2260587"/>
                  <a:chExt cx="7796979" cy="3512903"/>
                </a:xfrm>
              </p:grpSpPr>
              <p:cxnSp>
                <p:nvCxnSpPr>
                  <p:cNvPr id="68" name="Elbow Connector 31">
                    <a:extLst>
                      <a:ext uri="{FF2B5EF4-FFF2-40B4-BE49-F238E27FC236}">
                        <a16:creationId xmlns:a16="http://schemas.microsoft.com/office/drawing/2014/main" id="{D054CDD2-ECC3-48C8-92C5-9C12B6E10ABA}"/>
                      </a:ext>
                    </a:extLst>
                  </p:cNvPr>
                  <p:cNvCxnSpPr>
                    <a:cxnSpLocks/>
                  </p:cNvCxnSpPr>
                  <p:nvPr/>
                </p:nvCxnSpPr>
                <p:spPr>
                  <a:xfrm flipV="1">
                    <a:off x="6194084" y="2527165"/>
                    <a:ext cx="1121463" cy="1465481"/>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7BE2C39C-23DB-4624-BFBC-136F6CD51494}"/>
                      </a:ext>
                    </a:extLst>
                  </p:cNvPr>
                  <p:cNvGrpSpPr/>
                  <p:nvPr/>
                </p:nvGrpSpPr>
                <p:grpSpPr>
                  <a:xfrm>
                    <a:off x="4371016" y="2260587"/>
                    <a:ext cx="7796979" cy="3512903"/>
                    <a:chOff x="4371016" y="2260587"/>
                    <a:chExt cx="7796979" cy="3512903"/>
                  </a:xfrm>
                </p:grpSpPr>
                <p:sp>
                  <p:nvSpPr>
                    <p:cNvPr id="70" name="TextBox 69">
                      <a:extLst>
                        <a:ext uri="{FF2B5EF4-FFF2-40B4-BE49-F238E27FC236}">
                          <a16:creationId xmlns:a16="http://schemas.microsoft.com/office/drawing/2014/main" id="{93EC7773-14AA-4216-9313-AAB832313E13}"/>
                        </a:ext>
                      </a:extLst>
                    </p:cNvPr>
                    <p:cNvSpPr txBox="1"/>
                    <p:nvPr/>
                  </p:nvSpPr>
                  <p:spPr>
                    <a:xfrm>
                      <a:off x="7532636" y="226058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Profitability Analysis: Intro to S/4 </a:t>
                      </a:r>
                    </a:p>
                  </p:txBody>
                </p:sp>
                <p:grpSp>
                  <p:nvGrpSpPr>
                    <p:cNvPr id="71" name="Group 70">
                      <a:extLst>
                        <a:ext uri="{FF2B5EF4-FFF2-40B4-BE49-F238E27FC236}">
                          <a16:creationId xmlns:a16="http://schemas.microsoft.com/office/drawing/2014/main" id="{11C370C1-441A-47A2-B86E-25681BA27BC3}"/>
                        </a:ext>
                      </a:extLst>
                    </p:cNvPr>
                    <p:cNvGrpSpPr/>
                    <p:nvPr/>
                  </p:nvGrpSpPr>
                  <p:grpSpPr>
                    <a:xfrm>
                      <a:off x="4371016" y="3031011"/>
                      <a:ext cx="1867560" cy="1901181"/>
                      <a:chOff x="575788" y="4361808"/>
                      <a:chExt cx="624164" cy="624164"/>
                    </a:xfrm>
                  </p:grpSpPr>
                  <p:grpSp>
                    <p:nvGrpSpPr>
                      <p:cNvPr id="73" name="Group 72">
                        <a:extLst>
                          <a:ext uri="{FF2B5EF4-FFF2-40B4-BE49-F238E27FC236}">
                            <a16:creationId xmlns:a16="http://schemas.microsoft.com/office/drawing/2014/main" id="{06B61AB6-BC80-404F-A04E-4313AAB97611}"/>
                          </a:ext>
                        </a:extLst>
                      </p:cNvPr>
                      <p:cNvGrpSpPr/>
                      <p:nvPr/>
                    </p:nvGrpSpPr>
                    <p:grpSpPr>
                      <a:xfrm>
                        <a:off x="575788" y="4361808"/>
                        <a:ext cx="624164" cy="624164"/>
                        <a:chOff x="4492144" y="190843"/>
                        <a:chExt cx="855656" cy="855656"/>
                      </a:xfrm>
                    </p:grpSpPr>
                    <p:sp>
                      <p:nvSpPr>
                        <p:cNvPr id="75" name="Oval 74">
                          <a:extLst>
                            <a:ext uri="{FF2B5EF4-FFF2-40B4-BE49-F238E27FC236}">
                              <a16:creationId xmlns:a16="http://schemas.microsoft.com/office/drawing/2014/main" id="{CA239265-8B9A-4868-A8E6-BA9C495C1C3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6" name="Oval 75">
                          <a:extLst>
                            <a:ext uri="{FF2B5EF4-FFF2-40B4-BE49-F238E27FC236}">
                              <a16:creationId xmlns:a16="http://schemas.microsoft.com/office/drawing/2014/main" id="{DBE224B6-51BE-4AA9-BC0D-C061C3E66497}"/>
                            </a:ext>
                          </a:extLst>
                        </p:cNvPr>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74" name="Picture 73">
                        <a:extLst>
                          <a:ext uri="{FF2B5EF4-FFF2-40B4-BE49-F238E27FC236}">
                            <a16:creationId xmlns:a16="http://schemas.microsoft.com/office/drawing/2014/main" id="{3B2092F5-F22B-41A9-8CF2-F3815510B037}"/>
                          </a:ext>
                        </a:extLst>
                      </p:cNvPr>
                      <p:cNvPicPr>
                        <a:picLocks noChangeAspect="1"/>
                      </p:cNvPicPr>
                      <p:nvPr/>
                    </p:nvPicPr>
                    <p:blipFill>
                      <a:blip r:embed="rId3"/>
                      <a:stretch>
                        <a:fillRect/>
                      </a:stretch>
                    </p:blipFill>
                    <p:spPr>
                      <a:xfrm>
                        <a:off x="718607" y="4514537"/>
                        <a:ext cx="328080" cy="318706"/>
                      </a:xfrm>
                      <a:prstGeom prst="rect">
                        <a:avLst/>
                      </a:prstGeom>
                    </p:spPr>
                  </p:pic>
                </p:grpSp>
                <p:sp>
                  <p:nvSpPr>
                    <p:cNvPr id="72" name="TextBox 71">
                      <a:extLst>
                        <a:ext uri="{FF2B5EF4-FFF2-40B4-BE49-F238E27FC236}">
                          <a16:creationId xmlns:a16="http://schemas.microsoft.com/office/drawing/2014/main" id="{8F63F4D7-648F-4D3C-B77E-4C5DED2A51EC}"/>
                        </a:ext>
                      </a:extLst>
                    </p:cNvPr>
                    <p:cNvSpPr txBox="1"/>
                    <p:nvPr/>
                  </p:nvSpPr>
                  <p:spPr>
                    <a:xfrm>
                      <a:off x="7558856" y="5218301"/>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Reporting Capabilities</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sp>
            <p:nvSpPr>
              <p:cNvPr id="62" name="TextBox 61">
                <a:extLst>
                  <a:ext uri="{FF2B5EF4-FFF2-40B4-BE49-F238E27FC236}">
                    <a16:creationId xmlns:a16="http://schemas.microsoft.com/office/drawing/2014/main" id="{2197A726-95F4-4D27-904E-698AD49567FA}"/>
                  </a:ext>
                </a:extLst>
              </p:cNvPr>
              <p:cNvSpPr txBox="1"/>
              <p:nvPr/>
            </p:nvSpPr>
            <p:spPr>
              <a:xfrm>
                <a:off x="7616262" y="4511768"/>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Market P&amp;L</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63" name="Straight Connector 62">
                <a:extLst>
                  <a:ext uri="{FF2B5EF4-FFF2-40B4-BE49-F238E27FC236}">
                    <a16:creationId xmlns:a16="http://schemas.microsoft.com/office/drawing/2014/main" id="{D1F8F1AA-9119-4F66-A8A3-058B9BD85110}"/>
                  </a:ext>
                </a:extLst>
              </p:cNvPr>
              <p:cNvCxnSpPr>
                <a:cxnSpLocks/>
              </p:cNvCxnSpPr>
              <p:nvPr/>
            </p:nvCxnSpPr>
            <p:spPr>
              <a:xfrm>
                <a:off x="6810376" y="4066427"/>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66F24422-9E7B-470E-8938-990FE68F6E00}"/>
                  </a:ext>
                </a:extLst>
              </p:cNvPr>
              <p:cNvSpPr txBox="1"/>
              <p:nvPr/>
            </p:nvSpPr>
            <p:spPr>
              <a:xfrm>
                <a:off x="7590041" y="3107175"/>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 </a:t>
                </a:r>
                <a:r>
                  <a:rPr kumimoji="0" lang="en-GB" sz="1800" b="1" i="0" u="none" strike="noStrike" kern="1200" cap="none" spc="0" normalizeH="0" baseline="0" noProof="0" err="1">
                    <a:ln>
                      <a:noFill/>
                    </a:ln>
                    <a:solidFill>
                      <a:srgbClr val="FFFFFF"/>
                    </a:solidFill>
                    <a:effectLst/>
                    <a:uLnTx/>
                    <a:uFillTx/>
                    <a:latin typeface="Arial" panose="020B0604020202020204"/>
                    <a:ea typeface="+mn-ea"/>
                    <a:cs typeface="+mn-cs"/>
                  </a:rPr>
                  <a:t>Center</a:t>
                </a: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 Reorganization</a:t>
                </a:r>
              </a:p>
            </p:txBody>
          </p:sp>
          <p:sp>
            <p:nvSpPr>
              <p:cNvPr id="65" name="TextBox 64">
                <a:extLst>
                  <a:ext uri="{FF2B5EF4-FFF2-40B4-BE49-F238E27FC236}">
                    <a16:creationId xmlns:a16="http://schemas.microsoft.com/office/drawing/2014/main" id="{8C405B0C-4585-4A3E-993E-C5D5D786ADC9}"/>
                  </a:ext>
                </a:extLst>
              </p:cNvPr>
              <p:cNvSpPr txBox="1"/>
              <p:nvPr/>
            </p:nvSpPr>
            <p:spPr>
              <a:xfrm>
                <a:off x="7599186" y="383682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Standardization of Dimensions</a:t>
                </a:r>
              </a:p>
            </p:txBody>
          </p:sp>
        </p:grpSp>
      </p:grpSp>
    </p:spTree>
    <p:extLst>
      <p:ext uri="{BB962C8B-B14F-4D97-AF65-F5344CB8AC3E}">
        <p14:creationId xmlns:p14="http://schemas.microsoft.com/office/powerpoint/2010/main" val="3288145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90B88-6DBC-47A8-95F9-C5AE84091738}"/>
              </a:ext>
            </a:extLst>
          </p:cNvPr>
          <p:cNvSpPr>
            <a:spLocks noGrp="1"/>
          </p:cNvSpPr>
          <p:nvPr>
            <p:ph type="title"/>
          </p:nvPr>
        </p:nvSpPr>
        <p:spPr/>
        <p:txBody>
          <a:bodyPr/>
          <a:lstStyle/>
          <a:p>
            <a:r>
              <a:rPr lang="en-GB"/>
              <a:t>Profitability Analysis – Derivation</a:t>
            </a:r>
            <a:endParaRPr lang="en-US"/>
          </a:p>
        </p:txBody>
      </p:sp>
      <p:sp>
        <p:nvSpPr>
          <p:cNvPr id="4" name="Footer Placeholder 3">
            <a:extLst>
              <a:ext uri="{FF2B5EF4-FFF2-40B4-BE49-F238E27FC236}">
                <a16:creationId xmlns:a16="http://schemas.microsoft.com/office/drawing/2014/main" id="{AB8303A8-2BF4-4D8F-A5EF-CF8890F98B38}"/>
              </a:ext>
            </a:extLst>
          </p:cNvPr>
          <p:cNvSpPr>
            <a:spLocks noGrp="1"/>
          </p:cNvSpPr>
          <p:nvPr>
            <p:ph type="ftr" sz="quarter" idx="11"/>
          </p:nvPr>
        </p:nvSpPr>
        <p:spPr>
          <a:xfrm>
            <a:off x="7077073" y="6423251"/>
            <a:ext cx="420172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CCADAAB9-EF1A-4990-AA5D-A4D53D849657}"/>
              </a:ext>
            </a:extLst>
          </p:cNvPr>
          <p:cNvSpPr>
            <a:spLocks noGrp="1"/>
          </p:cNvSpPr>
          <p:nvPr>
            <p:ph type="sldNum" sz="quarter" idx="12"/>
          </p:nvPr>
        </p:nvSpPr>
        <p:spPr>
          <a:xfrm>
            <a:off x="11278800" y="642325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6" name="Table 5">
            <a:extLst>
              <a:ext uri="{FF2B5EF4-FFF2-40B4-BE49-F238E27FC236}">
                <a16:creationId xmlns:a16="http://schemas.microsoft.com/office/drawing/2014/main" id="{BC87F4B2-8AF5-445A-BDE6-642812BCB783}"/>
              </a:ext>
            </a:extLst>
          </p:cNvPr>
          <p:cNvGraphicFramePr>
            <a:graphicFrameLocks noGrp="1"/>
          </p:cNvGraphicFramePr>
          <p:nvPr/>
        </p:nvGraphicFramePr>
        <p:xfrm>
          <a:off x="677181" y="3027947"/>
          <a:ext cx="2854295" cy="3154680"/>
        </p:xfrm>
        <a:graphic>
          <a:graphicData uri="http://schemas.openxmlformats.org/drawingml/2006/table">
            <a:tbl>
              <a:tblPr firstRow="1" bandRow="1">
                <a:tableStyleId>{5940675A-B579-460E-94D1-54222C63F5DA}</a:tableStyleId>
              </a:tblPr>
              <a:tblGrid>
                <a:gridCol w="2053379">
                  <a:extLst>
                    <a:ext uri="{9D8B030D-6E8A-4147-A177-3AD203B41FA5}">
                      <a16:colId xmlns:a16="http://schemas.microsoft.com/office/drawing/2014/main" val="2528711831"/>
                    </a:ext>
                  </a:extLst>
                </a:gridCol>
                <a:gridCol w="800916">
                  <a:extLst>
                    <a:ext uri="{9D8B030D-6E8A-4147-A177-3AD203B41FA5}">
                      <a16:colId xmlns:a16="http://schemas.microsoft.com/office/drawing/2014/main" val="377174828"/>
                    </a:ext>
                  </a:extLst>
                </a:gridCol>
              </a:tblGrid>
              <a:tr h="347818">
                <a:tc>
                  <a:txBody>
                    <a:bodyPr/>
                    <a:lstStyle/>
                    <a:p>
                      <a:r>
                        <a:rPr lang="en-GB" sz="1700"/>
                        <a:t>Brand Family</a:t>
                      </a:r>
                      <a:endParaRPr lang="en-US" sz="1700"/>
                    </a:p>
                  </a:txBody>
                  <a:tcPr/>
                </a:tc>
                <a:tc>
                  <a:txBody>
                    <a:bodyPr/>
                    <a:lstStyle/>
                    <a:p>
                      <a:endParaRPr lang="en-US" sz="1700"/>
                    </a:p>
                  </a:txBody>
                  <a:tcPr>
                    <a:noFill/>
                  </a:tcPr>
                </a:tc>
                <a:extLst>
                  <a:ext uri="{0D108BD9-81ED-4DB2-BD59-A6C34878D82A}">
                    <a16:rowId xmlns:a16="http://schemas.microsoft.com/office/drawing/2014/main" val="1070326951"/>
                  </a:ext>
                </a:extLst>
              </a:tr>
              <a:tr h="347818">
                <a:tc>
                  <a:txBody>
                    <a:bodyPr/>
                    <a:lstStyle/>
                    <a:p>
                      <a:r>
                        <a:rPr lang="en-GB" sz="1700" kern="1200">
                          <a:solidFill>
                            <a:schemeClr val="tx1"/>
                          </a:solidFill>
                        </a:rPr>
                        <a:t>Product Type</a:t>
                      </a:r>
                      <a:endParaRPr lang="en-US" sz="1700" kern="1200">
                        <a:solidFill>
                          <a:schemeClr val="tx1"/>
                        </a:solidFill>
                        <a:latin typeface="+mn-lt"/>
                        <a:ea typeface="+mn-ea"/>
                        <a:cs typeface="+mn-cs"/>
                      </a:endParaRPr>
                    </a:p>
                  </a:txBody>
                  <a:tcPr/>
                </a:tc>
                <a:tc>
                  <a:txBody>
                    <a:bodyPr/>
                    <a:lstStyle/>
                    <a:p>
                      <a:endParaRPr lang="en-US" sz="1700"/>
                    </a:p>
                  </a:txBody>
                  <a:tcPr>
                    <a:noFill/>
                  </a:tcPr>
                </a:tc>
                <a:extLst>
                  <a:ext uri="{0D108BD9-81ED-4DB2-BD59-A6C34878D82A}">
                    <a16:rowId xmlns:a16="http://schemas.microsoft.com/office/drawing/2014/main" val="2550838982"/>
                  </a:ext>
                </a:extLst>
              </a:tr>
              <a:tr h="347818">
                <a:tc>
                  <a:txBody>
                    <a:bodyPr/>
                    <a:lstStyle/>
                    <a:p>
                      <a:r>
                        <a:rPr lang="en-GB" sz="1700" kern="1200"/>
                        <a:t>GFB Indicator</a:t>
                      </a:r>
                      <a:endParaRPr lang="en-US" sz="1700" kern="1200">
                        <a:solidFill>
                          <a:schemeClr val="dk1"/>
                        </a:solidFill>
                        <a:latin typeface="+mn-lt"/>
                        <a:ea typeface="+mn-ea"/>
                        <a:cs typeface="+mn-cs"/>
                      </a:endParaRPr>
                    </a:p>
                  </a:txBody>
                  <a:tcPr/>
                </a:tc>
                <a:tc>
                  <a:txBody>
                    <a:bodyPr/>
                    <a:lstStyle/>
                    <a:p>
                      <a:endParaRPr lang="en-US" sz="1700"/>
                    </a:p>
                  </a:txBody>
                  <a:tcPr>
                    <a:noFill/>
                  </a:tcPr>
                </a:tc>
                <a:extLst>
                  <a:ext uri="{0D108BD9-81ED-4DB2-BD59-A6C34878D82A}">
                    <a16:rowId xmlns:a16="http://schemas.microsoft.com/office/drawing/2014/main" val="3179077182"/>
                  </a:ext>
                </a:extLst>
              </a:tr>
              <a:tr h="347818">
                <a:tc>
                  <a:txBody>
                    <a:bodyPr/>
                    <a:lstStyle/>
                    <a:p>
                      <a:r>
                        <a:rPr lang="en-GB" sz="1700" kern="1200">
                          <a:solidFill>
                            <a:schemeClr val="dk1"/>
                          </a:solidFill>
                          <a:latin typeface="+mn-lt"/>
                          <a:ea typeface="+mn-ea"/>
                          <a:cs typeface="+mn-cs"/>
                        </a:rPr>
                        <a:t>Customer Group</a:t>
                      </a:r>
                      <a:endParaRPr lang="en-US" sz="1700" kern="1200">
                        <a:solidFill>
                          <a:schemeClr val="dk1"/>
                        </a:solidFill>
                        <a:latin typeface="+mn-lt"/>
                        <a:ea typeface="+mn-ea"/>
                        <a:cs typeface="+mn-cs"/>
                      </a:endParaRPr>
                    </a:p>
                  </a:txBody>
                  <a:tcPr/>
                </a:tc>
                <a:tc>
                  <a:txBody>
                    <a:bodyPr/>
                    <a:lstStyle/>
                    <a:p>
                      <a:endParaRPr lang="en-US" sz="1700"/>
                    </a:p>
                  </a:txBody>
                  <a:tcPr>
                    <a:noFill/>
                  </a:tcPr>
                </a:tc>
                <a:extLst>
                  <a:ext uri="{0D108BD9-81ED-4DB2-BD59-A6C34878D82A}">
                    <a16:rowId xmlns:a16="http://schemas.microsoft.com/office/drawing/2014/main" val="1956115060"/>
                  </a:ext>
                </a:extLst>
              </a:tr>
              <a:tr h="347818">
                <a:tc>
                  <a:txBody>
                    <a:bodyPr/>
                    <a:lstStyle/>
                    <a:p>
                      <a:r>
                        <a:rPr lang="en-GB" sz="1700" kern="1200"/>
                        <a:t>Sales District</a:t>
                      </a:r>
                      <a:endParaRPr lang="en-US" sz="1700" kern="1200">
                        <a:solidFill>
                          <a:schemeClr val="dk1"/>
                        </a:solidFill>
                        <a:latin typeface="+mn-lt"/>
                        <a:ea typeface="+mn-ea"/>
                        <a:cs typeface="+mn-cs"/>
                      </a:endParaRPr>
                    </a:p>
                  </a:txBody>
                  <a:tcPr/>
                </a:tc>
                <a:tc>
                  <a:txBody>
                    <a:bodyPr/>
                    <a:lstStyle/>
                    <a:p>
                      <a:endParaRPr lang="en-US" sz="1700"/>
                    </a:p>
                  </a:txBody>
                  <a:tcPr>
                    <a:noFill/>
                  </a:tcPr>
                </a:tc>
                <a:extLst>
                  <a:ext uri="{0D108BD9-81ED-4DB2-BD59-A6C34878D82A}">
                    <a16:rowId xmlns:a16="http://schemas.microsoft.com/office/drawing/2014/main" val="3606402810"/>
                  </a:ext>
                </a:extLst>
              </a:tr>
              <a:tr h="347818">
                <a:tc>
                  <a:txBody>
                    <a:bodyPr/>
                    <a:lstStyle/>
                    <a:p>
                      <a:r>
                        <a:rPr lang="en-GB" sz="1700" kern="1200">
                          <a:solidFill>
                            <a:schemeClr val="dk1"/>
                          </a:solidFill>
                          <a:latin typeface="+mn-lt"/>
                          <a:ea typeface="+mn-ea"/>
                          <a:cs typeface="+mn-cs"/>
                        </a:rPr>
                        <a:t>Trade Channel</a:t>
                      </a:r>
                      <a:endParaRPr lang="en-US" sz="1700" kern="1200">
                        <a:solidFill>
                          <a:schemeClr val="dk1"/>
                        </a:solidFill>
                        <a:latin typeface="+mn-lt"/>
                        <a:ea typeface="+mn-ea"/>
                        <a:cs typeface="+mn-cs"/>
                      </a:endParaRPr>
                    </a:p>
                  </a:txBody>
                  <a:tcPr/>
                </a:tc>
                <a:tc>
                  <a:txBody>
                    <a:bodyPr/>
                    <a:lstStyle/>
                    <a:p>
                      <a:endParaRPr lang="en-US" sz="1700"/>
                    </a:p>
                  </a:txBody>
                  <a:tcPr>
                    <a:noFill/>
                  </a:tcPr>
                </a:tc>
                <a:extLst>
                  <a:ext uri="{0D108BD9-81ED-4DB2-BD59-A6C34878D82A}">
                    <a16:rowId xmlns:a16="http://schemas.microsoft.com/office/drawing/2014/main" val="1832092137"/>
                  </a:ext>
                </a:extLst>
              </a:tr>
              <a:tr h="347818">
                <a:tc>
                  <a:txBody>
                    <a:bodyPr/>
                    <a:lstStyle/>
                    <a:p>
                      <a:r>
                        <a:rPr lang="en-GB" sz="1700" kern="1200">
                          <a:solidFill>
                            <a:schemeClr val="dk1"/>
                          </a:solidFill>
                          <a:latin typeface="+mn-lt"/>
                          <a:ea typeface="+mn-ea"/>
                          <a:cs typeface="+mn-cs"/>
                        </a:rPr>
                        <a:t>Product (material)</a:t>
                      </a:r>
                      <a:endParaRPr lang="en-US" sz="1700" kern="1200">
                        <a:solidFill>
                          <a:schemeClr val="dk1"/>
                        </a:solidFill>
                        <a:latin typeface="+mn-lt"/>
                        <a:ea typeface="+mn-ea"/>
                        <a:cs typeface="+mn-cs"/>
                      </a:endParaRPr>
                    </a:p>
                  </a:txBody>
                  <a:tcPr/>
                </a:tc>
                <a:tc>
                  <a:txBody>
                    <a:bodyPr/>
                    <a:lstStyle/>
                    <a:p>
                      <a:endParaRPr lang="en-US" sz="1700" b="1">
                        <a:solidFill>
                          <a:srgbClr val="00BDB7"/>
                        </a:solidFill>
                      </a:endParaRPr>
                    </a:p>
                  </a:txBody>
                  <a:tcPr>
                    <a:solidFill>
                      <a:schemeClr val="accent2">
                        <a:lumMod val="20000"/>
                        <a:lumOff val="80000"/>
                      </a:schemeClr>
                    </a:solidFill>
                  </a:tcPr>
                </a:tc>
                <a:extLst>
                  <a:ext uri="{0D108BD9-81ED-4DB2-BD59-A6C34878D82A}">
                    <a16:rowId xmlns:a16="http://schemas.microsoft.com/office/drawing/2014/main" val="4055529994"/>
                  </a:ext>
                </a:extLst>
              </a:tr>
              <a:tr h="347818">
                <a:tc>
                  <a:txBody>
                    <a:bodyPr/>
                    <a:lstStyle/>
                    <a:p>
                      <a:r>
                        <a:rPr lang="en-GB" sz="1700" kern="1200">
                          <a:solidFill>
                            <a:schemeClr val="dk1"/>
                          </a:solidFill>
                          <a:latin typeface="+mn-lt"/>
                          <a:ea typeface="+mn-ea"/>
                          <a:cs typeface="+mn-cs"/>
                        </a:rPr>
                        <a:t>Customer</a:t>
                      </a:r>
                      <a:endParaRPr lang="en-US" sz="1700" kern="1200">
                        <a:solidFill>
                          <a:schemeClr val="dk1"/>
                        </a:solidFill>
                        <a:latin typeface="+mn-lt"/>
                        <a:ea typeface="+mn-ea"/>
                        <a:cs typeface="+mn-cs"/>
                      </a:endParaRPr>
                    </a:p>
                  </a:txBody>
                  <a:tcPr/>
                </a:tc>
                <a:tc>
                  <a:txBody>
                    <a:bodyPr/>
                    <a:lstStyle/>
                    <a:p>
                      <a:endParaRPr lang="en-US" sz="1700" b="1">
                        <a:solidFill>
                          <a:schemeClr val="accent4">
                            <a:lumMod val="75000"/>
                          </a:schemeClr>
                        </a:solidFill>
                      </a:endParaRPr>
                    </a:p>
                  </a:txBody>
                  <a:tcPr>
                    <a:solidFill>
                      <a:schemeClr val="accent2">
                        <a:lumMod val="20000"/>
                        <a:lumOff val="80000"/>
                      </a:schemeClr>
                    </a:solidFill>
                  </a:tcPr>
                </a:tc>
                <a:extLst>
                  <a:ext uri="{0D108BD9-81ED-4DB2-BD59-A6C34878D82A}">
                    <a16:rowId xmlns:a16="http://schemas.microsoft.com/office/drawing/2014/main" val="157768899"/>
                  </a:ext>
                </a:extLst>
              </a:tr>
              <a:tr h="347818">
                <a:tc>
                  <a:txBody>
                    <a:bodyPr/>
                    <a:lstStyle/>
                    <a:p>
                      <a:r>
                        <a:rPr lang="en-GB" sz="1700" kern="1200">
                          <a:solidFill>
                            <a:schemeClr val="dk1"/>
                          </a:solidFill>
                          <a:latin typeface="+mn-lt"/>
                          <a:ea typeface="+mn-ea"/>
                          <a:cs typeface="+mn-cs"/>
                        </a:rPr>
                        <a:t>Sales Order Type</a:t>
                      </a:r>
                      <a:endParaRPr lang="en-US" sz="1700" kern="1200">
                        <a:solidFill>
                          <a:schemeClr val="dk1"/>
                        </a:solidFill>
                        <a:latin typeface="+mn-lt"/>
                        <a:ea typeface="+mn-ea"/>
                        <a:cs typeface="+mn-cs"/>
                      </a:endParaRPr>
                    </a:p>
                  </a:txBody>
                  <a:tcPr/>
                </a:tc>
                <a:tc>
                  <a:txBody>
                    <a:bodyPr/>
                    <a:lstStyle/>
                    <a:p>
                      <a:endParaRPr lang="en-US" sz="1700" b="1">
                        <a:solidFill>
                          <a:srgbClr val="EAAA00"/>
                        </a:solidFill>
                      </a:endParaRPr>
                    </a:p>
                  </a:txBody>
                  <a:tcPr>
                    <a:solidFill>
                      <a:schemeClr val="accent2">
                        <a:lumMod val="20000"/>
                        <a:lumOff val="80000"/>
                      </a:schemeClr>
                    </a:solidFill>
                  </a:tcPr>
                </a:tc>
                <a:extLst>
                  <a:ext uri="{0D108BD9-81ED-4DB2-BD59-A6C34878D82A}">
                    <a16:rowId xmlns:a16="http://schemas.microsoft.com/office/drawing/2014/main" val="1057960965"/>
                  </a:ext>
                </a:extLst>
              </a:tr>
            </a:tbl>
          </a:graphicData>
        </a:graphic>
      </p:graphicFrame>
      <p:sp>
        <p:nvSpPr>
          <p:cNvPr id="7" name="TextBox 6">
            <a:extLst>
              <a:ext uri="{FF2B5EF4-FFF2-40B4-BE49-F238E27FC236}">
                <a16:creationId xmlns:a16="http://schemas.microsoft.com/office/drawing/2014/main" id="{044E2F6E-4E0E-4E27-A6C4-144DEE1C0AF3}"/>
              </a:ext>
            </a:extLst>
          </p:cNvPr>
          <p:cNvSpPr txBox="1"/>
          <p:nvPr/>
        </p:nvSpPr>
        <p:spPr>
          <a:xfrm>
            <a:off x="361468" y="2194066"/>
            <a:ext cx="2578038" cy="584775"/>
          </a:xfrm>
          <a:prstGeom prst="rect">
            <a:avLst/>
          </a:prstGeom>
          <a:noFill/>
          <a:scene3d>
            <a:camera prst="isometricOffAxis1Right"/>
            <a:lightRig rig="threePt" dir="t"/>
          </a:scene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a:ln>
                  <a:solidFill>
                    <a:srgbClr val="00BDB7"/>
                  </a:solidFill>
                </a:ln>
                <a:solidFill>
                  <a:srgbClr val="407EC9">
                    <a:lumMod val="50000"/>
                  </a:srgbClr>
                </a:solidFill>
                <a:effectLst/>
                <a:uLnTx/>
                <a:uFillTx/>
                <a:latin typeface="Arial" panose="020B0604020202020204"/>
                <a:ea typeface="+mn-ea"/>
                <a:cs typeface="+mn-cs"/>
              </a:rPr>
              <a:t>INPUT</a:t>
            </a:r>
            <a:endParaRPr kumimoji="0" lang="en-US" sz="3200" b="1" i="0" u="none" strike="noStrike" kern="1200" cap="none" spc="0" normalizeH="0" baseline="0" noProof="0">
              <a:ln>
                <a:solidFill>
                  <a:srgbClr val="00BDB7"/>
                </a:solidFill>
              </a:ln>
              <a:solidFill>
                <a:srgbClr val="407EC9">
                  <a:lumMod val="50000"/>
                </a:srgbClr>
              </a:solidFill>
              <a:effectLst/>
              <a:uLnTx/>
              <a:uFillTx/>
              <a:latin typeface="Arial" panose="020B0604020202020204"/>
              <a:ea typeface="+mn-ea"/>
              <a:cs typeface="+mn-cs"/>
            </a:endParaRPr>
          </a:p>
        </p:txBody>
      </p:sp>
      <p:sp>
        <p:nvSpPr>
          <p:cNvPr id="14" name="Arrow: Right 13">
            <a:extLst>
              <a:ext uri="{FF2B5EF4-FFF2-40B4-BE49-F238E27FC236}">
                <a16:creationId xmlns:a16="http://schemas.microsoft.com/office/drawing/2014/main" id="{FD074AD7-CDEC-4287-8091-5C98DD174046}"/>
              </a:ext>
            </a:extLst>
          </p:cNvPr>
          <p:cNvSpPr/>
          <p:nvPr/>
        </p:nvSpPr>
        <p:spPr>
          <a:xfrm>
            <a:off x="2021536" y="2010613"/>
            <a:ext cx="8298180" cy="568587"/>
          </a:xfrm>
          <a:prstGeom prst="rightArrow">
            <a:avLst>
              <a:gd name="adj1" fmla="val 61986"/>
              <a:gd name="adj2" fmla="val 34987"/>
            </a:avLst>
          </a:prstGeom>
          <a:solidFill>
            <a:schemeClr val="accent6">
              <a:lumMod val="60000"/>
              <a:lumOff val="40000"/>
            </a:schemeClr>
          </a:solidFill>
          <a:ln>
            <a:solidFill>
              <a:schemeClr val="tx1">
                <a:lumMod val="50000"/>
                <a:lumOff val="50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000000"/>
                </a:solidFill>
                <a:effectLst/>
                <a:uLnTx/>
                <a:uFillTx/>
                <a:latin typeface="Arial" panose="020B0604020202020204"/>
                <a:ea typeface="+mn-ea"/>
                <a:cs typeface="+mn-cs"/>
              </a:rPr>
              <a:t>From a few key input objects more dimensions are derived automatically</a:t>
            </a:r>
            <a:endParaRPr kumimoji="0" lang="en-US"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TextBox 15">
            <a:extLst>
              <a:ext uri="{FF2B5EF4-FFF2-40B4-BE49-F238E27FC236}">
                <a16:creationId xmlns:a16="http://schemas.microsoft.com/office/drawing/2014/main" id="{911896C8-DEFD-4DAA-9DEB-E1DB95DF4F1A}"/>
              </a:ext>
            </a:extLst>
          </p:cNvPr>
          <p:cNvSpPr txBox="1"/>
          <p:nvPr/>
        </p:nvSpPr>
        <p:spPr>
          <a:xfrm>
            <a:off x="6650624" y="5669250"/>
            <a:ext cx="1903504" cy="354501"/>
          </a:xfrm>
          <a:prstGeom prst="rect">
            <a:avLst/>
          </a:prstGeom>
          <a:solidFill>
            <a:schemeClr val="bg1"/>
          </a:solidFill>
          <a:scene3d>
            <a:camera prst="isometricOffAxis1Right"/>
            <a:lightRig rig="threePt" dir="t"/>
          </a:scene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solidFill>
                    <a:srgbClr val="00BDB7"/>
                  </a:solidFill>
                </a:ln>
                <a:solidFill>
                  <a:srgbClr val="00BDB7"/>
                </a:solidFill>
                <a:effectLst/>
                <a:uLnTx/>
                <a:uFillTx/>
                <a:latin typeface="Arial" panose="020B0604020202020204"/>
                <a:ea typeface="+mn-ea"/>
                <a:cs typeface="+mn-cs"/>
              </a:rPr>
              <a:t>Trade Channel</a:t>
            </a:r>
            <a:endParaRPr kumimoji="0" lang="en-US" sz="3200" b="0" i="0" u="none" strike="noStrike" kern="1200" cap="none" spc="0" normalizeH="0" baseline="0" noProof="0">
              <a:ln>
                <a:solidFill>
                  <a:srgbClr val="00BDB7"/>
                </a:solidFill>
              </a:ln>
              <a:solidFill>
                <a:srgbClr val="00BDB7"/>
              </a:solidFill>
              <a:effectLst/>
              <a:uLnTx/>
              <a:uFillTx/>
              <a:latin typeface="Arial" panose="020B0604020202020204"/>
              <a:ea typeface="+mn-ea"/>
              <a:cs typeface="+mn-cs"/>
            </a:endParaRPr>
          </a:p>
        </p:txBody>
      </p:sp>
      <p:sp>
        <p:nvSpPr>
          <p:cNvPr id="17" name="TextBox 16">
            <a:extLst>
              <a:ext uri="{FF2B5EF4-FFF2-40B4-BE49-F238E27FC236}">
                <a16:creationId xmlns:a16="http://schemas.microsoft.com/office/drawing/2014/main" id="{9DD86A9C-B395-4D0B-ABF7-87C9A891A27F}"/>
              </a:ext>
            </a:extLst>
          </p:cNvPr>
          <p:cNvSpPr txBox="1"/>
          <p:nvPr/>
        </p:nvSpPr>
        <p:spPr>
          <a:xfrm>
            <a:off x="6636733" y="4948901"/>
            <a:ext cx="1903504" cy="354501"/>
          </a:xfrm>
          <a:prstGeom prst="rect">
            <a:avLst/>
          </a:prstGeom>
          <a:solidFill>
            <a:schemeClr val="bg1"/>
          </a:solidFill>
          <a:scene3d>
            <a:camera prst="isometricOffAxis1Right"/>
            <a:lightRig rig="threePt" dir="t"/>
          </a:scene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solidFill>
                    <a:srgbClr val="00BDB7"/>
                  </a:solidFill>
                </a:ln>
                <a:solidFill>
                  <a:srgbClr val="00BDB7"/>
                </a:solidFill>
                <a:effectLst/>
                <a:uLnTx/>
                <a:uFillTx/>
                <a:latin typeface="Arial" panose="020B0604020202020204"/>
                <a:ea typeface="+mn-ea"/>
                <a:cs typeface="+mn-cs"/>
              </a:rPr>
              <a:t>Sales District</a:t>
            </a:r>
            <a:endParaRPr kumimoji="0" lang="en-US" sz="3200" b="0" i="0" u="none" strike="noStrike" kern="1200" cap="none" spc="0" normalizeH="0" baseline="0" noProof="0">
              <a:ln>
                <a:solidFill>
                  <a:srgbClr val="00BDB7"/>
                </a:solidFill>
              </a:ln>
              <a:solidFill>
                <a:srgbClr val="00BDB7"/>
              </a:solidFill>
              <a:effectLst/>
              <a:uLnTx/>
              <a:uFillTx/>
              <a:latin typeface="Arial" panose="020B0604020202020204"/>
              <a:ea typeface="+mn-ea"/>
              <a:cs typeface="+mn-cs"/>
            </a:endParaRPr>
          </a:p>
        </p:txBody>
      </p:sp>
      <p:sp>
        <p:nvSpPr>
          <p:cNvPr id="18" name="TextBox 17">
            <a:extLst>
              <a:ext uri="{FF2B5EF4-FFF2-40B4-BE49-F238E27FC236}">
                <a16:creationId xmlns:a16="http://schemas.microsoft.com/office/drawing/2014/main" id="{2BEC14C7-0E71-4144-990C-A98547B255B0}"/>
              </a:ext>
            </a:extLst>
          </p:cNvPr>
          <p:cNvSpPr txBox="1"/>
          <p:nvPr/>
        </p:nvSpPr>
        <p:spPr>
          <a:xfrm>
            <a:off x="6642443" y="4419545"/>
            <a:ext cx="1903504" cy="354501"/>
          </a:xfrm>
          <a:prstGeom prst="rect">
            <a:avLst/>
          </a:prstGeom>
          <a:solidFill>
            <a:schemeClr val="bg1"/>
          </a:solidFill>
          <a:scene3d>
            <a:camera prst="isometricOffAxis1Right"/>
            <a:lightRig rig="threePt" dir="t"/>
          </a:scene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solidFill>
                    <a:srgbClr val="00BDB7"/>
                  </a:solidFill>
                </a:ln>
                <a:solidFill>
                  <a:srgbClr val="00BDB7"/>
                </a:solidFill>
                <a:effectLst/>
                <a:uLnTx/>
                <a:uFillTx/>
                <a:latin typeface="Arial" panose="020B0604020202020204"/>
                <a:ea typeface="+mn-ea"/>
                <a:cs typeface="+mn-cs"/>
              </a:rPr>
              <a:t>Customer Group</a:t>
            </a:r>
            <a:endParaRPr kumimoji="0" lang="en-US" sz="3200" b="0" i="0" u="none" strike="noStrike" kern="1200" cap="none" spc="0" normalizeH="0" baseline="0" noProof="0">
              <a:ln>
                <a:solidFill>
                  <a:srgbClr val="00BDB7"/>
                </a:solidFill>
              </a:ln>
              <a:solidFill>
                <a:srgbClr val="00BDB7"/>
              </a:solidFill>
              <a:effectLst/>
              <a:uLnTx/>
              <a:uFillTx/>
              <a:latin typeface="Arial" panose="020B0604020202020204"/>
              <a:ea typeface="+mn-ea"/>
              <a:cs typeface="+mn-cs"/>
            </a:endParaRPr>
          </a:p>
        </p:txBody>
      </p:sp>
      <p:sp>
        <p:nvSpPr>
          <p:cNvPr id="19" name="TextBox 18">
            <a:extLst>
              <a:ext uri="{FF2B5EF4-FFF2-40B4-BE49-F238E27FC236}">
                <a16:creationId xmlns:a16="http://schemas.microsoft.com/office/drawing/2014/main" id="{467D6D07-9B87-4F82-86D8-21A03A333A0A}"/>
              </a:ext>
            </a:extLst>
          </p:cNvPr>
          <p:cNvSpPr txBox="1"/>
          <p:nvPr/>
        </p:nvSpPr>
        <p:spPr>
          <a:xfrm>
            <a:off x="6650624" y="3760988"/>
            <a:ext cx="2171645" cy="354501"/>
          </a:xfrm>
          <a:prstGeom prst="rect">
            <a:avLst/>
          </a:prstGeom>
          <a:solidFill>
            <a:schemeClr val="bg1"/>
          </a:solidFill>
          <a:scene3d>
            <a:camera prst="isometricOffAxis1Right"/>
            <a:lightRig rig="threePt" dir="t"/>
          </a:scene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solidFill>
                    <a:srgbClr val="00BDB7"/>
                  </a:solidFill>
                </a:ln>
                <a:solidFill>
                  <a:srgbClr val="00BDB7"/>
                </a:solidFill>
                <a:effectLst/>
                <a:uLnTx/>
                <a:uFillTx/>
                <a:latin typeface="Arial" panose="020B0604020202020204"/>
                <a:ea typeface="+mn-ea"/>
                <a:cs typeface="+mn-cs"/>
              </a:rPr>
              <a:t>GFB Indicator</a:t>
            </a:r>
            <a:endParaRPr kumimoji="0" lang="en-US" sz="3200" b="0" i="0" u="none" strike="noStrike" kern="1200" cap="none" spc="0" normalizeH="0" baseline="0" noProof="0">
              <a:ln>
                <a:solidFill>
                  <a:srgbClr val="00BDB7"/>
                </a:solidFill>
              </a:ln>
              <a:solidFill>
                <a:srgbClr val="00BDB7"/>
              </a:solidFill>
              <a:effectLst/>
              <a:uLnTx/>
              <a:uFillTx/>
              <a:latin typeface="Arial" panose="020B0604020202020204"/>
              <a:ea typeface="+mn-ea"/>
              <a:cs typeface="+mn-cs"/>
            </a:endParaRPr>
          </a:p>
        </p:txBody>
      </p:sp>
      <p:sp>
        <p:nvSpPr>
          <p:cNvPr id="20" name="TextBox 19">
            <a:extLst>
              <a:ext uri="{FF2B5EF4-FFF2-40B4-BE49-F238E27FC236}">
                <a16:creationId xmlns:a16="http://schemas.microsoft.com/office/drawing/2014/main" id="{DD854DA9-C23D-4F86-B747-648831BF4C00}"/>
              </a:ext>
            </a:extLst>
          </p:cNvPr>
          <p:cNvSpPr txBox="1"/>
          <p:nvPr/>
        </p:nvSpPr>
        <p:spPr>
          <a:xfrm>
            <a:off x="6650624" y="3194325"/>
            <a:ext cx="2171645" cy="369332"/>
          </a:xfrm>
          <a:prstGeom prst="rect">
            <a:avLst/>
          </a:prstGeom>
          <a:solidFill>
            <a:schemeClr val="bg1"/>
          </a:solidFill>
          <a:scene3d>
            <a:camera prst="isometricOffAxis1Right"/>
            <a:lightRig rig="threePt" dir="t"/>
          </a:scene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solidFill>
                    <a:srgbClr val="00BDB7"/>
                  </a:solidFill>
                </a:ln>
                <a:solidFill>
                  <a:srgbClr val="00BDB7"/>
                </a:solidFill>
                <a:effectLst/>
                <a:uLnTx/>
                <a:uFillTx/>
                <a:latin typeface="Arial" panose="020B0604020202020204"/>
                <a:ea typeface="+mn-ea"/>
                <a:cs typeface="+mn-cs"/>
              </a:rPr>
              <a:t>Product Type</a:t>
            </a:r>
          </a:p>
        </p:txBody>
      </p:sp>
      <p:sp>
        <p:nvSpPr>
          <p:cNvPr id="21" name="TextBox 20">
            <a:extLst>
              <a:ext uri="{FF2B5EF4-FFF2-40B4-BE49-F238E27FC236}">
                <a16:creationId xmlns:a16="http://schemas.microsoft.com/office/drawing/2014/main" id="{5B4AC7D6-CFFA-402B-A35C-CD8519A53882}"/>
              </a:ext>
            </a:extLst>
          </p:cNvPr>
          <p:cNvSpPr txBox="1"/>
          <p:nvPr/>
        </p:nvSpPr>
        <p:spPr>
          <a:xfrm>
            <a:off x="6650624" y="2623043"/>
            <a:ext cx="1668068" cy="369332"/>
          </a:xfrm>
          <a:prstGeom prst="rect">
            <a:avLst/>
          </a:prstGeom>
          <a:solidFill>
            <a:schemeClr val="bg1"/>
          </a:solidFill>
          <a:scene3d>
            <a:camera prst="isometricOffAxis1Right"/>
            <a:lightRig rig="threePt" dir="t"/>
          </a:scene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solidFill>
                    <a:srgbClr val="00BDB7"/>
                  </a:solidFill>
                </a:ln>
                <a:solidFill>
                  <a:srgbClr val="00BDB7"/>
                </a:solidFill>
                <a:effectLst/>
                <a:uLnTx/>
                <a:uFillTx/>
                <a:latin typeface="Arial" panose="020B0604020202020204"/>
                <a:ea typeface="+mn-ea"/>
                <a:cs typeface="+mn-cs"/>
              </a:rPr>
              <a:t>Brand Family</a:t>
            </a:r>
            <a:endParaRPr kumimoji="0" lang="en-US" sz="3200" b="0" i="0" u="none" strike="noStrike" kern="1200" cap="none" spc="0" normalizeH="0" baseline="0" noProof="0">
              <a:ln>
                <a:solidFill>
                  <a:srgbClr val="00BDB7"/>
                </a:solidFill>
              </a:ln>
              <a:solidFill>
                <a:srgbClr val="00BDB7"/>
              </a:solidFill>
              <a:effectLst/>
              <a:uLnTx/>
              <a:uFillTx/>
              <a:latin typeface="Arial" panose="020B0604020202020204"/>
              <a:ea typeface="+mn-ea"/>
              <a:cs typeface="+mn-cs"/>
            </a:endParaRPr>
          </a:p>
        </p:txBody>
      </p:sp>
      <p:sp>
        <p:nvSpPr>
          <p:cNvPr id="22" name="Hexagon 21">
            <a:extLst>
              <a:ext uri="{FF2B5EF4-FFF2-40B4-BE49-F238E27FC236}">
                <a16:creationId xmlns:a16="http://schemas.microsoft.com/office/drawing/2014/main" id="{874C0AF9-04D6-49D8-BD19-3F8CDDFD13C5}"/>
              </a:ext>
            </a:extLst>
          </p:cNvPr>
          <p:cNvSpPr/>
          <p:nvPr/>
        </p:nvSpPr>
        <p:spPr>
          <a:xfrm>
            <a:off x="6244233" y="2769066"/>
            <a:ext cx="555226" cy="494965"/>
          </a:xfrm>
          <a:prstGeom prst="hexagon">
            <a:avLst/>
          </a:prstGeom>
          <a:solidFill>
            <a:srgbClr val="00BDB7"/>
          </a:solidFill>
          <a:ln>
            <a:noFill/>
          </a:ln>
          <a:effectLst>
            <a:outerShdw blurRad="50800" dist="38100" dir="16200000" rotWithShape="0">
              <a:prstClr val="black">
                <a:alpha val="40000"/>
              </a:prstClr>
            </a:outerShdw>
          </a:effectLst>
          <a:scene3d>
            <a:camera prst="orthographicFront"/>
            <a:lightRig rig="threePt" dir="t"/>
          </a:scene3d>
          <a:sp3d>
            <a:bevelT w="139700" prst="cross"/>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rial" panose="020B0604020202020204"/>
                <a:ea typeface="+mn-ea"/>
                <a:cs typeface="+mn-cs"/>
              </a:rPr>
              <a:t>BF</a:t>
            </a:r>
            <a:endParaRPr kumimoji="0" lang="en-U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Hexagon 22">
            <a:extLst>
              <a:ext uri="{FF2B5EF4-FFF2-40B4-BE49-F238E27FC236}">
                <a16:creationId xmlns:a16="http://schemas.microsoft.com/office/drawing/2014/main" id="{988585D4-354E-4570-8B84-F188D070C063}"/>
              </a:ext>
            </a:extLst>
          </p:cNvPr>
          <p:cNvSpPr/>
          <p:nvPr/>
        </p:nvSpPr>
        <p:spPr>
          <a:xfrm>
            <a:off x="6248149" y="3343092"/>
            <a:ext cx="555226" cy="494965"/>
          </a:xfrm>
          <a:prstGeom prst="hexagon">
            <a:avLst/>
          </a:prstGeom>
          <a:solidFill>
            <a:srgbClr val="00BDB7"/>
          </a:solidFill>
          <a:ln>
            <a:noFill/>
          </a:ln>
          <a:effectLst>
            <a:outerShdw blurRad="50800" dist="38100" dir="16200000" rotWithShape="0">
              <a:prstClr val="black">
                <a:alpha val="40000"/>
              </a:prstClr>
            </a:outerShdw>
          </a:effectLst>
          <a:scene3d>
            <a:camera prst="orthographicFront"/>
            <a:lightRig rig="threePt" dir="t"/>
          </a:scene3d>
          <a:sp3d>
            <a:bevelT w="139700" prst="cross"/>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FFFFFF"/>
                </a:solidFill>
                <a:effectLst/>
                <a:uLnTx/>
                <a:uFillTx/>
                <a:latin typeface="Arial" panose="020B0604020202020204"/>
                <a:ea typeface="+mn-ea"/>
                <a:cs typeface="+mn-cs"/>
              </a:rPr>
              <a:t>PSG</a:t>
            </a:r>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Hexagon 23">
            <a:extLst>
              <a:ext uri="{FF2B5EF4-FFF2-40B4-BE49-F238E27FC236}">
                <a16:creationId xmlns:a16="http://schemas.microsoft.com/office/drawing/2014/main" id="{9CAB714D-6DE1-45C5-B7D3-13B0B29ED48F}"/>
              </a:ext>
            </a:extLst>
          </p:cNvPr>
          <p:cNvSpPr/>
          <p:nvPr/>
        </p:nvSpPr>
        <p:spPr>
          <a:xfrm>
            <a:off x="6244232" y="3917118"/>
            <a:ext cx="555226" cy="494965"/>
          </a:xfrm>
          <a:prstGeom prst="hexagon">
            <a:avLst/>
          </a:prstGeom>
          <a:solidFill>
            <a:srgbClr val="00BDB7"/>
          </a:solidFill>
          <a:ln>
            <a:noFill/>
          </a:ln>
          <a:effectLst>
            <a:outerShdw blurRad="50800" dist="38100" dir="16200000" rotWithShape="0">
              <a:prstClr val="black">
                <a:alpha val="40000"/>
              </a:prstClr>
            </a:outerShdw>
          </a:effectLst>
          <a:scene3d>
            <a:camera prst="orthographicFront"/>
            <a:lightRig rig="threePt" dir="t"/>
          </a:scene3d>
          <a:sp3d>
            <a:bevelT w="139700" prst="cross"/>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700" b="0" i="0" u="none" strike="noStrike" kern="1200" cap="none" spc="0" normalizeH="0" baseline="0" noProof="0">
                <a:ln>
                  <a:noFill/>
                </a:ln>
                <a:solidFill>
                  <a:srgbClr val="FFFFFF"/>
                </a:solidFill>
                <a:effectLst/>
                <a:uLnTx/>
                <a:uFillTx/>
                <a:latin typeface="Arial" panose="020B0604020202020204"/>
                <a:ea typeface="+mn-ea"/>
                <a:cs typeface="+mn-cs"/>
              </a:rPr>
              <a:t>GFB</a:t>
            </a:r>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Hexagon 24">
            <a:extLst>
              <a:ext uri="{FF2B5EF4-FFF2-40B4-BE49-F238E27FC236}">
                <a16:creationId xmlns:a16="http://schemas.microsoft.com/office/drawing/2014/main" id="{29C29A1F-7188-435B-A433-F61A7AC3C9E8}"/>
              </a:ext>
            </a:extLst>
          </p:cNvPr>
          <p:cNvSpPr/>
          <p:nvPr/>
        </p:nvSpPr>
        <p:spPr>
          <a:xfrm>
            <a:off x="6244231" y="4528814"/>
            <a:ext cx="555226" cy="494965"/>
          </a:xfrm>
          <a:prstGeom prst="hexagon">
            <a:avLst/>
          </a:prstGeom>
          <a:solidFill>
            <a:srgbClr val="00BDB7"/>
          </a:solidFill>
          <a:ln>
            <a:noFill/>
          </a:ln>
          <a:effectLst>
            <a:outerShdw blurRad="50800" dist="38100" dir="16200000" rotWithShape="0">
              <a:prstClr val="black">
                <a:alpha val="40000"/>
              </a:prstClr>
            </a:outerShdw>
          </a:effectLst>
          <a:scene3d>
            <a:camera prst="orthographicFront"/>
            <a:lightRig rig="threePt" dir="t"/>
          </a:scene3d>
          <a:sp3d>
            <a:bevelT w="139700" prst="cross"/>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FFFFFF"/>
                </a:solidFill>
                <a:effectLst/>
                <a:uLnTx/>
                <a:uFillTx/>
                <a:latin typeface="Arial" panose="020B0604020202020204"/>
                <a:ea typeface="+mn-ea"/>
                <a:cs typeface="+mn-cs"/>
              </a:rPr>
              <a:t>CG</a:t>
            </a:r>
            <a:endParaRPr kumimoji="0" lang="en-US" sz="10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Hexagon 25">
            <a:extLst>
              <a:ext uri="{FF2B5EF4-FFF2-40B4-BE49-F238E27FC236}">
                <a16:creationId xmlns:a16="http://schemas.microsoft.com/office/drawing/2014/main" id="{7AA97FEE-9775-4ECF-BBB1-BAE1DBEA7566}"/>
              </a:ext>
            </a:extLst>
          </p:cNvPr>
          <p:cNvSpPr/>
          <p:nvPr/>
        </p:nvSpPr>
        <p:spPr>
          <a:xfrm>
            <a:off x="6244231" y="5174575"/>
            <a:ext cx="555226" cy="494965"/>
          </a:xfrm>
          <a:prstGeom prst="hexagon">
            <a:avLst/>
          </a:prstGeom>
          <a:solidFill>
            <a:srgbClr val="00BDB7"/>
          </a:solidFill>
          <a:ln>
            <a:noFill/>
          </a:ln>
          <a:effectLst>
            <a:outerShdw blurRad="50800" dist="38100" dir="16200000" rotWithShape="0">
              <a:prstClr val="black">
                <a:alpha val="40000"/>
              </a:prstClr>
            </a:outerShdw>
          </a:effectLst>
          <a:scene3d>
            <a:camera prst="orthographicFront"/>
            <a:lightRig rig="threePt" dir="t"/>
          </a:scene3d>
          <a:sp3d>
            <a:bevelT w="139700" prst="cross"/>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rial" panose="020B0604020202020204"/>
                <a:ea typeface="+mn-ea"/>
                <a:cs typeface="+mn-cs"/>
              </a:rPr>
              <a:t>SD</a:t>
            </a: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Hexagon 26">
            <a:extLst>
              <a:ext uri="{FF2B5EF4-FFF2-40B4-BE49-F238E27FC236}">
                <a16:creationId xmlns:a16="http://schemas.microsoft.com/office/drawing/2014/main" id="{0A79AE8B-D0F9-4D1A-853A-D4F5178BAC3C}"/>
              </a:ext>
            </a:extLst>
          </p:cNvPr>
          <p:cNvSpPr/>
          <p:nvPr/>
        </p:nvSpPr>
        <p:spPr>
          <a:xfrm>
            <a:off x="6250801" y="5826651"/>
            <a:ext cx="555226" cy="494965"/>
          </a:xfrm>
          <a:prstGeom prst="hexagon">
            <a:avLst/>
          </a:prstGeom>
          <a:solidFill>
            <a:srgbClr val="00BDB7"/>
          </a:solidFill>
          <a:ln>
            <a:noFill/>
          </a:ln>
          <a:effectLst>
            <a:outerShdw blurRad="50800" dist="38100" dir="16200000" rotWithShape="0">
              <a:prstClr val="black">
                <a:alpha val="40000"/>
              </a:prstClr>
            </a:outerShdw>
          </a:effectLst>
          <a:scene3d>
            <a:camera prst="orthographicFront"/>
            <a:lightRig rig="threePt" dir="t"/>
          </a:scene3d>
          <a:sp3d>
            <a:bevelT w="139700" prst="cross"/>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rial" panose="020B0604020202020204"/>
                <a:ea typeface="+mn-ea"/>
                <a:cs typeface="+mn-cs"/>
              </a:rPr>
              <a:t>TC</a:t>
            </a:r>
            <a:endParaRPr kumimoji="0" lang="en-US"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aphicFrame>
        <p:nvGraphicFramePr>
          <p:cNvPr id="28" name="Table 27">
            <a:extLst>
              <a:ext uri="{FF2B5EF4-FFF2-40B4-BE49-F238E27FC236}">
                <a16:creationId xmlns:a16="http://schemas.microsoft.com/office/drawing/2014/main" id="{39006810-D86F-43C4-8C56-746327EE93CD}"/>
              </a:ext>
            </a:extLst>
          </p:cNvPr>
          <p:cNvGraphicFramePr>
            <a:graphicFrameLocks noGrp="1"/>
          </p:cNvGraphicFramePr>
          <p:nvPr/>
        </p:nvGraphicFramePr>
        <p:xfrm>
          <a:off x="8787526" y="3028932"/>
          <a:ext cx="2804461" cy="3154680"/>
        </p:xfrm>
        <a:graphic>
          <a:graphicData uri="http://schemas.openxmlformats.org/drawingml/2006/table">
            <a:tbl>
              <a:tblPr firstRow="1" bandRow="1">
                <a:tableStyleId>{5940675A-B579-460E-94D1-54222C63F5DA}</a:tableStyleId>
              </a:tblPr>
              <a:tblGrid>
                <a:gridCol w="1978296">
                  <a:extLst>
                    <a:ext uri="{9D8B030D-6E8A-4147-A177-3AD203B41FA5}">
                      <a16:colId xmlns:a16="http://schemas.microsoft.com/office/drawing/2014/main" val="2528711831"/>
                    </a:ext>
                  </a:extLst>
                </a:gridCol>
                <a:gridCol w="826165">
                  <a:extLst>
                    <a:ext uri="{9D8B030D-6E8A-4147-A177-3AD203B41FA5}">
                      <a16:colId xmlns:a16="http://schemas.microsoft.com/office/drawing/2014/main" val="377174828"/>
                    </a:ext>
                  </a:extLst>
                </a:gridCol>
              </a:tblGrid>
              <a:tr h="206145">
                <a:tc>
                  <a:txBody>
                    <a:bodyPr/>
                    <a:lstStyle/>
                    <a:p>
                      <a:r>
                        <a:rPr lang="en-GB" sz="1700"/>
                        <a:t>Brand Family</a:t>
                      </a:r>
                      <a:endParaRPr lang="en-US" sz="1700"/>
                    </a:p>
                  </a:txBody>
                  <a:tcPr/>
                </a:tc>
                <a:tc>
                  <a:txBody>
                    <a:bodyPr/>
                    <a:lstStyle/>
                    <a:p>
                      <a:endParaRPr lang="en-US" sz="1700" b="1">
                        <a:solidFill>
                          <a:srgbClr val="00BDB7"/>
                        </a:solidFill>
                      </a:endParaRPr>
                    </a:p>
                  </a:txBody>
                  <a:tcPr>
                    <a:noFill/>
                  </a:tcPr>
                </a:tc>
                <a:extLst>
                  <a:ext uri="{0D108BD9-81ED-4DB2-BD59-A6C34878D82A}">
                    <a16:rowId xmlns:a16="http://schemas.microsoft.com/office/drawing/2014/main" val="1070326951"/>
                  </a:ext>
                </a:extLst>
              </a:tr>
              <a:tr h="206145">
                <a:tc>
                  <a:txBody>
                    <a:bodyPr/>
                    <a:lstStyle/>
                    <a:p>
                      <a:r>
                        <a:rPr lang="en-GB" sz="1700" kern="1200">
                          <a:solidFill>
                            <a:schemeClr val="tx1"/>
                          </a:solidFill>
                        </a:rPr>
                        <a:t>Product Type</a:t>
                      </a:r>
                      <a:endParaRPr lang="en-US" sz="1700" kern="1200">
                        <a:solidFill>
                          <a:schemeClr val="tx1"/>
                        </a:solidFill>
                        <a:latin typeface="+mn-lt"/>
                        <a:ea typeface="+mn-ea"/>
                        <a:cs typeface="+mn-cs"/>
                      </a:endParaRPr>
                    </a:p>
                  </a:txBody>
                  <a:tcPr/>
                </a:tc>
                <a:tc>
                  <a:txBody>
                    <a:bodyPr/>
                    <a:lstStyle/>
                    <a:p>
                      <a:endParaRPr lang="en-US" sz="1700" b="1">
                        <a:solidFill>
                          <a:srgbClr val="00BDB7"/>
                        </a:solidFill>
                      </a:endParaRPr>
                    </a:p>
                  </a:txBody>
                  <a:tcPr>
                    <a:noFill/>
                  </a:tcPr>
                </a:tc>
                <a:extLst>
                  <a:ext uri="{0D108BD9-81ED-4DB2-BD59-A6C34878D82A}">
                    <a16:rowId xmlns:a16="http://schemas.microsoft.com/office/drawing/2014/main" val="2550838982"/>
                  </a:ext>
                </a:extLst>
              </a:tr>
              <a:tr h="206145">
                <a:tc>
                  <a:txBody>
                    <a:bodyPr/>
                    <a:lstStyle/>
                    <a:p>
                      <a:r>
                        <a:rPr lang="en-GB" sz="1700" kern="1200"/>
                        <a:t>GFB Indicator</a:t>
                      </a:r>
                      <a:endParaRPr lang="en-US" sz="1700" kern="1200">
                        <a:solidFill>
                          <a:schemeClr val="dk1"/>
                        </a:solidFill>
                        <a:latin typeface="+mn-lt"/>
                        <a:ea typeface="+mn-ea"/>
                        <a:cs typeface="+mn-cs"/>
                      </a:endParaRPr>
                    </a:p>
                  </a:txBody>
                  <a:tcPr/>
                </a:tc>
                <a:tc>
                  <a:txBody>
                    <a:bodyPr/>
                    <a:lstStyle/>
                    <a:p>
                      <a:endParaRPr lang="en-US" sz="1700" b="1">
                        <a:solidFill>
                          <a:srgbClr val="00BDB7"/>
                        </a:solidFill>
                      </a:endParaRPr>
                    </a:p>
                  </a:txBody>
                  <a:tcPr>
                    <a:noFill/>
                  </a:tcPr>
                </a:tc>
                <a:extLst>
                  <a:ext uri="{0D108BD9-81ED-4DB2-BD59-A6C34878D82A}">
                    <a16:rowId xmlns:a16="http://schemas.microsoft.com/office/drawing/2014/main" val="3179077182"/>
                  </a:ext>
                </a:extLst>
              </a:tr>
              <a:tr h="206145">
                <a:tc>
                  <a:txBody>
                    <a:bodyPr/>
                    <a:lstStyle/>
                    <a:p>
                      <a:r>
                        <a:rPr lang="en-GB" sz="1700" kern="1200">
                          <a:solidFill>
                            <a:schemeClr val="dk1"/>
                          </a:solidFill>
                          <a:latin typeface="+mn-lt"/>
                          <a:ea typeface="+mn-ea"/>
                          <a:cs typeface="+mn-cs"/>
                        </a:rPr>
                        <a:t>Customer Group</a:t>
                      </a:r>
                      <a:endParaRPr lang="en-US" sz="1700" kern="1200">
                        <a:solidFill>
                          <a:schemeClr val="dk1"/>
                        </a:solidFill>
                        <a:latin typeface="+mn-lt"/>
                        <a:ea typeface="+mn-ea"/>
                        <a:cs typeface="+mn-cs"/>
                      </a:endParaRPr>
                    </a:p>
                  </a:txBody>
                  <a:tcPr/>
                </a:tc>
                <a:tc>
                  <a:txBody>
                    <a:bodyPr/>
                    <a:lstStyle/>
                    <a:p>
                      <a:endParaRPr lang="en-US" sz="1700" b="1">
                        <a:solidFill>
                          <a:schemeClr val="accent4">
                            <a:lumMod val="75000"/>
                          </a:schemeClr>
                        </a:solidFill>
                      </a:endParaRPr>
                    </a:p>
                  </a:txBody>
                  <a:tcPr>
                    <a:noFill/>
                  </a:tcPr>
                </a:tc>
                <a:extLst>
                  <a:ext uri="{0D108BD9-81ED-4DB2-BD59-A6C34878D82A}">
                    <a16:rowId xmlns:a16="http://schemas.microsoft.com/office/drawing/2014/main" val="1956115060"/>
                  </a:ext>
                </a:extLst>
              </a:tr>
              <a:tr h="206145">
                <a:tc>
                  <a:txBody>
                    <a:bodyPr/>
                    <a:lstStyle/>
                    <a:p>
                      <a:r>
                        <a:rPr lang="en-GB" sz="1700" kern="1200"/>
                        <a:t>Sales District</a:t>
                      </a:r>
                      <a:endParaRPr lang="en-US" sz="1700" kern="1200">
                        <a:solidFill>
                          <a:schemeClr val="dk1"/>
                        </a:solidFill>
                        <a:latin typeface="+mn-lt"/>
                        <a:ea typeface="+mn-ea"/>
                        <a:cs typeface="+mn-cs"/>
                      </a:endParaRPr>
                    </a:p>
                  </a:txBody>
                  <a:tcPr/>
                </a:tc>
                <a:tc>
                  <a:txBody>
                    <a:bodyPr/>
                    <a:lstStyle/>
                    <a:p>
                      <a:endParaRPr lang="en-US" sz="1700" b="1">
                        <a:solidFill>
                          <a:schemeClr val="accent4">
                            <a:lumMod val="75000"/>
                          </a:schemeClr>
                        </a:solidFill>
                      </a:endParaRPr>
                    </a:p>
                  </a:txBody>
                  <a:tcPr>
                    <a:noFill/>
                  </a:tcPr>
                </a:tc>
                <a:extLst>
                  <a:ext uri="{0D108BD9-81ED-4DB2-BD59-A6C34878D82A}">
                    <a16:rowId xmlns:a16="http://schemas.microsoft.com/office/drawing/2014/main" val="3606402810"/>
                  </a:ext>
                </a:extLst>
              </a:tr>
              <a:tr h="274022">
                <a:tc>
                  <a:txBody>
                    <a:bodyPr/>
                    <a:lstStyle/>
                    <a:p>
                      <a:r>
                        <a:rPr lang="en-GB" sz="1700" kern="1200">
                          <a:solidFill>
                            <a:schemeClr val="dk1"/>
                          </a:solidFill>
                          <a:latin typeface="+mn-lt"/>
                          <a:ea typeface="+mn-ea"/>
                          <a:cs typeface="+mn-cs"/>
                        </a:rPr>
                        <a:t>Trade Channel</a:t>
                      </a:r>
                      <a:endParaRPr lang="en-US" sz="1700" kern="1200">
                        <a:solidFill>
                          <a:schemeClr val="dk1"/>
                        </a:solidFill>
                        <a:latin typeface="+mn-lt"/>
                        <a:ea typeface="+mn-ea"/>
                        <a:cs typeface="+mn-cs"/>
                      </a:endParaRPr>
                    </a:p>
                  </a:txBody>
                  <a:tcPr/>
                </a:tc>
                <a:tc>
                  <a:txBody>
                    <a:bodyPr/>
                    <a:lstStyle/>
                    <a:p>
                      <a:endParaRPr lang="en-US" sz="1700" b="1">
                        <a:solidFill>
                          <a:srgbClr val="EAAA00"/>
                        </a:solidFill>
                      </a:endParaRPr>
                    </a:p>
                  </a:txBody>
                  <a:tcPr>
                    <a:noFill/>
                  </a:tcPr>
                </a:tc>
                <a:extLst>
                  <a:ext uri="{0D108BD9-81ED-4DB2-BD59-A6C34878D82A}">
                    <a16:rowId xmlns:a16="http://schemas.microsoft.com/office/drawing/2014/main" val="1832092137"/>
                  </a:ext>
                </a:extLst>
              </a:tr>
              <a:tr h="206145">
                <a:tc>
                  <a:txBody>
                    <a:bodyPr/>
                    <a:lstStyle/>
                    <a:p>
                      <a:r>
                        <a:rPr lang="en-GB" sz="1700" kern="1200">
                          <a:solidFill>
                            <a:schemeClr val="dk1"/>
                          </a:solidFill>
                          <a:latin typeface="+mn-lt"/>
                          <a:ea typeface="+mn-ea"/>
                          <a:cs typeface="+mn-cs"/>
                        </a:rPr>
                        <a:t>Product (material)</a:t>
                      </a:r>
                      <a:endParaRPr lang="en-US" sz="1700" kern="1200">
                        <a:solidFill>
                          <a:schemeClr val="dk1"/>
                        </a:solidFill>
                        <a:latin typeface="+mn-lt"/>
                        <a:ea typeface="+mn-ea"/>
                        <a:cs typeface="+mn-cs"/>
                      </a:endParaRPr>
                    </a:p>
                  </a:txBody>
                  <a:tcPr/>
                </a:tc>
                <a:tc>
                  <a:txBody>
                    <a:bodyPr/>
                    <a:lstStyle/>
                    <a:p>
                      <a:r>
                        <a:rPr lang="en-GB" sz="1700" b="1">
                          <a:solidFill>
                            <a:srgbClr val="00BDB7"/>
                          </a:solidFill>
                        </a:rPr>
                        <a:t>P</a:t>
                      </a:r>
                      <a:r>
                        <a:rPr lang="en-US" sz="1700" b="1">
                          <a:solidFill>
                            <a:srgbClr val="00BDB7"/>
                          </a:solidFill>
                        </a:rPr>
                        <a:t>1</a:t>
                      </a:r>
                    </a:p>
                  </a:txBody>
                  <a:tcPr>
                    <a:solidFill>
                      <a:schemeClr val="accent2">
                        <a:lumMod val="20000"/>
                        <a:lumOff val="80000"/>
                      </a:schemeClr>
                    </a:solidFill>
                  </a:tcPr>
                </a:tc>
                <a:extLst>
                  <a:ext uri="{0D108BD9-81ED-4DB2-BD59-A6C34878D82A}">
                    <a16:rowId xmlns:a16="http://schemas.microsoft.com/office/drawing/2014/main" val="4055529994"/>
                  </a:ext>
                </a:extLst>
              </a:tr>
              <a:tr h="206145">
                <a:tc>
                  <a:txBody>
                    <a:bodyPr/>
                    <a:lstStyle/>
                    <a:p>
                      <a:r>
                        <a:rPr lang="en-GB" sz="1700" kern="1200">
                          <a:solidFill>
                            <a:schemeClr val="dk1"/>
                          </a:solidFill>
                          <a:latin typeface="+mn-lt"/>
                          <a:ea typeface="+mn-ea"/>
                          <a:cs typeface="+mn-cs"/>
                        </a:rPr>
                        <a:t>Customer</a:t>
                      </a:r>
                      <a:endParaRPr lang="en-US" sz="1700" kern="1200">
                        <a:solidFill>
                          <a:schemeClr val="dk1"/>
                        </a:solidFill>
                        <a:latin typeface="+mn-lt"/>
                        <a:ea typeface="+mn-ea"/>
                        <a:cs typeface="+mn-cs"/>
                      </a:endParaRPr>
                    </a:p>
                  </a:txBody>
                  <a:tcPr/>
                </a:tc>
                <a:tc>
                  <a:txBody>
                    <a:bodyPr/>
                    <a:lstStyle/>
                    <a:p>
                      <a:r>
                        <a:rPr lang="en-GB" sz="1700" b="1">
                          <a:solidFill>
                            <a:schemeClr val="accent4">
                              <a:lumMod val="75000"/>
                            </a:schemeClr>
                          </a:solidFill>
                        </a:rPr>
                        <a:t>C1</a:t>
                      </a:r>
                      <a:endParaRPr lang="en-US" sz="1700" b="1">
                        <a:solidFill>
                          <a:schemeClr val="accent4">
                            <a:lumMod val="75000"/>
                          </a:schemeClr>
                        </a:solidFill>
                      </a:endParaRPr>
                    </a:p>
                  </a:txBody>
                  <a:tcPr>
                    <a:solidFill>
                      <a:schemeClr val="accent2">
                        <a:lumMod val="20000"/>
                        <a:lumOff val="80000"/>
                      </a:schemeClr>
                    </a:solidFill>
                  </a:tcPr>
                </a:tc>
                <a:extLst>
                  <a:ext uri="{0D108BD9-81ED-4DB2-BD59-A6C34878D82A}">
                    <a16:rowId xmlns:a16="http://schemas.microsoft.com/office/drawing/2014/main" val="157768899"/>
                  </a:ext>
                </a:extLst>
              </a:tr>
              <a:tr h="206145">
                <a:tc>
                  <a:txBody>
                    <a:bodyPr/>
                    <a:lstStyle/>
                    <a:p>
                      <a:r>
                        <a:rPr lang="en-GB" sz="1700" kern="1200">
                          <a:solidFill>
                            <a:schemeClr val="dk1"/>
                          </a:solidFill>
                          <a:latin typeface="+mn-lt"/>
                          <a:ea typeface="+mn-ea"/>
                          <a:cs typeface="+mn-cs"/>
                        </a:rPr>
                        <a:t>Sales Order Type</a:t>
                      </a:r>
                      <a:endParaRPr lang="en-US" sz="1700" kern="1200">
                        <a:solidFill>
                          <a:schemeClr val="dk1"/>
                        </a:solidFill>
                        <a:latin typeface="+mn-lt"/>
                        <a:ea typeface="+mn-ea"/>
                        <a:cs typeface="+mn-cs"/>
                      </a:endParaRPr>
                    </a:p>
                  </a:txBody>
                  <a:tcPr/>
                </a:tc>
                <a:tc>
                  <a:txBody>
                    <a:bodyPr/>
                    <a:lstStyle/>
                    <a:p>
                      <a:r>
                        <a:rPr lang="en-GB" sz="1700" b="1">
                          <a:solidFill>
                            <a:srgbClr val="EAAA00"/>
                          </a:solidFill>
                        </a:rPr>
                        <a:t>S1</a:t>
                      </a:r>
                      <a:endParaRPr lang="en-US" sz="1700" b="1">
                        <a:solidFill>
                          <a:srgbClr val="EAAA00"/>
                        </a:solidFill>
                      </a:endParaRPr>
                    </a:p>
                  </a:txBody>
                  <a:tcPr>
                    <a:solidFill>
                      <a:schemeClr val="accent2">
                        <a:lumMod val="20000"/>
                        <a:lumOff val="80000"/>
                      </a:schemeClr>
                    </a:solidFill>
                  </a:tcPr>
                </a:tc>
                <a:extLst>
                  <a:ext uri="{0D108BD9-81ED-4DB2-BD59-A6C34878D82A}">
                    <a16:rowId xmlns:a16="http://schemas.microsoft.com/office/drawing/2014/main" val="1057960965"/>
                  </a:ext>
                </a:extLst>
              </a:tr>
            </a:tbl>
          </a:graphicData>
        </a:graphic>
      </p:graphicFrame>
      <p:sp>
        <p:nvSpPr>
          <p:cNvPr id="29" name="TextBox 28">
            <a:extLst>
              <a:ext uri="{FF2B5EF4-FFF2-40B4-BE49-F238E27FC236}">
                <a16:creationId xmlns:a16="http://schemas.microsoft.com/office/drawing/2014/main" id="{DC61D95D-5624-429D-8AA7-D884254980BB}"/>
              </a:ext>
            </a:extLst>
          </p:cNvPr>
          <p:cNvSpPr txBox="1"/>
          <p:nvPr/>
        </p:nvSpPr>
        <p:spPr>
          <a:xfrm>
            <a:off x="10038625" y="2227229"/>
            <a:ext cx="2578038" cy="584775"/>
          </a:xfrm>
          <a:prstGeom prst="rect">
            <a:avLst/>
          </a:prstGeom>
          <a:noFill/>
          <a:scene3d>
            <a:camera prst="isometricOffAxis1Right"/>
            <a:lightRig rig="threePt" dir="t"/>
          </a:scene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a:ln>
                  <a:solidFill>
                    <a:srgbClr val="00BDB7"/>
                  </a:solidFill>
                </a:ln>
                <a:solidFill>
                  <a:srgbClr val="407EC9">
                    <a:lumMod val="50000"/>
                  </a:srgbClr>
                </a:solidFill>
                <a:effectLst/>
                <a:uLnTx/>
                <a:uFillTx/>
                <a:latin typeface="Arial" panose="020B0604020202020204"/>
                <a:ea typeface="+mn-ea"/>
                <a:cs typeface="+mn-cs"/>
              </a:rPr>
              <a:t>OUTPUT</a:t>
            </a:r>
            <a:endParaRPr kumimoji="0" lang="en-US" sz="3200" b="1" i="0" u="none" strike="noStrike" kern="1200" cap="none" spc="0" normalizeH="0" baseline="0" noProof="0">
              <a:ln>
                <a:solidFill>
                  <a:srgbClr val="00BDB7"/>
                </a:solidFill>
              </a:ln>
              <a:solidFill>
                <a:srgbClr val="407EC9">
                  <a:lumMod val="50000"/>
                </a:srgbClr>
              </a:solidFill>
              <a:effectLst/>
              <a:uLnTx/>
              <a:uFillTx/>
              <a:latin typeface="Arial" panose="020B0604020202020204"/>
              <a:ea typeface="+mn-ea"/>
              <a:cs typeface="+mn-cs"/>
            </a:endParaRPr>
          </a:p>
        </p:txBody>
      </p:sp>
      <p:cxnSp>
        <p:nvCxnSpPr>
          <p:cNvPr id="39" name="Straight Arrow Connector 38">
            <a:extLst>
              <a:ext uri="{FF2B5EF4-FFF2-40B4-BE49-F238E27FC236}">
                <a16:creationId xmlns:a16="http://schemas.microsoft.com/office/drawing/2014/main" id="{45B55D90-0110-4F4D-9159-2C771A62E0F6}"/>
              </a:ext>
            </a:extLst>
          </p:cNvPr>
          <p:cNvCxnSpPr>
            <a:cxnSpLocks/>
          </p:cNvCxnSpPr>
          <p:nvPr/>
        </p:nvCxnSpPr>
        <p:spPr>
          <a:xfrm flipV="1">
            <a:off x="4935663" y="2961431"/>
            <a:ext cx="1234963" cy="449302"/>
          </a:xfrm>
          <a:prstGeom prst="straightConnector1">
            <a:avLst/>
          </a:prstGeom>
          <a:ln w="34925">
            <a:solidFill>
              <a:srgbClr val="00BDB7"/>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C660985C-0A0E-46D4-8B82-A6FEEB372A8E}"/>
              </a:ext>
            </a:extLst>
          </p:cNvPr>
          <p:cNvCxnSpPr>
            <a:cxnSpLocks/>
          </p:cNvCxnSpPr>
          <p:nvPr/>
        </p:nvCxnSpPr>
        <p:spPr>
          <a:xfrm>
            <a:off x="4935663" y="3410733"/>
            <a:ext cx="1234963" cy="0"/>
          </a:xfrm>
          <a:prstGeom prst="straightConnector1">
            <a:avLst/>
          </a:prstGeom>
          <a:ln w="34925">
            <a:solidFill>
              <a:srgbClr val="00BDB7"/>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EF70C5B-F179-4CCD-A85C-38E0A184D237}"/>
              </a:ext>
            </a:extLst>
          </p:cNvPr>
          <p:cNvCxnSpPr>
            <a:cxnSpLocks/>
          </p:cNvCxnSpPr>
          <p:nvPr/>
        </p:nvCxnSpPr>
        <p:spPr>
          <a:xfrm>
            <a:off x="4935663" y="3410733"/>
            <a:ext cx="1237981" cy="530736"/>
          </a:xfrm>
          <a:prstGeom prst="straightConnector1">
            <a:avLst/>
          </a:prstGeom>
          <a:ln w="34925">
            <a:solidFill>
              <a:srgbClr val="00BDB7"/>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0ADD1076-B417-40C2-9F1F-9DEAD56566BF}"/>
              </a:ext>
            </a:extLst>
          </p:cNvPr>
          <p:cNvCxnSpPr>
            <a:cxnSpLocks/>
          </p:cNvCxnSpPr>
          <p:nvPr/>
        </p:nvCxnSpPr>
        <p:spPr>
          <a:xfrm flipV="1">
            <a:off x="4944003" y="4770331"/>
            <a:ext cx="1097446" cy="1"/>
          </a:xfrm>
          <a:prstGeom prst="straightConnector1">
            <a:avLst/>
          </a:prstGeom>
          <a:ln w="34925">
            <a:solidFill>
              <a:srgbClr val="00BDB7"/>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B7A3190-3E17-439D-B2A4-7D25DD5D75D7}"/>
              </a:ext>
            </a:extLst>
          </p:cNvPr>
          <p:cNvCxnSpPr>
            <a:cxnSpLocks/>
          </p:cNvCxnSpPr>
          <p:nvPr/>
        </p:nvCxnSpPr>
        <p:spPr>
          <a:xfrm>
            <a:off x="4895846" y="4770331"/>
            <a:ext cx="1097446" cy="505626"/>
          </a:xfrm>
          <a:prstGeom prst="straightConnector1">
            <a:avLst/>
          </a:prstGeom>
          <a:ln w="34925">
            <a:solidFill>
              <a:srgbClr val="00BDB7"/>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BB77DCB-DEE1-45E6-A5FC-83623954481A}"/>
              </a:ext>
            </a:extLst>
          </p:cNvPr>
          <p:cNvCxnSpPr>
            <a:cxnSpLocks/>
          </p:cNvCxnSpPr>
          <p:nvPr/>
        </p:nvCxnSpPr>
        <p:spPr>
          <a:xfrm flipV="1">
            <a:off x="4951192" y="5954798"/>
            <a:ext cx="1166205" cy="15669"/>
          </a:xfrm>
          <a:prstGeom prst="straightConnector1">
            <a:avLst/>
          </a:prstGeom>
          <a:ln w="34925">
            <a:solidFill>
              <a:srgbClr val="00BDB7"/>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24478749-D868-4C4E-A6C5-6F8F5C0DF18D}"/>
              </a:ext>
            </a:extLst>
          </p:cNvPr>
          <p:cNvSpPr txBox="1"/>
          <p:nvPr/>
        </p:nvSpPr>
        <p:spPr>
          <a:xfrm>
            <a:off x="3510853" y="5291571"/>
            <a:ext cx="2030524" cy="369332"/>
          </a:xfrm>
          <a:prstGeom prst="rect">
            <a:avLst/>
          </a:prstGeom>
          <a:solidFill>
            <a:schemeClr val="bg1"/>
          </a:solidFill>
          <a:scene3d>
            <a:camera prst="isometricOffAxis1Right"/>
            <a:lightRig rig="threePt" dir="t"/>
          </a:scene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solidFill>
                    <a:srgbClr val="00BDB7"/>
                  </a:solidFill>
                </a:ln>
                <a:solidFill>
                  <a:srgbClr val="00BDB7"/>
                </a:solidFill>
                <a:effectLst/>
                <a:uLnTx/>
                <a:uFillTx/>
                <a:latin typeface="Arial" panose="020B0604020202020204"/>
                <a:ea typeface="+mn-ea"/>
                <a:cs typeface="+mn-cs"/>
              </a:rPr>
              <a:t>Sales Order Type</a:t>
            </a:r>
            <a:endParaRPr kumimoji="0" lang="en-US" sz="1800" b="0" i="0" u="none" strike="noStrike" kern="1200" cap="none" spc="0" normalizeH="0" baseline="0" noProof="0">
              <a:ln>
                <a:solidFill>
                  <a:srgbClr val="00BDB7"/>
                </a:solidFill>
              </a:ln>
              <a:solidFill>
                <a:srgbClr val="00BDB7"/>
              </a:solidFill>
              <a:effectLst/>
              <a:uLnTx/>
              <a:uFillTx/>
              <a:latin typeface="Arial" panose="020B0604020202020204"/>
              <a:ea typeface="+mn-ea"/>
              <a:cs typeface="+mn-cs"/>
            </a:endParaRPr>
          </a:p>
        </p:txBody>
      </p:sp>
      <p:sp>
        <p:nvSpPr>
          <p:cNvPr id="48" name="TextBox 47">
            <a:extLst>
              <a:ext uri="{FF2B5EF4-FFF2-40B4-BE49-F238E27FC236}">
                <a16:creationId xmlns:a16="http://schemas.microsoft.com/office/drawing/2014/main" id="{F08A21E7-0879-4606-B695-A697ADAEBB58}"/>
              </a:ext>
            </a:extLst>
          </p:cNvPr>
          <p:cNvSpPr txBox="1"/>
          <p:nvPr/>
        </p:nvSpPr>
        <p:spPr>
          <a:xfrm>
            <a:off x="3542389" y="2785884"/>
            <a:ext cx="1602488" cy="369332"/>
          </a:xfrm>
          <a:prstGeom prst="rect">
            <a:avLst/>
          </a:prstGeom>
          <a:solidFill>
            <a:schemeClr val="bg1"/>
          </a:solidFill>
          <a:scene3d>
            <a:camera prst="isometricOffAxis1Right"/>
            <a:lightRig rig="threePt" dir="t"/>
          </a:scene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solidFill>
                    <a:srgbClr val="00BDB7"/>
                  </a:solidFill>
                </a:ln>
                <a:solidFill>
                  <a:srgbClr val="00BDB7"/>
                </a:solidFill>
                <a:effectLst/>
                <a:uLnTx/>
                <a:uFillTx/>
                <a:latin typeface="Arial" panose="020B0604020202020204"/>
                <a:ea typeface="+mn-ea"/>
                <a:cs typeface="+mn-cs"/>
              </a:rPr>
              <a:t>Product</a:t>
            </a:r>
            <a:endParaRPr kumimoji="0" lang="en-US" sz="3200" b="0" i="0" u="none" strike="noStrike" kern="1200" cap="none" spc="0" normalizeH="0" baseline="0" noProof="0">
              <a:ln>
                <a:solidFill>
                  <a:srgbClr val="00BDB7"/>
                </a:solidFill>
              </a:ln>
              <a:solidFill>
                <a:srgbClr val="00BDB7"/>
              </a:solidFill>
              <a:effectLst/>
              <a:uLnTx/>
              <a:uFillTx/>
              <a:latin typeface="Arial" panose="020B0604020202020204"/>
              <a:ea typeface="+mn-ea"/>
              <a:cs typeface="+mn-cs"/>
            </a:endParaRPr>
          </a:p>
        </p:txBody>
      </p:sp>
      <p:sp>
        <p:nvSpPr>
          <p:cNvPr id="49" name="TextBox 48">
            <a:extLst>
              <a:ext uri="{FF2B5EF4-FFF2-40B4-BE49-F238E27FC236}">
                <a16:creationId xmlns:a16="http://schemas.microsoft.com/office/drawing/2014/main" id="{8D88EA2C-BB19-4770-8266-2FC50E68FFAE}"/>
              </a:ext>
            </a:extLst>
          </p:cNvPr>
          <p:cNvSpPr txBox="1"/>
          <p:nvPr/>
        </p:nvSpPr>
        <p:spPr>
          <a:xfrm>
            <a:off x="3488080" y="4055035"/>
            <a:ext cx="2495364" cy="369332"/>
          </a:xfrm>
          <a:prstGeom prst="rect">
            <a:avLst/>
          </a:prstGeom>
          <a:solidFill>
            <a:schemeClr val="bg1"/>
          </a:solidFill>
          <a:scene3d>
            <a:camera prst="isometricOffAxis1Right"/>
            <a:lightRig rig="threePt" dir="t"/>
          </a:scene3d>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solidFill>
                    <a:srgbClr val="00BDB7"/>
                  </a:solidFill>
                </a:ln>
                <a:solidFill>
                  <a:srgbClr val="8031A7">
                    <a:lumMod val="50000"/>
                  </a:srgbClr>
                </a:solidFill>
                <a:effectLst/>
                <a:uLnTx/>
                <a:uFillTx/>
                <a:latin typeface="Arial" panose="020B0604020202020204"/>
                <a:ea typeface="+mn-ea"/>
                <a:cs typeface="+mn-cs"/>
              </a:rPr>
              <a:t>Customer</a:t>
            </a:r>
            <a:endParaRPr kumimoji="0" lang="en-US" sz="1800" b="0" i="0" u="none" strike="noStrike" kern="1200" cap="none" spc="0" normalizeH="0" baseline="0" noProof="0">
              <a:ln>
                <a:solidFill>
                  <a:srgbClr val="00BDB7"/>
                </a:solidFill>
              </a:ln>
              <a:solidFill>
                <a:srgbClr val="8031A7">
                  <a:lumMod val="50000"/>
                </a:srgbClr>
              </a:solidFill>
              <a:effectLst/>
              <a:uLnTx/>
              <a:uFillTx/>
              <a:latin typeface="Arial" panose="020B0604020202020204"/>
              <a:ea typeface="+mn-ea"/>
              <a:cs typeface="+mn-cs"/>
            </a:endParaRPr>
          </a:p>
        </p:txBody>
      </p:sp>
      <p:sp>
        <p:nvSpPr>
          <p:cNvPr id="50" name="Hexagon 49">
            <a:extLst>
              <a:ext uri="{FF2B5EF4-FFF2-40B4-BE49-F238E27FC236}">
                <a16:creationId xmlns:a16="http://schemas.microsoft.com/office/drawing/2014/main" id="{EB0FE787-D839-4BC0-B378-DA3A7997849A}"/>
              </a:ext>
            </a:extLst>
          </p:cNvPr>
          <p:cNvSpPr/>
          <p:nvPr/>
        </p:nvSpPr>
        <p:spPr>
          <a:xfrm>
            <a:off x="4082405" y="3101722"/>
            <a:ext cx="691783" cy="605115"/>
          </a:xfrm>
          <a:prstGeom prst="hexagon">
            <a:avLst/>
          </a:prstGeom>
          <a:solidFill>
            <a:schemeClr val="accent2">
              <a:lumMod val="20000"/>
              <a:lumOff val="80000"/>
            </a:schemeClr>
          </a:solidFill>
          <a:ln>
            <a:noFill/>
          </a:ln>
          <a:effectLst>
            <a:outerShdw blurRad="50800" dist="38100" dir="16200000" rotWithShape="0">
              <a:prstClr val="black">
                <a:alpha val="40000"/>
              </a:prstClr>
            </a:outerShdw>
          </a:effectLst>
          <a:scene3d>
            <a:camera prst="orthographicFront"/>
            <a:lightRig rig="threePt" dir="t"/>
          </a:scene3d>
          <a:sp3d>
            <a:bevelT w="139700" prst="cross"/>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0BDB7"/>
                </a:solidFill>
                <a:effectLst/>
                <a:uLnTx/>
                <a:uFillTx/>
                <a:latin typeface="Arial" panose="020B0604020202020204"/>
                <a:ea typeface="+mn-ea"/>
                <a:cs typeface="+mn-cs"/>
              </a:rPr>
              <a:t>P1</a:t>
            </a:r>
            <a:endParaRPr kumimoji="0" lang="en-US" sz="1600" b="1" i="0" u="none" strike="noStrike" kern="1200" cap="none" spc="0" normalizeH="0" baseline="0" noProof="0">
              <a:ln>
                <a:noFill/>
              </a:ln>
              <a:solidFill>
                <a:srgbClr val="00BDB7"/>
              </a:solidFill>
              <a:effectLst/>
              <a:uLnTx/>
              <a:uFillTx/>
              <a:latin typeface="Arial" panose="020B0604020202020204"/>
              <a:ea typeface="+mn-ea"/>
              <a:cs typeface="+mn-cs"/>
            </a:endParaRPr>
          </a:p>
        </p:txBody>
      </p:sp>
      <p:sp>
        <p:nvSpPr>
          <p:cNvPr id="51" name="Hexagon 50">
            <a:extLst>
              <a:ext uri="{FF2B5EF4-FFF2-40B4-BE49-F238E27FC236}">
                <a16:creationId xmlns:a16="http://schemas.microsoft.com/office/drawing/2014/main" id="{AC0488D0-6D8B-45F2-8FCB-504AA87A2E18}"/>
              </a:ext>
            </a:extLst>
          </p:cNvPr>
          <p:cNvSpPr/>
          <p:nvPr/>
        </p:nvSpPr>
        <p:spPr>
          <a:xfrm>
            <a:off x="4088601" y="4461046"/>
            <a:ext cx="691784" cy="605115"/>
          </a:xfrm>
          <a:prstGeom prst="hexagon">
            <a:avLst/>
          </a:prstGeom>
          <a:solidFill>
            <a:schemeClr val="accent2">
              <a:lumMod val="20000"/>
              <a:lumOff val="80000"/>
            </a:schemeClr>
          </a:solidFill>
          <a:ln>
            <a:noFill/>
          </a:ln>
          <a:effectLst>
            <a:outerShdw blurRad="50800" dist="38100" dir="16200000" rotWithShape="0">
              <a:prstClr val="black">
                <a:alpha val="40000"/>
              </a:prstClr>
            </a:outerShdw>
          </a:effectLst>
          <a:scene3d>
            <a:camera prst="orthographicFront"/>
            <a:lightRig rig="threePt" dir="t"/>
          </a:scene3d>
          <a:sp3d>
            <a:bevelT w="139700" prst="cross"/>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8031A7">
                    <a:lumMod val="75000"/>
                  </a:srgbClr>
                </a:solidFill>
                <a:effectLst/>
                <a:uLnTx/>
                <a:uFillTx/>
                <a:latin typeface="Arial" panose="020B0604020202020204"/>
                <a:ea typeface="+mn-ea"/>
                <a:cs typeface="+mn-cs"/>
              </a:rPr>
              <a:t>C1</a:t>
            </a:r>
            <a:endParaRPr kumimoji="0" lang="en-US" sz="1600" b="1" i="0" u="none" strike="noStrike" kern="1200" cap="none" spc="0" normalizeH="0" baseline="0" noProof="0">
              <a:ln>
                <a:noFill/>
              </a:ln>
              <a:solidFill>
                <a:srgbClr val="8031A7">
                  <a:lumMod val="75000"/>
                </a:srgbClr>
              </a:solidFill>
              <a:effectLst/>
              <a:uLnTx/>
              <a:uFillTx/>
              <a:latin typeface="Arial" panose="020B0604020202020204"/>
              <a:ea typeface="+mn-ea"/>
              <a:cs typeface="+mn-cs"/>
            </a:endParaRPr>
          </a:p>
        </p:txBody>
      </p:sp>
      <p:sp>
        <p:nvSpPr>
          <p:cNvPr id="46" name="Hexagon 45">
            <a:extLst>
              <a:ext uri="{FF2B5EF4-FFF2-40B4-BE49-F238E27FC236}">
                <a16:creationId xmlns:a16="http://schemas.microsoft.com/office/drawing/2014/main" id="{FF19F942-30A8-4CAB-9A3A-F2C5602FA081}"/>
              </a:ext>
            </a:extLst>
          </p:cNvPr>
          <p:cNvSpPr/>
          <p:nvPr/>
        </p:nvSpPr>
        <p:spPr>
          <a:xfrm>
            <a:off x="4088600" y="5696198"/>
            <a:ext cx="691784" cy="605114"/>
          </a:xfrm>
          <a:prstGeom prst="hexagon">
            <a:avLst/>
          </a:prstGeom>
          <a:solidFill>
            <a:schemeClr val="accent2">
              <a:lumMod val="20000"/>
              <a:lumOff val="80000"/>
            </a:schemeClr>
          </a:solidFill>
          <a:ln>
            <a:noFill/>
          </a:ln>
          <a:effectLst>
            <a:outerShdw blurRad="50800" dist="38100" dir="16200000" rotWithShape="0">
              <a:prstClr val="black">
                <a:alpha val="40000"/>
              </a:prstClr>
            </a:outerShdw>
          </a:effectLst>
          <a:scene3d>
            <a:camera prst="orthographicFront"/>
            <a:lightRig rig="threePt" dir="t"/>
          </a:scene3d>
          <a:sp3d>
            <a:bevelT w="139700" prst="cross"/>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EAAA00"/>
                </a:solidFill>
                <a:effectLst/>
                <a:uLnTx/>
                <a:uFillTx/>
                <a:latin typeface="Arial" panose="020B0604020202020204"/>
                <a:ea typeface="+mn-ea"/>
                <a:cs typeface="+mn-cs"/>
              </a:rPr>
              <a:t>S1</a:t>
            </a:r>
            <a:endParaRPr kumimoji="0" lang="en-US" sz="1600" b="1" i="0" u="none" strike="noStrike" kern="1200" cap="none" spc="0" normalizeH="0" baseline="0" noProof="0">
              <a:ln>
                <a:noFill/>
              </a:ln>
              <a:solidFill>
                <a:srgbClr val="EAAA00"/>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00EFFB9B-42E7-4D51-ACF9-71ED8F01A800}"/>
              </a:ext>
            </a:extLst>
          </p:cNvPr>
          <p:cNvSpPr txBox="1"/>
          <p:nvPr/>
        </p:nvSpPr>
        <p:spPr>
          <a:xfrm>
            <a:off x="595079" y="1469100"/>
            <a:ext cx="11194149" cy="494684"/>
          </a:xfrm>
          <a:prstGeom prst="rect">
            <a:avLst/>
          </a:prstGeom>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ctr">
              <a:defRPr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panose="020B0604020202020204"/>
                <a:ea typeface="+mn-ea"/>
                <a:cs typeface="+mn-cs"/>
              </a:rPr>
              <a:t>Using the SAP Master Data (Customer, Product, …) or CO‑PA derivation rules, the system can derive additional characteristics “automatically” based on the ones entered manually or transferred from primary transactions</a:t>
            </a:r>
          </a:p>
        </p:txBody>
      </p:sp>
      <p:pic>
        <p:nvPicPr>
          <p:cNvPr id="8" name="Picture 7">
            <a:extLst>
              <a:ext uri="{FF2B5EF4-FFF2-40B4-BE49-F238E27FC236}">
                <a16:creationId xmlns:a16="http://schemas.microsoft.com/office/drawing/2014/main" id="{0FDC2235-E3C0-45DA-8D4F-757E476B1474}"/>
              </a:ext>
            </a:extLst>
          </p:cNvPr>
          <p:cNvPicPr>
            <a:picLocks noChangeAspect="1"/>
          </p:cNvPicPr>
          <p:nvPr/>
        </p:nvPicPr>
        <p:blipFill>
          <a:blip r:embed="rId3"/>
          <a:stretch>
            <a:fillRect/>
          </a:stretch>
        </p:blipFill>
        <p:spPr>
          <a:xfrm>
            <a:off x="2770584" y="5183563"/>
            <a:ext cx="406393" cy="265718"/>
          </a:xfrm>
          <a:prstGeom prst="rect">
            <a:avLst/>
          </a:prstGeom>
        </p:spPr>
      </p:pic>
      <p:pic>
        <p:nvPicPr>
          <p:cNvPr id="10" name="Picture 9">
            <a:extLst>
              <a:ext uri="{FF2B5EF4-FFF2-40B4-BE49-F238E27FC236}">
                <a16:creationId xmlns:a16="http://schemas.microsoft.com/office/drawing/2014/main" id="{EF1EEE73-D0C8-4A59-852C-22269D1A4FD1}"/>
              </a:ext>
            </a:extLst>
          </p:cNvPr>
          <p:cNvPicPr>
            <a:picLocks noChangeAspect="1"/>
          </p:cNvPicPr>
          <p:nvPr/>
        </p:nvPicPr>
        <p:blipFill>
          <a:blip r:embed="rId4"/>
          <a:stretch>
            <a:fillRect/>
          </a:stretch>
        </p:blipFill>
        <p:spPr>
          <a:xfrm>
            <a:off x="10827270" y="3058409"/>
            <a:ext cx="566408" cy="963738"/>
          </a:xfrm>
          <a:prstGeom prst="rect">
            <a:avLst/>
          </a:prstGeom>
        </p:spPr>
      </p:pic>
      <p:pic>
        <p:nvPicPr>
          <p:cNvPr id="30" name="Graphic 29" descr="Checkmark">
            <a:extLst>
              <a:ext uri="{FF2B5EF4-FFF2-40B4-BE49-F238E27FC236}">
                <a16:creationId xmlns:a16="http://schemas.microsoft.com/office/drawing/2014/main" id="{91A16538-AE38-446D-851C-D71C2FF6060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58897" y="3023304"/>
            <a:ext cx="362712" cy="362712"/>
          </a:xfrm>
          <a:prstGeom prst="rect">
            <a:avLst/>
          </a:prstGeom>
        </p:spPr>
      </p:pic>
      <p:pic>
        <p:nvPicPr>
          <p:cNvPr id="44" name="Graphic 43" descr="Checkmark">
            <a:extLst>
              <a:ext uri="{FF2B5EF4-FFF2-40B4-BE49-F238E27FC236}">
                <a16:creationId xmlns:a16="http://schemas.microsoft.com/office/drawing/2014/main" id="{AA1F20C3-1A5D-4BDE-8BCA-916413A056B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58897" y="3386016"/>
            <a:ext cx="362712" cy="362712"/>
          </a:xfrm>
          <a:prstGeom prst="rect">
            <a:avLst/>
          </a:prstGeom>
        </p:spPr>
      </p:pic>
      <p:pic>
        <p:nvPicPr>
          <p:cNvPr id="45" name="Graphic 44" descr="Checkmark">
            <a:extLst>
              <a:ext uri="{FF2B5EF4-FFF2-40B4-BE49-F238E27FC236}">
                <a16:creationId xmlns:a16="http://schemas.microsoft.com/office/drawing/2014/main" id="{9A904395-F2DE-4AB1-9EA5-BD45AD99D1A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58897" y="3737821"/>
            <a:ext cx="362712" cy="362712"/>
          </a:xfrm>
          <a:prstGeom prst="rect">
            <a:avLst/>
          </a:prstGeom>
        </p:spPr>
      </p:pic>
      <p:pic>
        <p:nvPicPr>
          <p:cNvPr id="52" name="Graphic 51" descr="Checkmark">
            <a:extLst>
              <a:ext uri="{FF2B5EF4-FFF2-40B4-BE49-F238E27FC236}">
                <a16:creationId xmlns:a16="http://schemas.microsoft.com/office/drawing/2014/main" id="{7BA2AA9D-45E4-41BA-B8DB-C7DB602CEB5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58897" y="4078636"/>
            <a:ext cx="362712" cy="362712"/>
          </a:xfrm>
          <a:prstGeom prst="rect">
            <a:avLst/>
          </a:prstGeom>
        </p:spPr>
      </p:pic>
      <p:pic>
        <p:nvPicPr>
          <p:cNvPr id="53" name="Graphic 52" descr="Checkmark">
            <a:extLst>
              <a:ext uri="{FF2B5EF4-FFF2-40B4-BE49-F238E27FC236}">
                <a16:creationId xmlns:a16="http://schemas.microsoft.com/office/drawing/2014/main" id="{933B600A-DAA4-4CDA-B61A-B3224DD4897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58897" y="4422102"/>
            <a:ext cx="362712" cy="362712"/>
          </a:xfrm>
          <a:prstGeom prst="rect">
            <a:avLst/>
          </a:prstGeom>
        </p:spPr>
      </p:pic>
      <p:pic>
        <p:nvPicPr>
          <p:cNvPr id="54" name="Graphic 53" descr="Checkmark">
            <a:extLst>
              <a:ext uri="{FF2B5EF4-FFF2-40B4-BE49-F238E27FC236}">
                <a16:creationId xmlns:a16="http://schemas.microsoft.com/office/drawing/2014/main" id="{CCF5B150-0671-4ED4-BD05-6A5BD987775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58897" y="4777215"/>
            <a:ext cx="362712" cy="362712"/>
          </a:xfrm>
          <a:prstGeom prst="rect">
            <a:avLst/>
          </a:prstGeom>
        </p:spPr>
      </p:pic>
      <p:pic>
        <p:nvPicPr>
          <p:cNvPr id="55" name="Graphic 54" descr="Checkmark">
            <a:extLst>
              <a:ext uri="{FF2B5EF4-FFF2-40B4-BE49-F238E27FC236}">
                <a16:creationId xmlns:a16="http://schemas.microsoft.com/office/drawing/2014/main" id="{E3F4D9A1-3DB9-417F-80AC-76EC2526EED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58897" y="5095476"/>
            <a:ext cx="362712" cy="362712"/>
          </a:xfrm>
          <a:prstGeom prst="rect">
            <a:avLst/>
          </a:prstGeom>
        </p:spPr>
      </p:pic>
      <p:pic>
        <p:nvPicPr>
          <p:cNvPr id="56" name="Graphic 55" descr="Checkmark">
            <a:extLst>
              <a:ext uri="{FF2B5EF4-FFF2-40B4-BE49-F238E27FC236}">
                <a16:creationId xmlns:a16="http://schemas.microsoft.com/office/drawing/2014/main" id="{A76A20F3-C2DF-4F93-8FEC-3D217371DAE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58897" y="5456192"/>
            <a:ext cx="362712" cy="362712"/>
          </a:xfrm>
          <a:prstGeom prst="rect">
            <a:avLst/>
          </a:prstGeom>
        </p:spPr>
      </p:pic>
      <p:pic>
        <p:nvPicPr>
          <p:cNvPr id="57" name="Graphic 56" descr="Checkmark">
            <a:extLst>
              <a:ext uri="{FF2B5EF4-FFF2-40B4-BE49-F238E27FC236}">
                <a16:creationId xmlns:a16="http://schemas.microsoft.com/office/drawing/2014/main" id="{9B1C8D40-BB93-43BC-AADA-80DF2A8DC32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58897" y="5834518"/>
            <a:ext cx="362712" cy="362712"/>
          </a:xfrm>
          <a:prstGeom prst="rect">
            <a:avLst/>
          </a:prstGeom>
        </p:spPr>
      </p:pic>
      <p:pic>
        <p:nvPicPr>
          <p:cNvPr id="58" name="Graphic 57" descr="Checkmark">
            <a:extLst>
              <a:ext uri="{FF2B5EF4-FFF2-40B4-BE49-F238E27FC236}">
                <a16:creationId xmlns:a16="http://schemas.microsoft.com/office/drawing/2014/main" id="{604E15C7-D5B0-4EDE-AEDA-075504F47E5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42910" y="5126254"/>
            <a:ext cx="362712" cy="362712"/>
          </a:xfrm>
          <a:prstGeom prst="rect">
            <a:avLst/>
          </a:prstGeom>
        </p:spPr>
      </p:pic>
      <p:pic>
        <p:nvPicPr>
          <p:cNvPr id="59" name="Graphic 58" descr="Checkmark">
            <a:extLst>
              <a:ext uri="{FF2B5EF4-FFF2-40B4-BE49-F238E27FC236}">
                <a16:creationId xmlns:a16="http://schemas.microsoft.com/office/drawing/2014/main" id="{20A59DA5-B3F7-44F3-ADD8-3F3E3FF81E0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42910" y="5475953"/>
            <a:ext cx="362712" cy="362712"/>
          </a:xfrm>
          <a:prstGeom prst="rect">
            <a:avLst/>
          </a:prstGeom>
        </p:spPr>
      </p:pic>
      <p:pic>
        <p:nvPicPr>
          <p:cNvPr id="60" name="Graphic 59" descr="Checkmark">
            <a:extLst>
              <a:ext uri="{FF2B5EF4-FFF2-40B4-BE49-F238E27FC236}">
                <a16:creationId xmlns:a16="http://schemas.microsoft.com/office/drawing/2014/main" id="{E19F39CF-4437-4E0F-B38F-15B3F6B5CF5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42910" y="5854279"/>
            <a:ext cx="362712" cy="362712"/>
          </a:xfrm>
          <a:prstGeom prst="rect">
            <a:avLst/>
          </a:prstGeom>
        </p:spPr>
      </p:pic>
      <p:pic>
        <p:nvPicPr>
          <p:cNvPr id="31" name="Picture 30">
            <a:extLst>
              <a:ext uri="{FF2B5EF4-FFF2-40B4-BE49-F238E27FC236}">
                <a16:creationId xmlns:a16="http://schemas.microsoft.com/office/drawing/2014/main" id="{FB1C3CDE-5767-4A83-8F6F-75F49F3029D7}"/>
              </a:ext>
            </a:extLst>
          </p:cNvPr>
          <p:cNvPicPr>
            <a:picLocks noChangeAspect="1"/>
          </p:cNvPicPr>
          <p:nvPr/>
        </p:nvPicPr>
        <p:blipFill>
          <a:blip r:embed="rId7"/>
          <a:stretch>
            <a:fillRect/>
          </a:stretch>
        </p:blipFill>
        <p:spPr>
          <a:xfrm>
            <a:off x="10865329" y="4108656"/>
            <a:ext cx="469924" cy="635033"/>
          </a:xfrm>
          <a:prstGeom prst="rect">
            <a:avLst/>
          </a:prstGeom>
        </p:spPr>
      </p:pic>
      <p:pic>
        <p:nvPicPr>
          <p:cNvPr id="32" name="Picture 31">
            <a:extLst>
              <a:ext uri="{FF2B5EF4-FFF2-40B4-BE49-F238E27FC236}">
                <a16:creationId xmlns:a16="http://schemas.microsoft.com/office/drawing/2014/main" id="{9B4B4FBD-0E89-4996-9AD2-72696F340E3B}"/>
              </a:ext>
            </a:extLst>
          </p:cNvPr>
          <p:cNvPicPr>
            <a:picLocks noChangeAspect="1"/>
          </p:cNvPicPr>
          <p:nvPr/>
        </p:nvPicPr>
        <p:blipFill>
          <a:blip r:embed="rId8"/>
          <a:stretch>
            <a:fillRect/>
          </a:stretch>
        </p:blipFill>
        <p:spPr>
          <a:xfrm>
            <a:off x="2784942" y="5513716"/>
            <a:ext cx="349268" cy="247663"/>
          </a:xfrm>
          <a:prstGeom prst="rect">
            <a:avLst/>
          </a:prstGeom>
        </p:spPr>
      </p:pic>
      <p:pic>
        <p:nvPicPr>
          <p:cNvPr id="33" name="Picture 32">
            <a:extLst>
              <a:ext uri="{FF2B5EF4-FFF2-40B4-BE49-F238E27FC236}">
                <a16:creationId xmlns:a16="http://schemas.microsoft.com/office/drawing/2014/main" id="{4A9CE5BF-B57A-4744-A7D2-462C8421065E}"/>
              </a:ext>
            </a:extLst>
          </p:cNvPr>
          <p:cNvPicPr>
            <a:picLocks noChangeAspect="1"/>
          </p:cNvPicPr>
          <p:nvPr/>
        </p:nvPicPr>
        <p:blipFill>
          <a:blip r:embed="rId9"/>
          <a:stretch>
            <a:fillRect/>
          </a:stretch>
        </p:blipFill>
        <p:spPr>
          <a:xfrm>
            <a:off x="10832546" y="4815688"/>
            <a:ext cx="419122" cy="285765"/>
          </a:xfrm>
          <a:prstGeom prst="rect">
            <a:avLst/>
          </a:prstGeom>
        </p:spPr>
      </p:pic>
      <p:pic>
        <p:nvPicPr>
          <p:cNvPr id="34" name="Picture 33">
            <a:extLst>
              <a:ext uri="{FF2B5EF4-FFF2-40B4-BE49-F238E27FC236}">
                <a16:creationId xmlns:a16="http://schemas.microsoft.com/office/drawing/2014/main" id="{1E6BC3BE-7777-4793-97AC-E7FF03713203}"/>
              </a:ext>
            </a:extLst>
          </p:cNvPr>
          <p:cNvPicPr>
            <a:picLocks noChangeAspect="1"/>
          </p:cNvPicPr>
          <p:nvPr/>
        </p:nvPicPr>
        <p:blipFill>
          <a:blip r:embed="rId10"/>
          <a:stretch>
            <a:fillRect/>
          </a:stretch>
        </p:blipFill>
        <p:spPr>
          <a:xfrm>
            <a:off x="2783364" y="5867602"/>
            <a:ext cx="361969" cy="285765"/>
          </a:xfrm>
          <a:prstGeom prst="rect">
            <a:avLst/>
          </a:prstGeom>
        </p:spPr>
      </p:pic>
    </p:spTree>
    <p:extLst>
      <p:ext uri="{BB962C8B-B14F-4D97-AF65-F5344CB8AC3E}">
        <p14:creationId xmlns:p14="http://schemas.microsoft.com/office/powerpoint/2010/main" val="3117478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down)">
                                      <p:cBhvr>
                                        <p:cTn id="14" dur="580">
                                          <p:stCondLst>
                                            <p:cond delay="0"/>
                                          </p:stCondLst>
                                        </p:cTn>
                                        <p:tgtEl>
                                          <p:spTgt spid="8"/>
                                        </p:tgtEl>
                                      </p:cBhvr>
                                    </p:animEffect>
                                    <p:anim calcmode="lin" valueType="num">
                                      <p:cBhvr>
                                        <p:cTn id="15"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0" dur="26">
                                          <p:stCondLst>
                                            <p:cond delay="650"/>
                                          </p:stCondLst>
                                        </p:cTn>
                                        <p:tgtEl>
                                          <p:spTgt spid="8"/>
                                        </p:tgtEl>
                                      </p:cBhvr>
                                      <p:to x="100000" y="60000"/>
                                    </p:animScale>
                                    <p:animScale>
                                      <p:cBhvr>
                                        <p:cTn id="21" dur="166" decel="50000">
                                          <p:stCondLst>
                                            <p:cond delay="676"/>
                                          </p:stCondLst>
                                        </p:cTn>
                                        <p:tgtEl>
                                          <p:spTgt spid="8"/>
                                        </p:tgtEl>
                                      </p:cBhvr>
                                      <p:to x="100000" y="100000"/>
                                    </p:animScale>
                                    <p:animScale>
                                      <p:cBhvr>
                                        <p:cTn id="22" dur="26">
                                          <p:stCondLst>
                                            <p:cond delay="1312"/>
                                          </p:stCondLst>
                                        </p:cTn>
                                        <p:tgtEl>
                                          <p:spTgt spid="8"/>
                                        </p:tgtEl>
                                      </p:cBhvr>
                                      <p:to x="100000" y="80000"/>
                                    </p:animScale>
                                    <p:animScale>
                                      <p:cBhvr>
                                        <p:cTn id="23" dur="166" decel="50000">
                                          <p:stCondLst>
                                            <p:cond delay="1338"/>
                                          </p:stCondLst>
                                        </p:cTn>
                                        <p:tgtEl>
                                          <p:spTgt spid="8"/>
                                        </p:tgtEl>
                                      </p:cBhvr>
                                      <p:to x="100000" y="100000"/>
                                    </p:animScale>
                                    <p:animScale>
                                      <p:cBhvr>
                                        <p:cTn id="24" dur="26">
                                          <p:stCondLst>
                                            <p:cond delay="1642"/>
                                          </p:stCondLst>
                                        </p:cTn>
                                        <p:tgtEl>
                                          <p:spTgt spid="8"/>
                                        </p:tgtEl>
                                      </p:cBhvr>
                                      <p:to x="100000" y="90000"/>
                                    </p:animScale>
                                    <p:animScale>
                                      <p:cBhvr>
                                        <p:cTn id="25" dur="166" decel="50000">
                                          <p:stCondLst>
                                            <p:cond delay="1668"/>
                                          </p:stCondLst>
                                        </p:cTn>
                                        <p:tgtEl>
                                          <p:spTgt spid="8"/>
                                        </p:tgtEl>
                                      </p:cBhvr>
                                      <p:to x="100000" y="100000"/>
                                    </p:animScale>
                                    <p:animScale>
                                      <p:cBhvr>
                                        <p:cTn id="26" dur="26">
                                          <p:stCondLst>
                                            <p:cond delay="1808"/>
                                          </p:stCondLst>
                                        </p:cTn>
                                        <p:tgtEl>
                                          <p:spTgt spid="8"/>
                                        </p:tgtEl>
                                      </p:cBhvr>
                                      <p:to x="100000" y="95000"/>
                                    </p:animScale>
                                    <p:animScale>
                                      <p:cBhvr>
                                        <p:cTn id="27" dur="166" decel="50000">
                                          <p:stCondLst>
                                            <p:cond delay="1834"/>
                                          </p:stCondLst>
                                        </p:cTn>
                                        <p:tgtEl>
                                          <p:spTgt spid="8"/>
                                        </p:tgtEl>
                                      </p:cBhvr>
                                      <p:to x="100000" y="100000"/>
                                    </p:animScale>
                                  </p:childTnLst>
                                </p:cTn>
                              </p:par>
                            </p:childTnLst>
                          </p:cTn>
                        </p:par>
                        <p:par>
                          <p:cTn id="28" fill="hold">
                            <p:stCondLst>
                              <p:cond delay="2000"/>
                            </p:stCondLst>
                            <p:childTnLst>
                              <p:par>
                                <p:cTn id="29" presetID="1" presetClass="entr" presetSubtype="0" fill="hold" nodeType="afterEffect">
                                  <p:stCondLst>
                                    <p:cond delay="0"/>
                                  </p:stCondLst>
                                  <p:childTnLst>
                                    <p:set>
                                      <p:cBhvr>
                                        <p:cTn id="30" dur="1" fill="hold">
                                          <p:stCondLst>
                                            <p:cond delay="0"/>
                                          </p:stCondLst>
                                        </p:cTn>
                                        <p:tgtEl>
                                          <p:spTgt spid="58"/>
                                        </p:tgtEl>
                                        <p:attrNameLst>
                                          <p:attrName>style.visibility</p:attrName>
                                        </p:attrNameLst>
                                      </p:cBhvr>
                                      <p:to>
                                        <p:strVal val="visible"/>
                                      </p:to>
                                    </p:set>
                                  </p:childTnLst>
                                </p:cTn>
                              </p:par>
                            </p:childTnLst>
                          </p:cTn>
                        </p:par>
                        <p:par>
                          <p:cTn id="31" fill="hold">
                            <p:stCondLst>
                              <p:cond delay="2000"/>
                            </p:stCondLst>
                            <p:childTnLst>
                              <p:par>
                                <p:cTn id="32" presetID="1" presetClass="entr" presetSubtype="0" fill="hold" nodeType="afterEffect">
                                  <p:stCondLst>
                                    <p:cond delay="0"/>
                                  </p:stCondLst>
                                  <p:childTnLst>
                                    <p:set>
                                      <p:cBhvr>
                                        <p:cTn id="33" dur="1" fill="hold">
                                          <p:stCondLst>
                                            <p:cond delay="0"/>
                                          </p:stCondLst>
                                        </p:cTn>
                                        <p:tgtEl>
                                          <p:spTgt spid="5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50"/>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39"/>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0" nodeType="after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6" presetClass="entr" presetSubtype="0" fill="hold" nodeType="clickEffect">
                                  <p:stCondLst>
                                    <p:cond delay="0"/>
                                  </p:stCondLst>
                                  <p:childTnLst>
                                    <p:set>
                                      <p:cBhvr>
                                        <p:cTn id="68" dur="1" fill="hold">
                                          <p:stCondLst>
                                            <p:cond delay="0"/>
                                          </p:stCondLst>
                                        </p:cTn>
                                        <p:tgtEl>
                                          <p:spTgt spid="10"/>
                                        </p:tgtEl>
                                        <p:attrNameLst>
                                          <p:attrName>style.visibility</p:attrName>
                                        </p:attrNameLst>
                                      </p:cBhvr>
                                      <p:to>
                                        <p:strVal val="visible"/>
                                      </p:to>
                                    </p:set>
                                    <p:animEffect transition="in" filter="wipe(down)">
                                      <p:cBhvr>
                                        <p:cTn id="69" dur="580">
                                          <p:stCondLst>
                                            <p:cond delay="0"/>
                                          </p:stCondLst>
                                        </p:cTn>
                                        <p:tgtEl>
                                          <p:spTgt spid="10"/>
                                        </p:tgtEl>
                                      </p:cBhvr>
                                    </p:animEffect>
                                    <p:anim calcmode="lin" valueType="num">
                                      <p:cBhvr>
                                        <p:cTn id="70"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71"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72"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73"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74"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75" dur="26">
                                          <p:stCondLst>
                                            <p:cond delay="650"/>
                                          </p:stCondLst>
                                        </p:cTn>
                                        <p:tgtEl>
                                          <p:spTgt spid="10"/>
                                        </p:tgtEl>
                                      </p:cBhvr>
                                      <p:to x="100000" y="60000"/>
                                    </p:animScale>
                                    <p:animScale>
                                      <p:cBhvr>
                                        <p:cTn id="76" dur="166" decel="50000">
                                          <p:stCondLst>
                                            <p:cond delay="676"/>
                                          </p:stCondLst>
                                        </p:cTn>
                                        <p:tgtEl>
                                          <p:spTgt spid="10"/>
                                        </p:tgtEl>
                                      </p:cBhvr>
                                      <p:to x="100000" y="100000"/>
                                    </p:animScale>
                                    <p:animScale>
                                      <p:cBhvr>
                                        <p:cTn id="77" dur="26">
                                          <p:stCondLst>
                                            <p:cond delay="1312"/>
                                          </p:stCondLst>
                                        </p:cTn>
                                        <p:tgtEl>
                                          <p:spTgt spid="10"/>
                                        </p:tgtEl>
                                      </p:cBhvr>
                                      <p:to x="100000" y="80000"/>
                                    </p:animScale>
                                    <p:animScale>
                                      <p:cBhvr>
                                        <p:cTn id="78" dur="166" decel="50000">
                                          <p:stCondLst>
                                            <p:cond delay="1338"/>
                                          </p:stCondLst>
                                        </p:cTn>
                                        <p:tgtEl>
                                          <p:spTgt spid="10"/>
                                        </p:tgtEl>
                                      </p:cBhvr>
                                      <p:to x="100000" y="100000"/>
                                    </p:animScale>
                                    <p:animScale>
                                      <p:cBhvr>
                                        <p:cTn id="79" dur="26">
                                          <p:stCondLst>
                                            <p:cond delay="1642"/>
                                          </p:stCondLst>
                                        </p:cTn>
                                        <p:tgtEl>
                                          <p:spTgt spid="10"/>
                                        </p:tgtEl>
                                      </p:cBhvr>
                                      <p:to x="100000" y="90000"/>
                                    </p:animScale>
                                    <p:animScale>
                                      <p:cBhvr>
                                        <p:cTn id="80" dur="166" decel="50000">
                                          <p:stCondLst>
                                            <p:cond delay="1668"/>
                                          </p:stCondLst>
                                        </p:cTn>
                                        <p:tgtEl>
                                          <p:spTgt spid="10"/>
                                        </p:tgtEl>
                                      </p:cBhvr>
                                      <p:to x="100000" y="100000"/>
                                    </p:animScale>
                                    <p:animScale>
                                      <p:cBhvr>
                                        <p:cTn id="81" dur="26">
                                          <p:stCondLst>
                                            <p:cond delay="1808"/>
                                          </p:stCondLst>
                                        </p:cTn>
                                        <p:tgtEl>
                                          <p:spTgt spid="10"/>
                                        </p:tgtEl>
                                      </p:cBhvr>
                                      <p:to x="100000" y="95000"/>
                                    </p:animScale>
                                    <p:animScale>
                                      <p:cBhvr>
                                        <p:cTn id="82" dur="166" decel="50000">
                                          <p:stCondLst>
                                            <p:cond delay="1834"/>
                                          </p:stCondLst>
                                        </p:cTn>
                                        <p:tgtEl>
                                          <p:spTgt spid="10"/>
                                        </p:tgtEl>
                                      </p:cBhvr>
                                      <p:to x="100000" y="100000"/>
                                    </p:animScale>
                                  </p:childTnLst>
                                </p:cTn>
                              </p:par>
                            </p:childTnLst>
                          </p:cTn>
                        </p:par>
                        <p:par>
                          <p:cTn id="83" fill="hold">
                            <p:stCondLst>
                              <p:cond delay="2000"/>
                            </p:stCondLst>
                            <p:childTnLst>
                              <p:par>
                                <p:cTn id="84" presetID="1" presetClass="entr" presetSubtype="0" fill="hold" nodeType="afterEffect">
                                  <p:stCondLst>
                                    <p:cond delay="500"/>
                                  </p:stCondLst>
                                  <p:childTnLst>
                                    <p:set>
                                      <p:cBhvr>
                                        <p:cTn id="85" dur="1" fill="hold">
                                          <p:stCondLst>
                                            <p:cond delay="0"/>
                                          </p:stCondLst>
                                        </p:cTn>
                                        <p:tgtEl>
                                          <p:spTgt spid="30"/>
                                        </p:tgtEl>
                                        <p:attrNameLst>
                                          <p:attrName>style.visibility</p:attrName>
                                        </p:attrNameLst>
                                      </p:cBhvr>
                                      <p:to>
                                        <p:strVal val="visible"/>
                                      </p:to>
                                    </p:set>
                                  </p:childTnLst>
                                </p:cTn>
                              </p:par>
                            </p:childTnLst>
                          </p:cTn>
                        </p:par>
                        <p:par>
                          <p:cTn id="86" fill="hold">
                            <p:stCondLst>
                              <p:cond delay="2500"/>
                            </p:stCondLst>
                            <p:childTnLst>
                              <p:par>
                                <p:cTn id="87" presetID="1" presetClass="entr" presetSubtype="0" fill="hold" nodeType="afterEffect">
                                  <p:stCondLst>
                                    <p:cond delay="500"/>
                                  </p:stCondLst>
                                  <p:childTnLst>
                                    <p:set>
                                      <p:cBhvr>
                                        <p:cTn id="88" dur="1" fill="hold">
                                          <p:stCondLst>
                                            <p:cond delay="0"/>
                                          </p:stCondLst>
                                        </p:cTn>
                                        <p:tgtEl>
                                          <p:spTgt spid="44"/>
                                        </p:tgtEl>
                                        <p:attrNameLst>
                                          <p:attrName>style.visibility</p:attrName>
                                        </p:attrNameLst>
                                      </p:cBhvr>
                                      <p:to>
                                        <p:strVal val="visible"/>
                                      </p:to>
                                    </p:set>
                                  </p:childTnLst>
                                </p:cTn>
                              </p:par>
                            </p:childTnLst>
                          </p:cTn>
                        </p:par>
                        <p:par>
                          <p:cTn id="89" fill="hold">
                            <p:stCondLst>
                              <p:cond delay="3000"/>
                            </p:stCondLst>
                            <p:childTnLst>
                              <p:par>
                                <p:cTn id="90" presetID="1" presetClass="entr" presetSubtype="0" fill="hold" nodeType="afterEffect">
                                  <p:stCondLst>
                                    <p:cond delay="500"/>
                                  </p:stCondLst>
                                  <p:childTnLst>
                                    <p:set>
                                      <p:cBhvr>
                                        <p:cTn id="91" dur="1" fill="hold">
                                          <p:stCondLst>
                                            <p:cond delay="0"/>
                                          </p:stCondLst>
                                        </p:cTn>
                                        <p:tgtEl>
                                          <p:spTgt spid="45"/>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26" presetClass="entr" presetSubtype="0" fill="hold" nodeType="click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wipe(down)">
                                      <p:cBhvr>
                                        <p:cTn id="96" dur="580">
                                          <p:stCondLst>
                                            <p:cond delay="0"/>
                                          </p:stCondLst>
                                        </p:cTn>
                                        <p:tgtEl>
                                          <p:spTgt spid="32"/>
                                        </p:tgtEl>
                                      </p:cBhvr>
                                    </p:animEffect>
                                    <p:anim calcmode="lin" valueType="num">
                                      <p:cBhvr>
                                        <p:cTn id="97" dur="1822" tmFilter="0,0; 0.14,0.36; 0.43,0.73; 0.71,0.91; 1.0,1.0">
                                          <p:stCondLst>
                                            <p:cond delay="0"/>
                                          </p:stCondLst>
                                        </p:cTn>
                                        <p:tgtEl>
                                          <p:spTgt spid="32"/>
                                        </p:tgtEl>
                                        <p:attrNameLst>
                                          <p:attrName>ppt_x</p:attrName>
                                        </p:attrNameLst>
                                      </p:cBhvr>
                                      <p:tavLst>
                                        <p:tav tm="0">
                                          <p:val>
                                            <p:strVal val="#ppt_x-0.25"/>
                                          </p:val>
                                        </p:tav>
                                        <p:tav tm="100000">
                                          <p:val>
                                            <p:strVal val="#ppt_x"/>
                                          </p:val>
                                        </p:tav>
                                      </p:tavLst>
                                    </p:anim>
                                    <p:anim calcmode="lin" valueType="num">
                                      <p:cBhvr>
                                        <p:cTn id="98" dur="664" tmFilter="0.0,0.0; 0.25,0.07; 0.50,0.2; 0.75,0.467; 1.0,1.0">
                                          <p:stCondLst>
                                            <p:cond delay="0"/>
                                          </p:stCondLst>
                                        </p:cTn>
                                        <p:tgtEl>
                                          <p:spTgt spid="32"/>
                                        </p:tgtEl>
                                        <p:attrNameLst>
                                          <p:attrName>ppt_y</p:attrName>
                                        </p:attrNameLst>
                                      </p:cBhvr>
                                      <p:tavLst>
                                        <p:tav tm="0" fmla="#ppt_y-sin(pi*$)/3">
                                          <p:val>
                                            <p:fltVal val="0.5"/>
                                          </p:val>
                                        </p:tav>
                                        <p:tav tm="100000">
                                          <p:val>
                                            <p:fltVal val="1"/>
                                          </p:val>
                                        </p:tav>
                                      </p:tavLst>
                                    </p:anim>
                                    <p:anim calcmode="lin" valueType="num">
                                      <p:cBhvr>
                                        <p:cTn id="99" dur="664" tmFilter="0, 0; 0.125,0.2665; 0.25,0.4; 0.375,0.465; 0.5,0.5;  0.625,0.535; 0.75,0.6; 0.875,0.7335; 1,1">
                                          <p:stCondLst>
                                            <p:cond delay="664"/>
                                          </p:stCondLst>
                                        </p:cTn>
                                        <p:tgtEl>
                                          <p:spTgt spid="32"/>
                                        </p:tgtEl>
                                        <p:attrNameLst>
                                          <p:attrName>ppt_y</p:attrName>
                                        </p:attrNameLst>
                                      </p:cBhvr>
                                      <p:tavLst>
                                        <p:tav tm="0" fmla="#ppt_y-sin(pi*$)/9">
                                          <p:val>
                                            <p:fltVal val="0"/>
                                          </p:val>
                                        </p:tav>
                                        <p:tav tm="100000">
                                          <p:val>
                                            <p:fltVal val="1"/>
                                          </p:val>
                                        </p:tav>
                                      </p:tavLst>
                                    </p:anim>
                                    <p:anim calcmode="lin" valueType="num">
                                      <p:cBhvr>
                                        <p:cTn id="100" dur="332" tmFilter="0, 0; 0.125,0.2665; 0.25,0.4; 0.375,0.465; 0.5,0.5;  0.625,0.535; 0.75,0.6; 0.875,0.7335; 1,1">
                                          <p:stCondLst>
                                            <p:cond delay="1324"/>
                                          </p:stCondLst>
                                        </p:cTn>
                                        <p:tgtEl>
                                          <p:spTgt spid="32"/>
                                        </p:tgtEl>
                                        <p:attrNameLst>
                                          <p:attrName>ppt_y</p:attrName>
                                        </p:attrNameLst>
                                      </p:cBhvr>
                                      <p:tavLst>
                                        <p:tav tm="0" fmla="#ppt_y-sin(pi*$)/27">
                                          <p:val>
                                            <p:fltVal val="0"/>
                                          </p:val>
                                        </p:tav>
                                        <p:tav tm="100000">
                                          <p:val>
                                            <p:fltVal val="1"/>
                                          </p:val>
                                        </p:tav>
                                      </p:tavLst>
                                    </p:anim>
                                    <p:anim calcmode="lin" valueType="num">
                                      <p:cBhvr>
                                        <p:cTn id="101" dur="164" tmFilter="0, 0; 0.125,0.2665; 0.25,0.4; 0.375,0.465; 0.5,0.5;  0.625,0.535; 0.75,0.6; 0.875,0.7335; 1,1">
                                          <p:stCondLst>
                                            <p:cond delay="1656"/>
                                          </p:stCondLst>
                                        </p:cTn>
                                        <p:tgtEl>
                                          <p:spTgt spid="32"/>
                                        </p:tgtEl>
                                        <p:attrNameLst>
                                          <p:attrName>ppt_y</p:attrName>
                                        </p:attrNameLst>
                                      </p:cBhvr>
                                      <p:tavLst>
                                        <p:tav tm="0" fmla="#ppt_y-sin(pi*$)/81">
                                          <p:val>
                                            <p:fltVal val="0"/>
                                          </p:val>
                                        </p:tav>
                                        <p:tav tm="100000">
                                          <p:val>
                                            <p:fltVal val="1"/>
                                          </p:val>
                                        </p:tav>
                                      </p:tavLst>
                                    </p:anim>
                                    <p:animScale>
                                      <p:cBhvr>
                                        <p:cTn id="102" dur="26">
                                          <p:stCondLst>
                                            <p:cond delay="650"/>
                                          </p:stCondLst>
                                        </p:cTn>
                                        <p:tgtEl>
                                          <p:spTgt spid="32"/>
                                        </p:tgtEl>
                                      </p:cBhvr>
                                      <p:to x="100000" y="60000"/>
                                    </p:animScale>
                                    <p:animScale>
                                      <p:cBhvr>
                                        <p:cTn id="103" dur="166" decel="50000">
                                          <p:stCondLst>
                                            <p:cond delay="676"/>
                                          </p:stCondLst>
                                        </p:cTn>
                                        <p:tgtEl>
                                          <p:spTgt spid="32"/>
                                        </p:tgtEl>
                                      </p:cBhvr>
                                      <p:to x="100000" y="100000"/>
                                    </p:animScale>
                                    <p:animScale>
                                      <p:cBhvr>
                                        <p:cTn id="104" dur="26">
                                          <p:stCondLst>
                                            <p:cond delay="1312"/>
                                          </p:stCondLst>
                                        </p:cTn>
                                        <p:tgtEl>
                                          <p:spTgt spid="32"/>
                                        </p:tgtEl>
                                      </p:cBhvr>
                                      <p:to x="100000" y="80000"/>
                                    </p:animScale>
                                    <p:animScale>
                                      <p:cBhvr>
                                        <p:cTn id="105" dur="166" decel="50000">
                                          <p:stCondLst>
                                            <p:cond delay="1338"/>
                                          </p:stCondLst>
                                        </p:cTn>
                                        <p:tgtEl>
                                          <p:spTgt spid="32"/>
                                        </p:tgtEl>
                                      </p:cBhvr>
                                      <p:to x="100000" y="100000"/>
                                    </p:animScale>
                                    <p:animScale>
                                      <p:cBhvr>
                                        <p:cTn id="106" dur="26">
                                          <p:stCondLst>
                                            <p:cond delay="1642"/>
                                          </p:stCondLst>
                                        </p:cTn>
                                        <p:tgtEl>
                                          <p:spTgt spid="32"/>
                                        </p:tgtEl>
                                      </p:cBhvr>
                                      <p:to x="100000" y="90000"/>
                                    </p:animScale>
                                    <p:animScale>
                                      <p:cBhvr>
                                        <p:cTn id="107" dur="166" decel="50000">
                                          <p:stCondLst>
                                            <p:cond delay="1668"/>
                                          </p:stCondLst>
                                        </p:cTn>
                                        <p:tgtEl>
                                          <p:spTgt spid="32"/>
                                        </p:tgtEl>
                                      </p:cBhvr>
                                      <p:to x="100000" y="100000"/>
                                    </p:animScale>
                                    <p:animScale>
                                      <p:cBhvr>
                                        <p:cTn id="108" dur="26">
                                          <p:stCondLst>
                                            <p:cond delay="1808"/>
                                          </p:stCondLst>
                                        </p:cTn>
                                        <p:tgtEl>
                                          <p:spTgt spid="32"/>
                                        </p:tgtEl>
                                      </p:cBhvr>
                                      <p:to x="100000" y="95000"/>
                                    </p:animScale>
                                    <p:animScale>
                                      <p:cBhvr>
                                        <p:cTn id="109" dur="166" decel="50000">
                                          <p:stCondLst>
                                            <p:cond delay="1834"/>
                                          </p:stCondLst>
                                        </p:cTn>
                                        <p:tgtEl>
                                          <p:spTgt spid="32"/>
                                        </p:tgtEl>
                                      </p:cBhvr>
                                      <p:to x="100000" y="100000"/>
                                    </p:animScale>
                                  </p:childTnLst>
                                </p:cTn>
                              </p:par>
                            </p:childTnLst>
                          </p:cTn>
                        </p:par>
                        <p:par>
                          <p:cTn id="110" fill="hold">
                            <p:stCondLst>
                              <p:cond delay="2000"/>
                            </p:stCondLst>
                            <p:childTnLst>
                              <p:par>
                                <p:cTn id="111" presetID="1" presetClass="entr" presetSubtype="0" fill="hold" nodeType="afterEffect">
                                  <p:stCondLst>
                                    <p:cond delay="0"/>
                                  </p:stCondLst>
                                  <p:childTnLst>
                                    <p:set>
                                      <p:cBhvr>
                                        <p:cTn id="112" dur="1" fill="hold">
                                          <p:stCondLst>
                                            <p:cond delay="0"/>
                                          </p:stCondLst>
                                        </p:cTn>
                                        <p:tgtEl>
                                          <p:spTgt spid="59"/>
                                        </p:tgtEl>
                                        <p:attrNameLst>
                                          <p:attrName>style.visibility</p:attrName>
                                        </p:attrNameLst>
                                      </p:cBhvr>
                                      <p:to>
                                        <p:strVal val="visible"/>
                                      </p:to>
                                    </p:set>
                                  </p:childTnLst>
                                </p:cTn>
                              </p:par>
                            </p:childTnLst>
                          </p:cTn>
                        </p:par>
                        <p:par>
                          <p:cTn id="113" fill="hold">
                            <p:stCondLst>
                              <p:cond delay="2000"/>
                            </p:stCondLst>
                            <p:childTnLst>
                              <p:par>
                                <p:cTn id="114" presetID="1" presetClass="entr" presetSubtype="0" fill="hold" nodeType="afterEffect">
                                  <p:stCondLst>
                                    <p:cond delay="0"/>
                                  </p:stCondLst>
                                  <p:childTnLst>
                                    <p:set>
                                      <p:cBhvr>
                                        <p:cTn id="115" dur="1" fill="hold">
                                          <p:stCondLst>
                                            <p:cond delay="0"/>
                                          </p:stCondLst>
                                        </p:cTn>
                                        <p:tgtEl>
                                          <p:spTgt spid="56"/>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51"/>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49"/>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nodeType="clickEffect">
                                  <p:stCondLst>
                                    <p:cond delay="0"/>
                                  </p:stCondLst>
                                  <p:childTnLst>
                                    <p:set>
                                      <p:cBhvr>
                                        <p:cTn id="125" dur="1" fill="hold">
                                          <p:stCondLst>
                                            <p:cond delay="0"/>
                                          </p:stCondLst>
                                        </p:cTn>
                                        <p:tgtEl>
                                          <p:spTgt spid="42"/>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25"/>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18"/>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nodeType="clickEffect">
                                  <p:stCondLst>
                                    <p:cond delay="0"/>
                                  </p:stCondLst>
                                  <p:childTnLst>
                                    <p:set>
                                      <p:cBhvr>
                                        <p:cTn id="133" dur="1" fill="hold">
                                          <p:stCondLst>
                                            <p:cond delay="0"/>
                                          </p:stCondLst>
                                        </p:cTn>
                                        <p:tgtEl>
                                          <p:spTgt spid="43"/>
                                        </p:tgtEl>
                                        <p:attrNameLst>
                                          <p:attrName>style.visibility</p:attrName>
                                        </p:attrNameLst>
                                      </p:cBhvr>
                                      <p:to>
                                        <p:strVal val="visible"/>
                                      </p:to>
                                    </p:set>
                                  </p:childTnLst>
                                </p:cTn>
                              </p:par>
                              <p:par>
                                <p:cTn id="134" presetID="1" presetClass="entr" presetSubtype="0" fill="hold" grpId="0" nodeType="withEffect">
                                  <p:stCondLst>
                                    <p:cond delay="0"/>
                                  </p:stCondLst>
                                  <p:childTnLst>
                                    <p:set>
                                      <p:cBhvr>
                                        <p:cTn id="135" dur="1" fill="hold">
                                          <p:stCondLst>
                                            <p:cond delay="0"/>
                                          </p:stCondLst>
                                        </p:cTn>
                                        <p:tgtEl>
                                          <p:spTgt spid="26"/>
                                        </p:tgtEl>
                                        <p:attrNameLst>
                                          <p:attrName>style.visibility</p:attrName>
                                        </p:attrNameLst>
                                      </p:cBhvr>
                                      <p:to>
                                        <p:strVal val="visible"/>
                                      </p:to>
                                    </p:set>
                                  </p:childTnLst>
                                </p:cTn>
                              </p:par>
                              <p:par>
                                <p:cTn id="136" presetID="1" presetClass="entr" presetSubtype="0" fill="hold" grpId="0" nodeType="withEffect">
                                  <p:stCondLst>
                                    <p:cond delay="0"/>
                                  </p:stCondLst>
                                  <p:childTnLst>
                                    <p:set>
                                      <p:cBhvr>
                                        <p:cTn id="137" dur="1" fill="hold">
                                          <p:stCondLst>
                                            <p:cond delay="0"/>
                                          </p:stCondLst>
                                        </p:cTn>
                                        <p:tgtEl>
                                          <p:spTgt spid="17"/>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26" presetClass="entr" presetSubtype="0" fill="hold" nodeType="clickEffect">
                                  <p:stCondLst>
                                    <p:cond delay="0"/>
                                  </p:stCondLst>
                                  <p:childTnLst>
                                    <p:set>
                                      <p:cBhvr>
                                        <p:cTn id="141" dur="1" fill="hold">
                                          <p:stCondLst>
                                            <p:cond delay="0"/>
                                          </p:stCondLst>
                                        </p:cTn>
                                        <p:tgtEl>
                                          <p:spTgt spid="31"/>
                                        </p:tgtEl>
                                        <p:attrNameLst>
                                          <p:attrName>style.visibility</p:attrName>
                                        </p:attrNameLst>
                                      </p:cBhvr>
                                      <p:to>
                                        <p:strVal val="visible"/>
                                      </p:to>
                                    </p:set>
                                    <p:animEffect transition="in" filter="wipe(down)">
                                      <p:cBhvr>
                                        <p:cTn id="142" dur="580">
                                          <p:stCondLst>
                                            <p:cond delay="0"/>
                                          </p:stCondLst>
                                        </p:cTn>
                                        <p:tgtEl>
                                          <p:spTgt spid="31"/>
                                        </p:tgtEl>
                                      </p:cBhvr>
                                    </p:animEffect>
                                    <p:anim calcmode="lin" valueType="num">
                                      <p:cBhvr>
                                        <p:cTn id="143" dur="1822"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144" dur="664"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145" dur="664" tmFilter="0, 0; 0.125,0.2665; 0.25,0.4; 0.375,0.465; 0.5,0.5;  0.625,0.535; 0.75,0.6; 0.875,0.7335; 1,1">
                                          <p:stCondLst>
                                            <p:cond delay="664"/>
                                          </p:stCondLst>
                                        </p:cTn>
                                        <p:tgtEl>
                                          <p:spTgt spid="31"/>
                                        </p:tgtEl>
                                        <p:attrNameLst>
                                          <p:attrName>ppt_y</p:attrName>
                                        </p:attrNameLst>
                                      </p:cBhvr>
                                      <p:tavLst>
                                        <p:tav tm="0" fmla="#ppt_y-sin(pi*$)/9">
                                          <p:val>
                                            <p:fltVal val="0"/>
                                          </p:val>
                                        </p:tav>
                                        <p:tav tm="100000">
                                          <p:val>
                                            <p:fltVal val="1"/>
                                          </p:val>
                                        </p:tav>
                                      </p:tavLst>
                                    </p:anim>
                                    <p:anim calcmode="lin" valueType="num">
                                      <p:cBhvr>
                                        <p:cTn id="146" dur="332" tmFilter="0, 0; 0.125,0.2665; 0.25,0.4; 0.375,0.465; 0.5,0.5;  0.625,0.535; 0.75,0.6; 0.875,0.7335; 1,1">
                                          <p:stCondLst>
                                            <p:cond delay="1324"/>
                                          </p:stCondLst>
                                        </p:cTn>
                                        <p:tgtEl>
                                          <p:spTgt spid="31"/>
                                        </p:tgtEl>
                                        <p:attrNameLst>
                                          <p:attrName>ppt_y</p:attrName>
                                        </p:attrNameLst>
                                      </p:cBhvr>
                                      <p:tavLst>
                                        <p:tav tm="0" fmla="#ppt_y-sin(pi*$)/27">
                                          <p:val>
                                            <p:fltVal val="0"/>
                                          </p:val>
                                        </p:tav>
                                        <p:tav tm="100000">
                                          <p:val>
                                            <p:fltVal val="1"/>
                                          </p:val>
                                        </p:tav>
                                      </p:tavLst>
                                    </p:anim>
                                    <p:anim calcmode="lin" valueType="num">
                                      <p:cBhvr>
                                        <p:cTn id="147" dur="164" tmFilter="0, 0; 0.125,0.2665; 0.25,0.4; 0.375,0.465; 0.5,0.5;  0.625,0.535; 0.75,0.6; 0.875,0.7335; 1,1">
                                          <p:stCondLst>
                                            <p:cond delay="1656"/>
                                          </p:stCondLst>
                                        </p:cTn>
                                        <p:tgtEl>
                                          <p:spTgt spid="31"/>
                                        </p:tgtEl>
                                        <p:attrNameLst>
                                          <p:attrName>ppt_y</p:attrName>
                                        </p:attrNameLst>
                                      </p:cBhvr>
                                      <p:tavLst>
                                        <p:tav tm="0" fmla="#ppt_y-sin(pi*$)/81">
                                          <p:val>
                                            <p:fltVal val="0"/>
                                          </p:val>
                                        </p:tav>
                                        <p:tav tm="100000">
                                          <p:val>
                                            <p:fltVal val="1"/>
                                          </p:val>
                                        </p:tav>
                                      </p:tavLst>
                                    </p:anim>
                                    <p:animScale>
                                      <p:cBhvr>
                                        <p:cTn id="148" dur="26">
                                          <p:stCondLst>
                                            <p:cond delay="650"/>
                                          </p:stCondLst>
                                        </p:cTn>
                                        <p:tgtEl>
                                          <p:spTgt spid="31"/>
                                        </p:tgtEl>
                                      </p:cBhvr>
                                      <p:to x="100000" y="60000"/>
                                    </p:animScale>
                                    <p:animScale>
                                      <p:cBhvr>
                                        <p:cTn id="149" dur="166" decel="50000">
                                          <p:stCondLst>
                                            <p:cond delay="676"/>
                                          </p:stCondLst>
                                        </p:cTn>
                                        <p:tgtEl>
                                          <p:spTgt spid="31"/>
                                        </p:tgtEl>
                                      </p:cBhvr>
                                      <p:to x="100000" y="100000"/>
                                    </p:animScale>
                                    <p:animScale>
                                      <p:cBhvr>
                                        <p:cTn id="150" dur="26">
                                          <p:stCondLst>
                                            <p:cond delay="1312"/>
                                          </p:stCondLst>
                                        </p:cTn>
                                        <p:tgtEl>
                                          <p:spTgt spid="31"/>
                                        </p:tgtEl>
                                      </p:cBhvr>
                                      <p:to x="100000" y="80000"/>
                                    </p:animScale>
                                    <p:animScale>
                                      <p:cBhvr>
                                        <p:cTn id="151" dur="166" decel="50000">
                                          <p:stCondLst>
                                            <p:cond delay="1338"/>
                                          </p:stCondLst>
                                        </p:cTn>
                                        <p:tgtEl>
                                          <p:spTgt spid="31"/>
                                        </p:tgtEl>
                                      </p:cBhvr>
                                      <p:to x="100000" y="100000"/>
                                    </p:animScale>
                                    <p:animScale>
                                      <p:cBhvr>
                                        <p:cTn id="152" dur="26">
                                          <p:stCondLst>
                                            <p:cond delay="1642"/>
                                          </p:stCondLst>
                                        </p:cTn>
                                        <p:tgtEl>
                                          <p:spTgt spid="31"/>
                                        </p:tgtEl>
                                      </p:cBhvr>
                                      <p:to x="100000" y="90000"/>
                                    </p:animScale>
                                    <p:animScale>
                                      <p:cBhvr>
                                        <p:cTn id="153" dur="166" decel="50000">
                                          <p:stCondLst>
                                            <p:cond delay="1668"/>
                                          </p:stCondLst>
                                        </p:cTn>
                                        <p:tgtEl>
                                          <p:spTgt spid="31"/>
                                        </p:tgtEl>
                                      </p:cBhvr>
                                      <p:to x="100000" y="100000"/>
                                    </p:animScale>
                                    <p:animScale>
                                      <p:cBhvr>
                                        <p:cTn id="154" dur="26">
                                          <p:stCondLst>
                                            <p:cond delay="1808"/>
                                          </p:stCondLst>
                                        </p:cTn>
                                        <p:tgtEl>
                                          <p:spTgt spid="31"/>
                                        </p:tgtEl>
                                      </p:cBhvr>
                                      <p:to x="100000" y="95000"/>
                                    </p:animScale>
                                    <p:animScale>
                                      <p:cBhvr>
                                        <p:cTn id="155" dur="166" decel="50000">
                                          <p:stCondLst>
                                            <p:cond delay="1834"/>
                                          </p:stCondLst>
                                        </p:cTn>
                                        <p:tgtEl>
                                          <p:spTgt spid="31"/>
                                        </p:tgtEl>
                                      </p:cBhvr>
                                      <p:to x="100000" y="100000"/>
                                    </p:animScale>
                                  </p:childTnLst>
                                </p:cTn>
                              </p:par>
                            </p:childTnLst>
                          </p:cTn>
                        </p:par>
                        <p:par>
                          <p:cTn id="156" fill="hold">
                            <p:stCondLst>
                              <p:cond delay="2000"/>
                            </p:stCondLst>
                            <p:childTnLst>
                              <p:par>
                                <p:cTn id="157" presetID="1" presetClass="entr" presetSubtype="0" fill="hold" nodeType="afterEffect">
                                  <p:stCondLst>
                                    <p:cond delay="500"/>
                                  </p:stCondLst>
                                  <p:childTnLst>
                                    <p:set>
                                      <p:cBhvr>
                                        <p:cTn id="158" dur="1" fill="hold">
                                          <p:stCondLst>
                                            <p:cond delay="0"/>
                                          </p:stCondLst>
                                        </p:cTn>
                                        <p:tgtEl>
                                          <p:spTgt spid="52"/>
                                        </p:tgtEl>
                                        <p:attrNameLst>
                                          <p:attrName>style.visibility</p:attrName>
                                        </p:attrNameLst>
                                      </p:cBhvr>
                                      <p:to>
                                        <p:strVal val="visible"/>
                                      </p:to>
                                    </p:set>
                                  </p:childTnLst>
                                </p:cTn>
                              </p:par>
                            </p:childTnLst>
                          </p:cTn>
                        </p:par>
                        <p:par>
                          <p:cTn id="159" fill="hold">
                            <p:stCondLst>
                              <p:cond delay="2500"/>
                            </p:stCondLst>
                            <p:childTnLst>
                              <p:par>
                                <p:cTn id="160" presetID="1" presetClass="entr" presetSubtype="0" fill="hold" nodeType="afterEffect">
                                  <p:stCondLst>
                                    <p:cond delay="500"/>
                                  </p:stCondLst>
                                  <p:childTnLst>
                                    <p:set>
                                      <p:cBhvr>
                                        <p:cTn id="161" dur="1" fill="hold">
                                          <p:stCondLst>
                                            <p:cond delay="0"/>
                                          </p:stCondLst>
                                        </p:cTn>
                                        <p:tgtEl>
                                          <p:spTgt spid="53"/>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presetID="26" presetClass="entr" presetSubtype="0" fill="hold" nodeType="clickEffect">
                                  <p:stCondLst>
                                    <p:cond delay="0"/>
                                  </p:stCondLst>
                                  <p:childTnLst>
                                    <p:set>
                                      <p:cBhvr>
                                        <p:cTn id="165" dur="1" fill="hold">
                                          <p:stCondLst>
                                            <p:cond delay="0"/>
                                          </p:stCondLst>
                                        </p:cTn>
                                        <p:tgtEl>
                                          <p:spTgt spid="34"/>
                                        </p:tgtEl>
                                        <p:attrNameLst>
                                          <p:attrName>style.visibility</p:attrName>
                                        </p:attrNameLst>
                                      </p:cBhvr>
                                      <p:to>
                                        <p:strVal val="visible"/>
                                      </p:to>
                                    </p:set>
                                    <p:animEffect transition="in" filter="wipe(down)">
                                      <p:cBhvr>
                                        <p:cTn id="166" dur="580">
                                          <p:stCondLst>
                                            <p:cond delay="0"/>
                                          </p:stCondLst>
                                        </p:cTn>
                                        <p:tgtEl>
                                          <p:spTgt spid="34"/>
                                        </p:tgtEl>
                                      </p:cBhvr>
                                    </p:animEffect>
                                    <p:anim calcmode="lin" valueType="num">
                                      <p:cBhvr>
                                        <p:cTn id="167" dur="1822" tmFilter="0,0; 0.14,0.36; 0.43,0.73; 0.71,0.91; 1.0,1.0">
                                          <p:stCondLst>
                                            <p:cond delay="0"/>
                                          </p:stCondLst>
                                        </p:cTn>
                                        <p:tgtEl>
                                          <p:spTgt spid="34"/>
                                        </p:tgtEl>
                                        <p:attrNameLst>
                                          <p:attrName>ppt_x</p:attrName>
                                        </p:attrNameLst>
                                      </p:cBhvr>
                                      <p:tavLst>
                                        <p:tav tm="0">
                                          <p:val>
                                            <p:strVal val="#ppt_x-0.25"/>
                                          </p:val>
                                        </p:tav>
                                        <p:tav tm="100000">
                                          <p:val>
                                            <p:strVal val="#ppt_x"/>
                                          </p:val>
                                        </p:tav>
                                      </p:tavLst>
                                    </p:anim>
                                    <p:anim calcmode="lin" valueType="num">
                                      <p:cBhvr>
                                        <p:cTn id="168" dur="664" tmFilter="0.0,0.0; 0.25,0.07; 0.50,0.2; 0.75,0.467; 1.0,1.0">
                                          <p:stCondLst>
                                            <p:cond delay="0"/>
                                          </p:stCondLst>
                                        </p:cTn>
                                        <p:tgtEl>
                                          <p:spTgt spid="34"/>
                                        </p:tgtEl>
                                        <p:attrNameLst>
                                          <p:attrName>ppt_y</p:attrName>
                                        </p:attrNameLst>
                                      </p:cBhvr>
                                      <p:tavLst>
                                        <p:tav tm="0" fmla="#ppt_y-sin(pi*$)/3">
                                          <p:val>
                                            <p:fltVal val="0.5"/>
                                          </p:val>
                                        </p:tav>
                                        <p:tav tm="100000">
                                          <p:val>
                                            <p:fltVal val="1"/>
                                          </p:val>
                                        </p:tav>
                                      </p:tavLst>
                                    </p:anim>
                                    <p:anim calcmode="lin" valueType="num">
                                      <p:cBhvr>
                                        <p:cTn id="169" dur="664" tmFilter="0, 0; 0.125,0.2665; 0.25,0.4; 0.375,0.465; 0.5,0.5;  0.625,0.535; 0.75,0.6; 0.875,0.7335; 1,1">
                                          <p:stCondLst>
                                            <p:cond delay="664"/>
                                          </p:stCondLst>
                                        </p:cTn>
                                        <p:tgtEl>
                                          <p:spTgt spid="34"/>
                                        </p:tgtEl>
                                        <p:attrNameLst>
                                          <p:attrName>ppt_y</p:attrName>
                                        </p:attrNameLst>
                                      </p:cBhvr>
                                      <p:tavLst>
                                        <p:tav tm="0" fmla="#ppt_y-sin(pi*$)/9">
                                          <p:val>
                                            <p:fltVal val="0"/>
                                          </p:val>
                                        </p:tav>
                                        <p:tav tm="100000">
                                          <p:val>
                                            <p:fltVal val="1"/>
                                          </p:val>
                                        </p:tav>
                                      </p:tavLst>
                                    </p:anim>
                                    <p:anim calcmode="lin" valueType="num">
                                      <p:cBhvr>
                                        <p:cTn id="170" dur="332" tmFilter="0, 0; 0.125,0.2665; 0.25,0.4; 0.375,0.465; 0.5,0.5;  0.625,0.535; 0.75,0.6; 0.875,0.7335; 1,1">
                                          <p:stCondLst>
                                            <p:cond delay="1324"/>
                                          </p:stCondLst>
                                        </p:cTn>
                                        <p:tgtEl>
                                          <p:spTgt spid="34"/>
                                        </p:tgtEl>
                                        <p:attrNameLst>
                                          <p:attrName>ppt_y</p:attrName>
                                        </p:attrNameLst>
                                      </p:cBhvr>
                                      <p:tavLst>
                                        <p:tav tm="0" fmla="#ppt_y-sin(pi*$)/27">
                                          <p:val>
                                            <p:fltVal val="0"/>
                                          </p:val>
                                        </p:tav>
                                        <p:tav tm="100000">
                                          <p:val>
                                            <p:fltVal val="1"/>
                                          </p:val>
                                        </p:tav>
                                      </p:tavLst>
                                    </p:anim>
                                    <p:anim calcmode="lin" valueType="num">
                                      <p:cBhvr>
                                        <p:cTn id="171" dur="164" tmFilter="0, 0; 0.125,0.2665; 0.25,0.4; 0.375,0.465; 0.5,0.5;  0.625,0.535; 0.75,0.6; 0.875,0.7335; 1,1">
                                          <p:stCondLst>
                                            <p:cond delay="1656"/>
                                          </p:stCondLst>
                                        </p:cTn>
                                        <p:tgtEl>
                                          <p:spTgt spid="34"/>
                                        </p:tgtEl>
                                        <p:attrNameLst>
                                          <p:attrName>ppt_y</p:attrName>
                                        </p:attrNameLst>
                                      </p:cBhvr>
                                      <p:tavLst>
                                        <p:tav tm="0" fmla="#ppt_y-sin(pi*$)/81">
                                          <p:val>
                                            <p:fltVal val="0"/>
                                          </p:val>
                                        </p:tav>
                                        <p:tav tm="100000">
                                          <p:val>
                                            <p:fltVal val="1"/>
                                          </p:val>
                                        </p:tav>
                                      </p:tavLst>
                                    </p:anim>
                                    <p:animScale>
                                      <p:cBhvr>
                                        <p:cTn id="172" dur="26">
                                          <p:stCondLst>
                                            <p:cond delay="650"/>
                                          </p:stCondLst>
                                        </p:cTn>
                                        <p:tgtEl>
                                          <p:spTgt spid="34"/>
                                        </p:tgtEl>
                                      </p:cBhvr>
                                      <p:to x="100000" y="60000"/>
                                    </p:animScale>
                                    <p:animScale>
                                      <p:cBhvr>
                                        <p:cTn id="173" dur="166" decel="50000">
                                          <p:stCondLst>
                                            <p:cond delay="676"/>
                                          </p:stCondLst>
                                        </p:cTn>
                                        <p:tgtEl>
                                          <p:spTgt spid="34"/>
                                        </p:tgtEl>
                                      </p:cBhvr>
                                      <p:to x="100000" y="100000"/>
                                    </p:animScale>
                                    <p:animScale>
                                      <p:cBhvr>
                                        <p:cTn id="174" dur="26">
                                          <p:stCondLst>
                                            <p:cond delay="1312"/>
                                          </p:stCondLst>
                                        </p:cTn>
                                        <p:tgtEl>
                                          <p:spTgt spid="34"/>
                                        </p:tgtEl>
                                      </p:cBhvr>
                                      <p:to x="100000" y="80000"/>
                                    </p:animScale>
                                    <p:animScale>
                                      <p:cBhvr>
                                        <p:cTn id="175" dur="166" decel="50000">
                                          <p:stCondLst>
                                            <p:cond delay="1338"/>
                                          </p:stCondLst>
                                        </p:cTn>
                                        <p:tgtEl>
                                          <p:spTgt spid="34"/>
                                        </p:tgtEl>
                                      </p:cBhvr>
                                      <p:to x="100000" y="100000"/>
                                    </p:animScale>
                                    <p:animScale>
                                      <p:cBhvr>
                                        <p:cTn id="176" dur="26">
                                          <p:stCondLst>
                                            <p:cond delay="1642"/>
                                          </p:stCondLst>
                                        </p:cTn>
                                        <p:tgtEl>
                                          <p:spTgt spid="34"/>
                                        </p:tgtEl>
                                      </p:cBhvr>
                                      <p:to x="100000" y="90000"/>
                                    </p:animScale>
                                    <p:animScale>
                                      <p:cBhvr>
                                        <p:cTn id="177" dur="166" decel="50000">
                                          <p:stCondLst>
                                            <p:cond delay="1668"/>
                                          </p:stCondLst>
                                        </p:cTn>
                                        <p:tgtEl>
                                          <p:spTgt spid="34"/>
                                        </p:tgtEl>
                                      </p:cBhvr>
                                      <p:to x="100000" y="100000"/>
                                    </p:animScale>
                                    <p:animScale>
                                      <p:cBhvr>
                                        <p:cTn id="178" dur="26">
                                          <p:stCondLst>
                                            <p:cond delay="1808"/>
                                          </p:stCondLst>
                                        </p:cTn>
                                        <p:tgtEl>
                                          <p:spTgt spid="34"/>
                                        </p:tgtEl>
                                      </p:cBhvr>
                                      <p:to x="100000" y="95000"/>
                                    </p:animScale>
                                    <p:animScale>
                                      <p:cBhvr>
                                        <p:cTn id="179" dur="166" decel="50000">
                                          <p:stCondLst>
                                            <p:cond delay="1834"/>
                                          </p:stCondLst>
                                        </p:cTn>
                                        <p:tgtEl>
                                          <p:spTgt spid="34"/>
                                        </p:tgtEl>
                                      </p:cBhvr>
                                      <p:to x="100000" y="100000"/>
                                    </p:animScale>
                                  </p:childTnLst>
                                </p:cTn>
                              </p:par>
                            </p:childTnLst>
                          </p:cTn>
                        </p:par>
                        <p:par>
                          <p:cTn id="180" fill="hold">
                            <p:stCondLst>
                              <p:cond delay="2000"/>
                            </p:stCondLst>
                            <p:childTnLst>
                              <p:par>
                                <p:cTn id="181" presetID="1" presetClass="entr" presetSubtype="0" fill="hold" nodeType="afterEffect">
                                  <p:stCondLst>
                                    <p:cond delay="0"/>
                                  </p:stCondLst>
                                  <p:childTnLst>
                                    <p:set>
                                      <p:cBhvr>
                                        <p:cTn id="182" dur="1" fill="hold">
                                          <p:stCondLst>
                                            <p:cond delay="0"/>
                                          </p:stCondLst>
                                        </p:cTn>
                                        <p:tgtEl>
                                          <p:spTgt spid="60"/>
                                        </p:tgtEl>
                                        <p:attrNameLst>
                                          <p:attrName>style.visibility</p:attrName>
                                        </p:attrNameLst>
                                      </p:cBhvr>
                                      <p:to>
                                        <p:strVal val="visible"/>
                                      </p:to>
                                    </p:set>
                                  </p:childTnLst>
                                </p:cTn>
                              </p:par>
                            </p:childTnLst>
                          </p:cTn>
                        </p:par>
                        <p:par>
                          <p:cTn id="183" fill="hold">
                            <p:stCondLst>
                              <p:cond delay="2000"/>
                            </p:stCondLst>
                            <p:childTnLst>
                              <p:par>
                                <p:cTn id="184" presetID="1" presetClass="entr" presetSubtype="0" fill="hold" nodeType="afterEffect">
                                  <p:stCondLst>
                                    <p:cond delay="0"/>
                                  </p:stCondLst>
                                  <p:childTnLst>
                                    <p:set>
                                      <p:cBhvr>
                                        <p:cTn id="185" dur="1" fill="hold">
                                          <p:stCondLst>
                                            <p:cond delay="0"/>
                                          </p:stCondLst>
                                        </p:cTn>
                                        <p:tgtEl>
                                          <p:spTgt spid="57"/>
                                        </p:tgtEl>
                                        <p:attrNameLst>
                                          <p:attrName>style.visibility</p:attrName>
                                        </p:attrNameLst>
                                      </p:cBhvr>
                                      <p:to>
                                        <p:strVal val="visible"/>
                                      </p:to>
                                    </p:set>
                                  </p:childTnLst>
                                </p:cTn>
                              </p:par>
                            </p:childTnLst>
                          </p:cTn>
                        </p:par>
                      </p:childTnLst>
                    </p:cTn>
                  </p:par>
                  <p:par>
                    <p:cTn id="186" fill="hold">
                      <p:stCondLst>
                        <p:cond delay="indefinite"/>
                      </p:stCondLst>
                      <p:childTnLst>
                        <p:par>
                          <p:cTn id="187" fill="hold">
                            <p:stCondLst>
                              <p:cond delay="0"/>
                            </p:stCondLst>
                            <p:childTnLst>
                              <p:par>
                                <p:cTn id="188" presetID="1" presetClass="entr" presetSubtype="0" fill="hold" grpId="0" nodeType="clickEffect">
                                  <p:stCondLst>
                                    <p:cond delay="0"/>
                                  </p:stCondLst>
                                  <p:childTnLst>
                                    <p:set>
                                      <p:cBhvr>
                                        <p:cTn id="189" dur="1" fill="hold">
                                          <p:stCondLst>
                                            <p:cond delay="0"/>
                                          </p:stCondLst>
                                        </p:cTn>
                                        <p:tgtEl>
                                          <p:spTgt spid="46"/>
                                        </p:tgtEl>
                                        <p:attrNameLst>
                                          <p:attrName>style.visibility</p:attrName>
                                        </p:attrNameLst>
                                      </p:cBhvr>
                                      <p:to>
                                        <p:strVal val="visible"/>
                                      </p:to>
                                    </p:set>
                                  </p:childTnLst>
                                </p:cTn>
                              </p:par>
                              <p:par>
                                <p:cTn id="190" presetID="1" presetClass="entr" presetSubtype="0" fill="hold" grpId="0" nodeType="withEffect">
                                  <p:stCondLst>
                                    <p:cond delay="0"/>
                                  </p:stCondLst>
                                  <p:childTnLst>
                                    <p:set>
                                      <p:cBhvr>
                                        <p:cTn id="191" dur="1" fill="hold">
                                          <p:stCondLst>
                                            <p:cond delay="0"/>
                                          </p:stCondLst>
                                        </p:cTn>
                                        <p:tgtEl>
                                          <p:spTgt spid="47"/>
                                        </p:tgtEl>
                                        <p:attrNameLst>
                                          <p:attrName>style.visibility</p:attrName>
                                        </p:attrNameLst>
                                      </p:cBhvr>
                                      <p:to>
                                        <p:strVal val="visible"/>
                                      </p:to>
                                    </p:set>
                                  </p:childTnLst>
                                </p:cTn>
                              </p:par>
                            </p:childTnLst>
                          </p:cTn>
                        </p:par>
                      </p:childTnLst>
                    </p:cTn>
                  </p:par>
                  <p:par>
                    <p:cTn id="192" fill="hold">
                      <p:stCondLst>
                        <p:cond delay="indefinite"/>
                      </p:stCondLst>
                      <p:childTnLst>
                        <p:par>
                          <p:cTn id="193" fill="hold">
                            <p:stCondLst>
                              <p:cond delay="0"/>
                            </p:stCondLst>
                            <p:childTnLst>
                              <p:par>
                                <p:cTn id="194" presetID="1" presetClass="entr" presetSubtype="0" fill="hold" nodeType="clickEffect">
                                  <p:stCondLst>
                                    <p:cond delay="0"/>
                                  </p:stCondLst>
                                  <p:childTnLst>
                                    <p:set>
                                      <p:cBhvr>
                                        <p:cTn id="195" dur="1" fill="hold">
                                          <p:stCondLst>
                                            <p:cond delay="0"/>
                                          </p:stCondLst>
                                        </p:cTn>
                                        <p:tgtEl>
                                          <p:spTgt spid="38"/>
                                        </p:tgtEl>
                                        <p:attrNameLst>
                                          <p:attrName>style.visibility</p:attrName>
                                        </p:attrNameLst>
                                      </p:cBhvr>
                                      <p:to>
                                        <p:strVal val="visible"/>
                                      </p:to>
                                    </p:set>
                                  </p:childTnLst>
                                </p:cTn>
                              </p:par>
                              <p:par>
                                <p:cTn id="196" presetID="1" presetClass="entr" presetSubtype="0" fill="hold" grpId="0" nodeType="withEffect">
                                  <p:stCondLst>
                                    <p:cond delay="0"/>
                                  </p:stCondLst>
                                  <p:childTnLst>
                                    <p:set>
                                      <p:cBhvr>
                                        <p:cTn id="197" dur="1" fill="hold">
                                          <p:stCondLst>
                                            <p:cond delay="0"/>
                                          </p:stCondLst>
                                        </p:cTn>
                                        <p:tgtEl>
                                          <p:spTgt spid="27"/>
                                        </p:tgtEl>
                                        <p:attrNameLst>
                                          <p:attrName>style.visibility</p:attrName>
                                        </p:attrNameLst>
                                      </p:cBhvr>
                                      <p:to>
                                        <p:strVal val="visible"/>
                                      </p:to>
                                    </p:set>
                                  </p:childTnLst>
                                </p:cTn>
                              </p:par>
                              <p:par>
                                <p:cTn id="198" presetID="1" presetClass="entr" presetSubtype="0" fill="hold" grpId="0" nodeType="withEffect">
                                  <p:stCondLst>
                                    <p:cond delay="0"/>
                                  </p:stCondLst>
                                  <p:childTnLst>
                                    <p:set>
                                      <p:cBhvr>
                                        <p:cTn id="199" dur="1" fill="hold">
                                          <p:stCondLst>
                                            <p:cond delay="0"/>
                                          </p:stCondLst>
                                        </p:cTn>
                                        <p:tgtEl>
                                          <p:spTgt spid="16"/>
                                        </p:tgtEl>
                                        <p:attrNameLst>
                                          <p:attrName>style.visibility</p:attrName>
                                        </p:attrNameLst>
                                      </p:cBhvr>
                                      <p:to>
                                        <p:strVal val="visible"/>
                                      </p:to>
                                    </p:set>
                                  </p:childTnLst>
                                </p:cTn>
                              </p:par>
                            </p:childTnLst>
                          </p:cTn>
                        </p:par>
                      </p:childTnLst>
                    </p:cTn>
                  </p:par>
                  <p:par>
                    <p:cTn id="200" fill="hold">
                      <p:stCondLst>
                        <p:cond delay="indefinite"/>
                      </p:stCondLst>
                      <p:childTnLst>
                        <p:par>
                          <p:cTn id="201" fill="hold">
                            <p:stCondLst>
                              <p:cond delay="0"/>
                            </p:stCondLst>
                            <p:childTnLst>
                              <p:par>
                                <p:cTn id="202" presetID="26" presetClass="entr" presetSubtype="0" fill="hold" nodeType="clickEffect">
                                  <p:stCondLst>
                                    <p:cond delay="0"/>
                                  </p:stCondLst>
                                  <p:childTnLst>
                                    <p:set>
                                      <p:cBhvr>
                                        <p:cTn id="203" dur="1" fill="hold">
                                          <p:stCondLst>
                                            <p:cond delay="0"/>
                                          </p:stCondLst>
                                        </p:cTn>
                                        <p:tgtEl>
                                          <p:spTgt spid="33"/>
                                        </p:tgtEl>
                                        <p:attrNameLst>
                                          <p:attrName>style.visibility</p:attrName>
                                        </p:attrNameLst>
                                      </p:cBhvr>
                                      <p:to>
                                        <p:strVal val="visible"/>
                                      </p:to>
                                    </p:set>
                                    <p:animEffect transition="in" filter="wipe(down)">
                                      <p:cBhvr>
                                        <p:cTn id="204" dur="580">
                                          <p:stCondLst>
                                            <p:cond delay="0"/>
                                          </p:stCondLst>
                                        </p:cTn>
                                        <p:tgtEl>
                                          <p:spTgt spid="33"/>
                                        </p:tgtEl>
                                      </p:cBhvr>
                                    </p:animEffect>
                                    <p:anim calcmode="lin" valueType="num">
                                      <p:cBhvr>
                                        <p:cTn id="205" dur="1822" tmFilter="0,0; 0.14,0.36; 0.43,0.73; 0.71,0.91; 1.0,1.0">
                                          <p:stCondLst>
                                            <p:cond delay="0"/>
                                          </p:stCondLst>
                                        </p:cTn>
                                        <p:tgtEl>
                                          <p:spTgt spid="33"/>
                                        </p:tgtEl>
                                        <p:attrNameLst>
                                          <p:attrName>ppt_x</p:attrName>
                                        </p:attrNameLst>
                                      </p:cBhvr>
                                      <p:tavLst>
                                        <p:tav tm="0">
                                          <p:val>
                                            <p:strVal val="#ppt_x-0.25"/>
                                          </p:val>
                                        </p:tav>
                                        <p:tav tm="100000">
                                          <p:val>
                                            <p:strVal val="#ppt_x"/>
                                          </p:val>
                                        </p:tav>
                                      </p:tavLst>
                                    </p:anim>
                                    <p:anim calcmode="lin" valueType="num">
                                      <p:cBhvr>
                                        <p:cTn id="206" dur="664" tmFilter="0.0,0.0; 0.25,0.07; 0.50,0.2; 0.75,0.467; 1.0,1.0">
                                          <p:stCondLst>
                                            <p:cond delay="0"/>
                                          </p:stCondLst>
                                        </p:cTn>
                                        <p:tgtEl>
                                          <p:spTgt spid="33"/>
                                        </p:tgtEl>
                                        <p:attrNameLst>
                                          <p:attrName>ppt_y</p:attrName>
                                        </p:attrNameLst>
                                      </p:cBhvr>
                                      <p:tavLst>
                                        <p:tav tm="0" fmla="#ppt_y-sin(pi*$)/3">
                                          <p:val>
                                            <p:fltVal val="0.5"/>
                                          </p:val>
                                        </p:tav>
                                        <p:tav tm="100000">
                                          <p:val>
                                            <p:fltVal val="1"/>
                                          </p:val>
                                        </p:tav>
                                      </p:tavLst>
                                    </p:anim>
                                    <p:anim calcmode="lin" valueType="num">
                                      <p:cBhvr>
                                        <p:cTn id="207" dur="664" tmFilter="0, 0; 0.125,0.2665; 0.25,0.4; 0.375,0.465; 0.5,0.5;  0.625,0.535; 0.75,0.6; 0.875,0.7335; 1,1">
                                          <p:stCondLst>
                                            <p:cond delay="664"/>
                                          </p:stCondLst>
                                        </p:cTn>
                                        <p:tgtEl>
                                          <p:spTgt spid="33"/>
                                        </p:tgtEl>
                                        <p:attrNameLst>
                                          <p:attrName>ppt_y</p:attrName>
                                        </p:attrNameLst>
                                      </p:cBhvr>
                                      <p:tavLst>
                                        <p:tav tm="0" fmla="#ppt_y-sin(pi*$)/9">
                                          <p:val>
                                            <p:fltVal val="0"/>
                                          </p:val>
                                        </p:tav>
                                        <p:tav tm="100000">
                                          <p:val>
                                            <p:fltVal val="1"/>
                                          </p:val>
                                        </p:tav>
                                      </p:tavLst>
                                    </p:anim>
                                    <p:anim calcmode="lin" valueType="num">
                                      <p:cBhvr>
                                        <p:cTn id="208" dur="332" tmFilter="0, 0; 0.125,0.2665; 0.25,0.4; 0.375,0.465; 0.5,0.5;  0.625,0.535; 0.75,0.6; 0.875,0.7335; 1,1">
                                          <p:stCondLst>
                                            <p:cond delay="1324"/>
                                          </p:stCondLst>
                                        </p:cTn>
                                        <p:tgtEl>
                                          <p:spTgt spid="33"/>
                                        </p:tgtEl>
                                        <p:attrNameLst>
                                          <p:attrName>ppt_y</p:attrName>
                                        </p:attrNameLst>
                                      </p:cBhvr>
                                      <p:tavLst>
                                        <p:tav tm="0" fmla="#ppt_y-sin(pi*$)/27">
                                          <p:val>
                                            <p:fltVal val="0"/>
                                          </p:val>
                                        </p:tav>
                                        <p:tav tm="100000">
                                          <p:val>
                                            <p:fltVal val="1"/>
                                          </p:val>
                                        </p:tav>
                                      </p:tavLst>
                                    </p:anim>
                                    <p:anim calcmode="lin" valueType="num">
                                      <p:cBhvr>
                                        <p:cTn id="209" dur="164" tmFilter="0, 0; 0.125,0.2665; 0.25,0.4; 0.375,0.465; 0.5,0.5;  0.625,0.535; 0.75,0.6; 0.875,0.7335; 1,1">
                                          <p:stCondLst>
                                            <p:cond delay="1656"/>
                                          </p:stCondLst>
                                        </p:cTn>
                                        <p:tgtEl>
                                          <p:spTgt spid="33"/>
                                        </p:tgtEl>
                                        <p:attrNameLst>
                                          <p:attrName>ppt_y</p:attrName>
                                        </p:attrNameLst>
                                      </p:cBhvr>
                                      <p:tavLst>
                                        <p:tav tm="0" fmla="#ppt_y-sin(pi*$)/81">
                                          <p:val>
                                            <p:fltVal val="0"/>
                                          </p:val>
                                        </p:tav>
                                        <p:tav tm="100000">
                                          <p:val>
                                            <p:fltVal val="1"/>
                                          </p:val>
                                        </p:tav>
                                      </p:tavLst>
                                    </p:anim>
                                    <p:animScale>
                                      <p:cBhvr>
                                        <p:cTn id="210" dur="26">
                                          <p:stCondLst>
                                            <p:cond delay="650"/>
                                          </p:stCondLst>
                                        </p:cTn>
                                        <p:tgtEl>
                                          <p:spTgt spid="33"/>
                                        </p:tgtEl>
                                      </p:cBhvr>
                                      <p:to x="100000" y="60000"/>
                                    </p:animScale>
                                    <p:animScale>
                                      <p:cBhvr>
                                        <p:cTn id="211" dur="166" decel="50000">
                                          <p:stCondLst>
                                            <p:cond delay="676"/>
                                          </p:stCondLst>
                                        </p:cTn>
                                        <p:tgtEl>
                                          <p:spTgt spid="33"/>
                                        </p:tgtEl>
                                      </p:cBhvr>
                                      <p:to x="100000" y="100000"/>
                                    </p:animScale>
                                    <p:animScale>
                                      <p:cBhvr>
                                        <p:cTn id="212" dur="26">
                                          <p:stCondLst>
                                            <p:cond delay="1312"/>
                                          </p:stCondLst>
                                        </p:cTn>
                                        <p:tgtEl>
                                          <p:spTgt spid="33"/>
                                        </p:tgtEl>
                                      </p:cBhvr>
                                      <p:to x="100000" y="80000"/>
                                    </p:animScale>
                                    <p:animScale>
                                      <p:cBhvr>
                                        <p:cTn id="213" dur="166" decel="50000">
                                          <p:stCondLst>
                                            <p:cond delay="1338"/>
                                          </p:stCondLst>
                                        </p:cTn>
                                        <p:tgtEl>
                                          <p:spTgt spid="33"/>
                                        </p:tgtEl>
                                      </p:cBhvr>
                                      <p:to x="100000" y="100000"/>
                                    </p:animScale>
                                    <p:animScale>
                                      <p:cBhvr>
                                        <p:cTn id="214" dur="26">
                                          <p:stCondLst>
                                            <p:cond delay="1642"/>
                                          </p:stCondLst>
                                        </p:cTn>
                                        <p:tgtEl>
                                          <p:spTgt spid="33"/>
                                        </p:tgtEl>
                                      </p:cBhvr>
                                      <p:to x="100000" y="90000"/>
                                    </p:animScale>
                                    <p:animScale>
                                      <p:cBhvr>
                                        <p:cTn id="215" dur="166" decel="50000">
                                          <p:stCondLst>
                                            <p:cond delay="1668"/>
                                          </p:stCondLst>
                                        </p:cTn>
                                        <p:tgtEl>
                                          <p:spTgt spid="33"/>
                                        </p:tgtEl>
                                      </p:cBhvr>
                                      <p:to x="100000" y="100000"/>
                                    </p:animScale>
                                    <p:animScale>
                                      <p:cBhvr>
                                        <p:cTn id="216" dur="26">
                                          <p:stCondLst>
                                            <p:cond delay="1808"/>
                                          </p:stCondLst>
                                        </p:cTn>
                                        <p:tgtEl>
                                          <p:spTgt spid="33"/>
                                        </p:tgtEl>
                                      </p:cBhvr>
                                      <p:to x="100000" y="95000"/>
                                    </p:animScale>
                                    <p:animScale>
                                      <p:cBhvr>
                                        <p:cTn id="217" dur="166" decel="50000">
                                          <p:stCondLst>
                                            <p:cond delay="1834"/>
                                          </p:stCondLst>
                                        </p:cTn>
                                        <p:tgtEl>
                                          <p:spTgt spid="33"/>
                                        </p:tgtEl>
                                      </p:cBhvr>
                                      <p:to x="100000" y="100000"/>
                                    </p:animScale>
                                  </p:childTnLst>
                                </p:cTn>
                              </p:par>
                            </p:childTnLst>
                          </p:cTn>
                        </p:par>
                        <p:par>
                          <p:cTn id="218" fill="hold">
                            <p:stCondLst>
                              <p:cond delay="2000"/>
                            </p:stCondLst>
                            <p:childTnLst>
                              <p:par>
                                <p:cTn id="219" presetID="1" presetClass="entr" presetSubtype="0" fill="hold" nodeType="afterEffect">
                                  <p:stCondLst>
                                    <p:cond delay="500"/>
                                  </p:stCondLst>
                                  <p:childTnLst>
                                    <p:set>
                                      <p:cBhvr>
                                        <p:cTn id="220"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47" grpId="0" animBg="1"/>
      <p:bldP spid="48" grpId="0" animBg="1"/>
      <p:bldP spid="49" grpId="0" animBg="1"/>
      <p:bldP spid="50" grpId="0" animBg="1"/>
      <p:bldP spid="51" grpId="0" animBg="1"/>
      <p:bldP spid="4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256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7" name="Group 6">
            <a:extLst>
              <a:ext uri="{FF2B5EF4-FFF2-40B4-BE49-F238E27FC236}">
                <a16:creationId xmlns:a16="http://schemas.microsoft.com/office/drawing/2014/main" id="{16D24E50-D7F0-487E-8F74-BA359852BA3C}"/>
              </a:ext>
            </a:extLst>
          </p:cNvPr>
          <p:cNvGrpSpPr/>
          <p:nvPr/>
        </p:nvGrpSpPr>
        <p:grpSpPr>
          <a:xfrm>
            <a:off x="6419342" y="1466497"/>
            <a:ext cx="4857531" cy="4021249"/>
            <a:chOff x="6104382" y="1954177"/>
            <a:chExt cx="4857531" cy="4021249"/>
          </a:xfrm>
        </p:grpSpPr>
        <p:sp>
          <p:nvSpPr>
            <p:cNvPr id="33" name="Rounded Rectangle 40">
              <a:extLst>
                <a:ext uri="{FF2B5EF4-FFF2-40B4-BE49-F238E27FC236}">
                  <a16:creationId xmlns:a16="http://schemas.microsoft.com/office/drawing/2014/main" id="{C0DE0473-E9C3-45C1-B6CE-13D1798C2E31}"/>
                </a:ext>
              </a:extLst>
            </p:cNvPr>
            <p:cNvSpPr/>
            <p:nvPr/>
          </p:nvSpPr>
          <p:spPr>
            <a:xfrm>
              <a:off x="7270115" y="3550307"/>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charset="0"/>
                  <a:ea typeface="+mn-ea"/>
                  <a:cs typeface="Arial" charset="0"/>
                </a:rPr>
                <a:t>Profitability Analysis Master Data</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4" name="Group 3">
              <a:extLst>
                <a:ext uri="{FF2B5EF4-FFF2-40B4-BE49-F238E27FC236}">
                  <a16:creationId xmlns:a16="http://schemas.microsoft.com/office/drawing/2014/main" id="{A8C4791B-0723-46E5-A8AB-9F92B128B473}"/>
                </a:ext>
              </a:extLst>
            </p:cNvPr>
            <p:cNvGrpSpPr/>
            <p:nvPr/>
          </p:nvGrpSpPr>
          <p:grpSpPr>
            <a:xfrm>
              <a:off x="6104382" y="1954177"/>
              <a:ext cx="4857531" cy="4021249"/>
              <a:chOff x="6104382" y="1954177"/>
              <a:chExt cx="4857531" cy="4021249"/>
            </a:xfrm>
          </p:grpSpPr>
          <p:grpSp>
            <p:nvGrpSpPr>
              <p:cNvPr id="19" name="Group 18">
                <a:extLst>
                  <a:ext uri="{FF2B5EF4-FFF2-40B4-BE49-F238E27FC236}">
                    <a16:creationId xmlns:a16="http://schemas.microsoft.com/office/drawing/2014/main" id="{3F49BABF-73A4-41A0-8EC8-DC283FC79D84}"/>
                  </a:ext>
                </a:extLst>
              </p:cNvPr>
              <p:cNvGrpSpPr/>
              <p:nvPr/>
            </p:nvGrpSpPr>
            <p:grpSpPr>
              <a:xfrm>
                <a:off x="6104382" y="1954177"/>
                <a:ext cx="4857531" cy="2885546"/>
                <a:chOff x="7271402" y="1855075"/>
                <a:chExt cx="4857531" cy="2885546"/>
              </a:xfrm>
            </p:grpSpPr>
            <p:cxnSp>
              <p:nvCxnSpPr>
                <p:cNvPr id="8" name="Elbow Connector 7"/>
                <p:cNvCxnSpPr>
                  <a:cxnSpLocks/>
                </p:cNvCxnSpPr>
                <p:nvPr/>
              </p:nvCxnSpPr>
              <p:spPr>
                <a:xfrm>
                  <a:off x="7271402" y="3043698"/>
                  <a:ext cx="1009162" cy="1696923"/>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 name="Elbow Connector 4"/>
                <p:cNvCxnSpPr>
                  <a:cxnSpLocks/>
                </p:cNvCxnSpPr>
                <p:nvPr/>
              </p:nvCxnSpPr>
              <p:spPr>
                <a:xfrm flipV="1">
                  <a:off x="7271402" y="2095049"/>
                  <a:ext cx="1008701" cy="958351"/>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cxnSpLocks/>
                </p:cNvCxnSpPr>
                <p:nvPr/>
              </p:nvCxnSpPr>
              <p:spPr>
                <a:xfrm>
                  <a:off x="7785534" y="3053401"/>
                  <a:ext cx="447673"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40" name="Rounded Rectangle 39"/>
                <p:cNvSpPr/>
                <p:nvPr/>
              </p:nvSpPr>
              <p:spPr>
                <a:xfrm>
                  <a:off x="8437138" y="1855075"/>
                  <a:ext cx="3691795" cy="54308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a:ea typeface="+mn-ea"/>
                      <a:cs typeface="Arial"/>
                    </a:rPr>
                    <a:t>Introduction to Profitability Analysis CO-PA</a:t>
                  </a:r>
                  <a:endParaRPr kumimoji="0" lang="en-US" sz="1400" b="0" i="0" u="none" strike="noStrike" kern="1200" cap="none" spc="0" normalizeH="0" baseline="0" noProof="0">
                    <a:ln>
                      <a:noFill/>
                    </a:ln>
                    <a:solidFill>
                      <a:srgbClr val="FFFFFF"/>
                    </a:solidFill>
                    <a:effectLst/>
                    <a:uLnTx/>
                    <a:uFillTx/>
                    <a:latin typeface="Arial"/>
                    <a:ea typeface="+mn-ea"/>
                    <a:cs typeface="Arial"/>
                  </a:endParaRPr>
                </a:p>
              </p:txBody>
            </p:sp>
            <p:sp>
              <p:nvSpPr>
                <p:cNvPr id="41" name="Rounded Rectangle 40"/>
                <p:cNvSpPr/>
                <p:nvPr/>
              </p:nvSpPr>
              <p:spPr>
                <a:xfrm>
                  <a:off x="8437135" y="2662881"/>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charset="0"/>
                      <a:ea typeface="+mn-ea"/>
                      <a:cs typeface="Arial" charset="0"/>
                    </a:rPr>
                    <a:t>Profitability Analysis Structure</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cxnSp>
            <p:nvCxnSpPr>
              <p:cNvPr id="54" name="Straight Connector 53">
                <a:extLst>
                  <a:ext uri="{FF2B5EF4-FFF2-40B4-BE49-F238E27FC236}">
                    <a16:creationId xmlns:a16="http://schemas.microsoft.com/office/drawing/2014/main" id="{07919984-F404-412F-9166-F0185B5D23FE}"/>
                  </a:ext>
                </a:extLst>
              </p:cNvPr>
              <p:cNvCxnSpPr>
                <a:cxnSpLocks/>
              </p:cNvCxnSpPr>
              <p:nvPr/>
            </p:nvCxnSpPr>
            <p:spPr>
              <a:xfrm flipV="1">
                <a:off x="6626045" y="3827996"/>
                <a:ext cx="487038" cy="1"/>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6" name="Elbow Connector 7">
                <a:extLst>
                  <a:ext uri="{FF2B5EF4-FFF2-40B4-BE49-F238E27FC236}">
                    <a16:creationId xmlns:a16="http://schemas.microsoft.com/office/drawing/2014/main" id="{665E32BB-4AAB-4666-AF79-FCB73C58F652}"/>
                  </a:ext>
                </a:extLst>
              </p:cNvPr>
              <p:cNvCxnSpPr>
                <a:cxnSpLocks/>
              </p:cNvCxnSpPr>
              <p:nvPr/>
            </p:nvCxnSpPr>
            <p:spPr>
              <a:xfrm>
                <a:off x="6106560" y="3136556"/>
                <a:ext cx="1009162" cy="2484466"/>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57" name="Rounded Rectangle 40">
                <a:extLst>
                  <a:ext uri="{FF2B5EF4-FFF2-40B4-BE49-F238E27FC236}">
                    <a16:creationId xmlns:a16="http://schemas.microsoft.com/office/drawing/2014/main" id="{9FCCC5AC-B022-42D9-A178-F2496F690CD4}"/>
                  </a:ext>
                </a:extLst>
              </p:cNvPr>
              <p:cNvSpPr/>
              <p:nvPr/>
            </p:nvSpPr>
            <p:spPr>
              <a:xfrm>
                <a:off x="7259108" y="4336776"/>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a:ln>
                      <a:noFill/>
                    </a:ln>
                    <a:solidFill>
                      <a:srgbClr val="FFFFFF"/>
                    </a:solidFill>
                    <a:effectLst/>
                    <a:uLnTx/>
                    <a:uFillTx/>
                    <a:latin typeface="Arial" charset="0"/>
                    <a:ea typeface="+mn-ea"/>
                    <a:cs typeface="Arial" charset="0"/>
                  </a:rPr>
                  <a:t>Profitability Analysis Derivation </a:t>
                </a:r>
                <a:endParaRPr kumimoji="0" lang="en-GB" sz="11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8" name="Rounded Rectangle 38">
                <a:extLst>
                  <a:ext uri="{FF2B5EF4-FFF2-40B4-BE49-F238E27FC236}">
                    <a16:creationId xmlns:a16="http://schemas.microsoft.com/office/drawing/2014/main" id="{49E168C3-F9E9-4D18-9DF7-239BE17900F2}"/>
                  </a:ext>
                </a:extLst>
              </p:cNvPr>
              <p:cNvSpPr/>
              <p:nvPr/>
            </p:nvSpPr>
            <p:spPr>
              <a:xfrm>
                <a:off x="7232593" y="5171614"/>
                <a:ext cx="3691795" cy="803812"/>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a:ln>
                      <a:noFill/>
                    </a:ln>
                    <a:solidFill>
                      <a:srgbClr val="1A3040"/>
                    </a:solidFill>
                    <a:effectLst/>
                    <a:uLnTx/>
                    <a:uFillTx/>
                    <a:latin typeface="Arial" charset="0"/>
                    <a:ea typeface="+mn-ea"/>
                    <a:cs typeface="Arial" charset="0"/>
                  </a:rPr>
                  <a:t>Profitability Analysis Value Flows</a:t>
                </a:r>
                <a:endParaRPr kumimoji="0" lang="en-GB" sz="1400" b="0" i="0" u="none" strike="noStrike" kern="1200" cap="none" spc="0" normalizeH="0" baseline="0" noProof="0">
                  <a:ln>
                    <a:noFill/>
                  </a:ln>
                  <a:solidFill>
                    <a:srgbClr val="1A3040"/>
                  </a:solidFill>
                  <a:effectLst/>
                  <a:uLnTx/>
                  <a:uFillTx/>
                  <a:latin typeface="Arial" panose="020B0604020202020204"/>
                  <a:ea typeface="+mn-ea"/>
                  <a:cs typeface="+mn-cs"/>
                </a:endParaRPr>
              </a:p>
            </p:txBody>
          </p:sp>
        </p:grpSp>
      </p:grpSp>
      <p:grpSp>
        <p:nvGrpSpPr>
          <p:cNvPr id="39" name="Group 38">
            <a:extLst>
              <a:ext uri="{FF2B5EF4-FFF2-40B4-BE49-F238E27FC236}">
                <a16:creationId xmlns:a16="http://schemas.microsoft.com/office/drawing/2014/main" id="{B7DA1FEF-1273-4247-82F7-3E5CFD537728}"/>
              </a:ext>
            </a:extLst>
          </p:cNvPr>
          <p:cNvGrpSpPr/>
          <p:nvPr/>
        </p:nvGrpSpPr>
        <p:grpSpPr>
          <a:xfrm>
            <a:off x="136170" y="2488671"/>
            <a:ext cx="6278878" cy="2318536"/>
            <a:chOff x="4428422" y="2334368"/>
            <a:chExt cx="7806123" cy="3512903"/>
          </a:xfrm>
        </p:grpSpPr>
        <p:cxnSp>
          <p:nvCxnSpPr>
            <p:cNvPr id="55" name="Straight Connector 54">
              <a:extLst>
                <a:ext uri="{FF2B5EF4-FFF2-40B4-BE49-F238E27FC236}">
                  <a16:creationId xmlns:a16="http://schemas.microsoft.com/office/drawing/2014/main" id="{9A6EE83A-E783-426C-A351-EE08E31DC0DD}"/>
                </a:ext>
              </a:extLst>
            </p:cNvPr>
            <p:cNvCxnSpPr>
              <a:cxnSpLocks/>
            </p:cNvCxnSpPr>
            <p:nvPr/>
          </p:nvCxnSpPr>
          <p:spPr>
            <a:xfrm>
              <a:off x="6781086" y="3324312"/>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A9D82A0-94C6-46B4-A6C1-147CD11C45BD}"/>
                </a:ext>
              </a:extLst>
            </p:cNvPr>
            <p:cNvCxnSpPr>
              <a:cxnSpLocks/>
            </p:cNvCxnSpPr>
            <p:nvPr/>
          </p:nvCxnSpPr>
          <p:spPr>
            <a:xfrm>
              <a:off x="6795663" y="4793898"/>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0" name="Group 59">
              <a:extLst>
                <a:ext uri="{FF2B5EF4-FFF2-40B4-BE49-F238E27FC236}">
                  <a16:creationId xmlns:a16="http://schemas.microsoft.com/office/drawing/2014/main" id="{379ACD28-93FF-401E-A763-89A555930A9E}"/>
                </a:ext>
              </a:extLst>
            </p:cNvPr>
            <p:cNvGrpSpPr/>
            <p:nvPr/>
          </p:nvGrpSpPr>
          <p:grpSpPr>
            <a:xfrm>
              <a:off x="4428422" y="2334368"/>
              <a:ext cx="7806123" cy="3512903"/>
              <a:chOff x="4428422" y="2334368"/>
              <a:chExt cx="7806123" cy="3512903"/>
            </a:xfrm>
          </p:grpSpPr>
          <p:grpSp>
            <p:nvGrpSpPr>
              <p:cNvPr id="61" name="Group 60">
                <a:extLst>
                  <a:ext uri="{FF2B5EF4-FFF2-40B4-BE49-F238E27FC236}">
                    <a16:creationId xmlns:a16="http://schemas.microsoft.com/office/drawing/2014/main" id="{21A55DFB-0B61-45D6-83B4-F826DE80FDE7}"/>
                  </a:ext>
                </a:extLst>
              </p:cNvPr>
              <p:cNvGrpSpPr/>
              <p:nvPr/>
            </p:nvGrpSpPr>
            <p:grpSpPr>
              <a:xfrm>
                <a:off x="4428422" y="2334368"/>
                <a:ext cx="7796979" cy="3512903"/>
                <a:chOff x="4371016" y="2260587"/>
                <a:chExt cx="7796979" cy="3512903"/>
              </a:xfrm>
            </p:grpSpPr>
            <p:cxnSp>
              <p:nvCxnSpPr>
                <p:cNvPr id="66" name="Elbow Connector 37">
                  <a:extLst>
                    <a:ext uri="{FF2B5EF4-FFF2-40B4-BE49-F238E27FC236}">
                      <a16:creationId xmlns:a16="http://schemas.microsoft.com/office/drawing/2014/main" id="{4EBD9635-720A-494D-B7F9-B93DA1190303}"/>
                    </a:ext>
                  </a:extLst>
                </p:cNvPr>
                <p:cNvCxnSpPr>
                  <a:cxnSpLocks/>
                </p:cNvCxnSpPr>
                <p:nvPr/>
              </p:nvCxnSpPr>
              <p:spPr>
                <a:xfrm>
                  <a:off x="6204970" y="3996147"/>
                  <a:ext cx="1096000" cy="14997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577A6F9E-CC8E-49C5-B672-24D1FBA64F06}"/>
                    </a:ext>
                  </a:extLst>
                </p:cNvPr>
                <p:cNvGrpSpPr/>
                <p:nvPr/>
              </p:nvGrpSpPr>
              <p:grpSpPr>
                <a:xfrm>
                  <a:off x="4371016" y="2260587"/>
                  <a:ext cx="7796979" cy="3512903"/>
                  <a:chOff x="4371016" y="2260587"/>
                  <a:chExt cx="7796979" cy="3512903"/>
                </a:xfrm>
              </p:grpSpPr>
              <p:cxnSp>
                <p:nvCxnSpPr>
                  <p:cNvPr id="68" name="Elbow Connector 31">
                    <a:extLst>
                      <a:ext uri="{FF2B5EF4-FFF2-40B4-BE49-F238E27FC236}">
                        <a16:creationId xmlns:a16="http://schemas.microsoft.com/office/drawing/2014/main" id="{E2C4E8FD-9280-41B0-BAF2-0FD8414F2F5E}"/>
                      </a:ext>
                    </a:extLst>
                  </p:cNvPr>
                  <p:cNvCxnSpPr>
                    <a:cxnSpLocks/>
                  </p:cNvCxnSpPr>
                  <p:nvPr/>
                </p:nvCxnSpPr>
                <p:spPr>
                  <a:xfrm flipV="1">
                    <a:off x="6194084" y="2527165"/>
                    <a:ext cx="1121463" cy="1465481"/>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05DE015E-0CA6-4081-974E-96833A1D6695}"/>
                      </a:ext>
                    </a:extLst>
                  </p:cNvPr>
                  <p:cNvGrpSpPr/>
                  <p:nvPr/>
                </p:nvGrpSpPr>
                <p:grpSpPr>
                  <a:xfrm>
                    <a:off x="4371016" y="2260587"/>
                    <a:ext cx="7796979" cy="3512903"/>
                    <a:chOff x="4371016" y="2260587"/>
                    <a:chExt cx="7796979" cy="3512903"/>
                  </a:xfrm>
                </p:grpSpPr>
                <p:sp>
                  <p:nvSpPr>
                    <p:cNvPr id="70" name="TextBox 69">
                      <a:extLst>
                        <a:ext uri="{FF2B5EF4-FFF2-40B4-BE49-F238E27FC236}">
                          <a16:creationId xmlns:a16="http://schemas.microsoft.com/office/drawing/2014/main" id="{18CEE8F4-1A83-454C-BA3E-DAFBC2B8691A}"/>
                        </a:ext>
                      </a:extLst>
                    </p:cNvPr>
                    <p:cNvSpPr txBox="1"/>
                    <p:nvPr/>
                  </p:nvSpPr>
                  <p:spPr>
                    <a:xfrm>
                      <a:off x="7532636" y="226058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Profitability Analysis: Intro to S/4 </a:t>
                      </a:r>
                    </a:p>
                  </p:txBody>
                </p:sp>
                <p:grpSp>
                  <p:nvGrpSpPr>
                    <p:cNvPr id="71" name="Group 70">
                      <a:extLst>
                        <a:ext uri="{FF2B5EF4-FFF2-40B4-BE49-F238E27FC236}">
                          <a16:creationId xmlns:a16="http://schemas.microsoft.com/office/drawing/2014/main" id="{587A8815-D434-43BC-9997-3E69889C1EB2}"/>
                        </a:ext>
                      </a:extLst>
                    </p:cNvPr>
                    <p:cNvGrpSpPr/>
                    <p:nvPr/>
                  </p:nvGrpSpPr>
                  <p:grpSpPr>
                    <a:xfrm>
                      <a:off x="4371016" y="3031011"/>
                      <a:ext cx="1867560" cy="1901181"/>
                      <a:chOff x="575788" y="4361808"/>
                      <a:chExt cx="624164" cy="624164"/>
                    </a:xfrm>
                  </p:grpSpPr>
                  <p:grpSp>
                    <p:nvGrpSpPr>
                      <p:cNvPr id="73" name="Group 72">
                        <a:extLst>
                          <a:ext uri="{FF2B5EF4-FFF2-40B4-BE49-F238E27FC236}">
                            <a16:creationId xmlns:a16="http://schemas.microsoft.com/office/drawing/2014/main" id="{84412C6C-DB20-4C88-8D5A-845952805E5B}"/>
                          </a:ext>
                        </a:extLst>
                      </p:cNvPr>
                      <p:cNvGrpSpPr/>
                      <p:nvPr/>
                    </p:nvGrpSpPr>
                    <p:grpSpPr>
                      <a:xfrm>
                        <a:off x="575788" y="4361808"/>
                        <a:ext cx="624164" cy="624164"/>
                        <a:chOff x="4492144" y="190843"/>
                        <a:chExt cx="855656" cy="855656"/>
                      </a:xfrm>
                    </p:grpSpPr>
                    <p:sp>
                      <p:nvSpPr>
                        <p:cNvPr id="75" name="Oval 74">
                          <a:extLst>
                            <a:ext uri="{FF2B5EF4-FFF2-40B4-BE49-F238E27FC236}">
                              <a16:creationId xmlns:a16="http://schemas.microsoft.com/office/drawing/2014/main" id="{3ECE1B84-6BE2-4E7A-B531-04971AF779FE}"/>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6" name="Oval 75">
                          <a:extLst>
                            <a:ext uri="{FF2B5EF4-FFF2-40B4-BE49-F238E27FC236}">
                              <a16:creationId xmlns:a16="http://schemas.microsoft.com/office/drawing/2014/main" id="{D249861E-E4CE-43C4-9ABE-AEA048F6E07F}"/>
                            </a:ext>
                          </a:extLst>
                        </p:cNvPr>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74" name="Picture 73">
                        <a:extLst>
                          <a:ext uri="{FF2B5EF4-FFF2-40B4-BE49-F238E27FC236}">
                            <a16:creationId xmlns:a16="http://schemas.microsoft.com/office/drawing/2014/main" id="{46B3D3FC-F830-4BDC-8D2C-1923578E51D5}"/>
                          </a:ext>
                        </a:extLst>
                      </p:cNvPr>
                      <p:cNvPicPr>
                        <a:picLocks noChangeAspect="1"/>
                      </p:cNvPicPr>
                      <p:nvPr/>
                    </p:nvPicPr>
                    <p:blipFill>
                      <a:blip r:embed="rId3"/>
                      <a:stretch>
                        <a:fillRect/>
                      </a:stretch>
                    </p:blipFill>
                    <p:spPr>
                      <a:xfrm>
                        <a:off x="718607" y="4514537"/>
                        <a:ext cx="328080" cy="318706"/>
                      </a:xfrm>
                      <a:prstGeom prst="rect">
                        <a:avLst/>
                      </a:prstGeom>
                    </p:spPr>
                  </p:pic>
                </p:grpSp>
                <p:sp>
                  <p:nvSpPr>
                    <p:cNvPr id="72" name="TextBox 71">
                      <a:extLst>
                        <a:ext uri="{FF2B5EF4-FFF2-40B4-BE49-F238E27FC236}">
                          <a16:creationId xmlns:a16="http://schemas.microsoft.com/office/drawing/2014/main" id="{64E6B3CE-5EB5-42B2-87EB-1AFDE857BDCA}"/>
                        </a:ext>
                      </a:extLst>
                    </p:cNvPr>
                    <p:cNvSpPr txBox="1"/>
                    <p:nvPr/>
                  </p:nvSpPr>
                  <p:spPr>
                    <a:xfrm>
                      <a:off x="7558856" y="5218301"/>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Reporting Capabilities</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sp>
            <p:nvSpPr>
              <p:cNvPr id="62" name="TextBox 61">
                <a:extLst>
                  <a:ext uri="{FF2B5EF4-FFF2-40B4-BE49-F238E27FC236}">
                    <a16:creationId xmlns:a16="http://schemas.microsoft.com/office/drawing/2014/main" id="{31D13E38-6622-4438-BC12-49E571A53D5F}"/>
                  </a:ext>
                </a:extLst>
              </p:cNvPr>
              <p:cNvSpPr txBox="1"/>
              <p:nvPr/>
            </p:nvSpPr>
            <p:spPr>
              <a:xfrm>
                <a:off x="7616262" y="4511768"/>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Market P&amp;L</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63" name="Straight Connector 62">
                <a:extLst>
                  <a:ext uri="{FF2B5EF4-FFF2-40B4-BE49-F238E27FC236}">
                    <a16:creationId xmlns:a16="http://schemas.microsoft.com/office/drawing/2014/main" id="{60D54F14-DFD2-4F0D-912D-AA0D19179684}"/>
                  </a:ext>
                </a:extLst>
              </p:cNvPr>
              <p:cNvCxnSpPr>
                <a:cxnSpLocks/>
              </p:cNvCxnSpPr>
              <p:nvPr/>
            </p:nvCxnSpPr>
            <p:spPr>
              <a:xfrm>
                <a:off x="6810376" y="4066427"/>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924F9A2D-C2EB-4CC5-9D8D-C3914C97B8E0}"/>
                  </a:ext>
                </a:extLst>
              </p:cNvPr>
              <p:cNvSpPr txBox="1"/>
              <p:nvPr/>
            </p:nvSpPr>
            <p:spPr>
              <a:xfrm>
                <a:off x="7590041" y="3107175"/>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 </a:t>
                </a:r>
                <a:r>
                  <a:rPr kumimoji="0" lang="en-GB" sz="1800" b="1" i="0" u="none" strike="noStrike" kern="1200" cap="none" spc="0" normalizeH="0" baseline="0" noProof="0" err="1">
                    <a:ln>
                      <a:noFill/>
                    </a:ln>
                    <a:solidFill>
                      <a:srgbClr val="FFFFFF"/>
                    </a:solidFill>
                    <a:effectLst/>
                    <a:uLnTx/>
                    <a:uFillTx/>
                    <a:latin typeface="Arial" panose="020B0604020202020204"/>
                    <a:ea typeface="+mn-ea"/>
                    <a:cs typeface="+mn-cs"/>
                  </a:rPr>
                  <a:t>Center</a:t>
                </a: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 Reorganization</a:t>
                </a:r>
              </a:p>
            </p:txBody>
          </p:sp>
          <p:sp>
            <p:nvSpPr>
              <p:cNvPr id="65" name="TextBox 64">
                <a:extLst>
                  <a:ext uri="{FF2B5EF4-FFF2-40B4-BE49-F238E27FC236}">
                    <a16:creationId xmlns:a16="http://schemas.microsoft.com/office/drawing/2014/main" id="{A13C009A-2302-4C4E-9E9E-1E3BF9F30EA9}"/>
                  </a:ext>
                </a:extLst>
              </p:cNvPr>
              <p:cNvSpPr txBox="1"/>
              <p:nvPr/>
            </p:nvSpPr>
            <p:spPr>
              <a:xfrm>
                <a:off x="7599186" y="383682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Standardization of Dimensions</a:t>
                </a:r>
              </a:p>
            </p:txBody>
          </p:sp>
        </p:grpSp>
      </p:grpSp>
    </p:spTree>
    <p:extLst>
      <p:ext uri="{BB962C8B-B14F-4D97-AF65-F5344CB8AC3E}">
        <p14:creationId xmlns:p14="http://schemas.microsoft.com/office/powerpoint/2010/main" val="2350706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Straight Connector 74">
            <a:extLst>
              <a:ext uri="{FF2B5EF4-FFF2-40B4-BE49-F238E27FC236}">
                <a16:creationId xmlns:a16="http://schemas.microsoft.com/office/drawing/2014/main" id="{C40697EE-6667-42E0-BF0C-25CDB86DDB1C}"/>
              </a:ext>
            </a:extLst>
          </p:cNvPr>
          <p:cNvCxnSpPr>
            <a:cxnSpLocks/>
          </p:cNvCxnSpPr>
          <p:nvPr/>
        </p:nvCxnSpPr>
        <p:spPr>
          <a:xfrm>
            <a:off x="3660188" y="3737029"/>
            <a:ext cx="3159922" cy="1488"/>
          </a:xfrm>
          <a:prstGeom prst="line">
            <a:avLst/>
          </a:prstGeom>
          <a:ln w="476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1" name="Arrow: Right 70">
            <a:extLst>
              <a:ext uri="{FF2B5EF4-FFF2-40B4-BE49-F238E27FC236}">
                <a16:creationId xmlns:a16="http://schemas.microsoft.com/office/drawing/2014/main" id="{06B28BD0-B8CD-4B80-8FE2-123595EFFECD}"/>
              </a:ext>
            </a:extLst>
          </p:cNvPr>
          <p:cNvSpPr/>
          <p:nvPr/>
        </p:nvSpPr>
        <p:spPr>
          <a:xfrm>
            <a:off x="9415638" y="2512175"/>
            <a:ext cx="512134" cy="135776"/>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65" name="Straight Connector 64">
            <a:extLst>
              <a:ext uri="{FF2B5EF4-FFF2-40B4-BE49-F238E27FC236}">
                <a16:creationId xmlns:a16="http://schemas.microsoft.com/office/drawing/2014/main" id="{AD096336-C22C-43B6-845F-081454D0037F}"/>
              </a:ext>
            </a:extLst>
          </p:cNvPr>
          <p:cNvCxnSpPr>
            <a:cxnSpLocks/>
          </p:cNvCxnSpPr>
          <p:nvPr/>
        </p:nvCxnSpPr>
        <p:spPr>
          <a:xfrm>
            <a:off x="2963666" y="1854201"/>
            <a:ext cx="0" cy="361557"/>
          </a:xfrm>
          <a:prstGeom prst="line">
            <a:avLst/>
          </a:prstGeom>
          <a:ln w="476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C6AC6FB-1118-4A00-BF3F-B4552F3A4CC4}"/>
              </a:ext>
            </a:extLst>
          </p:cNvPr>
          <p:cNvSpPr>
            <a:spLocks noGrp="1"/>
          </p:cNvSpPr>
          <p:nvPr>
            <p:ph type="title"/>
          </p:nvPr>
        </p:nvSpPr>
        <p:spPr>
          <a:xfrm>
            <a:off x="1511276" y="210344"/>
            <a:ext cx="8902723" cy="984247"/>
          </a:xfrm>
        </p:spPr>
        <p:txBody>
          <a:bodyPr/>
          <a:lstStyle/>
          <a:p>
            <a:r>
              <a:rPr lang="en-GB"/>
              <a:t>Profitability Analysis – Value Flows</a:t>
            </a:r>
            <a:endParaRPr lang="en-US"/>
          </a:p>
        </p:txBody>
      </p:sp>
      <p:sp>
        <p:nvSpPr>
          <p:cNvPr id="4" name="Footer Placeholder 3">
            <a:extLst>
              <a:ext uri="{FF2B5EF4-FFF2-40B4-BE49-F238E27FC236}">
                <a16:creationId xmlns:a16="http://schemas.microsoft.com/office/drawing/2014/main" id="{8FEB7B36-7F97-4CDD-A318-0CFD315751E7}"/>
              </a:ext>
            </a:extLst>
          </p:cNvPr>
          <p:cNvSpPr>
            <a:spLocks noGrp="1"/>
          </p:cNvSpPr>
          <p:nvPr>
            <p:ph type="ftr" sz="quarter" idx="11"/>
          </p:nvPr>
        </p:nvSpPr>
        <p:spPr>
          <a:xfrm>
            <a:off x="7077073" y="6297521"/>
            <a:ext cx="4201727"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4AA4FA7A-BA70-49C8-ABA7-35641537FFE0}"/>
              </a:ext>
            </a:extLst>
          </p:cNvPr>
          <p:cNvSpPr>
            <a:spLocks noGrp="1"/>
          </p:cNvSpPr>
          <p:nvPr>
            <p:ph type="sldNum" sz="quarter" idx="12"/>
          </p:nvPr>
        </p:nvSpPr>
        <p:spPr>
          <a:xfrm>
            <a:off x="11278800" y="629752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6" name="Arrow: Right 25">
            <a:extLst>
              <a:ext uri="{FF2B5EF4-FFF2-40B4-BE49-F238E27FC236}">
                <a16:creationId xmlns:a16="http://schemas.microsoft.com/office/drawing/2014/main" id="{4E7577C1-4B56-48AA-9B61-FD17E9373E59}"/>
              </a:ext>
            </a:extLst>
          </p:cNvPr>
          <p:cNvSpPr/>
          <p:nvPr/>
        </p:nvSpPr>
        <p:spPr>
          <a:xfrm flipV="1">
            <a:off x="3669592" y="4841531"/>
            <a:ext cx="4058857" cy="134655"/>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Arrow: Right 23">
            <a:extLst>
              <a:ext uri="{FF2B5EF4-FFF2-40B4-BE49-F238E27FC236}">
                <a16:creationId xmlns:a16="http://schemas.microsoft.com/office/drawing/2014/main" id="{67023741-A225-46DA-BAA7-709242EA1050}"/>
              </a:ext>
            </a:extLst>
          </p:cNvPr>
          <p:cNvSpPr/>
          <p:nvPr/>
        </p:nvSpPr>
        <p:spPr>
          <a:xfrm flipV="1">
            <a:off x="6096000" y="2563357"/>
            <a:ext cx="1651026" cy="144849"/>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Arrow: Right 22">
            <a:extLst>
              <a:ext uri="{FF2B5EF4-FFF2-40B4-BE49-F238E27FC236}">
                <a16:creationId xmlns:a16="http://schemas.microsoft.com/office/drawing/2014/main" id="{94E8AD87-296E-44A6-8465-C519A69B8D5D}"/>
              </a:ext>
            </a:extLst>
          </p:cNvPr>
          <p:cNvSpPr/>
          <p:nvPr/>
        </p:nvSpPr>
        <p:spPr>
          <a:xfrm>
            <a:off x="1841712" y="6038143"/>
            <a:ext cx="5905316" cy="161750"/>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 name="Arrow: Right 20">
            <a:extLst>
              <a:ext uri="{FF2B5EF4-FFF2-40B4-BE49-F238E27FC236}">
                <a16:creationId xmlns:a16="http://schemas.microsoft.com/office/drawing/2014/main" id="{23F4671D-B969-4C87-A9F5-FB7FF3B0A46C}"/>
              </a:ext>
            </a:extLst>
          </p:cNvPr>
          <p:cNvSpPr/>
          <p:nvPr/>
        </p:nvSpPr>
        <p:spPr>
          <a:xfrm>
            <a:off x="1529654" y="4823858"/>
            <a:ext cx="796168" cy="136559"/>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Arrow: Right 18">
            <a:extLst>
              <a:ext uri="{FF2B5EF4-FFF2-40B4-BE49-F238E27FC236}">
                <a16:creationId xmlns:a16="http://schemas.microsoft.com/office/drawing/2014/main" id="{3405FB48-17C2-477B-9305-3F0DB67365F6}"/>
              </a:ext>
            </a:extLst>
          </p:cNvPr>
          <p:cNvSpPr/>
          <p:nvPr/>
        </p:nvSpPr>
        <p:spPr>
          <a:xfrm>
            <a:off x="1510077" y="2809800"/>
            <a:ext cx="796168" cy="137326"/>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13" name="Group 12">
            <a:extLst>
              <a:ext uri="{FF2B5EF4-FFF2-40B4-BE49-F238E27FC236}">
                <a16:creationId xmlns:a16="http://schemas.microsoft.com/office/drawing/2014/main" id="{DE977DC0-C038-4CC0-8FB8-127F4C3A9A38}"/>
              </a:ext>
            </a:extLst>
          </p:cNvPr>
          <p:cNvGrpSpPr/>
          <p:nvPr/>
        </p:nvGrpSpPr>
        <p:grpSpPr>
          <a:xfrm>
            <a:off x="558800" y="2167704"/>
            <a:ext cx="3228988" cy="4047263"/>
            <a:chOff x="908957" y="1703614"/>
            <a:chExt cx="3762876" cy="5233551"/>
          </a:xfrm>
        </p:grpSpPr>
        <p:sp>
          <p:nvSpPr>
            <p:cNvPr id="3" name="Rectangle 2">
              <a:extLst>
                <a:ext uri="{FF2B5EF4-FFF2-40B4-BE49-F238E27FC236}">
                  <a16:creationId xmlns:a16="http://schemas.microsoft.com/office/drawing/2014/main" id="{506A000D-4E4E-494C-A6F3-B8E6EE0E7DAC}"/>
                </a:ext>
              </a:extLst>
            </p:cNvPr>
            <p:cNvSpPr/>
            <p:nvPr/>
          </p:nvSpPr>
          <p:spPr>
            <a:xfrm>
              <a:off x="908957" y="1703615"/>
              <a:ext cx="767637" cy="5233550"/>
            </a:xfrm>
            <a:prstGeom prst="rect">
              <a:avLst/>
            </a:prstGeom>
            <a:solidFill>
              <a:schemeClr val="accent3"/>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FFFFFF"/>
                  </a:solidFill>
                  <a:effectLst/>
                  <a:uLnTx/>
                  <a:uFillTx/>
                  <a:latin typeface="Arial" panose="020B0604020202020204"/>
                  <a:ea typeface="+mn-ea"/>
                  <a:cs typeface="+mn-cs"/>
                </a:rPr>
                <a:t>Financial Accounting</a:t>
              </a:r>
              <a:endParaRPr kumimoji="0" lang="en-US"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8E2B194A-7DE6-4327-81DE-F6EDB648B4EF}"/>
                </a:ext>
              </a:extLst>
            </p:cNvPr>
            <p:cNvSpPr/>
            <p:nvPr/>
          </p:nvSpPr>
          <p:spPr>
            <a:xfrm>
              <a:off x="1812471" y="1703615"/>
              <a:ext cx="840995" cy="5233550"/>
            </a:xfrm>
            <a:prstGeom prst="rect">
              <a:avLst/>
            </a:prstGeom>
            <a:solidFill>
              <a:schemeClr val="accent3"/>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srgbClr val="FFFFFF"/>
                  </a:solidFill>
                  <a:effectLst/>
                  <a:uLnTx/>
                  <a:uFillTx/>
                  <a:latin typeface="Arial" panose="020B0604020202020204"/>
                  <a:ea typeface="+mn-ea"/>
                  <a:cs typeface="+mn-cs"/>
                </a:rPr>
                <a:t>Cost Element Accounting</a:t>
              </a:r>
              <a:endParaRPr kumimoji="0" lang="en-US" sz="20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AC9698F8-B65F-4EA4-81B1-5F0CC0349FC4}"/>
                </a:ext>
              </a:extLst>
            </p:cNvPr>
            <p:cNvSpPr/>
            <p:nvPr/>
          </p:nvSpPr>
          <p:spPr>
            <a:xfrm>
              <a:off x="2971800" y="1703614"/>
              <a:ext cx="1698172" cy="1972076"/>
            </a:xfrm>
            <a:prstGeom prst="rect">
              <a:avLst/>
            </a:prstGeom>
            <a:ln/>
            <a:effectLst>
              <a:outerShdw blurRad="50800" dist="38100" dir="18900000" algn="bl" rotWithShape="0">
                <a:prstClr val="black">
                  <a:alpha val="40000"/>
                </a:prstClr>
              </a:outerShdw>
            </a:effectLst>
            <a:scene3d>
              <a:camera prst="orthographicFront"/>
              <a:lightRig rig="threePt" dir="t"/>
            </a:scene3d>
            <a:sp3d>
              <a:bevelT w="165100" prst="coolSlant"/>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srgbClr val="FFFFFF"/>
                  </a:solidFill>
                  <a:effectLst/>
                  <a:uLnTx/>
                  <a:uFillTx/>
                  <a:latin typeface="Arial" panose="020B0604020202020204"/>
                  <a:ea typeface="+mn-ea"/>
                  <a:cs typeface="+mn-cs"/>
                </a:rPr>
                <a:t>Production</a:t>
              </a:r>
              <a:endParaRPr kumimoji="0" lang="en-U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FC5FF7B5-DCC2-4B49-A72C-FB8715DE9DEA}"/>
                </a:ext>
              </a:extLst>
            </p:cNvPr>
            <p:cNvSpPr/>
            <p:nvPr/>
          </p:nvSpPr>
          <p:spPr>
            <a:xfrm>
              <a:off x="2973661" y="4203097"/>
              <a:ext cx="1698172" cy="2044837"/>
            </a:xfrm>
            <a:prstGeom prst="rect">
              <a:avLst/>
            </a:prstGeom>
            <a:ln/>
            <a:effectLst>
              <a:outerShdw blurRad="50800" dist="38100" dir="18900000" algn="bl" rotWithShape="0">
                <a:prstClr val="black">
                  <a:alpha val="40000"/>
                </a:prstClr>
              </a:outerShdw>
            </a:effectLst>
            <a:scene3d>
              <a:camera prst="orthographicFront"/>
              <a:lightRig rig="threePt" dir="t"/>
            </a:scene3d>
            <a:sp3d>
              <a:bevelT w="165100" prst="coolSlant"/>
            </a:sp3d>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Arial" panose="020B0604020202020204"/>
                  <a:ea typeface="+mn-ea"/>
                  <a:cs typeface="+mn-cs"/>
                </a:rPr>
                <a:t>Overhead Management</a:t>
              </a: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15" name="Oval 14">
            <a:extLst>
              <a:ext uri="{FF2B5EF4-FFF2-40B4-BE49-F238E27FC236}">
                <a16:creationId xmlns:a16="http://schemas.microsoft.com/office/drawing/2014/main" id="{B9C0D564-A4DA-4D40-8284-E288F5CE0652}"/>
              </a:ext>
            </a:extLst>
          </p:cNvPr>
          <p:cNvSpPr/>
          <p:nvPr/>
        </p:nvSpPr>
        <p:spPr>
          <a:xfrm>
            <a:off x="2456529" y="3351350"/>
            <a:ext cx="1213063" cy="872398"/>
          </a:xfrm>
          <a:prstGeom prst="ellipse">
            <a:avLst/>
          </a:prstGeom>
          <a:solidFill>
            <a:schemeClr val="accent6">
              <a:lumMod val="60000"/>
              <a:lumOff val="40000"/>
            </a:schemeClr>
          </a:solidFill>
          <a:ln>
            <a:solidFill>
              <a:schemeClr val="bg1">
                <a:lumMod val="75000"/>
              </a:schemeClr>
            </a:solidFill>
          </a:ln>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000000"/>
                </a:solidFill>
                <a:effectLst/>
                <a:uLnTx/>
                <a:uFillTx/>
                <a:latin typeface="Arial" panose="020B0604020202020204"/>
                <a:ea typeface="+mn-ea"/>
                <a:cs typeface="+mn-cs"/>
              </a:rPr>
              <a:t>Product Cost</a:t>
            </a:r>
            <a:endParaRPr kumimoji="0" lang="en-US" sz="14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6DDB918F-68D3-4670-8FBD-8A4CEA0FD67F}"/>
              </a:ext>
            </a:extLst>
          </p:cNvPr>
          <p:cNvSpPr/>
          <p:nvPr/>
        </p:nvSpPr>
        <p:spPr>
          <a:xfrm>
            <a:off x="4016627" y="2167705"/>
            <a:ext cx="1962773" cy="872398"/>
          </a:xfrm>
          <a:prstGeom prst="rect">
            <a:avLst/>
          </a:prstGeom>
          <a:ln/>
          <a:scene3d>
            <a:camera prst="orthographicFront"/>
            <a:lightRig rig="threePt" dir="t"/>
          </a:scene3d>
          <a:sp3d>
            <a:bevelT/>
          </a:sp3d>
        </p:spPr>
        <p:style>
          <a:lnRef idx="3">
            <a:schemeClr val="lt1"/>
          </a:lnRef>
          <a:fillRef idx="1">
            <a:schemeClr val="accent2"/>
          </a:fillRef>
          <a:effectRef idx="1">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srgbClr val="FFFFFF"/>
                </a:solidFill>
                <a:effectLst/>
                <a:uLnTx/>
                <a:uFillTx/>
                <a:latin typeface="Arial" panose="020B0604020202020204"/>
                <a:ea typeface="+mn-ea"/>
                <a:cs typeface="+mn-cs"/>
              </a:rPr>
              <a:t>Sales &amp; Distribution (SD)</a:t>
            </a:r>
            <a:endParaRPr kumimoji="0" lang="en-US"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Rectangle 17">
            <a:extLst>
              <a:ext uri="{FF2B5EF4-FFF2-40B4-BE49-F238E27FC236}">
                <a16:creationId xmlns:a16="http://schemas.microsoft.com/office/drawing/2014/main" id="{4F766FCC-F908-4B3E-947D-D7E5105D2A7B}"/>
              </a:ext>
            </a:extLst>
          </p:cNvPr>
          <p:cNvSpPr/>
          <p:nvPr/>
        </p:nvSpPr>
        <p:spPr>
          <a:xfrm>
            <a:off x="9807110" y="2167704"/>
            <a:ext cx="1670320" cy="4047262"/>
          </a:xfrm>
          <a:prstGeom prst="rect">
            <a:avLst/>
          </a:prstGeom>
          <a:solidFill>
            <a:schemeClr val="accent6">
              <a:lumMod val="60000"/>
              <a:lumOff val="40000"/>
              <a:alpha val="50000"/>
            </a:schemeClr>
          </a:solidFill>
          <a:ln>
            <a:noFill/>
          </a:ln>
          <a:scene3d>
            <a:camera prst="orthographicFront"/>
            <a:lightRig rig="threePt" dir="t"/>
          </a:scene3d>
          <a:sp3d>
            <a:bevelT/>
          </a:sp3d>
        </p:spPr>
        <p:style>
          <a:lnRef idx="0">
            <a:scrgbClr r="0" g="0" b="0"/>
          </a:lnRef>
          <a:fillRef idx="0">
            <a:scrgbClr r="0" g="0" b="0"/>
          </a:fillRef>
          <a:effectRef idx="0">
            <a:scrgbClr r="0" g="0" b="0"/>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FFFFFF"/>
                </a:solidFill>
                <a:effectLst/>
                <a:uLnTx/>
                <a:uFillTx/>
                <a:latin typeface="Arial" panose="020B0604020202020204"/>
                <a:ea typeface="+mn-ea"/>
                <a:cs typeface="+mn-cs"/>
              </a:rPr>
              <a:t>Market P&amp;L </a:t>
            </a:r>
            <a:br>
              <a:rPr kumimoji="0" lang="en-GB" sz="2400" b="0" i="0" u="none" strike="noStrike" kern="1200" cap="none" spc="0" normalizeH="0" baseline="0" noProof="0">
                <a:ln>
                  <a:noFill/>
                </a:ln>
                <a:solidFill>
                  <a:srgbClr val="FFFFFF"/>
                </a:solidFill>
                <a:effectLst/>
                <a:uLnTx/>
                <a:uFillTx/>
                <a:latin typeface="Arial" panose="020B0604020202020204"/>
                <a:ea typeface="+mn-ea"/>
                <a:cs typeface="+mn-cs"/>
              </a:rPr>
            </a:br>
            <a:r>
              <a:rPr kumimoji="0" lang="en-GB" sz="2400" b="0" i="0" u="none" strike="noStrike" kern="1200" cap="none" spc="0" normalizeH="0" baseline="0" noProof="0">
                <a:ln>
                  <a:noFill/>
                </a:ln>
                <a:solidFill>
                  <a:srgbClr val="FFFFFF"/>
                </a:solidFill>
                <a:effectLst/>
                <a:uLnTx/>
                <a:uFillTx/>
                <a:latin typeface="Arial" panose="020B0604020202020204"/>
                <a:ea typeface="+mn-ea"/>
                <a:cs typeface="+mn-cs"/>
              </a:rPr>
              <a:t>Profit Center </a:t>
            </a:r>
            <a:endParaRPr kumimoji="0" lang="en-US"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TextBox 28">
            <a:extLst>
              <a:ext uri="{FF2B5EF4-FFF2-40B4-BE49-F238E27FC236}">
                <a16:creationId xmlns:a16="http://schemas.microsoft.com/office/drawing/2014/main" id="{CAF04676-672C-4443-8533-FE89F7C610D3}"/>
              </a:ext>
            </a:extLst>
          </p:cNvPr>
          <p:cNvSpPr txBox="1"/>
          <p:nvPr/>
        </p:nvSpPr>
        <p:spPr>
          <a:xfrm>
            <a:off x="4297495" y="4577126"/>
            <a:ext cx="2728762" cy="27106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74D9D5">
                    <a:lumMod val="75000"/>
                  </a:srgbClr>
                </a:solidFill>
                <a:effectLst/>
                <a:uLnTx/>
                <a:uFillTx/>
                <a:latin typeface="Arial" panose="020B0604020202020204"/>
                <a:ea typeface="+mn-ea"/>
                <a:cs typeface="+mn-cs"/>
              </a:rPr>
              <a:t>Allocations/Settlements</a:t>
            </a:r>
            <a:endParaRPr kumimoji="0" lang="en-US" sz="1800" b="1" i="0" u="none" strike="noStrike" kern="1200" cap="none" spc="0" normalizeH="0" baseline="0" noProof="0" err="1">
              <a:ln>
                <a:noFill/>
              </a:ln>
              <a:solidFill>
                <a:srgbClr val="74D9D5">
                  <a:lumMod val="75000"/>
                </a:srgbClr>
              </a:solidFill>
              <a:effectLst/>
              <a:uLnTx/>
              <a:uFillTx/>
              <a:latin typeface="Arial" panose="020B0604020202020204"/>
              <a:ea typeface="+mn-ea"/>
              <a:cs typeface="+mn-cs"/>
            </a:endParaRPr>
          </a:p>
        </p:txBody>
      </p:sp>
      <p:sp>
        <p:nvSpPr>
          <p:cNvPr id="31" name="TextBox 30">
            <a:extLst>
              <a:ext uri="{FF2B5EF4-FFF2-40B4-BE49-F238E27FC236}">
                <a16:creationId xmlns:a16="http://schemas.microsoft.com/office/drawing/2014/main" id="{39467736-E6C6-4D8B-A5BE-7D4F9ED2431F}"/>
              </a:ext>
            </a:extLst>
          </p:cNvPr>
          <p:cNvSpPr txBox="1"/>
          <p:nvPr/>
        </p:nvSpPr>
        <p:spPr>
          <a:xfrm>
            <a:off x="4315259" y="5767078"/>
            <a:ext cx="2728762" cy="27106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74D9D5">
                    <a:lumMod val="75000"/>
                  </a:srgbClr>
                </a:solidFill>
                <a:effectLst/>
                <a:uLnTx/>
                <a:uFillTx/>
                <a:latin typeface="Arial" panose="020B0604020202020204"/>
                <a:ea typeface="+mn-ea"/>
                <a:cs typeface="+mn-cs"/>
              </a:rPr>
              <a:t>Direct FI Posting</a:t>
            </a:r>
            <a:endParaRPr kumimoji="0" lang="en-US" sz="1800" b="1" i="0" u="none" strike="noStrike" kern="1200" cap="none" spc="0" normalizeH="0" baseline="0" noProof="0" err="1">
              <a:ln>
                <a:noFill/>
              </a:ln>
              <a:solidFill>
                <a:srgbClr val="74D9D5">
                  <a:lumMod val="75000"/>
                </a:srgbClr>
              </a:solidFill>
              <a:effectLst/>
              <a:uLnTx/>
              <a:uFillTx/>
              <a:latin typeface="Arial" panose="020B0604020202020204"/>
              <a:ea typeface="+mn-ea"/>
              <a:cs typeface="+mn-cs"/>
            </a:endParaRPr>
          </a:p>
        </p:txBody>
      </p:sp>
      <p:sp>
        <p:nvSpPr>
          <p:cNvPr id="32" name="TextBox 31">
            <a:extLst>
              <a:ext uri="{FF2B5EF4-FFF2-40B4-BE49-F238E27FC236}">
                <a16:creationId xmlns:a16="http://schemas.microsoft.com/office/drawing/2014/main" id="{A505E3F4-DAB2-40A2-AEEE-0B5256A490FA}"/>
              </a:ext>
            </a:extLst>
          </p:cNvPr>
          <p:cNvSpPr txBox="1"/>
          <p:nvPr/>
        </p:nvSpPr>
        <p:spPr>
          <a:xfrm>
            <a:off x="6394642" y="2261632"/>
            <a:ext cx="2728762" cy="27106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74D9D5">
                    <a:lumMod val="75000"/>
                  </a:srgbClr>
                </a:solidFill>
                <a:effectLst/>
                <a:uLnTx/>
                <a:uFillTx/>
                <a:latin typeface="Arial" panose="020B0604020202020204"/>
                <a:ea typeface="+mn-ea"/>
                <a:cs typeface="+mn-cs"/>
              </a:rPr>
              <a:t>Billing</a:t>
            </a:r>
            <a:endParaRPr kumimoji="0" lang="en-US" sz="1800" b="1" i="0" u="none" strike="noStrike" kern="1200" cap="none" spc="0" normalizeH="0" baseline="0" noProof="0" err="1">
              <a:ln>
                <a:noFill/>
              </a:ln>
              <a:solidFill>
                <a:srgbClr val="74D9D5">
                  <a:lumMod val="75000"/>
                </a:srgbClr>
              </a:solidFill>
              <a:effectLst/>
              <a:uLnTx/>
              <a:uFillTx/>
              <a:latin typeface="Arial" panose="020B0604020202020204"/>
              <a:ea typeface="+mn-ea"/>
              <a:cs typeface="+mn-cs"/>
            </a:endParaRPr>
          </a:p>
        </p:txBody>
      </p:sp>
      <p:sp>
        <p:nvSpPr>
          <p:cNvPr id="33" name="Arrow: Right 32">
            <a:extLst>
              <a:ext uri="{FF2B5EF4-FFF2-40B4-BE49-F238E27FC236}">
                <a16:creationId xmlns:a16="http://schemas.microsoft.com/office/drawing/2014/main" id="{B1E25FB6-A0D9-412D-AD1A-263F3A16192D}"/>
              </a:ext>
            </a:extLst>
          </p:cNvPr>
          <p:cNvSpPr/>
          <p:nvPr/>
        </p:nvSpPr>
        <p:spPr>
          <a:xfrm rot="5400000">
            <a:off x="8341161" y="1931034"/>
            <a:ext cx="289701" cy="136035"/>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35" name="Straight Connector 34">
            <a:extLst>
              <a:ext uri="{FF2B5EF4-FFF2-40B4-BE49-F238E27FC236}">
                <a16:creationId xmlns:a16="http://schemas.microsoft.com/office/drawing/2014/main" id="{1EF40F3F-7A65-4E02-94F3-2C9951A0CB09}"/>
              </a:ext>
            </a:extLst>
          </p:cNvPr>
          <p:cNvCxnSpPr>
            <a:cxnSpLocks/>
          </p:cNvCxnSpPr>
          <p:nvPr/>
        </p:nvCxnSpPr>
        <p:spPr>
          <a:xfrm flipV="1">
            <a:off x="2954041" y="1854201"/>
            <a:ext cx="5544755" cy="23196"/>
          </a:xfrm>
          <a:prstGeom prst="line">
            <a:avLst/>
          </a:prstGeom>
          <a:ln w="476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2EBF829-A7E2-407F-BC52-B4CBEBD0ACAC}"/>
              </a:ext>
            </a:extLst>
          </p:cNvPr>
          <p:cNvSpPr txBox="1"/>
          <p:nvPr/>
        </p:nvSpPr>
        <p:spPr>
          <a:xfrm>
            <a:off x="3669592" y="1529998"/>
            <a:ext cx="3934366" cy="300189"/>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74D9D5">
                    <a:lumMod val="75000"/>
                  </a:srgbClr>
                </a:solidFill>
                <a:effectLst/>
                <a:uLnTx/>
                <a:uFillTx/>
                <a:latin typeface="Arial" panose="020B0604020202020204"/>
                <a:ea typeface="+mn-ea"/>
                <a:cs typeface="+mn-cs"/>
              </a:rPr>
              <a:t>Production Variances - Settlement</a:t>
            </a:r>
            <a:endParaRPr kumimoji="0" lang="en-US" sz="1800" b="1" i="0" u="none" strike="noStrike" kern="1200" cap="none" spc="0" normalizeH="0" baseline="0" noProof="0" err="1">
              <a:ln>
                <a:noFill/>
              </a:ln>
              <a:solidFill>
                <a:srgbClr val="74D9D5">
                  <a:lumMod val="75000"/>
                </a:srgbClr>
              </a:solidFill>
              <a:effectLst/>
              <a:uLnTx/>
              <a:uFillTx/>
              <a:latin typeface="Arial" panose="020B0604020202020204"/>
              <a:ea typeface="+mn-ea"/>
              <a:cs typeface="+mn-cs"/>
            </a:endParaRPr>
          </a:p>
        </p:txBody>
      </p:sp>
      <p:sp>
        <p:nvSpPr>
          <p:cNvPr id="17" name="Rectangle 16">
            <a:extLst>
              <a:ext uri="{FF2B5EF4-FFF2-40B4-BE49-F238E27FC236}">
                <a16:creationId xmlns:a16="http://schemas.microsoft.com/office/drawing/2014/main" id="{4C0C936E-A5EF-4A93-8D84-5474457F38D4}"/>
              </a:ext>
            </a:extLst>
          </p:cNvPr>
          <p:cNvSpPr/>
          <p:nvPr/>
        </p:nvSpPr>
        <p:spPr>
          <a:xfrm>
            <a:off x="7747029" y="2167705"/>
            <a:ext cx="1670320" cy="4047262"/>
          </a:xfrm>
          <a:prstGeom prst="rect">
            <a:avLst/>
          </a:prstGeom>
          <a:solidFill>
            <a:schemeClr val="accent3">
              <a:lumMod val="75000"/>
            </a:schemeClr>
          </a:solidFill>
          <a:ln/>
        </p:spPr>
        <p:style>
          <a:lnRef idx="1">
            <a:schemeClr val="accent4"/>
          </a:lnRef>
          <a:fillRef idx="3">
            <a:schemeClr val="accent4"/>
          </a:fillRef>
          <a:effectRef idx="2">
            <a:schemeClr val="accent4"/>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FFFFFF"/>
                </a:solidFill>
                <a:effectLst/>
                <a:uLnTx/>
                <a:uFillTx/>
                <a:latin typeface="Arial" panose="020B0604020202020204"/>
                <a:ea typeface="+mn-ea"/>
                <a:cs typeface="+mn-cs"/>
              </a:rPr>
              <a:t>Profitability Analysis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FFFFFF"/>
                </a:solidFill>
                <a:effectLst/>
                <a:uLnTx/>
                <a:uFillTx/>
                <a:latin typeface="Arial" panose="020B0604020202020204"/>
                <a:ea typeface="+mn-ea"/>
                <a:cs typeface="+mn-cs"/>
              </a:rPr>
              <a:t>CO-PA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rgbClr val="FFFFFF"/>
                </a:solidFill>
                <a:effectLst/>
                <a:uLnTx/>
                <a:uFillTx/>
                <a:latin typeface="Arial" panose="020B0604020202020204"/>
                <a:ea typeface="+mn-ea"/>
                <a:cs typeface="+mn-cs"/>
              </a:rPr>
              <a:t>(ACDOCA Table)</a:t>
            </a:r>
            <a:endParaRPr kumimoji="0" lang="en-US"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2" name="Arrow: Right 71">
            <a:extLst>
              <a:ext uri="{FF2B5EF4-FFF2-40B4-BE49-F238E27FC236}">
                <a16:creationId xmlns:a16="http://schemas.microsoft.com/office/drawing/2014/main" id="{2EC36645-594B-445F-BB11-88C462BACBB3}"/>
              </a:ext>
            </a:extLst>
          </p:cNvPr>
          <p:cNvSpPr/>
          <p:nvPr/>
        </p:nvSpPr>
        <p:spPr>
          <a:xfrm>
            <a:off x="9415638" y="3637293"/>
            <a:ext cx="512134" cy="135776"/>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3" name="Arrow: Right 72">
            <a:extLst>
              <a:ext uri="{FF2B5EF4-FFF2-40B4-BE49-F238E27FC236}">
                <a16:creationId xmlns:a16="http://schemas.microsoft.com/office/drawing/2014/main" id="{BA5548FD-29BE-4DBB-8EE0-9403AB6AF1FD}"/>
              </a:ext>
            </a:extLst>
          </p:cNvPr>
          <p:cNvSpPr/>
          <p:nvPr/>
        </p:nvSpPr>
        <p:spPr>
          <a:xfrm>
            <a:off x="9412698" y="4583051"/>
            <a:ext cx="512134" cy="135776"/>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4" name="Arrow: Right 73">
            <a:extLst>
              <a:ext uri="{FF2B5EF4-FFF2-40B4-BE49-F238E27FC236}">
                <a16:creationId xmlns:a16="http://schemas.microsoft.com/office/drawing/2014/main" id="{1957CF8F-DC6B-47D4-9AD7-E3381A25B062}"/>
              </a:ext>
            </a:extLst>
          </p:cNvPr>
          <p:cNvSpPr/>
          <p:nvPr/>
        </p:nvSpPr>
        <p:spPr>
          <a:xfrm>
            <a:off x="9400498" y="5440286"/>
            <a:ext cx="512134" cy="135776"/>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7" name="Arrow: Right 76">
            <a:extLst>
              <a:ext uri="{FF2B5EF4-FFF2-40B4-BE49-F238E27FC236}">
                <a16:creationId xmlns:a16="http://schemas.microsoft.com/office/drawing/2014/main" id="{F10858B8-116B-4B0E-8579-76BE534D5BA2}"/>
              </a:ext>
            </a:extLst>
          </p:cNvPr>
          <p:cNvSpPr/>
          <p:nvPr/>
        </p:nvSpPr>
        <p:spPr>
          <a:xfrm rot="16200000" flipV="1">
            <a:off x="6335116" y="3214502"/>
            <a:ext cx="903483" cy="140106"/>
          </a:xfrm>
          <a:prstGeom prst="rightArrow">
            <a:avLst/>
          </a:prstGeom>
          <a:solidFill>
            <a:schemeClr val="bg1">
              <a:lumMod val="6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9" name="TextBox 88">
            <a:extLst>
              <a:ext uri="{FF2B5EF4-FFF2-40B4-BE49-F238E27FC236}">
                <a16:creationId xmlns:a16="http://schemas.microsoft.com/office/drawing/2014/main" id="{24D6D6E6-84FB-40F6-A839-D59DF8F5DE11}"/>
              </a:ext>
            </a:extLst>
          </p:cNvPr>
          <p:cNvSpPr txBox="1"/>
          <p:nvPr/>
        </p:nvSpPr>
        <p:spPr>
          <a:xfrm>
            <a:off x="4315259" y="3435895"/>
            <a:ext cx="2728762" cy="27106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74D9D5">
                    <a:lumMod val="75000"/>
                  </a:srgbClr>
                </a:solidFill>
                <a:effectLst/>
                <a:uLnTx/>
                <a:uFillTx/>
                <a:latin typeface="Arial" panose="020B0604020202020204"/>
                <a:ea typeface="+mn-ea"/>
                <a:cs typeface="+mn-cs"/>
              </a:rPr>
              <a:t>Cost of Goods Sold</a:t>
            </a:r>
            <a:endParaRPr kumimoji="0" lang="en-US" sz="1800" b="1" i="0" u="none" strike="noStrike" kern="1200" cap="none" spc="0" normalizeH="0" baseline="0" noProof="0" err="1">
              <a:ln>
                <a:noFill/>
              </a:ln>
              <a:solidFill>
                <a:srgbClr val="74D9D5">
                  <a:lumMod val="75000"/>
                </a:srgbClr>
              </a:solidFill>
              <a:effectLst/>
              <a:uLnTx/>
              <a:uFillTx/>
              <a:latin typeface="Arial" panose="020B0604020202020204"/>
              <a:ea typeface="+mn-ea"/>
              <a:cs typeface="+mn-cs"/>
            </a:endParaRPr>
          </a:p>
        </p:txBody>
      </p:sp>
      <p:sp>
        <p:nvSpPr>
          <p:cNvPr id="34" name="Rectangle: Rounded Corners 33">
            <a:extLst>
              <a:ext uri="{FF2B5EF4-FFF2-40B4-BE49-F238E27FC236}">
                <a16:creationId xmlns:a16="http://schemas.microsoft.com/office/drawing/2014/main" id="{E97313D1-E400-48A4-9157-3259C2A1E8F6}"/>
              </a:ext>
            </a:extLst>
          </p:cNvPr>
          <p:cNvSpPr/>
          <p:nvPr/>
        </p:nvSpPr>
        <p:spPr>
          <a:xfrm>
            <a:off x="7803235" y="2274949"/>
            <a:ext cx="1543323" cy="449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err="1">
                <a:ln>
                  <a:noFill/>
                </a:ln>
                <a:solidFill>
                  <a:srgbClr val="00B2A9">
                    <a:lumMod val="50000"/>
                  </a:srgbClr>
                </a:solidFill>
                <a:effectLst/>
                <a:uLnTx/>
                <a:uFillTx/>
                <a:latin typeface="Arial" panose="020B0604020202020204"/>
                <a:ea typeface="+mn-ea"/>
                <a:cs typeface="+mn-cs"/>
              </a:rPr>
              <a:t>Tcode</a:t>
            </a: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FAGLL03H (line item)</a:t>
            </a:r>
          </a:p>
        </p:txBody>
      </p:sp>
      <p:sp>
        <p:nvSpPr>
          <p:cNvPr id="36" name="Rectangle: Rounded Corners 35">
            <a:extLst>
              <a:ext uri="{FF2B5EF4-FFF2-40B4-BE49-F238E27FC236}">
                <a16:creationId xmlns:a16="http://schemas.microsoft.com/office/drawing/2014/main" id="{08B39A26-EBB5-4CA8-8E08-8C6720BADB32}"/>
              </a:ext>
            </a:extLst>
          </p:cNvPr>
          <p:cNvSpPr/>
          <p:nvPr/>
        </p:nvSpPr>
        <p:spPr>
          <a:xfrm>
            <a:off x="9959154" y="2261632"/>
            <a:ext cx="1281948" cy="44915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err="1">
                <a:ln>
                  <a:noFill/>
                </a:ln>
                <a:solidFill>
                  <a:srgbClr val="00B2A9">
                    <a:lumMod val="50000"/>
                  </a:srgbClr>
                </a:solidFill>
                <a:effectLst/>
                <a:uLnTx/>
                <a:uFillTx/>
                <a:latin typeface="Arial" panose="020B0604020202020204"/>
                <a:ea typeface="+mn-ea"/>
                <a:cs typeface="+mn-cs"/>
              </a:rPr>
              <a:t>Tcode</a:t>
            </a: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 GR55 (Z4PL)</a:t>
            </a:r>
          </a:p>
        </p:txBody>
      </p:sp>
    </p:spTree>
    <p:extLst>
      <p:ext uri="{BB962C8B-B14F-4D97-AF65-F5344CB8AC3E}">
        <p14:creationId xmlns:p14="http://schemas.microsoft.com/office/powerpoint/2010/main" val="31628558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256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33" name="Group 32">
            <a:extLst>
              <a:ext uri="{FF2B5EF4-FFF2-40B4-BE49-F238E27FC236}">
                <a16:creationId xmlns:a16="http://schemas.microsoft.com/office/drawing/2014/main" id="{9D7FDC1A-4A48-48C1-BED1-0B2A403C0252}"/>
              </a:ext>
            </a:extLst>
          </p:cNvPr>
          <p:cNvGrpSpPr/>
          <p:nvPr/>
        </p:nvGrpSpPr>
        <p:grpSpPr>
          <a:xfrm>
            <a:off x="199844" y="2497482"/>
            <a:ext cx="6278878" cy="2713145"/>
            <a:chOff x="4428422" y="2334368"/>
            <a:chExt cx="7806123" cy="3512903"/>
          </a:xfrm>
        </p:grpSpPr>
        <p:cxnSp>
          <p:nvCxnSpPr>
            <p:cNvPr id="54" name="Straight Connector 53">
              <a:extLst>
                <a:ext uri="{FF2B5EF4-FFF2-40B4-BE49-F238E27FC236}">
                  <a16:creationId xmlns:a16="http://schemas.microsoft.com/office/drawing/2014/main" id="{438E5075-D95E-41C4-B927-9734724B310F}"/>
                </a:ext>
              </a:extLst>
            </p:cNvPr>
            <p:cNvCxnSpPr>
              <a:cxnSpLocks/>
            </p:cNvCxnSpPr>
            <p:nvPr/>
          </p:nvCxnSpPr>
          <p:spPr>
            <a:xfrm>
              <a:off x="6781086" y="3324312"/>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C5DF15C-3DDA-4485-B0D1-9F04162A51CA}"/>
                </a:ext>
              </a:extLst>
            </p:cNvPr>
            <p:cNvCxnSpPr>
              <a:cxnSpLocks/>
            </p:cNvCxnSpPr>
            <p:nvPr/>
          </p:nvCxnSpPr>
          <p:spPr>
            <a:xfrm>
              <a:off x="6795663" y="4793898"/>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2D409BA4-C927-47A8-9F0C-E96A8D722609}"/>
                </a:ext>
              </a:extLst>
            </p:cNvPr>
            <p:cNvGrpSpPr/>
            <p:nvPr/>
          </p:nvGrpSpPr>
          <p:grpSpPr>
            <a:xfrm>
              <a:off x="4428422" y="2334368"/>
              <a:ext cx="7806123" cy="3512903"/>
              <a:chOff x="4428422" y="2334368"/>
              <a:chExt cx="7806123" cy="3512903"/>
            </a:xfrm>
          </p:grpSpPr>
          <p:grpSp>
            <p:nvGrpSpPr>
              <p:cNvPr id="57" name="Group 56">
                <a:extLst>
                  <a:ext uri="{FF2B5EF4-FFF2-40B4-BE49-F238E27FC236}">
                    <a16:creationId xmlns:a16="http://schemas.microsoft.com/office/drawing/2014/main" id="{BA5103D5-C60D-42D5-B0B7-2829CDCC999F}"/>
                  </a:ext>
                </a:extLst>
              </p:cNvPr>
              <p:cNvGrpSpPr/>
              <p:nvPr/>
            </p:nvGrpSpPr>
            <p:grpSpPr>
              <a:xfrm>
                <a:off x="4428422" y="2334368"/>
                <a:ext cx="7796979" cy="3512903"/>
                <a:chOff x="4371016" y="2260587"/>
                <a:chExt cx="7796979" cy="3512903"/>
              </a:xfrm>
            </p:grpSpPr>
            <p:cxnSp>
              <p:nvCxnSpPr>
                <p:cNvPr id="62" name="Elbow Connector 37">
                  <a:extLst>
                    <a:ext uri="{FF2B5EF4-FFF2-40B4-BE49-F238E27FC236}">
                      <a16:creationId xmlns:a16="http://schemas.microsoft.com/office/drawing/2014/main" id="{03A1398B-11E0-4D8A-B8DF-7B92B8D2F2CA}"/>
                    </a:ext>
                  </a:extLst>
                </p:cNvPr>
                <p:cNvCxnSpPr>
                  <a:cxnSpLocks/>
                </p:cNvCxnSpPr>
                <p:nvPr/>
              </p:nvCxnSpPr>
              <p:spPr>
                <a:xfrm>
                  <a:off x="6204970" y="3996147"/>
                  <a:ext cx="1096000" cy="14997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286BE1F1-6F7E-4963-91DB-595587B828EA}"/>
                    </a:ext>
                  </a:extLst>
                </p:cNvPr>
                <p:cNvGrpSpPr/>
                <p:nvPr/>
              </p:nvGrpSpPr>
              <p:grpSpPr>
                <a:xfrm>
                  <a:off x="4371016" y="2260587"/>
                  <a:ext cx="7796979" cy="3512903"/>
                  <a:chOff x="4371016" y="2260587"/>
                  <a:chExt cx="7796979" cy="3512903"/>
                </a:xfrm>
              </p:grpSpPr>
              <p:cxnSp>
                <p:nvCxnSpPr>
                  <p:cNvPr id="64" name="Elbow Connector 31">
                    <a:extLst>
                      <a:ext uri="{FF2B5EF4-FFF2-40B4-BE49-F238E27FC236}">
                        <a16:creationId xmlns:a16="http://schemas.microsoft.com/office/drawing/2014/main" id="{8732573E-C059-4CDD-A3B1-FD3B61AF862D}"/>
                      </a:ext>
                    </a:extLst>
                  </p:cNvPr>
                  <p:cNvCxnSpPr>
                    <a:cxnSpLocks/>
                  </p:cNvCxnSpPr>
                  <p:nvPr/>
                </p:nvCxnSpPr>
                <p:spPr>
                  <a:xfrm flipV="1">
                    <a:off x="6194084" y="2527165"/>
                    <a:ext cx="1121463" cy="1465481"/>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641DE25E-12E0-498F-AA2D-0D8C9A063097}"/>
                      </a:ext>
                    </a:extLst>
                  </p:cNvPr>
                  <p:cNvGrpSpPr/>
                  <p:nvPr/>
                </p:nvGrpSpPr>
                <p:grpSpPr>
                  <a:xfrm>
                    <a:off x="4371016" y="2260587"/>
                    <a:ext cx="7796979" cy="3512903"/>
                    <a:chOff x="4371016" y="2260587"/>
                    <a:chExt cx="7796979" cy="3512903"/>
                  </a:xfrm>
                </p:grpSpPr>
                <p:sp>
                  <p:nvSpPr>
                    <p:cNvPr id="66" name="TextBox 65">
                      <a:extLst>
                        <a:ext uri="{FF2B5EF4-FFF2-40B4-BE49-F238E27FC236}">
                          <a16:creationId xmlns:a16="http://schemas.microsoft.com/office/drawing/2014/main" id="{08E61E07-8197-4FA1-81A5-0E1DF26BA203}"/>
                        </a:ext>
                      </a:extLst>
                    </p:cNvPr>
                    <p:cNvSpPr txBox="1"/>
                    <p:nvPr/>
                  </p:nvSpPr>
                  <p:spPr>
                    <a:xfrm>
                      <a:off x="7532636" y="226058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Profitability Analysis: Intro to S/4 </a:t>
                      </a:r>
                    </a:p>
                  </p:txBody>
                </p:sp>
                <p:grpSp>
                  <p:nvGrpSpPr>
                    <p:cNvPr id="67" name="Group 66">
                      <a:extLst>
                        <a:ext uri="{FF2B5EF4-FFF2-40B4-BE49-F238E27FC236}">
                          <a16:creationId xmlns:a16="http://schemas.microsoft.com/office/drawing/2014/main" id="{78638872-F4B8-4B4A-8FF2-00301D4D0B7C}"/>
                        </a:ext>
                      </a:extLst>
                    </p:cNvPr>
                    <p:cNvGrpSpPr/>
                    <p:nvPr/>
                  </p:nvGrpSpPr>
                  <p:grpSpPr>
                    <a:xfrm>
                      <a:off x="4371016" y="3031011"/>
                      <a:ext cx="1867560" cy="1901181"/>
                      <a:chOff x="575788" y="4361808"/>
                      <a:chExt cx="624164" cy="624164"/>
                    </a:xfrm>
                  </p:grpSpPr>
                  <p:grpSp>
                    <p:nvGrpSpPr>
                      <p:cNvPr id="69" name="Group 68">
                        <a:extLst>
                          <a:ext uri="{FF2B5EF4-FFF2-40B4-BE49-F238E27FC236}">
                            <a16:creationId xmlns:a16="http://schemas.microsoft.com/office/drawing/2014/main" id="{F35BCA1D-142D-47CD-818D-36BE75ACABF4}"/>
                          </a:ext>
                        </a:extLst>
                      </p:cNvPr>
                      <p:cNvGrpSpPr/>
                      <p:nvPr/>
                    </p:nvGrpSpPr>
                    <p:grpSpPr>
                      <a:xfrm>
                        <a:off x="575788" y="4361808"/>
                        <a:ext cx="624164" cy="624164"/>
                        <a:chOff x="4492144" y="190843"/>
                        <a:chExt cx="855656" cy="855656"/>
                      </a:xfrm>
                    </p:grpSpPr>
                    <p:sp>
                      <p:nvSpPr>
                        <p:cNvPr id="71" name="Oval 70">
                          <a:extLst>
                            <a:ext uri="{FF2B5EF4-FFF2-40B4-BE49-F238E27FC236}">
                              <a16:creationId xmlns:a16="http://schemas.microsoft.com/office/drawing/2014/main" id="{4BB1A2BC-50F8-4E68-A87B-40268B4E5ACF}"/>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2" name="Oval 71">
                          <a:extLst>
                            <a:ext uri="{FF2B5EF4-FFF2-40B4-BE49-F238E27FC236}">
                              <a16:creationId xmlns:a16="http://schemas.microsoft.com/office/drawing/2014/main" id="{E26AB911-000E-48E4-B62B-6D8BD1844CAF}"/>
                            </a:ext>
                          </a:extLst>
                        </p:cNvPr>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70" name="Picture 69">
                        <a:extLst>
                          <a:ext uri="{FF2B5EF4-FFF2-40B4-BE49-F238E27FC236}">
                            <a16:creationId xmlns:a16="http://schemas.microsoft.com/office/drawing/2014/main" id="{63592B79-3A52-4FF6-B805-2D2C417A0D71}"/>
                          </a:ext>
                        </a:extLst>
                      </p:cNvPr>
                      <p:cNvPicPr>
                        <a:picLocks noChangeAspect="1"/>
                      </p:cNvPicPr>
                      <p:nvPr/>
                    </p:nvPicPr>
                    <p:blipFill>
                      <a:blip r:embed="rId3"/>
                      <a:stretch>
                        <a:fillRect/>
                      </a:stretch>
                    </p:blipFill>
                    <p:spPr>
                      <a:xfrm>
                        <a:off x="718607" y="4514537"/>
                        <a:ext cx="328080" cy="318706"/>
                      </a:xfrm>
                      <a:prstGeom prst="rect">
                        <a:avLst/>
                      </a:prstGeom>
                    </p:spPr>
                  </p:pic>
                </p:grpSp>
                <p:sp>
                  <p:nvSpPr>
                    <p:cNvPr id="68" name="TextBox 67">
                      <a:extLst>
                        <a:ext uri="{FF2B5EF4-FFF2-40B4-BE49-F238E27FC236}">
                          <a16:creationId xmlns:a16="http://schemas.microsoft.com/office/drawing/2014/main" id="{4D522579-72F1-433D-A0EB-91DEB9DF80CC}"/>
                        </a:ext>
                      </a:extLst>
                    </p:cNvPr>
                    <p:cNvSpPr txBox="1"/>
                    <p:nvPr/>
                  </p:nvSpPr>
                  <p:spPr>
                    <a:xfrm>
                      <a:off x="7558856" y="5218301"/>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Reporting Capabilities</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sp>
            <p:nvSpPr>
              <p:cNvPr id="58" name="TextBox 57">
                <a:extLst>
                  <a:ext uri="{FF2B5EF4-FFF2-40B4-BE49-F238E27FC236}">
                    <a16:creationId xmlns:a16="http://schemas.microsoft.com/office/drawing/2014/main" id="{8A460BC5-B8DF-4CA4-AA84-FA4EA111BCE1}"/>
                  </a:ext>
                </a:extLst>
              </p:cNvPr>
              <p:cNvSpPr txBox="1"/>
              <p:nvPr/>
            </p:nvSpPr>
            <p:spPr>
              <a:xfrm>
                <a:off x="7616262" y="4511768"/>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Market P&amp;L</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9" name="Straight Connector 58">
                <a:extLst>
                  <a:ext uri="{FF2B5EF4-FFF2-40B4-BE49-F238E27FC236}">
                    <a16:creationId xmlns:a16="http://schemas.microsoft.com/office/drawing/2014/main" id="{023960CD-71D4-4F4D-8402-AA9542676CEB}"/>
                  </a:ext>
                </a:extLst>
              </p:cNvPr>
              <p:cNvCxnSpPr>
                <a:cxnSpLocks/>
              </p:cNvCxnSpPr>
              <p:nvPr/>
            </p:nvCxnSpPr>
            <p:spPr>
              <a:xfrm>
                <a:off x="6810376" y="4066427"/>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5C52ADC7-BCEA-4A1A-8EDA-71FE094BED0C}"/>
                  </a:ext>
                </a:extLst>
              </p:cNvPr>
              <p:cNvSpPr txBox="1"/>
              <p:nvPr/>
            </p:nvSpPr>
            <p:spPr>
              <a:xfrm>
                <a:off x="7590041" y="3107175"/>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 </a:t>
                </a:r>
                <a:r>
                  <a:rPr kumimoji="0" lang="en-GB" sz="1800" b="1" i="0" u="none" strike="noStrike" kern="1200" cap="none" spc="0" normalizeH="0" baseline="0" noProof="0" err="1">
                    <a:ln>
                      <a:noFill/>
                    </a:ln>
                    <a:solidFill>
                      <a:srgbClr val="FFFFFF"/>
                    </a:solidFill>
                    <a:effectLst/>
                    <a:uLnTx/>
                    <a:uFillTx/>
                    <a:latin typeface="Arial" panose="020B0604020202020204"/>
                    <a:ea typeface="+mn-ea"/>
                    <a:cs typeface="+mn-cs"/>
                  </a:rPr>
                  <a:t>Center</a:t>
                </a: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 Reorganization</a:t>
                </a:r>
              </a:p>
            </p:txBody>
          </p:sp>
          <p:sp>
            <p:nvSpPr>
              <p:cNvPr id="61" name="TextBox 60">
                <a:extLst>
                  <a:ext uri="{FF2B5EF4-FFF2-40B4-BE49-F238E27FC236}">
                    <a16:creationId xmlns:a16="http://schemas.microsoft.com/office/drawing/2014/main" id="{6738F5AC-79F4-4B74-AA0A-BAC026BE8EF1}"/>
                  </a:ext>
                </a:extLst>
              </p:cNvPr>
              <p:cNvSpPr txBox="1"/>
              <p:nvPr/>
            </p:nvSpPr>
            <p:spPr>
              <a:xfrm>
                <a:off x="7599186" y="383682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Standardization of Dimensions</a:t>
                </a:r>
              </a:p>
            </p:txBody>
          </p:sp>
        </p:grpSp>
      </p:grpSp>
      <p:grpSp>
        <p:nvGrpSpPr>
          <p:cNvPr id="4" name="Group 3">
            <a:extLst>
              <a:ext uri="{FF2B5EF4-FFF2-40B4-BE49-F238E27FC236}">
                <a16:creationId xmlns:a16="http://schemas.microsoft.com/office/drawing/2014/main" id="{5B7A450E-CCDA-41FC-8613-F0914B354C7E}"/>
              </a:ext>
            </a:extLst>
          </p:cNvPr>
          <p:cNvGrpSpPr/>
          <p:nvPr/>
        </p:nvGrpSpPr>
        <p:grpSpPr>
          <a:xfrm>
            <a:off x="6167129" y="2070137"/>
            <a:ext cx="4825819" cy="3025585"/>
            <a:chOff x="6167129" y="2070137"/>
            <a:chExt cx="4825819" cy="3025585"/>
          </a:xfrm>
        </p:grpSpPr>
        <p:grpSp>
          <p:nvGrpSpPr>
            <p:cNvPr id="19" name="Group 18">
              <a:extLst>
                <a:ext uri="{FF2B5EF4-FFF2-40B4-BE49-F238E27FC236}">
                  <a16:creationId xmlns:a16="http://schemas.microsoft.com/office/drawing/2014/main" id="{3F49BABF-73A4-41A0-8EC8-DC283FC79D84}"/>
                </a:ext>
              </a:extLst>
            </p:cNvPr>
            <p:cNvGrpSpPr/>
            <p:nvPr/>
          </p:nvGrpSpPr>
          <p:grpSpPr>
            <a:xfrm>
              <a:off x="6168074" y="2070137"/>
              <a:ext cx="4824874" cy="3025585"/>
              <a:chOff x="7304060" y="1822181"/>
              <a:chExt cx="4824874" cy="3025585"/>
            </a:xfrm>
          </p:grpSpPr>
          <p:cxnSp>
            <p:nvCxnSpPr>
              <p:cNvPr id="8" name="Elbow Connector 7"/>
              <p:cNvCxnSpPr>
                <a:cxnSpLocks/>
              </p:cNvCxnSpPr>
              <p:nvPr/>
            </p:nvCxnSpPr>
            <p:spPr>
              <a:xfrm>
                <a:off x="7304060" y="3061029"/>
                <a:ext cx="1009162" cy="719660"/>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 name="Elbow Connector 4"/>
              <p:cNvCxnSpPr>
                <a:cxnSpLocks/>
              </p:cNvCxnSpPr>
              <p:nvPr/>
            </p:nvCxnSpPr>
            <p:spPr>
              <a:xfrm flipV="1">
                <a:off x="7304060" y="2095049"/>
                <a:ext cx="1008701" cy="958351"/>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cxnSpLocks/>
              </p:cNvCxnSpPr>
              <p:nvPr/>
            </p:nvCxnSpPr>
            <p:spPr>
              <a:xfrm>
                <a:off x="7785534" y="3053401"/>
                <a:ext cx="527227" cy="6919"/>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8437139" y="1822181"/>
                <a:ext cx="3691795" cy="803812"/>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a:ln>
                      <a:noFill/>
                    </a:ln>
                    <a:solidFill>
                      <a:srgbClr val="1A3040"/>
                    </a:solidFill>
                    <a:effectLst/>
                    <a:uLnTx/>
                    <a:uFillTx/>
                    <a:latin typeface="Arial" charset="0"/>
                    <a:ea typeface="+mn-ea"/>
                    <a:cs typeface="Arial" charset="0"/>
                  </a:rPr>
                  <a:t>Rationale for changes in CO-PA</a:t>
                </a:r>
                <a:endParaRPr kumimoji="0" lang="en-GB" sz="1400" b="0" i="0" u="none" strike="noStrike" kern="1200" cap="none" spc="0" normalizeH="0" baseline="0" noProof="0">
                  <a:ln>
                    <a:noFill/>
                  </a:ln>
                  <a:solidFill>
                    <a:srgbClr val="1A3040"/>
                  </a:solidFill>
                  <a:effectLst/>
                  <a:uLnTx/>
                  <a:uFillTx/>
                  <a:latin typeface="Arial" panose="020B0604020202020204"/>
                  <a:ea typeface="+mn-ea"/>
                  <a:cs typeface="+mn-cs"/>
                </a:endParaRPr>
              </a:p>
            </p:txBody>
          </p:sp>
          <p:sp>
            <p:nvSpPr>
              <p:cNvPr id="40" name="Rounded Rectangle 39"/>
              <p:cNvSpPr/>
              <p:nvPr/>
            </p:nvSpPr>
            <p:spPr>
              <a:xfrm>
                <a:off x="8437135" y="3552967"/>
                <a:ext cx="3691795" cy="54308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a:ea typeface="+mn-ea"/>
                    <a:cs typeface="Arial"/>
                  </a:rPr>
                  <a:t>Profit </a:t>
                </a:r>
                <a:r>
                  <a:rPr kumimoji="0" lang="en-GB" sz="1600" b="1" i="0" u="none" strike="noStrike" kern="1200" cap="none" spc="0" normalizeH="0" baseline="0" noProof="0" dirty="0" err="1">
                    <a:ln>
                      <a:noFill/>
                    </a:ln>
                    <a:solidFill>
                      <a:srgbClr val="FFFFFF"/>
                    </a:solidFill>
                    <a:effectLst/>
                    <a:uLnTx/>
                    <a:uFillTx/>
                    <a:latin typeface="Arial"/>
                    <a:ea typeface="+mn-ea"/>
                    <a:cs typeface="Arial"/>
                  </a:rPr>
                  <a:t>Center</a:t>
                </a:r>
                <a:r>
                  <a:rPr kumimoji="0" lang="en-GB" sz="1600" b="1" i="0" u="none" strike="noStrike" kern="1200" cap="none" spc="0" normalizeH="0" baseline="0" noProof="0" dirty="0">
                    <a:ln>
                      <a:noFill/>
                    </a:ln>
                    <a:solidFill>
                      <a:srgbClr val="FFFFFF"/>
                    </a:solidFill>
                    <a:effectLst/>
                    <a:uLnTx/>
                    <a:uFillTx/>
                    <a:latin typeface="Arial"/>
                    <a:ea typeface="+mn-ea"/>
                    <a:cs typeface="Arial"/>
                  </a:rPr>
                  <a:t> Reorganization</a:t>
                </a:r>
                <a:endParaRPr kumimoji="0" lang="en-US" sz="1400" b="0" i="0" u="none" strike="noStrike" kern="1200" cap="none" spc="0" normalizeH="0" baseline="0" noProof="0" dirty="0">
                  <a:ln>
                    <a:noFill/>
                  </a:ln>
                  <a:solidFill>
                    <a:srgbClr val="FFFFFF"/>
                  </a:solidFill>
                  <a:effectLst/>
                  <a:uLnTx/>
                  <a:uFillTx/>
                  <a:latin typeface="Arial"/>
                  <a:ea typeface="+mn-ea"/>
                  <a:cs typeface="Arial"/>
                </a:endParaRPr>
              </a:p>
            </p:txBody>
          </p:sp>
          <p:sp>
            <p:nvSpPr>
              <p:cNvPr id="41" name="Rounded Rectangle 40"/>
              <p:cNvSpPr/>
              <p:nvPr/>
            </p:nvSpPr>
            <p:spPr>
              <a:xfrm>
                <a:off x="8437136" y="4317157"/>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charset="0"/>
                    <a:ea typeface="+mn-ea"/>
                    <a:cs typeface="Arial" charset="0"/>
                  </a:rPr>
                  <a:t>Cost </a:t>
                </a:r>
                <a:r>
                  <a:rPr kumimoji="0" lang="en-GB" sz="1600" b="1" i="0" u="none" strike="noStrike" kern="1200" cap="none" spc="0" normalizeH="0" baseline="0" noProof="0" dirty="0" err="1">
                    <a:ln>
                      <a:noFill/>
                    </a:ln>
                    <a:solidFill>
                      <a:srgbClr val="FFFFFF"/>
                    </a:solidFill>
                    <a:effectLst/>
                    <a:uLnTx/>
                    <a:uFillTx/>
                    <a:latin typeface="Arial" charset="0"/>
                    <a:ea typeface="+mn-ea"/>
                    <a:cs typeface="Arial" charset="0"/>
                  </a:rPr>
                  <a:t>Center</a:t>
                </a:r>
                <a:r>
                  <a:rPr kumimoji="0" lang="en-GB" sz="1600" b="1" i="0" u="none" strike="noStrike" kern="1200" cap="none" spc="0" normalizeH="0" baseline="0" noProof="0" dirty="0">
                    <a:ln>
                      <a:noFill/>
                    </a:ln>
                    <a:solidFill>
                      <a:srgbClr val="FFFFFF"/>
                    </a:solidFill>
                    <a:effectLst/>
                    <a:uLnTx/>
                    <a:uFillTx/>
                    <a:latin typeface="Arial" charset="0"/>
                    <a:ea typeface="+mn-ea"/>
                    <a:cs typeface="Arial" charset="0"/>
                  </a:rPr>
                  <a:t> Standardization</a:t>
                </a:r>
                <a:endParaRPr kumimoji="0" lang="en-GB"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cxnSp>
          <p:nvCxnSpPr>
            <p:cNvPr id="35" name="Elbow Connector 7">
              <a:extLst>
                <a:ext uri="{FF2B5EF4-FFF2-40B4-BE49-F238E27FC236}">
                  <a16:creationId xmlns:a16="http://schemas.microsoft.com/office/drawing/2014/main" id="{14C33D7B-CADF-44CA-9164-05D24806FC48}"/>
                </a:ext>
              </a:extLst>
            </p:cNvPr>
            <p:cNvCxnSpPr>
              <a:cxnSpLocks/>
            </p:cNvCxnSpPr>
            <p:nvPr/>
          </p:nvCxnSpPr>
          <p:spPr>
            <a:xfrm>
              <a:off x="6167129" y="3302800"/>
              <a:ext cx="1009162" cy="1542657"/>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6" name="Rounded Rectangle 39">
              <a:extLst>
                <a:ext uri="{FF2B5EF4-FFF2-40B4-BE49-F238E27FC236}">
                  <a16:creationId xmlns:a16="http://schemas.microsoft.com/office/drawing/2014/main" id="{3CCC5F01-2778-459E-8E6D-E964C6EF1B20}"/>
                </a:ext>
              </a:extLst>
            </p:cNvPr>
            <p:cNvSpPr/>
            <p:nvPr/>
          </p:nvSpPr>
          <p:spPr>
            <a:xfrm>
              <a:off x="7301151" y="3036734"/>
              <a:ext cx="3691795" cy="54308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a:ea typeface="+mn-ea"/>
                  <a:cs typeface="Arial"/>
                </a:rPr>
                <a:t>The 3 Building Blocks</a:t>
              </a:r>
              <a:endParaRPr kumimoji="0" lang="en-US" sz="1400" b="0" i="0" u="none" strike="noStrike" kern="1200" cap="none" spc="0" normalizeH="0" baseline="0" noProof="0" dirty="0">
                <a:ln>
                  <a:noFill/>
                </a:ln>
                <a:solidFill>
                  <a:srgbClr val="FFFFFF"/>
                </a:solidFill>
                <a:effectLst/>
                <a:uLnTx/>
                <a:uFillTx/>
                <a:latin typeface="Arial"/>
                <a:ea typeface="+mn-ea"/>
                <a:cs typeface="Arial"/>
              </a:endParaRPr>
            </a:p>
          </p:txBody>
        </p:sp>
      </p:grpSp>
    </p:spTree>
    <p:extLst>
      <p:ext uri="{BB962C8B-B14F-4D97-AF65-F5344CB8AC3E}">
        <p14:creationId xmlns:p14="http://schemas.microsoft.com/office/powerpoint/2010/main" val="1113035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AC6FB-1118-4A00-BF3F-B4552F3A4CC4}"/>
              </a:ext>
            </a:extLst>
          </p:cNvPr>
          <p:cNvSpPr>
            <a:spLocks noGrp="1"/>
          </p:cNvSpPr>
          <p:nvPr>
            <p:ph type="title"/>
          </p:nvPr>
        </p:nvSpPr>
        <p:spPr/>
        <p:txBody>
          <a:bodyPr/>
          <a:lstStyle/>
          <a:p>
            <a:r>
              <a:rPr lang="en-GB"/>
              <a:t>Business Rationale for Profitability Analysis focus areas</a:t>
            </a:r>
            <a:endParaRPr lang="en-US"/>
          </a:p>
        </p:txBody>
      </p:sp>
      <p:sp>
        <p:nvSpPr>
          <p:cNvPr id="4" name="Footer Placeholder 3">
            <a:extLst>
              <a:ext uri="{FF2B5EF4-FFF2-40B4-BE49-F238E27FC236}">
                <a16:creationId xmlns:a16="http://schemas.microsoft.com/office/drawing/2014/main" id="{8FEB7B36-7F97-4CDD-A318-0CFD315751E7}"/>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4AA4FA7A-BA70-49C8-ABA7-35641537FFE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aphicFrame>
        <p:nvGraphicFramePr>
          <p:cNvPr id="6" name="Diagram 5">
            <a:extLst>
              <a:ext uri="{FF2B5EF4-FFF2-40B4-BE49-F238E27FC236}">
                <a16:creationId xmlns:a16="http://schemas.microsoft.com/office/drawing/2014/main" id="{9ED2ADF0-F66B-4CBB-9983-460DECA51702}"/>
              </a:ext>
            </a:extLst>
          </p:cNvPr>
          <p:cNvGraphicFramePr/>
          <p:nvPr/>
        </p:nvGraphicFramePr>
        <p:xfrm>
          <a:off x="2454034" y="1545808"/>
          <a:ext cx="7368357" cy="48780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07537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256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33" name="Group 32">
            <a:extLst>
              <a:ext uri="{FF2B5EF4-FFF2-40B4-BE49-F238E27FC236}">
                <a16:creationId xmlns:a16="http://schemas.microsoft.com/office/drawing/2014/main" id="{C8338A77-1B31-4560-85F1-1B0A537B6460}"/>
              </a:ext>
            </a:extLst>
          </p:cNvPr>
          <p:cNvGrpSpPr/>
          <p:nvPr/>
        </p:nvGrpSpPr>
        <p:grpSpPr>
          <a:xfrm>
            <a:off x="174216" y="2521436"/>
            <a:ext cx="6278878" cy="2769372"/>
            <a:chOff x="4428422" y="2334368"/>
            <a:chExt cx="7806123" cy="3512903"/>
          </a:xfrm>
        </p:grpSpPr>
        <p:cxnSp>
          <p:nvCxnSpPr>
            <p:cNvPr id="54" name="Straight Connector 53">
              <a:extLst>
                <a:ext uri="{FF2B5EF4-FFF2-40B4-BE49-F238E27FC236}">
                  <a16:creationId xmlns:a16="http://schemas.microsoft.com/office/drawing/2014/main" id="{9EA03E96-6461-41F0-9798-470563646CFB}"/>
                </a:ext>
              </a:extLst>
            </p:cNvPr>
            <p:cNvCxnSpPr>
              <a:cxnSpLocks/>
            </p:cNvCxnSpPr>
            <p:nvPr/>
          </p:nvCxnSpPr>
          <p:spPr>
            <a:xfrm>
              <a:off x="6781086" y="3324312"/>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5EAF377-EAA8-40B2-A534-D02AD6E82103}"/>
                </a:ext>
              </a:extLst>
            </p:cNvPr>
            <p:cNvCxnSpPr>
              <a:cxnSpLocks/>
            </p:cNvCxnSpPr>
            <p:nvPr/>
          </p:nvCxnSpPr>
          <p:spPr>
            <a:xfrm>
              <a:off x="6795663" y="4793898"/>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41D4BAF2-056B-44D1-8166-93BFA094B433}"/>
                </a:ext>
              </a:extLst>
            </p:cNvPr>
            <p:cNvGrpSpPr/>
            <p:nvPr/>
          </p:nvGrpSpPr>
          <p:grpSpPr>
            <a:xfrm>
              <a:off x="4428422" y="2334368"/>
              <a:ext cx="7806123" cy="3512903"/>
              <a:chOff x="4428422" y="2334368"/>
              <a:chExt cx="7806123" cy="3512903"/>
            </a:xfrm>
          </p:grpSpPr>
          <p:grpSp>
            <p:nvGrpSpPr>
              <p:cNvPr id="57" name="Group 56">
                <a:extLst>
                  <a:ext uri="{FF2B5EF4-FFF2-40B4-BE49-F238E27FC236}">
                    <a16:creationId xmlns:a16="http://schemas.microsoft.com/office/drawing/2014/main" id="{EDD44819-3DB2-4ADB-A35E-31A798337098}"/>
                  </a:ext>
                </a:extLst>
              </p:cNvPr>
              <p:cNvGrpSpPr/>
              <p:nvPr/>
            </p:nvGrpSpPr>
            <p:grpSpPr>
              <a:xfrm>
                <a:off x="4428422" y="2334368"/>
                <a:ext cx="7796979" cy="3512903"/>
                <a:chOff x="4371016" y="2260587"/>
                <a:chExt cx="7796979" cy="3512903"/>
              </a:xfrm>
            </p:grpSpPr>
            <p:cxnSp>
              <p:nvCxnSpPr>
                <p:cNvPr id="62" name="Elbow Connector 37">
                  <a:extLst>
                    <a:ext uri="{FF2B5EF4-FFF2-40B4-BE49-F238E27FC236}">
                      <a16:creationId xmlns:a16="http://schemas.microsoft.com/office/drawing/2014/main" id="{C5E1527C-E338-44C3-AA19-8F9F035A3753}"/>
                    </a:ext>
                  </a:extLst>
                </p:cNvPr>
                <p:cNvCxnSpPr>
                  <a:cxnSpLocks/>
                </p:cNvCxnSpPr>
                <p:nvPr/>
              </p:nvCxnSpPr>
              <p:spPr>
                <a:xfrm>
                  <a:off x="6204970" y="3996147"/>
                  <a:ext cx="1096000" cy="14997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3" name="Group 62">
                  <a:extLst>
                    <a:ext uri="{FF2B5EF4-FFF2-40B4-BE49-F238E27FC236}">
                      <a16:creationId xmlns:a16="http://schemas.microsoft.com/office/drawing/2014/main" id="{21489D11-4550-4FBB-A227-AF776870A433}"/>
                    </a:ext>
                  </a:extLst>
                </p:cNvPr>
                <p:cNvGrpSpPr/>
                <p:nvPr/>
              </p:nvGrpSpPr>
              <p:grpSpPr>
                <a:xfrm>
                  <a:off x="4371016" y="2260587"/>
                  <a:ext cx="7796979" cy="3512903"/>
                  <a:chOff x="4371016" y="2260587"/>
                  <a:chExt cx="7796979" cy="3512903"/>
                </a:xfrm>
              </p:grpSpPr>
              <p:cxnSp>
                <p:nvCxnSpPr>
                  <p:cNvPr id="64" name="Elbow Connector 31">
                    <a:extLst>
                      <a:ext uri="{FF2B5EF4-FFF2-40B4-BE49-F238E27FC236}">
                        <a16:creationId xmlns:a16="http://schemas.microsoft.com/office/drawing/2014/main" id="{67E1BF88-6FDD-487A-B27F-0390698EEB76}"/>
                      </a:ext>
                    </a:extLst>
                  </p:cNvPr>
                  <p:cNvCxnSpPr>
                    <a:cxnSpLocks/>
                  </p:cNvCxnSpPr>
                  <p:nvPr/>
                </p:nvCxnSpPr>
                <p:spPr>
                  <a:xfrm flipV="1">
                    <a:off x="6194084" y="2527165"/>
                    <a:ext cx="1121463" cy="1465481"/>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DABCCCB0-4008-4ACB-9112-D675690711A9}"/>
                      </a:ext>
                    </a:extLst>
                  </p:cNvPr>
                  <p:cNvGrpSpPr/>
                  <p:nvPr/>
                </p:nvGrpSpPr>
                <p:grpSpPr>
                  <a:xfrm>
                    <a:off x="4371016" y="2260587"/>
                    <a:ext cx="7796979" cy="3512903"/>
                    <a:chOff x="4371016" y="2260587"/>
                    <a:chExt cx="7796979" cy="3512903"/>
                  </a:xfrm>
                </p:grpSpPr>
                <p:sp>
                  <p:nvSpPr>
                    <p:cNvPr id="66" name="TextBox 65">
                      <a:extLst>
                        <a:ext uri="{FF2B5EF4-FFF2-40B4-BE49-F238E27FC236}">
                          <a16:creationId xmlns:a16="http://schemas.microsoft.com/office/drawing/2014/main" id="{6B897F3D-3CEC-47F1-87BF-9F4CC7306BE9}"/>
                        </a:ext>
                      </a:extLst>
                    </p:cNvPr>
                    <p:cNvSpPr txBox="1"/>
                    <p:nvPr/>
                  </p:nvSpPr>
                  <p:spPr>
                    <a:xfrm>
                      <a:off x="7532636" y="226058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Profitability Analysis: Intro to S/4 </a:t>
                      </a:r>
                    </a:p>
                  </p:txBody>
                </p:sp>
                <p:grpSp>
                  <p:nvGrpSpPr>
                    <p:cNvPr id="67" name="Group 66">
                      <a:extLst>
                        <a:ext uri="{FF2B5EF4-FFF2-40B4-BE49-F238E27FC236}">
                          <a16:creationId xmlns:a16="http://schemas.microsoft.com/office/drawing/2014/main" id="{36F4C111-BB68-4804-BCF3-6EAF7C73AF2F}"/>
                        </a:ext>
                      </a:extLst>
                    </p:cNvPr>
                    <p:cNvGrpSpPr/>
                    <p:nvPr/>
                  </p:nvGrpSpPr>
                  <p:grpSpPr>
                    <a:xfrm>
                      <a:off x="4371016" y="3031011"/>
                      <a:ext cx="1867560" cy="1901181"/>
                      <a:chOff x="575788" y="4361808"/>
                      <a:chExt cx="624164" cy="624164"/>
                    </a:xfrm>
                  </p:grpSpPr>
                  <p:grpSp>
                    <p:nvGrpSpPr>
                      <p:cNvPr id="69" name="Group 68">
                        <a:extLst>
                          <a:ext uri="{FF2B5EF4-FFF2-40B4-BE49-F238E27FC236}">
                            <a16:creationId xmlns:a16="http://schemas.microsoft.com/office/drawing/2014/main" id="{C08058BF-676E-4FB3-BC57-B36A2ED595CE}"/>
                          </a:ext>
                        </a:extLst>
                      </p:cNvPr>
                      <p:cNvGrpSpPr/>
                      <p:nvPr/>
                    </p:nvGrpSpPr>
                    <p:grpSpPr>
                      <a:xfrm>
                        <a:off x="575788" y="4361808"/>
                        <a:ext cx="624164" cy="624164"/>
                        <a:chOff x="4492144" y="190843"/>
                        <a:chExt cx="855656" cy="855656"/>
                      </a:xfrm>
                    </p:grpSpPr>
                    <p:sp>
                      <p:nvSpPr>
                        <p:cNvPr id="71" name="Oval 70">
                          <a:extLst>
                            <a:ext uri="{FF2B5EF4-FFF2-40B4-BE49-F238E27FC236}">
                              <a16:creationId xmlns:a16="http://schemas.microsoft.com/office/drawing/2014/main" id="{8A78D47E-765D-4CD2-8349-44060FF389E0}"/>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2" name="Oval 71">
                          <a:extLst>
                            <a:ext uri="{FF2B5EF4-FFF2-40B4-BE49-F238E27FC236}">
                              <a16:creationId xmlns:a16="http://schemas.microsoft.com/office/drawing/2014/main" id="{E67C8941-2415-4EA0-A1D0-367664F9654E}"/>
                            </a:ext>
                          </a:extLst>
                        </p:cNvPr>
                        <p:cNvSpPr/>
                        <p:nvPr/>
                      </p:nvSpPr>
                      <p:spPr>
                        <a:xfrm>
                          <a:off x="4551137" y="249836"/>
                          <a:ext cx="737671" cy="737671"/>
                        </a:xfrm>
                        <a:prstGeom prst="ellipse">
                          <a:avLst/>
                        </a:prstGeom>
                        <a:solidFill>
                          <a:schemeClr val="accent2"/>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70" name="Picture 69">
                        <a:extLst>
                          <a:ext uri="{FF2B5EF4-FFF2-40B4-BE49-F238E27FC236}">
                            <a16:creationId xmlns:a16="http://schemas.microsoft.com/office/drawing/2014/main" id="{0BE9D445-018B-4D2A-B42A-82AC4829A1BA}"/>
                          </a:ext>
                        </a:extLst>
                      </p:cNvPr>
                      <p:cNvPicPr>
                        <a:picLocks noChangeAspect="1"/>
                      </p:cNvPicPr>
                      <p:nvPr/>
                    </p:nvPicPr>
                    <p:blipFill>
                      <a:blip r:embed="rId3"/>
                      <a:stretch>
                        <a:fillRect/>
                      </a:stretch>
                    </p:blipFill>
                    <p:spPr>
                      <a:xfrm>
                        <a:off x="718607" y="4514537"/>
                        <a:ext cx="328080" cy="318706"/>
                      </a:xfrm>
                      <a:prstGeom prst="rect">
                        <a:avLst/>
                      </a:prstGeom>
                    </p:spPr>
                  </p:pic>
                </p:grpSp>
                <p:sp>
                  <p:nvSpPr>
                    <p:cNvPr id="68" name="TextBox 67">
                      <a:extLst>
                        <a:ext uri="{FF2B5EF4-FFF2-40B4-BE49-F238E27FC236}">
                          <a16:creationId xmlns:a16="http://schemas.microsoft.com/office/drawing/2014/main" id="{73301DCB-3EB8-414B-B2AF-2400E094CAB8}"/>
                        </a:ext>
                      </a:extLst>
                    </p:cNvPr>
                    <p:cNvSpPr txBox="1"/>
                    <p:nvPr/>
                  </p:nvSpPr>
                  <p:spPr>
                    <a:xfrm>
                      <a:off x="7558856" y="5218301"/>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Reporting Capabilities</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sp>
            <p:nvSpPr>
              <p:cNvPr id="58" name="TextBox 57">
                <a:extLst>
                  <a:ext uri="{FF2B5EF4-FFF2-40B4-BE49-F238E27FC236}">
                    <a16:creationId xmlns:a16="http://schemas.microsoft.com/office/drawing/2014/main" id="{DF1C2DEC-7A57-4376-BD97-35C99713090B}"/>
                  </a:ext>
                </a:extLst>
              </p:cNvPr>
              <p:cNvSpPr txBox="1"/>
              <p:nvPr/>
            </p:nvSpPr>
            <p:spPr>
              <a:xfrm>
                <a:off x="7616262" y="4511768"/>
                <a:ext cx="4033704"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Market P&amp;L</a:t>
                </a: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9" name="Straight Connector 58">
                <a:extLst>
                  <a:ext uri="{FF2B5EF4-FFF2-40B4-BE49-F238E27FC236}">
                    <a16:creationId xmlns:a16="http://schemas.microsoft.com/office/drawing/2014/main" id="{F80DA88D-C452-4C1B-8AC0-95BFC7AA964F}"/>
                  </a:ext>
                </a:extLst>
              </p:cNvPr>
              <p:cNvCxnSpPr>
                <a:cxnSpLocks/>
              </p:cNvCxnSpPr>
              <p:nvPr/>
            </p:nvCxnSpPr>
            <p:spPr>
              <a:xfrm>
                <a:off x="6810376" y="4066427"/>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1E9D8F81-1A2F-4048-96CD-8F5776320B83}"/>
                  </a:ext>
                </a:extLst>
              </p:cNvPr>
              <p:cNvSpPr txBox="1"/>
              <p:nvPr/>
            </p:nvSpPr>
            <p:spPr>
              <a:xfrm>
                <a:off x="7590041" y="3107175"/>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Profit </a:t>
                </a:r>
                <a:r>
                  <a:rPr kumimoji="0" lang="en-GB" sz="1800" b="1" i="0" u="none" strike="noStrike" kern="1200" cap="none" spc="0" normalizeH="0" baseline="0" noProof="0" err="1">
                    <a:ln>
                      <a:noFill/>
                    </a:ln>
                    <a:solidFill>
                      <a:srgbClr val="FFFFFF"/>
                    </a:solidFill>
                    <a:effectLst/>
                    <a:uLnTx/>
                    <a:uFillTx/>
                    <a:latin typeface="Arial" panose="020B0604020202020204"/>
                    <a:ea typeface="+mn-ea"/>
                    <a:cs typeface="+mn-cs"/>
                  </a:rPr>
                  <a:t>Center</a:t>
                </a: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 Reorganization</a:t>
                </a:r>
              </a:p>
            </p:txBody>
          </p:sp>
          <p:sp>
            <p:nvSpPr>
              <p:cNvPr id="61" name="TextBox 60">
                <a:extLst>
                  <a:ext uri="{FF2B5EF4-FFF2-40B4-BE49-F238E27FC236}">
                    <a16:creationId xmlns:a16="http://schemas.microsoft.com/office/drawing/2014/main" id="{30DD7D17-E78D-442F-9DE7-C1AA37AA1BA5}"/>
                  </a:ext>
                </a:extLst>
              </p:cNvPr>
              <p:cNvSpPr txBox="1"/>
              <p:nvPr/>
            </p:nvSpPr>
            <p:spPr>
              <a:xfrm>
                <a:off x="7599186" y="3836827"/>
                <a:ext cx="4635359" cy="555189"/>
              </a:xfrm>
              <a:prstGeom prst="rect">
                <a:avLst/>
              </a:prstGeom>
              <a:noFill/>
              <a:ln>
                <a:noFill/>
              </a:ln>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FFFF"/>
                    </a:solidFill>
                    <a:effectLst/>
                    <a:uLnTx/>
                    <a:uFillTx/>
                    <a:latin typeface="Arial" panose="020B0604020202020204"/>
                    <a:ea typeface="+mn-ea"/>
                    <a:cs typeface="+mn-cs"/>
                  </a:rPr>
                  <a:t>Standardization of Dimensions</a:t>
                </a:r>
              </a:p>
            </p:txBody>
          </p:sp>
        </p:grpSp>
      </p:grpSp>
      <p:grpSp>
        <p:nvGrpSpPr>
          <p:cNvPr id="36" name="Group 35">
            <a:extLst>
              <a:ext uri="{FF2B5EF4-FFF2-40B4-BE49-F238E27FC236}">
                <a16:creationId xmlns:a16="http://schemas.microsoft.com/office/drawing/2014/main" id="{57654869-9499-4D43-894C-6E53EFDB6E21}"/>
              </a:ext>
            </a:extLst>
          </p:cNvPr>
          <p:cNvGrpSpPr/>
          <p:nvPr/>
        </p:nvGrpSpPr>
        <p:grpSpPr>
          <a:xfrm>
            <a:off x="6167129" y="2110550"/>
            <a:ext cx="4845687" cy="2985172"/>
            <a:chOff x="6167129" y="2110550"/>
            <a:chExt cx="4845687" cy="2985172"/>
          </a:xfrm>
        </p:grpSpPr>
        <p:grpSp>
          <p:nvGrpSpPr>
            <p:cNvPr id="37" name="Group 36">
              <a:extLst>
                <a:ext uri="{FF2B5EF4-FFF2-40B4-BE49-F238E27FC236}">
                  <a16:creationId xmlns:a16="http://schemas.microsoft.com/office/drawing/2014/main" id="{E913F206-F635-45C9-9CD1-5F941FB74A30}"/>
                </a:ext>
              </a:extLst>
            </p:cNvPr>
            <p:cNvGrpSpPr/>
            <p:nvPr/>
          </p:nvGrpSpPr>
          <p:grpSpPr>
            <a:xfrm>
              <a:off x="6168074" y="2343005"/>
              <a:ext cx="4844742" cy="2752717"/>
              <a:chOff x="7304060" y="2095049"/>
              <a:chExt cx="4844742" cy="2752717"/>
            </a:xfrm>
          </p:grpSpPr>
          <p:cxnSp>
            <p:nvCxnSpPr>
              <p:cNvPr id="45" name="Elbow Connector 7">
                <a:extLst>
                  <a:ext uri="{FF2B5EF4-FFF2-40B4-BE49-F238E27FC236}">
                    <a16:creationId xmlns:a16="http://schemas.microsoft.com/office/drawing/2014/main" id="{64B98268-6E62-46C9-B3BF-BB33FFD580F5}"/>
                  </a:ext>
                </a:extLst>
              </p:cNvPr>
              <p:cNvCxnSpPr>
                <a:cxnSpLocks/>
              </p:cNvCxnSpPr>
              <p:nvPr/>
            </p:nvCxnSpPr>
            <p:spPr>
              <a:xfrm>
                <a:off x="7304060" y="3061029"/>
                <a:ext cx="1009162" cy="719660"/>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6" name="Elbow Connector 4">
                <a:extLst>
                  <a:ext uri="{FF2B5EF4-FFF2-40B4-BE49-F238E27FC236}">
                    <a16:creationId xmlns:a16="http://schemas.microsoft.com/office/drawing/2014/main" id="{6B945E98-E7E0-44F3-A3E3-F89EA94F87A9}"/>
                  </a:ext>
                </a:extLst>
              </p:cNvPr>
              <p:cNvCxnSpPr>
                <a:cxnSpLocks/>
              </p:cNvCxnSpPr>
              <p:nvPr/>
            </p:nvCxnSpPr>
            <p:spPr>
              <a:xfrm flipV="1">
                <a:off x="7304060" y="2095049"/>
                <a:ext cx="1008701" cy="958351"/>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79E854C-DF78-4D45-9D63-D5DFE8505217}"/>
                  </a:ext>
                </a:extLst>
              </p:cNvPr>
              <p:cNvCxnSpPr>
                <a:cxnSpLocks/>
              </p:cNvCxnSpPr>
              <p:nvPr/>
            </p:nvCxnSpPr>
            <p:spPr>
              <a:xfrm>
                <a:off x="7785534" y="3053401"/>
                <a:ext cx="527227" cy="6919"/>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48" name="Rounded Rectangle 38">
                <a:extLst>
                  <a:ext uri="{FF2B5EF4-FFF2-40B4-BE49-F238E27FC236}">
                    <a16:creationId xmlns:a16="http://schemas.microsoft.com/office/drawing/2014/main" id="{80ED882D-673E-4AB0-B5C8-B3CF4AB5CD5B}"/>
                  </a:ext>
                </a:extLst>
              </p:cNvPr>
              <p:cNvSpPr/>
              <p:nvPr/>
            </p:nvSpPr>
            <p:spPr>
              <a:xfrm>
                <a:off x="8457007" y="2616302"/>
                <a:ext cx="3691795" cy="71274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dirty="0">
                    <a:ln>
                      <a:noFill/>
                    </a:ln>
                    <a:solidFill>
                      <a:srgbClr val="1A3040"/>
                    </a:solidFill>
                    <a:effectLst/>
                    <a:uLnTx/>
                    <a:uFillTx/>
                    <a:latin typeface="Arial" charset="0"/>
                    <a:ea typeface="+mn-ea"/>
                    <a:cs typeface="Arial" charset="0"/>
                  </a:rPr>
                  <a:t>The 3 Building Blocks</a:t>
                </a:r>
                <a:endParaRPr kumimoji="0" lang="en-GB" sz="1400" b="0" i="0" u="none" strike="noStrike" kern="1200" cap="none" spc="0" normalizeH="0" baseline="0" noProof="0" dirty="0">
                  <a:ln>
                    <a:noFill/>
                  </a:ln>
                  <a:solidFill>
                    <a:srgbClr val="1A3040"/>
                  </a:solidFill>
                  <a:effectLst/>
                  <a:uLnTx/>
                  <a:uFillTx/>
                  <a:latin typeface="Arial" panose="020B0604020202020204"/>
                  <a:ea typeface="+mn-ea"/>
                  <a:cs typeface="+mn-cs"/>
                </a:endParaRPr>
              </a:p>
            </p:txBody>
          </p:sp>
          <p:sp>
            <p:nvSpPr>
              <p:cNvPr id="49" name="Rounded Rectangle 39">
                <a:extLst>
                  <a:ext uri="{FF2B5EF4-FFF2-40B4-BE49-F238E27FC236}">
                    <a16:creationId xmlns:a16="http://schemas.microsoft.com/office/drawing/2014/main" id="{15ACB942-7E3D-40ED-8EBF-9A623863CD4A}"/>
                  </a:ext>
                </a:extLst>
              </p:cNvPr>
              <p:cNvSpPr/>
              <p:nvPr/>
            </p:nvSpPr>
            <p:spPr>
              <a:xfrm>
                <a:off x="8437135" y="3552967"/>
                <a:ext cx="3691795" cy="54308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a:ea typeface="+mn-ea"/>
                    <a:cs typeface="Arial"/>
                  </a:rPr>
                  <a:t>Profit </a:t>
                </a:r>
                <a:r>
                  <a:rPr kumimoji="0" lang="en-GB" sz="1600" b="1" i="0" u="none" strike="noStrike" kern="1200" cap="none" spc="0" normalizeH="0" baseline="0" noProof="0" dirty="0" err="1">
                    <a:ln>
                      <a:noFill/>
                    </a:ln>
                    <a:solidFill>
                      <a:srgbClr val="FFFFFF"/>
                    </a:solidFill>
                    <a:effectLst/>
                    <a:uLnTx/>
                    <a:uFillTx/>
                    <a:latin typeface="Arial"/>
                    <a:ea typeface="+mn-ea"/>
                    <a:cs typeface="Arial"/>
                  </a:rPr>
                  <a:t>Center</a:t>
                </a:r>
                <a:r>
                  <a:rPr kumimoji="0" lang="en-GB" sz="1600" b="1" i="0" u="none" strike="noStrike" kern="1200" cap="none" spc="0" normalizeH="0" baseline="0" noProof="0" dirty="0">
                    <a:ln>
                      <a:noFill/>
                    </a:ln>
                    <a:solidFill>
                      <a:srgbClr val="FFFFFF"/>
                    </a:solidFill>
                    <a:effectLst/>
                    <a:uLnTx/>
                    <a:uFillTx/>
                    <a:latin typeface="Arial"/>
                    <a:ea typeface="+mn-ea"/>
                    <a:cs typeface="Arial"/>
                  </a:rPr>
                  <a:t> Reorganization</a:t>
                </a:r>
                <a:endParaRPr kumimoji="0" lang="en-US" sz="1400" b="0" i="0" u="none" strike="noStrike" kern="1200" cap="none" spc="0" normalizeH="0" baseline="0" noProof="0" dirty="0">
                  <a:ln>
                    <a:noFill/>
                  </a:ln>
                  <a:solidFill>
                    <a:srgbClr val="FFFFFF"/>
                  </a:solidFill>
                  <a:effectLst/>
                  <a:uLnTx/>
                  <a:uFillTx/>
                  <a:latin typeface="Arial"/>
                  <a:ea typeface="+mn-ea"/>
                  <a:cs typeface="Arial"/>
                </a:endParaRPr>
              </a:p>
            </p:txBody>
          </p:sp>
          <p:sp>
            <p:nvSpPr>
              <p:cNvPr id="50" name="Rounded Rectangle 40">
                <a:extLst>
                  <a:ext uri="{FF2B5EF4-FFF2-40B4-BE49-F238E27FC236}">
                    <a16:creationId xmlns:a16="http://schemas.microsoft.com/office/drawing/2014/main" id="{6D07EB45-E0B7-4055-9C57-4032426D2F39}"/>
                  </a:ext>
                </a:extLst>
              </p:cNvPr>
              <p:cNvSpPr/>
              <p:nvPr/>
            </p:nvSpPr>
            <p:spPr>
              <a:xfrm>
                <a:off x="8437136" y="4317157"/>
                <a:ext cx="3691795" cy="530609"/>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charset="0"/>
                    <a:ea typeface="+mn-ea"/>
                    <a:cs typeface="Arial" charset="0"/>
                  </a:rPr>
                  <a:t>Cost </a:t>
                </a:r>
                <a:r>
                  <a:rPr kumimoji="0" lang="en-GB" sz="1600" b="1" i="0" u="none" strike="noStrike" kern="1200" cap="none" spc="0" normalizeH="0" baseline="0" noProof="0" dirty="0" err="1">
                    <a:ln>
                      <a:noFill/>
                    </a:ln>
                    <a:solidFill>
                      <a:srgbClr val="FFFFFF"/>
                    </a:solidFill>
                    <a:effectLst/>
                    <a:uLnTx/>
                    <a:uFillTx/>
                    <a:latin typeface="Arial" charset="0"/>
                    <a:ea typeface="+mn-ea"/>
                    <a:cs typeface="Arial" charset="0"/>
                  </a:rPr>
                  <a:t>Center</a:t>
                </a:r>
                <a:r>
                  <a:rPr kumimoji="0" lang="en-GB" sz="1600" b="1" i="0" u="none" strike="noStrike" kern="1200" cap="none" spc="0" normalizeH="0" baseline="0" noProof="0" dirty="0">
                    <a:ln>
                      <a:noFill/>
                    </a:ln>
                    <a:solidFill>
                      <a:srgbClr val="FFFFFF"/>
                    </a:solidFill>
                    <a:effectLst/>
                    <a:uLnTx/>
                    <a:uFillTx/>
                    <a:latin typeface="Arial" charset="0"/>
                    <a:ea typeface="+mn-ea"/>
                    <a:cs typeface="Arial" charset="0"/>
                  </a:rPr>
                  <a:t> Standardization</a:t>
                </a:r>
                <a:endParaRPr kumimoji="0" lang="en-GB" sz="11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cxnSp>
          <p:nvCxnSpPr>
            <p:cNvPr id="42" name="Elbow Connector 7">
              <a:extLst>
                <a:ext uri="{FF2B5EF4-FFF2-40B4-BE49-F238E27FC236}">
                  <a16:creationId xmlns:a16="http://schemas.microsoft.com/office/drawing/2014/main" id="{6A8B1679-63D3-400A-9113-762C802A415C}"/>
                </a:ext>
              </a:extLst>
            </p:cNvPr>
            <p:cNvCxnSpPr>
              <a:cxnSpLocks/>
            </p:cNvCxnSpPr>
            <p:nvPr/>
          </p:nvCxnSpPr>
          <p:spPr>
            <a:xfrm>
              <a:off x="6167129" y="3302800"/>
              <a:ext cx="1009162" cy="1542657"/>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44" name="Rounded Rectangle 39">
              <a:extLst>
                <a:ext uri="{FF2B5EF4-FFF2-40B4-BE49-F238E27FC236}">
                  <a16:creationId xmlns:a16="http://schemas.microsoft.com/office/drawing/2014/main" id="{22889AA0-E95F-4A8C-BBDE-06C6D0E076A5}"/>
                </a:ext>
              </a:extLst>
            </p:cNvPr>
            <p:cNvSpPr/>
            <p:nvPr/>
          </p:nvSpPr>
          <p:spPr>
            <a:xfrm>
              <a:off x="7299680" y="2110550"/>
              <a:ext cx="3691795" cy="54308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a:ea typeface="+mn-ea"/>
                  <a:cs typeface="Arial"/>
                </a:rPr>
                <a:t>Rationale for CO-PA changes</a:t>
              </a:r>
              <a:endParaRPr kumimoji="0" lang="en-US" sz="1400" b="0" i="0" u="none" strike="noStrike" kern="1200" cap="none" spc="0" normalizeH="0" baseline="0" noProof="0" dirty="0">
                <a:ln>
                  <a:noFill/>
                </a:ln>
                <a:solidFill>
                  <a:srgbClr val="FFFFFF"/>
                </a:solidFill>
                <a:effectLst/>
                <a:uLnTx/>
                <a:uFillTx/>
                <a:latin typeface="Arial"/>
                <a:ea typeface="+mn-ea"/>
                <a:cs typeface="Arial"/>
              </a:endParaRPr>
            </a:p>
          </p:txBody>
        </p:sp>
      </p:grpSp>
    </p:spTree>
    <p:extLst>
      <p:ext uri="{BB962C8B-B14F-4D97-AF65-F5344CB8AC3E}">
        <p14:creationId xmlns:p14="http://schemas.microsoft.com/office/powerpoint/2010/main" val="11609385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24205" y="1321506"/>
            <a:ext cx="12192000" cy="4976015"/>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a:xfrm>
            <a:off x="1436619" y="168547"/>
            <a:ext cx="8902723" cy="984247"/>
          </a:xfrm>
        </p:spPr>
        <p:txBody>
          <a:bodyPr/>
          <a:lstStyle/>
          <a:p>
            <a:r>
              <a:rPr lang="en-GB"/>
              <a:t>Profitability Analysis: 3 Building blocks in S/4</a:t>
            </a:r>
          </a:p>
        </p:txBody>
      </p:sp>
      <p:grpSp>
        <p:nvGrpSpPr>
          <p:cNvPr id="33" name="Group 32">
            <a:extLst>
              <a:ext uri="{FF2B5EF4-FFF2-40B4-BE49-F238E27FC236}">
                <a16:creationId xmlns:a16="http://schemas.microsoft.com/office/drawing/2014/main" id="{B0C7641A-3404-4CD3-A7F4-8157A06D0B11}"/>
              </a:ext>
            </a:extLst>
          </p:cNvPr>
          <p:cNvGrpSpPr/>
          <p:nvPr/>
        </p:nvGrpSpPr>
        <p:grpSpPr>
          <a:xfrm>
            <a:off x="396983" y="1785484"/>
            <a:ext cx="11398034" cy="4012645"/>
            <a:chOff x="569643" y="1706267"/>
            <a:chExt cx="11398034" cy="4012645"/>
          </a:xfrm>
        </p:grpSpPr>
        <p:sp>
          <p:nvSpPr>
            <p:cNvPr id="54" name="ZoneTexte 2">
              <a:extLst>
                <a:ext uri="{FF2B5EF4-FFF2-40B4-BE49-F238E27FC236}">
                  <a16:creationId xmlns:a16="http://schemas.microsoft.com/office/drawing/2014/main" id="{49BF1755-BCE3-42B8-82B2-43FE096B8301}"/>
                </a:ext>
              </a:extLst>
            </p:cNvPr>
            <p:cNvSpPr txBox="1"/>
            <p:nvPr/>
          </p:nvSpPr>
          <p:spPr>
            <a:xfrm>
              <a:off x="4399379" y="2393095"/>
              <a:ext cx="3741803" cy="3325817"/>
            </a:xfrm>
            <a:prstGeom prst="rect">
              <a:avLst/>
            </a:prstGeom>
            <a:solidFill>
              <a:schemeClr val="bg1">
                <a:lumMod val="95000"/>
              </a:schemeClr>
            </a:soli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defPPr>
                <a:defRPr lang="en-US"/>
              </a:defPPr>
              <a:lvl1pPr algn="ctr">
                <a:defRPr>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799" b="1" i="0" u="none" strike="noStrike" kern="1200" cap="none" spc="0" normalizeH="0" baseline="0" noProof="0">
                <a:ln>
                  <a:noFill/>
                </a:ln>
                <a:solidFill>
                  <a:srgbClr val="122632"/>
                </a:solidFill>
                <a:effectLst/>
                <a:uLnTx/>
                <a:uFillTx/>
                <a:latin typeface="Arial"/>
                <a:ea typeface="+mn-ea"/>
                <a:cs typeface="+mn-cs"/>
              </a:endParaRPr>
            </a:p>
          </p:txBody>
        </p:sp>
        <p:sp>
          <p:nvSpPr>
            <p:cNvPr id="55" name="ZoneTexte 2">
              <a:extLst>
                <a:ext uri="{FF2B5EF4-FFF2-40B4-BE49-F238E27FC236}">
                  <a16:creationId xmlns:a16="http://schemas.microsoft.com/office/drawing/2014/main" id="{ACE89526-DBD2-4F87-B811-60F759747E64}"/>
                </a:ext>
              </a:extLst>
            </p:cNvPr>
            <p:cNvSpPr txBox="1"/>
            <p:nvPr/>
          </p:nvSpPr>
          <p:spPr>
            <a:xfrm>
              <a:off x="8206583" y="2404669"/>
              <a:ext cx="3741803" cy="3308222"/>
            </a:xfrm>
            <a:prstGeom prst="rect">
              <a:avLst/>
            </a:prstGeom>
            <a:solidFill>
              <a:schemeClr val="bg1">
                <a:lumMod val="95000"/>
              </a:schemeClr>
            </a:soli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defPPr>
                <a:defRPr lang="en-US"/>
              </a:defPPr>
              <a:lvl1pPr algn="ctr">
                <a:defRPr>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799" b="1" i="0" u="none" strike="noStrike" kern="1200" cap="none" spc="0" normalizeH="0" baseline="0" noProof="0">
                <a:ln>
                  <a:noFill/>
                </a:ln>
                <a:solidFill>
                  <a:srgbClr val="122632"/>
                </a:solidFill>
                <a:effectLst/>
                <a:uLnTx/>
                <a:uFillTx/>
                <a:latin typeface="Arial"/>
                <a:ea typeface="+mn-ea"/>
                <a:cs typeface="+mn-cs"/>
              </a:endParaRPr>
            </a:p>
          </p:txBody>
        </p:sp>
        <p:sp>
          <p:nvSpPr>
            <p:cNvPr id="56" name="ZoneTexte 2">
              <a:extLst>
                <a:ext uri="{FF2B5EF4-FFF2-40B4-BE49-F238E27FC236}">
                  <a16:creationId xmlns:a16="http://schemas.microsoft.com/office/drawing/2014/main" id="{4A4857A0-5E76-440D-BFA1-57D68F03FD6D}"/>
                </a:ext>
              </a:extLst>
            </p:cNvPr>
            <p:cNvSpPr txBox="1"/>
            <p:nvPr/>
          </p:nvSpPr>
          <p:spPr>
            <a:xfrm>
              <a:off x="569643" y="2391408"/>
              <a:ext cx="3741803" cy="3326906"/>
            </a:xfrm>
            <a:prstGeom prst="rect">
              <a:avLst/>
            </a:prstGeom>
            <a:solidFill>
              <a:schemeClr val="bg1">
                <a:lumMod val="95000"/>
              </a:schemeClr>
            </a:soli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defPPr>
                <a:defRPr lang="en-US"/>
              </a:defPPr>
              <a:lvl1pPr algn="ctr">
                <a:defRPr>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799" b="1" i="0" u="none" strike="noStrike" kern="1200" cap="none" spc="0" normalizeH="0" baseline="0" noProof="0">
                <a:ln>
                  <a:noFill/>
                </a:ln>
                <a:solidFill>
                  <a:srgbClr val="122632"/>
                </a:solidFill>
                <a:effectLst/>
                <a:uLnTx/>
                <a:uFillTx/>
                <a:latin typeface="Arial"/>
                <a:ea typeface="+mn-ea"/>
                <a:cs typeface="+mn-cs"/>
              </a:endParaRPr>
            </a:p>
          </p:txBody>
        </p:sp>
        <p:sp>
          <p:nvSpPr>
            <p:cNvPr id="57" name="Triangle isocèle 4">
              <a:extLst>
                <a:ext uri="{FF2B5EF4-FFF2-40B4-BE49-F238E27FC236}">
                  <a16:creationId xmlns:a16="http://schemas.microsoft.com/office/drawing/2014/main" id="{1C9FE594-4F50-4674-AECB-4B7F688A5DF2}"/>
                </a:ext>
              </a:extLst>
            </p:cNvPr>
            <p:cNvSpPr/>
            <p:nvPr/>
          </p:nvSpPr>
          <p:spPr>
            <a:xfrm>
              <a:off x="682610" y="2958997"/>
              <a:ext cx="3458296" cy="2538599"/>
            </a:xfrm>
            <a:prstGeom prst="triangle">
              <a:avLst>
                <a:gd name="adj" fmla="val 50568"/>
              </a:avLst>
            </a:prstGeom>
            <a:solidFill>
              <a:srgbClr val="ABD9CE"/>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sp>
          <p:nvSpPr>
            <p:cNvPr id="58" name="ZoneTexte 12">
              <a:extLst>
                <a:ext uri="{FF2B5EF4-FFF2-40B4-BE49-F238E27FC236}">
                  <a16:creationId xmlns:a16="http://schemas.microsoft.com/office/drawing/2014/main" id="{0DFDE31E-27B5-4208-BBB6-2252EE65C97E}"/>
                </a:ext>
              </a:extLst>
            </p:cNvPr>
            <p:cNvSpPr txBox="1"/>
            <p:nvPr/>
          </p:nvSpPr>
          <p:spPr>
            <a:xfrm>
              <a:off x="1129760" y="3163697"/>
              <a:ext cx="857724" cy="461545"/>
            </a:xfrm>
            <a:prstGeom prst="rect">
              <a:avLst/>
            </a:prstGeom>
            <a:noFill/>
            <a:ln>
              <a:noFill/>
            </a:ln>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22632"/>
                  </a:solidFill>
                  <a:effectLst/>
                  <a:uLnTx/>
                  <a:uFillTx/>
                  <a:latin typeface="Arial"/>
                  <a:ea typeface="ＭＳ Ｐゴシック" pitchFamily="80" charset="-128"/>
                  <a:cs typeface="+mn-cs"/>
                </a:rPr>
                <a:t>Profit Centers</a:t>
              </a:r>
            </a:p>
          </p:txBody>
        </p:sp>
        <p:sp>
          <p:nvSpPr>
            <p:cNvPr id="59" name="ZoneTexte 26">
              <a:extLst>
                <a:ext uri="{FF2B5EF4-FFF2-40B4-BE49-F238E27FC236}">
                  <a16:creationId xmlns:a16="http://schemas.microsoft.com/office/drawing/2014/main" id="{DCB43419-D79E-4DFB-AB8B-0F1CDD3C7F87}"/>
                </a:ext>
              </a:extLst>
            </p:cNvPr>
            <p:cNvSpPr txBox="1"/>
            <p:nvPr/>
          </p:nvSpPr>
          <p:spPr>
            <a:xfrm flipV="1">
              <a:off x="1979471" y="4056644"/>
              <a:ext cx="343090" cy="225872"/>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8F9195"/>
                </a:solidFill>
                <a:effectLst/>
                <a:uLnTx/>
                <a:uFillTx/>
                <a:latin typeface="Georgia"/>
                <a:ea typeface="ＭＳ Ｐゴシック" pitchFamily="80" charset="-128"/>
                <a:cs typeface="+mn-cs"/>
              </a:endParaRPr>
            </a:p>
          </p:txBody>
        </p:sp>
        <p:sp>
          <p:nvSpPr>
            <p:cNvPr id="60" name="ZoneTexte 35">
              <a:extLst>
                <a:ext uri="{FF2B5EF4-FFF2-40B4-BE49-F238E27FC236}">
                  <a16:creationId xmlns:a16="http://schemas.microsoft.com/office/drawing/2014/main" id="{42D1C8E5-9798-43D0-A768-AC4D522DF31D}"/>
                </a:ext>
              </a:extLst>
            </p:cNvPr>
            <p:cNvSpPr txBox="1"/>
            <p:nvPr/>
          </p:nvSpPr>
          <p:spPr>
            <a:xfrm>
              <a:off x="2471867" y="4053880"/>
              <a:ext cx="343090" cy="229816"/>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122632"/>
                </a:solidFill>
                <a:effectLst/>
                <a:uLnTx/>
                <a:uFillTx/>
                <a:latin typeface="Georgia"/>
                <a:ea typeface="ＭＳ Ｐゴシック" pitchFamily="80" charset="-128"/>
                <a:cs typeface="+mn-cs"/>
              </a:endParaRPr>
            </a:p>
          </p:txBody>
        </p:sp>
        <p:sp>
          <p:nvSpPr>
            <p:cNvPr id="61" name="ZoneTexte 36">
              <a:extLst>
                <a:ext uri="{FF2B5EF4-FFF2-40B4-BE49-F238E27FC236}">
                  <a16:creationId xmlns:a16="http://schemas.microsoft.com/office/drawing/2014/main" id="{46FFAD03-2551-4838-9595-11F6A67C0755}"/>
                </a:ext>
              </a:extLst>
            </p:cNvPr>
            <p:cNvSpPr txBox="1"/>
            <p:nvPr/>
          </p:nvSpPr>
          <p:spPr>
            <a:xfrm>
              <a:off x="1403088" y="4773738"/>
              <a:ext cx="270454" cy="158355"/>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8F9195"/>
                </a:solidFill>
                <a:effectLst/>
                <a:uLnTx/>
                <a:uFillTx/>
                <a:latin typeface="Georgia"/>
                <a:ea typeface="ＭＳ Ｐゴシック" pitchFamily="80" charset="-128"/>
                <a:cs typeface="+mn-cs"/>
              </a:endParaRPr>
            </a:p>
          </p:txBody>
        </p:sp>
        <p:sp>
          <p:nvSpPr>
            <p:cNvPr id="62" name="ZoneTexte 42">
              <a:extLst>
                <a:ext uri="{FF2B5EF4-FFF2-40B4-BE49-F238E27FC236}">
                  <a16:creationId xmlns:a16="http://schemas.microsoft.com/office/drawing/2014/main" id="{1E229CDB-42B2-4196-9550-2EDD7E3E501D}"/>
                </a:ext>
              </a:extLst>
            </p:cNvPr>
            <p:cNvSpPr txBox="1"/>
            <p:nvPr/>
          </p:nvSpPr>
          <p:spPr>
            <a:xfrm>
              <a:off x="1753706" y="4773738"/>
              <a:ext cx="270454" cy="158355"/>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8F9195"/>
                </a:solidFill>
                <a:effectLst/>
                <a:uLnTx/>
                <a:uFillTx/>
                <a:latin typeface="Georgia"/>
                <a:ea typeface="ＭＳ Ｐゴシック" pitchFamily="80" charset="-128"/>
                <a:cs typeface="+mn-cs"/>
              </a:endParaRPr>
            </a:p>
          </p:txBody>
        </p:sp>
        <p:sp>
          <p:nvSpPr>
            <p:cNvPr id="63" name="ZoneTexte 43">
              <a:extLst>
                <a:ext uri="{FF2B5EF4-FFF2-40B4-BE49-F238E27FC236}">
                  <a16:creationId xmlns:a16="http://schemas.microsoft.com/office/drawing/2014/main" id="{FC36118F-9858-4936-81D2-ECCD8C6F2029}"/>
                </a:ext>
              </a:extLst>
            </p:cNvPr>
            <p:cNvSpPr txBox="1"/>
            <p:nvPr/>
          </p:nvSpPr>
          <p:spPr>
            <a:xfrm>
              <a:off x="2095975" y="4773738"/>
              <a:ext cx="270454" cy="158355"/>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8F9195"/>
                </a:solidFill>
                <a:effectLst/>
                <a:uLnTx/>
                <a:uFillTx/>
                <a:latin typeface="Georgia"/>
                <a:ea typeface="ＭＳ Ｐゴシック" pitchFamily="80" charset="-128"/>
                <a:cs typeface="+mn-cs"/>
              </a:endParaRPr>
            </a:p>
          </p:txBody>
        </p:sp>
        <p:sp>
          <p:nvSpPr>
            <p:cNvPr id="64" name="ZoneTexte 44">
              <a:extLst>
                <a:ext uri="{FF2B5EF4-FFF2-40B4-BE49-F238E27FC236}">
                  <a16:creationId xmlns:a16="http://schemas.microsoft.com/office/drawing/2014/main" id="{4A2D2EB7-C0D1-4DAB-8B50-774CA72648DD}"/>
                </a:ext>
              </a:extLst>
            </p:cNvPr>
            <p:cNvSpPr txBox="1"/>
            <p:nvPr/>
          </p:nvSpPr>
          <p:spPr>
            <a:xfrm>
              <a:off x="2457084" y="4773738"/>
              <a:ext cx="270454" cy="158355"/>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8F9195"/>
                </a:solidFill>
                <a:effectLst/>
                <a:uLnTx/>
                <a:uFillTx/>
                <a:latin typeface="Georgia"/>
                <a:ea typeface="ＭＳ Ｐゴシック" pitchFamily="80" charset="-128"/>
                <a:cs typeface="+mn-cs"/>
              </a:endParaRPr>
            </a:p>
          </p:txBody>
        </p:sp>
        <p:sp>
          <p:nvSpPr>
            <p:cNvPr id="65" name="ZoneTexte 45">
              <a:extLst>
                <a:ext uri="{FF2B5EF4-FFF2-40B4-BE49-F238E27FC236}">
                  <a16:creationId xmlns:a16="http://schemas.microsoft.com/office/drawing/2014/main" id="{F57C4960-D675-4BE9-89F4-03D79ABE0E2E}"/>
                </a:ext>
              </a:extLst>
            </p:cNvPr>
            <p:cNvSpPr txBox="1"/>
            <p:nvPr/>
          </p:nvSpPr>
          <p:spPr>
            <a:xfrm>
              <a:off x="2807703" y="4773738"/>
              <a:ext cx="270454" cy="158355"/>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8F9195"/>
                </a:solidFill>
                <a:effectLst/>
                <a:uLnTx/>
                <a:uFillTx/>
                <a:latin typeface="Georgia"/>
                <a:ea typeface="ＭＳ Ｐゴシック" pitchFamily="80" charset="-128"/>
                <a:cs typeface="+mn-cs"/>
              </a:endParaRPr>
            </a:p>
          </p:txBody>
        </p:sp>
        <p:sp>
          <p:nvSpPr>
            <p:cNvPr id="66" name="ZoneTexte 46">
              <a:extLst>
                <a:ext uri="{FF2B5EF4-FFF2-40B4-BE49-F238E27FC236}">
                  <a16:creationId xmlns:a16="http://schemas.microsoft.com/office/drawing/2014/main" id="{3EA714F0-F004-40C5-BCCC-A4FE77737C6F}"/>
                </a:ext>
              </a:extLst>
            </p:cNvPr>
            <p:cNvSpPr txBox="1"/>
            <p:nvPr/>
          </p:nvSpPr>
          <p:spPr>
            <a:xfrm>
              <a:off x="3149973" y="4773738"/>
              <a:ext cx="270454" cy="158355"/>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8F9195"/>
                </a:solidFill>
                <a:effectLst/>
                <a:uLnTx/>
                <a:uFillTx/>
                <a:latin typeface="Georgia"/>
                <a:ea typeface="ＭＳ Ｐゴシック" pitchFamily="80" charset="-128"/>
                <a:cs typeface="+mn-cs"/>
              </a:endParaRPr>
            </a:p>
          </p:txBody>
        </p:sp>
        <p:cxnSp>
          <p:nvCxnSpPr>
            <p:cNvPr id="67" name="Straight Connector 66">
              <a:extLst>
                <a:ext uri="{FF2B5EF4-FFF2-40B4-BE49-F238E27FC236}">
                  <a16:creationId xmlns:a16="http://schemas.microsoft.com/office/drawing/2014/main" id="{41A5252E-5DA9-47D7-AD92-458ECB99D568}"/>
                </a:ext>
              </a:extLst>
            </p:cNvPr>
            <p:cNvCxnSpPr/>
            <p:nvPr/>
          </p:nvCxnSpPr>
          <p:spPr>
            <a:xfrm>
              <a:off x="2151665" y="3837112"/>
              <a:ext cx="491098"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C5722F6C-651A-42A5-B71F-1F73FB3DD3F7}"/>
                </a:ext>
              </a:extLst>
            </p:cNvPr>
            <p:cNvCxnSpPr/>
            <p:nvPr/>
          </p:nvCxnSpPr>
          <p:spPr>
            <a:xfrm flipV="1">
              <a:off x="2439206" y="3617584"/>
              <a:ext cx="0" cy="219529"/>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740ABAB-FD78-4CAC-8E0F-4013C240B837}"/>
                </a:ext>
              </a:extLst>
            </p:cNvPr>
            <p:cNvCxnSpPr>
              <a:endCxn id="72" idx="0"/>
            </p:cNvCxnSpPr>
            <p:nvPr/>
          </p:nvCxnSpPr>
          <p:spPr>
            <a:xfrm>
              <a:off x="2151016" y="3837113"/>
              <a:ext cx="650" cy="216766"/>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357DD13D-E7AC-433E-81D9-CEEEDB820B9B}"/>
                </a:ext>
              </a:extLst>
            </p:cNvPr>
            <p:cNvCxnSpPr/>
            <p:nvPr/>
          </p:nvCxnSpPr>
          <p:spPr>
            <a:xfrm>
              <a:off x="2650026" y="4284488"/>
              <a:ext cx="0" cy="15940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C9E3E40-5649-41C2-8E65-74E809D6BA26}"/>
                </a:ext>
              </a:extLst>
            </p:cNvPr>
            <p:cNvCxnSpPr>
              <a:endCxn id="60" idx="0"/>
            </p:cNvCxnSpPr>
            <p:nvPr/>
          </p:nvCxnSpPr>
          <p:spPr>
            <a:xfrm>
              <a:off x="2642763" y="3837113"/>
              <a:ext cx="650" cy="216766"/>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85B658C5-7C7B-4244-A457-5CBB0A8A96CC}"/>
                </a:ext>
              </a:extLst>
            </p:cNvPr>
            <p:cNvSpPr/>
            <p:nvPr/>
          </p:nvSpPr>
          <p:spPr>
            <a:xfrm>
              <a:off x="1980768" y="4053879"/>
              <a:ext cx="341791" cy="230608"/>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sp>
          <p:nvSpPr>
            <p:cNvPr id="73" name="Rectangle 72">
              <a:extLst>
                <a:ext uri="{FF2B5EF4-FFF2-40B4-BE49-F238E27FC236}">
                  <a16:creationId xmlns:a16="http://schemas.microsoft.com/office/drawing/2014/main" id="{884BC347-30FA-4D12-BE57-917A2EA7B2A8}"/>
                </a:ext>
              </a:extLst>
            </p:cNvPr>
            <p:cNvSpPr/>
            <p:nvPr/>
          </p:nvSpPr>
          <p:spPr>
            <a:xfrm>
              <a:off x="2471866" y="4053087"/>
              <a:ext cx="341791" cy="230608"/>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sp>
          <p:nvSpPr>
            <p:cNvPr id="74" name="Rectangle 73">
              <a:extLst>
                <a:ext uri="{FF2B5EF4-FFF2-40B4-BE49-F238E27FC236}">
                  <a16:creationId xmlns:a16="http://schemas.microsoft.com/office/drawing/2014/main" id="{F9C50B35-49BD-44A5-8908-F2A5AA9BCA23}"/>
                </a:ext>
              </a:extLst>
            </p:cNvPr>
            <p:cNvSpPr/>
            <p:nvPr/>
          </p:nvSpPr>
          <p:spPr>
            <a:xfrm>
              <a:off x="1403088" y="4775481"/>
              <a:ext cx="260684" cy="154873"/>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sp>
          <p:nvSpPr>
            <p:cNvPr id="75" name="Rectangle 74">
              <a:extLst>
                <a:ext uri="{FF2B5EF4-FFF2-40B4-BE49-F238E27FC236}">
                  <a16:creationId xmlns:a16="http://schemas.microsoft.com/office/drawing/2014/main" id="{A7192C23-7E72-4AA8-A7BE-3C756772552F}"/>
                </a:ext>
              </a:extLst>
            </p:cNvPr>
            <p:cNvSpPr/>
            <p:nvPr/>
          </p:nvSpPr>
          <p:spPr>
            <a:xfrm>
              <a:off x="1758591" y="4775481"/>
              <a:ext cx="260684" cy="154873"/>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sp>
          <p:nvSpPr>
            <p:cNvPr id="76" name="Rectangle 75">
              <a:extLst>
                <a:ext uri="{FF2B5EF4-FFF2-40B4-BE49-F238E27FC236}">
                  <a16:creationId xmlns:a16="http://schemas.microsoft.com/office/drawing/2014/main" id="{55158728-12D0-47B2-8432-80455E31C0D7}"/>
                </a:ext>
              </a:extLst>
            </p:cNvPr>
            <p:cNvSpPr/>
            <p:nvPr/>
          </p:nvSpPr>
          <p:spPr>
            <a:xfrm>
              <a:off x="2095975" y="4775481"/>
              <a:ext cx="260684" cy="154873"/>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sp>
          <p:nvSpPr>
            <p:cNvPr id="77" name="Rectangle 76">
              <a:extLst>
                <a:ext uri="{FF2B5EF4-FFF2-40B4-BE49-F238E27FC236}">
                  <a16:creationId xmlns:a16="http://schemas.microsoft.com/office/drawing/2014/main" id="{3963E74E-AD0D-432B-B0A4-99E1AE173138}"/>
                </a:ext>
              </a:extLst>
            </p:cNvPr>
            <p:cNvSpPr/>
            <p:nvPr/>
          </p:nvSpPr>
          <p:spPr>
            <a:xfrm>
              <a:off x="2466854" y="4775481"/>
              <a:ext cx="260684" cy="154873"/>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sp>
          <p:nvSpPr>
            <p:cNvPr id="78" name="Rectangle 77">
              <a:extLst>
                <a:ext uri="{FF2B5EF4-FFF2-40B4-BE49-F238E27FC236}">
                  <a16:creationId xmlns:a16="http://schemas.microsoft.com/office/drawing/2014/main" id="{8788D985-3FAC-4818-B49B-0FD2272FB3C2}"/>
                </a:ext>
              </a:extLst>
            </p:cNvPr>
            <p:cNvSpPr/>
            <p:nvPr/>
          </p:nvSpPr>
          <p:spPr>
            <a:xfrm>
              <a:off x="2804359" y="4775481"/>
              <a:ext cx="260684" cy="154873"/>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sp>
          <p:nvSpPr>
            <p:cNvPr id="79" name="Rectangle 78">
              <a:extLst>
                <a:ext uri="{FF2B5EF4-FFF2-40B4-BE49-F238E27FC236}">
                  <a16:creationId xmlns:a16="http://schemas.microsoft.com/office/drawing/2014/main" id="{DEC3C331-61E9-473B-A414-4E5D851E2469}"/>
                </a:ext>
              </a:extLst>
            </p:cNvPr>
            <p:cNvSpPr/>
            <p:nvPr/>
          </p:nvSpPr>
          <p:spPr>
            <a:xfrm>
              <a:off x="3154858" y="4775481"/>
              <a:ext cx="260684" cy="154873"/>
            </a:xfrm>
            <a:prstGeom prst="rect">
              <a:avLst/>
            </a:prstGeom>
            <a:noFill/>
            <a:ln w="63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cxnSp>
          <p:nvCxnSpPr>
            <p:cNvPr id="80" name="Straight Connector 19">
              <a:extLst>
                <a:ext uri="{FF2B5EF4-FFF2-40B4-BE49-F238E27FC236}">
                  <a16:creationId xmlns:a16="http://schemas.microsoft.com/office/drawing/2014/main" id="{D96B49CD-042B-4184-A431-0C23FFC3925D}"/>
                </a:ext>
              </a:extLst>
            </p:cNvPr>
            <p:cNvCxnSpPr/>
            <p:nvPr/>
          </p:nvCxnSpPr>
          <p:spPr>
            <a:xfrm>
              <a:off x="2151664" y="4284488"/>
              <a:ext cx="0" cy="159403"/>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9">
              <a:extLst>
                <a:ext uri="{FF2B5EF4-FFF2-40B4-BE49-F238E27FC236}">
                  <a16:creationId xmlns:a16="http://schemas.microsoft.com/office/drawing/2014/main" id="{BB25E286-F4D1-4F09-B3FC-6D4FC3F4BA90}"/>
                </a:ext>
              </a:extLst>
            </p:cNvPr>
            <p:cNvCxnSpPr/>
            <p:nvPr/>
          </p:nvCxnSpPr>
          <p:spPr>
            <a:xfrm>
              <a:off x="1609279" y="4443889"/>
              <a:ext cx="983033"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9">
              <a:extLst>
                <a:ext uri="{FF2B5EF4-FFF2-40B4-BE49-F238E27FC236}">
                  <a16:creationId xmlns:a16="http://schemas.microsoft.com/office/drawing/2014/main" id="{6A8CD55A-C8C6-41DE-8D05-707BCD6DC2F8}"/>
                </a:ext>
              </a:extLst>
            </p:cNvPr>
            <p:cNvCxnSpPr/>
            <p:nvPr/>
          </p:nvCxnSpPr>
          <p:spPr>
            <a:xfrm>
              <a:off x="2654632" y="4443889"/>
              <a:ext cx="500227"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16">
              <a:extLst>
                <a:ext uri="{FF2B5EF4-FFF2-40B4-BE49-F238E27FC236}">
                  <a16:creationId xmlns:a16="http://schemas.microsoft.com/office/drawing/2014/main" id="{1EC97D1C-9E76-418B-9AC4-31A4C2CABEB8}"/>
                </a:ext>
              </a:extLst>
            </p:cNvPr>
            <p:cNvCxnSpPr>
              <a:endCxn id="74" idx="0"/>
            </p:cNvCxnSpPr>
            <p:nvPr/>
          </p:nvCxnSpPr>
          <p:spPr>
            <a:xfrm flipH="1">
              <a:off x="1533432" y="4443889"/>
              <a:ext cx="75849" cy="33159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16">
              <a:extLst>
                <a:ext uri="{FF2B5EF4-FFF2-40B4-BE49-F238E27FC236}">
                  <a16:creationId xmlns:a16="http://schemas.microsoft.com/office/drawing/2014/main" id="{AF80FE25-28FA-43FA-900A-A3B5073E6D0C}"/>
                </a:ext>
              </a:extLst>
            </p:cNvPr>
            <p:cNvCxnSpPr>
              <a:endCxn id="79" idx="0"/>
            </p:cNvCxnSpPr>
            <p:nvPr/>
          </p:nvCxnSpPr>
          <p:spPr>
            <a:xfrm>
              <a:off x="3154858" y="4443889"/>
              <a:ext cx="130342" cy="33159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16">
              <a:extLst>
                <a:ext uri="{FF2B5EF4-FFF2-40B4-BE49-F238E27FC236}">
                  <a16:creationId xmlns:a16="http://schemas.microsoft.com/office/drawing/2014/main" id="{7C697040-0F99-4D8C-AA14-6FC2EBA85825}"/>
                </a:ext>
              </a:extLst>
            </p:cNvPr>
            <p:cNvCxnSpPr>
              <a:endCxn id="78" idx="0"/>
            </p:cNvCxnSpPr>
            <p:nvPr/>
          </p:nvCxnSpPr>
          <p:spPr>
            <a:xfrm>
              <a:off x="2932134" y="4443889"/>
              <a:ext cx="2568" cy="33159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16">
              <a:extLst>
                <a:ext uri="{FF2B5EF4-FFF2-40B4-BE49-F238E27FC236}">
                  <a16:creationId xmlns:a16="http://schemas.microsoft.com/office/drawing/2014/main" id="{BE45C2AD-BF7E-46E8-BBBF-376ECFA173D0}"/>
                </a:ext>
              </a:extLst>
            </p:cNvPr>
            <p:cNvCxnSpPr/>
            <p:nvPr/>
          </p:nvCxnSpPr>
          <p:spPr>
            <a:xfrm>
              <a:off x="2591028" y="4453673"/>
              <a:ext cx="2568" cy="33159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16">
              <a:extLst>
                <a:ext uri="{FF2B5EF4-FFF2-40B4-BE49-F238E27FC236}">
                  <a16:creationId xmlns:a16="http://schemas.microsoft.com/office/drawing/2014/main" id="{45D28A44-2161-499F-AB64-E024773A9AB8}"/>
                </a:ext>
              </a:extLst>
            </p:cNvPr>
            <p:cNvCxnSpPr/>
            <p:nvPr/>
          </p:nvCxnSpPr>
          <p:spPr>
            <a:xfrm>
              <a:off x="1886366" y="4443889"/>
              <a:ext cx="2568" cy="33159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16">
              <a:extLst>
                <a:ext uri="{FF2B5EF4-FFF2-40B4-BE49-F238E27FC236}">
                  <a16:creationId xmlns:a16="http://schemas.microsoft.com/office/drawing/2014/main" id="{D2D36450-27FD-492D-B9B0-D744BD0B5C3B}"/>
                </a:ext>
              </a:extLst>
            </p:cNvPr>
            <p:cNvCxnSpPr/>
            <p:nvPr/>
          </p:nvCxnSpPr>
          <p:spPr>
            <a:xfrm>
              <a:off x="2218768" y="4453673"/>
              <a:ext cx="2568" cy="33159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9" name="ZoneTexte 47">
              <a:extLst>
                <a:ext uri="{FF2B5EF4-FFF2-40B4-BE49-F238E27FC236}">
                  <a16:creationId xmlns:a16="http://schemas.microsoft.com/office/drawing/2014/main" id="{944EF1F9-562D-4F65-A39D-9239F5951CBF}"/>
                </a:ext>
              </a:extLst>
            </p:cNvPr>
            <p:cNvSpPr txBox="1"/>
            <p:nvPr/>
          </p:nvSpPr>
          <p:spPr>
            <a:xfrm>
              <a:off x="575506" y="4065665"/>
              <a:ext cx="835173" cy="461665"/>
            </a:xfrm>
            <a:prstGeom prst="rect">
              <a:avLst/>
            </a:prstGeom>
            <a:noFill/>
            <a:ln>
              <a:noFill/>
            </a:ln>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122632"/>
                  </a:solidFill>
                  <a:effectLst/>
                  <a:uLnTx/>
                  <a:uFillTx/>
                  <a:latin typeface="Arial"/>
                  <a:ea typeface="ＭＳ Ｐゴシック" pitchFamily="80" charset="-128"/>
                  <a:cs typeface="+mn-cs"/>
                </a:rPr>
                <a:t>Cost</a:t>
              </a:r>
              <a:br>
                <a:rPr kumimoji="0" lang="fr-FR" sz="1100" b="0" i="0" u="none" strike="noStrike" kern="1200" cap="none" spc="0" normalizeH="0" baseline="0" noProof="0">
                  <a:ln>
                    <a:noFill/>
                  </a:ln>
                  <a:solidFill>
                    <a:srgbClr val="122632"/>
                  </a:solidFill>
                  <a:effectLst/>
                  <a:uLnTx/>
                  <a:uFillTx/>
                  <a:latin typeface="Arial"/>
                  <a:ea typeface="ＭＳ Ｐゴシック" pitchFamily="80" charset="-128"/>
                  <a:cs typeface="+mn-cs"/>
                </a:rPr>
              </a:br>
              <a:r>
                <a:rPr kumimoji="0" lang="fr-FR" sz="1200" b="0" i="0" u="none" strike="noStrike" kern="1200" cap="none" spc="0" normalizeH="0" baseline="0" noProof="0">
                  <a:ln>
                    <a:noFill/>
                  </a:ln>
                  <a:solidFill>
                    <a:srgbClr val="122632"/>
                  </a:solidFill>
                  <a:effectLst/>
                  <a:uLnTx/>
                  <a:uFillTx/>
                  <a:latin typeface="Arial"/>
                  <a:ea typeface="ＭＳ Ｐゴシック" pitchFamily="80" charset="-128"/>
                  <a:cs typeface="+mn-cs"/>
                </a:rPr>
                <a:t>Centers </a:t>
              </a:r>
              <a:r>
                <a:rPr kumimoji="0" lang="fr-FR" sz="1100" b="0" i="0" u="none" strike="noStrike" kern="1200" cap="none" spc="0" normalizeH="0" baseline="0" noProof="0">
                  <a:ln>
                    <a:noFill/>
                  </a:ln>
                  <a:solidFill>
                    <a:srgbClr val="122632"/>
                  </a:solidFill>
                  <a:effectLst/>
                  <a:uLnTx/>
                  <a:uFillTx/>
                  <a:latin typeface="Arial"/>
                  <a:ea typeface="ＭＳ Ｐゴシック" pitchFamily="80" charset="-128"/>
                  <a:cs typeface="+mn-cs"/>
                </a:rPr>
                <a:t>  </a:t>
              </a:r>
            </a:p>
          </p:txBody>
        </p:sp>
        <p:sp>
          <p:nvSpPr>
            <p:cNvPr id="90" name="Freeform 66">
              <a:extLst>
                <a:ext uri="{FF2B5EF4-FFF2-40B4-BE49-F238E27FC236}">
                  <a16:creationId xmlns:a16="http://schemas.microsoft.com/office/drawing/2014/main" id="{312AA2C3-97B0-4943-93C3-077B5A157D96}"/>
                </a:ext>
              </a:extLst>
            </p:cNvPr>
            <p:cNvSpPr/>
            <p:nvPr/>
          </p:nvSpPr>
          <p:spPr>
            <a:xfrm>
              <a:off x="682610" y="5079724"/>
              <a:ext cx="3458295" cy="416486"/>
            </a:xfrm>
            <a:custGeom>
              <a:avLst/>
              <a:gdLst>
                <a:gd name="connsiteX0" fmla="*/ 286750 w 3456384"/>
                <a:gd name="connsiteY0" fmla="*/ 0 h 409836"/>
                <a:gd name="connsiteX1" fmla="*/ 3176076 w 3456384"/>
                <a:gd name="connsiteY1" fmla="*/ 0 h 409836"/>
                <a:gd name="connsiteX2" fmla="*/ 3456384 w 3456384"/>
                <a:gd name="connsiteY2" fmla="*/ 409836 h 409836"/>
                <a:gd name="connsiteX3" fmla="*/ 0 w 3456384"/>
                <a:gd name="connsiteY3" fmla="*/ 409836 h 409836"/>
                <a:gd name="connsiteX4" fmla="*/ 286750 w 3456384"/>
                <a:gd name="connsiteY4" fmla="*/ 0 h 4098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384" h="409836">
                  <a:moveTo>
                    <a:pt x="286750" y="0"/>
                  </a:moveTo>
                  <a:lnTo>
                    <a:pt x="3176076" y="0"/>
                  </a:lnTo>
                  <a:lnTo>
                    <a:pt x="3456384" y="409836"/>
                  </a:lnTo>
                  <a:lnTo>
                    <a:pt x="0" y="409836"/>
                  </a:lnTo>
                  <a:lnTo>
                    <a:pt x="286750" y="0"/>
                  </a:lnTo>
                  <a:close/>
                </a:path>
              </a:pathLst>
            </a:custGeom>
            <a:solidFill>
              <a:srgbClr val="78C2B0">
                <a:alpha val="74000"/>
              </a:srgbClr>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a:ea typeface="+mn-ea"/>
                <a:cs typeface="+mn-cs"/>
              </a:endParaRPr>
            </a:p>
          </p:txBody>
        </p:sp>
        <p:cxnSp>
          <p:nvCxnSpPr>
            <p:cNvPr id="91" name="Straight Connector 9">
              <a:extLst>
                <a:ext uri="{FF2B5EF4-FFF2-40B4-BE49-F238E27FC236}">
                  <a16:creationId xmlns:a16="http://schemas.microsoft.com/office/drawing/2014/main" id="{1DF9BC74-21D2-4286-ABFA-ACF1BA9E49AB}"/>
                </a:ext>
              </a:extLst>
            </p:cNvPr>
            <p:cNvCxnSpPr/>
            <p:nvPr/>
          </p:nvCxnSpPr>
          <p:spPr>
            <a:xfrm>
              <a:off x="1194908" y="5081110"/>
              <a:ext cx="2369613" cy="0"/>
            </a:xfrm>
            <a:prstGeom prst="line">
              <a:avLst/>
            </a:prstGeom>
            <a:ln w="9525">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2" name="ZoneTexte 31">
              <a:extLst>
                <a:ext uri="{FF2B5EF4-FFF2-40B4-BE49-F238E27FC236}">
                  <a16:creationId xmlns:a16="http://schemas.microsoft.com/office/drawing/2014/main" id="{1F1463E7-0894-4941-848A-7965D0C9BC11}"/>
                </a:ext>
              </a:extLst>
            </p:cNvPr>
            <p:cNvSpPr txBox="1"/>
            <p:nvPr/>
          </p:nvSpPr>
          <p:spPr>
            <a:xfrm>
              <a:off x="1456021" y="5111341"/>
              <a:ext cx="1888292" cy="281494"/>
            </a:xfrm>
            <a:prstGeom prst="rect">
              <a:avLst/>
            </a:prstGeom>
            <a:noFill/>
            <a:ln>
              <a:noFill/>
            </a:ln>
          </p:spPr>
          <p:txBody>
            <a:bodyPr wrap="non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25" b="0" i="0" u="none" strike="noStrike" kern="1200" cap="none" spc="0" normalizeH="0" baseline="0" noProof="0" err="1">
                  <a:ln>
                    <a:noFill/>
                  </a:ln>
                  <a:solidFill>
                    <a:srgbClr val="122632"/>
                  </a:solidFill>
                  <a:effectLst/>
                  <a:uLnTx/>
                  <a:uFillTx/>
                  <a:latin typeface="Arial"/>
                  <a:ea typeface="ＭＳ Ｐゴシック" pitchFamily="80" charset="-128"/>
                  <a:cs typeface="+mn-cs"/>
                </a:rPr>
                <a:t>Markets</a:t>
              </a:r>
              <a:endParaRPr kumimoji="0" lang="fr-FR" sz="1625" b="0" i="0" u="none" strike="noStrike" kern="1200" cap="none" spc="0" normalizeH="0" baseline="0" noProof="0">
                <a:ln>
                  <a:noFill/>
                </a:ln>
                <a:solidFill>
                  <a:srgbClr val="122632"/>
                </a:solidFill>
                <a:effectLst/>
                <a:uLnTx/>
                <a:uFillTx/>
                <a:latin typeface="Arial"/>
                <a:ea typeface="ＭＳ Ｐゴシック" pitchFamily="80" charset="-128"/>
                <a:cs typeface="+mn-cs"/>
              </a:endParaRPr>
            </a:p>
          </p:txBody>
        </p:sp>
        <p:sp>
          <p:nvSpPr>
            <p:cNvPr id="93" name="ZoneTexte 26">
              <a:extLst>
                <a:ext uri="{FF2B5EF4-FFF2-40B4-BE49-F238E27FC236}">
                  <a16:creationId xmlns:a16="http://schemas.microsoft.com/office/drawing/2014/main" id="{60D46559-2387-435F-A30E-C9489714475F}"/>
                </a:ext>
              </a:extLst>
            </p:cNvPr>
            <p:cNvSpPr txBox="1"/>
            <p:nvPr/>
          </p:nvSpPr>
          <p:spPr>
            <a:xfrm flipV="1">
              <a:off x="2267662" y="3398056"/>
              <a:ext cx="343090" cy="225872"/>
            </a:xfrm>
            <a:prstGeom prst="rect">
              <a:avLst/>
            </a:prstGeom>
            <a:solidFill>
              <a:schemeClr val="bg1"/>
            </a:solidFill>
            <a:ln>
              <a:solidFill>
                <a:schemeClr val="tx2">
                  <a:lumMod val="60000"/>
                  <a:lumOff val="40000"/>
                </a:schemeClr>
              </a:solidFill>
            </a:ln>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8F9195"/>
                </a:solidFill>
                <a:effectLst/>
                <a:uLnTx/>
                <a:uFillTx/>
                <a:latin typeface="Georgia"/>
                <a:ea typeface="ＭＳ Ｐゴシック" pitchFamily="80" charset="-128"/>
                <a:cs typeface="+mn-cs"/>
              </a:endParaRPr>
            </a:p>
          </p:txBody>
        </p:sp>
        <p:sp>
          <p:nvSpPr>
            <p:cNvPr id="94" name="Rectangle 93">
              <a:extLst>
                <a:ext uri="{FF2B5EF4-FFF2-40B4-BE49-F238E27FC236}">
                  <a16:creationId xmlns:a16="http://schemas.microsoft.com/office/drawing/2014/main" id="{5CE50BAB-BC0A-413F-8A54-9AE82FB5FBF4}"/>
                </a:ext>
              </a:extLst>
            </p:cNvPr>
            <p:cNvSpPr/>
            <p:nvPr/>
          </p:nvSpPr>
          <p:spPr>
            <a:xfrm>
              <a:off x="8536851" y="2981995"/>
              <a:ext cx="3062540" cy="2520662"/>
            </a:xfrm>
            <a:prstGeom prst="rect">
              <a:avLst/>
            </a:prstGeom>
            <a:solidFill>
              <a:srgbClr val="ABD9CE">
                <a:alpha val="69000"/>
              </a:srgbClr>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srgbClr val="122632"/>
                </a:solidFill>
                <a:effectLst/>
                <a:uLnTx/>
                <a:uFillTx/>
                <a:latin typeface="Arial"/>
                <a:ea typeface="+mn-ea"/>
                <a:cs typeface="+mn-cs"/>
              </a:endParaRPr>
            </a:p>
          </p:txBody>
        </p:sp>
        <p:sp>
          <p:nvSpPr>
            <p:cNvPr id="95" name="ZoneTexte 6">
              <a:extLst>
                <a:ext uri="{FF2B5EF4-FFF2-40B4-BE49-F238E27FC236}">
                  <a16:creationId xmlns:a16="http://schemas.microsoft.com/office/drawing/2014/main" id="{F5BBAA59-2CBF-4EB8-9694-627941EC7303}"/>
                </a:ext>
              </a:extLst>
            </p:cNvPr>
            <p:cNvSpPr txBox="1"/>
            <p:nvPr/>
          </p:nvSpPr>
          <p:spPr>
            <a:xfrm>
              <a:off x="9913506" y="2964974"/>
              <a:ext cx="1844670" cy="307697"/>
            </a:xfrm>
            <a:prstGeom prst="rect">
              <a:avLst/>
            </a:prstGeom>
            <a:noFill/>
            <a:ln>
              <a:no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122632"/>
                  </a:solidFill>
                  <a:effectLst/>
                  <a:uLnTx/>
                  <a:uFillTx/>
                  <a:latin typeface="Arial" panose="020B0604020202020204"/>
                  <a:ea typeface="ＭＳ Ｐゴシック" pitchFamily="80" charset="-128"/>
                  <a:cs typeface="Arial" panose="020B0604020202020204" pitchFamily="34" charset="0"/>
                </a:rPr>
                <a:t>Dimensions </a:t>
              </a:r>
            </a:p>
          </p:txBody>
        </p:sp>
        <p:cxnSp>
          <p:nvCxnSpPr>
            <p:cNvPr id="96" name="Straight Arrow Connector 95">
              <a:extLst>
                <a:ext uri="{FF2B5EF4-FFF2-40B4-BE49-F238E27FC236}">
                  <a16:creationId xmlns:a16="http://schemas.microsoft.com/office/drawing/2014/main" id="{14195384-CECE-4BB4-B6A1-EE3818044228}"/>
                </a:ext>
              </a:extLst>
            </p:cNvPr>
            <p:cNvCxnSpPr/>
            <p:nvPr/>
          </p:nvCxnSpPr>
          <p:spPr>
            <a:xfrm flipV="1">
              <a:off x="9209043" y="3275073"/>
              <a:ext cx="2309122" cy="2876"/>
            </a:xfrm>
            <a:prstGeom prst="straightConnector1">
              <a:avLst/>
            </a:prstGeom>
            <a:ln w="15875">
              <a:solidFill>
                <a:schemeClr val="bg1"/>
              </a:solidFill>
              <a:tailEnd type="stealth" w="lg" len="lg"/>
            </a:ln>
          </p:spPr>
          <p:style>
            <a:lnRef idx="1">
              <a:schemeClr val="accent1"/>
            </a:lnRef>
            <a:fillRef idx="0">
              <a:schemeClr val="accent1"/>
            </a:fillRef>
            <a:effectRef idx="0">
              <a:schemeClr val="accent1"/>
            </a:effectRef>
            <a:fontRef idx="minor">
              <a:schemeClr val="tx1"/>
            </a:fontRef>
          </p:style>
        </p:cxnSp>
        <p:sp>
          <p:nvSpPr>
            <p:cNvPr id="97" name="Down Arrow 83">
              <a:extLst>
                <a:ext uri="{FF2B5EF4-FFF2-40B4-BE49-F238E27FC236}">
                  <a16:creationId xmlns:a16="http://schemas.microsoft.com/office/drawing/2014/main" id="{577C6F92-FA2A-4688-B316-24F8EDF2B582}"/>
                </a:ext>
              </a:extLst>
            </p:cNvPr>
            <p:cNvSpPr/>
            <p:nvPr/>
          </p:nvSpPr>
          <p:spPr bwMode="auto">
            <a:xfrm>
              <a:off x="8739175" y="3336293"/>
              <a:ext cx="502998" cy="2091714"/>
            </a:xfrm>
            <a:prstGeom prst="downArrow">
              <a:avLst/>
            </a:prstGeom>
            <a:solidFill>
              <a:srgbClr val="78C2B0"/>
            </a:solidFill>
            <a:ln>
              <a:noFill/>
            </a:ln>
            <a:effectLst/>
          </p:spPr>
          <p:txBody>
            <a:bodyPr vert="horz" wrap="square" lIns="0" tIns="0" rIns="0" bIns="0" numCol="1" rtlCol="0" anchor="ctr" anchorCtr="1" compatLnSpc="1">
              <a:prstTxWarp prst="textNoShape">
                <a:avLst/>
              </a:prstTxWarp>
            </a:bodyPr>
            <a:lstStyle/>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fr-CH" sz="1400" b="0" i="0" u="none" strike="noStrike" kern="1200" cap="none" spc="0" normalizeH="0" baseline="0" noProof="0">
                <a:ln>
                  <a:noFill/>
                </a:ln>
                <a:solidFill>
                  <a:srgbClr val="122632"/>
                </a:solidFill>
                <a:effectLst/>
                <a:uLnTx/>
                <a:uFillTx/>
                <a:latin typeface="Arial" charset="0"/>
                <a:ea typeface="ＭＳ Ｐゴシック" charset="0"/>
                <a:cs typeface="+mn-cs"/>
              </a:endParaRPr>
            </a:p>
          </p:txBody>
        </p:sp>
        <p:sp>
          <p:nvSpPr>
            <p:cNvPr id="98" name="Rectangle 97">
              <a:extLst>
                <a:ext uri="{FF2B5EF4-FFF2-40B4-BE49-F238E27FC236}">
                  <a16:creationId xmlns:a16="http://schemas.microsoft.com/office/drawing/2014/main" id="{DC81BBB6-4BFB-4094-B995-0A2B05B6429D}"/>
                </a:ext>
              </a:extLst>
            </p:cNvPr>
            <p:cNvSpPr/>
            <p:nvPr/>
          </p:nvSpPr>
          <p:spPr>
            <a:xfrm>
              <a:off x="4824929" y="2979626"/>
              <a:ext cx="2935872" cy="2510799"/>
            </a:xfrm>
            <a:prstGeom prst="rect">
              <a:avLst/>
            </a:prstGeom>
            <a:solidFill>
              <a:srgbClr val="ABD9CE"/>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3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99" name="Connecteur droit 23">
              <a:extLst>
                <a:ext uri="{FF2B5EF4-FFF2-40B4-BE49-F238E27FC236}">
                  <a16:creationId xmlns:a16="http://schemas.microsoft.com/office/drawing/2014/main" id="{33FD0319-1BEE-4F35-8140-0A16627C6BB9}"/>
                </a:ext>
              </a:extLst>
            </p:cNvPr>
            <p:cNvCxnSpPr/>
            <p:nvPr/>
          </p:nvCxnSpPr>
          <p:spPr>
            <a:xfrm>
              <a:off x="5078590" y="2931535"/>
              <a:ext cx="2452455" cy="2448078"/>
            </a:xfrm>
            <a:prstGeom prst="line">
              <a:avLst/>
            </a:prstGeom>
            <a:solidFill>
              <a:srgbClr val="ABD9CE"/>
            </a:solidFill>
            <a:ln>
              <a:solidFill>
                <a:schemeClr val="accent1">
                  <a:alpha val="0"/>
                </a:schemeClr>
              </a:solidFill>
              <a:prstDash val="sysDot"/>
            </a:ln>
          </p:spPr>
          <p:style>
            <a:lnRef idx="1">
              <a:schemeClr val="accent1"/>
            </a:lnRef>
            <a:fillRef idx="0">
              <a:schemeClr val="accent1"/>
            </a:fillRef>
            <a:effectRef idx="0">
              <a:schemeClr val="accent1"/>
            </a:effectRef>
            <a:fontRef idx="minor">
              <a:schemeClr val="tx1"/>
            </a:fontRef>
          </p:style>
        </p:cxnSp>
        <p:sp>
          <p:nvSpPr>
            <p:cNvPr id="100" name="ZoneTexte 6">
              <a:extLst>
                <a:ext uri="{FF2B5EF4-FFF2-40B4-BE49-F238E27FC236}">
                  <a16:creationId xmlns:a16="http://schemas.microsoft.com/office/drawing/2014/main" id="{19C449A0-CC0C-44C4-9829-998DD2B37390}"/>
                </a:ext>
              </a:extLst>
            </p:cNvPr>
            <p:cNvSpPr txBox="1"/>
            <p:nvPr/>
          </p:nvSpPr>
          <p:spPr>
            <a:xfrm>
              <a:off x="5806962" y="2942881"/>
              <a:ext cx="1588377" cy="342312"/>
            </a:xfrm>
            <a:prstGeom prst="rect">
              <a:avLst/>
            </a:prstGeom>
            <a:noFill/>
            <a:ln>
              <a:no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25" b="0" i="0" u="none" strike="noStrike" kern="1200" cap="none" spc="0" normalizeH="0" baseline="0" noProof="0" err="1">
                  <a:ln>
                    <a:noFill/>
                  </a:ln>
                  <a:solidFill>
                    <a:srgbClr val="122632"/>
                  </a:solidFill>
                  <a:effectLst/>
                  <a:uLnTx/>
                  <a:uFillTx/>
                  <a:latin typeface="Arial" panose="020B0604020202020204"/>
                  <a:ea typeface="ＭＳ Ｐゴシック" pitchFamily="80" charset="-128"/>
                  <a:cs typeface="+mn-cs"/>
                </a:rPr>
                <a:t>Customers</a:t>
              </a:r>
              <a:endParaRPr kumimoji="0" lang="fr-FR" sz="1625" b="0" i="0" u="none" strike="noStrike" kern="1200" cap="none" spc="0" normalizeH="0" baseline="0" noProof="0">
                <a:ln>
                  <a:noFill/>
                </a:ln>
                <a:solidFill>
                  <a:srgbClr val="122632"/>
                </a:solidFill>
                <a:effectLst/>
                <a:uLnTx/>
                <a:uFillTx/>
                <a:latin typeface="Arial" panose="020B0604020202020204"/>
                <a:ea typeface="ＭＳ Ｐゴシック" pitchFamily="80" charset="-128"/>
                <a:cs typeface="+mn-cs"/>
              </a:endParaRPr>
            </a:p>
          </p:txBody>
        </p:sp>
        <p:cxnSp>
          <p:nvCxnSpPr>
            <p:cNvPr id="101" name="Straight Arrow Connector 100">
              <a:extLst>
                <a:ext uri="{FF2B5EF4-FFF2-40B4-BE49-F238E27FC236}">
                  <a16:creationId xmlns:a16="http://schemas.microsoft.com/office/drawing/2014/main" id="{1AE8843E-98B6-4091-AA25-723BB7EF666C}"/>
                </a:ext>
              </a:extLst>
            </p:cNvPr>
            <p:cNvCxnSpPr/>
            <p:nvPr/>
          </p:nvCxnSpPr>
          <p:spPr>
            <a:xfrm>
              <a:off x="5232191" y="3269662"/>
              <a:ext cx="2089386" cy="0"/>
            </a:xfrm>
            <a:prstGeom prst="straightConnector1">
              <a:avLst/>
            </a:prstGeom>
            <a:solidFill>
              <a:srgbClr val="ABD9CE"/>
            </a:solidFill>
            <a:ln w="15875">
              <a:solidFill>
                <a:schemeClr val="bg1"/>
              </a:solidFill>
              <a:tailEnd type="stealth" w="lg" len="lg"/>
            </a:ln>
          </p:spPr>
          <p:style>
            <a:lnRef idx="1">
              <a:schemeClr val="accent1"/>
            </a:lnRef>
            <a:fillRef idx="0">
              <a:schemeClr val="accent1"/>
            </a:fillRef>
            <a:effectRef idx="0">
              <a:schemeClr val="accent1"/>
            </a:effectRef>
            <a:fontRef idx="minor">
              <a:schemeClr val="tx1"/>
            </a:fontRef>
          </p:style>
        </p:cxnSp>
        <p:sp>
          <p:nvSpPr>
            <p:cNvPr id="102" name="ZoneTexte 8">
              <a:extLst>
                <a:ext uri="{FF2B5EF4-FFF2-40B4-BE49-F238E27FC236}">
                  <a16:creationId xmlns:a16="http://schemas.microsoft.com/office/drawing/2014/main" id="{52263D4F-4452-4FA5-9C97-0787D6B0C7A0}"/>
                </a:ext>
              </a:extLst>
            </p:cNvPr>
            <p:cNvSpPr txBox="1"/>
            <p:nvPr/>
          </p:nvSpPr>
          <p:spPr>
            <a:xfrm rot="16200000">
              <a:off x="4432482" y="4330232"/>
              <a:ext cx="1174451" cy="342312"/>
            </a:xfrm>
            <a:prstGeom prst="rect">
              <a:avLst/>
            </a:prstGeom>
            <a:solidFill>
              <a:srgbClr val="ABD9CE"/>
            </a:solid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25" b="0" i="0" u="none" strike="noStrike" kern="1200" cap="none" spc="0" normalizeH="0" baseline="0" noProof="0" err="1">
                  <a:ln>
                    <a:noFill/>
                  </a:ln>
                  <a:solidFill>
                    <a:srgbClr val="122632"/>
                  </a:solidFill>
                  <a:effectLst/>
                  <a:uLnTx/>
                  <a:uFillTx/>
                  <a:latin typeface="Arial" panose="020B0604020202020204"/>
                  <a:ea typeface="ＭＳ Ｐゴシック" pitchFamily="80" charset="-128"/>
                  <a:cs typeface="+mn-cs"/>
                </a:rPr>
                <a:t>Products</a:t>
              </a:r>
              <a:endParaRPr kumimoji="0" lang="fr-FR" sz="1625" b="0" i="0" u="none" strike="noStrike" kern="1200" cap="none" spc="0" normalizeH="0" baseline="0" noProof="0">
                <a:ln>
                  <a:noFill/>
                </a:ln>
                <a:solidFill>
                  <a:srgbClr val="122632"/>
                </a:solidFill>
                <a:effectLst/>
                <a:uLnTx/>
                <a:uFillTx/>
                <a:latin typeface="Arial" panose="020B0604020202020204"/>
                <a:ea typeface="ＭＳ Ｐゴシック" pitchFamily="80" charset="-128"/>
                <a:cs typeface="+mn-cs"/>
              </a:endParaRPr>
            </a:p>
          </p:txBody>
        </p:sp>
        <p:cxnSp>
          <p:nvCxnSpPr>
            <p:cNvPr id="103" name="Straight Arrow Connector 102">
              <a:extLst>
                <a:ext uri="{FF2B5EF4-FFF2-40B4-BE49-F238E27FC236}">
                  <a16:creationId xmlns:a16="http://schemas.microsoft.com/office/drawing/2014/main" id="{EA283BAE-8D4F-499A-8379-BC97A21A400A}"/>
                </a:ext>
              </a:extLst>
            </p:cNvPr>
            <p:cNvCxnSpPr/>
            <p:nvPr/>
          </p:nvCxnSpPr>
          <p:spPr>
            <a:xfrm>
              <a:off x="5227876" y="3316021"/>
              <a:ext cx="1438025" cy="984726"/>
            </a:xfrm>
            <a:prstGeom prst="straightConnector1">
              <a:avLst/>
            </a:prstGeom>
            <a:solidFill>
              <a:srgbClr val="ABD9CE"/>
            </a:solidFill>
            <a:ln w="15875">
              <a:solidFill>
                <a:schemeClr val="bg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6E21FEB6-A5F4-4919-A3D6-9035DF37825A}"/>
                </a:ext>
              </a:extLst>
            </p:cNvPr>
            <p:cNvCxnSpPr/>
            <p:nvPr/>
          </p:nvCxnSpPr>
          <p:spPr>
            <a:xfrm>
              <a:off x="5230798" y="3262772"/>
              <a:ext cx="0" cy="2041456"/>
            </a:xfrm>
            <a:prstGeom prst="straightConnector1">
              <a:avLst/>
            </a:prstGeom>
            <a:solidFill>
              <a:srgbClr val="ABD9CE"/>
            </a:solidFill>
            <a:ln w="15875">
              <a:solidFill>
                <a:schemeClr val="bg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F6E3E94F-EDBA-4F54-A9AC-ABDABE8493FB}"/>
                </a:ext>
              </a:extLst>
            </p:cNvPr>
            <p:cNvCxnSpPr/>
            <p:nvPr/>
          </p:nvCxnSpPr>
          <p:spPr>
            <a:xfrm>
              <a:off x="5231040" y="3279558"/>
              <a:ext cx="854099" cy="1562621"/>
            </a:xfrm>
            <a:prstGeom prst="straightConnector1">
              <a:avLst/>
            </a:prstGeom>
            <a:solidFill>
              <a:srgbClr val="ABD9CE"/>
            </a:solidFill>
            <a:ln w="15875">
              <a:solidFill>
                <a:schemeClr val="bg1"/>
              </a:solidFill>
              <a:tailEnd type="stealth" w="lg" len="lg"/>
            </a:ln>
          </p:spPr>
          <p:style>
            <a:lnRef idx="1">
              <a:schemeClr val="accent1"/>
            </a:lnRef>
            <a:fillRef idx="0">
              <a:schemeClr val="accent1"/>
            </a:fillRef>
            <a:effectRef idx="0">
              <a:schemeClr val="accent1"/>
            </a:effectRef>
            <a:fontRef idx="minor">
              <a:schemeClr val="tx1"/>
            </a:fontRef>
          </p:style>
        </p:cxnSp>
        <p:sp>
          <p:nvSpPr>
            <p:cNvPr id="106" name="ZoneTexte 6">
              <a:extLst>
                <a:ext uri="{FF2B5EF4-FFF2-40B4-BE49-F238E27FC236}">
                  <a16:creationId xmlns:a16="http://schemas.microsoft.com/office/drawing/2014/main" id="{7BF00F0A-ACC9-4B69-B553-02ED5B2157EB}"/>
                </a:ext>
              </a:extLst>
            </p:cNvPr>
            <p:cNvSpPr txBox="1"/>
            <p:nvPr/>
          </p:nvSpPr>
          <p:spPr>
            <a:xfrm>
              <a:off x="5528784" y="4602154"/>
              <a:ext cx="1588377" cy="342312"/>
            </a:xfrm>
            <a:prstGeom prst="rect">
              <a:avLst/>
            </a:prstGeom>
            <a:noFill/>
            <a:ln>
              <a:no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25" b="0" i="0" u="none" strike="noStrike" kern="1200" cap="none" spc="0" normalizeH="0" baseline="0" noProof="0">
                  <a:ln>
                    <a:noFill/>
                  </a:ln>
                  <a:solidFill>
                    <a:srgbClr val="FFFFFF"/>
                  </a:solidFill>
                  <a:effectLst/>
                  <a:uLnTx/>
                  <a:uFillTx/>
                  <a:latin typeface="Arial" panose="020B0604020202020204"/>
                  <a:ea typeface="ＭＳ Ｐゴシック" pitchFamily="80" charset="-128"/>
                  <a:cs typeface="+mn-cs"/>
                </a:rPr>
                <a:t>….</a:t>
              </a:r>
            </a:p>
          </p:txBody>
        </p:sp>
        <p:sp>
          <p:nvSpPr>
            <p:cNvPr id="107" name="ZoneTexte 2">
              <a:extLst>
                <a:ext uri="{FF2B5EF4-FFF2-40B4-BE49-F238E27FC236}">
                  <a16:creationId xmlns:a16="http://schemas.microsoft.com/office/drawing/2014/main" id="{6498645B-7AA5-47C8-ADDB-3E0639E29FF1}"/>
                </a:ext>
              </a:extLst>
            </p:cNvPr>
            <p:cNvSpPr txBox="1"/>
            <p:nvPr/>
          </p:nvSpPr>
          <p:spPr>
            <a:xfrm>
              <a:off x="569643" y="1723178"/>
              <a:ext cx="3741803" cy="576791"/>
            </a:xfrm>
            <a:prstGeom prst="rect">
              <a:avLst/>
            </a:prstGeom>
            <a:solidFill>
              <a:srgbClr val="A7E6E4"/>
            </a:solidFill>
            <a:ln>
              <a:noFill/>
            </a:ln>
            <a:effectLst/>
          </p:spPr>
          <p:txBody>
            <a:bodyPr vert="horz" wrap="square" lIns="0" tIns="0" rIns="0" bIns="0" numCol="1" rtlCol="0" anchor="t" anchorCtr="1" compatLnSpc="1">
              <a:prstTxWarp prst="textNoShape">
                <a:avLst/>
              </a:prstTxWarp>
            </a:bodyPr>
            <a:lstStyle>
              <a:defPPr>
                <a:defRPr lang="en-US"/>
              </a:defPPr>
              <a:lvl1pPr marL="0" marR="0" lvl="0" indent="0" defTabSz="914400" eaLnBrk="1" latinLnBrk="0" hangingPunct="1">
                <a:lnSpc>
                  <a:spcPct val="100000"/>
                </a:lnSpc>
                <a:spcBef>
                  <a:spcPct val="20000"/>
                </a:spcBef>
                <a:buClrTx/>
                <a:buSzTx/>
                <a:buFontTx/>
                <a:buNone/>
                <a:tabLst/>
                <a:defRPr kumimoji="0" sz="2000" b="1" i="0" u="none" strike="noStrike" cap="none" spc="0" normalizeH="0" baseline="0">
                  <a:ln>
                    <a:noFill/>
                  </a:ln>
                  <a:solidFill>
                    <a:schemeClr val="tx1">
                      <a:lumMod val="75000"/>
                      <a:lumOff val="25000"/>
                    </a:schemeClr>
                  </a:solidFill>
                  <a:effectLst/>
                  <a:uLnTx/>
                  <a:uFillTx/>
                  <a:latin typeface="Arial" charset="0"/>
                  <a:ea typeface="Arial" charset="0"/>
                  <a:cs typeface="Arial" charset="0"/>
                </a:defRPr>
              </a:lvl1pPr>
              <a:lvl2pPr>
                <a:defRPr>
                  <a:solidFill>
                    <a:schemeClr val="bg1"/>
                  </a:solidFill>
                  <a:latin typeface="Arial" pitchFamily="34" charset="0"/>
                  <a:ea typeface="ＭＳ Ｐゴシック" pitchFamily="80" charset="-128"/>
                </a:defRPr>
              </a:lvl2pPr>
              <a:lvl3pPr>
                <a:defRPr>
                  <a:solidFill>
                    <a:schemeClr val="bg1"/>
                  </a:solidFill>
                  <a:latin typeface="Arial" pitchFamily="34" charset="0"/>
                  <a:ea typeface="ＭＳ Ｐゴシック" pitchFamily="80" charset="-128"/>
                </a:defRPr>
              </a:lvl3pPr>
              <a:lvl4pPr>
                <a:defRPr>
                  <a:solidFill>
                    <a:schemeClr val="bg1"/>
                  </a:solidFill>
                  <a:latin typeface="Arial" pitchFamily="34" charset="0"/>
                  <a:ea typeface="ＭＳ Ｐゴシック" pitchFamily="80" charset="-128"/>
                </a:defRPr>
              </a:lvl4pPr>
              <a:lvl5pPr>
                <a:defRPr>
                  <a:solidFill>
                    <a:schemeClr val="bg1"/>
                  </a:solidFill>
                  <a:latin typeface="Arial" pitchFamily="34" charset="0"/>
                  <a:ea typeface="ＭＳ Ｐゴシック" pitchFamily="80" charset="-128"/>
                </a:defRPr>
              </a:lvl5pPr>
              <a:lvl6pPr>
                <a:defRPr>
                  <a:solidFill>
                    <a:schemeClr val="bg1"/>
                  </a:solidFill>
                  <a:latin typeface="Arial" pitchFamily="34" charset="0"/>
                  <a:ea typeface="ＭＳ Ｐゴシック" pitchFamily="80" charset="-128"/>
                </a:defRPr>
              </a:lvl6pPr>
              <a:lvl7pPr>
                <a:defRPr>
                  <a:solidFill>
                    <a:schemeClr val="bg1"/>
                  </a:solidFill>
                  <a:latin typeface="Arial" pitchFamily="34" charset="0"/>
                  <a:ea typeface="ＭＳ Ｐゴシック" pitchFamily="80" charset="-128"/>
                </a:defRPr>
              </a:lvl7pPr>
              <a:lvl8pPr>
                <a:defRPr>
                  <a:solidFill>
                    <a:schemeClr val="bg1"/>
                  </a:solidFill>
                  <a:latin typeface="Arial" pitchFamily="34" charset="0"/>
                  <a:ea typeface="ＭＳ Ｐゴシック" pitchFamily="80" charset="-128"/>
                </a:defRPr>
              </a:lvl8pPr>
              <a:lvl9pPr>
                <a:defRPr>
                  <a:solidFill>
                    <a:schemeClr val="bg1"/>
                  </a:solidFill>
                  <a:latin typeface="Arial" pitchFamily="34" charset="0"/>
                  <a:ea typeface="ＭＳ Ｐゴシック" pitchFamily="80"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fr-FR" sz="1600" b="1" i="0" u="none" strike="noStrike" kern="1200" cap="none" spc="0" normalizeH="0" baseline="0" noProof="0">
                  <a:ln>
                    <a:noFill/>
                  </a:ln>
                  <a:solidFill>
                    <a:srgbClr val="000000">
                      <a:lumMod val="75000"/>
                      <a:lumOff val="25000"/>
                    </a:srgbClr>
                  </a:solidFill>
                  <a:effectLst/>
                  <a:uLnTx/>
                  <a:uFillTx/>
                  <a:latin typeface="Arial" charset="0"/>
                  <a:cs typeface="Arial" charset="0"/>
                </a:rPr>
                <a:t>1. Profit Centers and Cost Centers to </a:t>
              </a:r>
              <a:r>
                <a:rPr kumimoji="0" lang="fr-FR" sz="1600" b="1" i="0" u="none" strike="noStrike" kern="1200" cap="none" spc="0" normalizeH="0" baseline="0" noProof="0" err="1">
                  <a:ln>
                    <a:noFill/>
                  </a:ln>
                  <a:solidFill>
                    <a:srgbClr val="000000">
                      <a:lumMod val="75000"/>
                      <a:lumOff val="25000"/>
                    </a:srgbClr>
                  </a:solidFill>
                  <a:effectLst/>
                  <a:uLnTx/>
                  <a:uFillTx/>
                  <a:latin typeface="Arial" charset="0"/>
                  <a:cs typeface="Arial" charset="0"/>
                </a:rPr>
                <a:t>reflect</a:t>
              </a:r>
              <a:r>
                <a:rPr kumimoji="0" lang="fr-FR" sz="1600" b="1" i="0" u="none" strike="noStrike" kern="1200" cap="none" spc="0" normalizeH="0" baseline="0" noProof="0">
                  <a:ln>
                    <a:noFill/>
                  </a:ln>
                  <a:solidFill>
                    <a:srgbClr val="000000">
                      <a:lumMod val="75000"/>
                      <a:lumOff val="25000"/>
                    </a:srgbClr>
                  </a:solidFill>
                  <a:effectLst/>
                  <a:uLnTx/>
                  <a:uFillTx/>
                  <a:latin typeface="Arial" charset="0"/>
                  <a:cs typeface="Arial" charset="0"/>
                </a:rPr>
                <a:t> the </a:t>
              </a:r>
              <a:r>
                <a:rPr kumimoji="0" lang="fr-FR" sz="1600" b="1" i="0" u="none" strike="noStrike" kern="1200" cap="none" spc="0" normalizeH="0" baseline="0" noProof="0" err="1">
                  <a:ln>
                    <a:noFill/>
                  </a:ln>
                  <a:solidFill>
                    <a:srgbClr val="000000">
                      <a:lumMod val="75000"/>
                      <a:lumOff val="25000"/>
                    </a:srgbClr>
                  </a:solidFill>
                  <a:effectLst/>
                  <a:uLnTx/>
                  <a:uFillTx/>
                  <a:latin typeface="Arial" charset="0"/>
                  <a:cs typeface="Arial" charset="0"/>
                </a:rPr>
                <a:t>organization</a:t>
              </a:r>
              <a:endParaRPr kumimoji="0" lang="fr-FR" sz="1600" b="1" i="0" u="none" strike="noStrike" kern="1200" cap="none" spc="0" normalizeH="0" baseline="0" noProof="0">
                <a:ln>
                  <a:noFill/>
                </a:ln>
                <a:solidFill>
                  <a:srgbClr val="000000">
                    <a:lumMod val="75000"/>
                    <a:lumOff val="25000"/>
                  </a:srgbClr>
                </a:solidFill>
                <a:effectLst/>
                <a:uLnTx/>
                <a:uFillTx/>
                <a:latin typeface="Arial" charset="0"/>
                <a:cs typeface="Arial" charset="0"/>
              </a:endParaRPr>
            </a:p>
          </p:txBody>
        </p:sp>
        <p:sp>
          <p:nvSpPr>
            <p:cNvPr id="108" name="ZoneTexte 2">
              <a:extLst>
                <a:ext uri="{FF2B5EF4-FFF2-40B4-BE49-F238E27FC236}">
                  <a16:creationId xmlns:a16="http://schemas.microsoft.com/office/drawing/2014/main" id="{D5495E1F-D229-43F6-8C78-E60754B91B32}"/>
                </a:ext>
              </a:extLst>
            </p:cNvPr>
            <p:cNvSpPr txBox="1"/>
            <p:nvPr/>
          </p:nvSpPr>
          <p:spPr>
            <a:xfrm>
              <a:off x="4376845" y="1727428"/>
              <a:ext cx="3764336" cy="587318"/>
            </a:xfrm>
            <a:prstGeom prst="rect">
              <a:avLst/>
            </a:prstGeom>
            <a:solidFill>
              <a:srgbClr val="A7E6E4"/>
            </a:solidFill>
            <a:ln>
              <a:noFill/>
            </a:ln>
            <a:effectLst/>
          </p:spPr>
          <p:txBody>
            <a:bodyPr vert="horz" wrap="square" lIns="0" tIns="0" rIns="0" bIns="0" numCol="1" rtlCol="0" anchor="t" anchorCtr="1" compatLnSpc="1">
              <a:prstTxWarp prst="textNoShape">
                <a:avLst/>
              </a:prstTxWarp>
            </a:bodyPr>
            <a:lstStyle>
              <a:defPPr>
                <a:defRPr lang="en-US"/>
              </a:defPPr>
              <a:lvl1pPr marL="0" marR="0" lvl="0" indent="0" defTabSz="914400" eaLnBrk="1" latinLnBrk="0" hangingPunct="1">
                <a:lnSpc>
                  <a:spcPct val="100000"/>
                </a:lnSpc>
                <a:spcBef>
                  <a:spcPct val="20000"/>
                </a:spcBef>
                <a:buClrTx/>
                <a:buSzTx/>
                <a:buFontTx/>
                <a:buNone/>
                <a:tabLst/>
                <a:defRPr kumimoji="0" sz="2000" b="1" i="0" u="none" strike="noStrike" cap="none" spc="0" normalizeH="0" baseline="0">
                  <a:ln>
                    <a:noFill/>
                  </a:ln>
                  <a:solidFill>
                    <a:schemeClr val="tx1">
                      <a:lumMod val="75000"/>
                      <a:lumOff val="25000"/>
                    </a:schemeClr>
                  </a:solidFill>
                  <a:effectLst/>
                  <a:uLnTx/>
                  <a:uFillTx/>
                  <a:latin typeface="Arial" charset="0"/>
                  <a:ea typeface="Arial" charset="0"/>
                  <a:cs typeface="Arial" charset="0"/>
                </a:defRPr>
              </a:lvl1pPr>
              <a:lvl2pPr>
                <a:defRPr>
                  <a:solidFill>
                    <a:schemeClr val="bg1"/>
                  </a:solidFill>
                  <a:latin typeface="Arial" pitchFamily="34" charset="0"/>
                  <a:ea typeface="ＭＳ Ｐゴシック" pitchFamily="80" charset="-128"/>
                </a:defRPr>
              </a:lvl2pPr>
              <a:lvl3pPr>
                <a:defRPr>
                  <a:solidFill>
                    <a:schemeClr val="bg1"/>
                  </a:solidFill>
                  <a:latin typeface="Arial" pitchFamily="34" charset="0"/>
                  <a:ea typeface="ＭＳ Ｐゴシック" pitchFamily="80" charset="-128"/>
                </a:defRPr>
              </a:lvl3pPr>
              <a:lvl4pPr>
                <a:defRPr>
                  <a:solidFill>
                    <a:schemeClr val="bg1"/>
                  </a:solidFill>
                  <a:latin typeface="Arial" pitchFamily="34" charset="0"/>
                  <a:ea typeface="ＭＳ Ｐゴシック" pitchFamily="80" charset="-128"/>
                </a:defRPr>
              </a:lvl4pPr>
              <a:lvl5pPr>
                <a:defRPr>
                  <a:solidFill>
                    <a:schemeClr val="bg1"/>
                  </a:solidFill>
                  <a:latin typeface="Arial" pitchFamily="34" charset="0"/>
                  <a:ea typeface="ＭＳ Ｐゴシック" pitchFamily="80" charset="-128"/>
                </a:defRPr>
              </a:lvl5pPr>
              <a:lvl6pPr>
                <a:defRPr>
                  <a:solidFill>
                    <a:schemeClr val="bg1"/>
                  </a:solidFill>
                  <a:latin typeface="Arial" pitchFamily="34" charset="0"/>
                  <a:ea typeface="ＭＳ Ｐゴシック" pitchFamily="80" charset="-128"/>
                </a:defRPr>
              </a:lvl6pPr>
              <a:lvl7pPr>
                <a:defRPr>
                  <a:solidFill>
                    <a:schemeClr val="bg1"/>
                  </a:solidFill>
                  <a:latin typeface="Arial" pitchFamily="34" charset="0"/>
                  <a:ea typeface="ＭＳ Ｐゴシック" pitchFamily="80" charset="-128"/>
                </a:defRPr>
              </a:lvl7pPr>
              <a:lvl8pPr>
                <a:defRPr>
                  <a:solidFill>
                    <a:schemeClr val="bg1"/>
                  </a:solidFill>
                  <a:latin typeface="Arial" pitchFamily="34" charset="0"/>
                  <a:ea typeface="ＭＳ Ｐゴシック" pitchFamily="80" charset="-128"/>
                </a:defRPr>
              </a:lvl8pPr>
              <a:lvl9pPr>
                <a:defRPr>
                  <a:solidFill>
                    <a:schemeClr val="bg1"/>
                  </a:solidFill>
                  <a:latin typeface="Arial" pitchFamily="34" charset="0"/>
                  <a:ea typeface="ＭＳ Ｐゴシック" pitchFamily="80"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fr-FR" sz="1600" b="1" i="0" u="none" strike="noStrike" kern="1200" cap="none" spc="0" normalizeH="0" baseline="0" noProof="0">
                  <a:ln>
                    <a:noFill/>
                  </a:ln>
                  <a:solidFill>
                    <a:srgbClr val="000000">
                      <a:lumMod val="75000"/>
                      <a:lumOff val="25000"/>
                    </a:srgbClr>
                  </a:solidFill>
                  <a:effectLst/>
                  <a:uLnTx/>
                  <a:uFillTx/>
                  <a:latin typeface="Arial" charset="0"/>
                  <a:cs typeface="Arial" charset="0"/>
                </a:rPr>
                <a:t>2. Key Dimensions to support </a:t>
              </a:r>
              <a:r>
                <a:rPr kumimoji="0" lang="fr-FR" sz="1600" b="1" i="0" u="none" strike="noStrike" kern="1200" cap="none" spc="0" normalizeH="0" baseline="0" noProof="0" err="1">
                  <a:ln>
                    <a:noFill/>
                  </a:ln>
                  <a:solidFill>
                    <a:srgbClr val="000000">
                      <a:lumMod val="75000"/>
                      <a:lumOff val="25000"/>
                    </a:srgbClr>
                  </a:solidFill>
                  <a:effectLst/>
                  <a:uLnTx/>
                  <a:uFillTx/>
                  <a:latin typeface="Arial" charset="0"/>
                  <a:cs typeface="Arial" charset="0"/>
                </a:rPr>
                <a:t>profitability</a:t>
              </a:r>
              <a:r>
                <a:rPr kumimoji="0" lang="fr-FR" sz="1600" b="1" i="0" u="none" strike="noStrike" kern="1200" cap="none" spc="0" normalizeH="0" baseline="0" noProof="0">
                  <a:ln>
                    <a:noFill/>
                  </a:ln>
                  <a:solidFill>
                    <a:srgbClr val="000000">
                      <a:lumMod val="75000"/>
                      <a:lumOff val="25000"/>
                    </a:srgbClr>
                  </a:solidFill>
                  <a:effectLst/>
                  <a:uLnTx/>
                  <a:uFillTx/>
                  <a:latin typeface="Arial" charset="0"/>
                  <a:cs typeface="Arial" charset="0"/>
                </a:rPr>
                <a:t> </a:t>
              </a:r>
              <a:r>
                <a:rPr kumimoji="0" lang="fr-FR" sz="1600" b="1" i="0" u="none" strike="noStrike" kern="1200" cap="none" spc="0" normalizeH="0" baseline="0" noProof="0" err="1">
                  <a:ln>
                    <a:noFill/>
                  </a:ln>
                  <a:solidFill>
                    <a:srgbClr val="000000">
                      <a:lumMod val="75000"/>
                      <a:lumOff val="25000"/>
                    </a:srgbClr>
                  </a:solidFill>
                  <a:effectLst/>
                  <a:uLnTx/>
                  <a:uFillTx/>
                  <a:latin typeface="Arial" charset="0"/>
                  <a:cs typeface="Arial" charset="0"/>
                </a:rPr>
                <a:t>analytics</a:t>
              </a:r>
              <a:endParaRPr kumimoji="0" lang="fr-FR" sz="1600" b="1" i="0" u="none" strike="noStrike" kern="1200" cap="none" spc="0" normalizeH="0" baseline="0" noProof="0">
                <a:ln>
                  <a:noFill/>
                </a:ln>
                <a:solidFill>
                  <a:srgbClr val="000000">
                    <a:lumMod val="75000"/>
                    <a:lumOff val="25000"/>
                  </a:srgbClr>
                </a:solidFill>
                <a:effectLst/>
                <a:uLnTx/>
                <a:uFillTx/>
                <a:latin typeface="Arial" charset="0"/>
                <a:cs typeface="Arial" charset="0"/>
              </a:endParaRPr>
            </a:p>
          </p:txBody>
        </p:sp>
        <p:sp>
          <p:nvSpPr>
            <p:cNvPr id="109" name="ZoneTexte 2">
              <a:extLst>
                <a:ext uri="{FF2B5EF4-FFF2-40B4-BE49-F238E27FC236}">
                  <a16:creationId xmlns:a16="http://schemas.microsoft.com/office/drawing/2014/main" id="{97D544C5-1948-4BE4-B0DF-9BCA1B27D330}"/>
                </a:ext>
              </a:extLst>
            </p:cNvPr>
            <p:cNvSpPr txBox="1"/>
            <p:nvPr/>
          </p:nvSpPr>
          <p:spPr>
            <a:xfrm>
              <a:off x="8203341" y="1706267"/>
              <a:ext cx="3764336" cy="576791"/>
            </a:xfrm>
            <a:prstGeom prst="rect">
              <a:avLst/>
            </a:prstGeom>
            <a:solidFill>
              <a:srgbClr val="A7E6E4"/>
            </a:solidFill>
            <a:ln>
              <a:noFill/>
            </a:ln>
            <a:effectLst/>
          </p:spPr>
          <p:txBody>
            <a:bodyPr vert="horz" wrap="square" lIns="0" tIns="0" rIns="0" bIns="0" numCol="1" rtlCol="0" anchor="t" anchorCtr="1" compatLnSpc="1">
              <a:prstTxWarp prst="textNoShape">
                <a:avLst/>
              </a:prstTxWarp>
            </a:bodyPr>
            <a:lstStyle>
              <a:defPPr>
                <a:defRPr lang="en-US"/>
              </a:defPPr>
              <a:lvl1pPr marL="0" marR="0" lvl="0" indent="0" defTabSz="914400" eaLnBrk="1" latinLnBrk="0" hangingPunct="1">
                <a:lnSpc>
                  <a:spcPct val="100000"/>
                </a:lnSpc>
                <a:spcBef>
                  <a:spcPct val="20000"/>
                </a:spcBef>
                <a:buClrTx/>
                <a:buSzTx/>
                <a:buFontTx/>
                <a:buNone/>
                <a:tabLst/>
                <a:defRPr kumimoji="0" sz="2000" b="1" i="0" u="none" strike="noStrike" cap="none" spc="0" normalizeH="0" baseline="0">
                  <a:ln>
                    <a:noFill/>
                  </a:ln>
                  <a:solidFill>
                    <a:schemeClr val="tx1">
                      <a:lumMod val="75000"/>
                      <a:lumOff val="25000"/>
                    </a:schemeClr>
                  </a:solidFill>
                  <a:effectLst/>
                  <a:uLnTx/>
                  <a:uFillTx/>
                  <a:latin typeface="Arial" charset="0"/>
                  <a:ea typeface="Arial" charset="0"/>
                  <a:cs typeface="Arial" charset="0"/>
                </a:defRPr>
              </a:lvl1pPr>
              <a:lvl2pPr>
                <a:defRPr>
                  <a:solidFill>
                    <a:schemeClr val="bg1"/>
                  </a:solidFill>
                  <a:latin typeface="Arial" pitchFamily="34" charset="0"/>
                  <a:ea typeface="ＭＳ Ｐゴシック" pitchFamily="80" charset="-128"/>
                </a:defRPr>
              </a:lvl2pPr>
              <a:lvl3pPr>
                <a:defRPr>
                  <a:solidFill>
                    <a:schemeClr val="bg1"/>
                  </a:solidFill>
                  <a:latin typeface="Arial" pitchFamily="34" charset="0"/>
                  <a:ea typeface="ＭＳ Ｐゴシック" pitchFamily="80" charset="-128"/>
                </a:defRPr>
              </a:lvl3pPr>
              <a:lvl4pPr>
                <a:defRPr>
                  <a:solidFill>
                    <a:schemeClr val="bg1"/>
                  </a:solidFill>
                  <a:latin typeface="Arial" pitchFamily="34" charset="0"/>
                  <a:ea typeface="ＭＳ Ｐゴシック" pitchFamily="80" charset="-128"/>
                </a:defRPr>
              </a:lvl4pPr>
              <a:lvl5pPr>
                <a:defRPr>
                  <a:solidFill>
                    <a:schemeClr val="bg1"/>
                  </a:solidFill>
                  <a:latin typeface="Arial" pitchFamily="34" charset="0"/>
                  <a:ea typeface="ＭＳ Ｐゴシック" pitchFamily="80" charset="-128"/>
                </a:defRPr>
              </a:lvl5pPr>
              <a:lvl6pPr>
                <a:defRPr>
                  <a:solidFill>
                    <a:schemeClr val="bg1"/>
                  </a:solidFill>
                  <a:latin typeface="Arial" pitchFamily="34" charset="0"/>
                  <a:ea typeface="ＭＳ Ｐゴシック" pitchFamily="80" charset="-128"/>
                </a:defRPr>
              </a:lvl6pPr>
              <a:lvl7pPr>
                <a:defRPr>
                  <a:solidFill>
                    <a:schemeClr val="bg1"/>
                  </a:solidFill>
                  <a:latin typeface="Arial" pitchFamily="34" charset="0"/>
                  <a:ea typeface="ＭＳ Ｐゴシック" pitchFamily="80" charset="-128"/>
                </a:defRPr>
              </a:lvl7pPr>
              <a:lvl8pPr>
                <a:defRPr>
                  <a:solidFill>
                    <a:schemeClr val="bg1"/>
                  </a:solidFill>
                  <a:latin typeface="Arial" pitchFamily="34" charset="0"/>
                  <a:ea typeface="ＭＳ Ｐゴシック" pitchFamily="80" charset="-128"/>
                </a:defRPr>
              </a:lvl8pPr>
              <a:lvl9pPr>
                <a:defRPr>
                  <a:solidFill>
                    <a:schemeClr val="bg1"/>
                  </a:solidFill>
                  <a:latin typeface="Arial" pitchFamily="34" charset="0"/>
                  <a:ea typeface="ＭＳ Ｐゴシック" pitchFamily="80"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fr-FR" sz="1600" b="1" i="0" u="none" strike="noStrike" kern="1200" cap="none" spc="0" normalizeH="0" baseline="0" noProof="0">
                  <a:ln>
                    <a:noFill/>
                  </a:ln>
                  <a:solidFill>
                    <a:srgbClr val="000000">
                      <a:lumMod val="75000"/>
                      <a:lumOff val="25000"/>
                    </a:srgbClr>
                  </a:solidFill>
                  <a:effectLst/>
                  <a:uLnTx/>
                  <a:uFillTx/>
                  <a:latin typeface="Arial" charset="0"/>
                  <a:cs typeface="Arial" charset="0"/>
                </a:rPr>
                <a:t> 3. </a:t>
              </a:r>
              <a:r>
                <a:rPr kumimoji="0" lang="fr-FR" sz="1600" b="1" i="0" u="none" strike="noStrike" kern="1200" cap="none" spc="0" normalizeH="0" baseline="0" noProof="0" err="1">
                  <a:ln>
                    <a:noFill/>
                  </a:ln>
                  <a:solidFill>
                    <a:srgbClr val="000000">
                      <a:lumMod val="75000"/>
                      <a:lumOff val="25000"/>
                    </a:srgbClr>
                  </a:solidFill>
                  <a:effectLst/>
                  <a:uLnTx/>
                  <a:uFillTx/>
                  <a:latin typeface="Arial" charset="0"/>
                  <a:cs typeface="Arial" charset="0"/>
                </a:rPr>
                <a:t>Market</a:t>
              </a:r>
              <a:r>
                <a:rPr kumimoji="0" lang="fr-FR" sz="1600" b="1" i="0" u="none" strike="noStrike" kern="1200" cap="none" spc="0" normalizeH="0" baseline="0" noProof="0">
                  <a:ln>
                    <a:noFill/>
                  </a:ln>
                  <a:solidFill>
                    <a:srgbClr val="000000">
                      <a:lumMod val="75000"/>
                      <a:lumOff val="25000"/>
                    </a:srgbClr>
                  </a:solidFill>
                  <a:effectLst/>
                  <a:uLnTx/>
                  <a:uFillTx/>
                  <a:latin typeface="Arial" charset="0"/>
                  <a:cs typeface="Arial" charset="0"/>
                </a:rPr>
                <a:t> P&amp;L « slice and dice » </a:t>
              </a:r>
              <a:r>
                <a:rPr kumimoji="0" lang="fr-FR" sz="1600" b="1" i="0" u="none" strike="noStrike" kern="1200" cap="none" spc="0" normalizeH="0" baseline="0" noProof="0" err="1">
                  <a:ln>
                    <a:noFill/>
                  </a:ln>
                  <a:solidFill>
                    <a:srgbClr val="000000">
                      <a:lumMod val="75000"/>
                      <a:lumOff val="25000"/>
                    </a:srgbClr>
                  </a:solidFill>
                  <a:effectLst/>
                  <a:uLnTx/>
                  <a:uFillTx/>
                  <a:latin typeface="Arial" charset="0"/>
                  <a:cs typeface="Arial" charset="0"/>
                </a:rPr>
                <a:t>potential</a:t>
              </a:r>
              <a:r>
                <a:rPr kumimoji="0" lang="fr-FR" sz="1600" b="1" i="0" u="none" strike="noStrike" kern="1200" cap="none" spc="0" normalizeH="0" baseline="0" noProof="0">
                  <a:ln>
                    <a:noFill/>
                  </a:ln>
                  <a:solidFill>
                    <a:srgbClr val="000000">
                      <a:lumMod val="75000"/>
                      <a:lumOff val="25000"/>
                    </a:srgbClr>
                  </a:solidFill>
                  <a:effectLst/>
                  <a:uLnTx/>
                  <a:uFillTx/>
                  <a:latin typeface="Arial" charset="0"/>
                  <a:cs typeface="Arial" charset="0"/>
                </a:rPr>
                <a:t> &amp; </a:t>
              </a:r>
              <a:r>
                <a:rPr kumimoji="0" lang="fr-FR" sz="1600" b="1" i="0" u="none" strike="noStrike" kern="1200" cap="none" spc="0" normalizeH="0" baseline="0" noProof="0" err="1">
                  <a:ln>
                    <a:noFill/>
                  </a:ln>
                  <a:solidFill>
                    <a:srgbClr val="000000">
                      <a:lumMod val="75000"/>
                      <a:lumOff val="25000"/>
                    </a:srgbClr>
                  </a:solidFill>
                  <a:effectLst/>
                  <a:uLnTx/>
                  <a:uFillTx/>
                  <a:latin typeface="Arial" charset="0"/>
                  <a:cs typeface="Arial" charset="0"/>
                </a:rPr>
                <a:t>Reporting</a:t>
              </a:r>
              <a:endParaRPr kumimoji="0" lang="fr-FR" sz="1600" b="1" i="0" u="none" strike="noStrike" kern="1200" cap="none" spc="0" normalizeH="0" baseline="0" noProof="0">
                <a:ln>
                  <a:noFill/>
                </a:ln>
                <a:solidFill>
                  <a:srgbClr val="000000">
                    <a:lumMod val="75000"/>
                    <a:lumOff val="25000"/>
                  </a:srgbClr>
                </a:solidFill>
                <a:effectLst/>
                <a:uLnTx/>
                <a:uFillTx/>
                <a:latin typeface="Arial" charset="0"/>
                <a:cs typeface="Arial" charset="0"/>
              </a:endParaRPr>
            </a:p>
          </p:txBody>
        </p:sp>
        <p:pic>
          <p:nvPicPr>
            <p:cNvPr id="110" name="Picture 109">
              <a:extLst>
                <a:ext uri="{FF2B5EF4-FFF2-40B4-BE49-F238E27FC236}">
                  <a16:creationId xmlns:a16="http://schemas.microsoft.com/office/drawing/2014/main" id="{5B785ECB-B294-4365-AA68-D7F00BB5F672}"/>
                </a:ext>
              </a:extLst>
            </p:cNvPr>
            <p:cNvPicPr>
              <a:picLocks noChangeAspect="1"/>
            </p:cNvPicPr>
            <p:nvPr/>
          </p:nvPicPr>
          <p:blipFill rotWithShape="1">
            <a:blip r:embed="rId3"/>
            <a:srcRect t="1033"/>
            <a:stretch/>
          </p:blipFill>
          <p:spPr>
            <a:xfrm>
              <a:off x="9223573" y="3368426"/>
              <a:ext cx="2205523" cy="1943889"/>
            </a:xfrm>
            <a:prstGeom prst="rect">
              <a:avLst/>
            </a:prstGeom>
          </p:spPr>
        </p:pic>
        <p:sp>
          <p:nvSpPr>
            <p:cNvPr id="111" name="ZoneTexte 8">
              <a:extLst>
                <a:ext uri="{FF2B5EF4-FFF2-40B4-BE49-F238E27FC236}">
                  <a16:creationId xmlns:a16="http://schemas.microsoft.com/office/drawing/2014/main" id="{C7C07D22-6305-48C6-8043-C1B1EEC2E452}"/>
                </a:ext>
              </a:extLst>
            </p:cNvPr>
            <p:cNvSpPr txBox="1"/>
            <p:nvPr/>
          </p:nvSpPr>
          <p:spPr>
            <a:xfrm rot="16200000">
              <a:off x="8038070" y="3985686"/>
              <a:ext cx="1863455" cy="342401"/>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25" b="0" i="0" u="none" strike="noStrike" kern="1200" cap="none" spc="0" normalizeH="0" baseline="0" noProof="0" err="1">
                  <a:ln>
                    <a:noFill/>
                  </a:ln>
                  <a:solidFill>
                    <a:srgbClr val="122632"/>
                  </a:solidFill>
                  <a:effectLst/>
                  <a:uLnTx/>
                  <a:uFillTx/>
                  <a:latin typeface="Arial" panose="020B0604020202020204"/>
                  <a:ea typeface="ＭＳ Ｐゴシック" pitchFamily="80" charset="-128"/>
                  <a:cs typeface="+mn-cs"/>
                </a:rPr>
                <a:t>Market</a:t>
              </a:r>
              <a:r>
                <a:rPr kumimoji="0" lang="fr-FR" sz="1625" b="0" i="0" u="none" strike="noStrike" kern="1200" cap="none" spc="0" normalizeH="0" baseline="0" noProof="0">
                  <a:ln>
                    <a:noFill/>
                  </a:ln>
                  <a:solidFill>
                    <a:srgbClr val="122632"/>
                  </a:solidFill>
                  <a:effectLst/>
                  <a:uLnTx/>
                  <a:uFillTx/>
                  <a:latin typeface="Arial" panose="020B0604020202020204"/>
                  <a:ea typeface="ＭＳ Ｐゴシック" pitchFamily="80" charset="-128"/>
                  <a:cs typeface="+mn-cs"/>
                </a:rPr>
                <a:t> P&amp;L</a:t>
              </a:r>
            </a:p>
          </p:txBody>
        </p:sp>
        <p:sp>
          <p:nvSpPr>
            <p:cNvPr id="112" name="ZoneTexte 6">
              <a:extLst>
                <a:ext uri="{FF2B5EF4-FFF2-40B4-BE49-F238E27FC236}">
                  <a16:creationId xmlns:a16="http://schemas.microsoft.com/office/drawing/2014/main" id="{50E39B9F-DC08-4EA6-9597-33FEED92DEC0}"/>
                </a:ext>
              </a:extLst>
            </p:cNvPr>
            <p:cNvSpPr txBox="1"/>
            <p:nvPr/>
          </p:nvSpPr>
          <p:spPr>
            <a:xfrm>
              <a:off x="6066810" y="3916149"/>
              <a:ext cx="1588377" cy="342312"/>
            </a:xfrm>
            <a:prstGeom prst="rect">
              <a:avLst/>
            </a:prstGeom>
            <a:noFill/>
            <a:ln>
              <a:noFill/>
            </a:ln>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25" b="0" i="0" u="none" strike="noStrike" kern="1200" cap="none" spc="0" normalizeH="0" baseline="0" noProof="0">
                  <a:ln>
                    <a:noFill/>
                  </a:ln>
                  <a:solidFill>
                    <a:srgbClr val="FFFFFF"/>
                  </a:solidFill>
                  <a:effectLst/>
                  <a:uLnTx/>
                  <a:uFillTx/>
                  <a:latin typeface="Arial" panose="020B0604020202020204"/>
                  <a:ea typeface="ＭＳ Ｐゴシック" pitchFamily="80" charset="-128"/>
                  <a:cs typeface="+mn-cs"/>
                </a:rPr>
                <a:t>….</a:t>
              </a:r>
            </a:p>
          </p:txBody>
        </p:sp>
      </p:grpSp>
    </p:spTree>
    <p:extLst>
      <p:ext uri="{BB962C8B-B14F-4D97-AF65-F5344CB8AC3E}">
        <p14:creationId xmlns:p14="http://schemas.microsoft.com/office/powerpoint/2010/main" val="611808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YwLtFvJPmZMIJRo0G1gMKg"/>
</p:tagLst>
</file>

<file path=ppt/theme/theme1.xml><?xml version="1.0" encoding="utf-8"?>
<a:theme xmlns:a="http://schemas.openxmlformats.org/drawingml/2006/main" name="JTI">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rofitability Analysis">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Props1.xml><?xml version="1.0" encoding="utf-8"?>
<ds:datastoreItem xmlns:ds="http://schemas.openxmlformats.org/officeDocument/2006/customXml" ds:itemID="{DCF1D38F-6FD5-4F30-82D5-0C82B942D763}">
  <ds:schemaRefs>
    <ds:schemaRef ds:uri="http://schemas.microsoft.com/sharepoint/v3/contenttype/forms"/>
  </ds:schemaRefs>
</ds:datastoreItem>
</file>

<file path=customXml/itemProps2.xml><?xml version="1.0" encoding="utf-8"?>
<ds:datastoreItem xmlns:ds="http://schemas.openxmlformats.org/officeDocument/2006/customXml" ds:itemID="{9287A039-149D-4EE9-A321-C4D5886BCAEA}"/>
</file>

<file path=customXml/itemProps3.xml><?xml version="1.0" encoding="utf-8"?>
<ds:datastoreItem xmlns:ds="http://schemas.openxmlformats.org/officeDocument/2006/customXml" ds:itemID="{4F898F05-BFF9-4226-A901-5868AB923F00}">
  <ds:schemaRefs>
    <ds:schemaRef ds:uri="http://schemas.microsoft.com/office/infopath/2007/PartnerControls"/>
    <ds:schemaRef ds:uri="da913ec1-a210-4093-97d6-83558d020e4c"/>
    <ds:schemaRef ds:uri="http://purl.org/dc/elements/1.1/"/>
    <ds:schemaRef ds:uri="http://schemas.microsoft.com/office/2006/metadata/properties"/>
    <ds:schemaRef ds:uri="033d2065-0f41-4cc7-b07b-20f12998cf87"/>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 ds:uri="ba249638-b5c4-4b59-8094-70d8491c2e9c"/>
    <ds:schemaRef ds:uri="91871c47-af2e-43ea-ad3f-7bb4c536bc45"/>
    <ds:schemaRef ds:uri="cb52ee0d-5346-4ae8-a9f9-d746adffeb6b"/>
  </ds:schemaRefs>
</ds:datastoreItem>
</file>

<file path=docProps/app.xml><?xml version="1.0" encoding="utf-8"?>
<Properties xmlns="http://schemas.openxmlformats.org/officeDocument/2006/extended-properties" xmlns:vt="http://schemas.openxmlformats.org/officeDocument/2006/docPropsVTypes">
  <TotalTime>3</TotalTime>
  <Words>2164</Words>
  <Application>Microsoft Office PowerPoint</Application>
  <PresentationFormat>Widescreen</PresentationFormat>
  <Paragraphs>427</Paragraphs>
  <Slides>26</Slides>
  <Notes>1</Notes>
  <HiddenSlides>0</HiddenSlides>
  <MMClips>0</MMClips>
  <ScaleCrop>false</ScaleCrop>
  <HeadingPairs>
    <vt:vector size="4" baseType="variant">
      <vt:variant>
        <vt:lpstr>Theme</vt:lpstr>
      </vt:variant>
      <vt:variant>
        <vt:i4>2</vt:i4>
      </vt:variant>
      <vt:variant>
        <vt:lpstr>Slide Titles</vt:lpstr>
      </vt:variant>
      <vt:variant>
        <vt:i4>26</vt:i4>
      </vt:variant>
    </vt:vector>
  </HeadingPairs>
  <TitlesOfParts>
    <vt:vector size="28" baseType="lpstr">
      <vt:lpstr>JTI</vt:lpstr>
      <vt:lpstr>S4F-ERP Profitability Analysis</vt:lpstr>
      <vt:lpstr>PowerPoint Presentation</vt:lpstr>
      <vt:lpstr>PROFITABILITY ANALYSIS</vt:lpstr>
      <vt:lpstr>Overview – About this course</vt:lpstr>
      <vt:lpstr>PowerPoint Presentation</vt:lpstr>
      <vt:lpstr>PowerPoint Presentation</vt:lpstr>
      <vt:lpstr>Course Structure</vt:lpstr>
      <vt:lpstr>Profitability Analysis (CO-PA) Purpose</vt:lpstr>
      <vt:lpstr>Profitability Analysis (CO-PA) Purpose</vt:lpstr>
      <vt:lpstr>Profitability Analysis (CO-PA) Overview</vt:lpstr>
      <vt:lpstr>Course Structure</vt:lpstr>
      <vt:lpstr>Organizational level in S/4 HANA - Finance</vt:lpstr>
      <vt:lpstr>Profitability Analysis – Operating Concern</vt:lpstr>
      <vt:lpstr>Profitability Analysis – Changes in CO-PA</vt:lpstr>
      <vt:lpstr>Profitability Analysis – Characteristics and Cost Elements</vt:lpstr>
      <vt:lpstr>Profitability Analysis – Profitability Segment</vt:lpstr>
      <vt:lpstr>Course Structure</vt:lpstr>
      <vt:lpstr>Profitability Analysis (CO-PA) Master Data</vt:lpstr>
      <vt:lpstr>Profitability Analysis – Master Data</vt:lpstr>
      <vt:lpstr>Course Structure</vt:lpstr>
      <vt:lpstr>Profitability Analysis – Derivation</vt:lpstr>
      <vt:lpstr>Course Structure</vt:lpstr>
      <vt:lpstr>Profitability Analysis – Value Flows</vt:lpstr>
      <vt:lpstr>Course Structure</vt:lpstr>
      <vt:lpstr>Business Rationale for Profitability Analysis focus areas</vt:lpstr>
      <vt:lpstr>Course Structure</vt:lpstr>
      <vt:lpstr>Profitability Analysis: 3 Building blocks in S/4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O'Neill, Shauna</dc:creator>
  <cp:lastModifiedBy>O'Neill, Shauna</cp:lastModifiedBy>
  <cp:revision>2</cp:revision>
  <dcterms:created xsi:type="dcterms:W3CDTF">2019-10-14T14:05:19Z</dcterms:created>
  <dcterms:modified xsi:type="dcterms:W3CDTF">2023-05-16T03:04:06Z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1283900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MSIP_Label_b020b37f-db72-473e-ae54-fb16df408069_Enabled">
    <vt:lpwstr>true</vt:lpwstr>
  </property>
  <property fmtid="{D5CDD505-2E9C-101B-9397-08002B2CF9AE}" pid="11" name="MSIP_Label_b020b37f-db72-473e-ae54-fb16df408069_SetDate">
    <vt:lpwstr>2023-05-16T03:04:06Z</vt:lpwstr>
  </property>
  <property fmtid="{D5CDD505-2E9C-101B-9397-08002B2CF9AE}" pid="12" name="MSIP_Label_b020b37f-db72-473e-ae54-fb16df408069_Method">
    <vt:lpwstr>Standard</vt:lpwstr>
  </property>
  <property fmtid="{D5CDD505-2E9C-101B-9397-08002B2CF9AE}" pid="13" name="MSIP_Label_b020b37f-db72-473e-ae54-fb16df408069_Name">
    <vt:lpwstr>General</vt:lpwstr>
  </property>
  <property fmtid="{D5CDD505-2E9C-101B-9397-08002B2CF9AE}" pid="14" name="MSIP_Label_b020b37f-db72-473e-ae54-fb16df408069_SiteId">
    <vt:lpwstr>705d07a3-2eea-4f3b-ab59-65ca29abeb26</vt:lpwstr>
  </property>
  <property fmtid="{D5CDD505-2E9C-101B-9397-08002B2CF9AE}" pid="15" name="MSIP_Label_b020b37f-db72-473e-ae54-fb16df408069_ActionId">
    <vt:lpwstr>94967fb8-2bc4-4ac5-aec5-9bc5ac94af6b</vt:lpwstr>
  </property>
  <property fmtid="{D5CDD505-2E9C-101B-9397-08002B2CF9AE}" pid="16" name="MSIP_Label_b020b37f-db72-473e-ae54-fb16df408069_ContentBits">
    <vt:lpwstr>0</vt:lpwstr>
  </property>
  <property fmtid="{D5CDD505-2E9C-101B-9397-08002B2CF9AE}" pid="17" name="MediaServiceImageTags">
    <vt:lpwstr/>
  </property>
</Properties>
</file>