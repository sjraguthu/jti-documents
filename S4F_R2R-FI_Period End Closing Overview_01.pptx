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4" r:id="rId4"/>
    <p:sldMasterId id="2147483926" r:id="rId5"/>
    <p:sldMasterId id="2147483931" r:id="rId6"/>
    <p:sldMasterId id="2147483936" r:id="rId7"/>
    <p:sldMasterId id="2147483946" r:id="rId8"/>
  </p:sldMasterIdLst>
  <p:notesMasterIdLst>
    <p:notesMasterId r:id="rId15"/>
  </p:notesMasterIdLst>
  <p:sldIdLst>
    <p:sldId id="3214" r:id="rId9"/>
    <p:sldId id="536" r:id="rId10"/>
    <p:sldId id="3215" r:id="rId11"/>
    <p:sldId id="3216" r:id="rId12"/>
    <p:sldId id="3217" r:id="rId13"/>
    <p:sldId id="21349614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, Wei" initials="WW" lastIdx="20" clrIdx="0">
    <p:extLst>
      <p:ext uri="{19B8F6BF-5375-455C-9EA6-DF929625EA0E}">
        <p15:presenceInfo xmlns:p15="http://schemas.microsoft.com/office/powerpoint/2012/main" userId="S-1-5-21-1645522239-1214440339-682003330-696358" providerId="AD"/>
      </p:ext>
    </p:extLst>
  </p:cmAuthor>
  <p:cmAuthor id="2" name="Riggien, Samantha" initials="RS" lastIdx="3" clrIdx="1">
    <p:extLst>
      <p:ext uri="{19B8F6BF-5375-455C-9EA6-DF929625EA0E}">
        <p15:presenceInfo xmlns:p15="http://schemas.microsoft.com/office/powerpoint/2012/main" userId="S-1-5-21-1645522239-1214440339-682003330-754366" providerId="AD"/>
      </p:ext>
    </p:extLst>
  </p:cmAuthor>
  <p:cmAuthor id="3" name="Wang, Wei" initials="WW [2]" lastIdx="139" clrIdx="2">
    <p:extLst>
      <p:ext uri="{19B8F6BF-5375-455C-9EA6-DF929625EA0E}">
        <p15:presenceInfo xmlns:p15="http://schemas.microsoft.com/office/powerpoint/2012/main" userId="S::CSTWANGW@CORP.JTI.COM::627587dd-935f-4f2b-a6c6-edd4e0dcbff5" providerId="AD"/>
      </p:ext>
    </p:extLst>
  </p:cmAuthor>
  <p:cmAuthor id="4" name="Aardse, Leone" initials="AL" lastIdx="24" clrIdx="3">
    <p:extLst>
      <p:ext uri="{19B8F6BF-5375-455C-9EA6-DF929625EA0E}">
        <p15:presenceInfo xmlns:p15="http://schemas.microsoft.com/office/powerpoint/2012/main" userId="S::GVAAARDSL@CORP.JTI.COM::739cd3d2-ccb6-46e7-9410-591a9a971dee" providerId="AD"/>
      </p:ext>
    </p:extLst>
  </p:cmAuthor>
  <p:cmAuthor id="5" name="Vostrenkova, Anna" initials="VA" lastIdx="5" clrIdx="4">
    <p:extLst>
      <p:ext uri="{19B8F6BF-5375-455C-9EA6-DF929625EA0E}">
        <p15:presenceInfo xmlns:p15="http://schemas.microsoft.com/office/powerpoint/2012/main" userId="S::SPBVOSTRA@CORP.JTI.COM::714b791a-f154-4e8e-a89b-2941418e6a84" providerId="AD"/>
      </p:ext>
    </p:extLst>
  </p:cmAuthor>
  <p:cmAuthor id="6" name="Kandrotiene, Ilmante" initials="KI" lastIdx="49" clrIdx="5">
    <p:extLst>
      <p:ext uri="{19B8F6BF-5375-455C-9EA6-DF929625EA0E}">
        <p15:presenceInfo xmlns:p15="http://schemas.microsoft.com/office/powerpoint/2012/main" userId="S::GVAKANDRI@CORP.JTI.COM::9c9540c0-163c-4c36-9d78-d3fff8b35cb9" providerId="AD"/>
      </p:ext>
    </p:extLst>
  </p:cmAuthor>
  <p:cmAuthor id="7" name="Hill, Daniel" initials="HD" lastIdx="22" clrIdx="6">
    <p:extLst>
      <p:ext uri="{19B8F6BF-5375-455C-9EA6-DF929625EA0E}">
        <p15:presenceInfo xmlns:p15="http://schemas.microsoft.com/office/powerpoint/2012/main" userId="S::MANHILLD@CORP.JTI.COM::e75359db-c6a9-4245-8308-303af67184cd" providerId="AD"/>
      </p:ext>
    </p:extLst>
  </p:cmAuthor>
  <p:cmAuthor id="8" name="Sandler, Marina" initials="SM" lastIdx="7" clrIdx="7">
    <p:extLst>
      <p:ext uri="{19B8F6BF-5375-455C-9EA6-DF929625EA0E}">
        <p15:presenceInfo xmlns:p15="http://schemas.microsoft.com/office/powerpoint/2012/main" userId="S::GVASANDLMB@CORP.JTI.COM::b711e7c6-a7ab-441a-b8e7-d5e5b2cdc6ec" providerId="AD"/>
      </p:ext>
    </p:extLst>
  </p:cmAuthor>
  <p:cmAuthor id="9" name="Parshina, Olga" initials="PO" lastIdx="8" clrIdx="8">
    <p:extLst>
      <p:ext uri="{19B8F6BF-5375-455C-9EA6-DF929625EA0E}">
        <p15:presenceInfo xmlns:p15="http://schemas.microsoft.com/office/powerpoint/2012/main" userId="S::SPBPARSHOD@CORP.JTI.COM::873a8ef6-ff3d-4f50-8df2-5293041e8e5f" providerId="AD"/>
      </p:ext>
    </p:extLst>
  </p:cmAuthor>
  <p:cmAuthor id="10" name="Marchais, Helene" initials="MH" lastIdx="2" clrIdx="9">
    <p:extLst>
      <p:ext uri="{19B8F6BF-5375-455C-9EA6-DF929625EA0E}">
        <p15:presenceInfo xmlns:p15="http://schemas.microsoft.com/office/powerpoint/2012/main" userId="S::GVAMARCHH@CORP.JTI.COM::17418108-8412-4e41-8311-0d6f205b872e" providerId="AD"/>
      </p:ext>
    </p:extLst>
  </p:cmAuthor>
  <p:cmAuthor id="11" name="McVey, Suzanne" initials="MS" lastIdx="2" clrIdx="10">
    <p:extLst>
      <p:ext uri="{19B8F6BF-5375-455C-9EA6-DF929625EA0E}">
        <p15:presenceInfo xmlns:p15="http://schemas.microsoft.com/office/powerpoint/2012/main" userId="S::gvamcveys@corp.jti.com::d4086ca4-ef1f-4ada-91cc-91d6702702bb" providerId="AD"/>
      </p:ext>
    </p:extLst>
  </p:cmAuthor>
  <p:cmAuthor id="12" name="Tierney, Jacqueline" initials="TJ" lastIdx="1" clrIdx="11">
    <p:extLst>
      <p:ext uri="{19B8F6BF-5375-455C-9EA6-DF929625EA0E}">
        <p15:presenceInfo xmlns:p15="http://schemas.microsoft.com/office/powerpoint/2012/main" userId="S::mantiernj@corp.jti.com::c724e8cc-4489-4c36-9411-a0d84306cb81" providerId="AD"/>
      </p:ext>
    </p:extLst>
  </p:cmAuthor>
  <p:cmAuthor id="13" name="Ng, Leo" initials="NL" lastIdx="4" clrIdx="12">
    <p:extLst>
      <p:ext uri="{19B8F6BF-5375-455C-9EA6-DF929625EA0E}">
        <p15:presenceInfo xmlns:p15="http://schemas.microsoft.com/office/powerpoint/2012/main" userId="S::KUANGL@CORP.JTI.COM::ab3a9736-2aae-4d22-bdfd-26ab630f437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D9D5"/>
    <a:srgbClr val="33C781"/>
    <a:srgbClr val="E6E6E6"/>
    <a:srgbClr val="C3EBE9"/>
    <a:srgbClr val="EAAA00"/>
    <a:srgbClr val="7DD9A2"/>
    <a:srgbClr val="0D3919"/>
    <a:srgbClr val="005855"/>
    <a:srgbClr val="005955"/>
    <a:srgbClr val="606F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7B8800-462C-498C-A439-93B6B5EE4D46}" v="1" dt="2024-04-22T09:45:03.3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 Wei" userId="627587dd-935f-4f2b-a6c6-edd4e0dcbff5" providerId="ADAL" clId="{796CDDF5-5949-44F3-BAA6-8FB6FB2A875D}"/>
    <pc:docChg chg="delSld modSld delMainMaster">
      <pc:chgData name="Wang, Wei" userId="627587dd-935f-4f2b-a6c6-edd4e0dcbff5" providerId="ADAL" clId="{796CDDF5-5949-44F3-BAA6-8FB6FB2A875D}" dt="2019-11-29T15:30:57.097" v="222" actId="1038"/>
      <pc:docMkLst>
        <pc:docMk/>
      </pc:docMkLst>
      <pc:sldChg chg="delCm">
        <pc:chgData name="Wang, Wei" userId="627587dd-935f-4f2b-a6c6-edd4e0dcbff5" providerId="ADAL" clId="{796CDDF5-5949-44F3-BAA6-8FB6FB2A875D}" dt="2019-11-29T15:28:13.829" v="201"/>
        <pc:sldMkLst>
          <pc:docMk/>
          <pc:sldMk cId="1859003141" sldId="403"/>
        </pc:sldMkLst>
      </pc:sldChg>
      <pc:sldChg chg="modSp delCm">
        <pc:chgData name="Wang, Wei" userId="627587dd-935f-4f2b-a6c6-edd4e0dcbff5" providerId="ADAL" clId="{796CDDF5-5949-44F3-BAA6-8FB6FB2A875D}" dt="2019-11-29T15:28:39.312" v="206"/>
        <pc:sldMkLst>
          <pc:docMk/>
          <pc:sldMk cId="446603853" sldId="409"/>
        </pc:sldMkLst>
        <pc:spChg chg="mod">
          <ac:chgData name="Wang, Wei" userId="627587dd-935f-4f2b-a6c6-edd4e0dcbff5" providerId="ADAL" clId="{796CDDF5-5949-44F3-BAA6-8FB6FB2A875D}" dt="2019-11-29T15:28:35.197" v="203" actId="20577"/>
          <ac:spMkLst>
            <pc:docMk/>
            <pc:sldMk cId="446603853" sldId="409"/>
            <ac:spMk id="13" creationId="{00000000-0000-0000-0000-000000000000}"/>
          </ac:spMkLst>
        </pc:spChg>
        <pc:spChg chg="mod">
          <ac:chgData name="Wang, Wei" userId="627587dd-935f-4f2b-a6c6-edd4e0dcbff5" providerId="ADAL" clId="{796CDDF5-5949-44F3-BAA6-8FB6FB2A875D}" dt="2019-11-29T15:28:26.504" v="202" actId="207"/>
          <ac:spMkLst>
            <pc:docMk/>
            <pc:sldMk cId="446603853" sldId="409"/>
            <ac:spMk id="17" creationId="{00000000-0000-0000-0000-000000000000}"/>
          </ac:spMkLst>
        </pc:spChg>
      </pc:sldChg>
      <pc:sldChg chg="modSp delCm">
        <pc:chgData name="Wang, Wei" userId="627587dd-935f-4f2b-a6c6-edd4e0dcbff5" providerId="ADAL" clId="{796CDDF5-5949-44F3-BAA6-8FB6FB2A875D}" dt="2019-11-29T15:29:46.692" v="218"/>
        <pc:sldMkLst>
          <pc:docMk/>
          <pc:sldMk cId="1617498554" sldId="1530"/>
        </pc:sldMkLst>
        <pc:spChg chg="mod">
          <ac:chgData name="Wang, Wei" userId="627587dd-935f-4f2b-a6c6-edd4e0dcbff5" providerId="ADAL" clId="{796CDDF5-5949-44F3-BAA6-8FB6FB2A875D}" dt="2019-11-29T15:28:47.744" v="207" actId="207"/>
          <ac:spMkLst>
            <pc:docMk/>
            <pc:sldMk cId="1617498554" sldId="1530"/>
            <ac:spMk id="43" creationId="{AE3A7457-D19D-4BFC-A4F6-F5CCDED7F630}"/>
          </ac:spMkLst>
        </pc:spChg>
      </pc:sldChg>
      <pc:sldChg chg="modSp delCm">
        <pc:chgData name="Wang, Wei" userId="627587dd-935f-4f2b-a6c6-edd4e0dcbff5" providerId="ADAL" clId="{796CDDF5-5949-44F3-BAA6-8FB6FB2A875D}" dt="2019-11-29T15:30:57.097" v="222" actId="1038"/>
        <pc:sldMkLst>
          <pc:docMk/>
          <pc:sldMk cId="3715361786" sldId="1704"/>
        </pc:sldMkLst>
        <pc:spChg chg="mod">
          <ac:chgData name="Wang, Wei" userId="627587dd-935f-4f2b-a6c6-edd4e0dcbff5" providerId="ADAL" clId="{796CDDF5-5949-44F3-BAA6-8FB6FB2A875D}" dt="2019-11-29T15:30:57.097" v="222" actId="1038"/>
          <ac:spMkLst>
            <pc:docMk/>
            <pc:sldMk cId="3715361786" sldId="1704"/>
            <ac:spMk id="16" creationId="{260E7E5A-003B-4722-BAE2-2DB85ABB99DA}"/>
          </ac:spMkLst>
        </pc:spChg>
        <pc:spChg chg="mod">
          <ac:chgData name="Wang, Wei" userId="627587dd-935f-4f2b-a6c6-edd4e0dcbff5" providerId="ADAL" clId="{796CDDF5-5949-44F3-BAA6-8FB6FB2A875D}" dt="2019-11-29T15:28:55.421" v="208" actId="207"/>
          <ac:spMkLst>
            <pc:docMk/>
            <pc:sldMk cId="3715361786" sldId="1704"/>
            <ac:spMk id="22" creationId="{DD28D345-1A92-4665-92B8-E85C73ABFE44}"/>
          </ac:spMkLst>
        </pc:spChg>
        <pc:spChg chg="mod">
          <ac:chgData name="Wang, Wei" userId="627587dd-935f-4f2b-a6c6-edd4e0dcbff5" providerId="ADAL" clId="{796CDDF5-5949-44F3-BAA6-8FB6FB2A875D}" dt="2019-11-29T15:29:36.323" v="217" actId="1037"/>
          <ac:spMkLst>
            <pc:docMk/>
            <pc:sldMk cId="3715361786" sldId="1704"/>
            <ac:spMk id="31" creationId="{CC583057-53DA-47E4-91AA-3022F2744F4D}"/>
          </ac:spMkLst>
        </pc:spChg>
      </pc:sldChg>
    </pc:docChg>
  </pc:docChgLst>
  <pc:docChgLst>
    <pc:chgData name="Wang, Wei" userId="627587dd-935f-4f2b-a6c6-edd4e0dcbff5" providerId="ADAL" clId="{3E7A0707-3823-46AD-B9A2-13A7D8CDC133}"/>
    <pc:docChg chg="modSld">
      <pc:chgData name="Wang, Wei" userId="627587dd-935f-4f2b-a6c6-edd4e0dcbff5" providerId="ADAL" clId="{3E7A0707-3823-46AD-B9A2-13A7D8CDC133}" dt="2019-12-02T10:36:37.785" v="16" actId="20577"/>
      <pc:docMkLst>
        <pc:docMk/>
      </pc:docMkLst>
      <pc:sldChg chg="modSp">
        <pc:chgData name="Wang, Wei" userId="627587dd-935f-4f2b-a6c6-edd4e0dcbff5" providerId="ADAL" clId="{3E7A0707-3823-46AD-B9A2-13A7D8CDC133}" dt="2019-12-02T10:36:37.785" v="16" actId="20577"/>
        <pc:sldMkLst>
          <pc:docMk/>
          <pc:sldMk cId="1292908463" sldId="404"/>
        </pc:sldMkLst>
        <pc:spChg chg="mod">
          <ac:chgData name="Wang, Wei" userId="627587dd-935f-4f2b-a6c6-edd4e0dcbff5" providerId="ADAL" clId="{3E7A0707-3823-46AD-B9A2-13A7D8CDC133}" dt="2019-12-02T10:36:37.785" v="16" actId="20577"/>
          <ac:spMkLst>
            <pc:docMk/>
            <pc:sldMk cId="1292908463" sldId="404"/>
            <ac:spMk id="2" creationId="{00000000-0000-0000-0000-000000000000}"/>
          </ac:spMkLst>
        </pc:spChg>
      </pc:sldChg>
    </pc:docChg>
  </pc:docChgLst>
  <pc:docChgLst>
    <pc:chgData name="Wang, Wei" userId="627587dd-935f-4f2b-a6c6-edd4e0dcbff5" providerId="ADAL" clId="{574CEEE2-7374-4B22-825B-1F7FCA00E441}"/>
    <pc:docChg chg="delSld delMainMaster">
      <pc:chgData name="Wang, Wei" userId="627587dd-935f-4f2b-a6c6-edd4e0dcbff5" providerId="ADAL" clId="{574CEEE2-7374-4B22-825B-1F7FCA00E441}" dt="2021-07-20T10:00:23.709" v="0" actId="47"/>
      <pc:docMkLst>
        <pc:docMk/>
      </pc:docMkLst>
      <pc:sldChg chg="del">
        <pc:chgData name="Wang, Wei" userId="627587dd-935f-4f2b-a6c6-edd4e0dcbff5" providerId="ADAL" clId="{574CEEE2-7374-4B22-825B-1F7FCA00E441}" dt="2021-07-20T10:00:23.709" v="0" actId="47"/>
        <pc:sldMkLst>
          <pc:docMk/>
          <pc:sldMk cId="1859003141" sldId="403"/>
        </pc:sldMkLst>
      </pc:sldChg>
      <pc:sldChg chg="del">
        <pc:chgData name="Wang, Wei" userId="627587dd-935f-4f2b-a6c6-edd4e0dcbff5" providerId="ADAL" clId="{574CEEE2-7374-4B22-825B-1F7FCA00E441}" dt="2021-07-20T10:00:23.709" v="0" actId="47"/>
        <pc:sldMkLst>
          <pc:docMk/>
          <pc:sldMk cId="1292908463" sldId="404"/>
        </pc:sldMkLst>
      </pc:sldChg>
      <pc:sldChg chg="del">
        <pc:chgData name="Wang, Wei" userId="627587dd-935f-4f2b-a6c6-edd4e0dcbff5" providerId="ADAL" clId="{574CEEE2-7374-4B22-825B-1F7FCA00E441}" dt="2021-07-20T10:00:23.709" v="0" actId="47"/>
        <pc:sldMkLst>
          <pc:docMk/>
          <pc:sldMk cId="446603853" sldId="409"/>
        </pc:sldMkLst>
      </pc:sldChg>
      <pc:sldChg chg="del">
        <pc:chgData name="Wang, Wei" userId="627587dd-935f-4f2b-a6c6-edd4e0dcbff5" providerId="ADAL" clId="{574CEEE2-7374-4B22-825B-1F7FCA00E441}" dt="2021-07-20T10:00:23.709" v="0" actId="47"/>
        <pc:sldMkLst>
          <pc:docMk/>
          <pc:sldMk cId="2082923428" sldId="454"/>
        </pc:sldMkLst>
      </pc:sldChg>
      <pc:sldChg chg="del">
        <pc:chgData name="Wang, Wei" userId="627587dd-935f-4f2b-a6c6-edd4e0dcbff5" providerId="ADAL" clId="{574CEEE2-7374-4B22-825B-1F7FCA00E441}" dt="2021-07-20T10:00:23.709" v="0" actId="47"/>
        <pc:sldMkLst>
          <pc:docMk/>
          <pc:sldMk cId="1617498554" sldId="1530"/>
        </pc:sldMkLst>
      </pc:sldChg>
      <pc:sldChg chg="del">
        <pc:chgData name="Wang, Wei" userId="627587dd-935f-4f2b-a6c6-edd4e0dcbff5" providerId="ADAL" clId="{574CEEE2-7374-4B22-825B-1F7FCA00E441}" dt="2021-07-20T10:00:23.709" v="0" actId="47"/>
        <pc:sldMkLst>
          <pc:docMk/>
          <pc:sldMk cId="3715361786" sldId="1704"/>
        </pc:sldMkLst>
      </pc:sldChg>
      <pc:sldChg chg="del">
        <pc:chgData name="Wang, Wei" userId="627587dd-935f-4f2b-a6c6-edd4e0dcbff5" providerId="ADAL" clId="{574CEEE2-7374-4B22-825B-1F7FCA00E441}" dt="2021-07-20T10:00:23.709" v="0" actId="47"/>
        <pc:sldMkLst>
          <pc:docMk/>
          <pc:sldMk cId="1296600738" sldId="2316"/>
        </pc:sldMkLst>
      </pc:sldChg>
      <pc:sldMasterChg chg="del delSldLayout">
        <pc:chgData name="Wang, Wei" userId="627587dd-935f-4f2b-a6c6-edd4e0dcbff5" providerId="ADAL" clId="{574CEEE2-7374-4B22-825B-1F7FCA00E441}" dt="2021-07-20T10:00:23.709" v="0" actId="47"/>
        <pc:sldMasterMkLst>
          <pc:docMk/>
          <pc:sldMasterMk cId="1583574900" sldId="2147483648"/>
        </pc:sldMasterMkLst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1650472377" sldId="2147483650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1636589590" sldId="2147483654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2202305574" sldId="2147483655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1882155853" sldId="2147483657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1265934994" sldId="2147483664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3792690241" sldId="2147483668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1239496803" sldId="2147483679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1669711868" sldId="2147483684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0" sldId="2147483685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1063780236" sldId="2147483686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673999311" sldId="2147483688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0" sldId="2147483691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0" sldId="2147483692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1283683246" sldId="2147483693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0" sldId="2147483695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0" sldId="2147483696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0" sldId="2147483698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0" sldId="2147483699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0" sldId="2147483700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0" sldId="2147483701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0" sldId="2147483717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1228748614" sldId="2147483817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4061941092" sldId="2147483818"/>
          </pc:sldLayoutMkLst>
        </pc:sldLayoutChg>
        <pc:sldLayoutChg chg="del">
          <pc:chgData name="Wang, Wei" userId="627587dd-935f-4f2b-a6c6-edd4e0dcbff5" providerId="ADAL" clId="{574CEEE2-7374-4B22-825B-1F7FCA00E441}" dt="2021-07-20T10:00:23.709" v="0" actId="47"/>
          <pc:sldLayoutMkLst>
            <pc:docMk/>
            <pc:sldMasterMk cId="1583574900" sldId="2147483648"/>
            <pc:sldLayoutMk cId="280407589" sldId="2147483819"/>
          </pc:sldLayoutMkLst>
        </pc:sldLayoutChg>
      </pc:sldMasterChg>
    </pc:docChg>
  </pc:docChgLst>
  <pc:docChgLst>
    <pc:chgData name="Wang, Wei" userId="627587dd-935f-4f2b-a6c6-edd4e0dcbff5" providerId="ADAL" clId="{447B8800-462C-498C-A439-93B6B5EE4D46}"/>
    <pc:docChg chg="delSld">
      <pc:chgData name="Wang, Wei" userId="627587dd-935f-4f2b-a6c6-edd4e0dcbff5" providerId="ADAL" clId="{447B8800-462C-498C-A439-93B6B5EE4D46}" dt="2024-04-22T09:45:01.344" v="0" actId="47"/>
      <pc:docMkLst>
        <pc:docMk/>
      </pc:docMkLst>
      <pc:sldChg chg="del">
        <pc:chgData name="Wang, Wei" userId="627587dd-935f-4f2b-a6c6-edd4e0dcbff5" providerId="ADAL" clId="{447B8800-462C-498C-A439-93B6B5EE4D46}" dt="2024-04-22T09:45:01.344" v="0" actId="47"/>
        <pc:sldMkLst>
          <pc:docMk/>
          <pc:sldMk cId="1156010567" sldId="321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D2E298-1248-4401-9F3E-79067294A229}" type="datetimeFigureOut">
              <a:rPr lang="en-GB" smtClean="0"/>
              <a:t>22/04/2024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944EB3-E743-414B-A21A-64E051E5FA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677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944EB3-E743-414B-A21A-64E051E5FA0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8061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6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 marL="400050" indent="-195263"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005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19BDA20-998B-457A-B579-10860DCD0A1C}"/>
              </a:ext>
            </a:extLst>
          </p:cNvPr>
          <p:cNvGrpSpPr/>
          <p:nvPr userDrawn="1"/>
        </p:nvGrpSpPr>
        <p:grpSpPr>
          <a:xfrm>
            <a:off x="534277" y="380597"/>
            <a:ext cx="902611" cy="902611"/>
            <a:chOff x="515937" y="326276"/>
            <a:chExt cx="902611" cy="90261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61574AA-36DC-4AA1-8288-BB699FC616CA}"/>
                </a:ext>
              </a:extLst>
            </p:cNvPr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F46EE58-4E15-4047-BA0A-08D806BDD0C5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491A383-0A05-4DB6-8C35-81A9AE683911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B915A6A-1CF1-4842-9A60-D4810548BD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36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95450"/>
            <a:ext cx="4824413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63241-5450-4976-8525-5C06611D08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91175" y="1695450"/>
            <a:ext cx="6084886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15938" y="1344706"/>
            <a:ext cx="1116012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11" name="Rectangle 10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Rounded Rectangle 15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4" name="TextBox 13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7" name="Rectangle 16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005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121BA3-DFDA-4363-BC31-122FB93EABAF}"/>
              </a:ext>
            </a:extLst>
          </p:cNvPr>
          <p:cNvGrpSpPr/>
          <p:nvPr userDrawn="1"/>
        </p:nvGrpSpPr>
        <p:grpSpPr>
          <a:xfrm>
            <a:off x="480180" y="350564"/>
            <a:ext cx="902611" cy="902611"/>
            <a:chOff x="515937" y="326276"/>
            <a:chExt cx="902611" cy="90261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2474FB6-94CF-4B97-ACDD-CA64BE8D759B}"/>
                </a:ext>
              </a:extLst>
            </p:cNvPr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9F5856B-5698-43AD-BCFC-2C10B8A97B78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1963F15-A1C0-4470-B411-E0046E12E4B7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1FC43D5-4C18-40D6-9BB7-C5A28C7442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0346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8513E-D1D6-4909-A6A1-E798C384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A9FA-9619-43AB-B085-D7F02109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005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3E30CAE-C48E-4C10-823D-7B7B055C1621}"/>
              </a:ext>
            </a:extLst>
          </p:cNvPr>
          <p:cNvGrpSpPr/>
          <p:nvPr userDrawn="1"/>
        </p:nvGrpSpPr>
        <p:grpSpPr>
          <a:xfrm>
            <a:off x="445437" y="339706"/>
            <a:ext cx="902611" cy="902611"/>
            <a:chOff x="515937" y="326276"/>
            <a:chExt cx="902611" cy="90261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48B2734-2F5C-4117-AEB7-A94237D67448}"/>
                </a:ext>
              </a:extLst>
            </p:cNvPr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4C76669-00B0-4607-8644-F90CB369E0B5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CEA192E-2BDC-4203-AC54-8AD16575143B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905EC3A-FD2E-44C9-BC8C-D41A7528EB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0642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809"/>
            <a:ext cx="12192017" cy="499263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4199439"/>
            <a:ext cx="12192000" cy="1440000"/>
          </a:xfrm>
          <a:prstGeom prst="rect">
            <a:avLst/>
          </a:prstGeom>
          <a:solidFill>
            <a:schemeClr val="accent3">
              <a:lumMod val="5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0B215-A81F-481D-8C0E-6BF46A6156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999" y="5879560"/>
            <a:ext cx="829976" cy="6212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C11B0-82D2-4B1D-A080-5DEC7B98E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4199439"/>
            <a:ext cx="8472253" cy="1440000"/>
          </a:xfrm>
        </p:spPr>
        <p:txBody>
          <a:bodyPr anchor="ctr" anchorCtr="0"/>
          <a:lstStyle>
            <a:lvl1pPr algn="l">
              <a:defRPr sz="4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975" y="4347939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62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6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 marL="400050" indent="-195263"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17" name="Group 16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2479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95450"/>
            <a:ext cx="4824413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63241-5450-4976-8525-5C06611D08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91175" y="1695450"/>
            <a:ext cx="6084886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15938" y="1344706"/>
            <a:ext cx="1116012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11" name="Rectangle 10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Rounded Rectangle 15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4" name="TextBox 13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7" name="Rectangle 16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22" name="Group 21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8" name="Picture 2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1678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8513E-D1D6-4909-A6A1-E798C384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A9FA-9619-43AB-B085-D7F02109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19" name="Group 18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102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809"/>
            <a:ext cx="12192017" cy="499263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4199439"/>
            <a:ext cx="12192000" cy="1440000"/>
          </a:xfrm>
          <a:prstGeom prst="rect">
            <a:avLst/>
          </a:prstGeom>
          <a:solidFill>
            <a:schemeClr val="accent3">
              <a:lumMod val="5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0B215-A81F-481D-8C0E-6BF46A6156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999" y="5879560"/>
            <a:ext cx="829976" cy="6212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C11B0-82D2-4B1D-A080-5DEC7B98E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4199439"/>
            <a:ext cx="8472253" cy="1440000"/>
          </a:xfrm>
        </p:spPr>
        <p:txBody>
          <a:bodyPr anchor="ctr" anchorCtr="0"/>
          <a:lstStyle>
            <a:lvl1pPr algn="l">
              <a:defRPr sz="4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975" y="4347939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00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6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 marL="400050" indent="-195263"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17" name="Group 16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8914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95450"/>
            <a:ext cx="4824413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63241-5450-4976-8525-5C06611D08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91175" y="1695450"/>
            <a:ext cx="6084886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15938" y="1344706"/>
            <a:ext cx="1116012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11" name="Rectangle 10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Rounded Rectangle 15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4" name="TextBox 13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7" name="Rectangle 16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22" name="Group 21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8" name="Picture 2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5145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8513E-D1D6-4909-A6A1-E798C384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A9FA-9619-43AB-B085-D7F02109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19" name="Group 18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0707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person, indoor, person&#10;&#10;Description automatically generated">
            <a:extLst>
              <a:ext uri="{FF2B5EF4-FFF2-40B4-BE49-F238E27FC236}">
                <a16:creationId xmlns:a16="http://schemas.microsoft.com/office/drawing/2014/main" id="{B4398B87-EDBF-49C7-9FE0-B78AFAF59A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46239"/>
            <a:ext cx="12191999" cy="49932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4199439"/>
            <a:ext cx="12192000" cy="1440000"/>
          </a:xfrm>
          <a:prstGeom prst="rect">
            <a:avLst/>
          </a:prstGeom>
          <a:solidFill>
            <a:srgbClr val="005955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0B215-A81F-481D-8C0E-6BF46A6156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999" y="5879560"/>
            <a:ext cx="829976" cy="6212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C11B0-82D2-4B1D-A080-5DEC7B98E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4199439"/>
            <a:ext cx="8472253" cy="1440000"/>
          </a:xfrm>
        </p:spPr>
        <p:txBody>
          <a:bodyPr anchor="ctr" anchorCtr="0"/>
          <a:lstStyle>
            <a:lvl1pPr algn="l">
              <a:defRPr sz="4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600844-215D-46A5-851C-B55536BEB77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400" y="4377384"/>
            <a:ext cx="1173600" cy="11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69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ackgrou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BE0D7-9010-4EA3-8D94-1310B7813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200" y="210344"/>
            <a:ext cx="10048861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04A71-03CF-4069-AAF3-FCD4B29802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C93B-3309-4CDD-8E93-9BC031BCA5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69AC9-2439-4739-83B0-40ED089A3C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40603"/>
            <a:ext cx="12192000" cy="49024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8C4CA7-D47E-47B4-9560-4C33FA23FFDE}"/>
              </a:ext>
            </a:extLst>
          </p:cNvPr>
          <p:cNvSpPr/>
          <p:nvPr userDrawn="1"/>
        </p:nvSpPr>
        <p:spPr>
          <a:xfrm>
            <a:off x="0" y="1340603"/>
            <a:ext cx="12192000" cy="4902409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alpha val="85000"/>
                </a:schemeClr>
              </a:gs>
              <a:gs pos="100000">
                <a:schemeClr val="accent4">
                  <a:lumMod val="50000"/>
                  <a:alpha val="69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5A368A-18C4-4572-BEE6-47A28FFDE898}"/>
              </a:ext>
            </a:extLst>
          </p:cNvPr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005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F22EA1E-3D60-43D9-B6E0-84F348DF3D73}"/>
              </a:ext>
            </a:extLst>
          </p:cNvPr>
          <p:cNvGrpSpPr/>
          <p:nvPr/>
        </p:nvGrpSpPr>
        <p:grpSpPr>
          <a:xfrm>
            <a:off x="515937" y="326276"/>
            <a:ext cx="902611" cy="902611"/>
            <a:chOff x="4492144" y="190843"/>
            <a:chExt cx="855656" cy="85565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0BB4967-0053-4847-85C4-5DC257062DC7}"/>
                </a:ext>
              </a:extLst>
            </p:cNvPr>
            <p:cNvSpPr/>
            <p:nvPr/>
          </p:nvSpPr>
          <p:spPr>
            <a:xfrm>
              <a:off x="4492144" y="190843"/>
              <a:ext cx="855656" cy="855656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F415222-5057-4987-9DFE-3EE144B41D5A}"/>
                </a:ext>
              </a:extLst>
            </p:cNvPr>
            <p:cNvSpPr/>
            <p:nvPr/>
          </p:nvSpPr>
          <p:spPr>
            <a:xfrm>
              <a:off x="4551137" y="249836"/>
              <a:ext cx="737671" cy="737671"/>
            </a:xfrm>
            <a:prstGeom prst="ellipse">
              <a:avLst/>
            </a:prstGeom>
            <a:solidFill>
              <a:srgbClr val="005955"/>
            </a:solidFill>
            <a:ln w="7620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61CFEB2D-0D8C-457C-86F6-03C583D240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22" y="556236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102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6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 marL="400050" indent="-195263"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005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C16BFA5-EFD0-4193-B052-B6DD9D50B2A1}"/>
              </a:ext>
            </a:extLst>
          </p:cNvPr>
          <p:cNvGrpSpPr/>
          <p:nvPr userDrawn="1"/>
        </p:nvGrpSpPr>
        <p:grpSpPr>
          <a:xfrm>
            <a:off x="514800" y="327600"/>
            <a:ext cx="902611" cy="902611"/>
            <a:chOff x="514800" y="327600"/>
            <a:chExt cx="902611" cy="90261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61574AA-36DC-4AA1-8288-BB699FC616CA}"/>
                </a:ext>
              </a:extLst>
            </p:cNvPr>
            <p:cNvGrpSpPr/>
            <p:nvPr/>
          </p:nvGrpSpPr>
          <p:grpSpPr>
            <a:xfrm>
              <a:off x="514800" y="327600"/>
              <a:ext cx="902611" cy="902611"/>
              <a:chOff x="4492144" y="190843"/>
              <a:chExt cx="855656" cy="855656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F46EE58-4E15-4047-BA0A-08D806BDD0C5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491A383-0A05-4DB6-8C35-81A9AE683911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B915A6A-1CF1-4842-9A60-D4810548BD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522" y="556236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7679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95450"/>
            <a:ext cx="4824413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63241-5450-4976-8525-5C06611D08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91175" y="1695450"/>
            <a:ext cx="6084886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15938" y="1344706"/>
            <a:ext cx="1116012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005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121BA3-DFDA-4363-BC31-122FB93EABAF}"/>
              </a:ext>
            </a:extLst>
          </p:cNvPr>
          <p:cNvGrpSpPr/>
          <p:nvPr userDrawn="1"/>
        </p:nvGrpSpPr>
        <p:grpSpPr>
          <a:xfrm>
            <a:off x="514800" y="327600"/>
            <a:ext cx="902611" cy="902611"/>
            <a:chOff x="515937" y="326276"/>
            <a:chExt cx="902611" cy="90261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2474FB6-94CF-4B97-ACDD-CA64BE8D759B}"/>
                </a:ext>
              </a:extLst>
            </p:cNvPr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9F5856B-5698-43AD-BCFC-2C10B8A97B78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1963F15-A1C0-4470-B411-E0046E12E4B7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1FC43D5-4C18-40D6-9BB7-C5A28C7442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2037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8513E-D1D6-4909-A6A1-E798C384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A9FA-9619-43AB-B085-D7F02109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005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3E30CAE-C48E-4C10-823D-7B7B055C1621}"/>
              </a:ext>
            </a:extLst>
          </p:cNvPr>
          <p:cNvGrpSpPr/>
          <p:nvPr userDrawn="1"/>
        </p:nvGrpSpPr>
        <p:grpSpPr>
          <a:xfrm>
            <a:off x="514800" y="327600"/>
            <a:ext cx="902611" cy="902611"/>
            <a:chOff x="515937" y="326276"/>
            <a:chExt cx="902611" cy="90261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48B2734-2F5C-4117-AEB7-A94237D67448}"/>
                </a:ext>
              </a:extLst>
            </p:cNvPr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4C76669-00B0-4607-8644-F90CB369E0B5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CEA192E-2BDC-4203-AC54-8AD16575143B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905EC3A-FD2E-44C9-BC8C-D41A7528EB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4741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8513E-D1D6-4909-A6A1-E798C384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A9FA-9619-43AB-B085-D7F02109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11277" y="210344"/>
            <a:ext cx="10164784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005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165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</a:t>
            </a:r>
            <a:r>
              <a:rPr lang="en-GB" sz="800" err="1"/>
              <a:t>JTI</a:t>
            </a:r>
            <a:r>
              <a:rPr lang="en-GB" sz="800"/>
              <a:t> 2019 Confidential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1322065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Course 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picture containing person, indoor, person&#10;&#10;Description automatically generated">
            <a:extLst>
              <a:ext uri="{FF2B5EF4-FFF2-40B4-BE49-F238E27FC236}">
                <a16:creationId xmlns:a16="http://schemas.microsoft.com/office/drawing/2014/main" id="{F6B230B1-6BB1-46AA-A0B5-361EE81994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59468"/>
            <a:ext cx="12191999" cy="4993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BFFA971-7AD3-420C-A998-A5620740FC7C}"/>
              </a:ext>
            </a:extLst>
          </p:cNvPr>
          <p:cNvSpPr/>
          <p:nvPr userDrawn="1"/>
        </p:nvSpPr>
        <p:spPr>
          <a:xfrm>
            <a:off x="7077073" y="0"/>
            <a:ext cx="5114927" cy="6858000"/>
          </a:xfrm>
          <a:prstGeom prst="rect">
            <a:avLst/>
          </a:prstGeom>
          <a:solidFill>
            <a:srgbClr val="005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4BCCDE-BDBD-4BE6-B688-19A2DBE994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5ACEF-FE10-48B1-9E1B-C8442C623D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F9A56E-0A83-4FC4-A927-AB2B408EFB62}"/>
              </a:ext>
            </a:extLst>
          </p:cNvPr>
          <p:cNvGrpSpPr/>
          <p:nvPr/>
        </p:nvGrpSpPr>
        <p:grpSpPr>
          <a:xfrm>
            <a:off x="10001920" y="1450390"/>
            <a:ext cx="1328400" cy="1327985"/>
            <a:chOff x="4492144" y="190843"/>
            <a:chExt cx="855656" cy="85565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8EED97D-A281-4BF3-81D4-5022073A6A37}"/>
                </a:ext>
              </a:extLst>
            </p:cNvPr>
            <p:cNvSpPr/>
            <p:nvPr/>
          </p:nvSpPr>
          <p:spPr>
            <a:xfrm>
              <a:off x="4492144" y="190843"/>
              <a:ext cx="855656" cy="855656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C49233-5249-4739-A1F1-379B26E466FE}"/>
                </a:ext>
              </a:extLst>
            </p:cNvPr>
            <p:cNvSpPr/>
            <p:nvPr/>
          </p:nvSpPr>
          <p:spPr>
            <a:xfrm>
              <a:off x="4551137" y="249836"/>
              <a:ext cx="737671" cy="737671"/>
            </a:xfrm>
            <a:prstGeom prst="ellipse">
              <a:avLst/>
            </a:prstGeom>
            <a:solidFill>
              <a:srgbClr val="005955"/>
            </a:solidFill>
            <a:ln w="7620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8DFD7DA-D133-499C-B5FD-0FEB3B3851C7}"/>
              </a:ext>
            </a:extLst>
          </p:cNvPr>
          <p:cNvSpPr/>
          <p:nvPr userDrawn="1"/>
        </p:nvSpPr>
        <p:spPr>
          <a:xfrm>
            <a:off x="0" y="4498848"/>
            <a:ext cx="5330952" cy="959358"/>
          </a:xfrm>
          <a:prstGeom prst="rect">
            <a:avLst/>
          </a:prstGeom>
          <a:solidFill>
            <a:srgbClr val="005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FC5285-5510-4434-A3B1-097CC11F2EF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483856" y="3052676"/>
            <a:ext cx="4275328" cy="1793643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85A997-B528-4D91-9253-C6D57E471AE7}"/>
              </a:ext>
            </a:extLst>
          </p:cNvPr>
          <p:cNvSpPr txBox="1"/>
          <p:nvPr userDrawn="1"/>
        </p:nvSpPr>
        <p:spPr>
          <a:xfrm>
            <a:off x="256032" y="4602276"/>
            <a:ext cx="2962656" cy="8503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DEMO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00AB9036-4189-4626-83AC-16E15E2250D7}"/>
              </a:ext>
            </a:extLst>
          </p:cNvPr>
          <p:cNvSpPr/>
          <p:nvPr userDrawn="1"/>
        </p:nvSpPr>
        <p:spPr>
          <a:xfrm rot="5400000">
            <a:off x="10433613" y="1770202"/>
            <a:ext cx="675894" cy="6768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9E78046-1769-401C-89CD-4CE546238E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8296" y="5607730"/>
            <a:ext cx="714382" cy="5347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19858A-2224-4B02-A8B8-90DA77539F9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960" y="4644111"/>
            <a:ext cx="687600" cy="6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54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ercis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C60E76C-8DD0-4671-8D44-BA89C2BDC3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2461" y="-648"/>
            <a:ext cx="875995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CDE9CF8-D8E8-44B1-8323-5C8D48BBB491}"/>
              </a:ext>
            </a:extLst>
          </p:cNvPr>
          <p:cNvSpPr/>
          <p:nvPr userDrawn="1"/>
        </p:nvSpPr>
        <p:spPr>
          <a:xfrm>
            <a:off x="0" y="0"/>
            <a:ext cx="3344400" cy="6858000"/>
          </a:xfrm>
          <a:prstGeom prst="rect">
            <a:avLst/>
          </a:prstGeom>
          <a:solidFill>
            <a:srgbClr val="005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AF8D39-913C-4E1D-BD5F-15853C5FB1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43131-1F39-4CA3-962D-A7B8B11A0C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BBC1DF-DA7E-45AF-8489-194A36B24C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4988" y="584011"/>
            <a:ext cx="576887" cy="430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180EA0-78B8-480A-9475-84FFF09CD877}"/>
              </a:ext>
            </a:extLst>
          </p:cNvPr>
          <p:cNvSpPr/>
          <p:nvPr userDrawn="1"/>
        </p:nvSpPr>
        <p:spPr>
          <a:xfrm>
            <a:off x="1054839" y="1532944"/>
            <a:ext cx="1150391" cy="1045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A314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954FA5-4876-4894-8906-FF563A705A61}"/>
              </a:ext>
            </a:extLst>
          </p:cNvPr>
          <p:cNvSpPr/>
          <p:nvPr userDrawn="1"/>
        </p:nvSpPr>
        <p:spPr>
          <a:xfrm>
            <a:off x="1022846" y="3651735"/>
            <a:ext cx="11503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76FDA1-2EB2-40A0-A7D3-6DC2598082A9}"/>
              </a:ext>
            </a:extLst>
          </p:cNvPr>
          <p:cNvSpPr/>
          <p:nvPr userDrawn="1"/>
        </p:nvSpPr>
        <p:spPr>
          <a:xfrm>
            <a:off x="3432874" y="648"/>
            <a:ext cx="8759126" cy="685735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50000"/>
                  <a:lumOff val="50000"/>
                  <a:alpha val="2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31921A-42AC-412F-85C8-9CD8F3CB200F}"/>
              </a:ext>
            </a:extLst>
          </p:cNvPr>
          <p:cNvSpPr txBox="1"/>
          <p:nvPr userDrawn="1"/>
        </p:nvSpPr>
        <p:spPr>
          <a:xfrm>
            <a:off x="412732" y="2096998"/>
            <a:ext cx="2493664" cy="4242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spc="10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PRACTICAL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78728E-181A-42BC-AEA3-441F2AACACAA}"/>
              </a:ext>
            </a:extLst>
          </p:cNvPr>
          <p:cNvSpPr txBox="1"/>
          <p:nvPr userDrawn="1"/>
        </p:nvSpPr>
        <p:spPr>
          <a:xfrm>
            <a:off x="-6504" y="2588656"/>
            <a:ext cx="3332136" cy="6518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3598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EXERCISE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F38304-721D-4931-851A-967FF7C1C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283" y="307036"/>
            <a:ext cx="5888741" cy="9842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Date Placeholder 1">
            <a:extLst>
              <a:ext uri="{FF2B5EF4-FFF2-40B4-BE49-F238E27FC236}">
                <a16:creationId xmlns:a16="http://schemas.microsoft.com/office/drawing/2014/main" id="{6AAD77EA-12AC-434D-98A3-BBC2AD6FC857}"/>
              </a:ext>
            </a:extLst>
          </p:cNvPr>
          <p:cNvSpPr txBox="1">
            <a:spLocks/>
          </p:cNvSpPr>
          <p:nvPr userDrawn="1"/>
        </p:nvSpPr>
        <p:spPr>
          <a:xfrm>
            <a:off x="0" y="5855768"/>
            <a:ext cx="3343037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i="0" dirty="0">
                <a:solidFill>
                  <a:schemeClr val="bg1"/>
                </a:solidFill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E1A3422-E66E-4444-9C31-DEDFD8C36F9B}"/>
              </a:ext>
            </a:extLst>
          </p:cNvPr>
          <p:cNvGrpSpPr/>
          <p:nvPr userDrawn="1"/>
        </p:nvGrpSpPr>
        <p:grpSpPr>
          <a:xfrm>
            <a:off x="933841" y="4138450"/>
            <a:ext cx="1328400" cy="1327985"/>
            <a:chOff x="933841" y="4138450"/>
            <a:chExt cx="1328400" cy="132798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218C4A-13EA-45C1-B64C-51B7E9748072}"/>
                </a:ext>
              </a:extLst>
            </p:cNvPr>
            <p:cNvGrpSpPr/>
            <p:nvPr userDrawn="1"/>
          </p:nvGrpSpPr>
          <p:grpSpPr>
            <a:xfrm>
              <a:off x="933841" y="4138450"/>
              <a:ext cx="1328400" cy="1327985"/>
              <a:chOff x="933841" y="4138450"/>
              <a:chExt cx="1328400" cy="1327985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598798A-3B17-421E-88FC-2B5EF9DE12A3}"/>
                  </a:ext>
                </a:extLst>
              </p:cNvPr>
              <p:cNvSpPr/>
              <p:nvPr/>
            </p:nvSpPr>
            <p:spPr>
              <a:xfrm>
                <a:off x="933841" y="4138450"/>
                <a:ext cx="1328400" cy="1327985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380228A-7A70-449B-A0B9-1513D9852599}"/>
                  </a:ext>
                </a:extLst>
              </p:cNvPr>
              <p:cNvSpPr/>
              <p:nvPr/>
            </p:nvSpPr>
            <p:spPr>
              <a:xfrm>
                <a:off x="1025427" y="4230840"/>
                <a:ext cx="1145229" cy="1144871"/>
              </a:xfrm>
              <a:prstGeom prst="ellipse">
                <a:avLst/>
              </a:prstGeom>
              <a:solidFill>
                <a:srgbClr val="005955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EDFC479-5A12-4F38-8FA7-5DBA4ADF50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6234" y="4480397"/>
              <a:ext cx="687600" cy="687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868157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6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 marL="400050" indent="-195263"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005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19BDA20-998B-457A-B579-10860DCD0A1C}"/>
              </a:ext>
            </a:extLst>
          </p:cNvPr>
          <p:cNvGrpSpPr/>
          <p:nvPr userDrawn="1"/>
        </p:nvGrpSpPr>
        <p:grpSpPr>
          <a:xfrm>
            <a:off x="534277" y="380597"/>
            <a:ext cx="902611" cy="902611"/>
            <a:chOff x="515937" y="326276"/>
            <a:chExt cx="902611" cy="90261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61574AA-36DC-4AA1-8288-BB699FC616CA}"/>
                </a:ext>
              </a:extLst>
            </p:cNvPr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F46EE58-4E15-4047-BA0A-08D806BDD0C5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491A383-0A05-4DB6-8C35-81A9AE683911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B915A6A-1CF1-4842-9A60-D4810548BD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4112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95450"/>
            <a:ext cx="4824413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63241-5450-4976-8525-5C06611D08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91175" y="1695450"/>
            <a:ext cx="6084886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15938" y="1344706"/>
            <a:ext cx="1116012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005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121BA3-DFDA-4363-BC31-122FB93EABAF}"/>
              </a:ext>
            </a:extLst>
          </p:cNvPr>
          <p:cNvGrpSpPr/>
          <p:nvPr userDrawn="1"/>
        </p:nvGrpSpPr>
        <p:grpSpPr>
          <a:xfrm>
            <a:off x="480180" y="350564"/>
            <a:ext cx="902611" cy="902611"/>
            <a:chOff x="515937" y="326276"/>
            <a:chExt cx="902611" cy="90261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2474FB6-94CF-4B97-ACDD-CA64BE8D759B}"/>
                </a:ext>
              </a:extLst>
            </p:cNvPr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9F5856B-5698-43AD-BCFC-2C10B8A97B78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1963F15-A1C0-4470-B411-E0046E12E4B7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1FC43D5-4C18-40D6-9BB7-C5A28C7442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22396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8513E-D1D6-4909-A6A1-E798C384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A9FA-9619-43AB-B085-D7F02109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005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3E30CAE-C48E-4C10-823D-7B7B055C1621}"/>
              </a:ext>
            </a:extLst>
          </p:cNvPr>
          <p:cNvGrpSpPr/>
          <p:nvPr userDrawn="1"/>
        </p:nvGrpSpPr>
        <p:grpSpPr>
          <a:xfrm>
            <a:off x="445437" y="339706"/>
            <a:ext cx="902611" cy="902611"/>
            <a:chOff x="515937" y="326276"/>
            <a:chExt cx="902611" cy="90261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48B2734-2F5C-4117-AEB7-A94237D67448}"/>
                </a:ext>
              </a:extLst>
            </p:cNvPr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4C76669-00B0-4607-8644-F90CB369E0B5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CEA192E-2BDC-4203-AC54-8AD16575143B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905EC3A-FD2E-44C9-BC8C-D41A7528EB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3544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9571F-E128-4FF8-A846-91352A10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210344"/>
            <a:ext cx="9898061" cy="98424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EE3A9-E955-4AFD-9C72-3106238E9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95450"/>
            <a:ext cx="9898063" cy="4587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7185E-8EC7-42C4-875B-7957276D6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05A6-DE1E-455A-9F96-B1BC2DE26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297521"/>
            <a:ext cx="397261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</a:t>
            </a:r>
            <a:r>
              <a:rPr lang="en-GB" sz="800" err="1"/>
              <a:t>JTI</a:t>
            </a:r>
            <a:r>
              <a:rPr lang="en-GB" sz="800"/>
              <a:t> 2019 Confidential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558707-958B-46B5-B09F-9B53C1657C43}"/>
              </a:ext>
            </a:extLst>
          </p:cNvPr>
          <p:cNvCxnSpPr/>
          <p:nvPr userDrawn="1"/>
        </p:nvCxnSpPr>
        <p:spPr>
          <a:xfrm>
            <a:off x="515937" y="1343026"/>
            <a:ext cx="1116012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105994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07963" indent="182563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08013" indent="-19843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31850" indent="-20478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pos="3364">
          <p15:clr>
            <a:srgbClr val="F26B43"/>
          </p15:clr>
        </p15:guide>
        <p15:guide id="5" pos="3522">
          <p15:clr>
            <a:srgbClr val="F26B43"/>
          </p15:clr>
        </p15:guide>
        <p15:guide id="6" orient="horz" pos="1068">
          <p15:clr>
            <a:srgbClr val="F26B43"/>
          </p15:clr>
        </p15:guide>
        <p15:guide id="7" orient="horz" pos="3959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9571F-E128-4FF8-A846-91352A10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210344"/>
            <a:ext cx="9898061" cy="98424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EE3A9-E955-4AFD-9C72-3106238E9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95450"/>
            <a:ext cx="9898063" cy="4587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7185E-8EC7-42C4-875B-7957276D6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05A6-DE1E-455A-9F96-B1BC2DE26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297521"/>
            <a:ext cx="397261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</a:t>
            </a:r>
            <a:r>
              <a:rPr lang="en-GB" sz="800" err="1"/>
              <a:t>JTI</a:t>
            </a:r>
            <a:r>
              <a:rPr lang="en-GB" sz="800"/>
              <a:t> 2019 Confidential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558707-958B-46B5-B09F-9B53C1657C43}"/>
              </a:ext>
            </a:extLst>
          </p:cNvPr>
          <p:cNvCxnSpPr/>
          <p:nvPr userDrawn="1"/>
        </p:nvCxnSpPr>
        <p:spPr>
          <a:xfrm>
            <a:off x="515937" y="1343026"/>
            <a:ext cx="1116012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2027459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28" r:id="rId2"/>
    <p:sldLayoutId id="2147483929" r:id="rId3"/>
    <p:sldLayoutId id="2147483930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07963" indent="182563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08013" indent="-19843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31850" indent="-20478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pos="3364">
          <p15:clr>
            <a:srgbClr val="F26B43"/>
          </p15:clr>
        </p15:guide>
        <p15:guide id="5" pos="3522">
          <p15:clr>
            <a:srgbClr val="F26B43"/>
          </p15:clr>
        </p15:guide>
        <p15:guide id="6" orient="horz" pos="1068">
          <p15:clr>
            <a:srgbClr val="F26B43"/>
          </p15:clr>
        </p15:guide>
        <p15:guide id="7" orient="horz" pos="3959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21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9571F-E128-4FF8-A846-91352A10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210344"/>
            <a:ext cx="9898061" cy="98424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EE3A9-E955-4AFD-9C72-3106238E9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95450"/>
            <a:ext cx="9898063" cy="4587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7185E-8EC7-42C4-875B-7957276D6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05A6-DE1E-455A-9F96-B1BC2DE26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297521"/>
            <a:ext cx="397261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</a:t>
            </a:r>
            <a:r>
              <a:rPr lang="en-GB" sz="800" err="1"/>
              <a:t>JTI</a:t>
            </a:r>
            <a:r>
              <a:rPr lang="en-GB" sz="800"/>
              <a:t> 2019 Confidential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558707-958B-46B5-B09F-9B53C1657C43}"/>
              </a:ext>
            </a:extLst>
          </p:cNvPr>
          <p:cNvCxnSpPr/>
          <p:nvPr userDrawn="1"/>
        </p:nvCxnSpPr>
        <p:spPr>
          <a:xfrm>
            <a:off x="515937" y="1343026"/>
            <a:ext cx="1116012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221606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07963" indent="182563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08013" indent="-19843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31850" indent="-20478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pos="3364">
          <p15:clr>
            <a:srgbClr val="F26B43"/>
          </p15:clr>
        </p15:guide>
        <p15:guide id="5" pos="3522">
          <p15:clr>
            <a:srgbClr val="F26B43"/>
          </p15:clr>
        </p15:guide>
        <p15:guide id="6" orient="horz" pos="1068">
          <p15:clr>
            <a:srgbClr val="F26B43"/>
          </p15:clr>
        </p15:guide>
        <p15:guide id="7" orient="horz" pos="3959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21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9571F-E128-4FF8-A846-91352A10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210344"/>
            <a:ext cx="9898061" cy="98424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EE3A9-E955-4AFD-9C72-3106238E9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95450"/>
            <a:ext cx="9898063" cy="4587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7185E-8EC7-42C4-875B-7957276D6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05A6-DE1E-455A-9F96-B1BC2DE26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297521"/>
            <a:ext cx="397261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</a:t>
            </a:r>
            <a:r>
              <a:rPr lang="en-GB" sz="800" err="1"/>
              <a:t>JTI</a:t>
            </a:r>
            <a:r>
              <a:rPr lang="en-GB" sz="800"/>
              <a:t> 2019 Confidential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558707-958B-46B5-B09F-9B53C1657C43}"/>
              </a:ext>
            </a:extLst>
          </p:cNvPr>
          <p:cNvCxnSpPr/>
          <p:nvPr userDrawn="1"/>
        </p:nvCxnSpPr>
        <p:spPr>
          <a:xfrm>
            <a:off x="515937" y="1343026"/>
            <a:ext cx="1116012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3961962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07963" indent="182563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08013" indent="-19843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31850" indent="-20478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pos="3364">
          <p15:clr>
            <a:srgbClr val="F26B43"/>
          </p15:clr>
        </p15:guide>
        <p15:guide id="5" pos="3522">
          <p15:clr>
            <a:srgbClr val="F26B43"/>
          </p15:clr>
        </p15:guide>
        <p15:guide id="6" orient="horz" pos="1068">
          <p15:clr>
            <a:srgbClr val="F26B43"/>
          </p15:clr>
        </p15:guide>
        <p15:guide id="7" orient="horz" pos="3959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216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9571F-E128-4FF8-A846-91352A10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210344"/>
            <a:ext cx="9898061" cy="98424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EE3A9-E955-4AFD-9C72-3106238E9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95450"/>
            <a:ext cx="9898063" cy="4587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7185E-8EC7-42C4-875B-7957276D6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05A6-DE1E-455A-9F96-B1BC2DE26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297521"/>
            <a:ext cx="397261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</a:t>
            </a:r>
            <a:r>
              <a:rPr lang="en-GB" sz="800" err="1"/>
              <a:t>JTI</a:t>
            </a:r>
            <a:r>
              <a:rPr lang="en-GB" sz="800"/>
              <a:t> 2019 Confidential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558707-958B-46B5-B09F-9B53C1657C43}"/>
              </a:ext>
            </a:extLst>
          </p:cNvPr>
          <p:cNvCxnSpPr/>
          <p:nvPr userDrawn="1"/>
        </p:nvCxnSpPr>
        <p:spPr>
          <a:xfrm>
            <a:off x="515937" y="1343026"/>
            <a:ext cx="1116012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80270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07963" indent="182563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08013" indent="-19843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31850" indent="-20478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pos="3364">
          <p15:clr>
            <a:srgbClr val="F26B43"/>
          </p15:clr>
        </p15:guide>
        <p15:guide id="5" pos="3522">
          <p15:clr>
            <a:srgbClr val="F26B43"/>
          </p15:clr>
        </p15:guide>
        <p15:guide id="6" orient="horz" pos="1068">
          <p15:clr>
            <a:srgbClr val="F26B43"/>
          </p15:clr>
        </p15:guide>
        <p15:guide id="7" orient="horz" pos="3959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microsoft.com/office/2007/relationships/hdphoto" Target="../media/hdphoto3.wdp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cap="none" dirty="0"/>
              <a:t>PERIOD END CLOSING OVERVIEW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2071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/>
          <p:cNvSpPr>
            <a:spLocks noGrp="1"/>
          </p:cNvSpPr>
          <p:nvPr>
            <p:ph type="title"/>
          </p:nvPr>
        </p:nvSpPr>
        <p:spPr>
          <a:xfrm>
            <a:off x="1627200" y="210344"/>
            <a:ext cx="10048861" cy="984247"/>
          </a:xfrm>
        </p:spPr>
        <p:txBody>
          <a:bodyPr/>
          <a:lstStyle/>
          <a:p>
            <a:r>
              <a:rPr lang="en-GB" dirty="0"/>
              <a:t>Course Structure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A8B03CDC-9D91-4D45-8AA0-B3589656160D}"/>
              </a:ext>
            </a:extLst>
          </p:cNvPr>
          <p:cNvSpPr/>
          <p:nvPr/>
        </p:nvSpPr>
        <p:spPr>
          <a:xfrm>
            <a:off x="3193200" y="2058336"/>
            <a:ext cx="5329008" cy="482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JTI Period End Closing Model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70A739C-6F0C-4734-8646-E55C4FFFA36E}"/>
              </a:ext>
            </a:extLst>
          </p:cNvPr>
          <p:cNvSpPr/>
          <p:nvPr/>
        </p:nvSpPr>
        <p:spPr>
          <a:xfrm>
            <a:off x="3193200" y="2702016"/>
            <a:ext cx="5329008" cy="482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Statutory and Tax Ledger 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Closing Principles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8CE54815-6CB9-441E-811A-3EC6035D3243}"/>
              </a:ext>
            </a:extLst>
          </p:cNvPr>
          <p:cNvSpPr/>
          <p:nvPr/>
        </p:nvSpPr>
        <p:spPr>
          <a:xfrm>
            <a:off x="3193200" y="3345696"/>
            <a:ext cx="5329008" cy="482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 Timings and Usage of Posting Periods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1578E22-8FA8-45CA-AE0D-08D52BB238F0}"/>
              </a:ext>
            </a:extLst>
          </p:cNvPr>
          <p:cNvSpPr/>
          <p:nvPr/>
        </p:nvSpPr>
        <p:spPr>
          <a:xfrm>
            <a:off x="3193200" y="3989376"/>
            <a:ext cx="5329008" cy="482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Glance of Period End Closing Process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4E484E43-98B6-4601-B985-0D515DDB4013}"/>
              </a:ext>
            </a:extLst>
          </p:cNvPr>
          <p:cNvSpPr/>
          <p:nvPr/>
        </p:nvSpPr>
        <p:spPr>
          <a:xfrm>
            <a:off x="3193200" y="4633056"/>
            <a:ext cx="5329008" cy="482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Period End Closing Key Focus Areas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75" name="Elbow Connector 29">
            <a:extLst>
              <a:ext uri="{FF2B5EF4-FFF2-40B4-BE49-F238E27FC236}">
                <a16:creationId xmlns:a16="http://schemas.microsoft.com/office/drawing/2014/main" id="{80B5F73C-42FE-4B01-AEF5-831A5F0B2A5D}"/>
              </a:ext>
            </a:extLst>
          </p:cNvPr>
          <p:cNvCxnSpPr>
            <a:cxnSpLocks/>
            <a:stCxn id="26" idx="6"/>
            <a:endCxn id="68" idx="1"/>
          </p:cNvCxnSpPr>
          <p:nvPr/>
        </p:nvCxnSpPr>
        <p:spPr>
          <a:xfrm flipV="1">
            <a:off x="1854000" y="2943216"/>
            <a:ext cx="1339200" cy="500184"/>
          </a:xfrm>
          <a:prstGeom prst="bentConnector3">
            <a:avLst>
              <a:gd name="adj1" fmla="val 50000"/>
            </a:avLst>
          </a:prstGeom>
          <a:ln w="3492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29">
            <a:extLst>
              <a:ext uri="{FF2B5EF4-FFF2-40B4-BE49-F238E27FC236}">
                <a16:creationId xmlns:a16="http://schemas.microsoft.com/office/drawing/2014/main" id="{CBD32835-07E5-47C3-955C-F283F049A283}"/>
              </a:ext>
            </a:extLst>
          </p:cNvPr>
          <p:cNvCxnSpPr>
            <a:cxnSpLocks/>
            <a:stCxn id="26" idx="6"/>
            <a:endCxn id="69" idx="1"/>
          </p:cNvCxnSpPr>
          <p:nvPr/>
        </p:nvCxnSpPr>
        <p:spPr>
          <a:xfrm>
            <a:off x="1854000" y="3443400"/>
            <a:ext cx="1339200" cy="143496"/>
          </a:xfrm>
          <a:prstGeom prst="bentConnector3">
            <a:avLst>
              <a:gd name="adj1" fmla="val 50000"/>
            </a:avLst>
          </a:prstGeom>
          <a:ln w="3492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29">
            <a:extLst>
              <a:ext uri="{FF2B5EF4-FFF2-40B4-BE49-F238E27FC236}">
                <a16:creationId xmlns:a16="http://schemas.microsoft.com/office/drawing/2014/main" id="{439D2357-C57A-4D86-AD02-778A6B477D13}"/>
              </a:ext>
            </a:extLst>
          </p:cNvPr>
          <p:cNvCxnSpPr>
            <a:cxnSpLocks/>
            <a:stCxn id="26" idx="6"/>
            <a:endCxn id="70" idx="1"/>
          </p:cNvCxnSpPr>
          <p:nvPr/>
        </p:nvCxnSpPr>
        <p:spPr>
          <a:xfrm>
            <a:off x="1854000" y="3443400"/>
            <a:ext cx="1339200" cy="787176"/>
          </a:xfrm>
          <a:prstGeom prst="bentConnector3">
            <a:avLst>
              <a:gd name="adj1" fmla="val 50000"/>
            </a:avLst>
          </a:prstGeom>
          <a:ln w="3492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29">
            <a:extLst>
              <a:ext uri="{FF2B5EF4-FFF2-40B4-BE49-F238E27FC236}">
                <a16:creationId xmlns:a16="http://schemas.microsoft.com/office/drawing/2014/main" id="{0FA2773C-53ED-4D45-8CEF-2BA843F5CEEC}"/>
              </a:ext>
            </a:extLst>
          </p:cNvPr>
          <p:cNvCxnSpPr>
            <a:cxnSpLocks/>
            <a:stCxn id="26" idx="6"/>
            <a:endCxn id="71" idx="1"/>
          </p:cNvCxnSpPr>
          <p:nvPr/>
        </p:nvCxnSpPr>
        <p:spPr>
          <a:xfrm>
            <a:off x="1854000" y="3443400"/>
            <a:ext cx="1339200" cy="1430856"/>
          </a:xfrm>
          <a:prstGeom prst="bentConnector3">
            <a:avLst>
              <a:gd name="adj1" fmla="val 50000"/>
            </a:avLst>
          </a:prstGeom>
          <a:ln w="3492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29">
            <a:extLst>
              <a:ext uri="{FF2B5EF4-FFF2-40B4-BE49-F238E27FC236}">
                <a16:creationId xmlns:a16="http://schemas.microsoft.com/office/drawing/2014/main" id="{0CA479CB-A0D6-482D-8603-45A6CF981003}"/>
              </a:ext>
            </a:extLst>
          </p:cNvPr>
          <p:cNvCxnSpPr>
            <a:cxnSpLocks/>
            <a:stCxn id="26" idx="6"/>
            <a:endCxn id="67" idx="1"/>
          </p:cNvCxnSpPr>
          <p:nvPr/>
        </p:nvCxnSpPr>
        <p:spPr>
          <a:xfrm flipV="1">
            <a:off x="1854000" y="2299536"/>
            <a:ext cx="1339200" cy="1143864"/>
          </a:xfrm>
          <a:prstGeom prst="bentConnector3">
            <a:avLst>
              <a:gd name="adj1" fmla="val 50000"/>
            </a:avLst>
          </a:prstGeom>
          <a:ln w="3492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F8DDD4B-FF11-4E91-9AC6-67C497D3E36D}"/>
              </a:ext>
            </a:extLst>
          </p:cNvPr>
          <p:cNvGrpSpPr/>
          <p:nvPr/>
        </p:nvGrpSpPr>
        <p:grpSpPr>
          <a:xfrm>
            <a:off x="403200" y="2718000"/>
            <a:ext cx="1450800" cy="1450800"/>
            <a:chOff x="403200" y="2718000"/>
            <a:chExt cx="1450800" cy="1450800"/>
          </a:xfrm>
        </p:grpSpPr>
        <p:grpSp>
          <p:nvGrpSpPr>
            <p:cNvPr id="24" name="Group 23"/>
            <p:cNvGrpSpPr/>
            <p:nvPr/>
          </p:nvGrpSpPr>
          <p:grpSpPr>
            <a:xfrm>
              <a:off x="403200" y="2718000"/>
              <a:ext cx="1450800" cy="1450800"/>
              <a:chOff x="4492144" y="190843"/>
              <a:chExt cx="855656" cy="855656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rgbClr val="005955"/>
              </a:solidFill>
              <a:ln w="76200">
                <a:noFill/>
              </a:ln>
              <a:effectLst>
                <a:innerShdw blurRad="114300" dist="1270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E513AE1-BFE1-40E0-901D-3FF7A7E0B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600" y="3156545"/>
              <a:ext cx="687600" cy="687600"/>
            </a:xfrm>
            <a:prstGeom prst="rect">
              <a:avLst/>
            </a:prstGeom>
          </p:spPr>
        </p:pic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2716D62-CBAE-4D53-9306-E4CB589D4217}"/>
              </a:ext>
            </a:extLst>
          </p:cNvPr>
          <p:cNvSpPr/>
          <p:nvPr/>
        </p:nvSpPr>
        <p:spPr>
          <a:xfrm>
            <a:off x="3193200" y="5276736"/>
            <a:ext cx="5329008" cy="482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sing FCC to monitor Period End Closing</a:t>
            </a:r>
          </a:p>
        </p:txBody>
      </p:sp>
      <p:cxnSp>
        <p:nvCxnSpPr>
          <p:cNvPr id="19" name="Elbow Connector 29">
            <a:extLst>
              <a:ext uri="{FF2B5EF4-FFF2-40B4-BE49-F238E27FC236}">
                <a16:creationId xmlns:a16="http://schemas.microsoft.com/office/drawing/2014/main" id="{32D2A6B9-A813-44A2-9AF5-D22E11A1C0FF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854000" y="3443400"/>
            <a:ext cx="1339200" cy="2074536"/>
          </a:xfrm>
          <a:prstGeom prst="bentConnector3">
            <a:avLst>
              <a:gd name="adj1" fmla="val 50000"/>
            </a:avLst>
          </a:prstGeom>
          <a:ln w="3492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662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Title 3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Period End Closing Overview</a:t>
            </a:r>
            <a:br>
              <a:rPr lang="en-GB"/>
            </a:br>
            <a:r>
              <a:rPr lang="en-GB"/>
              <a:t>- About this 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939" y="1650568"/>
            <a:ext cx="3265647" cy="4494200"/>
          </a:xfrm>
          <a:prstGeom prst="roundRect">
            <a:avLst>
              <a:gd name="adj" fmla="val 11255"/>
            </a:avLst>
          </a:prstGeom>
          <a:solidFill>
            <a:schemeClr val="bg1"/>
          </a:solidFill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Ins="90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Course Objectives</a:t>
            </a:r>
          </a:p>
          <a:p>
            <a:pPr marL="179946" marR="0" lvl="2" indent="-179946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 course is aimed to provide an overview of the key designs of Period End Closing process in S/4HANA, including:</a:t>
            </a:r>
          </a:p>
          <a:p>
            <a:pPr marL="468000" marR="0" lvl="3" indent="-179946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Period End Closing scope, Roles and Responsibilities, key deadlines and use of posting periods</a:t>
            </a:r>
          </a:p>
          <a:p>
            <a:pPr marL="468000" marR="0" lvl="3" indent="-179946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JTI Global Closing Schedule and the core principles based on which it is defined</a:t>
            </a:r>
          </a:p>
          <a:p>
            <a:pPr marL="468000" marR="0" lvl="3" indent="-179946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 S/4 changes in closing schedule and FCC </a:t>
            </a:r>
            <a:r>
              <a:rPr kumimoji="0" lang="en-GB" sz="1100" b="0" i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1)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task list supporting the effective and efficient closing of IFRS, STAT and TAX ledgers </a:t>
            </a:r>
          </a:p>
          <a:p>
            <a:pPr marL="179946" marR="0" lvl="2" indent="-179946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 also describes important period end checks and recaps how to use FCC to monitor the period end closing progress and validate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0553" y="1650568"/>
            <a:ext cx="3265647" cy="4494200"/>
          </a:xfrm>
          <a:prstGeom prst="roundRect">
            <a:avLst>
              <a:gd name="adj" fmla="val 11255"/>
            </a:avLst>
          </a:prstGeom>
          <a:solidFill>
            <a:schemeClr val="bg1"/>
          </a:solidFill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Ins="90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Target Audiences</a:t>
            </a:r>
          </a:p>
          <a:p>
            <a:pPr marL="179705" marR="0" lvl="2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 course is mandatory for all users involved in Period End Closing process, such as: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  <a:p>
            <a:pPr marL="636905" marR="0" lvl="3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GBS GL Team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  <a:p>
            <a:pPr marL="636905" marR="0" lvl="3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Entity Accountants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  <a:p>
            <a:pPr marL="636905" marR="0" lvl="3" indent="-17970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Finance Managers who are in charge of the overall financial results 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345166" y="1650568"/>
            <a:ext cx="3265647" cy="4494200"/>
          </a:xfrm>
          <a:prstGeom prst="roundRect">
            <a:avLst>
              <a:gd name="adj" fmla="val 11255"/>
            </a:avLst>
          </a:prstGeom>
          <a:solidFill>
            <a:schemeClr val="bg1"/>
          </a:solidFill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Ins="90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Learning Guide</a:t>
            </a:r>
          </a:p>
          <a:p>
            <a:pPr marL="179946" marR="0" lvl="2" indent="-179946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Prerequisite Courses:</a:t>
            </a:r>
          </a:p>
          <a:p>
            <a:pPr marL="6858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Finance Process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Overview_Chart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of Accounts</a:t>
            </a:r>
          </a:p>
          <a:p>
            <a:pPr marL="6858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9946" marR="0" lvl="2" indent="-179946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Courses in the following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subject areas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should be completed by users who are responsible for Period End Closing of these processes before attending this course </a:t>
            </a:r>
            <a:r>
              <a:rPr kumimoji="0" lang="en-GB" sz="1200" b="0" i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2)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</a:t>
            </a:r>
          </a:p>
          <a:p>
            <a:pPr marL="6858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Asset Accounting</a:t>
            </a:r>
          </a:p>
          <a:p>
            <a:pPr marL="6858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Accounts Receivables</a:t>
            </a:r>
          </a:p>
          <a:p>
            <a:pPr marL="6858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Accounts Payables</a:t>
            </a:r>
          </a:p>
          <a:p>
            <a:pPr marL="6858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Parallel Ledgers</a:t>
            </a:r>
          </a:p>
          <a:p>
            <a:pPr marL="6858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Cash Management</a:t>
            </a:r>
          </a:p>
          <a:p>
            <a:pPr marL="6858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Financial Supply Chain Management (FSCM)</a:t>
            </a:r>
          </a:p>
          <a:p>
            <a:pPr marL="6858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Profitability Analysis</a:t>
            </a:r>
          </a:p>
          <a:p>
            <a:pPr marL="6858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Cost Management</a:t>
            </a:r>
          </a:p>
          <a:p>
            <a:pPr marL="6858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Product Costing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B4173B-CCD9-46CC-826F-4944A598FE41}"/>
              </a:ext>
            </a:extLst>
          </p:cNvPr>
          <p:cNvSpPr txBox="1"/>
          <p:nvPr/>
        </p:nvSpPr>
        <p:spPr>
          <a:xfrm>
            <a:off x="1755648" y="6492875"/>
            <a:ext cx="3099816" cy="3651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1)</a:t>
            </a:r>
            <a:r>
              <a:rPr kumimoji="0" lang="en-GB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FCC - Financial Closing Cockpit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2) </a:t>
            </a:r>
            <a:r>
              <a:rPr kumimoji="0" lang="en-GB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Refer to S4F Training Portal for detailed list of courses. </a:t>
            </a:r>
          </a:p>
        </p:txBody>
      </p:sp>
    </p:spTree>
    <p:extLst>
      <p:ext uri="{BB962C8B-B14F-4D97-AF65-F5344CB8AC3E}">
        <p14:creationId xmlns:p14="http://schemas.microsoft.com/office/powerpoint/2010/main" val="3382502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/>
          <p:cNvSpPr>
            <a:spLocks noGrp="1"/>
          </p:cNvSpPr>
          <p:nvPr>
            <p:ph type="title"/>
          </p:nvPr>
        </p:nvSpPr>
        <p:spPr>
          <a:xfrm>
            <a:off x="1627200" y="210344"/>
            <a:ext cx="10048861" cy="984247"/>
          </a:xfrm>
        </p:spPr>
        <p:txBody>
          <a:bodyPr/>
          <a:lstStyle/>
          <a:p>
            <a:r>
              <a:rPr lang="en-GB" dirty="0"/>
              <a:t>Course Structure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A8B03CDC-9D91-4D45-8AA0-B3589656160D}"/>
              </a:ext>
            </a:extLst>
          </p:cNvPr>
          <p:cNvSpPr/>
          <p:nvPr/>
        </p:nvSpPr>
        <p:spPr>
          <a:xfrm>
            <a:off x="3193200" y="2058336"/>
            <a:ext cx="5329008" cy="482400"/>
          </a:xfrm>
          <a:prstGeom prst="roundRect">
            <a:avLst/>
          </a:prstGeom>
          <a:solidFill>
            <a:srgbClr val="005955"/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JTI Period End Closing Model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70A739C-6F0C-4734-8646-E55C4FFFA36E}"/>
              </a:ext>
            </a:extLst>
          </p:cNvPr>
          <p:cNvSpPr/>
          <p:nvPr/>
        </p:nvSpPr>
        <p:spPr>
          <a:xfrm>
            <a:off x="3193200" y="2702016"/>
            <a:ext cx="5329008" cy="482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Statutory and Tax Ledger Closing Principles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8CE54815-6CB9-441E-811A-3EC6035D3243}"/>
              </a:ext>
            </a:extLst>
          </p:cNvPr>
          <p:cNvSpPr/>
          <p:nvPr/>
        </p:nvSpPr>
        <p:spPr>
          <a:xfrm>
            <a:off x="3193200" y="3345696"/>
            <a:ext cx="5329008" cy="482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 Timings and Usage of Posting Periods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1578E22-8FA8-45CA-AE0D-08D52BB238F0}"/>
              </a:ext>
            </a:extLst>
          </p:cNvPr>
          <p:cNvSpPr/>
          <p:nvPr/>
        </p:nvSpPr>
        <p:spPr>
          <a:xfrm>
            <a:off x="3193200" y="3989376"/>
            <a:ext cx="5329008" cy="482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Glance of Period End Closing Process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4E484E43-98B6-4601-B985-0D515DDB4013}"/>
              </a:ext>
            </a:extLst>
          </p:cNvPr>
          <p:cNvSpPr/>
          <p:nvPr/>
        </p:nvSpPr>
        <p:spPr>
          <a:xfrm>
            <a:off x="3193200" y="4633056"/>
            <a:ext cx="5329008" cy="482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Period End Closing Key Focus Areas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75" name="Elbow Connector 29">
            <a:extLst>
              <a:ext uri="{FF2B5EF4-FFF2-40B4-BE49-F238E27FC236}">
                <a16:creationId xmlns:a16="http://schemas.microsoft.com/office/drawing/2014/main" id="{80B5F73C-42FE-4B01-AEF5-831A5F0B2A5D}"/>
              </a:ext>
            </a:extLst>
          </p:cNvPr>
          <p:cNvCxnSpPr>
            <a:cxnSpLocks/>
            <a:stCxn id="26" idx="6"/>
            <a:endCxn id="68" idx="1"/>
          </p:cNvCxnSpPr>
          <p:nvPr/>
        </p:nvCxnSpPr>
        <p:spPr>
          <a:xfrm flipV="1">
            <a:off x="1854000" y="2943216"/>
            <a:ext cx="1339200" cy="500184"/>
          </a:xfrm>
          <a:prstGeom prst="bentConnector3">
            <a:avLst>
              <a:gd name="adj1" fmla="val 50000"/>
            </a:avLst>
          </a:prstGeom>
          <a:ln w="3492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29">
            <a:extLst>
              <a:ext uri="{FF2B5EF4-FFF2-40B4-BE49-F238E27FC236}">
                <a16:creationId xmlns:a16="http://schemas.microsoft.com/office/drawing/2014/main" id="{CBD32835-07E5-47C3-955C-F283F049A283}"/>
              </a:ext>
            </a:extLst>
          </p:cNvPr>
          <p:cNvCxnSpPr>
            <a:cxnSpLocks/>
            <a:stCxn id="26" idx="6"/>
            <a:endCxn id="69" idx="1"/>
          </p:cNvCxnSpPr>
          <p:nvPr/>
        </p:nvCxnSpPr>
        <p:spPr>
          <a:xfrm>
            <a:off x="1854000" y="3443400"/>
            <a:ext cx="1339200" cy="143496"/>
          </a:xfrm>
          <a:prstGeom prst="bentConnector3">
            <a:avLst>
              <a:gd name="adj1" fmla="val 50000"/>
            </a:avLst>
          </a:prstGeom>
          <a:ln w="3492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29">
            <a:extLst>
              <a:ext uri="{FF2B5EF4-FFF2-40B4-BE49-F238E27FC236}">
                <a16:creationId xmlns:a16="http://schemas.microsoft.com/office/drawing/2014/main" id="{439D2357-C57A-4D86-AD02-778A6B477D13}"/>
              </a:ext>
            </a:extLst>
          </p:cNvPr>
          <p:cNvCxnSpPr>
            <a:cxnSpLocks/>
            <a:stCxn id="26" idx="6"/>
            <a:endCxn id="70" idx="1"/>
          </p:cNvCxnSpPr>
          <p:nvPr/>
        </p:nvCxnSpPr>
        <p:spPr>
          <a:xfrm>
            <a:off x="1854000" y="3443400"/>
            <a:ext cx="1339200" cy="787176"/>
          </a:xfrm>
          <a:prstGeom prst="bentConnector3">
            <a:avLst>
              <a:gd name="adj1" fmla="val 50000"/>
            </a:avLst>
          </a:prstGeom>
          <a:ln w="3492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29">
            <a:extLst>
              <a:ext uri="{FF2B5EF4-FFF2-40B4-BE49-F238E27FC236}">
                <a16:creationId xmlns:a16="http://schemas.microsoft.com/office/drawing/2014/main" id="{0FA2773C-53ED-4D45-8CEF-2BA843F5CEEC}"/>
              </a:ext>
            </a:extLst>
          </p:cNvPr>
          <p:cNvCxnSpPr>
            <a:cxnSpLocks/>
            <a:stCxn id="26" idx="6"/>
            <a:endCxn id="71" idx="1"/>
          </p:cNvCxnSpPr>
          <p:nvPr/>
        </p:nvCxnSpPr>
        <p:spPr>
          <a:xfrm>
            <a:off x="1854000" y="3443400"/>
            <a:ext cx="1339200" cy="1430856"/>
          </a:xfrm>
          <a:prstGeom prst="bentConnector3">
            <a:avLst>
              <a:gd name="adj1" fmla="val 50000"/>
            </a:avLst>
          </a:prstGeom>
          <a:ln w="3492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29">
            <a:extLst>
              <a:ext uri="{FF2B5EF4-FFF2-40B4-BE49-F238E27FC236}">
                <a16:creationId xmlns:a16="http://schemas.microsoft.com/office/drawing/2014/main" id="{0CA479CB-A0D6-482D-8603-45A6CF981003}"/>
              </a:ext>
            </a:extLst>
          </p:cNvPr>
          <p:cNvCxnSpPr>
            <a:cxnSpLocks/>
            <a:stCxn id="26" idx="6"/>
            <a:endCxn id="67" idx="1"/>
          </p:cNvCxnSpPr>
          <p:nvPr/>
        </p:nvCxnSpPr>
        <p:spPr>
          <a:xfrm flipV="1">
            <a:off x="1854000" y="2299536"/>
            <a:ext cx="1339200" cy="1143864"/>
          </a:xfrm>
          <a:prstGeom prst="bentConnector3">
            <a:avLst>
              <a:gd name="adj1" fmla="val 50000"/>
            </a:avLst>
          </a:prstGeom>
          <a:ln w="3492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F8DDD4B-FF11-4E91-9AC6-67C497D3E36D}"/>
              </a:ext>
            </a:extLst>
          </p:cNvPr>
          <p:cNvGrpSpPr/>
          <p:nvPr/>
        </p:nvGrpSpPr>
        <p:grpSpPr>
          <a:xfrm>
            <a:off x="403200" y="2718000"/>
            <a:ext cx="1450800" cy="1450800"/>
            <a:chOff x="403200" y="2718000"/>
            <a:chExt cx="1450800" cy="1450800"/>
          </a:xfrm>
        </p:grpSpPr>
        <p:grpSp>
          <p:nvGrpSpPr>
            <p:cNvPr id="24" name="Group 23"/>
            <p:cNvGrpSpPr/>
            <p:nvPr/>
          </p:nvGrpSpPr>
          <p:grpSpPr>
            <a:xfrm>
              <a:off x="403200" y="2718000"/>
              <a:ext cx="1450800" cy="1450800"/>
              <a:chOff x="4492144" y="190843"/>
              <a:chExt cx="855656" cy="855656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rgbClr val="005955"/>
              </a:solidFill>
              <a:ln w="76200">
                <a:noFill/>
              </a:ln>
              <a:effectLst>
                <a:innerShdw blurRad="114300" dist="1270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E513AE1-BFE1-40E0-901D-3FF7A7E0B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600" y="3156545"/>
              <a:ext cx="687600" cy="687600"/>
            </a:xfrm>
            <a:prstGeom prst="rect">
              <a:avLst/>
            </a:prstGeom>
          </p:spPr>
        </p:pic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8B78CE8-A3B7-4D60-A078-08EFAC83C0A4}"/>
              </a:ext>
            </a:extLst>
          </p:cNvPr>
          <p:cNvSpPr/>
          <p:nvPr/>
        </p:nvSpPr>
        <p:spPr>
          <a:xfrm>
            <a:off x="3193200" y="5276736"/>
            <a:ext cx="5329008" cy="482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2225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sing FCC to monitor Period End Closing</a:t>
            </a:r>
          </a:p>
        </p:txBody>
      </p:sp>
      <p:cxnSp>
        <p:nvCxnSpPr>
          <p:cNvPr id="19" name="Elbow Connector 29">
            <a:extLst>
              <a:ext uri="{FF2B5EF4-FFF2-40B4-BE49-F238E27FC236}">
                <a16:creationId xmlns:a16="http://schemas.microsoft.com/office/drawing/2014/main" id="{DE881F7A-29D4-4F03-8D7D-B74F8D1F3807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854000" y="3443400"/>
            <a:ext cx="1339200" cy="2074536"/>
          </a:xfrm>
          <a:prstGeom prst="bentConnector3">
            <a:avLst>
              <a:gd name="adj1" fmla="val 50000"/>
            </a:avLst>
          </a:prstGeom>
          <a:ln w="3492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89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DA1F94B-54E6-4DB9-98AE-FAFD4FAF9E5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226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11277" y="210344"/>
            <a:ext cx="8648723" cy="984247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tx1"/>
                </a:solidFill>
              </a:rPr>
              <a:t>PE Closing Design Business Requirements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8D1ED0A-A5BB-4200-B6F1-FDC31F23D449}"/>
              </a:ext>
            </a:extLst>
          </p:cNvPr>
          <p:cNvGrpSpPr/>
          <p:nvPr/>
        </p:nvGrpSpPr>
        <p:grpSpPr>
          <a:xfrm>
            <a:off x="2229584" y="1295349"/>
            <a:ext cx="7387942" cy="5529387"/>
            <a:chOff x="2502716" y="1236343"/>
            <a:chExt cx="7387942" cy="5529387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B8E68D1-BAAB-425C-88E1-4F75ADB34B08}"/>
                </a:ext>
              </a:extLst>
            </p:cNvPr>
            <p:cNvSpPr/>
            <p:nvPr/>
          </p:nvSpPr>
          <p:spPr>
            <a:xfrm rot="1117833">
              <a:off x="3695563" y="1236343"/>
              <a:ext cx="4620252" cy="462025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109" y="2779287"/>
                  </a:moveTo>
                  <a:arcTo wR="2310126" hR="2310126" stAng="703059" swAng="983860"/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DEC29D1-BF37-45F1-A1CA-C984DFA13C21}"/>
                </a:ext>
              </a:extLst>
            </p:cNvPr>
            <p:cNvSpPr/>
            <p:nvPr/>
          </p:nvSpPr>
          <p:spPr bwMode="auto">
            <a:xfrm>
              <a:off x="5183408" y="2910681"/>
              <a:ext cx="2084237" cy="203504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BPM S4F Project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Completed design considering key business requirements of reliable, correct and clean data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B9BFC7E-6FA4-4CAD-880F-CE91D1B612E5}"/>
                </a:ext>
              </a:extLst>
            </p:cNvPr>
            <p:cNvSpPr/>
            <p:nvPr/>
          </p:nvSpPr>
          <p:spPr>
            <a:xfrm>
              <a:off x="4911365" y="6297521"/>
              <a:ext cx="2846895" cy="4682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A36894A-C6DF-452D-BBC6-54B1A419CBFE}"/>
                </a:ext>
              </a:extLst>
            </p:cNvPr>
            <p:cNvSpPr/>
            <p:nvPr/>
          </p:nvSpPr>
          <p:spPr>
            <a:xfrm>
              <a:off x="4980271" y="1313076"/>
              <a:ext cx="2412000" cy="1296000"/>
            </a:xfrm>
            <a:custGeom>
              <a:avLst/>
              <a:gdLst>
                <a:gd name="connsiteX0" fmla="*/ 0 w 1779984"/>
                <a:gd name="connsiteY0" fmla="*/ 192835 h 1156989"/>
                <a:gd name="connsiteX1" fmla="*/ 192835 w 1779984"/>
                <a:gd name="connsiteY1" fmla="*/ 0 h 1156989"/>
                <a:gd name="connsiteX2" fmla="*/ 1587149 w 1779984"/>
                <a:gd name="connsiteY2" fmla="*/ 0 h 1156989"/>
                <a:gd name="connsiteX3" fmla="*/ 1779984 w 1779984"/>
                <a:gd name="connsiteY3" fmla="*/ 192835 h 1156989"/>
                <a:gd name="connsiteX4" fmla="*/ 1779984 w 1779984"/>
                <a:gd name="connsiteY4" fmla="*/ 964154 h 1156989"/>
                <a:gd name="connsiteX5" fmla="*/ 1587149 w 1779984"/>
                <a:gd name="connsiteY5" fmla="*/ 1156989 h 1156989"/>
                <a:gd name="connsiteX6" fmla="*/ 192835 w 1779984"/>
                <a:gd name="connsiteY6" fmla="*/ 1156989 h 1156989"/>
                <a:gd name="connsiteX7" fmla="*/ 0 w 1779984"/>
                <a:gd name="connsiteY7" fmla="*/ 964154 h 1156989"/>
                <a:gd name="connsiteX8" fmla="*/ 0 w 1779984"/>
                <a:gd name="connsiteY8" fmla="*/ 192835 h 115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9984" h="1156989">
                  <a:moveTo>
                    <a:pt x="0" y="192835"/>
                  </a:moveTo>
                  <a:cubicBezTo>
                    <a:pt x="0" y="86335"/>
                    <a:pt x="86335" y="0"/>
                    <a:pt x="192835" y="0"/>
                  </a:cubicBezTo>
                  <a:lnTo>
                    <a:pt x="1587149" y="0"/>
                  </a:lnTo>
                  <a:cubicBezTo>
                    <a:pt x="1693649" y="0"/>
                    <a:pt x="1779984" y="86335"/>
                    <a:pt x="1779984" y="192835"/>
                  </a:cubicBezTo>
                  <a:lnTo>
                    <a:pt x="1779984" y="964154"/>
                  </a:lnTo>
                  <a:cubicBezTo>
                    <a:pt x="1779984" y="1070654"/>
                    <a:pt x="1693649" y="1156989"/>
                    <a:pt x="1587149" y="1156989"/>
                  </a:cubicBezTo>
                  <a:lnTo>
                    <a:pt x="192835" y="1156989"/>
                  </a:lnTo>
                  <a:cubicBezTo>
                    <a:pt x="86335" y="1156989"/>
                    <a:pt x="0" y="1070654"/>
                    <a:pt x="0" y="964154"/>
                  </a:cubicBezTo>
                  <a:lnTo>
                    <a:pt x="0" y="192835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2200" tIns="102200" rIns="102200" bIns="102200" numCol="1" spcCol="1270" anchor="ctr" anchorCtr="0">
              <a:noAutofit/>
            </a:bodyPr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Local Entities:</a:t>
              </a:r>
            </a:p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STAT/TAX compliance within statutory Key Timings</a:t>
              </a: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C73E279-A178-41EA-B2CD-E86701D25F61}"/>
                </a:ext>
              </a:extLst>
            </p:cNvPr>
            <p:cNvSpPr/>
            <p:nvPr/>
          </p:nvSpPr>
          <p:spPr>
            <a:xfrm>
              <a:off x="7478658" y="3088447"/>
              <a:ext cx="2412000" cy="1296000"/>
            </a:xfrm>
            <a:custGeom>
              <a:avLst/>
              <a:gdLst>
                <a:gd name="connsiteX0" fmla="*/ 0 w 1824946"/>
                <a:gd name="connsiteY0" fmla="*/ 304164 h 1937645"/>
                <a:gd name="connsiteX1" fmla="*/ 304164 w 1824946"/>
                <a:gd name="connsiteY1" fmla="*/ 0 h 1937645"/>
                <a:gd name="connsiteX2" fmla="*/ 1520782 w 1824946"/>
                <a:gd name="connsiteY2" fmla="*/ 0 h 1937645"/>
                <a:gd name="connsiteX3" fmla="*/ 1824946 w 1824946"/>
                <a:gd name="connsiteY3" fmla="*/ 304164 h 1937645"/>
                <a:gd name="connsiteX4" fmla="*/ 1824946 w 1824946"/>
                <a:gd name="connsiteY4" fmla="*/ 1633481 h 1937645"/>
                <a:gd name="connsiteX5" fmla="*/ 1520782 w 1824946"/>
                <a:gd name="connsiteY5" fmla="*/ 1937645 h 1937645"/>
                <a:gd name="connsiteX6" fmla="*/ 304164 w 1824946"/>
                <a:gd name="connsiteY6" fmla="*/ 1937645 h 1937645"/>
                <a:gd name="connsiteX7" fmla="*/ 0 w 1824946"/>
                <a:gd name="connsiteY7" fmla="*/ 1633481 h 1937645"/>
                <a:gd name="connsiteX8" fmla="*/ 0 w 1824946"/>
                <a:gd name="connsiteY8" fmla="*/ 304164 h 1937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4946" h="1937645">
                  <a:moveTo>
                    <a:pt x="0" y="304164"/>
                  </a:moveTo>
                  <a:cubicBezTo>
                    <a:pt x="0" y="136179"/>
                    <a:pt x="136179" y="0"/>
                    <a:pt x="304164" y="0"/>
                  </a:cubicBezTo>
                  <a:lnTo>
                    <a:pt x="1520782" y="0"/>
                  </a:lnTo>
                  <a:cubicBezTo>
                    <a:pt x="1688767" y="0"/>
                    <a:pt x="1824946" y="136179"/>
                    <a:pt x="1824946" y="304164"/>
                  </a:cubicBezTo>
                  <a:lnTo>
                    <a:pt x="1824946" y="1633481"/>
                  </a:lnTo>
                  <a:cubicBezTo>
                    <a:pt x="1824946" y="1801466"/>
                    <a:pt x="1688767" y="1937645"/>
                    <a:pt x="1520782" y="1937645"/>
                  </a:cubicBezTo>
                  <a:lnTo>
                    <a:pt x="304164" y="1937645"/>
                  </a:lnTo>
                  <a:cubicBezTo>
                    <a:pt x="136179" y="1937645"/>
                    <a:pt x="0" y="1801466"/>
                    <a:pt x="0" y="1633481"/>
                  </a:cubicBezTo>
                  <a:lnTo>
                    <a:pt x="0" y="304164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4807" tIns="134807" rIns="134807" bIns="134807" numCol="1" spcCol="1270" anchor="ctr" anchorCtr="0">
              <a:noAutofit/>
            </a:bodyPr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Parent company JT represented by JTI Corporate Accounting and FP&amp;A:</a:t>
              </a:r>
            </a:p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Best practice reporting to investors</a:t>
              </a:r>
            </a:p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IFRS compliance and correct Mgmt. accounts</a:t>
              </a: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E3A7457-D19D-4BFC-A4F6-F5CCDED7F630}"/>
                </a:ext>
              </a:extLst>
            </p:cNvPr>
            <p:cNvSpPr/>
            <p:nvPr/>
          </p:nvSpPr>
          <p:spPr>
            <a:xfrm>
              <a:off x="6590599" y="5288292"/>
              <a:ext cx="2412000" cy="1296000"/>
            </a:xfrm>
            <a:custGeom>
              <a:avLst/>
              <a:gdLst>
                <a:gd name="connsiteX0" fmla="*/ 0 w 1779984"/>
                <a:gd name="connsiteY0" fmla="*/ 198003 h 1187997"/>
                <a:gd name="connsiteX1" fmla="*/ 198003 w 1779984"/>
                <a:gd name="connsiteY1" fmla="*/ 0 h 1187997"/>
                <a:gd name="connsiteX2" fmla="*/ 1581981 w 1779984"/>
                <a:gd name="connsiteY2" fmla="*/ 0 h 1187997"/>
                <a:gd name="connsiteX3" fmla="*/ 1779984 w 1779984"/>
                <a:gd name="connsiteY3" fmla="*/ 198003 h 1187997"/>
                <a:gd name="connsiteX4" fmla="*/ 1779984 w 1779984"/>
                <a:gd name="connsiteY4" fmla="*/ 989994 h 1187997"/>
                <a:gd name="connsiteX5" fmla="*/ 1581981 w 1779984"/>
                <a:gd name="connsiteY5" fmla="*/ 1187997 h 1187997"/>
                <a:gd name="connsiteX6" fmla="*/ 198003 w 1779984"/>
                <a:gd name="connsiteY6" fmla="*/ 1187997 h 1187997"/>
                <a:gd name="connsiteX7" fmla="*/ 0 w 1779984"/>
                <a:gd name="connsiteY7" fmla="*/ 989994 h 1187997"/>
                <a:gd name="connsiteX8" fmla="*/ 0 w 1779984"/>
                <a:gd name="connsiteY8" fmla="*/ 198003 h 118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9984" h="1187997">
                  <a:moveTo>
                    <a:pt x="0" y="198003"/>
                  </a:moveTo>
                  <a:cubicBezTo>
                    <a:pt x="0" y="88649"/>
                    <a:pt x="88649" y="0"/>
                    <a:pt x="198003" y="0"/>
                  </a:cubicBezTo>
                  <a:lnTo>
                    <a:pt x="1581981" y="0"/>
                  </a:lnTo>
                  <a:cubicBezTo>
                    <a:pt x="1691335" y="0"/>
                    <a:pt x="1779984" y="88649"/>
                    <a:pt x="1779984" y="198003"/>
                  </a:cubicBezTo>
                  <a:lnTo>
                    <a:pt x="1779984" y="989994"/>
                  </a:lnTo>
                  <a:cubicBezTo>
                    <a:pt x="1779984" y="1099348"/>
                    <a:pt x="1691335" y="1187997"/>
                    <a:pt x="1581981" y="1187997"/>
                  </a:cubicBezTo>
                  <a:lnTo>
                    <a:pt x="198003" y="1187997"/>
                  </a:lnTo>
                  <a:cubicBezTo>
                    <a:pt x="88649" y="1187997"/>
                    <a:pt x="0" y="1099348"/>
                    <a:pt x="0" y="989994"/>
                  </a:cubicBezTo>
                  <a:lnTo>
                    <a:pt x="0" y="198003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3713" tIns="103713" rIns="103713" bIns="103713" numCol="1" spcCol="1270" anchor="ctr" anchorCtr="0">
              <a:noAutofit/>
            </a:bodyPr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Global Tax:</a:t>
              </a:r>
            </a:p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Overall Tax compliance, Country by Country Reporting and Japanese Controlled Foreign Company (JCFC) reporting</a:t>
              </a: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9D73D6B-A0F7-4B67-B66D-07F8FD1FB97A}"/>
                </a:ext>
              </a:extLst>
            </p:cNvPr>
            <p:cNvSpPr/>
            <p:nvPr/>
          </p:nvSpPr>
          <p:spPr>
            <a:xfrm>
              <a:off x="3872846" y="1301658"/>
              <a:ext cx="4620252" cy="462025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2613244" y="4600279"/>
                  </a:moveTo>
                  <a:arcTo wR="2310126" hR="2310126" stAng="4947619" swAng="753012"/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6BFBC19-BEDE-459F-9749-92E0C7FA366A}"/>
                </a:ext>
              </a:extLst>
            </p:cNvPr>
            <p:cNvSpPr/>
            <p:nvPr/>
          </p:nvSpPr>
          <p:spPr>
            <a:xfrm>
              <a:off x="3552574" y="5292085"/>
              <a:ext cx="2412000" cy="1296000"/>
            </a:xfrm>
            <a:custGeom>
              <a:avLst/>
              <a:gdLst>
                <a:gd name="connsiteX0" fmla="*/ 0 w 1980553"/>
                <a:gd name="connsiteY0" fmla="*/ 200370 h 1202193"/>
                <a:gd name="connsiteX1" fmla="*/ 200370 w 1980553"/>
                <a:gd name="connsiteY1" fmla="*/ 0 h 1202193"/>
                <a:gd name="connsiteX2" fmla="*/ 1780183 w 1980553"/>
                <a:gd name="connsiteY2" fmla="*/ 0 h 1202193"/>
                <a:gd name="connsiteX3" fmla="*/ 1980553 w 1980553"/>
                <a:gd name="connsiteY3" fmla="*/ 200370 h 1202193"/>
                <a:gd name="connsiteX4" fmla="*/ 1980553 w 1980553"/>
                <a:gd name="connsiteY4" fmla="*/ 1001823 h 1202193"/>
                <a:gd name="connsiteX5" fmla="*/ 1780183 w 1980553"/>
                <a:gd name="connsiteY5" fmla="*/ 1202193 h 1202193"/>
                <a:gd name="connsiteX6" fmla="*/ 200370 w 1980553"/>
                <a:gd name="connsiteY6" fmla="*/ 1202193 h 1202193"/>
                <a:gd name="connsiteX7" fmla="*/ 0 w 1980553"/>
                <a:gd name="connsiteY7" fmla="*/ 1001823 h 1202193"/>
                <a:gd name="connsiteX8" fmla="*/ 0 w 1980553"/>
                <a:gd name="connsiteY8" fmla="*/ 200370 h 1202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0553" h="1202193">
                  <a:moveTo>
                    <a:pt x="0" y="200370"/>
                  </a:moveTo>
                  <a:cubicBezTo>
                    <a:pt x="0" y="89709"/>
                    <a:pt x="89709" y="0"/>
                    <a:pt x="200370" y="0"/>
                  </a:cubicBezTo>
                  <a:lnTo>
                    <a:pt x="1780183" y="0"/>
                  </a:lnTo>
                  <a:cubicBezTo>
                    <a:pt x="1890844" y="0"/>
                    <a:pt x="1980553" y="89709"/>
                    <a:pt x="1980553" y="200370"/>
                  </a:cubicBezTo>
                  <a:lnTo>
                    <a:pt x="1980553" y="1001823"/>
                  </a:lnTo>
                  <a:cubicBezTo>
                    <a:pt x="1980553" y="1112484"/>
                    <a:pt x="1890844" y="1202193"/>
                    <a:pt x="1780183" y="1202193"/>
                  </a:cubicBezTo>
                  <a:lnTo>
                    <a:pt x="200370" y="1202193"/>
                  </a:lnTo>
                  <a:cubicBezTo>
                    <a:pt x="89709" y="1202193"/>
                    <a:pt x="0" y="1112484"/>
                    <a:pt x="0" y="1001823"/>
                  </a:cubicBezTo>
                  <a:lnTo>
                    <a:pt x="0" y="20037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4406" tIns="104406" rIns="104406" bIns="104406" numCol="1" spcCol="1270" anchor="ctr" anchorCtr="0">
              <a:noAutofit/>
            </a:bodyPr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GBS:</a:t>
              </a:r>
            </a:p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Centralized effective and efficient transactional processing</a:t>
              </a: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646B6D5-AF38-466D-BBCE-3C4A3A3AD50E}"/>
                </a:ext>
              </a:extLst>
            </p:cNvPr>
            <p:cNvSpPr/>
            <p:nvPr/>
          </p:nvSpPr>
          <p:spPr>
            <a:xfrm rot="20787096">
              <a:off x="4152766" y="1366972"/>
              <a:ext cx="4620252" cy="462025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250922" y="3357200"/>
                  </a:moveTo>
                  <a:arcTo wR="2310126" hR="2310126" stAng="9182840" swAng="1165023"/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C8DA90C-5E0D-4FDB-8E89-0B701C0F766F}"/>
                </a:ext>
              </a:extLst>
            </p:cNvPr>
            <p:cNvSpPr/>
            <p:nvPr/>
          </p:nvSpPr>
          <p:spPr>
            <a:xfrm>
              <a:off x="2502716" y="2986269"/>
              <a:ext cx="2412000" cy="1296000"/>
            </a:xfrm>
            <a:custGeom>
              <a:avLst/>
              <a:gdLst>
                <a:gd name="connsiteX0" fmla="*/ 0 w 1799599"/>
                <a:gd name="connsiteY0" fmla="*/ 254120 h 1524692"/>
                <a:gd name="connsiteX1" fmla="*/ 254120 w 1799599"/>
                <a:gd name="connsiteY1" fmla="*/ 0 h 1524692"/>
                <a:gd name="connsiteX2" fmla="*/ 1545479 w 1799599"/>
                <a:gd name="connsiteY2" fmla="*/ 0 h 1524692"/>
                <a:gd name="connsiteX3" fmla="*/ 1799599 w 1799599"/>
                <a:gd name="connsiteY3" fmla="*/ 254120 h 1524692"/>
                <a:gd name="connsiteX4" fmla="*/ 1799599 w 1799599"/>
                <a:gd name="connsiteY4" fmla="*/ 1270572 h 1524692"/>
                <a:gd name="connsiteX5" fmla="*/ 1545479 w 1799599"/>
                <a:gd name="connsiteY5" fmla="*/ 1524692 h 1524692"/>
                <a:gd name="connsiteX6" fmla="*/ 254120 w 1799599"/>
                <a:gd name="connsiteY6" fmla="*/ 1524692 h 1524692"/>
                <a:gd name="connsiteX7" fmla="*/ 0 w 1799599"/>
                <a:gd name="connsiteY7" fmla="*/ 1270572 h 1524692"/>
                <a:gd name="connsiteX8" fmla="*/ 0 w 1799599"/>
                <a:gd name="connsiteY8" fmla="*/ 254120 h 152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9599" h="1524692">
                  <a:moveTo>
                    <a:pt x="0" y="254120"/>
                  </a:moveTo>
                  <a:cubicBezTo>
                    <a:pt x="0" y="113773"/>
                    <a:pt x="113773" y="0"/>
                    <a:pt x="254120" y="0"/>
                  </a:cubicBezTo>
                  <a:lnTo>
                    <a:pt x="1545479" y="0"/>
                  </a:lnTo>
                  <a:cubicBezTo>
                    <a:pt x="1685826" y="0"/>
                    <a:pt x="1799599" y="113773"/>
                    <a:pt x="1799599" y="254120"/>
                  </a:cubicBezTo>
                  <a:lnTo>
                    <a:pt x="1799599" y="1270572"/>
                  </a:lnTo>
                  <a:cubicBezTo>
                    <a:pt x="1799599" y="1410919"/>
                    <a:pt x="1685826" y="1524692"/>
                    <a:pt x="1545479" y="1524692"/>
                  </a:cubicBezTo>
                  <a:lnTo>
                    <a:pt x="254120" y="1524692"/>
                  </a:lnTo>
                  <a:cubicBezTo>
                    <a:pt x="113773" y="1524692"/>
                    <a:pt x="0" y="1410919"/>
                    <a:pt x="0" y="1270572"/>
                  </a:cubicBezTo>
                  <a:lnTo>
                    <a:pt x="0" y="25412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0149" tIns="120149" rIns="120149" bIns="120149" numCol="1" spcCol="1270" anchor="ctr" anchorCtr="0">
              <a:noAutofit/>
            </a:bodyPr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R2R Competency Center:</a:t>
              </a:r>
            </a:p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Establishment of Global Reference Model (GRM) and Governance</a:t>
              </a: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E56E0DF-A240-4BED-B9DF-1F566623E090}"/>
                </a:ext>
              </a:extLst>
            </p:cNvPr>
            <p:cNvSpPr/>
            <p:nvPr/>
          </p:nvSpPr>
          <p:spPr>
            <a:xfrm rot="21271674">
              <a:off x="3767181" y="1909188"/>
              <a:ext cx="4620252" cy="462025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682037" y="671221"/>
                  </a:moveTo>
                  <a:arcTo wR="2310126" hR="2310126" stAng="13511381" swAng="1000778"/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CA6438E-9307-44E1-85BE-14150AF5063A}"/>
                </a:ext>
              </a:extLst>
            </p:cNvPr>
            <p:cNvSpPr/>
            <p:nvPr/>
          </p:nvSpPr>
          <p:spPr>
            <a:xfrm rot="5052541">
              <a:off x="3728316" y="1829295"/>
              <a:ext cx="4614018" cy="462074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682037" y="671221"/>
                  </a:moveTo>
                  <a:arcTo wR="2310126" hR="2310126" stAng="13511381" swAng="1000778"/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15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202B21-2078-0EEB-C7D2-2356F16B1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6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A79D3D-02E7-9CBF-D2A2-EB54D83B286E}"/>
              </a:ext>
            </a:extLst>
          </p:cNvPr>
          <p:cNvGrpSpPr/>
          <p:nvPr/>
        </p:nvGrpSpPr>
        <p:grpSpPr>
          <a:xfrm>
            <a:off x="5038378" y="1156972"/>
            <a:ext cx="2059928" cy="4835089"/>
            <a:chOff x="5054653" y="841581"/>
            <a:chExt cx="2059928" cy="381483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997EE37-0D55-3E43-39AB-E7C4B68BD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4653" y="1193480"/>
              <a:ext cx="2059928" cy="346293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6D2336-32E3-5BDE-A5F0-8309AD944742}"/>
                </a:ext>
              </a:extLst>
            </p:cNvPr>
            <p:cNvSpPr txBox="1"/>
            <p:nvPr/>
          </p:nvSpPr>
          <p:spPr>
            <a:xfrm>
              <a:off x="5070897" y="3715230"/>
              <a:ext cx="1784215" cy="4279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rmAutofit/>
            </a:bodyPr>
            <a:lstStyle/>
            <a:p>
              <a:pPr marL="0" marR="0" lvl="0" indent="0" algn="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Roles and Responsibilities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0A7344A-692A-5AF0-BEC5-F540E1683E8A}"/>
                </a:ext>
              </a:extLst>
            </p:cNvPr>
            <p:cNvSpPr/>
            <p:nvPr/>
          </p:nvSpPr>
          <p:spPr>
            <a:xfrm>
              <a:off x="5114366" y="841581"/>
              <a:ext cx="1940502" cy="2873650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b" anchorCtr="1" forceAA="0" compatLnSpc="1">
              <a:prstTxWarp prst="textNoShape">
                <a:avLst/>
              </a:prstTxWarp>
              <a:noAutofit/>
            </a:bodyPr>
            <a:lstStyle/>
            <a:p>
              <a:pPr marL="170815" indent="-170815" defTabSz="914126">
                <a:spcBef>
                  <a:spcPct val="20000"/>
                </a:spcBef>
                <a:buFont typeface="Arial" panose="020B0604020202020204" pitchFamily="34" charset="0"/>
                <a:buChar char="•"/>
                <a:defRPr/>
              </a:pPr>
              <a:r>
                <a:rPr lang="en-GB" sz="900" dirty="0">
                  <a:latin typeface="Arial" panose="020B0604020202020204"/>
                  <a:ea typeface="ＭＳ Ｐゴシック"/>
                </a:rPr>
                <a:t> </a:t>
              </a:r>
              <a:r>
                <a:rPr lang="en-GB" sz="900" b="1" dirty="0">
                  <a:latin typeface="Arial" panose="020B0604020202020204"/>
                  <a:ea typeface="ＭＳ Ｐゴシック"/>
                </a:rPr>
                <a:t>GBS </a:t>
              </a:r>
              <a:r>
                <a:rPr lang="en-GB" sz="900" dirty="0">
                  <a:ea typeface="ＭＳ Ｐゴシック"/>
                </a:rPr>
                <a:t>(Warsaw, Manila, Saint-Petersburg) and JT BC (Japan): </a:t>
              </a: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ＭＳ Ｐゴシック"/>
                  <a:cs typeface="+mn-cs"/>
                </a:rPr>
                <a:t>coordination </a:t>
              </a: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22632"/>
                  </a:solidFill>
                  <a:effectLst/>
                  <a:uLnTx/>
                  <a:uFillTx/>
                  <a:latin typeface="Arial" panose="020B0604020202020204"/>
                  <a:ea typeface="ＭＳ Ｐゴシック"/>
                  <a:cs typeface="+mn-cs"/>
                </a:rPr>
                <a:t>of PEC in liaison with Entities</a:t>
              </a:r>
              <a:endParaRPr lang="en-US" dirty="0">
                <a:ea typeface="ＭＳ Ｐゴシック"/>
                <a:cs typeface="+mn-cs"/>
              </a:endParaRPr>
            </a:p>
            <a:p>
              <a:pPr marL="170815" marR="0" lvl="0" indent="-170815" algn="l" defTabSz="914126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122632"/>
                  </a:solidFill>
                  <a:effectLst/>
                  <a:uLnTx/>
                  <a:uFillTx/>
                  <a:latin typeface="Arial" panose="020B0604020202020204"/>
                  <a:ea typeface="ＭＳ Ｐゴシック"/>
                  <a:cs typeface="+mn-cs"/>
                </a:rPr>
                <a:t>Entities</a:t>
              </a: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22632"/>
                  </a:solidFill>
                  <a:effectLst/>
                  <a:uLnTx/>
                  <a:uFillTx/>
                  <a:latin typeface="Arial" panose="020B0604020202020204"/>
                  <a:ea typeface="ＭＳ Ｐゴシック"/>
                  <a:cs typeface="+mn-cs"/>
                </a:rPr>
                <a:t>: responsible for the correctness of their Market and Entity financials (incl. IFRS, STAT, TAX books)</a:t>
              </a:r>
              <a:endParaRPr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Arial"/>
              </a:endParaRPr>
            </a:p>
            <a:p>
              <a:pPr marL="170815" marR="0" lvl="0" indent="-170815" algn="l" defTabSz="914126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122632"/>
                  </a:solidFill>
                  <a:effectLst/>
                  <a:uLnTx/>
                  <a:uFillTx/>
                  <a:latin typeface="Arial" panose="020B0604020202020204"/>
                  <a:ea typeface="ＭＳ Ｐゴシック"/>
                  <a:cs typeface="+mn-cs"/>
                </a:rPr>
                <a:t>GSC:</a:t>
              </a: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22632"/>
                  </a:solidFill>
                  <a:effectLst/>
                  <a:uLnTx/>
                  <a:uFillTx/>
                  <a:latin typeface="Arial" panose="020B0604020202020204"/>
                  <a:ea typeface="ＭＳ Ｐゴシック"/>
                  <a:cs typeface="+mn-cs"/>
                </a:rPr>
                <a:t> Centrally control Material Ledger closing</a:t>
              </a:r>
              <a:endParaRPr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Arial"/>
              </a:endParaRPr>
            </a:p>
            <a:p>
              <a:pPr marL="170815" indent="-170815" defTabSz="914126">
                <a:spcBef>
                  <a:spcPct val="20000"/>
                </a:spcBef>
                <a:buFont typeface="Arial" panose="020B0604020202020204" pitchFamily="34" charset="0"/>
                <a:buChar char="•"/>
                <a:defRPr/>
              </a:pPr>
              <a:r>
                <a:rPr kumimoji="0" lang="en-GB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122632"/>
                  </a:solidFill>
                  <a:effectLst/>
                  <a:uLnTx/>
                  <a:uFillTx/>
                  <a:latin typeface="Arial" panose="020B0604020202020204"/>
                  <a:ea typeface="ＭＳ Ｐゴシック"/>
                  <a:cs typeface="+mn-cs"/>
                </a:rPr>
                <a:t>Corporate Accounting</a:t>
              </a: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22632"/>
                  </a:solidFill>
                  <a:effectLst/>
                  <a:uLnTx/>
                  <a:uFillTx/>
                  <a:latin typeface="Arial" panose="020B0604020202020204"/>
                  <a:ea typeface="ＭＳ Ｐゴシック"/>
                  <a:cs typeface="+mn-cs"/>
                </a:rPr>
                <a:t>: In charge of consolidation and IFRS reporting.</a:t>
              </a:r>
              <a:endParaRPr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Arial"/>
              </a:endParaRPr>
            </a:p>
            <a:p>
              <a:pPr marL="170815" indent="-170815" defTabSz="914126">
                <a:spcBef>
                  <a:spcPct val="20000"/>
                </a:spcBef>
                <a:buFont typeface="Arial" panose="020B0604020202020204" pitchFamily="34" charset="0"/>
                <a:buChar char="•"/>
                <a:defRPr/>
              </a:pPr>
              <a:r>
                <a:rPr lang="en-GB" sz="900" b="1" dirty="0">
                  <a:solidFill>
                    <a:srgbClr val="122632"/>
                  </a:solidFill>
                  <a:latin typeface="Arial" panose="020B0604020202020204"/>
                  <a:ea typeface="ＭＳ Ｐゴシック"/>
                </a:rPr>
                <a:t>Global Performance  Management: </a:t>
              </a:r>
              <a:r>
                <a:rPr lang="en-GB" sz="900" dirty="0">
                  <a:solidFill>
                    <a:srgbClr val="122632"/>
                  </a:solidFill>
                  <a:latin typeface="Arial" panose="020B0604020202020204"/>
                  <a:ea typeface="ＭＳ Ｐゴシック"/>
                </a:rPr>
                <a:t>In charge of Management Reporting</a:t>
              </a:r>
              <a:r>
                <a:rPr lang="en-GB" sz="1100" dirty="0">
                  <a:solidFill>
                    <a:srgbClr val="122632"/>
                  </a:solidFill>
                  <a:latin typeface="Arial" panose="020B0604020202020204"/>
                  <a:ea typeface="ＭＳ Ｐゴシック"/>
                </a:rPr>
                <a:t>.</a:t>
              </a:r>
              <a:endParaRPr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Arial"/>
              </a:endParaRPr>
            </a:p>
            <a:p>
              <a:pPr marL="170815" marR="0" lvl="0" indent="-170815" algn="l" defTabSz="914126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  <a:cs typeface="Arial" panose="020B0604020202020204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A114AB54-517F-41E8-6D24-945F80ACEA72}"/>
              </a:ext>
            </a:extLst>
          </p:cNvPr>
          <p:cNvSpPr txBox="1">
            <a:spLocks/>
          </p:cNvSpPr>
          <p:nvPr/>
        </p:nvSpPr>
        <p:spPr>
          <a:xfrm>
            <a:off x="1541131" y="43981"/>
            <a:ext cx="8902723" cy="98424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JT-JTI Period End Closing Model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25753A-882D-4ECA-BC54-E6A1F878F4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81" y="1579371"/>
            <a:ext cx="2052480" cy="44169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A6F4B8-8767-2536-52E0-1CE8423D2A37}"/>
              </a:ext>
            </a:extLst>
          </p:cNvPr>
          <p:cNvSpPr txBox="1"/>
          <p:nvPr/>
        </p:nvSpPr>
        <p:spPr>
          <a:xfrm>
            <a:off x="1541131" y="4816610"/>
            <a:ext cx="943030" cy="350384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marL="0" marR="0" lvl="0" indent="0" algn="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38A31-F047-4B50-6E29-E2E314F3D075}"/>
              </a:ext>
            </a:extLst>
          </p:cNvPr>
          <p:cNvSpPr/>
          <p:nvPr/>
        </p:nvSpPr>
        <p:spPr>
          <a:xfrm>
            <a:off x="799657" y="2559413"/>
            <a:ext cx="1986128" cy="1549101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noAutofit/>
          </a:bodyPr>
          <a:lstStyle/>
          <a:p>
            <a:pPr marL="107950" indent="-107950" defTabSz="914126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ＭＳ Ｐゴシック" charset="0"/>
                <a:cs typeface="+mn-cs"/>
              </a:rPr>
              <a:t>“</a:t>
            </a:r>
            <a:r>
              <a:rPr lang="en-GB" sz="1050" b="1">
                <a:latin typeface="Arial" panose="020B0604020202020204"/>
                <a:ea typeface="ＭＳ Ｐゴシック" charset="0"/>
              </a:rPr>
              <a:t>B</a:t>
            </a:r>
            <a:r>
              <a:rPr kumimoji="0" lang="en-GB" sz="105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ＭＳ Ｐゴシック" charset="0"/>
                <a:cs typeface="+mn-cs"/>
              </a:rPr>
              <a:t>est in class” financial closing and reporting:</a:t>
            </a: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ＭＳ Ｐゴシック" charset="0"/>
                <a:cs typeface="+mn-cs"/>
              </a:rPr>
              <a:t> fastest </a:t>
            </a:r>
            <a:r>
              <a:rPr lang="en-GB" sz="1050">
                <a:latin typeface="Arial" panose="020B0604020202020204"/>
                <a:ea typeface="ＭＳ Ｐゴシック" charset="0"/>
              </a:rPr>
              <a:t>possible disclosure of performance results to investors and management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ＭＳ Ｐゴシック" charset="0"/>
              <a:cs typeface="+mn-cs"/>
            </a:endParaRPr>
          </a:p>
          <a:p>
            <a:pPr defTabSz="914126">
              <a:spcBef>
                <a:spcPct val="20000"/>
              </a:spcBef>
              <a:defRPr/>
            </a:pPr>
            <a:endParaRPr lang="en-US" sz="1050" b="0" i="0" u="none" strike="sngStrike" kern="1200" cap="none" spc="0" normalizeH="0" baseline="0" noProof="0">
              <a:ln>
                <a:noFill/>
              </a:ln>
              <a:solidFill>
                <a:srgbClr val="122632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BF05C29-7692-B8A4-3432-E03AA8BDAF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763" y="1689218"/>
            <a:ext cx="706497" cy="7155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88927BA-790E-8114-F184-A5C009525E06}"/>
              </a:ext>
            </a:extLst>
          </p:cNvPr>
          <p:cNvGrpSpPr/>
          <p:nvPr/>
        </p:nvGrpSpPr>
        <p:grpSpPr>
          <a:xfrm>
            <a:off x="2925235" y="1591246"/>
            <a:ext cx="2059928" cy="4416920"/>
            <a:chOff x="2817052" y="1193480"/>
            <a:chExt cx="2059928" cy="34629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C9C2E16-DFFE-4126-F512-54B3A7572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17052" y="1193480"/>
              <a:ext cx="2059928" cy="3462931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003FF59-838C-BFC2-195A-82322AAF8264}"/>
                </a:ext>
              </a:extLst>
            </p:cNvPr>
            <p:cNvGrpSpPr/>
            <p:nvPr/>
          </p:nvGrpSpPr>
          <p:grpSpPr>
            <a:xfrm>
              <a:off x="2862359" y="1952537"/>
              <a:ext cx="1969313" cy="2075495"/>
              <a:chOff x="2836233" y="2004789"/>
              <a:chExt cx="1969313" cy="2075495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784CA7-36A2-4730-751B-F59191099CAF}"/>
                  </a:ext>
                </a:extLst>
              </p:cNvPr>
              <p:cNvSpPr txBox="1"/>
              <p:nvPr/>
            </p:nvSpPr>
            <p:spPr>
              <a:xfrm>
                <a:off x="3673074" y="3762733"/>
                <a:ext cx="943030" cy="3175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rmAutofit lnSpcReduction="10000"/>
              </a:bodyPr>
              <a:lstStyle/>
              <a:p>
                <a:pPr marL="0" marR="0" lvl="0" indent="0" algn="r" defTabSz="91412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Scope and Frequency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9865712-2203-577E-30A9-64B0ACD25337}"/>
                  </a:ext>
                </a:extLst>
              </p:cNvPr>
              <p:cNvSpPr/>
              <p:nvPr/>
            </p:nvSpPr>
            <p:spPr>
              <a:xfrm>
                <a:off x="2836233" y="2004789"/>
                <a:ext cx="1969313" cy="115633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1" forceAA="0" compatLnSpc="1">
                <a:prstTxWarp prst="textNoShape">
                  <a:avLst/>
                </a:prstTxWarp>
                <a:noAutofit/>
              </a:bodyPr>
              <a:lstStyle/>
              <a:p>
                <a:pPr marL="171399" indent="-171399" defTabSz="914126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sz="950" dirty="0">
                    <a:solidFill>
                      <a:srgbClr val="122632"/>
                    </a:solidFill>
                    <a:ea typeface="ＭＳ Ｐゴシック" charset="0"/>
                  </a:rPr>
                  <a:t>Closing of P1-P11 is </a:t>
                </a:r>
                <a:r>
                  <a:rPr lang="en-US" sz="950" b="1" dirty="0">
                    <a:solidFill>
                      <a:srgbClr val="122632"/>
                    </a:solidFill>
                    <a:ea typeface="ＭＳ Ｐゴシック" charset="0"/>
                  </a:rPr>
                  <a:t>based on Geneva (JTI HQ location) calendar</a:t>
                </a:r>
                <a:r>
                  <a:rPr lang="en-US" sz="950" dirty="0">
                    <a:solidFill>
                      <a:srgbClr val="122632"/>
                    </a:solidFill>
                    <a:ea typeface="ＭＳ Ｐゴシック" charset="0"/>
                  </a:rPr>
                  <a:t>. </a:t>
                </a:r>
              </a:p>
              <a:p>
                <a:pPr marL="171399" indent="-171399" defTabSz="914126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sz="950" dirty="0">
                    <a:solidFill>
                      <a:srgbClr val="122632"/>
                    </a:solidFill>
                    <a:ea typeface="ＭＳ Ｐゴシック" charset="0"/>
                  </a:rPr>
                  <a:t>Closing of P12 is </a:t>
                </a:r>
                <a:r>
                  <a:rPr lang="en-US" sz="950" b="1" dirty="0">
                    <a:solidFill>
                      <a:srgbClr val="122632"/>
                    </a:solidFill>
                    <a:ea typeface="ＭＳ Ｐゴシック" charset="0"/>
                  </a:rPr>
                  <a:t>based on Hybrid calendar </a:t>
                </a:r>
                <a:r>
                  <a:rPr lang="en-US" sz="950" dirty="0">
                    <a:solidFill>
                      <a:srgbClr val="122632"/>
                    </a:solidFill>
                    <a:ea typeface="ＭＳ Ｐゴシック" charset="0"/>
                  </a:rPr>
                  <a:t>(Jan 1-3 are treated as non-working days)</a:t>
                </a:r>
                <a:endParaRPr kumimoji="0" lang="ru-RU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ＭＳ Ｐゴシック" charset="0"/>
                  <a:cs typeface="+mn-cs"/>
                </a:endParaRPr>
              </a:p>
              <a:p>
                <a:pPr marL="171399" marR="0" lvl="0" indent="-171399" algn="l" defTabSz="914126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ＭＳ Ｐゴシック" charset="0"/>
                    <a:cs typeface="+mn-cs"/>
                  </a:rPr>
                  <a:t>Closing of IFRS, Statutory and Tax ledgers will be executed monthly</a:t>
                </a:r>
              </a:p>
              <a:p>
                <a:pPr marL="171399" marR="0" lvl="0" indent="-171399" algn="l" defTabSz="914126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9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ＭＳ Ｐゴシック" charset="0"/>
                    <a:cs typeface="+mn-cs"/>
                  </a:rPr>
                  <a:t>Closing of Statutory Extension Ledger S1 and Tax Extension Ledger T1 will be executed annually</a:t>
                </a:r>
                <a:endPara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52D239-65C8-5AEA-745C-90A7B88D81BD}"/>
              </a:ext>
            </a:extLst>
          </p:cNvPr>
          <p:cNvGrpSpPr/>
          <p:nvPr/>
        </p:nvGrpSpPr>
        <p:grpSpPr>
          <a:xfrm>
            <a:off x="7197836" y="1602985"/>
            <a:ext cx="2059928" cy="4389076"/>
            <a:chOff x="7297843" y="1193480"/>
            <a:chExt cx="2059928" cy="34629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8D2CBFC-4863-276C-B049-B13976979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7843" y="1193480"/>
              <a:ext cx="2059928" cy="3462931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A932636-8209-503B-B5FD-0BA4B49F7AC9}"/>
                </a:ext>
              </a:extLst>
            </p:cNvPr>
            <p:cNvSpPr/>
            <p:nvPr/>
          </p:nvSpPr>
          <p:spPr>
            <a:xfrm>
              <a:off x="7361017" y="2052668"/>
              <a:ext cx="1937125" cy="569099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t" anchorCtr="1" forceAA="0" compatLnSpc="1">
              <a:prstTxWarp prst="textNoShape">
                <a:avLst/>
              </a:prstTxWarp>
              <a:noAutofit/>
            </a:bodyPr>
            <a:lstStyle/>
            <a:p>
              <a:pPr marL="171399" marR="0" lvl="0" indent="-171399" algn="l" defTabSz="914126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122632"/>
                  </a:solidFill>
                  <a:effectLst/>
                  <a:uLnTx/>
                  <a:uFillTx/>
                  <a:latin typeface="Arial" panose="020B0604020202020204"/>
                  <a:ea typeface="ＭＳ Ｐゴシック" charset="0"/>
                  <a:cs typeface="+mn-cs"/>
                </a:rPr>
                <a:t>Financial Closing Cockpit (FCC) </a:t>
              </a:r>
              <a:r>
                <a:rPr lang="en-GB" sz="1100">
                  <a:ea typeface="ＭＳ Ｐゴシック" charset="0"/>
                </a:rPr>
                <a:t>automates closing tasks for all core ledgers.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/>
                <a:ea typeface="ＭＳ Ｐゴシック" charset="0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14F21B1-1D76-5D32-C631-9F0369906CDB}"/>
                </a:ext>
              </a:extLst>
            </p:cNvPr>
            <p:cNvSpPr txBox="1"/>
            <p:nvPr/>
          </p:nvSpPr>
          <p:spPr>
            <a:xfrm>
              <a:off x="7953792" y="3709245"/>
              <a:ext cx="1173886" cy="4278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rmAutofit/>
            </a:bodyPr>
            <a:lstStyle/>
            <a:p>
              <a:pPr marL="0" marR="0" lvl="0" indent="0" algn="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Tools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81B7FE3-CBA1-EA9A-D130-766442A532F6}"/>
              </a:ext>
            </a:extLst>
          </p:cNvPr>
          <p:cNvGrpSpPr/>
          <p:nvPr/>
        </p:nvGrpSpPr>
        <p:grpSpPr>
          <a:xfrm>
            <a:off x="9338893" y="1602985"/>
            <a:ext cx="2059928" cy="4405181"/>
            <a:chOff x="7297843" y="1193480"/>
            <a:chExt cx="2059928" cy="34629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CEAEDD7-4C77-87A1-DFF0-017E12560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7843" y="1193480"/>
              <a:ext cx="2059928" cy="3462931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8C16B5C-C120-779A-4772-A0A109C2D5A0}"/>
                </a:ext>
              </a:extLst>
            </p:cNvPr>
            <p:cNvSpPr/>
            <p:nvPr/>
          </p:nvSpPr>
          <p:spPr>
            <a:xfrm>
              <a:off x="7297843" y="2060285"/>
              <a:ext cx="1996754" cy="569099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t" anchorCtr="1" forceAA="0" compatLnSpc="1">
              <a:prstTxWarp prst="textNoShape">
                <a:avLst/>
              </a:prstTxWarp>
              <a:noAutofit/>
            </a:bodyPr>
            <a:lstStyle/>
            <a:p>
              <a:pPr marL="170815" marR="0" lvl="0" indent="-170815" algn="l" defTabSz="914126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122632"/>
                  </a:solidFill>
                  <a:effectLst/>
                  <a:uLnTx/>
                  <a:uFillTx/>
                  <a:latin typeface="Arial" panose="020B0604020202020204"/>
                  <a:ea typeface="ＭＳ Ｐゴシック" charset="0"/>
                  <a:cs typeface="+mn-cs"/>
                </a:rPr>
                <a:t>Period End Closing processes is part of Global Reference Model (GRM) . </a:t>
              </a:r>
              <a:endParaRPr lang="en-US">
                <a:cs typeface="+mn-cs"/>
              </a:endParaRPr>
            </a:p>
            <a:p>
              <a:pPr marL="170815" indent="-170815" defTabSz="914126">
                <a:spcBef>
                  <a:spcPct val="20000"/>
                </a:spcBef>
                <a:buFont typeface="Arial" panose="020B0604020202020204" pitchFamily="34" charset="0"/>
                <a:buChar char="•"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122632"/>
                  </a:solidFill>
                  <a:effectLst/>
                  <a:uLnTx/>
                  <a:uFillTx/>
                  <a:latin typeface="Arial" panose="020B0604020202020204"/>
                  <a:ea typeface="ＭＳ Ｐゴシック" charset="0"/>
                  <a:cs typeface="+mn-cs"/>
                </a:rPr>
                <a:t>Any </a:t>
              </a:r>
              <a:r>
                <a:rPr lang="en-GB" sz="1100">
                  <a:solidFill>
                    <a:srgbClr val="122632"/>
                  </a:solidFill>
                  <a:ea typeface="ＭＳ Ｐゴシック" charset="0"/>
                </a:rPr>
                <a:t>exceptions/</a:t>
              </a:r>
              <a:r>
                <a:rPr lang="en-GB" sz="1100" b="1">
                  <a:solidFill>
                    <a:srgbClr val="122632"/>
                  </a:solidFill>
                  <a:ea typeface="ＭＳ Ｐゴシック" charset="0"/>
                </a:rPr>
                <a:t>deviations from PEC GRM</a:t>
              </a:r>
              <a:r>
                <a:rPr lang="en-GB" sz="1100">
                  <a:solidFill>
                    <a:srgbClr val="122632"/>
                  </a:solidFill>
                  <a:ea typeface="ＭＳ Ｐゴシック" charset="0"/>
                </a:rPr>
                <a:t> , </a:t>
              </a: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122632"/>
                  </a:solidFill>
                  <a:effectLst/>
                  <a:uLnTx/>
                  <a:uFillTx/>
                  <a:latin typeface="Arial" panose="020B0604020202020204"/>
                  <a:ea typeface="ＭＳ Ｐゴシック" charset="0"/>
                  <a:cs typeface="+mn-cs"/>
                </a:rPr>
                <a:t>driven by legal/statutory requirements, are </a:t>
              </a: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122632"/>
                  </a:solidFill>
                  <a:effectLst/>
                  <a:uLnTx/>
                  <a:uFillTx/>
                  <a:latin typeface="Arial" panose="020B0604020202020204"/>
                  <a:ea typeface="ＭＳ Ｐゴシック" charset="0"/>
                  <a:cs typeface="+mn-cs"/>
                </a:rPr>
                <a:t>documented/approved by R2R Competency </a:t>
              </a:r>
              <a:r>
                <a:rPr kumimoji="0" lang="en-GB" sz="1100" b="1" i="0" u="none" strike="noStrike" kern="1200" cap="none" spc="0" normalizeH="0" baseline="0" noProof="0" err="1">
                  <a:ln>
                    <a:noFill/>
                  </a:ln>
                  <a:solidFill>
                    <a:srgbClr val="122632"/>
                  </a:solidFill>
                  <a:effectLst/>
                  <a:uLnTx/>
                  <a:uFillTx/>
                  <a:latin typeface="Arial" panose="020B0604020202020204"/>
                  <a:ea typeface="ＭＳ Ｐゴシック" charset="0"/>
                  <a:cs typeface="+mn-cs"/>
                </a:rPr>
                <a:t>Center</a:t>
              </a: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122632"/>
                  </a:solidFill>
                  <a:effectLst/>
                  <a:uLnTx/>
                  <a:uFillTx/>
                  <a:latin typeface="Arial" panose="020B0604020202020204"/>
                  <a:ea typeface="ＭＳ Ｐゴシック" charset="0"/>
                  <a:cs typeface="+mn-cs"/>
                </a:rPr>
                <a:t>.</a:t>
              </a:r>
              <a:endPara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/>
                <a:ea typeface="ＭＳ Ｐゴシック" charset="0"/>
                <a:cs typeface="+mn-cs"/>
              </a:endParaRPr>
            </a:p>
            <a:p>
              <a:pPr marL="170815" indent="-170815" defTabSz="914126">
                <a:spcBef>
                  <a:spcPct val="20000"/>
                </a:spcBef>
                <a:buFont typeface="Arial" panose="020B0604020202020204" pitchFamily="34" charset="0"/>
                <a:buChar char="•"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endParaRPr>
            </a:p>
            <a:p>
              <a:pPr marL="170815" marR="0" lvl="0" indent="-170815" algn="l" defTabSz="914126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lang="en-US" sz="1100" b="0" i="0" u="none" strike="noStrike" kern="1200" cap="none" spc="0" normalizeH="0" baseline="0" noProof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D5A04F8-15C6-BC56-A371-EECDCB408502}"/>
                </a:ext>
              </a:extLst>
            </p:cNvPr>
            <p:cNvSpPr txBox="1"/>
            <p:nvPr/>
          </p:nvSpPr>
          <p:spPr>
            <a:xfrm>
              <a:off x="7920287" y="3709245"/>
              <a:ext cx="1173886" cy="4278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rmAutofit/>
            </a:bodyPr>
            <a:lstStyle/>
            <a:p>
              <a:pPr marL="0" marR="0" lvl="0" indent="0" algn="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Governance</a:t>
              </a: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8F0DEDDE-A54C-351B-3308-8DE0780665C6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GlowEdges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320" y="1667050"/>
            <a:ext cx="749135" cy="8051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ED2762-3C21-D470-702D-A6773D42078B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9083" y="1728285"/>
            <a:ext cx="958518" cy="637455"/>
          </a:xfrm>
          <a:prstGeom prst="rect">
            <a:avLst/>
          </a:prstGeom>
        </p:spPr>
      </p:pic>
      <p:sp>
        <p:nvSpPr>
          <p:cNvPr id="30" name="Shape 598">
            <a:extLst>
              <a:ext uri="{FF2B5EF4-FFF2-40B4-BE49-F238E27FC236}">
                <a16:creationId xmlns:a16="http://schemas.microsoft.com/office/drawing/2014/main" id="{C521B92C-A20F-FF39-F9E6-16FB029F12DE}"/>
              </a:ext>
            </a:extLst>
          </p:cNvPr>
          <p:cNvSpPr/>
          <p:nvPr/>
        </p:nvSpPr>
        <p:spPr>
          <a:xfrm>
            <a:off x="7895706" y="1756593"/>
            <a:ext cx="675021" cy="6087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81" y="16167"/>
                </a:moveTo>
                <a:cubicBezTo>
                  <a:pt x="21481" y="19745"/>
                  <a:pt x="21481" y="19745"/>
                  <a:pt x="21481" y="19745"/>
                </a:cubicBezTo>
                <a:cubicBezTo>
                  <a:pt x="21481" y="20805"/>
                  <a:pt x="20765" y="21600"/>
                  <a:pt x="19929" y="21600"/>
                </a:cubicBezTo>
                <a:cubicBezTo>
                  <a:pt x="1671" y="21600"/>
                  <a:pt x="1671" y="21600"/>
                  <a:pt x="1671" y="21600"/>
                </a:cubicBezTo>
                <a:cubicBezTo>
                  <a:pt x="835" y="21600"/>
                  <a:pt x="119" y="20805"/>
                  <a:pt x="119" y="19745"/>
                </a:cubicBezTo>
                <a:cubicBezTo>
                  <a:pt x="119" y="16167"/>
                  <a:pt x="119" y="16167"/>
                  <a:pt x="119" y="16167"/>
                </a:cubicBezTo>
                <a:cubicBezTo>
                  <a:pt x="1790" y="16167"/>
                  <a:pt x="1790" y="16167"/>
                  <a:pt x="1790" y="16167"/>
                </a:cubicBezTo>
                <a:cubicBezTo>
                  <a:pt x="1790" y="17625"/>
                  <a:pt x="1790" y="17625"/>
                  <a:pt x="1790" y="17625"/>
                </a:cubicBezTo>
                <a:cubicBezTo>
                  <a:pt x="4057" y="17625"/>
                  <a:pt x="4057" y="17625"/>
                  <a:pt x="4057" y="17625"/>
                </a:cubicBezTo>
                <a:cubicBezTo>
                  <a:pt x="4057" y="16167"/>
                  <a:pt x="4057" y="16167"/>
                  <a:pt x="4057" y="16167"/>
                </a:cubicBezTo>
                <a:cubicBezTo>
                  <a:pt x="5012" y="16167"/>
                  <a:pt x="5012" y="16167"/>
                  <a:pt x="5012" y="16167"/>
                </a:cubicBezTo>
                <a:cubicBezTo>
                  <a:pt x="5012" y="17625"/>
                  <a:pt x="5012" y="17625"/>
                  <a:pt x="5012" y="17625"/>
                </a:cubicBezTo>
                <a:cubicBezTo>
                  <a:pt x="7280" y="17625"/>
                  <a:pt x="7280" y="17625"/>
                  <a:pt x="7280" y="17625"/>
                </a:cubicBezTo>
                <a:cubicBezTo>
                  <a:pt x="7280" y="16167"/>
                  <a:pt x="7280" y="16167"/>
                  <a:pt x="7280" y="16167"/>
                </a:cubicBezTo>
                <a:cubicBezTo>
                  <a:pt x="8354" y="16167"/>
                  <a:pt x="8354" y="16167"/>
                  <a:pt x="8354" y="16167"/>
                </a:cubicBezTo>
                <a:cubicBezTo>
                  <a:pt x="8354" y="17625"/>
                  <a:pt x="8354" y="17625"/>
                  <a:pt x="8354" y="17625"/>
                </a:cubicBezTo>
                <a:cubicBezTo>
                  <a:pt x="10621" y="17625"/>
                  <a:pt x="10621" y="17625"/>
                  <a:pt x="10621" y="17625"/>
                </a:cubicBezTo>
                <a:cubicBezTo>
                  <a:pt x="10621" y="16167"/>
                  <a:pt x="10621" y="16167"/>
                  <a:pt x="10621" y="16167"/>
                </a:cubicBezTo>
                <a:cubicBezTo>
                  <a:pt x="11695" y="16167"/>
                  <a:pt x="11695" y="16167"/>
                  <a:pt x="11695" y="16167"/>
                </a:cubicBezTo>
                <a:cubicBezTo>
                  <a:pt x="11695" y="17625"/>
                  <a:pt x="11695" y="17625"/>
                  <a:pt x="11695" y="17625"/>
                </a:cubicBezTo>
                <a:cubicBezTo>
                  <a:pt x="13843" y="17625"/>
                  <a:pt x="13843" y="17625"/>
                  <a:pt x="13843" y="17625"/>
                </a:cubicBezTo>
                <a:cubicBezTo>
                  <a:pt x="13843" y="16167"/>
                  <a:pt x="13843" y="16167"/>
                  <a:pt x="13843" y="16167"/>
                </a:cubicBezTo>
                <a:cubicBezTo>
                  <a:pt x="14798" y="16167"/>
                  <a:pt x="14798" y="16167"/>
                  <a:pt x="14798" y="16167"/>
                </a:cubicBezTo>
                <a:cubicBezTo>
                  <a:pt x="14798" y="17625"/>
                  <a:pt x="14798" y="17625"/>
                  <a:pt x="14798" y="17625"/>
                </a:cubicBezTo>
                <a:cubicBezTo>
                  <a:pt x="16946" y="17625"/>
                  <a:pt x="16946" y="17625"/>
                  <a:pt x="16946" y="17625"/>
                </a:cubicBezTo>
                <a:cubicBezTo>
                  <a:pt x="16946" y="16167"/>
                  <a:pt x="16946" y="16167"/>
                  <a:pt x="16946" y="16167"/>
                </a:cubicBezTo>
                <a:cubicBezTo>
                  <a:pt x="18020" y="16167"/>
                  <a:pt x="18020" y="16167"/>
                  <a:pt x="18020" y="16167"/>
                </a:cubicBezTo>
                <a:cubicBezTo>
                  <a:pt x="18020" y="17625"/>
                  <a:pt x="18020" y="17625"/>
                  <a:pt x="18020" y="17625"/>
                </a:cubicBezTo>
                <a:cubicBezTo>
                  <a:pt x="20287" y="17625"/>
                  <a:pt x="20287" y="17625"/>
                  <a:pt x="20287" y="17625"/>
                </a:cubicBezTo>
                <a:cubicBezTo>
                  <a:pt x="20287" y="16167"/>
                  <a:pt x="20287" y="16167"/>
                  <a:pt x="20287" y="16167"/>
                </a:cubicBezTo>
                <a:cubicBezTo>
                  <a:pt x="21481" y="16167"/>
                  <a:pt x="21481" y="16167"/>
                  <a:pt x="21481" y="16167"/>
                </a:cubicBezTo>
                <a:close/>
                <a:moveTo>
                  <a:pt x="0" y="0"/>
                </a:moveTo>
                <a:cubicBezTo>
                  <a:pt x="21600" y="0"/>
                  <a:pt x="21600" y="0"/>
                  <a:pt x="21600" y="0"/>
                </a:cubicBezTo>
                <a:cubicBezTo>
                  <a:pt x="21600" y="15107"/>
                  <a:pt x="21600" y="15107"/>
                  <a:pt x="21600" y="15107"/>
                </a:cubicBezTo>
                <a:cubicBezTo>
                  <a:pt x="0" y="15107"/>
                  <a:pt x="0" y="15107"/>
                  <a:pt x="0" y="15107"/>
                </a:cubicBezTo>
                <a:cubicBezTo>
                  <a:pt x="0" y="0"/>
                  <a:pt x="0" y="0"/>
                  <a:pt x="0" y="0"/>
                </a:cubicBezTo>
                <a:close/>
                <a:moveTo>
                  <a:pt x="20168" y="5301"/>
                </a:moveTo>
                <a:cubicBezTo>
                  <a:pt x="20168" y="9939"/>
                  <a:pt x="20168" y="9939"/>
                  <a:pt x="20168" y="9939"/>
                </a:cubicBezTo>
                <a:cubicBezTo>
                  <a:pt x="20765" y="9939"/>
                  <a:pt x="20765" y="9939"/>
                  <a:pt x="20765" y="9939"/>
                </a:cubicBezTo>
                <a:cubicBezTo>
                  <a:pt x="20765" y="5301"/>
                  <a:pt x="20765" y="5301"/>
                  <a:pt x="20765" y="5301"/>
                </a:cubicBezTo>
                <a:cubicBezTo>
                  <a:pt x="20168" y="5301"/>
                  <a:pt x="20168" y="5301"/>
                  <a:pt x="20168" y="5301"/>
                </a:cubicBezTo>
                <a:close/>
                <a:moveTo>
                  <a:pt x="1313" y="9541"/>
                </a:moveTo>
                <a:cubicBezTo>
                  <a:pt x="1313" y="11794"/>
                  <a:pt x="1313" y="11794"/>
                  <a:pt x="1313" y="11794"/>
                </a:cubicBezTo>
                <a:cubicBezTo>
                  <a:pt x="2148" y="11794"/>
                  <a:pt x="2148" y="11794"/>
                  <a:pt x="2148" y="11794"/>
                </a:cubicBezTo>
                <a:cubicBezTo>
                  <a:pt x="2148" y="9541"/>
                  <a:pt x="2148" y="9541"/>
                  <a:pt x="2148" y="9541"/>
                </a:cubicBezTo>
                <a:cubicBezTo>
                  <a:pt x="1313" y="9541"/>
                  <a:pt x="1313" y="9541"/>
                  <a:pt x="1313" y="9541"/>
                </a:cubicBezTo>
                <a:close/>
                <a:moveTo>
                  <a:pt x="716" y="6493"/>
                </a:moveTo>
                <a:cubicBezTo>
                  <a:pt x="716" y="8746"/>
                  <a:pt x="716" y="8746"/>
                  <a:pt x="716" y="8746"/>
                </a:cubicBezTo>
                <a:cubicBezTo>
                  <a:pt x="2864" y="8746"/>
                  <a:pt x="2864" y="8746"/>
                  <a:pt x="2864" y="8746"/>
                </a:cubicBezTo>
                <a:cubicBezTo>
                  <a:pt x="2864" y="6493"/>
                  <a:pt x="2864" y="6493"/>
                  <a:pt x="2864" y="6493"/>
                </a:cubicBezTo>
                <a:cubicBezTo>
                  <a:pt x="716" y="6493"/>
                  <a:pt x="716" y="6493"/>
                  <a:pt x="716" y="6493"/>
                </a:cubicBezTo>
                <a:close/>
                <a:moveTo>
                  <a:pt x="1313" y="3710"/>
                </a:moveTo>
                <a:cubicBezTo>
                  <a:pt x="1313" y="6096"/>
                  <a:pt x="1313" y="6096"/>
                  <a:pt x="1313" y="6096"/>
                </a:cubicBezTo>
                <a:cubicBezTo>
                  <a:pt x="2148" y="6096"/>
                  <a:pt x="2148" y="6096"/>
                  <a:pt x="2148" y="6096"/>
                </a:cubicBezTo>
                <a:cubicBezTo>
                  <a:pt x="2148" y="3710"/>
                  <a:pt x="2148" y="3710"/>
                  <a:pt x="2148" y="3710"/>
                </a:cubicBezTo>
                <a:cubicBezTo>
                  <a:pt x="1313" y="3710"/>
                  <a:pt x="1313" y="3710"/>
                  <a:pt x="1313" y="3710"/>
                </a:cubicBezTo>
                <a:close/>
                <a:moveTo>
                  <a:pt x="3461" y="1325"/>
                </a:moveTo>
                <a:cubicBezTo>
                  <a:pt x="3461" y="13649"/>
                  <a:pt x="3461" y="13649"/>
                  <a:pt x="3461" y="13649"/>
                </a:cubicBezTo>
                <a:cubicBezTo>
                  <a:pt x="19571" y="13649"/>
                  <a:pt x="19571" y="13649"/>
                  <a:pt x="19571" y="13649"/>
                </a:cubicBezTo>
                <a:cubicBezTo>
                  <a:pt x="19571" y="1325"/>
                  <a:pt x="19571" y="1325"/>
                  <a:pt x="19571" y="1325"/>
                </a:cubicBezTo>
                <a:cubicBezTo>
                  <a:pt x="3461" y="1325"/>
                  <a:pt x="3461" y="1325"/>
                  <a:pt x="3461" y="1325"/>
                </a:cubicBezTo>
                <a:close/>
                <a:moveTo>
                  <a:pt x="18020" y="18287"/>
                </a:moveTo>
                <a:cubicBezTo>
                  <a:pt x="18020" y="19877"/>
                  <a:pt x="18020" y="19877"/>
                  <a:pt x="18020" y="19877"/>
                </a:cubicBezTo>
                <a:cubicBezTo>
                  <a:pt x="20287" y="19877"/>
                  <a:pt x="20287" y="19877"/>
                  <a:pt x="20287" y="19877"/>
                </a:cubicBezTo>
                <a:cubicBezTo>
                  <a:pt x="20287" y="18287"/>
                  <a:pt x="20287" y="18287"/>
                  <a:pt x="20287" y="18287"/>
                </a:cubicBezTo>
                <a:cubicBezTo>
                  <a:pt x="18020" y="18287"/>
                  <a:pt x="18020" y="18287"/>
                  <a:pt x="18020" y="18287"/>
                </a:cubicBezTo>
                <a:close/>
                <a:moveTo>
                  <a:pt x="5012" y="18287"/>
                </a:moveTo>
                <a:cubicBezTo>
                  <a:pt x="5012" y="19877"/>
                  <a:pt x="5012" y="19877"/>
                  <a:pt x="5012" y="19877"/>
                </a:cubicBezTo>
                <a:cubicBezTo>
                  <a:pt x="16946" y="19877"/>
                  <a:pt x="16946" y="19877"/>
                  <a:pt x="16946" y="19877"/>
                </a:cubicBezTo>
                <a:cubicBezTo>
                  <a:pt x="16946" y="18287"/>
                  <a:pt x="16946" y="18287"/>
                  <a:pt x="16946" y="18287"/>
                </a:cubicBezTo>
                <a:cubicBezTo>
                  <a:pt x="5012" y="18287"/>
                  <a:pt x="5012" y="18287"/>
                  <a:pt x="5012" y="18287"/>
                </a:cubicBezTo>
                <a:close/>
                <a:moveTo>
                  <a:pt x="1790" y="18287"/>
                </a:moveTo>
                <a:cubicBezTo>
                  <a:pt x="1790" y="19877"/>
                  <a:pt x="1790" y="19877"/>
                  <a:pt x="1790" y="19877"/>
                </a:cubicBezTo>
                <a:cubicBezTo>
                  <a:pt x="4057" y="19877"/>
                  <a:pt x="4057" y="19877"/>
                  <a:pt x="4057" y="19877"/>
                </a:cubicBezTo>
                <a:cubicBezTo>
                  <a:pt x="4057" y="18287"/>
                  <a:pt x="4057" y="18287"/>
                  <a:pt x="4057" y="18287"/>
                </a:cubicBezTo>
                <a:lnTo>
                  <a:pt x="1790" y="18287"/>
                </a:lnTo>
                <a:close/>
              </a:path>
            </a:pathLst>
          </a:cu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tIns="91439" bIns="9143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endParaRPr kumimoji="0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sym typeface="Trebuchet MS"/>
            </a:endParaRPr>
          </a:p>
        </p:txBody>
      </p:sp>
      <p:sp>
        <p:nvSpPr>
          <p:cNvPr id="31" name="Shape 492">
            <a:extLst>
              <a:ext uri="{FF2B5EF4-FFF2-40B4-BE49-F238E27FC236}">
                <a16:creationId xmlns:a16="http://schemas.microsoft.com/office/drawing/2014/main" id="{69BDA75C-2E36-B2AE-263A-39ACBC9E744B}"/>
              </a:ext>
            </a:extLst>
          </p:cNvPr>
          <p:cNvSpPr/>
          <p:nvPr/>
        </p:nvSpPr>
        <p:spPr>
          <a:xfrm>
            <a:off x="10040475" y="1725667"/>
            <a:ext cx="564679" cy="6868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34" h="21524" extrusionOk="0">
                <a:moveTo>
                  <a:pt x="6130" y="0"/>
                </a:moveTo>
                <a:cubicBezTo>
                  <a:pt x="17514" y="0"/>
                  <a:pt x="17514" y="0"/>
                  <a:pt x="17514" y="0"/>
                </a:cubicBezTo>
                <a:cubicBezTo>
                  <a:pt x="18681" y="0"/>
                  <a:pt x="19265" y="223"/>
                  <a:pt x="19849" y="668"/>
                </a:cubicBezTo>
                <a:cubicBezTo>
                  <a:pt x="20432" y="1113"/>
                  <a:pt x="21016" y="1781"/>
                  <a:pt x="21016" y="2449"/>
                </a:cubicBezTo>
                <a:cubicBezTo>
                  <a:pt x="21016" y="12470"/>
                  <a:pt x="21016" y="12470"/>
                  <a:pt x="21016" y="12470"/>
                </a:cubicBezTo>
                <a:cubicBezTo>
                  <a:pt x="20724" y="12247"/>
                  <a:pt x="20432" y="11802"/>
                  <a:pt x="20432" y="11579"/>
                </a:cubicBezTo>
                <a:cubicBezTo>
                  <a:pt x="19849" y="11134"/>
                  <a:pt x="19265" y="10689"/>
                  <a:pt x="18389" y="10466"/>
                </a:cubicBezTo>
                <a:cubicBezTo>
                  <a:pt x="18389" y="2449"/>
                  <a:pt x="18389" y="2449"/>
                  <a:pt x="18389" y="2449"/>
                </a:cubicBezTo>
                <a:cubicBezTo>
                  <a:pt x="18389" y="2227"/>
                  <a:pt x="18389" y="2004"/>
                  <a:pt x="18097" y="2004"/>
                </a:cubicBezTo>
                <a:cubicBezTo>
                  <a:pt x="18097" y="1781"/>
                  <a:pt x="17805" y="1781"/>
                  <a:pt x="17514" y="1781"/>
                </a:cubicBezTo>
                <a:cubicBezTo>
                  <a:pt x="7297" y="1781"/>
                  <a:pt x="7297" y="1781"/>
                  <a:pt x="7297" y="1781"/>
                </a:cubicBezTo>
                <a:cubicBezTo>
                  <a:pt x="7589" y="2449"/>
                  <a:pt x="7589" y="2449"/>
                  <a:pt x="7589" y="2449"/>
                </a:cubicBezTo>
                <a:cubicBezTo>
                  <a:pt x="7589" y="3118"/>
                  <a:pt x="7589" y="3118"/>
                  <a:pt x="7589" y="3118"/>
                </a:cubicBezTo>
                <a:cubicBezTo>
                  <a:pt x="7589" y="3563"/>
                  <a:pt x="7589" y="3786"/>
                  <a:pt x="7589" y="4008"/>
                </a:cubicBezTo>
                <a:cubicBezTo>
                  <a:pt x="7589" y="4231"/>
                  <a:pt x="7297" y="4676"/>
                  <a:pt x="6714" y="4899"/>
                </a:cubicBezTo>
                <a:cubicBezTo>
                  <a:pt x="6422" y="5122"/>
                  <a:pt x="6130" y="5344"/>
                  <a:pt x="5546" y="5344"/>
                </a:cubicBezTo>
                <a:cubicBezTo>
                  <a:pt x="5254" y="5344"/>
                  <a:pt x="4962" y="5344"/>
                  <a:pt x="4670" y="5344"/>
                </a:cubicBezTo>
                <a:cubicBezTo>
                  <a:pt x="3503" y="5344"/>
                  <a:pt x="3503" y="5344"/>
                  <a:pt x="3503" y="5344"/>
                </a:cubicBezTo>
                <a:cubicBezTo>
                  <a:pt x="2335" y="5122"/>
                  <a:pt x="2335" y="5122"/>
                  <a:pt x="2335" y="5122"/>
                </a:cubicBezTo>
                <a:cubicBezTo>
                  <a:pt x="2335" y="17592"/>
                  <a:pt x="2335" y="17592"/>
                  <a:pt x="2335" y="17592"/>
                </a:cubicBezTo>
                <a:cubicBezTo>
                  <a:pt x="2335" y="17814"/>
                  <a:pt x="2627" y="17814"/>
                  <a:pt x="2627" y="18037"/>
                </a:cubicBezTo>
                <a:cubicBezTo>
                  <a:pt x="2627" y="18037"/>
                  <a:pt x="2627" y="18037"/>
                  <a:pt x="2627" y="18037"/>
                </a:cubicBezTo>
                <a:cubicBezTo>
                  <a:pt x="2919" y="18037"/>
                  <a:pt x="2919" y="18260"/>
                  <a:pt x="3211" y="18260"/>
                </a:cubicBezTo>
                <a:cubicBezTo>
                  <a:pt x="8173" y="18260"/>
                  <a:pt x="8173" y="18260"/>
                  <a:pt x="8173" y="18260"/>
                </a:cubicBezTo>
                <a:cubicBezTo>
                  <a:pt x="8173" y="18260"/>
                  <a:pt x="8465" y="18482"/>
                  <a:pt x="8465" y="18705"/>
                </a:cubicBezTo>
                <a:cubicBezTo>
                  <a:pt x="9049" y="19151"/>
                  <a:pt x="9924" y="19596"/>
                  <a:pt x="10800" y="20041"/>
                </a:cubicBezTo>
                <a:cubicBezTo>
                  <a:pt x="3211" y="20041"/>
                  <a:pt x="3211" y="20041"/>
                  <a:pt x="3211" y="20041"/>
                </a:cubicBezTo>
                <a:cubicBezTo>
                  <a:pt x="2335" y="20041"/>
                  <a:pt x="1459" y="19819"/>
                  <a:pt x="876" y="19373"/>
                </a:cubicBezTo>
                <a:cubicBezTo>
                  <a:pt x="876" y="19373"/>
                  <a:pt x="876" y="19373"/>
                  <a:pt x="876" y="19373"/>
                </a:cubicBezTo>
                <a:cubicBezTo>
                  <a:pt x="876" y="19373"/>
                  <a:pt x="876" y="19373"/>
                  <a:pt x="876" y="19373"/>
                </a:cubicBezTo>
                <a:cubicBezTo>
                  <a:pt x="292" y="18928"/>
                  <a:pt x="0" y="18260"/>
                  <a:pt x="0" y="17592"/>
                </a:cubicBezTo>
                <a:cubicBezTo>
                  <a:pt x="0" y="4454"/>
                  <a:pt x="0" y="4454"/>
                  <a:pt x="0" y="4454"/>
                </a:cubicBezTo>
                <a:cubicBezTo>
                  <a:pt x="0" y="4008"/>
                  <a:pt x="0" y="4008"/>
                  <a:pt x="0" y="4008"/>
                </a:cubicBezTo>
                <a:cubicBezTo>
                  <a:pt x="292" y="3786"/>
                  <a:pt x="292" y="3786"/>
                  <a:pt x="292" y="3786"/>
                </a:cubicBezTo>
                <a:cubicBezTo>
                  <a:pt x="5254" y="223"/>
                  <a:pt x="5254" y="223"/>
                  <a:pt x="5254" y="223"/>
                </a:cubicBezTo>
                <a:cubicBezTo>
                  <a:pt x="5546" y="0"/>
                  <a:pt x="5546" y="0"/>
                  <a:pt x="5546" y="0"/>
                </a:cubicBezTo>
                <a:cubicBezTo>
                  <a:pt x="6130" y="0"/>
                  <a:pt x="6130" y="0"/>
                  <a:pt x="6130" y="0"/>
                </a:cubicBezTo>
                <a:close/>
                <a:moveTo>
                  <a:pt x="4962" y="11579"/>
                </a:moveTo>
                <a:cubicBezTo>
                  <a:pt x="4962" y="12470"/>
                  <a:pt x="4962" y="12470"/>
                  <a:pt x="4962" y="12470"/>
                </a:cubicBezTo>
                <a:cubicBezTo>
                  <a:pt x="7881" y="12470"/>
                  <a:pt x="7881" y="12470"/>
                  <a:pt x="7881" y="12470"/>
                </a:cubicBezTo>
                <a:cubicBezTo>
                  <a:pt x="7881" y="11579"/>
                  <a:pt x="7881" y="11579"/>
                  <a:pt x="7881" y="11579"/>
                </a:cubicBezTo>
                <a:cubicBezTo>
                  <a:pt x="4962" y="11579"/>
                  <a:pt x="4962" y="11579"/>
                  <a:pt x="4962" y="11579"/>
                </a:cubicBezTo>
                <a:close/>
                <a:moveTo>
                  <a:pt x="4962" y="8907"/>
                </a:moveTo>
                <a:cubicBezTo>
                  <a:pt x="4962" y="9798"/>
                  <a:pt x="4962" y="9798"/>
                  <a:pt x="4962" y="9798"/>
                </a:cubicBezTo>
                <a:cubicBezTo>
                  <a:pt x="16346" y="9798"/>
                  <a:pt x="16346" y="9798"/>
                  <a:pt x="16346" y="9798"/>
                </a:cubicBezTo>
                <a:cubicBezTo>
                  <a:pt x="16346" y="8907"/>
                  <a:pt x="16346" y="8907"/>
                  <a:pt x="16346" y="8907"/>
                </a:cubicBezTo>
                <a:cubicBezTo>
                  <a:pt x="4962" y="8907"/>
                  <a:pt x="4962" y="8907"/>
                  <a:pt x="4962" y="8907"/>
                </a:cubicBezTo>
                <a:close/>
                <a:moveTo>
                  <a:pt x="4962" y="6235"/>
                </a:moveTo>
                <a:cubicBezTo>
                  <a:pt x="4962" y="7348"/>
                  <a:pt x="4962" y="7348"/>
                  <a:pt x="4962" y="7348"/>
                </a:cubicBezTo>
                <a:cubicBezTo>
                  <a:pt x="16346" y="7348"/>
                  <a:pt x="16346" y="7348"/>
                  <a:pt x="16346" y="7348"/>
                </a:cubicBezTo>
                <a:cubicBezTo>
                  <a:pt x="16346" y="6235"/>
                  <a:pt x="16346" y="6235"/>
                  <a:pt x="16346" y="6235"/>
                </a:cubicBezTo>
                <a:cubicBezTo>
                  <a:pt x="4962" y="6235"/>
                  <a:pt x="4962" y="6235"/>
                  <a:pt x="4962" y="6235"/>
                </a:cubicBezTo>
                <a:close/>
                <a:moveTo>
                  <a:pt x="9924" y="3786"/>
                </a:moveTo>
                <a:cubicBezTo>
                  <a:pt x="9924" y="4899"/>
                  <a:pt x="9924" y="4899"/>
                  <a:pt x="9924" y="4899"/>
                </a:cubicBezTo>
                <a:cubicBezTo>
                  <a:pt x="16346" y="4899"/>
                  <a:pt x="16346" y="4899"/>
                  <a:pt x="16346" y="4899"/>
                </a:cubicBezTo>
                <a:cubicBezTo>
                  <a:pt x="16346" y="3786"/>
                  <a:pt x="16346" y="3786"/>
                  <a:pt x="16346" y="3786"/>
                </a:cubicBezTo>
                <a:cubicBezTo>
                  <a:pt x="9924" y="3786"/>
                  <a:pt x="9924" y="3786"/>
                  <a:pt x="9924" y="3786"/>
                </a:cubicBezTo>
                <a:close/>
                <a:moveTo>
                  <a:pt x="11968" y="15365"/>
                </a:moveTo>
                <a:cubicBezTo>
                  <a:pt x="12551" y="14252"/>
                  <a:pt x="14011" y="13584"/>
                  <a:pt x="16054" y="13361"/>
                </a:cubicBezTo>
                <a:cubicBezTo>
                  <a:pt x="14011" y="12470"/>
                  <a:pt x="11384" y="13806"/>
                  <a:pt x="11968" y="15365"/>
                </a:cubicBezTo>
                <a:close/>
                <a:moveTo>
                  <a:pt x="11092" y="12025"/>
                </a:moveTo>
                <a:cubicBezTo>
                  <a:pt x="9924" y="12693"/>
                  <a:pt x="9341" y="13584"/>
                  <a:pt x="9049" y="14697"/>
                </a:cubicBezTo>
                <a:cubicBezTo>
                  <a:pt x="9049" y="15588"/>
                  <a:pt x="9341" y="16701"/>
                  <a:pt x="10216" y="17592"/>
                </a:cubicBezTo>
                <a:cubicBezTo>
                  <a:pt x="11092" y="18482"/>
                  <a:pt x="12551" y="19151"/>
                  <a:pt x="13719" y="19151"/>
                </a:cubicBezTo>
                <a:cubicBezTo>
                  <a:pt x="14886" y="19373"/>
                  <a:pt x="16054" y="19151"/>
                  <a:pt x="16930" y="18705"/>
                </a:cubicBezTo>
                <a:cubicBezTo>
                  <a:pt x="16930" y="18928"/>
                  <a:pt x="16930" y="19151"/>
                  <a:pt x="17222" y="19373"/>
                </a:cubicBezTo>
                <a:cubicBezTo>
                  <a:pt x="18973" y="21155"/>
                  <a:pt x="18973" y="21155"/>
                  <a:pt x="18973" y="21155"/>
                </a:cubicBezTo>
                <a:cubicBezTo>
                  <a:pt x="19557" y="21600"/>
                  <a:pt x="20141" y="21600"/>
                  <a:pt x="20724" y="21377"/>
                </a:cubicBezTo>
                <a:cubicBezTo>
                  <a:pt x="20724" y="21377"/>
                  <a:pt x="20724" y="21377"/>
                  <a:pt x="20724" y="21377"/>
                </a:cubicBezTo>
                <a:cubicBezTo>
                  <a:pt x="21308" y="20932"/>
                  <a:pt x="21600" y="20264"/>
                  <a:pt x="21016" y="20041"/>
                </a:cubicBezTo>
                <a:cubicBezTo>
                  <a:pt x="19265" y="18260"/>
                  <a:pt x="19265" y="18260"/>
                  <a:pt x="19265" y="18260"/>
                </a:cubicBezTo>
                <a:cubicBezTo>
                  <a:pt x="18973" y="18037"/>
                  <a:pt x="18681" y="17814"/>
                  <a:pt x="18389" y="17814"/>
                </a:cubicBezTo>
                <a:cubicBezTo>
                  <a:pt x="19265" y="17146"/>
                  <a:pt x="19557" y="16478"/>
                  <a:pt x="19849" y="15588"/>
                </a:cubicBezTo>
                <a:cubicBezTo>
                  <a:pt x="19849" y="14697"/>
                  <a:pt x="19557" y="13584"/>
                  <a:pt x="18681" y="12693"/>
                </a:cubicBezTo>
                <a:cubicBezTo>
                  <a:pt x="17805" y="11802"/>
                  <a:pt x="16346" y="11134"/>
                  <a:pt x="15178" y="11134"/>
                </a:cubicBezTo>
                <a:cubicBezTo>
                  <a:pt x="13719" y="10911"/>
                  <a:pt x="12259" y="11134"/>
                  <a:pt x="11092" y="12025"/>
                </a:cubicBezTo>
                <a:close/>
                <a:moveTo>
                  <a:pt x="14886" y="12470"/>
                </a:moveTo>
                <a:cubicBezTo>
                  <a:pt x="14011" y="12470"/>
                  <a:pt x="13135" y="12470"/>
                  <a:pt x="12259" y="12915"/>
                </a:cubicBezTo>
                <a:cubicBezTo>
                  <a:pt x="11384" y="13584"/>
                  <a:pt x="11092" y="14029"/>
                  <a:pt x="10800" y="14920"/>
                </a:cubicBezTo>
                <a:cubicBezTo>
                  <a:pt x="10800" y="15588"/>
                  <a:pt x="11092" y="16256"/>
                  <a:pt x="11676" y="16924"/>
                </a:cubicBezTo>
                <a:cubicBezTo>
                  <a:pt x="12259" y="17369"/>
                  <a:pt x="13135" y="17814"/>
                  <a:pt x="14011" y="17814"/>
                </a:cubicBezTo>
                <a:cubicBezTo>
                  <a:pt x="14886" y="17814"/>
                  <a:pt x="15762" y="17814"/>
                  <a:pt x="16638" y="17369"/>
                </a:cubicBezTo>
                <a:cubicBezTo>
                  <a:pt x="17514" y="16924"/>
                  <a:pt x="17805" y="16256"/>
                  <a:pt x="17805" y="15365"/>
                </a:cubicBezTo>
                <a:cubicBezTo>
                  <a:pt x="18097" y="14697"/>
                  <a:pt x="17805" y="14029"/>
                  <a:pt x="17222" y="13584"/>
                </a:cubicBezTo>
                <a:cubicBezTo>
                  <a:pt x="16638" y="12915"/>
                  <a:pt x="15762" y="12470"/>
                  <a:pt x="14886" y="12470"/>
                </a:cubicBezTo>
                <a:close/>
                <a:moveTo>
                  <a:pt x="6130" y="2004"/>
                </a:moveTo>
                <a:cubicBezTo>
                  <a:pt x="3211" y="4231"/>
                  <a:pt x="3211" y="4231"/>
                  <a:pt x="3211" y="4231"/>
                </a:cubicBezTo>
                <a:cubicBezTo>
                  <a:pt x="3795" y="4231"/>
                  <a:pt x="3795" y="4231"/>
                  <a:pt x="3795" y="4231"/>
                </a:cubicBezTo>
                <a:cubicBezTo>
                  <a:pt x="4962" y="4454"/>
                  <a:pt x="4962" y="4454"/>
                  <a:pt x="4962" y="4454"/>
                </a:cubicBezTo>
                <a:cubicBezTo>
                  <a:pt x="4962" y="4454"/>
                  <a:pt x="4962" y="4454"/>
                  <a:pt x="4962" y="4454"/>
                </a:cubicBezTo>
                <a:cubicBezTo>
                  <a:pt x="4962" y="4454"/>
                  <a:pt x="4962" y="4454"/>
                  <a:pt x="4962" y="4454"/>
                </a:cubicBezTo>
                <a:cubicBezTo>
                  <a:pt x="4962" y="4454"/>
                  <a:pt x="5254" y="4454"/>
                  <a:pt x="5254" y="4454"/>
                </a:cubicBezTo>
                <a:cubicBezTo>
                  <a:pt x="5546" y="4454"/>
                  <a:pt x="5838" y="4231"/>
                  <a:pt x="6130" y="4231"/>
                </a:cubicBezTo>
                <a:cubicBezTo>
                  <a:pt x="6130" y="4008"/>
                  <a:pt x="6422" y="3786"/>
                  <a:pt x="6422" y="3786"/>
                </a:cubicBezTo>
                <a:cubicBezTo>
                  <a:pt x="6422" y="3563"/>
                  <a:pt x="6422" y="3563"/>
                  <a:pt x="6422" y="3340"/>
                </a:cubicBezTo>
                <a:cubicBezTo>
                  <a:pt x="6422" y="3340"/>
                  <a:pt x="6422" y="3340"/>
                  <a:pt x="6422" y="3340"/>
                </a:cubicBezTo>
                <a:cubicBezTo>
                  <a:pt x="6422" y="3340"/>
                  <a:pt x="6422" y="3340"/>
                  <a:pt x="6422" y="3340"/>
                </a:cubicBezTo>
                <a:cubicBezTo>
                  <a:pt x="6130" y="2449"/>
                  <a:pt x="6130" y="2449"/>
                  <a:pt x="6130" y="2449"/>
                </a:cubicBezTo>
                <a:lnTo>
                  <a:pt x="6130" y="2004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tIns="91439" bIns="9143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latin typeface="Trebuchet MS"/>
                <a:ea typeface="Trebuchet MS"/>
                <a:cs typeface="Trebuchet MS"/>
                <a:sym typeface="Trebuchet MS"/>
              </a:defRPr>
            </a:pPr>
            <a:endParaRPr kumimoji="0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31542764"/>
      </p:ext>
    </p:extLst>
  </p:cSld>
  <p:clrMapOvr>
    <a:masterClrMapping/>
  </p:clrMapOvr>
</p:sld>
</file>

<file path=ppt/theme/theme1.xml><?xml version="1.0" encoding="utf-8"?>
<a:theme xmlns:a="http://schemas.openxmlformats.org/drawingml/2006/main" name="1_S4F-ERP Clean IFRS Stat &amp; Tax Rep">
  <a:themeElements>
    <a:clrScheme name="Custom 9">
      <a:dk1>
        <a:srgbClr val="000000"/>
      </a:dk1>
      <a:lt1>
        <a:srgbClr val="FFFFFF"/>
      </a:lt1>
      <a:dk2>
        <a:srgbClr val="1A3040"/>
      </a:dk2>
      <a:lt2>
        <a:srgbClr val="DDDDDD"/>
      </a:lt2>
      <a:accent1>
        <a:srgbClr val="74D9D5"/>
      </a:accent1>
      <a:accent2>
        <a:srgbClr val="EAAA00"/>
      </a:accent2>
      <a:accent3>
        <a:srgbClr val="00B2A9"/>
      </a:accent3>
      <a:accent4>
        <a:srgbClr val="8031A7"/>
      </a:accent4>
      <a:accent5>
        <a:srgbClr val="E782A9"/>
      </a:accent5>
      <a:accent6>
        <a:srgbClr val="407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4F Template" id="{8187A0D7-44D4-4A4B-A36D-CEF7DE641DC2}" vid="{E04EDAD1-AFC5-BE4E-A44C-E641ABC5FF65}"/>
    </a:ext>
  </a:extLst>
</a:theme>
</file>

<file path=ppt/theme/theme2.xml><?xml version="1.0" encoding="utf-8"?>
<a:theme xmlns:a="http://schemas.openxmlformats.org/drawingml/2006/main" name="S4F-ERP Period End Closing">
  <a:themeElements>
    <a:clrScheme name="Custom 9">
      <a:dk1>
        <a:srgbClr val="000000"/>
      </a:dk1>
      <a:lt1>
        <a:srgbClr val="FFFFFF"/>
      </a:lt1>
      <a:dk2>
        <a:srgbClr val="1A3040"/>
      </a:dk2>
      <a:lt2>
        <a:srgbClr val="DDDDDD"/>
      </a:lt2>
      <a:accent1>
        <a:srgbClr val="74D9D5"/>
      </a:accent1>
      <a:accent2>
        <a:srgbClr val="EAAA00"/>
      </a:accent2>
      <a:accent3>
        <a:srgbClr val="00B2A9"/>
      </a:accent3>
      <a:accent4>
        <a:srgbClr val="8031A7"/>
      </a:accent4>
      <a:accent5>
        <a:srgbClr val="E782A9"/>
      </a:accent5>
      <a:accent6>
        <a:srgbClr val="407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4F Template" id="{8187A0D7-44D4-4A4B-A36D-CEF7DE641DC2}" vid="{E04EDAD1-AFC5-BE4E-A44C-E641ABC5FF65}"/>
    </a:ext>
  </a:extLst>
</a:theme>
</file>

<file path=ppt/theme/theme3.xml><?xml version="1.0" encoding="utf-8"?>
<a:theme xmlns:a="http://schemas.openxmlformats.org/drawingml/2006/main" name="1_S4F-ERP Period End Closing">
  <a:themeElements>
    <a:clrScheme name="Custom 9">
      <a:dk1>
        <a:srgbClr val="000000"/>
      </a:dk1>
      <a:lt1>
        <a:srgbClr val="FFFFFF"/>
      </a:lt1>
      <a:dk2>
        <a:srgbClr val="1A3040"/>
      </a:dk2>
      <a:lt2>
        <a:srgbClr val="DDDDDD"/>
      </a:lt2>
      <a:accent1>
        <a:srgbClr val="74D9D5"/>
      </a:accent1>
      <a:accent2>
        <a:srgbClr val="EAAA00"/>
      </a:accent2>
      <a:accent3>
        <a:srgbClr val="00B2A9"/>
      </a:accent3>
      <a:accent4>
        <a:srgbClr val="8031A7"/>
      </a:accent4>
      <a:accent5>
        <a:srgbClr val="E782A9"/>
      </a:accent5>
      <a:accent6>
        <a:srgbClr val="407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rgbClr val="FF0000"/>
          </a:solidFill>
          <a:tailEnd type="triangle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4F Template" id="{8187A0D7-44D4-4A4B-A36D-CEF7DE641DC2}" vid="{E04EDAD1-AFC5-BE4E-A44C-E641ABC5FF65}"/>
    </a:ext>
  </a:extLst>
</a:theme>
</file>

<file path=ppt/theme/theme4.xml><?xml version="1.0" encoding="utf-8"?>
<a:theme xmlns:a="http://schemas.openxmlformats.org/drawingml/2006/main" name="4_S4F-ERP Clean IFRS Stat &amp; Tax Rep">
  <a:themeElements>
    <a:clrScheme name="Custom 9">
      <a:dk1>
        <a:srgbClr val="000000"/>
      </a:dk1>
      <a:lt1>
        <a:srgbClr val="FFFFFF"/>
      </a:lt1>
      <a:dk2>
        <a:srgbClr val="1A3040"/>
      </a:dk2>
      <a:lt2>
        <a:srgbClr val="DDDDDD"/>
      </a:lt2>
      <a:accent1>
        <a:srgbClr val="74D9D5"/>
      </a:accent1>
      <a:accent2>
        <a:srgbClr val="EAAA00"/>
      </a:accent2>
      <a:accent3>
        <a:srgbClr val="00B2A9"/>
      </a:accent3>
      <a:accent4>
        <a:srgbClr val="8031A7"/>
      </a:accent4>
      <a:accent5>
        <a:srgbClr val="E782A9"/>
      </a:accent5>
      <a:accent6>
        <a:srgbClr val="407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4F Template" id="{8187A0D7-44D4-4A4B-A36D-CEF7DE641DC2}" vid="{E04EDAD1-AFC5-BE4E-A44C-E641ABC5FF65}"/>
    </a:ext>
  </a:extLst>
</a:theme>
</file>

<file path=ppt/theme/theme5.xml><?xml version="1.0" encoding="utf-8"?>
<a:theme xmlns:a="http://schemas.openxmlformats.org/drawingml/2006/main" name="2_S4F-ERP Clean IFRS Stat &amp; Tax Rep">
  <a:themeElements>
    <a:clrScheme name="Custom 9">
      <a:dk1>
        <a:srgbClr val="000000"/>
      </a:dk1>
      <a:lt1>
        <a:srgbClr val="FFFFFF"/>
      </a:lt1>
      <a:dk2>
        <a:srgbClr val="1A3040"/>
      </a:dk2>
      <a:lt2>
        <a:srgbClr val="DDDDDD"/>
      </a:lt2>
      <a:accent1>
        <a:srgbClr val="74D9D5"/>
      </a:accent1>
      <a:accent2>
        <a:srgbClr val="EAAA00"/>
      </a:accent2>
      <a:accent3>
        <a:srgbClr val="00B2A9"/>
      </a:accent3>
      <a:accent4>
        <a:srgbClr val="8031A7"/>
      </a:accent4>
      <a:accent5>
        <a:srgbClr val="E782A9"/>
      </a:accent5>
      <a:accent6>
        <a:srgbClr val="407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4F Template" id="{8187A0D7-44D4-4A4B-A36D-CEF7DE641DC2}" vid="{E04EDAD1-AFC5-BE4E-A44C-E641ABC5FF65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691DA1475FED40816A34A9887BD419" ma:contentTypeVersion="25" ma:contentTypeDescription="Create a new document." ma:contentTypeScope="" ma:versionID="f84ceb03c7fb484362c32ee8faf439b3">
  <xsd:schema xmlns:xsd="http://www.w3.org/2001/XMLSchema" xmlns:xs="http://www.w3.org/2001/XMLSchema" xmlns:p="http://schemas.microsoft.com/office/2006/metadata/properties" xmlns:ns1="http://schemas.microsoft.com/sharepoint/v3" xmlns:ns2="91871c47-af2e-43ea-ad3f-7bb4c536bc45" xmlns:ns3="ba249638-b5c4-4b59-8094-70d8491c2e9c" xmlns:ns4="cb52ee0d-5346-4ae8-a9f9-d746adffeb6b" targetNamespace="http://schemas.microsoft.com/office/2006/metadata/properties" ma:root="true" ma:fieldsID="54372b6b2bb40f924c416d4186193cec" ns1:_="" ns2:_="" ns3:_="" ns4:_="">
    <xsd:import namespace="http://schemas.microsoft.com/sharepoint/v3"/>
    <xsd:import namespace="91871c47-af2e-43ea-ad3f-7bb4c536bc45"/>
    <xsd:import namespace="ba249638-b5c4-4b59-8094-70d8491c2e9c"/>
    <xsd:import namespace="cb52ee0d-5346-4ae8-a9f9-d746adffeb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ReportDate" minOccurs="0"/>
                <xsd:element ref="ns2:MediaServiceAutoTags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Remarks" minOccurs="0"/>
                <xsd:element ref="ns2:Details" minOccurs="0"/>
                <xsd:element ref="ns2:FolderInfo" minOccurs="0"/>
                <xsd:element ref="ns2:T_x002d_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871c47-af2e-43ea-ad3f-7bb4c536bc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ReportDate" ma:index="16" nillable="true" ma:displayName="Report Date" ma:format="DateOnly" ma:internalName="ReportDate">
      <xsd:simpleType>
        <xsd:restriction base="dms:DateTime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dfe741-475c-44cf-bcd4-46bfd3fd06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Remarks" ma:index="29" nillable="true" ma:displayName="Remarks" ma:format="Dropdown" ma:internalName="Remarks">
      <xsd:simpleType>
        <xsd:restriction base="dms:Text">
          <xsd:maxLength value="255"/>
        </xsd:restriction>
      </xsd:simpleType>
    </xsd:element>
    <xsd:element name="Details" ma:index="30" nillable="true" ma:displayName="Details" ma:format="Dropdown" ma:internalName="Details">
      <xsd:simpleType>
        <xsd:restriction base="dms:Note">
          <xsd:maxLength value="255"/>
        </xsd:restriction>
      </xsd:simpleType>
    </xsd:element>
    <xsd:element name="FolderInfo" ma:index="31" nillable="true" ma:displayName="Folder/File Info" ma:format="Dropdown" ma:internalName="FolderInfo">
      <xsd:simpleType>
        <xsd:restriction base="dms:Note">
          <xsd:maxLength value="255"/>
        </xsd:restriction>
      </xsd:simpleType>
    </xsd:element>
    <xsd:element name="T_x002d_Code" ma:index="32" nillable="true" ma:displayName="T-Code" ma:format="Dropdown" ma:internalName="T_x002d_Cod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249638-b5c4-4b59-8094-70d8491c2e9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52ee0d-5346-4ae8-a9f9-d746adffeb6b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4cb22aed-3451-4198-9f27-006c28665e31}" ma:internalName="TaxCatchAll" ma:showField="CatchAllData" ma:web="cb52ee0d-5346-4ae8-a9f9-d746adffeb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a249638-b5c4-4b59-8094-70d8491c2e9c">
      <UserInfo>
        <DisplayName/>
        <AccountId xsi:nil="true"/>
        <AccountType/>
      </UserInfo>
    </SharedWithUsers>
    <ReportDate xmlns="91871c47-af2e-43ea-ad3f-7bb4c536bc45" xsi:nil="true"/>
    <lcf76f155ced4ddcb4097134ff3c332f xmlns="91871c47-af2e-43ea-ad3f-7bb4c536bc45">
      <Terms xmlns="http://schemas.microsoft.com/office/infopath/2007/PartnerControls"/>
    </lcf76f155ced4ddcb4097134ff3c332f>
    <TaxCatchAll xmlns="cb52ee0d-5346-4ae8-a9f9-d746adffeb6b" xsi:nil="true"/>
    <_ip_UnifiedCompliancePolicyUIAction xmlns="http://schemas.microsoft.com/sharepoint/v3" xsi:nil="true"/>
    <_ip_UnifiedCompliancePolicyProperties xmlns="http://schemas.microsoft.com/sharepoint/v3" xsi:nil="true"/>
    <Remarks xmlns="91871c47-af2e-43ea-ad3f-7bb4c536bc45" xsi:nil="true"/>
    <Details xmlns="91871c47-af2e-43ea-ad3f-7bb4c536bc45" xsi:nil="true"/>
    <FolderInfo xmlns="91871c47-af2e-43ea-ad3f-7bb4c536bc45" xsi:nil="true"/>
    <T_x002d_Code xmlns="91871c47-af2e-43ea-ad3f-7bb4c536bc45" xsi:nil="true"/>
  </documentManagement>
</p:properties>
</file>

<file path=customXml/itemProps1.xml><?xml version="1.0" encoding="utf-8"?>
<ds:datastoreItem xmlns:ds="http://schemas.openxmlformats.org/officeDocument/2006/customXml" ds:itemID="{5F43394D-A9A2-4315-AC7E-DD8C77BEB19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186EB0-9ACE-4DE8-8D37-8DF95110BC86}"/>
</file>

<file path=customXml/itemProps3.xml><?xml version="1.0" encoding="utf-8"?>
<ds:datastoreItem xmlns:ds="http://schemas.openxmlformats.org/officeDocument/2006/customXml" ds:itemID="{E3BC77B7-89BE-45D2-B43A-94AB4C5F40F4}">
  <ds:schemaRefs>
    <ds:schemaRef ds:uri="http://schemas.microsoft.com/office/infopath/2007/PartnerControls"/>
    <ds:schemaRef ds:uri="http://schemas.microsoft.com/office/2006/documentManagement/types"/>
    <ds:schemaRef ds:uri="ba249638-b5c4-4b59-8094-70d8491c2e9c"/>
    <ds:schemaRef ds:uri="cb52ee0d-5346-4ae8-a9f9-d746adffeb6b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91871c47-af2e-43ea-ad3f-7bb4c536bc45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S4F Template</Template>
  <TotalTime>205</TotalTime>
  <Words>640</Words>
  <Application>Microsoft Office PowerPoint</Application>
  <PresentationFormat>Widescreen</PresentationFormat>
  <Paragraphs>80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Courier New</vt:lpstr>
      <vt:lpstr>Trebuchet MS</vt:lpstr>
      <vt:lpstr>1_S4F-ERP Clean IFRS Stat &amp; Tax Rep</vt:lpstr>
      <vt:lpstr>S4F-ERP Period End Closing</vt:lpstr>
      <vt:lpstr>1_S4F-ERP Period End Closing</vt:lpstr>
      <vt:lpstr>4_S4F-ERP Clean IFRS Stat &amp; Tax Rep</vt:lpstr>
      <vt:lpstr>2_S4F-ERP Clean IFRS Stat &amp; Tax Rep</vt:lpstr>
      <vt:lpstr>PERIOD END CLOSING OVERVIEW</vt:lpstr>
      <vt:lpstr>Course Structure</vt:lpstr>
      <vt:lpstr>Period End Closing Overview - About this course</vt:lpstr>
      <vt:lpstr>Course Structure</vt:lpstr>
      <vt:lpstr>PE Closing Design Business Requirements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 Griffiths</dc:creator>
  <cp:lastModifiedBy>Wang, Wei</cp:lastModifiedBy>
  <cp:revision>1</cp:revision>
  <dcterms:created xsi:type="dcterms:W3CDTF">2019-04-11T09:35:08Z</dcterms:created>
  <dcterms:modified xsi:type="dcterms:W3CDTF">2024-04-22T09:45:05Z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0x010100EA691DA1475FED40816A34A9887BD419</vt:lpwstr>
  </property>
  <property fmtid="{D5CDD505-2E9C-101B-9397-08002B2CF9AE}" pid="3" name="Order">
    <vt:r8>1309300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MSIP_Label_b020b37f-db72-473e-ae54-fb16df408069_Enabled">
    <vt:lpwstr>true</vt:lpwstr>
  </property>
  <property fmtid="{D5CDD505-2E9C-101B-9397-08002B2CF9AE}" pid="9" name="MSIP_Label_b020b37f-db72-473e-ae54-fb16df408069_SetDate">
    <vt:lpwstr>2021-07-20T09:55:42Z</vt:lpwstr>
  </property>
  <property fmtid="{D5CDD505-2E9C-101B-9397-08002B2CF9AE}" pid="10" name="MSIP_Label_b020b37f-db72-473e-ae54-fb16df408069_Method">
    <vt:lpwstr>Standard</vt:lpwstr>
  </property>
  <property fmtid="{D5CDD505-2E9C-101B-9397-08002B2CF9AE}" pid="11" name="MSIP_Label_b020b37f-db72-473e-ae54-fb16df408069_Name">
    <vt:lpwstr>General</vt:lpwstr>
  </property>
  <property fmtid="{D5CDD505-2E9C-101B-9397-08002B2CF9AE}" pid="12" name="MSIP_Label_b020b37f-db72-473e-ae54-fb16df408069_SiteId">
    <vt:lpwstr>705d07a3-2eea-4f3b-ab59-65ca29abeb26</vt:lpwstr>
  </property>
  <property fmtid="{D5CDD505-2E9C-101B-9397-08002B2CF9AE}" pid="13" name="MSIP_Label_b020b37f-db72-473e-ae54-fb16df408069_ActionId">
    <vt:lpwstr>a0bd242f-1d35-4a72-9a86-0be82d291e3b</vt:lpwstr>
  </property>
  <property fmtid="{D5CDD505-2E9C-101B-9397-08002B2CF9AE}" pid="14" name="MSIP_Label_b020b37f-db72-473e-ae54-fb16df408069_ContentBits">
    <vt:lpwstr>0</vt:lpwstr>
  </property>
  <property fmtid="{D5CDD505-2E9C-101B-9397-08002B2CF9AE}" pid="15" name="MediaServiceImageTags">
    <vt:lpwstr/>
  </property>
</Properties>
</file>