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1" r:id="rId5"/>
  </p:sldMasterIdLst>
  <p:notesMasterIdLst>
    <p:notesMasterId r:id="rId14"/>
  </p:notesMasterIdLst>
  <p:sldIdLst>
    <p:sldId id="3191" r:id="rId6"/>
    <p:sldId id="3192" r:id="rId7"/>
    <p:sldId id="3193" r:id="rId8"/>
    <p:sldId id="3195" r:id="rId9"/>
    <p:sldId id="3196" r:id="rId10"/>
    <p:sldId id="3197" r:id="rId11"/>
    <p:sldId id="3201" r:id="rId12"/>
    <p:sldId id="3203" r:id="rId13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rla, Jeremy" initials="CJ" lastIdx="9" clrIdx="0">
    <p:extLst>
      <p:ext uri="{19B8F6BF-5375-455C-9EA6-DF929625EA0E}">
        <p15:presenceInfo xmlns:p15="http://schemas.microsoft.com/office/powerpoint/2012/main" userId="S::GVACARLAJ@CORP.JTI.COM::b677e72e-5af2-42a8-a042-f00b27ee75f9" providerId="AD"/>
      </p:ext>
    </p:extLst>
  </p:cmAuthor>
  <p:cmAuthor id="2" name="Parshina, Olga" initials="PO" lastIdx="1" clrIdx="1">
    <p:extLst>
      <p:ext uri="{19B8F6BF-5375-455C-9EA6-DF929625EA0E}">
        <p15:presenceInfo xmlns:p15="http://schemas.microsoft.com/office/powerpoint/2012/main" userId="S::spbparshod@corp.jti.com::873a8ef6-ff3d-4f50-8df2-5293041e8e5f" providerId="AD"/>
      </p:ext>
    </p:extLst>
  </p:cmAuthor>
  <p:cmAuthor id="3" name="Eliseeva, Julia" initials="EJ" lastIdx="3" clrIdx="2">
    <p:extLst>
      <p:ext uri="{19B8F6BF-5375-455C-9EA6-DF929625EA0E}">
        <p15:presenceInfo xmlns:p15="http://schemas.microsoft.com/office/powerpoint/2012/main" userId="S::spbelisej@corp.jti.com::9416158f-6bb1-441d-85ae-bf8716fea373" providerId="AD"/>
      </p:ext>
    </p:extLst>
  </p:cmAuthor>
  <p:cmAuthor id="4" name="McAulay, Damien" initials="MD" lastIdx="6" clrIdx="3">
    <p:extLst>
      <p:ext uri="{19B8F6BF-5375-455C-9EA6-DF929625EA0E}">
        <p15:presenceInfo xmlns:p15="http://schemas.microsoft.com/office/powerpoint/2012/main" userId="S::MANMCAULD@CORP.JTI.COM::02a9f240-e43f-4025-b5f7-a609c53b2dfc" providerId="AD"/>
      </p:ext>
    </p:extLst>
  </p:cmAuthor>
  <p:cmAuthor id="5" name="Wang, Wei" initials="WW" lastIdx="21" clrIdx="4">
    <p:extLst>
      <p:ext uri="{19B8F6BF-5375-455C-9EA6-DF929625EA0E}">
        <p15:presenceInfo xmlns:p15="http://schemas.microsoft.com/office/powerpoint/2012/main" userId="S::CSTWANGW@CORP.JTI.COM::627587dd-935f-4f2b-a6c6-edd4e0dcbff5" providerId="AD"/>
      </p:ext>
    </p:extLst>
  </p:cmAuthor>
  <p:cmAuthor id="6" name="Vostrenkova, Anna" initials="VA" lastIdx="9" clrIdx="5">
    <p:extLst>
      <p:ext uri="{19B8F6BF-5375-455C-9EA6-DF929625EA0E}">
        <p15:presenceInfo xmlns:p15="http://schemas.microsoft.com/office/powerpoint/2012/main" userId="S::SPBVOSTRA@CORP.JTI.COM::714b791a-f154-4e8e-a89b-2941418e6a8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34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tags" Target="tags/tag1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D2E298-1248-4401-9F3E-79067294A229}" type="datetimeFigureOut">
              <a:rPr lang="en-GB" smtClean="0"/>
              <a:t>23/11/2020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944EB3-E743-414B-A21A-64E051E5FA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4677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944EB3-E743-414B-A21A-64E051E5FA0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37587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944EB3-E743-414B-A21A-64E051E5FA0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70257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944EB3-E743-414B-A21A-64E051E5FA0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62608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944EB3-E743-414B-A21A-64E051E5FA0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26162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944EB3-E743-414B-A21A-64E051E5FA0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30582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944EB3-E743-414B-A21A-64E051E5FA0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65246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944EB3-E743-414B-A21A-64E051E5FA0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7716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pectrum Titl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F314ADD-8CCE-4CE1-93BC-8242C7F6EE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2046"/>
            <a:ext cx="12192000" cy="50170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6C11B0-82D2-4B1D-A080-5DEC7B98E4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1103313"/>
            <a:ext cx="11161713" cy="1468437"/>
          </a:xfrm>
        </p:spPr>
        <p:txBody>
          <a:bodyPr anchor="b" anchorCtr="0"/>
          <a:lstStyle>
            <a:lvl1pPr algn="l">
              <a:defRPr sz="44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31D629-EA3E-4A82-8438-59B781EBBD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350" y="2703059"/>
            <a:ext cx="8295821" cy="1655762"/>
          </a:xfrm>
        </p:spPr>
        <p:txBody>
          <a:bodyPr anchor="t" anchorCtr="0"/>
          <a:lstStyle>
            <a:lvl1pPr marL="0" indent="0" algn="l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6DFED-0FBE-48D4-A5E6-0F2D5059C0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4350" y="5915820"/>
            <a:ext cx="2743200" cy="365125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27F98BFD-4602-4F36-BFEF-CC730C7215B9}" type="datetime4">
              <a:rPr lang="en-US" smtClean="0"/>
              <a:t>November 23, 2020</a:t>
            </a:fld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480B215-A81F-481D-8C0E-6BF46A61563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38999" y="5879560"/>
            <a:ext cx="829976" cy="621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086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pectrum Titl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F314ADD-8CCE-4CE1-93BC-8242C7F6EE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2046"/>
            <a:ext cx="12192000" cy="50170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6C11B0-82D2-4B1D-A080-5DEC7B98E4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1103313"/>
            <a:ext cx="11161713" cy="1468437"/>
          </a:xfrm>
        </p:spPr>
        <p:txBody>
          <a:bodyPr anchor="b" anchorCtr="0"/>
          <a:lstStyle>
            <a:lvl1pPr algn="l">
              <a:defRPr sz="44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31D629-EA3E-4A82-8438-59B781EBBD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350" y="2703059"/>
            <a:ext cx="8295821" cy="1655762"/>
          </a:xfrm>
        </p:spPr>
        <p:txBody>
          <a:bodyPr anchor="t" anchorCtr="0"/>
          <a:lstStyle>
            <a:lvl1pPr marL="0" indent="0" algn="l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6DFED-0FBE-48D4-A5E6-0F2D5059C0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4350" y="5915820"/>
            <a:ext cx="2743200" cy="365125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A6C065FC-DB53-40CF-BA4D-328B86291E85}" type="datetime4">
              <a:rPr lang="en-US" smtClean="0"/>
              <a:t>November 23, 2020</a:t>
            </a:fld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480B215-A81F-481D-8C0E-6BF46A61563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38999" y="5879560"/>
            <a:ext cx="829976" cy="621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110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Image Titl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F314ADD-8CCE-4CE1-93BC-8242C7F6EE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2046"/>
            <a:ext cx="12192000" cy="50170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6C11B0-82D2-4B1D-A080-5DEC7B98E4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1103313"/>
            <a:ext cx="11161713" cy="1468437"/>
          </a:xfrm>
        </p:spPr>
        <p:txBody>
          <a:bodyPr anchor="b" anchorCtr="0"/>
          <a:lstStyle>
            <a:lvl1pPr algn="l">
              <a:defRPr sz="44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31D629-EA3E-4A82-8438-59B781EBBD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350" y="2703059"/>
            <a:ext cx="8295821" cy="1655762"/>
          </a:xfrm>
        </p:spPr>
        <p:txBody>
          <a:bodyPr anchor="t" anchorCtr="0"/>
          <a:lstStyle>
            <a:lvl1pPr marL="0" indent="0" algn="l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6DFED-0FBE-48D4-A5E6-0F2D5059C0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4350" y="5915820"/>
            <a:ext cx="2743200" cy="365125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32C56266-800D-4088-ACDA-2B12350D5CDA}" type="datetime4">
              <a:rPr lang="en-US" smtClean="0"/>
              <a:t>November 23, 2020</a:t>
            </a:fld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480B215-A81F-481D-8C0E-6BF46A61563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38999" y="5879560"/>
            <a:ext cx="829976" cy="621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640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Image Titl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F314ADD-8CCE-4CE1-93BC-8242C7F6EE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2046"/>
            <a:ext cx="12192000" cy="50170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6C11B0-82D2-4B1D-A080-5DEC7B98E4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1103313"/>
            <a:ext cx="11161713" cy="1468437"/>
          </a:xfrm>
        </p:spPr>
        <p:txBody>
          <a:bodyPr anchor="b" anchorCtr="0"/>
          <a:lstStyle>
            <a:lvl1pPr algn="l">
              <a:defRPr sz="44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31D629-EA3E-4A82-8438-59B781EBBD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350" y="2703059"/>
            <a:ext cx="8295821" cy="1655762"/>
          </a:xfrm>
        </p:spPr>
        <p:txBody>
          <a:bodyPr anchor="t" anchorCtr="0"/>
          <a:lstStyle>
            <a:lvl1pPr marL="0" indent="0" algn="l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6DFED-0FBE-48D4-A5E6-0F2D5059C0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4350" y="5915820"/>
            <a:ext cx="2743200" cy="365125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176CE38A-B6E5-4EE3-A99B-9AA9AB5DD917}" type="datetime4">
              <a:rPr lang="en-US" smtClean="0"/>
              <a:t>November 23, 2020</a:t>
            </a:fld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480B215-A81F-481D-8C0E-6BF46A61563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38999" y="5879560"/>
            <a:ext cx="829976" cy="621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690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Image Titl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F314ADD-8CCE-4CE1-93BC-8242C7F6EE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2046"/>
            <a:ext cx="12192000" cy="50170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6C11B0-82D2-4B1D-A080-5DEC7B98E4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1103313"/>
            <a:ext cx="8181975" cy="1468437"/>
          </a:xfrm>
        </p:spPr>
        <p:txBody>
          <a:bodyPr anchor="b" anchorCtr="0"/>
          <a:lstStyle>
            <a:lvl1pPr algn="l">
              <a:defRPr sz="44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31D629-EA3E-4A82-8438-59B781EBBD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350" y="2703059"/>
            <a:ext cx="8181975" cy="1655762"/>
          </a:xfrm>
        </p:spPr>
        <p:txBody>
          <a:bodyPr anchor="t" anchorCtr="0"/>
          <a:lstStyle>
            <a:lvl1pPr marL="0" indent="0" algn="l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6DFED-0FBE-48D4-A5E6-0F2D5059C0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4350" y="5915820"/>
            <a:ext cx="2743200" cy="365125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4C2E5EB8-2C74-4E87-95BC-BDFF8FE593D5}" type="datetime4">
              <a:rPr lang="en-US" smtClean="0"/>
              <a:t>November 23, 2020</a:t>
            </a:fld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480B215-A81F-481D-8C0E-6BF46A61563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38999" y="5879560"/>
            <a:ext cx="829976" cy="621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608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2BE79-9CF6-49D0-828F-83304EE10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31794-EBBB-48C2-B2AE-5771C52F0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3pPr marL="400050" indent="-195263"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396C8-82EE-4828-BB90-F70077CC6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in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CAEA2-92AB-4512-A9D7-FD0A72486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472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 He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2BE79-9CF6-49D0-828F-83304EE10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31794-EBBB-48C2-B2AE-5771C52F0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695450"/>
            <a:ext cx="4824413" cy="4587081"/>
          </a:xfrm>
        </p:spPr>
        <p:txBody>
          <a:bodyPr/>
          <a:lstStyle>
            <a:lvl1pPr>
              <a:defRPr sz="1400"/>
            </a:lvl1pPr>
            <a:lvl2pPr marL="165100" indent="-165100">
              <a:defRPr sz="1400"/>
            </a:lvl2pPr>
            <a:lvl3pPr marL="344488" indent="-160338">
              <a:defRPr sz="1200"/>
            </a:lvl3pPr>
            <a:lvl4pPr marL="544513" indent="-184150">
              <a:defRPr sz="1100"/>
            </a:lvl4pPr>
            <a:lvl5pPr marL="746125" indent="-176213"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396C8-82EE-4828-BB90-F70077CC6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in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CAEA2-92AB-4512-A9D7-FD0A72486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0463241-5450-4976-8525-5C06611D08B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591175" y="1695450"/>
            <a:ext cx="4824413" cy="4587081"/>
          </a:xfrm>
        </p:spPr>
        <p:txBody>
          <a:bodyPr/>
          <a:lstStyle>
            <a:lvl1pPr>
              <a:defRPr sz="1400"/>
            </a:lvl1pPr>
            <a:lvl2pPr marL="165100" indent="-165100">
              <a:defRPr sz="1400"/>
            </a:lvl2pPr>
            <a:lvl3pPr marL="344488" indent="-160338">
              <a:defRPr sz="1200"/>
            </a:lvl3pPr>
            <a:lvl4pPr marL="544513" indent="-184150">
              <a:defRPr sz="1100"/>
            </a:lvl4pPr>
            <a:lvl5pPr marL="746125" indent="-176213"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278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2BE79-9CF6-49D0-828F-83304EE10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31794-EBBB-48C2-B2AE-5771C52F0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695450"/>
            <a:ext cx="4824413" cy="4587081"/>
          </a:xfrm>
        </p:spPr>
        <p:txBody>
          <a:bodyPr/>
          <a:lstStyle>
            <a:lvl1pPr>
              <a:defRPr sz="1400"/>
            </a:lvl1pPr>
            <a:lvl2pPr marL="165100" indent="-165100">
              <a:defRPr sz="1400"/>
            </a:lvl2pPr>
            <a:lvl3pPr marL="344488" indent="-160338">
              <a:defRPr sz="1200"/>
            </a:lvl3pPr>
            <a:lvl4pPr marL="544513" indent="-184150">
              <a:defRPr sz="1100"/>
            </a:lvl4pPr>
            <a:lvl5pPr marL="746125" indent="-176213"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396C8-82EE-4828-BB90-F70077CC6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in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CAEA2-92AB-4512-A9D7-FD0A72486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0463241-5450-4976-8525-5C06611D08B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591175" y="1695450"/>
            <a:ext cx="6084886" cy="4587081"/>
          </a:xfrm>
        </p:spPr>
        <p:txBody>
          <a:bodyPr/>
          <a:lstStyle>
            <a:lvl1pPr>
              <a:defRPr sz="1400"/>
            </a:lvl1pPr>
            <a:lvl2pPr marL="165100" indent="-165100">
              <a:defRPr sz="1400"/>
            </a:lvl2pPr>
            <a:lvl3pPr marL="344488" indent="-160338">
              <a:defRPr sz="1200"/>
            </a:lvl3pPr>
            <a:lvl4pPr marL="544513" indent="-184150">
              <a:defRPr sz="1100"/>
            </a:lvl4pPr>
            <a:lvl5pPr marL="746125" indent="-176213"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2155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ctrum Divider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494FFB1-C67C-4F41-B55D-0E84F48E74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5EFAC8-0232-4ACB-8A16-76099AC73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1947863"/>
            <a:ext cx="8961437" cy="4334668"/>
          </a:xfrm>
        </p:spPr>
        <p:txBody>
          <a:bodyPr anchor="t" anchorCtr="0"/>
          <a:lstStyle>
            <a:lvl1pPr>
              <a:lnSpc>
                <a:spcPct val="80000"/>
              </a:lnSpc>
              <a:defRPr sz="5400" cap="all" spc="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BD97A-1CD4-44FA-84FA-934F1FF54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 in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2C075-17B3-4F6A-89D1-B6091271B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C94289-3309-4C35-850A-56FD49B3E346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04388B-09B7-42D5-B607-EFED05EEE73A}"/>
              </a:ext>
            </a:extLst>
          </p:cNvPr>
          <p:cNvSpPr txBox="1"/>
          <p:nvPr userDrawn="1"/>
        </p:nvSpPr>
        <p:spPr>
          <a:xfrm>
            <a:off x="515938" y="6282531"/>
            <a:ext cx="1799722" cy="3651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00">
                <a:solidFill>
                  <a:schemeClr val="bg1"/>
                </a:solidFill>
              </a:rPr>
              <a:t>© JTI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2F868E-F9E5-4FD0-AA54-A0611266E9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08226" y="1887473"/>
            <a:ext cx="767837" cy="574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849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ctrum Divider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494FFB1-C67C-4F41-B55D-0E84F48E74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5EFAC8-0232-4ACB-8A16-76099AC73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1947863"/>
            <a:ext cx="8961437" cy="4334668"/>
          </a:xfrm>
        </p:spPr>
        <p:txBody>
          <a:bodyPr anchor="t" anchorCtr="0"/>
          <a:lstStyle>
            <a:lvl1pPr>
              <a:lnSpc>
                <a:spcPct val="80000"/>
              </a:lnSpc>
              <a:defRPr sz="5400" cap="all" spc="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BD97A-1CD4-44FA-84FA-934F1FF54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 in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2C075-17B3-4F6A-89D1-B6091271B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C94289-3309-4C35-850A-56FD49B3E346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04388B-09B7-42D5-B607-EFED05EEE73A}"/>
              </a:ext>
            </a:extLst>
          </p:cNvPr>
          <p:cNvSpPr txBox="1"/>
          <p:nvPr userDrawn="1"/>
        </p:nvSpPr>
        <p:spPr>
          <a:xfrm>
            <a:off x="515938" y="6282531"/>
            <a:ext cx="1799722" cy="3651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00">
                <a:solidFill>
                  <a:schemeClr val="bg1"/>
                </a:solidFill>
              </a:rPr>
              <a:t>© JTI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2F868E-F9E5-4FD0-AA54-A0611266E9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08226" y="1887473"/>
            <a:ext cx="767837" cy="574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934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EFAC8-0232-4ACB-8A16-76099AC73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1947863"/>
            <a:ext cx="8961437" cy="4337050"/>
          </a:xfrm>
        </p:spPr>
        <p:txBody>
          <a:bodyPr anchor="t" anchorCtr="0"/>
          <a:lstStyle>
            <a:lvl1pPr>
              <a:lnSpc>
                <a:spcPct val="80000"/>
              </a:lnSpc>
              <a:defRPr sz="5400" cap="all" spc="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BD97A-1CD4-44FA-84FA-934F1FF54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 in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2C075-17B3-4F6A-89D1-B6091271B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C94289-3309-4C35-850A-56FD49B3E346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04388B-09B7-42D5-B607-EFED05EEE73A}"/>
              </a:ext>
            </a:extLst>
          </p:cNvPr>
          <p:cNvSpPr txBox="1"/>
          <p:nvPr userDrawn="1"/>
        </p:nvSpPr>
        <p:spPr>
          <a:xfrm>
            <a:off x="515938" y="6282531"/>
            <a:ext cx="1799722" cy="3651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00">
                <a:solidFill>
                  <a:schemeClr val="bg1"/>
                </a:solidFill>
              </a:rPr>
              <a:t>© JTI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2F868E-F9E5-4FD0-AA54-A0611266E9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08226" y="1887473"/>
            <a:ext cx="767837" cy="574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180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ctrum Quot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494FFB1-C67C-4F41-B55D-0E84F48E74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5EFAC8-0232-4ACB-8A16-76099AC73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1947863"/>
            <a:ext cx="8961437" cy="4334668"/>
          </a:xfrm>
        </p:spPr>
        <p:txBody>
          <a:bodyPr anchor="t" anchorCtr="0"/>
          <a:lstStyle>
            <a:lvl1pPr>
              <a:lnSpc>
                <a:spcPct val="80000"/>
              </a:lnSpc>
              <a:defRPr sz="3200" cap="all" spc="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BD97A-1CD4-44FA-84FA-934F1FF54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 in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2C075-17B3-4F6A-89D1-B6091271B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C94289-3309-4C35-850A-56FD49B3E346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04388B-09B7-42D5-B607-EFED05EEE73A}"/>
              </a:ext>
            </a:extLst>
          </p:cNvPr>
          <p:cNvSpPr txBox="1"/>
          <p:nvPr userDrawn="1"/>
        </p:nvSpPr>
        <p:spPr>
          <a:xfrm>
            <a:off x="515938" y="6282531"/>
            <a:ext cx="1799722" cy="3651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00">
                <a:solidFill>
                  <a:schemeClr val="bg1"/>
                </a:solidFill>
              </a:rPr>
              <a:t>© JTI</a:t>
            </a:r>
          </a:p>
        </p:txBody>
      </p:sp>
    </p:spTree>
    <p:extLst>
      <p:ext uri="{BB962C8B-B14F-4D97-AF65-F5344CB8AC3E}">
        <p14:creationId xmlns:p14="http://schemas.microsoft.com/office/powerpoint/2010/main" val="28411001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ctrum Quot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C4FF7B4-0A64-41E7-A6EC-116C9A58B8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5EFAC8-0232-4ACB-8A16-76099AC73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1947863"/>
            <a:ext cx="8961437" cy="4334668"/>
          </a:xfrm>
        </p:spPr>
        <p:txBody>
          <a:bodyPr anchor="t" anchorCtr="0"/>
          <a:lstStyle>
            <a:lvl1pPr>
              <a:lnSpc>
                <a:spcPct val="80000"/>
              </a:lnSpc>
              <a:defRPr sz="3200" cap="all" spc="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BD97A-1CD4-44FA-84FA-934F1FF54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 in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2C075-17B3-4F6A-89D1-B6091271B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C94289-3309-4C35-850A-56FD49B3E346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04388B-09B7-42D5-B607-EFED05EEE73A}"/>
              </a:ext>
            </a:extLst>
          </p:cNvPr>
          <p:cNvSpPr txBox="1"/>
          <p:nvPr userDrawn="1"/>
        </p:nvSpPr>
        <p:spPr>
          <a:xfrm>
            <a:off x="515938" y="6282531"/>
            <a:ext cx="1799722" cy="3651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00">
                <a:solidFill>
                  <a:schemeClr val="bg1"/>
                </a:solidFill>
              </a:rPr>
              <a:t>© JTI</a:t>
            </a:r>
          </a:p>
        </p:txBody>
      </p:sp>
    </p:spTree>
    <p:extLst>
      <p:ext uri="{BB962C8B-B14F-4D97-AF65-F5344CB8AC3E}">
        <p14:creationId xmlns:p14="http://schemas.microsoft.com/office/powerpoint/2010/main" val="13546020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45997-8885-42D4-A681-00BEFFA97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08513E-D1D6-4909-A6A1-E798C3840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in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81A9FA-9619-43AB-B085-D7F021094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65895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2566DF-8A7B-474D-A0F4-205CFA3DC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in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12603-15D9-4377-BA98-9268CA854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C8EE6D-3E29-41D5-BCF4-F699C8F035C9}"/>
              </a:ext>
            </a:extLst>
          </p:cNvPr>
          <p:cNvSpPr txBox="1"/>
          <p:nvPr userDrawn="1"/>
        </p:nvSpPr>
        <p:spPr>
          <a:xfrm>
            <a:off x="515938" y="6282531"/>
            <a:ext cx="1799722" cy="3651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00"/>
              <a:t>© JTI</a:t>
            </a:r>
          </a:p>
        </p:txBody>
      </p:sp>
    </p:spTree>
    <p:extLst>
      <p:ext uri="{BB962C8B-B14F-4D97-AF65-F5344CB8AC3E}">
        <p14:creationId xmlns:p14="http://schemas.microsoft.com/office/powerpoint/2010/main" val="22023055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84F466F-374A-4B25-9387-239E79F4C5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C47E5D-06E5-4593-AAEA-7BFF3B24FCE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26480" y="2853000"/>
            <a:ext cx="1539041" cy="11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1515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2BE79-9CF6-49D0-828F-83304EE10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276" y="210344"/>
            <a:ext cx="8902723" cy="9842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31794-EBBB-48C2-B2AE-5771C52F0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3pPr marL="400050" indent="-195263"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396C8-82EE-4828-BB90-F70077CC6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in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CAEA2-92AB-4512-A9D7-FD0A72486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‹#›</a:t>
            </a:fld>
            <a:endParaRPr lang="en-GB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10086109" y="417870"/>
            <a:ext cx="2105891" cy="569193"/>
            <a:chOff x="10086109" y="5763491"/>
            <a:chExt cx="2105891" cy="569193"/>
          </a:xfrm>
        </p:grpSpPr>
        <p:sp>
          <p:nvSpPr>
            <p:cNvPr id="8" name="Rectangle 7"/>
            <p:cNvSpPr/>
            <p:nvPr/>
          </p:nvSpPr>
          <p:spPr>
            <a:xfrm>
              <a:off x="10086109" y="5763491"/>
              <a:ext cx="2105891" cy="51904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10538695" y="5812704"/>
              <a:ext cx="1343888" cy="519980"/>
              <a:chOff x="515938" y="466803"/>
              <a:chExt cx="2499478" cy="967103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515938" y="466803"/>
                <a:ext cx="281354" cy="780960"/>
                <a:chOff x="4342156" y="2541184"/>
                <a:chExt cx="219003" cy="683186"/>
              </a:xfrm>
            </p:grpSpPr>
            <p:sp>
              <p:nvSpPr>
                <p:cNvPr id="12" name="Rectangle 11"/>
                <p:cNvSpPr/>
                <p:nvPr/>
              </p:nvSpPr>
              <p:spPr>
                <a:xfrm>
                  <a:off x="4342156" y="2541184"/>
                  <a:ext cx="92606" cy="544709"/>
                </a:xfrm>
                <a:prstGeom prst="rect">
                  <a:avLst/>
                </a:prstGeom>
                <a:solidFill>
                  <a:schemeClr val="tx2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Rounded Rectangle 12"/>
                <p:cNvSpPr/>
                <p:nvPr/>
              </p:nvSpPr>
              <p:spPr bwMode="auto">
                <a:xfrm>
                  <a:off x="4475003" y="2541184"/>
                  <a:ext cx="86156" cy="683186"/>
                </a:xfrm>
                <a:prstGeom prst="roundRect">
                  <a:avLst>
                    <a:gd name="adj" fmla="val 6597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vert="horz" wrap="square" lIns="0" tIns="0" rIns="0" bIns="0" numCol="1" rtlCol="0" anchor="ctr" anchorCtr="1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122632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sp>
            <p:nvSpPr>
              <p:cNvPr id="11" name="TextBox 10"/>
              <p:cNvSpPr txBox="1"/>
              <p:nvPr/>
            </p:nvSpPr>
            <p:spPr>
              <a:xfrm>
                <a:off x="891194" y="589844"/>
                <a:ext cx="2124222" cy="8440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l"/>
                <a:r>
                  <a:rPr lang="en-US" sz="2000" b="1">
                    <a:solidFill>
                      <a:schemeClr val="bg1"/>
                    </a:solidFill>
                  </a:rPr>
                  <a:t>S4F-ERP</a:t>
                </a:r>
              </a:p>
            </p:txBody>
          </p:sp>
        </p:grpSp>
      </p:grpSp>
      <p:sp>
        <p:nvSpPr>
          <p:cNvPr id="14" name="Rectangle 13"/>
          <p:cNvSpPr/>
          <p:nvPr userDrawn="1"/>
        </p:nvSpPr>
        <p:spPr>
          <a:xfrm>
            <a:off x="0" y="678873"/>
            <a:ext cx="207818" cy="5968783"/>
          </a:xfrm>
          <a:prstGeom prst="rect">
            <a:avLst/>
          </a:prstGeom>
          <a:solidFill>
            <a:srgbClr val="0059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19BDA20-998B-457A-B579-10860DCD0A1C}"/>
              </a:ext>
            </a:extLst>
          </p:cNvPr>
          <p:cNvGrpSpPr/>
          <p:nvPr userDrawn="1"/>
        </p:nvGrpSpPr>
        <p:grpSpPr>
          <a:xfrm>
            <a:off x="534277" y="380597"/>
            <a:ext cx="902611" cy="902611"/>
            <a:chOff x="515937" y="326276"/>
            <a:chExt cx="902611" cy="902611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61574AA-36DC-4AA1-8288-BB699FC616CA}"/>
                </a:ext>
              </a:extLst>
            </p:cNvPr>
            <p:cNvGrpSpPr/>
            <p:nvPr/>
          </p:nvGrpSpPr>
          <p:grpSpPr>
            <a:xfrm>
              <a:off x="515937" y="326276"/>
              <a:ext cx="902611" cy="902611"/>
              <a:chOff x="4492144" y="190843"/>
              <a:chExt cx="855656" cy="855656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1F46EE58-4E15-4047-BA0A-08D806BDD0C5}"/>
                  </a:ext>
                </a:extLst>
              </p:cNvPr>
              <p:cNvSpPr/>
              <p:nvPr/>
            </p:nvSpPr>
            <p:spPr>
              <a:xfrm>
                <a:off x="4492144" y="190843"/>
                <a:ext cx="855656" cy="855656"/>
              </a:xfrm>
              <a:prstGeom prst="ellipse">
                <a:avLst/>
              </a:prstGeom>
              <a:solidFill>
                <a:schemeClr val="bg1"/>
              </a:solidFill>
              <a:ln w="76200"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D491A383-0A05-4DB6-8C35-81A9AE683911}"/>
                  </a:ext>
                </a:extLst>
              </p:cNvPr>
              <p:cNvSpPr/>
              <p:nvPr/>
            </p:nvSpPr>
            <p:spPr>
              <a:xfrm>
                <a:off x="4551137" y="249836"/>
                <a:ext cx="737671" cy="737671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 w="76200"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9B915A6A-1CF1-4842-9A60-D4810548BD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4659" y="554912"/>
              <a:ext cx="457200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211652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2BE79-9CF6-49D0-828F-83304EE10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277" y="210344"/>
            <a:ext cx="8902723" cy="9842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31794-EBBB-48C2-B2AE-5771C52F0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695450"/>
            <a:ext cx="4824413" cy="4587081"/>
          </a:xfrm>
        </p:spPr>
        <p:txBody>
          <a:bodyPr/>
          <a:lstStyle>
            <a:lvl1pPr>
              <a:defRPr sz="1400"/>
            </a:lvl1pPr>
            <a:lvl2pPr marL="165100" indent="-165100">
              <a:defRPr sz="1400"/>
            </a:lvl2pPr>
            <a:lvl3pPr marL="344488" indent="-160338">
              <a:defRPr sz="1200"/>
            </a:lvl3pPr>
            <a:lvl4pPr marL="544513" indent="-184150">
              <a:defRPr sz="1100"/>
            </a:lvl4pPr>
            <a:lvl5pPr marL="746125" indent="-176213"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396C8-82EE-4828-BB90-F70077CC6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in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CAEA2-92AB-4512-A9D7-FD0A72486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0463241-5450-4976-8525-5C06611D08B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591175" y="1695450"/>
            <a:ext cx="6084886" cy="4587081"/>
          </a:xfrm>
        </p:spPr>
        <p:txBody>
          <a:bodyPr/>
          <a:lstStyle>
            <a:lvl1pPr>
              <a:defRPr sz="1400"/>
            </a:lvl1pPr>
            <a:lvl2pPr marL="165100" indent="-165100">
              <a:defRPr sz="1400"/>
            </a:lvl2pPr>
            <a:lvl3pPr marL="344488" indent="-160338">
              <a:defRPr sz="1200"/>
            </a:lvl3pPr>
            <a:lvl4pPr marL="544513" indent="-184150">
              <a:defRPr sz="1100"/>
            </a:lvl4pPr>
            <a:lvl5pPr marL="746125" indent="-176213"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515938" y="1344706"/>
            <a:ext cx="11160123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 userDrawn="1"/>
        </p:nvGrpSpPr>
        <p:grpSpPr>
          <a:xfrm>
            <a:off x="10086109" y="417870"/>
            <a:ext cx="2105891" cy="569193"/>
            <a:chOff x="10086109" y="5763491"/>
            <a:chExt cx="2105891" cy="569193"/>
          </a:xfrm>
        </p:grpSpPr>
        <p:sp>
          <p:nvSpPr>
            <p:cNvPr id="11" name="Rectangle 10"/>
            <p:cNvSpPr/>
            <p:nvPr/>
          </p:nvSpPr>
          <p:spPr>
            <a:xfrm>
              <a:off x="10086109" y="5763491"/>
              <a:ext cx="2105891" cy="51904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10538695" y="5812704"/>
              <a:ext cx="1343888" cy="519980"/>
              <a:chOff x="515938" y="466803"/>
              <a:chExt cx="2499478" cy="967103"/>
            </a:xfrm>
          </p:grpSpPr>
          <p:grpSp>
            <p:nvGrpSpPr>
              <p:cNvPr id="13" name="Group 12"/>
              <p:cNvGrpSpPr/>
              <p:nvPr/>
            </p:nvGrpSpPr>
            <p:grpSpPr>
              <a:xfrm>
                <a:off x="515938" y="466803"/>
                <a:ext cx="281354" cy="780960"/>
                <a:chOff x="4342156" y="2541184"/>
                <a:chExt cx="219003" cy="683186"/>
              </a:xfrm>
            </p:grpSpPr>
            <p:sp>
              <p:nvSpPr>
                <p:cNvPr id="15" name="Rectangle 14"/>
                <p:cNvSpPr/>
                <p:nvPr/>
              </p:nvSpPr>
              <p:spPr>
                <a:xfrm>
                  <a:off x="4342156" y="2541184"/>
                  <a:ext cx="92606" cy="544709"/>
                </a:xfrm>
                <a:prstGeom prst="rect">
                  <a:avLst/>
                </a:prstGeom>
                <a:solidFill>
                  <a:schemeClr val="tx2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6" name="Rounded Rectangle 15"/>
                <p:cNvSpPr/>
                <p:nvPr/>
              </p:nvSpPr>
              <p:spPr bwMode="auto">
                <a:xfrm>
                  <a:off x="4475003" y="2541184"/>
                  <a:ext cx="86156" cy="683186"/>
                </a:xfrm>
                <a:prstGeom prst="roundRect">
                  <a:avLst>
                    <a:gd name="adj" fmla="val 6597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vert="horz" wrap="square" lIns="0" tIns="0" rIns="0" bIns="0" numCol="1" rtlCol="0" anchor="ctr" anchorCtr="1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122632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sp>
            <p:nvSpPr>
              <p:cNvPr id="14" name="TextBox 13"/>
              <p:cNvSpPr txBox="1"/>
              <p:nvPr/>
            </p:nvSpPr>
            <p:spPr>
              <a:xfrm>
                <a:off x="891194" y="589844"/>
                <a:ext cx="2124222" cy="8440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l"/>
                <a:r>
                  <a:rPr lang="en-US" sz="2000" b="1">
                    <a:solidFill>
                      <a:schemeClr val="bg1"/>
                    </a:solidFill>
                  </a:rPr>
                  <a:t>S4F-ERP</a:t>
                </a:r>
              </a:p>
            </p:txBody>
          </p:sp>
        </p:grpSp>
      </p:grpSp>
      <p:sp>
        <p:nvSpPr>
          <p:cNvPr id="17" name="Rectangle 16"/>
          <p:cNvSpPr/>
          <p:nvPr userDrawn="1"/>
        </p:nvSpPr>
        <p:spPr>
          <a:xfrm>
            <a:off x="0" y="678873"/>
            <a:ext cx="207818" cy="5968783"/>
          </a:xfrm>
          <a:prstGeom prst="rect">
            <a:avLst/>
          </a:prstGeom>
          <a:solidFill>
            <a:srgbClr val="0059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1121BA3-DFDA-4363-BC31-122FB93EABAF}"/>
              </a:ext>
            </a:extLst>
          </p:cNvPr>
          <p:cNvGrpSpPr/>
          <p:nvPr userDrawn="1"/>
        </p:nvGrpSpPr>
        <p:grpSpPr>
          <a:xfrm>
            <a:off x="480180" y="350564"/>
            <a:ext cx="902611" cy="902611"/>
            <a:chOff x="515937" y="326276"/>
            <a:chExt cx="902611" cy="902611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2474FB6-94CF-4B97-ACDD-CA64BE8D759B}"/>
                </a:ext>
              </a:extLst>
            </p:cNvPr>
            <p:cNvGrpSpPr/>
            <p:nvPr/>
          </p:nvGrpSpPr>
          <p:grpSpPr>
            <a:xfrm>
              <a:off x="515937" y="326276"/>
              <a:ext cx="902611" cy="902611"/>
              <a:chOff x="4492144" y="190843"/>
              <a:chExt cx="855656" cy="855656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B9F5856B-5698-43AD-BCFC-2C10B8A97B78}"/>
                  </a:ext>
                </a:extLst>
              </p:cNvPr>
              <p:cNvSpPr/>
              <p:nvPr/>
            </p:nvSpPr>
            <p:spPr>
              <a:xfrm>
                <a:off x="4492144" y="190843"/>
                <a:ext cx="855656" cy="855656"/>
              </a:xfrm>
              <a:prstGeom prst="ellipse">
                <a:avLst/>
              </a:prstGeom>
              <a:solidFill>
                <a:schemeClr val="bg1"/>
              </a:solidFill>
              <a:ln w="76200"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21963F15-A1C0-4470-B411-E0046E12E4B7}"/>
                  </a:ext>
                </a:extLst>
              </p:cNvPr>
              <p:cNvSpPr/>
              <p:nvPr/>
            </p:nvSpPr>
            <p:spPr>
              <a:xfrm>
                <a:off x="4551137" y="249836"/>
                <a:ext cx="737671" cy="737671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 w="76200"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71FC43D5-4C18-40D6-9BB7-C5A28C74421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4659" y="554912"/>
              <a:ext cx="457200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73148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08513E-D1D6-4909-A6A1-E798C3840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in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81A9FA-9619-43AB-B085-D7F021094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511277" y="210344"/>
            <a:ext cx="8902723" cy="98424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7" name="Group 6"/>
          <p:cNvGrpSpPr/>
          <p:nvPr userDrawn="1"/>
        </p:nvGrpSpPr>
        <p:grpSpPr>
          <a:xfrm>
            <a:off x="10086109" y="417870"/>
            <a:ext cx="2105891" cy="569193"/>
            <a:chOff x="10086109" y="5763491"/>
            <a:chExt cx="2105891" cy="569193"/>
          </a:xfrm>
        </p:grpSpPr>
        <p:sp>
          <p:nvSpPr>
            <p:cNvPr id="8" name="Rectangle 7"/>
            <p:cNvSpPr/>
            <p:nvPr/>
          </p:nvSpPr>
          <p:spPr>
            <a:xfrm>
              <a:off x="10086109" y="5763491"/>
              <a:ext cx="2105891" cy="51904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10538695" y="5812704"/>
              <a:ext cx="1343888" cy="519980"/>
              <a:chOff x="515938" y="466803"/>
              <a:chExt cx="2499478" cy="967103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515938" y="466803"/>
                <a:ext cx="281354" cy="780960"/>
                <a:chOff x="4342156" y="2541184"/>
                <a:chExt cx="219003" cy="683186"/>
              </a:xfrm>
            </p:grpSpPr>
            <p:sp>
              <p:nvSpPr>
                <p:cNvPr id="12" name="Rectangle 11"/>
                <p:cNvSpPr/>
                <p:nvPr/>
              </p:nvSpPr>
              <p:spPr>
                <a:xfrm>
                  <a:off x="4342156" y="2541184"/>
                  <a:ext cx="92606" cy="544709"/>
                </a:xfrm>
                <a:prstGeom prst="rect">
                  <a:avLst/>
                </a:prstGeom>
                <a:solidFill>
                  <a:schemeClr val="tx2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Rounded Rectangle 12"/>
                <p:cNvSpPr/>
                <p:nvPr/>
              </p:nvSpPr>
              <p:spPr bwMode="auto">
                <a:xfrm>
                  <a:off x="4475003" y="2541184"/>
                  <a:ext cx="86156" cy="683186"/>
                </a:xfrm>
                <a:prstGeom prst="roundRect">
                  <a:avLst>
                    <a:gd name="adj" fmla="val 6597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vert="horz" wrap="square" lIns="0" tIns="0" rIns="0" bIns="0" numCol="1" rtlCol="0" anchor="ctr" anchorCtr="1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122632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sp>
            <p:nvSpPr>
              <p:cNvPr id="11" name="TextBox 10"/>
              <p:cNvSpPr txBox="1"/>
              <p:nvPr/>
            </p:nvSpPr>
            <p:spPr>
              <a:xfrm>
                <a:off x="891194" y="589844"/>
                <a:ext cx="2124222" cy="8440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l"/>
                <a:r>
                  <a:rPr lang="en-US" sz="2000" b="1">
                    <a:solidFill>
                      <a:schemeClr val="bg1"/>
                    </a:solidFill>
                  </a:rPr>
                  <a:t>S4F-ERP</a:t>
                </a:r>
              </a:p>
            </p:txBody>
          </p:sp>
        </p:grpSp>
      </p:grpSp>
      <p:sp>
        <p:nvSpPr>
          <p:cNvPr id="14" name="Rectangle 13"/>
          <p:cNvSpPr/>
          <p:nvPr userDrawn="1"/>
        </p:nvSpPr>
        <p:spPr>
          <a:xfrm>
            <a:off x="0" y="678873"/>
            <a:ext cx="207818" cy="5968783"/>
          </a:xfrm>
          <a:prstGeom prst="rect">
            <a:avLst/>
          </a:prstGeom>
          <a:solidFill>
            <a:srgbClr val="0058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3E30CAE-C48E-4C10-823D-7B7B055C1621}"/>
              </a:ext>
            </a:extLst>
          </p:cNvPr>
          <p:cNvGrpSpPr/>
          <p:nvPr userDrawn="1"/>
        </p:nvGrpSpPr>
        <p:grpSpPr>
          <a:xfrm>
            <a:off x="445437" y="339706"/>
            <a:ext cx="902611" cy="902611"/>
            <a:chOff x="515937" y="326276"/>
            <a:chExt cx="902611" cy="902611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48B2734-2F5C-4117-AEB7-A94237D67448}"/>
                </a:ext>
              </a:extLst>
            </p:cNvPr>
            <p:cNvGrpSpPr/>
            <p:nvPr/>
          </p:nvGrpSpPr>
          <p:grpSpPr>
            <a:xfrm>
              <a:off x="515937" y="326276"/>
              <a:ext cx="902611" cy="902611"/>
              <a:chOff x="4492144" y="190843"/>
              <a:chExt cx="855656" cy="855656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54C76669-00B0-4607-8644-F90CB369E0B5}"/>
                  </a:ext>
                </a:extLst>
              </p:cNvPr>
              <p:cNvSpPr/>
              <p:nvPr/>
            </p:nvSpPr>
            <p:spPr>
              <a:xfrm>
                <a:off x="4492144" y="190843"/>
                <a:ext cx="855656" cy="855656"/>
              </a:xfrm>
              <a:prstGeom prst="ellipse">
                <a:avLst/>
              </a:prstGeom>
              <a:solidFill>
                <a:schemeClr val="bg1"/>
              </a:solidFill>
              <a:ln w="76200"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DCEA192E-2BDC-4203-AC54-8AD16575143B}"/>
                  </a:ext>
                </a:extLst>
              </p:cNvPr>
              <p:cNvSpPr/>
              <p:nvPr/>
            </p:nvSpPr>
            <p:spPr>
              <a:xfrm>
                <a:off x="4551137" y="249836"/>
                <a:ext cx="737671" cy="737671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 w="76200"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F905EC3A-FD2E-44C9-BC8C-D41A7528EB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4659" y="554912"/>
              <a:ext cx="457200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51527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21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3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DC96D433-0AA6-40DB-9046-CFB5278099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35875300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think-cell Slide" r:id="rId21" imgW="416" imgH="416" progId="TCLayout.ActiveDocument.1">
                  <p:embed/>
                </p:oleObj>
              </mc:Choice>
              <mc:Fallback>
                <p:oleObj name="think-cell Slide" r:id="rId21" imgW="416" imgH="41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DC96D433-0AA6-40DB-9046-CFB5278099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645F2BDE-22E5-4275-A2D6-7A67180975A5}"/>
              </a:ext>
            </a:extLst>
          </p:cNvPr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3200" b="1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19571F-E128-4FF8-A846-91352A101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9" y="210344"/>
            <a:ext cx="9898061" cy="98424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EE3A9-E955-4AFD-9C72-3106238E9A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695450"/>
            <a:ext cx="9898063" cy="458708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7185E-8EC7-42C4-875B-7957276D60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77073" y="6282531"/>
            <a:ext cx="4201727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title in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505A6-DE1E-455A-9F96-B1BC2DE26A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8800" y="6282531"/>
            <a:ext cx="397261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4C94289-3309-4C35-850A-56FD49B3E346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E89007-8C14-45BA-9B75-C9A19A48430E}"/>
              </a:ext>
            </a:extLst>
          </p:cNvPr>
          <p:cNvSpPr txBox="1"/>
          <p:nvPr userDrawn="1"/>
        </p:nvSpPr>
        <p:spPr>
          <a:xfrm>
            <a:off x="515938" y="6282531"/>
            <a:ext cx="1799722" cy="3651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00"/>
              <a:t>© JTI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558707-958B-46B5-B09F-9B53C1657C43}"/>
              </a:ext>
            </a:extLst>
          </p:cNvPr>
          <p:cNvCxnSpPr/>
          <p:nvPr userDrawn="1"/>
        </p:nvCxnSpPr>
        <p:spPr>
          <a:xfrm>
            <a:off x="515937" y="1343026"/>
            <a:ext cx="1116012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3574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7" r:id="rId3"/>
    <p:sldLayoutId id="2147483668" r:id="rId4"/>
    <p:sldLayoutId id="2147483669" r:id="rId5"/>
    <p:sldLayoutId id="2147483650" r:id="rId6"/>
    <p:sldLayoutId id="2147483656" r:id="rId7"/>
    <p:sldLayoutId id="2147483657" r:id="rId8"/>
    <p:sldLayoutId id="2147483651" r:id="rId9"/>
    <p:sldLayoutId id="2147483664" r:id="rId10"/>
    <p:sldLayoutId id="2147483658" r:id="rId11"/>
    <p:sldLayoutId id="2147483665" r:id="rId12"/>
    <p:sldLayoutId id="2147483666" r:id="rId13"/>
    <p:sldLayoutId id="2147483654" r:id="rId14"/>
    <p:sldLayoutId id="2147483655" r:id="rId15"/>
    <p:sldLayoutId id="2147483670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79388" indent="-179388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207963" indent="182563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08013" indent="-198438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31850" indent="-204788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25" userDrawn="1">
          <p15:clr>
            <a:srgbClr val="F26B43"/>
          </p15:clr>
        </p15:guide>
        <p15:guide id="3" pos="7355" userDrawn="1">
          <p15:clr>
            <a:srgbClr val="F26B43"/>
          </p15:clr>
        </p15:guide>
        <p15:guide id="4" pos="3364" userDrawn="1">
          <p15:clr>
            <a:srgbClr val="F26B43"/>
          </p15:clr>
        </p15:guide>
        <p15:guide id="5" pos="3522" userDrawn="1">
          <p15:clr>
            <a:srgbClr val="F26B43"/>
          </p15:clr>
        </p15:guide>
        <p15:guide id="6" orient="horz" pos="1068" userDrawn="1">
          <p15:clr>
            <a:srgbClr val="F26B43"/>
          </p15:clr>
        </p15:guide>
        <p15:guide id="7" orient="horz" pos="395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19571F-E128-4FF8-A846-91352A101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9" y="210344"/>
            <a:ext cx="9898061" cy="98424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EE3A9-E955-4AFD-9C72-3106238E9A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695450"/>
            <a:ext cx="9898063" cy="458708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7185E-8EC7-42C4-875B-7957276D60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77073" y="6297521"/>
            <a:ext cx="4201727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title in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505A6-DE1E-455A-9F96-B1BC2DE26A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8800" y="6297521"/>
            <a:ext cx="397261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4C94289-3309-4C35-850A-56FD49B3E346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E89007-8C14-45BA-9B75-C9A19A48430E}"/>
              </a:ext>
            </a:extLst>
          </p:cNvPr>
          <p:cNvSpPr txBox="1"/>
          <p:nvPr userDrawn="1"/>
        </p:nvSpPr>
        <p:spPr>
          <a:xfrm>
            <a:off x="515938" y="6282531"/>
            <a:ext cx="1799722" cy="3651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00"/>
              <a:t>© </a:t>
            </a:r>
            <a:r>
              <a:rPr lang="en-GB" sz="800" err="1"/>
              <a:t>JTI</a:t>
            </a:r>
            <a:r>
              <a:rPr lang="en-GB" sz="800"/>
              <a:t> 2019 Confidential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558707-958B-46B5-B09F-9B53C1657C43}"/>
              </a:ext>
            </a:extLst>
          </p:cNvPr>
          <p:cNvCxnSpPr/>
          <p:nvPr userDrawn="1"/>
        </p:nvCxnSpPr>
        <p:spPr>
          <a:xfrm>
            <a:off x="515937" y="1343026"/>
            <a:ext cx="1116012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1E89007-8C14-45BA-9B75-C9A19A48430E}"/>
              </a:ext>
            </a:extLst>
          </p:cNvPr>
          <p:cNvSpPr txBox="1"/>
          <p:nvPr userDrawn="1"/>
        </p:nvSpPr>
        <p:spPr>
          <a:xfrm>
            <a:off x="4703985" y="6535710"/>
            <a:ext cx="2802070" cy="27683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/>
            <a:r>
              <a:rPr lang="en-US" sz="1000">
                <a:latin typeface="+mn-lt"/>
                <a:ea typeface="Roboto" charset="0"/>
                <a:cs typeface="Roboto" charset="0"/>
              </a:rPr>
              <a:t>Simplify, Standardize, Accelerate </a:t>
            </a:r>
          </a:p>
        </p:txBody>
      </p:sp>
    </p:spTree>
    <p:extLst>
      <p:ext uri="{BB962C8B-B14F-4D97-AF65-F5344CB8AC3E}">
        <p14:creationId xmlns:p14="http://schemas.microsoft.com/office/powerpoint/2010/main" val="644927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79388" indent="-179388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207963" indent="182563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08013" indent="-198438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31850" indent="-204788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25">
          <p15:clr>
            <a:srgbClr val="F26B43"/>
          </p15:clr>
        </p15:guide>
        <p15:guide id="3" pos="7355">
          <p15:clr>
            <a:srgbClr val="F26B43"/>
          </p15:clr>
        </p15:guide>
        <p15:guide id="4" pos="3364">
          <p15:clr>
            <a:srgbClr val="F26B43"/>
          </p15:clr>
        </p15:guide>
        <p15:guide id="5" pos="3522">
          <p15:clr>
            <a:srgbClr val="F26B43"/>
          </p15:clr>
        </p15:guide>
        <p15:guide id="6" orient="horz" pos="1068">
          <p15:clr>
            <a:srgbClr val="F26B43"/>
          </p15:clr>
        </p15:guide>
        <p15:guide id="7" orient="horz" pos="3959">
          <p15:clr>
            <a:srgbClr val="F26B43"/>
          </p15:clr>
        </p15:guide>
        <p15:guide id="8" pos="3840">
          <p15:clr>
            <a:srgbClr val="F26B43"/>
          </p15:clr>
        </p15:guide>
        <p15:guide id="9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7" Type="http://schemas.openxmlformats.org/officeDocument/2006/relationships/image" Target="../media/image1.emf"/><Relationship Id="rId2" Type="http://schemas.openxmlformats.org/officeDocument/2006/relationships/tags" Target="../tags/tag4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8.emf"/><Relationship Id="rId4" Type="http://schemas.openxmlformats.org/officeDocument/2006/relationships/image" Target="../media/image17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ED60A35E-F029-41DB-876B-2B16A33C1AA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think-cell Slide" r:id="rId6" imgW="416" imgH="416" progId="TCLayout.ActiveDocument.1">
                  <p:embed/>
                </p:oleObj>
              </mc:Choice>
              <mc:Fallback>
                <p:oleObj name="think-cell Slide" r:id="rId6" imgW="416" imgH="41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ED60A35E-F029-41DB-876B-2B16A33C1A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74A9F158-ED04-4310-B124-B019AA61F66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4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402ED6-344C-4756-94ED-D039A41F36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5143" y="1648258"/>
            <a:ext cx="11161713" cy="1468437"/>
          </a:xfrm>
        </p:spPr>
        <p:txBody>
          <a:bodyPr/>
          <a:lstStyle/>
          <a:p>
            <a:r>
              <a:rPr lang="en-GB" dirty="0"/>
              <a:t>P14 STAT/TAX Year-End process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04DE51C-5946-4C20-B9DE-B36E56036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prstClr val="black"/>
                </a:solidFill>
                <a:latin typeface="Arial" panose="020B0604020202020204"/>
              </a:rPr>
              <a:t>10</a:t>
            </a:r>
            <a:r>
              <a:rPr lang="en-GB" baseline="30000" dirty="0">
                <a:solidFill>
                  <a:prstClr val="black"/>
                </a:solidFill>
                <a:latin typeface="Arial" panose="020B0604020202020204"/>
              </a:rPr>
              <a:t>th</a:t>
            </a:r>
            <a:r>
              <a:rPr lang="en-GB" dirty="0">
                <a:solidFill>
                  <a:prstClr val="black"/>
                </a:solidFill>
                <a:latin typeface="Arial" panose="020B0604020202020204"/>
              </a:rPr>
              <a:t> December 2020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3118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C11D3-0415-4088-BEC6-841F0B399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Key Period End Closing Timelines for STAT/TAX Ledgers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A97D46-A729-44C0-A942-E35B6876F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24" y="1361449"/>
            <a:ext cx="11529276" cy="3181294"/>
          </a:xfrm>
          <a:prstGeom prst="rect">
            <a:avLst/>
          </a:prstGeom>
        </p:spPr>
      </p:pic>
      <p:sp>
        <p:nvSpPr>
          <p:cNvPr id="22" name="Rounded Rectangle 19">
            <a:extLst>
              <a:ext uri="{FF2B5EF4-FFF2-40B4-BE49-F238E27FC236}">
                <a16:creationId xmlns:a16="http://schemas.microsoft.com/office/drawing/2014/main" id="{1FAEDCF0-D3A7-42AC-B7A5-8CD9CDECE6C6}"/>
              </a:ext>
            </a:extLst>
          </p:cNvPr>
          <p:cNvSpPr/>
          <p:nvPr/>
        </p:nvSpPr>
        <p:spPr bwMode="gray">
          <a:xfrm>
            <a:off x="3112335" y="3391020"/>
            <a:ext cx="3056107" cy="2381130"/>
          </a:xfrm>
          <a:prstGeom prst="roundRect">
            <a:avLst>
              <a:gd name="adj" fmla="val 138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tIns="108000" rtlCol="0" anchor="t" anchorCtr="0"/>
          <a:lstStyle/>
          <a:p>
            <a:pPr marL="0" marR="0" lvl="0" indent="0" algn="l" defTabSz="30153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      </a:t>
            </a:r>
            <a:r>
              <a:rPr kumimoji="0" lang="en-GB" sz="12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Annual ledger closing:</a:t>
            </a:r>
          </a:p>
          <a:p>
            <a:pPr marL="0" marR="0" lvl="0" indent="0" algn="l" defTabSz="30153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44000" marR="0" lvl="0" indent="-144000" algn="l" defTabSz="30153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Statutory Ledger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and Tax Ledger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closing cut-off - </a:t>
            </a: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end June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and </a:t>
            </a: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end of September respectively 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for YE manual ledger specific postings (FA, ML–COGM, AP, AR, CM, FSCM will need to be closed as per monthly calendar).</a:t>
            </a:r>
          </a:p>
          <a:p>
            <a:pPr marL="171450" marR="0" lvl="0" indent="-171450" algn="l" defTabSz="30153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Rounded Rectangle 17">
            <a:extLst>
              <a:ext uri="{FF2B5EF4-FFF2-40B4-BE49-F238E27FC236}">
                <a16:creationId xmlns:a16="http://schemas.microsoft.com/office/drawing/2014/main" id="{56A325A7-E6BD-4144-B468-D126A04D5B3E}"/>
              </a:ext>
            </a:extLst>
          </p:cNvPr>
          <p:cNvSpPr/>
          <p:nvPr/>
        </p:nvSpPr>
        <p:spPr bwMode="gray">
          <a:xfrm>
            <a:off x="348230" y="3190396"/>
            <a:ext cx="2614045" cy="2076929"/>
          </a:xfrm>
          <a:prstGeom prst="roundRect">
            <a:avLst>
              <a:gd name="adj" fmla="val 2753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1226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     </a:t>
            </a:r>
            <a:r>
              <a:rPr kumimoji="0" lang="en-GB" sz="1200" b="1" i="0" u="sng" strike="noStrike" kern="1200" cap="none" spc="0" normalizeH="0" baseline="0" noProof="0">
                <a:ln>
                  <a:noFill/>
                </a:ln>
                <a:solidFill>
                  <a:srgbClr val="1226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Monthly ledger closing:</a:t>
            </a:r>
          </a:p>
          <a:p>
            <a:pPr marL="144000" marR="0" lvl="0" indent="-14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srgbClr val="1226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44000" marR="0" lvl="0" indent="-14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1226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Statutory Ledger 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1226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closing cut-off established on </a:t>
            </a: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1226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WD10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1226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</a:p>
          <a:p>
            <a:pPr marL="144000" marR="0" lvl="0" indent="-14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1226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Tax Ledgers 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1226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closing cut-off established on </a:t>
            </a: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1226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WD10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1226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(will be closed in parallel with Statutory ledger). </a:t>
            </a:r>
          </a:p>
          <a:p>
            <a:pPr marL="144000" marR="0" lvl="0" indent="-14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1226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1226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57B6E11-AD7A-4025-A409-9C525ED976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2815" y="3463373"/>
            <a:ext cx="337538" cy="32574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Graphic 12" descr="Daily calendar">
            <a:extLst>
              <a:ext uri="{FF2B5EF4-FFF2-40B4-BE49-F238E27FC236}">
                <a16:creationId xmlns:a16="http://schemas.microsoft.com/office/drawing/2014/main" id="{10B8B345-AA0B-4522-ADB1-237AD1BA5B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8230" y="3190395"/>
            <a:ext cx="381600" cy="3816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D6394C-0CE0-4AB4-8AE7-031DE2FF6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6415" y="5543671"/>
            <a:ext cx="397261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C94289-3309-4C35-850A-56FD49B3E346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" name="Rounded Rectangle 25">
            <a:extLst>
              <a:ext uri="{FF2B5EF4-FFF2-40B4-BE49-F238E27FC236}">
                <a16:creationId xmlns:a16="http://schemas.microsoft.com/office/drawing/2014/main" id="{F57DBABB-6D7B-4D62-89E6-DE260E32F75F}"/>
              </a:ext>
            </a:extLst>
          </p:cNvPr>
          <p:cNvSpPr/>
          <p:nvPr/>
        </p:nvSpPr>
        <p:spPr bwMode="gray">
          <a:xfrm>
            <a:off x="6318501" y="4143495"/>
            <a:ext cx="4273299" cy="2504161"/>
          </a:xfrm>
          <a:prstGeom prst="roundRect">
            <a:avLst>
              <a:gd name="adj" fmla="val 1749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     </a:t>
            </a:r>
            <a:r>
              <a:rPr kumimoji="0" lang="en-GB" sz="12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Use of Posting Periods: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sng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44000" marR="0" lvl="0" indent="-14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Standard 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Posting Periods </a:t>
            </a: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P1-P12 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to be used for bookings in IFRS and any compulsory monthly activities for STAT and TAX.</a:t>
            </a:r>
          </a:p>
          <a:p>
            <a:pPr marL="144000" marR="0" lvl="0" indent="-14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Special Posting Periods: P13-P16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each has been assigned with a specific usage: </a:t>
            </a:r>
          </a:p>
          <a:p>
            <a:pPr marL="601200" marR="0" lvl="1" indent="-14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P14 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is</a:t>
            </a: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to be used in ST/TX ledgers for current year ledger specific manual postings/adjustments </a:t>
            </a: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post P12 close until finalization 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of Statutory Financial Statements (audit sign off and CIT return finalization). </a:t>
            </a: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Postings are to be made via MyRequest GL Journal Templates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</a:t>
            </a:r>
          </a:p>
          <a:p>
            <a:pPr marL="144000" marR="0" lvl="0" indent="-14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Shape 444">
            <a:extLst>
              <a:ext uri="{FF2B5EF4-FFF2-40B4-BE49-F238E27FC236}">
                <a16:creationId xmlns:a16="http://schemas.microsoft.com/office/drawing/2014/main" id="{28A1419B-8A54-44AD-92FA-E4BE5F2047DA}"/>
              </a:ext>
            </a:extLst>
          </p:cNvPr>
          <p:cNvSpPr/>
          <p:nvPr/>
        </p:nvSpPr>
        <p:spPr>
          <a:xfrm>
            <a:off x="6338936" y="4172190"/>
            <a:ext cx="288000" cy="2779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56" y="2769"/>
                </a:moveTo>
                <a:cubicBezTo>
                  <a:pt x="3516" y="2769"/>
                  <a:pt x="3516" y="2769"/>
                  <a:pt x="3516" y="2769"/>
                </a:cubicBezTo>
                <a:cubicBezTo>
                  <a:pt x="3516" y="2492"/>
                  <a:pt x="3516" y="2492"/>
                  <a:pt x="3516" y="2492"/>
                </a:cubicBezTo>
                <a:cubicBezTo>
                  <a:pt x="3516" y="1662"/>
                  <a:pt x="3516" y="1108"/>
                  <a:pt x="4019" y="831"/>
                </a:cubicBezTo>
                <a:cubicBezTo>
                  <a:pt x="4521" y="277"/>
                  <a:pt x="5023" y="0"/>
                  <a:pt x="5526" y="0"/>
                </a:cubicBezTo>
                <a:cubicBezTo>
                  <a:pt x="5526" y="0"/>
                  <a:pt x="5526" y="0"/>
                  <a:pt x="5526" y="0"/>
                </a:cubicBezTo>
                <a:cubicBezTo>
                  <a:pt x="6028" y="0"/>
                  <a:pt x="6530" y="277"/>
                  <a:pt x="7033" y="831"/>
                </a:cubicBezTo>
                <a:cubicBezTo>
                  <a:pt x="7284" y="1108"/>
                  <a:pt x="7535" y="1662"/>
                  <a:pt x="7535" y="2492"/>
                </a:cubicBezTo>
                <a:cubicBezTo>
                  <a:pt x="7535" y="2769"/>
                  <a:pt x="7535" y="2769"/>
                  <a:pt x="7535" y="2769"/>
                </a:cubicBezTo>
                <a:cubicBezTo>
                  <a:pt x="8791" y="2769"/>
                  <a:pt x="8791" y="2769"/>
                  <a:pt x="8791" y="2769"/>
                </a:cubicBezTo>
                <a:cubicBezTo>
                  <a:pt x="8791" y="2492"/>
                  <a:pt x="8791" y="2492"/>
                  <a:pt x="8791" y="2492"/>
                </a:cubicBezTo>
                <a:cubicBezTo>
                  <a:pt x="8791" y="1662"/>
                  <a:pt x="9042" y="1108"/>
                  <a:pt x="9293" y="831"/>
                </a:cubicBezTo>
                <a:cubicBezTo>
                  <a:pt x="9795" y="277"/>
                  <a:pt x="10298" y="0"/>
                  <a:pt x="10800" y="0"/>
                </a:cubicBezTo>
                <a:cubicBezTo>
                  <a:pt x="10800" y="0"/>
                  <a:pt x="10800" y="0"/>
                  <a:pt x="10800" y="0"/>
                </a:cubicBezTo>
                <a:cubicBezTo>
                  <a:pt x="11553" y="0"/>
                  <a:pt x="12056" y="277"/>
                  <a:pt x="12307" y="831"/>
                </a:cubicBezTo>
                <a:cubicBezTo>
                  <a:pt x="12809" y="1108"/>
                  <a:pt x="13060" y="1662"/>
                  <a:pt x="13060" y="2492"/>
                </a:cubicBezTo>
                <a:cubicBezTo>
                  <a:pt x="13060" y="2769"/>
                  <a:pt x="13060" y="2769"/>
                  <a:pt x="13060" y="2769"/>
                </a:cubicBezTo>
                <a:cubicBezTo>
                  <a:pt x="14065" y="2769"/>
                  <a:pt x="14065" y="2769"/>
                  <a:pt x="14065" y="2769"/>
                </a:cubicBezTo>
                <a:cubicBezTo>
                  <a:pt x="14065" y="2492"/>
                  <a:pt x="14065" y="2492"/>
                  <a:pt x="14065" y="2492"/>
                </a:cubicBezTo>
                <a:cubicBezTo>
                  <a:pt x="14065" y="1662"/>
                  <a:pt x="14316" y="1108"/>
                  <a:pt x="14567" y="831"/>
                </a:cubicBezTo>
                <a:cubicBezTo>
                  <a:pt x="15070" y="277"/>
                  <a:pt x="15572" y="0"/>
                  <a:pt x="16074" y="0"/>
                </a:cubicBezTo>
                <a:cubicBezTo>
                  <a:pt x="16074" y="0"/>
                  <a:pt x="16074" y="0"/>
                  <a:pt x="16074" y="0"/>
                </a:cubicBezTo>
                <a:cubicBezTo>
                  <a:pt x="16828" y="0"/>
                  <a:pt x="17330" y="277"/>
                  <a:pt x="17581" y="831"/>
                </a:cubicBezTo>
                <a:cubicBezTo>
                  <a:pt x="18084" y="1108"/>
                  <a:pt x="18335" y="1662"/>
                  <a:pt x="18335" y="2492"/>
                </a:cubicBezTo>
                <a:cubicBezTo>
                  <a:pt x="18335" y="2769"/>
                  <a:pt x="18335" y="2769"/>
                  <a:pt x="18335" y="2769"/>
                </a:cubicBezTo>
                <a:cubicBezTo>
                  <a:pt x="20344" y="2769"/>
                  <a:pt x="20344" y="2769"/>
                  <a:pt x="20344" y="2769"/>
                </a:cubicBezTo>
                <a:cubicBezTo>
                  <a:pt x="21600" y="2769"/>
                  <a:pt x="21600" y="2769"/>
                  <a:pt x="21600" y="2769"/>
                </a:cubicBezTo>
                <a:cubicBezTo>
                  <a:pt x="21600" y="4154"/>
                  <a:pt x="21600" y="4154"/>
                  <a:pt x="21600" y="4154"/>
                </a:cubicBezTo>
                <a:cubicBezTo>
                  <a:pt x="21600" y="20215"/>
                  <a:pt x="21600" y="20215"/>
                  <a:pt x="21600" y="20215"/>
                </a:cubicBezTo>
                <a:cubicBezTo>
                  <a:pt x="21600" y="21600"/>
                  <a:pt x="21600" y="21600"/>
                  <a:pt x="21600" y="21600"/>
                </a:cubicBezTo>
                <a:cubicBezTo>
                  <a:pt x="20344" y="21600"/>
                  <a:pt x="20344" y="21600"/>
                  <a:pt x="20344" y="21600"/>
                </a:cubicBezTo>
                <a:cubicBezTo>
                  <a:pt x="6028" y="21600"/>
                  <a:pt x="6028" y="21600"/>
                  <a:pt x="6028" y="21600"/>
                </a:cubicBezTo>
                <a:cubicBezTo>
                  <a:pt x="5777" y="21600"/>
                  <a:pt x="5777" y="21600"/>
                  <a:pt x="5777" y="21600"/>
                </a:cubicBezTo>
                <a:cubicBezTo>
                  <a:pt x="5526" y="21600"/>
                  <a:pt x="5526" y="21600"/>
                  <a:pt x="5526" y="21600"/>
                </a:cubicBezTo>
                <a:cubicBezTo>
                  <a:pt x="753" y="19662"/>
                  <a:pt x="753" y="19662"/>
                  <a:pt x="753" y="19662"/>
                </a:cubicBezTo>
                <a:cubicBezTo>
                  <a:pt x="0" y="19108"/>
                  <a:pt x="0" y="19108"/>
                  <a:pt x="0" y="19108"/>
                </a:cubicBezTo>
                <a:cubicBezTo>
                  <a:pt x="0" y="18277"/>
                  <a:pt x="0" y="18277"/>
                  <a:pt x="0" y="18277"/>
                </a:cubicBezTo>
                <a:cubicBezTo>
                  <a:pt x="0" y="4154"/>
                  <a:pt x="0" y="4154"/>
                  <a:pt x="0" y="4154"/>
                </a:cubicBezTo>
                <a:cubicBezTo>
                  <a:pt x="0" y="2769"/>
                  <a:pt x="0" y="2769"/>
                  <a:pt x="0" y="2769"/>
                </a:cubicBezTo>
                <a:cubicBezTo>
                  <a:pt x="1256" y="2769"/>
                  <a:pt x="1256" y="2769"/>
                  <a:pt x="1256" y="2769"/>
                </a:cubicBezTo>
                <a:close/>
                <a:moveTo>
                  <a:pt x="2512" y="16338"/>
                </a:moveTo>
                <a:cubicBezTo>
                  <a:pt x="3767" y="15508"/>
                  <a:pt x="3767" y="15508"/>
                  <a:pt x="3767" y="15508"/>
                </a:cubicBezTo>
                <a:cubicBezTo>
                  <a:pt x="4270" y="15231"/>
                  <a:pt x="4270" y="15231"/>
                  <a:pt x="4270" y="15231"/>
                </a:cubicBezTo>
                <a:cubicBezTo>
                  <a:pt x="4521" y="15785"/>
                  <a:pt x="4521" y="15785"/>
                  <a:pt x="4521" y="15785"/>
                </a:cubicBezTo>
                <a:cubicBezTo>
                  <a:pt x="7033" y="18831"/>
                  <a:pt x="7033" y="18831"/>
                  <a:pt x="7033" y="18831"/>
                </a:cubicBezTo>
                <a:cubicBezTo>
                  <a:pt x="19088" y="18831"/>
                  <a:pt x="19088" y="18831"/>
                  <a:pt x="19088" y="18831"/>
                </a:cubicBezTo>
                <a:cubicBezTo>
                  <a:pt x="19088" y="5538"/>
                  <a:pt x="19088" y="5538"/>
                  <a:pt x="19088" y="5538"/>
                </a:cubicBezTo>
                <a:cubicBezTo>
                  <a:pt x="18335" y="5538"/>
                  <a:pt x="18335" y="5538"/>
                  <a:pt x="18335" y="5538"/>
                </a:cubicBezTo>
                <a:cubicBezTo>
                  <a:pt x="18335" y="5815"/>
                  <a:pt x="18335" y="5815"/>
                  <a:pt x="18335" y="5815"/>
                </a:cubicBezTo>
                <a:cubicBezTo>
                  <a:pt x="18335" y="6369"/>
                  <a:pt x="18084" y="6923"/>
                  <a:pt x="17581" y="7477"/>
                </a:cubicBezTo>
                <a:cubicBezTo>
                  <a:pt x="17330" y="8031"/>
                  <a:pt x="16828" y="8031"/>
                  <a:pt x="16074" y="8031"/>
                </a:cubicBezTo>
                <a:cubicBezTo>
                  <a:pt x="16074" y="8031"/>
                  <a:pt x="16074" y="8031"/>
                  <a:pt x="16074" y="8031"/>
                </a:cubicBezTo>
                <a:cubicBezTo>
                  <a:pt x="15572" y="8031"/>
                  <a:pt x="15070" y="8031"/>
                  <a:pt x="14567" y="7477"/>
                </a:cubicBezTo>
                <a:cubicBezTo>
                  <a:pt x="14316" y="6923"/>
                  <a:pt x="14065" y="6369"/>
                  <a:pt x="14065" y="5815"/>
                </a:cubicBezTo>
                <a:cubicBezTo>
                  <a:pt x="14065" y="5538"/>
                  <a:pt x="14065" y="5538"/>
                  <a:pt x="14065" y="5538"/>
                </a:cubicBezTo>
                <a:cubicBezTo>
                  <a:pt x="13060" y="5538"/>
                  <a:pt x="13060" y="5538"/>
                  <a:pt x="13060" y="5538"/>
                </a:cubicBezTo>
                <a:cubicBezTo>
                  <a:pt x="13060" y="5815"/>
                  <a:pt x="13060" y="5815"/>
                  <a:pt x="13060" y="5815"/>
                </a:cubicBezTo>
                <a:cubicBezTo>
                  <a:pt x="13060" y="6369"/>
                  <a:pt x="12809" y="6923"/>
                  <a:pt x="12307" y="7477"/>
                </a:cubicBezTo>
                <a:cubicBezTo>
                  <a:pt x="12056" y="8031"/>
                  <a:pt x="11553" y="8031"/>
                  <a:pt x="10800" y="8031"/>
                </a:cubicBezTo>
                <a:cubicBezTo>
                  <a:pt x="10800" y="8031"/>
                  <a:pt x="10800" y="8031"/>
                  <a:pt x="10800" y="8031"/>
                </a:cubicBezTo>
                <a:cubicBezTo>
                  <a:pt x="10298" y="8031"/>
                  <a:pt x="9795" y="8031"/>
                  <a:pt x="9293" y="7477"/>
                </a:cubicBezTo>
                <a:cubicBezTo>
                  <a:pt x="9042" y="6923"/>
                  <a:pt x="8791" y="6369"/>
                  <a:pt x="8791" y="5815"/>
                </a:cubicBezTo>
                <a:cubicBezTo>
                  <a:pt x="8791" y="5538"/>
                  <a:pt x="8791" y="5538"/>
                  <a:pt x="8791" y="5538"/>
                </a:cubicBezTo>
                <a:cubicBezTo>
                  <a:pt x="7535" y="5538"/>
                  <a:pt x="7535" y="5538"/>
                  <a:pt x="7535" y="5538"/>
                </a:cubicBezTo>
                <a:cubicBezTo>
                  <a:pt x="7535" y="5815"/>
                  <a:pt x="7535" y="5815"/>
                  <a:pt x="7535" y="5815"/>
                </a:cubicBezTo>
                <a:cubicBezTo>
                  <a:pt x="7535" y="6369"/>
                  <a:pt x="7284" y="6923"/>
                  <a:pt x="7033" y="7477"/>
                </a:cubicBezTo>
                <a:cubicBezTo>
                  <a:pt x="6530" y="8031"/>
                  <a:pt x="6028" y="8031"/>
                  <a:pt x="5526" y="8031"/>
                </a:cubicBezTo>
                <a:cubicBezTo>
                  <a:pt x="5526" y="8031"/>
                  <a:pt x="5526" y="8031"/>
                  <a:pt x="5526" y="8031"/>
                </a:cubicBezTo>
                <a:cubicBezTo>
                  <a:pt x="5023" y="8031"/>
                  <a:pt x="4521" y="8031"/>
                  <a:pt x="4019" y="7477"/>
                </a:cubicBezTo>
                <a:cubicBezTo>
                  <a:pt x="3516" y="6923"/>
                  <a:pt x="3516" y="6369"/>
                  <a:pt x="3516" y="5815"/>
                </a:cubicBezTo>
                <a:cubicBezTo>
                  <a:pt x="3516" y="5538"/>
                  <a:pt x="3516" y="5538"/>
                  <a:pt x="3516" y="5538"/>
                </a:cubicBezTo>
                <a:cubicBezTo>
                  <a:pt x="2512" y="5538"/>
                  <a:pt x="2512" y="5538"/>
                  <a:pt x="2512" y="5538"/>
                </a:cubicBezTo>
                <a:cubicBezTo>
                  <a:pt x="2512" y="16338"/>
                  <a:pt x="2512" y="16338"/>
                  <a:pt x="2512" y="16338"/>
                </a:cubicBezTo>
                <a:close/>
                <a:moveTo>
                  <a:pt x="5023" y="18554"/>
                </a:moveTo>
                <a:cubicBezTo>
                  <a:pt x="4019" y="17169"/>
                  <a:pt x="4019" y="17169"/>
                  <a:pt x="4019" y="17169"/>
                </a:cubicBezTo>
                <a:cubicBezTo>
                  <a:pt x="3265" y="17723"/>
                  <a:pt x="3265" y="17723"/>
                  <a:pt x="3265" y="17723"/>
                </a:cubicBezTo>
                <a:cubicBezTo>
                  <a:pt x="5023" y="18554"/>
                  <a:pt x="5023" y="18554"/>
                  <a:pt x="5023" y="18554"/>
                </a:cubicBezTo>
                <a:close/>
                <a:moveTo>
                  <a:pt x="13563" y="13569"/>
                </a:moveTo>
                <a:cubicBezTo>
                  <a:pt x="13563" y="15508"/>
                  <a:pt x="13563" y="15508"/>
                  <a:pt x="13563" y="15508"/>
                </a:cubicBezTo>
                <a:cubicBezTo>
                  <a:pt x="16577" y="15508"/>
                  <a:pt x="16577" y="15508"/>
                  <a:pt x="16577" y="15508"/>
                </a:cubicBezTo>
                <a:cubicBezTo>
                  <a:pt x="16577" y="13569"/>
                  <a:pt x="16577" y="13569"/>
                  <a:pt x="16577" y="13569"/>
                </a:cubicBezTo>
                <a:cubicBezTo>
                  <a:pt x="13563" y="13569"/>
                  <a:pt x="13563" y="13569"/>
                  <a:pt x="13563" y="13569"/>
                </a:cubicBezTo>
                <a:close/>
                <a:moveTo>
                  <a:pt x="9544" y="13569"/>
                </a:moveTo>
                <a:cubicBezTo>
                  <a:pt x="9544" y="15508"/>
                  <a:pt x="9544" y="15508"/>
                  <a:pt x="9544" y="15508"/>
                </a:cubicBezTo>
                <a:cubicBezTo>
                  <a:pt x="12307" y="15508"/>
                  <a:pt x="12307" y="15508"/>
                  <a:pt x="12307" y="15508"/>
                </a:cubicBezTo>
                <a:cubicBezTo>
                  <a:pt x="12307" y="13569"/>
                  <a:pt x="12307" y="13569"/>
                  <a:pt x="12307" y="13569"/>
                </a:cubicBezTo>
                <a:cubicBezTo>
                  <a:pt x="9544" y="13569"/>
                  <a:pt x="9544" y="13569"/>
                  <a:pt x="9544" y="13569"/>
                </a:cubicBezTo>
                <a:close/>
                <a:moveTo>
                  <a:pt x="5023" y="13569"/>
                </a:moveTo>
                <a:cubicBezTo>
                  <a:pt x="5023" y="15508"/>
                  <a:pt x="5023" y="15508"/>
                  <a:pt x="5023" y="15508"/>
                </a:cubicBezTo>
                <a:cubicBezTo>
                  <a:pt x="8037" y="15508"/>
                  <a:pt x="8037" y="15508"/>
                  <a:pt x="8037" y="15508"/>
                </a:cubicBezTo>
                <a:cubicBezTo>
                  <a:pt x="8037" y="13569"/>
                  <a:pt x="8037" y="13569"/>
                  <a:pt x="8037" y="13569"/>
                </a:cubicBezTo>
                <a:cubicBezTo>
                  <a:pt x="5023" y="13569"/>
                  <a:pt x="5023" y="13569"/>
                  <a:pt x="5023" y="13569"/>
                </a:cubicBezTo>
                <a:close/>
                <a:moveTo>
                  <a:pt x="13563" y="9969"/>
                </a:moveTo>
                <a:cubicBezTo>
                  <a:pt x="13563" y="11908"/>
                  <a:pt x="13563" y="11908"/>
                  <a:pt x="13563" y="11908"/>
                </a:cubicBezTo>
                <a:cubicBezTo>
                  <a:pt x="16577" y="11908"/>
                  <a:pt x="16577" y="11908"/>
                  <a:pt x="16577" y="11908"/>
                </a:cubicBezTo>
                <a:cubicBezTo>
                  <a:pt x="16577" y="9969"/>
                  <a:pt x="16577" y="9969"/>
                  <a:pt x="16577" y="9969"/>
                </a:cubicBezTo>
                <a:cubicBezTo>
                  <a:pt x="13563" y="9969"/>
                  <a:pt x="13563" y="9969"/>
                  <a:pt x="13563" y="9969"/>
                </a:cubicBezTo>
                <a:close/>
                <a:moveTo>
                  <a:pt x="9544" y="9969"/>
                </a:moveTo>
                <a:cubicBezTo>
                  <a:pt x="9544" y="11908"/>
                  <a:pt x="9544" y="11908"/>
                  <a:pt x="9544" y="11908"/>
                </a:cubicBezTo>
                <a:cubicBezTo>
                  <a:pt x="12307" y="11908"/>
                  <a:pt x="12307" y="11908"/>
                  <a:pt x="12307" y="11908"/>
                </a:cubicBezTo>
                <a:cubicBezTo>
                  <a:pt x="12307" y="9969"/>
                  <a:pt x="12307" y="9969"/>
                  <a:pt x="12307" y="9969"/>
                </a:cubicBezTo>
                <a:cubicBezTo>
                  <a:pt x="9544" y="9969"/>
                  <a:pt x="9544" y="9969"/>
                  <a:pt x="9544" y="9969"/>
                </a:cubicBezTo>
                <a:close/>
                <a:moveTo>
                  <a:pt x="5023" y="9969"/>
                </a:moveTo>
                <a:cubicBezTo>
                  <a:pt x="5023" y="11908"/>
                  <a:pt x="5023" y="11908"/>
                  <a:pt x="5023" y="11908"/>
                </a:cubicBezTo>
                <a:cubicBezTo>
                  <a:pt x="8037" y="11908"/>
                  <a:pt x="8037" y="11908"/>
                  <a:pt x="8037" y="11908"/>
                </a:cubicBezTo>
                <a:cubicBezTo>
                  <a:pt x="8037" y="9969"/>
                  <a:pt x="8037" y="9969"/>
                  <a:pt x="8037" y="9969"/>
                </a:cubicBezTo>
                <a:cubicBezTo>
                  <a:pt x="5023" y="9969"/>
                  <a:pt x="5023" y="9969"/>
                  <a:pt x="5023" y="9969"/>
                </a:cubicBezTo>
                <a:close/>
                <a:moveTo>
                  <a:pt x="16074" y="1385"/>
                </a:moveTo>
                <a:cubicBezTo>
                  <a:pt x="16074" y="1385"/>
                  <a:pt x="16074" y="1385"/>
                  <a:pt x="16074" y="1385"/>
                </a:cubicBezTo>
                <a:cubicBezTo>
                  <a:pt x="15823" y="1385"/>
                  <a:pt x="15823" y="1385"/>
                  <a:pt x="15572" y="1662"/>
                </a:cubicBezTo>
                <a:cubicBezTo>
                  <a:pt x="15321" y="1938"/>
                  <a:pt x="15321" y="2215"/>
                  <a:pt x="15321" y="2492"/>
                </a:cubicBezTo>
                <a:cubicBezTo>
                  <a:pt x="15321" y="5815"/>
                  <a:pt x="15321" y="5815"/>
                  <a:pt x="15321" y="5815"/>
                </a:cubicBezTo>
                <a:cubicBezTo>
                  <a:pt x="15321" y="6092"/>
                  <a:pt x="15321" y="6369"/>
                  <a:pt x="15572" y="6369"/>
                </a:cubicBezTo>
                <a:cubicBezTo>
                  <a:pt x="15823" y="6646"/>
                  <a:pt x="15823" y="6923"/>
                  <a:pt x="16074" y="6923"/>
                </a:cubicBezTo>
                <a:cubicBezTo>
                  <a:pt x="16074" y="6923"/>
                  <a:pt x="16074" y="6923"/>
                  <a:pt x="16074" y="6923"/>
                </a:cubicBezTo>
                <a:cubicBezTo>
                  <a:pt x="16326" y="6923"/>
                  <a:pt x="16577" y="6646"/>
                  <a:pt x="16828" y="6369"/>
                </a:cubicBezTo>
                <a:cubicBezTo>
                  <a:pt x="16828" y="6369"/>
                  <a:pt x="17079" y="6092"/>
                  <a:pt x="17079" y="5815"/>
                </a:cubicBezTo>
                <a:cubicBezTo>
                  <a:pt x="17079" y="2492"/>
                  <a:pt x="17079" y="2492"/>
                  <a:pt x="17079" y="2492"/>
                </a:cubicBezTo>
                <a:cubicBezTo>
                  <a:pt x="17079" y="2215"/>
                  <a:pt x="16828" y="1938"/>
                  <a:pt x="16828" y="1662"/>
                </a:cubicBezTo>
                <a:cubicBezTo>
                  <a:pt x="16577" y="1385"/>
                  <a:pt x="16326" y="1385"/>
                  <a:pt x="16074" y="1385"/>
                </a:cubicBezTo>
                <a:close/>
                <a:moveTo>
                  <a:pt x="10800" y="1385"/>
                </a:moveTo>
                <a:cubicBezTo>
                  <a:pt x="10800" y="1385"/>
                  <a:pt x="10800" y="1385"/>
                  <a:pt x="10800" y="1385"/>
                </a:cubicBezTo>
                <a:cubicBezTo>
                  <a:pt x="10549" y="1385"/>
                  <a:pt x="10549" y="1385"/>
                  <a:pt x="10298" y="1662"/>
                </a:cubicBezTo>
                <a:cubicBezTo>
                  <a:pt x="10047" y="1938"/>
                  <a:pt x="10047" y="2215"/>
                  <a:pt x="10047" y="2492"/>
                </a:cubicBezTo>
                <a:cubicBezTo>
                  <a:pt x="10047" y="5815"/>
                  <a:pt x="10047" y="5815"/>
                  <a:pt x="10047" y="5815"/>
                </a:cubicBezTo>
                <a:cubicBezTo>
                  <a:pt x="10047" y="6092"/>
                  <a:pt x="10047" y="6369"/>
                  <a:pt x="10298" y="6369"/>
                </a:cubicBezTo>
                <a:cubicBezTo>
                  <a:pt x="10549" y="6646"/>
                  <a:pt x="10549" y="6923"/>
                  <a:pt x="10800" y="6923"/>
                </a:cubicBezTo>
                <a:cubicBezTo>
                  <a:pt x="10800" y="6923"/>
                  <a:pt x="10800" y="6923"/>
                  <a:pt x="10800" y="6923"/>
                </a:cubicBezTo>
                <a:cubicBezTo>
                  <a:pt x="11051" y="6923"/>
                  <a:pt x="11302" y="6646"/>
                  <a:pt x="11553" y="6369"/>
                </a:cubicBezTo>
                <a:cubicBezTo>
                  <a:pt x="11553" y="6369"/>
                  <a:pt x="11805" y="6092"/>
                  <a:pt x="11805" y="5815"/>
                </a:cubicBezTo>
                <a:cubicBezTo>
                  <a:pt x="11805" y="2492"/>
                  <a:pt x="11805" y="2492"/>
                  <a:pt x="11805" y="2492"/>
                </a:cubicBezTo>
                <a:cubicBezTo>
                  <a:pt x="11805" y="2215"/>
                  <a:pt x="11553" y="1938"/>
                  <a:pt x="11553" y="1662"/>
                </a:cubicBezTo>
                <a:cubicBezTo>
                  <a:pt x="11302" y="1385"/>
                  <a:pt x="11051" y="1385"/>
                  <a:pt x="10800" y="1385"/>
                </a:cubicBezTo>
                <a:close/>
                <a:moveTo>
                  <a:pt x="5526" y="1385"/>
                </a:moveTo>
                <a:cubicBezTo>
                  <a:pt x="5526" y="1385"/>
                  <a:pt x="5526" y="1385"/>
                  <a:pt x="5526" y="1385"/>
                </a:cubicBezTo>
                <a:cubicBezTo>
                  <a:pt x="5274" y="1385"/>
                  <a:pt x="5023" y="1385"/>
                  <a:pt x="5023" y="1662"/>
                </a:cubicBezTo>
                <a:cubicBezTo>
                  <a:pt x="4772" y="1938"/>
                  <a:pt x="4772" y="2215"/>
                  <a:pt x="4772" y="2492"/>
                </a:cubicBezTo>
                <a:cubicBezTo>
                  <a:pt x="4772" y="5815"/>
                  <a:pt x="4772" y="5815"/>
                  <a:pt x="4772" y="5815"/>
                </a:cubicBezTo>
                <a:cubicBezTo>
                  <a:pt x="4772" y="6092"/>
                  <a:pt x="4772" y="6369"/>
                  <a:pt x="5023" y="6369"/>
                </a:cubicBezTo>
                <a:cubicBezTo>
                  <a:pt x="5023" y="6646"/>
                  <a:pt x="5274" y="6923"/>
                  <a:pt x="5526" y="6923"/>
                </a:cubicBezTo>
                <a:cubicBezTo>
                  <a:pt x="5526" y="6923"/>
                  <a:pt x="5526" y="6923"/>
                  <a:pt x="5526" y="6923"/>
                </a:cubicBezTo>
                <a:cubicBezTo>
                  <a:pt x="5777" y="6923"/>
                  <a:pt x="6028" y="6646"/>
                  <a:pt x="6028" y="6369"/>
                </a:cubicBezTo>
                <a:cubicBezTo>
                  <a:pt x="6279" y="6369"/>
                  <a:pt x="6279" y="6092"/>
                  <a:pt x="6279" y="5815"/>
                </a:cubicBezTo>
                <a:cubicBezTo>
                  <a:pt x="6279" y="2492"/>
                  <a:pt x="6279" y="2492"/>
                  <a:pt x="6279" y="2492"/>
                </a:cubicBezTo>
                <a:cubicBezTo>
                  <a:pt x="6279" y="2215"/>
                  <a:pt x="6279" y="1938"/>
                  <a:pt x="6028" y="1662"/>
                </a:cubicBezTo>
                <a:cubicBezTo>
                  <a:pt x="6028" y="1385"/>
                  <a:pt x="5777" y="1385"/>
                  <a:pt x="5526" y="1385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1439" bIns="91439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>
                <a:latin typeface="Trebuchet MS"/>
                <a:ea typeface="Trebuchet MS"/>
                <a:cs typeface="Trebuchet MS"/>
                <a:sym typeface="Trebuchet MS"/>
              </a:defRPr>
            </a:pPr>
            <a:endParaRPr kumimoji="0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sym typeface="Trebuchet MS"/>
            </a:endParaRP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0011FD61-6A39-4FDA-AAE7-F77D99A8A31D}"/>
              </a:ext>
            </a:extLst>
          </p:cNvPr>
          <p:cNvSpPr txBox="1">
            <a:spLocks/>
          </p:cNvSpPr>
          <p:nvPr/>
        </p:nvSpPr>
        <p:spPr>
          <a:xfrm>
            <a:off x="11278800" y="6282531"/>
            <a:ext cx="397261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C94289-3309-4C35-850A-56FD49B3E346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0105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7CAABE39-70AD-4FEC-9D16-FB3ACEAD2299}"/>
              </a:ext>
            </a:extLst>
          </p:cNvPr>
          <p:cNvSpPr txBox="1"/>
          <p:nvPr/>
        </p:nvSpPr>
        <p:spPr>
          <a:xfrm>
            <a:off x="304799" y="5494378"/>
            <a:ext cx="11636829" cy="131932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lIns="72000" tIns="36000" rIns="72000" bIns="3600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*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1) Auto runs for P14 postings would trigger a need for a complex set-up, testing and administration in system terms with multiple dependencies and risk of errors:</a:t>
            </a:r>
          </a:p>
          <a:p>
            <a:pPr marL="360000" marR="0" lvl="1" indent="-14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such runs would be needed in Feb - June of the next year, it would trigger complex chains of reversals of monthly UFX entries and subsequent UFX postings for later periods whereas the carryforwards/opening balances of several subsequent periods will be affected;</a:t>
            </a:r>
          </a:p>
          <a:p>
            <a:pPr marL="360000" marR="0" lvl="1" indent="-14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entities have different methods used in revaluation programs; therefore different solutions would be required to ensure correctness of UFX for multiple periods due to P14 revaluation run.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lt"/>
                <a:cs typeface="Arial" panose="020B0604020202020204"/>
              </a:rPr>
              <a:t>2) Time management of additional runs would make BSC processes more complicated in the times of transition from BSCs to GBSs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lt"/>
                <a:cs typeface="Arial" panose="020B0604020202020204"/>
              </a:rPr>
              <a:t>.</a:t>
            </a:r>
          </a:p>
          <a:p>
            <a:pPr marL="360000" marR="0" lvl="1" indent="-14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JTI entities in various jurisdictions finalize their journals and close their annual STAT and TAX in different timings among entities and also in between years, automated Revaluation/Translation runs cannot be standardized; entities would be need to reach out one by one to their respective BSC and request the runs to be triggered. </a:t>
            </a:r>
          </a:p>
          <a:p>
            <a:pPr lvl="0"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</a:rPr>
              <a:t>** </a:t>
            </a:r>
            <a:r>
              <a:rPr lang="en-GB" sz="1000" dirty="0">
                <a:solidFill>
                  <a:srgbClr val="000000"/>
                </a:solidFill>
                <a:latin typeface="Arial" panose="020B0604020202020204"/>
              </a:rPr>
              <a:t>For any further adjustments/corrections by FA beyond  the standard FA adjustment program logics, the entity itself shall raise additional GL journal.</a:t>
            </a:r>
            <a:endParaRPr lang="en-US" sz="1000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4C11D3-0415-4088-BEC6-841F0B399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STAT/TAX Ledger Year End Posting Process</a:t>
            </a:r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B93522B-5867-4E72-950D-3AEF1DF757AC}"/>
              </a:ext>
            </a:extLst>
          </p:cNvPr>
          <p:cNvSpPr txBox="1">
            <a:spLocks/>
          </p:cNvSpPr>
          <p:nvPr/>
        </p:nvSpPr>
        <p:spPr>
          <a:xfrm>
            <a:off x="11278800" y="6282531"/>
            <a:ext cx="397261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C94289-3309-4C35-850A-56FD49B3E346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5E58AC5-7B31-4F87-A393-D27CB984EA3D}"/>
              </a:ext>
            </a:extLst>
          </p:cNvPr>
          <p:cNvGrpSpPr/>
          <p:nvPr/>
        </p:nvGrpSpPr>
        <p:grpSpPr>
          <a:xfrm>
            <a:off x="424544" y="1395521"/>
            <a:ext cx="1115809" cy="1107558"/>
            <a:chOff x="272144" y="2210012"/>
            <a:chExt cx="1382486" cy="1397847"/>
          </a:xfrm>
          <a:effectLst/>
        </p:grpSpPr>
        <p:sp>
          <p:nvSpPr>
            <p:cNvPr id="3" name="Circle: Hollow 2">
              <a:extLst>
                <a:ext uri="{FF2B5EF4-FFF2-40B4-BE49-F238E27FC236}">
                  <a16:creationId xmlns:a16="http://schemas.microsoft.com/office/drawing/2014/main" id="{D69F7A4A-9C5F-457C-B9C1-A8D3CBD3330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2144" y="2210012"/>
              <a:ext cx="1382486" cy="1397847"/>
            </a:xfrm>
            <a:prstGeom prst="donut">
              <a:avLst>
                <a:gd name="adj" fmla="val 8853"/>
              </a:avLst>
            </a:prstGeom>
            <a:solidFill>
              <a:schemeClr val="bg2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CDE776F-E2DF-43F0-853D-52CBA7CA9737}"/>
                </a:ext>
              </a:extLst>
            </p:cNvPr>
            <p:cNvSpPr txBox="1"/>
            <p:nvPr/>
          </p:nvSpPr>
          <p:spPr>
            <a:xfrm>
              <a:off x="473505" y="2569026"/>
              <a:ext cx="1026886" cy="566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+mn-ea"/>
                  <a:cs typeface="Aharoni" panose="02010803020104030203" pitchFamily="2" charset="-79"/>
                </a:rPr>
                <a:t>P12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+mn-ea"/>
                  <a:cs typeface="Aharoni" panose="02010803020104030203" pitchFamily="2" charset="-79"/>
                </a:rPr>
                <a:t>Close IFRS Ledger</a:t>
              </a:r>
              <a:endPara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haroni" panose="02010803020104030203" pitchFamily="2" charset="-79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526912F-E8CE-41B9-898C-BAFDC7F61E7C}"/>
              </a:ext>
            </a:extLst>
          </p:cNvPr>
          <p:cNvGrpSpPr/>
          <p:nvPr/>
        </p:nvGrpSpPr>
        <p:grpSpPr>
          <a:xfrm>
            <a:off x="2464946" y="1395521"/>
            <a:ext cx="1115809" cy="1107558"/>
            <a:chOff x="272144" y="2210012"/>
            <a:chExt cx="1382486" cy="1397847"/>
          </a:xfrm>
          <a:effectLst/>
        </p:grpSpPr>
        <p:sp>
          <p:nvSpPr>
            <p:cNvPr id="9" name="Circle: Hollow 8">
              <a:extLst>
                <a:ext uri="{FF2B5EF4-FFF2-40B4-BE49-F238E27FC236}">
                  <a16:creationId xmlns:a16="http://schemas.microsoft.com/office/drawing/2014/main" id="{60912349-051F-466E-84F6-E5724AA8FBE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2144" y="2210012"/>
              <a:ext cx="1382486" cy="1397847"/>
            </a:xfrm>
            <a:prstGeom prst="donut">
              <a:avLst>
                <a:gd name="adj" fmla="val 8853"/>
              </a:avLst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289680D-0670-4504-A926-47EFCAE51338}"/>
                </a:ext>
              </a:extLst>
            </p:cNvPr>
            <p:cNvSpPr txBox="1"/>
            <p:nvPr/>
          </p:nvSpPr>
          <p:spPr>
            <a:xfrm>
              <a:off x="473505" y="2421275"/>
              <a:ext cx="925334" cy="566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+mn-ea"/>
                  <a:cs typeface="Aharoni" panose="02010803020104030203" pitchFamily="2" charset="-79"/>
                </a:rPr>
                <a:t>P12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+mn-ea"/>
                  <a:cs typeface="Aharoni" panose="02010803020104030203" pitchFamily="2" charset="-79"/>
                </a:rPr>
                <a:t>Close STAT &amp; TAX Ledger</a:t>
              </a:r>
              <a:endPara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haroni" panose="02010803020104030203" pitchFamily="2" charset="-79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9589B3A-9082-4408-AD19-F6A0E78FA933}"/>
              </a:ext>
            </a:extLst>
          </p:cNvPr>
          <p:cNvGrpSpPr/>
          <p:nvPr/>
        </p:nvGrpSpPr>
        <p:grpSpPr>
          <a:xfrm>
            <a:off x="4505348" y="1403222"/>
            <a:ext cx="1115809" cy="1107558"/>
            <a:chOff x="272144" y="2210012"/>
            <a:chExt cx="1382486" cy="1397847"/>
          </a:xfrm>
          <a:effectLst/>
        </p:grpSpPr>
        <p:sp>
          <p:nvSpPr>
            <p:cNvPr id="26" name="Circle: Hollow 25">
              <a:extLst>
                <a:ext uri="{FF2B5EF4-FFF2-40B4-BE49-F238E27FC236}">
                  <a16:creationId xmlns:a16="http://schemas.microsoft.com/office/drawing/2014/main" id="{931159A9-F413-4ABA-BDF3-ECD2BB769F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2144" y="2210012"/>
              <a:ext cx="1382486" cy="1397847"/>
            </a:xfrm>
            <a:prstGeom prst="donut">
              <a:avLst>
                <a:gd name="adj" fmla="val 8853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0FB63DC-C105-41DD-AB65-516050A91311}"/>
                </a:ext>
              </a:extLst>
            </p:cNvPr>
            <p:cNvSpPr txBox="1"/>
            <p:nvPr/>
          </p:nvSpPr>
          <p:spPr>
            <a:xfrm>
              <a:off x="392578" y="2421275"/>
              <a:ext cx="1111996" cy="566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+mn-ea"/>
                  <a:cs typeface="Aharoni" panose="02010803020104030203" pitchFamily="2" charset="-79"/>
                </a:rPr>
                <a:t>P14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+mn-ea"/>
                  <a:cs typeface="Aharoni" panose="02010803020104030203" pitchFamily="2" charset="-79"/>
                </a:rPr>
                <a:t>STAT &amp; TAX Ledger Adjustments</a:t>
              </a:r>
              <a:endPara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haroni" panose="02010803020104030203" pitchFamily="2" charset="-79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CBF4660-4424-4F27-BDD0-DAE625291E8E}"/>
              </a:ext>
            </a:extLst>
          </p:cNvPr>
          <p:cNvGrpSpPr/>
          <p:nvPr/>
        </p:nvGrpSpPr>
        <p:grpSpPr>
          <a:xfrm>
            <a:off x="6545750" y="1393765"/>
            <a:ext cx="1115809" cy="1107558"/>
            <a:chOff x="272144" y="2210012"/>
            <a:chExt cx="1382486" cy="1397847"/>
          </a:xfrm>
          <a:effectLst/>
        </p:grpSpPr>
        <p:sp>
          <p:nvSpPr>
            <p:cNvPr id="31" name="Circle: Hollow 30">
              <a:extLst>
                <a:ext uri="{FF2B5EF4-FFF2-40B4-BE49-F238E27FC236}">
                  <a16:creationId xmlns:a16="http://schemas.microsoft.com/office/drawing/2014/main" id="{C440FB43-7003-41E5-A853-8B17005B7DB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2144" y="2210012"/>
              <a:ext cx="1382486" cy="1397847"/>
            </a:xfrm>
            <a:prstGeom prst="donut">
              <a:avLst>
                <a:gd name="adj" fmla="val 8853"/>
              </a:avLst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5A6DFC0-96D4-428B-A325-DA1FFC4102F2}"/>
                </a:ext>
              </a:extLst>
            </p:cNvPr>
            <p:cNvSpPr txBox="1"/>
            <p:nvPr/>
          </p:nvSpPr>
          <p:spPr>
            <a:xfrm>
              <a:off x="419554" y="2599884"/>
              <a:ext cx="1111996" cy="566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+mn-ea"/>
                  <a:cs typeface="Aharoni" panose="02010803020104030203" pitchFamily="2" charset="-79"/>
                </a:rPr>
                <a:t>Reversals of P14 STAT/TAX Ledger Adj.</a:t>
              </a:r>
              <a:endPara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haroni" panose="02010803020104030203" pitchFamily="2" charset="-79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ECA0E3D-61C9-439E-BE4C-FFFE687504ED}"/>
              </a:ext>
            </a:extLst>
          </p:cNvPr>
          <p:cNvGrpSpPr/>
          <p:nvPr/>
        </p:nvGrpSpPr>
        <p:grpSpPr>
          <a:xfrm>
            <a:off x="8586152" y="1393765"/>
            <a:ext cx="1115809" cy="1107558"/>
            <a:chOff x="272144" y="2210012"/>
            <a:chExt cx="1382486" cy="1397847"/>
          </a:xfrm>
          <a:effectLst/>
        </p:grpSpPr>
        <p:sp>
          <p:nvSpPr>
            <p:cNvPr id="35" name="Circle: Hollow 34">
              <a:extLst>
                <a:ext uri="{FF2B5EF4-FFF2-40B4-BE49-F238E27FC236}">
                  <a16:creationId xmlns:a16="http://schemas.microsoft.com/office/drawing/2014/main" id="{3C109BCA-CD1B-4AD6-840B-5F9CCF5936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2144" y="2210012"/>
              <a:ext cx="1382486" cy="1397847"/>
            </a:xfrm>
            <a:prstGeom prst="donut">
              <a:avLst>
                <a:gd name="adj" fmla="val 8853"/>
              </a:avLst>
            </a:prstGeom>
            <a:solidFill>
              <a:schemeClr val="accent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1208E19-EBFE-41DC-A7A8-BD155890CC4D}"/>
                </a:ext>
              </a:extLst>
            </p:cNvPr>
            <p:cNvSpPr txBox="1"/>
            <p:nvPr/>
          </p:nvSpPr>
          <p:spPr>
            <a:xfrm>
              <a:off x="417638" y="2458552"/>
              <a:ext cx="1111996" cy="566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+mn-ea"/>
                  <a:cs typeface="Aharoni" panose="02010803020104030203" pitchFamily="2" charset="-79"/>
                </a:rPr>
                <a:t>Annual Closing STAT Ledger by end June</a:t>
              </a:r>
              <a:endPara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haroni" panose="02010803020104030203" pitchFamily="2" charset="-79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67AA9A0-43F4-4733-A150-2E4FED4660AE}"/>
              </a:ext>
            </a:extLst>
          </p:cNvPr>
          <p:cNvGrpSpPr/>
          <p:nvPr/>
        </p:nvGrpSpPr>
        <p:grpSpPr>
          <a:xfrm>
            <a:off x="10626554" y="1403590"/>
            <a:ext cx="1115809" cy="1107558"/>
            <a:chOff x="272144" y="2210012"/>
            <a:chExt cx="1382486" cy="1397847"/>
          </a:xfrm>
          <a:effectLst/>
        </p:grpSpPr>
        <p:sp>
          <p:nvSpPr>
            <p:cNvPr id="39" name="Circle: Hollow 38">
              <a:extLst>
                <a:ext uri="{FF2B5EF4-FFF2-40B4-BE49-F238E27FC236}">
                  <a16:creationId xmlns:a16="http://schemas.microsoft.com/office/drawing/2014/main" id="{3FA71332-E470-450C-A1D7-3911039CAB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2144" y="2210012"/>
              <a:ext cx="1382486" cy="1397847"/>
            </a:xfrm>
            <a:prstGeom prst="donut">
              <a:avLst>
                <a:gd name="adj" fmla="val 8853"/>
              </a:avLst>
            </a:prstGeom>
            <a:solidFill>
              <a:schemeClr val="accent4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2354652-4D0A-494E-990B-53A2F3E19AD5}"/>
                </a:ext>
              </a:extLst>
            </p:cNvPr>
            <p:cNvSpPr txBox="1"/>
            <p:nvPr/>
          </p:nvSpPr>
          <p:spPr>
            <a:xfrm>
              <a:off x="417638" y="2458552"/>
              <a:ext cx="1111996" cy="566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+mn-ea"/>
                  <a:cs typeface="Aharoni" panose="02010803020104030203" pitchFamily="2" charset="-79"/>
                </a:rPr>
                <a:t>Annual Closing TAX Ledger by end September</a:t>
              </a:r>
              <a:endPara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haroni" panose="02010803020104030203" pitchFamily="2" charset="-79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133BB61-367C-4553-92CA-894CD75C0DD3}"/>
              </a:ext>
            </a:extLst>
          </p:cNvPr>
          <p:cNvGrpSpPr/>
          <p:nvPr/>
        </p:nvGrpSpPr>
        <p:grpSpPr>
          <a:xfrm>
            <a:off x="1765807" y="1830366"/>
            <a:ext cx="540874" cy="304422"/>
            <a:chOff x="1450123" y="1830366"/>
            <a:chExt cx="540874" cy="304422"/>
          </a:xfrm>
        </p:grpSpPr>
        <p:sp>
          <p:nvSpPr>
            <p:cNvPr id="24" name="Arrow: Chevron 23">
              <a:extLst>
                <a:ext uri="{FF2B5EF4-FFF2-40B4-BE49-F238E27FC236}">
                  <a16:creationId xmlns:a16="http://schemas.microsoft.com/office/drawing/2014/main" id="{415C3891-2233-41E9-A40E-41B93AABEAEE}"/>
                </a:ext>
              </a:extLst>
            </p:cNvPr>
            <p:cNvSpPr/>
            <p:nvPr/>
          </p:nvSpPr>
          <p:spPr>
            <a:xfrm>
              <a:off x="1450123" y="1830366"/>
              <a:ext cx="288447" cy="298118"/>
            </a:xfrm>
            <a:prstGeom prst="chevron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2" name="Arrow: Chevron 41">
              <a:extLst>
                <a:ext uri="{FF2B5EF4-FFF2-40B4-BE49-F238E27FC236}">
                  <a16:creationId xmlns:a16="http://schemas.microsoft.com/office/drawing/2014/main" id="{03AADE85-FDBF-4E5D-AB1C-0549D3077C53}"/>
                </a:ext>
              </a:extLst>
            </p:cNvPr>
            <p:cNvSpPr/>
            <p:nvPr/>
          </p:nvSpPr>
          <p:spPr>
            <a:xfrm>
              <a:off x="1702550" y="1836670"/>
              <a:ext cx="288447" cy="298118"/>
            </a:xfrm>
            <a:prstGeom prst="chevron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93BF557-F2A6-465F-BA08-1CDFAF42CD39}"/>
              </a:ext>
            </a:extLst>
          </p:cNvPr>
          <p:cNvGrpSpPr/>
          <p:nvPr/>
        </p:nvGrpSpPr>
        <p:grpSpPr>
          <a:xfrm>
            <a:off x="3728097" y="1830366"/>
            <a:ext cx="528916" cy="298118"/>
            <a:chOff x="3553926" y="1830366"/>
            <a:chExt cx="528916" cy="298118"/>
          </a:xfrm>
        </p:grpSpPr>
        <p:sp>
          <p:nvSpPr>
            <p:cNvPr id="28" name="Arrow: Chevron 27">
              <a:extLst>
                <a:ext uri="{FF2B5EF4-FFF2-40B4-BE49-F238E27FC236}">
                  <a16:creationId xmlns:a16="http://schemas.microsoft.com/office/drawing/2014/main" id="{583CD494-8CE5-40F4-8394-FFFE4E6B4807}"/>
                </a:ext>
              </a:extLst>
            </p:cNvPr>
            <p:cNvSpPr/>
            <p:nvPr/>
          </p:nvSpPr>
          <p:spPr>
            <a:xfrm>
              <a:off x="3553926" y="1830366"/>
              <a:ext cx="288447" cy="298118"/>
            </a:xfrm>
            <a:prstGeom prst="chevron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4" name="Arrow: Chevron 43">
              <a:extLst>
                <a:ext uri="{FF2B5EF4-FFF2-40B4-BE49-F238E27FC236}">
                  <a16:creationId xmlns:a16="http://schemas.microsoft.com/office/drawing/2014/main" id="{53F4AEFB-1F81-452A-AE41-D59675009F83}"/>
                </a:ext>
              </a:extLst>
            </p:cNvPr>
            <p:cNvSpPr/>
            <p:nvPr/>
          </p:nvSpPr>
          <p:spPr>
            <a:xfrm>
              <a:off x="3794395" y="1830366"/>
              <a:ext cx="288447" cy="298118"/>
            </a:xfrm>
            <a:prstGeom prst="chevron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9710202-D9B9-427F-9184-B9FD8D42D88F}"/>
              </a:ext>
            </a:extLst>
          </p:cNvPr>
          <p:cNvGrpSpPr/>
          <p:nvPr/>
        </p:nvGrpSpPr>
        <p:grpSpPr>
          <a:xfrm>
            <a:off x="5827217" y="1845873"/>
            <a:ext cx="538700" cy="298118"/>
            <a:chOff x="5653046" y="1845873"/>
            <a:chExt cx="538700" cy="298118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29" name="Arrow: Chevron 28">
              <a:extLst>
                <a:ext uri="{FF2B5EF4-FFF2-40B4-BE49-F238E27FC236}">
                  <a16:creationId xmlns:a16="http://schemas.microsoft.com/office/drawing/2014/main" id="{3805D4C6-690A-41B1-9263-748892C5CA65}"/>
                </a:ext>
              </a:extLst>
            </p:cNvPr>
            <p:cNvSpPr/>
            <p:nvPr/>
          </p:nvSpPr>
          <p:spPr>
            <a:xfrm>
              <a:off x="5653046" y="1845873"/>
              <a:ext cx="288447" cy="298118"/>
            </a:xfrm>
            <a:prstGeom prst="chevron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6" name="Arrow: Chevron 45">
              <a:extLst>
                <a:ext uri="{FF2B5EF4-FFF2-40B4-BE49-F238E27FC236}">
                  <a16:creationId xmlns:a16="http://schemas.microsoft.com/office/drawing/2014/main" id="{0AC0F516-C50F-4A26-9BAB-D2575B8017F3}"/>
                </a:ext>
              </a:extLst>
            </p:cNvPr>
            <p:cNvSpPr/>
            <p:nvPr/>
          </p:nvSpPr>
          <p:spPr>
            <a:xfrm>
              <a:off x="5903299" y="1845873"/>
              <a:ext cx="288447" cy="298118"/>
            </a:xfrm>
            <a:prstGeom prst="chevron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89C5E82-FF23-488B-AC20-B08A344D12E7}"/>
              </a:ext>
            </a:extLst>
          </p:cNvPr>
          <p:cNvGrpSpPr/>
          <p:nvPr/>
        </p:nvGrpSpPr>
        <p:grpSpPr>
          <a:xfrm>
            <a:off x="7796708" y="1836670"/>
            <a:ext cx="515940" cy="298118"/>
            <a:chOff x="7622537" y="1836670"/>
            <a:chExt cx="515940" cy="298118"/>
          </a:xfrm>
        </p:grpSpPr>
        <p:sp>
          <p:nvSpPr>
            <p:cNvPr id="33" name="Arrow: Chevron 32">
              <a:extLst>
                <a:ext uri="{FF2B5EF4-FFF2-40B4-BE49-F238E27FC236}">
                  <a16:creationId xmlns:a16="http://schemas.microsoft.com/office/drawing/2014/main" id="{F584FEDB-27CB-472A-8676-8842E38EF51A}"/>
                </a:ext>
              </a:extLst>
            </p:cNvPr>
            <p:cNvSpPr/>
            <p:nvPr/>
          </p:nvSpPr>
          <p:spPr>
            <a:xfrm>
              <a:off x="7622537" y="1836670"/>
              <a:ext cx="288447" cy="298118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8" name="Arrow: Chevron 47">
              <a:extLst>
                <a:ext uri="{FF2B5EF4-FFF2-40B4-BE49-F238E27FC236}">
                  <a16:creationId xmlns:a16="http://schemas.microsoft.com/office/drawing/2014/main" id="{930D3911-54D4-4250-82D2-5429B3AB9151}"/>
                </a:ext>
              </a:extLst>
            </p:cNvPr>
            <p:cNvSpPr/>
            <p:nvPr/>
          </p:nvSpPr>
          <p:spPr>
            <a:xfrm>
              <a:off x="7850030" y="1836670"/>
              <a:ext cx="288447" cy="298118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107FD574-5A72-45BF-93EE-2878ED8DDB77}"/>
              </a:ext>
            </a:extLst>
          </p:cNvPr>
          <p:cNvGrpSpPr/>
          <p:nvPr/>
        </p:nvGrpSpPr>
        <p:grpSpPr>
          <a:xfrm>
            <a:off x="9842345" y="1836670"/>
            <a:ext cx="533920" cy="298118"/>
            <a:chOff x="9842345" y="1836670"/>
            <a:chExt cx="533920" cy="298118"/>
          </a:xfrm>
        </p:grpSpPr>
        <p:sp>
          <p:nvSpPr>
            <p:cNvPr id="37" name="Arrow: Chevron 36">
              <a:extLst>
                <a:ext uri="{FF2B5EF4-FFF2-40B4-BE49-F238E27FC236}">
                  <a16:creationId xmlns:a16="http://schemas.microsoft.com/office/drawing/2014/main" id="{6EC54D17-A320-4471-B1F4-C5FF5AA67D1D}"/>
                </a:ext>
              </a:extLst>
            </p:cNvPr>
            <p:cNvSpPr/>
            <p:nvPr/>
          </p:nvSpPr>
          <p:spPr>
            <a:xfrm>
              <a:off x="9842345" y="1836670"/>
              <a:ext cx="288447" cy="298118"/>
            </a:xfrm>
            <a:prstGeom prst="chevron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0" name="Arrow: Chevron 49">
              <a:extLst>
                <a:ext uri="{FF2B5EF4-FFF2-40B4-BE49-F238E27FC236}">
                  <a16:creationId xmlns:a16="http://schemas.microsoft.com/office/drawing/2014/main" id="{2D6FCC4D-04B5-49B6-9AC5-64232CE07894}"/>
                </a:ext>
              </a:extLst>
            </p:cNvPr>
            <p:cNvSpPr/>
            <p:nvPr/>
          </p:nvSpPr>
          <p:spPr>
            <a:xfrm>
              <a:off x="10087818" y="1836670"/>
              <a:ext cx="288447" cy="298118"/>
            </a:xfrm>
            <a:prstGeom prst="chevron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A7D010A-F608-4AF5-B03F-4DB0BC4162D0}"/>
              </a:ext>
            </a:extLst>
          </p:cNvPr>
          <p:cNvGrpSpPr/>
          <p:nvPr/>
        </p:nvGrpSpPr>
        <p:grpSpPr>
          <a:xfrm>
            <a:off x="555173" y="2544662"/>
            <a:ext cx="11138937" cy="2874273"/>
            <a:chOff x="555173" y="2544662"/>
            <a:chExt cx="11138937" cy="2874273"/>
          </a:xfrm>
        </p:grpSpPr>
        <p:sp>
          <p:nvSpPr>
            <p:cNvPr id="58" name="Isosceles Triangle 57">
              <a:extLst>
                <a:ext uri="{FF2B5EF4-FFF2-40B4-BE49-F238E27FC236}">
                  <a16:creationId xmlns:a16="http://schemas.microsoft.com/office/drawing/2014/main" id="{60E5C010-1ACD-4F19-A9CC-CE8174065386}"/>
                </a:ext>
              </a:extLst>
            </p:cNvPr>
            <p:cNvSpPr/>
            <p:nvPr/>
          </p:nvSpPr>
          <p:spPr>
            <a:xfrm>
              <a:off x="4855091" y="2544662"/>
              <a:ext cx="436766" cy="301616"/>
            </a:xfrm>
            <a:prstGeom prst="triangl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4C75F75B-EBA9-4A0D-943E-0AB54B61A6E1}"/>
                </a:ext>
              </a:extLst>
            </p:cNvPr>
            <p:cNvSpPr/>
            <p:nvPr/>
          </p:nvSpPr>
          <p:spPr>
            <a:xfrm>
              <a:off x="555173" y="2721427"/>
              <a:ext cx="11138937" cy="2697508"/>
            </a:xfrm>
            <a:prstGeom prst="roundRect">
              <a:avLst>
                <a:gd name="adj" fmla="val 536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02C93FA2-F442-4606-B384-E5553AA4FBB1}"/>
              </a:ext>
            </a:extLst>
          </p:cNvPr>
          <p:cNvSpPr/>
          <p:nvPr/>
        </p:nvSpPr>
        <p:spPr>
          <a:xfrm>
            <a:off x="759148" y="3066780"/>
            <a:ext cx="2736582" cy="1543299"/>
          </a:xfrm>
          <a:prstGeom prst="chevron">
            <a:avLst>
              <a:gd name="adj" fmla="val 4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0"/>
              <a:satOff val="0"/>
              <a:lumOff val="0"/>
              <a:alphaOff val="0"/>
            </a:schemeClr>
          </a:fillRef>
          <a:effectRef idx="3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AFA4D98-A6EC-4E6A-8D9E-D7B67330CE5B}"/>
              </a:ext>
            </a:extLst>
          </p:cNvPr>
          <p:cNvSpPr/>
          <p:nvPr/>
        </p:nvSpPr>
        <p:spPr>
          <a:xfrm>
            <a:off x="930741" y="3784077"/>
            <a:ext cx="2052000" cy="1447037"/>
          </a:xfrm>
          <a:custGeom>
            <a:avLst/>
            <a:gdLst>
              <a:gd name="connsiteX0" fmla="*/ 0 w 1208008"/>
              <a:gd name="connsiteY0" fmla="*/ 55219 h 552186"/>
              <a:gd name="connsiteX1" fmla="*/ 55219 w 1208008"/>
              <a:gd name="connsiteY1" fmla="*/ 0 h 552186"/>
              <a:gd name="connsiteX2" fmla="*/ 1152789 w 1208008"/>
              <a:gd name="connsiteY2" fmla="*/ 0 h 552186"/>
              <a:gd name="connsiteX3" fmla="*/ 1208008 w 1208008"/>
              <a:gd name="connsiteY3" fmla="*/ 55219 h 552186"/>
              <a:gd name="connsiteX4" fmla="*/ 1208008 w 1208008"/>
              <a:gd name="connsiteY4" fmla="*/ 496967 h 552186"/>
              <a:gd name="connsiteX5" fmla="*/ 1152789 w 1208008"/>
              <a:gd name="connsiteY5" fmla="*/ 552186 h 552186"/>
              <a:gd name="connsiteX6" fmla="*/ 55219 w 1208008"/>
              <a:gd name="connsiteY6" fmla="*/ 552186 h 552186"/>
              <a:gd name="connsiteX7" fmla="*/ 0 w 1208008"/>
              <a:gd name="connsiteY7" fmla="*/ 496967 h 552186"/>
              <a:gd name="connsiteX8" fmla="*/ 0 w 1208008"/>
              <a:gd name="connsiteY8" fmla="*/ 55219 h 552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08008" h="552186">
                <a:moveTo>
                  <a:pt x="0" y="55219"/>
                </a:moveTo>
                <a:cubicBezTo>
                  <a:pt x="0" y="24722"/>
                  <a:pt x="24722" y="0"/>
                  <a:pt x="55219" y="0"/>
                </a:cubicBezTo>
                <a:lnTo>
                  <a:pt x="1152789" y="0"/>
                </a:lnTo>
                <a:cubicBezTo>
                  <a:pt x="1183286" y="0"/>
                  <a:pt x="1208008" y="24722"/>
                  <a:pt x="1208008" y="55219"/>
                </a:cubicBezTo>
                <a:lnTo>
                  <a:pt x="1208008" y="496967"/>
                </a:lnTo>
                <a:cubicBezTo>
                  <a:pt x="1208008" y="527464"/>
                  <a:pt x="1183286" y="552186"/>
                  <a:pt x="1152789" y="552186"/>
                </a:cubicBezTo>
                <a:lnTo>
                  <a:pt x="55219" y="552186"/>
                </a:lnTo>
                <a:cubicBezTo>
                  <a:pt x="24722" y="552186"/>
                  <a:pt x="0" y="527464"/>
                  <a:pt x="0" y="496967"/>
                </a:cubicBezTo>
                <a:lnTo>
                  <a:pt x="0" y="55219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3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2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1733" tIns="51733" rIns="51733" bIns="51733" numCol="1" spcCol="1270" anchor="t" anchorCtr="0">
            <a:noAutofit/>
          </a:bodyPr>
          <a:lstStyle/>
          <a:p>
            <a:pPr marL="72000" marR="0" lvl="1" indent="-72000" algn="l" defTabSz="177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Posting via </a:t>
            </a:r>
            <a:r>
              <a:rPr kumimoji="0" lang="en-GB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MyRequest</a:t>
            </a: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GL Journal 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template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72000" marR="0" lvl="1" indent="-72000" algn="l" defTabSz="177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Posting Date 31.12.20xx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72000" lvl="1" indent="-72000" defTabSz="1778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Tx/>
              <a:buChar char="•"/>
              <a:defRPr/>
            </a:pPr>
            <a:r>
              <a:rPr lang="en-GB" sz="1200" b="1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</a:rPr>
              <a:t>Accounting Entries: </a:t>
            </a:r>
            <a:r>
              <a:rPr lang="en-GB" sz="120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</a:rPr>
              <a:t>Most of the cases will be </a:t>
            </a:r>
            <a:r>
              <a:rPr lang="en-GB" sz="1200" b="1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</a:rPr>
              <a:t>accrual or provisions postings with </a:t>
            </a:r>
            <a:r>
              <a:rPr lang="en-GB" sz="1200" b="1" dirty="0" err="1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</a:rPr>
              <a:t>Dr.</a:t>
            </a:r>
            <a:r>
              <a:rPr lang="en-GB" sz="1200" b="1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</a:rPr>
              <a:t> P&amp;L, Cr. B/S</a:t>
            </a:r>
          </a:p>
          <a:p>
            <a:pPr marL="57150" marR="0" lvl="1" indent="-57150" algn="l" defTabSz="177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73DE56A3-2267-494E-A11B-A6C55162F926}"/>
              </a:ext>
            </a:extLst>
          </p:cNvPr>
          <p:cNvSpPr/>
          <p:nvPr/>
        </p:nvSpPr>
        <p:spPr>
          <a:xfrm>
            <a:off x="3454053" y="3066780"/>
            <a:ext cx="2736000" cy="1543299"/>
          </a:xfrm>
          <a:prstGeom prst="chevron">
            <a:avLst>
              <a:gd name="adj" fmla="val 40000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1548048"/>
              <a:satOff val="-11342"/>
              <a:lumOff val="1862"/>
              <a:alphaOff val="0"/>
            </a:schemeClr>
          </a:fillRef>
          <a:effectRef idx="3">
            <a:schemeClr val="accent3">
              <a:hueOff val="1548048"/>
              <a:satOff val="-11342"/>
              <a:lumOff val="1862"/>
              <a:alphaOff val="0"/>
            </a:schemeClr>
          </a:effectRef>
          <a:fontRef idx="minor">
            <a:schemeClr val="lt1"/>
          </a:fontRef>
        </p:style>
      </p:sp>
      <p:sp>
        <p:nvSpPr>
          <p:cNvPr id="17" name="Arrow: Chevron 16">
            <a:extLst>
              <a:ext uri="{FF2B5EF4-FFF2-40B4-BE49-F238E27FC236}">
                <a16:creationId xmlns:a16="http://schemas.microsoft.com/office/drawing/2014/main" id="{58531615-64B2-46C4-9A30-01B1E82F76EB}"/>
              </a:ext>
            </a:extLst>
          </p:cNvPr>
          <p:cNvSpPr/>
          <p:nvPr/>
        </p:nvSpPr>
        <p:spPr>
          <a:xfrm>
            <a:off x="6133530" y="3056956"/>
            <a:ext cx="2736000" cy="1543299"/>
          </a:xfrm>
          <a:prstGeom prst="chevron">
            <a:avLst>
              <a:gd name="adj" fmla="val 40000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3096097"/>
              <a:satOff val="-22684"/>
              <a:lumOff val="3725"/>
              <a:alphaOff val="0"/>
            </a:schemeClr>
          </a:fillRef>
          <a:effectRef idx="3">
            <a:schemeClr val="accent3">
              <a:hueOff val="3096097"/>
              <a:satOff val="-22684"/>
              <a:lumOff val="3725"/>
              <a:alphaOff val="0"/>
            </a:schemeClr>
          </a:effectRef>
          <a:fontRef idx="minor">
            <a:schemeClr val="lt1"/>
          </a:fontRef>
        </p:style>
      </p:sp>
      <p:sp>
        <p:nvSpPr>
          <p:cNvPr id="19" name="Arrow: Chevron 18">
            <a:extLst>
              <a:ext uri="{FF2B5EF4-FFF2-40B4-BE49-F238E27FC236}">
                <a16:creationId xmlns:a16="http://schemas.microsoft.com/office/drawing/2014/main" id="{96B4B0EE-3FF9-42ED-BCE2-8EC790C91F2C}"/>
              </a:ext>
            </a:extLst>
          </p:cNvPr>
          <p:cNvSpPr/>
          <p:nvPr/>
        </p:nvSpPr>
        <p:spPr>
          <a:xfrm>
            <a:off x="8823968" y="3056570"/>
            <a:ext cx="2736000" cy="1543299"/>
          </a:xfrm>
          <a:prstGeom prst="chevron">
            <a:avLst>
              <a:gd name="adj" fmla="val 40000"/>
            </a:avLst>
          </a:prstGeom>
          <a:solidFill>
            <a:schemeClr val="accent1">
              <a:lumMod val="75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4644145"/>
              <a:satOff val="-34026"/>
              <a:lumOff val="5587"/>
              <a:alphaOff val="0"/>
            </a:schemeClr>
          </a:fillRef>
          <a:effectRef idx="3">
            <a:schemeClr val="accent3">
              <a:hueOff val="4644145"/>
              <a:satOff val="-34026"/>
              <a:lumOff val="5587"/>
              <a:alphaOff val="0"/>
            </a:schemeClr>
          </a:effectRef>
          <a:fontRef idx="minor">
            <a:schemeClr val="lt1"/>
          </a:fontRef>
        </p:style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719F9FE-37B7-4A29-AF1E-4FD1A0C3B543}"/>
              </a:ext>
            </a:extLst>
          </p:cNvPr>
          <p:cNvSpPr/>
          <p:nvPr/>
        </p:nvSpPr>
        <p:spPr>
          <a:xfrm>
            <a:off x="3816097" y="3784077"/>
            <a:ext cx="2052000" cy="1447037"/>
          </a:xfrm>
          <a:custGeom>
            <a:avLst/>
            <a:gdLst>
              <a:gd name="connsiteX0" fmla="*/ 0 w 1208008"/>
              <a:gd name="connsiteY0" fmla="*/ 55219 h 552186"/>
              <a:gd name="connsiteX1" fmla="*/ 55219 w 1208008"/>
              <a:gd name="connsiteY1" fmla="*/ 0 h 552186"/>
              <a:gd name="connsiteX2" fmla="*/ 1152789 w 1208008"/>
              <a:gd name="connsiteY2" fmla="*/ 0 h 552186"/>
              <a:gd name="connsiteX3" fmla="*/ 1208008 w 1208008"/>
              <a:gd name="connsiteY3" fmla="*/ 55219 h 552186"/>
              <a:gd name="connsiteX4" fmla="*/ 1208008 w 1208008"/>
              <a:gd name="connsiteY4" fmla="*/ 496967 h 552186"/>
              <a:gd name="connsiteX5" fmla="*/ 1152789 w 1208008"/>
              <a:gd name="connsiteY5" fmla="*/ 552186 h 552186"/>
              <a:gd name="connsiteX6" fmla="*/ 55219 w 1208008"/>
              <a:gd name="connsiteY6" fmla="*/ 552186 h 552186"/>
              <a:gd name="connsiteX7" fmla="*/ 0 w 1208008"/>
              <a:gd name="connsiteY7" fmla="*/ 496967 h 552186"/>
              <a:gd name="connsiteX8" fmla="*/ 0 w 1208008"/>
              <a:gd name="connsiteY8" fmla="*/ 55219 h 552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08008" h="552186">
                <a:moveTo>
                  <a:pt x="0" y="55219"/>
                </a:moveTo>
                <a:cubicBezTo>
                  <a:pt x="0" y="24722"/>
                  <a:pt x="24722" y="0"/>
                  <a:pt x="55219" y="0"/>
                </a:cubicBezTo>
                <a:lnTo>
                  <a:pt x="1152789" y="0"/>
                </a:lnTo>
                <a:cubicBezTo>
                  <a:pt x="1183286" y="0"/>
                  <a:pt x="1208008" y="24722"/>
                  <a:pt x="1208008" y="55219"/>
                </a:cubicBezTo>
                <a:lnTo>
                  <a:pt x="1208008" y="496967"/>
                </a:lnTo>
                <a:cubicBezTo>
                  <a:pt x="1208008" y="527464"/>
                  <a:pt x="1183286" y="552186"/>
                  <a:pt x="1152789" y="552186"/>
                </a:cubicBezTo>
                <a:lnTo>
                  <a:pt x="55219" y="552186"/>
                </a:lnTo>
                <a:cubicBezTo>
                  <a:pt x="24722" y="552186"/>
                  <a:pt x="0" y="527464"/>
                  <a:pt x="0" y="496967"/>
                </a:cubicBezTo>
                <a:lnTo>
                  <a:pt x="0" y="55219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3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2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1733" tIns="51733" rIns="51733" bIns="51733" numCol="1" spcCol="1270" anchor="t" anchorCtr="0">
            <a:noAutofit/>
          </a:bodyPr>
          <a:lstStyle/>
          <a:p>
            <a:pPr marL="72000" marR="0" lvl="1" indent="-72000" algn="l" defTabSz="177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 automatic Revaluation or Translation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in P14 due to lack of benefit compared to excessive effort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*</a:t>
            </a:r>
          </a:p>
          <a:p>
            <a:pPr marL="72000" lvl="1" indent="-72000" defTabSz="1778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Tx/>
              <a:buChar char="•"/>
              <a:defRPr/>
            </a:pPr>
            <a:r>
              <a:rPr lang="en-GB" sz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</a:rPr>
              <a:t>Any </a:t>
            </a:r>
            <a:r>
              <a:rPr lang="en-GB" sz="1200" b="1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</a:rPr>
              <a:t>FX impacts</a:t>
            </a:r>
            <a:r>
              <a:rPr lang="en-GB" sz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</a:rPr>
              <a:t>, where relevant, needs </a:t>
            </a:r>
            <a:r>
              <a:rPr lang="en-GB" sz="1200" b="1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</a:rPr>
              <a:t>to be included in the journal </a:t>
            </a:r>
            <a:r>
              <a:rPr lang="en-GB" sz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</a:rPr>
              <a:t>posting template </a:t>
            </a:r>
            <a:r>
              <a:rPr lang="en-GB" sz="1200" dirty="0">
                <a:solidFill>
                  <a:srgbClr val="FF0000"/>
                </a:solidFill>
              </a:rPr>
              <a:t>*</a:t>
            </a:r>
            <a:r>
              <a:rPr lang="en-GB" sz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</a:rPr>
              <a:t>.</a:t>
            </a:r>
            <a:endParaRPr lang="en-US" sz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</a:endParaRPr>
          </a:p>
          <a:p>
            <a:pPr marL="72000" marR="0" lvl="1" indent="-72000" algn="l" defTabSz="177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AD01EC0-832F-4559-B241-3B7390017CA0}"/>
              </a:ext>
            </a:extLst>
          </p:cNvPr>
          <p:cNvSpPr/>
          <p:nvPr/>
        </p:nvSpPr>
        <p:spPr>
          <a:xfrm>
            <a:off x="6472744" y="3784077"/>
            <a:ext cx="2052000" cy="1447037"/>
          </a:xfrm>
          <a:custGeom>
            <a:avLst/>
            <a:gdLst>
              <a:gd name="connsiteX0" fmla="*/ 0 w 1208008"/>
              <a:gd name="connsiteY0" fmla="*/ 55219 h 552186"/>
              <a:gd name="connsiteX1" fmla="*/ 55219 w 1208008"/>
              <a:gd name="connsiteY1" fmla="*/ 0 h 552186"/>
              <a:gd name="connsiteX2" fmla="*/ 1152789 w 1208008"/>
              <a:gd name="connsiteY2" fmla="*/ 0 h 552186"/>
              <a:gd name="connsiteX3" fmla="*/ 1208008 w 1208008"/>
              <a:gd name="connsiteY3" fmla="*/ 55219 h 552186"/>
              <a:gd name="connsiteX4" fmla="*/ 1208008 w 1208008"/>
              <a:gd name="connsiteY4" fmla="*/ 496967 h 552186"/>
              <a:gd name="connsiteX5" fmla="*/ 1152789 w 1208008"/>
              <a:gd name="connsiteY5" fmla="*/ 552186 h 552186"/>
              <a:gd name="connsiteX6" fmla="*/ 55219 w 1208008"/>
              <a:gd name="connsiteY6" fmla="*/ 552186 h 552186"/>
              <a:gd name="connsiteX7" fmla="*/ 0 w 1208008"/>
              <a:gd name="connsiteY7" fmla="*/ 496967 h 552186"/>
              <a:gd name="connsiteX8" fmla="*/ 0 w 1208008"/>
              <a:gd name="connsiteY8" fmla="*/ 55219 h 552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08008" h="552186">
                <a:moveTo>
                  <a:pt x="0" y="55219"/>
                </a:moveTo>
                <a:cubicBezTo>
                  <a:pt x="0" y="24722"/>
                  <a:pt x="24722" y="0"/>
                  <a:pt x="55219" y="0"/>
                </a:cubicBezTo>
                <a:lnTo>
                  <a:pt x="1152789" y="0"/>
                </a:lnTo>
                <a:cubicBezTo>
                  <a:pt x="1183286" y="0"/>
                  <a:pt x="1208008" y="24722"/>
                  <a:pt x="1208008" y="55219"/>
                </a:cubicBezTo>
                <a:lnTo>
                  <a:pt x="1208008" y="496967"/>
                </a:lnTo>
                <a:cubicBezTo>
                  <a:pt x="1208008" y="527464"/>
                  <a:pt x="1183286" y="552186"/>
                  <a:pt x="1152789" y="552186"/>
                </a:cubicBezTo>
                <a:lnTo>
                  <a:pt x="55219" y="552186"/>
                </a:lnTo>
                <a:cubicBezTo>
                  <a:pt x="24722" y="552186"/>
                  <a:pt x="0" y="527464"/>
                  <a:pt x="0" y="496967"/>
                </a:cubicBezTo>
                <a:lnTo>
                  <a:pt x="0" y="55219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3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2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1733" tIns="51733" rIns="51733" bIns="51733" numCol="1" spcCol="1270" anchor="t" anchorCtr="0">
            <a:noAutofit/>
          </a:bodyPr>
          <a:lstStyle/>
          <a:p>
            <a:pPr marL="72000" marR="0" lvl="1" indent="-72000" algn="l" defTabSz="177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Applicable to entities which use Functional Area Adjustment program</a:t>
            </a:r>
          </a:p>
          <a:p>
            <a:pPr marL="72000" marR="0" lvl="1" indent="-72000" algn="l" defTabSz="177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Functional Adjustment Reclassification in P14 is to be done by GBS upon entity request by email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**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  <a:endParaRPr kumimoji="0" lang="en-US" sz="1200" b="1" i="0" u="none" strike="sng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8224EF9-18E3-4DD0-B35D-7254C9E7562A}"/>
              </a:ext>
            </a:extLst>
          </p:cNvPr>
          <p:cNvSpPr/>
          <p:nvPr/>
        </p:nvSpPr>
        <p:spPr>
          <a:xfrm>
            <a:off x="9119033" y="3784077"/>
            <a:ext cx="2052000" cy="1447037"/>
          </a:xfrm>
          <a:custGeom>
            <a:avLst/>
            <a:gdLst>
              <a:gd name="connsiteX0" fmla="*/ 0 w 1208008"/>
              <a:gd name="connsiteY0" fmla="*/ 55219 h 552186"/>
              <a:gd name="connsiteX1" fmla="*/ 55219 w 1208008"/>
              <a:gd name="connsiteY1" fmla="*/ 0 h 552186"/>
              <a:gd name="connsiteX2" fmla="*/ 1152789 w 1208008"/>
              <a:gd name="connsiteY2" fmla="*/ 0 h 552186"/>
              <a:gd name="connsiteX3" fmla="*/ 1208008 w 1208008"/>
              <a:gd name="connsiteY3" fmla="*/ 55219 h 552186"/>
              <a:gd name="connsiteX4" fmla="*/ 1208008 w 1208008"/>
              <a:gd name="connsiteY4" fmla="*/ 496967 h 552186"/>
              <a:gd name="connsiteX5" fmla="*/ 1152789 w 1208008"/>
              <a:gd name="connsiteY5" fmla="*/ 552186 h 552186"/>
              <a:gd name="connsiteX6" fmla="*/ 55219 w 1208008"/>
              <a:gd name="connsiteY6" fmla="*/ 552186 h 552186"/>
              <a:gd name="connsiteX7" fmla="*/ 0 w 1208008"/>
              <a:gd name="connsiteY7" fmla="*/ 496967 h 552186"/>
              <a:gd name="connsiteX8" fmla="*/ 0 w 1208008"/>
              <a:gd name="connsiteY8" fmla="*/ 55219 h 552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08008" h="552186">
                <a:moveTo>
                  <a:pt x="0" y="55219"/>
                </a:moveTo>
                <a:cubicBezTo>
                  <a:pt x="0" y="24722"/>
                  <a:pt x="24722" y="0"/>
                  <a:pt x="55219" y="0"/>
                </a:cubicBezTo>
                <a:lnTo>
                  <a:pt x="1152789" y="0"/>
                </a:lnTo>
                <a:cubicBezTo>
                  <a:pt x="1183286" y="0"/>
                  <a:pt x="1208008" y="24722"/>
                  <a:pt x="1208008" y="55219"/>
                </a:cubicBezTo>
                <a:lnTo>
                  <a:pt x="1208008" y="496967"/>
                </a:lnTo>
                <a:cubicBezTo>
                  <a:pt x="1208008" y="527464"/>
                  <a:pt x="1183286" y="552186"/>
                  <a:pt x="1152789" y="552186"/>
                </a:cubicBezTo>
                <a:lnTo>
                  <a:pt x="55219" y="552186"/>
                </a:lnTo>
                <a:cubicBezTo>
                  <a:pt x="24722" y="552186"/>
                  <a:pt x="0" y="527464"/>
                  <a:pt x="0" y="496967"/>
                </a:cubicBezTo>
                <a:lnTo>
                  <a:pt x="0" y="55219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3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2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1733" tIns="51733" rIns="51733" bIns="51733" numCol="1" spcCol="1270" anchor="t" anchorCtr="0">
            <a:noAutofit/>
          </a:bodyPr>
          <a:lstStyle/>
          <a:p>
            <a:pPr marL="72000" marR="0" lvl="1" indent="-72000" algn="l" defTabSz="177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AP/AR regrouping is</a:t>
            </a: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not concerned with STAT/TAX Year End process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as AP and AR reconciliation accounts are closed with P12 AP/AR close. 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67F5090-8801-4009-A600-012116B5ABBE}"/>
              </a:ext>
            </a:extLst>
          </p:cNvPr>
          <p:cNvSpPr txBox="1"/>
          <p:nvPr/>
        </p:nvSpPr>
        <p:spPr>
          <a:xfrm>
            <a:off x="1276427" y="3169704"/>
            <a:ext cx="1469817" cy="475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latin typeface="Arial" panose="020B0604020202020204"/>
              </a:rPr>
              <a:t>P14 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Adjustment 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Journal Posting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C0E2C72-2608-4E70-BDA6-8839D2E4A155}"/>
              </a:ext>
            </a:extLst>
          </p:cNvPr>
          <p:cNvSpPr txBox="1"/>
          <p:nvPr/>
        </p:nvSpPr>
        <p:spPr>
          <a:xfrm>
            <a:off x="4088128" y="3169704"/>
            <a:ext cx="1587968" cy="475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FX Revaluation / Translation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28E6B5C-31D7-4335-ADB8-40914B1FA683}"/>
              </a:ext>
            </a:extLst>
          </p:cNvPr>
          <p:cNvSpPr txBox="1"/>
          <p:nvPr/>
        </p:nvSpPr>
        <p:spPr>
          <a:xfrm>
            <a:off x="6741288" y="3169704"/>
            <a:ext cx="1587968" cy="475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Functional Area Adjustments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A86CD8E-C889-48CB-94EA-7E99F3B42C49}"/>
              </a:ext>
            </a:extLst>
          </p:cNvPr>
          <p:cNvSpPr txBox="1"/>
          <p:nvPr/>
        </p:nvSpPr>
        <p:spPr>
          <a:xfrm>
            <a:off x="9397984" y="3169704"/>
            <a:ext cx="1587968" cy="475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AP/AR Regrouping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8823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6" grpId="0" animBg="1"/>
      <p:bldP spid="18" grpId="0" animBg="1"/>
      <p:bldP spid="20" grpId="0" animBg="1"/>
      <p:bldP spid="23" grpId="0"/>
      <p:bldP spid="52" grpId="0"/>
      <p:bldP spid="53" grpId="0"/>
      <p:bldP spid="5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DF09F19-E42C-4993-93CD-71BDAEF2B62F}"/>
              </a:ext>
            </a:extLst>
          </p:cNvPr>
          <p:cNvSpPr txBox="1"/>
          <p:nvPr/>
        </p:nvSpPr>
        <p:spPr>
          <a:xfrm>
            <a:off x="247650" y="6534149"/>
            <a:ext cx="11428411" cy="27622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1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1) </a:t>
            </a:r>
            <a:r>
              <a:rPr kumimoji="0" lang="en-GB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This is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to bring the balance to the end B/S date</a:t>
            </a:r>
            <a:r>
              <a:rPr kumimoji="0" lang="en-GB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endParaRPr kumimoji="0" lang="en-US" sz="1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4C11D3-0415-4088-BEC6-841F0B399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967" y="347505"/>
            <a:ext cx="9474675" cy="784600"/>
          </a:xfrm>
        </p:spPr>
        <p:txBody>
          <a:bodyPr/>
          <a:lstStyle/>
          <a:p>
            <a:r>
              <a:rPr lang="en-GB"/>
              <a:t>Two Approaches for P14 STAT/TAX Adjustments</a:t>
            </a:r>
            <a:endParaRPr lang="en-US"/>
          </a:p>
        </p:txBody>
      </p:sp>
      <p:graphicFrame>
        <p:nvGraphicFramePr>
          <p:cNvPr id="4" name="Table 20">
            <a:extLst>
              <a:ext uri="{FF2B5EF4-FFF2-40B4-BE49-F238E27FC236}">
                <a16:creationId xmlns:a16="http://schemas.microsoft.com/office/drawing/2014/main" id="{8823815F-049D-4702-9842-47575AEB24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2411731"/>
              </p:ext>
            </p:extLst>
          </p:nvPr>
        </p:nvGraphicFramePr>
        <p:xfrm>
          <a:off x="247650" y="1679787"/>
          <a:ext cx="11791950" cy="4836887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6922">
                  <a:extLst>
                    <a:ext uri="{9D8B030D-6E8A-4147-A177-3AD203B41FA5}">
                      <a16:colId xmlns:a16="http://schemas.microsoft.com/office/drawing/2014/main" val="3560703309"/>
                    </a:ext>
                  </a:extLst>
                </a:gridCol>
                <a:gridCol w="10935028">
                  <a:extLst>
                    <a:ext uri="{9D8B030D-6E8A-4147-A177-3AD203B41FA5}">
                      <a16:colId xmlns:a16="http://schemas.microsoft.com/office/drawing/2014/main" val="4292372562"/>
                    </a:ext>
                  </a:extLst>
                </a:gridCol>
              </a:tblGrid>
              <a:tr h="229785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Approach 1 </a:t>
                      </a:r>
                    </a:p>
                    <a:p>
                      <a:pPr algn="ctr"/>
                      <a:r>
                        <a:rPr lang="en-GB" sz="1100" dirty="0"/>
                        <a:t>(Entities with FX Conversion on </a:t>
                      </a:r>
                    </a:p>
                    <a:p>
                      <a:pPr algn="ctr"/>
                      <a:r>
                        <a:rPr lang="en-GB" sz="1100" b="1" u="sng" dirty="0"/>
                        <a:t>Posting Date</a:t>
                      </a:r>
                      <a:r>
                        <a:rPr lang="en-GB" sz="1100" b="1" u="none" dirty="0"/>
                        <a:t> or </a:t>
                      </a:r>
                      <a:r>
                        <a:rPr lang="en-GB" sz="1100" b="1" u="sng" dirty="0"/>
                        <a:t>can post Doc Date=Posting Date=31.12.20XX </a:t>
                      </a:r>
                      <a:r>
                        <a:rPr lang="en-GB" sz="1100" dirty="0"/>
                        <a:t>)</a:t>
                      </a:r>
                      <a:endParaRPr lang="en-US" sz="1100" dirty="0"/>
                    </a:p>
                  </a:txBody>
                  <a:tcPr marL="36000" marR="36000" marT="36000" marB="36000" vert="vert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3945075"/>
                  </a:ext>
                </a:extLst>
              </a:tr>
              <a:tr h="2539034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Approach 2</a:t>
                      </a:r>
                    </a:p>
                    <a:p>
                      <a:pPr algn="ctr"/>
                      <a:r>
                        <a:rPr lang="en-GB" sz="1100" b="1" dirty="0">
                          <a:solidFill>
                            <a:schemeClr val="bg1"/>
                          </a:solidFill>
                        </a:rPr>
                        <a:t>(Entities with FX Conversion on</a:t>
                      </a:r>
                    </a:p>
                    <a:p>
                      <a:pPr algn="ctr"/>
                      <a:r>
                        <a:rPr lang="en-GB" sz="1100" b="1" u="sng" dirty="0">
                          <a:solidFill>
                            <a:schemeClr val="bg1"/>
                          </a:solidFill>
                        </a:rPr>
                        <a:t>Document Date </a:t>
                      </a:r>
                      <a:r>
                        <a:rPr lang="en-GB" sz="1100" b="1" u="none" dirty="0">
                          <a:solidFill>
                            <a:schemeClr val="bg1"/>
                          </a:solidFill>
                        </a:rPr>
                        <a:t>or </a:t>
                      </a:r>
                      <a:r>
                        <a:rPr lang="en-GB" sz="1100" b="1" u="sng" dirty="0">
                          <a:solidFill>
                            <a:schemeClr val="bg1"/>
                          </a:solidFill>
                        </a:rPr>
                        <a:t>need to account for UFX separately</a:t>
                      </a:r>
                      <a:r>
                        <a:rPr lang="en-GB" sz="1100" b="1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36000" marB="36000" vert="vert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2585662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98E76A4D-E98B-48D3-8E98-8CD78D3982DC}"/>
              </a:ext>
            </a:extLst>
          </p:cNvPr>
          <p:cNvSpPr/>
          <p:nvPr/>
        </p:nvSpPr>
        <p:spPr>
          <a:xfrm>
            <a:off x="1095154" y="1360830"/>
            <a:ext cx="2615615" cy="324621"/>
          </a:xfrm>
          <a:prstGeom prst="rect">
            <a:avLst/>
          </a:prstGeom>
          <a:solidFill>
            <a:schemeClr val="accent6">
              <a:lumMod val="50000"/>
            </a:schemeClr>
          </a:solidFill>
          <a:ln w="28575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MyRequest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F15DCB-8D6C-4231-89AD-0D436E6728FA}"/>
              </a:ext>
            </a:extLst>
          </p:cNvPr>
          <p:cNvSpPr/>
          <p:nvPr/>
        </p:nvSpPr>
        <p:spPr>
          <a:xfrm>
            <a:off x="1095154" y="1699140"/>
            <a:ext cx="2615616" cy="2253905"/>
          </a:xfrm>
          <a:prstGeom prst="rect">
            <a:avLst/>
          </a:prstGeom>
          <a:noFill/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/>
          <a:lstStyle/>
          <a:p>
            <a:pPr marL="114300" marR="0" lvl="1" indent="-114300" algn="l" defTabSz="533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Request Type=Auto Reversal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if reversal is to be done in following period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14300" marR="0" lvl="1" indent="-114300" algn="l" defTabSz="533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Request Type=Standard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if reversal is to be done manually or in the currently open period, in which case separate reversal MyRequest needs to be submitted (see details in [Reversal Document])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14300" marR="0" lvl="1" indent="-114300" algn="l" defTabSz="533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Document Date = Date as required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(does not determine FX conversion)</a:t>
            </a:r>
          </a:p>
          <a:p>
            <a:pPr marL="114300" marR="0" lvl="1" indent="-114300" algn="l" defTabSz="533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Posting Date=31.12.20XX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A4C525-498F-4334-9308-23C8BA0D3400}"/>
              </a:ext>
            </a:extLst>
          </p:cNvPr>
          <p:cNvSpPr/>
          <p:nvPr/>
        </p:nvSpPr>
        <p:spPr>
          <a:xfrm>
            <a:off x="1095154" y="3953044"/>
            <a:ext cx="2615616" cy="2552642"/>
          </a:xfrm>
          <a:prstGeom prst="rect">
            <a:avLst/>
          </a:prstGeom>
          <a:noFill/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/>
          <a:lstStyle/>
          <a:p>
            <a:pPr marL="114300" marR="0" lvl="1" indent="-114300" algn="l" defTabSz="533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Request Type=Exception Posting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14300" marR="0" lvl="1" indent="-114300" algn="l" defTabSz="533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One set of accounting entries </a:t>
            </a:r>
            <a:r>
              <a:rPr lang="en-GB" sz="1100" dirty="0">
                <a:solidFill>
                  <a:schemeClr val="tx1"/>
                </a:solidFill>
                <a:latin typeface="Arial" panose="020B0604020202020204"/>
              </a:rPr>
              <a:t>v</a:t>
            </a:r>
            <a:r>
              <a:rPr kumimoji="0" lang="en-GB" sz="110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ia</a:t>
            </a:r>
            <a:r>
              <a:rPr kumimoji="0" lang="en-GB" sz="11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MyRequest </a:t>
            </a: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if DC=LC1</a:t>
            </a:r>
          </a:p>
          <a:p>
            <a:pPr marL="114300" marR="0" lvl="1" indent="-114300" algn="l" defTabSz="533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Two sets of accounting entries </a:t>
            </a:r>
            <a:r>
              <a:rPr kumimoji="0" lang="en-GB" sz="11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via MyRequest </a:t>
            </a: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if DC≠LC1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as UFX needs to be accounted for (1</a:t>
            </a:r>
            <a:r>
              <a:rPr kumimoji="0" lang="en-GB" sz="1100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set of accounting entries for YE Adjustment; 2</a:t>
            </a:r>
            <a:r>
              <a:rPr kumimoji="0" lang="en-GB" sz="1100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nd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set of accounting entries for UFX)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14300" marR="0" lvl="1" indent="-114300" algn="l" defTabSz="533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Document Date = Date as required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(determines FX conversion)</a:t>
            </a:r>
          </a:p>
          <a:p>
            <a:pPr marL="114300" marR="0" lvl="1" indent="-114300" algn="l" defTabSz="533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Posting Date = 31.12.20XX</a:t>
            </a:r>
          </a:p>
          <a:p>
            <a:pPr marL="114300" marR="0" lvl="1" indent="-114300" algn="l" defTabSz="533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Char char="•"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9FECE5-A636-4A00-BD17-6D3C84DADFEE}"/>
              </a:ext>
            </a:extLst>
          </p:cNvPr>
          <p:cNvSpPr/>
          <p:nvPr/>
        </p:nvSpPr>
        <p:spPr>
          <a:xfrm>
            <a:off x="3710769" y="1360830"/>
            <a:ext cx="3962178" cy="324621"/>
          </a:xfrm>
          <a:prstGeom prst="rect">
            <a:avLst/>
          </a:prstGeom>
          <a:solidFill>
            <a:schemeClr val="accent6">
              <a:lumMod val="50000"/>
            </a:schemeClr>
          </a:solidFill>
          <a:ln w="28575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Currencies and Amounts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8B06F8-EE67-43C6-8688-02131741A542}"/>
              </a:ext>
            </a:extLst>
          </p:cNvPr>
          <p:cNvSpPr/>
          <p:nvPr/>
        </p:nvSpPr>
        <p:spPr>
          <a:xfrm>
            <a:off x="3710769" y="1699140"/>
            <a:ext cx="3962178" cy="2253905"/>
          </a:xfrm>
          <a:prstGeom prst="rect">
            <a:avLst/>
          </a:prstGeom>
          <a:noFill/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/>
          <a:lstStyle/>
          <a:p>
            <a:pPr marL="114300" marR="0" lvl="1" indent="-114300" algn="l" defTabSz="533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 case of </a:t>
            </a: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DC=LC1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LC2 is calculated automatically by system as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DC@spot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(31.12.20XX)</a:t>
            </a:r>
          </a:p>
          <a:p>
            <a:pPr marL="114300" marR="0" lvl="1" indent="-114300" algn="l" defTabSz="533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 case of </a:t>
            </a: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DC≠LC1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system will convert the posting from DC into </a:t>
            </a: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LC1 and LC2 using the spot “M” rate of 31.12.20XX</a:t>
            </a:r>
          </a:p>
          <a:p>
            <a:pPr marL="114300" marR="0" lvl="1" indent="-114300" algn="l" defTabSz="533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 separate UFX or CTA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postings required, as LC1@spot = LC1@JT (31.12.20XX) and LC2@spot = LC2 @ JT (31.12.20XX). 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D74A72-A319-4BED-A478-A2FB698EA142}"/>
              </a:ext>
            </a:extLst>
          </p:cNvPr>
          <p:cNvSpPr/>
          <p:nvPr/>
        </p:nvSpPr>
        <p:spPr>
          <a:xfrm>
            <a:off x="3710769" y="3966734"/>
            <a:ext cx="3962178" cy="2534236"/>
          </a:xfrm>
          <a:prstGeom prst="rect">
            <a:avLst/>
          </a:prstGeom>
          <a:noFill/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/>
          <a:lstStyle/>
          <a:p>
            <a:pPr marL="114300" marR="0" lvl="1" indent="-114300" algn="l" defTabSz="533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 case of </a:t>
            </a: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DC=LC1, </a:t>
            </a:r>
            <a:r>
              <a:rPr kumimoji="0" lang="en-GB" sz="11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manually</a:t>
            </a: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GB" sz="11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calculate and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input </a:t>
            </a: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LC2 as DC@JT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rate </a:t>
            </a:r>
            <a:r>
              <a:rPr kumimoji="0" lang="en-GB" sz="1100" b="0" i="1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1)</a:t>
            </a:r>
          </a:p>
          <a:p>
            <a:pPr marL="114300" marR="0" lvl="1" indent="-114300" algn="l" defTabSz="533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 case of </a:t>
            </a: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DC≠LC1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</a:t>
            </a:r>
          </a:p>
          <a:p>
            <a:pPr marL="324000" marR="0" lvl="2" indent="-180000" algn="l" defTabSz="533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Entities manually calculate and input </a:t>
            </a:r>
            <a:r>
              <a:rPr kumimoji="0" lang="en-GB" sz="10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LC1=DC@ spot </a:t>
            </a: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rate (M) and </a:t>
            </a:r>
            <a:r>
              <a:rPr kumimoji="0" lang="en-GB" sz="10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LC2=DC@ JT </a:t>
            </a: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rate </a:t>
            </a:r>
            <a:r>
              <a:rPr kumimoji="0" lang="en-GB" sz="1050" b="0" i="1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1)</a:t>
            </a:r>
          </a:p>
          <a:p>
            <a:pPr marL="324000" marR="0" lvl="2" indent="-180000" algn="l" defTabSz="533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GB" sz="10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UFX </a:t>
            </a:r>
            <a:r>
              <a:rPr lang="en-US" sz="1050" b="1" dirty="0">
                <a:solidFill>
                  <a:schemeClr val="tx1"/>
                </a:solidFill>
                <a:latin typeface="Arial" panose="020B0604020202020204"/>
              </a:rPr>
              <a:t>entry</a:t>
            </a: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Dr/Cr P&amp;L UFX and Cr/Dr B/S</a:t>
            </a:r>
          </a:p>
          <a:p>
            <a:pPr marL="432000" marR="0" lvl="3" indent="-108000" algn="l" defTabSz="533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GB" sz="10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DC=0, LC1=delta </a:t>
            </a: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between LC1@M rate vs. LC1@JT rate; </a:t>
            </a:r>
            <a:r>
              <a:rPr kumimoji="0" lang="en-GB" sz="10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LC2=LC1 UFX amount converted to USD @ JT rate</a:t>
            </a:r>
          </a:p>
          <a:p>
            <a:pPr marL="432000" marR="0" lvl="3" indent="-108000" algn="l" defTabSz="533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GB" sz="10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Use underlying account for postings on Flat G/L </a:t>
            </a:r>
            <a:r>
              <a:rPr kumimoji="0" lang="en-GB" sz="105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(e.g. 243617) </a:t>
            </a:r>
            <a:r>
              <a:rPr kumimoji="0" lang="en-GB" sz="10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and respective XXXXX9 account for LSC accounts </a:t>
            </a: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(E.g. FX for 246041 posted on 246049)</a:t>
            </a:r>
          </a:p>
          <a:p>
            <a:pPr marL="114300" marR="0" lvl="1" indent="-114300" algn="l" defTabSz="533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 separate CTA postings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and </a:t>
            </a: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 corrections of the P&amp;L CTA FX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are needed, since Tax ledger is not currently used to calculate deferred taxes and potential automation of Tax Pack would be based on B/S numbers of P12.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ABFA31-BF75-4A28-A3F4-651C78EEA85B}"/>
              </a:ext>
            </a:extLst>
          </p:cNvPr>
          <p:cNvSpPr/>
          <p:nvPr/>
        </p:nvSpPr>
        <p:spPr>
          <a:xfrm>
            <a:off x="7672947" y="1360830"/>
            <a:ext cx="4366652" cy="324621"/>
          </a:xfrm>
          <a:prstGeom prst="rect">
            <a:avLst/>
          </a:prstGeom>
          <a:solidFill>
            <a:schemeClr val="accent6">
              <a:lumMod val="50000"/>
            </a:schemeClr>
          </a:solidFill>
          <a:ln w="28575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Reversal Document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8EC3D8-75EC-4030-B9DA-99C82BB925D9}"/>
              </a:ext>
            </a:extLst>
          </p:cNvPr>
          <p:cNvSpPr/>
          <p:nvPr/>
        </p:nvSpPr>
        <p:spPr>
          <a:xfrm>
            <a:off x="7672946" y="1699140"/>
            <a:ext cx="4366653" cy="2253905"/>
          </a:xfrm>
          <a:prstGeom prst="rect">
            <a:avLst/>
          </a:prstGeom>
          <a:noFill/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/>
          <a:lstStyle/>
          <a:p>
            <a:pPr marL="114300" marR="0" lvl="1" indent="-114300" algn="l" defTabSz="533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For </a:t>
            </a: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“auto reversal” request type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Reversal date = 1st day of the following month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E.g. if Entity raises a P14 20X0 STAT/TAX journal with auto reversal on 05.03.20X1, Entity shall indicate the date of 01.04.20X1 as a reversal date</a:t>
            </a:r>
          </a:p>
          <a:p>
            <a:pPr marL="114300" marR="0" lvl="1" indent="-114300" algn="l" defTabSz="533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For </a:t>
            </a: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entities submitting quarterly STAT and/or TAX reporting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manual subsequent reversal request should be posted and entities indicate the </a:t>
            </a:r>
            <a:r>
              <a:rPr kumimoji="0" lang="en-GB" sz="11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1st day of the currently open period </a:t>
            </a: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as reversal date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E.g. if Entity raises a P14 20X0 STAT/TAX related reversal request on 05.03.20X1 (i.e. P3 20X1 is currently open), they should indicate the date of 01.03.20X1 as a reversal date.</a:t>
            </a:r>
          </a:p>
          <a:p>
            <a:pPr marL="316800" lvl="2" indent="-171450" defTabSz="533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Courier New" panose="02070309020205020404" pitchFamily="49" charset="0"/>
              <a:buChar char="o"/>
              <a:defRPr/>
            </a:pPr>
            <a:r>
              <a:rPr lang="en-GB" sz="1050" dirty="0">
                <a:solidFill>
                  <a:schemeClr val="tx1"/>
                </a:solidFill>
                <a:latin typeface="Arial" panose="020B0604020202020204"/>
              </a:rPr>
              <a:t>This will ensure that the reversal falls into the following financial year and ensures a correct year-to-date result for any intermediate statutory/tax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/>
                <a:ea typeface="+mn-ea"/>
                <a:cs typeface="+mn-cs"/>
              </a:rPr>
              <a:t>	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49644B-3107-48E3-85E5-CB24FD039A99}"/>
              </a:ext>
            </a:extLst>
          </p:cNvPr>
          <p:cNvSpPr/>
          <p:nvPr/>
        </p:nvSpPr>
        <p:spPr>
          <a:xfrm>
            <a:off x="7672946" y="3953045"/>
            <a:ext cx="4366653" cy="2547925"/>
          </a:xfrm>
          <a:prstGeom prst="rect">
            <a:avLst/>
          </a:prstGeom>
          <a:noFill/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/>
          <a:lstStyle/>
          <a:p>
            <a:pPr marL="114300" marR="0" lvl="1" indent="-114300" algn="l" defTabSz="533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MyRequest for Reversal should be raised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by entities to process the reversal(s) of the following:</a:t>
            </a:r>
          </a:p>
          <a:p>
            <a:pPr marL="324000" marR="0" lvl="2" indent="-180000" algn="l" defTabSz="533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Reversal of the </a:t>
            </a:r>
            <a:r>
              <a:rPr kumimoji="0" lang="en-GB" sz="10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underlying transaction </a:t>
            </a: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</a:t>
            </a:r>
            <a:r>
              <a:rPr lang="en-US" sz="1050" dirty="0">
                <a:solidFill>
                  <a:schemeClr val="tx1"/>
                </a:solidFill>
                <a:latin typeface="Arial" panose="020B0604020202020204"/>
              </a:rPr>
              <a:t>if DC=LC1</a:t>
            </a: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)</a:t>
            </a:r>
          </a:p>
          <a:p>
            <a:pPr marL="324000" lvl="2" indent="-180000" defTabSz="533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+mj-lt"/>
              <a:buAutoNum type="arabicParenR"/>
              <a:defRPr/>
            </a:pP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Reversal of the </a:t>
            </a:r>
            <a:r>
              <a:rPr lang="en-GB" sz="1050" b="1" dirty="0">
                <a:solidFill>
                  <a:schemeClr val="tx1"/>
                </a:solidFill>
              </a:rPr>
              <a:t>underlying transaction and UFX </a:t>
            </a:r>
            <a:r>
              <a:rPr kumimoji="0" lang="en-GB" sz="10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posting </a:t>
            </a: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(if DC ≠ LC1)</a:t>
            </a:r>
          </a:p>
          <a:p>
            <a:pPr marL="114300" marR="0" lvl="1" indent="-114300" algn="l" defTabSz="533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For both reversals, Entity shall:</a:t>
            </a:r>
          </a:p>
          <a:p>
            <a:pPr marL="315450" marR="0" lvl="2" indent="-171450" algn="l" defTabSz="533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indicate the concrete </a:t>
            </a:r>
            <a:r>
              <a:rPr kumimoji="0" lang="en-GB" sz="10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original document number </a:t>
            </a: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and request the </a:t>
            </a:r>
            <a:r>
              <a:rPr kumimoji="0" lang="en-GB" sz="10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date of the reversal to be the 1st day of the month of the following year, which is open </a:t>
            </a: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at the moment of the MyRequest template submission. </a:t>
            </a:r>
          </a:p>
          <a:p>
            <a:pPr marL="315450" marR="0" lvl="2" indent="-171450" algn="l" defTabSz="533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E.g. if Entity raises a P14 2020 STAT/TAX journal for reversal on 05.03.2021, Entity shall indicate the date of 01.03.2021 as a reversal date. </a:t>
            </a:r>
          </a:p>
          <a:p>
            <a:pPr marL="114300" marR="0" lvl="1" indent="-114300" algn="l" defTabSz="533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This will ensure that the reversal falls into the following financial year and ensures a correct year-to-date result for any intermediate statutory/tax reporting of the following year. 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B93522B-5867-4E72-950D-3AEF1DF757AC}"/>
              </a:ext>
            </a:extLst>
          </p:cNvPr>
          <p:cNvSpPr txBox="1">
            <a:spLocks/>
          </p:cNvSpPr>
          <p:nvPr/>
        </p:nvSpPr>
        <p:spPr>
          <a:xfrm>
            <a:off x="11278800" y="6282531"/>
            <a:ext cx="397261" cy="365125"/>
          </a:xfrm>
          <a:prstGeom prst="rect">
            <a:avLst/>
          </a:prstGeom>
          <a:effectLst/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C94289-3309-4C35-850A-56FD49B3E346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289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5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C11D3-0415-4088-BEC6-841F0B399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277" y="210344"/>
            <a:ext cx="10220373" cy="984247"/>
          </a:xfrm>
        </p:spPr>
        <p:txBody>
          <a:bodyPr/>
          <a:lstStyle/>
          <a:p>
            <a:r>
              <a:rPr lang="en-GB" dirty="0"/>
              <a:t>P14 STAT/TAX Adjustments Example </a:t>
            </a:r>
            <a:br>
              <a:rPr lang="en-GB" dirty="0"/>
            </a:br>
            <a:r>
              <a:rPr lang="en-GB" dirty="0"/>
              <a:t>– Approach 1 </a:t>
            </a:r>
            <a:r>
              <a:rPr lang="en-GB" sz="1400" dirty="0"/>
              <a:t>(Entities with FX Conversion on Posting Date or Doc. Date=Posting Date=31.12.20XX)</a:t>
            </a:r>
            <a:endParaRPr lang="en-US" sz="14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74FD479-8795-49F3-BD71-8A5E2EFDD917}"/>
              </a:ext>
            </a:extLst>
          </p:cNvPr>
          <p:cNvGrpSpPr/>
          <p:nvPr/>
        </p:nvGrpSpPr>
        <p:grpSpPr>
          <a:xfrm>
            <a:off x="229948" y="6003732"/>
            <a:ext cx="11732103" cy="654095"/>
            <a:chOff x="229948" y="6137082"/>
            <a:chExt cx="11732103" cy="654095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F8E3A830-912B-4F38-BEE9-2E5FC4D951B0}"/>
                </a:ext>
              </a:extLst>
            </p:cNvPr>
            <p:cNvGrpSpPr/>
            <p:nvPr/>
          </p:nvGrpSpPr>
          <p:grpSpPr>
            <a:xfrm>
              <a:off x="229948" y="6137082"/>
              <a:ext cx="11732103" cy="654095"/>
              <a:chOff x="237289" y="6137083"/>
              <a:chExt cx="11732103" cy="654095"/>
            </a:xfrm>
          </p:grpSpPr>
          <p:sp>
            <p:nvSpPr>
              <p:cNvPr id="23" name="Flowchart: Alternate Process 22">
                <a:extLst>
                  <a:ext uri="{FF2B5EF4-FFF2-40B4-BE49-F238E27FC236}">
                    <a16:creationId xmlns:a16="http://schemas.microsoft.com/office/drawing/2014/main" id="{0DB3E612-502F-46E3-A1AC-06465C59F175}"/>
                  </a:ext>
                </a:extLst>
              </p:cNvPr>
              <p:cNvSpPr/>
              <p:nvPr/>
            </p:nvSpPr>
            <p:spPr>
              <a:xfrm>
                <a:off x="237289" y="6137083"/>
                <a:ext cx="11732103" cy="654095"/>
              </a:xfrm>
              <a:prstGeom prst="flowChartAlternateProcess">
                <a:avLst/>
              </a:prstGeom>
              <a:gradFill flip="none" rotWithShape="1">
                <a:gsLst>
                  <a:gs pos="0">
                    <a:schemeClr val="accent6">
                      <a:lumMod val="67000"/>
                    </a:schemeClr>
                  </a:gs>
                  <a:gs pos="48000">
                    <a:schemeClr val="accent6">
                      <a:lumMod val="97000"/>
                      <a:lumOff val="3000"/>
                    </a:schemeClr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0" scaled="1"/>
                <a:tileRect/>
              </a:gradFill>
              <a:ln w="1905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95374F68-480A-44BB-8E80-D49D935166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4890" y="6177897"/>
                <a:ext cx="526357" cy="537717"/>
              </a:xfrm>
              <a:prstGeom prst="rect">
                <a:avLst/>
              </a:prstGeom>
            </p:spPr>
          </p:pic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9938175-345C-4656-A988-822F9B03F760}"/>
                  </a:ext>
                </a:extLst>
              </p:cNvPr>
              <p:cNvSpPr txBox="1"/>
              <p:nvPr/>
            </p:nvSpPr>
            <p:spPr>
              <a:xfrm>
                <a:off x="896466" y="6200434"/>
                <a:ext cx="10673741" cy="4318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CB9FEB8-80F5-491D-9673-75066C3BE7A9}"/>
                </a:ext>
              </a:extLst>
            </p:cNvPr>
            <p:cNvSpPr/>
            <p:nvPr/>
          </p:nvSpPr>
          <p:spPr>
            <a:xfrm>
              <a:off x="765578" y="6202520"/>
              <a:ext cx="10966072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GBS shall post the underlying entry and perform the relevant auto or manual reversal entries with the requested date.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UFX and/or CTA would start generating in the current month if the document is not reversed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C5E91BD1-46B0-4BAD-8BD1-A3D4AE7166B9}"/>
              </a:ext>
            </a:extLst>
          </p:cNvPr>
          <p:cNvSpPr txBox="1">
            <a:spLocks/>
          </p:cNvSpPr>
          <p:nvPr/>
        </p:nvSpPr>
        <p:spPr>
          <a:xfrm>
            <a:off x="11278800" y="6282531"/>
            <a:ext cx="397261" cy="365125"/>
          </a:xfrm>
          <a:prstGeom prst="rect">
            <a:avLst/>
          </a:prstGeom>
          <a:effectLst/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C94289-3309-4C35-850A-56FD49B3E346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94444-BA43-4E34-B076-4E656649E9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358" y="1402638"/>
            <a:ext cx="10110568" cy="21530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30D4D89-F718-4BAD-A178-822AAC9C52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358" y="3737391"/>
            <a:ext cx="10110568" cy="224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855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C11D3-0415-4088-BEC6-841F0B399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277" y="210344"/>
            <a:ext cx="10051589" cy="984247"/>
          </a:xfrm>
        </p:spPr>
        <p:txBody>
          <a:bodyPr/>
          <a:lstStyle/>
          <a:p>
            <a:r>
              <a:rPr lang="en-GB" dirty="0"/>
              <a:t>P14 STAT/TAX Adjustments Example </a:t>
            </a:r>
            <a:br>
              <a:rPr lang="en-GB" dirty="0"/>
            </a:br>
            <a:r>
              <a:rPr lang="en-GB" dirty="0"/>
              <a:t>– Approach 2 </a:t>
            </a:r>
            <a:r>
              <a:rPr lang="en-GB" sz="1400" dirty="0"/>
              <a:t>(Entities with FX Conversion on Doc. Date or need to account for UFX separately)</a:t>
            </a:r>
            <a:endParaRPr lang="en-US" sz="14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74FD479-8795-49F3-BD71-8A5E2EFDD917}"/>
              </a:ext>
            </a:extLst>
          </p:cNvPr>
          <p:cNvGrpSpPr/>
          <p:nvPr/>
        </p:nvGrpSpPr>
        <p:grpSpPr>
          <a:xfrm>
            <a:off x="229948" y="6118032"/>
            <a:ext cx="11732103" cy="654095"/>
            <a:chOff x="229948" y="6137082"/>
            <a:chExt cx="11732103" cy="654095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F8E3A830-912B-4F38-BEE9-2E5FC4D951B0}"/>
                </a:ext>
              </a:extLst>
            </p:cNvPr>
            <p:cNvGrpSpPr/>
            <p:nvPr/>
          </p:nvGrpSpPr>
          <p:grpSpPr>
            <a:xfrm>
              <a:off x="229948" y="6137082"/>
              <a:ext cx="11732103" cy="654095"/>
              <a:chOff x="237289" y="6137083"/>
              <a:chExt cx="11732103" cy="654095"/>
            </a:xfrm>
          </p:grpSpPr>
          <p:sp>
            <p:nvSpPr>
              <p:cNvPr id="23" name="Flowchart: Alternate Process 22">
                <a:extLst>
                  <a:ext uri="{FF2B5EF4-FFF2-40B4-BE49-F238E27FC236}">
                    <a16:creationId xmlns:a16="http://schemas.microsoft.com/office/drawing/2014/main" id="{0DB3E612-502F-46E3-A1AC-06465C59F175}"/>
                  </a:ext>
                </a:extLst>
              </p:cNvPr>
              <p:cNvSpPr/>
              <p:nvPr/>
            </p:nvSpPr>
            <p:spPr>
              <a:xfrm>
                <a:off x="237289" y="6137083"/>
                <a:ext cx="11732103" cy="654095"/>
              </a:xfrm>
              <a:prstGeom prst="flowChartAlternateProcess">
                <a:avLst/>
              </a:prstGeom>
              <a:gradFill flip="none" rotWithShape="1">
                <a:gsLst>
                  <a:gs pos="0">
                    <a:schemeClr val="accent6">
                      <a:lumMod val="67000"/>
                    </a:schemeClr>
                  </a:gs>
                  <a:gs pos="48000">
                    <a:schemeClr val="accent6">
                      <a:lumMod val="97000"/>
                      <a:lumOff val="3000"/>
                    </a:schemeClr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0" scaled="1"/>
                <a:tileRect/>
              </a:gradFill>
              <a:ln w="1905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95374F68-480A-44BB-8E80-D49D935166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4890" y="6177897"/>
                <a:ext cx="526357" cy="537717"/>
              </a:xfrm>
              <a:prstGeom prst="rect">
                <a:avLst/>
              </a:prstGeom>
            </p:spPr>
          </p:pic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9938175-345C-4656-A988-822F9B03F760}"/>
                  </a:ext>
                </a:extLst>
              </p:cNvPr>
              <p:cNvSpPr txBox="1"/>
              <p:nvPr/>
            </p:nvSpPr>
            <p:spPr>
              <a:xfrm>
                <a:off x="896466" y="6200434"/>
                <a:ext cx="10673741" cy="4318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CB9FEB8-80F5-491D-9673-75066C3BE7A9}"/>
                </a:ext>
              </a:extLst>
            </p:cNvPr>
            <p:cNvSpPr/>
            <p:nvPr/>
          </p:nvSpPr>
          <p:spPr>
            <a:xfrm>
              <a:off x="742959" y="6175130"/>
              <a:ext cx="10966072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lvl="0" indent="-285750">
                <a:buFont typeface="Arial" panose="020B0604020202020204" pitchFamily="34" charset="0"/>
                <a:buChar char="•"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GBS shall post the above underlying and UFX </a:t>
              </a:r>
              <a:r>
                <a:rPr lang="en-GB" sz="1400">
                  <a:solidFill>
                    <a:schemeClr val="bg1"/>
                  </a:solidFill>
                </a:rPr>
                <a:t>entries and perform manual reversal entries with the requested date.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  <a:defRPr/>
              </a:pPr>
              <a:r>
                <a:rPr lang="en-GB" sz="1400">
                  <a:solidFill>
                    <a:schemeClr val="bg1"/>
                  </a:solidFill>
                </a:rPr>
                <a:t>UFX and/or CTA would start generating in the current month if the document is not reversed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</p:grp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C5E91BD1-46B0-4BAD-8BD1-A3D4AE7166B9}"/>
              </a:ext>
            </a:extLst>
          </p:cNvPr>
          <p:cNvSpPr txBox="1">
            <a:spLocks/>
          </p:cNvSpPr>
          <p:nvPr/>
        </p:nvSpPr>
        <p:spPr>
          <a:xfrm>
            <a:off x="11278800" y="6282531"/>
            <a:ext cx="397261" cy="365125"/>
          </a:xfrm>
          <a:prstGeom prst="rect">
            <a:avLst/>
          </a:prstGeom>
          <a:effectLst/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C94289-3309-4C35-850A-56FD49B3E346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6CA825-0F86-459C-888F-A3DC4ADD99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358" y="1369744"/>
            <a:ext cx="9201334" cy="21353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24EE3DA-AE4E-4DFA-9B74-7D8455F378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358" y="3545959"/>
            <a:ext cx="9201334" cy="2479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905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C11D3-0415-4088-BEC6-841F0B399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277" y="210344"/>
            <a:ext cx="9474675" cy="984247"/>
          </a:xfrm>
        </p:spPr>
        <p:txBody>
          <a:bodyPr/>
          <a:lstStyle/>
          <a:p>
            <a:r>
              <a:rPr lang="en-GB"/>
              <a:t>Functional Area Adjustment for P14 Posting </a:t>
            </a:r>
            <a:br>
              <a:rPr lang="en-GB"/>
            </a:br>
            <a:r>
              <a:rPr lang="en-GB"/>
              <a:t>(for Entities applicable)</a:t>
            </a:r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AF7AABE-DE2D-45F8-84EB-B0A78D804F9D}"/>
              </a:ext>
            </a:extLst>
          </p:cNvPr>
          <p:cNvSpPr/>
          <p:nvPr/>
        </p:nvSpPr>
        <p:spPr>
          <a:xfrm>
            <a:off x="1268453" y="1389956"/>
            <a:ext cx="10407607" cy="1900942"/>
          </a:xfrm>
          <a:custGeom>
            <a:avLst/>
            <a:gdLst>
              <a:gd name="connsiteX0" fmla="*/ 0 w 5405120"/>
              <a:gd name="connsiteY0" fmla="*/ 0 h 1505029"/>
              <a:gd name="connsiteX1" fmla="*/ 4652606 w 5405120"/>
              <a:gd name="connsiteY1" fmla="*/ 0 h 1505029"/>
              <a:gd name="connsiteX2" fmla="*/ 5405120 w 5405120"/>
              <a:gd name="connsiteY2" fmla="*/ 752515 h 1505029"/>
              <a:gd name="connsiteX3" fmla="*/ 4652606 w 5405120"/>
              <a:gd name="connsiteY3" fmla="*/ 1505029 h 1505029"/>
              <a:gd name="connsiteX4" fmla="*/ 0 w 5405120"/>
              <a:gd name="connsiteY4" fmla="*/ 1505029 h 1505029"/>
              <a:gd name="connsiteX5" fmla="*/ 0 w 5405120"/>
              <a:gd name="connsiteY5" fmla="*/ 0 h 1505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5120" h="1505029">
                <a:moveTo>
                  <a:pt x="5405120" y="1505028"/>
                </a:moveTo>
                <a:lnTo>
                  <a:pt x="752514" y="1505028"/>
                </a:lnTo>
                <a:lnTo>
                  <a:pt x="0" y="752514"/>
                </a:lnTo>
                <a:lnTo>
                  <a:pt x="752514" y="1"/>
                </a:lnTo>
                <a:lnTo>
                  <a:pt x="5405120" y="1"/>
                </a:lnTo>
                <a:lnTo>
                  <a:pt x="5405120" y="1505028"/>
                </a:ln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1750"/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shade val="50000"/>
              <a:hueOff val="0"/>
              <a:satOff val="0"/>
              <a:lumOff val="0"/>
              <a:alphaOff val="0"/>
            </a:schemeClr>
          </a:fillRef>
          <a:effectRef idx="0">
            <a:schemeClr val="accent6">
              <a:shade val="5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39933" tIns="247651" rIns="462280" bIns="247651" numCol="1" spcCol="1270" anchor="ctr" anchorCtr="0">
            <a:noAutofit/>
          </a:bodyPr>
          <a:lstStyle/>
          <a:p>
            <a:pPr marL="0" marR="0" lvl="0" indent="0" algn="ctr" defTabSz="28892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6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566ED7C-CE85-415B-A39B-1A33DC20756A}"/>
              </a:ext>
            </a:extLst>
          </p:cNvPr>
          <p:cNvSpPr/>
          <p:nvPr/>
        </p:nvSpPr>
        <p:spPr>
          <a:xfrm>
            <a:off x="515939" y="1622841"/>
            <a:ext cx="1505029" cy="1505029"/>
          </a:xfrm>
          <a:prstGeom prst="ellipse">
            <a:avLst/>
          </a:prstGeom>
          <a:solidFill>
            <a:schemeClr val="accent2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1750"/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6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60EB14D-E1B0-4099-95B3-ECD58244CCCC}"/>
              </a:ext>
            </a:extLst>
          </p:cNvPr>
          <p:cNvSpPr/>
          <p:nvPr/>
        </p:nvSpPr>
        <p:spPr>
          <a:xfrm>
            <a:off x="1268453" y="3401392"/>
            <a:ext cx="10407607" cy="1986115"/>
          </a:xfrm>
          <a:custGeom>
            <a:avLst/>
            <a:gdLst>
              <a:gd name="connsiteX0" fmla="*/ 0 w 5405120"/>
              <a:gd name="connsiteY0" fmla="*/ 0 h 1505029"/>
              <a:gd name="connsiteX1" fmla="*/ 4652606 w 5405120"/>
              <a:gd name="connsiteY1" fmla="*/ 0 h 1505029"/>
              <a:gd name="connsiteX2" fmla="*/ 5405120 w 5405120"/>
              <a:gd name="connsiteY2" fmla="*/ 752515 h 1505029"/>
              <a:gd name="connsiteX3" fmla="*/ 4652606 w 5405120"/>
              <a:gd name="connsiteY3" fmla="*/ 1505029 h 1505029"/>
              <a:gd name="connsiteX4" fmla="*/ 0 w 5405120"/>
              <a:gd name="connsiteY4" fmla="*/ 1505029 h 1505029"/>
              <a:gd name="connsiteX5" fmla="*/ 0 w 5405120"/>
              <a:gd name="connsiteY5" fmla="*/ 0 h 1505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5120" h="1505029">
                <a:moveTo>
                  <a:pt x="5405120" y="1505028"/>
                </a:moveTo>
                <a:lnTo>
                  <a:pt x="752514" y="1505028"/>
                </a:lnTo>
                <a:lnTo>
                  <a:pt x="0" y="752514"/>
                </a:lnTo>
                <a:lnTo>
                  <a:pt x="752514" y="1"/>
                </a:lnTo>
                <a:lnTo>
                  <a:pt x="5405120" y="1"/>
                </a:lnTo>
                <a:lnTo>
                  <a:pt x="5405120" y="1505028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1750"/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shade val="50000"/>
              <a:hueOff val="304420"/>
              <a:satOff val="-6309"/>
              <a:lumOff val="28721"/>
              <a:alphaOff val="0"/>
            </a:schemeClr>
          </a:fillRef>
          <a:effectRef idx="0">
            <a:schemeClr val="accent6">
              <a:shade val="50000"/>
              <a:hueOff val="304420"/>
              <a:satOff val="-6309"/>
              <a:lumOff val="28721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39933" tIns="247651" rIns="462280" bIns="247650" numCol="1" spcCol="1270" anchor="ctr" anchorCtr="0">
            <a:noAutofit/>
          </a:bodyPr>
          <a:lstStyle/>
          <a:p>
            <a:pPr marL="0" marR="0" lvl="0" indent="0" algn="ctr" defTabSz="28892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6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5DE41F1-C3DF-4A41-80D0-64F1A23367F7}"/>
              </a:ext>
            </a:extLst>
          </p:cNvPr>
          <p:cNvSpPr/>
          <p:nvPr/>
        </p:nvSpPr>
        <p:spPr>
          <a:xfrm>
            <a:off x="515939" y="3753818"/>
            <a:ext cx="1505029" cy="1505029"/>
          </a:xfrm>
          <a:prstGeom prst="ellipse">
            <a:avLst/>
          </a:prstGeom>
          <a:solidFill>
            <a:schemeClr val="bg1">
              <a:lumMod val="6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1750"/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tint val="50000"/>
              <a:hueOff val="-8036"/>
              <a:satOff val="319"/>
              <a:lumOff val="-1044"/>
              <a:alphaOff val="0"/>
            </a:schemeClr>
          </a:fillRef>
          <a:effectRef idx="0">
            <a:schemeClr val="accent6">
              <a:tint val="50000"/>
              <a:hueOff val="-8036"/>
              <a:satOff val="319"/>
              <a:lumOff val="-1044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A72FD4-05A6-4078-9FCD-046653ECEC20}"/>
              </a:ext>
            </a:extLst>
          </p:cNvPr>
          <p:cNvSpPr/>
          <p:nvPr/>
        </p:nvSpPr>
        <p:spPr>
          <a:xfrm>
            <a:off x="515940" y="2136320"/>
            <a:ext cx="1505028" cy="400050"/>
          </a:xfrm>
          <a:prstGeom prst="rect">
            <a:avLst/>
          </a:prstGeom>
          <a:noFill/>
          <a:ln w="190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Scope &amp; Requirement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1B8879D-93E3-4C4D-A1F2-8D929EEA9C32}"/>
              </a:ext>
            </a:extLst>
          </p:cNvPr>
          <p:cNvGraphicFramePr>
            <a:graphicFrameLocks noGrp="1"/>
          </p:cNvGraphicFramePr>
          <p:nvPr/>
        </p:nvGraphicFramePr>
        <p:xfrm>
          <a:off x="2773481" y="1556480"/>
          <a:ext cx="3779720" cy="1625782"/>
        </p:xfrm>
        <a:graphic>
          <a:graphicData uri="http://schemas.openxmlformats.org/drawingml/2006/table">
            <a:tbl>
              <a:tblPr firstRow="1" firstCol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210690">
                  <a:extLst>
                    <a:ext uri="{9D8B030D-6E8A-4147-A177-3AD203B41FA5}">
                      <a16:colId xmlns:a16="http://schemas.microsoft.com/office/drawing/2014/main" val="1571254343"/>
                    </a:ext>
                  </a:extLst>
                </a:gridCol>
                <a:gridCol w="664029">
                  <a:extLst>
                    <a:ext uri="{9D8B030D-6E8A-4147-A177-3AD203B41FA5}">
                      <a16:colId xmlns:a16="http://schemas.microsoft.com/office/drawing/2014/main" val="849390763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4677671"/>
                    </a:ext>
                  </a:extLst>
                </a:gridCol>
                <a:gridCol w="1123951">
                  <a:extLst>
                    <a:ext uri="{9D8B030D-6E8A-4147-A177-3AD203B41FA5}">
                      <a16:colId xmlns:a16="http://schemas.microsoft.com/office/drawing/2014/main" val="3349271363"/>
                    </a:ext>
                  </a:extLst>
                </a:gridCol>
              </a:tblGrid>
              <a:tr h="25432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CCODE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STAT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TAX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GBS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8856074"/>
                  </a:ext>
                </a:extLst>
              </a:tr>
              <a:tr h="22253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1171, 1172, 1197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X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X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</a:rPr>
                        <a:t>St Pete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33299406"/>
                  </a:ext>
                </a:extLst>
              </a:tr>
              <a:tr h="1576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1179, 1180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X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X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</a:rPr>
                        <a:t>St Pete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153032108"/>
                  </a:ext>
                </a:extLst>
              </a:tr>
              <a:tr h="2168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2154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X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+mn-lt"/>
                        </a:rPr>
                        <a:t>St Pete</a:t>
                      </a:r>
                      <a:endParaRPr lang="en-US" sz="100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999879654"/>
                  </a:ext>
                </a:extLst>
              </a:tr>
              <a:tr h="2168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1314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X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  <a:latin typeface="+mn-lt"/>
                          <a:ea typeface="Calibri" panose="020F0502020204030204" pitchFamily="34" charset="0"/>
                        </a:rPr>
                        <a:t>W</a:t>
                      </a:r>
                      <a:r>
                        <a:rPr lang="en-GB" sz="1000" noProof="0">
                          <a:effectLst/>
                          <a:latin typeface="+mn-lt"/>
                          <a:ea typeface="Calibri" panose="020F0502020204030204" pitchFamily="34" charset="0"/>
                        </a:rPr>
                        <a:t>arsaw</a:t>
                      </a:r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5250193"/>
                  </a:ext>
                </a:extLst>
              </a:tr>
              <a:tr h="1576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1799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X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X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  <a:latin typeface="+mn-lt"/>
                          <a:ea typeface="Calibri" panose="020F0502020204030204" pitchFamily="34" charset="0"/>
                        </a:rPr>
                        <a:t>W</a:t>
                      </a: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</a:rPr>
                        <a:t>arsaw</a:t>
                      </a:r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29754525"/>
                  </a:ext>
                </a:extLst>
              </a:tr>
              <a:tr h="18313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1800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X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X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  <a:latin typeface="+mn-lt"/>
                          <a:ea typeface="Calibri" panose="020F0502020204030204" pitchFamily="34" charset="0"/>
                        </a:rPr>
                        <a:t>W</a:t>
                      </a:r>
                      <a:r>
                        <a:rPr lang="en-US" sz="1000">
                          <a:effectLst/>
                          <a:latin typeface="+mn-lt"/>
                          <a:ea typeface="Calibri" panose="020F0502020204030204" pitchFamily="34" charset="0"/>
                        </a:rPr>
                        <a:t>arsaw</a:t>
                      </a:r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20609528"/>
                  </a:ext>
                </a:extLst>
              </a:tr>
              <a:tr h="2168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2101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X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X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W</a:t>
                      </a:r>
                      <a:r>
                        <a:rPr lang="en-US" sz="1000" dirty="0" err="1">
                          <a:effectLst/>
                          <a:latin typeface="+mn-lt"/>
                          <a:ea typeface="Calibri" panose="020F0502020204030204" pitchFamily="34" charset="0"/>
                        </a:rPr>
                        <a:t>arsaw</a:t>
                      </a:r>
                      <a:endParaRPr lang="en-US" sz="1000" dirty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6846744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C327D7C3-CE49-4B6B-87E6-82F7B2F0CE83}"/>
              </a:ext>
            </a:extLst>
          </p:cNvPr>
          <p:cNvSpPr txBox="1"/>
          <p:nvPr/>
        </p:nvSpPr>
        <p:spPr>
          <a:xfrm>
            <a:off x="6934200" y="1602920"/>
            <a:ext cx="4429125" cy="117253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Entities which make adjustments by Functional Area (FA) to comply with their STAT or STAT/TAX presentation requirements need to make corresponding FA adjustments for the P14 adjustments after those journals are posted.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6514CF-4338-4563-9F37-12DC34286E94}"/>
              </a:ext>
            </a:extLst>
          </p:cNvPr>
          <p:cNvSpPr/>
          <p:nvPr/>
        </p:nvSpPr>
        <p:spPr>
          <a:xfrm>
            <a:off x="469982" y="4206574"/>
            <a:ext cx="1505028" cy="400050"/>
          </a:xfrm>
          <a:prstGeom prst="rect">
            <a:avLst/>
          </a:prstGeom>
          <a:noFill/>
          <a:ln w="190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P14 STAT/TAX FA ADJ Process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6CBCFC5-6472-438B-B38B-3CD86F1B88C5}"/>
              </a:ext>
            </a:extLst>
          </p:cNvPr>
          <p:cNvSpPr/>
          <p:nvPr/>
        </p:nvSpPr>
        <p:spPr>
          <a:xfrm>
            <a:off x="2788819" y="3496644"/>
            <a:ext cx="1527672" cy="1762204"/>
          </a:xfrm>
          <a:custGeom>
            <a:avLst/>
            <a:gdLst>
              <a:gd name="connsiteX0" fmla="*/ 0 w 1334594"/>
              <a:gd name="connsiteY0" fmla="*/ 133459 h 2314687"/>
              <a:gd name="connsiteX1" fmla="*/ 133459 w 1334594"/>
              <a:gd name="connsiteY1" fmla="*/ 0 h 2314687"/>
              <a:gd name="connsiteX2" fmla="*/ 1201135 w 1334594"/>
              <a:gd name="connsiteY2" fmla="*/ 0 h 2314687"/>
              <a:gd name="connsiteX3" fmla="*/ 1334594 w 1334594"/>
              <a:gd name="connsiteY3" fmla="*/ 133459 h 2314687"/>
              <a:gd name="connsiteX4" fmla="*/ 1334594 w 1334594"/>
              <a:gd name="connsiteY4" fmla="*/ 2181228 h 2314687"/>
              <a:gd name="connsiteX5" fmla="*/ 1201135 w 1334594"/>
              <a:gd name="connsiteY5" fmla="*/ 2314687 h 2314687"/>
              <a:gd name="connsiteX6" fmla="*/ 133459 w 1334594"/>
              <a:gd name="connsiteY6" fmla="*/ 2314687 h 2314687"/>
              <a:gd name="connsiteX7" fmla="*/ 0 w 1334594"/>
              <a:gd name="connsiteY7" fmla="*/ 2181228 h 2314687"/>
              <a:gd name="connsiteX8" fmla="*/ 0 w 1334594"/>
              <a:gd name="connsiteY8" fmla="*/ 133459 h 2314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34594" h="2314687">
                <a:moveTo>
                  <a:pt x="0" y="133459"/>
                </a:moveTo>
                <a:cubicBezTo>
                  <a:pt x="0" y="59752"/>
                  <a:pt x="59752" y="0"/>
                  <a:pt x="133459" y="0"/>
                </a:cubicBezTo>
                <a:lnTo>
                  <a:pt x="1201135" y="0"/>
                </a:lnTo>
                <a:cubicBezTo>
                  <a:pt x="1274842" y="0"/>
                  <a:pt x="1334594" y="59752"/>
                  <a:pt x="1334594" y="133459"/>
                </a:cubicBezTo>
                <a:lnTo>
                  <a:pt x="1334594" y="2181228"/>
                </a:lnTo>
                <a:cubicBezTo>
                  <a:pt x="1334594" y="2254935"/>
                  <a:pt x="1274842" y="2314687"/>
                  <a:pt x="1201135" y="2314687"/>
                </a:cubicBezTo>
                <a:lnTo>
                  <a:pt x="133459" y="2314687"/>
                </a:lnTo>
                <a:cubicBezTo>
                  <a:pt x="59752" y="2314687"/>
                  <a:pt x="0" y="2254935"/>
                  <a:pt x="0" y="2181228"/>
                </a:cubicBezTo>
                <a:lnTo>
                  <a:pt x="0" y="133459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shade val="5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shade val="5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4809" tIns="84809" rIns="84809" bIns="84809" numCol="1" spcCol="1270" anchor="ctr" anchorCtr="0">
            <a:noAutofit/>
          </a:bodyPr>
          <a:lstStyle/>
          <a:p>
            <a:pPr marL="0" marR="0" lvl="0" indent="0" algn="l" defTabSz="533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Entity 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sends email to GBS asking for completing FA Adj. </a:t>
            </a: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after </a:t>
            </a:r>
            <a:r>
              <a:rPr kumimoji="0" lang="en-GB" sz="1200" b="1" i="0" u="sng" strike="noStrike" kern="1200" cap="none" spc="0" normalizeH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all</a:t>
            </a: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P14 STAT/TAX Adj. 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posted in the respective ledger(s)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537243C-41C4-42D3-98C1-4CA7835ED185}"/>
              </a:ext>
            </a:extLst>
          </p:cNvPr>
          <p:cNvSpPr/>
          <p:nvPr/>
        </p:nvSpPr>
        <p:spPr>
          <a:xfrm>
            <a:off x="4362449" y="4203907"/>
            <a:ext cx="177357" cy="330979"/>
          </a:xfrm>
          <a:custGeom>
            <a:avLst/>
            <a:gdLst>
              <a:gd name="connsiteX0" fmla="*/ 0 w 282934"/>
              <a:gd name="connsiteY0" fmla="*/ 66196 h 330979"/>
              <a:gd name="connsiteX1" fmla="*/ 141467 w 282934"/>
              <a:gd name="connsiteY1" fmla="*/ 66196 h 330979"/>
              <a:gd name="connsiteX2" fmla="*/ 141467 w 282934"/>
              <a:gd name="connsiteY2" fmla="*/ 0 h 330979"/>
              <a:gd name="connsiteX3" fmla="*/ 282934 w 282934"/>
              <a:gd name="connsiteY3" fmla="*/ 165490 h 330979"/>
              <a:gd name="connsiteX4" fmla="*/ 141467 w 282934"/>
              <a:gd name="connsiteY4" fmla="*/ 330979 h 330979"/>
              <a:gd name="connsiteX5" fmla="*/ 141467 w 282934"/>
              <a:gd name="connsiteY5" fmla="*/ 264783 h 330979"/>
              <a:gd name="connsiteX6" fmla="*/ 0 w 282934"/>
              <a:gd name="connsiteY6" fmla="*/ 264783 h 330979"/>
              <a:gd name="connsiteX7" fmla="*/ 0 w 282934"/>
              <a:gd name="connsiteY7" fmla="*/ 66196 h 330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2934" h="330979">
                <a:moveTo>
                  <a:pt x="0" y="66196"/>
                </a:moveTo>
                <a:lnTo>
                  <a:pt x="141467" y="66196"/>
                </a:lnTo>
                <a:lnTo>
                  <a:pt x="141467" y="0"/>
                </a:lnTo>
                <a:lnTo>
                  <a:pt x="282934" y="165490"/>
                </a:lnTo>
                <a:lnTo>
                  <a:pt x="141467" y="330979"/>
                </a:lnTo>
                <a:lnTo>
                  <a:pt x="141467" y="264783"/>
                </a:lnTo>
                <a:lnTo>
                  <a:pt x="0" y="264783"/>
                </a:lnTo>
                <a:lnTo>
                  <a:pt x="0" y="66196"/>
                </a:lnTo>
                <a:close/>
              </a:path>
            </a:pathLst>
          </a:custGeom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hemeClr val="accent3">
              <a:shade val="90000"/>
              <a:hueOff val="0"/>
              <a:satOff val="0"/>
              <a:lumOff val="0"/>
              <a:alphaOff val="0"/>
            </a:schemeClr>
          </a:lnRef>
          <a:fillRef idx="1">
            <a:schemeClr val="accent3">
              <a:shade val="9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shade val="9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6196" rIns="84880" bIns="66196" numCol="1" spcCol="1270" anchor="ctr" anchorCtr="0">
            <a:noAutofit/>
          </a:bodyPr>
          <a:lstStyle/>
          <a:p>
            <a:pPr marL="0" marR="0" lvl="0" indent="0" algn="ctr" defTabSz="6667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766F77E-29D3-422B-AFF3-7AA13073208F}"/>
              </a:ext>
            </a:extLst>
          </p:cNvPr>
          <p:cNvSpPr/>
          <p:nvPr/>
        </p:nvSpPr>
        <p:spPr>
          <a:xfrm>
            <a:off x="4581051" y="3496644"/>
            <a:ext cx="1527672" cy="1762204"/>
          </a:xfrm>
          <a:custGeom>
            <a:avLst/>
            <a:gdLst>
              <a:gd name="connsiteX0" fmla="*/ 0 w 1334594"/>
              <a:gd name="connsiteY0" fmla="*/ 133459 h 2314687"/>
              <a:gd name="connsiteX1" fmla="*/ 133459 w 1334594"/>
              <a:gd name="connsiteY1" fmla="*/ 0 h 2314687"/>
              <a:gd name="connsiteX2" fmla="*/ 1201135 w 1334594"/>
              <a:gd name="connsiteY2" fmla="*/ 0 h 2314687"/>
              <a:gd name="connsiteX3" fmla="*/ 1334594 w 1334594"/>
              <a:gd name="connsiteY3" fmla="*/ 133459 h 2314687"/>
              <a:gd name="connsiteX4" fmla="*/ 1334594 w 1334594"/>
              <a:gd name="connsiteY4" fmla="*/ 2181228 h 2314687"/>
              <a:gd name="connsiteX5" fmla="*/ 1201135 w 1334594"/>
              <a:gd name="connsiteY5" fmla="*/ 2314687 h 2314687"/>
              <a:gd name="connsiteX6" fmla="*/ 133459 w 1334594"/>
              <a:gd name="connsiteY6" fmla="*/ 2314687 h 2314687"/>
              <a:gd name="connsiteX7" fmla="*/ 0 w 1334594"/>
              <a:gd name="connsiteY7" fmla="*/ 2181228 h 2314687"/>
              <a:gd name="connsiteX8" fmla="*/ 0 w 1334594"/>
              <a:gd name="connsiteY8" fmla="*/ 133459 h 2314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34594" h="2314687">
                <a:moveTo>
                  <a:pt x="0" y="133459"/>
                </a:moveTo>
                <a:cubicBezTo>
                  <a:pt x="0" y="59752"/>
                  <a:pt x="59752" y="0"/>
                  <a:pt x="133459" y="0"/>
                </a:cubicBezTo>
                <a:lnTo>
                  <a:pt x="1201135" y="0"/>
                </a:lnTo>
                <a:cubicBezTo>
                  <a:pt x="1274842" y="0"/>
                  <a:pt x="1334594" y="59752"/>
                  <a:pt x="1334594" y="133459"/>
                </a:cubicBezTo>
                <a:lnTo>
                  <a:pt x="1334594" y="2181228"/>
                </a:lnTo>
                <a:cubicBezTo>
                  <a:pt x="1334594" y="2254935"/>
                  <a:pt x="1274842" y="2314687"/>
                  <a:pt x="1201135" y="2314687"/>
                </a:cubicBezTo>
                <a:lnTo>
                  <a:pt x="133459" y="2314687"/>
                </a:lnTo>
                <a:cubicBezTo>
                  <a:pt x="59752" y="2314687"/>
                  <a:pt x="0" y="2254935"/>
                  <a:pt x="0" y="2181228"/>
                </a:cubicBezTo>
                <a:lnTo>
                  <a:pt x="0" y="13345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shade val="50000"/>
              <a:hueOff val="-65733"/>
              <a:satOff val="-26570"/>
              <a:lumOff val="20876"/>
              <a:alphaOff val="0"/>
            </a:schemeClr>
          </a:fillRef>
          <a:effectRef idx="0">
            <a:schemeClr val="accent3">
              <a:shade val="50000"/>
              <a:hueOff val="-65733"/>
              <a:satOff val="-26570"/>
              <a:lumOff val="20876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4809" tIns="84809" rIns="84809" bIns="84809" numCol="1" spcCol="1270" anchor="ctr" anchorCtr="0">
            <a:noAutofit/>
          </a:bodyPr>
          <a:lstStyle/>
          <a:p>
            <a:pPr marL="0" marR="0" lvl="0" indent="0" algn="l" defTabSz="533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GBS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takes the P&amp;L movements for the range of relevant accounts in P14 and </a:t>
            </a: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builds subtotal by Functional Area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; using t-code FAGLL03H and layout "/INC3215289"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0859309-FBCB-46AB-A754-4741148DF737}"/>
              </a:ext>
            </a:extLst>
          </p:cNvPr>
          <p:cNvSpPr/>
          <p:nvPr/>
        </p:nvSpPr>
        <p:spPr>
          <a:xfrm>
            <a:off x="6173732" y="4203907"/>
            <a:ext cx="177357" cy="330979"/>
          </a:xfrm>
          <a:custGeom>
            <a:avLst/>
            <a:gdLst>
              <a:gd name="connsiteX0" fmla="*/ 0 w 282934"/>
              <a:gd name="connsiteY0" fmla="*/ 66196 h 330979"/>
              <a:gd name="connsiteX1" fmla="*/ 141467 w 282934"/>
              <a:gd name="connsiteY1" fmla="*/ 66196 h 330979"/>
              <a:gd name="connsiteX2" fmla="*/ 141467 w 282934"/>
              <a:gd name="connsiteY2" fmla="*/ 0 h 330979"/>
              <a:gd name="connsiteX3" fmla="*/ 282934 w 282934"/>
              <a:gd name="connsiteY3" fmla="*/ 165490 h 330979"/>
              <a:gd name="connsiteX4" fmla="*/ 141467 w 282934"/>
              <a:gd name="connsiteY4" fmla="*/ 330979 h 330979"/>
              <a:gd name="connsiteX5" fmla="*/ 141467 w 282934"/>
              <a:gd name="connsiteY5" fmla="*/ 264783 h 330979"/>
              <a:gd name="connsiteX6" fmla="*/ 0 w 282934"/>
              <a:gd name="connsiteY6" fmla="*/ 264783 h 330979"/>
              <a:gd name="connsiteX7" fmla="*/ 0 w 282934"/>
              <a:gd name="connsiteY7" fmla="*/ 66196 h 330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2934" h="330979">
                <a:moveTo>
                  <a:pt x="0" y="66196"/>
                </a:moveTo>
                <a:lnTo>
                  <a:pt x="141467" y="66196"/>
                </a:lnTo>
                <a:lnTo>
                  <a:pt x="141467" y="0"/>
                </a:lnTo>
                <a:lnTo>
                  <a:pt x="282934" y="165490"/>
                </a:lnTo>
                <a:lnTo>
                  <a:pt x="141467" y="330979"/>
                </a:lnTo>
                <a:lnTo>
                  <a:pt x="141467" y="264783"/>
                </a:lnTo>
                <a:lnTo>
                  <a:pt x="0" y="264783"/>
                </a:lnTo>
                <a:lnTo>
                  <a:pt x="0" y="66196"/>
                </a:lnTo>
                <a:close/>
              </a:path>
            </a:pathLst>
          </a:custGeom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hemeClr val="accent3">
              <a:shade val="90000"/>
              <a:hueOff val="-87155"/>
              <a:satOff val="-33543"/>
              <a:lumOff val="23402"/>
              <a:alphaOff val="0"/>
            </a:schemeClr>
          </a:lnRef>
          <a:fillRef idx="1">
            <a:schemeClr val="accent3">
              <a:shade val="90000"/>
              <a:hueOff val="-87155"/>
              <a:satOff val="-33543"/>
              <a:lumOff val="23402"/>
              <a:alphaOff val="0"/>
            </a:schemeClr>
          </a:fillRef>
          <a:effectRef idx="0">
            <a:schemeClr val="accent3">
              <a:shade val="90000"/>
              <a:hueOff val="-87155"/>
              <a:satOff val="-33543"/>
              <a:lumOff val="23402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6196" rIns="84880" bIns="66196" numCol="1" spcCol="1270" anchor="ctr" anchorCtr="0">
            <a:noAutofit/>
          </a:bodyPr>
          <a:lstStyle/>
          <a:p>
            <a:pPr marL="0" marR="0" lvl="0" indent="0" algn="ctr" defTabSz="6667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AC6D45D2-1B96-4FAF-848E-498CD22D920F}"/>
              </a:ext>
            </a:extLst>
          </p:cNvPr>
          <p:cNvSpPr/>
          <p:nvPr/>
        </p:nvSpPr>
        <p:spPr>
          <a:xfrm>
            <a:off x="6392334" y="3496644"/>
            <a:ext cx="1527672" cy="1762204"/>
          </a:xfrm>
          <a:custGeom>
            <a:avLst/>
            <a:gdLst>
              <a:gd name="connsiteX0" fmla="*/ 0 w 1334594"/>
              <a:gd name="connsiteY0" fmla="*/ 133459 h 2314687"/>
              <a:gd name="connsiteX1" fmla="*/ 133459 w 1334594"/>
              <a:gd name="connsiteY1" fmla="*/ 0 h 2314687"/>
              <a:gd name="connsiteX2" fmla="*/ 1201135 w 1334594"/>
              <a:gd name="connsiteY2" fmla="*/ 0 h 2314687"/>
              <a:gd name="connsiteX3" fmla="*/ 1334594 w 1334594"/>
              <a:gd name="connsiteY3" fmla="*/ 133459 h 2314687"/>
              <a:gd name="connsiteX4" fmla="*/ 1334594 w 1334594"/>
              <a:gd name="connsiteY4" fmla="*/ 2181228 h 2314687"/>
              <a:gd name="connsiteX5" fmla="*/ 1201135 w 1334594"/>
              <a:gd name="connsiteY5" fmla="*/ 2314687 h 2314687"/>
              <a:gd name="connsiteX6" fmla="*/ 133459 w 1334594"/>
              <a:gd name="connsiteY6" fmla="*/ 2314687 h 2314687"/>
              <a:gd name="connsiteX7" fmla="*/ 0 w 1334594"/>
              <a:gd name="connsiteY7" fmla="*/ 2181228 h 2314687"/>
              <a:gd name="connsiteX8" fmla="*/ 0 w 1334594"/>
              <a:gd name="connsiteY8" fmla="*/ 133459 h 2314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34594" h="2314687">
                <a:moveTo>
                  <a:pt x="0" y="133459"/>
                </a:moveTo>
                <a:cubicBezTo>
                  <a:pt x="0" y="59752"/>
                  <a:pt x="59752" y="0"/>
                  <a:pt x="133459" y="0"/>
                </a:cubicBezTo>
                <a:lnTo>
                  <a:pt x="1201135" y="0"/>
                </a:lnTo>
                <a:cubicBezTo>
                  <a:pt x="1274842" y="0"/>
                  <a:pt x="1334594" y="59752"/>
                  <a:pt x="1334594" y="133459"/>
                </a:cubicBezTo>
                <a:lnTo>
                  <a:pt x="1334594" y="2181228"/>
                </a:lnTo>
                <a:cubicBezTo>
                  <a:pt x="1334594" y="2254935"/>
                  <a:pt x="1274842" y="2314687"/>
                  <a:pt x="1201135" y="2314687"/>
                </a:cubicBezTo>
                <a:lnTo>
                  <a:pt x="133459" y="2314687"/>
                </a:lnTo>
                <a:cubicBezTo>
                  <a:pt x="59752" y="2314687"/>
                  <a:pt x="0" y="2254935"/>
                  <a:pt x="0" y="2181228"/>
                </a:cubicBezTo>
                <a:lnTo>
                  <a:pt x="0" y="133459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shade val="50000"/>
              <a:hueOff val="-131465"/>
              <a:satOff val="-53139"/>
              <a:lumOff val="41751"/>
              <a:alphaOff val="0"/>
            </a:schemeClr>
          </a:fillRef>
          <a:effectRef idx="0">
            <a:schemeClr val="accent3">
              <a:shade val="50000"/>
              <a:hueOff val="-131465"/>
              <a:satOff val="-53139"/>
              <a:lumOff val="41751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4809" tIns="84809" rIns="84809" bIns="84809" numCol="1" spcCol="1270" anchor="ctr" anchorCtr="0">
            <a:noAutofit/>
          </a:bodyPr>
          <a:lstStyle/>
          <a:p>
            <a:pPr marL="0" marR="0" lvl="0" indent="0" algn="l" defTabSz="533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GBS prepares GL Journal 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Template by converting FAs to 89* GL accounts </a:t>
            </a:r>
            <a:r>
              <a:rPr kumimoji="0" lang="en-GB" sz="1200" b="0" i="1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1)</a:t>
            </a:r>
            <a:endParaRPr kumimoji="0" lang="en-US" sz="1200" b="0" i="1" u="none" strike="noStrike" kern="1200" cap="none" spc="0" normalizeH="0" baseline="-2500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946506C-7F8C-4D5D-B333-D8866EAD00AE}"/>
              </a:ext>
            </a:extLst>
          </p:cNvPr>
          <p:cNvSpPr/>
          <p:nvPr/>
        </p:nvSpPr>
        <p:spPr>
          <a:xfrm>
            <a:off x="7975489" y="4203907"/>
            <a:ext cx="177357" cy="330979"/>
          </a:xfrm>
          <a:custGeom>
            <a:avLst/>
            <a:gdLst>
              <a:gd name="connsiteX0" fmla="*/ 0 w 282934"/>
              <a:gd name="connsiteY0" fmla="*/ 66196 h 330979"/>
              <a:gd name="connsiteX1" fmla="*/ 141467 w 282934"/>
              <a:gd name="connsiteY1" fmla="*/ 66196 h 330979"/>
              <a:gd name="connsiteX2" fmla="*/ 141467 w 282934"/>
              <a:gd name="connsiteY2" fmla="*/ 0 h 330979"/>
              <a:gd name="connsiteX3" fmla="*/ 282934 w 282934"/>
              <a:gd name="connsiteY3" fmla="*/ 165490 h 330979"/>
              <a:gd name="connsiteX4" fmla="*/ 141467 w 282934"/>
              <a:gd name="connsiteY4" fmla="*/ 330979 h 330979"/>
              <a:gd name="connsiteX5" fmla="*/ 141467 w 282934"/>
              <a:gd name="connsiteY5" fmla="*/ 264783 h 330979"/>
              <a:gd name="connsiteX6" fmla="*/ 0 w 282934"/>
              <a:gd name="connsiteY6" fmla="*/ 264783 h 330979"/>
              <a:gd name="connsiteX7" fmla="*/ 0 w 282934"/>
              <a:gd name="connsiteY7" fmla="*/ 66196 h 330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2934" h="330979">
                <a:moveTo>
                  <a:pt x="0" y="66196"/>
                </a:moveTo>
                <a:lnTo>
                  <a:pt x="141467" y="66196"/>
                </a:lnTo>
                <a:lnTo>
                  <a:pt x="141467" y="0"/>
                </a:lnTo>
                <a:lnTo>
                  <a:pt x="282934" y="165490"/>
                </a:lnTo>
                <a:lnTo>
                  <a:pt x="141467" y="330979"/>
                </a:lnTo>
                <a:lnTo>
                  <a:pt x="141467" y="264783"/>
                </a:lnTo>
                <a:lnTo>
                  <a:pt x="0" y="264783"/>
                </a:lnTo>
                <a:lnTo>
                  <a:pt x="0" y="66196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hemeClr val="accent3">
              <a:shade val="90000"/>
              <a:hueOff val="-174309"/>
              <a:satOff val="-67086"/>
              <a:lumOff val="46804"/>
              <a:alphaOff val="0"/>
            </a:schemeClr>
          </a:lnRef>
          <a:fillRef idx="1">
            <a:schemeClr val="accent3">
              <a:shade val="90000"/>
              <a:hueOff val="-174309"/>
              <a:satOff val="-67086"/>
              <a:lumOff val="46804"/>
              <a:alphaOff val="0"/>
            </a:schemeClr>
          </a:fillRef>
          <a:effectRef idx="0">
            <a:schemeClr val="accent3">
              <a:shade val="90000"/>
              <a:hueOff val="-174309"/>
              <a:satOff val="-67086"/>
              <a:lumOff val="46804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6196" rIns="84880" bIns="66196" numCol="1" spcCol="1270" anchor="ctr" anchorCtr="0">
            <a:noAutofit/>
          </a:bodyPr>
          <a:lstStyle/>
          <a:p>
            <a:pPr marL="0" marR="0" lvl="0" indent="0" algn="ctr" defTabSz="6667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C8634CB-4E89-4D4F-A958-3EA5DB0DA99A}"/>
              </a:ext>
            </a:extLst>
          </p:cNvPr>
          <p:cNvSpPr/>
          <p:nvPr/>
        </p:nvSpPr>
        <p:spPr>
          <a:xfrm>
            <a:off x="8175042" y="3496644"/>
            <a:ext cx="1527672" cy="1762204"/>
          </a:xfrm>
          <a:custGeom>
            <a:avLst/>
            <a:gdLst>
              <a:gd name="connsiteX0" fmla="*/ 0 w 1334594"/>
              <a:gd name="connsiteY0" fmla="*/ 133459 h 2314687"/>
              <a:gd name="connsiteX1" fmla="*/ 133459 w 1334594"/>
              <a:gd name="connsiteY1" fmla="*/ 0 h 2314687"/>
              <a:gd name="connsiteX2" fmla="*/ 1201135 w 1334594"/>
              <a:gd name="connsiteY2" fmla="*/ 0 h 2314687"/>
              <a:gd name="connsiteX3" fmla="*/ 1334594 w 1334594"/>
              <a:gd name="connsiteY3" fmla="*/ 133459 h 2314687"/>
              <a:gd name="connsiteX4" fmla="*/ 1334594 w 1334594"/>
              <a:gd name="connsiteY4" fmla="*/ 2181228 h 2314687"/>
              <a:gd name="connsiteX5" fmla="*/ 1201135 w 1334594"/>
              <a:gd name="connsiteY5" fmla="*/ 2314687 h 2314687"/>
              <a:gd name="connsiteX6" fmla="*/ 133459 w 1334594"/>
              <a:gd name="connsiteY6" fmla="*/ 2314687 h 2314687"/>
              <a:gd name="connsiteX7" fmla="*/ 0 w 1334594"/>
              <a:gd name="connsiteY7" fmla="*/ 2181228 h 2314687"/>
              <a:gd name="connsiteX8" fmla="*/ 0 w 1334594"/>
              <a:gd name="connsiteY8" fmla="*/ 133459 h 2314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34594" h="2314687">
                <a:moveTo>
                  <a:pt x="0" y="133459"/>
                </a:moveTo>
                <a:cubicBezTo>
                  <a:pt x="0" y="59752"/>
                  <a:pt x="59752" y="0"/>
                  <a:pt x="133459" y="0"/>
                </a:cubicBezTo>
                <a:lnTo>
                  <a:pt x="1201135" y="0"/>
                </a:lnTo>
                <a:cubicBezTo>
                  <a:pt x="1274842" y="0"/>
                  <a:pt x="1334594" y="59752"/>
                  <a:pt x="1334594" y="133459"/>
                </a:cubicBezTo>
                <a:lnTo>
                  <a:pt x="1334594" y="2181228"/>
                </a:lnTo>
                <a:cubicBezTo>
                  <a:pt x="1334594" y="2254935"/>
                  <a:pt x="1274842" y="2314687"/>
                  <a:pt x="1201135" y="2314687"/>
                </a:cubicBezTo>
                <a:lnTo>
                  <a:pt x="133459" y="2314687"/>
                </a:lnTo>
                <a:cubicBezTo>
                  <a:pt x="59752" y="2314687"/>
                  <a:pt x="0" y="2254935"/>
                  <a:pt x="0" y="2181228"/>
                </a:cubicBezTo>
                <a:lnTo>
                  <a:pt x="0" y="133459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shade val="50000"/>
              <a:hueOff val="-131465"/>
              <a:satOff val="-53139"/>
              <a:lumOff val="41751"/>
              <a:alphaOff val="0"/>
            </a:schemeClr>
          </a:fillRef>
          <a:effectRef idx="0">
            <a:schemeClr val="accent3">
              <a:shade val="50000"/>
              <a:hueOff val="-131465"/>
              <a:satOff val="-53139"/>
              <a:lumOff val="41751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4809" tIns="84809" rIns="84809" bIns="84809" numCol="1" spcCol="1270" anchor="ctr" anchorCtr="0">
            <a:noAutofit/>
          </a:bodyPr>
          <a:lstStyle/>
          <a:p>
            <a:pPr marL="0" marR="0" lvl="0" indent="0" algn="l" defTabSz="533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GBS adds 899999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GL as a balancing line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2243F24A-6AFD-4A68-B4EC-2BB78B6DD396}"/>
              </a:ext>
            </a:extLst>
          </p:cNvPr>
          <p:cNvSpPr/>
          <p:nvPr/>
        </p:nvSpPr>
        <p:spPr>
          <a:xfrm>
            <a:off x="9758197" y="4203907"/>
            <a:ext cx="177357" cy="330979"/>
          </a:xfrm>
          <a:custGeom>
            <a:avLst/>
            <a:gdLst>
              <a:gd name="connsiteX0" fmla="*/ 0 w 282934"/>
              <a:gd name="connsiteY0" fmla="*/ 66196 h 330979"/>
              <a:gd name="connsiteX1" fmla="*/ 141467 w 282934"/>
              <a:gd name="connsiteY1" fmla="*/ 66196 h 330979"/>
              <a:gd name="connsiteX2" fmla="*/ 141467 w 282934"/>
              <a:gd name="connsiteY2" fmla="*/ 0 h 330979"/>
              <a:gd name="connsiteX3" fmla="*/ 282934 w 282934"/>
              <a:gd name="connsiteY3" fmla="*/ 165490 h 330979"/>
              <a:gd name="connsiteX4" fmla="*/ 141467 w 282934"/>
              <a:gd name="connsiteY4" fmla="*/ 330979 h 330979"/>
              <a:gd name="connsiteX5" fmla="*/ 141467 w 282934"/>
              <a:gd name="connsiteY5" fmla="*/ 264783 h 330979"/>
              <a:gd name="connsiteX6" fmla="*/ 0 w 282934"/>
              <a:gd name="connsiteY6" fmla="*/ 264783 h 330979"/>
              <a:gd name="connsiteX7" fmla="*/ 0 w 282934"/>
              <a:gd name="connsiteY7" fmla="*/ 66196 h 330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2934" h="330979">
                <a:moveTo>
                  <a:pt x="0" y="66196"/>
                </a:moveTo>
                <a:lnTo>
                  <a:pt x="141467" y="66196"/>
                </a:lnTo>
                <a:lnTo>
                  <a:pt x="141467" y="0"/>
                </a:lnTo>
                <a:lnTo>
                  <a:pt x="282934" y="165490"/>
                </a:lnTo>
                <a:lnTo>
                  <a:pt x="141467" y="330979"/>
                </a:lnTo>
                <a:lnTo>
                  <a:pt x="141467" y="264783"/>
                </a:lnTo>
                <a:lnTo>
                  <a:pt x="0" y="264783"/>
                </a:lnTo>
                <a:lnTo>
                  <a:pt x="0" y="66196"/>
                </a:lnTo>
                <a:close/>
              </a:path>
            </a:pathLst>
          </a:custGeom>
          <a:solidFill>
            <a:schemeClr val="accent1">
              <a:alpha val="74000"/>
            </a:schemeClr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hemeClr val="accent3">
              <a:shade val="90000"/>
              <a:hueOff val="-87155"/>
              <a:satOff val="-33543"/>
              <a:lumOff val="23402"/>
              <a:alphaOff val="0"/>
            </a:schemeClr>
          </a:lnRef>
          <a:fillRef idx="1">
            <a:schemeClr val="accent3">
              <a:shade val="90000"/>
              <a:hueOff val="-87155"/>
              <a:satOff val="-33543"/>
              <a:lumOff val="23402"/>
              <a:alphaOff val="0"/>
            </a:schemeClr>
          </a:fillRef>
          <a:effectRef idx="0">
            <a:schemeClr val="accent3">
              <a:shade val="90000"/>
              <a:hueOff val="-87155"/>
              <a:satOff val="-33543"/>
              <a:lumOff val="23402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6196" rIns="84880" bIns="66196" numCol="1" spcCol="1270" anchor="ctr" anchorCtr="0">
            <a:noAutofit/>
          </a:bodyPr>
          <a:lstStyle/>
          <a:p>
            <a:pPr marL="0" marR="0" lvl="0" indent="0" algn="ctr" defTabSz="6667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D207A019-1CB1-4D25-B097-AB42BD35C887}"/>
              </a:ext>
            </a:extLst>
          </p:cNvPr>
          <p:cNvSpPr/>
          <p:nvPr/>
        </p:nvSpPr>
        <p:spPr>
          <a:xfrm>
            <a:off x="9976800" y="3496644"/>
            <a:ext cx="1527672" cy="1762204"/>
          </a:xfrm>
          <a:custGeom>
            <a:avLst/>
            <a:gdLst>
              <a:gd name="connsiteX0" fmla="*/ 0 w 1334594"/>
              <a:gd name="connsiteY0" fmla="*/ 133459 h 2314687"/>
              <a:gd name="connsiteX1" fmla="*/ 133459 w 1334594"/>
              <a:gd name="connsiteY1" fmla="*/ 0 h 2314687"/>
              <a:gd name="connsiteX2" fmla="*/ 1201135 w 1334594"/>
              <a:gd name="connsiteY2" fmla="*/ 0 h 2314687"/>
              <a:gd name="connsiteX3" fmla="*/ 1334594 w 1334594"/>
              <a:gd name="connsiteY3" fmla="*/ 133459 h 2314687"/>
              <a:gd name="connsiteX4" fmla="*/ 1334594 w 1334594"/>
              <a:gd name="connsiteY4" fmla="*/ 2181228 h 2314687"/>
              <a:gd name="connsiteX5" fmla="*/ 1201135 w 1334594"/>
              <a:gd name="connsiteY5" fmla="*/ 2314687 h 2314687"/>
              <a:gd name="connsiteX6" fmla="*/ 133459 w 1334594"/>
              <a:gd name="connsiteY6" fmla="*/ 2314687 h 2314687"/>
              <a:gd name="connsiteX7" fmla="*/ 0 w 1334594"/>
              <a:gd name="connsiteY7" fmla="*/ 2181228 h 2314687"/>
              <a:gd name="connsiteX8" fmla="*/ 0 w 1334594"/>
              <a:gd name="connsiteY8" fmla="*/ 133459 h 2314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34594" h="2314687">
                <a:moveTo>
                  <a:pt x="0" y="133459"/>
                </a:moveTo>
                <a:cubicBezTo>
                  <a:pt x="0" y="59752"/>
                  <a:pt x="59752" y="0"/>
                  <a:pt x="133459" y="0"/>
                </a:cubicBezTo>
                <a:lnTo>
                  <a:pt x="1201135" y="0"/>
                </a:lnTo>
                <a:cubicBezTo>
                  <a:pt x="1274842" y="0"/>
                  <a:pt x="1334594" y="59752"/>
                  <a:pt x="1334594" y="133459"/>
                </a:cubicBezTo>
                <a:lnTo>
                  <a:pt x="1334594" y="2181228"/>
                </a:lnTo>
                <a:cubicBezTo>
                  <a:pt x="1334594" y="2254935"/>
                  <a:pt x="1274842" y="2314687"/>
                  <a:pt x="1201135" y="2314687"/>
                </a:cubicBezTo>
                <a:lnTo>
                  <a:pt x="133459" y="2314687"/>
                </a:lnTo>
                <a:cubicBezTo>
                  <a:pt x="59752" y="2314687"/>
                  <a:pt x="0" y="2254935"/>
                  <a:pt x="0" y="2181228"/>
                </a:cubicBezTo>
                <a:lnTo>
                  <a:pt x="0" y="133459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shade val="50000"/>
              <a:hueOff val="-65733"/>
              <a:satOff val="-26570"/>
              <a:lumOff val="20876"/>
              <a:alphaOff val="0"/>
            </a:schemeClr>
          </a:fillRef>
          <a:effectRef idx="0">
            <a:schemeClr val="accent3">
              <a:shade val="50000"/>
              <a:hueOff val="-65733"/>
              <a:satOff val="-26570"/>
              <a:lumOff val="20876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4809" tIns="84809" rIns="84809" bIns="84809" numCol="1" spcCol="1270" anchor="ctr" anchorCtr="0">
            <a:noAutofit/>
          </a:bodyPr>
          <a:lstStyle/>
          <a:p>
            <a:pPr marL="0" marR="0" lvl="0" indent="0" algn="l" defTabSz="533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GBS Posts manual FA Adj journal in P14 in the required ledger(s) 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and request entity to validate the result following normal journal posting practice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6AFDA66-53EF-448A-9A98-0734D484F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7348" y="5441436"/>
            <a:ext cx="3804383" cy="748586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3A3558ED-BBF8-4F85-A7AC-A55B5AD5CDC9}"/>
              </a:ext>
            </a:extLst>
          </p:cNvPr>
          <p:cNvGrpSpPr/>
          <p:nvPr/>
        </p:nvGrpSpPr>
        <p:grpSpPr>
          <a:xfrm>
            <a:off x="229948" y="6181383"/>
            <a:ext cx="11732103" cy="624038"/>
            <a:chOff x="229948" y="6200433"/>
            <a:chExt cx="11732103" cy="624038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3DEE90D-EFFC-4F4F-AB24-40C7B6DD3B6B}"/>
                </a:ext>
              </a:extLst>
            </p:cNvPr>
            <p:cNvGrpSpPr/>
            <p:nvPr/>
          </p:nvGrpSpPr>
          <p:grpSpPr>
            <a:xfrm>
              <a:off x="229948" y="6200433"/>
              <a:ext cx="11732103" cy="624038"/>
              <a:chOff x="237289" y="6200434"/>
              <a:chExt cx="11732103" cy="624038"/>
            </a:xfrm>
          </p:grpSpPr>
          <p:sp>
            <p:nvSpPr>
              <p:cNvPr id="33" name="Flowchart: Alternate Process 32">
                <a:extLst>
                  <a:ext uri="{FF2B5EF4-FFF2-40B4-BE49-F238E27FC236}">
                    <a16:creationId xmlns:a16="http://schemas.microsoft.com/office/drawing/2014/main" id="{5FF5E6A7-68EA-4120-874D-8E199D4A6156}"/>
                  </a:ext>
                </a:extLst>
              </p:cNvPr>
              <p:cNvSpPr/>
              <p:nvPr/>
            </p:nvSpPr>
            <p:spPr>
              <a:xfrm>
                <a:off x="237289" y="6253461"/>
                <a:ext cx="11732103" cy="537717"/>
              </a:xfrm>
              <a:prstGeom prst="flowChartAlternateProcess">
                <a:avLst/>
              </a:prstGeom>
              <a:gradFill flip="none" rotWithShape="1">
                <a:gsLst>
                  <a:gs pos="0">
                    <a:schemeClr val="accent6">
                      <a:lumMod val="67000"/>
                    </a:schemeClr>
                  </a:gs>
                  <a:gs pos="48000">
                    <a:schemeClr val="accent6">
                      <a:lumMod val="97000"/>
                      <a:lumOff val="3000"/>
                    </a:schemeClr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0" scaled="1"/>
                <a:tileRect/>
              </a:gradFill>
              <a:ln w="1905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CC3500C7-99BF-401A-A876-6494411015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4890" y="6286755"/>
                <a:ext cx="526357" cy="537717"/>
              </a:xfrm>
              <a:prstGeom prst="rect">
                <a:avLst/>
              </a:prstGeom>
            </p:spPr>
          </p:pic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6CA1DAB-79EE-4FE5-A0EA-B77023EB4524}"/>
                  </a:ext>
                </a:extLst>
              </p:cNvPr>
              <p:cNvSpPr txBox="1"/>
              <p:nvPr/>
            </p:nvSpPr>
            <p:spPr>
              <a:xfrm>
                <a:off x="896466" y="6200434"/>
                <a:ext cx="10673741" cy="4318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11E6154-0836-447A-9AA9-EC2DE459A790}"/>
                </a:ext>
              </a:extLst>
            </p:cNvPr>
            <p:cNvSpPr/>
            <p:nvPr/>
          </p:nvSpPr>
          <p:spPr>
            <a:xfrm>
              <a:off x="911507" y="6291896"/>
              <a:ext cx="10972944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For any further adjustments/corrections by FA beyond  the standard FA adjustment program logics, the entity itself shall raise additional GL journal.</a:t>
              </a:r>
            </a:p>
          </p:txBody>
        </p:sp>
      </p:grp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B93522B-5867-4E72-950D-3AEF1DF757AC}"/>
              </a:ext>
            </a:extLst>
          </p:cNvPr>
          <p:cNvSpPr txBox="1">
            <a:spLocks/>
          </p:cNvSpPr>
          <p:nvPr/>
        </p:nvSpPr>
        <p:spPr>
          <a:xfrm>
            <a:off x="11278800" y="6282531"/>
            <a:ext cx="397261" cy="365125"/>
          </a:xfrm>
          <a:prstGeom prst="rect">
            <a:avLst/>
          </a:prstGeom>
          <a:effectLst/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C94289-3309-4C35-850A-56FD49B3E346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856C4FB-9EC2-4EA8-BA71-48DF7187D98E}"/>
              </a:ext>
            </a:extLst>
          </p:cNvPr>
          <p:cNvSpPr txBox="1"/>
          <p:nvPr/>
        </p:nvSpPr>
        <p:spPr>
          <a:xfrm>
            <a:off x="7622460" y="5446320"/>
            <a:ext cx="362968" cy="27214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1)</a:t>
            </a:r>
            <a:endParaRPr kumimoji="0" lang="en-US" sz="10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959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3" grpId="0"/>
      <p:bldP spid="15" grpId="0"/>
      <p:bldP spid="16" grpId="0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82802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BA4ZwIJh51rR62DQL6oL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KLFmJTW2Rb3kGsKctGcoQ"/>
</p:tagLst>
</file>

<file path=ppt/theme/theme1.xml><?xml version="1.0" encoding="utf-8"?>
<a:theme xmlns:a="http://schemas.openxmlformats.org/drawingml/2006/main" name="JTI">
  <a:themeElements>
    <a:clrScheme name="JTI">
      <a:dk1>
        <a:sysClr val="windowText" lastClr="000000"/>
      </a:dk1>
      <a:lt1>
        <a:sysClr val="window" lastClr="FFFFFF"/>
      </a:lt1>
      <a:dk2>
        <a:srgbClr val="5F5F5F"/>
      </a:dk2>
      <a:lt2>
        <a:srgbClr val="DDDDDD"/>
      </a:lt2>
      <a:accent1>
        <a:srgbClr val="E03C31"/>
      </a:accent1>
      <a:accent2>
        <a:srgbClr val="EAAA00"/>
      </a:accent2>
      <a:accent3>
        <a:srgbClr val="00B2A9"/>
      </a:accent3>
      <a:accent4>
        <a:srgbClr val="8031A7"/>
      </a:accent4>
      <a:accent5>
        <a:srgbClr val="E782A9"/>
      </a:accent5>
      <a:accent6>
        <a:srgbClr val="407EC9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JTI Spectrum PPT Template ARIAL COOL 131218 [Read-Only]" id="{067C4C0C-067B-4561-B41A-C924BEA21CEE}" vid="{66B3073F-5376-44D7-9C26-B1606B45612E}"/>
    </a:ext>
  </a:extLst>
</a:theme>
</file>

<file path=ppt/theme/theme2.xml><?xml version="1.0" encoding="utf-8"?>
<a:theme xmlns:a="http://schemas.openxmlformats.org/drawingml/2006/main" name="1_S4F-ERP Clean IFRS Stat &amp; Tax Rep">
  <a:themeElements>
    <a:clrScheme name="Custom 9">
      <a:dk1>
        <a:srgbClr val="000000"/>
      </a:dk1>
      <a:lt1>
        <a:srgbClr val="FFFFFF"/>
      </a:lt1>
      <a:dk2>
        <a:srgbClr val="1A3040"/>
      </a:dk2>
      <a:lt2>
        <a:srgbClr val="DDDDDD"/>
      </a:lt2>
      <a:accent1>
        <a:srgbClr val="74D9D5"/>
      </a:accent1>
      <a:accent2>
        <a:srgbClr val="EAAA00"/>
      </a:accent2>
      <a:accent3>
        <a:srgbClr val="00B2A9"/>
      </a:accent3>
      <a:accent4>
        <a:srgbClr val="8031A7"/>
      </a:accent4>
      <a:accent5>
        <a:srgbClr val="E782A9"/>
      </a:accent5>
      <a:accent6>
        <a:srgbClr val="407EC9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9050">
          <a:solidFill>
            <a:srgbClr val="FF0000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4F Template" id="{8187A0D7-44D4-4A4B-A36D-CEF7DE641DC2}" vid="{E04EDAD1-AFC5-BE4E-A44C-E641ABC5FF6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ba249638-b5c4-4b59-8094-70d8491c2e9c">
      <UserInfo>
        <DisplayName/>
        <AccountId xsi:nil="true"/>
        <AccountType/>
      </UserInfo>
    </SharedWithUsers>
    <ReportDate xmlns="91871c47-af2e-43ea-ad3f-7bb4c536bc4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A691DA1475FED40816A34A9887BD419" ma:contentTypeVersion="9" ma:contentTypeDescription="Create a new document." ma:contentTypeScope="" ma:versionID="1becac12c5ae8ed634b6c67d6fd4f2e5">
  <xsd:schema xmlns:xsd="http://www.w3.org/2001/XMLSchema" xmlns:xs="http://www.w3.org/2001/XMLSchema" xmlns:p="http://schemas.microsoft.com/office/2006/metadata/properties" xmlns:ns2="91871c47-af2e-43ea-ad3f-7bb4c536bc45" xmlns:ns3="ba249638-b5c4-4b59-8094-70d8491c2e9c" targetNamespace="http://schemas.microsoft.com/office/2006/metadata/properties" ma:root="true" ma:fieldsID="391b63ad020ff7f37ca749b3ade06b9c" ns2:_="" ns3:_="">
    <xsd:import namespace="91871c47-af2e-43ea-ad3f-7bb4c536bc45"/>
    <xsd:import namespace="ba249638-b5c4-4b59-8094-70d8491c2e9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Report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871c47-af2e-43ea-ad3f-7bb4c536bc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ReportDate" ma:index="16" nillable="true" ma:displayName="Report Date" ma:format="DateOnly" ma:internalName="ReportDat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249638-b5c4-4b59-8094-70d8491c2e9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6BD82F1-3D80-48A2-ACCD-9A797F01C3FC}">
  <ds:schemaRefs>
    <ds:schemaRef ds:uri="ba249638-b5c4-4b59-8094-70d8491c2e9c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91871c47-af2e-43ea-ad3f-7bb4c536bc45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0CC14A6-12CE-420D-9820-CDEA8203AA4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92D19DE-FAE5-41DC-BB40-8E3686C2E916}"/>
</file>

<file path=docProps/app.xml><?xml version="1.0" encoding="utf-8"?>
<Properties xmlns="http://schemas.openxmlformats.org/officeDocument/2006/extended-properties" xmlns:vt="http://schemas.openxmlformats.org/officeDocument/2006/docPropsVTypes">
  <Template>JTI PPT Template COOL_LIGHT</Template>
  <TotalTime>95</TotalTime>
  <Words>1719</Words>
  <Application>Microsoft Office PowerPoint</Application>
  <PresentationFormat>Widescreen</PresentationFormat>
  <Paragraphs>144</Paragraphs>
  <Slides>8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Arial Narrow</vt:lpstr>
      <vt:lpstr>Calibri</vt:lpstr>
      <vt:lpstr>Courier New</vt:lpstr>
      <vt:lpstr>Trebuchet MS</vt:lpstr>
      <vt:lpstr>JTI</vt:lpstr>
      <vt:lpstr>1_S4F-ERP Clean IFRS Stat &amp; Tax Rep</vt:lpstr>
      <vt:lpstr>think-cell Slide</vt:lpstr>
      <vt:lpstr>P14 STAT/TAX Year-End process</vt:lpstr>
      <vt:lpstr>Key Period End Closing Timelines for STAT/TAX Ledgers</vt:lpstr>
      <vt:lpstr>STAT/TAX Ledger Year End Posting Process</vt:lpstr>
      <vt:lpstr>Two Approaches for P14 STAT/TAX Adjustments</vt:lpstr>
      <vt:lpstr>P14 STAT/TAX Adjustments Example  – Approach 1 (Entities with FX Conversion on Posting Date or Doc. Date=Posting Date=31.12.20XX)</vt:lpstr>
      <vt:lpstr>P14 STAT/TAX Adjustments Example  – Approach 2 (Entities with FX Conversion on Doc. Date or need to account for UFX separately)</vt:lpstr>
      <vt:lpstr>Functional Area Adjustment for P14 Posting  (for Entities applicable)</vt:lpstr>
      <vt:lpstr>PowerPoint Presentation</vt:lpstr>
    </vt:vector>
  </TitlesOfParts>
  <Company>JTI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P14 2020 STAT/TAX Year-End process</dc:title>
  <dc:creator>Jeremy Carla</dc:creator>
  <cp:lastModifiedBy>Wang, Wei</cp:lastModifiedBy>
  <cp:revision>3</cp:revision>
  <dcterms:created xsi:type="dcterms:W3CDTF">2020-05-26T06:41:21Z</dcterms:created>
  <dcterms:modified xsi:type="dcterms:W3CDTF">2020-11-23T16:09:50Z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0x010100EA691DA1475FED40816A34A9887BD419</vt:lpwstr>
  </property>
  <property fmtid="{D5CDD505-2E9C-101B-9397-08002B2CF9AE}" pid="3" name="MSIP_Label_b020b37f-db72-473e-ae54-fb16df408069_Enabled">
    <vt:lpwstr>true</vt:lpwstr>
  </property>
  <property fmtid="{D5CDD505-2E9C-101B-9397-08002B2CF9AE}" pid="4" name="MSIP_Label_b020b37f-db72-473e-ae54-fb16df408069_SetDate">
    <vt:lpwstr>2020-09-14T08:44:32Z</vt:lpwstr>
  </property>
  <property fmtid="{D5CDD505-2E9C-101B-9397-08002B2CF9AE}" pid="5" name="MSIP_Label_b020b37f-db72-473e-ae54-fb16df408069_Method">
    <vt:lpwstr>Standard</vt:lpwstr>
  </property>
  <property fmtid="{D5CDD505-2E9C-101B-9397-08002B2CF9AE}" pid="6" name="MSIP_Label_b020b37f-db72-473e-ae54-fb16df408069_Name">
    <vt:lpwstr>General</vt:lpwstr>
  </property>
  <property fmtid="{D5CDD505-2E9C-101B-9397-08002B2CF9AE}" pid="7" name="MSIP_Label_b020b37f-db72-473e-ae54-fb16df408069_SiteId">
    <vt:lpwstr>705d07a3-2eea-4f3b-ab59-65ca29abeb26</vt:lpwstr>
  </property>
  <property fmtid="{D5CDD505-2E9C-101B-9397-08002B2CF9AE}" pid="8" name="MSIP_Label_b020b37f-db72-473e-ae54-fb16df408069_ActionId">
    <vt:lpwstr>f8767146-bb59-4d0c-91a2-d73abfafc95a</vt:lpwstr>
  </property>
  <property fmtid="{D5CDD505-2E9C-101B-9397-08002B2CF9AE}" pid="9" name="MSIP_Label_b020b37f-db72-473e-ae54-fb16df408069_ContentBits">
    <vt:lpwstr>0</vt:lpwstr>
  </property>
  <property fmtid="{D5CDD505-2E9C-101B-9397-08002B2CF9AE}" pid="10" name="Order">
    <vt:r8>1345800</vt:r8>
  </property>
  <property fmtid="{D5CDD505-2E9C-101B-9397-08002B2CF9AE}" pid="11" name="xd_Signature">
    <vt:bool>false</vt:bool>
  </property>
  <property fmtid="{D5CDD505-2E9C-101B-9397-08002B2CF9AE}" pid="12" name="xd_ProgID">
    <vt:lpwstr/>
  </property>
  <property fmtid="{D5CDD505-2E9C-101B-9397-08002B2CF9AE}" pid="13" name="ComplianceAssetId">
    <vt:lpwstr/>
  </property>
  <property fmtid="{D5CDD505-2E9C-101B-9397-08002B2CF9AE}" pid="14" name="TemplateUrl">
    <vt:lpwstr/>
  </property>
</Properties>
</file>