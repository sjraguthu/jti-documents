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 id="2147483962" r:id="rId7"/>
    <p:sldMasterId id="2147483972" r:id="rId8"/>
  </p:sldMasterIdLst>
  <p:notesMasterIdLst>
    <p:notesMasterId r:id="rId24"/>
  </p:notesMasterIdLst>
  <p:sldIdLst>
    <p:sldId id="3222" r:id="rId9"/>
    <p:sldId id="3223" r:id="rId10"/>
    <p:sldId id="3224" r:id="rId11"/>
    <p:sldId id="3225" r:id="rId12"/>
    <p:sldId id="3226" r:id="rId13"/>
    <p:sldId id="2134961506" r:id="rId14"/>
    <p:sldId id="3236" r:id="rId15"/>
    <p:sldId id="3237" r:id="rId16"/>
    <p:sldId id="3229" r:id="rId17"/>
    <p:sldId id="3230" r:id="rId18"/>
    <p:sldId id="3231" r:id="rId19"/>
    <p:sldId id="3232" r:id="rId20"/>
    <p:sldId id="3233" r:id="rId21"/>
    <p:sldId id="3234" r:id="rId22"/>
    <p:sldId id="323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139"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2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1" clrIdx="11">
    <p:extLst>
      <p:ext uri="{19B8F6BF-5375-455C-9EA6-DF929625EA0E}">
        <p15:presenceInfo xmlns:p15="http://schemas.microsoft.com/office/powerpoint/2012/main" userId="S::mantiernj@corp.jti.com::c724e8cc-4489-4c36-9411-a0d84306cb81" providerId="AD"/>
      </p:ext>
    </p:extLst>
  </p:cmAuthor>
  <p:cmAuthor id="13" name="Ng, Leo" initials="NL" lastIdx="4" clrIdx="12">
    <p:extLst>
      <p:ext uri="{19B8F6BF-5375-455C-9EA6-DF929625EA0E}">
        <p15:presenceInfo xmlns:p15="http://schemas.microsoft.com/office/powerpoint/2012/main" userId="S::KUANGL@CORP.JTI.COM::ab3a9736-2aae-4d22-bdfd-26ab630f437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4D9D5"/>
    <a:srgbClr val="33C781"/>
    <a:srgbClr val="E6E6E6"/>
    <a:srgbClr val="C3EBE9"/>
    <a:srgbClr val="EAAA00"/>
    <a:srgbClr val="7DD9A2"/>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F0558A-7372-F203-5062-5EDCD60FF1FC}" v="3" dt="2024-11-29T15:23:39.8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274FC6BE-2302-4901-88C0-175D83E14140}"/>
    <pc:docChg chg="delSld modSld delMainMaster">
      <pc:chgData name="Wang, Wei" userId="627587dd-935f-4f2b-a6c6-edd4e0dcbff5" providerId="ADAL" clId="{274FC6BE-2302-4901-88C0-175D83E14140}" dt="2019-12-02T16:49:07.863" v="205" actId="207"/>
      <pc:docMkLst>
        <pc:docMk/>
      </pc:docMkLst>
      <pc:sldChg chg="del">
        <pc:chgData name="Wang, Wei" userId="627587dd-935f-4f2b-a6c6-edd4e0dcbff5" providerId="ADAL" clId="{274FC6BE-2302-4901-88C0-175D83E14140}" dt="2019-12-02T16:31:01.089" v="201" actId="2696"/>
        <pc:sldMkLst>
          <pc:docMk/>
          <pc:sldMk cId="2493344941" sldId="2327"/>
        </pc:sldMkLst>
      </pc:sldChg>
      <pc:sldChg chg="modSp delCm">
        <pc:chgData name="Wang, Wei" userId="627587dd-935f-4f2b-a6c6-edd4e0dcbff5" providerId="ADAL" clId="{274FC6BE-2302-4901-88C0-175D83E14140}" dt="2019-12-02T16:49:07.863" v="205" actId="207"/>
        <pc:sldMkLst>
          <pc:docMk/>
          <pc:sldMk cId="901722669" sldId="2524"/>
        </pc:sldMkLst>
        <pc:spChg chg="mod">
          <ac:chgData name="Wang, Wei" userId="627587dd-935f-4f2b-a6c6-edd4e0dcbff5" providerId="ADAL" clId="{274FC6BE-2302-4901-88C0-175D83E14140}" dt="2019-11-29T22:25:45.674" v="197" actId="207"/>
          <ac:spMkLst>
            <pc:docMk/>
            <pc:sldMk cId="901722669" sldId="2524"/>
            <ac:spMk id="17" creationId="{07FAB796-9307-4663-A49D-77DC14261DF9}"/>
          </ac:spMkLst>
        </pc:spChg>
        <pc:spChg chg="mod">
          <ac:chgData name="Wang, Wei" userId="627587dd-935f-4f2b-a6c6-edd4e0dcbff5" providerId="ADAL" clId="{274FC6BE-2302-4901-88C0-175D83E14140}" dt="2019-11-29T22:25:38.811" v="196" actId="207"/>
          <ac:spMkLst>
            <pc:docMk/>
            <pc:sldMk cId="901722669" sldId="2524"/>
            <ac:spMk id="20" creationId="{AE5412F6-515A-426E-9B4D-13F780373B1D}"/>
          </ac:spMkLst>
        </pc:spChg>
        <pc:spChg chg="mod">
          <ac:chgData name="Wang, Wei" userId="627587dd-935f-4f2b-a6c6-edd4e0dcbff5" providerId="ADAL" clId="{274FC6BE-2302-4901-88C0-175D83E14140}" dt="2019-11-29T22:25:54.017" v="198" actId="207"/>
          <ac:spMkLst>
            <pc:docMk/>
            <pc:sldMk cId="901722669" sldId="2524"/>
            <ac:spMk id="22" creationId="{A5691FAD-8661-458E-8D97-D4E52A788916}"/>
          </ac:spMkLst>
        </pc:spChg>
        <pc:spChg chg="mod">
          <ac:chgData name="Wang, Wei" userId="627587dd-935f-4f2b-a6c6-edd4e0dcbff5" providerId="ADAL" clId="{274FC6BE-2302-4901-88C0-175D83E14140}" dt="2019-12-02T16:49:07.863" v="205" actId="207"/>
          <ac:spMkLst>
            <pc:docMk/>
            <pc:sldMk cId="901722669" sldId="2524"/>
            <ac:spMk id="24" creationId="{A529D499-755C-470C-9083-4F13AC5247B0}"/>
          </ac:spMkLst>
        </pc:spChg>
        <pc:spChg chg="mod">
          <ac:chgData name="Wang, Wei" userId="627587dd-935f-4f2b-a6c6-edd4e0dcbff5" providerId="ADAL" clId="{274FC6BE-2302-4901-88C0-175D83E14140}" dt="2019-11-29T22:25:38.811" v="196" actId="207"/>
          <ac:spMkLst>
            <pc:docMk/>
            <pc:sldMk cId="901722669" sldId="2524"/>
            <ac:spMk id="26" creationId="{D65749F0-7657-4B37-BB77-FA662556C4B1}"/>
          </ac:spMkLst>
        </pc:spChg>
      </pc:sldChg>
      <pc:sldChg chg="del delCm">
        <pc:chgData name="Wang, Wei" userId="627587dd-935f-4f2b-a6c6-edd4e0dcbff5" providerId="ADAL" clId="{274FC6BE-2302-4901-88C0-175D83E14140}" dt="2019-12-02T16:31:00.978" v="199" actId="2696"/>
        <pc:sldMkLst>
          <pc:docMk/>
          <pc:sldMk cId="1652393144" sldId="3188"/>
        </pc:sldMkLst>
      </pc:sldChg>
      <pc:sldChg chg="del delCm">
        <pc:chgData name="Wang, Wei" userId="627587dd-935f-4f2b-a6c6-edd4e0dcbff5" providerId="ADAL" clId="{274FC6BE-2302-4901-88C0-175D83E14140}" dt="2019-12-02T16:31:01.025" v="200" actId="2696"/>
        <pc:sldMkLst>
          <pc:docMk/>
          <pc:sldMk cId="2213987599" sldId="3189"/>
        </pc:sldMkLst>
      </pc:sldChg>
      <pc:sldChg chg="delCm">
        <pc:chgData name="Wang, Wei" userId="627587dd-935f-4f2b-a6c6-edd4e0dcbff5" providerId="ADAL" clId="{274FC6BE-2302-4901-88C0-175D83E14140}" dt="2019-12-02T16:31:06.251" v="202"/>
        <pc:sldMkLst>
          <pc:docMk/>
          <pc:sldMk cId="3537257254" sldId="3190"/>
        </pc:sldMkLst>
      </pc:sldChg>
      <pc:sldChg chg="delCm">
        <pc:chgData name="Wang, Wei" userId="627587dd-935f-4f2b-a6c6-edd4e0dcbff5" providerId="ADAL" clId="{274FC6BE-2302-4901-88C0-175D83E14140}" dt="2019-12-02T16:31:12.927" v="203"/>
        <pc:sldMkLst>
          <pc:docMk/>
          <pc:sldMk cId="1739156535" sldId="3191"/>
        </pc:sldMkLst>
      </pc:sldChg>
      <pc:sldChg chg="delCm">
        <pc:chgData name="Wang, Wei" userId="627587dd-935f-4f2b-a6c6-edd4e0dcbff5" providerId="ADAL" clId="{274FC6BE-2302-4901-88C0-175D83E14140}" dt="2019-12-02T16:31:47.592" v="204"/>
        <pc:sldMkLst>
          <pc:docMk/>
          <pc:sldMk cId="3261312558" sldId="3192"/>
        </pc:sldMkLst>
      </pc:sldChg>
      <pc:sldMasterChg chg="delSldLayout">
        <pc:chgData name="Wang, Wei" userId="627587dd-935f-4f2b-a6c6-edd4e0dcbff5" providerId="ADAL" clId="{274FC6BE-2302-4901-88C0-175D83E14140}" dt="2019-11-29T22:23:45.856" v="1" actId="2696"/>
        <pc:sldMasterMkLst>
          <pc:docMk/>
          <pc:sldMasterMk cId="1583574900" sldId="2147483648"/>
        </pc:sldMasterMkLst>
      </pc:sldMasterChg>
    </pc:docChg>
  </pc:docChgLst>
  <pc:docChgLst>
    <pc:chgData name="Wang, Wei" userId="627587dd-935f-4f2b-a6c6-edd4e0dcbff5" providerId="ADAL" clId="{BA9FAD85-D4EF-468E-85E8-C7A2C87AFBA7}"/>
    <pc:docChg chg="delSld">
      <pc:chgData name="Wang, Wei" userId="627587dd-935f-4f2b-a6c6-edd4e0dcbff5" providerId="ADAL" clId="{BA9FAD85-D4EF-468E-85E8-C7A2C87AFBA7}" dt="2022-01-25T14:52:17.939" v="1" actId="47"/>
      <pc:docMkLst>
        <pc:docMk/>
      </pc:docMkLst>
      <pc:sldChg chg="del">
        <pc:chgData name="Wang, Wei" userId="627587dd-935f-4f2b-a6c6-edd4e0dcbff5" providerId="ADAL" clId="{BA9FAD85-D4EF-468E-85E8-C7A2C87AFBA7}" dt="2022-01-25T14:52:16.413" v="0" actId="47"/>
        <pc:sldMkLst>
          <pc:docMk/>
          <pc:sldMk cId="3454426674" sldId="3227"/>
        </pc:sldMkLst>
      </pc:sldChg>
      <pc:sldChg chg="del">
        <pc:chgData name="Wang, Wei" userId="627587dd-935f-4f2b-a6c6-edd4e0dcbff5" providerId="ADAL" clId="{BA9FAD85-D4EF-468E-85E8-C7A2C87AFBA7}" dt="2022-01-25T14:52:17.939" v="1" actId="47"/>
        <pc:sldMkLst>
          <pc:docMk/>
          <pc:sldMk cId="3444650071" sldId="3228"/>
        </pc:sldMkLst>
      </pc:sldChg>
    </pc:docChg>
  </pc:docChgLst>
  <pc:docChgLst>
    <pc:chgData name="Wang, Wei" userId="627587dd-935f-4f2b-a6c6-edd4e0dcbff5" providerId="ADAL" clId="{DB2AFFE7-D841-43FD-AD2A-97BEF564C354}"/>
    <pc:docChg chg="delSld modSld sldOrd delMainMaster">
      <pc:chgData name="Wang, Wei" userId="627587dd-935f-4f2b-a6c6-edd4e0dcbff5" providerId="ADAL" clId="{DB2AFFE7-D841-43FD-AD2A-97BEF564C354}" dt="2021-07-20T10:39:18.184" v="6" actId="47"/>
      <pc:docMkLst>
        <pc:docMk/>
      </pc:docMkLst>
      <pc:sldChg chg="del">
        <pc:chgData name="Wang, Wei" userId="627587dd-935f-4f2b-a6c6-edd4e0dcbff5" providerId="ADAL" clId="{DB2AFFE7-D841-43FD-AD2A-97BEF564C354}" dt="2021-07-20T10:39:18.184" v="6" actId="47"/>
        <pc:sldMkLst>
          <pc:docMk/>
          <pc:sldMk cId="1866925074" sldId="2322"/>
        </pc:sldMkLst>
      </pc:sldChg>
      <pc:sldChg chg="del">
        <pc:chgData name="Wang, Wei" userId="627587dd-935f-4f2b-a6c6-edd4e0dcbff5" providerId="ADAL" clId="{DB2AFFE7-D841-43FD-AD2A-97BEF564C354}" dt="2021-07-20T10:39:18.184" v="6" actId="47"/>
        <pc:sldMkLst>
          <pc:docMk/>
          <pc:sldMk cId="901722669" sldId="2524"/>
        </pc:sldMkLst>
      </pc:sldChg>
      <pc:sldChg chg="del">
        <pc:chgData name="Wang, Wei" userId="627587dd-935f-4f2b-a6c6-edd4e0dcbff5" providerId="ADAL" clId="{DB2AFFE7-D841-43FD-AD2A-97BEF564C354}" dt="2021-07-20T10:39:18.184" v="6" actId="47"/>
        <pc:sldMkLst>
          <pc:docMk/>
          <pc:sldMk cId="3537257254" sldId="3190"/>
        </pc:sldMkLst>
      </pc:sldChg>
      <pc:sldChg chg="del">
        <pc:chgData name="Wang, Wei" userId="627587dd-935f-4f2b-a6c6-edd4e0dcbff5" providerId="ADAL" clId="{DB2AFFE7-D841-43FD-AD2A-97BEF564C354}" dt="2021-07-20T10:39:18.184" v="6" actId="47"/>
        <pc:sldMkLst>
          <pc:docMk/>
          <pc:sldMk cId="1739156535" sldId="3191"/>
        </pc:sldMkLst>
      </pc:sldChg>
      <pc:sldChg chg="del">
        <pc:chgData name="Wang, Wei" userId="627587dd-935f-4f2b-a6c6-edd4e0dcbff5" providerId="ADAL" clId="{DB2AFFE7-D841-43FD-AD2A-97BEF564C354}" dt="2021-07-20T10:39:18.184" v="6" actId="47"/>
        <pc:sldMkLst>
          <pc:docMk/>
          <pc:sldMk cId="3261312558" sldId="3192"/>
        </pc:sldMkLst>
      </pc:sldChg>
      <pc:sldChg chg="del">
        <pc:chgData name="Wang, Wei" userId="627587dd-935f-4f2b-a6c6-edd4e0dcbff5" providerId="ADAL" clId="{DB2AFFE7-D841-43FD-AD2A-97BEF564C354}" dt="2021-07-20T10:39:18.184" v="6" actId="47"/>
        <pc:sldMkLst>
          <pc:docMk/>
          <pc:sldMk cId="1530935999" sldId="3205"/>
        </pc:sldMkLst>
      </pc:sldChg>
      <pc:sldChg chg="del">
        <pc:chgData name="Wang, Wei" userId="627587dd-935f-4f2b-a6c6-edd4e0dcbff5" providerId="ADAL" clId="{DB2AFFE7-D841-43FD-AD2A-97BEF564C354}" dt="2021-07-20T10:39:18.184" v="6" actId="47"/>
        <pc:sldMkLst>
          <pc:docMk/>
          <pc:sldMk cId="717126928" sldId="3206"/>
        </pc:sldMkLst>
      </pc:sldChg>
      <pc:sldChg chg="del">
        <pc:chgData name="Wang, Wei" userId="627587dd-935f-4f2b-a6c6-edd4e0dcbff5" providerId="ADAL" clId="{DB2AFFE7-D841-43FD-AD2A-97BEF564C354}" dt="2021-07-20T10:39:18.184" v="6" actId="47"/>
        <pc:sldMkLst>
          <pc:docMk/>
          <pc:sldMk cId="1901557354" sldId="3207"/>
        </pc:sldMkLst>
      </pc:sldChg>
      <pc:sldChg chg="del">
        <pc:chgData name="Wang, Wei" userId="627587dd-935f-4f2b-a6c6-edd4e0dcbff5" providerId="ADAL" clId="{DB2AFFE7-D841-43FD-AD2A-97BEF564C354}" dt="2021-07-20T10:39:18.184" v="6" actId="47"/>
        <pc:sldMkLst>
          <pc:docMk/>
          <pc:sldMk cId="171754203" sldId="3208"/>
        </pc:sldMkLst>
      </pc:sldChg>
      <pc:sldChg chg="del">
        <pc:chgData name="Wang, Wei" userId="627587dd-935f-4f2b-a6c6-edd4e0dcbff5" providerId="ADAL" clId="{DB2AFFE7-D841-43FD-AD2A-97BEF564C354}" dt="2021-07-20T10:39:18.184" v="6" actId="47"/>
        <pc:sldMkLst>
          <pc:docMk/>
          <pc:sldMk cId="3859611208" sldId="3209"/>
        </pc:sldMkLst>
      </pc:sldChg>
      <pc:sldChg chg="del ord">
        <pc:chgData name="Wang, Wei" userId="627587dd-935f-4f2b-a6c6-edd4e0dcbff5" providerId="ADAL" clId="{DB2AFFE7-D841-43FD-AD2A-97BEF564C354}" dt="2021-07-20T10:39:18.184" v="6" actId="47"/>
        <pc:sldMkLst>
          <pc:docMk/>
          <pc:sldMk cId="491284620" sldId="3210"/>
        </pc:sldMkLst>
      </pc:sldChg>
      <pc:sldChg chg="del">
        <pc:chgData name="Wang, Wei" userId="627587dd-935f-4f2b-a6c6-edd4e0dcbff5" providerId="ADAL" clId="{DB2AFFE7-D841-43FD-AD2A-97BEF564C354}" dt="2021-07-20T10:39:18.184" v="6" actId="47"/>
        <pc:sldMkLst>
          <pc:docMk/>
          <pc:sldMk cId="2778952084" sldId="3212"/>
        </pc:sldMkLst>
      </pc:sldChg>
      <pc:sldChg chg="del">
        <pc:chgData name="Wang, Wei" userId="627587dd-935f-4f2b-a6c6-edd4e0dcbff5" providerId="ADAL" clId="{DB2AFFE7-D841-43FD-AD2A-97BEF564C354}" dt="2021-07-20T10:39:18.184" v="6" actId="47"/>
        <pc:sldMkLst>
          <pc:docMk/>
          <pc:sldMk cId="2557477812" sldId="3213"/>
        </pc:sldMkLst>
      </pc:sldChg>
      <pc:sldMasterChg chg="del delSldLayout">
        <pc:chgData name="Wang, Wei" userId="627587dd-935f-4f2b-a6c6-edd4e0dcbff5" providerId="ADAL" clId="{DB2AFFE7-D841-43FD-AD2A-97BEF564C354}" dt="2021-07-20T10:39:18.184" v="6" actId="47"/>
        <pc:sldMasterMkLst>
          <pc:docMk/>
          <pc:sldMasterMk cId="1583574900" sldId="2147483648"/>
        </pc:sldMasterMkLst>
        <pc:sldLayoutChg chg="del">
          <pc:chgData name="Wang, Wei" userId="627587dd-935f-4f2b-a6c6-edd4e0dcbff5" providerId="ADAL" clId="{DB2AFFE7-D841-43FD-AD2A-97BEF564C354}" dt="2021-07-20T10:39:18.184" v="6" actId="47"/>
          <pc:sldLayoutMkLst>
            <pc:docMk/>
            <pc:sldMasterMk cId="1583574900" sldId="2147483648"/>
            <pc:sldLayoutMk cId="1650472377" sldId="2147483650"/>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636589590" sldId="2147483654"/>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2202305574" sldId="2147483655"/>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882155853" sldId="2147483657"/>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265934994" sldId="2147483664"/>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3792690241" sldId="2147483668"/>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239496803" sldId="2147483679"/>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669711868" sldId="2147483684"/>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85"/>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673999311" sldId="2147483688"/>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91"/>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92"/>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283683246" sldId="2147483693"/>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95"/>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96"/>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98"/>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699"/>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700"/>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701"/>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0" sldId="2147483717"/>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1228748614" sldId="2147483817"/>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4061941092" sldId="2147483818"/>
          </pc:sldLayoutMkLst>
        </pc:sldLayoutChg>
        <pc:sldLayoutChg chg="del">
          <pc:chgData name="Wang, Wei" userId="627587dd-935f-4f2b-a6c6-edd4e0dcbff5" providerId="ADAL" clId="{DB2AFFE7-D841-43FD-AD2A-97BEF564C354}" dt="2021-07-20T10:39:18.184" v="6" actId="47"/>
          <pc:sldLayoutMkLst>
            <pc:docMk/>
            <pc:sldMasterMk cId="1583574900" sldId="2147483648"/>
            <pc:sldLayoutMk cId="280407589" sldId="2147483819"/>
          </pc:sldLayoutMkLst>
        </pc:sldLayoutChg>
      </pc:sldMasterChg>
      <pc:sldMasterChg chg="del delSldLayout">
        <pc:chgData name="Wang, Wei" userId="627587dd-935f-4f2b-a6c6-edd4e0dcbff5" providerId="ADAL" clId="{DB2AFFE7-D841-43FD-AD2A-97BEF564C354}" dt="2021-07-20T10:39:18.184" v="6" actId="47"/>
        <pc:sldMasterMkLst>
          <pc:docMk/>
          <pc:sldMasterMk cId="2561981366" sldId="2147483936"/>
        </pc:sldMasterMkLst>
        <pc:sldLayoutChg chg="del">
          <pc:chgData name="Wang, Wei" userId="627587dd-935f-4f2b-a6c6-edd4e0dcbff5" providerId="ADAL" clId="{DB2AFFE7-D841-43FD-AD2A-97BEF564C354}" dt="2021-07-20T10:39:18.184" v="6" actId="47"/>
          <pc:sldLayoutMkLst>
            <pc:docMk/>
            <pc:sldMasterMk cId="2561981366" sldId="2147483936"/>
            <pc:sldLayoutMk cId="3777939434" sldId="2147483937"/>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3605302225" sldId="2147483938"/>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3227742300" sldId="2147483939"/>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3679972896" sldId="2147483940"/>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1811799207" sldId="2147483941"/>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420407175" sldId="2147483942"/>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035313446" sldId="2147483943"/>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477665943" sldId="2147483944"/>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957577647" sldId="2147483945"/>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800018129" sldId="2147483946"/>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682993392" sldId="2147483947"/>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540461318" sldId="2147483948"/>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529787431" sldId="2147483949"/>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1026937498" sldId="2147483950"/>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842911270" sldId="2147483951"/>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919145827" sldId="2147483952"/>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13829044" sldId="2147483953"/>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3072213466" sldId="2147483954"/>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4220588903" sldId="2147483955"/>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1619892997" sldId="2147483956"/>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2698571532" sldId="2147483957"/>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9444656" sldId="2147483958"/>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3853848224" sldId="2147483959"/>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773350297" sldId="2147483960"/>
          </pc:sldLayoutMkLst>
        </pc:sldLayoutChg>
        <pc:sldLayoutChg chg="del">
          <pc:chgData name="Wang, Wei" userId="627587dd-935f-4f2b-a6c6-edd4e0dcbff5" providerId="ADAL" clId="{DB2AFFE7-D841-43FD-AD2A-97BEF564C354}" dt="2021-07-20T10:39:18.184" v="6" actId="47"/>
          <pc:sldLayoutMkLst>
            <pc:docMk/>
            <pc:sldMasterMk cId="2561981366" sldId="2147483936"/>
            <pc:sldLayoutMk cId="3350855327" sldId="2147483961"/>
          </pc:sldLayoutMkLst>
        </pc:sldLayoutChg>
      </pc:sldMasterChg>
    </pc:docChg>
  </pc:docChgLst>
  <pc:docChgLst>
    <pc:chgData name="Wang, Wei" userId="627587dd-935f-4f2b-a6c6-edd4e0dcbff5" providerId="ADAL" clId="{F6BF4B9D-786B-4E2B-961F-BE2CF530380A}"/>
    <pc:docChg chg="custSel modSld">
      <pc:chgData name="Wang, Wei" userId="627587dd-935f-4f2b-a6c6-edd4e0dcbff5" providerId="ADAL" clId="{F6BF4B9D-786B-4E2B-961F-BE2CF530380A}" dt="2024-04-22T13:16:47.368" v="56" actId="404"/>
      <pc:docMkLst>
        <pc:docMk/>
      </pc:docMkLst>
      <pc:sldChg chg="addSp delSp modSp mod">
        <pc:chgData name="Wang, Wei" userId="627587dd-935f-4f2b-a6c6-edd4e0dcbff5" providerId="ADAL" clId="{F6BF4B9D-786B-4E2B-961F-BE2CF530380A}" dt="2024-04-22T12:48:23.743" v="6"/>
        <pc:sldMkLst>
          <pc:docMk/>
          <pc:sldMk cId="2183724078" sldId="3225"/>
        </pc:sldMkLst>
        <pc:spChg chg="add mod">
          <ac:chgData name="Wang, Wei" userId="627587dd-935f-4f2b-a6c6-edd4e0dcbff5" providerId="ADAL" clId="{F6BF4B9D-786B-4E2B-961F-BE2CF530380A}" dt="2024-04-22T12:47:37.071" v="0"/>
          <ac:spMkLst>
            <pc:docMk/>
            <pc:sldMk cId="2183724078" sldId="3225"/>
            <ac:spMk id="4" creationId="{0A2C8D1E-CC12-39B0-A4F0-1D226B4DA294}"/>
          </ac:spMkLst>
        </pc:spChg>
        <pc:spChg chg="add mod">
          <ac:chgData name="Wang, Wei" userId="627587dd-935f-4f2b-a6c6-edd4e0dcbff5" providerId="ADAL" clId="{F6BF4B9D-786B-4E2B-961F-BE2CF530380A}" dt="2024-04-22T12:48:23.743" v="6"/>
          <ac:spMkLst>
            <pc:docMk/>
            <pc:sldMk cId="2183724078" sldId="3225"/>
            <ac:spMk id="6" creationId="{1037804C-D056-08BB-5DE0-70B58FBC9F29}"/>
          </ac:spMkLst>
        </pc:spChg>
        <pc:spChg chg="del mod">
          <ac:chgData name="Wang, Wei" userId="627587dd-935f-4f2b-a6c6-edd4e0dcbff5" providerId="ADAL" clId="{F6BF4B9D-786B-4E2B-961F-BE2CF530380A}" dt="2024-04-22T12:48:21.055" v="4" actId="478"/>
          <ac:spMkLst>
            <pc:docMk/>
            <pc:sldMk cId="2183724078" sldId="3225"/>
            <ac:spMk id="21" creationId="{56A325A7-E6BD-4144-B468-D126A04D5B3E}"/>
          </ac:spMkLst>
        </pc:spChg>
        <pc:picChg chg="add mod">
          <ac:chgData name="Wang, Wei" userId="627587dd-935f-4f2b-a6c6-edd4e0dcbff5" providerId="ADAL" clId="{F6BF4B9D-786B-4E2B-961F-BE2CF530380A}" dt="2024-04-22T12:48:23.743" v="6"/>
          <ac:picMkLst>
            <pc:docMk/>
            <pc:sldMk cId="2183724078" sldId="3225"/>
            <ac:picMk id="7" creationId="{B55579A9-2611-4A36-ED0E-E119CEF13210}"/>
          </ac:picMkLst>
        </pc:picChg>
        <pc:picChg chg="del">
          <ac:chgData name="Wang, Wei" userId="627587dd-935f-4f2b-a6c6-edd4e0dcbff5" providerId="ADAL" clId="{F6BF4B9D-786B-4E2B-961F-BE2CF530380A}" dt="2024-04-22T12:48:23.276" v="5" actId="478"/>
          <ac:picMkLst>
            <pc:docMk/>
            <pc:sldMk cId="2183724078" sldId="3225"/>
            <ac:picMk id="13" creationId="{10B8B345-AA0B-4522-ADB1-237AD1BA5B86}"/>
          </ac:picMkLst>
        </pc:picChg>
      </pc:sldChg>
      <pc:sldChg chg="addSp modSp mod">
        <pc:chgData name="Wang, Wei" userId="627587dd-935f-4f2b-a6c6-edd4e0dcbff5" providerId="ADAL" clId="{F6BF4B9D-786B-4E2B-961F-BE2CF530380A}" dt="2024-04-22T13:16:47.368" v="56" actId="404"/>
        <pc:sldMkLst>
          <pc:docMk/>
          <pc:sldMk cId="1568735640" sldId="3230"/>
        </pc:sldMkLst>
        <pc:spChg chg="add mod">
          <ac:chgData name="Wang, Wei" userId="627587dd-935f-4f2b-a6c6-edd4e0dcbff5" providerId="ADAL" clId="{F6BF4B9D-786B-4E2B-961F-BE2CF530380A}" dt="2024-04-22T13:16:47.368" v="56" actId="404"/>
          <ac:spMkLst>
            <pc:docMk/>
            <pc:sldMk cId="1568735640" sldId="3230"/>
            <ac:spMk id="4" creationId="{0331CC93-DA7F-396E-6D02-5F78D2AE3EFB}"/>
          </ac:spMkLst>
        </pc:spChg>
        <pc:spChg chg="mod">
          <ac:chgData name="Wang, Wei" userId="627587dd-935f-4f2b-a6c6-edd4e0dcbff5" providerId="ADAL" clId="{F6BF4B9D-786B-4E2B-961F-BE2CF530380A}" dt="2024-04-22T13:16:17.124" v="11" actId="207"/>
          <ac:spMkLst>
            <pc:docMk/>
            <pc:sldMk cId="1568735640" sldId="3230"/>
            <ac:spMk id="21" creationId="{56A325A7-E6BD-4144-B468-D126A04D5B3E}"/>
          </ac:spMkLst>
        </pc:spChg>
      </pc:sldChg>
    </pc:docChg>
  </pc:docChgLst>
  <pc:docChgLst>
    <pc:chgData name="Wang, Wei" userId="S::cstwangw@corp.jti.com::627587dd-935f-4f2b-a6c6-edd4e0dcbff5" providerId="AD" clId="Web-{3FF0558A-7372-F203-5062-5EDCD60FF1FC}"/>
    <pc:docChg chg="modSld">
      <pc:chgData name="Wang, Wei" userId="S::cstwangw@corp.jti.com::627587dd-935f-4f2b-a6c6-edd4e0dcbff5" providerId="AD" clId="Web-{3FF0558A-7372-F203-5062-5EDCD60FF1FC}" dt="2024-11-29T15:23:39.531" v="1" actId="20577"/>
      <pc:docMkLst>
        <pc:docMk/>
      </pc:docMkLst>
      <pc:sldChg chg="modSp">
        <pc:chgData name="Wang, Wei" userId="S::cstwangw@corp.jti.com::627587dd-935f-4f2b-a6c6-edd4e0dcbff5" providerId="AD" clId="Web-{3FF0558A-7372-F203-5062-5EDCD60FF1FC}" dt="2024-11-29T15:23:39.531" v="1" actId="20577"/>
        <pc:sldMkLst>
          <pc:docMk/>
          <pc:sldMk cId="1701697826" sldId="2134961506"/>
        </pc:sldMkLst>
        <pc:spChg chg="mod">
          <ac:chgData name="Wang, Wei" userId="S::cstwangw@corp.jti.com::627587dd-935f-4f2b-a6c6-edd4e0dcbff5" providerId="AD" clId="Web-{3FF0558A-7372-F203-5062-5EDCD60FF1FC}" dt="2024-11-29T15:23:39.531" v="1" actId="20577"/>
          <ac:spMkLst>
            <pc:docMk/>
            <pc:sldMk cId="1701697826" sldId="2134961506"/>
            <ac:spMk id="17" creationId="{4F5CAA80-3F26-2BA2-A4D5-E15AF5C4A70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29/11/2024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143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7025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6260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2616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3058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524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77165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3.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5.xml"/><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jpeg"/><Relationship Id="rId1" Type="http://schemas.openxmlformats.org/officeDocument/2006/relationships/slideMaster" Target="../slideMasters/slideMaster5.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9" name="Picture 8" descr="A picture containing person, indoor, person&#10;&#10;Description automatically generated">
            <a:extLst>
              <a:ext uri="{FF2B5EF4-FFF2-40B4-BE49-F238E27FC236}">
                <a16:creationId xmlns:a16="http://schemas.microsoft.com/office/drawing/2014/main" id="{B4398B87-EDBF-49C7-9FE0-B78AFAF59A6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646239"/>
            <a:ext cx="12191999" cy="4993200"/>
          </a:xfrm>
          <a:prstGeom prst="rect">
            <a:avLst/>
          </a:prstGeom>
        </p:spPr>
      </p:pic>
      <p:sp>
        <p:nvSpPr>
          <p:cNvPr id="6" name="Rectangle 5"/>
          <p:cNvSpPr/>
          <p:nvPr userDrawn="1"/>
        </p:nvSpPr>
        <p:spPr>
          <a:xfrm>
            <a:off x="0" y="4199439"/>
            <a:ext cx="12192000" cy="1440000"/>
          </a:xfrm>
          <a:prstGeom prst="rect">
            <a:avLst/>
          </a:prstGeom>
          <a:solidFill>
            <a:srgbClr val="005955">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a:extLst>
              <a:ext uri="{FF2B5EF4-FFF2-40B4-BE49-F238E27FC236}">
                <a16:creationId xmlns:a16="http://schemas.microsoft.com/office/drawing/2014/main" id="{A9600844-215D-46A5-851C-B55536BEB77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06400" y="4377384"/>
            <a:ext cx="1173600" cy="1173600"/>
          </a:xfrm>
          <a:prstGeom prst="rect">
            <a:avLst/>
          </a:prstGeom>
        </p:spPr>
      </p:pic>
    </p:spTree>
    <p:extLst>
      <p:ext uri="{BB962C8B-B14F-4D97-AF65-F5344CB8AC3E}">
        <p14:creationId xmlns:p14="http://schemas.microsoft.com/office/powerpoint/2010/main" val="3954609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100488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75A368A-18C4-4572-BEE6-47A28FFDE898}"/>
              </a:ext>
            </a:extLst>
          </p:cNvPr>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a:extLst>
              <a:ext uri="{FF2B5EF4-FFF2-40B4-BE49-F238E27FC236}">
                <a16:creationId xmlns:a16="http://schemas.microsoft.com/office/drawing/2014/main" id="{8F22EA1E-3D60-43D9-B6E0-84F348DF3D73}"/>
              </a:ext>
            </a:extLst>
          </p:cNvPr>
          <p:cNvGrpSpPr/>
          <p:nvPr/>
        </p:nvGrpSpPr>
        <p:grpSpPr>
          <a:xfrm>
            <a:off x="515937" y="326276"/>
            <a:ext cx="902611" cy="902611"/>
            <a:chOff x="4492144" y="190843"/>
            <a:chExt cx="855656" cy="855656"/>
          </a:xfrm>
        </p:grpSpPr>
        <p:sp>
          <p:nvSpPr>
            <p:cNvPr id="11" name="Oval 10">
              <a:extLst>
                <a:ext uri="{FF2B5EF4-FFF2-40B4-BE49-F238E27FC236}">
                  <a16:creationId xmlns:a16="http://schemas.microsoft.com/office/drawing/2014/main" id="{A0BB4967-0053-4847-85C4-5DC257062DC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F415222-5057-4987-9DFE-3EE144B41D5A}"/>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61CFEB2D-0D8C-457C-86F6-03C583D240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spTree>
    <p:extLst>
      <p:ext uri="{BB962C8B-B14F-4D97-AF65-F5344CB8AC3E}">
        <p14:creationId xmlns:p14="http://schemas.microsoft.com/office/powerpoint/2010/main" val="3348661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Group 3">
            <a:extLst>
              <a:ext uri="{FF2B5EF4-FFF2-40B4-BE49-F238E27FC236}">
                <a16:creationId xmlns:a16="http://schemas.microsoft.com/office/drawing/2014/main" id="{AC16BFA5-EFD0-4193-B052-B6DD9D50B2A1}"/>
              </a:ext>
            </a:extLst>
          </p:cNvPr>
          <p:cNvGrpSpPr/>
          <p:nvPr userDrawn="1"/>
        </p:nvGrpSpPr>
        <p:grpSpPr>
          <a:xfrm>
            <a:off x="514800" y="327600"/>
            <a:ext cx="902611" cy="902611"/>
            <a:chOff x="514800" y="327600"/>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4800" y="327600"/>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grpSp>
    </p:spTree>
    <p:extLst>
      <p:ext uri="{BB962C8B-B14F-4D97-AF65-F5344CB8AC3E}">
        <p14:creationId xmlns:p14="http://schemas.microsoft.com/office/powerpoint/2010/main" val="2191228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514800" y="327600"/>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390434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514800" y="327600"/>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3217187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dirty="0"/>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964784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955076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Course Demo">
    <p:spTree>
      <p:nvGrpSpPr>
        <p:cNvPr id="1" name=""/>
        <p:cNvGrpSpPr/>
        <p:nvPr/>
      </p:nvGrpSpPr>
      <p:grpSpPr>
        <a:xfrm>
          <a:off x="0" y="0"/>
          <a:ext cx="0" cy="0"/>
          <a:chOff x="0" y="0"/>
          <a:chExt cx="0" cy="0"/>
        </a:xfrm>
      </p:grpSpPr>
      <p:pic>
        <p:nvPicPr>
          <p:cNvPr id="20" name="Picture 19" descr="A picture containing person, indoor, person&#10;&#10;Description automatically generated">
            <a:extLst>
              <a:ext uri="{FF2B5EF4-FFF2-40B4-BE49-F238E27FC236}">
                <a16:creationId xmlns:a16="http://schemas.microsoft.com/office/drawing/2014/main" id="{F6B230B1-6BB1-46AA-A0B5-361EE819947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459468"/>
            <a:ext cx="12191999" cy="499320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dirty="0"/>
          </a:p>
        </p:txBody>
      </p:sp>
      <p:grpSp>
        <p:nvGrpSpPr>
          <p:cNvPr id="9" name="Group 8">
            <a:extLst>
              <a:ext uri="{FF2B5EF4-FFF2-40B4-BE49-F238E27FC236}">
                <a16:creationId xmlns:a16="http://schemas.microsoft.com/office/drawing/2014/main" id="{71F9A56E-0A83-4FC4-A927-AB2B408EFB62}"/>
              </a:ext>
            </a:extLst>
          </p:cNvPr>
          <p:cNvGrpSpPr/>
          <p:nvPr/>
        </p:nvGrpSpPr>
        <p:grpSpPr>
          <a:xfrm>
            <a:off x="10001920" y="1450390"/>
            <a:ext cx="1328400" cy="1327985"/>
            <a:chOff x="4492144" y="190843"/>
            <a:chExt cx="855656" cy="855656"/>
          </a:xfrm>
        </p:grpSpPr>
        <p:sp>
          <p:nvSpPr>
            <p:cNvPr id="11" name="Oval 10">
              <a:extLst>
                <a:ext uri="{FF2B5EF4-FFF2-40B4-BE49-F238E27FC236}">
                  <a16:creationId xmlns:a16="http://schemas.microsoft.com/office/drawing/2014/main" id="{F8EED97D-A281-4BF3-81D4-5022073A6A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FC49233-5249-4739-A1F1-379B26E466FE}"/>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8DFD7DA-D133-499C-B5FD-0FEB3B3851C7}"/>
              </a:ext>
            </a:extLst>
          </p:cNvPr>
          <p:cNvSpPr/>
          <p:nvPr userDrawn="1"/>
        </p:nvSpPr>
        <p:spPr>
          <a:xfrm>
            <a:off x="0" y="4498848"/>
            <a:ext cx="5330952" cy="959358"/>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C5285-5510-4434-A3B1-097CC11F2EFD}"/>
              </a:ext>
            </a:extLst>
          </p:cNvPr>
          <p:cNvSpPr>
            <a:spLocks noGrp="1"/>
          </p:cNvSpPr>
          <p:nvPr userDrawn="1">
            <p:ph type="title"/>
          </p:nvPr>
        </p:nvSpPr>
        <p:spPr>
          <a:xfrm>
            <a:off x="7483856" y="3052676"/>
            <a:ext cx="4275328" cy="1793643"/>
          </a:xfrm>
        </p:spPr>
        <p:txBody>
          <a:bodyPr/>
          <a:lstStyle>
            <a:lvl1pPr>
              <a:defRPr sz="4000">
                <a:solidFill>
                  <a:schemeClr val="bg1"/>
                </a:solidFill>
              </a:defRPr>
            </a:lvl1pPr>
          </a:lstStyle>
          <a:p>
            <a:r>
              <a:rPr lang="en-US" dirty="0"/>
              <a:t>Click to edit Master title style</a:t>
            </a:r>
          </a:p>
        </p:txBody>
      </p:sp>
      <p:sp>
        <p:nvSpPr>
          <p:cNvPr id="16" name="TextBox 15">
            <a:extLst>
              <a:ext uri="{FF2B5EF4-FFF2-40B4-BE49-F238E27FC236}">
                <a16:creationId xmlns:a16="http://schemas.microsoft.com/office/drawing/2014/main" id="{C285A997-B528-4D91-9253-C6D57E471AE7}"/>
              </a:ext>
            </a:extLst>
          </p:cNvPr>
          <p:cNvSpPr txBox="1"/>
          <p:nvPr userDrawn="1"/>
        </p:nvSpPr>
        <p:spPr>
          <a:xfrm>
            <a:off x="256032" y="4602276"/>
            <a:ext cx="2962656" cy="850392"/>
          </a:xfrm>
          <a:prstGeom prst="rect">
            <a:avLst/>
          </a:prstGeom>
          <a:noFill/>
        </p:spPr>
        <p:txBody>
          <a:bodyPr wrap="square" lIns="0" tIns="0" rIns="0" bIns="0" rtlCol="0">
            <a:noAutofit/>
          </a:bodyPr>
          <a:lstStyle/>
          <a:p>
            <a:pPr algn="l"/>
            <a:r>
              <a:rPr lang="en-US" sz="4800" dirty="0">
                <a:solidFill>
                  <a:schemeClr val="bg1"/>
                </a:solidFill>
              </a:rPr>
              <a:t>DEMO</a:t>
            </a:r>
          </a:p>
        </p:txBody>
      </p:sp>
      <p:sp>
        <p:nvSpPr>
          <p:cNvPr id="17" name="Isosceles Triangle 16">
            <a:extLst>
              <a:ext uri="{FF2B5EF4-FFF2-40B4-BE49-F238E27FC236}">
                <a16:creationId xmlns:a16="http://schemas.microsoft.com/office/drawing/2014/main" id="{00AB9036-4189-4626-83AC-16E15E2250D7}"/>
              </a:ext>
            </a:extLst>
          </p:cNvPr>
          <p:cNvSpPr/>
          <p:nvPr userDrawn="1"/>
        </p:nvSpPr>
        <p:spPr>
          <a:xfrm rot="5400000">
            <a:off x="10433613" y="1770202"/>
            <a:ext cx="675894" cy="67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E78046-1769-401C-89CD-4CE546238EB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178296" y="5607730"/>
            <a:ext cx="714382" cy="534728"/>
          </a:xfrm>
          <a:prstGeom prst="rect">
            <a:avLst/>
          </a:prstGeom>
        </p:spPr>
      </p:pic>
      <p:pic>
        <p:nvPicPr>
          <p:cNvPr id="15" name="Picture 14">
            <a:extLst>
              <a:ext uri="{FF2B5EF4-FFF2-40B4-BE49-F238E27FC236}">
                <a16:creationId xmlns:a16="http://schemas.microsoft.com/office/drawing/2014/main" id="{1519858A-2224-4B02-A8B8-90DA77539F9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15960" y="4644111"/>
            <a:ext cx="687600" cy="687600"/>
          </a:xfrm>
          <a:prstGeom prst="rect">
            <a:avLst/>
          </a:prstGeom>
        </p:spPr>
      </p:pic>
    </p:spTree>
    <p:extLst>
      <p:ext uri="{BB962C8B-B14F-4D97-AF65-F5344CB8AC3E}">
        <p14:creationId xmlns:p14="http://schemas.microsoft.com/office/powerpoint/2010/main" val="3740336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dirty="0"/>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dirty="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dirty="0">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dirty="0"/>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dirty="0">
                <a:solidFill>
                  <a:schemeClr val="bg1"/>
                </a:solidFill>
                <a:latin typeface="+mn-lt"/>
                <a:ea typeface="Roboto" charset="0"/>
                <a:cs typeface="Roboto" charset="0"/>
              </a:rPr>
              <a:t>Simplify, Standardize, Accelerate </a:t>
            </a:r>
          </a:p>
        </p:txBody>
      </p:sp>
      <p:grpSp>
        <p:nvGrpSpPr>
          <p:cNvPr id="7" name="Group 6">
            <a:extLst>
              <a:ext uri="{FF2B5EF4-FFF2-40B4-BE49-F238E27FC236}">
                <a16:creationId xmlns:a16="http://schemas.microsoft.com/office/drawing/2014/main" id="{2E1A3422-E66E-4444-9C31-DEDFD8C36F9B}"/>
              </a:ext>
            </a:extLst>
          </p:cNvPr>
          <p:cNvGrpSpPr/>
          <p:nvPr userDrawn="1"/>
        </p:nvGrpSpPr>
        <p:grpSpPr>
          <a:xfrm>
            <a:off x="933841" y="4138450"/>
            <a:ext cx="1328400" cy="1327985"/>
            <a:chOff x="933841" y="4138450"/>
            <a:chExt cx="1328400" cy="1327985"/>
          </a:xfrm>
        </p:grpSpPr>
        <p:grpSp>
          <p:nvGrpSpPr>
            <p:cNvPr id="6" name="Group 5">
              <a:extLst>
                <a:ext uri="{FF2B5EF4-FFF2-40B4-BE49-F238E27FC236}">
                  <a16:creationId xmlns:a16="http://schemas.microsoft.com/office/drawing/2014/main" id="{D9218C4A-13EA-45C1-B64C-51B7E9748072}"/>
                </a:ext>
              </a:extLst>
            </p:cNvPr>
            <p:cNvGrpSpPr/>
            <p:nvPr userDrawn="1"/>
          </p:nvGrpSpPr>
          <p:grpSpPr>
            <a:xfrm>
              <a:off x="933841" y="4138450"/>
              <a:ext cx="1328400" cy="1327985"/>
              <a:chOff x="933841" y="4138450"/>
              <a:chExt cx="1328400" cy="1327985"/>
            </a:xfrm>
          </p:grpSpPr>
          <p:sp>
            <p:nvSpPr>
              <p:cNvPr id="24" name="Oval 23">
                <a:extLst>
                  <a:ext uri="{FF2B5EF4-FFF2-40B4-BE49-F238E27FC236}">
                    <a16:creationId xmlns:a16="http://schemas.microsoft.com/office/drawing/2014/main" id="{D598798A-3B17-421E-88FC-2B5EF9DE12A3}"/>
                  </a:ext>
                </a:extLst>
              </p:cNvPr>
              <p:cNvSpPr/>
              <p:nvPr/>
            </p:nvSpPr>
            <p:spPr>
              <a:xfrm>
                <a:off x="933841" y="4138450"/>
                <a:ext cx="1328400" cy="1327985"/>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1025427" y="4230840"/>
                <a:ext cx="1145229" cy="11448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9" name="Picture 18">
              <a:extLst>
                <a:ext uri="{FF2B5EF4-FFF2-40B4-BE49-F238E27FC236}">
                  <a16:creationId xmlns:a16="http://schemas.microsoft.com/office/drawing/2014/main" id="{3EDFC479-5A12-4F38-8FA7-5DBA4ADF50C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86234" y="4480397"/>
              <a:ext cx="687600" cy="687600"/>
            </a:xfrm>
            <a:prstGeom prst="rect">
              <a:avLst/>
            </a:prstGeom>
          </p:spPr>
        </p:pic>
      </p:grpSp>
    </p:spTree>
    <p:extLst>
      <p:ext uri="{BB962C8B-B14F-4D97-AF65-F5344CB8AC3E}">
        <p14:creationId xmlns:p14="http://schemas.microsoft.com/office/powerpoint/2010/main" val="28468788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9" name="Picture 8" descr="A picture containing person, indoor, person&#10;&#10;Description automatically generated">
            <a:extLst>
              <a:ext uri="{FF2B5EF4-FFF2-40B4-BE49-F238E27FC236}">
                <a16:creationId xmlns:a16="http://schemas.microsoft.com/office/drawing/2014/main" id="{B4398B87-EDBF-49C7-9FE0-B78AFAF59A6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646239"/>
            <a:ext cx="12191999" cy="4993200"/>
          </a:xfrm>
          <a:prstGeom prst="rect">
            <a:avLst/>
          </a:prstGeom>
        </p:spPr>
      </p:pic>
      <p:sp>
        <p:nvSpPr>
          <p:cNvPr id="6" name="Rectangle 5"/>
          <p:cNvSpPr/>
          <p:nvPr userDrawn="1"/>
        </p:nvSpPr>
        <p:spPr>
          <a:xfrm>
            <a:off x="0" y="4199439"/>
            <a:ext cx="12192000" cy="1440000"/>
          </a:xfrm>
          <a:prstGeom prst="rect">
            <a:avLst/>
          </a:prstGeom>
          <a:solidFill>
            <a:srgbClr val="005955">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a:extLst>
              <a:ext uri="{FF2B5EF4-FFF2-40B4-BE49-F238E27FC236}">
                <a16:creationId xmlns:a16="http://schemas.microsoft.com/office/drawing/2014/main" id="{A9600844-215D-46A5-851C-B55536BEB77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06400" y="4377384"/>
            <a:ext cx="1173600" cy="1173600"/>
          </a:xfrm>
          <a:prstGeom prst="rect">
            <a:avLst/>
          </a:prstGeom>
        </p:spPr>
      </p:pic>
    </p:spTree>
    <p:extLst>
      <p:ext uri="{BB962C8B-B14F-4D97-AF65-F5344CB8AC3E}">
        <p14:creationId xmlns:p14="http://schemas.microsoft.com/office/powerpoint/2010/main" val="3500660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100488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75A368A-18C4-4572-BEE6-47A28FFDE898}"/>
              </a:ext>
            </a:extLst>
          </p:cNvPr>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a:extLst>
              <a:ext uri="{FF2B5EF4-FFF2-40B4-BE49-F238E27FC236}">
                <a16:creationId xmlns:a16="http://schemas.microsoft.com/office/drawing/2014/main" id="{8F22EA1E-3D60-43D9-B6E0-84F348DF3D73}"/>
              </a:ext>
            </a:extLst>
          </p:cNvPr>
          <p:cNvGrpSpPr/>
          <p:nvPr/>
        </p:nvGrpSpPr>
        <p:grpSpPr>
          <a:xfrm>
            <a:off x="515937" y="326276"/>
            <a:ext cx="902611" cy="902611"/>
            <a:chOff x="4492144" y="190843"/>
            <a:chExt cx="855656" cy="855656"/>
          </a:xfrm>
        </p:grpSpPr>
        <p:sp>
          <p:nvSpPr>
            <p:cNvPr id="11" name="Oval 10">
              <a:extLst>
                <a:ext uri="{FF2B5EF4-FFF2-40B4-BE49-F238E27FC236}">
                  <a16:creationId xmlns:a16="http://schemas.microsoft.com/office/drawing/2014/main" id="{A0BB4967-0053-4847-85C4-5DC257062DC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F415222-5057-4987-9DFE-3EE144B41D5A}"/>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61CFEB2D-0D8C-457C-86F6-03C583D240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spTree>
    <p:extLst>
      <p:ext uri="{BB962C8B-B14F-4D97-AF65-F5344CB8AC3E}">
        <p14:creationId xmlns:p14="http://schemas.microsoft.com/office/powerpoint/2010/main" val="48773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Group 3">
            <a:extLst>
              <a:ext uri="{FF2B5EF4-FFF2-40B4-BE49-F238E27FC236}">
                <a16:creationId xmlns:a16="http://schemas.microsoft.com/office/drawing/2014/main" id="{AC16BFA5-EFD0-4193-B052-B6DD9D50B2A1}"/>
              </a:ext>
            </a:extLst>
          </p:cNvPr>
          <p:cNvGrpSpPr/>
          <p:nvPr userDrawn="1"/>
        </p:nvGrpSpPr>
        <p:grpSpPr>
          <a:xfrm>
            <a:off x="514800" y="327600"/>
            <a:ext cx="902611" cy="902611"/>
            <a:chOff x="514800" y="327600"/>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4800" y="327600"/>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3522" y="556236"/>
              <a:ext cx="457200" cy="457200"/>
            </a:xfrm>
            <a:prstGeom prst="rect">
              <a:avLst/>
            </a:prstGeom>
          </p:spPr>
        </p:pic>
      </p:grpSp>
    </p:spTree>
    <p:extLst>
      <p:ext uri="{BB962C8B-B14F-4D97-AF65-F5344CB8AC3E}">
        <p14:creationId xmlns:p14="http://schemas.microsoft.com/office/powerpoint/2010/main" val="9877126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514800" y="327600"/>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1054420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514800" y="327600"/>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149205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048608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2021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14828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Course Demo">
    <p:spTree>
      <p:nvGrpSpPr>
        <p:cNvPr id="1" name=""/>
        <p:cNvGrpSpPr/>
        <p:nvPr/>
      </p:nvGrpSpPr>
      <p:grpSpPr>
        <a:xfrm>
          <a:off x="0" y="0"/>
          <a:ext cx="0" cy="0"/>
          <a:chOff x="0" y="0"/>
          <a:chExt cx="0" cy="0"/>
        </a:xfrm>
      </p:grpSpPr>
      <p:pic>
        <p:nvPicPr>
          <p:cNvPr id="20" name="Picture 19" descr="A picture containing person, indoor, person&#10;&#10;Description automatically generated">
            <a:extLst>
              <a:ext uri="{FF2B5EF4-FFF2-40B4-BE49-F238E27FC236}">
                <a16:creationId xmlns:a16="http://schemas.microsoft.com/office/drawing/2014/main" id="{F6B230B1-6BB1-46AA-A0B5-361EE819947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2000"/>
                    </a14:imgEffect>
                  </a14:imgLayer>
                </a14:imgProps>
              </a:ext>
              <a:ext uri="{28A0092B-C50C-407E-A947-70E740481C1C}">
                <a14:useLocalDpi xmlns:a14="http://schemas.microsoft.com/office/drawing/2010/main" val="0"/>
              </a:ext>
            </a:extLst>
          </a:blip>
          <a:stretch>
            <a:fillRect/>
          </a:stretch>
        </p:blipFill>
        <p:spPr>
          <a:xfrm>
            <a:off x="1" y="459468"/>
            <a:ext cx="12191999" cy="499320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a:p>
        </p:txBody>
      </p:sp>
      <p:grpSp>
        <p:nvGrpSpPr>
          <p:cNvPr id="9" name="Group 8">
            <a:extLst>
              <a:ext uri="{FF2B5EF4-FFF2-40B4-BE49-F238E27FC236}">
                <a16:creationId xmlns:a16="http://schemas.microsoft.com/office/drawing/2014/main" id="{71F9A56E-0A83-4FC4-A927-AB2B408EFB62}"/>
              </a:ext>
            </a:extLst>
          </p:cNvPr>
          <p:cNvGrpSpPr/>
          <p:nvPr/>
        </p:nvGrpSpPr>
        <p:grpSpPr>
          <a:xfrm>
            <a:off x="10001920" y="1450390"/>
            <a:ext cx="1328400" cy="1327985"/>
            <a:chOff x="4492144" y="190843"/>
            <a:chExt cx="855656" cy="855656"/>
          </a:xfrm>
        </p:grpSpPr>
        <p:sp>
          <p:nvSpPr>
            <p:cNvPr id="11" name="Oval 10">
              <a:extLst>
                <a:ext uri="{FF2B5EF4-FFF2-40B4-BE49-F238E27FC236}">
                  <a16:creationId xmlns:a16="http://schemas.microsoft.com/office/drawing/2014/main" id="{F8EED97D-A281-4BF3-81D4-5022073A6A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FC49233-5249-4739-A1F1-379B26E466FE}"/>
                </a:ext>
              </a:extLst>
            </p:cNvPr>
            <p:cNvSpPr/>
            <p:nvPr/>
          </p:nvSpPr>
          <p:spPr>
            <a:xfrm>
              <a:off x="4551137" y="249836"/>
              <a:ext cx="737671" cy="7376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8DFD7DA-D133-499C-B5FD-0FEB3B3851C7}"/>
              </a:ext>
            </a:extLst>
          </p:cNvPr>
          <p:cNvSpPr/>
          <p:nvPr userDrawn="1"/>
        </p:nvSpPr>
        <p:spPr>
          <a:xfrm>
            <a:off x="0" y="4498848"/>
            <a:ext cx="5330952" cy="959358"/>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C5285-5510-4434-A3B1-097CC11F2EFD}"/>
              </a:ext>
            </a:extLst>
          </p:cNvPr>
          <p:cNvSpPr>
            <a:spLocks noGrp="1"/>
          </p:cNvSpPr>
          <p:nvPr userDrawn="1">
            <p:ph type="title"/>
          </p:nvPr>
        </p:nvSpPr>
        <p:spPr>
          <a:xfrm>
            <a:off x="7483856" y="3052676"/>
            <a:ext cx="4275328" cy="1793643"/>
          </a:xfrm>
        </p:spPr>
        <p:txBody>
          <a:bodyPr/>
          <a:lstStyle>
            <a:lvl1pPr>
              <a:defRPr sz="4000">
                <a:solidFill>
                  <a:schemeClr val="bg1"/>
                </a:solidFill>
              </a:defRPr>
            </a:lvl1pPr>
          </a:lstStyle>
          <a:p>
            <a:r>
              <a:rPr lang="en-US"/>
              <a:t>Click to edit Master title style</a:t>
            </a:r>
          </a:p>
        </p:txBody>
      </p:sp>
      <p:sp>
        <p:nvSpPr>
          <p:cNvPr id="16" name="TextBox 15">
            <a:extLst>
              <a:ext uri="{FF2B5EF4-FFF2-40B4-BE49-F238E27FC236}">
                <a16:creationId xmlns:a16="http://schemas.microsoft.com/office/drawing/2014/main" id="{C285A997-B528-4D91-9253-C6D57E471AE7}"/>
              </a:ext>
            </a:extLst>
          </p:cNvPr>
          <p:cNvSpPr txBox="1"/>
          <p:nvPr userDrawn="1"/>
        </p:nvSpPr>
        <p:spPr>
          <a:xfrm>
            <a:off x="256032" y="4602276"/>
            <a:ext cx="2962656" cy="850392"/>
          </a:xfrm>
          <a:prstGeom prst="rect">
            <a:avLst/>
          </a:prstGeom>
          <a:noFill/>
        </p:spPr>
        <p:txBody>
          <a:bodyPr wrap="square" lIns="0" tIns="0" rIns="0" bIns="0" rtlCol="0">
            <a:noAutofit/>
          </a:bodyPr>
          <a:lstStyle/>
          <a:p>
            <a:pPr algn="l"/>
            <a:r>
              <a:rPr lang="en-US" sz="4800">
                <a:solidFill>
                  <a:schemeClr val="bg1"/>
                </a:solidFill>
              </a:rPr>
              <a:t>DEMO</a:t>
            </a:r>
          </a:p>
        </p:txBody>
      </p:sp>
      <p:sp>
        <p:nvSpPr>
          <p:cNvPr id="17" name="Isosceles Triangle 16">
            <a:extLst>
              <a:ext uri="{FF2B5EF4-FFF2-40B4-BE49-F238E27FC236}">
                <a16:creationId xmlns:a16="http://schemas.microsoft.com/office/drawing/2014/main" id="{00AB9036-4189-4626-83AC-16E15E2250D7}"/>
              </a:ext>
            </a:extLst>
          </p:cNvPr>
          <p:cNvSpPr/>
          <p:nvPr userDrawn="1"/>
        </p:nvSpPr>
        <p:spPr>
          <a:xfrm rot="5400000">
            <a:off x="10433613" y="1770202"/>
            <a:ext cx="675894" cy="67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E78046-1769-401C-89CD-4CE546238EB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178296" y="5607730"/>
            <a:ext cx="714382" cy="534728"/>
          </a:xfrm>
          <a:prstGeom prst="rect">
            <a:avLst/>
          </a:prstGeom>
        </p:spPr>
      </p:pic>
      <p:pic>
        <p:nvPicPr>
          <p:cNvPr id="15" name="Picture 14">
            <a:extLst>
              <a:ext uri="{FF2B5EF4-FFF2-40B4-BE49-F238E27FC236}">
                <a16:creationId xmlns:a16="http://schemas.microsoft.com/office/drawing/2014/main" id="{1519858A-2224-4B02-A8B8-90DA77539F9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515960" y="4644111"/>
            <a:ext cx="687600" cy="687600"/>
          </a:xfrm>
          <a:prstGeom prst="rect">
            <a:avLst/>
          </a:prstGeom>
        </p:spPr>
      </p:pic>
    </p:spTree>
    <p:extLst>
      <p:ext uri="{BB962C8B-B14F-4D97-AF65-F5344CB8AC3E}">
        <p14:creationId xmlns:p14="http://schemas.microsoft.com/office/powerpoint/2010/main" val="3381738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grpSp>
        <p:nvGrpSpPr>
          <p:cNvPr id="7" name="Group 6">
            <a:extLst>
              <a:ext uri="{FF2B5EF4-FFF2-40B4-BE49-F238E27FC236}">
                <a16:creationId xmlns:a16="http://schemas.microsoft.com/office/drawing/2014/main" id="{2E1A3422-E66E-4444-9C31-DEDFD8C36F9B}"/>
              </a:ext>
            </a:extLst>
          </p:cNvPr>
          <p:cNvGrpSpPr/>
          <p:nvPr userDrawn="1"/>
        </p:nvGrpSpPr>
        <p:grpSpPr>
          <a:xfrm>
            <a:off x="933841" y="4138450"/>
            <a:ext cx="1328400" cy="1327985"/>
            <a:chOff x="933841" y="4138450"/>
            <a:chExt cx="1328400" cy="1327985"/>
          </a:xfrm>
        </p:grpSpPr>
        <p:grpSp>
          <p:nvGrpSpPr>
            <p:cNvPr id="6" name="Group 5">
              <a:extLst>
                <a:ext uri="{FF2B5EF4-FFF2-40B4-BE49-F238E27FC236}">
                  <a16:creationId xmlns:a16="http://schemas.microsoft.com/office/drawing/2014/main" id="{D9218C4A-13EA-45C1-B64C-51B7E9748072}"/>
                </a:ext>
              </a:extLst>
            </p:cNvPr>
            <p:cNvGrpSpPr/>
            <p:nvPr userDrawn="1"/>
          </p:nvGrpSpPr>
          <p:grpSpPr>
            <a:xfrm>
              <a:off x="933841" y="4138450"/>
              <a:ext cx="1328400" cy="1327985"/>
              <a:chOff x="933841" y="4138450"/>
              <a:chExt cx="1328400" cy="1327985"/>
            </a:xfrm>
          </p:grpSpPr>
          <p:sp>
            <p:nvSpPr>
              <p:cNvPr id="24" name="Oval 23">
                <a:extLst>
                  <a:ext uri="{FF2B5EF4-FFF2-40B4-BE49-F238E27FC236}">
                    <a16:creationId xmlns:a16="http://schemas.microsoft.com/office/drawing/2014/main" id="{D598798A-3B17-421E-88FC-2B5EF9DE12A3}"/>
                  </a:ext>
                </a:extLst>
              </p:cNvPr>
              <p:cNvSpPr/>
              <p:nvPr/>
            </p:nvSpPr>
            <p:spPr>
              <a:xfrm>
                <a:off x="933841" y="4138450"/>
                <a:ext cx="1328400" cy="1327985"/>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1025427" y="4230840"/>
                <a:ext cx="1145229" cy="1144871"/>
              </a:xfrm>
              <a:prstGeom prst="ellipse">
                <a:avLst/>
              </a:prstGeom>
              <a:solidFill>
                <a:srgbClr val="00595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9" name="Picture 18">
              <a:extLst>
                <a:ext uri="{FF2B5EF4-FFF2-40B4-BE49-F238E27FC236}">
                  <a16:creationId xmlns:a16="http://schemas.microsoft.com/office/drawing/2014/main" id="{3EDFC479-5A12-4F38-8FA7-5DBA4ADF50C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86234" y="4480397"/>
              <a:ext cx="687600" cy="687600"/>
            </a:xfrm>
            <a:prstGeom prst="rect">
              <a:avLst/>
            </a:prstGeom>
          </p:spPr>
        </p:pic>
      </p:grpSp>
    </p:spTree>
    <p:extLst>
      <p:ext uri="{BB962C8B-B14F-4D97-AF65-F5344CB8AC3E}">
        <p14:creationId xmlns:p14="http://schemas.microsoft.com/office/powerpoint/2010/main" val="2782730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Image Divider 02">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2819" y="3477202"/>
            <a:ext cx="8961437" cy="2463007"/>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4" name="Date Placeholder 3">
            <a:extLst>
              <a:ext uri="{FF2B5EF4-FFF2-40B4-BE49-F238E27FC236}">
                <a16:creationId xmlns:a16="http://schemas.microsoft.com/office/drawing/2014/main" id="{ED01245C-4C26-4344-92EA-31E1C72A73DD}"/>
              </a:ext>
            </a:extLst>
          </p:cNvPr>
          <p:cNvSpPr>
            <a:spLocks noGrp="1"/>
          </p:cNvSpPr>
          <p:nvPr>
            <p:ph type="dt" sz="half" idx="10"/>
          </p:nvPr>
        </p:nvSpPr>
        <p:spPr/>
        <p:txBody>
          <a:bodyPr/>
          <a:lstStyle>
            <a:lvl1pPr>
              <a:defRPr>
                <a:solidFill>
                  <a:schemeClr val="bg1"/>
                </a:solidFill>
              </a:defRPr>
            </a:lvl1pPr>
          </a:lstStyle>
          <a:p>
            <a:fld id="{0E429B85-DD85-40D5-BDA8-99DED6141FD9}" type="datetime4">
              <a:rPr lang="en-GB" smtClean="0"/>
              <a:t>29 November 2024</a:t>
            </a:fld>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2020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a:stretch>
            <a:fillRect/>
          </a:stretch>
        </p:blipFill>
        <p:spPr>
          <a:xfrm>
            <a:off x="10908226" y="5621273"/>
            <a:ext cx="767837" cy="574740"/>
          </a:xfrm>
          <a:prstGeom prst="rect">
            <a:avLst/>
          </a:prstGeom>
        </p:spPr>
      </p:pic>
      <p:pic>
        <p:nvPicPr>
          <p:cNvPr id="11" name="Picture 10"/>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rot="10800000" flipH="1" flipV="1">
            <a:off x="512818" y="321246"/>
            <a:ext cx="1905001" cy="794222"/>
          </a:xfrm>
          <a:prstGeom prst="rect">
            <a:avLst/>
          </a:prstGeom>
        </p:spPr>
      </p:pic>
    </p:spTree>
    <p:extLst>
      <p:ext uri="{BB962C8B-B14F-4D97-AF65-F5344CB8AC3E}">
        <p14:creationId xmlns:p14="http://schemas.microsoft.com/office/powerpoint/2010/main" val="3793968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4.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5.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532631039"/>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JTI 2021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183461106"/>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5.xml"/><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image" Target="../media/image20.pn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25.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png"/><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33.sv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5.xml"/><Relationship Id="rId5" Type="http://schemas.openxmlformats.org/officeDocument/2006/relationships/image" Target="../media/image36.emf"/><Relationship Id="rId4" Type="http://schemas.openxmlformats.org/officeDocument/2006/relationships/image" Target="../media/image35.emf"/></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5.xml"/><Relationship Id="rId5" Type="http://schemas.openxmlformats.org/officeDocument/2006/relationships/image" Target="../media/image38.emf"/><Relationship Id="rId4" Type="http://schemas.openxmlformats.org/officeDocument/2006/relationships/image" Target="../media/image37.emf"/></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dirty="0"/>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3193200" y="205833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JTI Period End </a:t>
            </a: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Closing Model</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3193200" y="270201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Statutory and Tax Ledger Closing Principles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3193200" y="3345696"/>
            <a:ext cx="5329008"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Key Timings and Usage of Posting Periods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3193200" y="398937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 Glance of Period End Closing Process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3193200" y="463305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Period End Closing Key Focus Areas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943216"/>
            <a:ext cx="1339200" cy="50018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a:off x="1854000" y="3443400"/>
            <a:ext cx="1339200" cy="14349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1339200" cy="78717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1339200" cy="143085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299536"/>
            <a:ext cx="1339200" cy="114386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F8DDD4B-FF11-4E91-9AC6-67C497D3E36D}"/>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rgbClr val="005955"/>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8E513AE1-BFE1-40E0-901D-3FF7A7E0B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00" y="3156545"/>
              <a:ext cx="687600" cy="687600"/>
            </a:xfrm>
            <a:prstGeom prst="rect">
              <a:avLst/>
            </a:prstGeom>
          </p:spPr>
        </p:pic>
      </p:grpSp>
      <p:sp>
        <p:nvSpPr>
          <p:cNvPr id="18" name="Rectangle: Rounded Corners 17">
            <a:extLst>
              <a:ext uri="{FF2B5EF4-FFF2-40B4-BE49-F238E27FC236}">
                <a16:creationId xmlns:a16="http://schemas.microsoft.com/office/drawing/2014/main" id="{07DA6263-04C1-4B81-A7D4-7F32826B3595}"/>
              </a:ext>
            </a:extLst>
          </p:cNvPr>
          <p:cNvSpPr/>
          <p:nvPr/>
        </p:nvSpPr>
        <p:spPr>
          <a:xfrm>
            <a:off x="3193200" y="5276736"/>
            <a:ext cx="5329008"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U</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sing FCC to monitor Period End Closing</a:t>
            </a:r>
          </a:p>
        </p:txBody>
      </p:sp>
      <p:cxnSp>
        <p:nvCxnSpPr>
          <p:cNvPr id="19" name="Elbow Connector 29">
            <a:extLst>
              <a:ext uri="{FF2B5EF4-FFF2-40B4-BE49-F238E27FC236}">
                <a16:creationId xmlns:a16="http://schemas.microsoft.com/office/drawing/2014/main" id="{34321649-00A9-4493-A7E8-0631D06BE120}"/>
              </a:ext>
            </a:extLst>
          </p:cNvPr>
          <p:cNvCxnSpPr>
            <a:cxnSpLocks/>
            <a:endCxn id="18" idx="1"/>
          </p:cNvCxnSpPr>
          <p:nvPr/>
        </p:nvCxnSpPr>
        <p:spPr>
          <a:xfrm>
            <a:off x="1854000" y="3443400"/>
            <a:ext cx="1339200" cy="207453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607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dirty="0"/>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2165678" y="205833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JTI Period End Closing Model</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2165678" y="270201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Statutory and Tax Ledger Closing Principles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2165678" y="3345696"/>
            <a:ext cx="4725316"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Key Timings and Usage of Posting Periods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2165678" y="398937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 Glance of Period End Closing Process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2165678" y="463305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Period End Closing Key Focus Areas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943216"/>
            <a:ext cx="311678" cy="50018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a:off x="1854000" y="3443400"/>
            <a:ext cx="311678" cy="14349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311678" cy="78717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311678" cy="143085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299536"/>
            <a:ext cx="311678" cy="114386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F8DDD4B-FF11-4E91-9AC6-67C497D3E36D}"/>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rgbClr val="005955"/>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8E513AE1-BFE1-40E0-901D-3FF7A7E0B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00" y="3156545"/>
              <a:ext cx="687600" cy="687600"/>
            </a:xfrm>
            <a:prstGeom prst="rect">
              <a:avLst/>
            </a:prstGeom>
          </p:spPr>
        </p:pic>
      </p:grpSp>
      <p:sp>
        <p:nvSpPr>
          <p:cNvPr id="23" name="Rectangle: Rounded Corners 22">
            <a:extLst>
              <a:ext uri="{FF2B5EF4-FFF2-40B4-BE49-F238E27FC236}">
                <a16:creationId xmlns:a16="http://schemas.microsoft.com/office/drawing/2014/main" id="{2D339370-9F02-4D2B-B2E3-811609338D97}"/>
              </a:ext>
            </a:extLst>
          </p:cNvPr>
          <p:cNvSpPr/>
          <p:nvPr/>
        </p:nvSpPr>
        <p:spPr>
          <a:xfrm>
            <a:off x="8003952" y="3466964"/>
            <a:ext cx="3459043"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Overview of Key Closing Deadlines</a:t>
            </a:r>
          </a:p>
        </p:txBody>
      </p:sp>
      <p:sp>
        <p:nvSpPr>
          <p:cNvPr id="25" name="Rectangle: Rounded Corners 24">
            <a:extLst>
              <a:ext uri="{FF2B5EF4-FFF2-40B4-BE49-F238E27FC236}">
                <a16:creationId xmlns:a16="http://schemas.microsoft.com/office/drawing/2014/main" id="{72BDEF1A-6A88-43EB-86A4-5B3C0D5B8624}"/>
              </a:ext>
            </a:extLst>
          </p:cNvPr>
          <p:cNvSpPr/>
          <p:nvPr/>
        </p:nvSpPr>
        <p:spPr>
          <a:xfrm>
            <a:off x="8003952" y="4110644"/>
            <a:ext cx="3459043"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P14 STAT/TAX Year-End Process</a:t>
            </a:r>
          </a:p>
        </p:txBody>
      </p:sp>
      <p:cxnSp>
        <p:nvCxnSpPr>
          <p:cNvPr id="28" name="Elbow Connector 29">
            <a:extLst>
              <a:ext uri="{FF2B5EF4-FFF2-40B4-BE49-F238E27FC236}">
                <a16:creationId xmlns:a16="http://schemas.microsoft.com/office/drawing/2014/main" id="{930ED85A-F9D3-4197-99B4-9D5DDD5C27FE}"/>
              </a:ext>
            </a:extLst>
          </p:cNvPr>
          <p:cNvCxnSpPr>
            <a:cxnSpLocks/>
            <a:stCxn id="69" idx="3"/>
            <a:endCxn id="23" idx="1"/>
          </p:cNvCxnSpPr>
          <p:nvPr/>
        </p:nvCxnSpPr>
        <p:spPr>
          <a:xfrm>
            <a:off x="6890994" y="3586896"/>
            <a:ext cx="1112958" cy="12126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17968B4A-4C1D-4AF2-BD7F-01EA4E52C4FD}"/>
              </a:ext>
            </a:extLst>
          </p:cNvPr>
          <p:cNvCxnSpPr>
            <a:cxnSpLocks/>
            <a:stCxn id="69" idx="3"/>
            <a:endCxn id="25" idx="1"/>
          </p:cNvCxnSpPr>
          <p:nvPr/>
        </p:nvCxnSpPr>
        <p:spPr>
          <a:xfrm>
            <a:off x="6890994" y="3586896"/>
            <a:ext cx="1112958" cy="76494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82595238-B3A4-425D-8F63-EA818A723EBA}"/>
              </a:ext>
            </a:extLst>
          </p:cNvPr>
          <p:cNvSpPr/>
          <p:nvPr/>
        </p:nvSpPr>
        <p:spPr>
          <a:xfrm>
            <a:off x="2165678" y="5300300"/>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U</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sing FCC to monitor Period End Closing</a:t>
            </a:r>
          </a:p>
        </p:txBody>
      </p:sp>
      <p:cxnSp>
        <p:nvCxnSpPr>
          <p:cNvPr id="31" name="Elbow Connector 29">
            <a:extLst>
              <a:ext uri="{FF2B5EF4-FFF2-40B4-BE49-F238E27FC236}">
                <a16:creationId xmlns:a16="http://schemas.microsoft.com/office/drawing/2014/main" id="{E0F1186F-6C44-42C6-8C76-11C14DD7FCF2}"/>
              </a:ext>
            </a:extLst>
          </p:cNvPr>
          <p:cNvCxnSpPr>
            <a:cxnSpLocks/>
            <a:stCxn id="26" idx="6"/>
            <a:endCxn id="22" idx="1"/>
          </p:cNvCxnSpPr>
          <p:nvPr/>
        </p:nvCxnSpPr>
        <p:spPr>
          <a:xfrm>
            <a:off x="1854000" y="3443400"/>
            <a:ext cx="311678" cy="2098100"/>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26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dirty="0"/>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2165678" y="205833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JTI Period End Closing Model</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2165678" y="270201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Statutory and Tax Ledger Closing Principles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2165678" y="3345696"/>
            <a:ext cx="4725316"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Key Timings and Usage of Posting Periods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2165678" y="398937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 Glance of Period End Closing Process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2165678" y="463305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Period End Closing Key Focus Areas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943216"/>
            <a:ext cx="311678" cy="50018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a:off x="1854000" y="3443400"/>
            <a:ext cx="311678" cy="14349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311678" cy="78717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311678" cy="143085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299536"/>
            <a:ext cx="311678" cy="114386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F8DDD4B-FF11-4E91-9AC6-67C497D3E36D}"/>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rgbClr val="005955"/>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8E513AE1-BFE1-40E0-901D-3FF7A7E0B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00" y="3156545"/>
              <a:ext cx="687600" cy="687600"/>
            </a:xfrm>
            <a:prstGeom prst="rect">
              <a:avLst/>
            </a:prstGeom>
          </p:spPr>
        </p:pic>
      </p:grpSp>
      <p:sp>
        <p:nvSpPr>
          <p:cNvPr id="23" name="Rectangle: Rounded Corners 22">
            <a:extLst>
              <a:ext uri="{FF2B5EF4-FFF2-40B4-BE49-F238E27FC236}">
                <a16:creationId xmlns:a16="http://schemas.microsoft.com/office/drawing/2014/main" id="{2D339370-9F02-4D2B-B2E3-811609338D97}"/>
              </a:ext>
            </a:extLst>
          </p:cNvPr>
          <p:cNvSpPr/>
          <p:nvPr/>
        </p:nvSpPr>
        <p:spPr>
          <a:xfrm>
            <a:off x="8003952" y="3466964"/>
            <a:ext cx="3459043"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Overview of Key Closing Deadlines</a:t>
            </a:r>
          </a:p>
        </p:txBody>
      </p:sp>
      <p:sp>
        <p:nvSpPr>
          <p:cNvPr id="25" name="Rectangle: Rounded Corners 24">
            <a:extLst>
              <a:ext uri="{FF2B5EF4-FFF2-40B4-BE49-F238E27FC236}">
                <a16:creationId xmlns:a16="http://schemas.microsoft.com/office/drawing/2014/main" id="{72BDEF1A-6A88-43EB-86A4-5B3C0D5B8624}"/>
              </a:ext>
            </a:extLst>
          </p:cNvPr>
          <p:cNvSpPr/>
          <p:nvPr/>
        </p:nvSpPr>
        <p:spPr>
          <a:xfrm>
            <a:off x="8003952" y="4110644"/>
            <a:ext cx="3459043"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P14 STAT/TAX Year-End Process</a:t>
            </a:r>
          </a:p>
        </p:txBody>
      </p:sp>
      <p:cxnSp>
        <p:nvCxnSpPr>
          <p:cNvPr id="28" name="Elbow Connector 29">
            <a:extLst>
              <a:ext uri="{FF2B5EF4-FFF2-40B4-BE49-F238E27FC236}">
                <a16:creationId xmlns:a16="http://schemas.microsoft.com/office/drawing/2014/main" id="{930ED85A-F9D3-4197-99B4-9D5DDD5C27FE}"/>
              </a:ext>
            </a:extLst>
          </p:cNvPr>
          <p:cNvCxnSpPr>
            <a:cxnSpLocks/>
            <a:stCxn id="69" idx="3"/>
            <a:endCxn id="23" idx="1"/>
          </p:cNvCxnSpPr>
          <p:nvPr/>
        </p:nvCxnSpPr>
        <p:spPr>
          <a:xfrm>
            <a:off x="6890994" y="3586896"/>
            <a:ext cx="1112958" cy="12126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17968B4A-4C1D-4AF2-BD7F-01EA4E52C4FD}"/>
              </a:ext>
            </a:extLst>
          </p:cNvPr>
          <p:cNvCxnSpPr>
            <a:cxnSpLocks/>
            <a:stCxn id="69" idx="3"/>
            <a:endCxn id="25" idx="1"/>
          </p:cNvCxnSpPr>
          <p:nvPr/>
        </p:nvCxnSpPr>
        <p:spPr>
          <a:xfrm>
            <a:off x="6890994" y="3586896"/>
            <a:ext cx="1112958" cy="76494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AEEE6847-7ED2-4EFD-A552-4FA55FA96A65}"/>
              </a:ext>
            </a:extLst>
          </p:cNvPr>
          <p:cNvSpPr/>
          <p:nvPr/>
        </p:nvSpPr>
        <p:spPr>
          <a:xfrm>
            <a:off x="2165678" y="527673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U</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sing FCC to monitor Period End Closing</a:t>
            </a:r>
          </a:p>
        </p:txBody>
      </p:sp>
      <p:cxnSp>
        <p:nvCxnSpPr>
          <p:cNvPr id="35" name="Elbow Connector 29">
            <a:extLst>
              <a:ext uri="{FF2B5EF4-FFF2-40B4-BE49-F238E27FC236}">
                <a16:creationId xmlns:a16="http://schemas.microsoft.com/office/drawing/2014/main" id="{CE795366-90BF-4279-A5A5-023B991D435B}"/>
              </a:ext>
            </a:extLst>
          </p:cNvPr>
          <p:cNvCxnSpPr>
            <a:cxnSpLocks/>
            <a:stCxn id="26" idx="6"/>
            <a:endCxn id="33" idx="1"/>
          </p:cNvCxnSpPr>
          <p:nvPr/>
        </p:nvCxnSpPr>
        <p:spPr>
          <a:xfrm>
            <a:off x="1854000" y="3443400"/>
            <a:ext cx="311678" cy="207453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72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3D6394C-0CE0-4AB4-8AE7-031DE2FF61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dirty="0"/>
              <a:t>Key Period End Closing Timelines</a:t>
            </a:r>
            <a:endParaRPr lang="en-US" dirty="0"/>
          </a:p>
        </p:txBody>
      </p:sp>
      <p:sp>
        <p:nvSpPr>
          <p:cNvPr id="23" name="Rounded Rectangle 25">
            <a:extLst>
              <a:ext uri="{FF2B5EF4-FFF2-40B4-BE49-F238E27FC236}">
                <a16:creationId xmlns:a16="http://schemas.microsoft.com/office/drawing/2014/main" id="{F57DBABB-6D7B-4D62-89E6-DE260E32F75F}"/>
              </a:ext>
            </a:extLst>
          </p:cNvPr>
          <p:cNvSpPr/>
          <p:nvPr/>
        </p:nvSpPr>
        <p:spPr bwMode="gray">
          <a:xfrm>
            <a:off x="8400887" y="4555370"/>
            <a:ext cx="3643860" cy="1897354"/>
          </a:xfrm>
          <a:prstGeom prst="roundRect">
            <a:avLst>
              <a:gd name="adj" fmla="val 0"/>
            </a:avLst>
          </a:prstGeom>
          <a:solidFill>
            <a:schemeClr val="accent2">
              <a:lumMod val="40000"/>
              <a:lumOff val="6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sz="1200" b="1" i="0" u="sng" strike="noStrike" kern="1200" cap="none" spc="0" normalizeH="0" baseline="0" noProof="0" dirty="0">
                <a:ln>
                  <a:noFill/>
                </a:ln>
                <a:solidFill>
                  <a:prstClr val="black"/>
                </a:solidFill>
                <a:effectLst/>
                <a:uLnTx/>
                <a:uFillTx/>
                <a:latin typeface="Arial" panose="020B0604020202020204"/>
                <a:ea typeface="+mn-ea"/>
                <a:cs typeface="+mn-cs"/>
              </a:rPr>
              <a:t>Use of Posting Periods: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sng" strike="noStrike" kern="1200" cap="none" spc="0" normalizeH="0" baseline="0" noProof="0" dirty="0">
              <a:ln>
                <a:noFill/>
              </a:ln>
              <a:solidFill>
                <a:prstClr val="black"/>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Standard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Posting Periods </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P1-P12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to be used for bookings in IFRS and any compulsory monthly activities for STAT and TAX.</a:t>
            </a:r>
          </a:p>
          <a:p>
            <a:pPr marL="144000" marR="0" lvl="0" indent="-144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Special Posting Periods: P13-P16</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are sustained, however each has been assigned with a specific usage (see coming slides for further details).</a:t>
            </a:r>
          </a:p>
        </p:txBody>
      </p:sp>
      <p:sp>
        <p:nvSpPr>
          <p:cNvPr id="16" name="Shape 444">
            <a:extLst>
              <a:ext uri="{FF2B5EF4-FFF2-40B4-BE49-F238E27FC236}">
                <a16:creationId xmlns:a16="http://schemas.microsoft.com/office/drawing/2014/main" id="{28A1419B-8A54-44AD-92FA-E4BE5F2047DA}"/>
              </a:ext>
            </a:extLst>
          </p:cNvPr>
          <p:cNvSpPr/>
          <p:nvPr/>
        </p:nvSpPr>
        <p:spPr>
          <a:xfrm>
            <a:off x="8422387" y="4592397"/>
            <a:ext cx="288000" cy="277986"/>
          </a:xfrm>
          <a:custGeom>
            <a:avLst/>
            <a:gdLst/>
            <a:ahLst/>
            <a:cxnLst>
              <a:cxn ang="0">
                <a:pos x="wd2" y="hd2"/>
              </a:cxn>
              <a:cxn ang="5400000">
                <a:pos x="wd2" y="hd2"/>
              </a:cxn>
              <a:cxn ang="10800000">
                <a:pos x="wd2" y="hd2"/>
              </a:cxn>
              <a:cxn ang="16200000">
                <a:pos x="wd2" y="hd2"/>
              </a:cxn>
            </a:cxnLst>
            <a:rect l="0" t="0" r="r" b="b"/>
            <a:pathLst>
              <a:path w="21600" h="21600" extrusionOk="0">
                <a:moveTo>
                  <a:pt x="1256" y="2769"/>
                </a:moveTo>
                <a:cubicBezTo>
                  <a:pt x="3516" y="2769"/>
                  <a:pt x="3516" y="2769"/>
                  <a:pt x="3516" y="2769"/>
                </a:cubicBezTo>
                <a:cubicBezTo>
                  <a:pt x="3516" y="2492"/>
                  <a:pt x="3516" y="2492"/>
                  <a:pt x="3516" y="2492"/>
                </a:cubicBezTo>
                <a:cubicBezTo>
                  <a:pt x="3516" y="1662"/>
                  <a:pt x="3516" y="1108"/>
                  <a:pt x="4019" y="831"/>
                </a:cubicBezTo>
                <a:cubicBezTo>
                  <a:pt x="4521" y="277"/>
                  <a:pt x="5023" y="0"/>
                  <a:pt x="5526" y="0"/>
                </a:cubicBezTo>
                <a:cubicBezTo>
                  <a:pt x="5526" y="0"/>
                  <a:pt x="5526" y="0"/>
                  <a:pt x="5526" y="0"/>
                </a:cubicBezTo>
                <a:cubicBezTo>
                  <a:pt x="6028" y="0"/>
                  <a:pt x="6530" y="277"/>
                  <a:pt x="7033" y="831"/>
                </a:cubicBezTo>
                <a:cubicBezTo>
                  <a:pt x="7284" y="1108"/>
                  <a:pt x="7535" y="1662"/>
                  <a:pt x="7535" y="2492"/>
                </a:cubicBezTo>
                <a:cubicBezTo>
                  <a:pt x="7535" y="2769"/>
                  <a:pt x="7535" y="2769"/>
                  <a:pt x="7535" y="2769"/>
                </a:cubicBezTo>
                <a:cubicBezTo>
                  <a:pt x="8791" y="2769"/>
                  <a:pt x="8791" y="2769"/>
                  <a:pt x="8791" y="2769"/>
                </a:cubicBezTo>
                <a:cubicBezTo>
                  <a:pt x="8791" y="2492"/>
                  <a:pt x="8791" y="2492"/>
                  <a:pt x="8791" y="2492"/>
                </a:cubicBezTo>
                <a:cubicBezTo>
                  <a:pt x="8791" y="1662"/>
                  <a:pt x="9042" y="1108"/>
                  <a:pt x="9293" y="831"/>
                </a:cubicBezTo>
                <a:cubicBezTo>
                  <a:pt x="9795" y="277"/>
                  <a:pt x="10298" y="0"/>
                  <a:pt x="10800" y="0"/>
                </a:cubicBezTo>
                <a:cubicBezTo>
                  <a:pt x="10800" y="0"/>
                  <a:pt x="10800" y="0"/>
                  <a:pt x="10800" y="0"/>
                </a:cubicBezTo>
                <a:cubicBezTo>
                  <a:pt x="11553" y="0"/>
                  <a:pt x="12056" y="277"/>
                  <a:pt x="12307" y="831"/>
                </a:cubicBezTo>
                <a:cubicBezTo>
                  <a:pt x="12809" y="1108"/>
                  <a:pt x="13060" y="1662"/>
                  <a:pt x="13060" y="2492"/>
                </a:cubicBezTo>
                <a:cubicBezTo>
                  <a:pt x="13060" y="2769"/>
                  <a:pt x="13060" y="2769"/>
                  <a:pt x="13060" y="2769"/>
                </a:cubicBezTo>
                <a:cubicBezTo>
                  <a:pt x="14065" y="2769"/>
                  <a:pt x="14065" y="2769"/>
                  <a:pt x="14065" y="2769"/>
                </a:cubicBezTo>
                <a:cubicBezTo>
                  <a:pt x="14065" y="2492"/>
                  <a:pt x="14065" y="2492"/>
                  <a:pt x="14065" y="2492"/>
                </a:cubicBezTo>
                <a:cubicBezTo>
                  <a:pt x="14065" y="1662"/>
                  <a:pt x="14316" y="1108"/>
                  <a:pt x="14567" y="831"/>
                </a:cubicBezTo>
                <a:cubicBezTo>
                  <a:pt x="15070" y="277"/>
                  <a:pt x="15572" y="0"/>
                  <a:pt x="16074" y="0"/>
                </a:cubicBezTo>
                <a:cubicBezTo>
                  <a:pt x="16074" y="0"/>
                  <a:pt x="16074" y="0"/>
                  <a:pt x="16074" y="0"/>
                </a:cubicBezTo>
                <a:cubicBezTo>
                  <a:pt x="16828" y="0"/>
                  <a:pt x="17330" y="277"/>
                  <a:pt x="17581" y="831"/>
                </a:cubicBezTo>
                <a:cubicBezTo>
                  <a:pt x="18084" y="1108"/>
                  <a:pt x="18335" y="1662"/>
                  <a:pt x="18335" y="2492"/>
                </a:cubicBezTo>
                <a:cubicBezTo>
                  <a:pt x="18335" y="2769"/>
                  <a:pt x="18335" y="2769"/>
                  <a:pt x="18335" y="2769"/>
                </a:cubicBezTo>
                <a:cubicBezTo>
                  <a:pt x="20344" y="2769"/>
                  <a:pt x="20344" y="2769"/>
                  <a:pt x="20344" y="2769"/>
                </a:cubicBezTo>
                <a:cubicBezTo>
                  <a:pt x="21600" y="2769"/>
                  <a:pt x="21600" y="2769"/>
                  <a:pt x="21600" y="2769"/>
                </a:cubicBezTo>
                <a:cubicBezTo>
                  <a:pt x="21600" y="4154"/>
                  <a:pt x="21600" y="4154"/>
                  <a:pt x="21600" y="4154"/>
                </a:cubicBezTo>
                <a:cubicBezTo>
                  <a:pt x="21600" y="20215"/>
                  <a:pt x="21600" y="20215"/>
                  <a:pt x="21600" y="20215"/>
                </a:cubicBezTo>
                <a:cubicBezTo>
                  <a:pt x="21600" y="21600"/>
                  <a:pt x="21600" y="21600"/>
                  <a:pt x="21600" y="21600"/>
                </a:cubicBezTo>
                <a:cubicBezTo>
                  <a:pt x="20344" y="21600"/>
                  <a:pt x="20344" y="21600"/>
                  <a:pt x="20344" y="21600"/>
                </a:cubicBezTo>
                <a:cubicBezTo>
                  <a:pt x="6028" y="21600"/>
                  <a:pt x="6028" y="21600"/>
                  <a:pt x="6028" y="21600"/>
                </a:cubicBezTo>
                <a:cubicBezTo>
                  <a:pt x="5777" y="21600"/>
                  <a:pt x="5777" y="21600"/>
                  <a:pt x="5777" y="21600"/>
                </a:cubicBezTo>
                <a:cubicBezTo>
                  <a:pt x="5526" y="21600"/>
                  <a:pt x="5526" y="21600"/>
                  <a:pt x="5526" y="21600"/>
                </a:cubicBezTo>
                <a:cubicBezTo>
                  <a:pt x="753" y="19662"/>
                  <a:pt x="753" y="19662"/>
                  <a:pt x="753" y="19662"/>
                </a:cubicBezTo>
                <a:cubicBezTo>
                  <a:pt x="0" y="19108"/>
                  <a:pt x="0" y="19108"/>
                  <a:pt x="0" y="19108"/>
                </a:cubicBezTo>
                <a:cubicBezTo>
                  <a:pt x="0" y="18277"/>
                  <a:pt x="0" y="18277"/>
                  <a:pt x="0" y="18277"/>
                </a:cubicBezTo>
                <a:cubicBezTo>
                  <a:pt x="0" y="4154"/>
                  <a:pt x="0" y="4154"/>
                  <a:pt x="0" y="4154"/>
                </a:cubicBezTo>
                <a:cubicBezTo>
                  <a:pt x="0" y="2769"/>
                  <a:pt x="0" y="2769"/>
                  <a:pt x="0" y="2769"/>
                </a:cubicBezTo>
                <a:cubicBezTo>
                  <a:pt x="1256" y="2769"/>
                  <a:pt x="1256" y="2769"/>
                  <a:pt x="1256" y="2769"/>
                </a:cubicBezTo>
                <a:close/>
                <a:moveTo>
                  <a:pt x="2512" y="16338"/>
                </a:moveTo>
                <a:cubicBezTo>
                  <a:pt x="3767" y="15508"/>
                  <a:pt x="3767" y="15508"/>
                  <a:pt x="3767" y="15508"/>
                </a:cubicBezTo>
                <a:cubicBezTo>
                  <a:pt x="4270" y="15231"/>
                  <a:pt x="4270" y="15231"/>
                  <a:pt x="4270" y="15231"/>
                </a:cubicBezTo>
                <a:cubicBezTo>
                  <a:pt x="4521" y="15785"/>
                  <a:pt x="4521" y="15785"/>
                  <a:pt x="4521" y="15785"/>
                </a:cubicBezTo>
                <a:cubicBezTo>
                  <a:pt x="7033" y="18831"/>
                  <a:pt x="7033" y="18831"/>
                  <a:pt x="7033" y="18831"/>
                </a:cubicBezTo>
                <a:cubicBezTo>
                  <a:pt x="19088" y="18831"/>
                  <a:pt x="19088" y="18831"/>
                  <a:pt x="19088" y="18831"/>
                </a:cubicBezTo>
                <a:cubicBezTo>
                  <a:pt x="19088" y="5538"/>
                  <a:pt x="19088" y="5538"/>
                  <a:pt x="19088" y="5538"/>
                </a:cubicBezTo>
                <a:cubicBezTo>
                  <a:pt x="18335" y="5538"/>
                  <a:pt x="18335" y="5538"/>
                  <a:pt x="18335" y="5538"/>
                </a:cubicBezTo>
                <a:cubicBezTo>
                  <a:pt x="18335" y="5815"/>
                  <a:pt x="18335" y="5815"/>
                  <a:pt x="18335" y="5815"/>
                </a:cubicBezTo>
                <a:cubicBezTo>
                  <a:pt x="18335" y="6369"/>
                  <a:pt x="18084" y="6923"/>
                  <a:pt x="17581" y="7477"/>
                </a:cubicBezTo>
                <a:cubicBezTo>
                  <a:pt x="17330" y="8031"/>
                  <a:pt x="16828" y="8031"/>
                  <a:pt x="16074" y="8031"/>
                </a:cubicBezTo>
                <a:cubicBezTo>
                  <a:pt x="16074" y="8031"/>
                  <a:pt x="16074" y="8031"/>
                  <a:pt x="16074" y="8031"/>
                </a:cubicBezTo>
                <a:cubicBezTo>
                  <a:pt x="15572" y="8031"/>
                  <a:pt x="15070" y="8031"/>
                  <a:pt x="14567" y="7477"/>
                </a:cubicBezTo>
                <a:cubicBezTo>
                  <a:pt x="14316" y="6923"/>
                  <a:pt x="14065" y="6369"/>
                  <a:pt x="14065" y="5815"/>
                </a:cubicBezTo>
                <a:cubicBezTo>
                  <a:pt x="14065" y="5538"/>
                  <a:pt x="14065" y="5538"/>
                  <a:pt x="14065" y="5538"/>
                </a:cubicBezTo>
                <a:cubicBezTo>
                  <a:pt x="13060" y="5538"/>
                  <a:pt x="13060" y="5538"/>
                  <a:pt x="13060" y="5538"/>
                </a:cubicBezTo>
                <a:cubicBezTo>
                  <a:pt x="13060" y="5815"/>
                  <a:pt x="13060" y="5815"/>
                  <a:pt x="13060" y="5815"/>
                </a:cubicBezTo>
                <a:cubicBezTo>
                  <a:pt x="13060" y="6369"/>
                  <a:pt x="12809" y="6923"/>
                  <a:pt x="12307" y="7477"/>
                </a:cubicBezTo>
                <a:cubicBezTo>
                  <a:pt x="12056" y="8031"/>
                  <a:pt x="11553" y="8031"/>
                  <a:pt x="10800" y="8031"/>
                </a:cubicBezTo>
                <a:cubicBezTo>
                  <a:pt x="10800" y="8031"/>
                  <a:pt x="10800" y="8031"/>
                  <a:pt x="10800" y="8031"/>
                </a:cubicBezTo>
                <a:cubicBezTo>
                  <a:pt x="10298" y="8031"/>
                  <a:pt x="9795" y="8031"/>
                  <a:pt x="9293" y="7477"/>
                </a:cubicBezTo>
                <a:cubicBezTo>
                  <a:pt x="9042" y="6923"/>
                  <a:pt x="8791" y="6369"/>
                  <a:pt x="8791" y="5815"/>
                </a:cubicBezTo>
                <a:cubicBezTo>
                  <a:pt x="8791" y="5538"/>
                  <a:pt x="8791" y="5538"/>
                  <a:pt x="8791" y="5538"/>
                </a:cubicBezTo>
                <a:cubicBezTo>
                  <a:pt x="7535" y="5538"/>
                  <a:pt x="7535" y="5538"/>
                  <a:pt x="7535" y="5538"/>
                </a:cubicBezTo>
                <a:cubicBezTo>
                  <a:pt x="7535" y="5815"/>
                  <a:pt x="7535" y="5815"/>
                  <a:pt x="7535" y="5815"/>
                </a:cubicBezTo>
                <a:cubicBezTo>
                  <a:pt x="7535" y="6369"/>
                  <a:pt x="7284" y="6923"/>
                  <a:pt x="7033" y="7477"/>
                </a:cubicBezTo>
                <a:cubicBezTo>
                  <a:pt x="6530" y="8031"/>
                  <a:pt x="6028" y="8031"/>
                  <a:pt x="5526" y="8031"/>
                </a:cubicBezTo>
                <a:cubicBezTo>
                  <a:pt x="5526" y="8031"/>
                  <a:pt x="5526" y="8031"/>
                  <a:pt x="5526" y="8031"/>
                </a:cubicBezTo>
                <a:cubicBezTo>
                  <a:pt x="5023" y="8031"/>
                  <a:pt x="4521" y="8031"/>
                  <a:pt x="4019" y="7477"/>
                </a:cubicBezTo>
                <a:cubicBezTo>
                  <a:pt x="3516" y="6923"/>
                  <a:pt x="3516" y="6369"/>
                  <a:pt x="3516" y="5815"/>
                </a:cubicBezTo>
                <a:cubicBezTo>
                  <a:pt x="3516" y="5538"/>
                  <a:pt x="3516" y="5538"/>
                  <a:pt x="3516" y="5538"/>
                </a:cubicBezTo>
                <a:cubicBezTo>
                  <a:pt x="2512" y="5538"/>
                  <a:pt x="2512" y="5538"/>
                  <a:pt x="2512" y="5538"/>
                </a:cubicBezTo>
                <a:cubicBezTo>
                  <a:pt x="2512" y="16338"/>
                  <a:pt x="2512" y="16338"/>
                  <a:pt x="2512" y="16338"/>
                </a:cubicBezTo>
                <a:close/>
                <a:moveTo>
                  <a:pt x="5023" y="18554"/>
                </a:moveTo>
                <a:cubicBezTo>
                  <a:pt x="4019" y="17169"/>
                  <a:pt x="4019" y="17169"/>
                  <a:pt x="4019" y="17169"/>
                </a:cubicBezTo>
                <a:cubicBezTo>
                  <a:pt x="3265" y="17723"/>
                  <a:pt x="3265" y="17723"/>
                  <a:pt x="3265" y="17723"/>
                </a:cubicBezTo>
                <a:cubicBezTo>
                  <a:pt x="5023" y="18554"/>
                  <a:pt x="5023" y="18554"/>
                  <a:pt x="5023" y="18554"/>
                </a:cubicBezTo>
                <a:close/>
                <a:moveTo>
                  <a:pt x="13563" y="13569"/>
                </a:moveTo>
                <a:cubicBezTo>
                  <a:pt x="13563" y="15508"/>
                  <a:pt x="13563" y="15508"/>
                  <a:pt x="13563" y="15508"/>
                </a:cubicBezTo>
                <a:cubicBezTo>
                  <a:pt x="16577" y="15508"/>
                  <a:pt x="16577" y="15508"/>
                  <a:pt x="16577" y="15508"/>
                </a:cubicBezTo>
                <a:cubicBezTo>
                  <a:pt x="16577" y="13569"/>
                  <a:pt x="16577" y="13569"/>
                  <a:pt x="16577" y="13569"/>
                </a:cubicBezTo>
                <a:cubicBezTo>
                  <a:pt x="13563" y="13569"/>
                  <a:pt x="13563" y="13569"/>
                  <a:pt x="13563" y="13569"/>
                </a:cubicBezTo>
                <a:close/>
                <a:moveTo>
                  <a:pt x="9544" y="13569"/>
                </a:moveTo>
                <a:cubicBezTo>
                  <a:pt x="9544" y="15508"/>
                  <a:pt x="9544" y="15508"/>
                  <a:pt x="9544" y="15508"/>
                </a:cubicBezTo>
                <a:cubicBezTo>
                  <a:pt x="12307" y="15508"/>
                  <a:pt x="12307" y="15508"/>
                  <a:pt x="12307" y="15508"/>
                </a:cubicBezTo>
                <a:cubicBezTo>
                  <a:pt x="12307" y="13569"/>
                  <a:pt x="12307" y="13569"/>
                  <a:pt x="12307" y="13569"/>
                </a:cubicBezTo>
                <a:cubicBezTo>
                  <a:pt x="9544" y="13569"/>
                  <a:pt x="9544" y="13569"/>
                  <a:pt x="9544" y="13569"/>
                </a:cubicBezTo>
                <a:close/>
                <a:moveTo>
                  <a:pt x="5023" y="13569"/>
                </a:moveTo>
                <a:cubicBezTo>
                  <a:pt x="5023" y="15508"/>
                  <a:pt x="5023" y="15508"/>
                  <a:pt x="5023" y="15508"/>
                </a:cubicBezTo>
                <a:cubicBezTo>
                  <a:pt x="8037" y="15508"/>
                  <a:pt x="8037" y="15508"/>
                  <a:pt x="8037" y="15508"/>
                </a:cubicBezTo>
                <a:cubicBezTo>
                  <a:pt x="8037" y="13569"/>
                  <a:pt x="8037" y="13569"/>
                  <a:pt x="8037" y="13569"/>
                </a:cubicBezTo>
                <a:cubicBezTo>
                  <a:pt x="5023" y="13569"/>
                  <a:pt x="5023" y="13569"/>
                  <a:pt x="5023" y="13569"/>
                </a:cubicBezTo>
                <a:close/>
                <a:moveTo>
                  <a:pt x="13563" y="9969"/>
                </a:moveTo>
                <a:cubicBezTo>
                  <a:pt x="13563" y="11908"/>
                  <a:pt x="13563" y="11908"/>
                  <a:pt x="13563" y="11908"/>
                </a:cubicBezTo>
                <a:cubicBezTo>
                  <a:pt x="16577" y="11908"/>
                  <a:pt x="16577" y="11908"/>
                  <a:pt x="16577" y="11908"/>
                </a:cubicBezTo>
                <a:cubicBezTo>
                  <a:pt x="16577" y="9969"/>
                  <a:pt x="16577" y="9969"/>
                  <a:pt x="16577" y="9969"/>
                </a:cubicBezTo>
                <a:cubicBezTo>
                  <a:pt x="13563" y="9969"/>
                  <a:pt x="13563" y="9969"/>
                  <a:pt x="13563" y="9969"/>
                </a:cubicBezTo>
                <a:close/>
                <a:moveTo>
                  <a:pt x="9544" y="9969"/>
                </a:moveTo>
                <a:cubicBezTo>
                  <a:pt x="9544" y="11908"/>
                  <a:pt x="9544" y="11908"/>
                  <a:pt x="9544" y="11908"/>
                </a:cubicBezTo>
                <a:cubicBezTo>
                  <a:pt x="12307" y="11908"/>
                  <a:pt x="12307" y="11908"/>
                  <a:pt x="12307" y="11908"/>
                </a:cubicBezTo>
                <a:cubicBezTo>
                  <a:pt x="12307" y="9969"/>
                  <a:pt x="12307" y="9969"/>
                  <a:pt x="12307" y="9969"/>
                </a:cubicBezTo>
                <a:cubicBezTo>
                  <a:pt x="9544" y="9969"/>
                  <a:pt x="9544" y="9969"/>
                  <a:pt x="9544" y="9969"/>
                </a:cubicBezTo>
                <a:close/>
                <a:moveTo>
                  <a:pt x="5023" y="9969"/>
                </a:moveTo>
                <a:cubicBezTo>
                  <a:pt x="5023" y="11908"/>
                  <a:pt x="5023" y="11908"/>
                  <a:pt x="5023" y="11908"/>
                </a:cubicBezTo>
                <a:cubicBezTo>
                  <a:pt x="8037" y="11908"/>
                  <a:pt x="8037" y="11908"/>
                  <a:pt x="8037" y="11908"/>
                </a:cubicBezTo>
                <a:cubicBezTo>
                  <a:pt x="8037" y="9969"/>
                  <a:pt x="8037" y="9969"/>
                  <a:pt x="8037" y="9969"/>
                </a:cubicBezTo>
                <a:cubicBezTo>
                  <a:pt x="5023" y="9969"/>
                  <a:pt x="5023" y="9969"/>
                  <a:pt x="5023" y="9969"/>
                </a:cubicBezTo>
                <a:close/>
                <a:moveTo>
                  <a:pt x="16074" y="1385"/>
                </a:moveTo>
                <a:cubicBezTo>
                  <a:pt x="16074" y="1385"/>
                  <a:pt x="16074" y="1385"/>
                  <a:pt x="16074" y="1385"/>
                </a:cubicBezTo>
                <a:cubicBezTo>
                  <a:pt x="15823" y="1385"/>
                  <a:pt x="15823" y="1385"/>
                  <a:pt x="15572" y="1662"/>
                </a:cubicBezTo>
                <a:cubicBezTo>
                  <a:pt x="15321" y="1938"/>
                  <a:pt x="15321" y="2215"/>
                  <a:pt x="15321" y="2492"/>
                </a:cubicBezTo>
                <a:cubicBezTo>
                  <a:pt x="15321" y="5815"/>
                  <a:pt x="15321" y="5815"/>
                  <a:pt x="15321" y="5815"/>
                </a:cubicBezTo>
                <a:cubicBezTo>
                  <a:pt x="15321" y="6092"/>
                  <a:pt x="15321" y="6369"/>
                  <a:pt x="15572" y="6369"/>
                </a:cubicBezTo>
                <a:cubicBezTo>
                  <a:pt x="15823" y="6646"/>
                  <a:pt x="15823" y="6923"/>
                  <a:pt x="16074" y="6923"/>
                </a:cubicBezTo>
                <a:cubicBezTo>
                  <a:pt x="16074" y="6923"/>
                  <a:pt x="16074" y="6923"/>
                  <a:pt x="16074" y="6923"/>
                </a:cubicBezTo>
                <a:cubicBezTo>
                  <a:pt x="16326" y="6923"/>
                  <a:pt x="16577" y="6646"/>
                  <a:pt x="16828" y="6369"/>
                </a:cubicBezTo>
                <a:cubicBezTo>
                  <a:pt x="16828" y="6369"/>
                  <a:pt x="17079" y="6092"/>
                  <a:pt x="17079" y="5815"/>
                </a:cubicBezTo>
                <a:cubicBezTo>
                  <a:pt x="17079" y="2492"/>
                  <a:pt x="17079" y="2492"/>
                  <a:pt x="17079" y="2492"/>
                </a:cubicBezTo>
                <a:cubicBezTo>
                  <a:pt x="17079" y="2215"/>
                  <a:pt x="16828" y="1938"/>
                  <a:pt x="16828" y="1662"/>
                </a:cubicBezTo>
                <a:cubicBezTo>
                  <a:pt x="16577" y="1385"/>
                  <a:pt x="16326" y="1385"/>
                  <a:pt x="16074" y="1385"/>
                </a:cubicBezTo>
                <a:close/>
                <a:moveTo>
                  <a:pt x="10800" y="1385"/>
                </a:moveTo>
                <a:cubicBezTo>
                  <a:pt x="10800" y="1385"/>
                  <a:pt x="10800" y="1385"/>
                  <a:pt x="10800" y="1385"/>
                </a:cubicBezTo>
                <a:cubicBezTo>
                  <a:pt x="10549" y="1385"/>
                  <a:pt x="10549" y="1385"/>
                  <a:pt x="10298" y="1662"/>
                </a:cubicBezTo>
                <a:cubicBezTo>
                  <a:pt x="10047" y="1938"/>
                  <a:pt x="10047" y="2215"/>
                  <a:pt x="10047" y="2492"/>
                </a:cubicBezTo>
                <a:cubicBezTo>
                  <a:pt x="10047" y="5815"/>
                  <a:pt x="10047" y="5815"/>
                  <a:pt x="10047" y="5815"/>
                </a:cubicBezTo>
                <a:cubicBezTo>
                  <a:pt x="10047" y="6092"/>
                  <a:pt x="10047" y="6369"/>
                  <a:pt x="10298" y="6369"/>
                </a:cubicBezTo>
                <a:cubicBezTo>
                  <a:pt x="10549" y="6646"/>
                  <a:pt x="10549" y="6923"/>
                  <a:pt x="10800" y="6923"/>
                </a:cubicBezTo>
                <a:cubicBezTo>
                  <a:pt x="10800" y="6923"/>
                  <a:pt x="10800" y="6923"/>
                  <a:pt x="10800" y="6923"/>
                </a:cubicBezTo>
                <a:cubicBezTo>
                  <a:pt x="11051" y="6923"/>
                  <a:pt x="11302" y="6646"/>
                  <a:pt x="11553" y="6369"/>
                </a:cubicBezTo>
                <a:cubicBezTo>
                  <a:pt x="11553" y="6369"/>
                  <a:pt x="11805" y="6092"/>
                  <a:pt x="11805" y="5815"/>
                </a:cubicBezTo>
                <a:cubicBezTo>
                  <a:pt x="11805" y="2492"/>
                  <a:pt x="11805" y="2492"/>
                  <a:pt x="11805" y="2492"/>
                </a:cubicBezTo>
                <a:cubicBezTo>
                  <a:pt x="11805" y="2215"/>
                  <a:pt x="11553" y="1938"/>
                  <a:pt x="11553" y="1662"/>
                </a:cubicBezTo>
                <a:cubicBezTo>
                  <a:pt x="11302" y="1385"/>
                  <a:pt x="11051" y="1385"/>
                  <a:pt x="10800" y="1385"/>
                </a:cubicBezTo>
                <a:close/>
                <a:moveTo>
                  <a:pt x="5526" y="1385"/>
                </a:moveTo>
                <a:cubicBezTo>
                  <a:pt x="5526" y="1385"/>
                  <a:pt x="5526" y="1385"/>
                  <a:pt x="5526" y="1385"/>
                </a:cubicBezTo>
                <a:cubicBezTo>
                  <a:pt x="5274" y="1385"/>
                  <a:pt x="5023" y="1385"/>
                  <a:pt x="5023" y="1662"/>
                </a:cubicBezTo>
                <a:cubicBezTo>
                  <a:pt x="4772" y="1938"/>
                  <a:pt x="4772" y="2215"/>
                  <a:pt x="4772" y="2492"/>
                </a:cubicBezTo>
                <a:cubicBezTo>
                  <a:pt x="4772" y="5815"/>
                  <a:pt x="4772" y="5815"/>
                  <a:pt x="4772" y="5815"/>
                </a:cubicBezTo>
                <a:cubicBezTo>
                  <a:pt x="4772" y="6092"/>
                  <a:pt x="4772" y="6369"/>
                  <a:pt x="5023" y="6369"/>
                </a:cubicBezTo>
                <a:cubicBezTo>
                  <a:pt x="5023" y="6646"/>
                  <a:pt x="5274" y="6923"/>
                  <a:pt x="5526" y="6923"/>
                </a:cubicBezTo>
                <a:cubicBezTo>
                  <a:pt x="5526" y="6923"/>
                  <a:pt x="5526" y="6923"/>
                  <a:pt x="5526" y="6923"/>
                </a:cubicBezTo>
                <a:cubicBezTo>
                  <a:pt x="5777" y="6923"/>
                  <a:pt x="6028" y="6646"/>
                  <a:pt x="6028" y="6369"/>
                </a:cubicBezTo>
                <a:cubicBezTo>
                  <a:pt x="6279" y="6369"/>
                  <a:pt x="6279" y="6092"/>
                  <a:pt x="6279" y="5815"/>
                </a:cubicBezTo>
                <a:cubicBezTo>
                  <a:pt x="6279" y="2492"/>
                  <a:pt x="6279" y="2492"/>
                  <a:pt x="6279" y="2492"/>
                </a:cubicBezTo>
                <a:cubicBezTo>
                  <a:pt x="6279" y="2215"/>
                  <a:pt x="6279" y="1938"/>
                  <a:pt x="6028" y="1662"/>
                </a:cubicBezTo>
                <a:cubicBezTo>
                  <a:pt x="6028" y="1385"/>
                  <a:pt x="5777" y="1385"/>
                  <a:pt x="5526" y="1385"/>
                </a:cubicBezTo>
                <a:close/>
              </a:path>
            </a:pathLst>
          </a:custGeom>
          <a:solidFill>
            <a:schemeClr val="tx1"/>
          </a:solidFill>
          <a:ln w="12700">
            <a:miter lim="400000"/>
          </a:ln>
          <a:effectLst>
            <a:outerShdw blurRad="50800" dist="38100" dir="2700000" algn="tl" rotWithShape="0">
              <a:prstClr val="black">
                <a:alpha val="40000"/>
              </a:prstClr>
            </a:outerShdw>
          </a:effectLst>
        </p:spPr>
        <p:txBody>
          <a:bodyPr tIns="91439" bIns="91439"/>
          <a:lstStyle/>
          <a:p>
            <a:pPr marL="0" marR="0" lvl="0" indent="0" algn="l" defTabSz="914400" rtl="0" eaLnBrk="1" fontAlgn="auto" latinLnBrk="0" hangingPunct="1">
              <a:lnSpc>
                <a:spcPct val="100000"/>
              </a:lnSpc>
              <a:spcBef>
                <a:spcPts val="0"/>
              </a:spcBef>
              <a:spcAft>
                <a:spcPts val="0"/>
              </a:spcAft>
              <a:buClrTx/>
              <a:buSzTx/>
              <a:buFontTx/>
              <a:buNone/>
              <a:tabLst/>
              <a:defRPr sz="3600">
                <a:latin typeface="Trebuchet MS"/>
                <a:ea typeface="Trebuchet MS"/>
                <a:cs typeface="Trebuchet MS"/>
                <a:sym typeface="Trebuchet MS"/>
              </a:defRPr>
            </a:pPr>
            <a:endParaRPr kumimoji="0" sz="3600" b="0" i="0" u="none" strike="noStrike" kern="1200" cap="none" spc="0" normalizeH="0" baseline="0" noProof="0">
              <a:ln>
                <a:noFill/>
              </a:ln>
              <a:solidFill>
                <a:srgbClr val="000000"/>
              </a:solidFill>
              <a:effectLst/>
              <a:uLnTx/>
              <a:uFillTx/>
              <a:latin typeface="Trebuchet MS"/>
              <a:sym typeface="Trebuchet MS"/>
            </a:endParaRPr>
          </a:p>
        </p:txBody>
      </p:sp>
      <p:pic>
        <p:nvPicPr>
          <p:cNvPr id="3" name="Picture 2">
            <a:extLst>
              <a:ext uri="{FF2B5EF4-FFF2-40B4-BE49-F238E27FC236}">
                <a16:creationId xmlns:a16="http://schemas.microsoft.com/office/drawing/2014/main" id="{97A97D46-A729-44C0-A942-E35B6876FCD6}"/>
              </a:ext>
            </a:extLst>
          </p:cNvPr>
          <p:cNvPicPr>
            <a:picLocks noChangeAspect="1"/>
          </p:cNvPicPr>
          <p:nvPr/>
        </p:nvPicPr>
        <p:blipFill>
          <a:blip r:embed="rId2"/>
          <a:stretch>
            <a:fillRect/>
          </a:stretch>
        </p:blipFill>
        <p:spPr>
          <a:xfrm>
            <a:off x="662724" y="1361449"/>
            <a:ext cx="11529276" cy="3181294"/>
          </a:xfrm>
          <a:prstGeom prst="rect">
            <a:avLst/>
          </a:prstGeom>
        </p:spPr>
      </p:pic>
      <p:sp>
        <p:nvSpPr>
          <p:cNvPr id="22" name="Rounded Rectangle 19">
            <a:extLst>
              <a:ext uri="{FF2B5EF4-FFF2-40B4-BE49-F238E27FC236}">
                <a16:creationId xmlns:a16="http://schemas.microsoft.com/office/drawing/2014/main" id="{1FAEDCF0-D3A7-42AC-B7A5-8CD9CDECE6C6}"/>
              </a:ext>
            </a:extLst>
          </p:cNvPr>
          <p:cNvSpPr/>
          <p:nvPr/>
        </p:nvSpPr>
        <p:spPr bwMode="gray">
          <a:xfrm>
            <a:off x="3817523" y="3657696"/>
            <a:ext cx="4405230" cy="3083737"/>
          </a:xfrm>
          <a:prstGeom prst="roundRect">
            <a:avLst>
              <a:gd name="adj" fmla="val 1381"/>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tIns="108000" rtlCol="0" anchor="t" anchorCtr="0"/>
          <a:lstStyle/>
          <a:p>
            <a:pPr marL="0" marR="0" lvl="0" indent="0" algn="l" defTabSz="301532" rtl="0" eaLnBrk="1" fontAlgn="base" latinLnBrk="0" hangingPunct="1">
              <a:lnSpc>
                <a:spcPct val="100000"/>
              </a:lnSpc>
              <a:spcBef>
                <a:spcPct val="0"/>
              </a:spcBef>
              <a:spcAft>
                <a:spcPct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sz="1200" b="1" i="0" u="sng" strike="noStrike" kern="1200" cap="none" spc="0" normalizeH="0" baseline="0" noProof="0" dirty="0">
                <a:ln>
                  <a:noFill/>
                </a:ln>
                <a:solidFill>
                  <a:prstClr val="black"/>
                </a:solidFill>
                <a:effectLst/>
                <a:uLnTx/>
                <a:uFillTx/>
                <a:latin typeface="Arial" panose="020B0604020202020204"/>
                <a:ea typeface="+mn-ea"/>
                <a:cs typeface="+mn-cs"/>
              </a:rPr>
              <a:t>Annual ledger closing:</a:t>
            </a:r>
          </a:p>
          <a:p>
            <a:pPr marL="0" marR="0" lvl="0" indent="0" algn="l" defTabSz="301532" rtl="0" eaLnBrk="1" fontAlgn="base" latinLnBrk="0" hangingPunct="1">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44000" marR="0" lvl="0" indent="-14400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Although we reserved special posting period P13 as a placeholder for IFRS reporting adjustments, based on JTI practices </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with the close of P12 on WD3 in January, IFRS ledger is closed and ready for annual reporting. </a:t>
            </a:r>
          </a:p>
          <a:p>
            <a:pPr marL="144000" marR="0" lvl="0" indent="-14400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Statutory Ledger</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closing cut-off -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end June</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for YE manual ledger specific postings (FA, ML–COGM, AP, AR, CM, FSCM will need to be closed as per monthly calendar).</a:t>
            </a:r>
          </a:p>
          <a:p>
            <a:pPr marL="144000" marR="0" lvl="0" indent="-14400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Statutory Extension ledger S1</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closed only annually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 end of June</a:t>
            </a:r>
            <a:r>
              <a:rPr kumimoji="0" lang="en-GB" sz="1200" b="0" i="0" u="none" strike="noStrike" kern="1200" cap="none" spc="0" normalizeH="0" baseline="0" noProof="0" dirty="0">
                <a:ln>
                  <a:noFill/>
                </a:ln>
                <a:solidFill>
                  <a:srgbClr val="1A3040"/>
                </a:solidFill>
                <a:effectLst/>
                <a:uLnTx/>
                <a:uFillTx/>
                <a:latin typeface="Arial" panose="020B0604020202020204"/>
                <a:ea typeface="+mn-ea"/>
                <a:cs typeface="+mn-cs"/>
              </a:rPr>
              <a:t>.</a:t>
            </a:r>
            <a:endPar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144000" marR="0" lvl="0" indent="-14400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Tax Ledger</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closing cut-off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end September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for YE manual ledger specific postings (FA, ML -COGM, AP, AR, CM, FSCM will need to be closed as per monthly calendar).</a:t>
            </a:r>
          </a:p>
          <a:p>
            <a:pPr marL="144000" marR="0" lvl="0" indent="-14400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Tax Extension ledger T1</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closed only annually -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end September.</a:t>
            </a: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71450" marR="0" lvl="0" indent="-17145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457B6E11-AD7A-4025-A409-9C525ED976EB}"/>
              </a:ext>
            </a:extLst>
          </p:cNvPr>
          <p:cNvPicPr>
            <a:picLocks noChangeAspect="1"/>
          </p:cNvPicPr>
          <p:nvPr/>
        </p:nvPicPr>
        <p:blipFill>
          <a:blip r:embed="rId3"/>
          <a:stretch>
            <a:fillRect/>
          </a:stretch>
        </p:blipFill>
        <p:spPr>
          <a:xfrm>
            <a:off x="3848003" y="3730049"/>
            <a:ext cx="337538" cy="325746"/>
          </a:xfrm>
          <a:prstGeom prst="rect">
            <a:avLst/>
          </a:prstGeom>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0A2C8D1E-CC12-39B0-A4F0-1D226B4DA294}"/>
              </a:ext>
            </a:extLst>
          </p:cNvPr>
          <p:cNvSpPr txBox="1"/>
          <p:nvPr/>
        </p:nvSpPr>
        <p:spPr>
          <a:xfrm>
            <a:off x="348230" y="6264730"/>
            <a:ext cx="3326786" cy="365125"/>
          </a:xfrm>
          <a:prstGeom prst="rect">
            <a:avLst/>
          </a:prstGeom>
          <a:noFill/>
        </p:spPr>
        <p:txBody>
          <a:bodyPr wrap="square" lIns="0" tIns="0" rIns="0" bIns="0" rtlCol="0">
            <a:noAutofit/>
          </a:bodyPr>
          <a:lstStyle/>
          <a:p>
            <a:pPr algn="l"/>
            <a:r>
              <a:rPr lang="en-US" sz="900" i="1" baseline="30000" dirty="0">
                <a:solidFill>
                  <a:srgbClr val="FF0000"/>
                </a:solidFill>
              </a:rPr>
              <a:t>1) </a:t>
            </a:r>
            <a:r>
              <a:rPr lang="en-US" sz="900" i="1" dirty="0"/>
              <a:t>Exceptions exist. See Period End Closing Overview course. For JT the STTX cut-off </a:t>
            </a:r>
            <a:r>
              <a:rPr lang="en-US" sz="900" i="1"/>
              <a:t>day is WD07.</a:t>
            </a:r>
            <a:endParaRPr lang="en-US" sz="900" i="1" dirty="0"/>
          </a:p>
        </p:txBody>
      </p:sp>
      <p:sp>
        <p:nvSpPr>
          <p:cNvPr id="6" name="Rounded Rectangle 17">
            <a:extLst>
              <a:ext uri="{FF2B5EF4-FFF2-40B4-BE49-F238E27FC236}">
                <a16:creationId xmlns:a16="http://schemas.microsoft.com/office/drawing/2014/main" id="{1037804C-D056-08BB-5DE0-70B58FBC9F29}"/>
              </a:ext>
            </a:extLst>
          </p:cNvPr>
          <p:cNvSpPr/>
          <p:nvPr/>
        </p:nvSpPr>
        <p:spPr bwMode="gray">
          <a:xfrm>
            <a:off x="348230" y="3190395"/>
            <a:ext cx="3326786" cy="2954087"/>
          </a:xfrm>
          <a:prstGeom prst="roundRect">
            <a:avLst>
              <a:gd name="adj" fmla="val 2753"/>
            </a:avLst>
          </a:prstGeom>
          <a:solidFill>
            <a:schemeClr val="tx2">
              <a:lumMod val="10000"/>
              <a:lumOff val="9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t" anchorCtr="0"/>
          <a:lstStyle/>
          <a:p>
            <a:pPr lvl="0">
              <a:defRPr/>
            </a:pPr>
            <a:r>
              <a:rPr lang="en-GB" sz="1200" b="1">
                <a:solidFill>
                  <a:srgbClr val="122632"/>
                </a:solidFill>
              </a:rPr>
              <a:t>       </a:t>
            </a:r>
            <a:r>
              <a:rPr lang="en-GB" sz="1200" b="1" u="sng">
                <a:solidFill>
                  <a:srgbClr val="122632"/>
                </a:solidFill>
              </a:rPr>
              <a:t>Monthly ledger closing:</a:t>
            </a:r>
          </a:p>
          <a:p>
            <a:pPr marL="144000" lvl="0" indent="-144000">
              <a:buFont typeface="Arial" panose="020B0604020202020204" pitchFamily="34" charset="0"/>
              <a:buChar char="•"/>
              <a:defRPr/>
            </a:pPr>
            <a:endParaRPr lang="en-GB" sz="1200" b="1">
              <a:solidFill>
                <a:srgbClr val="122632"/>
              </a:solidFill>
            </a:endParaRPr>
          </a:p>
          <a:p>
            <a:pPr marL="144000" lvl="0" indent="-144000">
              <a:buFont typeface="Arial" panose="020B0604020202020204" pitchFamily="34" charset="0"/>
              <a:buChar char="•"/>
              <a:defRPr/>
            </a:pPr>
            <a:r>
              <a:rPr lang="en-GB" sz="1200" b="1">
                <a:solidFill>
                  <a:srgbClr val="122632"/>
                </a:solidFill>
              </a:rPr>
              <a:t>IFRS Ledger </a:t>
            </a:r>
            <a:r>
              <a:rPr lang="en-GB" sz="1200">
                <a:solidFill>
                  <a:srgbClr val="122632"/>
                </a:solidFill>
              </a:rPr>
              <a:t>closing cut-off - remains as is on </a:t>
            </a:r>
            <a:r>
              <a:rPr lang="en-GB" sz="1200" b="1">
                <a:solidFill>
                  <a:srgbClr val="122632"/>
                </a:solidFill>
              </a:rPr>
              <a:t>WD3</a:t>
            </a:r>
            <a:r>
              <a:rPr lang="en-GB" sz="1200">
                <a:solidFill>
                  <a:srgbClr val="122632"/>
                </a:solidFill>
              </a:rPr>
              <a:t>.</a:t>
            </a:r>
          </a:p>
          <a:p>
            <a:pPr marL="144000" lvl="0" indent="-144000">
              <a:buFont typeface="Arial" panose="020B0604020202020204" pitchFamily="34" charset="0"/>
              <a:buChar char="•"/>
              <a:defRPr/>
            </a:pPr>
            <a:r>
              <a:rPr lang="en-GB" sz="1200" b="1">
                <a:solidFill>
                  <a:srgbClr val="122632"/>
                </a:solidFill>
              </a:rPr>
              <a:t>Statutory Ledger </a:t>
            </a:r>
            <a:r>
              <a:rPr lang="en-GB" sz="1200">
                <a:solidFill>
                  <a:srgbClr val="122632"/>
                </a:solidFill>
              </a:rPr>
              <a:t>closing cut-off established on </a:t>
            </a:r>
            <a:r>
              <a:rPr lang="en-GB" sz="1200" b="1">
                <a:solidFill>
                  <a:srgbClr val="122632"/>
                </a:solidFill>
              </a:rPr>
              <a:t>WD10</a:t>
            </a:r>
            <a:r>
              <a:rPr lang="en-GB" sz="1200">
                <a:solidFill>
                  <a:srgbClr val="122632"/>
                </a:solidFill>
              </a:rPr>
              <a:t>.</a:t>
            </a:r>
            <a:r>
              <a:rPr lang="en-GB" sz="1200" i="1" baseline="30000">
                <a:solidFill>
                  <a:srgbClr val="FF0000"/>
                </a:solidFill>
              </a:rPr>
              <a:t> 1)</a:t>
            </a:r>
            <a:endParaRPr lang="en-GB" sz="1200">
              <a:solidFill>
                <a:srgbClr val="122632"/>
              </a:solidFill>
            </a:endParaRPr>
          </a:p>
          <a:p>
            <a:pPr marL="144000" lvl="0" indent="-144000">
              <a:buFont typeface="Arial" panose="020B0604020202020204" pitchFamily="34" charset="0"/>
              <a:buChar char="•"/>
              <a:defRPr/>
            </a:pPr>
            <a:r>
              <a:rPr lang="en-GB" sz="1200" b="1">
                <a:solidFill>
                  <a:srgbClr val="122632"/>
                </a:solidFill>
              </a:rPr>
              <a:t>No monthly closing </a:t>
            </a:r>
            <a:r>
              <a:rPr lang="en-GB" sz="1200">
                <a:solidFill>
                  <a:srgbClr val="122632"/>
                </a:solidFill>
              </a:rPr>
              <a:t>of posting periods for </a:t>
            </a:r>
            <a:r>
              <a:rPr lang="en-GB" sz="1200" b="1">
                <a:solidFill>
                  <a:srgbClr val="122632"/>
                </a:solidFill>
              </a:rPr>
              <a:t>Statutory Extension Ledger S1 </a:t>
            </a:r>
            <a:r>
              <a:rPr lang="en-GB" sz="1200">
                <a:solidFill>
                  <a:srgbClr val="122632"/>
                </a:solidFill>
              </a:rPr>
              <a:t>(i.e. all remain open until the annual cut-off date).</a:t>
            </a:r>
          </a:p>
          <a:p>
            <a:pPr marL="144000" lvl="0" indent="-144000">
              <a:buFont typeface="Arial" panose="020B0604020202020204" pitchFamily="34" charset="0"/>
              <a:buChar char="•"/>
              <a:defRPr/>
            </a:pPr>
            <a:r>
              <a:rPr lang="en-GB" sz="1200" b="1">
                <a:solidFill>
                  <a:srgbClr val="122632"/>
                </a:solidFill>
              </a:rPr>
              <a:t>Tax Ledgers </a:t>
            </a:r>
            <a:r>
              <a:rPr lang="en-GB" sz="1200">
                <a:solidFill>
                  <a:srgbClr val="122632"/>
                </a:solidFill>
              </a:rPr>
              <a:t>closing cut-off established on </a:t>
            </a:r>
            <a:r>
              <a:rPr lang="en-GB" sz="1200" b="1">
                <a:solidFill>
                  <a:srgbClr val="122632"/>
                </a:solidFill>
              </a:rPr>
              <a:t>WD10</a:t>
            </a:r>
            <a:r>
              <a:rPr lang="en-GB" sz="1200">
                <a:solidFill>
                  <a:srgbClr val="122632"/>
                </a:solidFill>
              </a:rPr>
              <a:t> (will be closed in parallel with Statutory ledger). </a:t>
            </a:r>
            <a:r>
              <a:rPr lang="en-GB" sz="1200" i="1" baseline="30000">
                <a:solidFill>
                  <a:srgbClr val="FF0000"/>
                </a:solidFill>
              </a:rPr>
              <a:t>1)</a:t>
            </a:r>
          </a:p>
          <a:p>
            <a:pPr marL="144000" indent="-144000">
              <a:buFont typeface="Arial" panose="020B0604020202020204" pitchFamily="34" charset="0"/>
              <a:buChar char="•"/>
              <a:defRPr/>
            </a:pPr>
            <a:r>
              <a:rPr lang="en-GB" sz="1200" b="1">
                <a:solidFill>
                  <a:srgbClr val="122632"/>
                </a:solidFill>
              </a:rPr>
              <a:t>No monthly closing </a:t>
            </a:r>
            <a:r>
              <a:rPr lang="en-GB" sz="1200">
                <a:solidFill>
                  <a:srgbClr val="122632"/>
                </a:solidFill>
              </a:rPr>
              <a:t>of posting periods for </a:t>
            </a:r>
            <a:r>
              <a:rPr lang="en-GB" sz="1200" b="1">
                <a:solidFill>
                  <a:srgbClr val="122632"/>
                </a:solidFill>
              </a:rPr>
              <a:t>Tax Extension Ledger T1 </a:t>
            </a:r>
            <a:r>
              <a:rPr lang="en-GB" sz="1200">
                <a:solidFill>
                  <a:srgbClr val="122632"/>
                </a:solidFill>
              </a:rPr>
              <a:t>(i.e. all remain open until the annual cut-off date).</a:t>
            </a:r>
          </a:p>
          <a:p>
            <a:pPr marL="144000" lvl="0" indent="-144000">
              <a:buFont typeface="Arial" panose="020B0604020202020204" pitchFamily="34" charset="0"/>
              <a:buChar char="•"/>
              <a:defRPr/>
            </a:pPr>
            <a:endParaRPr lang="en-GB" sz="1200">
              <a:solidFill>
                <a:srgbClr val="122632"/>
              </a:solidFill>
            </a:endParaRPr>
          </a:p>
          <a:p>
            <a:pPr marL="171450" lvl="0" indent="-171450">
              <a:buFont typeface="Arial" panose="020B0604020202020204" pitchFamily="34" charset="0"/>
              <a:buChar char="•"/>
              <a:defRPr/>
            </a:pPr>
            <a:endParaRPr lang="en-GB" sz="1200">
              <a:solidFill>
                <a:srgbClr val="122632"/>
              </a:solidFill>
            </a:endParaRPr>
          </a:p>
        </p:txBody>
      </p:sp>
      <p:pic>
        <p:nvPicPr>
          <p:cNvPr id="7" name="Graphic 6" descr="Daily calendar">
            <a:extLst>
              <a:ext uri="{FF2B5EF4-FFF2-40B4-BE49-F238E27FC236}">
                <a16:creationId xmlns:a16="http://schemas.microsoft.com/office/drawing/2014/main" id="{B55579A9-2611-4A36-ED0E-E119CEF132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30" y="3190395"/>
            <a:ext cx="381600" cy="3816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83724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6108FB3-F112-41B6-A76D-7F5BA47D8B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508558F-0812-413D-895D-81BAF53A510D}"/>
              </a:ext>
            </a:extLst>
          </p:cNvPr>
          <p:cNvSpPr>
            <a:spLocks noGrp="1"/>
          </p:cNvSpPr>
          <p:nvPr>
            <p:ph type="title"/>
          </p:nvPr>
        </p:nvSpPr>
        <p:spPr/>
        <p:txBody>
          <a:bodyPr/>
          <a:lstStyle/>
          <a:p>
            <a:br>
              <a:rPr lang="en-US" dirty="0"/>
            </a:br>
            <a:r>
              <a:rPr lang="en-US" dirty="0"/>
              <a:t>Ledger Closing Timelines and Corporate Reporting Requirements</a:t>
            </a:r>
          </a:p>
        </p:txBody>
      </p:sp>
      <p:sp>
        <p:nvSpPr>
          <p:cNvPr id="27" name="TextBox 26">
            <a:extLst>
              <a:ext uri="{FF2B5EF4-FFF2-40B4-BE49-F238E27FC236}">
                <a16:creationId xmlns:a16="http://schemas.microsoft.com/office/drawing/2014/main" id="{AAB230C0-F0BA-4A60-A96D-586A6AD29663}"/>
              </a:ext>
            </a:extLst>
          </p:cNvPr>
          <p:cNvSpPr txBox="1"/>
          <p:nvPr/>
        </p:nvSpPr>
        <p:spPr>
          <a:xfrm>
            <a:off x="374757" y="4566951"/>
            <a:ext cx="11407809" cy="1890556"/>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lIns="72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Various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corporate and local reporting timelines are driving the cut-off times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by which we need to close various ledgers:</a:t>
            </a:r>
          </a:p>
          <a:p>
            <a:pPr marL="828000" marR="0" lvl="2" indent="-180000"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We have to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close IFRS ledger on Jan WD3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to enable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Deloitte sign-off on CD19.</a:t>
            </a:r>
          </a:p>
          <a:p>
            <a:pPr marL="828000" marR="0" lvl="2" indent="-180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We have to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close STAT and S1 ledgers (i.e. finalize audited Statutory Financial S</a:t>
            </a:r>
            <a:r>
              <a:rPr kumimoji="0" lang="en-US" sz="1200" b="1" i="0" u="none" strike="noStrike" kern="1200" cap="none" spc="0" normalizeH="0" baseline="0" noProof="0" dirty="0" err="1">
                <a:ln>
                  <a:noFill/>
                </a:ln>
                <a:solidFill>
                  <a:srgbClr val="000000"/>
                </a:solidFill>
                <a:effectLst/>
                <a:uLnTx/>
                <a:uFillTx/>
                <a:latin typeface="Arial" panose="020B0604020202020204"/>
                <a:ea typeface="+mn-ea"/>
                <a:cs typeface="+mn-cs"/>
              </a:rPr>
              <a:t>tatements</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 and Country by Country (</a:t>
            </a:r>
            <a:r>
              <a:rPr kumimoji="0" lang="en-US" sz="1200" b="1" i="0" u="none" strike="noStrike" kern="1200" cap="none" spc="0" normalizeH="0" baseline="0" noProof="0" dirty="0" err="1">
                <a:ln>
                  <a:noFill/>
                </a:ln>
                <a:solidFill>
                  <a:srgbClr val="000000"/>
                </a:solidFill>
                <a:effectLst/>
                <a:uLnTx/>
                <a:uFillTx/>
                <a:latin typeface="Arial" panose="020B0604020202020204"/>
                <a:ea typeface="+mn-ea"/>
                <a:cs typeface="+mn-cs"/>
              </a:rPr>
              <a:t>CbC</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 reporting adjustments) by end June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which enables submission of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Country by Country (</a:t>
            </a:r>
            <a:r>
              <a:rPr kumimoji="0" lang="en-US" sz="1200" b="1" i="0" u="none" strike="noStrike" kern="1200" cap="none" spc="0" normalizeH="0" baseline="0" noProof="0" dirty="0" err="1">
                <a:ln>
                  <a:noFill/>
                </a:ln>
                <a:solidFill>
                  <a:srgbClr val="000000"/>
                </a:solidFill>
                <a:effectLst/>
                <a:uLnTx/>
                <a:uFillTx/>
                <a:latin typeface="Arial" panose="020B0604020202020204"/>
                <a:ea typeface="+mn-ea"/>
                <a:cs typeface="+mn-cs"/>
              </a:rPr>
              <a:t>CbC</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 Reporting packs to Corporate Accounting by 30</a:t>
            </a:r>
            <a:r>
              <a:rPr kumimoji="0" lang="en-US" sz="1200" b="1" i="0" u="none" strike="noStrike" kern="1200" cap="none" spc="0" normalizeH="0" baseline="30000" noProof="0" dirty="0">
                <a:ln>
                  <a:noFill/>
                </a:ln>
                <a:solidFill>
                  <a:srgbClr val="000000"/>
                </a:solidFill>
                <a:effectLst/>
                <a:uLnTx/>
                <a:uFillTx/>
                <a:latin typeface="Arial" panose="020B0604020202020204"/>
                <a:ea typeface="+mn-ea"/>
                <a:cs typeface="+mn-cs"/>
              </a:rPr>
              <a:t>th</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 June</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L</a:t>
            </a:r>
            <a:r>
              <a:rPr kumimoji="0" lang="en-US" sz="1200" b="0" i="0" u="none" strike="noStrike" kern="1200" cap="none" spc="0" normalizeH="0" baseline="0" noProof="0" dirty="0" err="1">
                <a:ln>
                  <a:noFill/>
                </a:ln>
                <a:solidFill>
                  <a:srgbClr val="000000"/>
                </a:solidFill>
                <a:effectLst/>
                <a:uLnTx/>
                <a:uFillTx/>
                <a:latin typeface="Arial" panose="020B0604020202020204"/>
                <a:ea typeface="+mn-ea"/>
                <a:cs typeface="+mn-cs"/>
              </a:rPr>
              <a:t>ocal</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entities may need to have their STAT books finalized earlier if legal deadlines prescribe earlier timeline than the corporate end June one. </a:t>
            </a:r>
          </a:p>
          <a:p>
            <a:pPr marL="828000" marR="0" lvl="2" indent="-180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We have to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close TAX and T1 ledgers (i.e. finalize CIT returns including Tax Temporary and Permanent differences) by end of September</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to enable submission of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Japanese Controlled Foreign Company (JCFC) Reporting packs for Corporate Accounting by 30</a:t>
            </a:r>
            <a:r>
              <a:rPr kumimoji="0" lang="en-US" sz="1200" b="1" i="0" u="none" strike="noStrike" kern="1200" cap="none" spc="0" normalizeH="0" baseline="30000" noProof="0" dirty="0">
                <a:ln>
                  <a:noFill/>
                </a:ln>
                <a:solidFill>
                  <a:srgbClr val="000000"/>
                </a:solidFill>
                <a:effectLst/>
                <a:uLnTx/>
                <a:uFillTx/>
                <a:latin typeface="Arial" panose="020B0604020202020204"/>
                <a:ea typeface="+mn-ea"/>
                <a:cs typeface="+mn-cs"/>
              </a:rPr>
              <a:t>th</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 September.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Locally entities may need to have their CIT returns finalized earlier if legal deadlines prescribe earlier timeline than the corporate end September one. Highly automated SAP based JCFC reporting will be executed for 2020 financials due to JT in 2021.  </a:t>
            </a:r>
          </a:p>
        </p:txBody>
      </p:sp>
      <p:pic>
        <p:nvPicPr>
          <p:cNvPr id="3" name="Picture 2">
            <a:extLst>
              <a:ext uri="{FF2B5EF4-FFF2-40B4-BE49-F238E27FC236}">
                <a16:creationId xmlns:a16="http://schemas.microsoft.com/office/drawing/2014/main" id="{8B7BE913-B56D-427E-A548-3FCA21A93F6D}"/>
              </a:ext>
            </a:extLst>
          </p:cNvPr>
          <p:cNvPicPr>
            <a:picLocks noChangeAspect="1"/>
          </p:cNvPicPr>
          <p:nvPr/>
        </p:nvPicPr>
        <p:blipFill>
          <a:blip r:embed="rId2"/>
          <a:stretch>
            <a:fillRect/>
          </a:stretch>
        </p:blipFill>
        <p:spPr>
          <a:xfrm>
            <a:off x="534366" y="4904404"/>
            <a:ext cx="555331" cy="575899"/>
          </a:xfrm>
          <a:prstGeom prst="rect">
            <a:avLst/>
          </a:prstGeom>
        </p:spPr>
      </p:pic>
      <p:pic>
        <p:nvPicPr>
          <p:cNvPr id="7" name="Picture 6">
            <a:extLst>
              <a:ext uri="{FF2B5EF4-FFF2-40B4-BE49-F238E27FC236}">
                <a16:creationId xmlns:a16="http://schemas.microsoft.com/office/drawing/2014/main" id="{291BD0F1-8F8D-4453-9443-D954A6275A38}"/>
              </a:ext>
            </a:extLst>
          </p:cNvPr>
          <p:cNvPicPr>
            <a:picLocks noChangeAspect="1"/>
          </p:cNvPicPr>
          <p:nvPr/>
        </p:nvPicPr>
        <p:blipFill>
          <a:blip r:embed="rId3"/>
          <a:stretch>
            <a:fillRect/>
          </a:stretch>
        </p:blipFill>
        <p:spPr>
          <a:xfrm>
            <a:off x="689502" y="1410096"/>
            <a:ext cx="10778317" cy="3063350"/>
          </a:xfrm>
          <a:prstGeom prst="rect">
            <a:avLst/>
          </a:prstGeom>
        </p:spPr>
      </p:pic>
    </p:spTree>
    <p:extLst>
      <p:ext uri="{BB962C8B-B14F-4D97-AF65-F5344CB8AC3E}">
        <p14:creationId xmlns:p14="http://schemas.microsoft.com/office/powerpoint/2010/main" val="2487841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33CC6F1-DCA5-5F44-6105-8386C6322102}"/>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AB4EB7A3-860E-31C2-6D32-C95B572E7539}"/>
              </a:ext>
            </a:extLst>
          </p:cNvPr>
          <p:cNvSpPr>
            <a:spLocks noGrp="1"/>
          </p:cNvSpPr>
          <p:nvPr>
            <p:ph type="title"/>
          </p:nvPr>
        </p:nvSpPr>
        <p:spPr>
          <a:xfrm>
            <a:off x="1464907" y="314417"/>
            <a:ext cx="8959604" cy="492124"/>
          </a:xfrm>
        </p:spPr>
        <p:txBody>
          <a:bodyPr anchor="t"/>
          <a:lstStyle/>
          <a:p>
            <a:r>
              <a:rPr lang="en-GB" b="1" dirty="0"/>
              <a:t>Holiday Calendar- Exception</a:t>
            </a:r>
            <a:br>
              <a:rPr lang="en-GB" b="1" dirty="0"/>
            </a:br>
            <a:r>
              <a:rPr lang="en-GB" b="1" dirty="0"/>
              <a:t>Japan &amp; Geneva Hybrid Calendar</a:t>
            </a:r>
            <a:br>
              <a:rPr lang="en-US" b="1" dirty="0"/>
            </a:br>
            <a:endParaRPr lang="en-US" dirty="0"/>
          </a:p>
        </p:txBody>
      </p:sp>
      <p:pic>
        <p:nvPicPr>
          <p:cNvPr id="8" name="Picture 7">
            <a:extLst>
              <a:ext uri="{FF2B5EF4-FFF2-40B4-BE49-F238E27FC236}">
                <a16:creationId xmlns:a16="http://schemas.microsoft.com/office/drawing/2014/main" id="{35AF2B87-FB0C-1992-DC3D-FF5E6850CDEB}"/>
              </a:ext>
            </a:extLst>
          </p:cNvPr>
          <p:cNvPicPr>
            <a:picLocks noChangeAspect="1"/>
          </p:cNvPicPr>
          <p:nvPr/>
        </p:nvPicPr>
        <p:blipFill>
          <a:blip r:embed="rId2"/>
          <a:stretch>
            <a:fillRect/>
          </a:stretch>
        </p:blipFill>
        <p:spPr>
          <a:xfrm>
            <a:off x="702038" y="2659117"/>
            <a:ext cx="4833689" cy="3711180"/>
          </a:xfrm>
          <a:prstGeom prst="rect">
            <a:avLst/>
          </a:prstGeom>
        </p:spPr>
      </p:pic>
      <p:pic>
        <p:nvPicPr>
          <p:cNvPr id="10" name="Picture 9">
            <a:extLst>
              <a:ext uri="{FF2B5EF4-FFF2-40B4-BE49-F238E27FC236}">
                <a16:creationId xmlns:a16="http://schemas.microsoft.com/office/drawing/2014/main" id="{50125F11-EB1C-C70E-3B85-7C533DB92497}"/>
              </a:ext>
            </a:extLst>
          </p:cNvPr>
          <p:cNvPicPr>
            <a:picLocks noChangeAspect="1"/>
          </p:cNvPicPr>
          <p:nvPr/>
        </p:nvPicPr>
        <p:blipFill>
          <a:blip r:embed="rId3"/>
          <a:stretch>
            <a:fillRect/>
          </a:stretch>
        </p:blipFill>
        <p:spPr>
          <a:xfrm>
            <a:off x="5969875" y="2700613"/>
            <a:ext cx="5308925" cy="3596908"/>
          </a:xfrm>
          <a:prstGeom prst="rect">
            <a:avLst/>
          </a:prstGeom>
        </p:spPr>
      </p:pic>
      <p:sp>
        <p:nvSpPr>
          <p:cNvPr id="11" name="Rectangle: Rounded Corners 10">
            <a:extLst>
              <a:ext uri="{FF2B5EF4-FFF2-40B4-BE49-F238E27FC236}">
                <a16:creationId xmlns:a16="http://schemas.microsoft.com/office/drawing/2014/main" id="{90FFF1FC-CB20-A72E-8F74-010C651C6A5A}"/>
              </a:ext>
            </a:extLst>
          </p:cNvPr>
          <p:cNvSpPr/>
          <p:nvPr/>
        </p:nvSpPr>
        <p:spPr>
          <a:xfrm>
            <a:off x="528917" y="1387367"/>
            <a:ext cx="11147143" cy="789292"/>
          </a:xfrm>
          <a:prstGeom prst="roundRect">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t>Japan should follow the Geneva Calendar for the Closing Periods P1-P11. </a:t>
            </a:r>
          </a:p>
          <a:p>
            <a:pPr marL="285750" indent="-285750">
              <a:buFont typeface="Arial" panose="020B0604020202020204" pitchFamily="34" charset="0"/>
              <a:buChar char="•"/>
            </a:pPr>
            <a:r>
              <a:rPr lang="en-US" sz="1600" dirty="0"/>
              <a:t>Starting from P12 2024 closing, the closing calendar will be based on Hybrid calendar (Jan 1-3 are treated as non-working days). This is applicable to all JTI. </a:t>
            </a:r>
            <a:endParaRPr lang="ru-RU" sz="1600" dirty="0"/>
          </a:p>
        </p:txBody>
      </p:sp>
      <p:sp>
        <p:nvSpPr>
          <p:cNvPr id="12" name="Rectangle 11">
            <a:extLst>
              <a:ext uri="{FF2B5EF4-FFF2-40B4-BE49-F238E27FC236}">
                <a16:creationId xmlns:a16="http://schemas.microsoft.com/office/drawing/2014/main" id="{800F1B44-4AAE-3086-1751-5250AC09E1ED}"/>
              </a:ext>
            </a:extLst>
          </p:cNvPr>
          <p:cNvSpPr/>
          <p:nvPr/>
        </p:nvSpPr>
        <p:spPr>
          <a:xfrm>
            <a:off x="1858117" y="2333296"/>
            <a:ext cx="2430103" cy="3258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Closing of P12 (2024)</a:t>
            </a:r>
          </a:p>
        </p:txBody>
      </p:sp>
      <p:sp>
        <p:nvSpPr>
          <p:cNvPr id="14" name="Rectangle 13">
            <a:extLst>
              <a:ext uri="{FF2B5EF4-FFF2-40B4-BE49-F238E27FC236}">
                <a16:creationId xmlns:a16="http://schemas.microsoft.com/office/drawing/2014/main" id="{FF54BD34-FF57-7973-AA07-77F61D49E029}"/>
              </a:ext>
            </a:extLst>
          </p:cNvPr>
          <p:cNvSpPr/>
          <p:nvPr/>
        </p:nvSpPr>
        <p:spPr>
          <a:xfrm>
            <a:off x="8471338" y="3429000"/>
            <a:ext cx="1953172" cy="4388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CA9E1BA-3D62-6516-539B-90388BA4A31E}"/>
              </a:ext>
            </a:extLst>
          </p:cNvPr>
          <p:cNvSpPr/>
          <p:nvPr/>
        </p:nvSpPr>
        <p:spPr>
          <a:xfrm>
            <a:off x="7002394" y="3867807"/>
            <a:ext cx="407400" cy="49650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525383-3964-22AB-231C-A0E57B4EDAA2}"/>
              </a:ext>
            </a:extLst>
          </p:cNvPr>
          <p:cNvSpPr/>
          <p:nvPr/>
        </p:nvSpPr>
        <p:spPr>
          <a:xfrm>
            <a:off x="6873372" y="2622879"/>
            <a:ext cx="3626461" cy="365125"/>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peech Bubble: Rectangle 16">
            <a:extLst>
              <a:ext uri="{FF2B5EF4-FFF2-40B4-BE49-F238E27FC236}">
                <a16:creationId xmlns:a16="http://schemas.microsoft.com/office/drawing/2014/main" id="{4F5CAA80-3F26-2BA2-A4D5-E15AF5C4A70F}"/>
              </a:ext>
            </a:extLst>
          </p:cNvPr>
          <p:cNvSpPr/>
          <p:nvPr/>
        </p:nvSpPr>
        <p:spPr>
          <a:xfrm>
            <a:off x="6873372" y="4810528"/>
            <a:ext cx="3132476" cy="660106"/>
          </a:xfrm>
          <a:prstGeom prst="wedgeRectCallout">
            <a:avLst>
              <a:gd name="adj1" fmla="val -34353"/>
              <a:gd name="adj2" fmla="val -120425"/>
            </a:avLst>
          </a:prstGeom>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r>
              <a:rPr lang="en-US" sz="1050" dirty="0">
                <a:solidFill>
                  <a:schemeClr val="tx1"/>
                </a:solidFill>
              </a:rPr>
              <a:t>In January 2025, the 1st Working Day, would be 6th of January. </a:t>
            </a:r>
            <a:r>
              <a:rPr lang="en-US" sz="1050" b="1" dirty="0">
                <a:solidFill>
                  <a:schemeClr val="tx1"/>
                </a:solidFill>
              </a:rPr>
              <a:t>This is applicable to </a:t>
            </a:r>
            <a:r>
              <a:rPr lang="en-US" sz="1050" b="1" u="sng" dirty="0">
                <a:solidFill>
                  <a:schemeClr val="tx1"/>
                </a:solidFill>
              </a:rPr>
              <a:t>all JTI.</a:t>
            </a:r>
          </a:p>
        </p:txBody>
      </p:sp>
    </p:spTree>
    <p:extLst>
      <p:ext uri="{BB962C8B-B14F-4D97-AF65-F5344CB8AC3E}">
        <p14:creationId xmlns:p14="http://schemas.microsoft.com/office/powerpoint/2010/main" val="1701697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838C3DB3-5496-4390-85CF-2D27C8FA7BFF}"/>
              </a:ext>
            </a:extLst>
          </p:cNvPr>
          <p:cNvSpPr/>
          <p:nvPr/>
        </p:nvSpPr>
        <p:spPr>
          <a:xfrm>
            <a:off x="515940" y="1366203"/>
            <a:ext cx="11160120" cy="444912"/>
          </a:xfrm>
          <a:prstGeom prst="roundRect">
            <a:avLst>
              <a:gd name="adj" fmla="val 4251"/>
            </a:avLst>
          </a:prstGeom>
          <a:gradFill>
            <a:gsLst>
              <a:gs pos="0">
                <a:schemeClr val="bg1"/>
              </a:gs>
              <a:gs pos="100000">
                <a:schemeClr val="accent1"/>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DCF6CE90-ABFC-4B5D-BC17-DB2D6AA874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E24A894F-E6B5-4022-89C7-37B6405499D2}"/>
              </a:ext>
            </a:extLst>
          </p:cNvPr>
          <p:cNvSpPr>
            <a:spLocks noGrp="1"/>
          </p:cNvSpPr>
          <p:nvPr>
            <p:ph type="title"/>
          </p:nvPr>
        </p:nvSpPr>
        <p:spPr/>
        <p:txBody>
          <a:bodyPr/>
          <a:lstStyle/>
          <a:p>
            <a:r>
              <a:rPr lang="en-GB"/>
              <a:t>Use of Special Posting Periods P13 – P16</a:t>
            </a:r>
          </a:p>
        </p:txBody>
      </p:sp>
      <p:pic>
        <p:nvPicPr>
          <p:cNvPr id="16" name="Picture 15">
            <a:extLst>
              <a:ext uri="{FF2B5EF4-FFF2-40B4-BE49-F238E27FC236}">
                <a16:creationId xmlns:a16="http://schemas.microsoft.com/office/drawing/2014/main" id="{04115657-D14E-491E-B42D-FC575594F080}"/>
              </a:ext>
            </a:extLst>
          </p:cNvPr>
          <p:cNvPicPr>
            <a:picLocks noChangeAspect="1"/>
          </p:cNvPicPr>
          <p:nvPr/>
        </p:nvPicPr>
        <p:blipFill>
          <a:blip r:embed="rId2" cstate="hq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299331" y="1837643"/>
            <a:ext cx="2567862" cy="3815269"/>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7F87AD39-3F2A-4038-80B0-270C0B5DFE72}"/>
              </a:ext>
            </a:extLst>
          </p:cNvPr>
          <p:cNvPicPr>
            <a:picLocks noChangeAspect="1"/>
          </p:cNvPicPr>
          <p:nvPr/>
        </p:nvPicPr>
        <p:blipFill>
          <a:blip r:embed="rId3"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420727" y="1837643"/>
            <a:ext cx="2567862" cy="3815269"/>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124E3874-67B2-45DF-BE25-19564BECDB0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42123" y="1837643"/>
            <a:ext cx="2567862" cy="3815269"/>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C8FD616C-CC76-4EE5-9C2D-5CFBCAB8B0A2}"/>
              </a:ext>
            </a:extLst>
          </p:cNvPr>
          <p:cNvPicPr>
            <a:picLocks noChangeAspect="1"/>
          </p:cNvPicPr>
          <p:nvPr/>
        </p:nvPicPr>
        <p:blipFill>
          <a:blip r:embed="rId5" cstate="hq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9177936" y="1837643"/>
            <a:ext cx="2567862" cy="3815269"/>
          </a:xfrm>
          <a:prstGeom prst="rect">
            <a:avLst/>
          </a:prstGeom>
          <a:effectLst>
            <a:outerShdw blurRad="50800" dist="38100" dir="5400000" algn="t" rotWithShape="0">
              <a:prstClr val="black">
                <a:alpha val="40000"/>
              </a:prstClr>
            </a:outerShdw>
          </a:effectLst>
        </p:spPr>
      </p:pic>
      <p:grpSp>
        <p:nvGrpSpPr>
          <p:cNvPr id="40" name="Group 39">
            <a:extLst>
              <a:ext uri="{FF2B5EF4-FFF2-40B4-BE49-F238E27FC236}">
                <a16:creationId xmlns:a16="http://schemas.microsoft.com/office/drawing/2014/main" id="{9CEB82D8-76CA-424D-8FBC-6C162445BB46}"/>
              </a:ext>
            </a:extLst>
          </p:cNvPr>
          <p:cNvGrpSpPr/>
          <p:nvPr/>
        </p:nvGrpSpPr>
        <p:grpSpPr>
          <a:xfrm>
            <a:off x="1274586" y="5475203"/>
            <a:ext cx="1166956" cy="1166956"/>
            <a:chOff x="1274586" y="5354262"/>
            <a:chExt cx="1166956" cy="1166956"/>
          </a:xfrm>
          <a:effectLst/>
        </p:grpSpPr>
        <p:pic>
          <p:nvPicPr>
            <p:cNvPr id="21" name="Graphic 20" descr="Flip calendar">
              <a:extLst>
                <a:ext uri="{FF2B5EF4-FFF2-40B4-BE49-F238E27FC236}">
                  <a16:creationId xmlns:a16="http://schemas.microsoft.com/office/drawing/2014/main" id="{D3B3B2A3-6A27-4F85-887D-1F4E335E28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4586" y="5354262"/>
              <a:ext cx="1166956" cy="1166956"/>
            </a:xfrm>
            <a:prstGeom prst="rect">
              <a:avLst/>
            </a:prstGeom>
          </p:spPr>
        </p:pic>
        <p:sp>
          <p:nvSpPr>
            <p:cNvPr id="36" name="TextBox 35">
              <a:extLst>
                <a:ext uri="{FF2B5EF4-FFF2-40B4-BE49-F238E27FC236}">
                  <a16:creationId xmlns:a16="http://schemas.microsoft.com/office/drawing/2014/main" id="{C50A3651-5506-4937-96F6-ABC33A65B2B2}"/>
                </a:ext>
              </a:extLst>
            </p:cNvPr>
            <p:cNvSpPr txBox="1"/>
            <p:nvPr/>
          </p:nvSpPr>
          <p:spPr>
            <a:xfrm>
              <a:off x="1621409" y="5947167"/>
              <a:ext cx="509048" cy="246244"/>
            </a:xfrm>
            <a:prstGeom prst="rect">
              <a:avLst/>
            </a:prstGeom>
            <a:noFill/>
            <a:effectLst/>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EAAA00"/>
                  </a:solidFill>
                  <a:effectLst/>
                  <a:uLnTx/>
                  <a:uFillTx/>
                  <a:latin typeface="Arial" panose="020B0604020202020204"/>
                  <a:ea typeface="+mn-ea"/>
                  <a:cs typeface="+mn-cs"/>
                </a:rPr>
                <a:t>P13</a:t>
              </a:r>
            </a:p>
          </p:txBody>
        </p:sp>
      </p:grpSp>
      <p:grpSp>
        <p:nvGrpSpPr>
          <p:cNvPr id="41" name="Group 40">
            <a:extLst>
              <a:ext uri="{FF2B5EF4-FFF2-40B4-BE49-F238E27FC236}">
                <a16:creationId xmlns:a16="http://schemas.microsoft.com/office/drawing/2014/main" id="{C85C0D2C-EE94-4EA3-999C-2FE76D2351EC}"/>
              </a:ext>
            </a:extLst>
          </p:cNvPr>
          <p:cNvGrpSpPr/>
          <p:nvPr/>
        </p:nvGrpSpPr>
        <p:grpSpPr>
          <a:xfrm>
            <a:off x="4156764" y="5475203"/>
            <a:ext cx="1166956" cy="1166956"/>
            <a:chOff x="4156764" y="5296091"/>
            <a:chExt cx="1166956" cy="1166956"/>
          </a:xfrm>
          <a:effectLst/>
        </p:grpSpPr>
        <p:pic>
          <p:nvPicPr>
            <p:cNvPr id="33" name="Graphic 32" descr="Flip calendar">
              <a:extLst>
                <a:ext uri="{FF2B5EF4-FFF2-40B4-BE49-F238E27FC236}">
                  <a16:creationId xmlns:a16="http://schemas.microsoft.com/office/drawing/2014/main" id="{E82813A3-2471-48F7-B0F6-69770A0264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56764" y="5296091"/>
              <a:ext cx="1166956" cy="1166956"/>
            </a:xfrm>
            <a:prstGeom prst="rect">
              <a:avLst/>
            </a:prstGeom>
          </p:spPr>
        </p:pic>
        <p:sp>
          <p:nvSpPr>
            <p:cNvPr id="37" name="TextBox 36">
              <a:extLst>
                <a:ext uri="{FF2B5EF4-FFF2-40B4-BE49-F238E27FC236}">
                  <a16:creationId xmlns:a16="http://schemas.microsoft.com/office/drawing/2014/main" id="{71E9B6DF-5080-47B4-A831-26AAD0FA3D2D}"/>
                </a:ext>
              </a:extLst>
            </p:cNvPr>
            <p:cNvSpPr txBox="1"/>
            <p:nvPr/>
          </p:nvSpPr>
          <p:spPr>
            <a:xfrm>
              <a:off x="4514210" y="5872602"/>
              <a:ext cx="509048" cy="24624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E782A9">
                      <a:lumMod val="60000"/>
                      <a:lumOff val="40000"/>
                    </a:srgbClr>
                  </a:solidFill>
                  <a:effectLst/>
                  <a:uLnTx/>
                  <a:uFillTx/>
                  <a:latin typeface="Arial" panose="020B0604020202020204"/>
                  <a:ea typeface="+mn-ea"/>
                  <a:cs typeface="+mn-cs"/>
                </a:rPr>
                <a:t>P14</a:t>
              </a:r>
            </a:p>
          </p:txBody>
        </p:sp>
      </p:grpSp>
      <p:grpSp>
        <p:nvGrpSpPr>
          <p:cNvPr id="42" name="Group 41">
            <a:extLst>
              <a:ext uri="{FF2B5EF4-FFF2-40B4-BE49-F238E27FC236}">
                <a16:creationId xmlns:a16="http://schemas.microsoft.com/office/drawing/2014/main" id="{8D251616-6C23-494C-B7F0-B96E397A16B1}"/>
              </a:ext>
            </a:extLst>
          </p:cNvPr>
          <p:cNvGrpSpPr/>
          <p:nvPr/>
        </p:nvGrpSpPr>
        <p:grpSpPr>
          <a:xfrm>
            <a:off x="7024335" y="5475203"/>
            <a:ext cx="1166956" cy="1166956"/>
            <a:chOff x="7024335" y="5302183"/>
            <a:chExt cx="1166956" cy="1166956"/>
          </a:xfrm>
          <a:effectLst/>
        </p:grpSpPr>
        <p:pic>
          <p:nvPicPr>
            <p:cNvPr id="34" name="Graphic 33" descr="Flip calendar">
              <a:extLst>
                <a:ext uri="{FF2B5EF4-FFF2-40B4-BE49-F238E27FC236}">
                  <a16:creationId xmlns:a16="http://schemas.microsoft.com/office/drawing/2014/main" id="{18B656E0-BD47-4B16-A630-A3EBBBC9E4C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024335" y="5302183"/>
              <a:ext cx="1166956" cy="1166956"/>
            </a:xfrm>
            <a:prstGeom prst="rect">
              <a:avLst/>
            </a:prstGeom>
          </p:spPr>
        </p:pic>
        <p:sp>
          <p:nvSpPr>
            <p:cNvPr id="38" name="TextBox 37">
              <a:extLst>
                <a:ext uri="{FF2B5EF4-FFF2-40B4-BE49-F238E27FC236}">
                  <a16:creationId xmlns:a16="http://schemas.microsoft.com/office/drawing/2014/main" id="{2B85C2C5-154C-4623-AFE8-77ED5B8AF4E1}"/>
                </a:ext>
              </a:extLst>
            </p:cNvPr>
            <p:cNvSpPr txBox="1"/>
            <p:nvPr/>
          </p:nvSpPr>
          <p:spPr>
            <a:xfrm>
              <a:off x="7381529" y="5854045"/>
              <a:ext cx="509048" cy="255651"/>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B2A9"/>
                  </a:solidFill>
                  <a:effectLst/>
                  <a:uLnTx/>
                  <a:uFillTx/>
                  <a:latin typeface="Arial" panose="020B0604020202020204"/>
                  <a:ea typeface="+mn-ea"/>
                  <a:cs typeface="+mn-cs"/>
                </a:rPr>
                <a:t>P15</a:t>
              </a:r>
            </a:p>
          </p:txBody>
        </p:sp>
      </p:grpSp>
      <p:grpSp>
        <p:nvGrpSpPr>
          <p:cNvPr id="43" name="Group 42">
            <a:extLst>
              <a:ext uri="{FF2B5EF4-FFF2-40B4-BE49-F238E27FC236}">
                <a16:creationId xmlns:a16="http://schemas.microsoft.com/office/drawing/2014/main" id="{55CF39AA-3511-4BB2-8A2B-9CFCC0E36182}"/>
              </a:ext>
            </a:extLst>
          </p:cNvPr>
          <p:cNvGrpSpPr/>
          <p:nvPr/>
        </p:nvGrpSpPr>
        <p:grpSpPr>
          <a:xfrm>
            <a:off x="9904384" y="5475203"/>
            <a:ext cx="1166956" cy="1166956"/>
            <a:chOff x="9904384" y="5302183"/>
            <a:chExt cx="1166956" cy="1166956"/>
          </a:xfrm>
          <a:solidFill>
            <a:schemeClr val="tx2">
              <a:lumMod val="50000"/>
              <a:lumOff val="50000"/>
            </a:schemeClr>
          </a:solidFill>
          <a:effectLst/>
        </p:grpSpPr>
        <p:pic>
          <p:nvPicPr>
            <p:cNvPr id="35" name="Graphic 34" descr="Flip calendar">
              <a:extLst>
                <a:ext uri="{FF2B5EF4-FFF2-40B4-BE49-F238E27FC236}">
                  <a16:creationId xmlns:a16="http://schemas.microsoft.com/office/drawing/2014/main" id="{4F59BAF9-80C8-4D07-9E7D-F2ECCCA8F0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04384" y="5302183"/>
              <a:ext cx="1166956" cy="1166956"/>
            </a:xfrm>
            <a:prstGeom prst="rect">
              <a:avLst/>
            </a:prstGeom>
          </p:spPr>
        </p:pic>
        <p:sp>
          <p:nvSpPr>
            <p:cNvPr id="39" name="TextBox 38">
              <a:extLst>
                <a:ext uri="{FF2B5EF4-FFF2-40B4-BE49-F238E27FC236}">
                  <a16:creationId xmlns:a16="http://schemas.microsoft.com/office/drawing/2014/main" id="{16F63893-E0D7-456F-9B45-04601C9AD3BB}"/>
                </a:ext>
              </a:extLst>
            </p:cNvPr>
            <p:cNvSpPr txBox="1"/>
            <p:nvPr/>
          </p:nvSpPr>
          <p:spPr>
            <a:xfrm>
              <a:off x="10297213" y="5861990"/>
              <a:ext cx="509048" cy="24624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1A3040">
                      <a:lumMod val="50000"/>
                      <a:lumOff val="50000"/>
                    </a:srgbClr>
                  </a:solidFill>
                  <a:effectLst/>
                  <a:uLnTx/>
                  <a:uFillTx/>
                  <a:latin typeface="Arial" panose="020B0604020202020204"/>
                  <a:ea typeface="+mn-ea"/>
                  <a:cs typeface="+mn-cs"/>
                </a:rPr>
                <a:t>P16</a:t>
              </a:r>
            </a:p>
          </p:txBody>
        </p:sp>
      </p:grpSp>
      <p:sp>
        <p:nvSpPr>
          <p:cNvPr id="44" name="Rectangle 43">
            <a:extLst>
              <a:ext uri="{FF2B5EF4-FFF2-40B4-BE49-F238E27FC236}">
                <a16:creationId xmlns:a16="http://schemas.microsoft.com/office/drawing/2014/main" id="{FE9EE663-CEAB-45D3-91E6-40A562CB9A2E}"/>
              </a:ext>
            </a:extLst>
          </p:cNvPr>
          <p:cNvSpPr/>
          <p:nvPr/>
        </p:nvSpPr>
        <p:spPr>
          <a:xfrm>
            <a:off x="579829" y="1935473"/>
            <a:ext cx="2567862" cy="1831271"/>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sng" strike="noStrike" kern="1200" cap="none" spc="0" normalizeH="0" baseline="0" noProof="0" dirty="0">
                <a:ln>
                  <a:noFill/>
                </a:ln>
                <a:solidFill>
                  <a:srgbClr val="FFFFFF"/>
                </a:solidFill>
                <a:effectLst/>
                <a:uLnTx/>
                <a:uFillTx/>
                <a:latin typeface="Arial" panose="020B0604020202020204"/>
                <a:ea typeface="+mn-ea"/>
                <a:cs typeface="+mn-cs"/>
              </a:rPr>
              <a:t>Postings in P13:</a:t>
            </a:r>
          </a:p>
          <a:p>
            <a:pPr marL="180000" marR="0" lvl="0" indent="-180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In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IFRS</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ledger only and only as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placeholder</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180000" marR="0" lvl="0" indent="-180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For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running year </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IFRS specific adjustments post IFRS ledger close (although practically unlikely)</a:t>
            </a:r>
          </a:p>
        </p:txBody>
      </p:sp>
      <p:sp>
        <p:nvSpPr>
          <p:cNvPr id="45" name="Rectangle 44">
            <a:extLst>
              <a:ext uri="{FF2B5EF4-FFF2-40B4-BE49-F238E27FC236}">
                <a16:creationId xmlns:a16="http://schemas.microsoft.com/office/drawing/2014/main" id="{43C4E267-84DE-4722-8520-63805D963A1A}"/>
              </a:ext>
            </a:extLst>
          </p:cNvPr>
          <p:cNvSpPr/>
          <p:nvPr/>
        </p:nvSpPr>
        <p:spPr>
          <a:xfrm>
            <a:off x="3449007" y="1935473"/>
            <a:ext cx="2567861" cy="3154710"/>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sng" strike="noStrike" kern="1200" cap="none" spc="0" normalizeH="0" baseline="0" noProof="0" dirty="0">
                <a:ln>
                  <a:noFill/>
                </a:ln>
                <a:solidFill>
                  <a:srgbClr val="FFFFFF"/>
                </a:solidFill>
                <a:effectLst/>
                <a:uLnTx/>
                <a:uFillTx/>
                <a:latin typeface="Arial" panose="020B0604020202020204"/>
                <a:ea typeface="+mn-ea"/>
                <a:cs typeface="+mn-cs"/>
              </a:rPr>
              <a:t>Postings in P14:</a:t>
            </a:r>
          </a:p>
          <a:p>
            <a:pPr marL="180000" marR="0" lvl="0" indent="-180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In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Statutory and Tax </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ledgers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ST</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and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TX</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216000" marR="0" lvl="1"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for </a:t>
            </a:r>
            <a:r>
              <a:rPr kumimoji="0" lang="en-GB" sz="1200" b="1" i="0" u="none" strike="noStrike" kern="1200" cap="none" spc="0" normalizeH="0" baseline="0" noProof="0" dirty="0">
                <a:ln>
                  <a:noFill/>
                </a:ln>
                <a:solidFill>
                  <a:srgbClr val="FFFFFF"/>
                </a:solidFill>
                <a:effectLst/>
                <a:uLnTx/>
                <a:uFillTx/>
                <a:latin typeface="Arial" panose="020B0604020202020204"/>
                <a:ea typeface="+mn-ea"/>
                <a:cs typeface="+mn-cs"/>
              </a:rPr>
              <a:t>current year</a:t>
            </a: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 ledger specific manual postings/adjustments </a:t>
            </a:r>
            <a:r>
              <a:rPr kumimoji="0" lang="en-GB" sz="1200" b="1" i="0" u="none" strike="noStrike" kern="1200" cap="none" spc="0" normalizeH="0" baseline="0" noProof="0" dirty="0">
                <a:ln>
                  <a:noFill/>
                </a:ln>
                <a:solidFill>
                  <a:srgbClr val="FFFFFF"/>
                </a:solidFill>
                <a:effectLst/>
                <a:uLnTx/>
                <a:uFillTx/>
                <a:latin typeface="Arial" panose="020B0604020202020204"/>
                <a:ea typeface="+mn-ea"/>
                <a:cs typeface="+mn-cs"/>
              </a:rPr>
              <a:t>post P12 </a:t>
            </a: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close </a:t>
            </a:r>
            <a:r>
              <a:rPr kumimoji="0" lang="en-GB" sz="1200" b="1" i="0" u="none" strike="noStrike" kern="1200" cap="none" spc="0" normalizeH="0" baseline="0" noProof="0" dirty="0">
                <a:ln>
                  <a:noFill/>
                </a:ln>
                <a:solidFill>
                  <a:srgbClr val="FFFFFF"/>
                </a:solidFill>
                <a:effectLst/>
                <a:uLnTx/>
                <a:uFillTx/>
                <a:latin typeface="Arial" panose="020B0604020202020204"/>
                <a:ea typeface="+mn-ea"/>
                <a:cs typeface="+mn-cs"/>
              </a:rPr>
              <a:t>until finalization</a:t>
            </a: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 of Statutory Financial Statements (audit sign off and CIT return finalization).</a:t>
            </a:r>
          </a:p>
          <a:p>
            <a:pPr marL="180000" marR="0" lvl="0" indent="-180000" algn="l" defTabSz="914400" rtl="0" eaLnBrk="1" fontAlgn="auto" latinLnBrk="0" hangingPunct="1">
              <a:lnSpc>
                <a:spcPts val="14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In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Statutory Extension ledger S1</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a:t>
            </a: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for annual </a:t>
            </a:r>
            <a:r>
              <a:rPr kumimoji="0" lang="en-GB" sz="1200" b="0" i="0" u="none" strike="noStrike" kern="1200" cap="none" spc="0" normalizeH="0" baseline="0" noProof="0" dirty="0" err="1">
                <a:ln>
                  <a:noFill/>
                </a:ln>
                <a:solidFill>
                  <a:srgbClr val="FFFFFF"/>
                </a:solidFill>
                <a:effectLst/>
                <a:uLnTx/>
                <a:uFillTx/>
                <a:latin typeface="Arial" panose="020B0604020202020204"/>
                <a:ea typeface="+mn-ea"/>
                <a:cs typeface="+mn-cs"/>
              </a:rPr>
              <a:t>CbC</a:t>
            </a: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 Reporting adjustments</a:t>
            </a:r>
          </a:p>
          <a:p>
            <a:pPr marL="180000" marR="0" lvl="0" indent="-180000" algn="l" defTabSz="914400" rtl="0" eaLnBrk="1" fontAlgn="auto" latinLnBrk="0" hangingPunct="1">
              <a:lnSpc>
                <a:spcPts val="14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In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Tax Extension ledger T1:</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a:t>
            </a:r>
            <a:r>
              <a:rPr kumimoji="0" lang="en-GB" sz="1200" b="0" i="0" u="none" strike="noStrike" kern="1200" cap="none" spc="0" normalizeH="0" baseline="0" noProof="0" dirty="0">
                <a:ln>
                  <a:noFill/>
                </a:ln>
                <a:solidFill>
                  <a:srgbClr val="FFFFFF"/>
                </a:solidFill>
                <a:effectLst/>
                <a:uLnTx/>
                <a:uFillTx/>
                <a:latin typeface="Arial" panose="020B0604020202020204"/>
                <a:ea typeface="+mn-ea"/>
                <a:cs typeface="+mn-cs"/>
              </a:rPr>
              <a:t>for annual Tax Perm Tagging</a:t>
            </a:r>
          </a:p>
        </p:txBody>
      </p:sp>
      <p:sp>
        <p:nvSpPr>
          <p:cNvPr id="46" name="Rectangle 45">
            <a:extLst>
              <a:ext uri="{FF2B5EF4-FFF2-40B4-BE49-F238E27FC236}">
                <a16:creationId xmlns:a16="http://schemas.microsoft.com/office/drawing/2014/main" id="{99F38DE9-8572-4B9B-A47A-439D18B6873D}"/>
              </a:ext>
            </a:extLst>
          </p:cNvPr>
          <p:cNvSpPr/>
          <p:nvPr/>
        </p:nvSpPr>
        <p:spPr>
          <a:xfrm>
            <a:off x="6327610" y="1935473"/>
            <a:ext cx="2521017" cy="2477601"/>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sng" strike="noStrike" kern="1200" cap="none" spc="0" normalizeH="0" baseline="0" noProof="0" dirty="0">
                <a:ln>
                  <a:noFill/>
                </a:ln>
                <a:solidFill>
                  <a:srgbClr val="FFFFFF"/>
                </a:solidFill>
                <a:effectLst/>
                <a:uLnTx/>
                <a:uFillTx/>
                <a:latin typeface="Arial" panose="020B0604020202020204"/>
                <a:ea typeface="+mn-ea"/>
                <a:cs typeface="+mn-cs"/>
              </a:rPr>
              <a:t>Postings in P15:</a:t>
            </a:r>
          </a:p>
          <a:p>
            <a:pPr marL="180000" marR="0" lvl="0" indent="-180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In</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 Statutory and Tax </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ledgers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ST</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and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TX </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only </a:t>
            </a:r>
          </a:p>
          <a:p>
            <a:pPr marL="180000" marR="0" lvl="0" indent="-180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For any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exceptional retrospective</a:t>
            </a: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 Statutory or Tax adjustments (upon Market CFO approval), which have occurred </a:t>
            </a:r>
            <a:r>
              <a:rPr kumimoji="0" lang="en-GB" sz="1400" b="1" i="0" u="none" strike="noStrike" kern="1200" cap="none" spc="0" normalizeH="0" baseline="0" noProof="0" dirty="0">
                <a:ln>
                  <a:noFill/>
                </a:ln>
                <a:solidFill>
                  <a:srgbClr val="FFFFFF"/>
                </a:solidFill>
                <a:effectLst/>
                <a:uLnTx/>
                <a:uFillTx/>
                <a:latin typeface="Arial" panose="020B0604020202020204"/>
                <a:ea typeface="+mn-ea"/>
                <a:cs typeface="+mn-cs"/>
              </a:rPr>
              <a:t>after the statutory audit and CIT filing.</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7" name="Rectangle 46">
            <a:extLst>
              <a:ext uri="{FF2B5EF4-FFF2-40B4-BE49-F238E27FC236}">
                <a16:creationId xmlns:a16="http://schemas.microsoft.com/office/drawing/2014/main" id="{2C955A33-46EC-40A4-8345-CD295BD9D7AA}"/>
              </a:ext>
            </a:extLst>
          </p:cNvPr>
          <p:cNvSpPr/>
          <p:nvPr/>
        </p:nvSpPr>
        <p:spPr>
          <a:xfrm>
            <a:off x="9239750" y="1935473"/>
            <a:ext cx="2436309" cy="1400383"/>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sng" strike="noStrike" kern="1200" cap="none" spc="0" normalizeH="0" baseline="0" noProof="0">
                <a:ln>
                  <a:noFill/>
                </a:ln>
                <a:solidFill>
                  <a:srgbClr val="FFFFFF"/>
                </a:solidFill>
                <a:effectLst/>
                <a:uLnTx/>
                <a:uFillTx/>
                <a:latin typeface="Arial" panose="020B0604020202020204"/>
                <a:ea typeface="+mn-ea"/>
                <a:cs typeface="+mn-cs"/>
              </a:rPr>
              <a:t>Postings in P16:</a:t>
            </a:r>
          </a:p>
          <a:p>
            <a:pPr marL="180000" marR="0" lvl="0" indent="-180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In</a:t>
            </a:r>
            <a:r>
              <a:rPr kumimoji="0" lang="en-GB" sz="1400" b="1" i="0" u="none" strike="noStrike" kern="1200" cap="none" spc="0" normalizeH="0" baseline="0" noProof="0">
                <a:ln>
                  <a:noFill/>
                </a:ln>
                <a:solidFill>
                  <a:srgbClr val="FFFFFF"/>
                </a:solidFill>
                <a:effectLst/>
                <a:uLnTx/>
                <a:uFillTx/>
                <a:latin typeface="Arial" panose="020B0604020202020204"/>
                <a:ea typeface="+mn-ea"/>
                <a:cs typeface="+mn-cs"/>
              </a:rPr>
              <a:t> all core ledgers</a:t>
            </a:r>
          </a:p>
          <a:p>
            <a:pPr marL="180000" marR="0" lvl="0" indent="-1800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For any </a:t>
            </a:r>
            <a:r>
              <a:rPr kumimoji="0" lang="en-GB" sz="1400" b="1" i="0" u="none" strike="noStrike" kern="1200" cap="none" spc="0" normalizeH="0" baseline="0" noProof="0">
                <a:ln>
                  <a:noFill/>
                </a:ln>
                <a:solidFill>
                  <a:srgbClr val="FFFFFF"/>
                </a:solidFill>
                <a:effectLst/>
                <a:uLnTx/>
                <a:uFillTx/>
                <a:latin typeface="Arial" panose="020B0604020202020204"/>
                <a:ea typeface="+mn-ea"/>
                <a:cs typeface="+mn-cs"/>
              </a:rPr>
              <a:t>technical and migration</a:t>
            </a: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 activities / adjustments.</a:t>
            </a:r>
          </a:p>
        </p:txBody>
      </p:sp>
      <p:sp>
        <p:nvSpPr>
          <p:cNvPr id="51" name="Rectangle 50">
            <a:extLst>
              <a:ext uri="{FF2B5EF4-FFF2-40B4-BE49-F238E27FC236}">
                <a16:creationId xmlns:a16="http://schemas.microsoft.com/office/drawing/2014/main" id="{4996D666-FACB-4791-929E-3F64561B0D75}"/>
              </a:ext>
            </a:extLst>
          </p:cNvPr>
          <p:cNvSpPr/>
          <p:nvPr/>
        </p:nvSpPr>
        <p:spPr>
          <a:xfrm>
            <a:off x="812351" y="1411982"/>
            <a:ext cx="10863709" cy="3231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5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For </a:t>
            </a:r>
            <a:r>
              <a:rPr kumimoji="0" lang="en-GB" sz="15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standardization</a:t>
            </a:r>
            <a:r>
              <a:rPr kumimoji="0" lang="en-GB" sz="15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and </a:t>
            </a:r>
            <a:r>
              <a:rPr kumimoji="0" lang="en-GB" sz="15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audit trail, governance</a:t>
            </a:r>
            <a:r>
              <a:rPr kumimoji="0" lang="en-GB" sz="15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will be established behind the usage of the Special Posting Periods:  </a:t>
            </a:r>
          </a:p>
        </p:txBody>
      </p:sp>
      <p:pic>
        <p:nvPicPr>
          <p:cNvPr id="52" name="Graphic 51" descr="Lightbulb and gear">
            <a:extLst>
              <a:ext uri="{FF2B5EF4-FFF2-40B4-BE49-F238E27FC236}">
                <a16:creationId xmlns:a16="http://schemas.microsoft.com/office/drawing/2014/main" id="{5D86FAF5-C950-404B-8A20-44B1D8EB930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15940" y="1377237"/>
            <a:ext cx="377268" cy="377268"/>
          </a:xfrm>
          <a:prstGeom prst="rect">
            <a:avLst/>
          </a:prstGeom>
        </p:spPr>
      </p:pic>
    </p:spTree>
    <p:extLst>
      <p:ext uri="{BB962C8B-B14F-4D97-AF65-F5344CB8AC3E}">
        <p14:creationId xmlns:p14="http://schemas.microsoft.com/office/powerpoint/2010/main" val="3464647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7FAB796-9307-4663-A49D-77DC14261DF9}"/>
              </a:ext>
            </a:extLst>
          </p:cNvPr>
          <p:cNvSpPr/>
          <p:nvPr/>
        </p:nvSpPr>
        <p:spPr>
          <a:xfrm>
            <a:off x="342848" y="6024487"/>
            <a:ext cx="11333212" cy="415498"/>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30000" noProof="0" dirty="0">
                <a:ln>
                  <a:noFill/>
                </a:ln>
                <a:solidFill>
                  <a:srgbClr val="FF0000"/>
                </a:solidFill>
                <a:effectLst/>
                <a:uLnTx/>
                <a:uFillTx/>
                <a:latin typeface="Arial" panose="020B0604020202020204"/>
                <a:ea typeface="+mn-ea"/>
                <a:cs typeface="+mn-cs"/>
              </a:rPr>
              <a:t>1) </a:t>
            </a:r>
            <a:r>
              <a:rPr kumimoji="0" lang="en-GB" sz="1050" b="0" i="1" u="none" strike="noStrike" kern="1200" cap="none" spc="0" normalizeH="0" baseline="0" noProof="0" dirty="0">
                <a:ln>
                  <a:noFill/>
                </a:ln>
                <a:solidFill>
                  <a:srgbClr val="000000"/>
                </a:solidFill>
                <a:effectLst/>
                <a:uLnTx/>
                <a:uFillTx/>
                <a:latin typeface="Arial" panose="020B0604020202020204"/>
                <a:ea typeface="+mn-ea"/>
                <a:cs typeface="+mn-cs"/>
              </a:rPr>
              <a:t>Please </a:t>
            </a:r>
            <a:r>
              <a:rPr kumimoji="0" lang="en-GB" sz="1050" b="1" i="1" u="none" strike="noStrike" kern="1200" cap="none" spc="0" normalizeH="0" baseline="0" noProof="0" dirty="0">
                <a:ln>
                  <a:noFill/>
                </a:ln>
                <a:solidFill>
                  <a:srgbClr val="000000"/>
                </a:solidFill>
                <a:effectLst/>
                <a:uLnTx/>
                <a:uFillTx/>
                <a:latin typeface="Arial" panose="020B0604020202020204"/>
                <a:ea typeface="+mn-ea"/>
                <a:cs typeface="+mn-cs"/>
              </a:rPr>
              <a:t>consult R2R Competency Center </a:t>
            </a:r>
            <a:r>
              <a:rPr kumimoji="0" lang="en-GB" sz="1050" b="0" i="1" u="none" strike="noStrike" kern="1200" cap="none" spc="0" normalizeH="0" baseline="0" noProof="0" dirty="0">
                <a:ln>
                  <a:noFill/>
                </a:ln>
                <a:solidFill>
                  <a:srgbClr val="000000"/>
                </a:solidFill>
                <a:effectLst/>
                <a:uLnTx/>
                <a:uFillTx/>
                <a:latin typeface="Arial" panose="020B0604020202020204"/>
                <a:ea typeface="+mn-ea"/>
                <a:cs typeface="+mn-cs"/>
              </a:rPr>
              <a:t>for the most up to date documented exceptions which allow entities to request a closed posting period (P1-P12) to be open and post an retrospective adjustment. The requirement of supporting documents and approvals are also documented for each approved exception. </a:t>
            </a:r>
          </a:p>
        </p:txBody>
      </p:sp>
      <p:sp>
        <p:nvSpPr>
          <p:cNvPr id="4" name="Slide Number Placeholder 3">
            <a:extLst>
              <a:ext uri="{FF2B5EF4-FFF2-40B4-BE49-F238E27FC236}">
                <a16:creationId xmlns:a16="http://schemas.microsoft.com/office/drawing/2014/main" id="{C151DD9F-8E14-4B5B-B621-F6441623128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BD477E04-FC4E-4D5A-B428-CF8970415C5A}"/>
              </a:ext>
            </a:extLst>
          </p:cNvPr>
          <p:cNvSpPr>
            <a:spLocks noGrp="1"/>
          </p:cNvSpPr>
          <p:nvPr>
            <p:ph type="title"/>
          </p:nvPr>
        </p:nvSpPr>
        <p:spPr/>
        <p:txBody>
          <a:bodyPr/>
          <a:lstStyle/>
          <a:p>
            <a:r>
              <a:rPr lang="en-US"/>
              <a:t>Process Overview: Retrospective Adjustments </a:t>
            </a:r>
          </a:p>
        </p:txBody>
      </p:sp>
      <p:sp>
        <p:nvSpPr>
          <p:cNvPr id="6" name="TextBox 5">
            <a:extLst>
              <a:ext uri="{FF2B5EF4-FFF2-40B4-BE49-F238E27FC236}">
                <a16:creationId xmlns:a16="http://schemas.microsoft.com/office/drawing/2014/main" id="{BB05F69B-6B44-450F-B9EA-86144C7D18A4}"/>
              </a:ext>
            </a:extLst>
          </p:cNvPr>
          <p:cNvSpPr txBox="1"/>
          <p:nvPr/>
        </p:nvSpPr>
        <p:spPr>
          <a:xfrm>
            <a:off x="515940" y="2072983"/>
            <a:ext cx="11160120" cy="29834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rial" panose="020B0604020202020204"/>
                <a:ea typeface="+mn-ea"/>
                <a:cs typeface="+mn-cs"/>
              </a:rPr>
              <a:t>In liaison with the GBS and R2R CC/FCG we have developed </a:t>
            </a:r>
            <a:r>
              <a:rPr kumimoji="0" lang="en-US" sz="1500" b="1" i="0" u="none" strike="noStrike" kern="1200" cap="none" spc="0" normalizeH="0" baseline="0" noProof="0" dirty="0">
                <a:ln>
                  <a:noFill/>
                </a:ln>
                <a:solidFill>
                  <a:srgbClr val="000000"/>
                </a:solidFill>
                <a:effectLst/>
                <a:uLnTx/>
                <a:uFillTx/>
                <a:latin typeface="Arial" panose="020B0604020202020204"/>
                <a:ea typeface="+mn-ea"/>
                <a:cs typeface="+mn-cs"/>
              </a:rPr>
              <a:t>a process of retrospective adjustments in closed periods:</a:t>
            </a:r>
          </a:p>
        </p:txBody>
      </p:sp>
      <p:sp>
        <p:nvSpPr>
          <p:cNvPr id="7" name="Rectangle: Rounded Corners 6">
            <a:extLst>
              <a:ext uri="{FF2B5EF4-FFF2-40B4-BE49-F238E27FC236}">
                <a16:creationId xmlns:a16="http://schemas.microsoft.com/office/drawing/2014/main" id="{F151330B-F132-4320-A811-486EAE2A0EC7}"/>
              </a:ext>
            </a:extLst>
          </p:cNvPr>
          <p:cNvSpPr/>
          <p:nvPr/>
        </p:nvSpPr>
        <p:spPr>
          <a:xfrm>
            <a:off x="515940" y="1366203"/>
            <a:ext cx="11160120" cy="523220"/>
          </a:xfrm>
          <a:prstGeom prst="roundRect">
            <a:avLst>
              <a:gd name="adj" fmla="val 4251"/>
            </a:avLst>
          </a:prstGeom>
          <a:gradFill>
            <a:gsLst>
              <a:gs pos="0">
                <a:schemeClr val="bg1"/>
              </a:gs>
              <a:gs pos="100000">
                <a:schemeClr val="accent1"/>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8EF65D8B-F69E-49F6-A316-3B7640CEE315}"/>
              </a:ext>
            </a:extLst>
          </p:cNvPr>
          <p:cNvSpPr/>
          <p:nvPr/>
        </p:nvSpPr>
        <p:spPr>
          <a:xfrm>
            <a:off x="852780" y="1366203"/>
            <a:ext cx="1086370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There may be </a:t>
            </a:r>
            <a:r>
              <a:rPr kumimoji="0" lang="en-GB" sz="14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valid situations </a:t>
            </a:r>
            <a:r>
              <a:rPr kumimoji="0" lang="en-GB" sz="14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(e.g. post financial audit or tax audit), </a:t>
            </a:r>
            <a:r>
              <a:rPr kumimoji="0" lang="en-GB" sz="14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when retrospective adjustments in closed prior periods</a:t>
            </a:r>
            <a:r>
              <a:rPr kumimoji="0" lang="en-GB" sz="14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are </a:t>
            </a:r>
            <a:r>
              <a:rPr kumimoji="0" lang="en-GB" sz="14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required</a:t>
            </a:r>
            <a:r>
              <a:rPr kumimoji="0" lang="en-GB" sz="14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t>
            </a:r>
          </a:p>
        </p:txBody>
      </p:sp>
      <p:pic>
        <p:nvPicPr>
          <p:cNvPr id="9" name="Graphic 8" descr="Lightbulb and gear">
            <a:extLst>
              <a:ext uri="{FF2B5EF4-FFF2-40B4-BE49-F238E27FC236}">
                <a16:creationId xmlns:a16="http://schemas.microsoft.com/office/drawing/2014/main" id="{1ADDE55B-F8A7-4B72-8C48-5E1C31D991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940" y="1377237"/>
            <a:ext cx="377268" cy="377268"/>
          </a:xfrm>
          <a:prstGeom prst="rect">
            <a:avLst/>
          </a:prstGeom>
        </p:spPr>
      </p:pic>
      <p:grpSp>
        <p:nvGrpSpPr>
          <p:cNvPr id="18" name="Group 17">
            <a:extLst>
              <a:ext uri="{FF2B5EF4-FFF2-40B4-BE49-F238E27FC236}">
                <a16:creationId xmlns:a16="http://schemas.microsoft.com/office/drawing/2014/main" id="{519AE087-5555-4C30-9A91-B56F04AC1692}"/>
              </a:ext>
            </a:extLst>
          </p:cNvPr>
          <p:cNvGrpSpPr/>
          <p:nvPr/>
        </p:nvGrpSpPr>
        <p:grpSpPr>
          <a:xfrm>
            <a:off x="420216" y="2411127"/>
            <a:ext cx="11160120" cy="3613360"/>
            <a:chOff x="477312" y="3032795"/>
            <a:chExt cx="9090619" cy="3118976"/>
          </a:xfrm>
        </p:grpSpPr>
        <p:sp>
          <p:nvSpPr>
            <p:cNvPr id="19" name="Arrow: Chevron 18">
              <a:extLst>
                <a:ext uri="{FF2B5EF4-FFF2-40B4-BE49-F238E27FC236}">
                  <a16:creationId xmlns:a16="http://schemas.microsoft.com/office/drawing/2014/main" id="{3539E1B2-DA79-4CA4-9210-F5EBAA3B473B}"/>
                </a:ext>
              </a:extLst>
            </p:cNvPr>
            <p:cNvSpPr/>
            <p:nvPr/>
          </p:nvSpPr>
          <p:spPr>
            <a:xfrm>
              <a:off x="477312" y="3032795"/>
              <a:ext cx="2017265" cy="778664"/>
            </a:xfrm>
            <a:prstGeom prst="chevron">
              <a:avLst>
                <a:gd name="adj" fmla="val 4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20" name="Freeform: Shape 19">
              <a:extLst>
                <a:ext uri="{FF2B5EF4-FFF2-40B4-BE49-F238E27FC236}">
                  <a16:creationId xmlns:a16="http://schemas.microsoft.com/office/drawing/2014/main" id="{AE5412F6-515A-426E-9B4D-13F780373B1D}"/>
                </a:ext>
              </a:extLst>
            </p:cNvPr>
            <p:cNvSpPr/>
            <p:nvPr/>
          </p:nvSpPr>
          <p:spPr>
            <a:xfrm>
              <a:off x="638170" y="3588634"/>
              <a:ext cx="2017265" cy="2563137"/>
            </a:xfrm>
            <a:custGeom>
              <a:avLst/>
              <a:gdLst>
                <a:gd name="connsiteX0" fmla="*/ 0 w 1703468"/>
                <a:gd name="connsiteY0" fmla="*/ 170347 h 3112438"/>
                <a:gd name="connsiteX1" fmla="*/ 170347 w 1703468"/>
                <a:gd name="connsiteY1" fmla="*/ 0 h 3112438"/>
                <a:gd name="connsiteX2" fmla="*/ 1533121 w 1703468"/>
                <a:gd name="connsiteY2" fmla="*/ 0 h 3112438"/>
                <a:gd name="connsiteX3" fmla="*/ 1703468 w 1703468"/>
                <a:gd name="connsiteY3" fmla="*/ 170347 h 3112438"/>
                <a:gd name="connsiteX4" fmla="*/ 1703468 w 1703468"/>
                <a:gd name="connsiteY4" fmla="*/ 2942091 h 3112438"/>
                <a:gd name="connsiteX5" fmla="*/ 1533121 w 1703468"/>
                <a:gd name="connsiteY5" fmla="*/ 3112438 h 3112438"/>
                <a:gd name="connsiteX6" fmla="*/ 170347 w 1703468"/>
                <a:gd name="connsiteY6" fmla="*/ 3112438 h 3112438"/>
                <a:gd name="connsiteX7" fmla="*/ 0 w 1703468"/>
                <a:gd name="connsiteY7" fmla="*/ 2942091 h 3112438"/>
                <a:gd name="connsiteX8" fmla="*/ 0 w 1703468"/>
                <a:gd name="connsiteY8" fmla="*/ 170347 h 311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3468" h="3112438">
                  <a:moveTo>
                    <a:pt x="0" y="170347"/>
                  </a:moveTo>
                  <a:cubicBezTo>
                    <a:pt x="0" y="76267"/>
                    <a:pt x="76267" y="0"/>
                    <a:pt x="170347" y="0"/>
                  </a:cubicBezTo>
                  <a:lnTo>
                    <a:pt x="1533121" y="0"/>
                  </a:lnTo>
                  <a:cubicBezTo>
                    <a:pt x="1627201" y="0"/>
                    <a:pt x="1703468" y="76267"/>
                    <a:pt x="1703468" y="170347"/>
                  </a:cubicBezTo>
                  <a:lnTo>
                    <a:pt x="1703468" y="2942091"/>
                  </a:lnTo>
                  <a:cubicBezTo>
                    <a:pt x="1703468" y="3036171"/>
                    <a:pt x="1627201" y="3112438"/>
                    <a:pt x="1533121" y="3112438"/>
                  </a:cubicBezTo>
                  <a:lnTo>
                    <a:pt x="170347" y="3112438"/>
                  </a:lnTo>
                  <a:cubicBezTo>
                    <a:pt x="76267" y="3112438"/>
                    <a:pt x="0" y="3036171"/>
                    <a:pt x="0" y="2942091"/>
                  </a:cubicBezTo>
                  <a:lnTo>
                    <a:pt x="0" y="170347"/>
                  </a:lnTo>
                  <a:close/>
                </a:path>
              </a:pathLst>
            </a:custGeom>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000" tIns="144000" rIns="36000" bIns="72000" numCol="1" spcCol="1270" anchor="t" anchorCtr="0">
              <a:noAutofit/>
            </a:bodyPr>
            <a:lstStyle/>
            <a:p>
              <a:pPr marL="0" marR="0" lvl="0" indent="0" algn="l" defTabSz="1555750" rtl="0" eaLnBrk="1" fontAlgn="auto" latinLnBrk="0" hangingPunct="1">
                <a:lnSpc>
                  <a:spcPct val="90000"/>
                </a:lnSpc>
                <a:spcBef>
                  <a:spcPct val="0"/>
                </a:spcBef>
                <a:spcAft>
                  <a:spcPct val="3500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Follow the standard MyRequest Journal process for posting to be made in the already closed posting periods in and/or STAT, TAX, S1, T1 ledgers. </a:t>
              </a:r>
              <a:endParaRPr kumimoji="0" lang="en-GB" sz="1100" b="0" i="0" u="none" strike="sng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1555750" rtl="0" eaLnBrk="1" fontAlgn="auto" latinLnBrk="0" hangingPunct="1">
                <a:lnSpc>
                  <a:spcPct val="90000"/>
                </a:lnSpc>
                <a:spcBef>
                  <a:spcPct val="0"/>
                </a:spcBef>
                <a:spcAft>
                  <a:spcPct val="350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Arrow: Chevron 20">
              <a:extLst>
                <a:ext uri="{FF2B5EF4-FFF2-40B4-BE49-F238E27FC236}">
                  <a16:creationId xmlns:a16="http://schemas.microsoft.com/office/drawing/2014/main" id="{B40CD3DA-E23F-4673-96E3-9CEF42F14D06}"/>
                </a:ext>
              </a:extLst>
            </p:cNvPr>
            <p:cNvSpPr/>
            <p:nvPr/>
          </p:nvSpPr>
          <p:spPr>
            <a:xfrm>
              <a:off x="2781477" y="3032795"/>
              <a:ext cx="2017265" cy="778664"/>
            </a:xfrm>
            <a:prstGeom prst="chevron">
              <a:avLst>
                <a:gd name="adj" fmla="val 40000"/>
              </a:avLst>
            </a:pr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22" name="Freeform: Shape 21">
              <a:extLst>
                <a:ext uri="{FF2B5EF4-FFF2-40B4-BE49-F238E27FC236}">
                  <a16:creationId xmlns:a16="http://schemas.microsoft.com/office/drawing/2014/main" id="{A5691FAD-8661-458E-8D97-D4E52A788916}"/>
                </a:ext>
              </a:extLst>
            </p:cNvPr>
            <p:cNvSpPr/>
            <p:nvPr/>
          </p:nvSpPr>
          <p:spPr>
            <a:xfrm>
              <a:off x="2942335" y="3588634"/>
              <a:ext cx="2017265" cy="2563137"/>
            </a:xfrm>
            <a:custGeom>
              <a:avLst/>
              <a:gdLst>
                <a:gd name="connsiteX0" fmla="*/ 0 w 1703468"/>
                <a:gd name="connsiteY0" fmla="*/ 170347 h 3112438"/>
                <a:gd name="connsiteX1" fmla="*/ 170347 w 1703468"/>
                <a:gd name="connsiteY1" fmla="*/ 0 h 3112438"/>
                <a:gd name="connsiteX2" fmla="*/ 1533121 w 1703468"/>
                <a:gd name="connsiteY2" fmla="*/ 0 h 3112438"/>
                <a:gd name="connsiteX3" fmla="*/ 1703468 w 1703468"/>
                <a:gd name="connsiteY3" fmla="*/ 170347 h 3112438"/>
                <a:gd name="connsiteX4" fmla="*/ 1703468 w 1703468"/>
                <a:gd name="connsiteY4" fmla="*/ 2942091 h 3112438"/>
                <a:gd name="connsiteX5" fmla="*/ 1533121 w 1703468"/>
                <a:gd name="connsiteY5" fmla="*/ 3112438 h 3112438"/>
                <a:gd name="connsiteX6" fmla="*/ 170347 w 1703468"/>
                <a:gd name="connsiteY6" fmla="*/ 3112438 h 3112438"/>
                <a:gd name="connsiteX7" fmla="*/ 0 w 1703468"/>
                <a:gd name="connsiteY7" fmla="*/ 2942091 h 3112438"/>
                <a:gd name="connsiteX8" fmla="*/ 0 w 1703468"/>
                <a:gd name="connsiteY8" fmla="*/ 170347 h 311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3468" h="3112438">
                  <a:moveTo>
                    <a:pt x="0" y="170347"/>
                  </a:moveTo>
                  <a:cubicBezTo>
                    <a:pt x="0" y="76267"/>
                    <a:pt x="76267" y="0"/>
                    <a:pt x="170347" y="0"/>
                  </a:cubicBezTo>
                  <a:lnTo>
                    <a:pt x="1533121" y="0"/>
                  </a:lnTo>
                  <a:cubicBezTo>
                    <a:pt x="1627201" y="0"/>
                    <a:pt x="1703468" y="76267"/>
                    <a:pt x="1703468" y="170347"/>
                  </a:cubicBezTo>
                  <a:lnTo>
                    <a:pt x="1703468" y="2942091"/>
                  </a:lnTo>
                  <a:cubicBezTo>
                    <a:pt x="1703468" y="3036171"/>
                    <a:pt x="1627201" y="3112438"/>
                    <a:pt x="1533121" y="3112438"/>
                  </a:cubicBezTo>
                  <a:lnTo>
                    <a:pt x="170347" y="3112438"/>
                  </a:lnTo>
                  <a:cubicBezTo>
                    <a:pt x="76267" y="3112438"/>
                    <a:pt x="0" y="3036171"/>
                    <a:pt x="0" y="2942091"/>
                  </a:cubicBezTo>
                  <a:lnTo>
                    <a:pt x="0" y="17034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000" tIns="144000" rIns="36000" bIns="72000" numCol="1" spcCol="127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Ensure the e-mail confirmation is attached to the MyRequest journal template containing </a:t>
              </a:r>
              <a:r>
                <a:rPr kumimoji="0" lang="en-GB" sz="1100" b="0" i="1" u="none" strike="noStrike" kern="1200" cap="none" spc="0" normalizeH="0" baseline="30000" noProof="0" dirty="0">
                  <a:ln>
                    <a:noFill/>
                  </a:ln>
                  <a:solidFill>
                    <a:srgbClr val="FF0000"/>
                  </a:solidFill>
                  <a:effectLst/>
                  <a:uLnTx/>
                  <a:uFillTx/>
                  <a:latin typeface="Arial" panose="020B0604020202020204"/>
                  <a:ea typeface="+mn-ea"/>
                  <a:cs typeface="+mn-cs"/>
                </a:rPr>
                <a:t>1)</a:t>
              </a:r>
              <a:r>
                <a:rPr kumimoji="0" lang="en-GB" sz="1100" b="0" i="1" u="none" strike="noStrike" kern="1200" cap="none" spc="0" normalizeH="0" baseline="30000" noProof="0" dirty="0">
                  <a:ln>
                    <a:noFill/>
                  </a:ln>
                  <a:solidFill>
                    <a:srgbClr val="000000"/>
                  </a:solidFill>
                  <a:effectLst/>
                  <a:uLnTx/>
                  <a:uFillTx/>
                  <a:latin typeface="Arial" panose="020B0604020202020204"/>
                  <a:ea typeface="+mn-ea"/>
                  <a:cs typeface="+mn-cs"/>
                </a:rPr>
                <a:t>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228600" marR="0" lvl="0" indent="-228600" algn="l" defTabSz="914400" rtl="0" eaLnBrk="1" fontAlgn="auto" latinLnBrk="0" hangingPunct="1">
                <a:lnSpc>
                  <a:spcPct val="100000"/>
                </a:lnSpc>
                <a:spcBef>
                  <a:spcPts val="600"/>
                </a:spcBef>
                <a:spcAft>
                  <a:spcPts val="0"/>
                </a:spcAft>
                <a:buClrTx/>
                <a:buSzTx/>
                <a:buFontTx/>
                <a:buAutoNum type="arabicParen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Explanation of the reason/criticality of the re-opening of period and posting of journal;</a:t>
              </a:r>
            </a:p>
            <a:p>
              <a:pPr marL="228600" marR="0" lvl="0" indent="-228600" algn="l" defTabSz="914400" rtl="0" eaLnBrk="1" fontAlgn="auto" latinLnBrk="0" hangingPunct="1">
                <a:lnSpc>
                  <a:spcPct val="100000"/>
                </a:lnSpc>
                <a:spcBef>
                  <a:spcPts val="600"/>
                </a:spcBef>
                <a:spcAft>
                  <a:spcPts val="0"/>
                </a:spcAft>
                <a:buClrTx/>
                <a:buSzTx/>
                <a:buFontTx/>
                <a:buAutoNum type="arabicParen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CFO approval. </a:t>
              </a:r>
            </a:p>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Arrow: Chevron 22">
              <a:extLst>
                <a:ext uri="{FF2B5EF4-FFF2-40B4-BE49-F238E27FC236}">
                  <a16:creationId xmlns:a16="http://schemas.microsoft.com/office/drawing/2014/main" id="{C6F0E7BF-758B-49F8-B4AA-0A5ED6F47E58}"/>
                </a:ext>
              </a:extLst>
            </p:cNvPr>
            <p:cNvSpPr/>
            <p:nvPr/>
          </p:nvSpPr>
          <p:spPr>
            <a:xfrm>
              <a:off x="5085642" y="3032795"/>
              <a:ext cx="2017265" cy="778664"/>
            </a:xfrm>
            <a:prstGeom prst="chevron">
              <a:avLst>
                <a:gd name="adj" fmla="val 40000"/>
              </a:avLst>
            </a:prstGeom>
          </p:spPr>
          <p:style>
            <a:lnRef idx="0">
              <a:schemeClr val="lt1">
                <a:hueOff val="0"/>
                <a:satOff val="0"/>
                <a:lumOff val="0"/>
                <a:alphaOff val="0"/>
              </a:schemeClr>
            </a:lnRef>
            <a:fillRef idx="3">
              <a:schemeClr val="accent4">
                <a:hueOff val="0"/>
                <a:satOff val="0"/>
                <a:lumOff val="0"/>
                <a:alphaOff val="0"/>
              </a:schemeClr>
            </a:fillRef>
            <a:effectRef idx="3">
              <a:schemeClr val="accent4">
                <a:hueOff val="0"/>
                <a:satOff val="0"/>
                <a:lumOff val="0"/>
                <a:alphaOff val="0"/>
              </a:schemeClr>
            </a:effectRef>
            <a:fontRef idx="minor">
              <a:schemeClr val="lt1"/>
            </a:fontRef>
          </p:style>
        </p:sp>
        <p:sp>
          <p:nvSpPr>
            <p:cNvPr id="24" name="Freeform: Shape 23">
              <a:extLst>
                <a:ext uri="{FF2B5EF4-FFF2-40B4-BE49-F238E27FC236}">
                  <a16:creationId xmlns:a16="http://schemas.microsoft.com/office/drawing/2014/main" id="{A529D499-755C-470C-9083-4F13AC5247B0}"/>
                </a:ext>
              </a:extLst>
            </p:cNvPr>
            <p:cNvSpPr/>
            <p:nvPr/>
          </p:nvSpPr>
          <p:spPr>
            <a:xfrm>
              <a:off x="5246501" y="3588634"/>
              <a:ext cx="2017265" cy="2563137"/>
            </a:xfrm>
            <a:custGeom>
              <a:avLst/>
              <a:gdLst>
                <a:gd name="connsiteX0" fmla="*/ 0 w 1703468"/>
                <a:gd name="connsiteY0" fmla="*/ 170347 h 3112438"/>
                <a:gd name="connsiteX1" fmla="*/ 170347 w 1703468"/>
                <a:gd name="connsiteY1" fmla="*/ 0 h 3112438"/>
                <a:gd name="connsiteX2" fmla="*/ 1533121 w 1703468"/>
                <a:gd name="connsiteY2" fmla="*/ 0 h 3112438"/>
                <a:gd name="connsiteX3" fmla="*/ 1703468 w 1703468"/>
                <a:gd name="connsiteY3" fmla="*/ 170347 h 3112438"/>
                <a:gd name="connsiteX4" fmla="*/ 1703468 w 1703468"/>
                <a:gd name="connsiteY4" fmla="*/ 2942091 h 3112438"/>
                <a:gd name="connsiteX5" fmla="*/ 1533121 w 1703468"/>
                <a:gd name="connsiteY5" fmla="*/ 3112438 h 3112438"/>
                <a:gd name="connsiteX6" fmla="*/ 170347 w 1703468"/>
                <a:gd name="connsiteY6" fmla="*/ 3112438 h 3112438"/>
                <a:gd name="connsiteX7" fmla="*/ 0 w 1703468"/>
                <a:gd name="connsiteY7" fmla="*/ 2942091 h 3112438"/>
                <a:gd name="connsiteX8" fmla="*/ 0 w 1703468"/>
                <a:gd name="connsiteY8" fmla="*/ 170347 h 311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3468" h="3112438">
                  <a:moveTo>
                    <a:pt x="0" y="170347"/>
                  </a:moveTo>
                  <a:cubicBezTo>
                    <a:pt x="0" y="76267"/>
                    <a:pt x="76267" y="0"/>
                    <a:pt x="170347" y="0"/>
                  </a:cubicBezTo>
                  <a:lnTo>
                    <a:pt x="1533121" y="0"/>
                  </a:lnTo>
                  <a:cubicBezTo>
                    <a:pt x="1627201" y="0"/>
                    <a:pt x="1703468" y="76267"/>
                    <a:pt x="1703468" y="170347"/>
                  </a:cubicBezTo>
                  <a:lnTo>
                    <a:pt x="1703468" y="2942091"/>
                  </a:lnTo>
                  <a:cubicBezTo>
                    <a:pt x="1703468" y="3036171"/>
                    <a:pt x="1627201" y="3112438"/>
                    <a:pt x="1533121" y="3112438"/>
                  </a:cubicBezTo>
                  <a:lnTo>
                    <a:pt x="170347" y="3112438"/>
                  </a:lnTo>
                  <a:cubicBezTo>
                    <a:pt x="76267" y="3112438"/>
                    <a:pt x="0" y="3036171"/>
                    <a:pt x="0" y="2942091"/>
                  </a:cubicBezTo>
                  <a:lnTo>
                    <a:pt x="0" y="170347"/>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000" tIns="144000" rIns="36000" bIns="72000" numCol="1" spcCol="1270" anchor="t"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Upon noticing that posting is designated into a closed period:</a:t>
              </a:r>
            </a:p>
            <a:p>
              <a:pPr marL="144000" marR="0" lvl="0" indent="-144000" algn="l" defTabSz="271145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Validate that e-mail justification/CFO approval is attached to MyRequest and will re-open the required ledger, post and close:</a:t>
              </a:r>
            </a:p>
            <a:p>
              <a:pPr marL="144000" marR="0" lvl="0" indent="-144000" algn="l" defTabSz="271145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Post the adjustment (ST, TX, T1 ledgers may be concerned) in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special posting period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P15 if it is required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after</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STAT audit or CIT filing</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144000" marR="0" lvl="0" indent="-144000" algn="l" defTabSz="2711450" rtl="0" eaLnBrk="1" fontAlgn="auto" latinLnBrk="0" hangingPunct="1">
                <a:lnSpc>
                  <a:spcPct val="90000"/>
                </a:lnSpc>
                <a:spcBef>
                  <a:spcPct val="0"/>
                </a:spcBef>
                <a:spcAft>
                  <a:spcPct val="350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Post the adjustment in relevant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standard</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posting periods P1-P12 if it is for entities which have the approved exception documented in the GRM (see footnote</a:t>
              </a:r>
              <a:r>
                <a:rPr kumimoji="0" lang="en-GB" sz="1100" b="0" i="1"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100" b="0" i="1" u="none" strike="noStrike" kern="1200" cap="none" spc="0" normalizeH="0" baseline="30000" noProof="0" dirty="0">
                  <a:ln>
                    <a:noFill/>
                  </a:ln>
                  <a:solidFill>
                    <a:srgbClr val="FF0000"/>
                  </a:solidFill>
                  <a:effectLst/>
                  <a:uLnTx/>
                  <a:uFillTx/>
                  <a:latin typeface="Arial" panose="020B0604020202020204"/>
                  <a:ea typeface="+mn-ea"/>
                  <a:cs typeface="+mn-cs"/>
                </a:rPr>
                <a:t>1)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below).</a:t>
              </a:r>
            </a:p>
          </p:txBody>
        </p:sp>
        <p:sp>
          <p:nvSpPr>
            <p:cNvPr id="25" name="Arrow: Chevron 24">
              <a:extLst>
                <a:ext uri="{FF2B5EF4-FFF2-40B4-BE49-F238E27FC236}">
                  <a16:creationId xmlns:a16="http://schemas.microsoft.com/office/drawing/2014/main" id="{898CC53A-C727-401A-AC83-1794115CED1E}"/>
                </a:ext>
              </a:extLst>
            </p:cNvPr>
            <p:cNvSpPr/>
            <p:nvPr/>
          </p:nvSpPr>
          <p:spPr>
            <a:xfrm>
              <a:off x="7389808" y="3032795"/>
              <a:ext cx="2017265" cy="778664"/>
            </a:xfrm>
            <a:prstGeom prst="chevron">
              <a:avLst>
                <a:gd name="adj" fmla="val 40000"/>
              </a:avLst>
            </a:prstGeom>
          </p:spPr>
          <p:style>
            <a:lnRef idx="0">
              <a:schemeClr val="lt1">
                <a:hueOff val="0"/>
                <a:satOff val="0"/>
                <a:lumOff val="0"/>
                <a:alphaOff val="0"/>
              </a:schemeClr>
            </a:lnRef>
            <a:fillRef idx="3">
              <a:schemeClr val="accent5">
                <a:hueOff val="0"/>
                <a:satOff val="0"/>
                <a:lumOff val="0"/>
                <a:alphaOff val="0"/>
              </a:schemeClr>
            </a:fillRef>
            <a:effectRef idx="3">
              <a:schemeClr val="accent5">
                <a:hueOff val="0"/>
                <a:satOff val="0"/>
                <a:lumOff val="0"/>
                <a:alphaOff val="0"/>
              </a:schemeClr>
            </a:effectRef>
            <a:fontRef idx="minor">
              <a:schemeClr val="lt1"/>
            </a:fontRef>
          </p:style>
        </p:sp>
        <p:sp>
          <p:nvSpPr>
            <p:cNvPr id="26" name="Freeform: Shape 25">
              <a:extLst>
                <a:ext uri="{FF2B5EF4-FFF2-40B4-BE49-F238E27FC236}">
                  <a16:creationId xmlns:a16="http://schemas.microsoft.com/office/drawing/2014/main" id="{D65749F0-7657-4B37-BB77-FA662556C4B1}"/>
                </a:ext>
              </a:extLst>
            </p:cNvPr>
            <p:cNvSpPr/>
            <p:nvPr/>
          </p:nvSpPr>
          <p:spPr>
            <a:xfrm>
              <a:off x="7550666" y="3588634"/>
              <a:ext cx="2017265" cy="2563137"/>
            </a:xfrm>
            <a:custGeom>
              <a:avLst/>
              <a:gdLst>
                <a:gd name="connsiteX0" fmla="*/ 0 w 1703468"/>
                <a:gd name="connsiteY0" fmla="*/ 170347 h 3112438"/>
                <a:gd name="connsiteX1" fmla="*/ 170347 w 1703468"/>
                <a:gd name="connsiteY1" fmla="*/ 0 h 3112438"/>
                <a:gd name="connsiteX2" fmla="*/ 1533121 w 1703468"/>
                <a:gd name="connsiteY2" fmla="*/ 0 h 3112438"/>
                <a:gd name="connsiteX3" fmla="*/ 1703468 w 1703468"/>
                <a:gd name="connsiteY3" fmla="*/ 170347 h 3112438"/>
                <a:gd name="connsiteX4" fmla="*/ 1703468 w 1703468"/>
                <a:gd name="connsiteY4" fmla="*/ 2942091 h 3112438"/>
                <a:gd name="connsiteX5" fmla="*/ 1533121 w 1703468"/>
                <a:gd name="connsiteY5" fmla="*/ 3112438 h 3112438"/>
                <a:gd name="connsiteX6" fmla="*/ 170347 w 1703468"/>
                <a:gd name="connsiteY6" fmla="*/ 3112438 h 3112438"/>
                <a:gd name="connsiteX7" fmla="*/ 0 w 1703468"/>
                <a:gd name="connsiteY7" fmla="*/ 2942091 h 3112438"/>
                <a:gd name="connsiteX8" fmla="*/ 0 w 1703468"/>
                <a:gd name="connsiteY8" fmla="*/ 170347 h 311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3468" h="3112438">
                  <a:moveTo>
                    <a:pt x="0" y="170347"/>
                  </a:moveTo>
                  <a:cubicBezTo>
                    <a:pt x="0" y="76267"/>
                    <a:pt x="76267" y="0"/>
                    <a:pt x="170347" y="0"/>
                  </a:cubicBezTo>
                  <a:lnTo>
                    <a:pt x="1533121" y="0"/>
                  </a:lnTo>
                  <a:cubicBezTo>
                    <a:pt x="1627201" y="0"/>
                    <a:pt x="1703468" y="76267"/>
                    <a:pt x="1703468" y="170347"/>
                  </a:cubicBezTo>
                  <a:lnTo>
                    <a:pt x="1703468" y="2942091"/>
                  </a:lnTo>
                  <a:cubicBezTo>
                    <a:pt x="1703468" y="3036171"/>
                    <a:pt x="1627201" y="3112438"/>
                    <a:pt x="1533121" y="3112438"/>
                  </a:cubicBezTo>
                  <a:lnTo>
                    <a:pt x="170347" y="3112438"/>
                  </a:lnTo>
                  <a:cubicBezTo>
                    <a:pt x="76267" y="3112438"/>
                    <a:pt x="0" y="3036171"/>
                    <a:pt x="0" y="2942091"/>
                  </a:cubicBezTo>
                  <a:lnTo>
                    <a:pt x="0" y="170347"/>
                  </a:lnTo>
                  <a:close/>
                </a:path>
              </a:pathLst>
            </a:custGeom>
          </p:spPr>
          <p:style>
            <a:lnRef idx="1">
              <a:schemeClr val="accent5">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000" tIns="144000" rIns="36000" bIns="72000" numCol="1" spcCol="1270" anchor="t" anchorCtr="0">
              <a:noAutofit/>
            </a:bodyPr>
            <a:lstStyle/>
            <a:p>
              <a:pPr marL="0" marR="0" lvl="0" indent="0" algn="l" defTabSz="2667000" rtl="0" eaLnBrk="1" fontAlgn="auto" latinLnBrk="0" hangingPunct="1">
                <a:lnSpc>
                  <a:spcPct val="90000"/>
                </a:lnSpc>
                <a:spcBef>
                  <a:spcPct val="0"/>
                </a:spcBef>
                <a:spcAft>
                  <a:spcPct val="3500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Any of such retrospective adjustments</a:t>
              </a:r>
            </a:p>
            <a:p>
              <a:pPr marL="0" marR="0" lvl="0" indent="0" algn="l" defTabSz="2667000" rtl="0" eaLnBrk="1" fontAlgn="auto" latinLnBrk="0" hangingPunct="1">
                <a:lnSpc>
                  <a:spcPct val="90000"/>
                </a:lnSpc>
                <a:spcBef>
                  <a:spcPct val="0"/>
                </a:spcBef>
                <a:spcAft>
                  <a:spcPct val="3500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 - </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may impact on what we have reported for </a:t>
              </a:r>
              <a:r>
                <a:rPr kumimoji="0" lang="en-GB" sz="1100" b="0" i="0" u="none" strike="noStrike" kern="1200" cap="none" spc="0" normalizeH="0" baseline="0" noProof="0" err="1">
                  <a:ln>
                    <a:noFill/>
                  </a:ln>
                  <a:solidFill>
                    <a:srgbClr val="000000"/>
                  </a:solidFill>
                  <a:effectLst/>
                  <a:uLnTx/>
                  <a:uFillTx/>
                  <a:latin typeface="Arial" panose="020B0604020202020204"/>
                  <a:ea typeface="+mn-ea"/>
                  <a:cs typeface="+mn-cs"/>
                </a:rPr>
                <a:t>CbCR</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or JCFC;</a:t>
              </a:r>
            </a:p>
            <a:p>
              <a:pPr marL="0" marR="0" lvl="0" indent="0" algn="l" defTabSz="2667000" rtl="0" eaLnBrk="1" fontAlgn="auto" latinLnBrk="0" hangingPunct="1">
                <a:lnSpc>
                  <a:spcPct val="90000"/>
                </a:lnSpc>
                <a:spcBef>
                  <a:spcPct val="0"/>
                </a:spcBef>
                <a:spcAft>
                  <a:spcPct val="3500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 may need to be analysed from the perspective of STAT/TAX ledger closing process/timing efficiency</a:t>
              </a:r>
            </a:p>
            <a:p>
              <a:pPr marL="0" marR="0" lvl="0" indent="0" algn="l" defTabSz="2667000" rtl="0" eaLnBrk="1" fontAlgn="auto" latinLnBrk="0" hangingPunct="1">
                <a:lnSpc>
                  <a:spcPct val="90000"/>
                </a:lnSpc>
                <a:spcBef>
                  <a:spcPct val="0"/>
                </a:spcBef>
                <a:spcAft>
                  <a:spcPct val="3500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they</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 will therefore be monitored by R2R CC. </a:t>
              </a:r>
            </a:p>
          </p:txBody>
        </p:sp>
      </p:grpSp>
      <p:sp>
        <p:nvSpPr>
          <p:cNvPr id="30" name="TextBox 29">
            <a:extLst>
              <a:ext uri="{FF2B5EF4-FFF2-40B4-BE49-F238E27FC236}">
                <a16:creationId xmlns:a16="http://schemas.microsoft.com/office/drawing/2014/main" id="{0339CA8D-5BFA-47D3-AA3C-B8DC0268891E}"/>
              </a:ext>
            </a:extLst>
          </p:cNvPr>
          <p:cNvSpPr txBox="1"/>
          <p:nvPr/>
        </p:nvSpPr>
        <p:spPr>
          <a:xfrm>
            <a:off x="893208" y="2601799"/>
            <a:ext cx="1564850" cy="460941"/>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Entity</a:t>
            </a:r>
          </a:p>
        </p:txBody>
      </p:sp>
      <p:sp>
        <p:nvSpPr>
          <p:cNvPr id="31" name="TextBox 30">
            <a:extLst>
              <a:ext uri="{FF2B5EF4-FFF2-40B4-BE49-F238E27FC236}">
                <a16:creationId xmlns:a16="http://schemas.microsoft.com/office/drawing/2014/main" id="{003E1023-201D-4AB6-8E25-0C8B5C198535}"/>
              </a:ext>
            </a:extLst>
          </p:cNvPr>
          <p:cNvSpPr txBox="1"/>
          <p:nvPr/>
        </p:nvSpPr>
        <p:spPr>
          <a:xfrm>
            <a:off x="3850479" y="2612979"/>
            <a:ext cx="1564850" cy="460941"/>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Entity</a:t>
            </a:r>
          </a:p>
        </p:txBody>
      </p:sp>
      <p:sp>
        <p:nvSpPr>
          <p:cNvPr id="32" name="TextBox 31">
            <a:extLst>
              <a:ext uri="{FF2B5EF4-FFF2-40B4-BE49-F238E27FC236}">
                <a16:creationId xmlns:a16="http://schemas.microsoft.com/office/drawing/2014/main" id="{D1102629-7C13-43CF-9A29-485914A036EB}"/>
              </a:ext>
            </a:extLst>
          </p:cNvPr>
          <p:cNvSpPr txBox="1"/>
          <p:nvPr/>
        </p:nvSpPr>
        <p:spPr>
          <a:xfrm>
            <a:off x="6657822" y="2594130"/>
            <a:ext cx="1564850" cy="460941"/>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panose="020B0604020202020204"/>
                <a:ea typeface="+mn-ea"/>
                <a:cs typeface="+mn-cs"/>
              </a:rPr>
              <a:t>GBS</a:t>
            </a:r>
          </a:p>
        </p:txBody>
      </p:sp>
      <p:sp>
        <p:nvSpPr>
          <p:cNvPr id="33" name="TextBox 32">
            <a:extLst>
              <a:ext uri="{FF2B5EF4-FFF2-40B4-BE49-F238E27FC236}">
                <a16:creationId xmlns:a16="http://schemas.microsoft.com/office/drawing/2014/main" id="{510EA8D3-E820-457A-A603-AB0333343F40}"/>
              </a:ext>
            </a:extLst>
          </p:cNvPr>
          <p:cNvSpPr txBox="1"/>
          <p:nvPr/>
        </p:nvSpPr>
        <p:spPr>
          <a:xfrm>
            <a:off x="9463744" y="2601799"/>
            <a:ext cx="1564850" cy="460941"/>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R2R CC</a:t>
            </a:r>
          </a:p>
        </p:txBody>
      </p:sp>
    </p:spTree>
    <p:extLst>
      <p:ext uri="{BB962C8B-B14F-4D97-AF65-F5344CB8AC3E}">
        <p14:creationId xmlns:p14="http://schemas.microsoft.com/office/powerpoint/2010/main" val="3116393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dirty="0"/>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2165678" y="205833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JTI Period End Closing Model</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8" name="Rectangle: Rounded Corners 67">
            <a:extLst>
              <a:ext uri="{FF2B5EF4-FFF2-40B4-BE49-F238E27FC236}">
                <a16:creationId xmlns:a16="http://schemas.microsoft.com/office/drawing/2014/main" id="{F70A739C-6F0C-4734-8646-E55C4FFFA36E}"/>
              </a:ext>
            </a:extLst>
          </p:cNvPr>
          <p:cNvSpPr/>
          <p:nvPr/>
        </p:nvSpPr>
        <p:spPr>
          <a:xfrm>
            <a:off x="2165678" y="270201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Statutory and Tax Ledger Closing Principles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2165678" y="3345696"/>
            <a:ext cx="4725316"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Key Timings and Usage of Posting Periods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2165678" y="398937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 Glance of Period End Closing Process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2165678" y="463305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Period End Closing Key Focus Areas</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a:endCxn id="68" idx="1"/>
          </p:cNvCxnSpPr>
          <p:nvPr/>
        </p:nvCxnSpPr>
        <p:spPr>
          <a:xfrm flipV="1">
            <a:off x="1854000" y="2943216"/>
            <a:ext cx="311678" cy="50018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8" name="Elbow Connector 29">
            <a:extLst>
              <a:ext uri="{FF2B5EF4-FFF2-40B4-BE49-F238E27FC236}">
                <a16:creationId xmlns:a16="http://schemas.microsoft.com/office/drawing/2014/main" id="{CBD32835-07E5-47C3-955C-F283F049A283}"/>
              </a:ext>
            </a:extLst>
          </p:cNvPr>
          <p:cNvCxnSpPr>
            <a:cxnSpLocks/>
            <a:stCxn id="26" idx="6"/>
            <a:endCxn id="69" idx="1"/>
          </p:cNvCxnSpPr>
          <p:nvPr/>
        </p:nvCxnSpPr>
        <p:spPr>
          <a:xfrm>
            <a:off x="1854000" y="3443400"/>
            <a:ext cx="311678" cy="14349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311678" cy="78717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311678" cy="143085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299536"/>
            <a:ext cx="311678" cy="1143864"/>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F8DDD4B-FF11-4E91-9AC6-67C497D3E36D}"/>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rgbClr val="005955"/>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8E513AE1-BFE1-40E0-901D-3FF7A7E0B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00" y="3156545"/>
              <a:ext cx="687600" cy="687600"/>
            </a:xfrm>
            <a:prstGeom prst="rect">
              <a:avLst/>
            </a:prstGeom>
          </p:spPr>
        </p:pic>
      </p:grpSp>
      <p:sp>
        <p:nvSpPr>
          <p:cNvPr id="23" name="Rectangle: Rounded Corners 22">
            <a:extLst>
              <a:ext uri="{FF2B5EF4-FFF2-40B4-BE49-F238E27FC236}">
                <a16:creationId xmlns:a16="http://schemas.microsoft.com/office/drawing/2014/main" id="{2D339370-9F02-4D2B-B2E3-811609338D97}"/>
              </a:ext>
            </a:extLst>
          </p:cNvPr>
          <p:cNvSpPr/>
          <p:nvPr/>
        </p:nvSpPr>
        <p:spPr>
          <a:xfrm>
            <a:off x="8003952" y="3466964"/>
            <a:ext cx="3459043"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Overview of Key Closing Deadlines</a:t>
            </a:r>
          </a:p>
        </p:txBody>
      </p:sp>
      <p:sp>
        <p:nvSpPr>
          <p:cNvPr id="25" name="Rectangle: Rounded Corners 24">
            <a:extLst>
              <a:ext uri="{FF2B5EF4-FFF2-40B4-BE49-F238E27FC236}">
                <a16:creationId xmlns:a16="http://schemas.microsoft.com/office/drawing/2014/main" id="{72BDEF1A-6A88-43EB-86A4-5B3C0D5B8624}"/>
              </a:ext>
            </a:extLst>
          </p:cNvPr>
          <p:cNvSpPr/>
          <p:nvPr/>
        </p:nvSpPr>
        <p:spPr>
          <a:xfrm>
            <a:off x="8003952" y="4110644"/>
            <a:ext cx="3459043" cy="482400"/>
          </a:xfrm>
          <a:prstGeom prst="roundRect">
            <a:avLst/>
          </a:prstGeom>
          <a:solidFill>
            <a:srgbClr val="005955"/>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panose="020B0604020202020204"/>
                <a:ea typeface="+mn-ea"/>
                <a:cs typeface="+mn-cs"/>
              </a:rPr>
              <a:t>P14 STAT/TAX Year-End Process</a:t>
            </a:r>
          </a:p>
        </p:txBody>
      </p:sp>
      <p:cxnSp>
        <p:nvCxnSpPr>
          <p:cNvPr id="28" name="Elbow Connector 29">
            <a:extLst>
              <a:ext uri="{FF2B5EF4-FFF2-40B4-BE49-F238E27FC236}">
                <a16:creationId xmlns:a16="http://schemas.microsoft.com/office/drawing/2014/main" id="{930ED85A-F9D3-4197-99B4-9D5DDD5C27FE}"/>
              </a:ext>
            </a:extLst>
          </p:cNvPr>
          <p:cNvCxnSpPr>
            <a:cxnSpLocks/>
            <a:stCxn id="69" idx="3"/>
            <a:endCxn id="23" idx="1"/>
          </p:cNvCxnSpPr>
          <p:nvPr/>
        </p:nvCxnSpPr>
        <p:spPr>
          <a:xfrm>
            <a:off x="6890994" y="3586896"/>
            <a:ext cx="1112958" cy="12126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17968B4A-4C1D-4AF2-BD7F-01EA4E52C4FD}"/>
              </a:ext>
            </a:extLst>
          </p:cNvPr>
          <p:cNvCxnSpPr>
            <a:cxnSpLocks/>
            <a:stCxn id="69" idx="3"/>
            <a:endCxn id="25" idx="1"/>
          </p:cNvCxnSpPr>
          <p:nvPr/>
        </p:nvCxnSpPr>
        <p:spPr>
          <a:xfrm>
            <a:off x="6890994" y="3586896"/>
            <a:ext cx="1112958" cy="76494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B6986B69-5076-484D-8192-D0942305B44F}"/>
              </a:ext>
            </a:extLst>
          </p:cNvPr>
          <p:cNvSpPr/>
          <p:nvPr/>
        </p:nvSpPr>
        <p:spPr>
          <a:xfrm>
            <a:off x="2179800" y="5276736"/>
            <a:ext cx="4725316"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rPr>
              <a:t>U</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sing FCC to monitor Period End Closing</a:t>
            </a:r>
          </a:p>
        </p:txBody>
      </p:sp>
      <p:cxnSp>
        <p:nvCxnSpPr>
          <p:cNvPr id="31" name="Elbow Connector 29">
            <a:extLst>
              <a:ext uri="{FF2B5EF4-FFF2-40B4-BE49-F238E27FC236}">
                <a16:creationId xmlns:a16="http://schemas.microsoft.com/office/drawing/2014/main" id="{D6DADD7B-8046-442B-9FF1-34B3F5C98F74}"/>
              </a:ext>
            </a:extLst>
          </p:cNvPr>
          <p:cNvCxnSpPr>
            <a:cxnSpLocks/>
            <a:stCxn id="26" idx="6"/>
            <a:endCxn id="22" idx="1"/>
          </p:cNvCxnSpPr>
          <p:nvPr/>
        </p:nvCxnSpPr>
        <p:spPr>
          <a:xfrm>
            <a:off x="1854000" y="3443400"/>
            <a:ext cx="325800" cy="2074536"/>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930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3D6394C-0CE0-4AB4-8AE7-031DE2FF61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a:t>Key Period End Closing Timelines for STAT/TAX Ledgers</a:t>
            </a:r>
            <a:endParaRPr lang="en-US"/>
          </a:p>
        </p:txBody>
      </p:sp>
      <p:pic>
        <p:nvPicPr>
          <p:cNvPr id="3" name="Picture 2">
            <a:extLst>
              <a:ext uri="{FF2B5EF4-FFF2-40B4-BE49-F238E27FC236}">
                <a16:creationId xmlns:a16="http://schemas.microsoft.com/office/drawing/2014/main" id="{97A97D46-A729-44C0-A942-E35B6876FCD6}"/>
              </a:ext>
            </a:extLst>
          </p:cNvPr>
          <p:cNvPicPr>
            <a:picLocks noChangeAspect="1"/>
          </p:cNvPicPr>
          <p:nvPr/>
        </p:nvPicPr>
        <p:blipFill>
          <a:blip r:embed="rId3"/>
          <a:stretch>
            <a:fillRect/>
          </a:stretch>
        </p:blipFill>
        <p:spPr>
          <a:xfrm>
            <a:off x="662724" y="1361449"/>
            <a:ext cx="11529276" cy="3181294"/>
          </a:xfrm>
          <a:prstGeom prst="rect">
            <a:avLst/>
          </a:prstGeom>
        </p:spPr>
      </p:pic>
      <p:sp>
        <p:nvSpPr>
          <p:cNvPr id="22" name="Rounded Rectangle 19">
            <a:extLst>
              <a:ext uri="{FF2B5EF4-FFF2-40B4-BE49-F238E27FC236}">
                <a16:creationId xmlns:a16="http://schemas.microsoft.com/office/drawing/2014/main" id="{1FAEDCF0-D3A7-42AC-B7A5-8CD9CDECE6C6}"/>
              </a:ext>
            </a:extLst>
          </p:cNvPr>
          <p:cNvSpPr/>
          <p:nvPr/>
        </p:nvSpPr>
        <p:spPr bwMode="gray">
          <a:xfrm>
            <a:off x="3112335" y="3391020"/>
            <a:ext cx="3056107" cy="2381130"/>
          </a:xfrm>
          <a:prstGeom prst="roundRect">
            <a:avLst>
              <a:gd name="adj" fmla="val 1381"/>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tIns="108000" rtlCol="0" anchor="t" anchorCtr="0"/>
          <a:lstStyle/>
          <a:p>
            <a:pPr marL="0" marR="0" lvl="0" indent="0" algn="l" defTabSz="301532" rtl="0" eaLnBrk="1" fontAlgn="base" latinLnBrk="0" hangingPunct="1">
              <a:lnSpc>
                <a:spcPct val="100000"/>
              </a:lnSpc>
              <a:spcBef>
                <a:spcPct val="0"/>
              </a:spcBef>
              <a:spcAft>
                <a:spcPct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sz="1200" b="1" i="0" u="sng" strike="noStrike" kern="1200" cap="none" spc="0" normalizeH="0" baseline="0" noProof="0" dirty="0">
                <a:ln>
                  <a:noFill/>
                </a:ln>
                <a:solidFill>
                  <a:prstClr val="black"/>
                </a:solidFill>
                <a:effectLst/>
                <a:uLnTx/>
                <a:uFillTx/>
                <a:latin typeface="Arial" panose="020B0604020202020204"/>
                <a:ea typeface="+mn-ea"/>
                <a:cs typeface="+mn-cs"/>
              </a:rPr>
              <a:t>Annual ledger closing:</a:t>
            </a:r>
          </a:p>
          <a:p>
            <a:pPr marL="0" marR="0" lvl="0" indent="0" algn="l" defTabSz="301532" rtl="0" eaLnBrk="1" fontAlgn="base" latinLnBrk="0" hangingPunct="1">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44000" marR="0" lvl="0" indent="-14400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Statutory Ledger</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and Tax Ledger</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closing cut-off -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end June</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and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end of September respectively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for YE manual ledger specific postings (FA, ML–COGM, AP, AR, CM, FSCM will need to be closed as per monthly calendar).</a:t>
            </a:r>
          </a:p>
          <a:p>
            <a:pPr marL="171450" marR="0" lvl="0" indent="-17145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Rounded Rectangle 17">
            <a:extLst>
              <a:ext uri="{FF2B5EF4-FFF2-40B4-BE49-F238E27FC236}">
                <a16:creationId xmlns:a16="http://schemas.microsoft.com/office/drawing/2014/main" id="{56A325A7-E6BD-4144-B468-D126A04D5B3E}"/>
              </a:ext>
            </a:extLst>
          </p:cNvPr>
          <p:cNvSpPr/>
          <p:nvPr/>
        </p:nvSpPr>
        <p:spPr bwMode="gray">
          <a:xfrm>
            <a:off x="348230" y="3190396"/>
            <a:ext cx="2614045" cy="2076929"/>
          </a:xfrm>
          <a:prstGeom prst="roundRect">
            <a:avLst>
              <a:gd name="adj" fmla="val 2753"/>
            </a:avLst>
          </a:prstGeom>
          <a:solidFill>
            <a:schemeClr val="tx2">
              <a:lumMod val="10000"/>
              <a:lumOff val="9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rPr>
              <a:t>       </a:t>
            </a:r>
            <a:r>
              <a:rPr kumimoji="0" lang="en-GB" sz="1200" b="1" i="0" u="sng" strike="noStrike" kern="1200" cap="none" spc="0" normalizeH="0" baseline="0" noProof="0" dirty="0">
                <a:ln>
                  <a:noFill/>
                </a:ln>
                <a:solidFill>
                  <a:srgbClr val="122632"/>
                </a:solidFill>
                <a:effectLst/>
                <a:uLnTx/>
                <a:uFillTx/>
                <a:latin typeface="Arial" panose="020B0604020202020204"/>
                <a:ea typeface="+mn-ea"/>
                <a:cs typeface="+mn-cs"/>
              </a:rPr>
              <a:t>Monthly ledger closing:</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rPr>
              <a:t>Statutory Ledger </a:t>
            </a:r>
            <a:r>
              <a:rPr kumimoji="0" lang="en-GB" sz="1200" b="0" i="0" u="none" strike="noStrike" kern="1200" cap="none" spc="0" normalizeH="0" baseline="0" noProof="0" dirty="0">
                <a:ln>
                  <a:noFill/>
                </a:ln>
                <a:solidFill>
                  <a:srgbClr val="122632"/>
                </a:solidFill>
                <a:effectLst/>
                <a:uLnTx/>
                <a:uFillTx/>
                <a:latin typeface="Arial" panose="020B0604020202020204"/>
                <a:ea typeface="+mn-ea"/>
                <a:cs typeface="+mn-cs"/>
              </a:rPr>
              <a:t>closing cut-off established on </a:t>
            </a:r>
            <a:r>
              <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rPr>
              <a:t>WD10</a:t>
            </a:r>
            <a:r>
              <a:rPr kumimoji="0" lang="en-GB" sz="1200" b="1" i="0" u="none" strike="noStrike" kern="1200" cap="none" spc="0" normalizeH="0" baseline="0" noProof="0" dirty="0">
                <a:ln>
                  <a:noFill/>
                </a:ln>
                <a:solidFill>
                  <a:srgbClr val="FF0000"/>
                </a:solidFill>
                <a:effectLst/>
                <a:uLnTx/>
                <a:uFillTx/>
                <a:latin typeface="Arial" panose="020B0604020202020204"/>
                <a:ea typeface="+mn-ea"/>
                <a:cs typeface="+mn-cs"/>
              </a:rPr>
              <a:t>*</a:t>
            </a:r>
            <a:r>
              <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rPr>
              <a:t> </a:t>
            </a:r>
            <a:r>
              <a:rPr kumimoji="0" lang="en-GB" sz="1200" b="0" i="0" u="none" strike="noStrike" kern="1200" cap="none" spc="0" normalizeH="0" baseline="0" noProof="0" dirty="0">
                <a:ln>
                  <a:noFill/>
                </a:ln>
                <a:solidFill>
                  <a:srgbClr val="122632"/>
                </a:solidFill>
                <a:effectLst/>
                <a:uLnTx/>
                <a:uFillTx/>
                <a:latin typeface="Arial" panose="020B0604020202020204"/>
                <a:ea typeface="+mn-ea"/>
                <a:cs typeface="+mn-cs"/>
              </a:rPr>
              <a:t>.</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rPr>
              <a:t>Tax Ledgers </a:t>
            </a:r>
            <a:r>
              <a:rPr kumimoji="0" lang="en-GB" sz="1200" b="0" i="0" u="none" strike="noStrike" kern="1200" cap="none" spc="0" normalizeH="0" baseline="0" noProof="0" dirty="0">
                <a:ln>
                  <a:noFill/>
                </a:ln>
                <a:solidFill>
                  <a:srgbClr val="122632"/>
                </a:solidFill>
                <a:effectLst/>
                <a:uLnTx/>
                <a:uFillTx/>
                <a:latin typeface="Arial" panose="020B0604020202020204"/>
                <a:ea typeface="+mn-ea"/>
                <a:cs typeface="+mn-cs"/>
              </a:rPr>
              <a:t>closing cut-off established on </a:t>
            </a:r>
            <a:r>
              <a:rPr kumimoji="0" lang="en-GB" sz="1200" b="1" i="0" u="none" strike="noStrike" kern="1200" cap="none" spc="0" normalizeH="0" baseline="0" noProof="0" dirty="0">
                <a:ln>
                  <a:noFill/>
                </a:ln>
                <a:solidFill>
                  <a:srgbClr val="122632"/>
                </a:solidFill>
                <a:effectLst/>
                <a:uLnTx/>
                <a:uFillTx/>
                <a:latin typeface="Arial" panose="020B0604020202020204"/>
                <a:ea typeface="+mn-ea"/>
                <a:cs typeface="+mn-cs"/>
              </a:rPr>
              <a:t>WD10</a:t>
            </a:r>
            <a:r>
              <a:rPr kumimoji="0" lang="en-GB" sz="1200" b="1" i="0" u="none" strike="noStrike" kern="1200" cap="none" spc="0" normalizeH="0" baseline="0" noProof="0" dirty="0">
                <a:ln>
                  <a:noFill/>
                </a:ln>
                <a:solidFill>
                  <a:srgbClr val="FF0000"/>
                </a:solidFill>
                <a:effectLst/>
                <a:uLnTx/>
                <a:uFillTx/>
                <a:latin typeface="Arial" panose="020B0604020202020204"/>
                <a:ea typeface="+mn-ea"/>
                <a:cs typeface="+mn-cs"/>
              </a:rPr>
              <a:t>*</a:t>
            </a:r>
            <a:r>
              <a:rPr kumimoji="0" lang="en-GB" sz="1200" b="0" i="0" u="none" strike="noStrike" kern="1200" cap="none" spc="0" normalizeH="0" baseline="0" noProof="0" dirty="0">
                <a:ln>
                  <a:noFill/>
                </a:ln>
                <a:solidFill>
                  <a:srgbClr val="122632"/>
                </a:solidFill>
                <a:effectLst/>
                <a:uLnTx/>
                <a:uFillTx/>
                <a:latin typeface="Arial" panose="020B0604020202020204"/>
                <a:ea typeface="+mn-ea"/>
                <a:cs typeface="+mn-cs"/>
              </a:rPr>
              <a:t> (will be closed in parallel with Statutory ledger). </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122632"/>
              </a:solidFill>
              <a:effectLst/>
              <a:uLnTx/>
              <a:uFillTx/>
              <a:latin typeface="Arial" panose="020B06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122632"/>
              </a:solidFill>
              <a:effectLst/>
              <a:uLnTx/>
              <a:uFillTx/>
              <a:latin typeface="Arial" panose="020B0604020202020204"/>
              <a:ea typeface="+mn-ea"/>
              <a:cs typeface="+mn-cs"/>
            </a:endParaRPr>
          </a:p>
        </p:txBody>
      </p:sp>
      <p:pic>
        <p:nvPicPr>
          <p:cNvPr id="12" name="Picture 11">
            <a:extLst>
              <a:ext uri="{FF2B5EF4-FFF2-40B4-BE49-F238E27FC236}">
                <a16:creationId xmlns:a16="http://schemas.microsoft.com/office/drawing/2014/main" id="{457B6E11-AD7A-4025-A409-9C525ED976EB}"/>
              </a:ext>
            </a:extLst>
          </p:cNvPr>
          <p:cNvPicPr>
            <a:picLocks noChangeAspect="1"/>
          </p:cNvPicPr>
          <p:nvPr/>
        </p:nvPicPr>
        <p:blipFill>
          <a:blip r:embed="rId4"/>
          <a:stretch>
            <a:fillRect/>
          </a:stretch>
        </p:blipFill>
        <p:spPr>
          <a:xfrm>
            <a:off x="3142815" y="3463373"/>
            <a:ext cx="337538" cy="325746"/>
          </a:xfrm>
          <a:prstGeom prst="rect">
            <a:avLst/>
          </a:prstGeom>
          <a:effectLst>
            <a:outerShdw blurRad="50800" dist="38100" dir="2700000" algn="tl" rotWithShape="0">
              <a:prstClr val="black">
                <a:alpha val="40000"/>
              </a:prstClr>
            </a:outerShdw>
          </a:effectLst>
        </p:spPr>
      </p:pic>
      <p:pic>
        <p:nvPicPr>
          <p:cNvPr id="13" name="Graphic 12" descr="Daily calendar">
            <a:extLst>
              <a:ext uri="{FF2B5EF4-FFF2-40B4-BE49-F238E27FC236}">
                <a16:creationId xmlns:a16="http://schemas.microsoft.com/office/drawing/2014/main" id="{10B8B345-AA0B-4522-ADB1-237AD1BA5B8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230" y="3190395"/>
            <a:ext cx="381600" cy="381600"/>
          </a:xfrm>
          <a:prstGeom prst="rect">
            <a:avLst/>
          </a:prstGeom>
          <a:effectLst>
            <a:outerShdw blurRad="50800" dist="38100" dir="2700000" algn="tl" rotWithShape="0">
              <a:prstClr val="black">
                <a:alpha val="40000"/>
              </a:prstClr>
            </a:outerShdw>
          </a:effectLst>
        </p:spPr>
      </p:pic>
      <p:sp>
        <p:nvSpPr>
          <p:cNvPr id="23" name="Rounded Rectangle 25">
            <a:extLst>
              <a:ext uri="{FF2B5EF4-FFF2-40B4-BE49-F238E27FC236}">
                <a16:creationId xmlns:a16="http://schemas.microsoft.com/office/drawing/2014/main" id="{F57DBABB-6D7B-4D62-89E6-DE260E32F75F}"/>
              </a:ext>
            </a:extLst>
          </p:cNvPr>
          <p:cNvSpPr/>
          <p:nvPr/>
        </p:nvSpPr>
        <p:spPr bwMode="gray">
          <a:xfrm>
            <a:off x="6318501" y="4143495"/>
            <a:ext cx="4273299" cy="2504161"/>
          </a:xfrm>
          <a:prstGeom prst="roundRect">
            <a:avLst>
              <a:gd name="adj" fmla="val 1749"/>
            </a:avLst>
          </a:prstGeom>
          <a:solidFill>
            <a:schemeClr val="accent2">
              <a:lumMod val="40000"/>
              <a:lumOff val="6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sz="1200" b="1" i="0" u="sng" strike="noStrike" kern="1200" cap="none" spc="0" normalizeH="0" baseline="0" noProof="0" dirty="0">
                <a:ln>
                  <a:noFill/>
                </a:ln>
                <a:solidFill>
                  <a:prstClr val="black"/>
                </a:solidFill>
                <a:effectLst/>
                <a:uLnTx/>
                <a:uFillTx/>
                <a:latin typeface="Arial" panose="020B0604020202020204"/>
                <a:ea typeface="+mn-ea"/>
                <a:cs typeface="+mn-cs"/>
              </a:rPr>
              <a:t>Use of Posting Periods: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sng" strike="noStrike" kern="1200" cap="none" spc="0" normalizeH="0" baseline="0" noProof="0" dirty="0">
              <a:ln>
                <a:noFill/>
              </a:ln>
              <a:solidFill>
                <a:prstClr val="black"/>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Standard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Posting Periods </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P1-P12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to be used for bookings in IFRS and any compulsory monthly activities for STAT and TAX.</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Special Posting Periods: P13-P16</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each has been assigned with a specific usage: </a:t>
            </a:r>
          </a:p>
          <a:p>
            <a:pPr marL="601200" marR="0" lvl="1"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P14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is</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to be used in ST/TX ledgers for current year ledger specific manual postings/adjustments </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post P12 close until finalization </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of Statutory Financial Statements (audit sign off and CIT return finalization). </a:t>
            </a:r>
            <a:r>
              <a:rPr kumimoji="0" lang="en-GB" sz="1200" b="1" i="0" u="none" strike="noStrike" kern="1200" cap="none" spc="0" normalizeH="0" baseline="0" noProof="0" dirty="0">
                <a:ln>
                  <a:noFill/>
                </a:ln>
                <a:solidFill>
                  <a:prstClr val="black"/>
                </a:solidFill>
                <a:effectLst/>
                <a:uLnTx/>
                <a:uFillTx/>
                <a:latin typeface="Arial" panose="020B0604020202020204"/>
                <a:ea typeface="+mn-ea"/>
                <a:cs typeface="+mn-cs"/>
              </a:rPr>
              <a:t>Postings are to be made via MyRequest GL Journal Templates</a:t>
            </a:r>
            <a:r>
              <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16" name="Shape 444">
            <a:extLst>
              <a:ext uri="{FF2B5EF4-FFF2-40B4-BE49-F238E27FC236}">
                <a16:creationId xmlns:a16="http://schemas.microsoft.com/office/drawing/2014/main" id="{28A1419B-8A54-44AD-92FA-E4BE5F2047DA}"/>
              </a:ext>
            </a:extLst>
          </p:cNvPr>
          <p:cNvSpPr/>
          <p:nvPr/>
        </p:nvSpPr>
        <p:spPr>
          <a:xfrm>
            <a:off x="6338936" y="4172190"/>
            <a:ext cx="288000" cy="277986"/>
          </a:xfrm>
          <a:custGeom>
            <a:avLst/>
            <a:gdLst/>
            <a:ahLst/>
            <a:cxnLst>
              <a:cxn ang="0">
                <a:pos x="wd2" y="hd2"/>
              </a:cxn>
              <a:cxn ang="5400000">
                <a:pos x="wd2" y="hd2"/>
              </a:cxn>
              <a:cxn ang="10800000">
                <a:pos x="wd2" y="hd2"/>
              </a:cxn>
              <a:cxn ang="16200000">
                <a:pos x="wd2" y="hd2"/>
              </a:cxn>
            </a:cxnLst>
            <a:rect l="0" t="0" r="r" b="b"/>
            <a:pathLst>
              <a:path w="21600" h="21600" extrusionOk="0">
                <a:moveTo>
                  <a:pt x="1256" y="2769"/>
                </a:moveTo>
                <a:cubicBezTo>
                  <a:pt x="3516" y="2769"/>
                  <a:pt x="3516" y="2769"/>
                  <a:pt x="3516" y="2769"/>
                </a:cubicBezTo>
                <a:cubicBezTo>
                  <a:pt x="3516" y="2492"/>
                  <a:pt x="3516" y="2492"/>
                  <a:pt x="3516" y="2492"/>
                </a:cubicBezTo>
                <a:cubicBezTo>
                  <a:pt x="3516" y="1662"/>
                  <a:pt x="3516" y="1108"/>
                  <a:pt x="4019" y="831"/>
                </a:cubicBezTo>
                <a:cubicBezTo>
                  <a:pt x="4521" y="277"/>
                  <a:pt x="5023" y="0"/>
                  <a:pt x="5526" y="0"/>
                </a:cubicBezTo>
                <a:cubicBezTo>
                  <a:pt x="5526" y="0"/>
                  <a:pt x="5526" y="0"/>
                  <a:pt x="5526" y="0"/>
                </a:cubicBezTo>
                <a:cubicBezTo>
                  <a:pt x="6028" y="0"/>
                  <a:pt x="6530" y="277"/>
                  <a:pt x="7033" y="831"/>
                </a:cubicBezTo>
                <a:cubicBezTo>
                  <a:pt x="7284" y="1108"/>
                  <a:pt x="7535" y="1662"/>
                  <a:pt x="7535" y="2492"/>
                </a:cubicBezTo>
                <a:cubicBezTo>
                  <a:pt x="7535" y="2769"/>
                  <a:pt x="7535" y="2769"/>
                  <a:pt x="7535" y="2769"/>
                </a:cubicBezTo>
                <a:cubicBezTo>
                  <a:pt x="8791" y="2769"/>
                  <a:pt x="8791" y="2769"/>
                  <a:pt x="8791" y="2769"/>
                </a:cubicBezTo>
                <a:cubicBezTo>
                  <a:pt x="8791" y="2492"/>
                  <a:pt x="8791" y="2492"/>
                  <a:pt x="8791" y="2492"/>
                </a:cubicBezTo>
                <a:cubicBezTo>
                  <a:pt x="8791" y="1662"/>
                  <a:pt x="9042" y="1108"/>
                  <a:pt x="9293" y="831"/>
                </a:cubicBezTo>
                <a:cubicBezTo>
                  <a:pt x="9795" y="277"/>
                  <a:pt x="10298" y="0"/>
                  <a:pt x="10800" y="0"/>
                </a:cubicBezTo>
                <a:cubicBezTo>
                  <a:pt x="10800" y="0"/>
                  <a:pt x="10800" y="0"/>
                  <a:pt x="10800" y="0"/>
                </a:cubicBezTo>
                <a:cubicBezTo>
                  <a:pt x="11553" y="0"/>
                  <a:pt x="12056" y="277"/>
                  <a:pt x="12307" y="831"/>
                </a:cubicBezTo>
                <a:cubicBezTo>
                  <a:pt x="12809" y="1108"/>
                  <a:pt x="13060" y="1662"/>
                  <a:pt x="13060" y="2492"/>
                </a:cubicBezTo>
                <a:cubicBezTo>
                  <a:pt x="13060" y="2769"/>
                  <a:pt x="13060" y="2769"/>
                  <a:pt x="13060" y="2769"/>
                </a:cubicBezTo>
                <a:cubicBezTo>
                  <a:pt x="14065" y="2769"/>
                  <a:pt x="14065" y="2769"/>
                  <a:pt x="14065" y="2769"/>
                </a:cubicBezTo>
                <a:cubicBezTo>
                  <a:pt x="14065" y="2492"/>
                  <a:pt x="14065" y="2492"/>
                  <a:pt x="14065" y="2492"/>
                </a:cubicBezTo>
                <a:cubicBezTo>
                  <a:pt x="14065" y="1662"/>
                  <a:pt x="14316" y="1108"/>
                  <a:pt x="14567" y="831"/>
                </a:cubicBezTo>
                <a:cubicBezTo>
                  <a:pt x="15070" y="277"/>
                  <a:pt x="15572" y="0"/>
                  <a:pt x="16074" y="0"/>
                </a:cubicBezTo>
                <a:cubicBezTo>
                  <a:pt x="16074" y="0"/>
                  <a:pt x="16074" y="0"/>
                  <a:pt x="16074" y="0"/>
                </a:cubicBezTo>
                <a:cubicBezTo>
                  <a:pt x="16828" y="0"/>
                  <a:pt x="17330" y="277"/>
                  <a:pt x="17581" y="831"/>
                </a:cubicBezTo>
                <a:cubicBezTo>
                  <a:pt x="18084" y="1108"/>
                  <a:pt x="18335" y="1662"/>
                  <a:pt x="18335" y="2492"/>
                </a:cubicBezTo>
                <a:cubicBezTo>
                  <a:pt x="18335" y="2769"/>
                  <a:pt x="18335" y="2769"/>
                  <a:pt x="18335" y="2769"/>
                </a:cubicBezTo>
                <a:cubicBezTo>
                  <a:pt x="20344" y="2769"/>
                  <a:pt x="20344" y="2769"/>
                  <a:pt x="20344" y="2769"/>
                </a:cubicBezTo>
                <a:cubicBezTo>
                  <a:pt x="21600" y="2769"/>
                  <a:pt x="21600" y="2769"/>
                  <a:pt x="21600" y="2769"/>
                </a:cubicBezTo>
                <a:cubicBezTo>
                  <a:pt x="21600" y="4154"/>
                  <a:pt x="21600" y="4154"/>
                  <a:pt x="21600" y="4154"/>
                </a:cubicBezTo>
                <a:cubicBezTo>
                  <a:pt x="21600" y="20215"/>
                  <a:pt x="21600" y="20215"/>
                  <a:pt x="21600" y="20215"/>
                </a:cubicBezTo>
                <a:cubicBezTo>
                  <a:pt x="21600" y="21600"/>
                  <a:pt x="21600" y="21600"/>
                  <a:pt x="21600" y="21600"/>
                </a:cubicBezTo>
                <a:cubicBezTo>
                  <a:pt x="20344" y="21600"/>
                  <a:pt x="20344" y="21600"/>
                  <a:pt x="20344" y="21600"/>
                </a:cubicBezTo>
                <a:cubicBezTo>
                  <a:pt x="6028" y="21600"/>
                  <a:pt x="6028" y="21600"/>
                  <a:pt x="6028" y="21600"/>
                </a:cubicBezTo>
                <a:cubicBezTo>
                  <a:pt x="5777" y="21600"/>
                  <a:pt x="5777" y="21600"/>
                  <a:pt x="5777" y="21600"/>
                </a:cubicBezTo>
                <a:cubicBezTo>
                  <a:pt x="5526" y="21600"/>
                  <a:pt x="5526" y="21600"/>
                  <a:pt x="5526" y="21600"/>
                </a:cubicBezTo>
                <a:cubicBezTo>
                  <a:pt x="753" y="19662"/>
                  <a:pt x="753" y="19662"/>
                  <a:pt x="753" y="19662"/>
                </a:cubicBezTo>
                <a:cubicBezTo>
                  <a:pt x="0" y="19108"/>
                  <a:pt x="0" y="19108"/>
                  <a:pt x="0" y="19108"/>
                </a:cubicBezTo>
                <a:cubicBezTo>
                  <a:pt x="0" y="18277"/>
                  <a:pt x="0" y="18277"/>
                  <a:pt x="0" y="18277"/>
                </a:cubicBezTo>
                <a:cubicBezTo>
                  <a:pt x="0" y="4154"/>
                  <a:pt x="0" y="4154"/>
                  <a:pt x="0" y="4154"/>
                </a:cubicBezTo>
                <a:cubicBezTo>
                  <a:pt x="0" y="2769"/>
                  <a:pt x="0" y="2769"/>
                  <a:pt x="0" y="2769"/>
                </a:cubicBezTo>
                <a:cubicBezTo>
                  <a:pt x="1256" y="2769"/>
                  <a:pt x="1256" y="2769"/>
                  <a:pt x="1256" y="2769"/>
                </a:cubicBezTo>
                <a:close/>
                <a:moveTo>
                  <a:pt x="2512" y="16338"/>
                </a:moveTo>
                <a:cubicBezTo>
                  <a:pt x="3767" y="15508"/>
                  <a:pt x="3767" y="15508"/>
                  <a:pt x="3767" y="15508"/>
                </a:cubicBezTo>
                <a:cubicBezTo>
                  <a:pt x="4270" y="15231"/>
                  <a:pt x="4270" y="15231"/>
                  <a:pt x="4270" y="15231"/>
                </a:cubicBezTo>
                <a:cubicBezTo>
                  <a:pt x="4521" y="15785"/>
                  <a:pt x="4521" y="15785"/>
                  <a:pt x="4521" y="15785"/>
                </a:cubicBezTo>
                <a:cubicBezTo>
                  <a:pt x="7033" y="18831"/>
                  <a:pt x="7033" y="18831"/>
                  <a:pt x="7033" y="18831"/>
                </a:cubicBezTo>
                <a:cubicBezTo>
                  <a:pt x="19088" y="18831"/>
                  <a:pt x="19088" y="18831"/>
                  <a:pt x="19088" y="18831"/>
                </a:cubicBezTo>
                <a:cubicBezTo>
                  <a:pt x="19088" y="5538"/>
                  <a:pt x="19088" y="5538"/>
                  <a:pt x="19088" y="5538"/>
                </a:cubicBezTo>
                <a:cubicBezTo>
                  <a:pt x="18335" y="5538"/>
                  <a:pt x="18335" y="5538"/>
                  <a:pt x="18335" y="5538"/>
                </a:cubicBezTo>
                <a:cubicBezTo>
                  <a:pt x="18335" y="5815"/>
                  <a:pt x="18335" y="5815"/>
                  <a:pt x="18335" y="5815"/>
                </a:cubicBezTo>
                <a:cubicBezTo>
                  <a:pt x="18335" y="6369"/>
                  <a:pt x="18084" y="6923"/>
                  <a:pt x="17581" y="7477"/>
                </a:cubicBezTo>
                <a:cubicBezTo>
                  <a:pt x="17330" y="8031"/>
                  <a:pt x="16828" y="8031"/>
                  <a:pt x="16074" y="8031"/>
                </a:cubicBezTo>
                <a:cubicBezTo>
                  <a:pt x="16074" y="8031"/>
                  <a:pt x="16074" y="8031"/>
                  <a:pt x="16074" y="8031"/>
                </a:cubicBezTo>
                <a:cubicBezTo>
                  <a:pt x="15572" y="8031"/>
                  <a:pt x="15070" y="8031"/>
                  <a:pt x="14567" y="7477"/>
                </a:cubicBezTo>
                <a:cubicBezTo>
                  <a:pt x="14316" y="6923"/>
                  <a:pt x="14065" y="6369"/>
                  <a:pt x="14065" y="5815"/>
                </a:cubicBezTo>
                <a:cubicBezTo>
                  <a:pt x="14065" y="5538"/>
                  <a:pt x="14065" y="5538"/>
                  <a:pt x="14065" y="5538"/>
                </a:cubicBezTo>
                <a:cubicBezTo>
                  <a:pt x="13060" y="5538"/>
                  <a:pt x="13060" y="5538"/>
                  <a:pt x="13060" y="5538"/>
                </a:cubicBezTo>
                <a:cubicBezTo>
                  <a:pt x="13060" y="5815"/>
                  <a:pt x="13060" y="5815"/>
                  <a:pt x="13060" y="5815"/>
                </a:cubicBezTo>
                <a:cubicBezTo>
                  <a:pt x="13060" y="6369"/>
                  <a:pt x="12809" y="6923"/>
                  <a:pt x="12307" y="7477"/>
                </a:cubicBezTo>
                <a:cubicBezTo>
                  <a:pt x="12056" y="8031"/>
                  <a:pt x="11553" y="8031"/>
                  <a:pt x="10800" y="8031"/>
                </a:cubicBezTo>
                <a:cubicBezTo>
                  <a:pt x="10800" y="8031"/>
                  <a:pt x="10800" y="8031"/>
                  <a:pt x="10800" y="8031"/>
                </a:cubicBezTo>
                <a:cubicBezTo>
                  <a:pt x="10298" y="8031"/>
                  <a:pt x="9795" y="8031"/>
                  <a:pt x="9293" y="7477"/>
                </a:cubicBezTo>
                <a:cubicBezTo>
                  <a:pt x="9042" y="6923"/>
                  <a:pt x="8791" y="6369"/>
                  <a:pt x="8791" y="5815"/>
                </a:cubicBezTo>
                <a:cubicBezTo>
                  <a:pt x="8791" y="5538"/>
                  <a:pt x="8791" y="5538"/>
                  <a:pt x="8791" y="5538"/>
                </a:cubicBezTo>
                <a:cubicBezTo>
                  <a:pt x="7535" y="5538"/>
                  <a:pt x="7535" y="5538"/>
                  <a:pt x="7535" y="5538"/>
                </a:cubicBezTo>
                <a:cubicBezTo>
                  <a:pt x="7535" y="5815"/>
                  <a:pt x="7535" y="5815"/>
                  <a:pt x="7535" y="5815"/>
                </a:cubicBezTo>
                <a:cubicBezTo>
                  <a:pt x="7535" y="6369"/>
                  <a:pt x="7284" y="6923"/>
                  <a:pt x="7033" y="7477"/>
                </a:cubicBezTo>
                <a:cubicBezTo>
                  <a:pt x="6530" y="8031"/>
                  <a:pt x="6028" y="8031"/>
                  <a:pt x="5526" y="8031"/>
                </a:cubicBezTo>
                <a:cubicBezTo>
                  <a:pt x="5526" y="8031"/>
                  <a:pt x="5526" y="8031"/>
                  <a:pt x="5526" y="8031"/>
                </a:cubicBezTo>
                <a:cubicBezTo>
                  <a:pt x="5023" y="8031"/>
                  <a:pt x="4521" y="8031"/>
                  <a:pt x="4019" y="7477"/>
                </a:cubicBezTo>
                <a:cubicBezTo>
                  <a:pt x="3516" y="6923"/>
                  <a:pt x="3516" y="6369"/>
                  <a:pt x="3516" y="5815"/>
                </a:cubicBezTo>
                <a:cubicBezTo>
                  <a:pt x="3516" y="5538"/>
                  <a:pt x="3516" y="5538"/>
                  <a:pt x="3516" y="5538"/>
                </a:cubicBezTo>
                <a:cubicBezTo>
                  <a:pt x="2512" y="5538"/>
                  <a:pt x="2512" y="5538"/>
                  <a:pt x="2512" y="5538"/>
                </a:cubicBezTo>
                <a:cubicBezTo>
                  <a:pt x="2512" y="16338"/>
                  <a:pt x="2512" y="16338"/>
                  <a:pt x="2512" y="16338"/>
                </a:cubicBezTo>
                <a:close/>
                <a:moveTo>
                  <a:pt x="5023" y="18554"/>
                </a:moveTo>
                <a:cubicBezTo>
                  <a:pt x="4019" y="17169"/>
                  <a:pt x="4019" y="17169"/>
                  <a:pt x="4019" y="17169"/>
                </a:cubicBezTo>
                <a:cubicBezTo>
                  <a:pt x="3265" y="17723"/>
                  <a:pt x="3265" y="17723"/>
                  <a:pt x="3265" y="17723"/>
                </a:cubicBezTo>
                <a:cubicBezTo>
                  <a:pt x="5023" y="18554"/>
                  <a:pt x="5023" y="18554"/>
                  <a:pt x="5023" y="18554"/>
                </a:cubicBezTo>
                <a:close/>
                <a:moveTo>
                  <a:pt x="13563" y="13569"/>
                </a:moveTo>
                <a:cubicBezTo>
                  <a:pt x="13563" y="15508"/>
                  <a:pt x="13563" y="15508"/>
                  <a:pt x="13563" y="15508"/>
                </a:cubicBezTo>
                <a:cubicBezTo>
                  <a:pt x="16577" y="15508"/>
                  <a:pt x="16577" y="15508"/>
                  <a:pt x="16577" y="15508"/>
                </a:cubicBezTo>
                <a:cubicBezTo>
                  <a:pt x="16577" y="13569"/>
                  <a:pt x="16577" y="13569"/>
                  <a:pt x="16577" y="13569"/>
                </a:cubicBezTo>
                <a:cubicBezTo>
                  <a:pt x="13563" y="13569"/>
                  <a:pt x="13563" y="13569"/>
                  <a:pt x="13563" y="13569"/>
                </a:cubicBezTo>
                <a:close/>
                <a:moveTo>
                  <a:pt x="9544" y="13569"/>
                </a:moveTo>
                <a:cubicBezTo>
                  <a:pt x="9544" y="15508"/>
                  <a:pt x="9544" y="15508"/>
                  <a:pt x="9544" y="15508"/>
                </a:cubicBezTo>
                <a:cubicBezTo>
                  <a:pt x="12307" y="15508"/>
                  <a:pt x="12307" y="15508"/>
                  <a:pt x="12307" y="15508"/>
                </a:cubicBezTo>
                <a:cubicBezTo>
                  <a:pt x="12307" y="13569"/>
                  <a:pt x="12307" y="13569"/>
                  <a:pt x="12307" y="13569"/>
                </a:cubicBezTo>
                <a:cubicBezTo>
                  <a:pt x="9544" y="13569"/>
                  <a:pt x="9544" y="13569"/>
                  <a:pt x="9544" y="13569"/>
                </a:cubicBezTo>
                <a:close/>
                <a:moveTo>
                  <a:pt x="5023" y="13569"/>
                </a:moveTo>
                <a:cubicBezTo>
                  <a:pt x="5023" y="15508"/>
                  <a:pt x="5023" y="15508"/>
                  <a:pt x="5023" y="15508"/>
                </a:cubicBezTo>
                <a:cubicBezTo>
                  <a:pt x="8037" y="15508"/>
                  <a:pt x="8037" y="15508"/>
                  <a:pt x="8037" y="15508"/>
                </a:cubicBezTo>
                <a:cubicBezTo>
                  <a:pt x="8037" y="13569"/>
                  <a:pt x="8037" y="13569"/>
                  <a:pt x="8037" y="13569"/>
                </a:cubicBezTo>
                <a:cubicBezTo>
                  <a:pt x="5023" y="13569"/>
                  <a:pt x="5023" y="13569"/>
                  <a:pt x="5023" y="13569"/>
                </a:cubicBezTo>
                <a:close/>
                <a:moveTo>
                  <a:pt x="13563" y="9969"/>
                </a:moveTo>
                <a:cubicBezTo>
                  <a:pt x="13563" y="11908"/>
                  <a:pt x="13563" y="11908"/>
                  <a:pt x="13563" y="11908"/>
                </a:cubicBezTo>
                <a:cubicBezTo>
                  <a:pt x="16577" y="11908"/>
                  <a:pt x="16577" y="11908"/>
                  <a:pt x="16577" y="11908"/>
                </a:cubicBezTo>
                <a:cubicBezTo>
                  <a:pt x="16577" y="9969"/>
                  <a:pt x="16577" y="9969"/>
                  <a:pt x="16577" y="9969"/>
                </a:cubicBezTo>
                <a:cubicBezTo>
                  <a:pt x="13563" y="9969"/>
                  <a:pt x="13563" y="9969"/>
                  <a:pt x="13563" y="9969"/>
                </a:cubicBezTo>
                <a:close/>
                <a:moveTo>
                  <a:pt x="9544" y="9969"/>
                </a:moveTo>
                <a:cubicBezTo>
                  <a:pt x="9544" y="11908"/>
                  <a:pt x="9544" y="11908"/>
                  <a:pt x="9544" y="11908"/>
                </a:cubicBezTo>
                <a:cubicBezTo>
                  <a:pt x="12307" y="11908"/>
                  <a:pt x="12307" y="11908"/>
                  <a:pt x="12307" y="11908"/>
                </a:cubicBezTo>
                <a:cubicBezTo>
                  <a:pt x="12307" y="9969"/>
                  <a:pt x="12307" y="9969"/>
                  <a:pt x="12307" y="9969"/>
                </a:cubicBezTo>
                <a:cubicBezTo>
                  <a:pt x="9544" y="9969"/>
                  <a:pt x="9544" y="9969"/>
                  <a:pt x="9544" y="9969"/>
                </a:cubicBezTo>
                <a:close/>
                <a:moveTo>
                  <a:pt x="5023" y="9969"/>
                </a:moveTo>
                <a:cubicBezTo>
                  <a:pt x="5023" y="11908"/>
                  <a:pt x="5023" y="11908"/>
                  <a:pt x="5023" y="11908"/>
                </a:cubicBezTo>
                <a:cubicBezTo>
                  <a:pt x="8037" y="11908"/>
                  <a:pt x="8037" y="11908"/>
                  <a:pt x="8037" y="11908"/>
                </a:cubicBezTo>
                <a:cubicBezTo>
                  <a:pt x="8037" y="9969"/>
                  <a:pt x="8037" y="9969"/>
                  <a:pt x="8037" y="9969"/>
                </a:cubicBezTo>
                <a:cubicBezTo>
                  <a:pt x="5023" y="9969"/>
                  <a:pt x="5023" y="9969"/>
                  <a:pt x="5023" y="9969"/>
                </a:cubicBezTo>
                <a:close/>
                <a:moveTo>
                  <a:pt x="16074" y="1385"/>
                </a:moveTo>
                <a:cubicBezTo>
                  <a:pt x="16074" y="1385"/>
                  <a:pt x="16074" y="1385"/>
                  <a:pt x="16074" y="1385"/>
                </a:cubicBezTo>
                <a:cubicBezTo>
                  <a:pt x="15823" y="1385"/>
                  <a:pt x="15823" y="1385"/>
                  <a:pt x="15572" y="1662"/>
                </a:cubicBezTo>
                <a:cubicBezTo>
                  <a:pt x="15321" y="1938"/>
                  <a:pt x="15321" y="2215"/>
                  <a:pt x="15321" y="2492"/>
                </a:cubicBezTo>
                <a:cubicBezTo>
                  <a:pt x="15321" y="5815"/>
                  <a:pt x="15321" y="5815"/>
                  <a:pt x="15321" y="5815"/>
                </a:cubicBezTo>
                <a:cubicBezTo>
                  <a:pt x="15321" y="6092"/>
                  <a:pt x="15321" y="6369"/>
                  <a:pt x="15572" y="6369"/>
                </a:cubicBezTo>
                <a:cubicBezTo>
                  <a:pt x="15823" y="6646"/>
                  <a:pt x="15823" y="6923"/>
                  <a:pt x="16074" y="6923"/>
                </a:cubicBezTo>
                <a:cubicBezTo>
                  <a:pt x="16074" y="6923"/>
                  <a:pt x="16074" y="6923"/>
                  <a:pt x="16074" y="6923"/>
                </a:cubicBezTo>
                <a:cubicBezTo>
                  <a:pt x="16326" y="6923"/>
                  <a:pt x="16577" y="6646"/>
                  <a:pt x="16828" y="6369"/>
                </a:cubicBezTo>
                <a:cubicBezTo>
                  <a:pt x="16828" y="6369"/>
                  <a:pt x="17079" y="6092"/>
                  <a:pt x="17079" y="5815"/>
                </a:cubicBezTo>
                <a:cubicBezTo>
                  <a:pt x="17079" y="2492"/>
                  <a:pt x="17079" y="2492"/>
                  <a:pt x="17079" y="2492"/>
                </a:cubicBezTo>
                <a:cubicBezTo>
                  <a:pt x="17079" y="2215"/>
                  <a:pt x="16828" y="1938"/>
                  <a:pt x="16828" y="1662"/>
                </a:cubicBezTo>
                <a:cubicBezTo>
                  <a:pt x="16577" y="1385"/>
                  <a:pt x="16326" y="1385"/>
                  <a:pt x="16074" y="1385"/>
                </a:cubicBezTo>
                <a:close/>
                <a:moveTo>
                  <a:pt x="10800" y="1385"/>
                </a:moveTo>
                <a:cubicBezTo>
                  <a:pt x="10800" y="1385"/>
                  <a:pt x="10800" y="1385"/>
                  <a:pt x="10800" y="1385"/>
                </a:cubicBezTo>
                <a:cubicBezTo>
                  <a:pt x="10549" y="1385"/>
                  <a:pt x="10549" y="1385"/>
                  <a:pt x="10298" y="1662"/>
                </a:cubicBezTo>
                <a:cubicBezTo>
                  <a:pt x="10047" y="1938"/>
                  <a:pt x="10047" y="2215"/>
                  <a:pt x="10047" y="2492"/>
                </a:cubicBezTo>
                <a:cubicBezTo>
                  <a:pt x="10047" y="5815"/>
                  <a:pt x="10047" y="5815"/>
                  <a:pt x="10047" y="5815"/>
                </a:cubicBezTo>
                <a:cubicBezTo>
                  <a:pt x="10047" y="6092"/>
                  <a:pt x="10047" y="6369"/>
                  <a:pt x="10298" y="6369"/>
                </a:cubicBezTo>
                <a:cubicBezTo>
                  <a:pt x="10549" y="6646"/>
                  <a:pt x="10549" y="6923"/>
                  <a:pt x="10800" y="6923"/>
                </a:cubicBezTo>
                <a:cubicBezTo>
                  <a:pt x="10800" y="6923"/>
                  <a:pt x="10800" y="6923"/>
                  <a:pt x="10800" y="6923"/>
                </a:cubicBezTo>
                <a:cubicBezTo>
                  <a:pt x="11051" y="6923"/>
                  <a:pt x="11302" y="6646"/>
                  <a:pt x="11553" y="6369"/>
                </a:cubicBezTo>
                <a:cubicBezTo>
                  <a:pt x="11553" y="6369"/>
                  <a:pt x="11805" y="6092"/>
                  <a:pt x="11805" y="5815"/>
                </a:cubicBezTo>
                <a:cubicBezTo>
                  <a:pt x="11805" y="2492"/>
                  <a:pt x="11805" y="2492"/>
                  <a:pt x="11805" y="2492"/>
                </a:cubicBezTo>
                <a:cubicBezTo>
                  <a:pt x="11805" y="2215"/>
                  <a:pt x="11553" y="1938"/>
                  <a:pt x="11553" y="1662"/>
                </a:cubicBezTo>
                <a:cubicBezTo>
                  <a:pt x="11302" y="1385"/>
                  <a:pt x="11051" y="1385"/>
                  <a:pt x="10800" y="1385"/>
                </a:cubicBezTo>
                <a:close/>
                <a:moveTo>
                  <a:pt x="5526" y="1385"/>
                </a:moveTo>
                <a:cubicBezTo>
                  <a:pt x="5526" y="1385"/>
                  <a:pt x="5526" y="1385"/>
                  <a:pt x="5526" y="1385"/>
                </a:cubicBezTo>
                <a:cubicBezTo>
                  <a:pt x="5274" y="1385"/>
                  <a:pt x="5023" y="1385"/>
                  <a:pt x="5023" y="1662"/>
                </a:cubicBezTo>
                <a:cubicBezTo>
                  <a:pt x="4772" y="1938"/>
                  <a:pt x="4772" y="2215"/>
                  <a:pt x="4772" y="2492"/>
                </a:cubicBezTo>
                <a:cubicBezTo>
                  <a:pt x="4772" y="5815"/>
                  <a:pt x="4772" y="5815"/>
                  <a:pt x="4772" y="5815"/>
                </a:cubicBezTo>
                <a:cubicBezTo>
                  <a:pt x="4772" y="6092"/>
                  <a:pt x="4772" y="6369"/>
                  <a:pt x="5023" y="6369"/>
                </a:cubicBezTo>
                <a:cubicBezTo>
                  <a:pt x="5023" y="6646"/>
                  <a:pt x="5274" y="6923"/>
                  <a:pt x="5526" y="6923"/>
                </a:cubicBezTo>
                <a:cubicBezTo>
                  <a:pt x="5526" y="6923"/>
                  <a:pt x="5526" y="6923"/>
                  <a:pt x="5526" y="6923"/>
                </a:cubicBezTo>
                <a:cubicBezTo>
                  <a:pt x="5777" y="6923"/>
                  <a:pt x="6028" y="6646"/>
                  <a:pt x="6028" y="6369"/>
                </a:cubicBezTo>
                <a:cubicBezTo>
                  <a:pt x="6279" y="6369"/>
                  <a:pt x="6279" y="6092"/>
                  <a:pt x="6279" y="5815"/>
                </a:cubicBezTo>
                <a:cubicBezTo>
                  <a:pt x="6279" y="2492"/>
                  <a:pt x="6279" y="2492"/>
                  <a:pt x="6279" y="2492"/>
                </a:cubicBezTo>
                <a:cubicBezTo>
                  <a:pt x="6279" y="2215"/>
                  <a:pt x="6279" y="1938"/>
                  <a:pt x="6028" y="1662"/>
                </a:cubicBezTo>
                <a:cubicBezTo>
                  <a:pt x="6028" y="1385"/>
                  <a:pt x="5777" y="1385"/>
                  <a:pt x="5526" y="1385"/>
                </a:cubicBezTo>
                <a:close/>
              </a:path>
            </a:pathLst>
          </a:custGeom>
          <a:solidFill>
            <a:schemeClr val="tx1"/>
          </a:solidFill>
          <a:ln w="12700">
            <a:miter lim="400000"/>
          </a:ln>
          <a:effectLst>
            <a:outerShdw blurRad="50800" dist="38100" dir="2700000" algn="tl" rotWithShape="0">
              <a:prstClr val="black">
                <a:alpha val="40000"/>
              </a:prstClr>
            </a:outerShdw>
          </a:effectLst>
        </p:spPr>
        <p:txBody>
          <a:bodyPr tIns="91439" bIns="91439"/>
          <a:lstStyle/>
          <a:p>
            <a:pPr marL="0" marR="0" lvl="0" indent="0" algn="l" defTabSz="914400" rtl="0" eaLnBrk="1" fontAlgn="auto" latinLnBrk="0" hangingPunct="1">
              <a:lnSpc>
                <a:spcPct val="100000"/>
              </a:lnSpc>
              <a:spcBef>
                <a:spcPts val="0"/>
              </a:spcBef>
              <a:spcAft>
                <a:spcPts val="0"/>
              </a:spcAft>
              <a:buClrTx/>
              <a:buSzTx/>
              <a:buFontTx/>
              <a:buNone/>
              <a:tabLst/>
              <a:defRPr sz="3600">
                <a:latin typeface="Trebuchet MS"/>
                <a:ea typeface="Trebuchet MS"/>
                <a:cs typeface="Trebuchet MS"/>
                <a:sym typeface="Trebuchet MS"/>
              </a:defRPr>
            </a:pPr>
            <a:endParaRPr kumimoji="0" sz="3600" b="0" i="0" u="none" strike="noStrike" kern="1200" cap="none" spc="0" normalizeH="0" baseline="0" noProof="0">
              <a:ln>
                <a:noFill/>
              </a:ln>
              <a:solidFill>
                <a:srgbClr val="000000"/>
              </a:solidFill>
              <a:effectLst/>
              <a:uLnTx/>
              <a:uFillTx/>
              <a:latin typeface="Trebuchet MS"/>
              <a:sym typeface="Trebuchet MS"/>
            </a:endParaRPr>
          </a:p>
        </p:txBody>
      </p:sp>
      <p:sp>
        <p:nvSpPr>
          <p:cNvPr id="17" name="Slide Number Placeholder 5">
            <a:extLst>
              <a:ext uri="{FF2B5EF4-FFF2-40B4-BE49-F238E27FC236}">
                <a16:creationId xmlns:a16="http://schemas.microsoft.com/office/drawing/2014/main" id="{0011FD61-6A39-4FDA-AAE7-F77D99A8A31D}"/>
              </a:ext>
            </a:extLst>
          </p:cNvPr>
          <p:cNvSpPr txBox="1">
            <a:spLocks/>
          </p:cNvSpPr>
          <p:nvPr/>
        </p:nvSpPr>
        <p:spPr>
          <a:xfrm>
            <a:off x="11278800" y="6282531"/>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0331CC93-DA7F-396E-6D02-5F78D2AE3EFB}"/>
              </a:ext>
            </a:extLst>
          </p:cNvPr>
          <p:cNvSpPr txBox="1"/>
          <p:nvPr/>
        </p:nvSpPr>
        <p:spPr>
          <a:xfrm>
            <a:off x="348230" y="5421086"/>
            <a:ext cx="2614045" cy="351064"/>
          </a:xfrm>
          <a:prstGeom prst="rect">
            <a:avLst/>
          </a:prstGeom>
          <a:noFill/>
        </p:spPr>
        <p:txBody>
          <a:bodyPr wrap="square" lIns="0" tIns="0" rIns="0" bIns="0" rtlCol="0">
            <a:noAutofit/>
          </a:bodyPr>
          <a:lstStyle/>
          <a:p>
            <a:pPr algn="l"/>
            <a:r>
              <a:rPr lang="en-GB" sz="1200" b="1" dirty="0">
                <a:solidFill>
                  <a:srgbClr val="FF0000"/>
                </a:solidFill>
              </a:rPr>
              <a:t>* </a:t>
            </a:r>
            <a:r>
              <a:rPr lang="en-GB" sz="1200" dirty="0"/>
              <a:t>Exception for JT on WD07.</a:t>
            </a:r>
          </a:p>
        </p:txBody>
      </p:sp>
    </p:spTree>
    <p:extLst>
      <p:ext uri="{BB962C8B-B14F-4D97-AF65-F5344CB8AC3E}">
        <p14:creationId xmlns:p14="http://schemas.microsoft.com/office/powerpoint/2010/main" val="1568735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CAABE39-70AD-4FEC-9D16-FB3ACEAD2299}"/>
              </a:ext>
            </a:extLst>
          </p:cNvPr>
          <p:cNvSpPr txBox="1"/>
          <p:nvPr/>
        </p:nvSpPr>
        <p:spPr>
          <a:xfrm>
            <a:off x="304799" y="5494378"/>
            <a:ext cx="11636829" cy="1319321"/>
          </a:xfrm>
          <a:prstGeom prst="rect">
            <a:avLst/>
          </a:prstGeom>
          <a:solidFill>
            <a:schemeClr val="tx2">
              <a:lumMod val="10000"/>
              <a:lumOff val="90000"/>
            </a:schemeClr>
          </a:solidFill>
        </p:spPr>
        <p:txBody>
          <a:bodyPr wrap="square" lIns="72000" tIns="36000" rIns="72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0000"/>
                </a:solidFill>
                <a:effectLst/>
                <a:uLnTx/>
                <a:uFillTx/>
                <a:latin typeface="Arial" panose="020B0604020202020204"/>
                <a:ea typeface="+mn-ea"/>
                <a:cs typeface="+mn-cs"/>
              </a:rPr>
              <a:t>* </a:t>
            </a: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1) Auto runs for P14 postings would trigger a need for a complex set-up, testing and administration in system terms with multiple dependencies and risk of errors:</a:t>
            </a:r>
          </a:p>
          <a:p>
            <a:pPr marL="360000" marR="0" lvl="1"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such runs would be needed in Feb - June of the following year, it would trigger complex chains of reversals of monthly UFX entries and subsequent UFX postings for later periods whereas the carryforwards/opening balances of several subsequent periods will be affected;</a:t>
            </a:r>
          </a:p>
          <a:p>
            <a:pPr marL="360000" marR="0" lvl="1"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entities have different methods used in revaluation programs; therefore different solutions would be required to ensure correctness of UFX for multiple periods due to P14 revaluation run.</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lt"/>
                <a:cs typeface="Arial" panose="020B0604020202020204"/>
              </a:rPr>
              <a:t>2) Time management of additional runs would make GBS processes more complicated.</a:t>
            </a:r>
            <a:endParaRPr kumimoji="0" lang="en-US" sz="1000" b="0" i="0" u="none" strike="noStrike" kern="1200" cap="none" spc="0" normalizeH="0" baseline="0" noProof="0" dirty="0">
              <a:ln>
                <a:noFill/>
              </a:ln>
              <a:solidFill>
                <a:srgbClr val="FF0000"/>
              </a:solidFill>
              <a:effectLst/>
              <a:uLnTx/>
              <a:uFillTx/>
              <a:latin typeface="Arial" panose="020B0604020202020204"/>
              <a:ea typeface="+mn-lt"/>
              <a:cs typeface="Arial" panose="020B0604020202020204"/>
            </a:endParaRPr>
          </a:p>
          <a:p>
            <a:pPr marL="360000" marR="0" lvl="1"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rPr>
              <a:t>JTI entities in various jurisdictions finalize their journals and close their annual STAT and TAX in different timings among entities and also in between years, automated Revaluation/Translation runs cannot be standardized; entities would be need to reach out one by one to their respective GBS and request the runs to be triggered.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0000"/>
                </a:solidFill>
                <a:effectLst/>
                <a:uLnTx/>
                <a:uFillTx/>
                <a:latin typeface="Arial" panose="020B0604020202020204"/>
                <a:ea typeface="+mn-ea"/>
                <a:cs typeface="+mn-cs"/>
              </a:rPr>
              <a:t>** </a:t>
            </a:r>
            <a:r>
              <a:rPr kumimoji="0" lang="en-GB" sz="1000" b="0" i="0" u="none" strike="noStrike" kern="1200" cap="none" spc="0" normalizeH="0" baseline="0" noProof="0" dirty="0">
                <a:ln>
                  <a:noFill/>
                </a:ln>
                <a:solidFill>
                  <a:srgbClr val="000000"/>
                </a:solidFill>
                <a:effectLst/>
                <a:uLnTx/>
                <a:uFillTx/>
                <a:latin typeface="Arial" panose="020B0604020202020204"/>
                <a:ea typeface="+mn-ea"/>
                <a:cs typeface="+mn-cs"/>
              </a:rPr>
              <a:t>For any further adjustments/corrections by FA beyond  the standard FA adjustment program logics, the entity itself shall raise additional GL journal.</a:t>
            </a:r>
            <a:endParaRPr kumimoji="0" lang="en-US" sz="1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a:t>STAT/TAX Ledger Year End Posting Process</a:t>
            </a:r>
            <a:endParaRPr lang="en-US"/>
          </a:p>
        </p:txBody>
      </p:sp>
      <p:sp>
        <p:nvSpPr>
          <p:cNvPr id="11" name="Slide Number Placeholder 5">
            <a:extLst>
              <a:ext uri="{FF2B5EF4-FFF2-40B4-BE49-F238E27FC236}">
                <a16:creationId xmlns:a16="http://schemas.microsoft.com/office/drawing/2014/main" id="{CB93522B-5867-4E72-950D-3AEF1DF757AC}"/>
              </a:ext>
            </a:extLst>
          </p:cNvPr>
          <p:cNvSpPr txBox="1">
            <a:spLocks/>
          </p:cNvSpPr>
          <p:nvPr/>
        </p:nvSpPr>
        <p:spPr>
          <a:xfrm>
            <a:off x="11278800" y="6282531"/>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35E58AC5-7B31-4F87-A393-D27CB984EA3D}"/>
              </a:ext>
            </a:extLst>
          </p:cNvPr>
          <p:cNvGrpSpPr/>
          <p:nvPr/>
        </p:nvGrpSpPr>
        <p:grpSpPr>
          <a:xfrm>
            <a:off x="424544" y="1395521"/>
            <a:ext cx="1115809" cy="1107558"/>
            <a:chOff x="272144" y="2210012"/>
            <a:chExt cx="1382486" cy="1397847"/>
          </a:xfrm>
          <a:effectLst/>
        </p:grpSpPr>
        <p:sp>
          <p:nvSpPr>
            <p:cNvPr id="3" name="Circle: Hollow 2">
              <a:extLst>
                <a:ext uri="{FF2B5EF4-FFF2-40B4-BE49-F238E27FC236}">
                  <a16:creationId xmlns:a16="http://schemas.microsoft.com/office/drawing/2014/main" id="{D69F7A4A-9C5F-457C-B9C1-A8D3CBD3330E}"/>
                </a:ext>
              </a:extLst>
            </p:cNvPr>
            <p:cNvSpPr>
              <a:spLocks noChangeAspect="1"/>
            </p:cNvSpPr>
            <p:nvPr/>
          </p:nvSpPr>
          <p:spPr>
            <a:xfrm>
              <a:off x="272144" y="2210012"/>
              <a:ext cx="1382486" cy="1397847"/>
            </a:xfrm>
            <a:prstGeom prst="donut">
              <a:avLst>
                <a:gd name="adj" fmla="val 8853"/>
              </a:avLst>
            </a:prstGeom>
            <a:solidFill>
              <a:schemeClr val="bg2">
                <a:lumMod val="75000"/>
              </a:schemeClr>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FCDE776F-E2DF-43F0-853D-52CBA7CA9737}"/>
                </a:ext>
              </a:extLst>
            </p:cNvPr>
            <p:cNvSpPr txBox="1"/>
            <p:nvPr/>
          </p:nvSpPr>
          <p:spPr>
            <a:xfrm>
              <a:off x="473505" y="2569026"/>
              <a:ext cx="1026886" cy="566057"/>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P12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Close IFRS Ledger</a:t>
              </a:r>
              <a:endParaRPr kumimoji="0" lang="en-US"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endParaRPr>
            </a:p>
          </p:txBody>
        </p:sp>
      </p:grpSp>
      <p:grpSp>
        <p:nvGrpSpPr>
          <p:cNvPr id="8" name="Group 7">
            <a:extLst>
              <a:ext uri="{FF2B5EF4-FFF2-40B4-BE49-F238E27FC236}">
                <a16:creationId xmlns:a16="http://schemas.microsoft.com/office/drawing/2014/main" id="{F526912F-E8CE-41B9-898C-BAFDC7F61E7C}"/>
              </a:ext>
            </a:extLst>
          </p:cNvPr>
          <p:cNvGrpSpPr/>
          <p:nvPr/>
        </p:nvGrpSpPr>
        <p:grpSpPr>
          <a:xfrm>
            <a:off x="2464946" y="1395521"/>
            <a:ext cx="1115809" cy="1107558"/>
            <a:chOff x="272144" y="2210012"/>
            <a:chExt cx="1382486" cy="1397847"/>
          </a:xfrm>
          <a:effectLst/>
        </p:grpSpPr>
        <p:sp>
          <p:nvSpPr>
            <p:cNvPr id="9" name="Circle: Hollow 8">
              <a:extLst>
                <a:ext uri="{FF2B5EF4-FFF2-40B4-BE49-F238E27FC236}">
                  <a16:creationId xmlns:a16="http://schemas.microsoft.com/office/drawing/2014/main" id="{60912349-051F-466E-84F6-E5724AA8FBE1}"/>
                </a:ext>
              </a:extLst>
            </p:cNvPr>
            <p:cNvSpPr>
              <a:spLocks noChangeAspect="1"/>
            </p:cNvSpPr>
            <p:nvPr/>
          </p:nvSpPr>
          <p:spPr>
            <a:xfrm>
              <a:off x="272144" y="2210012"/>
              <a:ext cx="1382486" cy="1397847"/>
            </a:xfrm>
            <a:prstGeom prst="donut">
              <a:avLst>
                <a:gd name="adj" fmla="val 8853"/>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7289680D-0670-4504-A926-47EFCAE51338}"/>
                </a:ext>
              </a:extLst>
            </p:cNvPr>
            <p:cNvSpPr txBox="1"/>
            <p:nvPr/>
          </p:nvSpPr>
          <p:spPr>
            <a:xfrm>
              <a:off x="473505" y="2421275"/>
              <a:ext cx="925334" cy="566057"/>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P12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Close STAT &amp; TAX Ledger</a:t>
              </a:r>
              <a:endParaRPr kumimoji="0" lang="en-US"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endParaRPr>
            </a:p>
          </p:txBody>
        </p:sp>
      </p:grpSp>
      <p:grpSp>
        <p:nvGrpSpPr>
          <p:cNvPr id="25" name="Group 24">
            <a:extLst>
              <a:ext uri="{FF2B5EF4-FFF2-40B4-BE49-F238E27FC236}">
                <a16:creationId xmlns:a16="http://schemas.microsoft.com/office/drawing/2014/main" id="{39589B3A-9082-4408-AD19-F6A0E78FA933}"/>
              </a:ext>
            </a:extLst>
          </p:cNvPr>
          <p:cNvGrpSpPr/>
          <p:nvPr/>
        </p:nvGrpSpPr>
        <p:grpSpPr>
          <a:xfrm>
            <a:off x="4505348" y="1403222"/>
            <a:ext cx="1115809" cy="1107558"/>
            <a:chOff x="272144" y="2210012"/>
            <a:chExt cx="1382486" cy="1397847"/>
          </a:xfrm>
          <a:effectLst/>
        </p:grpSpPr>
        <p:sp>
          <p:nvSpPr>
            <p:cNvPr id="26" name="Circle: Hollow 25">
              <a:extLst>
                <a:ext uri="{FF2B5EF4-FFF2-40B4-BE49-F238E27FC236}">
                  <a16:creationId xmlns:a16="http://schemas.microsoft.com/office/drawing/2014/main" id="{931159A9-F413-4ABA-BDF3-ECD2BB769FEA}"/>
                </a:ext>
              </a:extLst>
            </p:cNvPr>
            <p:cNvSpPr>
              <a:spLocks noChangeAspect="1"/>
            </p:cNvSpPr>
            <p:nvPr/>
          </p:nvSpPr>
          <p:spPr>
            <a:xfrm>
              <a:off x="272144" y="2210012"/>
              <a:ext cx="1382486" cy="1397847"/>
            </a:xfrm>
            <a:prstGeom prst="donut">
              <a:avLst>
                <a:gd name="adj" fmla="val 8853"/>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TextBox 26">
              <a:extLst>
                <a:ext uri="{FF2B5EF4-FFF2-40B4-BE49-F238E27FC236}">
                  <a16:creationId xmlns:a16="http://schemas.microsoft.com/office/drawing/2014/main" id="{50FB63DC-C105-41DD-AB65-516050A91311}"/>
                </a:ext>
              </a:extLst>
            </p:cNvPr>
            <p:cNvSpPr txBox="1"/>
            <p:nvPr/>
          </p:nvSpPr>
          <p:spPr>
            <a:xfrm>
              <a:off x="392578" y="2421275"/>
              <a:ext cx="1111996" cy="566057"/>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P14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STAT &amp; TAX Ledger Adjustments</a:t>
              </a:r>
              <a:endParaRPr kumimoji="0" lang="en-US"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endParaRPr>
            </a:p>
          </p:txBody>
        </p:sp>
      </p:grpSp>
      <p:grpSp>
        <p:nvGrpSpPr>
          <p:cNvPr id="30" name="Group 29">
            <a:extLst>
              <a:ext uri="{FF2B5EF4-FFF2-40B4-BE49-F238E27FC236}">
                <a16:creationId xmlns:a16="http://schemas.microsoft.com/office/drawing/2014/main" id="{BCBF4660-4424-4F27-BDD0-DAE625291E8E}"/>
              </a:ext>
            </a:extLst>
          </p:cNvPr>
          <p:cNvGrpSpPr/>
          <p:nvPr/>
        </p:nvGrpSpPr>
        <p:grpSpPr>
          <a:xfrm>
            <a:off x="6545750" y="1393765"/>
            <a:ext cx="1115809" cy="1107558"/>
            <a:chOff x="272144" y="2210012"/>
            <a:chExt cx="1382486" cy="1397847"/>
          </a:xfrm>
          <a:effectLst/>
        </p:grpSpPr>
        <p:sp>
          <p:nvSpPr>
            <p:cNvPr id="31" name="Circle: Hollow 30">
              <a:extLst>
                <a:ext uri="{FF2B5EF4-FFF2-40B4-BE49-F238E27FC236}">
                  <a16:creationId xmlns:a16="http://schemas.microsoft.com/office/drawing/2014/main" id="{C440FB43-7003-41E5-A853-8B17005B7DB4}"/>
                </a:ext>
              </a:extLst>
            </p:cNvPr>
            <p:cNvSpPr>
              <a:spLocks noChangeAspect="1"/>
            </p:cNvSpPr>
            <p:nvPr/>
          </p:nvSpPr>
          <p:spPr>
            <a:xfrm>
              <a:off x="272144" y="2210012"/>
              <a:ext cx="1382486" cy="1397847"/>
            </a:xfrm>
            <a:prstGeom prst="donut">
              <a:avLst>
                <a:gd name="adj" fmla="val 8853"/>
              </a:avLst>
            </a:prstGeom>
            <a:solidFill>
              <a:schemeClr val="accent2"/>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95A6DFC0-96D4-428B-A325-DA1FFC4102F2}"/>
                </a:ext>
              </a:extLst>
            </p:cNvPr>
            <p:cNvSpPr txBox="1"/>
            <p:nvPr/>
          </p:nvSpPr>
          <p:spPr>
            <a:xfrm>
              <a:off x="419554" y="2599884"/>
              <a:ext cx="1111996" cy="566057"/>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Reversals of P14 STAT/TAX Ledger Adj.</a:t>
              </a:r>
              <a:endParaRPr kumimoji="0" lang="en-US"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endParaRPr>
            </a:p>
          </p:txBody>
        </p:sp>
      </p:grpSp>
      <p:grpSp>
        <p:nvGrpSpPr>
          <p:cNvPr id="34" name="Group 33">
            <a:extLst>
              <a:ext uri="{FF2B5EF4-FFF2-40B4-BE49-F238E27FC236}">
                <a16:creationId xmlns:a16="http://schemas.microsoft.com/office/drawing/2014/main" id="{3ECA0E3D-61C9-439E-BE4C-FFFE687504ED}"/>
              </a:ext>
            </a:extLst>
          </p:cNvPr>
          <p:cNvGrpSpPr/>
          <p:nvPr/>
        </p:nvGrpSpPr>
        <p:grpSpPr>
          <a:xfrm>
            <a:off x="8586152" y="1393765"/>
            <a:ext cx="1115809" cy="1107558"/>
            <a:chOff x="272144" y="2210012"/>
            <a:chExt cx="1382486" cy="1397847"/>
          </a:xfrm>
          <a:effectLst/>
        </p:grpSpPr>
        <p:sp>
          <p:nvSpPr>
            <p:cNvPr id="35" name="Circle: Hollow 34">
              <a:extLst>
                <a:ext uri="{FF2B5EF4-FFF2-40B4-BE49-F238E27FC236}">
                  <a16:creationId xmlns:a16="http://schemas.microsoft.com/office/drawing/2014/main" id="{3C109BCA-CD1B-4AD6-840B-5F9CCF59363F}"/>
                </a:ext>
              </a:extLst>
            </p:cNvPr>
            <p:cNvSpPr>
              <a:spLocks noChangeAspect="1"/>
            </p:cNvSpPr>
            <p:nvPr/>
          </p:nvSpPr>
          <p:spPr>
            <a:xfrm>
              <a:off x="272144" y="2210012"/>
              <a:ext cx="1382486" cy="1397847"/>
            </a:xfrm>
            <a:prstGeom prst="donut">
              <a:avLst>
                <a:gd name="adj" fmla="val 8853"/>
              </a:avLst>
            </a:prstGeom>
            <a:solidFill>
              <a:schemeClr val="accent5"/>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6" name="TextBox 35">
              <a:extLst>
                <a:ext uri="{FF2B5EF4-FFF2-40B4-BE49-F238E27FC236}">
                  <a16:creationId xmlns:a16="http://schemas.microsoft.com/office/drawing/2014/main" id="{11208E19-EBFE-41DC-A7A8-BD155890CC4D}"/>
                </a:ext>
              </a:extLst>
            </p:cNvPr>
            <p:cNvSpPr txBox="1"/>
            <p:nvPr/>
          </p:nvSpPr>
          <p:spPr>
            <a:xfrm>
              <a:off x="417638" y="2458552"/>
              <a:ext cx="1111996" cy="566057"/>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Annual Closing STAT Ledger by end June</a:t>
              </a:r>
              <a:endParaRPr kumimoji="0" lang="en-US"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endParaRPr>
            </a:p>
          </p:txBody>
        </p:sp>
      </p:grpSp>
      <p:grpSp>
        <p:nvGrpSpPr>
          <p:cNvPr id="38" name="Group 37">
            <a:extLst>
              <a:ext uri="{FF2B5EF4-FFF2-40B4-BE49-F238E27FC236}">
                <a16:creationId xmlns:a16="http://schemas.microsoft.com/office/drawing/2014/main" id="{D67AA9A0-43F4-4733-A150-2E4FED4660AE}"/>
              </a:ext>
            </a:extLst>
          </p:cNvPr>
          <p:cNvGrpSpPr/>
          <p:nvPr/>
        </p:nvGrpSpPr>
        <p:grpSpPr>
          <a:xfrm>
            <a:off x="10626554" y="1403590"/>
            <a:ext cx="1115809" cy="1107558"/>
            <a:chOff x="272144" y="2210012"/>
            <a:chExt cx="1382486" cy="1397847"/>
          </a:xfrm>
          <a:effectLst/>
        </p:grpSpPr>
        <p:sp>
          <p:nvSpPr>
            <p:cNvPr id="39" name="Circle: Hollow 38">
              <a:extLst>
                <a:ext uri="{FF2B5EF4-FFF2-40B4-BE49-F238E27FC236}">
                  <a16:creationId xmlns:a16="http://schemas.microsoft.com/office/drawing/2014/main" id="{3FA71332-E470-450C-A1D7-3911039CABCF}"/>
                </a:ext>
              </a:extLst>
            </p:cNvPr>
            <p:cNvSpPr>
              <a:spLocks noChangeAspect="1"/>
            </p:cNvSpPr>
            <p:nvPr/>
          </p:nvSpPr>
          <p:spPr>
            <a:xfrm>
              <a:off x="272144" y="2210012"/>
              <a:ext cx="1382486" cy="1397847"/>
            </a:xfrm>
            <a:prstGeom prst="donut">
              <a:avLst>
                <a:gd name="adj" fmla="val 8853"/>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TextBox 39">
              <a:extLst>
                <a:ext uri="{FF2B5EF4-FFF2-40B4-BE49-F238E27FC236}">
                  <a16:creationId xmlns:a16="http://schemas.microsoft.com/office/drawing/2014/main" id="{12354652-4D0A-494E-990B-53A2F3E19AD5}"/>
                </a:ext>
              </a:extLst>
            </p:cNvPr>
            <p:cNvSpPr txBox="1"/>
            <p:nvPr/>
          </p:nvSpPr>
          <p:spPr>
            <a:xfrm>
              <a:off x="417638" y="2458552"/>
              <a:ext cx="1111996" cy="566057"/>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rPr>
                <a:t>Annual Closing TAX Ledger by end September</a:t>
              </a:r>
              <a:endParaRPr kumimoji="0" lang="en-US" sz="1200" b="1" i="0" u="none" strike="noStrike" kern="1200" cap="none" spc="0" normalizeH="0" baseline="0" noProof="0">
                <a:ln>
                  <a:noFill/>
                </a:ln>
                <a:solidFill>
                  <a:srgbClr val="000000"/>
                </a:solidFill>
                <a:effectLst/>
                <a:uLnTx/>
                <a:uFillTx/>
                <a:latin typeface="Arial Narrow" panose="020B0606020202030204" pitchFamily="34" charset="0"/>
                <a:ea typeface="+mn-ea"/>
                <a:cs typeface="Aharoni" panose="02010803020104030203" pitchFamily="2" charset="-79"/>
              </a:endParaRPr>
            </a:p>
          </p:txBody>
        </p:sp>
      </p:grpSp>
      <p:grpSp>
        <p:nvGrpSpPr>
          <p:cNvPr id="43" name="Group 42">
            <a:extLst>
              <a:ext uri="{FF2B5EF4-FFF2-40B4-BE49-F238E27FC236}">
                <a16:creationId xmlns:a16="http://schemas.microsoft.com/office/drawing/2014/main" id="{D133BB61-367C-4553-92CA-894CD75C0DD3}"/>
              </a:ext>
            </a:extLst>
          </p:cNvPr>
          <p:cNvGrpSpPr/>
          <p:nvPr/>
        </p:nvGrpSpPr>
        <p:grpSpPr>
          <a:xfrm>
            <a:off x="1765807" y="1830366"/>
            <a:ext cx="540874" cy="304422"/>
            <a:chOff x="1450123" y="1830366"/>
            <a:chExt cx="540874" cy="304422"/>
          </a:xfrm>
        </p:grpSpPr>
        <p:sp>
          <p:nvSpPr>
            <p:cNvPr id="24" name="Arrow: Chevron 23">
              <a:extLst>
                <a:ext uri="{FF2B5EF4-FFF2-40B4-BE49-F238E27FC236}">
                  <a16:creationId xmlns:a16="http://schemas.microsoft.com/office/drawing/2014/main" id="{415C3891-2233-41E9-A40E-41B93AABEAEE}"/>
                </a:ext>
              </a:extLst>
            </p:cNvPr>
            <p:cNvSpPr/>
            <p:nvPr/>
          </p:nvSpPr>
          <p:spPr>
            <a:xfrm>
              <a:off x="1450123" y="1830366"/>
              <a:ext cx="288447" cy="298118"/>
            </a:xfrm>
            <a:prstGeom prst="chevron">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2" name="Arrow: Chevron 41">
              <a:extLst>
                <a:ext uri="{FF2B5EF4-FFF2-40B4-BE49-F238E27FC236}">
                  <a16:creationId xmlns:a16="http://schemas.microsoft.com/office/drawing/2014/main" id="{03AADE85-FDBF-4E5D-AB1C-0549D3077C53}"/>
                </a:ext>
              </a:extLst>
            </p:cNvPr>
            <p:cNvSpPr/>
            <p:nvPr/>
          </p:nvSpPr>
          <p:spPr>
            <a:xfrm>
              <a:off x="1702550" y="1836670"/>
              <a:ext cx="288447" cy="298118"/>
            </a:xfrm>
            <a:prstGeom prst="chevron">
              <a:avLst/>
            </a:prstGeom>
            <a:solidFill>
              <a:schemeClr val="bg2">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493BF557-F2A6-465F-BA08-1CDFAF42CD39}"/>
              </a:ext>
            </a:extLst>
          </p:cNvPr>
          <p:cNvGrpSpPr/>
          <p:nvPr/>
        </p:nvGrpSpPr>
        <p:grpSpPr>
          <a:xfrm>
            <a:off x="3728097" y="1830366"/>
            <a:ext cx="528916" cy="298118"/>
            <a:chOff x="3553926" y="1830366"/>
            <a:chExt cx="528916" cy="298118"/>
          </a:xfrm>
        </p:grpSpPr>
        <p:sp>
          <p:nvSpPr>
            <p:cNvPr id="28" name="Arrow: Chevron 27">
              <a:extLst>
                <a:ext uri="{FF2B5EF4-FFF2-40B4-BE49-F238E27FC236}">
                  <a16:creationId xmlns:a16="http://schemas.microsoft.com/office/drawing/2014/main" id="{583CD494-8CE5-40F4-8394-FFFE4E6B4807}"/>
                </a:ext>
              </a:extLst>
            </p:cNvPr>
            <p:cNvSpPr/>
            <p:nvPr/>
          </p:nvSpPr>
          <p:spPr>
            <a:xfrm>
              <a:off x="3553926" y="1830366"/>
              <a:ext cx="288447" cy="298118"/>
            </a:xfrm>
            <a:prstGeom prst="chevron">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4" name="Arrow: Chevron 43">
              <a:extLst>
                <a:ext uri="{FF2B5EF4-FFF2-40B4-BE49-F238E27FC236}">
                  <a16:creationId xmlns:a16="http://schemas.microsoft.com/office/drawing/2014/main" id="{53F4AEFB-1F81-452A-AE41-D59675009F83}"/>
                </a:ext>
              </a:extLst>
            </p:cNvPr>
            <p:cNvSpPr/>
            <p:nvPr/>
          </p:nvSpPr>
          <p:spPr>
            <a:xfrm>
              <a:off x="3794395" y="1830366"/>
              <a:ext cx="288447" cy="298118"/>
            </a:xfrm>
            <a:prstGeom prst="chevron">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47" name="Group 46">
            <a:extLst>
              <a:ext uri="{FF2B5EF4-FFF2-40B4-BE49-F238E27FC236}">
                <a16:creationId xmlns:a16="http://schemas.microsoft.com/office/drawing/2014/main" id="{59710202-D9B9-427F-9184-B9FD8D42D88F}"/>
              </a:ext>
            </a:extLst>
          </p:cNvPr>
          <p:cNvGrpSpPr/>
          <p:nvPr/>
        </p:nvGrpSpPr>
        <p:grpSpPr>
          <a:xfrm>
            <a:off x="5827217" y="1845873"/>
            <a:ext cx="538700" cy="298118"/>
            <a:chOff x="5653046" y="1845873"/>
            <a:chExt cx="538700" cy="298118"/>
          </a:xfrm>
          <a:solidFill>
            <a:schemeClr val="accent6">
              <a:lumMod val="40000"/>
              <a:lumOff val="60000"/>
            </a:schemeClr>
          </a:solidFill>
        </p:grpSpPr>
        <p:sp>
          <p:nvSpPr>
            <p:cNvPr id="29" name="Arrow: Chevron 28">
              <a:extLst>
                <a:ext uri="{FF2B5EF4-FFF2-40B4-BE49-F238E27FC236}">
                  <a16:creationId xmlns:a16="http://schemas.microsoft.com/office/drawing/2014/main" id="{3805D4C6-690A-41B1-9263-748892C5CA65}"/>
                </a:ext>
              </a:extLst>
            </p:cNvPr>
            <p:cNvSpPr/>
            <p:nvPr/>
          </p:nvSpPr>
          <p:spPr>
            <a:xfrm>
              <a:off x="5653046" y="1845873"/>
              <a:ext cx="288447" cy="298118"/>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Arrow: Chevron 45">
              <a:extLst>
                <a:ext uri="{FF2B5EF4-FFF2-40B4-BE49-F238E27FC236}">
                  <a16:creationId xmlns:a16="http://schemas.microsoft.com/office/drawing/2014/main" id="{0AC0F516-C50F-4A26-9BAB-D2575B8017F3}"/>
                </a:ext>
              </a:extLst>
            </p:cNvPr>
            <p:cNvSpPr/>
            <p:nvPr/>
          </p:nvSpPr>
          <p:spPr>
            <a:xfrm>
              <a:off x="5903299" y="1845873"/>
              <a:ext cx="288447" cy="298118"/>
            </a:xfrm>
            <a:prstGeom prst="chevron">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D89C5E82-FF23-488B-AC20-B08A344D12E7}"/>
              </a:ext>
            </a:extLst>
          </p:cNvPr>
          <p:cNvGrpSpPr/>
          <p:nvPr/>
        </p:nvGrpSpPr>
        <p:grpSpPr>
          <a:xfrm>
            <a:off x="7796708" y="1836670"/>
            <a:ext cx="515940" cy="298118"/>
            <a:chOff x="7622537" y="1836670"/>
            <a:chExt cx="515940" cy="298118"/>
          </a:xfrm>
        </p:grpSpPr>
        <p:sp>
          <p:nvSpPr>
            <p:cNvPr id="33" name="Arrow: Chevron 32">
              <a:extLst>
                <a:ext uri="{FF2B5EF4-FFF2-40B4-BE49-F238E27FC236}">
                  <a16:creationId xmlns:a16="http://schemas.microsoft.com/office/drawing/2014/main" id="{F584FEDB-27CB-472A-8676-8842E38EF51A}"/>
                </a:ext>
              </a:extLst>
            </p:cNvPr>
            <p:cNvSpPr/>
            <p:nvPr/>
          </p:nvSpPr>
          <p:spPr>
            <a:xfrm>
              <a:off x="7622537" y="1836670"/>
              <a:ext cx="288447" cy="298118"/>
            </a:xfrm>
            <a:prstGeom prst="chevr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8" name="Arrow: Chevron 47">
              <a:extLst>
                <a:ext uri="{FF2B5EF4-FFF2-40B4-BE49-F238E27FC236}">
                  <a16:creationId xmlns:a16="http://schemas.microsoft.com/office/drawing/2014/main" id="{930D3911-54D4-4250-82D2-5429B3AB9151}"/>
                </a:ext>
              </a:extLst>
            </p:cNvPr>
            <p:cNvSpPr/>
            <p:nvPr/>
          </p:nvSpPr>
          <p:spPr>
            <a:xfrm>
              <a:off x="7850030" y="1836670"/>
              <a:ext cx="288447" cy="298118"/>
            </a:xfrm>
            <a:prstGeom prst="chevr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60" name="Group 59">
            <a:extLst>
              <a:ext uri="{FF2B5EF4-FFF2-40B4-BE49-F238E27FC236}">
                <a16:creationId xmlns:a16="http://schemas.microsoft.com/office/drawing/2014/main" id="{107FD574-5A72-45BF-93EE-2878ED8DDB77}"/>
              </a:ext>
            </a:extLst>
          </p:cNvPr>
          <p:cNvGrpSpPr/>
          <p:nvPr/>
        </p:nvGrpSpPr>
        <p:grpSpPr>
          <a:xfrm>
            <a:off x="9842345" y="1836670"/>
            <a:ext cx="533920" cy="298118"/>
            <a:chOff x="9842345" y="1836670"/>
            <a:chExt cx="533920" cy="298118"/>
          </a:xfrm>
        </p:grpSpPr>
        <p:sp>
          <p:nvSpPr>
            <p:cNvPr id="37" name="Arrow: Chevron 36">
              <a:extLst>
                <a:ext uri="{FF2B5EF4-FFF2-40B4-BE49-F238E27FC236}">
                  <a16:creationId xmlns:a16="http://schemas.microsoft.com/office/drawing/2014/main" id="{6EC54D17-A320-4471-B1F4-C5FF5AA67D1D}"/>
                </a:ext>
              </a:extLst>
            </p:cNvPr>
            <p:cNvSpPr/>
            <p:nvPr/>
          </p:nvSpPr>
          <p:spPr>
            <a:xfrm>
              <a:off x="9842345" y="1836670"/>
              <a:ext cx="288447" cy="298118"/>
            </a:xfrm>
            <a:prstGeom prst="chevr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Arrow: Chevron 49">
              <a:extLst>
                <a:ext uri="{FF2B5EF4-FFF2-40B4-BE49-F238E27FC236}">
                  <a16:creationId xmlns:a16="http://schemas.microsoft.com/office/drawing/2014/main" id="{2D6FCC4D-04B5-49B6-9AC5-64232CE07894}"/>
                </a:ext>
              </a:extLst>
            </p:cNvPr>
            <p:cNvSpPr/>
            <p:nvPr/>
          </p:nvSpPr>
          <p:spPr>
            <a:xfrm>
              <a:off x="10087818" y="1836670"/>
              <a:ext cx="288447" cy="298118"/>
            </a:xfrm>
            <a:prstGeom prst="chevr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4" name="Group 3">
            <a:extLst>
              <a:ext uri="{FF2B5EF4-FFF2-40B4-BE49-F238E27FC236}">
                <a16:creationId xmlns:a16="http://schemas.microsoft.com/office/drawing/2014/main" id="{7A7D010A-F608-4AF5-B03F-4DB0BC4162D0}"/>
              </a:ext>
            </a:extLst>
          </p:cNvPr>
          <p:cNvGrpSpPr/>
          <p:nvPr/>
        </p:nvGrpSpPr>
        <p:grpSpPr>
          <a:xfrm>
            <a:off x="555173" y="2544662"/>
            <a:ext cx="11138937" cy="2874273"/>
            <a:chOff x="555173" y="2544662"/>
            <a:chExt cx="11138937" cy="2874273"/>
          </a:xfrm>
        </p:grpSpPr>
        <p:sp>
          <p:nvSpPr>
            <p:cNvPr id="58" name="Isosceles Triangle 57">
              <a:extLst>
                <a:ext uri="{FF2B5EF4-FFF2-40B4-BE49-F238E27FC236}">
                  <a16:creationId xmlns:a16="http://schemas.microsoft.com/office/drawing/2014/main" id="{60E5C010-1ACD-4F19-A9CC-CE8174065386}"/>
                </a:ext>
              </a:extLst>
            </p:cNvPr>
            <p:cNvSpPr/>
            <p:nvPr/>
          </p:nvSpPr>
          <p:spPr>
            <a:xfrm>
              <a:off x="4855091" y="2544662"/>
              <a:ext cx="436766" cy="301616"/>
            </a:xfrm>
            <a:prstGeom prst="triangle">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7" name="Rectangle: Rounded Corners 56">
              <a:extLst>
                <a:ext uri="{FF2B5EF4-FFF2-40B4-BE49-F238E27FC236}">
                  <a16:creationId xmlns:a16="http://schemas.microsoft.com/office/drawing/2014/main" id="{4C75F75B-EBA9-4A0D-943E-0AB54B61A6E1}"/>
                </a:ext>
              </a:extLst>
            </p:cNvPr>
            <p:cNvSpPr/>
            <p:nvPr/>
          </p:nvSpPr>
          <p:spPr>
            <a:xfrm>
              <a:off x="555173" y="2721427"/>
              <a:ext cx="11138937" cy="2697508"/>
            </a:xfrm>
            <a:prstGeom prst="roundRect">
              <a:avLst>
                <a:gd name="adj" fmla="val 5368"/>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3" name="Arrow: Chevron 12">
            <a:extLst>
              <a:ext uri="{FF2B5EF4-FFF2-40B4-BE49-F238E27FC236}">
                <a16:creationId xmlns:a16="http://schemas.microsoft.com/office/drawing/2014/main" id="{02C93FA2-F442-4606-B384-E5553AA4FBB1}"/>
              </a:ext>
            </a:extLst>
          </p:cNvPr>
          <p:cNvSpPr/>
          <p:nvPr/>
        </p:nvSpPr>
        <p:spPr>
          <a:xfrm>
            <a:off x="759148" y="3066780"/>
            <a:ext cx="2736582" cy="1543299"/>
          </a:xfrm>
          <a:prstGeom prst="chevron">
            <a:avLst>
              <a:gd name="adj" fmla="val 40000"/>
            </a:avLst>
          </a:prstGeom>
          <a:solidFill>
            <a:schemeClr val="accent1">
              <a:lumMod val="20000"/>
              <a:lumOff val="80000"/>
            </a:schemeClr>
          </a:soli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4" name="Freeform: Shape 13">
            <a:extLst>
              <a:ext uri="{FF2B5EF4-FFF2-40B4-BE49-F238E27FC236}">
                <a16:creationId xmlns:a16="http://schemas.microsoft.com/office/drawing/2014/main" id="{CAFA4D98-A6EC-4E6A-8D9E-D7B67330CE5B}"/>
              </a:ext>
            </a:extLst>
          </p:cNvPr>
          <p:cNvSpPr/>
          <p:nvPr/>
        </p:nvSpPr>
        <p:spPr>
          <a:xfrm>
            <a:off x="930741" y="3784077"/>
            <a:ext cx="2052000" cy="1447037"/>
          </a:xfrm>
          <a:custGeom>
            <a:avLst/>
            <a:gdLst>
              <a:gd name="connsiteX0" fmla="*/ 0 w 1208008"/>
              <a:gd name="connsiteY0" fmla="*/ 55219 h 552186"/>
              <a:gd name="connsiteX1" fmla="*/ 55219 w 1208008"/>
              <a:gd name="connsiteY1" fmla="*/ 0 h 552186"/>
              <a:gd name="connsiteX2" fmla="*/ 1152789 w 1208008"/>
              <a:gd name="connsiteY2" fmla="*/ 0 h 552186"/>
              <a:gd name="connsiteX3" fmla="*/ 1208008 w 1208008"/>
              <a:gd name="connsiteY3" fmla="*/ 55219 h 552186"/>
              <a:gd name="connsiteX4" fmla="*/ 1208008 w 1208008"/>
              <a:gd name="connsiteY4" fmla="*/ 496967 h 552186"/>
              <a:gd name="connsiteX5" fmla="*/ 1152789 w 1208008"/>
              <a:gd name="connsiteY5" fmla="*/ 552186 h 552186"/>
              <a:gd name="connsiteX6" fmla="*/ 55219 w 1208008"/>
              <a:gd name="connsiteY6" fmla="*/ 552186 h 552186"/>
              <a:gd name="connsiteX7" fmla="*/ 0 w 1208008"/>
              <a:gd name="connsiteY7" fmla="*/ 496967 h 552186"/>
              <a:gd name="connsiteX8" fmla="*/ 0 w 1208008"/>
              <a:gd name="connsiteY8" fmla="*/ 55219 h 55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8008" h="552186">
                <a:moveTo>
                  <a:pt x="0" y="55219"/>
                </a:moveTo>
                <a:cubicBezTo>
                  <a:pt x="0" y="24722"/>
                  <a:pt x="24722" y="0"/>
                  <a:pt x="55219" y="0"/>
                </a:cubicBezTo>
                <a:lnTo>
                  <a:pt x="1152789" y="0"/>
                </a:lnTo>
                <a:cubicBezTo>
                  <a:pt x="1183286" y="0"/>
                  <a:pt x="1208008" y="24722"/>
                  <a:pt x="1208008" y="55219"/>
                </a:cubicBezTo>
                <a:lnTo>
                  <a:pt x="1208008" y="496967"/>
                </a:lnTo>
                <a:cubicBezTo>
                  <a:pt x="1208008" y="527464"/>
                  <a:pt x="1183286" y="552186"/>
                  <a:pt x="1152789" y="552186"/>
                </a:cubicBezTo>
                <a:lnTo>
                  <a:pt x="55219" y="552186"/>
                </a:lnTo>
                <a:cubicBezTo>
                  <a:pt x="24722" y="552186"/>
                  <a:pt x="0" y="527464"/>
                  <a:pt x="0" y="496967"/>
                </a:cubicBezTo>
                <a:lnTo>
                  <a:pt x="0" y="55219"/>
                </a:lnTo>
                <a:close/>
              </a:path>
            </a:pathLst>
          </a:custGeom>
          <a:solidFill>
            <a:schemeClr val="bg1"/>
          </a:solidFill>
          <a:ln>
            <a:solidFill>
              <a:schemeClr val="accent1">
                <a:lumMod val="75000"/>
              </a:schemeClr>
            </a:solidFill>
          </a:ln>
        </p:spPr>
        <p:style>
          <a:lnRef idx="1">
            <a:schemeClr val="accent3">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33" tIns="51733" rIns="51733" bIns="51733" numCol="1" spcCol="1270" anchor="t" anchorCtr="0">
            <a:noAutofit/>
          </a:bodyPr>
          <a:lstStyle/>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Posting via </a:t>
            </a:r>
            <a:r>
              <a:rPr kumimoji="0" lang="en-GB" sz="1200" b="1" i="0" u="none" strike="noStrike" kern="1200" cap="none" spc="0" normalizeH="0" baseline="0" noProof="0" dirty="0" err="1">
                <a:ln>
                  <a:noFill/>
                </a:ln>
                <a:solidFill>
                  <a:srgbClr val="000000">
                    <a:hueOff val="0"/>
                    <a:satOff val="0"/>
                    <a:lumOff val="0"/>
                    <a:alphaOff val="0"/>
                  </a:srgbClr>
                </a:solidFill>
                <a:effectLst/>
                <a:uLnTx/>
                <a:uFillTx/>
                <a:latin typeface="Arial" panose="020B0604020202020204"/>
                <a:ea typeface="+mn-ea"/>
                <a:cs typeface="+mn-cs"/>
              </a:rPr>
              <a:t>MyRequest</a:t>
            </a:r>
            <a:r>
              <a:rPr kumimoji="0" lang="en-GB" sz="12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GL Journal </a:t>
            </a:r>
            <a:r>
              <a:rPr kumimoji="0" lang="en-GB"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template</a:t>
            </a:r>
            <a:endParaRPr kumimoji="0" lang="en-US"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Posting Date 31.12.20xx</a:t>
            </a:r>
            <a:endParaRPr kumimoji="0" lang="en-US"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Accounting Entries: </a:t>
            </a:r>
            <a:r>
              <a:rPr kumimoji="0" lang="en-GB"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Most of the cases will be </a:t>
            </a:r>
            <a:r>
              <a:rPr kumimoji="0" lang="en-GB" sz="12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accrual or provisions postings with </a:t>
            </a:r>
            <a:r>
              <a:rPr kumimoji="0" lang="en-GB" sz="1200" b="1" i="0" u="none" strike="noStrike" kern="1200" cap="none" spc="0" normalizeH="0" baseline="0" noProof="0" dirty="0" err="1">
                <a:ln>
                  <a:noFill/>
                </a:ln>
                <a:solidFill>
                  <a:srgbClr val="000000">
                    <a:hueOff val="0"/>
                    <a:satOff val="0"/>
                    <a:lumOff val="0"/>
                    <a:alphaOff val="0"/>
                  </a:srgbClr>
                </a:solidFill>
                <a:effectLst/>
                <a:uLnTx/>
                <a:uFillTx/>
                <a:latin typeface="Arial" panose="020B0604020202020204"/>
                <a:ea typeface="+mn-ea"/>
                <a:cs typeface="+mn-cs"/>
              </a:rPr>
              <a:t>Dr.</a:t>
            </a:r>
            <a:r>
              <a:rPr kumimoji="0" lang="en-GB" sz="12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P&amp;L, Cr. B/S</a:t>
            </a:r>
          </a:p>
          <a:p>
            <a:pPr marL="57150" marR="0" lvl="1" indent="-57150" algn="l" defTabSz="177800" rtl="0" eaLnBrk="1" fontAlgn="auto" latinLnBrk="0" hangingPunct="1">
              <a:lnSpc>
                <a:spcPct val="90000"/>
              </a:lnSpc>
              <a:spcBef>
                <a:spcPct val="0"/>
              </a:spcBef>
              <a:spcAft>
                <a:spcPct val="15000"/>
              </a:spcAft>
              <a:buClrTx/>
              <a:buSzTx/>
              <a:buFontTx/>
              <a:buChar char="•"/>
              <a:tabLst/>
              <a:defRPr/>
            </a:pPr>
            <a:endParaRPr kumimoji="0" lang="en-US"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5" name="Arrow: Chevron 14">
            <a:extLst>
              <a:ext uri="{FF2B5EF4-FFF2-40B4-BE49-F238E27FC236}">
                <a16:creationId xmlns:a16="http://schemas.microsoft.com/office/drawing/2014/main" id="{73DE56A3-2267-494E-A11B-A6C55162F926}"/>
              </a:ext>
            </a:extLst>
          </p:cNvPr>
          <p:cNvSpPr/>
          <p:nvPr/>
        </p:nvSpPr>
        <p:spPr>
          <a:xfrm>
            <a:off x="3454053" y="3066780"/>
            <a:ext cx="2736000" cy="1543299"/>
          </a:xfrm>
          <a:prstGeom prst="chevron">
            <a:avLst>
              <a:gd name="adj" fmla="val 40000"/>
            </a:avLst>
          </a:prstGeom>
          <a:solidFill>
            <a:schemeClr val="accent1">
              <a:lumMod val="40000"/>
              <a:lumOff val="60000"/>
            </a:schemeClr>
          </a:solidFill>
        </p:spPr>
        <p:style>
          <a:lnRef idx="0">
            <a:schemeClr val="lt1">
              <a:hueOff val="0"/>
              <a:satOff val="0"/>
              <a:lumOff val="0"/>
              <a:alphaOff val="0"/>
            </a:schemeClr>
          </a:lnRef>
          <a:fillRef idx="3">
            <a:schemeClr val="accent3">
              <a:hueOff val="1548048"/>
              <a:satOff val="-11342"/>
              <a:lumOff val="1862"/>
              <a:alphaOff val="0"/>
            </a:schemeClr>
          </a:fillRef>
          <a:effectRef idx="3">
            <a:schemeClr val="accent3">
              <a:hueOff val="1548048"/>
              <a:satOff val="-11342"/>
              <a:lumOff val="1862"/>
              <a:alphaOff val="0"/>
            </a:schemeClr>
          </a:effectRef>
          <a:fontRef idx="minor">
            <a:schemeClr val="lt1"/>
          </a:fontRef>
        </p:style>
      </p:sp>
      <p:sp>
        <p:nvSpPr>
          <p:cNvPr id="17" name="Arrow: Chevron 16">
            <a:extLst>
              <a:ext uri="{FF2B5EF4-FFF2-40B4-BE49-F238E27FC236}">
                <a16:creationId xmlns:a16="http://schemas.microsoft.com/office/drawing/2014/main" id="{58531615-64B2-46C4-9A30-01B1E82F76EB}"/>
              </a:ext>
            </a:extLst>
          </p:cNvPr>
          <p:cNvSpPr/>
          <p:nvPr/>
        </p:nvSpPr>
        <p:spPr>
          <a:xfrm>
            <a:off x="6133530" y="3056956"/>
            <a:ext cx="2736000" cy="1543299"/>
          </a:xfrm>
          <a:prstGeom prst="chevron">
            <a:avLst>
              <a:gd name="adj" fmla="val 40000"/>
            </a:avLst>
          </a:prstGeom>
          <a:solidFill>
            <a:schemeClr val="accent1">
              <a:lumMod val="60000"/>
              <a:lumOff val="40000"/>
            </a:schemeClr>
          </a:solidFill>
        </p:spPr>
        <p:style>
          <a:lnRef idx="0">
            <a:schemeClr val="lt1">
              <a:hueOff val="0"/>
              <a:satOff val="0"/>
              <a:lumOff val="0"/>
              <a:alphaOff val="0"/>
            </a:schemeClr>
          </a:lnRef>
          <a:fillRef idx="3">
            <a:schemeClr val="accent3">
              <a:hueOff val="3096097"/>
              <a:satOff val="-22684"/>
              <a:lumOff val="3725"/>
              <a:alphaOff val="0"/>
            </a:schemeClr>
          </a:fillRef>
          <a:effectRef idx="3">
            <a:schemeClr val="accent3">
              <a:hueOff val="3096097"/>
              <a:satOff val="-22684"/>
              <a:lumOff val="3725"/>
              <a:alphaOff val="0"/>
            </a:schemeClr>
          </a:effectRef>
          <a:fontRef idx="minor">
            <a:schemeClr val="lt1"/>
          </a:fontRef>
        </p:style>
      </p:sp>
      <p:sp>
        <p:nvSpPr>
          <p:cNvPr id="19" name="Arrow: Chevron 18">
            <a:extLst>
              <a:ext uri="{FF2B5EF4-FFF2-40B4-BE49-F238E27FC236}">
                <a16:creationId xmlns:a16="http://schemas.microsoft.com/office/drawing/2014/main" id="{96B4B0EE-3FF9-42ED-BCE2-8EC790C91F2C}"/>
              </a:ext>
            </a:extLst>
          </p:cNvPr>
          <p:cNvSpPr/>
          <p:nvPr/>
        </p:nvSpPr>
        <p:spPr>
          <a:xfrm>
            <a:off x="8823968" y="3056570"/>
            <a:ext cx="2736000" cy="1543299"/>
          </a:xfrm>
          <a:prstGeom prst="chevron">
            <a:avLst>
              <a:gd name="adj" fmla="val 40000"/>
            </a:avLst>
          </a:prstGeom>
          <a:solidFill>
            <a:schemeClr val="accent1">
              <a:lumMod val="75000"/>
            </a:schemeClr>
          </a:solidFill>
        </p:spPr>
        <p:style>
          <a:lnRef idx="0">
            <a:schemeClr val="lt1">
              <a:hueOff val="0"/>
              <a:satOff val="0"/>
              <a:lumOff val="0"/>
              <a:alphaOff val="0"/>
            </a:schemeClr>
          </a:lnRef>
          <a:fillRef idx="3">
            <a:schemeClr val="accent3">
              <a:hueOff val="4644145"/>
              <a:satOff val="-34026"/>
              <a:lumOff val="5587"/>
              <a:alphaOff val="0"/>
            </a:schemeClr>
          </a:fillRef>
          <a:effectRef idx="3">
            <a:schemeClr val="accent3">
              <a:hueOff val="4644145"/>
              <a:satOff val="-34026"/>
              <a:lumOff val="5587"/>
              <a:alphaOff val="0"/>
            </a:schemeClr>
          </a:effectRef>
          <a:fontRef idx="minor">
            <a:schemeClr val="lt1"/>
          </a:fontRef>
        </p:style>
      </p:sp>
      <p:sp>
        <p:nvSpPr>
          <p:cNvPr id="16" name="Freeform: Shape 15">
            <a:extLst>
              <a:ext uri="{FF2B5EF4-FFF2-40B4-BE49-F238E27FC236}">
                <a16:creationId xmlns:a16="http://schemas.microsoft.com/office/drawing/2014/main" id="{5719F9FE-37B7-4A29-AF1E-4FD1A0C3B543}"/>
              </a:ext>
            </a:extLst>
          </p:cNvPr>
          <p:cNvSpPr/>
          <p:nvPr/>
        </p:nvSpPr>
        <p:spPr>
          <a:xfrm>
            <a:off x="3816097" y="3784077"/>
            <a:ext cx="2052000" cy="1447037"/>
          </a:xfrm>
          <a:custGeom>
            <a:avLst/>
            <a:gdLst>
              <a:gd name="connsiteX0" fmla="*/ 0 w 1208008"/>
              <a:gd name="connsiteY0" fmla="*/ 55219 h 552186"/>
              <a:gd name="connsiteX1" fmla="*/ 55219 w 1208008"/>
              <a:gd name="connsiteY1" fmla="*/ 0 h 552186"/>
              <a:gd name="connsiteX2" fmla="*/ 1152789 w 1208008"/>
              <a:gd name="connsiteY2" fmla="*/ 0 h 552186"/>
              <a:gd name="connsiteX3" fmla="*/ 1208008 w 1208008"/>
              <a:gd name="connsiteY3" fmla="*/ 55219 h 552186"/>
              <a:gd name="connsiteX4" fmla="*/ 1208008 w 1208008"/>
              <a:gd name="connsiteY4" fmla="*/ 496967 h 552186"/>
              <a:gd name="connsiteX5" fmla="*/ 1152789 w 1208008"/>
              <a:gd name="connsiteY5" fmla="*/ 552186 h 552186"/>
              <a:gd name="connsiteX6" fmla="*/ 55219 w 1208008"/>
              <a:gd name="connsiteY6" fmla="*/ 552186 h 552186"/>
              <a:gd name="connsiteX7" fmla="*/ 0 w 1208008"/>
              <a:gd name="connsiteY7" fmla="*/ 496967 h 552186"/>
              <a:gd name="connsiteX8" fmla="*/ 0 w 1208008"/>
              <a:gd name="connsiteY8" fmla="*/ 55219 h 55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8008" h="552186">
                <a:moveTo>
                  <a:pt x="0" y="55219"/>
                </a:moveTo>
                <a:cubicBezTo>
                  <a:pt x="0" y="24722"/>
                  <a:pt x="24722" y="0"/>
                  <a:pt x="55219" y="0"/>
                </a:cubicBezTo>
                <a:lnTo>
                  <a:pt x="1152789" y="0"/>
                </a:lnTo>
                <a:cubicBezTo>
                  <a:pt x="1183286" y="0"/>
                  <a:pt x="1208008" y="24722"/>
                  <a:pt x="1208008" y="55219"/>
                </a:cubicBezTo>
                <a:lnTo>
                  <a:pt x="1208008" y="496967"/>
                </a:lnTo>
                <a:cubicBezTo>
                  <a:pt x="1208008" y="527464"/>
                  <a:pt x="1183286" y="552186"/>
                  <a:pt x="1152789" y="552186"/>
                </a:cubicBezTo>
                <a:lnTo>
                  <a:pt x="55219" y="552186"/>
                </a:lnTo>
                <a:cubicBezTo>
                  <a:pt x="24722" y="552186"/>
                  <a:pt x="0" y="527464"/>
                  <a:pt x="0" y="496967"/>
                </a:cubicBezTo>
                <a:lnTo>
                  <a:pt x="0" y="55219"/>
                </a:lnTo>
                <a:close/>
              </a:path>
            </a:pathLst>
          </a:custGeom>
          <a:solidFill>
            <a:schemeClr val="bg1"/>
          </a:solidFill>
          <a:ln>
            <a:solidFill>
              <a:schemeClr val="accent1">
                <a:lumMod val="75000"/>
              </a:schemeClr>
            </a:solidFill>
          </a:ln>
        </p:spPr>
        <p:style>
          <a:lnRef idx="1">
            <a:schemeClr val="accent3">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33" tIns="51733" rIns="51733" bIns="51733" numCol="1" spcCol="1270" anchor="t" anchorCtr="0">
            <a:noAutofit/>
          </a:bodyPr>
          <a:lstStyle/>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No automatic Revaluation or Translation</a:t>
            </a:r>
            <a:r>
              <a:rPr kumimoji="0" lang="en-GB"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in P14 due to lack of benefit compared to excessive effort </a:t>
            </a:r>
            <a:r>
              <a:rPr kumimoji="0" lang="en-GB" sz="1200" b="0" i="0" u="none" strike="noStrike" kern="1200" cap="none" spc="0" normalizeH="0" baseline="0" noProof="0" dirty="0">
                <a:ln>
                  <a:noFill/>
                </a:ln>
                <a:solidFill>
                  <a:srgbClr val="FF0000"/>
                </a:solidFill>
                <a:effectLst/>
                <a:uLnTx/>
                <a:uFillTx/>
                <a:latin typeface="Arial" panose="020B0604020202020204"/>
                <a:ea typeface="+mn-ea"/>
                <a:cs typeface="+mn-cs"/>
              </a:rPr>
              <a:t>*</a:t>
            </a:r>
          </a:p>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Any </a:t>
            </a:r>
            <a:r>
              <a:rPr kumimoji="0" lang="en-GB" sz="12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FX impacts</a:t>
            </a:r>
            <a:r>
              <a:rPr kumimoji="0" lang="en-GB"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where relevant, needs </a:t>
            </a:r>
            <a:r>
              <a:rPr kumimoji="0" lang="en-GB" sz="12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to be included in the journal </a:t>
            </a:r>
            <a:r>
              <a:rPr kumimoji="0" lang="en-GB"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posting template </a:t>
            </a:r>
            <a:r>
              <a:rPr kumimoji="0" lang="en-GB" sz="1200" b="0" i="0" u="none" strike="noStrike" kern="1200" cap="none" spc="0" normalizeH="0" baseline="0" noProof="0" dirty="0">
                <a:ln>
                  <a:noFill/>
                </a:ln>
                <a:solidFill>
                  <a:srgbClr val="FF0000"/>
                </a:solidFill>
                <a:effectLst/>
                <a:uLnTx/>
                <a:uFillTx/>
                <a:latin typeface="Arial" panose="020B0604020202020204"/>
                <a:ea typeface="+mn-ea"/>
                <a:cs typeface="+mn-cs"/>
              </a:rPr>
              <a:t>*</a:t>
            </a:r>
            <a:r>
              <a:rPr kumimoji="0" lang="en-GB"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a:t>
            </a:r>
            <a:endParaRPr kumimoji="0" lang="en-US"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endParaRPr>
          </a:p>
          <a:p>
            <a:pPr marL="72000" marR="0" lvl="1" indent="-72000" algn="l" defTabSz="177800" rtl="0" eaLnBrk="1" fontAlgn="auto" latinLnBrk="0" hangingPunct="1">
              <a:lnSpc>
                <a:spcPct val="90000"/>
              </a:lnSpc>
              <a:spcBef>
                <a:spcPct val="0"/>
              </a:spcBef>
              <a:spcAft>
                <a:spcPct val="15000"/>
              </a:spcAft>
              <a:buClrTx/>
              <a:buSzTx/>
              <a:buFontTx/>
              <a:buChar char="•"/>
              <a:tabLst/>
              <a:defRPr/>
            </a:pPr>
            <a:endParaRPr kumimoji="0" lang="en-US" sz="1200" b="0" i="0" u="none" strike="noStrike" kern="1200" cap="none" spc="0" normalizeH="0" baseline="0" noProof="0" dirty="0">
              <a:ln>
                <a:noFill/>
              </a:ln>
              <a:solidFill>
                <a:srgbClr val="FF0000"/>
              </a:solidFill>
              <a:effectLst/>
              <a:uLnTx/>
              <a:uFillTx/>
              <a:latin typeface="Arial" panose="020B0604020202020204"/>
              <a:ea typeface="+mn-ea"/>
              <a:cs typeface="+mn-cs"/>
            </a:endParaRPr>
          </a:p>
        </p:txBody>
      </p:sp>
      <p:sp>
        <p:nvSpPr>
          <p:cNvPr id="18" name="Freeform: Shape 17">
            <a:extLst>
              <a:ext uri="{FF2B5EF4-FFF2-40B4-BE49-F238E27FC236}">
                <a16:creationId xmlns:a16="http://schemas.microsoft.com/office/drawing/2014/main" id="{FAD01EC0-832F-4559-B241-3B7390017CA0}"/>
              </a:ext>
            </a:extLst>
          </p:cNvPr>
          <p:cNvSpPr/>
          <p:nvPr/>
        </p:nvSpPr>
        <p:spPr>
          <a:xfrm>
            <a:off x="6472744" y="3784077"/>
            <a:ext cx="2052000" cy="1447037"/>
          </a:xfrm>
          <a:custGeom>
            <a:avLst/>
            <a:gdLst>
              <a:gd name="connsiteX0" fmla="*/ 0 w 1208008"/>
              <a:gd name="connsiteY0" fmla="*/ 55219 h 552186"/>
              <a:gd name="connsiteX1" fmla="*/ 55219 w 1208008"/>
              <a:gd name="connsiteY1" fmla="*/ 0 h 552186"/>
              <a:gd name="connsiteX2" fmla="*/ 1152789 w 1208008"/>
              <a:gd name="connsiteY2" fmla="*/ 0 h 552186"/>
              <a:gd name="connsiteX3" fmla="*/ 1208008 w 1208008"/>
              <a:gd name="connsiteY3" fmla="*/ 55219 h 552186"/>
              <a:gd name="connsiteX4" fmla="*/ 1208008 w 1208008"/>
              <a:gd name="connsiteY4" fmla="*/ 496967 h 552186"/>
              <a:gd name="connsiteX5" fmla="*/ 1152789 w 1208008"/>
              <a:gd name="connsiteY5" fmla="*/ 552186 h 552186"/>
              <a:gd name="connsiteX6" fmla="*/ 55219 w 1208008"/>
              <a:gd name="connsiteY6" fmla="*/ 552186 h 552186"/>
              <a:gd name="connsiteX7" fmla="*/ 0 w 1208008"/>
              <a:gd name="connsiteY7" fmla="*/ 496967 h 552186"/>
              <a:gd name="connsiteX8" fmla="*/ 0 w 1208008"/>
              <a:gd name="connsiteY8" fmla="*/ 55219 h 55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8008" h="552186">
                <a:moveTo>
                  <a:pt x="0" y="55219"/>
                </a:moveTo>
                <a:cubicBezTo>
                  <a:pt x="0" y="24722"/>
                  <a:pt x="24722" y="0"/>
                  <a:pt x="55219" y="0"/>
                </a:cubicBezTo>
                <a:lnTo>
                  <a:pt x="1152789" y="0"/>
                </a:lnTo>
                <a:cubicBezTo>
                  <a:pt x="1183286" y="0"/>
                  <a:pt x="1208008" y="24722"/>
                  <a:pt x="1208008" y="55219"/>
                </a:cubicBezTo>
                <a:lnTo>
                  <a:pt x="1208008" y="496967"/>
                </a:lnTo>
                <a:cubicBezTo>
                  <a:pt x="1208008" y="527464"/>
                  <a:pt x="1183286" y="552186"/>
                  <a:pt x="1152789" y="552186"/>
                </a:cubicBezTo>
                <a:lnTo>
                  <a:pt x="55219" y="552186"/>
                </a:lnTo>
                <a:cubicBezTo>
                  <a:pt x="24722" y="552186"/>
                  <a:pt x="0" y="527464"/>
                  <a:pt x="0" y="496967"/>
                </a:cubicBezTo>
                <a:lnTo>
                  <a:pt x="0" y="55219"/>
                </a:lnTo>
                <a:close/>
              </a:path>
            </a:pathLst>
          </a:custGeom>
          <a:solidFill>
            <a:schemeClr val="bg1"/>
          </a:solidFill>
          <a:ln>
            <a:solidFill>
              <a:schemeClr val="accent1">
                <a:lumMod val="75000"/>
              </a:schemeClr>
            </a:solidFill>
          </a:ln>
        </p:spPr>
        <p:style>
          <a:lnRef idx="1">
            <a:schemeClr val="accent3">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33" tIns="51733" rIns="51733" bIns="51733" numCol="1" spcCol="1270" anchor="t" anchorCtr="0">
            <a:noAutofit/>
          </a:bodyPr>
          <a:lstStyle/>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Applicable to entities which use Functional Area Adjustment program</a:t>
            </a:r>
          </a:p>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Functional Adjustment Reclassification in P14 is to be done by GBS upon entity request by email</a:t>
            </a:r>
            <a:r>
              <a:rPr kumimoji="0" lang="en-GB" sz="1200" b="1" i="0" u="none" strike="noStrike" kern="1200" cap="none" spc="0" normalizeH="0" baseline="0" noProof="0" dirty="0">
                <a:ln>
                  <a:noFill/>
                </a:ln>
                <a:solidFill>
                  <a:srgbClr val="FF0000"/>
                </a:solidFill>
                <a:effectLst/>
                <a:uLnTx/>
                <a:uFillTx/>
                <a:latin typeface="Arial" panose="020B0604020202020204"/>
                <a:ea typeface="+mn-ea"/>
                <a:cs typeface="+mn-cs"/>
              </a:rPr>
              <a:t>**</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a:t>
            </a:r>
            <a:endParaRPr kumimoji="0" lang="en-US" sz="1200" b="1" i="0" u="none" strike="sng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 name="Freeform: Shape 19">
            <a:extLst>
              <a:ext uri="{FF2B5EF4-FFF2-40B4-BE49-F238E27FC236}">
                <a16:creationId xmlns:a16="http://schemas.microsoft.com/office/drawing/2014/main" id="{48224EF9-18E3-4DD0-B35D-7254C9E7562A}"/>
              </a:ext>
            </a:extLst>
          </p:cNvPr>
          <p:cNvSpPr/>
          <p:nvPr/>
        </p:nvSpPr>
        <p:spPr>
          <a:xfrm>
            <a:off x="9119033" y="3784077"/>
            <a:ext cx="2052000" cy="1447037"/>
          </a:xfrm>
          <a:custGeom>
            <a:avLst/>
            <a:gdLst>
              <a:gd name="connsiteX0" fmla="*/ 0 w 1208008"/>
              <a:gd name="connsiteY0" fmla="*/ 55219 h 552186"/>
              <a:gd name="connsiteX1" fmla="*/ 55219 w 1208008"/>
              <a:gd name="connsiteY1" fmla="*/ 0 h 552186"/>
              <a:gd name="connsiteX2" fmla="*/ 1152789 w 1208008"/>
              <a:gd name="connsiteY2" fmla="*/ 0 h 552186"/>
              <a:gd name="connsiteX3" fmla="*/ 1208008 w 1208008"/>
              <a:gd name="connsiteY3" fmla="*/ 55219 h 552186"/>
              <a:gd name="connsiteX4" fmla="*/ 1208008 w 1208008"/>
              <a:gd name="connsiteY4" fmla="*/ 496967 h 552186"/>
              <a:gd name="connsiteX5" fmla="*/ 1152789 w 1208008"/>
              <a:gd name="connsiteY5" fmla="*/ 552186 h 552186"/>
              <a:gd name="connsiteX6" fmla="*/ 55219 w 1208008"/>
              <a:gd name="connsiteY6" fmla="*/ 552186 h 552186"/>
              <a:gd name="connsiteX7" fmla="*/ 0 w 1208008"/>
              <a:gd name="connsiteY7" fmla="*/ 496967 h 552186"/>
              <a:gd name="connsiteX8" fmla="*/ 0 w 1208008"/>
              <a:gd name="connsiteY8" fmla="*/ 55219 h 55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8008" h="552186">
                <a:moveTo>
                  <a:pt x="0" y="55219"/>
                </a:moveTo>
                <a:cubicBezTo>
                  <a:pt x="0" y="24722"/>
                  <a:pt x="24722" y="0"/>
                  <a:pt x="55219" y="0"/>
                </a:cubicBezTo>
                <a:lnTo>
                  <a:pt x="1152789" y="0"/>
                </a:lnTo>
                <a:cubicBezTo>
                  <a:pt x="1183286" y="0"/>
                  <a:pt x="1208008" y="24722"/>
                  <a:pt x="1208008" y="55219"/>
                </a:cubicBezTo>
                <a:lnTo>
                  <a:pt x="1208008" y="496967"/>
                </a:lnTo>
                <a:cubicBezTo>
                  <a:pt x="1208008" y="527464"/>
                  <a:pt x="1183286" y="552186"/>
                  <a:pt x="1152789" y="552186"/>
                </a:cubicBezTo>
                <a:lnTo>
                  <a:pt x="55219" y="552186"/>
                </a:lnTo>
                <a:cubicBezTo>
                  <a:pt x="24722" y="552186"/>
                  <a:pt x="0" y="527464"/>
                  <a:pt x="0" y="496967"/>
                </a:cubicBezTo>
                <a:lnTo>
                  <a:pt x="0" y="55219"/>
                </a:lnTo>
                <a:close/>
              </a:path>
            </a:pathLst>
          </a:custGeom>
          <a:solidFill>
            <a:schemeClr val="bg1"/>
          </a:solidFill>
          <a:ln>
            <a:solidFill>
              <a:schemeClr val="accent1">
                <a:lumMod val="75000"/>
              </a:schemeClr>
            </a:solidFill>
          </a:ln>
        </p:spPr>
        <p:style>
          <a:lnRef idx="1">
            <a:schemeClr val="accent3">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33" tIns="51733" rIns="51733" bIns="51733" numCol="1" spcCol="1270" anchor="t" anchorCtr="0">
            <a:noAutofit/>
          </a:bodyPr>
          <a:lstStyle/>
          <a:p>
            <a:pPr marL="72000" marR="0" lvl="1" indent="-72000" algn="l" defTabSz="177800" rtl="0" eaLnBrk="1" fontAlgn="auto" latinLnBrk="0" hangingPunct="1">
              <a:lnSpc>
                <a:spcPct val="90000"/>
              </a:lnSpc>
              <a:spcBef>
                <a:spcPct val="0"/>
              </a:spcBef>
              <a:spcAft>
                <a:spcPct val="15000"/>
              </a:spcAft>
              <a:buClrTx/>
              <a:buSzTx/>
              <a:buFontTx/>
              <a:buChar char="•"/>
              <a:tabLst/>
              <a:defRPr/>
            </a:pPr>
            <a:r>
              <a:rPr kumimoji="0" lang="en-GB"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AP/AR regrouping is</a:t>
            </a:r>
            <a:r>
              <a:rPr kumimoji="0" lang="en-GB" sz="12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not concerned with STAT/TAX Year End process</a:t>
            </a:r>
            <a:r>
              <a:rPr kumimoji="0" lang="en-GB"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as AP and AR reconciliation accounts are closed with P12 AP/AR close. </a:t>
            </a:r>
            <a:endParaRPr kumimoji="0" lang="en-US"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A67F5090-8801-4009-A600-012116B5ABBE}"/>
              </a:ext>
            </a:extLst>
          </p:cNvPr>
          <p:cNvSpPr txBox="1"/>
          <p:nvPr/>
        </p:nvSpPr>
        <p:spPr>
          <a:xfrm>
            <a:off x="1276427" y="3169704"/>
            <a:ext cx="1469817" cy="47582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P14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Adjustment Journal Posting</a:t>
            </a: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2" name="TextBox 51">
            <a:extLst>
              <a:ext uri="{FF2B5EF4-FFF2-40B4-BE49-F238E27FC236}">
                <a16:creationId xmlns:a16="http://schemas.microsoft.com/office/drawing/2014/main" id="{2C0E2C72-2608-4E70-BDA6-8839D2E4A155}"/>
              </a:ext>
            </a:extLst>
          </p:cNvPr>
          <p:cNvSpPr txBox="1"/>
          <p:nvPr/>
        </p:nvSpPr>
        <p:spPr>
          <a:xfrm>
            <a:off x="4088128" y="3169704"/>
            <a:ext cx="1587968" cy="47582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FX Revaluation / Translation</a:t>
            </a: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3" name="TextBox 52">
            <a:extLst>
              <a:ext uri="{FF2B5EF4-FFF2-40B4-BE49-F238E27FC236}">
                <a16:creationId xmlns:a16="http://schemas.microsoft.com/office/drawing/2014/main" id="{928E6B5C-31D7-4335-ADB8-40914B1FA683}"/>
              </a:ext>
            </a:extLst>
          </p:cNvPr>
          <p:cNvSpPr txBox="1"/>
          <p:nvPr/>
        </p:nvSpPr>
        <p:spPr>
          <a:xfrm>
            <a:off x="6741288" y="3169704"/>
            <a:ext cx="1587968" cy="47582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Functional Area Adjustments</a:t>
            </a: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4" name="TextBox 53">
            <a:extLst>
              <a:ext uri="{FF2B5EF4-FFF2-40B4-BE49-F238E27FC236}">
                <a16:creationId xmlns:a16="http://schemas.microsoft.com/office/drawing/2014/main" id="{FA86CD8E-C889-48CB-94EA-7E99F3B42C49}"/>
              </a:ext>
            </a:extLst>
          </p:cNvPr>
          <p:cNvSpPr txBox="1"/>
          <p:nvPr/>
        </p:nvSpPr>
        <p:spPr>
          <a:xfrm>
            <a:off x="9397984" y="3169704"/>
            <a:ext cx="1587968" cy="47582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AP/AR Regrouping</a:t>
            </a: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9852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par>
                                <p:cTn id="21" presetID="10"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animEffect transition="in" filter="fade">
                                      <p:cBhvr>
                                        <p:cTn id="59" dur="500"/>
                                        <p:tgtEl>
                                          <p:spTgt spid="53"/>
                                        </p:tgtEl>
                                      </p:cBhvr>
                                    </p:animEffect>
                                  </p:childTnLst>
                                </p:cTn>
                              </p:par>
                              <p:par>
                                <p:cTn id="60" presetID="10" presetClass="entr" presetSubtype="0"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500"/>
                                        <p:tgtEl>
                                          <p:spTgt spid="54"/>
                                        </p:tgtEl>
                                      </p:cBhvr>
                                    </p:animEffect>
                                  </p:childTnLst>
                                </p:cTn>
                              </p:par>
                              <p:par>
                                <p:cTn id="71" presetID="10" presetClass="entr" presetSubtype="0" fill="hold"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47"/>
                                        </p:tgtEl>
                                        <p:attrNameLst>
                                          <p:attrName>style.visibility</p:attrName>
                                        </p:attrNameLst>
                                      </p:cBhvr>
                                      <p:to>
                                        <p:strVal val="visible"/>
                                      </p:to>
                                    </p:set>
                                    <p:animEffect transition="in" filter="fade">
                                      <p:cBhvr>
                                        <p:cTn id="81" dur="500"/>
                                        <p:tgtEl>
                                          <p:spTgt spid="47"/>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49"/>
                                        </p:tgtEl>
                                        <p:attrNameLst>
                                          <p:attrName>style.visibility</p:attrName>
                                        </p:attrNameLst>
                                      </p:cBhvr>
                                      <p:to>
                                        <p:strVal val="visible"/>
                                      </p:to>
                                    </p:set>
                                    <p:animEffect transition="in" filter="fade">
                                      <p:cBhvr>
                                        <p:cTn id="89" dur="500"/>
                                        <p:tgtEl>
                                          <p:spTgt spid="49"/>
                                        </p:tgtEl>
                                      </p:cBhvr>
                                    </p:animEffect>
                                  </p:childTnLst>
                                </p:cTn>
                              </p:par>
                              <p:par>
                                <p:cTn id="90" presetID="10" presetClass="entr" presetSubtype="0" fill="hold"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60"/>
                                        </p:tgtEl>
                                        <p:attrNameLst>
                                          <p:attrName>style.visibility</p:attrName>
                                        </p:attrNameLst>
                                      </p:cBhvr>
                                      <p:to>
                                        <p:strVal val="visible"/>
                                      </p:to>
                                    </p:set>
                                    <p:animEffect transition="in" filter="fade">
                                      <p:cBhvr>
                                        <p:cTn id="97" dur="500"/>
                                        <p:tgtEl>
                                          <p:spTgt spid="60"/>
                                        </p:tgtEl>
                                      </p:cBhvr>
                                    </p:animEffect>
                                  </p:childTnLst>
                                </p:cTn>
                              </p:par>
                              <p:par>
                                <p:cTn id="98" presetID="10" presetClass="entr" presetSubtype="0" fill="hold" nodeType="with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3" grpId="0"/>
      <p:bldP spid="52" grpId="0"/>
      <p:bldP spid="53" grpId="0"/>
      <p:bldP spid="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DF09F19-E42C-4993-93CD-71BDAEF2B62F}"/>
              </a:ext>
            </a:extLst>
          </p:cNvPr>
          <p:cNvSpPr txBox="1"/>
          <p:nvPr/>
        </p:nvSpPr>
        <p:spPr>
          <a:xfrm>
            <a:off x="247650" y="6534149"/>
            <a:ext cx="11428411" cy="276226"/>
          </a:xfrm>
          <a:prstGeom prst="rect">
            <a:avLst/>
          </a:prstGeom>
          <a:solidFill>
            <a:schemeClr val="bg1"/>
          </a:solid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30000" noProof="0" dirty="0">
                <a:ln>
                  <a:noFill/>
                </a:ln>
                <a:solidFill>
                  <a:srgbClr val="FF0000"/>
                </a:solidFill>
                <a:effectLst/>
                <a:uLnTx/>
                <a:uFillTx/>
                <a:latin typeface="Arial" panose="020B0604020202020204"/>
                <a:ea typeface="+mn-ea"/>
                <a:cs typeface="+mn-cs"/>
              </a:rPr>
              <a:t>1) </a:t>
            </a:r>
            <a:r>
              <a:rPr kumimoji="0" lang="en-GB" sz="1000" b="0" i="1" u="none" strike="noStrike" kern="1200" cap="none" spc="0" normalizeH="0" baseline="0" noProof="0" dirty="0">
                <a:ln>
                  <a:noFill/>
                </a:ln>
                <a:solidFill>
                  <a:srgbClr val="000000"/>
                </a:solidFill>
                <a:effectLst/>
                <a:uLnTx/>
                <a:uFillTx/>
                <a:latin typeface="Arial" panose="020B0604020202020204"/>
                <a:ea typeface="+mn-ea"/>
                <a:cs typeface="+mn-cs"/>
              </a:rPr>
              <a:t>This is </a:t>
            </a:r>
            <a:r>
              <a:rPr kumimoji="0" lang="en-US" sz="1000" b="0" i="1" u="none" strike="noStrike" kern="1200" cap="none" spc="0" normalizeH="0" baseline="0" noProof="0" dirty="0">
                <a:ln>
                  <a:noFill/>
                </a:ln>
                <a:solidFill>
                  <a:srgbClr val="000000"/>
                </a:solidFill>
                <a:effectLst/>
                <a:uLnTx/>
                <a:uFillTx/>
                <a:latin typeface="Arial" panose="020B0604020202020204"/>
                <a:ea typeface="+mn-ea"/>
                <a:cs typeface="+mn-cs"/>
              </a:rPr>
              <a:t>to bring the balance to the end B/S date</a:t>
            </a:r>
            <a:r>
              <a:rPr kumimoji="0" lang="en-GB" sz="1000" b="0" i="1" u="none" strike="noStrike" kern="1200" cap="none" spc="0" normalizeH="0" baseline="0" noProof="0" dirty="0">
                <a:ln>
                  <a:noFill/>
                </a:ln>
                <a:solidFill>
                  <a:srgbClr val="000000"/>
                </a:solidFill>
                <a:effectLst/>
                <a:uLnTx/>
                <a:uFillTx/>
                <a:latin typeface="Arial" panose="020B0604020202020204"/>
                <a:ea typeface="+mn-ea"/>
                <a:cs typeface="+mn-cs"/>
              </a:rPr>
              <a:t> </a:t>
            </a:r>
            <a:endParaRPr kumimoji="0" lang="en-US" sz="1000" b="0" i="1"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a:t>Two Approaches for P14 STAT/TAX Adjustments</a:t>
            </a:r>
            <a:endParaRPr lang="en-US"/>
          </a:p>
        </p:txBody>
      </p:sp>
      <p:graphicFrame>
        <p:nvGraphicFramePr>
          <p:cNvPr id="4" name="Table 20">
            <a:extLst>
              <a:ext uri="{FF2B5EF4-FFF2-40B4-BE49-F238E27FC236}">
                <a16:creationId xmlns:a16="http://schemas.microsoft.com/office/drawing/2014/main" id="{8823815F-049D-4702-9842-47575AEB242D}"/>
              </a:ext>
            </a:extLst>
          </p:cNvPr>
          <p:cNvGraphicFramePr>
            <a:graphicFrameLocks noGrp="1"/>
          </p:cNvGraphicFramePr>
          <p:nvPr/>
        </p:nvGraphicFramePr>
        <p:xfrm>
          <a:off x="247650" y="1679787"/>
          <a:ext cx="11791950" cy="4836887"/>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56922">
                  <a:extLst>
                    <a:ext uri="{9D8B030D-6E8A-4147-A177-3AD203B41FA5}">
                      <a16:colId xmlns:a16="http://schemas.microsoft.com/office/drawing/2014/main" val="3560703309"/>
                    </a:ext>
                  </a:extLst>
                </a:gridCol>
                <a:gridCol w="10935028">
                  <a:extLst>
                    <a:ext uri="{9D8B030D-6E8A-4147-A177-3AD203B41FA5}">
                      <a16:colId xmlns:a16="http://schemas.microsoft.com/office/drawing/2014/main" val="4292372562"/>
                    </a:ext>
                  </a:extLst>
                </a:gridCol>
              </a:tblGrid>
              <a:tr h="2297853">
                <a:tc>
                  <a:txBody>
                    <a:bodyPr/>
                    <a:lstStyle/>
                    <a:p>
                      <a:pPr algn="ctr"/>
                      <a:r>
                        <a:rPr lang="en-GB" sz="1400" dirty="0"/>
                        <a:t>Approach 1 </a:t>
                      </a:r>
                    </a:p>
                    <a:p>
                      <a:pPr algn="ctr"/>
                      <a:r>
                        <a:rPr lang="en-GB" sz="1100" dirty="0"/>
                        <a:t>(Entities with FX Conversion on </a:t>
                      </a:r>
                    </a:p>
                    <a:p>
                      <a:pPr algn="ctr"/>
                      <a:r>
                        <a:rPr lang="en-GB" sz="1100" b="1" u="sng" dirty="0"/>
                        <a:t>Posting Date</a:t>
                      </a:r>
                      <a:r>
                        <a:rPr lang="en-GB" sz="1100" b="1" u="none" dirty="0"/>
                        <a:t> or </a:t>
                      </a:r>
                      <a:r>
                        <a:rPr lang="en-GB" sz="1100" b="1" u="sng" dirty="0"/>
                        <a:t>can post Doc Date=Posting Date=31.12.20XX </a:t>
                      </a:r>
                      <a:r>
                        <a:rPr lang="en-GB" sz="1100" dirty="0"/>
                        <a:t>)</a:t>
                      </a:r>
                      <a:endParaRPr lang="en-US" sz="1100" dirty="0"/>
                    </a:p>
                  </a:txBody>
                  <a:tcPr marL="36000" marR="36000" marT="36000" marB="36000" vert="vert">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solidFill>
                      <a:schemeClr val="accent6">
                        <a:lumMod val="75000"/>
                      </a:schemeClr>
                    </a:solidFill>
                  </a:tcPr>
                </a:tc>
                <a:tc>
                  <a:txBody>
                    <a:bodyPr/>
                    <a:lstStyle/>
                    <a:p>
                      <a:endParaRPr lang="en-US" sz="1100" dirty="0"/>
                    </a:p>
                  </a:txBody>
                  <a:tcP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1233945075"/>
                  </a:ext>
                </a:extLst>
              </a:tr>
              <a:tr h="2539034">
                <a:tc>
                  <a:txBody>
                    <a:bodyPr/>
                    <a:lstStyle/>
                    <a:p>
                      <a:pPr algn="ctr"/>
                      <a:r>
                        <a:rPr lang="en-GB" sz="1400" b="1" dirty="0">
                          <a:solidFill>
                            <a:schemeClr val="bg1"/>
                          </a:solidFill>
                        </a:rPr>
                        <a:t>Approach 2</a:t>
                      </a:r>
                    </a:p>
                    <a:p>
                      <a:pPr algn="ctr"/>
                      <a:r>
                        <a:rPr lang="en-GB" sz="1100" b="1" dirty="0">
                          <a:solidFill>
                            <a:schemeClr val="bg1"/>
                          </a:solidFill>
                        </a:rPr>
                        <a:t>(Entities with FX Conversion on</a:t>
                      </a:r>
                    </a:p>
                    <a:p>
                      <a:pPr algn="ctr"/>
                      <a:r>
                        <a:rPr lang="en-GB" sz="1100" b="1" u="sng" dirty="0">
                          <a:solidFill>
                            <a:schemeClr val="bg1"/>
                          </a:solidFill>
                        </a:rPr>
                        <a:t>Document Date </a:t>
                      </a:r>
                      <a:r>
                        <a:rPr lang="en-GB" sz="1100" b="1" u="none" dirty="0">
                          <a:solidFill>
                            <a:schemeClr val="bg1"/>
                          </a:solidFill>
                        </a:rPr>
                        <a:t>or </a:t>
                      </a:r>
                      <a:r>
                        <a:rPr lang="en-GB" sz="1100" b="1" u="sng" dirty="0">
                          <a:solidFill>
                            <a:schemeClr val="bg1"/>
                          </a:solidFill>
                        </a:rPr>
                        <a:t>need to account for UFX separately</a:t>
                      </a:r>
                      <a:r>
                        <a:rPr lang="en-GB" sz="1100" b="1" dirty="0">
                          <a:solidFill>
                            <a:schemeClr val="bg1"/>
                          </a:solidFill>
                        </a:rPr>
                        <a:t>)</a:t>
                      </a:r>
                      <a:endParaRPr lang="en-US" sz="1100" b="1" dirty="0">
                        <a:solidFill>
                          <a:schemeClr val="bg1"/>
                        </a:solidFill>
                      </a:endParaRPr>
                    </a:p>
                  </a:txBody>
                  <a:tcPr marL="36000" marR="36000" marT="36000" marB="36000" vert="vert">
                    <a:lnL w="28575" cap="flat" cmpd="sng" algn="ctr">
                      <a:solidFill>
                        <a:schemeClr val="bg1"/>
                      </a:solidFill>
                      <a:prstDash val="solid"/>
                      <a:round/>
                      <a:headEnd type="none" w="med" len="med"/>
                      <a:tailEnd type="none" w="med" len="med"/>
                    </a:lnL>
                    <a:lnB w="28575" cap="flat" cmpd="sng" algn="ctr">
                      <a:solidFill>
                        <a:schemeClr val="bg1"/>
                      </a:solidFill>
                      <a:prstDash val="solid"/>
                      <a:round/>
                      <a:headEnd type="none" w="med" len="med"/>
                      <a:tailEnd type="none" w="med" len="med"/>
                    </a:lnB>
                    <a:solidFill>
                      <a:schemeClr val="accent3"/>
                    </a:solidFill>
                  </a:tcPr>
                </a:tc>
                <a:tc>
                  <a:txBody>
                    <a:bodyPr/>
                    <a:lstStyle/>
                    <a:p>
                      <a:endParaRPr lang="en-US" sz="1100" dirty="0"/>
                    </a:p>
                  </a:txBody>
                  <a:tcPr>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702585662"/>
                  </a:ext>
                </a:extLst>
              </a:tr>
            </a:tbl>
          </a:graphicData>
        </a:graphic>
      </p:graphicFrame>
      <p:sp>
        <p:nvSpPr>
          <p:cNvPr id="3" name="Rectangle 2">
            <a:extLst>
              <a:ext uri="{FF2B5EF4-FFF2-40B4-BE49-F238E27FC236}">
                <a16:creationId xmlns:a16="http://schemas.microsoft.com/office/drawing/2014/main" id="{98E76A4D-E98B-48D3-8E98-8CD78D3982DC}"/>
              </a:ext>
            </a:extLst>
          </p:cNvPr>
          <p:cNvSpPr/>
          <p:nvPr/>
        </p:nvSpPr>
        <p:spPr>
          <a:xfrm>
            <a:off x="1095154" y="1360830"/>
            <a:ext cx="2615615" cy="324621"/>
          </a:xfrm>
          <a:prstGeom prst="rect">
            <a:avLst/>
          </a:prstGeom>
          <a:solidFill>
            <a:schemeClr val="accent6">
              <a:lumMod val="50000"/>
            </a:schemeClr>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MyRequest</a:t>
            </a:r>
            <a:endParaRPr kumimoji="0" lang="en-US" sz="16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DAF15DCB-8D6C-4231-89AD-0D436E6728FA}"/>
              </a:ext>
            </a:extLst>
          </p:cNvPr>
          <p:cNvSpPr/>
          <p:nvPr/>
        </p:nvSpPr>
        <p:spPr>
          <a:xfrm>
            <a:off x="1095154" y="1699140"/>
            <a:ext cx="2615616" cy="2253905"/>
          </a:xfrm>
          <a:prstGeom prst="rect">
            <a:avLst/>
          </a:prstGeom>
          <a:no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Request Type=Auto Reversal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if reversal is to be done in following period</a:t>
            </a: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Request Type=Standard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if reversal is to be done manually or in the currently open period, in which case separate reversal MyRequest needs to be submitted (see details in [Reversal Document])</a:t>
            </a: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Document Date = Date as required</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(does not determine FX conversion)</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Posting Date=31.12.20XX</a:t>
            </a:r>
            <a:endParaRPr kumimoji="0" lang="en-US" sz="11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DCA4C525-498F-4334-9308-23C8BA0D3400}"/>
              </a:ext>
            </a:extLst>
          </p:cNvPr>
          <p:cNvSpPr/>
          <p:nvPr/>
        </p:nvSpPr>
        <p:spPr>
          <a:xfrm>
            <a:off x="1095154" y="3953044"/>
            <a:ext cx="2615616" cy="2552642"/>
          </a:xfrm>
          <a:prstGeom prst="rect">
            <a:avLst/>
          </a:prstGeom>
          <a:no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Request Type=Exception Posting</a:t>
            </a:r>
            <a:endParaRPr kumimoji="0" lang="en-US" sz="11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One set of accounting entries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v</a:t>
            </a:r>
            <a:r>
              <a:rPr kumimoji="0" lang="en-GB" sz="1100" b="0" i="0" u="none" strike="noStrike" kern="1200" cap="none" spc="0" normalizeH="0" baseline="0" noProof="0" dirty="0" err="1">
                <a:ln>
                  <a:noFill/>
                </a:ln>
                <a:solidFill>
                  <a:srgbClr val="000000"/>
                </a:solidFill>
                <a:effectLst/>
                <a:uLnTx/>
                <a:uFillTx/>
                <a:latin typeface="Arial" panose="020B0604020202020204"/>
                <a:ea typeface="+mn-ea"/>
                <a:cs typeface="+mn-cs"/>
              </a:rPr>
              <a:t>ia</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MyRequest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if DC=LC1</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Two sets of accounting entries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via MyRequest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if DC≠LC1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as UFX needs to be accounted for (1</a:t>
            </a:r>
            <a:r>
              <a:rPr kumimoji="0" lang="en-GB" sz="1100" b="0" i="0" u="none" strike="noStrike" kern="1200" cap="none" spc="0" normalizeH="0" baseline="30000" noProof="0" dirty="0">
                <a:ln>
                  <a:noFill/>
                </a:ln>
                <a:solidFill>
                  <a:srgbClr val="000000"/>
                </a:solidFill>
                <a:effectLst/>
                <a:uLnTx/>
                <a:uFillTx/>
                <a:latin typeface="Arial" panose="020B0604020202020204"/>
                <a:ea typeface="+mn-ea"/>
                <a:cs typeface="+mn-cs"/>
              </a:rPr>
              <a:t>st</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set of accounting entries for YE Adjustment; 2</a:t>
            </a:r>
            <a:r>
              <a:rPr kumimoji="0" lang="en-GB" sz="1100" b="0" i="0" u="none" strike="noStrike" kern="1200" cap="none" spc="0" normalizeH="0" baseline="30000" noProof="0" dirty="0">
                <a:ln>
                  <a:noFill/>
                </a:ln>
                <a:solidFill>
                  <a:srgbClr val="000000"/>
                </a:solidFill>
                <a:effectLst/>
                <a:uLnTx/>
                <a:uFillTx/>
                <a:latin typeface="Arial" panose="020B0604020202020204"/>
                <a:ea typeface="+mn-ea"/>
                <a:cs typeface="+mn-cs"/>
              </a:rPr>
              <a:t>nd</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set of accounting entries for UFX)</a:t>
            </a: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Document Date = Date as required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(determines FX conversion)</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Posting Date = 31.12.20XX</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endParaRPr kumimoji="0" lang="en-US" sz="11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139FECE5-A636-4A00-BD17-6D3C84DADFEE}"/>
              </a:ext>
            </a:extLst>
          </p:cNvPr>
          <p:cNvSpPr/>
          <p:nvPr/>
        </p:nvSpPr>
        <p:spPr>
          <a:xfrm>
            <a:off x="3710769" y="1360830"/>
            <a:ext cx="3962178" cy="324621"/>
          </a:xfrm>
          <a:prstGeom prst="rect">
            <a:avLst/>
          </a:prstGeom>
          <a:solidFill>
            <a:schemeClr val="accent6">
              <a:lumMod val="50000"/>
            </a:schemeClr>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panose="020B0604020202020204"/>
                <a:ea typeface="+mn-ea"/>
                <a:cs typeface="+mn-cs"/>
              </a:rPr>
              <a:t>Currencies and Amounts</a:t>
            </a:r>
            <a:endParaRPr kumimoji="0" lang="en-US" sz="16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208B06F8-EE67-43C6-8688-02131741A542}"/>
              </a:ext>
            </a:extLst>
          </p:cNvPr>
          <p:cNvSpPr/>
          <p:nvPr/>
        </p:nvSpPr>
        <p:spPr>
          <a:xfrm>
            <a:off x="3710769" y="1699140"/>
            <a:ext cx="3962178" cy="2253905"/>
          </a:xfrm>
          <a:prstGeom prst="rect">
            <a:avLst/>
          </a:prstGeom>
          <a:no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In case of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DC=LC1</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LC2 is calculated automatically by system as </a:t>
            </a:r>
            <a:r>
              <a:rPr kumimoji="0" lang="en-GB" sz="1100" b="0" i="0" u="none" strike="noStrike" kern="1200" cap="none" spc="0" normalizeH="0" baseline="0" noProof="0" dirty="0" err="1">
                <a:ln>
                  <a:noFill/>
                </a:ln>
                <a:solidFill>
                  <a:srgbClr val="000000"/>
                </a:solidFill>
                <a:effectLst/>
                <a:uLnTx/>
                <a:uFillTx/>
                <a:latin typeface="Arial" panose="020B0604020202020204"/>
                <a:ea typeface="+mn-ea"/>
                <a:cs typeface="+mn-cs"/>
              </a:rPr>
              <a:t>DC@spot</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(31.12.20XX)</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In case of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DC≠LC1</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system will convert the posting from DC into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LC1 and LC2 using the spot “M” rate of 31.12.20XX</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No separate UFX or CTA</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postings required, as LC1@spot = LC1@JT (31.12.20XX) and LC2@spot = LC2 @ JT (31.12.20XX).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83D74A72-A319-4BED-A478-A2FB698EA142}"/>
              </a:ext>
            </a:extLst>
          </p:cNvPr>
          <p:cNvSpPr/>
          <p:nvPr/>
        </p:nvSpPr>
        <p:spPr>
          <a:xfrm>
            <a:off x="3710769" y="3966734"/>
            <a:ext cx="3962178" cy="2534236"/>
          </a:xfrm>
          <a:prstGeom prst="rect">
            <a:avLst/>
          </a:prstGeom>
          <a:no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In case of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DC=LC1,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manually</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calculate and input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LC2 as DC@JT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rate </a:t>
            </a:r>
            <a:r>
              <a:rPr kumimoji="0" lang="en-GB" sz="1100" b="0" i="1" u="none" strike="noStrike" kern="1200" cap="none" spc="0" normalizeH="0" baseline="30000" noProof="0" dirty="0">
                <a:ln>
                  <a:noFill/>
                </a:ln>
                <a:solidFill>
                  <a:srgbClr val="FF0000"/>
                </a:solidFill>
                <a:effectLst/>
                <a:uLnTx/>
                <a:uFillTx/>
                <a:latin typeface="Arial" panose="020B0604020202020204"/>
                <a:ea typeface="+mn-ea"/>
                <a:cs typeface="+mn-cs"/>
              </a:rPr>
              <a:t>1)</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In case of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DC≠LC1</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324000" marR="0" lvl="2" indent="-180000" algn="l" defTabSz="533400" rtl="0" eaLnBrk="1" fontAlgn="auto" latinLnBrk="0" hangingPunct="1">
              <a:lnSpc>
                <a:spcPct val="90000"/>
              </a:lnSpc>
              <a:spcBef>
                <a:spcPct val="0"/>
              </a:spcBef>
              <a:spcAft>
                <a:spcPct val="15000"/>
              </a:spcAft>
              <a:buClrTx/>
              <a:buSzTx/>
              <a:buFont typeface="+mj-lt"/>
              <a:buAutoNum type="arabicParenR"/>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Entities manually calculate and input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LC1=DC@ spot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rate (M) and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LC2=DC@ JT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rate </a:t>
            </a:r>
            <a:r>
              <a:rPr kumimoji="0" lang="en-GB" sz="1050" b="0" i="1" u="none" strike="noStrike" kern="1200" cap="none" spc="0" normalizeH="0" baseline="30000" noProof="0" dirty="0">
                <a:ln>
                  <a:noFill/>
                </a:ln>
                <a:solidFill>
                  <a:srgbClr val="FF0000"/>
                </a:solidFill>
                <a:effectLst/>
                <a:uLnTx/>
                <a:uFillTx/>
                <a:latin typeface="Arial" panose="020B0604020202020204"/>
                <a:ea typeface="+mn-ea"/>
                <a:cs typeface="+mn-cs"/>
              </a:rPr>
              <a:t>1)</a:t>
            </a:r>
          </a:p>
          <a:p>
            <a:pPr marL="324000" marR="0" lvl="2" indent="-180000" algn="l" defTabSz="533400" rtl="0" eaLnBrk="1" fontAlgn="auto" latinLnBrk="0" hangingPunct="1">
              <a:lnSpc>
                <a:spcPct val="90000"/>
              </a:lnSpc>
              <a:spcBef>
                <a:spcPct val="0"/>
              </a:spcBef>
              <a:spcAft>
                <a:spcPts val="0"/>
              </a:spcAft>
              <a:buClrTx/>
              <a:buSzTx/>
              <a:buFont typeface="+mj-lt"/>
              <a:buAutoNum type="arabicParenR"/>
              <a:tabLst/>
              <a:defRPr/>
            </a:pP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UFX </a:t>
            </a:r>
            <a:r>
              <a:rPr kumimoji="0" lang="en-US" sz="1050" b="1" i="0" u="none" strike="noStrike" kern="1200" cap="none" spc="0" normalizeH="0" baseline="0" noProof="0" dirty="0">
                <a:ln>
                  <a:noFill/>
                </a:ln>
                <a:solidFill>
                  <a:srgbClr val="000000"/>
                </a:solidFill>
                <a:effectLst/>
                <a:uLnTx/>
                <a:uFillTx/>
                <a:latin typeface="Arial" panose="020B0604020202020204"/>
                <a:ea typeface="+mn-ea"/>
                <a:cs typeface="+mn-cs"/>
              </a:rPr>
              <a:t>entry</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 Dr/Cr P&amp;L UFX and Cr/Dr B/S</a:t>
            </a:r>
          </a:p>
          <a:p>
            <a:pPr marL="432000" marR="0" lvl="3" indent="-108000" algn="l" defTabSz="533400" rtl="0" eaLnBrk="1" fontAlgn="auto" latinLnBrk="0" hangingPunct="1">
              <a:lnSpc>
                <a:spcPct val="90000"/>
              </a:lnSpc>
              <a:spcBef>
                <a:spcPct val="0"/>
              </a:spcBef>
              <a:spcAft>
                <a:spcPts val="0"/>
              </a:spcAft>
              <a:buClrTx/>
              <a:buSzTx/>
              <a:buFont typeface="Courier New" panose="02070309020205020404" pitchFamily="49" charset="0"/>
              <a:buChar char="o"/>
              <a:tabLst/>
              <a:defRPr/>
            </a:pP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DC=0, LC1=delta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between LC1@M rate vs. LC1@JT rate;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LC2=LC1 UFX amount converted to USD @ JT rate</a:t>
            </a:r>
          </a:p>
          <a:p>
            <a:pPr marL="432000" marR="0" lvl="3" indent="-108000" algn="l" defTabSz="533400" rtl="0" eaLnBrk="1" fontAlgn="auto" latinLnBrk="0" hangingPunct="1">
              <a:lnSpc>
                <a:spcPct val="90000"/>
              </a:lnSpc>
              <a:spcBef>
                <a:spcPct val="0"/>
              </a:spcBef>
              <a:spcAft>
                <a:spcPts val="0"/>
              </a:spcAft>
              <a:buClrTx/>
              <a:buSzTx/>
              <a:buFont typeface="Courier New" panose="02070309020205020404" pitchFamily="49" charset="0"/>
              <a:buChar char="o"/>
              <a:tabLst/>
              <a:defRPr/>
            </a:pP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Use underlying account for postings on Flat G/L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(e.g. 243617)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and respective XXXXX9 account for LSC accounts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(E.g. FX for 246041 posted on 246049)</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No separate CTA postings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and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no corrections of the P&amp;L CTA FX</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are needed, since Tax ledger is not currently used to calculate deferred taxes and potential automation of Tax Pack would be based on B/S numbers of P12. </a:t>
            </a:r>
          </a:p>
        </p:txBody>
      </p:sp>
      <p:sp>
        <p:nvSpPr>
          <p:cNvPr id="14" name="Rectangle 13">
            <a:extLst>
              <a:ext uri="{FF2B5EF4-FFF2-40B4-BE49-F238E27FC236}">
                <a16:creationId xmlns:a16="http://schemas.microsoft.com/office/drawing/2014/main" id="{FCABFA31-BF75-4A28-A3F4-651C78EEA85B}"/>
              </a:ext>
            </a:extLst>
          </p:cNvPr>
          <p:cNvSpPr/>
          <p:nvPr/>
        </p:nvSpPr>
        <p:spPr>
          <a:xfrm>
            <a:off x="7672947" y="1360830"/>
            <a:ext cx="4366652" cy="324621"/>
          </a:xfrm>
          <a:prstGeom prst="rect">
            <a:avLst/>
          </a:prstGeom>
          <a:solidFill>
            <a:schemeClr val="accent6">
              <a:lumMod val="50000"/>
            </a:schemeClr>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panose="020B0604020202020204"/>
                <a:ea typeface="+mn-ea"/>
                <a:cs typeface="+mn-cs"/>
              </a:rPr>
              <a:t>Reversal Document</a:t>
            </a:r>
            <a:endParaRPr kumimoji="0" lang="en-US" sz="16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B08EC3D8-75EC-4030-B9DA-99C82BB925D9}"/>
              </a:ext>
            </a:extLst>
          </p:cNvPr>
          <p:cNvSpPr/>
          <p:nvPr/>
        </p:nvSpPr>
        <p:spPr>
          <a:xfrm>
            <a:off x="7672946" y="1699140"/>
            <a:ext cx="4366653" cy="2253905"/>
          </a:xfrm>
          <a:prstGeom prst="rect">
            <a:avLst/>
          </a:prstGeom>
          <a:no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For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“auto reversal” request type</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Reversal date = 1st day of the following month</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E.g. if Entity raises a P14 20X0 STAT/TAX journal with auto reversal on 05.03.20X1, Entity shall indicate the date of 01.04.20X1 as a reversal date</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For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entities submitting quarterly STAT and/or TAX reporting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manual subsequent reversal request should be posted and entities indicate the </a:t>
            </a:r>
            <a:r>
              <a:rPr kumimoji="0" lang="en-GB" sz="1100" b="1" i="0" u="sng" strike="noStrike" kern="1200" cap="none" spc="0" normalizeH="0" baseline="0" noProof="0" dirty="0">
                <a:ln>
                  <a:noFill/>
                </a:ln>
                <a:solidFill>
                  <a:srgbClr val="000000"/>
                </a:solidFill>
                <a:effectLst/>
                <a:uLnTx/>
                <a:uFillTx/>
                <a:latin typeface="Arial" panose="020B0604020202020204"/>
                <a:ea typeface="+mn-ea"/>
                <a:cs typeface="+mn-cs"/>
              </a:rPr>
              <a:t>1st day of the currently open period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as reversal date</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E.g. if Entity raises a P14 20X0 STAT/TAX related reversal request on 05.03.20X1 (i.e. P3 20X1 is currently open), they should indicate the date of 01.03.20X1 as a reversal date.</a:t>
            </a:r>
          </a:p>
          <a:p>
            <a:pPr marL="316800" marR="0" lvl="2" indent="-171450" algn="l" defTabSz="533400" rtl="0" eaLnBrk="1" fontAlgn="auto" latinLnBrk="0" hangingPunct="1">
              <a:lnSpc>
                <a:spcPct val="90000"/>
              </a:lnSpc>
              <a:spcBef>
                <a:spcPct val="0"/>
              </a:spcBef>
              <a:spcAft>
                <a:spcPct val="15000"/>
              </a:spcAft>
              <a:buClrTx/>
              <a:buSzTx/>
              <a:buFont typeface="Courier New" panose="02070309020205020404" pitchFamily="49" charset="0"/>
              <a:buChar char="o"/>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This will ensure that the reversal falls into the following financial year and ensures a correct year-to-date result for any intermediate statutory/tax </a:t>
            </a:r>
            <a:r>
              <a:rPr kumimoji="0" lang="en-GB" sz="1100" b="0" i="0" u="none" strike="noStrike" kern="1200" cap="none" spc="0" normalizeH="0" baseline="0" noProof="0" dirty="0">
                <a:ln>
                  <a:noFill/>
                </a:ln>
                <a:solidFill>
                  <a:srgbClr val="000000"/>
                </a:solidFill>
                <a:effectLst/>
                <a:highlight>
                  <a:srgbClr val="FFFF00"/>
                </a:highlight>
                <a:uLnTx/>
                <a:uFillTx/>
                <a:latin typeface="Arial" panose="020B06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B149644B-3107-48E3-85E5-CB24FD039A99}"/>
              </a:ext>
            </a:extLst>
          </p:cNvPr>
          <p:cNvSpPr/>
          <p:nvPr/>
        </p:nvSpPr>
        <p:spPr>
          <a:xfrm>
            <a:off x="7672946" y="3953045"/>
            <a:ext cx="4366653" cy="2547925"/>
          </a:xfrm>
          <a:prstGeom prst="rect">
            <a:avLst/>
          </a:prstGeom>
          <a:no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tIns="72000" rtlCol="0" anchor="t"/>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MyRequest for Reversal should be raised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by entities to process the reversal(s) of the following:</a:t>
            </a:r>
          </a:p>
          <a:p>
            <a:pPr marL="324000" marR="0" lvl="2" indent="-180000" algn="l" defTabSz="533400" rtl="0" eaLnBrk="1" fontAlgn="auto" latinLnBrk="0" hangingPunct="1">
              <a:lnSpc>
                <a:spcPct val="90000"/>
              </a:lnSpc>
              <a:spcBef>
                <a:spcPct val="0"/>
              </a:spcBef>
              <a:spcAft>
                <a:spcPct val="15000"/>
              </a:spcAft>
              <a:buClrTx/>
              <a:buSzTx/>
              <a:buFont typeface="+mj-lt"/>
              <a:buAutoNum type="arabicParenR"/>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Reversal of the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underlying transaction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if DC=LC1</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324000" marR="0" lvl="2" indent="-180000" algn="l" defTabSz="533400" rtl="0" eaLnBrk="1" fontAlgn="auto" latinLnBrk="0" hangingPunct="1">
              <a:lnSpc>
                <a:spcPct val="90000"/>
              </a:lnSpc>
              <a:spcBef>
                <a:spcPct val="0"/>
              </a:spcBef>
              <a:spcAft>
                <a:spcPct val="15000"/>
              </a:spcAft>
              <a:buClrTx/>
              <a:buSzTx/>
              <a:buFont typeface="+mj-lt"/>
              <a:buAutoNum type="arabicParenR"/>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Reversal of the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underlying transaction and UFX posting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(if DC ≠ LC1)</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For both reversals, Entity shall:</a:t>
            </a:r>
          </a:p>
          <a:p>
            <a:pPr marL="315450" marR="0" lvl="2" indent="-171450" algn="l" defTabSz="533400" rtl="0" eaLnBrk="1" fontAlgn="auto" latinLnBrk="0" hangingPunct="1">
              <a:lnSpc>
                <a:spcPct val="90000"/>
              </a:lnSpc>
              <a:spcBef>
                <a:spcPct val="0"/>
              </a:spcBef>
              <a:spcAft>
                <a:spcPct val="15000"/>
              </a:spcAft>
              <a:buClrTx/>
              <a:buSzTx/>
              <a:buFont typeface="Courier New" panose="02070309020205020404" pitchFamily="49" charset="0"/>
              <a:buChar char="o"/>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indicate the concrete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original document number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and request the </a:t>
            </a:r>
            <a:r>
              <a:rPr kumimoji="0" lang="en-GB" sz="1050" b="1" i="0" u="none" strike="noStrike" kern="1200" cap="none" spc="0" normalizeH="0" baseline="0" noProof="0" dirty="0">
                <a:ln>
                  <a:noFill/>
                </a:ln>
                <a:solidFill>
                  <a:srgbClr val="000000"/>
                </a:solidFill>
                <a:effectLst/>
                <a:uLnTx/>
                <a:uFillTx/>
                <a:latin typeface="Arial" panose="020B0604020202020204"/>
                <a:ea typeface="+mn-ea"/>
                <a:cs typeface="+mn-cs"/>
              </a:rPr>
              <a:t>date of the reversal to be the 1st day of the month of the following year, which is open </a:t>
            </a: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at the moment of the MyRequest template submission. </a:t>
            </a:r>
          </a:p>
          <a:p>
            <a:pPr marL="315450" marR="0" lvl="2" indent="-171450" algn="l" defTabSz="533400" rtl="0" eaLnBrk="1" fontAlgn="auto" latinLnBrk="0" hangingPunct="1">
              <a:lnSpc>
                <a:spcPct val="90000"/>
              </a:lnSpc>
              <a:spcBef>
                <a:spcPct val="0"/>
              </a:spcBef>
              <a:spcAft>
                <a:spcPct val="15000"/>
              </a:spcAft>
              <a:buClrTx/>
              <a:buSzTx/>
              <a:buFont typeface="Courier New" panose="02070309020205020404" pitchFamily="49" charset="0"/>
              <a:buChar char="o"/>
              <a:tabLst/>
              <a:defRPr/>
            </a:pPr>
            <a:r>
              <a:rPr kumimoji="0" lang="en-GB" sz="1050" b="0" i="0" u="none" strike="noStrike" kern="1200" cap="none" spc="0" normalizeH="0" baseline="0" noProof="0" dirty="0">
                <a:ln>
                  <a:noFill/>
                </a:ln>
                <a:solidFill>
                  <a:srgbClr val="000000"/>
                </a:solidFill>
                <a:effectLst/>
                <a:uLnTx/>
                <a:uFillTx/>
                <a:latin typeface="Arial" panose="020B0604020202020204"/>
                <a:ea typeface="+mn-ea"/>
                <a:cs typeface="+mn-cs"/>
              </a:rPr>
              <a:t>E.g. if Entity raises a P14 2020 STAT/TAX journal for reversal on 05.03.2021, Entity shall indicate the date of 01.03.2021 as a reversal date. </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This will ensure that the reversal falls into the following financial year and ensures a correct year-to-date result for any intermediate statutory/tax reporting of the following year. </a:t>
            </a:r>
          </a:p>
        </p:txBody>
      </p:sp>
      <p:sp>
        <p:nvSpPr>
          <p:cNvPr id="11" name="Slide Number Placeholder 5">
            <a:extLst>
              <a:ext uri="{FF2B5EF4-FFF2-40B4-BE49-F238E27FC236}">
                <a16:creationId xmlns:a16="http://schemas.microsoft.com/office/drawing/2014/main" id="{CB93522B-5867-4E72-950D-3AEF1DF757AC}"/>
              </a:ext>
            </a:extLst>
          </p:cNvPr>
          <p:cNvSpPr txBox="1">
            <a:spLocks/>
          </p:cNvSpPr>
          <p:nvPr/>
        </p:nvSpPr>
        <p:spPr>
          <a:xfrm>
            <a:off x="11278800" y="6282531"/>
            <a:ext cx="397261" cy="365125"/>
          </a:xfrm>
          <a:prstGeom prst="rect">
            <a:avLst/>
          </a:prstGeom>
          <a:effectLst/>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6513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5" grpId="0" animBg="1"/>
      <p:bldP spid="9" grpId="0" animBg="1"/>
      <p:bldP spid="10" grpId="0" animBg="1"/>
      <p:bldP spid="12" grpId="0" animBg="1"/>
      <p:bldP spid="13" grpId="0" animBg="1"/>
      <p:bldP spid="14"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dirty="0"/>
              <a:t>P14 STAT/TAX Adjustments Example </a:t>
            </a:r>
            <a:br>
              <a:rPr lang="en-GB" dirty="0"/>
            </a:br>
            <a:r>
              <a:rPr lang="en-GB" dirty="0"/>
              <a:t>– Approach 1 </a:t>
            </a:r>
            <a:r>
              <a:rPr lang="en-GB" sz="1400" dirty="0"/>
              <a:t>(Entities with FX Conversion on Posting Date or Doc. Date=Posting Date=31.12.20XX)</a:t>
            </a:r>
            <a:endParaRPr lang="en-US" sz="1400" dirty="0"/>
          </a:p>
        </p:txBody>
      </p:sp>
      <p:grpSp>
        <p:nvGrpSpPr>
          <p:cNvPr id="26" name="Group 25">
            <a:extLst>
              <a:ext uri="{FF2B5EF4-FFF2-40B4-BE49-F238E27FC236}">
                <a16:creationId xmlns:a16="http://schemas.microsoft.com/office/drawing/2014/main" id="{B74FD479-8795-49F3-BD71-8A5E2EFDD917}"/>
              </a:ext>
            </a:extLst>
          </p:cNvPr>
          <p:cNvGrpSpPr/>
          <p:nvPr/>
        </p:nvGrpSpPr>
        <p:grpSpPr>
          <a:xfrm>
            <a:off x="229948" y="6003732"/>
            <a:ext cx="11732103" cy="654095"/>
            <a:chOff x="229948" y="6137082"/>
            <a:chExt cx="11732103" cy="654095"/>
          </a:xfrm>
        </p:grpSpPr>
        <p:grpSp>
          <p:nvGrpSpPr>
            <p:cNvPr id="22" name="Group 21">
              <a:extLst>
                <a:ext uri="{FF2B5EF4-FFF2-40B4-BE49-F238E27FC236}">
                  <a16:creationId xmlns:a16="http://schemas.microsoft.com/office/drawing/2014/main" id="{F8E3A830-912B-4F38-BEE9-2E5FC4D951B0}"/>
                </a:ext>
              </a:extLst>
            </p:cNvPr>
            <p:cNvGrpSpPr/>
            <p:nvPr/>
          </p:nvGrpSpPr>
          <p:grpSpPr>
            <a:xfrm>
              <a:off x="229948" y="6137082"/>
              <a:ext cx="11732103" cy="654095"/>
              <a:chOff x="237289" y="6137083"/>
              <a:chExt cx="11732103" cy="654095"/>
            </a:xfrm>
          </p:grpSpPr>
          <p:sp>
            <p:nvSpPr>
              <p:cNvPr id="23" name="Flowchart: Alternate Process 22">
                <a:extLst>
                  <a:ext uri="{FF2B5EF4-FFF2-40B4-BE49-F238E27FC236}">
                    <a16:creationId xmlns:a16="http://schemas.microsoft.com/office/drawing/2014/main" id="{0DB3E612-502F-46E3-A1AC-06465C59F175}"/>
                  </a:ext>
                </a:extLst>
              </p:cNvPr>
              <p:cNvSpPr/>
              <p:nvPr/>
            </p:nvSpPr>
            <p:spPr>
              <a:xfrm>
                <a:off x="237289" y="6137083"/>
                <a:ext cx="11732103" cy="654095"/>
              </a:xfrm>
              <a:prstGeom prst="flowChartAlternateProcess">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0" scaled="1"/>
                <a:tileRect/>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95374F68-480A-44BB-8E80-D49D93516624}"/>
                  </a:ext>
                </a:extLst>
              </p:cNvPr>
              <p:cNvPicPr>
                <a:picLocks noChangeAspect="1"/>
              </p:cNvPicPr>
              <p:nvPr/>
            </p:nvPicPr>
            <p:blipFill>
              <a:blip r:embed="rId3"/>
              <a:stretch>
                <a:fillRect/>
              </a:stretch>
            </p:blipFill>
            <p:spPr>
              <a:xfrm>
                <a:off x="314890" y="6177897"/>
                <a:ext cx="526357" cy="537717"/>
              </a:xfrm>
              <a:prstGeom prst="rect">
                <a:avLst/>
              </a:prstGeom>
            </p:spPr>
          </p:pic>
          <p:sp>
            <p:nvSpPr>
              <p:cNvPr id="25" name="TextBox 24">
                <a:extLst>
                  <a:ext uri="{FF2B5EF4-FFF2-40B4-BE49-F238E27FC236}">
                    <a16:creationId xmlns:a16="http://schemas.microsoft.com/office/drawing/2014/main" id="{49938175-345C-4656-A988-822F9B03F760}"/>
                  </a:ext>
                </a:extLst>
              </p:cNvPr>
              <p:cNvSpPr txBox="1"/>
              <p:nvPr/>
            </p:nvSpPr>
            <p:spPr>
              <a:xfrm>
                <a:off x="896466" y="6200434"/>
                <a:ext cx="10673741" cy="431898"/>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21" name="Rectangle 20">
              <a:extLst>
                <a:ext uri="{FF2B5EF4-FFF2-40B4-BE49-F238E27FC236}">
                  <a16:creationId xmlns:a16="http://schemas.microsoft.com/office/drawing/2014/main" id="{6CB9FEB8-80F5-491D-9673-75066C3BE7A9}"/>
                </a:ext>
              </a:extLst>
            </p:cNvPr>
            <p:cNvSpPr/>
            <p:nvPr/>
          </p:nvSpPr>
          <p:spPr>
            <a:xfrm>
              <a:off x="765578" y="6202520"/>
              <a:ext cx="10966072" cy="52322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GBS shall post the underlying entry and perform the relevant auto or manual reversal entries with the requested date.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UFX and/or CTA would start generating in the current month if the document is not reversed</a:t>
              </a: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sp>
        <p:nvSpPr>
          <p:cNvPr id="17" name="Slide Number Placeholder 5">
            <a:extLst>
              <a:ext uri="{FF2B5EF4-FFF2-40B4-BE49-F238E27FC236}">
                <a16:creationId xmlns:a16="http://schemas.microsoft.com/office/drawing/2014/main" id="{C5E91BD1-46B0-4BAD-8BD1-A3D4AE7166B9}"/>
              </a:ext>
            </a:extLst>
          </p:cNvPr>
          <p:cNvSpPr txBox="1">
            <a:spLocks/>
          </p:cNvSpPr>
          <p:nvPr/>
        </p:nvSpPr>
        <p:spPr>
          <a:xfrm>
            <a:off x="11278800" y="6282531"/>
            <a:ext cx="397261" cy="365125"/>
          </a:xfrm>
          <a:prstGeom prst="rect">
            <a:avLst/>
          </a:prstGeom>
          <a:effectLst/>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1BC94444-BA43-4E34-B076-4E656649E916}"/>
              </a:ext>
            </a:extLst>
          </p:cNvPr>
          <p:cNvPicPr>
            <a:picLocks noChangeAspect="1"/>
          </p:cNvPicPr>
          <p:nvPr/>
        </p:nvPicPr>
        <p:blipFill>
          <a:blip r:embed="rId4"/>
          <a:stretch>
            <a:fillRect/>
          </a:stretch>
        </p:blipFill>
        <p:spPr>
          <a:xfrm>
            <a:off x="511358" y="1402638"/>
            <a:ext cx="10110568" cy="2153022"/>
          </a:xfrm>
          <a:prstGeom prst="rect">
            <a:avLst/>
          </a:prstGeom>
        </p:spPr>
      </p:pic>
      <p:pic>
        <p:nvPicPr>
          <p:cNvPr id="4" name="Picture 3">
            <a:extLst>
              <a:ext uri="{FF2B5EF4-FFF2-40B4-BE49-F238E27FC236}">
                <a16:creationId xmlns:a16="http://schemas.microsoft.com/office/drawing/2014/main" id="{030D4D89-F718-4BAD-A178-822AAC9C52C3}"/>
              </a:ext>
            </a:extLst>
          </p:cNvPr>
          <p:cNvPicPr>
            <a:picLocks noChangeAspect="1"/>
          </p:cNvPicPr>
          <p:nvPr/>
        </p:nvPicPr>
        <p:blipFill>
          <a:blip r:embed="rId5"/>
          <a:stretch>
            <a:fillRect/>
          </a:stretch>
        </p:blipFill>
        <p:spPr>
          <a:xfrm>
            <a:off x="511358" y="3737391"/>
            <a:ext cx="10110568" cy="2240901"/>
          </a:xfrm>
          <a:prstGeom prst="rect">
            <a:avLst/>
          </a:prstGeom>
        </p:spPr>
      </p:pic>
    </p:spTree>
    <p:extLst>
      <p:ext uri="{BB962C8B-B14F-4D97-AF65-F5344CB8AC3E}">
        <p14:creationId xmlns:p14="http://schemas.microsoft.com/office/powerpoint/2010/main" val="257201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dirty="0"/>
              <a:t>P14 STAT/TAX Adjustments Example </a:t>
            </a:r>
            <a:br>
              <a:rPr lang="en-GB" dirty="0"/>
            </a:br>
            <a:r>
              <a:rPr lang="en-GB" dirty="0"/>
              <a:t>– Approach 2 </a:t>
            </a:r>
            <a:r>
              <a:rPr lang="en-GB" sz="1400" dirty="0"/>
              <a:t>(Entities with FX Conversion on Doc. Date or need to account for UFX separately)</a:t>
            </a:r>
            <a:endParaRPr lang="en-US" sz="1400" dirty="0"/>
          </a:p>
        </p:txBody>
      </p:sp>
      <p:grpSp>
        <p:nvGrpSpPr>
          <p:cNvPr id="26" name="Group 25">
            <a:extLst>
              <a:ext uri="{FF2B5EF4-FFF2-40B4-BE49-F238E27FC236}">
                <a16:creationId xmlns:a16="http://schemas.microsoft.com/office/drawing/2014/main" id="{B74FD479-8795-49F3-BD71-8A5E2EFDD917}"/>
              </a:ext>
            </a:extLst>
          </p:cNvPr>
          <p:cNvGrpSpPr/>
          <p:nvPr/>
        </p:nvGrpSpPr>
        <p:grpSpPr>
          <a:xfrm>
            <a:off x="229948" y="6118032"/>
            <a:ext cx="11732103" cy="654095"/>
            <a:chOff x="229948" y="6137082"/>
            <a:chExt cx="11732103" cy="654095"/>
          </a:xfrm>
        </p:grpSpPr>
        <p:grpSp>
          <p:nvGrpSpPr>
            <p:cNvPr id="22" name="Group 21">
              <a:extLst>
                <a:ext uri="{FF2B5EF4-FFF2-40B4-BE49-F238E27FC236}">
                  <a16:creationId xmlns:a16="http://schemas.microsoft.com/office/drawing/2014/main" id="{F8E3A830-912B-4F38-BEE9-2E5FC4D951B0}"/>
                </a:ext>
              </a:extLst>
            </p:cNvPr>
            <p:cNvGrpSpPr/>
            <p:nvPr/>
          </p:nvGrpSpPr>
          <p:grpSpPr>
            <a:xfrm>
              <a:off x="229948" y="6137082"/>
              <a:ext cx="11732103" cy="654095"/>
              <a:chOff x="237289" y="6137083"/>
              <a:chExt cx="11732103" cy="654095"/>
            </a:xfrm>
          </p:grpSpPr>
          <p:sp>
            <p:nvSpPr>
              <p:cNvPr id="23" name="Flowchart: Alternate Process 22">
                <a:extLst>
                  <a:ext uri="{FF2B5EF4-FFF2-40B4-BE49-F238E27FC236}">
                    <a16:creationId xmlns:a16="http://schemas.microsoft.com/office/drawing/2014/main" id="{0DB3E612-502F-46E3-A1AC-06465C59F175}"/>
                  </a:ext>
                </a:extLst>
              </p:cNvPr>
              <p:cNvSpPr/>
              <p:nvPr/>
            </p:nvSpPr>
            <p:spPr>
              <a:xfrm>
                <a:off x="237289" y="6137083"/>
                <a:ext cx="11732103" cy="654095"/>
              </a:xfrm>
              <a:prstGeom prst="flowChartAlternateProcess">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0" scaled="1"/>
                <a:tileRect/>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95374F68-480A-44BB-8E80-D49D93516624}"/>
                  </a:ext>
                </a:extLst>
              </p:cNvPr>
              <p:cNvPicPr>
                <a:picLocks noChangeAspect="1"/>
              </p:cNvPicPr>
              <p:nvPr/>
            </p:nvPicPr>
            <p:blipFill>
              <a:blip r:embed="rId3"/>
              <a:stretch>
                <a:fillRect/>
              </a:stretch>
            </p:blipFill>
            <p:spPr>
              <a:xfrm>
                <a:off x="314890" y="6177897"/>
                <a:ext cx="526357" cy="537717"/>
              </a:xfrm>
              <a:prstGeom prst="rect">
                <a:avLst/>
              </a:prstGeom>
            </p:spPr>
          </p:pic>
          <p:sp>
            <p:nvSpPr>
              <p:cNvPr id="25" name="TextBox 24">
                <a:extLst>
                  <a:ext uri="{FF2B5EF4-FFF2-40B4-BE49-F238E27FC236}">
                    <a16:creationId xmlns:a16="http://schemas.microsoft.com/office/drawing/2014/main" id="{49938175-345C-4656-A988-822F9B03F760}"/>
                  </a:ext>
                </a:extLst>
              </p:cNvPr>
              <p:cNvSpPr txBox="1"/>
              <p:nvPr/>
            </p:nvSpPr>
            <p:spPr>
              <a:xfrm>
                <a:off x="896466" y="6200434"/>
                <a:ext cx="10673741" cy="431898"/>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1" name="Rectangle 20">
              <a:extLst>
                <a:ext uri="{FF2B5EF4-FFF2-40B4-BE49-F238E27FC236}">
                  <a16:creationId xmlns:a16="http://schemas.microsoft.com/office/drawing/2014/main" id="{6CB9FEB8-80F5-491D-9673-75066C3BE7A9}"/>
                </a:ext>
              </a:extLst>
            </p:cNvPr>
            <p:cNvSpPr/>
            <p:nvPr/>
          </p:nvSpPr>
          <p:spPr>
            <a:xfrm>
              <a:off x="742959" y="6175130"/>
              <a:ext cx="10966072" cy="52322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GBS shall post the above underlying and UFX entries and perform manual reversal entries with the requested date.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rPr>
                <a:t>UFX and/or CTA would start generating in the current month if the document is not reversed</a:t>
              </a:r>
            </a:p>
          </p:txBody>
        </p:sp>
      </p:grpSp>
      <p:sp>
        <p:nvSpPr>
          <p:cNvPr id="17" name="Slide Number Placeholder 5">
            <a:extLst>
              <a:ext uri="{FF2B5EF4-FFF2-40B4-BE49-F238E27FC236}">
                <a16:creationId xmlns:a16="http://schemas.microsoft.com/office/drawing/2014/main" id="{C5E91BD1-46B0-4BAD-8BD1-A3D4AE7166B9}"/>
              </a:ext>
            </a:extLst>
          </p:cNvPr>
          <p:cNvSpPr txBox="1">
            <a:spLocks/>
          </p:cNvSpPr>
          <p:nvPr/>
        </p:nvSpPr>
        <p:spPr>
          <a:xfrm>
            <a:off x="11278800" y="6282531"/>
            <a:ext cx="397261" cy="365125"/>
          </a:xfrm>
          <a:prstGeom prst="rect">
            <a:avLst/>
          </a:prstGeom>
          <a:effectLst/>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B76CA825-0F86-459C-888F-A3DC4ADD99F2}"/>
              </a:ext>
            </a:extLst>
          </p:cNvPr>
          <p:cNvPicPr>
            <a:picLocks noChangeAspect="1"/>
          </p:cNvPicPr>
          <p:nvPr/>
        </p:nvPicPr>
        <p:blipFill>
          <a:blip r:embed="rId4"/>
          <a:stretch>
            <a:fillRect/>
          </a:stretch>
        </p:blipFill>
        <p:spPr>
          <a:xfrm>
            <a:off x="511358" y="1369744"/>
            <a:ext cx="9201334" cy="2135350"/>
          </a:xfrm>
          <a:prstGeom prst="rect">
            <a:avLst/>
          </a:prstGeom>
        </p:spPr>
      </p:pic>
      <p:pic>
        <p:nvPicPr>
          <p:cNvPr id="6" name="Picture 5">
            <a:extLst>
              <a:ext uri="{FF2B5EF4-FFF2-40B4-BE49-F238E27FC236}">
                <a16:creationId xmlns:a16="http://schemas.microsoft.com/office/drawing/2014/main" id="{A24EE3DA-AE4E-4DFA-9B74-7D8455F37872}"/>
              </a:ext>
            </a:extLst>
          </p:cNvPr>
          <p:cNvPicPr>
            <a:picLocks noChangeAspect="1"/>
          </p:cNvPicPr>
          <p:nvPr/>
        </p:nvPicPr>
        <p:blipFill>
          <a:blip r:embed="rId5"/>
          <a:stretch>
            <a:fillRect/>
          </a:stretch>
        </p:blipFill>
        <p:spPr>
          <a:xfrm>
            <a:off x="511358" y="3545959"/>
            <a:ext cx="9201334" cy="2479245"/>
          </a:xfrm>
          <a:prstGeom prst="rect">
            <a:avLst/>
          </a:prstGeom>
        </p:spPr>
      </p:pic>
    </p:spTree>
    <p:extLst>
      <p:ext uri="{BB962C8B-B14F-4D97-AF65-F5344CB8AC3E}">
        <p14:creationId xmlns:p14="http://schemas.microsoft.com/office/powerpoint/2010/main" val="58499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a:t>Functional Area Adjustment for P14 Posting </a:t>
            </a:r>
            <a:br>
              <a:rPr lang="en-GB"/>
            </a:br>
            <a:r>
              <a:rPr lang="en-GB"/>
              <a:t>(for Entities applicable)</a:t>
            </a:r>
            <a:endParaRPr lang="en-US"/>
          </a:p>
        </p:txBody>
      </p:sp>
      <p:sp>
        <p:nvSpPr>
          <p:cNvPr id="6" name="Freeform: Shape 5">
            <a:extLst>
              <a:ext uri="{FF2B5EF4-FFF2-40B4-BE49-F238E27FC236}">
                <a16:creationId xmlns:a16="http://schemas.microsoft.com/office/drawing/2014/main" id="{FAF7AABE-DE2D-45F8-84EB-B0A78D804F9D}"/>
              </a:ext>
            </a:extLst>
          </p:cNvPr>
          <p:cNvSpPr/>
          <p:nvPr/>
        </p:nvSpPr>
        <p:spPr>
          <a:xfrm>
            <a:off x="1268453" y="1389956"/>
            <a:ext cx="10407607" cy="1900942"/>
          </a:xfrm>
          <a:custGeom>
            <a:avLst/>
            <a:gdLst>
              <a:gd name="connsiteX0" fmla="*/ 0 w 5405120"/>
              <a:gd name="connsiteY0" fmla="*/ 0 h 1505029"/>
              <a:gd name="connsiteX1" fmla="*/ 4652606 w 5405120"/>
              <a:gd name="connsiteY1" fmla="*/ 0 h 1505029"/>
              <a:gd name="connsiteX2" fmla="*/ 5405120 w 5405120"/>
              <a:gd name="connsiteY2" fmla="*/ 752515 h 1505029"/>
              <a:gd name="connsiteX3" fmla="*/ 4652606 w 5405120"/>
              <a:gd name="connsiteY3" fmla="*/ 1505029 h 1505029"/>
              <a:gd name="connsiteX4" fmla="*/ 0 w 5405120"/>
              <a:gd name="connsiteY4" fmla="*/ 1505029 h 1505029"/>
              <a:gd name="connsiteX5" fmla="*/ 0 w 5405120"/>
              <a:gd name="connsiteY5" fmla="*/ 0 h 15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5120" h="1505029">
                <a:moveTo>
                  <a:pt x="5405120" y="1505028"/>
                </a:moveTo>
                <a:lnTo>
                  <a:pt x="752514" y="1505028"/>
                </a:lnTo>
                <a:lnTo>
                  <a:pt x="0" y="752514"/>
                </a:lnTo>
                <a:lnTo>
                  <a:pt x="752514" y="1"/>
                </a:lnTo>
                <a:lnTo>
                  <a:pt x="5405120" y="1"/>
                </a:lnTo>
                <a:lnTo>
                  <a:pt x="5405120" y="1505028"/>
                </a:lnTo>
                <a:close/>
              </a:path>
            </a:pathLst>
          </a:custGeom>
          <a:solidFill>
            <a:schemeClr val="tx2">
              <a:lumMod val="50000"/>
              <a:lumOff val="50000"/>
            </a:schemeClr>
          </a:solidFill>
          <a:effectLst>
            <a:outerShdw blurRad="50800" dist="38100" dir="5400000" algn="t" rotWithShape="0">
              <a:prstClr val="black">
                <a:alpha val="40000"/>
              </a:prstClr>
            </a:outerShdw>
            <a:softEdge rad="31750"/>
          </a:effectLst>
        </p:spPr>
        <p:style>
          <a:lnRef idx="2">
            <a:schemeClr val="lt1">
              <a:hueOff val="0"/>
              <a:satOff val="0"/>
              <a:lumOff val="0"/>
              <a:alphaOff val="0"/>
            </a:schemeClr>
          </a:lnRef>
          <a:fillRef idx="1">
            <a:schemeClr val="accent6">
              <a:shade val="50000"/>
              <a:hueOff val="0"/>
              <a:satOff val="0"/>
              <a:lumOff val="0"/>
              <a:alphaOff val="0"/>
            </a:schemeClr>
          </a:fillRef>
          <a:effectRef idx="0">
            <a:schemeClr val="accent6">
              <a:shade val="50000"/>
              <a:hueOff val="0"/>
              <a:satOff val="0"/>
              <a:lumOff val="0"/>
              <a:alphaOff val="0"/>
            </a:schemeClr>
          </a:effectRef>
          <a:fontRef idx="minor">
            <a:schemeClr val="lt1"/>
          </a:fontRef>
        </p:style>
        <p:txBody>
          <a:bodyPr spcFirstLastPara="0" vert="horz" wrap="square" lIns="1039933" tIns="247651" rIns="462280" bIns="247651"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Oval 6">
            <a:extLst>
              <a:ext uri="{FF2B5EF4-FFF2-40B4-BE49-F238E27FC236}">
                <a16:creationId xmlns:a16="http://schemas.microsoft.com/office/drawing/2014/main" id="{1566ED7C-CE85-415B-A39B-1A33DC20756A}"/>
              </a:ext>
            </a:extLst>
          </p:cNvPr>
          <p:cNvSpPr/>
          <p:nvPr/>
        </p:nvSpPr>
        <p:spPr>
          <a:xfrm>
            <a:off x="515939" y="1622841"/>
            <a:ext cx="1505029" cy="1505029"/>
          </a:xfrm>
          <a:prstGeom prst="ellipse">
            <a:avLst/>
          </a:prstGeom>
          <a:solidFill>
            <a:schemeClr val="accent2"/>
          </a:solidFill>
          <a:effectLst>
            <a:outerShdw blurRad="50800" dist="38100" dir="5400000" algn="t" rotWithShape="0">
              <a:prstClr val="black">
                <a:alpha val="40000"/>
              </a:prstClr>
            </a:outerShdw>
            <a:softEdge rad="31750"/>
          </a:effectLst>
        </p:spPr>
        <p:style>
          <a:lnRef idx="2">
            <a:schemeClr val="lt1">
              <a:hueOff val="0"/>
              <a:satOff val="0"/>
              <a:lumOff val="0"/>
              <a:alphaOff val="0"/>
            </a:schemeClr>
          </a:lnRef>
          <a:fillRef idx="1">
            <a:schemeClr val="accent6">
              <a:tint val="50000"/>
              <a:hueOff val="0"/>
              <a:satOff val="0"/>
              <a:lumOff val="0"/>
              <a:alphaOff val="0"/>
            </a:schemeClr>
          </a:fillRef>
          <a:effectRef idx="0">
            <a:schemeClr val="accent6">
              <a:tint val="50000"/>
              <a:hueOff val="0"/>
              <a:satOff val="0"/>
              <a:lumOff val="0"/>
              <a:alphaOff val="0"/>
            </a:schemeClr>
          </a:effectRef>
          <a:fontRef idx="minor">
            <a:schemeClr val="lt1">
              <a:hueOff val="0"/>
              <a:satOff val="0"/>
              <a:lumOff val="0"/>
              <a:alphaOff val="0"/>
            </a:schemeClr>
          </a:fontRef>
        </p:style>
      </p:sp>
      <p:sp>
        <p:nvSpPr>
          <p:cNvPr id="8" name="Freeform: Shape 7">
            <a:extLst>
              <a:ext uri="{FF2B5EF4-FFF2-40B4-BE49-F238E27FC236}">
                <a16:creationId xmlns:a16="http://schemas.microsoft.com/office/drawing/2014/main" id="{C60EB14D-E1B0-4099-95B3-ECD58244CCCC}"/>
              </a:ext>
            </a:extLst>
          </p:cNvPr>
          <p:cNvSpPr/>
          <p:nvPr/>
        </p:nvSpPr>
        <p:spPr>
          <a:xfrm>
            <a:off x="1268453" y="3401392"/>
            <a:ext cx="10407607" cy="1986115"/>
          </a:xfrm>
          <a:custGeom>
            <a:avLst/>
            <a:gdLst>
              <a:gd name="connsiteX0" fmla="*/ 0 w 5405120"/>
              <a:gd name="connsiteY0" fmla="*/ 0 h 1505029"/>
              <a:gd name="connsiteX1" fmla="*/ 4652606 w 5405120"/>
              <a:gd name="connsiteY1" fmla="*/ 0 h 1505029"/>
              <a:gd name="connsiteX2" fmla="*/ 5405120 w 5405120"/>
              <a:gd name="connsiteY2" fmla="*/ 752515 h 1505029"/>
              <a:gd name="connsiteX3" fmla="*/ 4652606 w 5405120"/>
              <a:gd name="connsiteY3" fmla="*/ 1505029 h 1505029"/>
              <a:gd name="connsiteX4" fmla="*/ 0 w 5405120"/>
              <a:gd name="connsiteY4" fmla="*/ 1505029 h 1505029"/>
              <a:gd name="connsiteX5" fmla="*/ 0 w 5405120"/>
              <a:gd name="connsiteY5" fmla="*/ 0 h 15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5120" h="1505029">
                <a:moveTo>
                  <a:pt x="5405120" y="1505028"/>
                </a:moveTo>
                <a:lnTo>
                  <a:pt x="752514" y="1505028"/>
                </a:lnTo>
                <a:lnTo>
                  <a:pt x="0" y="752514"/>
                </a:lnTo>
                <a:lnTo>
                  <a:pt x="752514" y="1"/>
                </a:lnTo>
                <a:lnTo>
                  <a:pt x="5405120" y="1"/>
                </a:lnTo>
                <a:lnTo>
                  <a:pt x="5405120" y="1505028"/>
                </a:lnTo>
                <a:close/>
              </a:path>
            </a:pathLst>
          </a:custGeom>
          <a:solidFill>
            <a:schemeClr val="accent1">
              <a:lumMod val="40000"/>
              <a:lumOff val="60000"/>
            </a:schemeClr>
          </a:solidFill>
          <a:effectLst>
            <a:outerShdw blurRad="50800" dist="38100" dir="5400000" algn="t" rotWithShape="0">
              <a:prstClr val="black">
                <a:alpha val="40000"/>
              </a:prstClr>
            </a:outerShdw>
            <a:softEdge rad="31750"/>
          </a:effectLst>
        </p:spPr>
        <p:style>
          <a:lnRef idx="2">
            <a:schemeClr val="lt1">
              <a:hueOff val="0"/>
              <a:satOff val="0"/>
              <a:lumOff val="0"/>
              <a:alphaOff val="0"/>
            </a:schemeClr>
          </a:lnRef>
          <a:fillRef idx="1">
            <a:schemeClr val="accent6">
              <a:shade val="50000"/>
              <a:hueOff val="304420"/>
              <a:satOff val="-6309"/>
              <a:lumOff val="28721"/>
              <a:alphaOff val="0"/>
            </a:schemeClr>
          </a:fillRef>
          <a:effectRef idx="0">
            <a:schemeClr val="accent6">
              <a:shade val="50000"/>
              <a:hueOff val="304420"/>
              <a:satOff val="-6309"/>
              <a:lumOff val="28721"/>
              <a:alphaOff val="0"/>
            </a:schemeClr>
          </a:effectRef>
          <a:fontRef idx="minor">
            <a:schemeClr val="lt1"/>
          </a:fontRef>
        </p:style>
        <p:txBody>
          <a:bodyPr spcFirstLastPara="0" vert="horz" wrap="square" lIns="1039933" tIns="247651" rIns="462280" bIns="24765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endParaRPr kumimoji="0" lang="en-US" sz="6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95DE41F1-C3DF-4A41-80D0-64F1A23367F7}"/>
              </a:ext>
            </a:extLst>
          </p:cNvPr>
          <p:cNvSpPr/>
          <p:nvPr/>
        </p:nvSpPr>
        <p:spPr>
          <a:xfrm>
            <a:off x="515939" y="3753818"/>
            <a:ext cx="1505029" cy="1505029"/>
          </a:xfrm>
          <a:prstGeom prst="ellipse">
            <a:avLst/>
          </a:prstGeom>
          <a:solidFill>
            <a:schemeClr val="bg1">
              <a:lumMod val="65000"/>
            </a:schemeClr>
          </a:solidFill>
          <a:effectLst>
            <a:outerShdw blurRad="50800" dist="38100" dir="5400000" algn="t" rotWithShape="0">
              <a:prstClr val="black">
                <a:alpha val="40000"/>
              </a:prstClr>
            </a:outerShdw>
            <a:softEdge rad="31750"/>
          </a:effectLst>
        </p:spPr>
        <p:style>
          <a:lnRef idx="2">
            <a:schemeClr val="lt1">
              <a:hueOff val="0"/>
              <a:satOff val="0"/>
              <a:lumOff val="0"/>
              <a:alphaOff val="0"/>
            </a:schemeClr>
          </a:lnRef>
          <a:fillRef idx="1">
            <a:schemeClr val="accent6">
              <a:tint val="50000"/>
              <a:hueOff val="-8036"/>
              <a:satOff val="319"/>
              <a:lumOff val="-1044"/>
              <a:alphaOff val="0"/>
            </a:schemeClr>
          </a:fillRef>
          <a:effectRef idx="0">
            <a:schemeClr val="accent6">
              <a:tint val="50000"/>
              <a:hueOff val="-8036"/>
              <a:satOff val="319"/>
              <a:lumOff val="-1044"/>
              <a:alphaOff val="0"/>
            </a:schemeClr>
          </a:effectRef>
          <a:fontRef idx="minor">
            <a:schemeClr val="lt1">
              <a:hueOff val="0"/>
              <a:satOff val="0"/>
              <a:lumOff val="0"/>
              <a:alphaOff val="0"/>
            </a:schemeClr>
          </a:fontRef>
        </p:style>
      </p:sp>
      <p:sp>
        <p:nvSpPr>
          <p:cNvPr id="13" name="Rectangle 12">
            <a:extLst>
              <a:ext uri="{FF2B5EF4-FFF2-40B4-BE49-F238E27FC236}">
                <a16:creationId xmlns:a16="http://schemas.microsoft.com/office/drawing/2014/main" id="{30A72FD4-05A6-4078-9FCD-046653ECEC20}"/>
              </a:ext>
            </a:extLst>
          </p:cNvPr>
          <p:cNvSpPr/>
          <p:nvPr/>
        </p:nvSpPr>
        <p:spPr>
          <a:xfrm>
            <a:off x="515940" y="2136320"/>
            <a:ext cx="1505028" cy="400050"/>
          </a:xfrm>
          <a:prstGeom prst="rect">
            <a:avLst/>
          </a:prstGeom>
          <a:no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panose="020B0604020202020204"/>
                <a:ea typeface="+mn-ea"/>
                <a:cs typeface="+mn-cs"/>
              </a:rPr>
              <a:t>Scope &amp; Requirement</a:t>
            </a:r>
            <a:endParaRPr kumimoji="0" lang="en-US" sz="16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aphicFrame>
        <p:nvGraphicFramePr>
          <p:cNvPr id="14" name="Table 13">
            <a:extLst>
              <a:ext uri="{FF2B5EF4-FFF2-40B4-BE49-F238E27FC236}">
                <a16:creationId xmlns:a16="http://schemas.microsoft.com/office/drawing/2014/main" id="{21B8879D-93E3-4C4D-A1F2-8D929EEA9C32}"/>
              </a:ext>
            </a:extLst>
          </p:cNvPr>
          <p:cNvGraphicFramePr>
            <a:graphicFrameLocks noGrp="1"/>
          </p:cNvGraphicFramePr>
          <p:nvPr/>
        </p:nvGraphicFramePr>
        <p:xfrm>
          <a:off x="2773481" y="1556480"/>
          <a:ext cx="3779720" cy="1625782"/>
        </p:xfrm>
        <a:graphic>
          <a:graphicData uri="http://schemas.openxmlformats.org/drawingml/2006/table">
            <a:tbl>
              <a:tblPr firstRow="1" firstCol="1" bandRow="1">
                <a:effectLst>
                  <a:outerShdw blurRad="50800" dist="38100" dir="2700000" algn="tl" rotWithShape="0">
                    <a:prstClr val="black">
                      <a:alpha val="40000"/>
                    </a:prstClr>
                  </a:outerShdw>
                </a:effectLst>
                <a:tableStyleId>{5C22544A-7EE6-4342-B048-85BDC9FD1C3A}</a:tableStyleId>
              </a:tblPr>
              <a:tblGrid>
                <a:gridCol w="1210690">
                  <a:extLst>
                    <a:ext uri="{9D8B030D-6E8A-4147-A177-3AD203B41FA5}">
                      <a16:colId xmlns:a16="http://schemas.microsoft.com/office/drawing/2014/main" val="1571254343"/>
                    </a:ext>
                  </a:extLst>
                </a:gridCol>
                <a:gridCol w="664029">
                  <a:extLst>
                    <a:ext uri="{9D8B030D-6E8A-4147-A177-3AD203B41FA5}">
                      <a16:colId xmlns:a16="http://schemas.microsoft.com/office/drawing/2014/main" val="849390763"/>
                    </a:ext>
                  </a:extLst>
                </a:gridCol>
                <a:gridCol w="781050">
                  <a:extLst>
                    <a:ext uri="{9D8B030D-6E8A-4147-A177-3AD203B41FA5}">
                      <a16:colId xmlns:a16="http://schemas.microsoft.com/office/drawing/2014/main" val="204677671"/>
                    </a:ext>
                  </a:extLst>
                </a:gridCol>
                <a:gridCol w="1123951">
                  <a:extLst>
                    <a:ext uri="{9D8B030D-6E8A-4147-A177-3AD203B41FA5}">
                      <a16:colId xmlns:a16="http://schemas.microsoft.com/office/drawing/2014/main" val="3349271363"/>
                    </a:ext>
                  </a:extLst>
                </a:gridCol>
              </a:tblGrid>
              <a:tr h="254322">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ctr">
                        <a:spcBef>
                          <a:spcPts val="0"/>
                        </a:spcBef>
                        <a:spcAft>
                          <a:spcPts val="0"/>
                        </a:spcAft>
                      </a:pPr>
                      <a:r>
                        <a:rPr lang="en-US" sz="1000">
                          <a:effectLst/>
                        </a:rPr>
                        <a:t>CCODE</a:t>
                      </a:r>
                      <a:endParaRPr lang="en-US" sz="1000">
                        <a:effectLst/>
                        <a:latin typeface="Calibri" panose="020F0502020204030204" pitchFamily="34" charset="0"/>
                        <a:ea typeface="Calibri" panose="020F0502020204030204" pitchFamily="34" charset="0"/>
                      </a:endParaRPr>
                    </a:p>
                  </a:txBody>
                  <a:tcPr marL="68580" marR="68580" marT="0" marB="0" anchor="ct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ctr">
                        <a:spcBef>
                          <a:spcPts val="0"/>
                        </a:spcBef>
                        <a:spcAft>
                          <a:spcPts val="0"/>
                        </a:spcAft>
                      </a:pPr>
                      <a:r>
                        <a:rPr lang="en-US" sz="1000">
                          <a:effectLst/>
                        </a:rPr>
                        <a:t>STAT</a:t>
                      </a:r>
                      <a:endParaRPr lang="en-US" sz="1000">
                        <a:effectLst/>
                        <a:latin typeface="Calibri" panose="020F0502020204030204" pitchFamily="34" charset="0"/>
                        <a:ea typeface="Calibri" panose="020F0502020204030204" pitchFamily="34" charset="0"/>
                      </a:endParaRPr>
                    </a:p>
                  </a:txBody>
                  <a:tcPr marL="68580" marR="68580" marT="0" marB="0" anchor="ctr">
                    <a:lnT w="28575" cap="flat" cmpd="sng" algn="ctr">
                      <a:solidFill>
                        <a:schemeClr val="bg1"/>
                      </a:solidFill>
                      <a:prstDash val="solid"/>
                      <a:round/>
                      <a:headEnd type="none" w="med" len="med"/>
                      <a:tailEnd type="none" w="med" len="med"/>
                    </a:lnT>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ctr">
                        <a:spcBef>
                          <a:spcPts val="0"/>
                        </a:spcBef>
                        <a:spcAft>
                          <a:spcPts val="0"/>
                        </a:spcAft>
                      </a:pPr>
                      <a:r>
                        <a:rPr lang="en-US" sz="1000">
                          <a:effectLst/>
                        </a:rPr>
                        <a:t>TAX</a:t>
                      </a:r>
                      <a:endParaRPr lang="en-US" sz="1000">
                        <a:effectLst/>
                        <a:latin typeface="Calibri" panose="020F0502020204030204" pitchFamily="34" charset="0"/>
                        <a:ea typeface="Calibri" panose="020F0502020204030204" pitchFamily="34" charset="0"/>
                      </a:endParaRPr>
                    </a:p>
                  </a:txBody>
                  <a:tcPr marL="68580" marR="68580" marT="0" marB="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ctr">
                        <a:spcBef>
                          <a:spcPts val="0"/>
                        </a:spcBef>
                        <a:spcAft>
                          <a:spcPts val="0"/>
                        </a:spcAft>
                      </a:pPr>
                      <a:r>
                        <a:rPr lang="en-US" sz="1000">
                          <a:effectLst/>
                        </a:rPr>
                        <a:t>GBS</a:t>
                      </a:r>
                      <a:endParaRPr lang="en-US" sz="1000">
                        <a:effectLst/>
                        <a:latin typeface="Calibri" panose="020F0502020204030204" pitchFamily="34" charset="0"/>
                        <a:ea typeface="Calibri" panose="020F0502020204030204" pitchFamily="34" charset="0"/>
                      </a:endParaRP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38856074"/>
                  </a:ext>
                </a:extLst>
              </a:tr>
              <a:tr h="222531">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1171, 1172, 1197</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latin typeface="+mn-lt"/>
                        </a:rPr>
                        <a:t>St Pete</a:t>
                      </a:r>
                      <a:endParaRPr lang="en-US" sz="1000">
                        <a:effectLst/>
                        <a:latin typeface="+mn-lt"/>
                        <a:ea typeface="Calibri" panose="020F0502020204030204" pitchFamily="34" charset="0"/>
                      </a:endParaRPr>
                    </a:p>
                  </a:txBody>
                  <a:tcPr marL="0" marR="0" marT="0" marB="0"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4033299406"/>
                  </a:ext>
                </a:extLst>
              </a:tr>
              <a:tr h="15768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1179, 1180</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latin typeface="+mn-lt"/>
                        </a:rPr>
                        <a:t>St Pete</a:t>
                      </a:r>
                      <a:endParaRPr lang="en-US" sz="1000">
                        <a:effectLst/>
                        <a:latin typeface="+mn-lt"/>
                        <a:ea typeface="Calibri" panose="020F0502020204030204" pitchFamily="34" charset="0"/>
                      </a:endParaRPr>
                    </a:p>
                  </a:txBody>
                  <a:tcPr marL="0" marR="0" marT="0" marB="0" anchor="ctr">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153032108"/>
                  </a:ext>
                </a:extLst>
              </a:tr>
              <a:tr h="21681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2154</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latin typeface="+mn-lt"/>
                        </a:rPr>
                        <a:t>St Pete</a:t>
                      </a:r>
                      <a:endParaRPr lang="en-US" sz="1000">
                        <a:effectLst/>
                        <a:latin typeface="+mn-lt"/>
                        <a:ea typeface="Calibri" panose="020F0502020204030204" pitchFamily="34" charset="0"/>
                      </a:endParaRPr>
                    </a:p>
                  </a:txBody>
                  <a:tcPr marL="0" marR="0" marT="0" marB="0" anchor="ctr">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999879654"/>
                  </a:ext>
                </a:extLst>
              </a:tr>
              <a:tr h="21681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1314</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GB" sz="1000">
                          <a:effectLst/>
                          <a:latin typeface="+mn-lt"/>
                          <a:ea typeface="Calibri" panose="020F0502020204030204" pitchFamily="34" charset="0"/>
                        </a:rPr>
                        <a:t>W</a:t>
                      </a:r>
                      <a:r>
                        <a:rPr lang="en-GB" sz="1000" noProof="0">
                          <a:effectLst/>
                          <a:latin typeface="+mn-lt"/>
                          <a:ea typeface="Calibri" panose="020F0502020204030204" pitchFamily="34" charset="0"/>
                        </a:rPr>
                        <a:t>arsaw</a:t>
                      </a:r>
                    </a:p>
                  </a:txBody>
                  <a:tcPr marL="0" marR="0" marT="0" marB="0" anchor="ctr">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755250193"/>
                  </a:ext>
                </a:extLst>
              </a:tr>
              <a:tr h="15768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1799</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GB" sz="1000">
                          <a:effectLst/>
                          <a:latin typeface="+mn-lt"/>
                          <a:ea typeface="Calibri" panose="020F0502020204030204" pitchFamily="34" charset="0"/>
                        </a:rPr>
                        <a:t>W</a:t>
                      </a:r>
                      <a:r>
                        <a:rPr lang="en-US" sz="1000">
                          <a:effectLst/>
                          <a:latin typeface="+mn-lt"/>
                          <a:ea typeface="Calibri" panose="020F0502020204030204" pitchFamily="34" charset="0"/>
                        </a:rPr>
                        <a:t>arsaw</a:t>
                      </a:r>
                    </a:p>
                  </a:txBody>
                  <a:tcPr marL="0" marR="0" marT="0" marB="0" anchor="ctr">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29754525"/>
                  </a:ext>
                </a:extLst>
              </a:tr>
              <a:tr h="1831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1800</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GB" sz="1000">
                          <a:effectLst/>
                          <a:latin typeface="+mn-lt"/>
                          <a:ea typeface="Calibri" panose="020F0502020204030204" pitchFamily="34" charset="0"/>
                        </a:rPr>
                        <a:t>W</a:t>
                      </a:r>
                      <a:r>
                        <a:rPr lang="en-US" sz="1000">
                          <a:effectLst/>
                          <a:latin typeface="+mn-lt"/>
                          <a:ea typeface="Calibri" panose="020F0502020204030204" pitchFamily="34" charset="0"/>
                        </a:rPr>
                        <a:t>arsaw</a:t>
                      </a:r>
                    </a:p>
                  </a:txBody>
                  <a:tcPr marL="0" marR="0" marT="0" marB="0" anchor="ctr">
                    <a:lnR w="28575"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620609528"/>
                  </a:ext>
                </a:extLst>
              </a:tr>
              <a:tr h="21681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algn="r">
                        <a:spcBef>
                          <a:spcPts val="0"/>
                        </a:spcBef>
                        <a:spcAft>
                          <a:spcPts val="0"/>
                        </a:spcAft>
                      </a:pPr>
                      <a:r>
                        <a:rPr lang="en-US" sz="1000">
                          <a:effectLst/>
                        </a:rPr>
                        <a:t>2101</a:t>
                      </a:r>
                      <a:endParaRPr lang="en-US" sz="1000">
                        <a:effectLst/>
                        <a:latin typeface="Calibri" panose="020F0502020204030204" pitchFamily="34" charset="0"/>
                        <a:ea typeface="Calibri" panose="020F0502020204030204" pitchFamily="34" charset="0"/>
                      </a:endParaRPr>
                    </a:p>
                  </a:txBody>
                  <a:tcPr marL="68580" marR="68580" marT="0" marB="0" anchor="b">
                    <a:lnL w="28575" cap="flat" cmpd="sng" algn="ctr">
                      <a:solidFill>
                        <a:schemeClr val="bg1"/>
                      </a:solidFill>
                      <a:prstDash val="solid"/>
                      <a:round/>
                      <a:headEnd type="none" w="med" len="med"/>
                      <a:tailEnd type="none" w="med" len="med"/>
                    </a:lnL>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US" sz="1000">
                          <a:effectLst/>
                        </a:rPr>
                        <a:t>X</a:t>
                      </a:r>
                      <a:endParaRPr lang="en-US" sz="1000">
                        <a:effectLst/>
                        <a:latin typeface="Calibri" panose="020F0502020204030204" pitchFamily="34" charset="0"/>
                        <a:ea typeface="Calibri" panose="020F0502020204030204" pitchFamily="34" charset="0"/>
                      </a:endParaRPr>
                    </a:p>
                  </a:txBody>
                  <a:tcPr marL="68580" marR="68580" marT="0" marB="0" anchor="ctr">
                    <a:lnB w="28575"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algn="ctr">
                        <a:spcBef>
                          <a:spcPts val="0"/>
                        </a:spcBef>
                        <a:spcAft>
                          <a:spcPts val="0"/>
                        </a:spcAft>
                      </a:pPr>
                      <a:r>
                        <a:rPr lang="en-GB" sz="1000" dirty="0">
                          <a:effectLst/>
                          <a:latin typeface="+mn-lt"/>
                          <a:ea typeface="Calibri" panose="020F0502020204030204" pitchFamily="34" charset="0"/>
                        </a:rPr>
                        <a:t>W</a:t>
                      </a:r>
                      <a:r>
                        <a:rPr lang="en-US" sz="1000" dirty="0" err="1">
                          <a:effectLst/>
                          <a:latin typeface="+mn-lt"/>
                          <a:ea typeface="Calibri" panose="020F0502020204030204" pitchFamily="34" charset="0"/>
                        </a:rPr>
                        <a:t>arsaw</a:t>
                      </a:r>
                      <a:endParaRPr lang="en-US" sz="1000" dirty="0">
                        <a:effectLst/>
                        <a:latin typeface="+mn-lt"/>
                        <a:ea typeface="Calibri" panose="020F0502020204030204" pitchFamily="34" charset="0"/>
                      </a:endParaRPr>
                    </a:p>
                  </a:txBody>
                  <a:tcPr marL="0" marR="0" marT="0" marB="0" anchor="ctr">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56846744"/>
                  </a:ext>
                </a:extLst>
              </a:tr>
            </a:tbl>
          </a:graphicData>
        </a:graphic>
      </p:graphicFrame>
      <p:sp>
        <p:nvSpPr>
          <p:cNvPr id="15" name="TextBox 14">
            <a:extLst>
              <a:ext uri="{FF2B5EF4-FFF2-40B4-BE49-F238E27FC236}">
                <a16:creationId xmlns:a16="http://schemas.microsoft.com/office/drawing/2014/main" id="{C327D7C3-CE49-4B6B-87E6-82F7B2F0CE83}"/>
              </a:ext>
            </a:extLst>
          </p:cNvPr>
          <p:cNvSpPr txBox="1"/>
          <p:nvPr/>
        </p:nvSpPr>
        <p:spPr>
          <a:xfrm>
            <a:off x="6934200" y="1602920"/>
            <a:ext cx="4429125" cy="117253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Entities which make adjustments by Functional Area (FA) to comply with their STAT or STAT/TAX presentation requirements need to make corresponding FA adjustments for the P14 adjustments after those journals are posted.</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BC6514CF-4338-4563-9F37-12DC34286E94}"/>
              </a:ext>
            </a:extLst>
          </p:cNvPr>
          <p:cNvSpPr/>
          <p:nvPr/>
        </p:nvSpPr>
        <p:spPr>
          <a:xfrm>
            <a:off x="469982" y="4206574"/>
            <a:ext cx="1505028" cy="400050"/>
          </a:xfrm>
          <a:prstGeom prst="rect">
            <a:avLst/>
          </a:prstGeom>
          <a:no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panose="020B0604020202020204"/>
                <a:ea typeface="+mn-ea"/>
                <a:cs typeface="+mn-cs"/>
              </a:rPr>
              <a:t>P14 STAT/TAX FA ADJ Process</a:t>
            </a:r>
            <a:endParaRPr kumimoji="0" lang="en-US" sz="16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1" name="Freeform: Shape 20">
            <a:extLst>
              <a:ext uri="{FF2B5EF4-FFF2-40B4-BE49-F238E27FC236}">
                <a16:creationId xmlns:a16="http://schemas.microsoft.com/office/drawing/2014/main" id="{56CBCFC5-6472-438B-B38B-3CD86F1B88C5}"/>
              </a:ext>
            </a:extLst>
          </p:cNvPr>
          <p:cNvSpPr/>
          <p:nvPr/>
        </p:nvSpPr>
        <p:spPr>
          <a:xfrm>
            <a:off x="2788819" y="3496644"/>
            <a:ext cx="1527672" cy="1762204"/>
          </a:xfrm>
          <a:custGeom>
            <a:avLst/>
            <a:gdLst>
              <a:gd name="connsiteX0" fmla="*/ 0 w 1334594"/>
              <a:gd name="connsiteY0" fmla="*/ 133459 h 2314687"/>
              <a:gd name="connsiteX1" fmla="*/ 133459 w 1334594"/>
              <a:gd name="connsiteY1" fmla="*/ 0 h 2314687"/>
              <a:gd name="connsiteX2" fmla="*/ 1201135 w 1334594"/>
              <a:gd name="connsiteY2" fmla="*/ 0 h 2314687"/>
              <a:gd name="connsiteX3" fmla="*/ 1334594 w 1334594"/>
              <a:gd name="connsiteY3" fmla="*/ 133459 h 2314687"/>
              <a:gd name="connsiteX4" fmla="*/ 1334594 w 1334594"/>
              <a:gd name="connsiteY4" fmla="*/ 2181228 h 2314687"/>
              <a:gd name="connsiteX5" fmla="*/ 1201135 w 1334594"/>
              <a:gd name="connsiteY5" fmla="*/ 2314687 h 2314687"/>
              <a:gd name="connsiteX6" fmla="*/ 133459 w 1334594"/>
              <a:gd name="connsiteY6" fmla="*/ 2314687 h 2314687"/>
              <a:gd name="connsiteX7" fmla="*/ 0 w 1334594"/>
              <a:gd name="connsiteY7" fmla="*/ 2181228 h 2314687"/>
              <a:gd name="connsiteX8" fmla="*/ 0 w 1334594"/>
              <a:gd name="connsiteY8" fmla="*/ 133459 h 23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594" h="2314687">
                <a:moveTo>
                  <a:pt x="0" y="133459"/>
                </a:moveTo>
                <a:cubicBezTo>
                  <a:pt x="0" y="59752"/>
                  <a:pt x="59752" y="0"/>
                  <a:pt x="133459" y="0"/>
                </a:cubicBezTo>
                <a:lnTo>
                  <a:pt x="1201135" y="0"/>
                </a:lnTo>
                <a:cubicBezTo>
                  <a:pt x="1274842" y="0"/>
                  <a:pt x="1334594" y="59752"/>
                  <a:pt x="1334594" y="133459"/>
                </a:cubicBezTo>
                <a:lnTo>
                  <a:pt x="1334594" y="2181228"/>
                </a:lnTo>
                <a:cubicBezTo>
                  <a:pt x="1334594" y="2254935"/>
                  <a:pt x="1274842" y="2314687"/>
                  <a:pt x="1201135" y="2314687"/>
                </a:cubicBezTo>
                <a:lnTo>
                  <a:pt x="133459" y="2314687"/>
                </a:lnTo>
                <a:cubicBezTo>
                  <a:pt x="59752" y="2314687"/>
                  <a:pt x="0" y="2254935"/>
                  <a:pt x="0" y="2181228"/>
                </a:cubicBezTo>
                <a:lnTo>
                  <a:pt x="0" y="133459"/>
                </a:lnTo>
                <a:close/>
              </a:path>
            </a:pathLst>
          </a:custGeom>
          <a:solidFill>
            <a:schemeClr val="accent3">
              <a:lumMod val="50000"/>
            </a:schemeClr>
          </a:solidFill>
          <a:ln>
            <a:solidFill>
              <a:schemeClr val="bg1"/>
            </a:solid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3">
              <a:shade val="50000"/>
              <a:hueOff val="0"/>
              <a:satOff val="0"/>
              <a:lumOff val="0"/>
              <a:alphaOff val="0"/>
            </a:schemeClr>
          </a:fillRef>
          <a:effectRef idx="0">
            <a:schemeClr val="accent3">
              <a:shade val="50000"/>
              <a:hueOff val="0"/>
              <a:satOff val="0"/>
              <a:lumOff val="0"/>
              <a:alphaOff val="0"/>
            </a:schemeClr>
          </a:effectRef>
          <a:fontRef idx="minor">
            <a:schemeClr val="lt1"/>
          </a:fontRef>
        </p:style>
        <p:txBody>
          <a:bodyPr spcFirstLastPara="0" vert="horz" wrap="square" lIns="84809" tIns="84809" rIns="84809" bIns="84809"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Entity </a:t>
            </a:r>
            <a:r>
              <a:rPr kumimoji="0" lang="en-GB"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sends email to GBS asking for completing FA Adj. </a:t>
            </a: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after </a:t>
            </a:r>
            <a:r>
              <a:rPr kumimoji="0" lang="en-GB" sz="1200" b="1" i="0" u="sng"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all</a:t>
            </a: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P14 STAT/TAX Adj. </a:t>
            </a:r>
            <a:r>
              <a:rPr kumimoji="0" lang="en-GB"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posted in the respective ledger(s)</a:t>
            </a: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2" name="Freeform: Shape 21">
            <a:extLst>
              <a:ext uri="{FF2B5EF4-FFF2-40B4-BE49-F238E27FC236}">
                <a16:creationId xmlns:a16="http://schemas.microsoft.com/office/drawing/2014/main" id="{0537243C-41C4-42D3-98C1-4CA7835ED185}"/>
              </a:ext>
            </a:extLst>
          </p:cNvPr>
          <p:cNvSpPr/>
          <p:nvPr/>
        </p:nvSpPr>
        <p:spPr>
          <a:xfrm>
            <a:off x="4362449" y="4203907"/>
            <a:ext cx="177357" cy="330979"/>
          </a:xfrm>
          <a:custGeom>
            <a:avLst/>
            <a:gdLst>
              <a:gd name="connsiteX0" fmla="*/ 0 w 282934"/>
              <a:gd name="connsiteY0" fmla="*/ 66196 h 330979"/>
              <a:gd name="connsiteX1" fmla="*/ 141467 w 282934"/>
              <a:gd name="connsiteY1" fmla="*/ 66196 h 330979"/>
              <a:gd name="connsiteX2" fmla="*/ 141467 w 282934"/>
              <a:gd name="connsiteY2" fmla="*/ 0 h 330979"/>
              <a:gd name="connsiteX3" fmla="*/ 282934 w 282934"/>
              <a:gd name="connsiteY3" fmla="*/ 165490 h 330979"/>
              <a:gd name="connsiteX4" fmla="*/ 141467 w 282934"/>
              <a:gd name="connsiteY4" fmla="*/ 330979 h 330979"/>
              <a:gd name="connsiteX5" fmla="*/ 141467 w 282934"/>
              <a:gd name="connsiteY5" fmla="*/ 264783 h 330979"/>
              <a:gd name="connsiteX6" fmla="*/ 0 w 282934"/>
              <a:gd name="connsiteY6" fmla="*/ 264783 h 330979"/>
              <a:gd name="connsiteX7" fmla="*/ 0 w 282934"/>
              <a:gd name="connsiteY7" fmla="*/ 66196 h 33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934" h="330979">
                <a:moveTo>
                  <a:pt x="0" y="66196"/>
                </a:moveTo>
                <a:lnTo>
                  <a:pt x="141467" y="66196"/>
                </a:lnTo>
                <a:lnTo>
                  <a:pt x="141467" y="0"/>
                </a:lnTo>
                <a:lnTo>
                  <a:pt x="282934" y="165490"/>
                </a:lnTo>
                <a:lnTo>
                  <a:pt x="141467" y="330979"/>
                </a:lnTo>
                <a:lnTo>
                  <a:pt x="141467" y="264783"/>
                </a:lnTo>
                <a:lnTo>
                  <a:pt x="0" y="264783"/>
                </a:lnTo>
                <a:lnTo>
                  <a:pt x="0" y="66196"/>
                </a:lnTo>
                <a:close/>
              </a:path>
            </a:pathLst>
          </a:custGeom>
          <a:ln>
            <a:solidFill>
              <a:schemeClr val="bg1"/>
            </a:solidFill>
          </a:ln>
          <a:effectLst>
            <a:outerShdw blurRad="50800" dist="38100" dir="5400000" algn="t" rotWithShape="0">
              <a:prstClr val="black">
                <a:alpha val="40000"/>
              </a:prstClr>
            </a:outerShdw>
          </a:effectLst>
        </p:spPr>
        <p:style>
          <a:lnRef idx="0">
            <a:schemeClr val="accent3">
              <a:shade val="90000"/>
              <a:hueOff val="0"/>
              <a:satOff val="0"/>
              <a:lumOff val="0"/>
              <a:alphaOff val="0"/>
            </a:schemeClr>
          </a:lnRef>
          <a:fillRef idx="1">
            <a:schemeClr val="accent3">
              <a:shade val="90000"/>
              <a:hueOff val="0"/>
              <a:satOff val="0"/>
              <a:lumOff val="0"/>
              <a:alphaOff val="0"/>
            </a:schemeClr>
          </a:fillRef>
          <a:effectRef idx="0">
            <a:schemeClr val="accent3">
              <a:shade val="90000"/>
              <a:hueOff val="0"/>
              <a:satOff val="0"/>
              <a:lumOff val="0"/>
              <a:alphaOff val="0"/>
            </a:schemeClr>
          </a:effectRef>
          <a:fontRef idx="minor">
            <a:schemeClr val="lt1"/>
          </a:fontRef>
        </p:style>
        <p:txBody>
          <a:bodyPr spcFirstLastPara="0" vert="horz" wrap="square" lIns="0" tIns="66196" rIns="84880" bIns="66196" numCol="1" spcCol="1270" anchor="ctr" anchorCtr="0">
            <a:noAutofit/>
          </a:bodyPr>
          <a:lstStyle/>
          <a:p>
            <a:pPr marL="0" marR="0" lvl="0" indent="0" algn="ctr" defTabSz="666750" rtl="0" eaLnBrk="1" fontAlgn="auto" latinLnBrk="0" hangingPunct="1">
              <a:lnSpc>
                <a:spcPct val="90000"/>
              </a:lnSpc>
              <a:spcBef>
                <a:spcPct val="0"/>
              </a:spcBef>
              <a:spcAft>
                <a:spcPct val="3500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Freeform: Shape 22">
            <a:extLst>
              <a:ext uri="{FF2B5EF4-FFF2-40B4-BE49-F238E27FC236}">
                <a16:creationId xmlns:a16="http://schemas.microsoft.com/office/drawing/2014/main" id="{2766F77E-29D3-422B-AFF3-7AA13073208F}"/>
              </a:ext>
            </a:extLst>
          </p:cNvPr>
          <p:cNvSpPr/>
          <p:nvPr/>
        </p:nvSpPr>
        <p:spPr>
          <a:xfrm>
            <a:off x="4581051" y="3496644"/>
            <a:ext cx="1527672" cy="1762204"/>
          </a:xfrm>
          <a:custGeom>
            <a:avLst/>
            <a:gdLst>
              <a:gd name="connsiteX0" fmla="*/ 0 w 1334594"/>
              <a:gd name="connsiteY0" fmla="*/ 133459 h 2314687"/>
              <a:gd name="connsiteX1" fmla="*/ 133459 w 1334594"/>
              <a:gd name="connsiteY1" fmla="*/ 0 h 2314687"/>
              <a:gd name="connsiteX2" fmla="*/ 1201135 w 1334594"/>
              <a:gd name="connsiteY2" fmla="*/ 0 h 2314687"/>
              <a:gd name="connsiteX3" fmla="*/ 1334594 w 1334594"/>
              <a:gd name="connsiteY3" fmla="*/ 133459 h 2314687"/>
              <a:gd name="connsiteX4" fmla="*/ 1334594 w 1334594"/>
              <a:gd name="connsiteY4" fmla="*/ 2181228 h 2314687"/>
              <a:gd name="connsiteX5" fmla="*/ 1201135 w 1334594"/>
              <a:gd name="connsiteY5" fmla="*/ 2314687 h 2314687"/>
              <a:gd name="connsiteX6" fmla="*/ 133459 w 1334594"/>
              <a:gd name="connsiteY6" fmla="*/ 2314687 h 2314687"/>
              <a:gd name="connsiteX7" fmla="*/ 0 w 1334594"/>
              <a:gd name="connsiteY7" fmla="*/ 2181228 h 2314687"/>
              <a:gd name="connsiteX8" fmla="*/ 0 w 1334594"/>
              <a:gd name="connsiteY8" fmla="*/ 133459 h 23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594" h="2314687">
                <a:moveTo>
                  <a:pt x="0" y="133459"/>
                </a:moveTo>
                <a:cubicBezTo>
                  <a:pt x="0" y="59752"/>
                  <a:pt x="59752" y="0"/>
                  <a:pt x="133459" y="0"/>
                </a:cubicBezTo>
                <a:lnTo>
                  <a:pt x="1201135" y="0"/>
                </a:lnTo>
                <a:cubicBezTo>
                  <a:pt x="1274842" y="0"/>
                  <a:pt x="1334594" y="59752"/>
                  <a:pt x="1334594" y="133459"/>
                </a:cubicBezTo>
                <a:lnTo>
                  <a:pt x="1334594" y="2181228"/>
                </a:lnTo>
                <a:cubicBezTo>
                  <a:pt x="1334594" y="2254935"/>
                  <a:pt x="1274842" y="2314687"/>
                  <a:pt x="1201135" y="2314687"/>
                </a:cubicBezTo>
                <a:lnTo>
                  <a:pt x="133459" y="2314687"/>
                </a:lnTo>
                <a:cubicBezTo>
                  <a:pt x="59752" y="2314687"/>
                  <a:pt x="0" y="2254935"/>
                  <a:pt x="0" y="2181228"/>
                </a:cubicBezTo>
                <a:lnTo>
                  <a:pt x="0" y="133459"/>
                </a:lnTo>
                <a:close/>
              </a:path>
            </a:pathLst>
          </a:custGeom>
          <a:solidFill>
            <a:schemeClr val="accent1">
              <a:lumMod val="50000"/>
            </a:schemeClr>
          </a:solidFill>
          <a:ln>
            <a:solidFill>
              <a:schemeClr val="bg1"/>
            </a:solid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3">
              <a:shade val="50000"/>
              <a:hueOff val="-65733"/>
              <a:satOff val="-26570"/>
              <a:lumOff val="20876"/>
              <a:alphaOff val="0"/>
            </a:schemeClr>
          </a:fillRef>
          <a:effectRef idx="0">
            <a:schemeClr val="accent3">
              <a:shade val="50000"/>
              <a:hueOff val="-65733"/>
              <a:satOff val="-26570"/>
              <a:lumOff val="20876"/>
              <a:alphaOff val="0"/>
            </a:schemeClr>
          </a:effectRef>
          <a:fontRef idx="minor">
            <a:schemeClr val="lt1"/>
          </a:fontRef>
        </p:style>
        <p:txBody>
          <a:bodyPr spcFirstLastPara="0" vert="horz" wrap="square" lIns="84809" tIns="84809" rIns="84809" bIns="84809"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GBS</a:t>
            </a:r>
            <a:r>
              <a:rPr kumimoji="0" lang="en-GB"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takes the P&amp;L movements for the range of relevant accounts in P14 and </a:t>
            </a: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builds subtotal by Functional Area</a:t>
            </a:r>
            <a:r>
              <a:rPr kumimoji="0" lang="en-GB"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using t-code FAGLL03H and layout "/INC3215289"</a:t>
            </a: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4" name="Freeform: Shape 23">
            <a:extLst>
              <a:ext uri="{FF2B5EF4-FFF2-40B4-BE49-F238E27FC236}">
                <a16:creationId xmlns:a16="http://schemas.microsoft.com/office/drawing/2014/main" id="{20859309-FBCB-46AB-A754-4741148DF737}"/>
              </a:ext>
            </a:extLst>
          </p:cNvPr>
          <p:cNvSpPr/>
          <p:nvPr/>
        </p:nvSpPr>
        <p:spPr>
          <a:xfrm>
            <a:off x="6173732" y="4203907"/>
            <a:ext cx="177357" cy="330979"/>
          </a:xfrm>
          <a:custGeom>
            <a:avLst/>
            <a:gdLst>
              <a:gd name="connsiteX0" fmla="*/ 0 w 282934"/>
              <a:gd name="connsiteY0" fmla="*/ 66196 h 330979"/>
              <a:gd name="connsiteX1" fmla="*/ 141467 w 282934"/>
              <a:gd name="connsiteY1" fmla="*/ 66196 h 330979"/>
              <a:gd name="connsiteX2" fmla="*/ 141467 w 282934"/>
              <a:gd name="connsiteY2" fmla="*/ 0 h 330979"/>
              <a:gd name="connsiteX3" fmla="*/ 282934 w 282934"/>
              <a:gd name="connsiteY3" fmla="*/ 165490 h 330979"/>
              <a:gd name="connsiteX4" fmla="*/ 141467 w 282934"/>
              <a:gd name="connsiteY4" fmla="*/ 330979 h 330979"/>
              <a:gd name="connsiteX5" fmla="*/ 141467 w 282934"/>
              <a:gd name="connsiteY5" fmla="*/ 264783 h 330979"/>
              <a:gd name="connsiteX6" fmla="*/ 0 w 282934"/>
              <a:gd name="connsiteY6" fmla="*/ 264783 h 330979"/>
              <a:gd name="connsiteX7" fmla="*/ 0 w 282934"/>
              <a:gd name="connsiteY7" fmla="*/ 66196 h 33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934" h="330979">
                <a:moveTo>
                  <a:pt x="0" y="66196"/>
                </a:moveTo>
                <a:lnTo>
                  <a:pt x="141467" y="66196"/>
                </a:lnTo>
                <a:lnTo>
                  <a:pt x="141467" y="0"/>
                </a:lnTo>
                <a:lnTo>
                  <a:pt x="282934" y="165490"/>
                </a:lnTo>
                <a:lnTo>
                  <a:pt x="141467" y="330979"/>
                </a:lnTo>
                <a:lnTo>
                  <a:pt x="141467" y="264783"/>
                </a:lnTo>
                <a:lnTo>
                  <a:pt x="0" y="264783"/>
                </a:lnTo>
                <a:lnTo>
                  <a:pt x="0" y="66196"/>
                </a:lnTo>
                <a:close/>
              </a:path>
            </a:pathLst>
          </a:custGeom>
          <a:ln>
            <a:solidFill>
              <a:schemeClr val="bg1"/>
            </a:solidFill>
          </a:ln>
          <a:effectLst>
            <a:outerShdw blurRad="50800" dist="38100" dir="5400000" algn="t" rotWithShape="0">
              <a:prstClr val="black">
                <a:alpha val="40000"/>
              </a:prstClr>
            </a:outerShdw>
          </a:effectLst>
        </p:spPr>
        <p:style>
          <a:lnRef idx="0">
            <a:schemeClr val="accent3">
              <a:shade val="90000"/>
              <a:hueOff val="-87155"/>
              <a:satOff val="-33543"/>
              <a:lumOff val="23402"/>
              <a:alphaOff val="0"/>
            </a:schemeClr>
          </a:lnRef>
          <a:fillRef idx="1">
            <a:schemeClr val="accent3">
              <a:shade val="90000"/>
              <a:hueOff val="-87155"/>
              <a:satOff val="-33543"/>
              <a:lumOff val="23402"/>
              <a:alphaOff val="0"/>
            </a:schemeClr>
          </a:fillRef>
          <a:effectRef idx="0">
            <a:schemeClr val="accent3">
              <a:shade val="90000"/>
              <a:hueOff val="-87155"/>
              <a:satOff val="-33543"/>
              <a:lumOff val="23402"/>
              <a:alphaOff val="0"/>
            </a:schemeClr>
          </a:effectRef>
          <a:fontRef idx="minor">
            <a:schemeClr val="lt1"/>
          </a:fontRef>
        </p:style>
        <p:txBody>
          <a:bodyPr spcFirstLastPara="0" vert="horz" wrap="square" lIns="0" tIns="66196" rIns="84880" bIns="66196" numCol="1" spcCol="1270" anchor="ctr" anchorCtr="0">
            <a:noAutofit/>
          </a:bodyPr>
          <a:lstStyle/>
          <a:p>
            <a:pPr marL="0" marR="0" lvl="0" indent="0" algn="ctr" defTabSz="666750" rtl="0" eaLnBrk="1" fontAlgn="auto" latinLnBrk="0" hangingPunct="1">
              <a:lnSpc>
                <a:spcPct val="90000"/>
              </a:lnSpc>
              <a:spcBef>
                <a:spcPct val="0"/>
              </a:spcBef>
              <a:spcAft>
                <a:spcPct val="3500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AC6D45D2-1B96-4FAF-848E-498CD22D920F}"/>
              </a:ext>
            </a:extLst>
          </p:cNvPr>
          <p:cNvSpPr/>
          <p:nvPr/>
        </p:nvSpPr>
        <p:spPr>
          <a:xfrm>
            <a:off x="6392334" y="3496644"/>
            <a:ext cx="1527672" cy="1762204"/>
          </a:xfrm>
          <a:custGeom>
            <a:avLst/>
            <a:gdLst>
              <a:gd name="connsiteX0" fmla="*/ 0 w 1334594"/>
              <a:gd name="connsiteY0" fmla="*/ 133459 h 2314687"/>
              <a:gd name="connsiteX1" fmla="*/ 133459 w 1334594"/>
              <a:gd name="connsiteY1" fmla="*/ 0 h 2314687"/>
              <a:gd name="connsiteX2" fmla="*/ 1201135 w 1334594"/>
              <a:gd name="connsiteY2" fmla="*/ 0 h 2314687"/>
              <a:gd name="connsiteX3" fmla="*/ 1334594 w 1334594"/>
              <a:gd name="connsiteY3" fmla="*/ 133459 h 2314687"/>
              <a:gd name="connsiteX4" fmla="*/ 1334594 w 1334594"/>
              <a:gd name="connsiteY4" fmla="*/ 2181228 h 2314687"/>
              <a:gd name="connsiteX5" fmla="*/ 1201135 w 1334594"/>
              <a:gd name="connsiteY5" fmla="*/ 2314687 h 2314687"/>
              <a:gd name="connsiteX6" fmla="*/ 133459 w 1334594"/>
              <a:gd name="connsiteY6" fmla="*/ 2314687 h 2314687"/>
              <a:gd name="connsiteX7" fmla="*/ 0 w 1334594"/>
              <a:gd name="connsiteY7" fmla="*/ 2181228 h 2314687"/>
              <a:gd name="connsiteX8" fmla="*/ 0 w 1334594"/>
              <a:gd name="connsiteY8" fmla="*/ 133459 h 23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594" h="2314687">
                <a:moveTo>
                  <a:pt x="0" y="133459"/>
                </a:moveTo>
                <a:cubicBezTo>
                  <a:pt x="0" y="59752"/>
                  <a:pt x="59752" y="0"/>
                  <a:pt x="133459" y="0"/>
                </a:cubicBezTo>
                <a:lnTo>
                  <a:pt x="1201135" y="0"/>
                </a:lnTo>
                <a:cubicBezTo>
                  <a:pt x="1274842" y="0"/>
                  <a:pt x="1334594" y="59752"/>
                  <a:pt x="1334594" y="133459"/>
                </a:cubicBezTo>
                <a:lnTo>
                  <a:pt x="1334594" y="2181228"/>
                </a:lnTo>
                <a:cubicBezTo>
                  <a:pt x="1334594" y="2254935"/>
                  <a:pt x="1274842" y="2314687"/>
                  <a:pt x="1201135" y="2314687"/>
                </a:cubicBezTo>
                <a:lnTo>
                  <a:pt x="133459" y="2314687"/>
                </a:lnTo>
                <a:cubicBezTo>
                  <a:pt x="59752" y="2314687"/>
                  <a:pt x="0" y="2254935"/>
                  <a:pt x="0" y="2181228"/>
                </a:cubicBezTo>
                <a:lnTo>
                  <a:pt x="0" y="133459"/>
                </a:lnTo>
                <a:close/>
              </a:path>
            </a:pathLst>
          </a:custGeom>
          <a:solidFill>
            <a:schemeClr val="accent3"/>
          </a:solidFill>
          <a:ln>
            <a:solidFill>
              <a:schemeClr val="bg1"/>
            </a:solid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3">
              <a:shade val="50000"/>
              <a:hueOff val="-131465"/>
              <a:satOff val="-53139"/>
              <a:lumOff val="41751"/>
              <a:alphaOff val="0"/>
            </a:schemeClr>
          </a:fillRef>
          <a:effectRef idx="0">
            <a:schemeClr val="accent3">
              <a:shade val="50000"/>
              <a:hueOff val="-131465"/>
              <a:satOff val="-53139"/>
              <a:lumOff val="41751"/>
              <a:alphaOff val="0"/>
            </a:schemeClr>
          </a:effectRef>
          <a:fontRef idx="minor">
            <a:schemeClr val="lt1"/>
          </a:fontRef>
        </p:style>
        <p:txBody>
          <a:bodyPr spcFirstLastPara="0" vert="horz" wrap="square" lIns="84809" tIns="84809" rIns="84809" bIns="84809"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GBS prepares GL Journal </a:t>
            </a:r>
            <a:r>
              <a:rPr kumimoji="0" lang="en-GB"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Template by converting FAs to 89* GL accounts </a:t>
            </a:r>
            <a:r>
              <a:rPr kumimoji="0" lang="en-GB" sz="1200" b="0" i="1" u="none" strike="noStrike" kern="1200" cap="none" spc="0" normalizeH="0" baseline="-25000" noProof="0">
                <a:ln>
                  <a:noFill/>
                </a:ln>
                <a:solidFill>
                  <a:srgbClr val="FF0000"/>
                </a:solidFill>
                <a:effectLst/>
                <a:uLnTx/>
                <a:uFillTx/>
                <a:latin typeface="Calibri" panose="020F0502020204030204" pitchFamily="34" charset="0"/>
                <a:ea typeface="+mn-ea"/>
                <a:cs typeface="Calibri" panose="020F0502020204030204" pitchFamily="34" charset="0"/>
              </a:rPr>
              <a:t>1)</a:t>
            </a:r>
            <a:endParaRPr kumimoji="0" lang="en-US" sz="1200" b="0" i="1" u="none" strike="noStrike" kern="1200" cap="none" spc="0" normalizeH="0" baseline="-2500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26" name="Freeform: Shape 25">
            <a:extLst>
              <a:ext uri="{FF2B5EF4-FFF2-40B4-BE49-F238E27FC236}">
                <a16:creationId xmlns:a16="http://schemas.microsoft.com/office/drawing/2014/main" id="{6946506C-7F8C-4D5D-B333-D8866EAD00AE}"/>
              </a:ext>
            </a:extLst>
          </p:cNvPr>
          <p:cNvSpPr/>
          <p:nvPr/>
        </p:nvSpPr>
        <p:spPr>
          <a:xfrm>
            <a:off x="7975489" y="4203907"/>
            <a:ext cx="177357" cy="330979"/>
          </a:xfrm>
          <a:custGeom>
            <a:avLst/>
            <a:gdLst>
              <a:gd name="connsiteX0" fmla="*/ 0 w 282934"/>
              <a:gd name="connsiteY0" fmla="*/ 66196 h 330979"/>
              <a:gd name="connsiteX1" fmla="*/ 141467 w 282934"/>
              <a:gd name="connsiteY1" fmla="*/ 66196 h 330979"/>
              <a:gd name="connsiteX2" fmla="*/ 141467 w 282934"/>
              <a:gd name="connsiteY2" fmla="*/ 0 h 330979"/>
              <a:gd name="connsiteX3" fmla="*/ 282934 w 282934"/>
              <a:gd name="connsiteY3" fmla="*/ 165490 h 330979"/>
              <a:gd name="connsiteX4" fmla="*/ 141467 w 282934"/>
              <a:gd name="connsiteY4" fmla="*/ 330979 h 330979"/>
              <a:gd name="connsiteX5" fmla="*/ 141467 w 282934"/>
              <a:gd name="connsiteY5" fmla="*/ 264783 h 330979"/>
              <a:gd name="connsiteX6" fmla="*/ 0 w 282934"/>
              <a:gd name="connsiteY6" fmla="*/ 264783 h 330979"/>
              <a:gd name="connsiteX7" fmla="*/ 0 w 282934"/>
              <a:gd name="connsiteY7" fmla="*/ 66196 h 33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934" h="330979">
                <a:moveTo>
                  <a:pt x="0" y="66196"/>
                </a:moveTo>
                <a:lnTo>
                  <a:pt x="141467" y="66196"/>
                </a:lnTo>
                <a:lnTo>
                  <a:pt x="141467" y="0"/>
                </a:lnTo>
                <a:lnTo>
                  <a:pt x="282934" y="165490"/>
                </a:lnTo>
                <a:lnTo>
                  <a:pt x="141467" y="330979"/>
                </a:lnTo>
                <a:lnTo>
                  <a:pt x="141467" y="264783"/>
                </a:lnTo>
                <a:lnTo>
                  <a:pt x="0" y="264783"/>
                </a:lnTo>
                <a:lnTo>
                  <a:pt x="0" y="66196"/>
                </a:lnTo>
                <a:close/>
              </a:path>
            </a:pathLst>
          </a:custGeom>
          <a:solidFill>
            <a:schemeClr val="accent1"/>
          </a:solidFill>
          <a:ln>
            <a:solidFill>
              <a:schemeClr val="bg1"/>
            </a:solidFill>
          </a:ln>
          <a:effectLst>
            <a:outerShdw blurRad="50800" dist="38100" dir="5400000" algn="t" rotWithShape="0">
              <a:prstClr val="black">
                <a:alpha val="40000"/>
              </a:prstClr>
            </a:outerShdw>
          </a:effectLst>
        </p:spPr>
        <p:style>
          <a:lnRef idx="0">
            <a:schemeClr val="accent3">
              <a:shade val="90000"/>
              <a:hueOff val="-174309"/>
              <a:satOff val="-67086"/>
              <a:lumOff val="46804"/>
              <a:alphaOff val="0"/>
            </a:schemeClr>
          </a:lnRef>
          <a:fillRef idx="1">
            <a:schemeClr val="accent3">
              <a:shade val="90000"/>
              <a:hueOff val="-174309"/>
              <a:satOff val="-67086"/>
              <a:lumOff val="46804"/>
              <a:alphaOff val="0"/>
            </a:schemeClr>
          </a:fillRef>
          <a:effectRef idx="0">
            <a:schemeClr val="accent3">
              <a:shade val="90000"/>
              <a:hueOff val="-174309"/>
              <a:satOff val="-67086"/>
              <a:lumOff val="46804"/>
              <a:alphaOff val="0"/>
            </a:schemeClr>
          </a:effectRef>
          <a:fontRef idx="minor">
            <a:schemeClr val="lt1"/>
          </a:fontRef>
        </p:style>
        <p:txBody>
          <a:bodyPr spcFirstLastPara="0" vert="horz" wrap="square" lIns="0" tIns="66196" rIns="84880" bIns="66196" numCol="1" spcCol="1270" anchor="ctr" anchorCtr="0">
            <a:noAutofit/>
          </a:bodyPr>
          <a:lstStyle/>
          <a:p>
            <a:pPr marL="0" marR="0" lvl="0" indent="0" algn="ctr" defTabSz="666750" rtl="0" eaLnBrk="1" fontAlgn="auto" latinLnBrk="0" hangingPunct="1">
              <a:lnSpc>
                <a:spcPct val="90000"/>
              </a:lnSpc>
              <a:spcBef>
                <a:spcPct val="0"/>
              </a:spcBef>
              <a:spcAft>
                <a:spcPct val="3500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0C8634CB-4E89-4D4F-A958-3EA5DB0DA99A}"/>
              </a:ext>
            </a:extLst>
          </p:cNvPr>
          <p:cNvSpPr/>
          <p:nvPr/>
        </p:nvSpPr>
        <p:spPr>
          <a:xfrm>
            <a:off x="8175042" y="3496644"/>
            <a:ext cx="1527672" cy="1762204"/>
          </a:xfrm>
          <a:custGeom>
            <a:avLst/>
            <a:gdLst>
              <a:gd name="connsiteX0" fmla="*/ 0 w 1334594"/>
              <a:gd name="connsiteY0" fmla="*/ 133459 h 2314687"/>
              <a:gd name="connsiteX1" fmla="*/ 133459 w 1334594"/>
              <a:gd name="connsiteY1" fmla="*/ 0 h 2314687"/>
              <a:gd name="connsiteX2" fmla="*/ 1201135 w 1334594"/>
              <a:gd name="connsiteY2" fmla="*/ 0 h 2314687"/>
              <a:gd name="connsiteX3" fmla="*/ 1334594 w 1334594"/>
              <a:gd name="connsiteY3" fmla="*/ 133459 h 2314687"/>
              <a:gd name="connsiteX4" fmla="*/ 1334594 w 1334594"/>
              <a:gd name="connsiteY4" fmla="*/ 2181228 h 2314687"/>
              <a:gd name="connsiteX5" fmla="*/ 1201135 w 1334594"/>
              <a:gd name="connsiteY5" fmla="*/ 2314687 h 2314687"/>
              <a:gd name="connsiteX6" fmla="*/ 133459 w 1334594"/>
              <a:gd name="connsiteY6" fmla="*/ 2314687 h 2314687"/>
              <a:gd name="connsiteX7" fmla="*/ 0 w 1334594"/>
              <a:gd name="connsiteY7" fmla="*/ 2181228 h 2314687"/>
              <a:gd name="connsiteX8" fmla="*/ 0 w 1334594"/>
              <a:gd name="connsiteY8" fmla="*/ 133459 h 23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594" h="2314687">
                <a:moveTo>
                  <a:pt x="0" y="133459"/>
                </a:moveTo>
                <a:cubicBezTo>
                  <a:pt x="0" y="59752"/>
                  <a:pt x="59752" y="0"/>
                  <a:pt x="133459" y="0"/>
                </a:cubicBezTo>
                <a:lnTo>
                  <a:pt x="1201135" y="0"/>
                </a:lnTo>
                <a:cubicBezTo>
                  <a:pt x="1274842" y="0"/>
                  <a:pt x="1334594" y="59752"/>
                  <a:pt x="1334594" y="133459"/>
                </a:cubicBezTo>
                <a:lnTo>
                  <a:pt x="1334594" y="2181228"/>
                </a:lnTo>
                <a:cubicBezTo>
                  <a:pt x="1334594" y="2254935"/>
                  <a:pt x="1274842" y="2314687"/>
                  <a:pt x="1201135" y="2314687"/>
                </a:cubicBezTo>
                <a:lnTo>
                  <a:pt x="133459" y="2314687"/>
                </a:lnTo>
                <a:cubicBezTo>
                  <a:pt x="59752" y="2314687"/>
                  <a:pt x="0" y="2254935"/>
                  <a:pt x="0" y="2181228"/>
                </a:cubicBezTo>
                <a:lnTo>
                  <a:pt x="0" y="133459"/>
                </a:lnTo>
                <a:close/>
              </a:path>
            </a:pathLst>
          </a:custGeom>
          <a:solidFill>
            <a:schemeClr val="accent1"/>
          </a:solidFill>
          <a:ln>
            <a:solidFill>
              <a:schemeClr val="bg1"/>
            </a:solid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3">
              <a:shade val="50000"/>
              <a:hueOff val="-131465"/>
              <a:satOff val="-53139"/>
              <a:lumOff val="41751"/>
              <a:alphaOff val="0"/>
            </a:schemeClr>
          </a:fillRef>
          <a:effectRef idx="0">
            <a:schemeClr val="accent3">
              <a:shade val="50000"/>
              <a:hueOff val="-131465"/>
              <a:satOff val="-53139"/>
              <a:lumOff val="41751"/>
              <a:alphaOff val="0"/>
            </a:schemeClr>
          </a:effectRef>
          <a:fontRef idx="minor">
            <a:schemeClr val="lt1"/>
          </a:fontRef>
        </p:style>
        <p:txBody>
          <a:bodyPr spcFirstLastPara="0" vert="horz" wrap="square" lIns="84809" tIns="84809" rIns="84809" bIns="84809"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GBS adds 899999</a:t>
            </a:r>
            <a:r>
              <a:rPr kumimoji="0" lang="en-GB"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GL as a balancing line </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8" name="Freeform: Shape 27">
            <a:extLst>
              <a:ext uri="{FF2B5EF4-FFF2-40B4-BE49-F238E27FC236}">
                <a16:creationId xmlns:a16="http://schemas.microsoft.com/office/drawing/2014/main" id="{2243F24A-6AFD-4A68-B4EC-2BB78B6DD396}"/>
              </a:ext>
            </a:extLst>
          </p:cNvPr>
          <p:cNvSpPr/>
          <p:nvPr/>
        </p:nvSpPr>
        <p:spPr>
          <a:xfrm>
            <a:off x="9758197" y="4203907"/>
            <a:ext cx="177357" cy="330979"/>
          </a:xfrm>
          <a:custGeom>
            <a:avLst/>
            <a:gdLst>
              <a:gd name="connsiteX0" fmla="*/ 0 w 282934"/>
              <a:gd name="connsiteY0" fmla="*/ 66196 h 330979"/>
              <a:gd name="connsiteX1" fmla="*/ 141467 w 282934"/>
              <a:gd name="connsiteY1" fmla="*/ 66196 h 330979"/>
              <a:gd name="connsiteX2" fmla="*/ 141467 w 282934"/>
              <a:gd name="connsiteY2" fmla="*/ 0 h 330979"/>
              <a:gd name="connsiteX3" fmla="*/ 282934 w 282934"/>
              <a:gd name="connsiteY3" fmla="*/ 165490 h 330979"/>
              <a:gd name="connsiteX4" fmla="*/ 141467 w 282934"/>
              <a:gd name="connsiteY4" fmla="*/ 330979 h 330979"/>
              <a:gd name="connsiteX5" fmla="*/ 141467 w 282934"/>
              <a:gd name="connsiteY5" fmla="*/ 264783 h 330979"/>
              <a:gd name="connsiteX6" fmla="*/ 0 w 282934"/>
              <a:gd name="connsiteY6" fmla="*/ 264783 h 330979"/>
              <a:gd name="connsiteX7" fmla="*/ 0 w 282934"/>
              <a:gd name="connsiteY7" fmla="*/ 66196 h 33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934" h="330979">
                <a:moveTo>
                  <a:pt x="0" y="66196"/>
                </a:moveTo>
                <a:lnTo>
                  <a:pt x="141467" y="66196"/>
                </a:lnTo>
                <a:lnTo>
                  <a:pt x="141467" y="0"/>
                </a:lnTo>
                <a:lnTo>
                  <a:pt x="282934" y="165490"/>
                </a:lnTo>
                <a:lnTo>
                  <a:pt x="141467" y="330979"/>
                </a:lnTo>
                <a:lnTo>
                  <a:pt x="141467" y="264783"/>
                </a:lnTo>
                <a:lnTo>
                  <a:pt x="0" y="264783"/>
                </a:lnTo>
                <a:lnTo>
                  <a:pt x="0" y="66196"/>
                </a:lnTo>
                <a:close/>
              </a:path>
            </a:pathLst>
          </a:custGeom>
          <a:solidFill>
            <a:schemeClr val="accent1">
              <a:alpha val="74000"/>
            </a:schemeClr>
          </a:solidFill>
          <a:ln>
            <a:solidFill>
              <a:schemeClr val="bg1"/>
            </a:solidFill>
          </a:ln>
          <a:effectLst>
            <a:outerShdw blurRad="50800" dist="38100" dir="5400000" algn="t" rotWithShape="0">
              <a:prstClr val="black">
                <a:alpha val="40000"/>
              </a:prstClr>
            </a:outerShdw>
          </a:effectLst>
        </p:spPr>
        <p:style>
          <a:lnRef idx="0">
            <a:schemeClr val="accent3">
              <a:shade val="90000"/>
              <a:hueOff val="-87155"/>
              <a:satOff val="-33543"/>
              <a:lumOff val="23402"/>
              <a:alphaOff val="0"/>
            </a:schemeClr>
          </a:lnRef>
          <a:fillRef idx="1">
            <a:schemeClr val="accent3">
              <a:shade val="90000"/>
              <a:hueOff val="-87155"/>
              <a:satOff val="-33543"/>
              <a:lumOff val="23402"/>
              <a:alphaOff val="0"/>
            </a:schemeClr>
          </a:fillRef>
          <a:effectRef idx="0">
            <a:schemeClr val="accent3">
              <a:shade val="90000"/>
              <a:hueOff val="-87155"/>
              <a:satOff val="-33543"/>
              <a:lumOff val="23402"/>
              <a:alphaOff val="0"/>
            </a:schemeClr>
          </a:effectRef>
          <a:fontRef idx="minor">
            <a:schemeClr val="lt1"/>
          </a:fontRef>
        </p:style>
        <p:txBody>
          <a:bodyPr spcFirstLastPara="0" vert="horz" wrap="square" lIns="0" tIns="66196" rIns="84880" bIns="66196" numCol="1" spcCol="1270" anchor="ctr" anchorCtr="0">
            <a:noAutofit/>
          </a:bodyPr>
          <a:lstStyle/>
          <a:p>
            <a:pPr marL="0" marR="0" lvl="0" indent="0" algn="ctr" defTabSz="666750" rtl="0" eaLnBrk="1" fontAlgn="auto" latinLnBrk="0" hangingPunct="1">
              <a:lnSpc>
                <a:spcPct val="90000"/>
              </a:lnSpc>
              <a:spcBef>
                <a:spcPct val="0"/>
              </a:spcBef>
              <a:spcAft>
                <a:spcPct val="3500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Freeform: Shape 28">
            <a:extLst>
              <a:ext uri="{FF2B5EF4-FFF2-40B4-BE49-F238E27FC236}">
                <a16:creationId xmlns:a16="http://schemas.microsoft.com/office/drawing/2014/main" id="{D207A019-1CB1-4D25-B097-AB42BD35C887}"/>
              </a:ext>
            </a:extLst>
          </p:cNvPr>
          <p:cNvSpPr/>
          <p:nvPr/>
        </p:nvSpPr>
        <p:spPr>
          <a:xfrm>
            <a:off x="9976800" y="3496644"/>
            <a:ext cx="1527672" cy="1762204"/>
          </a:xfrm>
          <a:custGeom>
            <a:avLst/>
            <a:gdLst>
              <a:gd name="connsiteX0" fmla="*/ 0 w 1334594"/>
              <a:gd name="connsiteY0" fmla="*/ 133459 h 2314687"/>
              <a:gd name="connsiteX1" fmla="*/ 133459 w 1334594"/>
              <a:gd name="connsiteY1" fmla="*/ 0 h 2314687"/>
              <a:gd name="connsiteX2" fmla="*/ 1201135 w 1334594"/>
              <a:gd name="connsiteY2" fmla="*/ 0 h 2314687"/>
              <a:gd name="connsiteX3" fmla="*/ 1334594 w 1334594"/>
              <a:gd name="connsiteY3" fmla="*/ 133459 h 2314687"/>
              <a:gd name="connsiteX4" fmla="*/ 1334594 w 1334594"/>
              <a:gd name="connsiteY4" fmla="*/ 2181228 h 2314687"/>
              <a:gd name="connsiteX5" fmla="*/ 1201135 w 1334594"/>
              <a:gd name="connsiteY5" fmla="*/ 2314687 h 2314687"/>
              <a:gd name="connsiteX6" fmla="*/ 133459 w 1334594"/>
              <a:gd name="connsiteY6" fmla="*/ 2314687 h 2314687"/>
              <a:gd name="connsiteX7" fmla="*/ 0 w 1334594"/>
              <a:gd name="connsiteY7" fmla="*/ 2181228 h 2314687"/>
              <a:gd name="connsiteX8" fmla="*/ 0 w 1334594"/>
              <a:gd name="connsiteY8" fmla="*/ 133459 h 23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594" h="2314687">
                <a:moveTo>
                  <a:pt x="0" y="133459"/>
                </a:moveTo>
                <a:cubicBezTo>
                  <a:pt x="0" y="59752"/>
                  <a:pt x="59752" y="0"/>
                  <a:pt x="133459" y="0"/>
                </a:cubicBezTo>
                <a:lnTo>
                  <a:pt x="1201135" y="0"/>
                </a:lnTo>
                <a:cubicBezTo>
                  <a:pt x="1274842" y="0"/>
                  <a:pt x="1334594" y="59752"/>
                  <a:pt x="1334594" y="133459"/>
                </a:cubicBezTo>
                <a:lnTo>
                  <a:pt x="1334594" y="2181228"/>
                </a:lnTo>
                <a:cubicBezTo>
                  <a:pt x="1334594" y="2254935"/>
                  <a:pt x="1274842" y="2314687"/>
                  <a:pt x="1201135" y="2314687"/>
                </a:cubicBezTo>
                <a:lnTo>
                  <a:pt x="133459" y="2314687"/>
                </a:lnTo>
                <a:cubicBezTo>
                  <a:pt x="59752" y="2314687"/>
                  <a:pt x="0" y="2254935"/>
                  <a:pt x="0" y="2181228"/>
                </a:cubicBezTo>
                <a:lnTo>
                  <a:pt x="0" y="133459"/>
                </a:lnTo>
                <a:close/>
              </a:path>
            </a:pathLst>
          </a:custGeom>
          <a:solidFill>
            <a:schemeClr val="accent1">
              <a:lumMod val="60000"/>
              <a:lumOff val="40000"/>
            </a:schemeClr>
          </a:solidFill>
          <a:ln>
            <a:solidFill>
              <a:schemeClr val="bg1"/>
            </a:solidFill>
          </a:ln>
          <a:effectLst>
            <a:outerShdw blurRad="50800" dist="38100" dir="5400000" algn="t" rotWithShape="0">
              <a:prstClr val="black">
                <a:alpha val="40000"/>
              </a:prstClr>
            </a:outerShdw>
          </a:effectLst>
        </p:spPr>
        <p:style>
          <a:lnRef idx="2">
            <a:schemeClr val="lt1">
              <a:hueOff val="0"/>
              <a:satOff val="0"/>
              <a:lumOff val="0"/>
              <a:alphaOff val="0"/>
            </a:schemeClr>
          </a:lnRef>
          <a:fillRef idx="1">
            <a:schemeClr val="accent3">
              <a:shade val="50000"/>
              <a:hueOff val="-65733"/>
              <a:satOff val="-26570"/>
              <a:lumOff val="20876"/>
              <a:alphaOff val="0"/>
            </a:schemeClr>
          </a:fillRef>
          <a:effectRef idx="0">
            <a:schemeClr val="accent3">
              <a:shade val="50000"/>
              <a:hueOff val="-65733"/>
              <a:satOff val="-26570"/>
              <a:lumOff val="20876"/>
              <a:alphaOff val="0"/>
            </a:schemeClr>
          </a:effectRef>
          <a:fontRef idx="minor">
            <a:schemeClr val="lt1"/>
          </a:fontRef>
        </p:style>
        <p:txBody>
          <a:bodyPr spcFirstLastPara="0" vert="horz" wrap="square" lIns="84809" tIns="84809" rIns="84809" bIns="84809" numCol="1" spcCol="1270" anchor="ctr" anchorCtr="0">
            <a:noAutofit/>
          </a:bodyPr>
          <a:lstStyle/>
          <a:p>
            <a:pPr marL="0" marR="0" lvl="0" indent="0" algn="l"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GBS Posts manual FA Adj journal in P14 in the required ledger(s) </a:t>
            </a:r>
            <a:r>
              <a:rPr kumimoji="0" lang="en-GB"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and request entity to validate the result following normal journal posting practice</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pic>
        <p:nvPicPr>
          <p:cNvPr id="18" name="Picture 17">
            <a:extLst>
              <a:ext uri="{FF2B5EF4-FFF2-40B4-BE49-F238E27FC236}">
                <a16:creationId xmlns:a16="http://schemas.microsoft.com/office/drawing/2014/main" id="{26AFDA66-53EF-448A-9A98-0734D484F844}"/>
              </a:ext>
            </a:extLst>
          </p:cNvPr>
          <p:cNvPicPr>
            <a:picLocks noChangeAspect="1"/>
          </p:cNvPicPr>
          <p:nvPr/>
        </p:nvPicPr>
        <p:blipFill>
          <a:blip r:embed="rId3"/>
          <a:stretch>
            <a:fillRect/>
          </a:stretch>
        </p:blipFill>
        <p:spPr>
          <a:xfrm>
            <a:off x="7887348" y="5441436"/>
            <a:ext cx="3804383" cy="748586"/>
          </a:xfrm>
          <a:prstGeom prst="rect">
            <a:avLst/>
          </a:prstGeom>
        </p:spPr>
      </p:pic>
      <p:grpSp>
        <p:nvGrpSpPr>
          <p:cNvPr id="30" name="Group 29">
            <a:extLst>
              <a:ext uri="{FF2B5EF4-FFF2-40B4-BE49-F238E27FC236}">
                <a16:creationId xmlns:a16="http://schemas.microsoft.com/office/drawing/2014/main" id="{3A3558ED-BBF8-4F85-A7AC-A55B5AD5CDC9}"/>
              </a:ext>
            </a:extLst>
          </p:cNvPr>
          <p:cNvGrpSpPr/>
          <p:nvPr/>
        </p:nvGrpSpPr>
        <p:grpSpPr>
          <a:xfrm>
            <a:off x="229948" y="6181383"/>
            <a:ext cx="11732103" cy="624038"/>
            <a:chOff x="229948" y="6200433"/>
            <a:chExt cx="11732103" cy="624038"/>
          </a:xfrm>
        </p:grpSpPr>
        <p:grpSp>
          <p:nvGrpSpPr>
            <p:cNvPr id="31" name="Group 30">
              <a:extLst>
                <a:ext uri="{FF2B5EF4-FFF2-40B4-BE49-F238E27FC236}">
                  <a16:creationId xmlns:a16="http://schemas.microsoft.com/office/drawing/2014/main" id="{83DEE90D-EFFC-4F4F-AB24-40C7B6DD3B6B}"/>
                </a:ext>
              </a:extLst>
            </p:cNvPr>
            <p:cNvGrpSpPr/>
            <p:nvPr/>
          </p:nvGrpSpPr>
          <p:grpSpPr>
            <a:xfrm>
              <a:off x="229948" y="6200433"/>
              <a:ext cx="11732103" cy="624038"/>
              <a:chOff x="237289" y="6200434"/>
              <a:chExt cx="11732103" cy="624038"/>
            </a:xfrm>
          </p:grpSpPr>
          <p:sp>
            <p:nvSpPr>
              <p:cNvPr id="33" name="Flowchart: Alternate Process 32">
                <a:extLst>
                  <a:ext uri="{FF2B5EF4-FFF2-40B4-BE49-F238E27FC236}">
                    <a16:creationId xmlns:a16="http://schemas.microsoft.com/office/drawing/2014/main" id="{5FF5E6A7-68EA-4120-874D-8E199D4A6156}"/>
                  </a:ext>
                </a:extLst>
              </p:cNvPr>
              <p:cNvSpPr/>
              <p:nvPr/>
            </p:nvSpPr>
            <p:spPr>
              <a:xfrm>
                <a:off x="237289" y="6253461"/>
                <a:ext cx="11732103" cy="537717"/>
              </a:xfrm>
              <a:prstGeom prst="flowChartAlternateProcess">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0" scaled="1"/>
                <a:tileRect/>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4" name="Picture 33">
                <a:extLst>
                  <a:ext uri="{FF2B5EF4-FFF2-40B4-BE49-F238E27FC236}">
                    <a16:creationId xmlns:a16="http://schemas.microsoft.com/office/drawing/2014/main" id="{CC3500C7-99BF-401A-A876-64944110155B}"/>
                  </a:ext>
                </a:extLst>
              </p:cNvPr>
              <p:cNvPicPr>
                <a:picLocks noChangeAspect="1"/>
              </p:cNvPicPr>
              <p:nvPr/>
            </p:nvPicPr>
            <p:blipFill>
              <a:blip r:embed="rId4"/>
              <a:stretch>
                <a:fillRect/>
              </a:stretch>
            </p:blipFill>
            <p:spPr>
              <a:xfrm>
                <a:off x="314890" y="6286755"/>
                <a:ext cx="526357" cy="537717"/>
              </a:xfrm>
              <a:prstGeom prst="rect">
                <a:avLst/>
              </a:prstGeom>
            </p:spPr>
          </p:pic>
          <p:sp>
            <p:nvSpPr>
              <p:cNvPr id="35" name="TextBox 34">
                <a:extLst>
                  <a:ext uri="{FF2B5EF4-FFF2-40B4-BE49-F238E27FC236}">
                    <a16:creationId xmlns:a16="http://schemas.microsoft.com/office/drawing/2014/main" id="{76CA1DAB-79EE-4FE5-A0EA-B77023EB4524}"/>
                  </a:ext>
                </a:extLst>
              </p:cNvPr>
              <p:cNvSpPr txBox="1"/>
              <p:nvPr/>
            </p:nvSpPr>
            <p:spPr>
              <a:xfrm>
                <a:off x="896466" y="6200434"/>
                <a:ext cx="10673741" cy="431898"/>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32" name="Rectangle 31">
              <a:extLst>
                <a:ext uri="{FF2B5EF4-FFF2-40B4-BE49-F238E27FC236}">
                  <a16:creationId xmlns:a16="http://schemas.microsoft.com/office/drawing/2014/main" id="{E11E6154-0836-447A-9AA9-EC2DE459A790}"/>
                </a:ext>
              </a:extLst>
            </p:cNvPr>
            <p:cNvSpPr/>
            <p:nvPr/>
          </p:nvSpPr>
          <p:spPr>
            <a:xfrm>
              <a:off x="911507" y="6291896"/>
              <a:ext cx="10972944"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For any further adjustments/corrections by FA beyond  the standard FA adjustment program logics, the entity itself shall raise additional GL journal.</a:t>
              </a:r>
            </a:p>
          </p:txBody>
        </p:sp>
      </p:grpSp>
      <p:sp>
        <p:nvSpPr>
          <p:cNvPr id="11" name="Slide Number Placeholder 5">
            <a:extLst>
              <a:ext uri="{FF2B5EF4-FFF2-40B4-BE49-F238E27FC236}">
                <a16:creationId xmlns:a16="http://schemas.microsoft.com/office/drawing/2014/main" id="{CB93522B-5867-4E72-950D-3AEF1DF757AC}"/>
              </a:ext>
            </a:extLst>
          </p:cNvPr>
          <p:cNvSpPr txBox="1">
            <a:spLocks/>
          </p:cNvSpPr>
          <p:nvPr/>
        </p:nvSpPr>
        <p:spPr>
          <a:xfrm>
            <a:off x="11278800" y="6282531"/>
            <a:ext cx="397261" cy="365125"/>
          </a:xfrm>
          <a:prstGeom prst="rect">
            <a:avLst/>
          </a:prstGeom>
          <a:effectLst/>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6" name="TextBox 35">
            <a:extLst>
              <a:ext uri="{FF2B5EF4-FFF2-40B4-BE49-F238E27FC236}">
                <a16:creationId xmlns:a16="http://schemas.microsoft.com/office/drawing/2014/main" id="{C856C4FB-9EC2-4EA8-BA71-48DF7187D98E}"/>
              </a:ext>
            </a:extLst>
          </p:cNvPr>
          <p:cNvSpPr txBox="1"/>
          <p:nvPr/>
        </p:nvSpPr>
        <p:spPr>
          <a:xfrm>
            <a:off x="7622460" y="5446320"/>
            <a:ext cx="362968" cy="27214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dirty="0">
                <a:ln>
                  <a:noFill/>
                </a:ln>
                <a:solidFill>
                  <a:srgbClr val="FF0000"/>
                </a:solidFill>
                <a:effectLst/>
                <a:uLnTx/>
                <a:uFillTx/>
                <a:latin typeface="Arial" panose="020B0604020202020204"/>
                <a:ea typeface="+mn-ea"/>
                <a:cs typeface="+mn-cs"/>
              </a:rPr>
              <a:t>1)</a:t>
            </a:r>
            <a:endParaRPr kumimoji="0" lang="en-US" sz="1000" b="0" i="1" u="none" strike="noStrike" kern="1200" cap="none" spc="0" normalizeH="0" baseline="0" noProof="0" dirty="0">
              <a:ln>
                <a:noFill/>
              </a:ln>
              <a:solidFill>
                <a:srgbClr val="FF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4577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5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par>
                                <p:cTn id="60" presetID="10" presetClass="entr" presetSubtype="0" fill="hold"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500"/>
                                        <p:tgtEl>
                                          <p:spTgt spid="2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3" grpId="0"/>
      <p:bldP spid="15" grpId="0"/>
      <p:bldP spid="16" grpId="0"/>
      <p:bldP spid="21" grpId="0" animBg="1"/>
      <p:bldP spid="22" grpId="0" animBg="1"/>
      <p:bldP spid="23" grpId="0" animBg="1"/>
      <p:bldP spid="24" grpId="0" animBg="1"/>
      <p:bldP spid="25" grpId="0" animBg="1"/>
      <p:bldP spid="26" grpId="0" animBg="1"/>
      <p:bldP spid="27" grpId="0" animBg="1"/>
      <p:bldP spid="28" grpId="0" animBg="1"/>
      <p:bldP spid="29" grpId="0" animBg="1"/>
      <p:bldP spid="36" grpId="0"/>
    </p:bldLst>
  </p:timing>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4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3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BC77B7-89BE-45D2-B43A-94AB4C5F40F4}">
  <ds:schemaRefs>
    <ds:schemaRef ds:uri="http://purl.org/dc/elements/1.1/"/>
    <ds:schemaRef ds:uri="http://purl.org/dc/dcmitype/"/>
    <ds:schemaRef ds:uri="http://www.w3.org/XML/1998/namespace"/>
    <ds:schemaRef ds:uri="cb52ee0d-5346-4ae8-a9f9-d746adffeb6b"/>
    <ds:schemaRef ds:uri="91871c47-af2e-43ea-ad3f-7bb4c536bc45"/>
    <ds:schemaRef ds:uri="http://purl.org/dc/terms/"/>
    <ds:schemaRef ds:uri="http://schemas.microsoft.com/office/2006/documentManagement/types"/>
    <ds:schemaRef ds:uri="http://schemas.openxmlformats.org/package/2006/metadata/core-properties"/>
    <ds:schemaRef ds:uri="http://schemas.microsoft.com/office/infopath/2007/PartnerControls"/>
    <ds:schemaRef ds:uri="ba249638-b5c4-4b59-8094-70d8491c2e9c"/>
    <ds:schemaRef ds:uri="http://schemas.microsoft.com/office/2006/metadata/properties"/>
  </ds:schemaRefs>
</ds:datastoreItem>
</file>

<file path=customXml/itemProps2.xml><?xml version="1.0" encoding="utf-8"?>
<ds:datastoreItem xmlns:ds="http://schemas.openxmlformats.org/officeDocument/2006/customXml" ds:itemID="{9EA3758C-E9BD-439A-B566-79F6AF98A6F5}"/>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S4F Template</Template>
  <TotalTime>412</TotalTime>
  <Words>3004</Words>
  <Application>Microsoft Office PowerPoint</Application>
  <PresentationFormat>Widescreen</PresentationFormat>
  <Paragraphs>252</Paragraphs>
  <Slides>15</Slides>
  <Notes>7</Notes>
  <HiddenSlides>0</HiddenSlides>
  <MMClips>0</MMClips>
  <ScaleCrop>false</ScaleCrop>
  <HeadingPairs>
    <vt:vector size="4" baseType="variant">
      <vt:variant>
        <vt:lpstr>Theme</vt:lpstr>
      </vt:variant>
      <vt:variant>
        <vt:i4>5</vt:i4>
      </vt:variant>
      <vt:variant>
        <vt:lpstr>Slide Titles</vt:lpstr>
      </vt:variant>
      <vt:variant>
        <vt:i4>15</vt:i4>
      </vt:variant>
    </vt:vector>
  </HeadingPairs>
  <TitlesOfParts>
    <vt:vector size="20" baseType="lpstr">
      <vt:lpstr>1_S4F-ERP Clean IFRS Stat &amp; Tax Rep</vt:lpstr>
      <vt:lpstr>S4F-ERP Period End Closing</vt:lpstr>
      <vt:lpstr>1_S4F-ERP Period End Closing</vt:lpstr>
      <vt:lpstr>4_S4F-ERP Clean IFRS Stat &amp; Tax Rep</vt:lpstr>
      <vt:lpstr>3_S4F-ERP Clean IFRS Stat &amp; Tax Rep</vt:lpstr>
      <vt:lpstr>Course Structure</vt:lpstr>
      <vt:lpstr>Course Structure</vt:lpstr>
      <vt:lpstr>Course Structure</vt:lpstr>
      <vt:lpstr>Key Period End Closing Timelines</vt:lpstr>
      <vt:lpstr> Ledger Closing Timelines and Corporate Reporting Requirements</vt:lpstr>
      <vt:lpstr>Holiday Calendar- Exception Japan &amp; Geneva Hybrid Calendar </vt:lpstr>
      <vt:lpstr>Use of Special Posting Periods P13 – P16</vt:lpstr>
      <vt:lpstr>Process Overview: Retrospective Adjustments </vt:lpstr>
      <vt:lpstr>Course Structure</vt:lpstr>
      <vt:lpstr>Key Period End Closing Timelines for STAT/TAX Ledgers</vt:lpstr>
      <vt:lpstr>STAT/TAX Ledger Year End Posting Process</vt:lpstr>
      <vt:lpstr>Two Approaches for P14 STAT/TAX Adjustments</vt:lpstr>
      <vt:lpstr>P14 STAT/TAX Adjustments Example  – Approach 1 (Entities with FX Conversion on Posting Date or Doc. Date=Posting Date=31.12.20XX)</vt:lpstr>
      <vt:lpstr>P14 STAT/TAX Adjustments Example  – Approach 2 (Entities with FX Conversion on Doc. Date or need to account for UFX separately)</vt:lpstr>
      <vt:lpstr>Functional Area Adjustment for P14 Posting  (for Entities applicable)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4</cp:revision>
  <dcterms:created xsi:type="dcterms:W3CDTF">2019-04-11T09:35:08Z</dcterms:created>
  <dcterms:modified xsi:type="dcterms:W3CDTF">2024-11-29T15:23:48Z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1309700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2021-07-20T10:35:28Z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75cb9a19-a509-4c96-8562-a196ac8cca50</vt:lpwstr>
  </property>
  <property fmtid="{D5CDD505-2E9C-101B-9397-08002B2CF9AE}" pid="14" name="MSIP_Label_b020b37f-db72-473e-ae54-fb16df408069_ContentBits">
    <vt:lpwstr>0</vt:lpwstr>
  </property>
  <property fmtid="{D5CDD505-2E9C-101B-9397-08002B2CF9AE}" pid="15" name="MediaServiceImageTags">
    <vt:lpwstr/>
  </property>
</Properties>
</file>