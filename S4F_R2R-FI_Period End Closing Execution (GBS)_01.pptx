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648" r:id="rId5"/>
    <p:sldMasterId id="2147483926" r:id="rId6"/>
    <p:sldMasterId id="2147483931" r:id="rId7"/>
  </p:sldMasterIdLst>
  <p:notesMasterIdLst>
    <p:notesMasterId r:id="rId18"/>
  </p:notesMasterIdLst>
  <p:sldIdLst>
    <p:sldId id="403" r:id="rId8"/>
    <p:sldId id="404" r:id="rId9"/>
    <p:sldId id="454" r:id="rId10"/>
    <p:sldId id="409" r:id="rId11"/>
    <p:sldId id="3195" r:id="rId12"/>
    <p:sldId id="3387" r:id="rId13"/>
    <p:sldId id="2134961472" r:id="rId14"/>
    <p:sldId id="3188" r:id="rId15"/>
    <p:sldId id="2134961506" r:id="rId16"/>
    <p:sldId id="170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4"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AA00"/>
    <a:srgbClr val="C3EBE9"/>
    <a:srgbClr val="33C781"/>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479245-BC2B-F473-94EC-26E76B989A37}" v="3" dt="2024-12-11T09:35:46.5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A5512547-9EC3-49E7-B849-B52B6B827593}"/>
    <pc:docChg chg="modSld">
      <pc:chgData name="Wang, Wei" userId="627587dd-935f-4f2b-a6c6-edd4e0dcbff5" providerId="ADAL" clId="{A5512547-9EC3-49E7-B849-B52B6B827593}" dt="2020-05-22T12:41:52.643" v="26" actId="20577"/>
      <pc:docMkLst>
        <pc:docMk/>
      </pc:docMkLst>
      <pc:sldChg chg="modSp">
        <pc:chgData name="Wang, Wei" userId="627587dd-935f-4f2b-a6c6-edd4e0dcbff5" providerId="ADAL" clId="{A5512547-9EC3-49E7-B849-B52B6B827593}" dt="2020-05-22T12:41:52.643" v="26" actId="20577"/>
        <pc:sldMkLst>
          <pc:docMk/>
          <pc:sldMk cId="1652393144" sldId="3188"/>
        </pc:sldMkLst>
        <pc:spChg chg="mod">
          <ac:chgData name="Wang, Wei" userId="627587dd-935f-4f2b-a6c6-edd4e0dcbff5" providerId="ADAL" clId="{A5512547-9EC3-49E7-B849-B52B6B827593}" dt="2020-05-22T12:41:52.643" v="26" actId="20577"/>
          <ac:spMkLst>
            <pc:docMk/>
            <pc:sldMk cId="1652393144" sldId="3188"/>
            <ac:spMk id="23" creationId="{F57DBABB-6D7B-4D62-89E6-DE260E32F75F}"/>
          </ac:spMkLst>
        </pc:spChg>
      </pc:sldChg>
    </pc:docChg>
  </pc:docChgLst>
  <pc:docChgLst>
    <pc:chgData name="Wang, Wei" userId="627587dd-935f-4f2b-a6c6-edd4e0dcbff5" providerId="ADAL" clId="{298B78E7-289E-44D3-AE64-26EF3BBB669D}"/>
    <pc:docChg chg="delSld modSld delMainMaster">
      <pc:chgData name="Wang, Wei" userId="627587dd-935f-4f2b-a6c6-edd4e0dcbff5" providerId="ADAL" clId="{298B78E7-289E-44D3-AE64-26EF3BBB669D}" dt="2020-05-20T15:53:17.595" v="263" actId="2696"/>
      <pc:docMkLst>
        <pc:docMk/>
      </pc:docMkLst>
      <pc:sldChg chg="delCm">
        <pc:chgData name="Wang, Wei" userId="627587dd-935f-4f2b-a6c6-edd4e0dcbff5" providerId="ADAL" clId="{298B78E7-289E-44D3-AE64-26EF3BBB669D}" dt="2020-05-20T15:52:37.388" v="0"/>
        <pc:sldMkLst>
          <pc:docMk/>
          <pc:sldMk cId="3715361786" sldId="1704"/>
        </pc:sldMkLst>
      </pc:sldChg>
      <pc:sldMasterChg chg="delSldLayout">
        <pc:chgData name="Wang, Wei" userId="627587dd-935f-4f2b-a6c6-edd4e0dcbff5" providerId="ADAL" clId="{298B78E7-289E-44D3-AE64-26EF3BBB669D}" dt="2020-05-20T15:53:04.557" v="166" actId="2696"/>
        <pc:sldMasterMkLst>
          <pc:docMk/>
          <pc:sldMasterMk cId="2027459739" sldId="2147483926"/>
        </pc:sldMasterMkLst>
      </pc:sldMasterChg>
      <pc:sldMasterChg chg="delSldLayout">
        <pc:chgData name="Wang, Wei" userId="627587dd-935f-4f2b-a6c6-edd4e0dcbff5" providerId="ADAL" clId="{298B78E7-289E-44D3-AE64-26EF3BBB669D}" dt="2020-05-20T15:53:08.693" v="218" actId="2696"/>
        <pc:sldMasterMkLst>
          <pc:docMk/>
          <pc:sldMasterMk cId="2216067138" sldId="2147483931"/>
        </pc:sldMasterMkLst>
      </pc:sldMasterChg>
    </pc:docChg>
  </pc:docChgLst>
  <pc:docChgLst>
    <pc:chgData name="Wang, Wei" userId="627587dd-935f-4f2b-a6c6-edd4e0dcbff5" providerId="ADAL" clId="{1767C6AC-B019-42CE-B44F-000EB4DEA8DB}"/>
    <pc:docChg chg="custSel delSld modSld">
      <pc:chgData name="Wang, Wei" userId="627587dd-935f-4f2b-a6c6-edd4e0dcbff5" providerId="ADAL" clId="{1767C6AC-B019-42CE-B44F-000EB4DEA8DB}" dt="2024-04-22T10:03:23.234" v="2"/>
      <pc:docMkLst>
        <pc:docMk/>
      </pc:docMkLst>
      <pc:sldChg chg="del">
        <pc:chgData name="Wang, Wei" userId="627587dd-935f-4f2b-a6c6-edd4e0dcbff5" providerId="ADAL" clId="{1767C6AC-B019-42CE-B44F-000EB4DEA8DB}" dt="2024-04-22T09:47:29.643" v="0" actId="47"/>
        <pc:sldMkLst>
          <pc:docMk/>
          <pc:sldMk cId="3715361786" sldId="1704"/>
        </pc:sldMkLst>
      </pc:sldChg>
      <pc:sldChg chg="addSp delSp modSp mod">
        <pc:chgData name="Wang, Wei" userId="627587dd-935f-4f2b-a6c6-edd4e0dcbff5" providerId="ADAL" clId="{1767C6AC-B019-42CE-B44F-000EB4DEA8DB}" dt="2024-04-22T10:03:23.234" v="2"/>
        <pc:sldMkLst>
          <pc:docMk/>
          <pc:sldMk cId="1652393144" sldId="3188"/>
        </pc:sldMkLst>
        <pc:spChg chg="del">
          <ac:chgData name="Wang, Wei" userId="627587dd-935f-4f2b-a6c6-edd4e0dcbff5" providerId="ADAL" clId="{1767C6AC-B019-42CE-B44F-000EB4DEA8DB}" dt="2024-04-22T10:03:22.827" v="1" actId="478"/>
          <ac:spMkLst>
            <pc:docMk/>
            <pc:sldMk cId="1652393144" sldId="3188"/>
            <ac:spMk id="4" creationId="{7454120A-9F1E-405B-A869-7F8F64F3E87B}"/>
          </ac:spMkLst>
        </pc:spChg>
        <pc:spChg chg="add mod">
          <ac:chgData name="Wang, Wei" userId="627587dd-935f-4f2b-a6c6-edd4e0dcbff5" providerId="ADAL" clId="{1767C6AC-B019-42CE-B44F-000EB4DEA8DB}" dt="2024-04-22T10:03:23.234" v="2"/>
          <ac:spMkLst>
            <pc:docMk/>
            <pc:sldMk cId="1652393144" sldId="3188"/>
            <ac:spMk id="6" creationId="{A97D8023-B50A-9FF2-997D-13CFF2BB313D}"/>
          </ac:spMkLst>
        </pc:spChg>
      </pc:sldChg>
    </pc:docChg>
  </pc:docChgLst>
  <pc:docChgLst>
    <pc:chgData name="Wang, Wei" userId="S::cstwangw@corp.jti.com::627587dd-935f-4f2b-a6c6-edd4e0dcbff5" providerId="AD" clId="Web-{2C479245-BC2B-F473-94EC-26E76B989A37}"/>
    <pc:docChg chg="modSld">
      <pc:chgData name="Wang, Wei" userId="S::cstwangw@corp.jti.com::627587dd-935f-4f2b-a6c6-edd4e0dcbff5" providerId="AD" clId="Web-{2C479245-BC2B-F473-94EC-26E76B989A37}" dt="2024-12-11T09:35:44.316" v="1" actId="20577"/>
      <pc:docMkLst>
        <pc:docMk/>
      </pc:docMkLst>
      <pc:sldChg chg="modSp">
        <pc:chgData name="Wang, Wei" userId="S::cstwangw@corp.jti.com::627587dd-935f-4f2b-a6c6-edd4e0dcbff5" providerId="AD" clId="Web-{2C479245-BC2B-F473-94EC-26E76B989A37}" dt="2024-12-11T09:35:44.316" v="1" actId="20577"/>
        <pc:sldMkLst>
          <pc:docMk/>
          <pc:sldMk cId="1701697826" sldId="2134961506"/>
        </pc:sldMkLst>
        <pc:spChg chg="mod">
          <ac:chgData name="Wang, Wei" userId="S::cstwangw@corp.jti.com::627587dd-935f-4f2b-a6c6-edd4e0dcbff5" providerId="AD" clId="Web-{2C479245-BC2B-F473-94EC-26E76B989A37}" dt="2024-12-11T09:35:44.316" v="1" actId="20577"/>
          <ac:spMkLst>
            <pc:docMk/>
            <pc:sldMk cId="1701697826" sldId="2134961506"/>
            <ac:spMk id="17" creationId="{4F5CAA80-3F26-2BA2-A4D5-E15AF5C4A70F}"/>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F17336-75D8-421A-894F-21C04EF49735}" type="doc">
      <dgm:prSet loTypeId="urn:microsoft.com/office/officeart/2005/8/layout/chevronAccent+Icon" loCatId="process" qsTypeId="urn:microsoft.com/office/officeart/2005/8/quickstyle/3d6" qsCatId="3D" csTypeId="urn:microsoft.com/office/officeart/2005/8/colors/colorful3" csCatId="colorful" phldr="1"/>
      <dgm:spPr/>
    </dgm:pt>
    <dgm:pt modelId="{C3D35222-4C1D-47C0-BDD5-0B1F39EC6FA9}">
      <dgm:prSet phldrT="[Text]"/>
      <dgm:spPr/>
      <dgm:t>
        <a:bodyPr/>
        <a:lstStyle/>
        <a:p>
          <a:r>
            <a:rPr lang="en-US"/>
            <a:t>Logistic modules closing</a:t>
          </a:r>
        </a:p>
      </dgm:t>
    </dgm:pt>
    <dgm:pt modelId="{ABDA4843-9A14-4BB6-9622-65DDE55C0CC3}" type="parTrans" cxnId="{BAC92915-D4B6-487D-A7CE-3858516887FC}">
      <dgm:prSet/>
      <dgm:spPr/>
      <dgm:t>
        <a:bodyPr/>
        <a:lstStyle/>
        <a:p>
          <a:endParaRPr lang="en-US"/>
        </a:p>
      </dgm:t>
    </dgm:pt>
    <dgm:pt modelId="{D95350C1-3985-4E9A-984B-9B70A48EB1BF}" type="sibTrans" cxnId="{BAC92915-D4B6-487D-A7CE-3858516887FC}">
      <dgm:prSet/>
      <dgm:spPr/>
      <dgm:t>
        <a:bodyPr/>
        <a:lstStyle/>
        <a:p>
          <a:endParaRPr lang="en-US"/>
        </a:p>
      </dgm:t>
    </dgm:pt>
    <dgm:pt modelId="{6BCD387F-DA42-440F-89BB-F67894D4142E}">
      <dgm:prSet phldrT="[Text]"/>
      <dgm:spPr/>
      <dgm:t>
        <a:bodyPr/>
        <a:lstStyle/>
        <a:p>
          <a:r>
            <a:rPr lang="en-US"/>
            <a:t>FI Sub-ledgers closing </a:t>
          </a:r>
          <a:r>
            <a:rPr kumimoji="0" lang="en-GB" b="0" i="1" u="none" strike="noStrike" cap="none" spc="0" normalizeH="0" baseline="30000" noProof="0">
              <a:ln w="0"/>
              <a:solidFill>
                <a:srgbClr val="FF0000"/>
              </a:solidFill>
              <a:effectLst/>
              <a:uLnTx/>
              <a:uFillTx/>
              <a:latin typeface="Calibri" panose="020F0502020204030204" pitchFamily="34" charset="0"/>
              <a:ea typeface="ＭＳ Ｐゴシック" charset="0"/>
              <a:cs typeface="+mn-cs"/>
            </a:rPr>
            <a:t>1)</a:t>
          </a:r>
          <a:endParaRPr lang="en-US"/>
        </a:p>
      </dgm:t>
    </dgm:pt>
    <dgm:pt modelId="{D3AFC359-0CAA-43B9-AB48-5C547E0BE5E8}" type="parTrans" cxnId="{6EF4D972-0ED4-4CC8-8146-DFF74B4B909D}">
      <dgm:prSet/>
      <dgm:spPr/>
      <dgm:t>
        <a:bodyPr/>
        <a:lstStyle/>
        <a:p>
          <a:endParaRPr lang="en-US"/>
        </a:p>
      </dgm:t>
    </dgm:pt>
    <dgm:pt modelId="{00ED4DBC-E785-48A4-8B93-51CC8CCB1976}" type="sibTrans" cxnId="{6EF4D972-0ED4-4CC8-8146-DFF74B4B909D}">
      <dgm:prSet/>
      <dgm:spPr/>
      <dgm:t>
        <a:bodyPr/>
        <a:lstStyle/>
        <a:p>
          <a:endParaRPr lang="en-US"/>
        </a:p>
      </dgm:t>
    </dgm:pt>
    <dgm:pt modelId="{985FBF53-747D-4EBB-BB2E-3452FCB6D092}">
      <dgm:prSet phldrT="[Text]"/>
      <dgm:spPr/>
      <dgm:t>
        <a:bodyPr/>
        <a:lstStyle/>
        <a:p>
          <a:r>
            <a:rPr lang="en-US"/>
            <a:t>Core closing activities </a:t>
          </a:r>
          <a:r>
            <a:rPr lang="en-US" b="0" i="1" baseline="30000">
              <a:solidFill>
                <a:srgbClr val="FF0000"/>
              </a:solidFill>
            </a:rPr>
            <a:t>2)</a:t>
          </a:r>
        </a:p>
      </dgm:t>
    </dgm:pt>
    <dgm:pt modelId="{3905CC70-1C76-4728-9481-EB4253865538}" type="parTrans" cxnId="{C70F4444-4375-46B1-B6BD-BBE78A484FEE}">
      <dgm:prSet/>
      <dgm:spPr/>
      <dgm:t>
        <a:bodyPr/>
        <a:lstStyle/>
        <a:p>
          <a:endParaRPr lang="en-US"/>
        </a:p>
      </dgm:t>
    </dgm:pt>
    <dgm:pt modelId="{FC5B8A3E-3DE6-4C7C-BE48-BE185211A634}" type="sibTrans" cxnId="{C70F4444-4375-46B1-B6BD-BBE78A484FEE}">
      <dgm:prSet/>
      <dgm:spPr/>
      <dgm:t>
        <a:bodyPr/>
        <a:lstStyle/>
        <a:p>
          <a:endParaRPr lang="en-US"/>
        </a:p>
      </dgm:t>
    </dgm:pt>
    <dgm:pt modelId="{65209B60-57C6-4C01-B736-1C760B93EFE3}">
      <dgm:prSet/>
      <dgm:spPr/>
      <dgm:t>
        <a:bodyPr/>
        <a:lstStyle/>
        <a:p>
          <a:r>
            <a:rPr lang="en-US"/>
            <a:t>Statutory/Tax Ledger specific closing activities</a:t>
          </a:r>
        </a:p>
      </dgm:t>
    </dgm:pt>
    <dgm:pt modelId="{551A49E0-4577-4CA2-93D3-88D11D6816CC}" type="parTrans" cxnId="{D8F3193B-02E0-46F8-BB8E-2DA171D7CBFD}">
      <dgm:prSet/>
      <dgm:spPr/>
      <dgm:t>
        <a:bodyPr/>
        <a:lstStyle/>
        <a:p>
          <a:endParaRPr lang="en-US"/>
        </a:p>
      </dgm:t>
    </dgm:pt>
    <dgm:pt modelId="{82C536EC-2549-4F6A-B3BB-137F705381E8}" type="sibTrans" cxnId="{D8F3193B-02E0-46F8-BB8E-2DA171D7CBFD}">
      <dgm:prSet/>
      <dgm:spPr/>
      <dgm:t>
        <a:bodyPr/>
        <a:lstStyle/>
        <a:p>
          <a:endParaRPr lang="en-US"/>
        </a:p>
      </dgm:t>
    </dgm:pt>
    <dgm:pt modelId="{2613ED51-8237-4624-983F-8BDECB4AA768}" type="pres">
      <dgm:prSet presAssocID="{39F17336-75D8-421A-894F-21C04EF49735}" presName="Name0" presStyleCnt="0">
        <dgm:presLayoutVars>
          <dgm:dir/>
          <dgm:resizeHandles val="exact"/>
        </dgm:presLayoutVars>
      </dgm:prSet>
      <dgm:spPr/>
    </dgm:pt>
    <dgm:pt modelId="{E7FD7161-77CF-4FA8-B1CD-3DFD60B48E0E}" type="pres">
      <dgm:prSet presAssocID="{C3D35222-4C1D-47C0-BDD5-0B1F39EC6FA9}" presName="composite" presStyleCnt="0"/>
      <dgm:spPr/>
    </dgm:pt>
    <dgm:pt modelId="{7FC63444-32DF-4D19-8FE6-4585C36A2817}" type="pres">
      <dgm:prSet presAssocID="{C3D35222-4C1D-47C0-BDD5-0B1F39EC6FA9}" presName="bgChev" presStyleLbl="node1" presStyleIdx="0" presStyleCnt="4"/>
      <dgm:spPr/>
    </dgm:pt>
    <dgm:pt modelId="{63DE2E11-0359-4E37-9F01-105CCB8F7608}" type="pres">
      <dgm:prSet presAssocID="{C3D35222-4C1D-47C0-BDD5-0B1F39EC6FA9}" presName="txNode" presStyleLbl="fgAcc1" presStyleIdx="0" presStyleCnt="4" custLinFactNeighborX="-2065">
        <dgm:presLayoutVars>
          <dgm:bulletEnabled val="1"/>
        </dgm:presLayoutVars>
      </dgm:prSet>
      <dgm:spPr/>
    </dgm:pt>
    <dgm:pt modelId="{0C298B3C-952A-4776-88AD-DE4A6CCD6BA7}" type="pres">
      <dgm:prSet presAssocID="{D95350C1-3985-4E9A-984B-9B70A48EB1BF}" presName="compositeSpace" presStyleCnt="0"/>
      <dgm:spPr/>
    </dgm:pt>
    <dgm:pt modelId="{9291B85F-490E-4452-9F90-492FC0B8B374}" type="pres">
      <dgm:prSet presAssocID="{6BCD387F-DA42-440F-89BB-F67894D4142E}" presName="composite" presStyleCnt="0"/>
      <dgm:spPr/>
    </dgm:pt>
    <dgm:pt modelId="{8C065B22-8EAE-4A0B-ACFB-56D50E63B72F}" type="pres">
      <dgm:prSet presAssocID="{6BCD387F-DA42-440F-89BB-F67894D4142E}" presName="bgChev" presStyleLbl="node1" presStyleIdx="1" presStyleCnt="4"/>
      <dgm:spPr/>
    </dgm:pt>
    <dgm:pt modelId="{A1DD7D68-15DF-4774-807C-DE0CDD02FB14}" type="pres">
      <dgm:prSet presAssocID="{6BCD387F-DA42-440F-89BB-F67894D4142E}" presName="txNode" presStyleLbl="fgAcc1" presStyleIdx="1" presStyleCnt="4">
        <dgm:presLayoutVars>
          <dgm:bulletEnabled val="1"/>
        </dgm:presLayoutVars>
      </dgm:prSet>
      <dgm:spPr/>
    </dgm:pt>
    <dgm:pt modelId="{0F4473E5-9CD5-4093-8B4E-7709AD274046}" type="pres">
      <dgm:prSet presAssocID="{00ED4DBC-E785-48A4-8B93-51CC8CCB1976}" presName="compositeSpace" presStyleCnt="0"/>
      <dgm:spPr/>
    </dgm:pt>
    <dgm:pt modelId="{3F2D608D-7CB7-499B-9163-B9809F61706A}" type="pres">
      <dgm:prSet presAssocID="{985FBF53-747D-4EBB-BB2E-3452FCB6D092}" presName="composite" presStyleCnt="0"/>
      <dgm:spPr/>
    </dgm:pt>
    <dgm:pt modelId="{A6BA79B6-F3A2-4028-BABF-28D1A9CC1175}" type="pres">
      <dgm:prSet presAssocID="{985FBF53-747D-4EBB-BB2E-3452FCB6D092}" presName="bgChev" presStyleLbl="node1" presStyleIdx="2" presStyleCnt="4"/>
      <dgm:spPr/>
    </dgm:pt>
    <dgm:pt modelId="{3A0655E1-4DD6-463A-A2EE-B41B95808AD7}" type="pres">
      <dgm:prSet presAssocID="{985FBF53-747D-4EBB-BB2E-3452FCB6D092}" presName="txNode" presStyleLbl="fgAcc1" presStyleIdx="2" presStyleCnt="4">
        <dgm:presLayoutVars>
          <dgm:bulletEnabled val="1"/>
        </dgm:presLayoutVars>
      </dgm:prSet>
      <dgm:spPr/>
    </dgm:pt>
    <dgm:pt modelId="{A7A8834C-8751-412B-AEE6-E304DF215368}" type="pres">
      <dgm:prSet presAssocID="{FC5B8A3E-3DE6-4C7C-BE48-BE185211A634}" presName="compositeSpace" presStyleCnt="0"/>
      <dgm:spPr/>
    </dgm:pt>
    <dgm:pt modelId="{44D58769-52BE-4A27-92E7-2621B1C160B5}" type="pres">
      <dgm:prSet presAssocID="{65209B60-57C6-4C01-B736-1C760B93EFE3}" presName="composite" presStyleCnt="0"/>
      <dgm:spPr/>
    </dgm:pt>
    <dgm:pt modelId="{831CCFFB-C09E-4A0E-931A-508076E6398B}" type="pres">
      <dgm:prSet presAssocID="{65209B60-57C6-4C01-B736-1C760B93EFE3}" presName="bgChev" presStyleLbl="node1" presStyleIdx="3" presStyleCnt="4"/>
      <dgm:spPr/>
    </dgm:pt>
    <dgm:pt modelId="{1281E125-C43B-4F83-BA36-39317AEEF1CE}" type="pres">
      <dgm:prSet presAssocID="{65209B60-57C6-4C01-B736-1C760B93EFE3}" presName="txNode" presStyleLbl="fgAcc1" presStyleIdx="3" presStyleCnt="4">
        <dgm:presLayoutVars>
          <dgm:bulletEnabled val="1"/>
        </dgm:presLayoutVars>
      </dgm:prSet>
      <dgm:spPr/>
    </dgm:pt>
  </dgm:ptLst>
  <dgm:cxnLst>
    <dgm:cxn modelId="{BE142E12-8A17-482D-84B3-0E13D4DC2479}" type="presOf" srcId="{6BCD387F-DA42-440F-89BB-F67894D4142E}" destId="{A1DD7D68-15DF-4774-807C-DE0CDD02FB14}" srcOrd="0" destOrd="0" presId="urn:microsoft.com/office/officeart/2005/8/layout/chevronAccent+Icon"/>
    <dgm:cxn modelId="{BAC92915-D4B6-487D-A7CE-3858516887FC}" srcId="{39F17336-75D8-421A-894F-21C04EF49735}" destId="{C3D35222-4C1D-47C0-BDD5-0B1F39EC6FA9}" srcOrd="0" destOrd="0" parTransId="{ABDA4843-9A14-4BB6-9622-65DDE55C0CC3}" sibTransId="{D95350C1-3985-4E9A-984B-9B70A48EB1BF}"/>
    <dgm:cxn modelId="{7E8F9035-D090-4DC5-AD4D-A1C250A3A63D}" type="presOf" srcId="{65209B60-57C6-4C01-B736-1C760B93EFE3}" destId="{1281E125-C43B-4F83-BA36-39317AEEF1CE}" srcOrd="0" destOrd="0" presId="urn:microsoft.com/office/officeart/2005/8/layout/chevronAccent+Icon"/>
    <dgm:cxn modelId="{D8F3193B-02E0-46F8-BB8E-2DA171D7CBFD}" srcId="{39F17336-75D8-421A-894F-21C04EF49735}" destId="{65209B60-57C6-4C01-B736-1C760B93EFE3}" srcOrd="3" destOrd="0" parTransId="{551A49E0-4577-4CA2-93D3-88D11D6816CC}" sibTransId="{82C536EC-2549-4F6A-B3BB-137F705381E8}"/>
    <dgm:cxn modelId="{C70F4444-4375-46B1-B6BD-BBE78A484FEE}" srcId="{39F17336-75D8-421A-894F-21C04EF49735}" destId="{985FBF53-747D-4EBB-BB2E-3452FCB6D092}" srcOrd="2" destOrd="0" parTransId="{3905CC70-1C76-4728-9481-EB4253865538}" sibTransId="{FC5B8A3E-3DE6-4C7C-BE48-BE185211A634}"/>
    <dgm:cxn modelId="{A1FAC570-F8DE-4DF3-B3DB-4109187414E6}" type="presOf" srcId="{39F17336-75D8-421A-894F-21C04EF49735}" destId="{2613ED51-8237-4624-983F-8BDECB4AA768}" srcOrd="0" destOrd="0" presId="urn:microsoft.com/office/officeart/2005/8/layout/chevronAccent+Icon"/>
    <dgm:cxn modelId="{6EF4D972-0ED4-4CC8-8146-DFF74B4B909D}" srcId="{39F17336-75D8-421A-894F-21C04EF49735}" destId="{6BCD387F-DA42-440F-89BB-F67894D4142E}" srcOrd="1" destOrd="0" parTransId="{D3AFC359-0CAA-43B9-AB48-5C547E0BE5E8}" sibTransId="{00ED4DBC-E785-48A4-8B93-51CC8CCB1976}"/>
    <dgm:cxn modelId="{7F3CC894-DF1E-49B9-923E-4C671819475D}" type="presOf" srcId="{985FBF53-747D-4EBB-BB2E-3452FCB6D092}" destId="{3A0655E1-4DD6-463A-A2EE-B41B95808AD7}" srcOrd="0" destOrd="0" presId="urn:microsoft.com/office/officeart/2005/8/layout/chevronAccent+Icon"/>
    <dgm:cxn modelId="{BE79D6CE-1B07-4190-A1E8-0C8234FAC68D}" type="presOf" srcId="{C3D35222-4C1D-47C0-BDD5-0B1F39EC6FA9}" destId="{63DE2E11-0359-4E37-9F01-105CCB8F7608}" srcOrd="0" destOrd="0" presId="urn:microsoft.com/office/officeart/2005/8/layout/chevronAccent+Icon"/>
    <dgm:cxn modelId="{E5B3C8AA-FC78-471C-97D5-0310DEE1D11A}" type="presParOf" srcId="{2613ED51-8237-4624-983F-8BDECB4AA768}" destId="{E7FD7161-77CF-4FA8-B1CD-3DFD60B48E0E}" srcOrd="0" destOrd="0" presId="urn:microsoft.com/office/officeart/2005/8/layout/chevronAccent+Icon"/>
    <dgm:cxn modelId="{956709A7-D160-4767-A0F5-7819243AD0F8}" type="presParOf" srcId="{E7FD7161-77CF-4FA8-B1CD-3DFD60B48E0E}" destId="{7FC63444-32DF-4D19-8FE6-4585C36A2817}" srcOrd="0" destOrd="0" presId="urn:microsoft.com/office/officeart/2005/8/layout/chevronAccent+Icon"/>
    <dgm:cxn modelId="{C1F657A6-739B-4645-9B69-BBD80D57CD82}" type="presParOf" srcId="{E7FD7161-77CF-4FA8-B1CD-3DFD60B48E0E}" destId="{63DE2E11-0359-4E37-9F01-105CCB8F7608}" srcOrd="1" destOrd="0" presId="urn:microsoft.com/office/officeart/2005/8/layout/chevronAccent+Icon"/>
    <dgm:cxn modelId="{E317BFAC-ABB6-4094-B42D-2F7659151AB5}" type="presParOf" srcId="{2613ED51-8237-4624-983F-8BDECB4AA768}" destId="{0C298B3C-952A-4776-88AD-DE4A6CCD6BA7}" srcOrd="1" destOrd="0" presId="urn:microsoft.com/office/officeart/2005/8/layout/chevronAccent+Icon"/>
    <dgm:cxn modelId="{737F5601-B116-4FA6-8750-6CDABDB52EFF}" type="presParOf" srcId="{2613ED51-8237-4624-983F-8BDECB4AA768}" destId="{9291B85F-490E-4452-9F90-492FC0B8B374}" srcOrd="2" destOrd="0" presId="urn:microsoft.com/office/officeart/2005/8/layout/chevronAccent+Icon"/>
    <dgm:cxn modelId="{6F453D41-A654-4FCF-9174-9957DC2E499D}" type="presParOf" srcId="{9291B85F-490E-4452-9F90-492FC0B8B374}" destId="{8C065B22-8EAE-4A0B-ACFB-56D50E63B72F}" srcOrd="0" destOrd="0" presId="urn:microsoft.com/office/officeart/2005/8/layout/chevronAccent+Icon"/>
    <dgm:cxn modelId="{BFC13801-5225-44F9-AE75-AC3DCBA23503}" type="presParOf" srcId="{9291B85F-490E-4452-9F90-492FC0B8B374}" destId="{A1DD7D68-15DF-4774-807C-DE0CDD02FB14}" srcOrd="1" destOrd="0" presId="urn:microsoft.com/office/officeart/2005/8/layout/chevronAccent+Icon"/>
    <dgm:cxn modelId="{87F07106-0B1B-4072-8B66-8E2580911139}" type="presParOf" srcId="{2613ED51-8237-4624-983F-8BDECB4AA768}" destId="{0F4473E5-9CD5-4093-8B4E-7709AD274046}" srcOrd="3" destOrd="0" presId="urn:microsoft.com/office/officeart/2005/8/layout/chevronAccent+Icon"/>
    <dgm:cxn modelId="{C564B9F7-5507-418C-8E3D-55971DEF1F40}" type="presParOf" srcId="{2613ED51-8237-4624-983F-8BDECB4AA768}" destId="{3F2D608D-7CB7-499B-9163-B9809F61706A}" srcOrd="4" destOrd="0" presId="urn:microsoft.com/office/officeart/2005/8/layout/chevronAccent+Icon"/>
    <dgm:cxn modelId="{23FD41C0-2954-4F0F-812B-E33E87C2DE22}" type="presParOf" srcId="{3F2D608D-7CB7-499B-9163-B9809F61706A}" destId="{A6BA79B6-F3A2-4028-BABF-28D1A9CC1175}" srcOrd="0" destOrd="0" presId="urn:microsoft.com/office/officeart/2005/8/layout/chevronAccent+Icon"/>
    <dgm:cxn modelId="{506BF064-2401-49FC-B958-B967C121B315}" type="presParOf" srcId="{3F2D608D-7CB7-499B-9163-B9809F61706A}" destId="{3A0655E1-4DD6-463A-A2EE-B41B95808AD7}" srcOrd="1" destOrd="0" presId="urn:microsoft.com/office/officeart/2005/8/layout/chevronAccent+Icon"/>
    <dgm:cxn modelId="{20D455B8-6AC8-4FE9-8450-B5028714A0FA}" type="presParOf" srcId="{2613ED51-8237-4624-983F-8BDECB4AA768}" destId="{A7A8834C-8751-412B-AEE6-E304DF215368}" srcOrd="5" destOrd="0" presId="urn:microsoft.com/office/officeart/2005/8/layout/chevronAccent+Icon"/>
    <dgm:cxn modelId="{BA863604-170B-4A3C-B908-093C34F1754B}" type="presParOf" srcId="{2613ED51-8237-4624-983F-8BDECB4AA768}" destId="{44D58769-52BE-4A27-92E7-2621B1C160B5}" srcOrd="6" destOrd="0" presId="urn:microsoft.com/office/officeart/2005/8/layout/chevronAccent+Icon"/>
    <dgm:cxn modelId="{FFE83173-0EBF-4ECF-A053-B5F7A53C2966}" type="presParOf" srcId="{44D58769-52BE-4A27-92E7-2621B1C160B5}" destId="{831CCFFB-C09E-4A0E-931A-508076E6398B}" srcOrd="0" destOrd="0" presId="urn:microsoft.com/office/officeart/2005/8/layout/chevronAccent+Icon"/>
    <dgm:cxn modelId="{73F29425-AC5F-48B7-A9BF-47E7F32F6401}" type="presParOf" srcId="{44D58769-52BE-4A27-92E7-2621B1C160B5}" destId="{1281E125-C43B-4F83-BA36-39317AEEF1CE}" srcOrd="1" destOrd="0" presId="urn:microsoft.com/office/officeart/2005/8/layout/chevronAccen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C63444-32DF-4D19-8FE6-4585C36A2817}">
      <dsp:nvSpPr>
        <dsp:cNvPr id="0" name=""/>
        <dsp:cNvSpPr/>
      </dsp:nvSpPr>
      <dsp:spPr>
        <a:xfrm>
          <a:off x="5801" y="0"/>
          <a:ext cx="2730399" cy="811422"/>
        </a:xfrm>
        <a:prstGeom prst="chevron">
          <a:avLst>
            <a:gd name="adj" fmla="val 40000"/>
          </a:avLst>
        </a:prstGeom>
        <a:solidFill>
          <a:schemeClr val="accent3">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63DE2E11-0359-4E37-9F01-105CCB8F7608}">
      <dsp:nvSpPr>
        <dsp:cNvPr id="0" name=""/>
        <dsp:cNvSpPr/>
      </dsp:nvSpPr>
      <dsp:spPr>
        <a:xfrm>
          <a:off x="686295" y="202855"/>
          <a:ext cx="2305670" cy="811422"/>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p3d z="50080" prstMaterial="plastic">
          <a:bevelT w="25400" h="25400"/>
          <a:bevelB w="25400" h="25400"/>
        </a:sp3d>
      </dsp:spPr>
      <dsp:style>
        <a:lnRef idx="1">
          <a:scrgbClr r="0" g="0" b="0"/>
        </a:lnRef>
        <a:fillRef idx="1">
          <a:scrgbClr r="0" g="0" b="0"/>
        </a:fillRef>
        <a:effectRef idx="2">
          <a:scrgbClr r="0" g="0" b="0"/>
        </a:effectRef>
        <a:fontRef idx="minor"/>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t>Logistic modules closing</a:t>
          </a:r>
        </a:p>
      </dsp:txBody>
      <dsp:txXfrm>
        <a:off x="710061" y="226621"/>
        <a:ext cx="2258138" cy="763890"/>
      </dsp:txXfrm>
    </dsp:sp>
    <dsp:sp modelId="{8C065B22-8EAE-4A0B-ACFB-56D50E63B72F}">
      <dsp:nvSpPr>
        <dsp:cNvPr id="0" name=""/>
        <dsp:cNvSpPr/>
      </dsp:nvSpPr>
      <dsp:spPr>
        <a:xfrm>
          <a:off x="3124524" y="0"/>
          <a:ext cx="2730399" cy="811422"/>
        </a:xfrm>
        <a:prstGeom prst="chevron">
          <a:avLst>
            <a:gd name="adj" fmla="val 40000"/>
          </a:avLst>
        </a:prstGeom>
        <a:solidFill>
          <a:schemeClr val="accent3">
            <a:hueOff val="2064065"/>
            <a:satOff val="-15123"/>
            <a:lumOff val="2483"/>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A1DD7D68-15DF-4774-807C-DE0CDD02FB14}">
      <dsp:nvSpPr>
        <dsp:cNvPr id="0" name=""/>
        <dsp:cNvSpPr/>
      </dsp:nvSpPr>
      <dsp:spPr>
        <a:xfrm>
          <a:off x="3852631" y="202855"/>
          <a:ext cx="2305670" cy="811422"/>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2064065"/>
              <a:satOff val="-15123"/>
              <a:lumOff val="2483"/>
              <a:alphaOff val="0"/>
            </a:schemeClr>
          </a:solidFill>
          <a:prstDash val="solid"/>
          <a:miter lim="800000"/>
        </a:ln>
        <a:effectLst/>
        <a:sp3d z="50080" prstMaterial="plastic">
          <a:bevelT w="25400" h="25400"/>
          <a:bevelB w="25400" h="25400"/>
        </a:sp3d>
      </dsp:spPr>
      <dsp:style>
        <a:lnRef idx="1">
          <a:scrgbClr r="0" g="0" b="0"/>
        </a:lnRef>
        <a:fillRef idx="1">
          <a:scrgbClr r="0" g="0" b="0"/>
        </a:fillRef>
        <a:effectRef idx="2">
          <a:scrgbClr r="0" g="0" b="0"/>
        </a:effectRef>
        <a:fontRef idx="minor"/>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t>FI Sub-ledgers closing </a:t>
          </a:r>
          <a:r>
            <a:rPr kumimoji="0" lang="en-GB" sz="1400" b="0" i="1" u="none" strike="noStrike" kern="1200" cap="none" spc="0" normalizeH="0" baseline="30000" noProof="0">
              <a:ln w="0"/>
              <a:solidFill>
                <a:srgbClr val="FF0000"/>
              </a:solidFill>
              <a:effectLst/>
              <a:uLnTx/>
              <a:uFillTx/>
              <a:latin typeface="Calibri" panose="020F0502020204030204" pitchFamily="34" charset="0"/>
              <a:ea typeface="ＭＳ Ｐゴシック" charset="0"/>
              <a:cs typeface="+mn-cs"/>
            </a:rPr>
            <a:t>1)</a:t>
          </a:r>
          <a:endParaRPr lang="en-US" sz="1400" kern="1200"/>
        </a:p>
      </dsp:txBody>
      <dsp:txXfrm>
        <a:off x="3876397" y="226621"/>
        <a:ext cx="2258138" cy="763890"/>
      </dsp:txXfrm>
    </dsp:sp>
    <dsp:sp modelId="{A6BA79B6-F3A2-4028-BABF-28D1A9CC1175}">
      <dsp:nvSpPr>
        <dsp:cNvPr id="0" name=""/>
        <dsp:cNvSpPr/>
      </dsp:nvSpPr>
      <dsp:spPr>
        <a:xfrm>
          <a:off x="6243247" y="0"/>
          <a:ext cx="2730399" cy="811422"/>
        </a:xfrm>
        <a:prstGeom prst="chevron">
          <a:avLst>
            <a:gd name="adj" fmla="val 40000"/>
          </a:avLst>
        </a:prstGeom>
        <a:solidFill>
          <a:schemeClr val="accent3">
            <a:hueOff val="4128129"/>
            <a:satOff val="-30245"/>
            <a:lumOff val="4967"/>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3A0655E1-4DD6-463A-A2EE-B41B95808AD7}">
      <dsp:nvSpPr>
        <dsp:cNvPr id="0" name=""/>
        <dsp:cNvSpPr/>
      </dsp:nvSpPr>
      <dsp:spPr>
        <a:xfrm>
          <a:off x="6971354" y="202855"/>
          <a:ext cx="2305670" cy="811422"/>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4128129"/>
              <a:satOff val="-30245"/>
              <a:lumOff val="4967"/>
              <a:alphaOff val="0"/>
            </a:schemeClr>
          </a:solidFill>
          <a:prstDash val="solid"/>
          <a:miter lim="800000"/>
        </a:ln>
        <a:effectLst/>
        <a:sp3d z="50080" prstMaterial="plastic">
          <a:bevelT w="25400" h="25400"/>
          <a:bevelB w="25400" h="25400"/>
        </a:sp3d>
      </dsp:spPr>
      <dsp:style>
        <a:lnRef idx="1">
          <a:scrgbClr r="0" g="0" b="0"/>
        </a:lnRef>
        <a:fillRef idx="1">
          <a:scrgbClr r="0" g="0" b="0"/>
        </a:fillRef>
        <a:effectRef idx="2">
          <a:scrgbClr r="0" g="0" b="0"/>
        </a:effectRef>
        <a:fontRef idx="minor"/>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t>Core closing activities </a:t>
          </a:r>
          <a:r>
            <a:rPr lang="en-US" sz="1400" b="0" i="1" kern="1200" baseline="30000">
              <a:solidFill>
                <a:srgbClr val="FF0000"/>
              </a:solidFill>
            </a:rPr>
            <a:t>2)</a:t>
          </a:r>
        </a:p>
      </dsp:txBody>
      <dsp:txXfrm>
        <a:off x="6995120" y="226621"/>
        <a:ext cx="2258138" cy="763890"/>
      </dsp:txXfrm>
    </dsp:sp>
    <dsp:sp modelId="{831CCFFB-C09E-4A0E-931A-508076E6398B}">
      <dsp:nvSpPr>
        <dsp:cNvPr id="0" name=""/>
        <dsp:cNvSpPr/>
      </dsp:nvSpPr>
      <dsp:spPr>
        <a:xfrm>
          <a:off x="9361971" y="0"/>
          <a:ext cx="2730399" cy="811422"/>
        </a:xfrm>
        <a:prstGeom prst="chevron">
          <a:avLst>
            <a:gd name="adj" fmla="val 40000"/>
          </a:avLst>
        </a:prstGeom>
        <a:solidFill>
          <a:schemeClr val="accent3">
            <a:hueOff val="6192194"/>
            <a:satOff val="-45368"/>
            <a:lumOff val="745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1281E125-C43B-4F83-BA36-39317AEEF1CE}">
      <dsp:nvSpPr>
        <dsp:cNvPr id="0" name=""/>
        <dsp:cNvSpPr/>
      </dsp:nvSpPr>
      <dsp:spPr>
        <a:xfrm>
          <a:off x="10090077" y="202855"/>
          <a:ext cx="2305670" cy="811422"/>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6192194"/>
              <a:satOff val="-45368"/>
              <a:lumOff val="7450"/>
              <a:alphaOff val="0"/>
            </a:schemeClr>
          </a:solidFill>
          <a:prstDash val="solid"/>
          <a:miter lim="800000"/>
        </a:ln>
        <a:effectLst/>
        <a:sp3d z="50080" prstMaterial="plastic">
          <a:bevelT w="25400" h="25400"/>
          <a:bevelB w="25400" h="25400"/>
        </a:sp3d>
      </dsp:spPr>
      <dsp:style>
        <a:lnRef idx="1">
          <a:scrgbClr r="0" g="0" b="0"/>
        </a:lnRef>
        <a:fillRef idx="1">
          <a:scrgbClr r="0" g="0" b="0"/>
        </a:fillRef>
        <a:effectRef idx="2">
          <a:scrgbClr r="0" g="0" b="0"/>
        </a:effectRef>
        <a:fontRef idx="minor"/>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t>Statutory/Tax Ledger specific closing activities</a:t>
          </a:r>
        </a:p>
      </dsp:txBody>
      <dsp:txXfrm>
        <a:off x="10113843" y="226621"/>
        <a:ext cx="2258138" cy="763890"/>
      </dsp:txXfrm>
    </dsp:sp>
  </dsp:spTree>
</dsp:drawing>
</file>

<file path=ppt/diagrams/layout1.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11/12/2024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944EB3-E743-414B-A21A-64E051E5FA09}" type="slidenum">
              <a:rPr lang="en-GB" smtClean="0"/>
              <a:t>4</a:t>
            </a:fld>
            <a:endParaRPr lang="en-GB"/>
          </a:p>
        </p:txBody>
      </p:sp>
    </p:spTree>
    <p:extLst>
      <p:ext uri="{BB962C8B-B14F-4D97-AF65-F5344CB8AC3E}">
        <p14:creationId xmlns:p14="http://schemas.microsoft.com/office/powerpoint/2010/main" val="39580610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8.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9.jpeg"/><Relationship Id="rId1" Type="http://schemas.openxmlformats.org/officeDocument/2006/relationships/slideMaster" Target="../slideMasters/slideMaster2.xml"/><Relationship Id="rId4" Type="http://schemas.openxmlformats.org/officeDocument/2006/relationships/image" Target="../media/image8.jpe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4.jpe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4.jpe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Project Title Slid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Date Placeholder 1"/>
          <p:cNvSpPr txBox="1">
            <a:spLocks/>
          </p:cNvSpPr>
          <p:nvPr userDrawn="1"/>
        </p:nvSpPr>
        <p:spPr>
          <a:xfrm>
            <a:off x="4151273" y="5923728"/>
            <a:ext cx="3889454"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i="0">
                <a:solidFill>
                  <a:schemeClr val="bg1"/>
                </a:solidFill>
                <a:latin typeface="+mn-lt"/>
                <a:ea typeface="Roboto" charset="0"/>
                <a:cs typeface="Roboto" charset="0"/>
              </a:rPr>
              <a:t>Simplify, Standardize, Accelerate </a:t>
            </a:r>
          </a:p>
        </p:txBody>
      </p:sp>
      <p:sp>
        <p:nvSpPr>
          <p:cNvPr id="9" name="TextBox 8"/>
          <p:cNvSpPr txBox="1"/>
          <p:nvPr userDrawn="1"/>
        </p:nvSpPr>
        <p:spPr>
          <a:xfrm>
            <a:off x="3398969" y="2345440"/>
            <a:ext cx="5387927" cy="1941342"/>
          </a:xfrm>
          <a:prstGeom prst="rect">
            <a:avLst/>
          </a:prstGeom>
          <a:noFill/>
        </p:spPr>
        <p:txBody>
          <a:bodyPr wrap="square" lIns="0" tIns="0" rIns="0" bIns="0" rtlCol="0">
            <a:noAutofit/>
          </a:bodyPr>
          <a:lstStyle/>
          <a:p>
            <a:pPr algn="l"/>
            <a:r>
              <a:rPr lang="en-US" sz="9600" b="1">
                <a:solidFill>
                  <a:schemeClr val="bg1"/>
                </a:solidFill>
                <a:latin typeface="Arial" charset="0"/>
                <a:ea typeface="Arial" charset="0"/>
                <a:cs typeface="Arial" charset="0"/>
              </a:rPr>
              <a:t>S4F-ERP</a:t>
            </a:r>
          </a:p>
        </p:txBody>
      </p:sp>
      <p:sp>
        <p:nvSpPr>
          <p:cNvPr id="10" name="Rectangle 9"/>
          <p:cNvSpPr/>
          <p:nvPr userDrawn="1"/>
        </p:nvSpPr>
        <p:spPr>
          <a:xfrm>
            <a:off x="5517737" y="1642984"/>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userDrawn="1"/>
        </p:nvSpPr>
        <p:spPr>
          <a:xfrm>
            <a:off x="4271627" y="4115677"/>
            <a:ext cx="3642610" cy="704538"/>
          </a:xfrm>
          <a:prstGeom prst="rect">
            <a:avLst/>
          </a:prstGeom>
          <a:noFill/>
        </p:spPr>
        <p:txBody>
          <a:bodyPr wrap="square" lIns="0" tIns="0" rIns="0" bIns="0" rtlCol="0">
            <a:noAutofit/>
          </a:bodyPr>
          <a:lstStyle/>
          <a:p>
            <a:pPr algn="ctr"/>
            <a:r>
              <a:rPr lang="en-US" spc="1000">
                <a:solidFill>
                  <a:schemeClr val="bg1"/>
                </a:solidFill>
                <a:latin typeface="Arial" charset="0"/>
                <a:ea typeface="Arial" charset="0"/>
                <a:cs typeface="Arial" charset="0"/>
              </a:rPr>
              <a:t>PROJECT</a:t>
            </a:r>
          </a:p>
        </p:txBody>
      </p:sp>
      <p:sp>
        <p:nvSpPr>
          <p:cNvPr id="12" name="Rectangle 11"/>
          <p:cNvSpPr/>
          <p:nvPr userDrawn="1"/>
        </p:nvSpPr>
        <p:spPr>
          <a:xfrm>
            <a:off x="5517737" y="5047786"/>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775643" y="498252"/>
            <a:ext cx="634576" cy="474992"/>
          </a:xfrm>
          <a:prstGeom prst="rect">
            <a:avLst/>
          </a:prstGeom>
        </p:spPr>
      </p:pic>
    </p:spTree>
    <p:extLst>
      <p:ext uri="{BB962C8B-B14F-4D97-AF65-F5344CB8AC3E}">
        <p14:creationId xmlns:p14="http://schemas.microsoft.com/office/powerpoint/2010/main" val="1063780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3343037" cy="6858001"/>
          </a:xfrm>
          <a:prstGeom prst="rect">
            <a:avLst/>
          </a:prstGeom>
        </p:spPr>
      </p:pic>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10" name="Content Placeholder 2"/>
          <p:cNvSpPr>
            <a:spLocks noGrp="1"/>
          </p:cNvSpPr>
          <p:nvPr>
            <p:ph idx="1"/>
          </p:nvPr>
        </p:nvSpPr>
        <p:spPr>
          <a:xfrm>
            <a:off x="5792779" y="987425"/>
            <a:ext cx="5561021" cy="4873625"/>
          </a:xfrm>
        </p:spPr>
        <p:txBody>
          <a:bodyPr>
            <a:normAutofit/>
          </a:bodyPr>
          <a:lstStyle>
            <a:lvl1pPr>
              <a:defRPr sz="2000">
                <a:latin typeface="Arial" charset="0"/>
                <a:ea typeface="Arial" charset="0"/>
                <a:cs typeface="Arial" charset="0"/>
              </a:defRPr>
            </a:lvl1pPr>
            <a:lvl2pPr>
              <a:defRPr sz="1800">
                <a:latin typeface="Arial" charset="0"/>
                <a:ea typeface="Arial" charset="0"/>
                <a:cs typeface="Arial" charset="0"/>
              </a:defRPr>
            </a:lvl2pPr>
            <a:lvl3pPr>
              <a:defRPr sz="1600">
                <a:latin typeface="Arial" charset="0"/>
                <a:ea typeface="Arial" charset="0"/>
                <a:cs typeface="Arial" charset="0"/>
              </a:defRPr>
            </a:lvl3pPr>
            <a:lvl4pPr>
              <a:defRPr sz="1400">
                <a:latin typeface="Arial" charset="0"/>
                <a:ea typeface="Arial" charset="0"/>
                <a:cs typeface="Arial" charset="0"/>
              </a:defRPr>
            </a:lvl4pPr>
            <a:lvl5pPr>
              <a:defRPr sz="1400">
                <a:latin typeface="Arial" charset="0"/>
                <a:ea typeface="Arial" charset="0"/>
                <a:cs typeface="Arial"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p:cNvSpPr txBox="1"/>
          <p:nvPr userDrawn="1"/>
        </p:nvSpPr>
        <p:spPr>
          <a:xfrm>
            <a:off x="141298" y="2139775"/>
            <a:ext cx="2989658" cy="1941342"/>
          </a:xfrm>
          <a:prstGeom prst="rect">
            <a:avLst/>
          </a:prstGeom>
          <a:noFill/>
        </p:spPr>
        <p:txBody>
          <a:bodyPr wrap="square" lIns="0" tIns="0" rIns="0" bIns="0" rtlCol="0">
            <a:noAutofit/>
          </a:bodyPr>
          <a:lstStyle/>
          <a:p>
            <a:pPr algn="ctr"/>
            <a:r>
              <a:rPr lang="en-US" sz="4400" b="1">
                <a:solidFill>
                  <a:schemeClr val="bg1"/>
                </a:solidFill>
                <a:latin typeface="Arial" charset="0"/>
                <a:ea typeface="Arial" charset="0"/>
                <a:cs typeface="Arial" charset="0"/>
              </a:rPr>
              <a:t>S4F-ERP</a:t>
            </a:r>
          </a:p>
        </p:txBody>
      </p:sp>
      <p:sp>
        <p:nvSpPr>
          <p:cNvPr id="12" name="Rectangle 11"/>
          <p:cNvSpPr/>
          <p:nvPr userDrawn="1"/>
        </p:nvSpPr>
        <p:spPr>
          <a:xfrm>
            <a:off x="1060932"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3" name="Rectangle 12"/>
          <p:cNvSpPr/>
          <p:nvPr userDrawn="1"/>
        </p:nvSpPr>
        <p:spPr>
          <a:xfrm>
            <a:off x="1060932"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Date Placeholder 1"/>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a:solidFill>
                  <a:schemeClr val="bg1"/>
                </a:solidFill>
                <a:latin typeface="+mn-lt"/>
                <a:ea typeface="Roboto" charset="0"/>
                <a:cs typeface="Roboto" charset="0"/>
              </a:rPr>
              <a:t>Simplify, Standardize, Accelerate </a:t>
            </a:r>
          </a:p>
        </p:txBody>
      </p:sp>
      <p:sp>
        <p:nvSpPr>
          <p:cNvPr id="15" name="Rectangle 14"/>
          <p:cNvSpPr/>
          <p:nvPr userDrawn="1"/>
        </p:nvSpPr>
        <p:spPr>
          <a:xfrm>
            <a:off x="4731547" y="1017332"/>
            <a:ext cx="250825" cy="58406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pic>
        <p:nvPicPr>
          <p:cNvPr id="16" name="Picture 15">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15690" y="365125"/>
            <a:ext cx="576887" cy="431811"/>
          </a:xfrm>
          <a:prstGeom prst="rect">
            <a:avLst/>
          </a:prstGeom>
        </p:spPr>
      </p:pic>
      <p:sp>
        <p:nvSpPr>
          <p:cNvPr id="17" name="TextBox 16"/>
          <p:cNvSpPr txBox="1"/>
          <p:nvPr userDrawn="1"/>
        </p:nvSpPr>
        <p:spPr>
          <a:xfrm>
            <a:off x="389295" y="3213617"/>
            <a:ext cx="2493664" cy="704538"/>
          </a:xfrm>
          <a:prstGeom prst="rect">
            <a:avLst/>
          </a:prstGeom>
          <a:noFill/>
        </p:spPr>
        <p:txBody>
          <a:bodyPr wrap="square" lIns="0" tIns="0" rIns="0" bIns="0" rtlCol="0">
            <a:noAutofit/>
          </a:bodyPr>
          <a:lstStyle/>
          <a:p>
            <a:pPr algn="ctr"/>
            <a:r>
              <a:rPr lang="en-US" sz="1600" spc="1000">
                <a:solidFill>
                  <a:schemeClr val="bg1"/>
                </a:solidFill>
                <a:latin typeface="Arial" charset="0"/>
                <a:ea typeface="Arial" charset="0"/>
                <a:cs typeface="Arial" charset="0"/>
              </a:rPr>
              <a:t>PROJECT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1"/>
            <a:ext cx="3332215" cy="6858001"/>
          </a:xfrm>
          <a:prstGeom prst="rect">
            <a:avLst/>
          </a:prstGeom>
        </p:spPr>
      </p:pic>
      <p:sp>
        <p:nvSpPr>
          <p:cNvPr id="6" name="Slide Number Placeholder 5"/>
          <p:cNvSpPr>
            <a:spLocks noGrp="1"/>
          </p:cNvSpPr>
          <p:nvPr>
            <p:ph type="sldNum" sz="quarter" idx="12"/>
          </p:nvPr>
        </p:nvSpPr>
        <p:spPr>
          <a:xfrm>
            <a:off x="9448800" y="6492875"/>
            <a:ext cx="2743200" cy="365125"/>
          </a:xfrm>
        </p:spPr>
        <p:txBody>
          <a:bodyPr/>
          <a:lstStyle>
            <a:lvl1pPr>
              <a:defRPr sz="800"/>
            </a:lvl1pPr>
          </a:lstStyle>
          <a:p>
            <a:fld id="{1A6A2304-23DC-2B46-BD14-F082077842FF}" type="slidenum">
              <a:rPr lang="en-US" smtClean="0"/>
              <a:pPr/>
              <a:t>‹#›</a:t>
            </a:fld>
            <a:endParaRPr lang="en-US"/>
          </a:p>
        </p:txBody>
      </p:sp>
      <p:sp>
        <p:nvSpPr>
          <p:cNvPr id="12" name="Date Placeholder 1"/>
          <p:cNvSpPr txBox="1">
            <a:spLocks/>
          </p:cNvSpPr>
          <p:nvPr/>
        </p:nvSpPr>
        <p:spPr>
          <a:xfrm>
            <a:off x="-308599" y="5855770"/>
            <a:ext cx="3889454"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1">
                <a:solidFill>
                  <a:schemeClr val="bg1"/>
                </a:solidFill>
                <a:latin typeface="Roboto" charset="0"/>
                <a:ea typeface="Roboto" charset="0"/>
                <a:cs typeface="Roboto" charset="0"/>
              </a:rPr>
              <a:t>Simplify, Standardize, Accelerate </a:t>
            </a:r>
          </a:p>
        </p:txBody>
      </p:sp>
      <p:sp>
        <p:nvSpPr>
          <p:cNvPr id="8" name="Rectangle 7"/>
          <p:cNvSpPr/>
          <p:nvPr userDrawn="1"/>
        </p:nvSpPr>
        <p:spPr>
          <a:xfrm>
            <a:off x="1060933" y="1604524"/>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1A3140"/>
              </a:solidFill>
            </a:endParaRPr>
          </a:p>
        </p:txBody>
      </p:sp>
      <p:sp>
        <p:nvSpPr>
          <p:cNvPr id="9" name="Rectangle 8"/>
          <p:cNvSpPr/>
          <p:nvPr userDrawn="1"/>
        </p:nvSpPr>
        <p:spPr>
          <a:xfrm>
            <a:off x="1060933" y="4091122"/>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Tree>
    <p:extLst>
      <p:ext uri="{BB962C8B-B14F-4D97-AF65-F5344CB8AC3E}">
        <p14:creationId xmlns:p14="http://schemas.microsoft.com/office/powerpoint/2010/main" val="4061941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Image Title 01">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647272"/>
            <a:ext cx="12192001" cy="4498847"/>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8" name="Picture 7"/>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Image Title 0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633845"/>
            <a:ext cx="12201057" cy="4499140"/>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10" name="Picture 9"/>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extLst>
      <p:ext uri="{BB962C8B-B14F-4D97-AF65-F5344CB8AC3E}">
        <p14:creationId xmlns:p14="http://schemas.microsoft.com/office/powerpoint/2010/main" val="379269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Spectrum Title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45274"/>
            <a:ext cx="12193587" cy="5001275"/>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16504723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1882155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16365895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grpSp>
        <p:nvGrpSpPr>
          <p:cNvPr id="6" name="Group 5"/>
          <p:cNvGrpSpPr/>
          <p:nvPr userDrawn="1"/>
        </p:nvGrpSpPr>
        <p:grpSpPr>
          <a:xfrm>
            <a:off x="10086109" y="417870"/>
            <a:ext cx="2105891" cy="569193"/>
            <a:chOff x="10086109" y="5763491"/>
            <a:chExt cx="2105891" cy="569193"/>
          </a:xfrm>
        </p:grpSpPr>
        <p:sp>
          <p:nvSpPr>
            <p:cNvPr id="7" name="Rectangle 6"/>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8" name="Group 7"/>
            <p:cNvGrpSpPr/>
            <p:nvPr/>
          </p:nvGrpSpPr>
          <p:grpSpPr>
            <a:xfrm>
              <a:off x="10538695" y="5812704"/>
              <a:ext cx="1343888" cy="519980"/>
              <a:chOff x="515938" y="466803"/>
              <a:chExt cx="2499478" cy="967103"/>
            </a:xfrm>
          </p:grpSpPr>
          <p:grpSp>
            <p:nvGrpSpPr>
              <p:cNvPr id="9" name="Group 8"/>
              <p:cNvGrpSpPr/>
              <p:nvPr/>
            </p:nvGrpSpPr>
            <p:grpSpPr>
              <a:xfrm>
                <a:off x="515938" y="466803"/>
                <a:ext cx="281354" cy="780960"/>
                <a:chOff x="4342156" y="2541184"/>
                <a:chExt cx="219003" cy="683186"/>
              </a:xfrm>
            </p:grpSpPr>
            <p:sp>
              <p:nvSpPr>
                <p:cNvPr id="11" name="Rectangle 10"/>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2" name="Rounded Rectangle 11"/>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0" name="TextBox 9"/>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2394968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2659349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Divider 02">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6739993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04">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4819338"/>
            <a:ext cx="8961437" cy="1463192"/>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le Only 0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5" name="TextBox 4">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7" name="Title 6"/>
          <p:cNvSpPr>
            <a:spLocks noGrp="1"/>
          </p:cNvSpPr>
          <p:nvPr>
            <p:ph type="title"/>
          </p:nvPr>
        </p:nvSpPr>
        <p:spPr/>
        <p:txBody>
          <a:bodyPr/>
          <a:lstStyle/>
          <a:p>
            <a:r>
              <a:rPr lang="en-US"/>
              <a:t>Click to edit Master title style</a:t>
            </a:r>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023055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836832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3916663" y="1945294"/>
            <a:ext cx="4405534" cy="1971681"/>
          </a:xfrm>
          <a:prstGeom prst="rect">
            <a:avLst/>
          </a:prstGeom>
          <a:noFill/>
        </p:spPr>
        <p:txBody>
          <a:bodyPr wrap="square" lIns="0" tIns="0" rIns="0" bIns="0" rtlCol="0">
            <a:noAutofit/>
          </a:bodyPr>
          <a:lstStyle/>
          <a:p>
            <a:pPr algn="l"/>
            <a:r>
              <a:rPr lang="en-US" sz="15000" b="1" i="0">
                <a:solidFill>
                  <a:schemeClr val="bg1"/>
                </a:solidFill>
                <a:latin typeface="Arial" charset="0"/>
                <a:ea typeface="Arial" charset="0"/>
                <a:cs typeface="Arial" charset="0"/>
              </a:rPr>
              <a:t>Q&amp;A</a:t>
            </a:r>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rgbClr val="A7E6E4"/>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6" name="TextBox 15">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sp>
        <p:nvSpPr>
          <p:cNvPr id="18" name="TextBox 1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7" name="TextBox 16">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770608" y="2544869"/>
            <a:ext cx="2650782" cy="1984161"/>
          </a:xfrm>
          <a:prstGeom prst="rect">
            <a:avLst/>
          </a:prstGeom>
        </p:spPr>
      </p:pic>
      <p:sp>
        <p:nvSpPr>
          <p:cNvPr id="6" name="TextBox 5">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6697118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448800" y="6484902"/>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12287486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S4F-ERP Knowledge Transfer</a:t>
            </a:r>
          </a:p>
        </p:txBody>
      </p:sp>
      <p:sp>
        <p:nvSpPr>
          <p:cNvPr id="4" name="Slide Number Placeholder 3"/>
          <p:cNvSpPr>
            <a:spLocks noGrp="1"/>
          </p:cNvSpPr>
          <p:nvPr>
            <p:ph type="sldNum" sz="quarter" idx="12"/>
          </p:nvPr>
        </p:nvSpPr>
        <p:spPr>
          <a:xfrm>
            <a:off x="9448800" y="6492875"/>
            <a:ext cx="2743200" cy="365125"/>
          </a:xfrm>
        </p:spPr>
        <p:txBody>
          <a:bodyPr/>
          <a:lstStyle>
            <a:lvl1pPr>
              <a:defRPr sz="800"/>
            </a:lvl1pPr>
          </a:lstStyle>
          <a:p>
            <a:fld id="{1A6A2304-23DC-2B46-BD14-F082077842FF}" type="slidenum">
              <a:rPr lang="en-US" smtClean="0"/>
              <a:pPr/>
              <a:t>‹#›</a:t>
            </a:fld>
            <a:endParaRPr lang="en-US"/>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6" name="TextBox 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spTree>
    <p:extLst>
      <p:ext uri="{BB962C8B-B14F-4D97-AF65-F5344CB8AC3E}">
        <p14:creationId xmlns:p14="http://schemas.microsoft.com/office/powerpoint/2010/main" val="2804075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3" Type="http://schemas.openxmlformats.org/officeDocument/2006/relationships/slideLayout" Target="../slideLayouts/slideLayout7.xml"/><Relationship Id="rId21" Type="http://schemas.openxmlformats.org/officeDocument/2006/relationships/slideLayout" Target="../slideLayouts/slideLayout25.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5" Type="http://schemas.openxmlformats.org/officeDocument/2006/relationships/theme" Target="../theme/theme2.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0" Type="http://schemas.openxmlformats.org/officeDocument/2006/relationships/slideLayout" Target="../slideLayouts/slideLayout24.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24" Type="http://schemas.openxmlformats.org/officeDocument/2006/relationships/slideLayout" Target="../slideLayouts/slideLayout28.xml"/><Relationship Id="rId5" Type="http://schemas.openxmlformats.org/officeDocument/2006/relationships/slideLayout" Target="../slideLayouts/slideLayout9.xml"/><Relationship Id="rId15" Type="http://schemas.openxmlformats.org/officeDocument/2006/relationships/slideLayout" Target="../slideLayouts/slideLayout19.xml"/><Relationship Id="rId23" Type="http://schemas.openxmlformats.org/officeDocument/2006/relationships/slideLayout" Target="../slideLayouts/slideLayout27.xml"/><Relationship Id="rId10" Type="http://schemas.openxmlformats.org/officeDocument/2006/relationships/slideLayout" Target="../slideLayouts/slideLayout14.xml"/><Relationship Id="rId19" Type="http://schemas.openxmlformats.org/officeDocument/2006/relationships/slideLayout" Target="../slideLayouts/slideLayout23.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 Id="rId22"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theme" Target="../theme/theme3.xml"/><Relationship Id="rId5" Type="http://schemas.openxmlformats.org/officeDocument/2006/relationships/slideLayout" Target="../slideLayouts/slideLayout33.xml"/><Relationship Id="rId4"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slideLayout" Target="../slideLayouts/slideLayout35.xml"/><Relationship Id="rId1" Type="http://schemas.openxmlformats.org/officeDocument/2006/relationships/slideLayout" Target="../slideLayouts/slideLayout34.xml"/><Relationship Id="rId5" Type="http://schemas.openxmlformats.org/officeDocument/2006/relationships/theme" Target="../theme/theme4.xml"/><Relationship Id="rId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583574900"/>
      </p:ext>
    </p:extLst>
  </p:cSld>
  <p:clrMap bg1="lt1" tx1="dk1" bg2="lt2" tx2="dk2" accent1="accent1" accent2="accent2" accent3="accent3" accent4="accent4" accent5="accent5" accent6="accent6" hlink="hlink" folHlink="folHlink"/>
  <p:sldLayoutIdLst>
    <p:sldLayoutId id="2147483686" r:id="rId1"/>
    <p:sldLayoutId id="2147483696" r:id="rId2"/>
    <p:sldLayoutId id="2147483818" r:id="rId3"/>
    <p:sldLayoutId id="2147483692" r:id="rId4"/>
    <p:sldLayoutId id="2147483668" r:id="rId5"/>
    <p:sldLayoutId id="2147483695" r:id="rId6"/>
    <p:sldLayoutId id="2147483650" r:id="rId7"/>
    <p:sldLayoutId id="2147483657" r:id="rId8"/>
    <p:sldLayoutId id="2147483654" r:id="rId9"/>
    <p:sldLayoutId id="2147483679" r:id="rId10"/>
    <p:sldLayoutId id="2147483664" r:id="rId11"/>
    <p:sldLayoutId id="2147483688" r:id="rId12"/>
    <p:sldLayoutId id="2147483700" r:id="rId13"/>
    <p:sldLayoutId id="2147483701" r:id="rId14"/>
    <p:sldLayoutId id="2147483698" r:id="rId15"/>
    <p:sldLayoutId id="2147483699" r:id="rId16"/>
    <p:sldLayoutId id="2147483655" r:id="rId17"/>
    <p:sldLayoutId id="2147483693" r:id="rId18"/>
    <p:sldLayoutId id="2147483685" r:id="rId19"/>
    <p:sldLayoutId id="2147483691" r:id="rId20"/>
    <p:sldLayoutId id="2147483684" r:id="rId21"/>
    <p:sldLayoutId id="2147483717" r:id="rId22"/>
    <p:sldLayoutId id="2147483817" r:id="rId23"/>
    <p:sldLayoutId id="2147483819" r:id="rId2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userDrawn="1">
          <p15:clr>
            <a:srgbClr val="F26B43"/>
          </p15:clr>
        </p15:guide>
        <p15:guide id="9" orient="horz" pos="216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png"/><Relationship Id="rId10" Type="http://schemas.microsoft.com/office/2007/relationships/hdphoto" Target="../media/hdphoto2.wdp"/><Relationship Id="rId4" Type="http://schemas.openxmlformats.org/officeDocument/2006/relationships/image" Target="../media/image20.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emf"/><Relationship Id="rId1" Type="http://schemas.openxmlformats.org/officeDocument/2006/relationships/slideLayout" Target="../slideLayouts/slideLayout2.xml"/><Relationship Id="rId5" Type="http://schemas.openxmlformats.org/officeDocument/2006/relationships/image" Target="../media/image28.sv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1A6A2304-23DC-2B46-BD14-F082077842FF}" type="slidenum">
              <a:rPr lang="en-US" smtClean="0"/>
              <a:pPr/>
              <a:t>1</a:t>
            </a:fld>
            <a:endParaRPr lang="en-US"/>
          </a:p>
        </p:txBody>
      </p:sp>
    </p:spTree>
    <p:extLst>
      <p:ext uri="{BB962C8B-B14F-4D97-AF65-F5344CB8AC3E}">
        <p14:creationId xmlns:p14="http://schemas.microsoft.com/office/powerpoint/2010/main" val="1859003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cap="none"/>
              <a:t>PERIOD END CLOSING EXECUTION (BSC)</a:t>
            </a:r>
            <a:endParaRPr lang="en-GB"/>
          </a:p>
        </p:txBody>
      </p:sp>
    </p:spTree>
    <p:extLst>
      <p:ext uri="{BB962C8B-B14F-4D97-AF65-F5344CB8AC3E}">
        <p14:creationId xmlns:p14="http://schemas.microsoft.com/office/powerpoint/2010/main" val="1292908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p:cNvSpPr>
            <a:spLocks noGrp="1"/>
          </p:cNvSpPr>
          <p:nvPr>
            <p:ph type="sldNum" sz="quarter" idx="12"/>
          </p:nvPr>
        </p:nvSpPr>
        <p:spPr/>
        <p:txBody>
          <a:bodyPr/>
          <a:lstStyle/>
          <a:p>
            <a:fld id="{F4C94289-3309-4C35-850A-56FD49B3E346}" type="slidenum">
              <a:rPr lang="en-GB" smtClean="0"/>
              <a:pPr/>
              <a:t>3</a:t>
            </a:fld>
            <a:endParaRPr lang="en-GB"/>
          </a:p>
        </p:txBody>
      </p:sp>
      <p:sp>
        <p:nvSpPr>
          <p:cNvPr id="34" name="Title 33"/>
          <p:cNvSpPr>
            <a:spLocks noGrp="1"/>
          </p:cNvSpPr>
          <p:nvPr>
            <p:ph type="title"/>
          </p:nvPr>
        </p:nvSpPr>
        <p:spPr/>
        <p:txBody>
          <a:bodyPr/>
          <a:lstStyle/>
          <a:p>
            <a:r>
              <a:rPr lang="en-GB"/>
              <a:t>Period End Closing Execution (BSC) </a:t>
            </a:r>
          </a:p>
        </p:txBody>
      </p:sp>
      <p:cxnSp>
        <p:nvCxnSpPr>
          <p:cNvPr id="8" name="Elbow Connector 7"/>
          <p:cNvCxnSpPr>
            <a:cxnSpLocks/>
          </p:cNvCxnSpPr>
          <p:nvPr/>
        </p:nvCxnSpPr>
        <p:spPr>
          <a:xfrm rot="16200000" flipH="1">
            <a:off x="2744086" y="4077167"/>
            <a:ext cx="1967667" cy="740429"/>
          </a:xfrm>
          <a:prstGeom prst="bentConnector3">
            <a:avLst>
              <a:gd name="adj1" fmla="val 9964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3379734" y="3632028"/>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p:cNvCxnSpPr>
          <p:nvPr/>
        </p:nvCxnSpPr>
        <p:spPr>
          <a:xfrm>
            <a:off x="3357704" y="4536961"/>
            <a:ext cx="740428"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4234198" y="2439972"/>
            <a:ext cx="609852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chemeClr val="bg1"/>
                </a:solidFill>
                <a:latin typeface="Arial" charset="0"/>
                <a:ea typeface="Arial" charset="0"/>
                <a:cs typeface="Arial" charset="0"/>
              </a:rPr>
              <a:t>Period End Closing Overview</a:t>
            </a:r>
            <a:endParaRPr lang="en-GB" sz="1400">
              <a:solidFill>
                <a:schemeClr val="bg1"/>
              </a:solidFill>
            </a:endParaRPr>
          </a:p>
        </p:txBody>
      </p:sp>
      <p:sp>
        <p:nvSpPr>
          <p:cNvPr id="40" name="Rounded Rectangle 39"/>
          <p:cNvSpPr/>
          <p:nvPr/>
        </p:nvSpPr>
        <p:spPr>
          <a:xfrm>
            <a:off x="4234198" y="3353104"/>
            <a:ext cx="609852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GB" sz="1400" b="1">
                <a:solidFill>
                  <a:schemeClr val="bg1"/>
                </a:solidFill>
                <a:ea typeface="Arial" charset="0"/>
                <a:cs typeface="Arial"/>
              </a:rPr>
              <a:t>Period End Closing Key Process Areas and New Period End Checks</a:t>
            </a:r>
          </a:p>
        </p:txBody>
      </p:sp>
      <p:sp>
        <p:nvSpPr>
          <p:cNvPr id="41" name="Rounded Rectangle 40"/>
          <p:cNvSpPr/>
          <p:nvPr/>
        </p:nvSpPr>
        <p:spPr>
          <a:xfrm>
            <a:off x="4234198" y="4266236"/>
            <a:ext cx="609852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chemeClr val="bg1"/>
                </a:solidFill>
                <a:latin typeface="Arial" charset="0"/>
                <a:ea typeface="Arial" charset="0"/>
                <a:cs typeface="Arial" charset="0"/>
              </a:rPr>
              <a:t>Post Closing Activities</a:t>
            </a:r>
            <a:endParaRPr lang="en-GB" sz="1400">
              <a:solidFill>
                <a:schemeClr val="bg1"/>
              </a:solidFill>
            </a:endParaRPr>
          </a:p>
        </p:txBody>
      </p:sp>
      <p:sp>
        <p:nvSpPr>
          <p:cNvPr id="42" name="Rounded Rectangle 41"/>
          <p:cNvSpPr/>
          <p:nvPr/>
        </p:nvSpPr>
        <p:spPr>
          <a:xfrm>
            <a:off x="4234198" y="5179367"/>
            <a:ext cx="609852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chemeClr val="bg1"/>
                </a:solidFill>
                <a:cs typeface="Arial"/>
              </a:rPr>
              <a:t>Year End Specific Closing Activities</a:t>
            </a:r>
            <a:endParaRPr lang="en-GB" sz="1400" b="1">
              <a:solidFill>
                <a:schemeClr val="bg1"/>
              </a:solidFill>
              <a:latin typeface="Arial"/>
              <a:cs typeface="Arial"/>
            </a:endParaRPr>
          </a:p>
        </p:txBody>
      </p:sp>
      <p:cxnSp>
        <p:nvCxnSpPr>
          <p:cNvPr id="17" name="Connector: Elbow 16">
            <a:extLst>
              <a:ext uri="{FF2B5EF4-FFF2-40B4-BE49-F238E27FC236}">
                <a16:creationId xmlns:a16="http://schemas.microsoft.com/office/drawing/2014/main" id="{0F65B0DB-7517-46A1-8934-276D3565448D}"/>
              </a:ext>
            </a:extLst>
          </p:cNvPr>
          <p:cNvCxnSpPr>
            <a:cxnSpLocks/>
          </p:cNvCxnSpPr>
          <p:nvPr/>
        </p:nvCxnSpPr>
        <p:spPr>
          <a:xfrm rot="10800000" flipV="1">
            <a:off x="2487149" y="2727095"/>
            <a:ext cx="1642156" cy="904932"/>
          </a:xfrm>
          <a:prstGeom prst="bentConnector3">
            <a:avLst>
              <a:gd name="adj1" fmla="val 46836"/>
            </a:avLst>
          </a:prstGeom>
          <a:ln w="28575">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79D84CA8-1570-4568-81C4-DA4A4A6EAA20}"/>
              </a:ext>
            </a:extLst>
          </p:cNvPr>
          <p:cNvGrpSpPr/>
          <p:nvPr/>
        </p:nvGrpSpPr>
        <p:grpSpPr>
          <a:xfrm>
            <a:off x="762742" y="2727095"/>
            <a:ext cx="1821250" cy="1809866"/>
            <a:chOff x="515937" y="326276"/>
            <a:chExt cx="902611" cy="902611"/>
          </a:xfrm>
        </p:grpSpPr>
        <p:grpSp>
          <p:nvGrpSpPr>
            <p:cNvPr id="50" name="Group 49">
              <a:extLst>
                <a:ext uri="{FF2B5EF4-FFF2-40B4-BE49-F238E27FC236}">
                  <a16:creationId xmlns:a16="http://schemas.microsoft.com/office/drawing/2014/main" id="{7AD3D2AB-812B-4EEB-8A6B-C310FC95D81F}"/>
                </a:ext>
              </a:extLst>
            </p:cNvPr>
            <p:cNvGrpSpPr/>
            <p:nvPr/>
          </p:nvGrpSpPr>
          <p:grpSpPr>
            <a:xfrm>
              <a:off x="515937" y="326276"/>
              <a:ext cx="902611" cy="902611"/>
              <a:chOff x="4492144" y="190843"/>
              <a:chExt cx="855656" cy="855656"/>
            </a:xfrm>
          </p:grpSpPr>
          <p:sp>
            <p:nvSpPr>
              <p:cNvPr id="52" name="Oval 51">
                <a:extLst>
                  <a:ext uri="{FF2B5EF4-FFF2-40B4-BE49-F238E27FC236}">
                    <a16:creationId xmlns:a16="http://schemas.microsoft.com/office/drawing/2014/main" id="{2BABECE1-DBAB-4194-B8BA-B5C33B4B683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4" name="Oval 53">
                <a:extLst>
                  <a:ext uri="{FF2B5EF4-FFF2-40B4-BE49-F238E27FC236}">
                    <a16:creationId xmlns:a16="http://schemas.microsoft.com/office/drawing/2014/main" id="{503EC1E2-1AA5-4CB4-AF33-999BAD7FA59F}"/>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1" name="Picture 50">
              <a:extLst>
                <a:ext uri="{FF2B5EF4-FFF2-40B4-BE49-F238E27FC236}">
                  <a16:creationId xmlns:a16="http://schemas.microsoft.com/office/drawing/2014/main" id="{D7E63B56-5370-4BAA-8D45-F6BC2DA8B76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082923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0" y="1340603"/>
            <a:ext cx="12192000" cy="4897465"/>
          </a:xfrm>
          <a:prstGeom prst="rect">
            <a:avLst/>
          </a:prstGeom>
        </p:spPr>
      </p:pic>
      <p:sp>
        <p:nvSpPr>
          <p:cNvPr id="3" name="Slide Number Placeholder 2"/>
          <p:cNvSpPr>
            <a:spLocks noGrp="1"/>
          </p:cNvSpPr>
          <p:nvPr>
            <p:ph type="sldNum" sz="quarter" idx="12"/>
          </p:nvPr>
        </p:nvSpPr>
        <p:spPr/>
        <p:txBody>
          <a:bodyPr/>
          <a:lstStyle/>
          <a:p>
            <a:fld id="{F4C94289-3309-4C35-850A-56FD49B3E346}" type="slidenum">
              <a:rPr lang="en-GB" smtClean="0"/>
              <a:pPr/>
              <a:t>4</a:t>
            </a:fld>
            <a:endParaRPr lang="en-GB"/>
          </a:p>
        </p:txBody>
      </p:sp>
      <p:sp>
        <p:nvSpPr>
          <p:cNvPr id="34" name="Title 33"/>
          <p:cNvSpPr>
            <a:spLocks noGrp="1"/>
          </p:cNvSpPr>
          <p:nvPr>
            <p:ph type="title"/>
          </p:nvPr>
        </p:nvSpPr>
        <p:spPr/>
        <p:txBody>
          <a:bodyPr/>
          <a:lstStyle/>
          <a:p>
            <a:r>
              <a:rPr lang="en-GB"/>
              <a:t>Period End Closing Execution (BSC)</a:t>
            </a:r>
            <a:br>
              <a:rPr lang="en-GB"/>
            </a:br>
            <a:r>
              <a:rPr lang="en-GB"/>
              <a:t>- About this course</a:t>
            </a:r>
          </a:p>
        </p:txBody>
      </p:sp>
      <p:sp>
        <p:nvSpPr>
          <p:cNvPr id="13" name="Rounded Rectangle 12"/>
          <p:cNvSpPr/>
          <p:nvPr/>
        </p:nvSpPr>
        <p:spPr>
          <a:xfrm>
            <a:off x="515939" y="1475509"/>
            <a:ext cx="3265647" cy="4669259"/>
          </a:xfrm>
          <a:prstGeom prst="roundRect">
            <a:avLst>
              <a:gd name="adj" fmla="val 11255"/>
            </a:avLst>
          </a:prstGeom>
          <a:solidFill>
            <a:schemeClr val="bg1"/>
          </a:solidFill>
          <a:ln w="50800">
            <a:gradFill>
              <a:gsLst>
                <a:gs pos="0">
                  <a:srgbClr val="8DDDD9"/>
                </a:gs>
                <a:gs pos="38000">
                  <a:srgbClr val="19BEB8"/>
                </a:gs>
                <a:gs pos="60000">
                  <a:srgbClr val="36A9AA"/>
                </a:gs>
                <a:gs pos="100000">
                  <a:srgbClr val="0983C7"/>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tIns="180000" rIns="90000" rtlCol="0" anchor="t"/>
          <a:lstStyle/>
          <a:p>
            <a:pPr lvl="0" algn="ctr">
              <a:spcAft>
                <a:spcPts val="1000"/>
              </a:spcAft>
            </a:pPr>
            <a:r>
              <a:rPr lang="en-US" b="1">
                <a:solidFill>
                  <a:schemeClr val="accent3"/>
                </a:solidFill>
              </a:rPr>
              <a:t>Course Objectives</a:t>
            </a:r>
          </a:p>
          <a:p>
            <a:pPr marL="179946" lvl="2" indent="-179946">
              <a:spcBef>
                <a:spcPts val="600"/>
              </a:spcBef>
              <a:buFont typeface="Arial" panose="020B0604020202020204" pitchFamily="34" charset="0"/>
              <a:buChar char="•"/>
            </a:pPr>
            <a:r>
              <a:rPr lang="en-GB" sz="1200">
                <a:solidFill>
                  <a:schemeClr val="tx1"/>
                </a:solidFill>
              </a:rPr>
              <a:t>This course is intended to provide instructions on how to execute Period End Closing tasks outside of Financial Closing Cockpit (FCC</a:t>
            </a:r>
            <a:r>
              <a:rPr lang="en-GB" sz="1200" i="1" baseline="30000">
                <a:solidFill>
                  <a:srgbClr val="FF0000"/>
                </a:solidFill>
              </a:rPr>
              <a:t>1)</a:t>
            </a:r>
            <a:r>
              <a:rPr lang="en-GB" sz="1200">
                <a:solidFill>
                  <a:schemeClr val="tx1"/>
                </a:solidFill>
              </a:rPr>
              <a:t>), helping users understand the process logics, equip them with the required knowledge to perform testing and troubleshooting, and carry out period end closing in case FCC cannot be used in exceptional circumstances.   </a:t>
            </a:r>
          </a:p>
          <a:p>
            <a:pPr marL="179946" lvl="2" indent="-179946">
              <a:spcBef>
                <a:spcPts val="600"/>
              </a:spcBef>
              <a:buFont typeface="Arial" panose="020B0604020202020204" pitchFamily="34" charset="0"/>
              <a:buChar char="•"/>
            </a:pPr>
            <a:r>
              <a:rPr lang="en-GB" sz="1200">
                <a:solidFill>
                  <a:schemeClr val="tx1"/>
                </a:solidFill>
              </a:rPr>
              <a:t>Upon completing this course, users will be able to:</a:t>
            </a:r>
          </a:p>
          <a:p>
            <a:pPr marL="637146" lvl="3" indent="-179946">
              <a:buFont typeface="Courier New" panose="02070309020205020404" pitchFamily="49" charset="0"/>
              <a:buChar char="o"/>
            </a:pPr>
            <a:r>
              <a:rPr lang="en-GB" sz="1100">
                <a:solidFill>
                  <a:schemeClr val="tx1"/>
                </a:solidFill>
              </a:rPr>
              <a:t>Understand and execute month end activities that the BSC is responsible for</a:t>
            </a:r>
          </a:p>
          <a:p>
            <a:pPr marL="637146" lvl="3" indent="-179946">
              <a:buFont typeface="Courier New" panose="02070309020205020404" pitchFamily="49" charset="0"/>
              <a:buChar char="o"/>
            </a:pPr>
            <a:r>
              <a:rPr lang="en-GB" sz="1100">
                <a:solidFill>
                  <a:schemeClr val="tx1"/>
                </a:solidFill>
              </a:rPr>
              <a:t>Understand and execute year end activities </a:t>
            </a:r>
          </a:p>
          <a:p>
            <a:pPr marL="637146" lvl="3" indent="-179946">
              <a:buFont typeface="Courier New" panose="02070309020205020404" pitchFamily="49" charset="0"/>
              <a:buChar char="o"/>
            </a:pPr>
            <a:r>
              <a:rPr lang="en-GB" sz="1100">
                <a:solidFill>
                  <a:schemeClr val="tx1"/>
                </a:solidFill>
              </a:rPr>
              <a:t>Execute post period end activities in S/4HANA</a:t>
            </a:r>
          </a:p>
        </p:txBody>
      </p:sp>
      <p:sp>
        <p:nvSpPr>
          <p:cNvPr id="17" name="Rounded Rectangle 16"/>
          <p:cNvSpPr/>
          <p:nvPr/>
        </p:nvSpPr>
        <p:spPr>
          <a:xfrm>
            <a:off x="4430553" y="1475509"/>
            <a:ext cx="3265647" cy="4669259"/>
          </a:xfrm>
          <a:prstGeom prst="roundRect">
            <a:avLst>
              <a:gd name="adj" fmla="val 11255"/>
            </a:avLst>
          </a:prstGeom>
          <a:solidFill>
            <a:schemeClr val="bg1"/>
          </a:solidFill>
          <a:ln w="50800">
            <a:gradFill>
              <a:gsLst>
                <a:gs pos="0">
                  <a:srgbClr val="8DDDD9"/>
                </a:gs>
                <a:gs pos="38000">
                  <a:srgbClr val="19BEB8"/>
                </a:gs>
                <a:gs pos="60000">
                  <a:srgbClr val="36A9AA"/>
                </a:gs>
                <a:gs pos="100000">
                  <a:srgbClr val="0983C7"/>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tIns="180000" rIns="90000" rtlCol="0" anchor="t"/>
          <a:lstStyle/>
          <a:p>
            <a:pPr algn="ctr">
              <a:spcAft>
                <a:spcPts val="1000"/>
              </a:spcAft>
            </a:pPr>
            <a:r>
              <a:rPr lang="en-US" b="1">
                <a:solidFill>
                  <a:schemeClr val="accent3"/>
                </a:solidFill>
              </a:rPr>
              <a:t>Target Audiences</a:t>
            </a:r>
          </a:p>
          <a:p>
            <a:pPr marL="179705" lvl="2" indent="-179705">
              <a:spcBef>
                <a:spcPts val="600"/>
              </a:spcBef>
              <a:buFont typeface="Arial" panose="020B0604020202020204" pitchFamily="34" charset="0"/>
              <a:buChar char="•"/>
            </a:pPr>
            <a:r>
              <a:rPr lang="en-GB" sz="1200">
                <a:solidFill>
                  <a:schemeClr val="tx1"/>
                </a:solidFill>
              </a:rPr>
              <a:t>This course is mandatory for BSC users who are responsible for executing Period End Closing in S/4HANA Parallel Ledger environment</a:t>
            </a:r>
          </a:p>
        </p:txBody>
      </p:sp>
      <p:sp>
        <p:nvSpPr>
          <p:cNvPr id="18" name="Rounded Rectangle 17"/>
          <p:cNvSpPr/>
          <p:nvPr/>
        </p:nvSpPr>
        <p:spPr>
          <a:xfrm>
            <a:off x="8345166" y="1475509"/>
            <a:ext cx="3265647" cy="4669259"/>
          </a:xfrm>
          <a:prstGeom prst="roundRect">
            <a:avLst>
              <a:gd name="adj" fmla="val 11255"/>
            </a:avLst>
          </a:prstGeom>
          <a:solidFill>
            <a:schemeClr val="bg1"/>
          </a:solidFill>
          <a:ln w="50800">
            <a:gradFill>
              <a:gsLst>
                <a:gs pos="0">
                  <a:srgbClr val="8DDDD9"/>
                </a:gs>
                <a:gs pos="38000">
                  <a:srgbClr val="19BEB8"/>
                </a:gs>
                <a:gs pos="60000">
                  <a:srgbClr val="36A9AA"/>
                </a:gs>
                <a:gs pos="100000">
                  <a:srgbClr val="0983C7"/>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tIns="180000" rIns="90000" rtlCol="0" anchor="t"/>
          <a:lstStyle/>
          <a:p>
            <a:pPr algn="ctr">
              <a:spcAft>
                <a:spcPts val="1000"/>
              </a:spcAft>
            </a:pPr>
            <a:r>
              <a:rPr lang="en-US" b="1">
                <a:solidFill>
                  <a:schemeClr val="accent3"/>
                </a:solidFill>
              </a:rPr>
              <a:t>Learning Guide</a:t>
            </a:r>
          </a:p>
          <a:p>
            <a:pPr marL="179705" lvl="2" indent="-179705">
              <a:spcBef>
                <a:spcPts val="600"/>
              </a:spcBef>
              <a:buFont typeface="Arial" panose="020B0604020202020204" pitchFamily="34" charset="0"/>
              <a:buChar char="•"/>
            </a:pPr>
            <a:r>
              <a:rPr lang="en-GB" sz="1200">
                <a:solidFill>
                  <a:schemeClr val="tx1"/>
                </a:solidFill>
              </a:rPr>
              <a:t>Prerequisite Courses:</a:t>
            </a:r>
            <a:endParaRPr lang="en-GB" sz="1200">
              <a:solidFill>
                <a:schemeClr val="tx1"/>
              </a:solidFill>
              <a:cs typeface="Arial"/>
            </a:endParaRPr>
          </a:p>
          <a:p>
            <a:pPr marL="685800" lvl="3" indent="-228600">
              <a:buFont typeface="Courier New" panose="02070309020205020404" pitchFamily="49" charset="0"/>
              <a:buChar char="o"/>
            </a:pPr>
            <a:r>
              <a:rPr lang="en-GB" sz="1100">
                <a:solidFill>
                  <a:schemeClr val="tx1"/>
                </a:solidFill>
              </a:rPr>
              <a:t>Finance Fundamentals – Overview</a:t>
            </a:r>
            <a:endParaRPr lang="en-GB" sz="1100">
              <a:solidFill>
                <a:schemeClr val="tx1"/>
              </a:solidFill>
              <a:cs typeface="Arial"/>
            </a:endParaRPr>
          </a:p>
          <a:p>
            <a:pPr marL="685800" lvl="3" indent="-228600">
              <a:buFont typeface="Courier New" panose="02070309020205020404" pitchFamily="49" charset="0"/>
              <a:buChar char="o"/>
            </a:pPr>
            <a:r>
              <a:rPr lang="en-GB" sz="1100">
                <a:solidFill>
                  <a:schemeClr val="tx1"/>
                </a:solidFill>
              </a:rPr>
              <a:t>Finance Fundamentals – Master Data</a:t>
            </a:r>
            <a:endParaRPr lang="en-GB" sz="1100">
              <a:solidFill>
                <a:schemeClr val="tx1"/>
              </a:solidFill>
              <a:cs typeface="Arial"/>
            </a:endParaRPr>
          </a:p>
          <a:p>
            <a:pPr marL="685800" lvl="3" indent="-228600">
              <a:buFont typeface="Courier New" panose="02070309020205020404" pitchFamily="49" charset="0"/>
              <a:buChar char="o"/>
            </a:pPr>
            <a:r>
              <a:rPr lang="en-GB" sz="1100">
                <a:solidFill>
                  <a:schemeClr val="tx1"/>
                </a:solidFill>
              </a:rPr>
              <a:t>Period End Closing Overview</a:t>
            </a:r>
            <a:endParaRPr lang="en-GB" sz="1100">
              <a:solidFill>
                <a:schemeClr val="tx1"/>
              </a:solidFill>
              <a:cs typeface="Arial"/>
            </a:endParaRPr>
          </a:p>
          <a:p>
            <a:pPr marL="179705" lvl="2" indent="-179705">
              <a:spcBef>
                <a:spcPts val="600"/>
              </a:spcBef>
              <a:buFont typeface="Arial" panose="020B0604020202020204" pitchFamily="34" charset="0"/>
              <a:buChar char="•"/>
            </a:pPr>
            <a:r>
              <a:rPr lang="en-GB" sz="1200">
                <a:solidFill>
                  <a:schemeClr val="tx1"/>
                </a:solidFill>
              </a:rPr>
              <a:t>Courses in the following </a:t>
            </a:r>
            <a:r>
              <a:rPr lang="en-GB" sz="1200" b="1">
                <a:solidFill>
                  <a:schemeClr val="tx1"/>
                </a:solidFill>
              </a:rPr>
              <a:t>subject areas </a:t>
            </a:r>
            <a:r>
              <a:rPr lang="en-GB" sz="1200">
                <a:solidFill>
                  <a:schemeClr val="tx1"/>
                </a:solidFill>
              </a:rPr>
              <a:t>should be completed by users who are responsible for Period End Closing of these processes before attending this course </a:t>
            </a:r>
            <a:r>
              <a:rPr lang="en-GB" sz="1200" i="1" baseline="30000">
                <a:solidFill>
                  <a:srgbClr val="FF0000"/>
                </a:solidFill>
              </a:rPr>
              <a:t>2)</a:t>
            </a:r>
            <a:r>
              <a:rPr lang="en-GB" sz="1200">
                <a:solidFill>
                  <a:schemeClr val="tx1"/>
                </a:solidFill>
              </a:rPr>
              <a:t>:</a:t>
            </a:r>
            <a:endParaRPr lang="en-GB" sz="1200">
              <a:solidFill>
                <a:schemeClr val="tx1"/>
              </a:solidFill>
              <a:cs typeface="Arial"/>
            </a:endParaRPr>
          </a:p>
          <a:p>
            <a:pPr marL="685800" lvl="3" indent="-228600">
              <a:buFont typeface="Courier New" panose="02070309020205020404" pitchFamily="49" charset="0"/>
              <a:buChar char="o"/>
            </a:pPr>
            <a:r>
              <a:rPr lang="en-GB" sz="1100">
                <a:solidFill>
                  <a:schemeClr val="tx1"/>
                </a:solidFill>
              </a:rPr>
              <a:t>Asset Accounting</a:t>
            </a:r>
            <a:endParaRPr lang="en-GB" sz="1100">
              <a:solidFill>
                <a:schemeClr val="tx1"/>
              </a:solidFill>
              <a:cs typeface="Arial"/>
            </a:endParaRPr>
          </a:p>
          <a:p>
            <a:pPr marL="685800" lvl="3" indent="-228600">
              <a:buFont typeface="Courier New" panose="02070309020205020404" pitchFamily="49" charset="0"/>
              <a:buChar char="o"/>
            </a:pPr>
            <a:r>
              <a:rPr lang="en-GB" sz="1100">
                <a:solidFill>
                  <a:schemeClr val="tx1"/>
                </a:solidFill>
              </a:rPr>
              <a:t>Accounts Receivables</a:t>
            </a:r>
            <a:endParaRPr lang="en-GB" sz="1100">
              <a:solidFill>
                <a:schemeClr val="tx1"/>
              </a:solidFill>
              <a:cs typeface="Arial"/>
            </a:endParaRPr>
          </a:p>
          <a:p>
            <a:pPr marL="685800" lvl="3" indent="-228600">
              <a:buFont typeface="Courier New" panose="02070309020205020404" pitchFamily="49" charset="0"/>
              <a:buChar char="o"/>
            </a:pPr>
            <a:r>
              <a:rPr lang="en-GB" sz="1100">
                <a:solidFill>
                  <a:schemeClr val="tx1"/>
                </a:solidFill>
              </a:rPr>
              <a:t>Accounts Payables</a:t>
            </a:r>
            <a:endParaRPr lang="en-GB" sz="1100">
              <a:solidFill>
                <a:schemeClr val="tx1"/>
              </a:solidFill>
              <a:cs typeface="Arial"/>
            </a:endParaRPr>
          </a:p>
          <a:p>
            <a:pPr marL="685800" lvl="3" indent="-228600">
              <a:buFont typeface="Courier New" panose="02070309020205020404" pitchFamily="49" charset="0"/>
              <a:buChar char="o"/>
            </a:pPr>
            <a:r>
              <a:rPr lang="en-GB" sz="1100">
                <a:solidFill>
                  <a:schemeClr val="tx1"/>
                </a:solidFill>
              </a:rPr>
              <a:t>Parallel Ledgers</a:t>
            </a:r>
            <a:endParaRPr lang="en-GB" sz="1100">
              <a:solidFill>
                <a:schemeClr val="tx1"/>
              </a:solidFill>
              <a:cs typeface="Arial"/>
            </a:endParaRPr>
          </a:p>
          <a:p>
            <a:pPr marL="685800" lvl="3" indent="-228600">
              <a:buFont typeface="Courier New" panose="02070309020205020404" pitchFamily="49" charset="0"/>
              <a:buChar char="o"/>
            </a:pPr>
            <a:r>
              <a:rPr lang="en-GB" sz="1100">
                <a:solidFill>
                  <a:schemeClr val="tx1"/>
                </a:solidFill>
              </a:rPr>
              <a:t>Cash Management</a:t>
            </a:r>
            <a:endParaRPr lang="en-GB" sz="1100">
              <a:solidFill>
                <a:schemeClr val="tx1"/>
              </a:solidFill>
              <a:cs typeface="Arial"/>
            </a:endParaRPr>
          </a:p>
          <a:p>
            <a:pPr marL="685800" lvl="3" indent="-228600">
              <a:buFont typeface="Courier New" panose="02070309020205020404" pitchFamily="49" charset="0"/>
              <a:buChar char="o"/>
            </a:pPr>
            <a:r>
              <a:rPr lang="en-GB" sz="1100">
                <a:solidFill>
                  <a:schemeClr val="tx1"/>
                </a:solidFill>
              </a:rPr>
              <a:t>Financial Supply Chain Management (FSCM)</a:t>
            </a:r>
            <a:endParaRPr lang="en-GB" sz="1100">
              <a:solidFill>
                <a:schemeClr val="tx1"/>
              </a:solidFill>
              <a:cs typeface="Arial"/>
            </a:endParaRPr>
          </a:p>
          <a:p>
            <a:pPr marL="685800" lvl="3" indent="-228600">
              <a:buFont typeface="Courier New" panose="02070309020205020404" pitchFamily="49" charset="0"/>
              <a:buChar char="o"/>
            </a:pPr>
            <a:r>
              <a:rPr lang="en-GB" sz="1100">
                <a:solidFill>
                  <a:schemeClr val="tx1"/>
                </a:solidFill>
              </a:rPr>
              <a:t>Profitability Analysis</a:t>
            </a:r>
            <a:endParaRPr lang="en-GB" sz="1100">
              <a:solidFill>
                <a:schemeClr val="tx1"/>
              </a:solidFill>
              <a:cs typeface="Arial"/>
            </a:endParaRPr>
          </a:p>
          <a:p>
            <a:pPr marL="685800" lvl="3" indent="-228600">
              <a:buFont typeface="Courier New" panose="02070309020205020404" pitchFamily="49" charset="0"/>
              <a:buChar char="o"/>
            </a:pPr>
            <a:r>
              <a:rPr lang="en-GB" sz="1100">
                <a:solidFill>
                  <a:schemeClr val="tx1"/>
                </a:solidFill>
              </a:rPr>
              <a:t>Cost Management</a:t>
            </a:r>
            <a:endParaRPr lang="en-GB" sz="1100">
              <a:solidFill>
                <a:schemeClr val="tx1"/>
              </a:solidFill>
              <a:cs typeface="Arial"/>
            </a:endParaRPr>
          </a:p>
          <a:p>
            <a:pPr marL="685800" lvl="3" indent="-228600">
              <a:buFont typeface="Courier New" panose="02070309020205020404" pitchFamily="49" charset="0"/>
              <a:buChar char="o"/>
            </a:pPr>
            <a:r>
              <a:rPr lang="en-GB" sz="1100">
                <a:solidFill>
                  <a:schemeClr val="tx1"/>
                </a:solidFill>
              </a:rPr>
              <a:t>Product Costing</a:t>
            </a:r>
            <a:endParaRPr lang="en-GB" sz="1100">
              <a:solidFill>
                <a:schemeClr val="tx1"/>
              </a:solidFill>
              <a:cs typeface="Arial"/>
            </a:endParaRPr>
          </a:p>
          <a:p>
            <a:pPr marL="685800" lvl="3" indent="-228600">
              <a:buFont typeface="Courier New" panose="02070309020205020404" pitchFamily="49" charset="0"/>
              <a:buChar char="o"/>
            </a:pPr>
            <a:r>
              <a:rPr lang="en-GB" sz="1100">
                <a:solidFill>
                  <a:schemeClr val="tx1"/>
                </a:solidFill>
              </a:rPr>
              <a:t>Intercompany Non-trade </a:t>
            </a:r>
            <a:endParaRPr lang="en-GB" sz="1100">
              <a:solidFill>
                <a:schemeClr val="tx1"/>
              </a:solidFill>
              <a:cs typeface="Arial"/>
            </a:endParaRPr>
          </a:p>
          <a:p>
            <a:pPr lvl="0" algn="ctr"/>
            <a:endParaRPr lang="en-US" sz="2000" b="1">
              <a:solidFill>
                <a:schemeClr val="tx1"/>
              </a:solidFill>
              <a:latin typeface="Arial" charset="0"/>
              <a:ea typeface="Arial" charset="0"/>
              <a:cs typeface="Arial" charset="0"/>
            </a:endParaRPr>
          </a:p>
        </p:txBody>
      </p:sp>
      <p:sp>
        <p:nvSpPr>
          <p:cNvPr id="2" name="TextBox 1">
            <a:extLst>
              <a:ext uri="{FF2B5EF4-FFF2-40B4-BE49-F238E27FC236}">
                <a16:creationId xmlns:a16="http://schemas.microsoft.com/office/drawing/2014/main" id="{CCB4173B-CCD9-46CC-826F-4944A598FE41}"/>
              </a:ext>
            </a:extLst>
          </p:cNvPr>
          <p:cNvSpPr txBox="1"/>
          <p:nvPr/>
        </p:nvSpPr>
        <p:spPr>
          <a:xfrm>
            <a:off x="1755648" y="6492875"/>
            <a:ext cx="3099816" cy="365125"/>
          </a:xfrm>
          <a:prstGeom prst="rect">
            <a:avLst/>
          </a:prstGeom>
          <a:noFill/>
        </p:spPr>
        <p:txBody>
          <a:bodyPr wrap="square" lIns="0" tIns="0" rIns="0" bIns="0" rtlCol="0">
            <a:noAutofit/>
          </a:bodyPr>
          <a:lstStyle/>
          <a:p>
            <a:pPr algn="l"/>
            <a:r>
              <a:rPr lang="en-GB" sz="900" i="1" baseline="30000">
                <a:solidFill>
                  <a:srgbClr val="FF0000"/>
                </a:solidFill>
              </a:rPr>
              <a:t>1)</a:t>
            </a:r>
            <a:r>
              <a:rPr lang="en-GB" sz="900" i="1"/>
              <a:t> FCC - Financial Closing Cockpit</a:t>
            </a:r>
          </a:p>
          <a:p>
            <a:pPr algn="l"/>
            <a:r>
              <a:rPr lang="en-GB" sz="900" i="1" baseline="30000">
                <a:solidFill>
                  <a:srgbClr val="FF0000"/>
                </a:solidFill>
              </a:rPr>
              <a:t>2) </a:t>
            </a:r>
            <a:r>
              <a:rPr lang="en-GB" sz="900" i="1"/>
              <a:t>Refer to S4F Training Portal for detailed list of courses. </a:t>
            </a:r>
          </a:p>
        </p:txBody>
      </p:sp>
    </p:spTree>
    <p:extLst>
      <p:ext uri="{BB962C8B-B14F-4D97-AF65-F5344CB8AC3E}">
        <p14:creationId xmlns:p14="http://schemas.microsoft.com/office/powerpoint/2010/main" val="446603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Period End Closing Execution (BSC) </a:t>
            </a:r>
          </a:p>
        </p:txBody>
      </p:sp>
      <p:cxnSp>
        <p:nvCxnSpPr>
          <p:cNvPr id="8" name="Elbow Connector 7"/>
          <p:cNvCxnSpPr>
            <a:cxnSpLocks/>
          </p:cNvCxnSpPr>
          <p:nvPr/>
        </p:nvCxnSpPr>
        <p:spPr>
          <a:xfrm rot="16200000" flipH="1">
            <a:off x="2744086" y="4077167"/>
            <a:ext cx="1967667" cy="740429"/>
          </a:xfrm>
          <a:prstGeom prst="bentConnector3">
            <a:avLst>
              <a:gd name="adj1" fmla="val 9964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3379734" y="3632028"/>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p:cNvCxnSpPr>
          <p:nvPr/>
        </p:nvCxnSpPr>
        <p:spPr>
          <a:xfrm>
            <a:off x="3357704" y="4536961"/>
            <a:ext cx="740428"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4234198" y="2439972"/>
            <a:ext cx="609852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chemeClr val="tx1"/>
                </a:solidFill>
                <a:latin typeface="Arial" charset="0"/>
                <a:cs typeface="Arial" charset="0"/>
              </a:rPr>
              <a:t>Period End Closing Overview</a:t>
            </a:r>
          </a:p>
        </p:txBody>
      </p:sp>
      <p:sp>
        <p:nvSpPr>
          <p:cNvPr id="40" name="Rounded Rectangle 39"/>
          <p:cNvSpPr/>
          <p:nvPr/>
        </p:nvSpPr>
        <p:spPr>
          <a:xfrm>
            <a:off x="4234198" y="3353104"/>
            <a:ext cx="609852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panose="020B0604020202020204"/>
                <a:ea typeface="Arial" charset="0"/>
                <a:cs typeface="Arial"/>
              </a:rPr>
              <a:t>Period End Closing Key Process Areas and New Period End Checks</a:t>
            </a:r>
          </a:p>
        </p:txBody>
      </p:sp>
      <p:sp>
        <p:nvSpPr>
          <p:cNvPr id="41" name="Rounded Rectangle 40"/>
          <p:cNvSpPr/>
          <p:nvPr/>
        </p:nvSpPr>
        <p:spPr>
          <a:xfrm>
            <a:off x="4234198" y="4266236"/>
            <a:ext cx="609852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Arial" charset="0"/>
                <a:cs typeface="Arial" charset="0"/>
              </a:rPr>
              <a:t>Post Closing Activities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Rounded Rectangle 41"/>
          <p:cNvSpPr/>
          <p:nvPr/>
        </p:nvSpPr>
        <p:spPr>
          <a:xfrm>
            <a:off x="4234198" y="5179367"/>
            <a:ext cx="609852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panose="020B0604020202020204"/>
                <a:ea typeface="+mn-ea"/>
                <a:cs typeface="Arial"/>
              </a:rPr>
              <a:t>Year End Specific Closing Activities</a:t>
            </a:r>
          </a:p>
        </p:txBody>
      </p:sp>
      <p:cxnSp>
        <p:nvCxnSpPr>
          <p:cNvPr id="17" name="Connector: Elbow 16">
            <a:extLst>
              <a:ext uri="{FF2B5EF4-FFF2-40B4-BE49-F238E27FC236}">
                <a16:creationId xmlns:a16="http://schemas.microsoft.com/office/drawing/2014/main" id="{0F65B0DB-7517-46A1-8934-276D3565448D}"/>
              </a:ext>
            </a:extLst>
          </p:cNvPr>
          <p:cNvCxnSpPr>
            <a:cxnSpLocks/>
          </p:cNvCxnSpPr>
          <p:nvPr/>
        </p:nvCxnSpPr>
        <p:spPr>
          <a:xfrm rot="10800000" flipV="1">
            <a:off x="2487149" y="2727095"/>
            <a:ext cx="1642156" cy="904932"/>
          </a:xfrm>
          <a:prstGeom prst="bentConnector3">
            <a:avLst>
              <a:gd name="adj1" fmla="val 46836"/>
            </a:avLst>
          </a:prstGeom>
          <a:ln w="28575">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79D84CA8-1570-4568-81C4-DA4A4A6EAA20}"/>
              </a:ext>
            </a:extLst>
          </p:cNvPr>
          <p:cNvGrpSpPr/>
          <p:nvPr/>
        </p:nvGrpSpPr>
        <p:grpSpPr>
          <a:xfrm>
            <a:off x="762742" y="2727095"/>
            <a:ext cx="1821250" cy="1809866"/>
            <a:chOff x="515937" y="326276"/>
            <a:chExt cx="902611" cy="902611"/>
          </a:xfrm>
        </p:grpSpPr>
        <p:grpSp>
          <p:nvGrpSpPr>
            <p:cNvPr id="50" name="Group 49">
              <a:extLst>
                <a:ext uri="{FF2B5EF4-FFF2-40B4-BE49-F238E27FC236}">
                  <a16:creationId xmlns:a16="http://schemas.microsoft.com/office/drawing/2014/main" id="{7AD3D2AB-812B-4EEB-8A6B-C310FC95D81F}"/>
                </a:ext>
              </a:extLst>
            </p:cNvPr>
            <p:cNvGrpSpPr/>
            <p:nvPr/>
          </p:nvGrpSpPr>
          <p:grpSpPr>
            <a:xfrm>
              <a:off x="515937" y="326276"/>
              <a:ext cx="902611" cy="902611"/>
              <a:chOff x="4492144" y="190843"/>
              <a:chExt cx="855656" cy="855656"/>
            </a:xfrm>
          </p:grpSpPr>
          <p:sp>
            <p:nvSpPr>
              <p:cNvPr id="52" name="Oval 51">
                <a:extLst>
                  <a:ext uri="{FF2B5EF4-FFF2-40B4-BE49-F238E27FC236}">
                    <a16:creationId xmlns:a16="http://schemas.microsoft.com/office/drawing/2014/main" id="{2BABECE1-DBAB-4194-B8BA-B5C33B4B683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4" name="Oval 53">
                <a:extLst>
                  <a:ext uri="{FF2B5EF4-FFF2-40B4-BE49-F238E27FC236}">
                    <a16:creationId xmlns:a16="http://schemas.microsoft.com/office/drawing/2014/main" id="{503EC1E2-1AA5-4CB4-AF33-999BAD7FA59F}"/>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1" name="Picture 50">
              <a:extLst>
                <a:ext uri="{FF2B5EF4-FFF2-40B4-BE49-F238E27FC236}">
                  <a16:creationId xmlns:a16="http://schemas.microsoft.com/office/drawing/2014/main" id="{D7E63B56-5370-4BAA-8D45-F6BC2DA8B76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659576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095"/>
            <a:ext cx="12192000" cy="4902409"/>
          </a:xfrm>
          <a:prstGeom prst="rect">
            <a:avLst/>
          </a:prstGeom>
          <a:gradFill flip="none" rotWithShape="1">
            <a:gsLst>
              <a:gs pos="0">
                <a:schemeClr val="accent6"/>
              </a:gs>
              <a:gs pos="100000">
                <a:schemeClr val="accent1">
                  <a:lumMod val="20000"/>
                  <a:lumOff val="80000"/>
                  <a:alpha val="41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Period End Closing Execution (BSC) </a:t>
            </a:r>
          </a:p>
        </p:txBody>
      </p:sp>
      <p:sp>
        <p:nvSpPr>
          <p:cNvPr id="40" name="Rounded Rectangle 39"/>
          <p:cNvSpPr/>
          <p:nvPr/>
        </p:nvSpPr>
        <p:spPr>
          <a:xfrm>
            <a:off x="395023" y="3274103"/>
            <a:ext cx="408026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lvl="0" algn="ctr">
              <a:spcAft>
                <a:spcPts val="1000"/>
              </a:spcAft>
              <a:defRPr/>
            </a:pPr>
            <a:r>
              <a:rPr lang="en-GB" sz="1400" b="1">
                <a:solidFill>
                  <a:srgbClr val="000000"/>
                </a:solidFill>
                <a:latin typeface="Arial" charset="0"/>
                <a:cs typeface="Arial" charset="0"/>
              </a:rPr>
              <a:t>Period End Closing Overview</a:t>
            </a:r>
          </a:p>
        </p:txBody>
      </p:sp>
      <p:sp>
        <p:nvSpPr>
          <p:cNvPr id="41" name="Rounded Rectangle 40"/>
          <p:cNvSpPr/>
          <p:nvPr/>
        </p:nvSpPr>
        <p:spPr>
          <a:xfrm>
            <a:off x="5868217" y="4241032"/>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FCC Variants Overview</a:t>
            </a:r>
          </a:p>
        </p:txBody>
      </p:sp>
      <p:cxnSp>
        <p:nvCxnSpPr>
          <p:cNvPr id="5" name="Connector: Elbow 4">
            <a:extLst>
              <a:ext uri="{FF2B5EF4-FFF2-40B4-BE49-F238E27FC236}">
                <a16:creationId xmlns:a16="http://schemas.microsoft.com/office/drawing/2014/main" id="{E4E3B551-8A19-41F9-B96A-F3D36604A60A}"/>
              </a:ext>
            </a:extLst>
          </p:cNvPr>
          <p:cNvCxnSpPr>
            <a:cxnSpLocks/>
          </p:cNvCxnSpPr>
          <p:nvPr/>
        </p:nvCxnSpPr>
        <p:spPr>
          <a:xfrm flipV="1">
            <a:off x="4599709" y="3177153"/>
            <a:ext cx="1126836" cy="348798"/>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91E4123E-477A-425D-9FBC-58AF1A698C84}"/>
              </a:ext>
            </a:extLst>
          </p:cNvPr>
          <p:cNvCxnSpPr>
            <a:cxnSpLocks/>
          </p:cNvCxnSpPr>
          <p:nvPr/>
        </p:nvCxnSpPr>
        <p:spPr>
          <a:xfrm>
            <a:off x="4599709" y="3525950"/>
            <a:ext cx="1126836" cy="966929"/>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3" name="Rounded Rectangle 40">
            <a:extLst>
              <a:ext uri="{FF2B5EF4-FFF2-40B4-BE49-F238E27FC236}">
                <a16:creationId xmlns:a16="http://schemas.microsoft.com/office/drawing/2014/main" id="{3B7A6A7E-D54B-4464-8203-DF984ED60F8B}"/>
              </a:ext>
            </a:extLst>
          </p:cNvPr>
          <p:cNvSpPr/>
          <p:nvPr/>
        </p:nvSpPr>
        <p:spPr>
          <a:xfrm>
            <a:off x="5868216" y="2925306"/>
            <a:ext cx="4944971"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Period End Closing Process Overview</a:t>
            </a:r>
          </a:p>
        </p:txBody>
      </p:sp>
    </p:spTree>
    <p:extLst>
      <p:ext uri="{BB962C8B-B14F-4D97-AF65-F5344CB8AC3E}">
        <p14:creationId xmlns:p14="http://schemas.microsoft.com/office/powerpoint/2010/main" val="4114256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4202B21-2078-0EEB-C7D2-2356F16B1D2B}"/>
              </a:ext>
            </a:extLst>
          </p:cNvPr>
          <p:cNvSpPr>
            <a:spLocks noGrp="1"/>
          </p:cNvSpPr>
          <p:nvPr>
            <p:ph type="sldNum" sz="quarter" idx="12"/>
          </p:nvPr>
        </p:nvSpPr>
        <p:spPr/>
        <p:txBody>
          <a:bodyPr/>
          <a:lstStyle/>
          <a:p>
            <a:fld id="{F4C94289-3309-4C35-850A-56FD49B3E346}" type="slidenum">
              <a:rPr lang="en-GB" smtClean="0"/>
              <a:t>7</a:t>
            </a:fld>
            <a:endParaRPr lang="en-GB"/>
          </a:p>
        </p:txBody>
      </p:sp>
      <p:grpSp>
        <p:nvGrpSpPr>
          <p:cNvPr id="6" name="Group 5">
            <a:extLst>
              <a:ext uri="{FF2B5EF4-FFF2-40B4-BE49-F238E27FC236}">
                <a16:creationId xmlns:a16="http://schemas.microsoft.com/office/drawing/2014/main" id="{10A79D3D-02E7-9CBF-D2A2-EB54D83B286E}"/>
              </a:ext>
            </a:extLst>
          </p:cNvPr>
          <p:cNvGrpSpPr/>
          <p:nvPr/>
        </p:nvGrpSpPr>
        <p:grpSpPr>
          <a:xfrm>
            <a:off x="5038378" y="1156972"/>
            <a:ext cx="2059928" cy="4835089"/>
            <a:chOff x="5054653" y="841581"/>
            <a:chExt cx="2059928" cy="3814830"/>
          </a:xfrm>
          <a:effectLst>
            <a:outerShdw blurRad="50800" dist="38100" dir="2700000" algn="tl" rotWithShape="0">
              <a:prstClr val="black">
                <a:alpha val="40000"/>
              </a:prstClr>
            </a:outerShdw>
          </a:effectLst>
        </p:grpSpPr>
        <p:pic>
          <p:nvPicPr>
            <p:cNvPr id="7" name="Picture 6">
              <a:extLst>
                <a:ext uri="{FF2B5EF4-FFF2-40B4-BE49-F238E27FC236}">
                  <a16:creationId xmlns:a16="http://schemas.microsoft.com/office/drawing/2014/main" id="{1997EE37-0D55-3E43-39AB-E7C4B68BD6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54653" y="1193480"/>
              <a:ext cx="2059928" cy="3462931"/>
            </a:xfrm>
            <a:prstGeom prst="rect">
              <a:avLst/>
            </a:prstGeom>
          </p:spPr>
        </p:pic>
        <p:sp>
          <p:nvSpPr>
            <p:cNvPr id="8" name="TextBox 7">
              <a:extLst>
                <a:ext uri="{FF2B5EF4-FFF2-40B4-BE49-F238E27FC236}">
                  <a16:creationId xmlns:a16="http://schemas.microsoft.com/office/drawing/2014/main" id="{A96D2336-32E3-5BDE-A5F0-8309AD944742}"/>
                </a:ext>
              </a:extLst>
            </p:cNvPr>
            <p:cNvSpPr txBox="1"/>
            <p:nvPr/>
          </p:nvSpPr>
          <p:spPr>
            <a:xfrm>
              <a:off x="5070897" y="3715230"/>
              <a:ext cx="1784215" cy="427950"/>
            </a:xfrm>
            <a:prstGeom prst="rect">
              <a:avLst/>
            </a:prstGeom>
            <a:noFill/>
          </p:spPr>
          <p:txBody>
            <a:bodyPr wrap="square" lIns="0" tIns="0" rIns="0" bIns="0" rtlCol="0">
              <a:normAutofit/>
            </a:bodyPr>
            <a:lstStyle/>
            <a:p>
              <a:pPr marL="0" marR="0" lvl="0" indent="0" algn="r" defTabSz="914126"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Roles and Responsibilities</a:t>
              </a:r>
            </a:p>
          </p:txBody>
        </p:sp>
        <p:sp>
          <p:nvSpPr>
            <p:cNvPr id="9" name="Rectangle 8">
              <a:extLst>
                <a:ext uri="{FF2B5EF4-FFF2-40B4-BE49-F238E27FC236}">
                  <a16:creationId xmlns:a16="http://schemas.microsoft.com/office/drawing/2014/main" id="{F0A7344A-692A-5AF0-BEC5-F540E1683E8A}"/>
                </a:ext>
              </a:extLst>
            </p:cNvPr>
            <p:cNvSpPr/>
            <p:nvPr/>
          </p:nvSpPr>
          <p:spPr>
            <a:xfrm>
              <a:off x="5114366" y="841581"/>
              <a:ext cx="1940502" cy="2873650"/>
            </a:xfrm>
            <a:prstGeom prst="rect">
              <a:avLst/>
            </a:prstGeom>
            <a:noFill/>
            <a:ln>
              <a:noFill/>
            </a:ln>
            <a:effectLst>
              <a:outerShdw blurRad="63500" sx="102000" sy="102000" algn="ctr" rotWithShape="0">
                <a:prstClr val="black">
                  <a:alpha val="40000"/>
                </a:prstClr>
              </a:outerShdw>
            </a:effectLst>
          </p:spPr>
          <p:txBody>
            <a:bodyPr rot="0" spcFirstLastPara="0" vertOverflow="overflow" horzOverflow="overflow" vert="horz" wrap="square" lIns="0" tIns="0" rIns="0" bIns="0" numCol="1" spcCol="0" rtlCol="0" fromWordArt="0" anchor="b" anchorCtr="1" forceAA="0" compatLnSpc="1">
              <a:prstTxWarp prst="textNoShape">
                <a:avLst/>
              </a:prstTxWarp>
              <a:noAutofit/>
            </a:bodyPr>
            <a:lstStyle/>
            <a:p>
              <a:pPr marL="170815" indent="-170815" defTabSz="914126">
                <a:spcBef>
                  <a:spcPct val="20000"/>
                </a:spcBef>
                <a:buFont typeface="Arial" panose="020B0604020202020204" pitchFamily="34" charset="0"/>
                <a:buChar char="•"/>
                <a:defRPr/>
              </a:pPr>
              <a:r>
                <a:rPr lang="en-GB" sz="900" dirty="0">
                  <a:latin typeface="Arial" panose="020B0604020202020204"/>
                  <a:ea typeface="ＭＳ Ｐゴシック"/>
                </a:rPr>
                <a:t> </a:t>
              </a:r>
              <a:r>
                <a:rPr lang="en-GB" sz="900" b="1" dirty="0">
                  <a:latin typeface="Arial" panose="020B0604020202020204"/>
                  <a:ea typeface="ＭＳ Ｐゴシック"/>
                </a:rPr>
                <a:t>GBS </a:t>
              </a:r>
              <a:r>
                <a:rPr lang="en-GB" sz="900" dirty="0">
                  <a:ea typeface="ＭＳ Ｐゴシック"/>
                </a:rPr>
                <a:t>(Warsaw, Manila, Saint-Petersburg) and JT BC (Japan): </a:t>
              </a:r>
              <a:r>
                <a:rPr kumimoji="0" lang="en-GB" sz="900" b="0" i="0" u="none" strike="noStrike" kern="1200" cap="none" spc="0" normalizeH="0" baseline="0" noProof="0" dirty="0">
                  <a:ln>
                    <a:noFill/>
                  </a:ln>
                  <a:effectLst/>
                  <a:uLnTx/>
                  <a:uFillTx/>
                  <a:latin typeface="Arial" panose="020B0604020202020204"/>
                  <a:ea typeface="ＭＳ Ｐゴシック"/>
                  <a:cs typeface="+mn-cs"/>
                </a:rPr>
                <a:t>coordination </a:t>
              </a:r>
              <a:r>
                <a:rPr kumimoji="0" lang="en-GB" sz="900" b="0" i="0" u="none" strike="noStrike" kern="1200" cap="none" spc="0" normalizeH="0" baseline="0" noProof="0" dirty="0">
                  <a:ln>
                    <a:noFill/>
                  </a:ln>
                  <a:solidFill>
                    <a:srgbClr val="122632"/>
                  </a:solidFill>
                  <a:effectLst/>
                  <a:uLnTx/>
                  <a:uFillTx/>
                  <a:latin typeface="Arial" panose="020B0604020202020204"/>
                  <a:ea typeface="ＭＳ Ｐゴシック"/>
                  <a:cs typeface="+mn-cs"/>
                </a:rPr>
                <a:t>of PEC in liaison with Entities</a:t>
              </a:r>
              <a:endParaRPr lang="en-US" dirty="0">
                <a:ea typeface="ＭＳ Ｐゴシック"/>
                <a:cs typeface="+mn-cs"/>
              </a:endParaRPr>
            </a:p>
            <a:p>
              <a:pPr marL="170815" marR="0" lvl="0" indent="-170815" algn="l" defTabSz="914126"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900" b="1" i="0" u="none" strike="noStrike" kern="1200" cap="none" spc="0" normalizeH="0" baseline="0" noProof="0" dirty="0">
                  <a:ln>
                    <a:noFill/>
                  </a:ln>
                  <a:solidFill>
                    <a:srgbClr val="122632"/>
                  </a:solidFill>
                  <a:effectLst/>
                  <a:uLnTx/>
                  <a:uFillTx/>
                  <a:latin typeface="Arial" panose="020B0604020202020204"/>
                  <a:ea typeface="ＭＳ Ｐゴシック"/>
                  <a:cs typeface="+mn-cs"/>
                </a:rPr>
                <a:t>Entities</a:t>
              </a:r>
              <a:r>
                <a:rPr kumimoji="0" lang="en-GB" sz="900" b="0" i="0" u="none" strike="noStrike" kern="1200" cap="none" spc="0" normalizeH="0" baseline="0" noProof="0" dirty="0">
                  <a:ln>
                    <a:noFill/>
                  </a:ln>
                  <a:solidFill>
                    <a:srgbClr val="122632"/>
                  </a:solidFill>
                  <a:effectLst/>
                  <a:uLnTx/>
                  <a:uFillTx/>
                  <a:latin typeface="Arial" panose="020B0604020202020204"/>
                  <a:ea typeface="ＭＳ Ｐゴシック"/>
                  <a:cs typeface="+mn-cs"/>
                </a:rPr>
                <a:t>: responsible for the correctness of their Market and Entity financials (incl. IFRS, STAT, TAX books)</a:t>
              </a:r>
              <a:endParaRPr lang="en-GB" sz="900" b="0" i="0" u="none" strike="noStrike" kern="1200" cap="none" spc="0" normalizeH="0" baseline="0" noProof="0" dirty="0">
                <a:ln>
                  <a:noFill/>
                </a:ln>
                <a:solidFill>
                  <a:srgbClr val="122632"/>
                </a:solidFill>
                <a:effectLst/>
                <a:uLnTx/>
                <a:uFillTx/>
                <a:latin typeface="Arial" panose="020B0604020202020204"/>
                <a:ea typeface="ＭＳ Ｐゴシック"/>
                <a:cs typeface="Arial"/>
              </a:endParaRPr>
            </a:p>
            <a:p>
              <a:pPr marL="170815" marR="0" lvl="0" indent="-170815" algn="l" defTabSz="914126"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900" b="1" i="0" u="none" strike="noStrike" kern="1200" cap="none" spc="0" normalizeH="0" baseline="0" noProof="0" dirty="0">
                  <a:ln>
                    <a:noFill/>
                  </a:ln>
                  <a:solidFill>
                    <a:srgbClr val="122632"/>
                  </a:solidFill>
                  <a:effectLst/>
                  <a:uLnTx/>
                  <a:uFillTx/>
                  <a:latin typeface="Arial" panose="020B0604020202020204"/>
                  <a:ea typeface="ＭＳ Ｐゴシック"/>
                  <a:cs typeface="+mn-cs"/>
                </a:rPr>
                <a:t>GSC:</a:t>
              </a:r>
              <a:r>
                <a:rPr kumimoji="0" lang="en-GB" sz="900" b="0" i="0" u="none" strike="noStrike" kern="1200" cap="none" spc="0" normalizeH="0" baseline="0" noProof="0" dirty="0">
                  <a:ln>
                    <a:noFill/>
                  </a:ln>
                  <a:solidFill>
                    <a:srgbClr val="122632"/>
                  </a:solidFill>
                  <a:effectLst/>
                  <a:uLnTx/>
                  <a:uFillTx/>
                  <a:latin typeface="Arial" panose="020B0604020202020204"/>
                  <a:ea typeface="ＭＳ Ｐゴシック"/>
                  <a:cs typeface="+mn-cs"/>
                </a:rPr>
                <a:t> Centrally control Material Ledger closing</a:t>
              </a:r>
              <a:endParaRPr lang="en-GB" sz="900" b="0" i="0" u="none" strike="noStrike" kern="1200" cap="none" spc="0" normalizeH="0" baseline="0" noProof="0" dirty="0">
                <a:ln>
                  <a:noFill/>
                </a:ln>
                <a:solidFill>
                  <a:srgbClr val="122632"/>
                </a:solidFill>
                <a:effectLst/>
                <a:uLnTx/>
                <a:uFillTx/>
                <a:latin typeface="Arial" panose="020B0604020202020204"/>
                <a:ea typeface="ＭＳ Ｐゴシック"/>
                <a:cs typeface="Arial"/>
              </a:endParaRPr>
            </a:p>
            <a:p>
              <a:pPr marL="170815" indent="-170815" defTabSz="914126">
                <a:spcBef>
                  <a:spcPct val="20000"/>
                </a:spcBef>
                <a:buFont typeface="Arial" panose="020B0604020202020204" pitchFamily="34" charset="0"/>
                <a:buChar char="•"/>
                <a:defRPr/>
              </a:pPr>
              <a:r>
                <a:rPr kumimoji="0" lang="en-GB" sz="900" b="1" i="0" u="none" strike="noStrike" kern="1200" cap="none" spc="0" normalizeH="0" baseline="0" noProof="0" dirty="0">
                  <a:ln>
                    <a:noFill/>
                  </a:ln>
                  <a:solidFill>
                    <a:srgbClr val="122632"/>
                  </a:solidFill>
                  <a:effectLst/>
                  <a:uLnTx/>
                  <a:uFillTx/>
                  <a:latin typeface="Arial" panose="020B0604020202020204"/>
                  <a:ea typeface="ＭＳ Ｐゴシック"/>
                  <a:cs typeface="+mn-cs"/>
                </a:rPr>
                <a:t>Corporate Accounting</a:t>
              </a:r>
              <a:r>
                <a:rPr kumimoji="0" lang="en-GB" sz="900" b="0" i="0" u="none" strike="noStrike" kern="1200" cap="none" spc="0" normalizeH="0" baseline="0" noProof="0" dirty="0">
                  <a:ln>
                    <a:noFill/>
                  </a:ln>
                  <a:solidFill>
                    <a:srgbClr val="122632"/>
                  </a:solidFill>
                  <a:effectLst/>
                  <a:uLnTx/>
                  <a:uFillTx/>
                  <a:latin typeface="Arial" panose="020B0604020202020204"/>
                  <a:ea typeface="ＭＳ Ｐゴシック"/>
                  <a:cs typeface="+mn-cs"/>
                </a:rPr>
                <a:t>: In charge of consolidation and IFRS reporting.</a:t>
              </a:r>
              <a:endParaRPr lang="en-GB" sz="900" b="0" i="0" u="none" strike="noStrike" kern="1200" cap="none" spc="0" normalizeH="0" baseline="0" noProof="0" dirty="0">
                <a:ln>
                  <a:noFill/>
                </a:ln>
                <a:solidFill>
                  <a:srgbClr val="122632"/>
                </a:solidFill>
                <a:effectLst/>
                <a:uLnTx/>
                <a:uFillTx/>
                <a:latin typeface="Arial" panose="020B0604020202020204"/>
                <a:ea typeface="ＭＳ Ｐゴシック"/>
                <a:cs typeface="Arial"/>
              </a:endParaRPr>
            </a:p>
            <a:p>
              <a:pPr marL="170815" indent="-170815" defTabSz="914126">
                <a:spcBef>
                  <a:spcPct val="20000"/>
                </a:spcBef>
                <a:buFont typeface="Arial" panose="020B0604020202020204" pitchFamily="34" charset="0"/>
                <a:buChar char="•"/>
                <a:defRPr/>
              </a:pPr>
              <a:r>
                <a:rPr lang="en-GB" sz="900" b="1" dirty="0">
                  <a:solidFill>
                    <a:srgbClr val="122632"/>
                  </a:solidFill>
                  <a:latin typeface="Arial" panose="020B0604020202020204"/>
                  <a:ea typeface="ＭＳ Ｐゴシック"/>
                </a:rPr>
                <a:t>Global Performance  Management: </a:t>
              </a:r>
              <a:r>
                <a:rPr lang="en-GB" sz="900" dirty="0">
                  <a:solidFill>
                    <a:srgbClr val="122632"/>
                  </a:solidFill>
                  <a:latin typeface="Arial" panose="020B0604020202020204"/>
                  <a:ea typeface="ＭＳ Ｐゴシック"/>
                </a:rPr>
                <a:t>In charge of Management Reporting</a:t>
              </a:r>
              <a:r>
                <a:rPr lang="en-GB" sz="1100" dirty="0">
                  <a:solidFill>
                    <a:srgbClr val="122632"/>
                  </a:solidFill>
                  <a:latin typeface="Arial" panose="020B0604020202020204"/>
                  <a:ea typeface="ＭＳ Ｐゴシック"/>
                </a:rPr>
                <a:t>.</a:t>
              </a:r>
              <a:endParaRPr lang="en-GB" sz="1100" b="0" i="0" u="none" strike="noStrike" kern="1200" cap="none" spc="0" normalizeH="0" baseline="0" noProof="0" dirty="0">
                <a:ln>
                  <a:noFill/>
                </a:ln>
                <a:solidFill>
                  <a:srgbClr val="122632"/>
                </a:solidFill>
                <a:effectLst/>
                <a:uLnTx/>
                <a:uFillTx/>
                <a:latin typeface="Arial" panose="020B0604020202020204"/>
                <a:ea typeface="ＭＳ Ｐゴシック"/>
                <a:cs typeface="Arial"/>
              </a:endParaRPr>
            </a:p>
            <a:p>
              <a:pPr marL="170815" marR="0" lvl="0" indent="-170815" algn="l" defTabSz="914126"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lang="en-GB" sz="1100" b="0" i="0" u="none" strike="noStrike" kern="1200" cap="none" spc="0" normalizeH="0" baseline="0" noProof="0" dirty="0">
                <a:ln>
                  <a:noFill/>
                </a:ln>
                <a:solidFill>
                  <a:srgbClr val="122632"/>
                </a:solidFill>
                <a:effectLst/>
                <a:uLnTx/>
                <a:uFillTx/>
                <a:latin typeface="Arial" panose="020B0604020202020204"/>
                <a:ea typeface="ＭＳ Ｐゴシック" charset="0"/>
                <a:cs typeface="Arial" panose="020B0604020202020204"/>
              </a:endParaRPr>
            </a:p>
          </p:txBody>
        </p:sp>
      </p:grpSp>
      <p:sp>
        <p:nvSpPr>
          <p:cNvPr id="10" name="Title 1">
            <a:extLst>
              <a:ext uri="{FF2B5EF4-FFF2-40B4-BE49-F238E27FC236}">
                <a16:creationId xmlns:a16="http://schemas.microsoft.com/office/drawing/2014/main" id="{A114AB54-517F-41E8-6D24-945F80ACEA72}"/>
              </a:ext>
            </a:extLst>
          </p:cNvPr>
          <p:cNvSpPr txBox="1">
            <a:spLocks/>
          </p:cNvSpPr>
          <p:nvPr/>
        </p:nvSpPr>
        <p:spPr>
          <a:xfrm>
            <a:off x="1541131" y="43981"/>
            <a:ext cx="8902723" cy="984247"/>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GB"/>
              <a:t>JT-JTI Period End Closing Model</a:t>
            </a:r>
          </a:p>
        </p:txBody>
      </p:sp>
      <p:pic>
        <p:nvPicPr>
          <p:cNvPr id="11" name="Picture 10">
            <a:extLst>
              <a:ext uri="{FF2B5EF4-FFF2-40B4-BE49-F238E27FC236}">
                <a16:creationId xmlns:a16="http://schemas.microsoft.com/office/drawing/2014/main" id="{8725753A-882D-4ECA-BC54-E6A1F878F4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6481" y="1579371"/>
            <a:ext cx="2052480" cy="4416920"/>
          </a:xfrm>
          <a:prstGeom prst="rect">
            <a:avLst/>
          </a:prstGeom>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55A6F4B8-8767-2536-52E0-1CE8423D2A37}"/>
              </a:ext>
            </a:extLst>
          </p:cNvPr>
          <p:cNvSpPr txBox="1"/>
          <p:nvPr/>
        </p:nvSpPr>
        <p:spPr>
          <a:xfrm>
            <a:off x="1541131" y="4816610"/>
            <a:ext cx="943030" cy="350384"/>
          </a:xfrm>
          <a:prstGeom prst="rect">
            <a:avLst/>
          </a:prstGeom>
          <a:noFill/>
        </p:spPr>
        <p:txBody>
          <a:bodyPr wrap="square" lIns="0" tIns="0" rIns="0" bIns="0" rtlCol="0">
            <a:normAutofit/>
          </a:bodyPr>
          <a:lstStyle/>
          <a:p>
            <a:pPr marL="0" marR="0" lvl="0" indent="0" algn="r" defTabSz="914126"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Vision</a:t>
            </a:r>
          </a:p>
        </p:txBody>
      </p:sp>
      <p:sp>
        <p:nvSpPr>
          <p:cNvPr id="13" name="Rectangle 12">
            <a:extLst>
              <a:ext uri="{FF2B5EF4-FFF2-40B4-BE49-F238E27FC236}">
                <a16:creationId xmlns:a16="http://schemas.microsoft.com/office/drawing/2014/main" id="{C6F38A31-F047-4B50-6E29-E2E314F3D075}"/>
              </a:ext>
            </a:extLst>
          </p:cNvPr>
          <p:cNvSpPr/>
          <p:nvPr/>
        </p:nvSpPr>
        <p:spPr>
          <a:xfrm>
            <a:off x="799657" y="2559413"/>
            <a:ext cx="1986128" cy="1549101"/>
          </a:xfrm>
          <a:prstGeom prst="rect">
            <a:avLst/>
          </a:prstGeom>
          <a:noFill/>
          <a:ln>
            <a:noFill/>
          </a:ln>
          <a:effectLst>
            <a:outerShdw blurRad="63500" sx="102000" sy="102000" algn="ctr" rotWithShape="0">
              <a:prstClr val="black">
                <a:alpha val="40000"/>
              </a:prstClr>
            </a:outerShdw>
          </a:effectLst>
        </p:spPr>
        <p:txBody>
          <a:bodyPr rot="0" spcFirstLastPara="0" vertOverflow="overflow" horzOverflow="overflow" vert="horz" wrap="square" lIns="0" tIns="0" rIns="0" bIns="0" numCol="1" spcCol="0" rtlCol="0" fromWordArt="0" anchor="t" anchorCtr="1" forceAA="0" compatLnSpc="1">
            <a:prstTxWarp prst="textNoShape">
              <a:avLst/>
            </a:prstTxWarp>
            <a:noAutofit/>
          </a:bodyPr>
          <a:lstStyle/>
          <a:p>
            <a:pPr marL="107950" indent="-107950" defTabSz="914126">
              <a:spcBef>
                <a:spcPct val="20000"/>
              </a:spcBef>
              <a:buFont typeface="Arial" panose="020B0604020202020204" pitchFamily="34" charset="0"/>
              <a:buChar char="•"/>
              <a:defRPr/>
            </a:pPr>
            <a:r>
              <a:rPr kumimoji="0" lang="en-GB" sz="1050" b="0" i="0" u="none" strike="noStrike" kern="1200" cap="none" spc="0" normalizeH="0" baseline="0" noProof="0">
                <a:ln>
                  <a:noFill/>
                </a:ln>
                <a:effectLst/>
                <a:uLnTx/>
                <a:uFillTx/>
                <a:latin typeface="Arial" panose="020B0604020202020204"/>
                <a:ea typeface="ＭＳ Ｐゴシック" charset="0"/>
                <a:cs typeface="+mn-cs"/>
              </a:rPr>
              <a:t>“</a:t>
            </a:r>
            <a:r>
              <a:rPr lang="en-GB" sz="1050" b="1">
                <a:latin typeface="Arial" panose="020B0604020202020204"/>
                <a:ea typeface="ＭＳ Ｐゴシック" charset="0"/>
              </a:rPr>
              <a:t>B</a:t>
            </a:r>
            <a:r>
              <a:rPr kumimoji="0" lang="en-GB" sz="1050" b="1" i="0" u="none" strike="noStrike" kern="1200" cap="none" spc="0" normalizeH="0" baseline="0" noProof="0">
                <a:ln>
                  <a:noFill/>
                </a:ln>
                <a:effectLst/>
                <a:uLnTx/>
                <a:uFillTx/>
                <a:latin typeface="Arial" panose="020B0604020202020204"/>
                <a:ea typeface="ＭＳ Ｐゴシック" charset="0"/>
                <a:cs typeface="+mn-cs"/>
              </a:rPr>
              <a:t>est in class” financial closing and reporting:</a:t>
            </a:r>
            <a:r>
              <a:rPr kumimoji="0" lang="en-GB" sz="1050" b="0" i="0" u="none" strike="noStrike" kern="1200" cap="none" spc="0" normalizeH="0" baseline="0" noProof="0">
                <a:ln>
                  <a:noFill/>
                </a:ln>
                <a:effectLst/>
                <a:uLnTx/>
                <a:uFillTx/>
                <a:latin typeface="Arial" panose="020B0604020202020204"/>
                <a:ea typeface="ＭＳ Ｐゴシック" charset="0"/>
                <a:cs typeface="+mn-cs"/>
              </a:rPr>
              <a:t> fastest </a:t>
            </a:r>
            <a:r>
              <a:rPr lang="en-GB" sz="1050">
                <a:latin typeface="Arial" panose="020B0604020202020204"/>
                <a:ea typeface="ＭＳ Ｐゴシック" charset="0"/>
              </a:rPr>
              <a:t>possible disclosure of performance results to investors and management</a:t>
            </a:r>
            <a:endParaRPr kumimoji="0" lang="en-US" sz="1050" b="0" i="0" u="none" strike="noStrike" kern="1200" cap="none" spc="0" normalizeH="0" baseline="0" noProof="0">
              <a:ln>
                <a:noFill/>
              </a:ln>
              <a:effectLst/>
              <a:uLnTx/>
              <a:uFillTx/>
              <a:latin typeface="Arial"/>
              <a:ea typeface="ＭＳ Ｐゴシック" charset="0"/>
              <a:cs typeface="+mn-cs"/>
            </a:endParaRPr>
          </a:p>
          <a:p>
            <a:pPr defTabSz="914126">
              <a:spcBef>
                <a:spcPct val="20000"/>
              </a:spcBef>
              <a:defRPr/>
            </a:pPr>
            <a:endParaRPr lang="en-US" sz="1050" b="0" i="0" u="none" strike="sngStrike" kern="1200" cap="none" spc="0" normalizeH="0" baseline="0" noProof="0">
              <a:ln>
                <a:noFill/>
              </a:ln>
              <a:solidFill>
                <a:srgbClr val="122632"/>
              </a:solidFill>
              <a:effectLst/>
              <a:uLnTx/>
              <a:uFillTx/>
              <a:latin typeface="Arial"/>
              <a:ea typeface="ＭＳ Ｐゴシック" charset="0"/>
              <a:cs typeface="Arial"/>
            </a:endParaRPr>
          </a:p>
        </p:txBody>
      </p:sp>
      <p:pic>
        <p:nvPicPr>
          <p:cNvPr id="14" name="Picture 13">
            <a:extLst>
              <a:ext uri="{FF2B5EF4-FFF2-40B4-BE49-F238E27FC236}">
                <a16:creationId xmlns:a16="http://schemas.microsoft.com/office/drawing/2014/main" id="{CBF05C29-7692-B8A4-3432-E03AA8BDAF1D}"/>
              </a:ext>
            </a:extLst>
          </p:cNvPr>
          <p:cNvPicPr>
            <a:picLocks noChangeAspect="1"/>
          </p:cNvPicPr>
          <p:nvPr/>
        </p:nvPicPr>
        <p:blipFill>
          <a:blip r:embed="rId4"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400763" y="1689218"/>
            <a:ext cx="706497" cy="715590"/>
          </a:xfrm>
          <a:prstGeom prst="rect">
            <a:avLst/>
          </a:prstGeom>
        </p:spPr>
      </p:pic>
      <p:grpSp>
        <p:nvGrpSpPr>
          <p:cNvPr id="15" name="Group 14">
            <a:extLst>
              <a:ext uri="{FF2B5EF4-FFF2-40B4-BE49-F238E27FC236}">
                <a16:creationId xmlns:a16="http://schemas.microsoft.com/office/drawing/2014/main" id="{F88927BA-790E-8114-F184-A5C009525E06}"/>
              </a:ext>
            </a:extLst>
          </p:cNvPr>
          <p:cNvGrpSpPr/>
          <p:nvPr/>
        </p:nvGrpSpPr>
        <p:grpSpPr>
          <a:xfrm>
            <a:off x="2925235" y="1591246"/>
            <a:ext cx="2059928" cy="4416920"/>
            <a:chOff x="2817052" y="1193480"/>
            <a:chExt cx="2059928" cy="3462931"/>
          </a:xfrm>
          <a:effectLst>
            <a:outerShdw blurRad="50800" dist="38100" dir="2700000" algn="tl" rotWithShape="0">
              <a:prstClr val="black">
                <a:alpha val="40000"/>
              </a:prstClr>
            </a:outerShdw>
          </a:effectLst>
        </p:grpSpPr>
        <p:pic>
          <p:nvPicPr>
            <p:cNvPr id="16" name="Picture 15">
              <a:extLst>
                <a:ext uri="{FF2B5EF4-FFF2-40B4-BE49-F238E27FC236}">
                  <a16:creationId xmlns:a16="http://schemas.microsoft.com/office/drawing/2014/main" id="{1C9C2E16-DFFE-4126-F512-54B3A75725C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17052" y="1193480"/>
              <a:ext cx="2059928" cy="3462931"/>
            </a:xfrm>
            <a:prstGeom prst="rect">
              <a:avLst/>
            </a:prstGeom>
          </p:spPr>
        </p:pic>
        <p:grpSp>
          <p:nvGrpSpPr>
            <p:cNvPr id="17" name="Group 16">
              <a:extLst>
                <a:ext uri="{FF2B5EF4-FFF2-40B4-BE49-F238E27FC236}">
                  <a16:creationId xmlns:a16="http://schemas.microsoft.com/office/drawing/2014/main" id="{2003FF59-838C-BFC2-195A-82322AAF8264}"/>
                </a:ext>
              </a:extLst>
            </p:cNvPr>
            <p:cNvGrpSpPr/>
            <p:nvPr/>
          </p:nvGrpSpPr>
          <p:grpSpPr>
            <a:xfrm>
              <a:off x="2862359" y="1952537"/>
              <a:ext cx="1969313" cy="2075495"/>
              <a:chOff x="2836233" y="2004789"/>
              <a:chExt cx="1969313" cy="2075495"/>
            </a:xfrm>
          </p:grpSpPr>
          <p:sp>
            <p:nvSpPr>
              <p:cNvPr id="18" name="TextBox 17">
                <a:extLst>
                  <a:ext uri="{FF2B5EF4-FFF2-40B4-BE49-F238E27FC236}">
                    <a16:creationId xmlns:a16="http://schemas.microsoft.com/office/drawing/2014/main" id="{80784CA7-36A2-4730-751B-F59191099CAF}"/>
                  </a:ext>
                </a:extLst>
              </p:cNvPr>
              <p:cNvSpPr txBox="1"/>
              <p:nvPr/>
            </p:nvSpPr>
            <p:spPr>
              <a:xfrm>
                <a:off x="3673074" y="3762733"/>
                <a:ext cx="943030" cy="317551"/>
              </a:xfrm>
              <a:prstGeom prst="rect">
                <a:avLst/>
              </a:prstGeom>
              <a:noFill/>
            </p:spPr>
            <p:txBody>
              <a:bodyPr wrap="square" lIns="0" tIns="0" rIns="0" bIns="0" rtlCol="0">
                <a:normAutofit lnSpcReduction="10000"/>
              </a:bodyPr>
              <a:lstStyle/>
              <a:p>
                <a:pPr marL="0" marR="0" lvl="0" indent="0" algn="r" defTabSz="914126"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Scope and Frequency</a:t>
                </a:r>
              </a:p>
            </p:txBody>
          </p:sp>
          <p:sp>
            <p:nvSpPr>
              <p:cNvPr id="19" name="Rectangle 18">
                <a:extLst>
                  <a:ext uri="{FF2B5EF4-FFF2-40B4-BE49-F238E27FC236}">
                    <a16:creationId xmlns:a16="http://schemas.microsoft.com/office/drawing/2014/main" id="{49865712-2203-577E-30A9-64B0ACD25337}"/>
                  </a:ext>
                </a:extLst>
              </p:cNvPr>
              <p:cNvSpPr/>
              <p:nvPr/>
            </p:nvSpPr>
            <p:spPr>
              <a:xfrm>
                <a:off x="2836233" y="2004789"/>
                <a:ext cx="1969313" cy="1156337"/>
              </a:xfrm>
              <a:prstGeom prst="rect">
                <a:avLst/>
              </a:prstGeom>
              <a:noFill/>
              <a:ln>
                <a:noFill/>
              </a:ln>
              <a:effectLst>
                <a:outerShdw blurRad="63500" sx="102000" sy="102000" algn="ctr" rotWithShape="0">
                  <a:prstClr val="black">
                    <a:alpha val="40000"/>
                  </a:prstClr>
                </a:outerShdw>
              </a:effectLst>
            </p:spPr>
            <p:txBody>
              <a:bodyPr rot="0" spcFirstLastPara="0" vertOverflow="overflow" horzOverflow="overflow" vert="horz" wrap="square" lIns="0" tIns="0" rIns="0" bIns="0" numCol="1" spcCol="0" rtlCol="0" fromWordArt="0" anchor="t" anchorCtr="1" forceAA="0" compatLnSpc="1">
                <a:prstTxWarp prst="textNoShape">
                  <a:avLst/>
                </a:prstTxWarp>
                <a:noAutofit/>
              </a:bodyPr>
              <a:lstStyle/>
              <a:p>
                <a:pPr marL="171399" indent="-171399" defTabSz="914126">
                  <a:spcBef>
                    <a:spcPct val="20000"/>
                  </a:spcBef>
                  <a:buFont typeface="Arial" panose="020B0604020202020204" pitchFamily="34" charset="0"/>
                  <a:buChar char="•"/>
                  <a:defRPr/>
                </a:pPr>
                <a:r>
                  <a:rPr lang="en-US" sz="950" dirty="0">
                    <a:solidFill>
                      <a:srgbClr val="122632"/>
                    </a:solidFill>
                    <a:ea typeface="ＭＳ Ｐゴシック" charset="0"/>
                  </a:rPr>
                  <a:t>Closing of P1-P11 is </a:t>
                </a:r>
                <a:r>
                  <a:rPr lang="en-US" sz="950" b="1" dirty="0">
                    <a:solidFill>
                      <a:srgbClr val="122632"/>
                    </a:solidFill>
                    <a:ea typeface="ＭＳ Ｐゴシック" charset="0"/>
                  </a:rPr>
                  <a:t>based on Geneva (JTI HQ location) calendar</a:t>
                </a:r>
                <a:r>
                  <a:rPr lang="en-US" sz="950" dirty="0">
                    <a:solidFill>
                      <a:srgbClr val="122632"/>
                    </a:solidFill>
                    <a:ea typeface="ＭＳ Ｐゴシック" charset="0"/>
                  </a:rPr>
                  <a:t>. </a:t>
                </a:r>
              </a:p>
              <a:p>
                <a:pPr marL="171399" indent="-171399" defTabSz="914126">
                  <a:spcBef>
                    <a:spcPct val="20000"/>
                  </a:spcBef>
                  <a:buFont typeface="Arial" panose="020B0604020202020204" pitchFamily="34" charset="0"/>
                  <a:buChar char="•"/>
                  <a:defRPr/>
                </a:pPr>
                <a:r>
                  <a:rPr lang="en-US" sz="950" dirty="0">
                    <a:solidFill>
                      <a:srgbClr val="122632"/>
                    </a:solidFill>
                    <a:ea typeface="ＭＳ Ｐゴシック" charset="0"/>
                  </a:rPr>
                  <a:t>Closing of P12 is </a:t>
                </a:r>
                <a:r>
                  <a:rPr lang="en-US" sz="950" b="1" dirty="0">
                    <a:solidFill>
                      <a:srgbClr val="122632"/>
                    </a:solidFill>
                    <a:ea typeface="ＭＳ Ｐゴシック" charset="0"/>
                  </a:rPr>
                  <a:t>based on Hybrid calendar </a:t>
                </a:r>
                <a:r>
                  <a:rPr lang="en-US" sz="950" dirty="0">
                    <a:solidFill>
                      <a:srgbClr val="122632"/>
                    </a:solidFill>
                    <a:ea typeface="ＭＳ Ｐゴシック" charset="0"/>
                  </a:rPr>
                  <a:t>(Jan 1-3 are treated as non-working days)</a:t>
                </a:r>
                <a:endParaRPr kumimoji="0" lang="ru-RU" sz="950" b="0" i="0" u="none" strike="noStrike" kern="1200" cap="none" spc="0" normalizeH="0" baseline="0" noProof="0" dirty="0">
                  <a:ln>
                    <a:noFill/>
                  </a:ln>
                  <a:solidFill>
                    <a:srgbClr val="000000"/>
                  </a:solidFill>
                  <a:effectLst/>
                  <a:uLnTx/>
                  <a:uFillTx/>
                  <a:latin typeface="Arial" panose="020B0604020202020204"/>
                  <a:ea typeface="ＭＳ Ｐゴシック" charset="0"/>
                  <a:cs typeface="+mn-cs"/>
                </a:endParaRPr>
              </a:p>
              <a:p>
                <a:pPr marL="171399" marR="0" lvl="0" indent="-171399" algn="l" defTabSz="914126"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950" b="0" i="0" u="none" strike="noStrike" kern="1200" cap="none" spc="0" normalizeH="0" baseline="0" noProof="0" dirty="0">
                    <a:ln>
                      <a:noFill/>
                    </a:ln>
                    <a:solidFill>
                      <a:srgbClr val="000000"/>
                    </a:solidFill>
                    <a:effectLst/>
                    <a:uLnTx/>
                    <a:uFillTx/>
                    <a:latin typeface="Arial" panose="020B0604020202020204"/>
                    <a:ea typeface="ＭＳ Ｐゴシック" charset="0"/>
                    <a:cs typeface="+mn-cs"/>
                  </a:rPr>
                  <a:t>Closing of IFRS, Statutory and Tax ledgers will be executed monthly</a:t>
                </a:r>
              </a:p>
              <a:p>
                <a:pPr marL="171399" marR="0" lvl="0" indent="-171399" algn="l" defTabSz="914126"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950" b="0" i="0" u="none" strike="noStrike" kern="1200" cap="none" spc="0" normalizeH="0" baseline="0" noProof="0" dirty="0">
                    <a:ln>
                      <a:noFill/>
                    </a:ln>
                    <a:solidFill>
                      <a:srgbClr val="000000"/>
                    </a:solidFill>
                    <a:effectLst/>
                    <a:uLnTx/>
                    <a:uFillTx/>
                    <a:latin typeface="Arial" panose="020B0604020202020204"/>
                    <a:ea typeface="ＭＳ Ｐゴシック" charset="0"/>
                    <a:cs typeface="+mn-cs"/>
                  </a:rPr>
                  <a:t>Closing of Statutory Extension Ledger S1 and Tax Extension Ledger T1 will be executed annually</a:t>
                </a:r>
                <a:endParaRPr kumimoji="0" lang="en-US" sz="950" b="0" i="0" u="none" strike="noStrike" kern="1200" cap="none" spc="0" normalizeH="0" baseline="0" noProof="0" dirty="0">
                  <a:ln>
                    <a:noFill/>
                  </a:ln>
                  <a:solidFill>
                    <a:srgbClr val="000000"/>
                  </a:solidFill>
                  <a:effectLst/>
                  <a:uLnTx/>
                  <a:uFillTx/>
                  <a:latin typeface="Arial"/>
                  <a:ea typeface="ＭＳ Ｐゴシック" charset="0"/>
                  <a:cs typeface="+mn-cs"/>
                </a:endParaRPr>
              </a:p>
            </p:txBody>
          </p:sp>
        </p:grpSp>
      </p:grpSp>
      <p:grpSp>
        <p:nvGrpSpPr>
          <p:cNvPr id="20" name="Group 19">
            <a:extLst>
              <a:ext uri="{FF2B5EF4-FFF2-40B4-BE49-F238E27FC236}">
                <a16:creationId xmlns:a16="http://schemas.microsoft.com/office/drawing/2014/main" id="{1352D239-65C8-5AEA-745C-90A7B88D81BD}"/>
              </a:ext>
            </a:extLst>
          </p:cNvPr>
          <p:cNvGrpSpPr/>
          <p:nvPr/>
        </p:nvGrpSpPr>
        <p:grpSpPr>
          <a:xfrm>
            <a:off x="7197836" y="1602985"/>
            <a:ext cx="2059928" cy="4389076"/>
            <a:chOff x="7297843" y="1193480"/>
            <a:chExt cx="2059928" cy="3462931"/>
          </a:xfrm>
          <a:effectLst>
            <a:outerShdw blurRad="50800" dist="38100" dir="2700000" algn="tl" rotWithShape="0">
              <a:prstClr val="black">
                <a:alpha val="40000"/>
              </a:prstClr>
            </a:outerShdw>
          </a:effectLst>
        </p:grpSpPr>
        <p:pic>
          <p:nvPicPr>
            <p:cNvPr id="21" name="Picture 20">
              <a:extLst>
                <a:ext uri="{FF2B5EF4-FFF2-40B4-BE49-F238E27FC236}">
                  <a16:creationId xmlns:a16="http://schemas.microsoft.com/office/drawing/2014/main" id="{78D2CBFC-4863-276C-B049-B13976979BB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297843" y="1193480"/>
              <a:ext cx="2059928" cy="3462931"/>
            </a:xfrm>
            <a:prstGeom prst="rect">
              <a:avLst/>
            </a:prstGeom>
          </p:spPr>
        </p:pic>
        <p:sp>
          <p:nvSpPr>
            <p:cNvPr id="22" name="Rectangle 21">
              <a:extLst>
                <a:ext uri="{FF2B5EF4-FFF2-40B4-BE49-F238E27FC236}">
                  <a16:creationId xmlns:a16="http://schemas.microsoft.com/office/drawing/2014/main" id="{8A932636-8209-503B-B5FD-0BA4B49F7AC9}"/>
                </a:ext>
              </a:extLst>
            </p:cNvPr>
            <p:cNvSpPr/>
            <p:nvPr/>
          </p:nvSpPr>
          <p:spPr>
            <a:xfrm>
              <a:off x="7361017" y="2052668"/>
              <a:ext cx="1937125" cy="569099"/>
            </a:xfrm>
            <a:prstGeom prst="rect">
              <a:avLst/>
            </a:prstGeom>
            <a:noFill/>
            <a:ln>
              <a:noFill/>
            </a:ln>
            <a:effectLst>
              <a:outerShdw blurRad="63500" sx="102000" sy="102000" algn="ctr" rotWithShape="0">
                <a:prstClr val="black">
                  <a:alpha val="40000"/>
                </a:prstClr>
              </a:outerShdw>
            </a:effectLst>
          </p:spPr>
          <p:txBody>
            <a:bodyPr rot="0" spcFirstLastPara="0" vertOverflow="overflow" horzOverflow="overflow" vert="horz" wrap="square" lIns="0" tIns="0" rIns="0" bIns="0" numCol="1" spcCol="0" rtlCol="0" fromWordArt="0" anchor="t" anchorCtr="1" forceAA="0" compatLnSpc="1">
              <a:prstTxWarp prst="textNoShape">
                <a:avLst/>
              </a:prstTxWarp>
              <a:noAutofit/>
            </a:bodyPr>
            <a:lstStyle/>
            <a:p>
              <a:pPr marL="171399" marR="0" lvl="0" indent="-171399" algn="l" defTabSz="914126"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a:noFill/>
                  </a:ln>
                  <a:solidFill>
                    <a:srgbClr val="122632"/>
                  </a:solidFill>
                  <a:effectLst/>
                  <a:uLnTx/>
                  <a:uFillTx/>
                  <a:latin typeface="Arial" panose="020B0604020202020204"/>
                  <a:ea typeface="ＭＳ Ｐゴシック" charset="0"/>
                  <a:cs typeface="+mn-cs"/>
                </a:rPr>
                <a:t>Financial Closing Cockpit (FCC) </a:t>
              </a:r>
              <a:r>
                <a:rPr lang="en-GB" sz="1100">
                  <a:ea typeface="ＭＳ Ｐゴシック" charset="0"/>
                </a:rPr>
                <a:t>automates closing tasks for all core ledgers.</a:t>
              </a:r>
              <a:endParaRPr kumimoji="0" lang="en-US" sz="1100" b="0" i="0" u="none" strike="noStrike" kern="1200" cap="none" spc="0" normalizeH="0" baseline="0" noProof="0">
                <a:ln>
                  <a:noFill/>
                </a:ln>
                <a:solidFill>
                  <a:srgbClr val="122632"/>
                </a:solidFill>
                <a:effectLst/>
                <a:uLnTx/>
                <a:uFillTx/>
                <a:latin typeface="Arial"/>
                <a:ea typeface="ＭＳ Ｐゴシック" charset="0"/>
                <a:cs typeface="+mn-cs"/>
              </a:endParaRPr>
            </a:p>
          </p:txBody>
        </p:sp>
        <p:sp>
          <p:nvSpPr>
            <p:cNvPr id="23" name="TextBox 22">
              <a:extLst>
                <a:ext uri="{FF2B5EF4-FFF2-40B4-BE49-F238E27FC236}">
                  <a16:creationId xmlns:a16="http://schemas.microsoft.com/office/drawing/2014/main" id="{414F21B1-1D76-5D32-C631-9F0369906CDB}"/>
                </a:ext>
              </a:extLst>
            </p:cNvPr>
            <p:cNvSpPr txBox="1"/>
            <p:nvPr/>
          </p:nvSpPr>
          <p:spPr>
            <a:xfrm>
              <a:off x="7953792" y="3709245"/>
              <a:ext cx="1173886" cy="427869"/>
            </a:xfrm>
            <a:prstGeom prst="rect">
              <a:avLst/>
            </a:prstGeom>
            <a:noFill/>
          </p:spPr>
          <p:txBody>
            <a:bodyPr wrap="square" lIns="0" tIns="0" rIns="0" bIns="0" rtlCol="0">
              <a:normAutofit/>
            </a:bodyPr>
            <a:lstStyle/>
            <a:p>
              <a:pPr marL="0" marR="0" lvl="0" indent="0" algn="r" defTabSz="914126"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Tools</a:t>
              </a:r>
            </a:p>
          </p:txBody>
        </p:sp>
      </p:grpSp>
      <p:grpSp>
        <p:nvGrpSpPr>
          <p:cNvPr id="24" name="Group 23">
            <a:extLst>
              <a:ext uri="{FF2B5EF4-FFF2-40B4-BE49-F238E27FC236}">
                <a16:creationId xmlns:a16="http://schemas.microsoft.com/office/drawing/2014/main" id="{B81B7FE3-CBA1-EA9A-D130-766442A532F6}"/>
              </a:ext>
            </a:extLst>
          </p:cNvPr>
          <p:cNvGrpSpPr/>
          <p:nvPr/>
        </p:nvGrpSpPr>
        <p:grpSpPr>
          <a:xfrm>
            <a:off x="9338893" y="1602985"/>
            <a:ext cx="2059928" cy="4405181"/>
            <a:chOff x="7297843" y="1193480"/>
            <a:chExt cx="2059928" cy="3462931"/>
          </a:xfrm>
          <a:effectLst>
            <a:outerShdw blurRad="50800" dist="38100" dir="2700000" algn="tl" rotWithShape="0">
              <a:prstClr val="black">
                <a:alpha val="40000"/>
              </a:prstClr>
            </a:outerShdw>
          </a:effectLst>
        </p:grpSpPr>
        <p:pic>
          <p:nvPicPr>
            <p:cNvPr id="25" name="Picture 24">
              <a:extLst>
                <a:ext uri="{FF2B5EF4-FFF2-40B4-BE49-F238E27FC236}">
                  <a16:creationId xmlns:a16="http://schemas.microsoft.com/office/drawing/2014/main" id="{0CEAEDD7-4C77-87A1-DFF0-017E12560832}"/>
                </a:ext>
              </a:extLst>
            </p:cNvPr>
            <p:cNvPicPr>
              <a:picLocks noChangeAspect="1"/>
            </p:cNvPicPr>
            <p:nvPr/>
          </p:nvPicPr>
          <p:blipFill>
            <a:blip r:embed="rId6" cstate="print">
              <a:grayscl/>
              <a:extLst>
                <a:ext uri="{28A0092B-C50C-407E-A947-70E740481C1C}">
                  <a14:useLocalDpi xmlns:a14="http://schemas.microsoft.com/office/drawing/2010/main" val="0"/>
                </a:ext>
              </a:extLst>
            </a:blip>
            <a:stretch>
              <a:fillRect/>
            </a:stretch>
          </p:blipFill>
          <p:spPr>
            <a:xfrm>
              <a:off x="7297843" y="1193480"/>
              <a:ext cx="2059928" cy="3462931"/>
            </a:xfrm>
            <a:prstGeom prst="rect">
              <a:avLst/>
            </a:prstGeom>
          </p:spPr>
        </p:pic>
        <p:sp>
          <p:nvSpPr>
            <p:cNvPr id="26" name="Rectangle 25">
              <a:extLst>
                <a:ext uri="{FF2B5EF4-FFF2-40B4-BE49-F238E27FC236}">
                  <a16:creationId xmlns:a16="http://schemas.microsoft.com/office/drawing/2014/main" id="{38C16B5C-C120-779A-4772-A0A109C2D5A0}"/>
                </a:ext>
              </a:extLst>
            </p:cNvPr>
            <p:cNvSpPr/>
            <p:nvPr/>
          </p:nvSpPr>
          <p:spPr>
            <a:xfrm>
              <a:off x="7297843" y="2060285"/>
              <a:ext cx="1996754" cy="569099"/>
            </a:xfrm>
            <a:prstGeom prst="rect">
              <a:avLst/>
            </a:prstGeom>
            <a:noFill/>
            <a:ln>
              <a:noFill/>
            </a:ln>
            <a:effectLst>
              <a:outerShdw blurRad="63500" sx="102000" sy="102000" algn="ctr" rotWithShape="0">
                <a:prstClr val="black">
                  <a:alpha val="40000"/>
                </a:prstClr>
              </a:outerShdw>
            </a:effectLst>
          </p:spPr>
          <p:txBody>
            <a:bodyPr rot="0" spcFirstLastPara="0" vertOverflow="overflow" horzOverflow="overflow" vert="horz" wrap="square" lIns="0" tIns="0" rIns="0" bIns="0" numCol="1" spcCol="0" rtlCol="0" fromWordArt="0" anchor="t" anchorCtr="1" forceAA="0" compatLnSpc="1">
              <a:prstTxWarp prst="textNoShape">
                <a:avLst/>
              </a:prstTxWarp>
              <a:noAutofit/>
            </a:bodyPr>
            <a:lstStyle/>
            <a:p>
              <a:pPr marL="170815" marR="0" lvl="0" indent="-170815" algn="l" defTabSz="914126"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a:noFill/>
                  </a:ln>
                  <a:solidFill>
                    <a:srgbClr val="122632"/>
                  </a:solidFill>
                  <a:effectLst/>
                  <a:uLnTx/>
                  <a:uFillTx/>
                  <a:latin typeface="Arial" panose="020B0604020202020204"/>
                  <a:ea typeface="ＭＳ Ｐゴシック" charset="0"/>
                  <a:cs typeface="+mn-cs"/>
                </a:rPr>
                <a:t>Period End Closing processes is part of Global Reference Model (GRM) . </a:t>
              </a:r>
              <a:endParaRPr lang="en-US">
                <a:cs typeface="+mn-cs"/>
              </a:endParaRPr>
            </a:p>
            <a:p>
              <a:pPr marL="170815" indent="-170815" defTabSz="914126">
                <a:spcBef>
                  <a:spcPct val="20000"/>
                </a:spcBef>
                <a:buFont typeface="Arial" panose="020B0604020202020204" pitchFamily="34" charset="0"/>
                <a:buChar char="•"/>
                <a:defRPr/>
              </a:pPr>
              <a:r>
                <a:rPr kumimoji="0" lang="en-GB" sz="1100" b="0" i="0" u="none" strike="noStrike" kern="1200" cap="none" spc="0" normalizeH="0" baseline="0" noProof="0">
                  <a:ln>
                    <a:noFill/>
                  </a:ln>
                  <a:solidFill>
                    <a:srgbClr val="122632"/>
                  </a:solidFill>
                  <a:effectLst/>
                  <a:uLnTx/>
                  <a:uFillTx/>
                  <a:latin typeface="Arial" panose="020B0604020202020204"/>
                  <a:ea typeface="ＭＳ Ｐゴシック" charset="0"/>
                  <a:cs typeface="+mn-cs"/>
                </a:rPr>
                <a:t>Any </a:t>
              </a:r>
              <a:r>
                <a:rPr lang="en-GB" sz="1100">
                  <a:solidFill>
                    <a:srgbClr val="122632"/>
                  </a:solidFill>
                  <a:ea typeface="ＭＳ Ｐゴシック" charset="0"/>
                </a:rPr>
                <a:t>exceptions/</a:t>
              </a:r>
              <a:r>
                <a:rPr lang="en-GB" sz="1100" b="1">
                  <a:solidFill>
                    <a:srgbClr val="122632"/>
                  </a:solidFill>
                  <a:ea typeface="ＭＳ Ｐゴシック" charset="0"/>
                </a:rPr>
                <a:t>deviations from PEC GRM</a:t>
              </a:r>
              <a:r>
                <a:rPr lang="en-GB" sz="1100">
                  <a:solidFill>
                    <a:srgbClr val="122632"/>
                  </a:solidFill>
                  <a:ea typeface="ＭＳ Ｐゴシック" charset="0"/>
                </a:rPr>
                <a:t> , </a:t>
              </a:r>
              <a:r>
                <a:rPr kumimoji="0" lang="en-GB" sz="1100" b="0" i="0" u="none" strike="noStrike" kern="1200" cap="none" spc="0" normalizeH="0" baseline="0" noProof="0">
                  <a:ln>
                    <a:noFill/>
                  </a:ln>
                  <a:solidFill>
                    <a:srgbClr val="122632"/>
                  </a:solidFill>
                  <a:effectLst/>
                  <a:uLnTx/>
                  <a:uFillTx/>
                  <a:latin typeface="Arial" panose="020B0604020202020204"/>
                  <a:ea typeface="ＭＳ Ｐゴシック" charset="0"/>
                  <a:cs typeface="+mn-cs"/>
                </a:rPr>
                <a:t>driven by legal/statutory requirements, are </a:t>
              </a:r>
              <a:r>
                <a:rPr kumimoji="0" lang="en-GB" sz="1100" b="1" i="0" u="none" strike="noStrike" kern="1200" cap="none" spc="0" normalizeH="0" baseline="0" noProof="0">
                  <a:ln>
                    <a:noFill/>
                  </a:ln>
                  <a:solidFill>
                    <a:srgbClr val="122632"/>
                  </a:solidFill>
                  <a:effectLst/>
                  <a:uLnTx/>
                  <a:uFillTx/>
                  <a:latin typeface="Arial" panose="020B0604020202020204"/>
                  <a:ea typeface="ＭＳ Ｐゴシック" charset="0"/>
                  <a:cs typeface="+mn-cs"/>
                </a:rPr>
                <a:t>documented/approved by R2R Competency </a:t>
              </a:r>
              <a:r>
                <a:rPr kumimoji="0" lang="en-GB" sz="1100" b="1" i="0" u="none" strike="noStrike" kern="1200" cap="none" spc="0" normalizeH="0" baseline="0" noProof="0" err="1">
                  <a:ln>
                    <a:noFill/>
                  </a:ln>
                  <a:solidFill>
                    <a:srgbClr val="122632"/>
                  </a:solidFill>
                  <a:effectLst/>
                  <a:uLnTx/>
                  <a:uFillTx/>
                  <a:latin typeface="Arial" panose="020B0604020202020204"/>
                  <a:ea typeface="ＭＳ Ｐゴシック" charset="0"/>
                  <a:cs typeface="+mn-cs"/>
                </a:rPr>
                <a:t>Center</a:t>
              </a:r>
              <a:r>
                <a:rPr kumimoji="0" lang="en-GB" sz="1100" b="1" i="0" u="none" strike="noStrike" kern="1200" cap="none" spc="0" normalizeH="0" baseline="0" noProof="0">
                  <a:ln>
                    <a:noFill/>
                  </a:ln>
                  <a:solidFill>
                    <a:srgbClr val="122632"/>
                  </a:solidFill>
                  <a:effectLst/>
                  <a:uLnTx/>
                  <a:uFillTx/>
                  <a:latin typeface="Arial" panose="020B0604020202020204"/>
                  <a:ea typeface="ＭＳ Ｐゴシック" charset="0"/>
                  <a:cs typeface="+mn-cs"/>
                </a:rPr>
                <a:t>.</a:t>
              </a:r>
              <a:endParaRPr kumimoji="0" lang="en-US" sz="1100" b="1" i="0" u="none" strike="noStrike" kern="1200" cap="none" spc="0" normalizeH="0" baseline="0" noProof="0">
                <a:ln>
                  <a:noFill/>
                </a:ln>
                <a:solidFill>
                  <a:srgbClr val="122632"/>
                </a:solidFill>
                <a:effectLst/>
                <a:uLnTx/>
                <a:uFillTx/>
                <a:latin typeface="Arial"/>
                <a:ea typeface="ＭＳ Ｐゴシック" charset="0"/>
                <a:cs typeface="+mn-cs"/>
              </a:endParaRPr>
            </a:p>
            <a:p>
              <a:pPr marL="170815" indent="-170815" defTabSz="914126">
                <a:spcBef>
                  <a:spcPct val="20000"/>
                </a:spcBef>
                <a:buFont typeface="Arial" panose="020B0604020202020204" pitchFamily="34" charset="0"/>
                <a:buChar char="•"/>
                <a:defRPr/>
              </a:pPr>
              <a:endParaRPr kumimoji="0" lang="en-GB" sz="1100" b="0" i="0" u="none" strike="noStrike" kern="1200" cap="none" spc="0" normalizeH="0" baseline="0" noProof="0">
                <a:ln>
                  <a:noFill/>
                </a:ln>
                <a:solidFill>
                  <a:srgbClr val="122632"/>
                </a:solidFill>
                <a:effectLst/>
                <a:uLnTx/>
                <a:uFillTx/>
                <a:latin typeface="Arial" panose="020B0604020202020204"/>
                <a:ea typeface="ＭＳ Ｐゴシック"/>
                <a:cs typeface="+mn-cs"/>
              </a:endParaRPr>
            </a:p>
            <a:p>
              <a:pPr marL="170815" marR="0" lvl="0" indent="-170815" algn="l" defTabSz="914126"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lang="en-US" sz="1100" b="0" i="0" u="none" strike="noStrike" kern="1200" cap="none" spc="0" normalizeH="0" baseline="0" noProof="0">
                <a:ln>
                  <a:noFill/>
                </a:ln>
                <a:solidFill>
                  <a:srgbClr val="122632"/>
                </a:solidFill>
                <a:effectLst/>
                <a:uLnTx/>
                <a:uFillTx/>
                <a:latin typeface="Arial"/>
                <a:ea typeface="ＭＳ Ｐゴシック" charset="0"/>
                <a:cs typeface="Arial"/>
              </a:endParaRPr>
            </a:p>
          </p:txBody>
        </p:sp>
        <p:sp>
          <p:nvSpPr>
            <p:cNvPr id="27" name="TextBox 26">
              <a:extLst>
                <a:ext uri="{FF2B5EF4-FFF2-40B4-BE49-F238E27FC236}">
                  <a16:creationId xmlns:a16="http://schemas.microsoft.com/office/drawing/2014/main" id="{CD5A04F8-15C6-BC56-A371-EECDCB408502}"/>
                </a:ext>
              </a:extLst>
            </p:cNvPr>
            <p:cNvSpPr txBox="1"/>
            <p:nvPr/>
          </p:nvSpPr>
          <p:spPr>
            <a:xfrm>
              <a:off x="7920287" y="3709245"/>
              <a:ext cx="1173886" cy="427869"/>
            </a:xfrm>
            <a:prstGeom prst="rect">
              <a:avLst/>
            </a:prstGeom>
            <a:noFill/>
          </p:spPr>
          <p:txBody>
            <a:bodyPr wrap="square" lIns="0" tIns="0" rIns="0" bIns="0" rtlCol="0">
              <a:normAutofit/>
            </a:bodyPr>
            <a:lstStyle/>
            <a:p>
              <a:pPr marL="0" marR="0" lvl="0" indent="0" algn="r" defTabSz="914126"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Governance</a:t>
              </a:r>
            </a:p>
          </p:txBody>
        </p:sp>
      </p:grpSp>
      <p:pic>
        <p:nvPicPr>
          <p:cNvPr id="28" name="Picture 27">
            <a:extLst>
              <a:ext uri="{FF2B5EF4-FFF2-40B4-BE49-F238E27FC236}">
                <a16:creationId xmlns:a16="http://schemas.microsoft.com/office/drawing/2014/main" id="{8F0DEDDE-A54C-351B-3308-8DE0780665C6}"/>
              </a:ext>
            </a:extLst>
          </p:cNvPr>
          <p:cNvPicPr>
            <a:picLocks noChangeAspect="1"/>
          </p:cNvPicPr>
          <p:nvPr/>
        </p:nvPicPr>
        <p:blipFill>
          <a:blip r:embed="rId7" cstate="hqprint">
            <a:duotone>
              <a:schemeClr val="accent4">
                <a:shade val="45000"/>
                <a:satMod val="135000"/>
              </a:schemeClr>
              <a:prstClr val="white"/>
            </a:duotone>
            <a:extLst>
              <a:ext uri="{BEBA8EAE-BF5A-486C-A8C5-ECC9F3942E4B}">
                <a14:imgProps xmlns:a14="http://schemas.microsoft.com/office/drawing/2010/main">
                  <a14:imgLayer r:embed="rId8">
                    <a14:imgEffect>
                      <a14:artisticGlowEdges/>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629320" y="1667050"/>
            <a:ext cx="749135" cy="805133"/>
          </a:xfrm>
          <a:prstGeom prst="rect">
            <a:avLst/>
          </a:prstGeom>
        </p:spPr>
      </p:pic>
      <p:pic>
        <p:nvPicPr>
          <p:cNvPr id="29" name="Picture 28">
            <a:extLst>
              <a:ext uri="{FF2B5EF4-FFF2-40B4-BE49-F238E27FC236}">
                <a16:creationId xmlns:a16="http://schemas.microsoft.com/office/drawing/2014/main" id="{7CED2762-3C21-D470-702D-A6773D42078B}"/>
              </a:ext>
            </a:extLst>
          </p:cNvPr>
          <p:cNvPicPr>
            <a:picLocks noChangeAspect="1"/>
          </p:cNvPicPr>
          <p:nvPr/>
        </p:nvPicPr>
        <p:blipFill>
          <a:blip r:embed="rId9" cstate="hqprint">
            <a:duotone>
              <a:prstClr val="black"/>
              <a:schemeClr val="accent5">
                <a:tint val="45000"/>
                <a:satMod val="400000"/>
              </a:schemeClr>
            </a:duotone>
            <a:extLst>
              <a:ext uri="{BEBA8EAE-BF5A-486C-A8C5-ECC9F3942E4B}">
                <a14:imgProps xmlns:a14="http://schemas.microsoft.com/office/drawing/2010/main">
                  <a14:imgLayer r:embed="rId10">
                    <a14:imgEffect>
                      <a14:brightnessContrast bright="-40000"/>
                    </a14:imgEffect>
                  </a14:imgLayer>
                </a14:imgProps>
              </a:ext>
              <a:ext uri="{28A0092B-C50C-407E-A947-70E740481C1C}">
                <a14:useLocalDpi xmlns:a14="http://schemas.microsoft.com/office/drawing/2010/main" val="0"/>
              </a:ext>
            </a:extLst>
          </a:blip>
          <a:stretch>
            <a:fillRect/>
          </a:stretch>
        </p:blipFill>
        <p:spPr>
          <a:xfrm>
            <a:off x="5589083" y="1728285"/>
            <a:ext cx="958518" cy="637455"/>
          </a:xfrm>
          <a:prstGeom prst="rect">
            <a:avLst/>
          </a:prstGeom>
        </p:spPr>
      </p:pic>
      <p:sp>
        <p:nvSpPr>
          <p:cNvPr id="30" name="Shape 598">
            <a:extLst>
              <a:ext uri="{FF2B5EF4-FFF2-40B4-BE49-F238E27FC236}">
                <a16:creationId xmlns:a16="http://schemas.microsoft.com/office/drawing/2014/main" id="{C521B92C-A20F-FF39-F9E6-16FB029F12DE}"/>
              </a:ext>
            </a:extLst>
          </p:cNvPr>
          <p:cNvSpPr/>
          <p:nvPr/>
        </p:nvSpPr>
        <p:spPr>
          <a:xfrm>
            <a:off x="7895706" y="1756593"/>
            <a:ext cx="675021" cy="608781"/>
          </a:xfrm>
          <a:custGeom>
            <a:avLst/>
            <a:gdLst/>
            <a:ahLst/>
            <a:cxnLst>
              <a:cxn ang="0">
                <a:pos x="wd2" y="hd2"/>
              </a:cxn>
              <a:cxn ang="5400000">
                <a:pos x="wd2" y="hd2"/>
              </a:cxn>
              <a:cxn ang="10800000">
                <a:pos x="wd2" y="hd2"/>
              </a:cxn>
              <a:cxn ang="16200000">
                <a:pos x="wd2" y="hd2"/>
              </a:cxn>
            </a:cxnLst>
            <a:rect l="0" t="0" r="r" b="b"/>
            <a:pathLst>
              <a:path w="21600" h="21600" extrusionOk="0">
                <a:moveTo>
                  <a:pt x="21481" y="16167"/>
                </a:moveTo>
                <a:cubicBezTo>
                  <a:pt x="21481" y="19745"/>
                  <a:pt x="21481" y="19745"/>
                  <a:pt x="21481" y="19745"/>
                </a:cubicBezTo>
                <a:cubicBezTo>
                  <a:pt x="21481" y="20805"/>
                  <a:pt x="20765" y="21600"/>
                  <a:pt x="19929" y="21600"/>
                </a:cubicBezTo>
                <a:cubicBezTo>
                  <a:pt x="1671" y="21600"/>
                  <a:pt x="1671" y="21600"/>
                  <a:pt x="1671" y="21600"/>
                </a:cubicBezTo>
                <a:cubicBezTo>
                  <a:pt x="835" y="21600"/>
                  <a:pt x="119" y="20805"/>
                  <a:pt x="119" y="19745"/>
                </a:cubicBezTo>
                <a:cubicBezTo>
                  <a:pt x="119" y="16167"/>
                  <a:pt x="119" y="16167"/>
                  <a:pt x="119" y="16167"/>
                </a:cubicBezTo>
                <a:cubicBezTo>
                  <a:pt x="1790" y="16167"/>
                  <a:pt x="1790" y="16167"/>
                  <a:pt x="1790" y="16167"/>
                </a:cubicBezTo>
                <a:cubicBezTo>
                  <a:pt x="1790" y="17625"/>
                  <a:pt x="1790" y="17625"/>
                  <a:pt x="1790" y="17625"/>
                </a:cubicBezTo>
                <a:cubicBezTo>
                  <a:pt x="4057" y="17625"/>
                  <a:pt x="4057" y="17625"/>
                  <a:pt x="4057" y="17625"/>
                </a:cubicBezTo>
                <a:cubicBezTo>
                  <a:pt x="4057" y="16167"/>
                  <a:pt x="4057" y="16167"/>
                  <a:pt x="4057" y="16167"/>
                </a:cubicBezTo>
                <a:cubicBezTo>
                  <a:pt x="5012" y="16167"/>
                  <a:pt x="5012" y="16167"/>
                  <a:pt x="5012" y="16167"/>
                </a:cubicBezTo>
                <a:cubicBezTo>
                  <a:pt x="5012" y="17625"/>
                  <a:pt x="5012" y="17625"/>
                  <a:pt x="5012" y="17625"/>
                </a:cubicBezTo>
                <a:cubicBezTo>
                  <a:pt x="7280" y="17625"/>
                  <a:pt x="7280" y="17625"/>
                  <a:pt x="7280" y="17625"/>
                </a:cubicBezTo>
                <a:cubicBezTo>
                  <a:pt x="7280" y="16167"/>
                  <a:pt x="7280" y="16167"/>
                  <a:pt x="7280" y="16167"/>
                </a:cubicBezTo>
                <a:cubicBezTo>
                  <a:pt x="8354" y="16167"/>
                  <a:pt x="8354" y="16167"/>
                  <a:pt x="8354" y="16167"/>
                </a:cubicBezTo>
                <a:cubicBezTo>
                  <a:pt x="8354" y="17625"/>
                  <a:pt x="8354" y="17625"/>
                  <a:pt x="8354" y="17625"/>
                </a:cubicBezTo>
                <a:cubicBezTo>
                  <a:pt x="10621" y="17625"/>
                  <a:pt x="10621" y="17625"/>
                  <a:pt x="10621" y="17625"/>
                </a:cubicBezTo>
                <a:cubicBezTo>
                  <a:pt x="10621" y="16167"/>
                  <a:pt x="10621" y="16167"/>
                  <a:pt x="10621" y="16167"/>
                </a:cubicBezTo>
                <a:cubicBezTo>
                  <a:pt x="11695" y="16167"/>
                  <a:pt x="11695" y="16167"/>
                  <a:pt x="11695" y="16167"/>
                </a:cubicBezTo>
                <a:cubicBezTo>
                  <a:pt x="11695" y="17625"/>
                  <a:pt x="11695" y="17625"/>
                  <a:pt x="11695" y="17625"/>
                </a:cubicBezTo>
                <a:cubicBezTo>
                  <a:pt x="13843" y="17625"/>
                  <a:pt x="13843" y="17625"/>
                  <a:pt x="13843" y="17625"/>
                </a:cubicBezTo>
                <a:cubicBezTo>
                  <a:pt x="13843" y="16167"/>
                  <a:pt x="13843" y="16167"/>
                  <a:pt x="13843" y="16167"/>
                </a:cubicBezTo>
                <a:cubicBezTo>
                  <a:pt x="14798" y="16167"/>
                  <a:pt x="14798" y="16167"/>
                  <a:pt x="14798" y="16167"/>
                </a:cubicBezTo>
                <a:cubicBezTo>
                  <a:pt x="14798" y="17625"/>
                  <a:pt x="14798" y="17625"/>
                  <a:pt x="14798" y="17625"/>
                </a:cubicBezTo>
                <a:cubicBezTo>
                  <a:pt x="16946" y="17625"/>
                  <a:pt x="16946" y="17625"/>
                  <a:pt x="16946" y="17625"/>
                </a:cubicBezTo>
                <a:cubicBezTo>
                  <a:pt x="16946" y="16167"/>
                  <a:pt x="16946" y="16167"/>
                  <a:pt x="16946" y="16167"/>
                </a:cubicBezTo>
                <a:cubicBezTo>
                  <a:pt x="18020" y="16167"/>
                  <a:pt x="18020" y="16167"/>
                  <a:pt x="18020" y="16167"/>
                </a:cubicBezTo>
                <a:cubicBezTo>
                  <a:pt x="18020" y="17625"/>
                  <a:pt x="18020" y="17625"/>
                  <a:pt x="18020" y="17625"/>
                </a:cubicBezTo>
                <a:cubicBezTo>
                  <a:pt x="20287" y="17625"/>
                  <a:pt x="20287" y="17625"/>
                  <a:pt x="20287" y="17625"/>
                </a:cubicBezTo>
                <a:cubicBezTo>
                  <a:pt x="20287" y="16167"/>
                  <a:pt x="20287" y="16167"/>
                  <a:pt x="20287" y="16167"/>
                </a:cubicBezTo>
                <a:cubicBezTo>
                  <a:pt x="21481" y="16167"/>
                  <a:pt x="21481" y="16167"/>
                  <a:pt x="21481" y="16167"/>
                </a:cubicBezTo>
                <a:close/>
                <a:moveTo>
                  <a:pt x="0" y="0"/>
                </a:moveTo>
                <a:cubicBezTo>
                  <a:pt x="21600" y="0"/>
                  <a:pt x="21600" y="0"/>
                  <a:pt x="21600" y="0"/>
                </a:cubicBezTo>
                <a:cubicBezTo>
                  <a:pt x="21600" y="15107"/>
                  <a:pt x="21600" y="15107"/>
                  <a:pt x="21600" y="15107"/>
                </a:cubicBezTo>
                <a:cubicBezTo>
                  <a:pt x="0" y="15107"/>
                  <a:pt x="0" y="15107"/>
                  <a:pt x="0" y="15107"/>
                </a:cubicBezTo>
                <a:cubicBezTo>
                  <a:pt x="0" y="0"/>
                  <a:pt x="0" y="0"/>
                  <a:pt x="0" y="0"/>
                </a:cubicBezTo>
                <a:close/>
                <a:moveTo>
                  <a:pt x="20168" y="5301"/>
                </a:moveTo>
                <a:cubicBezTo>
                  <a:pt x="20168" y="9939"/>
                  <a:pt x="20168" y="9939"/>
                  <a:pt x="20168" y="9939"/>
                </a:cubicBezTo>
                <a:cubicBezTo>
                  <a:pt x="20765" y="9939"/>
                  <a:pt x="20765" y="9939"/>
                  <a:pt x="20765" y="9939"/>
                </a:cubicBezTo>
                <a:cubicBezTo>
                  <a:pt x="20765" y="5301"/>
                  <a:pt x="20765" y="5301"/>
                  <a:pt x="20765" y="5301"/>
                </a:cubicBezTo>
                <a:cubicBezTo>
                  <a:pt x="20168" y="5301"/>
                  <a:pt x="20168" y="5301"/>
                  <a:pt x="20168" y="5301"/>
                </a:cubicBezTo>
                <a:close/>
                <a:moveTo>
                  <a:pt x="1313" y="9541"/>
                </a:moveTo>
                <a:cubicBezTo>
                  <a:pt x="1313" y="11794"/>
                  <a:pt x="1313" y="11794"/>
                  <a:pt x="1313" y="11794"/>
                </a:cubicBezTo>
                <a:cubicBezTo>
                  <a:pt x="2148" y="11794"/>
                  <a:pt x="2148" y="11794"/>
                  <a:pt x="2148" y="11794"/>
                </a:cubicBezTo>
                <a:cubicBezTo>
                  <a:pt x="2148" y="9541"/>
                  <a:pt x="2148" y="9541"/>
                  <a:pt x="2148" y="9541"/>
                </a:cubicBezTo>
                <a:cubicBezTo>
                  <a:pt x="1313" y="9541"/>
                  <a:pt x="1313" y="9541"/>
                  <a:pt x="1313" y="9541"/>
                </a:cubicBezTo>
                <a:close/>
                <a:moveTo>
                  <a:pt x="716" y="6493"/>
                </a:moveTo>
                <a:cubicBezTo>
                  <a:pt x="716" y="8746"/>
                  <a:pt x="716" y="8746"/>
                  <a:pt x="716" y="8746"/>
                </a:cubicBezTo>
                <a:cubicBezTo>
                  <a:pt x="2864" y="8746"/>
                  <a:pt x="2864" y="8746"/>
                  <a:pt x="2864" y="8746"/>
                </a:cubicBezTo>
                <a:cubicBezTo>
                  <a:pt x="2864" y="6493"/>
                  <a:pt x="2864" y="6493"/>
                  <a:pt x="2864" y="6493"/>
                </a:cubicBezTo>
                <a:cubicBezTo>
                  <a:pt x="716" y="6493"/>
                  <a:pt x="716" y="6493"/>
                  <a:pt x="716" y="6493"/>
                </a:cubicBezTo>
                <a:close/>
                <a:moveTo>
                  <a:pt x="1313" y="3710"/>
                </a:moveTo>
                <a:cubicBezTo>
                  <a:pt x="1313" y="6096"/>
                  <a:pt x="1313" y="6096"/>
                  <a:pt x="1313" y="6096"/>
                </a:cubicBezTo>
                <a:cubicBezTo>
                  <a:pt x="2148" y="6096"/>
                  <a:pt x="2148" y="6096"/>
                  <a:pt x="2148" y="6096"/>
                </a:cubicBezTo>
                <a:cubicBezTo>
                  <a:pt x="2148" y="3710"/>
                  <a:pt x="2148" y="3710"/>
                  <a:pt x="2148" y="3710"/>
                </a:cubicBezTo>
                <a:cubicBezTo>
                  <a:pt x="1313" y="3710"/>
                  <a:pt x="1313" y="3710"/>
                  <a:pt x="1313" y="3710"/>
                </a:cubicBezTo>
                <a:close/>
                <a:moveTo>
                  <a:pt x="3461" y="1325"/>
                </a:moveTo>
                <a:cubicBezTo>
                  <a:pt x="3461" y="13649"/>
                  <a:pt x="3461" y="13649"/>
                  <a:pt x="3461" y="13649"/>
                </a:cubicBezTo>
                <a:cubicBezTo>
                  <a:pt x="19571" y="13649"/>
                  <a:pt x="19571" y="13649"/>
                  <a:pt x="19571" y="13649"/>
                </a:cubicBezTo>
                <a:cubicBezTo>
                  <a:pt x="19571" y="1325"/>
                  <a:pt x="19571" y="1325"/>
                  <a:pt x="19571" y="1325"/>
                </a:cubicBezTo>
                <a:cubicBezTo>
                  <a:pt x="3461" y="1325"/>
                  <a:pt x="3461" y="1325"/>
                  <a:pt x="3461" y="1325"/>
                </a:cubicBezTo>
                <a:close/>
                <a:moveTo>
                  <a:pt x="18020" y="18287"/>
                </a:moveTo>
                <a:cubicBezTo>
                  <a:pt x="18020" y="19877"/>
                  <a:pt x="18020" y="19877"/>
                  <a:pt x="18020" y="19877"/>
                </a:cubicBezTo>
                <a:cubicBezTo>
                  <a:pt x="20287" y="19877"/>
                  <a:pt x="20287" y="19877"/>
                  <a:pt x="20287" y="19877"/>
                </a:cubicBezTo>
                <a:cubicBezTo>
                  <a:pt x="20287" y="18287"/>
                  <a:pt x="20287" y="18287"/>
                  <a:pt x="20287" y="18287"/>
                </a:cubicBezTo>
                <a:cubicBezTo>
                  <a:pt x="18020" y="18287"/>
                  <a:pt x="18020" y="18287"/>
                  <a:pt x="18020" y="18287"/>
                </a:cubicBezTo>
                <a:close/>
                <a:moveTo>
                  <a:pt x="5012" y="18287"/>
                </a:moveTo>
                <a:cubicBezTo>
                  <a:pt x="5012" y="19877"/>
                  <a:pt x="5012" y="19877"/>
                  <a:pt x="5012" y="19877"/>
                </a:cubicBezTo>
                <a:cubicBezTo>
                  <a:pt x="16946" y="19877"/>
                  <a:pt x="16946" y="19877"/>
                  <a:pt x="16946" y="19877"/>
                </a:cubicBezTo>
                <a:cubicBezTo>
                  <a:pt x="16946" y="18287"/>
                  <a:pt x="16946" y="18287"/>
                  <a:pt x="16946" y="18287"/>
                </a:cubicBezTo>
                <a:cubicBezTo>
                  <a:pt x="5012" y="18287"/>
                  <a:pt x="5012" y="18287"/>
                  <a:pt x="5012" y="18287"/>
                </a:cubicBezTo>
                <a:close/>
                <a:moveTo>
                  <a:pt x="1790" y="18287"/>
                </a:moveTo>
                <a:cubicBezTo>
                  <a:pt x="1790" y="19877"/>
                  <a:pt x="1790" y="19877"/>
                  <a:pt x="1790" y="19877"/>
                </a:cubicBezTo>
                <a:cubicBezTo>
                  <a:pt x="4057" y="19877"/>
                  <a:pt x="4057" y="19877"/>
                  <a:pt x="4057" y="19877"/>
                </a:cubicBezTo>
                <a:cubicBezTo>
                  <a:pt x="4057" y="18287"/>
                  <a:pt x="4057" y="18287"/>
                  <a:pt x="4057" y="18287"/>
                </a:cubicBezTo>
                <a:lnTo>
                  <a:pt x="1790" y="18287"/>
                </a:lnTo>
                <a:close/>
              </a:path>
            </a:pathLst>
          </a:custGeom>
          <a:ln/>
        </p:spPr>
        <p:style>
          <a:lnRef idx="2">
            <a:schemeClr val="accent4">
              <a:shade val="50000"/>
            </a:schemeClr>
          </a:lnRef>
          <a:fillRef idx="1">
            <a:schemeClr val="accent4"/>
          </a:fillRef>
          <a:effectRef idx="0">
            <a:schemeClr val="accent4"/>
          </a:effectRef>
          <a:fontRef idx="minor">
            <a:schemeClr val="lt1"/>
          </a:fontRef>
        </p:style>
        <p:txBody>
          <a:bodyPr tIns="91439" bIns="91439"/>
          <a:lstStyle/>
          <a:p>
            <a:pPr marL="0" marR="0" lvl="0" indent="0" algn="l" defTabSz="914400" rtl="0" eaLnBrk="1" fontAlgn="auto" latinLnBrk="0" hangingPunct="1">
              <a:lnSpc>
                <a:spcPct val="100000"/>
              </a:lnSpc>
              <a:spcBef>
                <a:spcPts val="0"/>
              </a:spcBef>
              <a:spcAft>
                <a:spcPts val="0"/>
              </a:spcAft>
              <a:buClrTx/>
              <a:buSzTx/>
              <a:buFontTx/>
              <a:buNone/>
              <a:tabLst/>
              <a:defRPr sz="3600">
                <a:latin typeface="Trebuchet MS"/>
                <a:ea typeface="Trebuchet MS"/>
                <a:cs typeface="Trebuchet MS"/>
                <a:sym typeface="Trebuchet MS"/>
              </a:defRPr>
            </a:pPr>
            <a:endParaRPr kumimoji="0" sz="3600" b="0" i="0" u="none" strike="noStrike" kern="1200" cap="none" spc="0" normalizeH="0" baseline="0" noProof="0">
              <a:ln>
                <a:noFill/>
              </a:ln>
              <a:solidFill>
                <a:srgbClr val="FFFFFF"/>
              </a:solidFill>
              <a:effectLst/>
              <a:uLnTx/>
              <a:uFillTx/>
              <a:latin typeface="Trebuchet MS"/>
              <a:sym typeface="Trebuchet MS"/>
            </a:endParaRPr>
          </a:p>
        </p:txBody>
      </p:sp>
      <p:sp>
        <p:nvSpPr>
          <p:cNvPr id="31" name="Shape 492">
            <a:extLst>
              <a:ext uri="{FF2B5EF4-FFF2-40B4-BE49-F238E27FC236}">
                <a16:creationId xmlns:a16="http://schemas.microsoft.com/office/drawing/2014/main" id="{69BDA75C-2E36-B2AE-263A-39ACBC9E744B}"/>
              </a:ext>
            </a:extLst>
          </p:cNvPr>
          <p:cNvSpPr/>
          <p:nvPr/>
        </p:nvSpPr>
        <p:spPr>
          <a:xfrm>
            <a:off x="10040475" y="1725667"/>
            <a:ext cx="564679" cy="686842"/>
          </a:xfrm>
          <a:custGeom>
            <a:avLst/>
            <a:gdLst/>
            <a:ahLst/>
            <a:cxnLst>
              <a:cxn ang="0">
                <a:pos x="wd2" y="hd2"/>
              </a:cxn>
              <a:cxn ang="5400000">
                <a:pos x="wd2" y="hd2"/>
              </a:cxn>
              <a:cxn ang="10800000">
                <a:pos x="wd2" y="hd2"/>
              </a:cxn>
              <a:cxn ang="16200000">
                <a:pos x="wd2" y="hd2"/>
              </a:cxn>
            </a:cxnLst>
            <a:rect l="0" t="0" r="r" b="b"/>
            <a:pathLst>
              <a:path w="21334" h="21524" extrusionOk="0">
                <a:moveTo>
                  <a:pt x="6130" y="0"/>
                </a:moveTo>
                <a:cubicBezTo>
                  <a:pt x="17514" y="0"/>
                  <a:pt x="17514" y="0"/>
                  <a:pt x="17514" y="0"/>
                </a:cubicBezTo>
                <a:cubicBezTo>
                  <a:pt x="18681" y="0"/>
                  <a:pt x="19265" y="223"/>
                  <a:pt x="19849" y="668"/>
                </a:cubicBezTo>
                <a:cubicBezTo>
                  <a:pt x="20432" y="1113"/>
                  <a:pt x="21016" y="1781"/>
                  <a:pt x="21016" y="2449"/>
                </a:cubicBezTo>
                <a:cubicBezTo>
                  <a:pt x="21016" y="12470"/>
                  <a:pt x="21016" y="12470"/>
                  <a:pt x="21016" y="12470"/>
                </a:cubicBezTo>
                <a:cubicBezTo>
                  <a:pt x="20724" y="12247"/>
                  <a:pt x="20432" y="11802"/>
                  <a:pt x="20432" y="11579"/>
                </a:cubicBezTo>
                <a:cubicBezTo>
                  <a:pt x="19849" y="11134"/>
                  <a:pt x="19265" y="10689"/>
                  <a:pt x="18389" y="10466"/>
                </a:cubicBezTo>
                <a:cubicBezTo>
                  <a:pt x="18389" y="2449"/>
                  <a:pt x="18389" y="2449"/>
                  <a:pt x="18389" y="2449"/>
                </a:cubicBezTo>
                <a:cubicBezTo>
                  <a:pt x="18389" y="2227"/>
                  <a:pt x="18389" y="2004"/>
                  <a:pt x="18097" y="2004"/>
                </a:cubicBezTo>
                <a:cubicBezTo>
                  <a:pt x="18097" y="1781"/>
                  <a:pt x="17805" y="1781"/>
                  <a:pt x="17514" y="1781"/>
                </a:cubicBezTo>
                <a:cubicBezTo>
                  <a:pt x="7297" y="1781"/>
                  <a:pt x="7297" y="1781"/>
                  <a:pt x="7297" y="1781"/>
                </a:cubicBezTo>
                <a:cubicBezTo>
                  <a:pt x="7589" y="2449"/>
                  <a:pt x="7589" y="2449"/>
                  <a:pt x="7589" y="2449"/>
                </a:cubicBezTo>
                <a:cubicBezTo>
                  <a:pt x="7589" y="3118"/>
                  <a:pt x="7589" y="3118"/>
                  <a:pt x="7589" y="3118"/>
                </a:cubicBezTo>
                <a:cubicBezTo>
                  <a:pt x="7589" y="3563"/>
                  <a:pt x="7589" y="3786"/>
                  <a:pt x="7589" y="4008"/>
                </a:cubicBezTo>
                <a:cubicBezTo>
                  <a:pt x="7589" y="4231"/>
                  <a:pt x="7297" y="4676"/>
                  <a:pt x="6714" y="4899"/>
                </a:cubicBezTo>
                <a:cubicBezTo>
                  <a:pt x="6422" y="5122"/>
                  <a:pt x="6130" y="5344"/>
                  <a:pt x="5546" y="5344"/>
                </a:cubicBezTo>
                <a:cubicBezTo>
                  <a:pt x="5254" y="5344"/>
                  <a:pt x="4962" y="5344"/>
                  <a:pt x="4670" y="5344"/>
                </a:cubicBezTo>
                <a:cubicBezTo>
                  <a:pt x="3503" y="5344"/>
                  <a:pt x="3503" y="5344"/>
                  <a:pt x="3503" y="5344"/>
                </a:cubicBezTo>
                <a:cubicBezTo>
                  <a:pt x="2335" y="5122"/>
                  <a:pt x="2335" y="5122"/>
                  <a:pt x="2335" y="5122"/>
                </a:cubicBezTo>
                <a:cubicBezTo>
                  <a:pt x="2335" y="17592"/>
                  <a:pt x="2335" y="17592"/>
                  <a:pt x="2335" y="17592"/>
                </a:cubicBezTo>
                <a:cubicBezTo>
                  <a:pt x="2335" y="17814"/>
                  <a:pt x="2627" y="17814"/>
                  <a:pt x="2627" y="18037"/>
                </a:cubicBezTo>
                <a:cubicBezTo>
                  <a:pt x="2627" y="18037"/>
                  <a:pt x="2627" y="18037"/>
                  <a:pt x="2627" y="18037"/>
                </a:cubicBezTo>
                <a:cubicBezTo>
                  <a:pt x="2919" y="18037"/>
                  <a:pt x="2919" y="18260"/>
                  <a:pt x="3211" y="18260"/>
                </a:cubicBezTo>
                <a:cubicBezTo>
                  <a:pt x="8173" y="18260"/>
                  <a:pt x="8173" y="18260"/>
                  <a:pt x="8173" y="18260"/>
                </a:cubicBezTo>
                <a:cubicBezTo>
                  <a:pt x="8173" y="18260"/>
                  <a:pt x="8465" y="18482"/>
                  <a:pt x="8465" y="18705"/>
                </a:cubicBezTo>
                <a:cubicBezTo>
                  <a:pt x="9049" y="19151"/>
                  <a:pt x="9924" y="19596"/>
                  <a:pt x="10800" y="20041"/>
                </a:cubicBezTo>
                <a:cubicBezTo>
                  <a:pt x="3211" y="20041"/>
                  <a:pt x="3211" y="20041"/>
                  <a:pt x="3211" y="20041"/>
                </a:cubicBezTo>
                <a:cubicBezTo>
                  <a:pt x="2335" y="20041"/>
                  <a:pt x="1459" y="19819"/>
                  <a:pt x="876" y="19373"/>
                </a:cubicBezTo>
                <a:cubicBezTo>
                  <a:pt x="876" y="19373"/>
                  <a:pt x="876" y="19373"/>
                  <a:pt x="876" y="19373"/>
                </a:cubicBezTo>
                <a:cubicBezTo>
                  <a:pt x="876" y="19373"/>
                  <a:pt x="876" y="19373"/>
                  <a:pt x="876" y="19373"/>
                </a:cubicBezTo>
                <a:cubicBezTo>
                  <a:pt x="292" y="18928"/>
                  <a:pt x="0" y="18260"/>
                  <a:pt x="0" y="17592"/>
                </a:cubicBezTo>
                <a:cubicBezTo>
                  <a:pt x="0" y="4454"/>
                  <a:pt x="0" y="4454"/>
                  <a:pt x="0" y="4454"/>
                </a:cubicBezTo>
                <a:cubicBezTo>
                  <a:pt x="0" y="4008"/>
                  <a:pt x="0" y="4008"/>
                  <a:pt x="0" y="4008"/>
                </a:cubicBezTo>
                <a:cubicBezTo>
                  <a:pt x="292" y="3786"/>
                  <a:pt x="292" y="3786"/>
                  <a:pt x="292" y="3786"/>
                </a:cubicBezTo>
                <a:cubicBezTo>
                  <a:pt x="5254" y="223"/>
                  <a:pt x="5254" y="223"/>
                  <a:pt x="5254" y="223"/>
                </a:cubicBezTo>
                <a:cubicBezTo>
                  <a:pt x="5546" y="0"/>
                  <a:pt x="5546" y="0"/>
                  <a:pt x="5546" y="0"/>
                </a:cubicBezTo>
                <a:cubicBezTo>
                  <a:pt x="6130" y="0"/>
                  <a:pt x="6130" y="0"/>
                  <a:pt x="6130" y="0"/>
                </a:cubicBezTo>
                <a:close/>
                <a:moveTo>
                  <a:pt x="4962" y="11579"/>
                </a:moveTo>
                <a:cubicBezTo>
                  <a:pt x="4962" y="12470"/>
                  <a:pt x="4962" y="12470"/>
                  <a:pt x="4962" y="12470"/>
                </a:cubicBezTo>
                <a:cubicBezTo>
                  <a:pt x="7881" y="12470"/>
                  <a:pt x="7881" y="12470"/>
                  <a:pt x="7881" y="12470"/>
                </a:cubicBezTo>
                <a:cubicBezTo>
                  <a:pt x="7881" y="11579"/>
                  <a:pt x="7881" y="11579"/>
                  <a:pt x="7881" y="11579"/>
                </a:cubicBezTo>
                <a:cubicBezTo>
                  <a:pt x="4962" y="11579"/>
                  <a:pt x="4962" y="11579"/>
                  <a:pt x="4962" y="11579"/>
                </a:cubicBezTo>
                <a:close/>
                <a:moveTo>
                  <a:pt x="4962" y="8907"/>
                </a:moveTo>
                <a:cubicBezTo>
                  <a:pt x="4962" y="9798"/>
                  <a:pt x="4962" y="9798"/>
                  <a:pt x="4962" y="9798"/>
                </a:cubicBezTo>
                <a:cubicBezTo>
                  <a:pt x="16346" y="9798"/>
                  <a:pt x="16346" y="9798"/>
                  <a:pt x="16346" y="9798"/>
                </a:cubicBezTo>
                <a:cubicBezTo>
                  <a:pt x="16346" y="8907"/>
                  <a:pt x="16346" y="8907"/>
                  <a:pt x="16346" y="8907"/>
                </a:cubicBezTo>
                <a:cubicBezTo>
                  <a:pt x="4962" y="8907"/>
                  <a:pt x="4962" y="8907"/>
                  <a:pt x="4962" y="8907"/>
                </a:cubicBezTo>
                <a:close/>
                <a:moveTo>
                  <a:pt x="4962" y="6235"/>
                </a:moveTo>
                <a:cubicBezTo>
                  <a:pt x="4962" y="7348"/>
                  <a:pt x="4962" y="7348"/>
                  <a:pt x="4962" y="7348"/>
                </a:cubicBezTo>
                <a:cubicBezTo>
                  <a:pt x="16346" y="7348"/>
                  <a:pt x="16346" y="7348"/>
                  <a:pt x="16346" y="7348"/>
                </a:cubicBezTo>
                <a:cubicBezTo>
                  <a:pt x="16346" y="6235"/>
                  <a:pt x="16346" y="6235"/>
                  <a:pt x="16346" y="6235"/>
                </a:cubicBezTo>
                <a:cubicBezTo>
                  <a:pt x="4962" y="6235"/>
                  <a:pt x="4962" y="6235"/>
                  <a:pt x="4962" y="6235"/>
                </a:cubicBezTo>
                <a:close/>
                <a:moveTo>
                  <a:pt x="9924" y="3786"/>
                </a:moveTo>
                <a:cubicBezTo>
                  <a:pt x="9924" y="4899"/>
                  <a:pt x="9924" y="4899"/>
                  <a:pt x="9924" y="4899"/>
                </a:cubicBezTo>
                <a:cubicBezTo>
                  <a:pt x="16346" y="4899"/>
                  <a:pt x="16346" y="4899"/>
                  <a:pt x="16346" y="4899"/>
                </a:cubicBezTo>
                <a:cubicBezTo>
                  <a:pt x="16346" y="3786"/>
                  <a:pt x="16346" y="3786"/>
                  <a:pt x="16346" y="3786"/>
                </a:cubicBezTo>
                <a:cubicBezTo>
                  <a:pt x="9924" y="3786"/>
                  <a:pt x="9924" y="3786"/>
                  <a:pt x="9924" y="3786"/>
                </a:cubicBezTo>
                <a:close/>
                <a:moveTo>
                  <a:pt x="11968" y="15365"/>
                </a:moveTo>
                <a:cubicBezTo>
                  <a:pt x="12551" y="14252"/>
                  <a:pt x="14011" y="13584"/>
                  <a:pt x="16054" y="13361"/>
                </a:cubicBezTo>
                <a:cubicBezTo>
                  <a:pt x="14011" y="12470"/>
                  <a:pt x="11384" y="13806"/>
                  <a:pt x="11968" y="15365"/>
                </a:cubicBezTo>
                <a:close/>
                <a:moveTo>
                  <a:pt x="11092" y="12025"/>
                </a:moveTo>
                <a:cubicBezTo>
                  <a:pt x="9924" y="12693"/>
                  <a:pt x="9341" y="13584"/>
                  <a:pt x="9049" y="14697"/>
                </a:cubicBezTo>
                <a:cubicBezTo>
                  <a:pt x="9049" y="15588"/>
                  <a:pt x="9341" y="16701"/>
                  <a:pt x="10216" y="17592"/>
                </a:cubicBezTo>
                <a:cubicBezTo>
                  <a:pt x="11092" y="18482"/>
                  <a:pt x="12551" y="19151"/>
                  <a:pt x="13719" y="19151"/>
                </a:cubicBezTo>
                <a:cubicBezTo>
                  <a:pt x="14886" y="19373"/>
                  <a:pt x="16054" y="19151"/>
                  <a:pt x="16930" y="18705"/>
                </a:cubicBezTo>
                <a:cubicBezTo>
                  <a:pt x="16930" y="18928"/>
                  <a:pt x="16930" y="19151"/>
                  <a:pt x="17222" y="19373"/>
                </a:cubicBezTo>
                <a:cubicBezTo>
                  <a:pt x="18973" y="21155"/>
                  <a:pt x="18973" y="21155"/>
                  <a:pt x="18973" y="21155"/>
                </a:cubicBezTo>
                <a:cubicBezTo>
                  <a:pt x="19557" y="21600"/>
                  <a:pt x="20141" y="21600"/>
                  <a:pt x="20724" y="21377"/>
                </a:cubicBezTo>
                <a:cubicBezTo>
                  <a:pt x="20724" y="21377"/>
                  <a:pt x="20724" y="21377"/>
                  <a:pt x="20724" y="21377"/>
                </a:cubicBezTo>
                <a:cubicBezTo>
                  <a:pt x="21308" y="20932"/>
                  <a:pt x="21600" y="20264"/>
                  <a:pt x="21016" y="20041"/>
                </a:cubicBezTo>
                <a:cubicBezTo>
                  <a:pt x="19265" y="18260"/>
                  <a:pt x="19265" y="18260"/>
                  <a:pt x="19265" y="18260"/>
                </a:cubicBezTo>
                <a:cubicBezTo>
                  <a:pt x="18973" y="18037"/>
                  <a:pt x="18681" y="17814"/>
                  <a:pt x="18389" y="17814"/>
                </a:cubicBezTo>
                <a:cubicBezTo>
                  <a:pt x="19265" y="17146"/>
                  <a:pt x="19557" y="16478"/>
                  <a:pt x="19849" y="15588"/>
                </a:cubicBezTo>
                <a:cubicBezTo>
                  <a:pt x="19849" y="14697"/>
                  <a:pt x="19557" y="13584"/>
                  <a:pt x="18681" y="12693"/>
                </a:cubicBezTo>
                <a:cubicBezTo>
                  <a:pt x="17805" y="11802"/>
                  <a:pt x="16346" y="11134"/>
                  <a:pt x="15178" y="11134"/>
                </a:cubicBezTo>
                <a:cubicBezTo>
                  <a:pt x="13719" y="10911"/>
                  <a:pt x="12259" y="11134"/>
                  <a:pt x="11092" y="12025"/>
                </a:cubicBezTo>
                <a:close/>
                <a:moveTo>
                  <a:pt x="14886" y="12470"/>
                </a:moveTo>
                <a:cubicBezTo>
                  <a:pt x="14011" y="12470"/>
                  <a:pt x="13135" y="12470"/>
                  <a:pt x="12259" y="12915"/>
                </a:cubicBezTo>
                <a:cubicBezTo>
                  <a:pt x="11384" y="13584"/>
                  <a:pt x="11092" y="14029"/>
                  <a:pt x="10800" y="14920"/>
                </a:cubicBezTo>
                <a:cubicBezTo>
                  <a:pt x="10800" y="15588"/>
                  <a:pt x="11092" y="16256"/>
                  <a:pt x="11676" y="16924"/>
                </a:cubicBezTo>
                <a:cubicBezTo>
                  <a:pt x="12259" y="17369"/>
                  <a:pt x="13135" y="17814"/>
                  <a:pt x="14011" y="17814"/>
                </a:cubicBezTo>
                <a:cubicBezTo>
                  <a:pt x="14886" y="17814"/>
                  <a:pt x="15762" y="17814"/>
                  <a:pt x="16638" y="17369"/>
                </a:cubicBezTo>
                <a:cubicBezTo>
                  <a:pt x="17514" y="16924"/>
                  <a:pt x="17805" y="16256"/>
                  <a:pt x="17805" y="15365"/>
                </a:cubicBezTo>
                <a:cubicBezTo>
                  <a:pt x="18097" y="14697"/>
                  <a:pt x="17805" y="14029"/>
                  <a:pt x="17222" y="13584"/>
                </a:cubicBezTo>
                <a:cubicBezTo>
                  <a:pt x="16638" y="12915"/>
                  <a:pt x="15762" y="12470"/>
                  <a:pt x="14886" y="12470"/>
                </a:cubicBezTo>
                <a:close/>
                <a:moveTo>
                  <a:pt x="6130" y="2004"/>
                </a:moveTo>
                <a:cubicBezTo>
                  <a:pt x="3211" y="4231"/>
                  <a:pt x="3211" y="4231"/>
                  <a:pt x="3211" y="4231"/>
                </a:cubicBezTo>
                <a:cubicBezTo>
                  <a:pt x="3795" y="4231"/>
                  <a:pt x="3795" y="4231"/>
                  <a:pt x="3795" y="4231"/>
                </a:cubicBezTo>
                <a:cubicBezTo>
                  <a:pt x="4962" y="4454"/>
                  <a:pt x="4962" y="4454"/>
                  <a:pt x="4962" y="4454"/>
                </a:cubicBezTo>
                <a:cubicBezTo>
                  <a:pt x="4962" y="4454"/>
                  <a:pt x="4962" y="4454"/>
                  <a:pt x="4962" y="4454"/>
                </a:cubicBezTo>
                <a:cubicBezTo>
                  <a:pt x="4962" y="4454"/>
                  <a:pt x="4962" y="4454"/>
                  <a:pt x="4962" y="4454"/>
                </a:cubicBezTo>
                <a:cubicBezTo>
                  <a:pt x="4962" y="4454"/>
                  <a:pt x="5254" y="4454"/>
                  <a:pt x="5254" y="4454"/>
                </a:cubicBezTo>
                <a:cubicBezTo>
                  <a:pt x="5546" y="4454"/>
                  <a:pt x="5838" y="4231"/>
                  <a:pt x="6130" y="4231"/>
                </a:cubicBezTo>
                <a:cubicBezTo>
                  <a:pt x="6130" y="4008"/>
                  <a:pt x="6422" y="3786"/>
                  <a:pt x="6422" y="3786"/>
                </a:cubicBezTo>
                <a:cubicBezTo>
                  <a:pt x="6422" y="3563"/>
                  <a:pt x="6422" y="3563"/>
                  <a:pt x="6422" y="3340"/>
                </a:cubicBezTo>
                <a:cubicBezTo>
                  <a:pt x="6422" y="3340"/>
                  <a:pt x="6422" y="3340"/>
                  <a:pt x="6422" y="3340"/>
                </a:cubicBezTo>
                <a:cubicBezTo>
                  <a:pt x="6422" y="3340"/>
                  <a:pt x="6422" y="3340"/>
                  <a:pt x="6422" y="3340"/>
                </a:cubicBezTo>
                <a:cubicBezTo>
                  <a:pt x="6130" y="2449"/>
                  <a:pt x="6130" y="2449"/>
                  <a:pt x="6130" y="2449"/>
                </a:cubicBezTo>
                <a:lnTo>
                  <a:pt x="6130" y="2004"/>
                </a:lnTo>
                <a:close/>
              </a:path>
            </a:pathLst>
          </a:custGeom>
          <a:ln/>
        </p:spPr>
        <p:style>
          <a:lnRef idx="3">
            <a:schemeClr val="lt1"/>
          </a:lnRef>
          <a:fillRef idx="1">
            <a:schemeClr val="accent3"/>
          </a:fillRef>
          <a:effectRef idx="1">
            <a:schemeClr val="accent3"/>
          </a:effectRef>
          <a:fontRef idx="minor">
            <a:schemeClr val="lt1"/>
          </a:fontRef>
        </p:style>
        <p:txBody>
          <a:bodyPr tIns="91439" bIns="91439"/>
          <a:lstStyle/>
          <a:p>
            <a:pPr marL="0" marR="0" lvl="0" indent="0" algn="l" defTabSz="914400" rtl="0" eaLnBrk="1" fontAlgn="auto" latinLnBrk="0" hangingPunct="1">
              <a:lnSpc>
                <a:spcPct val="100000"/>
              </a:lnSpc>
              <a:spcBef>
                <a:spcPts val="0"/>
              </a:spcBef>
              <a:spcAft>
                <a:spcPts val="0"/>
              </a:spcAft>
              <a:buClrTx/>
              <a:buSzTx/>
              <a:buFontTx/>
              <a:buNone/>
              <a:tabLst/>
              <a:defRPr sz="3600">
                <a:latin typeface="Trebuchet MS"/>
                <a:ea typeface="Trebuchet MS"/>
                <a:cs typeface="Trebuchet MS"/>
                <a:sym typeface="Trebuchet MS"/>
              </a:defRPr>
            </a:pPr>
            <a:endParaRPr kumimoji="0" sz="3600" b="0" i="0" u="none" strike="noStrike" kern="1200" cap="none" spc="0" normalizeH="0" baseline="0" noProof="0">
              <a:ln>
                <a:noFill/>
              </a:ln>
              <a:solidFill>
                <a:srgbClr val="FFFFFF"/>
              </a:solidFill>
              <a:effectLst/>
              <a:uLnTx/>
              <a:uFillTx/>
              <a:latin typeface="Trebuchet MS"/>
              <a:sym typeface="Trebuchet MS"/>
            </a:endParaRPr>
          </a:p>
        </p:txBody>
      </p:sp>
    </p:spTree>
    <p:extLst>
      <p:ext uri="{BB962C8B-B14F-4D97-AF65-F5344CB8AC3E}">
        <p14:creationId xmlns:p14="http://schemas.microsoft.com/office/powerpoint/2010/main" val="331542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C11D3-0415-4088-BEC6-841F0B399569}"/>
              </a:ext>
            </a:extLst>
          </p:cNvPr>
          <p:cNvSpPr>
            <a:spLocks noGrp="1"/>
          </p:cNvSpPr>
          <p:nvPr>
            <p:ph type="title"/>
          </p:nvPr>
        </p:nvSpPr>
        <p:spPr/>
        <p:txBody>
          <a:bodyPr/>
          <a:lstStyle/>
          <a:p>
            <a:r>
              <a:rPr lang="en-GB"/>
              <a:t>Key Period End Closing Timelines</a:t>
            </a:r>
            <a:endParaRPr lang="en-US"/>
          </a:p>
        </p:txBody>
      </p:sp>
      <p:sp>
        <p:nvSpPr>
          <p:cNvPr id="5" name="Slide Number Placeholder 4">
            <a:extLst>
              <a:ext uri="{FF2B5EF4-FFF2-40B4-BE49-F238E27FC236}">
                <a16:creationId xmlns:a16="http://schemas.microsoft.com/office/drawing/2014/main" id="{13D6394C-0CE0-4AB4-8AE7-031DE2FF61B3}"/>
              </a:ext>
            </a:extLst>
          </p:cNvPr>
          <p:cNvSpPr>
            <a:spLocks noGrp="1"/>
          </p:cNvSpPr>
          <p:nvPr>
            <p:ph type="sldNum" sz="quarter" idx="12"/>
          </p:nvPr>
        </p:nvSpPr>
        <p:spPr/>
        <p:txBody>
          <a:bodyPr/>
          <a:lstStyle/>
          <a:p>
            <a:fld id="{F4C94289-3309-4C35-850A-56FD49B3E346}" type="slidenum">
              <a:rPr lang="en-GB" smtClean="0"/>
              <a:t>8</a:t>
            </a:fld>
            <a:endParaRPr lang="en-GB"/>
          </a:p>
        </p:txBody>
      </p:sp>
      <p:sp>
        <p:nvSpPr>
          <p:cNvPr id="23" name="Rounded Rectangle 25">
            <a:extLst>
              <a:ext uri="{FF2B5EF4-FFF2-40B4-BE49-F238E27FC236}">
                <a16:creationId xmlns:a16="http://schemas.microsoft.com/office/drawing/2014/main" id="{F57DBABB-6D7B-4D62-89E6-DE260E32F75F}"/>
              </a:ext>
            </a:extLst>
          </p:cNvPr>
          <p:cNvSpPr/>
          <p:nvPr/>
        </p:nvSpPr>
        <p:spPr bwMode="gray">
          <a:xfrm>
            <a:off x="8400887" y="4555370"/>
            <a:ext cx="3643860" cy="1897354"/>
          </a:xfrm>
          <a:prstGeom prst="roundRect">
            <a:avLst>
              <a:gd name="adj" fmla="val 0"/>
            </a:avLst>
          </a:prstGeom>
          <a:solidFill>
            <a:schemeClr val="accent2">
              <a:lumMod val="40000"/>
              <a:lumOff val="60000"/>
            </a:schemeClr>
          </a:solidFill>
          <a:ln>
            <a:noFill/>
          </a:ln>
          <a:effectLst>
            <a:outerShdw blurRad="50800" dist="38100" dir="5400000" algn="t"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t" anchorCtr="0"/>
          <a:lstStyle/>
          <a:p>
            <a:pPr lvl="0">
              <a:defRPr/>
            </a:pPr>
            <a:r>
              <a:rPr lang="en-GB" sz="1200" b="1" dirty="0">
                <a:solidFill>
                  <a:prstClr val="black"/>
                </a:solidFill>
              </a:rPr>
              <a:t>       </a:t>
            </a:r>
            <a:r>
              <a:rPr lang="en-GB" sz="1200" b="1" u="sng" dirty="0">
                <a:solidFill>
                  <a:prstClr val="black"/>
                </a:solidFill>
              </a:rPr>
              <a:t>Use of Posting Periods:</a:t>
            </a:r>
          </a:p>
          <a:p>
            <a:pPr lvl="0">
              <a:defRPr/>
            </a:pPr>
            <a:endParaRPr lang="en-GB" sz="1200" b="1" u="sng" dirty="0">
              <a:solidFill>
                <a:prstClr val="black"/>
              </a:solidFill>
            </a:endParaRPr>
          </a:p>
          <a:p>
            <a:pPr marL="144000" lvl="0" indent="-144000">
              <a:buFont typeface="Arial" panose="020B0604020202020204" pitchFamily="34" charset="0"/>
              <a:buChar char="•"/>
              <a:defRPr/>
            </a:pPr>
            <a:r>
              <a:rPr lang="en-GB" sz="1200" b="1" dirty="0">
                <a:solidFill>
                  <a:prstClr val="black"/>
                </a:solidFill>
              </a:rPr>
              <a:t>Standard </a:t>
            </a:r>
            <a:r>
              <a:rPr lang="en-GB" sz="1200" dirty="0">
                <a:solidFill>
                  <a:prstClr val="black"/>
                </a:solidFill>
              </a:rPr>
              <a:t>Posting Periods </a:t>
            </a:r>
            <a:r>
              <a:rPr lang="en-GB" sz="1200" b="1" dirty="0">
                <a:solidFill>
                  <a:prstClr val="black"/>
                </a:solidFill>
              </a:rPr>
              <a:t>P1-P12 </a:t>
            </a:r>
            <a:r>
              <a:rPr lang="en-GB" sz="1200" dirty="0">
                <a:solidFill>
                  <a:prstClr val="black"/>
                </a:solidFill>
              </a:rPr>
              <a:t>to be used for bookings in IFRS and any compulsory monthly activities for STAT and TAX.</a:t>
            </a:r>
          </a:p>
          <a:p>
            <a:pPr marL="144000" lvl="0" indent="-144000">
              <a:spcBef>
                <a:spcPts val="600"/>
              </a:spcBef>
              <a:spcAft>
                <a:spcPts val="600"/>
              </a:spcAft>
              <a:buFont typeface="Arial" panose="020B0604020202020204" pitchFamily="34" charset="0"/>
              <a:buChar char="•"/>
              <a:defRPr/>
            </a:pPr>
            <a:r>
              <a:rPr lang="en-GB" sz="1200" b="1" dirty="0">
                <a:solidFill>
                  <a:prstClr val="black"/>
                </a:solidFill>
              </a:rPr>
              <a:t>Special Posting Periods: P13-P16</a:t>
            </a:r>
            <a:r>
              <a:rPr lang="en-GB" sz="1200" dirty="0">
                <a:solidFill>
                  <a:prstClr val="black"/>
                </a:solidFill>
              </a:rPr>
              <a:t> are sustained, however each has been assigned with a specific usage (see Period End </a:t>
            </a:r>
            <a:r>
              <a:rPr lang="en-GB" sz="1200">
                <a:solidFill>
                  <a:prstClr val="black"/>
                </a:solidFill>
              </a:rPr>
              <a:t>Overview course for </a:t>
            </a:r>
            <a:r>
              <a:rPr lang="en-GB" sz="1200" dirty="0">
                <a:solidFill>
                  <a:prstClr val="black"/>
                </a:solidFill>
              </a:rPr>
              <a:t>further details).</a:t>
            </a:r>
          </a:p>
        </p:txBody>
      </p:sp>
      <p:sp>
        <p:nvSpPr>
          <p:cNvPr id="16" name="Shape 444">
            <a:extLst>
              <a:ext uri="{FF2B5EF4-FFF2-40B4-BE49-F238E27FC236}">
                <a16:creationId xmlns:a16="http://schemas.microsoft.com/office/drawing/2014/main" id="{28A1419B-8A54-44AD-92FA-E4BE5F2047DA}"/>
              </a:ext>
            </a:extLst>
          </p:cNvPr>
          <p:cNvSpPr/>
          <p:nvPr/>
        </p:nvSpPr>
        <p:spPr>
          <a:xfrm>
            <a:off x="8422387" y="4592397"/>
            <a:ext cx="288000" cy="277986"/>
          </a:xfrm>
          <a:custGeom>
            <a:avLst/>
            <a:gdLst/>
            <a:ahLst/>
            <a:cxnLst>
              <a:cxn ang="0">
                <a:pos x="wd2" y="hd2"/>
              </a:cxn>
              <a:cxn ang="5400000">
                <a:pos x="wd2" y="hd2"/>
              </a:cxn>
              <a:cxn ang="10800000">
                <a:pos x="wd2" y="hd2"/>
              </a:cxn>
              <a:cxn ang="16200000">
                <a:pos x="wd2" y="hd2"/>
              </a:cxn>
            </a:cxnLst>
            <a:rect l="0" t="0" r="r" b="b"/>
            <a:pathLst>
              <a:path w="21600" h="21600" extrusionOk="0">
                <a:moveTo>
                  <a:pt x="1256" y="2769"/>
                </a:moveTo>
                <a:cubicBezTo>
                  <a:pt x="3516" y="2769"/>
                  <a:pt x="3516" y="2769"/>
                  <a:pt x="3516" y="2769"/>
                </a:cubicBezTo>
                <a:cubicBezTo>
                  <a:pt x="3516" y="2492"/>
                  <a:pt x="3516" y="2492"/>
                  <a:pt x="3516" y="2492"/>
                </a:cubicBezTo>
                <a:cubicBezTo>
                  <a:pt x="3516" y="1662"/>
                  <a:pt x="3516" y="1108"/>
                  <a:pt x="4019" y="831"/>
                </a:cubicBezTo>
                <a:cubicBezTo>
                  <a:pt x="4521" y="277"/>
                  <a:pt x="5023" y="0"/>
                  <a:pt x="5526" y="0"/>
                </a:cubicBezTo>
                <a:cubicBezTo>
                  <a:pt x="5526" y="0"/>
                  <a:pt x="5526" y="0"/>
                  <a:pt x="5526" y="0"/>
                </a:cubicBezTo>
                <a:cubicBezTo>
                  <a:pt x="6028" y="0"/>
                  <a:pt x="6530" y="277"/>
                  <a:pt x="7033" y="831"/>
                </a:cubicBezTo>
                <a:cubicBezTo>
                  <a:pt x="7284" y="1108"/>
                  <a:pt x="7535" y="1662"/>
                  <a:pt x="7535" y="2492"/>
                </a:cubicBezTo>
                <a:cubicBezTo>
                  <a:pt x="7535" y="2769"/>
                  <a:pt x="7535" y="2769"/>
                  <a:pt x="7535" y="2769"/>
                </a:cubicBezTo>
                <a:cubicBezTo>
                  <a:pt x="8791" y="2769"/>
                  <a:pt x="8791" y="2769"/>
                  <a:pt x="8791" y="2769"/>
                </a:cubicBezTo>
                <a:cubicBezTo>
                  <a:pt x="8791" y="2492"/>
                  <a:pt x="8791" y="2492"/>
                  <a:pt x="8791" y="2492"/>
                </a:cubicBezTo>
                <a:cubicBezTo>
                  <a:pt x="8791" y="1662"/>
                  <a:pt x="9042" y="1108"/>
                  <a:pt x="9293" y="831"/>
                </a:cubicBezTo>
                <a:cubicBezTo>
                  <a:pt x="9795" y="277"/>
                  <a:pt x="10298" y="0"/>
                  <a:pt x="10800" y="0"/>
                </a:cubicBezTo>
                <a:cubicBezTo>
                  <a:pt x="10800" y="0"/>
                  <a:pt x="10800" y="0"/>
                  <a:pt x="10800" y="0"/>
                </a:cubicBezTo>
                <a:cubicBezTo>
                  <a:pt x="11553" y="0"/>
                  <a:pt x="12056" y="277"/>
                  <a:pt x="12307" y="831"/>
                </a:cubicBezTo>
                <a:cubicBezTo>
                  <a:pt x="12809" y="1108"/>
                  <a:pt x="13060" y="1662"/>
                  <a:pt x="13060" y="2492"/>
                </a:cubicBezTo>
                <a:cubicBezTo>
                  <a:pt x="13060" y="2769"/>
                  <a:pt x="13060" y="2769"/>
                  <a:pt x="13060" y="2769"/>
                </a:cubicBezTo>
                <a:cubicBezTo>
                  <a:pt x="14065" y="2769"/>
                  <a:pt x="14065" y="2769"/>
                  <a:pt x="14065" y="2769"/>
                </a:cubicBezTo>
                <a:cubicBezTo>
                  <a:pt x="14065" y="2492"/>
                  <a:pt x="14065" y="2492"/>
                  <a:pt x="14065" y="2492"/>
                </a:cubicBezTo>
                <a:cubicBezTo>
                  <a:pt x="14065" y="1662"/>
                  <a:pt x="14316" y="1108"/>
                  <a:pt x="14567" y="831"/>
                </a:cubicBezTo>
                <a:cubicBezTo>
                  <a:pt x="15070" y="277"/>
                  <a:pt x="15572" y="0"/>
                  <a:pt x="16074" y="0"/>
                </a:cubicBezTo>
                <a:cubicBezTo>
                  <a:pt x="16074" y="0"/>
                  <a:pt x="16074" y="0"/>
                  <a:pt x="16074" y="0"/>
                </a:cubicBezTo>
                <a:cubicBezTo>
                  <a:pt x="16828" y="0"/>
                  <a:pt x="17330" y="277"/>
                  <a:pt x="17581" y="831"/>
                </a:cubicBezTo>
                <a:cubicBezTo>
                  <a:pt x="18084" y="1108"/>
                  <a:pt x="18335" y="1662"/>
                  <a:pt x="18335" y="2492"/>
                </a:cubicBezTo>
                <a:cubicBezTo>
                  <a:pt x="18335" y="2769"/>
                  <a:pt x="18335" y="2769"/>
                  <a:pt x="18335" y="2769"/>
                </a:cubicBezTo>
                <a:cubicBezTo>
                  <a:pt x="20344" y="2769"/>
                  <a:pt x="20344" y="2769"/>
                  <a:pt x="20344" y="2769"/>
                </a:cubicBezTo>
                <a:cubicBezTo>
                  <a:pt x="21600" y="2769"/>
                  <a:pt x="21600" y="2769"/>
                  <a:pt x="21600" y="2769"/>
                </a:cubicBezTo>
                <a:cubicBezTo>
                  <a:pt x="21600" y="4154"/>
                  <a:pt x="21600" y="4154"/>
                  <a:pt x="21600" y="4154"/>
                </a:cubicBezTo>
                <a:cubicBezTo>
                  <a:pt x="21600" y="20215"/>
                  <a:pt x="21600" y="20215"/>
                  <a:pt x="21600" y="20215"/>
                </a:cubicBezTo>
                <a:cubicBezTo>
                  <a:pt x="21600" y="21600"/>
                  <a:pt x="21600" y="21600"/>
                  <a:pt x="21600" y="21600"/>
                </a:cubicBezTo>
                <a:cubicBezTo>
                  <a:pt x="20344" y="21600"/>
                  <a:pt x="20344" y="21600"/>
                  <a:pt x="20344" y="21600"/>
                </a:cubicBezTo>
                <a:cubicBezTo>
                  <a:pt x="6028" y="21600"/>
                  <a:pt x="6028" y="21600"/>
                  <a:pt x="6028" y="21600"/>
                </a:cubicBezTo>
                <a:cubicBezTo>
                  <a:pt x="5777" y="21600"/>
                  <a:pt x="5777" y="21600"/>
                  <a:pt x="5777" y="21600"/>
                </a:cubicBezTo>
                <a:cubicBezTo>
                  <a:pt x="5526" y="21600"/>
                  <a:pt x="5526" y="21600"/>
                  <a:pt x="5526" y="21600"/>
                </a:cubicBezTo>
                <a:cubicBezTo>
                  <a:pt x="753" y="19662"/>
                  <a:pt x="753" y="19662"/>
                  <a:pt x="753" y="19662"/>
                </a:cubicBezTo>
                <a:cubicBezTo>
                  <a:pt x="0" y="19108"/>
                  <a:pt x="0" y="19108"/>
                  <a:pt x="0" y="19108"/>
                </a:cubicBezTo>
                <a:cubicBezTo>
                  <a:pt x="0" y="18277"/>
                  <a:pt x="0" y="18277"/>
                  <a:pt x="0" y="18277"/>
                </a:cubicBezTo>
                <a:cubicBezTo>
                  <a:pt x="0" y="4154"/>
                  <a:pt x="0" y="4154"/>
                  <a:pt x="0" y="4154"/>
                </a:cubicBezTo>
                <a:cubicBezTo>
                  <a:pt x="0" y="2769"/>
                  <a:pt x="0" y="2769"/>
                  <a:pt x="0" y="2769"/>
                </a:cubicBezTo>
                <a:cubicBezTo>
                  <a:pt x="1256" y="2769"/>
                  <a:pt x="1256" y="2769"/>
                  <a:pt x="1256" y="2769"/>
                </a:cubicBezTo>
                <a:close/>
                <a:moveTo>
                  <a:pt x="2512" y="16338"/>
                </a:moveTo>
                <a:cubicBezTo>
                  <a:pt x="3767" y="15508"/>
                  <a:pt x="3767" y="15508"/>
                  <a:pt x="3767" y="15508"/>
                </a:cubicBezTo>
                <a:cubicBezTo>
                  <a:pt x="4270" y="15231"/>
                  <a:pt x="4270" y="15231"/>
                  <a:pt x="4270" y="15231"/>
                </a:cubicBezTo>
                <a:cubicBezTo>
                  <a:pt x="4521" y="15785"/>
                  <a:pt x="4521" y="15785"/>
                  <a:pt x="4521" y="15785"/>
                </a:cubicBezTo>
                <a:cubicBezTo>
                  <a:pt x="7033" y="18831"/>
                  <a:pt x="7033" y="18831"/>
                  <a:pt x="7033" y="18831"/>
                </a:cubicBezTo>
                <a:cubicBezTo>
                  <a:pt x="19088" y="18831"/>
                  <a:pt x="19088" y="18831"/>
                  <a:pt x="19088" y="18831"/>
                </a:cubicBezTo>
                <a:cubicBezTo>
                  <a:pt x="19088" y="5538"/>
                  <a:pt x="19088" y="5538"/>
                  <a:pt x="19088" y="5538"/>
                </a:cubicBezTo>
                <a:cubicBezTo>
                  <a:pt x="18335" y="5538"/>
                  <a:pt x="18335" y="5538"/>
                  <a:pt x="18335" y="5538"/>
                </a:cubicBezTo>
                <a:cubicBezTo>
                  <a:pt x="18335" y="5815"/>
                  <a:pt x="18335" y="5815"/>
                  <a:pt x="18335" y="5815"/>
                </a:cubicBezTo>
                <a:cubicBezTo>
                  <a:pt x="18335" y="6369"/>
                  <a:pt x="18084" y="6923"/>
                  <a:pt x="17581" y="7477"/>
                </a:cubicBezTo>
                <a:cubicBezTo>
                  <a:pt x="17330" y="8031"/>
                  <a:pt x="16828" y="8031"/>
                  <a:pt x="16074" y="8031"/>
                </a:cubicBezTo>
                <a:cubicBezTo>
                  <a:pt x="16074" y="8031"/>
                  <a:pt x="16074" y="8031"/>
                  <a:pt x="16074" y="8031"/>
                </a:cubicBezTo>
                <a:cubicBezTo>
                  <a:pt x="15572" y="8031"/>
                  <a:pt x="15070" y="8031"/>
                  <a:pt x="14567" y="7477"/>
                </a:cubicBezTo>
                <a:cubicBezTo>
                  <a:pt x="14316" y="6923"/>
                  <a:pt x="14065" y="6369"/>
                  <a:pt x="14065" y="5815"/>
                </a:cubicBezTo>
                <a:cubicBezTo>
                  <a:pt x="14065" y="5538"/>
                  <a:pt x="14065" y="5538"/>
                  <a:pt x="14065" y="5538"/>
                </a:cubicBezTo>
                <a:cubicBezTo>
                  <a:pt x="13060" y="5538"/>
                  <a:pt x="13060" y="5538"/>
                  <a:pt x="13060" y="5538"/>
                </a:cubicBezTo>
                <a:cubicBezTo>
                  <a:pt x="13060" y="5815"/>
                  <a:pt x="13060" y="5815"/>
                  <a:pt x="13060" y="5815"/>
                </a:cubicBezTo>
                <a:cubicBezTo>
                  <a:pt x="13060" y="6369"/>
                  <a:pt x="12809" y="6923"/>
                  <a:pt x="12307" y="7477"/>
                </a:cubicBezTo>
                <a:cubicBezTo>
                  <a:pt x="12056" y="8031"/>
                  <a:pt x="11553" y="8031"/>
                  <a:pt x="10800" y="8031"/>
                </a:cubicBezTo>
                <a:cubicBezTo>
                  <a:pt x="10800" y="8031"/>
                  <a:pt x="10800" y="8031"/>
                  <a:pt x="10800" y="8031"/>
                </a:cubicBezTo>
                <a:cubicBezTo>
                  <a:pt x="10298" y="8031"/>
                  <a:pt x="9795" y="8031"/>
                  <a:pt x="9293" y="7477"/>
                </a:cubicBezTo>
                <a:cubicBezTo>
                  <a:pt x="9042" y="6923"/>
                  <a:pt x="8791" y="6369"/>
                  <a:pt x="8791" y="5815"/>
                </a:cubicBezTo>
                <a:cubicBezTo>
                  <a:pt x="8791" y="5538"/>
                  <a:pt x="8791" y="5538"/>
                  <a:pt x="8791" y="5538"/>
                </a:cubicBezTo>
                <a:cubicBezTo>
                  <a:pt x="7535" y="5538"/>
                  <a:pt x="7535" y="5538"/>
                  <a:pt x="7535" y="5538"/>
                </a:cubicBezTo>
                <a:cubicBezTo>
                  <a:pt x="7535" y="5815"/>
                  <a:pt x="7535" y="5815"/>
                  <a:pt x="7535" y="5815"/>
                </a:cubicBezTo>
                <a:cubicBezTo>
                  <a:pt x="7535" y="6369"/>
                  <a:pt x="7284" y="6923"/>
                  <a:pt x="7033" y="7477"/>
                </a:cubicBezTo>
                <a:cubicBezTo>
                  <a:pt x="6530" y="8031"/>
                  <a:pt x="6028" y="8031"/>
                  <a:pt x="5526" y="8031"/>
                </a:cubicBezTo>
                <a:cubicBezTo>
                  <a:pt x="5526" y="8031"/>
                  <a:pt x="5526" y="8031"/>
                  <a:pt x="5526" y="8031"/>
                </a:cubicBezTo>
                <a:cubicBezTo>
                  <a:pt x="5023" y="8031"/>
                  <a:pt x="4521" y="8031"/>
                  <a:pt x="4019" y="7477"/>
                </a:cubicBezTo>
                <a:cubicBezTo>
                  <a:pt x="3516" y="6923"/>
                  <a:pt x="3516" y="6369"/>
                  <a:pt x="3516" y="5815"/>
                </a:cubicBezTo>
                <a:cubicBezTo>
                  <a:pt x="3516" y="5538"/>
                  <a:pt x="3516" y="5538"/>
                  <a:pt x="3516" y="5538"/>
                </a:cubicBezTo>
                <a:cubicBezTo>
                  <a:pt x="2512" y="5538"/>
                  <a:pt x="2512" y="5538"/>
                  <a:pt x="2512" y="5538"/>
                </a:cubicBezTo>
                <a:cubicBezTo>
                  <a:pt x="2512" y="16338"/>
                  <a:pt x="2512" y="16338"/>
                  <a:pt x="2512" y="16338"/>
                </a:cubicBezTo>
                <a:close/>
                <a:moveTo>
                  <a:pt x="5023" y="18554"/>
                </a:moveTo>
                <a:cubicBezTo>
                  <a:pt x="4019" y="17169"/>
                  <a:pt x="4019" y="17169"/>
                  <a:pt x="4019" y="17169"/>
                </a:cubicBezTo>
                <a:cubicBezTo>
                  <a:pt x="3265" y="17723"/>
                  <a:pt x="3265" y="17723"/>
                  <a:pt x="3265" y="17723"/>
                </a:cubicBezTo>
                <a:cubicBezTo>
                  <a:pt x="5023" y="18554"/>
                  <a:pt x="5023" y="18554"/>
                  <a:pt x="5023" y="18554"/>
                </a:cubicBezTo>
                <a:close/>
                <a:moveTo>
                  <a:pt x="13563" y="13569"/>
                </a:moveTo>
                <a:cubicBezTo>
                  <a:pt x="13563" y="15508"/>
                  <a:pt x="13563" y="15508"/>
                  <a:pt x="13563" y="15508"/>
                </a:cubicBezTo>
                <a:cubicBezTo>
                  <a:pt x="16577" y="15508"/>
                  <a:pt x="16577" y="15508"/>
                  <a:pt x="16577" y="15508"/>
                </a:cubicBezTo>
                <a:cubicBezTo>
                  <a:pt x="16577" y="13569"/>
                  <a:pt x="16577" y="13569"/>
                  <a:pt x="16577" y="13569"/>
                </a:cubicBezTo>
                <a:cubicBezTo>
                  <a:pt x="13563" y="13569"/>
                  <a:pt x="13563" y="13569"/>
                  <a:pt x="13563" y="13569"/>
                </a:cubicBezTo>
                <a:close/>
                <a:moveTo>
                  <a:pt x="9544" y="13569"/>
                </a:moveTo>
                <a:cubicBezTo>
                  <a:pt x="9544" y="15508"/>
                  <a:pt x="9544" y="15508"/>
                  <a:pt x="9544" y="15508"/>
                </a:cubicBezTo>
                <a:cubicBezTo>
                  <a:pt x="12307" y="15508"/>
                  <a:pt x="12307" y="15508"/>
                  <a:pt x="12307" y="15508"/>
                </a:cubicBezTo>
                <a:cubicBezTo>
                  <a:pt x="12307" y="13569"/>
                  <a:pt x="12307" y="13569"/>
                  <a:pt x="12307" y="13569"/>
                </a:cubicBezTo>
                <a:cubicBezTo>
                  <a:pt x="9544" y="13569"/>
                  <a:pt x="9544" y="13569"/>
                  <a:pt x="9544" y="13569"/>
                </a:cubicBezTo>
                <a:close/>
                <a:moveTo>
                  <a:pt x="5023" y="13569"/>
                </a:moveTo>
                <a:cubicBezTo>
                  <a:pt x="5023" y="15508"/>
                  <a:pt x="5023" y="15508"/>
                  <a:pt x="5023" y="15508"/>
                </a:cubicBezTo>
                <a:cubicBezTo>
                  <a:pt x="8037" y="15508"/>
                  <a:pt x="8037" y="15508"/>
                  <a:pt x="8037" y="15508"/>
                </a:cubicBezTo>
                <a:cubicBezTo>
                  <a:pt x="8037" y="13569"/>
                  <a:pt x="8037" y="13569"/>
                  <a:pt x="8037" y="13569"/>
                </a:cubicBezTo>
                <a:cubicBezTo>
                  <a:pt x="5023" y="13569"/>
                  <a:pt x="5023" y="13569"/>
                  <a:pt x="5023" y="13569"/>
                </a:cubicBezTo>
                <a:close/>
                <a:moveTo>
                  <a:pt x="13563" y="9969"/>
                </a:moveTo>
                <a:cubicBezTo>
                  <a:pt x="13563" y="11908"/>
                  <a:pt x="13563" y="11908"/>
                  <a:pt x="13563" y="11908"/>
                </a:cubicBezTo>
                <a:cubicBezTo>
                  <a:pt x="16577" y="11908"/>
                  <a:pt x="16577" y="11908"/>
                  <a:pt x="16577" y="11908"/>
                </a:cubicBezTo>
                <a:cubicBezTo>
                  <a:pt x="16577" y="9969"/>
                  <a:pt x="16577" y="9969"/>
                  <a:pt x="16577" y="9969"/>
                </a:cubicBezTo>
                <a:cubicBezTo>
                  <a:pt x="13563" y="9969"/>
                  <a:pt x="13563" y="9969"/>
                  <a:pt x="13563" y="9969"/>
                </a:cubicBezTo>
                <a:close/>
                <a:moveTo>
                  <a:pt x="9544" y="9969"/>
                </a:moveTo>
                <a:cubicBezTo>
                  <a:pt x="9544" y="11908"/>
                  <a:pt x="9544" y="11908"/>
                  <a:pt x="9544" y="11908"/>
                </a:cubicBezTo>
                <a:cubicBezTo>
                  <a:pt x="12307" y="11908"/>
                  <a:pt x="12307" y="11908"/>
                  <a:pt x="12307" y="11908"/>
                </a:cubicBezTo>
                <a:cubicBezTo>
                  <a:pt x="12307" y="9969"/>
                  <a:pt x="12307" y="9969"/>
                  <a:pt x="12307" y="9969"/>
                </a:cubicBezTo>
                <a:cubicBezTo>
                  <a:pt x="9544" y="9969"/>
                  <a:pt x="9544" y="9969"/>
                  <a:pt x="9544" y="9969"/>
                </a:cubicBezTo>
                <a:close/>
                <a:moveTo>
                  <a:pt x="5023" y="9969"/>
                </a:moveTo>
                <a:cubicBezTo>
                  <a:pt x="5023" y="11908"/>
                  <a:pt x="5023" y="11908"/>
                  <a:pt x="5023" y="11908"/>
                </a:cubicBezTo>
                <a:cubicBezTo>
                  <a:pt x="8037" y="11908"/>
                  <a:pt x="8037" y="11908"/>
                  <a:pt x="8037" y="11908"/>
                </a:cubicBezTo>
                <a:cubicBezTo>
                  <a:pt x="8037" y="9969"/>
                  <a:pt x="8037" y="9969"/>
                  <a:pt x="8037" y="9969"/>
                </a:cubicBezTo>
                <a:cubicBezTo>
                  <a:pt x="5023" y="9969"/>
                  <a:pt x="5023" y="9969"/>
                  <a:pt x="5023" y="9969"/>
                </a:cubicBezTo>
                <a:close/>
                <a:moveTo>
                  <a:pt x="16074" y="1385"/>
                </a:moveTo>
                <a:cubicBezTo>
                  <a:pt x="16074" y="1385"/>
                  <a:pt x="16074" y="1385"/>
                  <a:pt x="16074" y="1385"/>
                </a:cubicBezTo>
                <a:cubicBezTo>
                  <a:pt x="15823" y="1385"/>
                  <a:pt x="15823" y="1385"/>
                  <a:pt x="15572" y="1662"/>
                </a:cubicBezTo>
                <a:cubicBezTo>
                  <a:pt x="15321" y="1938"/>
                  <a:pt x="15321" y="2215"/>
                  <a:pt x="15321" y="2492"/>
                </a:cubicBezTo>
                <a:cubicBezTo>
                  <a:pt x="15321" y="5815"/>
                  <a:pt x="15321" y="5815"/>
                  <a:pt x="15321" y="5815"/>
                </a:cubicBezTo>
                <a:cubicBezTo>
                  <a:pt x="15321" y="6092"/>
                  <a:pt x="15321" y="6369"/>
                  <a:pt x="15572" y="6369"/>
                </a:cubicBezTo>
                <a:cubicBezTo>
                  <a:pt x="15823" y="6646"/>
                  <a:pt x="15823" y="6923"/>
                  <a:pt x="16074" y="6923"/>
                </a:cubicBezTo>
                <a:cubicBezTo>
                  <a:pt x="16074" y="6923"/>
                  <a:pt x="16074" y="6923"/>
                  <a:pt x="16074" y="6923"/>
                </a:cubicBezTo>
                <a:cubicBezTo>
                  <a:pt x="16326" y="6923"/>
                  <a:pt x="16577" y="6646"/>
                  <a:pt x="16828" y="6369"/>
                </a:cubicBezTo>
                <a:cubicBezTo>
                  <a:pt x="16828" y="6369"/>
                  <a:pt x="17079" y="6092"/>
                  <a:pt x="17079" y="5815"/>
                </a:cubicBezTo>
                <a:cubicBezTo>
                  <a:pt x="17079" y="2492"/>
                  <a:pt x="17079" y="2492"/>
                  <a:pt x="17079" y="2492"/>
                </a:cubicBezTo>
                <a:cubicBezTo>
                  <a:pt x="17079" y="2215"/>
                  <a:pt x="16828" y="1938"/>
                  <a:pt x="16828" y="1662"/>
                </a:cubicBezTo>
                <a:cubicBezTo>
                  <a:pt x="16577" y="1385"/>
                  <a:pt x="16326" y="1385"/>
                  <a:pt x="16074" y="1385"/>
                </a:cubicBezTo>
                <a:close/>
                <a:moveTo>
                  <a:pt x="10800" y="1385"/>
                </a:moveTo>
                <a:cubicBezTo>
                  <a:pt x="10800" y="1385"/>
                  <a:pt x="10800" y="1385"/>
                  <a:pt x="10800" y="1385"/>
                </a:cubicBezTo>
                <a:cubicBezTo>
                  <a:pt x="10549" y="1385"/>
                  <a:pt x="10549" y="1385"/>
                  <a:pt x="10298" y="1662"/>
                </a:cubicBezTo>
                <a:cubicBezTo>
                  <a:pt x="10047" y="1938"/>
                  <a:pt x="10047" y="2215"/>
                  <a:pt x="10047" y="2492"/>
                </a:cubicBezTo>
                <a:cubicBezTo>
                  <a:pt x="10047" y="5815"/>
                  <a:pt x="10047" y="5815"/>
                  <a:pt x="10047" y="5815"/>
                </a:cubicBezTo>
                <a:cubicBezTo>
                  <a:pt x="10047" y="6092"/>
                  <a:pt x="10047" y="6369"/>
                  <a:pt x="10298" y="6369"/>
                </a:cubicBezTo>
                <a:cubicBezTo>
                  <a:pt x="10549" y="6646"/>
                  <a:pt x="10549" y="6923"/>
                  <a:pt x="10800" y="6923"/>
                </a:cubicBezTo>
                <a:cubicBezTo>
                  <a:pt x="10800" y="6923"/>
                  <a:pt x="10800" y="6923"/>
                  <a:pt x="10800" y="6923"/>
                </a:cubicBezTo>
                <a:cubicBezTo>
                  <a:pt x="11051" y="6923"/>
                  <a:pt x="11302" y="6646"/>
                  <a:pt x="11553" y="6369"/>
                </a:cubicBezTo>
                <a:cubicBezTo>
                  <a:pt x="11553" y="6369"/>
                  <a:pt x="11805" y="6092"/>
                  <a:pt x="11805" y="5815"/>
                </a:cubicBezTo>
                <a:cubicBezTo>
                  <a:pt x="11805" y="2492"/>
                  <a:pt x="11805" y="2492"/>
                  <a:pt x="11805" y="2492"/>
                </a:cubicBezTo>
                <a:cubicBezTo>
                  <a:pt x="11805" y="2215"/>
                  <a:pt x="11553" y="1938"/>
                  <a:pt x="11553" y="1662"/>
                </a:cubicBezTo>
                <a:cubicBezTo>
                  <a:pt x="11302" y="1385"/>
                  <a:pt x="11051" y="1385"/>
                  <a:pt x="10800" y="1385"/>
                </a:cubicBezTo>
                <a:close/>
                <a:moveTo>
                  <a:pt x="5526" y="1385"/>
                </a:moveTo>
                <a:cubicBezTo>
                  <a:pt x="5526" y="1385"/>
                  <a:pt x="5526" y="1385"/>
                  <a:pt x="5526" y="1385"/>
                </a:cubicBezTo>
                <a:cubicBezTo>
                  <a:pt x="5274" y="1385"/>
                  <a:pt x="5023" y="1385"/>
                  <a:pt x="5023" y="1662"/>
                </a:cubicBezTo>
                <a:cubicBezTo>
                  <a:pt x="4772" y="1938"/>
                  <a:pt x="4772" y="2215"/>
                  <a:pt x="4772" y="2492"/>
                </a:cubicBezTo>
                <a:cubicBezTo>
                  <a:pt x="4772" y="5815"/>
                  <a:pt x="4772" y="5815"/>
                  <a:pt x="4772" y="5815"/>
                </a:cubicBezTo>
                <a:cubicBezTo>
                  <a:pt x="4772" y="6092"/>
                  <a:pt x="4772" y="6369"/>
                  <a:pt x="5023" y="6369"/>
                </a:cubicBezTo>
                <a:cubicBezTo>
                  <a:pt x="5023" y="6646"/>
                  <a:pt x="5274" y="6923"/>
                  <a:pt x="5526" y="6923"/>
                </a:cubicBezTo>
                <a:cubicBezTo>
                  <a:pt x="5526" y="6923"/>
                  <a:pt x="5526" y="6923"/>
                  <a:pt x="5526" y="6923"/>
                </a:cubicBezTo>
                <a:cubicBezTo>
                  <a:pt x="5777" y="6923"/>
                  <a:pt x="6028" y="6646"/>
                  <a:pt x="6028" y="6369"/>
                </a:cubicBezTo>
                <a:cubicBezTo>
                  <a:pt x="6279" y="6369"/>
                  <a:pt x="6279" y="6092"/>
                  <a:pt x="6279" y="5815"/>
                </a:cubicBezTo>
                <a:cubicBezTo>
                  <a:pt x="6279" y="2492"/>
                  <a:pt x="6279" y="2492"/>
                  <a:pt x="6279" y="2492"/>
                </a:cubicBezTo>
                <a:cubicBezTo>
                  <a:pt x="6279" y="2215"/>
                  <a:pt x="6279" y="1938"/>
                  <a:pt x="6028" y="1662"/>
                </a:cubicBezTo>
                <a:cubicBezTo>
                  <a:pt x="6028" y="1385"/>
                  <a:pt x="5777" y="1385"/>
                  <a:pt x="5526" y="1385"/>
                </a:cubicBezTo>
                <a:close/>
              </a:path>
            </a:pathLst>
          </a:custGeom>
          <a:solidFill>
            <a:schemeClr val="tx1"/>
          </a:solidFill>
          <a:ln w="12700">
            <a:miter lim="400000"/>
          </a:ln>
          <a:effectLst>
            <a:outerShdw blurRad="50800" dist="38100" dir="2700000" algn="tl" rotWithShape="0">
              <a:prstClr val="black">
                <a:alpha val="40000"/>
              </a:prstClr>
            </a:outerShdw>
          </a:effectLst>
        </p:spPr>
        <p:txBody>
          <a:bodyPr tIns="91439" bIns="91439"/>
          <a:lstStyle/>
          <a:p>
            <a:pPr algn="l" defTabSz="914400">
              <a:defRPr sz="3600">
                <a:latin typeface="Trebuchet MS"/>
                <a:ea typeface="Trebuchet MS"/>
                <a:cs typeface="Trebuchet MS"/>
                <a:sym typeface="Trebuchet MS"/>
              </a:defRPr>
            </a:pPr>
            <a:endParaRPr/>
          </a:p>
        </p:txBody>
      </p:sp>
      <p:pic>
        <p:nvPicPr>
          <p:cNvPr id="3" name="Picture 2">
            <a:extLst>
              <a:ext uri="{FF2B5EF4-FFF2-40B4-BE49-F238E27FC236}">
                <a16:creationId xmlns:a16="http://schemas.microsoft.com/office/drawing/2014/main" id="{97A97D46-A729-44C0-A942-E35B6876FCD6}"/>
              </a:ext>
            </a:extLst>
          </p:cNvPr>
          <p:cNvPicPr>
            <a:picLocks noChangeAspect="1"/>
          </p:cNvPicPr>
          <p:nvPr/>
        </p:nvPicPr>
        <p:blipFill>
          <a:blip r:embed="rId2"/>
          <a:stretch>
            <a:fillRect/>
          </a:stretch>
        </p:blipFill>
        <p:spPr>
          <a:xfrm>
            <a:off x="662724" y="1361449"/>
            <a:ext cx="11529276" cy="3181294"/>
          </a:xfrm>
          <a:prstGeom prst="rect">
            <a:avLst/>
          </a:prstGeom>
        </p:spPr>
      </p:pic>
      <p:sp>
        <p:nvSpPr>
          <p:cNvPr id="22" name="Rounded Rectangle 19">
            <a:extLst>
              <a:ext uri="{FF2B5EF4-FFF2-40B4-BE49-F238E27FC236}">
                <a16:creationId xmlns:a16="http://schemas.microsoft.com/office/drawing/2014/main" id="{1FAEDCF0-D3A7-42AC-B7A5-8CD9CDECE6C6}"/>
              </a:ext>
            </a:extLst>
          </p:cNvPr>
          <p:cNvSpPr/>
          <p:nvPr/>
        </p:nvSpPr>
        <p:spPr bwMode="gray">
          <a:xfrm>
            <a:off x="3817523" y="3657696"/>
            <a:ext cx="4405230" cy="3083737"/>
          </a:xfrm>
          <a:prstGeom prst="roundRect">
            <a:avLst>
              <a:gd name="adj" fmla="val 1381"/>
            </a:avLst>
          </a:prstGeom>
          <a:solidFill>
            <a:schemeClr val="accent1">
              <a:lumMod val="60000"/>
              <a:lumOff val="40000"/>
            </a:schemeClr>
          </a:solidFill>
          <a:ln>
            <a:noFill/>
          </a:ln>
          <a:effectLst>
            <a:outerShdw blurRad="50800" dist="38100" dir="5400000" algn="t"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tIns="108000" rtlCol="0" anchor="t" anchorCtr="0"/>
          <a:lstStyle/>
          <a:p>
            <a:pPr lvl="0" defTabSz="301532" fontAlgn="base">
              <a:spcBef>
                <a:spcPct val="0"/>
              </a:spcBef>
              <a:spcAft>
                <a:spcPct val="0"/>
              </a:spcAft>
              <a:defRPr/>
            </a:pPr>
            <a:r>
              <a:rPr lang="en-GB" sz="1200" b="1">
                <a:solidFill>
                  <a:prstClr val="black"/>
                </a:solidFill>
              </a:rPr>
              <a:t>        </a:t>
            </a:r>
            <a:r>
              <a:rPr lang="en-GB" sz="1200" b="1" u="sng">
                <a:solidFill>
                  <a:prstClr val="black"/>
                </a:solidFill>
              </a:rPr>
              <a:t>Annual ledger closing:</a:t>
            </a:r>
          </a:p>
          <a:p>
            <a:pPr lvl="0" defTabSz="301532" fontAlgn="base">
              <a:spcBef>
                <a:spcPct val="0"/>
              </a:spcBef>
              <a:spcAft>
                <a:spcPct val="0"/>
              </a:spcAft>
              <a:defRPr/>
            </a:pPr>
            <a:endParaRPr lang="en-GB" sz="1200" b="1">
              <a:solidFill>
                <a:prstClr val="black"/>
              </a:solidFill>
            </a:endParaRPr>
          </a:p>
          <a:p>
            <a:pPr marL="144000" lvl="0" indent="-144000" defTabSz="301532" fontAlgn="base">
              <a:spcBef>
                <a:spcPct val="0"/>
              </a:spcBef>
              <a:spcAft>
                <a:spcPct val="0"/>
              </a:spcAft>
              <a:buFont typeface="Arial" panose="020B0604020202020204" pitchFamily="34" charset="0"/>
              <a:buChar char="•"/>
              <a:defRPr/>
            </a:pPr>
            <a:r>
              <a:rPr lang="en-GB" sz="1200">
                <a:solidFill>
                  <a:prstClr val="black"/>
                </a:solidFill>
              </a:rPr>
              <a:t>Although we reserved special posting period P13 as a placeholder for IFRS reporting adjustments, based on JTI practices </a:t>
            </a:r>
            <a:r>
              <a:rPr lang="en-GB" sz="1200" b="1">
                <a:solidFill>
                  <a:prstClr val="black"/>
                </a:solidFill>
              </a:rPr>
              <a:t>with the close of P12 on WD3 in January, IFRS ledger is closed and ready for annual reporting. </a:t>
            </a:r>
          </a:p>
          <a:p>
            <a:pPr marL="144000" lvl="0" indent="-144000" defTabSz="301532" fontAlgn="base">
              <a:spcBef>
                <a:spcPct val="0"/>
              </a:spcBef>
              <a:spcAft>
                <a:spcPct val="0"/>
              </a:spcAft>
              <a:buFont typeface="Arial" panose="020B0604020202020204" pitchFamily="34" charset="0"/>
              <a:buChar char="•"/>
              <a:defRPr/>
            </a:pPr>
            <a:r>
              <a:rPr lang="en-GB" sz="1200" b="1">
                <a:solidFill>
                  <a:prstClr val="black"/>
                </a:solidFill>
              </a:rPr>
              <a:t>Statutory Ledger</a:t>
            </a:r>
            <a:r>
              <a:rPr lang="en-GB" sz="1200">
                <a:solidFill>
                  <a:prstClr val="black"/>
                </a:solidFill>
              </a:rPr>
              <a:t> closing cut-off - </a:t>
            </a:r>
            <a:r>
              <a:rPr lang="en-GB" sz="1200" b="1">
                <a:solidFill>
                  <a:schemeClr val="tx1"/>
                </a:solidFill>
              </a:rPr>
              <a:t>end June</a:t>
            </a:r>
            <a:r>
              <a:rPr lang="en-GB" sz="1200">
                <a:solidFill>
                  <a:schemeClr val="tx1"/>
                </a:solidFill>
              </a:rPr>
              <a:t> </a:t>
            </a:r>
            <a:r>
              <a:rPr lang="en-GB" sz="1200">
                <a:solidFill>
                  <a:prstClr val="black"/>
                </a:solidFill>
              </a:rPr>
              <a:t>for YE manual ledger specific postings (FA, ML–COGM, AP, AR, CM, FSCM will need to be closed as per monthly calendar).</a:t>
            </a:r>
          </a:p>
          <a:p>
            <a:pPr marL="144000" lvl="0" indent="-144000" defTabSz="301532" fontAlgn="base">
              <a:spcBef>
                <a:spcPct val="0"/>
              </a:spcBef>
              <a:spcAft>
                <a:spcPct val="0"/>
              </a:spcAft>
              <a:buFont typeface="Arial" panose="020B0604020202020204" pitchFamily="34" charset="0"/>
              <a:buChar char="•"/>
              <a:defRPr/>
            </a:pPr>
            <a:r>
              <a:rPr lang="en-GB" sz="1200" b="1">
                <a:solidFill>
                  <a:prstClr val="black"/>
                </a:solidFill>
              </a:rPr>
              <a:t>Statutory Extension ledger S1</a:t>
            </a:r>
            <a:r>
              <a:rPr lang="en-GB" sz="1200">
                <a:solidFill>
                  <a:prstClr val="black"/>
                </a:solidFill>
              </a:rPr>
              <a:t> closed only annually </a:t>
            </a:r>
            <a:r>
              <a:rPr lang="en-GB" sz="1200" b="1">
                <a:solidFill>
                  <a:schemeClr val="tx1"/>
                </a:solidFill>
              </a:rPr>
              <a:t>– end of June</a:t>
            </a:r>
            <a:r>
              <a:rPr lang="en-GB" sz="1200">
                <a:solidFill>
                  <a:schemeClr val="tx2"/>
                </a:solidFill>
              </a:rPr>
              <a:t>.</a:t>
            </a:r>
            <a:endParaRPr lang="en-GB" sz="1200">
              <a:solidFill>
                <a:prstClr val="black"/>
              </a:solidFill>
            </a:endParaRPr>
          </a:p>
          <a:p>
            <a:pPr marL="144000" lvl="0" indent="-144000" defTabSz="301532" fontAlgn="base">
              <a:spcBef>
                <a:spcPct val="0"/>
              </a:spcBef>
              <a:spcAft>
                <a:spcPct val="0"/>
              </a:spcAft>
              <a:buFont typeface="Arial" panose="020B0604020202020204" pitchFamily="34" charset="0"/>
              <a:buChar char="•"/>
              <a:defRPr/>
            </a:pPr>
            <a:r>
              <a:rPr lang="en-GB" sz="1200" b="1">
                <a:solidFill>
                  <a:prstClr val="black"/>
                </a:solidFill>
              </a:rPr>
              <a:t>Tax Ledger</a:t>
            </a:r>
            <a:r>
              <a:rPr lang="en-GB" sz="1200">
                <a:solidFill>
                  <a:prstClr val="black"/>
                </a:solidFill>
              </a:rPr>
              <a:t> closing cut-off </a:t>
            </a:r>
            <a:r>
              <a:rPr lang="en-GB" sz="1200">
                <a:solidFill>
                  <a:schemeClr val="tx1"/>
                </a:solidFill>
              </a:rPr>
              <a:t>- </a:t>
            </a:r>
            <a:r>
              <a:rPr lang="en-GB" sz="1200" b="1">
                <a:solidFill>
                  <a:schemeClr val="tx1"/>
                </a:solidFill>
              </a:rPr>
              <a:t>end September </a:t>
            </a:r>
            <a:r>
              <a:rPr lang="en-GB" sz="1200">
                <a:solidFill>
                  <a:prstClr val="black"/>
                </a:solidFill>
              </a:rPr>
              <a:t>for YE manual ledger specific postings (FA, ML -COGM, AP, AR, CM, FSCM will need to be closed as per monthly calendar).</a:t>
            </a:r>
          </a:p>
          <a:p>
            <a:pPr marL="144000" lvl="0" indent="-144000" defTabSz="301532" fontAlgn="base">
              <a:spcBef>
                <a:spcPct val="0"/>
              </a:spcBef>
              <a:spcAft>
                <a:spcPct val="0"/>
              </a:spcAft>
              <a:buFont typeface="Arial" panose="020B0604020202020204" pitchFamily="34" charset="0"/>
              <a:buChar char="•"/>
              <a:defRPr/>
            </a:pPr>
            <a:r>
              <a:rPr lang="en-GB" sz="1200" b="1">
                <a:solidFill>
                  <a:prstClr val="black"/>
                </a:solidFill>
              </a:rPr>
              <a:t>Tax Extension ledger T1</a:t>
            </a:r>
            <a:r>
              <a:rPr lang="en-GB" sz="1200">
                <a:solidFill>
                  <a:prstClr val="black"/>
                </a:solidFill>
              </a:rPr>
              <a:t> closed only annually - </a:t>
            </a:r>
            <a:r>
              <a:rPr lang="en-GB" sz="1200" b="1">
                <a:solidFill>
                  <a:schemeClr val="tx1"/>
                </a:solidFill>
              </a:rPr>
              <a:t>end September.</a:t>
            </a:r>
            <a:endParaRPr lang="en-GB" sz="1200">
              <a:solidFill>
                <a:schemeClr val="tx1"/>
              </a:solidFill>
            </a:endParaRPr>
          </a:p>
          <a:p>
            <a:pPr marL="171450" marR="0" lvl="0" indent="-171450" algn="l" defTabSz="301532"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Arial"/>
              <a:ea typeface="+mn-ea"/>
              <a:cs typeface="+mn-cs"/>
            </a:endParaRPr>
          </a:p>
        </p:txBody>
      </p:sp>
      <p:sp>
        <p:nvSpPr>
          <p:cNvPr id="21" name="Rounded Rectangle 17">
            <a:extLst>
              <a:ext uri="{FF2B5EF4-FFF2-40B4-BE49-F238E27FC236}">
                <a16:creationId xmlns:a16="http://schemas.microsoft.com/office/drawing/2014/main" id="{56A325A7-E6BD-4144-B468-D126A04D5B3E}"/>
              </a:ext>
            </a:extLst>
          </p:cNvPr>
          <p:cNvSpPr/>
          <p:nvPr/>
        </p:nvSpPr>
        <p:spPr bwMode="gray">
          <a:xfrm>
            <a:off x="348230" y="3190395"/>
            <a:ext cx="3326786" cy="2954087"/>
          </a:xfrm>
          <a:prstGeom prst="roundRect">
            <a:avLst>
              <a:gd name="adj" fmla="val 2753"/>
            </a:avLst>
          </a:prstGeom>
          <a:solidFill>
            <a:schemeClr val="tx2">
              <a:lumMod val="10000"/>
              <a:lumOff val="90000"/>
            </a:schemeClr>
          </a:solidFill>
          <a:ln>
            <a:noFill/>
          </a:ln>
          <a:effectLst>
            <a:outerShdw blurRad="50800" dist="38100" dir="5400000" algn="t"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t" anchorCtr="0"/>
          <a:lstStyle/>
          <a:p>
            <a:pPr lvl="0">
              <a:defRPr/>
            </a:pPr>
            <a:r>
              <a:rPr lang="en-GB" sz="1200" b="1">
                <a:solidFill>
                  <a:srgbClr val="122632"/>
                </a:solidFill>
              </a:rPr>
              <a:t>       </a:t>
            </a:r>
            <a:r>
              <a:rPr lang="en-GB" sz="1200" b="1" u="sng">
                <a:solidFill>
                  <a:srgbClr val="122632"/>
                </a:solidFill>
              </a:rPr>
              <a:t>Monthly ledger closing:</a:t>
            </a:r>
          </a:p>
          <a:p>
            <a:pPr marL="144000" lvl="0" indent="-144000">
              <a:buFont typeface="Arial" panose="020B0604020202020204" pitchFamily="34" charset="0"/>
              <a:buChar char="•"/>
              <a:defRPr/>
            </a:pPr>
            <a:endParaRPr lang="en-GB" sz="1200" b="1">
              <a:solidFill>
                <a:srgbClr val="122632"/>
              </a:solidFill>
            </a:endParaRPr>
          </a:p>
          <a:p>
            <a:pPr marL="144000" lvl="0" indent="-144000">
              <a:buFont typeface="Arial" panose="020B0604020202020204" pitchFamily="34" charset="0"/>
              <a:buChar char="•"/>
              <a:defRPr/>
            </a:pPr>
            <a:r>
              <a:rPr lang="en-GB" sz="1200" b="1">
                <a:solidFill>
                  <a:srgbClr val="122632"/>
                </a:solidFill>
              </a:rPr>
              <a:t>IFRS Ledger </a:t>
            </a:r>
            <a:r>
              <a:rPr lang="en-GB" sz="1200">
                <a:solidFill>
                  <a:srgbClr val="122632"/>
                </a:solidFill>
              </a:rPr>
              <a:t>closing cut-off - remains as is on </a:t>
            </a:r>
            <a:r>
              <a:rPr lang="en-GB" sz="1200" b="1">
                <a:solidFill>
                  <a:srgbClr val="122632"/>
                </a:solidFill>
              </a:rPr>
              <a:t>WD3</a:t>
            </a:r>
            <a:r>
              <a:rPr lang="en-GB" sz="1200">
                <a:solidFill>
                  <a:srgbClr val="122632"/>
                </a:solidFill>
              </a:rPr>
              <a:t>.</a:t>
            </a:r>
          </a:p>
          <a:p>
            <a:pPr marL="144000" lvl="0" indent="-144000">
              <a:buFont typeface="Arial" panose="020B0604020202020204" pitchFamily="34" charset="0"/>
              <a:buChar char="•"/>
              <a:defRPr/>
            </a:pPr>
            <a:r>
              <a:rPr lang="en-GB" sz="1200" b="1">
                <a:solidFill>
                  <a:srgbClr val="122632"/>
                </a:solidFill>
              </a:rPr>
              <a:t>Statutory Ledger </a:t>
            </a:r>
            <a:r>
              <a:rPr lang="en-GB" sz="1200">
                <a:solidFill>
                  <a:srgbClr val="122632"/>
                </a:solidFill>
              </a:rPr>
              <a:t>closing cut-off established on </a:t>
            </a:r>
            <a:r>
              <a:rPr lang="en-GB" sz="1200" b="1">
                <a:solidFill>
                  <a:srgbClr val="122632"/>
                </a:solidFill>
              </a:rPr>
              <a:t>WD10</a:t>
            </a:r>
            <a:r>
              <a:rPr lang="en-GB" sz="1200">
                <a:solidFill>
                  <a:srgbClr val="122632"/>
                </a:solidFill>
              </a:rPr>
              <a:t>.</a:t>
            </a:r>
            <a:r>
              <a:rPr lang="en-GB" sz="1200" i="1" baseline="30000">
                <a:solidFill>
                  <a:srgbClr val="FF0000"/>
                </a:solidFill>
              </a:rPr>
              <a:t> 1)</a:t>
            </a:r>
            <a:endParaRPr lang="en-GB" sz="1200">
              <a:solidFill>
                <a:srgbClr val="122632"/>
              </a:solidFill>
            </a:endParaRPr>
          </a:p>
          <a:p>
            <a:pPr marL="144000" lvl="0" indent="-144000">
              <a:buFont typeface="Arial" panose="020B0604020202020204" pitchFamily="34" charset="0"/>
              <a:buChar char="•"/>
              <a:defRPr/>
            </a:pPr>
            <a:r>
              <a:rPr lang="en-GB" sz="1200" b="1">
                <a:solidFill>
                  <a:srgbClr val="122632"/>
                </a:solidFill>
              </a:rPr>
              <a:t>No monthly closing </a:t>
            </a:r>
            <a:r>
              <a:rPr lang="en-GB" sz="1200">
                <a:solidFill>
                  <a:srgbClr val="122632"/>
                </a:solidFill>
              </a:rPr>
              <a:t>of posting periods for </a:t>
            </a:r>
            <a:r>
              <a:rPr lang="en-GB" sz="1200" b="1">
                <a:solidFill>
                  <a:srgbClr val="122632"/>
                </a:solidFill>
              </a:rPr>
              <a:t>Statutory Extension Ledger S1 </a:t>
            </a:r>
            <a:r>
              <a:rPr lang="en-GB" sz="1200">
                <a:solidFill>
                  <a:srgbClr val="122632"/>
                </a:solidFill>
              </a:rPr>
              <a:t>(i.e. all remain open until the annual cut-off date).</a:t>
            </a:r>
          </a:p>
          <a:p>
            <a:pPr marL="144000" lvl="0" indent="-144000">
              <a:buFont typeface="Arial" panose="020B0604020202020204" pitchFamily="34" charset="0"/>
              <a:buChar char="•"/>
              <a:defRPr/>
            </a:pPr>
            <a:r>
              <a:rPr lang="en-GB" sz="1200" b="1">
                <a:solidFill>
                  <a:srgbClr val="122632"/>
                </a:solidFill>
              </a:rPr>
              <a:t>Tax Ledgers </a:t>
            </a:r>
            <a:r>
              <a:rPr lang="en-GB" sz="1200">
                <a:solidFill>
                  <a:srgbClr val="122632"/>
                </a:solidFill>
              </a:rPr>
              <a:t>closing cut-off established on </a:t>
            </a:r>
            <a:r>
              <a:rPr lang="en-GB" sz="1200" b="1">
                <a:solidFill>
                  <a:srgbClr val="122632"/>
                </a:solidFill>
              </a:rPr>
              <a:t>WD10</a:t>
            </a:r>
            <a:r>
              <a:rPr lang="en-GB" sz="1200">
                <a:solidFill>
                  <a:srgbClr val="122632"/>
                </a:solidFill>
              </a:rPr>
              <a:t> (will be closed in parallel with Statutory ledger). </a:t>
            </a:r>
            <a:r>
              <a:rPr lang="en-GB" sz="1200" i="1" baseline="30000">
                <a:solidFill>
                  <a:srgbClr val="FF0000"/>
                </a:solidFill>
              </a:rPr>
              <a:t>1)</a:t>
            </a:r>
          </a:p>
          <a:p>
            <a:pPr marL="144000" indent="-144000">
              <a:buFont typeface="Arial" panose="020B0604020202020204" pitchFamily="34" charset="0"/>
              <a:buChar char="•"/>
              <a:defRPr/>
            </a:pPr>
            <a:r>
              <a:rPr lang="en-GB" sz="1200" b="1">
                <a:solidFill>
                  <a:srgbClr val="122632"/>
                </a:solidFill>
              </a:rPr>
              <a:t>No monthly closing </a:t>
            </a:r>
            <a:r>
              <a:rPr lang="en-GB" sz="1200">
                <a:solidFill>
                  <a:srgbClr val="122632"/>
                </a:solidFill>
              </a:rPr>
              <a:t>of posting periods for </a:t>
            </a:r>
            <a:r>
              <a:rPr lang="en-GB" sz="1200" b="1">
                <a:solidFill>
                  <a:srgbClr val="122632"/>
                </a:solidFill>
              </a:rPr>
              <a:t>Tax Extension Ledger T1 </a:t>
            </a:r>
            <a:r>
              <a:rPr lang="en-GB" sz="1200">
                <a:solidFill>
                  <a:srgbClr val="122632"/>
                </a:solidFill>
              </a:rPr>
              <a:t>(i.e. all remain open until the annual cut-off date).</a:t>
            </a:r>
          </a:p>
          <a:p>
            <a:pPr marL="144000" lvl="0" indent="-144000">
              <a:buFont typeface="Arial" panose="020B0604020202020204" pitchFamily="34" charset="0"/>
              <a:buChar char="•"/>
              <a:defRPr/>
            </a:pPr>
            <a:endParaRPr lang="en-GB" sz="1200">
              <a:solidFill>
                <a:srgbClr val="122632"/>
              </a:solidFill>
            </a:endParaRPr>
          </a:p>
          <a:p>
            <a:pPr marL="171450" lvl="0" indent="-171450">
              <a:buFont typeface="Arial" panose="020B0604020202020204" pitchFamily="34" charset="0"/>
              <a:buChar char="•"/>
              <a:defRPr/>
            </a:pPr>
            <a:endParaRPr lang="en-GB" sz="1200">
              <a:solidFill>
                <a:srgbClr val="122632"/>
              </a:solidFill>
            </a:endParaRPr>
          </a:p>
        </p:txBody>
      </p:sp>
      <p:pic>
        <p:nvPicPr>
          <p:cNvPr id="12" name="Picture 11">
            <a:extLst>
              <a:ext uri="{FF2B5EF4-FFF2-40B4-BE49-F238E27FC236}">
                <a16:creationId xmlns:a16="http://schemas.microsoft.com/office/drawing/2014/main" id="{457B6E11-AD7A-4025-A409-9C525ED976EB}"/>
              </a:ext>
            </a:extLst>
          </p:cNvPr>
          <p:cNvPicPr>
            <a:picLocks noChangeAspect="1"/>
          </p:cNvPicPr>
          <p:nvPr/>
        </p:nvPicPr>
        <p:blipFill>
          <a:blip r:embed="rId3"/>
          <a:stretch>
            <a:fillRect/>
          </a:stretch>
        </p:blipFill>
        <p:spPr>
          <a:xfrm>
            <a:off x="3848003" y="3730049"/>
            <a:ext cx="337538" cy="325746"/>
          </a:xfrm>
          <a:prstGeom prst="rect">
            <a:avLst/>
          </a:prstGeom>
          <a:effectLst>
            <a:outerShdw blurRad="50800" dist="38100" dir="2700000" algn="tl" rotWithShape="0">
              <a:prstClr val="black">
                <a:alpha val="40000"/>
              </a:prstClr>
            </a:outerShdw>
          </a:effectLst>
        </p:spPr>
      </p:pic>
      <p:pic>
        <p:nvPicPr>
          <p:cNvPr id="13" name="Graphic 12" descr="Daily calendar">
            <a:extLst>
              <a:ext uri="{FF2B5EF4-FFF2-40B4-BE49-F238E27FC236}">
                <a16:creationId xmlns:a16="http://schemas.microsoft.com/office/drawing/2014/main" id="{10B8B345-AA0B-4522-ADB1-237AD1BA5B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8230" y="3190395"/>
            <a:ext cx="381600" cy="381600"/>
          </a:xfrm>
          <a:prstGeom prst="rect">
            <a:avLst/>
          </a:prstGeom>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A97D8023-B50A-9FF2-997D-13CFF2BB313D}"/>
              </a:ext>
            </a:extLst>
          </p:cNvPr>
          <p:cNvSpPr txBox="1"/>
          <p:nvPr/>
        </p:nvSpPr>
        <p:spPr>
          <a:xfrm>
            <a:off x="348230" y="6264730"/>
            <a:ext cx="3326786" cy="365125"/>
          </a:xfrm>
          <a:prstGeom prst="rect">
            <a:avLst/>
          </a:prstGeom>
          <a:noFill/>
        </p:spPr>
        <p:txBody>
          <a:bodyPr wrap="square" lIns="0" tIns="0" rIns="0" bIns="0" rtlCol="0">
            <a:noAutofit/>
          </a:bodyPr>
          <a:lstStyle/>
          <a:p>
            <a:pPr algn="l"/>
            <a:r>
              <a:rPr lang="en-US" sz="900" i="1" baseline="30000" dirty="0">
                <a:solidFill>
                  <a:srgbClr val="FF0000"/>
                </a:solidFill>
              </a:rPr>
              <a:t>1) </a:t>
            </a:r>
            <a:r>
              <a:rPr lang="en-US" sz="900" i="1" dirty="0"/>
              <a:t>Exceptions exist. See Period End Closing Overview course. For JT the STTX cut-off day is WD07.</a:t>
            </a:r>
          </a:p>
        </p:txBody>
      </p:sp>
    </p:spTree>
    <p:extLst>
      <p:ext uri="{BB962C8B-B14F-4D97-AF65-F5344CB8AC3E}">
        <p14:creationId xmlns:p14="http://schemas.microsoft.com/office/powerpoint/2010/main" val="1652393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33CC6F1-DCA5-5F44-6105-8386C6322102}"/>
              </a:ext>
            </a:extLst>
          </p:cNvPr>
          <p:cNvSpPr>
            <a:spLocks noGrp="1"/>
          </p:cNvSpPr>
          <p:nvPr>
            <p:ph type="sldNum" sz="quarter" idx="12"/>
          </p:nvPr>
        </p:nvSpPr>
        <p:spPr/>
        <p:txBody>
          <a:bodyPr/>
          <a:lstStyle/>
          <a:p>
            <a:fld id="{F4C94289-3309-4C35-850A-56FD49B3E346}" type="slidenum">
              <a:rPr lang="en-GB" smtClean="0"/>
              <a:t>9</a:t>
            </a:fld>
            <a:endParaRPr lang="en-GB"/>
          </a:p>
        </p:txBody>
      </p:sp>
      <p:sp>
        <p:nvSpPr>
          <p:cNvPr id="4" name="Title 3">
            <a:extLst>
              <a:ext uri="{FF2B5EF4-FFF2-40B4-BE49-F238E27FC236}">
                <a16:creationId xmlns:a16="http://schemas.microsoft.com/office/drawing/2014/main" id="{AB4EB7A3-860E-31C2-6D32-C95B572E7539}"/>
              </a:ext>
            </a:extLst>
          </p:cNvPr>
          <p:cNvSpPr>
            <a:spLocks noGrp="1"/>
          </p:cNvSpPr>
          <p:nvPr>
            <p:ph type="title"/>
          </p:nvPr>
        </p:nvSpPr>
        <p:spPr>
          <a:xfrm>
            <a:off x="1464907" y="314417"/>
            <a:ext cx="8959604" cy="492124"/>
          </a:xfrm>
        </p:spPr>
        <p:txBody>
          <a:bodyPr anchor="t"/>
          <a:lstStyle/>
          <a:p>
            <a:r>
              <a:rPr lang="en-GB" b="1" dirty="0"/>
              <a:t>Holiday Calendar- Exception</a:t>
            </a:r>
            <a:br>
              <a:rPr lang="en-GB" b="1" dirty="0"/>
            </a:br>
            <a:r>
              <a:rPr lang="en-GB" b="1" dirty="0"/>
              <a:t>Japan &amp; Geneva Hybrid Calendar</a:t>
            </a:r>
            <a:br>
              <a:rPr lang="en-US" b="1" dirty="0"/>
            </a:br>
            <a:endParaRPr lang="en-US" dirty="0"/>
          </a:p>
        </p:txBody>
      </p:sp>
      <p:pic>
        <p:nvPicPr>
          <p:cNvPr id="8" name="Picture 7">
            <a:extLst>
              <a:ext uri="{FF2B5EF4-FFF2-40B4-BE49-F238E27FC236}">
                <a16:creationId xmlns:a16="http://schemas.microsoft.com/office/drawing/2014/main" id="{35AF2B87-FB0C-1992-DC3D-FF5E6850CDEB}"/>
              </a:ext>
            </a:extLst>
          </p:cNvPr>
          <p:cNvPicPr>
            <a:picLocks noChangeAspect="1"/>
          </p:cNvPicPr>
          <p:nvPr/>
        </p:nvPicPr>
        <p:blipFill>
          <a:blip r:embed="rId2"/>
          <a:stretch>
            <a:fillRect/>
          </a:stretch>
        </p:blipFill>
        <p:spPr>
          <a:xfrm>
            <a:off x="702038" y="2659117"/>
            <a:ext cx="4833689" cy="3711180"/>
          </a:xfrm>
          <a:prstGeom prst="rect">
            <a:avLst/>
          </a:prstGeom>
        </p:spPr>
      </p:pic>
      <p:pic>
        <p:nvPicPr>
          <p:cNvPr id="10" name="Picture 9">
            <a:extLst>
              <a:ext uri="{FF2B5EF4-FFF2-40B4-BE49-F238E27FC236}">
                <a16:creationId xmlns:a16="http://schemas.microsoft.com/office/drawing/2014/main" id="{50125F11-EB1C-C70E-3B85-7C533DB92497}"/>
              </a:ext>
            </a:extLst>
          </p:cNvPr>
          <p:cNvPicPr>
            <a:picLocks noChangeAspect="1"/>
          </p:cNvPicPr>
          <p:nvPr/>
        </p:nvPicPr>
        <p:blipFill>
          <a:blip r:embed="rId3"/>
          <a:stretch>
            <a:fillRect/>
          </a:stretch>
        </p:blipFill>
        <p:spPr>
          <a:xfrm>
            <a:off x="5969875" y="2700613"/>
            <a:ext cx="5308925" cy="3596908"/>
          </a:xfrm>
          <a:prstGeom prst="rect">
            <a:avLst/>
          </a:prstGeom>
        </p:spPr>
      </p:pic>
      <p:sp>
        <p:nvSpPr>
          <p:cNvPr id="11" name="Rectangle: Rounded Corners 10">
            <a:extLst>
              <a:ext uri="{FF2B5EF4-FFF2-40B4-BE49-F238E27FC236}">
                <a16:creationId xmlns:a16="http://schemas.microsoft.com/office/drawing/2014/main" id="{90FFF1FC-CB20-A72E-8F74-010C651C6A5A}"/>
              </a:ext>
            </a:extLst>
          </p:cNvPr>
          <p:cNvSpPr/>
          <p:nvPr/>
        </p:nvSpPr>
        <p:spPr>
          <a:xfrm>
            <a:off x="528917" y="1387367"/>
            <a:ext cx="11147143" cy="789292"/>
          </a:xfrm>
          <a:prstGeom prst="roundRect">
            <a:avLst/>
          </a:prstGeom>
          <a:solidFill>
            <a:schemeClr val="accent3"/>
          </a:solidFill>
          <a:ln w="2857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dirty="0"/>
              <a:t>Japan should follow the Geneva Calendar for the Closing Periods P1-P11. </a:t>
            </a:r>
          </a:p>
          <a:p>
            <a:pPr marL="285750" indent="-285750">
              <a:buFont typeface="Arial" panose="020B0604020202020204" pitchFamily="34" charset="0"/>
              <a:buChar char="•"/>
            </a:pPr>
            <a:r>
              <a:rPr lang="en-US" sz="1600" dirty="0"/>
              <a:t>Starting from P12 2024 closing, the closing calendar will be based on Hybrid calendar (Jan 1-3 are treated as non-working days). This is applicable to all JTI. </a:t>
            </a:r>
            <a:endParaRPr lang="ru-RU" sz="1600" dirty="0"/>
          </a:p>
        </p:txBody>
      </p:sp>
      <p:sp>
        <p:nvSpPr>
          <p:cNvPr id="12" name="Rectangle 11">
            <a:extLst>
              <a:ext uri="{FF2B5EF4-FFF2-40B4-BE49-F238E27FC236}">
                <a16:creationId xmlns:a16="http://schemas.microsoft.com/office/drawing/2014/main" id="{800F1B44-4AAE-3086-1751-5250AC09E1ED}"/>
              </a:ext>
            </a:extLst>
          </p:cNvPr>
          <p:cNvSpPr/>
          <p:nvPr/>
        </p:nvSpPr>
        <p:spPr>
          <a:xfrm>
            <a:off x="1858117" y="2333296"/>
            <a:ext cx="2430103" cy="32582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Closing of P12 (2024)</a:t>
            </a:r>
          </a:p>
        </p:txBody>
      </p:sp>
      <p:sp>
        <p:nvSpPr>
          <p:cNvPr id="14" name="Rectangle 13">
            <a:extLst>
              <a:ext uri="{FF2B5EF4-FFF2-40B4-BE49-F238E27FC236}">
                <a16:creationId xmlns:a16="http://schemas.microsoft.com/office/drawing/2014/main" id="{FF54BD34-FF57-7973-AA07-77F61D49E029}"/>
              </a:ext>
            </a:extLst>
          </p:cNvPr>
          <p:cNvSpPr/>
          <p:nvPr/>
        </p:nvSpPr>
        <p:spPr>
          <a:xfrm>
            <a:off x="8471338" y="3429000"/>
            <a:ext cx="1953172" cy="4388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CA9E1BA-3D62-6516-539B-90388BA4A31E}"/>
              </a:ext>
            </a:extLst>
          </p:cNvPr>
          <p:cNvSpPr/>
          <p:nvPr/>
        </p:nvSpPr>
        <p:spPr>
          <a:xfrm>
            <a:off x="7002394" y="3867807"/>
            <a:ext cx="407400" cy="496500"/>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1525383-3964-22AB-231C-A0E57B4EDAA2}"/>
              </a:ext>
            </a:extLst>
          </p:cNvPr>
          <p:cNvSpPr/>
          <p:nvPr/>
        </p:nvSpPr>
        <p:spPr>
          <a:xfrm>
            <a:off x="6873372" y="2622879"/>
            <a:ext cx="3626461" cy="365125"/>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peech Bubble: Rectangle 16">
            <a:extLst>
              <a:ext uri="{FF2B5EF4-FFF2-40B4-BE49-F238E27FC236}">
                <a16:creationId xmlns:a16="http://schemas.microsoft.com/office/drawing/2014/main" id="{4F5CAA80-3F26-2BA2-A4D5-E15AF5C4A70F}"/>
              </a:ext>
            </a:extLst>
          </p:cNvPr>
          <p:cNvSpPr/>
          <p:nvPr/>
        </p:nvSpPr>
        <p:spPr>
          <a:xfrm>
            <a:off x="6873372" y="4810528"/>
            <a:ext cx="3132476" cy="660106"/>
          </a:xfrm>
          <a:prstGeom prst="wedgeRectCallout">
            <a:avLst>
              <a:gd name="adj1" fmla="val -34353"/>
              <a:gd name="adj2" fmla="val -120425"/>
            </a:avLst>
          </a:prstGeom>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r>
              <a:rPr lang="en-US" sz="1050" dirty="0">
                <a:solidFill>
                  <a:schemeClr val="tx1"/>
                </a:solidFill>
              </a:rPr>
              <a:t>In January 2025, the 1st Working Day, would be 6th of January. </a:t>
            </a:r>
            <a:r>
              <a:rPr lang="en-US" sz="1050" b="1" dirty="0">
                <a:solidFill>
                  <a:schemeClr val="tx1"/>
                </a:solidFill>
              </a:rPr>
              <a:t>This is applicable to </a:t>
            </a:r>
            <a:r>
              <a:rPr lang="en-US" sz="1050" b="1" u="sng" dirty="0">
                <a:solidFill>
                  <a:schemeClr val="tx1"/>
                </a:solidFill>
              </a:rPr>
              <a:t>all JTI.</a:t>
            </a:r>
          </a:p>
        </p:txBody>
      </p:sp>
    </p:spTree>
    <p:extLst>
      <p:ext uri="{BB962C8B-B14F-4D97-AF65-F5344CB8AC3E}">
        <p14:creationId xmlns:p14="http://schemas.microsoft.com/office/powerpoint/2010/main" val="1701697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919563C-D49D-436D-BCFC-46B04600887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51C5859D-1A2D-4181-B447-B6682ED0326F}"/>
              </a:ext>
            </a:extLst>
          </p:cNvPr>
          <p:cNvSpPr>
            <a:spLocks noGrp="1"/>
          </p:cNvSpPr>
          <p:nvPr>
            <p:ph type="title"/>
          </p:nvPr>
        </p:nvSpPr>
        <p:spPr/>
        <p:txBody>
          <a:bodyPr/>
          <a:lstStyle/>
          <a:p>
            <a:r>
              <a:rPr lang="en-GB"/>
              <a:t>What Happens During Period End Closing?</a:t>
            </a:r>
          </a:p>
        </p:txBody>
      </p:sp>
      <p:graphicFrame>
        <p:nvGraphicFramePr>
          <p:cNvPr id="6" name="Diagram 5">
            <a:extLst>
              <a:ext uri="{FF2B5EF4-FFF2-40B4-BE49-F238E27FC236}">
                <a16:creationId xmlns:a16="http://schemas.microsoft.com/office/drawing/2014/main" id="{37259F0A-26E4-4293-B015-D97DB1013427}"/>
              </a:ext>
            </a:extLst>
          </p:cNvPr>
          <p:cNvGraphicFramePr/>
          <p:nvPr/>
        </p:nvGraphicFramePr>
        <p:xfrm>
          <a:off x="-106147" y="1343025"/>
          <a:ext cx="12401550" cy="10142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ounded Rectangle 7">
            <a:extLst>
              <a:ext uri="{FF2B5EF4-FFF2-40B4-BE49-F238E27FC236}">
                <a16:creationId xmlns:a16="http://schemas.microsoft.com/office/drawing/2014/main" id="{67F28954-0C35-497B-ACFB-93ED7283EF65}"/>
              </a:ext>
            </a:extLst>
          </p:cNvPr>
          <p:cNvSpPr/>
          <p:nvPr/>
        </p:nvSpPr>
        <p:spPr bwMode="auto">
          <a:xfrm>
            <a:off x="475613" y="2357303"/>
            <a:ext cx="2728178" cy="3940218"/>
          </a:xfrm>
          <a:prstGeom prst="roundRect">
            <a:avLst/>
          </a:prstGeom>
          <a:solidFill>
            <a:schemeClr val="bg1">
              <a:lumMod val="95000"/>
              <a:alpha val="92000"/>
            </a:schemeClr>
          </a:solidFill>
          <a:ln>
            <a:noFill/>
          </a:ln>
          <a:effectLst>
            <a:glow rad="101600">
              <a:schemeClr val="accent1">
                <a:lumMod val="60000"/>
                <a:lumOff val="40000"/>
                <a:alpha val="40000"/>
              </a:schemeClr>
            </a:glow>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a:schemeClr val="dk1"/>
          </a:fontRef>
        </p:style>
        <p:txBody>
          <a:bodyPr vert="horz" wrap="square" lIns="0" tIns="0" rIns="0" bIns="0" numCol="1" rtlCol="0" anchor="t" anchorCtr="0" compatLnSpc="1">
            <a:prstTxWarp prst="textNoShape">
              <a:avLst/>
            </a:prstTxWarp>
          </a:bodyPr>
          <a:lstStyle/>
          <a:p>
            <a:pPr marL="144000" marR="0" lvl="0" indent="-14400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0" lang="en-GB" sz="13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New MM period opened to allow goods movements start to be booked in the new period</a:t>
            </a:r>
          </a:p>
          <a:p>
            <a:pPr marL="144000" marR="0" lvl="0" indent="-14400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0" lang="en-GB" sz="13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Cease of logistic transactions affecting accounting, e.g.</a:t>
            </a:r>
          </a:p>
          <a:p>
            <a:pPr marL="360000" marR="0" lvl="1"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All goods receipts/goods issue/billing for the period  are posted</a:t>
            </a:r>
          </a:p>
          <a:p>
            <a:pPr marL="360000" marR="0" lvl="1"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All logistic invoices for the period are posted</a:t>
            </a:r>
          </a:p>
          <a:p>
            <a:pPr marL="360000" marR="0" lvl="1"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All material movements impacting accounting are posted</a:t>
            </a:r>
          </a:p>
        </p:txBody>
      </p:sp>
      <p:sp>
        <p:nvSpPr>
          <p:cNvPr id="8" name="Rounded Rectangle 8">
            <a:extLst>
              <a:ext uri="{FF2B5EF4-FFF2-40B4-BE49-F238E27FC236}">
                <a16:creationId xmlns:a16="http://schemas.microsoft.com/office/drawing/2014/main" id="{81D3AB95-A62E-4B57-BCF4-21A23D77736E}"/>
              </a:ext>
            </a:extLst>
          </p:cNvPr>
          <p:cNvSpPr/>
          <p:nvPr/>
        </p:nvSpPr>
        <p:spPr bwMode="auto">
          <a:xfrm>
            <a:off x="3417708" y="2357303"/>
            <a:ext cx="2728178" cy="3940218"/>
          </a:xfrm>
          <a:prstGeom prst="roundRect">
            <a:avLst/>
          </a:prstGeom>
          <a:solidFill>
            <a:schemeClr val="bg1">
              <a:lumMod val="95000"/>
              <a:alpha val="92000"/>
            </a:schemeClr>
          </a:solidFill>
          <a:ln>
            <a:noFill/>
          </a:ln>
          <a:effectLst>
            <a:glow rad="101600">
              <a:schemeClr val="accent1">
                <a:lumMod val="60000"/>
                <a:lumOff val="40000"/>
                <a:alpha val="40000"/>
              </a:schemeClr>
            </a:glow>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a:schemeClr val="dk1"/>
          </a:fontRef>
        </p:style>
        <p:txBody>
          <a:bodyPr vert="horz" wrap="square" lIns="0" tIns="0" rIns="0" bIns="0" numCol="1" rtlCol="0" anchor="t" anchorCtr="0" compatLnSpc="1">
            <a:prstTxWarp prst="textNoShape">
              <a:avLst/>
            </a:prstTxWarp>
          </a:bodyPr>
          <a:lstStyle/>
          <a:p>
            <a:pPr marL="144000" marR="0" lvl="0"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3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Sub-Ledgers in FI are closed</a:t>
            </a:r>
            <a:endParaRPr kumimoji="0" lang="en-GB" sz="1300" b="0" i="1" u="none" strike="noStrike" kern="1200" cap="none" spc="0" normalizeH="0" baseline="30000" noProof="0">
              <a:ln w="0"/>
              <a:solidFill>
                <a:srgbClr val="FF0000"/>
              </a:solidFill>
              <a:effectLst/>
              <a:uLnTx/>
              <a:uFillTx/>
              <a:latin typeface="Calibri" panose="020F0502020204030204" pitchFamily="34" charset="0"/>
              <a:ea typeface="ＭＳ Ｐゴシック" charset="0"/>
              <a:cs typeface="+mn-cs"/>
            </a:endParaRPr>
          </a:p>
          <a:p>
            <a:pPr marL="360000" marR="0" lvl="1"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AR (incl. Interco)</a:t>
            </a:r>
          </a:p>
          <a:p>
            <a:pPr marL="360000" marR="0" lvl="1"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AP (incl. Interco)</a:t>
            </a:r>
          </a:p>
          <a:p>
            <a:pPr marL="360000" marR="0" lvl="1"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Asset Accounting (including EAM WBS settlement)</a:t>
            </a:r>
          </a:p>
          <a:p>
            <a:pPr marL="601200" marR="0" lvl="1"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endParaRPr>
          </a:p>
          <a:p>
            <a:pPr marL="144000" marR="0" lvl="0"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3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Transactions from other sub-accounting processes are posted to General Ledger</a:t>
            </a:r>
          </a:p>
          <a:p>
            <a:pPr marL="360000" marR="0" lvl="1"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Payroll</a:t>
            </a:r>
          </a:p>
          <a:p>
            <a:pPr marL="360000" marR="0" lvl="1"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T&amp;E</a:t>
            </a:r>
          </a:p>
          <a:p>
            <a:pPr marL="360000" marR="0" lvl="1"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Cash/In House Bank</a:t>
            </a:r>
          </a:p>
          <a:p>
            <a:pPr marL="360000" marR="0" lvl="1"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Treasury deals/calculations</a:t>
            </a:r>
          </a:p>
          <a:p>
            <a:pPr marL="360000" marR="0" lvl="1"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Nakisa Lease Accounting</a:t>
            </a:r>
          </a:p>
        </p:txBody>
      </p:sp>
      <p:sp>
        <p:nvSpPr>
          <p:cNvPr id="9" name="Rounded Rectangle 9">
            <a:extLst>
              <a:ext uri="{FF2B5EF4-FFF2-40B4-BE49-F238E27FC236}">
                <a16:creationId xmlns:a16="http://schemas.microsoft.com/office/drawing/2014/main" id="{0012F570-607A-4880-B7E8-7B07163492DC}"/>
              </a:ext>
            </a:extLst>
          </p:cNvPr>
          <p:cNvSpPr/>
          <p:nvPr/>
        </p:nvSpPr>
        <p:spPr bwMode="auto">
          <a:xfrm>
            <a:off x="6359803" y="2357303"/>
            <a:ext cx="2728178" cy="3940218"/>
          </a:xfrm>
          <a:prstGeom prst="roundRect">
            <a:avLst/>
          </a:prstGeom>
          <a:solidFill>
            <a:schemeClr val="bg1">
              <a:lumMod val="95000"/>
              <a:alpha val="92000"/>
            </a:schemeClr>
          </a:solidFill>
          <a:ln>
            <a:noFill/>
          </a:ln>
          <a:effectLst>
            <a:glow rad="101600">
              <a:schemeClr val="accent1">
                <a:lumMod val="60000"/>
                <a:lumOff val="40000"/>
                <a:alpha val="40000"/>
              </a:schemeClr>
            </a:glow>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a:schemeClr val="dk1"/>
          </a:fontRef>
        </p:style>
        <p:txBody>
          <a:bodyPr vert="horz" wrap="square" lIns="0" tIns="0" rIns="0" bIns="0" numCol="1" rtlCol="0" anchor="t" anchorCtr="0" compatLnSpc="1">
            <a:prstTxWarp prst="textNoShape">
              <a:avLst/>
            </a:prstTxWarp>
          </a:bodyPr>
          <a:lstStyle/>
          <a:p>
            <a:pPr marL="143510" marR="0" lvl="0" indent="-14351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300" b="0" i="0" u="none" strike="noStrike" kern="1200" cap="none" spc="0" normalizeH="0" baseline="0" noProof="0">
                <a:ln w="0"/>
                <a:solidFill>
                  <a:srgbClr val="000000"/>
                </a:solidFill>
                <a:effectLst/>
                <a:uLnTx/>
                <a:uFillTx/>
                <a:latin typeface="Calibri"/>
                <a:ea typeface="ＭＳ Ｐゴシック"/>
                <a:cs typeface="Calibri"/>
              </a:rPr>
              <a:t>FI General Ledger Closing</a:t>
            </a:r>
            <a:endParaRPr lang="en-US">
              <a:latin typeface="Calibri"/>
              <a:ea typeface="ＭＳ Ｐゴシック"/>
              <a:cs typeface="Calibri"/>
            </a:endParaRPr>
          </a:p>
          <a:p>
            <a:pPr marL="359410" marR="0" lvl="1" indent="-14351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w="0"/>
                <a:solidFill>
                  <a:srgbClr val="000000"/>
                </a:solidFill>
                <a:effectLst/>
                <a:uLnTx/>
                <a:uFillTx/>
                <a:latin typeface="Calibri"/>
                <a:ea typeface="ＭＳ Ｐゴシック"/>
                <a:cs typeface="Calibri"/>
              </a:rPr>
              <a:t>Accrual and Recurring Entries runs</a:t>
            </a:r>
            <a:endParaRPr lang="en-GB" sz="1100" b="0" i="0" u="none" strike="noStrike" kern="1200" cap="none" spc="0" normalizeH="0" baseline="0" noProof="0">
              <a:ln w="0"/>
              <a:solidFill>
                <a:srgbClr val="000000"/>
              </a:solidFill>
              <a:effectLst/>
              <a:uLnTx/>
              <a:uFillTx/>
              <a:latin typeface="Calibri"/>
              <a:ea typeface="ＭＳ Ｐゴシック"/>
              <a:cs typeface="Calibri"/>
            </a:endParaRPr>
          </a:p>
          <a:p>
            <a:pPr marL="359410" marR="0" lvl="1" indent="-14351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w="0"/>
                <a:solidFill>
                  <a:srgbClr val="000000"/>
                </a:solidFill>
                <a:effectLst/>
                <a:uLnTx/>
                <a:uFillTx/>
                <a:latin typeface="Calibri"/>
                <a:ea typeface="ＭＳ Ｐゴシック"/>
                <a:cs typeface="Calibri"/>
              </a:rPr>
              <a:t>GR/IR closing</a:t>
            </a:r>
            <a:endParaRPr lang="en-GB" sz="1100" b="0" i="0" u="none" strike="noStrike" kern="1200" cap="none" spc="0" normalizeH="0" baseline="0" noProof="0">
              <a:ln w="0"/>
              <a:solidFill>
                <a:srgbClr val="000000"/>
              </a:solidFill>
              <a:effectLst/>
              <a:uLnTx/>
              <a:uFillTx/>
              <a:latin typeface="Calibri"/>
              <a:ea typeface="ＭＳ Ｐゴシック"/>
              <a:cs typeface="Calibri"/>
            </a:endParaRPr>
          </a:p>
          <a:p>
            <a:pPr marL="359410" marR="0" lvl="1" indent="-14351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w="0"/>
                <a:solidFill>
                  <a:srgbClr val="000000"/>
                </a:solidFill>
                <a:effectLst/>
                <a:uLnTx/>
                <a:uFillTx/>
                <a:latin typeface="Calibri"/>
                <a:ea typeface="ＭＳ Ｐゴシック"/>
                <a:cs typeface="Calibri"/>
              </a:rPr>
              <a:t>VAT clearing and </a:t>
            </a:r>
            <a:r>
              <a:rPr lang="en-GB" sz="1100">
                <a:ln w="0"/>
                <a:solidFill>
                  <a:srgbClr val="000000"/>
                </a:solidFill>
                <a:latin typeface="Calibri"/>
                <a:ea typeface="ＭＳ Ｐゴシック"/>
                <a:cs typeface="Calibri"/>
              </a:rPr>
              <a:t>reclassification</a:t>
            </a:r>
            <a:endParaRPr lang="en-GB" sz="11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Calibri"/>
            </a:endParaRPr>
          </a:p>
          <a:p>
            <a:pPr marL="359410" marR="0" lvl="1" indent="-14351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w="0"/>
                <a:solidFill>
                  <a:schemeClr val="tx1"/>
                </a:solidFill>
                <a:effectLst/>
                <a:uLnTx/>
                <a:uFillTx/>
                <a:latin typeface="Calibri"/>
                <a:ea typeface="ＭＳ Ｐゴシック"/>
                <a:cs typeface="Calibri"/>
              </a:rPr>
              <a:t>FX Revaluation (IFRS only)</a:t>
            </a:r>
            <a:endParaRPr lang="en-GB" sz="1100" b="0" i="0" u="none" strike="noStrike" kern="1200" cap="none" spc="0" normalizeH="0" baseline="0" noProof="0">
              <a:ln w="0"/>
              <a:solidFill>
                <a:schemeClr val="tx1"/>
              </a:solidFill>
              <a:effectLst/>
              <a:uLnTx/>
              <a:uFillTx/>
              <a:latin typeface="Calibri"/>
              <a:ea typeface="ＭＳ Ｐゴシック"/>
              <a:cs typeface="Calibri"/>
            </a:endParaRPr>
          </a:p>
          <a:p>
            <a:pPr marL="359410" lvl="1" indent="-143510">
              <a:spcBef>
                <a:spcPct val="20000"/>
              </a:spcBef>
              <a:buFont typeface="Arial" panose="020B0604020202020204" pitchFamily="34" charset="0"/>
              <a:buChar char="•"/>
              <a:defRPr/>
            </a:pPr>
            <a:r>
              <a:rPr kumimoji="0" lang="en-GB" sz="1100" b="0" i="0" u="none" strike="noStrike" kern="1200" cap="none" spc="0" normalizeH="0" baseline="0" noProof="0">
                <a:ln w="0"/>
                <a:solidFill>
                  <a:schemeClr val="tx1"/>
                </a:solidFill>
                <a:effectLst/>
                <a:uLnTx/>
                <a:uFillTx/>
                <a:latin typeface="Calibri"/>
                <a:ea typeface="ＭＳ Ｐゴシック"/>
                <a:cs typeface="Calibri"/>
              </a:rPr>
              <a:t>AP/AR</a:t>
            </a:r>
            <a:r>
              <a:rPr lang="en-GB" sz="1100">
                <a:ln w="0"/>
                <a:solidFill>
                  <a:schemeClr val="tx1"/>
                </a:solidFill>
                <a:latin typeface="Calibri"/>
                <a:ea typeface="ＭＳ Ｐゴシック"/>
                <a:cs typeface="Calibri"/>
              </a:rPr>
              <a:t> Regrouping (IFRS only)</a:t>
            </a:r>
            <a:endParaRPr lang="en-GB" sz="1100" b="0" i="0" u="none" strike="noStrike" kern="1200" cap="none" spc="0" normalizeH="0" baseline="0" noProof="0">
              <a:ln w="0"/>
              <a:solidFill>
                <a:schemeClr val="tx1"/>
              </a:solidFill>
              <a:effectLst/>
              <a:uLnTx/>
              <a:uFillTx/>
              <a:latin typeface="Calibri"/>
              <a:ea typeface="ＭＳ Ｐゴシック"/>
              <a:cs typeface="Calibri"/>
            </a:endParaRPr>
          </a:p>
          <a:p>
            <a:pPr marL="359410" lvl="1" indent="-143510">
              <a:spcBef>
                <a:spcPct val="20000"/>
              </a:spcBef>
              <a:buFont typeface="Arial" panose="020B0604020202020204" pitchFamily="34" charset="0"/>
              <a:buChar char="•"/>
              <a:defRPr/>
            </a:pPr>
            <a:r>
              <a:rPr lang="en-GB" sz="1100">
                <a:ln w="0"/>
                <a:solidFill>
                  <a:srgbClr val="000000"/>
                </a:solidFill>
                <a:latin typeface="Calibri"/>
                <a:ea typeface="ＭＳ Ｐゴシック"/>
                <a:cs typeface="Calibri"/>
              </a:rPr>
              <a:t>Translation </a:t>
            </a:r>
            <a:r>
              <a:rPr kumimoji="0" lang="en-GB" sz="1100" b="0" i="0" u="none" strike="noStrike" kern="1200" cap="none" spc="0" normalizeH="0" baseline="0" noProof="0">
                <a:ln w="0"/>
                <a:solidFill>
                  <a:srgbClr val="000000"/>
                </a:solidFill>
                <a:effectLst/>
                <a:uLnTx/>
                <a:uFillTx/>
                <a:latin typeface="Calibri"/>
                <a:ea typeface="ＭＳ Ｐゴシック"/>
                <a:cs typeface="Calibri"/>
              </a:rPr>
              <a:t>(CTA</a:t>
            </a:r>
            <a:r>
              <a:rPr lang="en-GB" sz="1100">
                <a:ln w="0"/>
                <a:solidFill>
                  <a:srgbClr val="000000"/>
                </a:solidFill>
                <a:latin typeface="Calibri"/>
                <a:ea typeface="ＭＳ Ｐゴシック"/>
                <a:cs typeface="Calibri"/>
              </a:rPr>
              <a:t>) (IFRS only)</a:t>
            </a:r>
            <a:endParaRPr lang="en-GB" sz="1100" b="0" i="0" u="none" strike="noStrike" kern="1200" cap="none" spc="0" normalizeH="0" baseline="0" noProof="0">
              <a:ln w="0"/>
              <a:solidFill>
                <a:srgbClr val="000000"/>
              </a:solidFill>
              <a:effectLst/>
              <a:uLnTx/>
              <a:uFillTx/>
              <a:latin typeface="Calibri"/>
              <a:ea typeface="ＭＳ Ｐゴシック"/>
              <a:cs typeface="Calibri"/>
            </a:endParaRPr>
          </a:p>
          <a:p>
            <a:pPr marL="143510" marR="0" lvl="0" indent="-14351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300" b="0" i="0" u="none" strike="noStrike" kern="1200" cap="none" spc="0" normalizeH="0" baseline="0" noProof="0">
                <a:ln w="0"/>
                <a:solidFill>
                  <a:srgbClr val="000000"/>
                </a:solidFill>
                <a:effectLst/>
                <a:uLnTx/>
                <a:uFillTx/>
                <a:latin typeface="Calibri"/>
                <a:ea typeface="ＭＳ Ｐゴシック"/>
                <a:cs typeface="Calibri"/>
              </a:rPr>
              <a:t>CO Cost Management Closing</a:t>
            </a:r>
            <a:endParaRPr lang="en-GB" sz="1300" b="0" i="0" u="none" strike="noStrike" kern="1200" cap="none" spc="0" normalizeH="0" baseline="0" noProof="0">
              <a:ln w="0"/>
              <a:solidFill>
                <a:srgbClr val="000000"/>
              </a:solidFill>
              <a:effectLst/>
              <a:uLnTx/>
              <a:uFillTx/>
              <a:latin typeface="Calibri"/>
              <a:ea typeface="ＭＳ Ｐゴシック"/>
              <a:cs typeface="Calibri"/>
            </a:endParaRPr>
          </a:p>
          <a:p>
            <a:pPr marL="359410" marR="0" lvl="1" indent="-14351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w="0"/>
                <a:solidFill>
                  <a:srgbClr val="000000"/>
                </a:solidFill>
                <a:effectLst/>
                <a:uLnTx/>
                <a:uFillTx/>
                <a:latin typeface="Calibri"/>
                <a:ea typeface="ＭＳ Ｐゴシック"/>
                <a:cs typeface="Calibri"/>
              </a:rPr>
              <a:t>Cost Center postings finalized</a:t>
            </a:r>
            <a:endParaRPr lang="en-GB" sz="1100" b="0" i="0" u="none" strike="noStrike" kern="1200" cap="none" spc="0" normalizeH="0" baseline="0" noProof="0">
              <a:ln w="0"/>
              <a:solidFill>
                <a:srgbClr val="000000"/>
              </a:solidFill>
              <a:effectLst/>
              <a:uLnTx/>
              <a:uFillTx/>
              <a:latin typeface="Calibri"/>
              <a:ea typeface="ＭＳ Ｐゴシック"/>
              <a:cs typeface="Calibri"/>
            </a:endParaRPr>
          </a:p>
          <a:p>
            <a:pPr marL="359410" marR="0" lvl="1" indent="-14351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w="0"/>
                <a:solidFill>
                  <a:srgbClr val="000000"/>
                </a:solidFill>
                <a:effectLst/>
                <a:uLnTx/>
                <a:uFillTx/>
                <a:latin typeface="Calibri"/>
                <a:ea typeface="ＭＳ Ｐゴシック"/>
                <a:cs typeface="Calibri"/>
              </a:rPr>
              <a:t>Leaf Internal Order closing</a:t>
            </a:r>
            <a:endParaRPr lang="en-GB" sz="1100" b="0" i="0" u="none" strike="noStrike" kern="1200" cap="none" spc="0" normalizeH="0" baseline="0" noProof="0">
              <a:ln w="0"/>
              <a:solidFill>
                <a:srgbClr val="000000"/>
              </a:solidFill>
              <a:effectLst/>
              <a:uLnTx/>
              <a:uFillTx/>
              <a:latin typeface="Calibri"/>
              <a:ea typeface="ＭＳ Ｐゴシック"/>
              <a:cs typeface="Calibri"/>
            </a:endParaRPr>
          </a:p>
          <a:p>
            <a:pPr marL="359410" marR="0" lvl="1" indent="-14351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w="0"/>
                <a:solidFill>
                  <a:srgbClr val="000000"/>
                </a:solidFill>
                <a:effectLst/>
                <a:uLnTx/>
                <a:uFillTx/>
                <a:latin typeface="Calibri"/>
                <a:ea typeface="ＭＳ Ｐゴシック"/>
                <a:cs typeface="Calibri"/>
              </a:rPr>
              <a:t>WBS settlement (Opex, Above Brand Contribution) and Multi-brand WBS allocation</a:t>
            </a:r>
            <a:endParaRPr lang="en-GB" sz="1100" b="0" i="0" u="none" strike="noStrike" kern="1200" cap="none" spc="0" normalizeH="0" baseline="0" noProof="0">
              <a:ln w="0"/>
              <a:solidFill>
                <a:srgbClr val="000000"/>
              </a:solidFill>
              <a:effectLst/>
              <a:uLnTx/>
              <a:uFillTx/>
              <a:latin typeface="Calibri"/>
              <a:ea typeface="ＭＳ Ｐゴシック"/>
              <a:cs typeface="Calibri"/>
            </a:endParaRPr>
          </a:p>
          <a:p>
            <a:pPr marL="143510" lvl="0" indent="-143510">
              <a:spcBef>
                <a:spcPct val="20000"/>
              </a:spcBef>
              <a:buFont typeface="Arial" panose="020B0604020202020204" pitchFamily="34" charset="0"/>
              <a:buChar char="•"/>
              <a:defRPr/>
            </a:pPr>
            <a:r>
              <a:rPr kumimoji="0" lang="en-GB" sz="1300" b="0" i="0" u="none" strike="noStrike" kern="1200" cap="none" spc="0" normalizeH="0" baseline="0" noProof="0">
                <a:ln w="0"/>
                <a:solidFill>
                  <a:srgbClr val="000000"/>
                </a:solidFill>
                <a:effectLst/>
                <a:uLnTx/>
                <a:uFillTx/>
                <a:latin typeface="Calibri"/>
                <a:ea typeface="ＭＳ Ｐゴシック"/>
                <a:cs typeface="Calibri"/>
              </a:rPr>
              <a:t>Product cost/Material Ledger closing </a:t>
            </a:r>
            <a:r>
              <a:rPr lang="en-GB" sz="1400">
                <a:ln w="0"/>
                <a:solidFill>
                  <a:srgbClr val="000000"/>
                </a:solidFill>
                <a:latin typeface="Calibri"/>
                <a:ea typeface="ＭＳ Ｐゴシック"/>
                <a:cs typeface="Calibri"/>
              </a:rPr>
              <a:t>(IFRS only)</a:t>
            </a:r>
            <a:endParaRPr lang="en-GB" sz="1300" b="0" i="0" u="none" strike="noStrike" kern="1200" cap="none" spc="0" normalizeH="0" baseline="0" noProof="0">
              <a:ln w="0"/>
              <a:solidFill>
                <a:srgbClr val="000000"/>
              </a:solidFill>
              <a:effectLst/>
              <a:uLnTx/>
              <a:uFillTx/>
              <a:latin typeface="Calibri"/>
              <a:ea typeface="ＭＳ Ｐゴシック"/>
              <a:cs typeface="Calibri"/>
            </a:endParaRPr>
          </a:p>
          <a:p>
            <a:pPr marL="143510" indent="-143510">
              <a:spcBef>
                <a:spcPct val="20000"/>
              </a:spcBef>
              <a:buFont typeface="Arial" panose="020B0604020202020204" pitchFamily="34" charset="0"/>
              <a:buChar char="•"/>
              <a:defRPr/>
            </a:pPr>
            <a:r>
              <a:rPr kumimoji="0" lang="en-GB" sz="1300" b="0" i="0" u="none" strike="noStrike" kern="1200" cap="none" spc="0" normalizeH="0" baseline="0" noProof="0">
                <a:ln w="0"/>
                <a:solidFill>
                  <a:srgbClr val="000000"/>
                </a:solidFill>
                <a:effectLst/>
                <a:uLnTx/>
                <a:uFillTx/>
                <a:latin typeface="Calibri"/>
                <a:ea typeface="ＭＳ Ｐゴシック"/>
                <a:cs typeface="Calibri"/>
              </a:rPr>
              <a:t>Consolidation</a:t>
            </a:r>
            <a:r>
              <a:rPr lang="en-GB" sz="1300">
                <a:ln w="0"/>
                <a:solidFill>
                  <a:srgbClr val="000000"/>
                </a:solidFill>
                <a:latin typeface="Calibri"/>
                <a:ea typeface="ＭＳ Ｐゴシック"/>
                <a:cs typeface="Calibri"/>
              </a:rPr>
              <a:t> </a:t>
            </a:r>
            <a:endParaRPr lang="en-GB" sz="13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Calibri"/>
            </a:endParaRPr>
          </a:p>
          <a:p>
            <a:pPr marL="359410" marR="0" lvl="1" indent="-1435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w="0"/>
                <a:solidFill>
                  <a:srgbClr val="000000"/>
                </a:solidFill>
                <a:effectLst/>
                <a:uLnTx/>
                <a:uFillTx/>
                <a:latin typeface="Calibri"/>
                <a:ea typeface="ＭＳ Ｐゴシック"/>
                <a:cs typeface="Calibri"/>
              </a:rPr>
              <a:t>Consolidation checks completed</a:t>
            </a:r>
            <a:endParaRPr lang="en-GB" sz="1100" b="0" i="0" u="none" strike="noStrike" kern="1200" cap="none" spc="0" normalizeH="0" baseline="0" noProof="0">
              <a:ln w="0"/>
              <a:solidFill>
                <a:srgbClr val="000000"/>
              </a:solidFill>
              <a:effectLst/>
              <a:uLnTx/>
              <a:uFillTx/>
              <a:latin typeface="Calibri"/>
              <a:ea typeface="ＭＳ Ｐゴシック"/>
              <a:cs typeface="Calibri"/>
            </a:endParaRPr>
          </a:p>
          <a:p>
            <a:pPr marL="359410" marR="0" lvl="1" indent="-14351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w="0"/>
                <a:solidFill>
                  <a:srgbClr val="000000"/>
                </a:solidFill>
                <a:effectLst/>
                <a:uLnTx/>
                <a:uFillTx/>
                <a:latin typeface="Calibri"/>
                <a:ea typeface="ＭＳ Ｐゴシック"/>
                <a:cs typeface="Calibri"/>
              </a:rPr>
              <a:t>IFRS Financial Statements preparation</a:t>
            </a:r>
            <a:endParaRPr lang="en-GB" sz="1100" b="0" i="0" u="none" strike="noStrike" kern="1200" cap="none" spc="0" normalizeH="0" baseline="0" noProof="0">
              <a:ln w="0"/>
              <a:solidFill>
                <a:srgbClr val="000000"/>
              </a:solidFill>
              <a:effectLst/>
              <a:uLnTx/>
              <a:uFillTx/>
              <a:latin typeface="Calibri"/>
              <a:ea typeface="ＭＳ Ｐゴシック"/>
              <a:cs typeface="Calibri"/>
            </a:endParaRPr>
          </a:p>
          <a:p>
            <a:pPr marL="359410" marR="0" lvl="1" indent="-14351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lang="en-GB" sz="12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Calibri" panose="020F0502020204030204" pitchFamily="34" charset="0"/>
            </a:endParaRPr>
          </a:p>
        </p:txBody>
      </p:sp>
      <p:sp>
        <p:nvSpPr>
          <p:cNvPr id="10" name="Rounded Rectangle 10">
            <a:extLst>
              <a:ext uri="{FF2B5EF4-FFF2-40B4-BE49-F238E27FC236}">
                <a16:creationId xmlns:a16="http://schemas.microsoft.com/office/drawing/2014/main" id="{77B356CA-E634-4E7D-B470-C9DB40B80293}"/>
              </a:ext>
            </a:extLst>
          </p:cNvPr>
          <p:cNvSpPr/>
          <p:nvPr/>
        </p:nvSpPr>
        <p:spPr bwMode="auto">
          <a:xfrm>
            <a:off x="9301897" y="2357303"/>
            <a:ext cx="2728178" cy="3940218"/>
          </a:xfrm>
          <a:prstGeom prst="roundRect">
            <a:avLst/>
          </a:prstGeom>
          <a:solidFill>
            <a:schemeClr val="bg1">
              <a:lumMod val="95000"/>
              <a:alpha val="92000"/>
            </a:schemeClr>
          </a:solidFill>
          <a:ln>
            <a:noFill/>
          </a:ln>
          <a:effectLst>
            <a:glow rad="101600">
              <a:schemeClr val="accent1">
                <a:lumMod val="60000"/>
                <a:lumOff val="40000"/>
                <a:alpha val="40000"/>
              </a:schemeClr>
            </a:glow>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a:schemeClr val="dk1"/>
          </a:fontRef>
        </p:style>
        <p:txBody>
          <a:bodyPr vert="horz" wrap="square" lIns="0" tIns="0" rIns="0" bIns="0" numCol="1" rtlCol="0" anchor="t" anchorCtr="0" compatLnSpc="1">
            <a:prstTxWarp prst="textNoShape">
              <a:avLst/>
            </a:prstTxWarp>
          </a:bodyPr>
          <a:lstStyle/>
          <a:p>
            <a:pPr marL="144000" marR="0" lvl="0"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3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Statutory/Tax Ledger Month end postings</a:t>
            </a:r>
          </a:p>
          <a:p>
            <a:pPr marL="360000" marR="0" lvl="1"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Functional Area adjustments</a:t>
            </a:r>
          </a:p>
          <a:p>
            <a:pPr marL="360000" lvl="1" indent="-144000">
              <a:spcBef>
                <a:spcPct val="20000"/>
              </a:spcBef>
              <a:buFont typeface="Arial" panose="020B0604020202020204" pitchFamily="34" charset="0"/>
              <a:buChar char="•"/>
              <a:defRPr/>
            </a:pPr>
            <a:r>
              <a:rPr lang="en-GB" sz="1100">
                <a:ln w="0"/>
                <a:solidFill>
                  <a:schemeClr val="tx1"/>
                </a:solidFill>
                <a:latin typeface="Calibri" panose="020F0502020204030204" pitchFamily="34" charset="0"/>
                <a:ea typeface="ＭＳ Ｐゴシック" charset="0"/>
              </a:rPr>
              <a:t>FX</a:t>
            </a:r>
            <a:r>
              <a:rPr kumimoji="0" lang="en-GB" sz="1100" b="0" i="0" u="none" strike="noStrike" kern="1200" cap="none" spc="0" normalizeH="0" baseline="0" noProof="0">
                <a:ln w="0"/>
                <a:solidFill>
                  <a:schemeClr val="tx1"/>
                </a:solidFill>
                <a:effectLst/>
                <a:uLnTx/>
                <a:uFillTx/>
                <a:latin typeface="Calibri" panose="020F0502020204030204" pitchFamily="34" charset="0"/>
                <a:ea typeface="ＭＳ Ｐゴシック" charset="0"/>
                <a:cs typeface="+mn-cs"/>
              </a:rPr>
              <a:t> Revaluation</a:t>
            </a:r>
          </a:p>
          <a:p>
            <a:pPr marL="360000" marR="0" lvl="1"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w="0"/>
                <a:solidFill>
                  <a:schemeClr val="tx1"/>
                </a:solidFill>
                <a:effectLst/>
                <a:uLnTx/>
                <a:uFillTx/>
                <a:latin typeface="Calibri" panose="020F0502020204030204" pitchFamily="34" charset="0"/>
                <a:ea typeface="ＭＳ Ｐゴシック" charset="0"/>
                <a:cs typeface="+mn-cs"/>
              </a:rPr>
              <a:t>AP/AR Regrouping</a:t>
            </a:r>
          </a:p>
          <a:p>
            <a:pPr marL="360000" lvl="1" indent="-144000">
              <a:spcBef>
                <a:spcPct val="20000"/>
              </a:spcBef>
              <a:buFont typeface="Arial" panose="020B0604020202020204" pitchFamily="34" charset="0"/>
              <a:buChar char="•"/>
              <a:defRPr/>
            </a:pPr>
            <a:r>
              <a:rPr lang="en-GB" sz="1100">
                <a:ln w="0"/>
                <a:solidFill>
                  <a:schemeClr val="tx1"/>
                </a:solidFill>
                <a:latin typeface="Calibri" panose="020F0502020204030204" pitchFamily="34" charset="0"/>
                <a:ea typeface="ＭＳ Ｐゴシック" charset="0"/>
              </a:rPr>
              <a:t>FX </a:t>
            </a:r>
            <a:r>
              <a:rPr kumimoji="0" lang="en-GB" sz="1100" b="0" i="0" u="none" strike="noStrike" kern="1200" cap="none" spc="0" normalizeH="0" baseline="0" noProof="0">
                <a:ln w="0"/>
                <a:solidFill>
                  <a:schemeClr val="tx1"/>
                </a:solidFill>
                <a:effectLst/>
                <a:uLnTx/>
                <a:uFillTx/>
                <a:latin typeface="Calibri" panose="020F0502020204030204" pitchFamily="34" charset="0"/>
                <a:ea typeface="ＭＳ Ｐゴシック" charset="0"/>
                <a:cs typeface="+mn-cs"/>
              </a:rPr>
              <a:t>Translation (CTA)</a:t>
            </a:r>
          </a:p>
          <a:p>
            <a:pPr marL="144000" marR="0" lvl="0"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3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Product cost/Material Ledger closing</a:t>
            </a:r>
          </a:p>
          <a:p>
            <a:pPr marL="144000" marR="0" lvl="0"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3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Tax Perms Tagging Cockpit</a:t>
            </a:r>
          </a:p>
          <a:p>
            <a:pPr marL="144000" marR="0" lvl="0"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3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Year end only</a:t>
            </a:r>
          </a:p>
          <a:p>
            <a:pPr marL="360000" marR="0" lvl="1"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Country by Country (</a:t>
            </a:r>
            <a:r>
              <a:rPr kumimoji="0" lang="en-GB" sz="1100" b="0" i="0" u="none" strike="noStrike" kern="1200" cap="none" spc="0" normalizeH="0" baseline="0" noProof="0" err="1">
                <a:ln w="0"/>
                <a:solidFill>
                  <a:srgbClr val="000000"/>
                </a:solidFill>
                <a:effectLst/>
                <a:uLnTx/>
                <a:uFillTx/>
                <a:latin typeface="Calibri" panose="020F0502020204030204" pitchFamily="34" charset="0"/>
                <a:ea typeface="ＭＳ Ｐゴシック" charset="0"/>
                <a:cs typeface="+mn-cs"/>
              </a:rPr>
              <a:t>CbC</a:t>
            </a:r>
            <a:r>
              <a:rPr kumimoji="0" lang="en-GB" sz="11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 Reporting</a:t>
            </a:r>
          </a:p>
          <a:p>
            <a:pPr marL="360000" marR="0" lvl="1"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rPr>
              <a:t>Taxable Income Report</a:t>
            </a:r>
          </a:p>
          <a:p>
            <a:pPr marL="360000" lvl="1" indent="-144000">
              <a:spcBef>
                <a:spcPct val="20000"/>
              </a:spcBef>
              <a:buFont typeface="Arial" panose="020B0604020202020204" pitchFamily="34" charset="0"/>
              <a:buChar char="•"/>
              <a:defRPr/>
            </a:pPr>
            <a:r>
              <a:rPr lang="en-GB" sz="1100">
                <a:ln w="0"/>
                <a:solidFill>
                  <a:schemeClr val="tx1"/>
                </a:solidFill>
                <a:latin typeface="Calibri" panose="020F0502020204030204" pitchFamily="34" charset="0"/>
                <a:ea typeface="ＭＳ Ｐゴシック" charset="0"/>
              </a:rPr>
              <a:t>Japanese Controller Foreign Company (JCFC) Reporting (to become largely system based as of fiscal year 2020).</a:t>
            </a:r>
            <a:endParaRPr kumimoji="0" lang="en-GB" sz="1100" b="0" i="0" u="none" strike="noStrike" kern="1200" cap="none" spc="0" normalizeH="0" baseline="0" noProof="0">
              <a:ln w="0"/>
              <a:solidFill>
                <a:schemeClr val="tx1"/>
              </a:solidFill>
              <a:effectLst/>
              <a:uLnTx/>
              <a:uFillTx/>
              <a:latin typeface="Calibri" panose="020F0502020204030204" pitchFamily="34" charset="0"/>
              <a:ea typeface="ＭＳ Ｐゴシック" charset="0"/>
            </a:endParaRPr>
          </a:p>
          <a:p>
            <a:pPr marL="601200" marR="0" lvl="1"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GB" sz="13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endParaRPr>
          </a:p>
          <a:p>
            <a:pPr marL="144000" marR="0" lvl="0" indent="-1440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GB" sz="1300" b="0" i="0" u="none" strike="noStrike" kern="1200" cap="none" spc="0" normalizeH="0" baseline="0" noProof="0">
              <a:ln w="0"/>
              <a:solidFill>
                <a:srgbClr val="000000"/>
              </a:solidFill>
              <a:effectLst/>
              <a:uLnTx/>
              <a:uFillTx/>
              <a:latin typeface="Calibri" panose="020F0502020204030204" pitchFamily="34" charset="0"/>
              <a:ea typeface="ＭＳ Ｐゴシック" charset="0"/>
              <a:cs typeface="+mn-cs"/>
            </a:endParaRPr>
          </a:p>
        </p:txBody>
      </p:sp>
      <p:sp>
        <p:nvSpPr>
          <p:cNvPr id="11" name="TextBox 10">
            <a:extLst>
              <a:ext uri="{FF2B5EF4-FFF2-40B4-BE49-F238E27FC236}">
                <a16:creationId xmlns:a16="http://schemas.microsoft.com/office/drawing/2014/main" id="{57E517B3-D35F-4A40-8D20-1B1F0D5FFCFB}"/>
              </a:ext>
            </a:extLst>
          </p:cNvPr>
          <p:cNvSpPr txBox="1"/>
          <p:nvPr/>
        </p:nvSpPr>
        <p:spPr>
          <a:xfrm>
            <a:off x="372736" y="6480083"/>
            <a:ext cx="3943350" cy="276225"/>
          </a:xfrm>
          <a:prstGeom prst="rect">
            <a:avLst/>
          </a:prstGeom>
          <a:solidFill>
            <a:schemeClr val="bg1"/>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30000" noProof="0">
                <a:ln>
                  <a:noFill/>
                </a:ln>
                <a:solidFill>
                  <a:srgbClr val="FF0000"/>
                </a:solidFill>
                <a:effectLst/>
                <a:uLnTx/>
                <a:uFillTx/>
                <a:latin typeface="Arial" panose="020B0604020202020204"/>
                <a:ea typeface="+mn-ea"/>
                <a:cs typeface="+mn-cs"/>
              </a:rPr>
              <a:t>1) </a:t>
            </a:r>
            <a:r>
              <a:rPr kumimoji="0" lang="en-GB" sz="900" b="0" i="1" u="none" strike="noStrike" kern="1200" cap="none" spc="0" normalizeH="0" baseline="0" noProof="0">
                <a:ln>
                  <a:noFill/>
                </a:ln>
                <a:solidFill>
                  <a:srgbClr val="000000"/>
                </a:solidFill>
                <a:effectLst/>
                <a:uLnTx/>
                <a:uFillTx/>
                <a:latin typeface="Arial" panose="020B0604020202020204"/>
                <a:ea typeface="+mn-ea"/>
                <a:cs typeface="+mn-cs"/>
              </a:rPr>
              <a:t>Closing in these areas are performed for all ledgers at the same time</a:t>
            </a:r>
          </a:p>
        </p:txBody>
      </p:sp>
      <p:sp>
        <p:nvSpPr>
          <p:cNvPr id="12" name="TextBox 11">
            <a:extLst>
              <a:ext uri="{FF2B5EF4-FFF2-40B4-BE49-F238E27FC236}">
                <a16:creationId xmlns:a16="http://schemas.microsoft.com/office/drawing/2014/main" id="{FEB52291-D6DB-47CB-83D0-A0C4FE4E4ABA}"/>
              </a:ext>
            </a:extLst>
          </p:cNvPr>
          <p:cNvSpPr txBox="1"/>
          <p:nvPr/>
        </p:nvSpPr>
        <p:spPr>
          <a:xfrm>
            <a:off x="4910868" y="6497747"/>
            <a:ext cx="5626047" cy="365125"/>
          </a:xfrm>
          <a:prstGeom prst="rect">
            <a:avLst/>
          </a:prstGeom>
          <a:solidFill>
            <a:schemeClr val="bg1"/>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30000" noProof="0">
                <a:ln>
                  <a:noFill/>
                </a:ln>
                <a:solidFill>
                  <a:srgbClr val="FF0000"/>
                </a:solidFill>
                <a:effectLst/>
                <a:uLnTx/>
                <a:uFillTx/>
                <a:latin typeface="Arial" panose="020B0604020202020204"/>
                <a:ea typeface="+mn-ea"/>
                <a:cs typeface="+mn-cs"/>
              </a:rPr>
              <a:t>2) </a:t>
            </a:r>
            <a:r>
              <a:rPr kumimoji="0" lang="en-GB" sz="900" b="0" i="1" u="none" strike="noStrike" kern="1200" cap="none" spc="0" normalizeH="0" baseline="0" noProof="0">
                <a:ln>
                  <a:noFill/>
                </a:ln>
                <a:solidFill>
                  <a:srgbClr val="000000"/>
                </a:solidFill>
                <a:effectLst/>
                <a:uLnTx/>
                <a:uFillTx/>
                <a:latin typeface="Arial" panose="020B0604020202020204"/>
                <a:ea typeface="+mn-ea"/>
                <a:cs typeface="+mn-cs"/>
              </a:rPr>
              <a:t>If no ledger is specified for a given activity in this section, it means that closing is taking place in all ledgers in this activity/step.</a:t>
            </a:r>
          </a:p>
        </p:txBody>
      </p:sp>
    </p:spTree>
    <p:extLst>
      <p:ext uri="{BB962C8B-B14F-4D97-AF65-F5344CB8AC3E}">
        <p14:creationId xmlns:p14="http://schemas.microsoft.com/office/powerpoint/2010/main" val="3964538499"/>
      </p:ext>
    </p:extLst>
  </p:cSld>
  <p:clrMapOvr>
    <a:masterClrMapping/>
  </p:clrMapOvr>
</p:sld>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JTI">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BC77B7-89BE-45D2-B43A-94AB4C5F40F4}">
  <ds:schemaRefs>
    <ds:schemaRef ds:uri="http://schemas.microsoft.com/office/2006/documentManagement/types"/>
    <ds:schemaRef ds:uri="http://schemas.microsoft.com/office/2006/metadata/properties"/>
    <ds:schemaRef ds:uri="http://purl.org/dc/dcmitype/"/>
    <ds:schemaRef ds:uri="http://www.w3.org/XML/1998/namespace"/>
    <ds:schemaRef ds:uri="ba249638-b5c4-4b59-8094-70d8491c2e9c"/>
    <ds:schemaRef ds:uri="http://purl.org/dc/elements/1.1/"/>
    <ds:schemaRef ds:uri="http://schemas.microsoft.com/office/infopath/2007/PartnerControls"/>
    <ds:schemaRef ds:uri="http://schemas.openxmlformats.org/package/2006/metadata/core-properties"/>
    <ds:schemaRef ds:uri="cb52ee0d-5346-4ae8-a9f9-d746adffeb6b"/>
    <ds:schemaRef ds:uri="91871c47-af2e-43ea-ad3f-7bb4c536bc45"/>
    <ds:schemaRef ds:uri="http://purl.org/dc/terms/"/>
  </ds:schemaRefs>
</ds:datastoreItem>
</file>

<file path=customXml/itemProps2.xml><?xml version="1.0" encoding="utf-8"?>
<ds:datastoreItem xmlns:ds="http://schemas.openxmlformats.org/officeDocument/2006/customXml" ds:itemID="{76634897-A708-4AB2-A744-3F54C8B18EC9}"/>
</file>

<file path=customXml/itemProps3.xml><?xml version="1.0" encoding="utf-8"?>
<ds:datastoreItem xmlns:ds="http://schemas.openxmlformats.org/officeDocument/2006/customXml" ds:itemID="{5F43394D-A9A2-4315-AC7E-DD8C77BEB19A}">
  <ds:schemaRefs>
    <ds:schemaRef ds:uri="http://schemas.microsoft.com/sharepoint/v3/contenttype/forms"/>
  </ds:schemaRefs>
</ds:datastoreItem>
</file>

<file path=docMetadata/LabelInfo.xml><?xml version="1.0" encoding="utf-8"?>
<clbl:labelList xmlns:clbl="http://schemas.microsoft.com/office/2020/mipLabelMetadata">
  <clbl:label id="{b020b37f-db72-473e-ae54-fb16df408069}" enabled="1" method="Standard" siteId="{705d07a3-2eea-4f3b-ab59-65ca29abeb26}" removed="0"/>
</clbl:labelList>
</file>

<file path=docProps/app.xml><?xml version="1.0" encoding="utf-8"?>
<Properties xmlns="http://schemas.openxmlformats.org/officeDocument/2006/extended-properties" xmlns:vt="http://schemas.openxmlformats.org/officeDocument/2006/docPropsVTypes">
  <Template>S4F Template</Template>
  <TotalTime>49</TotalTime>
  <Words>1258</Words>
  <Application>Microsoft Office PowerPoint</Application>
  <PresentationFormat>Widescreen</PresentationFormat>
  <Paragraphs>145</Paragraphs>
  <Slides>10</Slides>
  <Notes>1</Notes>
  <HiddenSlides>0</HiddenSlides>
  <MMClips>0</MMClips>
  <ScaleCrop>false</ScaleCrop>
  <HeadingPairs>
    <vt:vector size="4" baseType="variant">
      <vt:variant>
        <vt:lpstr>Theme</vt:lpstr>
      </vt:variant>
      <vt:variant>
        <vt:i4>4</vt:i4>
      </vt:variant>
      <vt:variant>
        <vt:lpstr>Slide Titles</vt:lpstr>
      </vt:variant>
      <vt:variant>
        <vt:i4>10</vt:i4>
      </vt:variant>
    </vt:vector>
  </HeadingPairs>
  <TitlesOfParts>
    <vt:vector size="14" baseType="lpstr">
      <vt:lpstr>1_S4F-ERP Clean IFRS Stat &amp; Tax Rep</vt:lpstr>
      <vt:lpstr>JTI</vt:lpstr>
      <vt:lpstr>S4F-ERP Period End Closing</vt:lpstr>
      <vt:lpstr>1_S4F-ERP Period End Closing</vt:lpstr>
      <vt:lpstr>PowerPoint Presentation</vt:lpstr>
      <vt:lpstr>PERIOD END CLOSING EXECUTION (BSC)</vt:lpstr>
      <vt:lpstr>Period End Closing Execution (BSC) </vt:lpstr>
      <vt:lpstr>Period End Closing Execution (BSC) - About this course</vt:lpstr>
      <vt:lpstr>Period End Closing Execution (BSC) </vt:lpstr>
      <vt:lpstr>Period End Closing Execution (BSC) </vt:lpstr>
      <vt:lpstr>PowerPoint Presentation</vt:lpstr>
      <vt:lpstr>Key Period End Closing Timelines</vt:lpstr>
      <vt:lpstr>Holiday Calendar- Exception Japan &amp; Geneva Hybrid Calendar </vt:lpstr>
      <vt:lpstr>What Happens During Period End Closing?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4</cp:revision>
  <dcterms:created xsi:type="dcterms:W3CDTF">2019-04-11T09:35:08Z</dcterms:created>
  <dcterms:modified xsi:type="dcterms:W3CDTF">2024-12-11T09:35:53Z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1336700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