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1" r:id="rId5"/>
  </p:sldMasterIdLst>
  <p:notesMasterIdLst>
    <p:notesMasterId r:id="rId29"/>
  </p:notesMasterIdLst>
  <p:sldIdLst>
    <p:sldId id="2413" r:id="rId6"/>
    <p:sldId id="2336" r:id="rId7"/>
    <p:sldId id="3005" r:id="rId8"/>
    <p:sldId id="2510" r:id="rId9"/>
    <p:sldId id="2512" r:id="rId10"/>
    <p:sldId id="2318" r:id="rId11"/>
    <p:sldId id="2319" r:id="rId12"/>
    <p:sldId id="2320" r:id="rId13"/>
    <p:sldId id="2321" r:id="rId14"/>
    <p:sldId id="2323" r:id="rId15"/>
    <p:sldId id="3017" r:id="rId16"/>
    <p:sldId id="3018" r:id="rId17"/>
    <p:sldId id="2999" r:id="rId18"/>
    <p:sldId id="2326" r:id="rId19"/>
    <p:sldId id="2327" r:id="rId20"/>
    <p:sldId id="2329" r:id="rId21"/>
    <p:sldId id="2996" r:id="rId22"/>
    <p:sldId id="3015" r:id="rId23"/>
    <p:sldId id="3016" r:id="rId24"/>
    <p:sldId id="2997" r:id="rId25"/>
    <p:sldId id="2998" r:id="rId26"/>
    <p:sldId id="2330" r:id="rId27"/>
    <p:sldId id="16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B3C889-D0D5-430F-BDCB-E34FE37EB3E3}" v="2" dt="2019-10-16T09:06:56.4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7EB3C889-D0D5-430F-BDCB-E34FE37EB3E3}"/>
    <pc:docChg chg="addSld delSld modSld">
      <pc:chgData name="O'Neill, Shauna" userId="1d0a8ccc-c260-429c-86e4-d406a5ac1d3d" providerId="ADAL" clId="{7EB3C889-D0D5-430F-BDCB-E34FE37EB3E3}" dt="2019-10-16T09:06:59.980" v="3" actId="2696"/>
      <pc:docMkLst>
        <pc:docMk/>
      </pc:docMkLst>
      <pc:sldChg chg="del">
        <pc:chgData name="O'Neill, Shauna" userId="1d0a8ccc-c260-429c-86e4-d406a5ac1d3d" providerId="ADAL" clId="{7EB3C889-D0D5-430F-BDCB-E34FE37EB3E3}" dt="2019-10-16T09:05:58.018" v="1" actId="2696"/>
        <pc:sldMkLst>
          <pc:docMk/>
          <pc:sldMk cId="891092066" sldId="2324"/>
        </pc:sldMkLst>
      </pc:sldChg>
      <pc:sldChg chg="del">
        <pc:chgData name="O'Neill, Shauna" userId="1d0a8ccc-c260-429c-86e4-d406a5ac1d3d" providerId="ADAL" clId="{7EB3C889-D0D5-430F-BDCB-E34FE37EB3E3}" dt="2019-10-16T09:06:59.980" v="3" actId="2696"/>
        <pc:sldMkLst>
          <pc:docMk/>
          <pc:sldMk cId="2937928985" sldId="2325"/>
        </pc:sldMkLst>
      </pc:sldChg>
      <pc:sldChg chg="add">
        <pc:chgData name="O'Neill, Shauna" userId="1d0a8ccc-c260-429c-86e4-d406a5ac1d3d" providerId="ADAL" clId="{7EB3C889-D0D5-430F-BDCB-E34FE37EB3E3}" dt="2019-10-16T09:05:52.639" v="0"/>
        <pc:sldMkLst>
          <pc:docMk/>
          <pc:sldMk cId="683704628" sldId="3017"/>
        </pc:sldMkLst>
      </pc:sldChg>
      <pc:sldChg chg="add">
        <pc:chgData name="O'Neill, Shauna" userId="1d0a8ccc-c260-429c-86e4-d406a5ac1d3d" providerId="ADAL" clId="{7EB3C889-D0D5-430F-BDCB-E34FE37EB3E3}" dt="2019-10-16T09:06:56.435" v="2"/>
        <pc:sldMkLst>
          <pc:docMk/>
          <pc:sldMk cId="462061611" sldId="3018"/>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67D5FD-501A-407C-808C-A76FF5A13159}" type="datetimeFigureOut">
              <a:rPr lang="en-US" smtClean="0"/>
              <a:t>10/14/2019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DA1569-19F3-4BBB-A4E5-C73303F1AD80}" type="slidenum">
              <a:rPr lang="en-US" smtClean="0"/>
              <a:t>‹#›</a:t>
            </a:fld>
            <a:endParaRPr lang="en-US"/>
          </a:p>
        </p:txBody>
      </p:sp>
    </p:spTree>
    <p:extLst>
      <p:ext uri="{BB962C8B-B14F-4D97-AF65-F5344CB8AC3E}">
        <p14:creationId xmlns:p14="http://schemas.microsoft.com/office/powerpoint/2010/main" val="2438472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8632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9687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133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0298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2198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a:t>Most WD closings are in line with current ECC Closing cockpit</a:t>
            </a:r>
          </a:p>
          <a:p>
            <a:endParaRPr lang="de-CH"/>
          </a:p>
          <a:p>
            <a:r>
              <a:rPr lang="de-CH"/>
              <a:t>WBS Multibrand WD2</a:t>
            </a:r>
          </a:p>
          <a:p>
            <a:endParaRPr lang="de-CH"/>
          </a:p>
          <a:p>
            <a:r>
              <a:rPr lang="de-CH"/>
              <a:t>To draw attention on new ML Close (1 general close) for markets that have actual variances (Excise, Import duties)</a:t>
            </a:r>
          </a:p>
          <a:p>
            <a:r>
              <a:rPr lang="de-CH"/>
              <a:t>Impact on markets for Multibrand Allocations is being assessed. </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643577-C506-4BE5-A57A-7ED7BC48E30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1294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0.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4.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5.jpg"/><Relationship Id="rId1" Type="http://schemas.openxmlformats.org/officeDocument/2006/relationships/slideMaster" Target="../slideMasters/slideMaster2.xml"/><Relationship Id="rId4" Type="http://schemas.openxmlformats.org/officeDocument/2006/relationships/image" Target="../media/image1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460108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088074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14911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007938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350667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604449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126154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a:t>
            </a:r>
            <a:r>
              <a:rPr kumimoji="0" lang="en-GB" sz="800" b="0" i="0" u="none" strike="noStrike" kern="1200" cap="none" spc="0" normalizeH="0" baseline="0" noProof="0" err="1">
                <a:ln>
                  <a:noFill/>
                </a:ln>
                <a:solidFill>
                  <a:srgbClr val="FFFFFF"/>
                </a:solidFill>
                <a:effectLst/>
                <a:uLnTx/>
                <a:uFillTx/>
                <a:latin typeface="Arial" panose="020B0604020202020204"/>
                <a:ea typeface="+mn-ea"/>
                <a:cs typeface="+mn-cs"/>
              </a:rPr>
              <a:t>JTI</a:t>
            </a: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spTree>
    <p:extLst>
      <p:ext uri="{BB962C8B-B14F-4D97-AF65-F5344CB8AC3E}">
        <p14:creationId xmlns:p14="http://schemas.microsoft.com/office/powerpoint/2010/main" val="3072747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50827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BBF04DD-055F-4DF8-8046-823C8DE061DF}"/>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5" imgW="415" imgH="416" progId="TCLayout.ActiveDocument.1">
                  <p:embed/>
                </p:oleObj>
              </mc:Choice>
              <mc:Fallback>
                <p:oleObj name="think-cell Slide" r:id="rId5" imgW="415" imgH="416" progId="TCLayout.ActiveDocument.1">
                  <p:embed/>
                  <p:pic>
                    <p:nvPicPr>
                      <p:cNvPr id="3" name="Object 2" hidden="1">
                        <a:extLst>
                          <a:ext uri="{FF2B5EF4-FFF2-40B4-BE49-F238E27FC236}">
                            <a16:creationId xmlns:a16="http://schemas.microsoft.com/office/drawing/2014/main" id="{1BBF04DD-055F-4DF8-8046-823C8DE061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1270673-9415-401F-89B5-DB068CE9828E}"/>
              </a:ext>
            </a:extLst>
          </p:cNvPr>
          <p:cNvSpPr/>
          <p:nvPr userDrawn="1">
            <p:custDataLst>
              <p:tags r:id="rId3"/>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199" b="1" i="0" baseline="0">
              <a:latin typeface="Arial" panose="020B0604020202020204" pitchFamily="34" charset="0"/>
              <a:ea typeface="+mj-ea"/>
              <a:cs typeface="+mj-cs"/>
              <a:sym typeface="Arial" panose="020B0604020202020204" pitchFamily="34" charset="0"/>
            </a:endParaRPr>
          </a:p>
        </p:txBody>
      </p:sp>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 name="Footer Placeholder 3"/>
          <p:cNvSpPr>
            <a:spLocks noGrp="1"/>
          </p:cNvSpPr>
          <p:nvPr>
            <p:ph type="ftr" sz="quarter" idx="11"/>
          </p:nvPr>
        </p:nvSpPr>
        <p:spPr/>
        <p:txBody>
          <a:bodyPr/>
          <a:lstStyle/>
          <a:p>
            <a:r>
              <a:rPr lang="en-US"/>
              <a:t>S4F-ERP FIT 2</a:t>
            </a:r>
          </a:p>
        </p:txBody>
      </p:sp>
      <p:sp>
        <p:nvSpPr>
          <p:cNvPr id="5" name="Slide Number Placeholder 4"/>
          <p:cNvSpPr>
            <a:spLocks noGrp="1"/>
          </p:cNvSpPr>
          <p:nvPr>
            <p:ph type="sldNum" sz="quarter" idx="12"/>
          </p:nvPr>
        </p:nvSpPr>
        <p:spPr>
          <a:xfrm>
            <a:off x="9144000" y="6465095"/>
            <a:ext cx="2743200" cy="365125"/>
          </a:xfrm>
        </p:spPr>
        <p:txBody>
          <a:bodyPr/>
          <a:lstStyle>
            <a:lvl1pPr>
              <a:defRPr sz="800"/>
            </a:lvl1p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US" sz="800"/>
              <a:t>© JTI 2018 Confidential </a:t>
            </a:r>
          </a:p>
        </p:txBody>
      </p:sp>
    </p:spTree>
    <p:extLst>
      <p:ext uri="{BB962C8B-B14F-4D97-AF65-F5344CB8AC3E}">
        <p14:creationId xmlns:p14="http://schemas.microsoft.com/office/powerpoint/2010/main" val="4194978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1890583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extLst>
      <p:ext uri="{BB962C8B-B14F-4D97-AF65-F5344CB8AC3E}">
        <p14:creationId xmlns:p14="http://schemas.microsoft.com/office/powerpoint/2010/main" val="3611684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2478264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124219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2155262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991507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210674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458559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463454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5512493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794924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1386066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7107751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9640427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945402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902660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5316199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705733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6002479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731668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0189365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2552432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618532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54445572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6.emf"/><Relationship Id="rId7" Type="http://schemas.openxmlformats.org/officeDocument/2006/relationships/image" Target="../media/image21.png"/><Relationship Id="rId2" Type="http://schemas.openxmlformats.org/officeDocument/2006/relationships/image" Target="../media/image12.jpg"/><Relationship Id="rId1" Type="http://schemas.openxmlformats.org/officeDocument/2006/relationships/slideLayout" Target="../slideLayouts/slideLayout3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jpg"/><Relationship Id="rId1" Type="http://schemas.openxmlformats.org/officeDocument/2006/relationships/slideLayout" Target="../slideLayouts/slideLayout31.xml"/><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30.png"/><Relationship Id="rId4" Type="http://schemas.microsoft.com/office/2007/relationships/hdphoto" Target="../media/hdphoto1.wdp"/><Relationship Id="rId9" Type="http://schemas.openxmlformats.org/officeDocument/2006/relationships/image" Target="../media/image3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35.sv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hyperlink" Target="https://jticorp.sharepoint.com/:x:/r/sites/BPM/ERPPublic/ChangeManagement/Testers%20Help/8_Masterdata%20References/02_Profitability%20analysis/R2R%20Market%20Allow.%20Summary%20ALL%20MARKETS%20JTIO%20MG%20Con%20Types.xlsx?d=w8b97d5bcb52f401ca8d9c8bf69a64a1c&amp;csf=1&amp;e=63CUJK" TargetMode="External"/><Relationship Id="rId4" Type="http://schemas.openxmlformats.org/officeDocument/2006/relationships/image" Target="../media/image38.sv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hyperlink" Target="https://jticorp.sharepoint.com/:x:/r/sites/BPM/ERPPublic/ChangeManagement/Testers%20Help/8_Masterdata%20References/02_Profitability%20analysis/R2R%20Allow.%20Decision%20Tree.xlsx?d=w35c1808bab014eeaa1257e7fd98ab401&amp;csf=1&amp;e=1gdepf" TargetMode="External"/><Relationship Id="rId4" Type="http://schemas.openxmlformats.org/officeDocument/2006/relationships/image" Target="../media/image40.sv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sv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52.svg"/></Relationships>
</file>

<file path=ppt/slides/_rels/slide1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19" name="Group 18">
            <a:extLst>
              <a:ext uri="{FF2B5EF4-FFF2-40B4-BE49-F238E27FC236}">
                <a16:creationId xmlns:a16="http://schemas.microsoft.com/office/drawing/2014/main" id="{3F49BABF-73A4-41A0-8EC8-DC283FC79D84}"/>
              </a:ext>
            </a:extLst>
          </p:cNvPr>
          <p:cNvGrpSpPr/>
          <p:nvPr/>
        </p:nvGrpSpPr>
        <p:grpSpPr>
          <a:xfrm>
            <a:off x="5034708" y="3214629"/>
            <a:ext cx="6226317" cy="2280803"/>
            <a:chOff x="5902617" y="1745062"/>
            <a:chExt cx="6226317" cy="2280803"/>
          </a:xfrm>
        </p:grpSpPr>
        <p:cxnSp>
          <p:nvCxnSpPr>
            <p:cNvPr id="8" name="Elbow Connector 7"/>
            <p:cNvCxnSpPr>
              <a:cxnSpLocks/>
            </p:cNvCxnSpPr>
            <p:nvPr/>
          </p:nvCxnSpPr>
          <p:spPr>
            <a:xfrm>
              <a:off x="6623879" y="3060320"/>
              <a:ext cx="1648012" cy="76838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6584291" y="2095050"/>
              <a:ext cx="1728470" cy="965270"/>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flipV="1">
              <a:off x="5902617" y="3050084"/>
              <a:ext cx="2369274" cy="13799"/>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37139" y="1745062"/>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Changes to Market P&amp;L</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8426129" y="2773964"/>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Granularity behind P&amp;L Lines</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9" y="349525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Volume Conversion</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935739A8-2A05-4DD0-AB89-944D7F83C188}"/>
              </a:ext>
            </a:extLst>
          </p:cNvPr>
          <p:cNvGrpSpPr/>
          <p:nvPr/>
        </p:nvGrpSpPr>
        <p:grpSpPr>
          <a:xfrm>
            <a:off x="392114" y="2655475"/>
            <a:ext cx="6224121" cy="2700297"/>
            <a:chOff x="4428422" y="2334368"/>
            <a:chExt cx="7806123" cy="3512903"/>
          </a:xfrm>
        </p:grpSpPr>
        <p:cxnSp>
          <p:nvCxnSpPr>
            <p:cNvPr id="54" name="Straight Connector 53">
              <a:extLst>
                <a:ext uri="{FF2B5EF4-FFF2-40B4-BE49-F238E27FC236}">
                  <a16:creationId xmlns:a16="http://schemas.microsoft.com/office/drawing/2014/main" id="{B0B9735E-CBB6-4852-978C-5FEE80B7EEDC}"/>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FAB8857-829C-42AB-8F14-6E7B073C43C4}"/>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D2D6A66B-1FCF-4C06-8542-A4813832A53C}"/>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05E871C4-2DD3-4F7E-9090-2E0782414D9E}"/>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4D50BE51-355D-4AE3-B47F-59088917C41E}"/>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66D7FF94-0F37-42D1-9664-DDFD2D83A658}"/>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E759016F-6244-4E54-8639-438D4B93924B}"/>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E2A1EB47-3739-4DCF-AD4D-F55EFED8D779}"/>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9A5004BE-B052-4338-A3B7-9771A4E6E2E4}"/>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C27F0749-0710-4DC7-9633-9AB58816AE0F}"/>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3E9C6B3D-34B2-486A-A76F-75B2E83D7E0E}"/>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88623ABC-0F61-46BB-813D-DB8FED116C60}"/>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AE4B43AF-23B2-4D54-BCFA-758FEEAD44DE}"/>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CBED9369-B39A-478D-BE63-40A724105E8A}"/>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C513F6B6-E14F-42AF-A758-38A473E60A8C}"/>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C10776ED-A49F-4C77-AC86-BB0670B9607C}"/>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D51AB8FD-7D16-4F30-8094-5556E9C0AD65}"/>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DBEB964-B6E6-4EA8-94D1-E38E888613EF}"/>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1DA1E060-E29B-4B04-B06C-562C643416D1}"/>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334317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17087" y="-1"/>
            <a:ext cx="3343037" cy="6858001"/>
            <a:chOff x="0" y="0"/>
            <a:chExt cx="3343037" cy="6858001"/>
          </a:xfrm>
        </p:grpSpPr>
        <p:pic>
          <p:nvPicPr>
            <p:cNvPr id="23" name="Picture 2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25" name="Rectangle 24"/>
            <p:cNvSpPr/>
            <p:nvPr/>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26" name="Rectangle 25"/>
            <p:cNvSpPr/>
            <p:nvPr/>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Date Placeholder 1"/>
            <p:cNvSpPr txBox="1">
              <a:spLocks/>
            </p:cNvSpPr>
            <p:nvPr/>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pic>
          <p:nvPicPr>
            <p:cNvPr id="28" name="Picture 27">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grpSp>
      <p:sp>
        <p:nvSpPr>
          <p:cNvPr id="2" name="Footer Placeholder 1"/>
          <p:cNvSpPr>
            <a:spLocks noGrp="1"/>
          </p:cNvSpPr>
          <p:nvPr>
            <p:ph type="ftr" sz="quarter" idx="11"/>
          </p:nvPr>
        </p:nvSpPr>
        <p:spPr>
          <a:xfrm>
            <a:off x="7824699" y="6092761"/>
            <a:ext cx="420172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5" name="TextBox 4"/>
          <p:cNvSpPr txBox="1"/>
          <p:nvPr/>
        </p:nvSpPr>
        <p:spPr>
          <a:xfrm>
            <a:off x="38503" y="2439813"/>
            <a:ext cx="3332136" cy="6541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98" b="1" i="0" u="none" strike="noStrike" kern="1200" cap="none" spc="0" normalizeH="0" baseline="0" noProof="0">
                <a:ln>
                  <a:noFill/>
                </a:ln>
                <a:solidFill>
                  <a:srgbClr val="FFFFFF"/>
                </a:solidFill>
                <a:effectLst/>
                <a:uLnTx/>
                <a:uFillTx/>
                <a:latin typeface="Arial" charset="0"/>
                <a:ea typeface="Arial" charset="0"/>
                <a:cs typeface="Arial" charset="0"/>
              </a:rPr>
              <a:t>New Market P&amp;L</a:t>
            </a:r>
          </a:p>
        </p:txBody>
      </p:sp>
      <p:sp>
        <p:nvSpPr>
          <p:cNvPr id="19" name="Title 33"/>
          <p:cNvSpPr txBox="1">
            <a:spLocks/>
          </p:cNvSpPr>
          <p:nvPr/>
        </p:nvSpPr>
        <p:spPr>
          <a:xfrm>
            <a:off x="5181863" y="531410"/>
            <a:ext cx="6756400" cy="1073112"/>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1000"/>
              </a:spcAft>
              <a:buClrTx/>
              <a:buSzTx/>
              <a:buFontTx/>
              <a:buNone/>
              <a:tabLst/>
              <a:defRPr/>
            </a:pPr>
            <a:r>
              <a:rPr kumimoji="0" lang="en-GB" sz="3200" b="1" i="0" u="none" strike="noStrike" kern="1200" cap="none" spc="0" normalizeH="0" baseline="0" noProof="0">
                <a:ln>
                  <a:noFill/>
                </a:ln>
                <a:solidFill>
                  <a:srgbClr val="FFFFFF"/>
                </a:solidFill>
                <a:effectLst/>
                <a:uLnTx/>
                <a:uFillTx/>
                <a:latin typeface="Arial" panose="020B0604020202020204"/>
                <a:ea typeface="+mj-ea"/>
                <a:cs typeface="+mj-cs"/>
              </a:rPr>
              <a:t>COURSE TITLE HERE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a:ln>
                  <a:noFill/>
                </a:ln>
                <a:solidFill>
                  <a:srgbClr val="FFFFFF"/>
                </a:solidFill>
                <a:effectLst/>
                <a:uLnTx/>
                <a:uFillTx/>
                <a:latin typeface="Arial" panose="020B0604020202020204"/>
                <a:ea typeface="+mj-ea"/>
                <a:cs typeface="+mj-cs"/>
              </a:rPr>
              <a:t>Structure of the course</a:t>
            </a:r>
            <a:endParaRPr kumimoji="0" lang="en-GB" sz="3200" b="1" i="0" u="none" strike="noStrike" kern="1200" cap="none" spc="0" normalizeH="0" baseline="0" noProof="0">
              <a:ln>
                <a:noFill/>
              </a:ln>
              <a:solidFill>
                <a:srgbClr val="FFFFFF"/>
              </a:solidFill>
              <a:effectLst/>
              <a:uLnTx/>
              <a:uFillTx/>
              <a:latin typeface="Arial" panose="020B0604020202020204"/>
              <a:ea typeface="+mj-ea"/>
              <a:cs typeface="+mj-cs"/>
            </a:endParaRPr>
          </a:p>
        </p:txBody>
      </p:sp>
      <p:sp>
        <p:nvSpPr>
          <p:cNvPr id="30" name="Rounded Rectangle 10">
            <a:extLst>
              <a:ext uri="{FF2B5EF4-FFF2-40B4-BE49-F238E27FC236}">
                <a16:creationId xmlns:a16="http://schemas.microsoft.com/office/drawing/2014/main" id="{413F6357-3E23-4AA7-8F03-3B957F7FC769}"/>
              </a:ext>
            </a:extLst>
          </p:cNvPr>
          <p:cNvSpPr/>
          <p:nvPr/>
        </p:nvSpPr>
        <p:spPr bwMode="auto">
          <a:xfrm>
            <a:off x="4758940" y="484556"/>
            <a:ext cx="6239244" cy="535132"/>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000000">
                    <a:lumMod val="75000"/>
                    <a:lumOff val="25000"/>
                  </a:srgbClr>
                </a:solidFill>
                <a:effectLst/>
                <a:uLnTx/>
                <a:uFillTx/>
                <a:latin typeface="Arial" charset="0"/>
                <a:ea typeface="ＭＳ Ｐゴシック" pitchFamily="80" charset="-128"/>
                <a:cs typeface="Arial" charset="0"/>
              </a:rPr>
              <a:t>Market P&amp;L </a:t>
            </a:r>
          </a:p>
        </p:txBody>
      </p:sp>
      <p:pic>
        <p:nvPicPr>
          <p:cNvPr id="29" name="Picture 6" descr="image002">
            <a:extLst>
              <a:ext uri="{FF2B5EF4-FFF2-40B4-BE49-F238E27FC236}">
                <a16:creationId xmlns:a16="http://schemas.microsoft.com/office/drawing/2014/main" id="{E5EFA0AD-7672-4AE0-8C17-861C492D70A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512" r="26227" b="46257"/>
          <a:stretch/>
        </p:blipFill>
        <p:spPr bwMode="auto">
          <a:xfrm>
            <a:off x="5054980" y="1293038"/>
            <a:ext cx="2760393" cy="4743418"/>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9" name="Picture 6" descr="image002">
            <a:extLst>
              <a:ext uri="{FF2B5EF4-FFF2-40B4-BE49-F238E27FC236}">
                <a16:creationId xmlns:a16="http://schemas.microsoft.com/office/drawing/2014/main" id="{45FA8D48-0816-4308-9815-73CD3498EA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441" t="53718" r="25281" b="-478"/>
          <a:stretch/>
        </p:blipFill>
        <p:spPr bwMode="auto">
          <a:xfrm>
            <a:off x="8107169" y="1294816"/>
            <a:ext cx="2641335" cy="386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Rounded Corners 43">
            <a:extLst>
              <a:ext uri="{FF2B5EF4-FFF2-40B4-BE49-F238E27FC236}">
                <a16:creationId xmlns:a16="http://schemas.microsoft.com/office/drawing/2014/main" id="{BB694DD1-A08A-47F2-B705-6B941DF0B0A4}"/>
              </a:ext>
            </a:extLst>
          </p:cNvPr>
          <p:cNvSpPr/>
          <p:nvPr/>
        </p:nvSpPr>
        <p:spPr>
          <a:xfrm>
            <a:off x="11105868" y="768568"/>
            <a:ext cx="832395" cy="2511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GPM</a:t>
            </a:r>
          </a:p>
        </p:txBody>
      </p:sp>
      <p:pic>
        <p:nvPicPr>
          <p:cNvPr id="45" name="Picture 44">
            <a:extLst>
              <a:ext uri="{FF2B5EF4-FFF2-40B4-BE49-F238E27FC236}">
                <a16:creationId xmlns:a16="http://schemas.microsoft.com/office/drawing/2014/main" id="{9FB22005-F6C9-402D-A415-3E8094D1FEAB}"/>
              </a:ext>
            </a:extLst>
          </p:cNvPr>
          <p:cNvPicPr>
            <a:picLocks noChangeAspect="1"/>
          </p:cNvPicPr>
          <p:nvPr/>
        </p:nvPicPr>
        <p:blipFill>
          <a:blip r:embed="rId5"/>
          <a:stretch>
            <a:fillRect/>
          </a:stretch>
        </p:blipFill>
        <p:spPr>
          <a:xfrm>
            <a:off x="3627660" y="1274822"/>
            <a:ext cx="1329020" cy="1102869"/>
          </a:xfrm>
          <a:prstGeom prst="rect">
            <a:avLst/>
          </a:prstGeom>
        </p:spPr>
      </p:pic>
      <p:pic>
        <p:nvPicPr>
          <p:cNvPr id="46" name="Content Placeholder 1">
            <a:extLst>
              <a:ext uri="{FF2B5EF4-FFF2-40B4-BE49-F238E27FC236}">
                <a16:creationId xmlns:a16="http://schemas.microsoft.com/office/drawing/2014/main" id="{5365F819-F3B6-47FE-96AE-DDBC54E16F3D}"/>
              </a:ext>
            </a:extLst>
          </p:cNvPr>
          <p:cNvPicPr>
            <a:picLocks noChangeAspect="1"/>
          </p:cNvPicPr>
          <p:nvPr/>
        </p:nvPicPr>
        <p:blipFill>
          <a:blip r:embed="rId6"/>
          <a:stretch>
            <a:fillRect/>
          </a:stretch>
        </p:blipFill>
        <p:spPr>
          <a:xfrm>
            <a:off x="3662928" y="4539823"/>
            <a:ext cx="1355307" cy="1065199"/>
          </a:xfrm>
          <a:prstGeom prst="rect">
            <a:avLst/>
          </a:prstGeom>
        </p:spPr>
      </p:pic>
      <p:pic>
        <p:nvPicPr>
          <p:cNvPr id="47" name="Picture 46">
            <a:extLst>
              <a:ext uri="{FF2B5EF4-FFF2-40B4-BE49-F238E27FC236}">
                <a16:creationId xmlns:a16="http://schemas.microsoft.com/office/drawing/2014/main" id="{320EB42C-FCDF-44CE-84DA-69F97A991B2D}"/>
              </a:ext>
            </a:extLst>
          </p:cNvPr>
          <p:cNvPicPr>
            <a:picLocks noChangeAspect="1"/>
          </p:cNvPicPr>
          <p:nvPr/>
        </p:nvPicPr>
        <p:blipFill>
          <a:blip r:embed="rId7"/>
          <a:stretch>
            <a:fillRect/>
          </a:stretch>
        </p:blipFill>
        <p:spPr>
          <a:xfrm>
            <a:off x="3627659" y="2506305"/>
            <a:ext cx="1337943" cy="1107157"/>
          </a:xfrm>
          <a:prstGeom prst="rect">
            <a:avLst/>
          </a:prstGeom>
        </p:spPr>
      </p:pic>
      <p:grpSp>
        <p:nvGrpSpPr>
          <p:cNvPr id="51" name="Group 50">
            <a:extLst>
              <a:ext uri="{FF2B5EF4-FFF2-40B4-BE49-F238E27FC236}">
                <a16:creationId xmlns:a16="http://schemas.microsoft.com/office/drawing/2014/main" id="{97AF34EA-00F7-41BB-8A69-2276D3FFBEEE}"/>
              </a:ext>
            </a:extLst>
          </p:cNvPr>
          <p:cNvGrpSpPr/>
          <p:nvPr/>
        </p:nvGrpSpPr>
        <p:grpSpPr>
          <a:xfrm>
            <a:off x="10762620" y="3322083"/>
            <a:ext cx="1418588" cy="1073113"/>
            <a:chOff x="8940577" y="1894017"/>
            <a:chExt cx="1465840" cy="1219250"/>
          </a:xfrm>
        </p:grpSpPr>
        <p:pic>
          <p:nvPicPr>
            <p:cNvPr id="52" name="Picture 51">
              <a:extLst>
                <a:ext uri="{FF2B5EF4-FFF2-40B4-BE49-F238E27FC236}">
                  <a16:creationId xmlns:a16="http://schemas.microsoft.com/office/drawing/2014/main" id="{C443BD21-3B65-40FC-964A-DB9EE2FB62D8}"/>
                </a:ext>
              </a:extLst>
            </p:cNvPr>
            <p:cNvPicPr>
              <a:picLocks noChangeAspect="1"/>
            </p:cNvPicPr>
            <p:nvPr/>
          </p:nvPicPr>
          <p:blipFill>
            <a:blip r:embed="rId8"/>
            <a:stretch>
              <a:fillRect/>
            </a:stretch>
          </p:blipFill>
          <p:spPr>
            <a:xfrm rot="10800000">
              <a:off x="8940577" y="1894017"/>
              <a:ext cx="1465840" cy="1219250"/>
            </a:xfrm>
            <a:prstGeom prst="rect">
              <a:avLst/>
            </a:prstGeom>
          </p:spPr>
        </p:pic>
        <p:sp>
          <p:nvSpPr>
            <p:cNvPr id="53" name="Oval 52">
              <a:extLst>
                <a:ext uri="{FF2B5EF4-FFF2-40B4-BE49-F238E27FC236}">
                  <a16:creationId xmlns:a16="http://schemas.microsoft.com/office/drawing/2014/main" id="{BDA83A79-7F1B-4C50-8FB7-6C5CCF37B984}"/>
                </a:ext>
              </a:extLst>
            </p:cNvPr>
            <p:cNvSpPr/>
            <p:nvPr/>
          </p:nvSpPr>
          <p:spPr>
            <a:xfrm>
              <a:off x="9276557" y="2028322"/>
              <a:ext cx="999213" cy="914400"/>
            </a:xfrm>
            <a:prstGeom prst="ellipse">
              <a:avLst/>
            </a:prstGeom>
            <a:solidFill>
              <a:srgbClr val="88D5B8">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panose="020B0604020202020204"/>
                  <a:ea typeface="+mn-ea"/>
                  <a:cs typeface="+mn-cs"/>
                </a:rPr>
                <a:t>Small change in OPEX P&amp;L line</a:t>
              </a:r>
            </a:p>
          </p:txBody>
        </p:sp>
      </p:grpSp>
      <p:sp>
        <p:nvSpPr>
          <p:cNvPr id="54" name="Text Placeholder 43">
            <a:extLst>
              <a:ext uri="{FF2B5EF4-FFF2-40B4-BE49-F238E27FC236}">
                <a16:creationId xmlns:a16="http://schemas.microsoft.com/office/drawing/2014/main" id="{A13AF84A-264C-4AB8-962B-8B3B9DDF1889}"/>
              </a:ext>
            </a:extLst>
          </p:cNvPr>
          <p:cNvSpPr txBox="1">
            <a:spLocks/>
          </p:cNvSpPr>
          <p:nvPr/>
        </p:nvSpPr>
        <p:spPr>
          <a:xfrm>
            <a:off x="3706756" y="977307"/>
            <a:ext cx="2950213" cy="32168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400" b="0" i="1" u="sng" strike="noStrike" kern="1200" cap="none" spc="0" normalizeH="0" baseline="0" noProof="0">
                <a:ln>
                  <a:noFill/>
                </a:ln>
                <a:solidFill>
                  <a:srgbClr val="FFFFFF">
                    <a:lumMod val="50000"/>
                  </a:srgbClr>
                </a:solidFill>
                <a:effectLst/>
                <a:uLnTx/>
                <a:uFillTx/>
                <a:latin typeface="Georgia" panose="02040502050405020303" pitchFamily="18" charset="0"/>
                <a:ea typeface="+mn-ea"/>
                <a:cs typeface="+mn-cs"/>
              </a:rPr>
              <a:t>Areas of change</a:t>
            </a:r>
          </a:p>
        </p:txBody>
      </p:sp>
      <p:sp>
        <p:nvSpPr>
          <p:cNvPr id="4" name="Rectangle 3">
            <a:extLst>
              <a:ext uri="{FF2B5EF4-FFF2-40B4-BE49-F238E27FC236}">
                <a16:creationId xmlns:a16="http://schemas.microsoft.com/office/drawing/2014/main" id="{566FB63C-48A8-424A-82BA-1713AFF3E6CC}"/>
              </a:ext>
            </a:extLst>
          </p:cNvPr>
          <p:cNvSpPr/>
          <p:nvPr/>
        </p:nvSpPr>
        <p:spPr>
          <a:xfrm>
            <a:off x="763550" y="4233696"/>
            <a:ext cx="1710980" cy="147732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FFFFFF"/>
                </a:solidFill>
                <a:effectLst/>
                <a:uLnTx/>
                <a:uFillTx/>
                <a:latin typeface="Georgia" panose="02040502050405020303" pitchFamily="18" charset="0"/>
                <a:ea typeface="+mn-ea"/>
                <a:cs typeface="+mn-cs"/>
              </a:rPr>
              <a:t>P&amp;L structure to support globally aligned definitions </a:t>
            </a:r>
          </a:p>
        </p:txBody>
      </p:sp>
    </p:spTree>
    <p:extLst>
      <p:ext uri="{BB962C8B-B14F-4D97-AF65-F5344CB8AC3E}">
        <p14:creationId xmlns:p14="http://schemas.microsoft.com/office/powerpoint/2010/main" val="2571035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10901" y="0"/>
            <a:ext cx="3343037" cy="6858001"/>
            <a:chOff x="0" y="0"/>
            <a:chExt cx="3343037" cy="6858001"/>
          </a:xfrm>
        </p:grpSpPr>
        <p:pic>
          <p:nvPicPr>
            <p:cNvPr id="23" name="Picture 2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25" name="Rectangle 24"/>
            <p:cNvSpPr/>
            <p:nvPr/>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26" name="Rectangle 25"/>
            <p:cNvSpPr/>
            <p:nvPr/>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Date Placeholder 1"/>
            <p:cNvSpPr txBox="1">
              <a:spLocks/>
            </p:cNvSpPr>
            <p:nvPr/>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pic>
          <p:nvPicPr>
            <p:cNvPr id="28" name="Picture 27">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gr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p:cNvSpPr txBox="1"/>
          <p:nvPr/>
        </p:nvSpPr>
        <p:spPr>
          <a:xfrm>
            <a:off x="154951" y="2273749"/>
            <a:ext cx="3011332" cy="6541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98" b="1" i="0" u="none" strike="noStrike" kern="1200" cap="none" spc="0" normalizeH="0" baseline="0" noProof="0">
                <a:ln>
                  <a:noFill/>
                </a:ln>
                <a:solidFill>
                  <a:srgbClr val="FFFFFF"/>
                </a:solidFill>
                <a:effectLst/>
                <a:uLnTx/>
                <a:uFillTx/>
                <a:latin typeface="Arial" charset="0"/>
                <a:ea typeface="Arial" charset="0"/>
                <a:cs typeface="Arial" charset="0"/>
              </a:rPr>
              <a:t>KPIs &amp; Volume</a:t>
            </a:r>
          </a:p>
        </p:txBody>
      </p:sp>
      <p:sp>
        <p:nvSpPr>
          <p:cNvPr id="63" name="Title 1">
            <a:extLst>
              <a:ext uri="{FF2B5EF4-FFF2-40B4-BE49-F238E27FC236}">
                <a16:creationId xmlns:a16="http://schemas.microsoft.com/office/drawing/2014/main" id="{F81BED34-8E76-46BA-B8A0-84615AE39744}"/>
              </a:ext>
            </a:extLst>
          </p:cNvPr>
          <p:cNvSpPr txBox="1">
            <a:spLocks/>
          </p:cNvSpPr>
          <p:nvPr/>
        </p:nvSpPr>
        <p:spPr>
          <a:xfrm>
            <a:off x="3580854" y="365127"/>
            <a:ext cx="7772946" cy="1325563"/>
          </a:xfrm>
          <a:prstGeom prst="rect">
            <a:avLst/>
          </a:prstGeom>
        </p:spPr>
        <p:txBody>
          <a:bodyPr anchor="b"/>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panose="020B0604020202020204"/>
                <a:ea typeface="+mj-ea"/>
                <a:cs typeface="+mj-cs"/>
              </a:rPr>
              <a:t>Key dimensions used in CO-PA</a:t>
            </a:r>
            <a:endParaRPr kumimoji="0" lang="en-US" sz="2800" b="0" i="1" u="none" strike="noStrike" kern="1200" cap="none" spc="0" normalizeH="0" baseline="0" noProof="0">
              <a:ln>
                <a:noFill/>
              </a:ln>
              <a:solidFill>
                <a:srgbClr val="FFFFFF"/>
              </a:solidFill>
              <a:effectLst/>
              <a:uLnTx/>
              <a:uFillTx/>
              <a:latin typeface="Georgia" panose="02040502050405020303" pitchFamily="18" charset="0"/>
              <a:ea typeface="+mj-ea"/>
              <a:cs typeface="+mj-cs"/>
            </a:endParaRPr>
          </a:p>
        </p:txBody>
      </p:sp>
      <p:sp>
        <p:nvSpPr>
          <p:cNvPr id="29" name="Rounded Rectangle 20">
            <a:extLst>
              <a:ext uri="{FF2B5EF4-FFF2-40B4-BE49-F238E27FC236}">
                <a16:creationId xmlns:a16="http://schemas.microsoft.com/office/drawing/2014/main" id="{F94A1343-F950-472F-8E68-7083059FABEA}"/>
              </a:ext>
            </a:extLst>
          </p:cNvPr>
          <p:cNvSpPr/>
          <p:nvPr/>
        </p:nvSpPr>
        <p:spPr bwMode="auto">
          <a:xfrm>
            <a:off x="3580854" y="935299"/>
            <a:ext cx="8095207" cy="530032"/>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000000">
                    <a:lumMod val="75000"/>
                    <a:lumOff val="25000"/>
                  </a:srgbClr>
                </a:solidFill>
                <a:effectLst/>
                <a:uLnTx/>
                <a:uFillTx/>
                <a:latin typeface="Arial" charset="0"/>
                <a:ea typeface="ＭＳ Ｐゴシック" pitchFamily="80" charset="-128"/>
                <a:cs typeface="Arial" charset="0"/>
              </a:rPr>
              <a:t>P&amp;L Indicators </a:t>
            </a:r>
          </a:p>
        </p:txBody>
      </p:sp>
      <p:grpSp>
        <p:nvGrpSpPr>
          <p:cNvPr id="6" name="Group 5">
            <a:extLst>
              <a:ext uri="{FF2B5EF4-FFF2-40B4-BE49-F238E27FC236}">
                <a16:creationId xmlns:a16="http://schemas.microsoft.com/office/drawing/2014/main" id="{8B3EF622-9490-4E96-9D21-1E3A11D8752A}"/>
              </a:ext>
            </a:extLst>
          </p:cNvPr>
          <p:cNvGrpSpPr/>
          <p:nvPr/>
        </p:nvGrpSpPr>
        <p:grpSpPr>
          <a:xfrm>
            <a:off x="3513308" y="1485672"/>
            <a:ext cx="8277639" cy="3240866"/>
            <a:chOff x="3513308" y="1485672"/>
            <a:chExt cx="8277639" cy="3240866"/>
          </a:xfrm>
        </p:grpSpPr>
        <p:grpSp>
          <p:nvGrpSpPr>
            <p:cNvPr id="39" name="Group 38">
              <a:extLst>
                <a:ext uri="{FF2B5EF4-FFF2-40B4-BE49-F238E27FC236}">
                  <a16:creationId xmlns:a16="http://schemas.microsoft.com/office/drawing/2014/main" id="{C5B9F1BC-2FA6-43A6-A90A-84769A5FB920}"/>
                </a:ext>
              </a:extLst>
            </p:cNvPr>
            <p:cNvGrpSpPr/>
            <p:nvPr/>
          </p:nvGrpSpPr>
          <p:grpSpPr>
            <a:xfrm>
              <a:off x="3580854" y="1672422"/>
              <a:ext cx="8072356" cy="3054116"/>
              <a:chOff x="4842507" y="1459596"/>
              <a:chExt cx="6099451" cy="2064448"/>
            </a:xfrm>
          </p:grpSpPr>
          <p:pic>
            <p:nvPicPr>
              <p:cNvPr id="40" name="Picture 7" descr="image001">
                <a:extLst>
                  <a:ext uri="{FF2B5EF4-FFF2-40B4-BE49-F238E27FC236}">
                    <a16:creationId xmlns:a16="http://schemas.microsoft.com/office/drawing/2014/main" id="{9FBCD7DB-479C-42D7-9217-FC8FC953BA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6444"/>
              <a:stretch/>
            </p:blipFill>
            <p:spPr bwMode="auto">
              <a:xfrm>
                <a:off x="4842507" y="1485694"/>
                <a:ext cx="3180659"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7" descr="image001">
                <a:extLst>
                  <a:ext uri="{FF2B5EF4-FFF2-40B4-BE49-F238E27FC236}">
                    <a16:creationId xmlns:a16="http://schemas.microsoft.com/office/drawing/2014/main" id="{14330FAE-15DE-4A1F-964A-FC4AEBD691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0302"/>
              <a:stretch/>
            </p:blipFill>
            <p:spPr bwMode="auto">
              <a:xfrm>
                <a:off x="8043045" y="1459596"/>
                <a:ext cx="2898913"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Rectangle: Rounded Corners 3">
              <a:extLst>
                <a:ext uri="{FF2B5EF4-FFF2-40B4-BE49-F238E27FC236}">
                  <a16:creationId xmlns:a16="http://schemas.microsoft.com/office/drawing/2014/main" id="{3DD26D00-FDFD-4300-AF92-2F25194E3844}"/>
                </a:ext>
              </a:extLst>
            </p:cNvPr>
            <p:cNvSpPr/>
            <p:nvPr/>
          </p:nvSpPr>
          <p:spPr>
            <a:xfrm>
              <a:off x="3513308" y="1496669"/>
              <a:ext cx="1691296" cy="4474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ectangle: Rounded Corners 41">
              <a:extLst>
                <a:ext uri="{FF2B5EF4-FFF2-40B4-BE49-F238E27FC236}">
                  <a16:creationId xmlns:a16="http://schemas.microsoft.com/office/drawing/2014/main" id="{84999FC5-53F5-4358-8F44-586FE297B197}"/>
                </a:ext>
              </a:extLst>
            </p:cNvPr>
            <p:cNvSpPr/>
            <p:nvPr/>
          </p:nvSpPr>
          <p:spPr>
            <a:xfrm>
              <a:off x="7804067" y="1485672"/>
              <a:ext cx="3986880" cy="4474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3" name="Slide Number Placeholder 2">
            <a:extLst>
              <a:ext uri="{FF2B5EF4-FFF2-40B4-BE49-F238E27FC236}">
                <a16:creationId xmlns:a16="http://schemas.microsoft.com/office/drawing/2014/main" id="{D28B2B8F-5F06-48A9-9C74-F36D03D7DBCB}"/>
              </a:ext>
            </a:extLst>
          </p:cNvPr>
          <p:cNvSpPr txBox="1">
            <a:spLocks/>
          </p:cNvSpPr>
          <p:nvPr/>
        </p:nvSpPr>
        <p:spPr>
          <a:xfrm>
            <a:off x="6179072" y="6148007"/>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Rounded Rectangle 25">
            <a:extLst>
              <a:ext uri="{FF2B5EF4-FFF2-40B4-BE49-F238E27FC236}">
                <a16:creationId xmlns:a16="http://schemas.microsoft.com/office/drawing/2014/main" id="{608F6624-D288-40FC-8E71-FC9A1E68E498}"/>
              </a:ext>
            </a:extLst>
          </p:cNvPr>
          <p:cNvSpPr/>
          <p:nvPr/>
        </p:nvSpPr>
        <p:spPr bwMode="auto">
          <a:xfrm>
            <a:off x="3664876" y="5036937"/>
            <a:ext cx="7988335" cy="530032"/>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000000">
                    <a:lumMod val="75000"/>
                    <a:lumOff val="25000"/>
                  </a:srgbClr>
                </a:solidFill>
                <a:effectLst/>
                <a:uLnTx/>
                <a:uFillTx/>
                <a:latin typeface="Arial" charset="0"/>
                <a:ea typeface="ＭＳ Ｐゴシック" pitchFamily="80" charset="-128"/>
                <a:cs typeface="Arial" charset="0"/>
              </a:rPr>
              <a:t>Volume metrics</a:t>
            </a:r>
          </a:p>
        </p:txBody>
      </p:sp>
      <p:sp>
        <p:nvSpPr>
          <p:cNvPr id="45" name="Rectangle 44">
            <a:extLst>
              <a:ext uri="{FF2B5EF4-FFF2-40B4-BE49-F238E27FC236}">
                <a16:creationId xmlns:a16="http://schemas.microsoft.com/office/drawing/2014/main" id="{0B597AAA-DD25-4EF1-B6BB-5A8B3D70DFFA}"/>
              </a:ext>
            </a:extLst>
          </p:cNvPr>
          <p:cNvSpPr/>
          <p:nvPr/>
        </p:nvSpPr>
        <p:spPr>
          <a:xfrm>
            <a:off x="3624340" y="5654367"/>
            <a:ext cx="8069406" cy="52322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Volume conversion metrics embedded into S/4HANA (converted volume ava</a:t>
            </a:r>
            <a:r>
              <a:rPr kumimoji="0" lang="en-US" sz="1400" b="1" i="0" u="none" strike="noStrike" kern="1200" cap="none" spc="0" normalizeH="0" baseline="0" noProof="0" err="1">
                <a:ln>
                  <a:noFill/>
                </a:ln>
                <a:solidFill>
                  <a:srgbClr val="000000"/>
                </a:solidFill>
                <a:effectLst/>
                <a:uLnTx/>
                <a:uFillTx/>
                <a:latin typeface="Arial" panose="020B0604020202020204"/>
                <a:ea typeface="+mn-ea"/>
                <a:cs typeface="+mn-cs"/>
              </a:rPr>
              <a:t>ilable</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 in GPM)</a:t>
            </a:r>
            <a:b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b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46" name="Picture 45">
            <a:extLst>
              <a:ext uri="{FF2B5EF4-FFF2-40B4-BE49-F238E27FC236}">
                <a16:creationId xmlns:a16="http://schemas.microsoft.com/office/drawing/2014/main" id="{777488F2-D769-4A03-9B22-F768E12E91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49643" y="4984527"/>
            <a:ext cx="662792" cy="662792"/>
          </a:xfrm>
          <a:prstGeom prst="rect">
            <a:avLst/>
          </a:prstGeom>
        </p:spPr>
      </p:pic>
      <p:sp>
        <p:nvSpPr>
          <p:cNvPr id="47" name="Rectangle: Rounded Corners 46">
            <a:extLst>
              <a:ext uri="{FF2B5EF4-FFF2-40B4-BE49-F238E27FC236}">
                <a16:creationId xmlns:a16="http://schemas.microsoft.com/office/drawing/2014/main" id="{A9A5E916-4E32-4476-B228-EF96B615A04B}"/>
              </a:ext>
            </a:extLst>
          </p:cNvPr>
          <p:cNvSpPr/>
          <p:nvPr/>
        </p:nvSpPr>
        <p:spPr>
          <a:xfrm>
            <a:off x="7857863" y="1614074"/>
            <a:ext cx="832395" cy="2511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GPM</a:t>
            </a:r>
          </a:p>
        </p:txBody>
      </p:sp>
    </p:spTree>
    <p:extLst>
      <p:ext uri="{BB962C8B-B14F-4D97-AF65-F5344CB8AC3E}">
        <p14:creationId xmlns:p14="http://schemas.microsoft.com/office/powerpoint/2010/main" val="540738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4017C5-1824-4564-831D-85245B3833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745321B4-15BC-4C26-9F59-DCB9B8300FD2}"/>
              </a:ext>
            </a:extLst>
          </p:cNvPr>
          <p:cNvSpPr>
            <a:spLocks noGrp="1"/>
          </p:cNvSpPr>
          <p:nvPr>
            <p:ph type="title"/>
          </p:nvPr>
        </p:nvSpPr>
        <p:spPr/>
        <p:txBody>
          <a:bodyPr/>
          <a:lstStyle/>
          <a:p>
            <a:r>
              <a:rPr lang="en-GB"/>
              <a:t>How Market P&amp;L Lines link to JTIOs   </a:t>
            </a:r>
          </a:p>
        </p:txBody>
      </p:sp>
      <p:sp>
        <p:nvSpPr>
          <p:cNvPr id="8" name="Rectangle: Rounded Corners 7">
            <a:extLst>
              <a:ext uri="{FF2B5EF4-FFF2-40B4-BE49-F238E27FC236}">
                <a16:creationId xmlns:a16="http://schemas.microsoft.com/office/drawing/2014/main" id="{F2E74A18-3781-466B-A764-081F1883A66D}"/>
              </a:ext>
            </a:extLst>
          </p:cNvPr>
          <p:cNvSpPr/>
          <p:nvPr/>
        </p:nvSpPr>
        <p:spPr>
          <a:xfrm>
            <a:off x="6215621" y="3317858"/>
            <a:ext cx="5563154" cy="36399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FFFFFF"/>
                </a:solidFill>
                <a:effectLst/>
                <a:uLnTx/>
                <a:uFillTx/>
                <a:latin typeface="Arial" panose="020B0604020202020204"/>
                <a:ea typeface="+mn-ea"/>
                <a:cs typeface="+mn-cs"/>
              </a:rPr>
              <a:t>JTIO</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10370947-BCAC-4DDB-BED3-DAEC1895B5B5}"/>
              </a:ext>
            </a:extLst>
          </p:cNvPr>
          <p:cNvPicPr>
            <a:picLocks noChangeAspect="1"/>
          </p:cNvPicPr>
          <p:nvPr/>
        </p:nvPicPr>
        <p:blipFill rotWithShape="1">
          <a:blip r:embed="rId3"/>
          <a:srcRect l="3" r="51871" b="78257"/>
          <a:stretch/>
        </p:blipFill>
        <p:spPr>
          <a:xfrm>
            <a:off x="515939" y="1555710"/>
            <a:ext cx="2494008" cy="415498"/>
          </a:xfrm>
          <a:prstGeom prst="rect">
            <a:avLst/>
          </a:prstGeom>
        </p:spPr>
      </p:pic>
      <p:grpSp>
        <p:nvGrpSpPr>
          <p:cNvPr id="21" name="Group 20">
            <a:extLst>
              <a:ext uri="{FF2B5EF4-FFF2-40B4-BE49-F238E27FC236}">
                <a16:creationId xmlns:a16="http://schemas.microsoft.com/office/drawing/2014/main" id="{4573FF6C-2CFE-46DA-AB72-365AB3A2C5D6}"/>
              </a:ext>
            </a:extLst>
          </p:cNvPr>
          <p:cNvGrpSpPr/>
          <p:nvPr/>
        </p:nvGrpSpPr>
        <p:grpSpPr>
          <a:xfrm>
            <a:off x="525658" y="3173780"/>
            <a:ext cx="2437187" cy="1848368"/>
            <a:chOff x="2652945" y="1709108"/>
            <a:chExt cx="2437187" cy="1848368"/>
          </a:xfrm>
        </p:grpSpPr>
        <p:pic>
          <p:nvPicPr>
            <p:cNvPr id="19" name="Picture 18">
              <a:extLst>
                <a:ext uri="{FF2B5EF4-FFF2-40B4-BE49-F238E27FC236}">
                  <a16:creationId xmlns:a16="http://schemas.microsoft.com/office/drawing/2014/main" id="{1F7B97DB-ED02-47E4-8034-9CAEF2C3E016}"/>
                </a:ext>
              </a:extLst>
            </p:cNvPr>
            <p:cNvPicPr>
              <a:picLocks noChangeAspect="1"/>
            </p:cNvPicPr>
            <p:nvPr/>
          </p:nvPicPr>
          <p:blipFill rotWithShape="1">
            <a:blip r:embed="rId3"/>
            <a:srcRect l="62804" t="25816"/>
            <a:stretch/>
          </p:blipFill>
          <p:spPr>
            <a:xfrm>
              <a:off x="2682391" y="1709108"/>
              <a:ext cx="2407741" cy="1848368"/>
            </a:xfrm>
            <a:prstGeom prst="rect">
              <a:avLst/>
            </a:prstGeom>
          </p:spPr>
        </p:pic>
        <p:sp>
          <p:nvSpPr>
            <p:cNvPr id="20" name="Rectangle: Rounded Corners 19">
              <a:extLst>
                <a:ext uri="{FF2B5EF4-FFF2-40B4-BE49-F238E27FC236}">
                  <a16:creationId xmlns:a16="http://schemas.microsoft.com/office/drawing/2014/main" id="{55064304-D31A-4160-A4C6-282E1CEDAF1B}"/>
                </a:ext>
              </a:extLst>
            </p:cNvPr>
            <p:cNvSpPr/>
            <p:nvPr/>
          </p:nvSpPr>
          <p:spPr>
            <a:xfrm>
              <a:off x="2652945" y="2206303"/>
              <a:ext cx="2437187" cy="20542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3" name="Right Brace 22">
            <a:extLst>
              <a:ext uri="{FF2B5EF4-FFF2-40B4-BE49-F238E27FC236}">
                <a16:creationId xmlns:a16="http://schemas.microsoft.com/office/drawing/2014/main" id="{1E243814-C753-4377-B529-EAB1FF1833C8}"/>
              </a:ext>
            </a:extLst>
          </p:cNvPr>
          <p:cNvSpPr/>
          <p:nvPr/>
        </p:nvSpPr>
        <p:spPr>
          <a:xfrm rot="10800000">
            <a:off x="3042554" y="3445793"/>
            <a:ext cx="488370" cy="1055176"/>
          </a:xfrm>
          <a:prstGeom prst="rightBrace">
            <a:avLst>
              <a:gd name="adj1" fmla="val 8333"/>
              <a:gd name="adj2" fmla="val 68415"/>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Rectangle: Rounded Corners 26">
            <a:extLst>
              <a:ext uri="{FF2B5EF4-FFF2-40B4-BE49-F238E27FC236}">
                <a16:creationId xmlns:a16="http://schemas.microsoft.com/office/drawing/2014/main" id="{07E6D83F-9EBA-49C3-83E2-654BD1F36572}"/>
              </a:ext>
            </a:extLst>
          </p:cNvPr>
          <p:cNvSpPr/>
          <p:nvPr/>
        </p:nvSpPr>
        <p:spPr>
          <a:xfrm>
            <a:off x="3447053" y="3025402"/>
            <a:ext cx="2437187" cy="33701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FFFFFF"/>
                </a:solidFill>
                <a:effectLst/>
                <a:uLnTx/>
                <a:uFillTx/>
                <a:latin typeface="Arial" panose="020B0604020202020204"/>
                <a:ea typeface="+mn-ea"/>
                <a:cs typeface="+mn-cs"/>
              </a:rPr>
              <a:t>JTIG </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4BABC96F-2B58-4D0E-B703-044BCD0C8A73}"/>
              </a:ext>
            </a:extLst>
          </p:cNvPr>
          <p:cNvSpPr/>
          <p:nvPr/>
        </p:nvSpPr>
        <p:spPr>
          <a:xfrm>
            <a:off x="3057046" y="1567299"/>
            <a:ext cx="8619015" cy="1200329"/>
          </a:xfrm>
          <a:prstGeom prst="rect">
            <a:avLst/>
          </a:prstGeom>
          <a:solidFill>
            <a:schemeClr val="accent1">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The </a:t>
            </a: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Market P&amp;L structure is owned by Corporate FP&amp;A)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and reflects the P&amp;L for management reporting and the IFRS P&amp;L for JT Reporting.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The </a:t>
            </a: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Functional Area</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(FA)*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(which is part of the JTIO </a:t>
            </a:r>
            <a:r>
              <a:rPr kumimoji="0" lang="en-GB" sz="1800" b="0" i="0" u="none" strike="noStrike" kern="1200" cap="none" spc="0" normalizeH="0" baseline="0" noProof="0" err="1">
                <a:ln>
                  <a:noFill/>
                </a:ln>
                <a:solidFill>
                  <a:srgbClr val="000000"/>
                </a:solidFill>
                <a:effectLst/>
                <a:uLnTx/>
                <a:uFillTx/>
                <a:latin typeface="Arial" panose="020B0604020202020204"/>
                <a:ea typeface="+mn-ea"/>
                <a:cs typeface="+mn-cs"/>
              </a:rPr>
              <a:t>Masterdata</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 is used to ensure postings are mapped into the correct Market P&amp;L line.  </a:t>
            </a:r>
          </a:p>
        </p:txBody>
      </p:sp>
      <p:pic>
        <p:nvPicPr>
          <p:cNvPr id="7" name="Picture 6">
            <a:extLst>
              <a:ext uri="{FF2B5EF4-FFF2-40B4-BE49-F238E27FC236}">
                <a16:creationId xmlns:a16="http://schemas.microsoft.com/office/drawing/2014/main" id="{7CC54804-C5D6-4357-B5F0-3C547AC9175C}"/>
              </a:ext>
            </a:extLst>
          </p:cNvPr>
          <p:cNvPicPr>
            <a:picLocks noChangeAspect="1"/>
          </p:cNvPicPr>
          <p:nvPr/>
        </p:nvPicPr>
        <p:blipFill rotWithShape="1">
          <a:blip r:embed="rId4"/>
          <a:srcRect r="34563"/>
          <a:stretch/>
        </p:blipFill>
        <p:spPr>
          <a:xfrm>
            <a:off x="6235225" y="3791122"/>
            <a:ext cx="5486400" cy="1652498"/>
          </a:xfrm>
          <a:prstGeom prst="rect">
            <a:avLst/>
          </a:prstGeom>
        </p:spPr>
      </p:pic>
      <p:pic>
        <p:nvPicPr>
          <p:cNvPr id="10" name="Picture 9">
            <a:extLst>
              <a:ext uri="{FF2B5EF4-FFF2-40B4-BE49-F238E27FC236}">
                <a16:creationId xmlns:a16="http://schemas.microsoft.com/office/drawing/2014/main" id="{792DC7D1-7BE6-4A75-A8AB-35224BE2FE0C}"/>
              </a:ext>
            </a:extLst>
          </p:cNvPr>
          <p:cNvPicPr>
            <a:picLocks noChangeAspect="1"/>
          </p:cNvPicPr>
          <p:nvPr/>
        </p:nvPicPr>
        <p:blipFill rotWithShape="1">
          <a:blip r:embed="rId5"/>
          <a:srcRect r="12071" b="-6168"/>
          <a:stretch/>
        </p:blipFill>
        <p:spPr>
          <a:xfrm>
            <a:off x="6249765" y="5552889"/>
            <a:ext cx="2509723" cy="908446"/>
          </a:xfrm>
          <a:prstGeom prst="rect">
            <a:avLst/>
          </a:prstGeom>
        </p:spPr>
      </p:pic>
      <p:sp>
        <p:nvSpPr>
          <p:cNvPr id="25" name="Right Brace 24">
            <a:extLst>
              <a:ext uri="{FF2B5EF4-FFF2-40B4-BE49-F238E27FC236}">
                <a16:creationId xmlns:a16="http://schemas.microsoft.com/office/drawing/2014/main" id="{9CD3095B-B8FD-45F7-A42E-FFC6E49FF6C9}"/>
              </a:ext>
            </a:extLst>
          </p:cNvPr>
          <p:cNvSpPr/>
          <p:nvPr/>
        </p:nvSpPr>
        <p:spPr>
          <a:xfrm rot="10800000">
            <a:off x="5873867" y="3744870"/>
            <a:ext cx="375898" cy="1582341"/>
          </a:xfrm>
          <a:prstGeom prst="rightBrace">
            <a:avLst>
              <a:gd name="adj1" fmla="val 8333"/>
              <a:gd name="adj2" fmla="val 90809"/>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6959AA5A-4F96-4DE3-8E9C-6595220EF543}"/>
              </a:ext>
            </a:extLst>
          </p:cNvPr>
          <p:cNvSpPr txBox="1"/>
          <p:nvPr/>
        </p:nvSpPr>
        <p:spPr>
          <a:xfrm>
            <a:off x="-387827" y="5700313"/>
            <a:ext cx="6125687" cy="738664"/>
          </a:xfrm>
          <a:prstGeom prst="rect">
            <a:avLst/>
          </a:prstGeom>
        </p:spPr>
        <p:txBody>
          <a:bodyPr wrap="square">
            <a:spAutoFit/>
          </a:bodyPr>
          <a:lstStyle>
            <a:defPPr>
              <a:defRPr lang="en-US"/>
            </a:defPPr>
            <a:lvl2pPr marL="742950" lvl="1" indent="-285750">
              <a:spcBef>
                <a:spcPts val="600"/>
              </a:spcBef>
              <a:buFont typeface="Arial" panose="020B0604020202020204" pitchFamily="34" charset="0"/>
              <a:buChar char="•"/>
              <a:defRPr sz="1600">
                <a:latin typeface="+mj-lt"/>
              </a:defRPr>
            </a:lvl2pPr>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 If FA is maintained in G/L master data, all postings made to the G/L will have this FA. However if FA is left blank in G/L master data, the FA on the respective G/L line items is determined by the FA maintained in the cost objects (e.g. cost </a:t>
            </a:r>
            <a:r>
              <a:rPr kumimoji="0" lang="en-GB" sz="1050" b="0" i="1" u="none" strike="noStrike" kern="1200" cap="none" spc="0" normalizeH="0" baseline="0" noProof="0" err="1">
                <a:ln>
                  <a:noFill/>
                </a:ln>
                <a:solidFill>
                  <a:srgbClr val="FFFFFF">
                    <a:lumMod val="50000"/>
                  </a:srgbClr>
                </a:solidFill>
                <a:effectLst/>
                <a:uLnTx/>
                <a:uFillTx/>
                <a:latin typeface="Arial" panose="020B0604020202020204"/>
                <a:ea typeface="+mn-ea"/>
                <a:cs typeface="+mn-cs"/>
              </a:rPr>
              <a:t>centers</a:t>
            </a:r>
            <a:r>
              <a:rPr kumimoji="0" lang="en-GB" sz="105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 to which the G/L is posted to. (See next slides for examples)</a:t>
            </a:r>
          </a:p>
        </p:txBody>
      </p:sp>
      <p:pic>
        <p:nvPicPr>
          <p:cNvPr id="5" name="Picture 4">
            <a:extLst>
              <a:ext uri="{FF2B5EF4-FFF2-40B4-BE49-F238E27FC236}">
                <a16:creationId xmlns:a16="http://schemas.microsoft.com/office/drawing/2014/main" id="{F74846FB-07A5-427A-B97B-4BD7AD069E61}"/>
              </a:ext>
            </a:extLst>
          </p:cNvPr>
          <p:cNvPicPr>
            <a:picLocks noChangeAspect="1"/>
          </p:cNvPicPr>
          <p:nvPr/>
        </p:nvPicPr>
        <p:blipFill>
          <a:blip r:embed="rId6"/>
          <a:stretch>
            <a:fillRect/>
          </a:stretch>
        </p:blipFill>
        <p:spPr>
          <a:xfrm>
            <a:off x="3500923" y="3423795"/>
            <a:ext cx="2358690" cy="968867"/>
          </a:xfrm>
          <a:prstGeom prst="rect">
            <a:avLst/>
          </a:prstGeom>
        </p:spPr>
      </p:pic>
      <p:sp>
        <p:nvSpPr>
          <p:cNvPr id="24" name="Rectangle: Rounded Corners 23">
            <a:extLst>
              <a:ext uri="{FF2B5EF4-FFF2-40B4-BE49-F238E27FC236}">
                <a16:creationId xmlns:a16="http://schemas.microsoft.com/office/drawing/2014/main" id="{23492086-B856-4045-9397-D76E92A1C4A3}"/>
              </a:ext>
            </a:extLst>
          </p:cNvPr>
          <p:cNvSpPr/>
          <p:nvPr/>
        </p:nvSpPr>
        <p:spPr>
          <a:xfrm>
            <a:off x="3381520" y="3747334"/>
            <a:ext cx="2502720" cy="259551"/>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ectangle: Rounded Corners 27">
            <a:extLst>
              <a:ext uri="{FF2B5EF4-FFF2-40B4-BE49-F238E27FC236}">
                <a16:creationId xmlns:a16="http://schemas.microsoft.com/office/drawing/2014/main" id="{8E57131C-0E35-4459-B724-32A6B84AF85F}"/>
              </a:ext>
            </a:extLst>
          </p:cNvPr>
          <p:cNvSpPr/>
          <p:nvPr/>
        </p:nvSpPr>
        <p:spPr>
          <a:xfrm>
            <a:off x="6116542" y="5687586"/>
            <a:ext cx="2642946" cy="251080"/>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Rectangle: Rounded Corners 1">
            <a:extLst>
              <a:ext uri="{FF2B5EF4-FFF2-40B4-BE49-F238E27FC236}">
                <a16:creationId xmlns:a16="http://schemas.microsoft.com/office/drawing/2014/main" id="{75C05A48-2F25-4751-9D9A-73E23B481313}"/>
              </a:ext>
            </a:extLst>
          </p:cNvPr>
          <p:cNvSpPr/>
          <p:nvPr/>
        </p:nvSpPr>
        <p:spPr>
          <a:xfrm>
            <a:off x="540380" y="2869361"/>
            <a:ext cx="2437187" cy="327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FFFFFF"/>
                </a:solidFill>
                <a:effectLst/>
                <a:uLnTx/>
                <a:uFillTx/>
                <a:latin typeface="Arial" panose="020B0604020202020204"/>
                <a:ea typeface="+mn-ea"/>
                <a:cs typeface="+mn-cs"/>
              </a:rPr>
              <a:t>MPL  Lines </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D7FD3E4C-B32A-4C77-89C9-17F3B09FA91C}"/>
              </a:ext>
            </a:extLst>
          </p:cNvPr>
          <p:cNvSpPr/>
          <p:nvPr/>
        </p:nvSpPr>
        <p:spPr>
          <a:xfrm>
            <a:off x="408508" y="3042151"/>
            <a:ext cx="583812" cy="32907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GR55 MPL </a:t>
            </a:r>
          </a:p>
        </p:txBody>
      </p:sp>
    </p:spTree>
    <p:extLst>
      <p:ext uri="{BB962C8B-B14F-4D97-AF65-F5344CB8AC3E}">
        <p14:creationId xmlns:p14="http://schemas.microsoft.com/office/powerpoint/2010/main" val="4167156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6F584C1-3313-41DF-956D-3114FE4C0AF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43EE5E56-AF7F-4949-B6EB-BD4E8811FE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4F4B41-C233-41FD-B0E1-882E9E1D5698}"/>
              </a:ext>
            </a:extLst>
          </p:cNvPr>
          <p:cNvSpPr>
            <a:spLocks noGrp="1"/>
          </p:cNvSpPr>
          <p:nvPr>
            <p:ph type="title"/>
          </p:nvPr>
        </p:nvSpPr>
        <p:spPr>
          <a:xfrm>
            <a:off x="1511277" y="290344"/>
            <a:ext cx="10124109" cy="984247"/>
          </a:xfrm>
        </p:spPr>
        <p:txBody>
          <a:bodyPr/>
          <a:lstStyle/>
          <a:p>
            <a:r>
              <a:rPr lang="en-GB"/>
              <a:t>G/L </a:t>
            </a:r>
            <a:r>
              <a:rPr lang="en-GB" err="1"/>
              <a:t>Masterdata</a:t>
            </a:r>
            <a:r>
              <a:rPr lang="en-GB"/>
              <a:t> &amp; Functional Area (FA) - </a:t>
            </a:r>
            <a:br>
              <a:rPr lang="en-GB"/>
            </a:br>
            <a:r>
              <a:rPr lang="en-GB"/>
              <a:t>Posting Rules as per SAP</a:t>
            </a:r>
          </a:p>
        </p:txBody>
      </p:sp>
      <p:pic>
        <p:nvPicPr>
          <p:cNvPr id="9" name="Picture 8">
            <a:extLst>
              <a:ext uri="{FF2B5EF4-FFF2-40B4-BE49-F238E27FC236}">
                <a16:creationId xmlns:a16="http://schemas.microsoft.com/office/drawing/2014/main" id="{94D998A9-C7B5-40C8-96FC-C24C7825E76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7522843" y="2863042"/>
            <a:ext cx="3513579" cy="2034177"/>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3F69EEA7-2DD0-46B1-A237-A3CEA1FC6EB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1100305" y="2874680"/>
            <a:ext cx="3513579" cy="2099094"/>
          </a:xfrm>
          <a:prstGeom prst="rect">
            <a:avLst/>
          </a:prstGeom>
          <a:ln>
            <a:noFill/>
          </a:ln>
          <a:effectLst>
            <a:outerShdw blurRad="292100" dist="139700" dir="2700000" algn="tl" rotWithShape="0">
              <a:srgbClr val="333333">
                <a:alpha val="65000"/>
              </a:srgbClr>
            </a:outerShdw>
          </a:effectLst>
        </p:spPr>
      </p:pic>
      <p:grpSp>
        <p:nvGrpSpPr>
          <p:cNvPr id="18" name="Group 17">
            <a:extLst>
              <a:ext uri="{FF2B5EF4-FFF2-40B4-BE49-F238E27FC236}">
                <a16:creationId xmlns:a16="http://schemas.microsoft.com/office/drawing/2014/main" id="{82E80308-D251-4058-8EF8-67F07B5AD444}"/>
              </a:ext>
            </a:extLst>
          </p:cNvPr>
          <p:cNvGrpSpPr/>
          <p:nvPr/>
        </p:nvGrpSpPr>
        <p:grpSpPr>
          <a:xfrm>
            <a:off x="865738" y="5224905"/>
            <a:ext cx="4076220" cy="984886"/>
            <a:chOff x="4173806" y="2577524"/>
            <a:chExt cx="3731117" cy="847523"/>
          </a:xfrm>
        </p:grpSpPr>
        <p:pic>
          <p:nvPicPr>
            <p:cNvPr id="15" name="Picture 14">
              <a:extLst>
                <a:ext uri="{FF2B5EF4-FFF2-40B4-BE49-F238E27FC236}">
                  <a16:creationId xmlns:a16="http://schemas.microsoft.com/office/drawing/2014/main" id="{4A1D8C98-4428-4DB9-8E67-86B1F1172AEA}"/>
                </a:ext>
              </a:extLst>
            </p:cNvPr>
            <p:cNvPicPr>
              <a:picLocks noChangeAspect="1"/>
            </p:cNvPicPr>
            <p:nvPr/>
          </p:nvPicPr>
          <p:blipFill>
            <a:blip r:embed="rId7"/>
            <a:stretch>
              <a:fillRect/>
            </a:stretch>
          </p:blipFill>
          <p:spPr>
            <a:xfrm>
              <a:off x="4173806" y="2577524"/>
              <a:ext cx="3715075" cy="574441"/>
            </a:xfrm>
            <a:prstGeom prst="rect">
              <a:avLst/>
            </a:prstGeom>
          </p:spPr>
        </p:pic>
        <p:pic>
          <p:nvPicPr>
            <p:cNvPr id="16" name="Picture 15">
              <a:extLst>
                <a:ext uri="{FF2B5EF4-FFF2-40B4-BE49-F238E27FC236}">
                  <a16:creationId xmlns:a16="http://schemas.microsoft.com/office/drawing/2014/main" id="{C0FE4C50-5C30-41D0-8DA6-488FB30583AF}"/>
                </a:ext>
              </a:extLst>
            </p:cNvPr>
            <p:cNvPicPr>
              <a:picLocks noChangeAspect="1"/>
            </p:cNvPicPr>
            <p:nvPr/>
          </p:nvPicPr>
          <p:blipFill>
            <a:blip r:embed="rId8"/>
            <a:stretch>
              <a:fillRect/>
            </a:stretch>
          </p:blipFill>
          <p:spPr>
            <a:xfrm>
              <a:off x="4189848" y="3136394"/>
              <a:ext cx="3715075" cy="288653"/>
            </a:xfrm>
            <a:prstGeom prst="rect">
              <a:avLst/>
            </a:prstGeom>
          </p:spPr>
        </p:pic>
      </p:grpSp>
      <p:sp>
        <p:nvSpPr>
          <p:cNvPr id="6" name="Rectangle: Rounded Corners 5">
            <a:extLst>
              <a:ext uri="{FF2B5EF4-FFF2-40B4-BE49-F238E27FC236}">
                <a16:creationId xmlns:a16="http://schemas.microsoft.com/office/drawing/2014/main" id="{D3BDB15D-9C8B-4A82-9B5D-D55A26D53FF0}"/>
              </a:ext>
            </a:extLst>
          </p:cNvPr>
          <p:cNvSpPr/>
          <p:nvPr/>
        </p:nvSpPr>
        <p:spPr>
          <a:xfrm>
            <a:off x="4648203" y="2824695"/>
            <a:ext cx="1390650" cy="3650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FS00 – Display G/L Master Data</a:t>
            </a:r>
          </a:p>
        </p:txBody>
      </p:sp>
      <p:sp>
        <p:nvSpPr>
          <p:cNvPr id="21" name="Rectangle: Rounded Corners 20">
            <a:extLst>
              <a:ext uri="{FF2B5EF4-FFF2-40B4-BE49-F238E27FC236}">
                <a16:creationId xmlns:a16="http://schemas.microsoft.com/office/drawing/2014/main" id="{B699F7E9-3BE3-4312-A8ED-25CCF7812D07}"/>
              </a:ext>
            </a:extLst>
          </p:cNvPr>
          <p:cNvSpPr/>
          <p:nvPr/>
        </p:nvSpPr>
        <p:spPr>
          <a:xfrm>
            <a:off x="10677701" y="2856810"/>
            <a:ext cx="1390650" cy="36508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FS00 – Display G/L Master Data</a:t>
            </a:r>
          </a:p>
        </p:txBody>
      </p:sp>
      <p:sp>
        <p:nvSpPr>
          <p:cNvPr id="23" name="Rectangle: Rounded Corners 22">
            <a:extLst>
              <a:ext uri="{FF2B5EF4-FFF2-40B4-BE49-F238E27FC236}">
                <a16:creationId xmlns:a16="http://schemas.microsoft.com/office/drawing/2014/main" id="{A29F5748-C4D6-4868-95DE-BC32871D78CE}"/>
              </a:ext>
            </a:extLst>
          </p:cNvPr>
          <p:cNvSpPr/>
          <p:nvPr/>
        </p:nvSpPr>
        <p:spPr>
          <a:xfrm>
            <a:off x="627243" y="2308947"/>
            <a:ext cx="4375289" cy="491403"/>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Example 1: Cases JTIO with FA (</a:t>
            </a:r>
            <a:r>
              <a:rPr kumimoji="0" lang="en-GB" sz="1600" b="0" i="0" u="none" strike="noStrike" kern="1200" cap="none" spc="0" normalizeH="0" baseline="0" noProof="0" err="1">
                <a:ln>
                  <a:noFill/>
                </a:ln>
                <a:solidFill>
                  <a:srgbClr val="FFFFFF"/>
                </a:solidFill>
                <a:effectLst/>
                <a:uLnTx/>
                <a:uFillTx/>
                <a:latin typeface="Arial" panose="020B0604020202020204"/>
                <a:ea typeface="+mn-ea"/>
                <a:cs typeface="+mn-cs"/>
              </a:rPr>
              <a:t>eg.</a:t>
            </a: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 Sales to 3</a:t>
            </a:r>
            <a:r>
              <a:rPr kumimoji="0" lang="en-GB" sz="1600" b="0" i="0" u="none" strike="noStrike" kern="1200" cap="none" spc="0" normalizeH="0" baseline="30000" noProof="0">
                <a:ln>
                  <a:noFill/>
                </a:ln>
                <a:solidFill>
                  <a:srgbClr val="FFFFFF"/>
                </a:solidFill>
                <a:effectLst/>
                <a:uLnTx/>
                <a:uFillTx/>
                <a:latin typeface="Arial" panose="020B0604020202020204"/>
                <a:ea typeface="+mn-ea"/>
                <a:cs typeface="+mn-cs"/>
              </a:rPr>
              <a:t>rd</a:t>
            </a: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 Party (man) JTIO 302118</a:t>
            </a:r>
          </a:p>
        </p:txBody>
      </p:sp>
      <p:sp>
        <p:nvSpPr>
          <p:cNvPr id="24" name="Rectangle: Rounded Corners 23">
            <a:extLst>
              <a:ext uri="{FF2B5EF4-FFF2-40B4-BE49-F238E27FC236}">
                <a16:creationId xmlns:a16="http://schemas.microsoft.com/office/drawing/2014/main" id="{952EE49C-F76D-46DE-9B36-E2AB68D70737}"/>
              </a:ext>
            </a:extLst>
          </p:cNvPr>
          <p:cNvSpPr/>
          <p:nvPr/>
        </p:nvSpPr>
        <p:spPr>
          <a:xfrm>
            <a:off x="7189469" y="2293919"/>
            <a:ext cx="4520159" cy="56289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Example 2: Cases  JTIO used in multiple FA (</a:t>
            </a:r>
            <a:r>
              <a:rPr kumimoji="0" lang="en-GB" sz="1600" b="0" i="0" u="none" strike="noStrike" kern="1200" cap="none" spc="0" normalizeH="0" baseline="0" noProof="0" err="1">
                <a:ln>
                  <a:noFill/>
                </a:ln>
                <a:solidFill>
                  <a:srgbClr val="FFFFFF"/>
                </a:solidFill>
                <a:effectLst/>
                <a:uLnTx/>
                <a:uFillTx/>
                <a:latin typeface="Arial" panose="020B0604020202020204"/>
                <a:ea typeface="+mn-ea"/>
                <a:cs typeface="+mn-cs"/>
              </a:rPr>
              <a:t>eg.</a:t>
            </a: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 Base Salary/Wages JTIO 500910)</a:t>
            </a:r>
          </a:p>
        </p:txBody>
      </p:sp>
      <p:sp>
        <p:nvSpPr>
          <p:cNvPr id="5" name="TextBox 4">
            <a:extLst>
              <a:ext uri="{FF2B5EF4-FFF2-40B4-BE49-F238E27FC236}">
                <a16:creationId xmlns:a16="http://schemas.microsoft.com/office/drawing/2014/main" id="{C7185E1B-1EFE-4A90-A0B2-B3C9B4587C58}"/>
              </a:ext>
            </a:extLst>
          </p:cNvPr>
          <p:cNvSpPr txBox="1"/>
          <p:nvPr/>
        </p:nvSpPr>
        <p:spPr>
          <a:xfrm>
            <a:off x="-445770" y="1348252"/>
            <a:ext cx="12447270" cy="830997"/>
          </a:xfrm>
          <a:prstGeom prst="rect">
            <a:avLst/>
          </a:prstGeom>
        </p:spPr>
        <p:txBody>
          <a:bodyPr wrap="square">
            <a:spAutoFit/>
          </a:bodyPr>
          <a:lstStyle>
            <a:defPPr>
              <a:defRPr lang="en-US"/>
            </a:defPPr>
            <a:lvl2pPr marL="742950" lvl="1" indent="-285750">
              <a:spcBef>
                <a:spcPts val="600"/>
              </a:spcBef>
              <a:buFont typeface="Arial" panose="020B0604020202020204" pitchFamily="34" charset="0"/>
              <a:buChar char="•"/>
              <a:defRPr sz="1600">
                <a:latin typeface="+mj-lt"/>
              </a:defRPr>
            </a:lvl2pPr>
          </a:lstStyle>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If </a:t>
            </a:r>
            <a:r>
              <a:rPr kumimoji="0" lang="en-GB" sz="1600" b="1" i="0" u="none" strike="noStrike" kern="1200" cap="none" spc="0" normalizeH="0" baseline="0" noProof="0">
                <a:ln>
                  <a:noFill/>
                </a:ln>
                <a:solidFill>
                  <a:srgbClr val="000000"/>
                </a:solidFill>
                <a:effectLst/>
                <a:uLnTx/>
                <a:uFillTx/>
                <a:latin typeface="Arial" panose="020B0604020202020204"/>
                <a:ea typeface="+mn-ea"/>
                <a:cs typeface="+mn-cs"/>
              </a:rPr>
              <a:t>FA is maintained in G/L </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master data, </a:t>
            </a:r>
            <a:r>
              <a:rPr kumimoji="0" lang="en-GB" sz="1600" b="1" i="0" u="none" strike="noStrike" kern="1200" cap="none" spc="0" normalizeH="0" baseline="0" noProof="0">
                <a:ln>
                  <a:noFill/>
                </a:ln>
                <a:solidFill>
                  <a:srgbClr val="000000"/>
                </a:solidFill>
                <a:effectLst/>
                <a:uLnTx/>
                <a:uFillTx/>
                <a:latin typeface="Arial" panose="020B0604020202020204"/>
                <a:ea typeface="+mn-ea"/>
                <a:cs typeface="+mn-cs"/>
              </a:rPr>
              <a:t>all postings made to the G/L will have this FA </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a:t>
            </a:r>
            <a:r>
              <a:rPr kumimoji="0" lang="en-GB" sz="1600" b="1" i="0" u="none" strike="noStrike" kern="1200" cap="none" spc="0" normalizeH="0" baseline="0" noProof="0">
                <a:ln>
                  <a:noFill/>
                </a:ln>
                <a:solidFill>
                  <a:srgbClr val="000000"/>
                </a:solidFill>
                <a:effectLst/>
                <a:uLnTx/>
                <a:uFillTx/>
                <a:latin typeface="Arial" panose="020B0604020202020204"/>
                <a:ea typeface="+mn-ea"/>
                <a:cs typeface="+mn-cs"/>
              </a:rPr>
              <a:t>Example 1</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 In the case the </a:t>
            </a:r>
            <a:r>
              <a:rPr kumimoji="0" lang="en-GB" sz="1600" b="1" i="0" u="none" strike="noStrike" kern="1200" cap="none" spc="0" normalizeH="0" baseline="0" noProof="0">
                <a:ln>
                  <a:noFill/>
                </a:ln>
                <a:solidFill>
                  <a:srgbClr val="000000"/>
                </a:solidFill>
                <a:effectLst/>
                <a:uLnTx/>
                <a:uFillTx/>
                <a:latin typeface="Arial" panose="020B0604020202020204"/>
                <a:ea typeface="+mn-ea"/>
                <a:cs typeface="+mn-cs"/>
              </a:rPr>
              <a:t>FA is left blank in G/L master data</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 the FA on the respective G/L line items is determined by the </a:t>
            </a:r>
            <a:r>
              <a:rPr kumimoji="0" lang="en-GB" sz="1600" b="1" i="0" u="none" strike="noStrike" kern="1200" cap="none" spc="0" normalizeH="0" baseline="0" noProof="0">
                <a:ln>
                  <a:noFill/>
                </a:ln>
                <a:solidFill>
                  <a:srgbClr val="000000"/>
                </a:solidFill>
                <a:effectLst/>
                <a:uLnTx/>
                <a:uFillTx/>
                <a:latin typeface="Arial" panose="020B0604020202020204"/>
                <a:ea typeface="+mn-ea"/>
                <a:cs typeface="+mn-cs"/>
              </a:rPr>
              <a:t>FA maintained in the cost objects </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(e.g. cost </a:t>
            </a:r>
            <a:r>
              <a:rPr kumimoji="0" lang="en-GB" sz="1600" b="0" i="0" u="none" strike="noStrike" kern="1200" cap="none" spc="0" normalizeH="0" baseline="0" noProof="0" err="1">
                <a:ln>
                  <a:noFill/>
                </a:ln>
                <a:solidFill>
                  <a:srgbClr val="000000"/>
                </a:solidFill>
                <a:effectLst/>
                <a:uLnTx/>
                <a:uFillTx/>
                <a:latin typeface="Arial" panose="020B0604020202020204"/>
                <a:ea typeface="+mn-ea"/>
                <a:cs typeface="+mn-cs"/>
              </a:rPr>
              <a:t>centers</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 /derived from WBS) to which the G/L is posted to (</a:t>
            </a:r>
            <a:r>
              <a:rPr kumimoji="0" lang="en-GB" sz="1600" b="1" i="0" u="none" strike="noStrike" kern="1200" cap="none" spc="0" normalizeH="0" baseline="0" noProof="0">
                <a:ln>
                  <a:noFill/>
                </a:ln>
                <a:solidFill>
                  <a:srgbClr val="000000"/>
                </a:solidFill>
                <a:effectLst/>
                <a:uLnTx/>
                <a:uFillTx/>
                <a:latin typeface="Arial" panose="020B0604020202020204"/>
                <a:ea typeface="+mn-ea"/>
                <a:cs typeface="+mn-cs"/>
              </a:rPr>
              <a:t>Example 2</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9" name="Arrow: Right 18">
            <a:extLst>
              <a:ext uri="{FF2B5EF4-FFF2-40B4-BE49-F238E27FC236}">
                <a16:creationId xmlns:a16="http://schemas.microsoft.com/office/drawing/2014/main" id="{79F04B57-A407-4D4D-BED7-EEAE6B5C6A0E}"/>
              </a:ext>
            </a:extLst>
          </p:cNvPr>
          <p:cNvSpPr/>
          <p:nvPr/>
        </p:nvSpPr>
        <p:spPr>
          <a:xfrm rot="5400000">
            <a:off x="753559" y="4707436"/>
            <a:ext cx="491403" cy="385489"/>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026" name="Picture 16" descr="image005">
            <a:extLst>
              <a:ext uri="{FF2B5EF4-FFF2-40B4-BE49-F238E27FC236}">
                <a16:creationId xmlns:a16="http://schemas.microsoft.com/office/drawing/2014/main" id="{33986679-8887-417F-B967-DA0E33E923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20486" y="5165951"/>
            <a:ext cx="49149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Arrow: Right 28">
            <a:extLst>
              <a:ext uri="{FF2B5EF4-FFF2-40B4-BE49-F238E27FC236}">
                <a16:creationId xmlns:a16="http://schemas.microsoft.com/office/drawing/2014/main" id="{0D40BFEE-02ED-43F6-A583-0174018B8E75}"/>
              </a:ext>
            </a:extLst>
          </p:cNvPr>
          <p:cNvSpPr/>
          <p:nvPr/>
        </p:nvSpPr>
        <p:spPr>
          <a:xfrm rot="5400000">
            <a:off x="6648999" y="4704474"/>
            <a:ext cx="491403" cy="385489"/>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452923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Market P&amp;L Areas of Change</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9" name="Group 8">
            <a:extLst>
              <a:ext uri="{FF2B5EF4-FFF2-40B4-BE49-F238E27FC236}">
                <a16:creationId xmlns:a16="http://schemas.microsoft.com/office/drawing/2014/main" id="{79C55578-90D5-46DF-8C89-CE897299BE9E}"/>
              </a:ext>
            </a:extLst>
          </p:cNvPr>
          <p:cNvGrpSpPr/>
          <p:nvPr/>
        </p:nvGrpSpPr>
        <p:grpSpPr>
          <a:xfrm>
            <a:off x="1511955" y="2505207"/>
            <a:ext cx="9017670" cy="2125676"/>
            <a:chOff x="1511955" y="2505207"/>
            <a:chExt cx="9017670" cy="2125676"/>
          </a:xfrm>
        </p:grpSpPr>
        <p:sp>
          <p:nvSpPr>
            <p:cNvPr id="10" name="Teardrop 9">
              <a:extLst>
                <a:ext uri="{FF2B5EF4-FFF2-40B4-BE49-F238E27FC236}">
                  <a16:creationId xmlns:a16="http://schemas.microsoft.com/office/drawing/2014/main" id="{CD1C2B7A-7ABD-4BD9-94FE-709B8F33FAB0}"/>
                </a:ext>
              </a:extLst>
            </p:cNvPr>
            <p:cNvSpPr/>
            <p:nvPr/>
          </p:nvSpPr>
          <p:spPr>
            <a:xfrm rot="2700000">
              <a:off x="1532542" y="2484620"/>
              <a:ext cx="2125676" cy="2166849"/>
            </a:xfrm>
            <a:prstGeom prst="teardrop">
              <a:avLst>
                <a:gd name="adj" fmla="val 100000"/>
              </a:avLst>
            </a:prstGeom>
            <a:solidFill>
              <a:schemeClr val="accent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11" name="Group 10">
              <a:extLst>
                <a:ext uri="{FF2B5EF4-FFF2-40B4-BE49-F238E27FC236}">
                  <a16:creationId xmlns:a16="http://schemas.microsoft.com/office/drawing/2014/main" id="{4D99D82E-E603-4AD3-B291-6E7C40D2532E}"/>
                </a:ext>
              </a:extLst>
            </p:cNvPr>
            <p:cNvGrpSpPr/>
            <p:nvPr/>
          </p:nvGrpSpPr>
          <p:grpSpPr>
            <a:xfrm>
              <a:off x="1587721" y="2573681"/>
              <a:ext cx="8941904" cy="1989098"/>
              <a:chOff x="1587721" y="2573681"/>
              <a:chExt cx="8941904" cy="1989098"/>
            </a:xfrm>
          </p:grpSpPr>
          <p:sp>
            <p:nvSpPr>
              <p:cNvPr id="12" name="Freeform 14">
                <a:extLst>
                  <a:ext uri="{FF2B5EF4-FFF2-40B4-BE49-F238E27FC236}">
                    <a16:creationId xmlns:a16="http://schemas.microsoft.com/office/drawing/2014/main" id="{D8071FBF-26D8-42F3-80DA-5D77EBA331A4}"/>
                  </a:ext>
                </a:extLst>
              </p:cNvPr>
              <p:cNvSpPr/>
              <p:nvPr/>
            </p:nvSpPr>
            <p:spPr>
              <a:xfrm>
                <a:off x="1587721" y="2573681"/>
                <a:ext cx="2027841" cy="1989098"/>
              </a:xfrm>
              <a:custGeom>
                <a:avLst/>
                <a:gdLst>
                  <a:gd name="connsiteX0" fmla="*/ 0 w 2190980"/>
                  <a:gd name="connsiteY0" fmla="*/ 1095374 h 2190747"/>
                  <a:gd name="connsiteX1" fmla="*/ 1095490 w 2190980"/>
                  <a:gd name="connsiteY1" fmla="*/ 0 h 2190747"/>
                  <a:gd name="connsiteX2" fmla="*/ 2190980 w 2190980"/>
                  <a:gd name="connsiteY2" fmla="*/ 1095374 h 2190747"/>
                  <a:gd name="connsiteX3" fmla="*/ 1095490 w 2190980"/>
                  <a:gd name="connsiteY3" fmla="*/ 2190748 h 2190747"/>
                  <a:gd name="connsiteX4" fmla="*/ 0 w 2190980"/>
                  <a:gd name="connsiteY4" fmla="*/ 1095374 h 2190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980" h="2190747">
                    <a:moveTo>
                      <a:pt x="0" y="1095374"/>
                    </a:moveTo>
                    <a:cubicBezTo>
                      <a:pt x="0" y="490416"/>
                      <a:pt x="490468" y="0"/>
                      <a:pt x="1095490" y="0"/>
                    </a:cubicBezTo>
                    <a:cubicBezTo>
                      <a:pt x="1700512" y="0"/>
                      <a:pt x="2190980" y="490416"/>
                      <a:pt x="2190980" y="1095374"/>
                    </a:cubicBezTo>
                    <a:cubicBezTo>
                      <a:pt x="2190980" y="1700332"/>
                      <a:pt x="1700512" y="2190748"/>
                      <a:pt x="1095490" y="2190748"/>
                    </a:cubicBezTo>
                    <a:cubicBezTo>
                      <a:pt x="490468" y="2190748"/>
                      <a:pt x="0" y="1700332"/>
                      <a:pt x="0" y="1095374"/>
                    </a:cubicBezTo>
                    <a:close/>
                  </a:path>
                </a:pathLst>
              </a:custGeom>
              <a:ln>
                <a:solidFill>
                  <a:schemeClr val="accent4">
                    <a:lumMod val="5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38616" tIns="338423" rIns="338615" bIns="338423" numCol="1" spcCol="1270" anchor="ctr" anchorCtr="0">
                <a:noAutofit/>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1200" cap="none" spc="0" normalizeH="0" baseline="0" noProof="0">
                    <a:ln>
                      <a:noFill/>
                    </a:ln>
                    <a:solidFill>
                      <a:srgbClr val="000000">
                        <a:hueOff val="0"/>
                        <a:satOff val="0"/>
                        <a:lumOff val="0"/>
                        <a:alphaOff val="0"/>
                      </a:srgbClr>
                    </a:solidFill>
                    <a:effectLst/>
                    <a:uLnTx/>
                    <a:uFillTx/>
                    <a:latin typeface="Arial" charset="0"/>
                    <a:ea typeface="ＭＳ Ｐゴシック" charset="0"/>
                    <a:cs typeface="+mn-cs"/>
                  </a:rPr>
                  <a:t>Simplification of Revenue Lines</a:t>
                </a:r>
              </a:p>
            </p:txBody>
          </p:sp>
          <p:sp>
            <p:nvSpPr>
              <p:cNvPr id="13" name="Rectangular Callout 6">
                <a:extLst>
                  <a:ext uri="{FF2B5EF4-FFF2-40B4-BE49-F238E27FC236}">
                    <a16:creationId xmlns:a16="http://schemas.microsoft.com/office/drawing/2014/main" id="{E8E391E2-D210-4842-8F97-FA65606C5BE6}"/>
                  </a:ext>
                </a:extLst>
              </p:cNvPr>
              <p:cNvSpPr/>
              <p:nvPr/>
            </p:nvSpPr>
            <p:spPr bwMode="auto">
              <a:xfrm>
                <a:off x="4386404" y="2920335"/>
                <a:ext cx="6143221" cy="1295417"/>
              </a:xfrm>
              <a:prstGeom prst="wedgeRectCallout">
                <a:avLst>
                  <a:gd name="adj1" fmla="val -58434"/>
                  <a:gd name="adj2" fmla="val -4251"/>
                </a:avLst>
              </a:prstGeom>
              <a:ln/>
            </p:spPr>
            <p:style>
              <a:lnRef idx="2">
                <a:schemeClr val="accent4"/>
              </a:lnRef>
              <a:fillRef idx="1">
                <a:schemeClr val="lt1"/>
              </a:fillRef>
              <a:effectRef idx="0">
                <a:schemeClr val="accent4"/>
              </a:effectRef>
              <a:fontRef idx="minor">
                <a:schemeClr val="dk1"/>
              </a:fontRef>
            </p:style>
            <p:txBody>
              <a:bodyPr vert="horz" wrap="square" lIns="36000" tIns="36000" rIns="0" bIns="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Through </a:t>
                </a: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removal of Product Type, Revenue Accounts can be reduced significantly</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 Product type will instead be available through leveraging on information already embedded in to the transactional processes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GB" sz="20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grpSp>
      </p:grpSp>
    </p:spTree>
    <p:extLst>
      <p:ext uri="{BB962C8B-B14F-4D97-AF65-F5344CB8AC3E}">
        <p14:creationId xmlns:p14="http://schemas.microsoft.com/office/powerpoint/2010/main" val="3167963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Simplified Revenue Accounts</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21D69A5C-ED77-478C-A8E3-BD8BC1AF7D22}"/>
              </a:ext>
            </a:extLst>
          </p:cNvPr>
          <p:cNvGrpSpPr/>
          <p:nvPr/>
        </p:nvGrpSpPr>
        <p:grpSpPr>
          <a:xfrm>
            <a:off x="1298713" y="1807470"/>
            <a:ext cx="9594574" cy="4377471"/>
            <a:chOff x="941235" y="1883134"/>
            <a:chExt cx="9594574" cy="4377471"/>
          </a:xfrm>
        </p:grpSpPr>
        <p:sp>
          <p:nvSpPr>
            <p:cNvPr id="7" name="Rectangle: Rounded Corners 6">
              <a:extLst>
                <a:ext uri="{FF2B5EF4-FFF2-40B4-BE49-F238E27FC236}">
                  <a16:creationId xmlns:a16="http://schemas.microsoft.com/office/drawing/2014/main" id="{08E2EC35-1439-4F82-8DBF-64A448BA91F1}"/>
                </a:ext>
              </a:extLst>
            </p:cNvPr>
            <p:cNvSpPr/>
            <p:nvPr/>
          </p:nvSpPr>
          <p:spPr>
            <a:xfrm>
              <a:off x="941235" y="2479481"/>
              <a:ext cx="4505742" cy="3485322"/>
            </a:xfrm>
            <a:prstGeom prst="roundRect">
              <a:avLst/>
            </a:prstGeom>
            <a:solidFill>
              <a:srgbClr val="D4F3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1" indent="-171450" algn="l" defTabSz="711200" rtl="0" eaLnBrk="1" fontAlgn="base" latinLnBrk="0" hangingPunct="1">
                <a:lnSpc>
                  <a:spcPct val="90000"/>
                </a:lnSpc>
                <a:spcBef>
                  <a:spcPct val="0"/>
                </a:spcBef>
                <a:spcAft>
                  <a:spcPct val="15000"/>
                </a:spcAft>
                <a:buClrTx/>
                <a:buSzTx/>
                <a:buFontTx/>
                <a:buChar char="•"/>
                <a:tabLst/>
                <a:defRPr/>
              </a:pP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GL accounts</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in Sales Area are currently duplicated by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product type</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a:t>
              </a:r>
            </a:p>
            <a:p>
              <a:pPr marL="171450" marR="0" lvl="1" indent="-171450" algn="l" defTabSz="711200" rtl="0" eaLnBrk="1" fontAlgn="base" latinLnBrk="0" hangingPunct="1">
                <a:lnSpc>
                  <a:spcPct val="90000"/>
                </a:lnSpc>
                <a:spcBef>
                  <a:spcPct val="0"/>
                </a:spcBef>
                <a:spcAft>
                  <a:spcPct val="15000"/>
                </a:spcAft>
                <a:buClrTx/>
                <a:buSzTx/>
                <a:buFontTx/>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This allows BW to pick up easy volume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conversion metrics by product type </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and transform KG to table from </a:t>
              </a:r>
              <a:r>
                <a:rPr kumimoji="0" lang="en-US"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KG to KU for RYO/ MYO product types </a:t>
              </a:r>
              <a:r>
                <a:rPr kumimoji="0" lang="en-US"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in BW</a:t>
              </a:r>
              <a:r>
                <a:rPr kumimoji="0" lang="en-US"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a:t>
              </a:r>
              <a:endPar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endParaRPr>
            </a:p>
            <a:p>
              <a:pPr marL="171450" marR="0" lvl="1" indent="-171450" algn="l" defTabSz="711200" rtl="0" eaLnBrk="1" fontAlgn="base" latinLnBrk="0" hangingPunct="1">
                <a:lnSpc>
                  <a:spcPct val="90000"/>
                </a:lnSpc>
                <a:spcBef>
                  <a:spcPct val="0"/>
                </a:spcBef>
                <a:spcAft>
                  <a:spcPct val="15000"/>
                </a:spcAft>
                <a:buClrTx/>
                <a:buSzTx/>
                <a:buFontTx/>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For SD postings this means that the correct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account determination</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is key to ensure postings flow into the correct JTIO. </a:t>
              </a:r>
            </a:p>
            <a:p>
              <a:pPr marL="171450" marR="0" lvl="1" indent="-171450" algn="l" defTabSz="711200" rtl="0" eaLnBrk="1" fontAlgn="base" latinLnBrk="0" hangingPunct="1">
                <a:lnSpc>
                  <a:spcPct val="90000"/>
                </a:lnSpc>
                <a:spcBef>
                  <a:spcPct val="0"/>
                </a:spcBef>
                <a:spcAft>
                  <a:spcPct val="15000"/>
                </a:spcAft>
                <a:buClrTx/>
                <a:buSzTx/>
                <a:buFontTx/>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This solution is not flexible to capture easily changes in the product types structure </a:t>
              </a:r>
            </a:p>
          </p:txBody>
        </p:sp>
        <p:sp>
          <p:nvSpPr>
            <p:cNvPr id="8" name="Rectangle: Rounded Corners 7">
              <a:extLst>
                <a:ext uri="{FF2B5EF4-FFF2-40B4-BE49-F238E27FC236}">
                  <a16:creationId xmlns:a16="http://schemas.microsoft.com/office/drawing/2014/main" id="{3B0A407C-2473-4BC1-AA71-300C2743CF9D}"/>
                </a:ext>
              </a:extLst>
            </p:cNvPr>
            <p:cNvSpPr/>
            <p:nvPr/>
          </p:nvSpPr>
          <p:spPr>
            <a:xfrm>
              <a:off x="5625880" y="2479481"/>
              <a:ext cx="4909929" cy="3485322"/>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New </a:t>
              </a:r>
              <a:r>
                <a:rPr kumimoji="0" lang="fr-CH"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structure </a:t>
              </a:r>
              <a:r>
                <a:rPr kumimoji="0" lang="fr-CH" sz="16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is</a:t>
              </a:r>
              <a:r>
                <a:rPr kumimoji="0" lang="fr-CH"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a:t>
              </a:r>
              <a:r>
                <a:rPr kumimoji="0" lang="fr-CH" sz="16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simplified</a:t>
              </a:r>
              <a:r>
                <a:rPr kumimoji="0" lang="fr-CH"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to </a:t>
              </a:r>
              <a:r>
                <a:rPr kumimoji="0" lang="fr-CH" sz="16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exclude</a:t>
              </a:r>
              <a:r>
                <a:rPr kumimoji="0" lang="fr-CH"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a:t>
              </a:r>
              <a:r>
                <a:rPr kumimoji="0" lang="fr-CH" sz="16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product</a:t>
              </a:r>
              <a:r>
                <a:rPr kumimoji="0" lang="fr-CH"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type* and </a:t>
              </a:r>
              <a:r>
                <a:rPr kumimoji="0" lang="fr-CH" sz="16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allows</a:t>
              </a:r>
              <a:r>
                <a:rPr kumimoji="0" lang="fr-CH"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a m</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ore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flexible set up for future portfolio expansions</a:t>
              </a:r>
              <a:endParaRPr kumimoji="0" lang="fr-CH"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endParaRPr>
            </a:p>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fr-CH"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Volume conversion </a:t>
              </a:r>
              <a:r>
                <a:rPr kumimoji="0" lang="fr-CH" sz="1600" b="1"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embedded</a:t>
              </a:r>
              <a:r>
                <a:rPr kumimoji="0" lang="fr-CH"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 in S</a:t>
              </a:r>
              <a:r>
                <a:rPr kumimoji="0" lang="en-US"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/4* </a:t>
              </a:r>
              <a:r>
                <a:rPr kumimoji="0" lang="en-US"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which will allow GPM/BW reports to provide </a:t>
              </a:r>
              <a:r>
                <a:rPr kumimoji="0" lang="en-US"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product type </a:t>
              </a:r>
              <a:r>
                <a:rPr kumimoji="0" lang="en-US"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information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leveraging</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on source </a:t>
              </a:r>
              <a:r>
                <a:rPr kumimoji="0" lang="en-GB" sz="16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SKU Master Data </a:t>
              </a: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(for SD flows)</a:t>
              </a:r>
            </a:p>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Separate accounts created for SD and manual accounts </a:t>
              </a:r>
            </a:p>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Simplification should help reduce a number of manual correction journals</a:t>
              </a:r>
            </a:p>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Stat/Tax accounts to be activated for selected Entities</a:t>
              </a:r>
              <a:endParaRPr kumimoji="0" lang="en-US" sz="1600" b="0" i="0" u="none" strike="noStrike" kern="1200" cap="none" spc="0" normalizeH="0" baseline="0" noProof="0">
                <a:ln>
                  <a:noFill/>
                </a:ln>
                <a:solidFill>
                  <a:srgbClr val="5F5F5F">
                    <a:lumMod val="50000"/>
                  </a:srgbClr>
                </a:solidFill>
                <a:effectLst/>
                <a:uLnTx/>
                <a:uFillTx/>
                <a:latin typeface="Arial" panose="020B0604020202020204"/>
                <a:ea typeface="+mn-ea"/>
                <a:cs typeface="+mn-cs"/>
              </a:endParaRPr>
            </a:p>
          </p:txBody>
        </p:sp>
        <p:sp>
          <p:nvSpPr>
            <p:cNvPr id="9" name="Oval 8">
              <a:extLst>
                <a:ext uri="{FF2B5EF4-FFF2-40B4-BE49-F238E27FC236}">
                  <a16:creationId xmlns:a16="http://schemas.microsoft.com/office/drawing/2014/main" id="{481EBE0E-3474-4568-9213-00D1FAE4042D}"/>
                </a:ext>
              </a:extLst>
            </p:cNvPr>
            <p:cNvSpPr/>
            <p:nvPr/>
          </p:nvSpPr>
          <p:spPr>
            <a:xfrm>
              <a:off x="2799856" y="2240943"/>
              <a:ext cx="503583" cy="417443"/>
            </a:xfrm>
            <a:prstGeom prst="ellipse">
              <a:avLst/>
            </a:prstGeom>
            <a:solidFill>
              <a:srgbClr val="8CBCB6"/>
            </a:solidFill>
            <a:ln w="28575">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774217ED-9A74-4A67-869D-94F7D2E4B88F}"/>
                </a:ext>
              </a:extLst>
            </p:cNvPr>
            <p:cNvSpPr/>
            <p:nvPr/>
          </p:nvSpPr>
          <p:spPr>
            <a:xfrm>
              <a:off x="967740" y="1883134"/>
              <a:ext cx="4505742" cy="536713"/>
            </a:xfrm>
            <a:prstGeom prst="roundRect">
              <a:avLst/>
            </a:prstGeom>
            <a:solidFill>
              <a:srgbClr val="8CB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panose="020B0604020202020204"/>
                  <a:ea typeface="+mn-ea"/>
                  <a:cs typeface="+mn-cs"/>
                </a:rPr>
                <a:t>Current JTIO Set-Up</a:t>
              </a:r>
            </a:p>
          </p:txBody>
        </p:sp>
        <p:sp>
          <p:nvSpPr>
            <p:cNvPr id="11" name="Oval 10">
              <a:extLst>
                <a:ext uri="{FF2B5EF4-FFF2-40B4-BE49-F238E27FC236}">
                  <a16:creationId xmlns:a16="http://schemas.microsoft.com/office/drawing/2014/main" id="{F69A1469-3F02-4889-BBCC-34AA88927332}"/>
                </a:ext>
              </a:extLst>
            </p:cNvPr>
            <p:cNvSpPr/>
            <p:nvPr/>
          </p:nvSpPr>
          <p:spPr>
            <a:xfrm>
              <a:off x="7795923" y="2240943"/>
              <a:ext cx="503583" cy="417443"/>
            </a:xfrm>
            <a:prstGeom prst="ellipse">
              <a:avLst/>
            </a:prstGeom>
            <a:solidFill>
              <a:srgbClr val="8CBCB6"/>
            </a:solidFill>
            <a:ln w="28575">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9FB311B6-8793-4331-9BCD-4F293F1EE0A6}"/>
                </a:ext>
              </a:extLst>
            </p:cNvPr>
            <p:cNvSpPr/>
            <p:nvPr/>
          </p:nvSpPr>
          <p:spPr>
            <a:xfrm>
              <a:off x="5625880" y="1883134"/>
              <a:ext cx="4843669" cy="536713"/>
            </a:xfrm>
            <a:prstGeom prst="roundRect">
              <a:avLst/>
            </a:prstGeom>
            <a:solidFill>
              <a:srgbClr val="8CB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panose="020B0604020202020204"/>
                  <a:ea typeface="+mn-ea"/>
                  <a:cs typeface="+mn-cs"/>
                </a:rPr>
                <a:t>New Set-Up</a:t>
              </a:r>
            </a:p>
          </p:txBody>
        </p:sp>
        <p:sp>
          <p:nvSpPr>
            <p:cNvPr id="13" name="Rectangle 12">
              <a:extLst>
                <a:ext uri="{FF2B5EF4-FFF2-40B4-BE49-F238E27FC236}">
                  <a16:creationId xmlns:a16="http://schemas.microsoft.com/office/drawing/2014/main" id="{358A9DCC-DE21-4541-B25B-C05E8650A137}"/>
                </a:ext>
              </a:extLst>
            </p:cNvPr>
            <p:cNvSpPr/>
            <p:nvPr/>
          </p:nvSpPr>
          <p:spPr>
            <a:xfrm>
              <a:off x="5749124" y="6060550"/>
              <a:ext cx="4663440" cy="200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70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*volume conversion functionality in S4 works only for PL JTIO. The activation of this functionality for BS JTIO in S4 is under investigation </a:t>
              </a:r>
            </a:p>
          </p:txBody>
        </p:sp>
      </p:grpSp>
      <p:pic>
        <p:nvPicPr>
          <p:cNvPr id="14" name="Picture 13">
            <a:extLst>
              <a:ext uri="{FF2B5EF4-FFF2-40B4-BE49-F238E27FC236}">
                <a16:creationId xmlns:a16="http://schemas.microsoft.com/office/drawing/2014/main" id="{006CFDA5-A669-4800-9F3D-DC5C2C2894F9}"/>
              </a:ext>
            </a:extLst>
          </p:cNvPr>
          <p:cNvPicPr>
            <a:picLocks noChangeAspect="1"/>
          </p:cNvPicPr>
          <p:nvPr/>
        </p:nvPicPr>
        <p:blipFill>
          <a:blip r:embed="rId2"/>
          <a:stretch>
            <a:fillRect/>
          </a:stretch>
        </p:blipFill>
        <p:spPr>
          <a:xfrm>
            <a:off x="8607809" y="360948"/>
            <a:ext cx="1140253" cy="946223"/>
          </a:xfrm>
          <a:prstGeom prst="rect">
            <a:avLst/>
          </a:prstGeom>
        </p:spPr>
      </p:pic>
    </p:spTree>
    <p:extLst>
      <p:ext uri="{BB962C8B-B14F-4D97-AF65-F5344CB8AC3E}">
        <p14:creationId xmlns:p14="http://schemas.microsoft.com/office/powerpoint/2010/main" val="2034041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Example of Changes</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2" name="Group 41">
            <a:extLst>
              <a:ext uri="{FF2B5EF4-FFF2-40B4-BE49-F238E27FC236}">
                <a16:creationId xmlns:a16="http://schemas.microsoft.com/office/drawing/2014/main" id="{B7EB1014-4CA0-4C31-8EF0-C6E370A0573D}"/>
              </a:ext>
            </a:extLst>
          </p:cNvPr>
          <p:cNvGrpSpPr/>
          <p:nvPr/>
        </p:nvGrpSpPr>
        <p:grpSpPr>
          <a:xfrm>
            <a:off x="981830" y="1974574"/>
            <a:ext cx="9957839" cy="4081669"/>
            <a:chOff x="981830" y="1974574"/>
            <a:chExt cx="9957839" cy="4081669"/>
          </a:xfrm>
        </p:grpSpPr>
        <p:grpSp>
          <p:nvGrpSpPr>
            <p:cNvPr id="43" name="Group 42">
              <a:extLst>
                <a:ext uri="{FF2B5EF4-FFF2-40B4-BE49-F238E27FC236}">
                  <a16:creationId xmlns:a16="http://schemas.microsoft.com/office/drawing/2014/main" id="{798CD4B1-8728-48A2-89D0-2C16F8DFCD86}"/>
                </a:ext>
              </a:extLst>
            </p:cNvPr>
            <p:cNvGrpSpPr/>
            <p:nvPr/>
          </p:nvGrpSpPr>
          <p:grpSpPr>
            <a:xfrm>
              <a:off x="981830" y="1974574"/>
              <a:ext cx="9957839" cy="4081669"/>
              <a:chOff x="981830" y="1974574"/>
              <a:chExt cx="9957839" cy="4081669"/>
            </a:xfrm>
          </p:grpSpPr>
          <p:grpSp>
            <p:nvGrpSpPr>
              <p:cNvPr id="46" name="Group 45">
                <a:extLst>
                  <a:ext uri="{FF2B5EF4-FFF2-40B4-BE49-F238E27FC236}">
                    <a16:creationId xmlns:a16="http://schemas.microsoft.com/office/drawing/2014/main" id="{3602DB37-3345-47D5-A93B-E4ED7A5A3612}"/>
                  </a:ext>
                </a:extLst>
              </p:cNvPr>
              <p:cNvGrpSpPr/>
              <p:nvPr/>
            </p:nvGrpSpPr>
            <p:grpSpPr>
              <a:xfrm>
                <a:off x="981830" y="1974574"/>
                <a:ext cx="9957839" cy="4081669"/>
                <a:chOff x="981830" y="1974574"/>
                <a:chExt cx="9957839" cy="4081669"/>
              </a:xfrm>
            </p:grpSpPr>
            <p:sp>
              <p:nvSpPr>
                <p:cNvPr id="49" name="Rectangle: Rounded Corners 48">
                  <a:extLst>
                    <a:ext uri="{FF2B5EF4-FFF2-40B4-BE49-F238E27FC236}">
                      <a16:creationId xmlns:a16="http://schemas.microsoft.com/office/drawing/2014/main" id="{A68B8C3E-5295-498D-BBA0-8FBBB6D73407}"/>
                    </a:ext>
                  </a:extLst>
                </p:cNvPr>
                <p:cNvSpPr/>
                <p:nvPr/>
              </p:nvSpPr>
              <p:spPr>
                <a:xfrm>
                  <a:off x="981830" y="2570921"/>
                  <a:ext cx="4843669" cy="3485322"/>
                </a:xfrm>
                <a:prstGeom prst="roundRect">
                  <a:avLst/>
                </a:prstGeom>
                <a:solidFill>
                  <a:srgbClr val="88D5B8">
                    <a:lumMod val="20000"/>
                    <a:lumOff val="80000"/>
                  </a:srgbClr>
                </a:solidFill>
                <a:ln w="12700" cap="flat" cmpd="sng" algn="ctr">
                  <a:noFill/>
                  <a:prstDash val="solid"/>
                  <a:miter lim="800000"/>
                </a:ln>
                <a:effectLst/>
              </p:spPr>
              <p:txBody>
                <a:bodyPr rtlCol="0" anchor="t"/>
                <a:lstStyle/>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endParaRPr kumimoji="0" lang="en-US" sz="1600" b="0" i="0" u="none" strike="noStrike" kern="0" cap="none" spc="0" normalizeH="0" baseline="0" noProof="0">
                    <a:ln>
                      <a:noFill/>
                    </a:ln>
                    <a:solidFill>
                      <a:srgbClr val="5F5F5F">
                        <a:lumMod val="50000"/>
                      </a:srgbClr>
                    </a:solidFill>
                    <a:effectLst/>
                    <a:uLnTx/>
                    <a:uFillTx/>
                    <a:latin typeface="Arial" panose="020B0604020202020204"/>
                    <a:ea typeface="+mn-ea"/>
                    <a:cs typeface="+mn-cs"/>
                  </a:endParaRPr>
                </a:p>
              </p:txBody>
            </p:sp>
            <p:sp>
              <p:nvSpPr>
                <p:cNvPr id="50" name="Rectangle: Rounded Corners 49">
                  <a:extLst>
                    <a:ext uri="{FF2B5EF4-FFF2-40B4-BE49-F238E27FC236}">
                      <a16:creationId xmlns:a16="http://schemas.microsoft.com/office/drawing/2014/main" id="{B76BA59A-40F7-4EAC-80C4-4694BAA56A99}"/>
                    </a:ext>
                  </a:extLst>
                </p:cNvPr>
                <p:cNvSpPr/>
                <p:nvPr/>
              </p:nvSpPr>
              <p:spPr>
                <a:xfrm>
                  <a:off x="6029740" y="2570921"/>
                  <a:ext cx="4909929" cy="3485322"/>
                </a:xfrm>
                <a:prstGeom prst="roundRect">
                  <a:avLst/>
                </a:prstGeom>
                <a:solidFill>
                  <a:srgbClr val="B0D838">
                    <a:lumMod val="20000"/>
                    <a:lumOff val="80000"/>
                  </a:srgbClr>
                </a:solidFill>
                <a:ln w="12700" cap="flat" cmpd="sng" algn="ctr">
                  <a:noFill/>
                  <a:prstDash val="solid"/>
                  <a:miter lim="800000"/>
                </a:ln>
                <a:effectLst/>
              </p:spPr>
              <p:txBody>
                <a:bodyPr rtlCol="0" anchor="t"/>
                <a:lstStyle/>
                <a:p>
                  <a:pPr marL="285750" marR="0" lvl="0" indent="-285750" algn="l" defTabSz="711200" rtl="0" eaLnBrk="1" fontAlgn="base" latinLnBrk="0" hangingPunct="1">
                    <a:lnSpc>
                      <a:spcPct val="90000"/>
                    </a:lnSpc>
                    <a:spcBef>
                      <a:spcPct val="0"/>
                    </a:spcBef>
                    <a:spcAft>
                      <a:spcPct val="35000"/>
                    </a:spcAft>
                    <a:buClrTx/>
                    <a:buSzTx/>
                    <a:buFont typeface="Arial" panose="020B0604020202020204" pitchFamily="34" charset="0"/>
                    <a:buChar char="•"/>
                    <a:tabLst/>
                    <a:defRPr/>
                  </a:pPr>
                  <a:endParaRPr kumimoji="0" lang="en-US" sz="1600" b="0" i="0" u="none" strike="noStrike" kern="0" cap="none" spc="0" normalizeH="0" baseline="0" noProof="0">
                    <a:ln>
                      <a:noFill/>
                    </a:ln>
                    <a:solidFill>
                      <a:srgbClr val="5F5F5F">
                        <a:lumMod val="50000"/>
                      </a:srgbClr>
                    </a:solidFill>
                    <a:effectLst/>
                    <a:uLnTx/>
                    <a:uFillTx/>
                    <a:latin typeface="Arial" panose="020B0604020202020204"/>
                    <a:ea typeface="+mn-ea"/>
                    <a:cs typeface="+mn-cs"/>
                  </a:endParaRPr>
                </a:p>
              </p:txBody>
            </p:sp>
            <p:sp>
              <p:nvSpPr>
                <p:cNvPr id="51" name="Rectangle: Rounded Corners 50">
                  <a:extLst>
                    <a:ext uri="{FF2B5EF4-FFF2-40B4-BE49-F238E27FC236}">
                      <a16:creationId xmlns:a16="http://schemas.microsoft.com/office/drawing/2014/main" id="{0724A521-922E-498B-8C19-CFE7FB4C5122}"/>
                    </a:ext>
                  </a:extLst>
                </p:cNvPr>
                <p:cNvSpPr/>
                <p:nvPr/>
              </p:nvSpPr>
              <p:spPr>
                <a:xfrm>
                  <a:off x="1033673" y="1974574"/>
                  <a:ext cx="4696567" cy="536713"/>
                </a:xfrm>
                <a:prstGeom prst="roundRect">
                  <a:avLst/>
                </a:prstGeom>
                <a:solidFill>
                  <a:srgbClr val="8CBCB6"/>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Arial" panose="020B0604020202020204"/>
                      <a:ea typeface="+mn-ea"/>
                      <a:cs typeface="+mn-cs"/>
                    </a:rPr>
                    <a:t>Current JTIO Set-Up</a:t>
                  </a:r>
                </a:p>
              </p:txBody>
            </p:sp>
            <p:sp>
              <p:nvSpPr>
                <p:cNvPr id="52" name="Rectangle: Rounded Corners 51">
                  <a:extLst>
                    <a:ext uri="{FF2B5EF4-FFF2-40B4-BE49-F238E27FC236}">
                      <a16:creationId xmlns:a16="http://schemas.microsoft.com/office/drawing/2014/main" id="{CCB8A0DC-4237-4207-B2A3-51AB169F536C}"/>
                    </a:ext>
                  </a:extLst>
                </p:cNvPr>
                <p:cNvSpPr/>
                <p:nvPr/>
              </p:nvSpPr>
              <p:spPr>
                <a:xfrm>
                  <a:off x="6029740" y="1974574"/>
                  <a:ext cx="4843669" cy="536713"/>
                </a:xfrm>
                <a:prstGeom prst="roundRect">
                  <a:avLst/>
                </a:prstGeom>
                <a:solidFill>
                  <a:srgbClr val="8CBCB6"/>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Arial" panose="020B0604020202020204"/>
                      <a:ea typeface="+mn-ea"/>
                      <a:cs typeface="+mn-cs"/>
                    </a:rPr>
                    <a:t>New Set-Up</a:t>
                  </a:r>
                </a:p>
              </p:txBody>
            </p:sp>
            <p:sp>
              <p:nvSpPr>
                <p:cNvPr id="53" name="Rectangle: Rounded Corners 52">
                  <a:extLst>
                    <a:ext uri="{FF2B5EF4-FFF2-40B4-BE49-F238E27FC236}">
                      <a16:creationId xmlns:a16="http://schemas.microsoft.com/office/drawing/2014/main" id="{770CF0B8-B13C-48F0-A8CF-83D2FAAFCD47}"/>
                    </a:ext>
                  </a:extLst>
                </p:cNvPr>
                <p:cNvSpPr/>
                <p:nvPr/>
              </p:nvSpPr>
              <p:spPr>
                <a:xfrm>
                  <a:off x="1516380" y="2811136"/>
                  <a:ext cx="3922880" cy="403754"/>
                </a:xfrm>
                <a:prstGeom prst="roundRect">
                  <a:avLst/>
                </a:prstGeom>
                <a:solidFill>
                  <a:srgbClr val="407EC9">
                    <a:lumMod val="40000"/>
                    <a:lumOff val="60000"/>
                  </a:srgb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mn-cs"/>
                    </a:rPr>
                    <a:t>JTIO </a:t>
                  </a:r>
                </a:p>
              </p:txBody>
            </p:sp>
          </p:grpSp>
          <p:sp>
            <p:nvSpPr>
              <p:cNvPr id="47" name="Rectangle: Rounded Corners 46">
                <a:extLst>
                  <a:ext uri="{FF2B5EF4-FFF2-40B4-BE49-F238E27FC236}">
                    <a16:creationId xmlns:a16="http://schemas.microsoft.com/office/drawing/2014/main" id="{FB0243F7-E55B-4BA1-BB56-F8DBC222CE76}"/>
                  </a:ext>
                </a:extLst>
              </p:cNvPr>
              <p:cNvSpPr/>
              <p:nvPr/>
            </p:nvSpPr>
            <p:spPr>
              <a:xfrm>
                <a:off x="8451573" y="2824397"/>
                <a:ext cx="2102127" cy="403754"/>
              </a:xfrm>
              <a:prstGeom prst="roundRect">
                <a:avLst/>
              </a:prstGeom>
              <a:solidFill>
                <a:srgbClr val="78C2B0"/>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mn-cs"/>
                  </a:rPr>
                  <a:t>Dimension in Reporting</a:t>
                </a:r>
              </a:p>
            </p:txBody>
          </p:sp>
          <p:sp>
            <p:nvSpPr>
              <p:cNvPr id="48" name="Rectangle: Rounded Corners 47">
                <a:extLst>
                  <a:ext uri="{FF2B5EF4-FFF2-40B4-BE49-F238E27FC236}">
                    <a16:creationId xmlns:a16="http://schemas.microsoft.com/office/drawing/2014/main" id="{9D62B405-78CD-4B90-96CD-63EC96C57E40}"/>
                  </a:ext>
                </a:extLst>
              </p:cNvPr>
              <p:cNvSpPr/>
              <p:nvPr/>
            </p:nvSpPr>
            <p:spPr>
              <a:xfrm>
                <a:off x="6438127" y="2823341"/>
                <a:ext cx="1768283" cy="403754"/>
              </a:xfrm>
              <a:prstGeom prst="roundRect">
                <a:avLst/>
              </a:prstGeom>
              <a:solidFill>
                <a:srgbClr val="407EC9">
                  <a:lumMod val="40000"/>
                  <a:lumOff val="60000"/>
                </a:srgb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mn-cs"/>
                  </a:rPr>
                  <a:t>JTIO </a:t>
                </a:r>
              </a:p>
            </p:txBody>
          </p:sp>
        </p:grpSp>
        <p:sp>
          <p:nvSpPr>
            <p:cNvPr id="44" name="Oval 43">
              <a:extLst>
                <a:ext uri="{FF2B5EF4-FFF2-40B4-BE49-F238E27FC236}">
                  <a16:creationId xmlns:a16="http://schemas.microsoft.com/office/drawing/2014/main" id="{A36BC95F-52E5-45F6-91F9-0644918447B6}"/>
                </a:ext>
              </a:extLst>
            </p:cNvPr>
            <p:cNvSpPr/>
            <p:nvPr/>
          </p:nvSpPr>
          <p:spPr>
            <a:xfrm>
              <a:off x="3203716" y="2332383"/>
              <a:ext cx="503583" cy="417443"/>
            </a:xfrm>
            <a:prstGeom prst="ellipse">
              <a:avLst/>
            </a:prstGeom>
            <a:solidFill>
              <a:srgbClr val="8CBCB6"/>
            </a:solidFill>
            <a:ln w="28575" cap="flat" cmpd="sng" algn="ctr">
              <a:solidFill>
                <a:srgbClr val="FFFFFF"/>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5" name="Oval 44">
              <a:extLst>
                <a:ext uri="{FF2B5EF4-FFF2-40B4-BE49-F238E27FC236}">
                  <a16:creationId xmlns:a16="http://schemas.microsoft.com/office/drawing/2014/main" id="{1487A469-CC01-484C-9FA3-0D3D973E0386}"/>
                </a:ext>
              </a:extLst>
            </p:cNvPr>
            <p:cNvSpPr/>
            <p:nvPr/>
          </p:nvSpPr>
          <p:spPr>
            <a:xfrm>
              <a:off x="8199783" y="2332383"/>
              <a:ext cx="503583" cy="417443"/>
            </a:xfrm>
            <a:prstGeom prst="ellipse">
              <a:avLst/>
            </a:prstGeom>
            <a:solidFill>
              <a:srgbClr val="8CBCB6"/>
            </a:solidFill>
            <a:ln w="28575" cap="flat" cmpd="sng" algn="ctr">
              <a:solidFill>
                <a:srgbClr val="FFFFFF"/>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graphicFrame>
        <p:nvGraphicFramePr>
          <p:cNvPr id="54" name="Table 53">
            <a:extLst>
              <a:ext uri="{FF2B5EF4-FFF2-40B4-BE49-F238E27FC236}">
                <a16:creationId xmlns:a16="http://schemas.microsoft.com/office/drawing/2014/main" id="{5AB1EE67-504E-43C8-B844-F3320510E106}"/>
              </a:ext>
            </a:extLst>
          </p:cNvPr>
          <p:cNvGraphicFramePr>
            <a:graphicFrameLocks noGrp="1"/>
          </p:cNvGraphicFramePr>
          <p:nvPr/>
        </p:nvGraphicFramePr>
        <p:xfrm>
          <a:off x="1516380" y="3274524"/>
          <a:ext cx="3922880" cy="2219960"/>
        </p:xfrm>
        <a:graphic>
          <a:graphicData uri="http://schemas.openxmlformats.org/drawingml/2006/table">
            <a:tbl>
              <a:tblPr firstRow="1" bandRow="1">
                <a:tableStyleId>{68D230F3-CF80-4859-8CE7-A43EE81993B5}</a:tableStyleId>
              </a:tblPr>
              <a:tblGrid>
                <a:gridCol w="3922880">
                  <a:extLst>
                    <a:ext uri="{9D8B030D-6E8A-4147-A177-3AD203B41FA5}">
                      <a16:colId xmlns:a16="http://schemas.microsoft.com/office/drawing/2014/main" val="1591778190"/>
                    </a:ext>
                  </a:extLst>
                </a:gridCol>
              </a:tblGrid>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JTIOs for each Product Type</a:t>
                      </a:r>
                      <a:endParaRPr lang="en-US" sz="1800">
                        <a:solidFill>
                          <a:schemeClr val="tx1"/>
                        </a:solidFill>
                        <a:effectLst/>
                      </a:endParaRPr>
                    </a:p>
                  </a:txBody>
                  <a:tcPr/>
                </a:tc>
                <a:extLst>
                  <a:ext uri="{0D108BD9-81ED-4DB2-BD59-A6C34878D82A}">
                    <a16:rowId xmlns:a16="http://schemas.microsoft.com/office/drawing/2014/main" val="1025456243"/>
                  </a:ext>
                </a:extLst>
              </a:tr>
              <a:tr h="194861">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Sales to 3</a:t>
                      </a:r>
                      <a:r>
                        <a:rPr lang="en-US" sz="1800" baseline="30000">
                          <a:effectLst/>
                        </a:rPr>
                        <a:t>rd</a:t>
                      </a:r>
                      <a:r>
                        <a:rPr lang="en-US" sz="1800">
                          <a:effectLst/>
                        </a:rPr>
                        <a:t>  parties – Cigarettes</a:t>
                      </a:r>
                      <a:endParaRPr lang="en-US" sz="2400">
                        <a:effectLst/>
                      </a:endParaRPr>
                    </a:p>
                  </a:txBody>
                  <a:tcPr/>
                </a:tc>
                <a:extLst>
                  <a:ext uri="{0D108BD9-81ED-4DB2-BD59-A6C34878D82A}">
                    <a16:rowId xmlns:a16="http://schemas.microsoft.com/office/drawing/2014/main" val="1493832534"/>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Sales to 3</a:t>
                      </a:r>
                      <a:r>
                        <a:rPr lang="en-US" sz="1800" baseline="30000">
                          <a:effectLst/>
                        </a:rPr>
                        <a:t>rd</a:t>
                      </a:r>
                      <a:r>
                        <a:rPr lang="en-US" sz="1800">
                          <a:effectLst/>
                        </a:rPr>
                        <a:t>  parties - RYO </a:t>
                      </a:r>
                    </a:p>
                  </a:txBody>
                  <a:tcPr/>
                </a:tc>
                <a:extLst>
                  <a:ext uri="{0D108BD9-81ED-4DB2-BD59-A6C34878D82A}">
                    <a16:rowId xmlns:a16="http://schemas.microsoft.com/office/drawing/2014/main" val="3173554201"/>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Sales to 3</a:t>
                      </a:r>
                      <a:r>
                        <a:rPr lang="en-US" sz="1800" baseline="30000">
                          <a:effectLst/>
                        </a:rPr>
                        <a:t>rd</a:t>
                      </a:r>
                      <a:r>
                        <a:rPr lang="en-US" sz="1800">
                          <a:effectLst/>
                        </a:rPr>
                        <a:t>  parties – MYO</a:t>
                      </a:r>
                    </a:p>
                  </a:txBody>
                  <a:tcPr/>
                </a:tc>
                <a:extLst>
                  <a:ext uri="{0D108BD9-81ED-4DB2-BD59-A6C34878D82A}">
                    <a16:rowId xmlns:a16="http://schemas.microsoft.com/office/drawing/2014/main" val="1388099310"/>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a:t>----</a:t>
                      </a:r>
                    </a:p>
                  </a:txBody>
                  <a:tcPr/>
                </a:tc>
                <a:extLst>
                  <a:ext uri="{0D108BD9-81ED-4DB2-BD59-A6C34878D82A}">
                    <a16:rowId xmlns:a16="http://schemas.microsoft.com/office/drawing/2014/main" val="2538093975"/>
                  </a:ext>
                </a:extLst>
              </a:tr>
              <a:tr h="370840">
                <a:tc>
                  <a:txBody>
                    <a:bodyPr/>
                    <a:lstStyle/>
                    <a:p>
                      <a:r>
                        <a:rPr lang="en-US"/>
                        <a:t>----</a:t>
                      </a:r>
                    </a:p>
                  </a:txBody>
                  <a:tcPr/>
                </a:tc>
                <a:extLst>
                  <a:ext uri="{0D108BD9-81ED-4DB2-BD59-A6C34878D82A}">
                    <a16:rowId xmlns:a16="http://schemas.microsoft.com/office/drawing/2014/main" val="1337298660"/>
                  </a:ext>
                </a:extLst>
              </a:tr>
            </a:tbl>
          </a:graphicData>
        </a:graphic>
      </p:graphicFrame>
      <p:graphicFrame>
        <p:nvGraphicFramePr>
          <p:cNvPr id="55" name="Table 54">
            <a:extLst>
              <a:ext uri="{FF2B5EF4-FFF2-40B4-BE49-F238E27FC236}">
                <a16:creationId xmlns:a16="http://schemas.microsoft.com/office/drawing/2014/main" id="{4A8A0958-B131-4262-BC20-F294955636CE}"/>
              </a:ext>
            </a:extLst>
          </p:cNvPr>
          <p:cNvGraphicFramePr>
            <a:graphicFrameLocks noGrp="1"/>
          </p:cNvGraphicFramePr>
          <p:nvPr/>
        </p:nvGraphicFramePr>
        <p:xfrm>
          <a:off x="6431500" y="3282144"/>
          <a:ext cx="1768283" cy="2234163"/>
        </p:xfrm>
        <a:graphic>
          <a:graphicData uri="http://schemas.openxmlformats.org/drawingml/2006/table">
            <a:tbl>
              <a:tblPr firstRow="1" bandRow="1">
                <a:tableStyleId>{68D230F3-CF80-4859-8CE7-A43EE81993B5}</a:tableStyleId>
              </a:tblPr>
              <a:tblGrid>
                <a:gridCol w="1768283">
                  <a:extLst>
                    <a:ext uri="{9D8B030D-6E8A-4147-A177-3AD203B41FA5}">
                      <a16:colId xmlns:a16="http://schemas.microsoft.com/office/drawing/2014/main" val="1591778190"/>
                    </a:ext>
                  </a:extLst>
                </a:gridCol>
              </a:tblGrid>
              <a:tr h="351557">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1 JTIO</a:t>
                      </a:r>
                      <a:endParaRPr lang="en-US" sz="1800">
                        <a:solidFill>
                          <a:schemeClr val="tx1"/>
                        </a:solidFill>
                        <a:effectLst/>
                      </a:endParaRPr>
                    </a:p>
                  </a:txBody>
                  <a:tcPr/>
                </a:tc>
                <a:extLst>
                  <a:ext uri="{0D108BD9-81ED-4DB2-BD59-A6C34878D82A}">
                    <a16:rowId xmlns:a16="http://schemas.microsoft.com/office/drawing/2014/main" val="1025456243"/>
                  </a:ext>
                </a:extLst>
              </a:tr>
              <a:tr h="1868403">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Sales to 3</a:t>
                      </a:r>
                      <a:r>
                        <a:rPr lang="en-US" sz="1800" baseline="30000">
                          <a:effectLst/>
                        </a:rPr>
                        <a:t>rd</a:t>
                      </a:r>
                      <a:r>
                        <a:rPr lang="en-US" sz="1800">
                          <a:effectLst/>
                        </a:rPr>
                        <a:t>  parties</a:t>
                      </a:r>
                      <a:endParaRPr lang="en-US" sz="2400">
                        <a:effectLst/>
                      </a:endParaRPr>
                    </a:p>
                    <a:p>
                      <a:pPr marL="0" marR="0" lvl="0" indent="0" algn="l" defTabSz="914126" rtl="0" eaLnBrk="1" fontAlgn="auto" latinLnBrk="0" hangingPunct="1">
                        <a:lnSpc>
                          <a:spcPct val="100000"/>
                        </a:lnSpc>
                        <a:spcBef>
                          <a:spcPts val="0"/>
                        </a:spcBef>
                        <a:spcAft>
                          <a:spcPts val="0"/>
                        </a:spcAft>
                        <a:buClrTx/>
                        <a:buSzTx/>
                        <a:buFontTx/>
                        <a:buNone/>
                        <a:tabLst/>
                        <a:defRPr/>
                      </a:pPr>
                      <a:endParaRPr lang="en-US"/>
                    </a:p>
                  </a:txBody>
                  <a:tcPr/>
                </a:tc>
                <a:extLst>
                  <a:ext uri="{0D108BD9-81ED-4DB2-BD59-A6C34878D82A}">
                    <a16:rowId xmlns:a16="http://schemas.microsoft.com/office/drawing/2014/main" val="1493832534"/>
                  </a:ext>
                </a:extLst>
              </a:tr>
            </a:tbl>
          </a:graphicData>
        </a:graphic>
      </p:graphicFrame>
      <p:graphicFrame>
        <p:nvGraphicFramePr>
          <p:cNvPr id="56" name="Table 55">
            <a:extLst>
              <a:ext uri="{FF2B5EF4-FFF2-40B4-BE49-F238E27FC236}">
                <a16:creationId xmlns:a16="http://schemas.microsoft.com/office/drawing/2014/main" id="{0F11F7AA-FD6D-4084-A2D5-0207F292B273}"/>
              </a:ext>
            </a:extLst>
          </p:cNvPr>
          <p:cNvGraphicFramePr>
            <a:graphicFrameLocks noGrp="1"/>
          </p:cNvGraphicFramePr>
          <p:nvPr/>
        </p:nvGraphicFramePr>
        <p:xfrm>
          <a:off x="8451573" y="3282144"/>
          <a:ext cx="2102127" cy="2219960"/>
        </p:xfrm>
        <a:graphic>
          <a:graphicData uri="http://schemas.openxmlformats.org/drawingml/2006/table">
            <a:tbl>
              <a:tblPr firstRow="1" bandRow="1">
                <a:tableStyleId>{C083E6E3-FA7D-4D7B-A595-EF9225AFEA82}</a:tableStyleId>
              </a:tblPr>
              <a:tblGrid>
                <a:gridCol w="2102127">
                  <a:extLst>
                    <a:ext uri="{9D8B030D-6E8A-4147-A177-3AD203B41FA5}">
                      <a16:colId xmlns:a16="http://schemas.microsoft.com/office/drawing/2014/main" val="1591778190"/>
                    </a:ext>
                  </a:extLst>
                </a:gridCol>
              </a:tblGrid>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Product Types</a:t>
                      </a:r>
                      <a:endParaRPr lang="en-US" sz="1800">
                        <a:solidFill>
                          <a:schemeClr val="tx1"/>
                        </a:solidFill>
                        <a:effectLst/>
                      </a:endParaRPr>
                    </a:p>
                  </a:txBody>
                  <a:tcPr/>
                </a:tc>
                <a:extLst>
                  <a:ext uri="{0D108BD9-81ED-4DB2-BD59-A6C34878D82A}">
                    <a16:rowId xmlns:a16="http://schemas.microsoft.com/office/drawing/2014/main" val="1025456243"/>
                  </a:ext>
                </a:extLst>
              </a:tr>
              <a:tr h="194861">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Cigarettes</a:t>
                      </a:r>
                      <a:endParaRPr lang="en-US" sz="2400">
                        <a:effectLst/>
                      </a:endParaRPr>
                    </a:p>
                  </a:txBody>
                  <a:tcPr/>
                </a:tc>
                <a:extLst>
                  <a:ext uri="{0D108BD9-81ED-4DB2-BD59-A6C34878D82A}">
                    <a16:rowId xmlns:a16="http://schemas.microsoft.com/office/drawing/2014/main" val="1493832534"/>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RYO </a:t>
                      </a:r>
                    </a:p>
                  </a:txBody>
                  <a:tcPr/>
                </a:tc>
                <a:extLst>
                  <a:ext uri="{0D108BD9-81ED-4DB2-BD59-A6C34878D82A}">
                    <a16:rowId xmlns:a16="http://schemas.microsoft.com/office/drawing/2014/main" val="3173554201"/>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800">
                          <a:effectLst/>
                        </a:rPr>
                        <a:t>MYO</a:t>
                      </a:r>
                    </a:p>
                  </a:txBody>
                  <a:tcPr/>
                </a:tc>
                <a:extLst>
                  <a:ext uri="{0D108BD9-81ED-4DB2-BD59-A6C34878D82A}">
                    <a16:rowId xmlns:a16="http://schemas.microsoft.com/office/drawing/2014/main" val="1388099310"/>
                  </a:ext>
                </a:extLst>
              </a:tr>
              <a:tr h="370840">
                <a:tc>
                  <a:txBody>
                    <a:bodyPr/>
                    <a:lstStyle/>
                    <a:p>
                      <a:endParaRPr lang="en-US"/>
                    </a:p>
                  </a:txBody>
                  <a:tcPr/>
                </a:tc>
                <a:extLst>
                  <a:ext uri="{0D108BD9-81ED-4DB2-BD59-A6C34878D82A}">
                    <a16:rowId xmlns:a16="http://schemas.microsoft.com/office/drawing/2014/main" val="2538093975"/>
                  </a:ext>
                </a:extLst>
              </a:tr>
              <a:tr h="370840">
                <a:tc>
                  <a:txBody>
                    <a:bodyPr/>
                    <a:lstStyle/>
                    <a:p>
                      <a:r>
                        <a:rPr lang="en-US"/>
                        <a:t>----</a:t>
                      </a:r>
                    </a:p>
                  </a:txBody>
                  <a:tcPr/>
                </a:tc>
                <a:extLst>
                  <a:ext uri="{0D108BD9-81ED-4DB2-BD59-A6C34878D82A}">
                    <a16:rowId xmlns:a16="http://schemas.microsoft.com/office/drawing/2014/main" val="1337298660"/>
                  </a:ext>
                </a:extLst>
              </a:tr>
            </a:tbl>
          </a:graphicData>
        </a:graphic>
      </p:graphicFrame>
      <p:sp>
        <p:nvSpPr>
          <p:cNvPr id="60" name="TextBox 59">
            <a:extLst>
              <a:ext uri="{FF2B5EF4-FFF2-40B4-BE49-F238E27FC236}">
                <a16:creationId xmlns:a16="http://schemas.microsoft.com/office/drawing/2014/main" id="{A12D1386-89BC-45FF-A330-3DC26F8A4C0C}"/>
              </a:ext>
            </a:extLst>
          </p:cNvPr>
          <p:cNvSpPr txBox="1"/>
          <p:nvPr/>
        </p:nvSpPr>
        <p:spPr>
          <a:xfrm>
            <a:off x="8136960" y="2768780"/>
            <a:ext cx="411577"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a:ln>
                  <a:noFill/>
                </a:ln>
                <a:solidFill>
                  <a:srgbClr val="000000"/>
                </a:solidFill>
                <a:effectLst/>
                <a:uLnTx/>
                <a:uFillTx/>
                <a:latin typeface="Arial" pitchFamily="34" charset="0"/>
                <a:ea typeface="ＭＳ Ｐゴシック" pitchFamily="80" charset="-128"/>
                <a:cs typeface="+mn-cs"/>
              </a:rPr>
              <a:t>+</a:t>
            </a:r>
          </a:p>
        </p:txBody>
      </p:sp>
      <p:sp>
        <p:nvSpPr>
          <p:cNvPr id="61" name="Text Placeholder 43">
            <a:extLst>
              <a:ext uri="{FF2B5EF4-FFF2-40B4-BE49-F238E27FC236}">
                <a16:creationId xmlns:a16="http://schemas.microsoft.com/office/drawing/2014/main" id="{B0752E09-F5D9-4D77-875B-3C6A66D7F73A}"/>
              </a:ext>
            </a:extLst>
          </p:cNvPr>
          <p:cNvSpPr txBox="1">
            <a:spLocks/>
          </p:cNvSpPr>
          <p:nvPr/>
        </p:nvSpPr>
        <p:spPr>
          <a:xfrm>
            <a:off x="543705" y="1468687"/>
            <a:ext cx="10837863" cy="351062"/>
          </a:xfrm>
          <a:prstGeom prst="rect">
            <a:avLst/>
          </a:prstGeom>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399930" indent="-195204"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auto" latinLnBrk="0" hangingPunct="1">
              <a:lnSpc>
                <a:spcPct val="90000"/>
              </a:lnSpc>
              <a:spcBef>
                <a:spcPts val="1000"/>
              </a:spcBef>
              <a:spcAft>
                <a:spcPts val="0"/>
              </a:spcAft>
              <a:buClrTx/>
              <a:buSzTx/>
              <a:buFont typeface="Arial"/>
              <a:buNone/>
              <a:tabLst/>
              <a:defRPr/>
            </a:pPr>
            <a:r>
              <a:rPr kumimoji="0" lang="en-US" sz="2000" b="0" i="1" u="none" strike="noStrike" kern="1200" cap="none" spc="0" normalizeH="0" baseline="0" noProof="0">
                <a:ln>
                  <a:noFill/>
                </a:ln>
                <a:solidFill>
                  <a:srgbClr val="FFFFFF">
                    <a:lumMod val="65000"/>
                  </a:srgbClr>
                </a:solidFill>
                <a:effectLst/>
                <a:uLnTx/>
                <a:uFillTx/>
                <a:latin typeface="Georgia" panose="02040502050405020303" pitchFamily="18" charset="0"/>
                <a:cs typeface="Arial" charset="0"/>
              </a:rPr>
              <a:t>New Reporting will combine “JTIO” and “Product Type” as a dimension</a:t>
            </a:r>
          </a:p>
        </p:txBody>
      </p:sp>
      <p:pic>
        <p:nvPicPr>
          <p:cNvPr id="62" name="Picture 61">
            <a:extLst>
              <a:ext uri="{FF2B5EF4-FFF2-40B4-BE49-F238E27FC236}">
                <a16:creationId xmlns:a16="http://schemas.microsoft.com/office/drawing/2014/main" id="{47912649-957E-4AD4-B37E-51D8C3AB3755}"/>
              </a:ext>
            </a:extLst>
          </p:cNvPr>
          <p:cNvPicPr>
            <a:picLocks noChangeAspect="1"/>
          </p:cNvPicPr>
          <p:nvPr/>
        </p:nvPicPr>
        <p:blipFill>
          <a:blip r:embed="rId2"/>
          <a:stretch>
            <a:fillRect/>
          </a:stretch>
        </p:blipFill>
        <p:spPr>
          <a:xfrm>
            <a:off x="8607809" y="369007"/>
            <a:ext cx="1140253" cy="946223"/>
          </a:xfrm>
          <a:prstGeom prst="rect">
            <a:avLst/>
          </a:prstGeom>
        </p:spPr>
      </p:pic>
      <p:pic>
        <p:nvPicPr>
          <p:cNvPr id="10" name="Graphic 9" descr="Lightbulb">
            <a:extLst>
              <a:ext uri="{FF2B5EF4-FFF2-40B4-BE49-F238E27FC236}">
                <a16:creationId xmlns:a16="http://schemas.microsoft.com/office/drawing/2014/main" id="{FB200171-B033-417F-AADC-416E6B7B53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85030" y="2795127"/>
            <a:ext cx="457200" cy="457200"/>
          </a:xfrm>
          <a:prstGeom prst="rect">
            <a:avLst/>
          </a:prstGeom>
        </p:spPr>
      </p:pic>
    </p:spTree>
    <p:extLst>
      <p:ext uri="{BB962C8B-B14F-4D97-AF65-F5344CB8AC3E}">
        <p14:creationId xmlns:p14="http://schemas.microsoft.com/office/powerpoint/2010/main" val="3689915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a:xfrm>
            <a:off x="1511276" y="210344"/>
            <a:ext cx="7093881" cy="984247"/>
          </a:xfrm>
        </p:spPr>
        <p:txBody>
          <a:bodyPr/>
          <a:lstStyle/>
          <a:p>
            <a:r>
              <a:rPr lang="en-GB"/>
              <a:t>Overview of Sales Account</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ounded Rectangle 7">
            <a:extLst>
              <a:ext uri="{FF2B5EF4-FFF2-40B4-BE49-F238E27FC236}">
                <a16:creationId xmlns:a16="http://schemas.microsoft.com/office/drawing/2014/main" id="{4D801523-AFF7-47FF-9493-9F2AE2C445BD}"/>
              </a:ext>
            </a:extLst>
          </p:cNvPr>
          <p:cNvSpPr/>
          <p:nvPr/>
        </p:nvSpPr>
        <p:spPr bwMode="auto">
          <a:xfrm>
            <a:off x="1389186" y="1556010"/>
            <a:ext cx="8949532" cy="377280"/>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1" i="0" u="none"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rPr>
              <a:t>New  JTIG and JTIOs - as of Jan 2020  </a:t>
            </a:r>
          </a:p>
        </p:txBody>
      </p:sp>
      <p:pic>
        <p:nvPicPr>
          <p:cNvPr id="15" name="Picture 14">
            <a:extLst>
              <a:ext uri="{FF2B5EF4-FFF2-40B4-BE49-F238E27FC236}">
                <a16:creationId xmlns:a16="http://schemas.microsoft.com/office/drawing/2014/main" id="{2097B24C-A13B-434C-BB73-67E6F2E5A4C2}"/>
              </a:ext>
            </a:extLst>
          </p:cNvPr>
          <p:cNvPicPr>
            <a:picLocks noChangeAspect="1"/>
          </p:cNvPicPr>
          <p:nvPr/>
        </p:nvPicPr>
        <p:blipFill>
          <a:blip r:embed="rId2"/>
          <a:stretch>
            <a:fillRect/>
          </a:stretch>
        </p:blipFill>
        <p:spPr>
          <a:xfrm>
            <a:off x="8607809" y="369007"/>
            <a:ext cx="1140253" cy="946223"/>
          </a:xfrm>
          <a:prstGeom prst="rect">
            <a:avLst/>
          </a:prstGeom>
        </p:spPr>
      </p:pic>
      <p:graphicFrame>
        <p:nvGraphicFramePr>
          <p:cNvPr id="8" name="Table 7">
            <a:extLst>
              <a:ext uri="{FF2B5EF4-FFF2-40B4-BE49-F238E27FC236}">
                <a16:creationId xmlns:a16="http://schemas.microsoft.com/office/drawing/2014/main" id="{57E36313-3AC7-4988-B953-D8EE14159D01}"/>
              </a:ext>
            </a:extLst>
          </p:cNvPr>
          <p:cNvGraphicFramePr>
            <a:graphicFrameLocks noGrp="1"/>
          </p:cNvGraphicFramePr>
          <p:nvPr>
            <p:extLst/>
          </p:nvPr>
        </p:nvGraphicFramePr>
        <p:xfrm>
          <a:off x="1389186" y="2002245"/>
          <a:ext cx="8949532" cy="4088786"/>
        </p:xfrm>
        <a:graphic>
          <a:graphicData uri="http://schemas.openxmlformats.org/drawingml/2006/table">
            <a:tbl>
              <a:tblPr>
                <a:tableStyleId>{00A15C55-8517-42AA-B614-E9B94910E393}</a:tableStyleId>
              </a:tblPr>
              <a:tblGrid>
                <a:gridCol w="834541">
                  <a:extLst>
                    <a:ext uri="{9D8B030D-6E8A-4147-A177-3AD203B41FA5}">
                      <a16:colId xmlns:a16="http://schemas.microsoft.com/office/drawing/2014/main" val="454020093"/>
                    </a:ext>
                  </a:extLst>
                </a:gridCol>
                <a:gridCol w="2422385">
                  <a:extLst>
                    <a:ext uri="{9D8B030D-6E8A-4147-A177-3AD203B41FA5}">
                      <a16:colId xmlns:a16="http://schemas.microsoft.com/office/drawing/2014/main" val="3532870463"/>
                    </a:ext>
                  </a:extLst>
                </a:gridCol>
                <a:gridCol w="999234">
                  <a:extLst>
                    <a:ext uri="{9D8B030D-6E8A-4147-A177-3AD203B41FA5}">
                      <a16:colId xmlns:a16="http://schemas.microsoft.com/office/drawing/2014/main" val="177581233"/>
                    </a:ext>
                  </a:extLst>
                </a:gridCol>
                <a:gridCol w="4693372">
                  <a:extLst>
                    <a:ext uri="{9D8B030D-6E8A-4147-A177-3AD203B41FA5}">
                      <a16:colId xmlns:a16="http://schemas.microsoft.com/office/drawing/2014/main" val="1701147641"/>
                    </a:ext>
                  </a:extLst>
                </a:gridCol>
              </a:tblGrid>
              <a:tr h="187780">
                <a:tc>
                  <a:txBody>
                    <a:bodyPr/>
                    <a:lstStyle/>
                    <a:p>
                      <a:pPr algn="ctr" fontAlgn="ctr"/>
                      <a:r>
                        <a:rPr lang="en-GB" sz="1200" b="1" u="none" strike="noStrike">
                          <a:solidFill>
                            <a:schemeClr val="bg1"/>
                          </a:solidFill>
                          <a:effectLst/>
                        </a:rPr>
                        <a:t> JTIG </a:t>
                      </a:r>
                      <a:endParaRPr lang="en-GB" sz="1200" b="1" i="0" u="none" strike="noStrike">
                        <a:solidFill>
                          <a:schemeClr val="bg1"/>
                        </a:solidFill>
                        <a:effectLst/>
                        <a:latin typeface="Arial" panose="020B0604020202020204" pitchFamily="34" charset="0"/>
                      </a:endParaRPr>
                    </a:p>
                  </a:txBody>
                  <a:tcPr marL="8046" marR="8046" marT="8046" marB="0" anchor="ctr">
                    <a:solidFill>
                      <a:schemeClr val="bg2">
                        <a:lumMod val="90000"/>
                      </a:schemeClr>
                    </a:solidFill>
                  </a:tcPr>
                </a:tc>
                <a:tc>
                  <a:txBody>
                    <a:bodyPr/>
                    <a:lstStyle/>
                    <a:p>
                      <a:pPr algn="ctr" fontAlgn="ctr"/>
                      <a:r>
                        <a:rPr lang="en-GB" sz="1200" b="1" u="none" strike="noStrike">
                          <a:solidFill>
                            <a:schemeClr val="bg1"/>
                          </a:solidFill>
                          <a:effectLst/>
                        </a:rPr>
                        <a:t>JTIG </a:t>
                      </a:r>
                      <a:r>
                        <a:rPr lang="en-US" sz="1200" b="1" u="none" strike="noStrike">
                          <a:solidFill>
                            <a:schemeClr val="bg1"/>
                          </a:solidFill>
                          <a:effectLst/>
                        </a:rPr>
                        <a:t>Desc</a:t>
                      </a:r>
                      <a:endParaRPr lang="en-GB" sz="1200" b="1" i="0" u="none" strike="noStrike">
                        <a:solidFill>
                          <a:schemeClr val="bg1"/>
                        </a:solidFill>
                        <a:effectLst/>
                        <a:latin typeface="Arial" panose="020B0604020202020204" pitchFamily="34" charset="0"/>
                      </a:endParaRPr>
                    </a:p>
                  </a:txBody>
                  <a:tcPr marL="8046" marR="8046" marT="8046" marB="0" anchor="ctr">
                    <a:solidFill>
                      <a:schemeClr val="bg2">
                        <a:lumMod val="90000"/>
                      </a:schemeClr>
                    </a:solidFill>
                  </a:tcPr>
                </a:tc>
                <a:tc>
                  <a:txBody>
                    <a:bodyPr/>
                    <a:lstStyle/>
                    <a:p>
                      <a:pPr algn="ctr" fontAlgn="ctr"/>
                      <a:r>
                        <a:rPr lang="en-GB" sz="1200" b="1" u="none" strike="noStrike">
                          <a:solidFill>
                            <a:schemeClr val="bg1"/>
                          </a:solidFill>
                          <a:effectLst/>
                        </a:rPr>
                        <a:t>JTIO</a:t>
                      </a:r>
                      <a:endParaRPr lang="en-GB" sz="1200" b="1" i="0" u="none" strike="noStrike">
                        <a:solidFill>
                          <a:schemeClr val="bg1"/>
                        </a:solidFill>
                        <a:effectLst/>
                        <a:latin typeface="Arial" panose="020B0604020202020204" pitchFamily="34" charset="0"/>
                      </a:endParaRPr>
                    </a:p>
                  </a:txBody>
                  <a:tcPr marL="8046" marR="8046" marT="8046" marB="0" anchor="ctr">
                    <a:solidFill>
                      <a:schemeClr val="bg2">
                        <a:lumMod val="90000"/>
                      </a:schemeClr>
                    </a:solidFill>
                  </a:tcPr>
                </a:tc>
                <a:tc>
                  <a:txBody>
                    <a:bodyPr/>
                    <a:lstStyle/>
                    <a:p>
                      <a:pPr algn="ctr" fontAlgn="ctr"/>
                      <a:r>
                        <a:rPr lang="en-GB" sz="1200" b="1" u="none" strike="noStrike">
                          <a:solidFill>
                            <a:schemeClr val="bg1"/>
                          </a:solidFill>
                          <a:effectLst/>
                        </a:rPr>
                        <a:t>Long Text</a:t>
                      </a:r>
                      <a:endParaRPr lang="en-GB" sz="1200" b="1" i="0" u="none" strike="noStrike">
                        <a:solidFill>
                          <a:schemeClr val="bg1"/>
                        </a:solidFill>
                        <a:effectLst/>
                        <a:latin typeface="Arial" panose="020B0604020202020204" pitchFamily="34" charset="0"/>
                      </a:endParaRPr>
                    </a:p>
                  </a:txBody>
                  <a:tcPr marL="8046" marR="8046" marT="8046" marB="0" anchor="ctr">
                    <a:solidFill>
                      <a:schemeClr val="bg2">
                        <a:lumMod val="90000"/>
                      </a:schemeClr>
                    </a:solidFill>
                  </a:tcPr>
                </a:tc>
                <a:extLst>
                  <a:ext uri="{0D108BD9-81ED-4DB2-BD59-A6C34878D82A}">
                    <a16:rowId xmlns:a16="http://schemas.microsoft.com/office/drawing/2014/main" val="791090178"/>
                  </a:ext>
                </a:extLst>
              </a:tr>
              <a:tr h="283351">
                <a:tc>
                  <a:txBody>
                    <a:bodyPr/>
                    <a:lstStyle/>
                    <a:p>
                      <a:pPr algn="l" fontAlgn="b"/>
                      <a:r>
                        <a:rPr lang="en-GB" sz="1000" u="none" strike="noStrike">
                          <a:effectLst/>
                        </a:rPr>
                        <a:t>32040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to third parties - other</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301050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ICMS on sales Other Prod</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4174504021"/>
                  </a:ext>
                </a:extLst>
              </a:tr>
              <a:tr h="283351">
                <a:tc>
                  <a:txBody>
                    <a:bodyPr/>
                    <a:lstStyle/>
                    <a:p>
                      <a:pPr algn="l" fontAlgn="b"/>
                      <a:r>
                        <a:rPr lang="en-GB" sz="1000" u="none" strike="noStrike">
                          <a:effectLst/>
                        </a:rPr>
                        <a:t>32040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to third parties - other</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301051</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COFINS on  sales Other Prod</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2549138708"/>
                  </a:ext>
                </a:extLst>
              </a:tr>
              <a:tr h="438776">
                <a:tc>
                  <a:txBody>
                    <a:bodyPr/>
                    <a:lstStyle/>
                    <a:p>
                      <a:pPr algn="l" fontAlgn="b"/>
                      <a:r>
                        <a:rPr lang="en-GB" sz="1000" u="none" strike="noStrike">
                          <a:effectLst/>
                        </a:rPr>
                        <a:t>32040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to third parties - other</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301052</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PIS/PASEP on sales OthProd</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711505825"/>
                  </a:ext>
                </a:extLst>
              </a:tr>
              <a:tr h="280614">
                <a:tc>
                  <a:txBody>
                    <a:bodyPr/>
                    <a:lstStyle/>
                    <a:p>
                      <a:pPr algn="l" fontAlgn="b"/>
                      <a:r>
                        <a:rPr lang="en-GB" sz="1000" u="none" strike="noStrike">
                          <a:effectLst/>
                        </a:rPr>
                        <a:t>32220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Outside Royalty Income</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302015</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Outside Royalty Income</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438776057"/>
                  </a:ext>
                </a:extLst>
              </a:tr>
              <a:tr h="280614">
                <a:tc>
                  <a:txBody>
                    <a:bodyPr/>
                    <a:lstStyle/>
                    <a:p>
                      <a:pPr algn="l" fontAlgn="b"/>
                      <a:r>
                        <a:rPr lang="en-GB" sz="1000" u="none" strike="noStrike">
                          <a:effectLst/>
                        </a:rPr>
                        <a:t>32220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Outside Royalty Income</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302018</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Outside Royalty Income Adjustment</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3000980380"/>
                  </a:ext>
                </a:extLst>
              </a:tr>
              <a:tr h="160351">
                <a:tc>
                  <a:txBody>
                    <a:bodyPr/>
                    <a:lstStyle/>
                    <a:p>
                      <a:pPr algn="l" fontAlgn="b"/>
                      <a:r>
                        <a:rPr lang="en-GB" sz="1000" u="none" strike="noStrike">
                          <a:effectLst/>
                        </a:rPr>
                        <a:t>32020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Gross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302110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Sales to third parties (automated SD entries)</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523895226"/>
                  </a:ext>
                </a:extLst>
              </a:tr>
              <a:tr h="160351">
                <a:tc>
                  <a:txBody>
                    <a:bodyPr/>
                    <a:lstStyle/>
                    <a:p>
                      <a:pPr algn="l" fontAlgn="b"/>
                      <a:r>
                        <a:rPr lang="en-GB" sz="1000" u="none" strike="noStrike">
                          <a:effectLst/>
                        </a:rPr>
                        <a:t>32020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Gross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302118</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Sales to 3rd manual (manual adjustments)</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996058805"/>
                  </a:ext>
                </a:extLst>
              </a:tr>
              <a:tr h="160351">
                <a:tc>
                  <a:txBody>
                    <a:bodyPr/>
                    <a:lstStyle/>
                    <a:p>
                      <a:pPr algn="l" fontAlgn="b"/>
                      <a:r>
                        <a:rPr lang="en-GB" sz="1000" u="none" strike="noStrike">
                          <a:effectLst/>
                        </a:rPr>
                        <a:t>32020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Gross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302120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Sales to 3rd parties - granularity 1</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3954987610"/>
                  </a:ext>
                </a:extLst>
              </a:tr>
              <a:tr h="160351">
                <a:tc>
                  <a:txBody>
                    <a:bodyPr/>
                    <a:lstStyle/>
                    <a:p>
                      <a:pPr algn="l" fontAlgn="b"/>
                      <a:r>
                        <a:rPr lang="en-GB" sz="1000" u="none" strike="noStrike">
                          <a:effectLst/>
                        </a:rPr>
                        <a:t>32020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Gross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302130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Sales to 3rd parties - granularity 2</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3197909047"/>
                  </a:ext>
                </a:extLst>
              </a:tr>
              <a:tr h="160351">
                <a:tc>
                  <a:txBody>
                    <a:bodyPr/>
                    <a:lstStyle/>
                    <a:p>
                      <a:pPr algn="l" fontAlgn="b"/>
                      <a:r>
                        <a:rPr lang="en-GB" sz="1000" u="none" strike="noStrike">
                          <a:effectLst/>
                        </a:rPr>
                        <a:t>32020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Gross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302140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Sales to 3rd parties - granularity 3</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3298312756"/>
                  </a:ext>
                </a:extLst>
              </a:tr>
              <a:tr h="160351">
                <a:tc>
                  <a:txBody>
                    <a:bodyPr/>
                    <a:lstStyle/>
                    <a:p>
                      <a:pPr algn="l" fontAlgn="b"/>
                      <a:r>
                        <a:rPr lang="en-GB" sz="1000" u="none" strike="noStrike">
                          <a:effectLst/>
                        </a:rPr>
                        <a:t>32620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Returns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302210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Sales returns (automated SD entries)</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406643583"/>
                  </a:ext>
                </a:extLst>
              </a:tr>
              <a:tr h="160351">
                <a:tc>
                  <a:txBody>
                    <a:bodyPr/>
                    <a:lstStyle/>
                    <a:p>
                      <a:pPr algn="l" fontAlgn="b"/>
                      <a:r>
                        <a:rPr lang="en-GB" sz="1000" u="none" strike="noStrike">
                          <a:effectLst/>
                        </a:rPr>
                        <a:t>32620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Returns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302218</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Sales returns (manual adjustments)</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2406489998"/>
                  </a:ext>
                </a:extLst>
              </a:tr>
              <a:tr h="160351">
                <a:tc>
                  <a:txBody>
                    <a:bodyPr/>
                    <a:lstStyle/>
                    <a:p>
                      <a:pPr algn="l" fontAlgn="b"/>
                      <a:r>
                        <a:rPr lang="en-GB" sz="1000" u="none" strike="noStrike">
                          <a:effectLst/>
                        </a:rPr>
                        <a:t>32620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Returns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302220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Sales returns - granularity 1</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2260526528"/>
                  </a:ext>
                </a:extLst>
              </a:tr>
              <a:tr h="160351">
                <a:tc>
                  <a:txBody>
                    <a:bodyPr/>
                    <a:lstStyle/>
                    <a:p>
                      <a:pPr algn="l" fontAlgn="b"/>
                      <a:r>
                        <a:rPr lang="en-GB" sz="1000" u="none" strike="noStrike">
                          <a:effectLst/>
                        </a:rPr>
                        <a:t>32620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Returns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302230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Sales returns - granularity 2</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2103593032"/>
                  </a:ext>
                </a:extLst>
              </a:tr>
              <a:tr h="160351">
                <a:tc>
                  <a:txBody>
                    <a:bodyPr/>
                    <a:lstStyle/>
                    <a:p>
                      <a:pPr algn="l" fontAlgn="b"/>
                      <a:r>
                        <a:rPr lang="en-GB" sz="1000" u="none" strike="noStrike">
                          <a:effectLst/>
                        </a:rPr>
                        <a:t>32620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Sales Returns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302240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Sales returns - granularity 3</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2103603325"/>
                  </a:ext>
                </a:extLst>
              </a:tr>
              <a:tr h="195274">
                <a:tc>
                  <a:txBody>
                    <a:bodyPr/>
                    <a:lstStyle/>
                    <a:p>
                      <a:pPr algn="l" fontAlgn="b"/>
                      <a:r>
                        <a:rPr lang="en-GB" sz="1000" u="none" strike="noStrike">
                          <a:effectLst/>
                        </a:rPr>
                        <a:t>32349</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Intercompany Sales (ATG) </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302310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Intercompany sales ATG (automated SD entries)</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3964549402"/>
                  </a:ext>
                </a:extLst>
              </a:tr>
              <a:tr h="210528">
                <a:tc>
                  <a:txBody>
                    <a:bodyPr/>
                    <a:lstStyle/>
                    <a:p>
                      <a:pPr algn="l" fontAlgn="b"/>
                      <a:r>
                        <a:rPr lang="en-GB" sz="1000" u="none" strike="noStrike">
                          <a:effectLst/>
                        </a:rPr>
                        <a:t>32349</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Intercompany Sales (ATG) </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302318</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Intercompany sales ATG (manual adjustments)</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958886143"/>
                  </a:ext>
                </a:extLst>
              </a:tr>
              <a:tr h="157802">
                <a:tc>
                  <a:txBody>
                    <a:bodyPr/>
                    <a:lstStyle/>
                    <a:p>
                      <a:pPr algn="l" fontAlgn="b"/>
                      <a:r>
                        <a:rPr lang="en-GB" sz="1000" u="none" strike="noStrike">
                          <a:effectLst/>
                        </a:rPr>
                        <a:t>32340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Intercompany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302320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Intercompany sales - granularity 1</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1589873663"/>
                  </a:ext>
                </a:extLst>
              </a:tr>
              <a:tr h="127109">
                <a:tc>
                  <a:txBody>
                    <a:bodyPr/>
                    <a:lstStyle/>
                    <a:p>
                      <a:pPr algn="l" fontAlgn="b"/>
                      <a:r>
                        <a:rPr lang="en-GB" sz="1000" u="none" strike="noStrike">
                          <a:effectLst/>
                        </a:rPr>
                        <a:t>32340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b"/>
                      <a:r>
                        <a:rPr lang="en-GB" sz="1000" u="none" strike="noStrike">
                          <a:effectLst/>
                        </a:rPr>
                        <a:t>Intercompany Sales</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ctr" fontAlgn="b"/>
                      <a:r>
                        <a:rPr lang="en-GB" sz="1000" u="none" strike="noStrike">
                          <a:effectLst/>
                        </a:rPr>
                        <a:t>302330</a:t>
                      </a:r>
                      <a:endParaRPr lang="en-GB" sz="1000" b="0" i="0" u="none" strike="noStrike">
                        <a:solidFill>
                          <a:srgbClr val="000000"/>
                        </a:solidFill>
                        <a:effectLst/>
                        <a:latin typeface="Arial" panose="020B0604020202020204" pitchFamily="34" charset="0"/>
                      </a:endParaRPr>
                    </a:p>
                  </a:txBody>
                  <a:tcPr marL="8046" marR="8046" marT="8046" marB="0" anchor="b">
                    <a:solidFill>
                      <a:schemeClr val="accent1">
                        <a:lumMod val="20000"/>
                        <a:lumOff val="80000"/>
                      </a:schemeClr>
                    </a:solidFill>
                  </a:tcPr>
                </a:tc>
                <a:tc>
                  <a:txBody>
                    <a:bodyPr/>
                    <a:lstStyle/>
                    <a:p>
                      <a:pPr algn="l" fontAlgn="t"/>
                      <a:r>
                        <a:rPr lang="en-GB" sz="1000" u="none" strike="noStrike">
                          <a:effectLst/>
                        </a:rPr>
                        <a:t>ST - Intercompany sales - granularity 2</a:t>
                      </a:r>
                      <a:endParaRPr lang="en-GB" sz="1000" b="0" i="0" u="none" strike="noStrike">
                        <a:solidFill>
                          <a:srgbClr val="000000"/>
                        </a:solidFill>
                        <a:effectLst/>
                        <a:latin typeface="Arial" panose="020B0604020202020204" pitchFamily="34" charset="0"/>
                      </a:endParaRPr>
                    </a:p>
                  </a:txBody>
                  <a:tcPr marL="8046" marR="8046" marT="8046" marB="0">
                    <a:solidFill>
                      <a:schemeClr val="accent1">
                        <a:lumMod val="20000"/>
                        <a:lumOff val="80000"/>
                      </a:schemeClr>
                    </a:solidFill>
                  </a:tcPr>
                </a:tc>
                <a:extLst>
                  <a:ext uri="{0D108BD9-81ED-4DB2-BD59-A6C34878D82A}">
                    <a16:rowId xmlns:a16="http://schemas.microsoft.com/office/drawing/2014/main" val="341822796"/>
                  </a:ext>
                </a:extLst>
              </a:tr>
            </a:tbl>
          </a:graphicData>
        </a:graphic>
      </p:graphicFrame>
      <p:sp>
        <p:nvSpPr>
          <p:cNvPr id="10" name="Rectangular Callout 18">
            <a:extLst>
              <a:ext uri="{FF2B5EF4-FFF2-40B4-BE49-F238E27FC236}">
                <a16:creationId xmlns:a16="http://schemas.microsoft.com/office/drawing/2014/main" id="{21D9910D-13CA-4250-ACE2-7D22F45AEE0D}"/>
              </a:ext>
            </a:extLst>
          </p:cNvPr>
          <p:cNvSpPr/>
          <p:nvPr/>
        </p:nvSpPr>
        <p:spPr bwMode="auto">
          <a:xfrm>
            <a:off x="8193931" y="2489030"/>
            <a:ext cx="2726617" cy="1196470"/>
          </a:xfrm>
          <a:prstGeom prst="wedgeRectCallout">
            <a:avLst>
              <a:gd name="adj1" fmla="val -44001"/>
              <a:gd name="adj2" fmla="val 74473"/>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285750" marR="0" lvl="0" indent="0" algn="l" defTabSz="711200" rtl="0" eaLnBrk="1" fontAlgn="base" latinLnBrk="0" hangingPunct="1">
              <a:lnSpc>
                <a:spcPct val="90000"/>
              </a:lnSpc>
              <a:spcBef>
                <a:spcPct val="0"/>
              </a:spcBef>
              <a:spcAft>
                <a:spcPct val="35000"/>
              </a:spcAft>
              <a:buClrTx/>
              <a:buSzTx/>
              <a:buFontTx/>
              <a:buNone/>
              <a:tabLst/>
              <a:defRPr/>
            </a:pPr>
            <a:r>
              <a:rPr kumimoji="0" lang="en-GB"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New </a:t>
            </a:r>
            <a:r>
              <a:rPr kumimoji="0" lang="fr-CH"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structure </a:t>
            </a:r>
            <a:r>
              <a:rPr kumimoji="0" lang="fr-CH" sz="14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is</a:t>
            </a:r>
            <a:r>
              <a:rPr kumimoji="0" lang="fr-CH"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a:t>
            </a:r>
            <a:r>
              <a:rPr kumimoji="0" lang="fr-CH" sz="14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simplified</a:t>
            </a:r>
            <a:r>
              <a:rPr kumimoji="0" lang="fr-CH"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to </a:t>
            </a:r>
            <a:r>
              <a:rPr kumimoji="0" lang="fr-CH" sz="14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exclude</a:t>
            </a:r>
            <a:r>
              <a:rPr kumimoji="0" lang="fr-CH"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a:t>
            </a:r>
            <a:r>
              <a:rPr kumimoji="0" lang="fr-CH" sz="14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product</a:t>
            </a:r>
            <a:r>
              <a:rPr kumimoji="0" lang="fr-CH"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type* and </a:t>
            </a:r>
            <a:r>
              <a:rPr kumimoji="0" lang="fr-CH" sz="1400" b="0" i="0" u="none" strike="noStrike" kern="1200" cap="none" spc="0" normalizeH="0" baseline="0" noProof="0" err="1">
                <a:ln>
                  <a:noFill/>
                </a:ln>
                <a:solidFill>
                  <a:srgbClr val="5F5F5F">
                    <a:lumMod val="50000"/>
                  </a:srgbClr>
                </a:solidFill>
                <a:effectLst/>
                <a:uLnTx/>
                <a:uFillTx/>
                <a:latin typeface="Arial" panose="020B0604020202020204"/>
                <a:ea typeface="+mn-ea"/>
                <a:cs typeface="+mn-cs"/>
              </a:rPr>
              <a:t>allows</a:t>
            </a:r>
            <a:r>
              <a:rPr kumimoji="0" lang="fr-CH"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 a m</a:t>
            </a:r>
            <a:r>
              <a:rPr kumimoji="0" lang="en-GB" sz="1400" b="0" i="0" u="none" strike="noStrike" kern="1200" cap="none" spc="0" normalizeH="0" baseline="0" noProof="0">
                <a:ln>
                  <a:noFill/>
                </a:ln>
                <a:solidFill>
                  <a:srgbClr val="5F5F5F">
                    <a:lumMod val="50000"/>
                  </a:srgbClr>
                </a:solidFill>
                <a:effectLst/>
                <a:uLnTx/>
                <a:uFillTx/>
                <a:latin typeface="Arial" panose="020B0604020202020204"/>
                <a:ea typeface="+mn-ea"/>
                <a:cs typeface="+mn-cs"/>
              </a:rPr>
              <a:t>ore </a:t>
            </a:r>
            <a:r>
              <a:rPr kumimoji="0" lang="en-GB" sz="1400" b="1" i="0" u="none" strike="noStrike" kern="1200" cap="none" spc="0" normalizeH="0" baseline="0" noProof="0">
                <a:ln>
                  <a:noFill/>
                </a:ln>
                <a:solidFill>
                  <a:srgbClr val="5F5F5F">
                    <a:lumMod val="50000"/>
                  </a:srgbClr>
                </a:solidFill>
                <a:effectLst/>
                <a:uLnTx/>
                <a:uFillTx/>
                <a:latin typeface="Arial" panose="020B0604020202020204"/>
                <a:ea typeface="+mn-ea"/>
                <a:cs typeface="+mn-cs"/>
              </a:rPr>
              <a:t>flexible set up for future portfolio expansions</a:t>
            </a:r>
            <a:endParaRPr kumimoji="0" lang="fr-CH" sz="1400" b="1" i="0" u="none" strike="noStrike" kern="1200" cap="none" spc="0" normalizeH="0" baseline="0" noProof="0">
              <a:ln>
                <a:noFill/>
              </a:ln>
              <a:solidFill>
                <a:srgbClr val="5F5F5F">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5938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Market P&amp;L Area of Change</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Teardrop 5">
            <a:extLst>
              <a:ext uri="{FF2B5EF4-FFF2-40B4-BE49-F238E27FC236}">
                <a16:creationId xmlns:a16="http://schemas.microsoft.com/office/drawing/2014/main" id="{372B75AB-99B0-464F-8CB8-5A7BBB4D11D7}"/>
              </a:ext>
            </a:extLst>
          </p:cNvPr>
          <p:cNvSpPr/>
          <p:nvPr/>
        </p:nvSpPr>
        <p:spPr>
          <a:xfrm rot="2700000">
            <a:off x="1762832" y="2559664"/>
            <a:ext cx="2125676" cy="2166849"/>
          </a:xfrm>
          <a:prstGeom prst="teardrop">
            <a:avLst>
              <a:gd name="adj" fmla="val 100000"/>
            </a:avLst>
          </a:prstGeom>
          <a:solidFill>
            <a:schemeClr val="accent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nvGrpSpPr>
          <p:cNvPr id="7" name="Group 6">
            <a:extLst>
              <a:ext uri="{FF2B5EF4-FFF2-40B4-BE49-F238E27FC236}">
                <a16:creationId xmlns:a16="http://schemas.microsoft.com/office/drawing/2014/main" id="{C4950045-7A91-4D81-A67F-EB3B32E2A284}"/>
              </a:ext>
            </a:extLst>
          </p:cNvPr>
          <p:cNvGrpSpPr/>
          <p:nvPr/>
        </p:nvGrpSpPr>
        <p:grpSpPr>
          <a:xfrm>
            <a:off x="1742245" y="2580250"/>
            <a:ext cx="8735257" cy="2125676"/>
            <a:chOff x="1742245" y="2580250"/>
            <a:chExt cx="8735257" cy="2125676"/>
          </a:xfrm>
        </p:grpSpPr>
        <p:grpSp>
          <p:nvGrpSpPr>
            <p:cNvPr id="8" name="Group 7">
              <a:extLst>
                <a:ext uri="{FF2B5EF4-FFF2-40B4-BE49-F238E27FC236}">
                  <a16:creationId xmlns:a16="http://schemas.microsoft.com/office/drawing/2014/main" id="{D1449FDF-67E0-4F0A-A5AD-48B89F5B4F18}"/>
                </a:ext>
              </a:extLst>
            </p:cNvPr>
            <p:cNvGrpSpPr/>
            <p:nvPr/>
          </p:nvGrpSpPr>
          <p:grpSpPr>
            <a:xfrm>
              <a:off x="1742245" y="2580250"/>
              <a:ext cx="2166849" cy="2125676"/>
              <a:chOff x="3410824" y="2041351"/>
              <a:chExt cx="2341171" cy="2341171"/>
            </a:xfrm>
          </p:grpSpPr>
          <p:sp>
            <p:nvSpPr>
              <p:cNvPr id="10" name="Teardrop 9">
                <a:extLst>
                  <a:ext uri="{FF2B5EF4-FFF2-40B4-BE49-F238E27FC236}">
                    <a16:creationId xmlns:a16="http://schemas.microsoft.com/office/drawing/2014/main" id="{D1BF98F2-F3B2-4345-BC29-23C7AB2E0D7B}"/>
                  </a:ext>
                </a:extLst>
              </p:cNvPr>
              <p:cNvSpPr/>
              <p:nvPr/>
            </p:nvSpPr>
            <p:spPr>
              <a:xfrm rot="2700000">
                <a:off x="3410824" y="2041351"/>
                <a:ext cx="2341171" cy="2341171"/>
              </a:xfrm>
              <a:prstGeom prst="teardrop">
                <a:avLst>
                  <a:gd name="adj" fmla="val 100000"/>
                </a:avLst>
              </a:prstGeom>
              <a:solidFill>
                <a:schemeClr val="accent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Freeform 14">
                <a:extLst>
                  <a:ext uri="{FF2B5EF4-FFF2-40B4-BE49-F238E27FC236}">
                    <a16:creationId xmlns:a16="http://schemas.microsoft.com/office/drawing/2014/main" id="{2287B530-23D0-48EB-B940-45A8FC744D12}"/>
                  </a:ext>
                </a:extLst>
              </p:cNvPr>
              <p:cNvSpPr/>
              <p:nvPr/>
            </p:nvSpPr>
            <p:spPr>
              <a:xfrm>
                <a:off x="3485922" y="2116565"/>
                <a:ext cx="2190980" cy="2190747"/>
              </a:xfrm>
              <a:custGeom>
                <a:avLst/>
                <a:gdLst>
                  <a:gd name="connsiteX0" fmla="*/ 0 w 2190980"/>
                  <a:gd name="connsiteY0" fmla="*/ 1095374 h 2190747"/>
                  <a:gd name="connsiteX1" fmla="*/ 1095490 w 2190980"/>
                  <a:gd name="connsiteY1" fmla="*/ 0 h 2190747"/>
                  <a:gd name="connsiteX2" fmla="*/ 2190980 w 2190980"/>
                  <a:gd name="connsiteY2" fmla="*/ 1095374 h 2190747"/>
                  <a:gd name="connsiteX3" fmla="*/ 1095490 w 2190980"/>
                  <a:gd name="connsiteY3" fmla="*/ 2190748 h 2190747"/>
                  <a:gd name="connsiteX4" fmla="*/ 0 w 2190980"/>
                  <a:gd name="connsiteY4" fmla="*/ 1095374 h 2190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980" h="2190747">
                    <a:moveTo>
                      <a:pt x="0" y="1095374"/>
                    </a:moveTo>
                    <a:cubicBezTo>
                      <a:pt x="0" y="490416"/>
                      <a:pt x="490468" y="0"/>
                      <a:pt x="1095490" y="0"/>
                    </a:cubicBezTo>
                    <a:cubicBezTo>
                      <a:pt x="1700512" y="0"/>
                      <a:pt x="2190980" y="490416"/>
                      <a:pt x="2190980" y="1095374"/>
                    </a:cubicBezTo>
                    <a:cubicBezTo>
                      <a:pt x="2190980" y="1700332"/>
                      <a:pt x="1700512" y="2190748"/>
                      <a:pt x="1095490" y="2190748"/>
                    </a:cubicBezTo>
                    <a:cubicBezTo>
                      <a:pt x="490468" y="2190748"/>
                      <a:pt x="0" y="1700332"/>
                      <a:pt x="0" y="1095374"/>
                    </a:cubicBezTo>
                    <a:close/>
                  </a:path>
                </a:pathLst>
              </a:custGeom>
              <a:ln>
                <a:solidFill>
                  <a:schemeClr val="accent4">
                    <a:lumMod val="5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38616" tIns="338423" rIns="338615" bIns="338423" numCol="1" spcCol="1270" anchor="ctr" anchorCtr="0">
                <a:noAutofit/>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1200" cap="none" spc="0" normalizeH="0" baseline="0" noProof="0">
                    <a:ln>
                      <a:noFill/>
                    </a:ln>
                    <a:solidFill>
                      <a:srgbClr val="000000">
                        <a:hueOff val="0"/>
                        <a:satOff val="0"/>
                        <a:lumOff val="0"/>
                        <a:alphaOff val="0"/>
                      </a:srgbClr>
                    </a:solidFill>
                    <a:effectLst/>
                    <a:uLnTx/>
                    <a:uFillTx/>
                    <a:latin typeface="Arial" charset="0"/>
                    <a:ea typeface="ＭＳ Ｐゴシック" charset="0"/>
                    <a:cs typeface="+mn-cs"/>
                  </a:rPr>
                  <a:t>New Allowances &amp; Marketing Investment</a:t>
                </a:r>
                <a:br>
                  <a:rPr kumimoji="0" lang="en-US" sz="1800" b="0" i="0" u="none" strike="noStrike" kern="1200" cap="none" spc="0" normalizeH="0" baseline="0" noProof="0">
                    <a:ln>
                      <a:noFill/>
                    </a:ln>
                    <a:solidFill>
                      <a:srgbClr val="000000">
                        <a:hueOff val="0"/>
                        <a:satOff val="0"/>
                        <a:lumOff val="0"/>
                        <a:alphaOff val="0"/>
                      </a:srgbClr>
                    </a:solidFill>
                    <a:effectLst/>
                    <a:uLnTx/>
                    <a:uFillTx/>
                    <a:latin typeface="Arial" charset="0"/>
                    <a:ea typeface="ＭＳ Ｐゴシック" charset="0"/>
                    <a:cs typeface="+mn-cs"/>
                  </a:rPr>
                </a:br>
                <a:r>
                  <a:rPr kumimoji="0" lang="en-US" sz="1800" b="0" i="0" u="none" strike="noStrike" kern="1200" cap="none" spc="0" normalizeH="0" baseline="0" noProof="0">
                    <a:ln>
                      <a:noFill/>
                    </a:ln>
                    <a:solidFill>
                      <a:srgbClr val="000000">
                        <a:hueOff val="0"/>
                        <a:satOff val="0"/>
                        <a:lumOff val="0"/>
                        <a:alphaOff val="0"/>
                      </a:srgbClr>
                    </a:solidFill>
                    <a:effectLst/>
                    <a:uLnTx/>
                    <a:uFillTx/>
                    <a:latin typeface="Arial" charset="0"/>
                    <a:ea typeface="ＭＳ Ｐゴシック" charset="0"/>
                    <a:cs typeface="+mn-cs"/>
                  </a:rPr>
                  <a:t>Framework </a:t>
                </a:r>
              </a:p>
            </p:txBody>
          </p:sp>
        </p:grpSp>
        <p:sp>
          <p:nvSpPr>
            <p:cNvPr id="9" name="Rectangular Callout 9">
              <a:extLst>
                <a:ext uri="{FF2B5EF4-FFF2-40B4-BE49-F238E27FC236}">
                  <a16:creationId xmlns:a16="http://schemas.microsoft.com/office/drawing/2014/main" id="{9F87224F-935B-4F1C-9C4A-F021E31F9318}"/>
                </a:ext>
              </a:extLst>
            </p:cNvPr>
            <p:cNvSpPr/>
            <p:nvPr/>
          </p:nvSpPr>
          <p:spPr bwMode="auto">
            <a:xfrm>
              <a:off x="4436731" y="3056560"/>
              <a:ext cx="6040771" cy="1043930"/>
            </a:xfrm>
            <a:prstGeom prst="wedgeRectCallout">
              <a:avLst>
                <a:gd name="adj1" fmla="val -64134"/>
                <a:gd name="adj2" fmla="val -18039"/>
              </a:avLst>
            </a:prstGeom>
            <a:ln/>
          </p:spPr>
          <p:style>
            <a:lnRef idx="2">
              <a:schemeClr val="accent4"/>
            </a:lnRef>
            <a:fillRef idx="1">
              <a:schemeClr val="lt1"/>
            </a:fillRef>
            <a:effectRef idx="0">
              <a:schemeClr val="accent4"/>
            </a:effectRef>
            <a:fontRef idx="minor">
              <a:schemeClr val="dk1"/>
            </a:fontRef>
          </p:style>
          <p:txBody>
            <a:bodyPr vert="horz" wrap="square" lIns="36000" tIns="36000" rIns="0" bIns="0" numCol="1" rtlCol="0" anchor="t" anchorCtr="0" compatLnSpc="1">
              <a:prstTxWarp prst="textNoShape">
                <a:avLst/>
              </a:prstTxWarp>
            </a:bodyPr>
            <a:lstStyle/>
            <a:p>
              <a:pPr marL="0" marR="0" lvl="1" indent="0" algn="ctr" defTabSz="622300" rtl="0" eaLnBrk="1" fontAlgn="base" latinLnBrk="0" hangingPunct="1">
                <a:lnSpc>
                  <a:spcPct val="90000"/>
                </a:lnSpc>
                <a:spcBef>
                  <a:spcPct val="0"/>
                </a:spcBef>
                <a:spcAft>
                  <a:spcPct val="1500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panose="020B0604020202020204"/>
                  <a:ea typeface="+mn-ea"/>
                  <a:cs typeface="+mn-cs"/>
                </a:rPr>
                <a:t>Develop </a:t>
              </a:r>
              <a:r>
                <a:rPr kumimoji="0" lang="en-US" sz="2000" b="1" i="0" u="sng" strike="noStrike" kern="1200" cap="none" spc="0" normalizeH="0" baseline="0" noProof="0">
                  <a:ln>
                    <a:noFill/>
                  </a:ln>
                  <a:solidFill>
                    <a:srgbClr val="000000"/>
                  </a:solidFill>
                  <a:effectLst/>
                  <a:uLnTx/>
                  <a:uFillTx/>
                  <a:latin typeface="Arial" panose="020B0604020202020204"/>
                  <a:ea typeface="+mn-ea"/>
                  <a:cs typeface="+mn-cs"/>
                </a:rPr>
                <a:t>standard definitions </a:t>
              </a:r>
              <a:r>
                <a:rPr kumimoji="0" lang="en-US" sz="2000" b="0" i="0" u="none" strike="noStrike" kern="1200" cap="none" spc="0" normalizeH="0" baseline="0" noProof="0">
                  <a:ln>
                    <a:noFill/>
                  </a:ln>
                  <a:solidFill>
                    <a:srgbClr val="000000"/>
                  </a:solidFill>
                  <a:effectLst/>
                  <a:uLnTx/>
                  <a:uFillTx/>
                  <a:latin typeface="Arial" panose="020B0604020202020204"/>
                  <a:ea typeface="+mn-ea"/>
                  <a:cs typeface="+mn-cs"/>
                </a:rPr>
                <a:t>and one way of seeing allowances &amp; marketing investments to </a:t>
              </a:r>
              <a:r>
                <a:rPr kumimoji="0" lang="en-US" sz="2000" b="1" i="0" u="sng" strike="noStrike" kern="1200" cap="none" spc="0" normalizeH="0" baseline="0" noProof="0">
                  <a:ln>
                    <a:noFill/>
                  </a:ln>
                  <a:solidFill>
                    <a:srgbClr val="000000"/>
                  </a:solidFill>
                  <a:effectLst/>
                  <a:uLnTx/>
                  <a:uFillTx/>
                  <a:latin typeface="Arial" panose="020B0604020202020204"/>
                  <a:ea typeface="+mn-ea"/>
                  <a:cs typeface="+mn-cs"/>
                </a:rPr>
                <a:t>increase analytical capabilities. </a:t>
              </a:r>
              <a:endParaRPr kumimoji="0" lang="en-GB" sz="20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1541305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Allowances &amp; Marketing Investments Framework</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r>
              <a:rPr lang="en-GB" dirty="0"/>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fld id="{F4C94289-3309-4C35-850A-56FD49B3E346}" type="slidenum">
              <a:rPr lang="en-GB" smtClean="0"/>
              <a:t>11</a:t>
            </a:fld>
            <a:endParaRPr lang="en-GB"/>
          </a:p>
        </p:txBody>
      </p:sp>
      <p:grpSp>
        <p:nvGrpSpPr>
          <p:cNvPr id="9" name="Group 8">
            <a:extLst>
              <a:ext uri="{FF2B5EF4-FFF2-40B4-BE49-F238E27FC236}">
                <a16:creationId xmlns:a16="http://schemas.microsoft.com/office/drawing/2014/main" id="{71901C25-6662-4647-8BC9-09DEA6AA9FF6}"/>
              </a:ext>
            </a:extLst>
          </p:cNvPr>
          <p:cNvGrpSpPr/>
          <p:nvPr/>
        </p:nvGrpSpPr>
        <p:grpSpPr>
          <a:xfrm>
            <a:off x="774324" y="1493035"/>
            <a:ext cx="11506576" cy="4655624"/>
            <a:chOff x="660024" y="1699965"/>
            <a:chExt cx="12229214" cy="4655624"/>
          </a:xfrm>
        </p:grpSpPr>
        <p:grpSp>
          <p:nvGrpSpPr>
            <p:cNvPr id="10" name="Group 9">
              <a:extLst>
                <a:ext uri="{FF2B5EF4-FFF2-40B4-BE49-F238E27FC236}">
                  <a16:creationId xmlns:a16="http://schemas.microsoft.com/office/drawing/2014/main" id="{63BBD37A-D46B-4FF3-88AF-048D44E0D576}"/>
                </a:ext>
              </a:extLst>
            </p:cNvPr>
            <p:cNvGrpSpPr/>
            <p:nvPr/>
          </p:nvGrpSpPr>
          <p:grpSpPr>
            <a:xfrm>
              <a:off x="660024" y="1699965"/>
              <a:ext cx="10120736" cy="4655624"/>
              <a:chOff x="660024" y="1699965"/>
              <a:chExt cx="10120736" cy="4655624"/>
            </a:xfrm>
          </p:grpSpPr>
          <p:sp>
            <p:nvSpPr>
              <p:cNvPr id="32" name="Rectangle 31">
                <a:extLst>
                  <a:ext uri="{FF2B5EF4-FFF2-40B4-BE49-F238E27FC236}">
                    <a16:creationId xmlns:a16="http://schemas.microsoft.com/office/drawing/2014/main" id="{4F7530F8-981F-49FA-A966-F812EB12B56A}"/>
                  </a:ext>
                </a:extLst>
              </p:cNvPr>
              <p:cNvSpPr/>
              <p:nvPr/>
            </p:nvSpPr>
            <p:spPr>
              <a:xfrm>
                <a:off x="660024" y="2235032"/>
                <a:ext cx="10120736" cy="4120557"/>
              </a:xfrm>
              <a:prstGeom prst="rect">
                <a:avLst/>
              </a:prstGeom>
              <a:solidFill>
                <a:schemeClr val="bg1">
                  <a:lumMod val="95000"/>
                </a:schemeClr>
              </a:solidFill>
              <a:ln>
                <a:solidFill>
                  <a:schemeClr val="tx2">
                    <a:lumMod val="40000"/>
                    <a:lumOff val="6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126" rtl="0" eaLnBrk="1" fontAlgn="base" latinLnBrk="0" hangingPunct="1">
                  <a:lnSpc>
                    <a:spcPct val="100000"/>
                  </a:lnSpc>
                  <a:spcBef>
                    <a:spcPct val="0"/>
                  </a:spcBef>
                  <a:spcAft>
                    <a:spcPct val="0"/>
                  </a:spcAft>
                  <a:buClrTx/>
                  <a:buSzTx/>
                  <a:buFontTx/>
                  <a:buNone/>
                  <a:tabLst/>
                  <a:defRPr/>
                </a:pPr>
                <a:endParaRPr kumimoji="0" lang="fr-FR" sz="975" b="0" i="0" u="none" strike="noStrike" kern="1200" cap="none" spc="0" normalizeH="0" baseline="0" noProof="0">
                  <a:ln>
                    <a:noFill/>
                  </a:ln>
                  <a:solidFill>
                    <a:srgbClr val="122632"/>
                  </a:solidFill>
                  <a:effectLst/>
                  <a:uLnTx/>
                  <a:uFillTx/>
                  <a:latin typeface="Arial"/>
                  <a:ea typeface="+mn-ea"/>
                  <a:cs typeface="+mn-cs"/>
                </a:endParaRPr>
              </a:p>
            </p:txBody>
          </p:sp>
          <p:sp>
            <p:nvSpPr>
              <p:cNvPr id="33" name="ZoneTexte 2">
                <a:extLst>
                  <a:ext uri="{FF2B5EF4-FFF2-40B4-BE49-F238E27FC236}">
                    <a16:creationId xmlns:a16="http://schemas.microsoft.com/office/drawing/2014/main" id="{9DC73740-2FDE-4956-864A-C4CAA7AE06C2}"/>
                  </a:ext>
                </a:extLst>
              </p:cNvPr>
              <p:cNvSpPr txBox="1"/>
              <p:nvPr/>
            </p:nvSpPr>
            <p:spPr>
              <a:xfrm>
                <a:off x="660024" y="1699965"/>
                <a:ext cx="10120736" cy="456020"/>
              </a:xfrm>
              <a:prstGeom prst="rect">
                <a:avLst/>
              </a:prstGeom>
              <a:solidFill>
                <a:srgbClr val="A7E6E4"/>
              </a:solidFill>
              <a:ln>
                <a:noFill/>
              </a:ln>
              <a:effectLst/>
            </p:spPr>
            <p:txBody>
              <a:bodyPr vert="horz" wrap="square" lIns="0" tIns="0" rIns="0" bIns="0" numCol="1" rtlCol="0" anchor="ctr" anchorCtr="1" compatLnSpc="1">
                <a:prstTxWarp prst="textNoShape">
                  <a:avLst/>
                </a:prstTxWarp>
              </a:bodyPr>
              <a:lstStyle>
                <a:defPPr>
                  <a:defRPr lang="en-US"/>
                </a:defPPr>
                <a:lvl1pPr>
                  <a:spcBef>
                    <a:spcPct val="20000"/>
                  </a:spcBef>
                  <a:defRPr sz="2000" b="1" kern="0">
                    <a:solidFill>
                      <a:schemeClr val="tx1">
                        <a:lumMod val="75000"/>
                        <a:lumOff val="25000"/>
                      </a:schemeClr>
                    </a:solidFill>
                    <a:latin typeface="Arial" charset="0"/>
                    <a:cs typeface="Arial" charset="0"/>
                  </a:defRPr>
                </a:lvl1pPr>
                <a:lvl2pPr>
                  <a:defRPr>
                    <a:solidFill>
                      <a:schemeClr val="bg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000000">
                        <a:lumMod val="75000"/>
                        <a:lumOff val="25000"/>
                      </a:srgbClr>
                    </a:solidFill>
                    <a:effectLst/>
                    <a:uLnTx/>
                    <a:uFillTx/>
                    <a:latin typeface="Arial" charset="0"/>
                    <a:ea typeface="ＭＳ Ｐゴシック" pitchFamily="80" charset="-128"/>
                    <a:cs typeface="Arial" charset="0"/>
                  </a:rPr>
                  <a:t>Standardization </a:t>
                </a:r>
              </a:p>
            </p:txBody>
          </p:sp>
        </p:grpSp>
        <p:sp>
          <p:nvSpPr>
            <p:cNvPr id="11" name="TextBox 10">
              <a:extLst>
                <a:ext uri="{FF2B5EF4-FFF2-40B4-BE49-F238E27FC236}">
                  <a16:creationId xmlns:a16="http://schemas.microsoft.com/office/drawing/2014/main" id="{393C3AB0-F501-4666-A57A-2C3134D3AE33}"/>
                </a:ext>
              </a:extLst>
            </p:cNvPr>
            <p:cNvSpPr txBox="1"/>
            <p:nvPr/>
          </p:nvSpPr>
          <p:spPr>
            <a:xfrm>
              <a:off x="5533648" y="2339133"/>
              <a:ext cx="1344699" cy="307721"/>
            </a:xfrm>
            <a:prstGeom prst="rect">
              <a:avLst/>
            </a:prstGeom>
            <a:noFill/>
          </p:spPr>
          <p:txBody>
            <a:bodyPr wrap="square" lIns="0" tIns="0" rIns="0" bIns="0" rtlCol="0">
              <a:normAutofit/>
            </a:bodyPr>
            <a:lstStyle>
              <a:defPPr>
                <a:defRPr lang="en-US"/>
              </a:defPPr>
              <a:lvl1pPr>
                <a:defRPr sz="1400" u="sng">
                  <a:solidFill>
                    <a:schemeClr val="tx1"/>
                  </a:solidFill>
                </a:defRPr>
              </a:lvl1pPr>
            </a:lstStyle>
            <a:p>
              <a:pPr marL="0" marR="0" lvl="0" indent="0" algn="l" defTabSz="914126" rtl="0" eaLnBrk="1" fontAlgn="base" latinLnBrk="0" hangingPunct="1">
                <a:lnSpc>
                  <a:spcPct val="100000"/>
                </a:lnSpc>
                <a:spcBef>
                  <a:spcPct val="0"/>
                </a:spcBef>
                <a:spcAft>
                  <a:spcPct val="0"/>
                </a:spcAft>
                <a:buClrTx/>
                <a:buSzTx/>
                <a:buFontTx/>
                <a:buNone/>
                <a:tabLst/>
                <a:defRPr/>
              </a:pPr>
              <a:r>
                <a:rPr kumimoji="0" lang="en-US" sz="1138" b="1" i="1" u="sng"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Expense Type</a:t>
              </a:r>
            </a:p>
          </p:txBody>
        </p:sp>
        <p:sp>
          <p:nvSpPr>
            <p:cNvPr id="12" name="TextBox 11">
              <a:extLst>
                <a:ext uri="{FF2B5EF4-FFF2-40B4-BE49-F238E27FC236}">
                  <a16:creationId xmlns:a16="http://schemas.microsoft.com/office/drawing/2014/main" id="{BE26DD2F-7AC5-4D36-B056-E199F4457B9A}"/>
                </a:ext>
              </a:extLst>
            </p:cNvPr>
            <p:cNvSpPr txBox="1"/>
            <p:nvPr/>
          </p:nvSpPr>
          <p:spPr>
            <a:xfrm>
              <a:off x="8459775" y="2339133"/>
              <a:ext cx="4429463" cy="307721"/>
            </a:xfrm>
            <a:prstGeom prst="rect">
              <a:avLst/>
            </a:prstGeom>
            <a:noFill/>
          </p:spPr>
          <p:txBody>
            <a:bodyPr wrap="square" lIns="0" tIns="0" rIns="0" bIns="0" rtlCol="0">
              <a:normAutofit/>
            </a:bodyPr>
            <a:lstStyle/>
            <a:p>
              <a:pPr marL="0" marR="0" lvl="0" indent="0" algn="l" defTabSz="914126" rtl="0" eaLnBrk="1" fontAlgn="base" latinLnBrk="0" hangingPunct="1">
                <a:lnSpc>
                  <a:spcPct val="100000"/>
                </a:lnSpc>
                <a:spcBef>
                  <a:spcPct val="0"/>
                </a:spcBef>
                <a:spcAft>
                  <a:spcPct val="0"/>
                </a:spcAft>
                <a:buClrTx/>
                <a:buSzTx/>
                <a:buFontTx/>
                <a:buNone/>
                <a:tabLst/>
                <a:defRPr/>
              </a:pPr>
              <a:r>
                <a:rPr kumimoji="0" lang="en-US" sz="1138" b="1" i="1" u="sng"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Reporting Capabilities </a:t>
              </a:r>
            </a:p>
          </p:txBody>
        </p:sp>
        <p:sp>
          <p:nvSpPr>
            <p:cNvPr id="13" name="Rounded Rectangle 15">
              <a:extLst>
                <a:ext uri="{FF2B5EF4-FFF2-40B4-BE49-F238E27FC236}">
                  <a16:creationId xmlns:a16="http://schemas.microsoft.com/office/drawing/2014/main" id="{64977938-CE43-4117-A0D2-26BA14483269}"/>
                </a:ext>
              </a:extLst>
            </p:cNvPr>
            <p:cNvSpPr/>
            <p:nvPr/>
          </p:nvSpPr>
          <p:spPr bwMode="auto">
            <a:xfrm>
              <a:off x="5399126" y="2563639"/>
              <a:ext cx="2875029" cy="1795572"/>
            </a:xfrm>
            <a:prstGeom prst="roundRect">
              <a:avLst/>
            </a:prstGeom>
            <a:solidFill>
              <a:schemeClr val="accent3">
                <a:lumMod val="75000"/>
              </a:schemeClr>
            </a:solidFill>
            <a:ln>
              <a:noFill/>
            </a:ln>
            <a:effectLst/>
          </p:spPr>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Price Allowances</a:t>
              </a:r>
            </a:p>
            <a:p>
              <a:pPr marL="0" marR="0" lvl="0" indent="0" algn="ctr" defTabSz="914126" rtl="0" eaLnBrk="1" fontAlgn="base" latinLnBrk="0" hangingPunct="1">
                <a:lnSpc>
                  <a:spcPct val="10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Sales Adjustments &amp; Returns</a:t>
              </a:r>
            </a:p>
            <a:p>
              <a:pPr marL="0" marR="0" lvl="0" indent="0" algn="ctr" defTabSz="914126" rtl="0" eaLnBrk="1" fontAlgn="base" latinLnBrk="0" hangingPunct="1">
                <a:lnSpc>
                  <a:spcPct val="10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charset="0"/>
                  <a:ea typeface="ＭＳ Ｐゴシック" charset="0"/>
                  <a:cs typeface="+mn-cs"/>
                </a:rPr>
                <a:t>Distribution Allowances</a:t>
              </a:r>
            </a:p>
          </p:txBody>
        </p:sp>
        <p:sp>
          <p:nvSpPr>
            <p:cNvPr id="14" name="Rounded Rectangle 21">
              <a:extLst>
                <a:ext uri="{FF2B5EF4-FFF2-40B4-BE49-F238E27FC236}">
                  <a16:creationId xmlns:a16="http://schemas.microsoft.com/office/drawing/2014/main" id="{C7D99A5A-B035-468D-9259-EA7EB31F3131}"/>
                </a:ext>
              </a:extLst>
            </p:cNvPr>
            <p:cNvSpPr/>
            <p:nvPr/>
          </p:nvSpPr>
          <p:spPr bwMode="auto">
            <a:xfrm>
              <a:off x="5399127" y="4497614"/>
              <a:ext cx="2875029" cy="481805"/>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base" latinLnBrk="0" hangingPunct="1">
                <a:lnSpc>
                  <a:spcPct val="100000"/>
                </a:lnSpc>
                <a:spcBef>
                  <a:spcPct val="20000"/>
                </a:spcBef>
                <a:spcAft>
                  <a:spcPct val="0"/>
                </a:spcAft>
                <a:buClrTx/>
                <a:buSzTx/>
                <a:buFontTx/>
                <a:buNone/>
                <a:tabLst/>
                <a:defRPr/>
              </a:pPr>
              <a:r>
                <a:rPr kumimoji="0" lang="en-US" sz="1219" b="0" i="0" u="none" strike="noStrike" kern="1200" cap="none" spc="0" normalizeH="0" baseline="0" noProof="0">
                  <a:ln>
                    <a:noFill/>
                  </a:ln>
                  <a:solidFill>
                    <a:srgbClr val="000000"/>
                  </a:solidFill>
                  <a:effectLst/>
                  <a:uLnTx/>
                  <a:uFillTx/>
                  <a:latin typeface="Arial" charset="0"/>
                  <a:ea typeface="ＭＳ Ｐゴシック" charset="0"/>
                  <a:cs typeface="+mn-cs"/>
                </a:rPr>
                <a:t>Marketing Allowances</a:t>
              </a:r>
            </a:p>
          </p:txBody>
        </p:sp>
        <p:sp>
          <p:nvSpPr>
            <p:cNvPr id="15" name="Rounded Rectangle 23">
              <a:extLst>
                <a:ext uri="{FF2B5EF4-FFF2-40B4-BE49-F238E27FC236}">
                  <a16:creationId xmlns:a16="http://schemas.microsoft.com/office/drawing/2014/main" id="{D995C59B-1AB0-4A3B-B034-633051E8F581}"/>
                </a:ext>
              </a:extLst>
            </p:cNvPr>
            <p:cNvSpPr/>
            <p:nvPr/>
          </p:nvSpPr>
          <p:spPr bwMode="auto">
            <a:xfrm>
              <a:off x="4333983" y="2574944"/>
              <a:ext cx="945840" cy="1759595"/>
            </a:xfrm>
            <a:prstGeom prst="roundRect">
              <a:avLst/>
            </a:prstGeom>
            <a:solidFill>
              <a:schemeClr val="bg1">
                <a:lumMod val="65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base" latinLnBrk="0" hangingPunct="1">
                <a:lnSpc>
                  <a:spcPct val="100000"/>
                </a:lnSpc>
                <a:spcBef>
                  <a:spcPct val="20000"/>
                </a:spcBef>
                <a:spcAft>
                  <a:spcPct val="0"/>
                </a:spcAft>
                <a:buClrTx/>
                <a:buSzTx/>
                <a:buFontTx/>
                <a:buNone/>
                <a:tabLst/>
                <a:defRPr/>
              </a:pPr>
              <a:endParaRPr kumimoji="0" lang="en-US" sz="1219" b="1" i="0" u="none" strike="noStrike" kern="1200" cap="none" spc="0" normalizeH="0" baseline="0" noProof="0">
                <a:ln>
                  <a:noFill/>
                </a:ln>
                <a:solidFill>
                  <a:srgbClr val="122632"/>
                </a:solidFill>
                <a:effectLst/>
                <a:uLnTx/>
                <a:uFillTx/>
                <a:latin typeface="Arial" charset="0"/>
                <a:ea typeface="ＭＳ Ｐゴシック" charset="0"/>
                <a:cs typeface="+mn-cs"/>
              </a:endParaRPr>
            </a:p>
          </p:txBody>
        </p:sp>
        <p:cxnSp>
          <p:nvCxnSpPr>
            <p:cNvPr id="16" name="Straight Connector 15">
              <a:extLst>
                <a:ext uri="{FF2B5EF4-FFF2-40B4-BE49-F238E27FC236}">
                  <a16:creationId xmlns:a16="http://schemas.microsoft.com/office/drawing/2014/main" id="{23FBD6D4-FEB0-4ECB-8C86-EFBBA9BAE696}"/>
                </a:ext>
              </a:extLst>
            </p:cNvPr>
            <p:cNvCxnSpPr/>
            <p:nvPr/>
          </p:nvCxnSpPr>
          <p:spPr bwMode="auto">
            <a:xfrm>
              <a:off x="1959730" y="4414250"/>
              <a:ext cx="8757970" cy="1293"/>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78D8EDC1-C7F1-4BC9-B709-2989D036A2CD}"/>
                </a:ext>
              </a:extLst>
            </p:cNvPr>
            <p:cNvCxnSpPr/>
            <p:nvPr/>
          </p:nvCxnSpPr>
          <p:spPr bwMode="auto">
            <a:xfrm flipV="1">
              <a:off x="786330" y="5031931"/>
              <a:ext cx="9931370" cy="42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Rounded Rectangle 29">
              <a:extLst>
                <a:ext uri="{FF2B5EF4-FFF2-40B4-BE49-F238E27FC236}">
                  <a16:creationId xmlns:a16="http://schemas.microsoft.com/office/drawing/2014/main" id="{E3FAB8ED-3FE8-4DAF-B4E9-580A58E9145E}"/>
                </a:ext>
              </a:extLst>
            </p:cNvPr>
            <p:cNvSpPr/>
            <p:nvPr/>
          </p:nvSpPr>
          <p:spPr bwMode="auto">
            <a:xfrm>
              <a:off x="5399127" y="5107846"/>
              <a:ext cx="2875029" cy="481944"/>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base" latinLnBrk="0" hangingPunct="1">
                <a:lnSpc>
                  <a:spcPct val="100000"/>
                </a:lnSpc>
                <a:spcBef>
                  <a:spcPct val="20000"/>
                </a:spcBef>
                <a:spcAft>
                  <a:spcPct val="0"/>
                </a:spcAft>
                <a:buClrTx/>
                <a:buSzTx/>
                <a:buFontTx/>
                <a:buNone/>
                <a:tabLst/>
                <a:defRPr/>
              </a:pPr>
              <a:r>
                <a:rPr kumimoji="0" lang="en-US" sz="1219" b="0" i="0" u="none" strike="noStrike" kern="1200" cap="none" spc="0" normalizeH="0" baseline="0" noProof="0">
                  <a:ln>
                    <a:noFill/>
                  </a:ln>
                  <a:solidFill>
                    <a:srgbClr val="000000"/>
                  </a:solidFill>
                  <a:effectLst/>
                  <a:uLnTx/>
                  <a:uFillTx/>
                  <a:latin typeface="Arial" charset="0"/>
                  <a:ea typeface="ＭＳ Ｐゴシック" charset="0"/>
                  <a:cs typeface="+mn-cs"/>
                </a:rPr>
                <a:t>TITP </a:t>
              </a:r>
              <a:r>
                <a:rPr kumimoji="0" lang="fr-CH" sz="1219" b="0" i="0" u="none" strike="noStrike" kern="1200" cap="none" spc="0" normalizeH="0" baseline="0" noProof="0">
                  <a:ln>
                    <a:noFill/>
                  </a:ln>
                  <a:solidFill>
                    <a:srgbClr val="000000"/>
                  </a:solidFill>
                  <a:effectLst/>
                  <a:uLnTx/>
                  <a:uFillTx/>
                  <a:latin typeface="Arial" charset="0"/>
                  <a:ea typeface="ＭＳ Ｐゴシック" charset="0"/>
                  <a:cs typeface="+mn-cs"/>
                </a:rPr>
                <a:t>&amp; TIP </a:t>
              </a:r>
              <a:br>
                <a:rPr kumimoji="0" lang="fr-CH" sz="1219" b="0" i="0" u="none" strike="noStrike" kern="1200" cap="none" spc="0" normalizeH="0" baseline="0" noProof="0">
                  <a:ln>
                    <a:noFill/>
                  </a:ln>
                  <a:solidFill>
                    <a:srgbClr val="000000"/>
                  </a:solidFill>
                  <a:effectLst/>
                  <a:uLnTx/>
                  <a:uFillTx/>
                  <a:latin typeface="Arial" charset="0"/>
                  <a:ea typeface="ＭＳ Ｐゴシック" charset="0"/>
                  <a:cs typeface="+mn-cs"/>
                </a:rPr>
              </a:br>
              <a:r>
                <a:rPr kumimoji="0" lang="fr-CH" sz="1219" b="0" i="1" u="none" strike="noStrike" kern="1200" cap="none" spc="0" normalizeH="0" baseline="0" noProof="0">
                  <a:ln>
                    <a:noFill/>
                  </a:ln>
                  <a:solidFill>
                    <a:srgbClr val="000000"/>
                  </a:solidFill>
                  <a:effectLst/>
                  <a:uLnTx/>
                  <a:uFillTx/>
                  <a:latin typeface="Arial" charset="0"/>
                  <a:ea typeface="ＭＳ Ｐゴシック" charset="0"/>
                  <a:cs typeface="+mn-cs"/>
                </a:rPr>
                <a:t>(not </a:t>
              </a:r>
              <a:r>
                <a:rPr kumimoji="0" lang="fr-CH" sz="1219" b="0" i="1" u="none" strike="noStrike" kern="1200" cap="none" spc="0" normalizeH="0" baseline="0" noProof="0" err="1">
                  <a:ln>
                    <a:noFill/>
                  </a:ln>
                  <a:solidFill>
                    <a:srgbClr val="000000"/>
                  </a:solidFill>
                  <a:effectLst/>
                  <a:uLnTx/>
                  <a:uFillTx/>
                  <a:latin typeface="Arial" charset="0"/>
                  <a:ea typeface="ＭＳ Ｐゴシック" charset="0"/>
                  <a:cs typeface="+mn-cs"/>
                </a:rPr>
                <a:t>changed</a:t>
              </a:r>
              <a:r>
                <a:rPr kumimoji="0" lang="fr-CH" sz="1219" b="0" i="1" u="none" strike="noStrike" kern="1200" cap="none" spc="0" normalizeH="0" baseline="0" noProof="0">
                  <a:ln>
                    <a:noFill/>
                  </a:ln>
                  <a:solidFill>
                    <a:srgbClr val="000000"/>
                  </a:solidFill>
                  <a:effectLst/>
                  <a:uLnTx/>
                  <a:uFillTx/>
                  <a:latin typeface="Arial" charset="0"/>
                  <a:ea typeface="ＭＳ Ｐゴシック" charset="0"/>
                  <a:cs typeface="+mn-cs"/>
                </a:rPr>
                <a:t>)</a:t>
              </a:r>
              <a:endParaRPr kumimoji="0" lang="en-US" sz="1219" b="0" i="1" u="none" strike="noStrike" kern="1200" cap="none" spc="0" normalizeH="0" baseline="0" noProof="0">
                <a:ln>
                  <a:noFill/>
                </a:ln>
                <a:solidFill>
                  <a:srgbClr val="000000"/>
                </a:solidFill>
                <a:effectLst/>
                <a:uLnTx/>
                <a:uFillTx/>
                <a:latin typeface="Arial" charset="0"/>
                <a:ea typeface="ＭＳ Ｐゴシック" charset="0"/>
                <a:cs typeface="+mn-cs"/>
              </a:endParaRPr>
            </a:p>
          </p:txBody>
        </p:sp>
        <p:cxnSp>
          <p:nvCxnSpPr>
            <p:cNvPr id="19" name="Straight Connector 18">
              <a:extLst>
                <a:ext uri="{FF2B5EF4-FFF2-40B4-BE49-F238E27FC236}">
                  <a16:creationId xmlns:a16="http://schemas.microsoft.com/office/drawing/2014/main" id="{ADCC90A7-780B-4B02-AA6C-13DA22E7D3B3}"/>
                </a:ext>
              </a:extLst>
            </p:cNvPr>
            <p:cNvCxnSpPr/>
            <p:nvPr/>
          </p:nvCxnSpPr>
          <p:spPr bwMode="auto">
            <a:xfrm flipV="1">
              <a:off x="786330" y="5623291"/>
              <a:ext cx="9931370" cy="31375"/>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 name="Rounded Rectangle 35">
              <a:extLst>
                <a:ext uri="{FF2B5EF4-FFF2-40B4-BE49-F238E27FC236}">
                  <a16:creationId xmlns:a16="http://schemas.microsoft.com/office/drawing/2014/main" id="{B6F08F0A-6AED-4B9D-B021-7121FBDE84A6}"/>
                </a:ext>
              </a:extLst>
            </p:cNvPr>
            <p:cNvSpPr/>
            <p:nvPr/>
          </p:nvSpPr>
          <p:spPr bwMode="auto">
            <a:xfrm>
              <a:off x="5399127" y="5708713"/>
              <a:ext cx="2875029" cy="496098"/>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ct val="20000"/>
                </a:spcBef>
                <a:spcAft>
                  <a:spcPct val="0"/>
                </a:spcAft>
                <a:buClrTx/>
                <a:buSzTx/>
                <a:buFontTx/>
                <a:buNone/>
                <a:tabLst/>
                <a:defRPr/>
              </a:pPr>
              <a:r>
                <a:rPr kumimoji="0" lang="fr-CH" sz="1219" b="0" i="0" u="none" strike="noStrike" kern="1200" cap="none" spc="0" normalizeH="0" baseline="0" noProof="0">
                  <a:ln>
                    <a:noFill/>
                  </a:ln>
                  <a:solidFill>
                    <a:srgbClr val="000000"/>
                  </a:solidFill>
                  <a:effectLst/>
                  <a:uLnTx/>
                  <a:uFillTx/>
                  <a:latin typeface="Arial" charset="0"/>
                  <a:ea typeface="ＭＳ Ｐゴシック" charset="0"/>
                  <a:cs typeface="+mn-cs"/>
                </a:rPr>
                <a:t>Marketing Programs</a:t>
              </a:r>
              <a:br>
                <a:rPr kumimoji="0" lang="fr-CH" sz="1219" b="0" i="0" u="none" strike="noStrike" kern="1200" cap="none" spc="0" normalizeH="0" baseline="0" noProof="0">
                  <a:ln>
                    <a:noFill/>
                  </a:ln>
                  <a:solidFill>
                    <a:srgbClr val="000000"/>
                  </a:solidFill>
                  <a:effectLst/>
                  <a:uLnTx/>
                  <a:uFillTx/>
                  <a:latin typeface="Arial" charset="0"/>
                  <a:ea typeface="ＭＳ Ｐゴシック" charset="0"/>
                  <a:cs typeface="+mn-cs"/>
                </a:rPr>
              </a:br>
              <a:r>
                <a:rPr kumimoji="0" lang="fr-CH" sz="1219" b="0" i="1" u="none" strike="noStrike" kern="1200" cap="none" spc="0" normalizeH="0" baseline="0" noProof="0">
                  <a:ln>
                    <a:noFill/>
                  </a:ln>
                  <a:solidFill>
                    <a:srgbClr val="000000"/>
                  </a:solidFill>
                  <a:effectLst/>
                  <a:uLnTx/>
                  <a:uFillTx/>
                  <a:latin typeface="Arial" charset="0"/>
                  <a:ea typeface="ＭＳ Ｐゴシック" charset="0"/>
                  <a:cs typeface="+mn-cs"/>
                </a:rPr>
                <a:t>(not </a:t>
              </a:r>
              <a:r>
                <a:rPr kumimoji="0" lang="fr-CH" sz="1219" b="0" i="1" u="none" strike="noStrike" kern="1200" cap="none" spc="0" normalizeH="0" baseline="0" noProof="0" err="1">
                  <a:ln>
                    <a:noFill/>
                  </a:ln>
                  <a:solidFill>
                    <a:srgbClr val="000000"/>
                  </a:solidFill>
                  <a:effectLst/>
                  <a:uLnTx/>
                  <a:uFillTx/>
                  <a:latin typeface="Arial" charset="0"/>
                  <a:ea typeface="ＭＳ Ｐゴシック" charset="0"/>
                  <a:cs typeface="+mn-cs"/>
                </a:rPr>
                <a:t>changed</a:t>
              </a:r>
              <a:r>
                <a:rPr kumimoji="0" lang="fr-CH" sz="1219" b="0" i="1" u="none" strike="noStrike" kern="1200" cap="none" spc="0" normalizeH="0" baseline="0" noProof="0">
                  <a:ln>
                    <a:noFill/>
                  </a:ln>
                  <a:solidFill>
                    <a:srgbClr val="000000"/>
                  </a:solidFill>
                  <a:effectLst/>
                  <a:uLnTx/>
                  <a:uFillTx/>
                  <a:latin typeface="Arial" charset="0"/>
                  <a:ea typeface="ＭＳ Ｐゴシック" charset="0"/>
                  <a:cs typeface="+mn-cs"/>
                </a:rPr>
                <a:t>)</a:t>
              </a:r>
              <a:endParaRPr kumimoji="0" lang="en-US" sz="1219" b="0" i="1"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21" name="Rounded Rectangle 28">
              <a:extLst>
                <a:ext uri="{FF2B5EF4-FFF2-40B4-BE49-F238E27FC236}">
                  <a16:creationId xmlns:a16="http://schemas.microsoft.com/office/drawing/2014/main" id="{8BA1407F-A772-4FE4-829D-84C688F2BC33}"/>
                </a:ext>
              </a:extLst>
            </p:cNvPr>
            <p:cNvSpPr/>
            <p:nvPr/>
          </p:nvSpPr>
          <p:spPr bwMode="auto">
            <a:xfrm>
              <a:off x="2100837" y="4492445"/>
              <a:ext cx="2113843" cy="1720395"/>
            </a:xfrm>
            <a:prstGeom prst="roundRect">
              <a:avLst/>
            </a:prstGeom>
            <a:solidFill>
              <a:srgbClr val="36A9AA"/>
            </a:solidFill>
            <a:ln/>
          </p:spPr>
          <p:style>
            <a:lnRef idx="3">
              <a:schemeClr val="lt1"/>
            </a:lnRef>
            <a:fillRef idx="1">
              <a:schemeClr val="accent4"/>
            </a:fillRef>
            <a:effectRef idx="1">
              <a:schemeClr val="accent4"/>
            </a:effectRef>
            <a:fontRef idx="minor">
              <a:schemeClr val="lt1"/>
            </a:fontRef>
          </p:style>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ct val="2000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charset="0"/>
                  <a:ea typeface="ＭＳ Ｐゴシック" charset="0"/>
                  <a:cs typeface="+mn-cs"/>
                </a:rPr>
                <a:t>Marketing Investments determine allocation key through creation of WBS at point of plan</a:t>
              </a:r>
            </a:p>
          </p:txBody>
        </p:sp>
        <p:sp>
          <p:nvSpPr>
            <p:cNvPr id="22" name="TextBox 21">
              <a:extLst>
                <a:ext uri="{FF2B5EF4-FFF2-40B4-BE49-F238E27FC236}">
                  <a16:creationId xmlns:a16="http://schemas.microsoft.com/office/drawing/2014/main" id="{9C661956-9FDE-4823-858B-317845D81867}"/>
                </a:ext>
              </a:extLst>
            </p:cNvPr>
            <p:cNvSpPr txBox="1"/>
            <p:nvPr/>
          </p:nvSpPr>
          <p:spPr>
            <a:xfrm>
              <a:off x="8352240" y="2568236"/>
              <a:ext cx="2268714" cy="1780455"/>
            </a:xfrm>
            <a:prstGeom prst="rect">
              <a:avLst/>
            </a:prstGeom>
            <a:solidFill>
              <a:schemeClr val="accent5">
                <a:lumMod val="20000"/>
                <a:lumOff val="80000"/>
              </a:schemeClr>
            </a:solidFill>
          </p:spPr>
          <p:txBody>
            <a:bodyPr wrap="square" lIns="0" tIns="0" rIns="0" bIns="0" rtlCol="0" anchor="ctr">
              <a:noAutofit/>
            </a:bodyPr>
            <a:lstStyle>
              <a:defPPr>
                <a:defRPr lang="en-US"/>
              </a:defPPr>
              <a:lvl1pPr marL="171450" indent="-171450">
                <a:buFont typeface="Arial" panose="020B0604020202020204" pitchFamily="34" charset="0"/>
                <a:buChar char="•"/>
                <a:defRPr sz="1200">
                  <a:solidFill>
                    <a:schemeClr val="tx1"/>
                  </a:solidFill>
                </a:defRPr>
              </a:lvl1pPr>
            </a:lstStyle>
            <a:p>
              <a:pPr marL="230813" marR="0" lvl="1" indent="-136682" algn="l" defTabSz="914126" rtl="0" eaLnBrk="1" fontAlgn="base" latinLnBrk="0" hangingPunct="1">
                <a:lnSpc>
                  <a:spcPct val="100000"/>
                </a:lnSpc>
                <a:spcBef>
                  <a:spcPts val="80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Brand Family</a:t>
              </a:r>
            </a:p>
            <a:p>
              <a:pPr marL="230813" marR="0" lvl="1" indent="-136682" algn="l" defTabSz="914126" rtl="0" eaLnBrk="1" fontAlgn="base" latinLnBrk="0" hangingPunct="1">
                <a:lnSpc>
                  <a:spcPct val="100000"/>
                </a:lnSpc>
                <a:spcBef>
                  <a:spcPts val="80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Product type</a:t>
              </a:r>
            </a:p>
            <a:p>
              <a:pPr marL="230813" marR="0" lvl="1" indent="-136682" algn="l" defTabSz="914126" rtl="0" eaLnBrk="1" fontAlgn="base" latinLnBrk="0" hangingPunct="1">
                <a:lnSpc>
                  <a:spcPct val="100000"/>
                </a:lnSpc>
                <a:spcBef>
                  <a:spcPts val="80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GSC SKU level populated at data entry (SD)</a:t>
              </a:r>
            </a:p>
            <a:p>
              <a:pPr marL="230813" marR="0" lvl="1" indent="-136682" algn="l" defTabSz="914126" rtl="0" eaLnBrk="1" fontAlgn="base" latinLnBrk="0" hangingPunct="1">
                <a:lnSpc>
                  <a:spcPct val="100000"/>
                </a:lnSpc>
                <a:spcBef>
                  <a:spcPts val="80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Any additional SKU / Customer related characteristics</a:t>
              </a:r>
            </a:p>
          </p:txBody>
        </p:sp>
        <p:sp>
          <p:nvSpPr>
            <p:cNvPr id="23" name="TextBox 22">
              <a:extLst>
                <a:ext uri="{FF2B5EF4-FFF2-40B4-BE49-F238E27FC236}">
                  <a16:creationId xmlns:a16="http://schemas.microsoft.com/office/drawing/2014/main" id="{D805ADFB-9B4F-4546-90BB-84571A3A8F69}"/>
                </a:ext>
              </a:extLst>
            </p:cNvPr>
            <p:cNvSpPr txBox="1"/>
            <p:nvPr/>
          </p:nvSpPr>
          <p:spPr>
            <a:xfrm>
              <a:off x="8352240" y="4465162"/>
              <a:ext cx="2268714" cy="1738620"/>
            </a:xfrm>
            <a:prstGeom prst="rect">
              <a:avLst/>
            </a:prstGeom>
            <a:solidFill>
              <a:srgbClr val="95C5C3"/>
            </a:solidFill>
          </p:spPr>
          <p:txBody>
            <a:bodyPr wrap="square" lIns="0" tIns="0" rIns="0" bIns="0" rtlCol="0" anchor="ctr">
              <a:noAutofit/>
            </a:bodyPr>
            <a:lstStyle>
              <a:defPPr>
                <a:defRPr lang="en-US"/>
              </a:defPPr>
              <a:lvl1pPr marL="171450" indent="-171450">
                <a:buFont typeface="Arial" panose="020B0604020202020204" pitchFamily="34" charset="0"/>
                <a:buChar char="•"/>
                <a:defRPr sz="1200">
                  <a:solidFill>
                    <a:schemeClr val="tx1"/>
                  </a:solidFill>
                  <a:latin typeface="Arial" pitchFamily="34" charset="0"/>
                  <a:ea typeface="ＭＳ Ｐゴシック" pitchFamily="80" charset="-128"/>
                </a:defRPr>
              </a:lvl1pPr>
              <a:lvl2pPr marL="628650" lvl="1" indent="-171450">
                <a:buFont typeface="Wingdings" panose="05000000000000000000" pitchFamily="2" charset="2"/>
                <a:buChar char="§"/>
                <a:defRPr sz="1200">
                  <a:solidFill>
                    <a:schemeClr val="tx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230813" marR="0" lvl="1" indent="-136682" algn="l" defTabSz="914126" rtl="0" eaLnBrk="1" fontAlgn="base" latinLnBrk="0" hangingPunct="1">
                <a:lnSpc>
                  <a:spcPct val="100000"/>
                </a:lnSpc>
                <a:spcBef>
                  <a:spcPts val="80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Brand Family</a:t>
              </a:r>
            </a:p>
            <a:p>
              <a:pPr marL="230813" marR="0" lvl="1" indent="-136682" algn="l" defTabSz="914126" rtl="0" eaLnBrk="1" fontAlgn="base" latinLnBrk="0" hangingPunct="1">
                <a:lnSpc>
                  <a:spcPct val="100000"/>
                </a:lnSpc>
                <a:spcBef>
                  <a:spcPts val="80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rPr>
                <a:t>Product Type</a:t>
              </a:r>
            </a:p>
          </p:txBody>
        </p:sp>
        <p:sp>
          <p:nvSpPr>
            <p:cNvPr id="24" name="Rounded Rectangle 33">
              <a:extLst>
                <a:ext uri="{FF2B5EF4-FFF2-40B4-BE49-F238E27FC236}">
                  <a16:creationId xmlns:a16="http://schemas.microsoft.com/office/drawing/2014/main" id="{747F45BD-E2F6-4E55-A3AB-7ABFCE7D7A1B}"/>
                </a:ext>
              </a:extLst>
            </p:cNvPr>
            <p:cNvSpPr/>
            <p:nvPr/>
          </p:nvSpPr>
          <p:spPr bwMode="auto">
            <a:xfrm>
              <a:off x="4335709" y="4500943"/>
              <a:ext cx="945840" cy="1707196"/>
            </a:xfrm>
            <a:prstGeom prst="roundRect">
              <a:avLst/>
            </a:prstGeom>
            <a:solidFill>
              <a:schemeClr val="bg1">
                <a:lumMod val="65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base" latinLnBrk="0" hangingPunct="1">
                <a:lnSpc>
                  <a:spcPct val="100000"/>
                </a:lnSpc>
                <a:spcBef>
                  <a:spcPct val="20000"/>
                </a:spcBef>
                <a:spcAft>
                  <a:spcPct val="0"/>
                </a:spcAft>
                <a:buClrTx/>
                <a:buSzTx/>
                <a:buFontTx/>
                <a:buNone/>
                <a:tabLst/>
                <a:defRPr/>
              </a:pPr>
              <a:endParaRPr kumimoji="0" lang="en-US" sz="1219" b="1" i="0" u="none" strike="noStrike" kern="1200" cap="none" spc="0" normalizeH="0" baseline="0" noProof="0">
                <a:ln>
                  <a:noFill/>
                </a:ln>
                <a:solidFill>
                  <a:srgbClr val="122632"/>
                </a:solidFill>
                <a:effectLst/>
                <a:uLnTx/>
                <a:uFillTx/>
                <a:latin typeface="Arial" charset="0"/>
                <a:ea typeface="ＭＳ Ｐゴシック" charset="0"/>
                <a:cs typeface="+mn-cs"/>
              </a:endParaRPr>
            </a:p>
          </p:txBody>
        </p:sp>
        <p:sp>
          <p:nvSpPr>
            <p:cNvPr id="25" name="TextBox 24">
              <a:extLst>
                <a:ext uri="{FF2B5EF4-FFF2-40B4-BE49-F238E27FC236}">
                  <a16:creationId xmlns:a16="http://schemas.microsoft.com/office/drawing/2014/main" id="{55B855C5-8D42-4CCE-AEDA-977FFC07B9FA}"/>
                </a:ext>
              </a:extLst>
            </p:cNvPr>
            <p:cNvSpPr txBox="1"/>
            <p:nvPr/>
          </p:nvSpPr>
          <p:spPr>
            <a:xfrm>
              <a:off x="4571886" y="5180177"/>
              <a:ext cx="624952" cy="925196"/>
            </a:xfrm>
            <a:prstGeom prst="rect">
              <a:avLst/>
            </a:prstGeom>
            <a:solidFill>
              <a:schemeClr val="bg1">
                <a:lumMod val="65000"/>
              </a:schemeClr>
            </a:solidFill>
          </p:spPr>
          <p:txBody>
            <a:bodyPr wrap="square" lIns="0" tIns="0" rIns="0" bIns="0" rtlCol="0">
              <a:normAutofit/>
            </a:bodyPr>
            <a:lstStyle/>
            <a:p>
              <a:pPr marL="0" marR="0" lvl="0" indent="0" algn="l" defTabSz="914126" rtl="0" eaLnBrk="1" fontAlgn="base" latinLnBrk="0" hangingPunct="1">
                <a:lnSpc>
                  <a:spcPct val="100000"/>
                </a:lnSpc>
                <a:spcBef>
                  <a:spcPct val="0"/>
                </a:spcBef>
                <a:spcAft>
                  <a:spcPct val="0"/>
                </a:spcAft>
                <a:buClrTx/>
                <a:buSzTx/>
                <a:buFontTx/>
                <a:buNone/>
                <a:tabLst/>
                <a:defRPr/>
              </a:pPr>
              <a:r>
                <a:rPr kumimoji="0" lang="en-GB" sz="1300" b="1" i="0" u="none" strike="noStrike" kern="1200" cap="none" spc="0" normalizeH="0" baseline="0" noProof="0">
                  <a:ln>
                    <a:noFill/>
                  </a:ln>
                  <a:solidFill>
                    <a:srgbClr val="FFFFFF"/>
                  </a:solidFill>
                  <a:effectLst/>
                  <a:uLnTx/>
                  <a:uFillTx/>
                  <a:latin typeface="Arial" pitchFamily="34" charset="0"/>
                  <a:ea typeface="ＭＳ Ｐゴシック" pitchFamily="80" charset="-128"/>
                  <a:cs typeface="+mn-cs"/>
                </a:rPr>
                <a:t>Fixed</a:t>
              </a:r>
            </a:p>
          </p:txBody>
        </p:sp>
        <p:sp>
          <p:nvSpPr>
            <p:cNvPr id="26" name="TextBox 25">
              <a:extLst>
                <a:ext uri="{FF2B5EF4-FFF2-40B4-BE49-F238E27FC236}">
                  <a16:creationId xmlns:a16="http://schemas.microsoft.com/office/drawing/2014/main" id="{8611D35E-29BC-4D1A-8B00-46721A255DA3}"/>
                </a:ext>
              </a:extLst>
            </p:cNvPr>
            <p:cNvSpPr txBox="1"/>
            <p:nvPr/>
          </p:nvSpPr>
          <p:spPr>
            <a:xfrm>
              <a:off x="4133527" y="3291681"/>
              <a:ext cx="1346750" cy="766615"/>
            </a:xfrm>
            <a:prstGeom prst="rect">
              <a:avLst/>
            </a:prstGeom>
            <a:noFill/>
          </p:spPr>
          <p:txBody>
            <a:bodyPr wrap="square" lIns="0" tIns="0" rIns="0" bIns="0" rtlCol="0">
              <a:normAutofit/>
            </a:bodyPr>
            <a:lstStyle/>
            <a:p>
              <a:pPr marL="0" marR="0" lvl="0" indent="0" algn="ctr" defTabSz="914126"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Arial" pitchFamily="34" charset="0"/>
                  <a:ea typeface="ＭＳ Ｐゴシック" pitchFamily="80" charset="-128"/>
                  <a:cs typeface="+mn-cs"/>
                </a:rPr>
                <a:t>Variable </a:t>
              </a:r>
            </a:p>
          </p:txBody>
        </p:sp>
        <p:sp>
          <p:nvSpPr>
            <p:cNvPr id="27" name="Rounded Rectangle 44">
              <a:extLst>
                <a:ext uri="{FF2B5EF4-FFF2-40B4-BE49-F238E27FC236}">
                  <a16:creationId xmlns:a16="http://schemas.microsoft.com/office/drawing/2014/main" id="{12783C64-6B8A-4C76-9ACB-65F8BF0BE2B1}"/>
                </a:ext>
              </a:extLst>
            </p:cNvPr>
            <p:cNvSpPr/>
            <p:nvPr/>
          </p:nvSpPr>
          <p:spPr bwMode="auto">
            <a:xfrm>
              <a:off x="786330" y="2585178"/>
              <a:ext cx="1251446" cy="2382933"/>
            </a:xfrm>
            <a:prstGeom prst="roundRect">
              <a:avLst/>
            </a:prstGeom>
            <a:solidFill>
              <a:schemeClr val="bg2">
                <a:lumMod val="25000"/>
              </a:schemeClr>
            </a:solidFill>
            <a:ln>
              <a:noFill/>
            </a:ln>
            <a:effectLst/>
          </p:spPr>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ct val="20000"/>
                </a:spcBef>
                <a:spcAft>
                  <a:spcPct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Arial" charset="0"/>
                  <a:ea typeface="ＭＳ Ｐゴシック" charset="0"/>
                  <a:cs typeface="+mn-cs"/>
                </a:rPr>
                <a:t>Revenue Reduction</a:t>
              </a:r>
            </a:p>
          </p:txBody>
        </p:sp>
        <p:sp>
          <p:nvSpPr>
            <p:cNvPr id="28" name="Rounded Rectangle 45">
              <a:extLst>
                <a:ext uri="{FF2B5EF4-FFF2-40B4-BE49-F238E27FC236}">
                  <a16:creationId xmlns:a16="http://schemas.microsoft.com/office/drawing/2014/main" id="{06795C78-B5D5-465E-94B3-7B15557F7F36}"/>
                </a:ext>
              </a:extLst>
            </p:cNvPr>
            <p:cNvSpPr/>
            <p:nvPr/>
          </p:nvSpPr>
          <p:spPr bwMode="auto">
            <a:xfrm>
              <a:off x="786331" y="5101043"/>
              <a:ext cx="1229796" cy="475668"/>
            </a:xfrm>
            <a:prstGeom prst="roundRect">
              <a:avLst/>
            </a:prstGeom>
            <a:solidFill>
              <a:schemeClr val="bg2">
                <a:lumMod val="25000"/>
              </a:schemeClr>
            </a:solidFill>
            <a:ln>
              <a:noFill/>
            </a:ln>
            <a:effectLst/>
          </p:spPr>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ct val="20000"/>
                </a:spcBef>
                <a:spcAft>
                  <a:spcPct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charset="0"/>
                  <a:ea typeface="ＭＳ Ｐゴシック" charset="0"/>
                  <a:cs typeface="+mn-cs"/>
                </a:rPr>
                <a:t>COGS</a:t>
              </a:r>
            </a:p>
          </p:txBody>
        </p:sp>
        <p:sp>
          <p:nvSpPr>
            <p:cNvPr id="29" name="Rounded Rectangle 46">
              <a:extLst>
                <a:ext uri="{FF2B5EF4-FFF2-40B4-BE49-F238E27FC236}">
                  <a16:creationId xmlns:a16="http://schemas.microsoft.com/office/drawing/2014/main" id="{ED8323A5-DE18-4898-90B2-2B92834C028C}"/>
                </a:ext>
              </a:extLst>
            </p:cNvPr>
            <p:cNvSpPr/>
            <p:nvPr/>
          </p:nvSpPr>
          <p:spPr bwMode="auto">
            <a:xfrm>
              <a:off x="786330" y="5703033"/>
              <a:ext cx="1251447" cy="500749"/>
            </a:xfrm>
            <a:prstGeom prst="roundRect">
              <a:avLst/>
            </a:prstGeom>
            <a:solidFill>
              <a:schemeClr val="bg2">
                <a:lumMod val="25000"/>
              </a:schemeClr>
            </a:solidFill>
            <a:ln>
              <a:noFill/>
            </a:ln>
            <a:effectLst/>
          </p:spPr>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ct val="20000"/>
                </a:spcBef>
                <a:spcAft>
                  <a:spcPct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charset="0"/>
                  <a:ea typeface="ＭＳ Ｐゴシック" charset="0"/>
                  <a:cs typeface="+mn-cs"/>
                </a:rPr>
                <a:t>Marketing Programs</a:t>
              </a:r>
            </a:p>
          </p:txBody>
        </p:sp>
        <p:sp>
          <p:nvSpPr>
            <p:cNvPr id="30" name="Rounded Rectangle 47">
              <a:extLst>
                <a:ext uri="{FF2B5EF4-FFF2-40B4-BE49-F238E27FC236}">
                  <a16:creationId xmlns:a16="http://schemas.microsoft.com/office/drawing/2014/main" id="{772B15D2-4E18-4C7C-8BB4-C145D166A3CE}"/>
                </a:ext>
              </a:extLst>
            </p:cNvPr>
            <p:cNvSpPr/>
            <p:nvPr/>
          </p:nvSpPr>
          <p:spPr bwMode="auto">
            <a:xfrm>
              <a:off x="2100836" y="2585179"/>
              <a:ext cx="2113842" cy="1737291"/>
            </a:xfrm>
            <a:prstGeom prst="roundRect">
              <a:avLst/>
            </a:prstGeom>
            <a:solidFill>
              <a:schemeClr val="accent3">
                <a:lumMod val="50000"/>
              </a:schemeClr>
            </a:solidFill>
            <a:ln/>
          </p:spPr>
          <p:style>
            <a:lnRef idx="3">
              <a:schemeClr val="lt1"/>
            </a:lnRef>
            <a:fillRef idx="1">
              <a:schemeClr val="accent4"/>
            </a:fillRef>
            <a:effectRef idx="1">
              <a:schemeClr val="accent4"/>
            </a:effectRef>
            <a:fontRef idx="minor">
              <a:schemeClr val="lt1"/>
            </a:fontRef>
          </p:style>
          <p:txBody>
            <a:bodyPr vert="horz" wrap="square" lIns="0" tIns="0" rIns="0" bIns="0" numCol="1" rtlCol="0" anchor="ctr" anchorCtr="1" compatLnSpc="1">
              <a:prstTxWarp prst="textNoShape">
                <a:avLst/>
              </a:prstTxWarp>
            </a:bodyPr>
            <a:lstStyle/>
            <a:p>
              <a:pPr marL="0" marR="0" lvl="0" indent="0" algn="ctr" defTabSz="914126" rtl="0" eaLnBrk="1" fontAlgn="base" latinLnBrk="0" hangingPunct="1">
                <a:lnSpc>
                  <a:spcPct val="100000"/>
                </a:lnSpc>
                <a:spcBef>
                  <a:spcPct val="2000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charset="0"/>
                  <a:ea typeface="ＭＳ Ｐゴシック" charset="0"/>
                  <a:cs typeface="+mn-cs"/>
                </a:rPr>
                <a:t>Primarily automatically allocated to GSC SKU through invoice</a:t>
              </a:r>
            </a:p>
          </p:txBody>
        </p:sp>
      </p:grpSp>
      <p:pic>
        <p:nvPicPr>
          <p:cNvPr id="34" name="Picture 33">
            <a:extLst>
              <a:ext uri="{FF2B5EF4-FFF2-40B4-BE49-F238E27FC236}">
                <a16:creationId xmlns:a16="http://schemas.microsoft.com/office/drawing/2014/main" id="{B2EC6866-E145-443C-8115-9239E5532C5D}"/>
              </a:ext>
            </a:extLst>
          </p:cNvPr>
          <p:cNvPicPr>
            <a:picLocks noChangeAspect="1"/>
          </p:cNvPicPr>
          <p:nvPr/>
        </p:nvPicPr>
        <p:blipFill>
          <a:blip r:embed="rId2"/>
          <a:stretch>
            <a:fillRect/>
          </a:stretch>
        </p:blipFill>
        <p:spPr>
          <a:xfrm>
            <a:off x="8698654" y="394810"/>
            <a:ext cx="1117724" cy="949364"/>
          </a:xfrm>
          <a:prstGeom prst="rect">
            <a:avLst/>
          </a:prstGeom>
        </p:spPr>
      </p:pic>
      <p:pic>
        <p:nvPicPr>
          <p:cNvPr id="6" name="Graphic 5" descr="Lightbulb and gear">
            <a:extLst>
              <a:ext uri="{FF2B5EF4-FFF2-40B4-BE49-F238E27FC236}">
                <a16:creationId xmlns:a16="http://schemas.microsoft.com/office/drawing/2014/main" id="{FC1214A4-9511-4D3B-9F94-ABFBF1AE75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17427" y="2873828"/>
            <a:ext cx="758633" cy="758633"/>
          </a:xfrm>
          <a:prstGeom prst="rect">
            <a:avLst/>
          </a:prstGeom>
        </p:spPr>
      </p:pic>
      <p:sp>
        <p:nvSpPr>
          <p:cNvPr id="7" name="TextBox 6">
            <a:extLst>
              <a:ext uri="{FF2B5EF4-FFF2-40B4-BE49-F238E27FC236}">
                <a16:creationId xmlns:a16="http://schemas.microsoft.com/office/drawing/2014/main" id="{DA9C96CF-F758-4370-99C7-D5EC90888046}"/>
              </a:ext>
            </a:extLst>
          </p:cNvPr>
          <p:cNvSpPr txBox="1"/>
          <p:nvPr/>
        </p:nvSpPr>
        <p:spPr>
          <a:xfrm>
            <a:off x="10656360" y="3727369"/>
            <a:ext cx="1265193" cy="1061725"/>
          </a:xfrm>
          <a:prstGeom prst="rect">
            <a:avLst/>
          </a:prstGeom>
          <a:noFill/>
        </p:spPr>
        <p:txBody>
          <a:bodyPr wrap="square" lIns="0" tIns="0" rIns="0" bIns="0" rtlCol="0">
            <a:noAutofit/>
          </a:bodyPr>
          <a:lstStyle/>
          <a:p>
            <a:pPr algn="l"/>
            <a:r>
              <a:rPr lang="en-GB" dirty="0">
                <a:hlinkClick r:id="rId5"/>
              </a:rPr>
              <a:t>Click here for detailed Marketing Allowances</a:t>
            </a:r>
            <a:endParaRPr lang="en-US" dirty="0" err="1"/>
          </a:p>
        </p:txBody>
      </p:sp>
    </p:spTree>
    <p:extLst>
      <p:ext uri="{BB962C8B-B14F-4D97-AF65-F5344CB8AC3E}">
        <p14:creationId xmlns:p14="http://schemas.microsoft.com/office/powerpoint/2010/main" val="683704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New Allowances – JTIG and JTIO</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fld id="{F4C94289-3309-4C35-850A-56FD49B3E346}" type="slidenum">
              <a:rPr lang="en-GB" smtClean="0"/>
              <a:t>12</a:t>
            </a:fld>
            <a:endParaRPr lang="en-GB"/>
          </a:p>
        </p:txBody>
      </p:sp>
      <p:sp>
        <p:nvSpPr>
          <p:cNvPr id="6" name="Rounded Rectangle 44">
            <a:extLst>
              <a:ext uri="{FF2B5EF4-FFF2-40B4-BE49-F238E27FC236}">
                <a16:creationId xmlns:a16="http://schemas.microsoft.com/office/drawing/2014/main" id="{F67E415E-BD1B-44D8-B568-0B6305A56021}"/>
              </a:ext>
            </a:extLst>
          </p:cNvPr>
          <p:cNvSpPr/>
          <p:nvPr/>
        </p:nvSpPr>
        <p:spPr bwMode="auto">
          <a:xfrm>
            <a:off x="1941028" y="1452764"/>
            <a:ext cx="8330829" cy="275157"/>
          </a:xfrm>
          <a:prstGeom prst="roundRect">
            <a:avLst/>
          </a:prstGeom>
          <a:solidFill>
            <a:srgbClr val="A7E6E4"/>
          </a:solidFill>
          <a:ln>
            <a:noFill/>
          </a:ln>
          <a:effectLst/>
        </p:spPr>
        <p:txBody>
          <a:bodyPr vert="horz" wrap="square" lIns="0" tIns="0" rIns="0" bIns="0" numCol="1" rtlCol="0" anchor="ctr" anchorCtr="1" compatLnSpc="1">
            <a:prstTxWarp prst="textNoShape">
              <a:avLst/>
            </a:prstTxWarp>
          </a:bodyPr>
          <a:lstStyle/>
          <a:p>
            <a:pPr fontAlgn="base">
              <a:spcBef>
                <a:spcPct val="20000"/>
              </a:spcBef>
              <a:spcAft>
                <a:spcPct val="0"/>
              </a:spcAft>
              <a:defRPr/>
            </a:pPr>
            <a:r>
              <a:rPr lang="en-US" b="1" kern="0">
                <a:solidFill>
                  <a:srgbClr val="000000">
                    <a:lumMod val="75000"/>
                    <a:lumOff val="25000"/>
                  </a:srgbClr>
                </a:solidFill>
                <a:ea typeface="ＭＳ Ｐゴシック" pitchFamily="80" charset="-128"/>
                <a:cs typeface="Arial" charset="0"/>
              </a:rPr>
              <a:t>New Allowances Framework - As of Jan. 2020</a:t>
            </a:r>
          </a:p>
        </p:txBody>
      </p:sp>
      <p:graphicFrame>
        <p:nvGraphicFramePr>
          <p:cNvPr id="7" name="Table 6">
            <a:extLst>
              <a:ext uri="{FF2B5EF4-FFF2-40B4-BE49-F238E27FC236}">
                <a16:creationId xmlns:a16="http://schemas.microsoft.com/office/drawing/2014/main" id="{74292963-6FDD-4CF1-8296-AB70875D3C71}"/>
              </a:ext>
            </a:extLst>
          </p:cNvPr>
          <p:cNvGraphicFramePr>
            <a:graphicFrameLocks noGrp="1"/>
          </p:cNvGraphicFramePr>
          <p:nvPr>
            <p:extLst/>
          </p:nvPr>
        </p:nvGraphicFramePr>
        <p:xfrm>
          <a:off x="1993727" y="1874962"/>
          <a:ext cx="8278130" cy="4182719"/>
        </p:xfrm>
        <a:graphic>
          <a:graphicData uri="http://schemas.openxmlformats.org/drawingml/2006/table">
            <a:tbl>
              <a:tblPr/>
              <a:tblGrid>
                <a:gridCol w="1841057">
                  <a:extLst>
                    <a:ext uri="{9D8B030D-6E8A-4147-A177-3AD203B41FA5}">
                      <a16:colId xmlns:a16="http://schemas.microsoft.com/office/drawing/2014/main" val="4094314219"/>
                    </a:ext>
                  </a:extLst>
                </a:gridCol>
                <a:gridCol w="635760">
                  <a:extLst>
                    <a:ext uri="{9D8B030D-6E8A-4147-A177-3AD203B41FA5}">
                      <a16:colId xmlns:a16="http://schemas.microsoft.com/office/drawing/2014/main" val="898871315"/>
                    </a:ext>
                  </a:extLst>
                </a:gridCol>
                <a:gridCol w="2052976">
                  <a:extLst>
                    <a:ext uri="{9D8B030D-6E8A-4147-A177-3AD203B41FA5}">
                      <a16:colId xmlns:a16="http://schemas.microsoft.com/office/drawing/2014/main" val="817951406"/>
                    </a:ext>
                  </a:extLst>
                </a:gridCol>
                <a:gridCol w="635760">
                  <a:extLst>
                    <a:ext uri="{9D8B030D-6E8A-4147-A177-3AD203B41FA5}">
                      <a16:colId xmlns:a16="http://schemas.microsoft.com/office/drawing/2014/main" val="2481659622"/>
                    </a:ext>
                  </a:extLst>
                </a:gridCol>
                <a:gridCol w="3112577">
                  <a:extLst>
                    <a:ext uri="{9D8B030D-6E8A-4147-A177-3AD203B41FA5}">
                      <a16:colId xmlns:a16="http://schemas.microsoft.com/office/drawing/2014/main" val="3911238882"/>
                    </a:ext>
                  </a:extLst>
                </a:gridCol>
              </a:tblGrid>
              <a:tr h="19045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b="1" u="none" strike="noStrike">
                          <a:solidFill>
                            <a:schemeClr val="bg1"/>
                          </a:solidFill>
                          <a:effectLst/>
                        </a:rPr>
                        <a:t>Market P&amp;L lines</a:t>
                      </a:r>
                      <a:endParaRPr lang="en-US" sz="1000" b="1" i="0" u="none" strike="noStrike">
                        <a:solidFill>
                          <a:schemeClr val="bg1"/>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5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b="1" u="none" strike="noStrike">
                          <a:solidFill>
                            <a:schemeClr val="bg1"/>
                          </a:solidFill>
                          <a:effectLst/>
                        </a:rPr>
                        <a:t>JTIG</a:t>
                      </a:r>
                      <a:endParaRPr lang="en-US" sz="1000" b="1" i="0" u="none" strike="noStrike">
                        <a:solidFill>
                          <a:schemeClr val="bg1"/>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5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b="1" u="none" strike="noStrike">
                          <a:solidFill>
                            <a:schemeClr val="bg1"/>
                          </a:solidFill>
                          <a:effectLst/>
                        </a:rPr>
                        <a:t>JTIG Desc</a:t>
                      </a:r>
                      <a:endParaRPr lang="en-US" sz="1000" b="1" i="0" u="none" strike="noStrike">
                        <a:solidFill>
                          <a:schemeClr val="bg1"/>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5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b="1" u="none" strike="noStrike">
                          <a:solidFill>
                            <a:schemeClr val="bg1"/>
                          </a:solidFill>
                          <a:effectLst/>
                        </a:rPr>
                        <a:t>JTIO</a:t>
                      </a:r>
                      <a:endParaRPr lang="en-US" sz="1000" b="1" i="0" u="none" strike="noStrike">
                        <a:solidFill>
                          <a:schemeClr val="bg1"/>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5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b="1" u="none" strike="noStrike">
                          <a:solidFill>
                            <a:schemeClr val="bg1"/>
                          </a:solidFill>
                          <a:effectLst/>
                        </a:rPr>
                        <a:t>Long Text</a:t>
                      </a:r>
                      <a:endParaRPr lang="en-US" sz="1000" b="1" i="0" u="none" strike="noStrike">
                        <a:solidFill>
                          <a:schemeClr val="bg1"/>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50000"/>
                      </a:srgbClr>
                    </a:solidFill>
                  </a:tcPr>
                </a:tc>
                <a:extLst>
                  <a:ext uri="{0D108BD9-81ED-4DB2-BD59-A6C34878D82A}">
                    <a16:rowId xmlns:a16="http://schemas.microsoft.com/office/drawing/2014/main" val="801046754"/>
                  </a:ext>
                </a:extLst>
              </a:tr>
              <a:tr h="190450">
                <a:tc rowSpan="4">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200" b="1" u="none" strike="noStrike">
                          <a:effectLst/>
                        </a:rPr>
                        <a:t>Price Allowances</a:t>
                      </a:r>
                      <a:endParaRPr lang="en-US" sz="1200" b="1" i="0" u="none" strike="noStrike">
                        <a:solidFill>
                          <a:srgbClr val="000000"/>
                        </a:solidFill>
                        <a:effectLst/>
                        <a:latin typeface="Calibri" panose="020F050202020403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34110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Consumer Allowances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341100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Consumer Allowances - (automated SD entries)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640742711"/>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341108</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Consumer Allowances - (manual adjustments)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2209600028"/>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34120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Payment Allowances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341200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Payment allowances - (automated SD entries)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3793841073"/>
                  </a:ext>
                </a:extLst>
              </a:tr>
              <a:tr h="181316">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341208</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Payment allowances - (manual adjustments)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3426753721"/>
                  </a:ext>
                </a:extLst>
              </a:tr>
              <a:tr h="190450">
                <a:tc rowSpan="4">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200" b="1" u="none" strike="noStrike">
                          <a:effectLst/>
                        </a:rPr>
                        <a:t>Sales Adjustments / Returns</a:t>
                      </a:r>
                      <a:endParaRPr lang="en-US" sz="1200" b="1" i="0" u="none" strike="noStrike">
                        <a:solidFill>
                          <a:srgbClr val="000000"/>
                        </a:solidFill>
                        <a:effectLst/>
                        <a:latin typeface="Calibri" panose="020F050202020403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34130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Sales Allowances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341300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Sales/Returns Allowances - (automated SD entries)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3965882962"/>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341308</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Sales/Returns Allowances - (manual adjustments)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4160942411"/>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34140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Other Sales Allowances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341400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TITP Allowances - (automated SD entries)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2229371814"/>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341408</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TITP Allowances - (manual adjustments)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3584025089"/>
                  </a:ext>
                </a:extLst>
              </a:tr>
              <a:tr h="190450">
                <a:tc rowSpan="5">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200" b="1" u="none" strike="noStrike">
                          <a:effectLst/>
                        </a:rPr>
                        <a:t>Distribution Allowances</a:t>
                      </a:r>
                      <a:endParaRPr lang="en-US" sz="1200" b="1" i="0" u="none" strike="noStrike">
                        <a:solidFill>
                          <a:srgbClr val="000000"/>
                        </a:solidFill>
                        <a:effectLst/>
                        <a:latin typeface="Calibri" panose="020F050202020403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rowSpan="5">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34150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rowSpan="5">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Distribution Allowances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341500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Distribution Allowances - (automated SD entries)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2291871629"/>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341508</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Distribution Allowances  - (manual adjustments)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2843278289"/>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341518</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ST - Distribution allowances granularity 1 *</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2664559061"/>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341528</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ST - Distribution allowances granularity 2 *</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712573795"/>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341538</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ST - Distribution allowances granularity 3 *</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40000"/>
                        <a:lumOff val="60000"/>
                      </a:srgbClr>
                    </a:solidFill>
                  </a:tcPr>
                </a:tc>
                <a:extLst>
                  <a:ext uri="{0D108BD9-81ED-4DB2-BD59-A6C34878D82A}">
                    <a16:rowId xmlns:a16="http://schemas.microsoft.com/office/drawing/2014/main" val="1085212894"/>
                  </a:ext>
                </a:extLst>
              </a:tr>
              <a:tr h="190450">
                <a:tc rowSpan="7">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200" b="1" u="none" strike="noStrike">
                          <a:effectLst/>
                        </a:rPr>
                        <a:t>Marketing Allowances</a:t>
                      </a:r>
                      <a:endParaRPr lang="en-US" sz="1200" b="1" i="0" u="none" strike="noStrike">
                        <a:solidFill>
                          <a:srgbClr val="000000"/>
                        </a:solidFill>
                        <a:effectLst/>
                        <a:latin typeface="Calibri" panose="020F0502020204030204" pitchFamily="34" charset="0"/>
                      </a:endParaRPr>
                    </a:p>
                    <a:p>
                      <a:pPr algn="l" fontAlgn="b"/>
                      <a:endParaRPr lang="en-US" sz="1200" b="1" i="0" u="none" strike="noStrike">
                        <a:solidFill>
                          <a:srgbClr val="000000"/>
                        </a:solidFill>
                        <a:effectLst/>
                        <a:latin typeface="Calibri" panose="020F050202020403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35110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Listing / Visibility Fees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351100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Listing / Visibility Fees</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2876488294"/>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35120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POPMs Placement Fees (PERM)</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351200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POPM Placement Fees (PERM)</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4159448083"/>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35130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POPMs Placement Fees (TEMP)</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351300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POPM Placement Fees (TEMP)</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1227564321"/>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rowSpan="3">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35140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rowSpan="3">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Retail Allowances</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351400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Retail Allowances </a:t>
                      </a:r>
                      <a:endParaRPr lang="en-US" sz="1000" b="0" i="0" u="none" strike="noStrike" noProof="0">
                        <a:effectLst/>
                        <a:latin typeface="Arial"/>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1664202989"/>
                  </a:ext>
                </a:extLst>
              </a:tr>
              <a:tr h="190450">
                <a:tc vMerge="1">
                  <a:txBody>
                    <a:bodyPr/>
                    <a:lstStyle/>
                    <a:p>
                      <a:endParaRPr lang="en-US"/>
                    </a:p>
                  </a:txBody>
                  <a:tcPr/>
                </a:tc>
                <a:tc vMerge="1">
                  <a:txBody>
                    <a:bodyPr/>
                    <a:lstStyle/>
                    <a:p>
                      <a:endParaRPr lang="en-US"/>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vMerge="1">
                  <a:txBody>
                    <a:bodyPr/>
                    <a:lstStyle/>
                    <a:p>
                      <a:endParaRPr lang="en-US"/>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p>
                      <a:pPr lvl="0" algn="l">
                        <a:buNone/>
                      </a:pPr>
                      <a:r>
                        <a:rPr lang="en-US" sz="1000" u="none" strike="noStrike">
                          <a:effectLst/>
                        </a:rPr>
                        <a:t>351408</a:t>
                      </a: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p>
                      <a:pPr lvl="0" algn="l">
                        <a:buNone/>
                      </a:pPr>
                      <a:r>
                        <a:rPr lang="en-US" sz="1000" u="none" strike="noStrike">
                          <a:effectLst/>
                        </a:rPr>
                        <a:t>Retail Allowances </a:t>
                      </a:r>
                      <a:r>
                        <a:rPr lang="en-US" sz="1000" b="0" i="0" u="none" strike="noStrike" noProof="0">
                          <a:effectLst/>
                          <a:latin typeface="Arial"/>
                        </a:rPr>
                        <a:t>- (manual adjustments)</a:t>
                      </a: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2589794697"/>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vMerge="1">
                  <a:txBody>
                    <a:bodyPr/>
                    <a:lstStyle/>
                    <a:p>
                      <a:pPr algn="l" fontAlgn="b"/>
                      <a:endParaRPr lang="en-US" sz="1000" b="0" i="0" u="none" strike="noStrike">
                        <a:solidFill>
                          <a:srgbClr val="000000"/>
                        </a:solidFill>
                        <a:effectLst/>
                        <a:latin typeface="Arial" panose="020B0604020202020204" pitchFamily="34" charset="0"/>
                      </a:endParaRPr>
                    </a:p>
                  </a:txBody>
                  <a:tcPr marL="9525" marR="9525" marT="9525" marB="0" anchor="b">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351418</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i="1" u="none" strike="noStrike">
                          <a:effectLst/>
                        </a:rPr>
                        <a:t>ST - Retail allowances granularity 1 *</a:t>
                      </a:r>
                      <a:endParaRPr lang="en-US" sz="1000" b="0" i="1"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2983486445"/>
                  </a:ext>
                </a:extLst>
              </a:tr>
              <a:tr h="190450">
                <a:tc vMerge="1">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35150</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Sales/Marketing Information</a:t>
                      </a:r>
                      <a:endParaRPr lang="en-US" sz="1000" b="0" i="0" u="none" strike="noStrike">
                        <a:solidFill>
                          <a:srgbClr val="000000"/>
                        </a:solidFill>
                        <a:effectLst/>
                        <a:latin typeface="Arial" panose="020B0604020202020204" pitchFamily="34" charset="0"/>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351500</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88D5B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1000" u="none" strike="noStrike">
                          <a:effectLst/>
                        </a:rPr>
                        <a:t>Sales/Marketing Information</a:t>
                      </a:r>
                      <a:endParaRPr lang="en-US" sz="1000" b="0" i="0" u="none" strike="noStrike">
                        <a:solidFill>
                          <a:srgbClr val="000000"/>
                        </a:solidFill>
                        <a:effectLst/>
                        <a:latin typeface="Arial" panose="020B0604020202020204" pitchFamily="34" charset="0"/>
                      </a:endParaRPr>
                    </a:p>
                  </a:txBody>
                  <a:tcPr marL="9523" marR="9523" marT="9523" marB="0" anchor="b">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1196845233"/>
                  </a:ext>
                </a:extLst>
              </a:tr>
              <a:tr h="190450">
                <a:tc>
                  <a:txBody>
                    <a:bodyPr/>
                    <a:lstStyle/>
                    <a:p>
                      <a:pPr lvl="0" algn="l">
                        <a:buNone/>
                      </a:pPr>
                      <a:endParaRPr lang="en-US" sz="1200" b="1" i="0" u="none" strike="noStrike">
                        <a:solidFill>
                          <a:srgbClr val="000000"/>
                        </a:solidFill>
                        <a:effectLst/>
                        <a:latin typeface="Calibri"/>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p>
                      <a:pPr lvl="0" algn="l">
                        <a:buNone/>
                      </a:pPr>
                      <a:endParaRPr lang="en-US" sz="1000" u="none" strike="noStrike">
                        <a:effectLst/>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p>
                      <a:pPr lvl="0" algn="l">
                        <a:buNone/>
                      </a:pPr>
                      <a:endParaRPr lang="en-US" sz="1000" u="none" strike="noStrike">
                        <a:effectLst/>
                      </a:endParaRPr>
                    </a:p>
                  </a:txBody>
                  <a:tcPr marL="9523" marR="9523" marT="9523"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p>
                      <a:pPr lvl="0" algn="l">
                        <a:buNone/>
                      </a:pPr>
                      <a:r>
                        <a:rPr lang="en-US" sz="1000" u="none" strike="noStrike">
                          <a:effectLst/>
                        </a:rPr>
                        <a:t>351508</a:t>
                      </a: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tc>
                  <a:txBody>
                    <a:bodyPr/>
                    <a:lstStyle/>
                    <a:p>
                      <a:pPr lvl="0" algn="l">
                        <a:buNone/>
                      </a:pPr>
                      <a:r>
                        <a:rPr lang="en-US" sz="1000" u="none" strike="noStrike">
                          <a:effectLst/>
                        </a:rPr>
                        <a:t>Sales/Mark. Inf. - (manual </a:t>
                      </a:r>
                      <a:r>
                        <a:rPr lang="en-US" sz="1000" u="none" strike="noStrike" err="1">
                          <a:effectLst/>
                        </a:rPr>
                        <a:t>adjsutments</a:t>
                      </a:r>
                      <a:r>
                        <a:rPr lang="en-US" sz="1000" u="none" strike="noStrike">
                          <a:effectLst/>
                        </a:rPr>
                        <a:t>)</a:t>
                      </a:r>
                    </a:p>
                  </a:txBody>
                  <a:tcPr marL="9523" marR="9523" marT="9523" marB="0" anchor="b">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lumMod val="20000"/>
                        <a:lumOff val="80000"/>
                      </a:srgbClr>
                    </a:solidFill>
                  </a:tcPr>
                </a:tc>
                <a:extLst>
                  <a:ext uri="{0D108BD9-81ED-4DB2-BD59-A6C34878D82A}">
                    <a16:rowId xmlns:a16="http://schemas.microsoft.com/office/drawing/2014/main" val="3183402538"/>
                  </a:ext>
                </a:extLst>
              </a:tr>
            </a:tbl>
          </a:graphicData>
        </a:graphic>
      </p:graphicFrame>
      <p:sp>
        <p:nvSpPr>
          <p:cNvPr id="11" name="Rectangle: Rounded Corners 10">
            <a:extLst>
              <a:ext uri="{FF2B5EF4-FFF2-40B4-BE49-F238E27FC236}">
                <a16:creationId xmlns:a16="http://schemas.microsoft.com/office/drawing/2014/main" id="{E0E09558-8818-4FD4-B232-B8F21F62A18B}"/>
              </a:ext>
            </a:extLst>
          </p:cNvPr>
          <p:cNvSpPr/>
          <p:nvPr/>
        </p:nvSpPr>
        <p:spPr bwMode="auto">
          <a:xfrm>
            <a:off x="6096000" y="6071347"/>
            <a:ext cx="5180251" cy="358728"/>
          </a:xfrm>
          <a:prstGeom prst="roundRect">
            <a:avLst/>
          </a:prstGeom>
          <a:solidFill>
            <a:schemeClr val="bg1"/>
          </a:solidFill>
          <a:ln>
            <a:noFill/>
          </a:ln>
          <a:effectLst/>
        </p:spPr>
        <p:txBody>
          <a:bodyPr vert="horz" wrap="square" lIns="0" tIns="0" rIns="0" bIns="0" numCol="1" rtlCol="0" anchor="ctr" anchorCtr="1" compatLnSpc="1">
            <a:prstTxWarp prst="textNoShape">
              <a:avLst/>
            </a:prstTxWarp>
          </a:bodyPr>
          <a:lstStyle/>
          <a:p>
            <a:pPr marL="171399" marR="0" lvl="0" indent="-171399" algn="l" defTabSz="913852"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GB" sz="1050" b="0" i="1" u="none" strike="noStrike" kern="1200" cap="none" spc="0" normalizeH="0" baseline="0" noProof="0">
                <a:ln>
                  <a:noFill/>
                </a:ln>
                <a:solidFill>
                  <a:srgbClr val="FFFFFF">
                    <a:lumMod val="65000"/>
                  </a:srgbClr>
                </a:solidFill>
                <a:effectLst/>
                <a:uLnTx/>
                <a:uFillTx/>
                <a:latin typeface="Arial" charset="0"/>
                <a:ea typeface="ＭＳ Ｐゴシック" charset="0"/>
                <a:cs typeface="+mn-cs"/>
              </a:rPr>
              <a:t>Stat/Tax accounts activated for selected Entities only after approval by R2R Team </a:t>
            </a:r>
            <a:r>
              <a:rPr kumimoji="0" lang="en-US" sz="1050" b="0" i="1" u="none" strike="noStrike" kern="1200" cap="none" spc="0" normalizeH="0" baseline="0" noProof="0">
                <a:ln>
                  <a:noFill/>
                </a:ln>
                <a:solidFill>
                  <a:srgbClr val="FFFFFF">
                    <a:lumMod val="65000"/>
                  </a:srgbClr>
                </a:solidFill>
                <a:effectLst/>
                <a:uLnTx/>
                <a:uFillTx/>
                <a:latin typeface="Arial" charset="0"/>
                <a:ea typeface="ＭＳ Ｐゴシック" charset="0"/>
                <a:cs typeface="+mn-cs"/>
              </a:rPr>
              <a:t>(refer also to CoA Knowledge Transfer Material)</a:t>
            </a:r>
            <a:endParaRPr kumimoji="0" lang="en-GB" sz="1050" b="0" i="1" u="none" strike="noStrike" kern="1200" cap="none" spc="0" normalizeH="0" baseline="0" noProof="0">
              <a:ln>
                <a:noFill/>
              </a:ln>
              <a:solidFill>
                <a:srgbClr val="FFFFFF">
                  <a:lumMod val="65000"/>
                </a:srgbClr>
              </a:solidFill>
              <a:effectLst/>
              <a:uLnTx/>
              <a:uFillTx/>
              <a:latin typeface="Arial" charset="0"/>
              <a:ea typeface="ＭＳ Ｐゴシック" charset="0"/>
              <a:cs typeface="+mn-cs"/>
            </a:endParaRPr>
          </a:p>
        </p:txBody>
      </p:sp>
      <p:pic>
        <p:nvPicPr>
          <p:cNvPr id="12" name="Picture 11">
            <a:extLst>
              <a:ext uri="{FF2B5EF4-FFF2-40B4-BE49-F238E27FC236}">
                <a16:creationId xmlns:a16="http://schemas.microsoft.com/office/drawing/2014/main" id="{A492A2BE-9E49-4853-9196-82305C4365AB}"/>
              </a:ext>
            </a:extLst>
          </p:cNvPr>
          <p:cNvPicPr>
            <a:picLocks noChangeAspect="1"/>
          </p:cNvPicPr>
          <p:nvPr/>
        </p:nvPicPr>
        <p:blipFill>
          <a:blip r:embed="rId2"/>
          <a:stretch>
            <a:fillRect/>
          </a:stretch>
        </p:blipFill>
        <p:spPr>
          <a:xfrm>
            <a:off x="8698654" y="394810"/>
            <a:ext cx="1117724" cy="949364"/>
          </a:xfrm>
          <a:prstGeom prst="rect">
            <a:avLst/>
          </a:prstGeom>
        </p:spPr>
      </p:pic>
      <p:pic>
        <p:nvPicPr>
          <p:cNvPr id="8" name="Graphic 7" descr="Head with gears">
            <a:extLst>
              <a:ext uri="{FF2B5EF4-FFF2-40B4-BE49-F238E27FC236}">
                <a16:creationId xmlns:a16="http://schemas.microsoft.com/office/drawing/2014/main" id="{2BD12E19-86B6-49F8-BA15-2A6E482E94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80907" y="2940681"/>
            <a:ext cx="590688" cy="590688"/>
          </a:xfrm>
          <a:prstGeom prst="rect">
            <a:avLst/>
          </a:prstGeom>
        </p:spPr>
      </p:pic>
      <p:sp>
        <p:nvSpPr>
          <p:cNvPr id="9" name="TextBox 8">
            <a:extLst>
              <a:ext uri="{FF2B5EF4-FFF2-40B4-BE49-F238E27FC236}">
                <a16:creationId xmlns:a16="http://schemas.microsoft.com/office/drawing/2014/main" id="{BC7F02C9-6BCE-4F76-B1CD-BD4EB844629E}"/>
              </a:ext>
            </a:extLst>
          </p:cNvPr>
          <p:cNvSpPr txBox="1"/>
          <p:nvPr/>
        </p:nvSpPr>
        <p:spPr>
          <a:xfrm>
            <a:off x="10680700" y="3594100"/>
            <a:ext cx="1228271" cy="1193800"/>
          </a:xfrm>
          <a:prstGeom prst="rect">
            <a:avLst/>
          </a:prstGeom>
          <a:noFill/>
        </p:spPr>
        <p:txBody>
          <a:bodyPr wrap="square" lIns="0" tIns="0" rIns="0" bIns="0" rtlCol="0">
            <a:noAutofit/>
          </a:bodyPr>
          <a:lstStyle/>
          <a:p>
            <a:pPr algn="l"/>
            <a:r>
              <a:rPr lang="en-GB" sz="1600" dirty="0">
                <a:hlinkClick r:id="rId5"/>
              </a:rPr>
              <a:t>Click here to view Allowances Decision Trees</a:t>
            </a:r>
            <a:endParaRPr lang="en-US" sz="1600" dirty="0" err="1"/>
          </a:p>
        </p:txBody>
      </p:sp>
    </p:spTree>
    <p:extLst>
      <p:ext uri="{BB962C8B-B14F-4D97-AF65-F5344CB8AC3E}">
        <p14:creationId xmlns:p14="http://schemas.microsoft.com/office/powerpoint/2010/main" val="46206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C2F2-1B71-4A47-8882-630216490D75}"/>
              </a:ext>
            </a:extLst>
          </p:cNvPr>
          <p:cNvSpPr>
            <a:spLocks noGrp="1"/>
          </p:cNvSpPr>
          <p:nvPr>
            <p:ph type="title"/>
          </p:nvPr>
        </p:nvSpPr>
        <p:spPr>
          <a:xfrm>
            <a:off x="1522001" y="308664"/>
            <a:ext cx="10278942" cy="984247"/>
          </a:xfrm>
        </p:spPr>
        <p:txBody>
          <a:bodyPr/>
          <a:lstStyle/>
          <a:p>
            <a:r>
              <a:rPr lang="en-GB"/>
              <a:t>Allowances </a:t>
            </a:r>
            <a:r>
              <a:rPr lang="en-US"/>
              <a:t>Marketing Investment &amp; </a:t>
            </a:r>
            <a:br>
              <a:rPr lang="en-US"/>
            </a:br>
            <a:r>
              <a:rPr lang="en-US"/>
              <a:t>Marketing</a:t>
            </a:r>
          </a:p>
        </p:txBody>
      </p:sp>
      <p:sp>
        <p:nvSpPr>
          <p:cNvPr id="4" name="Footer Placeholder 3">
            <a:extLst>
              <a:ext uri="{FF2B5EF4-FFF2-40B4-BE49-F238E27FC236}">
                <a16:creationId xmlns:a16="http://schemas.microsoft.com/office/drawing/2014/main" id="{4953CEA2-B30B-4FD2-9A74-60F9162F952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4A87A47-A8A2-4AAA-B3A2-2BDB47AA1D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0" name="Picture 59">
            <a:extLst>
              <a:ext uri="{FF2B5EF4-FFF2-40B4-BE49-F238E27FC236}">
                <a16:creationId xmlns:a16="http://schemas.microsoft.com/office/drawing/2014/main" id="{46B943ED-CEFC-418D-80D8-71919A611EA7}"/>
              </a:ext>
            </a:extLst>
          </p:cNvPr>
          <p:cNvPicPr>
            <a:picLocks noChangeAspect="1"/>
          </p:cNvPicPr>
          <p:nvPr/>
        </p:nvPicPr>
        <p:blipFill>
          <a:blip r:embed="rId2"/>
          <a:stretch>
            <a:fillRect/>
          </a:stretch>
        </p:blipFill>
        <p:spPr>
          <a:xfrm>
            <a:off x="8698654" y="394810"/>
            <a:ext cx="1117724" cy="949364"/>
          </a:xfrm>
          <a:prstGeom prst="rect">
            <a:avLst/>
          </a:prstGeom>
        </p:spPr>
      </p:pic>
      <p:sp>
        <p:nvSpPr>
          <p:cNvPr id="75" name="Freeform 18">
            <a:extLst>
              <a:ext uri="{FF2B5EF4-FFF2-40B4-BE49-F238E27FC236}">
                <a16:creationId xmlns:a16="http://schemas.microsoft.com/office/drawing/2014/main" id="{964DFC4E-EC54-440F-8426-70E63AD1097A}"/>
              </a:ext>
            </a:extLst>
          </p:cNvPr>
          <p:cNvSpPr/>
          <p:nvPr/>
        </p:nvSpPr>
        <p:spPr>
          <a:xfrm>
            <a:off x="1522001" y="2307969"/>
            <a:ext cx="2542836" cy="4138699"/>
          </a:xfrm>
          <a:custGeom>
            <a:avLst/>
            <a:gdLst>
              <a:gd name="connsiteX0" fmla="*/ 0 w 2543498"/>
              <a:gd name="connsiteY0" fmla="*/ 0 h 4226560"/>
              <a:gd name="connsiteX1" fmla="*/ 2543498 w 2543498"/>
              <a:gd name="connsiteY1" fmla="*/ 0 h 4226560"/>
              <a:gd name="connsiteX2" fmla="*/ 2543498 w 2543498"/>
              <a:gd name="connsiteY2" fmla="*/ 4226560 h 4226560"/>
              <a:gd name="connsiteX3" fmla="*/ 0 w 2543498"/>
              <a:gd name="connsiteY3" fmla="*/ 4226560 h 4226560"/>
              <a:gd name="connsiteX4" fmla="*/ 0 w 2543498"/>
              <a:gd name="connsiteY4" fmla="*/ 0 h 4226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3498" h="4226560">
                <a:moveTo>
                  <a:pt x="0" y="0"/>
                </a:moveTo>
                <a:lnTo>
                  <a:pt x="2543498" y="0"/>
                </a:lnTo>
                <a:lnTo>
                  <a:pt x="2543498" y="4226560"/>
                </a:lnTo>
                <a:lnTo>
                  <a:pt x="0" y="4226560"/>
                </a:lnTo>
                <a:lnTo>
                  <a:pt x="0" y="0"/>
                </a:lnTo>
                <a:close/>
              </a:path>
            </a:pathLst>
          </a:custGeom>
          <a:solidFill>
            <a:srgbClr val="4D5C65">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170644" tIns="450234" rIns="170644" bIns="170644" numCol="1" spcCol="1270" anchor="t" anchorCtr="0">
            <a:noAutofit/>
          </a:bodyPr>
          <a:lstStyle/>
          <a:p>
            <a:pPr marL="171399" marR="0" lvl="1" indent="-171399" algn="l" defTabSz="844297" rtl="0" eaLnBrk="1" fontAlgn="auto" latinLnBrk="0" hangingPunct="1">
              <a:lnSpc>
                <a:spcPct val="90000"/>
              </a:lnSpc>
              <a:spcBef>
                <a:spcPts val="0"/>
              </a:spcBef>
              <a:spcAft>
                <a:spcPct val="15000"/>
              </a:spcAft>
              <a:buClrTx/>
              <a:buSzTx/>
              <a:buFontTx/>
              <a:buChar char="••"/>
              <a:tabLst/>
              <a:defRPr/>
            </a:pPr>
            <a:r>
              <a:rPr kumimoji="0" lang="en-US" sz="1999" b="0" i="0" u="none" strike="noStrike" kern="0" cap="none" spc="0" normalizeH="0" baseline="0" noProof="0">
                <a:ln>
                  <a:noFill/>
                </a:ln>
                <a:solidFill>
                  <a:srgbClr val="FFFFFF"/>
                </a:solidFill>
                <a:effectLst/>
                <a:uLnTx/>
                <a:uFillTx/>
                <a:latin typeface="Arial"/>
                <a:ea typeface="+mn-ea"/>
                <a:cs typeface="+mn-cs"/>
              </a:rPr>
              <a:t>Consistent definition and treatment costs which are Revenue Reducing</a:t>
            </a:r>
          </a:p>
          <a:p>
            <a:pPr marL="171399" marR="0" lvl="1" indent="-171399" algn="l" defTabSz="844297" rtl="0" eaLnBrk="1" fontAlgn="auto" latinLnBrk="0" hangingPunct="1">
              <a:lnSpc>
                <a:spcPct val="90000"/>
              </a:lnSpc>
              <a:spcBef>
                <a:spcPts val="0"/>
              </a:spcBef>
              <a:spcAft>
                <a:spcPct val="15000"/>
              </a:spcAft>
              <a:buClrTx/>
              <a:buSzTx/>
              <a:buFontTx/>
              <a:buChar char="••"/>
              <a:tabLst/>
              <a:defRPr/>
            </a:pPr>
            <a:endParaRPr kumimoji="0" lang="en-US" sz="1999" b="0" i="0" u="none" strike="noStrike" kern="0" cap="none" spc="0" normalizeH="0" baseline="0" noProof="0">
              <a:ln>
                <a:noFill/>
              </a:ln>
              <a:solidFill>
                <a:srgbClr val="FFFFFF"/>
              </a:solidFill>
              <a:effectLst/>
              <a:uLnTx/>
              <a:uFillTx/>
              <a:latin typeface="Arial"/>
              <a:ea typeface="+mn-ea"/>
              <a:cs typeface="+mn-cs"/>
            </a:endParaRPr>
          </a:p>
          <a:p>
            <a:pPr marL="171399" marR="0" lvl="1" indent="-171399" algn="l" defTabSz="844297" rtl="0" eaLnBrk="1" fontAlgn="auto" latinLnBrk="0" hangingPunct="1">
              <a:lnSpc>
                <a:spcPct val="90000"/>
              </a:lnSpc>
              <a:spcBef>
                <a:spcPts val="0"/>
              </a:spcBef>
              <a:spcAft>
                <a:spcPct val="15000"/>
              </a:spcAft>
              <a:buClrTx/>
              <a:buSzTx/>
              <a:buFontTx/>
              <a:buChar char="••"/>
              <a:tabLst/>
              <a:defRPr/>
            </a:pPr>
            <a:r>
              <a:rPr kumimoji="0" lang="en-US" sz="1999" b="0" i="0" u="none" strike="noStrike" kern="0" cap="none" spc="0" normalizeH="0" baseline="0" noProof="0">
                <a:ln>
                  <a:noFill/>
                </a:ln>
                <a:solidFill>
                  <a:srgbClr val="FFFFFF"/>
                </a:solidFill>
                <a:effectLst/>
                <a:uLnTx/>
                <a:uFillTx/>
                <a:latin typeface="Arial"/>
                <a:ea typeface="+mn-ea"/>
                <a:cs typeface="+mn-cs"/>
              </a:rPr>
              <a:t>One definition for Marketing Investment</a:t>
            </a:r>
          </a:p>
        </p:txBody>
      </p:sp>
      <p:sp>
        <p:nvSpPr>
          <p:cNvPr id="76" name="Freeform 19">
            <a:extLst>
              <a:ext uri="{FF2B5EF4-FFF2-40B4-BE49-F238E27FC236}">
                <a16:creationId xmlns:a16="http://schemas.microsoft.com/office/drawing/2014/main" id="{A94B71E9-4714-45D3-B0FB-79DF88FD1C0F}"/>
              </a:ext>
            </a:extLst>
          </p:cNvPr>
          <p:cNvSpPr/>
          <p:nvPr/>
        </p:nvSpPr>
        <p:spPr>
          <a:xfrm rot="16200000">
            <a:off x="-817705" y="3921986"/>
            <a:ext cx="4225460" cy="510500"/>
          </a:xfrm>
          <a:custGeom>
            <a:avLst/>
            <a:gdLst>
              <a:gd name="connsiteX0" fmla="*/ 0 w 4226560"/>
              <a:gd name="connsiteY0" fmla="*/ 0 h 510633"/>
              <a:gd name="connsiteX1" fmla="*/ 4226560 w 4226560"/>
              <a:gd name="connsiteY1" fmla="*/ 0 h 510633"/>
              <a:gd name="connsiteX2" fmla="*/ 4226560 w 4226560"/>
              <a:gd name="connsiteY2" fmla="*/ 510633 h 510633"/>
              <a:gd name="connsiteX3" fmla="*/ 0 w 4226560"/>
              <a:gd name="connsiteY3" fmla="*/ 510633 h 510633"/>
              <a:gd name="connsiteX4" fmla="*/ 0 w 4226560"/>
              <a:gd name="connsiteY4" fmla="*/ 0 h 51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560" h="510633">
                <a:moveTo>
                  <a:pt x="0" y="0"/>
                </a:moveTo>
                <a:lnTo>
                  <a:pt x="4226560" y="0"/>
                </a:lnTo>
                <a:lnTo>
                  <a:pt x="4226560" y="510633"/>
                </a:lnTo>
                <a:lnTo>
                  <a:pt x="0" y="510633"/>
                </a:lnTo>
                <a:lnTo>
                  <a:pt x="0" y="0"/>
                </a:lnTo>
                <a:close/>
              </a:path>
            </a:pathLst>
          </a:custGeom>
          <a:noFill/>
          <a:ln>
            <a:noFill/>
          </a:ln>
          <a:effectLst/>
        </p:spPr>
        <p:txBody>
          <a:bodyPr spcFirstLastPara="0" vert="horz" wrap="square" lIns="-1" tIns="-1" rIns="450234" bIns="0" numCol="1" spcCol="1270" anchor="t" anchorCtr="0">
            <a:noAutofit/>
          </a:bodyPr>
          <a:lstStyle/>
          <a:p>
            <a:pPr marL="0" marR="0" lvl="0" indent="0" algn="l" defTabSz="1688593" rtl="0" eaLnBrk="1" fontAlgn="auto" latinLnBrk="0" hangingPunct="1">
              <a:lnSpc>
                <a:spcPct val="90000"/>
              </a:lnSpc>
              <a:spcBef>
                <a:spcPts val="0"/>
              </a:spcBef>
              <a:spcAft>
                <a:spcPct val="35000"/>
              </a:spcAft>
              <a:buClrTx/>
              <a:buSzTx/>
              <a:buFontTx/>
              <a:buNone/>
              <a:tabLst/>
              <a:defRPr/>
            </a:pPr>
            <a:r>
              <a:rPr kumimoji="0" lang="en-US" sz="3799" b="1" i="0" u="none" strike="noStrike" kern="0" cap="none" spc="0" normalizeH="0" baseline="0" noProof="0">
                <a:ln>
                  <a:noFill/>
                </a:ln>
                <a:solidFill>
                  <a:srgbClr val="DDDDDD">
                    <a:lumMod val="50000"/>
                  </a:srgbClr>
                </a:solidFill>
                <a:effectLst/>
                <a:uLnTx/>
                <a:uFillTx/>
                <a:latin typeface="Arial"/>
                <a:ea typeface="+mn-ea"/>
                <a:cs typeface="+mn-cs"/>
              </a:rPr>
              <a:t>Standardize</a:t>
            </a:r>
          </a:p>
        </p:txBody>
      </p:sp>
      <p:sp>
        <p:nvSpPr>
          <p:cNvPr id="77" name="Freeform 21">
            <a:extLst>
              <a:ext uri="{FF2B5EF4-FFF2-40B4-BE49-F238E27FC236}">
                <a16:creationId xmlns:a16="http://schemas.microsoft.com/office/drawing/2014/main" id="{B6423D2B-6638-4394-91A1-F4A7D270AC3A}"/>
              </a:ext>
            </a:extLst>
          </p:cNvPr>
          <p:cNvSpPr/>
          <p:nvPr/>
        </p:nvSpPr>
        <p:spPr>
          <a:xfrm>
            <a:off x="5273204" y="2307969"/>
            <a:ext cx="2542836" cy="4138699"/>
          </a:xfrm>
          <a:custGeom>
            <a:avLst/>
            <a:gdLst>
              <a:gd name="connsiteX0" fmla="*/ 0 w 2543498"/>
              <a:gd name="connsiteY0" fmla="*/ 0 h 4226560"/>
              <a:gd name="connsiteX1" fmla="*/ 2543498 w 2543498"/>
              <a:gd name="connsiteY1" fmla="*/ 0 h 4226560"/>
              <a:gd name="connsiteX2" fmla="*/ 2543498 w 2543498"/>
              <a:gd name="connsiteY2" fmla="*/ 4226560 h 4226560"/>
              <a:gd name="connsiteX3" fmla="*/ 0 w 2543498"/>
              <a:gd name="connsiteY3" fmla="*/ 4226560 h 4226560"/>
              <a:gd name="connsiteX4" fmla="*/ 0 w 2543498"/>
              <a:gd name="connsiteY4" fmla="*/ 0 h 4226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3498" h="4226560">
                <a:moveTo>
                  <a:pt x="0" y="0"/>
                </a:moveTo>
                <a:lnTo>
                  <a:pt x="2543498" y="0"/>
                </a:lnTo>
                <a:lnTo>
                  <a:pt x="2543498" y="4226560"/>
                </a:lnTo>
                <a:lnTo>
                  <a:pt x="0" y="4226560"/>
                </a:lnTo>
                <a:lnTo>
                  <a:pt x="0" y="0"/>
                </a:lnTo>
                <a:close/>
              </a:path>
            </a:pathLst>
          </a:custGeom>
          <a:solidFill>
            <a:srgbClr val="5AA5A2"/>
          </a:solidFill>
          <a:ln w="25400" cap="flat" cmpd="sng" algn="ctr">
            <a:solidFill>
              <a:srgbClr val="FFFFFF">
                <a:hueOff val="0"/>
                <a:satOff val="0"/>
                <a:lumOff val="0"/>
                <a:alphaOff val="0"/>
              </a:srgbClr>
            </a:solidFill>
            <a:prstDash val="solid"/>
          </a:ln>
          <a:effectLst/>
        </p:spPr>
        <p:txBody>
          <a:bodyPr spcFirstLastPara="0" vert="horz" wrap="square" lIns="170644" tIns="450234" rIns="170644" bIns="170644" numCol="1" spcCol="1270" anchor="t" anchorCtr="0">
            <a:noAutofit/>
          </a:bodyPr>
          <a:lstStyle/>
          <a:p>
            <a:pPr marL="171399" marR="0" lvl="1" indent="-171399" algn="l" defTabSz="844297" rtl="0" eaLnBrk="1" fontAlgn="auto" latinLnBrk="0" hangingPunct="1">
              <a:lnSpc>
                <a:spcPct val="90000"/>
              </a:lnSpc>
              <a:spcBef>
                <a:spcPts val="0"/>
              </a:spcBef>
              <a:spcAft>
                <a:spcPct val="15000"/>
              </a:spcAft>
              <a:buClrTx/>
              <a:buSzTx/>
              <a:buFontTx/>
              <a:buChar char="••"/>
              <a:tabLst/>
              <a:defRPr/>
            </a:pPr>
            <a:r>
              <a:rPr kumimoji="0" lang="en-US" sz="1899" b="0" i="0" u="none" strike="noStrike" kern="0" cap="none" spc="0" normalizeH="0" baseline="0" noProof="0">
                <a:ln>
                  <a:noFill/>
                </a:ln>
                <a:solidFill>
                  <a:srgbClr val="FFFFFF"/>
                </a:solidFill>
                <a:effectLst/>
                <a:uLnTx/>
                <a:uFillTx/>
                <a:latin typeface="Arial"/>
                <a:ea typeface="+mn-ea"/>
                <a:cs typeface="+mn-cs"/>
              </a:rPr>
              <a:t>Simple approach to ensure marketing investments are allocated to a brand family and product type</a:t>
            </a:r>
          </a:p>
          <a:p>
            <a:pPr marL="171399" marR="0" lvl="1" indent="-171399" algn="l" defTabSz="844297" rtl="0" eaLnBrk="1" fontAlgn="auto" latinLnBrk="0" hangingPunct="1">
              <a:lnSpc>
                <a:spcPct val="90000"/>
              </a:lnSpc>
              <a:spcBef>
                <a:spcPts val="0"/>
              </a:spcBef>
              <a:spcAft>
                <a:spcPct val="15000"/>
              </a:spcAft>
              <a:buClrTx/>
              <a:buSzTx/>
              <a:buFontTx/>
              <a:buChar char="••"/>
              <a:tabLst/>
              <a:defRPr/>
            </a:pPr>
            <a:endParaRPr kumimoji="0" lang="en-US" sz="1899" b="0" i="0" u="none" strike="noStrike" kern="0" cap="none" spc="0" normalizeH="0" baseline="0" noProof="0">
              <a:ln>
                <a:noFill/>
              </a:ln>
              <a:solidFill>
                <a:srgbClr val="FFFFFF"/>
              </a:solidFill>
              <a:effectLst/>
              <a:uLnTx/>
              <a:uFillTx/>
              <a:latin typeface="Arial"/>
              <a:ea typeface="+mn-ea"/>
              <a:cs typeface="+mn-cs"/>
            </a:endParaRPr>
          </a:p>
          <a:p>
            <a:pPr marL="171399" marR="0" lvl="1" indent="-171399" algn="l" defTabSz="844297" rtl="0" eaLnBrk="1" fontAlgn="auto" latinLnBrk="0" hangingPunct="1">
              <a:lnSpc>
                <a:spcPct val="90000"/>
              </a:lnSpc>
              <a:spcBef>
                <a:spcPts val="0"/>
              </a:spcBef>
              <a:spcAft>
                <a:spcPct val="15000"/>
              </a:spcAft>
              <a:buClrTx/>
              <a:buSzTx/>
              <a:buFontTx/>
              <a:buChar char="••"/>
              <a:tabLst/>
              <a:defRPr/>
            </a:pPr>
            <a:r>
              <a:rPr kumimoji="0" lang="en-US" sz="1899" b="0" i="0" u="none" strike="noStrike" kern="0" cap="none" spc="0" normalizeH="0" baseline="0" noProof="0">
                <a:ln>
                  <a:noFill/>
                </a:ln>
                <a:solidFill>
                  <a:srgbClr val="FFFFFF"/>
                </a:solidFill>
                <a:effectLst/>
                <a:uLnTx/>
                <a:uFillTx/>
                <a:latin typeface="Arial"/>
                <a:ea typeface="+mn-ea"/>
                <a:cs typeface="+mn-cs"/>
              </a:rPr>
              <a:t>Brand Family / SKU allocations are automated where possible using SD</a:t>
            </a:r>
          </a:p>
        </p:txBody>
      </p:sp>
      <p:sp>
        <p:nvSpPr>
          <p:cNvPr id="78" name="Freeform 22">
            <a:extLst>
              <a:ext uri="{FF2B5EF4-FFF2-40B4-BE49-F238E27FC236}">
                <a16:creationId xmlns:a16="http://schemas.microsoft.com/office/drawing/2014/main" id="{612A8715-6F11-4E1B-86FE-576BE1BEB6AB}"/>
              </a:ext>
            </a:extLst>
          </p:cNvPr>
          <p:cNvSpPr/>
          <p:nvPr/>
        </p:nvSpPr>
        <p:spPr>
          <a:xfrm rot="16200000">
            <a:off x="2876950" y="3921986"/>
            <a:ext cx="4225460" cy="510500"/>
          </a:xfrm>
          <a:custGeom>
            <a:avLst/>
            <a:gdLst>
              <a:gd name="connsiteX0" fmla="*/ 0 w 4226560"/>
              <a:gd name="connsiteY0" fmla="*/ 0 h 510633"/>
              <a:gd name="connsiteX1" fmla="*/ 4226560 w 4226560"/>
              <a:gd name="connsiteY1" fmla="*/ 0 h 510633"/>
              <a:gd name="connsiteX2" fmla="*/ 4226560 w 4226560"/>
              <a:gd name="connsiteY2" fmla="*/ 510633 h 510633"/>
              <a:gd name="connsiteX3" fmla="*/ 0 w 4226560"/>
              <a:gd name="connsiteY3" fmla="*/ 510633 h 510633"/>
              <a:gd name="connsiteX4" fmla="*/ 0 w 4226560"/>
              <a:gd name="connsiteY4" fmla="*/ 0 h 51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560" h="510633">
                <a:moveTo>
                  <a:pt x="0" y="0"/>
                </a:moveTo>
                <a:lnTo>
                  <a:pt x="4226560" y="0"/>
                </a:lnTo>
                <a:lnTo>
                  <a:pt x="4226560" y="510633"/>
                </a:lnTo>
                <a:lnTo>
                  <a:pt x="0" y="510633"/>
                </a:lnTo>
                <a:lnTo>
                  <a:pt x="0" y="0"/>
                </a:lnTo>
                <a:close/>
              </a:path>
            </a:pathLst>
          </a:custGeom>
          <a:noFill/>
          <a:ln>
            <a:noFill/>
          </a:ln>
          <a:effectLst/>
        </p:spPr>
        <p:txBody>
          <a:bodyPr spcFirstLastPara="0" vert="horz" wrap="square" lIns="-1" tIns="-1" rIns="450234" bIns="0" numCol="1" spcCol="1270" anchor="t" anchorCtr="0">
            <a:noAutofit/>
          </a:bodyPr>
          <a:lstStyle/>
          <a:p>
            <a:pPr marL="0" marR="0" lvl="0" indent="0" algn="l" defTabSz="1688593" rtl="0" eaLnBrk="1" fontAlgn="auto" latinLnBrk="0" hangingPunct="1">
              <a:lnSpc>
                <a:spcPct val="90000"/>
              </a:lnSpc>
              <a:spcBef>
                <a:spcPts val="0"/>
              </a:spcBef>
              <a:spcAft>
                <a:spcPct val="35000"/>
              </a:spcAft>
              <a:buClrTx/>
              <a:buSzTx/>
              <a:buFontTx/>
              <a:buNone/>
              <a:tabLst/>
              <a:defRPr/>
            </a:pPr>
            <a:r>
              <a:rPr kumimoji="0" lang="en-US" sz="3799" b="1" i="0" u="none" strike="noStrike" kern="0" cap="none" spc="0" normalizeH="0" baseline="0" noProof="0">
                <a:ln>
                  <a:noFill/>
                </a:ln>
                <a:solidFill>
                  <a:srgbClr val="DDDDDD">
                    <a:lumMod val="50000"/>
                  </a:srgbClr>
                </a:solidFill>
                <a:effectLst/>
                <a:uLnTx/>
                <a:uFillTx/>
                <a:latin typeface="Arial"/>
                <a:ea typeface="+mn-ea"/>
                <a:cs typeface="+mn-cs"/>
              </a:rPr>
              <a:t>Simplify</a:t>
            </a:r>
          </a:p>
        </p:txBody>
      </p:sp>
      <p:sp>
        <p:nvSpPr>
          <p:cNvPr id="79" name="Freeform 24">
            <a:extLst>
              <a:ext uri="{FF2B5EF4-FFF2-40B4-BE49-F238E27FC236}">
                <a16:creationId xmlns:a16="http://schemas.microsoft.com/office/drawing/2014/main" id="{01C7CAC8-E926-4A13-AB19-400C90499B2B}"/>
              </a:ext>
            </a:extLst>
          </p:cNvPr>
          <p:cNvSpPr/>
          <p:nvPr/>
        </p:nvSpPr>
        <p:spPr>
          <a:xfrm>
            <a:off x="9023461" y="2235276"/>
            <a:ext cx="2542836" cy="4138699"/>
          </a:xfrm>
          <a:custGeom>
            <a:avLst/>
            <a:gdLst>
              <a:gd name="connsiteX0" fmla="*/ 0 w 2543498"/>
              <a:gd name="connsiteY0" fmla="*/ 0 h 4226560"/>
              <a:gd name="connsiteX1" fmla="*/ 2543498 w 2543498"/>
              <a:gd name="connsiteY1" fmla="*/ 0 h 4226560"/>
              <a:gd name="connsiteX2" fmla="*/ 2543498 w 2543498"/>
              <a:gd name="connsiteY2" fmla="*/ 4226560 h 4226560"/>
              <a:gd name="connsiteX3" fmla="*/ 0 w 2543498"/>
              <a:gd name="connsiteY3" fmla="*/ 4226560 h 4226560"/>
              <a:gd name="connsiteX4" fmla="*/ 0 w 2543498"/>
              <a:gd name="connsiteY4" fmla="*/ 0 h 4226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3498" h="4226560">
                <a:moveTo>
                  <a:pt x="0" y="0"/>
                </a:moveTo>
                <a:lnTo>
                  <a:pt x="2543498" y="0"/>
                </a:lnTo>
                <a:lnTo>
                  <a:pt x="2543498" y="4226560"/>
                </a:lnTo>
                <a:lnTo>
                  <a:pt x="0" y="4226560"/>
                </a:lnTo>
                <a:lnTo>
                  <a:pt x="0" y="0"/>
                </a:lnTo>
                <a:close/>
              </a:path>
            </a:pathLst>
          </a:custGeom>
          <a:solidFill>
            <a:srgbClr val="A7E6E4"/>
          </a:solidFill>
          <a:ln w="25400" cap="flat" cmpd="sng" algn="ctr">
            <a:solidFill>
              <a:srgbClr val="FFFFFF">
                <a:hueOff val="0"/>
                <a:satOff val="0"/>
                <a:lumOff val="0"/>
                <a:alphaOff val="0"/>
              </a:srgbClr>
            </a:solidFill>
            <a:prstDash val="solid"/>
          </a:ln>
          <a:effectLst/>
        </p:spPr>
        <p:txBody>
          <a:bodyPr spcFirstLastPara="0" vert="horz" wrap="square" lIns="170644" tIns="450234" rIns="170644" bIns="170644" numCol="1" spcCol="1270" anchor="t" anchorCtr="0">
            <a:noAutofit/>
          </a:bodyPr>
          <a:lstStyle/>
          <a:p>
            <a:pPr marL="171399" marR="0" lvl="1" indent="-171399" algn="l" defTabSz="844297" rtl="0" eaLnBrk="1" fontAlgn="auto" latinLnBrk="0" hangingPunct="1">
              <a:lnSpc>
                <a:spcPct val="90000"/>
              </a:lnSpc>
              <a:spcBef>
                <a:spcPts val="0"/>
              </a:spcBef>
              <a:spcAft>
                <a:spcPct val="15000"/>
              </a:spcAft>
              <a:buClrTx/>
              <a:buSzTx/>
              <a:buFontTx/>
              <a:buChar char="••"/>
              <a:tabLst/>
              <a:defRPr/>
            </a:pPr>
            <a:r>
              <a:rPr kumimoji="0" lang="en-US" sz="1999" b="0" i="0" u="none" strike="noStrike" kern="0" cap="none" spc="0" normalizeH="0" baseline="0" noProof="0">
                <a:ln>
                  <a:noFill/>
                </a:ln>
                <a:solidFill>
                  <a:srgbClr val="1A3040">
                    <a:lumMod val="50000"/>
                  </a:srgbClr>
                </a:solidFill>
                <a:effectLst/>
                <a:uLnTx/>
                <a:uFillTx/>
                <a:latin typeface="Arial"/>
                <a:ea typeface="+mn-ea"/>
                <a:cs typeface="+mn-cs"/>
              </a:rPr>
              <a:t>Marketing Investment available on the Mgmt P&amp;L</a:t>
            </a:r>
          </a:p>
          <a:p>
            <a:pPr marL="171399" marR="0" lvl="1" indent="-171399" algn="l" defTabSz="844297" rtl="0" eaLnBrk="1" fontAlgn="auto" latinLnBrk="0" hangingPunct="1">
              <a:lnSpc>
                <a:spcPct val="90000"/>
              </a:lnSpc>
              <a:spcBef>
                <a:spcPts val="0"/>
              </a:spcBef>
              <a:spcAft>
                <a:spcPct val="15000"/>
              </a:spcAft>
              <a:buClrTx/>
              <a:buSzTx/>
              <a:buFontTx/>
              <a:buChar char="••"/>
              <a:tabLst/>
              <a:defRPr/>
            </a:pPr>
            <a:endParaRPr kumimoji="0" lang="en-US" sz="1999" b="0" i="0" u="none" strike="noStrike" kern="0" cap="none" spc="0" normalizeH="0" baseline="0" noProof="0">
              <a:ln>
                <a:noFill/>
              </a:ln>
              <a:solidFill>
                <a:srgbClr val="1A3040">
                  <a:lumMod val="50000"/>
                </a:srgbClr>
              </a:solidFill>
              <a:effectLst/>
              <a:uLnTx/>
              <a:uFillTx/>
              <a:latin typeface="Arial"/>
              <a:ea typeface="+mn-ea"/>
              <a:cs typeface="+mn-cs"/>
            </a:endParaRPr>
          </a:p>
          <a:p>
            <a:pPr marL="171399" marR="0" lvl="1" indent="-171399" algn="l" defTabSz="844297" rtl="0" eaLnBrk="1" fontAlgn="auto" latinLnBrk="0" hangingPunct="1">
              <a:lnSpc>
                <a:spcPct val="90000"/>
              </a:lnSpc>
              <a:spcBef>
                <a:spcPts val="0"/>
              </a:spcBef>
              <a:spcAft>
                <a:spcPct val="15000"/>
              </a:spcAft>
              <a:buClrTx/>
              <a:buSzTx/>
              <a:buFontTx/>
              <a:buChar char="••"/>
              <a:tabLst/>
              <a:defRPr/>
            </a:pPr>
            <a:r>
              <a:rPr kumimoji="0" lang="en-US" sz="1999" b="0" i="0" u="none" strike="noStrike" kern="0" cap="none" spc="0" normalizeH="0" baseline="0" noProof="0">
                <a:ln>
                  <a:noFill/>
                </a:ln>
                <a:solidFill>
                  <a:srgbClr val="1A3040">
                    <a:lumMod val="50000"/>
                  </a:srgbClr>
                </a:solidFill>
                <a:effectLst/>
                <a:uLnTx/>
                <a:uFillTx/>
                <a:latin typeface="Arial"/>
                <a:ea typeface="+mn-ea"/>
                <a:cs typeface="+mn-cs"/>
              </a:rPr>
              <a:t>Quicker analytics available to support faster business decision making</a:t>
            </a:r>
          </a:p>
        </p:txBody>
      </p:sp>
      <p:sp>
        <p:nvSpPr>
          <p:cNvPr id="80" name="Freeform 25">
            <a:extLst>
              <a:ext uri="{FF2B5EF4-FFF2-40B4-BE49-F238E27FC236}">
                <a16:creationId xmlns:a16="http://schemas.microsoft.com/office/drawing/2014/main" id="{A7CFC9EE-E2D0-426E-B369-19C11FFCB278}"/>
              </a:ext>
            </a:extLst>
          </p:cNvPr>
          <p:cNvSpPr/>
          <p:nvPr/>
        </p:nvSpPr>
        <p:spPr>
          <a:xfrm rot="16200000">
            <a:off x="7236884" y="4499146"/>
            <a:ext cx="3071140" cy="510500"/>
          </a:xfrm>
          <a:custGeom>
            <a:avLst/>
            <a:gdLst>
              <a:gd name="connsiteX0" fmla="*/ 0 w 4226560"/>
              <a:gd name="connsiteY0" fmla="*/ 0 h 510633"/>
              <a:gd name="connsiteX1" fmla="*/ 4226560 w 4226560"/>
              <a:gd name="connsiteY1" fmla="*/ 0 h 510633"/>
              <a:gd name="connsiteX2" fmla="*/ 4226560 w 4226560"/>
              <a:gd name="connsiteY2" fmla="*/ 510633 h 510633"/>
              <a:gd name="connsiteX3" fmla="*/ 0 w 4226560"/>
              <a:gd name="connsiteY3" fmla="*/ 510633 h 510633"/>
              <a:gd name="connsiteX4" fmla="*/ 0 w 4226560"/>
              <a:gd name="connsiteY4" fmla="*/ 0 h 510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560" h="510633">
                <a:moveTo>
                  <a:pt x="0" y="0"/>
                </a:moveTo>
                <a:lnTo>
                  <a:pt x="4226560" y="0"/>
                </a:lnTo>
                <a:lnTo>
                  <a:pt x="4226560" y="510633"/>
                </a:lnTo>
                <a:lnTo>
                  <a:pt x="0" y="510633"/>
                </a:lnTo>
                <a:lnTo>
                  <a:pt x="0" y="0"/>
                </a:lnTo>
                <a:close/>
              </a:path>
            </a:pathLst>
          </a:custGeom>
          <a:noFill/>
          <a:ln>
            <a:noFill/>
          </a:ln>
          <a:effectLst/>
        </p:spPr>
        <p:txBody>
          <a:bodyPr spcFirstLastPara="0" vert="horz" wrap="square" lIns="-1" tIns="-1" rIns="450234" bIns="0" numCol="1" spcCol="1270" anchor="t" anchorCtr="0">
            <a:noAutofit/>
          </a:bodyPr>
          <a:lstStyle/>
          <a:p>
            <a:pPr marL="0" marR="0" lvl="0" indent="0" algn="l" defTabSz="1688593" rtl="0" eaLnBrk="1" fontAlgn="auto" latinLnBrk="0" hangingPunct="1">
              <a:lnSpc>
                <a:spcPct val="90000"/>
              </a:lnSpc>
              <a:spcBef>
                <a:spcPts val="0"/>
              </a:spcBef>
              <a:spcAft>
                <a:spcPct val="35000"/>
              </a:spcAft>
              <a:buClrTx/>
              <a:buSzTx/>
              <a:buFontTx/>
              <a:buNone/>
              <a:tabLst/>
              <a:defRPr/>
            </a:pPr>
            <a:r>
              <a:rPr kumimoji="0" lang="en-US" sz="3799" b="1" i="0" u="none" strike="noStrike" kern="0" cap="none" spc="0" normalizeH="0" baseline="0" noProof="0">
                <a:ln>
                  <a:noFill/>
                </a:ln>
                <a:solidFill>
                  <a:srgbClr val="DDDDDD">
                    <a:lumMod val="50000"/>
                  </a:srgbClr>
                </a:solidFill>
                <a:effectLst/>
                <a:uLnTx/>
                <a:uFillTx/>
                <a:latin typeface="Arial"/>
                <a:ea typeface="+mn-ea"/>
                <a:cs typeface="+mn-cs"/>
              </a:rPr>
              <a:t>Accelerate</a:t>
            </a:r>
          </a:p>
        </p:txBody>
      </p:sp>
      <p:pic>
        <p:nvPicPr>
          <p:cNvPr id="81" name="Picture 80">
            <a:extLst>
              <a:ext uri="{FF2B5EF4-FFF2-40B4-BE49-F238E27FC236}">
                <a16:creationId xmlns:a16="http://schemas.microsoft.com/office/drawing/2014/main" id="{B5B2C934-F81E-40E8-89B9-23490EB0BC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746" y="1788812"/>
            <a:ext cx="641233" cy="641233"/>
          </a:xfrm>
          <a:prstGeom prst="rect">
            <a:avLst/>
          </a:prstGeom>
        </p:spPr>
      </p:pic>
      <p:pic>
        <p:nvPicPr>
          <p:cNvPr id="82" name="Picture 81">
            <a:extLst>
              <a:ext uri="{FF2B5EF4-FFF2-40B4-BE49-F238E27FC236}">
                <a16:creationId xmlns:a16="http://schemas.microsoft.com/office/drawing/2014/main" id="{05197DD6-4EB6-4ADB-882F-D6237A46F6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8763" y="1710638"/>
            <a:ext cx="912576" cy="912576"/>
          </a:xfrm>
          <a:prstGeom prst="rect">
            <a:avLst/>
          </a:prstGeom>
          <a:effectLst>
            <a:outerShdw blurRad="50800" dist="38100" dir="2700000" algn="tl" rotWithShape="0">
              <a:prstClr val="black">
                <a:alpha val="40000"/>
              </a:prstClr>
            </a:outerShdw>
          </a:effectLst>
        </p:spPr>
      </p:pic>
      <p:pic>
        <p:nvPicPr>
          <p:cNvPr id="83" name="Picture 82">
            <a:extLst>
              <a:ext uri="{FF2B5EF4-FFF2-40B4-BE49-F238E27FC236}">
                <a16:creationId xmlns:a16="http://schemas.microsoft.com/office/drawing/2014/main" id="{CB179997-29B3-47FC-BD16-1F1B03328B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38596" y="1710638"/>
            <a:ext cx="912576" cy="912576"/>
          </a:xfrm>
          <a:prstGeom prst="rect">
            <a:avLst/>
          </a:prstGeom>
          <a:effectLst>
            <a:outerShdw blurRad="50800" dist="38100" dir="2700000" algn="tl" rotWithShape="0">
              <a:prstClr val="black">
                <a:alpha val="40000"/>
              </a:prstClr>
            </a:outerShdw>
          </a:effectLst>
        </p:spPr>
      </p:pic>
      <p:pic>
        <p:nvPicPr>
          <p:cNvPr id="84" name="Picture 83">
            <a:extLst>
              <a:ext uri="{FF2B5EF4-FFF2-40B4-BE49-F238E27FC236}">
                <a16:creationId xmlns:a16="http://schemas.microsoft.com/office/drawing/2014/main" id="{E252D41E-EB0E-4E47-8C88-CB675845EE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01726" y="1637946"/>
            <a:ext cx="912576" cy="9125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2196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anim calcmode="lin" valueType="num">
                                      <p:cBhvr>
                                        <p:cTn id="8" dur="1000" fill="hold"/>
                                        <p:tgtEl>
                                          <p:spTgt spid="75"/>
                                        </p:tgtEl>
                                        <p:attrNameLst>
                                          <p:attrName>ppt_x</p:attrName>
                                        </p:attrNameLst>
                                      </p:cBhvr>
                                      <p:tavLst>
                                        <p:tav tm="0">
                                          <p:val>
                                            <p:strVal val="#ppt_x"/>
                                          </p:val>
                                        </p:tav>
                                        <p:tav tm="100000">
                                          <p:val>
                                            <p:strVal val="#ppt_x"/>
                                          </p:val>
                                        </p:tav>
                                      </p:tavLst>
                                    </p:anim>
                                    <p:anim calcmode="lin" valueType="num">
                                      <p:cBhvr>
                                        <p:cTn id="9" dur="1000" fill="hold"/>
                                        <p:tgtEl>
                                          <p:spTgt spid="7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fade">
                                      <p:cBhvr>
                                        <p:cTn id="12" dur="1000"/>
                                        <p:tgtEl>
                                          <p:spTgt spid="76"/>
                                        </p:tgtEl>
                                      </p:cBhvr>
                                    </p:animEffect>
                                    <p:anim calcmode="lin" valueType="num">
                                      <p:cBhvr>
                                        <p:cTn id="13" dur="1000" fill="hold"/>
                                        <p:tgtEl>
                                          <p:spTgt spid="76"/>
                                        </p:tgtEl>
                                        <p:attrNameLst>
                                          <p:attrName>ppt_x</p:attrName>
                                        </p:attrNameLst>
                                      </p:cBhvr>
                                      <p:tavLst>
                                        <p:tav tm="0">
                                          <p:val>
                                            <p:strVal val="#ppt_x"/>
                                          </p:val>
                                        </p:tav>
                                        <p:tav tm="100000">
                                          <p:val>
                                            <p:strVal val="#ppt_x"/>
                                          </p:val>
                                        </p:tav>
                                      </p:tavLst>
                                    </p:anim>
                                    <p:anim calcmode="lin" valueType="num">
                                      <p:cBhvr>
                                        <p:cTn id="14" dur="1000" fill="hold"/>
                                        <p:tgtEl>
                                          <p:spTgt spid="7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1000"/>
                                        <p:tgtEl>
                                          <p:spTgt spid="81"/>
                                        </p:tgtEl>
                                      </p:cBhvr>
                                    </p:animEffect>
                                    <p:anim calcmode="lin" valueType="num">
                                      <p:cBhvr>
                                        <p:cTn id="18" dur="1000" fill="hold"/>
                                        <p:tgtEl>
                                          <p:spTgt spid="81"/>
                                        </p:tgtEl>
                                        <p:attrNameLst>
                                          <p:attrName>ppt_x</p:attrName>
                                        </p:attrNameLst>
                                      </p:cBhvr>
                                      <p:tavLst>
                                        <p:tav tm="0">
                                          <p:val>
                                            <p:strVal val="#ppt_x"/>
                                          </p:val>
                                        </p:tav>
                                        <p:tav tm="100000">
                                          <p:val>
                                            <p:strVal val="#ppt_x"/>
                                          </p:val>
                                        </p:tav>
                                      </p:tavLst>
                                    </p:anim>
                                    <p:anim calcmode="lin" valueType="num">
                                      <p:cBhvr>
                                        <p:cTn id="19"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7"/>
                                        </p:tgtEl>
                                        <p:attrNameLst>
                                          <p:attrName>style.visibility</p:attrName>
                                        </p:attrNameLst>
                                      </p:cBhvr>
                                      <p:to>
                                        <p:strVal val="visible"/>
                                      </p:to>
                                    </p:set>
                                    <p:animEffect transition="in" filter="fade">
                                      <p:cBhvr>
                                        <p:cTn id="24" dur="1000"/>
                                        <p:tgtEl>
                                          <p:spTgt spid="77"/>
                                        </p:tgtEl>
                                      </p:cBhvr>
                                    </p:animEffect>
                                    <p:anim calcmode="lin" valueType="num">
                                      <p:cBhvr>
                                        <p:cTn id="25" dur="1000" fill="hold"/>
                                        <p:tgtEl>
                                          <p:spTgt spid="77"/>
                                        </p:tgtEl>
                                        <p:attrNameLst>
                                          <p:attrName>ppt_x</p:attrName>
                                        </p:attrNameLst>
                                      </p:cBhvr>
                                      <p:tavLst>
                                        <p:tav tm="0">
                                          <p:val>
                                            <p:strVal val="#ppt_x"/>
                                          </p:val>
                                        </p:tav>
                                        <p:tav tm="100000">
                                          <p:val>
                                            <p:strVal val="#ppt_x"/>
                                          </p:val>
                                        </p:tav>
                                      </p:tavLst>
                                    </p:anim>
                                    <p:anim calcmode="lin" valueType="num">
                                      <p:cBhvr>
                                        <p:cTn id="26" dur="1000" fill="hold"/>
                                        <p:tgtEl>
                                          <p:spTgt spid="7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8"/>
                                        </p:tgtEl>
                                        <p:attrNameLst>
                                          <p:attrName>style.visibility</p:attrName>
                                        </p:attrNameLst>
                                      </p:cBhvr>
                                      <p:to>
                                        <p:strVal val="visible"/>
                                      </p:to>
                                    </p:set>
                                    <p:animEffect transition="in" filter="fade">
                                      <p:cBhvr>
                                        <p:cTn id="29" dur="1000"/>
                                        <p:tgtEl>
                                          <p:spTgt spid="78"/>
                                        </p:tgtEl>
                                      </p:cBhvr>
                                    </p:animEffect>
                                    <p:anim calcmode="lin" valueType="num">
                                      <p:cBhvr>
                                        <p:cTn id="30" dur="1000" fill="hold"/>
                                        <p:tgtEl>
                                          <p:spTgt spid="78"/>
                                        </p:tgtEl>
                                        <p:attrNameLst>
                                          <p:attrName>ppt_x</p:attrName>
                                        </p:attrNameLst>
                                      </p:cBhvr>
                                      <p:tavLst>
                                        <p:tav tm="0">
                                          <p:val>
                                            <p:strVal val="#ppt_x"/>
                                          </p:val>
                                        </p:tav>
                                        <p:tav tm="100000">
                                          <p:val>
                                            <p:strVal val="#ppt_x"/>
                                          </p:val>
                                        </p:tav>
                                      </p:tavLst>
                                    </p:anim>
                                    <p:anim calcmode="lin" valueType="num">
                                      <p:cBhvr>
                                        <p:cTn id="31" dur="1000" fill="hold"/>
                                        <p:tgtEl>
                                          <p:spTgt spid="7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9"/>
                                        </p:tgtEl>
                                        <p:attrNameLst>
                                          <p:attrName>style.visibility</p:attrName>
                                        </p:attrNameLst>
                                      </p:cBhvr>
                                      <p:to>
                                        <p:strVal val="visible"/>
                                      </p:to>
                                    </p:set>
                                    <p:animEffect transition="in" filter="fade">
                                      <p:cBhvr>
                                        <p:cTn id="36" dur="1000"/>
                                        <p:tgtEl>
                                          <p:spTgt spid="79"/>
                                        </p:tgtEl>
                                      </p:cBhvr>
                                    </p:animEffect>
                                    <p:anim calcmode="lin" valueType="num">
                                      <p:cBhvr>
                                        <p:cTn id="37" dur="1000" fill="hold"/>
                                        <p:tgtEl>
                                          <p:spTgt spid="79"/>
                                        </p:tgtEl>
                                        <p:attrNameLst>
                                          <p:attrName>ppt_x</p:attrName>
                                        </p:attrNameLst>
                                      </p:cBhvr>
                                      <p:tavLst>
                                        <p:tav tm="0">
                                          <p:val>
                                            <p:strVal val="#ppt_x"/>
                                          </p:val>
                                        </p:tav>
                                        <p:tav tm="100000">
                                          <p:val>
                                            <p:strVal val="#ppt_x"/>
                                          </p:val>
                                        </p:tav>
                                      </p:tavLst>
                                    </p:anim>
                                    <p:anim calcmode="lin" valueType="num">
                                      <p:cBhvr>
                                        <p:cTn id="38" dur="1000" fill="hold"/>
                                        <p:tgtEl>
                                          <p:spTgt spid="7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80"/>
                                        </p:tgtEl>
                                        <p:attrNameLst>
                                          <p:attrName>style.visibility</p:attrName>
                                        </p:attrNameLst>
                                      </p:cBhvr>
                                      <p:to>
                                        <p:strVal val="visible"/>
                                      </p:to>
                                    </p:set>
                                    <p:animEffect transition="in" filter="fade">
                                      <p:cBhvr>
                                        <p:cTn id="41" dur="1000"/>
                                        <p:tgtEl>
                                          <p:spTgt spid="80"/>
                                        </p:tgtEl>
                                      </p:cBhvr>
                                    </p:animEffect>
                                    <p:anim calcmode="lin" valueType="num">
                                      <p:cBhvr>
                                        <p:cTn id="42" dur="1000" fill="hold"/>
                                        <p:tgtEl>
                                          <p:spTgt spid="80"/>
                                        </p:tgtEl>
                                        <p:attrNameLst>
                                          <p:attrName>ppt_x</p:attrName>
                                        </p:attrNameLst>
                                      </p:cBhvr>
                                      <p:tavLst>
                                        <p:tav tm="0">
                                          <p:val>
                                            <p:strVal val="#ppt_x"/>
                                          </p:val>
                                        </p:tav>
                                        <p:tav tm="100000">
                                          <p:val>
                                            <p:strVal val="#ppt_x"/>
                                          </p:val>
                                        </p:tav>
                                      </p:tavLst>
                                    </p:anim>
                                    <p:anim calcmode="lin" valueType="num">
                                      <p:cBhvr>
                                        <p:cTn id="43"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P spid="76" grpId="0"/>
      <p:bldP spid="77" grpId="0" animBg="1"/>
      <p:bldP spid="78" grpId="0"/>
      <p:bldP spid="79" grpId="0" animBg="1"/>
      <p:bldP spid="8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Market P&amp;L Areas of Change</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9" name="Group 8">
            <a:extLst>
              <a:ext uri="{FF2B5EF4-FFF2-40B4-BE49-F238E27FC236}">
                <a16:creationId xmlns:a16="http://schemas.microsoft.com/office/drawing/2014/main" id="{46210F7D-ED1B-45C6-8E08-8C045CDF95C8}"/>
              </a:ext>
            </a:extLst>
          </p:cNvPr>
          <p:cNvGrpSpPr/>
          <p:nvPr/>
        </p:nvGrpSpPr>
        <p:grpSpPr>
          <a:xfrm>
            <a:off x="1362613" y="2582074"/>
            <a:ext cx="8368081" cy="2125676"/>
            <a:chOff x="1362613" y="2582074"/>
            <a:chExt cx="8368081" cy="2125676"/>
          </a:xfrm>
        </p:grpSpPr>
        <p:sp>
          <p:nvSpPr>
            <p:cNvPr id="10" name="Teardrop 9">
              <a:extLst>
                <a:ext uri="{FF2B5EF4-FFF2-40B4-BE49-F238E27FC236}">
                  <a16:creationId xmlns:a16="http://schemas.microsoft.com/office/drawing/2014/main" id="{AAEA0215-EC3A-45FE-BAFE-5FF6A7E6F143}"/>
                </a:ext>
              </a:extLst>
            </p:cNvPr>
            <p:cNvSpPr/>
            <p:nvPr/>
          </p:nvSpPr>
          <p:spPr>
            <a:xfrm rot="2700000">
              <a:off x="1383200" y="2561487"/>
              <a:ext cx="2125676" cy="2166849"/>
            </a:xfrm>
            <a:prstGeom prst="teardrop">
              <a:avLst>
                <a:gd name="adj" fmla="val 100000"/>
              </a:avLst>
            </a:prstGeom>
            <a:solidFill>
              <a:schemeClr val="accent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Freeform 14">
              <a:extLst>
                <a:ext uri="{FF2B5EF4-FFF2-40B4-BE49-F238E27FC236}">
                  <a16:creationId xmlns:a16="http://schemas.microsoft.com/office/drawing/2014/main" id="{1FD41520-C158-4C5B-AC43-EDE69FEDC798}"/>
                </a:ext>
              </a:extLst>
            </p:cNvPr>
            <p:cNvSpPr/>
            <p:nvPr/>
          </p:nvSpPr>
          <p:spPr>
            <a:xfrm>
              <a:off x="1432116" y="2650548"/>
              <a:ext cx="2053946" cy="1989098"/>
            </a:xfrm>
            <a:custGeom>
              <a:avLst/>
              <a:gdLst>
                <a:gd name="connsiteX0" fmla="*/ 0 w 2190980"/>
                <a:gd name="connsiteY0" fmla="*/ 1095374 h 2190747"/>
                <a:gd name="connsiteX1" fmla="*/ 1095490 w 2190980"/>
                <a:gd name="connsiteY1" fmla="*/ 0 h 2190747"/>
                <a:gd name="connsiteX2" fmla="*/ 2190980 w 2190980"/>
                <a:gd name="connsiteY2" fmla="*/ 1095374 h 2190747"/>
                <a:gd name="connsiteX3" fmla="*/ 1095490 w 2190980"/>
                <a:gd name="connsiteY3" fmla="*/ 2190748 h 2190747"/>
                <a:gd name="connsiteX4" fmla="*/ 0 w 2190980"/>
                <a:gd name="connsiteY4" fmla="*/ 1095374 h 21907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980" h="2190747">
                  <a:moveTo>
                    <a:pt x="0" y="1095374"/>
                  </a:moveTo>
                  <a:cubicBezTo>
                    <a:pt x="0" y="490416"/>
                    <a:pt x="490468" y="0"/>
                    <a:pt x="1095490" y="0"/>
                  </a:cubicBezTo>
                  <a:cubicBezTo>
                    <a:pt x="1700512" y="0"/>
                    <a:pt x="2190980" y="490416"/>
                    <a:pt x="2190980" y="1095374"/>
                  </a:cubicBezTo>
                  <a:cubicBezTo>
                    <a:pt x="2190980" y="1700332"/>
                    <a:pt x="1700512" y="2190748"/>
                    <a:pt x="1095490" y="2190748"/>
                  </a:cubicBezTo>
                  <a:cubicBezTo>
                    <a:pt x="490468" y="2190748"/>
                    <a:pt x="0" y="1700332"/>
                    <a:pt x="0" y="1095374"/>
                  </a:cubicBezTo>
                  <a:close/>
                </a:path>
              </a:pathLst>
            </a:custGeom>
            <a:ln>
              <a:solidFill>
                <a:schemeClr val="accent4">
                  <a:lumMod val="5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82880" tIns="338423" rIns="182880" bIns="338423" numCol="1" spcCol="1270" anchor="ctr" anchorCtr="0">
              <a:noAutofit/>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Arial" charset="0"/>
                  <a:ea typeface="ＭＳ Ｐゴシック" charset="0"/>
                  <a:cs typeface="+mn-cs"/>
                </a:rPr>
                <a:t>COGS transparency in cost component split </a:t>
              </a:r>
            </a:p>
          </p:txBody>
        </p:sp>
        <p:sp>
          <p:nvSpPr>
            <p:cNvPr id="12" name="Rectangular Callout 11">
              <a:extLst>
                <a:ext uri="{FF2B5EF4-FFF2-40B4-BE49-F238E27FC236}">
                  <a16:creationId xmlns:a16="http://schemas.microsoft.com/office/drawing/2014/main" id="{F6719FB1-9426-4490-8334-A1A4E71FBE0D}"/>
                </a:ext>
              </a:extLst>
            </p:cNvPr>
            <p:cNvSpPr/>
            <p:nvPr/>
          </p:nvSpPr>
          <p:spPr bwMode="auto">
            <a:xfrm>
              <a:off x="4272249" y="3087072"/>
              <a:ext cx="5458445" cy="999959"/>
            </a:xfrm>
            <a:prstGeom prst="wedgeRectCallout">
              <a:avLst>
                <a:gd name="adj1" fmla="val -57924"/>
                <a:gd name="adj2" fmla="val 10991"/>
              </a:avLst>
            </a:prstGeom>
            <a:ln/>
          </p:spPr>
          <p:style>
            <a:lnRef idx="2">
              <a:schemeClr val="accent4"/>
            </a:lnRef>
            <a:fillRef idx="1">
              <a:schemeClr val="lt1"/>
            </a:fillRef>
            <a:effectRef idx="0">
              <a:schemeClr val="accent4"/>
            </a:effectRef>
            <a:fontRef idx="minor">
              <a:schemeClr val="dk1"/>
            </a:fontRef>
          </p:style>
          <p:txBody>
            <a:bodyPr vert="horz" wrap="square" lIns="36000" tIns="36000" rIns="0" bIns="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charset="0"/>
                  <a:ea typeface="ＭＳ Ｐゴシック" charset="0"/>
                  <a:cs typeface="+mn-cs"/>
                </a:rPr>
                <a:t>COGS lines will be able to be detailed </a:t>
              </a: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mn-cs"/>
                </a:rPr>
                <a:t>ensuring more insight in its underlying drivers with the new S/4Hana.</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1768163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a:xfrm>
            <a:off x="1511276" y="210344"/>
            <a:ext cx="7343083" cy="984247"/>
          </a:xfrm>
        </p:spPr>
        <p:txBody>
          <a:bodyPr/>
          <a:lstStyle/>
          <a:p>
            <a:r>
              <a:rPr lang="en-GB"/>
              <a:t>COGS Lines with enhanced transparency</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A3C70AA6-9184-488D-A869-59ECDD2E86BF}"/>
              </a:ext>
            </a:extLst>
          </p:cNvPr>
          <p:cNvGrpSpPr/>
          <p:nvPr/>
        </p:nvGrpSpPr>
        <p:grpSpPr>
          <a:xfrm>
            <a:off x="304800" y="1690014"/>
            <a:ext cx="11478492" cy="4803449"/>
            <a:chOff x="246355" y="1592044"/>
            <a:chExt cx="11994835" cy="5048110"/>
          </a:xfrm>
        </p:grpSpPr>
        <p:sp>
          <p:nvSpPr>
            <p:cNvPr id="7" name="Right Arrow 24">
              <a:extLst>
                <a:ext uri="{FF2B5EF4-FFF2-40B4-BE49-F238E27FC236}">
                  <a16:creationId xmlns:a16="http://schemas.microsoft.com/office/drawing/2014/main" id="{49E3FB59-19A3-4C2B-BF73-B4C68F1D00CF}"/>
                </a:ext>
              </a:extLst>
            </p:cNvPr>
            <p:cNvSpPr/>
            <p:nvPr/>
          </p:nvSpPr>
          <p:spPr bwMode="auto">
            <a:xfrm>
              <a:off x="3153497" y="1605058"/>
              <a:ext cx="5640185" cy="885801"/>
            </a:xfrm>
            <a:prstGeom prst="rightArrow">
              <a:avLst/>
            </a:prstGeom>
            <a:solidFill>
              <a:srgbClr val="A7E6E4"/>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000000">
                      <a:lumMod val="75000"/>
                      <a:lumOff val="25000"/>
                    </a:srgbClr>
                  </a:solidFill>
                  <a:effectLst/>
                  <a:uLnTx/>
                  <a:uFillTx/>
                  <a:latin typeface="Arial" charset="0"/>
                  <a:ea typeface="ＭＳ Ｐゴシック" pitchFamily="80" charset="-128"/>
                  <a:cs typeface="Arial" charset="0"/>
                </a:rPr>
                <a:t>Delivery to 3rd Party</a:t>
              </a:r>
            </a:p>
          </p:txBody>
        </p:sp>
        <p:sp>
          <p:nvSpPr>
            <p:cNvPr id="8" name="TextBox 7">
              <a:extLst>
                <a:ext uri="{FF2B5EF4-FFF2-40B4-BE49-F238E27FC236}">
                  <a16:creationId xmlns:a16="http://schemas.microsoft.com/office/drawing/2014/main" id="{F74883D5-A37F-4481-AD3B-75247AB2EF43}"/>
                </a:ext>
              </a:extLst>
            </p:cNvPr>
            <p:cNvSpPr txBox="1"/>
            <p:nvPr/>
          </p:nvSpPr>
          <p:spPr>
            <a:xfrm>
              <a:off x="3138107" y="3029716"/>
              <a:ext cx="2632368" cy="3236781"/>
            </a:xfrm>
            <a:prstGeom prst="rect">
              <a:avLst/>
            </a:prstGeom>
            <a:solidFill>
              <a:srgbClr val="8F9195">
                <a:lumMod val="75000"/>
              </a:srgbClr>
            </a:solidFill>
            <a:ln w="38100" cap="flat" cmpd="sng" algn="ctr">
              <a:solidFill>
                <a:srgbClr val="FFFFFF"/>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defPPr>
                <a:defRPr lang="en-US"/>
              </a:defPPr>
              <a:lvl1pPr marL="0" marR="0" indent="0" defTabSz="914400" eaLnBrk="1" latinLnBrk="0" hangingPunct="1">
                <a:lnSpc>
                  <a:spcPct val="100000"/>
                </a:lnSpc>
                <a:spcBef>
                  <a:spcPct val="20000"/>
                </a:spcBef>
                <a:buClrTx/>
                <a:buSzTx/>
                <a:buFontTx/>
                <a:buNone/>
                <a:tabLst/>
                <a:defRPr kumimoji="0" b="0" i="0" u="none" strike="noStrike" cap="none" normalizeH="0" baseline="0">
                  <a:ln>
                    <a:noFill/>
                  </a:ln>
                  <a:effectLst/>
                  <a:latin typeface="Arial" charset="0"/>
                  <a:ea typeface="ＭＳ Ｐゴシック" charset="0"/>
                </a:defRPr>
              </a:lvl1p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SKU 123456</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Quantity: 50 </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COGS Value 1000</a:t>
              </a:r>
            </a:p>
            <a:p>
              <a:pPr marL="0" marR="0" lvl="0" indent="0" algn="l" defTabSz="914126" rtl="0" eaLnBrk="1" fontAlgn="auto" latinLnBrk="0" hangingPunct="1">
                <a:lnSpc>
                  <a:spcPct val="100000"/>
                </a:lnSpc>
                <a:spcBef>
                  <a:spcPct val="20000"/>
                </a:spcBef>
                <a:spcAft>
                  <a:spcPts val="0"/>
                </a:spcAft>
                <a:buClrTx/>
                <a:buSzTx/>
                <a:buFontTx/>
                <a:buNone/>
                <a:tabLst/>
                <a:defRPr/>
              </a:pPr>
              <a:endParaRPr kumimoji="0" lang="fr-CH" sz="1799" b="0" i="0" u="none" strike="noStrike" kern="0" cap="none" spc="0" normalizeH="0" baseline="0" noProof="0">
                <a:ln>
                  <a:noFill/>
                </a:ln>
                <a:solidFill>
                  <a:srgbClr val="FFFFFF"/>
                </a:solidFill>
                <a:effectLst/>
                <a:uLnTx/>
                <a:uFillTx/>
                <a:latin typeface="Arial" charset="0"/>
                <a:ea typeface="ＭＳ Ｐゴシック" charset="0"/>
                <a:cs typeface="+mn-cs"/>
              </a:endParaRPr>
            </a:p>
            <a:p>
              <a:pPr marL="0" marR="0" lvl="0" indent="0" algn="l" defTabSz="914126" rtl="0" eaLnBrk="1" fontAlgn="auto" latinLnBrk="0" hangingPunct="1">
                <a:lnSpc>
                  <a:spcPct val="100000"/>
                </a:lnSpc>
                <a:spcBef>
                  <a:spcPct val="20000"/>
                </a:spcBef>
                <a:spcAft>
                  <a:spcPts val="0"/>
                </a:spcAft>
                <a:buClrTx/>
                <a:buSzTx/>
                <a:buFontTx/>
                <a:buNone/>
                <a:tabLst/>
                <a:defRPr/>
              </a:pPr>
              <a:endParaRPr kumimoji="0" lang="fr-CH" sz="1799" b="0" i="0" u="none" strike="noStrike" kern="0" cap="none" spc="0" normalizeH="0" baseline="0" noProof="0">
                <a:ln>
                  <a:noFill/>
                </a:ln>
                <a:solidFill>
                  <a:srgbClr val="FFFFFF"/>
                </a:solidFill>
                <a:effectLst/>
                <a:uLnTx/>
                <a:uFillTx/>
                <a:latin typeface="Arial" charset="0"/>
                <a:ea typeface="ＭＳ Ｐゴシック" charset="0"/>
                <a:cs typeface="+mn-cs"/>
              </a:endParaRPr>
            </a:p>
            <a:p>
              <a:pPr marL="0" marR="0" lvl="0" indent="0" algn="l" defTabSz="914126" rtl="0" eaLnBrk="1" fontAlgn="auto" latinLnBrk="0" hangingPunct="1">
                <a:lnSpc>
                  <a:spcPct val="100000"/>
                </a:lnSpc>
                <a:spcBef>
                  <a:spcPct val="2000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endParaRPr>
            </a:p>
          </p:txBody>
        </p:sp>
        <p:sp>
          <p:nvSpPr>
            <p:cNvPr id="9" name="TextBox 8">
              <a:extLst>
                <a:ext uri="{FF2B5EF4-FFF2-40B4-BE49-F238E27FC236}">
                  <a16:creationId xmlns:a16="http://schemas.microsoft.com/office/drawing/2014/main" id="{A1A30FBB-04CF-48BB-9664-E6B64B09CBCF}"/>
                </a:ext>
              </a:extLst>
            </p:cNvPr>
            <p:cNvSpPr txBox="1"/>
            <p:nvPr/>
          </p:nvSpPr>
          <p:spPr>
            <a:xfrm>
              <a:off x="6210207" y="3008834"/>
              <a:ext cx="2653237" cy="3215142"/>
            </a:xfrm>
            <a:prstGeom prst="rect">
              <a:avLst/>
            </a:prstGeom>
            <a:solidFill>
              <a:srgbClr val="8F9195">
                <a:lumMod val="75000"/>
              </a:srgbClr>
            </a:solidFill>
            <a:ln w="38100" cap="flat" cmpd="sng" algn="ctr">
              <a:solidFill>
                <a:srgbClr val="FFFFFF"/>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defPPr>
                <a:defRPr lang="en-US"/>
              </a:defPPr>
              <a:lvl1pPr marL="0" marR="0" indent="0" defTabSz="914400" eaLnBrk="1" latinLnBrk="0" hangingPunct="1">
                <a:lnSpc>
                  <a:spcPct val="100000"/>
                </a:lnSpc>
                <a:spcBef>
                  <a:spcPct val="20000"/>
                </a:spcBef>
                <a:buClrTx/>
                <a:buSzTx/>
                <a:buFontTx/>
                <a:buNone/>
                <a:tabLst/>
                <a:defRPr kumimoji="0" b="0" i="0" u="none" strike="noStrike" cap="none" normalizeH="0" baseline="0">
                  <a:ln>
                    <a:noFill/>
                  </a:ln>
                  <a:effectLst/>
                  <a:latin typeface="Arial" charset="0"/>
                  <a:ea typeface="ＭＳ Ｐゴシック" charset="0"/>
                </a:defRPr>
              </a:lvl1p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SKU 123456</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Quantity: 50</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COGS Leaf              40</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COGS Convers.       20</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COGS </a:t>
              </a:r>
              <a:r>
                <a:rPr kumimoji="0" lang="en-US" sz="1799" b="0" i="0" u="none" strike="noStrike" kern="0" cap="none" spc="0" normalizeH="0" baseline="0" noProof="0" err="1">
                  <a:ln>
                    <a:noFill/>
                  </a:ln>
                  <a:solidFill>
                    <a:srgbClr val="FFFFFF"/>
                  </a:solidFill>
                  <a:effectLst/>
                  <a:uLnTx/>
                  <a:uFillTx/>
                  <a:latin typeface="Arial" charset="0"/>
                  <a:ea typeface="ＭＳ Ｐゴシック" charset="0"/>
                  <a:cs typeface="+mn-cs"/>
                </a:rPr>
                <a:t>Depr</a:t>
              </a: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             10</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COGS NTM              30</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799" b="0" i="0" u="none" strike="noStrike" kern="0" cap="none" spc="0" normalizeH="0" baseline="0" noProof="0">
                  <a:ln>
                    <a:noFill/>
                  </a:ln>
                  <a:solidFill>
                    <a:srgbClr val="FFFFFF"/>
                  </a:solidFill>
                  <a:effectLst/>
                  <a:uLnTx/>
                  <a:uFillTx/>
                  <a:latin typeface="Arial" charset="0"/>
                  <a:ea typeface="ＭＳ Ｐゴシック" charset="0"/>
                  <a:cs typeface="+mn-cs"/>
                </a:rPr>
                <a:t>Excise                     900		</a:t>
              </a:r>
            </a:p>
          </p:txBody>
        </p:sp>
        <p:cxnSp>
          <p:nvCxnSpPr>
            <p:cNvPr id="10" name="Straight Arrow Connector 9">
              <a:extLst>
                <a:ext uri="{FF2B5EF4-FFF2-40B4-BE49-F238E27FC236}">
                  <a16:creationId xmlns:a16="http://schemas.microsoft.com/office/drawing/2014/main" id="{B1567018-9B7B-4DD0-9FD5-9F561F7331A1}"/>
                </a:ext>
              </a:extLst>
            </p:cNvPr>
            <p:cNvCxnSpPr/>
            <p:nvPr/>
          </p:nvCxnSpPr>
          <p:spPr bwMode="auto">
            <a:xfrm flipV="1">
              <a:off x="5472112" y="4165979"/>
              <a:ext cx="808055" cy="291196"/>
            </a:xfrm>
            <a:prstGeom prst="straightConnector1">
              <a:avLst/>
            </a:prstGeom>
            <a:noFill/>
            <a:ln w="57150" cap="flat" cmpd="sng" algn="ctr">
              <a:solidFill>
                <a:srgbClr val="ABD9CE"/>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18253932-23B1-4CF0-A03F-45B8411C6768}"/>
                </a:ext>
              </a:extLst>
            </p:cNvPr>
            <p:cNvCxnSpPr/>
            <p:nvPr/>
          </p:nvCxnSpPr>
          <p:spPr bwMode="auto">
            <a:xfrm>
              <a:off x="5453829" y="4466317"/>
              <a:ext cx="826338" cy="48892"/>
            </a:xfrm>
            <a:prstGeom prst="straightConnector1">
              <a:avLst/>
            </a:prstGeom>
            <a:noFill/>
            <a:ln w="57150" cap="flat" cmpd="sng" algn="ctr">
              <a:solidFill>
                <a:srgbClr val="ABD9CE"/>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1787EEE8-71CD-45E6-BC41-1A2142A95182}"/>
                </a:ext>
              </a:extLst>
            </p:cNvPr>
            <p:cNvCxnSpPr/>
            <p:nvPr/>
          </p:nvCxnSpPr>
          <p:spPr bwMode="auto">
            <a:xfrm>
              <a:off x="5472112" y="4457175"/>
              <a:ext cx="808055" cy="373489"/>
            </a:xfrm>
            <a:prstGeom prst="straightConnector1">
              <a:avLst/>
            </a:prstGeom>
            <a:noFill/>
            <a:ln w="57150" cap="flat" cmpd="sng" algn="ctr">
              <a:solidFill>
                <a:srgbClr val="ABD9CE"/>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Straight Arrow Connector 12">
              <a:extLst>
                <a:ext uri="{FF2B5EF4-FFF2-40B4-BE49-F238E27FC236}">
                  <a16:creationId xmlns:a16="http://schemas.microsoft.com/office/drawing/2014/main" id="{A6261140-2858-4816-B9C2-0802F6B52EFF}"/>
                </a:ext>
              </a:extLst>
            </p:cNvPr>
            <p:cNvCxnSpPr/>
            <p:nvPr/>
          </p:nvCxnSpPr>
          <p:spPr bwMode="auto">
            <a:xfrm>
              <a:off x="5453829" y="4466317"/>
              <a:ext cx="826338" cy="692160"/>
            </a:xfrm>
            <a:prstGeom prst="straightConnector1">
              <a:avLst/>
            </a:prstGeom>
            <a:noFill/>
            <a:ln w="57150" cap="flat" cmpd="sng" algn="ctr">
              <a:solidFill>
                <a:srgbClr val="ABD9CE"/>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 name="TextBox 13">
              <a:extLst>
                <a:ext uri="{FF2B5EF4-FFF2-40B4-BE49-F238E27FC236}">
                  <a16:creationId xmlns:a16="http://schemas.microsoft.com/office/drawing/2014/main" id="{1F78DCE6-E278-49A5-890A-C6D5F97E550A}"/>
                </a:ext>
              </a:extLst>
            </p:cNvPr>
            <p:cNvSpPr txBox="1"/>
            <p:nvPr/>
          </p:nvSpPr>
          <p:spPr>
            <a:xfrm>
              <a:off x="3138106" y="2421754"/>
              <a:ext cx="2632369" cy="499016"/>
            </a:xfrm>
            <a:prstGeom prst="rect">
              <a:avLst/>
            </a:prstGeom>
            <a:solidFill>
              <a:srgbClr val="408D7A">
                <a:lumMod val="60000"/>
                <a:lumOff val="40000"/>
              </a:srgbClr>
            </a:solidFill>
            <a:ln w="38100" cap="flat" cmpd="sng" algn="ctr">
              <a:solidFill>
                <a:srgbClr val="FFFFFF"/>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defPPr>
                <a:defRPr lang="en-US"/>
              </a:defPPr>
              <a:lvl1pPr>
                <a:spcBef>
                  <a:spcPct val="20000"/>
                </a:spcBef>
                <a:defRPr sz="1800">
                  <a:latin typeface="Arial" charset="0"/>
                  <a:ea typeface="ＭＳ Ｐゴシック" charset="0"/>
                </a:defRPr>
              </a:lvl1p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fr-CH" sz="1799" b="0" i="0" u="none" strike="noStrike" kern="0" cap="none" spc="0" normalizeH="0" baseline="0" noProof="0" err="1">
                  <a:ln>
                    <a:noFill/>
                  </a:ln>
                  <a:solidFill>
                    <a:srgbClr val="FFFFFF"/>
                  </a:solidFill>
                  <a:effectLst/>
                  <a:uLnTx/>
                  <a:uFillTx/>
                  <a:latin typeface="Arial" charset="0"/>
                  <a:ea typeface="ＭＳ Ｐゴシック" charset="0"/>
                  <a:cs typeface="+mn-cs"/>
                </a:rPr>
                <a:t>Before</a:t>
              </a:r>
              <a:r>
                <a:rPr kumimoji="0" lang="fr-CH" sz="1799" b="0" i="0" u="none" strike="noStrike" kern="0" cap="none" spc="0" normalizeH="0" baseline="0" noProof="0">
                  <a:ln>
                    <a:noFill/>
                  </a:ln>
                  <a:solidFill>
                    <a:srgbClr val="FFFFFF"/>
                  </a:solidFill>
                  <a:effectLst/>
                  <a:uLnTx/>
                  <a:uFillTx/>
                  <a:latin typeface="Arial" charset="0"/>
                  <a:ea typeface="ＭＳ Ｐゴシック" charset="0"/>
                  <a:cs typeface="+mn-cs"/>
                </a:rPr>
                <a:t> S/4 HANA</a:t>
              </a:r>
            </a:p>
          </p:txBody>
        </p:sp>
        <p:sp>
          <p:nvSpPr>
            <p:cNvPr id="15" name="TextBox 14">
              <a:extLst>
                <a:ext uri="{FF2B5EF4-FFF2-40B4-BE49-F238E27FC236}">
                  <a16:creationId xmlns:a16="http://schemas.microsoft.com/office/drawing/2014/main" id="{6AD4A2D3-2CB5-4046-A13E-49AFA6084E54}"/>
                </a:ext>
              </a:extLst>
            </p:cNvPr>
            <p:cNvSpPr txBox="1"/>
            <p:nvPr/>
          </p:nvSpPr>
          <p:spPr>
            <a:xfrm>
              <a:off x="6229556" y="2415741"/>
              <a:ext cx="2633889" cy="499016"/>
            </a:xfrm>
            <a:prstGeom prst="rect">
              <a:avLst/>
            </a:prstGeom>
            <a:solidFill>
              <a:srgbClr val="408D7A">
                <a:lumMod val="60000"/>
                <a:lumOff val="40000"/>
              </a:srgbClr>
            </a:solidFill>
            <a:ln w="38100" cap="flat" cmpd="sng" algn="ctr">
              <a:solidFill>
                <a:srgbClr val="FFFFFF"/>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defPPr>
                <a:defRPr lang="en-US"/>
              </a:defPPr>
              <a:lvl1pPr>
                <a:spcBef>
                  <a:spcPct val="20000"/>
                </a:spcBef>
                <a:defRPr sz="1800">
                  <a:latin typeface="Arial" charset="0"/>
                  <a:ea typeface="ＭＳ Ｐゴシック" charset="0"/>
                </a:defRPr>
              </a:lvl1p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fr-CH" sz="1799" b="0" i="0" u="none" strike="noStrike" kern="0" cap="none" spc="0" normalizeH="0" baseline="0" noProof="0">
                  <a:ln>
                    <a:noFill/>
                  </a:ln>
                  <a:solidFill>
                    <a:srgbClr val="FFFFFF"/>
                  </a:solidFill>
                  <a:effectLst/>
                  <a:uLnTx/>
                  <a:uFillTx/>
                  <a:latin typeface="Arial" charset="0"/>
                  <a:ea typeface="ＭＳ Ｐゴシック" charset="0"/>
                  <a:cs typeface="+mn-cs"/>
                </a:rPr>
                <a:t> S/4 HANA</a:t>
              </a:r>
            </a:p>
          </p:txBody>
        </p:sp>
        <p:pic>
          <p:nvPicPr>
            <p:cNvPr id="16" name="Picture 15">
              <a:extLst>
                <a:ext uri="{FF2B5EF4-FFF2-40B4-BE49-F238E27FC236}">
                  <a16:creationId xmlns:a16="http://schemas.microsoft.com/office/drawing/2014/main" id="{287784E3-1A70-4808-9371-715DB8C2C01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316257" y="1592044"/>
              <a:ext cx="682873" cy="697248"/>
            </a:xfrm>
            <a:prstGeom prst="rect">
              <a:avLst/>
            </a:prstGeom>
          </p:spPr>
        </p:pic>
        <p:pic>
          <p:nvPicPr>
            <p:cNvPr id="17" name="Picture 16">
              <a:extLst>
                <a:ext uri="{FF2B5EF4-FFF2-40B4-BE49-F238E27FC236}">
                  <a16:creationId xmlns:a16="http://schemas.microsoft.com/office/drawing/2014/main" id="{0C77CBBC-E46A-40AF-83BA-F57211E8F7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09074" y="1621403"/>
              <a:ext cx="711729" cy="680330"/>
            </a:xfrm>
            <a:prstGeom prst="rect">
              <a:avLst/>
            </a:prstGeom>
          </p:spPr>
        </p:pic>
        <p:cxnSp>
          <p:nvCxnSpPr>
            <p:cNvPr id="18" name="Straight Arrow Connector 17">
              <a:extLst>
                <a:ext uri="{FF2B5EF4-FFF2-40B4-BE49-F238E27FC236}">
                  <a16:creationId xmlns:a16="http://schemas.microsoft.com/office/drawing/2014/main" id="{4317C17E-02BF-468A-AE5E-F1C95C312FF8}"/>
                </a:ext>
              </a:extLst>
            </p:cNvPr>
            <p:cNvCxnSpPr/>
            <p:nvPr/>
          </p:nvCxnSpPr>
          <p:spPr bwMode="auto">
            <a:xfrm>
              <a:off x="5472111" y="4466317"/>
              <a:ext cx="849141" cy="1040090"/>
            </a:xfrm>
            <a:prstGeom prst="straightConnector1">
              <a:avLst/>
            </a:prstGeom>
            <a:noFill/>
            <a:ln w="57150" cap="flat" cmpd="sng" algn="ctr">
              <a:solidFill>
                <a:srgbClr val="ABD9CE"/>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9" name="Round Diagonal Corner Rectangle 21">
              <a:extLst>
                <a:ext uri="{FF2B5EF4-FFF2-40B4-BE49-F238E27FC236}">
                  <a16:creationId xmlns:a16="http://schemas.microsoft.com/office/drawing/2014/main" id="{20E3D425-9075-4C23-B745-092E598CA3AA}"/>
                </a:ext>
              </a:extLst>
            </p:cNvPr>
            <p:cNvSpPr/>
            <p:nvPr/>
          </p:nvSpPr>
          <p:spPr bwMode="auto">
            <a:xfrm>
              <a:off x="246355" y="3008834"/>
              <a:ext cx="2766885" cy="2721863"/>
            </a:xfrm>
            <a:prstGeom prst="round2DiagRect">
              <a:avLst>
                <a:gd name="adj1" fmla="val 16667"/>
                <a:gd name="adj2" fmla="val 1648"/>
              </a:avLst>
            </a:prstGeom>
            <a:solidFill>
              <a:schemeClr val="accent1">
                <a:lumMod val="40000"/>
                <a:lumOff val="60000"/>
                <a:alpha val="39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999" b="1" i="0" u="none" strike="noStrike" kern="0" cap="none" spc="0" normalizeH="0" baseline="0" noProof="0">
                  <a:ln>
                    <a:noFill/>
                  </a:ln>
                  <a:solidFill>
                    <a:srgbClr val="122632"/>
                  </a:solidFill>
                  <a:effectLst/>
                  <a:uLnTx/>
                  <a:uFillTx/>
                  <a:latin typeface="Arial" pitchFamily="34" charset="0"/>
                  <a:ea typeface="ＭＳ Ｐゴシック" charset="0"/>
                  <a:cs typeface="+mn-cs"/>
                </a:rPr>
                <a:t>Before S/4</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122632"/>
                  </a:solidFill>
                  <a:effectLst/>
                  <a:uLnTx/>
                  <a:uFillTx/>
                  <a:latin typeface="Arial" pitchFamily="34" charset="0"/>
                  <a:ea typeface="ＭＳ Ｐゴシック" charset="0"/>
                  <a:cs typeface="+mn-cs"/>
                </a:rPr>
                <a:t>COGS are posted to one G/L account in accounting only.</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122632"/>
                  </a:solidFill>
                  <a:effectLst/>
                  <a:uLnTx/>
                  <a:uFillTx/>
                  <a:latin typeface="Arial" pitchFamily="34" charset="0"/>
                  <a:ea typeface="ＭＳ Ｐゴシック" charset="0"/>
                  <a:cs typeface="+mn-cs"/>
                </a:rPr>
                <a:t>Details for the manufacturing of the product were not displayed</a:t>
              </a:r>
            </a:p>
          </p:txBody>
        </p:sp>
        <p:sp>
          <p:nvSpPr>
            <p:cNvPr id="20" name="Round Diagonal Corner Rectangle 22">
              <a:extLst>
                <a:ext uri="{FF2B5EF4-FFF2-40B4-BE49-F238E27FC236}">
                  <a16:creationId xmlns:a16="http://schemas.microsoft.com/office/drawing/2014/main" id="{90D0FB67-801A-479F-8789-E1D158AE65DF}"/>
                </a:ext>
              </a:extLst>
            </p:cNvPr>
            <p:cNvSpPr/>
            <p:nvPr/>
          </p:nvSpPr>
          <p:spPr bwMode="auto">
            <a:xfrm>
              <a:off x="9095926" y="3029716"/>
              <a:ext cx="3145264" cy="3194260"/>
            </a:xfrm>
            <a:prstGeom prst="round2DiagRect">
              <a:avLst>
                <a:gd name="adj1" fmla="val 0"/>
                <a:gd name="adj2" fmla="val 17817"/>
              </a:avLst>
            </a:prstGeom>
            <a:solidFill>
              <a:schemeClr val="accent1">
                <a:lumMod val="40000"/>
                <a:lumOff val="60000"/>
                <a:alpha val="39000"/>
              </a:schemeClr>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999" b="1" i="0" u="none" strike="noStrike" kern="0" cap="none" spc="0" normalizeH="0" baseline="0" noProof="0">
                  <a:ln>
                    <a:noFill/>
                  </a:ln>
                  <a:solidFill>
                    <a:srgbClr val="122632"/>
                  </a:solidFill>
                  <a:effectLst/>
                  <a:uLnTx/>
                  <a:uFillTx/>
                  <a:latin typeface="Arial" pitchFamily="34" charset="0"/>
                  <a:ea typeface="ＭＳ Ｐゴシック" charset="0"/>
                  <a:cs typeface="+mn-cs"/>
                </a:rPr>
                <a:t>With S/4H </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122632"/>
                  </a:solidFill>
                  <a:effectLst/>
                  <a:uLnTx/>
                  <a:uFillTx/>
                  <a:latin typeface="Arial" pitchFamily="34" charset="0"/>
                  <a:ea typeface="ＭＳ Ｐゴシック" charset="0"/>
                  <a:cs typeface="+mn-cs"/>
                </a:rPr>
                <a:t>Profitability analysis has been refined to reflect the standard cost component split on the G/L account.</a:t>
              </a:r>
            </a:p>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GB" sz="1799" b="0" i="0" u="none" strike="noStrike" kern="0" cap="none" spc="0" normalizeH="0" baseline="0" noProof="0">
                  <a:ln>
                    <a:noFill/>
                  </a:ln>
                  <a:solidFill>
                    <a:srgbClr val="122632"/>
                  </a:solidFill>
                  <a:effectLst/>
                  <a:uLnTx/>
                  <a:uFillTx/>
                  <a:latin typeface="Arial" pitchFamily="34" charset="0"/>
                  <a:ea typeface="ＭＳ Ｐゴシック" charset="0"/>
                  <a:cs typeface="+mn-cs"/>
                </a:rPr>
                <a:t>Example: Excise</a:t>
              </a:r>
              <a:r>
                <a:rPr kumimoji="0" lang="en-GB" sz="1100" b="0" i="0" u="none" strike="noStrike" kern="0" cap="none" spc="0" normalizeH="0" baseline="0" noProof="0">
                  <a:ln>
                    <a:noFill/>
                  </a:ln>
                  <a:solidFill>
                    <a:srgbClr val="122632"/>
                  </a:solidFill>
                  <a:effectLst/>
                  <a:uLnTx/>
                  <a:uFillTx/>
                  <a:latin typeface="Arial" pitchFamily="34" charset="0"/>
                  <a:ea typeface="ＭＳ Ｐゴシック" charset="0"/>
                  <a:cs typeface="+mn-cs"/>
                </a:rPr>
                <a:t>** </a:t>
              </a:r>
              <a:r>
                <a:rPr kumimoji="0" lang="en-GB" sz="1799" b="0" i="0" u="none" strike="noStrike" kern="0" cap="none" spc="0" normalizeH="0" baseline="0" noProof="0">
                  <a:ln>
                    <a:noFill/>
                  </a:ln>
                  <a:solidFill>
                    <a:srgbClr val="122632"/>
                  </a:solidFill>
                  <a:effectLst/>
                  <a:uLnTx/>
                  <a:uFillTx/>
                  <a:latin typeface="Arial" pitchFamily="34" charset="0"/>
                  <a:ea typeface="ＭＳ Ｐゴシック" charset="0"/>
                  <a:cs typeface="+mn-cs"/>
                </a:rPr>
                <a:t>will be posted to a dedicated account with no need for manual re-classes in all 3 currencies.</a:t>
              </a:r>
            </a:p>
          </p:txBody>
        </p:sp>
        <p:sp>
          <p:nvSpPr>
            <p:cNvPr id="21" name="Rectangle: Rounded Corners 20">
              <a:extLst>
                <a:ext uri="{FF2B5EF4-FFF2-40B4-BE49-F238E27FC236}">
                  <a16:creationId xmlns:a16="http://schemas.microsoft.com/office/drawing/2014/main" id="{52269DBB-15CE-4974-BB1A-66599BACDA3F}"/>
                </a:ext>
              </a:extLst>
            </p:cNvPr>
            <p:cNvSpPr/>
            <p:nvPr/>
          </p:nvSpPr>
          <p:spPr>
            <a:xfrm>
              <a:off x="6229556" y="6275029"/>
              <a:ext cx="2653238" cy="36512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150" marR="0" lvl="0" indent="-571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0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Note: COGS split “standard” during the month and “variances” at month end of the ML process</a:t>
              </a:r>
            </a:p>
          </p:txBody>
        </p:sp>
      </p:grpSp>
      <p:sp>
        <p:nvSpPr>
          <p:cNvPr id="24" name="Text Placeholder 5">
            <a:extLst>
              <a:ext uri="{FF2B5EF4-FFF2-40B4-BE49-F238E27FC236}">
                <a16:creationId xmlns:a16="http://schemas.microsoft.com/office/drawing/2014/main" id="{2E7066BE-17EA-4024-A4D9-3053FA6C0C7A}"/>
              </a:ext>
            </a:extLst>
          </p:cNvPr>
          <p:cNvSpPr>
            <a:spLocks noGrp="1"/>
          </p:cNvSpPr>
          <p:nvPr>
            <p:ph idx="1"/>
          </p:nvPr>
        </p:nvSpPr>
        <p:spPr>
          <a:xfrm>
            <a:off x="538911" y="1381963"/>
            <a:ext cx="10837863" cy="365123"/>
          </a:xfrm>
        </p:spPr>
        <p:txBody>
          <a:bodyPr>
            <a:normAutofit/>
          </a:bodyPr>
          <a:lstStyle/>
          <a:p>
            <a:pPr marL="0" indent="0">
              <a:buNone/>
            </a:pPr>
            <a:r>
              <a:rPr lang="en-US" i="1">
                <a:solidFill>
                  <a:schemeClr val="bg1">
                    <a:lumMod val="75000"/>
                  </a:schemeClr>
                </a:solidFill>
                <a:latin typeface="Georgia" panose="02040502050405020303" pitchFamily="18" charset="0"/>
              </a:rPr>
              <a:t>Cost Components will be visible and provide insight in cost details </a:t>
            </a:r>
          </a:p>
          <a:p>
            <a:endParaRPr lang="en-US" i="1">
              <a:solidFill>
                <a:schemeClr val="bg1">
                  <a:lumMod val="75000"/>
                </a:schemeClr>
              </a:solidFill>
              <a:latin typeface="Georgia" panose="02040502050405020303" pitchFamily="18" charset="0"/>
            </a:endParaRPr>
          </a:p>
        </p:txBody>
      </p:sp>
      <p:pic>
        <p:nvPicPr>
          <p:cNvPr id="23" name="Picture 22">
            <a:extLst>
              <a:ext uri="{FF2B5EF4-FFF2-40B4-BE49-F238E27FC236}">
                <a16:creationId xmlns:a16="http://schemas.microsoft.com/office/drawing/2014/main" id="{1C0F3310-921B-4179-B29D-BE64A2BBCB4D}"/>
              </a:ext>
            </a:extLst>
          </p:cNvPr>
          <p:cNvPicPr>
            <a:picLocks noChangeAspect="1"/>
          </p:cNvPicPr>
          <p:nvPr/>
        </p:nvPicPr>
        <p:blipFill>
          <a:blip r:embed="rId4"/>
          <a:stretch>
            <a:fillRect/>
          </a:stretch>
        </p:blipFill>
        <p:spPr>
          <a:xfrm>
            <a:off x="8619883" y="349317"/>
            <a:ext cx="1147391" cy="961713"/>
          </a:xfrm>
          <a:prstGeom prst="rect">
            <a:avLst/>
          </a:prstGeom>
        </p:spPr>
      </p:pic>
      <p:sp>
        <p:nvSpPr>
          <p:cNvPr id="25" name="Rectangle: Rounded Corners 24">
            <a:extLst>
              <a:ext uri="{FF2B5EF4-FFF2-40B4-BE49-F238E27FC236}">
                <a16:creationId xmlns:a16="http://schemas.microsoft.com/office/drawing/2014/main" id="{002ED160-7699-4295-82E1-3E64E900C758}"/>
              </a:ext>
            </a:extLst>
          </p:cNvPr>
          <p:cNvSpPr/>
          <p:nvPr/>
        </p:nvSpPr>
        <p:spPr>
          <a:xfrm>
            <a:off x="8854359" y="6152609"/>
            <a:ext cx="3136750" cy="34742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 *We refer here to excise that has been included in cost estimates in Material Ledger. Some Markets instead have Excise postings flowing through SD Conditions.  </a:t>
            </a:r>
          </a:p>
        </p:txBody>
      </p:sp>
    </p:spTree>
    <p:extLst>
      <p:ext uri="{BB962C8B-B14F-4D97-AF65-F5344CB8AC3E}">
        <p14:creationId xmlns:p14="http://schemas.microsoft.com/office/powerpoint/2010/main" val="4067066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COGS Splitting </a:t>
            </a:r>
            <a:br>
              <a:rPr lang="en-GB"/>
            </a:br>
            <a:r>
              <a:rPr lang="en-GB"/>
              <a:t>(Cost component group - FI Posting)</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31B5C2F9-F372-417E-A561-C92A8288E935}"/>
              </a:ext>
            </a:extLst>
          </p:cNvPr>
          <p:cNvPicPr>
            <a:picLocks noChangeAspect="1"/>
          </p:cNvPicPr>
          <p:nvPr/>
        </p:nvPicPr>
        <p:blipFill>
          <a:blip r:embed="rId2"/>
          <a:stretch>
            <a:fillRect/>
          </a:stretch>
        </p:blipFill>
        <p:spPr>
          <a:xfrm>
            <a:off x="967779" y="1438937"/>
            <a:ext cx="6630450" cy="4892446"/>
          </a:xfrm>
          <a:prstGeom prst="rect">
            <a:avLst/>
          </a:prstGeom>
        </p:spPr>
      </p:pic>
      <p:pic>
        <p:nvPicPr>
          <p:cNvPr id="7" name="Picture 6">
            <a:extLst>
              <a:ext uri="{FF2B5EF4-FFF2-40B4-BE49-F238E27FC236}">
                <a16:creationId xmlns:a16="http://schemas.microsoft.com/office/drawing/2014/main" id="{0A5C4C1E-C378-4F43-A29D-4D7C927AD8BE}"/>
              </a:ext>
            </a:extLst>
          </p:cNvPr>
          <p:cNvPicPr>
            <a:picLocks noChangeAspect="1"/>
          </p:cNvPicPr>
          <p:nvPr/>
        </p:nvPicPr>
        <p:blipFill>
          <a:blip r:embed="rId3"/>
          <a:stretch>
            <a:fillRect/>
          </a:stretch>
        </p:blipFill>
        <p:spPr>
          <a:xfrm>
            <a:off x="8619883" y="349317"/>
            <a:ext cx="1147391" cy="961713"/>
          </a:xfrm>
          <a:prstGeom prst="rect">
            <a:avLst/>
          </a:prstGeom>
        </p:spPr>
      </p:pic>
      <p:sp>
        <p:nvSpPr>
          <p:cNvPr id="8" name="TextBox 7">
            <a:extLst>
              <a:ext uri="{FF2B5EF4-FFF2-40B4-BE49-F238E27FC236}">
                <a16:creationId xmlns:a16="http://schemas.microsoft.com/office/drawing/2014/main" id="{FFD08481-E087-4D90-9E3A-93738050CDDD}"/>
              </a:ext>
            </a:extLst>
          </p:cNvPr>
          <p:cNvSpPr txBox="1"/>
          <p:nvPr/>
        </p:nvSpPr>
        <p:spPr>
          <a:xfrm>
            <a:off x="7635221" y="2203947"/>
            <a:ext cx="3960739" cy="3898979"/>
          </a:xfrm>
          <a:prstGeom prst="rect">
            <a:avLst/>
          </a:prstGeom>
          <a:solidFill>
            <a:schemeClr val="accent1">
              <a:lumMod val="20000"/>
              <a:lumOff val="80000"/>
            </a:schemeClr>
          </a:solidFill>
        </p:spPr>
        <p:txBody>
          <a:bodyPr wrap="square" lIns="0" tIns="0" rIns="0" bIns="0" rtlCol="0">
            <a:noAutofit/>
          </a:bodyPr>
          <a:lstStyle/>
          <a:p>
            <a:pPr marL="144000" marR="0" lvl="0" indent="-14400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In S/4HANA, Profitability Analysis has been refined to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reflect the standard cost component split on the G/L account</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The main focus is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Finished Goods (FG) sold from market. </a:t>
            </a:r>
          </a:p>
          <a:p>
            <a:pPr marL="144000" marR="0" lvl="0" indent="-14400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Upon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each posting</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of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third party COGS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SAP will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split COGS line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item into </a:t>
            </a:r>
            <a:r>
              <a:rPr kumimoji="0" lang="en-GB" sz="1400" b="1" i="0" u="sng" strike="noStrike" kern="1200" cap="none" spc="0" normalizeH="0" baseline="0" noProof="0" dirty="0">
                <a:ln>
                  <a:noFill/>
                </a:ln>
                <a:solidFill>
                  <a:srgbClr val="74D9D5">
                    <a:lumMod val="50000"/>
                  </a:srgbClr>
                </a:solidFill>
                <a:effectLst/>
                <a:uLnTx/>
                <a:uFillTx/>
                <a:latin typeface="Arial" panose="020B0604020202020204"/>
                <a:ea typeface="+mn-ea"/>
                <a:cs typeface="+mn-cs"/>
              </a:rPr>
              <a:t>several JTIO accounts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based on </a:t>
            </a:r>
            <a:r>
              <a:rPr kumimoji="0" lang="en-GB" sz="1400" b="1" i="0" u="sng" strike="noStrike" kern="1200" cap="none" spc="0" normalizeH="0" baseline="0" noProof="0" dirty="0">
                <a:ln>
                  <a:noFill/>
                </a:ln>
                <a:solidFill>
                  <a:srgbClr val="74D9D5">
                    <a:lumMod val="50000"/>
                  </a:srgbClr>
                </a:solidFill>
                <a:effectLst/>
                <a:uLnTx/>
                <a:uFillTx/>
                <a:latin typeface="Arial" panose="020B0604020202020204"/>
                <a:ea typeface="+mn-ea"/>
                <a:cs typeface="+mn-cs"/>
              </a:rPr>
              <a:t>cost components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The same split will be done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for material ledger variances related to third party COGS</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(consumption) at the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end of the month</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 Posting of both standard and variances split in COGS will be done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only in IFRS ledger</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a:t>
            </a:r>
          </a:p>
          <a:p>
            <a:pPr marL="144000" marR="0" lvl="0" indent="-144000" algn="just"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This requirement is based on request from </a:t>
            </a:r>
            <a:r>
              <a:rPr kumimoji="0" lang="en-GB" sz="1400" b="1" i="0" u="none" strike="noStrike" kern="1200" cap="none" spc="0" normalizeH="0" baseline="0" noProof="0" dirty="0">
                <a:ln>
                  <a:noFill/>
                </a:ln>
                <a:solidFill>
                  <a:srgbClr val="000000"/>
                </a:solidFill>
                <a:effectLst/>
                <a:uLnTx/>
                <a:uFillTx/>
                <a:latin typeface="Arial" panose="020B0604020202020204"/>
                <a:ea typeface="+mn-ea"/>
                <a:cs typeface="+mn-cs"/>
              </a:rPr>
              <a:t>Corporate FP&amp;A </a:t>
            </a: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with the purpose to gain better insight into third party COGS. This has minor impact on product cost processes.</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9" name="Graphic 8" descr="Person with idea">
            <a:extLst>
              <a:ext uri="{FF2B5EF4-FFF2-40B4-BE49-F238E27FC236}">
                <a16:creationId xmlns:a16="http://schemas.microsoft.com/office/drawing/2014/main" id="{96FB71B2-19D4-489D-801F-8960E8BF2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92957" y="1429313"/>
            <a:ext cx="683104" cy="683104"/>
          </a:xfrm>
          <a:prstGeom prst="rect">
            <a:avLst/>
          </a:prstGeom>
        </p:spPr>
      </p:pic>
      <p:sp>
        <p:nvSpPr>
          <p:cNvPr id="11" name="Rectangle: Rounded Corners 10">
            <a:extLst>
              <a:ext uri="{FF2B5EF4-FFF2-40B4-BE49-F238E27FC236}">
                <a16:creationId xmlns:a16="http://schemas.microsoft.com/office/drawing/2014/main" id="{FD7826F5-0267-4499-9593-E0FC790BA054}"/>
              </a:ext>
            </a:extLst>
          </p:cNvPr>
          <p:cNvSpPr/>
          <p:nvPr/>
        </p:nvSpPr>
        <p:spPr>
          <a:xfrm>
            <a:off x="1101435" y="1429313"/>
            <a:ext cx="2158756" cy="500928"/>
          </a:xfrm>
          <a:prstGeom prst="roundRect">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B2A9"/>
                </a:solidFill>
                <a:effectLst/>
                <a:uLnTx/>
                <a:uFillTx/>
                <a:latin typeface="Arial" panose="020B0604020202020204"/>
                <a:ea typeface="+mn-ea"/>
                <a:cs typeface="+mn-cs"/>
              </a:rPr>
              <a:t>Cost Component Structure</a:t>
            </a:r>
            <a:br>
              <a:rPr kumimoji="0" lang="en-GB" sz="1100" b="1" i="0" u="none" strike="noStrike" kern="1200" cap="none" spc="0" normalizeH="0" baseline="0" noProof="0">
                <a:ln>
                  <a:noFill/>
                </a:ln>
                <a:solidFill>
                  <a:srgbClr val="00B2A9"/>
                </a:solidFill>
                <a:effectLst/>
                <a:uLnTx/>
                <a:uFillTx/>
                <a:latin typeface="Arial" panose="020B0604020202020204"/>
                <a:ea typeface="+mn-ea"/>
                <a:cs typeface="+mn-cs"/>
              </a:rPr>
            </a:br>
            <a:r>
              <a:rPr kumimoji="0" lang="en-GB" sz="1100" b="1" i="0" u="none" strike="noStrike" kern="1200" cap="none" spc="0" normalizeH="0" baseline="0" noProof="0">
                <a:ln>
                  <a:noFill/>
                </a:ln>
                <a:solidFill>
                  <a:srgbClr val="00B2A9"/>
                </a:solidFill>
                <a:effectLst/>
                <a:uLnTx/>
                <a:uFillTx/>
                <a:latin typeface="Arial" panose="020B0604020202020204"/>
                <a:ea typeface="+mn-ea"/>
                <a:cs typeface="+mn-cs"/>
              </a:rPr>
              <a:t>(Material Ledger)</a:t>
            </a:r>
          </a:p>
        </p:txBody>
      </p:sp>
      <p:sp>
        <p:nvSpPr>
          <p:cNvPr id="12" name="Rectangle: Rounded Corners 11">
            <a:extLst>
              <a:ext uri="{FF2B5EF4-FFF2-40B4-BE49-F238E27FC236}">
                <a16:creationId xmlns:a16="http://schemas.microsoft.com/office/drawing/2014/main" id="{6EA0CB3F-F9A4-488E-81BB-6542FA448854}"/>
              </a:ext>
            </a:extLst>
          </p:cNvPr>
          <p:cNvSpPr/>
          <p:nvPr/>
        </p:nvSpPr>
        <p:spPr>
          <a:xfrm>
            <a:off x="5296099" y="1429313"/>
            <a:ext cx="2048930" cy="500400"/>
          </a:xfrm>
          <a:prstGeom prst="roundRect">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B2A9"/>
                </a:solidFill>
                <a:effectLst/>
                <a:uLnTx/>
                <a:uFillTx/>
                <a:latin typeface="Arial" panose="020B0604020202020204"/>
                <a:ea typeface="+mn-ea"/>
                <a:cs typeface="+mn-cs"/>
              </a:rPr>
              <a:t>COGS split Market P&amp;L </a:t>
            </a:r>
            <a:br>
              <a:rPr kumimoji="0" lang="en-GB" sz="1100" b="1" i="0" u="none" strike="noStrike" kern="1200" cap="none" spc="0" normalizeH="0" baseline="0" noProof="0">
                <a:ln>
                  <a:noFill/>
                </a:ln>
                <a:solidFill>
                  <a:srgbClr val="00B2A9"/>
                </a:solidFill>
                <a:effectLst/>
                <a:uLnTx/>
                <a:uFillTx/>
                <a:latin typeface="Arial" panose="020B0604020202020204"/>
                <a:ea typeface="+mn-ea"/>
                <a:cs typeface="+mn-cs"/>
              </a:rPr>
            </a:br>
            <a:r>
              <a:rPr kumimoji="0" lang="en-GB" sz="1100" b="1" i="0" u="none" strike="noStrike" kern="1200" cap="none" spc="0" normalizeH="0" baseline="0" noProof="0">
                <a:ln>
                  <a:noFill/>
                </a:ln>
                <a:solidFill>
                  <a:srgbClr val="00B2A9"/>
                </a:solidFill>
                <a:effectLst/>
                <a:uLnTx/>
                <a:uFillTx/>
                <a:latin typeface="Arial" panose="020B0604020202020204"/>
                <a:ea typeface="+mn-ea"/>
                <a:cs typeface="+mn-cs"/>
              </a:rPr>
              <a:t>G/L accounts</a:t>
            </a:r>
          </a:p>
        </p:txBody>
      </p:sp>
    </p:spTree>
    <p:extLst>
      <p:ext uri="{BB962C8B-B14F-4D97-AF65-F5344CB8AC3E}">
        <p14:creationId xmlns:p14="http://schemas.microsoft.com/office/powerpoint/2010/main" val="522399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a:xfrm>
            <a:off x="1511276" y="210344"/>
            <a:ext cx="10419640" cy="984247"/>
          </a:xfrm>
        </p:spPr>
        <p:txBody>
          <a:bodyPr/>
          <a:lstStyle/>
          <a:p>
            <a:r>
              <a:rPr lang="en-GB"/>
              <a:t>COGS Splitting Flow</a:t>
            </a:r>
            <a:br>
              <a:rPr lang="en-GB"/>
            </a:br>
            <a:r>
              <a:rPr lang="en-US"/>
              <a:t>Standard vs Actual Variances</a:t>
            </a:r>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A8149CF8-B16A-4A85-9604-DA72471989C3}"/>
              </a:ext>
            </a:extLst>
          </p:cNvPr>
          <p:cNvSpPr/>
          <p:nvPr/>
        </p:nvSpPr>
        <p:spPr>
          <a:xfrm>
            <a:off x="5214088" y="1540374"/>
            <a:ext cx="2857949" cy="1109869"/>
          </a:xfrm>
          <a:prstGeom prst="rect">
            <a:avLst/>
          </a:prstGeom>
          <a:solidFill>
            <a:srgbClr val="74D9D5"/>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panose="020B0604020202020204"/>
                <a:ea typeface="+mn-ea"/>
                <a:cs typeface="+mn-cs"/>
              </a:rPr>
              <a:t>Goods Issue</a:t>
            </a:r>
            <a:br>
              <a:rPr kumimoji="0" lang="en-US" sz="2000" b="1" i="0" u="none" strike="noStrike" kern="1200" cap="none" spc="0" normalizeH="0" baseline="0" noProof="0">
                <a:ln>
                  <a:noFill/>
                </a:ln>
                <a:solidFill>
                  <a:srgbClr val="FFFFFF"/>
                </a:solidFill>
                <a:effectLst/>
                <a:uLnTx/>
                <a:uFillTx/>
                <a:latin typeface="Arial" panose="020B0604020202020204"/>
                <a:ea typeface="+mn-ea"/>
                <a:cs typeface="+mn-cs"/>
              </a:rPr>
            </a:br>
            <a:r>
              <a:rPr kumimoji="0" lang="en-US" sz="2000" b="1" i="0" u="none" strike="noStrike" kern="1200" cap="none" spc="0" normalizeH="0" baseline="0" noProof="0">
                <a:ln>
                  <a:noFill/>
                </a:ln>
                <a:solidFill>
                  <a:srgbClr val="FFFFFF"/>
                </a:solidFill>
                <a:effectLst/>
                <a:uLnTx/>
                <a:uFillTx/>
                <a:latin typeface="Arial" panose="020B0604020202020204"/>
                <a:ea typeface="+mn-ea"/>
                <a:cs typeface="+mn-cs"/>
              </a:rPr>
              <a:t>(triggered through SD) </a:t>
            </a:r>
          </a:p>
        </p:txBody>
      </p:sp>
      <p:sp>
        <p:nvSpPr>
          <p:cNvPr id="9" name="Rectangle 8">
            <a:extLst>
              <a:ext uri="{FF2B5EF4-FFF2-40B4-BE49-F238E27FC236}">
                <a16:creationId xmlns:a16="http://schemas.microsoft.com/office/drawing/2014/main" id="{E2E2C2F9-0B1F-46CC-8246-8120314B1FD0}"/>
              </a:ext>
            </a:extLst>
          </p:cNvPr>
          <p:cNvSpPr/>
          <p:nvPr/>
        </p:nvSpPr>
        <p:spPr>
          <a:xfrm>
            <a:off x="5214088" y="3819823"/>
            <a:ext cx="2873821" cy="848994"/>
          </a:xfrm>
          <a:prstGeom prst="rect">
            <a:avLst/>
          </a:prstGeom>
          <a:solidFill>
            <a:srgbClr val="74D9D5"/>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panose="020B0604020202020204"/>
                <a:ea typeface="+mn-ea"/>
                <a:cs typeface="+mn-cs"/>
              </a:rPr>
              <a:t>Cost Component Posting to GL account*</a:t>
            </a:r>
          </a:p>
        </p:txBody>
      </p:sp>
      <p:sp>
        <p:nvSpPr>
          <p:cNvPr id="10" name="Rectangle 9">
            <a:extLst>
              <a:ext uri="{FF2B5EF4-FFF2-40B4-BE49-F238E27FC236}">
                <a16:creationId xmlns:a16="http://schemas.microsoft.com/office/drawing/2014/main" id="{05A70485-3EFD-43AA-9F17-097434EED38D}"/>
              </a:ext>
            </a:extLst>
          </p:cNvPr>
          <p:cNvSpPr/>
          <p:nvPr/>
        </p:nvSpPr>
        <p:spPr>
          <a:xfrm>
            <a:off x="8316231" y="1540374"/>
            <a:ext cx="3212835" cy="1160763"/>
          </a:xfrm>
          <a:prstGeom prst="rect">
            <a:avLst/>
          </a:prstGeom>
          <a:solidFill>
            <a:schemeClr val="bg1">
              <a:lumMod val="95000"/>
            </a:schemeClr>
          </a:solidFill>
          <a:ln>
            <a:solidFill>
              <a:schemeClr val="bg1">
                <a:lumMod val="95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DR 414010 Cogs 3rd Party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(DR 414015 Cogs B2B)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CR 172611 Invent. FG</a:t>
            </a:r>
          </a:p>
        </p:txBody>
      </p:sp>
      <p:sp>
        <p:nvSpPr>
          <p:cNvPr id="11" name="Rectangle 10">
            <a:extLst>
              <a:ext uri="{FF2B5EF4-FFF2-40B4-BE49-F238E27FC236}">
                <a16:creationId xmlns:a16="http://schemas.microsoft.com/office/drawing/2014/main" id="{54BBF7BF-993C-4A42-9B23-CCAED0ECDB41}"/>
              </a:ext>
            </a:extLst>
          </p:cNvPr>
          <p:cNvSpPr/>
          <p:nvPr/>
        </p:nvSpPr>
        <p:spPr>
          <a:xfrm>
            <a:off x="8338871" y="3301388"/>
            <a:ext cx="3190196" cy="1476352"/>
          </a:xfrm>
          <a:prstGeom prst="rect">
            <a:avLst/>
          </a:prstGeom>
          <a:solidFill>
            <a:schemeClr val="bg1"/>
          </a:solidFill>
          <a:ln>
            <a:solidFill>
              <a:schemeClr val="bg1">
                <a:lumMod val="95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DR XXXXXX Leaf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DR XXXXXX NTM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DR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CR 414010 Cogs 3rd Party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lumMod val="65000"/>
                  </a:srgbClr>
                </a:solidFill>
                <a:effectLst/>
                <a:uLnTx/>
                <a:uFillTx/>
                <a:latin typeface="Arial" panose="020B0604020202020204"/>
                <a:ea typeface="+mn-ea"/>
                <a:cs typeface="+mn-cs"/>
              </a:rPr>
              <a:t>(CR 414015 Cogs B2B)**</a:t>
            </a:r>
          </a:p>
        </p:txBody>
      </p:sp>
      <p:sp>
        <p:nvSpPr>
          <p:cNvPr id="12" name="Rectangle: Rounded Corners 11">
            <a:extLst>
              <a:ext uri="{FF2B5EF4-FFF2-40B4-BE49-F238E27FC236}">
                <a16:creationId xmlns:a16="http://schemas.microsoft.com/office/drawing/2014/main" id="{CB9A9EB7-20C9-4417-912B-13869EBF872F}"/>
              </a:ext>
            </a:extLst>
          </p:cNvPr>
          <p:cNvSpPr/>
          <p:nvPr/>
        </p:nvSpPr>
        <p:spPr>
          <a:xfrm>
            <a:off x="6438092" y="3088878"/>
            <a:ext cx="637953" cy="41467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3" name="Arrow: Curved Right 12">
            <a:extLst>
              <a:ext uri="{FF2B5EF4-FFF2-40B4-BE49-F238E27FC236}">
                <a16:creationId xmlns:a16="http://schemas.microsoft.com/office/drawing/2014/main" id="{DE6275ED-9A2E-4F1A-A8F1-798181D61458}"/>
              </a:ext>
            </a:extLst>
          </p:cNvPr>
          <p:cNvSpPr/>
          <p:nvPr/>
        </p:nvSpPr>
        <p:spPr>
          <a:xfrm>
            <a:off x="5997018" y="2718252"/>
            <a:ext cx="637953" cy="1114884"/>
          </a:xfrm>
          <a:prstGeom prst="curv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30C08EA5-0FF6-48B2-BB6A-B3F5FB5C06A7}"/>
              </a:ext>
            </a:extLst>
          </p:cNvPr>
          <p:cNvSpPr/>
          <p:nvPr/>
        </p:nvSpPr>
        <p:spPr>
          <a:xfrm>
            <a:off x="7033984" y="2866660"/>
            <a:ext cx="1041108" cy="772449"/>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a:ln>
                  <a:noFill/>
                </a:ln>
                <a:solidFill>
                  <a:srgbClr val="FFFFFF"/>
                </a:solidFill>
                <a:effectLst/>
                <a:uLnTx/>
                <a:uFillTx/>
                <a:latin typeface="Arial" panose="020B0604020202020204"/>
                <a:ea typeface="+mn-ea"/>
                <a:cs typeface="+mn-cs"/>
              </a:rPr>
              <a:t>DAILY </a:t>
            </a: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JOB</a:t>
            </a:r>
          </a:p>
        </p:txBody>
      </p:sp>
      <p:pic>
        <p:nvPicPr>
          <p:cNvPr id="15" name="Graphic 14" descr="Warning">
            <a:extLst>
              <a:ext uri="{FF2B5EF4-FFF2-40B4-BE49-F238E27FC236}">
                <a16:creationId xmlns:a16="http://schemas.microsoft.com/office/drawing/2014/main" id="{9837FAB9-915F-4150-90C8-C375329D06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48869" y="2689496"/>
            <a:ext cx="456646" cy="456646"/>
          </a:xfrm>
          <a:prstGeom prst="rect">
            <a:avLst/>
          </a:prstGeom>
        </p:spPr>
      </p:pic>
      <p:sp>
        <p:nvSpPr>
          <p:cNvPr id="16" name="Rectangle 15">
            <a:extLst>
              <a:ext uri="{FF2B5EF4-FFF2-40B4-BE49-F238E27FC236}">
                <a16:creationId xmlns:a16="http://schemas.microsoft.com/office/drawing/2014/main" id="{1718D41F-DFC7-43B1-875D-A0651372B1AD}"/>
              </a:ext>
            </a:extLst>
          </p:cNvPr>
          <p:cNvSpPr/>
          <p:nvPr/>
        </p:nvSpPr>
        <p:spPr>
          <a:xfrm>
            <a:off x="2340283" y="1540374"/>
            <a:ext cx="2629610" cy="1109869"/>
          </a:xfrm>
          <a:prstGeom prst="rect">
            <a:avLst/>
          </a:prstGeom>
          <a:solidFill>
            <a:srgbClr val="74D9D5"/>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panose="020B0604020202020204"/>
                <a:ea typeface="+mn-ea"/>
                <a:cs typeface="+mn-cs"/>
              </a:rPr>
              <a:t>Cost Estimates with Cost Component Split</a:t>
            </a:r>
          </a:p>
        </p:txBody>
      </p:sp>
      <p:sp>
        <p:nvSpPr>
          <p:cNvPr id="17" name="Rectangle: Rounded Corners 16">
            <a:extLst>
              <a:ext uri="{FF2B5EF4-FFF2-40B4-BE49-F238E27FC236}">
                <a16:creationId xmlns:a16="http://schemas.microsoft.com/office/drawing/2014/main" id="{A6CFA8ED-892F-487B-BBD4-C6AEEA50D241}"/>
              </a:ext>
            </a:extLst>
          </p:cNvPr>
          <p:cNvSpPr/>
          <p:nvPr/>
        </p:nvSpPr>
        <p:spPr>
          <a:xfrm>
            <a:off x="10618774" y="2930795"/>
            <a:ext cx="1174071" cy="719046"/>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Document type YG</a:t>
            </a:r>
          </a:p>
        </p:txBody>
      </p:sp>
      <p:sp>
        <p:nvSpPr>
          <p:cNvPr id="18" name="Rectangle: Rounded Corners 17">
            <a:extLst>
              <a:ext uri="{FF2B5EF4-FFF2-40B4-BE49-F238E27FC236}">
                <a16:creationId xmlns:a16="http://schemas.microsoft.com/office/drawing/2014/main" id="{733D287A-F7C9-4EBF-B5D5-CC4439B45246}"/>
              </a:ext>
            </a:extLst>
          </p:cNvPr>
          <p:cNvSpPr/>
          <p:nvPr/>
        </p:nvSpPr>
        <p:spPr>
          <a:xfrm>
            <a:off x="2340283" y="5280079"/>
            <a:ext cx="2824058" cy="719046"/>
          </a:xfrm>
          <a:prstGeom prst="roundRect">
            <a:avLst>
              <a:gd name="adj" fmla="val 0"/>
            </a:avLst>
          </a:prstGeom>
          <a:solidFill>
            <a:schemeClr val="accent6">
              <a:lumMod val="20000"/>
              <a:lumOff val="80000"/>
            </a:schemeClr>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Single Material Ledger CLOSE (check schedule)</a:t>
            </a:r>
          </a:p>
        </p:txBody>
      </p:sp>
      <p:sp>
        <p:nvSpPr>
          <p:cNvPr id="19" name="Rectangle: Rounded Corners 18">
            <a:extLst>
              <a:ext uri="{FF2B5EF4-FFF2-40B4-BE49-F238E27FC236}">
                <a16:creationId xmlns:a16="http://schemas.microsoft.com/office/drawing/2014/main" id="{7F96A6E2-A762-43A2-8AED-BA133FE5B16E}"/>
              </a:ext>
            </a:extLst>
          </p:cNvPr>
          <p:cNvSpPr/>
          <p:nvPr/>
        </p:nvSpPr>
        <p:spPr>
          <a:xfrm>
            <a:off x="5227423" y="5279303"/>
            <a:ext cx="6703493" cy="719046"/>
          </a:xfrm>
          <a:prstGeom prst="roundRect">
            <a:avLst>
              <a:gd name="adj" fmla="val 0"/>
            </a:avLst>
          </a:prstGeom>
          <a:solidFill>
            <a:schemeClr val="accent6">
              <a:lumMod val="20000"/>
              <a:lumOff val="80000"/>
            </a:schemeClr>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VARIANCES BOOKED ON SAME ACCOUNTS (MARKET VARIANCES = EXCISE, IMPORT DUTIES, FREIGHT)*</a:t>
            </a:r>
          </a:p>
        </p:txBody>
      </p:sp>
      <p:sp>
        <p:nvSpPr>
          <p:cNvPr id="20" name="Rectangle: Rounded Corners 19">
            <a:extLst>
              <a:ext uri="{FF2B5EF4-FFF2-40B4-BE49-F238E27FC236}">
                <a16:creationId xmlns:a16="http://schemas.microsoft.com/office/drawing/2014/main" id="{723A1D55-93A7-4A98-BDBC-8AF543139878}"/>
              </a:ext>
            </a:extLst>
          </p:cNvPr>
          <p:cNvSpPr/>
          <p:nvPr/>
        </p:nvSpPr>
        <p:spPr>
          <a:xfrm>
            <a:off x="324166" y="1450003"/>
            <a:ext cx="11727618" cy="3430607"/>
          </a:xfrm>
          <a:prstGeom prst="roundRect">
            <a:avLst>
              <a:gd name="adj" fmla="val 3182"/>
            </a:avLst>
          </a:prstGeom>
          <a:noFill/>
          <a:ln w="28575">
            <a:solidFill>
              <a:srgbClr val="09B5C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7CE08D32-23BB-46F4-B80B-F081F91BD769}"/>
              </a:ext>
            </a:extLst>
          </p:cNvPr>
          <p:cNvSpPr/>
          <p:nvPr/>
        </p:nvSpPr>
        <p:spPr>
          <a:xfrm>
            <a:off x="324166" y="5054052"/>
            <a:ext cx="11727618" cy="1031545"/>
          </a:xfrm>
          <a:prstGeom prst="roundRect">
            <a:avLst>
              <a:gd name="adj" fmla="val 3182"/>
            </a:avLst>
          </a:prstGeom>
          <a:noFill/>
          <a:ln w="28575">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54F7732A-C903-4DDE-9D8B-0F415613E29D}"/>
              </a:ext>
            </a:extLst>
          </p:cNvPr>
          <p:cNvSpPr txBox="1"/>
          <p:nvPr/>
        </p:nvSpPr>
        <p:spPr>
          <a:xfrm>
            <a:off x="404176" y="1540374"/>
            <a:ext cx="1716344" cy="2031325"/>
          </a:xfrm>
          <a:prstGeom prst="rect">
            <a:avLst/>
          </a:prstGeom>
          <a:solidFill>
            <a:srgbClr val="D6F1E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panose="020B0604020202020204"/>
                <a:ea typeface="+mn-ea"/>
                <a:cs typeface="+mn-cs"/>
              </a:rPr>
              <a:t>STANDARD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panose="020B0604020202020204"/>
                <a:ea typeface="+mn-ea"/>
                <a:cs typeface="+mn-cs"/>
              </a:rPr>
              <a:t>COGS SPLITTING available during the month after each daily job</a:t>
            </a:r>
          </a:p>
        </p:txBody>
      </p:sp>
      <p:sp>
        <p:nvSpPr>
          <p:cNvPr id="23" name="TextBox 22">
            <a:extLst>
              <a:ext uri="{FF2B5EF4-FFF2-40B4-BE49-F238E27FC236}">
                <a16:creationId xmlns:a16="http://schemas.microsoft.com/office/drawing/2014/main" id="{A54B52E6-C2B6-4836-B121-83EB49CA3FA4}"/>
              </a:ext>
            </a:extLst>
          </p:cNvPr>
          <p:cNvSpPr txBox="1"/>
          <p:nvPr/>
        </p:nvSpPr>
        <p:spPr>
          <a:xfrm>
            <a:off x="449497" y="5293060"/>
            <a:ext cx="1704313" cy="646331"/>
          </a:xfrm>
          <a:prstGeom prst="rect">
            <a:avLst/>
          </a:prstGeom>
          <a:solidFill>
            <a:schemeClr val="accent6">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panose="020B0604020202020204"/>
                <a:ea typeface="+mn-ea"/>
                <a:cs typeface="+mn-cs"/>
              </a:rPr>
              <a:t>VARIANCES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panose="020B0604020202020204"/>
                <a:ea typeface="+mn-ea"/>
                <a:cs typeface="+mn-cs"/>
              </a:rPr>
              <a:t>@ Month end </a:t>
            </a:r>
          </a:p>
        </p:txBody>
      </p:sp>
      <p:sp>
        <p:nvSpPr>
          <p:cNvPr id="24" name="Rectangle: Rounded Corners 23">
            <a:extLst>
              <a:ext uri="{FF2B5EF4-FFF2-40B4-BE49-F238E27FC236}">
                <a16:creationId xmlns:a16="http://schemas.microsoft.com/office/drawing/2014/main" id="{188CD8F9-B6BF-48C9-BBE0-666B633BB8F8}"/>
              </a:ext>
            </a:extLst>
          </p:cNvPr>
          <p:cNvSpPr/>
          <p:nvPr/>
        </p:nvSpPr>
        <p:spPr>
          <a:xfrm>
            <a:off x="261084" y="5939391"/>
            <a:ext cx="11841731" cy="76465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FFFFFF">
                    <a:lumMod val="50000"/>
                  </a:srgbClr>
                </a:solidFill>
                <a:effectLst/>
                <a:uLnTx/>
                <a:uFillTx/>
                <a:latin typeface="Arial" panose="020B0604020202020204"/>
                <a:ea typeface="+mn-ea"/>
                <a:cs typeface="+mn-cs"/>
              </a:rPr>
              <a:t>* COGS split logic standard and variances should reflect current set-up. Promo costs have been defined during Fit Gap. On Freight their can be exceptions to the general rule of allocating variances to Market and will reflect current flow in ECC. ** - See next slide for B2B process flow which has dedicated JTIO.</a:t>
            </a:r>
          </a:p>
        </p:txBody>
      </p:sp>
      <p:pic>
        <p:nvPicPr>
          <p:cNvPr id="25" name="Graphic 24" descr="Warning">
            <a:extLst>
              <a:ext uri="{FF2B5EF4-FFF2-40B4-BE49-F238E27FC236}">
                <a16:creationId xmlns:a16="http://schemas.microsoft.com/office/drawing/2014/main" id="{3323BED2-8F87-433A-A07D-2CA8B75822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81285" y="5040076"/>
            <a:ext cx="456646" cy="456646"/>
          </a:xfrm>
          <a:prstGeom prst="rect">
            <a:avLst/>
          </a:prstGeom>
        </p:spPr>
      </p:pic>
      <p:pic>
        <p:nvPicPr>
          <p:cNvPr id="26" name="Picture 25">
            <a:extLst>
              <a:ext uri="{FF2B5EF4-FFF2-40B4-BE49-F238E27FC236}">
                <a16:creationId xmlns:a16="http://schemas.microsoft.com/office/drawing/2014/main" id="{AFFB325C-BDF6-4145-9F6F-F6D50A30570D}"/>
              </a:ext>
            </a:extLst>
          </p:cNvPr>
          <p:cNvPicPr>
            <a:picLocks noChangeAspect="1"/>
          </p:cNvPicPr>
          <p:nvPr/>
        </p:nvPicPr>
        <p:blipFill>
          <a:blip r:embed="rId5"/>
          <a:stretch>
            <a:fillRect/>
          </a:stretch>
        </p:blipFill>
        <p:spPr>
          <a:xfrm>
            <a:off x="8619883" y="362380"/>
            <a:ext cx="1147391" cy="961713"/>
          </a:xfrm>
          <a:prstGeom prst="rect">
            <a:avLst/>
          </a:prstGeom>
        </p:spPr>
      </p:pic>
    </p:spTree>
    <p:extLst>
      <p:ext uri="{BB962C8B-B14F-4D97-AF65-F5344CB8AC3E}">
        <p14:creationId xmlns:p14="http://schemas.microsoft.com/office/powerpoint/2010/main" val="152968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a:xfrm>
            <a:off x="1511276" y="210344"/>
            <a:ext cx="10419640" cy="984247"/>
          </a:xfrm>
        </p:spPr>
        <p:txBody>
          <a:bodyPr/>
          <a:lstStyle/>
          <a:p>
            <a:r>
              <a:rPr lang="en-GB"/>
              <a:t>COGS Splitting Flow - </a:t>
            </a:r>
            <a:r>
              <a:rPr lang="en-US"/>
              <a:t>Actual Variances reference</a:t>
            </a:r>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75106" name="Picture 5" descr="image002">
            <a:extLst>
              <a:ext uri="{FF2B5EF4-FFF2-40B4-BE49-F238E27FC236}">
                <a16:creationId xmlns:a16="http://schemas.microsoft.com/office/drawing/2014/main" id="{FA9643E6-25AE-417C-B387-FCBD1AA8AB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4909" y="1754550"/>
            <a:ext cx="5173027" cy="454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Rounded Corners 25">
            <a:extLst>
              <a:ext uri="{FF2B5EF4-FFF2-40B4-BE49-F238E27FC236}">
                <a16:creationId xmlns:a16="http://schemas.microsoft.com/office/drawing/2014/main" id="{3BE956D2-A86C-4767-A98D-292F7C6CCEDD}"/>
              </a:ext>
            </a:extLst>
          </p:cNvPr>
          <p:cNvSpPr/>
          <p:nvPr/>
        </p:nvSpPr>
        <p:spPr>
          <a:xfrm>
            <a:off x="557952" y="2073907"/>
            <a:ext cx="3042500" cy="3161033"/>
          </a:xfrm>
          <a:prstGeom prst="roundRect">
            <a:avLst>
              <a:gd name="adj" fmla="val 0"/>
            </a:avLst>
          </a:prstGeom>
          <a:solidFill>
            <a:schemeClr val="accent6">
              <a:lumMod val="20000"/>
              <a:lumOff val="80000"/>
            </a:schemeClr>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If you want to see if the </a:t>
            </a:r>
            <a:r>
              <a:rPr kumimoji="0" lang="en-GB"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YG </a:t>
            </a: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(COGS splitting document type) </a:t>
            </a:r>
            <a:r>
              <a:rPr kumimoji="0" lang="en-GB"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refers to the ML Closing of Actuals, </a:t>
            </a: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you can find in the Document Header </a:t>
            </a:r>
            <a:r>
              <a:rPr kumimoji="0" lang="en-GB"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“Reference transaction” </a:t>
            </a: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field the value of “</a:t>
            </a:r>
            <a:r>
              <a:rPr kumimoji="0" lang="en-GB"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MLHD”. This means this posting was included in the ML Closing run.</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Rectangle: Rounded Corners 6">
            <a:extLst>
              <a:ext uri="{FF2B5EF4-FFF2-40B4-BE49-F238E27FC236}">
                <a16:creationId xmlns:a16="http://schemas.microsoft.com/office/drawing/2014/main" id="{FC50E9C7-6715-4329-9E88-1B830A219061}"/>
              </a:ext>
            </a:extLst>
          </p:cNvPr>
          <p:cNvSpPr/>
          <p:nvPr/>
        </p:nvSpPr>
        <p:spPr>
          <a:xfrm>
            <a:off x="4171950" y="2205990"/>
            <a:ext cx="1924050" cy="33147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Speech Bubble: Rectangle 27">
            <a:extLst>
              <a:ext uri="{FF2B5EF4-FFF2-40B4-BE49-F238E27FC236}">
                <a16:creationId xmlns:a16="http://schemas.microsoft.com/office/drawing/2014/main" id="{310235FC-FE66-4051-A2D2-32A2FB83CEA5}"/>
              </a:ext>
            </a:extLst>
          </p:cNvPr>
          <p:cNvSpPr/>
          <p:nvPr/>
        </p:nvSpPr>
        <p:spPr>
          <a:xfrm>
            <a:off x="8224836" y="1509315"/>
            <a:ext cx="2382204" cy="845265"/>
          </a:xfrm>
          <a:prstGeom prst="wedgeRectCallout">
            <a:avLst>
              <a:gd name="adj1" fmla="val -175028"/>
              <a:gd name="adj2" fmla="val 5438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000000"/>
                </a:solidFill>
                <a:effectLst/>
                <a:uLnTx/>
                <a:uFillTx/>
                <a:latin typeface="Arial" panose="020B0604020202020204"/>
                <a:ea typeface="+mn-ea"/>
                <a:cs typeface="+mn-cs"/>
              </a:rPr>
              <a:t>Document Type for standard &amp; Actuals = YG</a:t>
            </a: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 name="Speech Bubble: Rectangle 29">
            <a:extLst>
              <a:ext uri="{FF2B5EF4-FFF2-40B4-BE49-F238E27FC236}">
                <a16:creationId xmlns:a16="http://schemas.microsoft.com/office/drawing/2014/main" id="{D005A4F4-35F1-4841-A6F9-DCF8AB6D8927}"/>
              </a:ext>
            </a:extLst>
          </p:cNvPr>
          <p:cNvSpPr/>
          <p:nvPr/>
        </p:nvSpPr>
        <p:spPr>
          <a:xfrm>
            <a:off x="8896596" y="2669304"/>
            <a:ext cx="2382204" cy="845265"/>
          </a:xfrm>
          <a:prstGeom prst="wedgeRectCallout">
            <a:avLst>
              <a:gd name="adj1" fmla="val -175028"/>
              <a:gd name="adj2" fmla="val 5438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000000"/>
                </a:solidFill>
                <a:effectLst/>
                <a:uLnTx/>
                <a:uFillTx/>
                <a:latin typeface="Arial" panose="020B0604020202020204"/>
                <a:ea typeface="+mn-ea"/>
                <a:cs typeface="+mn-cs"/>
              </a:rPr>
              <a:t>Ref. Transaction for ML closing Actuals = </a:t>
            </a:r>
            <a:r>
              <a:rPr kumimoji="0" lang="de-CH" sz="1800" b="1" i="0" u="none" strike="noStrike" kern="1200" cap="none" spc="0" normalizeH="0" baseline="0" noProof="0">
                <a:ln>
                  <a:noFill/>
                </a:ln>
                <a:solidFill>
                  <a:srgbClr val="000000"/>
                </a:solidFill>
                <a:effectLst/>
                <a:uLnTx/>
                <a:uFillTx/>
                <a:latin typeface="Arial" panose="020B0604020202020204"/>
                <a:ea typeface="+mn-ea"/>
                <a:cs typeface="+mn-cs"/>
              </a:rPr>
              <a:t>MLHD</a:t>
            </a:r>
            <a:endParaRPr kumimoji="0" lang="en-US"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Rectangle: Rounded Corners 30">
            <a:extLst>
              <a:ext uri="{FF2B5EF4-FFF2-40B4-BE49-F238E27FC236}">
                <a16:creationId xmlns:a16="http://schemas.microsoft.com/office/drawing/2014/main" id="{087C897B-4160-4C44-B239-9FC6FBCDC5A9}"/>
              </a:ext>
            </a:extLst>
          </p:cNvPr>
          <p:cNvSpPr/>
          <p:nvPr/>
        </p:nvSpPr>
        <p:spPr>
          <a:xfrm>
            <a:off x="4380688" y="3429000"/>
            <a:ext cx="2214422" cy="24003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4710A086-0616-4409-BD47-F8B7AC5D3AB0}"/>
              </a:ext>
            </a:extLst>
          </p:cNvPr>
          <p:cNvSpPr txBox="1"/>
          <p:nvPr/>
        </p:nvSpPr>
        <p:spPr>
          <a:xfrm>
            <a:off x="557951" y="1534083"/>
            <a:ext cx="3042500" cy="539824"/>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just">
              <a:defRPr b="1">
                <a:ea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anose="020B0604020202020204"/>
                <a:cs typeface="+mn-cs"/>
              </a:rPr>
              <a:t>VARIANCES @ Month end </a:t>
            </a:r>
          </a:p>
        </p:txBody>
      </p:sp>
      <p:sp>
        <p:nvSpPr>
          <p:cNvPr id="12" name="Rectangle: Rounded Corners 11">
            <a:extLst>
              <a:ext uri="{FF2B5EF4-FFF2-40B4-BE49-F238E27FC236}">
                <a16:creationId xmlns:a16="http://schemas.microsoft.com/office/drawing/2014/main" id="{F8073BF3-8BAC-48D6-9984-3E097D2ADA9F}"/>
              </a:ext>
            </a:extLst>
          </p:cNvPr>
          <p:cNvSpPr/>
          <p:nvPr/>
        </p:nvSpPr>
        <p:spPr>
          <a:xfrm>
            <a:off x="4004908" y="1494104"/>
            <a:ext cx="1477928" cy="26044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FAGLL03H</a:t>
            </a:r>
          </a:p>
        </p:txBody>
      </p:sp>
    </p:spTree>
    <p:extLst>
      <p:ext uri="{BB962C8B-B14F-4D97-AF65-F5344CB8AC3E}">
        <p14:creationId xmlns:p14="http://schemas.microsoft.com/office/powerpoint/2010/main" val="308272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a:xfrm>
            <a:off x="1511276" y="210344"/>
            <a:ext cx="10419640" cy="984247"/>
          </a:xfrm>
        </p:spPr>
        <p:txBody>
          <a:bodyPr/>
          <a:lstStyle/>
          <a:p>
            <a:r>
              <a:rPr lang="en-GB"/>
              <a:t>COGS Splitting Flow – Standard vs </a:t>
            </a:r>
            <a:r>
              <a:rPr lang="en-US"/>
              <a:t>Actual Variances </a:t>
            </a:r>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3BE956D2-A86C-4767-A98D-292F7C6CCEDD}"/>
              </a:ext>
            </a:extLst>
          </p:cNvPr>
          <p:cNvSpPr/>
          <p:nvPr/>
        </p:nvSpPr>
        <p:spPr>
          <a:xfrm>
            <a:off x="557952" y="2073907"/>
            <a:ext cx="3042500" cy="3606803"/>
          </a:xfrm>
          <a:prstGeom prst="roundRect">
            <a:avLst>
              <a:gd name="adj" fmla="val 0"/>
            </a:avLst>
          </a:prstGeom>
          <a:solidFill>
            <a:schemeClr val="accent6">
              <a:lumMod val="20000"/>
              <a:lumOff val="80000"/>
            </a:schemeClr>
          </a:solidFill>
          <a:ln>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If you want to distinguish in the COGS splitting postings (</a:t>
            </a:r>
            <a:r>
              <a:rPr kumimoji="0" lang="en-GB"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YG document type</a:t>
            </a: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a:t>
            </a:r>
            <a:r>
              <a:rPr kumimoji="0" lang="en-GB"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standard postings from the ML Closing of Actuals, </a:t>
            </a:r>
            <a:r>
              <a:rPr kumimoji="0" lang="en-GB"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you use the Business Transaction Type dimension: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CH"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RMWL for standard</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CH" sz="1800" b="1"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RFBU for variances</a:t>
            </a:r>
            <a:r>
              <a:rPr kumimoji="0" lang="de-CH"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rPr>
              <a:t> after Material Ledger close</a:t>
            </a:r>
            <a:endParaRPr kumimoji="0" lang="en-US" sz="1800" b="0" i="0" u="none" strike="noStrike" kern="1200" cap="none" spc="0" normalizeH="0" baseline="0" noProof="0" dirty="0">
              <a:ln>
                <a:noFill/>
              </a:ln>
              <a:solidFill>
                <a:srgbClr val="000000"/>
              </a:solidFill>
              <a:effectLst/>
              <a:uLnTx/>
              <a:uFillTx/>
              <a:latin typeface="Arial" panose="020B0604020202020204"/>
              <a:ea typeface="Calibri" panose="020F0502020204030204" pitchFamily="34" charset="0"/>
              <a:cs typeface="+mn-cs"/>
            </a:endParaRPr>
          </a:p>
        </p:txBody>
      </p:sp>
      <p:sp>
        <p:nvSpPr>
          <p:cNvPr id="7" name="Rectangle: Rounded Corners 6">
            <a:extLst>
              <a:ext uri="{FF2B5EF4-FFF2-40B4-BE49-F238E27FC236}">
                <a16:creationId xmlns:a16="http://schemas.microsoft.com/office/drawing/2014/main" id="{FC50E9C7-6715-4329-9E88-1B830A219061}"/>
              </a:ext>
            </a:extLst>
          </p:cNvPr>
          <p:cNvSpPr/>
          <p:nvPr/>
        </p:nvSpPr>
        <p:spPr>
          <a:xfrm>
            <a:off x="8210548" y="4843527"/>
            <a:ext cx="2158160" cy="37556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Speech Bubble: Rectangle 27">
            <a:extLst>
              <a:ext uri="{FF2B5EF4-FFF2-40B4-BE49-F238E27FC236}">
                <a16:creationId xmlns:a16="http://schemas.microsoft.com/office/drawing/2014/main" id="{310235FC-FE66-4051-A2D2-32A2FB83CEA5}"/>
              </a:ext>
            </a:extLst>
          </p:cNvPr>
          <p:cNvSpPr/>
          <p:nvPr/>
        </p:nvSpPr>
        <p:spPr>
          <a:xfrm>
            <a:off x="4044948" y="1442430"/>
            <a:ext cx="5048250" cy="845265"/>
          </a:xfrm>
          <a:prstGeom prst="wedgeRectCallout">
            <a:avLst>
              <a:gd name="adj1" fmla="val -20780"/>
              <a:gd name="adj2" fmla="val 12064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sng" strike="noStrike" kern="1200" cap="none" spc="0" normalizeH="0" baseline="0" noProof="0">
                <a:ln>
                  <a:noFill/>
                </a:ln>
                <a:solidFill>
                  <a:srgbClr val="000000"/>
                </a:solidFill>
                <a:effectLst/>
                <a:uLnTx/>
                <a:uFillTx/>
                <a:latin typeface="Arial" panose="020B0604020202020204"/>
                <a:ea typeface="+mn-ea"/>
                <a:cs typeface="+mn-cs"/>
              </a:rPr>
              <a:t>Business Transaction </a:t>
            </a:r>
            <a:r>
              <a:rPr kumimoji="0" lang="de-CH" sz="1800" b="0" i="0" u="none" strike="noStrike" kern="1200" cap="none" spc="0" normalizeH="0" baseline="0" noProof="0">
                <a:ln>
                  <a:noFill/>
                </a:ln>
                <a:solidFill>
                  <a:srgbClr val="000000"/>
                </a:solidFill>
                <a:effectLst/>
                <a:uLnTx/>
                <a:uFillTx/>
                <a:latin typeface="Arial" panose="020B0604020202020204"/>
                <a:ea typeface="+mn-ea"/>
                <a:cs typeface="+mn-cs"/>
              </a:rPr>
              <a:t>Type </a:t>
            </a:r>
            <a:r>
              <a:rPr kumimoji="0" lang="de-CH" sz="1800" b="1" i="0" u="none" strike="noStrike" kern="1200" cap="none" spc="0" normalizeH="0" baseline="0" noProof="0">
                <a:ln>
                  <a:noFill/>
                </a:ln>
                <a:solidFill>
                  <a:srgbClr val="000000"/>
                </a:solidFill>
                <a:effectLst/>
                <a:uLnTx/>
                <a:uFillTx/>
                <a:latin typeface="Arial" panose="020B0604020202020204"/>
                <a:ea typeface="+mn-ea"/>
                <a:cs typeface="+mn-cs"/>
              </a:rPr>
              <a:t>RMWL</a:t>
            </a:r>
            <a:r>
              <a:rPr kumimoji="0" lang="de-CH" sz="1800" b="0" i="0" u="none" strike="noStrike" kern="1200" cap="none" spc="0" normalizeH="0" baseline="0" noProof="0">
                <a:ln>
                  <a:noFill/>
                </a:ln>
                <a:solidFill>
                  <a:srgbClr val="000000"/>
                </a:solidFill>
                <a:effectLst/>
                <a:uLnTx/>
                <a:uFillTx/>
                <a:latin typeface="Arial" panose="020B0604020202020204"/>
                <a:ea typeface="+mn-ea"/>
                <a:cs typeface="+mn-cs"/>
              </a:rPr>
              <a:t> and </a:t>
            </a:r>
            <a:r>
              <a:rPr kumimoji="0" lang="de-CH" sz="1800" b="1" i="0" u="none" strike="noStrike" kern="1200" cap="none" spc="0" normalizeH="0" baseline="0" noProof="0">
                <a:ln>
                  <a:noFill/>
                </a:ln>
                <a:solidFill>
                  <a:srgbClr val="000000"/>
                </a:solidFill>
                <a:effectLst/>
                <a:uLnTx/>
                <a:uFillTx/>
                <a:latin typeface="Arial" panose="020B0604020202020204"/>
                <a:ea typeface="+mn-ea"/>
                <a:cs typeface="+mn-cs"/>
              </a:rPr>
              <a:t>RMM1</a:t>
            </a:r>
            <a:r>
              <a:rPr kumimoji="0" lang="de-CH" sz="1800" b="0" i="0" u="none" strike="noStrike" kern="1200" cap="none" spc="0" normalizeH="0" baseline="0" noProof="0">
                <a:ln>
                  <a:noFill/>
                </a:ln>
                <a:solidFill>
                  <a:srgbClr val="000000"/>
                </a:solidFill>
                <a:effectLst/>
                <a:uLnTx/>
                <a:uFillTx/>
                <a:latin typeface="Arial" panose="020B0604020202020204"/>
                <a:ea typeface="+mn-ea"/>
                <a:cs typeface="+mn-cs"/>
              </a:rPr>
              <a:t> will provide split between standard and variance COGS splitting</a:t>
            </a: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Rectangle: Rounded Corners 30">
            <a:extLst>
              <a:ext uri="{FF2B5EF4-FFF2-40B4-BE49-F238E27FC236}">
                <a16:creationId xmlns:a16="http://schemas.microsoft.com/office/drawing/2014/main" id="{087C897B-4160-4C44-B239-9FC6FBCDC5A9}"/>
              </a:ext>
            </a:extLst>
          </p:cNvPr>
          <p:cNvSpPr/>
          <p:nvPr/>
        </p:nvSpPr>
        <p:spPr>
          <a:xfrm>
            <a:off x="4380688" y="3497580"/>
            <a:ext cx="2214422" cy="24003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4710A086-0616-4409-BD47-F8B7AC5D3AB0}"/>
              </a:ext>
            </a:extLst>
          </p:cNvPr>
          <p:cNvSpPr txBox="1"/>
          <p:nvPr/>
        </p:nvSpPr>
        <p:spPr>
          <a:xfrm>
            <a:off x="780200" y="1534083"/>
            <a:ext cx="3042500" cy="539824"/>
          </a:xfrm>
          <a:prstGeom prst="rect">
            <a:avLst/>
          </a:prstGeom>
          <a:no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just">
              <a:defRPr b="1">
                <a:ea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de-CH" sz="1800" b="1" i="0" u="none" strike="noStrike" kern="1200" cap="none" spc="0" normalizeH="0" baseline="0" noProof="0">
                <a:ln>
                  <a:noFill/>
                </a:ln>
                <a:solidFill>
                  <a:srgbClr val="000000"/>
                </a:solidFill>
                <a:effectLst/>
                <a:uLnTx/>
                <a:uFillTx/>
                <a:latin typeface="Arial" panose="020B0604020202020204"/>
                <a:cs typeface="+mn-cs"/>
              </a:rPr>
              <a:t>S/4 Query dimensions </a:t>
            </a:r>
            <a:endParaRPr kumimoji="0" lang="en-US" sz="1800" b="1" i="0" u="none" strike="noStrike" kern="1200" cap="none" spc="0" normalizeH="0" baseline="0" noProof="0">
              <a:ln>
                <a:noFill/>
              </a:ln>
              <a:solidFill>
                <a:srgbClr val="000000"/>
              </a:solidFill>
              <a:effectLst/>
              <a:uLnTx/>
              <a:uFillTx/>
              <a:latin typeface="Arial" panose="020B0604020202020204"/>
              <a:cs typeface="+mn-cs"/>
            </a:endParaRPr>
          </a:p>
        </p:txBody>
      </p:sp>
      <p:pic>
        <p:nvPicPr>
          <p:cNvPr id="20482" name="Picture 2" descr="image002">
            <a:extLst>
              <a:ext uri="{FF2B5EF4-FFF2-40B4-BE49-F238E27FC236}">
                <a16:creationId xmlns:a16="http://schemas.microsoft.com/office/drawing/2014/main" id="{EB46AED1-8497-4D5E-80FF-289722089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4948" y="2640712"/>
            <a:ext cx="6870954" cy="2971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Rounded Corners 12">
            <a:extLst>
              <a:ext uri="{FF2B5EF4-FFF2-40B4-BE49-F238E27FC236}">
                <a16:creationId xmlns:a16="http://schemas.microsoft.com/office/drawing/2014/main" id="{04CBA0F1-11B1-4DBF-A282-5F1843C51F8E}"/>
              </a:ext>
            </a:extLst>
          </p:cNvPr>
          <p:cNvSpPr/>
          <p:nvPr/>
        </p:nvSpPr>
        <p:spPr>
          <a:xfrm>
            <a:off x="9437974" y="2247673"/>
            <a:ext cx="1477928" cy="26044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S/4 Queries</a:t>
            </a:r>
          </a:p>
        </p:txBody>
      </p:sp>
    </p:spTree>
    <p:extLst>
      <p:ext uri="{BB962C8B-B14F-4D97-AF65-F5344CB8AC3E}">
        <p14:creationId xmlns:p14="http://schemas.microsoft.com/office/powerpoint/2010/main" val="367701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549C1-EF27-4B6B-858A-0DDA9ACC34BD}"/>
              </a:ext>
            </a:extLst>
          </p:cNvPr>
          <p:cNvSpPr>
            <a:spLocks noGrp="1"/>
          </p:cNvSpPr>
          <p:nvPr>
            <p:ph type="title"/>
          </p:nvPr>
        </p:nvSpPr>
        <p:spPr/>
        <p:txBody>
          <a:bodyPr/>
          <a:lstStyle/>
          <a:p>
            <a:r>
              <a:rPr lang="en-US"/>
              <a:t>Back-2-back COGS flow</a:t>
            </a:r>
          </a:p>
        </p:txBody>
      </p:sp>
      <p:sp>
        <p:nvSpPr>
          <p:cNvPr id="3" name="Content Placeholder 2">
            <a:extLst>
              <a:ext uri="{FF2B5EF4-FFF2-40B4-BE49-F238E27FC236}">
                <a16:creationId xmlns:a16="http://schemas.microsoft.com/office/drawing/2014/main" id="{5A9B96AA-9299-4A2F-8CB5-0C612012F47D}"/>
              </a:ext>
            </a:extLst>
          </p:cNvPr>
          <p:cNvSpPr>
            <a:spLocks noGrp="1"/>
          </p:cNvSpPr>
          <p:nvPr>
            <p:ph idx="1"/>
          </p:nvPr>
        </p:nvSpPr>
        <p:spPr/>
        <p:txBody>
          <a:bodyPr/>
          <a:lstStyle/>
          <a:p>
            <a:r>
              <a:rPr lang="en-US"/>
              <a:t>Back-to-Back COGS flow is used in JTI in cases when FGs are physically transported from one company code, while sales invoice and third party COGS are issues from another company code.</a:t>
            </a:r>
          </a:p>
          <a:p>
            <a:endParaRPr lang="en-US"/>
          </a:p>
          <a:p>
            <a:r>
              <a:rPr lang="en-US"/>
              <a:t>For example sales invoice and third party COGS are booked in German entity (1106), whereas goods are physically located on the plant belonging to JTI SA (1799)</a:t>
            </a:r>
          </a:p>
          <a:p>
            <a:endParaRPr lang="en-US"/>
          </a:p>
          <a:p>
            <a:r>
              <a:rPr lang="en-US"/>
              <a:t>Such flow is subject to COGS splitting and will have COGS posted on a dedicated </a:t>
            </a:r>
            <a:r>
              <a:rPr lang="en-US" b="1"/>
              <a:t>JTIO </a:t>
            </a:r>
            <a:r>
              <a:rPr lang="en-US" b="1">
                <a:solidFill>
                  <a:srgbClr val="000000"/>
                </a:solidFill>
              </a:rPr>
              <a:t>414015 Cogs B2B </a:t>
            </a:r>
            <a:r>
              <a:rPr lang="en-US">
                <a:solidFill>
                  <a:srgbClr val="000000"/>
                </a:solidFill>
              </a:rPr>
              <a:t>(vs the standard 414010 Cogs 3rd Party)</a:t>
            </a:r>
          </a:p>
          <a:p>
            <a:endParaRPr lang="en-US"/>
          </a:p>
          <a:p>
            <a:endParaRPr lang="en-US"/>
          </a:p>
        </p:txBody>
      </p:sp>
      <p:sp>
        <p:nvSpPr>
          <p:cNvPr id="4" name="Footer Placeholder 3">
            <a:extLst>
              <a:ext uri="{FF2B5EF4-FFF2-40B4-BE49-F238E27FC236}">
                <a16:creationId xmlns:a16="http://schemas.microsoft.com/office/drawing/2014/main" id="{20CC6086-8523-49DF-83A4-93CB5D3389F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239D22B-6016-4E8E-945F-F735871101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4264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549C1-EF27-4B6B-858A-0DDA9ACC34BD}"/>
              </a:ext>
            </a:extLst>
          </p:cNvPr>
          <p:cNvSpPr>
            <a:spLocks noGrp="1"/>
          </p:cNvSpPr>
          <p:nvPr>
            <p:ph type="title"/>
          </p:nvPr>
        </p:nvSpPr>
        <p:spPr/>
        <p:txBody>
          <a:bodyPr/>
          <a:lstStyle/>
          <a:p>
            <a:r>
              <a:rPr lang="en-US"/>
              <a:t>Back-2-back COGS flow - Summary</a:t>
            </a:r>
          </a:p>
        </p:txBody>
      </p:sp>
      <p:sp>
        <p:nvSpPr>
          <p:cNvPr id="4" name="Footer Placeholder 3">
            <a:extLst>
              <a:ext uri="{FF2B5EF4-FFF2-40B4-BE49-F238E27FC236}">
                <a16:creationId xmlns:a16="http://schemas.microsoft.com/office/drawing/2014/main" id="{20CC6086-8523-49DF-83A4-93CB5D3389F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239D22B-6016-4E8E-945F-F735871101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Rectangle 45">
            <a:extLst>
              <a:ext uri="{FF2B5EF4-FFF2-40B4-BE49-F238E27FC236}">
                <a16:creationId xmlns:a16="http://schemas.microsoft.com/office/drawing/2014/main" id="{2B1F7F32-B098-497F-AA45-4C51B252C25E}"/>
              </a:ext>
            </a:extLst>
          </p:cNvPr>
          <p:cNvSpPr/>
          <p:nvPr/>
        </p:nvSpPr>
        <p:spPr>
          <a:xfrm>
            <a:off x="393190" y="1728931"/>
            <a:ext cx="2462784" cy="4341179"/>
          </a:xfrm>
          <a:prstGeom prst="rect">
            <a:avLst/>
          </a:prstGeom>
          <a:solidFill>
            <a:srgbClr val="88D5B8">
              <a:alpha val="50000"/>
            </a:srgbClr>
          </a:solidFill>
          <a:ln>
            <a:noFill/>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 name="Rectangle 46">
            <a:extLst>
              <a:ext uri="{FF2B5EF4-FFF2-40B4-BE49-F238E27FC236}">
                <a16:creationId xmlns:a16="http://schemas.microsoft.com/office/drawing/2014/main" id="{5719F489-2491-4CAB-A49C-AB995E975815}"/>
              </a:ext>
            </a:extLst>
          </p:cNvPr>
          <p:cNvSpPr/>
          <p:nvPr/>
        </p:nvSpPr>
        <p:spPr>
          <a:xfrm>
            <a:off x="9304926" y="3337137"/>
            <a:ext cx="2633469" cy="2187118"/>
          </a:xfrm>
          <a:prstGeom prst="rect">
            <a:avLst/>
          </a:prstGeom>
          <a:solidFill>
            <a:srgbClr val="FFFFFF"/>
          </a:solidFill>
          <a:ln w="12700" cap="flat" cmpd="sng" algn="ctr">
            <a:solidFill>
              <a:schemeClr val="bg1">
                <a:lumMod val="65000"/>
              </a:scheme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8" name="Rectangle 47">
            <a:extLst>
              <a:ext uri="{FF2B5EF4-FFF2-40B4-BE49-F238E27FC236}">
                <a16:creationId xmlns:a16="http://schemas.microsoft.com/office/drawing/2014/main" id="{EA10FE66-8433-46DB-92D1-6AEE2CB9A967}"/>
              </a:ext>
            </a:extLst>
          </p:cNvPr>
          <p:cNvSpPr/>
          <p:nvPr/>
        </p:nvSpPr>
        <p:spPr>
          <a:xfrm>
            <a:off x="3503673" y="1725198"/>
            <a:ext cx="2462784" cy="4341175"/>
          </a:xfrm>
          <a:prstGeom prst="rect">
            <a:avLst/>
          </a:prstGeom>
          <a:solidFill>
            <a:srgbClr val="B0D838">
              <a:alpha val="50000"/>
            </a:srgbClr>
          </a:solidFill>
          <a:ln>
            <a:noFill/>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9" name="Slide Number Placeholder 2">
            <a:extLst>
              <a:ext uri="{FF2B5EF4-FFF2-40B4-BE49-F238E27FC236}">
                <a16:creationId xmlns:a16="http://schemas.microsoft.com/office/drawing/2014/main" id="{A0490F2A-1623-4984-A09A-ED92E4258077}"/>
              </a:ext>
            </a:extLst>
          </p:cNvPr>
          <p:cNvSpPr txBox="1">
            <a:spLocks/>
          </p:cNvSpPr>
          <p:nvPr/>
        </p:nvSpPr>
        <p:spPr>
          <a:xfrm>
            <a:off x="8610600" y="635635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800" kern="1200">
                <a:solidFill>
                  <a:schemeClr val="tx1">
                    <a:tint val="75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BB4E4D9-2C5A-423A-A8BE-9B5EA07DECC8}" type="slidenum">
              <a:rPr kumimoji="0" lang="en-US" sz="800" b="0" i="0" u="none" strike="noStrike" kern="1200" cap="none" spc="0" normalizeH="0" baseline="0" noProof="0" smtClean="0">
                <a:ln>
                  <a:noFill/>
                </a:ln>
                <a:solidFill>
                  <a:srgbClr val="000000">
                    <a:tint val="75000"/>
                  </a:srgbClr>
                </a:solidFill>
                <a:effectLst/>
                <a:uLnTx/>
                <a:uFillTx/>
                <a:latin typeface="Arial" charset="0"/>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800" b="0" i="0" u="none" strike="noStrike" kern="1200" cap="none" spc="0" normalizeH="0" baseline="0" noProof="0">
              <a:ln>
                <a:noFill/>
              </a:ln>
              <a:solidFill>
                <a:srgbClr val="000000">
                  <a:tint val="75000"/>
                </a:srgbClr>
              </a:solidFill>
              <a:effectLst/>
              <a:uLnTx/>
              <a:uFillTx/>
              <a:latin typeface="Arial" charset="0"/>
              <a:cs typeface="Arial" charset="0"/>
            </a:endParaRPr>
          </a:p>
        </p:txBody>
      </p:sp>
      <p:pic>
        <p:nvPicPr>
          <p:cNvPr id="50" name="Picture 49">
            <a:extLst>
              <a:ext uri="{FF2B5EF4-FFF2-40B4-BE49-F238E27FC236}">
                <a16:creationId xmlns:a16="http://schemas.microsoft.com/office/drawing/2014/main" id="{3CEFCA97-88A1-4D25-B5D3-D782456D73DF}"/>
              </a:ext>
            </a:extLst>
          </p:cNvPr>
          <p:cNvPicPr>
            <a:picLocks noChangeAspect="1"/>
          </p:cNvPicPr>
          <p:nvPr/>
        </p:nvPicPr>
        <p:blipFill>
          <a:blip r:embed="rId2"/>
          <a:stretch>
            <a:fillRect/>
          </a:stretch>
        </p:blipFill>
        <p:spPr>
          <a:xfrm>
            <a:off x="4161672" y="4567998"/>
            <a:ext cx="1082134" cy="1219306"/>
          </a:xfrm>
          <a:prstGeom prst="rect">
            <a:avLst/>
          </a:prstGeom>
        </p:spPr>
      </p:pic>
      <p:sp>
        <p:nvSpPr>
          <p:cNvPr id="51" name="Rectangle 50">
            <a:extLst>
              <a:ext uri="{FF2B5EF4-FFF2-40B4-BE49-F238E27FC236}">
                <a16:creationId xmlns:a16="http://schemas.microsoft.com/office/drawing/2014/main" id="{3A8068E3-F50C-4BBE-B867-0DA7DBAF81FF}"/>
              </a:ext>
            </a:extLst>
          </p:cNvPr>
          <p:cNvSpPr/>
          <p:nvPr/>
        </p:nvSpPr>
        <p:spPr>
          <a:xfrm>
            <a:off x="4122142" y="4540619"/>
            <a:ext cx="1133856" cy="1274064"/>
          </a:xfrm>
          <a:prstGeom prst="rect">
            <a:avLst/>
          </a:prstGeom>
          <a:noFill/>
          <a:ln w="12700" cap="flat" cmpd="sng" algn="ctr">
            <a:solidFill>
              <a:srgbClr val="407EC9">
                <a:lumMod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52" name="TextBox 51">
            <a:extLst>
              <a:ext uri="{FF2B5EF4-FFF2-40B4-BE49-F238E27FC236}">
                <a16:creationId xmlns:a16="http://schemas.microsoft.com/office/drawing/2014/main" id="{DA9D6589-59D4-4FC9-85D1-43D133D9CEB5}"/>
              </a:ext>
            </a:extLst>
          </p:cNvPr>
          <p:cNvSpPr txBox="1"/>
          <p:nvPr/>
        </p:nvSpPr>
        <p:spPr>
          <a:xfrm>
            <a:off x="3608832" y="1829700"/>
            <a:ext cx="2187577"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JTI SA 1799</a:t>
            </a:r>
          </a:p>
        </p:txBody>
      </p:sp>
      <p:sp>
        <p:nvSpPr>
          <p:cNvPr id="53" name="TextBox 52">
            <a:extLst>
              <a:ext uri="{FF2B5EF4-FFF2-40B4-BE49-F238E27FC236}">
                <a16:creationId xmlns:a16="http://schemas.microsoft.com/office/drawing/2014/main" id="{538DE45E-8767-4A16-A4B1-2DD8E16EC4EF}"/>
              </a:ext>
            </a:extLst>
          </p:cNvPr>
          <p:cNvSpPr txBox="1"/>
          <p:nvPr/>
        </p:nvSpPr>
        <p:spPr>
          <a:xfrm>
            <a:off x="3985897" y="2748426"/>
            <a:ext cx="1810512" cy="1015663"/>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IC COGS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IC Sales</a:t>
            </a:r>
          </a:p>
        </p:txBody>
      </p:sp>
      <p:sp>
        <p:nvSpPr>
          <p:cNvPr id="54" name="Rectangle 53">
            <a:extLst>
              <a:ext uri="{FF2B5EF4-FFF2-40B4-BE49-F238E27FC236}">
                <a16:creationId xmlns:a16="http://schemas.microsoft.com/office/drawing/2014/main" id="{E9873558-3F96-49D8-BD56-2CA917BEA10D}"/>
              </a:ext>
            </a:extLst>
          </p:cNvPr>
          <p:cNvSpPr/>
          <p:nvPr/>
        </p:nvSpPr>
        <p:spPr>
          <a:xfrm>
            <a:off x="6519672" y="1728932"/>
            <a:ext cx="2371344" cy="4337442"/>
          </a:xfrm>
          <a:prstGeom prst="rect">
            <a:avLst/>
          </a:prstGeom>
          <a:solidFill>
            <a:srgbClr val="00BDB7">
              <a:alpha val="50000"/>
            </a:srgbClr>
          </a:solidFill>
          <a:ln>
            <a:noFill/>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55" name="TextBox 54">
            <a:extLst>
              <a:ext uri="{FF2B5EF4-FFF2-40B4-BE49-F238E27FC236}">
                <a16:creationId xmlns:a16="http://schemas.microsoft.com/office/drawing/2014/main" id="{EAC53D15-6F44-4851-A477-7897DDE24D62}"/>
              </a:ext>
            </a:extLst>
          </p:cNvPr>
          <p:cNvSpPr txBox="1"/>
          <p:nvPr/>
        </p:nvSpPr>
        <p:spPr>
          <a:xfrm>
            <a:off x="6570710" y="1795044"/>
            <a:ext cx="2269267"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Germany 1106</a:t>
            </a:r>
          </a:p>
        </p:txBody>
      </p:sp>
      <p:sp>
        <p:nvSpPr>
          <p:cNvPr id="56" name="TextBox 55">
            <a:extLst>
              <a:ext uri="{FF2B5EF4-FFF2-40B4-BE49-F238E27FC236}">
                <a16:creationId xmlns:a16="http://schemas.microsoft.com/office/drawing/2014/main" id="{9280C015-DAAF-4AB7-877B-E84B242F18DD}"/>
              </a:ext>
            </a:extLst>
          </p:cNvPr>
          <p:cNvSpPr txBox="1"/>
          <p:nvPr/>
        </p:nvSpPr>
        <p:spPr>
          <a:xfrm>
            <a:off x="6733032" y="2830951"/>
            <a:ext cx="2051304" cy="1015663"/>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3</a:t>
            </a:r>
            <a:r>
              <a:rPr kumimoji="0" lang="en-US" sz="2000" b="1" i="0" u="none" strike="noStrike" kern="1200" cap="none" spc="0" normalizeH="0" baseline="30000" noProof="0">
                <a:ln>
                  <a:noFill/>
                </a:ln>
                <a:solidFill>
                  <a:srgbClr val="000000"/>
                </a:solidFill>
                <a:effectLst/>
                <a:uLnTx/>
                <a:uFillTx/>
                <a:latin typeface="Arial" panose="020B0604020202020204"/>
                <a:ea typeface="ＭＳ Ｐゴシック" pitchFamily="80" charset="-128"/>
                <a:cs typeface="+mn-cs"/>
              </a:rPr>
              <a:t>rd</a:t>
            </a: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party COGS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3</a:t>
            </a:r>
            <a:r>
              <a:rPr kumimoji="0" lang="en-US" sz="2000" b="1" i="0" u="none" strike="noStrike" kern="1200" cap="none" spc="0" normalizeH="0" baseline="30000" noProof="0">
                <a:ln>
                  <a:noFill/>
                </a:ln>
                <a:solidFill>
                  <a:srgbClr val="000000"/>
                </a:solidFill>
                <a:effectLst/>
                <a:uLnTx/>
                <a:uFillTx/>
                <a:latin typeface="Arial" panose="020B0604020202020204"/>
                <a:ea typeface="ＭＳ Ｐゴシック" pitchFamily="80" charset="-128"/>
                <a:cs typeface="+mn-cs"/>
              </a:rPr>
              <a:t>rd</a:t>
            </a:r>
            <a:r>
              <a:rPr kumimoji="0" lang="en-US" sz="20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party Sales</a:t>
            </a:r>
          </a:p>
        </p:txBody>
      </p:sp>
      <p:grpSp>
        <p:nvGrpSpPr>
          <p:cNvPr id="57" name="Group 56">
            <a:extLst>
              <a:ext uri="{FF2B5EF4-FFF2-40B4-BE49-F238E27FC236}">
                <a16:creationId xmlns:a16="http://schemas.microsoft.com/office/drawing/2014/main" id="{FF4F8377-1DF7-43DE-8A49-6250591E8CA4}"/>
              </a:ext>
            </a:extLst>
          </p:cNvPr>
          <p:cNvGrpSpPr/>
          <p:nvPr/>
        </p:nvGrpSpPr>
        <p:grpSpPr>
          <a:xfrm>
            <a:off x="698934" y="2454951"/>
            <a:ext cx="1164336" cy="1274064"/>
            <a:chOff x="429768" y="4664495"/>
            <a:chExt cx="1164336" cy="1274064"/>
          </a:xfrm>
        </p:grpSpPr>
        <p:pic>
          <p:nvPicPr>
            <p:cNvPr id="58" name="Picture 57">
              <a:extLst>
                <a:ext uri="{FF2B5EF4-FFF2-40B4-BE49-F238E27FC236}">
                  <a16:creationId xmlns:a16="http://schemas.microsoft.com/office/drawing/2014/main" id="{37763319-623D-47A0-A17F-B2A4D28009AE}"/>
                </a:ext>
              </a:extLst>
            </p:cNvPr>
            <p:cNvPicPr>
              <a:picLocks noChangeAspect="1"/>
            </p:cNvPicPr>
            <p:nvPr/>
          </p:nvPicPr>
          <p:blipFill>
            <a:blip r:embed="rId3"/>
            <a:stretch>
              <a:fillRect/>
            </a:stretch>
          </p:blipFill>
          <p:spPr>
            <a:xfrm>
              <a:off x="429768" y="4703625"/>
              <a:ext cx="1164336" cy="1195804"/>
            </a:xfrm>
            <a:prstGeom prst="rect">
              <a:avLst/>
            </a:prstGeom>
          </p:spPr>
        </p:pic>
        <p:sp>
          <p:nvSpPr>
            <p:cNvPr id="59" name="Rectangle 58">
              <a:extLst>
                <a:ext uri="{FF2B5EF4-FFF2-40B4-BE49-F238E27FC236}">
                  <a16:creationId xmlns:a16="http://schemas.microsoft.com/office/drawing/2014/main" id="{191FACD2-4A30-4641-B2A8-5E1713622668}"/>
                </a:ext>
              </a:extLst>
            </p:cNvPr>
            <p:cNvSpPr/>
            <p:nvPr/>
          </p:nvSpPr>
          <p:spPr>
            <a:xfrm>
              <a:off x="429768" y="4664495"/>
              <a:ext cx="1133856" cy="1274064"/>
            </a:xfrm>
            <a:prstGeom prst="rect">
              <a:avLst/>
            </a:prstGeom>
            <a:noFill/>
            <a:ln w="12700" cap="flat" cmpd="sng" algn="ctr">
              <a:solidFill>
                <a:srgbClr val="407EC9">
                  <a:lumMod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cxnSp>
        <p:nvCxnSpPr>
          <p:cNvPr id="60" name="Straight Connector 59">
            <a:extLst>
              <a:ext uri="{FF2B5EF4-FFF2-40B4-BE49-F238E27FC236}">
                <a16:creationId xmlns:a16="http://schemas.microsoft.com/office/drawing/2014/main" id="{04E14244-A09D-4C88-980E-ADDDF1F79BEC}"/>
              </a:ext>
            </a:extLst>
          </p:cNvPr>
          <p:cNvCxnSpPr/>
          <p:nvPr/>
        </p:nvCxnSpPr>
        <p:spPr>
          <a:xfrm flipV="1">
            <a:off x="4735065" y="4155140"/>
            <a:ext cx="0" cy="274320"/>
          </a:xfrm>
          <a:prstGeom prst="line">
            <a:avLst/>
          </a:prstGeom>
          <a:noFill/>
          <a:ln w="57150" cap="flat" cmpd="sng" algn="ctr">
            <a:solidFill>
              <a:srgbClr val="88D5B8">
                <a:lumMod val="50000"/>
              </a:srgbClr>
            </a:solidFill>
            <a:prstDash val="solid"/>
            <a:miter lim="800000"/>
          </a:ln>
          <a:effectLst/>
        </p:spPr>
      </p:cxnSp>
      <p:cxnSp>
        <p:nvCxnSpPr>
          <p:cNvPr id="61" name="Straight Connector 60">
            <a:extLst>
              <a:ext uri="{FF2B5EF4-FFF2-40B4-BE49-F238E27FC236}">
                <a16:creationId xmlns:a16="http://schemas.microsoft.com/office/drawing/2014/main" id="{1000B919-2191-4BE9-90BE-07C11E70195A}"/>
              </a:ext>
            </a:extLst>
          </p:cNvPr>
          <p:cNvCxnSpPr>
            <a:cxnSpLocks/>
          </p:cNvCxnSpPr>
          <p:nvPr/>
        </p:nvCxnSpPr>
        <p:spPr>
          <a:xfrm flipH="1">
            <a:off x="1301497" y="4155140"/>
            <a:ext cx="3433569" cy="0"/>
          </a:xfrm>
          <a:prstGeom prst="line">
            <a:avLst/>
          </a:prstGeom>
          <a:noFill/>
          <a:ln w="57150" cap="flat" cmpd="sng" algn="ctr">
            <a:solidFill>
              <a:srgbClr val="88D5B8">
                <a:lumMod val="50000"/>
              </a:srgbClr>
            </a:solidFill>
            <a:prstDash val="solid"/>
            <a:miter lim="800000"/>
          </a:ln>
          <a:effectLst/>
        </p:spPr>
      </p:cxnSp>
      <p:cxnSp>
        <p:nvCxnSpPr>
          <p:cNvPr id="62" name="Straight Arrow Connector 61">
            <a:extLst>
              <a:ext uri="{FF2B5EF4-FFF2-40B4-BE49-F238E27FC236}">
                <a16:creationId xmlns:a16="http://schemas.microsoft.com/office/drawing/2014/main" id="{95DA38C7-ADAD-4D85-A3D5-6A3B7257C281}"/>
              </a:ext>
            </a:extLst>
          </p:cNvPr>
          <p:cNvCxnSpPr>
            <a:cxnSpLocks/>
          </p:cNvCxnSpPr>
          <p:nvPr/>
        </p:nvCxnSpPr>
        <p:spPr>
          <a:xfrm flipV="1">
            <a:off x="1281102" y="3776281"/>
            <a:ext cx="0" cy="406305"/>
          </a:xfrm>
          <a:prstGeom prst="straightConnector1">
            <a:avLst/>
          </a:prstGeom>
          <a:noFill/>
          <a:ln w="57150" cap="flat" cmpd="sng" algn="ctr">
            <a:solidFill>
              <a:srgbClr val="88D5B8">
                <a:lumMod val="50000"/>
              </a:srgbClr>
            </a:solidFill>
            <a:prstDash val="solid"/>
            <a:miter lim="800000"/>
            <a:tailEnd type="triangle"/>
          </a:ln>
          <a:effectLst/>
        </p:spPr>
      </p:cxnSp>
      <p:sp>
        <p:nvSpPr>
          <p:cNvPr id="63" name="TextBox 62">
            <a:extLst>
              <a:ext uri="{FF2B5EF4-FFF2-40B4-BE49-F238E27FC236}">
                <a16:creationId xmlns:a16="http://schemas.microsoft.com/office/drawing/2014/main" id="{47478023-8E35-4914-9003-61D9C4276211}"/>
              </a:ext>
            </a:extLst>
          </p:cNvPr>
          <p:cNvSpPr txBox="1"/>
          <p:nvPr/>
        </p:nvSpPr>
        <p:spPr>
          <a:xfrm>
            <a:off x="2629750" y="3745955"/>
            <a:ext cx="1115035" cy="830997"/>
          </a:xfrm>
          <a:prstGeom prst="rect">
            <a:avLst/>
          </a:prstGeom>
          <a:solidFill>
            <a:srgbClr val="FFFFFF"/>
          </a:solidFill>
          <a:ln>
            <a:solidFill>
              <a:srgbClr val="407EC9">
                <a:lumMod val="50000"/>
              </a:srgbClr>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Physical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goods flow</a:t>
            </a:r>
          </a:p>
        </p:txBody>
      </p:sp>
      <p:pic>
        <p:nvPicPr>
          <p:cNvPr id="64" name="Picture 63">
            <a:extLst>
              <a:ext uri="{FF2B5EF4-FFF2-40B4-BE49-F238E27FC236}">
                <a16:creationId xmlns:a16="http://schemas.microsoft.com/office/drawing/2014/main" id="{B7CD51C2-8CE6-4A39-AF4B-ADC5265BC4ED}"/>
              </a:ext>
            </a:extLst>
          </p:cNvPr>
          <p:cNvPicPr>
            <a:picLocks noChangeAspect="1"/>
          </p:cNvPicPr>
          <p:nvPr/>
        </p:nvPicPr>
        <p:blipFill>
          <a:blip r:embed="rId4"/>
          <a:stretch>
            <a:fillRect/>
          </a:stretch>
        </p:blipFill>
        <p:spPr>
          <a:xfrm>
            <a:off x="709311" y="4618879"/>
            <a:ext cx="1222828" cy="1195804"/>
          </a:xfrm>
          <a:prstGeom prst="ellipse">
            <a:avLst/>
          </a:prstGeom>
          <a:ln w="63500" cap="rnd">
            <a:solidFill>
              <a:srgbClr val="5F5F5F">
                <a:lumMod val="20000"/>
                <a:lumOff val="80000"/>
              </a:srgb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65" name="Rectangle 64">
            <a:extLst>
              <a:ext uri="{FF2B5EF4-FFF2-40B4-BE49-F238E27FC236}">
                <a16:creationId xmlns:a16="http://schemas.microsoft.com/office/drawing/2014/main" id="{021A9D2F-708F-483D-990D-7EEA07D77D9E}"/>
              </a:ext>
            </a:extLst>
          </p:cNvPr>
          <p:cNvSpPr/>
          <p:nvPr/>
        </p:nvSpPr>
        <p:spPr>
          <a:xfrm>
            <a:off x="7033724" y="4521620"/>
            <a:ext cx="1133856" cy="1274064"/>
          </a:xfrm>
          <a:prstGeom prst="rect">
            <a:avLst/>
          </a:prstGeom>
          <a:solidFill>
            <a:srgbClr val="FFFFFF"/>
          </a:solidFill>
          <a:ln w="12700" cap="flat" cmpd="sng" algn="ctr">
            <a:solidFill>
              <a:srgbClr val="407EC9">
                <a:lumMod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66" name="Picture 65">
            <a:extLst>
              <a:ext uri="{FF2B5EF4-FFF2-40B4-BE49-F238E27FC236}">
                <a16:creationId xmlns:a16="http://schemas.microsoft.com/office/drawing/2014/main" id="{53DA48CF-AEE3-449E-AC75-9DBE9D17D0B6}"/>
              </a:ext>
            </a:extLst>
          </p:cNvPr>
          <p:cNvPicPr>
            <a:picLocks noChangeAspect="1"/>
          </p:cNvPicPr>
          <p:nvPr/>
        </p:nvPicPr>
        <p:blipFill>
          <a:blip r:embed="rId5"/>
          <a:stretch>
            <a:fillRect/>
          </a:stretch>
        </p:blipFill>
        <p:spPr>
          <a:xfrm>
            <a:off x="7110178" y="4519989"/>
            <a:ext cx="980949" cy="1261220"/>
          </a:xfrm>
          <a:prstGeom prst="rect">
            <a:avLst/>
          </a:prstGeom>
        </p:spPr>
      </p:pic>
      <p:sp>
        <p:nvSpPr>
          <p:cNvPr id="67" name="Oval 66">
            <a:extLst>
              <a:ext uri="{FF2B5EF4-FFF2-40B4-BE49-F238E27FC236}">
                <a16:creationId xmlns:a16="http://schemas.microsoft.com/office/drawing/2014/main" id="{79A8280A-C280-49CF-9330-5BBDC263F6BE}"/>
              </a:ext>
            </a:extLst>
          </p:cNvPr>
          <p:cNvSpPr/>
          <p:nvPr/>
        </p:nvSpPr>
        <p:spPr>
          <a:xfrm>
            <a:off x="6470904" y="2729615"/>
            <a:ext cx="2654801" cy="607522"/>
          </a:xfrm>
          <a:prstGeom prst="ellipse">
            <a:avLst/>
          </a:prstGeom>
          <a:noFill/>
          <a:ln w="28575" cap="flat" cmpd="sng" algn="ctr">
            <a:solidFill>
              <a:srgbClr val="E03C31"/>
            </a:solidFill>
            <a:prstDash val="sysDash"/>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68" name="Speech Bubble: Rectangle with Corners Rounded 67">
            <a:extLst>
              <a:ext uri="{FF2B5EF4-FFF2-40B4-BE49-F238E27FC236}">
                <a16:creationId xmlns:a16="http://schemas.microsoft.com/office/drawing/2014/main" id="{E43C59CD-57B9-4C88-9578-FD0ACD420CF1}"/>
              </a:ext>
            </a:extLst>
          </p:cNvPr>
          <p:cNvSpPr/>
          <p:nvPr/>
        </p:nvSpPr>
        <p:spPr>
          <a:xfrm>
            <a:off x="9528081" y="1423007"/>
            <a:ext cx="2371339" cy="1428852"/>
          </a:xfrm>
          <a:prstGeom prst="wedgeRoundRectCallout">
            <a:avLst>
              <a:gd name="adj1" fmla="val -76264"/>
              <a:gd name="adj2" fmla="val 57761"/>
              <a:gd name="adj3" fmla="val 16667"/>
            </a:avLst>
          </a:prstGeom>
          <a:solidFill>
            <a:srgbClr val="FFFFFF"/>
          </a:solidFill>
          <a:ln w="12700" cap="flat" cmpd="sng" algn="ctr">
            <a:solidFill>
              <a:srgbClr val="E03C31">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69" name="TextBox 68">
            <a:extLst>
              <a:ext uri="{FF2B5EF4-FFF2-40B4-BE49-F238E27FC236}">
                <a16:creationId xmlns:a16="http://schemas.microsoft.com/office/drawing/2014/main" id="{90BF6CE5-307E-48C6-BF92-9F9D62E164DE}"/>
              </a:ext>
            </a:extLst>
          </p:cNvPr>
          <p:cNvSpPr txBox="1"/>
          <p:nvPr/>
        </p:nvSpPr>
        <p:spPr>
          <a:xfrm>
            <a:off x="9624089" y="1400624"/>
            <a:ext cx="2250085" cy="132343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Financial document – not a real goods issue. Posting is done to </a:t>
            </a:r>
            <a:r>
              <a:rPr kumimoji="0" lang="en-US" sz="1600" b="1" i="0" u="sng"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JTIO account 414015 Back-2-Back COGS</a:t>
            </a:r>
          </a:p>
        </p:txBody>
      </p:sp>
      <p:cxnSp>
        <p:nvCxnSpPr>
          <p:cNvPr id="70" name="Straight Connector 69">
            <a:extLst>
              <a:ext uri="{FF2B5EF4-FFF2-40B4-BE49-F238E27FC236}">
                <a16:creationId xmlns:a16="http://schemas.microsoft.com/office/drawing/2014/main" id="{468E6E34-0D07-411D-9EAF-3A2E948D72F1}"/>
              </a:ext>
            </a:extLst>
          </p:cNvPr>
          <p:cNvCxnSpPr>
            <a:cxnSpLocks/>
          </p:cNvCxnSpPr>
          <p:nvPr/>
        </p:nvCxnSpPr>
        <p:spPr>
          <a:xfrm flipV="1">
            <a:off x="7431024" y="5925552"/>
            <a:ext cx="0" cy="512064"/>
          </a:xfrm>
          <a:prstGeom prst="line">
            <a:avLst/>
          </a:prstGeom>
          <a:noFill/>
          <a:ln w="57150" cap="flat" cmpd="sng" algn="ctr">
            <a:solidFill>
              <a:srgbClr val="88D5B8">
                <a:lumMod val="50000"/>
              </a:srgbClr>
            </a:solidFill>
            <a:prstDash val="solid"/>
            <a:miter lim="800000"/>
          </a:ln>
          <a:effectLst/>
        </p:spPr>
      </p:cxnSp>
      <p:cxnSp>
        <p:nvCxnSpPr>
          <p:cNvPr id="71" name="Straight Connector 70">
            <a:extLst>
              <a:ext uri="{FF2B5EF4-FFF2-40B4-BE49-F238E27FC236}">
                <a16:creationId xmlns:a16="http://schemas.microsoft.com/office/drawing/2014/main" id="{0A48708B-B725-4D01-87A2-526C01173D56}"/>
              </a:ext>
            </a:extLst>
          </p:cNvPr>
          <p:cNvCxnSpPr>
            <a:cxnSpLocks/>
          </p:cNvCxnSpPr>
          <p:nvPr/>
        </p:nvCxnSpPr>
        <p:spPr>
          <a:xfrm flipH="1">
            <a:off x="1301497" y="6437616"/>
            <a:ext cx="6129527" cy="0"/>
          </a:xfrm>
          <a:prstGeom prst="line">
            <a:avLst/>
          </a:prstGeom>
          <a:noFill/>
          <a:ln w="57150" cap="flat" cmpd="sng" algn="ctr">
            <a:solidFill>
              <a:srgbClr val="88D5B8">
                <a:lumMod val="50000"/>
              </a:srgbClr>
            </a:solidFill>
            <a:prstDash val="solid"/>
            <a:miter lim="800000"/>
          </a:ln>
          <a:effectLst/>
        </p:spPr>
      </p:cxnSp>
      <p:cxnSp>
        <p:nvCxnSpPr>
          <p:cNvPr id="72" name="Straight Arrow Connector 71">
            <a:extLst>
              <a:ext uri="{FF2B5EF4-FFF2-40B4-BE49-F238E27FC236}">
                <a16:creationId xmlns:a16="http://schemas.microsoft.com/office/drawing/2014/main" id="{37C9930C-35AA-49E4-BA21-36B41273A079}"/>
              </a:ext>
            </a:extLst>
          </p:cNvPr>
          <p:cNvCxnSpPr>
            <a:cxnSpLocks/>
          </p:cNvCxnSpPr>
          <p:nvPr/>
        </p:nvCxnSpPr>
        <p:spPr>
          <a:xfrm flipV="1">
            <a:off x="1323773" y="5795684"/>
            <a:ext cx="0" cy="656406"/>
          </a:xfrm>
          <a:prstGeom prst="straightConnector1">
            <a:avLst/>
          </a:prstGeom>
          <a:noFill/>
          <a:ln w="57150" cap="flat" cmpd="sng" algn="ctr">
            <a:solidFill>
              <a:srgbClr val="88D5B8">
                <a:lumMod val="50000"/>
              </a:srgbClr>
            </a:solidFill>
            <a:prstDash val="solid"/>
            <a:miter lim="800000"/>
            <a:tailEnd type="triangle"/>
          </a:ln>
          <a:effectLst/>
        </p:spPr>
      </p:cxnSp>
      <p:cxnSp>
        <p:nvCxnSpPr>
          <p:cNvPr id="73" name="Straight Arrow Connector 72">
            <a:extLst>
              <a:ext uri="{FF2B5EF4-FFF2-40B4-BE49-F238E27FC236}">
                <a16:creationId xmlns:a16="http://schemas.microsoft.com/office/drawing/2014/main" id="{66A364C0-6E1C-4815-AD63-0EAFB1BB72BF}"/>
              </a:ext>
            </a:extLst>
          </p:cNvPr>
          <p:cNvCxnSpPr/>
          <p:nvPr/>
        </p:nvCxnSpPr>
        <p:spPr>
          <a:xfrm>
            <a:off x="10383781" y="3007953"/>
            <a:ext cx="0" cy="329184"/>
          </a:xfrm>
          <a:prstGeom prst="straightConnector1">
            <a:avLst/>
          </a:prstGeom>
          <a:noFill/>
          <a:ln w="57150" cap="flat" cmpd="sng" algn="ctr">
            <a:solidFill>
              <a:srgbClr val="E03C31"/>
            </a:solidFill>
            <a:prstDash val="solid"/>
            <a:miter lim="800000"/>
            <a:tailEnd type="triangle"/>
          </a:ln>
          <a:effectLst/>
        </p:spPr>
      </p:cxnSp>
      <p:cxnSp>
        <p:nvCxnSpPr>
          <p:cNvPr id="74" name="Straight Connector 73">
            <a:extLst>
              <a:ext uri="{FF2B5EF4-FFF2-40B4-BE49-F238E27FC236}">
                <a16:creationId xmlns:a16="http://schemas.microsoft.com/office/drawing/2014/main" id="{CB8812F7-B24A-4F85-9883-DA81D13A779B}"/>
              </a:ext>
            </a:extLst>
          </p:cNvPr>
          <p:cNvCxnSpPr>
            <a:cxnSpLocks/>
          </p:cNvCxnSpPr>
          <p:nvPr/>
        </p:nvCxnSpPr>
        <p:spPr>
          <a:xfrm flipH="1">
            <a:off x="9125705" y="3024948"/>
            <a:ext cx="1267220" cy="0"/>
          </a:xfrm>
          <a:prstGeom prst="line">
            <a:avLst/>
          </a:prstGeom>
          <a:noFill/>
          <a:ln w="57150" cap="flat" cmpd="sng" algn="ctr">
            <a:solidFill>
              <a:srgbClr val="E03C31"/>
            </a:solidFill>
            <a:prstDash val="solid"/>
            <a:miter lim="800000"/>
          </a:ln>
          <a:effectLst/>
        </p:spPr>
      </p:cxnSp>
      <p:sp>
        <p:nvSpPr>
          <p:cNvPr id="75" name="TextBox 74">
            <a:extLst>
              <a:ext uri="{FF2B5EF4-FFF2-40B4-BE49-F238E27FC236}">
                <a16:creationId xmlns:a16="http://schemas.microsoft.com/office/drawing/2014/main" id="{09938083-7B92-4D4C-86F5-0269D5E66E05}"/>
              </a:ext>
            </a:extLst>
          </p:cNvPr>
          <p:cNvSpPr txBox="1"/>
          <p:nvPr/>
        </p:nvSpPr>
        <p:spPr>
          <a:xfrm>
            <a:off x="9375950" y="3746277"/>
            <a:ext cx="2551161" cy="1815882"/>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-3</a:t>
            </a:r>
            <a:r>
              <a:rPr kumimoji="0" lang="en-US" sz="1600" b="0" i="0" u="none" strike="noStrike" kern="1200" cap="none" spc="0" normalizeH="0" baseline="30000" noProof="0">
                <a:ln>
                  <a:noFill/>
                </a:ln>
                <a:solidFill>
                  <a:srgbClr val="000000"/>
                </a:solidFill>
                <a:effectLst/>
                <a:uLnTx/>
                <a:uFillTx/>
                <a:latin typeface="Arial" panose="020B0604020202020204"/>
                <a:ea typeface="ＭＳ Ｐゴシック" pitchFamily="80" charset="-128"/>
                <a:cs typeface="+mn-cs"/>
              </a:rPr>
              <a:t>rd</a:t>
            </a: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party COGS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COGS Leaf</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COGS NTM</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COGS Conversion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 COGS Freight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a:t>
            </a:r>
          </a:p>
        </p:txBody>
      </p:sp>
      <p:sp>
        <p:nvSpPr>
          <p:cNvPr id="76" name="Rectangle 75">
            <a:extLst>
              <a:ext uri="{FF2B5EF4-FFF2-40B4-BE49-F238E27FC236}">
                <a16:creationId xmlns:a16="http://schemas.microsoft.com/office/drawing/2014/main" id="{9214E77E-B7FE-4522-AE7D-0D60921B7469}"/>
              </a:ext>
            </a:extLst>
          </p:cNvPr>
          <p:cNvSpPr/>
          <p:nvPr/>
        </p:nvSpPr>
        <p:spPr>
          <a:xfrm>
            <a:off x="9304926" y="3337137"/>
            <a:ext cx="2633467" cy="371234"/>
          </a:xfrm>
          <a:prstGeom prst="rect">
            <a:avLst/>
          </a:prstGeom>
          <a:solidFill>
            <a:schemeClr val="accent6">
              <a:lumMod val="60000"/>
              <a:lumOff val="40000"/>
            </a:schemeClr>
          </a:solidFill>
          <a:ln w="12700" cap="flat" cmpd="sng" algn="ctr">
            <a:solidFill>
              <a:schemeClr val="bg1">
                <a:lumMod val="65000"/>
              </a:scheme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77" name="TextBox 76">
            <a:extLst>
              <a:ext uri="{FF2B5EF4-FFF2-40B4-BE49-F238E27FC236}">
                <a16:creationId xmlns:a16="http://schemas.microsoft.com/office/drawing/2014/main" id="{C19608D7-1512-45A9-AB84-2316F7643402}"/>
              </a:ext>
            </a:extLst>
          </p:cNvPr>
          <p:cNvSpPr txBox="1"/>
          <p:nvPr/>
        </p:nvSpPr>
        <p:spPr>
          <a:xfrm>
            <a:off x="9393123" y="3365574"/>
            <a:ext cx="2566417" cy="3385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COGS SPLIT </a:t>
            </a:r>
          </a:p>
        </p:txBody>
      </p:sp>
      <p:sp>
        <p:nvSpPr>
          <p:cNvPr id="78" name="TextBox 77">
            <a:extLst>
              <a:ext uri="{FF2B5EF4-FFF2-40B4-BE49-F238E27FC236}">
                <a16:creationId xmlns:a16="http://schemas.microsoft.com/office/drawing/2014/main" id="{28C9580F-A23E-491F-819E-C7FAA91B8101}"/>
              </a:ext>
            </a:extLst>
          </p:cNvPr>
          <p:cNvSpPr txBox="1"/>
          <p:nvPr/>
        </p:nvSpPr>
        <p:spPr>
          <a:xfrm>
            <a:off x="2538986" y="6242796"/>
            <a:ext cx="2221991" cy="338554"/>
          </a:xfrm>
          <a:prstGeom prst="rect">
            <a:avLst/>
          </a:prstGeom>
          <a:solidFill>
            <a:srgbClr val="FFFFFF"/>
          </a:solidFill>
          <a:ln>
            <a:solidFill>
              <a:srgbClr val="407EC9">
                <a:lumMod val="50000"/>
              </a:srgbClr>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Financial flow</a:t>
            </a:r>
          </a:p>
        </p:txBody>
      </p:sp>
      <p:sp>
        <p:nvSpPr>
          <p:cNvPr id="79" name="TextBox 78">
            <a:extLst>
              <a:ext uri="{FF2B5EF4-FFF2-40B4-BE49-F238E27FC236}">
                <a16:creationId xmlns:a16="http://schemas.microsoft.com/office/drawing/2014/main" id="{B0F9B019-036A-4CD6-BDD2-1BC7AC9EF046}"/>
              </a:ext>
            </a:extLst>
          </p:cNvPr>
          <p:cNvSpPr txBox="1"/>
          <p:nvPr/>
        </p:nvSpPr>
        <p:spPr>
          <a:xfrm>
            <a:off x="583686" y="1847782"/>
            <a:ext cx="1810512"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Customer</a:t>
            </a:r>
          </a:p>
        </p:txBody>
      </p:sp>
      <p:cxnSp>
        <p:nvCxnSpPr>
          <p:cNvPr id="80" name="Straight Connector 79">
            <a:extLst>
              <a:ext uri="{FF2B5EF4-FFF2-40B4-BE49-F238E27FC236}">
                <a16:creationId xmlns:a16="http://schemas.microsoft.com/office/drawing/2014/main" id="{27D4E6D4-3655-486A-B899-C1AC02DAF95C}"/>
              </a:ext>
            </a:extLst>
          </p:cNvPr>
          <p:cNvCxnSpPr/>
          <p:nvPr/>
        </p:nvCxnSpPr>
        <p:spPr>
          <a:xfrm>
            <a:off x="388630" y="2309447"/>
            <a:ext cx="2467344" cy="0"/>
          </a:xfrm>
          <a:prstGeom prst="line">
            <a:avLst/>
          </a:prstGeom>
          <a:noFill/>
          <a:ln w="6350" cap="flat" cmpd="sng" algn="ctr">
            <a:solidFill>
              <a:srgbClr val="000000"/>
            </a:solidFill>
            <a:prstDash val="solid"/>
            <a:miter lim="800000"/>
          </a:ln>
          <a:effectLst/>
        </p:spPr>
      </p:cxnSp>
      <p:cxnSp>
        <p:nvCxnSpPr>
          <p:cNvPr id="81" name="Straight Connector 80">
            <a:extLst>
              <a:ext uri="{FF2B5EF4-FFF2-40B4-BE49-F238E27FC236}">
                <a16:creationId xmlns:a16="http://schemas.microsoft.com/office/drawing/2014/main" id="{98BCC722-72AD-44BB-8BF7-17F8CFDAF1CF}"/>
              </a:ext>
            </a:extLst>
          </p:cNvPr>
          <p:cNvCxnSpPr/>
          <p:nvPr/>
        </p:nvCxnSpPr>
        <p:spPr>
          <a:xfrm>
            <a:off x="3499113" y="2308510"/>
            <a:ext cx="2467344" cy="0"/>
          </a:xfrm>
          <a:prstGeom prst="line">
            <a:avLst/>
          </a:prstGeom>
          <a:noFill/>
          <a:ln w="6350" cap="flat" cmpd="sng" algn="ctr">
            <a:solidFill>
              <a:srgbClr val="000000"/>
            </a:solidFill>
            <a:prstDash val="solid"/>
            <a:miter lim="800000"/>
          </a:ln>
          <a:effectLst/>
        </p:spPr>
      </p:cxnSp>
      <p:cxnSp>
        <p:nvCxnSpPr>
          <p:cNvPr id="82" name="Straight Connector 81">
            <a:extLst>
              <a:ext uri="{FF2B5EF4-FFF2-40B4-BE49-F238E27FC236}">
                <a16:creationId xmlns:a16="http://schemas.microsoft.com/office/drawing/2014/main" id="{54419921-8729-45D7-8019-3D7A29749CF0}"/>
              </a:ext>
            </a:extLst>
          </p:cNvPr>
          <p:cNvCxnSpPr>
            <a:cxnSpLocks/>
          </p:cNvCxnSpPr>
          <p:nvPr/>
        </p:nvCxnSpPr>
        <p:spPr>
          <a:xfrm>
            <a:off x="6519672" y="2291365"/>
            <a:ext cx="2371344" cy="0"/>
          </a:xfrm>
          <a:prstGeom prst="line">
            <a:avLst/>
          </a:prstGeom>
          <a:noFill/>
          <a:ln w="6350" cap="flat" cmpd="sng" algn="ctr">
            <a:solidFill>
              <a:srgbClr val="000000"/>
            </a:solidFill>
            <a:prstDash val="solid"/>
            <a:miter lim="800000"/>
          </a:ln>
          <a:effectLst/>
        </p:spPr>
      </p:cxnSp>
      <p:pic>
        <p:nvPicPr>
          <p:cNvPr id="83" name="Graphic 82" descr="Warning">
            <a:extLst>
              <a:ext uri="{FF2B5EF4-FFF2-40B4-BE49-F238E27FC236}">
                <a16:creationId xmlns:a16="http://schemas.microsoft.com/office/drawing/2014/main" id="{A0BD165E-203F-4D11-AFBA-1138248FE3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0767" y="2085299"/>
            <a:ext cx="456646" cy="456646"/>
          </a:xfrm>
          <a:prstGeom prst="rect">
            <a:avLst/>
          </a:prstGeom>
        </p:spPr>
      </p:pic>
    </p:spTree>
    <p:extLst>
      <p:ext uri="{BB962C8B-B14F-4D97-AF65-F5344CB8AC3E}">
        <p14:creationId xmlns:p14="http://schemas.microsoft.com/office/powerpoint/2010/main" val="81767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600C-4D80-4EAC-BD5F-88D12F3CF067}"/>
              </a:ext>
            </a:extLst>
          </p:cNvPr>
          <p:cNvSpPr>
            <a:spLocks noGrp="1"/>
          </p:cNvSpPr>
          <p:nvPr>
            <p:ph type="title"/>
          </p:nvPr>
        </p:nvSpPr>
        <p:spPr/>
        <p:txBody>
          <a:bodyPr/>
          <a:lstStyle/>
          <a:p>
            <a:r>
              <a:rPr lang="en-GB"/>
              <a:t>Market P&amp;L Lines / JTIG / JTIO</a:t>
            </a:r>
            <a:endParaRPr lang="en-US"/>
          </a:p>
        </p:txBody>
      </p:sp>
      <p:sp>
        <p:nvSpPr>
          <p:cNvPr id="4" name="Footer Placeholder 3">
            <a:extLst>
              <a:ext uri="{FF2B5EF4-FFF2-40B4-BE49-F238E27FC236}">
                <a16:creationId xmlns:a16="http://schemas.microsoft.com/office/drawing/2014/main" id="{6DF7DCD7-4EA5-4F29-9923-B8DC49D2947F}"/>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47D4825-9FD5-4E36-8F21-80C92A50C7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Slide Number Placeholder 2">
            <a:extLst>
              <a:ext uri="{FF2B5EF4-FFF2-40B4-BE49-F238E27FC236}">
                <a16:creationId xmlns:a16="http://schemas.microsoft.com/office/drawing/2014/main" id="{671BCA29-C313-4307-84F2-E5638FA14BB1}"/>
              </a:ext>
            </a:extLst>
          </p:cNvPr>
          <p:cNvSpPr txBox="1">
            <a:spLocks/>
          </p:cNvSpPr>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1A6A2304-23DC-2B46-BD14-F082077842FF}" type="slidenum">
              <a:rPr kumimoji="0" lang="en-US" sz="1600" b="0" i="0" u="none" strike="noStrike" kern="1200" cap="none" spc="0" normalizeH="0" baseline="0" noProof="0" smtClean="0">
                <a:ln>
                  <a:noFill/>
                </a:ln>
                <a:solidFill>
                  <a:srgbClr val="FFFFFF"/>
                </a:solidFill>
                <a:effectLst/>
                <a:uLnTx/>
                <a:uFillTx/>
                <a:latin typeface="Arial" panose="020B0604020202020204"/>
                <a:ea typeface="ＭＳ Ｐゴシック" pitchFamily="80" charset="-128"/>
                <a:cs typeface="+mn-cs"/>
              </a:rPr>
              <a:pPr marL="0" marR="0" lvl="0" indent="0" algn="l" defTabSz="914400" rtl="0" eaLnBrk="1" fontAlgn="base" latinLnBrk="0" hangingPunct="1">
                <a:lnSpc>
                  <a:spcPct val="100000"/>
                </a:lnSpc>
                <a:spcBef>
                  <a:spcPct val="0"/>
                </a:spcBef>
                <a:spcAft>
                  <a:spcPct val="0"/>
                </a:spcAft>
                <a:buClrTx/>
                <a:buSzTx/>
                <a:buFontTx/>
                <a:buNone/>
                <a:tabLst/>
                <a:defRPr/>
              </a:pPr>
              <a:t>22</a:t>
            </a:fld>
            <a:endParaRPr kumimoji="0" lang="en-US" sz="1600" b="0" i="0" u="none" strike="noStrike" kern="120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sp>
        <p:nvSpPr>
          <p:cNvPr id="16" name="Rounded Rectangle 10">
            <a:extLst>
              <a:ext uri="{FF2B5EF4-FFF2-40B4-BE49-F238E27FC236}">
                <a16:creationId xmlns:a16="http://schemas.microsoft.com/office/drawing/2014/main" id="{D87599EB-315B-485D-A147-6C4024D2A2EF}"/>
              </a:ext>
            </a:extLst>
          </p:cNvPr>
          <p:cNvSpPr/>
          <p:nvPr/>
        </p:nvSpPr>
        <p:spPr bwMode="auto">
          <a:xfrm>
            <a:off x="9875730" y="1246198"/>
            <a:ext cx="1478071" cy="290893"/>
          </a:xfrm>
          <a:prstGeom prst="roundRect">
            <a:avLst/>
          </a:prstGeom>
          <a:solidFill>
            <a:srgbClr val="88D5B8">
              <a:lumMod val="60000"/>
              <a:lumOff val="40000"/>
            </a:srgbClr>
          </a:solidFill>
          <a:ln>
            <a:noFill/>
          </a:ln>
          <a:effectLst/>
        </p:spPr>
        <p:txBody>
          <a:bodyPr vert="horz" wrap="square" lIns="0" tIns="0" rIns="0" bIns="0" numCol="1" rtlCol="0" anchor="ctr" anchorCtr="1" compatLnSpc="1">
            <a:prstTxWarp prst="textNoShape">
              <a:avLst/>
            </a:prstTxWarp>
          </a:bodyPr>
          <a:lstStyle/>
          <a:p>
            <a:pPr marL="0" marR="0" lvl="0" indent="0" algn="l" defTabSz="742950" rtl="0" eaLnBrk="1" fontAlgn="base" latinLnBrk="0" hangingPunct="1">
              <a:lnSpc>
                <a:spcPct val="100000"/>
              </a:lnSpc>
              <a:spcBef>
                <a:spcPct val="20000"/>
              </a:spcBef>
              <a:spcAft>
                <a:spcPct val="0"/>
              </a:spcAft>
              <a:buClrTx/>
              <a:buSzTx/>
              <a:buFontTx/>
              <a:buNone/>
              <a:tabLst/>
              <a:defRPr/>
            </a:pPr>
            <a:r>
              <a:rPr kumimoji="0" lang="en-US" sz="900" b="1" i="0" u="none" strike="noStrike" kern="0" cap="none" spc="0" normalizeH="0" baseline="0" noProof="0">
                <a:ln>
                  <a:noFill/>
                </a:ln>
                <a:solidFill>
                  <a:srgbClr val="122632"/>
                </a:solidFill>
                <a:effectLst/>
                <a:uLnTx/>
                <a:uFillTx/>
                <a:latin typeface="Arial" panose="020B0604020202020204"/>
                <a:ea typeface="ＭＳ Ｐゴシック" charset="0"/>
                <a:cs typeface="+mn-cs"/>
              </a:rPr>
              <a:t>COGS split on PC </a:t>
            </a:r>
            <a:br>
              <a:rPr kumimoji="0" lang="en-US" sz="900" b="1" i="0" u="none" strike="noStrike" kern="0" cap="none" spc="0" normalizeH="0" baseline="0" noProof="0">
                <a:ln>
                  <a:noFill/>
                </a:ln>
                <a:solidFill>
                  <a:srgbClr val="122632"/>
                </a:solidFill>
                <a:effectLst/>
                <a:uLnTx/>
                <a:uFillTx/>
                <a:latin typeface="Arial" panose="020B0604020202020204"/>
                <a:ea typeface="ＭＳ Ｐゴシック" charset="0"/>
                <a:cs typeface="+mn-cs"/>
              </a:rPr>
            </a:br>
            <a:r>
              <a:rPr kumimoji="0" lang="en-US" sz="900" b="1" i="0" u="none" strike="noStrike" kern="0" cap="none" spc="0" normalizeH="0" baseline="0" noProof="0">
                <a:ln>
                  <a:noFill/>
                </a:ln>
                <a:solidFill>
                  <a:srgbClr val="122632"/>
                </a:solidFill>
                <a:effectLst/>
                <a:uLnTx/>
                <a:uFillTx/>
                <a:latin typeface="Arial" panose="020B0604020202020204"/>
                <a:ea typeface="ＭＳ Ｐゴシック" charset="0"/>
                <a:cs typeface="+mn-cs"/>
              </a:rPr>
              <a:t>Market and Factory *</a:t>
            </a:r>
          </a:p>
        </p:txBody>
      </p:sp>
      <p:sp>
        <p:nvSpPr>
          <p:cNvPr id="20" name="Rectangle: Rounded Corners 19">
            <a:extLst>
              <a:ext uri="{FF2B5EF4-FFF2-40B4-BE49-F238E27FC236}">
                <a16:creationId xmlns:a16="http://schemas.microsoft.com/office/drawing/2014/main" id="{B143889C-4B71-4C9A-9F8A-FF95CFA5B56A}"/>
              </a:ext>
            </a:extLst>
          </p:cNvPr>
          <p:cNvSpPr/>
          <p:nvPr/>
        </p:nvSpPr>
        <p:spPr>
          <a:xfrm>
            <a:off x="1514061" y="5955021"/>
            <a:ext cx="9839740" cy="532683"/>
          </a:xfrm>
          <a:prstGeom prst="roundRect">
            <a:avLst/>
          </a:prstGeom>
          <a:noFill/>
          <a:ln w="12700" cap="flat" cmpd="sng" algn="ctr">
            <a:no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1" u="none" strike="noStrike" kern="0" cap="none" spc="0" normalizeH="0" baseline="0" noProof="0">
                <a:ln>
                  <a:noFill/>
                </a:ln>
                <a:solidFill>
                  <a:srgbClr val="FFFFFF">
                    <a:lumMod val="50000"/>
                  </a:srgbClr>
                </a:solidFill>
                <a:effectLst/>
                <a:uLnTx/>
                <a:uFillTx/>
                <a:latin typeface="Arial" panose="020B0604020202020204"/>
                <a:ea typeface="+mn-ea"/>
                <a:cs typeface="+mn-cs"/>
              </a:rPr>
              <a:t>Note: COGS split standard during the month and variances at month end of ML process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1" u="none" strike="noStrike" kern="0" cap="none" spc="0" normalizeH="0" baseline="0" noProof="0">
                <a:ln>
                  <a:noFill/>
                </a:ln>
                <a:solidFill>
                  <a:srgbClr val="FFFFFF">
                    <a:lumMod val="50000"/>
                  </a:srgbClr>
                </a:solidFill>
                <a:effectLst/>
                <a:uLnTx/>
                <a:uFillTx/>
                <a:latin typeface="Arial" panose="020B0604020202020204"/>
                <a:ea typeface="+mn-ea"/>
                <a:cs typeface="+mn-cs"/>
              </a:rPr>
              <a:t>* COGS split logic standard and variances should reflect current set-up in ECC. Promo costs have been defined during Fit Gap. On Freight their can be exceptions to the general rule of allocating variances to Market. Please verify results for your Market / Factory after Month End Close   </a:t>
            </a:r>
          </a:p>
        </p:txBody>
      </p:sp>
      <p:pic>
        <p:nvPicPr>
          <p:cNvPr id="13" name="Picture 12">
            <a:extLst>
              <a:ext uri="{FF2B5EF4-FFF2-40B4-BE49-F238E27FC236}">
                <a16:creationId xmlns:a16="http://schemas.microsoft.com/office/drawing/2014/main" id="{9469A357-BCA8-4C73-B640-23C4CF6EB41A}"/>
              </a:ext>
            </a:extLst>
          </p:cNvPr>
          <p:cNvPicPr>
            <a:picLocks noChangeAspect="1"/>
          </p:cNvPicPr>
          <p:nvPr/>
        </p:nvPicPr>
        <p:blipFill>
          <a:blip r:embed="rId2"/>
          <a:stretch>
            <a:fillRect/>
          </a:stretch>
        </p:blipFill>
        <p:spPr>
          <a:xfrm>
            <a:off x="8619883" y="349317"/>
            <a:ext cx="1147391" cy="961713"/>
          </a:xfrm>
          <a:prstGeom prst="rect">
            <a:avLst/>
          </a:prstGeom>
        </p:spPr>
      </p:pic>
      <p:graphicFrame>
        <p:nvGraphicFramePr>
          <p:cNvPr id="22" name="Table 21">
            <a:extLst>
              <a:ext uri="{FF2B5EF4-FFF2-40B4-BE49-F238E27FC236}">
                <a16:creationId xmlns:a16="http://schemas.microsoft.com/office/drawing/2014/main" id="{16DE4083-7913-43A5-A421-145C1826B3BE}"/>
              </a:ext>
            </a:extLst>
          </p:cNvPr>
          <p:cNvGraphicFramePr>
            <a:graphicFrameLocks noGrp="1"/>
          </p:cNvGraphicFramePr>
          <p:nvPr>
            <p:extLst/>
          </p:nvPr>
        </p:nvGraphicFramePr>
        <p:xfrm>
          <a:off x="1057732" y="1588698"/>
          <a:ext cx="10221068" cy="4333946"/>
        </p:xfrm>
        <a:graphic>
          <a:graphicData uri="http://schemas.openxmlformats.org/drawingml/2006/table">
            <a:tbl>
              <a:tblPr/>
              <a:tblGrid>
                <a:gridCol w="835368">
                  <a:extLst>
                    <a:ext uri="{9D8B030D-6E8A-4147-A177-3AD203B41FA5}">
                      <a16:colId xmlns:a16="http://schemas.microsoft.com/office/drawing/2014/main" val="601257691"/>
                    </a:ext>
                  </a:extLst>
                </a:gridCol>
                <a:gridCol w="892256">
                  <a:extLst>
                    <a:ext uri="{9D8B030D-6E8A-4147-A177-3AD203B41FA5}">
                      <a16:colId xmlns:a16="http://schemas.microsoft.com/office/drawing/2014/main" val="1059383361"/>
                    </a:ext>
                  </a:extLst>
                </a:gridCol>
                <a:gridCol w="667994">
                  <a:extLst>
                    <a:ext uri="{9D8B030D-6E8A-4147-A177-3AD203B41FA5}">
                      <a16:colId xmlns:a16="http://schemas.microsoft.com/office/drawing/2014/main" val="2732519962"/>
                    </a:ext>
                  </a:extLst>
                </a:gridCol>
                <a:gridCol w="2205780">
                  <a:extLst>
                    <a:ext uri="{9D8B030D-6E8A-4147-A177-3AD203B41FA5}">
                      <a16:colId xmlns:a16="http://schemas.microsoft.com/office/drawing/2014/main" val="626501960"/>
                    </a:ext>
                  </a:extLst>
                </a:gridCol>
                <a:gridCol w="611028">
                  <a:extLst>
                    <a:ext uri="{9D8B030D-6E8A-4147-A177-3AD203B41FA5}">
                      <a16:colId xmlns:a16="http://schemas.microsoft.com/office/drawing/2014/main" val="1138729608"/>
                    </a:ext>
                  </a:extLst>
                </a:gridCol>
                <a:gridCol w="3711837">
                  <a:extLst>
                    <a:ext uri="{9D8B030D-6E8A-4147-A177-3AD203B41FA5}">
                      <a16:colId xmlns:a16="http://schemas.microsoft.com/office/drawing/2014/main" val="1578752200"/>
                    </a:ext>
                  </a:extLst>
                </a:gridCol>
                <a:gridCol w="610839">
                  <a:extLst>
                    <a:ext uri="{9D8B030D-6E8A-4147-A177-3AD203B41FA5}">
                      <a16:colId xmlns:a16="http://schemas.microsoft.com/office/drawing/2014/main" val="791131277"/>
                    </a:ext>
                  </a:extLst>
                </a:gridCol>
                <a:gridCol w="685966">
                  <a:extLst>
                    <a:ext uri="{9D8B030D-6E8A-4147-A177-3AD203B41FA5}">
                      <a16:colId xmlns:a16="http://schemas.microsoft.com/office/drawing/2014/main" val="879232747"/>
                    </a:ext>
                  </a:extLst>
                </a:gridCol>
              </a:tblGrid>
              <a:tr h="286618">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endParaRPr lang="en-US" sz="900" b="1" i="0" u="none" strike="noStrike">
                        <a:solidFill>
                          <a:schemeClr val="bg1"/>
                        </a:solidFill>
                        <a:effectLst/>
                        <a:latin typeface="Calibri" panose="020F0502020204030204" pitchFamily="34" charset="0"/>
                      </a:endParaRPr>
                    </a:p>
                  </a:txBody>
                  <a:tcPr marL="5722" marR="5722" marT="5722" marB="0">
                    <a:lnL w="12700" cmpd="sng">
                      <a:solidFill>
                        <a:srgbClr val="FFFFFF"/>
                      </a:solidFill>
                    </a:lnL>
                    <a:lnR w="12700" cmpd="sng">
                      <a:solidFill>
                        <a:srgbClr val="FFFFFF"/>
                      </a:solidFill>
                    </a:lnR>
                    <a:lnT w="12700" cmpd="sng">
                      <a:solidFill>
                        <a:srgbClr val="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1" i="0" u="none" strike="noStrike">
                          <a:solidFill>
                            <a:schemeClr val="bg1"/>
                          </a:solidFill>
                          <a:effectLst/>
                          <a:latin typeface="Calibri" panose="020F0502020204030204" pitchFamily="34" charset="0"/>
                        </a:rPr>
                        <a:t>Market P&amp;L Line</a:t>
                      </a:r>
                    </a:p>
                  </a:txBody>
                  <a:tcPr marL="5722" marR="5722" marT="5722" marB="0">
                    <a:lnL w="12700" cmpd="sng">
                      <a:solidFill>
                        <a:srgbClr val="FFFFFF"/>
                      </a:solidFill>
                    </a:lnL>
                    <a:lnR w="12700" cmpd="sng">
                      <a:solidFill>
                        <a:srgbClr val="FFFFFF"/>
                      </a:solidFill>
                    </a:lnR>
                    <a:lnT w="12700" cmpd="sng">
                      <a:solidFill>
                        <a:srgbClr val="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1" u="none" strike="noStrike">
                          <a:solidFill>
                            <a:schemeClr val="bg1"/>
                          </a:solidFill>
                          <a:effectLst/>
                        </a:rPr>
                        <a:t>New JTIG</a:t>
                      </a:r>
                      <a:endParaRPr lang="en-US" sz="900" b="1" i="0" u="none" strike="noStrike">
                        <a:solidFill>
                          <a:schemeClr val="bg1"/>
                        </a:solidFill>
                        <a:effectLst/>
                        <a:latin typeface="Arial" panose="020B0604020202020204" pitchFamily="34" charset="0"/>
                      </a:endParaRPr>
                    </a:p>
                    <a:p>
                      <a:pPr algn="ctr" fontAlgn="b"/>
                      <a:endParaRPr lang="en-US" sz="900" b="1" i="0" u="none" strike="noStrike">
                        <a:solidFill>
                          <a:schemeClr val="bg1"/>
                        </a:solidFill>
                        <a:effectLst/>
                        <a:latin typeface="Calibri" panose="020F0502020204030204" pitchFamily="34" charset="0"/>
                      </a:endParaRPr>
                    </a:p>
                  </a:txBody>
                  <a:tcPr marL="5722" marR="5722" marT="5722" marB="0">
                    <a:lnL w="12700" cmpd="sng">
                      <a:solidFill>
                        <a:srgbClr val="FFFFFF"/>
                      </a:solidFill>
                    </a:lnL>
                    <a:lnR w="12700" cmpd="sng">
                      <a:solidFill>
                        <a:srgbClr val="FFFFFF"/>
                      </a:solidFill>
                    </a:lnR>
                    <a:lnT w="12700" cmpd="sng">
                      <a:solidFill>
                        <a:srgbClr val="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1" u="none" strike="noStrike" kern="1200">
                          <a:solidFill>
                            <a:schemeClr val="bg1"/>
                          </a:solidFill>
                          <a:effectLst/>
                          <a:latin typeface="+mn-lt"/>
                          <a:ea typeface="+mn-ea"/>
                          <a:cs typeface="+mn-cs"/>
                        </a:rPr>
                        <a:t>New JTIG Description</a:t>
                      </a:r>
                    </a:p>
                  </a:txBody>
                  <a:tcPr marL="5722" marR="5722" marT="5722" marB="0">
                    <a:lnL w="12700" cmpd="sng">
                      <a:solidFill>
                        <a:srgbClr val="FFFFFF"/>
                      </a:solidFill>
                    </a:lnL>
                    <a:lnR w="12700" cmpd="sng">
                      <a:solidFill>
                        <a:srgbClr val="FFFFFF"/>
                      </a:solidFill>
                    </a:lnR>
                    <a:lnT w="12700" cmpd="sng">
                      <a:solidFill>
                        <a:srgbClr val="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1" u="none" strike="noStrike" kern="1200">
                          <a:solidFill>
                            <a:schemeClr val="bg1"/>
                          </a:solidFill>
                          <a:effectLst/>
                          <a:latin typeface="+mn-lt"/>
                          <a:ea typeface="+mn-ea"/>
                          <a:cs typeface="+mn-cs"/>
                        </a:rPr>
                        <a:t>New  JTIO</a:t>
                      </a:r>
                    </a:p>
                  </a:txBody>
                  <a:tcPr marL="5722" marR="5722" marT="5722" marB="0">
                    <a:lnL w="12700" cmpd="sng">
                      <a:solidFill>
                        <a:srgbClr val="FFFFFF"/>
                      </a:solidFill>
                    </a:lnL>
                    <a:lnR w="12700" cmpd="sng">
                      <a:solidFill>
                        <a:srgbClr val="FFFFFF"/>
                      </a:solidFill>
                    </a:lnR>
                    <a:lnT w="12700" cmpd="sng">
                      <a:solidFill>
                        <a:srgbClr val="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1" u="none" strike="noStrike" kern="1200">
                          <a:solidFill>
                            <a:schemeClr val="bg1"/>
                          </a:solidFill>
                          <a:effectLst/>
                          <a:latin typeface="+mn-lt"/>
                          <a:ea typeface="+mn-ea"/>
                          <a:cs typeface="+mn-cs"/>
                        </a:rPr>
                        <a:t>New JTIO description</a:t>
                      </a:r>
                    </a:p>
                  </a:txBody>
                  <a:tcPr marL="5722" marR="5722" marT="5722" marB="0">
                    <a:lnL w="12700" cmpd="sng">
                      <a:solidFill>
                        <a:srgbClr val="FFFFFF"/>
                      </a:solidFill>
                    </a:lnL>
                    <a:lnR w="12700" cmpd="sng">
                      <a:solidFill>
                        <a:srgbClr val="FFFFFF"/>
                      </a:solidFill>
                    </a:lnR>
                    <a:lnT w="12700" cmpd="sng">
                      <a:solidFill>
                        <a:srgbClr val="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1" u="none" strike="noStrike" kern="1200">
                          <a:solidFill>
                            <a:schemeClr val="bg1"/>
                          </a:solidFill>
                          <a:effectLst/>
                          <a:latin typeface="+mn-lt"/>
                          <a:ea typeface="+mn-ea"/>
                          <a:cs typeface="+mn-cs"/>
                        </a:rPr>
                        <a:t>Standard cost</a:t>
                      </a:r>
                    </a:p>
                  </a:txBody>
                  <a:tcPr marL="6350" marR="6350" marT="635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1" u="none" strike="noStrike" kern="1200">
                          <a:solidFill>
                            <a:schemeClr val="bg1"/>
                          </a:solidFill>
                          <a:effectLst/>
                          <a:latin typeface="+mn-lt"/>
                          <a:ea typeface="+mn-ea"/>
                          <a:cs typeface="+mn-cs"/>
                        </a:rPr>
                        <a:t>Variances</a:t>
                      </a:r>
                    </a:p>
                  </a:txBody>
                  <a:tcPr marL="6350" marR="6350" marT="635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4249649525"/>
                  </a:ext>
                </a:extLst>
              </a:tr>
              <a:tr h="289728">
                <a:tc rowSpan="13">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kern="1200">
                          <a:solidFill>
                            <a:srgbClr val="000000"/>
                          </a:solidFill>
                          <a:effectLst/>
                          <a:latin typeface="Arial" panose="020B0604020202020204" pitchFamily="34" charset="0"/>
                          <a:ea typeface="+mn-ea"/>
                          <a:cs typeface="Arial" panose="020B0604020202020204" pitchFamily="34" charset="0"/>
                        </a:rPr>
                        <a:t>Product Cost</a:t>
                      </a:r>
                    </a:p>
                    <a:p>
                      <a:pPr marL="0" marR="0" lvl="0" indent="0" algn="ctr" defTabSz="914126" rtl="0" eaLnBrk="1" fontAlgn="b" latinLnBrk="0" hangingPunct="1">
                        <a:lnSpc>
                          <a:spcPct val="100000"/>
                        </a:lnSpc>
                        <a:spcBef>
                          <a:spcPts val="0"/>
                        </a:spcBef>
                        <a:spcAft>
                          <a:spcPts val="0"/>
                        </a:spcAft>
                        <a:buClrTx/>
                        <a:buSzTx/>
                        <a:buFontTx/>
                        <a:buNone/>
                        <a:tabLst/>
                        <a:defRPr/>
                      </a:pPr>
                      <a:r>
                        <a:rPr lang="en-US" sz="900" b="0" i="0" u="none" strike="noStrike" kern="1200">
                          <a:solidFill>
                            <a:srgbClr val="000000"/>
                          </a:solidFill>
                          <a:effectLst/>
                          <a:latin typeface="Arial" panose="020B0604020202020204" pitchFamily="34" charset="0"/>
                          <a:ea typeface="+mn-ea"/>
                          <a:cs typeface="Arial" panose="020B0604020202020204" pitchFamily="34" charset="0"/>
                        </a:rPr>
                        <a:t>Other Cogs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5">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Purchased Product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40720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Purchased Prod, Outside Sales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914126" rtl="0" eaLnBrk="1" fontAlgn="b" latinLnBrk="0" hangingPunct="1"/>
                      <a:r>
                        <a:rPr lang="en-US" sz="900" b="0" i="0" u="none" strike="noStrike" kern="1200">
                          <a:solidFill>
                            <a:schemeClr val="tx1"/>
                          </a:solidFill>
                          <a:effectLst/>
                          <a:latin typeface="Arial" panose="020B0604020202020204" pitchFamily="34" charset="0"/>
                          <a:ea typeface="+mn-ea"/>
                          <a:cs typeface="Arial" panose="020B0604020202020204" pitchFamily="34" charset="0"/>
                        </a:rPr>
                        <a:t>414010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l" defTabSz="914126" rtl="0" eaLnBrk="1" fontAlgn="b" latinLnBrk="0" hangingPunct="1"/>
                      <a:r>
                        <a:rPr lang="en-US" sz="900" b="0" i="0" u="none" strike="noStrike" kern="1200">
                          <a:solidFill>
                            <a:schemeClr val="tx1"/>
                          </a:solidFill>
                          <a:effectLst/>
                          <a:latin typeface="Arial" panose="020B0604020202020204" pitchFamily="34" charset="0"/>
                          <a:ea typeface="+mn-ea"/>
                          <a:cs typeface="Arial" panose="020B0604020202020204" pitchFamily="34" charset="0"/>
                        </a:rPr>
                        <a:t>COGS 3 party</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2205294650"/>
                  </a:ext>
                </a:extLst>
              </a:tr>
              <a:tr h="200649">
                <a:tc vMerge="1">
                  <a:txBody>
                    <a:bodyPr/>
                    <a:lstStyle/>
                    <a:p>
                      <a:endParaRPr lang="en-US"/>
                    </a:p>
                  </a:txBody>
                  <a:tcPr/>
                </a:tc>
                <a:tc vMerge="1">
                  <a:txBody>
                    <a:bodyPr/>
                    <a:lstStyle/>
                    <a:p>
                      <a:pPr algn="ctr"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914126" rtl="0" eaLnBrk="1" fontAlgn="b" latinLnBrk="0" hangingPunct="1"/>
                      <a:r>
                        <a:rPr lang="en-US" sz="900" b="0" i="0" u="none" strike="noStrike" kern="1200">
                          <a:solidFill>
                            <a:schemeClr val="tx1"/>
                          </a:solidFill>
                          <a:effectLst/>
                          <a:latin typeface="Arial" panose="020B0604020202020204" pitchFamily="34" charset="0"/>
                          <a:ea typeface="+mn-ea"/>
                          <a:cs typeface="Arial" panose="020B0604020202020204" pitchFamily="34" charset="0"/>
                        </a:rPr>
                        <a:t>414015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l" defTabSz="914126" rtl="0" eaLnBrk="1" fontAlgn="b" latinLnBrk="0" hangingPunct="1"/>
                      <a:r>
                        <a:rPr lang="en-US" sz="900" b="0" i="0" u="none" strike="noStrike" kern="1200">
                          <a:solidFill>
                            <a:schemeClr val="tx1"/>
                          </a:solidFill>
                          <a:effectLst/>
                          <a:latin typeface="Arial" panose="020B0604020202020204" pitchFamily="34" charset="0"/>
                          <a:ea typeface="+mn-ea"/>
                          <a:cs typeface="Arial" panose="020B0604020202020204" pitchFamily="34" charset="0"/>
                        </a:rPr>
                        <a:t>COGS3PartyBTB</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2329130285"/>
                  </a:ext>
                </a:extLst>
              </a:tr>
              <a:tr h="225403">
                <a:tc vMerge="1">
                  <a:txBody>
                    <a:bodyPr/>
                    <a:lstStyle/>
                    <a:p>
                      <a:pPr algn="ctr"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vMerge="1">
                  <a:txBody>
                    <a:bodyPr/>
                    <a:lstStyle/>
                    <a:p>
                      <a:pPr algn="ctr"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0" i="0" u="none" strike="noStrike">
                          <a:solidFill>
                            <a:schemeClr val="tx1"/>
                          </a:solidFill>
                          <a:effectLst/>
                          <a:latin typeface="Arial" panose="020B0604020202020204" pitchFamily="34" charset="0"/>
                          <a:cs typeface="Arial" panose="020B0604020202020204" pitchFamily="34" charset="0"/>
                        </a:rPr>
                        <a:t>40721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kern="1200">
                          <a:solidFill>
                            <a:schemeClr val="tx1"/>
                          </a:solidFill>
                          <a:effectLst/>
                          <a:latin typeface="Arial" panose="020B0604020202020204" pitchFamily="34" charset="0"/>
                          <a:ea typeface="+mn-ea"/>
                          <a:cs typeface="Arial" panose="020B0604020202020204" pitchFamily="34" charset="0"/>
                        </a:rPr>
                        <a:t>Purchased Product - Outside Sales adj.</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0" i="0" u="none" strike="noStrike">
                          <a:solidFill>
                            <a:schemeClr val="tx1"/>
                          </a:solidFill>
                          <a:effectLst/>
                          <a:latin typeface="Arial" panose="020B0604020202020204" pitchFamily="34" charset="0"/>
                          <a:cs typeface="Arial" panose="020B0604020202020204" pitchFamily="34" charset="0"/>
                        </a:rPr>
                        <a:t>414011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 party - Manual</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2417569277"/>
                  </a:ext>
                </a:extLst>
              </a:tr>
              <a:tr h="231516">
                <a:tc vMerge="1">
                  <a:txBody>
                    <a:bodyPr/>
                    <a:lstStyle/>
                    <a:p>
                      <a:endParaRPr lang="en-US"/>
                    </a:p>
                  </a:txBody>
                  <a:tcPr/>
                </a:tc>
                <a:tc vMerge="1">
                  <a:txBody>
                    <a:bodyPr/>
                    <a:lstStyle/>
                    <a:p>
                      <a:pPr algn="ctr"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vMerge="1">
                  <a:txBody>
                    <a:bodyPr/>
                    <a:lstStyle/>
                    <a:p>
                      <a:pPr algn="ctr"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vMerge="1">
                  <a:txBody>
                    <a:bodyPr/>
                    <a:lstStyle/>
                    <a:p>
                      <a:pPr algn="l"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1981743467"/>
                  </a:ext>
                </a:extLst>
              </a:tr>
              <a:tr h="176321">
                <a:tc vMerge="1">
                  <a:txBody>
                    <a:bodyPr/>
                    <a:lstStyle/>
                    <a:p>
                      <a:endParaRPr lang="en-US"/>
                    </a:p>
                  </a:txBody>
                  <a:tcPr/>
                </a:tc>
                <a:tc vMerge="1">
                  <a:txBody>
                    <a:bodyPr/>
                    <a:lstStyle/>
                    <a:p>
                      <a:pPr algn="ctr" fontAlgn="b"/>
                      <a:endParaRPr lang="en-US" sz="90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40437</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914126" rtl="0" eaLnBrk="1" fontAlgn="t" latinLnBrk="0" hangingPunct="1">
                        <a:lnSpc>
                          <a:spcPct val="100000"/>
                        </a:lnSpc>
                        <a:spcBef>
                          <a:spcPts val="0"/>
                        </a:spcBef>
                        <a:spcAft>
                          <a:spcPts val="0"/>
                        </a:spcAft>
                        <a:buClrTx/>
                        <a:buSzTx/>
                        <a:buFontTx/>
                        <a:buNone/>
                        <a:tabLst/>
                        <a:defRPr/>
                      </a:pPr>
                      <a:r>
                        <a:rPr lang="en-US" sz="800" b="0" i="0" u="none" strike="noStrike">
                          <a:solidFill>
                            <a:srgbClr val="000000"/>
                          </a:solidFill>
                          <a:effectLst/>
                          <a:latin typeface="Arial" panose="020B0604020202020204" pitchFamily="34" charset="0"/>
                          <a:cs typeface="Arial" panose="020B0604020202020204" pitchFamily="34" charset="0"/>
                        </a:rPr>
                        <a:t>COGS Other</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rial" panose="020B0604020202020204" pitchFamily="34" charset="0"/>
                          <a:cs typeface="Arial" panose="020B0604020202020204" pitchFamily="34" charset="0"/>
                        </a:rPr>
                        <a:t>404370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Other COGS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3498348689"/>
                  </a:ext>
                </a:extLst>
              </a:tr>
              <a:tr h="287915">
                <a:tc vMerge="1">
                  <a:txBody>
                    <a:bodyPr/>
                    <a:lstStyle/>
                    <a:p>
                      <a:pPr algn="ctr"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Product Cost Leaf</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40431</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 party - Leaf</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404310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 party - Leaf (automated ML entries)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4285393451"/>
                  </a:ext>
                </a:extLst>
              </a:tr>
              <a:tr h="287915">
                <a:tc vMerge="1">
                  <a:txBody>
                    <a:bodyPr/>
                    <a:lstStyle/>
                    <a:p>
                      <a:pPr algn="ctr"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rgbClr val="FFFFFF"/>
                      </a:solidFill>
                      <a:prstDash val="solid"/>
                      <a:round/>
                      <a:headEnd type="none" w="med" len="med"/>
                      <a:tailEnd type="none" w="med" len="med"/>
                    </a:lnT>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kern="1200">
                          <a:solidFill>
                            <a:schemeClr val="tx1"/>
                          </a:solidFill>
                          <a:effectLst/>
                          <a:latin typeface="Arial" panose="020B0604020202020204" pitchFamily="34" charset="0"/>
                          <a:ea typeface="+mn-ea"/>
                          <a:cs typeface="Arial" panose="020B0604020202020204" pitchFamily="34" charset="0"/>
                        </a:rPr>
                        <a:t>Product Cost NTM</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40432</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 party - NTM</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404320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 party - NTM (automated ML entries)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1797164369"/>
                  </a:ext>
                </a:extLst>
              </a:tr>
              <a:tr h="257241">
                <a:tc vMerge="1">
                  <a:txBody>
                    <a:bodyPr/>
                    <a:lstStyle/>
                    <a:p>
                      <a:pPr algn="ctr"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rgbClr val="FFFFFF"/>
                      </a:solidFill>
                      <a:prstDash val="solid"/>
                      <a:round/>
                      <a:headEnd type="none" w="med" len="med"/>
                      <a:tailEnd type="none" w="med" len="med"/>
                    </a:lnT>
                    <a:solidFill>
                      <a:schemeClr val="accent4">
                        <a:lumMod val="20000"/>
                        <a:lumOff val="80000"/>
                      </a:schemeClr>
                    </a:solidFill>
                  </a:tcPr>
                </a:tc>
                <a:tc rowSpan="4">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kern="1200">
                          <a:solidFill>
                            <a:schemeClr val="tx1"/>
                          </a:solidFill>
                          <a:effectLst/>
                          <a:latin typeface="Arial" panose="020B0604020202020204" pitchFamily="34" charset="0"/>
                          <a:ea typeface="+mn-ea"/>
                          <a:cs typeface="Arial" panose="020B0604020202020204" pitchFamily="34" charset="0"/>
                        </a:rPr>
                        <a:t>Product Cost Conversion *</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40433</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3Party - Conv ex. </a:t>
                      </a:r>
                      <a:r>
                        <a:rPr lang="en-US" sz="900" b="0" i="0" u="none" strike="noStrike" err="1">
                          <a:solidFill>
                            <a:schemeClr val="tx1"/>
                          </a:solidFill>
                          <a:effectLst/>
                          <a:latin typeface="Arial" panose="020B0604020202020204" pitchFamily="34" charset="0"/>
                          <a:cs typeface="Arial" panose="020B0604020202020204" pitchFamily="34" charset="0"/>
                        </a:rPr>
                        <a:t>Deprec</a:t>
                      </a:r>
                      <a:r>
                        <a:rPr lang="en-US" sz="900" b="0" i="0" u="none" strike="noStrike">
                          <a:solidFill>
                            <a:schemeClr val="tx1"/>
                          </a:solidFill>
                          <a:effectLst/>
                          <a:latin typeface="Arial" panose="020B0604020202020204" pitchFamily="34" charset="0"/>
                          <a:cs typeface="Arial" panose="020B0604020202020204" pitchFamily="34" charset="0"/>
                        </a:rPr>
                        <a:t>. </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404330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3Party - Conv ex. </a:t>
                      </a:r>
                      <a:r>
                        <a:rPr lang="en-US" sz="900" b="0" i="0" u="none" strike="noStrike" err="1">
                          <a:solidFill>
                            <a:schemeClr val="tx1"/>
                          </a:solidFill>
                          <a:effectLst/>
                          <a:latin typeface="Arial" panose="020B0604020202020204" pitchFamily="34" charset="0"/>
                          <a:cs typeface="Arial" panose="020B0604020202020204" pitchFamily="34" charset="0"/>
                        </a:rPr>
                        <a:t>Deprec</a:t>
                      </a:r>
                      <a:r>
                        <a:rPr lang="en-US" sz="900" b="0" i="0" u="none" strike="noStrike">
                          <a:solidFill>
                            <a:schemeClr val="tx1"/>
                          </a:solidFill>
                          <a:effectLst/>
                          <a:latin typeface="Arial" panose="020B0604020202020204" pitchFamily="34" charset="0"/>
                          <a:cs typeface="Arial" panose="020B0604020202020204" pitchFamily="34" charset="0"/>
                        </a:rPr>
                        <a:t>. (automated ML entries)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2462675649"/>
                  </a:ext>
                </a:extLst>
              </a:tr>
              <a:tr h="192415">
                <a:tc vMerge="1">
                  <a:txBody>
                    <a:bodyPr/>
                    <a:lstStyle/>
                    <a:p>
                      <a:endParaRPr lang="en-US"/>
                    </a:p>
                  </a:txBody>
                  <a:tcPr>
                    <a:lnT w="12700" cap="flat" cmpd="sng" algn="ctr">
                      <a:solidFill>
                        <a:srgbClr val="FFFFFF"/>
                      </a:solidFill>
                      <a:prstDash val="solid"/>
                      <a:round/>
                      <a:headEnd type="none" w="med" len="med"/>
                      <a:tailEnd type="none" w="med" len="med"/>
                    </a:lnT>
                  </a:tcPr>
                </a:tc>
                <a:tc vMerge="1">
                  <a:txBody>
                    <a:bodyPr/>
                    <a:lstStyle/>
                    <a:p>
                      <a:pPr algn="ctr"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ctr">
                    <a:lnT w="12700" cap="flat" cmpd="sng" algn="ctr">
                      <a:solidFill>
                        <a:srgbClr val="FFFFFF"/>
                      </a:solidFill>
                      <a:prstDash val="solid"/>
                      <a:round/>
                      <a:headEnd type="none" w="med" len="med"/>
                      <a:tailEnd type="none" w="med" len="med"/>
                    </a:lnT>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lang="en-US" sz="900" b="0" i="0" u="none" strike="noStrike">
                          <a:solidFill>
                            <a:schemeClr val="tx1"/>
                          </a:solidFill>
                          <a:effectLst/>
                          <a:latin typeface="Arial" panose="020B0604020202020204" pitchFamily="34" charset="0"/>
                          <a:cs typeface="Arial" panose="020B0604020202020204" pitchFamily="34" charset="0"/>
                        </a:rPr>
                        <a:t>40434</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3P </a:t>
                      </a:r>
                      <a:r>
                        <a:rPr lang="en-US" sz="900" b="0" i="0" u="none" strike="noStrike" err="1">
                          <a:solidFill>
                            <a:schemeClr val="tx1"/>
                          </a:solidFill>
                          <a:effectLst/>
                          <a:latin typeface="Arial" panose="020B0604020202020204" pitchFamily="34" charset="0"/>
                          <a:cs typeface="Arial" panose="020B0604020202020204" pitchFamily="34" charset="0"/>
                        </a:rPr>
                        <a:t>Depr</a:t>
                      </a:r>
                      <a:r>
                        <a:rPr lang="en-US" sz="900" b="0" i="0" u="none" strike="noStrike">
                          <a:solidFill>
                            <a:schemeClr val="tx1"/>
                          </a:solidFill>
                          <a:effectLst/>
                          <a:latin typeface="Arial" panose="020B0604020202020204" pitchFamily="34" charset="0"/>
                          <a:cs typeface="Arial" panose="020B0604020202020204" pitchFamily="34" charset="0"/>
                        </a:rPr>
                        <a:t> (auto)</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800" b="0" i="0" u="none" strike="noStrike">
                          <a:effectLst/>
                          <a:latin typeface="Arial" panose="020B0604020202020204" pitchFamily="34" charset="0"/>
                        </a:rPr>
                        <a:t>404340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800" b="0" i="0" u="none" strike="noStrike">
                          <a:effectLst/>
                          <a:latin typeface="Arial" panose="020B0604020202020204" pitchFamily="34" charset="0"/>
                        </a:rPr>
                        <a:t>COGS 3Party - </a:t>
                      </a:r>
                      <a:r>
                        <a:rPr lang="en-US" sz="800" b="0" i="0" u="none" strike="noStrike" err="1">
                          <a:effectLst/>
                          <a:latin typeface="Arial" panose="020B0604020202020204" pitchFamily="34" charset="0"/>
                        </a:rPr>
                        <a:t>Deprec</a:t>
                      </a:r>
                      <a:r>
                        <a:rPr lang="en-US" sz="800" b="0" i="0" u="none" strike="noStrike">
                          <a:effectLst/>
                          <a:latin typeface="Arial" panose="020B0604020202020204" pitchFamily="34" charset="0"/>
                        </a:rPr>
                        <a:t>  (automated ML entries)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1465337314"/>
                  </a:ext>
                </a:extLst>
              </a:tr>
              <a:tr h="248954">
                <a:tc vMerge="1">
                  <a:txBody>
                    <a:bodyPr/>
                    <a:lstStyle/>
                    <a:p>
                      <a:endParaRPr lang="en-US"/>
                    </a:p>
                  </a:txBody>
                  <a:tcPr>
                    <a:lnT w="12700" cap="flat" cmpd="sng" algn="ctr">
                      <a:solidFill>
                        <a:srgbClr val="FFFFFF"/>
                      </a:solidFill>
                      <a:prstDash val="solid"/>
                      <a:round/>
                      <a:headEnd type="none" w="med" len="med"/>
                      <a:tailEnd type="none" w="med" len="med"/>
                    </a:lnT>
                  </a:tcPr>
                </a:tc>
                <a:tc vMerge="1">
                  <a:txBody>
                    <a:bodyPr/>
                    <a:lstStyle/>
                    <a:p>
                      <a:pPr marL="0" algn="ctr" defTabSz="914126" rtl="0" eaLnBrk="1" fontAlgn="b" latinLnBrk="0" hangingPunct="1"/>
                      <a:endParaRPr lang="en-US" sz="1050" b="0" i="0" u="none" strike="noStrike" kern="1200">
                        <a:solidFill>
                          <a:schemeClr val="tx1"/>
                        </a:solidFill>
                        <a:effectLst/>
                        <a:latin typeface="Arial" panose="020B0604020202020204" pitchFamily="34" charset="0"/>
                        <a:ea typeface="+mn-ea"/>
                        <a:cs typeface="Arial" panose="020B0604020202020204" pitchFamily="34" charset="0"/>
                      </a:endParaRPr>
                    </a:p>
                  </a:txBody>
                  <a:tcPr marL="7620" marR="7620" marT="7620" marB="0" anchor="ctr">
                    <a:lnT w="12700" cap="flat" cmpd="sng" algn="ctr">
                      <a:solidFill>
                        <a:srgbClr val="FFFFFF"/>
                      </a:solidFill>
                      <a:prstDash val="solid"/>
                      <a:round/>
                      <a:headEnd type="none" w="med" len="med"/>
                      <a:tailEnd type="none" w="med" len="med"/>
                    </a:lnT>
                    <a:solidFill>
                      <a:schemeClr val="tx2">
                        <a:lumMod val="20000"/>
                        <a:lumOff val="80000"/>
                      </a:scheme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40435</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3Party - inbound freight*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404350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3Party - inbound freight  (automated ML entries)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3218042253"/>
                  </a:ext>
                </a:extLst>
              </a:tr>
              <a:tr h="222902">
                <a:tc vMerge="1">
                  <a:txBody>
                    <a:bodyPr/>
                    <a:lstStyle/>
                    <a:p>
                      <a:endParaRPr lang="en-US"/>
                    </a:p>
                  </a:txBody>
                  <a:tcPr/>
                </a:tc>
                <a:tc vMerge="1">
                  <a:txBody>
                    <a:bodyPr/>
                    <a:lstStyle/>
                    <a:p>
                      <a:endParaRPr lang="en-US"/>
                    </a:p>
                  </a:txBody>
                  <a:tcPr/>
                </a:tc>
                <a:tc vMerge="1">
                  <a:txBody>
                    <a:bodyPr/>
                    <a:lstStyle/>
                    <a:p>
                      <a:pPr algn="ctr"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b">
                    <a:solidFill>
                      <a:schemeClr val="accent4">
                        <a:lumMod val="20000"/>
                        <a:lumOff val="80000"/>
                      </a:schemeClr>
                    </a:solidFill>
                  </a:tcPr>
                </a:tc>
                <a:tc vMerge="1">
                  <a:txBody>
                    <a:bodyPr/>
                    <a:lstStyle/>
                    <a:p>
                      <a:pPr algn="l" fontAlgn="b"/>
                      <a:endParaRPr lang="en-US" sz="1050" b="0" i="0" u="none" strike="noStrike">
                        <a:solidFill>
                          <a:schemeClr val="tx1"/>
                        </a:solidFill>
                        <a:effectLst/>
                        <a:latin typeface="Arial" panose="020B0604020202020204" pitchFamily="34" charset="0"/>
                        <a:cs typeface="Arial" panose="020B0604020202020204" pitchFamily="34" charset="0"/>
                      </a:endParaRPr>
                    </a:p>
                  </a:txBody>
                  <a:tcPr marL="7620" marR="7620" marT="7620" marB="0" anchor="b">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chemeClr val="tx1"/>
                          </a:solidFill>
                          <a:effectLst/>
                          <a:latin typeface="Arial" panose="020B0604020202020204" pitchFamily="34" charset="0"/>
                          <a:cs typeface="Arial" panose="020B0604020202020204" pitchFamily="34" charset="0"/>
                        </a:rPr>
                        <a:t>404358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chemeClr val="tx1"/>
                          </a:solidFill>
                          <a:effectLst/>
                          <a:latin typeface="Arial" panose="020B0604020202020204" pitchFamily="34" charset="0"/>
                          <a:cs typeface="Arial" panose="020B0604020202020204" pitchFamily="34" charset="0"/>
                        </a:rPr>
                        <a:t>COGS 3Party - inbound freight  (manual adjustments)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3213278714"/>
                  </a:ext>
                </a:extLst>
              </a:tr>
              <a:tr h="240975">
                <a:tc vMerge="1">
                  <a:txBody>
                    <a:bodyPr/>
                    <a:lstStyle/>
                    <a:p>
                      <a:pPr algn="ctr" fontAlgn="b"/>
                      <a:endParaRPr lang="en-US" sz="9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ctr">
                    <a:solidFill>
                      <a:schemeClr val="accent6">
                        <a:lumMod val="20000"/>
                        <a:lumOff val="80000"/>
                      </a:scheme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kern="1200">
                          <a:solidFill>
                            <a:schemeClr val="tx1"/>
                          </a:solidFill>
                          <a:effectLst/>
                          <a:latin typeface="Arial" panose="020B0604020202020204" pitchFamily="34" charset="0"/>
                          <a:ea typeface="+mn-ea"/>
                          <a:cs typeface="Arial" panose="020B0604020202020204" pitchFamily="34" charset="0"/>
                        </a:rPr>
                        <a:t>Finished Goods Import Duties</a:t>
                      </a:r>
                    </a:p>
                    <a:p>
                      <a:pPr marL="0" algn="ctr" defTabSz="914400" rtl="0" eaLnBrk="1" fontAlgn="b" latinLnBrk="0" hangingPunct="1"/>
                      <a:endParaRPr lang="en-US" sz="900" b="0" i="0" u="none" strike="noStrike" kern="1200">
                        <a:solidFill>
                          <a:schemeClr val="tx1"/>
                        </a:solidFill>
                        <a:effectLst/>
                        <a:latin typeface="Arial" panose="020B0604020202020204" pitchFamily="34" charset="0"/>
                        <a:ea typeface="+mn-ea"/>
                        <a:cs typeface="Arial" panose="020B0604020202020204" pitchFamily="34" charset="0"/>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914126" rtl="0" eaLnBrk="1" fontAlgn="b" latinLnBrk="0" hangingPunct="1"/>
                      <a:r>
                        <a:rPr lang="en-US" sz="900" b="0" i="0" u="none" strike="noStrike" kern="1200">
                          <a:solidFill>
                            <a:schemeClr val="tx1"/>
                          </a:solidFill>
                          <a:effectLst/>
                          <a:latin typeface="Arial" panose="020B0604020202020204" pitchFamily="34" charset="0"/>
                          <a:ea typeface="+mn-ea"/>
                          <a:cs typeface="Arial" panose="020B0604020202020204" pitchFamily="34" charset="0"/>
                        </a:rPr>
                        <a:t>40436</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l" defTabSz="914126" rtl="0" eaLnBrk="1" fontAlgn="b" latinLnBrk="0" hangingPunct="1"/>
                      <a:r>
                        <a:rPr lang="en-US" sz="900" b="0" i="0" u="none" strike="noStrike" kern="1200">
                          <a:solidFill>
                            <a:schemeClr val="tx1"/>
                          </a:solidFill>
                          <a:effectLst/>
                          <a:latin typeface="Arial" panose="020B0604020202020204" pitchFamily="34" charset="0"/>
                          <a:ea typeface="+mn-ea"/>
                          <a:cs typeface="Arial" panose="020B0604020202020204" pitchFamily="34" charset="0"/>
                        </a:rPr>
                        <a:t>COGS 3Party - import duties* </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404360</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COGS 3Party - import duties  (automated ML entries)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3343595630"/>
                  </a:ext>
                </a:extLst>
              </a:tr>
              <a:tr h="187007">
                <a:tc vMerge="1">
                  <a:txBody>
                    <a:bodyPr/>
                    <a:lstStyle/>
                    <a:p>
                      <a:pPr algn="l" fontAlgn="ctr"/>
                      <a:endParaRPr lang="en-US" sz="900" b="0" i="0" u="none" strike="noStrike">
                        <a:solidFill>
                          <a:srgbClr val="000000"/>
                        </a:solidFill>
                        <a:effectLst/>
                        <a:latin typeface="JTI"/>
                      </a:endParaRPr>
                    </a:p>
                  </a:txBody>
                  <a:tcPr marL="0" marR="0" marT="0" marB="0" anchor="ctr">
                    <a:solidFill>
                      <a:schemeClr val="accent6">
                        <a:lumMod val="20000"/>
                        <a:lumOff val="80000"/>
                      </a:schemeClr>
                    </a:solidFill>
                  </a:tcPr>
                </a:tc>
                <a:tc vMerge="1">
                  <a:txBody>
                    <a:bodyPr/>
                    <a:lstStyle/>
                    <a:p>
                      <a:pPr algn="l" fontAlgn="ctr"/>
                      <a:endParaRPr lang="en-US" sz="900" b="0" i="0" u="none" strike="noStrike">
                        <a:solidFill>
                          <a:srgbClr val="000000"/>
                        </a:solidFill>
                        <a:effectLst/>
                        <a:latin typeface="JTI"/>
                      </a:endParaRPr>
                    </a:p>
                  </a:txBody>
                  <a:tcPr marL="0" marR="0" marT="0" marB="0" anchor="ctr">
                    <a:solidFill>
                      <a:schemeClr val="accent6">
                        <a:lumMod val="20000"/>
                        <a:lumOff val="80000"/>
                      </a:schemeClr>
                    </a:solidFill>
                  </a:tcPr>
                </a:tc>
                <a:tc vMerge="1">
                  <a:txBody>
                    <a:bodyPr/>
                    <a:lstStyle/>
                    <a:p>
                      <a:pPr algn="ctr" fontAlgn="b"/>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6">
                        <a:lumMod val="20000"/>
                        <a:lumOff val="80000"/>
                      </a:schemeClr>
                    </a:solidFill>
                  </a:tcPr>
                </a:tc>
                <a:tc vMerge="1">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c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404368</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COGS 3Party - import duties  (manual adjustments)</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BE4E2"/>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ap="flat" cmpd="sng" algn="ctr">
                      <a:no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2714261412"/>
                  </a:ext>
                </a:extLst>
              </a:tr>
              <a:tr h="300504">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Excise</a:t>
                      </a:r>
                    </a:p>
                  </a:txBody>
                  <a:tcPr marL="7620" marR="7620" marT="7620" marB="0" anchor="ctr">
                    <a:lnL w="12700" cmpd="sng">
                      <a:solidFill>
                        <a:srgbClr val="FFFFFF"/>
                      </a:solidFill>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Excise Tax</a:t>
                      </a:r>
                    </a:p>
                  </a:txBody>
                  <a:tcPr marL="7620" marR="7620" marT="7620" marB="0" anchor="ctr">
                    <a:lnL w="12700" cmpd="sng">
                      <a:solidFill>
                        <a:srgbClr val="FFFFFF"/>
                      </a:solidFill>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33520</a:t>
                      </a:r>
                    </a:p>
                  </a:txBody>
                  <a:tcPr marL="7620" marR="7620" marT="7620" marB="0" anchor="ctr">
                    <a:lnL w="12700" cmpd="sng">
                      <a:solidFill>
                        <a:srgbClr val="FFFFFF"/>
                      </a:solidFill>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Excise Tax</a:t>
                      </a:r>
                    </a:p>
                  </a:txBody>
                  <a:tcPr marL="7620" marR="7620" marT="7620" marB="0" anchor="ctr">
                    <a:lnL w="12700" cmpd="sng">
                      <a:solidFill>
                        <a:srgbClr val="FFFFFF"/>
                      </a:solidFill>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314030</a:t>
                      </a:r>
                    </a:p>
                  </a:txBody>
                  <a:tcPr marL="7620" marR="7620" marT="7620" marB="0" anchor="ctr">
                    <a:lnL w="12700" cmpd="sng">
                      <a:solidFill>
                        <a:srgbClr val="FFFFFF"/>
                      </a:solidFill>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Excise  tax sales through ML (automated)</a:t>
                      </a:r>
                    </a:p>
                  </a:txBody>
                  <a:tcPr marL="7620" marR="7620" marT="7620" marB="0" anchor="ctr">
                    <a:lnL w="12700" cmpd="sng">
                      <a:solidFill>
                        <a:srgbClr val="FFFFFF"/>
                      </a:solidFill>
                    </a:lnL>
                    <a:lnR w="12700" cmpd="sng">
                      <a:solidFill>
                        <a:srgbClr val="FFFFFF"/>
                      </a:solidFill>
                    </a:lnR>
                    <a:lnT w="12700" cap="flat" cmpd="sng" algn="ctr">
                      <a:no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1925326079"/>
                  </a:ext>
                </a:extLst>
              </a:tr>
              <a:tr h="147848">
                <a:tc vMerge="1">
                  <a:txBody>
                    <a:bodyPr/>
                    <a:lstStyle/>
                    <a:p>
                      <a:endParaRPr lang="en-US"/>
                    </a:p>
                  </a:txBody>
                  <a:tcPr/>
                </a:tc>
                <a:tc vMerge="1">
                  <a:txBody>
                    <a:bodyPr/>
                    <a:lstStyle/>
                    <a:p>
                      <a:endParaRPr lang="en-US"/>
                    </a:p>
                  </a:txBody>
                  <a:tcPr/>
                </a:tc>
                <a:tc vMerge="1">
                  <a:txBody>
                    <a:bodyPr/>
                    <a:lstStyle/>
                    <a:p>
                      <a:pPr algn="ctr" fontAlgn="b"/>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solidFill>
                      <a:schemeClr val="accent6">
                        <a:lumMod val="20000"/>
                        <a:lumOff val="80000"/>
                      </a:schemeClr>
                    </a:solidFill>
                  </a:tcPr>
                </a:tc>
                <a:tc vMerge="1">
                  <a:txBody>
                    <a:bodyPr/>
                    <a:lstStyle/>
                    <a:p>
                      <a:pPr algn="l" fontAlgn="b"/>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314038</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Excise  tax sales through ML (manual postings)</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extLst>
                  <a:ext uri="{0D108BD9-81ED-4DB2-BD59-A6C34878D82A}">
                    <a16:rowId xmlns:a16="http://schemas.microsoft.com/office/drawing/2014/main" val="2680749811"/>
                  </a:ext>
                </a:extLst>
              </a:tr>
              <a:tr h="275017">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Marketing</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Marketing Programs</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5114</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rowSpan="2">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Prod. &amp; Packaging Development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503170</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Promotional  Costs (automated ML entries)</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3694750140"/>
                  </a:ext>
                </a:extLst>
              </a:tr>
              <a:tr h="275018">
                <a:tc vMerge="1">
                  <a:txBody>
                    <a:bodyPr/>
                    <a:lstStyle/>
                    <a:p>
                      <a:endParaRPr lang="en-US"/>
                    </a:p>
                  </a:txBody>
                  <a:tcPr/>
                </a:tc>
                <a:tc vMerge="1">
                  <a:txBody>
                    <a:bodyPr/>
                    <a:lstStyle/>
                    <a:p>
                      <a:endParaRPr lang="en-US"/>
                    </a:p>
                  </a:txBody>
                  <a:tcPr/>
                </a:tc>
                <a:tc vMerge="1">
                  <a:txBody>
                    <a:bodyPr/>
                    <a:lstStyle/>
                    <a:p>
                      <a:pPr algn="ctr" fontAlgn="b"/>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solidFill>
                      <a:schemeClr val="accent5">
                        <a:lumMod val="20000"/>
                        <a:lumOff val="80000"/>
                      </a:schemeClr>
                    </a:solidFill>
                  </a:tcPr>
                </a:tc>
                <a:tc vMerge="1">
                  <a:txBody>
                    <a:bodyPr/>
                    <a:lstStyle/>
                    <a:p>
                      <a:pPr algn="l" fontAlgn="b"/>
                      <a:endParaRPr lang="en-US" sz="105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solidFill>
                      <a:schemeClr val="accent5">
                        <a:lumMod val="20000"/>
                        <a:lumOff val="80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900" b="0" i="0" u="none" strike="noStrike">
                          <a:solidFill>
                            <a:srgbClr val="000000"/>
                          </a:solidFill>
                          <a:effectLst/>
                          <a:latin typeface="Arial" panose="020B0604020202020204" pitchFamily="34" charset="0"/>
                          <a:cs typeface="Arial" panose="020B0604020202020204" pitchFamily="34" charset="0"/>
                        </a:rPr>
                        <a:t>503178</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l" fontAlgn="b"/>
                      <a:r>
                        <a:rPr lang="en-US" sz="900" b="0" i="0" u="none" strike="noStrike">
                          <a:solidFill>
                            <a:srgbClr val="000000"/>
                          </a:solidFill>
                          <a:effectLst/>
                          <a:latin typeface="Arial" panose="020B0604020202020204" pitchFamily="34" charset="0"/>
                          <a:cs typeface="Arial" panose="020B0604020202020204" pitchFamily="34" charset="0"/>
                        </a:rPr>
                        <a:t>Promotional  Costs (manual adjustments)</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Market</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CBCB6"/>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126" rtl="0" eaLnBrk="1" fontAlgn="b"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Factory**</a:t>
                      </a:r>
                    </a:p>
                  </a:txBody>
                  <a:tcPr marL="7620" marR="7620" marT="7620" marB="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lumMod val="60000"/>
                        <a:lumOff val="40000"/>
                      </a:srgbClr>
                    </a:solidFill>
                  </a:tcPr>
                </a:tc>
                <a:extLst>
                  <a:ext uri="{0D108BD9-81ED-4DB2-BD59-A6C34878D82A}">
                    <a16:rowId xmlns:a16="http://schemas.microsoft.com/office/drawing/2014/main" val="1700542812"/>
                  </a:ext>
                </a:extLst>
              </a:tr>
            </a:tbl>
          </a:graphicData>
        </a:graphic>
      </p:graphicFrame>
    </p:spTree>
    <p:extLst>
      <p:ext uri="{BB962C8B-B14F-4D97-AF65-F5344CB8AC3E}">
        <p14:creationId xmlns:p14="http://schemas.microsoft.com/office/powerpoint/2010/main" val="1068146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BB4E4D9-2C5A-423A-A8BE-9B5EA07DECC8}" type="slidenum">
              <a:rPr kumimoji="0" lang="en-US" sz="800" b="0" i="0" u="none" strike="noStrike" kern="1200" cap="none" spc="0" normalizeH="0" baseline="0" noProof="0" smtClean="0">
                <a:ln>
                  <a:noFill/>
                </a:ln>
                <a:solidFill>
                  <a:srgbClr val="122632"/>
                </a:solidFill>
                <a:effectLst/>
                <a:uLnTx/>
                <a:uFillTx/>
                <a:latin typeface="Arial" pitchFamily="34" charset="0"/>
                <a:ea typeface="ＭＳ Ｐゴシック" pitchFamily="8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800" b="0" i="0" u="none" strike="noStrike" kern="1200" cap="none" spc="0" normalizeH="0" baseline="0" noProof="0">
              <a:ln>
                <a:noFill/>
              </a:ln>
              <a:solidFill>
                <a:srgbClr val="122632"/>
              </a:solidFill>
              <a:effectLst/>
              <a:uLnTx/>
              <a:uFillTx/>
              <a:latin typeface="Arial" pitchFamily="34" charset="0"/>
              <a:ea typeface="ＭＳ Ｐゴシック" pitchFamily="80" charset="-128"/>
              <a:cs typeface="+mn-cs"/>
            </a:endParaRPr>
          </a:p>
        </p:txBody>
      </p:sp>
      <p:sp>
        <p:nvSpPr>
          <p:cNvPr id="3" name="Title 2"/>
          <p:cNvSpPr>
            <a:spLocks noGrp="1"/>
          </p:cNvSpPr>
          <p:nvPr>
            <p:ph type="title"/>
          </p:nvPr>
        </p:nvSpPr>
        <p:spPr>
          <a:xfrm>
            <a:off x="1426685" y="197849"/>
            <a:ext cx="10085384" cy="984247"/>
          </a:xfrm>
        </p:spPr>
        <p:txBody>
          <a:bodyPr/>
          <a:lstStyle/>
          <a:p>
            <a:r>
              <a:rPr lang="en-GB"/>
              <a:t>Attention to Period End Key Closing tasks </a:t>
            </a:r>
            <a:br>
              <a:rPr lang="en-GB"/>
            </a:br>
            <a:r>
              <a:rPr lang="en-GB" i="1">
                <a:solidFill>
                  <a:schemeClr val="bg1">
                    <a:lumMod val="50000"/>
                  </a:schemeClr>
                </a:solidFill>
              </a:rPr>
              <a:t>Sales / COGS / WBS / Manual postings*</a:t>
            </a:r>
          </a:p>
        </p:txBody>
      </p:sp>
      <p:graphicFrame>
        <p:nvGraphicFramePr>
          <p:cNvPr id="6" name="Table 5"/>
          <p:cNvGraphicFramePr>
            <a:graphicFrameLocks noGrp="1"/>
          </p:cNvGraphicFramePr>
          <p:nvPr>
            <p:extLst/>
          </p:nvPr>
        </p:nvGraphicFramePr>
        <p:xfrm>
          <a:off x="901474" y="1562282"/>
          <a:ext cx="10762568" cy="4391174"/>
        </p:xfrm>
        <a:graphic>
          <a:graphicData uri="http://schemas.openxmlformats.org/drawingml/2006/table">
            <a:tbl>
              <a:tblPr firstRow="1" bandRow="1">
                <a:tableStyleId>{F5AB1C69-6EDB-4FF4-983F-18BD219EF322}</a:tableStyleId>
              </a:tblPr>
              <a:tblGrid>
                <a:gridCol w="3643085">
                  <a:extLst>
                    <a:ext uri="{9D8B030D-6E8A-4147-A177-3AD203B41FA5}">
                      <a16:colId xmlns:a16="http://schemas.microsoft.com/office/drawing/2014/main" val="226002587"/>
                    </a:ext>
                  </a:extLst>
                </a:gridCol>
                <a:gridCol w="3379304">
                  <a:extLst>
                    <a:ext uri="{9D8B030D-6E8A-4147-A177-3AD203B41FA5}">
                      <a16:colId xmlns:a16="http://schemas.microsoft.com/office/drawing/2014/main" val="299233799"/>
                    </a:ext>
                  </a:extLst>
                </a:gridCol>
                <a:gridCol w="3740179">
                  <a:extLst>
                    <a:ext uri="{9D8B030D-6E8A-4147-A177-3AD203B41FA5}">
                      <a16:colId xmlns:a16="http://schemas.microsoft.com/office/drawing/2014/main" val="676894520"/>
                    </a:ext>
                  </a:extLst>
                </a:gridCol>
              </a:tblGrid>
              <a:tr h="499904">
                <a:tc>
                  <a:txBody>
                    <a:bodyPr/>
                    <a:lstStyle/>
                    <a:p>
                      <a:r>
                        <a:rPr lang="en-GB"/>
                        <a:t>WD1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WD2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WD3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1074836"/>
                  </a:ext>
                </a:extLst>
              </a:tr>
              <a:tr h="3891270">
                <a:tc>
                  <a:txBody>
                    <a:bodyPr/>
                    <a:lstStyle/>
                    <a:p>
                      <a:endParaRPr lang="en-GB" sz="16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GB" sz="1600"/>
                    </a:p>
                    <a:p>
                      <a:endParaRPr lang="en-GB" sz="1600"/>
                    </a:p>
                    <a:p>
                      <a:endParaRPr lang="en-GB" sz="1600"/>
                    </a:p>
                    <a:p>
                      <a:endParaRPr lang="en-GB" sz="1600"/>
                    </a:p>
                    <a:p>
                      <a:endParaRPr lang="en-GB" sz="1600"/>
                    </a:p>
                    <a:p>
                      <a:endParaRPr lang="en-GB" sz="1600"/>
                    </a:p>
                    <a:p>
                      <a:endParaRPr lang="en-GB" sz="1600"/>
                    </a:p>
                    <a:p>
                      <a:endParaRPr lang="en-GB" sz="1600"/>
                    </a:p>
                    <a:p>
                      <a:endParaRPr lang="en-GB" sz="1600"/>
                    </a:p>
                    <a:p>
                      <a:endParaRPr lang="en-GB" sz="1600"/>
                    </a:p>
                    <a:p>
                      <a:endParaRPr lang="en-GB" sz="1600"/>
                    </a:p>
                    <a:p>
                      <a:endParaRPr lang="en-GB" sz="1600"/>
                    </a:p>
                    <a:p>
                      <a:endParaRPr lang="en-GB" sz="16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GB" sz="160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11952353"/>
                  </a:ext>
                </a:extLst>
              </a:tr>
            </a:tbl>
          </a:graphicData>
        </a:graphic>
      </p:graphicFrame>
      <p:sp>
        <p:nvSpPr>
          <p:cNvPr id="5" name="Freeform 94">
            <a:extLst>
              <a:ext uri="{FF2B5EF4-FFF2-40B4-BE49-F238E27FC236}">
                <a16:creationId xmlns:a16="http://schemas.microsoft.com/office/drawing/2014/main" id="{D2A05E74-8209-4846-B5AC-F9E69B8D75AD}"/>
              </a:ext>
            </a:extLst>
          </p:cNvPr>
          <p:cNvSpPr/>
          <p:nvPr/>
        </p:nvSpPr>
        <p:spPr>
          <a:xfrm>
            <a:off x="1284414" y="2737228"/>
            <a:ext cx="3119132"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Close Sales Accounts &amp; automatic I/Co Sales  – ALL Ledgers</a:t>
            </a: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7" name="Freeform 94">
            <a:extLst>
              <a:ext uri="{FF2B5EF4-FFF2-40B4-BE49-F238E27FC236}">
                <a16:creationId xmlns:a16="http://schemas.microsoft.com/office/drawing/2014/main" id="{EF76ED94-E131-4339-9217-11E4B8D43E9D}"/>
              </a:ext>
            </a:extLst>
          </p:cNvPr>
          <p:cNvSpPr/>
          <p:nvPr/>
        </p:nvSpPr>
        <p:spPr>
          <a:xfrm>
            <a:off x="1277308" y="3444493"/>
            <a:ext cx="3119132"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Cease postings impacting COGS Accounts – ALL Ledgers</a:t>
            </a: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EFC0C475-D4C1-4DC4-B6C3-FDC0D86402DF}"/>
              </a:ext>
            </a:extLst>
          </p:cNvPr>
          <p:cNvSpPr/>
          <p:nvPr/>
        </p:nvSpPr>
        <p:spPr>
          <a:xfrm>
            <a:off x="996356" y="2823483"/>
            <a:ext cx="306712" cy="273886"/>
          </a:xfrm>
          <a:prstGeom prst="rect">
            <a:avLst/>
          </a:prstGeom>
          <a:solidFill>
            <a:schemeClr val="accent4">
              <a:lumMod val="50000"/>
            </a:schemeClr>
          </a:solidFill>
        </p:spPr>
        <p:style>
          <a:lnRef idx="1">
            <a:schemeClr val="accent1">
              <a:shade val="50000"/>
              <a:hueOff val="-17114"/>
              <a:satOff val="9478"/>
              <a:lumOff val="18405"/>
              <a:alphaOff val="0"/>
            </a:schemeClr>
          </a:lnRef>
          <a:fillRef idx="1">
            <a:scrgbClr r="0" g="0" b="0"/>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C429936C-7477-4D7C-B326-3ED1102B5A15}"/>
              </a:ext>
            </a:extLst>
          </p:cNvPr>
          <p:cNvSpPr/>
          <p:nvPr/>
        </p:nvSpPr>
        <p:spPr>
          <a:xfrm>
            <a:off x="958888" y="3530748"/>
            <a:ext cx="299605" cy="280498"/>
          </a:xfrm>
          <a:prstGeom prst="rect">
            <a:avLst/>
          </a:prstGeom>
          <a:solidFill>
            <a:srgbClr val="FFC000"/>
          </a:solidFill>
        </p:spPr>
        <p:style>
          <a:lnRef idx="1">
            <a:schemeClr val="accent1">
              <a:shade val="50000"/>
              <a:hueOff val="0"/>
              <a:satOff val="0"/>
              <a:lumOff val="0"/>
              <a:alphaOff val="0"/>
            </a:schemeClr>
          </a:lnRef>
          <a:fillRef idx="1">
            <a:scrgbClr r="0" g="0" b="0"/>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0" name="Freeform 76">
            <a:extLst>
              <a:ext uri="{FF2B5EF4-FFF2-40B4-BE49-F238E27FC236}">
                <a16:creationId xmlns:a16="http://schemas.microsoft.com/office/drawing/2014/main" id="{5DD7A51E-A969-4787-AE81-CEA67F8785BD}"/>
              </a:ext>
            </a:extLst>
          </p:cNvPr>
          <p:cNvSpPr/>
          <p:nvPr/>
        </p:nvSpPr>
        <p:spPr>
          <a:xfrm>
            <a:off x="1277308" y="2075507"/>
            <a:ext cx="2850690" cy="497008"/>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Complete Volume Submission: Non-SAP and SAP entities</a:t>
            </a: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F95DCB27-4BA1-4A4E-BF2A-F7B28E11125D}"/>
              </a:ext>
            </a:extLst>
          </p:cNvPr>
          <p:cNvSpPr/>
          <p:nvPr/>
        </p:nvSpPr>
        <p:spPr>
          <a:xfrm>
            <a:off x="996356" y="2198543"/>
            <a:ext cx="280952" cy="298414"/>
          </a:xfrm>
          <a:prstGeom prst="rect">
            <a:avLst/>
          </a:prstGeom>
          <a:solidFill>
            <a:schemeClr val="bg1">
              <a:lumMod val="85000"/>
            </a:schemeClr>
          </a:solidFill>
        </p:spPr>
        <p:style>
          <a:lnRef idx="1">
            <a:schemeClr val="accent1">
              <a:shade val="50000"/>
              <a:hueOff val="-34228"/>
              <a:satOff val="18956"/>
              <a:lumOff val="3681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2" name="Freeform 58">
            <a:extLst>
              <a:ext uri="{FF2B5EF4-FFF2-40B4-BE49-F238E27FC236}">
                <a16:creationId xmlns:a16="http://schemas.microsoft.com/office/drawing/2014/main" id="{DBE6E848-8027-4E28-8335-26EC689044E5}"/>
              </a:ext>
            </a:extLst>
          </p:cNvPr>
          <p:cNvSpPr/>
          <p:nvPr/>
        </p:nvSpPr>
        <p:spPr>
          <a:xfrm>
            <a:off x="4846093" y="2054663"/>
            <a:ext cx="3028112"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fr-FR"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Start </a:t>
            </a:r>
            <a:r>
              <a:rPr kumimoji="0" lang="fr-FR" sz="1400" b="0" i="0"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Material</a:t>
            </a:r>
            <a:r>
              <a:rPr kumimoji="0" lang="fr-FR"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400" b="0" i="0"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Ledger</a:t>
            </a:r>
            <a:r>
              <a:rPr kumimoji="0" lang="fr-FR"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400" b="0" i="0"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closing</a:t>
            </a:r>
            <a:endPar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3842B584-990F-478A-9B07-B72782FCD8B0}"/>
              </a:ext>
            </a:extLst>
          </p:cNvPr>
          <p:cNvSpPr/>
          <p:nvPr/>
        </p:nvSpPr>
        <p:spPr>
          <a:xfrm>
            <a:off x="4589360" y="2132962"/>
            <a:ext cx="291264" cy="291264"/>
          </a:xfrm>
          <a:prstGeom prst="rect">
            <a:avLst/>
          </a:prstGeom>
          <a:solidFill>
            <a:schemeClr val="accent4">
              <a:lumMod val="50000"/>
            </a:schemeClr>
          </a:solidFill>
        </p:spPr>
        <p:style>
          <a:lnRef idx="1">
            <a:schemeClr val="accent1">
              <a:shade val="50000"/>
              <a:hueOff val="-34228"/>
              <a:satOff val="18956"/>
              <a:lumOff val="3681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4" name="Freeform 46">
            <a:extLst>
              <a:ext uri="{FF2B5EF4-FFF2-40B4-BE49-F238E27FC236}">
                <a16:creationId xmlns:a16="http://schemas.microsoft.com/office/drawing/2014/main" id="{62D28A85-BDFF-4721-B369-A07F97579DD5}"/>
              </a:ext>
            </a:extLst>
          </p:cNvPr>
          <p:cNvSpPr/>
          <p:nvPr/>
        </p:nvSpPr>
        <p:spPr>
          <a:xfrm>
            <a:off x="4859136" y="2723982"/>
            <a:ext cx="2930867"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fr-FR" sz="1400" b="0" i="0"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Run</a:t>
            </a:r>
            <a:r>
              <a:rPr kumimoji="0" lang="fr-FR"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multi-brand WBS allocation</a:t>
            </a:r>
            <a:endPar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6D24FE3B-23F2-4B49-BD9D-8381BB86EE59}"/>
              </a:ext>
            </a:extLst>
          </p:cNvPr>
          <p:cNvSpPr/>
          <p:nvPr/>
        </p:nvSpPr>
        <p:spPr>
          <a:xfrm>
            <a:off x="4608175" y="2808844"/>
            <a:ext cx="291264" cy="291264"/>
          </a:xfrm>
          <a:prstGeom prst="rect">
            <a:avLst/>
          </a:prstGeom>
          <a:solidFill>
            <a:schemeClr val="accent4">
              <a:lumMod val="50000"/>
            </a:schemeClr>
          </a:solidFill>
        </p:spPr>
        <p:style>
          <a:lnRef idx="1">
            <a:schemeClr val="accent1">
              <a:shade val="50000"/>
              <a:hueOff val="-34228"/>
              <a:satOff val="18956"/>
              <a:lumOff val="3681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D3482261-D8DE-4F5A-93D5-33C35B5E59C3}"/>
              </a:ext>
            </a:extLst>
          </p:cNvPr>
          <p:cNvSpPr/>
          <p:nvPr/>
        </p:nvSpPr>
        <p:spPr>
          <a:xfrm>
            <a:off x="8008357" y="2223654"/>
            <a:ext cx="291264" cy="291264"/>
          </a:xfrm>
          <a:prstGeom prst="rect">
            <a:avLst/>
          </a:prstGeom>
          <a:solidFill>
            <a:schemeClr val="accent4">
              <a:lumMod val="50000"/>
            </a:schemeClr>
          </a:solidFill>
        </p:spPr>
        <p:style>
          <a:lnRef idx="1">
            <a:schemeClr val="accent1">
              <a:shade val="50000"/>
              <a:hueOff val="-34228"/>
              <a:satOff val="18956"/>
              <a:lumOff val="3681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7" name="Freeform 15">
            <a:extLst>
              <a:ext uri="{FF2B5EF4-FFF2-40B4-BE49-F238E27FC236}">
                <a16:creationId xmlns:a16="http://schemas.microsoft.com/office/drawing/2014/main" id="{46EDB986-0C39-4BE1-A53E-F554CD19D9E9}"/>
              </a:ext>
            </a:extLst>
          </p:cNvPr>
          <p:cNvSpPr/>
          <p:nvPr/>
        </p:nvSpPr>
        <p:spPr>
          <a:xfrm>
            <a:off x="8272559" y="2082202"/>
            <a:ext cx="4663250"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a:no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Confirmation of ML close – IFRS ONLY</a:t>
            </a: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D3D802E3-AC38-453A-A56F-56EE26E6F238}"/>
              </a:ext>
            </a:extLst>
          </p:cNvPr>
          <p:cNvSpPr/>
          <p:nvPr/>
        </p:nvSpPr>
        <p:spPr>
          <a:xfrm>
            <a:off x="8008357" y="2688281"/>
            <a:ext cx="291264" cy="291264"/>
          </a:xfrm>
          <a:prstGeom prst="rect">
            <a:avLst/>
          </a:prstGeom>
          <a:solidFill>
            <a:schemeClr val="accent4">
              <a:lumMod val="50000"/>
            </a:schemeClr>
          </a:solidFill>
        </p:spPr>
        <p:style>
          <a:lnRef idx="1">
            <a:schemeClr val="accent1">
              <a:shade val="50000"/>
              <a:hueOff val="-8557"/>
              <a:satOff val="4739"/>
              <a:lumOff val="9203"/>
              <a:alphaOff val="0"/>
            </a:schemeClr>
          </a:lnRef>
          <a:fillRef idx="1">
            <a:scrgbClr r="0" g="0" b="0"/>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9" name="Freeform 17">
            <a:extLst>
              <a:ext uri="{FF2B5EF4-FFF2-40B4-BE49-F238E27FC236}">
                <a16:creationId xmlns:a16="http://schemas.microsoft.com/office/drawing/2014/main" id="{49EFCBB8-A9D3-4F51-B44C-6C8D3903CB50}"/>
              </a:ext>
            </a:extLst>
          </p:cNvPr>
          <p:cNvSpPr/>
          <p:nvPr/>
        </p:nvSpPr>
        <p:spPr>
          <a:xfrm>
            <a:off x="8285896" y="2606660"/>
            <a:ext cx="3052128"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Run reposting of ET in Inventories and PII elimination – IFRS ONLY</a:t>
            </a: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A41AB1AC-D76A-4006-A123-CB0E42916713}"/>
              </a:ext>
            </a:extLst>
          </p:cNvPr>
          <p:cNvSpPr/>
          <p:nvPr/>
        </p:nvSpPr>
        <p:spPr>
          <a:xfrm>
            <a:off x="8015068" y="3245628"/>
            <a:ext cx="291264" cy="291264"/>
          </a:xfrm>
          <a:prstGeom prst="rect">
            <a:avLst/>
          </a:prstGeom>
          <a:solidFill>
            <a:schemeClr val="accent5">
              <a:lumMod val="60000"/>
              <a:lumOff val="40000"/>
            </a:schemeClr>
          </a:solidFill>
        </p:spPr>
        <p:style>
          <a:lnRef idx="1">
            <a:schemeClr val="accent1">
              <a:shade val="50000"/>
              <a:hueOff val="-17114"/>
              <a:satOff val="9478"/>
              <a:lumOff val="18405"/>
              <a:alphaOff val="0"/>
            </a:schemeClr>
          </a:lnRef>
          <a:fillRef idx="1">
            <a:scrgbClr r="0" g="0" b="0"/>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21" name="Freeform 19">
            <a:extLst>
              <a:ext uri="{FF2B5EF4-FFF2-40B4-BE49-F238E27FC236}">
                <a16:creationId xmlns:a16="http://schemas.microsoft.com/office/drawing/2014/main" id="{9230D799-DC97-4594-AE68-63D885E3A854}"/>
              </a:ext>
            </a:extLst>
          </p:cNvPr>
          <p:cNvSpPr/>
          <p:nvPr/>
        </p:nvSpPr>
        <p:spPr>
          <a:xfrm>
            <a:off x="8285981" y="3115131"/>
            <a:ext cx="4663250"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COGS splitting – IFRS ONLY</a:t>
            </a:r>
          </a:p>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a:t>
            </a:r>
            <a:r>
              <a:rPr kumimoji="0" lang="en-GB" sz="1400" b="1" i="0" u="sng"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Central Close for all Factories</a:t>
            </a:r>
            <a:r>
              <a:rPr kumimoji="0" lang="en-GB"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a:t>
            </a:r>
            <a:endParaRPr kumimoji="0" lang="en-US"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8C7FACB0-D317-4976-879E-C18DE2D1EEB0}"/>
              </a:ext>
            </a:extLst>
          </p:cNvPr>
          <p:cNvSpPr/>
          <p:nvPr/>
        </p:nvSpPr>
        <p:spPr>
          <a:xfrm>
            <a:off x="8015068" y="4413334"/>
            <a:ext cx="291264" cy="291264"/>
          </a:xfrm>
          <a:prstGeom prst="rect">
            <a:avLst/>
          </a:prstGeom>
          <a:solidFill>
            <a:schemeClr val="bg1">
              <a:lumMod val="85000"/>
            </a:schemeClr>
          </a:solidFill>
        </p:spPr>
        <p:style>
          <a:lnRef idx="1">
            <a:schemeClr val="accent1">
              <a:shade val="50000"/>
              <a:hueOff val="-34228"/>
              <a:satOff val="18956"/>
              <a:lumOff val="36810"/>
              <a:alphaOff val="0"/>
            </a:schemeClr>
          </a:lnRef>
          <a:fillRef idx="1">
            <a:schemeClr val="lt1">
              <a:hueOff val="0"/>
              <a:satOff val="0"/>
              <a:lumOff val="0"/>
              <a:alphaOff val="0"/>
            </a:schemeClr>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23" name="Freeform 67">
            <a:extLst>
              <a:ext uri="{FF2B5EF4-FFF2-40B4-BE49-F238E27FC236}">
                <a16:creationId xmlns:a16="http://schemas.microsoft.com/office/drawing/2014/main" id="{14CBF513-DE5C-43E6-981B-770C89AACB5B}"/>
              </a:ext>
            </a:extLst>
          </p:cNvPr>
          <p:cNvSpPr/>
          <p:nvPr/>
        </p:nvSpPr>
        <p:spPr>
          <a:xfrm>
            <a:off x="8292607" y="4382452"/>
            <a:ext cx="3219462" cy="514139"/>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ct val="35000"/>
              </a:spcAft>
              <a:buClrTx/>
              <a:buSzTx/>
              <a:buFontTx/>
              <a:buNone/>
              <a:tabLst/>
              <a:defRPr/>
            </a:pPr>
            <a:r>
              <a:rPr kumimoji="0" lang="en-GB"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Cease </a:t>
            </a:r>
            <a:r>
              <a:rPr kumimoji="0" lang="en-GB" sz="1400" b="1" i="0"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MyRequest</a:t>
            </a:r>
            <a:r>
              <a:rPr kumimoji="0" lang="en-GB"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submission for GL journals (except for Direct Tax)</a:t>
            </a:r>
            <a:endParaRPr kumimoji="0" lang="en-US" sz="1200" b="1" i="1" u="none" strike="noStrike" kern="1200" cap="none" spc="0" normalizeH="0" baseline="30000" noProof="0">
              <a:ln>
                <a:noFill/>
              </a:ln>
              <a:solidFill>
                <a:srgbClr val="FF0000"/>
              </a:solidFill>
              <a:effectLst/>
              <a:uLnTx/>
              <a:uFillTx/>
              <a:latin typeface="Arial" panose="020B0604020202020204"/>
              <a:ea typeface="+mn-ea"/>
              <a:cs typeface="+mn-cs"/>
            </a:endParaRPr>
          </a:p>
        </p:txBody>
      </p:sp>
      <p:sp>
        <p:nvSpPr>
          <p:cNvPr id="26" name="Freeform 46">
            <a:extLst>
              <a:ext uri="{FF2B5EF4-FFF2-40B4-BE49-F238E27FC236}">
                <a16:creationId xmlns:a16="http://schemas.microsoft.com/office/drawing/2014/main" id="{AE69DFD5-0BA8-41C6-B464-BE40C5040457}"/>
              </a:ext>
            </a:extLst>
          </p:cNvPr>
          <p:cNvSpPr/>
          <p:nvPr/>
        </p:nvSpPr>
        <p:spPr>
          <a:xfrm>
            <a:off x="7107527" y="5992814"/>
            <a:ext cx="4663250"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r" defTabSz="622300" rtl="0" eaLnBrk="1" fontAlgn="auto" latinLnBrk="0" hangingPunct="1">
              <a:lnSpc>
                <a:spcPct val="90000"/>
              </a:lnSpc>
              <a:spcBef>
                <a:spcPct val="0"/>
              </a:spcBef>
              <a:spcAft>
                <a:spcPct val="35000"/>
              </a:spcAft>
              <a:buClrTx/>
              <a:buSzTx/>
              <a:buFontTx/>
              <a:buNone/>
              <a:tabLst/>
              <a:defRPr/>
            </a:pPr>
            <a:r>
              <a:rPr kumimoji="0" lang="fr-FR"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For full </a:t>
            </a:r>
            <a:r>
              <a:rPr kumimoji="0" lang="fr-FR" sz="1200" b="0" i="1"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steps</a:t>
            </a:r>
            <a:r>
              <a:rPr kumimoji="0" lang="fr-FR"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200" b="0" i="1"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please</a:t>
            </a:r>
            <a:r>
              <a:rPr kumimoji="0" lang="fr-FR"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200" b="0" i="1"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refer</a:t>
            </a:r>
            <a:r>
              <a:rPr kumimoji="0" lang="fr-FR"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to </a:t>
            </a:r>
            <a:r>
              <a:rPr kumimoji="0" lang="fr-FR" sz="1200" b="0" i="1"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Period</a:t>
            </a:r>
            <a:r>
              <a:rPr kumimoji="0" lang="fr-FR"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End </a:t>
            </a:r>
            <a:r>
              <a:rPr kumimoji="0" lang="fr-FR" sz="1200" b="0" i="1"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Closing</a:t>
            </a:r>
            <a:r>
              <a:rPr kumimoji="0" lang="fr-FR"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KT</a:t>
            </a:r>
            <a:endParaRPr kumimoji="0" lang="en-GB" sz="1200" b="0" i="1"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pic>
        <p:nvPicPr>
          <p:cNvPr id="4" name="Picture 3">
            <a:extLst>
              <a:ext uri="{FF2B5EF4-FFF2-40B4-BE49-F238E27FC236}">
                <a16:creationId xmlns:a16="http://schemas.microsoft.com/office/drawing/2014/main" id="{BB69F042-DB4E-4D50-A2EF-6582380BCADA}"/>
              </a:ext>
            </a:extLst>
          </p:cNvPr>
          <p:cNvPicPr>
            <a:picLocks noChangeAspect="1"/>
          </p:cNvPicPr>
          <p:nvPr/>
        </p:nvPicPr>
        <p:blipFill rotWithShape="1">
          <a:blip r:embed="rId3"/>
          <a:srcRect b="38938"/>
          <a:stretch/>
        </p:blipFill>
        <p:spPr>
          <a:xfrm>
            <a:off x="8292607" y="3714194"/>
            <a:ext cx="2792316" cy="317030"/>
          </a:xfrm>
          <a:prstGeom prst="rect">
            <a:avLst/>
          </a:prstGeom>
        </p:spPr>
      </p:pic>
      <p:pic>
        <p:nvPicPr>
          <p:cNvPr id="28" name="Picture 27">
            <a:extLst>
              <a:ext uri="{FF2B5EF4-FFF2-40B4-BE49-F238E27FC236}">
                <a16:creationId xmlns:a16="http://schemas.microsoft.com/office/drawing/2014/main" id="{348FDFDE-A81F-4DEF-AD96-DC8F8C7B8E39}"/>
              </a:ext>
            </a:extLst>
          </p:cNvPr>
          <p:cNvPicPr>
            <a:picLocks noChangeAspect="1"/>
          </p:cNvPicPr>
          <p:nvPr/>
        </p:nvPicPr>
        <p:blipFill>
          <a:blip r:embed="rId4"/>
          <a:stretch>
            <a:fillRect/>
          </a:stretch>
        </p:blipFill>
        <p:spPr>
          <a:xfrm>
            <a:off x="343698" y="5528252"/>
            <a:ext cx="2950005" cy="860238"/>
          </a:xfrm>
          <a:prstGeom prst="rect">
            <a:avLst/>
          </a:prstGeom>
        </p:spPr>
      </p:pic>
      <p:sp>
        <p:nvSpPr>
          <p:cNvPr id="30" name="Rectangle 29">
            <a:extLst>
              <a:ext uri="{FF2B5EF4-FFF2-40B4-BE49-F238E27FC236}">
                <a16:creationId xmlns:a16="http://schemas.microsoft.com/office/drawing/2014/main" id="{FDCE1D44-7F97-4BBF-BC26-2F0F563436E1}"/>
              </a:ext>
            </a:extLst>
          </p:cNvPr>
          <p:cNvSpPr/>
          <p:nvPr/>
        </p:nvSpPr>
        <p:spPr>
          <a:xfrm>
            <a:off x="8026327" y="5332651"/>
            <a:ext cx="291264" cy="291264"/>
          </a:xfrm>
          <a:prstGeom prst="rect">
            <a:avLst/>
          </a:prstGeom>
          <a:solidFill>
            <a:srgbClr val="FFC000"/>
          </a:solidFill>
        </p:spPr>
        <p:style>
          <a:lnRef idx="1">
            <a:schemeClr val="accent1">
              <a:shade val="50000"/>
              <a:hueOff val="-8557"/>
              <a:satOff val="4739"/>
              <a:lumOff val="9203"/>
              <a:alphaOff val="0"/>
            </a:schemeClr>
          </a:lnRef>
          <a:fillRef idx="1">
            <a:scrgbClr r="0" g="0" b="0"/>
          </a:fillRef>
          <a:effectRef idx="2">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1" name="Freeform 50">
            <a:extLst>
              <a:ext uri="{FF2B5EF4-FFF2-40B4-BE49-F238E27FC236}">
                <a16:creationId xmlns:a16="http://schemas.microsoft.com/office/drawing/2014/main" id="{1FF5BAB5-CBD4-405A-B9F3-27BE123A2A7C}"/>
              </a:ext>
            </a:extLst>
          </p:cNvPr>
          <p:cNvSpPr/>
          <p:nvPr/>
        </p:nvSpPr>
        <p:spPr>
          <a:xfrm>
            <a:off x="8299621" y="5331626"/>
            <a:ext cx="3335044" cy="485100"/>
          </a:xfrm>
          <a:custGeom>
            <a:avLst/>
            <a:gdLst>
              <a:gd name="connsiteX0" fmla="*/ 0 w 3687302"/>
              <a:gd name="connsiteY0" fmla="*/ 0 h 678938"/>
              <a:gd name="connsiteX1" fmla="*/ 3687302 w 3687302"/>
              <a:gd name="connsiteY1" fmla="*/ 0 h 678938"/>
              <a:gd name="connsiteX2" fmla="*/ 3687302 w 3687302"/>
              <a:gd name="connsiteY2" fmla="*/ 678938 h 678938"/>
              <a:gd name="connsiteX3" fmla="*/ 0 w 3687302"/>
              <a:gd name="connsiteY3" fmla="*/ 678938 h 678938"/>
              <a:gd name="connsiteX4" fmla="*/ 0 w 3687302"/>
              <a:gd name="connsiteY4" fmla="*/ 0 h 678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7302" h="678938">
                <a:moveTo>
                  <a:pt x="0" y="0"/>
                </a:moveTo>
                <a:lnTo>
                  <a:pt x="3687302" y="0"/>
                </a:lnTo>
                <a:lnTo>
                  <a:pt x="3687302" y="678938"/>
                </a:lnTo>
                <a:lnTo>
                  <a:pt x="0" y="67893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568" tIns="99568" rIns="99568" bIns="99568" numCol="1" spcCol="1270" anchor="ctr" anchorCtr="0">
            <a:noAutofit/>
          </a:bodyPr>
          <a:lstStyle/>
          <a:p>
            <a:pPr marL="0" marR="0" lvl="0" indent="0" algn="l" defTabSz="622300" rtl="0" eaLnBrk="1" fontAlgn="auto" latinLnBrk="0" hangingPunct="1">
              <a:lnSpc>
                <a:spcPct val="90000"/>
              </a:lnSpc>
              <a:spcBef>
                <a:spcPct val="0"/>
              </a:spcBef>
              <a:spcAft>
                <a:spcPts val="0"/>
              </a:spcAft>
              <a:buClrTx/>
              <a:buSzTx/>
              <a:buFontTx/>
              <a:buNone/>
              <a:tabLst/>
              <a:defRPr/>
            </a:pPr>
            <a:r>
              <a:rPr kumimoji="0" lang="en-GB" sz="14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Final</a:t>
            </a: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settlement of Branded WBS settlements (multiple executions before the close) and </a:t>
            </a:r>
            <a:r>
              <a:rPr kumimoji="0" lang="en-GB" sz="1400" b="0" i="0" u="none" strike="noStrike" kern="1200" cap="none" spc="0" normalizeH="0" baseline="0" noProof="0" err="1">
                <a:ln>
                  <a:noFill/>
                </a:ln>
                <a:solidFill>
                  <a:srgbClr val="000000">
                    <a:hueOff val="0"/>
                    <a:satOff val="0"/>
                    <a:lumOff val="0"/>
                    <a:alphaOff val="0"/>
                  </a:srgbClr>
                </a:solidFill>
                <a:effectLst/>
                <a:uLnTx/>
                <a:uFillTx/>
                <a:latin typeface="Arial" panose="020B0604020202020204"/>
                <a:ea typeface="+mn-ea"/>
                <a:cs typeface="+mn-cs"/>
              </a:rPr>
              <a:t>Multibrand</a:t>
            </a:r>
            <a:r>
              <a:rPr kumimoji="0" lang="en-GB" sz="1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with ZZZ </a:t>
            </a:r>
          </a:p>
        </p:txBody>
      </p:sp>
      <p:sp>
        <p:nvSpPr>
          <p:cNvPr id="32" name="Rectangle: Rounded Corners 31">
            <a:extLst>
              <a:ext uri="{FF2B5EF4-FFF2-40B4-BE49-F238E27FC236}">
                <a16:creationId xmlns:a16="http://schemas.microsoft.com/office/drawing/2014/main" id="{0BD8FC32-41C2-423F-A870-0EEC81653D1A}"/>
              </a:ext>
            </a:extLst>
          </p:cNvPr>
          <p:cNvSpPr/>
          <p:nvPr/>
        </p:nvSpPr>
        <p:spPr>
          <a:xfrm>
            <a:off x="7892495" y="3100108"/>
            <a:ext cx="3704166" cy="106203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36DE1A67-6005-48A7-A88A-2007530B2D12}"/>
              </a:ext>
            </a:extLst>
          </p:cNvPr>
          <p:cNvSpPr/>
          <p:nvPr/>
        </p:nvSpPr>
        <p:spPr>
          <a:xfrm>
            <a:off x="8306332" y="4854239"/>
            <a:ext cx="2659605" cy="28457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WD3 10.00  BSC time </a:t>
            </a:r>
          </a:p>
        </p:txBody>
      </p:sp>
      <p:sp>
        <p:nvSpPr>
          <p:cNvPr id="33" name="Rectangle: Rounded Corners 32">
            <a:extLst>
              <a:ext uri="{FF2B5EF4-FFF2-40B4-BE49-F238E27FC236}">
                <a16:creationId xmlns:a16="http://schemas.microsoft.com/office/drawing/2014/main" id="{2F817115-6AB9-4A90-AF19-AEEB1279EE4C}"/>
              </a:ext>
            </a:extLst>
          </p:cNvPr>
          <p:cNvSpPr/>
          <p:nvPr/>
        </p:nvSpPr>
        <p:spPr>
          <a:xfrm>
            <a:off x="7930499" y="4298874"/>
            <a:ext cx="3704166" cy="90719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TextBox 33">
            <a:extLst>
              <a:ext uri="{FF2B5EF4-FFF2-40B4-BE49-F238E27FC236}">
                <a16:creationId xmlns:a16="http://schemas.microsoft.com/office/drawing/2014/main" id="{976E3019-D4EF-4903-9DAA-5D2AC9A85F51}"/>
              </a:ext>
            </a:extLst>
          </p:cNvPr>
          <p:cNvSpPr txBox="1"/>
          <p:nvPr/>
        </p:nvSpPr>
        <p:spPr>
          <a:xfrm>
            <a:off x="9663910" y="6496827"/>
            <a:ext cx="2139331" cy="230832"/>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ＭＳ Ｐゴシック"/>
                <a:cs typeface="Arial"/>
              </a:rPr>
              <a:t>S/4 UAT Controlling Madrid -  2019</a:t>
            </a:r>
          </a:p>
        </p:txBody>
      </p:sp>
      <p:sp>
        <p:nvSpPr>
          <p:cNvPr id="35" name="Speech Bubble: Rectangle 34">
            <a:extLst>
              <a:ext uri="{FF2B5EF4-FFF2-40B4-BE49-F238E27FC236}">
                <a16:creationId xmlns:a16="http://schemas.microsoft.com/office/drawing/2014/main" id="{B96B22AF-7C0B-47BF-9DCD-4F315A71763D}"/>
              </a:ext>
            </a:extLst>
          </p:cNvPr>
          <p:cNvSpPr/>
          <p:nvPr/>
        </p:nvSpPr>
        <p:spPr>
          <a:xfrm>
            <a:off x="5403892" y="3801349"/>
            <a:ext cx="1903764" cy="757617"/>
          </a:xfrm>
          <a:prstGeom prst="wedgeRectCallout">
            <a:avLst>
              <a:gd name="adj1" fmla="val 105326"/>
              <a:gd name="adj2" fmla="val 83678"/>
            </a:avLst>
          </a:prstGeom>
          <a:solidFill>
            <a:schemeClr val="accent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5" name="Graphic 24" descr="Warning">
            <a:extLst>
              <a:ext uri="{FF2B5EF4-FFF2-40B4-BE49-F238E27FC236}">
                <a16:creationId xmlns:a16="http://schemas.microsoft.com/office/drawing/2014/main" id="{B233C3BE-F149-48B2-BA48-7C07C616F3E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65937" y="3335895"/>
            <a:ext cx="574766" cy="574766"/>
          </a:xfrm>
          <a:prstGeom prst="rect">
            <a:avLst/>
          </a:prstGeom>
        </p:spPr>
      </p:pic>
      <p:sp>
        <p:nvSpPr>
          <p:cNvPr id="29" name="Speech Bubble: Rectangle 28">
            <a:extLst>
              <a:ext uri="{FF2B5EF4-FFF2-40B4-BE49-F238E27FC236}">
                <a16:creationId xmlns:a16="http://schemas.microsoft.com/office/drawing/2014/main" id="{294D4C06-978C-4BE7-BE6E-876F28ECAB7A}"/>
              </a:ext>
            </a:extLst>
          </p:cNvPr>
          <p:cNvSpPr/>
          <p:nvPr/>
        </p:nvSpPr>
        <p:spPr>
          <a:xfrm>
            <a:off x="5434150" y="3648920"/>
            <a:ext cx="1903764" cy="1218634"/>
          </a:xfrm>
          <a:prstGeom prst="wedgeRectCallout">
            <a:avLst>
              <a:gd name="adj1" fmla="val 101895"/>
              <a:gd name="adj2" fmla="val -74858"/>
            </a:avLst>
          </a:prstGeom>
          <a:solidFill>
            <a:schemeClr val="accent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NB!. Attention for variances posted to Markets e.g. Excise,.. and lead time for manual postings</a:t>
            </a:r>
          </a:p>
        </p:txBody>
      </p:sp>
    </p:spTree>
    <p:extLst>
      <p:ext uri="{BB962C8B-B14F-4D97-AF65-F5344CB8AC3E}">
        <p14:creationId xmlns:p14="http://schemas.microsoft.com/office/powerpoint/2010/main" val="30314103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wLtFvJPmZMIJRo0G1gMKg"/>
</p:tagLst>
</file>

<file path=ppt/theme/theme1.xml><?xml version="1.0" encoding="utf-8"?>
<a:theme xmlns:a="http://schemas.openxmlformats.org/drawingml/2006/main" name="S4F-ERP Profitability Analysis">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384513A9-B132-4093-A4C3-E888958BF0B7}"/>
</file>

<file path=customXml/itemProps2.xml><?xml version="1.0" encoding="utf-8"?>
<ds:datastoreItem xmlns:ds="http://schemas.openxmlformats.org/officeDocument/2006/customXml" ds:itemID="{39996158-45DC-410C-BCDD-548EAEF1981C}">
  <ds:schemaRefs>
    <ds:schemaRef ds:uri="http://schemas.microsoft.com/sharepoint/v3/contenttype/forms"/>
  </ds:schemaRefs>
</ds:datastoreItem>
</file>

<file path=customXml/itemProps3.xml><?xml version="1.0" encoding="utf-8"?>
<ds:datastoreItem xmlns:ds="http://schemas.openxmlformats.org/officeDocument/2006/customXml" ds:itemID="{7D9607B1-4CB1-4121-9C9B-BFBB6E95EA34}">
  <ds:schemaRefs>
    <ds:schemaRef ds:uri="http://purl.org/dc/terms/"/>
    <ds:schemaRef ds:uri="http://schemas.microsoft.com/office/2006/metadata/properties"/>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033d2065-0f41-4cc7-b07b-20f12998cf87"/>
    <ds:schemaRef ds:uri="da913ec1-a210-4093-97d6-83558d020e4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2572</TotalTime>
  <Words>2955</Words>
  <Application>Microsoft Office PowerPoint</Application>
  <PresentationFormat>Widescreen</PresentationFormat>
  <Paragraphs>570</Paragraphs>
  <Slides>23</Slides>
  <Notes>6</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0" baseType="lpstr">
      <vt:lpstr>Arial</vt:lpstr>
      <vt:lpstr>Calibri</vt:lpstr>
      <vt:lpstr>Georgia</vt:lpstr>
      <vt:lpstr>Wingdings</vt:lpstr>
      <vt:lpstr>S4F-ERP Profitability Analysis</vt:lpstr>
      <vt:lpstr>JTI</vt:lpstr>
      <vt:lpstr>think-cell Slide</vt:lpstr>
      <vt:lpstr>Course Structure</vt:lpstr>
      <vt:lpstr>PowerPoint Presentation</vt:lpstr>
      <vt:lpstr>PowerPoint Presentation</vt:lpstr>
      <vt:lpstr>How Market P&amp;L Lines link to JTIOs   </vt:lpstr>
      <vt:lpstr>G/L Masterdata &amp; Functional Area (FA) -  Posting Rules as per SAP</vt:lpstr>
      <vt:lpstr>Market P&amp;L Areas of Change</vt:lpstr>
      <vt:lpstr>Simplified Revenue Accounts</vt:lpstr>
      <vt:lpstr>Example of Changes</vt:lpstr>
      <vt:lpstr>Overview of Sales Account</vt:lpstr>
      <vt:lpstr>Market P&amp;L Area of Change</vt:lpstr>
      <vt:lpstr>Allowances &amp; Marketing Investments Framework</vt:lpstr>
      <vt:lpstr>New Allowances – JTIG and JTIO</vt:lpstr>
      <vt:lpstr>Allowances Marketing Investment &amp;  Marketing</vt:lpstr>
      <vt:lpstr>Market P&amp;L Areas of Change</vt:lpstr>
      <vt:lpstr>COGS Lines with enhanced transparency</vt:lpstr>
      <vt:lpstr>COGS Splitting  (Cost component group - FI Posting)</vt:lpstr>
      <vt:lpstr>COGS Splitting Flow Standard vs Actual Variances</vt:lpstr>
      <vt:lpstr>COGS Splitting Flow - Actual Variances reference</vt:lpstr>
      <vt:lpstr>COGS Splitting Flow – Standard vs Actual Variances </vt:lpstr>
      <vt:lpstr>Back-2-back COGS flow</vt:lpstr>
      <vt:lpstr>Back-2-back COGS flow - Summary</vt:lpstr>
      <vt:lpstr>Market P&amp;L Lines / JTIG / JTIO</vt:lpstr>
      <vt:lpstr>Attention to Period End Key Closing tasks  Sales / COGS / WBS / Manual postings*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1</cp:revision>
  <dcterms:created xsi:type="dcterms:W3CDTF">2019-10-14T14:14:34Z</dcterms:created>
  <dcterms:modified xsi:type="dcterms:W3CDTF">2019-10-16T09:07:05Z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1284300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