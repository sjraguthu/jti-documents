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414" r:id="rId5"/>
    <p:sldId id="2396" r:id="rId6"/>
    <p:sldId id="2397" r:id="rId7"/>
    <p:sldId id="3007" r:id="rId8"/>
    <p:sldId id="3006" r:id="rId9"/>
    <p:sldId id="2399" r:id="rId10"/>
    <p:sldId id="2400" r:id="rId11"/>
    <p:sldId id="2401" r:id="rId12"/>
    <p:sldId id="305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10.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3114"/>
          </a:xfrm>
          <a:prstGeom prst="rect">
            <a:avLst/>
          </a:prstGeom>
        </p:spPr>
      </p:pic>
      <p:sp>
        <p:nvSpPr>
          <p:cNvPr id="6" name="Rectangle 5"/>
          <p:cNvSpPr/>
          <p:nvPr userDrawn="1"/>
        </p:nvSpPr>
        <p:spPr>
          <a:xfrm>
            <a:off x="0" y="4199439"/>
            <a:ext cx="12192000" cy="1440000"/>
          </a:xfrm>
          <a:prstGeom prst="rect">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50359" y="4381467"/>
            <a:ext cx="1118616" cy="1075944"/>
          </a:xfrm>
          <a:prstGeom prst="rect">
            <a:avLst/>
          </a:prstGeom>
        </p:spPr>
      </p:pic>
    </p:spTree>
    <p:extLst>
      <p:ext uri="{BB962C8B-B14F-4D97-AF65-F5344CB8AC3E}">
        <p14:creationId xmlns:p14="http://schemas.microsoft.com/office/powerpoint/2010/main" val="2288626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386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1621237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968867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346661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923354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4014294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 </a:t>
            </a:r>
            <a:r>
              <a:rPr kumimoji="0" lang="en-GB" sz="800" b="0" i="0" u="none" strike="noStrike" kern="1200" cap="none" spc="0" normalizeH="0" baseline="0" noProof="0" err="1">
                <a:ln>
                  <a:noFill/>
                </a:ln>
                <a:solidFill>
                  <a:srgbClr val="FFFFFF"/>
                </a:solidFill>
                <a:effectLst/>
                <a:uLnTx/>
                <a:uFillTx/>
                <a:latin typeface="Arial" panose="020B0604020202020204"/>
                <a:ea typeface="+mn-ea"/>
                <a:cs typeface="+mn-cs"/>
              </a:rPr>
              <a:t>JTI</a:t>
            </a: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spTree>
    <p:extLst>
      <p:ext uri="{BB962C8B-B14F-4D97-AF65-F5344CB8AC3E}">
        <p14:creationId xmlns:p14="http://schemas.microsoft.com/office/powerpoint/2010/main" val="2597755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5938" y="12539"/>
            <a:ext cx="10837863" cy="1325563"/>
          </a:xfrm>
        </p:spPr>
        <p:txBody>
          <a:bodyPr>
            <a:normAutofit/>
          </a:bodyPr>
          <a:lstStyle>
            <a:lvl1pPr>
              <a:defRPr sz="3199">
                <a:latin typeface="Arial" charset="0"/>
                <a:ea typeface="Arial" charset="0"/>
                <a:cs typeface="Arial" charset="0"/>
              </a:defRPr>
            </a:lvl1pPr>
          </a:lstStyle>
          <a:p>
            <a:r>
              <a:rPr lang="en-US"/>
              <a:t>Click to edit Master title style</a:t>
            </a:r>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2"/>
            <a:ext cx="10837863" cy="4067101"/>
          </a:xfrm>
        </p:spPr>
        <p:txBody>
          <a:bodyPr/>
          <a:lstStyle>
            <a:lvl3pPr marL="399930" indent="-195204">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Date Placeholder 14"/>
          <p:cNvSpPr>
            <a:spLocks noGrp="1"/>
          </p:cNvSpPr>
          <p:nvPr>
            <p:ph type="dt" sz="half" idx="10"/>
          </p:nvPr>
        </p:nvSpPr>
        <p:spPr/>
        <p:txBody>
          <a:bodyPr/>
          <a:lstStyle/>
          <a:p>
            <a:endParaRPr lang="en-GB"/>
          </a:p>
        </p:txBody>
      </p:sp>
      <p:sp>
        <p:nvSpPr>
          <p:cNvPr id="17" name="Footer Placeholder 16"/>
          <p:cNvSpPr>
            <a:spLocks noGrp="1"/>
          </p:cNvSpPr>
          <p:nvPr>
            <p:ph type="ftr" sz="quarter" idx="11"/>
          </p:nvPr>
        </p:nvSpPr>
        <p:spPr>
          <a:xfrm>
            <a:off x="7316057" y="6356352"/>
            <a:ext cx="4114800" cy="365125"/>
          </a:xfrm>
        </p:spPr>
        <p:txBody>
          <a:bodyPr/>
          <a:lstStyle>
            <a:lvl1pPr algn="r">
              <a:defRPr sz="800"/>
            </a:lvl1pPr>
          </a:lstStyle>
          <a:p>
            <a:pPr>
              <a:defRPr/>
            </a:pPr>
            <a:fld id="{737923CA-60CF-4E27-AE00-5869EACE0DFB}" type="slidenum">
              <a:rPr lang="en-US" smtClean="0"/>
              <a:pPr>
                <a:defRPr/>
              </a:pPr>
              <a:t>‹#›</a:t>
            </a:fld>
            <a:endParaRPr lang="en-US"/>
          </a:p>
        </p:txBody>
      </p:sp>
    </p:spTree>
    <p:extLst>
      <p:ext uri="{BB962C8B-B14F-4D97-AF65-F5344CB8AC3E}">
        <p14:creationId xmlns:p14="http://schemas.microsoft.com/office/powerpoint/2010/main" val="2014247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BBF04DD-055F-4DF8-8046-823C8DE061DF}"/>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5" imgW="415" imgH="416" progId="TCLayout.ActiveDocument.1">
                  <p:embed/>
                </p:oleObj>
              </mc:Choice>
              <mc:Fallback>
                <p:oleObj name="think-cell Slide" r:id="rId5" imgW="415" imgH="416" progId="TCLayout.ActiveDocument.1">
                  <p:embed/>
                  <p:pic>
                    <p:nvPicPr>
                      <p:cNvPr id="3" name="Object 2" hidden="1">
                        <a:extLst>
                          <a:ext uri="{FF2B5EF4-FFF2-40B4-BE49-F238E27FC236}">
                            <a16:creationId xmlns:a16="http://schemas.microsoft.com/office/drawing/2014/main" id="{1BBF04DD-055F-4DF8-8046-823C8DE061D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31270673-9415-401F-89B5-DB068CE9828E}"/>
              </a:ext>
            </a:extLst>
          </p:cNvPr>
          <p:cNvSpPr/>
          <p:nvPr userDrawn="1">
            <p:custDataLst>
              <p:tags r:id="rId3"/>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199" b="1" i="0" baseline="0">
              <a:latin typeface="Arial" panose="020B0604020202020204" pitchFamily="34" charset="0"/>
              <a:ea typeface="+mj-ea"/>
              <a:cs typeface="+mj-cs"/>
              <a:sym typeface="Arial" panose="020B0604020202020204" pitchFamily="34" charset="0"/>
            </a:endParaRPr>
          </a:p>
        </p:txBody>
      </p:sp>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4" name="Footer Placeholder 3"/>
          <p:cNvSpPr>
            <a:spLocks noGrp="1"/>
          </p:cNvSpPr>
          <p:nvPr>
            <p:ph type="ftr" sz="quarter" idx="11"/>
          </p:nvPr>
        </p:nvSpPr>
        <p:spPr/>
        <p:txBody>
          <a:bodyPr/>
          <a:lstStyle/>
          <a:p>
            <a:r>
              <a:rPr lang="en-US"/>
              <a:t>S4F-ERP FIT 2</a:t>
            </a:r>
          </a:p>
        </p:txBody>
      </p:sp>
      <p:sp>
        <p:nvSpPr>
          <p:cNvPr id="5" name="Slide Number Placeholder 4"/>
          <p:cNvSpPr>
            <a:spLocks noGrp="1"/>
          </p:cNvSpPr>
          <p:nvPr>
            <p:ph type="sldNum" sz="quarter" idx="12"/>
          </p:nvPr>
        </p:nvSpPr>
        <p:spPr>
          <a:xfrm>
            <a:off x="9144000" y="6465095"/>
            <a:ext cx="2743200" cy="365125"/>
          </a:xfrm>
        </p:spPr>
        <p:txBody>
          <a:bodyPr/>
          <a:lstStyle>
            <a:lvl1pPr>
              <a:defRPr sz="800"/>
            </a:lvl1p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US" sz="800"/>
              <a:t>© JTI 2018 Confidential </a:t>
            </a:r>
          </a:p>
        </p:txBody>
      </p:sp>
    </p:spTree>
    <p:extLst>
      <p:ext uri="{BB962C8B-B14F-4D97-AF65-F5344CB8AC3E}">
        <p14:creationId xmlns:p14="http://schemas.microsoft.com/office/powerpoint/2010/main" val="2074796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5647609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256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19" name="Group 18">
            <a:extLst>
              <a:ext uri="{FF2B5EF4-FFF2-40B4-BE49-F238E27FC236}">
                <a16:creationId xmlns:a16="http://schemas.microsoft.com/office/drawing/2014/main" id="{3F49BABF-73A4-41A0-8EC8-DC283FC79D84}"/>
              </a:ext>
            </a:extLst>
          </p:cNvPr>
          <p:cNvGrpSpPr/>
          <p:nvPr/>
        </p:nvGrpSpPr>
        <p:grpSpPr>
          <a:xfrm>
            <a:off x="5528631" y="3259431"/>
            <a:ext cx="5549040" cy="2188353"/>
            <a:chOff x="6584291" y="1837512"/>
            <a:chExt cx="5549040" cy="2188353"/>
          </a:xfrm>
        </p:grpSpPr>
        <p:cxnSp>
          <p:nvCxnSpPr>
            <p:cNvPr id="8" name="Elbow Connector 7"/>
            <p:cNvCxnSpPr>
              <a:cxnSpLocks/>
            </p:cNvCxnSpPr>
            <p:nvPr/>
          </p:nvCxnSpPr>
          <p:spPr>
            <a:xfrm>
              <a:off x="6623879" y="3060320"/>
              <a:ext cx="1648012" cy="768387"/>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 name="Elbow Connector 4"/>
            <p:cNvCxnSpPr>
              <a:cxnSpLocks/>
            </p:cNvCxnSpPr>
            <p:nvPr/>
          </p:nvCxnSpPr>
          <p:spPr>
            <a:xfrm flipV="1">
              <a:off x="6584291" y="2095050"/>
              <a:ext cx="1728470" cy="965270"/>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cxnSpLocks/>
            </p:cNvCxnSpPr>
            <p:nvPr/>
          </p:nvCxnSpPr>
          <p:spPr>
            <a:xfrm flipV="1">
              <a:off x="7454594" y="3060320"/>
              <a:ext cx="830539" cy="1959"/>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8441536" y="2540666"/>
              <a:ext cx="3691795" cy="803812"/>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1A3040"/>
                  </a:solidFill>
                  <a:effectLst/>
                  <a:uLnTx/>
                  <a:uFillTx/>
                  <a:latin typeface="Arial" charset="0"/>
                  <a:ea typeface="+mn-ea"/>
                  <a:cs typeface="Arial" charset="0"/>
                </a:rPr>
                <a:t>Granularity behind P&amp;L Lines</a:t>
              </a:r>
            </a:p>
          </p:txBody>
        </p:sp>
        <p:sp>
          <p:nvSpPr>
            <p:cNvPr id="40" name="Rounded Rectangle 39"/>
            <p:cNvSpPr/>
            <p:nvPr/>
          </p:nvSpPr>
          <p:spPr>
            <a:xfrm>
              <a:off x="8437138" y="1837512"/>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a:ea typeface="+mn-ea"/>
                  <a:cs typeface="Arial"/>
                </a:rPr>
                <a:t>Changes to Market P&amp;L</a:t>
              </a:r>
              <a:endParaRPr kumimoji="0" lang="en-US" sz="1400" b="0" i="0" u="none" strike="noStrike" kern="1200" cap="none" spc="0" normalizeH="0" baseline="0" noProof="0">
                <a:ln>
                  <a:noFill/>
                </a:ln>
                <a:solidFill>
                  <a:srgbClr val="FFFFFF"/>
                </a:solidFill>
                <a:effectLst/>
                <a:uLnTx/>
                <a:uFillTx/>
                <a:latin typeface="Arial"/>
                <a:ea typeface="+mn-ea"/>
                <a:cs typeface="Arial"/>
              </a:endParaRPr>
            </a:p>
          </p:txBody>
        </p:sp>
        <p:sp>
          <p:nvSpPr>
            <p:cNvPr id="41" name="Rounded Rectangle 40"/>
            <p:cNvSpPr/>
            <p:nvPr/>
          </p:nvSpPr>
          <p:spPr>
            <a:xfrm>
              <a:off x="8437139" y="3495256"/>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Volume Conversion</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33" name="Group 32">
            <a:extLst>
              <a:ext uri="{FF2B5EF4-FFF2-40B4-BE49-F238E27FC236}">
                <a16:creationId xmlns:a16="http://schemas.microsoft.com/office/drawing/2014/main" id="{7659CB34-BAB8-49CF-83DD-37EEA5C5FDB6}"/>
              </a:ext>
            </a:extLst>
          </p:cNvPr>
          <p:cNvGrpSpPr/>
          <p:nvPr/>
        </p:nvGrpSpPr>
        <p:grpSpPr>
          <a:xfrm>
            <a:off x="215246" y="2608814"/>
            <a:ext cx="6278878" cy="2650666"/>
            <a:chOff x="4428422" y="2334368"/>
            <a:chExt cx="7806123" cy="3512903"/>
          </a:xfrm>
        </p:grpSpPr>
        <p:cxnSp>
          <p:nvCxnSpPr>
            <p:cNvPr id="54" name="Straight Connector 53">
              <a:extLst>
                <a:ext uri="{FF2B5EF4-FFF2-40B4-BE49-F238E27FC236}">
                  <a16:creationId xmlns:a16="http://schemas.microsoft.com/office/drawing/2014/main" id="{586A30F1-A8EF-4889-8DAE-E4E015261B5D}"/>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EB1C51B-625F-4B74-B699-621097186700}"/>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E4279ADB-27B1-49F7-9881-50228DFCC828}"/>
                </a:ext>
              </a:extLst>
            </p:cNvPr>
            <p:cNvGrpSpPr/>
            <p:nvPr/>
          </p:nvGrpSpPr>
          <p:grpSpPr>
            <a:xfrm>
              <a:off x="4428422" y="2334368"/>
              <a:ext cx="7806123" cy="3512903"/>
              <a:chOff x="4428422" y="2334368"/>
              <a:chExt cx="7806123" cy="3512903"/>
            </a:xfrm>
          </p:grpSpPr>
          <p:grpSp>
            <p:nvGrpSpPr>
              <p:cNvPr id="57" name="Group 56">
                <a:extLst>
                  <a:ext uri="{FF2B5EF4-FFF2-40B4-BE49-F238E27FC236}">
                    <a16:creationId xmlns:a16="http://schemas.microsoft.com/office/drawing/2014/main" id="{507AA4D6-07AD-41D5-A11D-6E919FF0A921}"/>
                  </a:ext>
                </a:extLst>
              </p:cNvPr>
              <p:cNvGrpSpPr/>
              <p:nvPr/>
            </p:nvGrpSpPr>
            <p:grpSpPr>
              <a:xfrm>
                <a:off x="4428422" y="2334368"/>
                <a:ext cx="7796979" cy="3512903"/>
                <a:chOff x="4371016" y="2260587"/>
                <a:chExt cx="7796979" cy="3512903"/>
              </a:xfrm>
            </p:grpSpPr>
            <p:cxnSp>
              <p:nvCxnSpPr>
                <p:cNvPr id="62" name="Elbow Connector 37">
                  <a:extLst>
                    <a:ext uri="{FF2B5EF4-FFF2-40B4-BE49-F238E27FC236}">
                      <a16:creationId xmlns:a16="http://schemas.microsoft.com/office/drawing/2014/main" id="{B11865B7-5F36-4574-AEE3-38395B34331B}"/>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551CCC41-EF18-4A7E-97B0-83F090984744}"/>
                    </a:ext>
                  </a:extLst>
                </p:cNvPr>
                <p:cNvGrpSpPr/>
                <p:nvPr/>
              </p:nvGrpSpPr>
              <p:grpSpPr>
                <a:xfrm>
                  <a:off x="4371016" y="2260587"/>
                  <a:ext cx="7796979" cy="3512903"/>
                  <a:chOff x="4371016" y="2260587"/>
                  <a:chExt cx="7796979" cy="3512903"/>
                </a:xfrm>
              </p:grpSpPr>
              <p:cxnSp>
                <p:nvCxnSpPr>
                  <p:cNvPr id="64" name="Elbow Connector 31">
                    <a:extLst>
                      <a:ext uri="{FF2B5EF4-FFF2-40B4-BE49-F238E27FC236}">
                        <a16:creationId xmlns:a16="http://schemas.microsoft.com/office/drawing/2014/main" id="{474C7728-C108-4B3C-BE84-1FAF8CE482C0}"/>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8B69FC5A-F458-4166-8FAA-A69A09235C77}"/>
                      </a:ext>
                    </a:extLst>
                  </p:cNvPr>
                  <p:cNvGrpSpPr/>
                  <p:nvPr/>
                </p:nvGrpSpPr>
                <p:grpSpPr>
                  <a:xfrm>
                    <a:off x="4371016" y="2260587"/>
                    <a:ext cx="7796979" cy="3512903"/>
                    <a:chOff x="4371016" y="2260587"/>
                    <a:chExt cx="7796979" cy="3512903"/>
                  </a:xfrm>
                </p:grpSpPr>
                <p:sp>
                  <p:nvSpPr>
                    <p:cNvPr id="66" name="TextBox 65">
                      <a:extLst>
                        <a:ext uri="{FF2B5EF4-FFF2-40B4-BE49-F238E27FC236}">
                          <a16:creationId xmlns:a16="http://schemas.microsoft.com/office/drawing/2014/main" id="{AA096ECD-9933-4661-8689-1F149B08E22D}"/>
                        </a:ext>
                      </a:extLst>
                    </p:cNvPr>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67" name="Group 66">
                      <a:extLst>
                        <a:ext uri="{FF2B5EF4-FFF2-40B4-BE49-F238E27FC236}">
                          <a16:creationId xmlns:a16="http://schemas.microsoft.com/office/drawing/2014/main" id="{BC7D4B82-C6D5-4384-B2A3-E0291DD46CB9}"/>
                        </a:ext>
                      </a:extLst>
                    </p:cNvPr>
                    <p:cNvGrpSpPr/>
                    <p:nvPr/>
                  </p:nvGrpSpPr>
                  <p:grpSpPr>
                    <a:xfrm>
                      <a:off x="4371016" y="3031011"/>
                      <a:ext cx="1867560" cy="1901181"/>
                      <a:chOff x="575788" y="4361808"/>
                      <a:chExt cx="624164" cy="624164"/>
                    </a:xfrm>
                  </p:grpSpPr>
                  <p:grpSp>
                    <p:nvGrpSpPr>
                      <p:cNvPr id="69" name="Group 68">
                        <a:extLst>
                          <a:ext uri="{FF2B5EF4-FFF2-40B4-BE49-F238E27FC236}">
                            <a16:creationId xmlns:a16="http://schemas.microsoft.com/office/drawing/2014/main" id="{880EA7C5-CCAC-4A4B-9783-D6C130F7DBA8}"/>
                          </a:ext>
                        </a:extLst>
                      </p:cNvPr>
                      <p:cNvGrpSpPr/>
                      <p:nvPr/>
                    </p:nvGrpSpPr>
                    <p:grpSpPr>
                      <a:xfrm>
                        <a:off x="575788" y="4361808"/>
                        <a:ext cx="624164" cy="624164"/>
                        <a:chOff x="4492144" y="190843"/>
                        <a:chExt cx="855656" cy="855656"/>
                      </a:xfrm>
                    </p:grpSpPr>
                    <p:sp>
                      <p:nvSpPr>
                        <p:cNvPr id="71" name="Oval 70">
                          <a:extLst>
                            <a:ext uri="{FF2B5EF4-FFF2-40B4-BE49-F238E27FC236}">
                              <a16:creationId xmlns:a16="http://schemas.microsoft.com/office/drawing/2014/main" id="{6965B21B-415A-4A85-BBB9-090DEB9A1E7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Oval 71">
                          <a:extLst>
                            <a:ext uri="{FF2B5EF4-FFF2-40B4-BE49-F238E27FC236}">
                              <a16:creationId xmlns:a16="http://schemas.microsoft.com/office/drawing/2014/main" id="{129F608C-7E9D-4E35-AB29-F69EF9F369DF}"/>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70" name="Picture 69">
                        <a:extLst>
                          <a:ext uri="{FF2B5EF4-FFF2-40B4-BE49-F238E27FC236}">
                            <a16:creationId xmlns:a16="http://schemas.microsoft.com/office/drawing/2014/main" id="{61901429-4174-45A6-9280-778003C395E3}"/>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68" name="TextBox 67">
                      <a:extLst>
                        <a:ext uri="{FF2B5EF4-FFF2-40B4-BE49-F238E27FC236}">
                          <a16:creationId xmlns:a16="http://schemas.microsoft.com/office/drawing/2014/main" id="{817E0F07-EAB3-4D71-8AEC-9FAC8B20054B}"/>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58" name="TextBox 57">
                <a:extLst>
                  <a:ext uri="{FF2B5EF4-FFF2-40B4-BE49-F238E27FC236}">
                    <a16:creationId xmlns:a16="http://schemas.microsoft.com/office/drawing/2014/main" id="{5723261F-8DA7-4715-95A8-DC5495C62578}"/>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9" name="Straight Connector 58">
                <a:extLst>
                  <a:ext uri="{FF2B5EF4-FFF2-40B4-BE49-F238E27FC236}">
                    <a16:creationId xmlns:a16="http://schemas.microsoft.com/office/drawing/2014/main" id="{8C25142F-A0B5-48B3-B2EB-D5825A4CFAEC}"/>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8621FC34-55E0-4EFD-92FE-B5BB661A76F7}"/>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61" name="TextBox 60">
                <a:extLst>
                  <a:ext uri="{FF2B5EF4-FFF2-40B4-BE49-F238E27FC236}">
                    <a16:creationId xmlns:a16="http://schemas.microsoft.com/office/drawing/2014/main" id="{29BBC5E0-4766-4B0D-A199-0D05885AC275}"/>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spTree>
    <p:extLst>
      <p:ext uri="{BB962C8B-B14F-4D97-AF65-F5344CB8AC3E}">
        <p14:creationId xmlns:p14="http://schemas.microsoft.com/office/powerpoint/2010/main" val="2559126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5F97E-E636-4F48-8E25-BEE0A89DD670}"/>
              </a:ext>
            </a:extLst>
          </p:cNvPr>
          <p:cNvSpPr>
            <a:spLocks noGrp="1"/>
          </p:cNvSpPr>
          <p:nvPr>
            <p:ph type="title"/>
          </p:nvPr>
        </p:nvSpPr>
        <p:spPr>
          <a:xfrm>
            <a:off x="1511276" y="223407"/>
            <a:ext cx="10584930" cy="984247"/>
          </a:xfrm>
        </p:spPr>
        <p:txBody>
          <a:bodyPr/>
          <a:lstStyle/>
          <a:p>
            <a:r>
              <a:rPr lang="en-US"/>
              <a:t>What granularity do we expect behind P&amp;L lines?</a:t>
            </a:r>
          </a:p>
        </p:txBody>
      </p:sp>
      <p:sp>
        <p:nvSpPr>
          <p:cNvPr id="4" name="Footer Placeholder 3">
            <a:extLst>
              <a:ext uri="{FF2B5EF4-FFF2-40B4-BE49-F238E27FC236}">
                <a16:creationId xmlns:a16="http://schemas.microsoft.com/office/drawing/2014/main" id="{54EEB211-AAFF-498F-A2DD-CEB17144D0AC}"/>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648862AA-5E17-44AE-8B79-6B5667C6F6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6" name="Connecteur droit 23">
            <a:extLst>
              <a:ext uri="{FF2B5EF4-FFF2-40B4-BE49-F238E27FC236}">
                <a16:creationId xmlns:a16="http://schemas.microsoft.com/office/drawing/2014/main" id="{FBD3F30A-6FA8-4BF8-B083-D4E842E0A5AB}"/>
              </a:ext>
            </a:extLst>
          </p:cNvPr>
          <p:cNvCxnSpPr/>
          <p:nvPr/>
        </p:nvCxnSpPr>
        <p:spPr>
          <a:xfrm>
            <a:off x="1560310" y="4866750"/>
            <a:ext cx="2112511" cy="2034096"/>
          </a:xfrm>
          <a:prstGeom prst="line">
            <a:avLst/>
          </a:prstGeom>
          <a:noFill/>
          <a:ln w="6350" cap="flat" cmpd="sng" algn="ctr">
            <a:solidFill>
              <a:srgbClr val="E03C31">
                <a:alpha val="0"/>
              </a:srgbClr>
            </a:solidFill>
            <a:prstDash val="sysDot"/>
            <a:miter lim="800000"/>
          </a:ln>
          <a:effectLst/>
        </p:spPr>
      </p:cxnSp>
      <p:sp>
        <p:nvSpPr>
          <p:cNvPr id="7" name="Flowchart: Extract 6">
            <a:extLst>
              <a:ext uri="{FF2B5EF4-FFF2-40B4-BE49-F238E27FC236}">
                <a16:creationId xmlns:a16="http://schemas.microsoft.com/office/drawing/2014/main" id="{4AEE455A-B3E4-41AF-97B4-30311731EF26}"/>
              </a:ext>
            </a:extLst>
          </p:cNvPr>
          <p:cNvSpPr/>
          <p:nvPr/>
        </p:nvSpPr>
        <p:spPr bwMode="auto">
          <a:xfrm rot="5400000">
            <a:off x="4408973" y="3941672"/>
            <a:ext cx="3358791" cy="279269"/>
          </a:xfrm>
          <a:prstGeom prst="flowChartExtract">
            <a:avLst/>
          </a:prstGeom>
          <a:solidFill>
            <a:srgbClr val="DDDDDD"/>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8" name="Round Diagonal Corner Rectangle 41">
            <a:extLst>
              <a:ext uri="{FF2B5EF4-FFF2-40B4-BE49-F238E27FC236}">
                <a16:creationId xmlns:a16="http://schemas.microsoft.com/office/drawing/2014/main" id="{4F522F23-C345-476D-9048-73868BD55DC5}"/>
              </a:ext>
            </a:extLst>
          </p:cNvPr>
          <p:cNvSpPr/>
          <p:nvPr/>
        </p:nvSpPr>
        <p:spPr bwMode="auto">
          <a:xfrm>
            <a:off x="560182" y="2334131"/>
            <a:ext cx="5185850" cy="3723769"/>
          </a:xfrm>
          <a:prstGeom prst="round2DiagRect">
            <a:avLst>
              <a:gd name="adj1" fmla="val 895"/>
              <a:gd name="adj2" fmla="val 0"/>
            </a:avLst>
          </a:prstGeom>
          <a:solidFill>
            <a:srgbClr val="7FDDD7">
              <a:alpha val="40000"/>
            </a:srgbClr>
          </a:solidFill>
          <a:ln>
            <a:noFill/>
          </a:ln>
          <a:effectLst/>
        </p:spPr>
        <p:txBody>
          <a:bodyPr vert="horz" wrap="square" lIns="0" tIns="0" rIns="0" bIns="0" numCol="1" rtlCol="0" anchor="t" anchorCtr="0" compatLnSpc="1">
            <a:prstTxWarp prst="textNoShape">
              <a:avLst/>
            </a:prstTxWarp>
          </a:bodyPr>
          <a:lstStyle/>
          <a:p>
            <a:pPr marL="287338" marR="0" lvl="0" indent="-287338" algn="l" defTabSz="914400" rtl="0" eaLnBrk="1" fontAlgn="base" latinLnBrk="0" hangingPunct="1">
              <a:lnSpc>
                <a:spcPct val="100000"/>
              </a:lnSpc>
              <a:spcBef>
                <a:spcPts val="0"/>
              </a:spcBef>
              <a:spcAft>
                <a:spcPts val="0"/>
              </a:spcAft>
              <a:buClrTx/>
              <a:buSzTx/>
              <a:buFont typeface="Wingdings" panose="05000000000000000000" pitchFamily="2" charset="2"/>
              <a:buChar char="v"/>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Defined Corporate minimum standards &amp; dimensions for P&amp;L lines up to:</a:t>
            </a:r>
          </a:p>
          <a:p>
            <a:pPr marL="514350" marR="0" lvl="3" indent="-227013" algn="l" defTabSz="914400" rtl="0" eaLnBrk="1" fontAlgn="base"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OCC </a:t>
            </a:r>
            <a:r>
              <a:rPr kumimoji="0" lang="en-US" sz="18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rPr>
              <a:t> Market (Profit Center)</a:t>
            </a:r>
          </a:p>
          <a:p>
            <a:pPr marL="514350" marR="0" lvl="3" indent="-227013" algn="l" defTabSz="914400" rtl="0" eaLnBrk="1" fontAlgn="base"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rPr>
              <a:t>Gross Margin &amp; Brand Contribution   Brand Family &amp; Prod. Type granularity expected</a:t>
            </a:r>
          </a:p>
          <a:p>
            <a:pPr marL="514350" marR="0" lvl="3" indent="-227013" algn="l" defTabSz="914400" rtl="0" eaLnBrk="1" fontAlgn="base"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rPr>
              <a:t>“</a:t>
            </a:r>
            <a:r>
              <a:rPr kumimoji="0" lang="en-US" sz="1800" b="0" i="1"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rPr>
              <a:t>Variable Gross Margin” </a:t>
            </a:r>
            <a:r>
              <a:rPr kumimoji="0" lang="en-US" sz="18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rPr>
              <a:t> Commercial SKU”</a:t>
            </a:r>
            <a:br>
              <a:rPr kumimoji="0" lang="en-US" sz="18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rPr>
            </a:br>
            <a:endParaRPr kumimoji="0" lang="en-US" sz="1800" b="0" i="1"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endParaRPr>
          </a:p>
          <a:p>
            <a:pPr marL="287338" marR="0" lvl="0" indent="-287338" algn="l" defTabSz="914400" rtl="0" eaLnBrk="1" fontAlgn="base" latinLnBrk="0" hangingPunct="1">
              <a:lnSpc>
                <a:spcPct val="100000"/>
              </a:lnSpc>
              <a:spcBef>
                <a:spcPts val="0"/>
              </a:spcBef>
              <a:spcAft>
                <a:spcPts val="0"/>
              </a:spcAft>
              <a:buClrTx/>
              <a:buSzTx/>
              <a:buFont typeface="Wingdings" panose="05000000000000000000" pitchFamily="2" charset="2"/>
              <a:buChar char="v"/>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Introduction of  “</a:t>
            </a:r>
            <a:r>
              <a:rPr kumimoji="0" lang="en-US" sz="18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Variable Contribution Margin”</a:t>
            </a:r>
            <a:r>
              <a:rPr kumimoji="0" lang="en-US" sz="18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for “</a:t>
            </a:r>
            <a:r>
              <a:rPr kumimoji="0" lang="en-US" sz="18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Commercial – SKU</a:t>
            </a:r>
            <a:r>
              <a:rPr kumimoji="0" lang="en-US" sz="18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a:t>
            </a:r>
            <a:r>
              <a:rPr kumimoji="0" lang="en-US" sz="18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a:t>
            </a:r>
            <a:r>
              <a:rPr kumimoji="0" lang="en-US" sz="18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reflecting “variable – product related P&amp;L lines” foremost retrieved from sales data derived from SKU granularity!</a:t>
            </a:r>
          </a:p>
          <a:p>
            <a:pPr marL="401637" marR="0" lvl="0" indent="-285750" algn="l" defTabSz="914400" rtl="0" eaLnBrk="1" fontAlgn="base" latinLnBrk="0" hangingPunct="1">
              <a:lnSpc>
                <a:spcPct val="100000"/>
              </a:lnSpc>
              <a:spcBef>
                <a:spcPts val="0"/>
              </a:spcBef>
              <a:spcAft>
                <a:spcPts val="0"/>
              </a:spcAft>
              <a:buClrTx/>
              <a:buSzTx/>
              <a:buFont typeface="Wingdings" panose="05000000000000000000" pitchFamily="2" charset="2"/>
              <a:buChar char="v"/>
              <a:tabLst/>
              <a:defRPr/>
            </a:pPr>
            <a:endParaRPr kumimoji="0" lang="en-US" sz="1800" b="1" i="1"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endParaRPr>
          </a:p>
        </p:txBody>
      </p:sp>
      <p:pic>
        <p:nvPicPr>
          <p:cNvPr id="9" name="Picture 8">
            <a:extLst>
              <a:ext uri="{FF2B5EF4-FFF2-40B4-BE49-F238E27FC236}">
                <a16:creationId xmlns:a16="http://schemas.microsoft.com/office/drawing/2014/main" id="{6C597C01-1E3C-432A-83BD-7CF14C18E5DC}"/>
              </a:ext>
            </a:extLst>
          </p:cNvPr>
          <p:cNvPicPr>
            <a:picLocks noChangeAspect="1"/>
          </p:cNvPicPr>
          <p:nvPr/>
        </p:nvPicPr>
        <p:blipFill>
          <a:blip r:embed="rId2" cstate="email">
            <a:lum bright="70000" contrast="-70000"/>
            <a:extLst>
              <a:ext uri="{BEBA8EAE-BF5A-486C-A8C5-ECC9F3942E4B}">
                <a14:imgProps xmlns:a14="http://schemas.microsoft.com/office/drawing/2010/main">
                  <a14:imgLayer r:embed="rId3">
                    <a14:imgEffect>
                      <a14:colorTemperature colorTemp="4700"/>
                    </a14:imgEffect>
                    <a14:imgEffect>
                      <a14:saturation sat="0"/>
                    </a14:imgEffect>
                  </a14:imgLayer>
                </a14:imgProps>
              </a:ext>
              <a:ext uri="{28A0092B-C50C-407E-A947-70E740481C1C}">
                <a14:useLocalDpi xmlns:a14="http://schemas.microsoft.com/office/drawing/2010/main"/>
              </a:ext>
            </a:extLst>
          </a:blip>
          <a:stretch>
            <a:fillRect/>
          </a:stretch>
        </p:blipFill>
        <p:spPr>
          <a:xfrm>
            <a:off x="560182" y="1693224"/>
            <a:ext cx="582261" cy="582261"/>
          </a:xfrm>
          <a:prstGeom prst="rect">
            <a:avLst/>
          </a:prstGeom>
          <a:solidFill>
            <a:srgbClr val="000000"/>
          </a:solidFill>
        </p:spPr>
      </p:pic>
      <p:sp>
        <p:nvSpPr>
          <p:cNvPr id="10" name="Rectangle 9">
            <a:extLst>
              <a:ext uri="{FF2B5EF4-FFF2-40B4-BE49-F238E27FC236}">
                <a16:creationId xmlns:a16="http://schemas.microsoft.com/office/drawing/2014/main" id="{C5140DC3-1469-412D-BDEE-05856F4B9DCB}"/>
              </a:ext>
            </a:extLst>
          </p:cNvPr>
          <p:cNvSpPr/>
          <p:nvPr/>
        </p:nvSpPr>
        <p:spPr>
          <a:xfrm>
            <a:off x="1142443" y="1787415"/>
            <a:ext cx="4095600" cy="338554"/>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rPr>
              <a:t>Objectives</a:t>
            </a:r>
            <a:endParaRPr kumimoji="0" lang="en-US" sz="9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p:txBody>
      </p:sp>
      <p:cxnSp>
        <p:nvCxnSpPr>
          <p:cNvPr id="11" name="Connecteur droit 23">
            <a:extLst>
              <a:ext uri="{FF2B5EF4-FFF2-40B4-BE49-F238E27FC236}">
                <a16:creationId xmlns:a16="http://schemas.microsoft.com/office/drawing/2014/main" id="{FE192728-23CE-40BB-B610-72E588A4AE21}"/>
              </a:ext>
            </a:extLst>
          </p:cNvPr>
          <p:cNvCxnSpPr/>
          <p:nvPr/>
        </p:nvCxnSpPr>
        <p:spPr>
          <a:xfrm>
            <a:off x="7225344" y="2767057"/>
            <a:ext cx="2112511" cy="2034096"/>
          </a:xfrm>
          <a:prstGeom prst="line">
            <a:avLst/>
          </a:prstGeom>
          <a:noFill/>
          <a:ln w="6350" cap="flat" cmpd="sng" algn="ctr">
            <a:solidFill>
              <a:srgbClr val="E03C31">
                <a:alpha val="0"/>
              </a:srgbClr>
            </a:solidFill>
            <a:prstDash val="sysDot"/>
            <a:miter lim="800000"/>
          </a:ln>
          <a:effectLst/>
        </p:spPr>
      </p:cxnSp>
      <p:sp>
        <p:nvSpPr>
          <p:cNvPr id="12" name="ZoneTexte 6">
            <a:extLst>
              <a:ext uri="{FF2B5EF4-FFF2-40B4-BE49-F238E27FC236}">
                <a16:creationId xmlns:a16="http://schemas.microsoft.com/office/drawing/2014/main" id="{800E0E40-9730-4BE4-AD36-C4C318DD08F2}"/>
              </a:ext>
            </a:extLst>
          </p:cNvPr>
          <p:cNvSpPr txBox="1"/>
          <p:nvPr/>
        </p:nvSpPr>
        <p:spPr>
          <a:xfrm>
            <a:off x="6324857" y="2699781"/>
            <a:ext cx="2599271" cy="338554"/>
          </a:xfrm>
          <a:prstGeom prst="rect">
            <a:avLst/>
          </a:prstGeom>
          <a:noFill/>
          <a:ln>
            <a:noFill/>
          </a:ln>
        </p:spPr>
        <p:txBody>
          <a:bodyPr wrap="square" rtlCol="0"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600" b="1" i="1" u="sng" strike="noStrike" kern="1200" cap="none" spc="0" normalizeH="0" baseline="0" noProof="0">
                <a:ln>
                  <a:noFill/>
                </a:ln>
                <a:solidFill>
                  <a:srgbClr val="000000"/>
                </a:solidFill>
                <a:effectLst/>
                <a:uLnTx/>
                <a:uFillTx/>
                <a:latin typeface="Arial" panose="020B0604020202020204"/>
                <a:ea typeface="ＭＳ Ｐゴシック" pitchFamily="80" charset="-128"/>
                <a:cs typeface="Arial" panose="020B0604020202020204" pitchFamily="34" charset="0"/>
              </a:rPr>
              <a:t>Product Dimensions </a:t>
            </a:r>
          </a:p>
        </p:txBody>
      </p:sp>
      <p:sp>
        <p:nvSpPr>
          <p:cNvPr id="13" name="ZoneTexte 6">
            <a:extLst>
              <a:ext uri="{FF2B5EF4-FFF2-40B4-BE49-F238E27FC236}">
                <a16:creationId xmlns:a16="http://schemas.microsoft.com/office/drawing/2014/main" id="{48CF01F7-0678-4508-A1BB-D32990B668E9}"/>
              </a:ext>
            </a:extLst>
          </p:cNvPr>
          <p:cNvSpPr txBox="1"/>
          <p:nvPr/>
        </p:nvSpPr>
        <p:spPr>
          <a:xfrm>
            <a:off x="7411486" y="4159835"/>
            <a:ext cx="1368465" cy="338554"/>
          </a:xfrm>
          <a:prstGeom prst="rect">
            <a:avLst/>
          </a:prstGeom>
          <a:noFill/>
          <a:ln>
            <a:noFill/>
          </a:ln>
        </p:spPr>
        <p:txBody>
          <a:bodyPr wrap="square" rtlCol="0"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Arial" panose="020B0604020202020204"/>
                <a:ea typeface="ＭＳ Ｐゴシック" pitchFamily="80" charset="-128"/>
                <a:cs typeface="Arial" panose="020B0604020202020204" pitchFamily="34" charset="0"/>
              </a:rPr>
              <a:t>…….</a:t>
            </a:r>
          </a:p>
        </p:txBody>
      </p:sp>
      <p:sp>
        <p:nvSpPr>
          <p:cNvPr id="14" name="Rectangle 13">
            <a:extLst>
              <a:ext uri="{FF2B5EF4-FFF2-40B4-BE49-F238E27FC236}">
                <a16:creationId xmlns:a16="http://schemas.microsoft.com/office/drawing/2014/main" id="{C47794C7-2DF9-4EFB-A5CE-735AC8160FDC}"/>
              </a:ext>
            </a:extLst>
          </p:cNvPr>
          <p:cNvSpPr/>
          <p:nvPr/>
        </p:nvSpPr>
        <p:spPr>
          <a:xfrm>
            <a:off x="6575802" y="3349043"/>
            <a:ext cx="5362913" cy="1652590"/>
          </a:xfrm>
          <a:prstGeom prst="rect">
            <a:avLst/>
          </a:prstGeom>
          <a:solidFill>
            <a:srgbClr val="8CBCB6">
              <a:alpha val="69000"/>
            </a:srgbClr>
          </a:solidFill>
          <a:ln w="12700" cap="flat" cmpd="sng" algn="ctr">
            <a:solidFill>
              <a:srgbClr val="000000"/>
            </a:solidFill>
            <a:prstDash val="solid"/>
            <a:miter lim="800000"/>
          </a:ln>
          <a:effectLst/>
        </p:spPr>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fr-FR" sz="12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 name="Arrow: Pentagon 8">
            <a:extLst>
              <a:ext uri="{FF2B5EF4-FFF2-40B4-BE49-F238E27FC236}">
                <a16:creationId xmlns:a16="http://schemas.microsoft.com/office/drawing/2014/main" id="{3E20D05F-6EAE-47A7-9CDA-20CF02AB88A2}"/>
              </a:ext>
            </a:extLst>
          </p:cNvPr>
          <p:cNvSpPr/>
          <p:nvPr/>
        </p:nvSpPr>
        <p:spPr bwMode="auto">
          <a:xfrm>
            <a:off x="6686134" y="4436539"/>
            <a:ext cx="2443048" cy="389008"/>
          </a:xfrm>
          <a:prstGeom prst="homePlate">
            <a:avLst/>
          </a:prstGeom>
          <a:solidFill>
            <a:srgbClr val="00BDB7"/>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sz="14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OCC</a:t>
            </a:r>
          </a:p>
        </p:txBody>
      </p:sp>
      <p:sp>
        <p:nvSpPr>
          <p:cNvPr id="16" name="Arrow: Pentagon 105">
            <a:extLst>
              <a:ext uri="{FF2B5EF4-FFF2-40B4-BE49-F238E27FC236}">
                <a16:creationId xmlns:a16="http://schemas.microsoft.com/office/drawing/2014/main" id="{8F811FEE-BBEC-4F7D-A4F4-92B95F9F66F3}"/>
              </a:ext>
            </a:extLst>
          </p:cNvPr>
          <p:cNvSpPr/>
          <p:nvPr/>
        </p:nvSpPr>
        <p:spPr bwMode="auto">
          <a:xfrm>
            <a:off x="6686129" y="3997859"/>
            <a:ext cx="2468083" cy="389008"/>
          </a:xfrm>
          <a:prstGeom prst="homePlate">
            <a:avLst/>
          </a:prstGeom>
          <a:solidFill>
            <a:srgbClr val="00BDB7"/>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sz="14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Gross Margin &amp; </a:t>
            </a:r>
            <a:br>
              <a:rPr kumimoji="0" lang="en-GB" sz="1400" b="0" i="0" u="none" strike="noStrike" kern="0" cap="none" spc="0" normalizeH="0" baseline="0" noProof="0">
                <a:ln>
                  <a:noFill/>
                </a:ln>
                <a:solidFill>
                  <a:srgbClr val="FFFFFF"/>
                </a:solidFill>
                <a:effectLst/>
                <a:uLnTx/>
                <a:uFillTx/>
                <a:latin typeface="Arial" panose="020B0604020202020204"/>
                <a:ea typeface="ＭＳ Ｐゴシック" charset="0"/>
                <a:cs typeface="+mn-cs"/>
              </a:rPr>
            </a:br>
            <a:r>
              <a:rPr kumimoji="0" lang="en-GB" sz="14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Brand Contribution</a:t>
            </a:r>
          </a:p>
        </p:txBody>
      </p:sp>
      <p:sp>
        <p:nvSpPr>
          <p:cNvPr id="17" name="Arrow: Pentagon 106">
            <a:extLst>
              <a:ext uri="{FF2B5EF4-FFF2-40B4-BE49-F238E27FC236}">
                <a16:creationId xmlns:a16="http://schemas.microsoft.com/office/drawing/2014/main" id="{A870397E-C9B0-4046-9CF4-F1D832AE8623}"/>
              </a:ext>
            </a:extLst>
          </p:cNvPr>
          <p:cNvSpPr/>
          <p:nvPr/>
        </p:nvSpPr>
        <p:spPr bwMode="auto">
          <a:xfrm>
            <a:off x="6686129" y="3556004"/>
            <a:ext cx="2468083" cy="389008"/>
          </a:xfrm>
          <a:prstGeom prst="homePlate">
            <a:avLst/>
          </a:prstGeom>
          <a:solidFill>
            <a:srgbClr val="00BDB7"/>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sz="14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Variable Contribution Margin</a:t>
            </a:r>
          </a:p>
        </p:txBody>
      </p:sp>
      <p:sp>
        <p:nvSpPr>
          <p:cNvPr id="18" name="Rounded Rectangle 5">
            <a:extLst>
              <a:ext uri="{FF2B5EF4-FFF2-40B4-BE49-F238E27FC236}">
                <a16:creationId xmlns:a16="http://schemas.microsoft.com/office/drawing/2014/main" id="{6396D846-B386-4A88-9D41-2A5E421EBF83}"/>
              </a:ext>
            </a:extLst>
          </p:cNvPr>
          <p:cNvSpPr/>
          <p:nvPr/>
        </p:nvSpPr>
        <p:spPr bwMode="auto">
          <a:xfrm rot="16200000">
            <a:off x="8751212" y="3935945"/>
            <a:ext cx="1501599" cy="497316"/>
          </a:xfrm>
          <a:prstGeom prst="roundRect">
            <a:avLst/>
          </a:prstGeom>
          <a:solidFill>
            <a:srgbClr val="B0D838">
              <a:lumMod val="20000"/>
              <a:lumOff val="80000"/>
            </a:srgbClr>
          </a:solidFill>
          <a:ln>
            <a:noFill/>
          </a:ln>
          <a:effectLst/>
        </p:spPr>
        <p:txBody>
          <a:bodyPr vert="horz" wrap="square" lIns="0" tIns="0" rIns="0" bIns="0" numCol="1" rtlCol="0" anchor="ctr" anchorCtr="0" compatLnSpc="1">
            <a:prstTxWarp prst="textNoShape">
              <a:avLst/>
            </a:prstTxWarp>
          </a:bodyPr>
          <a:lstStyle/>
          <a:p>
            <a:pPr marL="0" marR="0" lvl="0" indent="0" algn="r" defTabSz="914400" rtl="0" eaLnBrk="1" fontAlgn="base" latinLnBrk="0" hangingPunct="1">
              <a:lnSpc>
                <a:spcPct val="100000"/>
              </a:lnSpc>
              <a:spcBef>
                <a:spcPct val="20000"/>
              </a:spcBef>
              <a:spcAft>
                <a:spcPct val="0"/>
              </a:spcAft>
              <a:buClrTx/>
              <a:buSzTx/>
              <a:buFontTx/>
              <a:buNone/>
              <a:tabLst/>
              <a:defRPr/>
            </a:pPr>
            <a:endParaRPr kumimoji="0" lang="en-US" sz="1500" b="1"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19" name="Rounded Rectangle 46">
            <a:extLst>
              <a:ext uri="{FF2B5EF4-FFF2-40B4-BE49-F238E27FC236}">
                <a16:creationId xmlns:a16="http://schemas.microsoft.com/office/drawing/2014/main" id="{CFD4103E-2D55-4896-B00B-C1F49AC55E47}"/>
              </a:ext>
            </a:extLst>
          </p:cNvPr>
          <p:cNvSpPr/>
          <p:nvPr/>
        </p:nvSpPr>
        <p:spPr bwMode="auto">
          <a:xfrm rot="16200000">
            <a:off x="9379304" y="3927836"/>
            <a:ext cx="1501599" cy="497316"/>
          </a:xfrm>
          <a:prstGeom prst="roundRect">
            <a:avLst/>
          </a:prstGeom>
          <a:solidFill>
            <a:srgbClr val="B0D838">
              <a:lumMod val="20000"/>
              <a:lumOff val="80000"/>
            </a:srgbClr>
          </a:solidFill>
          <a:ln>
            <a:noFill/>
          </a:ln>
          <a:effectLst/>
        </p:spPr>
        <p:txBody>
          <a:bodyPr vert="horz" wrap="square" lIns="0" tIns="0" rIns="0" bIns="0" numCol="1" rtlCol="0" anchor="ctr" anchorCtr="0" compatLnSpc="1">
            <a:prstTxWarp prst="textNoShape">
              <a:avLst/>
            </a:prstTxWarp>
          </a:bodyPr>
          <a:lstStyle/>
          <a:p>
            <a:pPr marL="0" marR="0" lvl="0" indent="0" algn="r" defTabSz="914400" rtl="0" eaLnBrk="1" fontAlgn="base" latinLnBrk="0" hangingPunct="1">
              <a:lnSpc>
                <a:spcPct val="100000"/>
              </a:lnSpc>
              <a:spcBef>
                <a:spcPts val="0"/>
              </a:spcBef>
              <a:spcAft>
                <a:spcPct val="0"/>
              </a:spcAft>
              <a:buClrTx/>
              <a:buSzTx/>
              <a:buFontTx/>
              <a:buNone/>
              <a:tabLst/>
              <a:defRPr/>
            </a:pPr>
            <a:endParaRPr kumimoji="0" lang="en-US" sz="1500" b="1"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20" name="Rounded Rectangle 47">
            <a:extLst>
              <a:ext uri="{FF2B5EF4-FFF2-40B4-BE49-F238E27FC236}">
                <a16:creationId xmlns:a16="http://schemas.microsoft.com/office/drawing/2014/main" id="{85005204-4C00-408C-A73A-D71AB1848178}"/>
              </a:ext>
            </a:extLst>
          </p:cNvPr>
          <p:cNvSpPr/>
          <p:nvPr/>
        </p:nvSpPr>
        <p:spPr bwMode="auto">
          <a:xfrm rot="16200000">
            <a:off x="10783836" y="3951731"/>
            <a:ext cx="1501599" cy="497316"/>
          </a:xfrm>
          <a:prstGeom prst="roundRect">
            <a:avLst/>
          </a:prstGeom>
          <a:solidFill>
            <a:srgbClr val="B0D838">
              <a:lumMod val="20000"/>
              <a:lumOff val="80000"/>
            </a:srgbClr>
          </a:solidFill>
          <a:ln>
            <a:noFill/>
          </a:ln>
          <a:effectLst/>
        </p:spPr>
        <p:txBody>
          <a:bodyPr vert="horz" wrap="square" lIns="0" tIns="0" rIns="0" bIns="0" numCol="1" rtlCol="0" anchor="ctr" anchorCtr="0" compatLnSpc="1">
            <a:prstTxWarp prst="textNoShape">
              <a:avLst/>
            </a:prstTxWarp>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500" b="1" i="0" u="none" strike="noStrike" kern="0" cap="none" spc="0" normalizeH="0" baseline="0" noProof="0">
                <a:ln>
                  <a:noFill/>
                </a:ln>
                <a:solidFill>
                  <a:srgbClr val="000000"/>
                </a:solidFill>
                <a:effectLst/>
                <a:uLnTx/>
                <a:uFillTx/>
                <a:latin typeface="Arial" panose="020B0604020202020204"/>
                <a:ea typeface="ＭＳ Ｐゴシック" charset="0"/>
                <a:cs typeface="+mn-cs"/>
              </a:rPr>
              <a:t> </a:t>
            </a:r>
          </a:p>
        </p:txBody>
      </p:sp>
      <p:sp>
        <p:nvSpPr>
          <p:cNvPr id="21" name="Rectangle 20">
            <a:extLst>
              <a:ext uri="{FF2B5EF4-FFF2-40B4-BE49-F238E27FC236}">
                <a16:creationId xmlns:a16="http://schemas.microsoft.com/office/drawing/2014/main" id="{D9734FEE-DD91-42DF-A1C8-47899DE4A409}"/>
              </a:ext>
            </a:extLst>
          </p:cNvPr>
          <p:cNvSpPr/>
          <p:nvPr/>
        </p:nvSpPr>
        <p:spPr>
          <a:xfrm>
            <a:off x="9298524" y="3484546"/>
            <a:ext cx="364272"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rPr>
              <a:t>X</a:t>
            </a:r>
            <a:endParaRPr kumimoji="0" lang="en-US"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endParaRPr>
          </a:p>
        </p:txBody>
      </p:sp>
      <p:sp>
        <p:nvSpPr>
          <p:cNvPr id="22" name="Rectangle 21">
            <a:extLst>
              <a:ext uri="{FF2B5EF4-FFF2-40B4-BE49-F238E27FC236}">
                <a16:creationId xmlns:a16="http://schemas.microsoft.com/office/drawing/2014/main" id="{55BEB689-F786-438E-A0A2-9242ECC9FF1A}"/>
              </a:ext>
            </a:extLst>
          </p:cNvPr>
          <p:cNvSpPr/>
          <p:nvPr/>
        </p:nvSpPr>
        <p:spPr>
          <a:xfrm>
            <a:off x="9298524" y="3945012"/>
            <a:ext cx="364272"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rPr>
              <a:t>X</a:t>
            </a:r>
            <a:endParaRPr kumimoji="0" lang="en-US"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endParaRPr>
          </a:p>
        </p:txBody>
      </p:sp>
      <p:sp>
        <p:nvSpPr>
          <p:cNvPr id="23" name="Rectangle 22">
            <a:extLst>
              <a:ext uri="{FF2B5EF4-FFF2-40B4-BE49-F238E27FC236}">
                <a16:creationId xmlns:a16="http://schemas.microsoft.com/office/drawing/2014/main" id="{2FCA6F9E-DF31-4916-A420-3753F9EA6DAF}"/>
              </a:ext>
            </a:extLst>
          </p:cNvPr>
          <p:cNvSpPr/>
          <p:nvPr/>
        </p:nvSpPr>
        <p:spPr>
          <a:xfrm>
            <a:off x="9298524" y="4360844"/>
            <a:ext cx="364272"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rPr>
              <a:t>X</a:t>
            </a:r>
            <a:endParaRPr kumimoji="0" lang="en-US"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endParaRPr>
          </a:p>
        </p:txBody>
      </p:sp>
      <p:sp>
        <p:nvSpPr>
          <p:cNvPr id="24" name="Rectangle 23">
            <a:extLst>
              <a:ext uri="{FF2B5EF4-FFF2-40B4-BE49-F238E27FC236}">
                <a16:creationId xmlns:a16="http://schemas.microsoft.com/office/drawing/2014/main" id="{BA15A391-7871-4DF0-A36E-CA2D9BEFC912}"/>
              </a:ext>
            </a:extLst>
          </p:cNvPr>
          <p:cNvSpPr/>
          <p:nvPr/>
        </p:nvSpPr>
        <p:spPr>
          <a:xfrm>
            <a:off x="9955898" y="3490460"/>
            <a:ext cx="364272"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rPr>
              <a:t>X</a:t>
            </a:r>
            <a:endParaRPr kumimoji="0" lang="en-US"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endParaRPr>
          </a:p>
        </p:txBody>
      </p:sp>
      <p:sp>
        <p:nvSpPr>
          <p:cNvPr id="25" name="Rectangle 24">
            <a:extLst>
              <a:ext uri="{FF2B5EF4-FFF2-40B4-BE49-F238E27FC236}">
                <a16:creationId xmlns:a16="http://schemas.microsoft.com/office/drawing/2014/main" id="{2FEF3C9C-6C35-49A3-B4B0-C1064B44A202}"/>
              </a:ext>
            </a:extLst>
          </p:cNvPr>
          <p:cNvSpPr/>
          <p:nvPr/>
        </p:nvSpPr>
        <p:spPr>
          <a:xfrm>
            <a:off x="9955898" y="3950926"/>
            <a:ext cx="364272"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rPr>
              <a:t>X</a:t>
            </a:r>
            <a:endParaRPr kumimoji="0" lang="en-US"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endParaRPr>
          </a:p>
        </p:txBody>
      </p:sp>
      <p:sp>
        <p:nvSpPr>
          <p:cNvPr id="26" name="Rectangle 25">
            <a:extLst>
              <a:ext uri="{FF2B5EF4-FFF2-40B4-BE49-F238E27FC236}">
                <a16:creationId xmlns:a16="http://schemas.microsoft.com/office/drawing/2014/main" id="{1B8DF461-1560-437A-9FC9-28411D3D146F}"/>
              </a:ext>
            </a:extLst>
          </p:cNvPr>
          <p:cNvSpPr/>
          <p:nvPr/>
        </p:nvSpPr>
        <p:spPr>
          <a:xfrm>
            <a:off x="11327746" y="3490600"/>
            <a:ext cx="364272"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rPr>
              <a:t>X</a:t>
            </a:r>
            <a:endParaRPr kumimoji="0" lang="en-US"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endParaRPr>
          </a:p>
        </p:txBody>
      </p:sp>
      <p:sp>
        <p:nvSpPr>
          <p:cNvPr id="27" name="Rounded Rectangle 57">
            <a:extLst>
              <a:ext uri="{FF2B5EF4-FFF2-40B4-BE49-F238E27FC236}">
                <a16:creationId xmlns:a16="http://schemas.microsoft.com/office/drawing/2014/main" id="{4583E560-59A9-4412-AA4D-51BAA1BA71A4}"/>
              </a:ext>
            </a:extLst>
          </p:cNvPr>
          <p:cNvSpPr/>
          <p:nvPr/>
        </p:nvSpPr>
        <p:spPr bwMode="auto">
          <a:xfrm rot="16200000">
            <a:off x="10073172" y="3927836"/>
            <a:ext cx="1501599" cy="497316"/>
          </a:xfrm>
          <a:prstGeom prst="roundRect">
            <a:avLst/>
          </a:prstGeom>
          <a:pattFill prst="smConfetti">
            <a:fgClr>
              <a:srgbClr val="00BDB7"/>
            </a:fgClr>
            <a:bgClr>
              <a:srgbClr val="FFFFFF"/>
            </a:bgClr>
          </a:pattFill>
          <a:ln>
            <a:noFill/>
          </a:ln>
          <a:effectLst/>
        </p:spPr>
        <p:txBody>
          <a:bodyPr vert="horz" wrap="square" lIns="0" tIns="0" rIns="0" bIns="0" numCol="1" rtlCol="0" anchor="ctr" anchorCtr="0" compatLnSpc="1">
            <a:prstTxWarp prst="textNoShape">
              <a:avLst/>
            </a:prstTxWarp>
          </a:bodyPr>
          <a:lstStyle/>
          <a:p>
            <a:pPr marL="0" marR="0" lvl="0" indent="0" algn="r" defTabSz="914400" rtl="0" eaLnBrk="1" fontAlgn="base" latinLnBrk="0" hangingPunct="1">
              <a:lnSpc>
                <a:spcPct val="100000"/>
              </a:lnSpc>
              <a:spcBef>
                <a:spcPct val="20000"/>
              </a:spcBef>
              <a:spcAft>
                <a:spcPct val="0"/>
              </a:spcAft>
              <a:buClrTx/>
              <a:buSzTx/>
              <a:buFontTx/>
              <a:buNone/>
              <a:tabLst/>
              <a:defRPr/>
            </a:pPr>
            <a:endParaRPr kumimoji="0" lang="en-US" sz="1500" b="1"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28" name="Rectangle 27">
            <a:extLst>
              <a:ext uri="{FF2B5EF4-FFF2-40B4-BE49-F238E27FC236}">
                <a16:creationId xmlns:a16="http://schemas.microsoft.com/office/drawing/2014/main" id="{B5C12C1F-0B30-49EE-A393-EECC1FAEF5C5}"/>
              </a:ext>
            </a:extLst>
          </p:cNvPr>
          <p:cNvSpPr/>
          <p:nvPr/>
        </p:nvSpPr>
        <p:spPr>
          <a:xfrm>
            <a:off x="10656531" y="3490600"/>
            <a:ext cx="364272"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rPr>
              <a:t>X</a:t>
            </a:r>
            <a:endParaRPr kumimoji="0" lang="en-US" sz="18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ＭＳ Ｐゴシック" pitchFamily="80" charset="-128"/>
              <a:cs typeface="Calibri" panose="020F0502020204030204" pitchFamily="34" charset="0"/>
            </a:endParaRPr>
          </a:p>
        </p:txBody>
      </p:sp>
      <p:sp>
        <p:nvSpPr>
          <p:cNvPr id="29" name="Rounded Rectangle 9">
            <a:extLst>
              <a:ext uri="{FF2B5EF4-FFF2-40B4-BE49-F238E27FC236}">
                <a16:creationId xmlns:a16="http://schemas.microsoft.com/office/drawing/2014/main" id="{C8171921-42AC-4B72-A25A-808F21B091F9}"/>
              </a:ext>
            </a:extLst>
          </p:cNvPr>
          <p:cNvSpPr/>
          <p:nvPr/>
        </p:nvSpPr>
        <p:spPr bwMode="auto">
          <a:xfrm>
            <a:off x="6651166" y="5151550"/>
            <a:ext cx="411089" cy="180304"/>
          </a:xfrm>
          <a:prstGeom prst="roundRect">
            <a:avLst/>
          </a:prstGeom>
          <a:solidFill>
            <a:srgbClr val="B0D838">
              <a:lumMod val="20000"/>
              <a:lumOff val="80000"/>
            </a:srgbClr>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30" name="Rounded Rectangle 59">
            <a:extLst>
              <a:ext uri="{FF2B5EF4-FFF2-40B4-BE49-F238E27FC236}">
                <a16:creationId xmlns:a16="http://schemas.microsoft.com/office/drawing/2014/main" id="{1C51AC0B-FBDF-4793-8933-20CB1E301E2D}"/>
              </a:ext>
            </a:extLst>
          </p:cNvPr>
          <p:cNvSpPr/>
          <p:nvPr/>
        </p:nvSpPr>
        <p:spPr bwMode="auto">
          <a:xfrm>
            <a:off x="6651166" y="5391619"/>
            <a:ext cx="411089" cy="180304"/>
          </a:xfrm>
          <a:prstGeom prst="roundRect">
            <a:avLst/>
          </a:prstGeom>
          <a:solidFill>
            <a:srgbClr val="ABD9CE"/>
          </a:solidFill>
          <a:ln w="38100" cap="flat" cmpd="sng" algn="ctr">
            <a:noFill/>
            <a:prstDash val="solid"/>
            <a:miter lim="800000"/>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panose="020B0604020202020204"/>
              <a:ea typeface="ＭＳ Ｐゴシック" charset="0"/>
              <a:cs typeface="+mn-cs"/>
            </a:endParaRPr>
          </a:p>
        </p:txBody>
      </p:sp>
      <p:sp>
        <p:nvSpPr>
          <p:cNvPr id="31" name="TextBox 30">
            <a:extLst>
              <a:ext uri="{FF2B5EF4-FFF2-40B4-BE49-F238E27FC236}">
                <a16:creationId xmlns:a16="http://schemas.microsoft.com/office/drawing/2014/main" id="{51ACB8B1-1065-4DD0-AD22-C1DBDD28ADCA}"/>
              </a:ext>
            </a:extLst>
          </p:cNvPr>
          <p:cNvSpPr txBox="1"/>
          <p:nvPr/>
        </p:nvSpPr>
        <p:spPr>
          <a:xfrm>
            <a:off x="7181318" y="5170676"/>
            <a:ext cx="914400" cy="149917"/>
          </a:xfrm>
          <a:prstGeom prst="rect">
            <a:avLst/>
          </a:prstGeom>
          <a:noFill/>
        </p:spPr>
        <p:txBody>
          <a:bodyPr wrap="none" lIns="0" tIns="0" rIns="0" bIns="0" rtlCol="0">
            <a:normAutofit lnSpcReduction="10000"/>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Dimensions included in S/4H Profitability for posting</a:t>
            </a:r>
          </a:p>
        </p:txBody>
      </p:sp>
      <p:sp>
        <p:nvSpPr>
          <p:cNvPr id="32" name="TextBox 31">
            <a:extLst>
              <a:ext uri="{FF2B5EF4-FFF2-40B4-BE49-F238E27FC236}">
                <a16:creationId xmlns:a16="http://schemas.microsoft.com/office/drawing/2014/main" id="{885D1FC8-DF4D-4A90-BFAE-4850DA729C0D}"/>
              </a:ext>
            </a:extLst>
          </p:cNvPr>
          <p:cNvSpPr txBox="1"/>
          <p:nvPr/>
        </p:nvSpPr>
        <p:spPr>
          <a:xfrm>
            <a:off x="7181318" y="5391619"/>
            <a:ext cx="4680124" cy="807913"/>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Commercial SKU is a new dimension and will be linked to each JTI Product (SKU). Until full consolidation of C-SKU postings will not be activated for the posting in Profitability Analysis.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p:txBody>
      </p:sp>
      <p:sp>
        <p:nvSpPr>
          <p:cNvPr id="33" name="Rounded Rectangle 62">
            <a:extLst>
              <a:ext uri="{FF2B5EF4-FFF2-40B4-BE49-F238E27FC236}">
                <a16:creationId xmlns:a16="http://schemas.microsoft.com/office/drawing/2014/main" id="{5416BB26-82EF-4CD6-A2DD-773CCC332746}"/>
              </a:ext>
            </a:extLst>
          </p:cNvPr>
          <p:cNvSpPr/>
          <p:nvPr/>
        </p:nvSpPr>
        <p:spPr bwMode="auto">
          <a:xfrm rot="17956644">
            <a:off x="9204910" y="2661577"/>
            <a:ext cx="1012666" cy="443557"/>
          </a:xfrm>
          <a:prstGeom prst="roundRect">
            <a:avLst/>
          </a:prstGeom>
          <a:solidFill>
            <a:srgbClr val="B0D838">
              <a:lumMod val="20000"/>
              <a:lumOff val="80000"/>
            </a:srgbClr>
          </a:solidFill>
          <a:ln>
            <a:noFill/>
          </a:ln>
          <a:effectLst>
            <a:outerShdw blurRad="50800" dist="38100" dir="5400000" algn="t" rotWithShape="0">
              <a:prstClr val="black">
                <a:alpha val="40000"/>
              </a:prstClr>
            </a:outerShdw>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fr-CH" sz="1500" b="0" i="0" u="none" strike="noStrike" kern="0" cap="none" spc="0" normalizeH="0" baseline="0" noProof="0" err="1">
                <a:ln>
                  <a:noFill/>
                </a:ln>
                <a:solidFill>
                  <a:srgbClr val="5F5F5F">
                    <a:lumMod val="50000"/>
                  </a:srgbClr>
                </a:solidFill>
                <a:effectLst/>
                <a:uLnTx/>
                <a:uFillTx/>
                <a:latin typeface="Arial" panose="020B0604020202020204"/>
                <a:ea typeface="ＭＳ Ｐゴシック" charset="0"/>
                <a:cs typeface="+mn-cs"/>
              </a:rPr>
              <a:t>Market</a:t>
            </a:r>
            <a:endParaRPr kumimoji="0" lang="en-US" sz="1500" b="0" i="0" u="none" strike="noStrike" kern="0" cap="none" spc="0" normalizeH="0" baseline="0" noProof="0">
              <a:ln>
                <a:noFill/>
              </a:ln>
              <a:solidFill>
                <a:srgbClr val="5F5F5F">
                  <a:lumMod val="50000"/>
                </a:srgbClr>
              </a:solidFill>
              <a:effectLst/>
              <a:uLnTx/>
              <a:uFillTx/>
              <a:latin typeface="Arial" panose="020B0604020202020204"/>
              <a:ea typeface="ＭＳ Ｐゴシック" charset="0"/>
              <a:cs typeface="+mn-cs"/>
            </a:endParaRPr>
          </a:p>
        </p:txBody>
      </p:sp>
      <p:sp>
        <p:nvSpPr>
          <p:cNvPr id="34" name="Rounded Rectangle 63">
            <a:extLst>
              <a:ext uri="{FF2B5EF4-FFF2-40B4-BE49-F238E27FC236}">
                <a16:creationId xmlns:a16="http://schemas.microsoft.com/office/drawing/2014/main" id="{7E8169A7-F73E-4933-A327-83F633C1B8BF}"/>
              </a:ext>
            </a:extLst>
          </p:cNvPr>
          <p:cNvSpPr/>
          <p:nvPr/>
        </p:nvSpPr>
        <p:spPr bwMode="auto">
          <a:xfrm rot="17956644">
            <a:off x="9833353" y="2598739"/>
            <a:ext cx="1012666" cy="463447"/>
          </a:xfrm>
          <a:prstGeom prst="roundRect">
            <a:avLst/>
          </a:prstGeom>
          <a:solidFill>
            <a:srgbClr val="B0D838">
              <a:lumMod val="20000"/>
              <a:lumOff val="80000"/>
            </a:srgbClr>
          </a:solidFill>
          <a:ln>
            <a:noFill/>
          </a:ln>
          <a:effectLst>
            <a:outerShdw blurRad="50800" dist="38100" dir="5400000" algn="t" rotWithShape="0">
              <a:prstClr val="black">
                <a:alpha val="40000"/>
              </a:prstClr>
            </a:outerShdw>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fr-CH" sz="1500" b="0" i="0" u="none" strike="noStrike" kern="0" cap="none" spc="0" normalizeH="0" baseline="0" noProof="0" err="1">
                <a:ln>
                  <a:noFill/>
                </a:ln>
                <a:solidFill>
                  <a:srgbClr val="5F5F5F">
                    <a:lumMod val="50000"/>
                  </a:srgbClr>
                </a:solidFill>
                <a:effectLst/>
                <a:uLnTx/>
                <a:uFillTx/>
                <a:latin typeface="Arial" panose="020B0604020202020204"/>
                <a:ea typeface="ＭＳ Ｐゴシック" charset="0"/>
                <a:cs typeface="+mn-cs"/>
              </a:rPr>
              <a:t>Br.Fam</a:t>
            </a:r>
            <a:r>
              <a:rPr kumimoji="0" lang="fr-CH" sz="1500" b="0" i="0" u="none" strike="noStrike" kern="0" cap="none" spc="0" normalizeH="0" baseline="0" noProof="0">
                <a:ln>
                  <a:noFill/>
                </a:ln>
                <a:solidFill>
                  <a:srgbClr val="5F5F5F">
                    <a:lumMod val="50000"/>
                  </a:srgbClr>
                </a:solidFill>
                <a:effectLst/>
                <a:uLnTx/>
                <a:uFillTx/>
                <a:latin typeface="Arial" panose="020B0604020202020204"/>
                <a:ea typeface="ＭＳ Ｐゴシック" charset="0"/>
                <a:cs typeface="+mn-cs"/>
              </a:rPr>
              <a:t> &amp; </a:t>
            </a:r>
            <a:r>
              <a:rPr kumimoji="0" lang="fr-CH" sz="1500" b="0" i="0" u="none" strike="noStrike" kern="0" cap="none" spc="0" normalizeH="0" baseline="0" noProof="0" err="1">
                <a:ln>
                  <a:noFill/>
                </a:ln>
                <a:solidFill>
                  <a:srgbClr val="5F5F5F">
                    <a:lumMod val="50000"/>
                  </a:srgbClr>
                </a:solidFill>
                <a:effectLst/>
                <a:uLnTx/>
                <a:uFillTx/>
                <a:latin typeface="Arial" panose="020B0604020202020204"/>
                <a:ea typeface="ＭＳ Ｐゴシック" charset="0"/>
                <a:cs typeface="+mn-cs"/>
              </a:rPr>
              <a:t>Prod</a:t>
            </a:r>
            <a:r>
              <a:rPr kumimoji="0" lang="fr-CH" sz="1500" b="0" i="0" u="none" strike="noStrike" kern="0" cap="none" spc="0" normalizeH="0" baseline="0" noProof="0">
                <a:ln>
                  <a:noFill/>
                </a:ln>
                <a:solidFill>
                  <a:srgbClr val="5F5F5F">
                    <a:lumMod val="50000"/>
                  </a:srgbClr>
                </a:solidFill>
                <a:effectLst/>
                <a:uLnTx/>
                <a:uFillTx/>
                <a:latin typeface="Arial" panose="020B0604020202020204"/>
                <a:ea typeface="ＭＳ Ｐゴシック" charset="0"/>
                <a:cs typeface="+mn-cs"/>
              </a:rPr>
              <a:t>. type</a:t>
            </a:r>
            <a:endParaRPr kumimoji="0" lang="en-US" sz="1500" b="0" i="0" u="none" strike="noStrike" kern="0" cap="none" spc="0" normalizeH="0" baseline="0" noProof="0">
              <a:ln>
                <a:noFill/>
              </a:ln>
              <a:solidFill>
                <a:srgbClr val="5F5F5F">
                  <a:lumMod val="50000"/>
                </a:srgbClr>
              </a:solidFill>
              <a:effectLst/>
              <a:uLnTx/>
              <a:uFillTx/>
              <a:latin typeface="Arial" panose="020B0604020202020204"/>
              <a:ea typeface="ＭＳ Ｐゴシック" charset="0"/>
              <a:cs typeface="+mn-cs"/>
            </a:endParaRPr>
          </a:p>
        </p:txBody>
      </p:sp>
      <p:sp>
        <p:nvSpPr>
          <p:cNvPr id="35" name="Rounded Rectangle 64">
            <a:extLst>
              <a:ext uri="{FF2B5EF4-FFF2-40B4-BE49-F238E27FC236}">
                <a16:creationId xmlns:a16="http://schemas.microsoft.com/office/drawing/2014/main" id="{C6553698-8219-4281-B4C2-2E7AFAEAE550}"/>
              </a:ext>
            </a:extLst>
          </p:cNvPr>
          <p:cNvSpPr/>
          <p:nvPr/>
        </p:nvSpPr>
        <p:spPr bwMode="auto">
          <a:xfrm rot="17956644">
            <a:off x="10980467" y="2704016"/>
            <a:ext cx="1012666" cy="416708"/>
          </a:xfrm>
          <a:prstGeom prst="roundRect">
            <a:avLst/>
          </a:prstGeom>
          <a:solidFill>
            <a:srgbClr val="B0D838">
              <a:lumMod val="20000"/>
              <a:lumOff val="80000"/>
            </a:srgbClr>
          </a:solidFill>
          <a:ln>
            <a:noFill/>
          </a:ln>
          <a:effectLst>
            <a:outerShdw blurRad="50800" dist="38100" dir="5400000" algn="t" rotWithShape="0">
              <a:prstClr val="black">
                <a:alpha val="40000"/>
              </a:prstClr>
            </a:outerShdw>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fr-CH" sz="1500" b="0" i="0" u="none" strike="noStrike" kern="0" cap="none" spc="0" normalizeH="0" baseline="0" noProof="0">
                <a:ln>
                  <a:noFill/>
                </a:ln>
                <a:solidFill>
                  <a:srgbClr val="000000"/>
                </a:solidFill>
                <a:effectLst/>
                <a:uLnTx/>
                <a:uFillTx/>
                <a:latin typeface="Arial" panose="020B0604020202020204"/>
                <a:ea typeface="ＭＳ Ｐゴシック" charset="0"/>
                <a:cs typeface="+mn-cs"/>
              </a:rPr>
              <a:t>JTI </a:t>
            </a:r>
            <a:r>
              <a:rPr kumimoji="0" lang="fr-CH" sz="1500" b="0" i="0" u="none" strike="noStrike" kern="0" cap="none" spc="0" normalizeH="0" baseline="0" noProof="0">
                <a:ln>
                  <a:noFill/>
                </a:ln>
                <a:solidFill>
                  <a:srgbClr val="5F5F5F">
                    <a:lumMod val="50000"/>
                  </a:srgbClr>
                </a:solidFill>
                <a:effectLst/>
                <a:uLnTx/>
                <a:uFillTx/>
                <a:latin typeface="Arial" panose="020B0604020202020204"/>
                <a:ea typeface="ＭＳ Ｐゴシック" charset="0"/>
                <a:cs typeface="+mn-cs"/>
              </a:rPr>
              <a:t>SKU</a:t>
            </a:r>
            <a:endParaRPr kumimoji="0" lang="en-US" sz="1500" b="0" i="0" u="none" strike="noStrike" kern="0" cap="none" spc="0" normalizeH="0" baseline="0" noProof="0">
              <a:ln>
                <a:noFill/>
              </a:ln>
              <a:solidFill>
                <a:srgbClr val="5F5F5F">
                  <a:lumMod val="50000"/>
                </a:srgbClr>
              </a:solidFill>
              <a:effectLst/>
              <a:uLnTx/>
              <a:uFillTx/>
              <a:latin typeface="Arial" panose="020B0604020202020204"/>
              <a:ea typeface="ＭＳ Ｐゴシック" charset="0"/>
              <a:cs typeface="+mn-cs"/>
            </a:endParaRPr>
          </a:p>
        </p:txBody>
      </p:sp>
      <p:sp>
        <p:nvSpPr>
          <p:cNvPr id="36" name="Rounded Rectangle 65">
            <a:extLst>
              <a:ext uri="{FF2B5EF4-FFF2-40B4-BE49-F238E27FC236}">
                <a16:creationId xmlns:a16="http://schemas.microsoft.com/office/drawing/2014/main" id="{CCFC7B63-2D6E-4D8F-8290-934661A6E97E}"/>
              </a:ext>
            </a:extLst>
          </p:cNvPr>
          <p:cNvSpPr/>
          <p:nvPr/>
        </p:nvSpPr>
        <p:spPr bwMode="auto">
          <a:xfrm rot="17956644">
            <a:off x="10429458" y="2664662"/>
            <a:ext cx="1012666" cy="416708"/>
          </a:xfrm>
          <a:prstGeom prst="roundRect">
            <a:avLst/>
          </a:prstGeom>
          <a:solidFill>
            <a:srgbClr val="ABD9CE"/>
          </a:solidFill>
          <a:ln w="38100" cap="flat" cmpd="sng" algn="ctr">
            <a:noFill/>
            <a:prstDash val="solid"/>
            <a:miter lim="800000"/>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CH" sz="15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C</a:t>
            </a:r>
            <a:r>
              <a:rPr kumimoji="0" lang="en-US" sz="15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a:t>
            </a:r>
            <a:r>
              <a:rPr kumimoji="0" lang="fr-CH" sz="15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SKU</a:t>
            </a:r>
            <a:endParaRPr kumimoji="0" lang="en-US" sz="1500" b="0" i="0" u="none" strike="noStrike" kern="0" cap="none" spc="0" normalizeH="0" baseline="0" noProof="0">
              <a:ln>
                <a:noFill/>
              </a:ln>
              <a:solidFill>
                <a:srgbClr val="FFFFFF"/>
              </a:solidFill>
              <a:effectLst/>
              <a:uLnTx/>
              <a:uFillTx/>
              <a:latin typeface="Arial" panose="020B0604020202020204"/>
              <a:ea typeface="ＭＳ Ｐゴシック" charset="0"/>
              <a:cs typeface="+mn-cs"/>
            </a:endParaRPr>
          </a:p>
        </p:txBody>
      </p:sp>
      <p:sp>
        <p:nvSpPr>
          <p:cNvPr id="37" name="Curved Down Arrow 37">
            <a:extLst>
              <a:ext uri="{FF2B5EF4-FFF2-40B4-BE49-F238E27FC236}">
                <a16:creationId xmlns:a16="http://schemas.microsoft.com/office/drawing/2014/main" id="{4FBDC4D3-3D32-414C-85A0-D055E0040AA2}"/>
              </a:ext>
            </a:extLst>
          </p:cNvPr>
          <p:cNvSpPr/>
          <p:nvPr/>
        </p:nvSpPr>
        <p:spPr bwMode="auto">
          <a:xfrm flipH="1">
            <a:off x="11004994" y="2128105"/>
            <a:ext cx="670881" cy="401564"/>
          </a:xfrm>
          <a:prstGeom prst="curvedDownArrow">
            <a:avLst/>
          </a:prstGeom>
          <a:solidFill>
            <a:srgbClr val="407EC9">
              <a:lumMod val="75000"/>
            </a:srgbClr>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Tree>
    <p:extLst>
      <p:ext uri="{BB962C8B-B14F-4D97-AF65-F5344CB8AC3E}">
        <p14:creationId xmlns:p14="http://schemas.microsoft.com/office/powerpoint/2010/main" val="2366008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827B1-8EE1-4F9A-8378-BE59E5169F00}"/>
              </a:ext>
            </a:extLst>
          </p:cNvPr>
          <p:cNvSpPr>
            <a:spLocks noGrp="1"/>
          </p:cNvSpPr>
          <p:nvPr>
            <p:ph type="title"/>
          </p:nvPr>
        </p:nvSpPr>
        <p:spPr>
          <a:xfrm>
            <a:off x="1511276" y="210344"/>
            <a:ext cx="9879310" cy="984247"/>
          </a:xfrm>
        </p:spPr>
        <p:txBody>
          <a:bodyPr/>
          <a:lstStyle/>
          <a:p>
            <a:r>
              <a:rPr lang="en-US"/>
              <a:t>What granularity do we expect behind P&amp;L lines?</a:t>
            </a:r>
          </a:p>
        </p:txBody>
      </p:sp>
      <p:sp>
        <p:nvSpPr>
          <p:cNvPr id="4" name="Footer Placeholder 3">
            <a:extLst>
              <a:ext uri="{FF2B5EF4-FFF2-40B4-BE49-F238E27FC236}">
                <a16:creationId xmlns:a16="http://schemas.microsoft.com/office/drawing/2014/main" id="{338242A5-BCBE-4058-8C19-2B61332DF63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4D9896D-72D0-439F-8D19-61FCE4020A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3" name="Group 62">
            <a:extLst>
              <a:ext uri="{FF2B5EF4-FFF2-40B4-BE49-F238E27FC236}">
                <a16:creationId xmlns:a16="http://schemas.microsoft.com/office/drawing/2014/main" id="{A971DDCB-8BB1-46D9-8CD4-B840925E5EC1}"/>
              </a:ext>
            </a:extLst>
          </p:cNvPr>
          <p:cNvGrpSpPr/>
          <p:nvPr/>
        </p:nvGrpSpPr>
        <p:grpSpPr>
          <a:xfrm>
            <a:off x="449263" y="1256961"/>
            <a:ext cx="11403161" cy="5340068"/>
            <a:chOff x="449263" y="1256961"/>
            <a:chExt cx="11403161" cy="5400501"/>
          </a:xfrm>
        </p:grpSpPr>
        <p:sp>
          <p:nvSpPr>
            <p:cNvPr id="35" name="Round Diagonal Corner Rectangle 63">
              <a:extLst>
                <a:ext uri="{FF2B5EF4-FFF2-40B4-BE49-F238E27FC236}">
                  <a16:creationId xmlns:a16="http://schemas.microsoft.com/office/drawing/2014/main" id="{0214AEC5-4A90-4819-8EDC-E6EF7E296E26}"/>
                </a:ext>
              </a:extLst>
            </p:cNvPr>
            <p:cNvSpPr/>
            <p:nvPr/>
          </p:nvSpPr>
          <p:spPr bwMode="auto">
            <a:xfrm>
              <a:off x="449263" y="1330984"/>
              <a:ext cx="11403161" cy="5326478"/>
            </a:xfrm>
            <a:prstGeom prst="round2DiagRect">
              <a:avLst>
                <a:gd name="adj1" fmla="val 0"/>
                <a:gd name="adj2" fmla="val 0"/>
              </a:avLst>
            </a:prstGeom>
            <a:solidFill>
              <a:srgbClr val="7FDDD7">
                <a:alpha val="32000"/>
              </a:srgbClr>
            </a:solidFill>
            <a:ln>
              <a:noFill/>
            </a:ln>
            <a:effectLst/>
          </p:spPr>
          <p:txBody>
            <a:bodyPr vert="horz" wrap="square" lIns="0" tIns="0" rIns="0" bIns="0" numCol="1" rtlCol="0" anchor="t" anchorCtr="0" compatLnSpc="1">
              <a:prstTxWarp prst="textNoShape">
                <a:avLst/>
              </a:prstTxWarp>
            </a:bodyPr>
            <a:lstStyle/>
            <a:p>
              <a:pPr marL="115887" marR="0" lvl="0" indent="0" algn="l" defTabSz="914400" rtl="0" eaLnBrk="1" fontAlgn="base" latinLnBrk="0" hangingPunct="1">
                <a:lnSpc>
                  <a:spcPct val="100000"/>
                </a:lnSpc>
                <a:spcBef>
                  <a:spcPts val="0"/>
                </a:spcBef>
                <a:spcAft>
                  <a:spcPts val="0"/>
                </a:spcAft>
                <a:buClrTx/>
                <a:buSzTx/>
                <a:buFontTx/>
                <a:buNone/>
                <a:tabLst/>
                <a:defRPr/>
              </a:pPr>
              <a:endParaRPr kumimoji="0" lang="fr-FR" sz="1600" b="1" i="1"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endParaRPr>
            </a:p>
          </p:txBody>
        </p:sp>
        <p:sp>
          <p:nvSpPr>
            <p:cNvPr id="36" name="Rounded Rectangle 60">
              <a:extLst>
                <a:ext uri="{FF2B5EF4-FFF2-40B4-BE49-F238E27FC236}">
                  <a16:creationId xmlns:a16="http://schemas.microsoft.com/office/drawing/2014/main" id="{71FF60BD-79C8-4B08-B122-5DF48905352C}"/>
                </a:ext>
              </a:extLst>
            </p:cNvPr>
            <p:cNvSpPr/>
            <p:nvPr/>
          </p:nvSpPr>
          <p:spPr bwMode="auto">
            <a:xfrm rot="17956644">
              <a:off x="4410221" y="1572323"/>
              <a:ext cx="1175308" cy="544584"/>
            </a:xfrm>
            <a:prstGeom prst="roundRect">
              <a:avLst/>
            </a:prstGeom>
            <a:solidFill>
              <a:srgbClr val="74D9D5"/>
            </a:solidFill>
            <a:ln w="12700" cap="flat" cmpd="sng" algn="ctr">
              <a:solidFill>
                <a:srgbClr val="FFFFFF">
                  <a:lumMod val="85000"/>
                </a:srgbClr>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600" b="0" i="0" u="none" strike="noStrike" kern="0" cap="none" spc="0" normalizeH="0" baseline="0" noProof="0" err="1">
                  <a:ln>
                    <a:noFill/>
                  </a:ln>
                  <a:solidFill>
                    <a:srgbClr val="FFFFFF"/>
                  </a:solidFill>
                  <a:effectLst/>
                  <a:uLnTx/>
                  <a:uFillTx/>
                  <a:latin typeface="Arial" panose="020B0604020202020204"/>
                  <a:ea typeface="+mn-ea"/>
                  <a:cs typeface="+mn-cs"/>
                </a:rPr>
                <a:t>Market</a:t>
              </a: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 name="Rounded Rectangle 61">
              <a:extLst>
                <a:ext uri="{FF2B5EF4-FFF2-40B4-BE49-F238E27FC236}">
                  <a16:creationId xmlns:a16="http://schemas.microsoft.com/office/drawing/2014/main" id="{4840B96C-E545-431B-997F-DC8F3971F33C}"/>
                </a:ext>
              </a:extLst>
            </p:cNvPr>
            <p:cNvSpPr/>
            <p:nvPr/>
          </p:nvSpPr>
          <p:spPr bwMode="auto">
            <a:xfrm rot="17956644">
              <a:off x="5201113" y="1518247"/>
              <a:ext cx="1223042" cy="794775"/>
            </a:xfrm>
            <a:prstGeom prst="roundRect">
              <a:avLst/>
            </a:prstGeom>
            <a:solidFill>
              <a:srgbClr val="74D9D5"/>
            </a:solidFill>
            <a:ln w="12700" cap="flat" cmpd="sng" algn="ctr">
              <a:solidFill>
                <a:srgbClr val="FFFFFF">
                  <a:lumMod val="85000"/>
                </a:srgbClr>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600" b="0" i="0" u="none" strike="noStrike" kern="0" cap="none" spc="0" normalizeH="0" baseline="0" noProof="0" err="1">
                  <a:ln>
                    <a:noFill/>
                  </a:ln>
                  <a:solidFill>
                    <a:srgbClr val="FFFFFF"/>
                  </a:solidFill>
                  <a:effectLst/>
                  <a:uLnTx/>
                  <a:uFillTx/>
                  <a:latin typeface="Arial" panose="020B0604020202020204"/>
                  <a:ea typeface="+mn-ea"/>
                  <a:cs typeface="+mn-cs"/>
                </a:rPr>
                <a:t>Br.Fam</a:t>
              </a:r>
              <a:r>
                <a:rPr kumimoji="0" lang="fr-CH" sz="1600" b="0" i="0" u="none" strike="noStrike" kern="0" cap="none" spc="0" normalizeH="0" baseline="0" noProof="0">
                  <a:ln>
                    <a:noFill/>
                  </a:ln>
                  <a:solidFill>
                    <a:srgbClr val="FFFFFF"/>
                  </a:solidFill>
                  <a:effectLst/>
                  <a:uLnTx/>
                  <a:uFillTx/>
                  <a:latin typeface="Arial" panose="020B0604020202020204"/>
                  <a:ea typeface="+mn-ea"/>
                  <a:cs typeface="+mn-cs"/>
                </a:rPr>
                <a:t> &amp; Prod. type</a:t>
              </a: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8" name="Rounded Rectangle 62">
              <a:extLst>
                <a:ext uri="{FF2B5EF4-FFF2-40B4-BE49-F238E27FC236}">
                  <a16:creationId xmlns:a16="http://schemas.microsoft.com/office/drawing/2014/main" id="{A36FF7AC-3C22-4BAB-B188-89D4CEE7E59F}"/>
                </a:ext>
              </a:extLst>
            </p:cNvPr>
            <p:cNvSpPr/>
            <p:nvPr/>
          </p:nvSpPr>
          <p:spPr bwMode="auto">
            <a:xfrm rot="17956644">
              <a:off x="6217165" y="1661281"/>
              <a:ext cx="1012666" cy="555163"/>
            </a:xfrm>
            <a:prstGeom prst="roundRect">
              <a:avLst/>
            </a:prstGeom>
            <a:solidFill>
              <a:srgbClr val="74D9D5"/>
            </a:solidFill>
            <a:ln w="12700" cap="flat" cmpd="sng" algn="ctr">
              <a:solidFill>
                <a:srgbClr val="FFFFFF">
                  <a:lumMod val="85000"/>
                </a:srgbClr>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0" i="0" u="none" strike="noStrike" kern="0" cap="none" spc="0" normalizeH="0" baseline="0" noProof="0">
                  <a:ln>
                    <a:noFill/>
                  </a:ln>
                  <a:solidFill>
                    <a:srgbClr val="FFFFFF"/>
                  </a:solidFill>
                  <a:effectLst/>
                  <a:uLnTx/>
                  <a:uFillTx/>
                  <a:latin typeface="Arial" panose="020B0604020202020204"/>
                  <a:ea typeface="+mn-ea"/>
                  <a:cs typeface="+mn-cs"/>
                </a:rPr>
                <a:t>JTI SKU</a:t>
              </a:r>
              <a:endParaRPr kumimoji="0" lang="en-US" sz="14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 name="Rounded Rectangle 32">
              <a:extLst>
                <a:ext uri="{FF2B5EF4-FFF2-40B4-BE49-F238E27FC236}">
                  <a16:creationId xmlns:a16="http://schemas.microsoft.com/office/drawing/2014/main" id="{86A90AD6-492B-4351-B408-76A3099DD6DF}"/>
                </a:ext>
              </a:extLst>
            </p:cNvPr>
            <p:cNvSpPr/>
            <p:nvPr/>
          </p:nvSpPr>
          <p:spPr bwMode="auto">
            <a:xfrm>
              <a:off x="2327216" y="1865672"/>
              <a:ext cx="2122134" cy="348613"/>
            </a:xfrm>
            <a:prstGeom prst="roundRect">
              <a:avLst/>
            </a:prstGeom>
            <a:solidFill>
              <a:srgbClr val="FFFFFF">
                <a:lumMod val="50000"/>
              </a:srgbClr>
            </a:solidFill>
            <a:ln>
              <a:no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CH" sz="14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High </a:t>
              </a:r>
              <a:r>
                <a:rPr kumimoji="0" lang="fr-CH" sz="1400" b="0" i="0" u="none" strike="noStrike" kern="0" cap="none" spc="0" normalizeH="0" baseline="0" noProof="0" err="1">
                  <a:ln>
                    <a:noFill/>
                  </a:ln>
                  <a:solidFill>
                    <a:srgbClr val="FFFFFF"/>
                  </a:solidFill>
                  <a:effectLst/>
                  <a:uLnTx/>
                  <a:uFillTx/>
                  <a:latin typeface="Arial" panose="020B0604020202020204"/>
                  <a:ea typeface="ＭＳ Ｐゴシック" charset="0"/>
                  <a:cs typeface="+mn-cs"/>
                </a:rPr>
                <a:t>Market</a:t>
              </a:r>
              <a:br>
                <a:rPr kumimoji="0" lang="fr-CH" sz="1400" b="0" i="0" u="none" strike="noStrike" kern="0" cap="none" spc="0" normalizeH="0" baseline="0" noProof="0">
                  <a:ln>
                    <a:noFill/>
                  </a:ln>
                  <a:solidFill>
                    <a:srgbClr val="FFFFFF"/>
                  </a:solidFill>
                  <a:effectLst/>
                  <a:uLnTx/>
                  <a:uFillTx/>
                  <a:latin typeface="Arial" panose="020B0604020202020204"/>
                  <a:ea typeface="ＭＳ Ｐゴシック" charset="0"/>
                  <a:cs typeface="+mn-cs"/>
                </a:rPr>
              </a:br>
              <a:r>
                <a:rPr kumimoji="0" lang="fr-CH" sz="14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P&amp;L Structure</a:t>
              </a:r>
              <a:endParaRPr kumimoji="0" lang="en-US" sz="1400" b="0" i="0" u="none" strike="noStrike" kern="0" cap="none" spc="0" normalizeH="0" baseline="0" noProof="0">
                <a:ln>
                  <a:noFill/>
                </a:ln>
                <a:solidFill>
                  <a:srgbClr val="FFFFFF"/>
                </a:solidFill>
                <a:effectLst/>
                <a:uLnTx/>
                <a:uFillTx/>
                <a:latin typeface="Arial" panose="020B0604020202020204"/>
                <a:ea typeface="ＭＳ Ｐゴシック" charset="0"/>
                <a:cs typeface="+mn-cs"/>
              </a:endParaRPr>
            </a:p>
          </p:txBody>
        </p:sp>
        <p:graphicFrame>
          <p:nvGraphicFramePr>
            <p:cNvPr id="40" name="Content Placeholder 21">
              <a:extLst>
                <a:ext uri="{FF2B5EF4-FFF2-40B4-BE49-F238E27FC236}">
                  <a16:creationId xmlns:a16="http://schemas.microsoft.com/office/drawing/2014/main" id="{760CCA2F-A9F8-4586-BE3B-77B058BE6539}"/>
                </a:ext>
              </a:extLst>
            </p:cNvPr>
            <p:cNvGraphicFramePr>
              <a:graphicFrameLocks/>
            </p:cNvGraphicFramePr>
            <p:nvPr>
              <p:extLst/>
            </p:nvPr>
          </p:nvGraphicFramePr>
          <p:xfrm>
            <a:off x="2327216" y="2287072"/>
            <a:ext cx="4461559" cy="4321915"/>
          </p:xfrm>
          <a:graphic>
            <a:graphicData uri="http://schemas.openxmlformats.org/drawingml/2006/table">
              <a:tbl>
                <a:tblPr firstRow="1" bandRow="1"/>
                <a:tblGrid>
                  <a:gridCol w="2171914">
                    <a:extLst>
                      <a:ext uri="{9D8B030D-6E8A-4147-A177-3AD203B41FA5}">
                        <a16:colId xmlns:a16="http://schemas.microsoft.com/office/drawing/2014/main" val="3357700082"/>
                      </a:ext>
                    </a:extLst>
                  </a:gridCol>
                  <a:gridCol w="564210">
                    <a:extLst>
                      <a:ext uri="{9D8B030D-6E8A-4147-A177-3AD203B41FA5}">
                        <a16:colId xmlns:a16="http://schemas.microsoft.com/office/drawing/2014/main" val="3318504762"/>
                      </a:ext>
                    </a:extLst>
                  </a:gridCol>
                  <a:gridCol w="588397">
                    <a:extLst>
                      <a:ext uri="{9D8B030D-6E8A-4147-A177-3AD203B41FA5}">
                        <a16:colId xmlns:a16="http://schemas.microsoft.com/office/drawing/2014/main" val="1825479784"/>
                      </a:ext>
                    </a:extLst>
                  </a:gridCol>
                  <a:gridCol w="620202">
                    <a:extLst>
                      <a:ext uri="{9D8B030D-6E8A-4147-A177-3AD203B41FA5}">
                        <a16:colId xmlns:a16="http://schemas.microsoft.com/office/drawing/2014/main" val="1878549419"/>
                      </a:ext>
                    </a:extLst>
                  </a:gridCol>
                  <a:gridCol w="516836">
                    <a:extLst>
                      <a:ext uri="{9D8B030D-6E8A-4147-A177-3AD203B41FA5}">
                        <a16:colId xmlns:a16="http://schemas.microsoft.com/office/drawing/2014/main" val="747746771"/>
                      </a:ext>
                    </a:extLst>
                  </a:gridCol>
                </a:tblGrid>
                <a:tr h="31468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fr-CH" sz="1400">
                            <a:solidFill>
                              <a:schemeClr val="tx1"/>
                            </a:solidFill>
                            <a:latin typeface="+mj-lt"/>
                            <a:cs typeface="Calibri" panose="020F0502020204030204" pitchFamily="34" charset="0"/>
                          </a:rPr>
                          <a:t>Gross</a:t>
                        </a:r>
                        <a:r>
                          <a:rPr lang="fr-CH" sz="1400" baseline="0">
                            <a:solidFill>
                              <a:schemeClr val="tx1"/>
                            </a:solidFill>
                            <a:latin typeface="+mj-lt"/>
                            <a:cs typeface="Calibri" panose="020F0502020204030204" pitchFamily="34" charset="0"/>
                          </a:rPr>
                          <a:t> </a:t>
                        </a:r>
                        <a:r>
                          <a:rPr lang="fr-CH" sz="1400">
                            <a:solidFill>
                              <a:schemeClr val="tx1"/>
                            </a:solidFill>
                            <a:latin typeface="+mj-lt"/>
                            <a:cs typeface="Calibri" panose="020F0502020204030204" pitchFamily="34" charset="0"/>
                          </a:rPr>
                          <a:t>Revenue</a:t>
                        </a:r>
                        <a:endParaRPr lang="en-US" sz="1400">
                          <a:solidFill>
                            <a:schemeClr val="tx1"/>
                          </a:solidFill>
                          <a:latin typeface="+mj-lt"/>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fr-CH" sz="1400" b="1">
                            <a:solidFill>
                              <a:schemeClr val="accent5">
                                <a:lumMod val="50000"/>
                              </a:schemeClr>
                            </a:solidFill>
                            <a:latin typeface="Arial Black" panose="020B0A04020102020204" pitchFamily="34" charset="0"/>
                            <a:cs typeface="Calibri" panose="020F0502020204030204" pitchFamily="34" charset="0"/>
                          </a:rPr>
                          <a:t>X</a:t>
                        </a:r>
                        <a:endParaRPr lang="en-US" sz="1400" b="1">
                          <a:solidFill>
                            <a:schemeClr val="accent5">
                              <a:lumMod val="50000"/>
                            </a:schemeClr>
                          </a:solidFill>
                          <a:latin typeface="Arial Black" panose="020B0A04020102020204" pitchFamily="34" charset="0"/>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1978285834"/>
                    </a:ext>
                  </a:extLst>
                </a:tr>
                <a:tr h="50801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fr-CH" sz="1400">
                            <a:latin typeface="+mj-lt"/>
                            <a:cs typeface="Calibri" panose="020F0502020204030204" pitchFamily="34" charset="0"/>
                          </a:rPr>
                          <a:t>Price</a:t>
                        </a:r>
                        <a:r>
                          <a:rPr lang="fr-CH" sz="1400" baseline="0">
                            <a:latin typeface="+mj-lt"/>
                            <a:cs typeface="Calibri" panose="020F0502020204030204" pitchFamily="34" charset="0"/>
                          </a:rPr>
                          <a:t> </a:t>
                        </a:r>
                        <a:r>
                          <a:rPr lang="fr-CH" sz="1400" err="1">
                            <a:latin typeface="+mj-lt"/>
                            <a:cs typeface="Calibri" panose="020F0502020204030204" pitchFamily="34" charset="0"/>
                          </a:rPr>
                          <a:t>Distr</a:t>
                        </a:r>
                        <a:r>
                          <a:rPr lang="fr-CH" sz="1400">
                            <a:latin typeface="+mj-lt"/>
                            <a:cs typeface="Calibri" panose="020F0502020204030204" pitchFamily="34" charset="0"/>
                          </a:rPr>
                          <a:t> </a:t>
                        </a:r>
                        <a:r>
                          <a:rPr lang="fr-CH" sz="1400" err="1">
                            <a:latin typeface="+mj-lt"/>
                            <a:cs typeface="Calibri" panose="020F0502020204030204" pitchFamily="34" charset="0"/>
                          </a:rPr>
                          <a:t>Allow</a:t>
                        </a:r>
                        <a:r>
                          <a:rPr lang="fr-CH" sz="1400">
                            <a:latin typeface="+mj-lt"/>
                            <a:cs typeface="Calibri" panose="020F0502020204030204" pitchFamily="34" charset="0"/>
                          </a:rPr>
                          <a:t>. &amp; Sales adj. </a:t>
                        </a:r>
                        <a:r>
                          <a:rPr lang="fr-CH" sz="1400" err="1">
                            <a:solidFill>
                              <a:schemeClr val="tx1"/>
                            </a:solidFill>
                            <a:latin typeface="+mj-lt"/>
                            <a:cs typeface="Calibri" panose="020F0502020204030204" pitchFamily="34" charset="0"/>
                          </a:rPr>
                          <a:t>Allowances</a:t>
                        </a:r>
                        <a:r>
                          <a:rPr lang="fr-CH" sz="1400">
                            <a:solidFill>
                              <a:schemeClr val="tx1"/>
                            </a:solidFill>
                            <a:latin typeface="+mj-lt"/>
                            <a:cs typeface="Calibri" panose="020F0502020204030204" pitchFamily="34" charset="0"/>
                          </a:rPr>
                          <a:t> *</a:t>
                        </a:r>
                        <a:endParaRPr lang="en-US" sz="1400">
                          <a:solidFill>
                            <a:schemeClr val="tx1"/>
                          </a:solidFill>
                          <a:latin typeface="+mj-lt"/>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1176784526"/>
                    </a:ext>
                  </a:extLst>
                </a:tr>
                <a:tr h="298829">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fr-CH" sz="1400" i="1">
                            <a:latin typeface="+mj-lt"/>
                            <a:cs typeface="Calibri" panose="020F0502020204030204" pitchFamily="34" charset="0"/>
                          </a:rPr>
                          <a:t>Mark. </a:t>
                        </a:r>
                        <a:r>
                          <a:rPr lang="fr-CH" sz="1400" i="1" err="1">
                            <a:latin typeface="+mj-lt"/>
                            <a:cs typeface="Calibri" panose="020F0502020204030204" pitchFamily="34" charset="0"/>
                          </a:rPr>
                          <a:t>Allow</a:t>
                        </a:r>
                        <a:r>
                          <a:rPr lang="fr-CH" sz="1400" i="1">
                            <a:latin typeface="+mj-lt"/>
                            <a:cs typeface="Calibri" panose="020F0502020204030204" pitchFamily="34" charset="0"/>
                          </a:rPr>
                          <a:t>.</a:t>
                        </a:r>
                        <a:endParaRPr lang="en-US" sz="1400" i="1">
                          <a:latin typeface="+mj-lt"/>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100" b="1" i="0" u="none" strike="noStrike" kern="1200" cap="none" spc="0" normalizeH="0" baseline="0" noProof="0" err="1">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n.a</a:t>
                        </a:r>
                        <a:r>
                          <a:rPr kumimoji="0" lang="fr-CH" sz="11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a:t>
                        </a:r>
                        <a:endParaRPr kumimoji="0" lang="en-US" sz="11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3887654185"/>
                    </a:ext>
                  </a:extLst>
                </a:tr>
                <a:tr h="32351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latin typeface="+mj-lt"/>
                            <a:cs typeface="Calibri" panose="020F0502020204030204" pitchFamily="34" charset="0"/>
                          </a:rPr>
                          <a:t>Excise </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2953119559"/>
                    </a:ext>
                  </a:extLst>
                </a:tr>
                <a:tr h="33131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a:r>
                          <a:rPr lang="fr-CH" sz="1400" b="1">
                            <a:solidFill>
                              <a:schemeClr val="tx1"/>
                            </a:solidFill>
                            <a:latin typeface="+mj-lt"/>
                            <a:cs typeface="Calibri" panose="020F0502020204030204" pitchFamily="34" charset="0"/>
                          </a:rPr>
                          <a:t>Revenue</a:t>
                        </a:r>
                        <a:endParaRPr lang="en-US" sz="1400" b="1">
                          <a:solidFill>
                            <a:schemeClr val="tx1"/>
                          </a:solidFill>
                          <a:latin typeface="+mj-lt"/>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5F5F5F">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5F5F5F">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5F5F5F">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5F5F5F">
                          <a:lumMod val="40000"/>
                          <a:lumOff val="60000"/>
                        </a:srgbClr>
                      </a:solidFill>
                    </a:tcPr>
                  </a:tc>
                  <a:extLst>
                    <a:ext uri="{0D108BD9-81ED-4DB2-BD59-A6C34878D82A}">
                      <a16:rowId xmlns:a16="http://schemas.microsoft.com/office/drawing/2014/main" val="4257396013"/>
                    </a:ext>
                  </a:extLst>
                </a:tr>
                <a:tr h="298829">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fr-CH" sz="1400">
                            <a:latin typeface="+mj-lt"/>
                            <a:cs typeface="Calibri" panose="020F0502020204030204" pitchFamily="34" charset="0"/>
                          </a:rPr>
                          <a:t>COGS split</a:t>
                        </a:r>
                        <a:endParaRPr lang="en-US" sz="1400">
                          <a:latin typeface="+mj-lt"/>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1826428804"/>
                    </a:ext>
                  </a:extLst>
                </a:tr>
                <a:tr h="31961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fr-CH" sz="1400" b="0" i="1" baseline="0">
                            <a:latin typeface="+mj-lt"/>
                            <a:cs typeface="Calibri" panose="020F0502020204030204" pitchFamily="34" charset="0"/>
                          </a:rPr>
                          <a:t>Trade </a:t>
                        </a:r>
                        <a:r>
                          <a:rPr lang="fr-CH" sz="1400" b="0" i="1" baseline="0" err="1">
                            <a:latin typeface="+mj-lt"/>
                            <a:cs typeface="Calibri" panose="020F0502020204030204" pitchFamily="34" charset="0"/>
                          </a:rPr>
                          <a:t>Incentives</a:t>
                        </a:r>
                        <a:r>
                          <a:rPr lang="fr-CH" sz="1400" b="0" i="1" baseline="0">
                            <a:latin typeface="+mj-lt"/>
                            <a:cs typeface="Calibri" panose="020F0502020204030204" pitchFamily="34" charset="0"/>
                          </a:rPr>
                          <a:t> </a:t>
                        </a:r>
                        <a:endParaRPr lang="en-US" sz="1400" b="0" i="1">
                          <a:latin typeface="+mj-lt"/>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100" b="1" i="0" u="none" strike="noStrike" kern="1200" cap="none" spc="0" normalizeH="0" baseline="0" noProof="0" err="1">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n.a</a:t>
                        </a:r>
                        <a:r>
                          <a:rPr kumimoji="0" lang="fr-CH" sz="11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a:t>
                        </a:r>
                        <a:endParaRPr kumimoji="0" lang="en-US" sz="11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3325062784"/>
                    </a:ext>
                  </a:extLst>
                </a:tr>
                <a:tr h="3094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l" defTabSz="914126" rtl="0" eaLnBrk="1" latinLnBrk="0" hangingPunct="1"/>
                        <a:r>
                          <a:rPr lang="en-US" sz="1400" b="0" i="0" kern="1200" baseline="0">
                            <a:solidFill>
                              <a:schemeClr val="dk1"/>
                            </a:solidFill>
                            <a:latin typeface="+mj-lt"/>
                            <a:ea typeface="+mn-ea"/>
                            <a:cs typeface="Calibri" panose="020F0502020204030204" pitchFamily="34" charset="0"/>
                          </a:rPr>
                          <a:t>Other/Transport/</a:t>
                        </a:r>
                        <a:r>
                          <a:rPr lang="en-US" sz="1400" b="0" i="0" kern="1200" baseline="0" err="1">
                            <a:solidFill>
                              <a:schemeClr val="dk1"/>
                            </a:solidFill>
                            <a:latin typeface="+mj-lt"/>
                            <a:ea typeface="+mn-ea"/>
                            <a:cs typeface="Calibri" panose="020F0502020204030204" pitchFamily="34" charset="0"/>
                          </a:rPr>
                          <a:t>Wareh</a:t>
                        </a:r>
                        <a:r>
                          <a:rPr lang="en-US" sz="1400" b="0" i="0" kern="1200" baseline="0">
                            <a:solidFill>
                              <a:schemeClr val="dk1"/>
                            </a:solidFill>
                            <a:latin typeface="+mj-lt"/>
                            <a:ea typeface="+mn-ea"/>
                            <a:cs typeface="Calibri" panose="020F0502020204030204" pitchFamily="34" charset="0"/>
                          </a:rPr>
                          <a: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r>
                          <a:rPr kumimoji="0" lang="en-US" sz="10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2912340418"/>
                    </a:ext>
                  </a:extLst>
                </a:tr>
                <a:tr h="3094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fr-CH" sz="1400" b="1">
                            <a:latin typeface="+mj-lt"/>
                            <a:cs typeface="Calibri" panose="020F0502020204030204" pitchFamily="34" charset="0"/>
                          </a:rPr>
                          <a:t>Gross</a:t>
                        </a:r>
                        <a:r>
                          <a:rPr lang="fr-CH" sz="1400" b="1" baseline="0">
                            <a:latin typeface="+mj-lt"/>
                            <a:cs typeface="Calibri" panose="020F0502020204030204" pitchFamily="34" charset="0"/>
                          </a:rPr>
                          <a:t> Margin</a:t>
                        </a:r>
                        <a:endParaRPr lang="en-US" sz="1400" b="1">
                          <a:latin typeface="+mj-lt"/>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5F5F5F">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5F5F5F">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5F5F5F">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5F5F5F">
                          <a:lumMod val="40000"/>
                          <a:lumOff val="60000"/>
                        </a:srgbClr>
                      </a:solidFill>
                    </a:tcPr>
                  </a:tc>
                  <a:extLst>
                    <a:ext uri="{0D108BD9-81ED-4DB2-BD59-A6C34878D82A}">
                      <a16:rowId xmlns:a16="http://schemas.microsoft.com/office/drawing/2014/main" val="69384366"/>
                    </a:ext>
                  </a:extLst>
                </a:tr>
                <a:tr h="3094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fr-CH" sz="1400" i="1">
                            <a:latin typeface="+mj-lt"/>
                            <a:cs typeface="Calibri" panose="020F0502020204030204" pitchFamily="34" charset="0"/>
                          </a:rPr>
                          <a:t>Mark. Programs</a:t>
                        </a:r>
                        <a:endParaRPr lang="en-US" sz="1400" i="1">
                          <a:latin typeface="+mj-lt"/>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endParaRPr lang="en-US" sz="1400">
                          <a:latin typeface="Calibri" panose="020F0502020204030204" pitchFamily="34" charset="0"/>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endParaRPr lang="en-US" sz="140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53105188"/>
                    </a:ext>
                  </a:extLst>
                </a:tr>
                <a:tr h="3094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fr-CH" sz="1400" b="1">
                            <a:latin typeface="+mj-lt"/>
                            <a:cs typeface="Calibri" panose="020F0502020204030204" pitchFamily="34" charset="0"/>
                          </a:rPr>
                          <a:t>Brand</a:t>
                        </a:r>
                        <a:r>
                          <a:rPr lang="fr-CH" sz="1400" b="1" baseline="0">
                            <a:latin typeface="+mj-lt"/>
                            <a:cs typeface="Calibri" panose="020F0502020204030204" pitchFamily="34" charset="0"/>
                          </a:rPr>
                          <a:t> Contrib.</a:t>
                        </a:r>
                        <a:endParaRPr lang="en-US" sz="1400" b="1">
                          <a:latin typeface="+mj-lt"/>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5F5F5F">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5F5F5F">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5F5F5F">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endParaRPr lang="en-US" sz="1400">
                          <a:latin typeface="Calibri" panose="020F0502020204030204" pitchFamily="34" charset="0"/>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endParaRPr lang="en-US" sz="140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26536019"/>
                    </a:ext>
                  </a:extLst>
                </a:tr>
                <a:tr h="3094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fr-CH" sz="1400">
                            <a:latin typeface="+mj-lt"/>
                            <a:cs typeface="Calibri" panose="020F0502020204030204" pitchFamily="34" charset="0"/>
                          </a:rPr>
                          <a:t>OPEX </a:t>
                        </a:r>
                        <a:r>
                          <a:rPr lang="fr-CH" sz="1400">
                            <a:solidFill>
                              <a:schemeClr val="tx1"/>
                            </a:solidFill>
                            <a:latin typeface="+mj-lt"/>
                            <a:cs typeface="Calibri" panose="020F0502020204030204" pitchFamily="34" charset="0"/>
                          </a:rPr>
                          <a:t>&amp; </a:t>
                        </a:r>
                        <a:r>
                          <a:rPr lang="fr-CH" sz="1400" err="1">
                            <a:solidFill>
                              <a:schemeClr val="tx1"/>
                            </a:solidFill>
                            <a:latin typeface="+mj-lt"/>
                            <a:cs typeface="Calibri" panose="020F0502020204030204" pitchFamily="34" charset="0"/>
                          </a:rPr>
                          <a:t>Misc</a:t>
                        </a:r>
                        <a:r>
                          <a:rPr lang="fr-CH" sz="1400">
                            <a:solidFill>
                              <a:schemeClr val="tx1"/>
                            </a:solidFill>
                            <a:latin typeface="+mj-lt"/>
                            <a:cs typeface="Calibri" panose="020F0502020204030204" pitchFamily="34" charset="0"/>
                          </a:rPr>
                          <a:t>.</a:t>
                        </a:r>
                        <a:endParaRPr lang="en-US" sz="1400">
                          <a:solidFill>
                            <a:schemeClr val="tx1"/>
                          </a:solidFill>
                          <a:latin typeface="+mj-lt"/>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endParaRPr lang="en-US" sz="1400">
                          <a:latin typeface="Calibri" panose="020F0502020204030204" pitchFamily="34" charset="0"/>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endParaRPr lang="en-US" sz="1400">
                          <a:latin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endParaRPr lang="en-US" sz="1400">
                          <a:latin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93919206"/>
                    </a:ext>
                  </a:extLst>
                </a:tr>
                <a:tr h="3094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fr-CH" sz="1400" b="1">
                            <a:latin typeface="+mj-lt"/>
                            <a:cs typeface="Calibri" panose="020F0502020204030204" pitchFamily="34" charset="0"/>
                          </a:rPr>
                          <a:t>OCC</a:t>
                        </a:r>
                        <a:endParaRPr lang="en-US" sz="1400" b="1">
                          <a:latin typeface="+mj-lt"/>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5F5F5F">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H"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rPr>
                          <a:t>X</a:t>
                        </a:r>
                        <a:endParaRPr kumimoji="0" lang="en-US" sz="1400" b="1" i="0" u="none" strike="noStrike" kern="1200" cap="none" spc="0" normalizeH="0" baseline="0" noProof="0">
                          <a:ln>
                            <a:noFill/>
                          </a:ln>
                          <a:solidFill>
                            <a:srgbClr val="408D7A">
                              <a:lumMod val="50000"/>
                            </a:srgbClr>
                          </a:solidFill>
                          <a:effectLst/>
                          <a:uLnTx/>
                          <a:uFillTx/>
                          <a:latin typeface="Arial Black" panose="020B0A04020102020204" pitchFamily="34" charset="0"/>
                          <a:ea typeface="+mn-ea"/>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5F5F5F">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endParaRPr lang="en-US" sz="1400">
                          <a:latin typeface="Calibri" panose="020F0502020204030204" pitchFamily="34" charset="0"/>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endParaRPr lang="en-US" sz="1400">
                          <a:latin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endParaRPr lang="en-US" sz="1400">
                          <a:latin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12250584"/>
                    </a:ext>
                  </a:extLst>
                </a:tr>
              </a:tbl>
            </a:graphicData>
          </a:graphic>
        </p:graphicFrame>
        <p:sp>
          <p:nvSpPr>
            <p:cNvPr id="41" name="Rounded Rectangle 47">
              <a:extLst>
                <a:ext uri="{FF2B5EF4-FFF2-40B4-BE49-F238E27FC236}">
                  <a16:creationId xmlns:a16="http://schemas.microsoft.com/office/drawing/2014/main" id="{C68B7E53-375C-41CA-98CD-47958E12DACA}"/>
                </a:ext>
              </a:extLst>
            </p:cNvPr>
            <p:cNvSpPr/>
            <p:nvPr/>
          </p:nvSpPr>
          <p:spPr bwMode="auto">
            <a:xfrm>
              <a:off x="7419227" y="4827758"/>
              <a:ext cx="1263923" cy="662936"/>
            </a:xfrm>
            <a:prstGeom prst="roundRect">
              <a:avLst/>
            </a:prstGeom>
            <a:solidFill>
              <a:srgbClr val="09B5C7"/>
            </a:solidFill>
            <a:ln w="38100" cap="flat" cmpd="sng" algn="ctr">
              <a:noFill/>
              <a:prstDash val="solid"/>
              <a:miter lim="800000"/>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CH" sz="15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«Variable*» </a:t>
              </a:r>
              <a:br>
                <a:rPr kumimoji="0" lang="fr-CH" sz="1500" b="0" i="0" u="none" strike="noStrike" kern="0" cap="none" spc="0" normalizeH="0" baseline="0" noProof="0">
                  <a:ln>
                    <a:noFill/>
                  </a:ln>
                  <a:solidFill>
                    <a:srgbClr val="FFFFFF"/>
                  </a:solidFill>
                  <a:effectLst/>
                  <a:uLnTx/>
                  <a:uFillTx/>
                  <a:latin typeface="Arial" panose="020B0604020202020204"/>
                  <a:ea typeface="ＭＳ Ｐゴシック" charset="0"/>
                  <a:cs typeface="+mn-cs"/>
                </a:rPr>
              </a:br>
              <a:r>
                <a:rPr kumimoji="0" lang="fr-CH" sz="15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Contrib. Margin</a:t>
              </a:r>
              <a:endParaRPr kumimoji="0" lang="en-US" sz="1500" b="0" i="0" u="none" strike="noStrike" kern="0" cap="none" spc="0" normalizeH="0" baseline="0" noProof="0">
                <a:ln>
                  <a:noFill/>
                </a:ln>
                <a:solidFill>
                  <a:srgbClr val="FFFFFF"/>
                </a:solidFill>
                <a:effectLst/>
                <a:uLnTx/>
                <a:uFillTx/>
                <a:latin typeface="Arial" panose="020B0604020202020204"/>
                <a:ea typeface="ＭＳ Ｐゴシック" charset="0"/>
                <a:cs typeface="+mn-cs"/>
              </a:endParaRPr>
            </a:p>
          </p:txBody>
        </p:sp>
        <p:cxnSp>
          <p:nvCxnSpPr>
            <p:cNvPr id="42" name="Straight Arrow Connector 41">
              <a:extLst>
                <a:ext uri="{FF2B5EF4-FFF2-40B4-BE49-F238E27FC236}">
                  <a16:creationId xmlns:a16="http://schemas.microsoft.com/office/drawing/2014/main" id="{424768A3-10E8-451C-8B38-D63470DD42D6}"/>
                </a:ext>
              </a:extLst>
            </p:cNvPr>
            <p:cNvCxnSpPr>
              <a:cxnSpLocks/>
            </p:cNvCxnSpPr>
            <p:nvPr/>
          </p:nvCxnSpPr>
          <p:spPr>
            <a:xfrm>
              <a:off x="5642877" y="3267008"/>
              <a:ext cx="863404" cy="2481078"/>
            </a:xfrm>
            <a:prstGeom prst="straightConnector1">
              <a:avLst/>
            </a:prstGeom>
            <a:noFill/>
            <a:ln w="15875" cap="flat" cmpd="sng" algn="ctr">
              <a:solidFill>
                <a:srgbClr val="5F5F5F">
                  <a:lumMod val="75000"/>
                </a:srgbClr>
              </a:solidFill>
              <a:prstDash val="solid"/>
              <a:miter lim="800000"/>
              <a:tailEnd type="stealth" w="lg" len="lg"/>
            </a:ln>
            <a:effectLst/>
          </p:spPr>
        </p:cxnSp>
        <p:cxnSp>
          <p:nvCxnSpPr>
            <p:cNvPr id="43" name="Straight Arrow Connector 42">
              <a:extLst>
                <a:ext uri="{FF2B5EF4-FFF2-40B4-BE49-F238E27FC236}">
                  <a16:creationId xmlns:a16="http://schemas.microsoft.com/office/drawing/2014/main" id="{287B3AE5-9C60-4297-8734-C5E6F1938E47}"/>
                </a:ext>
              </a:extLst>
            </p:cNvPr>
            <p:cNvCxnSpPr>
              <a:cxnSpLocks/>
            </p:cNvCxnSpPr>
            <p:nvPr/>
          </p:nvCxnSpPr>
          <p:spPr>
            <a:xfrm>
              <a:off x="5629248" y="4503354"/>
              <a:ext cx="859706" cy="1211082"/>
            </a:xfrm>
            <a:prstGeom prst="straightConnector1">
              <a:avLst/>
            </a:prstGeom>
            <a:noFill/>
            <a:ln w="15875" cap="flat" cmpd="sng" algn="ctr">
              <a:solidFill>
                <a:srgbClr val="5F5F5F">
                  <a:lumMod val="75000"/>
                </a:srgbClr>
              </a:solidFill>
              <a:prstDash val="solid"/>
              <a:miter lim="800000"/>
              <a:tailEnd type="stealth" w="lg" len="lg"/>
            </a:ln>
            <a:effectLst/>
          </p:spPr>
        </p:cxnSp>
        <p:cxnSp>
          <p:nvCxnSpPr>
            <p:cNvPr id="44" name="Straight Arrow Connector 43">
              <a:extLst>
                <a:ext uri="{FF2B5EF4-FFF2-40B4-BE49-F238E27FC236}">
                  <a16:creationId xmlns:a16="http://schemas.microsoft.com/office/drawing/2014/main" id="{B0A03F87-2223-4171-A7CA-DDF3BAC4ECF6}"/>
                </a:ext>
              </a:extLst>
            </p:cNvPr>
            <p:cNvCxnSpPr>
              <a:cxnSpLocks/>
              <a:stCxn id="49" idx="6"/>
              <a:endCxn id="45" idx="0"/>
            </p:cNvCxnSpPr>
            <p:nvPr/>
          </p:nvCxnSpPr>
          <p:spPr>
            <a:xfrm>
              <a:off x="5692411" y="5468045"/>
              <a:ext cx="818972" cy="280042"/>
            </a:xfrm>
            <a:prstGeom prst="straightConnector1">
              <a:avLst/>
            </a:prstGeom>
            <a:noFill/>
            <a:ln w="15875" cap="flat" cmpd="sng" algn="ctr">
              <a:solidFill>
                <a:srgbClr val="5F5F5F">
                  <a:lumMod val="75000"/>
                </a:srgbClr>
              </a:solidFill>
              <a:prstDash val="solid"/>
              <a:miter lim="800000"/>
              <a:tailEnd type="stealth" w="lg" len="lg"/>
            </a:ln>
            <a:effectLst/>
          </p:spPr>
        </p:cxnSp>
        <p:sp>
          <p:nvSpPr>
            <p:cNvPr id="45" name="Rounded Rectangle 52">
              <a:extLst>
                <a:ext uri="{FF2B5EF4-FFF2-40B4-BE49-F238E27FC236}">
                  <a16:creationId xmlns:a16="http://schemas.microsoft.com/office/drawing/2014/main" id="{92AE0D16-8346-4E01-A26E-0856535420B2}"/>
                </a:ext>
              </a:extLst>
            </p:cNvPr>
            <p:cNvSpPr/>
            <p:nvPr/>
          </p:nvSpPr>
          <p:spPr bwMode="auto">
            <a:xfrm>
              <a:off x="5879421" y="5748087"/>
              <a:ext cx="1263923" cy="602534"/>
            </a:xfrm>
            <a:prstGeom prst="roundRect">
              <a:avLst/>
            </a:prstGeom>
            <a:solidFill>
              <a:srgbClr val="407EC9">
                <a:lumMod val="40000"/>
                <a:lumOff val="60000"/>
              </a:srgbClr>
            </a:solidFill>
            <a:ln w="38100" cap="flat" cmpd="sng" algn="ctr">
              <a:noFill/>
              <a:prstDash val="solid"/>
              <a:miter lim="800000"/>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CH" sz="1500" b="0" i="0" u="none" strike="noStrike" kern="0" cap="none" spc="0" normalizeH="0" baseline="0" noProof="0">
                  <a:ln>
                    <a:noFill/>
                  </a:ln>
                  <a:solidFill>
                    <a:srgbClr val="000000"/>
                  </a:solidFill>
                  <a:effectLst/>
                  <a:uLnTx/>
                  <a:uFillTx/>
                  <a:latin typeface="Arial" panose="020B0604020202020204"/>
                  <a:ea typeface="ＭＳ Ｐゴシック" charset="0"/>
                  <a:cs typeface="+mn-cs"/>
                </a:rPr>
                <a:t>Marketing</a:t>
              </a:r>
              <a:br>
                <a:rPr kumimoji="0" lang="fr-CH" sz="1500" b="0" i="0" u="none" strike="noStrike" kern="0" cap="none" spc="0" normalizeH="0" baseline="0" noProof="0">
                  <a:ln>
                    <a:noFill/>
                  </a:ln>
                  <a:solidFill>
                    <a:srgbClr val="000000"/>
                  </a:solidFill>
                  <a:effectLst/>
                  <a:uLnTx/>
                  <a:uFillTx/>
                  <a:latin typeface="Arial" panose="020B0604020202020204"/>
                  <a:ea typeface="ＭＳ Ｐゴシック" charset="0"/>
                  <a:cs typeface="+mn-cs"/>
                </a:rPr>
              </a:br>
              <a:r>
                <a:rPr kumimoji="0" lang="fr-CH" sz="1500" b="0" i="0" u="none" strike="noStrike" kern="0" cap="none" spc="0" normalizeH="0" baseline="0" noProof="0" err="1">
                  <a:ln>
                    <a:noFill/>
                  </a:ln>
                  <a:solidFill>
                    <a:srgbClr val="000000"/>
                  </a:solidFill>
                  <a:effectLst/>
                  <a:uLnTx/>
                  <a:uFillTx/>
                  <a:latin typeface="Arial" panose="020B0604020202020204"/>
                  <a:ea typeface="ＭＳ Ｐゴシック" charset="0"/>
                  <a:cs typeface="+mn-cs"/>
                </a:rPr>
                <a:t>Investments</a:t>
              </a:r>
              <a:endParaRPr kumimoji="0" lang="en-US" sz="15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46" name="Oval 45">
              <a:extLst>
                <a:ext uri="{FF2B5EF4-FFF2-40B4-BE49-F238E27FC236}">
                  <a16:creationId xmlns:a16="http://schemas.microsoft.com/office/drawing/2014/main" id="{7CC66E86-F209-40FF-A52A-D1004EADA521}"/>
                </a:ext>
              </a:extLst>
            </p:cNvPr>
            <p:cNvSpPr/>
            <p:nvPr/>
          </p:nvSpPr>
          <p:spPr bwMode="auto">
            <a:xfrm>
              <a:off x="6246163" y="4954048"/>
              <a:ext cx="605923" cy="365883"/>
            </a:xfrm>
            <a:prstGeom prst="ellipse">
              <a:avLst/>
            </a:prstGeom>
            <a:noFill/>
            <a:ln w="38100">
              <a:solidFill>
                <a:srgbClr val="B0D838">
                  <a:lumMod val="75000"/>
                </a:srgbClr>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47" name="Oval 46">
              <a:extLst>
                <a:ext uri="{FF2B5EF4-FFF2-40B4-BE49-F238E27FC236}">
                  <a16:creationId xmlns:a16="http://schemas.microsoft.com/office/drawing/2014/main" id="{ADF6CD46-2661-4639-950D-BA1F23306276}"/>
                </a:ext>
              </a:extLst>
            </p:cNvPr>
            <p:cNvSpPr/>
            <p:nvPr/>
          </p:nvSpPr>
          <p:spPr bwMode="auto">
            <a:xfrm>
              <a:off x="4490847" y="3078634"/>
              <a:ext cx="1138401" cy="344107"/>
            </a:xfrm>
            <a:prstGeom prst="ellipse">
              <a:avLst/>
            </a:prstGeom>
            <a:noFill/>
            <a:ln w="38100">
              <a:solidFill>
                <a:srgbClr val="B0D838">
                  <a:lumMod val="75000"/>
                </a:srgbClr>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48" name="Oval 47">
              <a:extLst>
                <a:ext uri="{FF2B5EF4-FFF2-40B4-BE49-F238E27FC236}">
                  <a16:creationId xmlns:a16="http://schemas.microsoft.com/office/drawing/2014/main" id="{F4B5CAA4-312E-4726-A86C-816D8FB448B7}"/>
                </a:ext>
              </a:extLst>
            </p:cNvPr>
            <p:cNvSpPr/>
            <p:nvPr/>
          </p:nvSpPr>
          <p:spPr bwMode="auto">
            <a:xfrm>
              <a:off x="4486467" y="4323943"/>
              <a:ext cx="1134721" cy="344107"/>
            </a:xfrm>
            <a:prstGeom prst="ellipse">
              <a:avLst/>
            </a:prstGeom>
            <a:noFill/>
            <a:ln w="38100">
              <a:solidFill>
                <a:srgbClr val="B0D838">
                  <a:lumMod val="75000"/>
                </a:srgbClr>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49" name="Oval 48">
              <a:extLst>
                <a:ext uri="{FF2B5EF4-FFF2-40B4-BE49-F238E27FC236}">
                  <a16:creationId xmlns:a16="http://schemas.microsoft.com/office/drawing/2014/main" id="{D3963CEC-5AE1-45D7-A65C-3CEF357B2497}"/>
                </a:ext>
              </a:extLst>
            </p:cNvPr>
            <p:cNvSpPr/>
            <p:nvPr/>
          </p:nvSpPr>
          <p:spPr bwMode="auto">
            <a:xfrm>
              <a:off x="4444878" y="5310882"/>
              <a:ext cx="1247533" cy="314325"/>
            </a:xfrm>
            <a:prstGeom prst="ellipse">
              <a:avLst/>
            </a:prstGeom>
            <a:noFill/>
            <a:ln w="38100">
              <a:solidFill>
                <a:srgbClr val="B0D838">
                  <a:lumMod val="75000"/>
                </a:srgbClr>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50" name="Rectangle 49">
              <a:extLst>
                <a:ext uri="{FF2B5EF4-FFF2-40B4-BE49-F238E27FC236}">
                  <a16:creationId xmlns:a16="http://schemas.microsoft.com/office/drawing/2014/main" id="{BA366EBD-E7FA-4E84-8330-1F6444F43567}"/>
                </a:ext>
              </a:extLst>
            </p:cNvPr>
            <p:cNvSpPr/>
            <p:nvPr/>
          </p:nvSpPr>
          <p:spPr bwMode="auto">
            <a:xfrm>
              <a:off x="6223022" y="4959528"/>
              <a:ext cx="643424" cy="380943"/>
            </a:xfrm>
            <a:prstGeom prst="rect">
              <a:avLst/>
            </a:prstGeom>
            <a:noFill/>
            <a:ln w="28575">
              <a:solidFill>
                <a:srgbClr val="C00000"/>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51" name="TextBox 50">
              <a:extLst>
                <a:ext uri="{FF2B5EF4-FFF2-40B4-BE49-F238E27FC236}">
                  <a16:creationId xmlns:a16="http://schemas.microsoft.com/office/drawing/2014/main" id="{3692CAAE-7B46-4DE8-B91A-5D9B1C81B8A0}"/>
                </a:ext>
              </a:extLst>
            </p:cNvPr>
            <p:cNvSpPr txBox="1"/>
            <p:nvPr/>
          </p:nvSpPr>
          <p:spPr>
            <a:xfrm>
              <a:off x="8774568" y="5167503"/>
              <a:ext cx="2679495" cy="455951"/>
            </a:xfrm>
            <a:prstGeom prst="rect">
              <a:avLst/>
            </a:prstGeom>
            <a:noFill/>
          </p:spPr>
          <p:txBody>
            <a:bodyPr wrap="square" lIns="0" tIns="0" rIns="0" bIns="0" rtlCol="0">
              <a:normAutofit fontScale="92500" lnSpcReduction="20000"/>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1"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a:t>
              </a:r>
              <a:r>
                <a:rPr kumimoji="0" lang="en-US" sz="1900" b="0" i="1"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Excluding Non SKU related P&amp;L items</a:t>
              </a:r>
              <a:endParaRPr kumimoji="0" lang="en-US" sz="1600" b="0" i="1"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p:txBody>
        </p:sp>
        <p:sp>
          <p:nvSpPr>
            <p:cNvPr id="52" name="Rectangle 51">
              <a:extLst>
                <a:ext uri="{FF2B5EF4-FFF2-40B4-BE49-F238E27FC236}">
                  <a16:creationId xmlns:a16="http://schemas.microsoft.com/office/drawing/2014/main" id="{73A94A3F-D8AA-43E3-892D-803174472BAC}"/>
                </a:ext>
              </a:extLst>
            </p:cNvPr>
            <p:cNvSpPr/>
            <p:nvPr/>
          </p:nvSpPr>
          <p:spPr bwMode="auto">
            <a:xfrm>
              <a:off x="2335275" y="5291680"/>
              <a:ext cx="3312703" cy="331775"/>
            </a:xfrm>
            <a:prstGeom prst="rect">
              <a:avLst/>
            </a:prstGeom>
            <a:noFill/>
            <a:ln w="28575">
              <a:solidFill>
                <a:srgbClr val="C00000"/>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53" name="Rounded Rectangle 77">
              <a:extLst>
                <a:ext uri="{FF2B5EF4-FFF2-40B4-BE49-F238E27FC236}">
                  <a16:creationId xmlns:a16="http://schemas.microsoft.com/office/drawing/2014/main" id="{50BB1057-8396-4F4E-8827-D11C0A789E32}"/>
                </a:ext>
              </a:extLst>
            </p:cNvPr>
            <p:cNvSpPr/>
            <p:nvPr/>
          </p:nvSpPr>
          <p:spPr bwMode="auto">
            <a:xfrm>
              <a:off x="7362974" y="1684538"/>
              <a:ext cx="1263923" cy="602534"/>
            </a:xfrm>
            <a:prstGeom prst="roundRect">
              <a:avLst/>
            </a:prstGeom>
            <a:solidFill>
              <a:srgbClr val="09B5C7"/>
            </a:solidFill>
            <a:ln w="38100" cap="flat" cmpd="sng" algn="ctr">
              <a:noFill/>
              <a:prstDash val="solid"/>
              <a:miter lim="800000"/>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CH" sz="1500" b="0" i="0" u="none" strike="noStrike" kern="0" cap="none" spc="0" normalizeH="0" baseline="0" noProof="0">
                  <a:ln>
                    <a:noFill/>
                  </a:ln>
                  <a:solidFill>
                    <a:srgbClr val="FFFFFF"/>
                  </a:solidFill>
                  <a:effectLst/>
                  <a:uLnTx/>
                  <a:uFillTx/>
                  <a:latin typeface="Arial" panose="020B0604020202020204"/>
                  <a:ea typeface="ＭＳ Ｐゴシック" charset="0"/>
                  <a:cs typeface="+mn-cs"/>
                </a:rPr>
                <a:t>C-SKU</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CH" sz="1500" b="0" i="0" u="none" strike="noStrike" kern="0" cap="none" spc="0" normalizeH="0" baseline="0" noProof="0" err="1">
                  <a:ln>
                    <a:noFill/>
                  </a:ln>
                  <a:solidFill>
                    <a:srgbClr val="FFFFFF"/>
                  </a:solidFill>
                  <a:effectLst/>
                  <a:uLnTx/>
                  <a:uFillTx/>
                  <a:latin typeface="Arial" panose="020B0604020202020204"/>
                  <a:ea typeface="ＭＳ Ｐゴシック" charset="0"/>
                  <a:cs typeface="+mn-cs"/>
                </a:rPr>
                <a:t>derived</a:t>
              </a:r>
              <a:endParaRPr kumimoji="0" lang="en-US" sz="1500" b="0" i="0" u="none" strike="noStrike" kern="0" cap="none" spc="0" normalizeH="0" baseline="0" noProof="0">
                <a:ln>
                  <a:noFill/>
                </a:ln>
                <a:solidFill>
                  <a:srgbClr val="FFFFFF"/>
                </a:solidFill>
                <a:effectLst/>
                <a:uLnTx/>
                <a:uFillTx/>
                <a:latin typeface="Arial" panose="020B0604020202020204"/>
                <a:ea typeface="ＭＳ Ｐゴシック" charset="0"/>
                <a:cs typeface="+mn-cs"/>
              </a:endParaRPr>
            </a:p>
          </p:txBody>
        </p:sp>
        <p:cxnSp>
          <p:nvCxnSpPr>
            <p:cNvPr id="54" name="Straight Arrow Connector 53">
              <a:extLst>
                <a:ext uri="{FF2B5EF4-FFF2-40B4-BE49-F238E27FC236}">
                  <a16:creationId xmlns:a16="http://schemas.microsoft.com/office/drawing/2014/main" id="{308CB77D-6A04-47F9-BFFE-2CCACDB12E3A}"/>
                </a:ext>
              </a:extLst>
            </p:cNvPr>
            <p:cNvCxnSpPr>
              <a:cxnSpLocks/>
              <a:stCxn id="50" idx="3"/>
              <a:endCxn id="41" idx="1"/>
            </p:cNvCxnSpPr>
            <p:nvPr/>
          </p:nvCxnSpPr>
          <p:spPr>
            <a:xfrm>
              <a:off x="6866446" y="5150000"/>
              <a:ext cx="552781" cy="9226"/>
            </a:xfrm>
            <a:prstGeom prst="straightConnector1">
              <a:avLst/>
            </a:prstGeom>
            <a:noFill/>
            <a:ln w="15875" cap="flat" cmpd="sng" algn="ctr">
              <a:solidFill>
                <a:srgbClr val="5F5F5F">
                  <a:lumMod val="75000"/>
                </a:srgbClr>
              </a:solidFill>
              <a:prstDash val="solid"/>
              <a:miter lim="800000"/>
              <a:tailEnd type="stealth" w="lg" len="lg"/>
            </a:ln>
            <a:effectLst/>
          </p:spPr>
        </p:cxnSp>
        <p:sp>
          <p:nvSpPr>
            <p:cNvPr id="55" name="Right Arrow 82">
              <a:extLst>
                <a:ext uri="{FF2B5EF4-FFF2-40B4-BE49-F238E27FC236}">
                  <a16:creationId xmlns:a16="http://schemas.microsoft.com/office/drawing/2014/main" id="{DAD84426-9A31-4A92-AC90-12C80E960591}"/>
                </a:ext>
              </a:extLst>
            </p:cNvPr>
            <p:cNvSpPr/>
            <p:nvPr/>
          </p:nvSpPr>
          <p:spPr bwMode="auto">
            <a:xfrm rot="5400000">
              <a:off x="6807501" y="3307824"/>
              <a:ext cx="2360205" cy="541373"/>
            </a:xfrm>
            <a:prstGeom prst="rightArrow">
              <a:avLst/>
            </a:prstGeom>
            <a:solidFill>
              <a:srgbClr val="FFFFFF">
                <a:lumMod val="85000"/>
              </a:srgbClr>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56" name="Curved Down Arrow 1">
              <a:extLst>
                <a:ext uri="{FF2B5EF4-FFF2-40B4-BE49-F238E27FC236}">
                  <a16:creationId xmlns:a16="http://schemas.microsoft.com/office/drawing/2014/main" id="{AD79D547-5A37-414E-A04E-50AF3FBCF23E}"/>
                </a:ext>
              </a:extLst>
            </p:cNvPr>
            <p:cNvSpPr/>
            <p:nvPr/>
          </p:nvSpPr>
          <p:spPr bwMode="auto">
            <a:xfrm>
              <a:off x="6964282" y="1282974"/>
              <a:ext cx="752635" cy="401564"/>
            </a:xfrm>
            <a:prstGeom prst="curvedDownArrow">
              <a:avLst/>
            </a:prstGeom>
            <a:solidFill>
              <a:srgbClr val="B0D838">
                <a:lumMod val="20000"/>
                <a:lumOff val="80000"/>
              </a:srgbClr>
            </a:solidFill>
            <a:ln>
              <a:solidFill>
                <a:srgbClr val="FFFFFF">
                  <a:lumMod val="50000"/>
                </a:srgbClr>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57" name="TextBox 56">
              <a:extLst>
                <a:ext uri="{FF2B5EF4-FFF2-40B4-BE49-F238E27FC236}">
                  <a16:creationId xmlns:a16="http://schemas.microsoft.com/office/drawing/2014/main" id="{83C6E314-6D18-49DE-9749-D73CB18F1B77}"/>
                </a:ext>
              </a:extLst>
            </p:cNvPr>
            <p:cNvSpPr txBox="1"/>
            <p:nvPr/>
          </p:nvSpPr>
          <p:spPr>
            <a:xfrm>
              <a:off x="7217725" y="6036373"/>
              <a:ext cx="2455664" cy="432857"/>
            </a:xfrm>
            <a:prstGeom prst="rect">
              <a:avLst/>
            </a:prstGeom>
            <a:noFill/>
          </p:spPr>
          <p:txBody>
            <a:bodyPr wrap="square" lIns="0" tIns="0" rIns="0" bIns="0" rtlCol="0">
              <a:norm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a:t>
              </a:r>
              <a:r>
                <a:rPr kumimoji="0" lang="en-US" sz="1200" b="0" i="1" u="none" strike="noStrike" kern="1200" cap="none" spc="0" normalizeH="0" baseline="0" noProof="0" err="1">
                  <a:ln>
                    <a:noFill/>
                  </a:ln>
                  <a:solidFill>
                    <a:srgbClr val="000000"/>
                  </a:solidFill>
                  <a:effectLst/>
                  <a:uLnTx/>
                  <a:uFillTx/>
                  <a:latin typeface="Arial" panose="020B0604020202020204"/>
                  <a:ea typeface="ＭＳ Ｐゴシック" pitchFamily="80" charset="-128"/>
                  <a:cs typeface="+mn-cs"/>
                </a:rPr>
                <a:t>Br.Family</a:t>
              </a:r>
              <a:r>
                <a:rPr kumimoji="0" lang="en-US" sz="1200" b="0" i="1"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&amp; </a:t>
              </a:r>
              <a:r>
                <a:rPr kumimoji="0" lang="en-US" sz="1200" b="0" i="1" u="none" strike="noStrike" kern="1200" cap="none" spc="0" normalizeH="0" baseline="0" noProof="0" err="1">
                  <a:ln>
                    <a:noFill/>
                  </a:ln>
                  <a:solidFill>
                    <a:srgbClr val="000000"/>
                  </a:solidFill>
                  <a:effectLst/>
                  <a:uLnTx/>
                  <a:uFillTx/>
                  <a:latin typeface="Arial" panose="020B0604020202020204"/>
                  <a:ea typeface="ＭＳ Ｐゴシック" pitchFamily="80" charset="-128"/>
                  <a:cs typeface="+mn-cs"/>
                </a:rPr>
                <a:t>Prod.Type</a:t>
              </a:r>
              <a:r>
                <a:rPr kumimoji="0" lang="en-US" sz="1200" b="0" i="1"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granularity for Other PC</a:t>
              </a:r>
            </a:p>
          </p:txBody>
        </p:sp>
        <p:grpSp>
          <p:nvGrpSpPr>
            <p:cNvPr id="58" name="Group 57">
              <a:extLst>
                <a:ext uri="{FF2B5EF4-FFF2-40B4-BE49-F238E27FC236}">
                  <a16:creationId xmlns:a16="http://schemas.microsoft.com/office/drawing/2014/main" id="{F8663F58-6FF1-4949-A7D7-7A0A3E4C5A32}"/>
                </a:ext>
              </a:extLst>
            </p:cNvPr>
            <p:cNvGrpSpPr/>
            <p:nvPr/>
          </p:nvGrpSpPr>
          <p:grpSpPr>
            <a:xfrm>
              <a:off x="9203109" y="1615615"/>
              <a:ext cx="2575294" cy="1995559"/>
              <a:chOff x="4280317" y="1619440"/>
              <a:chExt cx="4021691" cy="2923313"/>
            </a:xfrm>
          </p:grpSpPr>
          <p:pic>
            <p:nvPicPr>
              <p:cNvPr id="59" name="Picture 58">
                <a:extLst>
                  <a:ext uri="{FF2B5EF4-FFF2-40B4-BE49-F238E27FC236}">
                    <a16:creationId xmlns:a16="http://schemas.microsoft.com/office/drawing/2014/main" id="{6F4ED420-B595-448A-80E1-DC45E7BBBAB1}"/>
                  </a:ext>
                </a:extLst>
              </p:cNvPr>
              <p:cNvPicPr>
                <a:picLocks noChangeAspect="1"/>
              </p:cNvPicPr>
              <p:nvPr/>
            </p:nvPicPr>
            <p:blipFill rotWithShape="1">
              <a:blip r:embed="rId2"/>
              <a:srcRect t="1" r="75644" b="71159"/>
              <a:stretch/>
            </p:blipFill>
            <p:spPr>
              <a:xfrm>
                <a:off x="4280317" y="1619440"/>
                <a:ext cx="1655208" cy="1650497"/>
              </a:xfrm>
              <a:prstGeom prst="rect">
                <a:avLst/>
              </a:prstGeom>
            </p:spPr>
          </p:pic>
          <p:pic>
            <p:nvPicPr>
              <p:cNvPr id="60" name="Picture 59">
                <a:extLst>
                  <a:ext uri="{FF2B5EF4-FFF2-40B4-BE49-F238E27FC236}">
                    <a16:creationId xmlns:a16="http://schemas.microsoft.com/office/drawing/2014/main" id="{6F98E636-A139-45D5-BEDC-1819BC0A1C72}"/>
                  </a:ext>
                </a:extLst>
              </p:cNvPr>
              <p:cNvPicPr>
                <a:picLocks noChangeAspect="1"/>
              </p:cNvPicPr>
              <p:nvPr/>
            </p:nvPicPr>
            <p:blipFill rotWithShape="1">
              <a:blip r:embed="rId2"/>
              <a:srcRect t="30308" r="76324" b="44988"/>
              <a:stretch/>
            </p:blipFill>
            <p:spPr>
              <a:xfrm>
                <a:off x="4280317" y="3129024"/>
                <a:ext cx="1655207" cy="1413729"/>
              </a:xfrm>
              <a:prstGeom prst="rect">
                <a:avLst/>
              </a:prstGeom>
            </p:spPr>
          </p:pic>
          <p:pic>
            <p:nvPicPr>
              <p:cNvPr id="61" name="Picture 60">
                <a:extLst>
                  <a:ext uri="{FF2B5EF4-FFF2-40B4-BE49-F238E27FC236}">
                    <a16:creationId xmlns:a16="http://schemas.microsoft.com/office/drawing/2014/main" id="{421296C1-827C-47CE-8F8B-975171DDEB60}"/>
                  </a:ext>
                </a:extLst>
              </p:cNvPr>
              <p:cNvPicPr>
                <a:picLocks noChangeAspect="1"/>
              </p:cNvPicPr>
              <p:nvPr/>
            </p:nvPicPr>
            <p:blipFill rotWithShape="1">
              <a:blip r:embed="rId2"/>
              <a:srcRect l="43641"/>
              <a:stretch/>
            </p:blipFill>
            <p:spPr>
              <a:xfrm>
                <a:off x="5935524" y="1660420"/>
                <a:ext cx="2366484" cy="2838229"/>
              </a:xfrm>
              <a:prstGeom prst="rect">
                <a:avLst/>
              </a:prstGeom>
            </p:spPr>
          </p:pic>
        </p:grpSp>
        <p:sp>
          <p:nvSpPr>
            <p:cNvPr id="62" name="Rectangle: Rounded Corners 61">
              <a:extLst>
                <a:ext uri="{FF2B5EF4-FFF2-40B4-BE49-F238E27FC236}">
                  <a16:creationId xmlns:a16="http://schemas.microsoft.com/office/drawing/2014/main" id="{186F5453-B57C-4AA5-8563-35CADC11D488}"/>
                </a:ext>
              </a:extLst>
            </p:cNvPr>
            <p:cNvSpPr/>
            <p:nvPr/>
          </p:nvSpPr>
          <p:spPr>
            <a:xfrm>
              <a:off x="9213162" y="1484466"/>
              <a:ext cx="2565239" cy="159123"/>
            </a:xfrm>
            <a:prstGeom prst="roundRect">
              <a:avLst/>
            </a:prstGeom>
            <a:solidFill>
              <a:srgbClr val="00BD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Arial" panose="020B0604020202020204"/>
                  <a:ea typeface="+mn-ea"/>
                  <a:cs typeface="+mn-cs"/>
                </a:rPr>
                <a:t>GR55 – Z4PL </a:t>
              </a:r>
              <a:r>
                <a:rPr kumimoji="0" lang="en-US" sz="1600" b="0" i="0" u="none" strike="noStrike" kern="0" cap="none" spc="0" normalizeH="0" baseline="0" noProof="0">
                  <a:ln>
                    <a:noFill/>
                  </a:ln>
                  <a:solidFill>
                    <a:srgbClr val="FFFFFF">
                      <a:lumMod val="50000"/>
                    </a:srgbClr>
                  </a:solidFill>
                  <a:effectLst/>
                  <a:uLnTx/>
                  <a:uFillTx/>
                  <a:latin typeface="Arial" panose="020B0604020202020204"/>
                  <a:ea typeface="+mn-ea"/>
                  <a:cs typeface="+mn-cs"/>
                </a:rPr>
                <a:t>  </a:t>
              </a: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1048975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71D17-EA84-4186-A87B-CB83B89F8D7D}"/>
              </a:ext>
            </a:extLst>
          </p:cNvPr>
          <p:cNvSpPr>
            <a:spLocks noGrp="1"/>
          </p:cNvSpPr>
          <p:nvPr>
            <p:ph type="title"/>
          </p:nvPr>
        </p:nvSpPr>
        <p:spPr/>
        <p:txBody>
          <a:bodyPr/>
          <a:lstStyle/>
          <a:p>
            <a:r>
              <a:rPr lang="en-US"/>
              <a:t>Market P&amp;L and granularity requirements</a:t>
            </a:r>
          </a:p>
        </p:txBody>
      </p:sp>
      <p:sp>
        <p:nvSpPr>
          <p:cNvPr id="4" name="Footer Placeholder 3">
            <a:extLst>
              <a:ext uri="{FF2B5EF4-FFF2-40B4-BE49-F238E27FC236}">
                <a16:creationId xmlns:a16="http://schemas.microsoft.com/office/drawing/2014/main" id="{FDDCB0DB-6369-46AE-8996-D5FA82545339}"/>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C449AB13-E1E8-40FC-9A1C-8457BD074FD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Speech Bubble: Rectangle with Corners Rounded 5">
            <a:extLst>
              <a:ext uri="{FF2B5EF4-FFF2-40B4-BE49-F238E27FC236}">
                <a16:creationId xmlns:a16="http://schemas.microsoft.com/office/drawing/2014/main" id="{153E75E8-B80B-43DB-81FB-1078D644E314}"/>
              </a:ext>
            </a:extLst>
          </p:cNvPr>
          <p:cNvSpPr/>
          <p:nvPr/>
        </p:nvSpPr>
        <p:spPr>
          <a:xfrm>
            <a:off x="7025662" y="1488609"/>
            <a:ext cx="4679843" cy="926472"/>
          </a:xfrm>
          <a:prstGeom prst="wedgeRoundRectCallout">
            <a:avLst>
              <a:gd name="adj1" fmla="val -63495"/>
              <a:gd name="adj2" fmla="val 15613"/>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SKU level postings should be used </a:t>
            </a:r>
            <a:r>
              <a:rPr kumimoji="0" lang="en-US" sz="12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when relevant for profitability analysis and when information is available. </a:t>
            </a:r>
            <a: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Brand Family and product type to facilitate </a:t>
            </a:r>
            <a:r>
              <a:rPr kumimoji="0" lang="en-US" sz="1200" b="1" i="0" u="none" strike="noStrike" kern="1200" cap="none" spc="0" normalizeH="0" baseline="0" noProof="0" dirty="0" err="1">
                <a:ln>
                  <a:noFill/>
                </a:ln>
                <a:solidFill>
                  <a:srgbClr val="000000"/>
                </a:solidFill>
                <a:effectLst/>
                <a:uLnTx/>
                <a:uFillTx/>
                <a:latin typeface="Arial" panose="020B0604020202020204"/>
                <a:ea typeface="Calibri" panose="020F0502020204030204" pitchFamily="34" charset="0"/>
                <a:cs typeface="+mn-cs"/>
              </a:rPr>
              <a:t>Rev.Rec</a:t>
            </a:r>
            <a: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 postings and other exceptions.</a:t>
            </a:r>
            <a:endParaRPr kumimoji="0" lang="en-US" sz="1200" b="1" i="1"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endParaRPr>
          </a:p>
        </p:txBody>
      </p:sp>
      <p:graphicFrame>
        <p:nvGraphicFramePr>
          <p:cNvPr id="7" name="Content Placeholder 14">
            <a:extLst>
              <a:ext uri="{FF2B5EF4-FFF2-40B4-BE49-F238E27FC236}">
                <a16:creationId xmlns:a16="http://schemas.microsoft.com/office/drawing/2014/main" id="{1E7EBC37-0296-42B0-9888-46EF2DA55D4E}"/>
              </a:ext>
            </a:extLst>
          </p:cNvPr>
          <p:cNvGraphicFramePr>
            <a:graphicFrameLocks/>
          </p:cNvGraphicFramePr>
          <p:nvPr>
            <p:extLst/>
          </p:nvPr>
        </p:nvGraphicFramePr>
        <p:xfrm>
          <a:off x="667441" y="1536529"/>
          <a:ext cx="5822978" cy="4536725"/>
        </p:xfrm>
        <a:graphic>
          <a:graphicData uri="http://schemas.openxmlformats.org/drawingml/2006/table">
            <a:tbl>
              <a:tblPr>
                <a:tableStyleId>{5C22544A-7EE6-4342-B048-85BDC9FD1C3A}</a:tableStyleId>
              </a:tblPr>
              <a:tblGrid>
                <a:gridCol w="2152887">
                  <a:extLst>
                    <a:ext uri="{9D8B030D-6E8A-4147-A177-3AD203B41FA5}">
                      <a16:colId xmlns:a16="http://schemas.microsoft.com/office/drawing/2014/main" val="1290844341"/>
                    </a:ext>
                  </a:extLst>
                </a:gridCol>
                <a:gridCol w="1608285">
                  <a:extLst>
                    <a:ext uri="{9D8B030D-6E8A-4147-A177-3AD203B41FA5}">
                      <a16:colId xmlns:a16="http://schemas.microsoft.com/office/drawing/2014/main" val="947496992"/>
                    </a:ext>
                  </a:extLst>
                </a:gridCol>
                <a:gridCol w="2061806">
                  <a:extLst>
                    <a:ext uri="{9D8B030D-6E8A-4147-A177-3AD203B41FA5}">
                      <a16:colId xmlns:a16="http://schemas.microsoft.com/office/drawing/2014/main" val="3871943465"/>
                    </a:ext>
                  </a:extLst>
                </a:gridCol>
              </a:tblGrid>
              <a:tr h="477007">
                <a:tc>
                  <a:txBody>
                    <a:bodyPr/>
                    <a:lstStyle/>
                    <a:p>
                      <a:pPr algn="ctr" fontAlgn="t"/>
                      <a:r>
                        <a:rPr lang="de-CH" sz="1400" b="1" i="0" u="none" strike="noStrike">
                          <a:solidFill>
                            <a:srgbClr val="000000"/>
                          </a:solidFill>
                          <a:effectLst/>
                          <a:latin typeface="Arial" panose="020B0604020202020204" pitchFamily="34" charset="0"/>
                        </a:rPr>
                        <a:t>P&amp;L Line</a:t>
                      </a:r>
                      <a:endParaRPr lang="en-US" sz="1400" b="1" i="0" u="none" strike="noStrike">
                        <a:solidFill>
                          <a:srgbClr val="000000"/>
                        </a:solidFill>
                        <a:effectLst/>
                        <a:latin typeface="Arial" panose="020B0604020202020204" pitchFamily="34" charset="0"/>
                      </a:endParaRPr>
                    </a:p>
                  </a:txBody>
                  <a:tcPr marL="1198" marR="1198" marT="1198" marB="0" anchor="ctr">
                    <a:solidFill>
                      <a:srgbClr val="74D9D5"/>
                    </a:solidFill>
                  </a:tcPr>
                </a:tc>
                <a:tc>
                  <a:txBody>
                    <a:bodyPr/>
                    <a:lstStyle/>
                    <a:p>
                      <a:pPr algn="ctr" fontAlgn="t"/>
                      <a:r>
                        <a:rPr lang="en-US" sz="1400" b="1" u="none" strike="noStrike">
                          <a:effectLst/>
                        </a:rPr>
                        <a:t>Auto Postings / Allocations </a:t>
                      </a:r>
                      <a:endParaRPr lang="en-US" sz="1400" b="1" i="0" u="none" strike="noStrike">
                        <a:solidFill>
                          <a:srgbClr val="000000"/>
                        </a:solidFill>
                        <a:effectLst/>
                        <a:latin typeface="Arial" panose="020B0604020202020204" pitchFamily="34" charset="0"/>
                      </a:endParaRPr>
                    </a:p>
                  </a:txBody>
                  <a:tcPr marL="1198" marR="1198" marT="1198" marB="0" anchor="ctr">
                    <a:solidFill>
                      <a:srgbClr val="74D9D5"/>
                    </a:solidFill>
                  </a:tcPr>
                </a:tc>
                <a:tc>
                  <a:txBody>
                    <a:bodyPr/>
                    <a:lstStyle/>
                    <a:p>
                      <a:pPr algn="ctr" fontAlgn="t"/>
                      <a:r>
                        <a:rPr lang="en-US" sz="1400" b="1" u="none" strike="noStrike">
                          <a:effectLst/>
                        </a:rPr>
                        <a:t>Manual </a:t>
                      </a:r>
                    </a:p>
                    <a:p>
                      <a:pPr algn="ctr" fontAlgn="t"/>
                      <a:r>
                        <a:rPr lang="en-US" sz="1400" b="1" u="none" strike="noStrike">
                          <a:effectLst/>
                        </a:rPr>
                        <a:t>Accounts</a:t>
                      </a:r>
                      <a:endParaRPr lang="en-US" sz="1400" b="1" i="0" u="none" strike="noStrike">
                        <a:solidFill>
                          <a:srgbClr val="000000"/>
                        </a:solidFill>
                        <a:effectLst/>
                        <a:latin typeface="Arial" panose="020B0604020202020204" pitchFamily="34" charset="0"/>
                      </a:endParaRPr>
                    </a:p>
                  </a:txBody>
                  <a:tcPr marL="1198" marR="1198" marT="1198" marB="0" anchor="ctr">
                    <a:solidFill>
                      <a:srgbClr val="74D9D5"/>
                    </a:solidFill>
                  </a:tcPr>
                </a:tc>
                <a:extLst>
                  <a:ext uri="{0D108BD9-81ED-4DB2-BD59-A6C34878D82A}">
                    <a16:rowId xmlns:a16="http://schemas.microsoft.com/office/drawing/2014/main" val="1046012931"/>
                  </a:ext>
                </a:extLst>
              </a:tr>
              <a:tr h="501632">
                <a:tc>
                  <a:txBody>
                    <a:bodyPr/>
                    <a:lstStyle/>
                    <a:p>
                      <a:pPr algn="ctr" fontAlgn="ctr"/>
                      <a:r>
                        <a:rPr lang="en-US" sz="1400" b="1" u="none" strike="noStrike">
                          <a:effectLst/>
                        </a:rPr>
                        <a:t>Gross Sales</a:t>
                      </a:r>
                      <a:endParaRPr lang="en-US" sz="1400" b="1"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algn="ctr" fontAlgn="ctr"/>
                      <a:r>
                        <a:rPr lang="en-US" sz="1400" u="none" strike="noStrike">
                          <a:effectLst/>
                        </a:rPr>
                        <a:t>Material </a:t>
                      </a:r>
                      <a:endParaRPr lang="en-US" sz="1400" b="0"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algn="ctr" fontAlgn="ctr"/>
                      <a:r>
                        <a:rPr lang="en-US" sz="1400" u="none" strike="noStrike">
                          <a:effectLst/>
                        </a:rPr>
                        <a:t>Brand Fam. &amp; </a:t>
                      </a:r>
                      <a:br>
                        <a:rPr lang="en-US" sz="1400" u="none" strike="noStrike">
                          <a:effectLst/>
                        </a:rPr>
                      </a:br>
                      <a:r>
                        <a:rPr lang="en-US" sz="1400" u="none" strike="noStrike">
                          <a:effectLst/>
                        </a:rPr>
                        <a:t>Prod. Type</a:t>
                      </a:r>
                      <a:endParaRPr lang="en-US" sz="1400" b="0" i="0" u="none" strike="noStrike">
                        <a:solidFill>
                          <a:srgbClr val="000000"/>
                        </a:solidFill>
                        <a:effectLst/>
                        <a:latin typeface="Arial" panose="020B0604020202020204" pitchFamily="34" charset="0"/>
                      </a:endParaRPr>
                    </a:p>
                  </a:txBody>
                  <a:tcPr marL="1198" marR="1198" marT="1198" marB="0" anchor="ctr">
                    <a:solidFill>
                      <a:srgbClr val="DEF6F5"/>
                    </a:solidFill>
                  </a:tcPr>
                </a:tc>
                <a:extLst>
                  <a:ext uri="{0D108BD9-81ED-4DB2-BD59-A6C34878D82A}">
                    <a16:rowId xmlns:a16="http://schemas.microsoft.com/office/drawing/2014/main" val="2520839695"/>
                  </a:ext>
                </a:extLst>
              </a:tr>
              <a:tr h="566817">
                <a:tc>
                  <a:txBody>
                    <a:bodyPr/>
                    <a:lstStyle/>
                    <a:p>
                      <a:pPr algn="ctr" fontAlgn="ctr"/>
                      <a:r>
                        <a:rPr lang="en-US" sz="1400" b="1" u="none" strike="noStrike">
                          <a:effectLst/>
                        </a:rPr>
                        <a:t>Allowances excl. Marketing</a:t>
                      </a:r>
                      <a:endParaRPr lang="en-US" sz="1400" b="1"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algn="ctr" fontAlgn="ctr"/>
                      <a:r>
                        <a:rPr lang="en-US" sz="1400" u="none" strike="noStrike">
                          <a:effectLst/>
                        </a:rPr>
                        <a:t>Material </a:t>
                      </a:r>
                      <a:endParaRPr lang="en-US" sz="1400" b="0"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marL="0" marR="0" lvl="0" indent="0" algn="ctr" defTabSz="914126"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Brand Fam. &amp; </a:t>
                      </a:r>
                      <a:b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b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Prod. Type</a:t>
                      </a: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txBody>
                  <a:tcPr marL="1198" marR="1198" marT="1198" marB="0" anchor="ctr">
                    <a:solidFill>
                      <a:srgbClr val="DEF6F5"/>
                    </a:solidFill>
                  </a:tcPr>
                </a:tc>
                <a:extLst>
                  <a:ext uri="{0D108BD9-81ED-4DB2-BD59-A6C34878D82A}">
                    <a16:rowId xmlns:a16="http://schemas.microsoft.com/office/drawing/2014/main" val="3548959756"/>
                  </a:ext>
                </a:extLst>
              </a:tr>
              <a:tr h="495461">
                <a:tc>
                  <a:txBody>
                    <a:bodyPr/>
                    <a:lstStyle/>
                    <a:p>
                      <a:pPr algn="ctr" fontAlgn="ctr"/>
                      <a:r>
                        <a:rPr lang="en-US" sz="1400" b="1" u="none" strike="noStrike">
                          <a:effectLst/>
                        </a:rPr>
                        <a:t>Marketing </a:t>
                      </a:r>
                      <a:br>
                        <a:rPr lang="en-US" sz="1400" b="1" u="none" strike="noStrike">
                          <a:effectLst/>
                        </a:rPr>
                      </a:br>
                      <a:r>
                        <a:rPr lang="en-US" sz="1400" b="1" u="none" strike="noStrike">
                          <a:effectLst/>
                        </a:rPr>
                        <a:t>Allowances</a:t>
                      </a:r>
                      <a:endParaRPr lang="en-US" sz="1400" b="1"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marL="0" marR="0" lvl="0" indent="0" algn="ctr" defTabSz="914126" rtl="0" eaLnBrk="1" fontAlgn="ctr" latinLnBrk="0" hangingPunct="1">
                        <a:lnSpc>
                          <a:spcPct val="100000"/>
                        </a:lnSpc>
                        <a:spcBef>
                          <a:spcPts val="0"/>
                        </a:spcBef>
                        <a:spcAft>
                          <a:spcPts val="0"/>
                        </a:spcAft>
                        <a:buClrTx/>
                        <a:buSzTx/>
                        <a:buFontTx/>
                        <a:buNone/>
                        <a:tabLst/>
                        <a:defRPr/>
                      </a:pPr>
                      <a:r>
                        <a:rPr lang="en-US" sz="1400" u="none" strike="noStrike">
                          <a:effectLst/>
                        </a:rPr>
                        <a:t>Brand Family &amp; </a:t>
                      </a:r>
                      <a:br>
                        <a:rPr lang="en-US" sz="1400" u="none" strike="noStrike">
                          <a:effectLst/>
                        </a:rPr>
                      </a:br>
                      <a:r>
                        <a:rPr lang="en-US" sz="1400" u="none" strike="noStrike">
                          <a:effectLst/>
                        </a:rPr>
                        <a:t>Product Type</a:t>
                      </a:r>
                      <a:endParaRPr lang="en-US" sz="1400" b="0"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marL="0" marR="0" lvl="0" indent="0" algn="ctr" defTabSz="914126"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Brand Fam. &amp; </a:t>
                      </a:r>
                      <a:b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b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Prod. Type</a:t>
                      </a: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txBody>
                  <a:tcPr marL="1198" marR="1198" marT="1198" marB="0" anchor="ctr">
                    <a:solidFill>
                      <a:srgbClr val="DEF6F5"/>
                    </a:solidFill>
                  </a:tcPr>
                </a:tc>
                <a:extLst>
                  <a:ext uri="{0D108BD9-81ED-4DB2-BD59-A6C34878D82A}">
                    <a16:rowId xmlns:a16="http://schemas.microsoft.com/office/drawing/2014/main" val="2769712830"/>
                  </a:ext>
                </a:extLst>
              </a:tr>
              <a:tr h="497597">
                <a:tc>
                  <a:txBody>
                    <a:bodyPr/>
                    <a:lstStyle/>
                    <a:p>
                      <a:pPr algn="ctr" fontAlgn="ctr"/>
                      <a:r>
                        <a:rPr lang="de-CH" sz="1400" b="1" i="0" u="none" strike="noStrike">
                          <a:solidFill>
                            <a:srgbClr val="000000"/>
                          </a:solidFill>
                          <a:effectLst/>
                          <a:latin typeface="Arial" panose="020B0604020202020204" pitchFamily="34" charset="0"/>
                        </a:rPr>
                        <a:t>COGS </a:t>
                      </a:r>
                      <a:endParaRPr lang="en-US" sz="1400" b="1"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algn="ctr" fontAlgn="ctr"/>
                      <a:r>
                        <a:rPr lang="en-US" sz="1400" u="none" strike="noStrike">
                          <a:effectLst/>
                        </a:rPr>
                        <a:t>Material </a:t>
                      </a:r>
                      <a:endParaRPr lang="en-US" sz="1400" b="0"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marL="0" marR="0" lvl="0" indent="0" algn="ctr" defTabSz="914126"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Brand Fam. &amp; </a:t>
                      </a:r>
                      <a:b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b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Prod. Type</a:t>
                      </a: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txBody>
                  <a:tcPr marL="1198" marR="1198" marT="1198" marB="0" anchor="ctr">
                    <a:solidFill>
                      <a:srgbClr val="DEF6F5"/>
                    </a:solidFill>
                  </a:tcPr>
                </a:tc>
                <a:extLst>
                  <a:ext uri="{0D108BD9-81ED-4DB2-BD59-A6C34878D82A}">
                    <a16:rowId xmlns:a16="http://schemas.microsoft.com/office/drawing/2014/main" val="3001022486"/>
                  </a:ext>
                </a:extLst>
              </a:tr>
              <a:tr h="599089">
                <a:tc>
                  <a:txBody>
                    <a:bodyPr/>
                    <a:lstStyle/>
                    <a:p>
                      <a:pPr algn="ctr" fontAlgn="ctr"/>
                      <a:r>
                        <a:rPr lang="de-CH" sz="1400" b="1" i="0" u="none" strike="noStrike">
                          <a:solidFill>
                            <a:srgbClr val="000000"/>
                          </a:solidFill>
                          <a:effectLst/>
                          <a:latin typeface="Arial" panose="020B0604020202020204" pitchFamily="34" charset="0"/>
                        </a:rPr>
                        <a:t>Transportation </a:t>
                      </a:r>
                      <a:endParaRPr lang="en-US" sz="1400" b="1"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marL="0" indent="0" algn="ctr" fontAlgn="ctr">
                        <a:buFont typeface="Symbol" panose="05050102010706020507" pitchFamily="18" charset="2"/>
                        <a:buNone/>
                      </a:pPr>
                      <a:r>
                        <a:rPr lang="de-CH" sz="1400" b="0" i="0" u="none" strike="noStrike">
                          <a:solidFill>
                            <a:srgbClr val="000000"/>
                          </a:solidFill>
                          <a:effectLst/>
                          <a:latin typeface="Arial" panose="020B0604020202020204" pitchFamily="34" charset="0"/>
                        </a:rPr>
                        <a:t>Material </a:t>
                      </a:r>
                      <a:endParaRPr lang="en-US" sz="1400" b="0"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marL="0" marR="0" lvl="0" indent="0" algn="ctr" defTabSz="914126"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Brand Fam. &amp; </a:t>
                      </a:r>
                      <a:b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b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Prod. Type</a:t>
                      </a: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txBody>
                  <a:tcPr marL="1198" marR="1198" marT="1198" marB="0" anchor="ctr">
                    <a:solidFill>
                      <a:srgbClr val="DEF6F5"/>
                    </a:solidFill>
                  </a:tcPr>
                </a:tc>
                <a:extLst>
                  <a:ext uri="{0D108BD9-81ED-4DB2-BD59-A6C34878D82A}">
                    <a16:rowId xmlns:a16="http://schemas.microsoft.com/office/drawing/2014/main" val="3426035343"/>
                  </a:ext>
                </a:extLst>
              </a:tr>
              <a:tr h="539181">
                <a:tc>
                  <a:txBody>
                    <a:bodyPr/>
                    <a:lstStyle/>
                    <a:p>
                      <a:pPr algn="ctr" fontAlgn="ctr"/>
                      <a:r>
                        <a:rPr lang="en-US" sz="1400" b="1" u="none" strike="noStrike">
                          <a:effectLst/>
                        </a:rPr>
                        <a:t>Warehousing </a:t>
                      </a:r>
                      <a:endParaRPr lang="en-US" sz="1400" b="1" i="0" u="none" strike="noStrike" kern="1200">
                        <a:solidFill>
                          <a:srgbClr val="000000"/>
                        </a:solidFill>
                        <a:effectLst/>
                        <a:latin typeface="Arial" panose="020B0604020202020204" pitchFamily="34" charset="0"/>
                        <a:ea typeface="+mn-ea"/>
                        <a:cs typeface="+mn-cs"/>
                      </a:endParaRPr>
                    </a:p>
                  </a:txBody>
                  <a:tcPr marL="1198" marR="1198" marT="1198" marB="0" anchor="ctr">
                    <a:solidFill>
                      <a:srgbClr val="DEF6F5"/>
                    </a:solidFill>
                  </a:tcPr>
                </a:tc>
                <a:tc>
                  <a:txBody>
                    <a:bodyPr/>
                    <a:lstStyle/>
                    <a:p>
                      <a:pPr algn="ctr" fontAlgn="ctr"/>
                      <a:r>
                        <a:rPr lang="en-US" sz="1400" u="none" strike="noStrike">
                          <a:effectLst/>
                        </a:rPr>
                        <a:t>Material</a:t>
                      </a:r>
                      <a:endParaRPr lang="en-US" sz="1400" b="0"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marL="0" marR="0" lvl="0" indent="0" algn="ctr" defTabSz="914126"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Brand Fam. &amp; </a:t>
                      </a:r>
                      <a:b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b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Prod. Type</a:t>
                      </a: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txBody>
                  <a:tcPr marL="1198" marR="1198" marT="1198" marB="0" anchor="ctr">
                    <a:solidFill>
                      <a:srgbClr val="DEF6F5"/>
                    </a:solidFill>
                  </a:tcPr>
                </a:tc>
                <a:extLst>
                  <a:ext uri="{0D108BD9-81ED-4DB2-BD59-A6C34878D82A}">
                    <a16:rowId xmlns:a16="http://schemas.microsoft.com/office/drawing/2014/main" val="3175502236"/>
                  </a:ext>
                </a:extLst>
              </a:tr>
              <a:tr h="246223">
                <a:tc>
                  <a:txBody>
                    <a:bodyPr/>
                    <a:lstStyle/>
                    <a:p>
                      <a:pPr algn="ctr" fontAlgn="ctr"/>
                      <a:r>
                        <a:rPr lang="de-CH" sz="1400" b="1" i="0" u="none" strike="noStrike">
                          <a:solidFill>
                            <a:srgbClr val="000000"/>
                          </a:solidFill>
                          <a:effectLst/>
                          <a:latin typeface="Arial" panose="020B0604020202020204" pitchFamily="34" charset="0"/>
                        </a:rPr>
                        <a:t>Marketing Programs</a:t>
                      </a:r>
                    </a:p>
                  </a:txBody>
                  <a:tcPr marL="1198" marR="1198" marT="1198" marB="0" anchor="ctr">
                    <a:solidFill>
                      <a:srgbClr val="DEF6F5"/>
                    </a:solidFill>
                  </a:tcPr>
                </a:tc>
                <a:tc>
                  <a:txBody>
                    <a:bodyPr/>
                    <a:lstStyle/>
                    <a:p>
                      <a:pPr marL="0" marR="0" lvl="0" indent="0" algn="ctr" defTabSz="914126" rtl="0" eaLnBrk="1" fontAlgn="ctr" latinLnBrk="0" hangingPunct="1">
                        <a:lnSpc>
                          <a:spcPct val="100000"/>
                        </a:lnSpc>
                        <a:spcBef>
                          <a:spcPts val="0"/>
                        </a:spcBef>
                        <a:spcAft>
                          <a:spcPts val="0"/>
                        </a:spcAft>
                        <a:buClrTx/>
                        <a:buSzTx/>
                        <a:buFontTx/>
                        <a:buNone/>
                        <a:tabLst/>
                        <a:defRPr/>
                      </a:pPr>
                      <a:r>
                        <a:rPr lang="en-US" sz="1400" u="none" strike="noStrike">
                          <a:effectLst/>
                        </a:rPr>
                        <a:t>Brand Family &amp; </a:t>
                      </a:r>
                      <a:br>
                        <a:rPr lang="en-US" sz="1400" u="none" strike="noStrike">
                          <a:effectLst/>
                        </a:rPr>
                      </a:br>
                      <a:r>
                        <a:rPr lang="en-US" sz="1400" u="none" strike="noStrike">
                          <a:effectLst/>
                        </a:rPr>
                        <a:t>Product Type</a:t>
                      </a:r>
                      <a:endParaRPr lang="en-US" sz="1400" b="0"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marL="0" marR="0" lvl="0" indent="0" algn="ctr" defTabSz="914126"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Brand Fam. &amp; </a:t>
                      </a:r>
                      <a:b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b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Prod. Type</a:t>
                      </a: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txBody>
                  <a:tcPr marL="1198" marR="1198" marT="1198" marB="0" anchor="ctr">
                    <a:solidFill>
                      <a:srgbClr val="DEF6F5"/>
                    </a:solidFill>
                  </a:tcPr>
                </a:tc>
                <a:extLst>
                  <a:ext uri="{0D108BD9-81ED-4DB2-BD59-A6C34878D82A}">
                    <a16:rowId xmlns:a16="http://schemas.microsoft.com/office/drawing/2014/main" val="700870640"/>
                  </a:ext>
                </a:extLst>
              </a:tr>
              <a:tr h="432023">
                <a:tc>
                  <a:txBody>
                    <a:bodyPr/>
                    <a:lstStyle/>
                    <a:p>
                      <a:pPr algn="ctr" fontAlgn="ctr"/>
                      <a:r>
                        <a:rPr lang="de-CH" sz="1400" b="1" i="0" u="none" strike="noStrike">
                          <a:solidFill>
                            <a:srgbClr val="000000"/>
                          </a:solidFill>
                          <a:effectLst/>
                          <a:latin typeface="Arial" panose="020B0604020202020204" pitchFamily="34" charset="0"/>
                        </a:rPr>
                        <a:t>OPEX</a:t>
                      </a:r>
                      <a:endParaRPr lang="en-US" sz="1400" b="1" i="0" u="none" strike="noStrike">
                        <a:solidFill>
                          <a:srgbClr val="000000"/>
                        </a:solidFill>
                        <a:effectLst/>
                        <a:latin typeface="Arial" panose="020B0604020202020204" pitchFamily="34" charset="0"/>
                      </a:endParaRPr>
                    </a:p>
                  </a:txBody>
                  <a:tcPr marL="1198" marR="1198" marT="1198" marB="0" anchor="ctr">
                    <a:solidFill>
                      <a:srgbClr val="DEF6F5"/>
                    </a:solidFill>
                  </a:tcPr>
                </a:tc>
                <a:tc>
                  <a:txBody>
                    <a:bodyPr/>
                    <a:lstStyle/>
                    <a:p>
                      <a:pPr marL="0" marR="0" lvl="0" indent="0" algn="ctr" defTabSz="914126" rtl="0" eaLnBrk="1" fontAlgn="ctr" latinLnBrk="0" hangingPunct="1">
                        <a:lnSpc>
                          <a:spcPct val="100000"/>
                        </a:lnSpc>
                        <a:spcBef>
                          <a:spcPts val="0"/>
                        </a:spcBef>
                        <a:spcAft>
                          <a:spcPts val="0"/>
                        </a:spcAft>
                        <a:buClrTx/>
                        <a:buSzTx/>
                        <a:buFontTx/>
                        <a:buNone/>
                        <a:tabLst/>
                        <a:defRPr/>
                      </a:pPr>
                      <a:r>
                        <a:rPr lang="de-CH" sz="1400" b="0" i="0" u="none" strike="noStrike">
                          <a:solidFill>
                            <a:srgbClr val="000000"/>
                          </a:solidFill>
                          <a:effectLst/>
                          <a:latin typeface="Arial" panose="020B0604020202020204" pitchFamily="34" charset="0"/>
                        </a:rPr>
                        <a:t>N/A</a:t>
                      </a:r>
                      <a:endParaRPr lang="en-US" sz="1400" b="0" i="0" u="none" strike="noStrike">
                        <a:solidFill>
                          <a:srgbClr val="000000"/>
                        </a:solidFill>
                        <a:effectLst/>
                        <a:latin typeface="Arial" panose="020B0604020202020204" pitchFamily="34" charset="0"/>
                      </a:endParaRPr>
                    </a:p>
                  </a:txBody>
                  <a:tcPr marL="1198" marR="1198" marT="1198" marB="0" anchor="ctr">
                    <a:solidFill>
                      <a:schemeClr val="bg2">
                        <a:lumMod val="90000"/>
                      </a:schemeClr>
                    </a:solidFill>
                  </a:tcPr>
                </a:tc>
                <a:tc>
                  <a:txBody>
                    <a:bodyPr/>
                    <a:lstStyle/>
                    <a:p>
                      <a:pPr algn="ctr" fontAlgn="ctr"/>
                      <a:r>
                        <a:rPr lang="de-CH" sz="1400" b="0" i="0" u="none" strike="noStrike">
                          <a:solidFill>
                            <a:srgbClr val="000000"/>
                          </a:solidFill>
                          <a:effectLst/>
                          <a:latin typeface="Arial" panose="020B0604020202020204" pitchFamily="34" charset="0"/>
                        </a:rPr>
                        <a:t>N/A</a:t>
                      </a:r>
                      <a:endParaRPr lang="en-US" sz="1400" b="0" i="0" u="none" strike="noStrike">
                        <a:solidFill>
                          <a:srgbClr val="000000"/>
                        </a:solidFill>
                        <a:effectLst/>
                        <a:latin typeface="Arial" panose="020B0604020202020204" pitchFamily="34" charset="0"/>
                      </a:endParaRPr>
                    </a:p>
                  </a:txBody>
                  <a:tcPr marL="1198" marR="1198" marT="1198" marB="0" anchor="ctr">
                    <a:solidFill>
                      <a:schemeClr val="bg2">
                        <a:lumMod val="90000"/>
                      </a:schemeClr>
                    </a:solidFill>
                  </a:tcPr>
                </a:tc>
                <a:extLst>
                  <a:ext uri="{0D108BD9-81ED-4DB2-BD59-A6C34878D82A}">
                    <a16:rowId xmlns:a16="http://schemas.microsoft.com/office/drawing/2014/main" val="2481356444"/>
                  </a:ext>
                </a:extLst>
              </a:tr>
            </a:tbl>
          </a:graphicData>
        </a:graphic>
      </p:graphicFrame>
      <p:sp>
        <p:nvSpPr>
          <p:cNvPr id="8" name="TextBox 7">
            <a:extLst>
              <a:ext uri="{FF2B5EF4-FFF2-40B4-BE49-F238E27FC236}">
                <a16:creationId xmlns:a16="http://schemas.microsoft.com/office/drawing/2014/main" id="{36C1EACE-0828-44B8-8BD1-2F3D73338CB0}"/>
              </a:ext>
            </a:extLst>
          </p:cNvPr>
          <p:cNvSpPr txBox="1"/>
          <p:nvPr/>
        </p:nvSpPr>
        <p:spPr>
          <a:xfrm>
            <a:off x="667441" y="6251941"/>
            <a:ext cx="11403161"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800" b="0" i="1" u="none" strike="noStrike" kern="1200" cap="none" spc="0" normalizeH="0" baseline="0" noProof="0">
                <a:ln>
                  <a:noFill/>
                </a:ln>
                <a:solidFill>
                  <a:srgbClr val="FFFFFF">
                    <a:lumMod val="50000"/>
                  </a:srgbClr>
                </a:solidFill>
                <a:effectLst/>
                <a:uLnTx/>
                <a:uFillTx/>
                <a:latin typeface="Arial" panose="020B0604020202020204"/>
                <a:ea typeface="+mn-ea"/>
                <a:cs typeface="+mn-cs"/>
              </a:rPr>
              <a:t>Table reflects Key settings of the Field Status settings of minimum requirements for Manual postings. Please look into link for latest settings. Also refer to details on Transportation &amp; Warehousing for excpetions </a:t>
            </a:r>
            <a:endParaRPr kumimoji="0" lang="en-US" sz="800" b="0" i="1"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9" name="Speech Bubble: Rectangle with Corners Rounded 8">
            <a:extLst>
              <a:ext uri="{FF2B5EF4-FFF2-40B4-BE49-F238E27FC236}">
                <a16:creationId xmlns:a16="http://schemas.microsoft.com/office/drawing/2014/main" id="{EFC016C7-AD69-4D15-B40F-F4594B502CD4}"/>
              </a:ext>
            </a:extLst>
          </p:cNvPr>
          <p:cNvSpPr/>
          <p:nvPr/>
        </p:nvSpPr>
        <p:spPr>
          <a:xfrm>
            <a:off x="7025662" y="3308658"/>
            <a:ext cx="4626413" cy="328972"/>
          </a:xfrm>
          <a:prstGeom prst="wedgeRoundRectCallout">
            <a:avLst>
              <a:gd name="adj1" fmla="val -66852"/>
              <a:gd name="adj2" fmla="val -25387"/>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Calibri" panose="020F0502020204030204" pitchFamily="34" charset="0"/>
                <a:cs typeface="+mn-cs"/>
              </a:rPr>
              <a:t>For </a:t>
            </a:r>
            <a:r>
              <a:rPr kumimoji="0" lang="en-US" sz="1200" b="1" i="0" u="none" strike="noStrike" kern="1200" cap="none" spc="0" normalizeH="0" baseline="0" noProof="0">
                <a:ln>
                  <a:noFill/>
                </a:ln>
                <a:solidFill>
                  <a:srgbClr val="000000"/>
                </a:solidFill>
                <a:effectLst/>
                <a:uLnTx/>
                <a:uFillTx/>
                <a:latin typeface="Arial" panose="020B0604020202020204"/>
                <a:ea typeface="Calibri" panose="020F0502020204030204" pitchFamily="34" charset="0"/>
                <a:cs typeface="+mn-cs"/>
              </a:rPr>
              <a:t>Mark. Allowances </a:t>
            </a:r>
            <a:r>
              <a:rPr kumimoji="0" lang="en-US" sz="1200" b="0" i="0" u="none" strike="noStrike" kern="1200" cap="none" spc="0" normalizeH="0" baseline="0" noProof="0">
                <a:ln>
                  <a:noFill/>
                </a:ln>
                <a:solidFill>
                  <a:srgbClr val="000000"/>
                </a:solidFill>
                <a:effectLst/>
                <a:uLnTx/>
                <a:uFillTx/>
                <a:latin typeface="Arial" panose="020B0604020202020204"/>
                <a:ea typeface="Calibri" panose="020F0502020204030204" pitchFamily="34" charset="0"/>
                <a:cs typeface="+mn-cs"/>
              </a:rPr>
              <a:t>(only BF&amp;PT </a:t>
            </a: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detail</a:t>
            </a:r>
            <a:r>
              <a:rPr kumimoji="0" lang="en-US" sz="1200" b="0" i="0" u="none" strike="noStrike" kern="1200" cap="none" spc="0" normalizeH="0" baseline="0" noProof="0">
                <a:ln>
                  <a:noFill/>
                </a:ln>
                <a:solidFill>
                  <a:srgbClr val="000000"/>
                </a:solidFill>
                <a:effectLst/>
                <a:uLnTx/>
                <a:uFillTx/>
                <a:latin typeface="Arial" panose="020B0604020202020204"/>
                <a:ea typeface="Calibri" panose="020F0502020204030204" pitchFamily="34" charset="0"/>
                <a:cs typeface="+mn-cs"/>
              </a:rPr>
              <a:t> expected </a:t>
            </a:r>
            <a:r>
              <a:rPr kumimoji="0" lang="en-US" sz="1200" b="1" i="0" u="sng" strike="noStrike" kern="1200" cap="none" spc="0" normalizeH="0" baseline="0" noProof="0">
                <a:ln>
                  <a:noFill/>
                </a:ln>
                <a:solidFill>
                  <a:srgbClr val="000000"/>
                </a:solidFill>
                <a:effectLst/>
                <a:uLnTx/>
                <a:uFillTx/>
                <a:latin typeface="Arial" panose="020B0604020202020204"/>
                <a:ea typeface="Calibri" panose="020F0502020204030204" pitchFamily="34" charset="0"/>
                <a:cs typeface="+mn-cs"/>
              </a:rPr>
              <a:t>and not SKU</a:t>
            </a:r>
            <a:r>
              <a:rPr kumimoji="0" lang="en-US" sz="1200" b="1" i="0" u="none" strike="noStrike" kern="1200" cap="none" spc="0" normalizeH="0" baseline="0" noProof="0">
                <a:ln>
                  <a:noFill/>
                </a:ln>
                <a:solidFill>
                  <a:srgbClr val="000000"/>
                </a:solidFill>
                <a:effectLst/>
                <a:uLnTx/>
                <a:uFillTx/>
                <a:latin typeface="Arial" panose="020B0604020202020204"/>
                <a:ea typeface="Calibri" panose="020F0502020204030204" pitchFamily="34" charset="0"/>
                <a:cs typeface="+mn-cs"/>
              </a:rPr>
              <a:t>)</a:t>
            </a:r>
          </a:p>
        </p:txBody>
      </p:sp>
      <p:sp>
        <p:nvSpPr>
          <p:cNvPr id="10" name="Speech Bubble: Rectangle with Corners Rounded 9">
            <a:extLst>
              <a:ext uri="{FF2B5EF4-FFF2-40B4-BE49-F238E27FC236}">
                <a16:creationId xmlns:a16="http://schemas.microsoft.com/office/drawing/2014/main" id="{B5CCD4DF-C396-48A5-8949-37EC5E03E6E7}"/>
              </a:ext>
            </a:extLst>
          </p:cNvPr>
          <p:cNvSpPr/>
          <p:nvPr/>
        </p:nvSpPr>
        <p:spPr>
          <a:xfrm>
            <a:off x="7025662" y="2482605"/>
            <a:ext cx="4679843" cy="636964"/>
          </a:xfrm>
          <a:prstGeom prst="wedgeRoundRectCallout">
            <a:avLst>
              <a:gd name="adj1" fmla="val -66295"/>
              <a:gd name="adj2" fmla="val -7076"/>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Arial" panose="020B0604020202020204"/>
                <a:ea typeface="Calibri" panose="020F0502020204030204" pitchFamily="34" charset="0"/>
                <a:cs typeface="+mn-cs"/>
              </a:rPr>
              <a:t>This category has </a:t>
            </a:r>
            <a:r>
              <a:rPr kumimoji="0" lang="de-CH" sz="1200" b="1" i="0" u="none" strike="noStrike" kern="1200" cap="none" spc="0" normalizeH="0" baseline="0" noProof="0">
                <a:ln>
                  <a:noFill/>
                </a:ln>
                <a:solidFill>
                  <a:srgbClr val="000000"/>
                </a:solidFill>
                <a:effectLst/>
                <a:uLnTx/>
                <a:uFillTx/>
                <a:latin typeface="Arial" panose="020B0604020202020204"/>
                <a:ea typeface="Calibri" panose="020F0502020204030204" pitchFamily="34" charset="0"/>
                <a:cs typeface="+mn-cs"/>
              </a:rPr>
              <a:t>strongest potential to leverage on SD flows </a:t>
            </a:r>
            <a:r>
              <a:rPr kumimoji="0" lang="de-CH" sz="1200" b="0" i="0" u="none" strike="noStrike" kern="1200" cap="none" spc="0" normalizeH="0" baseline="0" noProof="0">
                <a:ln>
                  <a:noFill/>
                </a:ln>
                <a:solidFill>
                  <a:srgbClr val="000000"/>
                </a:solidFill>
                <a:effectLst/>
                <a:uLnTx/>
                <a:uFillTx/>
                <a:latin typeface="Arial" panose="020B0604020202020204"/>
                <a:ea typeface="Calibri" panose="020F0502020204030204" pitchFamily="34" charset="0"/>
                <a:cs typeface="+mn-cs"/>
              </a:rPr>
              <a:t>and benefit from Material granularity, Manual posting not restricted to this lower level.</a:t>
            </a:r>
            <a:endParaRPr kumimoji="0" lang="en-US" sz="1200" b="0" i="0" u="none" strike="noStrike" kern="1200" cap="none" spc="0" normalizeH="0" baseline="0" noProof="0">
              <a:ln>
                <a:noFill/>
              </a:ln>
              <a:solidFill>
                <a:srgbClr val="000000"/>
              </a:solidFill>
              <a:effectLst/>
              <a:uLnTx/>
              <a:uFillTx/>
              <a:latin typeface="Arial" panose="020B0604020202020204"/>
              <a:ea typeface="Calibri" panose="020F0502020204030204" pitchFamily="34" charset="0"/>
              <a:cs typeface="+mn-cs"/>
            </a:endParaRPr>
          </a:p>
        </p:txBody>
      </p:sp>
      <p:sp>
        <p:nvSpPr>
          <p:cNvPr id="11" name="Speech Bubble: Rectangle with Corners Rounded 10">
            <a:extLst>
              <a:ext uri="{FF2B5EF4-FFF2-40B4-BE49-F238E27FC236}">
                <a16:creationId xmlns:a16="http://schemas.microsoft.com/office/drawing/2014/main" id="{A7588C2D-1BCA-4A82-8EA7-17AA886D6EA0}"/>
              </a:ext>
            </a:extLst>
          </p:cNvPr>
          <p:cNvSpPr/>
          <p:nvPr/>
        </p:nvSpPr>
        <p:spPr>
          <a:xfrm>
            <a:off x="7025662" y="3857837"/>
            <a:ext cx="4667562" cy="585083"/>
          </a:xfrm>
          <a:prstGeom prst="wedgeRoundRectCallout">
            <a:avLst>
              <a:gd name="adj1" fmla="val -66852"/>
              <a:gd name="adj2" fmla="val -25387"/>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M</a:t>
            </a:r>
            <a:r>
              <a:rPr kumimoji="0" lang="en-US" sz="1200" b="1" i="0" u="none" strike="noStrike" kern="1200" cap="none" spc="0" normalizeH="0" baseline="0" noProof="0" dirty="0" err="1">
                <a:ln>
                  <a:noFill/>
                </a:ln>
                <a:solidFill>
                  <a:srgbClr val="000000"/>
                </a:solidFill>
                <a:effectLst/>
                <a:uLnTx/>
                <a:uFillTx/>
                <a:latin typeface="Arial" panose="020B0604020202020204"/>
                <a:ea typeface="Calibri" panose="020F0502020204030204" pitchFamily="34" charset="0"/>
                <a:cs typeface="+mn-cs"/>
              </a:rPr>
              <a:t>aterial</a:t>
            </a:r>
            <a: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 flowing through from ML. Manual accounts set with higher granularity for Rev Rec and for Other COGS </a:t>
            </a:r>
          </a:p>
        </p:txBody>
      </p:sp>
      <p:sp>
        <p:nvSpPr>
          <p:cNvPr id="12" name="Speech Bubble: Rectangle with Corners Rounded 11">
            <a:extLst>
              <a:ext uri="{FF2B5EF4-FFF2-40B4-BE49-F238E27FC236}">
                <a16:creationId xmlns:a16="http://schemas.microsoft.com/office/drawing/2014/main" id="{5A100880-F314-411B-92D1-7194CBE8F4FB}"/>
              </a:ext>
            </a:extLst>
          </p:cNvPr>
          <p:cNvSpPr/>
          <p:nvPr/>
        </p:nvSpPr>
        <p:spPr>
          <a:xfrm>
            <a:off x="7025662" y="5778159"/>
            <a:ext cx="4626413" cy="328972"/>
          </a:xfrm>
          <a:prstGeom prst="wedgeRoundRectCallout">
            <a:avLst>
              <a:gd name="adj1" fmla="val -64499"/>
              <a:gd name="adj2" fmla="val 2479"/>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For OPEX no granularity requested on BF&amp;PT and SKU</a:t>
            </a:r>
            <a:endParaRPr kumimoji="0" lang="en-US" sz="1200" b="1" i="1"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endParaRPr>
          </a:p>
        </p:txBody>
      </p:sp>
      <p:sp>
        <p:nvSpPr>
          <p:cNvPr id="13" name="Speech Bubble: Rectangle with Corners Rounded 12">
            <a:extLst>
              <a:ext uri="{FF2B5EF4-FFF2-40B4-BE49-F238E27FC236}">
                <a16:creationId xmlns:a16="http://schemas.microsoft.com/office/drawing/2014/main" id="{33D6A209-2278-415D-9165-2EB501BEDEB3}"/>
              </a:ext>
            </a:extLst>
          </p:cNvPr>
          <p:cNvSpPr/>
          <p:nvPr/>
        </p:nvSpPr>
        <p:spPr>
          <a:xfrm>
            <a:off x="7025662" y="5421980"/>
            <a:ext cx="4626413" cy="328972"/>
          </a:xfrm>
          <a:prstGeom prst="wedgeRoundRectCallout">
            <a:avLst>
              <a:gd name="adj1" fmla="val -66852"/>
              <a:gd name="adj2" fmla="val 172"/>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For </a:t>
            </a:r>
            <a: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Mark. Programs </a:t>
            </a:r>
            <a:r>
              <a:rPr kumimoji="0" lang="en-US" sz="12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(only BF&amp;PT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detail</a:t>
            </a:r>
            <a:r>
              <a:rPr kumimoji="0" lang="en-US" sz="12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 expected </a:t>
            </a:r>
            <a:r>
              <a:rPr kumimoji="0" lang="en-US" sz="1200" b="1" i="0" u="sng"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and not SKU</a:t>
            </a:r>
            <a: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a:t>
            </a:r>
          </a:p>
        </p:txBody>
      </p:sp>
      <p:sp>
        <p:nvSpPr>
          <p:cNvPr id="14" name="Speech Bubble: Rectangle with Corners Rounded 13">
            <a:extLst>
              <a:ext uri="{FF2B5EF4-FFF2-40B4-BE49-F238E27FC236}">
                <a16:creationId xmlns:a16="http://schemas.microsoft.com/office/drawing/2014/main" id="{71C60C50-5CF3-438C-B604-BBF9142A6152}"/>
              </a:ext>
            </a:extLst>
          </p:cNvPr>
          <p:cNvSpPr/>
          <p:nvPr/>
        </p:nvSpPr>
        <p:spPr>
          <a:xfrm>
            <a:off x="7025662" y="4484360"/>
            <a:ext cx="4626413" cy="328972"/>
          </a:xfrm>
          <a:prstGeom prst="wedgeRoundRectCallout">
            <a:avLst>
              <a:gd name="adj1" fmla="val -66852"/>
              <a:gd name="adj2" fmla="val 172"/>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T</a:t>
            </a:r>
            <a:r>
              <a:rPr kumimoji="0" lang="en-US" sz="1200" b="1" i="0" u="none" strike="noStrike" kern="1200" cap="none" spc="0" normalizeH="0" baseline="0" noProof="0" dirty="0" err="1">
                <a:ln>
                  <a:noFill/>
                </a:ln>
                <a:solidFill>
                  <a:srgbClr val="000000"/>
                </a:solidFill>
                <a:effectLst/>
                <a:uLnTx/>
                <a:uFillTx/>
                <a:latin typeface="Arial" panose="020B0604020202020204"/>
                <a:ea typeface="Calibri" panose="020F0502020204030204" pitchFamily="34" charset="0"/>
                <a:cs typeface="+mn-cs"/>
              </a:rPr>
              <a:t>ransportation</a:t>
            </a:r>
            <a: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 for TM and WBS allow allocations to material </a:t>
            </a:r>
          </a:p>
        </p:txBody>
      </p:sp>
      <p:sp>
        <p:nvSpPr>
          <p:cNvPr id="15" name="Speech Bubble: Rectangle with Corners Rounded 14">
            <a:extLst>
              <a:ext uri="{FF2B5EF4-FFF2-40B4-BE49-F238E27FC236}">
                <a16:creationId xmlns:a16="http://schemas.microsoft.com/office/drawing/2014/main" id="{7685E902-AF4E-4B1B-AB32-C72A64C40AD1}"/>
              </a:ext>
            </a:extLst>
          </p:cNvPr>
          <p:cNvSpPr/>
          <p:nvPr/>
        </p:nvSpPr>
        <p:spPr>
          <a:xfrm>
            <a:off x="7025662" y="4966773"/>
            <a:ext cx="4626413" cy="328972"/>
          </a:xfrm>
          <a:prstGeom prst="wedgeRoundRectCallout">
            <a:avLst>
              <a:gd name="adj1" fmla="val -66852"/>
              <a:gd name="adj2" fmla="val 172"/>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Warehousing to allocate to materials with WBs</a:t>
            </a:r>
            <a:b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br>
            <a: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(exception for </a:t>
            </a:r>
            <a:r>
              <a:rPr kumimoji="0" lang="en-US" sz="1200" b="1" i="0" u="none" strike="noStrike" kern="1200" cap="none" spc="0" normalizeH="0" baseline="0" noProof="0" dirty="0" err="1">
                <a:ln>
                  <a:noFill/>
                </a:ln>
                <a:solidFill>
                  <a:srgbClr val="000000"/>
                </a:solidFill>
                <a:effectLst/>
                <a:uLnTx/>
                <a:uFillTx/>
                <a:latin typeface="Arial" panose="020B0604020202020204"/>
                <a:ea typeface="Calibri" panose="020F0502020204030204" pitchFamily="34" charset="0"/>
                <a:cs typeface="+mn-cs"/>
              </a:rPr>
              <a:t>opex</a:t>
            </a:r>
            <a:r>
              <a:rPr kumimoji="0" lang="en-US" sz="12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 </a:t>
            </a:r>
          </a:p>
        </p:txBody>
      </p:sp>
    </p:spTree>
    <p:extLst>
      <p:ext uri="{BB962C8B-B14F-4D97-AF65-F5344CB8AC3E}">
        <p14:creationId xmlns:p14="http://schemas.microsoft.com/office/powerpoint/2010/main" val="80748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827B1-8EE1-4F9A-8378-BE59E5169F00}"/>
              </a:ext>
            </a:extLst>
          </p:cNvPr>
          <p:cNvSpPr>
            <a:spLocks noGrp="1"/>
          </p:cNvSpPr>
          <p:nvPr>
            <p:ph type="title"/>
          </p:nvPr>
        </p:nvSpPr>
        <p:spPr/>
        <p:txBody>
          <a:bodyPr/>
          <a:lstStyle/>
          <a:p>
            <a:r>
              <a:rPr lang="en-US"/>
              <a:t>What granularity do we expect behind P&amp;L lines?</a:t>
            </a:r>
          </a:p>
        </p:txBody>
      </p:sp>
      <p:sp>
        <p:nvSpPr>
          <p:cNvPr id="4" name="Footer Placeholder 3">
            <a:extLst>
              <a:ext uri="{FF2B5EF4-FFF2-40B4-BE49-F238E27FC236}">
                <a16:creationId xmlns:a16="http://schemas.microsoft.com/office/drawing/2014/main" id="{338242A5-BCBE-4058-8C19-2B61332DF63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4D9896D-72D0-439F-8D19-61FCE4020A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ext Placeholder 26">
            <a:extLst>
              <a:ext uri="{FF2B5EF4-FFF2-40B4-BE49-F238E27FC236}">
                <a16:creationId xmlns:a16="http://schemas.microsoft.com/office/drawing/2014/main" id="{D61B8ED4-A4B8-4926-A6E3-B41BF816F3EA}"/>
              </a:ext>
            </a:extLst>
          </p:cNvPr>
          <p:cNvSpPr>
            <a:spLocks noGrp="1"/>
          </p:cNvSpPr>
          <p:nvPr>
            <p:ph idx="1"/>
          </p:nvPr>
        </p:nvSpPr>
        <p:spPr>
          <a:xfrm>
            <a:off x="658758" y="1482726"/>
            <a:ext cx="11108503" cy="3428850"/>
          </a:xfrm>
        </p:spPr>
        <p:txBody>
          <a:bodyPr>
            <a:normAutofit lnSpcReduction="10000"/>
          </a:bodyPr>
          <a:lstStyle/>
          <a:p>
            <a:pPr marL="117475" indent="-117475">
              <a:spcBef>
                <a:spcPts val="1600"/>
              </a:spcBef>
              <a:buFont typeface="Arial" panose="020B0604020202020204" pitchFamily="34" charset="0"/>
              <a:buChar char="•"/>
            </a:pPr>
            <a:r>
              <a:rPr lang="en-US" sz="1800"/>
              <a:t>New </a:t>
            </a:r>
            <a:r>
              <a:rPr lang="en-US" sz="1800" b="1"/>
              <a:t>enhancements in (SD) Order to Cash</a:t>
            </a:r>
            <a:r>
              <a:rPr lang="en-US" sz="1800"/>
              <a:t> were </a:t>
            </a:r>
            <a:r>
              <a:rPr lang="en-US" sz="1800" b="1"/>
              <a:t>re-phased to post Go-Live</a:t>
            </a:r>
            <a:r>
              <a:rPr lang="en-US" sz="1800"/>
              <a:t> which has meant that a consistent number of accounting transactions that should be considered as part of standard sales operation are continuing to be treated as accounting flows (i.e. and therefore these entries are not automatically posted in lines above brand contribution with SKU information). This means </a:t>
            </a:r>
            <a:r>
              <a:rPr lang="en-US" sz="1800" b="1"/>
              <a:t>a high number of JTIOs for Manual entries above Gross Margin</a:t>
            </a:r>
            <a:r>
              <a:rPr lang="en-US" sz="1800"/>
              <a:t> where SKU information is flagged as optional (in cases of lack of SKU information and/or minor relevance to include these in product profitability analysis).</a:t>
            </a:r>
          </a:p>
          <a:p>
            <a:pPr marL="117475" indent="-117475">
              <a:spcBef>
                <a:spcPts val="1600"/>
              </a:spcBef>
              <a:buFont typeface="Arial" panose="020B0604020202020204" pitchFamily="34" charset="0"/>
              <a:buChar char="•"/>
            </a:pPr>
            <a:r>
              <a:rPr lang="en-US" sz="1800" b="1"/>
              <a:t>Postings above Brand Contribution not impacting a Market</a:t>
            </a:r>
            <a:r>
              <a:rPr lang="en-US" sz="1800"/>
              <a:t>, it is </a:t>
            </a:r>
            <a:r>
              <a:rPr lang="en-US" sz="1800" i="1"/>
              <a:t>not mandatory </a:t>
            </a:r>
            <a:r>
              <a:rPr lang="en-US" sz="1800"/>
              <a:t>to provide Brand Family/ Project Type e.g. Global Functions postings to COGS in R&amp;D and LRA will only be recorded on market, same is true for Factory Market Postings</a:t>
            </a:r>
          </a:p>
          <a:p>
            <a:pPr marL="117475" indent="-117475">
              <a:spcBef>
                <a:spcPts val="1600"/>
              </a:spcBef>
              <a:buFont typeface="Arial" panose="020B0604020202020204" pitchFamily="34" charset="0"/>
              <a:buChar char="•"/>
            </a:pPr>
            <a:r>
              <a:rPr lang="en-US" sz="1800" b="1"/>
              <a:t>Postings in Markets</a:t>
            </a:r>
            <a:r>
              <a:rPr lang="en-US" sz="1800" u="sng"/>
              <a:t> </a:t>
            </a:r>
            <a:r>
              <a:rPr lang="en-US" sz="1800"/>
              <a:t>in JTIO accounts </a:t>
            </a:r>
            <a:r>
              <a:rPr lang="en-US" sz="1800" b="1"/>
              <a:t>considered OPEX</a:t>
            </a:r>
            <a:r>
              <a:rPr lang="en-US" sz="1800" u="sng"/>
              <a:t> </a:t>
            </a:r>
            <a:r>
              <a:rPr lang="en-US" sz="1800"/>
              <a:t>but with functional areas generating </a:t>
            </a:r>
            <a:r>
              <a:rPr lang="en-US" sz="1800" b="1"/>
              <a:t>mapping above Brand Contribution</a:t>
            </a:r>
            <a:r>
              <a:rPr lang="en-US" sz="1800"/>
              <a:t>, will require an additional step to enrich with brand / product characteristics (Transportation and Warehousing) </a:t>
            </a:r>
          </a:p>
          <a:p>
            <a:pPr>
              <a:spcBef>
                <a:spcPts val="1600"/>
              </a:spcBef>
              <a:buFont typeface="Arial" panose="020B0604020202020204" pitchFamily="34" charset="0"/>
              <a:buChar char="•"/>
            </a:pPr>
            <a:endParaRPr lang="en-US" sz="1800"/>
          </a:p>
        </p:txBody>
      </p:sp>
      <p:sp>
        <p:nvSpPr>
          <p:cNvPr id="64" name="Text Placeholder 26">
            <a:extLst>
              <a:ext uri="{FF2B5EF4-FFF2-40B4-BE49-F238E27FC236}">
                <a16:creationId xmlns:a16="http://schemas.microsoft.com/office/drawing/2014/main" id="{07E000C0-9985-41A7-8B3E-6380738F6346}"/>
              </a:ext>
            </a:extLst>
          </p:cNvPr>
          <p:cNvSpPr txBox="1">
            <a:spLocks/>
          </p:cNvSpPr>
          <p:nvPr/>
        </p:nvSpPr>
        <p:spPr>
          <a:xfrm>
            <a:off x="2175641" y="4911576"/>
            <a:ext cx="9255216" cy="1385806"/>
          </a:xfrm>
          <a:prstGeom prst="rect">
            <a:avLst/>
          </a:prstGeom>
          <a:solidFill>
            <a:schemeClr val="accent6">
              <a:lumMod val="20000"/>
              <a:lumOff val="80000"/>
            </a:schemeClr>
          </a:solidFill>
        </p:spPr>
        <p:txBody>
          <a:bodyPr vert="horz" lIns="91440" tIns="45720" rIns="91440" bIns="45720" rtlCol="0">
            <a:normAutofit fontScale="85000" lnSpcReduction="20000"/>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399930" indent="-195204"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284163" marR="0" lvl="1" indent="-168275" algn="l" defTabSz="914126" rtl="0" eaLnBrk="1" fontAlgn="auto" latinLnBrk="0" hangingPunct="1">
              <a:lnSpc>
                <a:spcPct val="90000"/>
              </a:lnSpc>
              <a:spcBef>
                <a:spcPts val="1600"/>
              </a:spcBef>
              <a:spcAft>
                <a:spcPts val="0"/>
              </a:spcAft>
              <a:buClrTx/>
              <a:buSzTx/>
              <a:buFont typeface="Arial"/>
              <a:buNone/>
              <a:tabLst/>
              <a:defRPr/>
            </a:pPr>
            <a:r>
              <a:rPr kumimoji="0" lang="en-US" sz="1800" b="1" i="0" u="none" strike="noStrike" kern="1200" cap="none" spc="0" normalizeH="0" baseline="0" noProof="0">
                <a:ln>
                  <a:noFill/>
                </a:ln>
                <a:solidFill>
                  <a:srgbClr val="000000"/>
                </a:solidFill>
                <a:effectLst/>
                <a:uLnTx/>
                <a:uFillTx/>
                <a:latin typeface="Arial" panose="020B0604020202020204"/>
                <a:cs typeface="Times New Roman"/>
              </a:rPr>
              <a:t>Recent update for </a:t>
            </a:r>
            <a:r>
              <a:rPr kumimoji="0" lang="en-US" sz="1800" b="1" i="0" u="none" strike="noStrike" kern="1200" cap="none" spc="0" normalizeH="0" baseline="0" noProof="0" err="1">
                <a:ln>
                  <a:noFill/>
                </a:ln>
                <a:solidFill>
                  <a:srgbClr val="000000"/>
                </a:solidFill>
                <a:effectLst/>
                <a:uLnTx/>
                <a:uFillTx/>
                <a:latin typeface="Arial" panose="020B0604020202020204"/>
                <a:cs typeface="Times New Roman"/>
              </a:rPr>
              <a:t>Opex</a:t>
            </a:r>
            <a:r>
              <a:rPr kumimoji="0" lang="en-US" sz="1800" b="1" i="0" u="none" strike="noStrike" kern="1200" cap="none" spc="0" normalizeH="0" baseline="0" noProof="0">
                <a:ln>
                  <a:noFill/>
                </a:ln>
                <a:solidFill>
                  <a:srgbClr val="000000"/>
                </a:solidFill>
                <a:effectLst/>
                <a:uLnTx/>
                <a:uFillTx/>
                <a:latin typeface="Arial" panose="020B0604020202020204"/>
                <a:cs typeface="Times New Roman"/>
              </a:rPr>
              <a:t> JTIOs used in FA above brand contribution (July 2019):</a:t>
            </a:r>
          </a:p>
          <a:p>
            <a:pPr marL="284163" marR="0" lvl="1" indent="-168275" algn="l" defTabSz="914400" rtl="0" eaLnBrk="1" fontAlgn="t" latinLnBrk="0" hangingPunct="1">
              <a:lnSpc>
                <a:spcPct val="107000"/>
              </a:lnSpc>
              <a:spcBef>
                <a:spcPts val="0"/>
              </a:spcBef>
              <a:spcAft>
                <a:spcPts val="0"/>
              </a:spcAft>
              <a:buClrTx/>
              <a:buSzTx/>
              <a:buFont typeface="Arial" panose="020B0604020202020204" pitchFamily="34" charset="0"/>
              <a:buChar char="•"/>
              <a:tabLst/>
              <a:defRPr/>
            </a:pPr>
            <a:r>
              <a:rPr kumimoji="0" lang="en-US" sz="2000" b="0" i="0" u="sng" strike="noStrike" kern="1200" cap="none" spc="0" normalizeH="0" baseline="0" noProof="0">
                <a:ln>
                  <a:noFill/>
                </a:ln>
                <a:solidFill>
                  <a:srgbClr val="000000"/>
                </a:solidFill>
                <a:effectLst/>
                <a:uLnTx/>
                <a:uFillTx/>
                <a:latin typeface="Arial" panose="020B0604020202020204"/>
                <a:cs typeface="Times New Roman"/>
              </a:rPr>
              <a:t>Transportation &amp;  Warehousing: </a:t>
            </a:r>
            <a:r>
              <a:rPr kumimoji="0" lang="en-US" sz="2000" b="0" i="0" u="none" strike="noStrike" kern="1200" cap="none" spc="0" normalizeH="0" baseline="0" noProof="0">
                <a:ln>
                  <a:noFill/>
                </a:ln>
                <a:solidFill>
                  <a:srgbClr val="000000"/>
                </a:solidFill>
                <a:effectLst/>
                <a:uLnTx/>
                <a:uFillTx/>
                <a:latin typeface="Arial" panose="020B0604020202020204"/>
                <a:cs typeface="Times New Roman"/>
              </a:rPr>
              <a:t>It is not expected for OPEX Transportation &amp; Warehousing to be allocated to SKU until a more automated solution will be put into place (Q1 2020)  </a:t>
            </a:r>
            <a:endParaRPr kumimoji="0" lang="en-US" sz="2000" b="0" i="0" u="none" strike="noStrike" kern="1200" cap="none" spc="0" normalizeH="0" baseline="0" noProof="0">
              <a:ln>
                <a:noFill/>
              </a:ln>
              <a:solidFill>
                <a:srgbClr val="000000"/>
              </a:solidFill>
              <a:effectLst/>
              <a:uLnTx/>
              <a:uFillTx/>
              <a:latin typeface="Arial" panose="020B0604020202020204"/>
              <a:cs typeface="Times New Roman" panose="02020603050405020304" pitchFamily="18" charset="0"/>
            </a:endParaRPr>
          </a:p>
          <a:p>
            <a:pPr marL="284163" marR="0" lvl="1" indent="-168275" algn="l" defTabSz="914400" rtl="0" eaLnBrk="1" fontAlgn="t" latinLnBrk="0" hangingPunct="1">
              <a:lnSpc>
                <a:spcPct val="107000"/>
              </a:lnSpc>
              <a:spcBef>
                <a:spcPts val="0"/>
              </a:spcBef>
              <a:spcAft>
                <a:spcPts val="0"/>
              </a:spcAft>
              <a:buClrTx/>
              <a:buSzTx/>
              <a:buFont typeface="Arial" panose="020B0604020202020204" pitchFamily="34" charset="0"/>
              <a:buChar char="•"/>
              <a:tabLst/>
              <a:defRPr/>
            </a:pPr>
            <a:r>
              <a:rPr kumimoji="0" lang="en-US" sz="2000" b="0" i="0" u="sng" strike="noStrike" kern="1200" cap="none" spc="0" normalizeH="0" baseline="0" noProof="0">
                <a:ln>
                  <a:noFill/>
                </a:ln>
                <a:solidFill>
                  <a:srgbClr val="000000"/>
                </a:solidFill>
                <a:effectLst/>
                <a:uLnTx/>
                <a:uFillTx/>
                <a:latin typeface="Arial" panose="020B0604020202020204"/>
                <a:cs typeface="Times New Roman"/>
              </a:rPr>
              <a:t>Marketing related to OPEX Leasing costs / depreciation: </a:t>
            </a:r>
            <a:r>
              <a:rPr kumimoji="0" lang="en-US" sz="2000" b="0" i="0" u="none" strike="noStrike" kern="1200" cap="none" spc="0" normalizeH="0" baseline="0" noProof="0">
                <a:ln>
                  <a:noFill/>
                </a:ln>
                <a:solidFill>
                  <a:srgbClr val="000000"/>
                </a:solidFill>
                <a:effectLst/>
                <a:uLnTx/>
                <a:uFillTx/>
                <a:latin typeface="Arial" panose="020B0604020202020204"/>
                <a:cs typeface="Times New Roman"/>
              </a:rPr>
              <a:t>Similar as for the above – these costs should be treated as Marketing however subject to same development as above (Q1 2020). No reclass expected prior development.</a:t>
            </a:r>
          </a:p>
          <a:p>
            <a:pPr marL="228531" marR="0" lvl="0" indent="-228531" algn="l" defTabSz="914126" rtl="0" eaLnBrk="1" fontAlgn="auto" latinLnBrk="0" hangingPunct="1">
              <a:lnSpc>
                <a:spcPct val="90000"/>
              </a:lnSpc>
              <a:spcBef>
                <a:spcPts val="16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Arial" charset="0"/>
              <a:cs typeface="Arial" charset="0"/>
            </a:endParaRPr>
          </a:p>
        </p:txBody>
      </p:sp>
      <p:sp>
        <p:nvSpPr>
          <p:cNvPr id="65" name="Arrow: Down 64">
            <a:extLst>
              <a:ext uri="{FF2B5EF4-FFF2-40B4-BE49-F238E27FC236}">
                <a16:creationId xmlns:a16="http://schemas.microsoft.com/office/drawing/2014/main" id="{0AFE8E87-9AAD-4566-9079-EF0080840BBA}"/>
              </a:ext>
            </a:extLst>
          </p:cNvPr>
          <p:cNvSpPr/>
          <p:nvPr/>
        </p:nvSpPr>
        <p:spPr>
          <a:xfrm rot="19269933">
            <a:off x="1518852" y="4864136"/>
            <a:ext cx="410319" cy="687698"/>
          </a:xfrm>
          <a:prstGeom prst="downArrow">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502790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827B1-8EE1-4F9A-8378-BE59E5169F00}"/>
              </a:ext>
            </a:extLst>
          </p:cNvPr>
          <p:cNvSpPr>
            <a:spLocks noGrp="1"/>
          </p:cNvSpPr>
          <p:nvPr>
            <p:ph type="title"/>
          </p:nvPr>
        </p:nvSpPr>
        <p:spPr/>
        <p:txBody>
          <a:bodyPr/>
          <a:lstStyle/>
          <a:p>
            <a:r>
              <a:rPr lang="en-US"/>
              <a:t>How do we achieve the required granularity?</a:t>
            </a:r>
          </a:p>
        </p:txBody>
      </p:sp>
      <p:sp>
        <p:nvSpPr>
          <p:cNvPr id="4" name="Footer Placeholder 3">
            <a:extLst>
              <a:ext uri="{FF2B5EF4-FFF2-40B4-BE49-F238E27FC236}">
                <a16:creationId xmlns:a16="http://schemas.microsoft.com/office/drawing/2014/main" id="{338242A5-BCBE-4058-8C19-2B61332DF63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4D9896D-72D0-439F-8D19-61FCE4020A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6" name="Connecteur droit 23">
            <a:extLst>
              <a:ext uri="{FF2B5EF4-FFF2-40B4-BE49-F238E27FC236}">
                <a16:creationId xmlns:a16="http://schemas.microsoft.com/office/drawing/2014/main" id="{F9F06151-EE82-48DD-8C7B-5DF5327E91BA}"/>
              </a:ext>
            </a:extLst>
          </p:cNvPr>
          <p:cNvCxnSpPr/>
          <p:nvPr/>
        </p:nvCxnSpPr>
        <p:spPr>
          <a:xfrm>
            <a:off x="7492980" y="1796492"/>
            <a:ext cx="2111961" cy="2033566"/>
          </a:xfrm>
          <a:prstGeom prst="line">
            <a:avLst/>
          </a:prstGeom>
          <a:noFill/>
          <a:ln w="9525" cap="flat" cmpd="sng" algn="ctr">
            <a:solidFill>
              <a:srgbClr val="6FA478">
                <a:alpha val="0"/>
              </a:srgbClr>
            </a:solidFill>
            <a:prstDash val="sysDot"/>
          </a:ln>
          <a:effectLst/>
        </p:spPr>
      </p:cxnSp>
      <p:sp>
        <p:nvSpPr>
          <p:cNvPr id="7" name="Rectangle 6">
            <a:extLst>
              <a:ext uri="{FF2B5EF4-FFF2-40B4-BE49-F238E27FC236}">
                <a16:creationId xmlns:a16="http://schemas.microsoft.com/office/drawing/2014/main" id="{BB141A58-FD9F-48CC-B234-5D589CB90EEA}"/>
              </a:ext>
            </a:extLst>
          </p:cNvPr>
          <p:cNvSpPr/>
          <p:nvPr/>
        </p:nvSpPr>
        <p:spPr>
          <a:xfrm>
            <a:off x="2045663" y="2131184"/>
            <a:ext cx="2394771" cy="3566102"/>
          </a:xfrm>
          <a:prstGeom prst="rect">
            <a:avLst/>
          </a:prstGeom>
          <a:solidFill>
            <a:srgbClr val="88D5B8">
              <a:lumMod val="20000"/>
              <a:lumOff val="80000"/>
              <a:alpha val="69000"/>
            </a:srgbClr>
          </a:solidFill>
          <a:ln w="25400" cap="flat" cmpd="sng" algn="ctr">
            <a:solidFill>
              <a:srgbClr val="122632"/>
            </a:solidFill>
            <a:prstDash val="solid"/>
          </a:ln>
          <a:effectLst/>
        </p:spPr>
        <p:txBody>
          <a:bodyPr wrap="square" rtlCol="0" anchor="ctr">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sp>
        <p:nvSpPr>
          <p:cNvPr id="8" name="Arrow: Pentagon 8">
            <a:extLst>
              <a:ext uri="{FF2B5EF4-FFF2-40B4-BE49-F238E27FC236}">
                <a16:creationId xmlns:a16="http://schemas.microsoft.com/office/drawing/2014/main" id="{BBEBD259-4E4B-46E4-A771-4CEE72196A23}"/>
              </a:ext>
            </a:extLst>
          </p:cNvPr>
          <p:cNvSpPr/>
          <p:nvPr/>
        </p:nvSpPr>
        <p:spPr bwMode="auto">
          <a:xfrm>
            <a:off x="2155982" y="2377681"/>
            <a:ext cx="2245395" cy="632450"/>
          </a:xfrm>
          <a:prstGeom prst="homePlate">
            <a:avLst/>
          </a:prstGeom>
          <a:solidFill>
            <a:srgbClr val="00BDB7">
              <a:lumMod val="50000"/>
            </a:srgbClr>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GB" sz="1799" b="0" i="0" u="none" strike="noStrike" kern="0" cap="none" spc="0" normalizeH="0" baseline="0" noProof="0">
                <a:ln>
                  <a:noFill/>
                </a:ln>
                <a:solidFill>
                  <a:srgbClr val="FFFFFF"/>
                </a:solidFill>
                <a:effectLst/>
                <a:uLnTx/>
                <a:uFillTx/>
                <a:latin typeface="Arial" panose="020B0604020202020204"/>
                <a:ea typeface="ＭＳ Ｐゴシック" charset="0"/>
                <a:cs typeface="+mn-cs"/>
              </a:rPr>
              <a:t>Sales &amp; Distribution</a:t>
            </a:r>
          </a:p>
        </p:txBody>
      </p:sp>
      <p:sp>
        <p:nvSpPr>
          <p:cNvPr id="9" name="Arrow: Pentagon 106">
            <a:extLst>
              <a:ext uri="{FF2B5EF4-FFF2-40B4-BE49-F238E27FC236}">
                <a16:creationId xmlns:a16="http://schemas.microsoft.com/office/drawing/2014/main" id="{2C9CBEE2-2DDB-4DEE-BC52-134DF5C69571}"/>
              </a:ext>
            </a:extLst>
          </p:cNvPr>
          <p:cNvSpPr/>
          <p:nvPr/>
        </p:nvSpPr>
        <p:spPr bwMode="auto">
          <a:xfrm>
            <a:off x="2155982" y="3184286"/>
            <a:ext cx="2245395" cy="632450"/>
          </a:xfrm>
          <a:prstGeom prst="homePlate">
            <a:avLst/>
          </a:prstGeom>
          <a:solidFill>
            <a:srgbClr val="00BDB7">
              <a:lumMod val="50000"/>
            </a:srgbClr>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GB" sz="1700" b="0" i="0" u="none" strike="noStrike" kern="0" cap="none" spc="0" normalizeH="0" baseline="0" noProof="0" dirty="0">
                <a:ln>
                  <a:noFill/>
                </a:ln>
                <a:solidFill>
                  <a:srgbClr val="FFFFFF"/>
                </a:solidFill>
                <a:effectLst/>
                <a:uLnTx/>
                <a:uFillTx/>
                <a:latin typeface="Arial" panose="020B0604020202020204"/>
                <a:ea typeface="ＭＳ Ｐゴシック" charset="0"/>
                <a:cs typeface="+mn-cs"/>
              </a:rPr>
              <a:t>WBS Allocations </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GB" sz="1700" b="0" i="0" u="none" strike="noStrike" kern="0" cap="none" spc="0" normalizeH="0" baseline="0" noProof="0" dirty="0">
                <a:ln>
                  <a:noFill/>
                </a:ln>
                <a:solidFill>
                  <a:srgbClr val="FFFFFF"/>
                </a:solidFill>
                <a:effectLst/>
                <a:uLnTx/>
                <a:uFillTx/>
                <a:latin typeface="Arial" panose="020B0604020202020204"/>
                <a:ea typeface="ＭＳ Ｐゴシック" charset="0"/>
                <a:cs typeface="+mn-cs"/>
              </a:rPr>
              <a:t>Brand &amp; Multi brand </a:t>
            </a:r>
          </a:p>
        </p:txBody>
      </p:sp>
      <p:sp>
        <p:nvSpPr>
          <p:cNvPr id="10" name="Arrow: Pentagon 107">
            <a:extLst>
              <a:ext uri="{FF2B5EF4-FFF2-40B4-BE49-F238E27FC236}">
                <a16:creationId xmlns:a16="http://schemas.microsoft.com/office/drawing/2014/main" id="{1E9918B6-C537-4136-B32D-249B67D6D9F9}"/>
              </a:ext>
            </a:extLst>
          </p:cNvPr>
          <p:cNvSpPr/>
          <p:nvPr/>
        </p:nvSpPr>
        <p:spPr bwMode="auto">
          <a:xfrm>
            <a:off x="2149488" y="4913239"/>
            <a:ext cx="2245395" cy="632450"/>
          </a:xfrm>
          <a:prstGeom prst="homePlate">
            <a:avLst/>
          </a:prstGeom>
          <a:solidFill>
            <a:srgbClr val="00BDB7">
              <a:lumMod val="50000"/>
            </a:srgbClr>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GB" sz="1799" b="0" i="0" u="none" strike="noStrike" kern="0" cap="none" spc="0" normalizeH="0" baseline="0" noProof="0">
                <a:ln>
                  <a:noFill/>
                </a:ln>
                <a:solidFill>
                  <a:srgbClr val="FFFFFF"/>
                </a:solidFill>
                <a:effectLst/>
                <a:uLnTx/>
                <a:uFillTx/>
                <a:latin typeface="Arial" panose="020B0604020202020204"/>
                <a:ea typeface="ＭＳ Ｐゴシック" charset="0"/>
                <a:cs typeface="+mn-cs"/>
              </a:rPr>
              <a:t>Manual CO-PA postings</a:t>
            </a:r>
          </a:p>
        </p:txBody>
      </p:sp>
      <p:sp>
        <p:nvSpPr>
          <p:cNvPr id="11" name="TextBox 10">
            <a:extLst>
              <a:ext uri="{FF2B5EF4-FFF2-40B4-BE49-F238E27FC236}">
                <a16:creationId xmlns:a16="http://schemas.microsoft.com/office/drawing/2014/main" id="{339E4CC0-271F-4ADC-B71F-4D5879958D7F}"/>
              </a:ext>
            </a:extLst>
          </p:cNvPr>
          <p:cNvSpPr txBox="1"/>
          <p:nvPr/>
        </p:nvSpPr>
        <p:spPr>
          <a:xfrm>
            <a:off x="4808136" y="5728973"/>
            <a:ext cx="5268203" cy="367356"/>
          </a:xfrm>
          <a:prstGeom prst="rect">
            <a:avLst/>
          </a:prstGeom>
          <a:noFill/>
        </p:spPr>
        <p:txBody>
          <a:bodyPr wrap="none" lIns="0" tIns="0" rIns="0" bIns="0" rtlCol="0">
            <a:norm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kumimoji="0" lang="en-GB" sz="1799" b="1" i="1"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 more effort needed</a:t>
            </a:r>
          </a:p>
        </p:txBody>
      </p:sp>
      <p:cxnSp>
        <p:nvCxnSpPr>
          <p:cNvPr id="12" name="Straight Arrow Connector 11">
            <a:extLst>
              <a:ext uri="{FF2B5EF4-FFF2-40B4-BE49-F238E27FC236}">
                <a16:creationId xmlns:a16="http://schemas.microsoft.com/office/drawing/2014/main" id="{2C9847A2-92E8-4611-AB82-832390471155}"/>
              </a:ext>
            </a:extLst>
          </p:cNvPr>
          <p:cNvCxnSpPr>
            <a:cxnSpLocks/>
          </p:cNvCxnSpPr>
          <p:nvPr/>
        </p:nvCxnSpPr>
        <p:spPr bwMode="auto">
          <a:xfrm flipV="1">
            <a:off x="4639077" y="5847663"/>
            <a:ext cx="3102539" cy="1746"/>
          </a:xfrm>
          <a:prstGeom prst="straightConnector1">
            <a:avLst/>
          </a:prstGeom>
          <a:noFill/>
          <a:ln w="28575" cap="flat" cmpd="sng" algn="ctr">
            <a:solidFill>
              <a:srgbClr val="122632"/>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 name="Right Triangle 12">
            <a:extLst>
              <a:ext uri="{FF2B5EF4-FFF2-40B4-BE49-F238E27FC236}">
                <a16:creationId xmlns:a16="http://schemas.microsoft.com/office/drawing/2014/main" id="{690F7FE6-4BE5-49C2-9079-C9E4027FB7A4}"/>
              </a:ext>
            </a:extLst>
          </p:cNvPr>
          <p:cNvSpPr/>
          <p:nvPr/>
        </p:nvSpPr>
        <p:spPr bwMode="auto">
          <a:xfrm>
            <a:off x="4610997" y="2138442"/>
            <a:ext cx="3711986" cy="3548368"/>
          </a:xfrm>
          <a:prstGeom prst="rtTriangle">
            <a:avLst/>
          </a:prstGeom>
          <a:solidFill>
            <a:srgbClr val="00BDB7">
              <a:alpha val="55000"/>
            </a:srgbClr>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auto" latinLnBrk="0" hangingPunct="1">
              <a:lnSpc>
                <a:spcPct val="100000"/>
              </a:lnSpc>
              <a:spcBef>
                <a:spcPct val="20000"/>
              </a:spcBef>
              <a:spcAft>
                <a:spcPts val="0"/>
              </a:spcAft>
              <a:buClrTx/>
              <a:buSzTx/>
              <a:buFontTx/>
              <a:buNone/>
              <a:tabLst/>
              <a:defRPr/>
            </a:pPr>
            <a:endParaRPr kumimoji="0" lang="en-GB"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sp>
        <p:nvSpPr>
          <p:cNvPr id="14" name="Arrow: Pentagon 106">
            <a:extLst>
              <a:ext uri="{FF2B5EF4-FFF2-40B4-BE49-F238E27FC236}">
                <a16:creationId xmlns:a16="http://schemas.microsoft.com/office/drawing/2014/main" id="{427B94A7-3F80-4072-9646-56B86F801877}"/>
              </a:ext>
            </a:extLst>
          </p:cNvPr>
          <p:cNvSpPr/>
          <p:nvPr/>
        </p:nvSpPr>
        <p:spPr bwMode="auto">
          <a:xfrm>
            <a:off x="2149488" y="4075238"/>
            <a:ext cx="2245395" cy="632450"/>
          </a:xfrm>
          <a:prstGeom prst="homePlate">
            <a:avLst/>
          </a:prstGeom>
          <a:solidFill>
            <a:srgbClr val="00BDB7">
              <a:lumMod val="50000"/>
            </a:srgbClr>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GB" sz="1799" b="0" i="0" u="none" strike="noStrike" kern="0" cap="none" spc="0" normalizeH="0" baseline="0" noProof="0">
                <a:ln>
                  <a:noFill/>
                </a:ln>
                <a:solidFill>
                  <a:srgbClr val="FFFFFF"/>
                </a:solidFill>
                <a:effectLst/>
                <a:uLnTx/>
                <a:uFillTx/>
                <a:latin typeface="Arial" panose="020B0604020202020204"/>
                <a:ea typeface="ＭＳ Ｐゴシック" charset="0"/>
                <a:cs typeface="+mn-cs"/>
              </a:rPr>
              <a:t>SKU Allocations </a:t>
            </a:r>
            <a:br>
              <a:rPr kumimoji="0" lang="en-GB" sz="1799" b="0" i="0" u="none" strike="noStrike" kern="0" cap="none" spc="0" normalizeH="0" baseline="0" noProof="0">
                <a:ln>
                  <a:noFill/>
                </a:ln>
                <a:solidFill>
                  <a:srgbClr val="FFFFFF"/>
                </a:solidFill>
                <a:effectLst/>
                <a:uLnTx/>
                <a:uFillTx/>
                <a:latin typeface="Arial" panose="020B0604020202020204"/>
                <a:ea typeface="ＭＳ Ｐゴシック" charset="0"/>
                <a:cs typeface="+mn-cs"/>
              </a:rPr>
            </a:br>
            <a:r>
              <a:rPr kumimoji="0" lang="en-GB" sz="1799" b="0" i="0" u="none" strike="noStrike" kern="0" cap="none" spc="0" normalizeH="0" baseline="0" noProof="0">
                <a:ln>
                  <a:noFill/>
                </a:ln>
                <a:solidFill>
                  <a:srgbClr val="FFFFFF"/>
                </a:solidFill>
                <a:effectLst/>
                <a:uLnTx/>
                <a:uFillTx/>
                <a:latin typeface="Arial" panose="020B0604020202020204"/>
                <a:ea typeface="ＭＳ Ｐゴシック" charset="0"/>
                <a:cs typeface="+mn-cs"/>
              </a:rPr>
              <a:t>(Volumes) </a:t>
            </a:r>
          </a:p>
        </p:txBody>
      </p:sp>
      <p:sp>
        <p:nvSpPr>
          <p:cNvPr id="15" name="Arrow: Pentagon 8">
            <a:extLst>
              <a:ext uri="{FF2B5EF4-FFF2-40B4-BE49-F238E27FC236}">
                <a16:creationId xmlns:a16="http://schemas.microsoft.com/office/drawing/2014/main" id="{84AF4A71-CBCD-403E-9FFA-7972B7408F72}"/>
              </a:ext>
            </a:extLst>
          </p:cNvPr>
          <p:cNvSpPr/>
          <p:nvPr/>
        </p:nvSpPr>
        <p:spPr bwMode="auto">
          <a:xfrm>
            <a:off x="4623878" y="2282512"/>
            <a:ext cx="5790121" cy="724476"/>
          </a:xfrm>
          <a:prstGeom prst="homePlate">
            <a:avLst/>
          </a:prstGeom>
          <a:noFill/>
          <a:ln>
            <a:noFill/>
          </a:ln>
          <a:effectLst/>
        </p:spPr>
        <p:txBody>
          <a:bodyPr vert="horz" wrap="square" lIns="0" tIns="0" rIns="0" bIns="0" numCol="1" rtlCol="0" anchor="ctr" anchorCtr="0" compatLnSpc="1">
            <a:prstTxWarp prst="textNoShape">
              <a:avLst/>
            </a:prstTxWarp>
          </a:bodyPr>
          <a:lstStyle/>
          <a:p>
            <a:pPr marL="285750" marR="0" lvl="0" indent="-285750" algn="just"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GB" sz="1799" b="0"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Preferred option is to use </a:t>
            </a:r>
            <a:r>
              <a:rPr kumimoji="0" lang="en-GB" sz="1799" b="1"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standard</a:t>
            </a:r>
            <a:r>
              <a:rPr kumimoji="0" lang="en-GB" sz="1799" b="0"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 </a:t>
            </a:r>
            <a:r>
              <a:rPr kumimoji="0" lang="en-GB" sz="1799" b="1"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transactional processes </a:t>
            </a:r>
            <a:r>
              <a:rPr kumimoji="0" lang="en-GB" sz="1799" b="0"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that provide </a:t>
            </a:r>
            <a:r>
              <a:rPr kumimoji="0" lang="en-GB" sz="1799" b="1"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SKU granularity </a:t>
            </a:r>
            <a:r>
              <a:rPr kumimoji="0" lang="en-GB" sz="1799" b="0"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having embedded the master data at the source</a:t>
            </a:r>
          </a:p>
        </p:txBody>
      </p:sp>
      <p:sp>
        <p:nvSpPr>
          <p:cNvPr id="16" name="Arrow: Pentagon 8">
            <a:extLst>
              <a:ext uri="{FF2B5EF4-FFF2-40B4-BE49-F238E27FC236}">
                <a16:creationId xmlns:a16="http://schemas.microsoft.com/office/drawing/2014/main" id="{AA0C559F-23AD-469E-9BCF-488AF78887BF}"/>
              </a:ext>
            </a:extLst>
          </p:cNvPr>
          <p:cNvSpPr/>
          <p:nvPr/>
        </p:nvSpPr>
        <p:spPr bwMode="auto">
          <a:xfrm>
            <a:off x="4639077" y="3143405"/>
            <a:ext cx="5766971" cy="709285"/>
          </a:xfrm>
          <a:prstGeom prst="homePlate">
            <a:avLst/>
          </a:prstGeom>
          <a:noFill/>
          <a:ln>
            <a:noFill/>
          </a:ln>
          <a:effectLst/>
        </p:spPr>
        <p:txBody>
          <a:bodyPr vert="horz" wrap="square" lIns="0" tIns="0" rIns="0" bIns="0" numCol="1" rtlCol="0" anchor="ctr" anchorCtr="0" compatLnSpc="1">
            <a:prstTxWarp prst="textNoShape">
              <a:avLst/>
            </a:prstTxWarp>
          </a:bodyPr>
          <a:lstStyle/>
          <a:p>
            <a:pPr marL="285750" marR="0" lvl="0" indent="-285750" algn="just"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GB" sz="1799" b="0"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Standard approach for allocations to </a:t>
            </a:r>
            <a:r>
              <a:rPr kumimoji="0" lang="en-GB" sz="1799" b="1"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Brand &amp; Product Type </a:t>
            </a:r>
            <a:r>
              <a:rPr kumimoji="0" lang="en-GB" sz="1799" b="0"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level to support this granularity level is met across the P&amp;L </a:t>
            </a:r>
          </a:p>
        </p:txBody>
      </p:sp>
      <p:sp>
        <p:nvSpPr>
          <p:cNvPr id="17" name="Arrow: Pentagon 8">
            <a:extLst>
              <a:ext uri="{FF2B5EF4-FFF2-40B4-BE49-F238E27FC236}">
                <a16:creationId xmlns:a16="http://schemas.microsoft.com/office/drawing/2014/main" id="{FF053605-F4FB-4A1E-9C2C-0D9DBFFCF72E}"/>
              </a:ext>
            </a:extLst>
          </p:cNvPr>
          <p:cNvSpPr/>
          <p:nvPr/>
        </p:nvSpPr>
        <p:spPr bwMode="auto">
          <a:xfrm>
            <a:off x="4647130" y="4026952"/>
            <a:ext cx="5758918" cy="632450"/>
          </a:xfrm>
          <a:prstGeom prst="homePlate">
            <a:avLst/>
          </a:prstGeom>
          <a:noFill/>
          <a:ln>
            <a:noFill/>
          </a:ln>
          <a:effectLst/>
        </p:spPr>
        <p:txBody>
          <a:bodyPr vert="horz" wrap="square" lIns="0" tIns="0" rIns="0" bIns="0" numCol="1" rtlCol="0" anchor="ctr" anchorCtr="0" compatLnSpc="1">
            <a:prstTxWarp prst="textNoShape">
              <a:avLst/>
            </a:prstTxWarp>
          </a:bodyPr>
          <a:lstStyle/>
          <a:p>
            <a:pPr marL="285750" marR="0" lvl="0" indent="-285750" algn="just"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GB" sz="1799" b="0"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This method is only to be used for </a:t>
            </a:r>
            <a:r>
              <a:rPr kumimoji="0" lang="en-GB" sz="1799" b="1"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simple allocations </a:t>
            </a:r>
            <a:r>
              <a:rPr kumimoji="0" lang="en-GB" sz="1799" b="0"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a:t>
            </a:r>
            <a:r>
              <a:rPr kumimoji="0" lang="en-GB" sz="1799" b="0" i="0" u="none" strike="noStrike" kern="1200" cap="none" spc="0" normalizeH="0" baseline="0" noProof="0" err="1">
                <a:ln>
                  <a:noFill/>
                </a:ln>
                <a:solidFill>
                  <a:srgbClr val="8F9195">
                    <a:lumMod val="75000"/>
                  </a:srgbClr>
                </a:solidFill>
                <a:effectLst/>
                <a:uLnTx/>
                <a:uFillTx/>
                <a:latin typeface="Arial" panose="020B0604020202020204"/>
                <a:ea typeface="ＭＳ Ｐゴシック" charset="0"/>
                <a:cs typeface="+mn-cs"/>
              </a:rPr>
              <a:t>eg.</a:t>
            </a:r>
            <a:r>
              <a:rPr kumimoji="0" lang="en-GB" sz="1799" b="0"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 based on volume that can be applicable for transportation &amp; warehousing)</a:t>
            </a:r>
          </a:p>
        </p:txBody>
      </p:sp>
      <p:sp>
        <p:nvSpPr>
          <p:cNvPr id="18" name="Arrow: Pentagon 8">
            <a:extLst>
              <a:ext uri="{FF2B5EF4-FFF2-40B4-BE49-F238E27FC236}">
                <a16:creationId xmlns:a16="http://schemas.microsoft.com/office/drawing/2014/main" id="{170EC7B7-F0D5-43C6-A816-D7DD49238494}"/>
              </a:ext>
            </a:extLst>
          </p:cNvPr>
          <p:cNvSpPr/>
          <p:nvPr/>
        </p:nvSpPr>
        <p:spPr bwMode="auto">
          <a:xfrm>
            <a:off x="4680003" y="4977263"/>
            <a:ext cx="5718094" cy="632450"/>
          </a:xfrm>
          <a:prstGeom prst="homePlate">
            <a:avLst/>
          </a:prstGeom>
          <a:noFill/>
          <a:ln>
            <a:noFill/>
          </a:ln>
          <a:effectLst/>
        </p:spPr>
        <p:txBody>
          <a:bodyPr vert="horz" wrap="square" lIns="0" tIns="0" rIns="0" bIns="0" numCol="1" rtlCol="0" anchor="ctr" anchorCtr="0" compatLnSpc="1">
            <a:prstTxWarp prst="textNoShape">
              <a:avLst/>
            </a:prstTxWarp>
          </a:bodyPr>
          <a:lstStyle/>
          <a:p>
            <a:pPr marL="285750" marR="0" lvl="0" indent="-285750" algn="just"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GB" sz="1799" b="0" i="0" u="none" strike="noStrike" kern="1200" cap="none" spc="0" normalizeH="0" baseline="0" noProof="0">
                <a:ln>
                  <a:noFill/>
                </a:ln>
                <a:solidFill>
                  <a:srgbClr val="8F9195">
                    <a:lumMod val="75000"/>
                  </a:srgbClr>
                </a:solidFill>
                <a:effectLst/>
                <a:uLnTx/>
                <a:uFillTx/>
                <a:latin typeface="Arial" panose="020B0604020202020204"/>
                <a:ea typeface="ＭＳ Ｐゴシック" charset="0"/>
                <a:cs typeface="+mn-cs"/>
              </a:rPr>
              <a:t>We cannot live without these but should be considered as last option and to be challenged for regular SKU postings. </a:t>
            </a:r>
          </a:p>
        </p:txBody>
      </p:sp>
      <p:sp>
        <p:nvSpPr>
          <p:cNvPr id="19" name="Rectangle 18">
            <a:extLst>
              <a:ext uri="{FF2B5EF4-FFF2-40B4-BE49-F238E27FC236}">
                <a16:creationId xmlns:a16="http://schemas.microsoft.com/office/drawing/2014/main" id="{7AA1E32A-8B67-475B-A879-7E660EBF0D1C}"/>
              </a:ext>
            </a:extLst>
          </p:cNvPr>
          <p:cNvSpPr/>
          <p:nvPr/>
        </p:nvSpPr>
        <p:spPr>
          <a:xfrm>
            <a:off x="1986072" y="1713625"/>
            <a:ext cx="4094534" cy="369108"/>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sym typeface="Wingdings" panose="05000000000000000000" pitchFamily="2" charset="2"/>
              </a:rPr>
              <a:t>Posting possibilities</a:t>
            </a:r>
            <a:endParaRPr kumimoji="0" lang="en-US" sz="9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spTree>
    <p:extLst>
      <p:ext uri="{BB962C8B-B14F-4D97-AF65-F5344CB8AC3E}">
        <p14:creationId xmlns:p14="http://schemas.microsoft.com/office/powerpoint/2010/main" val="806283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827B1-8EE1-4F9A-8378-BE59E5169F00}"/>
              </a:ext>
            </a:extLst>
          </p:cNvPr>
          <p:cNvSpPr>
            <a:spLocks noGrp="1"/>
          </p:cNvSpPr>
          <p:nvPr>
            <p:ph type="title"/>
          </p:nvPr>
        </p:nvSpPr>
        <p:spPr/>
        <p:txBody>
          <a:bodyPr/>
          <a:lstStyle/>
          <a:p>
            <a:r>
              <a:rPr lang="en-US"/>
              <a:t>How do we achieve the required granularity?</a:t>
            </a:r>
          </a:p>
        </p:txBody>
      </p:sp>
      <p:sp>
        <p:nvSpPr>
          <p:cNvPr id="4" name="Footer Placeholder 3">
            <a:extLst>
              <a:ext uri="{FF2B5EF4-FFF2-40B4-BE49-F238E27FC236}">
                <a16:creationId xmlns:a16="http://schemas.microsoft.com/office/drawing/2014/main" id="{338242A5-BCBE-4058-8C19-2B61332DF63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4D9896D-72D0-439F-8D19-61FCE4020A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Content Placeholder 1">
            <a:extLst>
              <a:ext uri="{FF2B5EF4-FFF2-40B4-BE49-F238E27FC236}">
                <a16:creationId xmlns:a16="http://schemas.microsoft.com/office/drawing/2014/main" id="{C482D7F7-FC11-4157-B97D-D149E059B5A7}"/>
              </a:ext>
            </a:extLst>
          </p:cNvPr>
          <p:cNvSpPr txBox="1">
            <a:spLocks/>
          </p:cNvSpPr>
          <p:nvPr/>
        </p:nvSpPr>
        <p:spPr>
          <a:xfrm>
            <a:off x="457200" y="1695450"/>
            <a:ext cx="5538842" cy="5162550"/>
          </a:xfrm>
          <a:prstGeom prst="rect">
            <a:avLst/>
          </a:prstGeom>
        </p:spPr>
        <p:txBody>
          <a:bodyPr vert="horz" lIns="91440" tIns="45720" rIns="91440" bIns="45720" rtlCol="0">
            <a:norm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228531" marR="0" lvl="0" indent="-228531" algn="l" defTabSz="914126"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srgbClr val="000000"/>
                </a:solidFill>
                <a:effectLst/>
                <a:uLnTx/>
                <a:uFillTx/>
                <a:latin typeface="Arial" charset="0"/>
                <a:cs typeface="Arial" charset="0"/>
              </a:rPr>
              <a:t>Minimum Granularity Requirements, as set out by Corporate FP&amp;A</a:t>
            </a:r>
            <a:r>
              <a:rPr kumimoji="0" lang="en-US" sz="1800" b="0" i="0" u="none" strike="noStrike" kern="1200" cap="none" spc="0" normalizeH="0" baseline="0" noProof="0">
                <a:ln>
                  <a:noFill/>
                </a:ln>
                <a:solidFill>
                  <a:srgbClr val="000000"/>
                </a:solidFill>
                <a:effectLst/>
                <a:uLnTx/>
                <a:uFillTx/>
                <a:latin typeface="Arial" charset="0"/>
                <a:cs typeface="Arial" charset="0"/>
              </a:rPr>
              <a:t>, have been implemented for each PL JTIO in S/4 through the use of Field Status Groups (FSG).</a:t>
            </a:r>
          </a:p>
          <a:p>
            <a:pPr marL="228531" marR="0" lvl="0" indent="-228531" algn="l" defTabSz="914126"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srgbClr val="000000"/>
                </a:solidFill>
                <a:effectLst/>
                <a:uLnTx/>
                <a:uFillTx/>
                <a:latin typeface="Arial" charset="0"/>
                <a:cs typeface="Arial" charset="0"/>
              </a:rPr>
              <a:t>These settings ensure that when postings are made in S/4, validations are done, to have complied with the minimum requirements </a:t>
            </a:r>
            <a:r>
              <a:rPr kumimoji="0" lang="en-US" sz="1800" b="0" i="0" u="none" strike="noStrike" kern="1200" cap="none" spc="0" normalizeH="0" baseline="0" noProof="0">
                <a:ln>
                  <a:noFill/>
                </a:ln>
                <a:solidFill>
                  <a:srgbClr val="000000"/>
                </a:solidFill>
                <a:effectLst/>
                <a:uLnTx/>
                <a:uFillTx/>
                <a:latin typeface="Arial" charset="0"/>
                <a:cs typeface="Arial" charset="0"/>
              </a:rPr>
              <a:t>of dimensions (</a:t>
            </a:r>
            <a:r>
              <a:rPr kumimoji="0" lang="en-US" sz="1800" b="0" i="0" u="none" strike="noStrike" kern="1200" cap="none" spc="0" normalizeH="0" baseline="0" noProof="0" err="1">
                <a:ln>
                  <a:noFill/>
                </a:ln>
                <a:solidFill>
                  <a:srgbClr val="000000"/>
                </a:solidFill>
                <a:effectLst/>
                <a:uLnTx/>
                <a:uFillTx/>
                <a:latin typeface="Arial" charset="0"/>
                <a:cs typeface="Arial" charset="0"/>
              </a:rPr>
              <a:t>eg.</a:t>
            </a:r>
            <a:r>
              <a:rPr kumimoji="0" lang="en-US" sz="1800" b="0" i="0" u="none" strike="noStrike" kern="1200" cap="none" spc="0" normalizeH="0" baseline="0" noProof="0">
                <a:ln>
                  <a:noFill/>
                </a:ln>
                <a:solidFill>
                  <a:srgbClr val="000000"/>
                </a:solidFill>
                <a:effectLst/>
                <a:uLnTx/>
                <a:uFillTx/>
                <a:latin typeface="Arial" charset="0"/>
                <a:cs typeface="Arial" charset="0"/>
              </a:rPr>
              <a:t> brand family and product type or GSC SKU).</a:t>
            </a:r>
          </a:p>
          <a:p>
            <a:pPr marL="228531" marR="0" lvl="0" indent="-228531" algn="l" defTabSz="914126"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charset="0"/>
                <a:cs typeface="Arial" charset="0"/>
              </a:rPr>
              <a:t>FI manual postings:</a:t>
            </a:r>
          </a:p>
          <a:p>
            <a:pPr marL="685594" marR="0" lvl="1" indent="-228531" algn="l" defTabSz="914126"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charset="0"/>
                <a:cs typeface="Arial" charset="0"/>
              </a:rPr>
              <a:t>Fail if the required granularity for the specific JTIO is not met (“</a:t>
            </a:r>
            <a:r>
              <a:rPr kumimoji="0" lang="en-US" sz="1600" b="1" i="0" u="none" strike="noStrike" kern="1200" cap="none" spc="0" normalizeH="0" baseline="0" noProof="0">
                <a:ln>
                  <a:noFill/>
                </a:ln>
                <a:solidFill>
                  <a:srgbClr val="000000"/>
                </a:solidFill>
                <a:effectLst/>
                <a:uLnTx/>
                <a:uFillTx/>
                <a:latin typeface="Arial" charset="0"/>
                <a:cs typeface="Arial" charset="0"/>
              </a:rPr>
              <a:t>mandatory”</a:t>
            </a:r>
            <a:r>
              <a:rPr kumimoji="0" lang="en-US" sz="1600" b="0" i="0" u="none" strike="noStrike" kern="1200" cap="none" spc="0" normalizeH="0" baseline="0" noProof="0">
                <a:ln>
                  <a:noFill/>
                </a:ln>
                <a:solidFill>
                  <a:srgbClr val="000000"/>
                </a:solidFill>
                <a:effectLst/>
                <a:uLnTx/>
                <a:uFillTx/>
                <a:latin typeface="Arial" charset="0"/>
                <a:cs typeface="Arial" charset="0"/>
              </a:rPr>
              <a:t>)</a:t>
            </a:r>
          </a:p>
          <a:p>
            <a:pPr marL="685594" marR="0" lvl="1" indent="-228531" algn="l" defTabSz="914126"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charset="0"/>
                <a:cs typeface="Arial" charset="0"/>
              </a:rPr>
              <a:t>Are accepted in where “</a:t>
            </a:r>
            <a:r>
              <a:rPr kumimoji="0" lang="en-US" sz="1600" b="1" i="0" u="none" strike="noStrike" kern="1200" cap="none" spc="0" normalizeH="0" baseline="0" noProof="0">
                <a:ln>
                  <a:noFill/>
                </a:ln>
                <a:solidFill>
                  <a:srgbClr val="000000"/>
                </a:solidFill>
                <a:effectLst/>
                <a:uLnTx/>
                <a:uFillTx/>
                <a:latin typeface="Arial" charset="0"/>
                <a:cs typeface="Arial" charset="0"/>
              </a:rPr>
              <a:t>optional</a:t>
            </a:r>
            <a:r>
              <a:rPr kumimoji="0" lang="en-US" sz="1600" b="0" i="0" u="none" strike="noStrike" kern="1200" cap="none" spc="0" normalizeH="0" baseline="0" noProof="0">
                <a:ln>
                  <a:noFill/>
                </a:ln>
                <a:solidFill>
                  <a:srgbClr val="000000"/>
                </a:solidFill>
                <a:effectLst/>
                <a:uLnTx/>
                <a:uFillTx/>
                <a:latin typeface="Arial" charset="0"/>
                <a:cs typeface="Arial" charset="0"/>
              </a:rPr>
              <a:t>” and </a:t>
            </a:r>
          </a:p>
          <a:p>
            <a:pPr marL="685594" marR="0" lvl="1" indent="-228531" algn="l" defTabSz="914126"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charset="0"/>
                <a:cs typeface="Arial" charset="0"/>
              </a:rPr>
              <a:t>in cases where certain dimensions are not required (“</a:t>
            </a:r>
            <a:r>
              <a:rPr kumimoji="0" lang="en-US" sz="1600" b="1" i="0" u="none" strike="noStrike" kern="1200" cap="none" spc="0" normalizeH="0" baseline="0" noProof="0">
                <a:ln>
                  <a:noFill/>
                </a:ln>
                <a:solidFill>
                  <a:srgbClr val="000000"/>
                </a:solidFill>
                <a:effectLst/>
                <a:uLnTx/>
                <a:uFillTx/>
                <a:latin typeface="Arial" charset="0"/>
                <a:cs typeface="Arial" charset="0"/>
              </a:rPr>
              <a:t>hidden*”</a:t>
            </a:r>
            <a:r>
              <a:rPr kumimoji="0" lang="en-US" sz="1600" b="0" i="0" u="none" strike="noStrike" kern="1200" cap="none" spc="0" normalizeH="0" baseline="0" noProof="0">
                <a:ln>
                  <a:noFill/>
                </a:ln>
                <a:solidFill>
                  <a:srgbClr val="000000"/>
                </a:solidFill>
                <a:effectLst/>
                <a:uLnTx/>
                <a:uFillTx/>
                <a:latin typeface="Arial" charset="0"/>
                <a:cs typeface="Arial" charset="0"/>
              </a:rPr>
              <a:t>) this field will be still displayed during the posting. Dimensions are not physically hidden as the same accounts are used for OPEX and for above Brand Contribution</a:t>
            </a:r>
          </a:p>
          <a:p>
            <a:pPr marL="228531" marR="0" lvl="0" indent="-228531" algn="l" defTabSz="914126"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Arial" charset="0"/>
              <a:cs typeface="Arial" charset="0"/>
            </a:endParaRPr>
          </a:p>
          <a:p>
            <a:pPr marL="228531" marR="0" lvl="0" indent="-228531" algn="l" defTabSz="914126"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Arial" charset="0"/>
              <a:cs typeface="Arial" charset="0"/>
            </a:endParaRPr>
          </a:p>
          <a:p>
            <a:pPr marL="228531" marR="0" lvl="0" indent="-228531" algn="l" defTabSz="914126"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Arial" charset="0"/>
              <a:cs typeface="Arial" charset="0"/>
            </a:endParaRPr>
          </a:p>
        </p:txBody>
      </p:sp>
      <p:sp>
        <p:nvSpPr>
          <p:cNvPr id="11" name="Content Placeholder 1">
            <a:extLst>
              <a:ext uri="{FF2B5EF4-FFF2-40B4-BE49-F238E27FC236}">
                <a16:creationId xmlns:a16="http://schemas.microsoft.com/office/drawing/2014/main" id="{BA31B843-D904-4C13-8971-093D3F0BA64F}"/>
              </a:ext>
            </a:extLst>
          </p:cNvPr>
          <p:cNvSpPr txBox="1">
            <a:spLocks/>
          </p:cNvSpPr>
          <p:nvPr/>
        </p:nvSpPr>
        <p:spPr>
          <a:xfrm>
            <a:off x="6267749" y="1669132"/>
            <a:ext cx="5751811" cy="5272276"/>
          </a:xfrm>
          <a:prstGeom prst="rect">
            <a:avLst/>
          </a:prstGeom>
        </p:spPr>
        <p:txBody>
          <a:bodyPr vert="horz" lIns="91440" tIns="45720" rIns="91440" bIns="45720" rtlCol="0">
            <a:norm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399930" indent="-195204"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285750" marR="0" lvl="0" indent="-285750" algn="l" defTabSz="914126" rtl="0" eaLnBrk="1" fontAlgn="auto" latinLnBrk="0" hangingPunct="1">
              <a:lnSpc>
                <a:spcPct val="90000"/>
              </a:lnSpc>
              <a:spcBef>
                <a:spcPts val="1000"/>
              </a:spcBef>
              <a:spcAft>
                <a:spcPts val="0"/>
              </a:spcAft>
              <a:buClrTx/>
              <a:buSzTx/>
              <a:buFont typeface="Wingdings" panose="05000000000000000000" pitchFamily="2" charset="2"/>
              <a:buChar char="v"/>
              <a:tabLst/>
              <a:defRPr/>
            </a:pPr>
            <a:endParaRPr kumimoji="0" lang="en-US" sz="1999" b="0" i="0" u="none" strike="noStrike" kern="1200" cap="none" spc="0" normalizeH="0" baseline="0" noProof="0">
              <a:ln>
                <a:noFill/>
              </a:ln>
              <a:solidFill>
                <a:srgbClr val="000000"/>
              </a:solidFill>
              <a:effectLst/>
              <a:uLnTx/>
              <a:uFillTx/>
              <a:latin typeface="Arial" charset="0"/>
              <a:cs typeface="Arial" charset="0"/>
            </a:endParaRPr>
          </a:p>
        </p:txBody>
      </p:sp>
      <p:pic>
        <p:nvPicPr>
          <p:cNvPr id="20" name="Picture 19">
            <a:extLst>
              <a:ext uri="{FF2B5EF4-FFF2-40B4-BE49-F238E27FC236}">
                <a16:creationId xmlns:a16="http://schemas.microsoft.com/office/drawing/2014/main" id="{084380C4-450D-49D2-8366-D3E0F5C9B901}"/>
              </a:ext>
            </a:extLst>
          </p:cNvPr>
          <p:cNvPicPr>
            <a:picLocks noChangeAspect="1"/>
          </p:cNvPicPr>
          <p:nvPr/>
        </p:nvPicPr>
        <p:blipFill>
          <a:blip r:embed="rId2"/>
          <a:stretch>
            <a:fillRect/>
          </a:stretch>
        </p:blipFill>
        <p:spPr>
          <a:xfrm>
            <a:off x="6339541" y="2176934"/>
            <a:ext cx="5493715" cy="3491018"/>
          </a:xfrm>
          <a:prstGeom prst="rect">
            <a:avLst/>
          </a:prstGeom>
        </p:spPr>
      </p:pic>
      <p:sp>
        <p:nvSpPr>
          <p:cNvPr id="14" name="Rectangle: Rounded Corners 13">
            <a:extLst>
              <a:ext uri="{FF2B5EF4-FFF2-40B4-BE49-F238E27FC236}">
                <a16:creationId xmlns:a16="http://schemas.microsoft.com/office/drawing/2014/main" id="{7E31D305-8BDE-49D9-9A76-20540D07F81A}"/>
              </a:ext>
            </a:extLst>
          </p:cNvPr>
          <p:cNvSpPr/>
          <p:nvPr/>
        </p:nvSpPr>
        <p:spPr>
          <a:xfrm rot="1048814">
            <a:off x="10465275" y="2047445"/>
            <a:ext cx="1199589" cy="258976"/>
          </a:xfrm>
          <a:prstGeom prst="roundRect">
            <a:avLst/>
          </a:prstGeom>
          <a:solidFill>
            <a:srgbClr val="000000">
              <a:lumMod val="95000"/>
              <a:lumOff val="5000"/>
            </a:srgbClr>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rial" panose="020B0604020202020204"/>
                <a:ea typeface="+mn-ea"/>
                <a:cs typeface="+mn-cs"/>
              </a:rPr>
              <a:t>EXAMPLE</a:t>
            </a:r>
          </a:p>
        </p:txBody>
      </p:sp>
    </p:spTree>
    <p:extLst>
      <p:ext uri="{BB962C8B-B14F-4D97-AF65-F5344CB8AC3E}">
        <p14:creationId xmlns:p14="http://schemas.microsoft.com/office/powerpoint/2010/main" val="3992323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827B1-8EE1-4F9A-8378-BE59E5169F00}"/>
              </a:ext>
            </a:extLst>
          </p:cNvPr>
          <p:cNvSpPr>
            <a:spLocks noGrp="1"/>
          </p:cNvSpPr>
          <p:nvPr>
            <p:ph type="title"/>
          </p:nvPr>
        </p:nvSpPr>
        <p:spPr/>
        <p:txBody>
          <a:bodyPr/>
          <a:lstStyle/>
          <a:p>
            <a:r>
              <a:rPr lang="en-US"/>
              <a:t>How can you check during the month required granularity?</a:t>
            </a:r>
          </a:p>
        </p:txBody>
      </p:sp>
      <p:sp>
        <p:nvSpPr>
          <p:cNvPr id="4" name="Footer Placeholder 3">
            <a:extLst>
              <a:ext uri="{FF2B5EF4-FFF2-40B4-BE49-F238E27FC236}">
                <a16:creationId xmlns:a16="http://schemas.microsoft.com/office/drawing/2014/main" id="{338242A5-BCBE-4058-8C19-2B61332DF63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4D9896D-72D0-439F-8D19-61FCE4020A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5EDB3B1A-21F8-4B0D-8624-0AD642067410}"/>
              </a:ext>
            </a:extLst>
          </p:cNvPr>
          <p:cNvSpPr/>
          <p:nvPr/>
        </p:nvSpPr>
        <p:spPr>
          <a:xfrm>
            <a:off x="412698" y="1416662"/>
            <a:ext cx="4991367" cy="5355312"/>
          </a:xfrm>
          <a:prstGeom prst="rect">
            <a:avLst/>
          </a:prstGeom>
        </p:spPr>
        <p:txBody>
          <a:bodyPr wrap="square" anchor="t">
            <a:spAutoFit/>
          </a:bodyPr>
          <a:lstStyle/>
          <a:p>
            <a:pPr marL="117475" marR="0" lvl="0" indent="-11747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The </a:t>
            </a:r>
            <a:r>
              <a:rPr kumimoji="0" lang="en-US" sz="1800" b="1"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Granularity field </a:t>
            </a: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is a new dimension and reflects the detail that is available in the posting and reporting and </a:t>
            </a:r>
            <a:r>
              <a:rPr kumimoji="0" lang="en-US" sz="1800" b="1"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can help validate ahead of month end closing if requirements are met </a:t>
            </a: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a:t>
            </a:r>
            <a:r>
              <a:rPr kumimoji="0" lang="en-US" sz="1800" b="0" i="0" u="none" strike="noStrike" kern="1200" cap="none" spc="0" normalizeH="0" baseline="0" noProof="0" dirty="0" err="1">
                <a:ln>
                  <a:noFill/>
                </a:ln>
                <a:solidFill>
                  <a:srgbClr val="000000"/>
                </a:solidFill>
                <a:effectLst/>
                <a:uLnTx/>
                <a:uFillTx/>
                <a:latin typeface="Arial" panose="020B0604020202020204"/>
                <a:ea typeface="Times New Roman" panose="02020603050405020304" pitchFamily="18" charset="0"/>
                <a:cs typeface="+mn-cs"/>
              </a:rPr>
              <a:t>eg.</a:t>
            </a: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 Brand family &amp; Product type  above Brand Contribution).</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endParaRPr>
          </a:p>
          <a:p>
            <a:pPr marL="169545" marR="0" lvl="0" indent="-16954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Values are: </a:t>
            </a:r>
            <a:endPar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Arial"/>
            </a:endParaRPr>
          </a:p>
          <a:p>
            <a:pPr marL="339725" marR="0" lvl="1" indent="-169545"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a:t>
            </a:r>
            <a:r>
              <a:rPr kumimoji="0" lang="en-US" sz="1800" b="1"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Brand Family</a:t>
            </a: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 if both Brand Family and Product Type are present; </a:t>
            </a:r>
            <a:endPar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Arial"/>
            </a:endParaRPr>
          </a:p>
          <a:p>
            <a:pPr marL="339725" marR="0" lvl="1" indent="-169545"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a:t>
            </a:r>
            <a:r>
              <a:rPr kumimoji="0" lang="en-US" sz="1800" b="1"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Material</a:t>
            </a: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 in case of postings including the latter and </a:t>
            </a:r>
            <a:endPar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Arial"/>
            </a:endParaRPr>
          </a:p>
          <a:p>
            <a:pPr marL="339725" marR="0" lvl="1" indent="-169545" algn="just" defTabSz="914400" rtl="0" eaLnBrk="1" fontAlgn="base" latinLnBrk="0" hangingPunct="1">
              <a:lnSpc>
                <a:spcPct val="100000"/>
              </a:lnSpc>
              <a:spcBef>
                <a:spcPct val="0"/>
              </a:spcBef>
              <a:spcAft>
                <a:spcPct val="0"/>
              </a:spcAft>
              <a:buClrTx/>
              <a:buSzTx/>
              <a:buFont typeface="Wingdings,Sans-Serif"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a:t>
            </a:r>
            <a:r>
              <a:rPr kumimoji="0" lang="en-US" sz="1800" b="1"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N/A</a:t>
            </a: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 if no detail is available (to note that this can be the case for </a:t>
            </a:r>
            <a:r>
              <a:rPr kumimoji="0" lang="en-US" sz="1800" b="0" i="0" u="none" strike="noStrike" kern="1200" cap="none" spc="0" normalizeH="0" baseline="0" noProof="0" dirty="0" err="1">
                <a:ln>
                  <a:noFill/>
                </a:ln>
                <a:solidFill>
                  <a:srgbClr val="000000"/>
                </a:solidFill>
                <a:effectLst/>
                <a:uLnTx/>
                <a:uFillTx/>
                <a:latin typeface="Arial" panose="020B0604020202020204"/>
                <a:ea typeface="Times New Roman" panose="02020603050405020304" pitchFamily="18" charset="0"/>
                <a:cs typeface="+mn-cs"/>
              </a:rPr>
              <a:t>Multibrand</a:t>
            </a: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 WBS when these have NOT YET been settled – before Month end )</a:t>
            </a:r>
            <a:endParaRPr kumimoji="0" lang="en-US" sz="1800" b="0" i="0" u="none" strike="noStrike" kern="1200" cap="none" spc="0" normalizeH="0" baseline="0" noProof="0" dirty="0">
              <a:ln>
                <a:noFill/>
              </a:ln>
              <a:solidFill>
                <a:srgbClr val="000000"/>
              </a:solidFill>
              <a:effectLst/>
              <a:uLnTx/>
              <a:uFillTx/>
              <a:latin typeface="Arial" panose="020B0604020202020204"/>
              <a:ea typeface="+mn-lt"/>
              <a:cs typeface="Arial" panose="020B0604020202020204"/>
            </a:endParaRPr>
          </a:p>
          <a:p>
            <a:pPr marL="339725" marR="0" lvl="1" indent="-169545"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 </a:t>
            </a:r>
            <a:r>
              <a:rPr kumimoji="0" lang="en-US" sz="1800" b="1" i="0" u="none" strike="noStrike" kern="1200" cap="none" spc="0" normalizeH="0" baseline="0" noProof="0" dirty="0">
                <a:ln>
                  <a:noFill/>
                </a:ln>
                <a:solidFill>
                  <a:srgbClr val="000000"/>
                </a:solidFill>
                <a:effectLst/>
                <a:uLnTx/>
                <a:uFillTx/>
                <a:latin typeface="Arial" panose="020B0604020202020204"/>
                <a:ea typeface="ＭＳ Ｐゴシック"/>
                <a:cs typeface="+mn-cs"/>
              </a:rPr>
              <a:t># </a:t>
            </a: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 </a:t>
            </a:r>
            <a:r>
              <a:rPr kumimoji="0" lang="en-US" sz="1800" b="0" i="0" u="none" strike="noStrike" kern="1200" cap="none" spc="0" normalizeH="0" baseline="0" noProof="0" dirty="0">
                <a:ln>
                  <a:noFill/>
                </a:ln>
                <a:solidFill>
                  <a:srgbClr val="000000"/>
                </a:solidFill>
                <a:effectLst/>
                <a:uLnTx/>
                <a:uFillTx/>
                <a:latin typeface="Arial" panose="020B0604020202020204"/>
                <a:ea typeface="ＭＳ Ｐゴシック"/>
                <a:cs typeface="+mn-cs"/>
              </a:rPr>
              <a:t>- No profitability data available</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mn-cs"/>
              </a:rPr>
              <a:t>  </a:t>
            </a:r>
            <a:endParaRPr kumimoji="0" lang="en-US" sz="1800" b="0" i="0" u="none" strike="noStrike" kern="1200" cap="none" spc="0" normalizeH="0" baseline="0" noProof="0" dirty="0">
              <a:ln>
                <a:noFill/>
              </a:ln>
              <a:solidFill>
                <a:srgbClr val="000000"/>
              </a:solidFill>
              <a:effectLst/>
              <a:uLnTx/>
              <a:uFillTx/>
              <a:latin typeface="Arial" panose="020B0604020202020204"/>
              <a:ea typeface="Times New Roman" panose="02020603050405020304" pitchFamily="18" charset="0"/>
              <a:cs typeface="Arial"/>
            </a:endParaRPr>
          </a:p>
          <a:p>
            <a:pPr marL="339725" marR="0" lvl="1" indent="-169545"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Arial" panose="020B0604020202020204"/>
            </a:endParaRPr>
          </a:p>
        </p:txBody>
      </p:sp>
      <p:pic>
        <p:nvPicPr>
          <p:cNvPr id="7" name="Picture 6" descr="imb__20">
            <a:extLst>
              <a:ext uri="{FF2B5EF4-FFF2-40B4-BE49-F238E27FC236}">
                <a16:creationId xmlns:a16="http://schemas.microsoft.com/office/drawing/2014/main" id="{5F78F1C9-95F1-4D67-A9AA-10E88CAA999A}"/>
              </a:ext>
            </a:extLst>
          </p:cNvPr>
          <p:cNvPicPr/>
          <p:nvPr/>
        </p:nvPicPr>
        <p:blipFill rotWithShape="1">
          <a:blip r:embed="rId2" cstate="print">
            <a:extLst>
              <a:ext uri="{28A0092B-C50C-407E-A947-70E740481C1C}">
                <a14:useLocalDpi xmlns:a14="http://schemas.microsoft.com/office/drawing/2010/main" val="0"/>
              </a:ext>
            </a:extLst>
          </a:blip>
          <a:srcRect t="8237" b="13797"/>
          <a:stretch/>
        </p:blipFill>
        <p:spPr bwMode="auto">
          <a:xfrm>
            <a:off x="5762330" y="2277249"/>
            <a:ext cx="5589370" cy="1701112"/>
          </a:xfrm>
          <a:prstGeom prst="rect">
            <a:avLst/>
          </a:prstGeom>
          <a:noFill/>
          <a:ln>
            <a:noFill/>
          </a:ln>
        </p:spPr>
      </p:pic>
      <p:sp>
        <p:nvSpPr>
          <p:cNvPr id="8" name="Rectangle: Rounded Corners 7">
            <a:extLst>
              <a:ext uri="{FF2B5EF4-FFF2-40B4-BE49-F238E27FC236}">
                <a16:creationId xmlns:a16="http://schemas.microsoft.com/office/drawing/2014/main" id="{63146294-52E9-40D7-A600-DB1996D84EEB}"/>
              </a:ext>
            </a:extLst>
          </p:cNvPr>
          <p:cNvSpPr/>
          <p:nvPr/>
        </p:nvSpPr>
        <p:spPr>
          <a:xfrm>
            <a:off x="5623560" y="1836370"/>
            <a:ext cx="6113196" cy="358190"/>
          </a:xfrm>
          <a:prstGeom prst="roundRect">
            <a:avLst/>
          </a:prstGeom>
          <a:solidFill>
            <a:schemeClr val="accent1">
              <a:lumMod val="60000"/>
              <a:lumOff val="40000"/>
            </a:schemeClr>
          </a:solidFill>
          <a:ln w="12700" cap="flat" cmpd="sng" algn="ctr">
            <a:solidFill>
              <a:srgbClr val="FFFFFF">
                <a:lumMod val="8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anose="020B0604020202020204"/>
                <a:ea typeface="+mn-ea"/>
                <a:cs typeface="+mn-cs"/>
              </a:rPr>
              <a:t>1. GL Line Item Report (FAGLL03H) with Granularity dimension*</a:t>
            </a:r>
          </a:p>
        </p:txBody>
      </p:sp>
      <p:sp>
        <p:nvSpPr>
          <p:cNvPr id="9" name="Rectangle: Rounded Corners 8">
            <a:extLst>
              <a:ext uri="{FF2B5EF4-FFF2-40B4-BE49-F238E27FC236}">
                <a16:creationId xmlns:a16="http://schemas.microsoft.com/office/drawing/2014/main" id="{EE9C3393-B8BF-4A52-B77A-12C130343AEB}"/>
              </a:ext>
            </a:extLst>
          </p:cNvPr>
          <p:cNvSpPr/>
          <p:nvPr/>
        </p:nvSpPr>
        <p:spPr>
          <a:xfrm>
            <a:off x="2972122" y="6502528"/>
            <a:ext cx="3471672" cy="244549"/>
          </a:xfrm>
          <a:prstGeom prst="roundRect">
            <a:avLst/>
          </a:prstGeom>
          <a:no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CH" sz="1000" b="0" i="0" u="none" strike="noStrike" kern="0" cap="none" spc="0" normalizeH="0" baseline="0" noProof="0">
                <a:ln>
                  <a:noFill/>
                </a:ln>
                <a:solidFill>
                  <a:srgbClr val="FFFFFF">
                    <a:lumMod val="50000"/>
                  </a:srgbClr>
                </a:solidFill>
                <a:effectLst/>
                <a:uLnTx/>
                <a:uFillTx/>
                <a:latin typeface="Arial" panose="020B0604020202020204"/>
                <a:ea typeface="+mn-ea"/>
                <a:cs typeface="+mn-cs"/>
              </a:rPr>
              <a:t>* See Reporting section for more details </a:t>
            </a:r>
            <a:endParaRPr kumimoji="0" lang="en-US" sz="1000" b="0" i="0" u="none" strike="noStrike" kern="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29AFFAB1-774F-46B9-A9BE-B283BE8746CC}"/>
              </a:ext>
            </a:extLst>
          </p:cNvPr>
          <p:cNvSpPr/>
          <p:nvPr/>
        </p:nvSpPr>
        <p:spPr>
          <a:xfrm>
            <a:off x="5623560" y="4085978"/>
            <a:ext cx="6113196" cy="358190"/>
          </a:xfrm>
          <a:prstGeom prst="roundRect">
            <a:avLst/>
          </a:prstGeom>
          <a:solidFill>
            <a:schemeClr val="accent1">
              <a:lumMod val="60000"/>
              <a:lumOff val="40000"/>
            </a:schemeClr>
          </a:solidFill>
          <a:ln w="12700" cap="flat" cmpd="sng" algn="ctr">
            <a:solidFill>
              <a:srgbClr val="FFFFFF">
                <a:lumMod val="8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CH" sz="1600" b="0" i="0" u="none" strike="noStrike" kern="0" cap="none" spc="0" normalizeH="0" baseline="0" noProof="0">
                <a:ln>
                  <a:noFill/>
                </a:ln>
                <a:solidFill>
                  <a:srgbClr val="000000"/>
                </a:solidFill>
                <a:effectLst/>
                <a:uLnTx/>
                <a:uFillTx/>
                <a:latin typeface="Arial" panose="020B0604020202020204"/>
                <a:ea typeface="+mn-ea"/>
                <a:cs typeface="+mn-cs"/>
              </a:rPr>
              <a:t>2. CDS S/4 Queries are more powerful to tailor workbooks</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pic>
        <p:nvPicPr>
          <p:cNvPr id="3" name="Picture 2">
            <a:extLst>
              <a:ext uri="{FF2B5EF4-FFF2-40B4-BE49-F238E27FC236}">
                <a16:creationId xmlns:a16="http://schemas.microsoft.com/office/drawing/2014/main" id="{233DAA82-9D1E-4283-9198-E9C7F08A6D03}"/>
              </a:ext>
            </a:extLst>
          </p:cNvPr>
          <p:cNvPicPr>
            <a:picLocks noChangeAspect="1"/>
          </p:cNvPicPr>
          <p:nvPr/>
        </p:nvPicPr>
        <p:blipFill>
          <a:blip r:embed="rId3"/>
          <a:stretch>
            <a:fillRect/>
          </a:stretch>
        </p:blipFill>
        <p:spPr>
          <a:xfrm>
            <a:off x="5688226" y="4585276"/>
            <a:ext cx="3714357" cy="970509"/>
          </a:xfrm>
          <a:prstGeom prst="rect">
            <a:avLst/>
          </a:prstGeom>
        </p:spPr>
      </p:pic>
      <p:pic>
        <p:nvPicPr>
          <p:cNvPr id="175106" name="Picture 2" descr="C:\Users\CSTSHA~1\AppData\Local\Temp\SNAGHTML49089b9a.PNG">
            <a:extLst>
              <a:ext uri="{FF2B5EF4-FFF2-40B4-BE49-F238E27FC236}">
                <a16:creationId xmlns:a16="http://schemas.microsoft.com/office/drawing/2014/main" id="{070AD0BB-2152-4115-BA51-E300B809A0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89208" y="4616776"/>
            <a:ext cx="2143125" cy="1833563"/>
          </a:xfrm>
          <a:prstGeom prst="rect">
            <a:avLst/>
          </a:prstGeom>
          <a:noFill/>
          <a:extLst>
            <a:ext uri="{909E8E84-426E-40DD-AFC4-6F175D3DCCD1}">
              <a14:hiddenFill xmlns:a14="http://schemas.microsoft.com/office/drawing/2010/main">
                <a:solidFill>
                  <a:srgbClr val="FFFFFF"/>
                </a:solidFill>
              </a14:hiddenFill>
            </a:ext>
          </a:extLst>
        </p:spPr>
      </p:pic>
      <p:sp>
        <p:nvSpPr>
          <p:cNvPr id="11" name="Arrow: Right 10">
            <a:extLst>
              <a:ext uri="{FF2B5EF4-FFF2-40B4-BE49-F238E27FC236}">
                <a16:creationId xmlns:a16="http://schemas.microsoft.com/office/drawing/2014/main" id="{467CCB97-08FD-4ADD-96FF-5B06271503D7}"/>
              </a:ext>
            </a:extLst>
          </p:cNvPr>
          <p:cNvSpPr/>
          <p:nvPr/>
        </p:nvSpPr>
        <p:spPr>
          <a:xfrm>
            <a:off x="8892540" y="5989320"/>
            <a:ext cx="555763" cy="284183"/>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1449E73E-3E04-4DE4-A77C-030324374556}"/>
              </a:ext>
            </a:extLst>
          </p:cNvPr>
          <p:cNvSpPr/>
          <p:nvPr/>
        </p:nvSpPr>
        <p:spPr>
          <a:xfrm>
            <a:off x="7640056" y="4959391"/>
            <a:ext cx="818144" cy="14542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E598437D-AA95-41CD-8E25-A1D347D9822D}"/>
              </a:ext>
            </a:extLst>
          </p:cNvPr>
          <p:cNvSpPr txBox="1"/>
          <p:nvPr/>
        </p:nvSpPr>
        <p:spPr>
          <a:xfrm>
            <a:off x="8618220" y="-171450"/>
            <a:ext cx="914400" cy="91440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000000"/>
              </a:solidFill>
              <a:effectLst/>
              <a:uLnTx/>
              <a:uFillTx/>
              <a:latin typeface="Arial" panose="020B0604020202020204"/>
              <a:ea typeface="+mn-ea"/>
              <a:cs typeface="+mn-cs"/>
            </a:endParaRPr>
          </a:p>
        </p:txBody>
      </p:sp>
      <p:sp>
        <p:nvSpPr>
          <p:cNvPr id="14" name="TextBox 13">
            <a:extLst>
              <a:ext uri="{FF2B5EF4-FFF2-40B4-BE49-F238E27FC236}">
                <a16:creationId xmlns:a16="http://schemas.microsoft.com/office/drawing/2014/main" id="{314537E4-D9A2-45CB-B7E9-08C06601EA7F}"/>
              </a:ext>
            </a:extLst>
          </p:cNvPr>
          <p:cNvSpPr txBox="1"/>
          <p:nvPr/>
        </p:nvSpPr>
        <p:spPr>
          <a:xfrm>
            <a:off x="5581096" y="1428092"/>
            <a:ext cx="6198124" cy="300661"/>
          </a:xfrm>
          <a:prstGeom prst="rect">
            <a:avLst/>
          </a:prstGeom>
          <a:noFill/>
        </p:spPr>
        <p:txBody>
          <a:bodyPr wrap="none" lIns="0" tIns="0" rIns="0" bIns="0" rtlCol="0">
            <a:noAutofit/>
          </a:bodyPr>
          <a:lstStyle/>
          <a:p>
            <a:pPr marL="117475" marR="0" lvl="0" indent="-11747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Examples with new show “MATERIAL” granularity  </a:t>
            </a:r>
            <a:endParaRPr kumimoji="0" lang="en-US" sz="18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06840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90CC5F-7E64-4D1A-90F2-3D2368F93671}"/>
              </a:ext>
            </a:extLst>
          </p:cNvPr>
          <p:cNvSpPr>
            <a:spLocks noGrp="1"/>
          </p:cNvSpPr>
          <p:nvPr>
            <p:ph type="title"/>
          </p:nvPr>
        </p:nvSpPr>
        <p:spPr/>
        <p:txBody>
          <a:bodyPr/>
          <a:lstStyle/>
          <a:p>
            <a:r>
              <a:rPr lang="en-GB" dirty="0"/>
              <a:t>Demonstration &amp; exercises</a:t>
            </a:r>
          </a:p>
        </p:txBody>
      </p:sp>
      <p:sp>
        <p:nvSpPr>
          <p:cNvPr id="2" name="Slide Number Placeholder 1">
            <a:extLst>
              <a:ext uri="{FF2B5EF4-FFF2-40B4-BE49-F238E27FC236}">
                <a16:creationId xmlns:a16="http://schemas.microsoft.com/office/drawing/2014/main" id="{45968D6E-A1C2-48A1-8EEA-68D04FC7DD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7DF6DE24-71F6-4B4D-B00E-1C92B20D83D9}"/>
              </a:ext>
            </a:extLst>
          </p:cNvPr>
          <p:cNvSpPr>
            <a:spLocks noChangeArrowheads="1"/>
          </p:cNvSpPr>
          <p:nvPr/>
        </p:nvSpPr>
        <p:spPr bwMode="auto">
          <a:xfrm>
            <a:off x="641334" y="3121981"/>
            <a:ext cx="8177215" cy="1764980"/>
          </a:xfrm>
          <a:prstGeom prst="rect">
            <a:avLst/>
          </a:prstGeom>
          <a:noFill/>
          <a:ln w="12700">
            <a:noFill/>
            <a:miter lim="800000"/>
            <a:headEnd/>
            <a:tailEnd/>
          </a:ln>
          <a:effectLst/>
        </p:spPr>
        <p:txBody>
          <a:bodyPr lIns="92075" tIns="457200" rIns="92075" bIns="457200"/>
          <a:lstStyle/>
          <a:p>
            <a:pPr marL="180000" marR="0" lvl="0" indent="-180000" algn="l" defTabSz="914400" rtl="0" eaLnBrk="1" fontAlgn="auto" latinLnBrk="0" hangingPunct="1">
              <a:lnSpc>
                <a:spcPct val="100000"/>
              </a:lnSpc>
              <a:spcBef>
                <a:spcPct val="40000"/>
              </a:spcBef>
              <a:spcAft>
                <a:spcPts val="0"/>
              </a:spcAft>
              <a:buClr>
                <a:srgbClr val="DDDDDD"/>
              </a:buClr>
              <a:buSzPct val="80000"/>
              <a:buFont typeface="Wingdings" pitchFamily="2" charset="2"/>
              <a:buChar char="§"/>
              <a:tabLst/>
              <a:defRPr/>
            </a:pPr>
            <a:r>
              <a:rPr kumimoji="0" lang="en-US" sz="1800" b="1" i="0" u="none" strike="noStrike" kern="1200" cap="none" spc="0" normalizeH="0" baseline="0" noProof="0" dirty="0">
                <a:ln>
                  <a:noFill/>
                </a:ln>
                <a:solidFill>
                  <a:srgbClr val="FFFFFF"/>
                </a:solidFill>
                <a:effectLst/>
                <a:uLnTx/>
                <a:uFillTx/>
                <a:latin typeface="Arial" panose="020B0604020202020204"/>
                <a:ea typeface="+mn-ea"/>
                <a:cs typeface="Arial" pitchFamily="34" charset="0"/>
              </a:rPr>
              <a:t>Exercise 1.3: </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Arial" pitchFamily="34" charset="0"/>
              </a:rPr>
              <a:t>GR55 – Display Market P&amp;L</a:t>
            </a:r>
          </a:p>
        </p:txBody>
      </p:sp>
      <p:sp>
        <p:nvSpPr>
          <p:cNvPr id="6" name="Rectangle: Rounded Corners 5">
            <a:extLst>
              <a:ext uri="{FF2B5EF4-FFF2-40B4-BE49-F238E27FC236}">
                <a16:creationId xmlns:a16="http://schemas.microsoft.com/office/drawing/2014/main" id="{BE07B137-E250-4AC5-81D1-F142F8E125F0}"/>
              </a:ext>
            </a:extLst>
          </p:cNvPr>
          <p:cNvSpPr/>
          <p:nvPr/>
        </p:nvSpPr>
        <p:spPr>
          <a:xfrm>
            <a:off x="515938" y="3286778"/>
            <a:ext cx="8428008" cy="3094529"/>
          </a:xfrm>
          <a:prstGeom prst="roundRect">
            <a:avLst>
              <a:gd name="adj" fmla="val 7381"/>
            </a:avLst>
          </a:prstGeom>
          <a:noFill/>
          <a:ln w="57150">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0327167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YwLtFvJPmZMIJRo0G1gMKg"/>
</p:tagLst>
</file>

<file path=ppt/theme/theme1.xml><?xml version="1.0" encoding="utf-8"?>
<a:theme xmlns:a="http://schemas.openxmlformats.org/drawingml/2006/main" name="S4F-ERP Profitability Analysis">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82049DC9-7794-4480-9FBD-3A614B5AF050}"/>
</file>

<file path=customXml/itemProps2.xml><?xml version="1.0" encoding="utf-8"?>
<ds:datastoreItem xmlns:ds="http://schemas.openxmlformats.org/officeDocument/2006/customXml" ds:itemID="{944FA763-B98A-4007-A00E-85269F90AF84}">
  <ds:schemaRefs>
    <ds:schemaRef ds:uri="http://schemas.microsoft.com/sharepoint/v3/contenttype/forms"/>
  </ds:schemaRefs>
</ds:datastoreItem>
</file>

<file path=customXml/itemProps3.xml><?xml version="1.0" encoding="utf-8"?>
<ds:datastoreItem xmlns:ds="http://schemas.openxmlformats.org/officeDocument/2006/customXml" ds:itemID="{73CF5E65-E9ED-45CF-BDC6-06D4D52867C1}">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da913ec1-a210-4093-97d6-83558d020e4c"/>
    <ds:schemaRef ds:uri="http://purl.org/dc/elements/1.1/"/>
    <ds:schemaRef ds:uri="http://schemas.microsoft.com/office/2006/metadata/properties"/>
    <ds:schemaRef ds:uri="033d2065-0f41-4cc7-b07b-20f12998cf87"/>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1176</Words>
  <Application>Microsoft Office PowerPoint</Application>
  <PresentationFormat>Widescreen</PresentationFormat>
  <Paragraphs>191</Paragraphs>
  <Slides>9</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7" baseType="lpstr">
      <vt:lpstr>Arial</vt:lpstr>
      <vt:lpstr>Arial Black</vt:lpstr>
      <vt:lpstr>Calibri</vt:lpstr>
      <vt:lpstr>Symbol</vt:lpstr>
      <vt:lpstr>Wingdings</vt:lpstr>
      <vt:lpstr>Wingdings,Sans-Serif</vt:lpstr>
      <vt:lpstr>S4F-ERP Profitability Analysis</vt:lpstr>
      <vt:lpstr>think-cell Slide</vt:lpstr>
      <vt:lpstr>Course Structure</vt:lpstr>
      <vt:lpstr>What granularity do we expect behind P&amp;L lines?</vt:lpstr>
      <vt:lpstr>What granularity do we expect behind P&amp;L lines?</vt:lpstr>
      <vt:lpstr>Market P&amp;L and granularity requirements</vt:lpstr>
      <vt:lpstr>What granularity do we expect behind P&amp;L lines?</vt:lpstr>
      <vt:lpstr>How do we achieve the required granularity?</vt:lpstr>
      <vt:lpstr>How do we achieve the required granularity?</vt:lpstr>
      <vt:lpstr>How can you check during the month required granularity?</vt:lpstr>
      <vt:lpstr>Demonstration &amp; 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O'Neill, Shauna</cp:lastModifiedBy>
  <cp:revision>1</cp:revision>
  <dcterms:created xsi:type="dcterms:W3CDTF">2019-10-14T14:16:02Z</dcterms:created>
  <dcterms:modified xsi:type="dcterms:W3CDTF">2019-10-14T14:16:15Z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1284400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