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4" r:id="rId4"/>
    <p:sldMasterId id="2147483926" r:id="rId5"/>
    <p:sldMasterId id="2147483931" r:id="rId6"/>
    <p:sldMasterId id="2147483998" r:id="rId7"/>
  </p:sldMasterIdLst>
  <p:notesMasterIdLst>
    <p:notesMasterId r:id="rId15"/>
  </p:notesMasterIdLst>
  <p:sldIdLst>
    <p:sldId id="3313" r:id="rId8"/>
    <p:sldId id="3314" r:id="rId9"/>
    <p:sldId id="3315" r:id="rId10"/>
    <p:sldId id="3318" r:id="rId11"/>
    <p:sldId id="3404" r:id="rId12"/>
    <p:sldId id="2558" r:id="rId13"/>
    <p:sldId id="263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 Wei" initials="WW" lastIdx="20" clrIdx="0">
    <p:extLst>
      <p:ext uri="{19B8F6BF-5375-455C-9EA6-DF929625EA0E}">
        <p15:presenceInfo xmlns:p15="http://schemas.microsoft.com/office/powerpoint/2012/main" userId="S-1-5-21-1645522239-1214440339-682003330-696358" providerId="AD"/>
      </p:ext>
    </p:extLst>
  </p:cmAuthor>
  <p:cmAuthor id="2" name="Riggien, Samantha" initials="RS" lastIdx="3" clrIdx="1">
    <p:extLst>
      <p:ext uri="{19B8F6BF-5375-455C-9EA6-DF929625EA0E}">
        <p15:presenceInfo xmlns:p15="http://schemas.microsoft.com/office/powerpoint/2012/main" userId="S-1-5-21-1645522239-1214440339-682003330-754366" providerId="AD"/>
      </p:ext>
    </p:extLst>
  </p:cmAuthor>
  <p:cmAuthor id="3" name="Wang, Wei" initials="WW [2]" lastIdx="307" clrIdx="2">
    <p:extLst>
      <p:ext uri="{19B8F6BF-5375-455C-9EA6-DF929625EA0E}">
        <p15:presenceInfo xmlns:p15="http://schemas.microsoft.com/office/powerpoint/2012/main" userId="S::CSTWANGW@CORP.JTI.COM::627587dd-935f-4f2b-a6c6-edd4e0dcbff5" providerId="AD"/>
      </p:ext>
    </p:extLst>
  </p:cmAuthor>
  <p:cmAuthor id="4" name="Aardse, Leone" initials="AL" lastIdx="24" clrIdx="3">
    <p:extLst>
      <p:ext uri="{19B8F6BF-5375-455C-9EA6-DF929625EA0E}">
        <p15:presenceInfo xmlns:p15="http://schemas.microsoft.com/office/powerpoint/2012/main" userId="S::GVAAARDSL@CORP.JTI.COM::739cd3d2-ccb6-46e7-9410-591a9a971dee" providerId="AD"/>
      </p:ext>
    </p:extLst>
  </p:cmAuthor>
  <p:cmAuthor id="5" name="Vostrenkova, Anna" initials="VA" lastIdx="5" clrIdx="4">
    <p:extLst>
      <p:ext uri="{19B8F6BF-5375-455C-9EA6-DF929625EA0E}">
        <p15:presenceInfo xmlns:p15="http://schemas.microsoft.com/office/powerpoint/2012/main" userId="S::SPBVOSTRA@CORP.JTI.COM::714b791a-f154-4e8e-a89b-2941418e6a84" providerId="AD"/>
      </p:ext>
    </p:extLst>
  </p:cmAuthor>
  <p:cmAuthor id="6" name="Kandrotiene, Ilmante" initials="KI" lastIdx="55" clrIdx="5">
    <p:extLst>
      <p:ext uri="{19B8F6BF-5375-455C-9EA6-DF929625EA0E}">
        <p15:presenceInfo xmlns:p15="http://schemas.microsoft.com/office/powerpoint/2012/main" userId="S::GVAKANDRI@CORP.JTI.COM::9c9540c0-163c-4c36-9d78-d3fff8b35cb9" providerId="AD"/>
      </p:ext>
    </p:extLst>
  </p:cmAuthor>
  <p:cmAuthor id="7" name="Hill, Daniel" initials="HD" lastIdx="72" clrIdx="6">
    <p:extLst>
      <p:ext uri="{19B8F6BF-5375-455C-9EA6-DF929625EA0E}">
        <p15:presenceInfo xmlns:p15="http://schemas.microsoft.com/office/powerpoint/2012/main" userId="S::MANHILLD@CORP.JTI.COM::e75359db-c6a9-4245-8308-303af67184cd" providerId="AD"/>
      </p:ext>
    </p:extLst>
  </p:cmAuthor>
  <p:cmAuthor id="8" name="Sandler, Marina" initials="SM" lastIdx="7" clrIdx="7">
    <p:extLst>
      <p:ext uri="{19B8F6BF-5375-455C-9EA6-DF929625EA0E}">
        <p15:presenceInfo xmlns:p15="http://schemas.microsoft.com/office/powerpoint/2012/main" userId="S::GVASANDLMB@CORP.JTI.COM::b711e7c6-a7ab-441a-b8e7-d5e5b2cdc6ec" providerId="AD"/>
      </p:ext>
    </p:extLst>
  </p:cmAuthor>
  <p:cmAuthor id="9" name="Parshina, Olga" initials="PO" lastIdx="8" clrIdx="8">
    <p:extLst>
      <p:ext uri="{19B8F6BF-5375-455C-9EA6-DF929625EA0E}">
        <p15:presenceInfo xmlns:p15="http://schemas.microsoft.com/office/powerpoint/2012/main" userId="S::SPBPARSHOD@CORP.JTI.COM::873a8ef6-ff3d-4f50-8df2-5293041e8e5f" providerId="AD"/>
      </p:ext>
    </p:extLst>
  </p:cmAuthor>
  <p:cmAuthor id="10" name="Marchais, Helene" initials="MH" lastIdx="2" clrIdx="9">
    <p:extLst>
      <p:ext uri="{19B8F6BF-5375-455C-9EA6-DF929625EA0E}">
        <p15:presenceInfo xmlns:p15="http://schemas.microsoft.com/office/powerpoint/2012/main" userId="S::GVAMARCHH@CORP.JTI.COM::17418108-8412-4e41-8311-0d6f205b872e" providerId="AD"/>
      </p:ext>
    </p:extLst>
  </p:cmAuthor>
  <p:cmAuthor id="11" name="McVey, Suzanne" initials="MS" lastIdx="2" clrIdx="10">
    <p:extLst>
      <p:ext uri="{19B8F6BF-5375-455C-9EA6-DF929625EA0E}">
        <p15:presenceInfo xmlns:p15="http://schemas.microsoft.com/office/powerpoint/2012/main" userId="S::gvamcveys@corp.jti.com::d4086ca4-ef1f-4ada-91cc-91d6702702bb" providerId="AD"/>
      </p:ext>
    </p:extLst>
  </p:cmAuthor>
  <p:cmAuthor id="12" name="Tierney, Jacqueline" initials="TJ" lastIdx="2" clrIdx="11">
    <p:extLst>
      <p:ext uri="{19B8F6BF-5375-455C-9EA6-DF929625EA0E}">
        <p15:presenceInfo xmlns:p15="http://schemas.microsoft.com/office/powerpoint/2012/main" userId="S::mantiernj@corp.jti.com::c724e8cc-4489-4c36-9411-a0d84306cb81" providerId="AD"/>
      </p:ext>
    </p:extLst>
  </p:cmAuthor>
  <p:cmAuthor id="13" name="Ng, Leo" initials="NL" lastIdx="20" clrIdx="12">
    <p:extLst>
      <p:ext uri="{19B8F6BF-5375-455C-9EA6-DF929625EA0E}">
        <p15:presenceInfo xmlns:p15="http://schemas.microsoft.com/office/powerpoint/2012/main" userId="S::KUANGL@CORP.JTI.COM::ab3a9736-2aae-4d22-bdfd-26ab630f437e" providerId="AD"/>
      </p:ext>
    </p:extLst>
  </p:cmAuthor>
  <p:cmAuthor id="14" name="O'Neill, Shauna" initials="OS" lastIdx="9" clrIdx="13">
    <p:extLst>
      <p:ext uri="{19B8F6BF-5375-455C-9EA6-DF929625EA0E}">
        <p15:presenceInfo xmlns:p15="http://schemas.microsoft.com/office/powerpoint/2012/main" userId="S::cstoneils2@corp.jti.com::1d0a8ccc-c260-429c-86e4-d406a5ac1d3d" providerId="AD"/>
      </p:ext>
    </p:extLst>
  </p:cmAuthor>
  <p:cmAuthor id="15" name="McDonald, Pippa" initials="MP" lastIdx="6" clrIdx="14">
    <p:extLst>
      <p:ext uri="{19B8F6BF-5375-455C-9EA6-DF929625EA0E}">
        <p15:presenceInfo xmlns:p15="http://schemas.microsoft.com/office/powerpoint/2012/main" userId="S::manmcdonp@corp.jti.com::2ed36ef8-ebae-4e24-821e-a2650104ad6d" providerId="AD"/>
      </p:ext>
    </p:extLst>
  </p:cmAuthor>
  <p:cmAuthor id="16" name="Lim, Yen Ping (Fynn)" initials="L(" lastIdx="8" clrIdx="15">
    <p:extLst>
      <p:ext uri="{19B8F6BF-5375-455C-9EA6-DF929625EA0E}">
        <p15:presenceInfo xmlns:p15="http://schemas.microsoft.com/office/powerpoint/2012/main" userId="S::kualimyp@corp.jti.com::525a2945-a468-48a4-8798-4320c60077ff" providerId="AD"/>
      </p:ext>
    </p:extLst>
  </p:cmAuthor>
  <p:cmAuthor id="17" name="Chong, Crystal" initials="CC" lastIdx="4" clrIdx="16">
    <p:extLst>
      <p:ext uri="{19B8F6BF-5375-455C-9EA6-DF929625EA0E}">
        <p15:presenceInfo xmlns:p15="http://schemas.microsoft.com/office/powerpoint/2012/main" userId="S::kuachongc@corp.jti.com::d3b25bd2-e090-4a14-88fa-ea464c19b5b9" providerId="AD"/>
      </p:ext>
    </p:extLst>
  </p:cmAuthor>
  <p:cmAuthor id="18" name="Polyakova, Alexandra" initials="PA" lastIdx="13" clrIdx="17">
    <p:extLst>
      <p:ext uri="{19B8F6BF-5375-455C-9EA6-DF929625EA0E}">
        <p15:presenceInfo xmlns:p15="http://schemas.microsoft.com/office/powerpoint/2012/main" userId="S::spbpolyaa@corp.jti.com::8426ce0f-1f14-446c-9762-b32f13d7d8d4" providerId="AD"/>
      </p:ext>
    </p:extLst>
  </p:cmAuthor>
  <p:cmAuthor id="19" name="Jarvis, Aaron" initials="JA" lastIdx="17" clrIdx="18">
    <p:extLst>
      <p:ext uri="{19B8F6BF-5375-455C-9EA6-DF929625EA0E}">
        <p15:presenceInfo xmlns:p15="http://schemas.microsoft.com/office/powerpoint/2012/main" userId="S::MANJARVIA@CORP.JTI.COM::26a134ec-3939-4533-807c-1ff3cfe41ae7" providerId="AD"/>
      </p:ext>
    </p:extLst>
  </p:cmAuthor>
  <p:cmAuthor id="20" name="Jarvis, Chris" initials="JC" lastIdx="4" clrIdx="19">
    <p:extLst>
      <p:ext uri="{19B8F6BF-5375-455C-9EA6-DF929625EA0E}">
        <p15:presenceInfo xmlns:p15="http://schemas.microsoft.com/office/powerpoint/2012/main" userId="S::manjarvic1@corp.jti.com::4151bf10-c6f8-44fb-9722-90b2018781db" providerId="AD"/>
      </p:ext>
    </p:extLst>
  </p:cmAuthor>
  <p:cmAuthor id="21" name="Kovzhik, Lina" initials="KL" lastIdx="10" clrIdx="20">
    <p:extLst>
      <p:ext uri="{19B8F6BF-5375-455C-9EA6-DF929625EA0E}">
        <p15:presenceInfo xmlns:p15="http://schemas.microsoft.com/office/powerpoint/2012/main" userId="S::spbkovzhl@corp.jti.com::666477bb-32b9-4dd3-90a8-a3c49814c101" providerId="AD"/>
      </p:ext>
    </p:extLst>
  </p:cmAuthor>
  <p:cmAuthor id="22" name="Harvey-Ascroft, Mike" initials="HM" lastIdx="1" clrIdx="21">
    <p:extLst>
      <p:ext uri="{19B8F6BF-5375-455C-9EA6-DF929625EA0E}">
        <p15:presenceInfo xmlns:p15="http://schemas.microsoft.com/office/powerpoint/2012/main" userId="S::manharvem@corp.jti.com::4d8eba1c-0aef-42c6-8f5f-fb79cd2a516a" providerId="AD"/>
      </p:ext>
    </p:extLst>
  </p:cmAuthor>
  <p:cmAuthor id="23" name="Vrzhesnevskaya, Eugenia" initials="VE" lastIdx="6" clrIdx="22">
    <p:extLst>
      <p:ext uri="{19B8F6BF-5375-455C-9EA6-DF929625EA0E}">
        <p15:presenceInfo xmlns:p15="http://schemas.microsoft.com/office/powerpoint/2012/main" userId="S::spbvrzhee@corp.jti.com::76edc36c-0c8b-48b9-8f3a-b38671d2a9a2" providerId="AD"/>
      </p:ext>
    </p:extLst>
  </p:cmAuthor>
  <p:cmAuthor id="24" name="Tolstaya, Aleksandra" initials="TA" lastIdx="8" clrIdx="23">
    <p:extLst>
      <p:ext uri="{19B8F6BF-5375-455C-9EA6-DF929625EA0E}">
        <p15:presenceInfo xmlns:p15="http://schemas.microsoft.com/office/powerpoint/2012/main" userId="S::spbtolsta@corp.jti.com::b1d6c31e-3cf3-468b-8ba5-69804c559cd4" providerId="AD"/>
      </p:ext>
    </p:extLst>
  </p:cmAuthor>
  <p:cmAuthor id="25" name="Matthews, Tamsin" initials="MT" lastIdx="5" clrIdx="24">
    <p:extLst>
      <p:ext uri="{19B8F6BF-5375-455C-9EA6-DF929625EA0E}">
        <p15:presenceInfo xmlns:p15="http://schemas.microsoft.com/office/powerpoint/2012/main" userId="S::manmattht@corp.jti.com::9da61704-b5a9-4579-add8-ec9a9822e6e4" providerId="AD"/>
      </p:ext>
    </p:extLst>
  </p:cmAuthor>
  <p:cmAuthor id="26" name="Koay, Li Min" initials="KM" lastIdx="2" clrIdx="25">
    <p:extLst>
      <p:ext uri="{19B8F6BF-5375-455C-9EA6-DF929625EA0E}">
        <p15:presenceInfo xmlns:p15="http://schemas.microsoft.com/office/powerpoint/2012/main" userId="S::kuakoaylm@corp.jti.com::703457b3-a307-46c3-8549-6b5de8d482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3C781"/>
    <a:srgbClr val="EAAA00"/>
    <a:srgbClr val="C3EBE9"/>
    <a:srgbClr val="7DD9A2"/>
    <a:srgbClr val="74D9D5"/>
    <a:srgbClr val="E6E6E6"/>
    <a:srgbClr val="0D3919"/>
    <a:srgbClr val="005855"/>
    <a:srgbClr val="005955"/>
    <a:srgbClr val="606F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792"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 Wei" userId="627587dd-935f-4f2b-a6c6-edd4e0dcbff5" providerId="ADAL" clId="{6CFB148A-2F55-40E8-B85D-A4F3EA6B60FA}"/>
    <pc:docChg chg="delSld modSld delMainMaster">
      <pc:chgData name="Wang, Wei" userId="627587dd-935f-4f2b-a6c6-edd4e0dcbff5" providerId="ADAL" clId="{6CFB148A-2F55-40E8-B85D-A4F3EA6B60FA}" dt="2020-06-03T10:12:08.155" v="129" actId="20577"/>
      <pc:docMkLst>
        <pc:docMk/>
      </pc:docMkLst>
      <pc:sldChg chg="modSp del">
        <pc:chgData name="Wang, Wei" userId="627587dd-935f-4f2b-a6c6-edd4e0dcbff5" providerId="ADAL" clId="{6CFB148A-2F55-40E8-B85D-A4F3EA6B60FA}" dt="2020-06-03T10:04:09.835" v="127"/>
        <pc:sldMkLst>
          <pc:docMk/>
          <pc:sldMk cId="1713380516" sldId="2558"/>
        </pc:sldMkLst>
        <pc:spChg chg="mod">
          <ac:chgData name="Wang, Wei" userId="627587dd-935f-4f2b-a6c6-edd4e0dcbff5" providerId="ADAL" clId="{6CFB148A-2F55-40E8-B85D-A4F3EA6B60FA}" dt="2020-06-03T10:04:09.835" v="127"/>
          <ac:spMkLst>
            <pc:docMk/>
            <pc:sldMk cId="1713380516" sldId="2558"/>
            <ac:spMk id="13" creationId="{0649F98B-A097-4642-83C5-CFA52654BC92}"/>
          </ac:spMkLst>
        </pc:spChg>
      </pc:sldChg>
      <pc:sldChg chg="modSp del">
        <pc:chgData name="Wang, Wei" userId="627587dd-935f-4f2b-a6c6-edd4e0dcbff5" providerId="ADAL" clId="{6CFB148A-2F55-40E8-B85D-A4F3EA6B60FA}" dt="2020-05-22T10:55:03.121" v="57" actId="14100"/>
        <pc:sldMkLst>
          <pc:docMk/>
          <pc:sldMk cId="391170887" sldId="2638"/>
        </pc:sldMkLst>
        <pc:spChg chg="mod">
          <ac:chgData name="Wang, Wei" userId="627587dd-935f-4f2b-a6c6-edd4e0dcbff5" providerId="ADAL" clId="{6CFB148A-2F55-40E8-B85D-A4F3EA6B60FA}" dt="2020-05-22T10:55:00.977" v="56" actId="14100"/>
          <ac:spMkLst>
            <pc:docMk/>
            <pc:sldMk cId="391170887" sldId="2638"/>
            <ac:spMk id="4" creationId="{7DF6DE24-71F6-4B4D-B00E-1C92B20D83D9}"/>
          </ac:spMkLst>
        </pc:spChg>
        <pc:spChg chg="mod">
          <ac:chgData name="Wang, Wei" userId="627587dd-935f-4f2b-a6c6-edd4e0dcbff5" providerId="ADAL" clId="{6CFB148A-2F55-40E8-B85D-A4F3EA6B60FA}" dt="2020-05-22T10:55:03.121" v="57" actId="14100"/>
          <ac:spMkLst>
            <pc:docMk/>
            <pc:sldMk cId="391170887" sldId="2638"/>
            <ac:spMk id="6" creationId="{BE07B137-E250-4AC5-81D1-F142F8E125F0}"/>
          </ac:spMkLst>
        </pc:spChg>
      </pc:sldChg>
      <pc:sldChg chg="del delCm">
        <pc:chgData name="Wang, Wei" userId="627587dd-935f-4f2b-a6c6-edd4e0dcbff5" providerId="ADAL" clId="{6CFB148A-2F55-40E8-B85D-A4F3EA6B60FA}" dt="2020-06-03T09:58:41.422" v="63"/>
        <pc:sldMkLst>
          <pc:docMk/>
          <pc:sldMk cId="4262673835" sldId="3314"/>
        </pc:sldMkLst>
      </pc:sldChg>
      <pc:sldChg chg="del delCm">
        <pc:chgData name="Wang, Wei" userId="627587dd-935f-4f2b-a6c6-edd4e0dcbff5" providerId="ADAL" clId="{6CFB148A-2F55-40E8-B85D-A4F3EA6B60FA}" dt="2020-06-03T09:58:41.422" v="63"/>
        <pc:sldMkLst>
          <pc:docMk/>
          <pc:sldMk cId="3335184793" sldId="3315"/>
        </pc:sldMkLst>
      </pc:sldChg>
      <pc:sldChg chg="addSp modSp del delCm">
        <pc:chgData name="Wang, Wei" userId="627587dd-935f-4f2b-a6c6-edd4e0dcbff5" providerId="ADAL" clId="{6CFB148A-2F55-40E8-B85D-A4F3EA6B60FA}" dt="2020-06-03T10:01:22.430" v="126" actId="208"/>
        <pc:sldMkLst>
          <pc:docMk/>
          <pc:sldMk cId="2947608363" sldId="3318"/>
        </pc:sldMkLst>
        <pc:spChg chg="add mod">
          <ac:chgData name="Wang, Wei" userId="627587dd-935f-4f2b-a6c6-edd4e0dcbff5" providerId="ADAL" clId="{6CFB148A-2F55-40E8-B85D-A4F3EA6B60FA}" dt="2020-06-03T10:00:48.348" v="106" actId="14100"/>
          <ac:spMkLst>
            <pc:docMk/>
            <pc:sldMk cId="2947608363" sldId="3318"/>
            <ac:spMk id="3" creationId="{B94B64DD-FED9-4BF2-8B1B-C5EDD6D5E1A0}"/>
          </ac:spMkLst>
        </pc:spChg>
        <pc:spChg chg="add mod">
          <ac:chgData name="Wang, Wei" userId="627587dd-935f-4f2b-a6c6-edd4e0dcbff5" providerId="ADAL" clId="{6CFB148A-2F55-40E8-B85D-A4F3EA6B60FA}" dt="2020-06-03T10:01:22.430" v="126" actId="208"/>
          <ac:spMkLst>
            <pc:docMk/>
            <pc:sldMk cId="2947608363" sldId="3318"/>
            <ac:spMk id="26" creationId="{8AE87DFC-5F3E-4351-AAA9-17C6AE4B988E}"/>
          </ac:spMkLst>
        </pc:spChg>
        <pc:cxnChg chg="mod">
          <ac:chgData name="Wang, Wei" userId="627587dd-935f-4f2b-a6c6-edd4e0dcbff5" providerId="ADAL" clId="{6CFB148A-2F55-40E8-B85D-A4F3EA6B60FA}" dt="2020-06-03T10:00:23.553" v="93" actId="1035"/>
          <ac:cxnSpMkLst>
            <pc:docMk/>
            <pc:sldMk cId="2947608363" sldId="3318"/>
            <ac:cxnSpMk id="30" creationId="{65F012D0-B450-4688-B280-3E21D069A75A}"/>
          </ac:cxnSpMkLst>
        </pc:cxnChg>
        <pc:cxnChg chg="mod">
          <ac:chgData name="Wang, Wei" userId="627587dd-935f-4f2b-a6c6-edd4e0dcbff5" providerId="ADAL" clId="{6CFB148A-2F55-40E8-B85D-A4F3EA6B60FA}" dt="2020-06-03T10:00:30.420" v="97" actId="14100"/>
          <ac:cxnSpMkLst>
            <pc:docMk/>
            <pc:sldMk cId="2947608363" sldId="3318"/>
            <ac:cxnSpMk id="36" creationId="{921B2B5B-C612-43F5-B186-8CA5B5142C95}"/>
          </ac:cxnSpMkLst>
        </pc:cxnChg>
      </pc:sldChg>
      <pc:sldChg chg="modSp delCm">
        <pc:chgData name="Wang, Wei" userId="627587dd-935f-4f2b-a6c6-edd4e0dcbff5" providerId="ADAL" clId="{6CFB148A-2F55-40E8-B85D-A4F3EA6B60FA}" dt="2020-06-03T10:12:08.155" v="129" actId="20577"/>
        <pc:sldMkLst>
          <pc:docMk/>
          <pc:sldMk cId="1140484124" sldId="3404"/>
        </pc:sldMkLst>
        <pc:spChg chg="mod">
          <ac:chgData name="Wang, Wei" userId="627587dd-935f-4f2b-a6c6-edd4e0dcbff5" providerId="ADAL" clId="{6CFB148A-2F55-40E8-B85D-A4F3EA6B60FA}" dt="2020-06-03T10:12:08.155" v="129" actId="20577"/>
          <ac:spMkLst>
            <pc:docMk/>
            <pc:sldMk cId="1140484124" sldId="3404"/>
            <ac:spMk id="2" creationId="{E5AC0FA6-B6C7-4D4A-A8D5-F1E967BF25B2}"/>
          </ac:spMkLst>
        </pc:spChg>
      </pc:sldChg>
      <pc:sldMasterChg chg="delSldLayout">
        <pc:chgData name="Wang, Wei" userId="627587dd-935f-4f2b-a6c6-edd4e0dcbff5" providerId="ADAL" clId="{6CFB148A-2F55-40E8-B85D-A4F3EA6B60FA}" dt="2020-06-03T09:58:19.834" v="59" actId="2696"/>
        <pc:sldMasterMkLst>
          <pc:docMk/>
          <pc:sldMasterMk cId="2216067138" sldId="2147483931"/>
        </pc:sldMasterMkLst>
        <pc:sldLayoutChg chg="del">
          <pc:chgData name="Wang, Wei" userId="627587dd-935f-4f2b-a6c6-edd4e0dcbff5" providerId="ADAL" clId="{6CFB148A-2F55-40E8-B85D-A4F3EA6B60FA}" dt="2020-06-03T09:58:19.834" v="59" actId="2696"/>
          <pc:sldLayoutMkLst>
            <pc:docMk/>
            <pc:sldMasterMk cId="2216067138" sldId="2147483931"/>
            <pc:sldLayoutMk cId="3162750045" sldId="2147483996"/>
          </pc:sldLayoutMkLst>
        </pc:sldLayoutChg>
      </pc:sldMasterChg>
    </pc:docChg>
  </pc:docChgLst>
  <pc:docChgLst>
    <pc:chgData name="Wang, Wei" userId="627587dd-935f-4f2b-a6c6-edd4e0dcbff5" providerId="ADAL" clId="{53DD63AB-EAAE-4112-AA16-1C2347036AF2}"/>
    <pc:docChg chg="custSel modSld">
      <pc:chgData name="Wang, Wei" userId="627587dd-935f-4f2b-a6c6-edd4e0dcbff5" providerId="ADAL" clId="{53DD63AB-EAAE-4112-AA16-1C2347036AF2}" dt="2024-04-25T18:23:47.239" v="3" actId="313"/>
      <pc:docMkLst>
        <pc:docMk/>
      </pc:docMkLst>
      <pc:sldChg chg="modSp mod">
        <pc:chgData name="Wang, Wei" userId="627587dd-935f-4f2b-a6c6-edd4e0dcbff5" providerId="ADAL" clId="{53DD63AB-EAAE-4112-AA16-1C2347036AF2}" dt="2024-04-25T18:23:47.239" v="3" actId="313"/>
        <pc:sldMkLst>
          <pc:docMk/>
          <pc:sldMk cId="1713380516" sldId="2558"/>
        </pc:sldMkLst>
        <pc:spChg chg="mod">
          <ac:chgData name="Wang, Wei" userId="627587dd-935f-4f2b-a6c6-edd4e0dcbff5" providerId="ADAL" clId="{53DD63AB-EAAE-4112-AA16-1C2347036AF2}" dt="2024-04-25T18:23:47.239" v="3" actId="313"/>
          <ac:spMkLst>
            <pc:docMk/>
            <pc:sldMk cId="1713380516" sldId="2558"/>
            <ac:spMk id="13" creationId="{0649F98B-A097-4642-83C5-CFA52654BC92}"/>
          </ac:spMkLst>
        </pc:spChg>
      </pc:sldChg>
      <pc:sldChg chg="modSp mod">
        <pc:chgData name="Wang, Wei" userId="627587dd-935f-4f2b-a6c6-edd4e0dcbff5" providerId="ADAL" clId="{53DD63AB-EAAE-4112-AA16-1C2347036AF2}" dt="2024-04-25T18:23:44.102" v="1" actId="313"/>
        <pc:sldMkLst>
          <pc:docMk/>
          <pc:sldMk cId="4262673835" sldId="3314"/>
        </pc:sldMkLst>
        <pc:spChg chg="mod">
          <ac:chgData name="Wang, Wei" userId="627587dd-935f-4f2b-a6c6-edd4e0dcbff5" providerId="ADAL" clId="{53DD63AB-EAAE-4112-AA16-1C2347036AF2}" dt="2024-04-25T18:23:44.102" v="1" actId="313"/>
          <ac:spMkLst>
            <pc:docMk/>
            <pc:sldMk cId="4262673835" sldId="3314"/>
            <ac:spMk id="5" creationId="{45F95EF3-7599-40F1-BC7E-247951A21F76}"/>
          </ac:spMkLst>
        </pc:spChg>
      </pc:sldChg>
      <pc:sldChg chg="modSp mod">
        <pc:chgData name="Wang, Wei" userId="627587dd-935f-4f2b-a6c6-edd4e0dcbff5" providerId="ADAL" clId="{53DD63AB-EAAE-4112-AA16-1C2347036AF2}" dt="2024-04-25T18:23:45.471" v="2" actId="313"/>
        <pc:sldMkLst>
          <pc:docMk/>
          <pc:sldMk cId="3335184793" sldId="3315"/>
        </pc:sldMkLst>
        <pc:spChg chg="mod">
          <ac:chgData name="Wang, Wei" userId="627587dd-935f-4f2b-a6c6-edd4e0dcbff5" providerId="ADAL" clId="{53DD63AB-EAAE-4112-AA16-1C2347036AF2}" dt="2024-04-25T18:23:45.471" v="2" actId="313"/>
          <ac:spMkLst>
            <pc:docMk/>
            <pc:sldMk cId="3335184793" sldId="3315"/>
            <ac:spMk id="16" creationId="{F602B4F0-5D98-4157-B579-7381D0B9B34B}"/>
          </ac:spMkLst>
        </pc:spChg>
      </pc:sldChg>
    </pc:docChg>
  </pc:docChgLst>
  <pc:docChgLst>
    <pc:chgData name="Wang, Wei" userId="627587dd-935f-4f2b-a6c6-edd4e0dcbff5" providerId="ADAL" clId="{CA4E89E4-842A-4FC6-8E2B-51B2DA5662AB}"/>
    <pc:docChg chg="delSld">
      <pc:chgData name="Wang, Wei" userId="627587dd-935f-4f2b-a6c6-edd4e0dcbff5" providerId="ADAL" clId="{CA4E89E4-842A-4FC6-8E2B-51B2DA5662AB}" dt="2020-05-21T16:16:09.340" v="8" actId="2696"/>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D2E298-1248-4401-9F3E-79067294A229}" type="datetimeFigureOut">
              <a:rPr lang="en-GB" smtClean="0"/>
              <a:t>25/04/2024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944EB3-E743-414B-A21A-64E051E5FA09}" type="slidenum">
              <a:rPr lang="en-GB" smtClean="0"/>
              <a:t>‹#›</a:t>
            </a:fld>
            <a:endParaRPr lang="en-GB"/>
          </a:p>
        </p:txBody>
      </p:sp>
    </p:spTree>
    <p:extLst>
      <p:ext uri="{BB962C8B-B14F-4D97-AF65-F5344CB8AC3E}">
        <p14:creationId xmlns:p14="http://schemas.microsoft.com/office/powerpoint/2010/main" val="1844677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4842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2944EB3-E743-414B-A21A-64E051E5FA09}"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48493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4.xml"/><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2" name="Group 21">
            <a:extLst>
              <a:ext uri="{FF2B5EF4-FFF2-40B4-BE49-F238E27FC236}">
                <a16:creationId xmlns:a16="http://schemas.microsoft.com/office/drawing/2014/main" id="{119BDA20-998B-457A-B579-10860DCD0A1C}"/>
              </a:ext>
            </a:extLst>
          </p:cNvPr>
          <p:cNvGrpSpPr/>
          <p:nvPr userDrawn="1"/>
        </p:nvGrpSpPr>
        <p:grpSpPr>
          <a:xfrm>
            <a:off x="534277" y="380597"/>
            <a:ext cx="902611" cy="902611"/>
            <a:chOff x="515937" y="326276"/>
            <a:chExt cx="902611" cy="902611"/>
          </a:xfrm>
        </p:grpSpPr>
        <p:grpSp>
          <p:nvGrpSpPr>
            <p:cNvPr id="23" name="Group 22">
              <a:extLst>
                <a:ext uri="{FF2B5EF4-FFF2-40B4-BE49-F238E27FC236}">
                  <a16:creationId xmlns:a16="http://schemas.microsoft.com/office/drawing/2014/main" id="{461574AA-36DC-4AA1-8288-BB699FC616CA}"/>
                </a:ext>
              </a:extLst>
            </p:cNvPr>
            <p:cNvGrpSpPr/>
            <p:nvPr/>
          </p:nvGrpSpPr>
          <p:grpSpPr>
            <a:xfrm>
              <a:off x="515937" y="326276"/>
              <a:ext cx="902611" cy="902611"/>
              <a:chOff x="4492144" y="190843"/>
              <a:chExt cx="855656" cy="855656"/>
            </a:xfrm>
          </p:grpSpPr>
          <p:sp>
            <p:nvSpPr>
              <p:cNvPr id="25" name="Oval 24">
                <a:extLst>
                  <a:ext uri="{FF2B5EF4-FFF2-40B4-BE49-F238E27FC236}">
                    <a16:creationId xmlns:a16="http://schemas.microsoft.com/office/drawing/2014/main" id="{1F46EE58-4E15-4047-BA0A-08D806BDD0C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6" name="Oval 25">
                <a:extLst>
                  <a:ext uri="{FF2B5EF4-FFF2-40B4-BE49-F238E27FC236}">
                    <a16:creationId xmlns:a16="http://schemas.microsoft.com/office/drawing/2014/main" id="{D491A383-0A05-4DB6-8C35-81A9AE683911}"/>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4" name="Picture 23">
              <a:extLst>
                <a:ext uri="{FF2B5EF4-FFF2-40B4-BE49-F238E27FC236}">
                  <a16:creationId xmlns:a16="http://schemas.microsoft.com/office/drawing/2014/main" id="{9B915A6A-1CF1-4842-9A60-D4810548BD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79366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rgbClr val="0059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a:extLst>
              <a:ext uri="{FF2B5EF4-FFF2-40B4-BE49-F238E27FC236}">
                <a16:creationId xmlns:a16="http://schemas.microsoft.com/office/drawing/2014/main" id="{D1121BA3-DFDA-4363-BC31-122FB93EABAF}"/>
              </a:ext>
            </a:extLst>
          </p:cNvPr>
          <p:cNvGrpSpPr/>
          <p:nvPr userDrawn="1"/>
        </p:nvGrpSpPr>
        <p:grpSpPr>
          <a:xfrm>
            <a:off x="480180" y="350564"/>
            <a:ext cx="902611" cy="902611"/>
            <a:chOff x="515937" y="326276"/>
            <a:chExt cx="902611" cy="902611"/>
          </a:xfrm>
        </p:grpSpPr>
        <p:grpSp>
          <p:nvGrpSpPr>
            <p:cNvPr id="22" name="Group 21">
              <a:extLst>
                <a:ext uri="{FF2B5EF4-FFF2-40B4-BE49-F238E27FC236}">
                  <a16:creationId xmlns:a16="http://schemas.microsoft.com/office/drawing/2014/main" id="{52474FB6-94CF-4B97-ACDD-CA64BE8D759B}"/>
                </a:ext>
              </a:extLst>
            </p:cNvPr>
            <p:cNvGrpSpPr/>
            <p:nvPr/>
          </p:nvGrpSpPr>
          <p:grpSpPr>
            <a:xfrm>
              <a:off x="515937" y="326276"/>
              <a:ext cx="902611" cy="902611"/>
              <a:chOff x="4492144" y="190843"/>
              <a:chExt cx="855656" cy="855656"/>
            </a:xfrm>
          </p:grpSpPr>
          <p:sp>
            <p:nvSpPr>
              <p:cNvPr id="29" name="Oval 28">
                <a:extLst>
                  <a:ext uri="{FF2B5EF4-FFF2-40B4-BE49-F238E27FC236}">
                    <a16:creationId xmlns:a16="http://schemas.microsoft.com/office/drawing/2014/main" id="{B9F5856B-5698-43AD-BCFC-2C10B8A97B78}"/>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Oval 29">
                <a:extLst>
                  <a:ext uri="{FF2B5EF4-FFF2-40B4-BE49-F238E27FC236}">
                    <a16:creationId xmlns:a16="http://schemas.microsoft.com/office/drawing/2014/main" id="{21963F15-A1C0-4470-B411-E0046E12E4B7}"/>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8" name="Picture 27">
              <a:extLst>
                <a:ext uri="{FF2B5EF4-FFF2-40B4-BE49-F238E27FC236}">
                  <a16:creationId xmlns:a16="http://schemas.microsoft.com/office/drawing/2014/main" id="{71FC43D5-4C18-40D6-9BB7-C5A28C7442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40103462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266652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rgbClr val="0058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a:extLst>
              <a:ext uri="{FF2B5EF4-FFF2-40B4-BE49-F238E27FC236}">
                <a16:creationId xmlns:a16="http://schemas.microsoft.com/office/drawing/2014/main" id="{E3E30CAE-C48E-4C10-823D-7B7B055C1621}"/>
              </a:ext>
            </a:extLst>
          </p:cNvPr>
          <p:cNvGrpSpPr/>
          <p:nvPr userDrawn="1"/>
        </p:nvGrpSpPr>
        <p:grpSpPr>
          <a:xfrm>
            <a:off x="445437" y="339706"/>
            <a:ext cx="902611" cy="902611"/>
            <a:chOff x="515937" y="326276"/>
            <a:chExt cx="902611" cy="902611"/>
          </a:xfrm>
        </p:grpSpPr>
        <p:grpSp>
          <p:nvGrpSpPr>
            <p:cNvPr id="19" name="Group 18">
              <a:extLst>
                <a:ext uri="{FF2B5EF4-FFF2-40B4-BE49-F238E27FC236}">
                  <a16:creationId xmlns:a16="http://schemas.microsoft.com/office/drawing/2014/main" id="{448B2734-2F5C-4117-AEB7-A94237D67448}"/>
                </a:ext>
              </a:extLst>
            </p:cNvPr>
            <p:cNvGrpSpPr/>
            <p:nvPr/>
          </p:nvGrpSpPr>
          <p:grpSpPr>
            <a:xfrm>
              <a:off x="515937" y="326276"/>
              <a:ext cx="902611" cy="902611"/>
              <a:chOff x="4492144" y="190843"/>
              <a:chExt cx="855656" cy="855656"/>
            </a:xfrm>
          </p:grpSpPr>
          <p:sp>
            <p:nvSpPr>
              <p:cNvPr id="26" name="Oval 25">
                <a:extLst>
                  <a:ext uri="{FF2B5EF4-FFF2-40B4-BE49-F238E27FC236}">
                    <a16:creationId xmlns:a16="http://schemas.microsoft.com/office/drawing/2014/main" id="{54C76669-00B0-4607-8644-F90CB369E0B5}"/>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7" name="Oval 26">
                <a:extLst>
                  <a:ext uri="{FF2B5EF4-FFF2-40B4-BE49-F238E27FC236}">
                    <a16:creationId xmlns:a16="http://schemas.microsoft.com/office/drawing/2014/main" id="{DCEA192E-2BDC-4203-AC54-8AD16575143B}"/>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5" name="Picture 24">
              <a:extLst>
                <a:ext uri="{FF2B5EF4-FFF2-40B4-BE49-F238E27FC236}">
                  <a16:creationId xmlns:a16="http://schemas.microsoft.com/office/drawing/2014/main" id="{F905EC3A-FD2E-44C9-BC8C-D41A7528EB3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6606420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252962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992479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181678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a:xfrm>
            <a:off x="7077073" y="6297521"/>
            <a:ext cx="4201727" cy="365125"/>
          </a:xfrm>
          <a:prstGeom prst="rect">
            <a:avLst/>
          </a:prstGeom>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51020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0521" y="19143"/>
            <a:ext cx="10837863" cy="1325563"/>
          </a:xfrm>
        </p:spPr>
        <p:txBody>
          <a:bodyPr>
            <a:normAutofit/>
          </a:bodyPr>
          <a:lstStyle>
            <a:lvl1pPr>
              <a:defRPr sz="3000">
                <a:latin typeface="Arial" charset="0"/>
                <a:ea typeface="Arial" charset="0"/>
                <a:cs typeface="Arial" charset="0"/>
              </a:defRPr>
            </a:lvl1pPr>
          </a:lstStyle>
          <a:p>
            <a:r>
              <a:rPr lang="en-US"/>
              <a:t>Click to edit Master title style</a:t>
            </a:r>
          </a:p>
        </p:txBody>
      </p:sp>
      <p:sp>
        <p:nvSpPr>
          <p:cNvPr id="5" name="Slide Number Placeholder 4"/>
          <p:cNvSpPr>
            <a:spLocks noGrp="1"/>
          </p:cNvSpPr>
          <p:nvPr>
            <p:ph type="sldNum" sz="quarter" idx="12"/>
          </p:nvPr>
        </p:nvSpPr>
        <p:spPr>
          <a:xfrm>
            <a:off x="9139383" y="6465095"/>
            <a:ext cx="2743200" cy="365125"/>
          </a:xfrm>
        </p:spPr>
        <p:txBody>
          <a:bodyPr/>
          <a:lstStyle>
            <a:lvl1pPr>
              <a:defRPr sz="800"/>
            </a:lvl1pPr>
          </a:lstStyle>
          <a:p>
            <a:fld id="{1A6A2304-23DC-2B46-BD14-F082077842FF}" type="slidenum">
              <a:rPr lang="en-US" smtClean="0"/>
              <a:pPr/>
              <a:t>‹#›</a:t>
            </a:fld>
            <a:endParaRPr lang="en-US"/>
          </a:p>
        </p:txBody>
      </p:sp>
      <p:sp>
        <p:nvSpPr>
          <p:cNvPr id="6" name="Rectangle 5"/>
          <p:cNvSpPr/>
          <p:nvPr/>
        </p:nvSpPr>
        <p:spPr>
          <a:xfrm>
            <a:off x="0" y="678875"/>
            <a:ext cx="207818" cy="5968783"/>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sp>
        <p:nvSpPr>
          <p:cNvPr id="18"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8" y="1695453"/>
            <a:ext cx="10837863" cy="496548"/>
          </a:xfrm>
        </p:spPr>
        <p:txBody>
          <a:bodyPr/>
          <a:lstStyle>
            <a:lvl3pPr marL="399930" indent="-195204">
              <a:defRPr/>
            </a:lvl3pPr>
          </a:lstStyle>
          <a:p>
            <a:pPr lvl="0"/>
            <a:r>
              <a:rPr lang="en-US"/>
              <a:t>Edit Master text styles</a:t>
            </a:r>
          </a:p>
        </p:txBody>
      </p:sp>
      <p:cxnSp>
        <p:nvCxnSpPr>
          <p:cNvPr id="19" name="Straight Connector 18"/>
          <p:cNvCxnSpPr/>
          <p:nvPr/>
        </p:nvCxnSpPr>
        <p:spPr>
          <a:xfrm>
            <a:off x="515939"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C8EE6D-3E29-41D5-BCF4-F699C8F035C9}"/>
              </a:ext>
            </a:extLst>
          </p:cNvPr>
          <p:cNvSpPr txBox="1"/>
          <p:nvPr/>
        </p:nvSpPr>
        <p:spPr>
          <a:xfrm>
            <a:off x="515938" y="6282533"/>
            <a:ext cx="1799722" cy="365125"/>
          </a:xfrm>
          <a:prstGeom prst="rect">
            <a:avLst/>
          </a:prstGeom>
          <a:noFill/>
        </p:spPr>
        <p:txBody>
          <a:bodyPr wrap="square" lIns="0" tIns="0" rIns="0" bIns="0" rtlCol="0" anchor="b" anchorCtr="0">
            <a:noAutofit/>
          </a:bodyPr>
          <a:lstStyle/>
          <a:p>
            <a:r>
              <a:rPr lang="en-GB" sz="800"/>
              <a:t>© JTI 2018 Confidential </a:t>
            </a:r>
          </a:p>
        </p:txBody>
      </p:sp>
      <p:grpSp>
        <p:nvGrpSpPr>
          <p:cNvPr id="9" name="Group 8"/>
          <p:cNvGrpSpPr/>
          <p:nvPr userDrawn="1"/>
        </p:nvGrpSpPr>
        <p:grpSpPr>
          <a:xfrm>
            <a:off x="10086109" y="394278"/>
            <a:ext cx="2105891" cy="569193"/>
            <a:chOff x="10086109" y="5763491"/>
            <a:chExt cx="2105891" cy="569193"/>
          </a:xfrm>
        </p:grpSpPr>
        <p:sp>
          <p:nvSpPr>
            <p:cNvPr id="10" name="Rectangle 9"/>
            <p:cNvSpPr/>
            <p:nvPr/>
          </p:nvSpPr>
          <p:spPr>
            <a:xfrm>
              <a:off x="10086109" y="5763491"/>
              <a:ext cx="2105891" cy="519040"/>
            </a:xfrm>
            <a:prstGeom prst="rect">
              <a:avLst/>
            </a:prstGeom>
            <a:solidFill>
              <a:srgbClr val="A7E6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1600"/>
            </a:p>
          </p:txBody>
        </p:sp>
        <p:grpSp>
          <p:nvGrpSpPr>
            <p:cNvPr id="11" name="Group 10"/>
            <p:cNvGrpSpPr/>
            <p:nvPr/>
          </p:nvGrpSpPr>
          <p:grpSpPr>
            <a:xfrm>
              <a:off x="10538695" y="5812704"/>
              <a:ext cx="1343888" cy="519980"/>
              <a:chOff x="515938" y="466803"/>
              <a:chExt cx="2499478" cy="967103"/>
            </a:xfrm>
          </p:grpSpPr>
          <p:grpSp>
            <p:nvGrpSpPr>
              <p:cNvPr id="12" name="Group 11"/>
              <p:cNvGrpSpPr/>
              <p:nvPr/>
            </p:nvGrpSpPr>
            <p:grpSpPr>
              <a:xfrm>
                <a:off x="515938" y="466803"/>
                <a:ext cx="281354" cy="780960"/>
                <a:chOff x="4342156" y="2541184"/>
                <a:chExt cx="219003" cy="683186"/>
              </a:xfrm>
            </p:grpSpPr>
            <p:sp>
              <p:nvSpPr>
                <p:cNvPr id="14" name="Rectangle 13"/>
                <p:cNvSpPr/>
                <p:nvPr/>
              </p:nvSpPr>
              <p:spPr>
                <a:xfrm>
                  <a:off x="4342156" y="2541184"/>
                  <a:ext cx="92606" cy="544709"/>
                </a:xfrm>
                <a:prstGeom prst="rect">
                  <a:avLst/>
                </a:prstGeom>
                <a:solidFill>
                  <a:srgbClr val="1A3140"/>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126" eaLnBrk="1" fontAlgn="auto" latinLnBrk="0" hangingPunct="1">
                    <a:lnSpc>
                      <a:spcPct val="100000"/>
                    </a:lnSpc>
                    <a:spcBef>
                      <a:spcPts val="0"/>
                    </a:spcBef>
                    <a:spcAft>
                      <a:spcPts val="0"/>
                    </a:spcAft>
                    <a:buClrTx/>
                    <a:buSzTx/>
                    <a:buFontTx/>
                    <a:buNone/>
                    <a:tabLst/>
                    <a:defRPr/>
                  </a:pPr>
                  <a:endParaRPr kumimoji="0" lang="en-GB" sz="1799" b="0" i="0" u="none" strike="noStrike" kern="0" cap="none" spc="0" normalizeH="0" baseline="0" noProof="0">
                    <a:ln>
                      <a:noFill/>
                    </a:ln>
                    <a:solidFill>
                      <a:srgbClr val="FFFFFF"/>
                    </a:solidFill>
                    <a:effectLst/>
                    <a:uLnTx/>
                    <a:uFillTx/>
                    <a:latin typeface="Arial"/>
                    <a:ea typeface="+mn-ea"/>
                    <a:cs typeface="+mn-cs"/>
                  </a:endParaRPr>
                </a:p>
              </p:txBody>
            </p:sp>
            <p:sp>
              <p:nvSpPr>
                <p:cNvPr id="15" name="Rounded Rectangle 14"/>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126"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3" name="TextBox 12"/>
              <p:cNvSpPr txBox="1"/>
              <p:nvPr/>
            </p:nvSpPr>
            <p:spPr>
              <a:xfrm>
                <a:off x="891194" y="589844"/>
                <a:ext cx="2124222" cy="844062"/>
              </a:xfrm>
              <a:prstGeom prst="rect">
                <a:avLst/>
              </a:prstGeom>
              <a:noFill/>
            </p:spPr>
            <p:txBody>
              <a:bodyPr wrap="square" lIns="0" tIns="0" rIns="0" bIns="0" rtlCol="0">
                <a:noAutofit/>
              </a:bodyPr>
              <a:lstStyle/>
              <a:p>
                <a:pPr algn="l"/>
                <a:r>
                  <a:rPr lang="en-US" sz="1999" b="1">
                    <a:solidFill>
                      <a:schemeClr val="bg1"/>
                    </a:solidFill>
                  </a:rPr>
                  <a:t>S4F-ERP</a:t>
                </a:r>
              </a:p>
            </p:txBody>
          </p:sp>
        </p:grpSp>
      </p:grpSp>
    </p:spTree>
    <p:extLst>
      <p:ext uri="{BB962C8B-B14F-4D97-AF65-F5344CB8AC3E}">
        <p14:creationId xmlns:p14="http://schemas.microsoft.com/office/powerpoint/2010/main" val="4285613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2918900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798914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1765145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8307073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7420729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mage Title">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46809"/>
            <a:ext cx="12192017" cy="4992630"/>
          </a:xfrm>
          <a:prstGeom prst="rect">
            <a:avLst/>
          </a:prstGeom>
        </p:spPr>
      </p:pic>
      <p:sp>
        <p:nvSpPr>
          <p:cNvPr id="6" name="Rectangle 5"/>
          <p:cNvSpPr/>
          <p:nvPr userDrawn="1"/>
        </p:nvSpPr>
        <p:spPr>
          <a:xfrm>
            <a:off x="0" y="4199439"/>
            <a:ext cx="12192000" cy="1440000"/>
          </a:xfrm>
          <a:prstGeom prst="rect">
            <a:avLst/>
          </a:prstGeom>
          <a:solidFill>
            <a:schemeClr val="accent3">
              <a:lumMod val="50000"/>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6480B215-A81F-481D-8C0E-6BF46A61563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1038999" y="5879560"/>
            <a:ext cx="829976" cy="621252"/>
          </a:xfrm>
          <a:prstGeom prst="rect">
            <a:avLst/>
          </a:prstGeom>
        </p:spPr>
      </p:pic>
      <p:sp>
        <p:nvSpPr>
          <p:cNvPr id="2" name="Title 1">
            <a:extLst>
              <a:ext uri="{FF2B5EF4-FFF2-40B4-BE49-F238E27FC236}">
                <a16:creationId xmlns:a16="http://schemas.microsoft.com/office/drawing/2014/main" id="{4D6C11B0-82D2-4B1D-A080-5DEC7B98E43A}"/>
              </a:ext>
            </a:extLst>
          </p:cNvPr>
          <p:cNvSpPr>
            <a:spLocks noGrp="1"/>
          </p:cNvSpPr>
          <p:nvPr>
            <p:ph type="ctrTitle"/>
          </p:nvPr>
        </p:nvSpPr>
        <p:spPr>
          <a:xfrm>
            <a:off x="514350" y="4199439"/>
            <a:ext cx="8472253" cy="1440000"/>
          </a:xfrm>
        </p:spPr>
        <p:txBody>
          <a:bodyPr anchor="ctr" anchorCtr="0"/>
          <a:lstStyle>
            <a:lvl1pPr algn="l">
              <a:defRPr sz="4400" b="1" cap="all" baseline="0">
                <a:solidFill>
                  <a:schemeClr val="bg1"/>
                </a:solidFill>
              </a:defRPr>
            </a:lvl1pPr>
          </a:lstStyle>
          <a:p>
            <a:r>
              <a:rPr lang="en-US"/>
              <a:t>Click to edit Master title style</a:t>
            </a:r>
            <a:endParaRPr lang="en-GB"/>
          </a:p>
        </p:txBody>
      </p:sp>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25975" y="4347939"/>
            <a:ext cx="1143000" cy="1143000"/>
          </a:xfrm>
          <a:prstGeom prst="rect">
            <a:avLst/>
          </a:prstGeom>
        </p:spPr>
      </p:pic>
    </p:spTree>
    <p:extLst>
      <p:ext uri="{BB962C8B-B14F-4D97-AF65-F5344CB8AC3E}">
        <p14:creationId xmlns:p14="http://schemas.microsoft.com/office/powerpoint/2010/main" val="40837328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6"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p:txBody>
          <a:bodyPr/>
          <a:lstStyle>
            <a:lvl3pPr marL="400050" indent="-195263">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5" name="Group 14"/>
          <p:cNvGrpSpPr/>
          <p:nvPr userDrawn="1"/>
        </p:nvGrpSpPr>
        <p:grpSpPr>
          <a:xfrm>
            <a:off x="515937" y="326276"/>
            <a:ext cx="902611" cy="902611"/>
            <a:chOff x="515937" y="326276"/>
            <a:chExt cx="902611" cy="902611"/>
          </a:xfrm>
        </p:grpSpPr>
        <p:grpSp>
          <p:nvGrpSpPr>
            <p:cNvPr id="17" name="Group 16"/>
            <p:cNvGrpSpPr/>
            <p:nvPr/>
          </p:nvGrpSpPr>
          <p:grpSpPr>
            <a:xfrm>
              <a:off x="515937" y="326276"/>
              <a:ext cx="902611" cy="902611"/>
              <a:chOff x="4492144" y="190843"/>
              <a:chExt cx="855656" cy="855656"/>
            </a:xfrm>
          </p:grpSpPr>
          <p:sp>
            <p:nvSpPr>
              <p:cNvPr id="18" name="Oval 17"/>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2974280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2BE79-9CF6-49D0-828F-83304EE10FA4}"/>
              </a:ext>
            </a:extLst>
          </p:cNvPr>
          <p:cNvSpPr>
            <a:spLocks noGrp="1"/>
          </p:cNvSpPr>
          <p:nvPr>
            <p:ph type="title"/>
          </p:nvPr>
        </p:nvSpPr>
        <p:spPr>
          <a:xfrm>
            <a:off x="1511277" y="210344"/>
            <a:ext cx="8902723" cy="984247"/>
          </a:xfr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5131794-EBBB-48C2-B2AE-5771C52F061C}"/>
              </a:ext>
            </a:extLst>
          </p:cNvPr>
          <p:cNvSpPr>
            <a:spLocks noGrp="1"/>
          </p:cNvSpPr>
          <p:nvPr>
            <p:ph idx="1"/>
          </p:nvPr>
        </p:nvSpPr>
        <p:spPr>
          <a:xfrm>
            <a:off x="515937" y="1695450"/>
            <a:ext cx="4824413"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E9A396C8-82EE-4828-BB90-F70077CC6504}"/>
              </a:ext>
            </a:extLst>
          </p:cNvPr>
          <p:cNvSpPr>
            <a:spLocks noGrp="1"/>
          </p:cNvSpPr>
          <p:nvPr>
            <p:ph type="ftr" sz="quarter" idx="11"/>
          </p:nvPr>
        </p:nvSpPr>
        <p:spPr/>
        <p:txBody>
          <a:bodyPr/>
          <a:lstStyle/>
          <a:p>
            <a:r>
              <a:rPr lang="en-GB"/>
              <a:t>Presentation title in footer</a:t>
            </a:r>
          </a:p>
        </p:txBody>
      </p:sp>
      <p:sp>
        <p:nvSpPr>
          <p:cNvPr id="6" name="Slide Number Placeholder 5">
            <a:extLst>
              <a:ext uri="{FF2B5EF4-FFF2-40B4-BE49-F238E27FC236}">
                <a16:creationId xmlns:a16="http://schemas.microsoft.com/office/drawing/2014/main" id="{033CAEA2-92AB-4512-A9D7-FD0A72486257}"/>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7" name="Content Placeholder 2">
            <a:extLst>
              <a:ext uri="{FF2B5EF4-FFF2-40B4-BE49-F238E27FC236}">
                <a16:creationId xmlns:a16="http://schemas.microsoft.com/office/drawing/2014/main" id="{50463241-5450-4976-8525-5C06611D08BF}"/>
              </a:ext>
            </a:extLst>
          </p:cNvPr>
          <p:cNvSpPr>
            <a:spLocks noGrp="1"/>
          </p:cNvSpPr>
          <p:nvPr>
            <p:ph idx="13"/>
          </p:nvPr>
        </p:nvSpPr>
        <p:spPr>
          <a:xfrm>
            <a:off x="5591175" y="1695450"/>
            <a:ext cx="6084886" cy="4587081"/>
          </a:xfrm>
        </p:spPr>
        <p:txBody>
          <a:bodyPr/>
          <a:lstStyle>
            <a:lvl1pPr>
              <a:defRPr sz="1400"/>
            </a:lvl1pPr>
            <a:lvl2pPr marL="165100" indent="-165100">
              <a:defRPr sz="1400"/>
            </a:lvl2pPr>
            <a:lvl3pPr marL="344488" indent="-160338">
              <a:defRPr sz="1200"/>
            </a:lvl3pPr>
            <a:lvl4pPr marL="544513" indent="-184150">
              <a:defRPr sz="1100"/>
            </a:lvl4pPr>
            <a:lvl5pPr marL="746125" indent="-176213">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9" name="Straight Connector 8"/>
          <p:cNvCxnSpPr/>
          <p:nvPr userDrawn="1"/>
        </p:nvCxnSpPr>
        <p:spPr>
          <a:xfrm>
            <a:off x="515938" y="1344706"/>
            <a:ext cx="11160123"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userDrawn="1"/>
        </p:nvGrpSpPr>
        <p:grpSpPr>
          <a:xfrm>
            <a:off x="10086109" y="417870"/>
            <a:ext cx="2105891" cy="569193"/>
            <a:chOff x="10086109" y="5763491"/>
            <a:chExt cx="2105891" cy="569193"/>
          </a:xfrm>
        </p:grpSpPr>
        <p:sp>
          <p:nvSpPr>
            <p:cNvPr id="11" name="Rectangle 10"/>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2" name="Group 11"/>
            <p:cNvGrpSpPr/>
            <p:nvPr/>
          </p:nvGrpSpPr>
          <p:grpSpPr>
            <a:xfrm>
              <a:off x="10538695" y="5812704"/>
              <a:ext cx="1343888" cy="519980"/>
              <a:chOff x="515938" y="466803"/>
              <a:chExt cx="2499478" cy="967103"/>
            </a:xfrm>
          </p:grpSpPr>
          <p:grpSp>
            <p:nvGrpSpPr>
              <p:cNvPr id="13" name="Group 12"/>
              <p:cNvGrpSpPr/>
              <p:nvPr/>
            </p:nvGrpSpPr>
            <p:grpSpPr>
              <a:xfrm>
                <a:off x="515938" y="466803"/>
                <a:ext cx="281354" cy="780960"/>
                <a:chOff x="4342156" y="2541184"/>
                <a:chExt cx="219003" cy="683186"/>
              </a:xfrm>
            </p:grpSpPr>
            <p:sp>
              <p:nvSpPr>
                <p:cNvPr id="15" name="Rectangle 14"/>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6" name="Rounded Rectangle 15"/>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4" name="TextBox 13"/>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7" name="Rectangle 16"/>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21" name="Group 20"/>
          <p:cNvGrpSpPr/>
          <p:nvPr userDrawn="1"/>
        </p:nvGrpSpPr>
        <p:grpSpPr>
          <a:xfrm>
            <a:off x="515937" y="326276"/>
            <a:ext cx="902611" cy="902611"/>
            <a:chOff x="515937" y="326276"/>
            <a:chExt cx="902611" cy="902611"/>
          </a:xfrm>
        </p:grpSpPr>
        <p:grpSp>
          <p:nvGrpSpPr>
            <p:cNvPr id="22" name="Group 21"/>
            <p:cNvGrpSpPr/>
            <p:nvPr/>
          </p:nvGrpSpPr>
          <p:grpSpPr>
            <a:xfrm>
              <a:off x="515937" y="326276"/>
              <a:ext cx="902611" cy="902611"/>
              <a:chOff x="4492144" y="190843"/>
              <a:chExt cx="855656" cy="855656"/>
            </a:xfrm>
          </p:grpSpPr>
          <p:sp>
            <p:nvSpPr>
              <p:cNvPr id="29" name="Oval 28"/>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8" name="Picture 2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9877717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108513E-D1D6-4909-A6A1-E798C38409CA}"/>
              </a:ext>
            </a:extLst>
          </p:cNvPr>
          <p:cNvSpPr>
            <a:spLocks noGrp="1"/>
          </p:cNvSpPr>
          <p:nvPr>
            <p:ph type="ftr" sz="quarter" idx="11"/>
          </p:nvPr>
        </p:nvSpPr>
        <p:spPr/>
        <p:txBody>
          <a:bodyPr/>
          <a:lstStyle/>
          <a:p>
            <a:r>
              <a:rPr lang="en-GB"/>
              <a:t>Presentation title in footer</a:t>
            </a:r>
          </a:p>
        </p:txBody>
      </p:sp>
      <p:sp>
        <p:nvSpPr>
          <p:cNvPr id="5" name="Slide Number Placeholder 4">
            <a:extLst>
              <a:ext uri="{FF2B5EF4-FFF2-40B4-BE49-F238E27FC236}">
                <a16:creationId xmlns:a16="http://schemas.microsoft.com/office/drawing/2014/main" id="{9881A9FA-9619-43AB-B085-D7F021094F68}"/>
              </a:ext>
            </a:extLst>
          </p:cNvPr>
          <p:cNvSpPr>
            <a:spLocks noGrp="1"/>
          </p:cNvSpPr>
          <p:nvPr>
            <p:ph type="sldNum" sz="quarter" idx="12"/>
          </p:nvPr>
        </p:nvSpPr>
        <p:spPr/>
        <p:txBody>
          <a:bodyPr/>
          <a:lstStyle/>
          <a:p>
            <a:fld id="{F4C94289-3309-4C35-850A-56FD49B3E346}" type="slidenum">
              <a:rPr lang="en-GB" smtClean="0"/>
              <a:t>‹#›</a:t>
            </a:fld>
            <a:endParaRPr lang="en-GB"/>
          </a:p>
        </p:txBody>
      </p:sp>
      <p:sp>
        <p:nvSpPr>
          <p:cNvPr id="6" name="Title 5"/>
          <p:cNvSpPr>
            <a:spLocks noGrp="1"/>
          </p:cNvSpPr>
          <p:nvPr>
            <p:ph type="title"/>
          </p:nvPr>
        </p:nvSpPr>
        <p:spPr>
          <a:xfrm>
            <a:off x="1511277" y="210344"/>
            <a:ext cx="8902723" cy="984247"/>
          </a:xfrm>
        </p:spPr>
        <p:txBody>
          <a:bodyPr/>
          <a:lstStyle/>
          <a:p>
            <a:r>
              <a:rPr lang="en-US"/>
              <a:t>Click to edit Master title style</a:t>
            </a:r>
          </a:p>
        </p:txBody>
      </p:sp>
      <p:grpSp>
        <p:nvGrpSpPr>
          <p:cNvPr id="7" name="Group 6"/>
          <p:cNvGrpSpPr/>
          <p:nvPr userDrawn="1"/>
        </p:nvGrpSpPr>
        <p:grpSpPr>
          <a:xfrm>
            <a:off x="10086109" y="417870"/>
            <a:ext cx="2105891" cy="569193"/>
            <a:chOff x="10086109" y="5763491"/>
            <a:chExt cx="2105891" cy="569193"/>
          </a:xfrm>
        </p:grpSpPr>
        <p:sp>
          <p:nvSpPr>
            <p:cNvPr id="8" name="Rectangle 7"/>
            <p:cNvSpPr/>
            <p:nvPr/>
          </p:nvSpPr>
          <p:spPr>
            <a:xfrm>
              <a:off x="10086109" y="5763491"/>
              <a:ext cx="2105891" cy="51904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9" name="Group 8"/>
            <p:cNvGrpSpPr/>
            <p:nvPr/>
          </p:nvGrpSpPr>
          <p:grpSpPr>
            <a:xfrm>
              <a:off x="10538695" y="5812704"/>
              <a:ext cx="1343888" cy="519980"/>
              <a:chOff x="515938" y="466803"/>
              <a:chExt cx="2499478" cy="967103"/>
            </a:xfrm>
          </p:grpSpPr>
          <p:grpSp>
            <p:nvGrpSpPr>
              <p:cNvPr id="10" name="Group 9"/>
              <p:cNvGrpSpPr/>
              <p:nvPr/>
            </p:nvGrpSpPr>
            <p:grpSpPr>
              <a:xfrm>
                <a:off x="515938" y="466803"/>
                <a:ext cx="281354" cy="780960"/>
                <a:chOff x="4342156" y="2541184"/>
                <a:chExt cx="219003" cy="683186"/>
              </a:xfrm>
            </p:grpSpPr>
            <p:sp>
              <p:nvSpPr>
                <p:cNvPr id="12" name="Rectangle 11"/>
                <p:cNvSpPr/>
                <p:nvPr/>
              </p:nvSpPr>
              <p:spPr>
                <a:xfrm>
                  <a:off x="4342156" y="2541184"/>
                  <a:ext cx="92606" cy="544709"/>
                </a:xfrm>
                <a:prstGeom prst="rect">
                  <a:avLst/>
                </a:prstGeom>
                <a:solidFill>
                  <a:schemeClr val="tx2"/>
                </a:solidFill>
                <a:ln w="19050" cap="flat" cmpd="sng" algn="ctr">
                  <a:no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rgbClr val="FFFFFF"/>
                    </a:solidFill>
                    <a:effectLst/>
                    <a:uLnTx/>
                    <a:uFillTx/>
                    <a:latin typeface="Arial"/>
                    <a:ea typeface="+mn-ea"/>
                    <a:cs typeface="+mn-cs"/>
                  </a:endParaRPr>
                </a:p>
              </p:txBody>
            </p:sp>
            <p:sp>
              <p:nvSpPr>
                <p:cNvPr id="13" name="Rounded Rectangle 12"/>
                <p:cNvSpPr/>
                <p:nvPr/>
              </p:nvSpPr>
              <p:spPr bwMode="auto">
                <a:xfrm>
                  <a:off x="4475003" y="2541184"/>
                  <a:ext cx="86156" cy="683186"/>
                </a:xfrm>
                <a:prstGeom prst="roundRect">
                  <a:avLst>
                    <a:gd name="adj" fmla="val 6597"/>
                  </a:avLst>
                </a:prstGeom>
                <a:solidFill>
                  <a:schemeClr val="bg1"/>
                </a:solidFill>
                <a:ln>
                  <a:noFill/>
                </a:ln>
                <a:effectLst/>
              </p:spPr>
              <p:txBody>
                <a:bodyPr vert="horz" wrap="square" lIns="0" tIns="0" rIns="0" bIns="0" numCol="1" rtlCol="0" anchor="ctr" anchorCtr="1" compatLnSpc="1">
                  <a:prstTxWarp prst="textNoShape">
                    <a:avLst/>
                  </a:prstTxWarp>
                </a:bodyPr>
                <a:lstStyle/>
                <a:p>
                  <a:pPr marL="0" marR="0" lvl="0" indent="0" defTabSz="914400" eaLnBrk="1" fontAlgn="base" latinLnBrk="0" hangingPunct="1">
                    <a:lnSpc>
                      <a:spcPct val="100000"/>
                    </a:lnSpc>
                    <a:spcBef>
                      <a:spcPct val="20000"/>
                    </a:spcBef>
                    <a:spcAft>
                      <a:spcPct val="0"/>
                    </a:spcAft>
                    <a:buClrTx/>
                    <a:buSzTx/>
                    <a:buFontTx/>
                    <a:buNone/>
                    <a:tabLst/>
                    <a:defRPr/>
                  </a:pPr>
                  <a:endParaRPr kumimoji="0" lang="en-US" sz="1500" b="0" i="0" u="none" strike="noStrike" kern="0" cap="none" spc="0" normalizeH="0" baseline="0" noProof="0">
                    <a:ln>
                      <a:noFill/>
                    </a:ln>
                    <a:solidFill>
                      <a:srgbClr val="122632"/>
                    </a:solidFill>
                    <a:effectLst/>
                    <a:uLnTx/>
                    <a:uFillTx/>
                    <a:ea typeface="ＭＳ Ｐゴシック" charset="0"/>
                  </a:endParaRPr>
                </a:p>
              </p:txBody>
            </p:sp>
          </p:grpSp>
          <p:sp>
            <p:nvSpPr>
              <p:cNvPr id="11" name="TextBox 10"/>
              <p:cNvSpPr txBox="1"/>
              <p:nvPr/>
            </p:nvSpPr>
            <p:spPr>
              <a:xfrm>
                <a:off x="891194" y="589844"/>
                <a:ext cx="2124222" cy="844062"/>
              </a:xfrm>
              <a:prstGeom prst="rect">
                <a:avLst/>
              </a:prstGeom>
              <a:noFill/>
            </p:spPr>
            <p:txBody>
              <a:bodyPr wrap="square" lIns="0" tIns="0" rIns="0" bIns="0" rtlCol="0">
                <a:noAutofit/>
              </a:bodyPr>
              <a:lstStyle/>
              <a:p>
                <a:pPr algn="l"/>
                <a:r>
                  <a:rPr lang="en-US" sz="2000" b="1">
                    <a:solidFill>
                      <a:schemeClr val="bg1"/>
                    </a:solidFill>
                  </a:rPr>
                  <a:t>S4F-ERP</a:t>
                </a:r>
              </a:p>
            </p:txBody>
          </p:sp>
        </p:grpSp>
      </p:grpSp>
      <p:sp>
        <p:nvSpPr>
          <p:cNvPr id="14" name="Rectangle 13"/>
          <p:cNvSpPr/>
          <p:nvPr userDrawn="1"/>
        </p:nvSpPr>
        <p:spPr>
          <a:xfrm>
            <a:off x="0" y="678873"/>
            <a:ext cx="207818" cy="5968783"/>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nvGrpSpPr>
          <p:cNvPr id="18" name="Group 17"/>
          <p:cNvGrpSpPr/>
          <p:nvPr userDrawn="1"/>
        </p:nvGrpSpPr>
        <p:grpSpPr>
          <a:xfrm>
            <a:off x="515937" y="326276"/>
            <a:ext cx="902611" cy="902611"/>
            <a:chOff x="515937" y="326276"/>
            <a:chExt cx="902611" cy="902611"/>
          </a:xfrm>
        </p:grpSpPr>
        <p:grpSp>
          <p:nvGrpSpPr>
            <p:cNvPr id="19" name="Group 18"/>
            <p:cNvGrpSpPr/>
            <p:nvPr/>
          </p:nvGrpSpPr>
          <p:grpSpPr>
            <a:xfrm>
              <a:off x="515937" y="326276"/>
              <a:ext cx="902611" cy="902611"/>
              <a:chOff x="4492144" y="190843"/>
              <a:chExt cx="855656" cy="855656"/>
            </a:xfrm>
          </p:grpSpPr>
          <p:sp>
            <p:nvSpPr>
              <p:cNvPr id="26" name="Oval 25"/>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5" name="Picture 2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355954873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Only 03">
    <p:spTree>
      <p:nvGrpSpPr>
        <p:cNvPr id="1" name=""/>
        <p:cNvGrpSpPr/>
        <p:nvPr/>
      </p:nvGrpSpPr>
      <p:grpSpPr>
        <a:xfrm>
          <a:off x="0" y="0"/>
          <a:ext cx="0" cy="0"/>
          <a:chOff x="0" y="0"/>
          <a:chExt cx="0" cy="0"/>
        </a:xfrm>
      </p:grpSpPr>
      <p:grpSp>
        <p:nvGrpSpPr>
          <p:cNvPr id="6" name="Group 5"/>
          <p:cNvGrpSpPr/>
          <p:nvPr userDrawn="1"/>
        </p:nvGrpSpPr>
        <p:grpSpPr>
          <a:xfrm>
            <a:off x="0" y="-11151"/>
            <a:ext cx="12192000" cy="6869151"/>
            <a:chOff x="0" y="-11151"/>
            <a:chExt cx="12192000" cy="6869151"/>
          </a:xfrm>
        </p:grpSpPr>
        <p:grpSp>
          <p:nvGrpSpPr>
            <p:cNvPr id="7" name="Group 6"/>
            <p:cNvGrpSpPr/>
            <p:nvPr/>
          </p:nvGrpSpPr>
          <p:grpSpPr>
            <a:xfrm>
              <a:off x="0" y="30978"/>
              <a:ext cx="7346443" cy="6827022"/>
              <a:chOff x="0" y="30978"/>
              <a:chExt cx="7346443" cy="6827022"/>
            </a:xfrm>
          </p:grpSpPr>
          <p:sp>
            <p:nvSpPr>
              <p:cNvPr id="9" name="Freeform 8"/>
              <p:cNvSpPr/>
              <p:nvPr/>
            </p:nvSpPr>
            <p:spPr>
              <a:xfrm>
                <a:off x="0" y="30978"/>
                <a:ext cx="7346443" cy="6827022"/>
              </a:xfrm>
              <a:custGeom>
                <a:avLst/>
                <a:gdLst>
                  <a:gd name="connsiteX0" fmla="*/ 0 w 7346443"/>
                  <a:gd name="connsiteY0" fmla="*/ 0 h 6827022"/>
                  <a:gd name="connsiteX1" fmla="*/ 7346443 w 7346443"/>
                  <a:gd name="connsiteY1" fmla="*/ 6827022 h 6827022"/>
                  <a:gd name="connsiteX2" fmla="*/ 0 w 7346443"/>
                  <a:gd name="connsiteY2" fmla="*/ 6827022 h 6827022"/>
                </a:gdLst>
                <a:ahLst/>
                <a:cxnLst>
                  <a:cxn ang="0">
                    <a:pos x="connsiteX0" y="connsiteY0"/>
                  </a:cxn>
                  <a:cxn ang="0">
                    <a:pos x="connsiteX1" y="connsiteY1"/>
                  </a:cxn>
                  <a:cxn ang="0">
                    <a:pos x="connsiteX2" y="connsiteY2"/>
                  </a:cxn>
                </a:cxnLst>
                <a:rect l="l" t="t" r="r" b="b"/>
                <a:pathLst>
                  <a:path w="7346443" h="6827022">
                    <a:moveTo>
                      <a:pt x="0" y="0"/>
                    </a:moveTo>
                    <a:lnTo>
                      <a:pt x="7346443" y="6827022"/>
                    </a:lnTo>
                    <a:lnTo>
                      <a:pt x="0" y="6827022"/>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ru-RU"/>
              </a:p>
            </p:txBody>
          </p:sp>
          <p:sp>
            <p:nvSpPr>
              <p:cNvPr id="10" name="Freeform 9"/>
              <p:cNvSpPr/>
              <p:nvPr/>
            </p:nvSpPr>
            <p:spPr>
              <a:xfrm>
                <a:off x="0" y="1696574"/>
                <a:ext cx="802656" cy="1625366"/>
              </a:xfrm>
              <a:custGeom>
                <a:avLst/>
                <a:gdLst>
                  <a:gd name="connsiteX0" fmla="*/ 0 w 802656"/>
                  <a:gd name="connsiteY0" fmla="*/ 0 h 1625366"/>
                  <a:gd name="connsiteX1" fmla="*/ 152859 w 802656"/>
                  <a:gd name="connsiteY1" fmla="*/ 15410 h 1625366"/>
                  <a:gd name="connsiteX2" fmla="*/ 802656 w 802656"/>
                  <a:gd name="connsiteY2" fmla="*/ 812683 h 1625366"/>
                  <a:gd name="connsiteX3" fmla="*/ 152859 w 802656"/>
                  <a:gd name="connsiteY3" fmla="*/ 1609956 h 1625366"/>
                  <a:gd name="connsiteX4" fmla="*/ 0 w 802656"/>
                  <a:gd name="connsiteY4" fmla="*/ 1625366 h 1625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656" h="1625366">
                    <a:moveTo>
                      <a:pt x="0" y="0"/>
                    </a:moveTo>
                    <a:lnTo>
                      <a:pt x="152859" y="15410"/>
                    </a:lnTo>
                    <a:cubicBezTo>
                      <a:pt x="523697" y="91294"/>
                      <a:pt x="802656" y="419412"/>
                      <a:pt x="802656" y="812683"/>
                    </a:cubicBezTo>
                    <a:cubicBezTo>
                      <a:pt x="802656" y="1205955"/>
                      <a:pt x="523697" y="1534072"/>
                      <a:pt x="152859" y="1609956"/>
                    </a:cubicBezTo>
                    <a:lnTo>
                      <a:pt x="0" y="162536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8" name="Rectangle 7"/>
            <p:cNvSpPr/>
            <p:nvPr/>
          </p:nvSpPr>
          <p:spPr>
            <a:xfrm>
              <a:off x="6096000" y="-11151"/>
              <a:ext cx="6096000" cy="686915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6A2304-23DC-2B46-BD14-F082077842FF}" type="slidenum">
              <a:rPr lang="en-US" smtClean="0"/>
              <a:pPr/>
              <a:t>‹#›</a:t>
            </a:fld>
            <a:endParaRPr lang="en-US"/>
          </a:p>
        </p:txBody>
      </p:sp>
      <p:cxnSp>
        <p:nvCxnSpPr>
          <p:cNvPr id="12" name="Straight Connector 11"/>
          <p:cNvCxnSpPr/>
          <p:nvPr userDrawn="1"/>
        </p:nvCxnSpPr>
        <p:spPr>
          <a:xfrm>
            <a:off x="515939" y="1340547"/>
            <a:ext cx="9898061"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532335" y="210344"/>
            <a:ext cx="8881665" cy="984247"/>
          </a:xfrm>
        </p:spPr>
        <p:txBody>
          <a:bodyPr/>
          <a:lstStyle/>
          <a:p>
            <a:r>
              <a:rPr lang="en-US"/>
              <a:t>Click to edit Master title style</a:t>
            </a:r>
          </a:p>
        </p:txBody>
      </p:sp>
      <p:grpSp>
        <p:nvGrpSpPr>
          <p:cNvPr id="20" name="Group 19">
            <a:extLst>
              <a:ext uri="{FF2B5EF4-FFF2-40B4-BE49-F238E27FC236}">
                <a16:creationId xmlns:a16="http://schemas.microsoft.com/office/drawing/2014/main" id="{4D3E3ED3-E1D0-48F5-B172-777303D896C3}"/>
              </a:ext>
            </a:extLst>
          </p:cNvPr>
          <p:cNvGrpSpPr/>
          <p:nvPr userDrawn="1"/>
        </p:nvGrpSpPr>
        <p:grpSpPr>
          <a:xfrm>
            <a:off x="445437" y="339706"/>
            <a:ext cx="902611" cy="902611"/>
            <a:chOff x="515937" y="326276"/>
            <a:chExt cx="902611" cy="902611"/>
          </a:xfrm>
        </p:grpSpPr>
        <p:grpSp>
          <p:nvGrpSpPr>
            <p:cNvPr id="21" name="Group 20">
              <a:extLst>
                <a:ext uri="{FF2B5EF4-FFF2-40B4-BE49-F238E27FC236}">
                  <a16:creationId xmlns:a16="http://schemas.microsoft.com/office/drawing/2014/main" id="{21A762A3-16E6-49DD-8A26-37F5555A1037}"/>
                </a:ext>
              </a:extLst>
            </p:cNvPr>
            <p:cNvGrpSpPr/>
            <p:nvPr/>
          </p:nvGrpSpPr>
          <p:grpSpPr>
            <a:xfrm>
              <a:off x="515937" y="326276"/>
              <a:ext cx="902611" cy="902611"/>
              <a:chOff x="4492144" y="190843"/>
              <a:chExt cx="855656" cy="855656"/>
            </a:xfrm>
          </p:grpSpPr>
          <p:sp>
            <p:nvSpPr>
              <p:cNvPr id="23" name="Oval 22">
                <a:extLst>
                  <a:ext uri="{FF2B5EF4-FFF2-40B4-BE49-F238E27FC236}">
                    <a16:creationId xmlns:a16="http://schemas.microsoft.com/office/drawing/2014/main" id="{EACDF384-011B-4FDE-A421-145C11992406}"/>
                  </a:ext>
                </a:extLst>
              </p:cNvPr>
              <p:cNvSpPr/>
              <p:nvPr/>
            </p:nvSpPr>
            <p:spPr>
              <a:xfrm>
                <a:off x="4492144" y="190843"/>
                <a:ext cx="855656" cy="855656"/>
              </a:xfrm>
              <a:prstGeom prst="ellipse">
                <a:avLst/>
              </a:prstGeom>
              <a:solidFill>
                <a:schemeClr val="bg1"/>
              </a:solidFill>
              <a:ln w="76200">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4" name="Oval 23">
                <a:extLst>
                  <a:ext uri="{FF2B5EF4-FFF2-40B4-BE49-F238E27FC236}">
                    <a16:creationId xmlns:a16="http://schemas.microsoft.com/office/drawing/2014/main" id="{4C7C968A-376D-438A-92CD-5E062A0ACAE8}"/>
                  </a:ext>
                </a:extLst>
              </p:cNvPr>
              <p:cNvSpPr/>
              <p:nvPr/>
            </p:nvSpPr>
            <p:spPr>
              <a:xfrm>
                <a:off x="4551137" y="249836"/>
                <a:ext cx="737671" cy="737671"/>
              </a:xfrm>
              <a:prstGeom prst="ellipse">
                <a:avLst/>
              </a:prstGeom>
              <a:solidFill>
                <a:schemeClr val="accent3">
                  <a:lumMod val="50000"/>
                </a:schemeClr>
              </a:solidFill>
              <a:ln w="76200">
                <a:no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pic>
          <p:nvPicPr>
            <p:cNvPr id="22" name="Picture 21">
              <a:extLst>
                <a:ext uri="{FF2B5EF4-FFF2-40B4-BE49-F238E27FC236}">
                  <a16:creationId xmlns:a16="http://schemas.microsoft.com/office/drawing/2014/main" id="{00ADBB0A-57B8-4C48-B096-6520C0B734E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4659" y="554912"/>
              <a:ext cx="457200" cy="457200"/>
            </a:xfrm>
            <a:prstGeom prst="rect">
              <a:avLst/>
            </a:prstGeom>
          </p:spPr>
        </p:pic>
      </p:grpSp>
    </p:spTree>
    <p:extLst>
      <p:ext uri="{BB962C8B-B14F-4D97-AF65-F5344CB8AC3E}">
        <p14:creationId xmlns:p14="http://schemas.microsoft.com/office/powerpoint/2010/main" val="5535808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Divider 01">
    <p:spTree>
      <p:nvGrpSpPr>
        <p:cNvPr id="1" name=""/>
        <p:cNvGrpSpPr/>
        <p:nvPr/>
      </p:nvGrpSpPr>
      <p:grpSpPr>
        <a:xfrm>
          <a:off x="0" y="0"/>
          <a:ext cx="0" cy="0"/>
          <a:chOff x="0" y="0"/>
          <a:chExt cx="0" cy="0"/>
        </a:xfrm>
      </p:grpSpPr>
      <p:pic>
        <p:nvPicPr>
          <p:cNvPr id="8" name="Picture 7"/>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B55EFAC8-0232-4ACB-8A16-76099AC73170}"/>
              </a:ext>
            </a:extLst>
          </p:cNvPr>
          <p:cNvSpPr>
            <a:spLocks noGrp="1"/>
          </p:cNvSpPr>
          <p:nvPr>
            <p:ph type="title"/>
          </p:nvPr>
        </p:nvSpPr>
        <p:spPr>
          <a:xfrm>
            <a:off x="515938" y="1947863"/>
            <a:ext cx="8961437" cy="4334668"/>
          </a:xfrm>
        </p:spPr>
        <p:txBody>
          <a:bodyPr anchor="t" anchorCtr="0"/>
          <a:lstStyle>
            <a:lvl1pPr>
              <a:lnSpc>
                <a:spcPct val="80000"/>
              </a:lnSpc>
              <a:defRPr sz="5400" cap="all" spc="300" baseline="0">
                <a:solidFill>
                  <a:schemeClr val="bg1"/>
                </a:solidFill>
              </a:defRPr>
            </a:lvl1pPr>
          </a:lstStyle>
          <a:p>
            <a:r>
              <a:rPr lang="en-US"/>
              <a:t>Click to edit Master title style</a:t>
            </a:r>
            <a:endParaRPr lang="en-GB"/>
          </a:p>
        </p:txBody>
      </p:sp>
      <p:sp>
        <p:nvSpPr>
          <p:cNvPr id="5" name="Footer Placeholder 4">
            <a:extLst>
              <a:ext uri="{FF2B5EF4-FFF2-40B4-BE49-F238E27FC236}">
                <a16:creationId xmlns:a16="http://schemas.microsoft.com/office/drawing/2014/main" id="{93BBD97A-1CD4-44FA-84FA-934F1FF548CB}"/>
              </a:ext>
            </a:extLst>
          </p:cNvPr>
          <p:cNvSpPr>
            <a:spLocks noGrp="1"/>
          </p:cNvSpPr>
          <p:nvPr>
            <p:ph type="ftr" sz="quarter" idx="11"/>
          </p:nvPr>
        </p:nvSpPr>
        <p:spPr/>
        <p:txBody>
          <a:bodyPr/>
          <a:lstStyle>
            <a:lvl1pPr>
              <a:defRPr>
                <a:solidFill>
                  <a:schemeClr val="bg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7642C075-17B3-4F6A-89D1-B6091271B389}"/>
              </a:ext>
            </a:extLst>
          </p:cNvPr>
          <p:cNvSpPr>
            <a:spLocks noGrp="1"/>
          </p:cNvSpPr>
          <p:nvPr>
            <p:ph type="sldNum" sz="quarter" idx="12"/>
          </p:nvPr>
        </p:nvSpPr>
        <p:spPr/>
        <p:txBody>
          <a:bodyPr/>
          <a:lstStyle>
            <a:lvl1pPr>
              <a:defRPr>
                <a:solidFill>
                  <a:schemeClr val="bg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C104388B-09B7-42D5-B607-EFED05EEE73A}"/>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solidFill>
                  <a:schemeClr val="bg1"/>
                </a:solidFill>
              </a:rPr>
              <a:t>© </a:t>
            </a:r>
            <a:r>
              <a:rPr lang="en-GB" sz="800" err="1">
                <a:solidFill>
                  <a:schemeClr val="bg1"/>
                </a:solidFill>
              </a:rPr>
              <a:t>JTI</a:t>
            </a:r>
            <a:r>
              <a:rPr lang="en-GB" sz="800">
                <a:solidFill>
                  <a:schemeClr val="bg1"/>
                </a:solidFill>
              </a:rPr>
              <a:t> 2019 Confidential </a:t>
            </a:r>
          </a:p>
        </p:txBody>
      </p:sp>
      <p:pic>
        <p:nvPicPr>
          <p:cNvPr id="10" name="Picture 9">
            <a:extLst>
              <a:ext uri="{FF2B5EF4-FFF2-40B4-BE49-F238E27FC236}">
                <a16:creationId xmlns:a16="http://schemas.microsoft.com/office/drawing/2014/main" id="{DD2F868E-F9E5-4FD0-AA54-A0611266E9A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08226" y="1887473"/>
            <a:ext cx="767837" cy="574740"/>
          </a:xfrm>
          <a:prstGeom prst="rect">
            <a:avLst/>
          </a:prstGeom>
        </p:spPr>
      </p:pic>
      <p:sp>
        <p:nvSpPr>
          <p:cNvPr id="12" name="TextBox 11">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solidFill>
                  <a:schemeClr val="bg1"/>
                </a:solidFill>
                <a:latin typeface="+mn-lt"/>
                <a:ea typeface="Roboto" charset="0"/>
                <a:cs typeface="Roboto" charset="0"/>
              </a:rPr>
              <a:t>Simplify, Standardize, Accelerate </a:t>
            </a:r>
          </a:p>
        </p:txBody>
      </p:sp>
    </p:spTree>
    <p:extLst>
      <p:ext uri="{BB962C8B-B14F-4D97-AF65-F5344CB8AC3E}">
        <p14:creationId xmlns:p14="http://schemas.microsoft.com/office/powerpoint/2010/main" val="379280892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theme" Target="../theme/theme2.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theme" Target="../theme/theme3.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7.xml"/><Relationship Id="rId7" Type="http://schemas.openxmlformats.org/officeDocument/2006/relationships/theme" Target="../theme/theme4.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1059941870"/>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991" r:id="rId3"/>
    <p:sldLayoutId id="2147483848" r:id="rId4"/>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027459739"/>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94"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2216067138"/>
      </p:ext>
    </p:extLst>
  </p:cSld>
  <p:clrMap bg1="lt1" tx1="dk1" bg2="lt2" tx2="dk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97" r:id="rId5"/>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19571F-E128-4FF8-A846-91352A101459}"/>
              </a:ext>
            </a:extLst>
          </p:cNvPr>
          <p:cNvSpPr>
            <a:spLocks noGrp="1"/>
          </p:cNvSpPr>
          <p:nvPr>
            <p:ph type="title"/>
          </p:nvPr>
        </p:nvSpPr>
        <p:spPr>
          <a:xfrm>
            <a:off x="515939" y="210344"/>
            <a:ext cx="9898061" cy="984247"/>
          </a:xfrm>
          <a:prstGeom prst="rect">
            <a:avLst/>
          </a:prstGeom>
        </p:spPr>
        <p:txBody>
          <a:bodyPr vert="horz" lIns="0" tIns="0" rIns="0" bIns="0" rtlCol="0" anchor="b"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5B5EE3A9-E955-4AFD-9C72-3106238E9A39}"/>
              </a:ext>
            </a:extLst>
          </p:cNvPr>
          <p:cNvSpPr>
            <a:spLocks noGrp="1"/>
          </p:cNvSpPr>
          <p:nvPr>
            <p:ph type="body" idx="1"/>
          </p:nvPr>
        </p:nvSpPr>
        <p:spPr>
          <a:xfrm>
            <a:off x="515937" y="1695450"/>
            <a:ext cx="9898063" cy="4587081"/>
          </a:xfrm>
          <a:prstGeom prst="rect">
            <a:avLst/>
          </a:prstGeom>
        </p:spPr>
        <p:txBody>
          <a:bodyPr vert="horz" lIns="0" tIns="0" rIns="0" bIns="0" rtlCol="0" anchor="t" anchorCtr="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Footer Placeholder 4">
            <a:extLst>
              <a:ext uri="{FF2B5EF4-FFF2-40B4-BE49-F238E27FC236}">
                <a16:creationId xmlns:a16="http://schemas.microsoft.com/office/drawing/2014/main" id="{1317185E-8EC7-42C4-875B-7957276D6024}"/>
              </a:ext>
            </a:extLst>
          </p:cNvPr>
          <p:cNvSpPr>
            <a:spLocks noGrp="1"/>
          </p:cNvSpPr>
          <p:nvPr>
            <p:ph type="ftr" sz="quarter" idx="3"/>
          </p:nvPr>
        </p:nvSpPr>
        <p:spPr>
          <a:xfrm>
            <a:off x="7077073" y="6297521"/>
            <a:ext cx="4201727" cy="365125"/>
          </a:xfrm>
          <a:prstGeom prst="rect">
            <a:avLst/>
          </a:prstGeom>
        </p:spPr>
        <p:txBody>
          <a:bodyPr vert="horz" lIns="0" tIns="0" rIns="0" bIns="0" rtlCol="0" anchor="b" anchorCtr="0">
            <a:noAutofit/>
          </a:bodyPr>
          <a:lstStyle>
            <a:lvl1pPr algn="r">
              <a:defRPr sz="800">
                <a:solidFill>
                  <a:schemeClr val="tx1"/>
                </a:solidFill>
              </a:defRPr>
            </a:lvl1pPr>
          </a:lstStyle>
          <a:p>
            <a:r>
              <a:rPr lang="en-GB"/>
              <a:t>Presentation title in footer</a:t>
            </a:r>
          </a:p>
        </p:txBody>
      </p:sp>
      <p:sp>
        <p:nvSpPr>
          <p:cNvPr id="6" name="Slide Number Placeholder 5">
            <a:extLst>
              <a:ext uri="{FF2B5EF4-FFF2-40B4-BE49-F238E27FC236}">
                <a16:creationId xmlns:a16="http://schemas.microsoft.com/office/drawing/2014/main" id="{96A505A6-DE1E-455A-9F96-B1BC2DE26A3C}"/>
              </a:ext>
            </a:extLst>
          </p:cNvPr>
          <p:cNvSpPr>
            <a:spLocks noGrp="1"/>
          </p:cNvSpPr>
          <p:nvPr>
            <p:ph type="sldNum" sz="quarter" idx="4"/>
          </p:nvPr>
        </p:nvSpPr>
        <p:spPr>
          <a:xfrm>
            <a:off x="11278800" y="6297521"/>
            <a:ext cx="397261" cy="365125"/>
          </a:xfrm>
          <a:prstGeom prst="rect">
            <a:avLst/>
          </a:prstGeom>
        </p:spPr>
        <p:txBody>
          <a:bodyPr vert="horz" lIns="0" tIns="0" rIns="0" bIns="0" rtlCol="0" anchor="b" anchorCtr="0">
            <a:noAutofit/>
          </a:bodyPr>
          <a:lstStyle>
            <a:lvl1pPr algn="r">
              <a:defRPr sz="800">
                <a:solidFill>
                  <a:schemeClr val="tx1"/>
                </a:solidFill>
              </a:defRPr>
            </a:lvl1pPr>
          </a:lstStyle>
          <a:p>
            <a:fld id="{F4C94289-3309-4C35-850A-56FD49B3E346}" type="slidenum">
              <a:rPr lang="en-GB" smtClean="0"/>
              <a:pPr/>
              <a:t>‹#›</a:t>
            </a:fld>
            <a:endParaRPr lang="en-GB"/>
          </a:p>
        </p:txBody>
      </p:sp>
      <p:sp>
        <p:nvSpPr>
          <p:cNvPr id="9" name="TextBox 8">
            <a:extLst>
              <a:ext uri="{FF2B5EF4-FFF2-40B4-BE49-F238E27FC236}">
                <a16:creationId xmlns:a16="http://schemas.microsoft.com/office/drawing/2014/main" id="{E1E89007-8C14-45BA-9B75-C9A19A48430E}"/>
              </a:ext>
            </a:extLst>
          </p:cNvPr>
          <p:cNvSpPr txBox="1"/>
          <p:nvPr userDrawn="1"/>
        </p:nvSpPr>
        <p:spPr>
          <a:xfrm>
            <a:off x="515938" y="6282531"/>
            <a:ext cx="1799722" cy="365125"/>
          </a:xfrm>
          <a:prstGeom prst="rect">
            <a:avLst/>
          </a:prstGeom>
          <a:noFill/>
        </p:spPr>
        <p:txBody>
          <a:bodyPr wrap="square" lIns="0" tIns="0" rIns="0" bIns="0" rtlCol="0" anchor="b" anchorCtr="0">
            <a:noAutofit/>
          </a:bodyPr>
          <a:lstStyle/>
          <a:p>
            <a:r>
              <a:rPr lang="en-GB" sz="800"/>
              <a:t>© </a:t>
            </a:r>
            <a:r>
              <a:rPr lang="en-GB" sz="800" err="1"/>
              <a:t>JTI</a:t>
            </a:r>
            <a:r>
              <a:rPr lang="en-GB" sz="800"/>
              <a:t> 2019 Confidential </a:t>
            </a:r>
          </a:p>
        </p:txBody>
      </p:sp>
      <p:cxnSp>
        <p:nvCxnSpPr>
          <p:cNvPr id="11" name="Straight Connector 10">
            <a:extLst>
              <a:ext uri="{FF2B5EF4-FFF2-40B4-BE49-F238E27FC236}">
                <a16:creationId xmlns:a16="http://schemas.microsoft.com/office/drawing/2014/main" id="{4B558707-958B-46B5-B09F-9B53C1657C43}"/>
              </a:ext>
            </a:extLst>
          </p:cNvPr>
          <p:cNvCxnSpPr/>
          <p:nvPr userDrawn="1"/>
        </p:nvCxnSpPr>
        <p:spPr>
          <a:xfrm>
            <a:off x="515937" y="1343026"/>
            <a:ext cx="11160126"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1E89007-8C14-45BA-9B75-C9A19A48430E}"/>
              </a:ext>
            </a:extLst>
          </p:cNvPr>
          <p:cNvSpPr txBox="1"/>
          <p:nvPr userDrawn="1"/>
        </p:nvSpPr>
        <p:spPr>
          <a:xfrm>
            <a:off x="4703985" y="6535710"/>
            <a:ext cx="2802070" cy="276836"/>
          </a:xfrm>
          <a:prstGeom prst="rect">
            <a:avLst/>
          </a:prstGeom>
          <a:noFill/>
        </p:spPr>
        <p:txBody>
          <a:bodyPr wrap="square" lIns="0" tIns="0" rIns="0" bIns="0" rtlCol="0" anchor="t" anchorCtr="0">
            <a:noAutofit/>
          </a:bodyPr>
          <a:lstStyle/>
          <a:p>
            <a:pPr algn="ctr"/>
            <a:r>
              <a:rPr lang="en-US" sz="1000">
                <a:latin typeface="+mn-lt"/>
                <a:ea typeface="Roboto" charset="0"/>
                <a:cs typeface="Roboto" charset="0"/>
              </a:rPr>
              <a:t>Simplify, Standardize, Accelerate </a:t>
            </a:r>
          </a:p>
        </p:txBody>
      </p:sp>
    </p:spTree>
    <p:extLst>
      <p:ext uri="{BB962C8B-B14F-4D97-AF65-F5344CB8AC3E}">
        <p14:creationId xmlns:p14="http://schemas.microsoft.com/office/powerpoint/2010/main" val="3016387287"/>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800" kern="1200">
          <a:solidFill>
            <a:schemeClr val="tx1"/>
          </a:solidFill>
          <a:latin typeface="+mn-lt"/>
          <a:ea typeface="+mn-ea"/>
          <a:cs typeface="+mn-cs"/>
        </a:defRPr>
      </a:lvl1pPr>
      <a:lvl2pPr marL="179388" indent="-179388"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2pPr>
      <a:lvl3pPr marL="207963" indent="182563" algn="l" defTabSz="914400" rtl="0" eaLnBrk="1" latinLnBrk="0" hangingPunct="1">
        <a:lnSpc>
          <a:spcPct val="100000"/>
        </a:lnSpc>
        <a:spcBef>
          <a:spcPts val="400"/>
        </a:spcBef>
        <a:buFont typeface="Arial" panose="020B0604020202020204" pitchFamily="34" charset="0"/>
        <a:buChar char="•"/>
        <a:defRPr sz="1600" kern="1200">
          <a:solidFill>
            <a:schemeClr val="tx1"/>
          </a:solidFill>
          <a:latin typeface="+mn-lt"/>
          <a:ea typeface="+mn-ea"/>
          <a:cs typeface="+mn-cs"/>
        </a:defRPr>
      </a:lvl3pPr>
      <a:lvl4pPr marL="608013" indent="-19843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4pPr>
      <a:lvl5pPr marL="831850" indent="-204788" algn="l" defTabSz="914400" rtl="0" eaLnBrk="1" latinLnBrk="0" hangingPunct="1">
        <a:lnSpc>
          <a:spcPct val="100000"/>
        </a:lnSpc>
        <a:spcBef>
          <a:spcPts val="4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25">
          <p15:clr>
            <a:srgbClr val="F26B43"/>
          </p15:clr>
        </p15:guide>
        <p15:guide id="3" pos="7355">
          <p15:clr>
            <a:srgbClr val="F26B43"/>
          </p15:clr>
        </p15:guide>
        <p15:guide id="4" pos="3364">
          <p15:clr>
            <a:srgbClr val="F26B43"/>
          </p15:clr>
        </p15:guide>
        <p15:guide id="5" pos="3522">
          <p15:clr>
            <a:srgbClr val="F26B43"/>
          </p15:clr>
        </p15:guide>
        <p15:guide id="6" orient="horz" pos="1068">
          <p15:clr>
            <a:srgbClr val="F26B43"/>
          </p15:clr>
        </p15:guide>
        <p15:guide id="7" orient="horz" pos="3959">
          <p15:clr>
            <a:srgbClr val="F26B43"/>
          </p15:clr>
        </p15:guide>
        <p15:guide id="8" pos="3840">
          <p15:clr>
            <a:srgbClr val="F26B43"/>
          </p15:clr>
        </p15:guide>
        <p15:guide id="9" orient="horz" pos="21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9.xml"/><Relationship Id="rId5" Type="http://schemas.openxmlformats.org/officeDocument/2006/relationships/image" Target="../media/image9.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microsoft.com/office/2007/relationships/hdphoto" Target="../media/hdphoto2.wdp"/></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microsoft.com/office/2007/relationships/hdphoto" Target="../media/hdphoto3.wdp"/><Relationship Id="rId7"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16.xml"/><Relationship Id="rId6" Type="http://schemas.openxmlformats.org/officeDocument/2006/relationships/image" Target="../media/image13.png"/><Relationship Id="rId5" Type="http://schemas.microsoft.com/office/2007/relationships/hdphoto" Target="../media/hdphoto4.wdp"/><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8.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0" y="1325613"/>
            <a:ext cx="12192000" cy="4902408"/>
          </a:xfrm>
          <a:prstGeom prst="rect">
            <a:avLst/>
          </a:prstGeom>
        </p:spPr>
      </p:pic>
      <p:sp>
        <p:nvSpPr>
          <p:cNvPr id="38" name="Rectangle 37"/>
          <p:cNvSpPr/>
          <p:nvPr/>
        </p:nvSpPr>
        <p:spPr>
          <a:xfrm>
            <a:off x="0" y="1329406"/>
            <a:ext cx="12192000" cy="4902409"/>
          </a:xfrm>
          <a:prstGeom prst="rect">
            <a:avLst/>
          </a:prstGeom>
          <a:gradFill flip="none" rotWithShape="1">
            <a:gsLst>
              <a:gs pos="0">
                <a:schemeClr val="accent1">
                  <a:lumMod val="75000"/>
                </a:schemeClr>
              </a:gs>
              <a:gs pos="100000">
                <a:schemeClr val="accent1">
                  <a:lumMod val="20000"/>
                  <a:lumOff val="80000"/>
                  <a:alpha val="34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latin typeface="Arial" panose="020B0604020202020204"/>
            </a:endParaRP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4" name="Title 33"/>
          <p:cNvSpPr>
            <a:spLocks noGrp="1"/>
          </p:cNvSpPr>
          <p:nvPr>
            <p:ph type="title"/>
          </p:nvPr>
        </p:nvSpPr>
        <p:spPr/>
        <p:txBody>
          <a:bodyPr/>
          <a:lstStyle/>
          <a:p>
            <a:r>
              <a:rPr lang="en-GB"/>
              <a:t>Period End Closing Key Process Areas and New Period End Checks</a:t>
            </a:r>
          </a:p>
        </p:txBody>
      </p:sp>
      <p:sp>
        <p:nvSpPr>
          <p:cNvPr id="40" name="Rounded Rectangle 39"/>
          <p:cNvSpPr/>
          <p:nvPr/>
        </p:nvSpPr>
        <p:spPr>
          <a:xfrm>
            <a:off x="164492" y="3524970"/>
            <a:ext cx="3525625"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lvl="0" algn="ctr">
              <a:spcAft>
                <a:spcPts val="1000"/>
              </a:spcAft>
              <a:defRPr/>
            </a:pPr>
            <a:r>
              <a:rPr lang="en-GB" sz="1400" b="1">
                <a:solidFill>
                  <a:srgbClr val="000000"/>
                </a:solidFill>
                <a:latin typeface="Arial" charset="0"/>
                <a:cs typeface="Arial" charset="0"/>
              </a:rPr>
              <a:t>G/L Closing Activities for Financial Statement Preparation</a:t>
            </a:r>
          </a:p>
        </p:txBody>
      </p:sp>
      <p:sp>
        <p:nvSpPr>
          <p:cNvPr id="32" name="Rounded Rectangle 39">
            <a:extLst>
              <a:ext uri="{FF2B5EF4-FFF2-40B4-BE49-F238E27FC236}">
                <a16:creationId xmlns:a16="http://schemas.microsoft.com/office/drawing/2014/main" id="{95943B57-958A-4B14-9959-D27D9C2163B5}"/>
              </a:ext>
            </a:extLst>
          </p:cNvPr>
          <p:cNvSpPr/>
          <p:nvPr/>
        </p:nvSpPr>
        <p:spPr>
          <a:xfrm>
            <a:off x="5087053" y="5025947"/>
            <a:ext cx="2623046" cy="503694"/>
          </a:xfrm>
          <a:prstGeom prst="roundRect">
            <a:avLst>
              <a:gd name="adj" fmla="val 31330"/>
            </a:avLst>
          </a:prstGeom>
          <a:solidFill>
            <a:schemeClr val="accent1"/>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spcAft>
                <a:spcPts val="1000"/>
              </a:spcAft>
            </a:pPr>
            <a:r>
              <a:rPr lang="en-US" sz="1400" b="1">
                <a:solidFill>
                  <a:srgbClr val="000000"/>
                </a:solidFill>
                <a:latin typeface="Arial" charset="0"/>
                <a:cs typeface="Arial" charset="0"/>
              </a:rPr>
              <a:t>Functional Area Adjustment</a:t>
            </a:r>
          </a:p>
        </p:txBody>
      </p:sp>
      <p:sp>
        <p:nvSpPr>
          <p:cNvPr id="33" name="Rounded Rectangle 39">
            <a:extLst>
              <a:ext uri="{FF2B5EF4-FFF2-40B4-BE49-F238E27FC236}">
                <a16:creationId xmlns:a16="http://schemas.microsoft.com/office/drawing/2014/main" id="{72B7565A-673C-4ABF-AB86-333F67803ECD}"/>
              </a:ext>
            </a:extLst>
          </p:cNvPr>
          <p:cNvSpPr/>
          <p:nvPr/>
        </p:nvSpPr>
        <p:spPr>
          <a:xfrm>
            <a:off x="5087053" y="2654953"/>
            <a:ext cx="2623046"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latin typeface="Arial" panose="020B0604020202020204"/>
                <a:cs typeface="Arial"/>
              </a:rPr>
              <a:t>Currency Revaluation</a:t>
            </a:r>
          </a:p>
        </p:txBody>
      </p:sp>
      <p:cxnSp>
        <p:nvCxnSpPr>
          <p:cNvPr id="41" name="Elbow Connector 7">
            <a:extLst>
              <a:ext uri="{FF2B5EF4-FFF2-40B4-BE49-F238E27FC236}">
                <a16:creationId xmlns:a16="http://schemas.microsoft.com/office/drawing/2014/main" id="{9D5CB863-C719-46D6-930C-1EFAD313C26F}"/>
              </a:ext>
            </a:extLst>
          </p:cNvPr>
          <p:cNvCxnSpPr>
            <a:cxnSpLocks/>
          </p:cNvCxnSpPr>
          <p:nvPr/>
        </p:nvCxnSpPr>
        <p:spPr>
          <a:xfrm rot="16200000" flipH="1">
            <a:off x="3534061" y="3851968"/>
            <a:ext cx="2299014" cy="552637"/>
          </a:xfrm>
          <a:prstGeom prst="bentConnector3">
            <a:avLst>
              <a:gd name="adj1" fmla="val 99898"/>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53" name="Elbow Connector 4">
            <a:extLst>
              <a:ext uri="{FF2B5EF4-FFF2-40B4-BE49-F238E27FC236}">
                <a16:creationId xmlns:a16="http://schemas.microsoft.com/office/drawing/2014/main" id="{213A4D26-F0F8-4F27-B89A-429D9EA6A4EC}"/>
              </a:ext>
            </a:extLst>
          </p:cNvPr>
          <p:cNvCxnSpPr>
            <a:cxnSpLocks/>
          </p:cNvCxnSpPr>
          <p:nvPr/>
        </p:nvCxnSpPr>
        <p:spPr>
          <a:xfrm flipV="1">
            <a:off x="3940233" y="2906801"/>
            <a:ext cx="1044304" cy="797376"/>
          </a:xfrm>
          <a:prstGeom prst="bentConnector3">
            <a:avLst>
              <a:gd name="adj1" fmla="val 44428"/>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E7F26A0-7314-4FF1-BA92-49E05E717F58}"/>
              </a:ext>
            </a:extLst>
          </p:cNvPr>
          <p:cNvCxnSpPr>
            <a:cxnSpLocks/>
          </p:cNvCxnSpPr>
          <p:nvPr/>
        </p:nvCxnSpPr>
        <p:spPr>
          <a:xfrm>
            <a:off x="3854608" y="3707971"/>
            <a:ext cx="1105279" cy="6992"/>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
        <p:nvSpPr>
          <p:cNvPr id="13" name="Rounded Rectangle 39">
            <a:extLst>
              <a:ext uri="{FF2B5EF4-FFF2-40B4-BE49-F238E27FC236}">
                <a16:creationId xmlns:a16="http://schemas.microsoft.com/office/drawing/2014/main" id="{84DE1B7C-5151-4EC9-B9A5-B80A5BD549E1}"/>
              </a:ext>
            </a:extLst>
          </p:cNvPr>
          <p:cNvSpPr/>
          <p:nvPr/>
        </p:nvSpPr>
        <p:spPr>
          <a:xfrm>
            <a:off x="5087053" y="3445284"/>
            <a:ext cx="2623046"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latin typeface="Arial" panose="020B0604020202020204"/>
                <a:cs typeface="Arial"/>
              </a:rPr>
              <a:t>AP/AR Regrouping</a:t>
            </a:r>
          </a:p>
        </p:txBody>
      </p:sp>
      <p:sp>
        <p:nvSpPr>
          <p:cNvPr id="15" name="Rounded Rectangle 39">
            <a:extLst>
              <a:ext uri="{FF2B5EF4-FFF2-40B4-BE49-F238E27FC236}">
                <a16:creationId xmlns:a16="http://schemas.microsoft.com/office/drawing/2014/main" id="{94A33D2A-CF2C-4FBA-BC57-8CA71CBA9B2B}"/>
              </a:ext>
            </a:extLst>
          </p:cNvPr>
          <p:cNvSpPr/>
          <p:nvPr/>
        </p:nvSpPr>
        <p:spPr>
          <a:xfrm>
            <a:off x="5087053" y="4235615"/>
            <a:ext cx="2623046" cy="503694"/>
          </a:xfrm>
          <a:prstGeom prst="roundRect">
            <a:avLst>
              <a:gd name="adj" fmla="val 31330"/>
            </a:avLst>
          </a:prstGeom>
          <a:solidFill>
            <a:schemeClr val="accent6">
              <a:lumMod val="75000"/>
            </a:schemeClr>
          </a:solidFill>
          <a:ln w="50800">
            <a:solidFill>
              <a:schemeClr val="bg1"/>
            </a:solidFill>
          </a:ln>
          <a:effectLst>
            <a:innerShdw blurRad="63500" dist="50800" dir="135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tIns="46800" rIns="90000" rtlCol="0" anchor="ctr"/>
          <a:lstStyle/>
          <a:p>
            <a:pPr algn="ctr"/>
            <a:r>
              <a:rPr lang="en-US" sz="1400" b="1">
                <a:solidFill>
                  <a:srgbClr val="FFFFFF"/>
                </a:solidFill>
                <a:latin typeface="Arial" panose="020B0604020202020204"/>
                <a:cs typeface="Arial"/>
              </a:rPr>
              <a:t>Currency Translation</a:t>
            </a:r>
          </a:p>
        </p:txBody>
      </p:sp>
      <p:cxnSp>
        <p:nvCxnSpPr>
          <p:cNvPr id="36" name="Straight Connector 35">
            <a:extLst>
              <a:ext uri="{FF2B5EF4-FFF2-40B4-BE49-F238E27FC236}">
                <a16:creationId xmlns:a16="http://schemas.microsoft.com/office/drawing/2014/main" id="{AE381658-B4E2-44E0-B9F2-C2E7AAB62AFB}"/>
              </a:ext>
            </a:extLst>
          </p:cNvPr>
          <p:cNvCxnSpPr>
            <a:cxnSpLocks/>
          </p:cNvCxnSpPr>
          <p:nvPr/>
        </p:nvCxnSpPr>
        <p:spPr>
          <a:xfrm>
            <a:off x="4384940" y="4458139"/>
            <a:ext cx="585837" cy="0"/>
          </a:xfrm>
          <a:prstGeom prst="line">
            <a:avLst/>
          </a:prstGeom>
          <a:ln w="38100">
            <a:solidFill>
              <a:schemeClr val="bg1"/>
            </a:solidFill>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7480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02FC3A8-1515-43A2-A784-D4451F6F11CE}"/>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Layer>
                </a14:imgProps>
              </a:ext>
            </a:extLst>
          </a:blip>
          <a:stretch>
            <a:fillRect/>
          </a:stretch>
        </p:blipFill>
        <p:spPr>
          <a:xfrm>
            <a:off x="6136642" y="1442623"/>
            <a:ext cx="5980510" cy="3241276"/>
          </a:xfrm>
          <a:prstGeom prst="rect">
            <a:avLst/>
          </a:prstGeom>
          <a:effectLst>
            <a:outerShdw blurRad="50800" dist="38100" dir="2700000" algn="tl" rotWithShape="0">
              <a:prstClr val="black">
                <a:alpha val="40000"/>
              </a:prstClr>
            </a:outerShdw>
          </a:effectLst>
        </p:spPr>
      </p:pic>
      <p:sp>
        <p:nvSpPr>
          <p:cNvPr id="24" name="Slide Number Placeholder 2">
            <a:extLst>
              <a:ext uri="{FF2B5EF4-FFF2-40B4-BE49-F238E27FC236}">
                <a16:creationId xmlns:a16="http://schemas.microsoft.com/office/drawing/2014/main" id="{5F78778B-8AE7-403D-A352-D875AF28F1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2FDAB986-BF86-4644-9EF9-32D75C653C5E}"/>
              </a:ext>
            </a:extLst>
          </p:cNvPr>
          <p:cNvSpPr>
            <a:spLocks noGrp="1"/>
          </p:cNvSpPr>
          <p:nvPr>
            <p:ph type="title"/>
          </p:nvPr>
        </p:nvSpPr>
        <p:spPr>
          <a:xfrm>
            <a:off x="1576968" y="233127"/>
            <a:ext cx="10220126" cy="984247"/>
          </a:xfrm>
        </p:spPr>
        <p:txBody>
          <a:bodyPr/>
          <a:lstStyle/>
          <a:p>
            <a:r>
              <a:rPr lang="en-GB"/>
              <a:t>Functional Area Adjustments Process Overview</a:t>
            </a:r>
          </a:p>
        </p:txBody>
      </p:sp>
      <p:sp>
        <p:nvSpPr>
          <p:cNvPr id="25" name="Freeform: Shape 24">
            <a:extLst>
              <a:ext uri="{FF2B5EF4-FFF2-40B4-BE49-F238E27FC236}">
                <a16:creationId xmlns:a16="http://schemas.microsoft.com/office/drawing/2014/main" id="{513203DA-10E1-4520-B0AF-701FDA830BC8}"/>
              </a:ext>
            </a:extLst>
          </p:cNvPr>
          <p:cNvSpPr/>
          <p:nvPr/>
        </p:nvSpPr>
        <p:spPr>
          <a:xfrm>
            <a:off x="558224" y="4868789"/>
            <a:ext cx="3107689" cy="774484"/>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T-Code</a:t>
            </a:r>
            <a:r>
              <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a:t>
            </a:r>
            <a:r>
              <a:rPr kumimoji="0" lang="fr-FR" sz="1600" b="0" i="0" u="none" strike="noStrike" kern="1200" cap="none" spc="0" normalizeH="0" baseline="0" noProof="0">
                <a:ln>
                  <a:noFill/>
                </a:ln>
                <a:solidFill>
                  <a:srgbClr val="000000"/>
                </a:solidFill>
                <a:effectLst/>
                <a:uLnTx/>
                <a:uFillTx/>
                <a:latin typeface="Arial" panose="020B0604020202020204"/>
                <a:ea typeface="+mn-ea"/>
                <a:cs typeface="+mn-cs"/>
              </a:rPr>
              <a:t>ZFGL01</a:t>
            </a:r>
            <a:r>
              <a:rPr kumimoji="0" lang="fr-FR" sz="1600" b="0" i="1" u="none" strike="noStrike" kern="1200" cap="none" spc="0" normalizeH="0" baseline="30000" noProof="0">
                <a:ln>
                  <a:noFill/>
                </a:ln>
                <a:solidFill>
                  <a:srgbClr val="FF0000"/>
                </a:solidFill>
                <a:effectLst/>
                <a:uLnTx/>
                <a:uFillTx/>
                <a:latin typeface="Arial" panose="020B0604020202020204"/>
                <a:ea typeface="+mn-ea"/>
                <a:cs typeface="+mn-cs"/>
              </a:rPr>
              <a:t>1)</a:t>
            </a:r>
            <a:r>
              <a:rPr kumimoji="0" lang="fr-FR" sz="1600" b="0" i="0" u="none" strike="noStrike" kern="1200" cap="none" spc="0" normalizeH="0" baseline="0" noProof="0">
                <a:ln>
                  <a:noFill/>
                </a:ln>
                <a:solidFill>
                  <a:srgbClr val="000000"/>
                </a:solidFill>
                <a:effectLst/>
                <a:uLnTx/>
                <a:uFillTx/>
                <a:latin typeface="Arial" panose="020B0604020202020204"/>
                <a:ea typeface="+mn-ea"/>
                <a:cs typeface="+mn-cs"/>
              </a:rPr>
              <a:t> </a:t>
            </a:r>
            <a:r>
              <a:rPr kumimoji="0" lang="fr-FR" sz="1600" b="0" i="1" u="none" strike="noStrike" kern="1200" cap="none" spc="0" normalizeH="0" baseline="30000" noProof="0">
                <a:ln>
                  <a:noFill/>
                </a:ln>
                <a:solidFill>
                  <a:srgbClr val="FF0000"/>
                </a:solidFill>
                <a:effectLst/>
                <a:uLnTx/>
                <a:uFillTx/>
                <a:latin typeface="Arial" panose="020B0604020202020204"/>
                <a:ea typeface="+mn-ea"/>
                <a:cs typeface="+mn-cs"/>
              </a:rPr>
              <a:t>2)</a:t>
            </a:r>
            <a:endParaRPr kumimoji="0" lang="en-US" sz="1600" b="0" i="1" u="none" strike="noStrike" kern="1200" cap="none" spc="0" normalizeH="0" baseline="30000" noProof="0">
              <a:ln>
                <a:noFill/>
              </a:ln>
              <a:solidFill>
                <a:srgbClr val="FF0000"/>
              </a:solidFill>
              <a:effectLst/>
              <a:uLnTx/>
              <a:uFillTx/>
              <a:latin typeface="Arial" panose="020B0604020202020204"/>
              <a:ea typeface="+mn-ea"/>
              <a:cs typeface="+mn-cs"/>
            </a:endParaRPr>
          </a:p>
        </p:txBody>
      </p:sp>
      <p:sp>
        <p:nvSpPr>
          <p:cNvPr id="27" name="Freeform: Shape 26">
            <a:extLst>
              <a:ext uri="{FF2B5EF4-FFF2-40B4-BE49-F238E27FC236}">
                <a16:creationId xmlns:a16="http://schemas.microsoft.com/office/drawing/2014/main" id="{F70E22DA-9C3D-4EF6-9EEC-7D94927A4C2B}"/>
              </a:ext>
            </a:extLst>
          </p:cNvPr>
          <p:cNvSpPr/>
          <p:nvPr/>
        </p:nvSpPr>
        <p:spPr>
          <a:xfrm>
            <a:off x="558224" y="6234772"/>
            <a:ext cx="3107689" cy="450330"/>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1238439"/>
              <a:satOff val="-9074"/>
              <a:lumOff val="149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100000"/>
              </a:lnSpc>
              <a:spcBef>
                <a:spcPct val="0"/>
              </a:spcBef>
              <a:spcAft>
                <a:spcPts val="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Timing:</a:t>
            </a:r>
            <a:endParaRPr kumimoji="0" lang="en-US" sz="13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endParaRPr>
          </a:p>
          <a:p>
            <a:pPr marL="0" marR="0" lvl="0" indent="0" algn="ctr" defTabSz="1644650" rtl="0" eaLnBrk="1" fontAlgn="auto" latinLnBrk="0" hangingPunct="1">
              <a:lnSpc>
                <a:spcPct val="100000"/>
              </a:lnSpc>
              <a:spcBef>
                <a:spcPct val="0"/>
              </a:spcBef>
              <a:spcAft>
                <a:spcPts val="0"/>
              </a:spcAft>
              <a:buClrTx/>
              <a:buSzTx/>
              <a:buFontTx/>
              <a:buNone/>
              <a:tabLst/>
              <a:defRPr/>
            </a:pPr>
            <a:r>
              <a:rPr kumimoji="0" lang="en-US" sz="13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WD9 – STAT/TAX</a:t>
            </a:r>
          </a:p>
        </p:txBody>
      </p:sp>
      <p:sp>
        <p:nvSpPr>
          <p:cNvPr id="38" name="Freeform: Shape 37">
            <a:extLst>
              <a:ext uri="{FF2B5EF4-FFF2-40B4-BE49-F238E27FC236}">
                <a16:creationId xmlns:a16="http://schemas.microsoft.com/office/drawing/2014/main" id="{454F50E9-FEB5-4789-BF3B-3A639F5DC84C}"/>
              </a:ext>
            </a:extLst>
          </p:cNvPr>
          <p:cNvSpPr/>
          <p:nvPr/>
        </p:nvSpPr>
        <p:spPr>
          <a:xfrm>
            <a:off x="568102" y="5707607"/>
            <a:ext cx="3107689" cy="447612"/>
          </a:xfrm>
          <a:custGeom>
            <a:avLst/>
            <a:gdLst>
              <a:gd name="connsiteX0" fmla="*/ 0 w 1886829"/>
              <a:gd name="connsiteY0" fmla="*/ 117927 h 1179268"/>
              <a:gd name="connsiteX1" fmla="*/ 117927 w 1886829"/>
              <a:gd name="connsiteY1" fmla="*/ 0 h 1179268"/>
              <a:gd name="connsiteX2" fmla="*/ 1768902 w 1886829"/>
              <a:gd name="connsiteY2" fmla="*/ 0 h 1179268"/>
              <a:gd name="connsiteX3" fmla="*/ 1886829 w 1886829"/>
              <a:gd name="connsiteY3" fmla="*/ 117927 h 1179268"/>
              <a:gd name="connsiteX4" fmla="*/ 1886829 w 1886829"/>
              <a:gd name="connsiteY4" fmla="*/ 1061341 h 1179268"/>
              <a:gd name="connsiteX5" fmla="*/ 1768902 w 1886829"/>
              <a:gd name="connsiteY5" fmla="*/ 1179268 h 1179268"/>
              <a:gd name="connsiteX6" fmla="*/ 117927 w 1886829"/>
              <a:gd name="connsiteY6" fmla="*/ 1179268 h 1179268"/>
              <a:gd name="connsiteX7" fmla="*/ 0 w 1886829"/>
              <a:gd name="connsiteY7" fmla="*/ 1061341 h 1179268"/>
              <a:gd name="connsiteX8" fmla="*/ 0 w 1886829"/>
              <a:gd name="connsiteY8" fmla="*/ 117927 h 1179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86829" h="1179268">
                <a:moveTo>
                  <a:pt x="0" y="117927"/>
                </a:moveTo>
                <a:cubicBezTo>
                  <a:pt x="0" y="52798"/>
                  <a:pt x="52798" y="0"/>
                  <a:pt x="117927" y="0"/>
                </a:cubicBezTo>
                <a:lnTo>
                  <a:pt x="1768902" y="0"/>
                </a:lnTo>
                <a:cubicBezTo>
                  <a:pt x="1834031" y="0"/>
                  <a:pt x="1886829" y="52798"/>
                  <a:pt x="1886829" y="117927"/>
                </a:cubicBezTo>
                <a:lnTo>
                  <a:pt x="1886829" y="1061341"/>
                </a:lnTo>
                <a:cubicBezTo>
                  <a:pt x="1886829" y="1126470"/>
                  <a:pt x="1834031" y="1179268"/>
                  <a:pt x="1768902" y="1179268"/>
                </a:cubicBezTo>
                <a:lnTo>
                  <a:pt x="117927" y="1179268"/>
                </a:lnTo>
                <a:cubicBezTo>
                  <a:pt x="52798" y="1179268"/>
                  <a:pt x="0" y="1126470"/>
                  <a:pt x="0" y="1061341"/>
                </a:cubicBezTo>
                <a:lnTo>
                  <a:pt x="0" y="117927"/>
                </a:lnTo>
                <a:close/>
              </a:path>
            </a:pathLst>
          </a:custGeom>
        </p:spPr>
        <p:style>
          <a:lnRef idx="1">
            <a:schemeClr val="accent3">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5025" tIns="81530" rIns="105025" bIns="81530" numCol="1" spcCol="1270" anchor="ctr" anchorCtr="0">
            <a:noAutofit/>
          </a:bodyPr>
          <a:lstStyle/>
          <a:p>
            <a:pPr marL="0" marR="0" lvl="0" indent="0" algn="ctr" defTabSz="1644650" rtl="0" eaLnBrk="1" fontAlgn="auto" latinLnBrk="0" hangingPunct="1">
              <a:lnSpc>
                <a:spcPct val="90000"/>
              </a:lnSpc>
              <a:spcBef>
                <a:spcPct val="0"/>
              </a:spcBef>
              <a:spcAft>
                <a:spcPct val="35000"/>
              </a:spcAft>
              <a:buClrTx/>
              <a:buSzTx/>
              <a:buFontTx/>
              <a:buNone/>
              <a:tabLst/>
              <a:defRPr/>
            </a:pPr>
            <a:r>
              <a:rPr kumimoji="0" lang="en-US" sz="1600" b="1"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FCC Task</a:t>
            </a:r>
            <a:r>
              <a:rPr kumimoji="0" lang="en-US" sz="1600" b="0" i="0" u="none" strike="noStrike" kern="1200" cap="none" spc="0" normalizeH="0" baseline="0" noProof="0">
                <a:ln>
                  <a:noFill/>
                </a:ln>
                <a:solidFill>
                  <a:srgbClr val="000000">
                    <a:hueOff val="0"/>
                    <a:satOff val="0"/>
                    <a:lumOff val="0"/>
                    <a:alphaOff val="0"/>
                  </a:srgbClr>
                </a:solidFill>
                <a:effectLst/>
                <a:uLnTx/>
                <a:uFillTx/>
                <a:latin typeface="Arial" panose="020B0604020202020204"/>
                <a:ea typeface="+mn-ea"/>
                <a:cs typeface="+mn-cs"/>
              </a:rPr>
              <a:t>: Entity Level</a:t>
            </a:r>
          </a:p>
        </p:txBody>
      </p:sp>
      <p:sp>
        <p:nvSpPr>
          <p:cNvPr id="5" name="Rectangle 4">
            <a:extLst>
              <a:ext uri="{FF2B5EF4-FFF2-40B4-BE49-F238E27FC236}">
                <a16:creationId xmlns:a16="http://schemas.microsoft.com/office/drawing/2014/main" id="{45F95EF3-7599-40F1-BC7E-247951A21F76}"/>
              </a:ext>
            </a:extLst>
          </p:cNvPr>
          <p:cNvSpPr/>
          <p:nvPr/>
        </p:nvSpPr>
        <p:spPr>
          <a:xfrm>
            <a:off x="3802937" y="4895754"/>
            <a:ext cx="8170987" cy="784830"/>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This is a JTI custom development which is executed manually by GBS outside of FCC. The corresponding FCC task status needs to be updated by the GBS once it is completed.</a:t>
            </a:r>
          </a:p>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dirty="0">
                <a:ln>
                  <a:noFill/>
                </a:ln>
                <a:solidFill>
                  <a:srgbClr val="000000"/>
                </a:solidFill>
                <a:effectLst/>
                <a:uLnTx/>
                <a:uFillTx/>
                <a:latin typeface="Georgia" panose="02040502050405020303" pitchFamily="18" charset="0"/>
                <a:ea typeface="+mn-ea"/>
                <a:cs typeface="+mn-cs"/>
              </a:rPr>
              <a:t>Such treatment is a legal requirement in certain jurisdictions and is applicable to JTI SA, LUXCO, UK, GR, TR, KZ, and UA at the moment, but the functionality can be used for other entities if needed.</a:t>
            </a:r>
          </a:p>
        </p:txBody>
      </p:sp>
      <p:sp>
        <p:nvSpPr>
          <p:cNvPr id="10" name="Rectangle 9">
            <a:extLst>
              <a:ext uri="{FF2B5EF4-FFF2-40B4-BE49-F238E27FC236}">
                <a16:creationId xmlns:a16="http://schemas.microsoft.com/office/drawing/2014/main" id="{141AA02A-B49B-45C1-8C1D-6AD74350EDB8}"/>
              </a:ext>
            </a:extLst>
          </p:cNvPr>
          <p:cNvSpPr/>
          <p:nvPr/>
        </p:nvSpPr>
        <p:spPr>
          <a:xfrm>
            <a:off x="3802937" y="6224763"/>
            <a:ext cx="7627062" cy="400110"/>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As this is a local requirement, the tasks are to be executed on WD9 following the STAT/TAX ledger closing deadlines.</a:t>
            </a:r>
          </a:p>
        </p:txBody>
      </p:sp>
      <p:sp>
        <p:nvSpPr>
          <p:cNvPr id="40" name="Rectangle 39">
            <a:extLst>
              <a:ext uri="{FF2B5EF4-FFF2-40B4-BE49-F238E27FC236}">
                <a16:creationId xmlns:a16="http://schemas.microsoft.com/office/drawing/2014/main" id="{689CBDBA-83EE-41DF-8DA7-B8B49163AD50}"/>
              </a:ext>
            </a:extLst>
          </p:cNvPr>
          <p:cNvSpPr/>
          <p:nvPr/>
        </p:nvSpPr>
        <p:spPr>
          <a:xfrm>
            <a:off x="3802937" y="5839445"/>
            <a:ext cx="7873124" cy="246221"/>
          </a:xfrm>
          <a:prstGeom prst="rect">
            <a:avLst/>
          </a:prstGeom>
        </p:spPr>
        <p:txBody>
          <a:bodyPr wrap="square">
            <a:spAutoFit/>
          </a:bodyPr>
          <a:lstStyle/>
          <a:p>
            <a:pPr marL="0" marR="0" lvl="0" indent="0" algn="l" defTabSz="914400" rtl="0" eaLnBrk="1" fontAlgn="auto" latinLnBrk="0" hangingPunct="1">
              <a:lnSpc>
                <a:spcPts val="1200"/>
              </a:lnSpc>
              <a:spcBef>
                <a:spcPts val="600"/>
              </a:spcBef>
              <a:spcAft>
                <a:spcPts val="0"/>
              </a:spcAft>
              <a:buClrTx/>
              <a:buSzTx/>
              <a:buFontTx/>
              <a:buNone/>
              <a:tabLst/>
              <a:defRPr/>
            </a:pPr>
            <a:r>
              <a:rPr kumimoji="0" lang="en-GB" sz="11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 Functional Area Adjustment tasks are set at entity level.</a:t>
            </a:r>
          </a:p>
        </p:txBody>
      </p:sp>
      <p:grpSp>
        <p:nvGrpSpPr>
          <p:cNvPr id="39" name="Group 38">
            <a:extLst>
              <a:ext uri="{FF2B5EF4-FFF2-40B4-BE49-F238E27FC236}">
                <a16:creationId xmlns:a16="http://schemas.microsoft.com/office/drawing/2014/main" id="{D0FA25D9-BF41-4683-B496-FC5050A69AEA}"/>
              </a:ext>
            </a:extLst>
          </p:cNvPr>
          <p:cNvGrpSpPr/>
          <p:nvPr/>
        </p:nvGrpSpPr>
        <p:grpSpPr>
          <a:xfrm>
            <a:off x="441244" y="1370653"/>
            <a:ext cx="5609953" cy="3433802"/>
            <a:chOff x="589454" y="3508514"/>
            <a:chExt cx="5428347" cy="1872367"/>
          </a:xfrm>
        </p:grpSpPr>
        <p:sp>
          <p:nvSpPr>
            <p:cNvPr id="41" name="Rectangle: Rounded Corners 40">
              <a:extLst>
                <a:ext uri="{FF2B5EF4-FFF2-40B4-BE49-F238E27FC236}">
                  <a16:creationId xmlns:a16="http://schemas.microsoft.com/office/drawing/2014/main" id="{B73273D1-46D9-4C6D-8AB9-D75A7F54A84F}"/>
                </a:ext>
              </a:extLst>
            </p:cNvPr>
            <p:cNvSpPr/>
            <p:nvPr/>
          </p:nvSpPr>
          <p:spPr>
            <a:xfrm>
              <a:off x="607926" y="3508514"/>
              <a:ext cx="5409875" cy="1872367"/>
            </a:xfrm>
            <a:prstGeom prst="roundRect">
              <a:avLst>
                <a:gd name="adj" fmla="val 4667"/>
              </a:avLst>
            </a:prstGeom>
            <a:solidFill>
              <a:schemeClr val="accent6">
                <a:lumMod val="20000"/>
                <a:lumOff val="80000"/>
              </a:schemeClr>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TextBox 41">
              <a:extLst>
                <a:ext uri="{FF2B5EF4-FFF2-40B4-BE49-F238E27FC236}">
                  <a16:creationId xmlns:a16="http://schemas.microsoft.com/office/drawing/2014/main" id="{63255F36-FCDE-4F4F-9E48-50B709331374}"/>
                </a:ext>
              </a:extLst>
            </p:cNvPr>
            <p:cNvSpPr txBox="1"/>
            <p:nvPr/>
          </p:nvSpPr>
          <p:spPr>
            <a:xfrm>
              <a:off x="589454" y="3559809"/>
              <a:ext cx="5409875" cy="288235"/>
            </a:xfrm>
            <a:prstGeom prst="rect">
              <a:avLst/>
            </a:prstGeom>
            <a:noFill/>
          </p:spPr>
          <p:txBody>
            <a:bodyPr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sng" strike="noStrike" kern="1200" cap="none" spc="0" normalizeH="0" baseline="0" noProof="0">
                  <a:ln>
                    <a:noFill/>
                  </a:ln>
                  <a:solidFill>
                    <a:srgbClr val="000000"/>
                  </a:solidFill>
                  <a:effectLst/>
                  <a:uLnTx/>
                  <a:uFillTx/>
                  <a:latin typeface="Aharoni" panose="02010803020104030203" pitchFamily="2" charset="-79"/>
                  <a:ea typeface="+mn-ea"/>
                  <a:cs typeface="Aharoni" panose="02010803020104030203" pitchFamily="2" charset="-79"/>
                </a:rPr>
                <a:t>Basic Process of Functional Area Adjustments</a:t>
              </a:r>
            </a:p>
          </p:txBody>
        </p:sp>
      </p:grpSp>
      <p:sp>
        <p:nvSpPr>
          <p:cNvPr id="2" name="Rectangle 1">
            <a:extLst>
              <a:ext uri="{FF2B5EF4-FFF2-40B4-BE49-F238E27FC236}">
                <a16:creationId xmlns:a16="http://schemas.microsoft.com/office/drawing/2014/main" id="{8EEC0292-E3C7-4626-938D-F1DB79238E3F}"/>
              </a:ext>
            </a:extLst>
          </p:cNvPr>
          <p:cNvSpPr/>
          <p:nvPr/>
        </p:nvSpPr>
        <p:spPr>
          <a:xfrm>
            <a:off x="617913" y="1716232"/>
            <a:ext cx="5321069" cy="374718"/>
          </a:xfrm>
          <a:prstGeom prst="rect">
            <a:avLst/>
          </a:prstGeom>
          <a:noFill/>
        </p:spPr>
        <p:txBody>
          <a:bodyPr wrap="square" lIns="0" tIns="0" rIns="0" bIns="0" rtlCol="0">
            <a:noAutofit/>
          </a:bodyPr>
          <a:lstStyle/>
          <a:p>
            <a:pPr marL="108000" marR="0" lvl="0" indent="-108000" algn="l" defTabSz="914400" rtl="0" eaLnBrk="1" fontAlgn="auto" latinLnBrk="0" hangingPunct="1">
              <a:lnSpc>
                <a:spcPts val="1050"/>
              </a:lnSpc>
              <a:spcBef>
                <a:spcPts val="300"/>
              </a:spcBef>
              <a:spcAft>
                <a:spcPts val="0"/>
              </a:spcAft>
              <a:buClrTx/>
              <a:buSzTx/>
              <a:buFont typeface="Arial" panose="020B0604020202020204" pitchFamily="34" charset="0"/>
              <a:buChar char="•"/>
              <a:tabLst/>
              <a:defRPr/>
            </a:pP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Functional Area Adjustment is a process aimed </a:t>
            </a: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to reclassify P&amp;L amounts from posted “by nature”</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(e.g. Payroll, Rent, etc.) </a:t>
            </a: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to “by function” </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(e.g. Administration, Miscellaneous, etc.). </a:t>
            </a:r>
          </a:p>
        </p:txBody>
      </p:sp>
      <p:sp>
        <p:nvSpPr>
          <p:cNvPr id="3" name="Rectangle 2">
            <a:extLst>
              <a:ext uri="{FF2B5EF4-FFF2-40B4-BE49-F238E27FC236}">
                <a16:creationId xmlns:a16="http://schemas.microsoft.com/office/drawing/2014/main" id="{9A9FBA65-5DA8-4D0B-A5A3-EB21A28EBDF0}"/>
              </a:ext>
            </a:extLst>
          </p:cNvPr>
          <p:cNvSpPr/>
          <p:nvPr/>
        </p:nvSpPr>
        <p:spPr>
          <a:xfrm>
            <a:off x="603369" y="3153831"/>
            <a:ext cx="2181395" cy="1264872"/>
          </a:xfrm>
          <a:prstGeom prst="rect">
            <a:avLst/>
          </a:prstGeom>
          <a:noFill/>
        </p:spPr>
        <p:txBody>
          <a:bodyPr wrap="square" lIns="0" tIns="0" rIns="0" bIns="0" rtlCol="0">
            <a:noAutofit/>
          </a:bodyPr>
          <a:lstStyle/>
          <a:p>
            <a:pPr marL="108000" marR="0" lvl="0" indent="-108000" algn="l" defTabSz="914400" rtl="0" eaLnBrk="1" fontAlgn="auto" latinLnBrk="0" hangingPunct="1">
              <a:lnSpc>
                <a:spcPts val="1050"/>
              </a:lnSpc>
              <a:spcBef>
                <a:spcPts val="300"/>
              </a:spcBef>
              <a:spcAft>
                <a:spcPts val="0"/>
              </a:spcAft>
              <a:buClrTx/>
              <a:buSzTx/>
              <a:buFont typeface="Arial" panose="020B0604020202020204" pitchFamily="34" charset="0"/>
              <a:buChar char="•"/>
              <a:tabLst/>
              <a:defRPr/>
            </a:pP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During the month, expenses are accumulated on P&amp;L expense accounts assigned to Functional Area via cost object (e.g. cost center). </a:t>
            </a:r>
          </a:p>
        </p:txBody>
      </p:sp>
      <p:pic>
        <p:nvPicPr>
          <p:cNvPr id="21" name="Picture 20">
            <a:extLst>
              <a:ext uri="{FF2B5EF4-FFF2-40B4-BE49-F238E27FC236}">
                <a16:creationId xmlns:a16="http://schemas.microsoft.com/office/drawing/2014/main" id="{76CFA995-C323-46A3-BE14-1643FCC96961}"/>
              </a:ext>
            </a:extLst>
          </p:cNvPr>
          <p:cNvPicPr>
            <a:picLocks noChangeAspect="1"/>
          </p:cNvPicPr>
          <p:nvPr/>
        </p:nvPicPr>
        <p:blipFill>
          <a:blip r:embed="rId5"/>
          <a:stretch>
            <a:fillRect/>
          </a:stretch>
        </p:blipFill>
        <p:spPr>
          <a:xfrm>
            <a:off x="617913" y="2039194"/>
            <a:ext cx="5144842" cy="1050303"/>
          </a:xfrm>
          <a:prstGeom prst="rect">
            <a:avLst/>
          </a:prstGeom>
        </p:spPr>
      </p:pic>
      <p:sp>
        <p:nvSpPr>
          <p:cNvPr id="22" name="Rectangle 21">
            <a:extLst>
              <a:ext uri="{FF2B5EF4-FFF2-40B4-BE49-F238E27FC236}">
                <a16:creationId xmlns:a16="http://schemas.microsoft.com/office/drawing/2014/main" id="{249B87B8-CF9F-4018-B066-F0AC80FE3252}"/>
              </a:ext>
            </a:extLst>
          </p:cNvPr>
          <p:cNvSpPr/>
          <p:nvPr/>
        </p:nvSpPr>
        <p:spPr>
          <a:xfrm>
            <a:off x="3034145" y="3169050"/>
            <a:ext cx="2925445" cy="1264872"/>
          </a:xfrm>
          <a:prstGeom prst="rect">
            <a:avLst/>
          </a:prstGeom>
          <a:noFill/>
        </p:spPr>
        <p:txBody>
          <a:bodyPr wrap="square" lIns="0" tIns="0" rIns="0" bIns="0" rtlCol="0">
            <a:noAutofit/>
          </a:bodyPr>
          <a:lstStyle/>
          <a:p>
            <a:pPr marL="108000" marR="0" lvl="0" indent="-108000" algn="l" defTabSz="914400" rtl="0" eaLnBrk="1" fontAlgn="auto" latinLnBrk="0" hangingPunct="1">
              <a:lnSpc>
                <a:spcPts val="1050"/>
              </a:lnSpc>
              <a:spcBef>
                <a:spcPts val="300"/>
              </a:spcBef>
              <a:spcAft>
                <a:spcPts val="0"/>
              </a:spcAft>
              <a:buClrTx/>
              <a:buSzTx/>
              <a:buFont typeface="Arial" panose="020B0604020202020204" pitchFamily="34" charset="0"/>
              <a:buChar char="•"/>
              <a:tabLst/>
              <a:defRPr/>
            </a:pP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As the result of Functional Area Adjustment – the accumulated expenses aggregated by Functional Area are </a:t>
            </a:r>
            <a:r>
              <a:rPr kumimoji="0" lang="en-GB" sz="105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re-posted to Functional Area adjustment GL accounts 89XXXX </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(where XXXX = Functional Area, e.g. 1000 for Direct </a:t>
            </a:r>
            <a:r>
              <a:rPr kumimoji="0" lang="en-GB" sz="1050" b="0"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Labor</a:t>
            </a: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Expense, 2000 for General Production Expenses, etc,) using suspense GL account 899999 for offsetting entry as shown above.</a:t>
            </a:r>
          </a:p>
          <a:p>
            <a:pPr marL="108000" marR="0" lvl="0" indent="-108000" algn="l" defTabSz="914400" rtl="0" eaLnBrk="1" fontAlgn="auto" latinLnBrk="0" hangingPunct="1">
              <a:lnSpc>
                <a:spcPts val="1050"/>
              </a:lnSpc>
              <a:spcBef>
                <a:spcPts val="300"/>
              </a:spcBef>
              <a:spcAft>
                <a:spcPts val="0"/>
              </a:spcAft>
              <a:buClrTx/>
              <a:buSzTx/>
              <a:buFont typeface="Arial" panose="020B0604020202020204" pitchFamily="34" charset="0"/>
              <a:buChar char="•"/>
              <a:tabLst/>
              <a:defRPr/>
            </a:pPr>
            <a:r>
              <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The sum of amounts on Functional Area Adjustment accounts 89XXXX and 899999 should be zero after the execution of the transaction.</a:t>
            </a:r>
          </a:p>
          <a:p>
            <a:pPr marL="108000" marR="0" lvl="0" indent="-108000" algn="l" defTabSz="914400" rtl="0" eaLnBrk="1" fontAlgn="auto" latinLnBrk="0" hangingPunct="1">
              <a:lnSpc>
                <a:spcPts val="1050"/>
              </a:lnSpc>
              <a:spcBef>
                <a:spcPts val="300"/>
              </a:spcBef>
              <a:spcAft>
                <a:spcPts val="0"/>
              </a:spcAft>
              <a:buClrTx/>
              <a:buSzTx/>
              <a:buFont typeface="Arial" panose="020B0604020202020204" pitchFamily="34" charset="0"/>
              <a:buChar char="•"/>
              <a:tabLst/>
              <a:defRPr/>
            </a:pPr>
            <a:endParaRPr kumimoji="0" lang="en-GB" sz="105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8" name="Rectangle: Rounded Corners 17">
            <a:extLst>
              <a:ext uri="{FF2B5EF4-FFF2-40B4-BE49-F238E27FC236}">
                <a16:creationId xmlns:a16="http://schemas.microsoft.com/office/drawing/2014/main" id="{C1B8E791-9822-4F75-8C8B-1C7F5BAE4445}"/>
              </a:ext>
            </a:extLst>
          </p:cNvPr>
          <p:cNvSpPr/>
          <p:nvPr/>
        </p:nvSpPr>
        <p:spPr>
          <a:xfrm>
            <a:off x="6575779" y="2615935"/>
            <a:ext cx="1730823" cy="233143"/>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9" name="Rectangle: Rounded Corners 18">
            <a:extLst>
              <a:ext uri="{FF2B5EF4-FFF2-40B4-BE49-F238E27FC236}">
                <a16:creationId xmlns:a16="http://schemas.microsoft.com/office/drawing/2014/main" id="{97B46EF3-AD85-401E-8F56-B3439F6FF6DA}"/>
              </a:ext>
            </a:extLst>
          </p:cNvPr>
          <p:cNvSpPr/>
          <p:nvPr/>
        </p:nvSpPr>
        <p:spPr>
          <a:xfrm>
            <a:off x="10309581" y="2726576"/>
            <a:ext cx="225415" cy="362922"/>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0" name="Rectangle: Rounded Corners 19">
            <a:extLst>
              <a:ext uri="{FF2B5EF4-FFF2-40B4-BE49-F238E27FC236}">
                <a16:creationId xmlns:a16="http://schemas.microsoft.com/office/drawing/2014/main" id="{4E8D1C03-978A-41A8-9C3C-B6DE4DBF65CF}"/>
              </a:ext>
            </a:extLst>
          </p:cNvPr>
          <p:cNvSpPr/>
          <p:nvPr/>
        </p:nvSpPr>
        <p:spPr>
          <a:xfrm>
            <a:off x="10877997" y="4148488"/>
            <a:ext cx="1239155" cy="443657"/>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3" name="TextBox 22">
            <a:extLst>
              <a:ext uri="{FF2B5EF4-FFF2-40B4-BE49-F238E27FC236}">
                <a16:creationId xmlns:a16="http://schemas.microsoft.com/office/drawing/2014/main" id="{D86DCA6A-9D65-48B1-A696-B523B8C52181}"/>
              </a:ext>
            </a:extLst>
          </p:cNvPr>
          <p:cNvSpPr txBox="1"/>
          <p:nvPr/>
        </p:nvSpPr>
        <p:spPr>
          <a:xfrm>
            <a:off x="4815330" y="6478313"/>
            <a:ext cx="4001411" cy="146560"/>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30000" noProof="0">
                <a:ln>
                  <a:noFill/>
                </a:ln>
                <a:solidFill>
                  <a:srgbClr val="FF0000"/>
                </a:solidFill>
                <a:effectLst/>
                <a:uLnTx/>
                <a:uFillTx/>
                <a:latin typeface="Arial" panose="020B0604020202020204"/>
                <a:ea typeface="+mn-ea"/>
                <a:cs typeface="+mn-cs"/>
              </a:rPr>
              <a:t>1) </a:t>
            </a:r>
            <a:r>
              <a:rPr kumimoji="0" lang="en-US" sz="900" b="0" i="1" u="none" strike="noStrike" kern="1200" cap="none" spc="0" normalizeH="0" baseline="0" noProof="0">
                <a:ln>
                  <a:noFill/>
                </a:ln>
                <a:solidFill>
                  <a:srgbClr val="000000"/>
                </a:solidFill>
                <a:effectLst/>
                <a:uLnTx/>
                <a:uFillTx/>
                <a:latin typeface="Arial" panose="020B0604020202020204"/>
                <a:ea typeface="+mn-ea"/>
                <a:cs typeface="+mn-cs"/>
              </a:rPr>
              <a:t>For entities 1179, 1180 T-Code ZFGL2_FA_ADJ is used to perform Functional Area Adjustments, the process is the same as for T-code ZFGL01. </a:t>
            </a:r>
          </a:p>
        </p:txBody>
      </p:sp>
      <p:sp>
        <p:nvSpPr>
          <p:cNvPr id="26" name="TextBox 25">
            <a:extLst>
              <a:ext uri="{FF2B5EF4-FFF2-40B4-BE49-F238E27FC236}">
                <a16:creationId xmlns:a16="http://schemas.microsoft.com/office/drawing/2014/main" id="{00DF4D72-4F2F-442C-BB55-371F35CD2D9D}"/>
              </a:ext>
            </a:extLst>
          </p:cNvPr>
          <p:cNvSpPr txBox="1"/>
          <p:nvPr/>
        </p:nvSpPr>
        <p:spPr>
          <a:xfrm>
            <a:off x="8981050" y="6504387"/>
            <a:ext cx="2160726" cy="180715"/>
          </a:xfrm>
          <a:prstGeom prst="rect">
            <a:avLst/>
          </a:prstGeom>
          <a:noFill/>
        </p:spPr>
        <p:txBody>
          <a:bodyPr wrap="square" lIns="0" tIns="0" rIns="0" bIns="0" rtlCol="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30000" noProof="0">
                <a:ln>
                  <a:noFill/>
                </a:ln>
                <a:solidFill>
                  <a:srgbClr val="FF0000"/>
                </a:solidFill>
                <a:effectLst/>
                <a:uLnTx/>
                <a:uFillTx/>
                <a:latin typeface="Arial" panose="020B0604020202020204"/>
                <a:ea typeface="+mn-ea"/>
                <a:cs typeface="+mn-cs"/>
              </a:rPr>
              <a:t>2) </a:t>
            </a:r>
            <a:r>
              <a:rPr kumimoji="0" lang="en-US" sz="900" b="0" i="1" u="none" strike="noStrike" kern="1200" cap="none" spc="0" normalizeH="0" baseline="0" noProof="0">
                <a:ln>
                  <a:noFill/>
                </a:ln>
                <a:solidFill>
                  <a:srgbClr val="000000"/>
                </a:solidFill>
                <a:effectLst/>
                <a:uLnTx/>
                <a:uFillTx/>
                <a:latin typeface="Arial" panose="020B0604020202020204"/>
                <a:ea typeface="+mn-ea"/>
                <a:cs typeface="+mn-cs"/>
              </a:rPr>
              <a:t>This was a Note task prior to P5 2020 closing.</a:t>
            </a:r>
          </a:p>
        </p:txBody>
      </p:sp>
    </p:spTree>
    <p:extLst>
      <p:ext uri="{BB962C8B-B14F-4D97-AF65-F5344CB8AC3E}">
        <p14:creationId xmlns:p14="http://schemas.microsoft.com/office/powerpoint/2010/main" val="4262673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3175CE-1575-4F64-9C8F-433A15137DE9}"/>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486015" y="1436296"/>
            <a:ext cx="3941606" cy="4232984"/>
          </a:xfrm>
          <a:prstGeom prst="rect">
            <a:avLst/>
          </a:prstGeom>
          <a:effectLst>
            <a:outerShdw blurRad="50800" dist="38100" dir="2700000" algn="tl" rotWithShape="0">
              <a:prstClr val="black">
                <a:alpha val="40000"/>
              </a:prstClr>
            </a:outerShdw>
          </a:effectLst>
        </p:spPr>
      </p:pic>
      <p:sp>
        <p:nvSpPr>
          <p:cNvPr id="4" name="Title 3">
            <a:extLst>
              <a:ext uri="{FF2B5EF4-FFF2-40B4-BE49-F238E27FC236}">
                <a16:creationId xmlns:a16="http://schemas.microsoft.com/office/drawing/2014/main" id="{1FDC37FE-51BD-4A6C-B1F0-9D4BDEFAB583}"/>
              </a:ext>
            </a:extLst>
          </p:cNvPr>
          <p:cNvSpPr>
            <a:spLocks noGrp="1"/>
          </p:cNvSpPr>
          <p:nvPr>
            <p:ph type="title"/>
          </p:nvPr>
        </p:nvSpPr>
        <p:spPr/>
        <p:txBody>
          <a:bodyPr/>
          <a:lstStyle/>
          <a:p>
            <a:r>
              <a:rPr lang="en-GB"/>
              <a:t>Functional Area Adjustment: Execution (1/3)</a:t>
            </a:r>
          </a:p>
        </p:txBody>
      </p:sp>
      <p:sp>
        <p:nvSpPr>
          <p:cNvPr id="3" name="Slide Number Placeholder 2">
            <a:extLst>
              <a:ext uri="{FF2B5EF4-FFF2-40B4-BE49-F238E27FC236}">
                <a16:creationId xmlns:a16="http://schemas.microsoft.com/office/drawing/2014/main" id="{61436CF6-AB4A-40B6-9F2F-ED413F169EA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8" name="Rectangle: Rounded Corners 17">
            <a:extLst>
              <a:ext uri="{FF2B5EF4-FFF2-40B4-BE49-F238E27FC236}">
                <a16:creationId xmlns:a16="http://schemas.microsoft.com/office/drawing/2014/main" id="{072FB5AF-7560-4EEA-83C0-F9B01C02B6C0}"/>
              </a:ext>
            </a:extLst>
          </p:cNvPr>
          <p:cNvSpPr/>
          <p:nvPr/>
        </p:nvSpPr>
        <p:spPr>
          <a:xfrm>
            <a:off x="1202520" y="2424226"/>
            <a:ext cx="1993923" cy="208888"/>
          </a:xfrm>
          <a:prstGeom prst="roundRect">
            <a:avLst>
              <a:gd name="adj" fmla="val 4268"/>
            </a:avLst>
          </a:prstGeom>
          <a:noFill/>
          <a:ln w="19050">
            <a:solidFill>
              <a:schemeClr val="tx1">
                <a:lumMod val="65000"/>
                <a:lumOff val="3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0" name="Rectangle: Rounded Corners 19">
            <a:extLst>
              <a:ext uri="{FF2B5EF4-FFF2-40B4-BE49-F238E27FC236}">
                <a16:creationId xmlns:a16="http://schemas.microsoft.com/office/drawing/2014/main" id="{59C291AA-FBB5-411D-9300-25C08C79BF1F}"/>
              </a:ext>
            </a:extLst>
          </p:cNvPr>
          <p:cNvSpPr/>
          <p:nvPr/>
        </p:nvSpPr>
        <p:spPr>
          <a:xfrm>
            <a:off x="1202521" y="2664393"/>
            <a:ext cx="1993923" cy="133739"/>
          </a:xfrm>
          <a:prstGeom prst="roundRect">
            <a:avLst>
              <a:gd name="adj" fmla="val 4268"/>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1" name="Rectangle: Rounded Corners 20">
            <a:extLst>
              <a:ext uri="{FF2B5EF4-FFF2-40B4-BE49-F238E27FC236}">
                <a16:creationId xmlns:a16="http://schemas.microsoft.com/office/drawing/2014/main" id="{14367CE5-506F-4835-83A5-C9887B3E4251}"/>
              </a:ext>
            </a:extLst>
          </p:cNvPr>
          <p:cNvSpPr/>
          <p:nvPr/>
        </p:nvSpPr>
        <p:spPr>
          <a:xfrm>
            <a:off x="1202523" y="3221047"/>
            <a:ext cx="2674708" cy="329525"/>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2" name="Rectangle: Rounded Corners 21">
            <a:extLst>
              <a:ext uri="{FF2B5EF4-FFF2-40B4-BE49-F238E27FC236}">
                <a16:creationId xmlns:a16="http://schemas.microsoft.com/office/drawing/2014/main" id="{83413D00-23F1-4BD8-A198-75828C9BD269}"/>
              </a:ext>
            </a:extLst>
          </p:cNvPr>
          <p:cNvSpPr/>
          <p:nvPr/>
        </p:nvSpPr>
        <p:spPr>
          <a:xfrm>
            <a:off x="1202522" y="3611479"/>
            <a:ext cx="1993924" cy="352448"/>
          </a:xfrm>
          <a:prstGeom prst="roundRect">
            <a:avLst>
              <a:gd name="adj" fmla="val 4268"/>
            </a:avLst>
          </a:prstGeom>
          <a:noFill/>
          <a:ln w="19050">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3" name="Rectangle: Rounded Corners 22">
            <a:extLst>
              <a:ext uri="{FF2B5EF4-FFF2-40B4-BE49-F238E27FC236}">
                <a16:creationId xmlns:a16="http://schemas.microsoft.com/office/drawing/2014/main" id="{BD6AFB87-9808-4259-A040-EE489F58908C}"/>
              </a:ext>
            </a:extLst>
          </p:cNvPr>
          <p:cNvSpPr/>
          <p:nvPr/>
        </p:nvSpPr>
        <p:spPr>
          <a:xfrm>
            <a:off x="1202523" y="4542727"/>
            <a:ext cx="1993923" cy="191983"/>
          </a:xfrm>
          <a:prstGeom prst="roundRect">
            <a:avLst>
              <a:gd name="adj" fmla="val 4268"/>
            </a:avLst>
          </a:prstGeom>
          <a:noFill/>
          <a:ln w="1905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4" name="Rectangle: Rounded Corners 23">
            <a:extLst>
              <a:ext uri="{FF2B5EF4-FFF2-40B4-BE49-F238E27FC236}">
                <a16:creationId xmlns:a16="http://schemas.microsoft.com/office/drawing/2014/main" id="{A47F0F12-4232-4BF0-AD17-AF7E93784EF5}"/>
              </a:ext>
            </a:extLst>
          </p:cNvPr>
          <p:cNvSpPr/>
          <p:nvPr/>
        </p:nvSpPr>
        <p:spPr>
          <a:xfrm>
            <a:off x="1202521" y="2831911"/>
            <a:ext cx="2674708" cy="199487"/>
          </a:xfrm>
          <a:prstGeom prst="roundRect">
            <a:avLst>
              <a:gd name="adj" fmla="val 4268"/>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5" name="Rectangle: Rounded Corners 24">
            <a:extLst>
              <a:ext uri="{FF2B5EF4-FFF2-40B4-BE49-F238E27FC236}">
                <a16:creationId xmlns:a16="http://schemas.microsoft.com/office/drawing/2014/main" id="{C1940AE6-EC1A-454A-A2D1-9A43A82CEC0B}"/>
              </a:ext>
            </a:extLst>
          </p:cNvPr>
          <p:cNvSpPr/>
          <p:nvPr/>
        </p:nvSpPr>
        <p:spPr>
          <a:xfrm>
            <a:off x="875139" y="5274296"/>
            <a:ext cx="2404872" cy="168483"/>
          </a:xfrm>
          <a:prstGeom prst="roundRect">
            <a:avLst>
              <a:gd name="adj" fmla="val 4268"/>
            </a:avLst>
          </a:prstGeom>
          <a:noFill/>
          <a:ln w="19050">
            <a:solidFill>
              <a:schemeClr val="accent2"/>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26" name="Rectangle: Rounded Corners 25">
            <a:extLst>
              <a:ext uri="{FF2B5EF4-FFF2-40B4-BE49-F238E27FC236}">
                <a16:creationId xmlns:a16="http://schemas.microsoft.com/office/drawing/2014/main" id="{06997168-EBD7-48A1-B1E3-1BBC47C11B91}"/>
              </a:ext>
            </a:extLst>
          </p:cNvPr>
          <p:cNvSpPr/>
          <p:nvPr/>
        </p:nvSpPr>
        <p:spPr>
          <a:xfrm>
            <a:off x="515939" y="1328908"/>
            <a:ext cx="2365806" cy="226292"/>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ZFGL01: Functional Area Adjustment</a:t>
            </a:r>
          </a:p>
        </p:txBody>
      </p:sp>
      <p:sp>
        <p:nvSpPr>
          <p:cNvPr id="16" name="Rectangle 15">
            <a:extLst>
              <a:ext uri="{FF2B5EF4-FFF2-40B4-BE49-F238E27FC236}">
                <a16:creationId xmlns:a16="http://schemas.microsoft.com/office/drawing/2014/main" id="{F602B4F0-5D98-4157-B579-7381D0B9B34B}"/>
              </a:ext>
            </a:extLst>
          </p:cNvPr>
          <p:cNvSpPr/>
          <p:nvPr/>
        </p:nvSpPr>
        <p:spPr>
          <a:xfrm>
            <a:off x="4568726" y="1404530"/>
            <a:ext cx="7352364" cy="859990"/>
          </a:xfrm>
          <a:prstGeom prst="rect">
            <a:avLst/>
          </a:prstGeom>
          <a:noFill/>
          <a:ln w="19050">
            <a:solidFill>
              <a:schemeClr val="tx1">
                <a:lumMod val="65000"/>
                <a:lumOff val="3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Calibri" panose="020F0502020204030204" pitchFamily="34" charset="0"/>
              </a:rPr>
              <a:t>Functional Area Adjustment is a process which is only applicable to Statutory or/and Tax ledger (for certain countries). You can execute the transaction for one selected ledger only at one time. Individual variants have been set up for each entity in each ledger which require this process with input from the entities. In case such requirements change, entities should liaise with GBS to have the corresponding variants changed or any new variant created. There is no need to update FCC task as the FCC tasks are notes only.  </a:t>
            </a:r>
          </a:p>
        </p:txBody>
      </p:sp>
      <p:sp>
        <p:nvSpPr>
          <p:cNvPr id="27" name="Rectangle 26">
            <a:extLst>
              <a:ext uri="{FF2B5EF4-FFF2-40B4-BE49-F238E27FC236}">
                <a16:creationId xmlns:a16="http://schemas.microsoft.com/office/drawing/2014/main" id="{492E6C75-DEB3-40A2-A5B6-1CE9B2DE5FA6}"/>
              </a:ext>
            </a:extLst>
          </p:cNvPr>
          <p:cNvSpPr/>
          <p:nvPr/>
        </p:nvSpPr>
        <p:spPr>
          <a:xfrm>
            <a:off x="4568726" y="2291995"/>
            <a:ext cx="7352364" cy="206439"/>
          </a:xfrm>
          <a:prstGeom prst="rect">
            <a:avLst/>
          </a:prstGeom>
          <a:noFill/>
          <a:ln w="19050">
            <a:solidFill>
              <a:schemeClr val="accent1">
                <a:lumMod val="5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The transaction can be executed for one entity at any one time.</a:t>
            </a:r>
          </a:p>
        </p:txBody>
      </p:sp>
      <p:sp>
        <p:nvSpPr>
          <p:cNvPr id="28" name="Rectangle 27">
            <a:extLst>
              <a:ext uri="{FF2B5EF4-FFF2-40B4-BE49-F238E27FC236}">
                <a16:creationId xmlns:a16="http://schemas.microsoft.com/office/drawing/2014/main" id="{AFD12024-D026-4993-B0BB-F497293FB460}"/>
              </a:ext>
            </a:extLst>
          </p:cNvPr>
          <p:cNvSpPr/>
          <p:nvPr/>
        </p:nvSpPr>
        <p:spPr>
          <a:xfrm>
            <a:off x="4568723" y="2910697"/>
            <a:ext cx="7352363" cy="369421"/>
          </a:xfrm>
          <a:prstGeom prst="rect">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This is the selection of postings which need to be considered for Functional Area Adjustment. As this process is executed once a month, the posting date range should be from the first to last date of the month, in the corresponding Fiscal Year.</a:t>
            </a:r>
            <a:endPar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3" name="Rectangle 42">
            <a:extLst>
              <a:ext uri="{FF2B5EF4-FFF2-40B4-BE49-F238E27FC236}">
                <a16:creationId xmlns:a16="http://schemas.microsoft.com/office/drawing/2014/main" id="{832D4AF1-3771-40AB-B4C2-C1C93597D560}"/>
              </a:ext>
            </a:extLst>
          </p:cNvPr>
          <p:cNvSpPr/>
          <p:nvPr/>
        </p:nvSpPr>
        <p:spPr>
          <a:xfrm>
            <a:off x="4568723" y="3313081"/>
            <a:ext cx="7352362" cy="519522"/>
          </a:xfrm>
          <a:prstGeom prst="rect">
            <a:avLst/>
          </a:prstGeom>
          <a:noFill/>
          <a:ln w="19050">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We do not normally need to restrict Document Type and Cost Centers when selecting which items should be included for Functional Area Adjustment. However you may need to use these fields for any extra run of this transactions for corrections purposes.</a:t>
            </a:r>
            <a:endPar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cxnSp>
        <p:nvCxnSpPr>
          <p:cNvPr id="45" name="Connector: Elbow 44">
            <a:extLst>
              <a:ext uri="{FF2B5EF4-FFF2-40B4-BE49-F238E27FC236}">
                <a16:creationId xmlns:a16="http://schemas.microsoft.com/office/drawing/2014/main" id="{A126DB8F-651C-4DDC-8AAA-6A5F0863C996}"/>
              </a:ext>
            </a:extLst>
          </p:cNvPr>
          <p:cNvCxnSpPr>
            <a:cxnSpLocks/>
            <a:stCxn id="18" idx="0"/>
            <a:endCxn id="16" idx="1"/>
          </p:cNvCxnSpPr>
          <p:nvPr/>
        </p:nvCxnSpPr>
        <p:spPr>
          <a:xfrm rot="5400000" flipH="1" flipV="1">
            <a:off x="3089254" y="944754"/>
            <a:ext cx="589701" cy="2369244"/>
          </a:xfrm>
          <a:prstGeom prst="bentConnector2">
            <a:avLst/>
          </a:prstGeom>
          <a:ln w="12700">
            <a:solidFill>
              <a:schemeClr val="tx1">
                <a:lumMod val="65000"/>
                <a:lumOff val="3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5CF2CC16-698B-4F6E-992F-D7937AF21E0B}"/>
              </a:ext>
            </a:extLst>
          </p:cNvPr>
          <p:cNvCxnSpPr>
            <a:cxnSpLocks/>
            <a:stCxn id="20" idx="3"/>
            <a:endCxn id="27" idx="1"/>
          </p:cNvCxnSpPr>
          <p:nvPr/>
        </p:nvCxnSpPr>
        <p:spPr>
          <a:xfrm flipV="1">
            <a:off x="3196444" y="2395215"/>
            <a:ext cx="1372282" cy="336048"/>
          </a:xfrm>
          <a:prstGeom prst="bentConnector3">
            <a:avLst>
              <a:gd name="adj1" fmla="val 50000"/>
            </a:avLst>
          </a:prstGeom>
          <a:ln w="1270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CC804835-3AFF-4D06-9743-36186D0A75ED}"/>
              </a:ext>
            </a:extLst>
          </p:cNvPr>
          <p:cNvCxnSpPr>
            <a:cxnSpLocks/>
            <a:stCxn id="22" idx="3"/>
            <a:endCxn id="43" idx="1"/>
          </p:cNvCxnSpPr>
          <p:nvPr/>
        </p:nvCxnSpPr>
        <p:spPr>
          <a:xfrm flipV="1">
            <a:off x="3196446" y="3572842"/>
            <a:ext cx="1372277" cy="214861"/>
          </a:xfrm>
          <a:prstGeom prst="bentConnector3">
            <a:avLst>
              <a:gd name="adj1" fmla="val 50000"/>
            </a:avLst>
          </a:prstGeom>
          <a:ln w="12700">
            <a:solidFill>
              <a:schemeClr val="accent4">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1136A41D-0272-4146-8570-C3713E9F0F54}"/>
              </a:ext>
            </a:extLst>
          </p:cNvPr>
          <p:cNvSpPr/>
          <p:nvPr/>
        </p:nvSpPr>
        <p:spPr>
          <a:xfrm>
            <a:off x="4568723" y="4622670"/>
            <a:ext cx="7352362" cy="226171"/>
          </a:xfrm>
          <a:prstGeom prst="rect">
            <a:avLst/>
          </a:prstGeom>
          <a:noFill/>
          <a:ln w="19050">
            <a:solidFill>
              <a:schemeClr val="accent4"/>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This is the G/L account that is used to balance FA adjustment to zero. It should always be 899999 and should not be changed. </a:t>
            </a:r>
            <a:endPar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4" name="Rectangle 53">
            <a:extLst>
              <a:ext uri="{FF2B5EF4-FFF2-40B4-BE49-F238E27FC236}">
                <a16:creationId xmlns:a16="http://schemas.microsoft.com/office/drawing/2014/main" id="{6EBCD3F5-FC0B-4E73-A9EF-864A3BEBCBA4}"/>
              </a:ext>
            </a:extLst>
          </p:cNvPr>
          <p:cNvSpPr/>
          <p:nvPr/>
        </p:nvSpPr>
        <p:spPr>
          <a:xfrm>
            <a:off x="4568724" y="2533688"/>
            <a:ext cx="7352364" cy="329797"/>
          </a:xfrm>
          <a:prstGeom prst="rect">
            <a:avLst/>
          </a:prstGeom>
          <a:noFill/>
          <a:ln w="19050">
            <a:solidFill>
              <a:schemeClr val="accent6"/>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Different entities select different G/L accounts for performing the Functional Area Adjustment. Again, these are confirmed by entities for each ledger where the process is required.</a:t>
            </a:r>
            <a:endPar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cxnSp>
        <p:nvCxnSpPr>
          <p:cNvPr id="56" name="Connector: Elbow 55">
            <a:extLst>
              <a:ext uri="{FF2B5EF4-FFF2-40B4-BE49-F238E27FC236}">
                <a16:creationId xmlns:a16="http://schemas.microsoft.com/office/drawing/2014/main" id="{B46A399A-BCC5-4750-B0ED-F38B3F9C4052}"/>
              </a:ext>
            </a:extLst>
          </p:cNvPr>
          <p:cNvCxnSpPr>
            <a:cxnSpLocks/>
            <a:stCxn id="23" idx="3"/>
            <a:endCxn id="53" idx="1"/>
          </p:cNvCxnSpPr>
          <p:nvPr/>
        </p:nvCxnSpPr>
        <p:spPr>
          <a:xfrm>
            <a:off x="3196446" y="4638719"/>
            <a:ext cx="1372277" cy="97037"/>
          </a:xfrm>
          <a:prstGeom prst="bentConnector3">
            <a:avLst>
              <a:gd name="adj1" fmla="val 50000"/>
            </a:avLst>
          </a:prstGeom>
          <a:ln w="12700">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84C0FBE9-06C0-4EB6-9E59-6454A2629FEB}"/>
              </a:ext>
            </a:extLst>
          </p:cNvPr>
          <p:cNvCxnSpPr>
            <a:cxnSpLocks/>
            <a:stCxn id="24" idx="3"/>
            <a:endCxn id="54" idx="1"/>
          </p:cNvCxnSpPr>
          <p:nvPr/>
        </p:nvCxnSpPr>
        <p:spPr>
          <a:xfrm flipV="1">
            <a:off x="3877229" y="2698587"/>
            <a:ext cx="691495" cy="233068"/>
          </a:xfrm>
          <a:prstGeom prst="bentConnector3">
            <a:avLst>
              <a:gd name="adj1" fmla="val 50000"/>
            </a:avLst>
          </a:prstGeom>
          <a:ln w="127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64" name="Rectangle 63">
            <a:extLst>
              <a:ext uri="{FF2B5EF4-FFF2-40B4-BE49-F238E27FC236}">
                <a16:creationId xmlns:a16="http://schemas.microsoft.com/office/drawing/2014/main" id="{1DD333B8-D081-486E-BD13-966724165915}"/>
              </a:ext>
            </a:extLst>
          </p:cNvPr>
          <p:cNvSpPr/>
          <p:nvPr/>
        </p:nvSpPr>
        <p:spPr>
          <a:xfrm>
            <a:off x="4568723" y="5297722"/>
            <a:ext cx="7352362" cy="755225"/>
          </a:xfrm>
          <a:prstGeom prst="rect">
            <a:avLst/>
          </a:prstGeom>
          <a:noFill/>
          <a:ln w="19050">
            <a:solidFill>
              <a:schemeClr val="accent2"/>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This is the indicator to process all documents immediately, i.e. the list is not shown before user can confirm that the Functional Area Adjustment documents should be processed (posted). This option needs to be selected in the FCC variant as the transaction is run straightaway. Note that if you select this option, then the above one (Show doc list before posting) is automatically deselected and vice versa.</a:t>
            </a:r>
          </a:p>
        </p:txBody>
      </p:sp>
      <p:cxnSp>
        <p:nvCxnSpPr>
          <p:cNvPr id="66" name="Connector: Elbow 65">
            <a:extLst>
              <a:ext uri="{FF2B5EF4-FFF2-40B4-BE49-F238E27FC236}">
                <a16:creationId xmlns:a16="http://schemas.microsoft.com/office/drawing/2014/main" id="{13F30D70-067A-4080-B000-474DC9A09821}"/>
              </a:ext>
            </a:extLst>
          </p:cNvPr>
          <p:cNvCxnSpPr>
            <a:cxnSpLocks/>
            <a:stCxn id="25" idx="3"/>
            <a:endCxn id="64" idx="1"/>
          </p:cNvCxnSpPr>
          <p:nvPr/>
        </p:nvCxnSpPr>
        <p:spPr>
          <a:xfrm>
            <a:off x="3280011" y="5358538"/>
            <a:ext cx="1288712" cy="316797"/>
          </a:xfrm>
          <a:prstGeom prst="bentConnector3">
            <a:avLst>
              <a:gd name="adj1" fmla="val 50000"/>
            </a:avLst>
          </a:prstGeom>
          <a:ln w="127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73C437F0-25F9-40A3-9737-700A030AAA9B}"/>
              </a:ext>
            </a:extLst>
          </p:cNvPr>
          <p:cNvCxnSpPr>
            <a:cxnSpLocks/>
            <a:stCxn id="21" idx="3"/>
            <a:endCxn id="28" idx="1"/>
          </p:cNvCxnSpPr>
          <p:nvPr/>
        </p:nvCxnSpPr>
        <p:spPr>
          <a:xfrm flipV="1">
            <a:off x="3877231" y="3095408"/>
            <a:ext cx="691492" cy="290402"/>
          </a:xfrm>
          <a:prstGeom prst="bentConnector3">
            <a:avLst>
              <a:gd name="adj1" fmla="val 50000"/>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3" name="Rectangle: Rounded Corners 92">
            <a:extLst>
              <a:ext uri="{FF2B5EF4-FFF2-40B4-BE49-F238E27FC236}">
                <a16:creationId xmlns:a16="http://schemas.microsoft.com/office/drawing/2014/main" id="{18FA55B3-867B-4829-A7C9-D36E97DA9069}"/>
              </a:ext>
            </a:extLst>
          </p:cNvPr>
          <p:cNvSpPr/>
          <p:nvPr/>
        </p:nvSpPr>
        <p:spPr>
          <a:xfrm>
            <a:off x="1202522" y="4301883"/>
            <a:ext cx="1993923" cy="195072"/>
          </a:xfrm>
          <a:prstGeom prst="roundRect">
            <a:avLst>
              <a:gd name="adj" fmla="val 4268"/>
            </a:avLst>
          </a:prstGeom>
          <a:noFill/>
          <a:ln w="19050">
            <a:solidFill>
              <a:schemeClr val="accent5"/>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94" name="Rectangle 93">
            <a:extLst>
              <a:ext uri="{FF2B5EF4-FFF2-40B4-BE49-F238E27FC236}">
                <a16:creationId xmlns:a16="http://schemas.microsoft.com/office/drawing/2014/main" id="{D490C906-EBB3-44CB-9559-E53D9F2AFBAE}"/>
              </a:ext>
            </a:extLst>
          </p:cNvPr>
          <p:cNvSpPr/>
          <p:nvPr/>
        </p:nvSpPr>
        <p:spPr>
          <a:xfrm>
            <a:off x="4568723" y="3873612"/>
            <a:ext cx="7352362" cy="717465"/>
          </a:xfrm>
          <a:prstGeom prst="rect">
            <a:avLst/>
          </a:prstGeom>
          <a:noFill/>
          <a:ln w="19050">
            <a:solidFill>
              <a:schemeClr val="accent5"/>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External Document Type allows to indicate which Document Types should be reposted by Functional Area with original document type. E.g. If we specify document type AF here, then AA depreciation will be re-classified by Functional Area with document type AF, same as the original Document Type. If we leave this field empty, then all monthly subject items will be re-classified with Document Type SA.</a:t>
            </a:r>
            <a:endPar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cxnSp>
        <p:nvCxnSpPr>
          <p:cNvPr id="95" name="Connector: Elbow 94">
            <a:extLst>
              <a:ext uri="{FF2B5EF4-FFF2-40B4-BE49-F238E27FC236}">
                <a16:creationId xmlns:a16="http://schemas.microsoft.com/office/drawing/2014/main" id="{D91E62AD-847A-4E17-AA82-11051F4896A0}"/>
              </a:ext>
            </a:extLst>
          </p:cNvPr>
          <p:cNvCxnSpPr>
            <a:cxnSpLocks/>
            <a:stCxn id="93" idx="3"/>
            <a:endCxn id="94" idx="1"/>
          </p:cNvCxnSpPr>
          <p:nvPr/>
        </p:nvCxnSpPr>
        <p:spPr>
          <a:xfrm flipV="1">
            <a:off x="3196445" y="4232345"/>
            <a:ext cx="1372278" cy="167074"/>
          </a:xfrm>
          <a:prstGeom prst="bentConnector3">
            <a:avLst>
              <a:gd name="adj1" fmla="val 50000"/>
            </a:avLst>
          </a:prstGeom>
          <a:ln w="127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02" name="Rectangle: Rounded Corners 101">
            <a:extLst>
              <a:ext uri="{FF2B5EF4-FFF2-40B4-BE49-F238E27FC236}">
                <a16:creationId xmlns:a16="http://schemas.microsoft.com/office/drawing/2014/main" id="{8DB39438-05F6-43A9-8D5C-CC739290473D}"/>
              </a:ext>
            </a:extLst>
          </p:cNvPr>
          <p:cNvSpPr/>
          <p:nvPr/>
        </p:nvSpPr>
        <p:spPr>
          <a:xfrm>
            <a:off x="879267" y="5457853"/>
            <a:ext cx="2404873" cy="185389"/>
          </a:xfrm>
          <a:prstGeom prst="roundRect">
            <a:avLst>
              <a:gd name="adj" fmla="val 4268"/>
            </a:avLst>
          </a:prstGeom>
          <a:noFill/>
          <a:ln w="19050">
            <a:solidFill>
              <a:srgbClr val="00B05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03" name="Rectangle 102">
            <a:extLst>
              <a:ext uri="{FF2B5EF4-FFF2-40B4-BE49-F238E27FC236}">
                <a16:creationId xmlns:a16="http://schemas.microsoft.com/office/drawing/2014/main" id="{507C4D79-473B-4BD5-BFE4-6DA113E8D04F}"/>
              </a:ext>
            </a:extLst>
          </p:cNvPr>
          <p:cNvSpPr/>
          <p:nvPr/>
        </p:nvSpPr>
        <p:spPr>
          <a:xfrm>
            <a:off x="4568723" y="4911256"/>
            <a:ext cx="7352362" cy="327942"/>
          </a:xfrm>
          <a:prstGeom prst="rect">
            <a:avLst/>
          </a:prstGeom>
          <a:noFill/>
          <a:ln w="19050">
            <a:solidFill>
              <a:schemeClr val="tx2">
                <a:lumMod val="90000"/>
                <a:lumOff val="1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Select this option to allow document to be displayed before postings are made. As FCC will need to run this transaction and make postings straight away, this option is not selected. However you may use it during manual execution outside of FCC.</a:t>
            </a:r>
            <a:endPar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cxnSp>
        <p:nvCxnSpPr>
          <p:cNvPr id="104" name="Connector: Elbow 103">
            <a:extLst>
              <a:ext uri="{FF2B5EF4-FFF2-40B4-BE49-F238E27FC236}">
                <a16:creationId xmlns:a16="http://schemas.microsoft.com/office/drawing/2014/main" id="{06A93DD6-DCA8-42AD-A69E-36CB17AD5969}"/>
              </a:ext>
            </a:extLst>
          </p:cNvPr>
          <p:cNvCxnSpPr>
            <a:cxnSpLocks/>
            <a:stCxn id="96" idx="3"/>
            <a:endCxn id="103" idx="1"/>
          </p:cNvCxnSpPr>
          <p:nvPr/>
        </p:nvCxnSpPr>
        <p:spPr>
          <a:xfrm flipV="1">
            <a:off x="3289348" y="5075227"/>
            <a:ext cx="1279375" cy="82214"/>
          </a:xfrm>
          <a:prstGeom prst="bentConnector3">
            <a:avLst>
              <a:gd name="adj1" fmla="val 50000"/>
            </a:avLst>
          </a:prstGeom>
          <a:ln w="12700">
            <a:solidFill>
              <a:schemeClr val="tx2">
                <a:lumMod val="90000"/>
                <a:lumOff val="1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6" name="Rectangle: Rounded Corners 95">
            <a:extLst>
              <a:ext uri="{FF2B5EF4-FFF2-40B4-BE49-F238E27FC236}">
                <a16:creationId xmlns:a16="http://schemas.microsoft.com/office/drawing/2014/main" id="{2955BBD2-4C67-4A1B-816E-CD1C86277580}"/>
              </a:ext>
            </a:extLst>
          </p:cNvPr>
          <p:cNvSpPr/>
          <p:nvPr/>
        </p:nvSpPr>
        <p:spPr>
          <a:xfrm>
            <a:off x="884476" y="5073199"/>
            <a:ext cx="2404872" cy="168483"/>
          </a:xfrm>
          <a:prstGeom prst="roundRect">
            <a:avLst>
              <a:gd name="adj" fmla="val 4268"/>
            </a:avLst>
          </a:prstGeom>
          <a:noFill/>
          <a:ln w="19050">
            <a:solidFill>
              <a:schemeClr val="tx2">
                <a:lumMod val="90000"/>
                <a:lumOff val="1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97" name="Rectangle 96">
            <a:extLst>
              <a:ext uri="{FF2B5EF4-FFF2-40B4-BE49-F238E27FC236}">
                <a16:creationId xmlns:a16="http://schemas.microsoft.com/office/drawing/2014/main" id="{92190468-C290-4879-9674-BD635DB89822}"/>
              </a:ext>
            </a:extLst>
          </p:cNvPr>
          <p:cNvSpPr/>
          <p:nvPr/>
        </p:nvSpPr>
        <p:spPr>
          <a:xfrm>
            <a:off x="4568723" y="6121678"/>
            <a:ext cx="7352362" cy="365125"/>
          </a:xfrm>
          <a:prstGeom prst="rect">
            <a:avLst/>
          </a:prstGeom>
          <a:noFill/>
          <a:ln w="19050">
            <a:solidFill>
              <a:srgbClr val="00B05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This is equivalent to Test Run. It should only be used if you wish to do a test run when executing this transaction outside of FCC manually. </a:t>
            </a:r>
          </a:p>
        </p:txBody>
      </p:sp>
      <p:cxnSp>
        <p:nvCxnSpPr>
          <p:cNvPr id="88" name="Connector: Elbow 87">
            <a:extLst>
              <a:ext uri="{FF2B5EF4-FFF2-40B4-BE49-F238E27FC236}">
                <a16:creationId xmlns:a16="http://schemas.microsoft.com/office/drawing/2014/main" id="{EA36863F-BCE0-465C-9087-6FEB4B05BF1C}"/>
              </a:ext>
            </a:extLst>
          </p:cNvPr>
          <p:cNvCxnSpPr>
            <a:cxnSpLocks/>
            <a:stCxn id="102" idx="2"/>
            <a:endCxn id="97" idx="1"/>
          </p:cNvCxnSpPr>
          <p:nvPr/>
        </p:nvCxnSpPr>
        <p:spPr>
          <a:xfrm rot="16200000" flipH="1">
            <a:off x="2994714" y="4730231"/>
            <a:ext cx="660999" cy="2487019"/>
          </a:xfrm>
          <a:prstGeom prst="bentConnector2">
            <a:avLst/>
          </a:prstGeom>
          <a:ln w="9525">
            <a:solidFill>
              <a:srgbClr val="00B05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5184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C0FA6-B6C7-4D4A-A8D5-F1E967BF25B2}"/>
              </a:ext>
            </a:extLst>
          </p:cNvPr>
          <p:cNvSpPr>
            <a:spLocks noGrp="1"/>
          </p:cNvSpPr>
          <p:nvPr>
            <p:ph type="title"/>
          </p:nvPr>
        </p:nvSpPr>
        <p:spPr/>
        <p:txBody>
          <a:bodyPr/>
          <a:lstStyle/>
          <a:p>
            <a:r>
              <a:rPr lang="en-GB"/>
              <a:t>Functional Area Adjustment: Execution (2/3)</a:t>
            </a:r>
            <a:endParaRPr lang="en-US"/>
          </a:p>
        </p:txBody>
      </p:sp>
      <p:sp>
        <p:nvSpPr>
          <p:cNvPr id="5" name="Slide Number Placeholder 4">
            <a:extLst>
              <a:ext uri="{FF2B5EF4-FFF2-40B4-BE49-F238E27FC236}">
                <a16:creationId xmlns:a16="http://schemas.microsoft.com/office/drawing/2014/main" id="{4EA795A2-BE43-491C-8CE1-217726AE938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6" name="Picture 5">
            <a:extLst>
              <a:ext uri="{FF2B5EF4-FFF2-40B4-BE49-F238E27FC236}">
                <a16:creationId xmlns:a16="http://schemas.microsoft.com/office/drawing/2014/main" id="{8F72B402-F872-4DBB-92CC-01C1A477E0D4}"/>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372190" y="1372594"/>
            <a:ext cx="6967948" cy="2695587"/>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C4055EF9-C878-4CEF-A91E-C8AB53A871F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366134" y="4129747"/>
            <a:ext cx="2778334" cy="2652862"/>
          </a:xfrm>
          <a:prstGeom prst="rect">
            <a:avLst/>
          </a:prstGeom>
          <a:ln>
            <a:solidFill>
              <a:srgbClr val="FF0000"/>
            </a:solidFill>
          </a:ln>
          <a:effectLst>
            <a:outerShdw blurRad="50800" dist="38100" dir="2700000" algn="tl" rotWithShape="0">
              <a:prstClr val="black">
                <a:alpha val="40000"/>
              </a:prstClr>
            </a:outerShdw>
          </a:effectLst>
        </p:spPr>
      </p:pic>
      <p:pic>
        <p:nvPicPr>
          <p:cNvPr id="8" name="Picture 7">
            <a:extLst>
              <a:ext uri="{FF2B5EF4-FFF2-40B4-BE49-F238E27FC236}">
                <a16:creationId xmlns:a16="http://schemas.microsoft.com/office/drawing/2014/main" id="{1A4D476D-FCC4-4E28-8324-9D73E077F97A}"/>
              </a:ext>
            </a:extLst>
          </p:cNvPr>
          <p:cNvPicPr>
            <a:picLocks noChangeAspect="1"/>
          </p:cNvPicPr>
          <p:nvPr/>
        </p:nvPicPr>
        <p:blipFill>
          <a:blip r:embed="rId6"/>
          <a:stretch>
            <a:fillRect/>
          </a:stretch>
        </p:blipFill>
        <p:spPr>
          <a:xfrm>
            <a:off x="3252533" y="5598222"/>
            <a:ext cx="6041749" cy="1035729"/>
          </a:xfrm>
          <a:prstGeom prst="rect">
            <a:avLst/>
          </a:prstGeom>
          <a:ln>
            <a:solidFill>
              <a:srgbClr val="FF0000"/>
            </a:solidFill>
          </a:ln>
        </p:spPr>
      </p:pic>
      <p:pic>
        <p:nvPicPr>
          <p:cNvPr id="9" name="Picture 8">
            <a:extLst>
              <a:ext uri="{FF2B5EF4-FFF2-40B4-BE49-F238E27FC236}">
                <a16:creationId xmlns:a16="http://schemas.microsoft.com/office/drawing/2014/main" id="{582EE8AE-93F1-4B4F-9C0E-681067137102}"/>
              </a:ext>
            </a:extLst>
          </p:cNvPr>
          <p:cNvPicPr>
            <a:picLocks noChangeAspect="1"/>
          </p:cNvPicPr>
          <p:nvPr/>
        </p:nvPicPr>
        <p:blipFill>
          <a:blip r:embed="rId7"/>
          <a:stretch>
            <a:fillRect/>
          </a:stretch>
        </p:blipFill>
        <p:spPr>
          <a:xfrm>
            <a:off x="6096000" y="1551307"/>
            <a:ext cx="2665938" cy="2777276"/>
          </a:xfrm>
          <a:prstGeom prst="rect">
            <a:avLst/>
          </a:prstGeom>
          <a:ln>
            <a:solidFill>
              <a:srgbClr val="00B050"/>
            </a:solidFill>
          </a:ln>
          <a:effectLst>
            <a:outerShdw blurRad="50800" dist="38100" dir="2700000" algn="tl" rotWithShape="0">
              <a:prstClr val="black">
                <a:alpha val="40000"/>
              </a:prstClr>
            </a:outerShdw>
          </a:effectLst>
        </p:spPr>
      </p:pic>
      <p:pic>
        <p:nvPicPr>
          <p:cNvPr id="11" name="Picture 10">
            <a:extLst>
              <a:ext uri="{FF2B5EF4-FFF2-40B4-BE49-F238E27FC236}">
                <a16:creationId xmlns:a16="http://schemas.microsoft.com/office/drawing/2014/main" id="{99675EE7-2E0D-43DF-BC4A-5DED8F416716}"/>
              </a:ext>
            </a:extLst>
          </p:cNvPr>
          <p:cNvPicPr>
            <a:picLocks noChangeAspect="1"/>
          </p:cNvPicPr>
          <p:nvPr/>
        </p:nvPicPr>
        <p:blipFill>
          <a:blip r:embed="rId8"/>
          <a:stretch>
            <a:fillRect/>
          </a:stretch>
        </p:blipFill>
        <p:spPr>
          <a:xfrm>
            <a:off x="7774407" y="4299225"/>
            <a:ext cx="4201727" cy="1609058"/>
          </a:xfrm>
          <a:prstGeom prst="rect">
            <a:avLst/>
          </a:prstGeom>
          <a:ln>
            <a:solidFill>
              <a:srgbClr val="00B050"/>
            </a:solidFill>
          </a:ln>
          <a:effectLst>
            <a:outerShdw blurRad="50800" dist="38100" dir="2700000" algn="tl" rotWithShape="0">
              <a:prstClr val="black">
                <a:alpha val="40000"/>
              </a:prstClr>
            </a:outerShdw>
          </a:effectLst>
        </p:spPr>
      </p:pic>
      <p:sp>
        <p:nvSpPr>
          <p:cNvPr id="12" name="Rectangle: Rounded Corners 11">
            <a:extLst>
              <a:ext uri="{FF2B5EF4-FFF2-40B4-BE49-F238E27FC236}">
                <a16:creationId xmlns:a16="http://schemas.microsoft.com/office/drawing/2014/main" id="{DE454965-2CF1-44F3-A99E-B7357732A889}"/>
              </a:ext>
            </a:extLst>
          </p:cNvPr>
          <p:cNvSpPr/>
          <p:nvPr/>
        </p:nvSpPr>
        <p:spPr>
          <a:xfrm>
            <a:off x="366134" y="1325015"/>
            <a:ext cx="2365806" cy="226292"/>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ZFGL01: Functional Area Adjustment</a:t>
            </a:r>
          </a:p>
        </p:txBody>
      </p:sp>
      <p:sp>
        <p:nvSpPr>
          <p:cNvPr id="13" name="Rectangle: Rounded Corners 12">
            <a:extLst>
              <a:ext uri="{FF2B5EF4-FFF2-40B4-BE49-F238E27FC236}">
                <a16:creationId xmlns:a16="http://schemas.microsoft.com/office/drawing/2014/main" id="{EE5C6A5C-1BDE-41A1-83D8-2185B37013DE}"/>
              </a:ext>
            </a:extLst>
          </p:cNvPr>
          <p:cNvSpPr/>
          <p:nvPr/>
        </p:nvSpPr>
        <p:spPr>
          <a:xfrm>
            <a:off x="382760" y="2834640"/>
            <a:ext cx="190818" cy="157942"/>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4" name="Rectangle: Rounded Corners 13">
            <a:extLst>
              <a:ext uri="{FF2B5EF4-FFF2-40B4-BE49-F238E27FC236}">
                <a16:creationId xmlns:a16="http://schemas.microsoft.com/office/drawing/2014/main" id="{4AC851D4-F4BE-4D10-AAAD-7A762C502319}"/>
              </a:ext>
            </a:extLst>
          </p:cNvPr>
          <p:cNvSpPr/>
          <p:nvPr/>
        </p:nvSpPr>
        <p:spPr>
          <a:xfrm>
            <a:off x="1010301" y="6533474"/>
            <a:ext cx="745000" cy="226293"/>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16" name="Straight Arrow Connector 15">
            <a:extLst>
              <a:ext uri="{FF2B5EF4-FFF2-40B4-BE49-F238E27FC236}">
                <a16:creationId xmlns:a16="http://schemas.microsoft.com/office/drawing/2014/main" id="{F101E4DD-06C0-41E3-AB3A-D648DBD8C821}"/>
              </a:ext>
            </a:extLst>
          </p:cNvPr>
          <p:cNvCxnSpPr>
            <a:cxnSpLocks/>
            <a:endCxn id="8" idx="1"/>
          </p:cNvCxnSpPr>
          <p:nvPr/>
        </p:nvCxnSpPr>
        <p:spPr>
          <a:xfrm flipV="1">
            <a:off x="1863366" y="6116087"/>
            <a:ext cx="1389167" cy="417388"/>
          </a:xfrm>
          <a:prstGeom prst="straightConnector1">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28481C99-F4A9-48C4-BFE0-5272A809A842}"/>
              </a:ext>
            </a:extLst>
          </p:cNvPr>
          <p:cNvSpPr/>
          <p:nvPr/>
        </p:nvSpPr>
        <p:spPr>
          <a:xfrm>
            <a:off x="382760" y="2661206"/>
            <a:ext cx="190818" cy="136807"/>
          </a:xfrm>
          <a:prstGeom prst="roundRect">
            <a:avLst>
              <a:gd name="adj" fmla="val 4268"/>
            </a:avLst>
          </a:prstGeom>
          <a:noFill/>
          <a:ln w="19050">
            <a:solidFill>
              <a:srgbClr val="00B05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sp>
        <p:nvSpPr>
          <p:cNvPr id="18" name="Rectangle: Rounded Corners 17">
            <a:extLst>
              <a:ext uri="{FF2B5EF4-FFF2-40B4-BE49-F238E27FC236}">
                <a16:creationId xmlns:a16="http://schemas.microsoft.com/office/drawing/2014/main" id="{40BF42A8-1D98-4593-BE60-A19EC2195419}"/>
              </a:ext>
            </a:extLst>
          </p:cNvPr>
          <p:cNvSpPr/>
          <p:nvPr/>
        </p:nvSpPr>
        <p:spPr>
          <a:xfrm>
            <a:off x="6769706" y="4068180"/>
            <a:ext cx="686810" cy="178003"/>
          </a:xfrm>
          <a:prstGeom prst="roundRect">
            <a:avLst>
              <a:gd name="adj" fmla="val 4268"/>
            </a:avLst>
          </a:prstGeom>
          <a:noFill/>
          <a:ln w="19050">
            <a:solidFill>
              <a:srgbClr val="00B05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23" name="Straight Arrow Connector 22">
            <a:extLst>
              <a:ext uri="{FF2B5EF4-FFF2-40B4-BE49-F238E27FC236}">
                <a16:creationId xmlns:a16="http://schemas.microsoft.com/office/drawing/2014/main" id="{0E7E3A7A-1A98-4A49-99D5-8B3B109B2F64}"/>
              </a:ext>
            </a:extLst>
          </p:cNvPr>
          <p:cNvCxnSpPr>
            <a:cxnSpLocks/>
            <a:stCxn id="18" idx="3"/>
            <a:endCxn id="11" idx="1"/>
          </p:cNvCxnSpPr>
          <p:nvPr/>
        </p:nvCxnSpPr>
        <p:spPr>
          <a:xfrm>
            <a:off x="7456516" y="4157182"/>
            <a:ext cx="317891" cy="946572"/>
          </a:xfrm>
          <a:prstGeom prst="straightConnector1">
            <a:avLst/>
          </a:prstGeom>
          <a:ln w="9525">
            <a:solidFill>
              <a:srgbClr val="00B05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7" name="Rectangle: Rounded Corners 26">
            <a:extLst>
              <a:ext uri="{FF2B5EF4-FFF2-40B4-BE49-F238E27FC236}">
                <a16:creationId xmlns:a16="http://schemas.microsoft.com/office/drawing/2014/main" id="{5A85AE18-ACDA-4EF2-ADDD-C06ED5F55BD0}"/>
              </a:ext>
            </a:extLst>
          </p:cNvPr>
          <p:cNvSpPr/>
          <p:nvPr/>
        </p:nvSpPr>
        <p:spPr>
          <a:xfrm>
            <a:off x="3486178" y="1806912"/>
            <a:ext cx="1518084" cy="188143"/>
          </a:xfrm>
          <a:prstGeom prst="roundRect">
            <a:avLst>
              <a:gd name="adj" fmla="val 4268"/>
            </a:avLst>
          </a:prstGeom>
          <a:noFill/>
          <a:ln w="19050">
            <a:solidFill>
              <a:schemeClr val="accent2"/>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30" name="Straight Arrow Connector 29">
            <a:extLst>
              <a:ext uri="{FF2B5EF4-FFF2-40B4-BE49-F238E27FC236}">
                <a16:creationId xmlns:a16="http://schemas.microsoft.com/office/drawing/2014/main" id="{65F012D0-B450-4688-B280-3E21D069A75A}"/>
              </a:ext>
            </a:extLst>
          </p:cNvPr>
          <p:cNvCxnSpPr/>
          <p:nvPr/>
        </p:nvCxnSpPr>
        <p:spPr>
          <a:xfrm>
            <a:off x="5004262" y="1853147"/>
            <a:ext cx="1091738" cy="0"/>
          </a:xfrm>
          <a:prstGeom prst="straightConnector1">
            <a:avLst/>
          </a:prstGeom>
          <a:ln w="19050">
            <a:solidFill>
              <a:srgbClr val="00B05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921B2B5B-C612-43F5-B186-8CA5B5142C95}"/>
              </a:ext>
            </a:extLst>
          </p:cNvPr>
          <p:cNvCxnSpPr>
            <a:cxnSpLocks/>
            <a:stCxn id="17" idx="0"/>
          </p:cNvCxnSpPr>
          <p:nvPr/>
        </p:nvCxnSpPr>
        <p:spPr>
          <a:xfrm rot="5400000" flipH="1" flipV="1">
            <a:off x="1588875" y="763904"/>
            <a:ext cx="786596" cy="3008009"/>
          </a:xfrm>
          <a:prstGeom prst="bentConnector2">
            <a:avLst/>
          </a:prstGeom>
          <a:ln w="19050">
            <a:solidFill>
              <a:srgbClr val="00B05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C0803E7C-4F6D-4DFE-BFE1-63A4764BF996}"/>
              </a:ext>
            </a:extLst>
          </p:cNvPr>
          <p:cNvCxnSpPr>
            <a:stCxn id="13" idx="3"/>
            <a:endCxn id="27" idx="2"/>
          </p:cNvCxnSpPr>
          <p:nvPr/>
        </p:nvCxnSpPr>
        <p:spPr>
          <a:xfrm flipV="1">
            <a:off x="573578" y="1995055"/>
            <a:ext cx="3671642" cy="918556"/>
          </a:xfrm>
          <a:prstGeom prst="bentConnector2">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1E794639-0B10-468A-80DD-9663EC9EB4A3}"/>
              </a:ext>
            </a:extLst>
          </p:cNvPr>
          <p:cNvCxnSpPr>
            <a:cxnSpLocks/>
            <a:stCxn id="27" idx="3"/>
            <a:endCxn id="7" idx="0"/>
          </p:cNvCxnSpPr>
          <p:nvPr/>
        </p:nvCxnSpPr>
        <p:spPr>
          <a:xfrm flipH="1">
            <a:off x="1755301" y="1900984"/>
            <a:ext cx="3248961" cy="2228763"/>
          </a:xfrm>
          <a:prstGeom prst="bentConnector4">
            <a:avLst>
              <a:gd name="adj1" fmla="val -12153"/>
              <a:gd name="adj2" fmla="val 92764"/>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1" name="Rectangle 50">
            <a:extLst>
              <a:ext uri="{FF2B5EF4-FFF2-40B4-BE49-F238E27FC236}">
                <a16:creationId xmlns:a16="http://schemas.microsoft.com/office/drawing/2014/main" id="{6FBA92E7-EB44-4AB2-8E85-145D9C3D3A63}"/>
              </a:ext>
            </a:extLst>
          </p:cNvPr>
          <p:cNvSpPr/>
          <p:nvPr/>
        </p:nvSpPr>
        <p:spPr>
          <a:xfrm>
            <a:off x="3240959" y="4661356"/>
            <a:ext cx="4056611" cy="689632"/>
          </a:xfrm>
          <a:prstGeom prst="rect">
            <a:avLst/>
          </a:prstGeom>
          <a:noFill/>
          <a:ln w="19050">
            <a:solidFill>
              <a:srgbClr val="FF000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Upon your review, you may </a:t>
            </a:r>
            <a:r>
              <a:rPr kumimoji="0" lang="en-US" sz="11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select individual item </a:t>
            </a: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for Simulation or Posting. If you select posting of the individual item, you will be given a log showing the document number that is posted as shown below. </a:t>
            </a:r>
          </a:p>
        </p:txBody>
      </p:sp>
      <p:sp>
        <p:nvSpPr>
          <p:cNvPr id="52" name="Rectangle 51">
            <a:extLst>
              <a:ext uri="{FF2B5EF4-FFF2-40B4-BE49-F238E27FC236}">
                <a16:creationId xmlns:a16="http://schemas.microsoft.com/office/drawing/2014/main" id="{931D497E-22E1-486A-B5A8-2A32BD38D9E7}"/>
              </a:ext>
            </a:extLst>
          </p:cNvPr>
          <p:cNvSpPr/>
          <p:nvPr/>
        </p:nvSpPr>
        <p:spPr>
          <a:xfrm>
            <a:off x="8831368" y="2758448"/>
            <a:ext cx="3210661" cy="1469970"/>
          </a:xfrm>
          <a:prstGeom prst="rect">
            <a:avLst/>
          </a:prstGeom>
          <a:noFill/>
          <a:ln w="19050">
            <a:solidFill>
              <a:srgbClr val="00B050"/>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You can also </a:t>
            </a:r>
            <a:r>
              <a:rPr kumimoji="0" lang="en-US" sz="11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select all the items </a:t>
            </a:r>
            <a:r>
              <a:rPr kumimoji="0" lang="en-US" sz="11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upon review. In this case, once you select Simulate Posting or Post selected documents, you will be shown a small dialogue box which contain summarized values that are to be posted. If you have selected Post selected documents, upon Continue, your log will show all the document numbers that have been posted as shown below.</a:t>
            </a:r>
          </a:p>
        </p:txBody>
      </p:sp>
      <p:sp>
        <p:nvSpPr>
          <p:cNvPr id="24" name="Speech Bubble: Rectangle 23">
            <a:extLst>
              <a:ext uri="{FF2B5EF4-FFF2-40B4-BE49-F238E27FC236}">
                <a16:creationId xmlns:a16="http://schemas.microsoft.com/office/drawing/2014/main" id="{6A133E79-24A7-4624-AD51-FB1A1187410B}"/>
              </a:ext>
            </a:extLst>
          </p:cNvPr>
          <p:cNvSpPr/>
          <p:nvPr/>
        </p:nvSpPr>
        <p:spPr>
          <a:xfrm>
            <a:off x="8917693" y="1380650"/>
            <a:ext cx="2992612" cy="1280556"/>
          </a:xfrm>
          <a:prstGeom prst="wedgeRectCallout">
            <a:avLst>
              <a:gd name="adj1" fmla="val -109003"/>
              <a:gd name="adj2" fmla="val -40295"/>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In this demonstration, which is a manual execution outside of FCC, we have had the following options selected:</a:t>
            </a:r>
          </a:p>
          <a:p>
            <a:pPr marL="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10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Show doc list before posting</a:t>
            </a:r>
          </a:p>
          <a:p>
            <a:pPr marL="0" marR="0" lvl="0" indent="-171450" algn="l" defTabSz="914400" rtl="0" eaLnBrk="1" fontAlgn="auto" latinLnBrk="0" hangingPunct="1">
              <a:lnSpc>
                <a:spcPct val="100000"/>
              </a:lnSpc>
              <a:spcBef>
                <a:spcPts val="0"/>
              </a:spcBef>
              <a:spcAft>
                <a:spcPts val="0"/>
              </a:spcAft>
              <a:buClrTx/>
              <a:buSzTx/>
              <a:buFontTx/>
              <a:buChar char="-"/>
              <a:tabLst/>
              <a:defRPr/>
            </a:pPr>
            <a:r>
              <a:rPr kumimoji="0" lang="en-GB" sz="10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Simulation only (don’t post)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These options are NOT selected in the variant used by FCC.</a:t>
            </a:r>
          </a:p>
        </p:txBody>
      </p:sp>
      <p:sp>
        <p:nvSpPr>
          <p:cNvPr id="3" name="TextBox 2">
            <a:extLst>
              <a:ext uri="{FF2B5EF4-FFF2-40B4-BE49-F238E27FC236}">
                <a16:creationId xmlns:a16="http://schemas.microsoft.com/office/drawing/2014/main" id="{B94B64DD-FED9-4BF2-8B1B-C5EDD6D5E1A0}"/>
              </a:ext>
            </a:extLst>
          </p:cNvPr>
          <p:cNvSpPr txBox="1"/>
          <p:nvPr/>
        </p:nvSpPr>
        <p:spPr>
          <a:xfrm>
            <a:off x="677008" y="1806912"/>
            <a:ext cx="1518084" cy="165301"/>
          </a:xfrm>
          <a:prstGeom prst="rect">
            <a:avLst/>
          </a:prstGeom>
          <a:solidFill>
            <a:schemeClr val="bg1"/>
          </a:solidFill>
          <a:ln w="19050">
            <a:solidFill>
              <a:srgbClr val="33C781"/>
            </a:solidFill>
          </a:ln>
        </p:spPr>
        <p:txBody>
          <a:bodyPr wrap="square" lIns="0" tIns="0" rIns="0" bIns="0" rtlCol="0">
            <a:noAutofit/>
          </a:bodyPr>
          <a:lstStyle/>
          <a:p>
            <a:pPr algn="ctr"/>
            <a:r>
              <a:rPr lang="en-US" sz="1100" b="1" dirty="0"/>
              <a:t>Select All to post</a:t>
            </a:r>
          </a:p>
        </p:txBody>
      </p:sp>
      <p:sp>
        <p:nvSpPr>
          <p:cNvPr id="26" name="TextBox 25">
            <a:extLst>
              <a:ext uri="{FF2B5EF4-FFF2-40B4-BE49-F238E27FC236}">
                <a16:creationId xmlns:a16="http://schemas.microsoft.com/office/drawing/2014/main" id="{8AE87DFC-5F3E-4351-AAA9-17C6AE4B988E}"/>
              </a:ext>
            </a:extLst>
          </p:cNvPr>
          <p:cNvSpPr txBox="1"/>
          <p:nvPr/>
        </p:nvSpPr>
        <p:spPr>
          <a:xfrm>
            <a:off x="3131251" y="2289033"/>
            <a:ext cx="2028591" cy="165300"/>
          </a:xfrm>
          <a:prstGeom prst="rect">
            <a:avLst/>
          </a:prstGeom>
          <a:solidFill>
            <a:schemeClr val="bg1"/>
          </a:solidFill>
          <a:ln w="19050">
            <a:solidFill>
              <a:srgbClr val="FF0000"/>
            </a:solidFill>
          </a:ln>
        </p:spPr>
        <p:txBody>
          <a:bodyPr wrap="square" lIns="0" tIns="0" rIns="0" bIns="0" rtlCol="0">
            <a:noAutofit/>
          </a:bodyPr>
          <a:lstStyle/>
          <a:p>
            <a:pPr algn="ctr"/>
            <a:r>
              <a:rPr lang="en-US" sz="1100" b="1" dirty="0"/>
              <a:t>Select Individual Doc to post</a:t>
            </a:r>
          </a:p>
        </p:txBody>
      </p:sp>
    </p:spTree>
    <p:extLst>
      <p:ext uri="{BB962C8B-B14F-4D97-AF65-F5344CB8AC3E}">
        <p14:creationId xmlns:p14="http://schemas.microsoft.com/office/powerpoint/2010/main" val="2947608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5F90A48-47F6-43B6-B2C2-40549A0189EB}"/>
              </a:ext>
            </a:extLst>
          </p:cNvPr>
          <p:cNvPicPr>
            <a:picLocks noChangeAspect="1"/>
          </p:cNvPicPr>
          <p:nvPr/>
        </p:nvPicPr>
        <p:blipFill>
          <a:blip r:embed="rId2"/>
          <a:stretch>
            <a:fillRect/>
          </a:stretch>
        </p:blipFill>
        <p:spPr>
          <a:xfrm>
            <a:off x="500889" y="1356748"/>
            <a:ext cx="6157198" cy="4154906"/>
          </a:xfrm>
          <a:prstGeom prst="rect">
            <a:avLst/>
          </a:prstGeom>
          <a:effectLst>
            <a:outerShdw blurRad="50800" dist="38100" dir="2700000" algn="tl" rotWithShape="0">
              <a:prstClr val="black">
                <a:alpha val="40000"/>
              </a:prstClr>
            </a:outerShdw>
          </a:effectLst>
        </p:spPr>
      </p:pic>
      <p:sp>
        <p:nvSpPr>
          <p:cNvPr id="2" name="Title 1">
            <a:extLst>
              <a:ext uri="{FF2B5EF4-FFF2-40B4-BE49-F238E27FC236}">
                <a16:creationId xmlns:a16="http://schemas.microsoft.com/office/drawing/2014/main" id="{E5AC0FA6-B6C7-4D4A-A8D5-F1E967BF25B2}"/>
              </a:ext>
            </a:extLst>
          </p:cNvPr>
          <p:cNvSpPr>
            <a:spLocks noGrp="1"/>
          </p:cNvSpPr>
          <p:nvPr>
            <p:ph type="title"/>
          </p:nvPr>
        </p:nvSpPr>
        <p:spPr/>
        <p:txBody>
          <a:bodyPr/>
          <a:lstStyle/>
          <a:p>
            <a:r>
              <a:rPr lang="en-GB"/>
              <a:t>Functional Area Adjustment: Execution (3/3)</a:t>
            </a:r>
            <a:endParaRPr lang="en-US" dirty="0"/>
          </a:p>
        </p:txBody>
      </p:sp>
      <p:sp>
        <p:nvSpPr>
          <p:cNvPr id="5" name="Slide Number Placeholder 4">
            <a:extLst>
              <a:ext uri="{FF2B5EF4-FFF2-40B4-BE49-F238E27FC236}">
                <a16:creationId xmlns:a16="http://schemas.microsoft.com/office/drawing/2014/main" id="{4EA795A2-BE43-491C-8CE1-217726AE938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2" name="Rectangle: Rounded Corners 11">
            <a:extLst>
              <a:ext uri="{FF2B5EF4-FFF2-40B4-BE49-F238E27FC236}">
                <a16:creationId xmlns:a16="http://schemas.microsoft.com/office/drawing/2014/main" id="{DE454965-2CF1-44F3-A99E-B7357732A889}"/>
              </a:ext>
            </a:extLst>
          </p:cNvPr>
          <p:cNvSpPr/>
          <p:nvPr/>
        </p:nvSpPr>
        <p:spPr>
          <a:xfrm>
            <a:off x="366134" y="1325015"/>
            <a:ext cx="2365806" cy="226292"/>
          </a:xfrm>
          <a:prstGeom prst="roundRect">
            <a:avLst/>
          </a:prstGeom>
          <a:solidFill>
            <a:schemeClr val="bg1"/>
          </a:solidFill>
          <a:ln w="28575">
            <a:solidFill>
              <a:schemeClr val="accent1"/>
            </a:solidFill>
          </a:ln>
          <a:effectLst>
            <a:outerShdw blurRad="50800" dist="38100" dir="2700000" algn="tl"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00B2A9">
                    <a:lumMod val="50000"/>
                  </a:srgbClr>
                </a:solidFill>
                <a:effectLst/>
                <a:uLnTx/>
                <a:uFillTx/>
                <a:latin typeface="Arial" panose="020B0604020202020204"/>
                <a:ea typeface="+mn-ea"/>
                <a:cs typeface="+mn-cs"/>
              </a:rPr>
              <a:t>ZFGL01: Functional Area Adjustment</a:t>
            </a:r>
          </a:p>
        </p:txBody>
      </p:sp>
      <p:sp>
        <p:nvSpPr>
          <p:cNvPr id="24" name="Speech Bubble: Rectangle 23">
            <a:extLst>
              <a:ext uri="{FF2B5EF4-FFF2-40B4-BE49-F238E27FC236}">
                <a16:creationId xmlns:a16="http://schemas.microsoft.com/office/drawing/2014/main" id="{6A133E79-24A7-4624-AD51-FB1A1187410B}"/>
              </a:ext>
            </a:extLst>
          </p:cNvPr>
          <p:cNvSpPr/>
          <p:nvPr/>
        </p:nvSpPr>
        <p:spPr>
          <a:xfrm>
            <a:off x="6872437" y="1549227"/>
            <a:ext cx="4254366" cy="1671814"/>
          </a:xfrm>
          <a:prstGeom prst="wedgeRectCallout">
            <a:avLst>
              <a:gd name="adj1" fmla="val -146192"/>
              <a:gd name="adj2" fmla="val 135126"/>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72000" bIns="72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In the FCC variant, the option “Process documents immediately” is selected, while no simulation or show document option is selected. This will allow FCC to execute the transaction and post the documents straightaway.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1" u="none" strike="noStrike" kern="1200" cap="none" spc="0" normalizeH="0" baseline="0" noProof="0">
              <a:ln>
                <a:noFill/>
              </a:ln>
              <a:solidFill>
                <a:srgbClr val="000000"/>
              </a:solidFill>
              <a:effectLst/>
              <a:uLnTx/>
              <a:uFillTx/>
              <a:latin typeface="Georgia" panose="02040502050405020303" pitchFamily="18"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1" u="none" strike="noStrike" kern="1200" cap="none" spc="0" normalizeH="0" baseline="0" noProof="0">
                <a:ln>
                  <a:noFill/>
                </a:ln>
                <a:solidFill>
                  <a:srgbClr val="000000"/>
                </a:solidFill>
                <a:effectLst/>
                <a:uLnTx/>
                <a:uFillTx/>
                <a:latin typeface="Georgia" panose="02040502050405020303" pitchFamily="18" charset="0"/>
                <a:ea typeface="+mn-ea"/>
                <a:cs typeface="+mn-cs"/>
              </a:rPr>
              <a:t>As you can see in this example, if we use the FCC variant directly for manual execution, upon execution you receive the document numbers immediately without the opportunity to review the list or select which one you wish to post. </a:t>
            </a:r>
          </a:p>
        </p:txBody>
      </p:sp>
      <p:pic>
        <p:nvPicPr>
          <p:cNvPr id="4" name="Picture 3">
            <a:extLst>
              <a:ext uri="{FF2B5EF4-FFF2-40B4-BE49-F238E27FC236}">
                <a16:creationId xmlns:a16="http://schemas.microsoft.com/office/drawing/2014/main" id="{6A7DFCB9-4AD0-4116-94F2-F6061DF2E0E3}"/>
              </a:ext>
            </a:extLst>
          </p:cNvPr>
          <p:cNvPicPr>
            <a:picLocks noChangeAspect="1"/>
          </p:cNvPicPr>
          <p:nvPr/>
        </p:nvPicPr>
        <p:blipFill>
          <a:blip r:embed="rId3"/>
          <a:stretch>
            <a:fillRect/>
          </a:stretch>
        </p:blipFill>
        <p:spPr>
          <a:xfrm>
            <a:off x="6805028" y="3575677"/>
            <a:ext cx="5257664" cy="2708270"/>
          </a:xfrm>
          <a:prstGeom prst="rect">
            <a:avLst/>
          </a:prstGeom>
          <a:effectLst>
            <a:outerShdw blurRad="50800" dist="38100" dir="2700000" algn="tl" rotWithShape="0">
              <a:prstClr val="black">
                <a:alpha val="40000"/>
              </a:prstClr>
            </a:outerShdw>
          </a:effectLst>
        </p:spPr>
      </p:pic>
      <p:sp>
        <p:nvSpPr>
          <p:cNvPr id="28" name="Rectangle: Rounded Corners 27">
            <a:extLst>
              <a:ext uri="{FF2B5EF4-FFF2-40B4-BE49-F238E27FC236}">
                <a16:creationId xmlns:a16="http://schemas.microsoft.com/office/drawing/2014/main" id="{49E7F55A-2D8E-4E76-A489-FE2C8B00F73C}"/>
              </a:ext>
            </a:extLst>
          </p:cNvPr>
          <p:cNvSpPr/>
          <p:nvPr/>
        </p:nvSpPr>
        <p:spPr>
          <a:xfrm>
            <a:off x="804037" y="4646922"/>
            <a:ext cx="1400148" cy="226293"/>
          </a:xfrm>
          <a:prstGeom prst="roundRect">
            <a:avLst>
              <a:gd name="adj" fmla="val 4268"/>
            </a:avLst>
          </a:prstGeom>
          <a:noFill/>
          <a:ln w="19050">
            <a:solidFill>
              <a:srgbClr val="FF0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1" i="0" u="none" strike="noStrike" kern="1200" cap="none" spc="0" normalizeH="0" baseline="0" noProof="0">
              <a:ln>
                <a:noFill/>
              </a:ln>
              <a:solidFill>
                <a:srgbClr val="00B2A9">
                  <a:lumMod val="50000"/>
                </a:srgbClr>
              </a:solidFill>
              <a:effectLst/>
              <a:uLnTx/>
              <a:uFillTx/>
              <a:latin typeface="Arial" panose="020B0604020202020204"/>
              <a:ea typeface="+mn-ea"/>
              <a:cs typeface="+mn-cs"/>
            </a:endParaRPr>
          </a:p>
        </p:txBody>
      </p:sp>
      <p:cxnSp>
        <p:nvCxnSpPr>
          <p:cNvPr id="19" name="Straight Arrow Connector 18">
            <a:extLst>
              <a:ext uri="{FF2B5EF4-FFF2-40B4-BE49-F238E27FC236}">
                <a16:creationId xmlns:a16="http://schemas.microsoft.com/office/drawing/2014/main" id="{979D60CC-D20B-4407-A025-479F34D520DF}"/>
              </a:ext>
            </a:extLst>
          </p:cNvPr>
          <p:cNvCxnSpPr/>
          <p:nvPr/>
        </p:nvCxnSpPr>
        <p:spPr>
          <a:xfrm flipV="1">
            <a:off x="6567055" y="5126182"/>
            <a:ext cx="305382" cy="121309"/>
          </a:xfrm>
          <a:prstGeom prst="straightConnector1">
            <a:avLst/>
          </a:prstGeom>
          <a:ln w="9525">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0484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D29F4C7-B373-48B3-B2E0-9E6DD928CFE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4C94289-3309-4C35-850A-56FD49B3E346}" type="slidenum">
              <a:rPr kumimoji="0" lang="en-GB" sz="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4" name="Title 3">
            <a:extLst>
              <a:ext uri="{FF2B5EF4-FFF2-40B4-BE49-F238E27FC236}">
                <a16:creationId xmlns:a16="http://schemas.microsoft.com/office/drawing/2014/main" id="{DEA1BCD9-38BE-4E18-89B6-28DB1E688002}"/>
              </a:ext>
            </a:extLst>
          </p:cNvPr>
          <p:cNvSpPr>
            <a:spLocks noGrp="1"/>
          </p:cNvSpPr>
          <p:nvPr>
            <p:ph type="title"/>
          </p:nvPr>
        </p:nvSpPr>
        <p:spPr/>
        <p:txBody>
          <a:bodyPr/>
          <a:lstStyle/>
          <a:p>
            <a:r>
              <a:rPr lang="en-GB"/>
              <a:t>Functional Area Adjustment Posting Example</a:t>
            </a:r>
          </a:p>
        </p:txBody>
      </p:sp>
      <p:pic>
        <p:nvPicPr>
          <p:cNvPr id="5" name="Picture 4">
            <a:extLst>
              <a:ext uri="{FF2B5EF4-FFF2-40B4-BE49-F238E27FC236}">
                <a16:creationId xmlns:a16="http://schemas.microsoft.com/office/drawing/2014/main" id="{A269E0B0-D894-4850-90A1-2AB90654922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365897" y="1232795"/>
            <a:ext cx="9631406" cy="5101671"/>
          </a:xfrm>
          <a:prstGeom prst="rect">
            <a:avLst/>
          </a:prstGeom>
          <a:effectLst>
            <a:outerShdw blurRad="50800" dist="38100" dir="2700000" algn="tl" rotWithShape="0">
              <a:prstClr val="black">
                <a:alpha val="40000"/>
              </a:prstClr>
            </a:outerShdw>
          </a:effectLst>
        </p:spPr>
      </p:pic>
      <p:sp>
        <p:nvSpPr>
          <p:cNvPr id="6" name="Rectangle 5">
            <a:extLst>
              <a:ext uri="{FF2B5EF4-FFF2-40B4-BE49-F238E27FC236}">
                <a16:creationId xmlns:a16="http://schemas.microsoft.com/office/drawing/2014/main" id="{92262BF2-B999-4DF1-ABB0-5BD6303A7843}"/>
              </a:ext>
            </a:extLst>
          </p:cNvPr>
          <p:cNvSpPr/>
          <p:nvPr/>
        </p:nvSpPr>
        <p:spPr>
          <a:xfrm>
            <a:off x="6096000" y="2650836"/>
            <a:ext cx="1985818" cy="12931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E30B6D36-9BD3-4DA7-B86F-28B5B58E48F5}"/>
              </a:ext>
            </a:extLst>
          </p:cNvPr>
          <p:cNvSpPr/>
          <p:nvPr/>
        </p:nvSpPr>
        <p:spPr>
          <a:xfrm>
            <a:off x="6388262" y="4456805"/>
            <a:ext cx="1542473" cy="129310"/>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5CCC219B-F664-46BA-B90A-418AA44158E3}"/>
              </a:ext>
            </a:extLst>
          </p:cNvPr>
          <p:cNvSpPr/>
          <p:nvPr/>
        </p:nvSpPr>
        <p:spPr>
          <a:xfrm>
            <a:off x="6280727" y="5001633"/>
            <a:ext cx="1117600" cy="325697"/>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Rectangle 8">
            <a:extLst>
              <a:ext uri="{FF2B5EF4-FFF2-40B4-BE49-F238E27FC236}">
                <a16:creationId xmlns:a16="http://schemas.microsoft.com/office/drawing/2014/main" id="{EDF14DF8-8504-4E0C-95BE-2F062B1A751C}"/>
              </a:ext>
            </a:extLst>
          </p:cNvPr>
          <p:cNvSpPr/>
          <p:nvPr/>
        </p:nvSpPr>
        <p:spPr>
          <a:xfrm>
            <a:off x="4366539" y="2780146"/>
            <a:ext cx="895927" cy="212436"/>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C14C643B-B371-41B5-8AD4-95D83EA41D09}"/>
              </a:ext>
            </a:extLst>
          </p:cNvPr>
          <p:cNvSpPr/>
          <p:nvPr/>
        </p:nvSpPr>
        <p:spPr>
          <a:xfrm>
            <a:off x="720436" y="3575186"/>
            <a:ext cx="3694546" cy="277091"/>
          </a:xfrm>
          <a:prstGeom prst="rect">
            <a:avLst/>
          </a:prstGeom>
          <a:noFill/>
          <a:ln w="19050">
            <a:solidFill>
              <a:srgbClr val="FF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Speech Bubble: Rectangle 10">
            <a:extLst>
              <a:ext uri="{FF2B5EF4-FFF2-40B4-BE49-F238E27FC236}">
                <a16:creationId xmlns:a16="http://schemas.microsoft.com/office/drawing/2014/main" id="{92D27034-92CF-46A3-B0B3-76E63B9FFDC0}"/>
              </a:ext>
            </a:extLst>
          </p:cNvPr>
          <p:cNvSpPr/>
          <p:nvPr/>
        </p:nvSpPr>
        <p:spPr>
          <a:xfrm>
            <a:off x="9243360" y="1874982"/>
            <a:ext cx="2837804" cy="711199"/>
          </a:xfrm>
          <a:prstGeom prst="wedgeRectCallout">
            <a:avLst>
              <a:gd name="adj1" fmla="val -88038"/>
              <a:gd name="adj2" fmla="val 89366"/>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FFFFFF"/>
                </a:solidFill>
                <a:effectLst/>
                <a:uLnTx/>
                <a:uFillTx/>
                <a:latin typeface="Arial" panose="020B0604020202020204"/>
                <a:ea typeface="+mn-ea"/>
                <a:cs typeface="+mn-cs"/>
              </a:rPr>
              <a:t>Functional Area Adjustment is posted with Document Type SA.</a:t>
            </a:r>
          </a:p>
        </p:txBody>
      </p:sp>
      <p:sp>
        <p:nvSpPr>
          <p:cNvPr id="12" name="Speech Bubble: Rectangle 11">
            <a:extLst>
              <a:ext uri="{FF2B5EF4-FFF2-40B4-BE49-F238E27FC236}">
                <a16:creationId xmlns:a16="http://schemas.microsoft.com/office/drawing/2014/main" id="{B6A4D5AA-3180-4ED2-A328-E86C73E453BF}"/>
              </a:ext>
            </a:extLst>
          </p:cNvPr>
          <p:cNvSpPr/>
          <p:nvPr/>
        </p:nvSpPr>
        <p:spPr>
          <a:xfrm>
            <a:off x="8440996" y="4391892"/>
            <a:ext cx="2837804" cy="711199"/>
          </a:xfrm>
          <a:prstGeom prst="wedgeRectCallout">
            <a:avLst>
              <a:gd name="adj1" fmla="val -84783"/>
              <a:gd name="adj2" fmla="val 63392"/>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FFFFFF"/>
                </a:solidFill>
                <a:effectLst/>
                <a:uLnTx/>
                <a:uFillTx/>
                <a:latin typeface="Arial" panose="020B0604020202020204"/>
                <a:ea typeface="+mn-ea"/>
                <a:cs typeface="+mn-cs"/>
              </a:rPr>
              <a:t>Functional Area Adjustment is executed for specific accounting principles (STAT and/or TAX) in specific ledgers as required by entities.</a:t>
            </a:r>
          </a:p>
        </p:txBody>
      </p:sp>
      <p:sp>
        <p:nvSpPr>
          <p:cNvPr id="13" name="Speech Bubble: Rectangle 12">
            <a:extLst>
              <a:ext uri="{FF2B5EF4-FFF2-40B4-BE49-F238E27FC236}">
                <a16:creationId xmlns:a16="http://schemas.microsoft.com/office/drawing/2014/main" id="{0649F98B-A097-4642-83C5-CFA52654BC92}"/>
              </a:ext>
            </a:extLst>
          </p:cNvPr>
          <p:cNvSpPr/>
          <p:nvPr/>
        </p:nvSpPr>
        <p:spPr>
          <a:xfrm>
            <a:off x="9243360" y="3620655"/>
            <a:ext cx="2837804" cy="604980"/>
          </a:xfrm>
          <a:prstGeom prst="wedgeRectCallout">
            <a:avLst>
              <a:gd name="adj1" fmla="val -95849"/>
              <a:gd name="adj2" fmla="val 85698"/>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defRPr/>
            </a:pPr>
            <a:r>
              <a:rPr lang="en-GB" sz="1050" b="1" dirty="0">
                <a:solidFill>
                  <a:srgbClr val="FFFFFF"/>
                </a:solidFill>
              </a:rPr>
              <a:t>From P5 2020 ZFGL01 is integrated in FCC. Postings made prior to this are posted manually by GBS users.</a:t>
            </a:r>
          </a:p>
        </p:txBody>
      </p:sp>
      <p:sp>
        <p:nvSpPr>
          <p:cNvPr id="14" name="Speech Bubble: Rectangle 13">
            <a:extLst>
              <a:ext uri="{FF2B5EF4-FFF2-40B4-BE49-F238E27FC236}">
                <a16:creationId xmlns:a16="http://schemas.microsoft.com/office/drawing/2014/main" id="{A1B28472-D005-4DAD-968C-E4721DBA00F5}"/>
              </a:ext>
            </a:extLst>
          </p:cNvPr>
          <p:cNvSpPr/>
          <p:nvPr/>
        </p:nvSpPr>
        <p:spPr>
          <a:xfrm>
            <a:off x="4414982" y="6078190"/>
            <a:ext cx="2837804" cy="711199"/>
          </a:xfrm>
          <a:prstGeom prst="wedgeRectCallout">
            <a:avLst>
              <a:gd name="adj1" fmla="val -57768"/>
              <a:gd name="adj2" fmla="val -261283"/>
            </a:avLst>
          </a:prstGeom>
          <a:solidFill>
            <a:schemeClr val="accent1"/>
          </a:solidFill>
          <a:ln w="19050">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FFFFFF"/>
                </a:solidFill>
                <a:effectLst/>
                <a:uLnTx/>
                <a:uFillTx/>
                <a:latin typeface="Arial" panose="020B0604020202020204"/>
                <a:ea typeface="+mn-ea"/>
                <a:cs typeface="+mn-cs"/>
              </a:rPr>
              <a:t>The Accounting Entries are as described on the previous slide: re-posted to Functional Area adjustment GL accounts 89XXXX against 899999. </a:t>
            </a:r>
          </a:p>
        </p:txBody>
      </p:sp>
      <p:cxnSp>
        <p:nvCxnSpPr>
          <p:cNvPr id="16" name="Straight Connector 15">
            <a:extLst>
              <a:ext uri="{FF2B5EF4-FFF2-40B4-BE49-F238E27FC236}">
                <a16:creationId xmlns:a16="http://schemas.microsoft.com/office/drawing/2014/main" id="{A113A59F-9FDA-4BAC-BCFF-81C2C47D261E}"/>
              </a:ext>
            </a:extLst>
          </p:cNvPr>
          <p:cNvCxnSpPr>
            <a:endCxn id="8" idx="1"/>
          </p:cNvCxnSpPr>
          <p:nvPr/>
        </p:nvCxnSpPr>
        <p:spPr>
          <a:xfrm>
            <a:off x="5262466" y="2992582"/>
            <a:ext cx="1018261" cy="2171900"/>
          </a:xfrm>
          <a:prstGeom prst="line">
            <a:avLst/>
          </a:prstGeom>
          <a:ln w="9525">
            <a:solidFill>
              <a:srgbClr val="FF0000"/>
            </a:solidFill>
            <a:tailEnd type="non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3380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90CC5F-7E64-4D1A-90F2-3D2368F93671}"/>
              </a:ext>
            </a:extLst>
          </p:cNvPr>
          <p:cNvSpPr>
            <a:spLocks noGrp="1"/>
          </p:cNvSpPr>
          <p:nvPr>
            <p:ph type="title"/>
          </p:nvPr>
        </p:nvSpPr>
        <p:spPr>
          <a:xfrm>
            <a:off x="515938" y="866408"/>
            <a:ext cx="8961437" cy="4334668"/>
          </a:xfrm>
        </p:spPr>
        <p:txBody>
          <a:bodyPr/>
          <a:lstStyle/>
          <a:p>
            <a:r>
              <a:rPr lang="en-GB"/>
              <a:t>Demonstration &amp; exercises</a:t>
            </a:r>
          </a:p>
        </p:txBody>
      </p:sp>
      <p:sp>
        <p:nvSpPr>
          <p:cNvPr id="2" name="Slide Number Placeholder 1">
            <a:extLst>
              <a:ext uri="{FF2B5EF4-FFF2-40B4-BE49-F238E27FC236}">
                <a16:creationId xmlns:a16="http://schemas.microsoft.com/office/drawing/2014/main" id="{45968D6E-A1C2-48A1-8EEA-68D04FC7DD8F}"/>
              </a:ext>
            </a:extLst>
          </p:cNvPr>
          <p:cNvSpPr>
            <a:spLocks noGrp="1"/>
          </p:cNvSpPr>
          <p:nvPr>
            <p:ph type="sldNum" sz="quarter" idx="12"/>
          </p:nvPr>
        </p:nvSpPr>
        <p:spPr/>
        <p:txBody>
          <a:bodyPr/>
          <a:lstStyle/>
          <a:p>
            <a:fld id="{1A6A2304-23DC-2B46-BD14-F082077842FF}" type="slidenum">
              <a:rPr lang="en-US" smtClean="0"/>
              <a:t>7</a:t>
            </a:fld>
            <a:endParaRPr lang="en-US"/>
          </a:p>
        </p:txBody>
      </p:sp>
      <p:sp>
        <p:nvSpPr>
          <p:cNvPr id="4" name="Rectangle 3">
            <a:extLst>
              <a:ext uri="{FF2B5EF4-FFF2-40B4-BE49-F238E27FC236}">
                <a16:creationId xmlns:a16="http://schemas.microsoft.com/office/drawing/2014/main" id="{7DF6DE24-71F6-4B4D-B00E-1C92B20D83D9}"/>
              </a:ext>
            </a:extLst>
          </p:cNvPr>
          <p:cNvSpPr>
            <a:spLocks noChangeArrowheads="1"/>
          </p:cNvSpPr>
          <p:nvPr/>
        </p:nvSpPr>
        <p:spPr bwMode="auto">
          <a:xfrm>
            <a:off x="725715" y="3050931"/>
            <a:ext cx="10111656" cy="3429151"/>
          </a:xfrm>
          <a:prstGeom prst="rect">
            <a:avLst/>
          </a:prstGeom>
          <a:noFill/>
          <a:ln w="12700">
            <a:noFill/>
            <a:miter lim="800000"/>
            <a:headEnd/>
            <a:tailEnd/>
          </a:ln>
          <a:effectLst/>
        </p:spPr>
        <p:txBody>
          <a:bodyPr lIns="92075" tIns="457200" rIns="92075" bIns="457200"/>
          <a:lstStyle/>
          <a:p>
            <a:pPr marL="180000" indent="-180000" algn="l">
              <a:spcBef>
                <a:spcPct val="40000"/>
              </a:spcBef>
              <a:buClr>
                <a:schemeClr val="bg2"/>
              </a:buClr>
              <a:buSzPct val="80000"/>
              <a:buFont typeface="Wingdings" pitchFamily="2" charset="2"/>
              <a:buChar char="§"/>
            </a:pPr>
            <a:r>
              <a:rPr lang="en-US" b="1" dirty="0">
                <a:solidFill>
                  <a:schemeClr val="bg1"/>
                </a:solidFill>
                <a:cs typeface="Arial" pitchFamily="34" charset="0"/>
              </a:rPr>
              <a:t>Exercise No. 6: </a:t>
            </a:r>
            <a:r>
              <a:rPr lang="en-US" dirty="0">
                <a:solidFill>
                  <a:schemeClr val="bg1"/>
                </a:solidFill>
                <a:cs typeface="Arial" pitchFamily="34" charset="0"/>
              </a:rPr>
              <a:t>Perform Functional Area Adjustments using T-Code ZFGL01</a:t>
            </a:r>
          </a:p>
          <a:p>
            <a:pPr marL="180000" indent="-180000" algn="l">
              <a:spcBef>
                <a:spcPct val="40000"/>
              </a:spcBef>
              <a:buClr>
                <a:schemeClr val="bg2"/>
              </a:buClr>
              <a:buSzPct val="80000"/>
              <a:buFont typeface="Wingdings" pitchFamily="2" charset="2"/>
              <a:buChar char="§"/>
            </a:pPr>
            <a:endParaRPr lang="en-US" sz="1800" dirty="0">
              <a:solidFill>
                <a:schemeClr val="bg1"/>
              </a:solidFill>
              <a:cs typeface="Arial" pitchFamily="34" charset="0"/>
            </a:endParaRPr>
          </a:p>
        </p:txBody>
      </p:sp>
      <p:sp>
        <p:nvSpPr>
          <p:cNvPr id="6" name="Rectangle: Rounded Corners 5">
            <a:extLst>
              <a:ext uri="{FF2B5EF4-FFF2-40B4-BE49-F238E27FC236}">
                <a16:creationId xmlns:a16="http://schemas.microsoft.com/office/drawing/2014/main" id="{BE07B137-E250-4AC5-81D1-F142F8E125F0}"/>
              </a:ext>
            </a:extLst>
          </p:cNvPr>
          <p:cNvSpPr/>
          <p:nvPr/>
        </p:nvSpPr>
        <p:spPr>
          <a:xfrm>
            <a:off x="600318" y="3121269"/>
            <a:ext cx="10152673" cy="3358813"/>
          </a:xfrm>
          <a:prstGeom prst="roundRect">
            <a:avLst>
              <a:gd name="adj" fmla="val 7381"/>
            </a:avLst>
          </a:prstGeom>
          <a:noFill/>
          <a:ln w="57150">
            <a:solidFill>
              <a:schemeClr val="bg1"/>
            </a:solid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1170887"/>
      </p:ext>
    </p:extLst>
  </p:cSld>
  <p:clrMapOvr>
    <a:masterClrMapping/>
  </p:clrMapOvr>
</p:sld>
</file>

<file path=ppt/theme/theme1.xml><?xml version="1.0" encoding="utf-8"?>
<a:theme xmlns:a="http://schemas.openxmlformats.org/drawingml/2006/main" name="1_S4F-ERP Clean IFRS Stat &amp; Tax Rep">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2.xml><?xml version="1.0" encoding="utf-8"?>
<a:theme xmlns:a="http://schemas.openxmlformats.org/drawingml/2006/main" name="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3.xml><?xml version="1.0" encoding="utf-8"?>
<a:theme xmlns:a="http://schemas.openxmlformats.org/drawingml/2006/main" name="1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4.xml><?xml version="1.0" encoding="utf-8"?>
<a:theme xmlns:a="http://schemas.openxmlformats.org/drawingml/2006/main" name="2_S4F-ERP Period End Closing">
  <a:themeElements>
    <a:clrScheme name="Custom 9">
      <a:dk1>
        <a:srgbClr val="000000"/>
      </a:dk1>
      <a:lt1>
        <a:srgbClr val="FFFFFF"/>
      </a:lt1>
      <a:dk2>
        <a:srgbClr val="1A3040"/>
      </a:dk2>
      <a:lt2>
        <a:srgbClr val="DDDDDD"/>
      </a:lt2>
      <a:accent1>
        <a:srgbClr val="74D9D5"/>
      </a:accent1>
      <a:accent2>
        <a:srgbClr val="EAAA00"/>
      </a:accent2>
      <a:accent3>
        <a:srgbClr val="00B2A9"/>
      </a:accent3>
      <a:accent4>
        <a:srgbClr val="8031A7"/>
      </a:accent4>
      <a:accent5>
        <a:srgbClr val="E782A9"/>
      </a:accent5>
      <a:accent6>
        <a:srgbClr val="407EC9"/>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rgbClr val="FF0000"/>
          </a:solidFill>
        </a:ln>
        <a:effectLst>
          <a:outerShdw blurRad="50800" dist="38100" dir="2700000" algn="tl" rotWithShape="0">
            <a:prstClr val="black">
              <a:alpha val="40000"/>
            </a:prst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rgbClr val="FF0000"/>
          </a:solidFill>
          <a:tailEnd type="triangle"/>
        </a:ln>
        <a:effectLst>
          <a:outerShdw blurRad="50800" dist="38100" dir="2700000" algn="tl" rotWithShape="0">
            <a:prstClr val="black">
              <a:alpha val="40000"/>
            </a:prstClr>
          </a:outerShdw>
        </a:effectLst>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a:defRPr dirty="0" err="1" smtClean="0"/>
        </a:defPPr>
      </a:lstStyle>
    </a:txDef>
  </a:objectDefaults>
  <a:extraClrSchemeLst/>
  <a:extLst>
    <a:ext uri="{05A4C25C-085E-4340-85A3-A5531E510DB2}">
      <thm15:themeFamily xmlns:thm15="http://schemas.microsoft.com/office/thememl/2012/main" name="S4F Template" id="{8187A0D7-44D4-4A4B-A36D-CEF7DE641DC2}" vid="{E04EDAD1-AFC5-BE4E-A44C-E641ABC5FF65}"/>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691DA1475FED40816A34A9887BD419" ma:contentTypeVersion="25" ma:contentTypeDescription="Create a new document." ma:contentTypeScope="" ma:versionID="f84ceb03c7fb484362c32ee8faf439b3">
  <xsd:schema xmlns:xsd="http://www.w3.org/2001/XMLSchema" xmlns:xs="http://www.w3.org/2001/XMLSchema" xmlns:p="http://schemas.microsoft.com/office/2006/metadata/properties" xmlns:ns1="http://schemas.microsoft.com/sharepoint/v3" xmlns:ns2="91871c47-af2e-43ea-ad3f-7bb4c536bc45" xmlns:ns3="ba249638-b5c4-4b59-8094-70d8491c2e9c" xmlns:ns4="cb52ee0d-5346-4ae8-a9f9-d746adffeb6b" targetNamespace="http://schemas.microsoft.com/office/2006/metadata/properties" ma:root="true" ma:fieldsID="54372b6b2bb40f924c416d4186193cec" ns1:_="" ns2:_="" ns3:_="" ns4:_="">
    <xsd:import namespace="http://schemas.microsoft.com/sharepoint/v3"/>
    <xsd:import namespace="91871c47-af2e-43ea-ad3f-7bb4c536bc45"/>
    <xsd:import namespace="ba249638-b5c4-4b59-8094-70d8491c2e9c"/>
    <xsd:import namespace="cb52ee0d-5346-4ae8-a9f9-d746adffeb6b"/>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LengthInSeconds" minOccurs="0"/>
                <xsd:element ref="ns2:ReportDate" minOccurs="0"/>
                <xsd:element ref="ns2:MediaServiceAutoTags"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2:MediaServiceSearchProperties" minOccurs="0"/>
                <xsd:element ref="ns1:_ip_UnifiedCompliancePolicyProperties" minOccurs="0"/>
                <xsd:element ref="ns1:_ip_UnifiedCompliancePolicyUIAction" minOccurs="0"/>
                <xsd:element ref="ns2:Remarks" minOccurs="0"/>
                <xsd:element ref="ns2:Details" minOccurs="0"/>
                <xsd:element ref="ns2:FolderInfo" minOccurs="0"/>
                <xsd:element ref="ns2:T_x002d_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7" nillable="true" ma:displayName="Unified Compliance Policy Properties" ma:hidden="true" ma:internalName="_ip_UnifiedCompliancePolicyProperties">
      <xsd:simpleType>
        <xsd:restriction base="dms:Note"/>
      </xsd:simpleType>
    </xsd:element>
    <xsd:element name="_ip_UnifiedCompliancePolicyUIAction" ma:index="2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871c47-af2e-43ea-ad3f-7bb4c536bc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ReportDate" ma:index="16" nillable="true" ma:displayName="Report Date" ma:format="DateOnly" ma:internalName="ReportDate">
      <xsd:simpleType>
        <xsd:restriction base="dms:DateTime"/>
      </xsd:simpleType>
    </xsd:element>
    <xsd:element name="MediaServiceAutoTags" ma:index="17" nillable="true" ma:displayName="Tags" ma:internalName="MediaServiceAutoTag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dfe741-475c-44cf-bcd4-46bfd3fd0691"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OCR" ma:index="23" nillable="true" ma:displayName="Extracted Text" ma:internalName="MediaServiceOCR" ma:readOnly="true">
      <xsd:simpleType>
        <xsd:restriction base="dms:Note">
          <xsd:maxLength value="255"/>
        </xsd:restriction>
      </xsd:simpleType>
    </xsd:element>
    <xsd:element name="MediaServiceLocation" ma:index="24" nillable="true" ma:displayName="Location" ma:indexed="true" ma:internalName="MediaServiceLocation" ma:readOnly="true">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Remarks" ma:index="29" nillable="true" ma:displayName="Remarks" ma:format="Dropdown" ma:internalName="Remarks">
      <xsd:simpleType>
        <xsd:restriction base="dms:Text">
          <xsd:maxLength value="255"/>
        </xsd:restriction>
      </xsd:simpleType>
    </xsd:element>
    <xsd:element name="Details" ma:index="30" nillable="true" ma:displayName="Details" ma:format="Dropdown" ma:internalName="Details">
      <xsd:simpleType>
        <xsd:restriction base="dms:Note">
          <xsd:maxLength value="255"/>
        </xsd:restriction>
      </xsd:simpleType>
    </xsd:element>
    <xsd:element name="FolderInfo" ma:index="31" nillable="true" ma:displayName="Folder/File Info" ma:format="Dropdown" ma:internalName="FolderInfo">
      <xsd:simpleType>
        <xsd:restriction base="dms:Note">
          <xsd:maxLength value="255"/>
        </xsd:restriction>
      </xsd:simpleType>
    </xsd:element>
    <xsd:element name="T_x002d_Code" ma:index="32" nillable="true" ma:displayName="T-Code" ma:format="Dropdown" ma:internalName="T_x002d_Cod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a249638-b5c4-4b59-8094-70d8491c2e9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b52ee0d-5346-4ae8-a9f9-d746adffeb6b"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4cb22aed-3451-4198-9f27-006c28665e31}" ma:internalName="TaxCatchAll" ma:showField="CatchAllData" ma:web="cb52ee0d-5346-4ae8-a9f9-d746adffeb6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ba249638-b5c4-4b59-8094-70d8491c2e9c">
      <UserInfo>
        <DisplayName>Kovzhik, Lina</DisplayName>
        <AccountId>3249</AccountId>
        <AccountType/>
      </UserInfo>
      <UserInfo>
        <DisplayName>Eliseeva, Julia</DisplayName>
        <AccountId>2595</AccountId>
        <AccountType/>
      </UserInfo>
    </SharedWithUsers>
    <ReportDate xmlns="91871c47-af2e-43ea-ad3f-7bb4c536bc45" xsi:nil="true"/>
    <lcf76f155ced4ddcb4097134ff3c332f xmlns="91871c47-af2e-43ea-ad3f-7bb4c536bc45">
      <Terms xmlns="http://schemas.microsoft.com/office/infopath/2007/PartnerControls"/>
    </lcf76f155ced4ddcb4097134ff3c332f>
    <TaxCatchAll xmlns="cb52ee0d-5346-4ae8-a9f9-d746adffeb6b" xsi:nil="true"/>
    <Details xmlns="91871c47-af2e-43ea-ad3f-7bb4c536bc45" xsi:nil="true"/>
    <_ip_UnifiedCompliancePolicyUIAction xmlns="http://schemas.microsoft.com/sharepoint/v3" xsi:nil="true"/>
    <FolderInfo xmlns="91871c47-af2e-43ea-ad3f-7bb4c536bc45" xsi:nil="true"/>
    <_ip_UnifiedCompliancePolicyProperties xmlns="http://schemas.microsoft.com/sharepoint/v3" xsi:nil="true"/>
    <Remarks xmlns="91871c47-af2e-43ea-ad3f-7bb4c536bc45" xsi:nil="true"/>
    <T_x002d_Code xmlns="91871c47-af2e-43ea-ad3f-7bb4c536bc4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E0F2B5-C8BB-407C-BD3E-E5B2B1C38816}"/>
</file>

<file path=customXml/itemProps2.xml><?xml version="1.0" encoding="utf-8"?>
<ds:datastoreItem xmlns:ds="http://schemas.openxmlformats.org/officeDocument/2006/customXml" ds:itemID="{E3BC77B7-89BE-45D2-B43A-94AB4C5F40F4}">
  <ds:schemaRefs>
    <ds:schemaRef ds:uri="http://purl.org/dc/elements/1.1/"/>
    <ds:schemaRef ds:uri="http://purl.org/dc/terms/"/>
    <ds:schemaRef ds:uri="http://purl.org/dc/dcmitype/"/>
    <ds:schemaRef ds:uri="http://schemas.microsoft.com/office/2006/metadata/properties"/>
    <ds:schemaRef ds:uri="http://schemas.microsoft.com/office/2006/documentManagement/types"/>
    <ds:schemaRef ds:uri="http://schemas.openxmlformats.org/package/2006/metadata/core-properties"/>
    <ds:schemaRef ds:uri="http://www.w3.org/XML/1998/namespace"/>
    <ds:schemaRef ds:uri="ba249638-b5c4-4b59-8094-70d8491c2e9c"/>
    <ds:schemaRef ds:uri="http://schemas.microsoft.com/office/infopath/2007/PartnerControls"/>
    <ds:schemaRef ds:uri="cb52ee0d-5346-4ae8-a9f9-d746adffeb6b"/>
    <ds:schemaRef ds:uri="91871c47-af2e-43ea-ad3f-7bb4c536bc45"/>
  </ds:schemaRefs>
</ds:datastoreItem>
</file>

<file path=customXml/itemProps3.xml><?xml version="1.0" encoding="utf-8"?>
<ds:datastoreItem xmlns:ds="http://schemas.openxmlformats.org/officeDocument/2006/customXml" ds:itemID="{5F43394D-A9A2-4315-AC7E-DD8C77BEB19A}">
  <ds:schemaRefs>
    <ds:schemaRef ds:uri="http://schemas.microsoft.com/sharepoint/v3/contenttype/forms"/>
  </ds:schemaRefs>
</ds:datastoreItem>
</file>

<file path=docMetadata/LabelInfo.xml><?xml version="1.0" encoding="utf-8"?>
<clbl:labelList xmlns:clbl="http://schemas.microsoft.com/office/2020/mipLabelMetadata">
  <clbl:label id="{b020b37f-db72-473e-ae54-fb16df408069}" enabled="1" method="Standard" siteId="{705d07a3-2eea-4f3b-ab59-65ca29abeb26}" removed="0"/>
</clbl:labelList>
</file>

<file path=docProps/app.xml><?xml version="1.0" encoding="utf-8"?>
<Properties xmlns="http://schemas.openxmlformats.org/officeDocument/2006/extended-properties" xmlns:vt="http://schemas.openxmlformats.org/officeDocument/2006/docPropsVTypes">
  <Template>S4F Template</Template>
  <TotalTime>84</TotalTime>
  <Words>1247</Words>
  <Application>Microsoft Office PowerPoint</Application>
  <PresentationFormat>Widescreen</PresentationFormat>
  <Paragraphs>66</Paragraphs>
  <Slides>7</Slides>
  <Notes>2</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7</vt:i4>
      </vt:variant>
    </vt:vector>
  </HeadingPairs>
  <TitlesOfParts>
    <vt:vector size="16" baseType="lpstr">
      <vt:lpstr>Aharoni</vt:lpstr>
      <vt:lpstr>Arial</vt:lpstr>
      <vt:lpstr>Calibri</vt:lpstr>
      <vt:lpstr>Georgia</vt:lpstr>
      <vt:lpstr>Wingdings</vt:lpstr>
      <vt:lpstr>1_S4F-ERP Clean IFRS Stat &amp; Tax Rep</vt:lpstr>
      <vt:lpstr>S4F-ERP Period End Closing</vt:lpstr>
      <vt:lpstr>1_S4F-ERP Period End Closing</vt:lpstr>
      <vt:lpstr>2_S4F-ERP Period End Closing</vt:lpstr>
      <vt:lpstr>Period End Closing Key Process Areas and New Period End Checks</vt:lpstr>
      <vt:lpstr>Functional Area Adjustments Process Overview</vt:lpstr>
      <vt:lpstr>Functional Area Adjustment: Execution (1/3)</vt:lpstr>
      <vt:lpstr>Functional Area Adjustment: Execution (2/3)</vt:lpstr>
      <vt:lpstr>Functional Area Adjustment: Execution (3/3)</vt:lpstr>
      <vt:lpstr>Functional Area Adjustment Posting Example</vt:lpstr>
      <vt:lpstr>Demonstration &amp; exercises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Sara Griffiths</dc:creator>
  <cp:lastModifiedBy>Wang, Wei</cp:lastModifiedBy>
  <cp:revision>3</cp:revision>
  <dcterms:created xsi:type="dcterms:W3CDTF">2019-04-11T09:35:08Z</dcterms:created>
  <dcterms:modified xsi:type="dcterms:W3CDTF">2024-04-25T18:23:50Z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0x010100EA691DA1475FED40816A34A9887BD419</vt:lpwstr>
  </property>
  <property fmtid="{D5CDD505-2E9C-101B-9397-08002B2CF9AE}" pid="3" name="Order">
    <vt:r8>1338900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MediaServiceImageTags">
    <vt:lpwstr/>
  </property>
</Properties>
</file>