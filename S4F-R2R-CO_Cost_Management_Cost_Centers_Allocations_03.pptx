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322" r:id="rId5"/>
    <p:sldId id="2308" r:id="rId6"/>
    <p:sldId id="2477" r:id="rId7"/>
    <p:sldId id="2479" r:id="rId8"/>
    <p:sldId id="2476" r:id="rId9"/>
    <p:sldId id="2480" r:id="rId10"/>
    <p:sldId id="2478" r:id="rId11"/>
    <p:sldId id="2481" r:id="rId12"/>
    <p:sldId id="2484" r:id="rId13"/>
    <p:sldId id="2483" r:id="rId14"/>
    <p:sldId id="2482" r:id="rId15"/>
    <p:sldId id="2485" r:id="rId16"/>
    <p:sldId id="3013" r:id="rId17"/>
    <p:sldId id="3018" r:id="rId18"/>
    <p:sldId id="3019" r:id="rId19"/>
    <p:sldId id="3014" r:id="rId20"/>
    <p:sldId id="3015" r:id="rId21"/>
    <p:sldId id="3016" r:id="rId22"/>
    <p:sldId id="3017" r:id="rId23"/>
    <p:sldId id="249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32EF90-3DFA-46C3-A4C1-277D984B7C7B}" v="583" dt="2020-01-16T10:51:48.6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eill, Shauna" userId="1d0a8ccc-c260-429c-86e4-d406a5ac1d3d" providerId="ADAL" clId="{DEC2C0DB-DF00-4069-BE11-4D9DFDCE00AB}"/>
    <pc:docChg chg="custSel modSld">
      <pc:chgData name="O'Neill, Shauna" userId="1d0a8ccc-c260-429c-86e4-d406a5ac1d3d" providerId="ADAL" clId="{DEC2C0DB-DF00-4069-BE11-4D9DFDCE00AB}" dt="2019-11-19T09:15:22.649" v="255" actId="20577"/>
      <pc:docMkLst>
        <pc:docMk/>
      </pc:docMkLst>
      <pc:sldChg chg="modSp">
        <pc:chgData name="O'Neill, Shauna" userId="1d0a8ccc-c260-429c-86e4-d406a5ac1d3d" providerId="ADAL" clId="{DEC2C0DB-DF00-4069-BE11-4D9DFDCE00AB}" dt="2019-11-19T09:13:12.881" v="97" actId="14100"/>
        <pc:sldMkLst>
          <pc:docMk/>
          <pc:sldMk cId="3904067834" sldId="3014"/>
        </pc:sldMkLst>
        <pc:spChg chg="mod">
          <ac:chgData name="O'Neill, Shauna" userId="1d0a8ccc-c260-429c-86e4-d406a5ac1d3d" providerId="ADAL" clId="{DEC2C0DB-DF00-4069-BE11-4D9DFDCE00AB}" dt="2019-11-19T09:12:55.077" v="61" actId="20577"/>
          <ac:spMkLst>
            <pc:docMk/>
            <pc:sldMk cId="3904067834" sldId="3014"/>
            <ac:spMk id="2" creationId="{5D87BA57-D91F-43E5-8035-A3ECCC60560E}"/>
          </ac:spMkLst>
        </pc:spChg>
        <pc:spChg chg="mod">
          <ac:chgData name="O'Neill, Shauna" userId="1d0a8ccc-c260-429c-86e4-d406a5ac1d3d" providerId="ADAL" clId="{DEC2C0DB-DF00-4069-BE11-4D9DFDCE00AB}" dt="2019-11-19T09:13:12.881" v="97" actId="14100"/>
          <ac:spMkLst>
            <pc:docMk/>
            <pc:sldMk cId="3904067834" sldId="3014"/>
            <ac:spMk id="7" creationId="{5EDB42BE-F87D-4EB5-9A84-F381E2553421}"/>
          </ac:spMkLst>
        </pc:spChg>
      </pc:sldChg>
      <pc:sldChg chg="modSp">
        <pc:chgData name="O'Neill, Shauna" userId="1d0a8ccc-c260-429c-86e4-d406a5ac1d3d" providerId="ADAL" clId="{DEC2C0DB-DF00-4069-BE11-4D9DFDCE00AB}" dt="2019-11-19T09:14:47.926" v="220" actId="20577"/>
        <pc:sldMkLst>
          <pc:docMk/>
          <pc:sldMk cId="3993804430" sldId="3015"/>
        </pc:sldMkLst>
        <pc:spChg chg="mod">
          <ac:chgData name="O'Neill, Shauna" userId="1d0a8ccc-c260-429c-86e4-d406a5ac1d3d" providerId="ADAL" clId="{DEC2C0DB-DF00-4069-BE11-4D9DFDCE00AB}" dt="2019-11-19T09:12:49.293" v="57" actId="20577"/>
          <ac:spMkLst>
            <pc:docMk/>
            <pc:sldMk cId="3993804430" sldId="3015"/>
            <ac:spMk id="2" creationId="{5D87BA57-D91F-43E5-8035-A3ECCC60560E}"/>
          </ac:spMkLst>
        </pc:spChg>
        <pc:spChg chg="mod">
          <ac:chgData name="O'Neill, Shauna" userId="1d0a8ccc-c260-429c-86e4-d406a5ac1d3d" providerId="ADAL" clId="{DEC2C0DB-DF00-4069-BE11-4D9DFDCE00AB}" dt="2019-11-19T09:14:47.926" v="220" actId="20577"/>
          <ac:spMkLst>
            <pc:docMk/>
            <pc:sldMk cId="3993804430" sldId="3015"/>
            <ac:spMk id="7" creationId="{5EDB42BE-F87D-4EB5-9A84-F381E2553421}"/>
          </ac:spMkLst>
        </pc:spChg>
      </pc:sldChg>
      <pc:sldChg chg="modSp">
        <pc:chgData name="O'Neill, Shauna" userId="1d0a8ccc-c260-429c-86e4-d406a5ac1d3d" providerId="ADAL" clId="{DEC2C0DB-DF00-4069-BE11-4D9DFDCE00AB}" dt="2019-11-19T09:15:22.649" v="255" actId="20577"/>
        <pc:sldMkLst>
          <pc:docMk/>
          <pc:sldMk cId="891094356" sldId="3016"/>
        </pc:sldMkLst>
        <pc:spChg chg="mod">
          <ac:chgData name="O'Neill, Shauna" userId="1d0a8ccc-c260-429c-86e4-d406a5ac1d3d" providerId="ADAL" clId="{DEC2C0DB-DF00-4069-BE11-4D9DFDCE00AB}" dt="2019-11-19T09:12:45.318" v="55" actId="20577"/>
          <ac:spMkLst>
            <pc:docMk/>
            <pc:sldMk cId="891094356" sldId="3016"/>
            <ac:spMk id="2" creationId="{5D87BA57-D91F-43E5-8035-A3ECCC60560E}"/>
          </ac:spMkLst>
        </pc:spChg>
        <pc:spChg chg="mod">
          <ac:chgData name="O'Neill, Shauna" userId="1d0a8ccc-c260-429c-86e4-d406a5ac1d3d" providerId="ADAL" clId="{DEC2C0DB-DF00-4069-BE11-4D9DFDCE00AB}" dt="2019-11-19T09:15:22.649" v="255" actId="20577"/>
          <ac:spMkLst>
            <pc:docMk/>
            <pc:sldMk cId="891094356" sldId="3016"/>
            <ac:spMk id="7" creationId="{5EDB42BE-F87D-4EB5-9A84-F381E2553421}"/>
          </ac:spMkLst>
        </pc:spChg>
      </pc:sldChg>
      <pc:sldChg chg="modSp">
        <pc:chgData name="O'Neill, Shauna" userId="1d0a8ccc-c260-429c-86e4-d406a5ac1d3d" providerId="ADAL" clId="{DEC2C0DB-DF00-4069-BE11-4D9DFDCE00AB}" dt="2019-11-19T09:13:41.200" v="119" actId="20577"/>
        <pc:sldMkLst>
          <pc:docMk/>
          <pc:sldMk cId="2688793351" sldId="3017"/>
        </pc:sldMkLst>
        <pc:spChg chg="mod">
          <ac:chgData name="O'Neill, Shauna" userId="1d0a8ccc-c260-429c-86e4-d406a5ac1d3d" providerId="ADAL" clId="{DEC2C0DB-DF00-4069-BE11-4D9DFDCE00AB}" dt="2019-11-19T09:12:39.154" v="53" actId="20577"/>
          <ac:spMkLst>
            <pc:docMk/>
            <pc:sldMk cId="2688793351" sldId="3017"/>
            <ac:spMk id="2" creationId="{5D87BA57-D91F-43E5-8035-A3ECCC60560E}"/>
          </ac:spMkLst>
        </pc:spChg>
        <pc:spChg chg="mod">
          <ac:chgData name="O'Neill, Shauna" userId="1d0a8ccc-c260-429c-86e4-d406a5ac1d3d" providerId="ADAL" clId="{DEC2C0DB-DF00-4069-BE11-4D9DFDCE00AB}" dt="2019-11-19T09:13:41.200" v="119" actId="20577"/>
          <ac:spMkLst>
            <pc:docMk/>
            <pc:sldMk cId="2688793351" sldId="3017"/>
            <ac:spMk id="7" creationId="{5EDB42BE-F87D-4EB5-9A84-F381E2553421}"/>
          </ac:spMkLst>
        </pc:spChg>
      </pc:sldChg>
    </pc:docChg>
  </pc:docChgLst>
  <pc:docChgLst>
    <pc:chgData name="O'Neill, Shauna" userId="1d0a8ccc-c260-429c-86e4-d406a5ac1d3d" providerId="ADAL" clId="{A432EF90-3DFA-46C3-A4C1-277D984B7C7B}"/>
    <pc:docChg chg="undo custSel addSld modSld">
      <pc:chgData name="O'Neill, Shauna" userId="1d0a8ccc-c260-429c-86e4-d406a5ac1d3d" providerId="ADAL" clId="{A432EF90-3DFA-46C3-A4C1-277D984B7C7B}" dt="2020-01-16T10:52:37.949" v="1135" actId="14100"/>
      <pc:docMkLst>
        <pc:docMk/>
      </pc:docMkLst>
      <pc:sldChg chg="modSp">
        <pc:chgData name="O'Neill, Shauna" userId="1d0a8ccc-c260-429c-86e4-d406a5ac1d3d" providerId="ADAL" clId="{A432EF90-3DFA-46C3-A4C1-277D984B7C7B}" dt="2020-01-16T10:52:37.949" v="1135" actId="14100"/>
        <pc:sldMkLst>
          <pc:docMk/>
          <pc:sldMk cId="2671714075" sldId="2477"/>
        </pc:sldMkLst>
        <pc:spChg chg="mod">
          <ac:chgData name="O'Neill, Shauna" userId="1d0a8ccc-c260-429c-86e4-d406a5ac1d3d" providerId="ADAL" clId="{A432EF90-3DFA-46C3-A4C1-277D984B7C7B}" dt="2020-01-16T10:52:37.949" v="1135" actId="14100"/>
          <ac:spMkLst>
            <pc:docMk/>
            <pc:sldMk cId="2671714075" sldId="2477"/>
            <ac:spMk id="7" creationId="{5D603310-7E02-4E82-BD44-EC0BD1546E70}"/>
          </ac:spMkLst>
        </pc:spChg>
      </pc:sldChg>
      <pc:sldChg chg="addSp delSp modSp add modAnim">
        <pc:chgData name="O'Neill, Shauna" userId="1d0a8ccc-c260-429c-86e4-d406a5ac1d3d" providerId="ADAL" clId="{A432EF90-3DFA-46C3-A4C1-277D984B7C7B}" dt="2020-01-16T10:31:12.481" v="687" actId="20577"/>
        <pc:sldMkLst>
          <pc:docMk/>
          <pc:sldMk cId="2062245641" sldId="3018"/>
        </pc:sldMkLst>
        <pc:spChg chg="mod">
          <ac:chgData name="O'Neill, Shauna" userId="1d0a8ccc-c260-429c-86e4-d406a5ac1d3d" providerId="ADAL" clId="{A432EF90-3DFA-46C3-A4C1-277D984B7C7B}" dt="2020-01-16T10:16:14.857" v="72" actId="20577"/>
          <ac:spMkLst>
            <pc:docMk/>
            <pc:sldMk cId="2062245641" sldId="3018"/>
            <ac:spMk id="2" creationId="{8B887056-E569-4720-8D9C-B40F7DB43C56}"/>
          </ac:spMkLst>
        </pc:spChg>
        <pc:spChg chg="del">
          <ac:chgData name="O'Neill, Shauna" userId="1d0a8ccc-c260-429c-86e4-d406a5ac1d3d" providerId="ADAL" clId="{A432EF90-3DFA-46C3-A4C1-277D984B7C7B}" dt="2020-01-16T10:16:44.800" v="74"/>
          <ac:spMkLst>
            <pc:docMk/>
            <pc:sldMk cId="2062245641" sldId="3018"/>
            <ac:spMk id="3" creationId="{53277E23-64D4-4FA3-9822-0CD241F3435F}"/>
          </ac:spMkLst>
        </pc:spChg>
        <pc:spChg chg="add mod">
          <ac:chgData name="O'Neill, Shauna" userId="1d0a8ccc-c260-429c-86e4-d406a5ac1d3d" providerId="ADAL" clId="{A432EF90-3DFA-46C3-A4C1-277D984B7C7B}" dt="2020-01-16T10:27:48.701" v="581" actId="20577"/>
          <ac:spMkLst>
            <pc:docMk/>
            <pc:sldMk cId="2062245641" sldId="3018"/>
            <ac:spMk id="6" creationId="{B90E1975-0C34-4404-8BF6-F08D876CCBCF}"/>
          </ac:spMkLst>
        </pc:spChg>
        <pc:spChg chg="add mod">
          <ac:chgData name="O'Neill, Shauna" userId="1d0a8ccc-c260-429c-86e4-d406a5ac1d3d" providerId="ADAL" clId="{A432EF90-3DFA-46C3-A4C1-277D984B7C7B}" dt="2020-01-16T10:31:12.481" v="687" actId="20577"/>
          <ac:spMkLst>
            <pc:docMk/>
            <pc:sldMk cId="2062245641" sldId="3018"/>
            <ac:spMk id="9" creationId="{071E0C65-AC0B-431C-9B74-973E36123FB7}"/>
          </ac:spMkLst>
        </pc:spChg>
        <pc:graphicFrameChg chg="add del mod modGraphic">
          <ac:chgData name="O'Neill, Shauna" userId="1d0a8ccc-c260-429c-86e4-d406a5ac1d3d" providerId="ADAL" clId="{A432EF90-3DFA-46C3-A4C1-277D984B7C7B}" dt="2020-01-16T10:20:32.683" v="207"/>
          <ac:graphicFrameMkLst>
            <pc:docMk/>
            <pc:sldMk cId="2062245641" sldId="3018"/>
            <ac:graphicFrameMk id="7" creationId="{A3D93E60-7B4A-4604-AA9E-57D631F90166}"/>
          </ac:graphicFrameMkLst>
        </pc:graphicFrameChg>
        <pc:graphicFrameChg chg="add mod modGraphic">
          <ac:chgData name="O'Neill, Shauna" userId="1d0a8ccc-c260-429c-86e4-d406a5ac1d3d" providerId="ADAL" clId="{A432EF90-3DFA-46C3-A4C1-277D984B7C7B}" dt="2020-01-16T10:28:49.611" v="588" actId="1076"/>
          <ac:graphicFrameMkLst>
            <pc:docMk/>
            <pc:sldMk cId="2062245641" sldId="3018"/>
            <ac:graphicFrameMk id="8" creationId="{01E4305B-0E36-49F1-B681-011F3F9BD974}"/>
          </ac:graphicFrameMkLst>
        </pc:graphicFrameChg>
      </pc:sldChg>
      <pc:sldChg chg="addSp delSp modSp add delAnim modAnim">
        <pc:chgData name="O'Neill, Shauna" userId="1d0a8ccc-c260-429c-86e4-d406a5ac1d3d" providerId="ADAL" clId="{A432EF90-3DFA-46C3-A4C1-277D984B7C7B}" dt="2020-01-16T10:34:00.879" v="943" actId="20577"/>
        <pc:sldMkLst>
          <pc:docMk/>
          <pc:sldMk cId="438309879" sldId="3019"/>
        </pc:sldMkLst>
        <pc:spChg chg="mod">
          <ac:chgData name="O'Neill, Shauna" userId="1d0a8ccc-c260-429c-86e4-d406a5ac1d3d" providerId="ADAL" clId="{A432EF90-3DFA-46C3-A4C1-277D984B7C7B}" dt="2020-01-16T10:31:31.782" v="695" actId="20577"/>
          <ac:spMkLst>
            <pc:docMk/>
            <pc:sldMk cId="438309879" sldId="3019"/>
            <ac:spMk id="2" creationId="{8B887056-E569-4720-8D9C-B40F7DB43C56}"/>
          </ac:spMkLst>
        </pc:spChg>
        <pc:spChg chg="del">
          <ac:chgData name="O'Neill, Shauna" userId="1d0a8ccc-c260-429c-86e4-d406a5ac1d3d" providerId="ADAL" clId="{A432EF90-3DFA-46C3-A4C1-277D984B7C7B}" dt="2020-01-16T10:31:34.121" v="696" actId="478"/>
          <ac:spMkLst>
            <pc:docMk/>
            <pc:sldMk cId="438309879" sldId="3019"/>
            <ac:spMk id="6" creationId="{B90E1975-0C34-4404-8BF6-F08D876CCBCF}"/>
          </ac:spMkLst>
        </pc:spChg>
        <pc:spChg chg="del">
          <ac:chgData name="O'Neill, Shauna" userId="1d0a8ccc-c260-429c-86e4-d406a5ac1d3d" providerId="ADAL" clId="{A432EF90-3DFA-46C3-A4C1-277D984B7C7B}" dt="2020-01-16T10:31:37.279" v="698" actId="478"/>
          <ac:spMkLst>
            <pc:docMk/>
            <pc:sldMk cId="438309879" sldId="3019"/>
            <ac:spMk id="9" creationId="{071E0C65-AC0B-431C-9B74-973E36123FB7}"/>
          </ac:spMkLst>
        </pc:spChg>
        <pc:spChg chg="add">
          <ac:chgData name="O'Neill, Shauna" userId="1d0a8ccc-c260-429c-86e4-d406a5ac1d3d" providerId="ADAL" clId="{A432EF90-3DFA-46C3-A4C1-277D984B7C7B}" dt="2020-01-16T10:31:58.535" v="699"/>
          <ac:spMkLst>
            <pc:docMk/>
            <pc:sldMk cId="438309879" sldId="3019"/>
            <ac:spMk id="10" creationId="{6DA06E2D-88B4-43CB-9373-4D40AFDEA743}"/>
          </ac:spMkLst>
        </pc:spChg>
        <pc:spChg chg="add mod">
          <ac:chgData name="O'Neill, Shauna" userId="1d0a8ccc-c260-429c-86e4-d406a5ac1d3d" providerId="ADAL" clId="{A432EF90-3DFA-46C3-A4C1-277D984B7C7B}" dt="2020-01-16T10:34:00.879" v="943" actId="20577"/>
          <ac:spMkLst>
            <pc:docMk/>
            <pc:sldMk cId="438309879" sldId="3019"/>
            <ac:spMk id="12" creationId="{DE16F209-3561-4BC8-8060-F66EACF870FA}"/>
          </ac:spMkLst>
        </pc:spChg>
        <pc:graphicFrameChg chg="del">
          <ac:chgData name="O'Neill, Shauna" userId="1d0a8ccc-c260-429c-86e4-d406a5ac1d3d" providerId="ADAL" clId="{A432EF90-3DFA-46C3-A4C1-277D984B7C7B}" dt="2020-01-16T10:31:36.107" v="697" actId="478"/>
          <ac:graphicFrameMkLst>
            <pc:docMk/>
            <pc:sldMk cId="438309879" sldId="3019"/>
            <ac:graphicFrameMk id="8" creationId="{01E4305B-0E36-49F1-B681-011F3F9BD974}"/>
          </ac:graphicFrameMkLst>
        </pc:graphicFrameChg>
        <pc:picChg chg="add">
          <ac:chgData name="O'Neill, Shauna" userId="1d0a8ccc-c260-429c-86e4-d406a5ac1d3d" providerId="ADAL" clId="{A432EF90-3DFA-46C3-A4C1-277D984B7C7B}" dt="2020-01-16T10:31:58.535" v="699"/>
          <ac:picMkLst>
            <pc:docMk/>
            <pc:sldMk cId="438309879" sldId="3019"/>
            <ac:picMk id="11" creationId="{5A403A09-EA99-4FEA-9CCB-CE7A24E58762}"/>
          </ac:picMkLst>
        </pc:picChg>
      </pc:sldChg>
    </pc:docChg>
  </pc:docChgLst>
  <pc:docChgLst>
    <pc:chgData name="Zakrevskaya, Julia" userId="S::cstzakrej@corp.jti.com::79016554-fc06-4349-8d4d-7fef3d29d8b9" providerId="AD" clId="Web-{C9082CE5-0417-657E-3EAF-BC17F7732B15}"/>
    <pc:docChg chg="mod">
      <pc:chgData name="Zakrevskaya, Julia" userId="S::cstzakrej@corp.jti.com::79016554-fc06-4349-8d4d-7fef3d29d8b9" providerId="AD" clId="Web-{C9082CE5-0417-657E-3EAF-BC17F7732B15}" dt="2022-04-29T07:04:05.283" v="0" actId="33475"/>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DBD7F-4BE9-4982-8926-D5811BDF775F}" type="datetimeFigureOut">
              <a:rPr lang="en-US" smtClean="0"/>
              <a:t>4/29/2022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A3B7E-ADC9-4E5A-861E-A0A6463C104A}" type="slidenum">
              <a:rPr lang="en-US" smtClean="0"/>
              <a:t>‹#›</a:t>
            </a:fld>
            <a:endParaRPr lang="en-US"/>
          </a:p>
        </p:txBody>
      </p:sp>
    </p:spTree>
    <p:extLst>
      <p:ext uri="{BB962C8B-B14F-4D97-AF65-F5344CB8AC3E}">
        <p14:creationId xmlns:p14="http://schemas.microsoft.com/office/powerpoint/2010/main" val="538419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535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2028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46816"/>
            <a:ext cx="12193200" cy="4990620"/>
          </a:xfrm>
          <a:prstGeom prst="rect">
            <a:avLst/>
          </a:prstGeom>
        </p:spPr>
      </p:pic>
      <p:sp>
        <p:nvSpPr>
          <p:cNvPr id="6" name="Rectangle 5"/>
          <p:cNvSpPr/>
          <p:nvPr userDrawn="1"/>
        </p:nvSpPr>
        <p:spPr>
          <a:xfrm>
            <a:off x="0" y="4199439"/>
            <a:ext cx="12192000" cy="1440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3819224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0" name="Picture 1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632460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3" name="Group 22"/>
          <p:cNvGrpSpPr/>
          <p:nvPr userDrawn="1"/>
        </p:nvGrpSpPr>
        <p:grpSpPr>
          <a:xfrm>
            <a:off x="515937" y="326276"/>
            <a:ext cx="902611" cy="902611"/>
            <a:chOff x="515937" y="326276"/>
            <a:chExt cx="902611" cy="902611"/>
          </a:xfrm>
        </p:grpSpPr>
        <p:grpSp>
          <p:nvGrpSpPr>
            <p:cNvPr id="24" name="Group 23"/>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1559519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0" name="Group 19"/>
          <p:cNvGrpSpPr/>
          <p:nvPr userDrawn="1"/>
        </p:nvGrpSpPr>
        <p:grpSpPr>
          <a:xfrm>
            <a:off x="515937" y="326276"/>
            <a:ext cx="902611" cy="902611"/>
            <a:chOff x="515937" y="326276"/>
            <a:chExt cx="902611" cy="902611"/>
          </a:xfrm>
        </p:grpSpPr>
        <p:grpSp>
          <p:nvGrpSpPr>
            <p:cNvPr id="21" name="Group 20"/>
            <p:cNvGrpSpPr/>
            <p:nvPr/>
          </p:nvGrpSpPr>
          <p:grpSpPr>
            <a:xfrm>
              <a:off x="515937" y="326276"/>
              <a:ext cx="902611" cy="902611"/>
              <a:chOff x="4492144" y="190843"/>
              <a:chExt cx="855656" cy="855656"/>
            </a:xfrm>
          </p:grpSpPr>
          <p:sp>
            <p:nvSpPr>
              <p:cNvPr id="23" name="Oval 22"/>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4551137" y="249836"/>
                <a:ext cx="737671" cy="737671"/>
              </a:xfrm>
              <a:prstGeom prst="ellipse">
                <a:avLst/>
              </a:prstGeom>
              <a:solidFill>
                <a:schemeClr val="accent1"/>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95901" y="533238"/>
              <a:ext cx="505958" cy="505958"/>
            </a:xfrm>
            <a:prstGeom prst="rect">
              <a:avLst/>
            </a:prstGeom>
          </p:spPr>
        </p:pic>
      </p:grpSp>
    </p:spTree>
    <p:extLst>
      <p:ext uri="{BB962C8B-B14F-4D97-AF65-F5344CB8AC3E}">
        <p14:creationId xmlns:p14="http://schemas.microsoft.com/office/powerpoint/2010/main" val="394445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grpSp>
        <p:nvGrpSpPr>
          <p:cNvPr id="6" name="Group 5"/>
          <p:cNvGrpSpPr/>
          <p:nvPr/>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sz="1600"/>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8" name="Rectangle 7"/>
            <p:cNvSpPr/>
            <p:nvPr/>
          </p:nvSpPr>
          <p:spPr>
            <a:xfrm>
              <a:off x="6096000" y="-11151"/>
              <a:ext cx="6096000" cy="6869151"/>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dirty="0"/>
          </a:p>
        </p:txBody>
      </p:sp>
      <p:sp>
        <p:nvSpPr>
          <p:cNvPr id="11" name="Title 1">
            <a:extLst>
              <a:ext uri="{FF2B5EF4-FFF2-40B4-BE49-F238E27FC236}">
                <a16:creationId xmlns:a16="http://schemas.microsoft.com/office/drawing/2014/main" id="{42F2BE79-9CF6-49D0-828F-83304EE10FA4}"/>
              </a:ext>
            </a:extLst>
          </p:cNvPr>
          <p:cNvSpPr>
            <a:spLocks noGrp="1"/>
          </p:cNvSpPr>
          <p:nvPr>
            <p:ph type="title"/>
          </p:nvPr>
        </p:nvSpPr>
        <p:spPr>
          <a:xfrm>
            <a:off x="515940" y="210346"/>
            <a:ext cx="9898061" cy="984247"/>
          </a:xfrm>
        </p:spPr>
        <p:txBody>
          <a:bodyPr>
            <a:normAutofit/>
          </a:bodyPr>
          <a:lstStyle>
            <a:lvl1pPr>
              <a:defRPr sz="3199"/>
            </a:lvl1pPr>
          </a:lstStyle>
          <a:p>
            <a:r>
              <a:rPr lang="en-US"/>
              <a:t>Click to edit Master title style</a:t>
            </a:r>
            <a:endParaRPr lang="en-GB" dirty="0"/>
          </a:p>
        </p:txBody>
      </p:sp>
      <p:cxnSp>
        <p:nvCxnSpPr>
          <p:cNvPr id="12" name="Straight Connector 11"/>
          <p:cNvCxnSpPr/>
          <p:nvPr/>
        </p:nvCxnSpPr>
        <p:spPr>
          <a:xfrm>
            <a:off x="515940" y="1348042"/>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255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A6A2304-23DC-2B46-BD14-F082077842FF}" type="slidenum">
              <a:rPr lang="en-US" smtClean="0"/>
              <a:t>‹#›</a:t>
            </a:fld>
            <a:endParaRPr lang="en-US" dirty="0"/>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Tree>
    <p:extLst>
      <p:ext uri="{BB962C8B-B14F-4D97-AF65-F5344CB8AC3E}">
        <p14:creationId xmlns:p14="http://schemas.microsoft.com/office/powerpoint/2010/main" val="4056528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789197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602"/>
            <a:ext cx="12192000" cy="4902409"/>
          </a:xfrm>
          <a:prstGeom prst="rect">
            <a:avLst/>
          </a:prstGeom>
          <a:gradFill flip="none" rotWithShape="1">
            <a:gsLst>
              <a:gs pos="0">
                <a:schemeClr val="accent6">
                  <a:lumMod val="75000"/>
                  <a:alpha val="85000"/>
                </a:schemeClr>
              </a:gs>
              <a:gs pos="100000">
                <a:schemeClr val="accent3">
                  <a:alpha val="8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Course Structure</a:t>
            </a:r>
          </a:p>
        </p:txBody>
      </p:sp>
      <p:grpSp>
        <p:nvGrpSpPr>
          <p:cNvPr id="4" name="Group 3">
            <a:extLst>
              <a:ext uri="{FF2B5EF4-FFF2-40B4-BE49-F238E27FC236}">
                <a16:creationId xmlns:a16="http://schemas.microsoft.com/office/drawing/2014/main" id="{70D94340-C2C1-4AC4-B239-D127A63FC583}"/>
              </a:ext>
            </a:extLst>
          </p:cNvPr>
          <p:cNvGrpSpPr/>
          <p:nvPr/>
        </p:nvGrpSpPr>
        <p:grpSpPr>
          <a:xfrm>
            <a:off x="7077073" y="2318140"/>
            <a:ext cx="4771781" cy="3256179"/>
            <a:chOff x="6011091" y="1748227"/>
            <a:chExt cx="4771781" cy="3256179"/>
          </a:xfrm>
        </p:grpSpPr>
        <p:cxnSp>
          <p:nvCxnSpPr>
            <p:cNvPr id="5" name="Elbow Connector 4"/>
            <p:cNvCxnSpPr>
              <a:cxnSpLocks/>
            </p:cNvCxnSpPr>
            <p:nvPr/>
          </p:nvCxnSpPr>
          <p:spPr>
            <a:xfrm flipV="1">
              <a:off x="6011091" y="1953919"/>
              <a:ext cx="1521085" cy="1112592"/>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8" name="Elbow Connector 7"/>
            <p:cNvCxnSpPr>
              <a:cxnSpLocks/>
            </p:cNvCxnSpPr>
            <p:nvPr/>
          </p:nvCxnSpPr>
          <p:spPr>
            <a:xfrm>
              <a:off x="6011091" y="3070832"/>
              <a:ext cx="1521084" cy="1746125"/>
            </a:xfrm>
            <a:prstGeom prst="bentConnector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782605" y="2692997"/>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771633" y="3431286"/>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9" name="Rounded Rectangle 38"/>
            <p:cNvSpPr/>
            <p:nvPr/>
          </p:nvSpPr>
          <p:spPr>
            <a:xfrm>
              <a:off x="7667063" y="2415067"/>
              <a:ext cx="3098543" cy="503693"/>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err="1">
                  <a:ln>
                    <a:noFill/>
                  </a:ln>
                  <a:solidFill>
                    <a:srgbClr val="1A3040"/>
                  </a:solidFill>
                  <a:effectLst/>
                  <a:uLnTx/>
                  <a:uFillTx/>
                  <a:latin typeface="Arial" charset="0"/>
                  <a:ea typeface="Arial" charset="0"/>
                  <a:cs typeface="Arial" charset="0"/>
                </a:rPr>
                <a:t>MyRequest</a:t>
              </a:r>
              <a:r>
                <a:rPr kumimoji="0" lang="en-US" sz="2000" b="1" i="0" u="none" strike="noStrike" kern="1200" cap="none" spc="0" normalizeH="0" baseline="0" noProof="0" dirty="0">
                  <a:ln>
                    <a:noFill/>
                  </a:ln>
                  <a:solidFill>
                    <a:srgbClr val="1A3040"/>
                  </a:solidFill>
                  <a:effectLst/>
                  <a:uLnTx/>
                  <a:uFillTx/>
                  <a:latin typeface="Arial" charset="0"/>
                  <a:ea typeface="Arial" charset="0"/>
                  <a:cs typeface="Arial" charset="0"/>
                </a:rPr>
                <a:t> Templates</a:t>
              </a:r>
              <a:endParaRPr kumimoji="0" lang="en-GB" sz="1400" b="0" i="0" u="none" strike="noStrike" kern="1200" cap="none" spc="0" normalizeH="0" baseline="0" noProof="0" dirty="0">
                <a:ln>
                  <a:noFill/>
                </a:ln>
                <a:solidFill>
                  <a:srgbClr val="1A3040"/>
                </a:solidFill>
                <a:effectLst/>
                <a:uLnTx/>
                <a:uFillTx/>
                <a:latin typeface="Arial" panose="020B0604020202020204"/>
                <a:ea typeface="+mn-ea"/>
                <a:cs typeface="+mn-cs"/>
              </a:endParaRPr>
            </a:p>
          </p:txBody>
        </p:sp>
        <p:sp>
          <p:nvSpPr>
            <p:cNvPr id="40" name="Rounded Rectangle 39"/>
            <p:cNvSpPr/>
            <p:nvPr/>
          </p:nvSpPr>
          <p:spPr>
            <a:xfrm>
              <a:off x="7667062" y="4593759"/>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Reporting</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
          <p:nvSpPr>
            <p:cNvPr id="41" name="Rounded Rectangle 40"/>
            <p:cNvSpPr/>
            <p:nvPr/>
          </p:nvSpPr>
          <p:spPr>
            <a:xfrm>
              <a:off x="7684329" y="1748227"/>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Allocation Overview</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2" name="Rounded Rectangle 41"/>
            <p:cNvSpPr/>
            <p:nvPr/>
          </p:nvSpPr>
          <p:spPr>
            <a:xfrm>
              <a:off x="7684329" y="3170993"/>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charset="0"/>
                  <a:ea typeface="Arial" charset="0"/>
                  <a:cs typeface="Arial" charset="0"/>
                </a:rPr>
                <a:t>Statistical Key Figures</a:t>
              </a:r>
              <a:endParaRPr kumimoji="0" lang="en-GB" sz="14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nvGrpSpPr>
          <p:cNvPr id="45" name="Group 44">
            <a:extLst>
              <a:ext uri="{FF2B5EF4-FFF2-40B4-BE49-F238E27FC236}">
                <a16:creationId xmlns:a16="http://schemas.microsoft.com/office/drawing/2014/main" id="{F77C96DA-6D3F-467A-B3E8-3CC5415443E6}"/>
              </a:ext>
            </a:extLst>
          </p:cNvPr>
          <p:cNvGrpSpPr/>
          <p:nvPr/>
        </p:nvGrpSpPr>
        <p:grpSpPr>
          <a:xfrm>
            <a:off x="571776" y="2586817"/>
            <a:ext cx="6635055" cy="2208261"/>
            <a:chOff x="4381175" y="2883731"/>
            <a:chExt cx="7294886" cy="2427864"/>
          </a:xfrm>
        </p:grpSpPr>
        <p:grpSp>
          <p:nvGrpSpPr>
            <p:cNvPr id="46" name="Group 45">
              <a:extLst>
                <a:ext uri="{FF2B5EF4-FFF2-40B4-BE49-F238E27FC236}">
                  <a16:creationId xmlns:a16="http://schemas.microsoft.com/office/drawing/2014/main" id="{B2B3B6AD-A256-49AE-9BCE-F450EF85789C}"/>
                </a:ext>
              </a:extLst>
            </p:cNvPr>
            <p:cNvGrpSpPr/>
            <p:nvPr/>
          </p:nvGrpSpPr>
          <p:grpSpPr>
            <a:xfrm>
              <a:off x="7444303" y="2883731"/>
              <a:ext cx="4231758" cy="2427864"/>
              <a:chOff x="7444303" y="2883731"/>
              <a:chExt cx="4231758" cy="2427864"/>
            </a:xfrm>
          </p:grpSpPr>
          <p:sp>
            <p:nvSpPr>
              <p:cNvPr id="56" name="TextBox 55">
                <a:extLst>
                  <a:ext uri="{FF2B5EF4-FFF2-40B4-BE49-F238E27FC236}">
                    <a16:creationId xmlns:a16="http://schemas.microsoft.com/office/drawing/2014/main" id="{E228B0FE-6D83-493E-9301-B1FB775CD1E1}"/>
                  </a:ext>
                </a:extLst>
              </p:cNvPr>
              <p:cNvSpPr txBox="1"/>
              <p:nvPr/>
            </p:nvSpPr>
            <p:spPr>
              <a:xfrm>
                <a:off x="7444304" y="4756406"/>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Reporting</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57" name="Group 56">
                <a:extLst>
                  <a:ext uri="{FF2B5EF4-FFF2-40B4-BE49-F238E27FC236}">
                    <a16:creationId xmlns:a16="http://schemas.microsoft.com/office/drawing/2014/main" id="{D4D1B8B5-A99F-4456-BF69-1BC06E3A2544}"/>
                  </a:ext>
                </a:extLst>
              </p:cNvPr>
              <p:cNvGrpSpPr/>
              <p:nvPr/>
            </p:nvGrpSpPr>
            <p:grpSpPr>
              <a:xfrm>
                <a:off x="7444303" y="2883731"/>
                <a:ext cx="4231757" cy="1393150"/>
                <a:chOff x="7444303" y="2883731"/>
                <a:chExt cx="4231757" cy="1393150"/>
              </a:xfrm>
            </p:grpSpPr>
            <p:sp>
              <p:nvSpPr>
                <p:cNvPr id="58" name="TextBox 57">
                  <a:extLst>
                    <a:ext uri="{FF2B5EF4-FFF2-40B4-BE49-F238E27FC236}">
                      <a16:creationId xmlns:a16="http://schemas.microsoft.com/office/drawing/2014/main" id="{A4162A4B-B0BA-4CEB-A8AE-D9E6ECBB3B3E}"/>
                    </a:ext>
                  </a:extLst>
                </p:cNvPr>
                <p:cNvSpPr txBox="1"/>
                <p:nvPr/>
              </p:nvSpPr>
              <p:spPr>
                <a:xfrm>
                  <a:off x="7444304" y="2883731"/>
                  <a:ext cx="3566596"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Master Data</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17EE4C18-1AC8-4F66-89B1-8D82B10421A9}"/>
                    </a:ext>
                  </a:extLst>
                </p:cNvPr>
                <p:cNvSpPr txBox="1"/>
                <p:nvPr/>
              </p:nvSpPr>
              <p:spPr>
                <a:xfrm>
                  <a:off x="7444303" y="3721692"/>
                  <a:ext cx="4231757" cy="55518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Arial" panose="020B0604020202020204"/>
                      <a:ea typeface="+mn-ea"/>
                      <a:cs typeface="+mn-cs"/>
                    </a:rPr>
                    <a:t>Cost Allocations</a:t>
                  </a:r>
                  <a:endParaRPr kumimoji="0" lang="en-GB" sz="36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grpSp>
        <p:grpSp>
          <p:nvGrpSpPr>
            <p:cNvPr id="47" name="Group 46">
              <a:extLst>
                <a:ext uri="{FF2B5EF4-FFF2-40B4-BE49-F238E27FC236}">
                  <a16:creationId xmlns:a16="http://schemas.microsoft.com/office/drawing/2014/main" id="{64B5CC8E-A833-481B-9C82-B77299A1CE8A}"/>
                </a:ext>
              </a:extLst>
            </p:cNvPr>
            <p:cNvGrpSpPr/>
            <p:nvPr/>
          </p:nvGrpSpPr>
          <p:grpSpPr>
            <a:xfrm>
              <a:off x="4381175" y="3076671"/>
              <a:ext cx="2917844" cy="1931716"/>
              <a:chOff x="4372240" y="3074237"/>
              <a:chExt cx="2917844" cy="1931716"/>
            </a:xfrm>
          </p:grpSpPr>
          <p:cxnSp>
            <p:nvCxnSpPr>
              <p:cNvPr id="48" name="Elbow Connector 31">
                <a:extLst>
                  <a:ext uri="{FF2B5EF4-FFF2-40B4-BE49-F238E27FC236}">
                    <a16:creationId xmlns:a16="http://schemas.microsoft.com/office/drawing/2014/main" id="{894D2673-2395-45F1-8588-5F59EA31189D}"/>
                  </a:ext>
                </a:extLst>
              </p:cNvPr>
              <p:cNvCxnSpPr/>
              <p:nvPr/>
            </p:nvCxnSpPr>
            <p:spPr>
              <a:xfrm flipV="1">
                <a:off x="6194084" y="3201452"/>
                <a:ext cx="1096000" cy="78015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9" name="Elbow Connector 37">
                <a:extLst>
                  <a:ext uri="{FF2B5EF4-FFF2-40B4-BE49-F238E27FC236}">
                    <a16:creationId xmlns:a16="http://schemas.microsoft.com/office/drawing/2014/main" id="{A2F3AE7C-347A-48D8-AD31-573158356A9C}"/>
                  </a:ext>
                </a:extLst>
              </p:cNvPr>
              <p:cNvCxnSpPr/>
              <p:nvPr/>
            </p:nvCxnSpPr>
            <p:spPr>
              <a:xfrm>
                <a:off x="6194084" y="3981604"/>
                <a:ext cx="1096000" cy="1024349"/>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7D62EF97-6383-4878-8772-064BBE48972A}"/>
                  </a:ext>
                </a:extLst>
              </p:cNvPr>
              <p:cNvGrpSpPr/>
              <p:nvPr/>
            </p:nvGrpSpPr>
            <p:grpSpPr>
              <a:xfrm>
                <a:off x="4372240" y="3074237"/>
                <a:ext cx="1850100" cy="1850100"/>
                <a:chOff x="4401574" y="3295146"/>
                <a:chExt cx="624164" cy="624164"/>
              </a:xfrm>
            </p:grpSpPr>
            <p:grpSp>
              <p:nvGrpSpPr>
                <p:cNvPr id="52" name="Group 51">
                  <a:extLst>
                    <a:ext uri="{FF2B5EF4-FFF2-40B4-BE49-F238E27FC236}">
                      <a16:creationId xmlns:a16="http://schemas.microsoft.com/office/drawing/2014/main" id="{7BD523CF-87E2-4AA9-B760-E4798D21874F}"/>
                    </a:ext>
                  </a:extLst>
                </p:cNvPr>
                <p:cNvGrpSpPr/>
                <p:nvPr/>
              </p:nvGrpSpPr>
              <p:grpSpPr>
                <a:xfrm>
                  <a:off x="4401574" y="3295146"/>
                  <a:ext cx="624164" cy="624164"/>
                  <a:chOff x="4492144" y="190843"/>
                  <a:chExt cx="855656" cy="855656"/>
                </a:xfrm>
              </p:grpSpPr>
              <p:sp>
                <p:nvSpPr>
                  <p:cNvPr id="54" name="Oval 53">
                    <a:extLst>
                      <a:ext uri="{FF2B5EF4-FFF2-40B4-BE49-F238E27FC236}">
                        <a16:creationId xmlns:a16="http://schemas.microsoft.com/office/drawing/2014/main" id="{D2132969-4778-4300-BD85-11C99C4357C0}"/>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5" name="Oval 54">
                    <a:extLst>
                      <a:ext uri="{FF2B5EF4-FFF2-40B4-BE49-F238E27FC236}">
                        <a16:creationId xmlns:a16="http://schemas.microsoft.com/office/drawing/2014/main" id="{BC1ACB2E-EB62-4E79-B314-345FA1E5564C}"/>
                      </a:ext>
                    </a:extLst>
                  </p:cNvPr>
                  <p:cNvSpPr/>
                  <p:nvPr/>
                </p:nvSpPr>
                <p:spPr>
                  <a:xfrm>
                    <a:off x="4551137" y="249836"/>
                    <a:ext cx="737671" cy="737671"/>
                  </a:xfrm>
                  <a:prstGeom prst="ellipse">
                    <a:avLst/>
                  </a:prstGeom>
                  <a:solidFill>
                    <a:srgbClr val="74D9D5"/>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53" name="Picture 52">
                  <a:extLst>
                    <a:ext uri="{FF2B5EF4-FFF2-40B4-BE49-F238E27FC236}">
                      <a16:creationId xmlns:a16="http://schemas.microsoft.com/office/drawing/2014/main" id="{7C7E2106-AB7E-4325-9CF9-DD58F258D04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45159" y="3458800"/>
                  <a:ext cx="337454" cy="337454"/>
                </a:xfrm>
                <a:prstGeom prst="rect">
                  <a:avLst/>
                </a:prstGeom>
              </p:spPr>
            </p:pic>
          </p:grpSp>
          <p:cxnSp>
            <p:nvCxnSpPr>
              <p:cNvPr id="51" name="Straight Connector 50">
                <a:extLst>
                  <a:ext uri="{FF2B5EF4-FFF2-40B4-BE49-F238E27FC236}">
                    <a16:creationId xmlns:a16="http://schemas.microsoft.com/office/drawing/2014/main" id="{491EBD49-629A-4877-A1EE-638ABD24D74A}"/>
                  </a:ext>
                </a:extLst>
              </p:cNvPr>
              <p:cNvCxnSpPr>
                <a:cxnSpLocks/>
              </p:cNvCxnSpPr>
              <p:nvPr/>
            </p:nvCxnSpPr>
            <p:spPr>
              <a:xfrm>
                <a:off x="6712794" y="3981604"/>
                <a:ext cx="57729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grpSp>
      </p:grpSp>
      <p:cxnSp>
        <p:nvCxnSpPr>
          <p:cNvPr id="62" name="Straight Connector 61">
            <a:extLst>
              <a:ext uri="{FF2B5EF4-FFF2-40B4-BE49-F238E27FC236}">
                <a16:creationId xmlns:a16="http://schemas.microsoft.com/office/drawing/2014/main" id="{D9EE49EB-5F41-4AD7-B427-657DD5736FDA}"/>
              </a:ext>
            </a:extLst>
          </p:cNvPr>
          <p:cNvCxnSpPr/>
          <p:nvPr/>
        </p:nvCxnSpPr>
        <p:spPr>
          <a:xfrm>
            <a:off x="7865854" y="4678595"/>
            <a:ext cx="749571"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63" name="Rounded Rectangle 39">
            <a:extLst>
              <a:ext uri="{FF2B5EF4-FFF2-40B4-BE49-F238E27FC236}">
                <a16:creationId xmlns:a16="http://schemas.microsoft.com/office/drawing/2014/main" id="{C392DFE8-111D-4C9D-BF14-F5459D60D23D}"/>
              </a:ext>
            </a:extLst>
          </p:cNvPr>
          <p:cNvSpPr/>
          <p:nvPr/>
        </p:nvSpPr>
        <p:spPr>
          <a:xfrm>
            <a:off x="8750311" y="4445061"/>
            <a:ext cx="3098543" cy="410647"/>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0" u="none" strike="noStrike" kern="1200" cap="none" spc="0" normalizeH="0" baseline="0" noProof="0" dirty="0">
                <a:ln>
                  <a:noFill/>
                </a:ln>
                <a:solidFill>
                  <a:srgbClr val="FFFFFF"/>
                </a:solidFill>
                <a:effectLst/>
                <a:uLnTx/>
                <a:uFillTx/>
                <a:latin typeface="Arial"/>
                <a:ea typeface="+mn-ea"/>
                <a:cs typeface="Arial"/>
              </a:rPr>
              <a:t>Direct MCA</a:t>
            </a:r>
            <a:endParaRPr kumimoji="0" lang="en-US" sz="1800" b="0" i="0" u="none" strike="noStrike" kern="1200" cap="none" spc="0" normalizeH="0" baseline="0" noProof="0" dirty="0">
              <a:ln>
                <a:noFill/>
              </a:ln>
              <a:solidFill>
                <a:srgbClr val="FFFFFF"/>
              </a:solidFill>
              <a:effectLst/>
              <a:uLnTx/>
              <a:uFillTx/>
              <a:latin typeface="Arial"/>
              <a:ea typeface="+mn-ea"/>
              <a:cs typeface="Arial"/>
            </a:endParaRPr>
          </a:p>
        </p:txBody>
      </p:sp>
    </p:spTree>
    <p:extLst>
      <p:ext uri="{BB962C8B-B14F-4D97-AF65-F5344CB8AC3E}">
        <p14:creationId xmlns:p14="http://schemas.microsoft.com/office/powerpoint/2010/main" val="36076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1021-9F75-414F-9F9A-E0B884C7558E}"/>
              </a:ext>
            </a:extLst>
          </p:cNvPr>
          <p:cNvSpPr>
            <a:spLocks noGrp="1"/>
          </p:cNvSpPr>
          <p:nvPr>
            <p:ph type="title"/>
          </p:nvPr>
        </p:nvSpPr>
        <p:spPr/>
        <p:txBody>
          <a:bodyPr/>
          <a:lstStyle/>
          <a:p>
            <a:r>
              <a:rPr lang="en-GB" dirty="0"/>
              <a:t>Cost </a:t>
            </a:r>
            <a:r>
              <a:rPr lang="en-GB" dirty="0" err="1"/>
              <a:t>Center</a:t>
            </a:r>
            <a:r>
              <a:rPr lang="en-GB" dirty="0"/>
              <a:t> Allocations – My Request</a:t>
            </a:r>
            <a:endParaRPr lang="en-US" dirty="0"/>
          </a:p>
        </p:txBody>
      </p:sp>
      <p:sp>
        <p:nvSpPr>
          <p:cNvPr id="4" name="Footer Placeholder 3">
            <a:extLst>
              <a:ext uri="{FF2B5EF4-FFF2-40B4-BE49-F238E27FC236}">
                <a16:creationId xmlns:a16="http://schemas.microsoft.com/office/drawing/2014/main" id="{54A6DE59-7DF8-46F6-B8F5-3236E3DAF463}"/>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D0548F23-DEA9-4C38-A6BF-6668960667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16BA2D83-EA10-41AF-A39B-B0DBE1275B3A}"/>
              </a:ext>
            </a:extLst>
          </p:cNvPr>
          <p:cNvGrpSpPr/>
          <p:nvPr/>
        </p:nvGrpSpPr>
        <p:grpSpPr>
          <a:xfrm>
            <a:off x="603034" y="1549285"/>
            <a:ext cx="11073028" cy="4802183"/>
            <a:chOff x="603034" y="1549285"/>
            <a:chExt cx="11073028" cy="4802183"/>
          </a:xfrm>
        </p:grpSpPr>
        <p:sp>
          <p:nvSpPr>
            <p:cNvPr id="7" name="Rectangle: Diagonal Corners Rounded 6">
              <a:extLst>
                <a:ext uri="{FF2B5EF4-FFF2-40B4-BE49-F238E27FC236}">
                  <a16:creationId xmlns:a16="http://schemas.microsoft.com/office/drawing/2014/main" id="{B362339C-9B5F-469E-B097-C150527D922C}"/>
                </a:ext>
              </a:extLst>
            </p:cNvPr>
            <p:cNvSpPr/>
            <p:nvPr/>
          </p:nvSpPr>
          <p:spPr>
            <a:xfrm>
              <a:off x="603034" y="1549285"/>
              <a:ext cx="4206891" cy="4802183"/>
            </a:xfrm>
            <a:prstGeom prst="round2DiagRect">
              <a:avLst/>
            </a:prstGeom>
            <a:gradFill rotWithShape="1">
              <a:gsLst>
                <a:gs pos="0">
                  <a:srgbClr val="88D5B8">
                    <a:satMod val="103000"/>
                    <a:lumMod val="102000"/>
                    <a:tint val="94000"/>
                  </a:srgbClr>
                </a:gs>
                <a:gs pos="50000">
                  <a:srgbClr val="88D5B8">
                    <a:satMod val="110000"/>
                    <a:lumMod val="100000"/>
                    <a:shade val="100000"/>
                  </a:srgbClr>
                </a:gs>
                <a:gs pos="100000">
                  <a:srgbClr val="88D5B8">
                    <a:lumMod val="99000"/>
                    <a:satMod val="120000"/>
                    <a:shade val="78000"/>
                  </a:srgbClr>
                </a:gs>
              </a:gsLst>
              <a:lin ang="5400000" scaled="0"/>
            </a:gradFill>
            <a:ln w="6350" cap="flat" cmpd="sng" algn="ctr">
              <a:noFill/>
              <a:prstDash val="solid"/>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rtlCol="0" anchor="t"/>
            <a:lstStyle/>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rPr>
                <a:t>MyRequest is the replacement of the SRT system</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rPr>
                <a:t>There will be a MyRequest template specifically for creation or changes to cost center allocation cycles</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rPr>
                <a:t>This template has fewer selection choices than the previous SRT template for allocation cycles to help markets </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rPr>
                <a:t>The template will also contain guidance in the help section, and a number of validations to check the details before submission </a:t>
              </a: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endParaRPr kumimoji="0" lang="en-GB" sz="10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base" latinLnBrk="0" hangingPunct="1">
                <a:lnSpc>
                  <a:spcPct val="100000"/>
                </a:lnSpc>
                <a:spcBef>
                  <a:spcPct val="0"/>
                </a:spcBef>
                <a:spcAft>
                  <a:spcPct val="0"/>
                </a:spcAft>
                <a:buClrTx/>
                <a:buSzTx/>
                <a:buFont typeface="Wingdings" panose="05000000000000000000" pitchFamily="2" charset="2"/>
                <a:buChar char="ü"/>
                <a:tabLst/>
                <a:defRPr/>
              </a:pPr>
              <a:r>
                <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rPr>
                <a:t>Further training on templates will be provided by BSC</a:t>
              </a: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95BDE0DA-7A30-4739-8E27-EC6250E232B1}"/>
                </a:ext>
              </a:extLst>
            </p:cNvPr>
            <p:cNvPicPr>
              <a:picLocks noChangeAspect="1"/>
            </p:cNvPicPr>
            <p:nvPr/>
          </p:nvPicPr>
          <p:blipFill>
            <a:blip r:embed="rId2"/>
            <a:stretch>
              <a:fillRect/>
            </a:stretch>
          </p:blipFill>
          <p:spPr>
            <a:xfrm>
              <a:off x="5074157" y="1549285"/>
              <a:ext cx="6601905" cy="2644567"/>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B21CE1E8-D7D1-47C5-95E9-5F9FEC795A80}"/>
                </a:ext>
              </a:extLst>
            </p:cNvPr>
            <p:cNvPicPr>
              <a:picLocks noChangeAspect="1"/>
            </p:cNvPicPr>
            <p:nvPr/>
          </p:nvPicPr>
          <p:blipFill>
            <a:blip r:embed="rId3"/>
            <a:stretch>
              <a:fillRect/>
            </a:stretch>
          </p:blipFill>
          <p:spPr>
            <a:xfrm>
              <a:off x="5074157" y="4189106"/>
              <a:ext cx="6601905" cy="1697783"/>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3122359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E845-10A6-4954-A34B-03C7DB15DAC2}"/>
              </a:ext>
            </a:extLst>
          </p:cNvPr>
          <p:cNvSpPr>
            <a:spLocks noGrp="1"/>
          </p:cNvSpPr>
          <p:nvPr>
            <p:ph type="title"/>
          </p:nvPr>
        </p:nvSpPr>
        <p:spPr/>
        <p:txBody>
          <a:bodyPr/>
          <a:lstStyle/>
          <a:p>
            <a:r>
              <a:rPr lang="en-GB" dirty="0"/>
              <a:t>Cost </a:t>
            </a:r>
            <a:r>
              <a:rPr lang="en-GB" dirty="0" err="1"/>
              <a:t>Center</a:t>
            </a:r>
            <a:r>
              <a:rPr lang="en-GB" dirty="0"/>
              <a:t> Allocations Template</a:t>
            </a:r>
          </a:p>
        </p:txBody>
      </p:sp>
      <p:sp>
        <p:nvSpPr>
          <p:cNvPr id="5" name="Slide Number Placeholder 4">
            <a:extLst>
              <a:ext uri="{FF2B5EF4-FFF2-40B4-BE49-F238E27FC236}">
                <a16:creationId xmlns:a16="http://schemas.microsoft.com/office/drawing/2014/main" id="{A921CDEE-13F1-4F99-BFCA-C55230C0DF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5D603310-7E02-4E82-BD44-EC0BD1546E70}"/>
              </a:ext>
            </a:extLst>
          </p:cNvPr>
          <p:cNvSpPr/>
          <p:nvPr/>
        </p:nvSpPr>
        <p:spPr>
          <a:xfrm>
            <a:off x="750693" y="3695713"/>
            <a:ext cx="10802025" cy="249369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Request Type: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Determines the type of a cycle and type of the location (Market or Global Leaf / GSC)</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Company code: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Determines the entity where allocation is going to take place. Any Cost center allocation cycle can only be performed in one company code.</a:t>
            </a:r>
          </a:p>
          <a:p>
            <a:pPr marL="171450" lvl="0" indent="-171450">
              <a:spcBef>
                <a:spcPts val="600"/>
              </a:spcBef>
              <a:buFont typeface="Arial" panose="020B0604020202020204" pitchFamily="34" charset="0"/>
              <a:buChar char="•"/>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Status: </a:t>
            </a:r>
            <a:r>
              <a:rPr lang="en-US" sz="1200" dirty="0">
                <a:solidFill>
                  <a:srgbClr val="000000"/>
                </a:solidFill>
                <a:latin typeface="Arial" panose="020B0604020202020204" pitchFamily="34" charset="0"/>
              </a:rPr>
              <a:t>Determines if this is to create a new cycle or to make changes. If changes are to be made one request per cycle being changed should be submitted and must list all the changes to the relevant segment(s) – providing the cycle and segment names.</a:t>
            </a:r>
          </a:p>
        </p:txBody>
      </p:sp>
      <p:sp>
        <p:nvSpPr>
          <p:cNvPr id="9" name="Rectangle: Rounded Corners 8">
            <a:extLst>
              <a:ext uri="{FF2B5EF4-FFF2-40B4-BE49-F238E27FC236}">
                <a16:creationId xmlns:a16="http://schemas.microsoft.com/office/drawing/2014/main" id="{482F0A1E-EBEA-4895-95C7-48A8C4B92A92}"/>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16" name="Arrow: Right 15">
            <a:extLst>
              <a:ext uri="{FF2B5EF4-FFF2-40B4-BE49-F238E27FC236}">
                <a16:creationId xmlns:a16="http://schemas.microsoft.com/office/drawing/2014/main" id="{E4B2D92B-E904-49F4-A8C3-BD14896104EA}"/>
              </a:ext>
            </a:extLst>
          </p:cNvPr>
          <p:cNvSpPr/>
          <p:nvPr/>
        </p:nvSpPr>
        <p:spPr>
          <a:xfrm rot="5400000">
            <a:off x="2980252" y="3339461"/>
            <a:ext cx="1008223" cy="712501"/>
          </a:xfrm>
          <a:prstGeom prst="rightArrow">
            <a:avLst>
              <a:gd name="adj1" fmla="val 50000"/>
              <a:gd name="adj2" fmla="val 30275"/>
            </a:avLst>
          </a:prstGeom>
          <a:gradFill flip="none" rotWithShape="1">
            <a:gsLst>
              <a:gs pos="0">
                <a:schemeClr val="accent1">
                  <a:lumMod val="75000"/>
                </a:schemeClr>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7" name="Picture 2">
            <a:extLst>
              <a:ext uri="{FF2B5EF4-FFF2-40B4-BE49-F238E27FC236}">
                <a16:creationId xmlns:a16="http://schemas.microsoft.com/office/drawing/2014/main" id="{FF93FCE2-0FEC-4140-858D-B0E659A6C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47" y="1868970"/>
            <a:ext cx="5733153" cy="129331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227A8D3F-E78B-4404-8439-92667619BBA9}"/>
              </a:ext>
            </a:extLst>
          </p:cNvPr>
          <p:cNvPicPr>
            <a:picLocks noChangeAspect="1"/>
          </p:cNvPicPr>
          <p:nvPr/>
        </p:nvPicPr>
        <p:blipFill>
          <a:blip r:embed="rId4"/>
          <a:stretch>
            <a:fillRect/>
          </a:stretch>
        </p:blipFill>
        <p:spPr>
          <a:xfrm>
            <a:off x="7981535" y="3835987"/>
            <a:ext cx="2387723" cy="558829"/>
          </a:xfrm>
          <a:prstGeom prst="rect">
            <a:avLst/>
          </a:prstGeom>
        </p:spPr>
      </p:pic>
      <p:sp>
        <p:nvSpPr>
          <p:cNvPr id="19" name="Rectangle: Rounded Corners 18">
            <a:extLst>
              <a:ext uri="{FF2B5EF4-FFF2-40B4-BE49-F238E27FC236}">
                <a16:creationId xmlns:a16="http://schemas.microsoft.com/office/drawing/2014/main" id="{11DBB821-1F84-41E6-87AD-C1E5E229BF00}"/>
              </a:ext>
            </a:extLst>
          </p:cNvPr>
          <p:cNvSpPr/>
          <p:nvPr/>
        </p:nvSpPr>
        <p:spPr>
          <a:xfrm>
            <a:off x="6644445" y="1868971"/>
            <a:ext cx="5061901" cy="1322630"/>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err="1">
                <a:ln>
                  <a:noFill/>
                </a:ln>
                <a:solidFill>
                  <a:srgbClr val="000000"/>
                </a:solidFill>
                <a:effectLst/>
                <a:uLnTx/>
                <a:uFillTx/>
                <a:latin typeface="Arial" panose="020B0604020202020204"/>
                <a:ea typeface="+mn-ea"/>
                <a:cs typeface="+mn-cs"/>
              </a:rPr>
              <a:t>MyRequest</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 template ‘Cost center allocation cycles’ should be used for creation of both distribution and assessment cycles both for markets and Global Leaf locations. Other GSC factories are out of scope for it as they are creating cycles themselves without BSC involvement </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7171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035BFB5-0EA2-405B-B7BA-C64679AF66A8}"/>
              </a:ext>
            </a:extLst>
          </p:cNvPr>
          <p:cNvGrpSpPr/>
          <p:nvPr/>
        </p:nvGrpSpPr>
        <p:grpSpPr>
          <a:xfrm>
            <a:off x="495652" y="1424483"/>
            <a:ext cx="6369219" cy="2086062"/>
            <a:chOff x="495652" y="1424483"/>
            <a:chExt cx="5946987" cy="1614281"/>
          </a:xfrm>
        </p:grpSpPr>
        <p:pic>
          <p:nvPicPr>
            <p:cNvPr id="12" name="Picture 11">
              <a:extLst>
                <a:ext uri="{FF2B5EF4-FFF2-40B4-BE49-F238E27FC236}">
                  <a16:creationId xmlns:a16="http://schemas.microsoft.com/office/drawing/2014/main" id="{E95420AD-69DB-4147-9E92-DCA1283147B6}"/>
                </a:ext>
              </a:extLst>
            </p:cNvPr>
            <p:cNvPicPr>
              <a:picLocks noChangeAspect="1"/>
            </p:cNvPicPr>
            <p:nvPr/>
          </p:nvPicPr>
          <p:blipFill>
            <a:blip r:embed="rId3"/>
            <a:stretch>
              <a:fillRect/>
            </a:stretch>
          </p:blipFill>
          <p:spPr>
            <a:xfrm>
              <a:off x="589695" y="1650241"/>
              <a:ext cx="5852944" cy="1388523"/>
            </a:xfrm>
            <a:prstGeom prst="rect">
              <a:avLst/>
            </a:prstGeom>
          </p:spPr>
        </p:pic>
        <p:sp>
          <p:nvSpPr>
            <p:cNvPr id="3" name="Rectangle 2">
              <a:extLst>
                <a:ext uri="{FF2B5EF4-FFF2-40B4-BE49-F238E27FC236}">
                  <a16:creationId xmlns:a16="http://schemas.microsoft.com/office/drawing/2014/main" id="{BEE054B7-9A0B-4528-8BFD-E4BFA21F0494}"/>
                </a:ext>
              </a:extLst>
            </p:cNvPr>
            <p:cNvSpPr/>
            <p:nvPr/>
          </p:nvSpPr>
          <p:spPr>
            <a:xfrm>
              <a:off x="495652" y="2631440"/>
              <a:ext cx="5424857" cy="40732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Rectangle 13">
              <a:extLst>
                <a:ext uri="{FF2B5EF4-FFF2-40B4-BE49-F238E27FC236}">
                  <a16:creationId xmlns:a16="http://schemas.microsoft.com/office/drawing/2014/main" id="{8C7B38C1-A5D2-4C2F-9697-020F41CE11F6}"/>
                </a:ext>
              </a:extLst>
            </p:cNvPr>
            <p:cNvSpPr/>
            <p:nvPr/>
          </p:nvSpPr>
          <p:spPr>
            <a:xfrm>
              <a:off x="495652" y="1424483"/>
              <a:ext cx="3040028" cy="97011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9D85186C-91D2-4739-8DF5-80C4A54EB907}"/>
                </a:ext>
              </a:extLst>
            </p:cNvPr>
            <p:cNvSpPr/>
            <p:nvPr/>
          </p:nvSpPr>
          <p:spPr>
            <a:xfrm>
              <a:off x="3556000" y="1650241"/>
              <a:ext cx="2814320" cy="981198"/>
            </a:xfrm>
            <a:prstGeom prst="rect">
              <a:avLst/>
            </a:prstGeom>
            <a:solidFill>
              <a:schemeClr val="bg1">
                <a:lumMod val="95000"/>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DC7BE845-10A6-4954-A34B-03C7DB15DAC2}"/>
              </a:ext>
            </a:extLst>
          </p:cNvPr>
          <p:cNvSpPr>
            <a:spLocks noGrp="1"/>
          </p:cNvSpPr>
          <p:nvPr>
            <p:ph type="title"/>
          </p:nvPr>
        </p:nvSpPr>
        <p:spPr/>
        <p:txBody>
          <a:bodyPr/>
          <a:lstStyle/>
          <a:p>
            <a:r>
              <a:rPr lang="en-GB" dirty="0"/>
              <a:t>Cost </a:t>
            </a:r>
            <a:r>
              <a:rPr lang="en-GB" dirty="0" err="1"/>
              <a:t>Center</a:t>
            </a:r>
            <a:r>
              <a:rPr lang="en-GB" dirty="0"/>
              <a:t> Allocations Template – Cycle Name and Structure</a:t>
            </a:r>
          </a:p>
        </p:txBody>
      </p:sp>
      <p:sp>
        <p:nvSpPr>
          <p:cNvPr id="5" name="Slide Number Placeholder 4">
            <a:extLst>
              <a:ext uri="{FF2B5EF4-FFF2-40B4-BE49-F238E27FC236}">
                <a16:creationId xmlns:a16="http://schemas.microsoft.com/office/drawing/2014/main" id="{A921CDEE-13F1-4F99-BFCA-C55230C0DF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5D603310-7E02-4E82-BD44-EC0BD1546E70}"/>
              </a:ext>
            </a:extLst>
          </p:cNvPr>
          <p:cNvSpPr/>
          <p:nvPr/>
        </p:nvSpPr>
        <p:spPr>
          <a:xfrm>
            <a:off x="6864733" y="1497158"/>
            <a:ext cx="4675541" cy="4800363"/>
          </a:xfrm>
          <a:prstGeom prst="rect">
            <a:avLst/>
          </a:prstGeom>
          <a:noFill/>
          <a:ln w="28575">
            <a:solidFill>
              <a:srgbClr val="36C4BE"/>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Cycle name: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 proposed naming convention is the last 3 digits of the entity code, for example, for 2102, the cycle name would start with 102. Then either A or D for Assessment or Distribution followed by a sequential numbering system…01, 02, 03 etc. 102A01</a:t>
            </a:r>
            <a:endPar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 Start/End Dates: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Determine the validity of the cycle, i.e. the period when cycle will be accepted by the system to be run. The same cycle can be used for multiple years if required. Cycles must be valid in the period they are due to be executed. If changes are to be made to a cycle it might be a good idea to change the valid from dates to ensure historical data of the old cycle is traceable.</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Number of Segments: </a:t>
            </a:r>
            <a:r>
              <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Determines how many segments this cycle should have. To make the field for segments visible, you need to press on the button ‘Add segment’. </a:t>
            </a:r>
            <a:r>
              <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Depending on how complex the cost allocation needs to be will determine the number of Segments that will need to be used. More than one segment will be required. For example one segment could be used to equally allocate admin overhead costs to all department cost </a:t>
            </a:r>
            <a:r>
              <a:rPr kumimoji="0" lang="en-GB" sz="1200" b="0" i="0" u="none" strike="noStrike" kern="1200" cap="none" spc="0" normalizeH="0" baseline="0" noProof="0" dirty="0" err="1">
                <a:ln>
                  <a:noFill/>
                </a:ln>
                <a:solidFill>
                  <a:srgbClr val="000000"/>
                </a:solidFill>
                <a:effectLst/>
                <a:uLnTx/>
                <a:uFillTx/>
                <a:latin typeface="Arial" panose="020B0604020202020204" pitchFamily="34" charset="0"/>
                <a:ea typeface="+mn-ea"/>
                <a:cs typeface="+mn-cs"/>
              </a:rPr>
              <a:t>centers</a:t>
            </a:r>
            <a:r>
              <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and the second allocating IT costs based on the number of headcount per department.</a:t>
            </a:r>
          </a:p>
        </p:txBody>
      </p:sp>
      <p:pic>
        <p:nvPicPr>
          <p:cNvPr id="4" name="Picture 3">
            <a:extLst>
              <a:ext uri="{FF2B5EF4-FFF2-40B4-BE49-F238E27FC236}">
                <a16:creationId xmlns:a16="http://schemas.microsoft.com/office/drawing/2014/main" id="{5B81A83E-3648-43CF-953C-FFA0016C325F}"/>
              </a:ext>
            </a:extLst>
          </p:cNvPr>
          <p:cNvPicPr>
            <a:picLocks noChangeAspect="1"/>
          </p:cNvPicPr>
          <p:nvPr/>
        </p:nvPicPr>
        <p:blipFill>
          <a:blip r:embed="rId4"/>
          <a:stretch>
            <a:fillRect/>
          </a:stretch>
        </p:blipFill>
        <p:spPr>
          <a:xfrm>
            <a:off x="637167" y="4248980"/>
            <a:ext cx="5733153" cy="1717560"/>
          </a:xfrm>
          <a:prstGeom prst="rect">
            <a:avLst/>
          </a:prstGeom>
        </p:spPr>
      </p:pic>
      <p:sp>
        <p:nvSpPr>
          <p:cNvPr id="9" name="Rectangle: Rounded Corners 8">
            <a:extLst>
              <a:ext uri="{FF2B5EF4-FFF2-40B4-BE49-F238E27FC236}">
                <a16:creationId xmlns:a16="http://schemas.microsoft.com/office/drawing/2014/main" id="{482F0A1E-EBEA-4895-95C7-48A8C4B92A92}"/>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13" name="Rectangle: Rounded Corners 12">
            <a:extLst>
              <a:ext uri="{FF2B5EF4-FFF2-40B4-BE49-F238E27FC236}">
                <a16:creationId xmlns:a16="http://schemas.microsoft.com/office/drawing/2014/main" id="{7299F686-C7D7-4F9D-8D95-91FC90694ECF}"/>
              </a:ext>
            </a:extLst>
          </p:cNvPr>
          <p:cNvSpPr/>
          <p:nvPr/>
        </p:nvSpPr>
        <p:spPr>
          <a:xfrm>
            <a:off x="651588" y="4078360"/>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16" name="Arrow: Right 15">
            <a:extLst>
              <a:ext uri="{FF2B5EF4-FFF2-40B4-BE49-F238E27FC236}">
                <a16:creationId xmlns:a16="http://schemas.microsoft.com/office/drawing/2014/main" id="{E4B2D92B-E904-49F4-A8C3-BD14896104EA}"/>
              </a:ext>
            </a:extLst>
          </p:cNvPr>
          <p:cNvSpPr/>
          <p:nvPr/>
        </p:nvSpPr>
        <p:spPr>
          <a:xfrm>
            <a:off x="5248508" y="3479737"/>
            <a:ext cx="1551713" cy="712501"/>
          </a:xfrm>
          <a:prstGeom prst="rightArrow">
            <a:avLst>
              <a:gd name="adj1" fmla="val 50000"/>
              <a:gd name="adj2" fmla="val 30275"/>
            </a:avLst>
          </a:prstGeom>
          <a:gradFill flip="none" rotWithShape="1">
            <a:gsLst>
              <a:gs pos="0">
                <a:srgbClr val="36C4BE"/>
              </a:gs>
              <a:gs pos="50000">
                <a:schemeClr val="accent1"/>
              </a:gs>
              <a:gs pos="100000">
                <a:srgbClr val="00B0F0">
                  <a:tint val="23500"/>
                  <a:satMod val="160000"/>
                </a:srgb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55146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CSTSHA~1\AppData\Local\Temp\SNAGHTML14798e80.PNG">
            <a:extLst>
              <a:ext uri="{FF2B5EF4-FFF2-40B4-BE49-F238E27FC236}">
                <a16:creationId xmlns:a16="http://schemas.microsoft.com/office/drawing/2014/main" id="{627D9868-D387-4786-BF05-BB873B90A1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438" y="3944434"/>
            <a:ext cx="4436623" cy="27451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 - Iteration</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EC1D523B-BC07-4650-906F-D9EE35AA1808}"/>
              </a:ext>
            </a:extLst>
          </p:cNvPr>
          <p:cNvGrpSpPr/>
          <p:nvPr/>
        </p:nvGrpSpPr>
        <p:grpSpPr>
          <a:xfrm>
            <a:off x="495652" y="1532895"/>
            <a:ext cx="5966108" cy="1773955"/>
            <a:chOff x="495652" y="1591299"/>
            <a:chExt cx="5946987" cy="1447465"/>
          </a:xfrm>
        </p:grpSpPr>
        <p:pic>
          <p:nvPicPr>
            <p:cNvPr id="7" name="Picture 6">
              <a:extLst>
                <a:ext uri="{FF2B5EF4-FFF2-40B4-BE49-F238E27FC236}">
                  <a16:creationId xmlns:a16="http://schemas.microsoft.com/office/drawing/2014/main" id="{E56F99B4-98C1-4FE0-BE6B-3E4632B5EC0C}"/>
                </a:ext>
              </a:extLst>
            </p:cNvPr>
            <p:cNvPicPr>
              <a:picLocks noChangeAspect="1"/>
            </p:cNvPicPr>
            <p:nvPr/>
          </p:nvPicPr>
          <p:blipFill>
            <a:blip r:embed="rId3"/>
            <a:stretch>
              <a:fillRect/>
            </a:stretch>
          </p:blipFill>
          <p:spPr>
            <a:xfrm>
              <a:off x="589695" y="1650241"/>
              <a:ext cx="5852944" cy="1388523"/>
            </a:xfrm>
            <a:prstGeom prst="rect">
              <a:avLst/>
            </a:prstGeom>
          </p:spPr>
        </p:pic>
        <p:sp>
          <p:nvSpPr>
            <p:cNvPr id="9" name="Rectangle 8">
              <a:extLst>
                <a:ext uri="{FF2B5EF4-FFF2-40B4-BE49-F238E27FC236}">
                  <a16:creationId xmlns:a16="http://schemas.microsoft.com/office/drawing/2014/main" id="{48A5861D-5994-42E2-9084-D000AF6FCDB1}"/>
                </a:ext>
              </a:extLst>
            </p:cNvPr>
            <p:cNvSpPr/>
            <p:nvPr/>
          </p:nvSpPr>
          <p:spPr>
            <a:xfrm>
              <a:off x="3535680" y="1591300"/>
              <a:ext cx="2824652" cy="40276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3491136D-3E6E-43C4-8650-7AF10D8CACCE}"/>
                </a:ext>
              </a:extLst>
            </p:cNvPr>
            <p:cNvSpPr/>
            <p:nvPr/>
          </p:nvSpPr>
          <p:spPr>
            <a:xfrm>
              <a:off x="495652" y="1591299"/>
              <a:ext cx="3040028" cy="83007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1" name="Rectangle 10">
            <a:extLst>
              <a:ext uri="{FF2B5EF4-FFF2-40B4-BE49-F238E27FC236}">
                <a16:creationId xmlns:a16="http://schemas.microsoft.com/office/drawing/2014/main" id="{88E4E5DC-2125-4258-9A2B-AFFF9AB29DE2}"/>
              </a:ext>
            </a:extLst>
          </p:cNvPr>
          <p:cNvSpPr/>
          <p:nvPr/>
        </p:nvSpPr>
        <p:spPr>
          <a:xfrm>
            <a:off x="495652" y="2043621"/>
            <a:ext cx="6281068" cy="1507529"/>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pic>
        <p:nvPicPr>
          <p:cNvPr id="13" name="Picture 12">
            <a:extLst>
              <a:ext uri="{FF2B5EF4-FFF2-40B4-BE49-F238E27FC236}">
                <a16:creationId xmlns:a16="http://schemas.microsoft.com/office/drawing/2014/main" id="{56F5CACF-DD19-4AD2-8051-9139A28B076B}"/>
              </a:ext>
            </a:extLst>
          </p:cNvPr>
          <p:cNvPicPr>
            <a:picLocks noChangeAspect="1"/>
          </p:cNvPicPr>
          <p:nvPr/>
        </p:nvPicPr>
        <p:blipFill>
          <a:blip r:embed="rId4"/>
          <a:stretch>
            <a:fillRect/>
          </a:stretch>
        </p:blipFill>
        <p:spPr>
          <a:xfrm>
            <a:off x="596372" y="3377895"/>
            <a:ext cx="5499628" cy="2963921"/>
          </a:xfrm>
          <a:prstGeom prst="rect">
            <a:avLst/>
          </a:prstGeom>
        </p:spPr>
      </p:pic>
      <p:sp>
        <p:nvSpPr>
          <p:cNvPr id="14" name="Arrow: Right 13">
            <a:extLst>
              <a:ext uri="{FF2B5EF4-FFF2-40B4-BE49-F238E27FC236}">
                <a16:creationId xmlns:a16="http://schemas.microsoft.com/office/drawing/2014/main" id="{403284C9-13B7-41C2-90D3-577DB0C5593D}"/>
              </a:ext>
            </a:extLst>
          </p:cNvPr>
          <p:cNvSpPr/>
          <p:nvPr/>
        </p:nvSpPr>
        <p:spPr>
          <a:xfrm>
            <a:off x="6516431" y="1848551"/>
            <a:ext cx="642574" cy="691701"/>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CDBE010C-0F1A-4A06-8EDE-99C0A107CE41}"/>
              </a:ext>
            </a:extLst>
          </p:cNvPr>
          <p:cNvCxnSpPr>
            <a:cxnSpLocks/>
          </p:cNvCxnSpPr>
          <p:nvPr/>
        </p:nvCxnSpPr>
        <p:spPr>
          <a:xfrm flipV="1">
            <a:off x="1192897" y="2084363"/>
            <a:ext cx="2533181" cy="2791122"/>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6" name="Rectangle 15">
            <a:extLst>
              <a:ext uri="{FF2B5EF4-FFF2-40B4-BE49-F238E27FC236}">
                <a16:creationId xmlns:a16="http://schemas.microsoft.com/office/drawing/2014/main" id="{B28EDE5D-8AE1-4626-A2FD-A2CFFBC3E056}"/>
              </a:ext>
            </a:extLst>
          </p:cNvPr>
          <p:cNvSpPr/>
          <p:nvPr/>
        </p:nvSpPr>
        <p:spPr>
          <a:xfrm>
            <a:off x="596372" y="4870015"/>
            <a:ext cx="1524300" cy="44893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3343690"/>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20" name="Rectangle 19">
            <a:extLst>
              <a:ext uri="{FF2B5EF4-FFF2-40B4-BE49-F238E27FC236}">
                <a16:creationId xmlns:a16="http://schemas.microsoft.com/office/drawing/2014/main" id="{A80D34BB-6BC6-42B4-88CC-6EAD4F764703}"/>
              </a:ext>
            </a:extLst>
          </p:cNvPr>
          <p:cNvSpPr/>
          <p:nvPr/>
        </p:nvSpPr>
        <p:spPr>
          <a:xfrm>
            <a:off x="7239438" y="1424805"/>
            <a:ext cx="4637602" cy="2557916"/>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0000"/>
                </a:solidFill>
                <a:effectLst/>
                <a:uLnTx/>
                <a:uFillTx/>
                <a:latin typeface="Arial" panose="020B0604020202020204"/>
                <a:ea typeface="+mn-ea"/>
                <a:cs typeface="+mn-cs"/>
              </a:rPr>
              <a:t>Iteration</a:t>
            </a:r>
            <a:r>
              <a:rPr kumimoji="0" lang="en-GB" sz="8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You can process allocation cycles iteratively or non-iteratively. When you process an allocation cycle iteratively, the result of one segment is then used by the other segments and processed further. The segments are processed dependent on each other. It is possible that a cost center is also a cost receiver so the cycle must re-run until all the costs in said cost center are allocated. Cost centers that were already credited can thus be re-debited during cycle processing..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0000"/>
                </a:solidFill>
                <a:effectLst/>
                <a:uLnTx/>
                <a:uFillTx/>
                <a:latin typeface="Arial" panose="020B0604020202020204"/>
                <a:ea typeface="+mn-ea"/>
                <a:cs typeface="+mn-cs"/>
              </a:rPr>
              <a:t>In the below example, the cycle begins with Segment A and costs from cost center KS1 are allocated to Receiving cost center KS2. The cycle then moves on to Segment B where the costs are then allocated from cost center KS2 to receiving cost center KS3. The final Segment (C) is then process by the system. Here we can see that cost center KS1 is a receiver of costs so the cycle must start over again with Segment A until all the costs have been allocated. This is an example of iteration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9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5965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able 32">
            <a:extLst>
              <a:ext uri="{FF2B5EF4-FFF2-40B4-BE49-F238E27FC236}">
                <a16:creationId xmlns:a16="http://schemas.microsoft.com/office/drawing/2014/main" id="{8228BC9B-6563-4BDA-9BE4-E1E4AA1123B6}"/>
              </a:ext>
            </a:extLst>
          </p:cNvPr>
          <p:cNvGraphicFramePr>
            <a:graphicFrameLocks noGrp="1"/>
          </p:cNvGraphicFramePr>
          <p:nvPr/>
        </p:nvGraphicFramePr>
        <p:xfrm>
          <a:off x="5925041" y="3678604"/>
          <a:ext cx="2067520" cy="1554011"/>
        </p:xfrm>
        <a:graphic>
          <a:graphicData uri="http://schemas.openxmlformats.org/drawingml/2006/table">
            <a:tbl>
              <a:tblPr firstRow="1" bandRow="1"/>
              <a:tblGrid>
                <a:gridCol w="1265823">
                  <a:extLst>
                    <a:ext uri="{9D8B030D-6E8A-4147-A177-3AD203B41FA5}">
                      <a16:colId xmlns:a16="http://schemas.microsoft.com/office/drawing/2014/main" val="1784131885"/>
                    </a:ext>
                  </a:extLst>
                </a:gridCol>
                <a:gridCol w="801697">
                  <a:extLst>
                    <a:ext uri="{9D8B030D-6E8A-4147-A177-3AD203B41FA5}">
                      <a16:colId xmlns:a16="http://schemas.microsoft.com/office/drawing/2014/main" val="880213478"/>
                    </a:ext>
                  </a:extLst>
                </a:gridCol>
              </a:tblGrid>
              <a:tr h="365291">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000" dirty="0"/>
                        <a:t>PARAMETER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7EC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000" dirty="0"/>
                        <a:t>Amount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07EC9"/>
                    </a:solidFill>
                  </a:tcPr>
                </a:tc>
                <a:extLst>
                  <a:ext uri="{0D108BD9-81ED-4DB2-BD59-A6C34878D82A}">
                    <a16:rowId xmlns:a16="http://schemas.microsoft.com/office/drawing/2014/main" val="91389602"/>
                  </a:ext>
                </a:extLst>
              </a:tr>
              <a:tr h="36529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YTD Actuals on Cost Center A</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t>150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40000"/>
                      </a:srgbClr>
                    </a:solidFill>
                  </a:tcPr>
                </a:tc>
                <a:extLst>
                  <a:ext uri="{0D108BD9-81ED-4DB2-BD59-A6C34878D82A}">
                    <a16:rowId xmlns:a16="http://schemas.microsoft.com/office/drawing/2014/main" val="329476389"/>
                  </a:ext>
                </a:extLst>
              </a:tr>
              <a:tr h="36529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Already allocated to Cost Center B</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t>75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20000"/>
                      </a:srgbClr>
                    </a:solidFill>
                  </a:tcPr>
                </a:tc>
                <a:extLst>
                  <a:ext uri="{0D108BD9-81ED-4DB2-BD59-A6C34878D82A}">
                    <a16:rowId xmlns:a16="http://schemas.microsoft.com/office/drawing/2014/main" val="3973186805"/>
                  </a:ext>
                </a:extLst>
              </a:tr>
              <a:tr h="36529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Already allocated to Cost Center C</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1000" dirty="0"/>
                        <a:t>25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07EC9">
                        <a:tint val="40000"/>
                      </a:srgbClr>
                    </a:solidFill>
                  </a:tcPr>
                </a:tc>
                <a:extLst>
                  <a:ext uri="{0D108BD9-81ED-4DB2-BD59-A6C34878D82A}">
                    <a16:rowId xmlns:a16="http://schemas.microsoft.com/office/drawing/2014/main" val="302310809"/>
                  </a:ext>
                </a:extLst>
              </a:tr>
            </a:tbl>
          </a:graphicData>
        </a:graphic>
      </p:graphicFrame>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 – Cumulative Costs and Ledgers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6" name="Group 5">
            <a:extLst>
              <a:ext uri="{FF2B5EF4-FFF2-40B4-BE49-F238E27FC236}">
                <a16:creationId xmlns:a16="http://schemas.microsoft.com/office/drawing/2014/main" id="{EC1D523B-BC07-4650-906F-D9EE35AA1808}"/>
              </a:ext>
            </a:extLst>
          </p:cNvPr>
          <p:cNvGrpSpPr/>
          <p:nvPr/>
        </p:nvGrpSpPr>
        <p:grpSpPr>
          <a:xfrm>
            <a:off x="485134" y="1541846"/>
            <a:ext cx="5863617" cy="1773955"/>
            <a:chOff x="495652" y="1591299"/>
            <a:chExt cx="5946987" cy="1447465"/>
          </a:xfrm>
        </p:grpSpPr>
        <p:pic>
          <p:nvPicPr>
            <p:cNvPr id="7" name="Picture 6">
              <a:extLst>
                <a:ext uri="{FF2B5EF4-FFF2-40B4-BE49-F238E27FC236}">
                  <a16:creationId xmlns:a16="http://schemas.microsoft.com/office/drawing/2014/main" id="{E56F99B4-98C1-4FE0-BE6B-3E4632B5EC0C}"/>
                </a:ext>
              </a:extLst>
            </p:cNvPr>
            <p:cNvPicPr>
              <a:picLocks noChangeAspect="1"/>
            </p:cNvPicPr>
            <p:nvPr/>
          </p:nvPicPr>
          <p:blipFill>
            <a:blip r:embed="rId2"/>
            <a:stretch>
              <a:fillRect/>
            </a:stretch>
          </p:blipFill>
          <p:spPr>
            <a:xfrm>
              <a:off x="589695" y="1650241"/>
              <a:ext cx="5852944" cy="1388523"/>
            </a:xfrm>
            <a:prstGeom prst="rect">
              <a:avLst/>
            </a:prstGeom>
          </p:spPr>
        </p:pic>
        <p:sp>
          <p:nvSpPr>
            <p:cNvPr id="9" name="Rectangle 8">
              <a:extLst>
                <a:ext uri="{FF2B5EF4-FFF2-40B4-BE49-F238E27FC236}">
                  <a16:creationId xmlns:a16="http://schemas.microsoft.com/office/drawing/2014/main" id="{48A5861D-5994-42E2-9084-D000AF6FCDB1}"/>
                </a:ext>
              </a:extLst>
            </p:cNvPr>
            <p:cNvSpPr/>
            <p:nvPr/>
          </p:nvSpPr>
          <p:spPr>
            <a:xfrm>
              <a:off x="3492438" y="1984978"/>
              <a:ext cx="2824652" cy="43069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3491136D-3E6E-43C4-8650-7AF10D8CACCE}"/>
                </a:ext>
              </a:extLst>
            </p:cNvPr>
            <p:cNvSpPr/>
            <p:nvPr/>
          </p:nvSpPr>
          <p:spPr>
            <a:xfrm>
              <a:off x="495652" y="1591299"/>
              <a:ext cx="3040028" cy="83007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11" name="Rectangle 10">
            <a:extLst>
              <a:ext uri="{FF2B5EF4-FFF2-40B4-BE49-F238E27FC236}">
                <a16:creationId xmlns:a16="http://schemas.microsoft.com/office/drawing/2014/main" id="{88E4E5DC-2125-4258-9A2B-AFFF9AB29DE2}"/>
              </a:ext>
            </a:extLst>
          </p:cNvPr>
          <p:cNvSpPr/>
          <p:nvPr/>
        </p:nvSpPr>
        <p:spPr>
          <a:xfrm>
            <a:off x="495652" y="2594190"/>
            <a:ext cx="5812345" cy="832957"/>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pic>
        <p:nvPicPr>
          <p:cNvPr id="13" name="Picture 12">
            <a:extLst>
              <a:ext uri="{FF2B5EF4-FFF2-40B4-BE49-F238E27FC236}">
                <a16:creationId xmlns:a16="http://schemas.microsoft.com/office/drawing/2014/main" id="{56F5CACF-DD19-4AD2-8051-9139A28B076B}"/>
              </a:ext>
            </a:extLst>
          </p:cNvPr>
          <p:cNvPicPr>
            <a:picLocks noChangeAspect="1"/>
          </p:cNvPicPr>
          <p:nvPr/>
        </p:nvPicPr>
        <p:blipFill>
          <a:blip r:embed="rId3"/>
          <a:stretch>
            <a:fillRect/>
          </a:stretch>
        </p:blipFill>
        <p:spPr>
          <a:xfrm>
            <a:off x="596372" y="3377895"/>
            <a:ext cx="5346339" cy="2881309"/>
          </a:xfrm>
          <a:prstGeom prst="rect">
            <a:avLst/>
          </a:prstGeom>
        </p:spPr>
      </p:pic>
      <p:sp>
        <p:nvSpPr>
          <p:cNvPr id="14" name="Arrow: Right 13">
            <a:extLst>
              <a:ext uri="{FF2B5EF4-FFF2-40B4-BE49-F238E27FC236}">
                <a16:creationId xmlns:a16="http://schemas.microsoft.com/office/drawing/2014/main" id="{403284C9-13B7-41C2-90D3-577DB0C5593D}"/>
              </a:ext>
            </a:extLst>
          </p:cNvPr>
          <p:cNvSpPr/>
          <p:nvPr/>
        </p:nvSpPr>
        <p:spPr>
          <a:xfrm>
            <a:off x="6270885" y="1875379"/>
            <a:ext cx="451550" cy="412592"/>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cxnSp>
        <p:nvCxnSpPr>
          <p:cNvPr id="15" name="Straight Arrow Connector 14">
            <a:extLst>
              <a:ext uri="{FF2B5EF4-FFF2-40B4-BE49-F238E27FC236}">
                <a16:creationId xmlns:a16="http://schemas.microsoft.com/office/drawing/2014/main" id="{CDBE010C-0F1A-4A06-8EDE-99C0A107CE41}"/>
              </a:ext>
            </a:extLst>
          </p:cNvPr>
          <p:cNvCxnSpPr>
            <a:cxnSpLocks/>
          </p:cNvCxnSpPr>
          <p:nvPr/>
        </p:nvCxnSpPr>
        <p:spPr>
          <a:xfrm flipV="1">
            <a:off x="1304135" y="2194560"/>
            <a:ext cx="2404265" cy="3096656"/>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6" name="Rectangle 15">
            <a:extLst>
              <a:ext uri="{FF2B5EF4-FFF2-40B4-BE49-F238E27FC236}">
                <a16:creationId xmlns:a16="http://schemas.microsoft.com/office/drawing/2014/main" id="{B28EDE5D-8AE1-4626-A2FD-A2CFFBC3E056}"/>
              </a:ext>
            </a:extLst>
          </p:cNvPr>
          <p:cNvSpPr/>
          <p:nvPr/>
        </p:nvSpPr>
        <p:spPr>
          <a:xfrm>
            <a:off x="596372" y="5291216"/>
            <a:ext cx="1524300" cy="203961"/>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3343690"/>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20" name="Rectangle 19">
            <a:extLst>
              <a:ext uri="{FF2B5EF4-FFF2-40B4-BE49-F238E27FC236}">
                <a16:creationId xmlns:a16="http://schemas.microsoft.com/office/drawing/2014/main" id="{A80D34BB-6BC6-42B4-88CC-6EAD4F764703}"/>
              </a:ext>
            </a:extLst>
          </p:cNvPr>
          <p:cNvSpPr/>
          <p:nvPr/>
        </p:nvSpPr>
        <p:spPr>
          <a:xfrm>
            <a:off x="6795877" y="1410377"/>
            <a:ext cx="5071003" cy="2207267"/>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Cumulative (YTD Costs) </a:t>
            </a:r>
            <a:r>
              <a:rPr kumimoji="0" lang="en-GB" sz="9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Used for Tracing factor ‘Variable portions. For example, Costs of $100 for the periods of January and February are allocated using a 75/25% split to Cost center 2 &amp; 3. In March there is an extra $50 costs on Cost center 1 so that the total YTD costs total $150.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The system  cumulates the calculated allocation amounts per receiver. It then posts them in the current period, minus the amounts already allocated to each receiver in the previous periods. This ensures that the postings in the prior periods remain unchanged. Therefore in our example the split changes to 50/50%. Cost center 2’s portion on the YTD costs are now 50% of 150 = 75. It has already been allocated 75 so no further posting is required. However cost center 3’s portion of the YTD costs are now 75 but it has only been allocated 25 so far, therefore in March Cost center 3 will be debited 50</a:t>
            </a:r>
          </a:p>
        </p:txBody>
      </p:sp>
      <p:sp>
        <p:nvSpPr>
          <p:cNvPr id="19" name="Rectangle 18">
            <a:extLst>
              <a:ext uri="{FF2B5EF4-FFF2-40B4-BE49-F238E27FC236}">
                <a16:creationId xmlns:a16="http://schemas.microsoft.com/office/drawing/2014/main" id="{C1DD43DF-DA5F-4F29-A20E-EF35F4918797}"/>
              </a:ext>
            </a:extLst>
          </p:cNvPr>
          <p:cNvSpPr/>
          <p:nvPr/>
        </p:nvSpPr>
        <p:spPr>
          <a:xfrm>
            <a:off x="3646174" y="1559784"/>
            <a:ext cx="2624711" cy="470641"/>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27AFAA0A-0A2A-451B-AA4D-C06A035FF144}"/>
              </a:ext>
            </a:extLst>
          </p:cNvPr>
          <p:cNvCxnSpPr>
            <a:cxnSpLocks/>
          </p:cNvCxnSpPr>
          <p:nvPr/>
        </p:nvCxnSpPr>
        <p:spPr>
          <a:xfrm flipV="1">
            <a:off x="3888026" y="2552166"/>
            <a:ext cx="0" cy="3285713"/>
          </a:xfrm>
          <a:prstGeom prst="straightConnector1">
            <a:avLst/>
          </a:prstGeom>
          <a:noFill/>
          <a:ln w="28575">
            <a:solidFill>
              <a:srgbClr val="EAAA00"/>
            </a:solidFill>
            <a:tailEnd type="triangle"/>
          </a:ln>
        </p:spPr>
        <p:style>
          <a:lnRef idx="2">
            <a:schemeClr val="accent1">
              <a:shade val="50000"/>
            </a:schemeClr>
          </a:lnRef>
          <a:fillRef idx="1">
            <a:schemeClr val="accent1"/>
          </a:fillRef>
          <a:effectRef idx="0">
            <a:schemeClr val="accent1"/>
          </a:effectRef>
          <a:fontRef idx="minor">
            <a:schemeClr val="lt1"/>
          </a:fontRef>
        </p:style>
      </p:cxnSp>
      <p:pic>
        <p:nvPicPr>
          <p:cNvPr id="24" name="Picture 23">
            <a:extLst>
              <a:ext uri="{FF2B5EF4-FFF2-40B4-BE49-F238E27FC236}">
                <a16:creationId xmlns:a16="http://schemas.microsoft.com/office/drawing/2014/main" id="{2DAADC7C-59D6-4177-B104-26BC4C11F6B8}"/>
              </a:ext>
            </a:extLst>
          </p:cNvPr>
          <p:cNvPicPr>
            <a:picLocks noChangeAspect="1"/>
          </p:cNvPicPr>
          <p:nvPr/>
        </p:nvPicPr>
        <p:blipFill>
          <a:blip r:embed="rId4"/>
          <a:stretch>
            <a:fillRect/>
          </a:stretch>
        </p:blipFill>
        <p:spPr>
          <a:xfrm>
            <a:off x="4442799" y="4508936"/>
            <a:ext cx="1400453" cy="1091829"/>
          </a:xfrm>
          <a:prstGeom prst="rect">
            <a:avLst/>
          </a:prstGeom>
          <a:ln w="15875">
            <a:solidFill>
              <a:srgbClr val="EAAA00"/>
            </a:solidFill>
            <a:prstDash val="dash"/>
          </a:ln>
        </p:spPr>
      </p:pic>
      <p:sp>
        <p:nvSpPr>
          <p:cNvPr id="26" name="Arrow: Right 25">
            <a:extLst>
              <a:ext uri="{FF2B5EF4-FFF2-40B4-BE49-F238E27FC236}">
                <a16:creationId xmlns:a16="http://schemas.microsoft.com/office/drawing/2014/main" id="{3377E2DE-0FF7-4BAB-92A3-512ACCED1E21}"/>
              </a:ext>
            </a:extLst>
          </p:cNvPr>
          <p:cNvSpPr/>
          <p:nvPr/>
        </p:nvSpPr>
        <p:spPr>
          <a:xfrm>
            <a:off x="5935440" y="5541874"/>
            <a:ext cx="562044" cy="369286"/>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4018EF65-C597-4956-B96B-850F0B019A2E}"/>
              </a:ext>
            </a:extLst>
          </p:cNvPr>
          <p:cNvSpPr/>
          <p:nvPr/>
        </p:nvSpPr>
        <p:spPr>
          <a:xfrm>
            <a:off x="3440900" y="5784063"/>
            <a:ext cx="1261063" cy="506281"/>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4D5FC5EF-A6C4-45C9-81BA-BC4625EB025B}"/>
              </a:ext>
            </a:extLst>
          </p:cNvPr>
          <p:cNvPicPr>
            <a:picLocks noChangeAspect="1"/>
          </p:cNvPicPr>
          <p:nvPr/>
        </p:nvPicPr>
        <p:blipFill>
          <a:blip r:embed="rId5"/>
          <a:stretch>
            <a:fillRect/>
          </a:stretch>
        </p:blipFill>
        <p:spPr>
          <a:xfrm>
            <a:off x="4015529" y="2755039"/>
            <a:ext cx="1827722" cy="577175"/>
          </a:xfrm>
          <a:prstGeom prst="rect">
            <a:avLst/>
          </a:prstGeom>
          <a:ln w="28575">
            <a:solidFill>
              <a:srgbClr val="EAAA00"/>
            </a:solidFill>
            <a:prstDash val="dash"/>
          </a:ln>
        </p:spPr>
      </p:pic>
      <p:sp>
        <p:nvSpPr>
          <p:cNvPr id="25" name="Rectangle 24">
            <a:extLst>
              <a:ext uri="{FF2B5EF4-FFF2-40B4-BE49-F238E27FC236}">
                <a16:creationId xmlns:a16="http://schemas.microsoft.com/office/drawing/2014/main" id="{E49CE521-6117-4BF4-A62B-BCF960C596DB}"/>
              </a:ext>
            </a:extLst>
          </p:cNvPr>
          <p:cNvSpPr/>
          <p:nvPr/>
        </p:nvSpPr>
        <p:spPr>
          <a:xfrm>
            <a:off x="6764448" y="5375798"/>
            <a:ext cx="4831180" cy="1003734"/>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Ledger: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the target ledger where the results of allocation should be posted in Accounting.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0 = IFRS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5 = STAT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6 = TAX</a:t>
            </a:r>
          </a:p>
        </p:txBody>
      </p:sp>
      <p:graphicFrame>
        <p:nvGraphicFramePr>
          <p:cNvPr id="34" name="Table 33">
            <a:extLst>
              <a:ext uri="{FF2B5EF4-FFF2-40B4-BE49-F238E27FC236}">
                <a16:creationId xmlns:a16="http://schemas.microsoft.com/office/drawing/2014/main" id="{D17504C1-BC0B-4A3C-AA4F-0F65AC533CFB}"/>
              </a:ext>
            </a:extLst>
          </p:cNvPr>
          <p:cNvGraphicFramePr>
            <a:graphicFrameLocks noGrp="1"/>
          </p:cNvGraphicFramePr>
          <p:nvPr/>
        </p:nvGraphicFramePr>
        <p:xfrm>
          <a:off x="8165997" y="3798377"/>
          <a:ext cx="2067520" cy="1003734"/>
        </p:xfrm>
        <a:graphic>
          <a:graphicData uri="http://schemas.openxmlformats.org/drawingml/2006/table">
            <a:tbl>
              <a:tblPr firstRow="1" bandRow="1"/>
              <a:tblGrid>
                <a:gridCol w="556280">
                  <a:extLst>
                    <a:ext uri="{9D8B030D-6E8A-4147-A177-3AD203B41FA5}">
                      <a16:colId xmlns:a16="http://schemas.microsoft.com/office/drawing/2014/main" val="1454865088"/>
                    </a:ext>
                  </a:extLst>
                </a:gridCol>
                <a:gridCol w="598009">
                  <a:extLst>
                    <a:ext uri="{9D8B030D-6E8A-4147-A177-3AD203B41FA5}">
                      <a16:colId xmlns:a16="http://schemas.microsoft.com/office/drawing/2014/main" val="2761828065"/>
                    </a:ext>
                  </a:extLst>
                </a:gridCol>
                <a:gridCol w="913231">
                  <a:extLst>
                    <a:ext uri="{9D8B030D-6E8A-4147-A177-3AD203B41FA5}">
                      <a16:colId xmlns:a16="http://schemas.microsoft.com/office/drawing/2014/main" val="1150697166"/>
                    </a:ext>
                  </a:extLst>
                </a:gridCol>
              </a:tblGrid>
              <a:tr h="318987">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endParaRPr lang="en-US" sz="900"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0D83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900" dirty="0"/>
                        <a:t>NEW RATIO</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0D838"/>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900" dirty="0"/>
                        <a:t>EXPECTED AMOUNT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0D838"/>
                    </a:solidFill>
                  </a:tcPr>
                </a:tc>
                <a:extLst>
                  <a:ext uri="{0D108BD9-81ED-4DB2-BD59-A6C34878D82A}">
                    <a16:rowId xmlns:a16="http://schemas.microsoft.com/office/drawing/2014/main" val="3844662788"/>
                  </a:ext>
                </a:extLst>
              </a:tr>
              <a:tr h="31898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900" dirty="0"/>
                        <a:t>CC 2</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900" dirty="0"/>
                        <a:t>50%</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900" dirty="0"/>
                        <a:t>75</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40000"/>
                      </a:srgbClr>
                    </a:solidFill>
                  </a:tcPr>
                </a:tc>
                <a:extLst>
                  <a:ext uri="{0D108BD9-81ED-4DB2-BD59-A6C34878D82A}">
                    <a16:rowId xmlns:a16="http://schemas.microsoft.com/office/drawing/2014/main" val="210369222"/>
                  </a:ext>
                </a:extLst>
              </a:tr>
              <a:tr h="318987">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900" dirty="0"/>
                        <a:t>CC 3</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900" dirty="0"/>
                        <a:t>50%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US" sz="900" dirty="0"/>
                        <a:t>75</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0D838">
                        <a:tint val="20000"/>
                      </a:srgbClr>
                    </a:solidFill>
                  </a:tcPr>
                </a:tc>
                <a:extLst>
                  <a:ext uri="{0D108BD9-81ED-4DB2-BD59-A6C34878D82A}">
                    <a16:rowId xmlns:a16="http://schemas.microsoft.com/office/drawing/2014/main" val="3844946481"/>
                  </a:ext>
                </a:extLst>
              </a:tr>
            </a:tbl>
          </a:graphicData>
        </a:graphic>
      </p:graphicFrame>
      <p:graphicFrame>
        <p:nvGraphicFramePr>
          <p:cNvPr id="35" name="Table 34">
            <a:extLst>
              <a:ext uri="{FF2B5EF4-FFF2-40B4-BE49-F238E27FC236}">
                <a16:creationId xmlns:a16="http://schemas.microsoft.com/office/drawing/2014/main" id="{113FEEE1-752C-4CFA-8C62-A2D432E2B63B}"/>
              </a:ext>
            </a:extLst>
          </p:cNvPr>
          <p:cNvGraphicFramePr>
            <a:graphicFrameLocks noGrp="1"/>
          </p:cNvGraphicFramePr>
          <p:nvPr/>
        </p:nvGraphicFramePr>
        <p:xfrm>
          <a:off x="10291514" y="3798377"/>
          <a:ext cx="1725474" cy="1243953"/>
        </p:xfrm>
        <a:graphic>
          <a:graphicData uri="http://schemas.openxmlformats.org/drawingml/2006/table">
            <a:tbl>
              <a:tblPr firstRow="1" bandRow="1"/>
              <a:tblGrid>
                <a:gridCol w="518188">
                  <a:extLst>
                    <a:ext uri="{9D8B030D-6E8A-4147-A177-3AD203B41FA5}">
                      <a16:colId xmlns:a16="http://schemas.microsoft.com/office/drawing/2014/main" val="3588361974"/>
                    </a:ext>
                  </a:extLst>
                </a:gridCol>
                <a:gridCol w="626835">
                  <a:extLst>
                    <a:ext uri="{9D8B030D-6E8A-4147-A177-3AD203B41FA5}">
                      <a16:colId xmlns:a16="http://schemas.microsoft.com/office/drawing/2014/main" val="2536476751"/>
                    </a:ext>
                  </a:extLst>
                </a:gridCol>
                <a:gridCol w="580451">
                  <a:extLst>
                    <a:ext uri="{9D8B030D-6E8A-4147-A177-3AD203B41FA5}">
                      <a16:colId xmlns:a16="http://schemas.microsoft.com/office/drawing/2014/main" val="2827840240"/>
                    </a:ext>
                  </a:extLst>
                </a:gridCol>
              </a:tblGrid>
              <a:tr h="282571">
                <a:tc gridSpan="2">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US" sz="1000" dirty="0"/>
                        <a:t>POSTING</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tc hMerge="1">
                  <a:txBody>
                    <a:bodyPr/>
                    <a:lstStyle/>
                    <a:p>
                      <a:endParaRPr lang="ru-RU" sz="1400"/>
                    </a:p>
                  </a:txBody>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sz="1000" dirty="0"/>
                        <a:t>Amount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8D5B8"/>
                    </a:solidFill>
                  </a:tcPr>
                </a:tc>
                <a:extLst>
                  <a:ext uri="{0D108BD9-81ED-4DB2-BD59-A6C34878D82A}">
                    <a16:rowId xmlns:a16="http://schemas.microsoft.com/office/drawing/2014/main" val="2161826438"/>
                  </a:ext>
                </a:extLst>
              </a:tr>
              <a:tr h="28257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CR</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CC 1</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GB" sz="1000" dirty="0"/>
                        <a:t>50</a:t>
                      </a:r>
                      <a:endParaRPr lang="en-US" sz="10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384817921"/>
                  </a:ext>
                </a:extLst>
              </a:tr>
              <a:tr h="28257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CR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CC 2</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GB" sz="1000" dirty="0"/>
                        <a:t>0</a:t>
                      </a:r>
                      <a:endParaRPr lang="en-US" sz="10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20000"/>
                      </a:srgbClr>
                    </a:solidFill>
                  </a:tcPr>
                </a:tc>
                <a:extLst>
                  <a:ext uri="{0D108BD9-81ED-4DB2-BD59-A6C34878D82A}">
                    <a16:rowId xmlns:a16="http://schemas.microsoft.com/office/drawing/2014/main" val="550748961"/>
                  </a:ext>
                </a:extLst>
              </a:tr>
              <a:tr h="282571">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DR</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sz="1000" dirty="0"/>
                        <a:t>CC 3</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GB" sz="1000" dirty="0"/>
                        <a:t>5</a:t>
                      </a:r>
                      <a:r>
                        <a:rPr lang="en-US" sz="1000" dirty="0"/>
                        <a:t>0</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8D5B8">
                        <a:tint val="40000"/>
                      </a:srgbClr>
                    </a:solidFill>
                  </a:tcPr>
                </a:tc>
                <a:extLst>
                  <a:ext uri="{0D108BD9-81ED-4DB2-BD59-A6C34878D82A}">
                    <a16:rowId xmlns:a16="http://schemas.microsoft.com/office/drawing/2014/main" val="1545698249"/>
                  </a:ext>
                </a:extLst>
              </a:tr>
            </a:tbl>
          </a:graphicData>
        </a:graphic>
      </p:graphicFrame>
      <p:sp>
        <p:nvSpPr>
          <p:cNvPr id="36" name="Arrow: Notched Right 35">
            <a:extLst>
              <a:ext uri="{FF2B5EF4-FFF2-40B4-BE49-F238E27FC236}">
                <a16:creationId xmlns:a16="http://schemas.microsoft.com/office/drawing/2014/main" id="{134065EC-7879-443E-925A-A3040DB1A8DA}"/>
              </a:ext>
            </a:extLst>
          </p:cNvPr>
          <p:cNvSpPr/>
          <p:nvPr/>
        </p:nvSpPr>
        <p:spPr>
          <a:xfrm>
            <a:off x="8004962" y="4299656"/>
            <a:ext cx="303060" cy="176548"/>
          </a:xfrm>
          <a:prstGeom prst="notchedRightArrow">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7" name="Arrow: Notched Right 36">
            <a:extLst>
              <a:ext uri="{FF2B5EF4-FFF2-40B4-BE49-F238E27FC236}">
                <a16:creationId xmlns:a16="http://schemas.microsoft.com/office/drawing/2014/main" id="{57E3D732-55CD-4B83-986E-CBDBD2F202B7}"/>
              </a:ext>
            </a:extLst>
          </p:cNvPr>
          <p:cNvSpPr/>
          <p:nvPr/>
        </p:nvSpPr>
        <p:spPr>
          <a:xfrm>
            <a:off x="10091492" y="4373743"/>
            <a:ext cx="329801" cy="176548"/>
          </a:xfrm>
          <a:prstGeom prst="notchedRightArrow">
            <a:avLst/>
          </a:prstGeom>
          <a:solidFill>
            <a:srgbClr val="00BD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86225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28FD564E-2B7A-48F4-951A-353CBD3C1064}"/>
              </a:ext>
            </a:extLst>
          </p:cNvPr>
          <p:cNvPicPr>
            <a:picLocks noChangeAspect="1"/>
          </p:cNvPicPr>
          <p:nvPr/>
        </p:nvPicPr>
        <p:blipFill>
          <a:blip r:embed="rId2"/>
          <a:stretch>
            <a:fillRect/>
          </a:stretch>
        </p:blipFill>
        <p:spPr>
          <a:xfrm>
            <a:off x="604490" y="4265593"/>
            <a:ext cx="5221253" cy="2227360"/>
          </a:xfrm>
          <a:prstGeom prst="rect">
            <a:avLst/>
          </a:prstGeom>
        </p:spPr>
      </p:pic>
      <p:pic>
        <p:nvPicPr>
          <p:cNvPr id="25" name="Picture 24">
            <a:extLst>
              <a:ext uri="{FF2B5EF4-FFF2-40B4-BE49-F238E27FC236}">
                <a16:creationId xmlns:a16="http://schemas.microsoft.com/office/drawing/2014/main" id="{88DA7507-A889-4C6A-93CC-973954D8C519}"/>
              </a:ext>
            </a:extLst>
          </p:cNvPr>
          <p:cNvPicPr>
            <a:picLocks noChangeAspect="1"/>
          </p:cNvPicPr>
          <p:nvPr/>
        </p:nvPicPr>
        <p:blipFill>
          <a:blip r:embed="rId3"/>
          <a:stretch>
            <a:fillRect/>
          </a:stretch>
        </p:blipFill>
        <p:spPr>
          <a:xfrm>
            <a:off x="596372" y="1650240"/>
            <a:ext cx="6396483" cy="2312159"/>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Segments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20" name="Rectangle 19">
            <a:extLst>
              <a:ext uri="{FF2B5EF4-FFF2-40B4-BE49-F238E27FC236}">
                <a16:creationId xmlns:a16="http://schemas.microsoft.com/office/drawing/2014/main" id="{A80D34BB-6BC6-42B4-88CC-6EAD4F764703}"/>
              </a:ext>
            </a:extLst>
          </p:cNvPr>
          <p:cNvSpPr/>
          <p:nvPr/>
        </p:nvSpPr>
        <p:spPr>
          <a:xfrm>
            <a:off x="7374764" y="1680097"/>
            <a:ext cx="4102016" cy="1252447"/>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Segment name</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Short name of the cycle segment, 10 characters.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Segment description: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Longer name of the cycle segment, 30 characters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4100258"/>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32" name="Rectangle 31">
            <a:extLst>
              <a:ext uri="{FF2B5EF4-FFF2-40B4-BE49-F238E27FC236}">
                <a16:creationId xmlns:a16="http://schemas.microsoft.com/office/drawing/2014/main" id="{D299C612-C478-4082-A04C-03F88400ABDA}"/>
              </a:ext>
            </a:extLst>
          </p:cNvPr>
          <p:cNvSpPr/>
          <p:nvPr/>
        </p:nvSpPr>
        <p:spPr>
          <a:xfrm>
            <a:off x="1036644" y="5297702"/>
            <a:ext cx="3480974" cy="205382"/>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0" name="Rectangle 39">
            <a:extLst>
              <a:ext uri="{FF2B5EF4-FFF2-40B4-BE49-F238E27FC236}">
                <a16:creationId xmlns:a16="http://schemas.microsoft.com/office/drawing/2014/main" id="{64ECB1DC-A104-44C4-855B-C7E98D220B46}"/>
              </a:ext>
            </a:extLst>
          </p:cNvPr>
          <p:cNvSpPr/>
          <p:nvPr/>
        </p:nvSpPr>
        <p:spPr>
          <a:xfrm>
            <a:off x="4586916" y="5297702"/>
            <a:ext cx="942433" cy="207523"/>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3" name="Rectangle 42">
            <a:extLst>
              <a:ext uri="{FF2B5EF4-FFF2-40B4-BE49-F238E27FC236}">
                <a16:creationId xmlns:a16="http://schemas.microsoft.com/office/drawing/2014/main" id="{999F94B7-BA1E-4320-9BB0-509E3BC56886}"/>
              </a:ext>
            </a:extLst>
          </p:cNvPr>
          <p:cNvSpPr/>
          <p:nvPr/>
        </p:nvSpPr>
        <p:spPr>
          <a:xfrm>
            <a:off x="7374764" y="3182632"/>
            <a:ext cx="4102016" cy="1359503"/>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Lock Indicator: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This functionality can be used if a Segment is no longer required but the rest of the cycle is still required. The allocation cycle will run all segments except for all those with the lock indicator. This can only be selected where the </a:t>
            </a:r>
            <a:r>
              <a:rPr kumimoji="0" lang="en-US" sz="12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template is to change a cycle (do not expect to lock a segment on creation of a cycle)</a:t>
            </a: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5" name="Rectangle 44">
            <a:extLst>
              <a:ext uri="{FF2B5EF4-FFF2-40B4-BE49-F238E27FC236}">
                <a16:creationId xmlns:a16="http://schemas.microsoft.com/office/drawing/2014/main" id="{8629AE76-2CAA-44E7-89D6-98EDE4AACC01}"/>
              </a:ext>
            </a:extLst>
          </p:cNvPr>
          <p:cNvSpPr/>
          <p:nvPr/>
        </p:nvSpPr>
        <p:spPr>
          <a:xfrm>
            <a:off x="596371" y="1739720"/>
            <a:ext cx="6027949" cy="42451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403284C9-13B7-41C2-90D3-577DB0C5593D}"/>
              </a:ext>
            </a:extLst>
          </p:cNvPr>
          <p:cNvSpPr/>
          <p:nvPr/>
        </p:nvSpPr>
        <p:spPr>
          <a:xfrm>
            <a:off x="6515779" y="1739721"/>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47" name="Rectangle 46">
            <a:extLst>
              <a:ext uri="{FF2B5EF4-FFF2-40B4-BE49-F238E27FC236}">
                <a16:creationId xmlns:a16="http://schemas.microsoft.com/office/drawing/2014/main" id="{B90077BE-DCE2-4479-9F11-88D1678FB6FF}"/>
              </a:ext>
            </a:extLst>
          </p:cNvPr>
          <p:cNvSpPr/>
          <p:nvPr/>
        </p:nvSpPr>
        <p:spPr>
          <a:xfrm>
            <a:off x="596370" y="2194710"/>
            <a:ext cx="3074825" cy="18850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1" name="Straight Arrow Connector 30">
            <a:extLst>
              <a:ext uri="{FF2B5EF4-FFF2-40B4-BE49-F238E27FC236}">
                <a16:creationId xmlns:a16="http://schemas.microsoft.com/office/drawing/2014/main" id="{E0E4226F-E8DC-40AF-A305-1446BCA85735}"/>
              </a:ext>
            </a:extLst>
          </p:cNvPr>
          <p:cNvCxnSpPr>
            <a:cxnSpLocks/>
          </p:cNvCxnSpPr>
          <p:nvPr/>
        </p:nvCxnSpPr>
        <p:spPr>
          <a:xfrm flipV="1">
            <a:off x="1053572" y="2105890"/>
            <a:ext cx="653308" cy="3397193"/>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Arrow Connector 38">
            <a:extLst>
              <a:ext uri="{FF2B5EF4-FFF2-40B4-BE49-F238E27FC236}">
                <a16:creationId xmlns:a16="http://schemas.microsoft.com/office/drawing/2014/main" id="{ED4661B2-51A0-4288-AB8F-C35BE1C5B65F}"/>
              </a:ext>
            </a:extLst>
          </p:cNvPr>
          <p:cNvCxnSpPr>
            <a:cxnSpLocks/>
          </p:cNvCxnSpPr>
          <p:nvPr/>
        </p:nvCxnSpPr>
        <p:spPr>
          <a:xfrm flipH="1" flipV="1">
            <a:off x="2153920" y="2306322"/>
            <a:ext cx="3046411" cy="2991380"/>
          </a:xfrm>
          <a:prstGeom prst="straightConnector1">
            <a:avLst/>
          </a:prstGeom>
          <a:noFill/>
          <a:ln w="28575">
            <a:solidFill>
              <a:srgbClr val="EAAA0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44" name="Rectangle 43">
            <a:extLst>
              <a:ext uri="{FF2B5EF4-FFF2-40B4-BE49-F238E27FC236}">
                <a16:creationId xmlns:a16="http://schemas.microsoft.com/office/drawing/2014/main" id="{5112688F-D691-431F-8C65-9A32FD4131BC}"/>
              </a:ext>
            </a:extLst>
          </p:cNvPr>
          <p:cNvSpPr/>
          <p:nvPr/>
        </p:nvSpPr>
        <p:spPr>
          <a:xfrm>
            <a:off x="596372" y="2383215"/>
            <a:ext cx="6281068" cy="157918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Arrow: Right 41">
            <a:extLst>
              <a:ext uri="{FF2B5EF4-FFF2-40B4-BE49-F238E27FC236}">
                <a16:creationId xmlns:a16="http://schemas.microsoft.com/office/drawing/2014/main" id="{8A6A5FDC-C224-46CA-B2E1-11B9CC3B0D3D}"/>
              </a:ext>
            </a:extLst>
          </p:cNvPr>
          <p:cNvSpPr/>
          <p:nvPr/>
        </p:nvSpPr>
        <p:spPr>
          <a:xfrm>
            <a:off x="6429023" y="3366217"/>
            <a:ext cx="558357" cy="5158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1" name="Rectangle 50">
            <a:extLst>
              <a:ext uri="{FF2B5EF4-FFF2-40B4-BE49-F238E27FC236}">
                <a16:creationId xmlns:a16="http://schemas.microsoft.com/office/drawing/2014/main" id="{0D96E3DF-F552-4D38-A459-D265E5969A37}"/>
              </a:ext>
            </a:extLst>
          </p:cNvPr>
          <p:cNvSpPr/>
          <p:nvPr/>
        </p:nvSpPr>
        <p:spPr>
          <a:xfrm>
            <a:off x="1300360" y="6040167"/>
            <a:ext cx="2469000" cy="284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2" name="Arrow: Right 51">
            <a:extLst>
              <a:ext uri="{FF2B5EF4-FFF2-40B4-BE49-F238E27FC236}">
                <a16:creationId xmlns:a16="http://schemas.microsoft.com/office/drawing/2014/main" id="{ED1EA46F-F4AA-4119-A227-9B0DE399E6C7}"/>
              </a:ext>
            </a:extLst>
          </p:cNvPr>
          <p:cNvSpPr/>
          <p:nvPr/>
        </p:nvSpPr>
        <p:spPr>
          <a:xfrm>
            <a:off x="6515777" y="5259175"/>
            <a:ext cx="558358" cy="569953"/>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3" name="Straight Arrow Connector 52">
            <a:extLst>
              <a:ext uri="{FF2B5EF4-FFF2-40B4-BE49-F238E27FC236}">
                <a16:creationId xmlns:a16="http://schemas.microsoft.com/office/drawing/2014/main" id="{5A5EA04F-50BF-46BB-AE6F-B3A74FB7787C}"/>
              </a:ext>
            </a:extLst>
          </p:cNvPr>
          <p:cNvCxnSpPr>
            <a:cxnSpLocks/>
          </p:cNvCxnSpPr>
          <p:nvPr/>
        </p:nvCxnSpPr>
        <p:spPr>
          <a:xfrm flipV="1">
            <a:off x="2200656" y="2329566"/>
            <a:ext cx="1875379" cy="371060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55B9EB44-95ED-4E32-8C6E-E6945F4DF82F}"/>
              </a:ext>
            </a:extLst>
          </p:cNvPr>
          <p:cNvSpPr/>
          <p:nvPr/>
        </p:nvSpPr>
        <p:spPr>
          <a:xfrm>
            <a:off x="7374764" y="4864399"/>
            <a:ext cx="4102016" cy="1546561"/>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Secondary Cost Account</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Should only be selected for assessment cycles and determines a secondary account via which the assessment will be performed. This means the original cost elements are not recorded on the receivers. This field will be greyed out if using a Distribution Cycle as secondary cost accounts are not required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Rectangle 56">
            <a:extLst>
              <a:ext uri="{FF2B5EF4-FFF2-40B4-BE49-F238E27FC236}">
                <a16:creationId xmlns:a16="http://schemas.microsoft.com/office/drawing/2014/main" id="{8CE644E0-5185-49A3-BBCD-59DAFDDDFCB8}"/>
              </a:ext>
            </a:extLst>
          </p:cNvPr>
          <p:cNvSpPr/>
          <p:nvPr/>
        </p:nvSpPr>
        <p:spPr>
          <a:xfrm>
            <a:off x="3786610" y="2194711"/>
            <a:ext cx="2837710" cy="18163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50356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173D8468-B87C-4E74-BA70-A6796679A4FC}"/>
              </a:ext>
            </a:extLst>
          </p:cNvPr>
          <p:cNvPicPr>
            <a:picLocks noChangeAspect="1"/>
          </p:cNvPicPr>
          <p:nvPr/>
        </p:nvPicPr>
        <p:blipFill>
          <a:blip r:embed="rId2"/>
          <a:stretch>
            <a:fillRect/>
          </a:stretch>
        </p:blipFill>
        <p:spPr>
          <a:xfrm>
            <a:off x="589326" y="4219769"/>
            <a:ext cx="5059634" cy="2410796"/>
          </a:xfrm>
          <a:prstGeom prst="rect">
            <a:avLst/>
          </a:prstGeom>
        </p:spPr>
      </p:pic>
      <p:pic>
        <p:nvPicPr>
          <p:cNvPr id="25" name="Picture 24">
            <a:extLst>
              <a:ext uri="{FF2B5EF4-FFF2-40B4-BE49-F238E27FC236}">
                <a16:creationId xmlns:a16="http://schemas.microsoft.com/office/drawing/2014/main" id="{88DA7507-A889-4C6A-93CC-973954D8C519}"/>
              </a:ext>
            </a:extLst>
          </p:cNvPr>
          <p:cNvPicPr>
            <a:picLocks noChangeAspect="1"/>
          </p:cNvPicPr>
          <p:nvPr/>
        </p:nvPicPr>
        <p:blipFill>
          <a:blip r:embed="rId3"/>
          <a:stretch>
            <a:fillRect/>
          </a:stretch>
        </p:blipFill>
        <p:spPr>
          <a:xfrm>
            <a:off x="631347" y="1744217"/>
            <a:ext cx="6396483" cy="2312159"/>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Sender Rules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631347" y="1700335"/>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20" name="Rectangle 19">
            <a:extLst>
              <a:ext uri="{FF2B5EF4-FFF2-40B4-BE49-F238E27FC236}">
                <a16:creationId xmlns:a16="http://schemas.microsoft.com/office/drawing/2014/main" id="{A80D34BB-6BC6-42B4-88CC-6EAD4F764703}"/>
              </a:ext>
            </a:extLst>
          </p:cNvPr>
          <p:cNvSpPr/>
          <p:nvPr/>
        </p:nvSpPr>
        <p:spPr>
          <a:xfrm>
            <a:off x="7176783" y="1700335"/>
            <a:ext cx="4588495" cy="4517585"/>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Sender Rule</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which amounts on sender should be taken into consideration for the allocation: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A).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Posted amounts - actuals which have been collected on a cost center. When you define the allocation rule for the sender, you can determine what percentage of the sender balance should be credited with the allocation amount.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B).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Fixed amounts</a:t>
            </a:r>
            <a:r>
              <a:rPr kumimoji="0" lang="en-US" sz="1200" b="0" i="0" u="none" strike="noStrike" kern="1200" cap="none" spc="0" normalizeH="0" baseline="0" noProof="0" dirty="0">
                <a:ln>
                  <a:noFill/>
                </a:ln>
                <a:solidFill>
                  <a:srgbClr val="FF0000"/>
                </a:solidFill>
                <a:effectLst/>
                <a:uLnTx/>
                <a:uFillTx/>
                <a:latin typeface="Arial" panose="020B0604020202020204"/>
                <a:ea typeface="+mn-ea"/>
                <a:cs typeface="+mn-cs"/>
              </a:rPr>
              <a:t>*</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 exact values input into the cycle independently on what actuals are. Each time the allocation cycle is carried out, the same amount is assessed/distributed from the sender. The allocated amount does not depend on the current balance of the sender.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Share in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Determines the percentage of posted amounts on sender cost centers which is applicable for the allocation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*The “Sender Value” section of the </a:t>
            </a:r>
            <a:r>
              <a:rPr kumimoji="0" lang="en-US" sz="11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US" sz="1100" b="0" i="0" u="none" strike="noStrike" kern="1200" cap="none" spc="0" normalizeH="0" baseline="0" noProof="0" dirty="0">
                <a:ln>
                  <a:noFill/>
                </a:ln>
                <a:solidFill>
                  <a:srgbClr val="000000"/>
                </a:solidFill>
                <a:effectLst/>
                <a:uLnTx/>
                <a:uFillTx/>
                <a:latin typeface="Arial" panose="020B0604020202020204"/>
                <a:ea typeface="+mn-ea"/>
                <a:cs typeface="+mn-cs"/>
              </a:rPr>
              <a:t> Template should then be complete if Fixed Amounts are to be allocated so that the required Fixed amount is outlined in the CCA</a:t>
            </a: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4100258"/>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32" name="Rectangle 31">
            <a:extLst>
              <a:ext uri="{FF2B5EF4-FFF2-40B4-BE49-F238E27FC236}">
                <a16:creationId xmlns:a16="http://schemas.microsoft.com/office/drawing/2014/main" id="{D299C612-C478-4082-A04C-03F88400ABDA}"/>
              </a:ext>
            </a:extLst>
          </p:cNvPr>
          <p:cNvSpPr/>
          <p:nvPr/>
        </p:nvSpPr>
        <p:spPr>
          <a:xfrm>
            <a:off x="2084491" y="4524676"/>
            <a:ext cx="2805220" cy="56943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712EADBB-7232-4586-80F2-DDE8831A6642}"/>
              </a:ext>
            </a:extLst>
          </p:cNvPr>
          <p:cNvSpPr/>
          <p:nvPr/>
        </p:nvSpPr>
        <p:spPr>
          <a:xfrm>
            <a:off x="557705" y="1987006"/>
            <a:ext cx="6354709" cy="5089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EB4D7824-8097-4C78-8FF3-6257BCE2B02D}"/>
              </a:ext>
            </a:extLst>
          </p:cNvPr>
          <p:cNvSpPr/>
          <p:nvPr/>
        </p:nvSpPr>
        <p:spPr>
          <a:xfrm>
            <a:off x="557706" y="2301698"/>
            <a:ext cx="3123907" cy="226045"/>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5" name="Rectangle 34">
            <a:extLst>
              <a:ext uri="{FF2B5EF4-FFF2-40B4-BE49-F238E27FC236}">
                <a16:creationId xmlns:a16="http://schemas.microsoft.com/office/drawing/2014/main" id="{D0627402-AA2D-477F-9AFF-4A3ACC687CE6}"/>
              </a:ext>
            </a:extLst>
          </p:cNvPr>
          <p:cNvSpPr/>
          <p:nvPr/>
        </p:nvSpPr>
        <p:spPr>
          <a:xfrm>
            <a:off x="631347" y="2995732"/>
            <a:ext cx="6281068" cy="106064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1" name="Straight Arrow Connector 30">
            <a:extLst>
              <a:ext uri="{FF2B5EF4-FFF2-40B4-BE49-F238E27FC236}">
                <a16:creationId xmlns:a16="http://schemas.microsoft.com/office/drawing/2014/main" id="{E0E4226F-E8DC-40AF-A305-1446BCA85735}"/>
              </a:ext>
            </a:extLst>
          </p:cNvPr>
          <p:cNvCxnSpPr>
            <a:cxnSpLocks/>
          </p:cNvCxnSpPr>
          <p:nvPr/>
        </p:nvCxnSpPr>
        <p:spPr>
          <a:xfrm flipH="1" flipV="1">
            <a:off x="1996590" y="2791635"/>
            <a:ext cx="809289" cy="1751932"/>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a:extLst>
              <a:ext uri="{FF2B5EF4-FFF2-40B4-BE49-F238E27FC236}">
                <a16:creationId xmlns:a16="http://schemas.microsoft.com/office/drawing/2014/main" id="{9B14BFC8-6ED9-45A0-9E54-EA169027EB23}"/>
              </a:ext>
            </a:extLst>
          </p:cNvPr>
          <p:cNvSpPr/>
          <p:nvPr/>
        </p:nvSpPr>
        <p:spPr>
          <a:xfrm>
            <a:off x="611313" y="2502847"/>
            <a:ext cx="3070299" cy="46932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Rectangle 48">
            <a:extLst>
              <a:ext uri="{FF2B5EF4-FFF2-40B4-BE49-F238E27FC236}">
                <a16:creationId xmlns:a16="http://schemas.microsoft.com/office/drawing/2014/main" id="{00D40F57-9895-46FD-992C-9D800737913D}"/>
              </a:ext>
            </a:extLst>
          </p:cNvPr>
          <p:cNvSpPr/>
          <p:nvPr/>
        </p:nvSpPr>
        <p:spPr>
          <a:xfrm>
            <a:off x="3681612" y="2495986"/>
            <a:ext cx="3230802" cy="5158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403284C9-13B7-41C2-90D3-577DB0C5593D}"/>
              </a:ext>
            </a:extLst>
          </p:cNvPr>
          <p:cNvSpPr/>
          <p:nvPr/>
        </p:nvSpPr>
        <p:spPr>
          <a:xfrm>
            <a:off x="6374946" y="2435293"/>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50" name="Picture 49">
            <a:extLst>
              <a:ext uri="{FF2B5EF4-FFF2-40B4-BE49-F238E27FC236}">
                <a16:creationId xmlns:a16="http://schemas.microsoft.com/office/drawing/2014/main" id="{C648978B-9A38-4B1F-8B6D-F3F84FD8FB8A}"/>
              </a:ext>
            </a:extLst>
          </p:cNvPr>
          <p:cNvPicPr>
            <a:picLocks noChangeAspect="1"/>
          </p:cNvPicPr>
          <p:nvPr/>
        </p:nvPicPr>
        <p:blipFill>
          <a:blip r:embed="rId4"/>
          <a:stretch>
            <a:fillRect/>
          </a:stretch>
        </p:blipFill>
        <p:spPr>
          <a:xfrm>
            <a:off x="4189948" y="4208487"/>
            <a:ext cx="2375022" cy="495325"/>
          </a:xfrm>
          <a:prstGeom prst="rect">
            <a:avLst/>
          </a:prstGeom>
          <a:ln w="19050">
            <a:solidFill>
              <a:srgbClr val="00B050"/>
            </a:solidFill>
            <a:prstDash val="dash"/>
          </a:ln>
        </p:spPr>
      </p:pic>
    </p:spTree>
    <p:extLst>
      <p:ext uri="{BB962C8B-B14F-4D97-AF65-F5344CB8AC3E}">
        <p14:creationId xmlns:p14="http://schemas.microsoft.com/office/powerpoint/2010/main" val="99393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C88204E-8427-47D7-AF02-BB4B150F08E5}"/>
              </a:ext>
            </a:extLst>
          </p:cNvPr>
          <p:cNvPicPr>
            <a:picLocks noChangeAspect="1"/>
          </p:cNvPicPr>
          <p:nvPr/>
        </p:nvPicPr>
        <p:blipFill>
          <a:blip r:embed="rId2"/>
          <a:stretch>
            <a:fillRect/>
          </a:stretch>
        </p:blipFill>
        <p:spPr>
          <a:xfrm>
            <a:off x="611314" y="1896151"/>
            <a:ext cx="5634970" cy="1115635"/>
          </a:xfrm>
          <a:prstGeom prst="rect">
            <a:avLst/>
          </a:prstGeom>
        </p:spPr>
      </p:pic>
      <p:pic>
        <p:nvPicPr>
          <p:cNvPr id="3" name="Picture 2">
            <a:extLst>
              <a:ext uri="{FF2B5EF4-FFF2-40B4-BE49-F238E27FC236}">
                <a16:creationId xmlns:a16="http://schemas.microsoft.com/office/drawing/2014/main" id="{D71CE873-C097-4894-BF6B-0124876E5BF3}"/>
              </a:ext>
            </a:extLst>
          </p:cNvPr>
          <p:cNvPicPr>
            <a:picLocks noChangeAspect="1"/>
          </p:cNvPicPr>
          <p:nvPr/>
        </p:nvPicPr>
        <p:blipFill>
          <a:blip r:embed="rId3"/>
          <a:stretch>
            <a:fillRect/>
          </a:stretch>
        </p:blipFill>
        <p:spPr>
          <a:xfrm>
            <a:off x="557705" y="4317296"/>
            <a:ext cx="6007265" cy="1890033"/>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Sender Values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631347" y="1700335"/>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20" name="Rectangle 19">
            <a:extLst>
              <a:ext uri="{FF2B5EF4-FFF2-40B4-BE49-F238E27FC236}">
                <a16:creationId xmlns:a16="http://schemas.microsoft.com/office/drawing/2014/main" id="{A80D34BB-6BC6-42B4-88CC-6EAD4F764703}"/>
              </a:ext>
            </a:extLst>
          </p:cNvPr>
          <p:cNvSpPr/>
          <p:nvPr/>
        </p:nvSpPr>
        <p:spPr>
          <a:xfrm>
            <a:off x="7122017" y="1853418"/>
            <a:ext cx="4588495" cy="2788920"/>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Fixed Amounts</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a:t>
            </a: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“Sender Value” section of the </a:t>
            </a:r>
            <a:r>
              <a:rPr kumimoji="0" lang="en-US" sz="12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Template should then be complete if Fixed Amounts are to be allocated so that the required Fixed amount is outlined in the CCA. The entered currency is document currency so the system will calculate LC1, LC2 and LC3 based on the M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Currency: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document currency that will be used by SAP when posting the allocation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Cost Center Amount: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The exact amounts to be allocated by receiving cost center in document currency. The amount in other currencies (LC1, LC2 and LC3) will be determined using the spot rate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4100258"/>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32" name="Rectangle 31">
            <a:extLst>
              <a:ext uri="{FF2B5EF4-FFF2-40B4-BE49-F238E27FC236}">
                <a16:creationId xmlns:a16="http://schemas.microsoft.com/office/drawing/2014/main" id="{D299C612-C478-4082-A04C-03F88400ABDA}"/>
              </a:ext>
            </a:extLst>
          </p:cNvPr>
          <p:cNvSpPr/>
          <p:nvPr/>
        </p:nvSpPr>
        <p:spPr>
          <a:xfrm>
            <a:off x="631346" y="4840256"/>
            <a:ext cx="5933623" cy="137766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1" name="Straight Arrow Connector 30">
            <a:extLst>
              <a:ext uri="{FF2B5EF4-FFF2-40B4-BE49-F238E27FC236}">
                <a16:creationId xmlns:a16="http://schemas.microsoft.com/office/drawing/2014/main" id="{E0E4226F-E8DC-40AF-A305-1446BCA85735}"/>
              </a:ext>
            </a:extLst>
          </p:cNvPr>
          <p:cNvCxnSpPr>
            <a:cxnSpLocks/>
          </p:cNvCxnSpPr>
          <p:nvPr/>
        </p:nvCxnSpPr>
        <p:spPr>
          <a:xfrm flipH="1" flipV="1">
            <a:off x="2293939" y="2660249"/>
            <a:ext cx="809289" cy="1751932"/>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a:extLst>
              <a:ext uri="{FF2B5EF4-FFF2-40B4-BE49-F238E27FC236}">
                <a16:creationId xmlns:a16="http://schemas.microsoft.com/office/drawing/2014/main" id="{9B14BFC8-6ED9-45A0-9E54-EA169027EB23}"/>
              </a:ext>
            </a:extLst>
          </p:cNvPr>
          <p:cNvSpPr/>
          <p:nvPr/>
        </p:nvSpPr>
        <p:spPr>
          <a:xfrm>
            <a:off x="611313" y="2090075"/>
            <a:ext cx="5413567" cy="882096"/>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Rectangle 48">
            <a:extLst>
              <a:ext uri="{FF2B5EF4-FFF2-40B4-BE49-F238E27FC236}">
                <a16:creationId xmlns:a16="http://schemas.microsoft.com/office/drawing/2014/main" id="{00D40F57-9895-46FD-992C-9D800737913D}"/>
              </a:ext>
            </a:extLst>
          </p:cNvPr>
          <p:cNvSpPr/>
          <p:nvPr/>
        </p:nvSpPr>
        <p:spPr>
          <a:xfrm>
            <a:off x="3681612" y="2495986"/>
            <a:ext cx="3230802" cy="51580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403284C9-13B7-41C2-90D3-577DB0C5593D}"/>
              </a:ext>
            </a:extLst>
          </p:cNvPr>
          <p:cNvSpPr/>
          <p:nvPr/>
        </p:nvSpPr>
        <p:spPr>
          <a:xfrm>
            <a:off x="6374946" y="2435293"/>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918977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173D8468-B87C-4E74-BA70-A6796679A4FC}"/>
              </a:ext>
            </a:extLst>
          </p:cNvPr>
          <p:cNvPicPr>
            <a:picLocks noChangeAspect="1"/>
          </p:cNvPicPr>
          <p:nvPr/>
        </p:nvPicPr>
        <p:blipFill>
          <a:blip r:embed="rId2"/>
          <a:stretch>
            <a:fillRect/>
          </a:stretch>
        </p:blipFill>
        <p:spPr>
          <a:xfrm>
            <a:off x="589326" y="4219769"/>
            <a:ext cx="5059634" cy="2410796"/>
          </a:xfrm>
          <a:prstGeom prst="rect">
            <a:avLst/>
          </a:prstGeom>
        </p:spPr>
      </p:pic>
      <p:pic>
        <p:nvPicPr>
          <p:cNvPr id="25" name="Picture 24">
            <a:extLst>
              <a:ext uri="{FF2B5EF4-FFF2-40B4-BE49-F238E27FC236}">
                <a16:creationId xmlns:a16="http://schemas.microsoft.com/office/drawing/2014/main" id="{88DA7507-A889-4C6A-93CC-973954D8C519}"/>
              </a:ext>
            </a:extLst>
          </p:cNvPr>
          <p:cNvPicPr>
            <a:picLocks noChangeAspect="1"/>
          </p:cNvPicPr>
          <p:nvPr/>
        </p:nvPicPr>
        <p:blipFill>
          <a:blip r:embed="rId3"/>
          <a:stretch>
            <a:fillRect/>
          </a:stretch>
        </p:blipFill>
        <p:spPr>
          <a:xfrm>
            <a:off x="631347" y="1744217"/>
            <a:ext cx="6396483" cy="2312159"/>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Receiver  Rules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dirty="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631347" y="1700335"/>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4100258"/>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
        <p:nvSpPr>
          <p:cNvPr id="40" name="Rectangle 39">
            <a:extLst>
              <a:ext uri="{FF2B5EF4-FFF2-40B4-BE49-F238E27FC236}">
                <a16:creationId xmlns:a16="http://schemas.microsoft.com/office/drawing/2014/main" id="{64ECB1DC-A104-44C4-855B-C7E98D220B46}"/>
              </a:ext>
            </a:extLst>
          </p:cNvPr>
          <p:cNvSpPr/>
          <p:nvPr/>
        </p:nvSpPr>
        <p:spPr>
          <a:xfrm>
            <a:off x="1996590" y="5671655"/>
            <a:ext cx="3382738" cy="625866"/>
          </a:xfrm>
          <a:prstGeom prst="rect">
            <a:avLst/>
          </a:prstGeom>
          <a:noFill/>
          <a:ln w="285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1" name="Rectangle 20">
            <a:extLst>
              <a:ext uri="{FF2B5EF4-FFF2-40B4-BE49-F238E27FC236}">
                <a16:creationId xmlns:a16="http://schemas.microsoft.com/office/drawing/2014/main" id="{712EADBB-7232-4586-80F2-DDE8831A6642}"/>
              </a:ext>
            </a:extLst>
          </p:cNvPr>
          <p:cNvSpPr/>
          <p:nvPr/>
        </p:nvSpPr>
        <p:spPr>
          <a:xfrm>
            <a:off x="557705" y="1987006"/>
            <a:ext cx="6267847" cy="508980"/>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2" name="Rectangle 21">
            <a:extLst>
              <a:ext uri="{FF2B5EF4-FFF2-40B4-BE49-F238E27FC236}">
                <a16:creationId xmlns:a16="http://schemas.microsoft.com/office/drawing/2014/main" id="{EB4D7824-8097-4C78-8FF3-6257BCE2B02D}"/>
              </a:ext>
            </a:extLst>
          </p:cNvPr>
          <p:cNvSpPr/>
          <p:nvPr/>
        </p:nvSpPr>
        <p:spPr>
          <a:xfrm>
            <a:off x="557706" y="2301698"/>
            <a:ext cx="3123907" cy="74391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Rectangle 23">
            <a:extLst>
              <a:ext uri="{FF2B5EF4-FFF2-40B4-BE49-F238E27FC236}">
                <a16:creationId xmlns:a16="http://schemas.microsoft.com/office/drawing/2014/main" id="{0AD27324-E968-4589-8749-24330AE47B2E}"/>
              </a:ext>
            </a:extLst>
          </p:cNvPr>
          <p:cNvSpPr/>
          <p:nvPr/>
        </p:nvSpPr>
        <p:spPr>
          <a:xfrm>
            <a:off x="6941975" y="1452880"/>
            <a:ext cx="5059634" cy="5100319"/>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Receiver Rule</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how the proportion for the allocation should be calculated: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a:t>
            </a:r>
          </a:p>
          <a:p>
            <a:pPr marL="228600" marR="0" lvl="0" indent="-22860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200" b="1"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Fixed percentages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percentage values specified for each receiver  </a:t>
            </a:r>
          </a:p>
          <a:p>
            <a:pPr marL="228600" marR="0" lvl="0" indent="-22860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200" b="1" i="0" u="none" strike="noStrike" kern="1200" cap="none" spc="0" normalizeH="0" baseline="0" noProof="0" dirty="0">
                <a:ln>
                  <a:noFill/>
                </a:ln>
                <a:solidFill>
                  <a:srgbClr val="36C4BE"/>
                </a:solidFill>
                <a:effectLst/>
                <a:uLnTx/>
                <a:uFillTx/>
                <a:latin typeface="Arial" panose="020B0604020202020204"/>
                <a:ea typeface="+mn-ea"/>
                <a:cs typeface="+mn-cs"/>
              </a:rPr>
              <a:t>Variable portions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result in dynamic calculation of ratios based on either Statistical Key Figures (SKF) being input or reference figures posted on particular G/L accounts with cost centers acting as a receiver in the cycle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C4BE"/>
                </a:solidFill>
                <a:effectLst/>
                <a:uLnTx/>
                <a:uFillTx/>
                <a:latin typeface="Arial" panose="020B0604020202020204"/>
                <a:ea typeface="+mn-ea"/>
                <a:cs typeface="+mn-cs"/>
              </a:rPr>
              <a:t>Variable Portion Type: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Should only be populated if ‘Variable portions’ receiver rule is selected and determines what should be the basis for the dynamic proportion calculation: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200" b="1"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Actuals costs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are costs that are posted during normal business to certain cost centers/elements. For example is CC2 receives $15 for water and CC3 receives $5 during the month for the same. A cycle can be created to allocate costs from CC1 to allocate those costs based on the % of actual costs on the receiving cost centers. In this case if CC1 has $30 of water costs the cycle would assign 75% or those costs to CC2 (15/20 = 75%) and 25% to CC3</a:t>
            </a:r>
          </a:p>
          <a:p>
            <a:pPr marL="228600" marR="0" lvl="0" indent="-228600" algn="l" defTabSz="914400" rtl="0" eaLnBrk="1" fontAlgn="auto" latinLnBrk="0" hangingPunct="1">
              <a:lnSpc>
                <a:spcPct val="100000"/>
              </a:lnSpc>
              <a:spcBef>
                <a:spcPts val="0"/>
              </a:spcBef>
              <a:spcAft>
                <a:spcPts val="0"/>
              </a:spcAft>
              <a:buClrTx/>
              <a:buSzTx/>
              <a:buFont typeface="+mj-lt"/>
              <a:buAutoNum type="alphaUcPeriod"/>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lphaUcPeriod"/>
              <a:tabLst/>
              <a:defRPr/>
            </a:pPr>
            <a:r>
              <a:rPr kumimoji="0" lang="en-US" sz="1200" b="1" i="0"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Actual SKF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are pre defined weighting factors that can be used to allocate costs. For example, headcount. If CC1 wants to allocate IT costs to CC2 and CC3 based on headcount, these SKF can be created in the system before the cycle is run. Say CC2 has 2 people and CC3 has 3 people the system will allocate 40% (2/5 = 50%) to CC2 and 60% (3/5=60%) to CC3. </a:t>
            </a:r>
          </a:p>
        </p:txBody>
      </p:sp>
      <p:sp>
        <p:nvSpPr>
          <p:cNvPr id="35" name="Rectangle 34">
            <a:extLst>
              <a:ext uri="{FF2B5EF4-FFF2-40B4-BE49-F238E27FC236}">
                <a16:creationId xmlns:a16="http://schemas.microsoft.com/office/drawing/2014/main" id="{D0627402-AA2D-477F-9AFF-4A3ACC687CE6}"/>
              </a:ext>
            </a:extLst>
          </p:cNvPr>
          <p:cNvSpPr/>
          <p:nvPr/>
        </p:nvSpPr>
        <p:spPr>
          <a:xfrm>
            <a:off x="557706" y="2995732"/>
            <a:ext cx="6267847" cy="1060644"/>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9" name="Straight Arrow Connector 38">
            <a:extLst>
              <a:ext uri="{FF2B5EF4-FFF2-40B4-BE49-F238E27FC236}">
                <a16:creationId xmlns:a16="http://schemas.microsoft.com/office/drawing/2014/main" id="{ED4661B2-51A0-4288-AB8F-C35BE1C5B65F}"/>
              </a:ext>
            </a:extLst>
          </p:cNvPr>
          <p:cNvCxnSpPr>
            <a:cxnSpLocks/>
          </p:cNvCxnSpPr>
          <p:nvPr/>
        </p:nvCxnSpPr>
        <p:spPr>
          <a:xfrm flipV="1">
            <a:off x="4307840" y="2734266"/>
            <a:ext cx="1071488" cy="3109127"/>
          </a:xfrm>
          <a:prstGeom prst="straightConnector1">
            <a:avLst/>
          </a:prstGeom>
          <a:noFill/>
          <a:ln w="28575">
            <a:solidFill>
              <a:srgbClr val="EAAA0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7" name="Rectangle 36">
            <a:extLst>
              <a:ext uri="{FF2B5EF4-FFF2-40B4-BE49-F238E27FC236}">
                <a16:creationId xmlns:a16="http://schemas.microsoft.com/office/drawing/2014/main" id="{9B14BFC8-6ED9-45A0-9E54-EA169027EB23}"/>
              </a:ext>
            </a:extLst>
          </p:cNvPr>
          <p:cNvSpPr/>
          <p:nvPr/>
        </p:nvSpPr>
        <p:spPr>
          <a:xfrm>
            <a:off x="3755254" y="2511197"/>
            <a:ext cx="3070299" cy="469324"/>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48" name="Picture 47">
            <a:extLst>
              <a:ext uri="{FF2B5EF4-FFF2-40B4-BE49-F238E27FC236}">
                <a16:creationId xmlns:a16="http://schemas.microsoft.com/office/drawing/2014/main" id="{CF765341-E6C4-473A-8639-42D0E644907B}"/>
              </a:ext>
            </a:extLst>
          </p:cNvPr>
          <p:cNvPicPr>
            <a:picLocks noChangeAspect="1"/>
          </p:cNvPicPr>
          <p:nvPr/>
        </p:nvPicPr>
        <p:blipFill>
          <a:blip r:embed="rId4"/>
          <a:stretch>
            <a:fillRect/>
          </a:stretch>
        </p:blipFill>
        <p:spPr>
          <a:xfrm>
            <a:off x="4590215" y="5471332"/>
            <a:ext cx="2069385" cy="446338"/>
          </a:xfrm>
          <a:prstGeom prst="rect">
            <a:avLst/>
          </a:prstGeom>
          <a:ln w="25400">
            <a:solidFill>
              <a:srgbClr val="EAAA00"/>
            </a:solidFill>
            <a:prstDash val="dash"/>
          </a:ln>
        </p:spPr>
      </p:pic>
      <p:cxnSp>
        <p:nvCxnSpPr>
          <p:cNvPr id="7" name="Straight Arrow Connector 6">
            <a:extLst>
              <a:ext uri="{FF2B5EF4-FFF2-40B4-BE49-F238E27FC236}">
                <a16:creationId xmlns:a16="http://schemas.microsoft.com/office/drawing/2014/main" id="{92A310D2-5CFD-4D07-930B-497D42E98DC3}"/>
              </a:ext>
            </a:extLst>
          </p:cNvPr>
          <p:cNvCxnSpPr>
            <a:cxnSpLocks/>
          </p:cNvCxnSpPr>
          <p:nvPr/>
        </p:nvCxnSpPr>
        <p:spPr>
          <a:xfrm>
            <a:off x="9147456" y="2816031"/>
            <a:ext cx="0" cy="348809"/>
          </a:xfrm>
          <a:prstGeom prst="straightConnector1">
            <a:avLst/>
          </a:prstGeom>
          <a:ln w="28575">
            <a:solidFill>
              <a:srgbClr val="36C4BE"/>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24185ED-35E3-48C3-A5E7-95EC902A4301}"/>
              </a:ext>
            </a:extLst>
          </p:cNvPr>
          <p:cNvCxnSpPr>
            <a:cxnSpLocks/>
          </p:cNvCxnSpPr>
          <p:nvPr/>
        </p:nvCxnSpPr>
        <p:spPr>
          <a:xfrm>
            <a:off x="9557098" y="2826500"/>
            <a:ext cx="0" cy="348809"/>
          </a:xfrm>
          <a:prstGeom prst="straightConnector1">
            <a:avLst/>
          </a:prstGeom>
          <a:ln w="28575">
            <a:solidFill>
              <a:srgbClr val="36C4BE"/>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782ED9E-7F87-450D-A260-360504AA5BFC}"/>
              </a:ext>
            </a:extLst>
          </p:cNvPr>
          <p:cNvCxnSpPr>
            <a:cxnSpLocks/>
          </p:cNvCxnSpPr>
          <p:nvPr/>
        </p:nvCxnSpPr>
        <p:spPr>
          <a:xfrm>
            <a:off x="9960256" y="2816031"/>
            <a:ext cx="0" cy="348809"/>
          </a:xfrm>
          <a:prstGeom prst="straightConnector1">
            <a:avLst/>
          </a:prstGeom>
          <a:ln w="28575">
            <a:solidFill>
              <a:srgbClr val="36C4BE"/>
            </a:solidFill>
            <a:tailEnd type="triangle"/>
          </a:ln>
        </p:spPr>
        <p:style>
          <a:lnRef idx="1">
            <a:schemeClr val="accent1"/>
          </a:lnRef>
          <a:fillRef idx="0">
            <a:schemeClr val="accent1"/>
          </a:fillRef>
          <a:effectRef idx="0">
            <a:schemeClr val="accent1"/>
          </a:effectRef>
          <a:fontRef idx="minor">
            <a:schemeClr val="tx1"/>
          </a:fontRef>
        </p:style>
      </p:cxnSp>
      <p:sp>
        <p:nvSpPr>
          <p:cNvPr id="42" name="Arrow: Right 41">
            <a:extLst>
              <a:ext uri="{FF2B5EF4-FFF2-40B4-BE49-F238E27FC236}">
                <a16:creationId xmlns:a16="http://schemas.microsoft.com/office/drawing/2014/main" id="{8A6A5FDC-C224-46CA-B2E1-11B9CC3B0D3D}"/>
              </a:ext>
            </a:extLst>
          </p:cNvPr>
          <p:cNvSpPr/>
          <p:nvPr/>
        </p:nvSpPr>
        <p:spPr>
          <a:xfrm>
            <a:off x="6289394" y="3747501"/>
            <a:ext cx="558356" cy="5158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34570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88DA7507-A889-4C6A-93CC-973954D8C519}"/>
              </a:ext>
            </a:extLst>
          </p:cNvPr>
          <p:cNvPicPr>
            <a:picLocks noChangeAspect="1"/>
          </p:cNvPicPr>
          <p:nvPr/>
        </p:nvPicPr>
        <p:blipFill>
          <a:blip r:embed="rId2"/>
          <a:stretch>
            <a:fillRect/>
          </a:stretch>
        </p:blipFill>
        <p:spPr>
          <a:xfrm>
            <a:off x="631347" y="1744217"/>
            <a:ext cx="6396483" cy="2312159"/>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Allocation Rules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631347" y="1700335"/>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20" name="Rectangle 19">
            <a:extLst>
              <a:ext uri="{FF2B5EF4-FFF2-40B4-BE49-F238E27FC236}">
                <a16:creationId xmlns:a16="http://schemas.microsoft.com/office/drawing/2014/main" id="{A80D34BB-6BC6-42B4-88CC-6EAD4F764703}"/>
              </a:ext>
            </a:extLst>
          </p:cNvPr>
          <p:cNvSpPr/>
          <p:nvPr/>
        </p:nvSpPr>
        <p:spPr>
          <a:xfrm>
            <a:off x="7197103" y="1700335"/>
            <a:ext cx="4588495" cy="4597186"/>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Sender Cost </a:t>
            </a:r>
            <a:r>
              <a:rPr kumimoji="0" lang="en-GB" sz="1200" b="1"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cost center, range of cost centers or cost center group, i.e. set of cost centers, where costs should be removed from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Sender Cost Account</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the account, range of accounts or group of accounts where costs to be allocated were posted. For distribution cycles it also determines accounts within which distribution is going to happen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Receiver Cost </a:t>
            </a:r>
            <a:r>
              <a:rPr kumimoji="0" lang="en-GB" sz="1200" b="1"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the cost center, range of cost centers or cost center group, i.e. set of cost centers, where costs should be removed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Receiver WBS Element</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Determines the WBS element, range of elements or WBS element group where costs should be removed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If a range is used please remember that ALL cost centers within that range will be included in the cycle.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If there are a large number of </a:t>
            </a:r>
            <a:r>
              <a:rPr kumimoji="0" lang="en-US" sz="1200" b="0" i="0" u="none" strike="noStrike" kern="1200" cap="none" spc="0" normalizeH="0" baseline="0" noProof="0" dirty="0" err="1">
                <a:ln>
                  <a:noFill/>
                </a:ln>
                <a:solidFill>
                  <a:srgbClr val="000000"/>
                </a:solidFill>
                <a:effectLst/>
                <a:uLnTx/>
                <a:uFillTx/>
                <a:latin typeface="Arial" panose="020B0604020202020204"/>
                <a:ea typeface="+mn-ea"/>
                <a:cs typeface="+mn-cs"/>
              </a:rPr>
              <a:t>unsequential</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cost centers it is advisable to create a </a:t>
            </a:r>
            <a:r>
              <a:rPr kumimoji="0" lang="en-US" sz="1200" b="1" i="0" u="none" strike="noStrike" kern="1200" cap="none" spc="0" normalizeH="0" baseline="0" noProof="0" dirty="0">
                <a:ln>
                  <a:noFill/>
                </a:ln>
                <a:solidFill>
                  <a:srgbClr val="000000"/>
                </a:solidFill>
                <a:effectLst/>
                <a:uLnTx/>
                <a:uFillTx/>
                <a:latin typeface="Arial" panose="020B0604020202020204"/>
                <a:ea typeface="+mn-ea"/>
                <a:cs typeface="+mn-cs"/>
              </a:rPr>
              <a:t>Cost Center Group</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via ITSP</a:t>
            </a:r>
          </a:p>
        </p:txBody>
      </p:sp>
      <p:sp>
        <p:nvSpPr>
          <p:cNvPr id="21" name="Rectangle 20">
            <a:extLst>
              <a:ext uri="{FF2B5EF4-FFF2-40B4-BE49-F238E27FC236}">
                <a16:creationId xmlns:a16="http://schemas.microsoft.com/office/drawing/2014/main" id="{712EADBB-7232-4586-80F2-DDE8831A6642}"/>
              </a:ext>
            </a:extLst>
          </p:cNvPr>
          <p:cNvSpPr/>
          <p:nvPr/>
        </p:nvSpPr>
        <p:spPr>
          <a:xfrm>
            <a:off x="557706" y="1987006"/>
            <a:ext cx="6281068" cy="1008726"/>
          </a:xfrm>
          <a:prstGeom prst="rect">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93F523C9-F778-4E02-8225-584C06F5D741}"/>
              </a:ext>
            </a:extLst>
          </p:cNvPr>
          <p:cNvPicPr>
            <a:picLocks noChangeAspect="1"/>
          </p:cNvPicPr>
          <p:nvPr/>
        </p:nvPicPr>
        <p:blipFill>
          <a:blip r:embed="rId3"/>
          <a:stretch>
            <a:fillRect/>
          </a:stretch>
        </p:blipFill>
        <p:spPr>
          <a:xfrm>
            <a:off x="631347" y="4350748"/>
            <a:ext cx="4003880" cy="2165461"/>
          </a:xfrm>
          <a:prstGeom prst="rect">
            <a:avLst/>
          </a:prstGeom>
        </p:spPr>
      </p:pic>
      <p:sp>
        <p:nvSpPr>
          <p:cNvPr id="29" name="Rectangle 28">
            <a:extLst>
              <a:ext uri="{FF2B5EF4-FFF2-40B4-BE49-F238E27FC236}">
                <a16:creationId xmlns:a16="http://schemas.microsoft.com/office/drawing/2014/main" id="{DD348000-C8A8-4BED-AEB2-303C9AC134B8}"/>
              </a:ext>
            </a:extLst>
          </p:cNvPr>
          <p:cNvSpPr/>
          <p:nvPr/>
        </p:nvSpPr>
        <p:spPr>
          <a:xfrm>
            <a:off x="587301" y="3011930"/>
            <a:ext cx="6251473" cy="1060643"/>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403284C9-13B7-41C2-90D3-577DB0C5593D}"/>
              </a:ext>
            </a:extLst>
          </p:cNvPr>
          <p:cNvSpPr/>
          <p:nvPr/>
        </p:nvSpPr>
        <p:spPr>
          <a:xfrm>
            <a:off x="6469474" y="3230256"/>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0" name="Rectangle 29">
            <a:extLst>
              <a:ext uri="{FF2B5EF4-FFF2-40B4-BE49-F238E27FC236}">
                <a16:creationId xmlns:a16="http://schemas.microsoft.com/office/drawing/2014/main" id="{39F1D9BF-46E5-4ABE-8F03-4BE7969D68A3}"/>
              </a:ext>
            </a:extLst>
          </p:cNvPr>
          <p:cNvSpPr/>
          <p:nvPr/>
        </p:nvSpPr>
        <p:spPr>
          <a:xfrm>
            <a:off x="631347" y="4606001"/>
            <a:ext cx="4003880" cy="1910207"/>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3" name="Straight Arrow Connector 32">
            <a:extLst>
              <a:ext uri="{FF2B5EF4-FFF2-40B4-BE49-F238E27FC236}">
                <a16:creationId xmlns:a16="http://schemas.microsoft.com/office/drawing/2014/main" id="{46FE3812-A014-4C85-BE7F-CAE06BBA074A}"/>
              </a:ext>
            </a:extLst>
          </p:cNvPr>
          <p:cNvCxnSpPr>
            <a:cxnSpLocks/>
          </p:cNvCxnSpPr>
          <p:nvPr/>
        </p:nvCxnSpPr>
        <p:spPr>
          <a:xfrm flipH="1" flipV="1">
            <a:off x="1511276" y="3628192"/>
            <a:ext cx="1313429" cy="966278"/>
          </a:xfrm>
          <a:prstGeom prst="straightConnector1">
            <a:avLst/>
          </a:prstGeom>
          <a:noFill/>
          <a:ln w="28575">
            <a:solidFill>
              <a:srgbClr val="00B050"/>
            </a:solidFill>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18" name="Rectangle: Rounded Corners 17">
            <a:extLst>
              <a:ext uri="{FF2B5EF4-FFF2-40B4-BE49-F238E27FC236}">
                <a16:creationId xmlns:a16="http://schemas.microsoft.com/office/drawing/2014/main" id="{4B400DE0-EE58-4C11-93CA-6C612967A017}"/>
              </a:ext>
            </a:extLst>
          </p:cNvPr>
          <p:cNvSpPr/>
          <p:nvPr/>
        </p:nvSpPr>
        <p:spPr>
          <a:xfrm>
            <a:off x="596372" y="4100258"/>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spTree>
    <p:extLst>
      <p:ext uri="{BB962C8B-B14F-4D97-AF65-F5344CB8AC3E}">
        <p14:creationId xmlns:p14="http://schemas.microsoft.com/office/powerpoint/2010/main" val="202197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F1C64975-BCEF-42B5-B0D1-C152A74A11E0}"/>
              </a:ext>
            </a:extLst>
          </p:cNvPr>
          <p:cNvGrpSpPr/>
          <p:nvPr/>
        </p:nvGrpSpPr>
        <p:grpSpPr>
          <a:xfrm>
            <a:off x="578609" y="3766340"/>
            <a:ext cx="3070210" cy="1421607"/>
            <a:chOff x="578609" y="3766341"/>
            <a:chExt cx="2906271" cy="1383596"/>
          </a:xfrm>
        </p:grpSpPr>
        <p:pic>
          <p:nvPicPr>
            <p:cNvPr id="3" name="Picture 2">
              <a:extLst>
                <a:ext uri="{FF2B5EF4-FFF2-40B4-BE49-F238E27FC236}">
                  <a16:creationId xmlns:a16="http://schemas.microsoft.com/office/drawing/2014/main" id="{419BF9CF-FBED-4756-808B-7B27BDDB2EB3}"/>
                </a:ext>
              </a:extLst>
            </p:cNvPr>
            <p:cNvPicPr>
              <a:picLocks noChangeAspect="1"/>
            </p:cNvPicPr>
            <p:nvPr/>
          </p:nvPicPr>
          <p:blipFill>
            <a:blip r:embed="rId2"/>
            <a:stretch>
              <a:fillRect/>
            </a:stretch>
          </p:blipFill>
          <p:spPr>
            <a:xfrm>
              <a:off x="578609" y="3766341"/>
              <a:ext cx="2906271" cy="1383596"/>
            </a:xfrm>
            <a:prstGeom prst="rect">
              <a:avLst/>
            </a:prstGeom>
            <a:ln w="15875">
              <a:solidFill>
                <a:srgbClr val="00B050"/>
              </a:solidFill>
              <a:prstDash val="dash"/>
            </a:ln>
          </p:spPr>
        </p:pic>
        <p:sp>
          <p:nvSpPr>
            <p:cNvPr id="22" name="Rectangle 21">
              <a:extLst>
                <a:ext uri="{FF2B5EF4-FFF2-40B4-BE49-F238E27FC236}">
                  <a16:creationId xmlns:a16="http://schemas.microsoft.com/office/drawing/2014/main" id="{6B402181-1E71-4F69-84CA-3E892C49F717}"/>
                </a:ext>
              </a:extLst>
            </p:cNvPr>
            <p:cNvSpPr/>
            <p:nvPr/>
          </p:nvSpPr>
          <p:spPr>
            <a:xfrm>
              <a:off x="578609" y="4529986"/>
              <a:ext cx="2906271" cy="596575"/>
            </a:xfrm>
            <a:prstGeom prst="rect">
              <a:avLst/>
            </a:prstGeom>
            <a:noFill/>
            <a:ln w="158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Receiver Values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578610" y="1495501"/>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sp>
        <p:nvSpPr>
          <p:cNvPr id="20" name="Rectangle 19">
            <a:extLst>
              <a:ext uri="{FF2B5EF4-FFF2-40B4-BE49-F238E27FC236}">
                <a16:creationId xmlns:a16="http://schemas.microsoft.com/office/drawing/2014/main" id="{A80D34BB-6BC6-42B4-88CC-6EAD4F764703}"/>
              </a:ext>
            </a:extLst>
          </p:cNvPr>
          <p:cNvSpPr/>
          <p:nvPr/>
        </p:nvSpPr>
        <p:spPr>
          <a:xfrm>
            <a:off x="7197103" y="1524002"/>
            <a:ext cx="4588495" cy="1325524"/>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Reference cost account</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this uses the </a:t>
            </a:r>
            <a:r>
              <a:rPr kumimoji="0" lang="en-US" sz="1200" b="0" i="0" u="none" strike="noStrike" kern="1200" cap="none" spc="0" normalizeH="0" baseline="0" noProof="0">
                <a:ln>
                  <a:noFill/>
                </a:ln>
                <a:solidFill>
                  <a:srgbClr val="000000"/>
                </a:solidFill>
                <a:effectLst/>
                <a:uLnTx/>
                <a:uFillTx/>
                <a:latin typeface="Arial" panose="020B0604020202020204"/>
                <a:ea typeface="+mn-ea"/>
                <a:cs typeface="+mn-cs"/>
              </a:rPr>
              <a:t>normal</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 day to day postings to the named G/L account as the weighting basis for the new cost center allocation cycle. So if CC2 receives $5 on cost element for rent and CC3 receives $15 for rent, the new cost allocation cycle can use this weighting for allocations costs of, for example leasing admin costs proportionality from CC1 (5/20 = 25%) to CC2 and (15/20= 75%) to CC3 </a:t>
            </a:r>
          </a:p>
        </p:txBody>
      </p:sp>
      <p:sp>
        <p:nvSpPr>
          <p:cNvPr id="18" name="Rectangle: Rounded Corners 17">
            <a:extLst>
              <a:ext uri="{FF2B5EF4-FFF2-40B4-BE49-F238E27FC236}">
                <a16:creationId xmlns:a16="http://schemas.microsoft.com/office/drawing/2014/main" id="{4B400DE0-EE58-4C11-93CA-6C612967A017}"/>
              </a:ext>
            </a:extLst>
          </p:cNvPr>
          <p:cNvSpPr/>
          <p:nvPr/>
        </p:nvSpPr>
        <p:spPr>
          <a:xfrm>
            <a:off x="578609" y="3507769"/>
            <a:ext cx="2228333" cy="17062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KSU3 – Display Assessment Cycle</a:t>
            </a:r>
          </a:p>
        </p:txBody>
      </p:sp>
      <p:pic>
        <p:nvPicPr>
          <p:cNvPr id="6146" name="Picture 2">
            <a:extLst>
              <a:ext uri="{FF2B5EF4-FFF2-40B4-BE49-F238E27FC236}">
                <a16:creationId xmlns:a16="http://schemas.microsoft.com/office/drawing/2014/main" id="{118DAA16-DAFB-4D82-9E93-B58942C21E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10" y="1670052"/>
            <a:ext cx="4499453" cy="1726841"/>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DD348000-C8A8-4BED-AEB2-303C9AC134B8}"/>
              </a:ext>
            </a:extLst>
          </p:cNvPr>
          <p:cNvSpPr/>
          <p:nvPr/>
        </p:nvSpPr>
        <p:spPr>
          <a:xfrm>
            <a:off x="578609" y="1670052"/>
            <a:ext cx="4499453" cy="1718269"/>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Arrow: Right 13">
            <a:extLst>
              <a:ext uri="{FF2B5EF4-FFF2-40B4-BE49-F238E27FC236}">
                <a16:creationId xmlns:a16="http://schemas.microsoft.com/office/drawing/2014/main" id="{403284C9-13B7-41C2-90D3-577DB0C5593D}"/>
              </a:ext>
            </a:extLst>
          </p:cNvPr>
          <p:cNvSpPr/>
          <p:nvPr/>
        </p:nvSpPr>
        <p:spPr>
          <a:xfrm>
            <a:off x="6459725" y="2122557"/>
            <a:ext cx="558356" cy="515800"/>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grpSp>
        <p:nvGrpSpPr>
          <p:cNvPr id="13" name="Group 12">
            <a:extLst>
              <a:ext uri="{FF2B5EF4-FFF2-40B4-BE49-F238E27FC236}">
                <a16:creationId xmlns:a16="http://schemas.microsoft.com/office/drawing/2014/main" id="{DC866E12-EDE7-407A-B3C6-35894310BF98}"/>
              </a:ext>
            </a:extLst>
          </p:cNvPr>
          <p:cNvGrpSpPr/>
          <p:nvPr/>
        </p:nvGrpSpPr>
        <p:grpSpPr>
          <a:xfrm>
            <a:off x="3768849" y="3766340"/>
            <a:ext cx="3070210" cy="1469924"/>
            <a:chOff x="3604911" y="3766341"/>
            <a:chExt cx="3070210" cy="1469924"/>
          </a:xfrm>
        </p:grpSpPr>
        <p:pic>
          <p:nvPicPr>
            <p:cNvPr id="7" name="Picture 6">
              <a:extLst>
                <a:ext uri="{FF2B5EF4-FFF2-40B4-BE49-F238E27FC236}">
                  <a16:creationId xmlns:a16="http://schemas.microsoft.com/office/drawing/2014/main" id="{6FB53C97-44F5-4032-AE03-0C059C196AE7}"/>
                </a:ext>
              </a:extLst>
            </p:cNvPr>
            <p:cNvPicPr>
              <a:picLocks noChangeAspect="1"/>
            </p:cNvPicPr>
            <p:nvPr/>
          </p:nvPicPr>
          <p:blipFill>
            <a:blip r:embed="rId4"/>
            <a:stretch>
              <a:fillRect/>
            </a:stretch>
          </p:blipFill>
          <p:spPr>
            <a:xfrm>
              <a:off x="3604911" y="3766341"/>
              <a:ext cx="3070210" cy="1469924"/>
            </a:xfrm>
            <a:prstGeom prst="rect">
              <a:avLst/>
            </a:prstGeom>
            <a:ln w="15875">
              <a:solidFill>
                <a:srgbClr val="EAAA00"/>
              </a:solidFill>
              <a:prstDash val="dash"/>
            </a:ln>
          </p:spPr>
        </p:pic>
        <p:sp>
          <p:nvSpPr>
            <p:cNvPr id="8" name="Rectangle 7">
              <a:extLst>
                <a:ext uri="{FF2B5EF4-FFF2-40B4-BE49-F238E27FC236}">
                  <a16:creationId xmlns:a16="http://schemas.microsoft.com/office/drawing/2014/main" id="{F7AB4D32-7D73-4950-B0A3-3C5D24F48A41}"/>
                </a:ext>
              </a:extLst>
            </p:cNvPr>
            <p:cNvSpPr/>
            <p:nvPr/>
          </p:nvSpPr>
          <p:spPr>
            <a:xfrm>
              <a:off x="3604911" y="4591373"/>
              <a:ext cx="3070210" cy="596575"/>
            </a:xfrm>
            <a:prstGeom prst="rect">
              <a:avLst/>
            </a:prstGeom>
            <a:noFill/>
            <a:ln w="15875">
              <a:solidFill>
                <a:srgbClr val="EAAA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11" name="Picture 10">
            <a:extLst>
              <a:ext uri="{FF2B5EF4-FFF2-40B4-BE49-F238E27FC236}">
                <a16:creationId xmlns:a16="http://schemas.microsoft.com/office/drawing/2014/main" id="{C60729FF-FC39-4B83-850D-AC5625FCB497}"/>
              </a:ext>
            </a:extLst>
          </p:cNvPr>
          <p:cNvPicPr>
            <a:picLocks noChangeAspect="1"/>
          </p:cNvPicPr>
          <p:nvPr/>
        </p:nvPicPr>
        <p:blipFill>
          <a:blip r:embed="rId5"/>
          <a:stretch>
            <a:fillRect/>
          </a:stretch>
        </p:blipFill>
        <p:spPr>
          <a:xfrm>
            <a:off x="1786208" y="5358103"/>
            <a:ext cx="3328720" cy="1180897"/>
          </a:xfrm>
          <a:prstGeom prst="rect">
            <a:avLst/>
          </a:prstGeom>
        </p:spPr>
      </p:pic>
      <p:sp>
        <p:nvSpPr>
          <p:cNvPr id="26" name="Arrow: Right 25">
            <a:extLst>
              <a:ext uri="{FF2B5EF4-FFF2-40B4-BE49-F238E27FC236}">
                <a16:creationId xmlns:a16="http://schemas.microsoft.com/office/drawing/2014/main" id="{EAD603E4-5555-4F83-A442-8D81EA965D26}"/>
              </a:ext>
            </a:extLst>
          </p:cNvPr>
          <p:cNvSpPr/>
          <p:nvPr/>
        </p:nvSpPr>
        <p:spPr>
          <a:xfrm>
            <a:off x="6459725" y="3128701"/>
            <a:ext cx="558356" cy="515800"/>
          </a:xfrm>
          <a:prstGeom prst="rightArrow">
            <a:avLst>
              <a:gd name="adj1" fmla="val 50000"/>
              <a:gd name="adj2" fmla="val 30275"/>
            </a:avLst>
          </a:prstGeom>
          <a:gradFill flip="none" rotWithShape="1">
            <a:gsLst>
              <a:gs pos="0">
                <a:schemeClr val="accent2"/>
              </a:gs>
              <a:gs pos="50000">
                <a:schemeClr val="accent2">
                  <a:lumMod val="40000"/>
                  <a:lumOff val="60000"/>
                </a:schemeClr>
              </a:gs>
              <a:gs pos="100000">
                <a:schemeClr val="accent2">
                  <a:lumMod val="20000"/>
                  <a:lumOff val="80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ectangle 26">
            <a:extLst>
              <a:ext uri="{FF2B5EF4-FFF2-40B4-BE49-F238E27FC236}">
                <a16:creationId xmlns:a16="http://schemas.microsoft.com/office/drawing/2014/main" id="{E76F61B7-7011-4753-AE12-37E71D10E2B6}"/>
              </a:ext>
            </a:extLst>
          </p:cNvPr>
          <p:cNvSpPr/>
          <p:nvPr/>
        </p:nvSpPr>
        <p:spPr>
          <a:xfrm>
            <a:off x="1786208" y="5333999"/>
            <a:ext cx="3328720" cy="1205001"/>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Arrow: Right 27">
            <a:extLst>
              <a:ext uri="{FF2B5EF4-FFF2-40B4-BE49-F238E27FC236}">
                <a16:creationId xmlns:a16="http://schemas.microsoft.com/office/drawing/2014/main" id="{6823939B-36D2-4E8A-A005-370C1D823415}"/>
              </a:ext>
            </a:extLst>
          </p:cNvPr>
          <p:cNvSpPr/>
          <p:nvPr/>
        </p:nvSpPr>
        <p:spPr>
          <a:xfrm>
            <a:off x="6459725" y="5491343"/>
            <a:ext cx="558358" cy="569953"/>
          </a:xfrm>
          <a:prstGeom prst="rightArrow">
            <a:avLst>
              <a:gd name="adj1" fmla="val 50000"/>
              <a:gd name="adj2" fmla="val 30275"/>
            </a:avLst>
          </a:prstGeom>
          <a:gradFill flip="none" rotWithShape="1">
            <a:gsLst>
              <a:gs pos="0">
                <a:srgbClr val="FF0000"/>
              </a:gs>
              <a:gs pos="50000">
                <a:schemeClr val="accent5">
                  <a:lumMod val="40000"/>
                  <a:lumOff val="60000"/>
                </a:schemeClr>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Rectangle 30">
            <a:extLst>
              <a:ext uri="{FF2B5EF4-FFF2-40B4-BE49-F238E27FC236}">
                <a16:creationId xmlns:a16="http://schemas.microsoft.com/office/drawing/2014/main" id="{039820E5-A558-46A7-BED4-61483E2B51FC}"/>
              </a:ext>
            </a:extLst>
          </p:cNvPr>
          <p:cNvSpPr/>
          <p:nvPr/>
        </p:nvSpPr>
        <p:spPr>
          <a:xfrm>
            <a:off x="7197103" y="3037338"/>
            <a:ext cx="4588495" cy="1245844"/>
          </a:xfrm>
          <a:prstGeom prst="rect">
            <a:avLst/>
          </a:prstGeom>
          <a:noFill/>
          <a:ln w="28575">
            <a:solidFill>
              <a:srgbClr val="EAAA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Statistical Key Figure</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are pre defined weighting factors that can be used to allocate costs. For example, headcount. If CC1 wants to allocate IT costs to CC2 and CC3 based on headcount, these SKF can be created in the system before the cycle is run. Say CC2 has 2 people and CC3 has 3 people the system will allocate 40% (2/5 = 50%) to CC2 and 60% (3/5=60%) to CC3. </a:t>
            </a:r>
          </a:p>
        </p:txBody>
      </p:sp>
      <p:sp>
        <p:nvSpPr>
          <p:cNvPr id="32" name="Rectangle 31">
            <a:extLst>
              <a:ext uri="{FF2B5EF4-FFF2-40B4-BE49-F238E27FC236}">
                <a16:creationId xmlns:a16="http://schemas.microsoft.com/office/drawing/2014/main" id="{2F153950-788E-4BAC-9405-249D12F5FBC9}"/>
              </a:ext>
            </a:extLst>
          </p:cNvPr>
          <p:cNvSpPr/>
          <p:nvPr/>
        </p:nvSpPr>
        <p:spPr>
          <a:xfrm>
            <a:off x="7197102" y="4509783"/>
            <a:ext cx="4588495" cy="1926262"/>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200" b="1"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/Factor Per</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Represents a multiplier which can be applied to the already calculation proportion by ‘Actuals costs’ or ‘Actual SKF’, increasing or decreasing the weight of a particular cost center. The default value is 100, equal for all receiving cost centers. Recommendation is just to use it as is.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Cost </a:t>
            </a:r>
            <a:r>
              <a:rPr kumimoji="0" lang="en-GB" sz="1200" b="1" i="0" u="none" strike="noStrike" kern="1200" cap="none" spc="0" normalizeH="0" baseline="0" noProof="0" dirty="0" err="1">
                <a:ln>
                  <a:noFill/>
                </a:ln>
                <a:solidFill>
                  <a:srgbClr val="000000"/>
                </a:solidFill>
                <a:effectLst/>
                <a:uLnTx/>
                <a:uFillTx/>
                <a:latin typeface="Arial" panose="020B0604020202020204"/>
                <a:ea typeface="+mn-ea"/>
                <a:cs typeface="+mn-cs"/>
              </a:rPr>
              <a:t>Center</a:t>
            </a:r>
            <a:r>
              <a:rPr kumimoji="0" lang="en-GB" sz="1200" b="1" i="0" u="none" strike="noStrike" kern="1200" cap="none" spc="0" normalizeH="0" baseline="0" noProof="0" dirty="0">
                <a:ln>
                  <a:noFill/>
                </a:ln>
                <a:solidFill>
                  <a:srgbClr val="000000"/>
                </a:solidFill>
                <a:effectLst/>
                <a:uLnTx/>
                <a:uFillTx/>
                <a:latin typeface="Arial" panose="020B0604020202020204"/>
                <a:ea typeface="+mn-ea"/>
                <a:cs typeface="+mn-cs"/>
              </a:rPr>
              <a:t> Percentage</a:t>
            </a:r>
            <a:r>
              <a:rPr kumimoji="0" lang="en-GB" sz="1000" b="1" i="0" u="none" strike="noStrike" kern="1200" cap="none" spc="0" normalizeH="0" baseline="0" noProof="0" dirty="0">
                <a:ln>
                  <a:noFill/>
                </a:ln>
                <a:solidFill>
                  <a:srgbClr val="000000"/>
                </a:solidFill>
                <a:effectLst/>
                <a:uLnTx/>
                <a:uFillTx/>
                <a:latin typeface="Arial" panose="020B0604020202020204"/>
                <a:ea typeface="+mn-ea"/>
                <a:cs typeface="+mn-cs"/>
              </a:rPr>
              <a:t>: </a:t>
            </a: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Represents the share of each receiving cost center in the result of allocation if receiver rule is selected as ‘Fixed percentage’ </a:t>
            </a:r>
          </a:p>
        </p:txBody>
      </p:sp>
    </p:spTree>
    <p:extLst>
      <p:ext uri="{BB962C8B-B14F-4D97-AF65-F5344CB8AC3E}">
        <p14:creationId xmlns:p14="http://schemas.microsoft.com/office/powerpoint/2010/main" val="109552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47A236-71AE-4B42-BD51-6DCE528F0F8D}"/>
              </a:ext>
            </a:extLst>
          </p:cNvPr>
          <p:cNvPicPr>
            <a:picLocks noChangeAspect="1"/>
          </p:cNvPicPr>
          <p:nvPr/>
        </p:nvPicPr>
        <p:blipFill>
          <a:blip r:embed="rId2"/>
          <a:stretch>
            <a:fillRect/>
          </a:stretch>
        </p:blipFill>
        <p:spPr>
          <a:xfrm>
            <a:off x="510902" y="1495501"/>
            <a:ext cx="4457467" cy="2303574"/>
          </a:xfrm>
          <a:prstGeom prst="rect">
            <a:avLst/>
          </a:prstGeom>
        </p:spPr>
      </p:pic>
      <p:sp>
        <p:nvSpPr>
          <p:cNvPr id="2" name="Title 1">
            <a:extLst>
              <a:ext uri="{FF2B5EF4-FFF2-40B4-BE49-F238E27FC236}">
                <a16:creationId xmlns:a16="http://schemas.microsoft.com/office/drawing/2014/main" id="{DC4DF027-5B4E-4F22-AFA3-0B3C75F5D770}"/>
              </a:ext>
            </a:extLst>
          </p:cNvPr>
          <p:cNvSpPr>
            <a:spLocks noGrp="1"/>
          </p:cNvSpPr>
          <p:nvPr>
            <p:ph type="title"/>
          </p:nvPr>
        </p:nvSpPr>
        <p:spPr/>
        <p:txBody>
          <a:bodyPr/>
          <a:lstStyle/>
          <a:p>
            <a:r>
              <a:rPr lang="en-GB" dirty="0"/>
              <a:t>Cost </a:t>
            </a:r>
            <a:r>
              <a:rPr lang="en-GB" dirty="0" err="1"/>
              <a:t>Center</a:t>
            </a:r>
            <a:r>
              <a:rPr lang="en-GB" dirty="0"/>
              <a:t> Allocations Templates – Receiver Values</a:t>
            </a:r>
            <a:endParaRPr lang="en-US" dirty="0"/>
          </a:p>
        </p:txBody>
      </p:sp>
      <p:sp>
        <p:nvSpPr>
          <p:cNvPr id="4" name="Footer Placeholder 3">
            <a:extLst>
              <a:ext uri="{FF2B5EF4-FFF2-40B4-BE49-F238E27FC236}">
                <a16:creationId xmlns:a16="http://schemas.microsoft.com/office/drawing/2014/main" id="{5EF0BEDA-EB0B-4D98-9E07-8AC558518280}"/>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000000"/>
                </a:solidFill>
                <a:effectLst/>
                <a:uLnTx/>
                <a:uFillTx/>
                <a:latin typeface="Arial" panose="020B0604020202020204"/>
                <a:ea typeface="+mn-ea"/>
                <a:cs typeface="+mn-cs"/>
              </a:rPr>
              <a:t>Presentation title in footer</a:t>
            </a:r>
          </a:p>
        </p:txBody>
      </p:sp>
      <p:sp>
        <p:nvSpPr>
          <p:cNvPr id="5" name="Slide Number Placeholder 4">
            <a:extLst>
              <a:ext uri="{FF2B5EF4-FFF2-40B4-BE49-F238E27FC236}">
                <a16:creationId xmlns:a16="http://schemas.microsoft.com/office/drawing/2014/main" id="{2EB1F768-5B8D-4B7C-B337-B44B12B009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F9BDFE25-49B0-403D-BE1D-CD99A44AC3E9}"/>
              </a:ext>
            </a:extLst>
          </p:cNvPr>
          <p:cNvSpPr/>
          <p:nvPr/>
        </p:nvSpPr>
        <p:spPr>
          <a:xfrm>
            <a:off x="578610" y="1495501"/>
            <a:ext cx="1523598" cy="272339"/>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FB03L – Display </a:t>
            </a: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Docuement</a:t>
            </a:r>
            <a:endPar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20" name="Rectangle 19">
            <a:extLst>
              <a:ext uri="{FF2B5EF4-FFF2-40B4-BE49-F238E27FC236}">
                <a16:creationId xmlns:a16="http://schemas.microsoft.com/office/drawing/2014/main" id="{A80D34BB-6BC6-42B4-88CC-6EAD4F764703}"/>
              </a:ext>
            </a:extLst>
          </p:cNvPr>
          <p:cNvSpPr/>
          <p:nvPr/>
        </p:nvSpPr>
        <p:spPr>
          <a:xfrm>
            <a:off x="7223633" y="2647288"/>
            <a:ext cx="4588495" cy="2950872"/>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Cost center allocations: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Document type SZ will be used, and the postings will create accounting documents in S/4HANA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Distribution cycles impact the same GL account as where the costs were originally incurred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Assessment cycles impact a secondary cost element, such as 920000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If the cost center allocation cycle transfers costs from one market to another, there will be an entry to the FCF zero-balancing account (960000)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It is possible to create a cost center allocation cycle that impacts all ledgers, or that only impacts one ledger. Please consider what is appropriate for your entity and ensure your CO colleagues are aware of what they should use</a:t>
            </a:r>
          </a:p>
        </p:txBody>
      </p:sp>
      <p:sp>
        <p:nvSpPr>
          <p:cNvPr id="14" name="Arrow: Right 13">
            <a:extLst>
              <a:ext uri="{FF2B5EF4-FFF2-40B4-BE49-F238E27FC236}">
                <a16:creationId xmlns:a16="http://schemas.microsoft.com/office/drawing/2014/main" id="{403284C9-13B7-41C2-90D3-577DB0C5593D}"/>
              </a:ext>
            </a:extLst>
          </p:cNvPr>
          <p:cNvSpPr/>
          <p:nvPr/>
        </p:nvSpPr>
        <p:spPr>
          <a:xfrm>
            <a:off x="6034778" y="3171100"/>
            <a:ext cx="904501" cy="661794"/>
          </a:xfrm>
          <a:prstGeom prst="rightArrow">
            <a:avLst>
              <a:gd name="adj1" fmla="val 50000"/>
              <a:gd name="adj2" fmla="val 30275"/>
            </a:avLst>
          </a:prstGeom>
          <a:gradFill flip="none" rotWithShape="1">
            <a:gsLst>
              <a:gs pos="0">
                <a:srgbClr val="00B050"/>
              </a:gs>
              <a:gs pos="50000">
                <a:srgbClr val="93D050"/>
              </a:gs>
              <a:gs pos="100000">
                <a:schemeClr val="bg1">
                  <a:lumMod val="95000"/>
                </a:schemeClr>
              </a:gs>
            </a:gsLst>
            <a:lin ang="8100000" scaled="0"/>
            <a:tileRect/>
          </a:gra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E39325DC-73BC-4751-A94A-297DE96C8DDE}"/>
              </a:ext>
            </a:extLst>
          </p:cNvPr>
          <p:cNvPicPr>
            <a:picLocks noChangeAspect="1"/>
          </p:cNvPicPr>
          <p:nvPr/>
        </p:nvPicPr>
        <p:blipFill>
          <a:blip r:embed="rId3"/>
          <a:stretch>
            <a:fillRect/>
          </a:stretch>
        </p:blipFill>
        <p:spPr>
          <a:xfrm>
            <a:off x="2292148" y="3832894"/>
            <a:ext cx="3670489" cy="2387723"/>
          </a:xfrm>
          <a:prstGeom prst="rect">
            <a:avLst/>
          </a:prstGeom>
        </p:spPr>
      </p:pic>
    </p:spTree>
    <p:extLst>
      <p:ext uri="{BB962C8B-B14F-4D97-AF65-F5344CB8AC3E}">
        <p14:creationId xmlns:p14="http://schemas.microsoft.com/office/powerpoint/2010/main" val="3807362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87056-E569-4720-8D9C-B40F7DB43C56}"/>
              </a:ext>
            </a:extLst>
          </p:cNvPr>
          <p:cNvSpPr>
            <a:spLocks noGrp="1"/>
          </p:cNvSpPr>
          <p:nvPr>
            <p:ph type="title"/>
          </p:nvPr>
        </p:nvSpPr>
        <p:spPr/>
        <p:txBody>
          <a:bodyPr/>
          <a:lstStyle/>
          <a:p>
            <a:r>
              <a:rPr lang="en-GB" dirty="0"/>
              <a:t>Cost </a:t>
            </a:r>
            <a:r>
              <a:rPr lang="en-GB" dirty="0" err="1"/>
              <a:t>Center</a:t>
            </a:r>
            <a:r>
              <a:rPr lang="en-GB" dirty="0"/>
              <a:t> Allocation cycles – Segments vs Separate Cycle</a:t>
            </a:r>
            <a:endParaRPr lang="en-US" dirty="0"/>
          </a:p>
        </p:txBody>
      </p:sp>
      <p:sp>
        <p:nvSpPr>
          <p:cNvPr id="4" name="Footer Placeholder 3">
            <a:extLst>
              <a:ext uri="{FF2B5EF4-FFF2-40B4-BE49-F238E27FC236}">
                <a16:creationId xmlns:a16="http://schemas.microsoft.com/office/drawing/2014/main" id="{BC872CB3-8E2A-4225-B71C-2F9341357D06}"/>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8036450A-ADD5-4003-BA85-B1FAEB0B25D1}"/>
              </a:ext>
            </a:extLst>
          </p:cNvPr>
          <p:cNvSpPr>
            <a:spLocks noGrp="1"/>
          </p:cNvSpPr>
          <p:nvPr>
            <p:ph type="sldNum" sz="quarter" idx="12"/>
          </p:nvPr>
        </p:nvSpPr>
        <p:spPr/>
        <p:txBody>
          <a:bodyPr/>
          <a:lstStyle/>
          <a:p>
            <a:fld id="{F4C94289-3309-4C35-850A-56FD49B3E346}" type="slidenum">
              <a:rPr lang="en-GB" smtClean="0"/>
              <a:t>14</a:t>
            </a:fld>
            <a:endParaRPr lang="en-GB"/>
          </a:p>
        </p:txBody>
      </p:sp>
      <p:sp>
        <p:nvSpPr>
          <p:cNvPr id="6" name="Rectangle: Rounded Corners 5">
            <a:extLst>
              <a:ext uri="{FF2B5EF4-FFF2-40B4-BE49-F238E27FC236}">
                <a16:creationId xmlns:a16="http://schemas.microsoft.com/office/drawing/2014/main" id="{B90E1975-0C34-4404-8BF6-F08D876CCBCF}"/>
              </a:ext>
            </a:extLst>
          </p:cNvPr>
          <p:cNvSpPr/>
          <p:nvPr/>
        </p:nvSpPr>
        <p:spPr>
          <a:xfrm>
            <a:off x="548445" y="1430821"/>
            <a:ext cx="10976805" cy="674204"/>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lvl="1" indent="-285750" defTabSz="711200" fontAlgn="base">
              <a:lnSpc>
                <a:spcPct val="90000"/>
              </a:lnSpc>
              <a:spcBef>
                <a:spcPct val="0"/>
              </a:spcBef>
              <a:spcAft>
                <a:spcPct val="15000"/>
              </a:spcAft>
              <a:buFont typeface="Wingdings" panose="05000000000000000000" pitchFamily="2" charset="2"/>
              <a:buChar char="v"/>
              <a:defRPr/>
            </a:pPr>
            <a:r>
              <a:rPr lang="en-GB" dirty="0"/>
              <a:t>Below are some examples of when an additional segment within one cycle should be used or when creating a new cycle is more appropriate. </a:t>
            </a:r>
          </a:p>
          <a:p>
            <a:pPr marL="285750" lvl="1" indent="-285750" defTabSz="711200" fontAlgn="base">
              <a:lnSpc>
                <a:spcPct val="90000"/>
              </a:lnSpc>
              <a:spcBef>
                <a:spcPct val="0"/>
              </a:spcBef>
              <a:spcAft>
                <a:spcPct val="15000"/>
              </a:spcAft>
              <a:buFont typeface="Wingdings" panose="05000000000000000000" pitchFamily="2" charset="2"/>
              <a:buChar char="v"/>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graphicFrame>
        <p:nvGraphicFramePr>
          <p:cNvPr id="8" name="Table 7">
            <a:extLst>
              <a:ext uri="{FF2B5EF4-FFF2-40B4-BE49-F238E27FC236}">
                <a16:creationId xmlns:a16="http://schemas.microsoft.com/office/drawing/2014/main" id="{01E4305B-0E36-49F1-B681-011F3F9BD974}"/>
              </a:ext>
            </a:extLst>
          </p:cNvPr>
          <p:cNvGraphicFramePr>
            <a:graphicFrameLocks noGrp="1"/>
          </p:cNvGraphicFramePr>
          <p:nvPr>
            <p:extLst>
              <p:ext uri="{D42A27DB-BD31-4B8C-83A1-F6EECF244321}">
                <p14:modId xmlns:p14="http://schemas.microsoft.com/office/powerpoint/2010/main" val="1739998886"/>
              </p:ext>
            </p:extLst>
          </p:nvPr>
        </p:nvGraphicFramePr>
        <p:xfrm>
          <a:off x="548445" y="2201278"/>
          <a:ext cx="10976804" cy="3327766"/>
        </p:xfrm>
        <a:graphic>
          <a:graphicData uri="http://schemas.openxmlformats.org/drawingml/2006/table">
            <a:tbl>
              <a:tblPr firstRow="1" bandRow="1"/>
              <a:tblGrid>
                <a:gridCol w="5658347">
                  <a:extLst>
                    <a:ext uri="{9D8B030D-6E8A-4147-A177-3AD203B41FA5}">
                      <a16:colId xmlns:a16="http://schemas.microsoft.com/office/drawing/2014/main" val="1408585141"/>
                    </a:ext>
                  </a:extLst>
                </a:gridCol>
                <a:gridCol w="5318457">
                  <a:extLst>
                    <a:ext uri="{9D8B030D-6E8A-4147-A177-3AD203B41FA5}">
                      <a16:colId xmlns:a16="http://schemas.microsoft.com/office/drawing/2014/main" val="1037393567"/>
                    </a:ext>
                  </a:extLst>
                </a:gridCol>
              </a:tblGrid>
              <a:tr h="789163">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800" dirty="0"/>
                        <a:t>ADDITIONAL SEGMENT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tc>
                  <a:txBody>
                    <a:bodyPr/>
                    <a:lstStyle>
                      <a:lvl1pPr marL="0" algn="l" defTabSz="914126" rtl="0" eaLnBrk="1" latinLnBrk="0" hangingPunct="1">
                        <a:defRPr sz="1799" b="1" kern="1200">
                          <a:solidFill>
                            <a:schemeClr val="lt1"/>
                          </a:solidFill>
                          <a:latin typeface="Arial" panose="020B0604020202020204"/>
                        </a:defRPr>
                      </a:lvl1pPr>
                      <a:lvl2pPr marL="457063" algn="l" defTabSz="914126" rtl="0" eaLnBrk="1" latinLnBrk="0" hangingPunct="1">
                        <a:defRPr sz="1799" b="1" kern="1200">
                          <a:solidFill>
                            <a:schemeClr val="lt1"/>
                          </a:solidFill>
                          <a:latin typeface="Arial" panose="020B0604020202020204"/>
                        </a:defRPr>
                      </a:lvl2pPr>
                      <a:lvl3pPr marL="914126" algn="l" defTabSz="914126" rtl="0" eaLnBrk="1" latinLnBrk="0" hangingPunct="1">
                        <a:defRPr sz="1799" b="1" kern="1200">
                          <a:solidFill>
                            <a:schemeClr val="lt1"/>
                          </a:solidFill>
                          <a:latin typeface="Arial" panose="020B0604020202020204"/>
                        </a:defRPr>
                      </a:lvl3pPr>
                      <a:lvl4pPr marL="1371189" algn="l" defTabSz="914126" rtl="0" eaLnBrk="1" latinLnBrk="0" hangingPunct="1">
                        <a:defRPr sz="1799" b="1" kern="1200">
                          <a:solidFill>
                            <a:schemeClr val="lt1"/>
                          </a:solidFill>
                          <a:latin typeface="Arial" panose="020B0604020202020204"/>
                        </a:defRPr>
                      </a:lvl4pPr>
                      <a:lvl5pPr marL="1828251" algn="l" defTabSz="914126" rtl="0" eaLnBrk="1" latinLnBrk="0" hangingPunct="1">
                        <a:defRPr sz="1799" b="1" kern="1200">
                          <a:solidFill>
                            <a:schemeClr val="lt1"/>
                          </a:solidFill>
                          <a:latin typeface="Arial" panose="020B0604020202020204"/>
                        </a:defRPr>
                      </a:lvl5pPr>
                      <a:lvl6pPr marL="2285314" algn="l" defTabSz="914126" rtl="0" eaLnBrk="1" latinLnBrk="0" hangingPunct="1">
                        <a:defRPr sz="1799" b="1" kern="1200">
                          <a:solidFill>
                            <a:schemeClr val="lt1"/>
                          </a:solidFill>
                          <a:latin typeface="Arial" panose="020B0604020202020204"/>
                        </a:defRPr>
                      </a:lvl6pPr>
                      <a:lvl7pPr marL="2742377" algn="l" defTabSz="914126" rtl="0" eaLnBrk="1" latinLnBrk="0" hangingPunct="1">
                        <a:defRPr sz="1799" b="1" kern="1200">
                          <a:solidFill>
                            <a:schemeClr val="lt1"/>
                          </a:solidFill>
                          <a:latin typeface="Arial" panose="020B0604020202020204"/>
                        </a:defRPr>
                      </a:lvl7pPr>
                      <a:lvl8pPr marL="3199440" algn="l" defTabSz="914126" rtl="0" eaLnBrk="1" latinLnBrk="0" hangingPunct="1">
                        <a:defRPr sz="1799" b="1" kern="1200">
                          <a:solidFill>
                            <a:schemeClr val="lt1"/>
                          </a:solidFill>
                          <a:latin typeface="Arial" panose="020B0604020202020204"/>
                        </a:defRPr>
                      </a:lvl8pPr>
                      <a:lvl9pPr marL="3656503" algn="l" defTabSz="914126" rtl="0" eaLnBrk="1" latinLnBrk="0" hangingPunct="1">
                        <a:defRPr sz="1799" b="1" kern="1200">
                          <a:solidFill>
                            <a:schemeClr val="lt1"/>
                          </a:solidFill>
                          <a:latin typeface="Arial" panose="020B0604020202020204"/>
                        </a:defRPr>
                      </a:lvl9pPr>
                    </a:lstStyle>
                    <a:p>
                      <a:pPr algn="ctr"/>
                      <a:r>
                        <a:rPr lang="en-US" sz="1800" dirty="0"/>
                        <a:t>NEW CYCLE</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74D9D5"/>
                    </a:solidFill>
                  </a:tcPr>
                </a:tc>
                <a:extLst>
                  <a:ext uri="{0D108BD9-81ED-4DB2-BD59-A6C34878D82A}">
                    <a16:rowId xmlns:a16="http://schemas.microsoft.com/office/drawing/2014/main" val="1571174423"/>
                  </a:ext>
                </a:extLst>
              </a:tr>
              <a:tr h="2538603">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r>
                        <a:rPr lang="en-US" sz="1600" dirty="0"/>
                        <a:t>As an example, if it is required to allocate 50% of costs from cost center A to cost center B, and then 100% of costs from cost center B to cost center C (including the cost allocated from cost center A). Where there are high dependencies, it is better to use an additional segment in the same cycle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tc>
                  <a:txBody>
                    <a:bodyPr/>
                    <a:lstStyle>
                      <a:lvl1pPr marL="0" algn="l" defTabSz="914126" rtl="0" eaLnBrk="1" latinLnBrk="0" hangingPunct="1">
                        <a:defRPr sz="1799" kern="1200">
                          <a:solidFill>
                            <a:schemeClr val="dk1"/>
                          </a:solidFill>
                          <a:latin typeface="Arial" panose="020B0604020202020204"/>
                        </a:defRPr>
                      </a:lvl1pPr>
                      <a:lvl2pPr marL="457063" algn="l" defTabSz="914126" rtl="0" eaLnBrk="1" latinLnBrk="0" hangingPunct="1">
                        <a:defRPr sz="1799" kern="1200">
                          <a:solidFill>
                            <a:schemeClr val="dk1"/>
                          </a:solidFill>
                          <a:latin typeface="Arial" panose="020B0604020202020204"/>
                        </a:defRPr>
                      </a:lvl2pPr>
                      <a:lvl3pPr marL="914126" algn="l" defTabSz="914126" rtl="0" eaLnBrk="1" latinLnBrk="0" hangingPunct="1">
                        <a:defRPr sz="1799" kern="1200">
                          <a:solidFill>
                            <a:schemeClr val="dk1"/>
                          </a:solidFill>
                          <a:latin typeface="Arial" panose="020B0604020202020204"/>
                        </a:defRPr>
                      </a:lvl3pPr>
                      <a:lvl4pPr marL="1371189" algn="l" defTabSz="914126" rtl="0" eaLnBrk="1" latinLnBrk="0" hangingPunct="1">
                        <a:defRPr sz="1799" kern="1200">
                          <a:solidFill>
                            <a:schemeClr val="dk1"/>
                          </a:solidFill>
                          <a:latin typeface="Arial" panose="020B0604020202020204"/>
                        </a:defRPr>
                      </a:lvl4pPr>
                      <a:lvl5pPr marL="1828251" algn="l" defTabSz="914126" rtl="0" eaLnBrk="1" latinLnBrk="0" hangingPunct="1">
                        <a:defRPr sz="1799" kern="1200">
                          <a:solidFill>
                            <a:schemeClr val="dk1"/>
                          </a:solidFill>
                          <a:latin typeface="Arial" panose="020B0604020202020204"/>
                        </a:defRPr>
                      </a:lvl5pPr>
                      <a:lvl6pPr marL="2285314" algn="l" defTabSz="914126" rtl="0" eaLnBrk="1" latinLnBrk="0" hangingPunct="1">
                        <a:defRPr sz="1799" kern="1200">
                          <a:solidFill>
                            <a:schemeClr val="dk1"/>
                          </a:solidFill>
                          <a:latin typeface="Arial" panose="020B0604020202020204"/>
                        </a:defRPr>
                      </a:lvl6pPr>
                      <a:lvl7pPr marL="2742377" algn="l" defTabSz="914126" rtl="0" eaLnBrk="1" latinLnBrk="0" hangingPunct="1">
                        <a:defRPr sz="1799" kern="1200">
                          <a:solidFill>
                            <a:schemeClr val="dk1"/>
                          </a:solidFill>
                          <a:latin typeface="Arial" panose="020B0604020202020204"/>
                        </a:defRPr>
                      </a:lvl7pPr>
                      <a:lvl8pPr marL="3199440" algn="l" defTabSz="914126" rtl="0" eaLnBrk="1" latinLnBrk="0" hangingPunct="1">
                        <a:defRPr sz="1799" kern="1200">
                          <a:solidFill>
                            <a:schemeClr val="dk1"/>
                          </a:solidFill>
                          <a:latin typeface="Arial" panose="020B0604020202020204"/>
                        </a:defRPr>
                      </a:lvl8pPr>
                      <a:lvl9pPr marL="3656503" algn="l" defTabSz="914126" rtl="0" eaLnBrk="1" latinLnBrk="0" hangingPunct="1">
                        <a:defRPr sz="1799" kern="1200">
                          <a:solidFill>
                            <a:schemeClr val="dk1"/>
                          </a:solidFill>
                          <a:latin typeface="Arial" panose="020B0604020202020204"/>
                        </a:defRPr>
                      </a:lvl9pPr>
                    </a:lstStyle>
                    <a:p>
                      <a:pPr marL="342900" indent="-342900">
                        <a:buFont typeface="+mj-lt"/>
                        <a:buAutoNum type="arabicPeriod"/>
                      </a:pPr>
                      <a:r>
                        <a:rPr lang="en-US" sz="1600" dirty="0"/>
                        <a:t>If there is a mix of distribution (costs allocated on same underlying account) and assessment (costs allocated on secondary cost elements) as this can’t be combined in one cycle</a:t>
                      </a:r>
                    </a:p>
                    <a:p>
                      <a:pPr marL="342900" indent="-342900">
                        <a:buFont typeface="+mj-lt"/>
                        <a:buAutoNum type="arabicPeriod"/>
                      </a:pPr>
                      <a:r>
                        <a:rPr lang="en-US" sz="1600" dirty="0"/>
                        <a:t>If requirement needs more than the SAP recommended 50 segments (although technical limitation is 998 segments)</a:t>
                      </a:r>
                    </a:p>
                    <a:p>
                      <a:pPr marL="342900" indent="-342900">
                        <a:buFont typeface="+mj-lt"/>
                        <a:buAutoNum type="arabicPeriod"/>
                      </a:pPr>
                      <a:r>
                        <a:rPr lang="en-US" sz="1600" dirty="0"/>
                        <a:t>If there is the requirement to use different treatment of iteration / cumulation or ledger impact since this is applied to the whole cycle and not per segment</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74D9D5">
                        <a:tint val="40000"/>
                      </a:srgbClr>
                    </a:solidFill>
                  </a:tcPr>
                </a:tc>
                <a:extLst>
                  <a:ext uri="{0D108BD9-81ED-4DB2-BD59-A6C34878D82A}">
                    <a16:rowId xmlns:a16="http://schemas.microsoft.com/office/drawing/2014/main" val="2878511206"/>
                  </a:ext>
                </a:extLst>
              </a:tr>
            </a:tbl>
          </a:graphicData>
        </a:graphic>
      </p:graphicFrame>
      <p:sp>
        <p:nvSpPr>
          <p:cNvPr id="9" name="Rectangle: Rounded Corners 8">
            <a:extLst>
              <a:ext uri="{FF2B5EF4-FFF2-40B4-BE49-F238E27FC236}">
                <a16:creationId xmlns:a16="http://schemas.microsoft.com/office/drawing/2014/main" id="{071E0C65-AC0B-431C-9B74-973E36123FB7}"/>
              </a:ext>
            </a:extLst>
          </p:cNvPr>
          <p:cNvSpPr/>
          <p:nvPr/>
        </p:nvSpPr>
        <p:spPr>
          <a:xfrm>
            <a:off x="474234" y="5775111"/>
            <a:ext cx="10976805" cy="704624"/>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lvl="1" indent="-285750" defTabSz="711200" fontAlgn="base">
              <a:lnSpc>
                <a:spcPct val="90000"/>
              </a:lnSpc>
              <a:spcBef>
                <a:spcPct val="0"/>
              </a:spcBef>
              <a:spcAft>
                <a:spcPct val="15000"/>
              </a:spcAft>
              <a:buFont typeface="Wingdings" panose="05000000000000000000" pitchFamily="2" charset="2"/>
              <a:buChar char="v"/>
              <a:defRPr/>
            </a:pPr>
            <a:r>
              <a:rPr lang="en-US" sz="1400" dirty="0"/>
              <a:t>From an overall cycle management perspective, it is recommended to use separate cycles if different types of costs are being allocated. Remember that over time it is also possible that some of the allocations may cease and although you can lock a segment within a cycle, the segment is still visible which can sometimes lead to some confusion on why some costs haven’t been allocated. </a:t>
            </a:r>
            <a:endParaRPr kumimoji="0" lang="en-US" sz="12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6224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87056-E569-4720-8D9C-B40F7DB43C56}"/>
              </a:ext>
            </a:extLst>
          </p:cNvPr>
          <p:cNvSpPr>
            <a:spLocks noGrp="1"/>
          </p:cNvSpPr>
          <p:nvPr>
            <p:ph type="title"/>
          </p:nvPr>
        </p:nvSpPr>
        <p:spPr/>
        <p:txBody>
          <a:bodyPr/>
          <a:lstStyle/>
          <a:p>
            <a:r>
              <a:rPr lang="en-GB" dirty="0"/>
              <a:t>Cost </a:t>
            </a:r>
            <a:r>
              <a:rPr lang="en-GB" dirty="0" err="1"/>
              <a:t>Center</a:t>
            </a:r>
            <a:r>
              <a:rPr lang="en-GB" dirty="0"/>
              <a:t> Allocation cycles – Changes</a:t>
            </a:r>
            <a:endParaRPr lang="en-US" dirty="0"/>
          </a:p>
        </p:txBody>
      </p:sp>
      <p:sp>
        <p:nvSpPr>
          <p:cNvPr id="4" name="Footer Placeholder 3">
            <a:extLst>
              <a:ext uri="{FF2B5EF4-FFF2-40B4-BE49-F238E27FC236}">
                <a16:creationId xmlns:a16="http://schemas.microsoft.com/office/drawing/2014/main" id="{BC872CB3-8E2A-4225-B71C-2F9341357D06}"/>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8036450A-ADD5-4003-BA85-B1FAEB0B25D1}"/>
              </a:ext>
            </a:extLst>
          </p:cNvPr>
          <p:cNvSpPr>
            <a:spLocks noGrp="1"/>
          </p:cNvSpPr>
          <p:nvPr>
            <p:ph type="sldNum" sz="quarter" idx="12"/>
          </p:nvPr>
        </p:nvSpPr>
        <p:spPr/>
        <p:txBody>
          <a:bodyPr/>
          <a:lstStyle/>
          <a:p>
            <a:fld id="{F4C94289-3309-4C35-850A-56FD49B3E346}" type="slidenum">
              <a:rPr lang="en-GB" smtClean="0"/>
              <a:t>15</a:t>
            </a:fld>
            <a:endParaRPr lang="en-GB"/>
          </a:p>
        </p:txBody>
      </p:sp>
      <p:sp>
        <p:nvSpPr>
          <p:cNvPr id="10" name="Rectangle: Rounded Corners 9">
            <a:extLst>
              <a:ext uri="{FF2B5EF4-FFF2-40B4-BE49-F238E27FC236}">
                <a16:creationId xmlns:a16="http://schemas.microsoft.com/office/drawing/2014/main" id="{6DA06E2D-88B4-43CB-9373-4D40AFDEA743}"/>
              </a:ext>
            </a:extLst>
          </p:cNvPr>
          <p:cNvSpPr/>
          <p:nvPr/>
        </p:nvSpPr>
        <p:spPr>
          <a:xfrm>
            <a:off x="748547" y="1497158"/>
            <a:ext cx="1523598" cy="15308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err="1">
                <a:ln>
                  <a:noFill/>
                </a:ln>
                <a:solidFill>
                  <a:srgbClr val="00B2A9">
                    <a:lumMod val="50000"/>
                  </a:srgbClr>
                </a:solidFill>
                <a:effectLst/>
                <a:uLnTx/>
                <a:uFillTx/>
                <a:latin typeface="Arial" panose="020B0604020202020204"/>
                <a:ea typeface="+mn-ea"/>
                <a:cs typeface="+mn-cs"/>
              </a:rPr>
              <a:t>MyRequest</a:t>
            </a:r>
            <a:r>
              <a:rPr kumimoji="0" lang="en-GB" sz="9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 Template</a:t>
            </a:r>
          </a:p>
        </p:txBody>
      </p:sp>
      <p:pic>
        <p:nvPicPr>
          <p:cNvPr id="11" name="Picture 2">
            <a:extLst>
              <a:ext uri="{FF2B5EF4-FFF2-40B4-BE49-F238E27FC236}">
                <a16:creationId xmlns:a16="http://schemas.microsoft.com/office/drawing/2014/main" id="{5A403A09-EA99-4FEA-9CCB-CE7A24E587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547" y="1868970"/>
            <a:ext cx="5733153" cy="129331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DE16F209-3561-4BC8-8060-F66EACF870FA}"/>
              </a:ext>
            </a:extLst>
          </p:cNvPr>
          <p:cNvSpPr/>
          <p:nvPr/>
        </p:nvSpPr>
        <p:spPr>
          <a:xfrm>
            <a:off x="6644445" y="1868971"/>
            <a:ext cx="5061901" cy="1322630"/>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err="1">
                <a:ln>
                  <a:noFill/>
                </a:ln>
                <a:solidFill>
                  <a:srgbClr val="000000"/>
                </a:solidFill>
                <a:effectLst/>
                <a:uLnTx/>
                <a:uFillTx/>
                <a:latin typeface="Arial" panose="020B0604020202020204"/>
                <a:ea typeface="+mn-ea"/>
                <a:cs typeface="+mn-cs"/>
              </a:rPr>
              <a:t>MyRequest</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 template ‘Cost center allocation cycles’ is also used to make changes</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to already created cycles. </a:t>
            </a:r>
          </a:p>
          <a:p>
            <a:pPr marL="285750" lvl="1"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rPr>
              <a:t>To make changes one request per cycle being changed should be submitted and must list all the changes to the relevant segment(s). </a:t>
            </a:r>
          </a:p>
          <a:p>
            <a:pPr marL="285750" lvl="1"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Cycle</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and Segment names will need to be provided</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3830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7BA57-D91F-43E5-8035-A3ECCC60560E}"/>
              </a:ext>
            </a:extLst>
          </p:cNvPr>
          <p:cNvSpPr>
            <a:spLocks noGrp="1"/>
          </p:cNvSpPr>
          <p:nvPr>
            <p:ph type="title"/>
          </p:nvPr>
        </p:nvSpPr>
        <p:spPr/>
        <p:txBody>
          <a:bodyPr/>
          <a:lstStyle/>
          <a:p>
            <a:r>
              <a:rPr lang="en-GB" dirty="0"/>
              <a:t>Creating Cost </a:t>
            </a:r>
            <a:r>
              <a:rPr lang="en-GB" dirty="0" err="1"/>
              <a:t>Center</a:t>
            </a:r>
            <a:r>
              <a:rPr lang="en-GB" dirty="0"/>
              <a:t> Allocations – BSC (and GSC) - Further steps</a:t>
            </a:r>
            <a:endParaRPr lang="en-US" dirty="0"/>
          </a:p>
        </p:txBody>
      </p:sp>
      <p:sp>
        <p:nvSpPr>
          <p:cNvPr id="4" name="Footer Placeholder 3">
            <a:extLst>
              <a:ext uri="{FF2B5EF4-FFF2-40B4-BE49-F238E27FC236}">
                <a16:creationId xmlns:a16="http://schemas.microsoft.com/office/drawing/2014/main" id="{EAEB674C-B7AA-41DA-BFF0-F2DEE72A420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D0DFCBC9-8758-4B43-9142-9B12883105A8}"/>
              </a:ext>
            </a:extLst>
          </p:cNvPr>
          <p:cNvSpPr>
            <a:spLocks noGrp="1"/>
          </p:cNvSpPr>
          <p:nvPr>
            <p:ph type="sldNum" sz="quarter" idx="12"/>
          </p:nvPr>
        </p:nvSpPr>
        <p:spPr/>
        <p:txBody>
          <a:bodyPr/>
          <a:lstStyle/>
          <a:p>
            <a:fld id="{F4C94289-3309-4C35-850A-56FD49B3E346}" type="slidenum">
              <a:rPr lang="en-GB" smtClean="0"/>
              <a:t>16</a:t>
            </a:fld>
            <a:endParaRPr lang="en-GB"/>
          </a:p>
        </p:txBody>
      </p:sp>
      <p:sp>
        <p:nvSpPr>
          <p:cNvPr id="7" name="Rectangle: Rounded Corners 6">
            <a:extLst>
              <a:ext uri="{FF2B5EF4-FFF2-40B4-BE49-F238E27FC236}">
                <a16:creationId xmlns:a16="http://schemas.microsoft.com/office/drawing/2014/main" id="{5EDB42BE-F87D-4EB5-9A84-F381E2553421}"/>
              </a:ext>
            </a:extLst>
          </p:cNvPr>
          <p:cNvSpPr/>
          <p:nvPr/>
        </p:nvSpPr>
        <p:spPr>
          <a:xfrm>
            <a:off x="515939" y="1657235"/>
            <a:ext cx="3718604" cy="4525851"/>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err="1">
                <a:ln>
                  <a:noFill/>
                </a:ln>
                <a:solidFill>
                  <a:srgbClr val="000000"/>
                </a:solidFill>
                <a:effectLst/>
                <a:uLnTx/>
                <a:uFillTx/>
                <a:latin typeface="Arial" panose="020B0604020202020204"/>
                <a:ea typeface="+mn-ea"/>
                <a:cs typeface="+mn-cs"/>
              </a:rPr>
              <a:t>MyRequest</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 template ‘Cost center allocation cycles’ does not include all fields</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that are required for </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Cost Center Allocation Cycle creation. There are 2 further</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aspects of information that need to be assigned to cost center allocation cycles.</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lang="en-US" sz="1400" kern="0" dirty="0">
                <a:solidFill>
                  <a:srgbClr val="000000"/>
                </a:solidFill>
                <a:latin typeface="Arial" panose="020B0604020202020204"/>
              </a:rPr>
              <a:t>These further steps will be completed and performed by BSC (or GSC if maintaining own cycles) after receipt of a </a:t>
            </a:r>
            <a:r>
              <a:rPr lang="en-US" sz="1400" kern="0" dirty="0" err="1">
                <a:solidFill>
                  <a:srgbClr val="000000"/>
                </a:solidFill>
                <a:latin typeface="Arial" panose="020B0604020202020204"/>
              </a:rPr>
              <a:t>MyRequest</a:t>
            </a:r>
            <a:r>
              <a:rPr lang="en-US" sz="1400" kern="0" dirty="0">
                <a:solidFill>
                  <a:srgbClr val="000000"/>
                </a:solidFill>
                <a:latin typeface="Arial" panose="020B0604020202020204"/>
              </a:rPr>
              <a:t> template for creation and upon creating the cycle in KSU1/KSV1</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lang="en-US" sz="1400" kern="0" dirty="0">
                <a:solidFill>
                  <a:srgbClr val="000000"/>
                </a:solidFill>
                <a:latin typeface="Arial" panose="020B0604020202020204"/>
              </a:rPr>
              <a:t>These further steps are ensuring the following information is also correct and completed:</a:t>
            </a:r>
          </a:p>
          <a:p>
            <a:pPr marL="742950" lvl="2"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latin typeface="Arial" panose="020B0604020202020204"/>
              </a:rPr>
              <a:t>Derive Functional Area is checked</a:t>
            </a:r>
          </a:p>
          <a:p>
            <a:pPr marL="742950" lvl="2"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Select</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Currencies Field Groups have the required selection criteria</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B1FC7F80-0C25-49BA-9381-919BBE493B5A}"/>
              </a:ext>
            </a:extLst>
          </p:cNvPr>
          <p:cNvPicPr>
            <a:picLocks noChangeAspect="1"/>
          </p:cNvPicPr>
          <p:nvPr/>
        </p:nvPicPr>
        <p:blipFill>
          <a:blip r:embed="rId2"/>
          <a:stretch>
            <a:fillRect/>
          </a:stretch>
        </p:blipFill>
        <p:spPr>
          <a:xfrm>
            <a:off x="4234543" y="1870505"/>
            <a:ext cx="7187132" cy="3793509"/>
          </a:xfrm>
          <a:prstGeom prst="rect">
            <a:avLst/>
          </a:prstGeom>
        </p:spPr>
      </p:pic>
    </p:spTree>
    <p:extLst>
      <p:ext uri="{BB962C8B-B14F-4D97-AF65-F5344CB8AC3E}">
        <p14:creationId xmlns:p14="http://schemas.microsoft.com/office/powerpoint/2010/main" val="3904067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009E262-052C-4557-95DC-E3E9BF4919BE}"/>
              </a:ext>
            </a:extLst>
          </p:cNvPr>
          <p:cNvPicPr>
            <a:picLocks noChangeAspect="1"/>
          </p:cNvPicPr>
          <p:nvPr/>
        </p:nvPicPr>
        <p:blipFill>
          <a:blip r:embed="rId2"/>
          <a:stretch>
            <a:fillRect/>
          </a:stretch>
        </p:blipFill>
        <p:spPr>
          <a:xfrm>
            <a:off x="6716486" y="5072909"/>
            <a:ext cx="5293177" cy="1154859"/>
          </a:xfrm>
          <a:prstGeom prst="rect">
            <a:avLst/>
          </a:prstGeom>
        </p:spPr>
      </p:pic>
      <p:sp>
        <p:nvSpPr>
          <p:cNvPr id="2" name="Title 1">
            <a:extLst>
              <a:ext uri="{FF2B5EF4-FFF2-40B4-BE49-F238E27FC236}">
                <a16:creationId xmlns:a16="http://schemas.microsoft.com/office/drawing/2014/main" id="{5D87BA57-D91F-43E5-8035-A3ECCC60560E}"/>
              </a:ext>
            </a:extLst>
          </p:cNvPr>
          <p:cNvSpPr>
            <a:spLocks noGrp="1"/>
          </p:cNvSpPr>
          <p:nvPr>
            <p:ph type="title"/>
          </p:nvPr>
        </p:nvSpPr>
        <p:spPr/>
        <p:txBody>
          <a:bodyPr/>
          <a:lstStyle/>
          <a:p>
            <a:r>
              <a:rPr lang="en-GB" dirty="0"/>
              <a:t>Creating Cost </a:t>
            </a:r>
            <a:r>
              <a:rPr lang="en-GB" dirty="0" err="1"/>
              <a:t>Center</a:t>
            </a:r>
            <a:r>
              <a:rPr lang="en-GB" dirty="0"/>
              <a:t> Allocations – BSC (and GSC) - Derive Functional Area check box</a:t>
            </a:r>
            <a:endParaRPr lang="en-US" dirty="0"/>
          </a:p>
        </p:txBody>
      </p:sp>
      <p:sp>
        <p:nvSpPr>
          <p:cNvPr id="4" name="Footer Placeholder 3">
            <a:extLst>
              <a:ext uri="{FF2B5EF4-FFF2-40B4-BE49-F238E27FC236}">
                <a16:creationId xmlns:a16="http://schemas.microsoft.com/office/drawing/2014/main" id="{EAEB674C-B7AA-41DA-BFF0-F2DEE72A420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D0DFCBC9-8758-4B43-9142-9B12883105A8}"/>
              </a:ext>
            </a:extLst>
          </p:cNvPr>
          <p:cNvSpPr>
            <a:spLocks noGrp="1"/>
          </p:cNvSpPr>
          <p:nvPr>
            <p:ph type="sldNum" sz="quarter" idx="12"/>
          </p:nvPr>
        </p:nvSpPr>
        <p:spPr/>
        <p:txBody>
          <a:bodyPr/>
          <a:lstStyle/>
          <a:p>
            <a:fld id="{F4C94289-3309-4C35-850A-56FD49B3E346}" type="slidenum">
              <a:rPr lang="en-GB" smtClean="0"/>
              <a:t>17</a:t>
            </a:fld>
            <a:endParaRPr lang="en-GB"/>
          </a:p>
        </p:txBody>
      </p:sp>
      <p:sp>
        <p:nvSpPr>
          <p:cNvPr id="7" name="Rectangle: Rounded Corners 6">
            <a:extLst>
              <a:ext uri="{FF2B5EF4-FFF2-40B4-BE49-F238E27FC236}">
                <a16:creationId xmlns:a16="http://schemas.microsoft.com/office/drawing/2014/main" id="{5EDB42BE-F87D-4EB5-9A84-F381E2553421}"/>
              </a:ext>
            </a:extLst>
          </p:cNvPr>
          <p:cNvSpPr/>
          <p:nvPr/>
        </p:nvSpPr>
        <p:spPr>
          <a:xfrm>
            <a:off x="392221" y="1386957"/>
            <a:ext cx="6218129" cy="5111814"/>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BSC colleagues </a:t>
            </a:r>
            <a:r>
              <a:rPr lang="en-US" sz="1400" kern="0" dirty="0">
                <a:solidFill>
                  <a:srgbClr val="000000"/>
                </a:solidFill>
                <a:latin typeface="Arial" panose="020B0604020202020204"/>
              </a:rPr>
              <a:t>(or GSC, when maintaining their own cycles) </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must</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ensure that the “</a:t>
            </a:r>
            <a:r>
              <a:rPr kumimoji="0" lang="en-US" sz="1400" b="1" i="0" u="none" strike="noStrike" kern="0" cap="none" spc="0" normalizeH="0" noProof="0" dirty="0">
                <a:ln>
                  <a:noFill/>
                </a:ln>
                <a:solidFill>
                  <a:srgbClr val="000000"/>
                </a:solidFill>
                <a:effectLst/>
                <a:uLnTx/>
                <a:uFillTx/>
                <a:latin typeface="Arial" panose="020B0604020202020204"/>
                <a:ea typeface="+mn-ea"/>
                <a:cs typeface="+mn-cs"/>
              </a:rPr>
              <a:t>Derive </a:t>
            </a:r>
            <a:r>
              <a:rPr kumimoji="0" lang="en-US" sz="1400" b="1" i="0" u="none" strike="noStrike" kern="0" cap="none" spc="0" normalizeH="0" noProof="0" dirty="0" err="1">
                <a:ln>
                  <a:noFill/>
                </a:ln>
                <a:solidFill>
                  <a:srgbClr val="000000"/>
                </a:solidFill>
                <a:effectLst/>
                <a:uLnTx/>
                <a:uFillTx/>
                <a:latin typeface="Arial" panose="020B0604020202020204"/>
                <a:ea typeface="+mn-ea"/>
                <a:cs typeface="+mn-cs"/>
              </a:rPr>
              <a:t>Func</a:t>
            </a:r>
            <a:r>
              <a:rPr kumimoji="0" lang="en-US" sz="1400" b="1" i="0" u="none" strike="noStrike" kern="0" cap="none" spc="0" normalizeH="0" noProof="0" dirty="0">
                <a:ln>
                  <a:noFill/>
                </a:ln>
                <a:solidFill>
                  <a:srgbClr val="000000"/>
                </a:solidFill>
                <a:effectLst/>
                <a:uLnTx/>
                <a:uFillTx/>
                <a:latin typeface="Arial" panose="020B0604020202020204"/>
                <a:ea typeface="+mn-ea"/>
                <a:cs typeface="+mn-cs"/>
              </a:rPr>
              <a:t>. Area</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check box has been checked, if this has not already defaulted as being checked then this must be completed manually. (If BSC use a cycle which has this checked to copy from, then the new cycle will also have this checked. If they are creating a new cycle from fresh they will have to manually check this box)</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lang="en-US" sz="1400" kern="0" baseline="0" dirty="0">
                <a:solidFill>
                  <a:srgbClr val="000000"/>
                </a:solidFill>
                <a:latin typeface="Arial" panose="020B0604020202020204"/>
              </a:rPr>
              <a:t>This</a:t>
            </a:r>
            <a:r>
              <a:rPr lang="en-US" sz="1400" kern="0" dirty="0">
                <a:solidFill>
                  <a:srgbClr val="000000"/>
                </a:solidFill>
                <a:latin typeface="Arial" panose="020B0604020202020204"/>
              </a:rPr>
              <a:t> allows for the </a:t>
            </a:r>
            <a:r>
              <a:rPr lang="en-US" sz="1400" b="1" kern="0" dirty="0">
                <a:solidFill>
                  <a:srgbClr val="000000"/>
                </a:solidFill>
                <a:latin typeface="Arial" panose="020B0604020202020204"/>
              </a:rPr>
              <a:t>Functional Area </a:t>
            </a:r>
            <a:r>
              <a:rPr lang="en-US" sz="1400" kern="0" dirty="0">
                <a:solidFill>
                  <a:srgbClr val="000000"/>
                </a:solidFill>
                <a:latin typeface="Arial" panose="020B0604020202020204"/>
              </a:rPr>
              <a:t>for the </a:t>
            </a:r>
            <a:r>
              <a:rPr lang="en-US" sz="1400" b="1" kern="0" dirty="0">
                <a:solidFill>
                  <a:srgbClr val="000000"/>
                </a:solidFill>
                <a:latin typeface="Arial" panose="020B0604020202020204"/>
              </a:rPr>
              <a:t>Receivers</a:t>
            </a:r>
            <a:r>
              <a:rPr lang="en-US" sz="1400" kern="0" dirty="0">
                <a:solidFill>
                  <a:srgbClr val="000000"/>
                </a:solidFill>
                <a:latin typeface="Arial" panose="020B0604020202020204"/>
              </a:rPr>
              <a:t> to be automatically derived, in the resulting postings</a:t>
            </a:r>
            <a:r>
              <a:rPr lang="en-US" sz="1400" b="1" kern="0" dirty="0">
                <a:solidFill>
                  <a:srgbClr val="000000"/>
                </a:solidFill>
                <a:latin typeface="Arial" panose="020B0604020202020204"/>
              </a:rPr>
              <a:t>, from the Receiver cost objects</a:t>
            </a:r>
            <a:r>
              <a:rPr lang="en-US" sz="1400" kern="0" dirty="0">
                <a:solidFill>
                  <a:srgbClr val="000000"/>
                </a:solidFill>
                <a:latin typeface="Arial" panose="020B0604020202020204"/>
              </a:rPr>
              <a:t>, for example, Cost Center (as shown here).</a:t>
            </a:r>
          </a:p>
          <a:p>
            <a:pPr marL="285750" lvl="1"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rPr>
              <a:t>If this is not ticked the system will derive the functional area from the sending cost object (e.g. cost center) for the posting against the receiver, even if the receiving cost object has a different functional area. For management reporting purposes, this could mean that the costs will be displayed in the wrong line in the market P&amp;L, since the combination of JTIG and functional area drives where income and expenses appear in the market P&amp;L. </a:t>
            </a:r>
          </a:p>
          <a:p>
            <a:pPr marL="285750" lvl="1"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In the example shown here the sender cost center has FA 5000 but we can see</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the posting shows the correct derivation of FA from the </a:t>
            </a:r>
            <a:r>
              <a:rPr lang="en-US" sz="1400" b="1" kern="0" dirty="0">
                <a:solidFill>
                  <a:srgbClr val="000000"/>
                </a:solidFill>
                <a:latin typeface="Arial" panose="020B0604020202020204"/>
              </a:rPr>
              <a:t>R</a:t>
            </a:r>
            <a:r>
              <a:rPr kumimoji="0" lang="en-US" sz="1400" b="1" i="0" u="none" strike="noStrike" kern="0" cap="none" spc="0" normalizeH="0" noProof="0" dirty="0" err="1">
                <a:ln>
                  <a:noFill/>
                </a:ln>
                <a:solidFill>
                  <a:srgbClr val="000000"/>
                </a:solidFill>
                <a:effectLst/>
                <a:uLnTx/>
                <a:uFillTx/>
                <a:latin typeface="Arial" panose="020B0604020202020204"/>
                <a:ea typeface="+mn-ea"/>
                <a:cs typeface="+mn-cs"/>
              </a:rPr>
              <a:t>eceivers</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CC of 4000. If the cycle was not maintained correctly and Derive </a:t>
            </a:r>
            <a:r>
              <a:rPr kumimoji="0" lang="en-US" sz="1400" b="0" i="0" u="none" strike="noStrike" kern="0" cap="none" spc="0" normalizeH="0" noProof="0" dirty="0" err="1">
                <a:ln>
                  <a:noFill/>
                </a:ln>
                <a:solidFill>
                  <a:srgbClr val="000000"/>
                </a:solidFill>
                <a:effectLst/>
                <a:uLnTx/>
                <a:uFillTx/>
                <a:latin typeface="Arial" panose="020B0604020202020204"/>
                <a:ea typeface="+mn-ea"/>
                <a:cs typeface="+mn-cs"/>
              </a:rPr>
              <a:t>Func</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Area was not checked, the system would use FA 5000 for postings as it would take the FA from the </a:t>
            </a:r>
            <a:r>
              <a:rPr kumimoji="0" lang="en-US" sz="1400" b="1" i="0" u="none" strike="noStrike" kern="0" cap="none" spc="0" normalizeH="0" noProof="0" dirty="0">
                <a:ln>
                  <a:noFill/>
                </a:ln>
                <a:solidFill>
                  <a:srgbClr val="000000"/>
                </a:solidFill>
                <a:effectLst/>
                <a:uLnTx/>
                <a:uFillTx/>
                <a:latin typeface="Arial" panose="020B0604020202020204"/>
                <a:ea typeface="+mn-ea"/>
                <a:cs typeface="+mn-cs"/>
              </a:rPr>
              <a:t>Sender </a:t>
            </a:r>
            <a:r>
              <a:rPr kumimoji="0" lang="en-US" sz="1400" i="0" u="none" strike="noStrike" kern="0" cap="none" spc="0" normalizeH="0" noProof="0" dirty="0">
                <a:ln>
                  <a:noFill/>
                </a:ln>
                <a:solidFill>
                  <a:srgbClr val="000000"/>
                </a:solidFill>
                <a:effectLst/>
                <a:uLnTx/>
                <a:uFillTx/>
                <a:latin typeface="Arial" panose="020B0604020202020204"/>
                <a:ea typeface="+mn-ea"/>
                <a:cs typeface="+mn-cs"/>
              </a:rPr>
              <a:t>cost center, which of course would not be correct in this example</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4FE855D6-C95C-4828-BA99-06B8F122074D}"/>
              </a:ext>
            </a:extLst>
          </p:cNvPr>
          <p:cNvPicPr>
            <a:picLocks noChangeAspect="1"/>
          </p:cNvPicPr>
          <p:nvPr/>
        </p:nvPicPr>
        <p:blipFill>
          <a:blip r:embed="rId3"/>
          <a:stretch>
            <a:fillRect/>
          </a:stretch>
        </p:blipFill>
        <p:spPr>
          <a:xfrm>
            <a:off x="6866284" y="2647471"/>
            <a:ext cx="4340439" cy="2299438"/>
          </a:xfrm>
          <a:prstGeom prst="rect">
            <a:avLst/>
          </a:prstGeom>
        </p:spPr>
      </p:pic>
      <p:pic>
        <p:nvPicPr>
          <p:cNvPr id="6" name="Picture 5">
            <a:extLst>
              <a:ext uri="{FF2B5EF4-FFF2-40B4-BE49-F238E27FC236}">
                <a16:creationId xmlns:a16="http://schemas.microsoft.com/office/drawing/2014/main" id="{C99D66C8-E565-4B46-BB92-F27016CB58A2}"/>
              </a:ext>
            </a:extLst>
          </p:cNvPr>
          <p:cNvPicPr>
            <a:picLocks noChangeAspect="1"/>
          </p:cNvPicPr>
          <p:nvPr/>
        </p:nvPicPr>
        <p:blipFill>
          <a:blip r:embed="rId4"/>
          <a:stretch>
            <a:fillRect/>
          </a:stretch>
        </p:blipFill>
        <p:spPr>
          <a:xfrm>
            <a:off x="6866284" y="1443398"/>
            <a:ext cx="3159339" cy="955265"/>
          </a:xfrm>
          <a:prstGeom prst="rect">
            <a:avLst/>
          </a:prstGeom>
        </p:spPr>
      </p:pic>
    </p:spTree>
    <p:extLst>
      <p:ext uri="{BB962C8B-B14F-4D97-AF65-F5344CB8AC3E}">
        <p14:creationId xmlns:p14="http://schemas.microsoft.com/office/powerpoint/2010/main" val="3993804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7BA57-D91F-43E5-8035-A3ECCC60560E}"/>
              </a:ext>
            </a:extLst>
          </p:cNvPr>
          <p:cNvSpPr>
            <a:spLocks noGrp="1"/>
          </p:cNvSpPr>
          <p:nvPr>
            <p:ph type="title"/>
          </p:nvPr>
        </p:nvSpPr>
        <p:spPr/>
        <p:txBody>
          <a:bodyPr/>
          <a:lstStyle/>
          <a:p>
            <a:r>
              <a:rPr lang="en-GB" dirty="0"/>
              <a:t>Creating Cost </a:t>
            </a:r>
            <a:r>
              <a:rPr lang="en-GB" dirty="0" err="1"/>
              <a:t>Center</a:t>
            </a:r>
            <a:r>
              <a:rPr lang="en-GB" dirty="0"/>
              <a:t> Allocations – BSC (and GSC) - Currencies</a:t>
            </a:r>
            <a:endParaRPr lang="en-US" dirty="0"/>
          </a:p>
        </p:txBody>
      </p:sp>
      <p:sp>
        <p:nvSpPr>
          <p:cNvPr id="4" name="Footer Placeholder 3">
            <a:extLst>
              <a:ext uri="{FF2B5EF4-FFF2-40B4-BE49-F238E27FC236}">
                <a16:creationId xmlns:a16="http://schemas.microsoft.com/office/drawing/2014/main" id="{EAEB674C-B7AA-41DA-BFF0-F2DEE72A420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D0DFCBC9-8758-4B43-9142-9B12883105A8}"/>
              </a:ext>
            </a:extLst>
          </p:cNvPr>
          <p:cNvSpPr>
            <a:spLocks noGrp="1"/>
          </p:cNvSpPr>
          <p:nvPr>
            <p:ph type="sldNum" sz="quarter" idx="12"/>
          </p:nvPr>
        </p:nvSpPr>
        <p:spPr/>
        <p:txBody>
          <a:bodyPr/>
          <a:lstStyle/>
          <a:p>
            <a:fld id="{F4C94289-3309-4C35-850A-56FD49B3E346}" type="slidenum">
              <a:rPr lang="en-GB" smtClean="0"/>
              <a:t>18</a:t>
            </a:fld>
            <a:endParaRPr lang="en-GB"/>
          </a:p>
        </p:txBody>
      </p:sp>
      <p:sp>
        <p:nvSpPr>
          <p:cNvPr id="7" name="Rectangle: Rounded Corners 6">
            <a:extLst>
              <a:ext uri="{FF2B5EF4-FFF2-40B4-BE49-F238E27FC236}">
                <a16:creationId xmlns:a16="http://schemas.microsoft.com/office/drawing/2014/main" id="{5EDB42BE-F87D-4EB5-9A84-F381E2553421}"/>
              </a:ext>
            </a:extLst>
          </p:cNvPr>
          <p:cNvSpPr/>
          <p:nvPr/>
        </p:nvSpPr>
        <p:spPr>
          <a:xfrm>
            <a:off x="392222" y="1386957"/>
            <a:ext cx="4284553" cy="5122700"/>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BSC (or GSC, when maintaining their own cycles) colleagues must</a:t>
            </a:r>
            <a:r>
              <a:rPr kumimoji="0" lang="en-US" sz="1400" b="0" i="0" u="none" strike="noStrike" kern="0" cap="none" spc="0" normalizeH="0" noProof="0" dirty="0">
                <a:ln>
                  <a:noFill/>
                </a:ln>
                <a:solidFill>
                  <a:srgbClr val="000000"/>
                </a:solidFill>
                <a:effectLst/>
                <a:uLnTx/>
                <a:uFillTx/>
                <a:latin typeface="Arial" panose="020B0604020202020204"/>
                <a:ea typeface="+mn-ea"/>
                <a:cs typeface="+mn-cs"/>
              </a:rPr>
              <a:t> also ensure that the following currencies are selected within the currency field groups:</a:t>
            </a:r>
          </a:p>
          <a:p>
            <a:pPr marL="742950" lvl="2"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Currency 1</a:t>
            </a:r>
          </a:p>
          <a:p>
            <a:pPr marL="742950" lvl="2"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latin typeface="Arial" panose="020B0604020202020204"/>
              </a:rPr>
              <a:t>Third Currency</a:t>
            </a:r>
          </a:p>
          <a:p>
            <a:pPr marL="742950" lvl="2"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Object currency</a:t>
            </a:r>
          </a:p>
          <a:p>
            <a:pPr marL="742950" lvl="2"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latin typeface="Arial" panose="020B0604020202020204"/>
              </a:rPr>
              <a:t>Transactional currency</a:t>
            </a:r>
          </a:p>
          <a:p>
            <a:pPr marL="742950" lvl="2"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Second Currency</a:t>
            </a:r>
          </a:p>
          <a:p>
            <a:pPr marL="285750" lvl="1" indent="-285750" defTabSz="711200" fontAlgn="base">
              <a:lnSpc>
                <a:spcPct val="90000"/>
              </a:lnSpc>
              <a:spcBef>
                <a:spcPct val="0"/>
              </a:spcBef>
              <a:spcAft>
                <a:spcPct val="15000"/>
              </a:spcAft>
              <a:buFont typeface="Wingdings" panose="05000000000000000000" pitchFamily="2" charset="2"/>
              <a:buChar char="v"/>
              <a:defRPr/>
            </a:pPr>
            <a:r>
              <a:rPr lang="en-US" sz="1400" kern="0" dirty="0">
                <a:solidFill>
                  <a:srgbClr val="000000"/>
                </a:solidFill>
              </a:rPr>
              <a:t>If BSC (or GSC colleagues) use a cycle which has the correct currencies to copy from, the new cycle will pull across the same correct currencies. If they are creating a new cycle from fresh they will have to manually ensure that all the currencies are selected.</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742950" lvl="2" indent="-285750" defTabSz="711200" fontAlgn="base">
              <a:lnSpc>
                <a:spcPct val="90000"/>
              </a:lnSpc>
              <a:spcBef>
                <a:spcPct val="0"/>
              </a:spcBef>
              <a:spcAft>
                <a:spcPct val="15000"/>
              </a:spcAft>
              <a:buFont typeface="Wingdings" panose="05000000000000000000" pitchFamily="2" charset="2"/>
              <a:buChar char="v"/>
              <a:defRPr/>
            </a:pPr>
            <a:endParaRPr lang="en-US" sz="1400" kern="0" dirty="0">
              <a:solidFill>
                <a:srgbClr val="000000"/>
              </a:solidFill>
              <a:latin typeface="Arial" panose="020B0604020202020204"/>
            </a:endParaRPr>
          </a:p>
          <a:p>
            <a:pPr marL="285750" lvl="1" indent="-285750" defTabSz="711200" fontAlgn="base">
              <a:lnSpc>
                <a:spcPct val="90000"/>
              </a:lnSpc>
              <a:spcBef>
                <a:spcPct val="0"/>
              </a:spcBef>
              <a:spcAft>
                <a:spcPct val="15000"/>
              </a:spcAft>
              <a:buFont typeface="Wingdings" panose="05000000000000000000" pitchFamily="2" charset="2"/>
              <a:buChar char="v"/>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If these currencies are not all selected then the system </a:t>
            </a:r>
            <a:r>
              <a:rPr lang="en-US" sz="1400" kern="0" dirty="0">
                <a:solidFill>
                  <a:srgbClr val="000000"/>
                </a:solidFill>
              </a:rPr>
              <a:t>will select a different FX rate and potentially there will be a slight balance left on the CC</a:t>
            </a:r>
          </a:p>
          <a:p>
            <a:pPr marL="0" marR="0" lvl="1" algn="l" defTabSz="711200" rtl="0" eaLnBrk="1" fontAlgn="base" latinLnBrk="0" hangingPunct="1">
              <a:lnSpc>
                <a:spcPct val="90000"/>
              </a:lnSpc>
              <a:spcBef>
                <a:spcPct val="0"/>
              </a:spcBef>
              <a:spcAft>
                <a:spcPct val="15000"/>
              </a:spcAft>
              <a:buClrTx/>
              <a:buSzTx/>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8" name="Picture 7">
            <a:extLst>
              <a:ext uri="{FF2B5EF4-FFF2-40B4-BE49-F238E27FC236}">
                <a16:creationId xmlns:a16="http://schemas.microsoft.com/office/drawing/2014/main" id="{BEDD96F3-1468-424F-ADF1-9E4F6F08722A}"/>
              </a:ext>
            </a:extLst>
          </p:cNvPr>
          <p:cNvPicPr>
            <a:picLocks noChangeAspect="1"/>
          </p:cNvPicPr>
          <p:nvPr/>
        </p:nvPicPr>
        <p:blipFill>
          <a:blip r:embed="rId2"/>
          <a:stretch>
            <a:fillRect/>
          </a:stretch>
        </p:blipFill>
        <p:spPr>
          <a:xfrm>
            <a:off x="4840285" y="1386958"/>
            <a:ext cx="4684715" cy="2469514"/>
          </a:xfrm>
          <a:prstGeom prst="rect">
            <a:avLst/>
          </a:prstGeom>
        </p:spPr>
      </p:pic>
      <p:pic>
        <p:nvPicPr>
          <p:cNvPr id="9" name="Picture 8">
            <a:extLst>
              <a:ext uri="{FF2B5EF4-FFF2-40B4-BE49-F238E27FC236}">
                <a16:creationId xmlns:a16="http://schemas.microsoft.com/office/drawing/2014/main" id="{FE889385-B43B-4527-AC22-36D5079635CE}"/>
              </a:ext>
            </a:extLst>
          </p:cNvPr>
          <p:cNvPicPr>
            <a:picLocks noChangeAspect="1"/>
          </p:cNvPicPr>
          <p:nvPr/>
        </p:nvPicPr>
        <p:blipFill>
          <a:blip r:embed="rId3"/>
          <a:stretch>
            <a:fillRect/>
          </a:stretch>
        </p:blipFill>
        <p:spPr>
          <a:xfrm>
            <a:off x="7182642" y="3635640"/>
            <a:ext cx="3432258" cy="2798037"/>
          </a:xfrm>
          <a:prstGeom prst="rect">
            <a:avLst/>
          </a:prstGeom>
        </p:spPr>
      </p:pic>
    </p:spTree>
    <p:extLst>
      <p:ext uri="{BB962C8B-B14F-4D97-AF65-F5344CB8AC3E}">
        <p14:creationId xmlns:p14="http://schemas.microsoft.com/office/powerpoint/2010/main" val="891094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7BA57-D91F-43E5-8035-A3ECCC60560E}"/>
              </a:ext>
            </a:extLst>
          </p:cNvPr>
          <p:cNvSpPr>
            <a:spLocks noGrp="1"/>
          </p:cNvSpPr>
          <p:nvPr>
            <p:ph type="title"/>
          </p:nvPr>
        </p:nvSpPr>
        <p:spPr/>
        <p:txBody>
          <a:bodyPr/>
          <a:lstStyle/>
          <a:p>
            <a:r>
              <a:rPr lang="en-GB" dirty="0"/>
              <a:t>Creating Cost </a:t>
            </a:r>
            <a:r>
              <a:rPr lang="en-GB" dirty="0" err="1"/>
              <a:t>Center</a:t>
            </a:r>
            <a:r>
              <a:rPr lang="en-GB" dirty="0"/>
              <a:t> Allocations – BSC (and GSC) - Error handling</a:t>
            </a:r>
            <a:endParaRPr lang="en-US" dirty="0"/>
          </a:p>
        </p:txBody>
      </p:sp>
      <p:sp>
        <p:nvSpPr>
          <p:cNvPr id="4" name="Footer Placeholder 3">
            <a:extLst>
              <a:ext uri="{FF2B5EF4-FFF2-40B4-BE49-F238E27FC236}">
                <a16:creationId xmlns:a16="http://schemas.microsoft.com/office/drawing/2014/main" id="{EAEB674C-B7AA-41DA-BFF0-F2DEE72A4204}"/>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D0DFCBC9-8758-4B43-9142-9B12883105A8}"/>
              </a:ext>
            </a:extLst>
          </p:cNvPr>
          <p:cNvSpPr>
            <a:spLocks noGrp="1"/>
          </p:cNvSpPr>
          <p:nvPr>
            <p:ph type="sldNum" sz="quarter" idx="12"/>
          </p:nvPr>
        </p:nvSpPr>
        <p:spPr/>
        <p:txBody>
          <a:bodyPr/>
          <a:lstStyle/>
          <a:p>
            <a:fld id="{F4C94289-3309-4C35-850A-56FD49B3E346}" type="slidenum">
              <a:rPr lang="en-GB" smtClean="0"/>
              <a:t>19</a:t>
            </a:fld>
            <a:endParaRPr lang="en-GB"/>
          </a:p>
        </p:txBody>
      </p:sp>
      <p:sp>
        <p:nvSpPr>
          <p:cNvPr id="7" name="Rectangle: Rounded Corners 6">
            <a:extLst>
              <a:ext uri="{FF2B5EF4-FFF2-40B4-BE49-F238E27FC236}">
                <a16:creationId xmlns:a16="http://schemas.microsoft.com/office/drawing/2014/main" id="{5EDB42BE-F87D-4EB5-9A84-F381E2553421}"/>
              </a:ext>
            </a:extLst>
          </p:cNvPr>
          <p:cNvSpPr/>
          <p:nvPr/>
        </p:nvSpPr>
        <p:spPr>
          <a:xfrm>
            <a:off x="392223" y="1386957"/>
            <a:ext cx="3929406" cy="4643729"/>
          </a:xfrm>
          <a:prstGeom prst="roundRect">
            <a:avLst/>
          </a:prstGeom>
          <a:solidFill>
            <a:srgbClr val="FFFFFF"/>
          </a:solidFill>
          <a:ln w="12700" cap="flat" cmpd="sng" algn="ctr">
            <a:solidFill>
              <a:srgbClr val="00BDB7"/>
            </a:solidFill>
            <a:prstDash val="solid"/>
            <a:miter lim="800000"/>
          </a:ln>
          <a:effectLst/>
        </p:spPr>
        <p:txBody>
          <a:bodyPr rtlCol="0" anchor="t"/>
          <a:lstStyle/>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If a cycle has been run without the correct Derive Functional Area functionality and/or incorrect currencies selected BSC </a:t>
            </a:r>
            <a:r>
              <a:rPr lang="en-US" sz="1400" kern="0" dirty="0">
                <a:solidFill>
                  <a:srgbClr val="000000"/>
                </a:solidFill>
                <a:latin typeface="Arial" panose="020B0604020202020204"/>
              </a:rPr>
              <a:t>(or GSC colleagues) </a:t>
            </a: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must Reverse the cycle. </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lang="en-US" sz="1400" b="1" kern="0" dirty="0">
                <a:solidFill>
                  <a:srgbClr val="000000"/>
                </a:solidFill>
                <a:latin typeface="Arial" panose="020B0604020202020204"/>
              </a:rPr>
              <a:t>No changes should be made to the cycle until the cycle is reversed</a:t>
            </a:r>
            <a:r>
              <a:rPr lang="en-US" sz="1400" kern="0" dirty="0">
                <a:solidFill>
                  <a:srgbClr val="000000"/>
                </a:solidFill>
                <a:latin typeface="Arial" panose="020B0604020202020204"/>
              </a:rPr>
              <a:t>. If changes are made to the cycle before it is reversed it will use the new cycle details and information to reverse the postings made so the initial incorrect posting will still remain. </a:t>
            </a: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r>
              <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rPr>
              <a:t>Once the cycle has been reversed the changes </a:t>
            </a:r>
            <a:r>
              <a:rPr lang="en-US" sz="1400" kern="0" dirty="0">
                <a:solidFill>
                  <a:srgbClr val="000000"/>
                </a:solidFill>
                <a:latin typeface="Arial" panose="020B0604020202020204"/>
              </a:rPr>
              <a:t>to the cycle can be made. It is then ok to proceed to run the cycle with the new information having been saved to the cycle, thereby correcting the initial incorrect postings.</a:t>
            </a:r>
            <a:endParaRPr kumimoji="0" lang="en-US" sz="14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7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GB" sz="1600" b="0" i="0" u="none" strike="noStrike" kern="0" cap="none" spc="0" normalizeH="0" baseline="0" noProof="0" dirty="0">
              <a:ln>
                <a:noFill/>
              </a:ln>
              <a:solidFill>
                <a:srgbClr val="000000"/>
              </a:solidFill>
              <a:effectLst/>
              <a:uLnTx/>
              <a:uFillTx/>
              <a:latin typeface="Arial" panose="020B0604020202020204"/>
              <a:ea typeface="+mn-ea"/>
              <a:cs typeface="+mn-cs"/>
            </a:endParaRPr>
          </a:p>
          <a:p>
            <a:pPr marL="285750" marR="0" lvl="1" indent="-285750" algn="l" defTabSz="711200" rtl="0" eaLnBrk="1" fontAlgn="base" latinLnBrk="0" hangingPunct="1">
              <a:lnSpc>
                <a:spcPct val="90000"/>
              </a:lnSpc>
              <a:spcBef>
                <a:spcPct val="0"/>
              </a:spcBef>
              <a:spcAft>
                <a:spcPct val="15000"/>
              </a:spcAft>
              <a:buClrTx/>
              <a:buSzTx/>
              <a:buFont typeface="Wingdings" panose="05000000000000000000" pitchFamily="2" charset="2"/>
              <a:buChar char="v"/>
              <a:tabLst/>
              <a:defRPr/>
            </a:pPr>
            <a:endParaRPr kumimoji="0" lang="en-US" sz="16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pic>
        <p:nvPicPr>
          <p:cNvPr id="1026" name="Picture 2" descr="C:\Users\CSTSHA~1\AppData\Local\Temp\SNAGHTML1131bbc.PNG">
            <a:extLst>
              <a:ext uri="{FF2B5EF4-FFF2-40B4-BE49-F238E27FC236}">
                <a16:creationId xmlns:a16="http://schemas.microsoft.com/office/drawing/2014/main" id="{451F9C54-F7CA-420B-98D2-C306A310F8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5512" y="1446492"/>
            <a:ext cx="6333288" cy="4851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8793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7C8EE-9354-442B-B2F0-29C5F62814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2304-23DC-2B46-BD14-F082077842FF}" type="slidenum">
              <a:rPr kumimoji="0" lang="en-US"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 name="Title 4">
            <a:extLst>
              <a:ext uri="{FF2B5EF4-FFF2-40B4-BE49-F238E27FC236}">
                <a16:creationId xmlns:a16="http://schemas.microsoft.com/office/drawing/2014/main" id="{2EF2FBC2-6ED3-4BD0-88C7-ACEA6CD8C400}"/>
              </a:ext>
            </a:extLst>
          </p:cNvPr>
          <p:cNvSpPr>
            <a:spLocks noGrp="1"/>
          </p:cNvSpPr>
          <p:nvPr>
            <p:ph type="title"/>
          </p:nvPr>
        </p:nvSpPr>
        <p:spPr/>
        <p:txBody>
          <a:bodyPr/>
          <a:lstStyle/>
          <a:p>
            <a:r>
              <a:rPr lang="en-US" dirty="0"/>
              <a:t>Exercises:</a:t>
            </a:r>
          </a:p>
        </p:txBody>
      </p:sp>
      <p:sp>
        <p:nvSpPr>
          <p:cNvPr id="8" name="Rectangle: Rounded Corners 7">
            <a:extLst>
              <a:ext uri="{FF2B5EF4-FFF2-40B4-BE49-F238E27FC236}">
                <a16:creationId xmlns:a16="http://schemas.microsoft.com/office/drawing/2014/main" id="{58038BFD-CFF0-4058-80F4-EAC63745796E}"/>
              </a:ext>
            </a:extLst>
          </p:cNvPr>
          <p:cNvSpPr/>
          <p:nvPr/>
        </p:nvSpPr>
        <p:spPr>
          <a:xfrm>
            <a:off x="6919251" y="2640536"/>
            <a:ext cx="4276735" cy="259186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Exercise 1.3: </a:t>
            </a:r>
            <a:r>
              <a:rPr kumimoji="0" lang="en-GB" sz="1800" b="1"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rPr>
              <a:t> Template - </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 Prepare </a:t>
            </a:r>
            <a:r>
              <a:rPr kumimoji="0" lang="en-GB" sz="1800" b="0" i="0" u="none" strike="noStrike" kern="1200" cap="none" spc="0" normalizeH="0" baseline="0" noProof="0" dirty="0" err="1">
                <a:ln>
                  <a:noFill/>
                </a:ln>
                <a:solidFill>
                  <a:srgbClr val="000000"/>
                </a:solidFill>
                <a:effectLst/>
                <a:uLnTx/>
                <a:uFillTx/>
                <a:latin typeface="Arial" panose="020B0604020202020204"/>
                <a:ea typeface="+mn-ea"/>
                <a:cs typeface="+mn-cs"/>
              </a:rPr>
              <a:t>MyRequest</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 Templates for an Assessment cycle and Distribution Cycle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Exercise 1.4 &amp; 1.5: </a:t>
            </a:r>
            <a:r>
              <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rPr>
              <a:t>KSU3 – </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Display Assessment Cycle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rPr>
              <a:t>KSV3 – </a:t>
            </a:r>
            <a:r>
              <a:rPr kumimoji="0" lang="en-GB" sz="1800" b="0" i="0" u="none" strike="noStrike" kern="1200" cap="none" spc="0" normalizeH="0" baseline="0" noProof="0" dirty="0">
                <a:ln>
                  <a:noFill/>
                </a:ln>
                <a:solidFill>
                  <a:srgbClr val="000000"/>
                </a:solidFill>
                <a:effectLst/>
                <a:uLnTx/>
                <a:uFillTx/>
                <a:latin typeface="Arial" panose="020B0604020202020204"/>
                <a:ea typeface="+mn-ea"/>
                <a:cs typeface="+mn-cs"/>
              </a:rPr>
              <a:t>Display Distribution Cycle</a:t>
            </a:r>
            <a:endParaRPr kumimoji="0" lang="en-GB"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592718721"/>
      </p:ext>
    </p:extLst>
  </p:cSld>
  <p:clrMapOvr>
    <a:masterClrMapping/>
  </p:clrMapOvr>
</p:sld>
</file>

<file path=ppt/theme/theme1.xml><?xml version="1.0" encoding="utf-8"?>
<a:theme xmlns:a="http://schemas.openxmlformats.org/drawingml/2006/main" name="S4F-ERP G&amp;A &amp; Marketing Cost Management">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
        <AccountId xsi:nil="true"/>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Details xmlns="91871c47-af2e-43ea-ad3f-7bb4c536bc45" xsi:nil="true"/>
    <FolderInfo xmlns="91871c47-af2e-43ea-ad3f-7bb4c536bc45"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560FB0-ABC4-42CD-A67D-CB1B6513772C}"/>
</file>

<file path=customXml/itemProps2.xml><?xml version="1.0" encoding="utf-8"?>
<ds:datastoreItem xmlns:ds="http://schemas.openxmlformats.org/officeDocument/2006/customXml" ds:itemID="{DE5311D0-BD03-485E-BDF4-AB6298D6ED30}">
  <ds:schemaRefs>
    <ds:schemaRef ds:uri="http://purl.org/dc/terms/"/>
    <ds:schemaRef ds:uri="http://schemas.openxmlformats.org/package/2006/metadata/core-properties"/>
    <ds:schemaRef ds:uri="http://purl.org/dc/dcmitype/"/>
    <ds:schemaRef ds:uri="http://schemas.microsoft.com/office/infopath/2007/PartnerControls"/>
    <ds:schemaRef ds:uri="da913ec1-a210-4093-97d6-83558d020e4c"/>
    <ds:schemaRef ds:uri="http://schemas.microsoft.com/office/2006/documentManagement/types"/>
    <ds:schemaRef ds:uri="http://schemas.microsoft.com/office/2006/metadata/properties"/>
    <ds:schemaRef ds:uri="033d2065-0f41-4cc7-b07b-20f12998cf87"/>
    <ds:schemaRef ds:uri="http://www.w3.org/XML/1998/namespace"/>
    <ds:schemaRef ds:uri="http://purl.org/dc/elements/1.1/"/>
    <ds:schemaRef ds:uri="ba249638-b5c4-4b59-8094-70d8491c2e9c"/>
    <ds:schemaRef ds:uri="91871c47-af2e-43ea-ad3f-7bb4c536bc45"/>
  </ds:schemaRefs>
</ds:datastoreItem>
</file>

<file path=customXml/itemProps3.xml><?xml version="1.0" encoding="utf-8"?>
<ds:datastoreItem xmlns:ds="http://schemas.openxmlformats.org/officeDocument/2006/customXml" ds:itemID="{F6A33B93-42E0-4912-ADFE-B6EA4423E03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87</TotalTime>
  <Words>3316</Words>
  <Application>Microsoft Office PowerPoint</Application>
  <PresentationFormat>Widescreen</PresentationFormat>
  <Paragraphs>255</Paragraphs>
  <Slides>20</Slides>
  <Notes>2</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S4F-ERP G&amp;A &amp; Marketing Cost Management</vt:lpstr>
      <vt:lpstr>Course Structure</vt:lpstr>
      <vt:lpstr>Cost Center Allocations – My Request</vt:lpstr>
      <vt:lpstr>Cost Center Allocations Template</vt:lpstr>
      <vt:lpstr>Cost Center Allocations Template – Cycle Name and Structure</vt:lpstr>
      <vt:lpstr>Cost Center Allocations Template - Iteration</vt:lpstr>
      <vt:lpstr>Cost Center Allocations Template – Cumulative Costs and Ledgers</vt:lpstr>
      <vt:lpstr>Cost Center Allocations Templates - Segments</vt:lpstr>
      <vt:lpstr>Cost Center Allocations Templates – Sender Rules</vt:lpstr>
      <vt:lpstr>Cost Center Allocations Templates – Sender Values</vt:lpstr>
      <vt:lpstr>Cost Center Allocations Templates – Receiver  Rules</vt:lpstr>
      <vt:lpstr>Cost Center Allocations Templates – Allocation Rules</vt:lpstr>
      <vt:lpstr>Cost Center Allocations Templates – Receiver Values</vt:lpstr>
      <vt:lpstr>Cost Center Allocations Templates – Receiver Values</vt:lpstr>
      <vt:lpstr>Cost Center Allocation cycles – Segments vs Separate Cycle</vt:lpstr>
      <vt:lpstr>Cost Center Allocation cycles – Changes</vt:lpstr>
      <vt:lpstr>Creating Cost Center Allocations – BSC (and GSC) - Further steps</vt:lpstr>
      <vt:lpstr>Creating Cost Center Allocations – BSC (and GSC) - Derive Functional Area check box</vt:lpstr>
      <vt:lpstr>Creating Cost Center Allocations – BSC (and GSC) - Currencies</vt:lpstr>
      <vt:lpstr>Creating Cost Center Allocations – BSC (and GSC) - Error handling</vt:lpstr>
      <vt:lpstr>Exercises: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Structure</dc:title>
  <dc:creator>O'Neill, Shauna</dc:creator>
  <cp:lastModifiedBy>O'Neill, Shauna</cp:lastModifiedBy>
  <cp:revision>2</cp:revision>
  <dcterms:created xsi:type="dcterms:W3CDTF">2019-10-09T10:55:02Z</dcterms:created>
  <dcterms:modified xsi:type="dcterms:W3CDTF">2022-04-29T07:04:05Z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1275700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MSIP_Label_b020b37f-db72-473e-ae54-fb16df408069_Enabled">
    <vt:lpwstr>true</vt:lpwstr>
  </property>
  <property fmtid="{D5CDD505-2E9C-101B-9397-08002B2CF9AE}" pid="11" name="MSIP_Label_b020b37f-db72-473e-ae54-fb16df408069_SetDate">
    <vt:lpwstr>2022-04-29T07:04:05Z</vt:lpwstr>
  </property>
  <property fmtid="{D5CDD505-2E9C-101B-9397-08002B2CF9AE}" pid="12" name="MSIP_Label_b020b37f-db72-473e-ae54-fb16df408069_Method">
    <vt:lpwstr>Standard</vt:lpwstr>
  </property>
  <property fmtid="{D5CDD505-2E9C-101B-9397-08002B2CF9AE}" pid="13" name="MSIP_Label_b020b37f-db72-473e-ae54-fb16df408069_Name">
    <vt:lpwstr>General</vt:lpwstr>
  </property>
  <property fmtid="{D5CDD505-2E9C-101B-9397-08002B2CF9AE}" pid="14" name="MSIP_Label_b020b37f-db72-473e-ae54-fb16df408069_SiteId">
    <vt:lpwstr>705d07a3-2eea-4f3b-ab59-65ca29abeb26</vt:lpwstr>
  </property>
  <property fmtid="{D5CDD505-2E9C-101B-9397-08002B2CF9AE}" pid="15" name="MSIP_Label_b020b37f-db72-473e-ae54-fb16df408069_ActionId">
    <vt:lpwstr>9ad11671-5d82-4759-a439-2eb8b1997ee6</vt:lpwstr>
  </property>
  <property fmtid="{D5CDD505-2E9C-101B-9397-08002B2CF9AE}" pid="16" name="MSIP_Label_b020b37f-db72-473e-ae54-fb16df408069_ContentBits">
    <vt:lpwstr>0</vt:lpwstr>
  </property>
</Properties>
</file>