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34"/>
  </p:notesMasterIdLst>
  <p:sldIdLst>
    <p:sldId id="3355" r:id="rId7"/>
    <p:sldId id="3245" r:id="rId8"/>
    <p:sldId id="3246" r:id="rId9"/>
    <p:sldId id="2134961566" r:id="rId10"/>
    <p:sldId id="2134961567" r:id="rId11"/>
    <p:sldId id="2134961568" r:id="rId12"/>
    <p:sldId id="2134961569" r:id="rId13"/>
    <p:sldId id="2987" r:id="rId14"/>
    <p:sldId id="2988" r:id="rId15"/>
    <p:sldId id="3253" r:id="rId16"/>
    <p:sldId id="2134961577" r:id="rId17"/>
    <p:sldId id="2134961583" r:id="rId18"/>
    <p:sldId id="2134961584" r:id="rId19"/>
    <p:sldId id="2134961589" r:id="rId20"/>
    <p:sldId id="2134961579" r:id="rId21"/>
    <p:sldId id="2134961601" r:id="rId22"/>
    <p:sldId id="2134961602" r:id="rId23"/>
    <p:sldId id="3250" r:id="rId24"/>
    <p:sldId id="3248" r:id="rId25"/>
    <p:sldId id="3251" r:id="rId26"/>
    <p:sldId id="3255" r:id="rId27"/>
    <p:sldId id="2134961575" r:id="rId28"/>
    <p:sldId id="2147477262" r:id="rId29"/>
    <p:sldId id="3247" r:id="rId30"/>
    <p:sldId id="3252" r:id="rId31"/>
    <p:sldId id="3254" r:id="rId32"/>
    <p:sldId id="21349615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FFEFD3-4254-4DA4-ABB5-E271BCC788BF}" v="1" dt="2024-04-25T17:38:06.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26927EF7-24DA-411D-959A-CCF2FE071B91}"/>
    <pc:docChg chg="delSld modSld delMainMaster">
      <pc:chgData name="Wang, Wei" userId="627587dd-935f-4f2b-a6c6-edd4e0dcbff5" providerId="ADAL" clId="{26927EF7-24DA-411D-959A-CCF2FE071B91}" dt="2020-06-03T09:45:35.278" v="176" actId="207"/>
      <pc:docMkLst>
        <pc:docMk/>
      </pc:docMkLst>
      <pc:sldChg chg="modSp">
        <pc:chgData name="Wang, Wei" userId="627587dd-935f-4f2b-a6c6-edd4e0dcbff5" providerId="ADAL" clId="{26927EF7-24DA-411D-959A-CCF2FE071B91}" dt="2020-06-03T09:45:35.278" v="176" actId="207"/>
        <pc:sldMkLst>
          <pc:docMk/>
          <pc:sldMk cId="410940375" sldId="3247"/>
        </pc:sldMkLst>
        <pc:spChg chg="mod">
          <ac:chgData name="Wang, Wei" userId="627587dd-935f-4f2b-a6c6-edd4e0dcbff5" providerId="ADAL" clId="{26927EF7-24DA-411D-959A-CCF2FE071B91}" dt="2020-06-03T09:45:35.278" v="176" actId="207"/>
          <ac:spMkLst>
            <pc:docMk/>
            <pc:sldMk cId="410940375" sldId="3247"/>
            <ac:spMk id="9" creationId="{A1B02E18-B226-4929-86CF-C328BBF0551D}"/>
          </ac:spMkLst>
        </pc:spChg>
      </pc:sldChg>
      <pc:sldMasterChg chg="delSldLayout">
        <pc:chgData name="Wang, Wei" userId="627587dd-935f-4f2b-a6c6-edd4e0dcbff5" providerId="ADAL" clId="{26927EF7-24DA-411D-959A-CCF2FE071B91}" dt="2020-05-21T16:03:02.158" v="130" actId="2696"/>
        <pc:sldMasterMkLst>
          <pc:docMk/>
          <pc:sldMasterMk cId="2216067138" sldId="2147483931"/>
        </pc:sldMasterMkLst>
      </pc:sldMasterChg>
    </pc:docChg>
  </pc:docChgLst>
  <pc:docChgLst>
    <pc:chgData name="Wang, Wei" userId="627587dd-935f-4f2b-a6c6-edd4e0dcbff5" providerId="ADAL" clId="{61FFEFD3-4254-4DA4-ABB5-E271BCC788BF}"/>
    <pc:docChg chg="delSld">
      <pc:chgData name="Wang, Wei" userId="627587dd-935f-4f2b-a6c6-edd4e0dcbff5" providerId="ADAL" clId="{61FFEFD3-4254-4DA4-ABB5-E271BCC788BF}" dt="2024-04-25T17:40:24.213" v="1" actId="47"/>
      <pc:docMkLst>
        <pc:docMk/>
      </pc:docMkLst>
      <pc:sldChg chg="del">
        <pc:chgData name="Wang, Wei" userId="627587dd-935f-4f2b-a6c6-edd4e0dcbff5" providerId="ADAL" clId="{61FFEFD3-4254-4DA4-ABB5-E271BCC788BF}" dt="2024-04-25T17:37:25.624" v="0" actId="47"/>
        <pc:sldMkLst>
          <pc:docMk/>
          <pc:sldMk cId="3610868713" sldId="2342"/>
        </pc:sldMkLst>
      </pc:sldChg>
      <pc:sldChg chg="del">
        <pc:chgData name="Wang, Wei" userId="627587dd-935f-4f2b-a6c6-edd4e0dcbff5" providerId="ADAL" clId="{61FFEFD3-4254-4DA4-ABB5-E271BCC788BF}" dt="2024-04-25T17:37:25.624" v="0" actId="47"/>
        <pc:sldMkLst>
          <pc:docMk/>
          <pc:sldMk cId="656517287" sldId="2987"/>
        </pc:sldMkLst>
      </pc:sldChg>
      <pc:sldChg chg="del">
        <pc:chgData name="Wang, Wei" userId="627587dd-935f-4f2b-a6c6-edd4e0dcbff5" providerId="ADAL" clId="{61FFEFD3-4254-4DA4-ABB5-E271BCC788BF}" dt="2024-04-25T17:37:25.624" v="0" actId="47"/>
        <pc:sldMkLst>
          <pc:docMk/>
          <pc:sldMk cId="2823534408" sldId="2988"/>
        </pc:sldMkLst>
      </pc:sldChg>
      <pc:sldChg chg="del">
        <pc:chgData name="Wang, Wei" userId="627587dd-935f-4f2b-a6c6-edd4e0dcbff5" providerId="ADAL" clId="{61FFEFD3-4254-4DA4-ABB5-E271BCC788BF}" dt="2024-04-25T17:37:25.624" v="0" actId="47"/>
        <pc:sldMkLst>
          <pc:docMk/>
          <pc:sldMk cId="3650905765" sldId="3245"/>
        </pc:sldMkLst>
      </pc:sldChg>
      <pc:sldChg chg="del">
        <pc:chgData name="Wang, Wei" userId="627587dd-935f-4f2b-a6c6-edd4e0dcbff5" providerId="ADAL" clId="{61FFEFD3-4254-4DA4-ABB5-E271BCC788BF}" dt="2024-04-25T17:37:25.624" v="0" actId="47"/>
        <pc:sldMkLst>
          <pc:docMk/>
          <pc:sldMk cId="3318895836" sldId="3246"/>
        </pc:sldMkLst>
      </pc:sldChg>
      <pc:sldChg chg="del">
        <pc:chgData name="Wang, Wei" userId="627587dd-935f-4f2b-a6c6-edd4e0dcbff5" providerId="ADAL" clId="{61FFEFD3-4254-4DA4-ABB5-E271BCC788BF}" dt="2024-04-25T17:37:25.624" v="0" actId="47"/>
        <pc:sldMkLst>
          <pc:docMk/>
          <pc:sldMk cId="410940375" sldId="3247"/>
        </pc:sldMkLst>
      </pc:sldChg>
      <pc:sldChg chg="del">
        <pc:chgData name="Wang, Wei" userId="627587dd-935f-4f2b-a6c6-edd4e0dcbff5" providerId="ADAL" clId="{61FFEFD3-4254-4DA4-ABB5-E271BCC788BF}" dt="2024-04-25T17:37:25.624" v="0" actId="47"/>
        <pc:sldMkLst>
          <pc:docMk/>
          <pc:sldMk cId="991313656" sldId="3248"/>
        </pc:sldMkLst>
      </pc:sldChg>
      <pc:sldChg chg="del">
        <pc:chgData name="Wang, Wei" userId="627587dd-935f-4f2b-a6c6-edd4e0dcbff5" providerId="ADAL" clId="{61FFEFD3-4254-4DA4-ABB5-E271BCC788BF}" dt="2024-04-25T17:37:25.624" v="0" actId="47"/>
        <pc:sldMkLst>
          <pc:docMk/>
          <pc:sldMk cId="4163159633" sldId="3249"/>
        </pc:sldMkLst>
      </pc:sldChg>
      <pc:sldChg chg="del">
        <pc:chgData name="Wang, Wei" userId="627587dd-935f-4f2b-a6c6-edd4e0dcbff5" providerId="ADAL" clId="{61FFEFD3-4254-4DA4-ABB5-E271BCC788BF}" dt="2024-04-25T17:37:25.624" v="0" actId="47"/>
        <pc:sldMkLst>
          <pc:docMk/>
          <pc:sldMk cId="1078204521" sldId="3250"/>
        </pc:sldMkLst>
      </pc:sldChg>
      <pc:sldChg chg="del">
        <pc:chgData name="Wang, Wei" userId="627587dd-935f-4f2b-a6c6-edd4e0dcbff5" providerId="ADAL" clId="{61FFEFD3-4254-4DA4-ABB5-E271BCC788BF}" dt="2024-04-25T17:37:25.624" v="0" actId="47"/>
        <pc:sldMkLst>
          <pc:docMk/>
          <pc:sldMk cId="1715815920" sldId="3251"/>
        </pc:sldMkLst>
      </pc:sldChg>
      <pc:sldChg chg="del">
        <pc:chgData name="Wang, Wei" userId="627587dd-935f-4f2b-a6c6-edd4e0dcbff5" providerId="ADAL" clId="{61FFEFD3-4254-4DA4-ABB5-E271BCC788BF}" dt="2024-04-25T17:37:25.624" v="0" actId="47"/>
        <pc:sldMkLst>
          <pc:docMk/>
          <pc:sldMk cId="1954399707" sldId="3252"/>
        </pc:sldMkLst>
      </pc:sldChg>
      <pc:sldChg chg="del">
        <pc:chgData name="Wang, Wei" userId="627587dd-935f-4f2b-a6c6-edd4e0dcbff5" providerId="ADAL" clId="{61FFEFD3-4254-4DA4-ABB5-E271BCC788BF}" dt="2024-04-25T17:37:25.624" v="0" actId="47"/>
        <pc:sldMkLst>
          <pc:docMk/>
          <pc:sldMk cId="1692271070" sldId="3253"/>
        </pc:sldMkLst>
      </pc:sldChg>
      <pc:sldChg chg="del">
        <pc:chgData name="Wang, Wei" userId="627587dd-935f-4f2b-a6c6-edd4e0dcbff5" providerId="ADAL" clId="{61FFEFD3-4254-4DA4-ABB5-E271BCC788BF}" dt="2024-04-25T17:37:25.624" v="0" actId="47"/>
        <pc:sldMkLst>
          <pc:docMk/>
          <pc:sldMk cId="3626943776" sldId="3254"/>
        </pc:sldMkLst>
      </pc:sldChg>
      <pc:sldChg chg="del">
        <pc:chgData name="Wang, Wei" userId="627587dd-935f-4f2b-a6c6-edd4e0dcbff5" providerId="ADAL" clId="{61FFEFD3-4254-4DA4-ABB5-E271BCC788BF}" dt="2024-04-25T17:37:25.624" v="0" actId="47"/>
        <pc:sldMkLst>
          <pc:docMk/>
          <pc:sldMk cId="2984461346" sldId="3255"/>
        </pc:sldMkLst>
      </pc:sldChg>
      <pc:sldChg chg="del">
        <pc:chgData name="Wang, Wei" userId="627587dd-935f-4f2b-a6c6-edd4e0dcbff5" providerId="ADAL" clId="{61FFEFD3-4254-4DA4-ABB5-E271BCC788BF}" dt="2024-04-25T17:40:24.213" v="1" actId="47"/>
        <pc:sldMkLst>
          <pc:docMk/>
          <pc:sldMk cId="1985833319" sldId="3256"/>
        </pc:sldMkLst>
      </pc:sldChg>
      <pc:sldChg chg="del">
        <pc:chgData name="Wang, Wei" userId="627587dd-935f-4f2b-a6c6-edd4e0dcbff5" providerId="ADAL" clId="{61FFEFD3-4254-4DA4-ABB5-E271BCC788BF}" dt="2024-04-25T17:40:24.213" v="1" actId="47"/>
        <pc:sldMkLst>
          <pc:docMk/>
          <pc:sldMk cId="924062676" sldId="3257"/>
        </pc:sldMkLst>
      </pc:sldChg>
      <pc:sldChg chg="del">
        <pc:chgData name="Wang, Wei" userId="627587dd-935f-4f2b-a6c6-edd4e0dcbff5" providerId="ADAL" clId="{61FFEFD3-4254-4DA4-ABB5-E271BCC788BF}" dt="2024-04-25T17:40:24.213" v="1" actId="47"/>
        <pc:sldMkLst>
          <pc:docMk/>
          <pc:sldMk cId="1768402278" sldId="3258"/>
        </pc:sldMkLst>
      </pc:sldChg>
      <pc:sldChg chg="del">
        <pc:chgData name="Wang, Wei" userId="627587dd-935f-4f2b-a6c6-edd4e0dcbff5" providerId="ADAL" clId="{61FFEFD3-4254-4DA4-ABB5-E271BCC788BF}" dt="2024-04-25T17:40:24.213" v="1" actId="47"/>
        <pc:sldMkLst>
          <pc:docMk/>
          <pc:sldMk cId="716511567" sldId="3259"/>
        </pc:sldMkLst>
      </pc:sldChg>
      <pc:sldChg chg="del">
        <pc:chgData name="Wang, Wei" userId="627587dd-935f-4f2b-a6c6-edd4e0dcbff5" providerId="ADAL" clId="{61FFEFD3-4254-4DA4-ABB5-E271BCC788BF}" dt="2024-04-25T17:40:24.213" v="1" actId="47"/>
        <pc:sldMkLst>
          <pc:docMk/>
          <pc:sldMk cId="3234899859" sldId="3260"/>
        </pc:sldMkLst>
      </pc:sldChg>
      <pc:sldChg chg="del">
        <pc:chgData name="Wang, Wei" userId="627587dd-935f-4f2b-a6c6-edd4e0dcbff5" providerId="ADAL" clId="{61FFEFD3-4254-4DA4-ABB5-E271BCC788BF}" dt="2024-04-25T17:40:24.213" v="1" actId="47"/>
        <pc:sldMkLst>
          <pc:docMk/>
          <pc:sldMk cId="3066737904" sldId="3261"/>
        </pc:sldMkLst>
      </pc:sldChg>
      <pc:sldChg chg="del">
        <pc:chgData name="Wang, Wei" userId="627587dd-935f-4f2b-a6c6-edd4e0dcbff5" providerId="ADAL" clId="{61FFEFD3-4254-4DA4-ABB5-E271BCC788BF}" dt="2024-04-25T17:40:24.213" v="1" actId="47"/>
        <pc:sldMkLst>
          <pc:docMk/>
          <pc:sldMk cId="244349391" sldId="3262"/>
        </pc:sldMkLst>
      </pc:sldChg>
      <pc:sldChg chg="del">
        <pc:chgData name="Wang, Wei" userId="627587dd-935f-4f2b-a6c6-edd4e0dcbff5" providerId="ADAL" clId="{61FFEFD3-4254-4DA4-ABB5-E271BCC788BF}" dt="2024-04-25T17:40:24.213" v="1" actId="47"/>
        <pc:sldMkLst>
          <pc:docMk/>
          <pc:sldMk cId="1346862001" sldId="3263"/>
        </pc:sldMkLst>
      </pc:sldChg>
      <pc:sldChg chg="del">
        <pc:chgData name="Wang, Wei" userId="627587dd-935f-4f2b-a6c6-edd4e0dcbff5" providerId="ADAL" clId="{61FFEFD3-4254-4DA4-ABB5-E271BCC788BF}" dt="2024-04-25T17:40:24.213" v="1" actId="47"/>
        <pc:sldMkLst>
          <pc:docMk/>
          <pc:sldMk cId="1391415964" sldId="3264"/>
        </pc:sldMkLst>
      </pc:sldChg>
      <pc:sldChg chg="del">
        <pc:chgData name="Wang, Wei" userId="627587dd-935f-4f2b-a6c6-edd4e0dcbff5" providerId="ADAL" clId="{61FFEFD3-4254-4DA4-ABB5-E271BCC788BF}" dt="2024-04-25T17:40:24.213" v="1" actId="47"/>
        <pc:sldMkLst>
          <pc:docMk/>
          <pc:sldMk cId="2212679919" sldId="3265"/>
        </pc:sldMkLst>
      </pc:sldChg>
      <pc:sldChg chg="del">
        <pc:chgData name="Wang, Wei" userId="627587dd-935f-4f2b-a6c6-edd4e0dcbff5" providerId="ADAL" clId="{61FFEFD3-4254-4DA4-ABB5-E271BCC788BF}" dt="2024-04-25T17:40:24.213" v="1" actId="47"/>
        <pc:sldMkLst>
          <pc:docMk/>
          <pc:sldMk cId="3164936512" sldId="3461"/>
        </pc:sldMkLst>
      </pc:sldChg>
      <pc:sldChg chg="del">
        <pc:chgData name="Wang, Wei" userId="627587dd-935f-4f2b-a6c6-edd4e0dcbff5" providerId="ADAL" clId="{61FFEFD3-4254-4DA4-ABB5-E271BCC788BF}" dt="2024-04-25T17:40:24.213" v="1" actId="47"/>
        <pc:sldMkLst>
          <pc:docMk/>
          <pc:sldMk cId="4006609024" sldId="2134961471"/>
        </pc:sldMkLst>
      </pc:sldChg>
      <pc:sldChg chg="del">
        <pc:chgData name="Wang, Wei" userId="627587dd-935f-4f2b-a6c6-edd4e0dcbff5" providerId="ADAL" clId="{61FFEFD3-4254-4DA4-ABB5-E271BCC788BF}" dt="2024-04-25T17:40:24.213" v="1" actId="47"/>
        <pc:sldMkLst>
          <pc:docMk/>
          <pc:sldMk cId="3859621827" sldId="2134961537"/>
        </pc:sldMkLst>
      </pc:sldChg>
      <pc:sldChg chg="del">
        <pc:chgData name="Wang, Wei" userId="627587dd-935f-4f2b-a6c6-edd4e0dcbff5" providerId="ADAL" clId="{61FFEFD3-4254-4DA4-ABB5-E271BCC788BF}" dt="2024-04-25T17:40:24.213" v="1" actId="47"/>
        <pc:sldMkLst>
          <pc:docMk/>
          <pc:sldMk cId="921886000" sldId="2134961574"/>
        </pc:sldMkLst>
      </pc:sldChg>
      <pc:sldChg chg="del">
        <pc:chgData name="Wang, Wei" userId="627587dd-935f-4f2b-a6c6-edd4e0dcbff5" providerId="ADAL" clId="{61FFEFD3-4254-4DA4-ABB5-E271BCC788BF}" dt="2024-04-25T17:40:24.213" v="1" actId="47"/>
        <pc:sldMkLst>
          <pc:docMk/>
          <pc:sldMk cId="3091893907" sldId="2147477260"/>
        </pc:sldMkLst>
      </pc:sldChg>
      <pc:sldChg chg="del">
        <pc:chgData name="Wang, Wei" userId="627587dd-935f-4f2b-a6c6-edd4e0dcbff5" providerId="ADAL" clId="{61FFEFD3-4254-4DA4-ABB5-E271BCC788BF}" dt="2024-04-25T17:40:24.213" v="1" actId="47"/>
        <pc:sldMkLst>
          <pc:docMk/>
          <pc:sldMk cId="378638683" sldId="2147477261"/>
        </pc:sldMkLst>
      </pc:sldChg>
      <pc:sldMasterChg chg="delSldLayout">
        <pc:chgData name="Wang, Wei" userId="627587dd-935f-4f2b-a6c6-edd4e0dcbff5" providerId="ADAL" clId="{61FFEFD3-4254-4DA4-ABB5-E271BCC788BF}" dt="2024-04-25T17:37:25.624" v="0" actId="47"/>
        <pc:sldMasterMkLst>
          <pc:docMk/>
          <pc:sldMasterMk cId="2027459739" sldId="2147483926"/>
        </pc:sldMasterMkLst>
        <pc:sldLayoutChg chg="del">
          <pc:chgData name="Wang, Wei" userId="627587dd-935f-4f2b-a6c6-edd4e0dcbff5" providerId="ADAL" clId="{61FFEFD3-4254-4DA4-ABB5-E271BCC788BF}" dt="2024-04-25T17:37:25.624" v="0" actId="47"/>
          <pc:sldLayoutMkLst>
            <pc:docMk/>
            <pc:sldMasterMk cId="2027459739" sldId="2147483926"/>
            <pc:sldLayoutMk cId="1571272697" sldId="2147483992"/>
          </pc:sldLayoutMkLst>
        </pc:sldLayoutChg>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5:41:53.463" v="2" actId="2696"/>
      <pc:docMkLst>
        <pc:docMk/>
      </pc:docMkLst>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08D8C4-972F-4076-9ED2-5934D94C9AFA}" type="doc">
      <dgm:prSet loTypeId="urn:microsoft.com/office/officeart/2005/8/layout/process1" loCatId="process" qsTypeId="urn:microsoft.com/office/officeart/2005/8/quickstyle/simple2" qsCatId="simple" csTypeId="urn:microsoft.com/office/officeart/2005/8/colors/accent0_2" csCatId="mainScheme" phldr="1"/>
      <dgm:spPr/>
    </dgm:pt>
    <dgm:pt modelId="{13C2E48B-D1D2-4F54-87D8-217B739FD073}">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endParaRPr lang="en-GB" sz="900"/>
        </a:p>
        <a:p>
          <a:r>
            <a:rPr lang="en-GB" sz="900"/>
            <a:t>WD-1 </a:t>
          </a:r>
          <a:r>
            <a:rPr lang="en-US" sz="900"/>
            <a:t>Block GR Postings of G&amp;A/Marketing</a:t>
          </a:r>
        </a:p>
        <a:p>
          <a:endParaRPr lang="en-GB" sz="900"/>
        </a:p>
      </dgm:t>
    </dgm:pt>
    <dgm:pt modelId="{4B5FC578-C1B0-48DE-80F0-FE0F8FAB761C}" type="parTrans" cxnId="{0FF79681-028A-4EE7-B1A2-E14ED33CF1A7}">
      <dgm:prSet/>
      <dgm:spPr/>
      <dgm:t>
        <a:bodyPr/>
        <a:lstStyle/>
        <a:p>
          <a:endParaRPr lang="en-GB"/>
        </a:p>
      </dgm:t>
    </dgm:pt>
    <dgm:pt modelId="{D1B650DD-13FF-47E6-A2F0-104C60C27520}" type="sibTrans" cxnId="{0FF79681-028A-4EE7-B1A2-E14ED33CF1A7}">
      <dgm:prSet/>
      <dgm:spPr/>
      <dgm:t>
        <a:bodyPr/>
        <a:lstStyle/>
        <a:p>
          <a:endParaRPr lang="en-GB"/>
        </a:p>
      </dgm:t>
    </dgm:pt>
    <dgm:pt modelId="{D92E729E-0D9D-4C8E-844B-BE4F2E3867E1}">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a:t>WD1: </a:t>
          </a:r>
          <a:r>
            <a:rPr lang="en-GB" sz="900" b="1">
              <a:solidFill>
                <a:schemeClr val="bg1">
                  <a:lumMod val="50000"/>
                </a:schemeClr>
              </a:solidFill>
            </a:rPr>
            <a:t>Stop booking AP invoices</a:t>
          </a:r>
          <a:endParaRPr lang="en-GB" sz="900"/>
        </a:p>
      </dgm:t>
    </dgm:pt>
    <dgm:pt modelId="{AD9782A3-F4B0-42C3-993B-79EAE1C3D98B}" type="parTrans" cxnId="{4D5C004A-292F-419F-81BC-06E9A316F1A7}">
      <dgm:prSet/>
      <dgm:spPr/>
      <dgm:t>
        <a:bodyPr/>
        <a:lstStyle/>
        <a:p>
          <a:endParaRPr lang="en-GB"/>
        </a:p>
      </dgm:t>
    </dgm:pt>
    <dgm:pt modelId="{890E2D44-06FD-46B2-B5A8-19EF84436F59}" type="sibTrans" cxnId="{4D5C004A-292F-419F-81BC-06E9A316F1A7}">
      <dgm:prSet/>
      <dgm:spPr/>
      <dgm:t>
        <a:bodyPr/>
        <a:lstStyle/>
        <a:p>
          <a:endParaRPr lang="en-GB"/>
        </a:p>
      </dgm:t>
    </dgm:pt>
    <dgm:pt modelId="{738F8BFE-4636-43EC-A5EE-5AE6088E5A10}">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kern="1200"/>
            <a:t>WD1: </a:t>
          </a:r>
          <a:r>
            <a:rPr lang="en-US" sz="900" b="1" kern="1200">
              <a:solidFill>
                <a:srgbClr val="407EC9">
                  <a:lumMod val="75000"/>
                </a:srgbClr>
              </a:solidFill>
              <a:latin typeface="Arial" panose="020B0604020202020204"/>
              <a:ea typeface="+mn-ea"/>
              <a:cs typeface="+mn-cs"/>
            </a:rPr>
            <a:t>Automatic settlement rules creation</a:t>
          </a:r>
        </a:p>
      </dgm:t>
    </dgm:pt>
    <dgm:pt modelId="{929143F7-8CF5-4409-827E-E7CA35C04BF9}" type="parTrans" cxnId="{33F12E1C-D4B8-49C8-B868-AA9E294013AB}">
      <dgm:prSet/>
      <dgm:spPr/>
      <dgm:t>
        <a:bodyPr/>
        <a:lstStyle/>
        <a:p>
          <a:endParaRPr lang="en-GB"/>
        </a:p>
      </dgm:t>
    </dgm:pt>
    <dgm:pt modelId="{D0D7C87C-9957-4205-BCF5-946ECFC909B3}" type="sibTrans" cxnId="{33F12E1C-D4B8-49C8-B868-AA9E294013AB}">
      <dgm:prSet/>
      <dgm:spPr/>
      <dgm:t>
        <a:bodyPr/>
        <a:lstStyle/>
        <a:p>
          <a:endParaRPr lang="en-GB"/>
        </a:p>
      </dgm:t>
    </dgm:pt>
    <dgm:pt modelId="{CCB23C4B-93A7-4726-9483-7379476F856D}">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WD1: </a:t>
          </a:r>
          <a:r>
            <a:rPr lang="en-GB" sz="900" b="1">
              <a:solidFill>
                <a:schemeClr val="accent6">
                  <a:lumMod val="75000"/>
                </a:schemeClr>
              </a:solidFill>
            </a:rPr>
            <a:t>Run of branded WBS settlements</a:t>
          </a:r>
          <a:endParaRPr lang="en-GB" sz="900"/>
        </a:p>
      </dgm:t>
    </dgm:pt>
    <dgm:pt modelId="{56363A84-4704-42BD-8959-52BE3E25195C}" type="parTrans" cxnId="{9B86A35A-55E0-4357-8306-A8DF92ADCA8A}">
      <dgm:prSet/>
      <dgm:spPr/>
      <dgm:t>
        <a:bodyPr/>
        <a:lstStyle/>
        <a:p>
          <a:endParaRPr lang="en-GB"/>
        </a:p>
      </dgm:t>
    </dgm:pt>
    <dgm:pt modelId="{A3A41887-6EB3-42A0-9A3B-B1C333229631}" type="sibTrans" cxnId="{9B86A35A-55E0-4357-8306-A8DF92ADCA8A}">
      <dgm:prSet/>
      <dgm:spPr/>
      <dgm:t>
        <a:bodyPr/>
        <a:lstStyle/>
        <a:p>
          <a:endParaRPr lang="en-GB"/>
        </a:p>
      </dgm:t>
    </dgm:pt>
    <dgm:pt modelId="{426CFFB9-0242-49DF-9A86-524FA56F89A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accent6">
                  <a:lumMod val="75000"/>
                </a:schemeClr>
              </a:solidFill>
            </a:rPr>
            <a:t>Run of branded WBS settlements</a:t>
          </a:r>
          <a:endParaRPr lang="en-GB" sz="900"/>
        </a:p>
      </dgm:t>
    </dgm:pt>
    <dgm:pt modelId="{6175C0D1-59E7-462C-9956-8A180D471A80}" type="parTrans" cxnId="{D567EB6B-C292-4777-B139-38369510058C}">
      <dgm:prSet/>
      <dgm:spPr/>
      <dgm:t>
        <a:bodyPr/>
        <a:lstStyle/>
        <a:p>
          <a:endParaRPr lang="en-US"/>
        </a:p>
      </dgm:t>
    </dgm:pt>
    <dgm:pt modelId="{5FB98C34-03AD-4E45-928E-B1EF32240D9D}" type="sibTrans" cxnId="{D567EB6B-C292-4777-B139-38369510058C}">
      <dgm:prSet/>
      <dgm:spPr/>
      <dgm:t>
        <a:bodyPr/>
        <a:lstStyle/>
        <a:p>
          <a:endParaRPr lang="en-US"/>
        </a:p>
      </dgm:t>
    </dgm:pt>
    <dgm:pt modelId="{EF4C0CC7-4C76-41EE-9EF6-7F8333F9D397}">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WD2: </a:t>
          </a:r>
          <a:r>
            <a:rPr lang="en-GB" sz="900" b="1">
              <a:solidFill>
                <a:schemeClr val="accent6">
                  <a:lumMod val="75000"/>
                </a:schemeClr>
              </a:solidFill>
            </a:rPr>
            <a:t>Run of branded WBS settlements</a:t>
          </a:r>
          <a:endParaRPr lang="en-GB" sz="900"/>
        </a:p>
      </dgm:t>
    </dgm:pt>
    <dgm:pt modelId="{CA04E87A-F29D-4F78-AE92-2F565D692360}" type="parTrans" cxnId="{2AAF49E5-7E16-4E18-9269-356128EDC4F8}">
      <dgm:prSet/>
      <dgm:spPr/>
      <dgm:t>
        <a:bodyPr/>
        <a:lstStyle/>
        <a:p>
          <a:endParaRPr lang="en-US"/>
        </a:p>
      </dgm:t>
    </dgm:pt>
    <dgm:pt modelId="{2FEE3D0C-6DB6-4025-BA9C-E01574815EA9}" type="sibTrans" cxnId="{2AAF49E5-7E16-4E18-9269-356128EDC4F8}">
      <dgm:prSet/>
      <dgm:spPr/>
      <dgm:t>
        <a:bodyPr/>
        <a:lstStyle/>
        <a:p>
          <a:endParaRPr lang="en-US"/>
        </a:p>
      </dgm:t>
    </dgm:pt>
    <dgm:pt modelId="{EC0E0610-BD41-4D7A-BD0D-AD9B2B9BFE0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bg1">
                  <a:lumMod val="50000"/>
                </a:schemeClr>
              </a:solidFill>
            </a:rPr>
            <a:t>Last submission of manual journals</a:t>
          </a:r>
          <a:endParaRPr lang="en-GB" sz="900"/>
        </a:p>
      </dgm:t>
    </dgm:pt>
    <dgm:pt modelId="{37A1DAC6-3600-4C70-8880-432D44C4D9FC}" type="parTrans" cxnId="{9F325325-4E3E-45B7-8ED1-7627B547F0DA}">
      <dgm:prSet/>
      <dgm:spPr/>
      <dgm:t>
        <a:bodyPr/>
        <a:lstStyle/>
        <a:p>
          <a:endParaRPr lang="en-US"/>
        </a:p>
      </dgm:t>
    </dgm:pt>
    <dgm:pt modelId="{E386D13E-B40D-4303-AAA4-86784027DCD0}" type="sibTrans" cxnId="{9F325325-4E3E-45B7-8ED1-7627B547F0DA}">
      <dgm:prSet/>
      <dgm:spPr/>
      <dgm:t>
        <a:bodyPr/>
        <a:lstStyle/>
        <a:p>
          <a:endParaRPr lang="en-US"/>
        </a:p>
      </dgm:t>
    </dgm:pt>
    <dgm:pt modelId="{515B21FF-3DF1-4CB8-B7B4-B655A7588998}" type="pres">
      <dgm:prSet presAssocID="{EC08D8C4-972F-4076-9ED2-5934D94C9AFA}" presName="Name0" presStyleCnt="0">
        <dgm:presLayoutVars>
          <dgm:dir/>
          <dgm:resizeHandles val="exact"/>
        </dgm:presLayoutVars>
      </dgm:prSet>
      <dgm:spPr/>
    </dgm:pt>
    <dgm:pt modelId="{E9574E2A-6F61-4926-9336-15E754603951}" type="pres">
      <dgm:prSet presAssocID="{13C2E48B-D1D2-4F54-87D8-217B739FD073}" presName="node" presStyleLbl="node1" presStyleIdx="0" presStyleCnt="7" custScaleY="76992">
        <dgm:presLayoutVars>
          <dgm:bulletEnabled val="1"/>
        </dgm:presLayoutVars>
      </dgm:prSet>
      <dgm:spPr/>
    </dgm:pt>
    <dgm:pt modelId="{DC3FEF44-9BD8-4D84-A4FB-D7D270E5FE18}" type="pres">
      <dgm:prSet presAssocID="{D1B650DD-13FF-47E6-A2F0-104C60C27520}" presName="sibTrans" presStyleLbl="sibTrans2D1" presStyleIdx="0" presStyleCnt="6"/>
      <dgm:spPr/>
    </dgm:pt>
    <dgm:pt modelId="{8A44B56A-A7D4-4EBF-9BC3-62DC09F18E24}" type="pres">
      <dgm:prSet presAssocID="{D1B650DD-13FF-47E6-A2F0-104C60C27520}" presName="connectorText" presStyleLbl="sibTrans2D1" presStyleIdx="0" presStyleCnt="6"/>
      <dgm:spPr/>
    </dgm:pt>
    <dgm:pt modelId="{9ACEBF93-3880-4E6B-B5C7-536FD88B1E8A}" type="pres">
      <dgm:prSet presAssocID="{D92E729E-0D9D-4C8E-844B-BE4F2E3867E1}" presName="node" presStyleLbl="node1" presStyleIdx="1" presStyleCnt="7" custScaleY="76992">
        <dgm:presLayoutVars>
          <dgm:bulletEnabled val="1"/>
        </dgm:presLayoutVars>
      </dgm:prSet>
      <dgm:spPr/>
    </dgm:pt>
    <dgm:pt modelId="{4EDFE412-FCAC-48BE-954F-ACF5D2FFD99C}" type="pres">
      <dgm:prSet presAssocID="{890E2D44-06FD-46B2-B5A8-19EF84436F59}" presName="sibTrans" presStyleLbl="sibTrans2D1" presStyleIdx="1" presStyleCnt="6"/>
      <dgm:spPr/>
    </dgm:pt>
    <dgm:pt modelId="{0BE18E1F-78BF-43E7-A95B-08B42E3112DD}" type="pres">
      <dgm:prSet presAssocID="{890E2D44-06FD-46B2-B5A8-19EF84436F59}" presName="connectorText" presStyleLbl="sibTrans2D1" presStyleIdx="1" presStyleCnt="6"/>
      <dgm:spPr/>
    </dgm:pt>
    <dgm:pt modelId="{4D01C75A-AF4E-4CF5-923D-2CD871CA7610}" type="pres">
      <dgm:prSet presAssocID="{738F8BFE-4636-43EC-A5EE-5AE6088E5A10}" presName="node" presStyleLbl="node1" presStyleIdx="2" presStyleCnt="7" custScaleY="76992">
        <dgm:presLayoutVars>
          <dgm:bulletEnabled val="1"/>
        </dgm:presLayoutVars>
      </dgm:prSet>
      <dgm:spPr/>
    </dgm:pt>
    <dgm:pt modelId="{39338ADE-4CC2-4C07-9E5C-DED12D928926}" type="pres">
      <dgm:prSet presAssocID="{D0D7C87C-9957-4205-BCF5-946ECFC909B3}" presName="sibTrans" presStyleLbl="sibTrans2D1" presStyleIdx="2" presStyleCnt="6"/>
      <dgm:spPr/>
    </dgm:pt>
    <dgm:pt modelId="{78A0DA26-5CDD-4220-AD74-D7E601B57DC9}" type="pres">
      <dgm:prSet presAssocID="{D0D7C87C-9957-4205-BCF5-946ECFC909B3}" presName="connectorText" presStyleLbl="sibTrans2D1" presStyleIdx="2" presStyleCnt="6"/>
      <dgm:spPr/>
    </dgm:pt>
    <dgm:pt modelId="{A24D6BD5-55F5-48C0-B1BB-F8459216CC27}" type="pres">
      <dgm:prSet presAssocID="{CCB23C4B-93A7-4726-9483-7379476F856D}" presName="node" presStyleLbl="node1" presStyleIdx="3" presStyleCnt="7" custScaleY="76992">
        <dgm:presLayoutVars>
          <dgm:bulletEnabled val="1"/>
        </dgm:presLayoutVars>
      </dgm:prSet>
      <dgm:spPr/>
    </dgm:pt>
    <dgm:pt modelId="{0FC483F7-9483-4C05-808C-F9949386E218}" type="pres">
      <dgm:prSet presAssocID="{A3A41887-6EB3-42A0-9A3B-B1C333229631}" presName="sibTrans" presStyleLbl="sibTrans2D1" presStyleIdx="3" presStyleCnt="6"/>
      <dgm:spPr/>
    </dgm:pt>
    <dgm:pt modelId="{93536A7D-9CD0-410D-8433-0A752A51D26F}" type="pres">
      <dgm:prSet presAssocID="{A3A41887-6EB3-42A0-9A3B-B1C333229631}" presName="connectorText" presStyleLbl="sibTrans2D1" presStyleIdx="3" presStyleCnt="6"/>
      <dgm:spPr/>
    </dgm:pt>
    <dgm:pt modelId="{62B0A2ED-73A3-4B6C-8D86-4799675AA09D}" type="pres">
      <dgm:prSet presAssocID="{EF4C0CC7-4C76-41EE-9EF6-7F8333F9D397}" presName="node" presStyleLbl="node1" presStyleIdx="4" presStyleCnt="7">
        <dgm:presLayoutVars>
          <dgm:bulletEnabled val="1"/>
        </dgm:presLayoutVars>
      </dgm:prSet>
      <dgm:spPr/>
    </dgm:pt>
    <dgm:pt modelId="{34F283D4-65B2-43CB-8469-0CD3BDA14357}" type="pres">
      <dgm:prSet presAssocID="{2FEE3D0C-6DB6-4025-BA9C-E01574815EA9}" presName="sibTrans" presStyleLbl="sibTrans2D1" presStyleIdx="4" presStyleCnt="6"/>
      <dgm:spPr/>
    </dgm:pt>
    <dgm:pt modelId="{E51218B2-5CA8-4694-9484-85FB5B62EC53}" type="pres">
      <dgm:prSet presAssocID="{2FEE3D0C-6DB6-4025-BA9C-E01574815EA9}" presName="connectorText" presStyleLbl="sibTrans2D1" presStyleIdx="4" presStyleCnt="6"/>
      <dgm:spPr/>
    </dgm:pt>
    <dgm:pt modelId="{ECE172B3-6508-4B5F-BBB3-04F63BF6FAEF}" type="pres">
      <dgm:prSet presAssocID="{EC0E0610-BD41-4D7A-BD0D-AD9B2B9BFE0F}" presName="node" presStyleLbl="node1" presStyleIdx="5" presStyleCnt="7">
        <dgm:presLayoutVars>
          <dgm:bulletEnabled val="1"/>
        </dgm:presLayoutVars>
      </dgm:prSet>
      <dgm:spPr/>
    </dgm:pt>
    <dgm:pt modelId="{3CF45020-D0C0-4F54-9F4C-2B9A4518B64B}" type="pres">
      <dgm:prSet presAssocID="{E386D13E-B40D-4303-AAA4-86784027DCD0}" presName="sibTrans" presStyleLbl="sibTrans2D1" presStyleIdx="5" presStyleCnt="6"/>
      <dgm:spPr/>
    </dgm:pt>
    <dgm:pt modelId="{C664E499-F263-4920-B82F-1EB4F4E1B8C8}" type="pres">
      <dgm:prSet presAssocID="{E386D13E-B40D-4303-AAA4-86784027DCD0}" presName="connectorText" presStyleLbl="sibTrans2D1" presStyleIdx="5" presStyleCnt="6"/>
      <dgm:spPr/>
    </dgm:pt>
    <dgm:pt modelId="{3915E38E-1CA8-44F0-9AB3-84934C414992}" type="pres">
      <dgm:prSet presAssocID="{426CFFB9-0242-49DF-9A86-524FA56F89AF}" presName="node" presStyleLbl="node1" presStyleIdx="6" presStyleCnt="7">
        <dgm:presLayoutVars>
          <dgm:bulletEnabled val="1"/>
        </dgm:presLayoutVars>
      </dgm:prSet>
      <dgm:spPr/>
    </dgm:pt>
  </dgm:ptLst>
  <dgm:cxnLst>
    <dgm:cxn modelId="{33F12E1C-D4B8-49C8-B868-AA9E294013AB}" srcId="{EC08D8C4-972F-4076-9ED2-5934D94C9AFA}" destId="{738F8BFE-4636-43EC-A5EE-5AE6088E5A10}" srcOrd="2" destOrd="0" parTransId="{929143F7-8CF5-4409-827E-E7CA35C04BF9}" sibTransId="{D0D7C87C-9957-4205-BCF5-946ECFC909B3}"/>
    <dgm:cxn modelId="{9F325325-4E3E-45B7-8ED1-7627B547F0DA}" srcId="{EC08D8C4-972F-4076-9ED2-5934D94C9AFA}" destId="{EC0E0610-BD41-4D7A-BD0D-AD9B2B9BFE0F}" srcOrd="5" destOrd="0" parTransId="{37A1DAC6-3600-4C70-8880-432D44C4D9FC}" sibTransId="{E386D13E-B40D-4303-AAA4-86784027DCD0}"/>
    <dgm:cxn modelId="{325C643A-8708-46F6-898B-69F7DA210672}" type="presOf" srcId="{13C2E48B-D1D2-4F54-87D8-217B739FD073}" destId="{E9574E2A-6F61-4926-9336-15E754603951}" srcOrd="0" destOrd="0" presId="urn:microsoft.com/office/officeart/2005/8/layout/process1"/>
    <dgm:cxn modelId="{837B1B62-3490-4B78-BB0E-8BF12A5F674E}" type="presOf" srcId="{D1B650DD-13FF-47E6-A2F0-104C60C27520}" destId="{DC3FEF44-9BD8-4D84-A4FB-D7D270E5FE18}" srcOrd="0" destOrd="0" presId="urn:microsoft.com/office/officeart/2005/8/layout/process1"/>
    <dgm:cxn modelId="{ACF5F763-5476-4636-8A9E-5509318B0D34}" type="presOf" srcId="{D0D7C87C-9957-4205-BCF5-946ECFC909B3}" destId="{39338ADE-4CC2-4C07-9E5C-DED12D928926}" srcOrd="0" destOrd="0" presId="urn:microsoft.com/office/officeart/2005/8/layout/process1"/>
    <dgm:cxn modelId="{5667EF44-12FD-4F03-804F-0BCB771B3AD0}" type="presOf" srcId="{D0D7C87C-9957-4205-BCF5-946ECFC909B3}" destId="{78A0DA26-5CDD-4220-AD74-D7E601B57DC9}" srcOrd="1" destOrd="0" presId="urn:microsoft.com/office/officeart/2005/8/layout/process1"/>
    <dgm:cxn modelId="{4D5C004A-292F-419F-81BC-06E9A316F1A7}" srcId="{EC08D8C4-972F-4076-9ED2-5934D94C9AFA}" destId="{D92E729E-0D9D-4C8E-844B-BE4F2E3867E1}" srcOrd="1" destOrd="0" parTransId="{AD9782A3-F4B0-42C3-993B-79EAE1C3D98B}" sibTransId="{890E2D44-06FD-46B2-B5A8-19EF84436F59}"/>
    <dgm:cxn modelId="{D567EB6B-C292-4777-B139-38369510058C}" srcId="{EC08D8C4-972F-4076-9ED2-5934D94C9AFA}" destId="{426CFFB9-0242-49DF-9A86-524FA56F89AF}" srcOrd="6" destOrd="0" parTransId="{6175C0D1-59E7-462C-9956-8A180D471A80}" sibTransId="{5FB98C34-03AD-4E45-928E-B1EF32240D9D}"/>
    <dgm:cxn modelId="{C74D4851-E833-4983-B0C6-7445FE79D88A}" type="presOf" srcId="{EC0E0610-BD41-4D7A-BD0D-AD9B2B9BFE0F}" destId="{ECE172B3-6508-4B5F-BBB3-04F63BF6FAEF}" srcOrd="0" destOrd="0" presId="urn:microsoft.com/office/officeart/2005/8/layout/process1"/>
    <dgm:cxn modelId="{2A43F851-E60B-4598-BE9A-8195172E7D06}" type="presOf" srcId="{A3A41887-6EB3-42A0-9A3B-B1C333229631}" destId="{93536A7D-9CD0-410D-8433-0A752A51D26F}" srcOrd="1" destOrd="0" presId="urn:microsoft.com/office/officeart/2005/8/layout/process1"/>
    <dgm:cxn modelId="{F28E9372-1EAF-4759-BEA7-D8CCF3BAB51C}" type="presOf" srcId="{890E2D44-06FD-46B2-B5A8-19EF84436F59}" destId="{4EDFE412-FCAC-48BE-954F-ACF5D2FFD99C}" srcOrd="0" destOrd="0" presId="urn:microsoft.com/office/officeart/2005/8/layout/process1"/>
    <dgm:cxn modelId="{9B86A35A-55E0-4357-8306-A8DF92ADCA8A}" srcId="{EC08D8C4-972F-4076-9ED2-5934D94C9AFA}" destId="{CCB23C4B-93A7-4726-9483-7379476F856D}" srcOrd="3" destOrd="0" parTransId="{56363A84-4704-42BD-8959-52BE3E25195C}" sibTransId="{A3A41887-6EB3-42A0-9A3B-B1C333229631}"/>
    <dgm:cxn modelId="{0FF79681-028A-4EE7-B1A2-E14ED33CF1A7}" srcId="{EC08D8C4-972F-4076-9ED2-5934D94C9AFA}" destId="{13C2E48B-D1D2-4F54-87D8-217B739FD073}" srcOrd="0" destOrd="0" parTransId="{4B5FC578-C1B0-48DE-80F0-FE0F8FAB761C}" sibTransId="{D1B650DD-13FF-47E6-A2F0-104C60C27520}"/>
    <dgm:cxn modelId="{5E8E2F96-8B67-486D-9255-B6DB89509A8D}" type="presOf" srcId="{D1B650DD-13FF-47E6-A2F0-104C60C27520}" destId="{8A44B56A-A7D4-4EBF-9BC3-62DC09F18E24}" srcOrd="1" destOrd="0" presId="urn:microsoft.com/office/officeart/2005/8/layout/process1"/>
    <dgm:cxn modelId="{305048A4-B0E0-4588-BD1B-4FB22C35FFBC}" type="presOf" srcId="{2FEE3D0C-6DB6-4025-BA9C-E01574815EA9}" destId="{E51218B2-5CA8-4694-9484-85FB5B62EC53}" srcOrd="1" destOrd="0" presId="urn:microsoft.com/office/officeart/2005/8/layout/process1"/>
    <dgm:cxn modelId="{15C1B9B3-BE96-4233-82DD-F944E3BA0C0F}" type="presOf" srcId="{738F8BFE-4636-43EC-A5EE-5AE6088E5A10}" destId="{4D01C75A-AF4E-4CF5-923D-2CD871CA7610}" srcOrd="0" destOrd="0" presId="urn:microsoft.com/office/officeart/2005/8/layout/process1"/>
    <dgm:cxn modelId="{0C3FA8B4-5FF2-4C84-BE09-EACC29CB36F1}" type="presOf" srcId="{D92E729E-0D9D-4C8E-844B-BE4F2E3867E1}" destId="{9ACEBF93-3880-4E6B-B5C7-536FD88B1E8A}" srcOrd="0" destOrd="0" presId="urn:microsoft.com/office/officeart/2005/8/layout/process1"/>
    <dgm:cxn modelId="{D24090C0-495F-4AA2-8DFD-CF1E6503C1B1}" type="presOf" srcId="{A3A41887-6EB3-42A0-9A3B-B1C333229631}" destId="{0FC483F7-9483-4C05-808C-F9949386E218}" srcOrd="0" destOrd="0" presId="urn:microsoft.com/office/officeart/2005/8/layout/process1"/>
    <dgm:cxn modelId="{7577F2C1-0029-43C0-A041-C6A62C6BF7C9}" type="presOf" srcId="{E386D13E-B40D-4303-AAA4-86784027DCD0}" destId="{C664E499-F263-4920-B82F-1EB4F4E1B8C8}" srcOrd="1" destOrd="0" presId="urn:microsoft.com/office/officeart/2005/8/layout/process1"/>
    <dgm:cxn modelId="{5D0E1AC3-EE97-4223-A9EF-A6646A898C43}" type="presOf" srcId="{2FEE3D0C-6DB6-4025-BA9C-E01574815EA9}" destId="{34F283D4-65B2-43CB-8469-0CD3BDA14357}" srcOrd="0" destOrd="0" presId="urn:microsoft.com/office/officeart/2005/8/layout/process1"/>
    <dgm:cxn modelId="{F59014C4-4C91-4C75-9A86-E54E5EDABC74}" type="presOf" srcId="{EF4C0CC7-4C76-41EE-9EF6-7F8333F9D397}" destId="{62B0A2ED-73A3-4B6C-8D86-4799675AA09D}" srcOrd="0" destOrd="0" presId="urn:microsoft.com/office/officeart/2005/8/layout/process1"/>
    <dgm:cxn modelId="{8E0C62C6-8771-4BE3-A4B8-54398FEBFBD8}" type="presOf" srcId="{890E2D44-06FD-46B2-B5A8-19EF84436F59}" destId="{0BE18E1F-78BF-43E7-A95B-08B42E3112DD}" srcOrd="1" destOrd="0" presId="urn:microsoft.com/office/officeart/2005/8/layout/process1"/>
    <dgm:cxn modelId="{9F76F6C6-2378-42A3-99CC-4A284A92475B}" type="presOf" srcId="{CCB23C4B-93A7-4726-9483-7379476F856D}" destId="{A24D6BD5-55F5-48C0-B1BB-F8459216CC27}" srcOrd="0" destOrd="0" presId="urn:microsoft.com/office/officeart/2005/8/layout/process1"/>
    <dgm:cxn modelId="{EEDECECD-7E2A-4026-AEC1-44F56F511F83}" type="presOf" srcId="{EC08D8C4-972F-4076-9ED2-5934D94C9AFA}" destId="{515B21FF-3DF1-4CB8-B7B4-B655A7588998}" srcOrd="0" destOrd="0" presId="urn:microsoft.com/office/officeart/2005/8/layout/process1"/>
    <dgm:cxn modelId="{2AAF49E5-7E16-4E18-9269-356128EDC4F8}" srcId="{EC08D8C4-972F-4076-9ED2-5934D94C9AFA}" destId="{EF4C0CC7-4C76-41EE-9EF6-7F8333F9D397}" srcOrd="4" destOrd="0" parTransId="{CA04E87A-F29D-4F78-AE92-2F565D692360}" sibTransId="{2FEE3D0C-6DB6-4025-BA9C-E01574815EA9}"/>
    <dgm:cxn modelId="{24362CE8-925E-4EB7-861F-3FB16585860C}" type="presOf" srcId="{426CFFB9-0242-49DF-9A86-524FA56F89AF}" destId="{3915E38E-1CA8-44F0-9AB3-84934C414992}" srcOrd="0" destOrd="0" presId="urn:microsoft.com/office/officeart/2005/8/layout/process1"/>
    <dgm:cxn modelId="{52C9C5ED-8751-4C84-9893-596E7BF4A656}" type="presOf" srcId="{E386D13E-B40D-4303-AAA4-86784027DCD0}" destId="{3CF45020-D0C0-4F54-9F4C-2B9A4518B64B}" srcOrd="0" destOrd="0" presId="urn:microsoft.com/office/officeart/2005/8/layout/process1"/>
    <dgm:cxn modelId="{2DE46232-FB88-4DE3-8C4A-0C36F8EF0DAC}" type="presParOf" srcId="{515B21FF-3DF1-4CB8-B7B4-B655A7588998}" destId="{E9574E2A-6F61-4926-9336-15E754603951}" srcOrd="0" destOrd="0" presId="urn:microsoft.com/office/officeart/2005/8/layout/process1"/>
    <dgm:cxn modelId="{E72F7757-80A6-46B7-B6A5-B87E84F5CF79}" type="presParOf" srcId="{515B21FF-3DF1-4CB8-B7B4-B655A7588998}" destId="{DC3FEF44-9BD8-4D84-A4FB-D7D270E5FE18}" srcOrd="1" destOrd="0" presId="urn:microsoft.com/office/officeart/2005/8/layout/process1"/>
    <dgm:cxn modelId="{6A8AC102-1184-4A31-8451-4F7FE9DAC636}" type="presParOf" srcId="{DC3FEF44-9BD8-4D84-A4FB-D7D270E5FE18}" destId="{8A44B56A-A7D4-4EBF-9BC3-62DC09F18E24}" srcOrd="0" destOrd="0" presId="urn:microsoft.com/office/officeart/2005/8/layout/process1"/>
    <dgm:cxn modelId="{F897CD55-787F-4CAD-AAAD-B801825B65F4}" type="presParOf" srcId="{515B21FF-3DF1-4CB8-B7B4-B655A7588998}" destId="{9ACEBF93-3880-4E6B-B5C7-536FD88B1E8A}" srcOrd="2" destOrd="0" presId="urn:microsoft.com/office/officeart/2005/8/layout/process1"/>
    <dgm:cxn modelId="{AC3E160F-A928-4E6F-911D-A0C46ECD712B}" type="presParOf" srcId="{515B21FF-3DF1-4CB8-B7B4-B655A7588998}" destId="{4EDFE412-FCAC-48BE-954F-ACF5D2FFD99C}" srcOrd="3" destOrd="0" presId="urn:microsoft.com/office/officeart/2005/8/layout/process1"/>
    <dgm:cxn modelId="{0ADB2665-A7AE-439F-BDC2-BEAC3372F127}" type="presParOf" srcId="{4EDFE412-FCAC-48BE-954F-ACF5D2FFD99C}" destId="{0BE18E1F-78BF-43E7-A95B-08B42E3112DD}" srcOrd="0" destOrd="0" presId="urn:microsoft.com/office/officeart/2005/8/layout/process1"/>
    <dgm:cxn modelId="{D7B38B5C-D801-4B93-8A88-E4834BEFFA16}" type="presParOf" srcId="{515B21FF-3DF1-4CB8-B7B4-B655A7588998}" destId="{4D01C75A-AF4E-4CF5-923D-2CD871CA7610}" srcOrd="4" destOrd="0" presId="urn:microsoft.com/office/officeart/2005/8/layout/process1"/>
    <dgm:cxn modelId="{0237EF62-E9D2-43ED-9DFF-3CD15F1F81C5}" type="presParOf" srcId="{515B21FF-3DF1-4CB8-B7B4-B655A7588998}" destId="{39338ADE-4CC2-4C07-9E5C-DED12D928926}" srcOrd="5" destOrd="0" presId="urn:microsoft.com/office/officeart/2005/8/layout/process1"/>
    <dgm:cxn modelId="{EEC26C42-CC0B-4F14-8EB4-423A527C509E}" type="presParOf" srcId="{39338ADE-4CC2-4C07-9E5C-DED12D928926}" destId="{78A0DA26-5CDD-4220-AD74-D7E601B57DC9}" srcOrd="0" destOrd="0" presId="urn:microsoft.com/office/officeart/2005/8/layout/process1"/>
    <dgm:cxn modelId="{B9341755-5F57-48C2-936B-B6BE5F5E891F}" type="presParOf" srcId="{515B21FF-3DF1-4CB8-B7B4-B655A7588998}" destId="{A24D6BD5-55F5-48C0-B1BB-F8459216CC27}" srcOrd="6" destOrd="0" presId="urn:microsoft.com/office/officeart/2005/8/layout/process1"/>
    <dgm:cxn modelId="{4C3378BF-5C9B-41AC-BDCC-F6D1FB680FCB}" type="presParOf" srcId="{515B21FF-3DF1-4CB8-B7B4-B655A7588998}" destId="{0FC483F7-9483-4C05-808C-F9949386E218}" srcOrd="7" destOrd="0" presId="urn:microsoft.com/office/officeart/2005/8/layout/process1"/>
    <dgm:cxn modelId="{CC3EFB27-AF49-4582-8B50-56B17FA79395}" type="presParOf" srcId="{0FC483F7-9483-4C05-808C-F9949386E218}" destId="{93536A7D-9CD0-410D-8433-0A752A51D26F}" srcOrd="0" destOrd="0" presId="urn:microsoft.com/office/officeart/2005/8/layout/process1"/>
    <dgm:cxn modelId="{3DE7F932-1CC5-4FD1-A7FD-B5030744BB52}" type="presParOf" srcId="{515B21FF-3DF1-4CB8-B7B4-B655A7588998}" destId="{62B0A2ED-73A3-4B6C-8D86-4799675AA09D}" srcOrd="8" destOrd="0" presId="urn:microsoft.com/office/officeart/2005/8/layout/process1"/>
    <dgm:cxn modelId="{7B02E5AA-7758-41AD-AB63-19ACD59949B2}" type="presParOf" srcId="{515B21FF-3DF1-4CB8-B7B4-B655A7588998}" destId="{34F283D4-65B2-43CB-8469-0CD3BDA14357}" srcOrd="9" destOrd="0" presId="urn:microsoft.com/office/officeart/2005/8/layout/process1"/>
    <dgm:cxn modelId="{570651CF-59BE-41C0-826F-D2FB4551544D}" type="presParOf" srcId="{34F283D4-65B2-43CB-8469-0CD3BDA14357}" destId="{E51218B2-5CA8-4694-9484-85FB5B62EC53}" srcOrd="0" destOrd="0" presId="urn:microsoft.com/office/officeart/2005/8/layout/process1"/>
    <dgm:cxn modelId="{697C3FEA-9637-4ED8-906B-D55F14EE76B8}" type="presParOf" srcId="{515B21FF-3DF1-4CB8-B7B4-B655A7588998}" destId="{ECE172B3-6508-4B5F-BBB3-04F63BF6FAEF}" srcOrd="10" destOrd="0" presId="urn:microsoft.com/office/officeart/2005/8/layout/process1"/>
    <dgm:cxn modelId="{DF747075-ECDB-4CDB-A47B-5370D46327AE}" type="presParOf" srcId="{515B21FF-3DF1-4CB8-B7B4-B655A7588998}" destId="{3CF45020-D0C0-4F54-9F4C-2B9A4518B64B}" srcOrd="11" destOrd="0" presId="urn:microsoft.com/office/officeart/2005/8/layout/process1"/>
    <dgm:cxn modelId="{3BDD7695-8B0E-4F3F-935D-E704577D5AAC}" type="presParOf" srcId="{3CF45020-D0C0-4F54-9F4C-2B9A4518B64B}" destId="{C664E499-F263-4920-B82F-1EB4F4E1B8C8}" srcOrd="0" destOrd="0" presId="urn:microsoft.com/office/officeart/2005/8/layout/process1"/>
    <dgm:cxn modelId="{8E3BCCC5-05BA-420D-A466-B340910A091D}" type="presParOf" srcId="{515B21FF-3DF1-4CB8-B7B4-B655A7588998}" destId="{3915E38E-1CA8-44F0-9AB3-84934C414992}"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08D8C4-972F-4076-9ED2-5934D94C9AFA}" type="doc">
      <dgm:prSet loTypeId="urn:microsoft.com/office/officeart/2005/8/layout/process1" loCatId="process" qsTypeId="urn:microsoft.com/office/officeart/2005/8/quickstyle/simple2" qsCatId="simple" csTypeId="urn:microsoft.com/office/officeart/2005/8/colors/accent0_2" csCatId="mainScheme" phldr="1"/>
      <dgm:spPr/>
    </dgm:pt>
    <dgm:pt modelId="{13C2E48B-D1D2-4F54-87D8-217B739FD073}">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endParaRPr lang="en-GB" sz="900"/>
        </a:p>
        <a:p>
          <a:r>
            <a:rPr lang="en-GB" sz="900"/>
            <a:t>WD-1 </a:t>
          </a:r>
          <a:r>
            <a:rPr lang="en-US" sz="900"/>
            <a:t>Block GR Postings of G&amp;A/Marketing</a:t>
          </a:r>
        </a:p>
        <a:p>
          <a:endParaRPr lang="en-GB" sz="900"/>
        </a:p>
      </dgm:t>
    </dgm:pt>
    <dgm:pt modelId="{4B5FC578-C1B0-48DE-80F0-FE0F8FAB761C}" type="parTrans" cxnId="{0FF79681-028A-4EE7-B1A2-E14ED33CF1A7}">
      <dgm:prSet/>
      <dgm:spPr/>
      <dgm:t>
        <a:bodyPr/>
        <a:lstStyle/>
        <a:p>
          <a:endParaRPr lang="en-GB"/>
        </a:p>
      </dgm:t>
    </dgm:pt>
    <dgm:pt modelId="{D1B650DD-13FF-47E6-A2F0-104C60C27520}" type="sibTrans" cxnId="{0FF79681-028A-4EE7-B1A2-E14ED33CF1A7}">
      <dgm:prSet/>
      <dgm:spPr/>
      <dgm:t>
        <a:bodyPr/>
        <a:lstStyle/>
        <a:p>
          <a:endParaRPr lang="en-GB"/>
        </a:p>
      </dgm:t>
    </dgm:pt>
    <dgm:pt modelId="{D92E729E-0D9D-4C8E-844B-BE4F2E3867E1}">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a:t>WD1: </a:t>
          </a:r>
          <a:r>
            <a:rPr lang="en-GB" sz="900" b="1">
              <a:solidFill>
                <a:schemeClr val="bg1">
                  <a:lumMod val="50000"/>
                </a:schemeClr>
              </a:solidFill>
            </a:rPr>
            <a:t>Stop booking AP invoices</a:t>
          </a:r>
          <a:endParaRPr lang="en-GB" sz="900"/>
        </a:p>
      </dgm:t>
    </dgm:pt>
    <dgm:pt modelId="{AD9782A3-F4B0-42C3-993B-79EAE1C3D98B}" type="parTrans" cxnId="{4D5C004A-292F-419F-81BC-06E9A316F1A7}">
      <dgm:prSet/>
      <dgm:spPr/>
      <dgm:t>
        <a:bodyPr/>
        <a:lstStyle/>
        <a:p>
          <a:endParaRPr lang="en-GB"/>
        </a:p>
      </dgm:t>
    </dgm:pt>
    <dgm:pt modelId="{890E2D44-06FD-46B2-B5A8-19EF84436F59}" type="sibTrans" cxnId="{4D5C004A-292F-419F-81BC-06E9A316F1A7}">
      <dgm:prSet/>
      <dgm:spPr/>
      <dgm:t>
        <a:bodyPr/>
        <a:lstStyle/>
        <a:p>
          <a:endParaRPr lang="en-GB"/>
        </a:p>
      </dgm:t>
    </dgm:pt>
    <dgm:pt modelId="{738F8BFE-4636-43EC-A5EE-5AE6088E5A10}">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kern="1200"/>
            <a:t>WD1: </a:t>
          </a:r>
          <a:r>
            <a:rPr lang="en-GB" sz="900" b="1" kern="1200">
              <a:solidFill>
                <a:schemeClr val="accent6">
                  <a:lumMod val="75000"/>
                </a:schemeClr>
              </a:solidFill>
            </a:rPr>
            <a:t>Run of multi-brand WBS settlements</a:t>
          </a:r>
          <a:endParaRPr lang="en-US" sz="900" b="1" kern="1200">
            <a:solidFill>
              <a:srgbClr val="407EC9">
                <a:lumMod val="75000"/>
              </a:srgbClr>
            </a:solidFill>
            <a:latin typeface="Arial" panose="020B0604020202020204"/>
            <a:ea typeface="+mn-ea"/>
            <a:cs typeface="+mn-cs"/>
          </a:endParaRPr>
        </a:p>
      </dgm:t>
    </dgm:pt>
    <dgm:pt modelId="{929143F7-8CF5-4409-827E-E7CA35C04BF9}" type="parTrans" cxnId="{33F12E1C-D4B8-49C8-B868-AA9E294013AB}">
      <dgm:prSet/>
      <dgm:spPr/>
      <dgm:t>
        <a:bodyPr/>
        <a:lstStyle/>
        <a:p>
          <a:endParaRPr lang="en-GB"/>
        </a:p>
      </dgm:t>
    </dgm:pt>
    <dgm:pt modelId="{D0D7C87C-9957-4205-BCF5-946ECFC909B3}" type="sibTrans" cxnId="{33F12E1C-D4B8-49C8-B868-AA9E294013AB}">
      <dgm:prSet/>
      <dgm:spPr/>
      <dgm:t>
        <a:bodyPr/>
        <a:lstStyle/>
        <a:p>
          <a:endParaRPr lang="en-GB"/>
        </a:p>
      </dgm:t>
    </dgm:pt>
    <dgm:pt modelId="{CCB23C4B-93A7-4726-9483-7379476F856D}">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WD2: </a:t>
          </a:r>
          <a:r>
            <a:rPr lang="en-GB" sz="900" b="1">
              <a:solidFill>
                <a:schemeClr val="accent6">
                  <a:lumMod val="75000"/>
                </a:schemeClr>
              </a:solidFill>
            </a:rPr>
            <a:t>Run of multi-brand WBS settlements</a:t>
          </a:r>
          <a:endParaRPr lang="en-GB" sz="900"/>
        </a:p>
      </dgm:t>
    </dgm:pt>
    <dgm:pt modelId="{56363A84-4704-42BD-8959-52BE3E25195C}" type="parTrans" cxnId="{9B86A35A-55E0-4357-8306-A8DF92ADCA8A}">
      <dgm:prSet/>
      <dgm:spPr/>
      <dgm:t>
        <a:bodyPr/>
        <a:lstStyle/>
        <a:p>
          <a:endParaRPr lang="en-GB"/>
        </a:p>
      </dgm:t>
    </dgm:pt>
    <dgm:pt modelId="{A3A41887-6EB3-42A0-9A3B-B1C333229631}" type="sibTrans" cxnId="{9B86A35A-55E0-4357-8306-A8DF92ADCA8A}">
      <dgm:prSet/>
      <dgm:spPr/>
      <dgm:t>
        <a:bodyPr/>
        <a:lstStyle/>
        <a:p>
          <a:endParaRPr lang="en-GB"/>
        </a:p>
      </dgm:t>
    </dgm:pt>
    <dgm:pt modelId="{426CFFB9-0242-49DF-9A86-524FA56F89A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accent6">
                  <a:lumMod val="75000"/>
                </a:schemeClr>
              </a:solidFill>
            </a:rPr>
            <a:t>Run of multi-brand WBS settlements</a:t>
          </a:r>
          <a:endParaRPr lang="en-GB" sz="900"/>
        </a:p>
      </dgm:t>
    </dgm:pt>
    <dgm:pt modelId="{6175C0D1-59E7-462C-9956-8A180D471A80}" type="parTrans" cxnId="{D567EB6B-C292-4777-B139-38369510058C}">
      <dgm:prSet/>
      <dgm:spPr/>
      <dgm:t>
        <a:bodyPr/>
        <a:lstStyle/>
        <a:p>
          <a:endParaRPr lang="en-US"/>
        </a:p>
      </dgm:t>
    </dgm:pt>
    <dgm:pt modelId="{5FB98C34-03AD-4E45-928E-B1EF32240D9D}" type="sibTrans" cxnId="{D567EB6B-C292-4777-B139-38369510058C}">
      <dgm:prSet/>
      <dgm:spPr/>
      <dgm:t>
        <a:bodyPr/>
        <a:lstStyle/>
        <a:p>
          <a:endParaRPr lang="en-US"/>
        </a:p>
      </dgm:t>
    </dgm:pt>
    <dgm:pt modelId="{EC0E0610-BD41-4D7A-BD0D-AD9B2B9BFE0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bg1">
                  <a:lumMod val="50000"/>
                </a:schemeClr>
              </a:solidFill>
            </a:rPr>
            <a:t>Last submission of manual journals</a:t>
          </a:r>
          <a:endParaRPr lang="en-GB" sz="900"/>
        </a:p>
      </dgm:t>
    </dgm:pt>
    <dgm:pt modelId="{37A1DAC6-3600-4C70-8880-432D44C4D9FC}" type="parTrans" cxnId="{9F325325-4E3E-45B7-8ED1-7627B547F0DA}">
      <dgm:prSet/>
      <dgm:spPr/>
      <dgm:t>
        <a:bodyPr/>
        <a:lstStyle/>
        <a:p>
          <a:endParaRPr lang="en-US"/>
        </a:p>
      </dgm:t>
    </dgm:pt>
    <dgm:pt modelId="{E386D13E-B40D-4303-AAA4-86784027DCD0}" type="sibTrans" cxnId="{9F325325-4E3E-45B7-8ED1-7627B547F0DA}">
      <dgm:prSet/>
      <dgm:spPr/>
      <dgm:t>
        <a:bodyPr/>
        <a:lstStyle/>
        <a:p>
          <a:endParaRPr lang="en-US"/>
        </a:p>
      </dgm:t>
    </dgm:pt>
    <dgm:pt modelId="{515B21FF-3DF1-4CB8-B7B4-B655A7588998}" type="pres">
      <dgm:prSet presAssocID="{EC08D8C4-972F-4076-9ED2-5934D94C9AFA}" presName="Name0" presStyleCnt="0">
        <dgm:presLayoutVars>
          <dgm:dir/>
          <dgm:resizeHandles val="exact"/>
        </dgm:presLayoutVars>
      </dgm:prSet>
      <dgm:spPr/>
    </dgm:pt>
    <dgm:pt modelId="{E9574E2A-6F61-4926-9336-15E754603951}" type="pres">
      <dgm:prSet presAssocID="{13C2E48B-D1D2-4F54-87D8-217B739FD073}" presName="node" presStyleLbl="node1" presStyleIdx="0" presStyleCnt="6" custScaleY="76992">
        <dgm:presLayoutVars>
          <dgm:bulletEnabled val="1"/>
        </dgm:presLayoutVars>
      </dgm:prSet>
      <dgm:spPr/>
    </dgm:pt>
    <dgm:pt modelId="{DC3FEF44-9BD8-4D84-A4FB-D7D270E5FE18}" type="pres">
      <dgm:prSet presAssocID="{D1B650DD-13FF-47E6-A2F0-104C60C27520}" presName="sibTrans" presStyleLbl="sibTrans2D1" presStyleIdx="0" presStyleCnt="5"/>
      <dgm:spPr/>
    </dgm:pt>
    <dgm:pt modelId="{8A44B56A-A7D4-4EBF-9BC3-62DC09F18E24}" type="pres">
      <dgm:prSet presAssocID="{D1B650DD-13FF-47E6-A2F0-104C60C27520}" presName="connectorText" presStyleLbl="sibTrans2D1" presStyleIdx="0" presStyleCnt="5"/>
      <dgm:spPr/>
    </dgm:pt>
    <dgm:pt modelId="{9ACEBF93-3880-4E6B-B5C7-536FD88B1E8A}" type="pres">
      <dgm:prSet presAssocID="{D92E729E-0D9D-4C8E-844B-BE4F2E3867E1}" presName="node" presStyleLbl="node1" presStyleIdx="1" presStyleCnt="6" custScaleY="76992">
        <dgm:presLayoutVars>
          <dgm:bulletEnabled val="1"/>
        </dgm:presLayoutVars>
      </dgm:prSet>
      <dgm:spPr/>
    </dgm:pt>
    <dgm:pt modelId="{4EDFE412-FCAC-48BE-954F-ACF5D2FFD99C}" type="pres">
      <dgm:prSet presAssocID="{890E2D44-06FD-46B2-B5A8-19EF84436F59}" presName="sibTrans" presStyleLbl="sibTrans2D1" presStyleIdx="1" presStyleCnt="5"/>
      <dgm:spPr/>
    </dgm:pt>
    <dgm:pt modelId="{0BE18E1F-78BF-43E7-A95B-08B42E3112DD}" type="pres">
      <dgm:prSet presAssocID="{890E2D44-06FD-46B2-B5A8-19EF84436F59}" presName="connectorText" presStyleLbl="sibTrans2D1" presStyleIdx="1" presStyleCnt="5"/>
      <dgm:spPr/>
    </dgm:pt>
    <dgm:pt modelId="{4D01C75A-AF4E-4CF5-923D-2CD871CA7610}" type="pres">
      <dgm:prSet presAssocID="{738F8BFE-4636-43EC-A5EE-5AE6088E5A10}" presName="node" presStyleLbl="node1" presStyleIdx="2" presStyleCnt="6" custScaleY="76992">
        <dgm:presLayoutVars>
          <dgm:bulletEnabled val="1"/>
        </dgm:presLayoutVars>
      </dgm:prSet>
      <dgm:spPr/>
    </dgm:pt>
    <dgm:pt modelId="{39338ADE-4CC2-4C07-9E5C-DED12D928926}" type="pres">
      <dgm:prSet presAssocID="{D0D7C87C-9957-4205-BCF5-946ECFC909B3}" presName="sibTrans" presStyleLbl="sibTrans2D1" presStyleIdx="2" presStyleCnt="5"/>
      <dgm:spPr/>
    </dgm:pt>
    <dgm:pt modelId="{78A0DA26-5CDD-4220-AD74-D7E601B57DC9}" type="pres">
      <dgm:prSet presAssocID="{D0D7C87C-9957-4205-BCF5-946ECFC909B3}" presName="connectorText" presStyleLbl="sibTrans2D1" presStyleIdx="2" presStyleCnt="5"/>
      <dgm:spPr/>
    </dgm:pt>
    <dgm:pt modelId="{A24D6BD5-55F5-48C0-B1BB-F8459216CC27}" type="pres">
      <dgm:prSet presAssocID="{CCB23C4B-93A7-4726-9483-7379476F856D}" presName="node" presStyleLbl="node1" presStyleIdx="3" presStyleCnt="6" custScaleY="76992">
        <dgm:presLayoutVars>
          <dgm:bulletEnabled val="1"/>
        </dgm:presLayoutVars>
      </dgm:prSet>
      <dgm:spPr/>
    </dgm:pt>
    <dgm:pt modelId="{0FC483F7-9483-4C05-808C-F9949386E218}" type="pres">
      <dgm:prSet presAssocID="{A3A41887-6EB3-42A0-9A3B-B1C333229631}" presName="sibTrans" presStyleLbl="sibTrans2D1" presStyleIdx="3" presStyleCnt="5"/>
      <dgm:spPr/>
    </dgm:pt>
    <dgm:pt modelId="{93536A7D-9CD0-410D-8433-0A752A51D26F}" type="pres">
      <dgm:prSet presAssocID="{A3A41887-6EB3-42A0-9A3B-B1C333229631}" presName="connectorText" presStyleLbl="sibTrans2D1" presStyleIdx="3" presStyleCnt="5"/>
      <dgm:spPr/>
    </dgm:pt>
    <dgm:pt modelId="{ECE172B3-6508-4B5F-BBB3-04F63BF6FAEF}" type="pres">
      <dgm:prSet presAssocID="{EC0E0610-BD41-4D7A-BD0D-AD9B2B9BFE0F}" presName="node" presStyleLbl="node1" presStyleIdx="4" presStyleCnt="6">
        <dgm:presLayoutVars>
          <dgm:bulletEnabled val="1"/>
        </dgm:presLayoutVars>
      </dgm:prSet>
      <dgm:spPr/>
    </dgm:pt>
    <dgm:pt modelId="{3CF45020-D0C0-4F54-9F4C-2B9A4518B64B}" type="pres">
      <dgm:prSet presAssocID="{E386D13E-B40D-4303-AAA4-86784027DCD0}" presName="sibTrans" presStyleLbl="sibTrans2D1" presStyleIdx="4" presStyleCnt="5"/>
      <dgm:spPr/>
    </dgm:pt>
    <dgm:pt modelId="{C664E499-F263-4920-B82F-1EB4F4E1B8C8}" type="pres">
      <dgm:prSet presAssocID="{E386D13E-B40D-4303-AAA4-86784027DCD0}" presName="connectorText" presStyleLbl="sibTrans2D1" presStyleIdx="4" presStyleCnt="5"/>
      <dgm:spPr/>
    </dgm:pt>
    <dgm:pt modelId="{3915E38E-1CA8-44F0-9AB3-84934C414992}" type="pres">
      <dgm:prSet presAssocID="{426CFFB9-0242-49DF-9A86-524FA56F89AF}" presName="node" presStyleLbl="node1" presStyleIdx="5" presStyleCnt="6">
        <dgm:presLayoutVars>
          <dgm:bulletEnabled val="1"/>
        </dgm:presLayoutVars>
      </dgm:prSet>
      <dgm:spPr/>
    </dgm:pt>
  </dgm:ptLst>
  <dgm:cxnLst>
    <dgm:cxn modelId="{33F12E1C-D4B8-49C8-B868-AA9E294013AB}" srcId="{EC08D8C4-972F-4076-9ED2-5934D94C9AFA}" destId="{738F8BFE-4636-43EC-A5EE-5AE6088E5A10}" srcOrd="2" destOrd="0" parTransId="{929143F7-8CF5-4409-827E-E7CA35C04BF9}" sibTransId="{D0D7C87C-9957-4205-BCF5-946ECFC909B3}"/>
    <dgm:cxn modelId="{9F325325-4E3E-45B7-8ED1-7627B547F0DA}" srcId="{EC08D8C4-972F-4076-9ED2-5934D94C9AFA}" destId="{EC0E0610-BD41-4D7A-BD0D-AD9B2B9BFE0F}" srcOrd="4" destOrd="0" parTransId="{37A1DAC6-3600-4C70-8880-432D44C4D9FC}" sibTransId="{E386D13E-B40D-4303-AAA4-86784027DCD0}"/>
    <dgm:cxn modelId="{325C643A-8708-46F6-898B-69F7DA210672}" type="presOf" srcId="{13C2E48B-D1D2-4F54-87D8-217B739FD073}" destId="{E9574E2A-6F61-4926-9336-15E754603951}" srcOrd="0" destOrd="0" presId="urn:microsoft.com/office/officeart/2005/8/layout/process1"/>
    <dgm:cxn modelId="{837B1B62-3490-4B78-BB0E-8BF12A5F674E}" type="presOf" srcId="{D1B650DD-13FF-47E6-A2F0-104C60C27520}" destId="{DC3FEF44-9BD8-4D84-A4FB-D7D270E5FE18}" srcOrd="0" destOrd="0" presId="urn:microsoft.com/office/officeart/2005/8/layout/process1"/>
    <dgm:cxn modelId="{ACF5F763-5476-4636-8A9E-5509318B0D34}" type="presOf" srcId="{D0D7C87C-9957-4205-BCF5-946ECFC909B3}" destId="{39338ADE-4CC2-4C07-9E5C-DED12D928926}" srcOrd="0" destOrd="0" presId="urn:microsoft.com/office/officeart/2005/8/layout/process1"/>
    <dgm:cxn modelId="{5667EF44-12FD-4F03-804F-0BCB771B3AD0}" type="presOf" srcId="{D0D7C87C-9957-4205-BCF5-946ECFC909B3}" destId="{78A0DA26-5CDD-4220-AD74-D7E601B57DC9}" srcOrd="1" destOrd="0" presId="urn:microsoft.com/office/officeart/2005/8/layout/process1"/>
    <dgm:cxn modelId="{4D5C004A-292F-419F-81BC-06E9A316F1A7}" srcId="{EC08D8C4-972F-4076-9ED2-5934D94C9AFA}" destId="{D92E729E-0D9D-4C8E-844B-BE4F2E3867E1}" srcOrd="1" destOrd="0" parTransId="{AD9782A3-F4B0-42C3-993B-79EAE1C3D98B}" sibTransId="{890E2D44-06FD-46B2-B5A8-19EF84436F59}"/>
    <dgm:cxn modelId="{D567EB6B-C292-4777-B139-38369510058C}" srcId="{EC08D8C4-972F-4076-9ED2-5934D94C9AFA}" destId="{426CFFB9-0242-49DF-9A86-524FA56F89AF}" srcOrd="5" destOrd="0" parTransId="{6175C0D1-59E7-462C-9956-8A180D471A80}" sibTransId="{5FB98C34-03AD-4E45-928E-B1EF32240D9D}"/>
    <dgm:cxn modelId="{C74D4851-E833-4983-B0C6-7445FE79D88A}" type="presOf" srcId="{EC0E0610-BD41-4D7A-BD0D-AD9B2B9BFE0F}" destId="{ECE172B3-6508-4B5F-BBB3-04F63BF6FAEF}" srcOrd="0" destOrd="0" presId="urn:microsoft.com/office/officeart/2005/8/layout/process1"/>
    <dgm:cxn modelId="{2A43F851-E60B-4598-BE9A-8195172E7D06}" type="presOf" srcId="{A3A41887-6EB3-42A0-9A3B-B1C333229631}" destId="{93536A7D-9CD0-410D-8433-0A752A51D26F}" srcOrd="1" destOrd="0" presId="urn:microsoft.com/office/officeart/2005/8/layout/process1"/>
    <dgm:cxn modelId="{F28E9372-1EAF-4759-BEA7-D8CCF3BAB51C}" type="presOf" srcId="{890E2D44-06FD-46B2-B5A8-19EF84436F59}" destId="{4EDFE412-FCAC-48BE-954F-ACF5D2FFD99C}" srcOrd="0" destOrd="0" presId="urn:microsoft.com/office/officeart/2005/8/layout/process1"/>
    <dgm:cxn modelId="{9B86A35A-55E0-4357-8306-A8DF92ADCA8A}" srcId="{EC08D8C4-972F-4076-9ED2-5934D94C9AFA}" destId="{CCB23C4B-93A7-4726-9483-7379476F856D}" srcOrd="3" destOrd="0" parTransId="{56363A84-4704-42BD-8959-52BE3E25195C}" sibTransId="{A3A41887-6EB3-42A0-9A3B-B1C333229631}"/>
    <dgm:cxn modelId="{0FF79681-028A-4EE7-B1A2-E14ED33CF1A7}" srcId="{EC08D8C4-972F-4076-9ED2-5934D94C9AFA}" destId="{13C2E48B-D1D2-4F54-87D8-217B739FD073}" srcOrd="0" destOrd="0" parTransId="{4B5FC578-C1B0-48DE-80F0-FE0F8FAB761C}" sibTransId="{D1B650DD-13FF-47E6-A2F0-104C60C27520}"/>
    <dgm:cxn modelId="{5E8E2F96-8B67-486D-9255-B6DB89509A8D}" type="presOf" srcId="{D1B650DD-13FF-47E6-A2F0-104C60C27520}" destId="{8A44B56A-A7D4-4EBF-9BC3-62DC09F18E24}" srcOrd="1" destOrd="0" presId="urn:microsoft.com/office/officeart/2005/8/layout/process1"/>
    <dgm:cxn modelId="{15C1B9B3-BE96-4233-82DD-F944E3BA0C0F}" type="presOf" srcId="{738F8BFE-4636-43EC-A5EE-5AE6088E5A10}" destId="{4D01C75A-AF4E-4CF5-923D-2CD871CA7610}" srcOrd="0" destOrd="0" presId="urn:microsoft.com/office/officeart/2005/8/layout/process1"/>
    <dgm:cxn modelId="{0C3FA8B4-5FF2-4C84-BE09-EACC29CB36F1}" type="presOf" srcId="{D92E729E-0D9D-4C8E-844B-BE4F2E3867E1}" destId="{9ACEBF93-3880-4E6B-B5C7-536FD88B1E8A}" srcOrd="0" destOrd="0" presId="urn:microsoft.com/office/officeart/2005/8/layout/process1"/>
    <dgm:cxn modelId="{D24090C0-495F-4AA2-8DFD-CF1E6503C1B1}" type="presOf" srcId="{A3A41887-6EB3-42A0-9A3B-B1C333229631}" destId="{0FC483F7-9483-4C05-808C-F9949386E218}" srcOrd="0" destOrd="0" presId="urn:microsoft.com/office/officeart/2005/8/layout/process1"/>
    <dgm:cxn modelId="{7577F2C1-0029-43C0-A041-C6A62C6BF7C9}" type="presOf" srcId="{E386D13E-B40D-4303-AAA4-86784027DCD0}" destId="{C664E499-F263-4920-B82F-1EB4F4E1B8C8}" srcOrd="1" destOrd="0" presId="urn:microsoft.com/office/officeart/2005/8/layout/process1"/>
    <dgm:cxn modelId="{8E0C62C6-8771-4BE3-A4B8-54398FEBFBD8}" type="presOf" srcId="{890E2D44-06FD-46B2-B5A8-19EF84436F59}" destId="{0BE18E1F-78BF-43E7-A95B-08B42E3112DD}" srcOrd="1" destOrd="0" presId="urn:microsoft.com/office/officeart/2005/8/layout/process1"/>
    <dgm:cxn modelId="{9F76F6C6-2378-42A3-99CC-4A284A92475B}" type="presOf" srcId="{CCB23C4B-93A7-4726-9483-7379476F856D}" destId="{A24D6BD5-55F5-48C0-B1BB-F8459216CC27}" srcOrd="0" destOrd="0" presId="urn:microsoft.com/office/officeart/2005/8/layout/process1"/>
    <dgm:cxn modelId="{EEDECECD-7E2A-4026-AEC1-44F56F511F83}" type="presOf" srcId="{EC08D8C4-972F-4076-9ED2-5934D94C9AFA}" destId="{515B21FF-3DF1-4CB8-B7B4-B655A7588998}" srcOrd="0" destOrd="0" presId="urn:microsoft.com/office/officeart/2005/8/layout/process1"/>
    <dgm:cxn modelId="{24362CE8-925E-4EB7-861F-3FB16585860C}" type="presOf" srcId="{426CFFB9-0242-49DF-9A86-524FA56F89AF}" destId="{3915E38E-1CA8-44F0-9AB3-84934C414992}" srcOrd="0" destOrd="0" presId="urn:microsoft.com/office/officeart/2005/8/layout/process1"/>
    <dgm:cxn modelId="{52C9C5ED-8751-4C84-9893-596E7BF4A656}" type="presOf" srcId="{E386D13E-B40D-4303-AAA4-86784027DCD0}" destId="{3CF45020-D0C0-4F54-9F4C-2B9A4518B64B}" srcOrd="0" destOrd="0" presId="urn:microsoft.com/office/officeart/2005/8/layout/process1"/>
    <dgm:cxn modelId="{2DE46232-FB88-4DE3-8C4A-0C36F8EF0DAC}" type="presParOf" srcId="{515B21FF-3DF1-4CB8-B7B4-B655A7588998}" destId="{E9574E2A-6F61-4926-9336-15E754603951}" srcOrd="0" destOrd="0" presId="urn:microsoft.com/office/officeart/2005/8/layout/process1"/>
    <dgm:cxn modelId="{E72F7757-80A6-46B7-B6A5-B87E84F5CF79}" type="presParOf" srcId="{515B21FF-3DF1-4CB8-B7B4-B655A7588998}" destId="{DC3FEF44-9BD8-4D84-A4FB-D7D270E5FE18}" srcOrd="1" destOrd="0" presId="urn:microsoft.com/office/officeart/2005/8/layout/process1"/>
    <dgm:cxn modelId="{6A8AC102-1184-4A31-8451-4F7FE9DAC636}" type="presParOf" srcId="{DC3FEF44-9BD8-4D84-A4FB-D7D270E5FE18}" destId="{8A44B56A-A7D4-4EBF-9BC3-62DC09F18E24}" srcOrd="0" destOrd="0" presId="urn:microsoft.com/office/officeart/2005/8/layout/process1"/>
    <dgm:cxn modelId="{F897CD55-787F-4CAD-AAAD-B801825B65F4}" type="presParOf" srcId="{515B21FF-3DF1-4CB8-B7B4-B655A7588998}" destId="{9ACEBF93-3880-4E6B-B5C7-536FD88B1E8A}" srcOrd="2" destOrd="0" presId="urn:microsoft.com/office/officeart/2005/8/layout/process1"/>
    <dgm:cxn modelId="{AC3E160F-A928-4E6F-911D-A0C46ECD712B}" type="presParOf" srcId="{515B21FF-3DF1-4CB8-B7B4-B655A7588998}" destId="{4EDFE412-FCAC-48BE-954F-ACF5D2FFD99C}" srcOrd="3" destOrd="0" presId="urn:microsoft.com/office/officeart/2005/8/layout/process1"/>
    <dgm:cxn modelId="{0ADB2665-A7AE-439F-BDC2-BEAC3372F127}" type="presParOf" srcId="{4EDFE412-FCAC-48BE-954F-ACF5D2FFD99C}" destId="{0BE18E1F-78BF-43E7-A95B-08B42E3112DD}" srcOrd="0" destOrd="0" presId="urn:microsoft.com/office/officeart/2005/8/layout/process1"/>
    <dgm:cxn modelId="{D7B38B5C-D801-4B93-8A88-E4834BEFFA16}" type="presParOf" srcId="{515B21FF-3DF1-4CB8-B7B4-B655A7588998}" destId="{4D01C75A-AF4E-4CF5-923D-2CD871CA7610}" srcOrd="4" destOrd="0" presId="urn:microsoft.com/office/officeart/2005/8/layout/process1"/>
    <dgm:cxn modelId="{0237EF62-E9D2-43ED-9DFF-3CD15F1F81C5}" type="presParOf" srcId="{515B21FF-3DF1-4CB8-B7B4-B655A7588998}" destId="{39338ADE-4CC2-4C07-9E5C-DED12D928926}" srcOrd="5" destOrd="0" presId="urn:microsoft.com/office/officeart/2005/8/layout/process1"/>
    <dgm:cxn modelId="{EEC26C42-CC0B-4F14-8EB4-423A527C509E}" type="presParOf" srcId="{39338ADE-4CC2-4C07-9E5C-DED12D928926}" destId="{78A0DA26-5CDD-4220-AD74-D7E601B57DC9}" srcOrd="0" destOrd="0" presId="urn:microsoft.com/office/officeart/2005/8/layout/process1"/>
    <dgm:cxn modelId="{B9341755-5F57-48C2-936B-B6BE5F5E891F}" type="presParOf" srcId="{515B21FF-3DF1-4CB8-B7B4-B655A7588998}" destId="{A24D6BD5-55F5-48C0-B1BB-F8459216CC27}" srcOrd="6" destOrd="0" presId="urn:microsoft.com/office/officeart/2005/8/layout/process1"/>
    <dgm:cxn modelId="{4C3378BF-5C9B-41AC-BDCC-F6D1FB680FCB}" type="presParOf" srcId="{515B21FF-3DF1-4CB8-B7B4-B655A7588998}" destId="{0FC483F7-9483-4C05-808C-F9949386E218}" srcOrd="7" destOrd="0" presId="urn:microsoft.com/office/officeart/2005/8/layout/process1"/>
    <dgm:cxn modelId="{CC3EFB27-AF49-4582-8B50-56B17FA79395}" type="presParOf" srcId="{0FC483F7-9483-4C05-808C-F9949386E218}" destId="{93536A7D-9CD0-410D-8433-0A752A51D26F}" srcOrd="0" destOrd="0" presId="urn:microsoft.com/office/officeart/2005/8/layout/process1"/>
    <dgm:cxn modelId="{697C3FEA-9637-4ED8-906B-D55F14EE76B8}" type="presParOf" srcId="{515B21FF-3DF1-4CB8-B7B4-B655A7588998}" destId="{ECE172B3-6508-4B5F-BBB3-04F63BF6FAEF}" srcOrd="8" destOrd="0" presId="urn:microsoft.com/office/officeart/2005/8/layout/process1"/>
    <dgm:cxn modelId="{DF747075-ECDB-4CDB-A47B-5370D46327AE}" type="presParOf" srcId="{515B21FF-3DF1-4CB8-B7B4-B655A7588998}" destId="{3CF45020-D0C0-4F54-9F4C-2B9A4518B64B}" srcOrd="9" destOrd="0" presId="urn:microsoft.com/office/officeart/2005/8/layout/process1"/>
    <dgm:cxn modelId="{3BDD7695-8B0E-4F3F-935D-E704577D5AAC}" type="presParOf" srcId="{3CF45020-D0C0-4F54-9F4C-2B9A4518B64B}" destId="{C664E499-F263-4920-B82F-1EB4F4E1B8C8}" srcOrd="0" destOrd="0" presId="urn:microsoft.com/office/officeart/2005/8/layout/process1"/>
    <dgm:cxn modelId="{8E3BCCC5-05BA-420D-A466-B340910A091D}" type="presParOf" srcId="{515B21FF-3DF1-4CB8-B7B4-B655A7588998}" destId="{3915E38E-1CA8-44F0-9AB3-84934C414992}"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08D8C4-972F-4076-9ED2-5934D94C9AFA}" type="doc">
      <dgm:prSet loTypeId="urn:microsoft.com/office/officeart/2005/8/layout/process1" loCatId="process" qsTypeId="urn:microsoft.com/office/officeart/2005/8/quickstyle/simple2" qsCatId="simple" csTypeId="urn:microsoft.com/office/officeart/2005/8/colors/accent0_2" csCatId="mainScheme" phldr="1"/>
      <dgm:spPr/>
    </dgm:pt>
    <dgm:pt modelId="{13C2E48B-D1D2-4F54-87D8-217B739FD073}">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endParaRPr lang="en-GB" sz="900"/>
        </a:p>
        <a:p>
          <a:r>
            <a:rPr lang="en-GB" sz="900"/>
            <a:t>WD-1 </a:t>
          </a:r>
          <a:r>
            <a:rPr lang="en-US" sz="900"/>
            <a:t>Block GR Postings of G&amp;A/Marketing</a:t>
          </a:r>
        </a:p>
        <a:p>
          <a:endParaRPr lang="en-GB" sz="900"/>
        </a:p>
      </dgm:t>
    </dgm:pt>
    <dgm:pt modelId="{4B5FC578-C1B0-48DE-80F0-FE0F8FAB761C}" type="parTrans" cxnId="{0FF79681-028A-4EE7-B1A2-E14ED33CF1A7}">
      <dgm:prSet/>
      <dgm:spPr/>
      <dgm:t>
        <a:bodyPr/>
        <a:lstStyle/>
        <a:p>
          <a:endParaRPr lang="en-GB"/>
        </a:p>
      </dgm:t>
    </dgm:pt>
    <dgm:pt modelId="{D1B650DD-13FF-47E6-A2F0-104C60C27520}" type="sibTrans" cxnId="{0FF79681-028A-4EE7-B1A2-E14ED33CF1A7}">
      <dgm:prSet/>
      <dgm:spPr/>
      <dgm:t>
        <a:bodyPr/>
        <a:lstStyle/>
        <a:p>
          <a:endParaRPr lang="en-GB"/>
        </a:p>
      </dgm:t>
    </dgm:pt>
    <dgm:pt modelId="{D92E729E-0D9D-4C8E-844B-BE4F2E3867E1}">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a:t>WD1: </a:t>
          </a:r>
          <a:r>
            <a:rPr lang="en-GB" sz="900" b="1">
              <a:solidFill>
                <a:schemeClr val="bg1">
                  <a:lumMod val="50000"/>
                </a:schemeClr>
              </a:solidFill>
            </a:rPr>
            <a:t>Stop booking AP invoices</a:t>
          </a:r>
          <a:endParaRPr lang="en-GB" sz="900"/>
        </a:p>
      </dgm:t>
    </dgm:pt>
    <dgm:pt modelId="{AD9782A3-F4B0-42C3-993B-79EAE1C3D98B}" type="parTrans" cxnId="{4D5C004A-292F-419F-81BC-06E9A316F1A7}">
      <dgm:prSet/>
      <dgm:spPr/>
      <dgm:t>
        <a:bodyPr/>
        <a:lstStyle/>
        <a:p>
          <a:endParaRPr lang="en-GB"/>
        </a:p>
      </dgm:t>
    </dgm:pt>
    <dgm:pt modelId="{890E2D44-06FD-46B2-B5A8-19EF84436F59}" type="sibTrans" cxnId="{4D5C004A-292F-419F-81BC-06E9A316F1A7}">
      <dgm:prSet/>
      <dgm:spPr/>
      <dgm:t>
        <a:bodyPr/>
        <a:lstStyle/>
        <a:p>
          <a:endParaRPr lang="en-GB"/>
        </a:p>
      </dgm:t>
    </dgm:pt>
    <dgm:pt modelId="{738F8BFE-4636-43EC-A5EE-5AE6088E5A10}">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kern="1200"/>
            <a:t>WD2: </a:t>
          </a:r>
          <a:r>
            <a:rPr lang="en-GB" sz="900" b="1" kern="1200">
              <a:solidFill>
                <a:schemeClr val="accent6">
                  <a:lumMod val="75000"/>
                </a:schemeClr>
              </a:solidFill>
            </a:rPr>
            <a:t>Run of multi-brand WBS</a:t>
          </a:r>
          <a:endParaRPr lang="en-US" sz="900" b="1" kern="1200">
            <a:solidFill>
              <a:srgbClr val="407EC9">
                <a:lumMod val="75000"/>
              </a:srgbClr>
            </a:solidFill>
            <a:latin typeface="Arial" panose="020B0604020202020204"/>
            <a:ea typeface="+mn-ea"/>
            <a:cs typeface="+mn-cs"/>
          </a:endParaRPr>
        </a:p>
      </dgm:t>
    </dgm:pt>
    <dgm:pt modelId="{929143F7-8CF5-4409-827E-E7CA35C04BF9}" type="parTrans" cxnId="{33F12E1C-D4B8-49C8-B868-AA9E294013AB}">
      <dgm:prSet/>
      <dgm:spPr/>
      <dgm:t>
        <a:bodyPr/>
        <a:lstStyle/>
        <a:p>
          <a:endParaRPr lang="en-GB"/>
        </a:p>
      </dgm:t>
    </dgm:pt>
    <dgm:pt modelId="{D0D7C87C-9957-4205-BCF5-946ECFC909B3}" type="sibTrans" cxnId="{33F12E1C-D4B8-49C8-B868-AA9E294013AB}">
      <dgm:prSet/>
      <dgm:spPr/>
      <dgm:t>
        <a:bodyPr/>
        <a:lstStyle/>
        <a:p>
          <a:endParaRPr lang="en-GB"/>
        </a:p>
      </dgm:t>
    </dgm:pt>
    <dgm:pt modelId="{426CFFB9-0242-49DF-9A86-524FA56F89A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accent6">
                  <a:lumMod val="75000"/>
                </a:schemeClr>
              </a:solidFill>
            </a:rPr>
            <a:t>Run of multi-brand WBS allocation</a:t>
          </a:r>
          <a:endParaRPr lang="en-GB" sz="900"/>
        </a:p>
      </dgm:t>
    </dgm:pt>
    <dgm:pt modelId="{6175C0D1-59E7-462C-9956-8A180D471A80}" type="parTrans" cxnId="{D567EB6B-C292-4777-B139-38369510058C}">
      <dgm:prSet/>
      <dgm:spPr/>
      <dgm:t>
        <a:bodyPr/>
        <a:lstStyle/>
        <a:p>
          <a:endParaRPr lang="en-US"/>
        </a:p>
      </dgm:t>
    </dgm:pt>
    <dgm:pt modelId="{5FB98C34-03AD-4E45-928E-B1EF32240D9D}" type="sibTrans" cxnId="{D567EB6B-C292-4777-B139-38369510058C}">
      <dgm:prSet/>
      <dgm:spPr/>
      <dgm:t>
        <a:bodyPr/>
        <a:lstStyle/>
        <a:p>
          <a:endParaRPr lang="en-US"/>
        </a:p>
      </dgm:t>
    </dgm:pt>
    <dgm:pt modelId="{EC0E0610-BD41-4D7A-BD0D-AD9B2B9BFE0F}">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bg1">
                  <a:lumMod val="50000"/>
                </a:schemeClr>
              </a:solidFill>
            </a:rPr>
            <a:t>Last submission of manual journals</a:t>
          </a:r>
          <a:endParaRPr lang="en-GB" sz="900"/>
        </a:p>
      </dgm:t>
    </dgm:pt>
    <dgm:pt modelId="{37A1DAC6-3600-4C70-8880-432D44C4D9FC}" type="parTrans" cxnId="{9F325325-4E3E-45B7-8ED1-7627B547F0DA}">
      <dgm:prSet/>
      <dgm:spPr/>
      <dgm:t>
        <a:bodyPr/>
        <a:lstStyle/>
        <a:p>
          <a:endParaRPr lang="en-US"/>
        </a:p>
      </dgm:t>
    </dgm:pt>
    <dgm:pt modelId="{E386D13E-B40D-4303-AAA4-86784027DCD0}" type="sibTrans" cxnId="{9F325325-4E3E-45B7-8ED1-7627B547F0DA}">
      <dgm:prSet/>
      <dgm:spPr/>
      <dgm:t>
        <a:bodyPr/>
        <a:lstStyle/>
        <a:p>
          <a:endParaRPr lang="en-US"/>
        </a:p>
      </dgm:t>
    </dgm:pt>
    <dgm:pt modelId="{7221CE7D-695E-40F4-B578-88D81ECD05DE}">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a:lstStyle/>
        <a:p>
          <a:r>
            <a:rPr lang="en-GB" sz="900"/>
            <a:t>WD1: </a:t>
          </a:r>
          <a:r>
            <a:rPr lang="en-GB" sz="900" b="1">
              <a:solidFill>
                <a:schemeClr val="bg1">
                  <a:lumMod val="50000"/>
                </a:schemeClr>
              </a:solidFill>
            </a:rPr>
            <a:t>Close sales (accounts)</a:t>
          </a:r>
          <a:endParaRPr lang="en-GB" sz="900"/>
        </a:p>
      </dgm:t>
    </dgm:pt>
    <dgm:pt modelId="{8E84060A-6751-473E-A28D-CAAD8C466D73}" type="parTrans" cxnId="{95907787-FA6C-45DD-B9D2-96576AECCD6F}">
      <dgm:prSet/>
      <dgm:spPr/>
      <dgm:t>
        <a:bodyPr/>
        <a:lstStyle/>
        <a:p>
          <a:endParaRPr lang="en-US"/>
        </a:p>
      </dgm:t>
    </dgm:pt>
    <dgm:pt modelId="{429598A5-4E3E-43B3-A3A3-D7A42C029A68}" type="sibTrans" cxnId="{95907787-FA6C-45DD-B9D2-96576AECCD6F}">
      <dgm:prSet/>
      <dgm:spPr/>
      <dgm:t>
        <a:bodyPr/>
        <a:lstStyle/>
        <a:p>
          <a:endParaRPr lang="en-US"/>
        </a:p>
      </dgm:t>
    </dgm:pt>
    <dgm:pt modelId="{075F30C5-93DD-41F6-833A-80A0655AF747}">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bg1">
                  <a:lumMod val="50000"/>
                </a:schemeClr>
              </a:solidFill>
            </a:rPr>
            <a:t>Confirmation of ML close</a:t>
          </a:r>
          <a:r>
            <a:rPr lang="en-GB" sz="900"/>
            <a:t> </a:t>
          </a:r>
        </a:p>
      </dgm:t>
    </dgm:pt>
    <dgm:pt modelId="{96C9536E-3FB4-4B0A-BE60-A92E88F09A61}" type="parTrans" cxnId="{A274F89D-F506-42A3-A8F3-D35145B4869C}">
      <dgm:prSet/>
      <dgm:spPr/>
      <dgm:t>
        <a:bodyPr/>
        <a:lstStyle/>
        <a:p>
          <a:endParaRPr lang="en-US"/>
        </a:p>
      </dgm:t>
    </dgm:pt>
    <dgm:pt modelId="{19C05499-5638-4BFE-8A60-BB3D9F3DC38F}" type="sibTrans" cxnId="{A274F89D-F506-42A3-A8F3-D35145B4869C}">
      <dgm:prSet/>
      <dgm:spPr/>
      <dgm:t>
        <a:bodyPr/>
        <a:lstStyle/>
        <a:p>
          <a:endParaRPr lang="en-US"/>
        </a:p>
      </dgm:t>
    </dgm:pt>
    <dgm:pt modelId="{5E282A47-6776-4AC0-9C09-234314E59BBC}">
      <dgm:prSet phldrT="[Text]" custT="1"/>
      <dgm:spPr>
        <a:ln>
          <a:solidFill>
            <a:schemeClr val="tx2">
              <a:lumMod val="90000"/>
              <a:lumOff val="10000"/>
            </a:schemeClr>
          </a:solidFill>
        </a:ln>
        <a:effectLst>
          <a:outerShdw blurRad="63500" sx="102000" sy="102000" algn="ctr" rotWithShape="0">
            <a:prstClr val="black">
              <a:alpha val="40000"/>
            </a:prstClr>
          </a:outerShdw>
        </a:effectLst>
      </dgm:spPr>
      <dgm:t>
        <a:bodyPr lIns="72000"/>
        <a:lstStyle/>
        <a:p>
          <a:pPr algn="l"/>
          <a:r>
            <a:rPr lang="en-GB" sz="900"/>
            <a:t>WD3: </a:t>
          </a:r>
          <a:r>
            <a:rPr lang="en-GB" sz="900" b="1">
              <a:solidFill>
                <a:schemeClr val="bg1">
                  <a:lumMod val="50000"/>
                </a:schemeClr>
              </a:solidFill>
            </a:rPr>
            <a:t>COGS split completion</a:t>
          </a:r>
          <a:r>
            <a:rPr lang="en-GB" sz="900"/>
            <a:t> </a:t>
          </a:r>
        </a:p>
      </dgm:t>
    </dgm:pt>
    <dgm:pt modelId="{ACD08EC9-A1B5-44A4-A727-1DDD3C350DDD}" type="parTrans" cxnId="{AA7990A8-4DEE-4531-9DB8-0D0384CAA2BA}">
      <dgm:prSet/>
      <dgm:spPr/>
      <dgm:t>
        <a:bodyPr/>
        <a:lstStyle/>
        <a:p>
          <a:endParaRPr lang="en-US"/>
        </a:p>
      </dgm:t>
    </dgm:pt>
    <dgm:pt modelId="{2D15D846-84B4-41B6-A35B-8D04814C678D}" type="sibTrans" cxnId="{AA7990A8-4DEE-4531-9DB8-0D0384CAA2BA}">
      <dgm:prSet/>
      <dgm:spPr/>
      <dgm:t>
        <a:bodyPr/>
        <a:lstStyle/>
        <a:p>
          <a:endParaRPr lang="en-US"/>
        </a:p>
      </dgm:t>
    </dgm:pt>
    <dgm:pt modelId="{515B21FF-3DF1-4CB8-B7B4-B655A7588998}" type="pres">
      <dgm:prSet presAssocID="{EC08D8C4-972F-4076-9ED2-5934D94C9AFA}" presName="Name0" presStyleCnt="0">
        <dgm:presLayoutVars>
          <dgm:dir/>
          <dgm:resizeHandles val="exact"/>
        </dgm:presLayoutVars>
      </dgm:prSet>
      <dgm:spPr/>
    </dgm:pt>
    <dgm:pt modelId="{E9574E2A-6F61-4926-9336-15E754603951}" type="pres">
      <dgm:prSet presAssocID="{13C2E48B-D1D2-4F54-87D8-217B739FD073}" presName="node" presStyleLbl="node1" presStyleIdx="0" presStyleCnt="8" custScaleY="76992">
        <dgm:presLayoutVars>
          <dgm:bulletEnabled val="1"/>
        </dgm:presLayoutVars>
      </dgm:prSet>
      <dgm:spPr/>
    </dgm:pt>
    <dgm:pt modelId="{DC3FEF44-9BD8-4D84-A4FB-D7D270E5FE18}" type="pres">
      <dgm:prSet presAssocID="{D1B650DD-13FF-47E6-A2F0-104C60C27520}" presName="sibTrans" presStyleLbl="sibTrans2D1" presStyleIdx="0" presStyleCnt="7"/>
      <dgm:spPr/>
    </dgm:pt>
    <dgm:pt modelId="{8A44B56A-A7D4-4EBF-9BC3-62DC09F18E24}" type="pres">
      <dgm:prSet presAssocID="{D1B650DD-13FF-47E6-A2F0-104C60C27520}" presName="connectorText" presStyleLbl="sibTrans2D1" presStyleIdx="0" presStyleCnt="7"/>
      <dgm:spPr/>
    </dgm:pt>
    <dgm:pt modelId="{9ACEBF93-3880-4E6B-B5C7-536FD88B1E8A}" type="pres">
      <dgm:prSet presAssocID="{D92E729E-0D9D-4C8E-844B-BE4F2E3867E1}" presName="node" presStyleLbl="node1" presStyleIdx="1" presStyleCnt="8" custScaleY="76992">
        <dgm:presLayoutVars>
          <dgm:bulletEnabled val="1"/>
        </dgm:presLayoutVars>
      </dgm:prSet>
      <dgm:spPr/>
    </dgm:pt>
    <dgm:pt modelId="{4EDFE412-FCAC-48BE-954F-ACF5D2FFD99C}" type="pres">
      <dgm:prSet presAssocID="{890E2D44-06FD-46B2-B5A8-19EF84436F59}" presName="sibTrans" presStyleLbl="sibTrans2D1" presStyleIdx="1" presStyleCnt="7"/>
      <dgm:spPr/>
    </dgm:pt>
    <dgm:pt modelId="{0BE18E1F-78BF-43E7-A95B-08B42E3112DD}" type="pres">
      <dgm:prSet presAssocID="{890E2D44-06FD-46B2-B5A8-19EF84436F59}" presName="connectorText" presStyleLbl="sibTrans2D1" presStyleIdx="1" presStyleCnt="7"/>
      <dgm:spPr/>
    </dgm:pt>
    <dgm:pt modelId="{466F53B2-BD8D-41F5-8BAC-6699673C01F2}" type="pres">
      <dgm:prSet presAssocID="{7221CE7D-695E-40F4-B578-88D81ECD05DE}" presName="node" presStyleLbl="node1" presStyleIdx="2" presStyleCnt="8">
        <dgm:presLayoutVars>
          <dgm:bulletEnabled val="1"/>
        </dgm:presLayoutVars>
      </dgm:prSet>
      <dgm:spPr/>
    </dgm:pt>
    <dgm:pt modelId="{25797F7D-EDC9-4C2D-B7D8-49B83E0E3054}" type="pres">
      <dgm:prSet presAssocID="{429598A5-4E3E-43B3-A3A3-D7A42C029A68}" presName="sibTrans" presStyleLbl="sibTrans2D1" presStyleIdx="2" presStyleCnt="7"/>
      <dgm:spPr/>
    </dgm:pt>
    <dgm:pt modelId="{60F48D8B-291D-4CA6-B503-4CAAB9909F9A}" type="pres">
      <dgm:prSet presAssocID="{429598A5-4E3E-43B3-A3A3-D7A42C029A68}" presName="connectorText" presStyleLbl="sibTrans2D1" presStyleIdx="2" presStyleCnt="7"/>
      <dgm:spPr/>
    </dgm:pt>
    <dgm:pt modelId="{4D01C75A-AF4E-4CF5-923D-2CD871CA7610}" type="pres">
      <dgm:prSet presAssocID="{738F8BFE-4636-43EC-A5EE-5AE6088E5A10}" presName="node" presStyleLbl="node1" presStyleIdx="3" presStyleCnt="8" custScaleY="76992">
        <dgm:presLayoutVars>
          <dgm:bulletEnabled val="1"/>
        </dgm:presLayoutVars>
      </dgm:prSet>
      <dgm:spPr/>
    </dgm:pt>
    <dgm:pt modelId="{39338ADE-4CC2-4C07-9E5C-DED12D928926}" type="pres">
      <dgm:prSet presAssocID="{D0D7C87C-9957-4205-BCF5-946ECFC909B3}" presName="sibTrans" presStyleLbl="sibTrans2D1" presStyleIdx="3" presStyleCnt="7"/>
      <dgm:spPr/>
    </dgm:pt>
    <dgm:pt modelId="{78A0DA26-5CDD-4220-AD74-D7E601B57DC9}" type="pres">
      <dgm:prSet presAssocID="{D0D7C87C-9957-4205-BCF5-946ECFC909B3}" presName="connectorText" presStyleLbl="sibTrans2D1" presStyleIdx="3" presStyleCnt="7"/>
      <dgm:spPr/>
    </dgm:pt>
    <dgm:pt modelId="{ECE172B3-6508-4B5F-BBB3-04F63BF6FAEF}" type="pres">
      <dgm:prSet presAssocID="{EC0E0610-BD41-4D7A-BD0D-AD9B2B9BFE0F}" presName="node" presStyleLbl="node1" presStyleIdx="4" presStyleCnt="8">
        <dgm:presLayoutVars>
          <dgm:bulletEnabled val="1"/>
        </dgm:presLayoutVars>
      </dgm:prSet>
      <dgm:spPr/>
    </dgm:pt>
    <dgm:pt modelId="{3CF45020-D0C0-4F54-9F4C-2B9A4518B64B}" type="pres">
      <dgm:prSet presAssocID="{E386D13E-B40D-4303-AAA4-86784027DCD0}" presName="sibTrans" presStyleLbl="sibTrans2D1" presStyleIdx="4" presStyleCnt="7"/>
      <dgm:spPr/>
    </dgm:pt>
    <dgm:pt modelId="{C664E499-F263-4920-B82F-1EB4F4E1B8C8}" type="pres">
      <dgm:prSet presAssocID="{E386D13E-B40D-4303-AAA4-86784027DCD0}" presName="connectorText" presStyleLbl="sibTrans2D1" presStyleIdx="4" presStyleCnt="7"/>
      <dgm:spPr/>
    </dgm:pt>
    <dgm:pt modelId="{58E7A718-3363-44C1-BA49-9632182DAE63}" type="pres">
      <dgm:prSet presAssocID="{075F30C5-93DD-41F6-833A-80A0655AF747}" presName="node" presStyleLbl="node1" presStyleIdx="5" presStyleCnt="8">
        <dgm:presLayoutVars>
          <dgm:bulletEnabled val="1"/>
        </dgm:presLayoutVars>
      </dgm:prSet>
      <dgm:spPr/>
    </dgm:pt>
    <dgm:pt modelId="{694261FC-F6AC-4315-9E2B-40F317C15C8F}" type="pres">
      <dgm:prSet presAssocID="{19C05499-5638-4BFE-8A60-BB3D9F3DC38F}" presName="sibTrans" presStyleLbl="sibTrans2D1" presStyleIdx="5" presStyleCnt="7"/>
      <dgm:spPr/>
    </dgm:pt>
    <dgm:pt modelId="{C7506066-496E-4AF6-8268-AF06719BFD59}" type="pres">
      <dgm:prSet presAssocID="{19C05499-5638-4BFE-8A60-BB3D9F3DC38F}" presName="connectorText" presStyleLbl="sibTrans2D1" presStyleIdx="5" presStyleCnt="7"/>
      <dgm:spPr/>
    </dgm:pt>
    <dgm:pt modelId="{6A09BFAB-5D60-4866-9865-0D695053F24E}" type="pres">
      <dgm:prSet presAssocID="{5E282A47-6776-4AC0-9C09-234314E59BBC}" presName="node" presStyleLbl="node1" presStyleIdx="6" presStyleCnt="8">
        <dgm:presLayoutVars>
          <dgm:bulletEnabled val="1"/>
        </dgm:presLayoutVars>
      </dgm:prSet>
      <dgm:spPr/>
    </dgm:pt>
    <dgm:pt modelId="{A389259E-F027-4C8D-B3F6-F00E2788ED1A}" type="pres">
      <dgm:prSet presAssocID="{2D15D846-84B4-41B6-A35B-8D04814C678D}" presName="sibTrans" presStyleLbl="sibTrans2D1" presStyleIdx="6" presStyleCnt="7"/>
      <dgm:spPr/>
    </dgm:pt>
    <dgm:pt modelId="{D2EF3A26-561E-4ABC-B73A-C9F4C9053FBC}" type="pres">
      <dgm:prSet presAssocID="{2D15D846-84B4-41B6-A35B-8D04814C678D}" presName="connectorText" presStyleLbl="sibTrans2D1" presStyleIdx="6" presStyleCnt="7"/>
      <dgm:spPr/>
    </dgm:pt>
    <dgm:pt modelId="{3915E38E-1CA8-44F0-9AB3-84934C414992}" type="pres">
      <dgm:prSet presAssocID="{426CFFB9-0242-49DF-9A86-524FA56F89AF}" presName="node" presStyleLbl="node1" presStyleIdx="7" presStyleCnt="8">
        <dgm:presLayoutVars>
          <dgm:bulletEnabled val="1"/>
        </dgm:presLayoutVars>
      </dgm:prSet>
      <dgm:spPr/>
    </dgm:pt>
  </dgm:ptLst>
  <dgm:cxnLst>
    <dgm:cxn modelId="{4204AD05-9365-4B3F-905D-CF0E651A6BE6}" type="presOf" srcId="{7221CE7D-695E-40F4-B578-88D81ECD05DE}" destId="{466F53B2-BD8D-41F5-8BAC-6699673C01F2}" srcOrd="0" destOrd="0" presId="urn:microsoft.com/office/officeart/2005/8/layout/process1"/>
    <dgm:cxn modelId="{33F12E1C-D4B8-49C8-B868-AA9E294013AB}" srcId="{EC08D8C4-972F-4076-9ED2-5934D94C9AFA}" destId="{738F8BFE-4636-43EC-A5EE-5AE6088E5A10}" srcOrd="3" destOrd="0" parTransId="{929143F7-8CF5-4409-827E-E7CA35C04BF9}" sibTransId="{D0D7C87C-9957-4205-BCF5-946ECFC909B3}"/>
    <dgm:cxn modelId="{9F325325-4E3E-45B7-8ED1-7627B547F0DA}" srcId="{EC08D8C4-972F-4076-9ED2-5934D94C9AFA}" destId="{EC0E0610-BD41-4D7A-BD0D-AD9B2B9BFE0F}" srcOrd="4" destOrd="0" parTransId="{37A1DAC6-3600-4C70-8880-432D44C4D9FC}" sibTransId="{E386D13E-B40D-4303-AAA4-86784027DCD0}"/>
    <dgm:cxn modelId="{B654B135-8836-4326-AD36-DF5593DFDAB9}" type="presOf" srcId="{2D15D846-84B4-41B6-A35B-8D04814C678D}" destId="{D2EF3A26-561E-4ABC-B73A-C9F4C9053FBC}" srcOrd="1" destOrd="0" presId="urn:microsoft.com/office/officeart/2005/8/layout/process1"/>
    <dgm:cxn modelId="{325C643A-8708-46F6-898B-69F7DA210672}" type="presOf" srcId="{13C2E48B-D1D2-4F54-87D8-217B739FD073}" destId="{E9574E2A-6F61-4926-9336-15E754603951}" srcOrd="0" destOrd="0" presId="urn:microsoft.com/office/officeart/2005/8/layout/process1"/>
    <dgm:cxn modelId="{3E1AE03D-9857-436D-A286-03BAD2CE8841}" type="presOf" srcId="{2D15D846-84B4-41B6-A35B-8D04814C678D}" destId="{A389259E-F027-4C8D-B3F6-F00E2788ED1A}" srcOrd="0" destOrd="0" presId="urn:microsoft.com/office/officeart/2005/8/layout/process1"/>
    <dgm:cxn modelId="{837B1B62-3490-4B78-BB0E-8BF12A5F674E}" type="presOf" srcId="{D1B650DD-13FF-47E6-A2F0-104C60C27520}" destId="{DC3FEF44-9BD8-4D84-A4FB-D7D270E5FE18}" srcOrd="0" destOrd="0" presId="urn:microsoft.com/office/officeart/2005/8/layout/process1"/>
    <dgm:cxn modelId="{ACF5F763-5476-4636-8A9E-5509318B0D34}" type="presOf" srcId="{D0D7C87C-9957-4205-BCF5-946ECFC909B3}" destId="{39338ADE-4CC2-4C07-9E5C-DED12D928926}" srcOrd="0" destOrd="0" presId="urn:microsoft.com/office/officeart/2005/8/layout/process1"/>
    <dgm:cxn modelId="{5667EF44-12FD-4F03-804F-0BCB771B3AD0}" type="presOf" srcId="{D0D7C87C-9957-4205-BCF5-946ECFC909B3}" destId="{78A0DA26-5CDD-4220-AD74-D7E601B57DC9}" srcOrd="1" destOrd="0" presId="urn:microsoft.com/office/officeart/2005/8/layout/process1"/>
    <dgm:cxn modelId="{8725E846-B60E-4ACB-AB64-5E0E21DC8749}" type="presOf" srcId="{429598A5-4E3E-43B3-A3A3-D7A42C029A68}" destId="{25797F7D-EDC9-4C2D-B7D8-49B83E0E3054}" srcOrd="0" destOrd="0" presId="urn:microsoft.com/office/officeart/2005/8/layout/process1"/>
    <dgm:cxn modelId="{4D5C004A-292F-419F-81BC-06E9A316F1A7}" srcId="{EC08D8C4-972F-4076-9ED2-5934D94C9AFA}" destId="{D92E729E-0D9D-4C8E-844B-BE4F2E3867E1}" srcOrd="1" destOrd="0" parTransId="{AD9782A3-F4B0-42C3-993B-79EAE1C3D98B}" sibTransId="{890E2D44-06FD-46B2-B5A8-19EF84436F59}"/>
    <dgm:cxn modelId="{D567EB6B-C292-4777-B139-38369510058C}" srcId="{EC08D8C4-972F-4076-9ED2-5934D94C9AFA}" destId="{426CFFB9-0242-49DF-9A86-524FA56F89AF}" srcOrd="7" destOrd="0" parTransId="{6175C0D1-59E7-462C-9956-8A180D471A80}" sibTransId="{5FB98C34-03AD-4E45-928E-B1EF32240D9D}"/>
    <dgm:cxn modelId="{C74D4851-E833-4983-B0C6-7445FE79D88A}" type="presOf" srcId="{EC0E0610-BD41-4D7A-BD0D-AD9B2B9BFE0F}" destId="{ECE172B3-6508-4B5F-BBB3-04F63BF6FAEF}" srcOrd="0" destOrd="0" presId="urn:microsoft.com/office/officeart/2005/8/layout/process1"/>
    <dgm:cxn modelId="{F28E9372-1EAF-4759-BEA7-D8CCF3BAB51C}" type="presOf" srcId="{890E2D44-06FD-46B2-B5A8-19EF84436F59}" destId="{4EDFE412-FCAC-48BE-954F-ACF5D2FFD99C}" srcOrd="0" destOrd="0" presId="urn:microsoft.com/office/officeart/2005/8/layout/process1"/>
    <dgm:cxn modelId="{5AF4727C-9163-4D36-AC9B-0513CC10D9B2}" type="presOf" srcId="{5E282A47-6776-4AC0-9C09-234314E59BBC}" destId="{6A09BFAB-5D60-4866-9865-0D695053F24E}" srcOrd="0" destOrd="0" presId="urn:microsoft.com/office/officeart/2005/8/layout/process1"/>
    <dgm:cxn modelId="{0FF79681-028A-4EE7-B1A2-E14ED33CF1A7}" srcId="{EC08D8C4-972F-4076-9ED2-5934D94C9AFA}" destId="{13C2E48B-D1D2-4F54-87D8-217B739FD073}" srcOrd="0" destOrd="0" parTransId="{4B5FC578-C1B0-48DE-80F0-FE0F8FAB761C}" sibTransId="{D1B650DD-13FF-47E6-A2F0-104C60C27520}"/>
    <dgm:cxn modelId="{1DF7BD84-7755-4EE6-9D79-9927E460E977}" type="presOf" srcId="{19C05499-5638-4BFE-8A60-BB3D9F3DC38F}" destId="{C7506066-496E-4AF6-8268-AF06719BFD59}" srcOrd="1" destOrd="0" presId="urn:microsoft.com/office/officeart/2005/8/layout/process1"/>
    <dgm:cxn modelId="{95907787-FA6C-45DD-B9D2-96576AECCD6F}" srcId="{EC08D8C4-972F-4076-9ED2-5934D94C9AFA}" destId="{7221CE7D-695E-40F4-B578-88D81ECD05DE}" srcOrd="2" destOrd="0" parTransId="{8E84060A-6751-473E-A28D-CAAD8C466D73}" sibTransId="{429598A5-4E3E-43B3-A3A3-D7A42C029A68}"/>
    <dgm:cxn modelId="{D4BE888F-D50F-462C-8A1E-D2502BAE304E}" type="presOf" srcId="{429598A5-4E3E-43B3-A3A3-D7A42C029A68}" destId="{60F48D8B-291D-4CA6-B503-4CAAB9909F9A}" srcOrd="1" destOrd="0" presId="urn:microsoft.com/office/officeart/2005/8/layout/process1"/>
    <dgm:cxn modelId="{CB119A95-AB2C-402B-BF01-E2F87D9415E1}" type="presOf" srcId="{075F30C5-93DD-41F6-833A-80A0655AF747}" destId="{58E7A718-3363-44C1-BA49-9632182DAE63}" srcOrd="0" destOrd="0" presId="urn:microsoft.com/office/officeart/2005/8/layout/process1"/>
    <dgm:cxn modelId="{5E8E2F96-8B67-486D-9255-B6DB89509A8D}" type="presOf" srcId="{D1B650DD-13FF-47E6-A2F0-104C60C27520}" destId="{8A44B56A-A7D4-4EBF-9BC3-62DC09F18E24}" srcOrd="1" destOrd="0" presId="urn:microsoft.com/office/officeart/2005/8/layout/process1"/>
    <dgm:cxn modelId="{A274F89D-F506-42A3-A8F3-D35145B4869C}" srcId="{EC08D8C4-972F-4076-9ED2-5934D94C9AFA}" destId="{075F30C5-93DD-41F6-833A-80A0655AF747}" srcOrd="5" destOrd="0" parTransId="{96C9536E-3FB4-4B0A-BE60-A92E88F09A61}" sibTransId="{19C05499-5638-4BFE-8A60-BB3D9F3DC38F}"/>
    <dgm:cxn modelId="{AA7990A8-4DEE-4531-9DB8-0D0384CAA2BA}" srcId="{EC08D8C4-972F-4076-9ED2-5934D94C9AFA}" destId="{5E282A47-6776-4AC0-9C09-234314E59BBC}" srcOrd="6" destOrd="0" parTransId="{ACD08EC9-A1B5-44A4-A727-1DDD3C350DDD}" sibTransId="{2D15D846-84B4-41B6-A35B-8D04814C678D}"/>
    <dgm:cxn modelId="{BFE62CB3-3F35-440B-B72C-BEEACA55F726}" type="presOf" srcId="{19C05499-5638-4BFE-8A60-BB3D9F3DC38F}" destId="{694261FC-F6AC-4315-9E2B-40F317C15C8F}" srcOrd="0" destOrd="0" presId="urn:microsoft.com/office/officeart/2005/8/layout/process1"/>
    <dgm:cxn modelId="{15C1B9B3-BE96-4233-82DD-F944E3BA0C0F}" type="presOf" srcId="{738F8BFE-4636-43EC-A5EE-5AE6088E5A10}" destId="{4D01C75A-AF4E-4CF5-923D-2CD871CA7610}" srcOrd="0" destOrd="0" presId="urn:microsoft.com/office/officeart/2005/8/layout/process1"/>
    <dgm:cxn modelId="{0C3FA8B4-5FF2-4C84-BE09-EACC29CB36F1}" type="presOf" srcId="{D92E729E-0D9D-4C8E-844B-BE4F2E3867E1}" destId="{9ACEBF93-3880-4E6B-B5C7-536FD88B1E8A}" srcOrd="0" destOrd="0" presId="urn:microsoft.com/office/officeart/2005/8/layout/process1"/>
    <dgm:cxn modelId="{7577F2C1-0029-43C0-A041-C6A62C6BF7C9}" type="presOf" srcId="{E386D13E-B40D-4303-AAA4-86784027DCD0}" destId="{C664E499-F263-4920-B82F-1EB4F4E1B8C8}" srcOrd="1" destOrd="0" presId="urn:microsoft.com/office/officeart/2005/8/layout/process1"/>
    <dgm:cxn modelId="{8E0C62C6-8771-4BE3-A4B8-54398FEBFBD8}" type="presOf" srcId="{890E2D44-06FD-46B2-B5A8-19EF84436F59}" destId="{0BE18E1F-78BF-43E7-A95B-08B42E3112DD}" srcOrd="1" destOrd="0" presId="urn:microsoft.com/office/officeart/2005/8/layout/process1"/>
    <dgm:cxn modelId="{EEDECECD-7E2A-4026-AEC1-44F56F511F83}" type="presOf" srcId="{EC08D8C4-972F-4076-9ED2-5934D94C9AFA}" destId="{515B21FF-3DF1-4CB8-B7B4-B655A7588998}" srcOrd="0" destOrd="0" presId="urn:microsoft.com/office/officeart/2005/8/layout/process1"/>
    <dgm:cxn modelId="{24362CE8-925E-4EB7-861F-3FB16585860C}" type="presOf" srcId="{426CFFB9-0242-49DF-9A86-524FA56F89AF}" destId="{3915E38E-1CA8-44F0-9AB3-84934C414992}" srcOrd="0" destOrd="0" presId="urn:microsoft.com/office/officeart/2005/8/layout/process1"/>
    <dgm:cxn modelId="{52C9C5ED-8751-4C84-9893-596E7BF4A656}" type="presOf" srcId="{E386D13E-B40D-4303-AAA4-86784027DCD0}" destId="{3CF45020-D0C0-4F54-9F4C-2B9A4518B64B}" srcOrd="0" destOrd="0" presId="urn:microsoft.com/office/officeart/2005/8/layout/process1"/>
    <dgm:cxn modelId="{2DE46232-FB88-4DE3-8C4A-0C36F8EF0DAC}" type="presParOf" srcId="{515B21FF-3DF1-4CB8-B7B4-B655A7588998}" destId="{E9574E2A-6F61-4926-9336-15E754603951}" srcOrd="0" destOrd="0" presId="urn:microsoft.com/office/officeart/2005/8/layout/process1"/>
    <dgm:cxn modelId="{E72F7757-80A6-46B7-B6A5-B87E84F5CF79}" type="presParOf" srcId="{515B21FF-3DF1-4CB8-B7B4-B655A7588998}" destId="{DC3FEF44-9BD8-4D84-A4FB-D7D270E5FE18}" srcOrd="1" destOrd="0" presId="urn:microsoft.com/office/officeart/2005/8/layout/process1"/>
    <dgm:cxn modelId="{6A8AC102-1184-4A31-8451-4F7FE9DAC636}" type="presParOf" srcId="{DC3FEF44-9BD8-4D84-A4FB-D7D270E5FE18}" destId="{8A44B56A-A7D4-4EBF-9BC3-62DC09F18E24}" srcOrd="0" destOrd="0" presId="urn:microsoft.com/office/officeart/2005/8/layout/process1"/>
    <dgm:cxn modelId="{F897CD55-787F-4CAD-AAAD-B801825B65F4}" type="presParOf" srcId="{515B21FF-3DF1-4CB8-B7B4-B655A7588998}" destId="{9ACEBF93-3880-4E6B-B5C7-536FD88B1E8A}" srcOrd="2" destOrd="0" presId="urn:microsoft.com/office/officeart/2005/8/layout/process1"/>
    <dgm:cxn modelId="{AC3E160F-A928-4E6F-911D-A0C46ECD712B}" type="presParOf" srcId="{515B21FF-3DF1-4CB8-B7B4-B655A7588998}" destId="{4EDFE412-FCAC-48BE-954F-ACF5D2FFD99C}" srcOrd="3" destOrd="0" presId="urn:microsoft.com/office/officeart/2005/8/layout/process1"/>
    <dgm:cxn modelId="{0ADB2665-A7AE-439F-BDC2-BEAC3372F127}" type="presParOf" srcId="{4EDFE412-FCAC-48BE-954F-ACF5D2FFD99C}" destId="{0BE18E1F-78BF-43E7-A95B-08B42E3112DD}" srcOrd="0" destOrd="0" presId="urn:microsoft.com/office/officeart/2005/8/layout/process1"/>
    <dgm:cxn modelId="{5FBC4A10-F9C1-4028-A89F-128D94DAA2DE}" type="presParOf" srcId="{515B21FF-3DF1-4CB8-B7B4-B655A7588998}" destId="{466F53B2-BD8D-41F5-8BAC-6699673C01F2}" srcOrd="4" destOrd="0" presId="urn:microsoft.com/office/officeart/2005/8/layout/process1"/>
    <dgm:cxn modelId="{2B94D2A2-AEB0-4B08-A5B1-C32334413911}" type="presParOf" srcId="{515B21FF-3DF1-4CB8-B7B4-B655A7588998}" destId="{25797F7D-EDC9-4C2D-B7D8-49B83E0E3054}" srcOrd="5" destOrd="0" presId="urn:microsoft.com/office/officeart/2005/8/layout/process1"/>
    <dgm:cxn modelId="{5F324381-C40B-4754-BB38-05132C7F95E6}" type="presParOf" srcId="{25797F7D-EDC9-4C2D-B7D8-49B83E0E3054}" destId="{60F48D8B-291D-4CA6-B503-4CAAB9909F9A}" srcOrd="0" destOrd="0" presId="urn:microsoft.com/office/officeart/2005/8/layout/process1"/>
    <dgm:cxn modelId="{D7B38B5C-D801-4B93-8A88-E4834BEFFA16}" type="presParOf" srcId="{515B21FF-3DF1-4CB8-B7B4-B655A7588998}" destId="{4D01C75A-AF4E-4CF5-923D-2CD871CA7610}" srcOrd="6" destOrd="0" presId="urn:microsoft.com/office/officeart/2005/8/layout/process1"/>
    <dgm:cxn modelId="{0237EF62-E9D2-43ED-9DFF-3CD15F1F81C5}" type="presParOf" srcId="{515B21FF-3DF1-4CB8-B7B4-B655A7588998}" destId="{39338ADE-4CC2-4C07-9E5C-DED12D928926}" srcOrd="7" destOrd="0" presId="urn:microsoft.com/office/officeart/2005/8/layout/process1"/>
    <dgm:cxn modelId="{EEC26C42-CC0B-4F14-8EB4-423A527C509E}" type="presParOf" srcId="{39338ADE-4CC2-4C07-9E5C-DED12D928926}" destId="{78A0DA26-5CDD-4220-AD74-D7E601B57DC9}" srcOrd="0" destOrd="0" presId="urn:microsoft.com/office/officeart/2005/8/layout/process1"/>
    <dgm:cxn modelId="{697C3FEA-9637-4ED8-906B-D55F14EE76B8}" type="presParOf" srcId="{515B21FF-3DF1-4CB8-B7B4-B655A7588998}" destId="{ECE172B3-6508-4B5F-BBB3-04F63BF6FAEF}" srcOrd="8" destOrd="0" presId="urn:microsoft.com/office/officeart/2005/8/layout/process1"/>
    <dgm:cxn modelId="{DF747075-ECDB-4CDB-A47B-5370D46327AE}" type="presParOf" srcId="{515B21FF-3DF1-4CB8-B7B4-B655A7588998}" destId="{3CF45020-D0C0-4F54-9F4C-2B9A4518B64B}" srcOrd="9" destOrd="0" presId="urn:microsoft.com/office/officeart/2005/8/layout/process1"/>
    <dgm:cxn modelId="{3BDD7695-8B0E-4F3F-935D-E704577D5AAC}" type="presParOf" srcId="{3CF45020-D0C0-4F54-9F4C-2B9A4518B64B}" destId="{C664E499-F263-4920-B82F-1EB4F4E1B8C8}" srcOrd="0" destOrd="0" presId="urn:microsoft.com/office/officeart/2005/8/layout/process1"/>
    <dgm:cxn modelId="{A7BD0ECC-0077-4686-BEF5-A6594C0A0271}" type="presParOf" srcId="{515B21FF-3DF1-4CB8-B7B4-B655A7588998}" destId="{58E7A718-3363-44C1-BA49-9632182DAE63}" srcOrd="10" destOrd="0" presId="urn:microsoft.com/office/officeart/2005/8/layout/process1"/>
    <dgm:cxn modelId="{C34BCFCD-EB24-4976-A6C1-23C00AA34CC3}" type="presParOf" srcId="{515B21FF-3DF1-4CB8-B7B4-B655A7588998}" destId="{694261FC-F6AC-4315-9E2B-40F317C15C8F}" srcOrd="11" destOrd="0" presId="urn:microsoft.com/office/officeart/2005/8/layout/process1"/>
    <dgm:cxn modelId="{CD5B787F-B87D-4CEB-A285-65F63C300972}" type="presParOf" srcId="{694261FC-F6AC-4315-9E2B-40F317C15C8F}" destId="{C7506066-496E-4AF6-8268-AF06719BFD59}" srcOrd="0" destOrd="0" presId="urn:microsoft.com/office/officeart/2005/8/layout/process1"/>
    <dgm:cxn modelId="{BB0E7939-E3E3-405F-8B39-6478CAC1CD24}" type="presParOf" srcId="{515B21FF-3DF1-4CB8-B7B4-B655A7588998}" destId="{6A09BFAB-5D60-4866-9865-0D695053F24E}" srcOrd="12" destOrd="0" presId="urn:microsoft.com/office/officeart/2005/8/layout/process1"/>
    <dgm:cxn modelId="{D2F4E090-C010-43B8-954C-E85B0F8B32B6}" type="presParOf" srcId="{515B21FF-3DF1-4CB8-B7B4-B655A7588998}" destId="{A389259E-F027-4C8D-B3F6-F00E2788ED1A}" srcOrd="13" destOrd="0" presId="urn:microsoft.com/office/officeart/2005/8/layout/process1"/>
    <dgm:cxn modelId="{7EA9932B-5A4A-4DD6-9C78-684825AA58D2}" type="presParOf" srcId="{A389259E-F027-4C8D-B3F6-F00E2788ED1A}" destId="{D2EF3A26-561E-4ABC-B73A-C9F4C9053FBC}" srcOrd="0" destOrd="0" presId="urn:microsoft.com/office/officeart/2005/8/layout/process1"/>
    <dgm:cxn modelId="{8E3BCCC5-05BA-420D-A466-B340910A091D}" type="presParOf" srcId="{515B21FF-3DF1-4CB8-B7B4-B655A7588998}" destId="{3915E38E-1CA8-44F0-9AB3-84934C414992}" srcOrd="1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74E2A-6F61-4926-9336-15E754603951}">
      <dsp:nvSpPr>
        <dsp:cNvPr id="0" name=""/>
        <dsp:cNvSpPr/>
      </dsp:nvSpPr>
      <dsp:spPr>
        <a:xfrm>
          <a:off x="7626" y="2335366"/>
          <a:ext cx="1053771" cy="64660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GB" sz="900" kern="1200"/>
        </a:p>
        <a:p>
          <a:pPr marL="0" lvl="0" indent="0" algn="ctr" defTabSz="400050">
            <a:lnSpc>
              <a:spcPct val="90000"/>
            </a:lnSpc>
            <a:spcBef>
              <a:spcPct val="0"/>
            </a:spcBef>
            <a:spcAft>
              <a:spcPct val="35000"/>
            </a:spcAft>
            <a:buNone/>
          </a:pPr>
          <a:r>
            <a:rPr lang="en-GB" sz="900" kern="1200"/>
            <a:t>WD-1 </a:t>
          </a:r>
          <a:r>
            <a:rPr lang="en-US" sz="900" kern="1200"/>
            <a:t>Block GR Postings of G&amp;A/Marketing</a:t>
          </a:r>
        </a:p>
        <a:p>
          <a:pPr marL="0" lvl="0" indent="0" algn="ctr" defTabSz="400050">
            <a:lnSpc>
              <a:spcPct val="90000"/>
            </a:lnSpc>
            <a:spcBef>
              <a:spcPct val="0"/>
            </a:spcBef>
            <a:spcAft>
              <a:spcPct val="35000"/>
            </a:spcAft>
            <a:buNone/>
          </a:pPr>
          <a:endParaRPr lang="en-GB" sz="900" kern="1200"/>
        </a:p>
      </dsp:txBody>
      <dsp:txXfrm>
        <a:off x="26564" y="2354304"/>
        <a:ext cx="1015895" cy="608724"/>
      </dsp:txXfrm>
    </dsp:sp>
    <dsp:sp modelId="{DC3FEF44-9BD8-4D84-A4FB-D7D270E5FE18}">
      <dsp:nvSpPr>
        <dsp:cNvPr id="0" name=""/>
        <dsp:cNvSpPr/>
      </dsp:nvSpPr>
      <dsp:spPr>
        <a:xfrm>
          <a:off x="1166775"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166775" y="2580266"/>
        <a:ext cx="156379" cy="156801"/>
      </dsp:txXfrm>
    </dsp:sp>
    <dsp:sp modelId="{9ACEBF93-3880-4E6B-B5C7-536FD88B1E8A}">
      <dsp:nvSpPr>
        <dsp:cNvPr id="0" name=""/>
        <dsp:cNvSpPr/>
      </dsp:nvSpPr>
      <dsp:spPr>
        <a:xfrm>
          <a:off x="1482907" y="2335366"/>
          <a:ext cx="1053771" cy="64660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GB" sz="900" b="1" kern="1200">
              <a:solidFill>
                <a:schemeClr val="bg1">
                  <a:lumMod val="50000"/>
                </a:schemeClr>
              </a:solidFill>
            </a:rPr>
            <a:t>Stop booking AP invoices</a:t>
          </a:r>
          <a:endParaRPr lang="en-GB" sz="900" kern="1200"/>
        </a:p>
      </dsp:txBody>
      <dsp:txXfrm>
        <a:off x="1501845" y="2354304"/>
        <a:ext cx="1015895" cy="608724"/>
      </dsp:txXfrm>
    </dsp:sp>
    <dsp:sp modelId="{4EDFE412-FCAC-48BE-954F-ACF5D2FFD99C}">
      <dsp:nvSpPr>
        <dsp:cNvPr id="0" name=""/>
        <dsp:cNvSpPr/>
      </dsp:nvSpPr>
      <dsp:spPr>
        <a:xfrm>
          <a:off x="2642056"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2642056" y="2580266"/>
        <a:ext cx="156379" cy="156801"/>
      </dsp:txXfrm>
    </dsp:sp>
    <dsp:sp modelId="{4D01C75A-AF4E-4CF5-923D-2CD871CA7610}">
      <dsp:nvSpPr>
        <dsp:cNvPr id="0" name=""/>
        <dsp:cNvSpPr/>
      </dsp:nvSpPr>
      <dsp:spPr>
        <a:xfrm>
          <a:off x="2958188" y="2335366"/>
          <a:ext cx="1053771" cy="64660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US" sz="900" b="1" kern="1200">
              <a:solidFill>
                <a:srgbClr val="407EC9">
                  <a:lumMod val="75000"/>
                </a:srgbClr>
              </a:solidFill>
              <a:latin typeface="Arial" panose="020B0604020202020204"/>
              <a:ea typeface="+mn-ea"/>
              <a:cs typeface="+mn-cs"/>
            </a:rPr>
            <a:t>Automatic settlement rules creation</a:t>
          </a:r>
        </a:p>
      </dsp:txBody>
      <dsp:txXfrm>
        <a:off x="2977126" y="2354304"/>
        <a:ext cx="1015895" cy="608724"/>
      </dsp:txXfrm>
    </dsp:sp>
    <dsp:sp modelId="{39338ADE-4CC2-4C07-9E5C-DED12D928926}">
      <dsp:nvSpPr>
        <dsp:cNvPr id="0" name=""/>
        <dsp:cNvSpPr/>
      </dsp:nvSpPr>
      <dsp:spPr>
        <a:xfrm>
          <a:off x="4117337"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4117337" y="2580266"/>
        <a:ext cx="156379" cy="156801"/>
      </dsp:txXfrm>
    </dsp:sp>
    <dsp:sp modelId="{A24D6BD5-55F5-48C0-B1BB-F8459216CC27}">
      <dsp:nvSpPr>
        <dsp:cNvPr id="0" name=""/>
        <dsp:cNvSpPr/>
      </dsp:nvSpPr>
      <dsp:spPr>
        <a:xfrm>
          <a:off x="4433469" y="2335366"/>
          <a:ext cx="1053771" cy="64660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WD1: </a:t>
          </a:r>
          <a:r>
            <a:rPr lang="en-GB" sz="900" b="1" kern="1200">
              <a:solidFill>
                <a:schemeClr val="accent6">
                  <a:lumMod val="75000"/>
                </a:schemeClr>
              </a:solidFill>
            </a:rPr>
            <a:t>Run of branded WBS settlements</a:t>
          </a:r>
          <a:endParaRPr lang="en-GB" sz="900" kern="1200"/>
        </a:p>
      </dsp:txBody>
      <dsp:txXfrm>
        <a:off x="4452407" y="2354304"/>
        <a:ext cx="1015895" cy="608724"/>
      </dsp:txXfrm>
    </dsp:sp>
    <dsp:sp modelId="{0FC483F7-9483-4C05-808C-F9949386E218}">
      <dsp:nvSpPr>
        <dsp:cNvPr id="0" name=""/>
        <dsp:cNvSpPr/>
      </dsp:nvSpPr>
      <dsp:spPr>
        <a:xfrm>
          <a:off x="5592618"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592618" y="2580266"/>
        <a:ext cx="156379" cy="156801"/>
      </dsp:txXfrm>
    </dsp:sp>
    <dsp:sp modelId="{62B0A2ED-73A3-4B6C-8D86-4799675AA09D}">
      <dsp:nvSpPr>
        <dsp:cNvPr id="0" name=""/>
        <dsp:cNvSpPr/>
      </dsp:nvSpPr>
      <dsp:spPr>
        <a:xfrm>
          <a:off x="5908749" y="2238752"/>
          <a:ext cx="1053771" cy="839828"/>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WD2: </a:t>
          </a:r>
          <a:r>
            <a:rPr lang="en-GB" sz="900" b="1" kern="1200">
              <a:solidFill>
                <a:schemeClr val="accent6">
                  <a:lumMod val="75000"/>
                </a:schemeClr>
              </a:solidFill>
            </a:rPr>
            <a:t>Run of branded WBS settlements</a:t>
          </a:r>
          <a:endParaRPr lang="en-GB" sz="900" kern="1200"/>
        </a:p>
      </dsp:txBody>
      <dsp:txXfrm>
        <a:off x="5933347" y="2263350"/>
        <a:ext cx="1004575" cy="790632"/>
      </dsp:txXfrm>
    </dsp:sp>
    <dsp:sp modelId="{34F283D4-65B2-43CB-8469-0CD3BDA14357}">
      <dsp:nvSpPr>
        <dsp:cNvPr id="0" name=""/>
        <dsp:cNvSpPr/>
      </dsp:nvSpPr>
      <dsp:spPr>
        <a:xfrm>
          <a:off x="7067898"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067898" y="2580266"/>
        <a:ext cx="156379" cy="156801"/>
      </dsp:txXfrm>
    </dsp:sp>
    <dsp:sp modelId="{ECE172B3-6508-4B5F-BBB3-04F63BF6FAEF}">
      <dsp:nvSpPr>
        <dsp:cNvPr id="0" name=""/>
        <dsp:cNvSpPr/>
      </dsp:nvSpPr>
      <dsp:spPr>
        <a:xfrm>
          <a:off x="7384030" y="2238752"/>
          <a:ext cx="1053771" cy="839828"/>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bg1">
                  <a:lumMod val="50000"/>
                </a:schemeClr>
              </a:solidFill>
            </a:rPr>
            <a:t>Last submission of manual journals</a:t>
          </a:r>
          <a:endParaRPr lang="en-GB" sz="900" kern="1200"/>
        </a:p>
      </dsp:txBody>
      <dsp:txXfrm>
        <a:off x="7408628" y="2263350"/>
        <a:ext cx="1004575" cy="790632"/>
      </dsp:txXfrm>
    </dsp:sp>
    <dsp:sp modelId="{3CF45020-D0C0-4F54-9F4C-2B9A4518B64B}">
      <dsp:nvSpPr>
        <dsp:cNvPr id="0" name=""/>
        <dsp:cNvSpPr/>
      </dsp:nvSpPr>
      <dsp:spPr>
        <a:xfrm>
          <a:off x="8543179" y="2527999"/>
          <a:ext cx="223399" cy="2613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8543179" y="2580266"/>
        <a:ext cx="156379" cy="156801"/>
      </dsp:txXfrm>
    </dsp:sp>
    <dsp:sp modelId="{3915E38E-1CA8-44F0-9AB3-84934C414992}">
      <dsp:nvSpPr>
        <dsp:cNvPr id="0" name=""/>
        <dsp:cNvSpPr/>
      </dsp:nvSpPr>
      <dsp:spPr>
        <a:xfrm>
          <a:off x="8859311" y="2238752"/>
          <a:ext cx="1053771" cy="839828"/>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accent6">
                  <a:lumMod val="75000"/>
                </a:schemeClr>
              </a:solidFill>
            </a:rPr>
            <a:t>Run of branded WBS settlements</a:t>
          </a:r>
          <a:endParaRPr lang="en-GB" sz="900" kern="1200"/>
        </a:p>
      </dsp:txBody>
      <dsp:txXfrm>
        <a:off x="8883909" y="2263350"/>
        <a:ext cx="1004575" cy="7906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74E2A-6F61-4926-9336-15E754603951}">
      <dsp:nvSpPr>
        <dsp:cNvPr id="0" name=""/>
        <dsp:cNvSpPr/>
      </dsp:nvSpPr>
      <dsp:spPr>
        <a:xfrm>
          <a:off x="4844" y="2334206"/>
          <a:ext cx="1238877" cy="64892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GB" sz="900" kern="1200"/>
        </a:p>
        <a:p>
          <a:pPr marL="0" lvl="0" indent="0" algn="ctr" defTabSz="400050">
            <a:lnSpc>
              <a:spcPct val="90000"/>
            </a:lnSpc>
            <a:spcBef>
              <a:spcPct val="0"/>
            </a:spcBef>
            <a:spcAft>
              <a:spcPct val="35000"/>
            </a:spcAft>
            <a:buNone/>
          </a:pPr>
          <a:r>
            <a:rPr lang="en-GB" sz="900" kern="1200"/>
            <a:t>WD-1 </a:t>
          </a:r>
          <a:r>
            <a:rPr lang="en-US" sz="900" kern="1200"/>
            <a:t>Block GR Postings of G&amp;A/Marketing</a:t>
          </a:r>
        </a:p>
        <a:p>
          <a:pPr marL="0" lvl="0" indent="0" algn="ctr" defTabSz="400050">
            <a:lnSpc>
              <a:spcPct val="90000"/>
            </a:lnSpc>
            <a:spcBef>
              <a:spcPct val="0"/>
            </a:spcBef>
            <a:spcAft>
              <a:spcPct val="35000"/>
            </a:spcAft>
            <a:buNone/>
          </a:pPr>
          <a:endParaRPr lang="en-GB" sz="900" kern="1200"/>
        </a:p>
      </dsp:txBody>
      <dsp:txXfrm>
        <a:off x="23850" y="2353212"/>
        <a:ext cx="1200865" cy="610909"/>
      </dsp:txXfrm>
    </dsp:sp>
    <dsp:sp modelId="{DC3FEF44-9BD8-4D84-A4FB-D7D270E5FE18}">
      <dsp:nvSpPr>
        <dsp:cNvPr id="0" name=""/>
        <dsp:cNvSpPr/>
      </dsp:nvSpPr>
      <dsp:spPr>
        <a:xfrm>
          <a:off x="1367609" y="2505046"/>
          <a:ext cx="262642" cy="30724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367609" y="2566494"/>
        <a:ext cx="183849" cy="184345"/>
      </dsp:txXfrm>
    </dsp:sp>
    <dsp:sp modelId="{9ACEBF93-3880-4E6B-B5C7-536FD88B1E8A}">
      <dsp:nvSpPr>
        <dsp:cNvPr id="0" name=""/>
        <dsp:cNvSpPr/>
      </dsp:nvSpPr>
      <dsp:spPr>
        <a:xfrm>
          <a:off x="1739272" y="2334206"/>
          <a:ext cx="1238877" cy="64892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GB" sz="900" b="1" kern="1200">
              <a:solidFill>
                <a:schemeClr val="bg1">
                  <a:lumMod val="50000"/>
                </a:schemeClr>
              </a:solidFill>
            </a:rPr>
            <a:t>Stop booking AP invoices</a:t>
          </a:r>
          <a:endParaRPr lang="en-GB" sz="900" kern="1200"/>
        </a:p>
      </dsp:txBody>
      <dsp:txXfrm>
        <a:off x="1758278" y="2353212"/>
        <a:ext cx="1200865" cy="610909"/>
      </dsp:txXfrm>
    </dsp:sp>
    <dsp:sp modelId="{4EDFE412-FCAC-48BE-954F-ACF5D2FFD99C}">
      <dsp:nvSpPr>
        <dsp:cNvPr id="0" name=""/>
        <dsp:cNvSpPr/>
      </dsp:nvSpPr>
      <dsp:spPr>
        <a:xfrm>
          <a:off x="3102038" y="2505046"/>
          <a:ext cx="262642" cy="30724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102038" y="2566494"/>
        <a:ext cx="183849" cy="184345"/>
      </dsp:txXfrm>
    </dsp:sp>
    <dsp:sp modelId="{4D01C75A-AF4E-4CF5-923D-2CD871CA7610}">
      <dsp:nvSpPr>
        <dsp:cNvPr id="0" name=""/>
        <dsp:cNvSpPr/>
      </dsp:nvSpPr>
      <dsp:spPr>
        <a:xfrm>
          <a:off x="3473701" y="2334206"/>
          <a:ext cx="1238877" cy="64892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GB" sz="900" b="1" kern="1200">
              <a:solidFill>
                <a:schemeClr val="accent6">
                  <a:lumMod val="75000"/>
                </a:schemeClr>
              </a:solidFill>
            </a:rPr>
            <a:t>Run of multi-brand WBS settlements</a:t>
          </a:r>
          <a:endParaRPr lang="en-US" sz="900" b="1" kern="1200">
            <a:solidFill>
              <a:srgbClr val="407EC9">
                <a:lumMod val="75000"/>
              </a:srgbClr>
            </a:solidFill>
            <a:latin typeface="Arial" panose="020B0604020202020204"/>
            <a:ea typeface="+mn-ea"/>
            <a:cs typeface="+mn-cs"/>
          </a:endParaRPr>
        </a:p>
      </dsp:txBody>
      <dsp:txXfrm>
        <a:off x="3492707" y="2353212"/>
        <a:ext cx="1200865" cy="610909"/>
      </dsp:txXfrm>
    </dsp:sp>
    <dsp:sp modelId="{39338ADE-4CC2-4C07-9E5C-DED12D928926}">
      <dsp:nvSpPr>
        <dsp:cNvPr id="0" name=""/>
        <dsp:cNvSpPr/>
      </dsp:nvSpPr>
      <dsp:spPr>
        <a:xfrm>
          <a:off x="4836467" y="2505046"/>
          <a:ext cx="262642" cy="30724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4836467" y="2566494"/>
        <a:ext cx="183849" cy="184345"/>
      </dsp:txXfrm>
    </dsp:sp>
    <dsp:sp modelId="{A24D6BD5-55F5-48C0-B1BB-F8459216CC27}">
      <dsp:nvSpPr>
        <dsp:cNvPr id="0" name=""/>
        <dsp:cNvSpPr/>
      </dsp:nvSpPr>
      <dsp:spPr>
        <a:xfrm>
          <a:off x="5208130" y="2334206"/>
          <a:ext cx="1238877" cy="64892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WD2: </a:t>
          </a:r>
          <a:r>
            <a:rPr lang="en-GB" sz="900" b="1" kern="1200">
              <a:solidFill>
                <a:schemeClr val="accent6">
                  <a:lumMod val="75000"/>
                </a:schemeClr>
              </a:solidFill>
            </a:rPr>
            <a:t>Run of multi-brand WBS settlements</a:t>
          </a:r>
          <a:endParaRPr lang="en-GB" sz="900" kern="1200"/>
        </a:p>
      </dsp:txBody>
      <dsp:txXfrm>
        <a:off x="5227136" y="2353212"/>
        <a:ext cx="1200865" cy="610909"/>
      </dsp:txXfrm>
    </dsp:sp>
    <dsp:sp modelId="{0FC483F7-9483-4C05-808C-F9949386E218}">
      <dsp:nvSpPr>
        <dsp:cNvPr id="0" name=""/>
        <dsp:cNvSpPr/>
      </dsp:nvSpPr>
      <dsp:spPr>
        <a:xfrm>
          <a:off x="6570896" y="2505046"/>
          <a:ext cx="262642" cy="30724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6570896" y="2566494"/>
        <a:ext cx="183849" cy="184345"/>
      </dsp:txXfrm>
    </dsp:sp>
    <dsp:sp modelId="{ECE172B3-6508-4B5F-BBB3-04F63BF6FAEF}">
      <dsp:nvSpPr>
        <dsp:cNvPr id="0" name=""/>
        <dsp:cNvSpPr/>
      </dsp:nvSpPr>
      <dsp:spPr>
        <a:xfrm>
          <a:off x="6942559" y="2237245"/>
          <a:ext cx="1238877" cy="842842"/>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bg1">
                  <a:lumMod val="50000"/>
                </a:schemeClr>
              </a:solidFill>
            </a:rPr>
            <a:t>Last submission of manual journals</a:t>
          </a:r>
          <a:endParaRPr lang="en-GB" sz="900" kern="1200"/>
        </a:p>
      </dsp:txBody>
      <dsp:txXfrm>
        <a:off x="6967245" y="2261931"/>
        <a:ext cx="1189505" cy="793470"/>
      </dsp:txXfrm>
    </dsp:sp>
    <dsp:sp modelId="{3CF45020-D0C0-4F54-9F4C-2B9A4518B64B}">
      <dsp:nvSpPr>
        <dsp:cNvPr id="0" name=""/>
        <dsp:cNvSpPr/>
      </dsp:nvSpPr>
      <dsp:spPr>
        <a:xfrm>
          <a:off x="8305324" y="2505046"/>
          <a:ext cx="262642" cy="307241"/>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305324" y="2566494"/>
        <a:ext cx="183849" cy="184345"/>
      </dsp:txXfrm>
    </dsp:sp>
    <dsp:sp modelId="{3915E38E-1CA8-44F0-9AB3-84934C414992}">
      <dsp:nvSpPr>
        <dsp:cNvPr id="0" name=""/>
        <dsp:cNvSpPr/>
      </dsp:nvSpPr>
      <dsp:spPr>
        <a:xfrm>
          <a:off x="8676988" y="2237245"/>
          <a:ext cx="1238877" cy="842842"/>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accent6">
                  <a:lumMod val="75000"/>
                </a:schemeClr>
              </a:solidFill>
            </a:rPr>
            <a:t>Run of multi-brand WBS settlements</a:t>
          </a:r>
          <a:endParaRPr lang="en-GB" sz="900" kern="1200"/>
        </a:p>
      </dsp:txBody>
      <dsp:txXfrm>
        <a:off x="8701674" y="2261931"/>
        <a:ext cx="1189505" cy="7934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74E2A-6F61-4926-9336-15E754603951}">
      <dsp:nvSpPr>
        <dsp:cNvPr id="0" name=""/>
        <dsp:cNvSpPr/>
      </dsp:nvSpPr>
      <dsp:spPr>
        <a:xfrm>
          <a:off x="8231" y="2336131"/>
          <a:ext cx="917059" cy="64507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GB" sz="900" kern="1200"/>
        </a:p>
        <a:p>
          <a:pPr marL="0" lvl="0" indent="0" algn="ctr" defTabSz="400050">
            <a:lnSpc>
              <a:spcPct val="90000"/>
            </a:lnSpc>
            <a:spcBef>
              <a:spcPct val="0"/>
            </a:spcBef>
            <a:spcAft>
              <a:spcPct val="35000"/>
            </a:spcAft>
            <a:buNone/>
          </a:pPr>
          <a:r>
            <a:rPr lang="en-GB" sz="900" kern="1200"/>
            <a:t>WD-1 </a:t>
          </a:r>
          <a:r>
            <a:rPr lang="en-US" sz="900" kern="1200"/>
            <a:t>Block GR Postings of G&amp;A/Marketing</a:t>
          </a:r>
        </a:p>
        <a:p>
          <a:pPr marL="0" lvl="0" indent="0" algn="ctr" defTabSz="400050">
            <a:lnSpc>
              <a:spcPct val="90000"/>
            </a:lnSpc>
            <a:spcBef>
              <a:spcPct val="0"/>
            </a:spcBef>
            <a:spcAft>
              <a:spcPct val="35000"/>
            </a:spcAft>
            <a:buNone/>
          </a:pPr>
          <a:endParaRPr lang="en-GB" sz="900" kern="1200"/>
        </a:p>
      </dsp:txBody>
      <dsp:txXfrm>
        <a:off x="27124" y="2355024"/>
        <a:ext cx="879273" cy="607284"/>
      </dsp:txXfrm>
    </dsp:sp>
    <dsp:sp modelId="{DC3FEF44-9BD8-4D84-A4FB-D7D270E5FE18}">
      <dsp:nvSpPr>
        <dsp:cNvPr id="0" name=""/>
        <dsp:cNvSpPr/>
      </dsp:nvSpPr>
      <dsp:spPr>
        <a:xfrm>
          <a:off x="1016997"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1016997" y="2590437"/>
        <a:ext cx="136091" cy="136458"/>
      </dsp:txXfrm>
    </dsp:sp>
    <dsp:sp modelId="{9ACEBF93-3880-4E6B-B5C7-536FD88B1E8A}">
      <dsp:nvSpPr>
        <dsp:cNvPr id="0" name=""/>
        <dsp:cNvSpPr/>
      </dsp:nvSpPr>
      <dsp:spPr>
        <a:xfrm>
          <a:off x="1292115" y="2336131"/>
          <a:ext cx="917059" cy="64507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GB" sz="900" b="1" kern="1200">
              <a:solidFill>
                <a:schemeClr val="bg1">
                  <a:lumMod val="50000"/>
                </a:schemeClr>
              </a:solidFill>
            </a:rPr>
            <a:t>Stop booking AP invoices</a:t>
          </a:r>
          <a:endParaRPr lang="en-GB" sz="900" kern="1200"/>
        </a:p>
      </dsp:txBody>
      <dsp:txXfrm>
        <a:off x="1311008" y="2355024"/>
        <a:ext cx="879273" cy="607284"/>
      </dsp:txXfrm>
    </dsp:sp>
    <dsp:sp modelId="{4EDFE412-FCAC-48BE-954F-ACF5D2FFD99C}">
      <dsp:nvSpPr>
        <dsp:cNvPr id="0" name=""/>
        <dsp:cNvSpPr/>
      </dsp:nvSpPr>
      <dsp:spPr>
        <a:xfrm>
          <a:off x="2300881"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2300881" y="2590437"/>
        <a:ext cx="136091" cy="136458"/>
      </dsp:txXfrm>
    </dsp:sp>
    <dsp:sp modelId="{466F53B2-BD8D-41F5-8BAC-6699673C01F2}">
      <dsp:nvSpPr>
        <dsp:cNvPr id="0" name=""/>
        <dsp:cNvSpPr/>
      </dsp:nvSpPr>
      <dsp:spPr>
        <a:xfrm>
          <a:off x="2575999" y="2239746"/>
          <a:ext cx="917059" cy="83784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WD1: </a:t>
          </a:r>
          <a:r>
            <a:rPr lang="en-GB" sz="900" b="1" kern="1200">
              <a:solidFill>
                <a:schemeClr val="bg1">
                  <a:lumMod val="50000"/>
                </a:schemeClr>
              </a:solidFill>
            </a:rPr>
            <a:t>Close sales (accounts)</a:t>
          </a:r>
          <a:endParaRPr lang="en-GB" sz="900" kern="1200"/>
        </a:p>
      </dsp:txBody>
      <dsp:txXfrm>
        <a:off x="2600539" y="2264286"/>
        <a:ext cx="867979" cy="788761"/>
      </dsp:txXfrm>
    </dsp:sp>
    <dsp:sp modelId="{25797F7D-EDC9-4C2D-B7D8-49B83E0E3054}">
      <dsp:nvSpPr>
        <dsp:cNvPr id="0" name=""/>
        <dsp:cNvSpPr/>
      </dsp:nvSpPr>
      <dsp:spPr>
        <a:xfrm>
          <a:off x="3584765"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584765" y="2590437"/>
        <a:ext cx="136091" cy="136458"/>
      </dsp:txXfrm>
    </dsp:sp>
    <dsp:sp modelId="{4D01C75A-AF4E-4CF5-923D-2CD871CA7610}">
      <dsp:nvSpPr>
        <dsp:cNvPr id="0" name=""/>
        <dsp:cNvSpPr/>
      </dsp:nvSpPr>
      <dsp:spPr>
        <a:xfrm>
          <a:off x="3859883" y="2336131"/>
          <a:ext cx="917059" cy="645070"/>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t>WD2: </a:t>
          </a:r>
          <a:r>
            <a:rPr lang="en-GB" sz="900" b="1" kern="1200">
              <a:solidFill>
                <a:schemeClr val="accent6">
                  <a:lumMod val="75000"/>
                </a:schemeClr>
              </a:solidFill>
            </a:rPr>
            <a:t>Run of multi-brand WBS</a:t>
          </a:r>
          <a:endParaRPr lang="en-US" sz="900" b="1" kern="1200">
            <a:solidFill>
              <a:srgbClr val="407EC9">
                <a:lumMod val="75000"/>
              </a:srgbClr>
            </a:solidFill>
            <a:latin typeface="Arial" panose="020B0604020202020204"/>
            <a:ea typeface="+mn-ea"/>
            <a:cs typeface="+mn-cs"/>
          </a:endParaRPr>
        </a:p>
      </dsp:txBody>
      <dsp:txXfrm>
        <a:off x="3878776" y="2355024"/>
        <a:ext cx="879273" cy="607284"/>
      </dsp:txXfrm>
    </dsp:sp>
    <dsp:sp modelId="{39338ADE-4CC2-4C07-9E5C-DED12D928926}">
      <dsp:nvSpPr>
        <dsp:cNvPr id="0" name=""/>
        <dsp:cNvSpPr/>
      </dsp:nvSpPr>
      <dsp:spPr>
        <a:xfrm>
          <a:off x="4868649"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GB" sz="1000" kern="1200"/>
        </a:p>
      </dsp:txBody>
      <dsp:txXfrm>
        <a:off x="4868649" y="2590437"/>
        <a:ext cx="136091" cy="136458"/>
      </dsp:txXfrm>
    </dsp:sp>
    <dsp:sp modelId="{ECE172B3-6508-4B5F-BBB3-04F63BF6FAEF}">
      <dsp:nvSpPr>
        <dsp:cNvPr id="0" name=""/>
        <dsp:cNvSpPr/>
      </dsp:nvSpPr>
      <dsp:spPr>
        <a:xfrm>
          <a:off x="5143766" y="2239746"/>
          <a:ext cx="917059" cy="83784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bg1">
                  <a:lumMod val="50000"/>
                </a:schemeClr>
              </a:solidFill>
            </a:rPr>
            <a:t>Last submission of manual journals</a:t>
          </a:r>
          <a:endParaRPr lang="en-GB" sz="900" kern="1200"/>
        </a:p>
      </dsp:txBody>
      <dsp:txXfrm>
        <a:off x="5168306" y="2264286"/>
        <a:ext cx="867979" cy="788761"/>
      </dsp:txXfrm>
    </dsp:sp>
    <dsp:sp modelId="{3CF45020-D0C0-4F54-9F4C-2B9A4518B64B}">
      <dsp:nvSpPr>
        <dsp:cNvPr id="0" name=""/>
        <dsp:cNvSpPr/>
      </dsp:nvSpPr>
      <dsp:spPr>
        <a:xfrm>
          <a:off x="6152532"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152532" y="2590437"/>
        <a:ext cx="136091" cy="136458"/>
      </dsp:txXfrm>
    </dsp:sp>
    <dsp:sp modelId="{58E7A718-3363-44C1-BA49-9632182DAE63}">
      <dsp:nvSpPr>
        <dsp:cNvPr id="0" name=""/>
        <dsp:cNvSpPr/>
      </dsp:nvSpPr>
      <dsp:spPr>
        <a:xfrm>
          <a:off x="6427650" y="2239746"/>
          <a:ext cx="917059" cy="83784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bg1">
                  <a:lumMod val="50000"/>
                </a:schemeClr>
              </a:solidFill>
            </a:rPr>
            <a:t>Confirmation of ML close</a:t>
          </a:r>
          <a:r>
            <a:rPr lang="en-GB" sz="900" kern="1200"/>
            <a:t> </a:t>
          </a:r>
        </a:p>
      </dsp:txBody>
      <dsp:txXfrm>
        <a:off x="6452190" y="2264286"/>
        <a:ext cx="867979" cy="788761"/>
      </dsp:txXfrm>
    </dsp:sp>
    <dsp:sp modelId="{694261FC-F6AC-4315-9E2B-40F317C15C8F}">
      <dsp:nvSpPr>
        <dsp:cNvPr id="0" name=""/>
        <dsp:cNvSpPr/>
      </dsp:nvSpPr>
      <dsp:spPr>
        <a:xfrm>
          <a:off x="7436416"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7436416" y="2590437"/>
        <a:ext cx="136091" cy="136458"/>
      </dsp:txXfrm>
    </dsp:sp>
    <dsp:sp modelId="{6A09BFAB-5D60-4866-9865-0D695053F24E}">
      <dsp:nvSpPr>
        <dsp:cNvPr id="0" name=""/>
        <dsp:cNvSpPr/>
      </dsp:nvSpPr>
      <dsp:spPr>
        <a:xfrm>
          <a:off x="7711534" y="2239746"/>
          <a:ext cx="917059" cy="83784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bg1">
                  <a:lumMod val="50000"/>
                </a:schemeClr>
              </a:solidFill>
            </a:rPr>
            <a:t>COGS split completion</a:t>
          </a:r>
          <a:r>
            <a:rPr lang="en-GB" sz="900" kern="1200"/>
            <a:t> </a:t>
          </a:r>
        </a:p>
      </dsp:txBody>
      <dsp:txXfrm>
        <a:off x="7736074" y="2264286"/>
        <a:ext cx="867979" cy="788761"/>
      </dsp:txXfrm>
    </dsp:sp>
    <dsp:sp modelId="{A389259E-F027-4C8D-B3F6-F00E2788ED1A}">
      <dsp:nvSpPr>
        <dsp:cNvPr id="0" name=""/>
        <dsp:cNvSpPr/>
      </dsp:nvSpPr>
      <dsp:spPr>
        <a:xfrm>
          <a:off x="8720300" y="2544951"/>
          <a:ext cx="194416" cy="22743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8720300" y="2590437"/>
        <a:ext cx="136091" cy="136458"/>
      </dsp:txXfrm>
    </dsp:sp>
    <dsp:sp modelId="{3915E38E-1CA8-44F0-9AB3-84934C414992}">
      <dsp:nvSpPr>
        <dsp:cNvPr id="0" name=""/>
        <dsp:cNvSpPr/>
      </dsp:nvSpPr>
      <dsp:spPr>
        <a:xfrm>
          <a:off x="8995418" y="2239746"/>
          <a:ext cx="917059" cy="837841"/>
        </a:xfrm>
        <a:prstGeom prst="roundRect">
          <a:avLst>
            <a:gd name="adj" fmla="val 10000"/>
          </a:avLst>
        </a:prstGeom>
        <a:solidFill>
          <a:schemeClr val="lt1">
            <a:hueOff val="0"/>
            <a:satOff val="0"/>
            <a:lumOff val="0"/>
            <a:alphaOff val="0"/>
          </a:schemeClr>
        </a:solidFill>
        <a:ln w="19050" cap="flat" cmpd="sng" algn="ctr">
          <a:solidFill>
            <a:schemeClr val="tx2">
              <a:lumMod val="90000"/>
              <a:lumOff val="10000"/>
            </a:schemeClr>
          </a:solidFill>
          <a:prstDash val="solid"/>
          <a:miter lim="800000"/>
        </a:ln>
        <a:effectLst>
          <a:outerShdw blurRad="63500" sx="102000" sy="102000" algn="ctr" rotWithShape="0">
            <a:prstClr val="black">
              <a:alpha val="40000"/>
            </a:prst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000" tIns="34290" rIns="34290" bIns="34290" numCol="1" spcCol="1270" anchor="ctr" anchorCtr="0">
          <a:noAutofit/>
        </a:bodyPr>
        <a:lstStyle/>
        <a:p>
          <a:pPr marL="0" lvl="0" indent="0" algn="l" defTabSz="400050">
            <a:lnSpc>
              <a:spcPct val="90000"/>
            </a:lnSpc>
            <a:spcBef>
              <a:spcPct val="0"/>
            </a:spcBef>
            <a:spcAft>
              <a:spcPct val="35000"/>
            </a:spcAft>
            <a:buNone/>
          </a:pPr>
          <a:r>
            <a:rPr lang="en-GB" sz="900" kern="1200"/>
            <a:t>WD3: </a:t>
          </a:r>
          <a:r>
            <a:rPr lang="en-GB" sz="900" b="1" kern="1200">
              <a:solidFill>
                <a:schemeClr val="accent6">
                  <a:lumMod val="75000"/>
                </a:schemeClr>
              </a:solidFill>
            </a:rPr>
            <a:t>Run of multi-brand WBS allocation</a:t>
          </a:r>
          <a:endParaRPr lang="en-GB" sz="900" kern="1200"/>
        </a:p>
      </dsp:txBody>
      <dsp:txXfrm>
        <a:off x="9019958" y="2264286"/>
        <a:ext cx="867979" cy="78876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6130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44EB3-E743-414B-A21A-64E051E5FA09}" type="slidenum">
              <a:rPr lang="en-GB" smtClean="0"/>
              <a:t>24</a:t>
            </a:fld>
            <a:endParaRPr lang="en-GB"/>
          </a:p>
        </p:txBody>
      </p:sp>
    </p:spTree>
    <p:extLst>
      <p:ext uri="{BB962C8B-B14F-4D97-AF65-F5344CB8AC3E}">
        <p14:creationId xmlns:p14="http://schemas.microsoft.com/office/powerpoint/2010/main" val="32070807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581082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 id="2147483995"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15.svg"/><Relationship Id="rId4" Type="http://schemas.openxmlformats.org/officeDocument/2006/relationships/diagramQuickStyle" Target="../diagrams/quickStyle1.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15.svg"/><Relationship Id="rId4" Type="http://schemas.openxmlformats.org/officeDocument/2006/relationships/diagramQuickStyle" Target="../diagrams/quickStyle2.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diagramLayout" Target="../diagrams/layout3.xml"/><Relationship Id="rId7" Type="http://schemas.openxmlformats.org/officeDocument/2006/relationships/image" Target="../media/image12.png"/><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5.svg"/><Relationship Id="rId4" Type="http://schemas.openxmlformats.org/officeDocument/2006/relationships/diagramQuickStyle" Target="../diagrams/quickStyle3.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4" Type="http://schemas.microsoft.com/office/2007/relationships/hdphoto" Target="../media/hdphoto3.wdp"/></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6" Type="http://schemas.microsoft.com/office/2007/relationships/hdphoto" Target="../media/hdphoto4.wdp"/><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png"/><Relationship Id="rId7" Type="http://schemas.microsoft.com/office/2007/relationships/hdphoto" Target="../media/hdphoto6.wdp"/><Relationship Id="rId2" Type="http://schemas.openxmlformats.org/officeDocument/2006/relationships/image" Target="../media/image47.png"/><Relationship Id="rId1" Type="http://schemas.openxmlformats.org/officeDocument/2006/relationships/slideLayout" Target="../slideLayouts/slideLayout8.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2.png"/><Relationship Id="rId4" Type="http://schemas.microsoft.com/office/2007/relationships/hdphoto" Target="../media/hdphoto5.wdp"/><Relationship Id="rId9" Type="http://schemas.microsoft.com/office/2007/relationships/hdphoto" Target="../media/hdphoto7.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microsoft.com/office/2007/relationships/hdphoto" Target="../media/hdphoto8.wdp"/></Relationships>
</file>

<file path=ppt/slides/_rels/slide25.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56.png"/><Relationship Id="rId1" Type="http://schemas.openxmlformats.org/officeDocument/2006/relationships/slideLayout" Target="../slideLayouts/slideLayout8.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8.xml"/><Relationship Id="rId6" Type="http://schemas.openxmlformats.org/officeDocument/2006/relationships/image" Target="../media/image63.png"/><Relationship Id="rId5" Type="http://schemas.openxmlformats.org/officeDocument/2006/relationships/image" Target="../media/image62.png"/><Relationship Id="rId4" Type="http://schemas.microsoft.com/office/2007/relationships/hdphoto" Target="../media/hdphoto10.wdp"/></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GR/IR Closing Activities</a:t>
            </a: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Intercompany and Period End Closing</a:t>
            </a: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548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5612"/>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Internal Order Settlement </a:t>
            </a:r>
          </a:p>
          <a:p>
            <a:pPr algn="ctr"/>
            <a:r>
              <a:rPr lang="en-GB" sz="1400" b="1">
                <a:solidFill>
                  <a:srgbClr val="FFFFFF"/>
                </a:solidFill>
                <a:cs typeface="Arial"/>
              </a:rPr>
              <a:t>(Leaf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000000"/>
                </a:solidFill>
                <a:latin typeface="Arial" charset="0"/>
                <a:cs typeface="Arial" charset="0"/>
              </a:rPr>
              <a:t>Above Brand Contribution (ABC) </a:t>
            </a:r>
          </a:p>
          <a:p>
            <a:pPr algn="ctr"/>
            <a:r>
              <a:rPr lang="en-US" sz="1400" b="1">
                <a:solidFill>
                  <a:srgbClr val="000000"/>
                </a:solidFill>
                <a:latin typeface="Arial" charset="0"/>
                <a:cs typeface="Arial" charset="0"/>
              </a:rPr>
              <a:t>WBS Settlement / Allocation</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Cost Center Distribution and Assessment</a:t>
            </a:r>
            <a:endParaRPr lang="en-US" sz="1400" b="1">
              <a:solidFill>
                <a:srgbClr val="FFFFFF"/>
              </a:solidFill>
              <a:latin typeface="Arial" panose="020B0604020202020204"/>
              <a:cs typeface="Arial"/>
            </a:endParaRPr>
          </a:p>
        </p:txBody>
      </p:sp>
      <p:sp>
        <p:nvSpPr>
          <p:cNvPr id="13" name="Rounded Rectangle 39">
            <a:extLst>
              <a:ext uri="{FF2B5EF4-FFF2-40B4-BE49-F238E27FC236}">
                <a16:creationId xmlns:a16="http://schemas.microsoft.com/office/drawing/2014/main" id="{5A52AF00-EF3E-46AF-8786-EF618280372E}"/>
              </a:ext>
            </a:extLst>
          </p:cNvPr>
          <p:cNvSpPr/>
          <p:nvPr/>
        </p:nvSpPr>
        <p:spPr>
          <a:xfrm>
            <a:off x="9073614" y="1656450"/>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Branded WBS Settlement</a:t>
            </a:r>
            <a:endParaRPr lang="en-US" sz="1400" b="1">
              <a:solidFill>
                <a:srgbClr val="FFFFFF"/>
              </a:solidFill>
              <a:latin typeface="Arial" panose="020B0604020202020204"/>
              <a:cs typeface="Arial"/>
            </a:endParaRP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0" name="Rounded Rectangle 39">
            <a:extLst>
              <a:ext uri="{FF2B5EF4-FFF2-40B4-BE49-F238E27FC236}">
                <a16:creationId xmlns:a16="http://schemas.microsoft.com/office/drawing/2014/main" id="{D684800A-41AE-4F99-9CEA-90641277B25A}"/>
              </a:ext>
            </a:extLst>
          </p:cNvPr>
          <p:cNvSpPr/>
          <p:nvPr/>
        </p:nvSpPr>
        <p:spPr>
          <a:xfrm>
            <a:off x="9088392" y="2401627"/>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Multi-brand WBS Settlement</a:t>
            </a:r>
            <a:endParaRPr lang="en-US" sz="1400" b="1" dirty="0">
              <a:solidFill>
                <a:srgbClr val="FFFFFF"/>
              </a:solidFill>
              <a:latin typeface="Arial" panose="020B0604020202020204"/>
              <a:cs typeface="Arial"/>
            </a:endParaRPr>
          </a:p>
        </p:txBody>
      </p:sp>
      <p:cxnSp>
        <p:nvCxnSpPr>
          <p:cNvPr id="21" name="Elbow Connector 4">
            <a:extLst>
              <a:ext uri="{FF2B5EF4-FFF2-40B4-BE49-F238E27FC236}">
                <a16:creationId xmlns:a16="http://schemas.microsoft.com/office/drawing/2014/main" id="{86A5B1BA-39B7-4009-9BB7-56D899D48295}"/>
              </a:ext>
            </a:extLst>
          </p:cNvPr>
          <p:cNvCxnSpPr>
            <a:cxnSpLocks/>
            <a:stCxn id="11" idx="3"/>
            <a:endCxn id="13" idx="1"/>
          </p:cNvCxnSpPr>
          <p:nvPr/>
        </p:nvCxnSpPr>
        <p:spPr>
          <a:xfrm flipV="1">
            <a:off x="8436815" y="1908297"/>
            <a:ext cx="636799" cy="5104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28" name="Elbow Connector 7">
            <a:extLst>
              <a:ext uri="{FF2B5EF4-FFF2-40B4-BE49-F238E27FC236}">
                <a16:creationId xmlns:a16="http://schemas.microsoft.com/office/drawing/2014/main" id="{B2F017F9-FF9C-4E54-AC9A-7AA7E3BF78C5}"/>
              </a:ext>
            </a:extLst>
          </p:cNvPr>
          <p:cNvCxnSpPr>
            <a:cxnSpLocks/>
            <a:stCxn id="11" idx="3"/>
            <a:endCxn id="20" idx="1"/>
          </p:cNvCxnSpPr>
          <p:nvPr/>
        </p:nvCxnSpPr>
        <p:spPr>
          <a:xfrm>
            <a:off x="8436815" y="2418746"/>
            <a:ext cx="651577" cy="23472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Rounded Rectangle 39">
            <a:extLst>
              <a:ext uri="{FF2B5EF4-FFF2-40B4-BE49-F238E27FC236}">
                <a16:creationId xmlns:a16="http://schemas.microsoft.com/office/drawing/2014/main" id="{2C3499D4-3154-ED0A-C6E1-DF5EA1940B49}"/>
              </a:ext>
            </a:extLst>
          </p:cNvPr>
          <p:cNvSpPr/>
          <p:nvPr/>
        </p:nvSpPr>
        <p:spPr>
          <a:xfrm>
            <a:off x="9073614" y="3236158"/>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Custom Multi-brand WBS Allocation</a:t>
            </a:r>
            <a:endParaRPr lang="en-US" sz="1400" b="1" dirty="0">
              <a:solidFill>
                <a:srgbClr val="FFFFFF"/>
              </a:solidFill>
              <a:latin typeface="Arial" panose="020B0604020202020204"/>
              <a:cs typeface="Arial"/>
            </a:endParaRPr>
          </a:p>
        </p:txBody>
      </p:sp>
      <p:cxnSp>
        <p:nvCxnSpPr>
          <p:cNvPr id="4" name="Elbow Connector 7">
            <a:extLst>
              <a:ext uri="{FF2B5EF4-FFF2-40B4-BE49-F238E27FC236}">
                <a16:creationId xmlns:a16="http://schemas.microsoft.com/office/drawing/2014/main" id="{4C71C881-B701-C937-513F-1154EBCF6F08}"/>
              </a:ext>
            </a:extLst>
          </p:cNvPr>
          <p:cNvCxnSpPr>
            <a:cxnSpLocks/>
            <a:stCxn id="11" idx="3"/>
            <a:endCxn id="2" idx="1"/>
          </p:cNvCxnSpPr>
          <p:nvPr/>
        </p:nvCxnSpPr>
        <p:spPr>
          <a:xfrm>
            <a:off x="8436815" y="2418746"/>
            <a:ext cx="636799" cy="106925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905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D6F68E-C651-4D37-83DA-9D02F90A3E4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26738" y="1364616"/>
            <a:ext cx="5984216" cy="2787213"/>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Above Brand Contribution (ABC) WBS Settlement / Allocation</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88027" y="4457459"/>
            <a:ext cx="4026611" cy="719431"/>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p>
          <a:p>
            <a:pPr lvl="0" algn="ctr" defTabSz="1644650">
              <a:spcBef>
                <a:spcPct val="0"/>
              </a:spcBef>
              <a:defRPr/>
            </a:pPr>
            <a:r>
              <a:rPr lang="en-US" sz="1100">
                <a:solidFill>
                  <a:srgbClr val="000000">
                    <a:hueOff val="0"/>
                    <a:satOff val="0"/>
                    <a:lumOff val="0"/>
                    <a:alphaOff val="0"/>
                  </a:srgbClr>
                </a:solidFill>
                <a:latin typeface="Arial" panose="020B0604020202020204"/>
              </a:rPr>
              <a:t>CJB1/</a:t>
            </a:r>
            <a:r>
              <a:rPr lang="en-US" sz="1100">
                <a:solidFill>
                  <a:srgbClr val="000000">
                    <a:hueOff val="0"/>
                    <a:satOff val="0"/>
                    <a:lumOff val="0"/>
                    <a:alphaOff val="0"/>
                  </a:srgbClr>
                </a:solidFill>
              </a:rPr>
              <a:t>CJ8G for Settlement</a:t>
            </a:r>
          </a:p>
          <a:p>
            <a:pPr lvl="0" algn="ctr" defTabSz="1644650">
              <a:spcBef>
                <a:spcPct val="0"/>
              </a:spcBef>
              <a:defRPr/>
            </a:pPr>
            <a:r>
              <a:rPr lang="en-US" sz="1100">
                <a:solidFill>
                  <a:srgbClr val="000000">
                    <a:hueOff val="0"/>
                    <a:satOff val="0"/>
                    <a:lumOff val="0"/>
                    <a:alphaOff val="0"/>
                  </a:srgbClr>
                </a:solidFill>
              </a:rPr>
              <a:t>ZFFIR_POST_ALLOC_PS for Allocation</a:t>
            </a:r>
            <a:endParaRPr kumimoji="0" lang="en-US" sz="11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71168" y="6024038"/>
            <a:ext cx="4026611" cy="7848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lang="en-US" sz="1000">
                <a:solidFill>
                  <a:srgbClr val="000000">
                    <a:hueOff val="0"/>
                    <a:satOff val="0"/>
                    <a:lumOff val="0"/>
                    <a:alphaOff val="0"/>
                  </a:srgbClr>
                </a:solidFill>
                <a:latin typeface="Arial" panose="020B0604020202020204"/>
              </a:rPr>
              <a:t>Branded: WD1,WD2, WD3, WD8</a:t>
            </a:r>
          </a:p>
          <a:p>
            <a:pPr marL="0" marR="0" lvl="0" indent="0" algn="ctr" defTabSz="1644650" rtl="0" eaLnBrk="1" fontAlgn="auto" latinLnBrk="0" hangingPunct="1">
              <a:spcBef>
                <a:spcPct val="0"/>
              </a:spcBef>
              <a:buClrTx/>
              <a:buSzTx/>
              <a:buFontTx/>
              <a:buNone/>
              <a:tabLst/>
              <a:defRPr/>
            </a:pPr>
            <a:r>
              <a:rPr kumimoji="0" lang="en-US" sz="10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Multi-brand (Settlement-Allocation Key ZZZ): WD1, WD2, WD3</a:t>
            </a:r>
          </a:p>
          <a:p>
            <a:pPr marL="0" marR="0" lvl="0" indent="0" algn="ctr" defTabSz="1644650" rtl="0" eaLnBrk="1" fontAlgn="auto" latinLnBrk="0" hangingPunct="1">
              <a:spcBef>
                <a:spcPct val="0"/>
              </a:spcBef>
              <a:buClrTx/>
              <a:buSzTx/>
              <a:buFontTx/>
              <a:buNone/>
              <a:tabLst/>
              <a:defRPr/>
            </a:pPr>
            <a:r>
              <a:rPr lang="en-US" sz="1000">
                <a:solidFill>
                  <a:srgbClr val="000000">
                    <a:hueOff val="0"/>
                    <a:satOff val="0"/>
                    <a:lumOff val="0"/>
                    <a:alphaOff val="0"/>
                  </a:srgbClr>
                </a:solidFill>
                <a:latin typeface="Arial" panose="020B0604020202020204"/>
              </a:rPr>
              <a:t>Multi-brand (Allocation- pre-defined Allocation key): WD2, WD3 (if requiring Material Ledger Closing result) </a:t>
            </a:r>
            <a:endParaRPr kumimoji="0" lang="en-US" sz="10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81046" y="5227649"/>
            <a:ext cx="4026611" cy="736057"/>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a:t>
            </a:r>
          </a:p>
          <a:p>
            <a:pPr lvl="0" algn="ctr" defTabSz="1644650">
              <a:spcBef>
                <a:spcPct val="0"/>
              </a:spcBef>
              <a:defRPr/>
            </a:pPr>
            <a:r>
              <a:rPr lang="en-US" sz="1100" dirty="0">
                <a:solidFill>
                  <a:srgbClr val="000000">
                    <a:hueOff val="0"/>
                    <a:satOff val="0"/>
                    <a:lumOff val="0"/>
                    <a:alphaOff val="0"/>
                  </a:srgbClr>
                </a:solidFill>
              </a:rPr>
              <a:t>CJB1/CJ8G </a:t>
            </a:r>
            <a:r>
              <a:rPr lang="en-US" sz="1100" b="1" dirty="0">
                <a:solidFill>
                  <a:srgbClr val="000000">
                    <a:hueOff val="0"/>
                    <a:satOff val="0"/>
                    <a:lumOff val="0"/>
                    <a:alphaOff val="0"/>
                  </a:srgbClr>
                </a:solidFill>
              </a:rPr>
              <a:t>Settlement – GBS/JTBC Level</a:t>
            </a:r>
          </a:p>
          <a:p>
            <a:pPr lvl="0" algn="ctr" defTabSz="1644650">
              <a:spcBef>
                <a:spcPct val="0"/>
              </a:spcBef>
              <a:defRPr/>
            </a:pPr>
            <a:r>
              <a:rPr lang="en-US" sz="1100" dirty="0">
                <a:solidFill>
                  <a:srgbClr val="000000">
                    <a:hueOff val="0"/>
                    <a:satOff val="0"/>
                    <a:lumOff val="0"/>
                    <a:alphaOff val="0"/>
                  </a:srgbClr>
                </a:solidFill>
              </a:rPr>
              <a:t>ZFFIR_POST_ALLOC_PS </a:t>
            </a:r>
            <a:r>
              <a:rPr lang="en-US" sz="1100" b="1" dirty="0">
                <a:solidFill>
                  <a:srgbClr val="000000">
                    <a:hueOff val="0"/>
                    <a:satOff val="0"/>
                    <a:lumOff val="0"/>
                    <a:alphaOff val="0"/>
                  </a:srgbClr>
                </a:solidFill>
              </a:rPr>
              <a:t>Allocation – Entity/GBS/JTBC Level</a:t>
            </a:r>
            <a:endParaRPr kumimoji="0" lang="en-US" sz="11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45F95EF3-7599-40F1-BC7E-247951A21F76}"/>
              </a:ext>
            </a:extLst>
          </p:cNvPr>
          <p:cNvSpPr/>
          <p:nvPr/>
        </p:nvSpPr>
        <p:spPr>
          <a:xfrm>
            <a:off x="4145251" y="4463266"/>
            <a:ext cx="7864225" cy="400110"/>
          </a:xfrm>
          <a:prstGeom prst="rect">
            <a:avLst/>
          </a:prstGeom>
        </p:spPr>
        <p:txBody>
          <a:bodyPr wrap="square" anchor="t">
            <a:spAutoFit/>
          </a:bodyPr>
          <a:lstStyle/>
          <a:p>
            <a:pPr marR="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a:rPr>
              <a:t>The settlement of ABC WBS is done following the same technical logic as Capex WBS (same T-Code CJ8G), but with different types of settlement receivers (Capex to Assets, ABC WBS to CO-PA).</a:t>
            </a:r>
            <a:endParaRPr lang="en-GB" sz="1150" i="1">
              <a:latin typeface="Georgia"/>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4126654" y="6150278"/>
            <a:ext cx="7939050" cy="784830"/>
          </a:xfrm>
          <a:prstGeom prst="rect">
            <a:avLst/>
          </a:prstGeom>
        </p:spPr>
        <p:txBody>
          <a:bodyPr wrap="square">
            <a:spAutoFit/>
          </a:bodyPr>
          <a:lstStyle/>
          <a:p>
            <a:pPr lvl="0">
              <a:lnSpc>
                <a:spcPts val="1200"/>
              </a:lnSpc>
              <a:spcBef>
                <a:spcPts val="600"/>
              </a:spcBef>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final Branded WBS settlement </a:t>
            </a:r>
            <a:r>
              <a:rPr lang="en-GB" sz="1150" i="1" dirty="0">
                <a:solidFill>
                  <a:srgbClr val="000000"/>
                </a:solidFill>
                <a:latin typeface="Georgia" panose="02040502050405020303" pitchFamily="18" charset="0"/>
              </a:rPr>
              <a:t>for IFRS is done on WD3 before the final preparation of the financial statement. Most multi-brand WBS elements need to be settled/allocated on WD2 but a small portion which require COGS and Inventory splitting results for allocations are allocated on WD3. </a:t>
            </a:r>
          </a:p>
          <a:p>
            <a:pPr marL="0" marR="0" lvl="0" indent="0" algn="l" defTabSz="914400" rtl="0" eaLnBrk="1" fontAlgn="auto" latinLnBrk="0" hangingPunct="1">
              <a:lnSpc>
                <a:spcPts val="1200"/>
              </a:lnSpc>
              <a:spcBef>
                <a:spcPts val="600"/>
              </a:spcBef>
              <a:spcAft>
                <a:spcPts val="0"/>
              </a:spcAft>
              <a:buClrTx/>
              <a:buSzTx/>
              <a:buFontTx/>
              <a:buNone/>
              <a:tabLst/>
              <a:defRPr/>
            </a:pPr>
            <a:endPar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4152232" y="5560561"/>
            <a:ext cx="7864225" cy="553998"/>
          </a:xfrm>
          <a:prstGeom prst="rect">
            <a:avLst/>
          </a:prstGeom>
        </p:spPr>
        <p:txBody>
          <a:bodyPr wrap="square" anchor="t">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effectLst/>
                <a:uLnTx/>
                <a:uFillTx/>
                <a:latin typeface="Georgia"/>
              </a:rPr>
              <a:t>ABC WBS Settlement related transactions are scheduled at GBS/JTBC level. Multi-brand allocations are scheduled at entity level for GBS St. Pete and Warsaw due to the dependency to COGS </a:t>
            </a:r>
            <a:r>
              <a:rPr lang="en-GB" sz="1150" i="1" dirty="0">
                <a:latin typeface="Georgia"/>
              </a:rPr>
              <a:t>and Inventory Splitting tasks for</a:t>
            </a:r>
            <a:r>
              <a:rPr kumimoji="0" lang="en-GB" sz="1150" b="0" i="1" u="none" strike="noStrike" kern="1200" cap="none" spc="0" normalizeH="0" baseline="0" noProof="0" dirty="0">
                <a:ln>
                  <a:noFill/>
                </a:ln>
                <a:effectLst/>
                <a:uLnTx/>
                <a:uFillTx/>
                <a:latin typeface="Georgia"/>
              </a:rPr>
              <a:t> some entities in these GBS/JTBC. The Multi-brand allocation is scheduled at GBS/JTBC level for </a:t>
            </a:r>
            <a:r>
              <a:rPr lang="en-GB" sz="1150" i="1" dirty="0">
                <a:latin typeface="Georgia"/>
              </a:rPr>
              <a:t>GBS Manila.</a:t>
            </a:r>
            <a:r>
              <a:rPr kumimoji="0" lang="en-GB" sz="1150" b="0" i="1" u="none" strike="noStrike" kern="1200" cap="none" spc="0" normalizeH="0" baseline="0" noProof="0" dirty="0">
                <a:ln>
                  <a:noFill/>
                </a:ln>
                <a:effectLst/>
                <a:uLnTx/>
                <a:uFillTx/>
                <a:latin typeface="Georgia"/>
              </a:rPr>
              <a:t> </a:t>
            </a:r>
          </a:p>
        </p:txBody>
      </p:sp>
      <p:sp>
        <p:nvSpPr>
          <p:cNvPr id="41" name="Rectangle: Rounded Corners 40">
            <a:extLst>
              <a:ext uri="{FF2B5EF4-FFF2-40B4-BE49-F238E27FC236}">
                <a16:creationId xmlns:a16="http://schemas.microsoft.com/office/drawing/2014/main" id="{0BAE89FA-D485-41D3-B31A-1D7EC9BAC655}"/>
              </a:ext>
            </a:extLst>
          </p:cNvPr>
          <p:cNvSpPr/>
          <p:nvPr/>
        </p:nvSpPr>
        <p:spPr>
          <a:xfrm>
            <a:off x="6575067" y="2732593"/>
            <a:ext cx="2061855" cy="603996"/>
          </a:xfrm>
          <a:prstGeom prst="roundRect">
            <a:avLst>
              <a:gd name="adj" fmla="val 5266"/>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4C5E2CC5-2C66-4542-8223-46C3080CF74E}"/>
              </a:ext>
            </a:extLst>
          </p:cNvPr>
          <p:cNvGrpSpPr/>
          <p:nvPr/>
        </p:nvGrpSpPr>
        <p:grpSpPr>
          <a:xfrm>
            <a:off x="459716" y="1453784"/>
            <a:ext cx="5409875" cy="1872367"/>
            <a:chOff x="607926" y="3508514"/>
            <a:chExt cx="5409875" cy="1872367"/>
          </a:xfrm>
        </p:grpSpPr>
        <p:sp>
          <p:nvSpPr>
            <p:cNvPr id="28" name="Rectangle: Rounded Corners 27">
              <a:extLst>
                <a:ext uri="{FF2B5EF4-FFF2-40B4-BE49-F238E27FC236}">
                  <a16:creationId xmlns:a16="http://schemas.microsoft.com/office/drawing/2014/main" id="{632755FA-8251-4818-B7EC-7A033CCBD198}"/>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5A971985-60E8-4735-9D02-63B2F413B723}"/>
                </a:ext>
              </a:extLst>
            </p:cNvPr>
            <p:cNvSpPr txBox="1"/>
            <p:nvPr/>
          </p:nvSpPr>
          <p:spPr>
            <a:xfrm>
              <a:off x="1137425" y="3581706"/>
              <a:ext cx="4754880" cy="2882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a:t>
              </a:r>
              <a:r>
                <a:rPr lang="en-GB" sz="1600" u="sng">
                  <a:solidFill>
                    <a:srgbClr val="000000"/>
                  </a:solidFill>
                  <a:latin typeface="Aharoni" panose="02010803020104030203" pitchFamily="2" charset="-79"/>
                  <a:cs typeface="Aharoni" panose="02010803020104030203" pitchFamily="2" charset="-79"/>
                </a:rPr>
                <a:t>Above Brand Contribution WBS </a:t>
              </a: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Process</a:t>
              </a:r>
            </a:p>
          </p:txBody>
        </p:sp>
      </p:grpSp>
      <p:sp>
        <p:nvSpPr>
          <p:cNvPr id="47" name="Rectangle 46">
            <a:extLst>
              <a:ext uri="{FF2B5EF4-FFF2-40B4-BE49-F238E27FC236}">
                <a16:creationId xmlns:a16="http://schemas.microsoft.com/office/drawing/2014/main" id="{6BFBE1EE-0108-4F72-9906-687A8F236F44}"/>
              </a:ext>
            </a:extLst>
          </p:cNvPr>
          <p:cNvSpPr/>
          <p:nvPr/>
        </p:nvSpPr>
        <p:spPr>
          <a:xfrm>
            <a:off x="4829696" y="1881580"/>
            <a:ext cx="997530" cy="12440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911395A-CF0C-430C-A546-FA3DD43BA85F}"/>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652716" y="2048104"/>
            <a:ext cx="5207854" cy="1019291"/>
          </a:xfrm>
          <a:prstGeom prst="rect">
            <a:avLst/>
          </a:prstGeom>
        </p:spPr>
      </p:pic>
      <p:sp>
        <p:nvSpPr>
          <p:cNvPr id="3" name="TextBox 2">
            <a:extLst>
              <a:ext uri="{FF2B5EF4-FFF2-40B4-BE49-F238E27FC236}">
                <a16:creationId xmlns:a16="http://schemas.microsoft.com/office/drawing/2014/main" id="{8C0FFD25-76C6-4A26-A768-6DFEB1FAEC1A}"/>
              </a:ext>
            </a:extLst>
          </p:cNvPr>
          <p:cNvSpPr txBox="1"/>
          <p:nvPr/>
        </p:nvSpPr>
        <p:spPr>
          <a:xfrm>
            <a:off x="669492" y="3451784"/>
            <a:ext cx="5567773" cy="843742"/>
          </a:xfrm>
          <a:prstGeom prst="rect">
            <a:avLst/>
          </a:prstGeom>
          <a:noFill/>
        </p:spPr>
        <p:txBody>
          <a:bodyPr wrap="square" lIns="0" tIns="0" rIns="0" bIns="0" rtlCol="0">
            <a:noAutofit/>
          </a:bodyPr>
          <a:lstStyle/>
          <a:p>
            <a:pPr marL="171450" indent="-171450" algn="l">
              <a:spcAft>
                <a:spcPts val="300"/>
              </a:spcAft>
              <a:buFont typeface="Arial" panose="020B0604020202020204" pitchFamily="34" charset="0"/>
              <a:buChar char="•"/>
            </a:pPr>
            <a:r>
              <a:rPr lang="en-US" sz="1150" i="1">
                <a:latin typeface="Georgia" panose="02040502050405020303" pitchFamily="18" charset="0"/>
              </a:rPr>
              <a:t>JTI uses </a:t>
            </a:r>
            <a:r>
              <a:rPr lang="en-US" sz="1150" b="1" i="1">
                <a:latin typeface="Georgia" panose="02040502050405020303" pitchFamily="18" charset="0"/>
              </a:rPr>
              <a:t>Opex </a:t>
            </a:r>
            <a:r>
              <a:rPr lang="en-US" sz="1150" i="1">
                <a:latin typeface="Georgia" panose="02040502050405020303" pitchFamily="18" charset="0"/>
              </a:rPr>
              <a:t>WBS and </a:t>
            </a:r>
            <a:r>
              <a:rPr lang="en-US" sz="1150" b="1" i="1">
                <a:latin typeface="Georgia" panose="02040502050405020303" pitchFamily="18" charset="0"/>
              </a:rPr>
              <a:t>ABC</a:t>
            </a:r>
            <a:r>
              <a:rPr lang="en-US" sz="1150" i="1">
                <a:latin typeface="Georgia" panose="02040502050405020303" pitchFamily="18" charset="0"/>
              </a:rPr>
              <a:t> WBS for Cost Management purposes. </a:t>
            </a:r>
          </a:p>
          <a:p>
            <a:pPr marL="171450" indent="-171450" algn="l">
              <a:spcAft>
                <a:spcPts val="300"/>
              </a:spcAft>
              <a:buFont typeface="Arial" panose="020B0604020202020204" pitchFamily="34" charset="0"/>
              <a:buChar char="•"/>
            </a:pPr>
            <a:r>
              <a:rPr lang="en-US" sz="1150" b="1" i="1">
                <a:latin typeface="Georgia" panose="02040502050405020303" pitchFamily="18" charset="0"/>
              </a:rPr>
              <a:t>Opex WBS are statistical</a:t>
            </a:r>
            <a:r>
              <a:rPr lang="en-US" sz="1150" i="1">
                <a:latin typeface="Georgia" panose="02040502050405020303" pitchFamily="18" charset="0"/>
              </a:rPr>
              <a:t> therefore no settlement is required.</a:t>
            </a:r>
          </a:p>
          <a:p>
            <a:pPr marL="171450" indent="-171450" algn="l">
              <a:spcAft>
                <a:spcPts val="300"/>
              </a:spcAft>
              <a:buFont typeface="Arial" panose="020B0604020202020204" pitchFamily="34" charset="0"/>
              <a:buChar char="•"/>
            </a:pPr>
            <a:r>
              <a:rPr lang="en-US" sz="1150" i="1">
                <a:latin typeface="Georgia" panose="02040502050405020303" pitchFamily="18" charset="0"/>
              </a:rPr>
              <a:t>There are </a:t>
            </a:r>
            <a:r>
              <a:rPr lang="en-US" sz="1150" b="1" i="1">
                <a:latin typeface="Georgia" panose="02040502050405020303" pitchFamily="18" charset="0"/>
              </a:rPr>
              <a:t>Branded,</a:t>
            </a:r>
            <a:r>
              <a:rPr lang="en-US" sz="1150" i="1">
                <a:latin typeface="Georgia" panose="02040502050405020303" pitchFamily="18" charset="0"/>
              </a:rPr>
              <a:t> </a:t>
            </a:r>
            <a:r>
              <a:rPr lang="en-US" sz="1150" b="1" i="1">
                <a:latin typeface="Georgia" panose="02040502050405020303" pitchFamily="18" charset="0"/>
              </a:rPr>
              <a:t>Multi-brand</a:t>
            </a:r>
            <a:r>
              <a:rPr lang="en-US" sz="1150" i="1">
                <a:latin typeface="Georgia" panose="02040502050405020303" pitchFamily="18" charset="0"/>
              </a:rPr>
              <a:t> and Statistical ABC WBS used in JTI. Only Branded and Multi-brand WBS require settlement/allocation to CO-PA characteristics at period end.  </a:t>
            </a:r>
          </a:p>
        </p:txBody>
      </p:sp>
      <p:pic>
        <p:nvPicPr>
          <p:cNvPr id="30" name="Graphic 29" descr="Person with idea">
            <a:extLst>
              <a:ext uri="{FF2B5EF4-FFF2-40B4-BE49-F238E27FC236}">
                <a16:creationId xmlns:a16="http://schemas.microsoft.com/office/drawing/2014/main" id="{BC104352-29B7-4102-9C89-E0188C924B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046" y="3336886"/>
            <a:ext cx="661199" cy="661199"/>
          </a:xfrm>
          <a:prstGeom prst="rect">
            <a:avLst/>
          </a:prstGeom>
          <a:effectLst>
            <a:outerShdw blurRad="50800" dist="38100" dir="5400000" algn="t" rotWithShape="0">
              <a:prstClr val="black">
                <a:alpha val="40000"/>
              </a:prstClr>
            </a:outerShdw>
          </a:effectLst>
        </p:spPr>
      </p:pic>
      <p:sp>
        <p:nvSpPr>
          <p:cNvPr id="31" name="Rectangle: Rounded Corners 30">
            <a:extLst>
              <a:ext uri="{FF2B5EF4-FFF2-40B4-BE49-F238E27FC236}">
                <a16:creationId xmlns:a16="http://schemas.microsoft.com/office/drawing/2014/main" id="{907EC531-B61B-4AA0-9C8E-36AFAF53E9DB}"/>
              </a:ext>
            </a:extLst>
          </p:cNvPr>
          <p:cNvSpPr/>
          <p:nvPr/>
        </p:nvSpPr>
        <p:spPr>
          <a:xfrm>
            <a:off x="6575067" y="3442024"/>
            <a:ext cx="2061855" cy="504928"/>
          </a:xfrm>
          <a:prstGeom prst="roundRect">
            <a:avLst>
              <a:gd name="adj" fmla="val 5266"/>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3ADC0A7E-FCF1-4B1F-A580-EEA2E5BCB326}"/>
              </a:ext>
            </a:extLst>
          </p:cNvPr>
          <p:cNvSpPr/>
          <p:nvPr/>
        </p:nvSpPr>
        <p:spPr>
          <a:xfrm>
            <a:off x="4149204" y="4803120"/>
            <a:ext cx="8094221" cy="623248"/>
          </a:xfrm>
          <a:prstGeom prst="rect">
            <a:avLst/>
          </a:prstGeom>
        </p:spPr>
        <p:txBody>
          <a:bodyPr wrap="square" anchor="t">
            <a:spAutoFit/>
          </a:bodyPr>
          <a:lstStyle/>
          <a:p>
            <a:pPr>
              <a:defRPr/>
            </a:pPr>
            <a:r>
              <a:rPr lang="en-GB" sz="1150" i="1">
                <a:solidFill>
                  <a:srgbClr val="000000"/>
                </a:solidFill>
                <a:latin typeface="Georgia"/>
              </a:rPr>
              <a:t>Multi-brand WBS are mostly allocated (instead of settled) to CO-PA, using pre-defined allocation keys.  However, if there is not a suitable pre-defined allocation key users can choose to create a custom settlement rule using  custom allocation key ZZZ. Users will then need to create a settlement rule within that particular WBS in order to be able to settle costs. </a:t>
            </a:r>
            <a:endParaRPr lang="en-GB" sz="1150" i="1">
              <a:latin typeface="Georgia"/>
            </a:endParaRPr>
          </a:p>
        </p:txBody>
      </p:sp>
    </p:spTree>
    <p:extLst>
      <p:ext uri="{BB962C8B-B14F-4D97-AF65-F5344CB8AC3E}">
        <p14:creationId xmlns:p14="http://schemas.microsoft.com/office/powerpoint/2010/main" val="3318895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E18121-2066-81BF-D543-0A2A9A9FCB5E}"/>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5" name="Slide Number Placeholder 2">
            <a:extLst>
              <a:ext uri="{FF2B5EF4-FFF2-40B4-BE49-F238E27FC236}">
                <a16:creationId xmlns:a16="http://schemas.microsoft.com/office/drawing/2014/main" id="{A1D847AE-511E-11CE-7440-D1ACA9898856}"/>
              </a:ext>
            </a:extLst>
          </p:cNvPr>
          <p:cNvSpPr txBox="1">
            <a:spLocks/>
          </p:cNvSpPr>
          <p:nvPr/>
        </p:nvSpPr>
        <p:spPr>
          <a:xfrm>
            <a:off x="11278800" y="629752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4C94289-3309-4C35-850A-56FD49B3E346}" type="slidenum">
              <a:rPr lang="en-GB" smtClean="0"/>
              <a:pPr/>
              <a:t>4</a:t>
            </a:fld>
            <a:endParaRPr lang="en-GB"/>
          </a:p>
        </p:txBody>
      </p:sp>
      <p:sp>
        <p:nvSpPr>
          <p:cNvPr id="6" name="Title 3">
            <a:extLst>
              <a:ext uri="{FF2B5EF4-FFF2-40B4-BE49-F238E27FC236}">
                <a16:creationId xmlns:a16="http://schemas.microsoft.com/office/drawing/2014/main" id="{0916C0B0-877D-3E38-E5D0-053EDBE52184}"/>
              </a:ext>
            </a:extLst>
          </p:cNvPr>
          <p:cNvSpPr txBox="1">
            <a:spLocks/>
          </p:cNvSpPr>
          <p:nvPr/>
        </p:nvSpPr>
        <p:spPr>
          <a:xfrm>
            <a:off x="1554210" y="280915"/>
            <a:ext cx="8902723"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GB" sz="2800"/>
              <a:t>Above Brand Contribution WBS Settlement / Allocation to CO-PA - Overview</a:t>
            </a:r>
            <a:endParaRPr lang="en-US" sz="2800"/>
          </a:p>
        </p:txBody>
      </p:sp>
      <p:grpSp>
        <p:nvGrpSpPr>
          <p:cNvPr id="7" name="Group 6">
            <a:extLst>
              <a:ext uri="{FF2B5EF4-FFF2-40B4-BE49-F238E27FC236}">
                <a16:creationId xmlns:a16="http://schemas.microsoft.com/office/drawing/2014/main" id="{B57C96DC-20E5-15E0-264A-BE808A7A6AF2}"/>
              </a:ext>
            </a:extLst>
          </p:cNvPr>
          <p:cNvGrpSpPr/>
          <p:nvPr/>
        </p:nvGrpSpPr>
        <p:grpSpPr>
          <a:xfrm>
            <a:off x="777632" y="3162670"/>
            <a:ext cx="10898429" cy="2950055"/>
            <a:chOff x="777632" y="1370632"/>
            <a:chExt cx="10898429" cy="4962463"/>
          </a:xfrm>
        </p:grpSpPr>
        <p:pic>
          <p:nvPicPr>
            <p:cNvPr id="8" name="Picture 7">
              <a:extLst>
                <a:ext uri="{FF2B5EF4-FFF2-40B4-BE49-F238E27FC236}">
                  <a16:creationId xmlns:a16="http://schemas.microsoft.com/office/drawing/2014/main" id="{16F2C28E-F429-9FA3-A10E-B10DF46B1409}"/>
                </a:ext>
              </a:extLst>
            </p:cNvPr>
            <p:cNvPicPr>
              <a:picLocks noChangeAspect="1"/>
            </p:cNvPicPr>
            <p:nvPr/>
          </p:nvPicPr>
          <p:blipFill rotWithShape="1">
            <a:blip r:embed="rId2"/>
            <a:srcRect l="7177" r="6495"/>
            <a:stretch/>
          </p:blipFill>
          <p:spPr>
            <a:xfrm>
              <a:off x="1010668" y="1391329"/>
              <a:ext cx="483426" cy="722057"/>
            </a:xfrm>
            <a:prstGeom prst="rect">
              <a:avLst/>
            </a:prstGeom>
          </p:spPr>
        </p:pic>
        <p:pic>
          <p:nvPicPr>
            <p:cNvPr id="9" name="Picture 8">
              <a:extLst>
                <a:ext uri="{FF2B5EF4-FFF2-40B4-BE49-F238E27FC236}">
                  <a16:creationId xmlns:a16="http://schemas.microsoft.com/office/drawing/2014/main" id="{442185EB-80B3-2CC3-EA04-40D4A59E95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42500" y="1473747"/>
              <a:ext cx="397996" cy="596674"/>
            </a:xfrm>
            <a:prstGeom prst="rect">
              <a:avLst/>
            </a:prstGeom>
          </p:spPr>
        </p:pic>
        <p:grpSp>
          <p:nvGrpSpPr>
            <p:cNvPr id="10" name="Group 9">
              <a:extLst>
                <a:ext uri="{FF2B5EF4-FFF2-40B4-BE49-F238E27FC236}">
                  <a16:creationId xmlns:a16="http://schemas.microsoft.com/office/drawing/2014/main" id="{B42558A2-7BFD-48BC-6F35-7288B35ADCD5}"/>
                </a:ext>
              </a:extLst>
            </p:cNvPr>
            <p:cNvGrpSpPr/>
            <p:nvPr/>
          </p:nvGrpSpPr>
          <p:grpSpPr>
            <a:xfrm>
              <a:off x="777632" y="1370632"/>
              <a:ext cx="10898429" cy="4962463"/>
              <a:chOff x="777632" y="1370632"/>
              <a:chExt cx="10898429" cy="4962463"/>
            </a:xfrm>
          </p:grpSpPr>
          <p:grpSp>
            <p:nvGrpSpPr>
              <p:cNvPr id="11" name="Group 10">
                <a:extLst>
                  <a:ext uri="{FF2B5EF4-FFF2-40B4-BE49-F238E27FC236}">
                    <a16:creationId xmlns:a16="http://schemas.microsoft.com/office/drawing/2014/main" id="{29A32A39-7ED3-C113-3C7B-5228D7E7831F}"/>
                  </a:ext>
                </a:extLst>
              </p:cNvPr>
              <p:cNvGrpSpPr/>
              <p:nvPr/>
            </p:nvGrpSpPr>
            <p:grpSpPr>
              <a:xfrm>
                <a:off x="777632" y="1370632"/>
                <a:ext cx="10898429" cy="4857447"/>
                <a:chOff x="777632" y="1370632"/>
                <a:chExt cx="10898429" cy="4857447"/>
              </a:xfrm>
            </p:grpSpPr>
            <p:cxnSp>
              <p:nvCxnSpPr>
                <p:cNvPr id="15" name="Straight Connector 14">
                  <a:extLst>
                    <a:ext uri="{FF2B5EF4-FFF2-40B4-BE49-F238E27FC236}">
                      <a16:creationId xmlns:a16="http://schemas.microsoft.com/office/drawing/2014/main" id="{1594D95E-BB47-B68A-2A8C-EE3E00A5923D}"/>
                    </a:ext>
                  </a:extLst>
                </p:cNvPr>
                <p:cNvCxnSpPr/>
                <p:nvPr/>
              </p:nvCxnSpPr>
              <p:spPr bwMode="auto">
                <a:xfrm flipV="1">
                  <a:off x="777632" y="2096078"/>
                  <a:ext cx="10768641" cy="34617"/>
                </a:xfrm>
                <a:prstGeom prst="line">
                  <a:avLst/>
                </a:prstGeom>
                <a:noFill/>
                <a:ln w="28575" cap="flat" cmpd="sng" algn="ctr">
                  <a:solidFill>
                    <a:srgbClr val="4D5C65">
                      <a:shade val="95000"/>
                      <a:satMod val="105000"/>
                    </a:srgbClr>
                  </a:solidFill>
                  <a:prstDash val="solid"/>
                  <a:headEnd type="none" w="med" len="med"/>
                  <a:tailEnd type="none" w="med" len="med"/>
                </a:ln>
                <a:effectLst/>
              </p:spPr>
            </p:cxnSp>
            <p:grpSp>
              <p:nvGrpSpPr>
                <p:cNvPr id="16" name="Group 15">
                  <a:extLst>
                    <a:ext uri="{FF2B5EF4-FFF2-40B4-BE49-F238E27FC236}">
                      <a16:creationId xmlns:a16="http://schemas.microsoft.com/office/drawing/2014/main" id="{7F8562EC-110B-1A77-F2F7-D4C975120B0B}"/>
                    </a:ext>
                  </a:extLst>
                </p:cNvPr>
                <p:cNvGrpSpPr/>
                <p:nvPr/>
              </p:nvGrpSpPr>
              <p:grpSpPr>
                <a:xfrm>
                  <a:off x="5585885" y="1370632"/>
                  <a:ext cx="206894" cy="4857447"/>
                  <a:chOff x="5775170" y="2473336"/>
                  <a:chExt cx="108260" cy="3367293"/>
                </a:xfrm>
              </p:grpSpPr>
              <p:cxnSp>
                <p:nvCxnSpPr>
                  <p:cNvPr id="19" name="Straight Connector 18">
                    <a:extLst>
                      <a:ext uri="{FF2B5EF4-FFF2-40B4-BE49-F238E27FC236}">
                        <a16:creationId xmlns:a16="http://schemas.microsoft.com/office/drawing/2014/main" id="{E8B8FA84-C23E-22A6-78AE-26FCA6FC4020}"/>
                      </a:ext>
                    </a:extLst>
                  </p:cNvPr>
                  <p:cNvCxnSpPr/>
                  <p:nvPr/>
                </p:nvCxnSpPr>
                <p:spPr bwMode="auto">
                  <a:xfrm>
                    <a:off x="5829300" y="2473336"/>
                    <a:ext cx="0" cy="3367293"/>
                  </a:xfrm>
                  <a:prstGeom prst="line">
                    <a:avLst/>
                  </a:prstGeom>
                  <a:noFill/>
                  <a:ln w="28575" cap="flat" cmpd="sng" algn="ctr">
                    <a:solidFill>
                      <a:srgbClr val="4D5C65">
                        <a:shade val="95000"/>
                        <a:satMod val="105000"/>
                      </a:srgbClr>
                    </a:solidFill>
                    <a:prstDash val="solid"/>
                    <a:headEnd type="none" w="med" len="med"/>
                    <a:tailEnd type="none" w="med" len="med"/>
                  </a:ln>
                  <a:effectLst/>
                </p:spPr>
              </p:cxnSp>
              <p:sp>
                <p:nvSpPr>
                  <p:cNvPr id="20" name="Rounded Rectangle 71">
                    <a:extLst>
                      <a:ext uri="{FF2B5EF4-FFF2-40B4-BE49-F238E27FC236}">
                        <a16:creationId xmlns:a16="http://schemas.microsoft.com/office/drawing/2014/main" id="{86D46EFC-F522-8783-0BE3-78A9769BD3F6}"/>
                      </a:ext>
                    </a:extLst>
                  </p:cNvPr>
                  <p:cNvSpPr/>
                  <p:nvPr/>
                </p:nvSpPr>
                <p:spPr bwMode="auto">
                  <a:xfrm rot="5400000">
                    <a:off x="5665782" y="3142688"/>
                    <a:ext cx="327036" cy="108260"/>
                  </a:xfrm>
                  <a:prstGeom prst="roundRect">
                    <a:avLst>
                      <a:gd name="adj" fmla="val 50000"/>
                    </a:avLst>
                  </a:prstGeom>
                  <a:solidFill>
                    <a:srgbClr val="408D7A">
                      <a:lumMod val="60000"/>
                      <a:lumOff val="40000"/>
                    </a:srgbClr>
                  </a:solidFill>
                  <a:ln>
                    <a:noFill/>
                  </a:ln>
                  <a:effectLst/>
                </p:spPr>
                <p:txBody>
                  <a:bodyPr vert="horz" wrap="square" lIns="0" tIns="0" rIns="0" bIns="0" numCol="1" rtlCol="0" anchor="ctr" anchorCtr="1" compatLnSpc="1">
                    <a:prstTxWarp prst="textNoShape">
                      <a:avLst/>
                    </a:prstTxWarp>
                  </a:bodyPr>
                  <a:lstStyle/>
                  <a:p>
                    <a:pPr>
                      <a:spcBef>
                        <a:spcPct val="20000"/>
                      </a:spcBef>
                      <a:defRPr/>
                    </a:pPr>
                    <a:endParaRPr lang="en-US" sz="1500" kern="0">
                      <a:solidFill>
                        <a:srgbClr val="FFFFFF">
                          <a:lumMod val="50000"/>
                        </a:srgbClr>
                      </a:solidFill>
                      <a:ea typeface="ＭＳ Ｐゴシック" charset="0"/>
                    </a:endParaRPr>
                  </a:p>
                </p:txBody>
              </p:sp>
            </p:grpSp>
            <p:sp>
              <p:nvSpPr>
                <p:cNvPr id="17" name="TextBox 16">
                  <a:extLst>
                    <a:ext uri="{FF2B5EF4-FFF2-40B4-BE49-F238E27FC236}">
                      <a16:creationId xmlns:a16="http://schemas.microsoft.com/office/drawing/2014/main" id="{B163C39E-B777-10FE-2D89-C75C723D646E}"/>
                    </a:ext>
                  </a:extLst>
                </p:cNvPr>
                <p:cNvSpPr txBox="1"/>
                <p:nvPr/>
              </p:nvSpPr>
              <p:spPr>
                <a:xfrm>
                  <a:off x="1554210" y="1413502"/>
                  <a:ext cx="4031675" cy="446499"/>
                </a:xfrm>
                <a:prstGeom prst="rect">
                  <a:avLst/>
                </a:prstGeom>
                <a:noFill/>
              </p:spPr>
              <p:txBody>
                <a:bodyPr wrap="square" lIns="0" tIns="0" rIns="0" bIns="0" rtlCol="0">
                  <a:noAutofit/>
                </a:bodyPr>
                <a:lstStyle/>
                <a:p>
                  <a:pPr>
                    <a:defRPr/>
                  </a:pPr>
                  <a:r>
                    <a:rPr lang="en-US" sz="2800" i="1" kern="0">
                      <a:solidFill>
                        <a:srgbClr val="408D7A">
                          <a:lumMod val="50000"/>
                        </a:srgbClr>
                      </a:solidFill>
                      <a:ea typeface="ＭＳ Ｐゴシック" pitchFamily="80" charset="-128"/>
                    </a:rPr>
                    <a:t>Branded WBS elements</a:t>
                  </a:r>
                </a:p>
              </p:txBody>
            </p:sp>
            <p:sp>
              <p:nvSpPr>
                <p:cNvPr id="18" name="TextBox 17">
                  <a:extLst>
                    <a:ext uri="{FF2B5EF4-FFF2-40B4-BE49-F238E27FC236}">
                      <a16:creationId xmlns:a16="http://schemas.microsoft.com/office/drawing/2014/main" id="{8A54BB50-2BC4-EA70-A3C0-E9307D8AA13C}"/>
                    </a:ext>
                  </a:extLst>
                </p:cNvPr>
                <p:cNvSpPr txBox="1"/>
                <p:nvPr/>
              </p:nvSpPr>
              <p:spPr>
                <a:xfrm>
                  <a:off x="6825220" y="1413914"/>
                  <a:ext cx="4850841" cy="446087"/>
                </a:xfrm>
                <a:prstGeom prst="rect">
                  <a:avLst/>
                </a:prstGeom>
                <a:noFill/>
              </p:spPr>
              <p:txBody>
                <a:bodyPr wrap="square" lIns="0" tIns="0" rIns="0" bIns="0" rtlCol="0">
                  <a:noAutofit/>
                </a:bodyPr>
                <a:lstStyle/>
                <a:p>
                  <a:pPr>
                    <a:defRPr/>
                  </a:pPr>
                  <a:r>
                    <a:rPr lang="en-US" sz="2400" i="1" kern="0">
                      <a:solidFill>
                        <a:srgbClr val="408D7A">
                          <a:lumMod val="50000"/>
                        </a:srgbClr>
                      </a:solidFill>
                      <a:ea typeface="ＭＳ Ｐゴシック" pitchFamily="80" charset="-128"/>
                    </a:rPr>
                    <a:t>Custom Multi-brand WBS elements</a:t>
                  </a:r>
                </a:p>
              </p:txBody>
            </p:sp>
          </p:grpSp>
          <p:grpSp>
            <p:nvGrpSpPr>
              <p:cNvPr id="12" name="Group 11">
                <a:extLst>
                  <a:ext uri="{FF2B5EF4-FFF2-40B4-BE49-F238E27FC236}">
                    <a16:creationId xmlns:a16="http://schemas.microsoft.com/office/drawing/2014/main" id="{0E6A935D-00D2-C24D-CA3F-6C2482D653B7}"/>
                  </a:ext>
                </a:extLst>
              </p:cNvPr>
              <p:cNvGrpSpPr/>
              <p:nvPr/>
            </p:nvGrpSpPr>
            <p:grpSpPr>
              <a:xfrm>
                <a:off x="777632" y="2434147"/>
                <a:ext cx="10387023" cy="3898948"/>
                <a:chOff x="777632" y="2434147"/>
                <a:chExt cx="10387023" cy="3898948"/>
              </a:xfrm>
            </p:grpSpPr>
            <p:sp>
              <p:nvSpPr>
                <p:cNvPr id="13" name="TextBox 12">
                  <a:extLst>
                    <a:ext uri="{FF2B5EF4-FFF2-40B4-BE49-F238E27FC236}">
                      <a16:creationId xmlns:a16="http://schemas.microsoft.com/office/drawing/2014/main" id="{F556B8BC-9D6F-A2C8-B981-D18AC825367F}"/>
                    </a:ext>
                  </a:extLst>
                </p:cNvPr>
                <p:cNvSpPr txBox="1"/>
                <p:nvPr/>
              </p:nvSpPr>
              <p:spPr>
                <a:xfrm>
                  <a:off x="777632" y="2856142"/>
                  <a:ext cx="4728820" cy="1925259"/>
                </a:xfrm>
                <a:prstGeom prst="rect">
                  <a:avLst/>
                </a:prstGeom>
                <a:noFill/>
              </p:spPr>
              <p:txBody>
                <a:bodyPr wrap="square" lIns="0" tIns="0" rIns="0" bIns="0" rtlCol="0">
                  <a:normAutofit fontScale="85000" lnSpcReduction="20000"/>
                </a:bodyPr>
                <a:lstStyle/>
                <a:p>
                  <a:pPr marL="285750" lvl="1" indent="-285750">
                    <a:buFont typeface="Courier New" panose="02070309020205020404" pitchFamily="49" charset="0"/>
                    <a:buChar char="o"/>
                    <a:defRPr/>
                  </a:pPr>
                  <a:r>
                    <a:rPr lang="en-US" sz="1400" kern="0">
                      <a:solidFill>
                        <a:srgbClr val="122632"/>
                      </a:solidFill>
                      <a:ea typeface="ＭＳ Ｐゴシック" pitchFamily="80" charset="-128"/>
                    </a:rPr>
                    <a:t>Each </a:t>
                  </a:r>
                  <a:r>
                    <a:rPr lang="en-US" sz="1400" b="1" kern="0">
                      <a:solidFill>
                        <a:srgbClr val="122632"/>
                      </a:solidFill>
                      <a:ea typeface="ＭＳ Ｐゴシック" pitchFamily="80" charset="-128"/>
                    </a:rPr>
                    <a:t>branded WBS element </a:t>
                  </a:r>
                  <a:r>
                    <a:rPr lang="en-US" sz="1400" kern="0">
                      <a:solidFill>
                        <a:srgbClr val="122632"/>
                      </a:solidFill>
                      <a:ea typeface="ＭＳ Ｐゴシック" pitchFamily="80" charset="-128"/>
                    </a:rPr>
                    <a:t>must be linked to a brand and product type – these are </a:t>
                  </a:r>
                  <a:r>
                    <a:rPr lang="en-US" sz="1400" b="1" kern="0">
                      <a:solidFill>
                        <a:srgbClr val="122632"/>
                      </a:solidFill>
                      <a:ea typeface="ＭＳ Ｐゴシック" pitchFamily="80" charset="-128"/>
                    </a:rPr>
                    <a:t>CO-PA characteristics</a:t>
                  </a:r>
                </a:p>
                <a:p>
                  <a:pPr marL="285750" lvl="1" indent="-285750">
                    <a:buFont typeface="Courier New" panose="02070309020205020404" pitchFamily="49" charset="0"/>
                    <a:buChar char="o"/>
                    <a:defRPr/>
                  </a:pPr>
                  <a:endParaRPr lang="en-US" sz="1050" kern="0">
                    <a:solidFill>
                      <a:srgbClr val="122632"/>
                    </a:solidFill>
                    <a:ea typeface="ＭＳ Ｐゴシック" pitchFamily="80" charset="-128"/>
                  </a:endParaRPr>
                </a:p>
                <a:p>
                  <a:pPr marL="285750" lvl="1" indent="-285750">
                    <a:buFont typeface="Courier New" panose="02070309020205020404" pitchFamily="49" charset="0"/>
                    <a:buChar char="o"/>
                    <a:defRPr/>
                  </a:pPr>
                  <a:r>
                    <a:rPr lang="en-US" sz="1400" kern="0">
                      <a:solidFill>
                        <a:srgbClr val="122632"/>
                      </a:solidFill>
                      <a:ea typeface="ＭＳ Ｐゴシック" pitchFamily="80" charset="-128"/>
                    </a:rPr>
                    <a:t>As expenses are recorded against the WBS element the brand family / product type will also be visible for reporting via </a:t>
                  </a:r>
                  <a:r>
                    <a:rPr lang="en-US" sz="1400" b="1" kern="0">
                      <a:solidFill>
                        <a:srgbClr val="122632"/>
                      </a:solidFill>
                      <a:ea typeface="ＭＳ Ｐゴシック" pitchFamily="80" charset="-128"/>
                    </a:rPr>
                    <a:t>instant derivation </a:t>
                  </a:r>
                  <a:r>
                    <a:rPr lang="en-US" sz="1400" kern="0">
                      <a:solidFill>
                        <a:srgbClr val="122632"/>
                      </a:solidFill>
                      <a:ea typeface="ＭＳ Ｐゴシック" pitchFamily="80" charset="-128"/>
                    </a:rPr>
                    <a:t>functionality</a:t>
                  </a:r>
                </a:p>
                <a:p>
                  <a:pPr marL="285750" lvl="1" indent="-285750">
                    <a:buFont typeface="Courier New" panose="02070309020205020404" pitchFamily="49" charset="0"/>
                    <a:buChar char="o"/>
                    <a:defRPr/>
                  </a:pPr>
                  <a:endParaRPr lang="en-US" sz="1050" kern="0">
                    <a:solidFill>
                      <a:srgbClr val="122632"/>
                    </a:solidFill>
                    <a:ea typeface="ＭＳ Ｐゴシック" pitchFamily="80" charset="-128"/>
                  </a:endParaRPr>
                </a:p>
                <a:p>
                  <a:pPr marL="285750" lvl="1" indent="-285750">
                    <a:buFont typeface="Courier New" panose="02070309020205020404" pitchFamily="49" charset="0"/>
                    <a:buChar char="o"/>
                    <a:defRPr/>
                  </a:pPr>
                  <a:r>
                    <a:rPr lang="en-US" sz="1400" kern="0">
                      <a:solidFill>
                        <a:srgbClr val="122632"/>
                      </a:solidFill>
                      <a:ea typeface="ＭＳ Ｐゴシック" pitchFamily="80" charset="-128"/>
                    </a:rPr>
                    <a:t>At month-end </a:t>
                  </a:r>
                  <a:r>
                    <a:rPr lang="en-US" sz="1400" b="1" kern="0">
                      <a:solidFill>
                        <a:srgbClr val="122632"/>
                      </a:solidFill>
                      <a:ea typeface="ＭＳ Ｐゴシック" pitchFamily="80" charset="-128"/>
                    </a:rPr>
                    <a:t>WBS settlement </a:t>
                  </a:r>
                  <a:r>
                    <a:rPr lang="en-US" sz="1400" kern="0">
                      <a:solidFill>
                        <a:srgbClr val="122632"/>
                      </a:solidFill>
                      <a:ea typeface="ＭＳ Ｐゴシック" pitchFamily="80" charset="-128"/>
                    </a:rPr>
                    <a:t>will be performed by BSC</a:t>
                  </a:r>
                </a:p>
                <a:p>
                  <a:pPr marL="360000" lvl="1" indent="-406400">
                    <a:buFont typeface="Courier New" panose="02070309020205020404" pitchFamily="49" charset="0"/>
                    <a:buChar char="o"/>
                    <a:defRPr/>
                  </a:pPr>
                  <a:endParaRPr lang="en-US" sz="1400" kern="0">
                    <a:solidFill>
                      <a:srgbClr val="122632"/>
                    </a:solidFill>
                    <a:ea typeface="ＭＳ Ｐゴシック" pitchFamily="80" charset="-128"/>
                  </a:endParaRPr>
                </a:p>
              </p:txBody>
            </p:sp>
            <p:sp>
              <p:nvSpPr>
                <p:cNvPr id="14" name="TextBox 13">
                  <a:extLst>
                    <a:ext uri="{FF2B5EF4-FFF2-40B4-BE49-F238E27FC236}">
                      <a16:creationId xmlns:a16="http://schemas.microsoft.com/office/drawing/2014/main" id="{1A511EAE-D0A1-6E81-884C-98A8140FA8E5}"/>
                    </a:ext>
                  </a:extLst>
                </p:cNvPr>
                <p:cNvSpPr txBox="1"/>
                <p:nvPr/>
              </p:nvSpPr>
              <p:spPr>
                <a:xfrm>
                  <a:off x="6010370" y="2434147"/>
                  <a:ext cx="5154285" cy="3898948"/>
                </a:xfrm>
                <a:prstGeom prst="rect">
                  <a:avLst/>
                </a:prstGeom>
                <a:noFill/>
              </p:spPr>
              <p:txBody>
                <a:bodyPr wrap="square" lIns="0" tIns="0" rIns="0" bIns="0" rtlCol="0">
                  <a:noAutofit/>
                </a:bodyPr>
                <a:lstStyle/>
                <a:p>
                  <a:pPr marL="285750" lvl="1" indent="-285750">
                    <a:buFont typeface="Courier New" panose="02070309020205020404" pitchFamily="49" charset="0"/>
                    <a:buChar char="o"/>
                    <a:defRPr/>
                  </a:pPr>
                  <a:r>
                    <a:rPr lang="en-US" sz="1200" kern="0">
                      <a:solidFill>
                        <a:srgbClr val="122632"/>
                      </a:solidFill>
                      <a:ea typeface="ＭＳ Ｐゴシック" pitchFamily="80" charset="-128"/>
                    </a:rPr>
                    <a:t>A </a:t>
                  </a:r>
                  <a:r>
                    <a:rPr lang="en-US" sz="1200" b="1" kern="0">
                      <a:solidFill>
                        <a:srgbClr val="122632"/>
                      </a:solidFill>
                      <a:ea typeface="ＭＳ Ｐゴシック" pitchFamily="80" charset="-128"/>
                    </a:rPr>
                    <a:t>multi-brand WBS element </a:t>
                  </a:r>
                  <a:r>
                    <a:rPr lang="en-US" sz="1200" kern="0">
                      <a:solidFill>
                        <a:srgbClr val="122632"/>
                      </a:solidFill>
                      <a:ea typeface="ＭＳ Ｐゴシック" pitchFamily="80" charset="-128"/>
                    </a:rPr>
                    <a:t>will be used to collect costs where brand and product type is unknown when the purchase order is created</a:t>
                  </a:r>
                </a:p>
                <a:p>
                  <a:pPr marL="285750" lvl="1" indent="-285750">
                    <a:buFont typeface="Courier New" panose="02070309020205020404" pitchFamily="49" charset="0"/>
                    <a:buChar char="o"/>
                    <a:defRPr/>
                  </a:pPr>
                  <a:endParaRPr lang="en-US" sz="1000" kern="0">
                    <a:solidFill>
                      <a:srgbClr val="122632"/>
                    </a:solidFill>
                    <a:ea typeface="ＭＳ Ｐゴシック" pitchFamily="80" charset="-128"/>
                  </a:endParaRPr>
                </a:p>
                <a:p>
                  <a:pPr marL="285750" lvl="1" indent="-285750">
                    <a:buFont typeface="Courier New" panose="02070309020205020404" pitchFamily="49" charset="0"/>
                    <a:buChar char="o"/>
                    <a:defRPr/>
                  </a:pPr>
                  <a:r>
                    <a:rPr lang="en-US" sz="1200" kern="0">
                      <a:solidFill>
                        <a:srgbClr val="122632"/>
                      </a:solidFill>
                      <a:ea typeface="ＭＳ Ｐゴシック" pitchFamily="80" charset="-128"/>
                    </a:rPr>
                    <a:t>On a monthly basis the custom WBS allocation program will be executed, and </a:t>
                  </a:r>
                  <a:r>
                    <a:rPr lang="en-US" sz="1200" b="1" kern="0">
                      <a:solidFill>
                        <a:srgbClr val="122632"/>
                      </a:solidFill>
                      <a:ea typeface="ＭＳ Ｐゴシック" pitchFamily="80" charset="-128"/>
                    </a:rPr>
                    <a:t>the costs will be allocated from the multi-brand WBS to brand family / product type CO-PA characteristics</a:t>
                  </a:r>
                  <a:r>
                    <a:rPr lang="en-US" sz="1200" kern="0">
                      <a:solidFill>
                        <a:srgbClr val="122632"/>
                      </a:solidFill>
                      <a:ea typeface="ＭＳ Ｐゴシック" pitchFamily="80" charset="-128"/>
                    </a:rPr>
                    <a:t> based on the weighting of year-to-date net revenue per brand family / product type for the market</a:t>
                  </a:r>
                </a:p>
                <a:p>
                  <a:pPr marL="285750" lvl="1" indent="-285750">
                    <a:buFont typeface="Courier New" panose="02070309020205020404" pitchFamily="49" charset="0"/>
                    <a:buChar char="o"/>
                    <a:defRPr/>
                  </a:pPr>
                  <a:endParaRPr lang="en-GB" sz="1000" kern="0">
                    <a:solidFill>
                      <a:srgbClr val="122632"/>
                    </a:solidFill>
                    <a:ea typeface="ＭＳ Ｐゴシック" pitchFamily="80" charset="-128"/>
                  </a:endParaRPr>
                </a:p>
                <a:p>
                  <a:pPr marL="285750" lvl="1" indent="-285750">
                    <a:buFont typeface="Courier New" panose="02070309020205020404" pitchFamily="49" charset="0"/>
                    <a:buChar char="o"/>
                    <a:defRPr/>
                  </a:pPr>
                  <a:r>
                    <a:rPr lang="en-GB" sz="1200" kern="0">
                      <a:solidFill>
                        <a:srgbClr val="122632"/>
                      </a:solidFill>
                      <a:ea typeface="ＭＳ Ｐゴシック" pitchFamily="80" charset="-128"/>
                    </a:rPr>
                    <a:t>Multi-brand WBS allocation to SKU will be possible for transportation / warehousing costs based on year-to-date net volumes</a:t>
                  </a:r>
                  <a:endParaRPr lang="en-US" sz="1200" kern="0">
                    <a:solidFill>
                      <a:srgbClr val="122632"/>
                    </a:solidFill>
                    <a:ea typeface="ＭＳ Ｐゴシック" pitchFamily="80" charset="-128"/>
                  </a:endParaRPr>
                </a:p>
                <a:p>
                  <a:pPr marL="0" lvl="1">
                    <a:defRPr/>
                  </a:pPr>
                  <a:endParaRPr lang="en-US" sz="1200" kern="0">
                    <a:solidFill>
                      <a:srgbClr val="122632"/>
                    </a:solidFill>
                    <a:ea typeface="ＭＳ Ｐゴシック" pitchFamily="80" charset="-128"/>
                  </a:endParaRPr>
                </a:p>
              </p:txBody>
            </p:sp>
          </p:grpSp>
        </p:grpSp>
      </p:grpSp>
      <p:sp>
        <p:nvSpPr>
          <p:cNvPr id="21" name="Rectangle: Rounded Corners 20">
            <a:extLst>
              <a:ext uri="{FF2B5EF4-FFF2-40B4-BE49-F238E27FC236}">
                <a16:creationId xmlns:a16="http://schemas.microsoft.com/office/drawing/2014/main" id="{AA05ABAC-5908-4B21-4AED-1EF77C2B6A50}"/>
              </a:ext>
            </a:extLst>
          </p:cNvPr>
          <p:cNvSpPr/>
          <p:nvPr/>
        </p:nvSpPr>
        <p:spPr>
          <a:xfrm>
            <a:off x="1010668" y="1453041"/>
            <a:ext cx="10665393" cy="1051479"/>
          </a:xfrm>
          <a:prstGeom prst="roundRect">
            <a:avLst>
              <a:gd name="adj" fmla="val 5198"/>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JTI uses </a:t>
            </a:r>
            <a:r>
              <a:rPr lang="en-US" sz="1400" err="1"/>
              <a:t>Opex</a:t>
            </a:r>
            <a:r>
              <a:rPr lang="en-US" sz="1400"/>
              <a:t> WBS and ABC WBS for Cost Management purposes. </a:t>
            </a:r>
            <a:r>
              <a:rPr lang="en-US" sz="1400" err="1"/>
              <a:t>Opex</a:t>
            </a:r>
            <a:r>
              <a:rPr lang="en-US" sz="1400"/>
              <a:t> WBS are statistical therefore no settlement is required. There are Branded, Multi-brand and Statistical ABC WBS used in JT. </a:t>
            </a:r>
          </a:p>
          <a:p>
            <a:r>
              <a:rPr lang="en-US" sz="1400"/>
              <a:t>Only Branded and Multi-brand WBS require settlement/allocation to CO-PA characteristics at period end. </a:t>
            </a:r>
          </a:p>
          <a:p>
            <a:endParaRPr lang="en-GB" sz="1400"/>
          </a:p>
        </p:txBody>
      </p:sp>
      <p:sp>
        <p:nvSpPr>
          <p:cNvPr id="22" name="TextBox 21">
            <a:extLst>
              <a:ext uri="{FF2B5EF4-FFF2-40B4-BE49-F238E27FC236}">
                <a16:creationId xmlns:a16="http://schemas.microsoft.com/office/drawing/2014/main" id="{B8C71BA7-398E-C646-CF2F-9DD11B5665DB}"/>
              </a:ext>
            </a:extLst>
          </p:cNvPr>
          <p:cNvSpPr txBox="1"/>
          <p:nvPr/>
        </p:nvSpPr>
        <p:spPr>
          <a:xfrm>
            <a:off x="6825220" y="2767230"/>
            <a:ext cx="4850841" cy="265187"/>
          </a:xfrm>
          <a:prstGeom prst="rect">
            <a:avLst/>
          </a:prstGeom>
          <a:noFill/>
        </p:spPr>
        <p:txBody>
          <a:bodyPr wrap="square" lIns="0" tIns="0" rIns="0" bIns="0" rtlCol="0">
            <a:noAutofit/>
          </a:bodyPr>
          <a:lstStyle/>
          <a:p>
            <a:pPr>
              <a:defRPr/>
            </a:pPr>
            <a:r>
              <a:rPr lang="en-US" sz="2400" i="1" kern="0">
                <a:solidFill>
                  <a:srgbClr val="408D7A">
                    <a:lumMod val="50000"/>
                  </a:srgbClr>
                </a:solidFill>
                <a:ea typeface="ＭＳ Ｐゴシック" pitchFamily="80" charset="-128"/>
              </a:rPr>
              <a:t>Multi-brand WBS elements</a:t>
            </a:r>
          </a:p>
        </p:txBody>
      </p:sp>
      <p:pic>
        <p:nvPicPr>
          <p:cNvPr id="4" name="Graphic 3" descr="Open book with solid fill">
            <a:extLst>
              <a:ext uri="{FF2B5EF4-FFF2-40B4-BE49-F238E27FC236}">
                <a16:creationId xmlns:a16="http://schemas.microsoft.com/office/drawing/2014/main" id="{580D25EC-77B6-FBF1-9CAE-A5C008A023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9533" y="1459695"/>
            <a:ext cx="371178" cy="371178"/>
          </a:xfrm>
          <a:prstGeom prst="rect">
            <a:avLst/>
          </a:prstGeom>
        </p:spPr>
      </p:pic>
    </p:spTree>
    <p:extLst>
      <p:ext uri="{BB962C8B-B14F-4D97-AF65-F5344CB8AC3E}">
        <p14:creationId xmlns:p14="http://schemas.microsoft.com/office/powerpoint/2010/main" val="2736797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F7EEA-83C6-1E02-55A4-2B3CD9D5422C}"/>
              </a:ext>
            </a:extLst>
          </p:cNvPr>
          <p:cNvSpPr>
            <a:spLocks noGrp="1"/>
          </p:cNvSpPr>
          <p:nvPr>
            <p:ph type="sldNum" sz="quarter" idx="12"/>
          </p:nvPr>
        </p:nvSpPr>
        <p:spPr/>
        <p:txBody>
          <a:bodyPr/>
          <a:lstStyle/>
          <a:p>
            <a:fld id="{F4C94289-3309-4C35-850A-56FD49B3E346}" type="slidenum">
              <a:rPr lang="en-GB" smtClean="0"/>
              <a:t>5</a:t>
            </a:fld>
            <a:endParaRPr lang="en-GB"/>
          </a:p>
        </p:txBody>
      </p:sp>
      <p:graphicFrame>
        <p:nvGraphicFramePr>
          <p:cNvPr id="44" name="Diagram 43">
            <a:extLst>
              <a:ext uri="{FF2B5EF4-FFF2-40B4-BE49-F238E27FC236}">
                <a16:creationId xmlns:a16="http://schemas.microsoft.com/office/drawing/2014/main" id="{5AD9F1CB-C1C4-F1DC-997D-64103B22659F}"/>
              </a:ext>
            </a:extLst>
          </p:cNvPr>
          <p:cNvGraphicFramePr/>
          <p:nvPr/>
        </p:nvGraphicFramePr>
        <p:xfrm>
          <a:off x="935396" y="2170895"/>
          <a:ext cx="9920710" cy="5317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5" name="Rectangle: Rounded Corners 44">
            <a:extLst>
              <a:ext uri="{FF2B5EF4-FFF2-40B4-BE49-F238E27FC236}">
                <a16:creationId xmlns:a16="http://schemas.microsoft.com/office/drawing/2014/main" id="{92C0A470-2898-0657-6DAF-E6D14565F9A1}"/>
              </a:ext>
            </a:extLst>
          </p:cNvPr>
          <p:cNvSpPr/>
          <p:nvPr/>
        </p:nvSpPr>
        <p:spPr>
          <a:xfrm>
            <a:off x="935396" y="1570529"/>
            <a:ext cx="9930872" cy="1858471"/>
          </a:xfrm>
          <a:prstGeom prst="roundRect">
            <a:avLst>
              <a:gd name="adj" fmla="val 5198"/>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Title 15">
            <a:extLst>
              <a:ext uri="{FF2B5EF4-FFF2-40B4-BE49-F238E27FC236}">
                <a16:creationId xmlns:a16="http://schemas.microsoft.com/office/drawing/2014/main" id="{73E95323-C134-7E7C-C894-C68F9D248975}"/>
              </a:ext>
            </a:extLst>
          </p:cNvPr>
          <p:cNvSpPr>
            <a:spLocks noGrp="1"/>
          </p:cNvSpPr>
          <p:nvPr>
            <p:ph type="title"/>
          </p:nvPr>
        </p:nvSpPr>
        <p:spPr>
          <a:xfrm>
            <a:off x="1511276" y="210344"/>
            <a:ext cx="9478457" cy="984247"/>
          </a:xfrm>
        </p:spPr>
        <p:txBody>
          <a:bodyPr/>
          <a:lstStyle/>
          <a:p>
            <a:r>
              <a:rPr lang="en-US" sz="2800" cap="none"/>
              <a:t>Branded WBS Settlement - Overview</a:t>
            </a:r>
          </a:p>
        </p:txBody>
      </p:sp>
      <p:sp>
        <p:nvSpPr>
          <p:cNvPr id="47" name="TextBox 46">
            <a:extLst>
              <a:ext uri="{FF2B5EF4-FFF2-40B4-BE49-F238E27FC236}">
                <a16:creationId xmlns:a16="http://schemas.microsoft.com/office/drawing/2014/main" id="{AEFD93DB-5E8E-BC30-FD2E-5FA767883DD2}"/>
              </a:ext>
            </a:extLst>
          </p:cNvPr>
          <p:cNvSpPr txBox="1"/>
          <p:nvPr/>
        </p:nvSpPr>
        <p:spPr>
          <a:xfrm>
            <a:off x="1010242" y="1642809"/>
            <a:ext cx="9613803" cy="830903"/>
          </a:xfrm>
          <a:prstGeom prst="rect">
            <a:avLst/>
          </a:prstGeom>
          <a:noFill/>
        </p:spPr>
        <p:txBody>
          <a:bodyPr wrap="square" lIns="0" tIns="0" rIns="0" bIns="0" rtlCol="0">
            <a:noAutofit/>
          </a:bodyPr>
          <a:lstStyle/>
          <a:p>
            <a:pPr marL="144000" indent="-144000" algn="l">
              <a:buFont typeface="Arial" panose="020B0604020202020204" pitchFamily="34" charset="0"/>
              <a:buChar char="•"/>
            </a:pPr>
            <a:r>
              <a:rPr lang="en-GB" sz="1300" b="1">
                <a:solidFill>
                  <a:schemeClr val="bg1"/>
                </a:solidFill>
              </a:rPr>
              <a:t>“Branded WBS Settlement” </a:t>
            </a:r>
            <a:r>
              <a:rPr lang="en-GB" sz="1300">
                <a:solidFill>
                  <a:schemeClr val="bg1"/>
                </a:solidFill>
              </a:rPr>
              <a:t>refers to </a:t>
            </a:r>
            <a:r>
              <a:rPr lang="en-US" sz="1300">
                <a:solidFill>
                  <a:schemeClr val="bg1"/>
                </a:solidFill>
              </a:rPr>
              <a:t>the transfer of above brand contribution costs from branded WBS elements to Profitability Analysis (brand family and product type dimensions) via a settlement process</a:t>
            </a:r>
            <a:r>
              <a:rPr lang="en-GB" sz="1300">
                <a:solidFill>
                  <a:schemeClr val="bg1"/>
                </a:solidFill>
              </a:rPr>
              <a:t>.</a:t>
            </a:r>
          </a:p>
          <a:p>
            <a:pPr marL="144000" indent="-144000" algn="l">
              <a:buFont typeface="Arial" panose="020B0604020202020204" pitchFamily="34" charset="0"/>
              <a:buChar char="•"/>
            </a:pPr>
            <a:r>
              <a:rPr lang="en-GB" sz="1300">
                <a:solidFill>
                  <a:schemeClr val="bg1"/>
                </a:solidFill>
              </a:rPr>
              <a:t>Branded WBS Settlement allows for the </a:t>
            </a:r>
            <a:r>
              <a:rPr lang="en-US" sz="1400">
                <a:solidFill>
                  <a:schemeClr val="bg1"/>
                </a:solidFill>
              </a:rPr>
              <a:t>removal of any balance on WBS elements by transferring those to Profitability analysis. This is possible as </a:t>
            </a:r>
            <a:r>
              <a:rPr lang="en-GB" sz="1400">
                <a:solidFill>
                  <a:schemeClr val="bg1"/>
                </a:solidFill>
              </a:rPr>
              <a:t>Brand Family and Product type information is available for such costs from the very beginning</a:t>
            </a:r>
          </a:p>
          <a:p>
            <a:pPr marL="144000" indent="-144000" algn="l">
              <a:buFont typeface="Arial" panose="020B0604020202020204" pitchFamily="34" charset="0"/>
              <a:buChar char="•"/>
            </a:pPr>
            <a:r>
              <a:rPr lang="en-GB" sz="1300">
                <a:solidFill>
                  <a:schemeClr val="bg1"/>
                </a:solidFill>
              </a:rPr>
              <a:t>Branded WBS Settlement occurs across all Ledgers</a:t>
            </a:r>
          </a:p>
          <a:p>
            <a:pPr marL="144000" indent="-144000" algn="l">
              <a:buFont typeface="Arial" panose="020B0604020202020204" pitchFamily="34" charset="0"/>
              <a:buChar char="•"/>
            </a:pPr>
            <a:r>
              <a:rPr lang="en-GB" sz="1300">
                <a:solidFill>
                  <a:schemeClr val="bg1"/>
                </a:solidFill>
              </a:rPr>
              <a:t>The result of Branded WBS settlement is the </a:t>
            </a:r>
            <a:r>
              <a:rPr lang="en-US" sz="1300">
                <a:solidFill>
                  <a:schemeClr val="bg1"/>
                </a:solidFill>
              </a:rPr>
              <a:t>enrichment of respective P&amp;L lines with Brand Family and Product type information allowing further analysis of brand/product type profitability</a:t>
            </a:r>
          </a:p>
        </p:txBody>
      </p:sp>
      <p:pic>
        <p:nvPicPr>
          <p:cNvPr id="48" name="Graphic 47" descr="Open book with solid fill">
            <a:extLst>
              <a:ext uri="{FF2B5EF4-FFF2-40B4-BE49-F238E27FC236}">
                <a16:creationId xmlns:a16="http://schemas.microsoft.com/office/drawing/2014/main" id="{CD9149C6-4F2E-E565-268A-0B2CD2B827F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533" y="1570529"/>
            <a:ext cx="371178" cy="371178"/>
          </a:xfrm>
          <a:prstGeom prst="rect">
            <a:avLst/>
          </a:prstGeom>
        </p:spPr>
      </p:pic>
      <p:pic>
        <p:nvPicPr>
          <p:cNvPr id="49" name="Graphic 48" descr="Chevron arrows with solid fill">
            <a:extLst>
              <a:ext uri="{FF2B5EF4-FFF2-40B4-BE49-F238E27FC236}">
                <a16:creationId xmlns:a16="http://schemas.microsoft.com/office/drawing/2014/main" id="{FC37F5F3-8A5D-CEC3-AD0E-172F7C70CEF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9371" y="4619494"/>
            <a:ext cx="370800" cy="370800"/>
          </a:xfrm>
          <a:prstGeom prst="rect">
            <a:avLst/>
          </a:prstGeom>
        </p:spPr>
      </p:pic>
      <p:sp>
        <p:nvSpPr>
          <p:cNvPr id="50" name="Rectangle: Rounded Corners 49">
            <a:extLst>
              <a:ext uri="{FF2B5EF4-FFF2-40B4-BE49-F238E27FC236}">
                <a16:creationId xmlns:a16="http://schemas.microsoft.com/office/drawing/2014/main" id="{A251738F-211B-4791-C7AD-0EF691BD16BE}"/>
              </a:ext>
            </a:extLst>
          </p:cNvPr>
          <p:cNvSpPr/>
          <p:nvPr/>
        </p:nvSpPr>
        <p:spPr>
          <a:xfrm>
            <a:off x="1590575" y="4310137"/>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
        <p:nvSpPr>
          <p:cNvPr id="51" name="Rectangle: Rounded Corners 50">
            <a:extLst>
              <a:ext uri="{FF2B5EF4-FFF2-40B4-BE49-F238E27FC236}">
                <a16:creationId xmlns:a16="http://schemas.microsoft.com/office/drawing/2014/main" id="{56282F27-2672-A80B-5A6C-DCDF7A31B677}"/>
              </a:ext>
            </a:extLst>
          </p:cNvPr>
          <p:cNvSpPr/>
          <p:nvPr/>
        </p:nvSpPr>
        <p:spPr>
          <a:xfrm>
            <a:off x="3078303" y="428597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52" name="Rectangle: Rounded Corners 51">
            <a:extLst>
              <a:ext uri="{FF2B5EF4-FFF2-40B4-BE49-F238E27FC236}">
                <a16:creationId xmlns:a16="http://schemas.microsoft.com/office/drawing/2014/main" id="{1374CB04-918E-66AA-43DF-6FFE9551400F}"/>
              </a:ext>
            </a:extLst>
          </p:cNvPr>
          <p:cNvSpPr/>
          <p:nvPr/>
        </p:nvSpPr>
        <p:spPr>
          <a:xfrm>
            <a:off x="4545628" y="4280526"/>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53" name="Rectangle: Rounded Corners 52">
            <a:extLst>
              <a:ext uri="{FF2B5EF4-FFF2-40B4-BE49-F238E27FC236}">
                <a16:creationId xmlns:a16="http://schemas.microsoft.com/office/drawing/2014/main" id="{C365EC8E-F5DB-413E-9896-DEEC85F8F628}"/>
              </a:ext>
            </a:extLst>
          </p:cNvPr>
          <p:cNvSpPr/>
          <p:nvPr/>
        </p:nvSpPr>
        <p:spPr>
          <a:xfrm>
            <a:off x="6027327" y="4280526"/>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54" name="Rectangle: Rounded Corners 53">
            <a:extLst>
              <a:ext uri="{FF2B5EF4-FFF2-40B4-BE49-F238E27FC236}">
                <a16:creationId xmlns:a16="http://schemas.microsoft.com/office/drawing/2014/main" id="{47F832B8-7B77-6390-E8D3-D14198C2A62C}"/>
              </a:ext>
            </a:extLst>
          </p:cNvPr>
          <p:cNvSpPr/>
          <p:nvPr/>
        </p:nvSpPr>
        <p:spPr>
          <a:xfrm>
            <a:off x="7566601" y="4225876"/>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55" name="Rectangle: Rounded Corners 54">
            <a:extLst>
              <a:ext uri="{FF2B5EF4-FFF2-40B4-BE49-F238E27FC236}">
                <a16:creationId xmlns:a16="http://schemas.microsoft.com/office/drawing/2014/main" id="{B48635D0-022B-E4D7-944F-405925DFEA39}"/>
              </a:ext>
            </a:extLst>
          </p:cNvPr>
          <p:cNvSpPr/>
          <p:nvPr/>
        </p:nvSpPr>
        <p:spPr>
          <a:xfrm>
            <a:off x="10613884" y="4232282"/>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56" name="Rectangle: Rounded Corners 55">
            <a:extLst>
              <a:ext uri="{FF2B5EF4-FFF2-40B4-BE49-F238E27FC236}">
                <a16:creationId xmlns:a16="http://schemas.microsoft.com/office/drawing/2014/main" id="{7D8D3CCE-8296-01AF-CD8C-844F70B7FED9}"/>
              </a:ext>
            </a:extLst>
          </p:cNvPr>
          <p:cNvSpPr/>
          <p:nvPr/>
        </p:nvSpPr>
        <p:spPr>
          <a:xfrm>
            <a:off x="9105875" y="4234714"/>
            <a:ext cx="437204" cy="285245"/>
          </a:xfrm>
          <a:prstGeom prst="roundRect">
            <a:avLst/>
          </a:prstGeom>
          <a:solidFill>
            <a:schemeClr val="accent1">
              <a:lumMod val="40000"/>
              <a:lumOff val="60000"/>
            </a:schemeClr>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tx1">
                    <a:lumMod val="75000"/>
                    <a:lumOff val="25000"/>
                  </a:schemeClr>
                </a:solidFill>
              </a:rPr>
              <a:t>Entity</a:t>
            </a:r>
            <a:endParaRPr lang="en-US" sz="900" b="1">
              <a:solidFill>
                <a:schemeClr val="tx1">
                  <a:lumMod val="75000"/>
                  <a:lumOff val="25000"/>
                </a:schemeClr>
              </a:solidFill>
            </a:endParaRPr>
          </a:p>
        </p:txBody>
      </p:sp>
      <p:sp>
        <p:nvSpPr>
          <p:cNvPr id="57" name="Rectangle: Rounded Corners 56">
            <a:extLst>
              <a:ext uri="{FF2B5EF4-FFF2-40B4-BE49-F238E27FC236}">
                <a16:creationId xmlns:a16="http://schemas.microsoft.com/office/drawing/2014/main" id="{9C00F817-4BE3-B533-DE91-E2B74E865AC1}"/>
              </a:ext>
            </a:extLst>
          </p:cNvPr>
          <p:cNvSpPr/>
          <p:nvPr/>
        </p:nvSpPr>
        <p:spPr>
          <a:xfrm>
            <a:off x="3776747" y="4112337"/>
            <a:ext cx="4488873"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3DF73365-CE61-F5C6-21CB-361875B298CE}"/>
              </a:ext>
            </a:extLst>
          </p:cNvPr>
          <p:cNvSpPr/>
          <p:nvPr/>
        </p:nvSpPr>
        <p:spPr>
          <a:xfrm>
            <a:off x="9669547" y="4112336"/>
            <a:ext cx="1566733"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852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F7EEA-83C6-1E02-55A4-2B3CD9D5422C}"/>
              </a:ext>
            </a:extLst>
          </p:cNvPr>
          <p:cNvSpPr>
            <a:spLocks noGrp="1"/>
          </p:cNvSpPr>
          <p:nvPr>
            <p:ph type="sldNum" sz="quarter" idx="12"/>
          </p:nvPr>
        </p:nvSpPr>
        <p:spPr/>
        <p:txBody>
          <a:bodyPr/>
          <a:lstStyle/>
          <a:p>
            <a:fld id="{F4C94289-3309-4C35-850A-56FD49B3E346}" type="slidenum">
              <a:rPr lang="en-GB" smtClean="0"/>
              <a:t>6</a:t>
            </a:fld>
            <a:endParaRPr lang="en-GB"/>
          </a:p>
        </p:txBody>
      </p:sp>
      <p:graphicFrame>
        <p:nvGraphicFramePr>
          <p:cNvPr id="5" name="Diagram 4">
            <a:extLst>
              <a:ext uri="{FF2B5EF4-FFF2-40B4-BE49-F238E27FC236}">
                <a16:creationId xmlns:a16="http://schemas.microsoft.com/office/drawing/2014/main" id="{80568D7F-3D3F-5007-FFDF-6451E93380C0}"/>
              </a:ext>
            </a:extLst>
          </p:cNvPr>
          <p:cNvGraphicFramePr/>
          <p:nvPr/>
        </p:nvGraphicFramePr>
        <p:xfrm>
          <a:off x="935396" y="2189480"/>
          <a:ext cx="9920710" cy="5317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Rounded Corners 5">
            <a:extLst>
              <a:ext uri="{FF2B5EF4-FFF2-40B4-BE49-F238E27FC236}">
                <a16:creationId xmlns:a16="http://schemas.microsoft.com/office/drawing/2014/main" id="{0B1505D8-5F3F-453C-C42A-706B73623D70}"/>
              </a:ext>
            </a:extLst>
          </p:cNvPr>
          <p:cNvSpPr/>
          <p:nvPr/>
        </p:nvSpPr>
        <p:spPr>
          <a:xfrm>
            <a:off x="935396" y="1453052"/>
            <a:ext cx="9930872" cy="1818655"/>
          </a:xfrm>
          <a:prstGeom prst="roundRect">
            <a:avLst>
              <a:gd name="adj" fmla="val 5198"/>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5">
            <a:extLst>
              <a:ext uri="{FF2B5EF4-FFF2-40B4-BE49-F238E27FC236}">
                <a16:creationId xmlns:a16="http://schemas.microsoft.com/office/drawing/2014/main" id="{5D55B41E-C34C-62CF-4AFF-C2B48CCB199C}"/>
              </a:ext>
            </a:extLst>
          </p:cNvPr>
          <p:cNvSpPr>
            <a:spLocks noGrp="1"/>
          </p:cNvSpPr>
          <p:nvPr>
            <p:ph type="title"/>
          </p:nvPr>
        </p:nvSpPr>
        <p:spPr>
          <a:xfrm>
            <a:off x="1511276" y="210344"/>
            <a:ext cx="9478457" cy="984247"/>
          </a:xfrm>
        </p:spPr>
        <p:txBody>
          <a:bodyPr/>
          <a:lstStyle/>
          <a:p>
            <a:r>
              <a:rPr lang="en-US" sz="2800" cap="none"/>
              <a:t>Multi- Branded WBS Settlement - Overview</a:t>
            </a:r>
          </a:p>
        </p:txBody>
      </p:sp>
      <p:sp>
        <p:nvSpPr>
          <p:cNvPr id="8" name="TextBox 7">
            <a:extLst>
              <a:ext uri="{FF2B5EF4-FFF2-40B4-BE49-F238E27FC236}">
                <a16:creationId xmlns:a16="http://schemas.microsoft.com/office/drawing/2014/main" id="{7049AF21-8086-A2E6-91DA-4FD71C15BE04}"/>
              </a:ext>
            </a:extLst>
          </p:cNvPr>
          <p:cNvSpPr txBox="1"/>
          <p:nvPr/>
        </p:nvSpPr>
        <p:spPr>
          <a:xfrm>
            <a:off x="1010242" y="1611057"/>
            <a:ext cx="9613803" cy="830903"/>
          </a:xfrm>
          <a:prstGeom prst="rect">
            <a:avLst/>
          </a:prstGeom>
          <a:noFill/>
        </p:spPr>
        <p:txBody>
          <a:bodyPr wrap="square" lIns="0" tIns="0" rIns="0" bIns="0" rtlCol="0">
            <a:noAutofit/>
          </a:bodyPr>
          <a:lstStyle/>
          <a:p>
            <a:pPr marL="144000" indent="-144000" algn="l">
              <a:buFont typeface="Arial" panose="020B0604020202020204" pitchFamily="34" charset="0"/>
              <a:buChar char="•"/>
            </a:pPr>
            <a:r>
              <a:rPr lang="en-GB" sz="1300" b="1">
                <a:solidFill>
                  <a:schemeClr val="bg1"/>
                </a:solidFill>
              </a:rPr>
              <a:t>“Multi-Branded WBS Settlement” </a:t>
            </a:r>
            <a:r>
              <a:rPr lang="en-GB" sz="1300">
                <a:solidFill>
                  <a:schemeClr val="bg1"/>
                </a:solidFill>
              </a:rPr>
              <a:t>refers to </a:t>
            </a:r>
            <a:r>
              <a:rPr lang="en-US" sz="1300">
                <a:solidFill>
                  <a:schemeClr val="bg1"/>
                </a:solidFill>
              </a:rPr>
              <a:t>the transfer of above brand contribution costs from multi-branded WBS elements to Profitability Analysis (brand family and product type dimensions) via a settlement process</a:t>
            </a:r>
            <a:r>
              <a:rPr lang="en-GB" sz="1300">
                <a:solidFill>
                  <a:schemeClr val="bg1"/>
                </a:solidFill>
              </a:rPr>
              <a:t>.</a:t>
            </a:r>
          </a:p>
          <a:p>
            <a:pPr marL="144000" indent="-144000" algn="l">
              <a:buFont typeface="Arial" panose="020B0604020202020204" pitchFamily="34" charset="0"/>
              <a:buChar char="•"/>
            </a:pPr>
            <a:r>
              <a:rPr lang="en-GB" sz="1300">
                <a:solidFill>
                  <a:schemeClr val="bg1"/>
                </a:solidFill>
              </a:rPr>
              <a:t>Multi-Branded WBS Settlement occurs across all Ledgers</a:t>
            </a:r>
          </a:p>
          <a:p>
            <a:pPr marL="144000" indent="-144000" algn="l">
              <a:buFont typeface="Arial" panose="020B0604020202020204" pitchFamily="34" charset="0"/>
              <a:buChar char="•"/>
            </a:pPr>
            <a:r>
              <a:rPr lang="en-GB" sz="1300">
                <a:solidFill>
                  <a:schemeClr val="bg1"/>
                </a:solidFill>
              </a:rPr>
              <a:t>The result of Multi-Branded WBS settlement is the </a:t>
            </a:r>
            <a:r>
              <a:rPr lang="en-US" sz="1300">
                <a:solidFill>
                  <a:schemeClr val="bg1"/>
                </a:solidFill>
              </a:rPr>
              <a:t>enrichment of respective P&amp;L lines with Brand Family and Product type information allowing further analysis of brand/product type profitability</a:t>
            </a:r>
          </a:p>
          <a:p>
            <a:pPr marL="144000" indent="-144000" algn="l">
              <a:buFont typeface="Arial" panose="020B0604020202020204" pitchFamily="34" charset="0"/>
              <a:buChar char="•"/>
            </a:pPr>
            <a:r>
              <a:rPr lang="en-GB" sz="1300">
                <a:solidFill>
                  <a:schemeClr val="bg1"/>
                </a:solidFill>
              </a:rPr>
              <a:t>Multi-Branded WBS Settlement occurs across all Ledgers</a:t>
            </a:r>
          </a:p>
          <a:p>
            <a:pPr marL="144000" indent="-144000" algn="l">
              <a:buFont typeface="Arial" panose="020B0604020202020204" pitchFamily="34" charset="0"/>
              <a:buChar char="•"/>
            </a:pPr>
            <a:r>
              <a:rPr lang="en-GB" sz="1300">
                <a:solidFill>
                  <a:schemeClr val="bg1"/>
                </a:solidFill>
              </a:rPr>
              <a:t>The result of Multi-Branded WBS settlement is the </a:t>
            </a:r>
            <a:r>
              <a:rPr lang="en-US" sz="1300">
                <a:solidFill>
                  <a:schemeClr val="bg1"/>
                </a:solidFill>
              </a:rPr>
              <a:t>enrichment of respective P&amp;L lines with Brand Family and Product type information allowing further analysis of brand/product type profitability</a:t>
            </a:r>
          </a:p>
          <a:p>
            <a:pPr marL="144000" indent="-144000" algn="l">
              <a:buFont typeface="Arial" panose="020B0604020202020204" pitchFamily="34" charset="0"/>
              <a:buChar char="•"/>
            </a:pPr>
            <a:endParaRPr lang="en-GB" sz="1300">
              <a:solidFill>
                <a:schemeClr val="bg1"/>
              </a:solidFill>
            </a:endParaRPr>
          </a:p>
        </p:txBody>
      </p:sp>
      <p:pic>
        <p:nvPicPr>
          <p:cNvPr id="9" name="Graphic 8" descr="Open book with solid fill">
            <a:extLst>
              <a:ext uri="{FF2B5EF4-FFF2-40B4-BE49-F238E27FC236}">
                <a16:creationId xmlns:a16="http://schemas.microsoft.com/office/drawing/2014/main" id="{F9D07447-CCBA-D7C3-B99C-BD343391AF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533" y="1672127"/>
            <a:ext cx="371178" cy="371178"/>
          </a:xfrm>
          <a:prstGeom prst="rect">
            <a:avLst/>
          </a:prstGeom>
        </p:spPr>
      </p:pic>
      <p:pic>
        <p:nvPicPr>
          <p:cNvPr id="10" name="Graphic 9" descr="Chevron arrows with solid fill">
            <a:extLst>
              <a:ext uri="{FF2B5EF4-FFF2-40B4-BE49-F238E27FC236}">
                <a16:creationId xmlns:a16="http://schemas.microsoft.com/office/drawing/2014/main" id="{0863968D-B05F-08A8-BE8E-4D5773178B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9371" y="4638079"/>
            <a:ext cx="370800" cy="370800"/>
          </a:xfrm>
          <a:prstGeom prst="rect">
            <a:avLst/>
          </a:prstGeom>
        </p:spPr>
      </p:pic>
      <p:sp>
        <p:nvSpPr>
          <p:cNvPr id="11" name="Rectangle: Rounded Corners 10">
            <a:extLst>
              <a:ext uri="{FF2B5EF4-FFF2-40B4-BE49-F238E27FC236}">
                <a16:creationId xmlns:a16="http://schemas.microsoft.com/office/drawing/2014/main" id="{86F1A507-AE6A-594F-B5E7-C784D2224430}"/>
              </a:ext>
            </a:extLst>
          </p:cNvPr>
          <p:cNvSpPr/>
          <p:nvPr/>
        </p:nvSpPr>
        <p:spPr>
          <a:xfrm>
            <a:off x="1771865" y="4304554"/>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
        <p:nvSpPr>
          <p:cNvPr id="12" name="Rectangle: Rounded Corners 11">
            <a:extLst>
              <a:ext uri="{FF2B5EF4-FFF2-40B4-BE49-F238E27FC236}">
                <a16:creationId xmlns:a16="http://schemas.microsoft.com/office/drawing/2014/main" id="{24AA4BC9-1C38-A858-3976-F17055A11772}"/>
              </a:ext>
            </a:extLst>
          </p:cNvPr>
          <p:cNvSpPr/>
          <p:nvPr/>
        </p:nvSpPr>
        <p:spPr>
          <a:xfrm>
            <a:off x="3415125" y="4318003"/>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3" name="Rectangle: Rounded Corners 12">
            <a:extLst>
              <a:ext uri="{FF2B5EF4-FFF2-40B4-BE49-F238E27FC236}">
                <a16:creationId xmlns:a16="http://schemas.microsoft.com/office/drawing/2014/main" id="{3FD424DF-C8A4-C3B9-4B60-215F69512A95}"/>
              </a:ext>
            </a:extLst>
          </p:cNvPr>
          <p:cNvSpPr/>
          <p:nvPr/>
        </p:nvSpPr>
        <p:spPr>
          <a:xfrm>
            <a:off x="5259234" y="4304555"/>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4" name="Rectangle: Rounded Corners 13">
            <a:extLst>
              <a:ext uri="{FF2B5EF4-FFF2-40B4-BE49-F238E27FC236}">
                <a16:creationId xmlns:a16="http://schemas.microsoft.com/office/drawing/2014/main" id="{A87A4B3F-29C3-FDE8-69E4-3F25C4DAA73C}"/>
              </a:ext>
            </a:extLst>
          </p:cNvPr>
          <p:cNvSpPr/>
          <p:nvPr/>
        </p:nvSpPr>
        <p:spPr>
          <a:xfrm>
            <a:off x="7005343" y="4344655"/>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5" name="Rectangle: Rounded Corners 14">
            <a:extLst>
              <a:ext uri="{FF2B5EF4-FFF2-40B4-BE49-F238E27FC236}">
                <a16:creationId xmlns:a16="http://schemas.microsoft.com/office/drawing/2014/main" id="{B55D180B-CF0C-7211-8102-22BCD009867F}"/>
              </a:ext>
            </a:extLst>
          </p:cNvPr>
          <p:cNvSpPr/>
          <p:nvPr/>
        </p:nvSpPr>
        <p:spPr>
          <a:xfrm>
            <a:off x="10479388" y="4304552"/>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6" name="Rectangle: Rounded Corners 15">
            <a:extLst>
              <a:ext uri="{FF2B5EF4-FFF2-40B4-BE49-F238E27FC236}">
                <a16:creationId xmlns:a16="http://schemas.microsoft.com/office/drawing/2014/main" id="{C2049C62-940E-075D-406B-CDB6F72EC71E}"/>
              </a:ext>
            </a:extLst>
          </p:cNvPr>
          <p:cNvSpPr/>
          <p:nvPr/>
        </p:nvSpPr>
        <p:spPr>
          <a:xfrm>
            <a:off x="8711673" y="4304553"/>
            <a:ext cx="437204" cy="285245"/>
          </a:xfrm>
          <a:prstGeom prst="roundRect">
            <a:avLst/>
          </a:prstGeom>
          <a:solidFill>
            <a:schemeClr val="accent1">
              <a:lumMod val="40000"/>
              <a:lumOff val="60000"/>
            </a:schemeClr>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tx1">
                    <a:lumMod val="75000"/>
                    <a:lumOff val="25000"/>
                  </a:schemeClr>
                </a:solidFill>
              </a:rPr>
              <a:t>Entity</a:t>
            </a:r>
            <a:endParaRPr lang="en-US" sz="900" b="1">
              <a:solidFill>
                <a:schemeClr val="tx1">
                  <a:lumMod val="75000"/>
                  <a:lumOff val="25000"/>
                </a:schemeClr>
              </a:solidFill>
            </a:endParaRPr>
          </a:p>
        </p:txBody>
      </p:sp>
      <p:sp>
        <p:nvSpPr>
          <p:cNvPr id="17" name="Rectangle: Rounded Corners 16">
            <a:extLst>
              <a:ext uri="{FF2B5EF4-FFF2-40B4-BE49-F238E27FC236}">
                <a16:creationId xmlns:a16="http://schemas.microsoft.com/office/drawing/2014/main" id="{7CA1FE76-9103-8D50-0531-0E9E18566ED5}"/>
              </a:ext>
            </a:extLst>
          </p:cNvPr>
          <p:cNvSpPr/>
          <p:nvPr/>
        </p:nvSpPr>
        <p:spPr>
          <a:xfrm>
            <a:off x="4317298" y="4130922"/>
            <a:ext cx="3182629"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2DF7049-E659-8CB6-688F-8010B3BCAF7A}"/>
              </a:ext>
            </a:extLst>
          </p:cNvPr>
          <p:cNvSpPr/>
          <p:nvPr/>
        </p:nvSpPr>
        <p:spPr>
          <a:xfrm>
            <a:off x="9550776" y="4147053"/>
            <a:ext cx="1566733"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577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6633F4-3B7F-56AA-9903-731DA19EA4DC}"/>
              </a:ext>
            </a:extLst>
          </p:cNvPr>
          <p:cNvSpPr>
            <a:spLocks noGrp="1"/>
          </p:cNvSpPr>
          <p:nvPr>
            <p:ph type="sldNum" sz="quarter" idx="12"/>
          </p:nvPr>
        </p:nvSpPr>
        <p:spPr/>
        <p:txBody>
          <a:bodyPr/>
          <a:lstStyle/>
          <a:p>
            <a:fld id="{F4C94289-3309-4C35-850A-56FD49B3E346}" type="slidenum">
              <a:rPr lang="en-GB" smtClean="0"/>
              <a:t>7</a:t>
            </a:fld>
            <a:endParaRPr lang="en-GB"/>
          </a:p>
        </p:txBody>
      </p:sp>
      <p:graphicFrame>
        <p:nvGraphicFramePr>
          <p:cNvPr id="5" name="Diagram 4">
            <a:extLst>
              <a:ext uri="{FF2B5EF4-FFF2-40B4-BE49-F238E27FC236}">
                <a16:creationId xmlns:a16="http://schemas.microsoft.com/office/drawing/2014/main" id="{F8699A9E-BAA5-FE5D-4592-3B201D7DF83E}"/>
              </a:ext>
            </a:extLst>
          </p:cNvPr>
          <p:cNvGraphicFramePr/>
          <p:nvPr/>
        </p:nvGraphicFramePr>
        <p:xfrm>
          <a:off x="935396" y="2189480"/>
          <a:ext cx="9920710" cy="5317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Rounded Corners 5">
            <a:extLst>
              <a:ext uri="{FF2B5EF4-FFF2-40B4-BE49-F238E27FC236}">
                <a16:creationId xmlns:a16="http://schemas.microsoft.com/office/drawing/2014/main" id="{0A50C4D6-B493-1BA3-8E31-07459A927167}"/>
              </a:ext>
            </a:extLst>
          </p:cNvPr>
          <p:cNvSpPr/>
          <p:nvPr/>
        </p:nvSpPr>
        <p:spPr>
          <a:xfrm>
            <a:off x="935396" y="1459695"/>
            <a:ext cx="9930872" cy="1625317"/>
          </a:xfrm>
          <a:prstGeom prst="roundRect">
            <a:avLst>
              <a:gd name="adj" fmla="val 5198"/>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5">
            <a:extLst>
              <a:ext uri="{FF2B5EF4-FFF2-40B4-BE49-F238E27FC236}">
                <a16:creationId xmlns:a16="http://schemas.microsoft.com/office/drawing/2014/main" id="{ECC15CE5-8A36-A234-5039-AB84FDBA9AD7}"/>
              </a:ext>
            </a:extLst>
          </p:cNvPr>
          <p:cNvSpPr>
            <a:spLocks noGrp="1"/>
          </p:cNvSpPr>
          <p:nvPr>
            <p:ph type="title"/>
          </p:nvPr>
        </p:nvSpPr>
        <p:spPr>
          <a:xfrm>
            <a:off x="1511276" y="210344"/>
            <a:ext cx="9478457" cy="984247"/>
          </a:xfrm>
        </p:spPr>
        <p:txBody>
          <a:bodyPr/>
          <a:lstStyle/>
          <a:p>
            <a:r>
              <a:rPr lang="en-US" sz="2800" cap="none" dirty="0"/>
              <a:t>Custom Multi- Branded WBS Allocation - Overview</a:t>
            </a:r>
          </a:p>
        </p:txBody>
      </p:sp>
      <p:sp>
        <p:nvSpPr>
          <p:cNvPr id="8" name="TextBox 7">
            <a:extLst>
              <a:ext uri="{FF2B5EF4-FFF2-40B4-BE49-F238E27FC236}">
                <a16:creationId xmlns:a16="http://schemas.microsoft.com/office/drawing/2014/main" id="{83DA0198-4380-2B8B-1EC2-6A4747EF3673}"/>
              </a:ext>
            </a:extLst>
          </p:cNvPr>
          <p:cNvSpPr txBox="1"/>
          <p:nvPr/>
        </p:nvSpPr>
        <p:spPr>
          <a:xfrm>
            <a:off x="1010242" y="1531975"/>
            <a:ext cx="9613803" cy="830903"/>
          </a:xfrm>
          <a:prstGeom prst="rect">
            <a:avLst/>
          </a:prstGeom>
          <a:noFill/>
        </p:spPr>
        <p:txBody>
          <a:bodyPr wrap="square" lIns="0" tIns="0" rIns="0" bIns="0" rtlCol="0">
            <a:noAutofit/>
          </a:bodyPr>
          <a:lstStyle/>
          <a:p>
            <a:pPr marL="144000" indent="-144000" algn="l">
              <a:buFont typeface="Arial" panose="020B0604020202020204" pitchFamily="34" charset="0"/>
              <a:buChar char="•"/>
            </a:pPr>
            <a:r>
              <a:rPr lang="en-GB" sz="1300" b="1">
                <a:solidFill>
                  <a:schemeClr val="bg1"/>
                </a:solidFill>
              </a:rPr>
              <a:t>“Custom Multi-Branded WBS Settlement” </a:t>
            </a:r>
            <a:r>
              <a:rPr lang="en-GB" sz="1300">
                <a:solidFill>
                  <a:schemeClr val="bg1"/>
                </a:solidFill>
              </a:rPr>
              <a:t>refers to </a:t>
            </a:r>
            <a:r>
              <a:rPr lang="en-US" sz="1300">
                <a:solidFill>
                  <a:schemeClr val="bg1"/>
                </a:solidFill>
              </a:rPr>
              <a:t>the transfer of above brand contribution costs from multi-branded WBS elements to Profitability Analysis (brand family and product type dimensions) proportionally to the YTD net revenues or volumes</a:t>
            </a:r>
          </a:p>
          <a:p>
            <a:pPr marL="144000" indent="-144000" algn="l">
              <a:buFont typeface="Arial" panose="020B0604020202020204" pitchFamily="34" charset="0"/>
              <a:buChar char="•"/>
            </a:pPr>
            <a:r>
              <a:rPr lang="en-GB" sz="1300">
                <a:solidFill>
                  <a:schemeClr val="bg1"/>
                </a:solidFill>
              </a:rPr>
              <a:t>The result of Branded WBS settlement is the </a:t>
            </a:r>
            <a:r>
              <a:rPr lang="en-US" sz="1300">
                <a:solidFill>
                  <a:schemeClr val="bg1"/>
                </a:solidFill>
              </a:rPr>
              <a:t>enrichment of respective P&amp;L lines with Brand Family and Product type information allowing further analysis of brand/product type profitability</a:t>
            </a:r>
          </a:p>
          <a:p>
            <a:pPr marL="144000" indent="-144000" algn="l">
              <a:buFont typeface="Arial" panose="020B0604020202020204" pitchFamily="34" charset="0"/>
              <a:buChar char="•"/>
            </a:pPr>
            <a:r>
              <a:rPr lang="en-US" sz="1300">
                <a:solidFill>
                  <a:schemeClr val="bg1"/>
                </a:solidFill>
              </a:rPr>
              <a:t>Ledger impact: IFRS</a:t>
            </a:r>
          </a:p>
          <a:p>
            <a:pPr marL="144000" indent="-144000" algn="l">
              <a:buFont typeface="Arial" panose="020B0604020202020204" pitchFamily="34" charset="0"/>
              <a:buChar char="•"/>
            </a:pPr>
            <a:endParaRPr lang="en-GB" sz="1300">
              <a:solidFill>
                <a:schemeClr val="bg1"/>
              </a:solidFill>
            </a:endParaRPr>
          </a:p>
        </p:txBody>
      </p:sp>
      <p:pic>
        <p:nvPicPr>
          <p:cNvPr id="9" name="Graphic 8" descr="Open book with solid fill">
            <a:extLst>
              <a:ext uri="{FF2B5EF4-FFF2-40B4-BE49-F238E27FC236}">
                <a16:creationId xmlns:a16="http://schemas.microsoft.com/office/drawing/2014/main" id="{5A04CE6A-ABAA-B154-B6BD-2BDCFE9FDDB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533" y="1459695"/>
            <a:ext cx="371178" cy="371178"/>
          </a:xfrm>
          <a:prstGeom prst="rect">
            <a:avLst/>
          </a:prstGeom>
        </p:spPr>
      </p:pic>
      <p:pic>
        <p:nvPicPr>
          <p:cNvPr id="10" name="Graphic 9" descr="Chevron arrows with solid fill">
            <a:extLst>
              <a:ext uri="{FF2B5EF4-FFF2-40B4-BE49-F238E27FC236}">
                <a16:creationId xmlns:a16="http://schemas.microsoft.com/office/drawing/2014/main" id="{0CB5B25A-8044-451D-252A-A79FCDE9790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9371" y="4638079"/>
            <a:ext cx="370800" cy="370800"/>
          </a:xfrm>
          <a:prstGeom prst="rect">
            <a:avLst/>
          </a:prstGeom>
        </p:spPr>
      </p:pic>
      <p:sp>
        <p:nvSpPr>
          <p:cNvPr id="11" name="Rectangle: Rounded Corners 10">
            <a:extLst>
              <a:ext uri="{FF2B5EF4-FFF2-40B4-BE49-F238E27FC236}">
                <a16:creationId xmlns:a16="http://schemas.microsoft.com/office/drawing/2014/main" id="{5AC74B0D-1482-4C45-BAB3-A5D259F6D24D}"/>
              </a:ext>
            </a:extLst>
          </p:cNvPr>
          <p:cNvSpPr/>
          <p:nvPr/>
        </p:nvSpPr>
        <p:spPr>
          <a:xfrm>
            <a:off x="1525528" y="429098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
        <p:nvSpPr>
          <p:cNvPr id="12" name="Rectangle: Rounded Corners 11">
            <a:extLst>
              <a:ext uri="{FF2B5EF4-FFF2-40B4-BE49-F238E27FC236}">
                <a16:creationId xmlns:a16="http://schemas.microsoft.com/office/drawing/2014/main" id="{1397EC55-6E8A-4E38-B025-193AC3636AF5}"/>
              </a:ext>
            </a:extLst>
          </p:cNvPr>
          <p:cNvSpPr/>
          <p:nvPr/>
        </p:nvSpPr>
        <p:spPr>
          <a:xfrm>
            <a:off x="2790580" y="429098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3" name="Rectangle: Rounded Corners 12">
            <a:extLst>
              <a:ext uri="{FF2B5EF4-FFF2-40B4-BE49-F238E27FC236}">
                <a16:creationId xmlns:a16="http://schemas.microsoft.com/office/drawing/2014/main" id="{A1D9B935-A015-3AB8-FFA8-BCFAF9A7279A}"/>
              </a:ext>
            </a:extLst>
          </p:cNvPr>
          <p:cNvSpPr/>
          <p:nvPr/>
        </p:nvSpPr>
        <p:spPr>
          <a:xfrm>
            <a:off x="4153221" y="429098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
        <p:nvSpPr>
          <p:cNvPr id="14" name="Rectangle: Rounded Corners 13">
            <a:extLst>
              <a:ext uri="{FF2B5EF4-FFF2-40B4-BE49-F238E27FC236}">
                <a16:creationId xmlns:a16="http://schemas.microsoft.com/office/drawing/2014/main" id="{F7815E9E-1247-4E8E-7B9E-F471AE70E7F0}"/>
              </a:ext>
            </a:extLst>
          </p:cNvPr>
          <p:cNvSpPr/>
          <p:nvPr/>
        </p:nvSpPr>
        <p:spPr>
          <a:xfrm>
            <a:off x="10613884" y="4250867"/>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5" name="Rectangle: Rounded Corners 14">
            <a:extLst>
              <a:ext uri="{FF2B5EF4-FFF2-40B4-BE49-F238E27FC236}">
                <a16:creationId xmlns:a16="http://schemas.microsoft.com/office/drawing/2014/main" id="{0E37AF3B-479F-80CE-3C9A-E5ACF5288FE8}"/>
              </a:ext>
            </a:extLst>
          </p:cNvPr>
          <p:cNvSpPr/>
          <p:nvPr/>
        </p:nvSpPr>
        <p:spPr>
          <a:xfrm>
            <a:off x="6629405" y="4290981"/>
            <a:ext cx="437204" cy="285245"/>
          </a:xfrm>
          <a:prstGeom prst="roundRect">
            <a:avLst/>
          </a:prstGeom>
          <a:solidFill>
            <a:schemeClr val="accent1">
              <a:lumMod val="40000"/>
              <a:lumOff val="60000"/>
            </a:schemeClr>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tx1">
                    <a:lumMod val="75000"/>
                    <a:lumOff val="25000"/>
                  </a:schemeClr>
                </a:solidFill>
              </a:rPr>
              <a:t>Entity</a:t>
            </a:r>
            <a:endParaRPr lang="en-US" sz="900" b="1">
              <a:solidFill>
                <a:schemeClr val="tx1">
                  <a:lumMod val="75000"/>
                  <a:lumOff val="25000"/>
                </a:schemeClr>
              </a:solidFill>
            </a:endParaRPr>
          </a:p>
        </p:txBody>
      </p:sp>
      <p:sp>
        <p:nvSpPr>
          <p:cNvPr id="16" name="Rectangle: Rounded Corners 15">
            <a:extLst>
              <a:ext uri="{FF2B5EF4-FFF2-40B4-BE49-F238E27FC236}">
                <a16:creationId xmlns:a16="http://schemas.microsoft.com/office/drawing/2014/main" id="{4016F04C-A1F5-797B-B2C8-3ED23C7F127F}"/>
              </a:ext>
            </a:extLst>
          </p:cNvPr>
          <p:cNvSpPr/>
          <p:nvPr/>
        </p:nvSpPr>
        <p:spPr>
          <a:xfrm>
            <a:off x="4717096" y="4147053"/>
            <a:ext cx="1054584"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DB8C695C-08DE-B8C8-18BA-8F39F4F75B9F}"/>
              </a:ext>
            </a:extLst>
          </p:cNvPr>
          <p:cNvSpPr/>
          <p:nvPr/>
        </p:nvSpPr>
        <p:spPr>
          <a:xfrm>
            <a:off x="9844279" y="4147053"/>
            <a:ext cx="1294776" cy="1352851"/>
          </a:xfrm>
          <a:prstGeom prst="roundRect">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34F4C589-7B04-0634-E5AE-F56C73A993FE}"/>
              </a:ext>
            </a:extLst>
          </p:cNvPr>
          <p:cNvSpPr/>
          <p:nvPr/>
        </p:nvSpPr>
        <p:spPr>
          <a:xfrm>
            <a:off x="5297260" y="429098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JT BC</a:t>
            </a:r>
            <a:endParaRPr lang="en-US" sz="900" b="1">
              <a:solidFill>
                <a:schemeClr val="bg1"/>
              </a:solidFill>
            </a:endParaRPr>
          </a:p>
        </p:txBody>
      </p:sp>
      <p:sp>
        <p:nvSpPr>
          <p:cNvPr id="19" name="Rectangle: Rounded Corners 18">
            <a:extLst>
              <a:ext uri="{FF2B5EF4-FFF2-40B4-BE49-F238E27FC236}">
                <a16:creationId xmlns:a16="http://schemas.microsoft.com/office/drawing/2014/main" id="{3BA50F70-8235-3C2F-FFEC-84C8139EEA3C}"/>
              </a:ext>
            </a:extLst>
          </p:cNvPr>
          <p:cNvSpPr/>
          <p:nvPr/>
        </p:nvSpPr>
        <p:spPr>
          <a:xfrm>
            <a:off x="8851129" y="4290981"/>
            <a:ext cx="437204" cy="285245"/>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
        <p:nvSpPr>
          <p:cNvPr id="20" name="Rectangle: Rounded Corners 19">
            <a:extLst>
              <a:ext uri="{FF2B5EF4-FFF2-40B4-BE49-F238E27FC236}">
                <a16:creationId xmlns:a16="http://schemas.microsoft.com/office/drawing/2014/main" id="{E0B772CD-03E6-89D4-1DA5-31714A7E8496}"/>
              </a:ext>
            </a:extLst>
          </p:cNvPr>
          <p:cNvSpPr/>
          <p:nvPr/>
        </p:nvSpPr>
        <p:spPr>
          <a:xfrm>
            <a:off x="7556200" y="4289925"/>
            <a:ext cx="437204" cy="270334"/>
          </a:xfrm>
          <a:prstGeom prst="roundRect">
            <a:avLst/>
          </a:prstGeom>
          <a:solidFill>
            <a:schemeClr val="accent3"/>
          </a:solidFill>
          <a:ln w="19050" cap="flat" cmpd="sng" algn="ctr">
            <a:solidFill>
              <a:srgbClr val="1A3040">
                <a:lumMod val="90000"/>
                <a:lumOff val="10000"/>
              </a:srgbClr>
            </a:solidFill>
            <a:prstDash val="solid"/>
            <a:miter lim="800000"/>
          </a:ln>
          <a:effectLst>
            <a:outerShdw blurRad="63500" sx="102000" sy="102000" algn="ctr" rotWithShape="0">
              <a:prstClr val="black">
                <a:alpha val="40000"/>
              </a:prstClr>
            </a:outerShdw>
          </a:effectLst>
        </p:spPr>
        <p:txBody>
          <a:bodyPr spcFirstLastPara="0" vert="horz" wrap="square" lIns="34290" tIns="34290" rIns="34290" bIns="34290" numCol="1" spcCol="1270" anchor="ctr" anchorCtr="0">
            <a:noAutofit/>
          </a:bodyPr>
          <a:lstStyle/>
          <a:p>
            <a:r>
              <a:rPr lang="en-GB" sz="900" b="1">
                <a:solidFill>
                  <a:schemeClr val="bg1"/>
                </a:solidFill>
              </a:rPr>
              <a:t>GBS</a:t>
            </a:r>
            <a:endParaRPr lang="en-US" sz="900" b="1">
              <a:solidFill>
                <a:schemeClr val="bg1"/>
              </a:solidFill>
            </a:endParaRPr>
          </a:p>
        </p:txBody>
      </p:sp>
    </p:spTree>
    <p:extLst>
      <p:ext uri="{BB962C8B-B14F-4D97-AF65-F5344CB8AC3E}">
        <p14:creationId xmlns:p14="http://schemas.microsoft.com/office/powerpoint/2010/main" val="3792962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94B4-9EA6-4529-AE9B-2AC876815443}"/>
              </a:ext>
            </a:extLst>
          </p:cNvPr>
          <p:cNvSpPr>
            <a:spLocks noGrp="1"/>
          </p:cNvSpPr>
          <p:nvPr>
            <p:ph type="title"/>
          </p:nvPr>
        </p:nvSpPr>
        <p:spPr>
          <a:xfrm>
            <a:off x="1511276" y="210344"/>
            <a:ext cx="9933162" cy="984247"/>
          </a:xfrm>
        </p:spPr>
        <p:txBody>
          <a:bodyPr/>
          <a:lstStyle/>
          <a:p>
            <a:r>
              <a:rPr lang="en-GB"/>
              <a:t>ABC WBS Settlement / Allocation Expected Results</a:t>
            </a:r>
            <a:endParaRPr lang="en-US"/>
          </a:p>
        </p:txBody>
      </p:sp>
      <p:sp>
        <p:nvSpPr>
          <p:cNvPr id="5" name="Slide Number Placeholder 4">
            <a:extLst>
              <a:ext uri="{FF2B5EF4-FFF2-40B4-BE49-F238E27FC236}">
                <a16:creationId xmlns:a16="http://schemas.microsoft.com/office/drawing/2014/main" id="{B2B78406-84EA-4099-A90C-7AC257966A7D}"/>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7" name="Oval 6">
            <a:extLst>
              <a:ext uri="{FF2B5EF4-FFF2-40B4-BE49-F238E27FC236}">
                <a16:creationId xmlns:a16="http://schemas.microsoft.com/office/drawing/2014/main" id="{9614F470-B3F6-480E-A521-1EE0FCB5920C}"/>
              </a:ext>
            </a:extLst>
          </p:cNvPr>
          <p:cNvSpPr/>
          <p:nvPr/>
        </p:nvSpPr>
        <p:spPr>
          <a:xfrm>
            <a:off x="6553200" y="2070100"/>
            <a:ext cx="266700" cy="228600"/>
          </a:xfrm>
          <a:prstGeom prst="ellipse">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AD86BA5-480E-497A-AE5C-DF716EA3E302}"/>
              </a:ext>
            </a:extLst>
          </p:cNvPr>
          <p:cNvSpPr/>
          <p:nvPr/>
        </p:nvSpPr>
        <p:spPr>
          <a:xfrm>
            <a:off x="8636000" y="2070100"/>
            <a:ext cx="2667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D0FDD58-A615-4973-8507-56A6097E206B}"/>
              </a:ext>
            </a:extLst>
          </p:cNvPr>
          <p:cNvSpPr/>
          <p:nvPr/>
        </p:nvSpPr>
        <p:spPr>
          <a:xfrm>
            <a:off x="11278800" y="2070100"/>
            <a:ext cx="2667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6C574759-5535-4971-BA5D-69347D4492BF}"/>
              </a:ext>
            </a:extLst>
          </p:cNvPr>
          <p:cNvGraphicFramePr>
            <a:graphicFrameLocks noGrp="1"/>
          </p:cNvGraphicFramePr>
          <p:nvPr/>
        </p:nvGraphicFramePr>
        <p:xfrm>
          <a:off x="690196" y="1646609"/>
          <a:ext cx="11163300" cy="4888520"/>
        </p:xfrm>
        <a:graphic>
          <a:graphicData uri="http://schemas.openxmlformats.org/drawingml/2006/table">
            <a:tbl>
              <a:tblPr firstRow="1" bandRow="1">
                <a:tableStyleId>{5C22544A-7EE6-4342-B048-85BDC9FD1C3A}</a:tableStyleId>
              </a:tblPr>
              <a:tblGrid>
                <a:gridCol w="4259346">
                  <a:extLst>
                    <a:ext uri="{9D8B030D-6E8A-4147-A177-3AD203B41FA5}">
                      <a16:colId xmlns:a16="http://schemas.microsoft.com/office/drawing/2014/main" val="4220676319"/>
                    </a:ext>
                  </a:extLst>
                </a:gridCol>
                <a:gridCol w="2136030">
                  <a:extLst>
                    <a:ext uri="{9D8B030D-6E8A-4147-A177-3AD203B41FA5}">
                      <a16:colId xmlns:a16="http://schemas.microsoft.com/office/drawing/2014/main" val="4257345969"/>
                    </a:ext>
                  </a:extLst>
                </a:gridCol>
                <a:gridCol w="2174173">
                  <a:extLst>
                    <a:ext uri="{9D8B030D-6E8A-4147-A177-3AD203B41FA5}">
                      <a16:colId xmlns:a16="http://schemas.microsoft.com/office/drawing/2014/main" val="2551403114"/>
                    </a:ext>
                  </a:extLst>
                </a:gridCol>
                <a:gridCol w="2593751">
                  <a:extLst>
                    <a:ext uri="{9D8B030D-6E8A-4147-A177-3AD203B41FA5}">
                      <a16:colId xmlns:a16="http://schemas.microsoft.com/office/drawing/2014/main" val="112529137"/>
                    </a:ext>
                  </a:extLst>
                </a:gridCol>
              </a:tblGrid>
              <a:tr h="844242">
                <a:tc>
                  <a:txBody>
                    <a:bodyPr/>
                    <a:lstStyle/>
                    <a:p>
                      <a:pPr marL="0" algn="ctr" rtl="0" eaLnBrk="1" latinLnBrk="0" hangingPunct="1">
                        <a:spcBef>
                          <a:spcPts val="0"/>
                        </a:spcBef>
                        <a:spcAft>
                          <a:spcPts val="0"/>
                        </a:spcAft>
                      </a:pPr>
                      <a:r>
                        <a:rPr lang="en-GB" sz="1600" kern="1200">
                          <a:effectLst/>
                        </a:rPr>
                        <a:t>Validations/Expected Results</a:t>
                      </a:r>
                      <a:endParaRPr lang="en-GB">
                        <a:effectLst/>
                      </a:endParaRPr>
                    </a:p>
                  </a:txBody>
                  <a:tcPr marL="0" marR="0" marT="0" marB="0" anchor="ctr"/>
                </a:tc>
                <a:tc>
                  <a:txBody>
                    <a:bodyPr/>
                    <a:lstStyle/>
                    <a:p>
                      <a:pPr marL="0" algn="ctr" rtl="0" eaLnBrk="1" latinLnBrk="0" hangingPunct="1">
                        <a:spcBef>
                          <a:spcPts val="0"/>
                        </a:spcBef>
                        <a:spcAft>
                          <a:spcPts val="0"/>
                        </a:spcAft>
                      </a:pPr>
                      <a:r>
                        <a:rPr lang="en-GB" sz="1600" kern="1200">
                          <a:effectLst/>
                        </a:rPr>
                        <a:t>Branded WBS</a:t>
                      </a:r>
                      <a:endParaRPr lang="en-GB">
                        <a:effectLst/>
                      </a:endParaRPr>
                    </a:p>
                  </a:txBody>
                  <a:tcPr marL="0" marR="0" marT="0" marB="0" anchor="ctr"/>
                </a:tc>
                <a:tc>
                  <a:txBody>
                    <a:bodyPr/>
                    <a:lstStyle/>
                    <a:p>
                      <a:pPr marL="0" algn="ctr" rtl="0" eaLnBrk="1" latinLnBrk="0" hangingPunct="1">
                        <a:spcBef>
                          <a:spcPts val="0"/>
                        </a:spcBef>
                        <a:spcAft>
                          <a:spcPts val="0"/>
                        </a:spcAft>
                      </a:pPr>
                      <a:r>
                        <a:rPr lang="en-GB" sz="1600" kern="1200">
                          <a:effectLst/>
                        </a:rPr>
                        <a:t>Multi-Branded WBS with allocation type ZZZ</a:t>
                      </a:r>
                      <a:endParaRPr lang="en-GB">
                        <a:effectLst/>
                      </a:endParaRPr>
                    </a:p>
                  </a:txBody>
                  <a:tcPr marL="0" marR="0" marT="0" marB="0" anchor="ctr"/>
                </a:tc>
                <a:tc>
                  <a:txBody>
                    <a:bodyPr/>
                    <a:lstStyle/>
                    <a:p>
                      <a:pPr marL="0" algn="ctr" rtl="0" eaLnBrk="1" latinLnBrk="0" hangingPunct="1">
                        <a:spcBef>
                          <a:spcPts val="0"/>
                        </a:spcBef>
                        <a:spcAft>
                          <a:spcPts val="0"/>
                        </a:spcAft>
                      </a:pPr>
                      <a:r>
                        <a:rPr lang="en-GB" sz="1600" kern="1200">
                          <a:effectLst/>
                        </a:rPr>
                        <a:t>Multi-Branded WBS </a:t>
                      </a:r>
                      <a:endParaRPr lang="en-GB">
                        <a:effectLst/>
                      </a:endParaRPr>
                    </a:p>
                  </a:txBody>
                  <a:tcPr marL="0" marR="0" marT="0" marB="0" anchor="ctr"/>
                </a:tc>
                <a:extLst>
                  <a:ext uri="{0D108BD9-81ED-4DB2-BD59-A6C34878D82A}">
                    <a16:rowId xmlns:a16="http://schemas.microsoft.com/office/drawing/2014/main" val="650883586"/>
                  </a:ext>
                </a:extLst>
              </a:tr>
              <a:tr h="667223">
                <a:tc>
                  <a:txBody>
                    <a:bodyPr/>
                    <a:lstStyle/>
                    <a:p>
                      <a:pPr marL="0" rtl="0" latinLnBrk="0">
                        <a:spcBef>
                          <a:spcPts val="0"/>
                        </a:spcBef>
                        <a:spcAft>
                          <a:spcPts val="0"/>
                        </a:spcAft>
                      </a:pPr>
                      <a:r>
                        <a:rPr lang="en-US" sz="1400">
                          <a:effectLst/>
                        </a:rPr>
                        <a:t>Debits and credits are within the same GL account netting to 0</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marR="0" indent="0" rtl="0" latinLnBrk="0">
                        <a:spcBef>
                          <a:spcPts val="0"/>
                        </a:spcBef>
                        <a:spcAft>
                          <a:spcPts val="0"/>
                        </a:spcAft>
                      </a:pPr>
                      <a:r>
                        <a:rPr lang="en-US" sz="1400">
                          <a:effectLst/>
                        </a:rPr>
                        <a:t>Yes</a:t>
                      </a:r>
                      <a:endParaRPr lang="en-US">
                        <a:effectLst/>
                      </a:endParaRPr>
                    </a:p>
                  </a:txBody>
                  <a:tcPr marL="72000" marR="72000" marT="0" marB="0" anchor="ctr"/>
                </a:tc>
                <a:extLst>
                  <a:ext uri="{0D108BD9-81ED-4DB2-BD59-A6C34878D82A}">
                    <a16:rowId xmlns:a16="http://schemas.microsoft.com/office/drawing/2014/main" val="80861515"/>
                  </a:ext>
                </a:extLst>
              </a:tr>
              <a:tr h="776157">
                <a:tc>
                  <a:txBody>
                    <a:bodyPr/>
                    <a:lstStyle/>
                    <a:p>
                      <a:pPr marL="0" rtl="0" latinLnBrk="0">
                        <a:spcBef>
                          <a:spcPts val="0"/>
                        </a:spcBef>
                        <a:spcAft>
                          <a:spcPts val="0"/>
                        </a:spcAft>
                      </a:pPr>
                      <a:r>
                        <a:rPr lang="en-US" sz="1400">
                          <a:effectLst/>
                        </a:rPr>
                        <a:t>Separate documents in all Ledgers – 0L, ST, TX, where costs have been posted to WBS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0L, ST, TX, where costs have been posted to WBS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0L, ST, TX, where costs have been posted to WBS</a:t>
                      </a:r>
                      <a:endParaRPr lang="en-US">
                        <a:effectLst/>
                      </a:endParaRPr>
                    </a:p>
                  </a:txBody>
                  <a:tcPr marL="72000" marR="72000" marT="0" marB="0" anchor="ctr"/>
                </a:tc>
                <a:tc>
                  <a:txBody>
                    <a:bodyPr/>
                    <a:lstStyle/>
                    <a:p>
                      <a:pPr marL="0" rtl="0" latinLnBrk="0">
                        <a:spcBef>
                          <a:spcPts val="0"/>
                        </a:spcBef>
                        <a:spcAft>
                          <a:spcPts val="0"/>
                        </a:spcAft>
                      </a:pPr>
                      <a:r>
                        <a:rPr lang="en-US" sz="1200">
                          <a:effectLst/>
                        </a:rPr>
                        <a:t>IFRS only</a:t>
                      </a:r>
                      <a:endParaRPr lang="en-US">
                        <a:effectLst/>
                      </a:endParaRPr>
                    </a:p>
                  </a:txBody>
                  <a:tcPr marL="72000" marR="72000" marT="0" marB="0" anchor="ctr"/>
                </a:tc>
                <a:extLst>
                  <a:ext uri="{0D108BD9-81ED-4DB2-BD59-A6C34878D82A}">
                    <a16:rowId xmlns:a16="http://schemas.microsoft.com/office/drawing/2014/main" val="3709100101"/>
                  </a:ext>
                </a:extLst>
              </a:tr>
              <a:tr h="585523">
                <a:tc>
                  <a:txBody>
                    <a:bodyPr/>
                    <a:lstStyle/>
                    <a:p>
                      <a:pPr marL="0" rtl="0" latinLnBrk="0">
                        <a:spcBef>
                          <a:spcPts val="0"/>
                        </a:spcBef>
                        <a:spcAft>
                          <a:spcPts val="0"/>
                        </a:spcAft>
                      </a:pPr>
                      <a:r>
                        <a:rPr lang="en-US" sz="1400">
                          <a:effectLst/>
                        </a:rPr>
                        <a:t>The same profit center is debited and credited</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marR="0" indent="0" rtl="0" latinLnBrk="0">
                        <a:spcBef>
                          <a:spcPts val="0"/>
                        </a:spcBef>
                        <a:spcAft>
                          <a:spcPts val="0"/>
                        </a:spcAft>
                      </a:pPr>
                      <a:r>
                        <a:rPr lang="en-US" sz="1400">
                          <a:effectLst/>
                        </a:rPr>
                        <a:t>Yes</a:t>
                      </a:r>
                      <a:endParaRPr lang="en-US">
                        <a:effectLst/>
                      </a:endParaRPr>
                    </a:p>
                  </a:txBody>
                  <a:tcPr marL="72000" marR="72000" marT="0" marB="0" anchor="ctr"/>
                </a:tc>
                <a:extLst>
                  <a:ext uri="{0D108BD9-81ED-4DB2-BD59-A6C34878D82A}">
                    <a16:rowId xmlns:a16="http://schemas.microsoft.com/office/drawing/2014/main" val="2276338249"/>
                  </a:ext>
                </a:extLst>
              </a:tr>
              <a:tr h="476587">
                <a:tc>
                  <a:txBody>
                    <a:bodyPr/>
                    <a:lstStyle/>
                    <a:p>
                      <a:pPr marL="0" rtl="0" latinLnBrk="0">
                        <a:spcBef>
                          <a:spcPts val="0"/>
                        </a:spcBef>
                        <a:spcAft>
                          <a:spcPts val="0"/>
                        </a:spcAft>
                      </a:pPr>
                      <a:r>
                        <a:rPr lang="en-US" sz="1400">
                          <a:effectLst/>
                        </a:rPr>
                        <a:t>The same cost center is debited and credited (if Cost center information is included in settlement rule)</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marR="0" indent="0" rtl="0" latinLnBrk="0">
                        <a:spcBef>
                          <a:spcPts val="0"/>
                        </a:spcBef>
                        <a:spcAft>
                          <a:spcPts val="0"/>
                        </a:spcAft>
                      </a:pPr>
                      <a:r>
                        <a:rPr lang="en-US" sz="1400">
                          <a:effectLst/>
                        </a:rPr>
                        <a:t>Yes</a:t>
                      </a:r>
                      <a:endParaRPr lang="en-US">
                        <a:effectLst/>
                      </a:endParaRPr>
                    </a:p>
                  </a:txBody>
                  <a:tcPr marL="72000" marR="72000" marT="0" marB="0" anchor="ctr"/>
                </a:tc>
                <a:extLst>
                  <a:ext uri="{0D108BD9-81ED-4DB2-BD59-A6C34878D82A}">
                    <a16:rowId xmlns:a16="http://schemas.microsoft.com/office/drawing/2014/main" val="2299353110"/>
                  </a:ext>
                </a:extLst>
              </a:tr>
              <a:tr h="449354">
                <a:tc>
                  <a:txBody>
                    <a:bodyPr/>
                    <a:lstStyle/>
                    <a:p>
                      <a:pPr marL="0" rtl="0" latinLnBrk="0">
                        <a:spcBef>
                          <a:spcPts val="0"/>
                        </a:spcBef>
                        <a:spcAft>
                          <a:spcPts val="0"/>
                        </a:spcAft>
                      </a:pPr>
                      <a:r>
                        <a:rPr lang="en-US" sz="1400">
                          <a:effectLst/>
                        </a:rPr>
                        <a:t>The same functional area is debited and credited</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marR="0" indent="0" rtl="0" latinLnBrk="0">
                        <a:spcBef>
                          <a:spcPts val="0"/>
                        </a:spcBef>
                        <a:spcAft>
                          <a:spcPts val="0"/>
                        </a:spcAft>
                      </a:pPr>
                      <a:r>
                        <a:rPr lang="en-US" sz="1400">
                          <a:effectLst/>
                        </a:rPr>
                        <a:t>Yes</a:t>
                      </a:r>
                      <a:endParaRPr lang="en-US">
                        <a:effectLst/>
                      </a:endParaRPr>
                    </a:p>
                  </a:txBody>
                  <a:tcPr marL="72000" marR="72000" marT="0" marB="0" anchor="ctr"/>
                </a:tc>
                <a:extLst>
                  <a:ext uri="{0D108BD9-81ED-4DB2-BD59-A6C34878D82A}">
                    <a16:rowId xmlns:a16="http://schemas.microsoft.com/office/drawing/2014/main" val="2560589549"/>
                  </a:ext>
                </a:extLst>
              </a:tr>
              <a:tr h="476587">
                <a:tc>
                  <a:txBody>
                    <a:bodyPr/>
                    <a:lstStyle/>
                    <a:p>
                      <a:pPr marL="0" rtl="0" latinLnBrk="0">
                        <a:spcBef>
                          <a:spcPts val="0"/>
                        </a:spcBef>
                        <a:spcAft>
                          <a:spcPts val="0"/>
                        </a:spcAft>
                      </a:pPr>
                      <a:r>
                        <a:rPr lang="en-US" sz="1400">
                          <a:effectLst/>
                        </a:rPr>
                        <a:t>Multiple settlement documents generated (if more than one currency used)</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rtl="0" latinLnBrk="0">
                        <a:spcBef>
                          <a:spcPts val="0"/>
                        </a:spcBef>
                        <a:spcAft>
                          <a:spcPts val="0"/>
                        </a:spcAft>
                      </a:pPr>
                      <a:r>
                        <a:rPr lang="en-US" sz="1400">
                          <a:effectLst/>
                        </a:rPr>
                        <a:t>Yes</a:t>
                      </a:r>
                      <a:endParaRPr lang="en-US">
                        <a:effectLst/>
                      </a:endParaRPr>
                    </a:p>
                  </a:txBody>
                  <a:tcPr marL="72000" marR="72000" marT="0" marB="0" anchor="ctr"/>
                </a:tc>
                <a:tc>
                  <a:txBody>
                    <a:bodyPr/>
                    <a:lstStyle/>
                    <a:p>
                      <a:pPr marL="0" marR="0" indent="0" rtl="0" latinLnBrk="0">
                        <a:spcBef>
                          <a:spcPts val="0"/>
                        </a:spcBef>
                        <a:spcAft>
                          <a:spcPts val="0"/>
                        </a:spcAft>
                      </a:pPr>
                      <a:r>
                        <a:rPr lang="en-US" sz="1400">
                          <a:effectLst/>
                        </a:rPr>
                        <a:t>Yes</a:t>
                      </a:r>
                      <a:endParaRPr lang="en-US">
                        <a:effectLst/>
                      </a:endParaRPr>
                    </a:p>
                  </a:txBody>
                  <a:tcPr marL="72000" marR="72000" marT="0" marB="0" anchor="ctr"/>
                </a:tc>
                <a:extLst>
                  <a:ext uri="{0D108BD9-81ED-4DB2-BD59-A6C34878D82A}">
                    <a16:rowId xmlns:a16="http://schemas.microsoft.com/office/drawing/2014/main" val="616789127"/>
                  </a:ext>
                </a:extLst>
              </a:tr>
              <a:tr h="449354">
                <a:tc>
                  <a:txBody>
                    <a:bodyPr/>
                    <a:lstStyle/>
                    <a:p>
                      <a:pPr marL="0" rtl="0" latinLnBrk="0">
                        <a:spcBef>
                          <a:spcPts val="0"/>
                        </a:spcBef>
                        <a:spcAft>
                          <a:spcPts val="0"/>
                        </a:spcAft>
                      </a:pPr>
                      <a:r>
                        <a:rPr lang="en-US" sz="1400">
                          <a:effectLst/>
                        </a:rPr>
                        <a:t>Document Type</a:t>
                      </a:r>
                      <a:endParaRPr lang="en-US">
                        <a:effectLst/>
                      </a:endParaRPr>
                    </a:p>
                  </a:txBody>
                  <a:tcPr marL="72000" marR="72000" marT="0" marB="0" anchor="ctr"/>
                </a:tc>
                <a:tc>
                  <a:txBody>
                    <a:bodyPr/>
                    <a:lstStyle/>
                    <a:p>
                      <a:pPr marL="0" rtl="0" latinLnBrk="0">
                        <a:spcBef>
                          <a:spcPts val="0"/>
                        </a:spcBef>
                        <a:spcAft>
                          <a:spcPts val="0"/>
                        </a:spcAft>
                      </a:pPr>
                      <a:r>
                        <a:rPr lang="en-US" sz="1400">
                          <a:effectLst/>
                        </a:rPr>
                        <a:t>SZ</a:t>
                      </a:r>
                      <a:endParaRPr lang="en-US">
                        <a:effectLst/>
                      </a:endParaRPr>
                    </a:p>
                  </a:txBody>
                  <a:tcPr marL="72000" marR="72000" marT="0" marB="0" anchor="ctr"/>
                </a:tc>
                <a:tc>
                  <a:txBody>
                    <a:bodyPr/>
                    <a:lstStyle/>
                    <a:p>
                      <a:pPr marL="0" rtl="0" latinLnBrk="0">
                        <a:spcBef>
                          <a:spcPts val="0"/>
                        </a:spcBef>
                        <a:spcAft>
                          <a:spcPts val="0"/>
                        </a:spcAft>
                      </a:pPr>
                      <a:r>
                        <a:rPr lang="en-US" sz="1400">
                          <a:effectLst/>
                        </a:rPr>
                        <a:t>SZ</a:t>
                      </a:r>
                      <a:endParaRPr lang="en-US">
                        <a:effectLst/>
                      </a:endParaRPr>
                    </a:p>
                  </a:txBody>
                  <a:tcPr marL="72000" marR="72000" marT="0" marB="0" anchor="ctr"/>
                </a:tc>
                <a:tc>
                  <a:txBody>
                    <a:bodyPr/>
                    <a:lstStyle/>
                    <a:p>
                      <a:pPr marL="0" rtl="0" latinLnBrk="0">
                        <a:spcBef>
                          <a:spcPts val="0"/>
                        </a:spcBef>
                        <a:spcAft>
                          <a:spcPts val="0"/>
                        </a:spcAft>
                      </a:pPr>
                      <a:r>
                        <a:rPr lang="en-US" sz="1200">
                          <a:effectLst/>
                        </a:rPr>
                        <a:t>XW</a:t>
                      </a:r>
                      <a:endParaRPr lang="en-US">
                        <a:effectLst/>
                      </a:endParaRPr>
                    </a:p>
                  </a:txBody>
                  <a:tcPr marL="72000" marR="72000" marT="0" marB="0" anchor="ctr"/>
                </a:tc>
                <a:extLst>
                  <a:ext uri="{0D108BD9-81ED-4DB2-BD59-A6C34878D82A}">
                    <a16:rowId xmlns:a16="http://schemas.microsoft.com/office/drawing/2014/main" val="2648746592"/>
                  </a:ext>
                </a:extLst>
              </a:tr>
            </a:tbl>
          </a:graphicData>
        </a:graphic>
      </p:graphicFrame>
    </p:spTree>
    <p:extLst>
      <p:ext uri="{BB962C8B-B14F-4D97-AF65-F5344CB8AC3E}">
        <p14:creationId xmlns:p14="http://schemas.microsoft.com/office/powerpoint/2010/main" val="65651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24423AF1-2A22-4C79-82B8-BCB6606CC290}"/>
              </a:ext>
            </a:extLst>
          </p:cNvPr>
          <p:cNvPicPr>
            <a:picLocks noChangeAspect="1"/>
          </p:cNvPicPr>
          <p:nvPr/>
        </p:nvPicPr>
        <p:blipFill>
          <a:blip r:embed="rId2"/>
          <a:stretch>
            <a:fillRect/>
          </a:stretch>
        </p:blipFill>
        <p:spPr>
          <a:xfrm>
            <a:off x="502334" y="3198874"/>
            <a:ext cx="8603353" cy="588120"/>
          </a:xfrm>
          <a:prstGeom prst="rect">
            <a:avLst/>
          </a:prstGeom>
        </p:spPr>
      </p:pic>
      <p:sp>
        <p:nvSpPr>
          <p:cNvPr id="2" name="Title 1">
            <a:extLst>
              <a:ext uri="{FF2B5EF4-FFF2-40B4-BE49-F238E27FC236}">
                <a16:creationId xmlns:a16="http://schemas.microsoft.com/office/drawing/2014/main" id="{94621EF0-296C-4231-8192-905625566E02}"/>
              </a:ext>
            </a:extLst>
          </p:cNvPr>
          <p:cNvSpPr>
            <a:spLocks noGrp="1"/>
          </p:cNvSpPr>
          <p:nvPr>
            <p:ph type="title"/>
          </p:nvPr>
        </p:nvSpPr>
        <p:spPr>
          <a:xfrm>
            <a:off x="1511276" y="210344"/>
            <a:ext cx="10164785" cy="984247"/>
          </a:xfrm>
        </p:spPr>
        <p:txBody>
          <a:bodyPr/>
          <a:lstStyle/>
          <a:p>
            <a:r>
              <a:rPr lang="en-US"/>
              <a:t>WBS Settlement / Allocation Actual Results Example</a:t>
            </a:r>
          </a:p>
        </p:txBody>
      </p:sp>
      <p:sp>
        <p:nvSpPr>
          <p:cNvPr id="5" name="Slide Number Placeholder 4">
            <a:extLst>
              <a:ext uri="{FF2B5EF4-FFF2-40B4-BE49-F238E27FC236}">
                <a16:creationId xmlns:a16="http://schemas.microsoft.com/office/drawing/2014/main" id="{3A65D8BC-780F-494E-98C5-14CAD2040605}"/>
              </a:ext>
            </a:extLst>
          </p:cNvPr>
          <p:cNvSpPr>
            <a:spLocks noGrp="1"/>
          </p:cNvSpPr>
          <p:nvPr>
            <p:ph type="sldNum" sz="quarter" idx="12"/>
          </p:nvPr>
        </p:nvSpPr>
        <p:spPr/>
        <p:txBody>
          <a:bodyPr/>
          <a:lstStyle/>
          <a:p>
            <a:fld id="{F4C94289-3309-4C35-850A-56FD49B3E346}" type="slidenum">
              <a:rPr lang="en-GB" smtClean="0"/>
              <a:t>9</a:t>
            </a:fld>
            <a:endParaRPr lang="en-GB"/>
          </a:p>
        </p:txBody>
      </p:sp>
      <p:grpSp>
        <p:nvGrpSpPr>
          <p:cNvPr id="11" name="Group 10">
            <a:extLst>
              <a:ext uri="{FF2B5EF4-FFF2-40B4-BE49-F238E27FC236}">
                <a16:creationId xmlns:a16="http://schemas.microsoft.com/office/drawing/2014/main" id="{F025E446-3457-433E-A713-4CAAEE195BD2}"/>
              </a:ext>
            </a:extLst>
          </p:cNvPr>
          <p:cNvGrpSpPr/>
          <p:nvPr/>
        </p:nvGrpSpPr>
        <p:grpSpPr>
          <a:xfrm>
            <a:off x="502334" y="1477146"/>
            <a:ext cx="8619427" cy="1427337"/>
            <a:chOff x="735384" y="3035280"/>
            <a:chExt cx="10720291" cy="2188029"/>
          </a:xfrm>
        </p:grpSpPr>
        <p:grpSp>
          <p:nvGrpSpPr>
            <p:cNvPr id="9" name="Group 8">
              <a:extLst>
                <a:ext uri="{FF2B5EF4-FFF2-40B4-BE49-F238E27FC236}">
                  <a16:creationId xmlns:a16="http://schemas.microsoft.com/office/drawing/2014/main" id="{9D0880A0-2BD0-4458-BEC3-23F69CEB5ABC}"/>
                </a:ext>
              </a:extLst>
            </p:cNvPr>
            <p:cNvGrpSpPr/>
            <p:nvPr/>
          </p:nvGrpSpPr>
          <p:grpSpPr>
            <a:xfrm>
              <a:off x="735384" y="3035280"/>
              <a:ext cx="10720291" cy="2043872"/>
              <a:chOff x="735384" y="3035280"/>
              <a:chExt cx="10720291" cy="2043872"/>
            </a:xfrm>
          </p:grpSpPr>
          <p:pic>
            <p:nvPicPr>
              <p:cNvPr id="6" name="Picture 5">
                <a:extLst>
                  <a:ext uri="{FF2B5EF4-FFF2-40B4-BE49-F238E27FC236}">
                    <a16:creationId xmlns:a16="http://schemas.microsoft.com/office/drawing/2014/main" id="{8EA5C403-AA93-4B30-8BBC-EBB8945BC06F}"/>
                  </a:ext>
                </a:extLst>
              </p:cNvPr>
              <p:cNvPicPr>
                <a:picLocks noChangeAspect="1"/>
              </p:cNvPicPr>
              <p:nvPr/>
            </p:nvPicPr>
            <p:blipFill>
              <a:blip r:embed="rId3"/>
              <a:stretch>
                <a:fillRect/>
              </a:stretch>
            </p:blipFill>
            <p:spPr>
              <a:xfrm>
                <a:off x="736324" y="3035280"/>
                <a:ext cx="10719351" cy="787440"/>
              </a:xfrm>
              <a:prstGeom prst="rect">
                <a:avLst/>
              </a:prstGeom>
            </p:spPr>
          </p:pic>
          <p:pic>
            <p:nvPicPr>
              <p:cNvPr id="7" name="Picture 6">
                <a:extLst>
                  <a:ext uri="{FF2B5EF4-FFF2-40B4-BE49-F238E27FC236}">
                    <a16:creationId xmlns:a16="http://schemas.microsoft.com/office/drawing/2014/main" id="{D671B9CB-B6BC-4F01-9DD6-A9579618326F}"/>
                  </a:ext>
                </a:extLst>
              </p:cNvPr>
              <p:cNvPicPr>
                <a:picLocks noChangeAspect="1"/>
              </p:cNvPicPr>
              <p:nvPr/>
            </p:nvPicPr>
            <p:blipFill>
              <a:blip r:embed="rId4"/>
              <a:stretch>
                <a:fillRect/>
              </a:stretch>
            </p:blipFill>
            <p:spPr>
              <a:xfrm>
                <a:off x="739029" y="3810020"/>
                <a:ext cx="10713001" cy="336567"/>
              </a:xfrm>
              <a:prstGeom prst="rect">
                <a:avLst/>
              </a:prstGeom>
            </p:spPr>
          </p:pic>
          <p:pic>
            <p:nvPicPr>
              <p:cNvPr id="8" name="Picture 7">
                <a:extLst>
                  <a:ext uri="{FF2B5EF4-FFF2-40B4-BE49-F238E27FC236}">
                    <a16:creationId xmlns:a16="http://schemas.microsoft.com/office/drawing/2014/main" id="{3F06F94B-E71C-4A83-B4F2-EE0CD85C00E8}"/>
                  </a:ext>
                </a:extLst>
              </p:cNvPr>
              <p:cNvPicPr>
                <a:picLocks noChangeAspect="1"/>
              </p:cNvPicPr>
              <p:nvPr/>
            </p:nvPicPr>
            <p:blipFill>
              <a:blip r:embed="rId5"/>
              <a:stretch>
                <a:fillRect/>
              </a:stretch>
            </p:blipFill>
            <p:spPr>
              <a:xfrm>
                <a:off x="735384" y="4177406"/>
                <a:ext cx="10700300" cy="901746"/>
              </a:xfrm>
              <a:prstGeom prst="rect">
                <a:avLst/>
              </a:prstGeom>
            </p:spPr>
          </p:pic>
        </p:grpSp>
        <p:pic>
          <p:nvPicPr>
            <p:cNvPr id="10" name="Picture 9">
              <a:extLst>
                <a:ext uri="{FF2B5EF4-FFF2-40B4-BE49-F238E27FC236}">
                  <a16:creationId xmlns:a16="http://schemas.microsoft.com/office/drawing/2014/main" id="{9A4B5C68-6F44-426D-8CF1-ECCF08BF1D94}"/>
                </a:ext>
              </a:extLst>
            </p:cNvPr>
            <p:cNvPicPr>
              <a:picLocks noChangeAspect="1"/>
            </p:cNvPicPr>
            <p:nvPr/>
          </p:nvPicPr>
          <p:blipFill>
            <a:blip r:embed="rId6"/>
            <a:stretch>
              <a:fillRect/>
            </a:stretch>
          </p:blipFill>
          <p:spPr>
            <a:xfrm>
              <a:off x="735384" y="4189174"/>
              <a:ext cx="10719351" cy="1034135"/>
            </a:xfrm>
            <a:prstGeom prst="rect">
              <a:avLst/>
            </a:prstGeom>
          </p:spPr>
        </p:pic>
      </p:grpSp>
      <p:sp>
        <p:nvSpPr>
          <p:cNvPr id="13" name="Arrow: Right 12">
            <a:extLst>
              <a:ext uri="{FF2B5EF4-FFF2-40B4-BE49-F238E27FC236}">
                <a16:creationId xmlns:a16="http://schemas.microsoft.com/office/drawing/2014/main" id="{083B9E78-1436-4576-BB06-DB2E2A25AC92}"/>
              </a:ext>
            </a:extLst>
          </p:cNvPr>
          <p:cNvSpPr/>
          <p:nvPr/>
        </p:nvSpPr>
        <p:spPr>
          <a:xfrm>
            <a:off x="9178094" y="1966413"/>
            <a:ext cx="740764" cy="622875"/>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4E685C2-52FD-4B4D-98F2-97F5D2D84C84}"/>
              </a:ext>
            </a:extLst>
          </p:cNvPr>
          <p:cNvSpPr/>
          <p:nvPr/>
        </p:nvSpPr>
        <p:spPr>
          <a:xfrm>
            <a:off x="10005546" y="1499915"/>
            <a:ext cx="1988041" cy="1572100"/>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Debit and Credit in same:</a:t>
            </a:r>
          </a:p>
          <a:p>
            <a:r>
              <a:rPr lang="en-US" sz="1100">
                <a:solidFill>
                  <a:schemeClr val="tx1"/>
                </a:solidFill>
              </a:rPr>
              <a:t>G/L Account √</a:t>
            </a:r>
          </a:p>
          <a:p>
            <a:r>
              <a:rPr lang="en-US" sz="1100">
                <a:solidFill>
                  <a:schemeClr val="tx1"/>
                </a:solidFill>
              </a:rPr>
              <a:t>Functional Area √</a:t>
            </a:r>
          </a:p>
          <a:p>
            <a:r>
              <a:rPr lang="en-US" sz="1100">
                <a:solidFill>
                  <a:schemeClr val="tx1"/>
                </a:solidFill>
              </a:rPr>
              <a:t>Profit Center √</a:t>
            </a:r>
          </a:p>
          <a:p>
            <a:r>
              <a:rPr lang="en-US" sz="1100">
                <a:solidFill>
                  <a:schemeClr val="tx1"/>
                </a:solidFill>
              </a:rPr>
              <a:t>Balanced to zero √</a:t>
            </a:r>
          </a:p>
          <a:p>
            <a:endParaRPr lang="en-US" sz="1100" b="1">
              <a:solidFill>
                <a:schemeClr val="tx1"/>
              </a:solidFill>
            </a:endParaRPr>
          </a:p>
          <a:p>
            <a:r>
              <a:rPr lang="en-US" sz="1100">
                <a:solidFill>
                  <a:schemeClr val="tx1"/>
                </a:solidFill>
              </a:rPr>
              <a:t>Ledger other than 0L possible √</a:t>
            </a:r>
          </a:p>
          <a:p>
            <a:r>
              <a:rPr lang="en-US" sz="1100">
                <a:solidFill>
                  <a:schemeClr val="tx1"/>
                </a:solidFill>
              </a:rPr>
              <a:t>Document type </a:t>
            </a:r>
            <a:r>
              <a:rPr lang="en-US" sz="1100" b="1">
                <a:solidFill>
                  <a:schemeClr val="tx1"/>
                </a:solidFill>
              </a:rPr>
              <a:t>SZ </a:t>
            </a:r>
            <a:r>
              <a:rPr lang="en-US" sz="1100">
                <a:solidFill>
                  <a:schemeClr val="tx1"/>
                </a:solidFill>
              </a:rPr>
              <a:t>√</a:t>
            </a:r>
          </a:p>
        </p:txBody>
      </p:sp>
      <p:sp>
        <p:nvSpPr>
          <p:cNvPr id="17" name="Rectangle 16">
            <a:extLst>
              <a:ext uri="{FF2B5EF4-FFF2-40B4-BE49-F238E27FC236}">
                <a16:creationId xmlns:a16="http://schemas.microsoft.com/office/drawing/2014/main" id="{C4B298FE-0801-40B7-80E2-B8BD9DF79C3A}"/>
              </a:ext>
            </a:extLst>
          </p:cNvPr>
          <p:cNvSpPr/>
          <p:nvPr/>
        </p:nvSpPr>
        <p:spPr>
          <a:xfrm>
            <a:off x="1922181" y="2285965"/>
            <a:ext cx="3441700" cy="625779"/>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14CA25-6D91-4BA5-B57C-3C9429403BF7}"/>
              </a:ext>
            </a:extLst>
          </p:cNvPr>
          <p:cNvSpPr/>
          <p:nvPr/>
        </p:nvSpPr>
        <p:spPr>
          <a:xfrm>
            <a:off x="6313666" y="2289551"/>
            <a:ext cx="876072" cy="614932"/>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FF1FEA9-5C9B-44DE-86ED-F54E040FC8AA}"/>
              </a:ext>
            </a:extLst>
          </p:cNvPr>
          <p:cNvSpPr/>
          <p:nvPr/>
        </p:nvSpPr>
        <p:spPr>
          <a:xfrm>
            <a:off x="5835991" y="1978862"/>
            <a:ext cx="1177581" cy="261898"/>
          </a:xfrm>
          <a:prstGeom prst="rect">
            <a:avLst/>
          </a:prstGeom>
          <a:noFill/>
          <a:ln w="19050">
            <a:solidFill>
              <a:srgbClr val="EAAA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7C7469EC-4ECA-4A7B-90D1-CEB1C23FE6B7}"/>
              </a:ext>
            </a:extLst>
          </p:cNvPr>
          <p:cNvPicPr>
            <a:picLocks noChangeAspect="1"/>
          </p:cNvPicPr>
          <p:nvPr/>
        </p:nvPicPr>
        <p:blipFill>
          <a:blip r:embed="rId7"/>
          <a:stretch>
            <a:fillRect/>
          </a:stretch>
        </p:blipFill>
        <p:spPr>
          <a:xfrm>
            <a:off x="4942850" y="1620871"/>
            <a:ext cx="2660787" cy="311166"/>
          </a:xfrm>
          <a:prstGeom prst="rect">
            <a:avLst/>
          </a:prstGeom>
          <a:ln>
            <a:solidFill>
              <a:srgbClr val="EAAA00"/>
            </a:solidFill>
          </a:ln>
        </p:spPr>
      </p:pic>
      <p:sp>
        <p:nvSpPr>
          <p:cNvPr id="21" name="Rectangle: Rounded Corners 20">
            <a:extLst>
              <a:ext uri="{FF2B5EF4-FFF2-40B4-BE49-F238E27FC236}">
                <a16:creationId xmlns:a16="http://schemas.microsoft.com/office/drawing/2014/main" id="{B0665074-9459-44AD-A93C-33167F7167ED}"/>
              </a:ext>
            </a:extLst>
          </p:cNvPr>
          <p:cNvSpPr/>
          <p:nvPr/>
        </p:nvSpPr>
        <p:spPr>
          <a:xfrm>
            <a:off x="1669596" y="1463096"/>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FB03L – Branded WBS Settlement</a:t>
            </a:r>
          </a:p>
        </p:txBody>
      </p:sp>
      <p:grpSp>
        <p:nvGrpSpPr>
          <p:cNvPr id="26" name="Group 25">
            <a:extLst>
              <a:ext uri="{FF2B5EF4-FFF2-40B4-BE49-F238E27FC236}">
                <a16:creationId xmlns:a16="http://schemas.microsoft.com/office/drawing/2014/main" id="{5008903C-E898-479C-A057-3FE0C1B61C93}"/>
              </a:ext>
            </a:extLst>
          </p:cNvPr>
          <p:cNvGrpSpPr/>
          <p:nvPr/>
        </p:nvGrpSpPr>
        <p:grpSpPr>
          <a:xfrm>
            <a:off x="574583" y="4950630"/>
            <a:ext cx="8603354" cy="1520398"/>
            <a:chOff x="558508" y="3385617"/>
            <a:chExt cx="8665787" cy="1936630"/>
          </a:xfrm>
        </p:grpSpPr>
        <p:pic>
          <p:nvPicPr>
            <p:cNvPr id="22" name="Picture 21">
              <a:extLst>
                <a:ext uri="{FF2B5EF4-FFF2-40B4-BE49-F238E27FC236}">
                  <a16:creationId xmlns:a16="http://schemas.microsoft.com/office/drawing/2014/main" id="{C5CC6E60-6099-465C-9626-F3E8D5DBCF45}"/>
                </a:ext>
              </a:extLst>
            </p:cNvPr>
            <p:cNvPicPr>
              <a:picLocks noChangeAspect="1"/>
            </p:cNvPicPr>
            <p:nvPr/>
          </p:nvPicPr>
          <p:blipFill>
            <a:blip r:embed="rId8"/>
            <a:stretch>
              <a:fillRect/>
            </a:stretch>
          </p:blipFill>
          <p:spPr>
            <a:xfrm>
              <a:off x="558508" y="3385617"/>
              <a:ext cx="8665786" cy="547456"/>
            </a:xfrm>
            <a:prstGeom prst="rect">
              <a:avLst/>
            </a:prstGeom>
          </p:spPr>
        </p:pic>
        <p:pic>
          <p:nvPicPr>
            <p:cNvPr id="23" name="Picture 22">
              <a:extLst>
                <a:ext uri="{FF2B5EF4-FFF2-40B4-BE49-F238E27FC236}">
                  <a16:creationId xmlns:a16="http://schemas.microsoft.com/office/drawing/2014/main" id="{1FC0B040-14B2-4DCC-B599-C298365344E7}"/>
                </a:ext>
              </a:extLst>
            </p:cNvPr>
            <p:cNvPicPr>
              <a:picLocks noChangeAspect="1"/>
            </p:cNvPicPr>
            <p:nvPr/>
          </p:nvPicPr>
          <p:blipFill>
            <a:blip r:embed="rId9"/>
            <a:stretch>
              <a:fillRect/>
            </a:stretch>
          </p:blipFill>
          <p:spPr>
            <a:xfrm>
              <a:off x="558509" y="3942323"/>
              <a:ext cx="8665786" cy="222549"/>
            </a:xfrm>
            <a:prstGeom prst="rect">
              <a:avLst/>
            </a:prstGeom>
          </p:spPr>
        </p:pic>
        <p:pic>
          <p:nvPicPr>
            <p:cNvPr id="25" name="Picture 24">
              <a:extLst>
                <a:ext uri="{FF2B5EF4-FFF2-40B4-BE49-F238E27FC236}">
                  <a16:creationId xmlns:a16="http://schemas.microsoft.com/office/drawing/2014/main" id="{423AA2B2-00AD-4DAE-A64D-501F359732EA}"/>
                </a:ext>
              </a:extLst>
            </p:cNvPr>
            <p:cNvPicPr>
              <a:picLocks noChangeAspect="1"/>
            </p:cNvPicPr>
            <p:nvPr/>
          </p:nvPicPr>
          <p:blipFill>
            <a:blip r:embed="rId10"/>
            <a:stretch>
              <a:fillRect/>
            </a:stretch>
          </p:blipFill>
          <p:spPr>
            <a:xfrm>
              <a:off x="558508" y="4153787"/>
              <a:ext cx="8665786" cy="1168460"/>
            </a:xfrm>
            <a:prstGeom prst="rect">
              <a:avLst/>
            </a:prstGeom>
          </p:spPr>
        </p:pic>
      </p:grpSp>
      <p:sp>
        <p:nvSpPr>
          <p:cNvPr id="27" name="Rectangle: Rounded Corners 26">
            <a:extLst>
              <a:ext uri="{FF2B5EF4-FFF2-40B4-BE49-F238E27FC236}">
                <a16:creationId xmlns:a16="http://schemas.microsoft.com/office/drawing/2014/main" id="{1CDEEEAF-917A-48F2-8AD5-968BCE55242E}"/>
              </a:ext>
            </a:extLst>
          </p:cNvPr>
          <p:cNvSpPr/>
          <p:nvPr/>
        </p:nvSpPr>
        <p:spPr>
          <a:xfrm>
            <a:off x="1669596" y="4851054"/>
            <a:ext cx="1670504" cy="36772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FB03L – Multi Branded WBS Allocation</a:t>
            </a:r>
          </a:p>
        </p:txBody>
      </p:sp>
      <p:sp>
        <p:nvSpPr>
          <p:cNvPr id="28" name="Rectangle 27">
            <a:extLst>
              <a:ext uri="{FF2B5EF4-FFF2-40B4-BE49-F238E27FC236}">
                <a16:creationId xmlns:a16="http://schemas.microsoft.com/office/drawing/2014/main" id="{EF6A92F3-5BCE-42A3-B729-9C5CE60ABF86}"/>
              </a:ext>
            </a:extLst>
          </p:cNvPr>
          <p:cNvSpPr/>
          <p:nvPr/>
        </p:nvSpPr>
        <p:spPr>
          <a:xfrm>
            <a:off x="1673228" y="5618102"/>
            <a:ext cx="5340344" cy="843857"/>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762A89FF-77BB-4D4E-A4B2-16DE8978E502}"/>
              </a:ext>
            </a:extLst>
          </p:cNvPr>
          <p:cNvSpPr/>
          <p:nvPr/>
        </p:nvSpPr>
        <p:spPr>
          <a:xfrm>
            <a:off x="9221358" y="5614174"/>
            <a:ext cx="740764" cy="622874"/>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58DA161E-90BC-42DC-A004-E775D4986407}"/>
              </a:ext>
            </a:extLst>
          </p:cNvPr>
          <p:cNvSpPr/>
          <p:nvPr/>
        </p:nvSpPr>
        <p:spPr>
          <a:xfrm>
            <a:off x="10005545" y="4950630"/>
            <a:ext cx="1988042" cy="157210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Debit and Credit in same:</a:t>
            </a:r>
          </a:p>
          <a:p>
            <a:r>
              <a:rPr lang="en-US" sz="1100">
                <a:solidFill>
                  <a:schemeClr val="tx1"/>
                </a:solidFill>
              </a:rPr>
              <a:t>G/L Account √</a:t>
            </a:r>
          </a:p>
          <a:p>
            <a:r>
              <a:rPr lang="en-US" sz="1100">
                <a:solidFill>
                  <a:schemeClr val="tx1"/>
                </a:solidFill>
              </a:rPr>
              <a:t>Functional Area √</a:t>
            </a:r>
          </a:p>
          <a:p>
            <a:r>
              <a:rPr lang="en-US" sz="1100">
                <a:solidFill>
                  <a:schemeClr val="tx1"/>
                </a:solidFill>
              </a:rPr>
              <a:t>Profit Center √</a:t>
            </a:r>
          </a:p>
          <a:p>
            <a:r>
              <a:rPr lang="en-US" sz="1100">
                <a:solidFill>
                  <a:schemeClr val="tx1"/>
                </a:solidFill>
              </a:rPr>
              <a:t>Balanced to zero √</a:t>
            </a:r>
          </a:p>
          <a:p>
            <a:endParaRPr lang="en-US" sz="1100" b="1">
              <a:solidFill>
                <a:schemeClr val="tx1"/>
              </a:solidFill>
            </a:endParaRPr>
          </a:p>
          <a:p>
            <a:r>
              <a:rPr lang="en-US" sz="1100">
                <a:solidFill>
                  <a:schemeClr val="tx1"/>
                </a:solidFill>
              </a:rPr>
              <a:t>Ledger other than 0L possible </a:t>
            </a:r>
            <a:r>
              <a:rPr lang="en-US" sz="1100">
                <a:solidFill>
                  <a:srgbClr val="FF0000"/>
                </a:solidFill>
              </a:rPr>
              <a:t>X</a:t>
            </a:r>
            <a:endParaRPr lang="en-US" sz="1100">
              <a:solidFill>
                <a:schemeClr val="tx1"/>
              </a:solidFill>
            </a:endParaRPr>
          </a:p>
          <a:p>
            <a:r>
              <a:rPr lang="en-US" sz="1100">
                <a:solidFill>
                  <a:schemeClr val="tx1"/>
                </a:solidFill>
              </a:rPr>
              <a:t>Document type </a:t>
            </a:r>
            <a:r>
              <a:rPr lang="en-US" sz="1100" b="1">
                <a:solidFill>
                  <a:schemeClr val="tx1"/>
                </a:solidFill>
              </a:rPr>
              <a:t>XW </a:t>
            </a:r>
            <a:r>
              <a:rPr lang="en-US" sz="1100">
                <a:solidFill>
                  <a:schemeClr val="tx1"/>
                </a:solidFill>
              </a:rPr>
              <a:t>√</a:t>
            </a:r>
          </a:p>
        </p:txBody>
      </p:sp>
      <p:sp>
        <p:nvSpPr>
          <p:cNvPr id="31" name="Rectangle: Rounded Corners 30">
            <a:extLst>
              <a:ext uri="{FF2B5EF4-FFF2-40B4-BE49-F238E27FC236}">
                <a16:creationId xmlns:a16="http://schemas.microsoft.com/office/drawing/2014/main" id="{B384FF5B-236E-418C-8F53-574B76A9B9D7}"/>
              </a:ext>
            </a:extLst>
          </p:cNvPr>
          <p:cNvSpPr/>
          <p:nvPr/>
        </p:nvSpPr>
        <p:spPr>
          <a:xfrm>
            <a:off x="1612446" y="3143174"/>
            <a:ext cx="4039054" cy="34813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000" b="1">
                <a:solidFill>
                  <a:schemeClr val="accent3">
                    <a:lumMod val="50000"/>
                  </a:schemeClr>
                </a:solidFill>
              </a:rPr>
              <a:t>FB03L – Multi Branded WBS Settlement – Allocation ZZZ</a:t>
            </a:r>
          </a:p>
        </p:txBody>
      </p:sp>
      <p:sp>
        <p:nvSpPr>
          <p:cNvPr id="33" name="Rectangle 32">
            <a:extLst>
              <a:ext uri="{FF2B5EF4-FFF2-40B4-BE49-F238E27FC236}">
                <a16:creationId xmlns:a16="http://schemas.microsoft.com/office/drawing/2014/main" id="{3DDD6E90-CAD3-4CDD-97C7-B1276399B468}"/>
              </a:ext>
            </a:extLst>
          </p:cNvPr>
          <p:cNvSpPr/>
          <p:nvPr/>
        </p:nvSpPr>
        <p:spPr>
          <a:xfrm>
            <a:off x="8075770" y="5566851"/>
            <a:ext cx="1102166" cy="917328"/>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7C1B8E0-69C5-4A18-BC5E-67F8C46C0D3F}"/>
              </a:ext>
            </a:extLst>
          </p:cNvPr>
          <p:cNvSpPr/>
          <p:nvPr/>
        </p:nvSpPr>
        <p:spPr>
          <a:xfrm>
            <a:off x="5171077" y="5362082"/>
            <a:ext cx="1102166" cy="200320"/>
          </a:xfrm>
          <a:prstGeom prst="rect">
            <a:avLst/>
          </a:prstGeom>
          <a:noFill/>
          <a:ln w="190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C4208EB1-4AE7-408A-8DC1-2B786D61FEF6}"/>
              </a:ext>
            </a:extLst>
          </p:cNvPr>
          <p:cNvPicPr>
            <a:picLocks noChangeAspect="1"/>
          </p:cNvPicPr>
          <p:nvPr/>
        </p:nvPicPr>
        <p:blipFill>
          <a:blip r:embed="rId11"/>
          <a:stretch>
            <a:fillRect/>
          </a:stretch>
        </p:blipFill>
        <p:spPr>
          <a:xfrm>
            <a:off x="6365474" y="4972642"/>
            <a:ext cx="2400423" cy="292115"/>
          </a:xfrm>
          <a:prstGeom prst="rect">
            <a:avLst/>
          </a:prstGeom>
          <a:ln>
            <a:solidFill>
              <a:srgbClr val="00B050"/>
            </a:solidFill>
          </a:ln>
        </p:spPr>
      </p:pic>
      <p:pic>
        <p:nvPicPr>
          <p:cNvPr id="37" name="Picture 36">
            <a:extLst>
              <a:ext uri="{FF2B5EF4-FFF2-40B4-BE49-F238E27FC236}">
                <a16:creationId xmlns:a16="http://schemas.microsoft.com/office/drawing/2014/main" id="{F03AB886-2E48-4A09-99A6-395E7D841BE3}"/>
              </a:ext>
            </a:extLst>
          </p:cNvPr>
          <p:cNvPicPr>
            <a:picLocks noChangeAspect="1"/>
          </p:cNvPicPr>
          <p:nvPr/>
        </p:nvPicPr>
        <p:blipFill>
          <a:blip r:embed="rId12"/>
          <a:stretch>
            <a:fillRect/>
          </a:stretch>
        </p:blipFill>
        <p:spPr>
          <a:xfrm>
            <a:off x="543664" y="3889598"/>
            <a:ext cx="8593294" cy="908097"/>
          </a:xfrm>
          <a:prstGeom prst="rect">
            <a:avLst/>
          </a:prstGeom>
        </p:spPr>
      </p:pic>
      <p:sp>
        <p:nvSpPr>
          <p:cNvPr id="38" name="Arrow: Right 37">
            <a:extLst>
              <a:ext uri="{FF2B5EF4-FFF2-40B4-BE49-F238E27FC236}">
                <a16:creationId xmlns:a16="http://schemas.microsoft.com/office/drawing/2014/main" id="{1E4AA33B-657B-433B-9343-FA76897B948F}"/>
              </a:ext>
            </a:extLst>
          </p:cNvPr>
          <p:cNvSpPr/>
          <p:nvPr/>
        </p:nvSpPr>
        <p:spPr>
          <a:xfrm>
            <a:off x="9180302" y="3737231"/>
            <a:ext cx="738556" cy="622874"/>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3B2D4D3E-85EC-4290-864A-BBC7B18BD4E3}"/>
              </a:ext>
            </a:extLst>
          </p:cNvPr>
          <p:cNvSpPr/>
          <p:nvPr/>
        </p:nvSpPr>
        <p:spPr>
          <a:xfrm>
            <a:off x="10005546" y="3277428"/>
            <a:ext cx="1988041" cy="1572100"/>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a:solidFill>
                  <a:schemeClr val="tx1"/>
                </a:solidFill>
              </a:rPr>
              <a:t>Debit and Credit in same:</a:t>
            </a:r>
          </a:p>
          <a:p>
            <a:r>
              <a:rPr lang="en-US" sz="1100">
                <a:solidFill>
                  <a:schemeClr val="tx1"/>
                </a:solidFill>
              </a:rPr>
              <a:t>G/L Account √</a:t>
            </a:r>
          </a:p>
          <a:p>
            <a:r>
              <a:rPr lang="en-US" sz="1100">
                <a:solidFill>
                  <a:schemeClr val="tx1"/>
                </a:solidFill>
              </a:rPr>
              <a:t>Functional Area √</a:t>
            </a:r>
          </a:p>
          <a:p>
            <a:r>
              <a:rPr lang="en-US" sz="1100">
                <a:solidFill>
                  <a:schemeClr val="tx1"/>
                </a:solidFill>
              </a:rPr>
              <a:t>Profit Center √</a:t>
            </a:r>
          </a:p>
          <a:p>
            <a:r>
              <a:rPr lang="en-US" sz="1100">
                <a:solidFill>
                  <a:schemeClr val="tx1"/>
                </a:solidFill>
              </a:rPr>
              <a:t>Balanced to zero √</a:t>
            </a:r>
          </a:p>
          <a:p>
            <a:endParaRPr lang="en-US" sz="1100" b="1">
              <a:solidFill>
                <a:schemeClr val="tx1"/>
              </a:solidFill>
            </a:endParaRPr>
          </a:p>
          <a:p>
            <a:r>
              <a:rPr lang="en-US" sz="1100">
                <a:solidFill>
                  <a:schemeClr val="tx1"/>
                </a:solidFill>
              </a:rPr>
              <a:t>Ledger other than 0L possible √</a:t>
            </a:r>
          </a:p>
          <a:p>
            <a:r>
              <a:rPr lang="en-US" sz="1100">
                <a:solidFill>
                  <a:schemeClr val="tx1"/>
                </a:solidFill>
              </a:rPr>
              <a:t>Document type </a:t>
            </a:r>
            <a:r>
              <a:rPr lang="en-US" sz="1100" b="1">
                <a:solidFill>
                  <a:schemeClr val="tx1"/>
                </a:solidFill>
              </a:rPr>
              <a:t>SZ </a:t>
            </a:r>
            <a:r>
              <a:rPr lang="en-US" sz="1100">
                <a:solidFill>
                  <a:schemeClr val="tx1"/>
                </a:solidFill>
              </a:rPr>
              <a:t>√</a:t>
            </a:r>
          </a:p>
        </p:txBody>
      </p:sp>
      <p:pic>
        <p:nvPicPr>
          <p:cNvPr id="43" name="Picture 42">
            <a:extLst>
              <a:ext uri="{FF2B5EF4-FFF2-40B4-BE49-F238E27FC236}">
                <a16:creationId xmlns:a16="http://schemas.microsoft.com/office/drawing/2014/main" id="{7456E3F6-3600-41C3-A3BE-761BC5197B1B}"/>
              </a:ext>
            </a:extLst>
          </p:cNvPr>
          <p:cNvPicPr>
            <a:picLocks noChangeAspect="1"/>
          </p:cNvPicPr>
          <p:nvPr/>
        </p:nvPicPr>
        <p:blipFill>
          <a:blip r:embed="rId13"/>
          <a:stretch>
            <a:fillRect/>
          </a:stretch>
        </p:blipFill>
        <p:spPr>
          <a:xfrm>
            <a:off x="502335" y="3729970"/>
            <a:ext cx="8591280" cy="296878"/>
          </a:xfrm>
          <a:prstGeom prst="rect">
            <a:avLst/>
          </a:prstGeom>
        </p:spPr>
      </p:pic>
      <p:sp>
        <p:nvSpPr>
          <p:cNvPr id="42" name="Rectangle 41">
            <a:extLst>
              <a:ext uri="{FF2B5EF4-FFF2-40B4-BE49-F238E27FC236}">
                <a16:creationId xmlns:a16="http://schemas.microsoft.com/office/drawing/2014/main" id="{C38BFC1A-C51C-415B-A0CB-89297BAB22A7}"/>
              </a:ext>
            </a:extLst>
          </p:cNvPr>
          <p:cNvSpPr/>
          <p:nvPr/>
        </p:nvSpPr>
        <p:spPr>
          <a:xfrm>
            <a:off x="6795481" y="3749925"/>
            <a:ext cx="1372292" cy="23528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E1C99C8-14D6-405D-B3CE-5047D2E98276}"/>
              </a:ext>
            </a:extLst>
          </p:cNvPr>
          <p:cNvSpPr/>
          <p:nvPr/>
        </p:nvSpPr>
        <p:spPr>
          <a:xfrm>
            <a:off x="6343707" y="4040913"/>
            <a:ext cx="876072" cy="75678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446062B-FF77-48D9-9CC5-0744FCD80CDA}"/>
              </a:ext>
            </a:extLst>
          </p:cNvPr>
          <p:cNvSpPr/>
          <p:nvPr/>
        </p:nvSpPr>
        <p:spPr>
          <a:xfrm>
            <a:off x="1519275" y="3985212"/>
            <a:ext cx="3862731" cy="8265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8D3AD497-8B67-436A-93AA-4FB2EA5E907A}"/>
              </a:ext>
            </a:extLst>
          </p:cNvPr>
          <p:cNvPicPr>
            <a:picLocks noChangeAspect="1"/>
          </p:cNvPicPr>
          <p:nvPr/>
        </p:nvPicPr>
        <p:blipFill>
          <a:blip r:embed="rId7"/>
          <a:stretch>
            <a:fillRect/>
          </a:stretch>
        </p:blipFill>
        <p:spPr>
          <a:xfrm>
            <a:off x="5786641" y="3285824"/>
            <a:ext cx="2660787" cy="311166"/>
          </a:xfrm>
          <a:prstGeom prst="rect">
            <a:avLst/>
          </a:prstGeom>
          <a:ln>
            <a:solidFill>
              <a:srgbClr val="FF0000"/>
            </a:solidFill>
          </a:ln>
        </p:spPr>
      </p:pic>
      <p:sp>
        <p:nvSpPr>
          <p:cNvPr id="45" name="Oval 44">
            <a:extLst>
              <a:ext uri="{FF2B5EF4-FFF2-40B4-BE49-F238E27FC236}">
                <a16:creationId xmlns:a16="http://schemas.microsoft.com/office/drawing/2014/main" id="{CF0E932F-C137-4C41-8819-983DFE42EECC}"/>
              </a:ext>
            </a:extLst>
          </p:cNvPr>
          <p:cNvSpPr/>
          <p:nvPr/>
        </p:nvSpPr>
        <p:spPr>
          <a:xfrm>
            <a:off x="441233" y="1341508"/>
            <a:ext cx="266700" cy="228600"/>
          </a:xfrm>
          <a:prstGeom prst="ellipse">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8777C402-0CDD-4320-9309-20F07B033C84}"/>
              </a:ext>
            </a:extLst>
          </p:cNvPr>
          <p:cNvSpPr/>
          <p:nvPr/>
        </p:nvSpPr>
        <p:spPr>
          <a:xfrm>
            <a:off x="441233" y="3157742"/>
            <a:ext cx="266700" cy="2286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56995F8-98E9-49D8-860C-B341C20978FF}"/>
              </a:ext>
            </a:extLst>
          </p:cNvPr>
          <p:cNvSpPr/>
          <p:nvPr/>
        </p:nvSpPr>
        <p:spPr>
          <a:xfrm>
            <a:off x="441233" y="4936522"/>
            <a:ext cx="2667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353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endParaRPr lang="en-GB"/>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Internal Order Settlement (Leaf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000000"/>
                </a:solidFill>
                <a:latin typeface="Arial" charset="0"/>
                <a:cs typeface="Arial" charset="0"/>
              </a:rPr>
              <a:t>Above Brand Contribution (ABC) </a:t>
            </a:r>
          </a:p>
          <a:p>
            <a:pPr algn="ctr"/>
            <a:r>
              <a:rPr lang="en-US" sz="1400" b="1">
                <a:solidFill>
                  <a:srgbClr val="000000"/>
                </a:solidFill>
                <a:latin typeface="Arial" charset="0"/>
                <a:cs typeface="Arial" charset="0"/>
              </a:rPr>
              <a:t>WBS Settlement / Allocation </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Cost Center Distribution and Assessment</a:t>
            </a:r>
            <a:endParaRPr lang="en-US" sz="1400" b="1">
              <a:solidFill>
                <a:srgbClr val="FFFFFF"/>
              </a:solidFill>
              <a:latin typeface="Arial" panose="020B0604020202020204"/>
              <a:cs typeface="Arial"/>
            </a:endParaRP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Rounded Rectangle 39">
            <a:extLst>
              <a:ext uri="{FF2B5EF4-FFF2-40B4-BE49-F238E27FC236}">
                <a16:creationId xmlns:a16="http://schemas.microsoft.com/office/drawing/2014/main" id="{7AC4C256-8623-A823-1FE5-E2D920A33FB7}"/>
              </a:ext>
            </a:extLst>
          </p:cNvPr>
          <p:cNvSpPr/>
          <p:nvPr/>
        </p:nvSpPr>
        <p:spPr>
          <a:xfrm>
            <a:off x="9073614" y="1656450"/>
            <a:ext cx="2489390"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000000"/>
                </a:solidFill>
                <a:latin typeface="Arial" charset="0"/>
                <a:cs typeface="Arial" charset="0"/>
              </a:rPr>
              <a:t>Branded WBS Settlement</a:t>
            </a:r>
          </a:p>
        </p:txBody>
      </p:sp>
      <p:sp>
        <p:nvSpPr>
          <p:cNvPr id="4" name="Rounded Rectangle 39">
            <a:extLst>
              <a:ext uri="{FF2B5EF4-FFF2-40B4-BE49-F238E27FC236}">
                <a16:creationId xmlns:a16="http://schemas.microsoft.com/office/drawing/2014/main" id="{589C9AE0-4095-7161-8828-BBE0275416E7}"/>
              </a:ext>
            </a:extLst>
          </p:cNvPr>
          <p:cNvSpPr/>
          <p:nvPr/>
        </p:nvSpPr>
        <p:spPr>
          <a:xfrm>
            <a:off x="9088392" y="2401627"/>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Multi-brand WBS Settlement</a:t>
            </a:r>
            <a:endParaRPr lang="en-US" sz="1400" b="1" dirty="0">
              <a:solidFill>
                <a:srgbClr val="FFFFFF"/>
              </a:solidFill>
              <a:latin typeface="Arial" panose="020B0604020202020204"/>
              <a:cs typeface="Arial"/>
            </a:endParaRPr>
          </a:p>
        </p:txBody>
      </p:sp>
      <p:cxnSp>
        <p:nvCxnSpPr>
          <p:cNvPr id="5" name="Elbow Connector 4">
            <a:extLst>
              <a:ext uri="{FF2B5EF4-FFF2-40B4-BE49-F238E27FC236}">
                <a16:creationId xmlns:a16="http://schemas.microsoft.com/office/drawing/2014/main" id="{9CDCBE34-9F14-A2A2-F452-F88CD44846A8}"/>
              </a:ext>
            </a:extLst>
          </p:cNvPr>
          <p:cNvCxnSpPr>
            <a:cxnSpLocks/>
            <a:endCxn id="2" idx="1"/>
          </p:cNvCxnSpPr>
          <p:nvPr/>
        </p:nvCxnSpPr>
        <p:spPr>
          <a:xfrm flipV="1">
            <a:off x="8436815" y="1908297"/>
            <a:ext cx="636799" cy="5104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 name="Elbow Connector 7">
            <a:extLst>
              <a:ext uri="{FF2B5EF4-FFF2-40B4-BE49-F238E27FC236}">
                <a16:creationId xmlns:a16="http://schemas.microsoft.com/office/drawing/2014/main" id="{25BCB2EA-1EB2-A267-84A3-A14FAB436899}"/>
              </a:ext>
            </a:extLst>
          </p:cNvPr>
          <p:cNvCxnSpPr>
            <a:cxnSpLocks/>
            <a:endCxn id="4" idx="1"/>
          </p:cNvCxnSpPr>
          <p:nvPr/>
        </p:nvCxnSpPr>
        <p:spPr>
          <a:xfrm>
            <a:off x="8436815" y="2418746"/>
            <a:ext cx="651577" cy="23472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 name="Rounded Rectangle 39">
            <a:extLst>
              <a:ext uri="{FF2B5EF4-FFF2-40B4-BE49-F238E27FC236}">
                <a16:creationId xmlns:a16="http://schemas.microsoft.com/office/drawing/2014/main" id="{11CF3A8A-4C9D-3BD1-E8D7-3FF28BCEDF4B}"/>
              </a:ext>
            </a:extLst>
          </p:cNvPr>
          <p:cNvSpPr/>
          <p:nvPr/>
        </p:nvSpPr>
        <p:spPr>
          <a:xfrm>
            <a:off x="9073614" y="3236158"/>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Custom Multi-brand WBS Allocation</a:t>
            </a:r>
            <a:endParaRPr lang="en-US" sz="1400" b="1" dirty="0">
              <a:solidFill>
                <a:srgbClr val="FFFFFF"/>
              </a:solidFill>
              <a:latin typeface="Arial" panose="020B0604020202020204"/>
              <a:cs typeface="Arial"/>
            </a:endParaRPr>
          </a:p>
        </p:txBody>
      </p:sp>
      <p:cxnSp>
        <p:nvCxnSpPr>
          <p:cNvPr id="9" name="Elbow Connector 7">
            <a:extLst>
              <a:ext uri="{FF2B5EF4-FFF2-40B4-BE49-F238E27FC236}">
                <a16:creationId xmlns:a16="http://schemas.microsoft.com/office/drawing/2014/main" id="{6856192B-1190-BD2A-F670-667BC251C1F7}"/>
              </a:ext>
            </a:extLst>
          </p:cNvPr>
          <p:cNvCxnSpPr>
            <a:cxnSpLocks/>
            <a:endCxn id="8" idx="1"/>
          </p:cNvCxnSpPr>
          <p:nvPr/>
        </p:nvCxnSpPr>
        <p:spPr>
          <a:xfrm>
            <a:off x="8436815" y="2418746"/>
            <a:ext cx="636799" cy="106925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2271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11</a:t>
            </a:fld>
            <a:endParaRPr lang="en-GB"/>
          </a:p>
        </p:txBody>
      </p:sp>
      <p:sp>
        <p:nvSpPr>
          <p:cNvPr id="6" name="Title 3">
            <a:extLst>
              <a:ext uri="{FF2B5EF4-FFF2-40B4-BE49-F238E27FC236}">
                <a16:creationId xmlns:a16="http://schemas.microsoft.com/office/drawing/2014/main" id="{7FB95634-67AE-F841-6540-9AE4F0B86851}"/>
              </a:ext>
            </a:extLst>
          </p:cNvPr>
          <p:cNvSpPr>
            <a:spLocks noGrp="1"/>
          </p:cNvSpPr>
          <p:nvPr>
            <p:ph type="title"/>
          </p:nvPr>
        </p:nvSpPr>
        <p:spPr/>
        <p:txBody>
          <a:bodyPr/>
          <a:lstStyle/>
          <a:p>
            <a:r>
              <a:rPr lang="en-US" dirty="0"/>
              <a:t>Branded WBS Settlement</a:t>
            </a:r>
            <a:br>
              <a:rPr lang="en-US" dirty="0"/>
            </a:br>
            <a:r>
              <a:rPr lang="en-US" sz="2400" b="0" dirty="0"/>
              <a:t>(CJB1 Generate Settlement Rules) (1/4)</a:t>
            </a:r>
            <a:endParaRPr lang="en-US" dirty="0"/>
          </a:p>
        </p:txBody>
      </p:sp>
      <p:pic>
        <p:nvPicPr>
          <p:cNvPr id="8" name="Picture 7">
            <a:extLst>
              <a:ext uri="{FF2B5EF4-FFF2-40B4-BE49-F238E27FC236}">
                <a16:creationId xmlns:a16="http://schemas.microsoft.com/office/drawing/2014/main" id="{C51BAADE-07D2-DB4E-C06A-3D31807E1B88}"/>
              </a:ext>
            </a:extLst>
          </p:cNvPr>
          <p:cNvPicPr>
            <a:picLocks noChangeAspect="1"/>
          </p:cNvPicPr>
          <p:nvPr/>
        </p:nvPicPr>
        <p:blipFill>
          <a:blip r:embed="rId2"/>
          <a:stretch>
            <a:fillRect/>
          </a:stretch>
        </p:blipFill>
        <p:spPr>
          <a:xfrm>
            <a:off x="3562347" y="2200394"/>
            <a:ext cx="3633396" cy="2529255"/>
          </a:xfrm>
          <a:prstGeom prst="rect">
            <a:avLst/>
          </a:prstGeom>
        </p:spPr>
      </p:pic>
      <p:pic>
        <p:nvPicPr>
          <p:cNvPr id="9" name="Picture 8">
            <a:extLst>
              <a:ext uri="{FF2B5EF4-FFF2-40B4-BE49-F238E27FC236}">
                <a16:creationId xmlns:a16="http://schemas.microsoft.com/office/drawing/2014/main" id="{B7BC8662-7621-DD62-B4D5-B4D7A2DC5924}"/>
              </a:ext>
            </a:extLst>
          </p:cNvPr>
          <p:cNvPicPr>
            <a:picLocks noChangeAspect="1"/>
          </p:cNvPicPr>
          <p:nvPr/>
        </p:nvPicPr>
        <p:blipFill>
          <a:blip r:embed="rId3"/>
          <a:stretch>
            <a:fillRect/>
          </a:stretch>
        </p:blipFill>
        <p:spPr>
          <a:xfrm>
            <a:off x="472222" y="2385923"/>
            <a:ext cx="2734117" cy="2114987"/>
          </a:xfrm>
          <a:prstGeom prst="rect">
            <a:avLst/>
          </a:prstGeom>
        </p:spPr>
      </p:pic>
      <p:sp>
        <p:nvSpPr>
          <p:cNvPr id="10" name="Rectangle: Rounded Corners 9">
            <a:extLst>
              <a:ext uri="{FF2B5EF4-FFF2-40B4-BE49-F238E27FC236}">
                <a16:creationId xmlns:a16="http://schemas.microsoft.com/office/drawing/2014/main" id="{B70423C7-E7A9-2C63-EE1E-E1D31DD1E348}"/>
              </a:ext>
            </a:extLst>
          </p:cNvPr>
          <p:cNvSpPr/>
          <p:nvPr/>
        </p:nvSpPr>
        <p:spPr>
          <a:xfrm>
            <a:off x="451943" y="2032108"/>
            <a:ext cx="2690751" cy="47201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-&gt; Click on Variant of Branded WBS Settlement task</a:t>
            </a:r>
          </a:p>
        </p:txBody>
      </p:sp>
      <p:sp>
        <p:nvSpPr>
          <p:cNvPr id="11" name="Rectangle: Rounded Corners 10">
            <a:extLst>
              <a:ext uri="{FF2B5EF4-FFF2-40B4-BE49-F238E27FC236}">
                <a16:creationId xmlns:a16="http://schemas.microsoft.com/office/drawing/2014/main" id="{874E90B4-7626-5C43-D183-C9FC40AADABC}"/>
              </a:ext>
            </a:extLst>
          </p:cNvPr>
          <p:cNvSpPr/>
          <p:nvPr/>
        </p:nvSpPr>
        <p:spPr>
          <a:xfrm>
            <a:off x="527518" y="2778207"/>
            <a:ext cx="2615177" cy="1646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39ACDD8-9867-E12A-A891-06ECD7039568}"/>
              </a:ext>
            </a:extLst>
          </p:cNvPr>
          <p:cNvSpPr/>
          <p:nvPr/>
        </p:nvSpPr>
        <p:spPr>
          <a:xfrm>
            <a:off x="3538704" y="1958005"/>
            <a:ext cx="2423934" cy="36569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CJB1: Generate Settlement Rules: WBS Elements</a:t>
            </a:r>
          </a:p>
        </p:txBody>
      </p:sp>
      <p:sp>
        <p:nvSpPr>
          <p:cNvPr id="13" name="Rectangle 12">
            <a:extLst>
              <a:ext uri="{FF2B5EF4-FFF2-40B4-BE49-F238E27FC236}">
                <a16:creationId xmlns:a16="http://schemas.microsoft.com/office/drawing/2014/main" id="{756C5F09-8F23-CF88-796B-C05ABDFA37E2}"/>
              </a:ext>
            </a:extLst>
          </p:cNvPr>
          <p:cNvSpPr/>
          <p:nvPr/>
        </p:nvSpPr>
        <p:spPr>
          <a:xfrm>
            <a:off x="257898" y="4735847"/>
            <a:ext cx="8336959" cy="1400383"/>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Branded WBS Generate Settlement Rules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solidFill>
                  <a:srgbClr val="000000"/>
                </a:solidFill>
                <a:latin typeface="Georgia" panose="02040502050405020303" pitchFamily="18" charset="0"/>
              </a:rPr>
              <a:t>If you execute CJB1 for Branded WBS outside of FCC, make sure you use the same </a:t>
            </a:r>
            <a:r>
              <a:rPr lang="en-GB" sz="1100" b="1" i="1" dirty="0">
                <a:solidFill>
                  <a:srgbClr val="000000"/>
                </a:solidFill>
                <a:latin typeface="Georgia" panose="02040502050405020303" pitchFamily="18" charset="0"/>
              </a:rPr>
              <a:t>selection variant </a:t>
            </a:r>
            <a:r>
              <a:rPr lang="en-GB" sz="1100" i="1" dirty="0">
                <a:solidFill>
                  <a:srgbClr val="000000"/>
                </a:solidFill>
                <a:latin typeface="Georgia" panose="02040502050405020303" pitchFamily="18" charset="0"/>
              </a:rPr>
              <a:t>as stated in the corresponding FCC task.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It is recommended that you do Test Run first, which can help you identify any errors before an update run, although Test Run is not mandatory and is not ticked in the FCC task variant.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solidFill>
                  <a:srgbClr val="000000"/>
                </a:solidFill>
                <a:latin typeface="Georgia" panose="02040502050405020303" pitchFamily="18" charset="0"/>
              </a:rPr>
              <a:t>If you have selected Detailed List, you will have a comprehensive log after your manual execution. Make sure you check messages in the log before deciding to proceed with update run (untick Test Run).</a:t>
            </a:r>
          </a:p>
        </p:txBody>
      </p:sp>
      <p:sp>
        <p:nvSpPr>
          <p:cNvPr id="15" name="Rectangle: Rounded Corners 14">
            <a:extLst>
              <a:ext uri="{FF2B5EF4-FFF2-40B4-BE49-F238E27FC236}">
                <a16:creationId xmlns:a16="http://schemas.microsoft.com/office/drawing/2014/main" id="{72F42B24-EFFC-2109-E456-1991E9ED08BD}"/>
              </a:ext>
            </a:extLst>
          </p:cNvPr>
          <p:cNvSpPr/>
          <p:nvPr/>
        </p:nvSpPr>
        <p:spPr>
          <a:xfrm>
            <a:off x="3865936" y="2843068"/>
            <a:ext cx="1736791"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87285F8D-48B8-2A6D-2513-00273D70F8D6}"/>
              </a:ext>
            </a:extLst>
          </p:cNvPr>
          <p:cNvSpPr/>
          <p:nvPr/>
        </p:nvSpPr>
        <p:spPr>
          <a:xfrm>
            <a:off x="527518" y="3597357"/>
            <a:ext cx="2615177" cy="1646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7" name="Straight Arrow Connector 16">
            <a:extLst>
              <a:ext uri="{FF2B5EF4-FFF2-40B4-BE49-F238E27FC236}">
                <a16:creationId xmlns:a16="http://schemas.microsoft.com/office/drawing/2014/main" id="{47A3E46E-6413-DAB7-00C3-17D9B24EBA76}"/>
              </a:ext>
            </a:extLst>
          </p:cNvPr>
          <p:cNvCxnSpPr>
            <a:cxnSpLocks/>
            <a:endCxn id="15" idx="1"/>
          </p:cNvCxnSpPr>
          <p:nvPr/>
        </p:nvCxnSpPr>
        <p:spPr>
          <a:xfrm flipV="1">
            <a:off x="2824119" y="2951813"/>
            <a:ext cx="1041817" cy="637303"/>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5DBE6B0-146A-F67E-E4F5-556E8B2B05BF}"/>
              </a:ext>
            </a:extLst>
          </p:cNvPr>
          <p:cNvPicPr>
            <a:picLocks noChangeAspect="1"/>
          </p:cNvPicPr>
          <p:nvPr/>
        </p:nvPicPr>
        <p:blipFill>
          <a:blip r:embed="rId4"/>
          <a:stretch>
            <a:fillRect/>
          </a:stretch>
        </p:blipFill>
        <p:spPr>
          <a:xfrm>
            <a:off x="8240805" y="2102885"/>
            <a:ext cx="3609019" cy="3946486"/>
          </a:xfrm>
          <a:prstGeom prst="rect">
            <a:avLst/>
          </a:prstGeom>
        </p:spPr>
      </p:pic>
      <p:sp>
        <p:nvSpPr>
          <p:cNvPr id="21" name="Arrow: Striped Right 20">
            <a:extLst>
              <a:ext uri="{FF2B5EF4-FFF2-40B4-BE49-F238E27FC236}">
                <a16:creationId xmlns:a16="http://schemas.microsoft.com/office/drawing/2014/main" id="{D93F3D9A-84B2-44AE-407A-64848B20F490}"/>
              </a:ext>
            </a:extLst>
          </p:cNvPr>
          <p:cNvSpPr/>
          <p:nvPr/>
        </p:nvSpPr>
        <p:spPr>
          <a:xfrm>
            <a:off x="7195743" y="2385922"/>
            <a:ext cx="943193" cy="190154"/>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Speech Bubble: Rectangle 21">
            <a:extLst>
              <a:ext uri="{FF2B5EF4-FFF2-40B4-BE49-F238E27FC236}">
                <a16:creationId xmlns:a16="http://schemas.microsoft.com/office/drawing/2014/main" id="{585123F9-E99E-A89F-6E74-F95D8E007CAA}"/>
              </a:ext>
            </a:extLst>
          </p:cNvPr>
          <p:cNvSpPr/>
          <p:nvPr/>
        </p:nvSpPr>
        <p:spPr>
          <a:xfrm>
            <a:off x="9841993" y="3051051"/>
            <a:ext cx="1877785" cy="827939"/>
          </a:xfrm>
          <a:prstGeom prst="wedgeRectCallout">
            <a:avLst>
              <a:gd name="adj1" fmla="val -72829"/>
              <a:gd name="adj2" fmla="val -92444"/>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Display messages icon will show more details on errors/warnings. Always check before proceeding</a:t>
            </a:r>
            <a:endParaRPr lang="en-US" sz="1100">
              <a:solidFill>
                <a:schemeClr val="tx1"/>
              </a:solidFill>
              <a:latin typeface="+mj-lt"/>
            </a:endParaRPr>
          </a:p>
        </p:txBody>
      </p:sp>
      <p:sp>
        <p:nvSpPr>
          <p:cNvPr id="23" name="Rectangle: Rounded Corners 22">
            <a:extLst>
              <a:ext uri="{FF2B5EF4-FFF2-40B4-BE49-F238E27FC236}">
                <a16:creationId xmlns:a16="http://schemas.microsoft.com/office/drawing/2014/main" id="{B0BF15F7-5C29-4658-DC48-0E509C5274F2}"/>
              </a:ext>
            </a:extLst>
          </p:cNvPr>
          <p:cNvSpPr/>
          <p:nvPr/>
        </p:nvSpPr>
        <p:spPr>
          <a:xfrm>
            <a:off x="9254919" y="2498813"/>
            <a:ext cx="252807" cy="19810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5CFCA47D-1596-9F52-A6AB-B12D9CC283F8}"/>
              </a:ext>
            </a:extLst>
          </p:cNvPr>
          <p:cNvSpPr/>
          <p:nvPr/>
        </p:nvSpPr>
        <p:spPr>
          <a:xfrm>
            <a:off x="8240805" y="4174084"/>
            <a:ext cx="1424164" cy="19015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Speech Bubble: Rectangle 24">
            <a:extLst>
              <a:ext uri="{FF2B5EF4-FFF2-40B4-BE49-F238E27FC236}">
                <a16:creationId xmlns:a16="http://schemas.microsoft.com/office/drawing/2014/main" id="{4F319997-351B-91AB-B437-ED043B93896E}"/>
              </a:ext>
            </a:extLst>
          </p:cNvPr>
          <p:cNvSpPr/>
          <p:nvPr/>
        </p:nvSpPr>
        <p:spPr>
          <a:xfrm>
            <a:off x="9254919" y="5764708"/>
            <a:ext cx="1877785" cy="616119"/>
          </a:xfrm>
          <a:prstGeom prst="wedgeRectCallout">
            <a:avLst>
              <a:gd name="adj1" fmla="val 61596"/>
              <a:gd name="adj2" fmla="val -18827"/>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dirty="0">
                <a:solidFill>
                  <a:schemeClr val="tx1"/>
                </a:solidFill>
                <a:latin typeface="+mj-lt"/>
              </a:rPr>
              <a:t>Next List Level will show what settlement rules have been processed</a:t>
            </a:r>
            <a:endParaRPr lang="en-US" sz="1100" dirty="0">
              <a:solidFill>
                <a:schemeClr val="tx1"/>
              </a:solidFill>
              <a:latin typeface="+mj-lt"/>
            </a:endParaRPr>
          </a:p>
        </p:txBody>
      </p:sp>
      <p:sp>
        <p:nvSpPr>
          <p:cNvPr id="26" name="Rectangle: Rounded Corners 25">
            <a:extLst>
              <a:ext uri="{FF2B5EF4-FFF2-40B4-BE49-F238E27FC236}">
                <a16:creationId xmlns:a16="http://schemas.microsoft.com/office/drawing/2014/main" id="{6BF9B672-1254-6A60-A739-D53432FE9A3E}"/>
              </a:ext>
            </a:extLst>
          </p:cNvPr>
          <p:cNvSpPr/>
          <p:nvPr/>
        </p:nvSpPr>
        <p:spPr>
          <a:xfrm>
            <a:off x="8240806" y="4411030"/>
            <a:ext cx="1424164" cy="30035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Rounded Corners 6">
            <a:extLst>
              <a:ext uri="{FF2B5EF4-FFF2-40B4-BE49-F238E27FC236}">
                <a16:creationId xmlns:a16="http://schemas.microsoft.com/office/drawing/2014/main" id="{7A237FB0-B07A-F794-27EA-421FACC0760E}"/>
              </a:ext>
            </a:extLst>
          </p:cNvPr>
          <p:cNvSpPr/>
          <p:nvPr/>
        </p:nvSpPr>
        <p:spPr>
          <a:xfrm>
            <a:off x="527518" y="1463000"/>
            <a:ext cx="11041123" cy="339446"/>
          </a:xfrm>
          <a:prstGeom prst="roundRect">
            <a:avLst>
              <a:gd name="adj" fmla="val 5198"/>
            </a:avLst>
          </a:prstGeom>
          <a:solidFill>
            <a:schemeClr val="accent3"/>
          </a:solidFill>
          <a:ln w="2857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A74040D2-DB77-CCA1-AB32-6DAAA87AC1AF}"/>
              </a:ext>
            </a:extLst>
          </p:cNvPr>
          <p:cNvSpPr txBox="1"/>
          <p:nvPr/>
        </p:nvSpPr>
        <p:spPr>
          <a:xfrm>
            <a:off x="886418" y="1499064"/>
            <a:ext cx="10665818" cy="303382"/>
          </a:xfrm>
          <a:prstGeom prst="rect">
            <a:avLst/>
          </a:prstGeom>
          <a:noFill/>
        </p:spPr>
        <p:txBody>
          <a:bodyPr wrap="square" lIns="0" tIns="0" rIns="0" bIns="0" rtlCol="0">
            <a:noAutofit/>
          </a:bodyPr>
          <a:lstStyle/>
          <a:p>
            <a:pPr marL="144000" indent="-144000" algn="l">
              <a:buFont typeface="Arial" panose="020B0604020202020204" pitchFamily="34" charset="0"/>
              <a:buChar char="•"/>
            </a:pPr>
            <a:r>
              <a:rPr lang="en-GB" sz="1200" dirty="0">
                <a:solidFill>
                  <a:schemeClr val="bg1"/>
                </a:solidFill>
              </a:rPr>
              <a:t>This section provides instruction of how to execute the following T-Codes CJB1 and CJ8G</a:t>
            </a:r>
          </a:p>
          <a:p>
            <a:pPr marL="144000" indent="-144000" algn="l">
              <a:buFont typeface="Arial" panose="020B0604020202020204" pitchFamily="34" charset="0"/>
              <a:buChar char="•"/>
            </a:pPr>
            <a:endParaRPr lang="en-GB" sz="1200" dirty="0">
              <a:solidFill>
                <a:schemeClr val="bg1"/>
              </a:solidFill>
            </a:endParaRPr>
          </a:p>
        </p:txBody>
      </p:sp>
    </p:spTree>
    <p:extLst>
      <p:ext uri="{BB962C8B-B14F-4D97-AF65-F5344CB8AC3E}">
        <p14:creationId xmlns:p14="http://schemas.microsoft.com/office/powerpoint/2010/main" val="583861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F9DE7B9E-E151-B6C8-15BC-79FF768D7595}"/>
              </a:ext>
            </a:extLst>
          </p:cNvPr>
          <p:cNvPicPr>
            <a:picLocks noChangeAspect="1"/>
          </p:cNvPicPr>
          <p:nvPr/>
        </p:nvPicPr>
        <p:blipFill>
          <a:blip r:embed="rId2"/>
          <a:stretch>
            <a:fillRect/>
          </a:stretch>
        </p:blipFill>
        <p:spPr>
          <a:xfrm>
            <a:off x="7553115" y="1980300"/>
            <a:ext cx="4122946" cy="3972850"/>
          </a:xfrm>
          <a:prstGeom prst="rect">
            <a:avLst/>
          </a:prstGeom>
        </p:spPr>
      </p:pic>
      <p:pic>
        <p:nvPicPr>
          <p:cNvPr id="5" name="Picture 4">
            <a:extLst>
              <a:ext uri="{FF2B5EF4-FFF2-40B4-BE49-F238E27FC236}">
                <a16:creationId xmlns:a16="http://schemas.microsoft.com/office/drawing/2014/main" id="{F3D71FBA-26CA-1103-FD57-18076FD522F0}"/>
              </a:ext>
            </a:extLst>
          </p:cNvPr>
          <p:cNvPicPr>
            <a:picLocks noChangeAspect="1"/>
          </p:cNvPicPr>
          <p:nvPr/>
        </p:nvPicPr>
        <p:blipFill>
          <a:blip r:embed="rId3"/>
          <a:stretch>
            <a:fillRect/>
          </a:stretch>
        </p:blipFill>
        <p:spPr>
          <a:xfrm>
            <a:off x="610286" y="1929044"/>
            <a:ext cx="2722221" cy="2202353"/>
          </a:xfrm>
          <a:prstGeom prst="rect">
            <a:avLst/>
          </a:prstGeom>
        </p:spPr>
      </p:pic>
      <p:pic>
        <p:nvPicPr>
          <p:cNvPr id="36" name="Picture 35">
            <a:extLst>
              <a:ext uri="{FF2B5EF4-FFF2-40B4-BE49-F238E27FC236}">
                <a16:creationId xmlns:a16="http://schemas.microsoft.com/office/drawing/2014/main" id="{B6F2759C-1A30-4850-1238-8118BCD2F536}"/>
              </a:ext>
            </a:extLst>
          </p:cNvPr>
          <p:cNvPicPr>
            <a:picLocks noChangeAspect="1"/>
          </p:cNvPicPr>
          <p:nvPr/>
        </p:nvPicPr>
        <p:blipFill>
          <a:blip r:embed="rId4"/>
          <a:stretch>
            <a:fillRect/>
          </a:stretch>
        </p:blipFill>
        <p:spPr>
          <a:xfrm>
            <a:off x="2288802" y="3222909"/>
            <a:ext cx="2659946" cy="2443439"/>
          </a:xfrm>
          <a:prstGeom prst="rect">
            <a:avLst/>
          </a:prstGeom>
        </p:spPr>
      </p:pic>
      <p:pic>
        <p:nvPicPr>
          <p:cNvPr id="27" name="Picture 26">
            <a:extLst>
              <a:ext uri="{FF2B5EF4-FFF2-40B4-BE49-F238E27FC236}">
                <a16:creationId xmlns:a16="http://schemas.microsoft.com/office/drawing/2014/main" id="{FCF50B10-A487-7CD1-7A93-2068601B1522}"/>
              </a:ext>
            </a:extLst>
          </p:cNvPr>
          <p:cNvPicPr>
            <a:picLocks noChangeAspect="1"/>
          </p:cNvPicPr>
          <p:nvPr/>
        </p:nvPicPr>
        <p:blipFill>
          <a:blip r:embed="rId5"/>
          <a:stretch>
            <a:fillRect/>
          </a:stretch>
        </p:blipFill>
        <p:spPr>
          <a:xfrm>
            <a:off x="5033566" y="1558249"/>
            <a:ext cx="2333602" cy="2054963"/>
          </a:xfrm>
          <a:prstGeom prst="rect">
            <a:avLst/>
          </a:prstGeom>
        </p:spPr>
      </p:pic>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12</a:t>
            </a:fld>
            <a:endParaRPr lang="en-GB"/>
          </a:p>
        </p:txBody>
      </p:sp>
      <p:sp>
        <p:nvSpPr>
          <p:cNvPr id="12" name="Rectangle: Rounded Corners 11">
            <a:extLst>
              <a:ext uri="{FF2B5EF4-FFF2-40B4-BE49-F238E27FC236}">
                <a16:creationId xmlns:a16="http://schemas.microsoft.com/office/drawing/2014/main" id="{D39ACDD8-9867-E12A-A891-06ECD7039568}"/>
              </a:ext>
            </a:extLst>
          </p:cNvPr>
          <p:cNvSpPr/>
          <p:nvPr/>
        </p:nvSpPr>
        <p:spPr>
          <a:xfrm>
            <a:off x="527518" y="1414511"/>
            <a:ext cx="2423934" cy="36569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CJB1: Generate Settlement Rules: WBS Elements</a:t>
            </a:r>
          </a:p>
        </p:txBody>
      </p:sp>
      <p:sp>
        <p:nvSpPr>
          <p:cNvPr id="16" name="Rectangle: Rounded Corners 15">
            <a:extLst>
              <a:ext uri="{FF2B5EF4-FFF2-40B4-BE49-F238E27FC236}">
                <a16:creationId xmlns:a16="http://schemas.microsoft.com/office/drawing/2014/main" id="{87285F8D-48B8-2A6D-2513-00273D70F8D6}"/>
              </a:ext>
            </a:extLst>
          </p:cNvPr>
          <p:cNvSpPr/>
          <p:nvPr/>
        </p:nvSpPr>
        <p:spPr>
          <a:xfrm>
            <a:off x="1641832" y="2166171"/>
            <a:ext cx="266868" cy="1646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C2392824-0628-5465-9C12-6B7C68ACAC87}"/>
              </a:ext>
            </a:extLst>
          </p:cNvPr>
          <p:cNvSpPr/>
          <p:nvPr/>
        </p:nvSpPr>
        <p:spPr>
          <a:xfrm>
            <a:off x="2342092" y="3823234"/>
            <a:ext cx="1798536" cy="384252"/>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4C844C8F-CA01-E3E3-2C7F-3E3A7EC0BE55}"/>
              </a:ext>
            </a:extLst>
          </p:cNvPr>
          <p:cNvSpPr/>
          <p:nvPr/>
        </p:nvSpPr>
        <p:spPr>
          <a:xfrm>
            <a:off x="4680939" y="3962935"/>
            <a:ext cx="183470" cy="24857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2" name="Straight Arrow Connector 21">
            <a:extLst>
              <a:ext uri="{FF2B5EF4-FFF2-40B4-BE49-F238E27FC236}">
                <a16:creationId xmlns:a16="http://schemas.microsoft.com/office/drawing/2014/main" id="{14288EC4-D7A2-6171-CC1F-4CB48B6D1AA2}"/>
              </a:ext>
            </a:extLst>
          </p:cNvPr>
          <p:cNvCxnSpPr>
            <a:cxnSpLocks/>
            <a:stCxn id="16" idx="3"/>
          </p:cNvCxnSpPr>
          <p:nvPr/>
        </p:nvCxnSpPr>
        <p:spPr>
          <a:xfrm>
            <a:off x="1908700" y="2248504"/>
            <a:ext cx="568170" cy="149864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FB3A32B-B6EA-AEA1-CBB1-C7451FB493CE}"/>
              </a:ext>
            </a:extLst>
          </p:cNvPr>
          <p:cNvCxnSpPr>
            <a:cxnSpLocks/>
            <a:stCxn id="21" idx="0"/>
          </p:cNvCxnSpPr>
          <p:nvPr/>
        </p:nvCxnSpPr>
        <p:spPr>
          <a:xfrm flipV="1">
            <a:off x="4772674" y="2848676"/>
            <a:ext cx="358192" cy="1114259"/>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63E062E2-EAC5-E4E8-5A6C-2318DA2184C4}"/>
              </a:ext>
            </a:extLst>
          </p:cNvPr>
          <p:cNvSpPr/>
          <p:nvPr/>
        </p:nvSpPr>
        <p:spPr>
          <a:xfrm>
            <a:off x="5130866" y="2528202"/>
            <a:ext cx="1440167" cy="25051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Speech Bubble: Rectangle 29">
            <a:extLst>
              <a:ext uri="{FF2B5EF4-FFF2-40B4-BE49-F238E27FC236}">
                <a16:creationId xmlns:a16="http://schemas.microsoft.com/office/drawing/2014/main" id="{04807AB5-90D1-90D9-6C7C-D63F0C2B8E0A}"/>
              </a:ext>
            </a:extLst>
          </p:cNvPr>
          <p:cNvSpPr/>
          <p:nvPr/>
        </p:nvSpPr>
        <p:spPr>
          <a:xfrm>
            <a:off x="3741701" y="1493621"/>
            <a:ext cx="2245415" cy="931286"/>
          </a:xfrm>
          <a:prstGeom prst="wedgeRectCallout">
            <a:avLst>
              <a:gd name="adj1" fmla="val 59746"/>
              <a:gd name="adj2" fmla="val 67232"/>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The system provides further information on errors and warnings to help resolve issues. Here is an example of a WBS having no account assignment</a:t>
            </a:r>
            <a:endParaRPr lang="en-US" sz="1100">
              <a:solidFill>
                <a:schemeClr val="tx1"/>
              </a:solidFill>
              <a:latin typeface="+mj-lt"/>
            </a:endParaRPr>
          </a:p>
        </p:txBody>
      </p:sp>
      <p:sp>
        <p:nvSpPr>
          <p:cNvPr id="31" name="Speech Bubble: Rectangle 30">
            <a:extLst>
              <a:ext uri="{FF2B5EF4-FFF2-40B4-BE49-F238E27FC236}">
                <a16:creationId xmlns:a16="http://schemas.microsoft.com/office/drawing/2014/main" id="{9D86F818-F862-74C9-B89B-4414EDE75E75}"/>
              </a:ext>
            </a:extLst>
          </p:cNvPr>
          <p:cNvSpPr/>
          <p:nvPr/>
        </p:nvSpPr>
        <p:spPr>
          <a:xfrm>
            <a:off x="2615001" y="5029519"/>
            <a:ext cx="1877785" cy="827939"/>
          </a:xfrm>
          <a:prstGeom prst="wedgeRectCallout">
            <a:avLst>
              <a:gd name="adj1" fmla="val 63329"/>
              <a:gd name="adj2" fmla="val -164284"/>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Click the long text ? Icon to further understand error/warning messages</a:t>
            </a:r>
            <a:endParaRPr lang="en-US" sz="1100">
              <a:solidFill>
                <a:schemeClr val="tx1"/>
              </a:solidFill>
              <a:latin typeface="+mj-lt"/>
            </a:endParaRPr>
          </a:p>
        </p:txBody>
      </p:sp>
      <p:sp>
        <p:nvSpPr>
          <p:cNvPr id="40" name="Rectangle: Rounded Corners 39">
            <a:extLst>
              <a:ext uri="{FF2B5EF4-FFF2-40B4-BE49-F238E27FC236}">
                <a16:creationId xmlns:a16="http://schemas.microsoft.com/office/drawing/2014/main" id="{396CF622-F9C8-EE7E-77C6-406F44DEF0D0}"/>
              </a:ext>
            </a:extLst>
          </p:cNvPr>
          <p:cNvSpPr/>
          <p:nvPr/>
        </p:nvSpPr>
        <p:spPr>
          <a:xfrm>
            <a:off x="7547601" y="1693312"/>
            <a:ext cx="2423934" cy="36569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CJ13: Display WBS Element</a:t>
            </a:r>
          </a:p>
        </p:txBody>
      </p:sp>
      <p:sp>
        <p:nvSpPr>
          <p:cNvPr id="43" name="Rectangle: Rounded Corners 42">
            <a:extLst>
              <a:ext uri="{FF2B5EF4-FFF2-40B4-BE49-F238E27FC236}">
                <a16:creationId xmlns:a16="http://schemas.microsoft.com/office/drawing/2014/main" id="{03703B17-5A9E-1464-EB17-A7AF20E571B1}"/>
              </a:ext>
            </a:extLst>
          </p:cNvPr>
          <p:cNvSpPr/>
          <p:nvPr/>
        </p:nvSpPr>
        <p:spPr>
          <a:xfrm>
            <a:off x="10262586" y="4087221"/>
            <a:ext cx="1319128" cy="61794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4" name="Speech Bubble: Rectangle 43">
            <a:extLst>
              <a:ext uri="{FF2B5EF4-FFF2-40B4-BE49-F238E27FC236}">
                <a16:creationId xmlns:a16="http://schemas.microsoft.com/office/drawing/2014/main" id="{106AB09C-B538-22BF-30C1-CC64DAAEF4BD}"/>
              </a:ext>
            </a:extLst>
          </p:cNvPr>
          <p:cNvSpPr/>
          <p:nvPr/>
        </p:nvSpPr>
        <p:spPr>
          <a:xfrm>
            <a:off x="7331584" y="5443488"/>
            <a:ext cx="2245415" cy="931286"/>
          </a:xfrm>
          <a:prstGeom prst="wedgeRectCallout">
            <a:avLst>
              <a:gd name="adj1" fmla="val 121423"/>
              <a:gd name="adj2" fmla="val -144394"/>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In CJ13 there is no account assignment for this WBS element, therefore settlement rules cannot be generated</a:t>
            </a:r>
            <a:endParaRPr lang="en-US" sz="1100">
              <a:solidFill>
                <a:schemeClr val="tx1"/>
              </a:solidFill>
              <a:latin typeface="+mj-lt"/>
            </a:endParaRPr>
          </a:p>
        </p:txBody>
      </p:sp>
      <p:sp>
        <p:nvSpPr>
          <p:cNvPr id="45" name="Rectangle 44">
            <a:extLst>
              <a:ext uri="{FF2B5EF4-FFF2-40B4-BE49-F238E27FC236}">
                <a16:creationId xmlns:a16="http://schemas.microsoft.com/office/drawing/2014/main" id="{7AC423C4-5CD5-D481-BAC8-21C432ED05E3}"/>
              </a:ext>
            </a:extLst>
          </p:cNvPr>
          <p:cNvSpPr/>
          <p:nvPr/>
        </p:nvSpPr>
        <p:spPr>
          <a:xfrm>
            <a:off x="324307" y="5938007"/>
            <a:ext cx="6733442" cy="784830"/>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Branded WBS Generate Settlement Rules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If you have selected Detailed List, you will have a comprehensive log after your manual execution. Make sure you check messages in the log before deciding to proceed with update run (untick Test Run).</a:t>
            </a:r>
          </a:p>
        </p:txBody>
      </p:sp>
      <p:sp>
        <p:nvSpPr>
          <p:cNvPr id="4" name="Title 3">
            <a:extLst>
              <a:ext uri="{FF2B5EF4-FFF2-40B4-BE49-F238E27FC236}">
                <a16:creationId xmlns:a16="http://schemas.microsoft.com/office/drawing/2014/main" id="{50E4C12F-2C1B-8599-4D30-C7A6918E2D90}"/>
              </a:ext>
            </a:extLst>
          </p:cNvPr>
          <p:cNvSpPr>
            <a:spLocks noGrp="1"/>
          </p:cNvSpPr>
          <p:nvPr>
            <p:ph type="title"/>
          </p:nvPr>
        </p:nvSpPr>
        <p:spPr>
          <a:xfrm>
            <a:off x="1511277" y="210344"/>
            <a:ext cx="8902723" cy="984247"/>
          </a:xfrm>
        </p:spPr>
        <p:txBody>
          <a:bodyPr/>
          <a:lstStyle/>
          <a:p>
            <a:r>
              <a:rPr lang="en-US" dirty="0"/>
              <a:t>Branded WBS Settlement</a:t>
            </a:r>
            <a:br>
              <a:rPr lang="en-US" dirty="0"/>
            </a:br>
            <a:r>
              <a:rPr lang="en-US" sz="2400" b="0" dirty="0"/>
              <a:t>(CJB1 Generate Settlement Rules) (2/4)</a:t>
            </a:r>
            <a:endParaRPr lang="en-US" dirty="0"/>
          </a:p>
        </p:txBody>
      </p:sp>
    </p:spTree>
    <p:extLst>
      <p:ext uri="{BB962C8B-B14F-4D97-AF65-F5344CB8AC3E}">
        <p14:creationId xmlns:p14="http://schemas.microsoft.com/office/powerpoint/2010/main" val="357154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7A26DA-7C32-AB9D-76C5-1C45264EB0CF}"/>
              </a:ext>
            </a:extLst>
          </p:cNvPr>
          <p:cNvPicPr>
            <a:picLocks noChangeAspect="1"/>
          </p:cNvPicPr>
          <p:nvPr/>
        </p:nvPicPr>
        <p:blipFill>
          <a:blip r:embed="rId2"/>
          <a:stretch>
            <a:fillRect/>
          </a:stretch>
        </p:blipFill>
        <p:spPr>
          <a:xfrm>
            <a:off x="527518" y="1780206"/>
            <a:ext cx="4370128" cy="4778764"/>
          </a:xfrm>
          <a:prstGeom prst="rect">
            <a:avLst/>
          </a:prstGeom>
        </p:spPr>
      </p:pic>
      <p:sp>
        <p:nvSpPr>
          <p:cNvPr id="12" name="Rectangle: Rounded Corners 11">
            <a:extLst>
              <a:ext uri="{FF2B5EF4-FFF2-40B4-BE49-F238E27FC236}">
                <a16:creationId xmlns:a16="http://schemas.microsoft.com/office/drawing/2014/main" id="{D39ACDD8-9867-E12A-A891-06ECD7039568}"/>
              </a:ext>
            </a:extLst>
          </p:cNvPr>
          <p:cNvSpPr/>
          <p:nvPr/>
        </p:nvSpPr>
        <p:spPr>
          <a:xfrm>
            <a:off x="527518" y="1414511"/>
            <a:ext cx="2423934" cy="36569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CJB1: Generate Settlement Rules: WBS Elements</a:t>
            </a:r>
          </a:p>
        </p:txBody>
      </p:sp>
      <p:sp>
        <p:nvSpPr>
          <p:cNvPr id="30" name="Speech Bubble: Rectangle 29">
            <a:extLst>
              <a:ext uri="{FF2B5EF4-FFF2-40B4-BE49-F238E27FC236}">
                <a16:creationId xmlns:a16="http://schemas.microsoft.com/office/drawing/2014/main" id="{04807AB5-90D1-90D9-6C7C-D63F0C2B8E0A}"/>
              </a:ext>
            </a:extLst>
          </p:cNvPr>
          <p:cNvSpPr/>
          <p:nvPr/>
        </p:nvSpPr>
        <p:spPr>
          <a:xfrm>
            <a:off x="2811359" y="3643982"/>
            <a:ext cx="2245415" cy="931286"/>
          </a:xfrm>
          <a:prstGeom prst="wedgeRectCallout">
            <a:avLst>
              <a:gd name="adj1" fmla="val 22976"/>
              <a:gd name="adj2" fmla="val 236914"/>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Next List level can be viewed by either clicking the icon highlighted or clicking on Next level list to give us the list of WBS elements that have been processed</a:t>
            </a:r>
            <a:endParaRPr lang="en-US" sz="1100">
              <a:solidFill>
                <a:schemeClr val="tx1"/>
              </a:solidFill>
              <a:latin typeface="+mj-lt"/>
            </a:endParaRPr>
          </a:p>
        </p:txBody>
      </p:sp>
      <p:sp>
        <p:nvSpPr>
          <p:cNvPr id="7" name="Rectangle: Rounded Corners 6">
            <a:extLst>
              <a:ext uri="{FF2B5EF4-FFF2-40B4-BE49-F238E27FC236}">
                <a16:creationId xmlns:a16="http://schemas.microsoft.com/office/drawing/2014/main" id="{4D305142-FCEE-341C-C347-2A243EBE630E}"/>
              </a:ext>
            </a:extLst>
          </p:cNvPr>
          <p:cNvSpPr/>
          <p:nvPr/>
        </p:nvSpPr>
        <p:spPr>
          <a:xfrm>
            <a:off x="1606051" y="2283488"/>
            <a:ext cx="169483" cy="16674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860CFC66-FE61-29E3-4EEB-E383611381AA}"/>
              </a:ext>
            </a:extLst>
          </p:cNvPr>
          <p:cNvSpPr/>
          <p:nvPr/>
        </p:nvSpPr>
        <p:spPr>
          <a:xfrm>
            <a:off x="4111033" y="6244408"/>
            <a:ext cx="786613" cy="314562"/>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9" name="Straight Arrow Connector 8">
            <a:extLst>
              <a:ext uri="{FF2B5EF4-FFF2-40B4-BE49-F238E27FC236}">
                <a16:creationId xmlns:a16="http://schemas.microsoft.com/office/drawing/2014/main" id="{C082D9D8-E9E4-527A-405D-A2AAEFB10378}"/>
              </a:ext>
            </a:extLst>
          </p:cNvPr>
          <p:cNvCxnSpPr>
            <a:cxnSpLocks/>
          </p:cNvCxnSpPr>
          <p:nvPr/>
        </p:nvCxnSpPr>
        <p:spPr>
          <a:xfrm flipH="1" flipV="1">
            <a:off x="1775534" y="2450237"/>
            <a:ext cx="1175918" cy="119374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1CB66AD-9CAD-2272-7779-B9598C006A6D}"/>
              </a:ext>
            </a:extLst>
          </p:cNvPr>
          <p:cNvPicPr>
            <a:picLocks noChangeAspect="1"/>
          </p:cNvPicPr>
          <p:nvPr/>
        </p:nvPicPr>
        <p:blipFill>
          <a:blip r:embed="rId3"/>
          <a:stretch>
            <a:fillRect/>
          </a:stretch>
        </p:blipFill>
        <p:spPr>
          <a:xfrm>
            <a:off x="5962638" y="1597358"/>
            <a:ext cx="5911154" cy="3693154"/>
          </a:xfrm>
          <a:prstGeom prst="rect">
            <a:avLst/>
          </a:prstGeom>
        </p:spPr>
      </p:pic>
      <p:sp>
        <p:nvSpPr>
          <p:cNvPr id="15" name="Rectangle 14">
            <a:extLst>
              <a:ext uri="{FF2B5EF4-FFF2-40B4-BE49-F238E27FC236}">
                <a16:creationId xmlns:a16="http://schemas.microsoft.com/office/drawing/2014/main" id="{458F1B02-2E91-5C40-D9C7-55BC609D6E1F}"/>
              </a:ext>
            </a:extLst>
          </p:cNvPr>
          <p:cNvSpPr/>
          <p:nvPr/>
        </p:nvSpPr>
        <p:spPr>
          <a:xfrm>
            <a:off x="5332013" y="5767354"/>
            <a:ext cx="6733442" cy="477054"/>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Branded WBS Generate Settlement Rules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Next Level list shows all WBS elements that have successfully had settlement rules generated for. </a:t>
            </a:r>
          </a:p>
        </p:txBody>
      </p:sp>
      <p:sp>
        <p:nvSpPr>
          <p:cNvPr id="18" name="Rectangle: Rounded Corners 17">
            <a:extLst>
              <a:ext uri="{FF2B5EF4-FFF2-40B4-BE49-F238E27FC236}">
                <a16:creationId xmlns:a16="http://schemas.microsoft.com/office/drawing/2014/main" id="{97C2B5C5-A431-783E-8C8B-788BC26E0202}"/>
              </a:ext>
            </a:extLst>
          </p:cNvPr>
          <p:cNvSpPr/>
          <p:nvPr/>
        </p:nvSpPr>
        <p:spPr>
          <a:xfrm>
            <a:off x="7199790" y="3184556"/>
            <a:ext cx="914400" cy="35763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 name="Speech Bubble: Rectangle 19">
            <a:extLst>
              <a:ext uri="{FF2B5EF4-FFF2-40B4-BE49-F238E27FC236}">
                <a16:creationId xmlns:a16="http://schemas.microsoft.com/office/drawing/2014/main" id="{BB2E9DFB-CDF2-BC5B-73F5-6C68C8F00C12}"/>
              </a:ext>
            </a:extLst>
          </p:cNvPr>
          <p:cNvSpPr/>
          <p:nvPr/>
        </p:nvSpPr>
        <p:spPr>
          <a:xfrm>
            <a:off x="8698734" y="2115822"/>
            <a:ext cx="2353965" cy="1313177"/>
          </a:xfrm>
          <a:prstGeom prst="wedgeRectCallout">
            <a:avLst>
              <a:gd name="adj1" fmla="val -86085"/>
              <a:gd name="adj2" fmla="val 45457"/>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In the error on the previous slide WBS element 5006233.00113 was not processed as per the error message. Here we can see that WBS elements 5006233.00112 and 5006233.00114 have been process and the 00113 WBS is missing from the list</a:t>
            </a:r>
            <a:endParaRPr lang="en-US" sz="1100">
              <a:solidFill>
                <a:schemeClr val="tx1"/>
              </a:solidFill>
              <a:latin typeface="+mj-lt"/>
            </a:endParaRPr>
          </a:p>
        </p:txBody>
      </p:sp>
      <p:sp>
        <p:nvSpPr>
          <p:cNvPr id="26" name="Title 3">
            <a:extLst>
              <a:ext uri="{FF2B5EF4-FFF2-40B4-BE49-F238E27FC236}">
                <a16:creationId xmlns:a16="http://schemas.microsoft.com/office/drawing/2014/main" id="{24DDFCB6-920D-BC7D-A582-26DFDEB7F6C2}"/>
              </a:ext>
            </a:extLst>
          </p:cNvPr>
          <p:cNvSpPr>
            <a:spLocks noGrp="1"/>
          </p:cNvSpPr>
          <p:nvPr>
            <p:ph type="title"/>
          </p:nvPr>
        </p:nvSpPr>
        <p:spPr/>
        <p:txBody>
          <a:bodyPr/>
          <a:lstStyle/>
          <a:p>
            <a:r>
              <a:rPr lang="en-US" dirty="0"/>
              <a:t>Branded WBS Settlement</a:t>
            </a:r>
            <a:br>
              <a:rPr lang="en-US" dirty="0"/>
            </a:br>
            <a:r>
              <a:rPr lang="en-US" sz="2400" b="0" dirty="0"/>
              <a:t>(CJB1 Generate Settlement Rules) (3/4)</a:t>
            </a:r>
            <a:endParaRPr lang="en-US" dirty="0"/>
          </a:p>
        </p:txBody>
      </p:sp>
    </p:spTree>
    <p:extLst>
      <p:ext uri="{BB962C8B-B14F-4D97-AF65-F5344CB8AC3E}">
        <p14:creationId xmlns:p14="http://schemas.microsoft.com/office/powerpoint/2010/main" val="246754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DA8CC51-3BD5-AD6A-9C6D-38D2A51C8F54}"/>
              </a:ext>
            </a:extLst>
          </p:cNvPr>
          <p:cNvPicPr>
            <a:picLocks noChangeAspect="1"/>
          </p:cNvPicPr>
          <p:nvPr/>
        </p:nvPicPr>
        <p:blipFill>
          <a:blip r:embed="rId2"/>
          <a:stretch>
            <a:fillRect/>
          </a:stretch>
        </p:blipFill>
        <p:spPr>
          <a:xfrm>
            <a:off x="7691483" y="1753525"/>
            <a:ext cx="3316172" cy="3160450"/>
          </a:xfrm>
          <a:prstGeom prst="rect">
            <a:avLst/>
          </a:prstGeom>
        </p:spPr>
      </p:pic>
      <p:sp>
        <p:nvSpPr>
          <p:cNvPr id="3" name="Slide Number Placeholder 2">
            <a:extLst>
              <a:ext uri="{FF2B5EF4-FFF2-40B4-BE49-F238E27FC236}">
                <a16:creationId xmlns:a16="http://schemas.microsoft.com/office/drawing/2014/main" id="{1AD22564-1A0C-C12F-6F27-359CF9AEEEC8}"/>
              </a:ext>
            </a:extLst>
          </p:cNvPr>
          <p:cNvSpPr>
            <a:spLocks noGrp="1"/>
          </p:cNvSpPr>
          <p:nvPr>
            <p:ph type="sldNum" sz="quarter" idx="12"/>
          </p:nvPr>
        </p:nvSpPr>
        <p:spPr/>
        <p:txBody>
          <a:bodyPr/>
          <a:lstStyle/>
          <a:p>
            <a:fld id="{F4C94289-3309-4C35-850A-56FD49B3E346}" type="slidenum">
              <a:rPr lang="en-GB" smtClean="0"/>
              <a:t>14</a:t>
            </a:fld>
            <a:endParaRPr lang="en-GB"/>
          </a:p>
        </p:txBody>
      </p:sp>
      <p:sp>
        <p:nvSpPr>
          <p:cNvPr id="6" name="Rectangle 5">
            <a:extLst>
              <a:ext uri="{FF2B5EF4-FFF2-40B4-BE49-F238E27FC236}">
                <a16:creationId xmlns:a16="http://schemas.microsoft.com/office/drawing/2014/main" id="{A5D5F2DE-7098-686E-BA20-4805581E3A51}"/>
              </a:ext>
            </a:extLst>
          </p:cNvPr>
          <p:cNvSpPr/>
          <p:nvPr/>
        </p:nvSpPr>
        <p:spPr>
          <a:xfrm>
            <a:off x="525945" y="5290277"/>
            <a:ext cx="6733442" cy="630942"/>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Branded WBS Generate Settlement Rules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US" sz="1100" i="1">
                <a:solidFill>
                  <a:srgbClr val="000000"/>
                </a:solidFill>
                <a:latin typeface="Georgia" panose="02040502050405020303" pitchFamily="18" charset="0"/>
              </a:rPr>
              <a:t>All evidence of manual processing should be saved, same as generated in FCC: selection parameters, output log, spool list etc.</a:t>
            </a:r>
            <a:endParaRPr lang="en-GB" sz="1100" i="1">
              <a:solidFill>
                <a:srgbClr val="000000"/>
              </a:solidFill>
              <a:latin typeface="Georgia" panose="02040502050405020303" pitchFamily="18" charset="0"/>
            </a:endParaRPr>
          </a:p>
        </p:txBody>
      </p:sp>
      <p:pic>
        <p:nvPicPr>
          <p:cNvPr id="8" name="Picture 7">
            <a:extLst>
              <a:ext uri="{FF2B5EF4-FFF2-40B4-BE49-F238E27FC236}">
                <a16:creationId xmlns:a16="http://schemas.microsoft.com/office/drawing/2014/main" id="{238737EF-7791-152E-EBA3-22F780145C66}"/>
              </a:ext>
            </a:extLst>
          </p:cNvPr>
          <p:cNvPicPr>
            <a:picLocks noChangeAspect="1"/>
          </p:cNvPicPr>
          <p:nvPr/>
        </p:nvPicPr>
        <p:blipFill>
          <a:blip r:embed="rId3"/>
          <a:stretch>
            <a:fillRect/>
          </a:stretch>
        </p:blipFill>
        <p:spPr>
          <a:xfrm>
            <a:off x="525945" y="1653718"/>
            <a:ext cx="3573500" cy="2355261"/>
          </a:xfrm>
          <a:prstGeom prst="rect">
            <a:avLst/>
          </a:prstGeom>
        </p:spPr>
      </p:pic>
      <p:pic>
        <p:nvPicPr>
          <p:cNvPr id="10" name="Picture 9">
            <a:extLst>
              <a:ext uri="{FF2B5EF4-FFF2-40B4-BE49-F238E27FC236}">
                <a16:creationId xmlns:a16="http://schemas.microsoft.com/office/drawing/2014/main" id="{DE329F98-79D1-A80B-30AF-225E2FEFE73C}"/>
              </a:ext>
            </a:extLst>
          </p:cNvPr>
          <p:cNvPicPr>
            <a:picLocks noChangeAspect="1"/>
          </p:cNvPicPr>
          <p:nvPr/>
        </p:nvPicPr>
        <p:blipFill>
          <a:blip r:embed="rId4"/>
          <a:stretch>
            <a:fillRect/>
          </a:stretch>
        </p:blipFill>
        <p:spPr>
          <a:xfrm>
            <a:off x="4284775" y="2019283"/>
            <a:ext cx="2786936" cy="2560093"/>
          </a:xfrm>
          <a:prstGeom prst="rect">
            <a:avLst/>
          </a:prstGeom>
        </p:spPr>
      </p:pic>
      <p:sp>
        <p:nvSpPr>
          <p:cNvPr id="11" name="Speech Bubble: Rectangle 10">
            <a:extLst>
              <a:ext uri="{FF2B5EF4-FFF2-40B4-BE49-F238E27FC236}">
                <a16:creationId xmlns:a16="http://schemas.microsoft.com/office/drawing/2014/main" id="{CFF3AD49-FCAB-34CD-9DF1-D6ED89A37286}"/>
              </a:ext>
            </a:extLst>
          </p:cNvPr>
          <p:cNvSpPr/>
          <p:nvPr/>
        </p:nvSpPr>
        <p:spPr>
          <a:xfrm>
            <a:off x="9238874" y="4257554"/>
            <a:ext cx="2655051" cy="1312842"/>
          </a:xfrm>
          <a:prstGeom prst="wedgeRectCallout">
            <a:avLst>
              <a:gd name="adj1" fmla="val -58087"/>
              <a:gd name="adj2" fmla="val -229713"/>
            </a:avLst>
          </a:prstGeom>
          <a:ln/>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1000">
                <a:solidFill>
                  <a:schemeClr val="tx1"/>
                </a:solidFill>
              </a:rPr>
              <a:t>Normally you should download the output log of any manual execution of a period end task for archiving purpose.</a:t>
            </a:r>
          </a:p>
          <a:p>
            <a:endParaRPr lang="en-GB" sz="1000">
              <a:solidFill>
                <a:schemeClr val="tx1"/>
              </a:solidFill>
            </a:endParaRPr>
          </a:p>
          <a:p>
            <a:r>
              <a:rPr lang="en-GB" sz="1000">
                <a:solidFill>
                  <a:schemeClr val="tx1"/>
                </a:solidFill>
              </a:rPr>
              <a:t>Follow the menu path: System-&gt;List-&gt;Save-&gt;Save and choose HTML format to save to the designated folder for your GBS/JTBC.</a:t>
            </a:r>
          </a:p>
        </p:txBody>
      </p:sp>
      <p:sp>
        <p:nvSpPr>
          <p:cNvPr id="14" name="Rectangle: Rounded Corners 13">
            <a:extLst>
              <a:ext uri="{FF2B5EF4-FFF2-40B4-BE49-F238E27FC236}">
                <a16:creationId xmlns:a16="http://schemas.microsoft.com/office/drawing/2014/main" id="{B5C934B3-B0F6-66F5-E0E9-B04EF4780224}"/>
              </a:ext>
            </a:extLst>
          </p:cNvPr>
          <p:cNvSpPr/>
          <p:nvPr/>
        </p:nvSpPr>
        <p:spPr>
          <a:xfrm>
            <a:off x="525945" y="1447060"/>
            <a:ext cx="2430319" cy="20665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rPr>
              <a:t>Screen shot of parameters used</a:t>
            </a:r>
            <a:endParaRPr lang="en-US" sz="1200">
              <a:solidFill>
                <a:schemeClr val="tx1"/>
              </a:solidFill>
            </a:endParaRPr>
          </a:p>
        </p:txBody>
      </p:sp>
      <p:sp>
        <p:nvSpPr>
          <p:cNvPr id="15" name="Rectangle: Rounded Corners 14">
            <a:extLst>
              <a:ext uri="{FF2B5EF4-FFF2-40B4-BE49-F238E27FC236}">
                <a16:creationId xmlns:a16="http://schemas.microsoft.com/office/drawing/2014/main" id="{08FD9895-D957-B988-05F8-2A5903D200F6}"/>
              </a:ext>
            </a:extLst>
          </p:cNvPr>
          <p:cNvSpPr/>
          <p:nvPr/>
        </p:nvSpPr>
        <p:spPr>
          <a:xfrm>
            <a:off x="4284775" y="1825454"/>
            <a:ext cx="2430319" cy="20665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solidFill>
                  <a:schemeClr val="tx1"/>
                </a:solidFill>
              </a:rPr>
              <a:t>Screen shot of error log</a:t>
            </a:r>
            <a:endParaRPr lang="en-US" sz="1200">
              <a:solidFill>
                <a:schemeClr val="tx1"/>
              </a:solidFill>
            </a:endParaRPr>
          </a:p>
        </p:txBody>
      </p:sp>
      <p:sp>
        <p:nvSpPr>
          <p:cNvPr id="2" name="Title 3">
            <a:extLst>
              <a:ext uri="{FF2B5EF4-FFF2-40B4-BE49-F238E27FC236}">
                <a16:creationId xmlns:a16="http://schemas.microsoft.com/office/drawing/2014/main" id="{E7560C6C-1366-49A5-E4C0-CF8E39A54F76}"/>
              </a:ext>
            </a:extLst>
          </p:cNvPr>
          <p:cNvSpPr>
            <a:spLocks noGrp="1"/>
          </p:cNvSpPr>
          <p:nvPr>
            <p:ph type="title"/>
          </p:nvPr>
        </p:nvSpPr>
        <p:spPr>
          <a:xfrm>
            <a:off x="1511277" y="210344"/>
            <a:ext cx="8902723" cy="984247"/>
          </a:xfrm>
        </p:spPr>
        <p:txBody>
          <a:bodyPr/>
          <a:lstStyle/>
          <a:p>
            <a:r>
              <a:rPr lang="en-US" dirty="0"/>
              <a:t>Branded WBS Settlement</a:t>
            </a:r>
            <a:br>
              <a:rPr lang="en-US" dirty="0"/>
            </a:br>
            <a:r>
              <a:rPr lang="en-US" sz="2400" b="0" dirty="0"/>
              <a:t>(CJB1 Generate Settlement Rules) (4/4)</a:t>
            </a:r>
            <a:endParaRPr lang="en-US" dirty="0"/>
          </a:p>
        </p:txBody>
      </p:sp>
    </p:spTree>
    <p:extLst>
      <p:ext uri="{BB962C8B-B14F-4D97-AF65-F5344CB8AC3E}">
        <p14:creationId xmlns:p14="http://schemas.microsoft.com/office/powerpoint/2010/main" val="1298446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5EDCA4B0-E571-70FD-F059-85A5E744EB6C}"/>
              </a:ext>
            </a:extLst>
          </p:cNvPr>
          <p:cNvPicPr>
            <a:picLocks noChangeAspect="1"/>
          </p:cNvPicPr>
          <p:nvPr/>
        </p:nvPicPr>
        <p:blipFill>
          <a:blip r:embed="rId2"/>
          <a:stretch>
            <a:fillRect/>
          </a:stretch>
        </p:blipFill>
        <p:spPr>
          <a:xfrm>
            <a:off x="8623742" y="1643320"/>
            <a:ext cx="3334567" cy="3357068"/>
          </a:xfrm>
          <a:prstGeom prst="rect">
            <a:avLst/>
          </a:prstGeom>
        </p:spPr>
      </p:pic>
      <p:pic>
        <p:nvPicPr>
          <p:cNvPr id="26" name="Picture 25">
            <a:extLst>
              <a:ext uri="{FF2B5EF4-FFF2-40B4-BE49-F238E27FC236}">
                <a16:creationId xmlns:a16="http://schemas.microsoft.com/office/drawing/2014/main" id="{7DFC05A0-9DCE-9585-28D2-2152599E3031}"/>
              </a:ext>
            </a:extLst>
          </p:cNvPr>
          <p:cNvPicPr>
            <a:picLocks noChangeAspect="1"/>
          </p:cNvPicPr>
          <p:nvPr/>
        </p:nvPicPr>
        <p:blipFill>
          <a:blip r:embed="rId3"/>
          <a:stretch>
            <a:fillRect/>
          </a:stretch>
        </p:blipFill>
        <p:spPr>
          <a:xfrm>
            <a:off x="3502927" y="1634423"/>
            <a:ext cx="4811882" cy="3192664"/>
          </a:xfrm>
          <a:prstGeom prst="rect">
            <a:avLst/>
          </a:prstGeom>
        </p:spPr>
      </p:pic>
      <p:pic>
        <p:nvPicPr>
          <p:cNvPr id="23" name="Picture 22">
            <a:extLst>
              <a:ext uri="{FF2B5EF4-FFF2-40B4-BE49-F238E27FC236}">
                <a16:creationId xmlns:a16="http://schemas.microsoft.com/office/drawing/2014/main" id="{A884375D-2DCA-AD93-9799-8396713C9CA9}"/>
              </a:ext>
            </a:extLst>
          </p:cNvPr>
          <p:cNvPicPr>
            <a:picLocks noChangeAspect="1"/>
          </p:cNvPicPr>
          <p:nvPr/>
        </p:nvPicPr>
        <p:blipFill>
          <a:blip r:embed="rId4"/>
          <a:stretch>
            <a:fillRect/>
          </a:stretch>
        </p:blipFill>
        <p:spPr>
          <a:xfrm>
            <a:off x="472222" y="1908678"/>
            <a:ext cx="2734117" cy="2114987"/>
          </a:xfrm>
          <a:prstGeom prst="rect">
            <a:avLst/>
          </a:prstGeom>
        </p:spPr>
      </p:pic>
      <p:sp>
        <p:nvSpPr>
          <p:cNvPr id="5" name="Slide Number Placeholder 4">
            <a:extLst>
              <a:ext uri="{FF2B5EF4-FFF2-40B4-BE49-F238E27FC236}">
                <a16:creationId xmlns:a16="http://schemas.microsoft.com/office/drawing/2014/main" id="{83C79829-0E18-1683-018B-59C8405D5BD1}"/>
              </a:ext>
            </a:extLst>
          </p:cNvPr>
          <p:cNvSpPr>
            <a:spLocks noGrp="1"/>
          </p:cNvSpPr>
          <p:nvPr>
            <p:ph type="sldNum" sz="quarter" idx="12"/>
          </p:nvPr>
        </p:nvSpPr>
        <p:spPr/>
        <p:txBody>
          <a:bodyPr/>
          <a:lstStyle/>
          <a:p>
            <a:fld id="{F4C94289-3309-4C35-850A-56FD49B3E346}" type="slidenum">
              <a:rPr lang="en-GB" smtClean="0"/>
              <a:t>15</a:t>
            </a:fld>
            <a:endParaRPr lang="en-GB"/>
          </a:p>
        </p:txBody>
      </p:sp>
      <p:sp>
        <p:nvSpPr>
          <p:cNvPr id="8" name="Rectangle: Rounded Corners 7">
            <a:extLst>
              <a:ext uri="{FF2B5EF4-FFF2-40B4-BE49-F238E27FC236}">
                <a16:creationId xmlns:a16="http://schemas.microsoft.com/office/drawing/2014/main" id="{A6C74C97-4977-588E-8C7D-0A403D01218E}"/>
              </a:ext>
            </a:extLst>
          </p:cNvPr>
          <p:cNvSpPr/>
          <p:nvPr/>
        </p:nvSpPr>
        <p:spPr>
          <a:xfrm>
            <a:off x="3559616" y="135745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CJ8G: WBS Settlement</a:t>
            </a:r>
          </a:p>
        </p:txBody>
      </p:sp>
      <p:sp>
        <p:nvSpPr>
          <p:cNvPr id="10" name="Rectangle 9">
            <a:extLst>
              <a:ext uri="{FF2B5EF4-FFF2-40B4-BE49-F238E27FC236}">
                <a16:creationId xmlns:a16="http://schemas.microsoft.com/office/drawing/2014/main" id="{782DB453-9C92-ECA6-3B6F-8C8682A65154}"/>
              </a:ext>
            </a:extLst>
          </p:cNvPr>
          <p:cNvSpPr/>
          <p:nvPr/>
        </p:nvSpPr>
        <p:spPr>
          <a:xfrm>
            <a:off x="349693" y="4899977"/>
            <a:ext cx="8336959" cy="1631216"/>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Branded WBS Settlement - Execution: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solidFill>
                  <a:srgbClr val="000000"/>
                </a:solidFill>
                <a:latin typeface="Georgia" panose="02040502050405020303" pitchFamily="18" charset="0"/>
              </a:rPr>
              <a:t>If you execute CJ8G for Branded WBS outside of FCC, make sure 1) you have already run CJB1 to generated the settlement rules and 2) you use the same </a:t>
            </a:r>
            <a:r>
              <a:rPr lang="en-GB" sz="1100" b="1" i="1" dirty="0">
                <a:solidFill>
                  <a:srgbClr val="000000"/>
                </a:solidFill>
                <a:latin typeface="Georgia" panose="02040502050405020303" pitchFamily="18" charset="0"/>
              </a:rPr>
              <a:t>selection variant </a:t>
            </a:r>
            <a:r>
              <a:rPr lang="en-GB" sz="1100" i="1" dirty="0">
                <a:solidFill>
                  <a:srgbClr val="000000"/>
                </a:solidFill>
                <a:latin typeface="Georgia" panose="02040502050405020303" pitchFamily="18" charset="0"/>
              </a:rPr>
              <a:t>as stated in the corresponding FCC task.</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It is recommended that you do Test Run first, which can help you identify any errors before an update run, although Test Run is not mandatory and is not ticked in the FCC task variant.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solidFill>
                  <a:srgbClr val="000000"/>
                </a:solidFill>
                <a:latin typeface="Georgia" panose="02040502050405020303" pitchFamily="18" charset="0"/>
              </a:rPr>
              <a:t>If you have selected Detailed List and check </a:t>
            </a:r>
            <a:r>
              <a:rPr lang="en-GB" sz="1100" i="1" dirty="0" err="1">
                <a:solidFill>
                  <a:srgbClr val="000000"/>
                </a:solidFill>
                <a:latin typeface="Georgia" panose="02040502050405020303" pitchFamily="18" charset="0"/>
              </a:rPr>
              <a:t>Trans.Data</a:t>
            </a:r>
            <a:r>
              <a:rPr lang="en-GB" sz="1100" i="1" dirty="0">
                <a:solidFill>
                  <a:srgbClr val="000000"/>
                </a:solidFill>
                <a:latin typeface="Georgia" panose="02040502050405020303" pitchFamily="18" charset="0"/>
              </a:rPr>
              <a:t>, you will have a comprehensive log after your manual execution. Make sure you check messages in the log before deciding to proceed with update run (untick Test Run).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solidFill>
                  <a:srgbClr val="000000"/>
                </a:solidFill>
                <a:latin typeface="Georgia" panose="02040502050405020303" pitchFamily="18" charset="0"/>
              </a:rPr>
              <a:t>Remember to screenshot the parameters used in the report for record keeping</a:t>
            </a:r>
          </a:p>
        </p:txBody>
      </p:sp>
      <p:sp>
        <p:nvSpPr>
          <p:cNvPr id="11" name="Rectangle: Rounded Corners 10">
            <a:extLst>
              <a:ext uri="{FF2B5EF4-FFF2-40B4-BE49-F238E27FC236}">
                <a16:creationId xmlns:a16="http://schemas.microsoft.com/office/drawing/2014/main" id="{9062FFF6-E1E2-A261-AE58-63FC5432A308}"/>
              </a:ext>
            </a:extLst>
          </p:cNvPr>
          <p:cNvSpPr/>
          <p:nvPr/>
        </p:nvSpPr>
        <p:spPr>
          <a:xfrm>
            <a:off x="4063152" y="2605489"/>
            <a:ext cx="1736791"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B533F605-81E5-711A-78C8-E184ED7B886E}"/>
              </a:ext>
            </a:extLst>
          </p:cNvPr>
          <p:cNvSpPr/>
          <p:nvPr/>
        </p:nvSpPr>
        <p:spPr>
          <a:xfrm>
            <a:off x="527518" y="1367547"/>
            <a:ext cx="2240328" cy="47201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-&gt; Click on Variant of Branded WBS Settlement task</a:t>
            </a:r>
          </a:p>
        </p:txBody>
      </p:sp>
      <p:sp>
        <p:nvSpPr>
          <p:cNvPr id="14" name="Rectangle: Rounded Corners 13">
            <a:extLst>
              <a:ext uri="{FF2B5EF4-FFF2-40B4-BE49-F238E27FC236}">
                <a16:creationId xmlns:a16="http://schemas.microsoft.com/office/drawing/2014/main" id="{68FA50BE-AE15-A7CC-88D5-51B13E87E86B}"/>
              </a:ext>
            </a:extLst>
          </p:cNvPr>
          <p:cNvSpPr/>
          <p:nvPr/>
        </p:nvSpPr>
        <p:spPr>
          <a:xfrm>
            <a:off x="527518" y="3120112"/>
            <a:ext cx="2615177" cy="1646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3DB1B22A-FC7F-CEFA-6216-705E1965540E}"/>
              </a:ext>
            </a:extLst>
          </p:cNvPr>
          <p:cNvCxnSpPr>
            <a:cxnSpLocks/>
            <a:endCxn id="11" idx="1"/>
          </p:cNvCxnSpPr>
          <p:nvPr/>
        </p:nvCxnSpPr>
        <p:spPr>
          <a:xfrm flipV="1">
            <a:off x="2942703" y="2714234"/>
            <a:ext cx="1120449" cy="405878"/>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Arrow: Striped Right 15">
            <a:extLst>
              <a:ext uri="{FF2B5EF4-FFF2-40B4-BE49-F238E27FC236}">
                <a16:creationId xmlns:a16="http://schemas.microsoft.com/office/drawing/2014/main" id="{907EEAAA-D0B5-0F02-8A21-DC99B9F85F63}"/>
              </a:ext>
            </a:extLst>
          </p:cNvPr>
          <p:cNvSpPr/>
          <p:nvPr/>
        </p:nvSpPr>
        <p:spPr>
          <a:xfrm>
            <a:off x="8030079" y="1772665"/>
            <a:ext cx="569459" cy="133798"/>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CAD0AF85-6C24-0217-0537-D0D5DBCF0BD5}"/>
              </a:ext>
            </a:extLst>
          </p:cNvPr>
          <p:cNvSpPr/>
          <p:nvPr/>
        </p:nvSpPr>
        <p:spPr>
          <a:xfrm>
            <a:off x="9414976" y="2021311"/>
            <a:ext cx="252807" cy="19810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9120A968-6D09-D80E-CCFB-559A7C504FCF}"/>
              </a:ext>
            </a:extLst>
          </p:cNvPr>
          <p:cNvSpPr/>
          <p:nvPr/>
        </p:nvSpPr>
        <p:spPr>
          <a:xfrm>
            <a:off x="3484179" y="4256938"/>
            <a:ext cx="1120449" cy="58719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0" name="Picture 29">
            <a:extLst>
              <a:ext uri="{FF2B5EF4-FFF2-40B4-BE49-F238E27FC236}">
                <a16:creationId xmlns:a16="http://schemas.microsoft.com/office/drawing/2014/main" id="{3CF87935-D5F9-81D8-079A-6E1E412FF4CB}"/>
              </a:ext>
            </a:extLst>
          </p:cNvPr>
          <p:cNvPicPr>
            <a:picLocks noChangeAspect="1"/>
          </p:cNvPicPr>
          <p:nvPr/>
        </p:nvPicPr>
        <p:blipFill>
          <a:blip r:embed="rId5"/>
          <a:stretch>
            <a:fillRect/>
          </a:stretch>
        </p:blipFill>
        <p:spPr>
          <a:xfrm>
            <a:off x="9009646" y="5117259"/>
            <a:ext cx="2832661" cy="1425266"/>
          </a:xfrm>
          <a:prstGeom prst="rect">
            <a:avLst/>
          </a:prstGeom>
        </p:spPr>
      </p:pic>
      <p:sp>
        <p:nvSpPr>
          <p:cNvPr id="31" name="Arrow: Striped Right 30">
            <a:extLst>
              <a:ext uri="{FF2B5EF4-FFF2-40B4-BE49-F238E27FC236}">
                <a16:creationId xmlns:a16="http://schemas.microsoft.com/office/drawing/2014/main" id="{1132D246-0A67-357F-62DD-C6A90A02CAC9}"/>
              </a:ext>
            </a:extLst>
          </p:cNvPr>
          <p:cNvSpPr/>
          <p:nvPr/>
        </p:nvSpPr>
        <p:spPr>
          <a:xfrm rot="5246889">
            <a:off x="11311823" y="5147780"/>
            <a:ext cx="569459" cy="133798"/>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5D1FAC1A-2B49-1B34-340E-DACAAED05132}"/>
              </a:ext>
            </a:extLst>
          </p:cNvPr>
          <p:cNvSpPr/>
          <p:nvPr/>
        </p:nvSpPr>
        <p:spPr>
          <a:xfrm>
            <a:off x="11378537" y="4738428"/>
            <a:ext cx="579772" cy="25870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Speech Bubble: Rectangle 32">
            <a:extLst>
              <a:ext uri="{FF2B5EF4-FFF2-40B4-BE49-F238E27FC236}">
                <a16:creationId xmlns:a16="http://schemas.microsoft.com/office/drawing/2014/main" id="{FE086B74-D7AF-6EF6-65D4-533CA7515D1F}"/>
              </a:ext>
            </a:extLst>
          </p:cNvPr>
          <p:cNvSpPr/>
          <p:nvPr/>
        </p:nvSpPr>
        <p:spPr>
          <a:xfrm>
            <a:off x="9667783" y="3590932"/>
            <a:ext cx="1877785" cy="827939"/>
          </a:xfrm>
          <a:prstGeom prst="wedgeRectCallout">
            <a:avLst>
              <a:gd name="adj1" fmla="val 48910"/>
              <a:gd name="adj2" fmla="val 87026"/>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a:solidFill>
                  <a:schemeClr val="tx1"/>
                </a:solidFill>
                <a:latin typeface="+mj-lt"/>
              </a:rPr>
              <a:t>Detailed list messages can be viewed by clicking the highlighted icon or clicking Next list level</a:t>
            </a:r>
            <a:endParaRPr lang="en-US" sz="1100">
              <a:solidFill>
                <a:schemeClr val="tx1"/>
              </a:solidFill>
              <a:latin typeface="+mj-lt"/>
            </a:endParaRPr>
          </a:p>
        </p:txBody>
      </p:sp>
      <p:sp>
        <p:nvSpPr>
          <p:cNvPr id="34" name="Rectangle: Rounded Corners 33">
            <a:extLst>
              <a:ext uri="{FF2B5EF4-FFF2-40B4-BE49-F238E27FC236}">
                <a16:creationId xmlns:a16="http://schemas.microsoft.com/office/drawing/2014/main" id="{CF8BB42F-0585-3828-ED4E-B218599441BA}"/>
              </a:ext>
            </a:extLst>
          </p:cNvPr>
          <p:cNvSpPr/>
          <p:nvPr/>
        </p:nvSpPr>
        <p:spPr>
          <a:xfrm>
            <a:off x="9009646" y="5598126"/>
            <a:ext cx="1404354" cy="28776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7" name="Title 3">
            <a:extLst>
              <a:ext uri="{FF2B5EF4-FFF2-40B4-BE49-F238E27FC236}">
                <a16:creationId xmlns:a16="http://schemas.microsoft.com/office/drawing/2014/main" id="{D707F3E6-7A59-2B28-6665-402CA459C082}"/>
              </a:ext>
            </a:extLst>
          </p:cNvPr>
          <p:cNvSpPr>
            <a:spLocks noGrp="1"/>
          </p:cNvSpPr>
          <p:nvPr>
            <p:ph type="title"/>
          </p:nvPr>
        </p:nvSpPr>
        <p:spPr>
          <a:xfrm>
            <a:off x="1511277" y="210344"/>
            <a:ext cx="8902723" cy="984247"/>
          </a:xfrm>
        </p:spPr>
        <p:txBody>
          <a:bodyPr/>
          <a:lstStyle/>
          <a:p>
            <a:r>
              <a:rPr lang="en-US" dirty="0"/>
              <a:t>Branded WBS Settlement</a:t>
            </a:r>
            <a:br>
              <a:rPr lang="en-US" dirty="0"/>
            </a:br>
            <a:r>
              <a:rPr lang="en-US" sz="2400" b="0" dirty="0"/>
              <a:t>(CJ8G – WBS Settlement) (1/3)</a:t>
            </a:r>
            <a:endParaRPr lang="en-US" dirty="0"/>
          </a:p>
        </p:txBody>
      </p:sp>
    </p:spTree>
    <p:extLst>
      <p:ext uri="{BB962C8B-B14F-4D97-AF65-F5344CB8AC3E}">
        <p14:creationId xmlns:p14="http://schemas.microsoft.com/office/powerpoint/2010/main" val="3680223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CFFD5F0-FCD2-7265-156A-33DF46B4ECBA}"/>
              </a:ext>
            </a:extLst>
          </p:cNvPr>
          <p:cNvSpPr>
            <a:spLocks noGrp="1"/>
          </p:cNvSpPr>
          <p:nvPr>
            <p:ph type="sldNum" sz="quarter" idx="12"/>
          </p:nvPr>
        </p:nvSpPr>
        <p:spPr/>
        <p:txBody>
          <a:bodyPr/>
          <a:lstStyle/>
          <a:p>
            <a:fld id="{F4C94289-3309-4C35-850A-56FD49B3E346}" type="slidenum">
              <a:rPr lang="en-GB" smtClean="0"/>
              <a:t>16</a:t>
            </a:fld>
            <a:endParaRPr lang="en-GB"/>
          </a:p>
        </p:txBody>
      </p:sp>
      <p:sp>
        <p:nvSpPr>
          <p:cNvPr id="6" name="Title 3">
            <a:extLst>
              <a:ext uri="{FF2B5EF4-FFF2-40B4-BE49-F238E27FC236}">
                <a16:creationId xmlns:a16="http://schemas.microsoft.com/office/drawing/2014/main" id="{BD0A0658-2E1F-A27B-B0FF-F84CB318B1C7}"/>
              </a:ext>
            </a:extLst>
          </p:cNvPr>
          <p:cNvSpPr>
            <a:spLocks noGrp="1"/>
          </p:cNvSpPr>
          <p:nvPr>
            <p:ph type="title"/>
          </p:nvPr>
        </p:nvSpPr>
        <p:spPr>
          <a:xfrm>
            <a:off x="1511277" y="210344"/>
            <a:ext cx="8902723" cy="984247"/>
          </a:xfrm>
        </p:spPr>
        <p:txBody>
          <a:bodyPr/>
          <a:lstStyle/>
          <a:p>
            <a:r>
              <a:rPr lang="en-US" dirty="0"/>
              <a:t>Branded WBS Settlement</a:t>
            </a:r>
            <a:br>
              <a:rPr lang="en-US" dirty="0"/>
            </a:br>
            <a:r>
              <a:rPr lang="en-US" sz="2400" b="0" dirty="0"/>
              <a:t>(CJ8G – WBS Settlement) (2/3)</a:t>
            </a:r>
            <a:endParaRPr lang="en-US" dirty="0"/>
          </a:p>
        </p:txBody>
      </p:sp>
      <p:pic>
        <p:nvPicPr>
          <p:cNvPr id="7" name="Picture 6">
            <a:extLst>
              <a:ext uri="{FF2B5EF4-FFF2-40B4-BE49-F238E27FC236}">
                <a16:creationId xmlns:a16="http://schemas.microsoft.com/office/drawing/2014/main" id="{95AD7C21-1E71-1D4B-619C-8CA07F6E000F}"/>
              </a:ext>
            </a:extLst>
          </p:cNvPr>
          <p:cNvPicPr>
            <a:picLocks noChangeAspect="1"/>
          </p:cNvPicPr>
          <p:nvPr/>
        </p:nvPicPr>
        <p:blipFill>
          <a:blip r:embed="rId2"/>
          <a:stretch>
            <a:fillRect/>
          </a:stretch>
        </p:blipFill>
        <p:spPr>
          <a:xfrm>
            <a:off x="551159" y="1615611"/>
            <a:ext cx="4650529" cy="4681910"/>
          </a:xfrm>
          <a:prstGeom prst="rect">
            <a:avLst/>
          </a:prstGeom>
        </p:spPr>
      </p:pic>
      <p:sp>
        <p:nvSpPr>
          <p:cNvPr id="9" name="Speech Bubble: Rectangle 8">
            <a:extLst>
              <a:ext uri="{FF2B5EF4-FFF2-40B4-BE49-F238E27FC236}">
                <a16:creationId xmlns:a16="http://schemas.microsoft.com/office/drawing/2014/main" id="{7D8C67F9-AF40-A5BC-F8A9-53E45A5F8F29}"/>
              </a:ext>
            </a:extLst>
          </p:cNvPr>
          <p:cNvSpPr/>
          <p:nvPr/>
        </p:nvSpPr>
        <p:spPr>
          <a:xfrm>
            <a:off x="5558005" y="1432809"/>
            <a:ext cx="6082835" cy="1273445"/>
          </a:xfrm>
          <a:prstGeom prst="wedgeRectCallout">
            <a:avLst>
              <a:gd name="adj1" fmla="val -82157"/>
              <a:gd name="adj2" fmla="val 230606"/>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b="1">
                <a:solidFill>
                  <a:schemeClr val="tx1"/>
                </a:solidFill>
                <a:latin typeface="+mj-lt"/>
              </a:rPr>
              <a:t>Settlement Executed</a:t>
            </a:r>
          </a:p>
          <a:p>
            <a:pPr lvl="0">
              <a:lnSpc>
                <a:spcPts val="1200"/>
              </a:lnSpc>
              <a:spcBef>
                <a:spcPts val="600"/>
              </a:spcBef>
              <a:defRPr/>
            </a:pPr>
            <a:r>
              <a:rPr lang="en-US" sz="1100">
                <a:solidFill>
                  <a:schemeClr val="tx1"/>
                </a:solidFill>
                <a:latin typeface="+mj-lt"/>
              </a:rPr>
              <a:t>Number of senders that were</a:t>
            </a:r>
          </a:p>
          <a:p>
            <a:pPr lvl="0">
              <a:lnSpc>
                <a:spcPts val="1200"/>
              </a:lnSpc>
              <a:spcBef>
                <a:spcPts val="600"/>
              </a:spcBef>
              <a:defRPr/>
            </a:pPr>
            <a:r>
              <a:rPr lang="en-US" sz="1100">
                <a:solidFill>
                  <a:schemeClr val="tx1"/>
                </a:solidFill>
                <a:latin typeface="+mj-lt"/>
              </a:rPr>
              <a:t>-   Settled and for which a WIP calculation or results analysis has been carried out</a:t>
            </a:r>
          </a:p>
          <a:p>
            <a:pPr lvl="0">
              <a:lnSpc>
                <a:spcPts val="1200"/>
              </a:lnSpc>
              <a:spcBef>
                <a:spcPts val="600"/>
              </a:spcBef>
              <a:defRPr/>
            </a:pPr>
            <a:r>
              <a:rPr lang="en-US" sz="1100">
                <a:solidFill>
                  <a:schemeClr val="tx1"/>
                </a:solidFill>
                <a:latin typeface="+mj-lt"/>
              </a:rPr>
              <a:t>-   Settled only</a:t>
            </a:r>
          </a:p>
          <a:p>
            <a:pPr marL="171450" lvl="0" indent="-171450">
              <a:lnSpc>
                <a:spcPts val="1200"/>
              </a:lnSpc>
              <a:spcBef>
                <a:spcPts val="600"/>
              </a:spcBef>
              <a:buFontTx/>
              <a:buChar char="-"/>
              <a:defRPr/>
            </a:pPr>
            <a:r>
              <a:rPr lang="en-US" sz="1100">
                <a:solidFill>
                  <a:schemeClr val="tx1"/>
                </a:solidFill>
                <a:latin typeface="+mj-lt"/>
              </a:rPr>
              <a:t>For which only a WIP calculation or results analysis has been carried out</a:t>
            </a:r>
          </a:p>
          <a:p>
            <a:pPr lvl="0">
              <a:lnSpc>
                <a:spcPts val="1200"/>
              </a:lnSpc>
              <a:spcBef>
                <a:spcPts val="600"/>
              </a:spcBef>
              <a:defRPr/>
            </a:pPr>
            <a:endParaRPr lang="en-US" sz="1100">
              <a:solidFill>
                <a:schemeClr val="tx1"/>
              </a:solidFill>
              <a:latin typeface="+mj-lt"/>
            </a:endParaRPr>
          </a:p>
        </p:txBody>
      </p:sp>
      <p:sp>
        <p:nvSpPr>
          <p:cNvPr id="10" name="Speech Bubble: Rectangle 9">
            <a:extLst>
              <a:ext uri="{FF2B5EF4-FFF2-40B4-BE49-F238E27FC236}">
                <a16:creationId xmlns:a16="http://schemas.microsoft.com/office/drawing/2014/main" id="{247E0533-6B27-2587-6B0B-49B518A2193B}"/>
              </a:ext>
            </a:extLst>
          </p:cNvPr>
          <p:cNvSpPr/>
          <p:nvPr/>
        </p:nvSpPr>
        <p:spPr>
          <a:xfrm>
            <a:off x="5558007" y="3313297"/>
            <a:ext cx="6118054" cy="617869"/>
          </a:xfrm>
          <a:prstGeom prst="wedgeRectCallout">
            <a:avLst>
              <a:gd name="adj1" fmla="val -81322"/>
              <a:gd name="adj2" fmla="val 251197"/>
            </a:avLst>
          </a:prstGeom>
          <a:gradFill>
            <a:gsLst>
              <a:gs pos="0">
                <a:schemeClr val="accent5">
                  <a:lumMod val="40000"/>
                  <a:lumOff val="60000"/>
                </a:schemeClr>
              </a:gs>
              <a:gs pos="50000">
                <a:schemeClr val="accent5">
                  <a:lumMod val="40000"/>
                  <a:lumOff val="60000"/>
                </a:schemeClr>
              </a:gs>
              <a:gs pos="100000">
                <a:schemeClr val="accent5">
                  <a:lumMod val="20000"/>
                  <a:lumOff val="80000"/>
                </a:schemeClr>
              </a:gs>
            </a:gsLst>
          </a:gradFill>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b="1">
                <a:solidFill>
                  <a:schemeClr val="tx1"/>
                </a:solidFill>
                <a:latin typeface="+mj-lt"/>
              </a:rPr>
              <a:t>No Change </a:t>
            </a:r>
          </a:p>
          <a:p>
            <a:pPr lvl="0">
              <a:lnSpc>
                <a:spcPts val="1200"/>
              </a:lnSpc>
              <a:spcBef>
                <a:spcPts val="600"/>
              </a:spcBef>
              <a:defRPr/>
            </a:pPr>
            <a:r>
              <a:rPr lang="en-US" sz="1100">
                <a:solidFill>
                  <a:schemeClr val="tx1"/>
                </a:solidFill>
                <a:latin typeface="+mj-lt"/>
              </a:rPr>
              <a:t>Number of senders for which there was nothing to settle in the settlement period per the settlement rule and for which no errors occurred.</a:t>
            </a:r>
          </a:p>
        </p:txBody>
      </p:sp>
      <p:sp>
        <p:nvSpPr>
          <p:cNvPr id="11" name="Speech Bubble: Rectangle 10">
            <a:extLst>
              <a:ext uri="{FF2B5EF4-FFF2-40B4-BE49-F238E27FC236}">
                <a16:creationId xmlns:a16="http://schemas.microsoft.com/office/drawing/2014/main" id="{39FDF217-2461-C3D2-C095-ACA12C649944}"/>
              </a:ext>
            </a:extLst>
          </p:cNvPr>
          <p:cNvSpPr/>
          <p:nvPr/>
        </p:nvSpPr>
        <p:spPr>
          <a:xfrm>
            <a:off x="5522785" y="4450246"/>
            <a:ext cx="6118055" cy="1585252"/>
          </a:xfrm>
          <a:prstGeom prst="wedgeRectCallout">
            <a:avLst>
              <a:gd name="adj1" fmla="val -81171"/>
              <a:gd name="adj2" fmla="val 5855"/>
            </a:avLst>
          </a:prstGeom>
          <a:gradFill>
            <a:gsLst>
              <a:gs pos="0">
                <a:schemeClr val="accent6">
                  <a:lumMod val="40000"/>
                  <a:lumOff val="60000"/>
                </a:schemeClr>
              </a:gs>
              <a:gs pos="100000">
                <a:schemeClr val="accent6">
                  <a:lumMod val="20000"/>
                  <a:lumOff val="80000"/>
                </a:schemeClr>
              </a:gs>
            </a:gsLst>
          </a:gradFill>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100" b="1">
                <a:solidFill>
                  <a:schemeClr val="tx1"/>
                </a:solidFill>
                <a:latin typeface="+mj-lt"/>
              </a:rPr>
              <a:t>Not Relevant</a:t>
            </a:r>
          </a:p>
          <a:p>
            <a:pPr lvl="0">
              <a:lnSpc>
                <a:spcPts val="1200"/>
              </a:lnSpc>
              <a:spcBef>
                <a:spcPts val="600"/>
              </a:spcBef>
              <a:defRPr/>
            </a:pPr>
            <a:r>
              <a:rPr lang="en-US" sz="1100">
                <a:solidFill>
                  <a:schemeClr val="tx1"/>
                </a:solidFill>
                <a:latin typeface="+mj-lt"/>
              </a:rPr>
              <a:t>Number of senders that are not to be settled because</a:t>
            </a:r>
          </a:p>
          <a:p>
            <a:pPr lvl="0">
              <a:lnSpc>
                <a:spcPts val="1200"/>
              </a:lnSpc>
              <a:spcBef>
                <a:spcPts val="600"/>
              </a:spcBef>
              <a:defRPr/>
            </a:pPr>
            <a:r>
              <a:rPr lang="en-US" sz="1100">
                <a:solidFill>
                  <a:schemeClr val="tx1"/>
                </a:solidFill>
                <a:latin typeface="+mj-lt"/>
              </a:rPr>
              <a:t>-   The sender is statistical</a:t>
            </a:r>
          </a:p>
          <a:p>
            <a:pPr lvl="0">
              <a:lnSpc>
                <a:spcPts val="1200"/>
              </a:lnSpc>
              <a:spcBef>
                <a:spcPts val="600"/>
              </a:spcBef>
              <a:defRPr/>
            </a:pPr>
            <a:r>
              <a:rPr lang="en-US" sz="1100">
                <a:solidFill>
                  <a:schemeClr val="tx1"/>
                </a:solidFill>
                <a:latin typeface="+mj-lt"/>
              </a:rPr>
              <a:t>-   The settlement profile specifies that no actual costs are to be settled</a:t>
            </a:r>
          </a:p>
          <a:p>
            <a:pPr lvl="0">
              <a:lnSpc>
                <a:spcPts val="1200"/>
              </a:lnSpc>
              <a:spcBef>
                <a:spcPts val="600"/>
              </a:spcBef>
              <a:defRPr/>
            </a:pPr>
            <a:r>
              <a:rPr lang="en-US" sz="1100">
                <a:solidFill>
                  <a:schemeClr val="tx1"/>
                </a:solidFill>
                <a:latin typeface="+mj-lt"/>
              </a:rPr>
              <a:t>-   The sender is a WBS element that is not a planning element and planned settlement applies</a:t>
            </a:r>
          </a:p>
          <a:p>
            <a:pPr lvl="0">
              <a:lnSpc>
                <a:spcPts val="1200"/>
              </a:lnSpc>
              <a:spcBef>
                <a:spcPts val="600"/>
              </a:spcBef>
              <a:defRPr/>
            </a:pPr>
            <a:r>
              <a:rPr lang="en-US" sz="1100">
                <a:solidFill>
                  <a:schemeClr val="tx1"/>
                </a:solidFill>
                <a:latin typeface="+mj-lt"/>
              </a:rPr>
              <a:t>-   The settlement was started for a ledger, but the settlement sender is not configured for processing per ledger etc. </a:t>
            </a:r>
          </a:p>
        </p:txBody>
      </p:sp>
    </p:spTree>
    <p:extLst>
      <p:ext uri="{BB962C8B-B14F-4D97-AF65-F5344CB8AC3E}">
        <p14:creationId xmlns:p14="http://schemas.microsoft.com/office/powerpoint/2010/main" val="415392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CFFD5F0-FCD2-7265-156A-33DF46B4ECBA}"/>
              </a:ext>
            </a:extLst>
          </p:cNvPr>
          <p:cNvSpPr>
            <a:spLocks noGrp="1"/>
          </p:cNvSpPr>
          <p:nvPr>
            <p:ph type="sldNum" sz="quarter" idx="12"/>
          </p:nvPr>
        </p:nvSpPr>
        <p:spPr/>
        <p:txBody>
          <a:bodyPr/>
          <a:lstStyle/>
          <a:p>
            <a:fld id="{F4C94289-3309-4C35-850A-56FD49B3E346}" type="slidenum">
              <a:rPr lang="en-GB" smtClean="0"/>
              <a:t>17</a:t>
            </a:fld>
            <a:endParaRPr lang="en-GB"/>
          </a:p>
        </p:txBody>
      </p:sp>
      <p:sp>
        <p:nvSpPr>
          <p:cNvPr id="6" name="Title 3">
            <a:extLst>
              <a:ext uri="{FF2B5EF4-FFF2-40B4-BE49-F238E27FC236}">
                <a16:creationId xmlns:a16="http://schemas.microsoft.com/office/drawing/2014/main" id="{BD0A0658-2E1F-A27B-B0FF-F84CB318B1C7}"/>
              </a:ext>
            </a:extLst>
          </p:cNvPr>
          <p:cNvSpPr>
            <a:spLocks noGrp="1"/>
          </p:cNvSpPr>
          <p:nvPr>
            <p:ph type="title"/>
          </p:nvPr>
        </p:nvSpPr>
        <p:spPr>
          <a:xfrm>
            <a:off x="1511277" y="210344"/>
            <a:ext cx="8902723" cy="984247"/>
          </a:xfrm>
        </p:spPr>
        <p:txBody>
          <a:bodyPr/>
          <a:lstStyle/>
          <a:p>
            <a:r>
              <a:rPr lang="en-US" dirty="0"/>
              <a:t>Branded WBS Settlement</a:t>
            </a:r>
            <a:br>
              <a:rPr lang="en-US" dirty="0"/>
            </a:br>
            <a:r>
              <a:rPr lang="en-US" sz="2400" b="0" dirty="0"/>
              <a:t>(CJ8G – WBS Settlement) (3/3)</a:t>
            </a:r>
            <a:endParaRPr lang="en-US" dirty="0"/>
          </a:p>
        </p:txBody>
      </p:sp>
      <p:pic>
        <p:nvPicPr>
          <p:cNvPr id="7" name="Picture 6">
            <a:extLst>
              <a:ext uri="{FF2B5EF4-FFF2-40B4-BE49-F238E27FC236}">
                <a16:creationId xmlns:a16="http://schemas.microsoft.com/office/drawing/2014/main" id="{95AD7C21-1E71-1D4B-619C-8CA07F6E000F}"/>
              </a:ext>
            </a:extLst>
          </p:cNvPr>
          <p:cNvPicPr>
            <a:picLocks noChangeAspect="1"/>
          </p:cNvPicPr>
          <p:nvPr/>
        </p:nvPicPr>
        <p:blipFill>
          <a:blip r:embed="rId2"/>
          <a:stretch>
            <a:fillRect/>
          </a:stretch>
        </p:blipFill>
        <p:spPr>
          <a:xfrm>
            <a:off x="551159" y="1615611"/>
            <a:ext cx="4650529" cy="4681910"/>
          </a:xfrm>
          <a:prstGeom prst="rect">
            <a:avLst/>
          </a:prstGeom>
        </p:spPr>
      </p:pic>
      <p:sp>
        <p:nvSpPr>
          <p:cNvPr id="9" name="Speech Bubble: Rectangle 8">
            <a:extLst>
              <a:ext uri="{FF2B5EF4-FFF2-40B4-BE49-F238E27FC236}">
                <a16:creationId xmlns:a16="http://schemas.microsoft.com/office/drawing/2014/main" id="{7D8C67F9-AF40-A5BC-F8A9-53E45A5F8F29}"/>
              </a:ext>
            </a:extLst>
          </p:cNvPr>
          <p:cNvSpPr/>
          <p:nvPr/>
        </p:nvSpPr>
        <p:spPr>
          <a:xfrm>
            <a:off x="5593226" y="1487721"/>
            <a:ext cx="6082835" cy="2437733"/>
          </a:xfrm>
          <a:prstGeom prst="wedgeRectCallout">
            <a:avLst>
              <a:gd name="adj1" fmla="val -83979"/>
              <a:gd name="adj2" fmla="val 110008"/>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pPr>
            <a:r>
              <a:rPr lang="en-GB" sz="1100" b="1">
                <a:solidFill>
                  <a:schemeClr val="tx1"/>
                </a:solidFill>
                <a:latin typeface="+mj-lt"/>
              </a:rPr>
              <a:t>In appropriate Status</a:t>
            </a:r>
          </a:p>
          <a:p>
            <a:pPr>
              <a:lnSpc>
                <a:spcPts val="1200"/>
              </a:lnSpc>
              <a:spcBef>
                <a:spcPts val="600"/>
              </a:spcBef>
            </a:pPr>
            <a:r>
              <a:rPr lang="en-US" sz="1100">
                <a:solidFill>
                  <a:schemeClr val="tx1"/>
                </a:solidFill>
                <a:latin typeface="+mj-lt"/>
              </a:rPr>
              <a:t>Number of senders that are not to be settled because</a:t>
            </a:r>
          </a:p>
          <a:p>
            <a:pPr>
              <a:lnSpc>
                <a:spcPts val="1200"/>
              </a:lnSpc>
              <a:spcBef>
                <a:spcPts val="600"/>
              </a:spcBef>
            </a:pPr>
            <a:r>
              <a:rPr lang="en-US" sz="1100">
                <a:solidFill>
                  <a:schemeClr val="tx1"/>
                </a:solidFill>
                <a:latin typeface="+mj-lt"/>
              </a:rPr>
              <a:t>-   The sender still has status "Created"</a:t>
            </a:r>
          </a:p>
          <a:p>
            <a:pPr>
              <a:lnSpc>
                <a:spcPts val="1200"/>
              </a:lnSpc>
              <a:spcBef>
                <a:spcPts val="600"/>
              </a:spcBef>
            </a:pPr>
            <a:r>
              <a:rPr lang="en-US" sz="1100">
                <a:solidFill>
                  <a:schemeClr val="tx1"/>
                </a:solidFill>
                <a:latin typeface="+mj-lt"/>
              </a:rPr>
              <a:t>-   The sender has already been closed</a:t>
            </a:r>
          </a:p>
          <a:p>
            <a:pPr>
              <a:lnSpc>
                <a:spcPts val="1200"/>
              </a:lnSpc>
              <a:spcBef>
                <a:spcPts val="600"/>
              </a:spcBef>
            </a:pPr>
            <a:r>
              <a:rPr lang="en-US" sz="1100">
                <a:solidFill>
                  <a:schemeClr val="tx1"/>
                </a:solidFill>
                <a:latin typeface="+mj-lt"/>
              </a:rPr>
              <a:t>-   The sender is flagged for deletion (for performance reasons, these objects are excluded from processing, that is, the objects are not included in the number of messages)</a:t>
            </a:r>
          </a:p>
          <a:p>
            <a:pPr>
              <a:lnSpc>
                <a:spcPts val="1200"/>
              </a:lnSpc>
              <a:spcBef>
                <a:spcPts val="600"/>
              </a:spcBef>
            </a:pPr>
            <a:r>
              <a:rPr lang="en-US" sz="1100">
                <a:solidFill>
                  <a:schemeClr val="tx1"/>
                </a:solidFill>
                <a:latin typeface="+mj-lt"/>
              </a:rPr>
              <a:t>-   The sender has already been deleted (for performance reasons, these objects are excluded from processing, that is, the objects are not included in the number of messages)</a:t>
            </a:r>
          </a:p>
          <a:p>
            <a:pPr>
              <a:lnSpc>
                <a:spcPts val="1200"/>
              </a:lnSpc>
              <a:spcBef>
                <a:spcPts val="600"/>
              </a:spcBef>
            </a:pPr>
            <a:r>
              <a:rPr lang="en-US" sz="1100">
                <a:solidFill>
                  <a:schemeClr val="tx1"/>
                </a:solidFill>
                <a:latin typeface="+mj-lt"/>
              </a:rPr>
              <a:t>-   The sender is a production order that does not carry a results analysis key and neither technically completed nor delivered in the settlement period</a:t>
            </a:r>
          </a:p>
          <a:p>
            <a:pPr>
              <a:lnSpc>
                <a:spcPts val="1200"/>
              </a:lnSpc>
              <a:spcBef>
                <a:spcPts val="600"/>
              </a:spcBef>
            </a:pPr>
            <a:r>
              <a:rPr lang="en-US" sz="1100">
                <a:solidFill>
                  <a:schemeClr val="tx1"/>
                </a:solidFill>
                <a:latin typeface="+mj-lt"/>
              </a:rPr>
              <a:t>The sender was settled using worklists and has a status that prohibits the settlement (for example, blocked)</a:t>
            </a:r>
          </a:p>
        </p:txBody>
      </p:sp>
      <p:sp>
        <p:nvSpPr>
          <p:cNvPr id="2" name="Speech Bubble: Rectangle 1">
            <a:extLst>
              <a:ext uri="{FF2B5EF4-FFF2-40B4-BE49-F238E27FC236}">
                <a16:creationId xmlns:a16="http://schemas.microsoft.com/office/drawing/2014/main" id="{CB93928B-C8E9-F65E-1F75-41FFB2D25E21}"/>
              </a:ext>
            </a:extLst>
          </p:cNvPr>
          <p:cNvSpPr/>
          <p:nvPr/>
        </p:nvSpPr>
        <p:spPr>
          <a:xfrm>
            <a:off x="5593226" y="4830618"/>
            <a:ext cx="6082835" cy="1186851"/>
          </a:xfrm>
          <a:prstGeom prst="wedgeRectCallout">
            <a:avLst>
              <a:gd name="adj1" fmla="val -82764"/>
              <a:gd name="adj2" fmla="val 34017"/>
            </a:avLst>
          </a:prstGeom>
          <a:gradFill>
            <a:gsLst>
              <a:gs pos="0">
                <a:schemeClr val="accent6">
                  <a:lumMod val="40000"/>
                  <a:lumOff val="60000"/>
                </a:schemeClr>
              </a:gs>
              <a:gs pos="100000">
                <a:schemeClr val="accent6">
                  <a:lumMod val="20000"/>
                  <a:lumOff val="80000"/>
                </a:schemeClr>
              </a:gs>
            </a:gsLst>
          </a:gra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pPr>
            <a:r>
              <a:rPr lang="en-GB" sz="1100" b="1">
                <a:solidFill>
                  <a:schemeClr val="tx1"/>
                </a:solidFill>
                <a:latin typeface="+mj-lt"/>
              </a:rPr>
              <a:t>Error</a:t>
            </a:r>
          </a:p>
          <a:p>
            <a:pPr>
              <a:lnSpc>
                <a:spcPts val="1200"/>
              </a:lnSpc>
              <a:spcBef>
                <a:spcPts val="600"/>
              </a:spcBef>
            </a:pPr>
            <a:r>
              <a:rPr lang="en-US" sz="1100">
                <a:solidFill>
                  <a:schemeClr val="tx1"/>
                </a:solidFill>
                <a:latin typeface="+mj-lt"/>
              </a:rPr>
              <a:t>Number of senders for which at least one error occurred.</a:t>
            </a:r>
          </a:p>
          <a:p>
            <a:pPr>
              <a:lnSpc>
                <a:spcPts val="1200"/>
              </a:lnSpc>
              <a:spcBef>
                <a:spcPts val="600"/>
              </a:spcBef>
            </a:pPr>
            <a:r>
              <a:rPr lang="en-US" sz="1100">
                <a:solidFill>
                  <a:schemeClr val="tx1"/>
                </a:solidFill>
                <a:latin typeface="+mj-lt"/>
              </a:rPr>
              <a:t> In online processing, use the "Messages" pushbutton to display the messages. In background jobs, the messages are listed in the spool list.</a:t>
            </a:r>
          </a:p>
        </p:txBody>
      </p:sp>
    </p:spTree>
    <p:extLst>
      <p:ext uri="{BB962C8B-B14F-4D97-AF65-F5344CB8AC3E}">
        <p14:creationId xmlns:p14="http://schemas.microsoft.com/office/powerpoint/2010/main" val="728334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p:txBody>
          <a:bodyPr/>
          <a:lstStyle/>
          <a:p>
            <a:r>
              <a:rPr lang="en-US"/>
              <a:t>Branded WBS Settlement: Postings</a:t>
            </a:r>
          </a:p>
        </p:txBody>
      </p:sp>
      <p:pic>
        <p:nvPicPr>
          <p:cNvPr id="8" name="Picture 7">
            <a:extLst>
              <a:ext uri="{FF2B5EF4-FFF2-40B4-BE49-F238E27FC236}">
                <a16:creationId xmlns:a16="http://schemas.microsoft.com/office/drawing/2014/main" id="{69223042-E594-46A5-A9BB-7960A52FF8FA}"/>
              </a:ext>
            </a:extLst>
          </p:cNvPr>
          <p:cNvPicPr>
            <a:picLocks noChangeAspect="1"/>
          </p:cNvPicPr>
          <p:nvPr/>
        </p:nvPicPr>
        <p:blipFill>
          <a:blip r:embed="rId2"/>
          <a:stretch>
            <a:fillRect/>
          </a:stretch>
        </p:blipFill>
        <p:spPr>
          <a:xfrm>
            <a:off x="505028" y="1720086"/>
            <a:ext cx="9071234" cy="332574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DCACD291-686B-4C40-AD9C-F43CD80DCCE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7295853" y="1429139"/>
            <a:ext cx="3577194" cy="2988005"/>
          </a:xfrm>
          <a:prstGeom prst="rect">
            <a:avLst/>
          </a:prstGeom>
          <a:ln>
            <a:solidFill>
              <a:srgbClr val="FF0000"/>
            </a:solidFill>
          </a:ln>
          <a:effectLst>
            <a:outerShdw blurRad="50800" dist="38100" dir="10800000" algn="r" rotWithShape="0">
              <a:prstClr val="black">
                <a:alpha val="40000"/>
              </a:prstClr>
            </a:outerShdw>
          </a:effectLst>
        </p:spPr>
      </p:pic>
      <p:sp>
        <p:nvSpPr>
          <p:cNvPr id="10" name="Rectangle: Rounded Corners 9">
            <a:extLst>
              <a:ext uri="{FF2B5EF4-FFF2-40B4-BE49-F238E27FC236}">
                <a16:creationId xmlns:a16="http://schemas.microsoft.com/office/drawing/2014/main" id="{6F0CF82E-8411-4E68-99FF-655C32EC8ACF}"/>
              </a:ext>
            </a:extLst>
          </p:cNvPr>
          <p:cNvSpPr/>
          <p:nvPr/>
        </p:nvSpPr>
        <p:spPr>
          <a:xfrm>
            <a:off x="525473" y="168996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a:t>
            </a:r>
          </a:p>
        </p:txBody>
      </p:sp>
      <p:sp>
        <p:nvSpPr>
          <p:cNvPr id="11" name="Rectangle: Rounded Corners 10">
            <a:extLst>
              <a:ext uri="{FF2B5EF4-FFF2-40B4-BE49-F238E27FC236}">
                <a16:creationId xmlns:a16="http://schemas.microsoft.com/office/drawing/2014/main" id="{4DA26BE5-1AA5-49AA-A061-117A7072207F}"/>
              </a:ext>
            </a:extLst>
          </p:cNvPr>
          <p:cNvSpPr/>
          <p:nvPr/>
        </p:nvSpPr>
        <p:spPr>
          <a:xfrm>
            <a:off x="2971343" y="2215650"/>
            <a:ext cx="1085267"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 name="Straight Arrow Connector 12">
            <a:extLst>
              <a:ext uri="{FF2B5EF4-FFF2-40B4-BE49-F238E27FC236}">
                <a16:creationId xmlns:a16="http://schemas.microsoft.com/office/drawing/2014/main" id="{989C91A8-80BA-41BD-A2A1-F1BBA9C3C7A4}"/>
              </a:ext>
            </a:extLst>
          </p:cNvPr>
          <p:cNvCxnSpPr>
            <a:cxnSpLocks/>
            <a:stCxn id="11" idx="3"/>
          </p:cNvCxnSpPr>
          <p:nvPr/>
        </p:nvCxnSpPr>
        <p:spPr>
          <a:xfrm flipV="1">
            <a:off x="4056610" y="1907457"/>
            <a:ext cx="3377689" cy="416938"/>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E8DEEE8F-CF50-4377-916E-371718094FCC}"/>
              </a:ext>
            </a:extLst>
          </p:cNvPr>
          <p:cNvSpPr/>
          <p:nvPr/>
        </p:nvSpPr>
        <p:spPr>
          <a:xfrm>
            <a:off x="7540058" y="1733544"/>
            <a:ext cx="1579004" cy="1739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C612CAFA-3E84-410A-AD66-306EF87BB228}"/>
              </a:ext>
            </a:extLst>
          </p:cNvPr>
          <p:cNvSpPr/>
          <p:nvPr/>
        </p:nvSpPr>
        <p:spPr>
          <a:xfrm>
            <a:off x="8578735" y="4455822"/>
            <a:ext cx="997527" cy="59000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8B019097-ED07-46ED-ACFC-10F8353BDAE5}"/>
              </a:ext>
            </a:extLst>
          </p:cNvPr>
          <p:cNvSpPr/>
          <p:nvPr/>
        </p:nvSpPr>
        <p:spPr>
          <a:xfrm>
            <a:off x="416343" y="5156644"/>
            <a:ext cx="11071846" cy="1323439"/>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Branded WBS Settlement - Postings: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The Branded WBS settlement documents have the following features. You may search or filter for such line items on S/4 reports based on these features.</a:t>
            </a:r>
          </a:p>
          <a:p>
            <a:pPr marL="628650" lvl="1" indent="-171450">
              <a:lnSpc>
                <a:spcPts val="1200"/>
              </a:lnSpc>
              <a:spcBef>
                <a:spcPts val="600"/>
              </a:spcBef>
              <a:buFont typeface="Arial" panose="020B0604020202020204" pitchFamily="34" charset="0"/>
              <a:buChar char="•"/>
              <a:defRPr/>
            </a:pPr>
            <a:r>
              <a:rPr lang="en-GB" sz="1050" b="1" i="1">
                <a:solidFill>
                  <a:srgbClr val="000000"/>
                </a:solidFill>
                <a:latin typeface="Georgia" panose="02040502050405020303" pitchFamily="18" charset="0"/>
              </a:rPr>
              <a:t>Same P&amp;L account, amount, Profit Center, Functional Area</a:t>
            </a:r>
            <a:r>
              <a:rPr lang="en-GB" sz="1050" i="1">
                <a:solidFill>
                  <a:srgbClr val="000000"/>
                </a:solidFill>
                <a:latin typeface="Georgia" panose="02040502050405020303" pitchFamily="18" charset="0"/>
              </a:rPr>
              <a:t>,  on both debit and credit side.</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You will notice from the fields </a:t>
            </a:r>
            <a:r>
              <a:rPr lang="en-GB" sz="1050" b="1" i="1">
                <a:solidFill>
                  <a:srgbClr val="000000"/>
                </a:solidFill>
                <a:latin typeface="Georgia" panose="02040502050405020303" pitchFamily="18" charset="0"/>
              </a:rPr>
              <a:t>Account Assignment </a:t>
            </a:r>
            <a:r>
              <a:rPr lang="en-GB" sz="1050" i="1">
                <a:solidFill>
                  <a:srgbClr val="000000"/>
                </a:solidFill>
                <a:latin typeface="Georgia" panose="02040502050405020303" pitchFamily="18" charset="0"/>
              </a:rPr>
              <a:t>and </a:t>
            </a:r>
            <a:r>
              <a:rPr lang="en-GB" sz="1050" b="1" i="1">
                <a:solidFill>
                  <a:srgbClr val="000000"/>
                </a:solidFill>
                <a:latin typeface="Georgia" panose="02040502050405020303" pitchFamily="18" charset="0"/>
              </a:rPr>
              <a:t>Account Assignment Category</a:t>
            </a:r>
            <a:r>
              <a:rPr lang="en-GB" sz="1050" i="1">
                <a:solidFill>
                  <a:srgbClr val="000000"/>
                </a:solidFill>
                <a:latin typeface="Georgia" panose="02040502050405020303" pitchFamily="18" charset="0"/>
              </a:rPr>
              <a:t>, that the costs are moved </a:t>
            </a:r>
            <a:r>
              <a:rPr lang="en-GB" sz="1050" b="1" i="1">
                <a:solidFill>
                  <a:srgbClr val="000000"/>
                </a:solidFill>
                <a:latin typeface="Georgia" panose="02040502050405020303" pitchFamily="18" charset="0"/>
              </a:rPr>
              <a:t>from WBS to PSG </a:t>
            </a:r>
            <a:r>
              <a:rPr lang="en-GB" sz="1050" i="1">
                <a:solidFill>
                  <a:srgbClr val="000000"/>
                </a:solidFill>
                <a:latin typeface="Georgia" panose="02040502050405020303" pitchFamily="18" charset="0"/>
              </a:rPr>
              <a:t>(Profitability Segment).</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Postings are made always with </a:t>
            </a:r>
            <a:r>
              <a:rPr lang="en-GB" sz="1050" b="1" i="1">
                <a:solidFill>
                  <a:srgbClr val="000000"/>
                </a:solidFill>
                <a:latin typeface="Georgia" panose="02040502050405020303" pitchFamily="18" charset="0"/>
              </a:rPr>
              <a:t>Document Type SZ</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Postings are made in the corresponding ledger where costs were originally booked, therefore it can be in any ledger.</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These documents </a:t>
            </a:r>
            <a:r>
              <a:rPr lang="en-GB" sz="1050" b="1" i="1">
                <a:solidFill>
                  <a:srgbClr val="000000"/>
                </a:solidFill>
                <a:latin typeface="Georgia" panose="02040502050405020303" pitchFamily="18" charset="0"/>
              </a:rPr>
              <a:t>do not have an Entry View </a:t>
            </a:r>
            <a:r>
              <a:rPr lang="en-GB" sz="1050" i="1">
                <a:solidFill>
                  <a:srgbClr val="000000"/>
                </a:solidFill>
                <a:latin typeface="Georgia" panose="02040502050405020303" pitchFamily="18" charset="0"/>
              </a:rPr>
              <a:t>so when you display them via FB03 or FB03L, you are taken to the Ledger View (as above) straight away.</a:t>
            </a:r>
          </a:p>
        </p:txBody>
      </p:sp>
    </p:spTree>
    <p:extLst>
      <p:ext uri="{BB962C8B-B14F-4D97-AF65-F5344CB8AC3E}">
        <p14:creationId xmlns:p14="http://schemas.microsoft.com/office/powerpoint/2010/main" val="1078204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endParaRPr lang="en-GB"/>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Internal Order Settlement (Leaf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000000"/>
                </a:solidFill>
                <a:latin typeface="Arial" charset="0"/>
                <a:cs typeface="Arial" charset="0"/>
              </a:rPr>
              <a:t>Above Brand Contribution (ABC) </a:t>
            </a:r>
          </a:p>
          <a:p>
            <a:pPr algn="ctr"/>
            <a:r>
              <a:rPr lang="en-US" sz="1400" b="1">
                <a:solidFill>
                  <a:srgbClr val="000000"/>
                </a:solidFill>
                <a:latin typeface="Arial" charset="0"/>
                <a:cs typeface="Arial" charset="0"/>
              </a:rPr>
              <a:t>WBS Settlement / Allocation</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Cost Center Distribution and Assessment</a:t>
            </a:r>
            <a:endParaRPr lang="en-US" sz="1400" b="1">
              <a:solidFill>
                <a:srgbClr val="FFFFFF"/>
              </a:solidFill>
              <a:latin typeface="Arial" panose="020B0604020202020204"/>
              <a:cs typeface="Arial"/>
            </a:endParaRP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Rounded Rectangle 39">
            <a:extLst>
              <a:ext uri="{FF2B5EF4-FFF2-40B4-BE49-F238E27FC236}">
                <a16:creationId xmlns:a16="http://schemas.microsoft.com/office/drawing/2014/main" id="{E1B1C907-8A78-ED5E-793B-2226DFC27F8D}"/>
              </a:ext>
            </a:extLst>
          </p:cNvPr>
          <p:cNvSpPr/>
          <p:nvPr/>
        </p:nvSpPr>
        <p:spPr>
          <a:xfrm>
            <a:off x="9073614" y="1656450"/>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Branded WBS Settlement</a:t>
            </a:r>
          </a:p>
        </p:txBody>
      </p:sp>
      <p:sp>
        <p:nvSpPr>
          <p:cNvPr id="4" name="Rounded Rectangle 39">
            <a:extLst>
              <a:ext uri="{FF2B5EF4-FFF2-40B4-BE49-F238E27FC236}">
                <a16:creationId xmlns:a16="http://schemas.microsoft.com/office/drawing/2014/main" id="{4687564E-E96A-86F7-5D80-741180F4925E}"/>
              </a:ext>
            </a:extLst>
          </p:cNvPr>
          <p:cNvSpPr/>
          <p:nvPr/>
        </p:nvSpPr>
        <p:spPr>
          <a:xfrm>
            <a:off x="9088392" y="2401627"/>
            <a:ext cx="2489390"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000000"/>
                </a:solidFill>
                <a:latin typeface="Arial" charset="0"/>
                <a:cs typeface="Arial" charset="0"/>
              </a:rPr>
              <a:t>Multi-brand WBS Settlement</a:t>
            </a:r>
          </a:p>
        </p:txBody>
      </p:sp>
      <p:cxnSp>
        <p:nvCxnSpPr>
          <p:cNvPr id="5" name="Elbow Connector 4">
            <a:extLst>
              <a:ext uri="{FF2B5EF4-FFF2-40B4-BE49-F238E27FC236}">
                <a16:creationId xmlns:a16="http://schemas.microsoft.com/office/drawing/2014/main" id="{D8E487DB-CC40-ECC2-445A-DE394D2D13C6}"/>
              </a:ext>
            </a:extLst>
          </p:cNvPr>
          <p:cNvCxnSpPr>
            <a:cxnSpLocks/>
            <a:endCxn id="2" idx="1"/>
          </p:cNvCxnSpPr>
          <p:nvPr/>
        </p:nvCxnSpPr>
        <p:spPr>
          <a:xfrm flipV="1">
            <a:off x="8436815" y="1908297"/>
            <a:ext cx="636799" cy="5104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 name="Elbow Connector 7">
            <a:extLst>
              <a:ext uri="{FF2B5EF4-FFF2-40B4-BE49-F238E27FC236}">
                <a16:creationId xmlns:a16="http://schemas.microsoft.com/office/drawing/2014/main" id="{D5F5D747-F5DA-212E-14C6-7A945A9AA765}"/>
              </a:ext>
            </a:extLst>
          </p:cNvPr>
          <p:cNvCxnSpPr>
            <a:cxnSpLocks/>
            <a:endCxn id="4" idx="1"/>
          </p:cNvCxnSpPr>
          <p:nvPr/>
        </p:nvCxnSpPr>
        <p:spPr>
          <a:xfrm>
            <a:off x="8436815" y="2418746"/>
            <a:ext cx="651577" cy="23472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 name="Rounded Rectangle 39">
            <a:extLst>
              <a:ext uri="{FF2B5EF4-FFF2-40B4-BE49-F238E27FC236}">
                <a16:creationId xmlns:a16="http://schemas.microsoft.com/office/drawing/2014/main" id="{898E38CF-4490-321D-E63B-6949D348FE6E}"/>
              </a:ext>
            </a:extLst>
          </p:cNvPr>
          <p:cNvSpPr/>
          <p:nvPr/>
        </p:nvSpPr>
        <p:spPr>
          <a:xfrm>
            <a:off x="9073614" y="3236158"/>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Custom Multi-brand WBS Allocation</a:t>
            </a:r>
            <a:endParaRPr lang="en-US" sz="1400" b="1" dirty="0">
              <a:solidFill>
                <a:srgbClr val="FFFFFF"/>
              </a:solidFill>
              <a:latin typeface="Arial" panose="020B0604020202020204"/>
              <a:cs typeface="Arial"/>
            </a:endParaRPr>
          </a:p>
        </p:txBody>
      </p:sp>
      <p:cxnSp>
        <p:nvCxnSpPr>
          <p:cNvPr id="9" name="Elbow Connector 7">
            <a:extLst>
              <a:ext uri="{FF2B5EF4-FFF2-40B4-BE49-F238E27FC236}">
                <a16:creationId xmlns:a16="http://schemas.microsoft.com/office/drawing/2014/main" id="{5A143DD6-AFA6-DCFA-535C-A80E0D252068}"/>
              </a:ext>
            </a:extLst>
          </p:cNvPr>
          <p:cNvCxnSpPr>
            <a:cxnSpLocks/>
            <a:endCxn id="8" idx="1"/>
          </p:cNvCxnSpPr>
          <p:nvPr/>
        </p:nvCxnSpPr>
        <p:spPr>
          <a:xfrm>
            <a:off x="8436815" y="2418746"/>
            <a:ext cx="636799" cy="106925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313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4D4C552F-1BDD-4A84-98F8-5B69045A7340}"/>
              </a:ext>
            </a:extLst>
          </p:cNvPr>
          <p:cNvPicPr>
            <a:picLocks noChangeAspect="1"/>
          </p:cNvPicPr>
          <p:nvPr/>
        </p:nvPicPr>
        <p:blipFill>
          <a:blip r:embed="rId2"/>
          <a:stretch>
            <a:fillRect/>
          </a:stretch>
        </p:blipFill>
        <p:spPr>
          <a:xfrm>
            <a:off x="8703424" y="2566081"/>
            <a:ext cx="3359191" cy="3407351"/>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D8912462-1463-4810-847F-2B58ADCE8EA2}"/>
              </a:ext>
            </a:extLst>
          </p:cNvPr>
          <p:cNvPicPr>
            <a:picLocks noChangeAspect="1"/>
          </p:cNvPicPr>
          <p:nvPr/>
        </p:nvPicPr>
        <p:blipFill>
          <a:blip r:embed="rId3"/>
          <a:stretch>
            <a:fillRect/>
          </a:stretch>
        </p:blipFill>
        <p:spPr>
          <a:xfrm>
            <a:off x="3622396" y="1367547"/>
            <a:ext cx="3360295" cy="3655943"/>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21A0158A-5F56-4A35-AC08-3E575A2A0AC3}"/>
              </a:ext>
            </a:extLst>
          </p:cNvPr>
          <p:cNvPicPr>
            <a:picLocks noChangeAspect="1"/>
          </p:cNvPicPr>
          <p:nvPr/>
        </p:nvPicPr>
        <p:blipFill>
          <a:blip r:embed="rId4"/>
          <a:stretch>
            <a:fillRect/>
          </a:stretch>
        </p:blipFill>
        <p:spPr>
          <a:xfrm>
            <a:off x="510264" y="1379264"/>
            <a:ext cx="3049351" cy="2529882"/>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20</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Multi-brand WBS Settlement: Execution </a:t>
            </a:r>
            <a:r>
              <a:rPr lang="en-US" sz="1600"/>
              <a:t>(CJ8G)</a:t>
            </a:r>
            <a:br>
              <a:rPr lang="en-US" sz="1600"/>
            </a:br>
            <a:r>
              <a:rPr lang="en-GB" sz="1600" b="0" i="1">
                <a:solidFill>
                  <a:schemeClr val="bg1">
                    <a:lumMod val="50000"/>
                  </a:schemeClr>
                </a:solidFill>
                <a:latin typeface="Georgia" panose="02040502050405020303" pitchFamily="18" charset="0"/>
              </a:rPr>
              <a:t>WBS with Allocation type ZZZ </a:t>
            </a:r>
            <a:r>
              <a:rPr lang="en-GB" sz="1600" b="0" i="1" baseline="30000">
                <a:solidFill>
                  <a:srgbClr val="FF0000"/>
                </a:solidFill>
                <a:latin typeface="Georgia" panose="02040502050405020303" pitchFamily="18" charset="0"/>
              </a:rPr>
              <a:t>1)</a:t>
            </a:r>
            <a:endParaRPr lang="en-US" sz="1600"/>
          </a:p>
        </p:txBody>
      </p:sp>
      <p:sp>
        <p:nvSpPr>
          <p:cNvPr id="6" name="Rectangle: Rounded Corners 5">
            <a:extLst>
              <a:ext uri="{FF2B5EF4-FFF2-40B4-BE49-F238E27FC236}">
                <a16:creationId xmlns:a16="http://schemas.microsoft.com/office/drawing/2014/main" id="{2C9E50B0-EDDC-44E9-AD22-5E0639918851}"/>
              </a:ext>
            </a:extLst>
          </p:cNvPr>
          <p:cNvSpPr/>
          <p:nvPr/>
        </p:nvSpPr>
        <p:spPr>
          <a:xfrm>
            <a:off x="3642743" y="1357454"/>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CJ8G: WBS Settlement</a:t>
            </a:r>
          </a:p>
        </p:txBody>
      </p:sp>
      <p:sp>
        <p:nvSpPr>
          <p:cNvPr id="10" name="Rectangle 9">
            <a:extLst>
              <a:ext uri="{FF2B5EF4-FFF2-40B4-BE49-F238E27FC236}">
                <a16:creationId xmlns:a16="http://schemas.microsoft.com/office/drawing/2014/main" id="{E9F5EBBF-79F9-4290-902A-6C55FC2CFC44}"/>
              </a:ext>
            </a:extLst>
          </p:cNvPr>
          <p:cNvSpPr/>
          <p:nvPr/>
        </p:nvSpPr>
        <p:spPr>
          <a:xfrm>
            <a:off x="366466" y="5118200"/>
            <a:ext cx="8168528" cy="1554272"/>
          </a:xfrm>
          <a:prstGeom prst="rect">
            <a:avLst/>
          </a:prstGeom>
          <a:solidFill>
            <a:schemeClr val="bg1"/>
          </a:solid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If you execute CJ8G for Multi-branded WBS outside of FCC, make sure you use the same </a:t>
            </a:r>
            <a:r>
              <a:rPr lang="en-GB" sz="1100" b="1" i="1">
                <a:solidFill>
                  <a:srgbClr val="000000"/>
                </a:solidFill>
                <a:latin typeface="Georgia" panose="02040502050405020303" pitchFamily="18" charset="0"/>
              </a:rPr>
              <a:t>selection variant </a:t>
            </a:r>
            <a:r>
              <a:rPr lang="en-GB" sz="1100" i="1">
                <a:solidFill>
                  <a:srgbClr val="000000"/>
                </a:solidFill>
                <a:latin typeface="Georgia" panose="02040502050405020303" pitchFamily="18" charset="0"/>
              </a:rPr>
              <a:t>as stated in the corresponding FCC task. As you can see the selection variant is specific for Multi-brand WBS which have some important parameters.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It is recommended that you do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Test Run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first, which can help you identify any errors before an update run, although Test Run is not mandatory and is not ticked in the FCC task variant.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If you have selected Detailed List and check </a:t>
            </a:r>
            <a:r>
              <a:rPr lang="en-GB" sz="1100" i="1" err="1">
                <a:solidFill>
                  <a:srgbClr val="000000"/>
                </a:solidFill>
                <a:latin typeface="Georgia" panose="02040502050405020303" pitchFamily="18" charset="0"/>
              </a:rPr>
              <a:t>Trans.Data</a:t>
            </a:r>
            <a:r>
              <a:rPr lang="en-GB" sz="1100" i="1">
                <a:solidFill>
                  <a:srgbClr val="000000"/>
                </a:solidFill>
                <a:latin typeface="Georgia" panose="02040502050405020303" pitchFamily="18" charset="0"/>
              </a:rPr>
              <a:t>, you will have a comprehensive log after your manual execution, which lists the WBS elements that are settled with their corresponding senders and receivers.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Make sure you check messages in the log before deciding to proceed with update run (untick Test Run).</a:t>
            </a:r>
          </a:p>
        </p:txBody>
      </p:sp>
      <p:sp>
        <p:nvSpPr>
          <p:cNvPr id="11" name="Rectangle: Rounded Corners 10">
            <a:extLst>
              <a:ext uri="{FF2B5EF4-FFF2-40B4-BE49-F238E27FC236}">
                <a16:creationId xmlns:a16="http://schemas.microsoft.com/office/drawing/2014/main" id="{F6834FDC-DB54-475E-ACC9-BB2CB8A8D4D2}"/>
              </a:ext>
            </a:extLst>
          </p:cNvPr>
          <p:cNvSpPr/>
          <p:nvPr/>
        </p:nvSpPr>
        <p:spPr>
          <a:xfrm>
            <a:off x="4077627" y="2607940"/>
            <a:ext cx="1843807"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E53B4061-587F-4A55-8493-5DB027AF41DA}"/>
              </a:ext>
            </a:extLst>
          </p:cNvPr>
          <p:cNvSpPr/>
          <p:nvPr/>
        </p:nvSpPr>
        <p:spPr>
          <a:xfrm>
            <a:off x="527518" y="1367547"/>
            <a:ext cx="2240328" cy="47201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-&gt; Click on Variant of Branded WBS Settlement task</a:t>
            </a:r>
          </a:p>
        </p:txBody>
      </p:sp>
      <p:sp>
        <p:nvSpPr>
          <p:cNvPr id="14" name="Rectangle: Rounded Corners 13">
            <a:extLst>
              <a:ext uri="{FF2B5EF4-FFF2-40B4-BE49-F238E27FC236}">
                <a16:creationId xmlns:a16="http://schemas.microsoft.com/office/drawing/2014/main" id="{828DF423-319E-4BC7-BED4-78D08BF8542F}"/>
              </a:ext>
            </a:extLst>
          </p:cNvPr>
          <p:cNvSpPr/>
          <p:nvPr/>
        </p:nvSpPr>
        <p:spPr>
          <a:xfrm>
            <a:off x="510892" y="2974994"/>
            <a:ext cx="2936119" cy="177972"/>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6" name="Straight Arrow Connector 15">
            <a:extLst>
              <a:ext uri="{FF2B5EF4-FFF2-40B4-BE49-F238E27FC236}">
                <a16:creationId xmlns:a16="http://schemas.microsoft.com/office/drawing/2014/main" id="{B326A7D1-7F28-4C57-925B-277E62FE5FB9}"/>
              </a:ext>
            </a:extLst>
          </p:cNvPr>
          <p:cNvCxnSpPr>
            <a:cxnSpLocks/>
            <a:endCxn id="11" idx="1"/>
          </p:cNvCxnSpPr>
          <p:nvPr/>
        </p:nvCxnSpPr>
        <p:spPr>
          <a:xfrm flipV="1">
            <a:off x="3322323" y="2716685"/>
            <a:ext cx="755304" cy="25831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4EF58C46-5F40-4DE3-949E-6A59FF6C8E04}"/>
              </a:ext>
            </a:extLst>
          </p:cNvPr>
          <p:cNvSpPr/>
          <p:nvPr/>
        </p:nvSpPr>
        <p:spPr>
          <a:xfrm>
            <a:off x="10126256" y="2953719"/>
            <a:ext cx="424751"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381020D6-5D7C-45A9-B249-A3BEDD960CEF}"/>
              </a:ext>
            </a:extLst>
          </p:cNvPr>
          <p:cNvSpPr/>
          <p:nvPr/>
        </p:nvSpPr>
        <p:spPr>
          <a:xfrm>
            <a:off x="3699975" y="4347524"/>
            <a:ext cx="1120449" cy="58719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8" name="Picture 17">
            <a:extLst>
              <a:ext uri="{FF2B5EF4-FFF2-40B4-BE49-F238E27FC236}">
                <a16:creationId xmlns:a16="http://schemas.microsoft.com/office/drawing/2014/main" id="{6A061D87-DB59-4B69-8A44-AF32C32DACA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5883071" y="2915765"/>
            <a:ext cx="2651922" cy="2018952"/>
          </a:xfrm>
          <a:prstGeom prst="rect">
            <a:avLst/>
          </a:prstGeom>
          <a:effectLst>
            <a:outerShdw blurRad="50800" dist="38100" dir="10800000" algn="r" rotWithShape="0">
              <a:prstClr val="black">
                <a:alpha val="40000"/>
              </a:prstClr>
            </a:outerShdw>
          </a:effectLst>
        </p:spPr>
      </p:pic>
      <p:sp>
        <p:nvSpPr>
          <p:cNvPr id="22" name="Rectangle: Rounded Corners 21">
            <a:extLst>
              <a:ext uri="{FF2B5EF4-FFF2-40B4-BE49-F238E27FC236}">
                <a16:creationId xmlns:a16="http://schemas.microsoft.com/office/drawing/2014/main" id="{C13F2E12-4E18-4C7A-92B1-BC109B82AF8C}"/>
              </a:ext>
            </a:extLst>
          </p:cNvPr>
          <p:cNvSpPr/>
          <p:nvPr/>
        </p:nvSpPr>
        <p:spPr>
          <a:xfrm>
            <a:off x="6013854" y="4049708"/>
            <a:ext cx="1843807" cy="23134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0AF5D826-3811-41C8-8B9C-48D9439793C5}"/>
              </a:ext>
            </a:extLst>
          </p:cNvPr>
          <p:cNvSpPr/>
          <p:nvPr/>
        </p:nvSpPr>
        <p:spPr>
          <a:xfrm>
            <a:off x="6013279" y="4615436"/>
            <a:ext cx="2151168" cy="31928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1" name="Straight Arrow Connector 20">
            <a:extLst>
              <a:ext uri="{FF2B5EF4-FFF2-40B4-BE49-F238E27FC236}">
                <a16:creationId xmlns:a16="http://schemas.microsoft.com/office/drawing/2014/main" id="{8CE13B5E-F7B9-4201-B5B8-5C7FA94920CF}"/>
              </a:ext>
            </a:extLst>
          </p:cNvPr>
          <p:cNvCxnSpPr>
            <a:cxnSpLocks/>
          </p:cNvCxnSpPr>
          <p:nvPr/>
        </p:nvCxnSpPr>
        <p:spPr>
          <a:xfrm>
            <a:off x="5921434" y="2716685"/>
            <a:ext cx="683936" cy="344869"/>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4A1042F-7627-45E9-A9B0-225CC9350CD6}"/>
              </a:ext>
            </a:extLst>
          </p:cNvPr>
          <p:cNvSpPr/>
          <p:nvPr/>
        </p:nvSpPr>
        <p:spPr>
          <a:xfrm>
            <a:off x="6605370" y="3079845"/>
            <a:ext cx="950900" cy="17278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04AA8345-30B0-4FCD-8FE0-873E6B000634}"/>
              </a:ext>
            </a:extLst>
          </p:cNvPr>
          <p:cNvSpPr/>
          <p:nvPr/>
        </p:nvSpPr>
        <p:spPr>
          <a:xfrm>
            <a:off x="9644392" y="2962032"/>
            <a:ext cx="424751"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2C9947B9-4BE7-4049-87C7-50FEDC30E871}"/>
              </a:ext>
            </a:extLst>
          </p:cNvPr>
          <p:cNvSpPr/>
          <p:nvPr/>
        </p:nvSpPr>
        <p:spPr>
          <a:xfrm>
            <a:off x="369001" y="4655360"/>
            <a:ext cx="3165080" cy="400110"/>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Multi-brand WBS Settlement – Execution via CJ8G:</a:t>
            </a:r>
          </a:p>
        </p:txBody>
      </p:sp>
      <p:sp>
        <p:nvSpPr>
          <p:cNvPr id="31" name="TextBox 30">
            <a:extLst>
              <a:ext uri="{FF2B5EF4-FFF2-40B4-BE49-F238E27FC236}">
                <a16:creationId xmlns:a16="http://schemas.microsoft.com/office/drawing/2014/main" id="{28966928-2EAA-45F0-8FED-FC6F15D6E690}"/>
              </a:ext>
            </a:extLst>
          </p:cNvPr>
          <p:cNvSpPr txBox="1"/>
          <p:nvPr/>
        </p:nvSpPr>
        <p:spPr>
          <a:xfrm>
            <a:off x="9016503" y="6262669"/>
            <a:ext cx="2262297" cy="434828"/>
          </a:xfrm>
          <a:prstGeom prst="rect">
            <a:avLst/>
          </a:prstGeom>
          <a:solidFill>
            <a:schemeClr val="bg1"/>
          </a:solidFill>
        </p:spPr>
        <p:txBody>
          <a:bodyPr wrap="square" lIns="0" tIns="0" rIns="0" bIns="0" rtlCol="0">
            <a:noAutofit/>
          </a:bodyPr>
          <a:lstStyle/>
          <a:p>
            <a:pPr algn="l"/>
            <a:r>
              <a:rPr lang="en-US" sz="900" i="1" baseline="30000">
                <a:solidFill>
                  <a:srgbClr val="FF0000"/>
                </a:solidFill>
              </a:rPr>
              <a:t>1) </a:t>
            </a:r>
            <a:r>
              <a:rPr lang="en-US" sz="900" i="1"/>
              <a:t>Please refer to Controlling WBS course materials for details of Multi-brand WBS with Allocation Key ZZZ.</a:t>
            </a:r>
          </a:p>
        </p:txBody>
      </p:sp>
      <p:sp>
        <p:nvSpPr>
          <p:cNvPr id="2" name="Rectangle 1">
            <a:extLst>
              <a:ext uri="{FF2B5EF4-FFF2-40B4-BE49-F238E27FC236}">
                <a16:creationId xmlns:a16="http://schemas.microsoft.com/office/drawing/2014/main" id="{0582D9FB-25A1-424D-AF81-F002CD67A0C1}"/>
              </a:ext>
            </a:extLst>
          </p:cNvPr>
          <p:cNvSpPr/>
          <p:nvPr/>
        </p:nvSpPr>
        <p:spPr>
          <a:xfrm>
            <a:off x="6605370" y="3753853"/>
            <a:ext cx="1439968" cy="239645"/>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peech Bubble: Rectangle 31">
            <a:extLst>
              <a:ext uri="{FF2B5EF4-FFF2-40B4-BE49-F238E27FC236}">
                <a16:creationId xmlns:a16="http://schemas.microsoft.com/office/drawing/2014/main" id="{E57E1D27-53F5-4662-8047-18B0D788CC4A}"/>
              </a:ext>
            </a:extLst>
          </p:cNvPr>
          <p:cNvSpPr/>
          <p:nvPr/>
        </p:nvSpPr>
        <p:spPr>
          <a:xfrm>
            <a:off x="7610339" y="1078123"/>
            <a:ext cx="4490325" cy="1381519"/>
          </a:xfrm>
          <a:prstGeom prst="wedgeRectCallout">
            <a:avLst>
              <a:gd name="adj1" fmla="val -86743"/>
              <a:gd name="adj2" fmla="val 67497"/>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100" i="1" dirty="0">
              <a:solidFill>
                <a:schemeClr val="tx1"/>
              </a:solidFill>
              <a:latin typeface="Georgia" panose="02040502050405020303" pitchFamily="18" charset="0"/>
            </a:endParaRPr>
          </a:p>
          <a:p>
            <a:pPr>
              <a:lnSpc>
                <a:spcPts val="1200"/>
              </a:lnSpc>
              <a:spcBef>
                <a:spcPts val="600"/>
              </a:spcBef>
              <a:defRPr/>
            </a:pPr>
            <a:r>
              <a:rPr lang="en-US" sz="1100" i="1" dirty="0">
                <a:solidFill>
                  <a:schemeClr val="tx1"/>
                </a:solidFill>
                <a:latin typeface="Georgia" panose="02040502050405020303" pitchFamily="18" charset="0"/>
              </a:rPr>
              <a:t>Similar to the Selection Variant used in CJB1 and CJ8G for EAM WBS elements, the Branded and Multi-brand WBS settlement variants also use “GBS/JTBC Selection Variants”, in which the Company Codes are determined by the GBS/JTBC FCC folders via the Standard Variable for Company Code. Please follow the same instruction for EAM Selection variants to modify the Branded and Multi-brand WBS settlement Selection Variants if you need to execute them outside of FCC. </a:t>
            </a:r>
          </a:p>
          <a:p>
            <a:pPr>
              <a:lnSpc>
                <a:spcPts val="1200"/>
              </a:lnSpc>
              <a:spcBef>
                <a:spcPts val="600"/>
              </a:spcBef>
              <a:defRPr/>
            </a:pPr>
            <a:endParaRPr lang="en-US" sz="1100" i="1" dirty="0">
              <a:solidFill>
                <a:schemeClr val="tx1"/>
              </a:solidFill>
              <a:latin typeface="Georgia" panose="02040502050405020303" pitchFamily="18" charset="0"/>
            </a:endParaRPr>
          </a:p>
        </p:txBody>
      </p:sp>
      <p:cxnSp>
        <p:nvCxnSpPr>
          <p:cNvPr id="7" name="Straight Arrow Connector 6">
            <a:extLst>
              <a:ext uri="{FF2B5EF4-FFF2-40B4-BE49-F238E27FC236}">
                <a16:creationId xmlns:a16="http://schemas.microsoft.com/office/drawing/2014/main" id="{7FF4B024-9DD6-4B48-BAE8-6CFED33AD4C3}"/>
              </a:ext>
            </a:extLst>
          </p:cNvPr>
          <p:cNvCxnSpPr>
            <a:cxnSpLocks/>
          </p:cNvCxnSpPr>
          <p:nvPr/>
        </p:nvCxnSpPr>
        <p:spPr>
          <a:xfrm>
            <a:off x="6862402" y="2664706"/>
            <a:ext cx="1992840" cy="310288"/>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815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99C8AE-C5F9-4950-AC80-ECC48560A7F5}"/>
              </a:ext>
            </a:extLst>
          </p:cNvPr>
          <p:cNvPicPr>
            <a:picLocks noChangeAspect="1"/>
          </p:cNvPicPr>
          <p:nvPr/>
        </p:nvPicPr>
        <p:blipFill>
          <a:blip r:embed="rId2"/>
          <a:stretch>
            <a:fillRect/>
          </a:stretch>
        </p:blipFill>
        <p:spPr>
          <a:xfrm>
            <a:off x="516238" y="1357062"/>
            <a:ext cx="7680135" cy="3324058"/>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069637" cy="984247"/>
          </a:xfrm>
        </p:spPr>
        <p:txBody>
          <a:bodyPr/>
          <a:lstStyle/>
          <a:p>
            <a:r>
              <a:rPr lang="en-US"/>
              <a:t>Multi-branded WBS Settlement: Postings </a:t>
            </a:r>
            <a:r>
              <a:rPr lang="en-US" sz="1600"/>
              <a:t>(CJ8G)</a:t>
            </a:r>
            <a:br>
              <a:rPr lang="en-US"/>
            </a:br>
            <a:r>
              <a:rPr lang="en-GB" sz="1800" b="0" i="1">
                <a:solidFill>
                  <a:schemeClr val="bg1">
                    <a:lumMod val="50000"/>
                  </a:schemeClr>
                </a:solidFill>
                <a:latin typeface="Georgia" panose="02040502050405020303" pitchFamily="18" charset="0"/>
              </a:rPr>
              <a:t>WBS with Allocation type ZZZ </a:t>
            </a:r>
            <a:r>
              <a:rPr lang="en-GB" sz="1800" b="0" i="1" baseline="30000">
                <a:solidFill>
                  <a:srgbClr val="FF0000"/>
                </a:solidFill>
                <a:latin typeface="Georgia" panose="02040502050405020303" pitchFamily="18" charset="0"/>
              </a:rPr>
              <a:t>1)</a:t>
            </a:r>
            <a:endParaRPr lang="en-US" sz="1600" b="0" i="1" baseline="30000">
              <a:solidFill>
                <a:srgbClr val="FF0000"/>
              </a:solidFill>
              <a:latin typeface="Georgia" panose="02040502050405020303" pitchFamily="18" charset="0"/>
            </a:endParaRPr>
          </a:p>
        </p:txBody>
      </p:sp>
      <p:sp>
        <p:nvSpPr>
          <p:cNvPr id="10" name="Rectangle: Rounded Corners 9">
            <a:extLst>
              <a:ext uri="{FF2B5EF4-FFF2-40B4-BE49-F238E27FC236}">
                <a16:creationId xmlns:a16="http://schemas.microsoft.com/office/drawing/2014/main" id="{6F0CF82E-8411-4E68-99FF-655C32EC8ACF}"/>
              </a:ext>
            </a:extLst>
          </p:cNvPr>
          <p:cNvSpPr/>
          <p:nvPr/>
        </p:nvSpPr>
        <p:spPr>
          <a:xfrm>
            <a:off x="525473" y="1365771"/>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a:t>
            </a:r>
          </a:p>
        </p:txBody>
      </p:sp>
      <p:sp>
        <p:nvSpPr>
          <p:cNvPr id="11" name="Rectangle: Rounded Corners 10">
            <a:extLst>
              <a:ext uri="{FF2B5EF4-FFF2-40B4-BE49-F238E27FC236}">
                <a16:creationId xmlns:a16="http://schemas.microsoft.com/office/drawing/2014/main" id="{4DA26BE5-1AA5-49AA-A061-117A7072207F}"/>
              </a:ext>
            </a:extLst>
          </p:cNvPr>
          <p:cNvSpPr/>
          <p:nvPr/>
        </p:nvSpPr>
        <p:spPr>
          <a:xfrm>
            <a:off x="2510444" y="1775780"/>
            <a:ext cx="955963"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 name="Straight Arrow Connector 12">
            <a:extLst>
              <a:ext uri="{FF2B5EF4-FFF2-40B4-BE49-F238E27FC236}">
                <a16:creationId xmlns:a16="http://schemas.microsoft.com/office/drawing/2014/main" id="{989C91A8-80BA-41BD-A2A1-F1BBA9C3C7A4}"/>
              </a:ext>
            </a:extLst>
          </p:cNvPr>
          <p:cNvCxnSpPr>
            <a:cxnSpLocks/>
            <a:stCxn id="11" idx="3"/>
          </p:cNvCxnSpPr>
          <p:nvPr/>
        </p:nvCxnSpPr>
        <p:spPr>
          <a:xfrm flipV="1">
            <a:off x="3466407" y="1840945"/>
            <a:ext cx="3039769" cy="4358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C612CAFA-3E84-410A-AD66-306EF87BB228}"/>
              </a:ext>
            </a:extLst>
          </p:cNvPr>
          <p:cNvSpPr/>
          <p:nvPr/>
        </p:nvSpPr>
        <p:spPr>
          <a:xfrm>
            <a:off x="9433099" y="5893723"/>
            <a:ext cx="1714269" cy="29925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9C0E54AD-4700-4FFA-AA35-69EEEFDC04AB}"/>
              </a:ext>
            </a:extLst>
          </p:cNvPr>
          <p:cNvSpPr/>
          <p:nvPr/>
        </p:nvSpPr>
        <p:spPr>
          <a:xfrm>
            <a:off x="7326885" y="3822037"/>
            <a:ext cx="869487" cy="85908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3E4F4A60-9BB5-4FBE-A3E8-58DF9193132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467013" y="1213894"/>
            <a:ext cx="2745889" cy="2556517"/>
          </a:xfrm>
          <a:prstGeom prst="rect">
            <a:avLst/>
          </a:prstGeom>
          <a:ln>
            <a:solidFill>
              <a:srgbClr val="FF0000"/>
            </a:solidFill>
          </a:ln>
          <a:effectLst>
            <a:outerShdw blurRad="50800" dist="38100" dir="2700000" algn="tl" rotWithShape="0">
              <a:prstClr val="black">
                <a:alpha val="40000"/>
              </a:prstClr>
            </a:outerShdw>
          </a:effectLst>
        </p:spPr>
      </p:pic>
      <p:sp>
        <p:nvSpPr>
          <p:cNvPr id="20" name="Rectangle: Rounded Corners 19">
            <a:extLst>
              <a:ext uri="{FF2B5EF4-FFF2-40B4-BE49-F238E27FC236}">
                <a16:creationId xmlns:a16="http://schemas.microsoft.com/office/drawing/2014/main" id="{730A7F2B-63BD-4EC2-BB69-1322C704CBE4}"/>
              </a:ext>
            </a:extLst>
          </p:cNvPr>
          <p:cNvSpPr/>
          <p:nvPr/>
        </p:nvSpPr>
        <p:spPr>
          <a:xfrm>
            <a:off x="6512476" y="1513568"/>
            <a:ext cx="1372308" cy="14022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C29BEEDA-BC40-4291-BBA9-AA93A1AC96F2}"/>
              </a:ext>
            </a:extLst>
          </p:cNvPr>
          <p:cNvSpPr/>
          <p:nvPr/>
        </p:nvSpPr>
        <p:spPr>
          <a:xfrm>
            <a:off x="689674" y="4188230"/>
            <a:ext cx="7506698" cy="16117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455C0ABA-807F-4610-A332-92D11744B5ED}"/>
              </a:ext>
            </a:extLst>
          </p:cNvPr>
          <p:cNvSpPr/>
          <p:nvPr/>
        </p:nvSpPr>
        <p:spPr>
          <a:xfrm>
            <a:off x="689674" y="4492972"/>
            <a:ext cx="7506698" cy="188148"/>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84047CCB-DA58-4E28-BC90-2109F8E9B3A5}"/>
              </a:ext>
            </a:extLst>
          </p:cNvPr>
          <p:cNvPicPr>
            <a:picLocks noChangeAspect="1"/>
          </p:cNvPicPr>
          <p:nvPr/>
        </p:nvPicPr>
        <p:blipFill>
          <a:blip r:embed="rId5"/>
          <a:stretch>
            <a:fillRect/>
          </a:stretch>
        </p:blipFill>
        <p:spPr>
          <a:xfrm>
            <a:off x="9341157" y="1474516"/>
            <a:ext cx="2782272" cy="2556517"/>
          </a:xfrm>
          <a:prstGeom prst="rect">
            <a:avLst/>
          </a:prstGeom>
          <a:ln>
            <a:solidFill>
              <a:srgbClr val="FF0000"/>
            </a:solidFill>
          </a:ln>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E11842B4-06C9-4947-966B-2627F71F5E1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8493948" y="4156963"/>
            <a:ext cx="2784852" cy="2453041"/>
          </a:xfrm>
          <a:prstGeom prst="rect">
            <a:avLst/>
          </a:prstGeom>
          <a:ln>
            <a:solidFill>
              <a:schemeClr val="accent6"/>
            </a:solidFill>
          </a:ln>
          <a:effectLst>
            <a:outerShdw blurRad="50800" dist="38100" dir="2700000" algn="tl" rotWithShape="0">
              <a:prstClr val="black">
                <a:alpha val="40000"/>
              </a:prstClr>
            </a:outerShdw>
          </a:effectLst>
        </p:spPr>
      </p:pic>
      <p:cxnSp>
        <p:nvCxnSpPr>
          <p:cNvPr id="15" name="Straight Arrow Connector 14">
            <a:extLst>
              <a:ext uri="{FF2B5EF4-FFF2-40B4-BE49-F238E27FC236}">
                <a16:creationId xmlns:a16="http://schemas.microsoft.com/office/drawing/2014/main" id="{15210518-F447-4D85-80BE-867E2FB4FC66}"/>
              </a:ext>
            </a:extLst>
          </p:cNvPr>
          <p:cNvCxnSpPr>
            <a:cxnSpLocks/>
            <a:stCxn id="23" idx="3"/>
          </p:cNvCxnSpPr>
          <p:nvPr/>
        </p:nvCxnSpPr>
        <p:spPr>
          <a:xfrm flipV="1">
            <a:off x="8196372" y="3769395"/>
            <a:ext cx="1144785" cy="49942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01DF6C3-A7D8-4AB5-8AB4-66B237A5081C}"/>
              </a:ext>
            </a:extLst>
          </p:cNvPr>
          <p:cNvCxnSpPr>
            <a:cxnSpLocks/>
          </p:cNvCxnSpPr>
          <p:nvPr/>
        </p:nvCxnSpPr>
        <p:spPr>
          <a:xfrm>
            <a:off x="8150402" y="4587046"/>
            <a:ext cx="343545" cy="511893"/>
          </a:xfrm>
          <a:prstGeom prst="straightConnector1">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0EC31B34-F419-425B-BD36-626FD07309B5}"/>
              </a:ext>
            </a:extLst>
          </p:cNvPr>
          <p:cNvSpPr/>
          <p:nvPr/>
        </p:nvSpPr>
        <p:spPr>
          <a:xfrm>
            <a:off x="9433098" y="3822037"/>
            <a:ext cx="1714269" cy="14962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48FB1DD5-7086-45B2-BB4A-4349DAA5D9EA}"/>
              </a:ext>
            </a:extLst>
          </p:cNvPr>
          <p:cNvSpPr/>
          <p:nvPr/>
        </p:nvSpPr>
        <p:spPr>
          <a:xfrm>
            <a:off x="9433098" y="2178205"/>
            <a:ext cx="1714269" cy="14962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Rectangle: Rounded Corners 32">
            <a:extLst>
              <a:ext uri="{FF2B5EF4-FFF2-40B4-BE49-F238E27FC236}">
                <a16:creationId xmlns:a16="http://schemas.microsoft.com/office/drawing/2014/main" id="{390390F3-828C-464A-B8FE-EBF93A9A7841}"/>
              </a:ext>
            </a:extLst>
          </p:cNvPr>
          <p:cNvSpPr/>
          <p:nvPr/>
        </p:nvSpPr>
        <p:spPr>
          <a:xfrm>
            <a:off x="8535624" y="6429905"/>
            <a:ext cx="1714269" cy="149629"/>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Rectangle: Rounded Corners 33">
            <a:extLst>
              <a:ext uri="{FF2B5EF4-FFF2-40B4-BE49-F238E27FC236}">
                <a16:creationId xmlns:a16="http://schemas.microsoft.com/office/drawing/2014/main" id="{E17E6ECE-E3FF-4E84-AA69-17ED4BBA6424}"/>
              </a:ext>
            </a:extLst>
          </p:cNvPr>
          <p:cNvSpPr/>
          <p:nvPr/>
        </p:nvSpPr>
        <p:spPr>
          <a:xfrm>
            <a:off x="8541524" y="4817579"/>
            <a:ext cx="1714269" cy="149629"/>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6" name="Picture 35">
            <a:extLst>
              <a:ext uri="{FF2B5EF4-FFF2-40B4-BE49-F238E27FC236}">
                <a16:creationId xmlns:a16="http://schemas.microsoft.com/office/drawing/2014/main" id="{F39CAFDD-38F5-42E6-9EDA-AB1954AACA0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314442" y="4880885"/>
            <a:ext cx="3243529" cy="1746925"/>
          </a:xfrm>
          <a:prstGeom prst="rect">
            <a:avLst/>
          </a:prstGeom>
          <a:effectLst>
            <a:outerShdw blurRad="50800" dist="38100" dir="2700000" algn="tl" rotWithShape="0">
              <a:prstClr val="black">
                <a:alpha val="40000"/>
              </a:prstClr>
            </a:outerShdw>
          </a:effectLst>
        </p:spPr>
      </p:pic>
      <p:pic>
        <p:nvPicPr>
          <p:cNvPr id="38" name="Picture 37">
            <a:extLst>
              <a:ext uri="{FF2B5EF4-FFF2-40B4-BE49-F238E27FC236}">
                <a16:creationId xmlns:a16="http://schemas.microsoft.com/office/drawing/2014/main" id="{78963903-C8E1-44D5-B3B9-48941C56498F}"/>
              </a:ext>
            </a:extLst>
          </p:cNvPr>
          <p:cNvPicPr>
            <a:picLocks noChangeAspect="1"/>
          </p:cNvPicPr>
          <p:nvPr/>
        </p:nvPicPr>
        <p:blipFill>
          <a:blip r:embed="rId10"/>
          <a:stretch>
            <a:fillRect/>
          </a:stretch>
        </p:blipFill>
        <p:spPr>
          <a:xfrm>
            <a:off x="3671926" y="5097625"/>
            <a:ext cx="3349751" cy="1202917"/>
          </a:xfrm>
          <a:prstGeom prst="rect">
            <a:avLst/>
          </a:prstGeom>
          <a:effectLst>
            <a:outerShdw blurRad="50800" dist="38100" dir="2700000" algn="tl" rotWithShape="0">
              <a:prstClr val="black">
                <a:alpha val="40000"/>
              </a:prstClr>
            </a:outerShdw>
          </a:effectLst>
        </p:spPr>
      </p:pic>
      <p:sp>
        <p:nvSpPr>
          <p:cNvPr id="39" name="TextBox 38">
            <a:extLst>
              <a:ext uri="{FF2B5EF4-FFF2-40B4-BE49-F238E27FC236}">
                <a16:creationId xmlns:a16="http://schemas.microsoft.com/office/drawing/2014/main" id="{8E05EBB5-7350-46E4-952A-55AA79B53443}"/>
              </a:ext>
            </a:extLst>
          </p:cNvPr>
          <p:cNvSpPr txBox="1"/>
          <p:nvPr/>
        </p:nvSpPr>
        <p:spPr>
          <a:xfrm>
            <a:off x="3758504" y="6430242"/>
            <a:ext cx="4566890" cy="434828"/>
          </a:xfrm>
          <a:prstGeom prst="rect">
            <a:avLst/>
          </a:prstGeom>
          <a:solidFill>
            <a:schemeClr val="bg1"/>
          </a:solidFill>
        </p:spPr>
        <p:txBody>
          <a:bodyPr wrap="square" lIns="0" tIns="0" rIns="0" bIns="0" rtlCol="0">
            <a:noAutofit/>
          </a:bodyPr>
          <a:lstStyle/>
          <a:p>
            <a:pPr algn="l"/>
            <a:r>
              <a:rPr lang="en-US" sz="900" i="1" baseline="30000">
                <a:solidFill>
                  <a:srgbClr val="FF0000"/>
                </a:solidFill>
              </a:rPr>
              <a:t>1) </a:t>
            </a:r>
            <a:r>
              <a:rPr lang="en-US" sz="900" i="1"/>
              <a:t>Please refer to Controlling WBS course materials for details of Multi-brand WBS with Allocation Key ZZZ.</a:t>
            </a:r>
          </a:p>
        </p:txBody>
      </p:sp>
      <p:sp>
        <p:nvSpPr>
          <p:cNvPr id="41" name="Rectangle: Rounded Corners 40">
            <a:extLst>
              <a:ext uri="{FF2B5EF4-FFF2-40B4-BE49-F238E27FC236}">
                <a16:creationId xmlns:a16="http://schemas.microsoft.com/office/drawing/2014/main" id="{597A69B6-9312-4BB7-9B69-33EA922C3F5D}"/>
              </a:ext>
            </a:extLst>
          </p:cNvPr>
          <p:cNvSpPr/>
          <p:nvPr/>
        </p:nvSpPr>
        <p:spPr>
          <a:xfrm>
            <a:off x="314441" y="4837340"/>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CJ13: Display WBS Element</a:t>
            </a:r>
          </a:p>
        </p:txBody>
      </p:sp>
      <p:sp>
        <p:nvSpPr>
          <p:cNvPr id="42" name="Rectangle: Rounded Corners 41">
            <a:extLst>
              <a:ext uri="{FF2B5EF4-FFF2-40B4-BE49-F238E27FC236}">
                <a16:creationId xmlns:a16="http://schemas.microsoft.com/office/drawing/2014/main" id="{6A6B3890-897C-4F8E-A95B-E61DD5928224}"/>
              </a:ext>
            </a:extLst>
          </p:cNvPr>
          <p:cNvSpPr/>
          <p:nvPr/>
        </p:nvSpPr>
        <p:spPr>
          <a:xfrm>
            <a:off x="557480" y="6474249"/>
            <a:ext cx="1372308" cy="14022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Rectangle: Rounded Corners 42">
            <a:extLst>
              <a:ext uri="{FF2B5EF4-FFF2-40B4-BE49-F238E27FC236}">
                <a16:creationId xmlns:a16="http://schemas.microsoft.com/office/drawing/2014/main" id="{75FB9AD1-5252-47CB-9EF2-08422A017C41}"/>
              </a:ext>
            </a:extLst>
          </p:cNvPr>
          <p:cNvSpPr/>
          <p:nvPr/>
        </p:nvSpPr>
        <p:spPr>
          <a:xfrm>
            <a:off x="3657366" y="4889010"/>
            <a:ext cx="3243529"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CJ13: Display WBS Element -&gt; Settlement rule</a:t>
            </a:r>
          </a:p>
        </p:txBody>
      </p:sp>
      <p:sp>
        <p:nvSpPr>
          <p:cNvPr id="44" name="Rectangle: Rounded Corners 43">
            <a:extLst>
              <a:ext uri="{FF2B5EF4-FFF2-40B4-BE49-F238E27FC236}">
                <a16:creationId xmlns:a16="http://schemas.microsoft.com/office/drawing/2014/main" id="{B0C4B3D0-3FBC-4C46-A755-DE426B253A4F}"/>
              </a:ext>
            </a:extLst>
          </p:cNvPr>
          <p:cNvSpPr/>
          <p:nvPr/>
        </p:nvSpPr>
        <p:spPr>
          <a:xfrm>
            <a:off x="3711954" y="6041083"/>
            <a:ext cx="1372308" cy="15189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283D5A46-45F9-4A57-A05A-657C35CEB8F2}"/>
              </a:ext>
            </a:extLst>
          </p:cNvPr>
          <p:cNvSpPr/>
          <p:nvPr/>
        </p:nvSpPr>
        <p:spPr>
          <a:xfrm>
            <a:off x="3715471" y="6192982"/>
            <a:ext cx="1372308" cy="151899"/>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4461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22</a:t>
            </a:fld>
            <a:endParaRPr lang="en-GB"/>
          </a:p>
        </p:txBody>
      </p:sp>
      <p:graphicFrame>
        <p:nvGraphicFramePr>
          <p:cNvPr id="5" name="Table 6">
            <a:extLst>
              <a:ext uri="{FF2B5EF4-FFF2-40B4-BE49-F238E27FC236}">
                <a16:creationId xmlns:a16="http://schemas.microsoft.com/office/drawing/2014/main" id="{82073CBF-32B9-E568-17DA-5BC24047BB0F}"/>
              </a:ext>
            </a:extLst>
          </p:cNvPr>
          <p:cNvGraphicFramePr>
            <a:graphicFrameLocks noGrp="1"/>
          </p:cNvGraphicFramePr>
          <p:nvPr/>
        </p:nvGraphicFramePr>
        <p:xfrm>
          <a:off x="515939" y="1458785"/>
          <a:ext cx="11195154" cy="491924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098132">
                  <a:extLst>
                    <a:ext uri="{9D8B030D-6E8A-4147-A177-3AD203B41FA5}">
                      <a16:colId xmlns:a16="http://schemas.microsoft.com/office/drawing/2014/main" val="4175835808"/>
                    </a:ext>
                  </a:extLst>
                </a:gridCol>
                <a:gridCol w="2614863">
                  <a:extLst>
                    <a:ext uri="{9D8B030D-6E8A-4147-A177-3AD203B41FA5}">
                      <a16:colId xmlns:a16="http://schemas.microsoft.com/office/drawing/2014/main" val="3494736957"/>
                    </a:ext>
                  </a:extLst>
                </a:gridCol>
                <a:gridCol w="5482159">
                  <a:extLst>
                    <a:ext uri="{9D8B030D-6E8A-4147-A177-3AD203B41FA5}">
                      <a16:colId xmlns:a16="http://schemas.microsoft.com/office/drawing/2014/main" val="3274509539"/>
                    </a:ext>
                  </a:extLst>
                </a:gridCol>
              </a:tblGrid>
              <a:tr h="417177">
                <a:tc>
                  <a:txBody>
                    <a:bodyPr/>
                    <a:lstStyle/>
                    <a:p>
                      <a:r>
                        <a:rPr lang="en-GB" sz="1400">
                          <a:solidFill>
                            <a:schemeClr val="tx1"/>
                          </a:solidFill>
                        </a:rPr>
                        <a:t>CJ8G Transaction Common Errors</a:t>
                      </a:r>
                    </a:p>
                  </a:txBody>
                  <a:tcPr/>
                </a:tc>
                <a:tc>
                  <a:txBody>
                    <a:bodyPr/>
                    <a:lstStyle/>
                    <a:p>
                      <a:r>
                        <a:rPr lang="en-GB" sz="1400">
                          <a:solidFill>
                            <a:schemeClr val="tx1"/>
                          </a:solidFill>
                        </a:rPr>
                        <a:t>Error Reason</a:t>
                      </a:r>
                    </a:p>
                  </a:txBody>
                  <a:tcPr/>
                </a:tc>
                <a:tc>
                  <a:txBody>
                    <a:bodyPr/>
                    <a:lstStyle/>
                    <a:p>
                      <a:r>
                        <a:rPr lang="en-GB" sz="1400">
                          <a:solidFill>
                            <a:schemeClr val="tx1"/>
                          </a:solidFill>
                        </a:rPr>
                        <a:t>Error Resolution</a:t>
                      </a:r>
                    </a:p>
                  </a:txBody>
                  <a:tcPr/>
                </a:tc>
                <a:extLst>
                  <a:ext uri="{0D108BD9-81ED-4DB2-BD59-A6C34878D82A}">
                    <a16:rowId xmlns:a16="http://schemas.microsoft.com/office/drawing/2014/main" val="4189051396"/>
                  </a:ext>
                </a:extLst>
              </a:tr>
              <a:tr h="976768">
                <a:tc>
                  <a:txBody>
                    <a:bodyPr/>
                    <a:lstStyle/>
                    <a:p>
                      <a:pPr algn="l" fontAlgn="ctr"/>
                      <a:r>
                        <a:rPr lang="en-US" sz="1100" b="0" i="0" u="none" strike="noStrike" dirty="0">
                          <a:solidFill>
                            <a:srgbClr val="000000"/>
                          </a:solidFill>
                          <a:effectLst/>
                          <a:latin typeface="+mj-lt"/>
                        </a:rPr>
                        <a:t>Project XXXXXX is currently being processed by XXXXXX.</a:t>
                      </a:r>
                      <a:endParaRPr lang="en-GB" sz="1100" b="0" i="0" u="none" strike="noStrike" dirty="0">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It means that during settlement a user has the project open and therefore locked the project to settlement task. Settlement will not be executed for locked tasks. </a:t>
                      </a:r>
                    </a:p>
                  </a:txBody>
                  <a:tcPr marL="72000" marR="9525" marT="9525" marB="0" anchor="ctr"/>
                </a:tc>
                <a:tc>
                  <a:txBody>
                    <a:bodyPr/>
                    <a:lstStyle/>
                    <a:p>
                      <a:pPr algn="l" fontAlgn="ctr"/>
                      <a:r>
                        <a:rPr lang="en-US" sz="1100" b="0" i="0" u="none" strike="noStrike" dirty="0">
                          <a:solidFill>
                            <a:srgbClr val="000000"/>
                          </a:solidFill>
                          <a:effectLst/>
                          <a:latin typeface="+mj-lt"/>
                        </a:rPr>
                        <a:t>GL Team should send an email to the respective user who is currently processing the Project to close this Project in SAP. Post receiving confirmation proceed to re-run FCC task or wait until next execution of the same task.</a:t>
                      </a:r>
                      <a:endParaRPr lang="en-GB"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4044074264"/>
                  </a:ext>
                </a:extLst>
              </a:tr>
              <a:tr h="784203">
                <a:tc>
                  <a:txBody>
                    <a:bodyPr/>
                    <a:lstStyle/>
                    <a:p>
                      <a:pPr algn="l" fontAlgn="ctr"/>
                      <a:r>
                        <a:rPr lang="en-US" sz="1100" b="0" i="0" u="none" strike="noStrike">
                          <a:solidFill>
                            <a:srgbClr val="000000"/>
                          </a:solidFill>
                          <a:effectLst/>
                          <a:latin typeface="+mj-lt"/>
                        </a:rPr>
                        <a:t>Maintain the settlement rule of the sender.</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Some WBSs do not require settlement. For others that do require settlement, settlement rules should be maintained to correctly settle those WBS.  </a:t>
                      </a:r>
                    </a:p>
                  </a:txBody>
                  <a:tcPr marL="72000" marR="9525" marT="9525" marB="0" anchor="ctr"/>
                </a:tc>
                <a:tc>
                  <a:txBody>
                    <a:bodyPr/>
                    <a:lstStyle/>
                    <a:p>
                      <a:pPr marL="171450" indent="-171450" algn="l" fontAlgn="ctr">
                        <a:buFont typeface="Arial" panose="020B0604020202020204" pitchFamily="34" charset="0"/>
                        <a:buChar char="•"/>
                      </a:pPr>
                      <a:r>
                        <a:rPr lang="en-US" sz="1100" b="0" i="0" u="none" strike="noStrike" dirty="0">
                          <a:solidFill>
                            <a:srgbClr val="000000"/>
                          </a:solidFill>
                          <a:effectLst/>
                          <a:latin typeface="+mj-lt"/>
                        </a:rPr>
                        <a:t>GL Team to inform Market that settlement rule maintenance is required. (</a:t>
                      </a:r>
                      <a:r>
                        <a:rPr lang="en-US" sz="1100" b="0" i="0" u="none" strike="noStrike" noProof="0" dirty="0">
                          <a:solidFill>
                            <a:srgbClr val="000000"/>
                          </a:solidFill>
                          <a:effectLst/>
                          <a:latin typeface="Arial"/>
                        </a:rPr>
                        <a:t>NB: the settlement rule should be Full (not Periodic))</a:t>
                      </a:r>
                    </a:p>
                    <a:p>
                      <a:pPr marL="171450" indent="-171450" algn="l" fontAlgn="ctr">
                        <a:buFont typeface="Arial" panose="020B0604020202020204" pitchFamily="34" charset="0"/>
                        <a:buChar char="•"/>
                      </a:pPr>
                      <a:r>
                        <a:rPr lang="en-US" sz="1100" b="0" i="0" u="none" strike="noStrike" dirty="0">
                          <a:solidFill>
                            <a:srgbClr val="000000"/>
                          </a:solidFill>
                          <a:effectLst/>
                          <a:latin typeface="+mj-lt"/>
                        </a:rPr>
                        <a:t>After Market update the Settlement rule, JTBC GL Team  can re-run FCC task or wait until next execution of the same task and </a:t>
                      </a:r>
                      <a:r>
                        <a:rPr lang="en-US" sz="1100" b="0" i="0" u="none" strike="noStrike" kern="1200" dirty="0">
                          <a:solidFill>
                            <a:srgbClr val="000000"/>
                          </a:solidFill>
                          <a:effectLst/>
                          <a:latin typeface="+mn-lt"/>
                          <a:ea typeface="+mn-ea"/>
                          <a:cs typeface="+mn-cs"/>
                        </a:rPr>
                        <a:t>change the status to checked.</a:t>
                      </a:r>
                      <a:endParaRPr lang="en-US"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1382605948"/>
                  </a:ext>
                </a:extLst>
              </a:tr>
              <a:tr h="976768">
                <a:tc>
                  <a:txBody>
                    <a:bodyPr/>
                    <a:lstStyle/>
                    <a:p>
                      <a:pPr algn="l" fontAlgn="ctr"/>
                      <a:r>
                        <a:rPr lang="en-GB" sz="1100" b="0" i="0" u="none" strike="noStrike">
                          <a:solidFill>
                            <a:srgbClr val="000000"/>
                          </a:solidFill>
                          <a:effectLst/>
                          <a:latin typeface="+mj-lt"/>
                        </a:rPr>
                        <a:t>Predecessor Generate Final Branded WBS Settlement rule CJB1 (W of task Run Final Branded WBS Settlement CJ8G (WD1) has status 'In Process'; task Run Final Branded WBS Settlement CJ8G (WD1) cancelled</a:t>
                      </a:r>
                    </a:p>
                  </a:txBody>
                  <a:tcPr marL="72000" marR="9525" marT="9525" marB="0" anchor="ctr"/>
                </a:tc>
                <a:tc>
                  <a:txBody>
                    <a:bodyPr/>
                    <a:lstStyle/>
                    <a:p>
                      <a:pPr algn="l" fontAlgn="ctr"/>
                      <a:r>
                        <a:rPr lang="en-US" sz="1100" b="0" i="0" u="none" strike="noStrike">
                          <a:solidFill>
                            <a:srgbClr val="000000"/>
                          </a:solidFill>
                          <a:effectLst/>
                          <a:latin typeface="+mj-lt"/>
                        </a:rPr>
                        <a:t>A predecessor step for the current task has status 'In Process', the predecessor step must have completed status before proceeding. </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dirty="0">
                          <a:solidFill>
                            <a:srgbClr val="000000"/>
                          </a:solidFill>
                          <a:effectLst/>
                          <a:latin typeface="+mj-lt"/>
                        </a:rPr>
                        <a:t>Re-run the task when the predecessor task has been completed and marked with green status.</a:t>
                      </a:r>
                      <a:endParaRPr lang="en-GB"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2136769508"/>
                  </a:ext>
                </a:extLst>
              </a:tr>
              <a:tr h="594403">
                <a:tc>
                  <a:txBody>
                    <a:bodyPr/>
                    <a:lstStyle/>
                    <a:p>
                      <a:pPr algn="l" fontAlgn="ctr"/>
                      <a:r>
                        <a:rPr lang="en-US" sz="1100" b="0" i="0" u="none" strike="noStrike">
                          <a:solidFill>
                            <a:srgbClr val="000000"/>
                          </a:solidFill>
                          <a:effectLst/>
                          <a:latin typeface="+mj-lt"/>
                        </a:rPr>
                        <a:t>System status **** is active (WBS...)</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The WBS element from the message has status different than REL (Released).</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dirty="0">
                          <a:solidFill>
                            <a:srgbClr val="000000"/>
                          </a:solidFill>
                          <a:effectLst/>
                          <a:latin typeface="+mj-lt"/>
                        </a:rPr>
                        <a:t>If market has locked the WBS then it is ok to proceed - change the status to checked. </a:t>
                      </a:r>
                    </a:p>
                    <a:p>
                      <a:pPr lvl="0" algn="l">
                        <a:buNone/>
                      </a:pPr>
                      <a:r>
                        <a:rPr lang="en-US" sz="1100" b="0" i="0" u="none" strike="noStrike" dirty="0">
                          <a:solidFill>
                            <a:srgbClr val="000000"/>
                          </a:solidFill>
                          <a:effectLst/>
                          <a:latin typeface="+mj-lt"/>
                        </a:rPr>
                        <a:t>Ask market to check WBS status if it has not been locked by them. </a:t>
                      </a:r>
                    </a:p>
                  </a:txBody>
                  <a:tcPr marL="72000" marR="9525" marT="9525" marB="0" anchor="ctr"/>
                </a:tc>
                <a:extLst>
                  <a:ext uri="{0D108BD9-81ED-4DB2-BD59-A6C34878D82A}">
                    <a16:rowId xmlns:a16="http://schemas.microsoft.com/office/drawing/2014/main" val="4015071510"/>
                  </a:ext>
                </a:extLst>
              </a:tr>
              <a:tr h="1169926">
                <a:tc>
                  <a:txBody>
                    <a:bodyPr/>
                    <a:lstStyle/>
                    <a:p>
                      <a:pPr algn="l" fontAlgn="ctr"/>
                      <a:r>
                        <a:rPr lang="en-US" sz="1100" b="0" i="0" u="none" strike="noStrike">
                          <a:solidFill>
                            <a:srgbClr val="000000"/>
                          </a:solidFill>
                          <a:effectLst/>
                          <a:latin typeface="+mj-lt"/>
                        </a:rPr>
                        <a:t>Check the closed period XXXX for variant 1000 and GL account XXXX</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1. GL COGS accounts closed earlier (WD1 18:00) than start time of WBS settlement (WD1 21:00). OR                                                          </a:t>
                      </a:r>
                      <a:endParaRPr lang="en-GB" sz="1100" b="0" i="0" u="none" strike="noStrike">
                        <a:solidFill>
                          <a:srgbClr val="000000"/>
                        </a:solidFill>
                        <a:effectLst/>
                        <a:latin typeface="+mj-lt"/>
                      </a:endParaRPr>
                    </a:p>
                    <a:p>
                      <a:pPr lvl="0" algn="l">
                        <a:buNone/>
                      </a:pPr>
                      <a:r>
                        <a:rPr lang="en-US" sz="1100" b="0" i="0" u="none" strike="noStrike">
                          <a:solidFill>
                            <a:srgbClr val="000000"/>
                          </a:solidFill>
                          <a:effectLst/>
                          <a:latin typeface="+mj-lt"/>
                        </a:rPr>
                        <a:t> 2.Document posted in all ledgers after WBS settlement for IFRS on WD3.</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dirty="0">
                          <a:solidFill>
                            <a:srgbClr val="000000"/>
                          </a:solidFill>
                          <a:effectLst/>
                          <a:latin typeface="+mj-lt"/>
                        </a:rPr>
                        <a:t>1. If the error appears on during tasks performed on WD1, WD2, or WD3 please check if the GL account has been closed prior to the WBS settlement run. If this is the case, please contact market to change the account.</a:t>
                      </a:r>
                      <a:endParaRPr lang="en-GB" sz="1100" b="0" i="0" u="none" strike="noStrike" dirty="0">
                        <a:solidFill>
                          <a:srgbClr val="000000"/>
                        </a:solidFill>
                        <a:effectLst/>
                        <a:latin typeface="+mj-lt"/>
                      </a:endParaRPr>
                    </a:p>
                    <a:p>
                      <a:pPr lvl="0" algn="l">
                        <a:buNone/>
                      </a:pPr>
                      <a:r>
                        <a:rPr lang="en-US" sz="1100" b="0" i="0" u="none" strike="noStrike" dirty="0">
                          <a:solidFill>
                            <a:srgbClr val="000000"/>
                          </a:solidFill>
                          <a:effectLst/>
                          <a:latin typeface="+mj-lt"/>
                        </a:rPr>
                        <a:t> 2. If the error appears on WD5 during WBS settlement for STAT/TAX ledgers, it means GL document was posted after WBS settlement for IFRS ledger on WD3. No action is required and the document will be settled in the next period.</a:t>
                      </a:r>
                      <a:endParaRPr lang="en-GB"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736856673"/>
                  </a:ext>
                </a:extLst>
              </a:tr>
            </a:tbl>
          </a:graphicData>
        </a:graphic>
      </p:graphicFrame>
      <p:sp>
        <p:nvSpPr>
          <p:cNvPr id="7" name="Title 1">
            <a:extLst>
              <a:ext uri="{FF2B5EF4-FFF2-40B4-BE49-F238E27FC236}">
                <a16:creationId xmlns:a16="http://schemas.microsoft.com/office/drawing/2014/main" id="{A1663910-E4C1-365B-84FB-7A741F589D78}"/>
              </a:ext>
            </a:extLst>
          </p:cNvPr>
          <p:cNvSpPr>
            <a:spLocks noGrp="1"/>
          </p:cNvSpPr>
          <p:nvPr>
            <p:ph type="title"/>
          </p:nvPr>
        </p:nvSpPr>
        <p:spPr>
          <a:xfrm>
            <a:off x="1530348" y="280942"/>
            <a:ext cx="8607951" cy="982662"/>
          </a:xfrm>
        </p:spPr>
        <p:txBody>
          <a:bodyPr/>
          <a:lstStyle/>
          <a:p>
            <a:r>
              <a:rPr lang="en-US" sz="2800" cap="none" dirty="0"/>
              <a:t>Above Brand Contribution WBS Settlement </a:t>
            </a:r>
            <a:r>
              <a:rPr lang="en-GB" sz="2800" cap="none" dirty="0"/>
              <a:t>– Common Errors</a:t>
            </a:r>
            <a:endParaRPr lang="en-GB" sz="2800" dirty="0"/>
          </a:p>
        </p:txBody>
      </p:sp>
    </p:spTree>
    <p:extLst>
      <p:ext uri="{BB962C8B-B14F-4D97-AF65-F5344CB8AC3E}">
        <p14:creationId xmlns:p14="http://schemas.microsoft.com/office/powerpoint/2010/main" val="2634642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endParaRPr lang="en-GB"/>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Internal Order Settlement (Leaf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000000"/>
                </a:solidFill>
                <a:latin typeface="Arial" charset="0"/>
                <a:cs typeface="Arial" charset="0"/>
              </a:rPr>
              <a:t>Above Brand Contribution (ABC) </a:t>
            </a:r>
          </a:p>
          <a:p>
            <a:pPr algn="ctr"/>
            <a:r>
              <a:rPr lang="en-US" sz="1400" b="1">
                <a:solidFill>
                  <a:srgbClr val="000000"/>
                </a:solidFill>
                <a:latin typeface="Arial" charset="0"/>
                <a:cs typeface="Arial" charset="0"/>
              </a:rPr>
              <a:t>WBS Settlement / Allocation</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Cost Center Distribution and Assessment</a:t>
            </a:r>
            <a:endParaRPr lang="en-US" sz="1400" b="1">
              <a:solidFill>
                <a:srgbClr val="FFFFFF"/>
              </a:solidFill>
              <a:latin typeface="Arial" panose="020B0604020202020204"/>
              <a:cs typeface="Arial"/>
            </a:endParaRP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Rounded Rectangle 39">
            <a:extLst>
              <a:ext uri="{FF2B5EF4-FFF2-40B4-BE49-F238E27FC236}">
                <a16:creationId xmlns:a16="http://schemas.microsoft.com/office/drawing/2014/main" id="{E1B1C907-8A78-ED5E-793B-2226DFC27F8D}"/>
              </a:ext>
            </a:extLst>
          </p:cNvPr>
          <p:cNvSpPr/>
          <p:nvPr/>
        </p:nvSpPr>
        <p:spPr>
          <a:xfrm>
            <a:off x="9073614" y="1656450"/>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Branded WBS Settlement</a:t>
            </a:r>
          </a:p>
        </p:txBody>
      </p:sp>
      <p:sp>
        <p:nvSpPr>
          <p:cNvPr id="4" name="Rounded Rectangle 39">
            <a:extLst>
              <a:ext uri="{FF2B5EF4-FFF2-40B4-BE49-F238E27FC236}">
                <a16:creationId xmlns:a16="http://schemas.microsoft.com/office/drawing/2014/main" id="{4687564E-E96A-86F7-5D80-741180F4925E}"/>
              </a:ext>
            </a:extLst>
          </p:cNvPr>
          <p:cNvSpPr/>
          <p:nvPr/>
        </p:nvSpPr>
        <p:spPr>
          <a:xfrm>
            <a:off x="9088392" y="2401627"/>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FFFFFF"/>
                </a:solidFill>
                <a:cs typeface="Arial"/>
              </a:rPr>
              <a:t>Multi-brand </a:t>
            </a:r>
            <a:r>
              <a:rPr lang="en-US" sz="1400" b="1">
                <a:solidFill>
                  <a:srgbClr val="FFFFFF"/>
                </a:solidFill>
                <a:cs typeface="Arial"/>
              </a:rPr>
              <a:t>WBS Settlement</a:t>
            </a:r>
            <a:endParaRPr lang="en-US" sz="1400" b="1" dirty="0">
              <a:solidFill>
                <a:srgbClr val="FFFFFF"/>
              </a:solidFill>
              <a:cs typeface="Arial"/>
            </a:endParaRPr>
          </a:p>
        </p:txBody>
      </p:sp>
      <p:cxnSp>
        <p:nvCxnSpPr>
          <p:cNvPr id="5" name="Elbow Connector 4">
            <a:extLst>
              <a:ext uri="{FF2B5EF4-FFF2-40B4-BE49-F238E27FC236}">
                <a16:creationId xmlns:a16="http://schemas.microsoft.com/office/drawing/2014/main" id="{D8E487DB-CC40-ECC2-445A-DE394D2D13C6}"/>
              </a:ext>
            </a:extLst>
          </p:cNvPr>
          <p:cNvCxnSpPr>
            <a:cxnSpLocks/>
            <a:endCxn id="2" idx="1"/>
          </p:cNvCxnSpPr>
          <p:nvPr/>
        </p:nvCxnSpPr>
        <p:spPr>
          <a:xfrm flipV="1">
            <a:off x="8436815" y="1908297"/>
            <a:ext cx="636799" cy="5104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 name="Elbow Connector 7">
            <a:extLst>
              <a:ext uri="{FF2B5EF4-FFF2-40B4-BE49-F238E27FC236}">
                <a16:creationId xmlns:a16="http://schemas.microsoft.com/office/drawing/2014/main" id="{D5F5D747-F5DA-212E-14C6-7A945A9AA765}"/>
              </a:ext>
            </a:extLst>
          </p:cNvPr>
          <p:cNvCxnSpPr>
            <a:cxnSpLocks/>
            <a:endCxn id="4" idx="1"/>
          </p:cNvCxnSpPr>
          <p:nvPr/>
        </p:nvCxnSpPr>
        <p:spPr>
          <a:xfrm>
            <a:off x="8436815" y="2418746"/>
            <a:ext cx="651577" cy="23472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 name="Rounded Rectangle 39">
            <a:extLst>
              <a:ext uri="{FF2B5EF4-FFF2-40B4-BE49-F238E27FC236}">
                <a16:creationId xmlns:a16="http://schemas.microsoft.com/office/drawing/2014/main" id="{898E38CF-4490-321D-E63B-6949D348FE6E}"/>
              </a:ext>
            </a:extLst>
          </p:cNvPr>
          <p:cNvSpPr/>
          <p:nvPr/>
        </p:nvSpPr>
        <p:spPr>
          <a:xfrm>
            <a:off x="9073614" y="3236158"/>
            <a:ext cx="2489390"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dirty="0">
                <a:solidFill>
                  <a:srgbClr val="000000"/>
                </a:solidFill>
                <a:latin typeface="Arial" charset="0"/>
                <a:cs typeface="Arial" charset="0"/>
              </a:rPr>
              <a:t>Custom Multi-brand WBS Allocation</a:t>
            </a:r>
          </a:p>
        </p:txBody>
      </p:sp>
      <p:cxnSp>
        <p:nvCxnSpPr>
          <p:cNvPr id="9" name="Elbow Connector 7">
            <a:extLst>
              <a:ext uri="{FF2B5EF4-FFF2-40B4-BE49-F238E27FC236}">
                <a16:creationId xmlns:a16="http://schemas.microsoft.com/office/drawing/2014/main" id="{5A143DD6-AFA6-DCFA-535C-A80E0D252068}"/>
              </a:ext>
            </a:extLst>
          </p:cNvPr>
          <p:cNvCxnSpPr>
            <a:cxnSpLocks/>
            <a:endCxn id="8" idx="1"/>
          </p:cNvCxnSpPr>
          <p:nvPr/>
        </p:nvCxnSpPr>
        <p:spPr>
          <a:xfrm>
            <a:off x="8436815" y="2418746"/>
            <a:ext cx="636799" cy="106925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046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A2A2F5-41C9-4747-81BE-5B45CCFB26A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49080" y="1555988"/>
            <a:ext cx="6736081" cy="1965228"/>
          </a:xfrm>
          <a:prstGeom prst="rect">
            <a:avLst/>
          </a:prstGeom>
          <a:effectLst>
            <a:outerShdw blurRad="63500" sx="102000" sy="102000" algn="ctr"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a:spcAft>
                <a:spcPts val="1000"/>
              </a:spcAft>
            </a:pPr>
            <a:r>
              <a:rPr lang="en-US" dirty="0"/>
              <a:t>Custom Multi-branded WBS Allocation: Execution </a:t>
            </a:r>
            <a:r>
              <a:rPr lang="en-US" sz="1800" b="0" i="1" dirty="0">
                <a:solidFill>
                  <a:schemeClr val="bg1">
                    <a:lumMod val="50000"/>
                  </a:schemeClr>
                </a:solidFill>
                <a:latin typeface="Georgia" panose="02040502050405020303" pitchFamily="18" charset="0"/>
              </a:rPr>
              <a:t>(ZFFIR_POST_ALLOC_PS)</a:t>
            </a:r>
            <a:endParaRPr lang="en-GB" sz="1800" b="0" i="1" dirty="0">
              <a:solidFill>
                <a:schemeClr val="bg1">
                  <a:lumMod val="50000"/>
                </a:schemeClr>
              </a:solidFill>
              <a:latin typeface="Georgia" panose="02040502050405020303" pitchFamily="18" charset="0"/>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84EF2CCB-4520-47A9-B9D0-18AB7759B1AF}"/>
              </a:ext>
            </a:extLst>
          </p:cNvPr>
          <p:cNvPicPr>
            <a:picLocks noChangeAspect="1"/>
          </p:cNvPicPr>
          <p:nvPr/>
        </p:nvPicPr>
        <p:blipFill>
          <a:blip r:embed="rId5"/>
          <a:stretch>
            <a:fillRect/>
          </a:stretch>
        </p:blipFill>
        <p:spPr>
          <a:xfrm>
            <a:off x="7306796" y="1397205"/>
            <a:ext cx="4369265" cy="2358224"/>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C6FCB5E3-DB47-406A-931A-6DDFCB5EBAF4}"/>
              </a:ext>
            </a:extLst>
          </p:cNvPr>
          <p:cNvPicPr>
            <a:picLocks noChangeAspect="1"/>
          </p:cNvPicPr>
          <p:nvPr/>
        </p:nvPicPr>
        <p:blipFill>
          <a:blip r:embed="rId6"/>
          <a:stretch>
            <a:fillRect/>
          </a:stretch>
        </p:blipFill>
        <p:spPr>
          <a:xfrm>
            <a:off x="4903856" y="4541206"/>
            <a:ext cx="6999308" cy="1843329"/>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D1F85CE6-BF10-4887-98E1-547A1F380B91}"/>
              </a:ext>
            </a:extLst>
          </p:cNvPr>
          <p:cNvSpPr/>
          <p:nvPr/>
        </p:nvSpPr>
        <p:spPr>
          <a:xfrm>
            <a:off x="298920" y="3710838"/>
            <a:ext cx="4422414" cy="400110"/>
          </a:xfrm>
          <a:prstGeom prst="rect">
            <a:avLst/>
          </a:prstGeom>
          <a:noFill/>
        </p:spPr>
        <p:txBody>
          <a:bodyPr wrap="square">
            <a:spAutoFit/>
          </a:bodyPr>
          <a:lstStyle/>
          <a:p>
            <a:pPr lvl="0">
              <a:lnSpc>
                <a:spcPts val="1200"/>
              </a:lnSpc>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Multi-brand WBS Allocation </a:t>
            </a:r>
          </a:p>
          <a:p>
            <a:pPr lvl="0">
              <a:lnSpc>
                <a:spcPts val="1200"/>
              </a:lnSpc>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 Execution </a:t>
            </a:r>
            <a:r>
              <a:rPr lang="en-GB" sz="1200" b="1" i="1" u="sng">
                <a:solidFill>
                  <a:srgbClr val="000000"/>
                </a:solidFill>
                <a:latin typeface="Georgia" panose="02040502050405020303" pitchFamily="18" charset="0"/>
              </a:rPr>
              <a:t>via ZFFIR_POST_ALLOC_PS:</a:t>
            </a:r>
            <a:endPar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9" name="Rectangle 8">
            <a:extLst>
              <a:ext uri="{FF2B5EF4-FFF2-40B4-BE49-F238E27FC236}">
                <a16:creationId xmlns:a16="http://schemas.microsoft.com/office/drawing/2014/main" id="{A1B02E18-B226-4929-86CF-C328BBF0551D}"/>
              </a:ext>
            </a:extLst>
          </p:cNvPr>
          <p:cNvSpPr/>
          <p:nvPr/>
        </p:nvSpPr>
        <p:spPr>
          <a:xfrm>
            <a:off x="243556" y="4110948"/>
            <a:ext cx="4569076" cy="2631490"/>
          </a:xfrm>
          <a:prstGeom prst="rect">
            <a:avLst/>
          </a:prstGeom>
          <a:solidFill>
            <a:schemeClr val="bg1"/>
          </a:solidFill>
        </p:spPr>
        <p:txBody>
          <a:bodyPr wrap="square">
            <a:spAutoFit/>
          </a:bodyPr>
          <a:lstStyle/>
          <a:p>
            <a:pPr marL="171450" lvl="0" indent="-171450">
              <a:lnSpc>
                <a:spcPts val="1200"/>
              </a:lnSpc>
              <a:spcBef>
                <a:spcPts val="600"/>
              </a:spcBef>
              <a:buFont typeface="Arial" panose="020B0604020202020204" pitchFamily="34" charset="0"/>
              <a:buChar char="•"/>
              <a:defRPr/>
            </a:pPr>
            <a:r>
              <a:rPr lang="en-GB" sz="1100" i="1" dirty="0">
                <a:latin typeface="Georgia" panose="02040502050405020303" pitchFamily="18" charset="0"/>
              </a:rPr>
              <a:t>The automated program for multi-brand WBS allocations have features to determine how the costs should be allocated, and whether the allocation will impact SKU (plus all characteristics derived from SKU) or brand family and product type </a:t>
            </a:r>
            <a:r>
              <a:rPr lang="en-GB" sz="1100" i="1" baseline="30000" dirty="0">
                <a:solidFill>
                  <a:srgbClr val="FF0000"/>
                </a:solidFill>
                <a:latin typeface="Georgia" panose="02040502050405020303" pitchFamily="18" charset="0"/>
              </a:rPr>
              <a:t>1)</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This is an automated task in FCC. If you execute it outside of FCC you should use the same variant as stated in the FCC task. As the variant is using the standard variable for Company Code , you should always review/amend the Company Code field.</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The </a:t>
            </a:r>
            <a:r>
              <a:rPr lang="en-GB" sz="1100" b="1" i="1" dirty="0">
                <a:latin typeface="Georgia" panose="02040502050405020303" pitchFamily="18" charset="0"/>
              </a:rPr>
              <a:t>output</a:t>
            </a:r>
            <a:r>
              <a:rPr lang="en-GB" sz="1100" i="1" dirty="0">
                <a:latin typeface="Georgia" panose="02040502050405020303" pitchFamily="18" charset="0"/>
              </a:rPr>
              <a:t> of the program shows the base of allocation, how much already distributed and how much should be distributed in the current period, as well as which product type and brand family are going to receive the distributed amounts.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b="1" i="1" dirty="0">
                <a:latin typeface="Georgia" panose="02040502050405020303" pitchFamily="18" charset="0"/>
              </a:rPr>
              <a:t>Test run </a:t>
            </a:r>
            <a:r>
              <a:rPr lang="en-GB" sz="1100" i="1" dirty="0">
                <a:latin typeface="Georgia" panose="02040502050405020303" pitchFamily="18" charset="0"/>
              </a:rPr>
              <a:t>of this allows entity users to check if the calculation is done as expected before GBS/JTBC executes the transaction at period end.</a:t>
            </a:r>
          </a:p>
        </p:txBody>
      </p:sp>
      <p:sp>
        <p:nvSpPr>
          <p:cNvPr id="10" name="TextBox 9">
            <a:extLst>
              <a:ext uri="{FF2B5EF4-FFF2-40B4-BE49-F238E27FC236}">
                <a16:creationId xmlns:a16="http://schemas.microsoft.com/office/drawing/2014/main" id="{74913FB0-CF5A-4E20-8C13-CB0C2A406EAE}"/>
              </a:ext>
            </a:extLst>
          </p:cNvPr>
          <p:cNvSpPr txBox="1"/>
          <p:nvPr/>
        </p:nvSpPr>
        <p:spPr>
          <a:xfrm>
            <a:off x="7133923" y="6445232"/>
            <a:ext cx="4144877" cy="434828"/>
          </a:xfrm>
          <a:prstGeom prst="rect">
            <a:avLst/>
          </a:prstGeom>
          <a:solidFill>
            <a:schemeClr val="bg1"/>
          </a:solidFill>
        </p:spPr>
        <p:txBody>
          <a:bodyPr wrap="square" lIns="0" tIns="0" rIns="0" bIns="0" rtlCol="0" anchor="t">
            <a:noAutofit/>
          </a:bodyPr>
          <a:lstStyle/>
          <a:p>
            <a:r>
              <a:rPr lang="en-US" sz="900" i="1" baseline="30000">
                <a:solidFill>
                  <a:srgbClr val="FF0000"/>
                </a:solidFill>
              </a:rPr>
              <a:t>1) </a:t>
            </a:r>
            <a:r>
              <a:rPr lang="en-US" sz="900" i="1"/>
              <a:t>Please refer to Controlling ABC WBS course materials for details of these features, how to execute the program and all the Allocation Keys.</a:t>
            </a:r>
          </a:p>
        </p:txBody>
      </p:sp>
      <p:sp>
        <p:nvSpPr>
          <p:cNvPr id="11" name="Rectangle: Rounded Corners 10">
            <a:extLst>
              <a:ext uri="{FF2B5EF4-FFF2-40B4-BE49-F238E27FC236}">
                <a16:creationId xmlns:a16="http://schemas.microsoft.com/office/drawing/2014/main" id="{1E33BB48-605B-44BD-9179-5427334196CF}"/>
              </a:ext>
            </a:extLst>
          </p:cNvPr>
          <p:cNvSpPr/>
          <p:nvPr/>
        </p:nvSpPr>
        <p:spPr>
          <a:xfrm>
            <a:off x="515940" y="2490405"/>
            <a:ext cx="1534242" cy="16255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2D4AE28-26EE-4194-A626-B861D7CE364B}"/>
              </a:ext>
            </a:extLst>
          </p:cNvPr>
          <p:cNvSpPr/>
          <p:nvPr/>
        </p:nvSpPr>
        <p:spPr>
          <a:xfrm>
            <a:off x="5346745" y="3377901"/>
            <a:ext cx="1516067" cy="14331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F69FF108-83DB-40DF-9916-143CA8E09CA1}"/>
              </a:ext>
            </a:extLst>
          </p:cNvPr>
          <p:cNvSpPr/>
          <p:nvPr/>
        </p:nvSpPr>
        <p:spPr>
          <a:xfrm>
            <a:off x="349883" y="1358838"/>
            <a:ext cx="224032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11E9AB74-CE27-410A-9E59-CC1AED17D604}"/>
              </a:ext>
            </a:extLst>
          </p:cNvPr>
          <p:cNvSpPr/>
          <p:nvPr/>
        </p:nvSpPr>
        <p:spPr>
          <a:xfrm>
            <a:off x="9727779" y="1397204"/>
            <a:ext cx="1218895" cy="159469"/>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51B38ED1-0255-4CF4-87B5-334A0D98237B}"/>
              </a:ext>
            </a:extLst>
          </p:cNvPr>
          <p:cNvCxnSpPr>
            <a:cxnSpLocks/>
            <a:stCxn id="12" idx="3"/>
          </p:cNvCxnSpPr>
          <p:nvPr/>
        </p:nvCxnSpPr>
        <p:spPr>
          <a:xfrm flipV="1">
            <a:off x="6862812" y="2690437"/>
            <a:ext cx="388427" cy="75912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F72E1-A34A-44CE-B47E-1F70434D4A8E}"/>
              </a:ext>
            </a:extLst>
          </p:cNvPr>
          <p:cNvCxnSpPr>
            <a:cxnSpLocks/>
          </p:cNvCxnSpPr>
          <p:nvPr/>
        </p:nvCxnSpPr>
        <p:spPr>
          <a:xfrm flipH="1">
            <a:off x="9501051" y="3509554"/>
            <a:ext cx="165463" cy="992777"/>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Speech Bubble: Rectangle 17">
            <a:extLst>
              <a:ext uri="{FF2B5EF4-FFF2-40B4-BE49-F238E27FC236}">
                <a16:creationId xmlns:a16="http://schemas.microsoft.com/office/drawing/2014/main" id="{BA7EFC9B-7DC9-4F44-8B03-30C9CD3357F3}"/>
              </a:ext>
            </a:extLst>
          </p:cNvPr>
          <p:cNvSpPr/>
          <p:nvPr/>
        </p:nvSpPr>
        <p:spPr>
          <a:xfrm>
            <a:off x="4721334" y="3711432"/>
            <a:ext cx="4422414" cy="829773"/>
          </a:xfrm>
          <a:prstGeom prst="wedgeRectCallout">
            <a:avLst>
              <a:gd name="adj1" fmla="val -7423"/>
              <a:gd name="adj2" fmla="val -69475"/>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100" i="1" dirty="0">
              <a:solidFill>
                <a:schemeClr val="tx1"/>
              </a:solidFill>
              <a:latin typeface="Georgia" panose="02040502050405020303" pitchFamily="18" charset="0"/>
            </a:endParaRPr>
          </a:p>
          <a:p>
            <a:pPr>
              <a:lnSpc>
                <a:spcPts val="1200"/>
              </a:lnSpc>
              <a:spcBef>
                <a:spcPts val="600"/>
              </a:spcBef>
              <a:defRPr/>
            </a:pPr>
            <a:r>
              <a:rPr lang="en-US" sz="1100" i="1" dirty="0">
                <a:solidFill>
                  <a:schemeClr val="tx1"/>
                </a:solidFill>
                <a:latin typeface="Georgia" panose="02040502050405020303" pitchFamily="18" charset="0"/>
              </a:rPr>
              <a:t>This task is scheduled at entity level for GBS Warsaw and St. Pete entities (due to dependencies), while at GBS/JTBC level for KL. Regardless of which level, the variants use the SAP standard variable for Company Code. This means you must review/amend the Company Code field when using it outside of FCC. </a:t>
            </a:r>
          </a:p>
          <a:p>
            <a:pPr>
              <a:lnSpc>
                <a:spcPts val="1200"/>
              </a:lnSpc>
              <a:spcBef>
                <a:spcPts val="600"/>
              </a:spcBef>
              <a:defRPr/>
            </a:pPr>
            <a:endParaRPr lang="en-US" sz="1100" i="1" dirty="0">
              <a:solidFill>
                <a:schemeClr val="tx1"/>
              </a:solidFill>
              <a:latin typeface="Georgia" panose="02040502050405020303" pitchFamily="18" charset="0"/>
            </a:endParaRPr>
          </a:p>
        </p:txBody>
      </p:sp>
    </p:spTree>
    <p:extLst>
      <p:ext uri="{BB962C8B-B14F-4D97-AF65-F5344CB8AC3E}">
        <p14:creationId xmlns:p14="http://schemas.microsoft.com/office/powerpoint/2010/main" val="410940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stwangw\AppData\Local\Temp\SNAGHTML86cbdf.PNG">
            <a:extLst>
              <a:ext uri="{FF2B5EF4-FFF2-40B4-BE49-F238E27FC236}">
                <a16:creationId xmlns:a16="http://schemas.microsoft.com/office/drawing/2014/main" id="{06E115C9-6AB8-488A-AC37-3A0FBD90F57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25473" y="1365771"/>
            <a:ext cx="7753915" cy="328935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767523" cy="984247"/>
          </a:xfrm>
        </p:spPr>
        <p:txBody>
          <a:bodyPr/>
          <a:lstStyle/>
          <a:p>
            <a:r>
              <a:rPr lang="en-US" dirty="0"/>
              <a:t>Custom Multi-branded WBS Allocation: Postings </a:t>
            </a:r>
            <a:br>
              <a:rPr lang="en-US" dirty="0"/>
            </a:br>
            <a:r>
              <a:rPr lang="en-US" sz="1800" b="0" i="1" dirty="0">
                <a:solidFill>
                  <a:schemeClr val="bg1">
                    <a:lumMod val="50000"/>
                  </a:schemeClr>
                </a:solidFill>
                <a:latin typeface="Georgia" panose="02040502050405020303" pitchFamily="18" charset="0"/>
              </a:rPr>
              <a:t>Type 1: </a:t>
            </a:r>
            <a:r>
              <a:rPr lang="en-GB" sz="1600" b="0" i="1" dirty="0">
                <a:solidFill>
                  <a:schemeClr val="bg1">
                    <a:lumMod val="50000"/>
                  </a:schemeClr>
                </a:solidFill>
                <a:latin typeface="Georgia" panose="02040502050405020303" pitchFamily="18" charset="0"/>
              </a:rPr>
              <a:t>WBS to PSG (Profitability Segment) (with brand family / product type / SKU populated)</a:t>
            </a:r>
            <a:endParaRPr lang="en-US" sz="1600" b="0" i="1" dirty="0">
              <a:solidFill>
                <a:schemeClr val="bg1">
                  <a:lumMod val="50000"/>
                </a:schemeClr>
              </a:solidFill>
              <a:latin typeface="Georgia" panose="02040502050405020303" pitchFamily="18" charset="0"/>
            </a:endParaRPr>
          </a:p>
        </p:txBody>
      </p:sp>
      <p:sp>
        <p:nvSpPr>
          <p:cNvPr id="10" name="Rectangle: Rounded Corners 9">
            <a:extLst>
              <a:ext uri="{FF2B5EF4-FFF2-40B4-BE49-F238E27FC236}">
                <a16:creationId xmlns:a16="http://schemas.microsoft.com/office/drawing/2014/main" id="{6F0CF82E-8411-4E68-99FF-655C32EC8ACF}"/>
              </a:ext>
            </a:extLst>
          </p:cNvPr>
          <p:cNvSpPr/>
          <p:nvPr/>
        </p:nvSpPr>
        <p:spPr>
          <a:xfrm>
            <a:off x="525473" y="1365771"/>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a:t>
            </a:r>
          </a:p>
        </p:txBody>
      </p:sp>
      <p:sp>
        <p:nvSpPr>
          <p:cNvPr id="11" name="Rectangle: Rounded Corners 10">
            <a:extLst>
              <a:ext uri="{FF2B5EF4-FFF2-40B4-BE49-F238E27FC236}">
                <a16:creationId xmlns:a16="http://schemas.microsoft.com/office/drawing/2014/main" id="{4DA26BE5-1AA5-49AA-A061-117A7072207F}"/>
              </a:ext>
            </a:extLst>
          </p:cNvPr>
          <p:cNvSpPr/>
          <p:nvPr/>
        </p:nvSpPr>
        <p:spPr>
          <a:xfrm>
            <a:off x="2510444" y="1775780"/>
            <a:ext cx="955963"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E8DEEE8F-CF50-4377-916E-371718094FCC}"/>
              </a:ext>
            </a:extLst>
          </p:cNvPr>
          <p:cNvSpPr/>
          <p:nvPr/>
        </p:nvSpPr>
        <p:spPr>
          <a:xfrm>
            <a:off x="7540058" y="1409351"/>
            <a:ext cx="1579004" cy="1739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8B019097-ED07-46ED-ACFC-10F8353BDAE5}"/>
              </a:ext>
            </a:extLst>
          </p:cNvPr>
          <p:cNvSpPr/>
          <p:nvPr/>
        </p:nvSpPr>
        <p:spPr>
          <a:xfrm>
            <a:off x="426715" y="4650667"/>
            <a:ext cx="8825350" cy="1938992"/>
          </a:xfrm>
          <a:prstGeom prst="rect">
            <a:avLst/>
          </a:prstGeom>
          <a:noFill/>
        </p:spPr>
        <p:txBody>
          <a:bodyPr wrap="square" anchor="t">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Multi-branded WBS Allocation – Postings – Type 1 WBS to PSG:</a:t>
            </a:r>
          </a:p>
          <a:p>
            <a:pPr marL="171450" indent="-171450">
              <a:lnSpc>
                <a:spcPts val="1200"/>
              </a:lnSpc>
              <a:spcBef>
                <a:spcPts val="600"/>
              </a:spcBef>
              <a:buFont typeface="Arial" panose="020B0604020202020204" pitchFamily="34" charset="0"/>
              <a:buChar char="•"/>
              <a:defRPr/>
            </a:pPr>
            <a:r>
              <a:rPr lang="en-GB" sz="1100" i="1">
                <a:solidFill>
                  <a:srgbClr val="000000"/>
                </a:solidFill>
                <a:latin typeface="Georgia"/>
              </a:rPr>
              <a:t>The Multi-branded WBS allocation for WBS to PSG allocation document have the following features. These are determined by the details maintained in the WBS element, which are explained in the </a:t>
            </a:r>
            <a:r>
              <a:rPr lang="en-GB" sz="1100" b="1" i="1">
                <a:solidFill>
                  <a:srgbClr val="000000"/>
                </a:solidFill>
                <a:latin typeface="Georgia"/>
              </a:rPr>
              <a:t>Controlling ABC WBS course</a:t>
            </a:r>
            <a:r>
              <a:rPr lang="en-GB" sz="1100" i="1">
                <a:solidFill>
                  <a:srgbClr val="000000"/>
                </a:solidFill>
                <a:latin typeface="Georgia"/>
              </a:rPr>
              <a:t>. </a:t>
            </a:r>
            <a:endParaRPr lang="en-GB" sz="1100" i="1">
              <a:solidFill>
                <a:srgbClr val="000000"/>
              </a:solidFill>
              <a:latin typeface="Georgia" panose="02040502050405020303" pitchFamily="18" charset="0"/>
            </a:endParaRPr>
          </a:p>
          <a:p>
            <a:pPr marL="628650" lvl="1" indent="-171450">
              <a:lnSpc>
                <a:spcPts val="1200"/>
              </a:lnSpc>
              <a:spcBef>
                <a:spcPts val="600"/>
              </a:spcBef>
              <a:buFont typeface="Arial" panose="020B0604020202020204" pitchFamily="34" charset="0"/>
              <a:buChar char="•"/>
              <a:defRPr/>
            </a:pPr>
            <a:r>
              <a:rPr lang="en-GB" sz="1050" b="1" i="1">
                <a:solidFill>
                  <a:srgbClr val="000000"/>
                </a:solidFill>
                <a:latin typeface="Georgia" panose="02040502050405020303" pitchFamily="18" charset="0"/>
              </a:rPr>
              <a:t>Same P&amp;L account, amount, Profit Center, Functional Area</a:t>
            </a:r>
            <a:r>
              <a:rPr lang="en-GB" sz="1050" i="1">
                <a:solidFill>
                  <a:srgbClr val="000000"/>
                </a:solidFill>
                <a:latin typeface="Georgia" panose="02040502050405020303" pitchFamily="18" charset="0"/>
              </a:rPr>
              <a:t>,  on both debit and credit side.</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You will notice from the fields </a:t>
            </a:r>
            <a:r>
              <a:rPr lang="en-GB" sz="1050" b="1" i="1">
                <a:solidFill>
                  <a:srgbClr val="000000"/>
                </a:solidFill>
                <a:latin typeface="Georgia" panose="02040502050405020303" pitchFamily="18" charset="0"/>
              </a:rPr>
              <a:t>Account Assignment </a:t>
            </a:r>
            <a:r>
              <a:rPr lang="en-GB" sz="1050" i="1">
                <a:solidFill>
                  <a:srgbClr val="000000"/>
                </a:solidFill>
                <a:latin typeface="Georgia" panose="02040502050405020303" pitchFamily="18" charset="0"/>
              </a:rPr>
              <a:t>and </a:t>
            </a:r>
            <a:r>
              <a:rPr lang="en-GB" sz="1050" b="1" i="1">
                <a:solidFill>
                  <a:srgbClr val="000000"/>
                </a:solidFill>
                <a:latin typeface="Georgia" panose="02040502050405020303" pitchFamily="18" charset="0"/>
              </a:rPr>
              <a:t>Account Assignment Category</a:t>
            </a:r>
            <a:r>
              <a:rPr lang="en-GB" sz="1050" i="1">
                <a:solidFill>
                  <a:srgbClr val="000000"/>
                </a:solidFill>
                <a:latin typeface="Georgia" panose="02040502050405020303" pitchFamily="18" charset="0"/>
              </a:rPr>
              <a:t>, that the costs are moved </a:t>
            </a:r>
            <a:r>
              <a:rPr lang="en-GB" sz="1050" b="1" i="1">
                <a:solidFill>
                  <a:srgbClr val="000000"/>
                </a:solidFill>
                <a:latin typeface="Georgia" panose="02040502050405020303" pitchFamily="18" charset="0"/>
              </a:rPr>
              <a:t>from WBS to PSG </a:t>
            </a:r>
            <a:r>
              <a:rPr lang="en-GB" sz="1050" i="1">
                <a:solidFill>
                  <a:srgbClr val="000000"/>
                </a:solidFill>
                <a:latin typeface="Georgia" panose="02040502050405020303" pitchFamily="18" charset="0"/>
              </a:rPr>
              <a:t>(Profitability Segment).</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Each line item posted to PSG contain different </a:t>
            </a:r>
            <a:r>
              <a:rPr lang="en-GB" sz="1050" b="1" i="1">
                <a:solidFill>
                  <a:srgbClr val="000000"/>
                </a:solidFill>
                <a:latin typeface="Georgia" panose="02040502050405020303" pitchFamily="18" charset="0"/>
              </a:rPr>
              <a:t>Product Type </a:t>
            </a:r>
            <a:r>
              <a:rPr lang="en-GB" sz="1050" i="1">
                <a:solidFill>
                  <a:srgbClr val="000000"/>
                </a:solidFill>
                <a:latin typeface="Georgia" panose="02040502050405020303" pitchFamily="18" charset="0"/>
              </a:rPr>
              <a:t>and </a:t>
            </a:r>
            <a:r>
              <a:rPr lang="en-GB" sz="1050" b="1" i="1">
                <a:solidFill>
                  <a:srgbClr val="000000"/>
                </a:solidFill>
                <a:latin typeface="Georgia" panose="02040502050405020303" pitchFamily="18" charset="0"/>
              </a:rPr>
              <a:t>Brand Family </a:t>
            </a:r>
            <a:r>
              <a:rPr lang="en-GB" sz="1050" i="1">
                <a:solidFill>
                  <a:srgbClr val="000000"/>
                </a:solidFill>
                <a:latin typeface="Georgia" panose="02040502050405020303" pitchFamily="18" charset="0"/>
              </a:rPr>
              <a:t>based on YTD net revenues/volumes.</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Postings are made in </a:t>
            </a:r>
            <a:r>
              <a:rPr lang="en-GB" sz="1050" b="1" i="1">
                <a:solidFill>
                  <a:srgbClr val="000000"/>
                </a:solidFill>
                <a:latin typeface="Georgia" panose="02040502050405020303" pitchFamily="18" charset="0"/>
              </a:rPr>
              <a:t>IFRS ledger only</a:t>
            </a:r>
            <a:r>
              <a:rPr lang="en-GB" sz="1050" i="1">
                <a:solidFill>
                  <a:srgbClr val="000000"/>
                </a:solidFill>
                <a:latin typeface="Georgia" panose="02040502050405020303" pitchFamily="18" charset="0"/>
              </a:rPr>
              <a:t>.</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Postings are made with </a:t>
            </a:r>
            <a:r>
              <a:rPr lang="en-GB" sz="1050" b="1" i="1">
                <a:solidFill>
                  <a:srgbClr val="000000"/>
                </a:solidFill>
                <a:latin typeface="Georgia" panose="02040502050405020303" pitchFamily="18" charset="0"/>
              </a:rPr>
              <a:t>Document Type XW</a:t>
            </a:r>
            <a:r>
              <a:rPr lang="en-GB" sz="1050" i="1">
                <a:solidFill>
                  <a:srgbClr val="000000"/>
                </a:solidFill>
                <a:latin typeface="Georgia" panose="02040502050405020303" pitchFamily="18" charset="0"/>
              </a:rPr>
              <a:t>.</a:t>
            </a:r>
          </a:p>
          <a:p>
            <a:pPr marL="628650" lvl="1" indent="-171450">
              <a:lnSpc>
                <a:spcPts val="1200"/>
              </a:lnSpc>
              <a:buFont typeface="Arial" panose="020B0604020202020204" pitchFamily="34" charset="0"/>
              <a:buChar char="•"/>
              <a:defRPr/>
            </a:pPr>
            <a:r>
              <a:rPr lang="en-GB" sz="1050" i="1">
                <a:solidFill>
                  <a:srgbClr val="000000"/>
                </a:solidFill>
                <a:latin typeface="Georgia" panose="02040502050405020303" pitchFamily="18" charset="0"/>
              </a:rPr>
              <a:t>These documents </a:t>
            </a:r>
            <a:r>
              <a:rPr lang="en-GB" sz="1050" b="1" i="1">
                <a:solidFill>
                  <a:srgbClr val="000000"/>
                </a:solidFill>
                <a:latin typeface="Georgia" panose="02040502050405020303" pitchFamily="18" charset="0"/>
              </a:rPr>
              <a:t>do not have an Entry View </a:t>
            </a:r>
            <a:r>
              <a:rPr lang="en-GB" sz="1050" i="1">
                <a:solidFill>
                  <a:srgbClr val="000000"/>
                </a:solidFill>
                <a:latin typeface="Georgia" panose="02040502050405020303" pitchFamily="18" charset="0"/>
              </a:rPr>
              <a:t>so when you display them via FB03 or FB03L, you are taken to the Ledger View (as above) straight away.</a:t>
            </a:r>
            <a:endParaRPr lang="en-GB" sz="1100" i="1">
              <a:solidFill>
                <a:srgbClr val="000000"/>
              </a:solidFill>
              <a:latin typeface="Georgia" panose="02040502050405020303" pitchFamily="18" charset="0"/>
            </a:endParaRPr>
          </a:p>
        </p:txBody>
      </p:sp>
      <p:pic>
        <p:nvPicPr>
          <p:cNvPr id="7" name="Picture 6">
            <a:extLst>
              <a:ext uri="{FF2B5EF4-FFF2-40B4-BE49-F238E27FC236}">
                <a16:creationId xmlns:a16="http://schemas.microsoft.com/office/drawing/2014/main" id="{4E4002E8-D0A9-41E1-A65E-FA6308C2A74F}"/>
              </a:ext>
            </a:extLst>
          </p:cNvPr>
          <p:cNvPicPr>
            <a:picLocks noChangeAspect="1"/>
          </p:cNvPicPr>
          <p:nvPr/>
        </p:nvPicPr>
        <p:blipFill>
          <a:blip r:embed="rId4"/>
          <a:stretch>
            <a:fillRect/>
          </a:stretch>
        </p:blipFill>
        <p:spPr>
          <a:xfrm>
            <a:off x="9433097" y="4466710"/>
            <a:ext cx="2495667" cy="2053397"/>
          </a:xfrm>
          <a:prstGeom prst="rect">
            <a:avLst/>
          </a:prstGeom>
          <a:ln>
            <a:solidFill>
              <a:srgbClr val="FF0000"/>
            </a:solidFill>
          </a:ln>
          <a:effectLst>
            <a:outerShdw blurRad="50800" dist="38100" dir="10800000" algn="r" rotWithShape="0">
              <a:prstClr val="black">
                <a:alpha val="40000"/>
              </a:prstClr>
            </a:outerShdw>
          </a:effectLst>
        </p:spPr>
      </p:pic>
      <p:pic>
        <p:nvPicPr>
          <p:cNvPr id="8" name="Picture 7">
            <a:extLst>
              <a:ext uri="{FF2B5EF4-FFF2-40B4-BE49-F238E27FC236}">
                <a16:creationId xmlns:a16="http://schemas.microsoft.com/office/drawing/2014/main" id="{6E174BA3-36E0-47D2-BD6D-DC5438767BA0}"/>
              </a:ext>
            </a:extLst>
          </p:cNvPr>
          <p:cNvPicPr>
            <a:picLocks noChangeAspect="1"/>
          </p:cNvPicPr>
          <p:nvPr/>
        </p:nvPicPr>
        <p:blipFill>
          <a:blip r:embed="rId5"/>
          <a:stretch>
            <a:fillRect/>
          </a:stretch>
        </p:blipFill>
        <p:spPr>
          <a:xfrm>
            <a:off x="6287731" y="1365771"/>
            <a:ext cx="2892366" cy="2477548"/>
          </a:xfrm>
          <a:prstGeom prst="rect">
            <a:avLst/>
          </a:prstGeom>
          <a:ln>
            <a:solidFill>
              <a:srgbClr val="FF0000"/>
            </a:solidFill>
          </a:ln>
          <a:effectLst>
            <a:outerShdw blurRad="50800" dist="38100" dir="10800000" algn="r" rotWithShape="0">
              <a:prstClr val="black">
                <a:alpha val="40000"/>
              </a:prstClr>
            </a:outerShdw>
          </a:effectLst>
        </p:spPr>
      </p:pic>
      <p:pic>
        <p:nvPicPr>
          <p:cNvPr id="6" name="Picture 5">
            <a:extLst>
              <a:ext uri="{FF2B5EF4-FFF2-40B4-BE49-F238E27FC236}">
                <a16:creationId xmlns:a16="http://schemas.microsoft.com/office/drawing/2014/main" id="{0B6007B2-F6A7-4CAE-97C1-A3F90FD3D1E9}"/>
              </a:ext>
            </a:extLst>
          </p:cNvPr>
          <p:cNvPicPr>
            <a:picLocks noChangeAspect="1"/>
          </p:cNvPicPr>
          <p:nvPr/>
        </p:nvPicPr>
        <p:blipFill>
          <a:blip r:embed="rId6"/>
          <a:stretch>
            <a:fillRect/>
          </a:stretch>
        </p:blipFill>
        <p:spPr>
          <a:xfrm>
            <a:off x="8452576" y="2573388"/>
            <a:ext cx="3739424" cy="1827025"/>
          </a:xfrm>
          <a:prstGeom prst="rect">
            <a:avLst/>
          </a:prstGeom>
          <a:ln>
            <a:solidFill>
              <a:srgbClr val="FF0000"/>
            </a:solidFill>
          </a:ln>
          <a:effectLst>
            <a:outerShdw blurRad="50800" dist="38100" dir="10800000" algn="r" rotWithShape="0">
              <a:prstClr val="black">
                <a:alpha val="40000"/>
              </a:prstClr>
            </a:outerShdw>
          </a:effectLst>
        </p:spPr>
      </p:pic>
      <p:cxnSp>
        <p:nvCxnSpPr>
          <p:cNvPr id="13" name="Straight Arrow Connector 12">
            <a:extLst>
              <a:ext uri="{FF2B5EF4-FFF2-40B4-BE49-F238E27FC236}">
                <a16:creationId xmlns:a16="http://schemas.microsoft.com/office/drawing/2014/main" id="{989C91A8-80BA-41BD-A2A1-F1BBA9C3C7A4}"/>
              </a:ext>
            </a:extLst>
          </p:cNvPr>
          <p:cNvCxnSpPr>
            <a:cxnSpLocks/>
            <a:stCxn id="11" idx="3"/>
          </p:cNvCxnSpPr>
          <p:nvPr/>
        </p:nvCxnSpPr>
        <p:spPr>
          <a:xfrm flipV="1">
            <a:off x="3466407" y="1840945"/>
            <a:ext cx="3039769" cy="4358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730A7F2B-63BD-4EC2-BB69-1322C704CBE4}"/>
              </a:ext>
            </a:extLst>
          </p:cNvPr>
          <p:cNvSpPr/>
          <p:nvPr/>
        </p:nvSpPr>
        <p:spPr>
          <a:xfrm>
            <a:off x="6506176" y="1701274"/>
            <a:ext cx="1291162" cy="1739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0AF01A2D-9C78-4BB4-8CC1-6D9BC5A59F88}"/>
              </a:ext>
            </a:extLst>
          </p:cNvPr>
          <p:cNvSpPr/>
          <p:nvPr/>
        </p:nvSpPr>
        <p:spPr>
          <a:xfrm>
            <a:off x="792480" y="4247803"/>
            <a:ext cx="7486908" cy="15261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2" name="Straight Arrow Connector 21">
            <a:extLst>
              <a:ext uri="{FF2B5EF4-FFF2-40B4-BE49-F238E27FC236}">
                <a16:creationId xmlns:a16="http://schemas.microsoft.com/office/drawing/2014/main" id="{F376D3D2-2403-47CE-8730-E1AAF2353BF2}"/>
              </a:ext>
            </a:extLst>
          </p:cNvPr>
          <p:cNvCxnSpPr>
            <a:cxnSpLocks/>
            <a:endCxn id="6" idx="1"/>
          </p:cNvCxnSpPr>
          <p:nvPr/>
        </p:nvCxnSpPr>
        <p:spPr>
          <a:xfrm flipV="1">
            <a:off x="8279388" y="3486901"/>
            <a:ext cx="173188" cy="76090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18F71D5D-724B-4FD7-899F-1392E43BCDFE}"/>
              </a:ext>
            </a:extLst>
          </p:cNvPr>
          <p:cNvSpPr/>
          <p:nvPr/>
        </p:nvSpPr>
        <p:spPr>
          <a:xfrm>
            <a:off x="10499056" y="4192090"/>
            <a:ext cx="779744" cy="14870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C612CAFA-3E84-410A-AD66-306EF87BB228}"/>
              </a:ext>
            </a:extLst>
          </p:cNvPr>
          <p:cNvSpPr/>
          <p:nvPr/>
        </p:nvSpPr>
        <p:spPr>
          <a:xfrm>
            <a:off x="9433099" y="5893723"/>
            <a:ext cx="1714269" cy="29925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6" name="Straight Arrow Connector 25">
            <a:extLst>
              <a:ext uri="{FF2B5EF4-FFF2-40B4-BE49-F238E27FC236}">
                <a16:creationId xmlns:a16="http://schemas.microsoft.com/office/drawing/2014/main" id="{D8F54C24-A33C-4BE5-9BC0-4F395A729F32}"/>
              </a:ext>
            </a:extLst>
          </p:cNvPr>
          <p:cNvCxnSpPr/>
          <p:nvPr/>
        </p:nvCxnSpPr>
        <p:spPr>
          <a:xfrm flipH="1">
            <a:off x="10989425" y="4324171"/>
            <a:ext cx="91440" cy="142539"/>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9C0E54AD-4700-4FFA-AA35-69EEEFDC04AB}"/>
              </a:ext>
            </a:extLst>
          </p:cNvPr>
          <p:cNvSpPr/>
          <p:nvPr/>
        </p:nvSpPr>
        <p:spPr>
          <a:xfrm>
            <a:off x="7515119" y="3867094"/>
            <a:ext cx="739330" cy="66615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54399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008AF0-A217-4549-BA54-52EBD580F73A}"/>
              </a:ext>
            </a:extLst>
          </p:cNvPr>
          <p:cNvPicPr>
            <a:picLocks noChangeAspect="1"/>
          </p:cNvPicPr>
          <p:nvPr/>
        </p:nvPicPr>
        <p:blipFill>
          <a:blip r:embed="rId2"/>
          <a:stretch>
            <a:fillRect/>
          </a:stretch>
        </p:blipFill>
        <p:spPr>
          <a:xfrm>
            <a:off x="525473" y="1376099"/>
            <a:ext cx="7260483" cy="3090611"/>
          </a:xfrm>
          <a:prstGeom prst="rect">
            <a:avLst/>
          </a:prstGeom>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10680723" cy="984247"/>
          </a:xfrm>
        </p:spPr>
        <p:txBody>
          <a:bodyPr/>
          <a:lstStyle/>
          <a:p>
            <a:r>
              <a:rPr lang="en-US" dirty="0"/>
              <a:t>Custom Multi-brand WBS Allocation – Postings </a:t>
            </a:r>
            <a:br>
              <a:rPr lang="en-US" dirty="0"/>
            </a:br>
            <a:r>
              <a:rPr lang="en-US" sz="1800" b="0" i="1" dirty="0">
                <a:solidFill>
                  <a:schemeClr val="bg1">
                    <a:lumMod val="50000"/>
                  </a:schemeClr>
                </a:solidFill>
                <a:latin typeface="Georgia"/>
              </a:rPr>
              <a:t>Type 2 – PSG (Profitability Segment) to PSG</a:t>
            </a:r>
          </a:p>
        </p:txBody>
      </p:sp>
      <p:sp>
        <p:nvSpPr>
          <p:cNvPr id="14" name="Rectangle: Rounded Corners 13">
            <a:extLst>
              <a:ext uri="{FF2B5EF4-FFF2-40B4-BE49-F238E27FC236}">
                <a16:creationId xmlns:a16="http://schemas.microsoft.com/office/drawing/2014/main" id="{4D5DA614-9D28-40BA-A8DF-77A4B95A1193}"/>
              </a:ext>
            </a:extLst>
          </p:cNvPr>
          <p:cNvSpPr/>
          <p:nvPr/>
        </p:nvSpPr>
        <p:spPr>
          <a:xfrm>
            <a:off x="525473" y="1365771"/>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a:t>
            </a:r>
          </a:p>
        </p:txBody>
      </p:sp>
      <p:sp>
        <p:nvSpPr>
          <p:cNvPr id="15" name="Rectangle: Rounded Corners 14">
            <a:extLst>
              <a:ext uri="{FF2B5EF4-FFF2-40B4-BE49-F238E27FC236}">
                <a16:creationId xmlns:a16="http://schemas.microsoft.com/office/drawing/2014/main" id="{13A610FF-72DC-499E-BFCC-5B191989BD2E}"/>
              </a:ext>
            </a:extLst>
          </p:cNvPr>
          <p:cNvSpPr/>
          <p:nvPr/>
        </p:nvSpPr>
        <p:spPr>
          <a:xfrm>
            <a:off x="2510444" y="1775780"/>
            <a:ext cx="955963"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0DF3FC43-510B-428D-A732-66E5B7734E58}"/>
              </a:ext>
            </a:extLst>
          </p:cNvPr>
          <p:cNvSpPr/>
          <p:nvPr/>
        </p:nvSpPr>
        <p:spPr>
          <a:xfrm>
            <a:off x="7540058" y="1409351"/>
            <a:ext cx="1579004" cy="1739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D5B30A16-A347-4C4A-838B-C9312C902331}"/>
              </a:ext>
            </a:extLst>
          </p:cNvPr>
          <p:cNvCxnSpPr>
            <a:cxnSpLocks/>
            <a:stCxn id="15" idx="3"/>
          </p:cNvCxnSpPr>
          <p:nvPr/>
        </p:nvCxnSpPr>
        <p:spPr>
          <a:xfrm flipV="1">
            <a:off x="3466407" y="1840945"/>
            <a:ext cx="3039769" cy="4358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B8D1B84D-97FB-4FA5-94E3-3CC0D8824FC5}"/>
              </a:ext>
            </a:extLst>
          </p:cNvPr>
          <p:cNvSpPr/>
          <p:nvPr/>
        </p:nvSpPr>
        <p:spPr>
          <a:xfrm>
            <a:off x="792480" y="3958285"/>
            <a:ext cx="6993476" cy="17391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Rectangle: Rounded Corners 29">
            <a:extLst>
              <a:ext uri="{FF2B5EF4-FFF2-40B4-BE49-F238E27FC236}">
                <a16:creationId xmlns:a16="http://schemas.microsoft.com/office/drawing/2014/main" id="{A89CBF8C-8640-4F70-829F-E81B6DCC38A1}"/>
              </a:ext>
            </a:extLst>
          </p:cNvPr>
          <p:cNvSpPr/>
          <p:nvPr/>
        </p:nvSpPr>
        <p:spPr>
          <a:xfrm>
            <a:off x="7135001" y="3782067"/>
            <a:ext cx="669474" cy="66615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45DD3E01-CADF-47DB-B5EA-360D446CF13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641584" y="1351109"/>
            <a:ext cx="2832696" cy="2425668"/>
          </a:xfrm>
          <a:prstGeom prst="rect">
            <a:avLst/>
          </a:prstGeom>
          <a:effectLst>
            <a:outerShdw blurRad="50800" dist="38100" dir="10800000" algn="r" rotWithShape="0">
              <a:prstClr val="black">
                <a:alpha val="40000"/>
              </a:prstClr>
            </a:outerShdw>
          </a:effectLst>
        </p:spPr>
      </p:pic>
      <p:sp>
        <p:nvSpPr>
          <p:cNvPr id="24" name="Rectangle: Rounded Corners 23">
            <a:extLst>
              <a:ext uri="{FF2B5EF4-FFF2-40B4-BE49-F238E27FC236}">
                <a16:creationId xmlns:a16="http://schemas.microsoft.com/office/drawing/2014/main" id="{B0A0DEDA-6A10-40BF-A37A-08E31FE4714B}"/>
              </a:ext>
            </a:extLst>
          </p:cNvPr>
          <p:cNvSpPr/>
          <p:nvPr/>
        </p:nvSpPr>
        <p:spPr>
          <a:xfrm>
            <a:off x="6816558" y="1700511"/>
            <a:ext cx="1291162" cy="1739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6" name="Straight Arrow Connector 25">
            <a:extLst>
              <a:ext uri="{FF2B5EF4-FFF2-40B4-BE49-F238E27FC236}">
                <a16:creationId xmlns:a16="http://schemas.microsoft.com/office/drawing/2014/main" id="{62745393-30C8-46F2-B522-52408800BD61}"/>
              </a:ext>
            </a:extLst>
          </p:cNvPr>
          <p:cNvCxnSpPr>
            <a:cxnSpLocks/>
            <a:stCxn id="30" idx="3"/>
            <a:endCxn id="7" idx="1"/>
          </p:cNvCxnSpPr>
          <p:nvPr/>
        </p:nvCxnSpPr>
        <p:spPr>
          <a:xfrm flipV="1">
            <a:off x="7804475" y="3534421"/>
            <a:ext cx="1385611" cy="580726"/>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B7BCDEA8-E9E7-40C8-BDB6-8BA53281D012}"/>
              </a:ext>
            </a:extLst>
          </p:cNvPr>
          <p:cNvSpPr/>
          <p:nvPr/>
        </p:nvSpPr>
        <p:spPr>
          <a:xfrm>
            <a:off x="795649" y="4110685"/>
            <a:ext cx="6993476" cy="173910"/>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35" name="Straight Arrow Connector 34">
            <a:extLst>
              <a:ext uri="{FF2B5EF4-FFF2-40B4-BE49-F238E27FC236}">
                <a16:creationId xmlns:a16="http://schemas.microsoft.com/office/drawing/2014/main" id="{51B9D803-810F-483D-A9D8-1D595C8C44F0}"/>
              </a:ext>
            </a:extLst>
          </p:cNvPr>
          <p:cNvCxnSpPr>
            <a:cxnSpLocks/>
            <a:endCxn id="32" idx="1"/>
          </p:cNvCxnSpPr>
          <p:nvPr/>
        </p:nvCxnSpPr>
        <p:spPr>
          <a:xfrm>
            <a:off x="7785957" y="4249445"/>
            <a:ext cx="818835" cy="1391368"/>
          </a:xfrm>
          <a:prstGeom prst="straightConnector1">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348F9E92-F04D-4B84-BB22-BDA280224E88}"/>
              </a:ext>
            </a:extLst>
          </p:cNvPr>
          <p:cNvGrpSpPr/>
          <p:nvPr/>
        </p:nvGrpSpPr>
        <p:grpSpPr>
          <a:xfrm>
            <a:off x="9190086" y="2370368"/>
            <a:ext cx="2808315" cy="2328105"/>
            <a:chOff x="8909194" y="4466710"/>
            <a:chExt cx="2808315" cy="2328105"/>
          </a:xfrm>
        </p:grpSpPr>
        <p:pic>
          <p:nvPicPr>
            <p:cNvPr id="7" name="Picture 6">
              <a:extLst>
                <a:ext uri="{FF2B5EF4-FFF2-40B4-BE49-F238E27FC236}">
                  <a16:creationId xmlns:a16="http://schemas.microsoft.com/office/drawing/2014/main" id="{16F13925-DF3D-4BB1-B2CF-DF8B05F63384}"/>
                </a:ext>
              </a:extLst>
            </p:cNvPr>
            <p:cNvPicPr>
              <a:picLocks noChangeAspect="1"/>
            </p:cNvPicPr>
            <p:nvPr/>
          </p:nvPicPr>
          <p:blipFill>
            <a:blip r:embed="rId5"/>
            <a:stretch>
              <a:fillRect/>
            </a:stretch>
          </p:blipFill>
          <p:spPr>
            <a:xfrm>
              <a:off x="8909194" y="4466710"/>
              <a:ext cx="2808315" cy="2328105"/>
            </a:xfrm>
            <a:prstGeom prst="rect">
              <a:avLst/>
            </a:prstGeom>
            <a:ln>
              <a:solidFill>
                <a:srgbClr val="FF0000"/>
              </a:solidFill>
            </a:ln>
            <a:effectLst>
              <a:outerShdw blurRad="50800" dist="38100" dir="10800000" algn="r" rotWithShape="0">
                <a:prstClr val="black">
                  <a:alpha val="40000"/>
                </a:prstClr>
              </a:outerShdw>
            </a:effectLst>
          </p:spPr>
        </p:pic>
        <p:sp>
          <p:nvSpPr>
            <p:cNvPr id="28" name="Rectangle: Rounded Corners 27">
              <a:extLst>
                <a:ext uri="{FF2B5EF4-FFF2-40B4-BE49-F238E27FC236}">
                  <a16:creationId xmlns:a16="http://schemas.microsoft.com/office/drawing/2014/main" id="{4A29D012-43F7-4502-83CE-6743AAF77897}"/>
                </a:ext>
              </a:extLst>
            </p:cNvPr>
            <p:cNvSpPr/>
            <p:nvPr/>
          </p:nvSpPr>
          <p:spPr>
            <a:xfrm>
              <a:off x="8909194" y="6147572"/>
              <a:ext cx="1714269" cy="299259"/>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41" name="Group 40">
            <a:extLst>
              <a:ext uri="{FF2B5EF4-FFF2-40B4-BE49-F238E27FC236}">
                <a16:creationId xmlns:a16="http://schemas.microsoft.com/office/drawing/2014/main" id="{EB132958-5BF4-462E-BBD0-EBA0701DD8E3}"/>
              </a:ext>
            </a:extLst>
          </p:cNvPr>
          <p:cNvGrpSpPr/>
          <p:nvPr/>
        </p:nvGrpSpPr>
        <p:grpSpPr>
          <a:xfrm>
            <a:off x="8604792" y="4508860"/>
            <a:ext cx="2703784" cy="2263906"/>
            <a:chOff x="5923458" y="4464388"/>
            <a:chExt cx="2703784" cy="2263906"/>
          </a:xfrm>
        </p:grpSpPr>
        <p:pic>
          <p:nvPicPr>
            <p:cNvPr id="32" name="Picture 31">
              <a:extLst>
                <a:ext uri="{FF2B5EF4-FFF2-40B4-BE49-F238E27FC236}">
                  <a16:creationId xmlns:a16="http://schemas.microsoft.com/office/drawing/2014/main" id="{673970D0-1B29-40A7-A4B3-1674DAC54AB5}"/>
                </a:ext>
              </a:extLst>
            </p:cNvPr>
            <p:cNvPicPr>
              <a:picLocks noChangeAspect="1"/>
            </p:cNvPicPr>
            <p:nvPr/>
          </p:nvPicPr>
          <p:blipFill>
            <a:blip r:embed="rId6"/>
            <a:stretch>
              <a:fillRect/>
            </a:stretch>
          </p:blipFill>
          <p:spPr>
            <a:xfrm>
              <a:off x="5923458" y="4464388"/>
              <a:ext cx="2703784" cy="2263906"/>
            </a:xfrm>
            <a:prstGeom prst="rect">
              <a:avLst/>
            </a:prstGeom>
            <a:ln>
              <a:solidFill>
                <a:schemeClr val="accent6"/>
              </a:solidFill>
            </a:ln>
            <a:effectLst>
              <a:outerShdw blurRad="50800" dist="38100" dir="10800000" algn="r" rotWithShape="0">
                <a:prstClr val="black">
                  <a:alpha val="40000"/>
                </a:prstClr>
              </a:outerShdw>
            </a:effectLst>
          </p:spPr>
        </p:pic>
        <p:sp>
          <p:nvSpPr>
            <p:cNvPr id="38" name="Rectangle: Rounded Corners 37">
              <a:extLst>
                <a:ext uri="{FF2B5EF4-FFF2-40B4-BE49-F238E27FC236}">
                  <a16:creationId xmlns:a16="http://schemas.microsoft.com/office/drawing/2014/main" id="{DEF9636C-F62A-45E3-8474-48C36A5AD684}"/>
                </a:ext>
              </a:extLst>
            </p:cNvPr>
            <p:cNvSpPr/>
            <p:nvPr/>
          </p:nvSpPr>
          <p:spPr>
            <a:xfrm>
              <a:off x="5962638" y="6066546"/>
              <a:ext cx="1714269" cy="299259"/>
            </a:xfrm>
            <a:prstGeom prst="roundRect">
              <a:avLst>
                <a:gd name="adj" fmla="val 8504"/>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43" name="Rectangle 42">
            <a:extLst>
              <a:ext uri="{FF2B5EF4-FFF2-40B4-BE49-F238E27FC236}">
                <a16:creationId xmlns:a16="http://schemas.microsoft.com/office/drawing/2014/main" id="{1731C280-7CCC-402C-98C6-DD91CD3A0F65}"/>
              </a:ext>
            </a:extLst>
          </p:cNvPr>
          <p:cNvSpPr/>
          <p:nvPr/>
        </p:nvSpPr>
        <p:spPr>
          <a:xfrm>
            <a:off x="531941" y="4905305"/>
            <a:ext cx="8072851" cy="1246495"/>
          </a:xfrm>
          <a:prstGeom prst="rect">
            <a:avLst/>
          </a:prstGeom>
          <a:noFill/>
        </p:spPr>
        <p:txBody>
          <a:bodyPr wrap="square" anchor="t">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Multi-branded WBS Allocation– Postings – Type </a:t>
            </a:r>
            <a:r>
              <a:rPr lang="en-GB" sz="1200" b="1" i="1" u="sng">
                <a:solidFill>
                  <a:srgbClr val="000000"/>
                </a:solidFill>
                <a:latin typeface="Georgia" panose="02040502050405020303" pitchFamily="18" charset="0"/>
              </a:rPr>
              <a:t>2</a:t>
            </a: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 PSG to PSG:</a:t>
            </a:r>
          </a:p>
          <a:p>
            <a:pPr marL="171450" indent="-171450">
              <a:lnSpc>
                <a:spcPts val="1200"/>
              </a:lnSpc>
              <a:spcBef>
                <a:spcPts val="600"/>
              </a:spcBef>
              <a:buFont typeface="Arial" panose="020B0604020202020204" pitchFamily="34" charset="0"/>
              <a:buChar char="•"/>
              <a:defRPr/>
            </a:pPr>
            <a:r>
              <a:rPr lang="en-GB" sz="1100" i="1">
                <a:solidFill>
                  <a:srgbClr val="000000"/>
                </a:solidFill>
                <a:latin typeface="Georgia"/>
              </a:rPr>
              <a:t>The Multi-brand WBS allocation for PSG to PSG allocation documents are generated in the cases when there are already costs allocated to Profitability Analysis from prior periods which should be redistributed based on the parameters of the WBS elements. These are explained in detail. in the </a:t>
            </a:r>
            <a:r>
              <a:rPr lang="en-GB" sz="1100" b="1" i="1">
                <a:solidFill>
                  <a:srgbClr val="000000"/>
                </a:solidFill>
                <a:latin typeface="Georgia"/>
              </a:rPr>
              <a:t>Controlling ABC WBS course</a:t>
            </a:r>
            <a:r>
              <a:rPr lang="en-GB" sz="1100" i="1">
                <a:solidFill>
                  <a:srgbClr val="000000"/>
                </a:solidFill>
                <a:latin typeface="Georgia"/>
              </a:rPr>
              <a:t>. </a:t>
            </a:r>
            <a:endParaRPr lang="en-GB" sz="1100" i="1">
              <a:solidFill>
                <a:srgbClr val="000000"/>
              </a:solidFill>
              <a:latin typeface="Georgia" panose="02040502050405020303" pitchFamily="18" charset="0"/>
            </a:endParaRPr>
          </a:p>
          <a:p>
            <a:pPr marL="171450" lvl="0" indent="-171450">
              <a:lnSpc>
                <a:spcPts val="1200"/>
              </a:lnSpc>
              <a:spcBef>
                <a:spcPts val="600"/>
              </a:spcBef>
              <a:buFont typeface="Arial" panose="020B0604020202020204" pitchFamily="34" charset="0"/>
              <a:buChar char="•"/>
              <a:defRPr/>
            </a:pPr>
            <a:r>
              <a:rPr lang="en-GB" sz="1100" i="1">
                <a:solidFill>
                  <a:srgbClr val="000000"/>
                </a:solidFill>
                <a:latin typeface="Georgia" panose="02040502050405020303" pitchFamily="18" charset="0"/>
              </a:rPr>
              <a:t>The Type 2 postings share the same features as Type 1 postings.</a:t>
            </a:r>
          </a:p>
          <a:p>
            <a:pPr>
              <a:lnSpc>
                <a:spcPts val="1200"/>
              </a:lnSpc>
              <a:spcBef>
                <a:spcPts val="600"/>
              </a:spcBef>
              <a:defRPr/>
            </a:pPr>
            <a:endParaRPr lang="en-GB" sz="1200" b="1" i="1" u="sng">
              <a:solidFill>
                <a:srgbClr val="000000"/>
              </a:solidFill>
              <a:latin typeface="Georgia" panose="02040502050405020303" pitchFamily="18" charset="0"/>
            </a:endParaRPr>
          </a:p>
        </p:txBody>
      </p:sp>
    </p:spTree>
    <p:extLst>
      <p:ext uri="{BB962C8B-B14F-4D97-AF65-F5344CB8AC3E}">
        <p14:creationId xmlns:p14="http://schemas.microsoft.com/office/powerpoint/2010/main" val="3626943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27</a:t>
            </a:fld>
            <a:endParaRPr lang="en-GB"/>
          </a:p>
        </p:txBody>
      </p:sp>
      <p:graphicFrame>
        <p:nvGraphicFramePr>
          <p:cNvPr id="5" name="Table 6">
            <a:extLst>
              <a:ext uri="{FF2B5EF4-FFF2-40B4-BE49-F238E27FC236}">
                <a16:creationId xmlns:a16="http://schemas.microsoft.com/office/drawing/2014/main" id="{6A0284A3-BD75-CD31-FA50-2BA910012F72}"/>
              </a:ext>
            </a:extLst>
          </p:cNvPr>
          <p:cNvGraphicFramePr>
            <a:graphicFrameLocks noGrp="1"/>
          </p:cNvGraphicFramePr>
          <p:nvPr/>
        </p:nvGraphicFramePr>
        <p:xfrm>
          <a:off x="501546" y="1502030"/>
          <a:ext cx="11188908" cy="421776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77758">
                  <a:extLst>
                    <a:ext uri="{9D8B030D-6E8A-4147-A177-3AD203B41FA5}">
                      <a16:colId xmlns:a16="http://schemas.microsoft.com/office/drawing/2014/main" val="4175835808"/>
                    </a:ext>
                  </a:extLst>
                </a:gridCol>
                <a:gridCol w="2496710">
                  <a:extLst>
                    <a:ext uri="{9D8B030D-6E8A-4147-A177-3AD203B41FA5}">
                      <a16:colId xmlns:a16="http://schemas.microsoft.com/office/drawing/2014/main" val="3494736957"/>
                    </a:ext>
                  </a:extLst>
                </a:gridCol>
                <a:gridCol w="5814440">
                  <a:extLst>
                    <a:ext uri="{9D8B030D-6E8A-4147-A177-3AD203B41FA5}">
                      <a16:colId xmlns:a16="http://schemas.microsoft.com/office/drawing/2014/main" val="3274509539"/>
                    </a:ext>
                  </a:extLst>
                </a:gridCol>
              </a:tblGrid>
              <a:tr h="605066">
                <a:tc>
                  <a:txBody>
                    <a:bodyPr/>
                    <a:lstStyle/>
                    <a:p>
                      <a:r>
                        <a:rPr lang="en-GB" sz="1400">
                          <a:solidFill>
                            <a:schemeClr val="tx1"/>
                          </a:solidFill>
                        </a:rPr>
                        <a:t>ZFFIR_POST_ALLOC_PS Transaction Common Errors</a:t>
                      </a:r>
                    </a:p>
                  </a:txBody>
                  <a:tcPr/>
                </a:tc>
                <a:tc>
                  <a:txBody>
                    <a:bodyPr/>
                    <a:lstStyle/>
                    <a:p>
                      <a:r>
                        <a:rPr lang="en-GB" sz="1400">
                          <a:solidFill>
                            <a:schemeClr val="tx1"/>
                          </a:solidFill>
                        </a:rPr>
                        <a:t>Error Reason</a:t>
                      </a:r>
                    </a:p>
                  </a:txBody>
                  <a:tcPr/>
                </a:tc>
                <a:tc>
                  <a:txBody>
                    <a:bodyPr/>
                    <a:lstStyle/>
                    <a:p>
                      <a:r>
                        <a:rPr lang="en-GB" sz="1400">
                          <a:solidFill>
                            <a:schemeClr val="tx1"/>
                          </a:solidFill>
                        </a:rPr>
                        <a:t>Error Resolution</a:t>
                      </a:r>
                    </a:p>
                  </a:txBody>
                  <a:tcPr/>
                </a:tc>
                <a:extLst>
                  <a:ext uri="{0D108BD9-81ED-4DB2-BD59-A6C34878D82A}">
                    <a16:rowId xmlns:a16="http://schemas.microsoft.com/office/drawing/2014/main" val="4189051396"/>
                  </a:ext>
                </a:extLst>
              </a:tr>
              <a:tr h="1485453">
                <a:tc>
                  <a:txBody>
                    <a:bodyPr/>
                    <a:lstStyle/>
                    <a:p>
                      <a:pPr algn="l" fontAlgn="ctr"/>
                      <a:r>
                        <a:rPr lang="en-US" sz="1100" b="0" i="0" u="none" strike="noStrike">
                          <a:solidFill>
                            <a:srgbClr val="000000"/>
                          </a:solidFill>
                          <a:effectLst/>
                          <a:latin typeface="+mj-lt"/>
                        </a:rPr>
                        <a:t>Error in document XXXXX.</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Incorrect document type created </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dirty="0">
                          <a:solidFill>
                            <a:srgbClr val="000000"/>
                          </a:solidFill>
                          <a:effectLst/>
                          <a:latin typeface="+mj-lt"/>
                        </a:rPr>
                        <a:t>If the error log shows WBSs with error, GL Team should check if XW Document types are generated for these WBSs in T-Code FAGLL03 for the respective period. (e.g. 01.04.2023 to 30.04.2023). In order to run the report with document type criteria, user needs to use the dynamic selection function in FAGLL03, find the filter for Document type and enter XW. If XW Document types are not created for the WBS, WBS custom allocation was not executed for current period. In this case manual WBS custom allocation is required after issue resolution. </a:t>
                      </a:r>
                      <a:endParaRPr lang="en-GB"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4044074264"/>
                  </a:ext>
                </a:extLst>
              </a:tr>
              <a:tr h="432958">
                <a:tc>
                  <a:txBody>
                    <a:bodyPr/>
                    <a:lstStyle/>
                    <a:p>
                      <a:pPr algn="l" fontAlgn="ctr"/>
                      <a:r>
                        <a:rPr lang="en-US" sz="1100" b="0" i="0" u="none" strike="noStrike">
                          <a:solidFill>
                            <a:srgbClr val="000000"/>
                          </a:solidFill>
                          <a:effectLst/>
                          <a:latin typeface="+mj-lt"/>
                        </a:rPr>
                        <a:t>More than 999 receivers. Not possible to split doc with Cost center </a:t>
                      </a:r>
                      <a:r>
                        <a:rPr lang="en-US" sz="1100" b="0" i="0" u="none" strike="noStrike" err="1">
                          <a:solidFill>
                            <a:srgbClr val="000000"/>
                          </a:solidFill>
                          <a:effectLst/>
                          <a:latin typeface="+mj-lt"/>
                        </a:rPr>
                        <a:t>xxxxxx</a:t>
                      </a:r>
                      <a:endParaRPr lang="en-GB" sz="1100" b="0" i="0" u="none" strike="noStrike">
                        <a:solidFill>
                          <a:srgbClr val="000000"/>
                        </a:solidFill>
                        <a:effectLst/>
                        <a:latin typeface="+mj-lt"/>
                      </a:endParaRPr>
                    </a:p>
                  </a:txBody>
                  <a:tcPr marL="72000" marR="9525" marT="9525" marB="0" anchor="ctr"/>
                </a:tc>
                <a:tc>
                  <a:txBody>
                    <a:bodyPr/>
                    <a:lstStyle/>
                    <a:p>
                      <a:pPr algn="l" fontAlgn="ct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Ask market to change the distribution rule.</a:t>
                      </a:r>
                      <a:endParaRPr lang="en-GB" sz="1100" b="0" i="0" u="none" strike="noStrike">
                        <a:solidFill>
                          <a:srgbClr val="000000"/>
                        </a:solidFill>
                        <a:effectLst/>
                        <a:latin typeface="+mj-lt"/>
                      </a:endParaRPr>
                    </a:p>
                  </a:txBody>
                  <a:tcPr marL="72000" marR="9525" marT="9525" marB="0" anchor="ctr"/>
                </a:tc>
                <a:extLst>
                  <a:ext uri="{0D108BD9-81ED-4DB2-BD59-A6C34878D82A}">
                    <a16:rowId xmlns:a16="http://schemas.microsoft.com/office/drawing/2014/main" val="1382605948"/>
                  </a:ext>
                </a:extLst>
              </a:tr>
              <a:tr h="710335">
                <a:tc>
                  <a:txBody>
                    <a:bodyPr/>
                    <a:lstStyle/>
                    <a:p>
                      <a:pPr algn="l" fontAlgn="ctr"/>
                      <a:r>
                        <a:rPr lang="en-US" sz="1100" b="0" i="0" u="none" strike="noStrike">
                          <a:solidFill>
                            <a:srgbClr val="000000"/>
                          </a:solidFill>
                          <a:effectLst/>
                          <a:latin typeface="+mj-lt"/>
                        </a:rPr>
                        <a:t>Item XXX WBS element XXXXX budget exceeded</a:t>
                      </a:r>
                      <a:endParaRPr lang="en-GB" sz="1100" b="0" i="0" u="none" strike="noStrike">
                        <a:solidFill>
                          <a:srgbClr val="000000"/>
                        </a:solidFill>
                        <a:effectLst/>
                        <a:latin typeface="+mj-lt"/>
                      </a:endParaRPr>
                    </a:p>
                  </a:txBody>
                  <a:tcPr marL="72000" marR="9525" marT="9525" marB="0" anchor="ctr"/>
                </a:tc>
                <a:tc>
                  <a:txBody>
                    <a:bodyPr/>
                    <a:lstStyle/>
                    <a:p>
                      <a:pPr algn="l" fontAlgn="ctr"/>
                      <a:endParaRPr lang="en-GB" sz="1100" b="0" i="0" u="none" strike="noStrike" dirty="0">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Ask market to increase the budget before the next run.</a:t>
                      </a:r>
                      <a:endParaRPr lang="en-GB" sz="1100" b="0" i="0" u="none" strike="noStrike">
                        <a:solidFill>
                          <a:srgbClr val="000000"/>
                        </a:solidFill>
                        <a:effectLst/>
                        <a:latin typeface="+mj-lt"/>
                      </a:endParaRPr>
                    </a:p>
                  </a:txBody>
                  <a:tcPr marL="72000" marR="9525" marT="9525" marB="0" anchor="ctr"/>
                </a:tc>
                <a:extLst>
                  <a:ext uri="{0D108BD9-81ED-4DB2-BD59-A6C34878D82A}">
                    <a16:rowId xmlns:a16="http://schemas.microsoft.com/office/drawing/2014/main" val="2136769508"/>
                  </a:ext>
                </a:extLst>
              </a:tr>
              <a:tr h="983953">
                <a:tc>
                  <a:txBody>
                    <a:bodyPr/>
                    <a:lstStyle/>
                    <a:p>
                      <a:pPr algn="l" fontAlgn="ctr"/>
                      <a:r>
                        <a:rPr lang="en-US" sz="1100" b="0" i="0" u="none" strike="noStrike">
                          <a:solidFill>
                            <a:srgbClr val="000000"/>
                          </a:solidFill>
                          <a:effectLst/>
                          <a:latin typeface="+mj-lt"/>
                        </a:rPr>
                        <a:t>Inconsistency between a document field and the prof. segment number</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There are inconsistencies between Cost Center assigned to WBS and Cost Center posted in line with WBS (incorrect booking)</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dirty="0">
                          <a:solidFill>
                            <a:srgbClr val="000000"/>
                          </a:solidFill>
                          <a:effectLst/>
                          <a:latin typeface="+mj-lt"/>
                        </a:rPr>
                        <a:t>Please inform the market and the person who requested the booking, that the document was booked incorrectly and should be reversed. An appropriate Cost Center, consistent with that used in the master data of the WBS, should be used.</a:t>
                      </a:r>
                      <a:endParaRPr lang="en-GB" sz="1100" b="0" i="0" u="none" strike="noStrike" dirty="0">
                        <a:solidFill>
                          <a:srgbClr val="000000"/>
                        </a:solidFill>
                        <a:effectLst/>
                        <a:latin typeface="+mj-lt"/>
                      </a:endParaRPr>
                    </a:p>
                  </a:txBody>
                  <a:tcPr marL="72000" marR="9525" marT="9525" marB="0" anchor="ctr"/>
                </a:tc>
                <a:extLst>
                  <a:ext uri="{0D108BD9-81ED-4DB2-BD59-A6C34878D82A}">
                    <a16:rowId xmlns:a16="http://schemas.microsoft.com/office/drawing/2014/main" val="4015071510"/>
                  </a:ext>
                </a:extLst>
              </a:tr>
            </a:tbl>
          </a:graphicData>
        </a:graphic>
      </p:graphicFrame>
      <p:sp>
        <p:nvSpPr>
          <p:cNvPr id="7" name="Title 1">
            <a:extLst>
              <a:ext uri="{FF2B5EF4-FFF2-40B4-BE49-F238E27FC236}">
                <a16:creationId xmlns:a16="http://schemas.microsoft.com/office/drawing/2014/main" id="{6792DB6F-9DD0-A311-D6E6-2B94F08CCAC5}"/>
              </a:ext>
            </a:extLst>
          </p:cNvPr>
          <p:cNvSpPr>
            <a:spLocks noGrp="1"/>
          </p:cNvSpPr>
          <p:nvPr>
            <p:ph type="title"/>
          </p:nvPr>
        </p:nvSpPr>
        <p:spPr>
          <a:xfrm>
            <a:off x="1530348" y="280942"/>
            <a:ext cx="8607951" cy="982662"/>
          </a:xfrm>
        </p:spPr>
        <p:txBody>
          <a:bodyPr/>
          <a:lstStyle/>
          <a:p>
            <a:r>
              <a:rPr lang="en-US" sz="2800" cap="none" dirty="0"/>
              <a:t>Custom </a:t>
            </a:r>
            <a:r>
              <a:rPr lang="en-US" sz="2800" dirty="0"/>
              <a:t>Multi-b</a:t>
            </a:r>
            <a:r>
              <a:rPr lang="en-US" sz="2800" cap="none" dirty="0"/>
              <a:t>rand WBS Allocation </a:t>
            </a:r>
            <a:br>
              <a:rPr lang="en-US" sz="2800" cap="none" dirty="0"/>
            </a:br>
            <a:r>
              <a:rPr lang="en-GB" sz="2800" cap="none" dirty="0"/>
              <a:t>– Common Errors</a:t>
            </a:r>
            <a:endParaRPr lang="en-GB" sz="2800" dirty="0"/>
          </a:p>
        </p:txBody>
      </p:sp>
    </p:spTree>
    <p:extLst>
      <p:ext uri="{BB962C8B-B14F-4D97-AF65-F5344CB8AC3E}">
        <p14:creationId xmlns:p14="http://schemas.microsoft.com/office/powerpoint/2010/main" val="2922689260"/>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C77B7-89BE-45D2-B43A-94AB4C5F40F4}">
  <ds:schemaRefs>
    <ds:schemaRef ds:uri="http://schemas.microsoft.com/office/2006/documentManagement/types"/>
    <ds:schemaRef ds:uri="http://purl.org/dc/elements/1.1/"/>
    <ds:schemaRef ds:uri="http://purl.org/dc/terms/"/>
    <ds:schemaRef ds:uri="http://schemas.microsoft.com/office/infopath/2007/PartnerControls"/>
    <ds:schemaRef ds:uri="91871c47-af2e-43ea-ad3f-7bb4c536bc45"/>
    <ds:schemaRef ds:uri="http://purl.org/dc/dcmitype/"/>
    <ds:schemaRef ds:uri="ba249638-b5c4-4b59-8094-70d8491c2e9c"/>
    <ds:schemaRef ds:uri="http://schemas.openxmlformats.org/package/2006/metadata/core-properties"/>
    <ds:schemaRef ds:uri="cb52ee0d-5346-4ae8-a9f9-d746adffeb6b"/>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73C0E915-00CE-4B6A-BB4C-2B8DE6182E41}"/>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37</TotalTime>
  <Words>4492</Words>
  <Application>Microsoft Office PowerPoint</Application>
  <PresentationFormat>Widescreen</PresentationFormat>
  <Paragraphs>391</Paragraphs>
  <Slides>27</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Aharoni</vt:lpstr>
      <vt:lpstr>Arial</vt:lpstr>
      <vt:lpstr>Calibri</vt:lpstr>
      <vt:lpstr>Courier New</vt:lpstr>
      <vt:lpstr>Georgia</vt:lpstr>
      <vt:lpstr>1_S4F-ERP Clean IFRS Stat &amp; Tax Rep</vt:lpstr>
      <vt:lpstr>S4F-ERP Period End Closing</vt:lpstr>
      <vt:lpstr>1_S4F-ERP Period End Closing</vt:lpstr>
      <vt:lpstr>Period End Closing Execution (BSC) </vt:lpstr>
      <vt:lpstr>Period End Closing Key Process Areas and New Period End Checks</vt:lpstr>
      <vt:lpstr>Above Brand Contribution (ABC) WBS Settlement / Allocation</vt:lpstr>
      <vt:lpstr>PowerPoint Presentation</vt:lpstr>
      <vt:lpstr>Branded WBS Settlement - Overview</vt:lpstr>
      <vt:lpstr>Multi- Branded WBS Settlement - Overview</vt:lpstr>
      <vt:lpstr>Custom Multi- Branded WBS Allocation - Overview</vt:lpstr>
      <vt:lpstr>ABC WBS Settlement / Allocation Expected Results</vt:lpstr>
      <vt:lpstr>WBS Settlement / Allocation Actual Results Example</vt:lpstr>
      <vt:lpstr>Period End Closing Key Process Areas and New Period End Checks</vt:lpstr>
      <vt:lpstr>Branded WBS Settlement (CJB1 Generate Settlement Rules) (1/4)</vt:lpstr>
      <vt:lpstr>Branded WBS Settlement (CJB1 Generate Settlement Rules) (2/4)</vt:lpstr>
      <vt:lpstr>Branded WBS Settlement (CJB1 Generate Settlement Rules) (3/4)</vt:lpstr>
      <vt:lpstr>Branded WBS Settlement (CJB1 Generate Settlement Rules) (4/4)</vt:lpstr>
      <vt:lpstr>Branded WBS Settlement (CJ8G – WBS Settlement) (1/3)</vt:lpstr>
      <vt:lpstr>Branded WBS Settlement (CJ8G – WBS Settlement) (2/3)</vt:lpstr>
      <vt:lpstr>Branded WBS Settlement (CJ8G – WBS Settlement) (3/3)</vt:lpstr>
      <vt:lpstr>Branded WBS Settlement: Postings</vt:lpstr>
      <vt:lpstr>Period End Closing Key Process Areas and New Period End Checks</vt:lpstr>
      <vt:lpstr>Multi-brand WBS Settlement: Execution (CJ8G) WBS with Allocation type ZZZ 1)</vt:lpstr>
      <vt:lpstr>Multi-branded WBS Settlement: Postings (CJ8G) WBS with Allocation type ZZZ 1)</vt:lpstr>
      <vt:lpstr>Above Brand Contribution WBS Settlement – Common Errors</vt:lpstr>
      <vt:lpstr>Period End Closing Key Process Areas and New Period End Checks</vt:lpstr>
      <vt:lpstr>Custom Multi-branded WBS Allocation: Execution (ZFFIR_POST_ALLOC_PS)</vt:lpstr>
      <vt:lpstr>Custom Multi-branded WBS Allocation: Postings  Type 1: WBS to PSG (Profitability Segment) (with brand family / product type / SKU populated)</vt:lpstr>
      <vt:lpstr>Custom Multi-brand WBS Allocation – Postings  Type 2 – PSG (Profitability Segment) to PSG</vt:lpstr>
      <vt:lpstr>Custom Multi-brand WBS Allocation  – Common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2024-04-25T17:40:27Z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