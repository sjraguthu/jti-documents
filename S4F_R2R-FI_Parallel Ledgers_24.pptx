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1" r:id="rId5"/>
    <p:sldMasterId id="2147483681" r:id="rId6"/>
  </p:sldMasterIdLst>
  <p:notesMasterIdLst>
    <p:notesMasterId r:id="rId10"/>
  </p:notesMasterIdLst>
  <p:sldIdLst>
    <p:sldId id="3159" r:id="rId7"/>
    <p:sldId id="3160" r:id="rId8"/>
    <p:sldId id="31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444403-E714-43E8-9492-7B733F52381B}" v="1" dt="2021-07-14T15:29:38.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BA444403-E714-43E8-9492-7B733F52381B}"/>
    <pc:docChg chg="custSel delSld modSld">
      <pc:chgData name="Wang, Wei" userId="627587dd-935f-4f2b-a6c6-edd4e0dcbff5" providerId="ADAL" clId="{BA444403-E714-43E8-9492-7B733F52381B}" dt="2021-07-14T15:29:42.950" v="1" actId="47"/>
      <pc:docMkLst>
        <pc:docMk/>
      </pc:docMkLst>
      <pc:sldChg chg="del">
        <pc:chgData name="Wang, Wei" userId="627587dd-935f-4f2b-a6c6-edd4e0dcbff5" providerId="ADAL" clId="{BA444403-E714-43E8-9492-7B733F52381B}" dt="2021-07-14T15:29:42.950" v="1" actId="47"/>
        <pc:sldMkLst>
          <pc:docMk/>
          <pc:sldMk cId="2835633839" sldId="2357"/>
        </pc:sldMkLst>
      </pc:sldChg>
      <pc:sldChg chg="del">
        <pc:chgData name="Wang, Wei" userId="627587dd-935f-4f2b-a6c6-edd4e0dcbff5" providerId="ADAL" clId="{BA444403-E714-43E8-9492-7B733F52381B}" dt="2021-07-14T15:29:42.950" v="1" actId="47"/>
        <pc:sldMkLst>
          <pc:docMk/>
          <pc:sldMk cId="3509802673" sldId="2362"/>
        </pc:sldMkLst>
      </pc:sldChg>
      <pc:sldChg chg="delSp del mod">
        <pc:chgData name="Wang, Wei" userId="627587dd-935f-4f2b-a6c6-edd4e0dcbff5" providerId="ADAL" clId="{BA444403-E714-43E8-9492-7B733F52381B}" dt="2021-07-14T15:29:42.950" v="1" actId="47"/>
        <pc:sldMkLst>
          <pc:docMk/>
          <pc:sldMk cId="1886801888" sldId="3092"/>
        </pc:sldMkLst>
        <pc:spChg chg="del">
          <ac:chgData name="Wang, Wei" userId="627587dd-935f-4f2b-a6c6-edd4e0dcbff5" providerId="ADAL" clId="{BA444403-E714-43E8-9492-7B733F52381B}" dt="2021-07-08T14:05:33.710" v="0" actId="478"/>
          <ac:spMkLst>
            <pc:docMk/>
            <pc:sldMk cId="1886801888" sldId="3092"/>
            <ac:spMk id="5" creationId="{3ADC1F4B-9FF0-480B-9AEE-DF634ABC807D}"/>
          </ac:spMkLst>
        </pc:spChg>
      </pc:sldChg>
      <pc:sldMasterChg chg="delSldLayout">
        <pc:chgData name="Wang, Wei" userId="627587dd-935f-4f2b-a6c6-edd4e0dcbff5" providerId="ADAL" clId="{BA444403-E714-43E8-9492-7B733F52381B}" dt="2021-07-14T15:29:42.950" v="1" actId="47"/>
        <pc:sldMasterMkLst>
          <pc:docMk/>
          <pc:sldMasterMk cId="2627187090" sldId="2147483660"/>
        </pc:sldMasterMkLst>
        <pc:sldLayoutChg chg="del">
          <pc:chgData name="Wang, Wei" userId="627587dd-935f-4f2b-a6c6-edd4e0dcbff5" providerId="ADAL" clId="{BA444403-E714-43E8-9492-7B733F52381B}" dt="2021-07-14T15:29:42.950" v="1" actId="47"/>
          <pc:sldLayoutMkLst>
            <pc:docMk/>
            <pc:sldMasterMk cId="2627187090" sldId="2147483660"/>
            <pc:sldLayoutMk cId="1136548347" sldId="2147483669"/>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F8BAF-2C8E-4421-B3A6-E3489F3F09F6}" type="datetimeFigureOut">
              <a:rPr lang="en-US" smtClean="0"/>
              <a:t>7/14/2021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2B439-1F81-4B44-8607-5F6A3E7E9826}" type="slidenum">
              <a:rPr lang="en-US" smtClean="0"/>
              <a:t>‹#›</a:t>
            </a:fld>
            <a:endParaRPr lang="en-US"/>
          </a:p>
        </p:txBody>
      </p:sp>
    </p:spTree>
    <p:extLst>
      <p:ext uri="{BB962C8B-B14F-4D97-AF65-F5344CB8AC3E}">
        <p14:creationId xmlns:p14="http://schemas.microsoft.com/office/powerpoint/2010/main" val="990805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rgbClr val="EEBB33">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80255" y="4343868"/>
            <a:ext cx="1188720" cy="1188720"/>
          </a:xfrm>
          <a:prstGeom prst="rect">
            <a:avLst/>
          </a:prstGeom>
        </p:spPr>
      </p:pic>
    </p:spTree>
    <p:extLst>
      <p:ext uri="{BB962C8B-B14F-4D97-AF65-F5344CB8AC3E}">
        <p14:creationId xmlns:p14="http://schemas.microsoft.com/office/powerpoint/2010/main" val="3999581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09185"/>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59998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260733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291546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a:xfrm>
            <a:off x="1532335" y="210344"/>
            <a:ext cx="8881665" cy="984247"/>
          </a:xfrm>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grpSp>
        <p:nvGrpSpPr>
          <p:cNvPr id="15" name="Group 14">
            <a:extLst>
              <a:ext uri="{FF2B5EF4-FFF2-40B4-BE49-F238E27FC236}">
                <a16:creationId xmlns:a16="http://schemas.microsoft.com/office/drawing/2014/main" id="{D2D4FF2C-2863-449B-8159-028D52A383B4}"/>
              </a:ext>
            </a:extLst>
          </p:cNvPr>
          <p:cNvGrpSpPr/>
          <p:nvPr userDrawn="1"/>
        </p:nvGrpSpPr>
        <p:grpSpPr>
          <a:xfrm>
            <a:off x="515937" y="309185"/>
            <a:ext cx="902611" cy="902611"/>
            <a:chOff x="515937" y="326276"/>
            <a:chExt cx="902611" cy="902611"/>
          </a:xfrm>
        </p:grpSpPr>
        <p:grpSp>
          <p:nvGrpSpPr>
            <p:cNvPr id="16" name="Group 15">
              <a:extLst>
                <a:ext uri="{FF2B5EF4-FFF2-40B4-BE49-F238E27FC236}">
                  <a16:creationId xmlns:a16="http://schemas.microsoft.com/office/drawing/2014/main" id="{E2CBE3F5-E740-4343-ACD0-B407836957CB}"/>
                </a:ext>
              </a:extLst>
            </p:cNvPr>
            <p:cNvGrpSpPr/>
            <p:nvPr/>
          </p:nvGrpSpPr>
          <p:grpSpPr>
            <a:xfrm>
              <a:off x="515937" y="326276"/>
              <a:ext cx="902611" cy="902611"/>
              <a:chOff x="4492144" y="190843"/>
              <a:chExt cx="855656" cy="855656"/>
            </a:xfrm>
          </p:grpSpPr>
          <p:sp>
            <p:nvSpPr>
              <p:cNvPr id="18" name="Oval 17">
                <a:extLst>
                  <a:ext uri="{FF2B5EF4-FFF2-40B4-BE49-F238E27FC236}">
                    <a16:creationId xmlns:a16="http://schemas.microsoft.com/office/drawing/2014/main" id="{C93D632E-D509-451A-99C4-85C616D003F4}"/>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EF1310D-D492-45DC-B970-E0959483EFE6}"/>
                  </a:ext>
                </a:extLst>
              </p:cNvPr>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7" name="Picture 16">
              <a:extLst>
                <a:ext uri="{FF2B5EF4-FFF2-40B4-BE49-F238E27FC236}">
                  <a16:creationId xmlns:a16="http://schemas.microsoft.com/office/drawing/2014/main" id="{1C694745-7EE9-4ADE-B5CF-8E3D7F859F9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1882045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ntroductory">
    <p:spTree>
      <p:nvGrpSpPr>
        <p:cNvPr id="1" name=""/>
        <p:cNvGrpSpPr/>
        <p:nvPr/>
      </p:nvGrpSpPr>
      <p:grpSpPr>
        <a:xfrm>
          <a:off x="0" y="0"/>
          <a:ext cx="0" cy="0"/>
          <a:chOff x="0" y="0"/>
          <a:chExt cx="0" cy="0"/>
        </a:xfrm>
      </p:grpSpPr>
      <p:sp>
        <p:nvSpPr>
          <p:cNvPr id="4" name="Rectangle 7"/>
          <p:cNvSpPr>
            <a:spLocks noChangeArrowheads="1"/>
          </p:cNvSpPr>
          <p:nvPr/>
        </p:nvSpPr>
        <p:spPr bwMode="auto">
          <a:xfrm>
            <a:off x="777632" y="6424616"/>
            <a:ext cx="2858478"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a:solidFill>
                  <a:srgbClr val="122632"/>
                </a:solidFill>
                <a:cs typeface="Arial" pitchFamily="34" charset="0"/>
              </a:rPr>
              <a:t>© Copyright JTI 2015</a:t>
            </a:r>
          </a:p>
        </p:txBody>
      </p:sp>
      <p:sp>
        <p:nvSpPr>
          <p:cNvPr id="2" name="Title 1"/>
          <p:cNvSpPr>
            <a:spLocks noGrp="1"/>
          </p:cNvSpPr>
          <p:nvPr>
            <p:ph type="title" hasCustomPrompt="1"/>
          </p:nvPr>
        </p:nvSpPr>
        <p:spPr>
          <a:xfrm>
            <a:off x="777632" y="576265"/>
            <a:ext cx="10619153" cy="385763"/>
          </a:xfrm>
        </p:spPr>
        <p:txBody>
          <a:bodyPr>
            <a:noAutofit/>
          </a:bodyPr>
          <a:lstStyle>
            <a:lvl1pPr>
              <a:defRPr sz="2400">
                <a:solidFill>
                  <a:schemeClr val="tx1"/>
                </a:solidFill>
              </a:defRPr>
            </a:lvl1pPr>
          </a:lstStyle>
          <a:p>
            <a:r>
              <a:rPr lang="en-US"/>
              <a:t>Click to edit Master title style</a:t>
            </a:r>
            <a:br>
              <a:rPr lang="en-US"/>
            </a:br>
            <a:br>
              <a:rPr lang="en-US"/>
            </a:br>
            <a:endParaRPr lang="en-GB"/>
          </a:p>
        </p:txBody>
      </p:sp>
      <p:sp>
        <p:nvSpPr>
          <p:cNvPr id="3" name="Content Placeholder 2"/>
          <p:cNvSpPr>
            <a:spLocks noGrp="1"/>
          </p:cNvSpPr>
          <p:nvPr>
            <p:ph idx="1"/>
          </p:nvPr>
        </p:nvSpPr>
        <p:spPr>
          <a:xfrm>
            <a:off x="778608" y="1994403"/>
            <a:ext cx="10619154" cy="4269875"/>
          </a:xfrm>
        </p:spPr>
        <p:txBody>
          <a:bodyPr>
            <a:normAutofit/>
          </a:bodyPr>
          <a:lstStyle>
            <a:lvl1pPr>
              <a:defRPr sz="2400">
                <a:latin typeface="Georgia" pitchFamily="18" charset="0"/>
              </a:defRPr>
            </a:lvl1pPr>
            <a:lvl2pPr>
              <a:defRPr sz="2400">
                <a:latin typeface="Georgia" pitchFamily="18" charset="0"/>
              </a:defRPr>
            </a:lvl2pPr>
            <a:lvl3pPr>
              <a:defRPr sz="2400">
                <a:latin typeface="Georgia" pitchFamily="18" charset="0"/>
              </a:defRPr>
            </a:lvl3pPr>
            <a:lvl4pPr>
              <a:defRPr sz="2400">
                <a:latin typeface="Georgia" pitchFamily="18" charset="0"/>
              </a:defRPr>
            </a:lvl4pPr>
            <a:lvl5pPr>
              <a:defRPr sz="2400">
                <a:latin typeface="Georgia" pitchFamily="18" charset="0"/>
              </a:defRPr>
            </a:lvl5pPr>
          </a:lstStyle>
          <a:p>
            <a:pPr lvl="0"/>
            <a:r>
              <a:rPr lang="en-US"/>
              <a:t>Click to edit Master text styles</a:t>
            </a:r>
          </a:p>
        </p:txBody>
      </p:sp>
      <p:sp>
        <p:nvSpPr>
          <p:cNvPr id="10" name="Text Placeholder 9"/>
          <p:cNvSpPr>
            <a:spLocks noGrp="1"/>
          </p:cNvSpPr>
          <p:nvPr>
            <p:ph type="body" sz="quarter" idx="12"/>
          </p:nvPr>
        </p:nvSpPr>
        <p:spPr>
          <a:xfrm>
            <a:off x="777632" y="967741"/>
            <a:ext cx="10619446" cy="342900"/>
          </a:xfrm>
        </p:spPr>
        <p:txBody>
          <a:bodyPr>
            <a:normAutofit/>
          </a:bodyPr>
          <a:lstStyle>
            <a:lvl1pPr algn="l" rtl="0" eaLnBrk="1" fontAlgn="base" hangingPunct="1">
              <a:spcBef>
                <a:spcPct val="0"/>
              </a:spcBef>
              <a:spcAft>
                <a:spcPct val="0"/>
              </a:spcAft>
              <a:defRPr lang="en-US" sz="1800" i="1" dirty="0">
                <a:solidFill>
                  <a:schemeClr val="tx2"/>
                </a:solidFill>
                <a:latin typeface="Georgia" pitchFamily="18" charset="0"/>
                <a:ea typeface="ＭＳ Ｐゴシック" pitchFamily="80" charset="-128"/>
                <a:cs typeface="+mj-cs"/>
              </a:defRPr>
            </a:lvl1pPr>
          </a:lstStyle>
          <a:p>
            <a:pPr lvl="0"/>
            <a:r>
              <a:rPr lang="en-US"/>
              <a:t>Click to edit Master text styles</a:t>
            </a:r>
          </a:p>
        </p:txBody>
      </p:sp>
      <p:sp>
        <p:nvSpPr>
          <p:cNvPr id="12" name="Footer Placeholder 11"/>
          <p:cNvSpPr>
            <a:spLocks noGrp="1"/>
          </p:cNvSpPr>
          <p:nvPr>
            <p:ph type="ftr" sz="quarter" idx="13"/>
          </p:nvPr>
        </p:nvSpPr>
        <p:spPr>
          <a:xfrm>
            <a:off x="7077073" y="6297521"/>
            <a:ext cx="4201727" cy="365125"/>
          </a:xfrm>
          <a:prstGeom prst="rect">
            <a:avLst/>
          </a:prstGeom>
        </p:spPr>
        <p:txBody>
          <a:bodyPr/>
          <a:lstStyle/>
          <a:p>
            <a:pPr>
              <a:defRPr/>
            </a:pPr>
            <a:r>
              <a:rPr lang="pt-BR">
                <a:solidFill>
                  <a:srgbClr val="122632"/>
                </a:solidFill>
              </a:rPr>
              <a:t>R2R-FI Webinar 2017</a:t>
            </a:r>
            <a:endParaRPr lang="en-US">
              <a:solidFill>
                <a:srgbClr val="122632"/>
              </a:solidFill>
            </a:endParaRPr>
          </a:p>
        </p:txBody>
      </p:sp>
      <p:sp>
        <p:nvSpPr>
          <p:cNvPr id="13" name="Slide Number Placeholder 12"/>
          <p:cNvSpPr>
            <a:spLocks noGrp="1"/>
          </p:cNvSpPr>
          <p:nvPr>
            <p:ph type="sldNum" sz="quarter" idx="14"/>
          </p:nvPr>
        </p:nvSpPr>
        <p:spPr/>
        <p:txBody>
          <a:bodyPr/>
          <a:lstStyle/>
          <a:p>
            <a:pPr>
              <a:defRPr/>
            </a:pPr>
            <a:fld id="{1BB4E4D9-2C5A-423A-A8BE-9B5EA07DECC8}" type="slidenum">
              <a:rPr lang="en-US">
                <a:solidFill>
                  <a:srgbClr val="122632"/>
                </a:solidFill>
              </a:rPr>
              <a:pPr>
                <a:defRPr/>
              </a:pPr>
              <a:t>‹#›</a:t>
            </a:fld>
            <a:endParaRPr lang="en-US">
              <a:solidFill>
                <a:srgbClr val="122632"/>
              </a:solidFill>
            </a:endParaRPr>
          </a:p>
        </p:txBody>
      </p:sp>
    </p:spTree>
    <p:extLst>
      <p:ext uri="{BB962C8B-B14F-4D97-AF65-F5344CB8AC3E}">
        <p14:creationId xmlns:p14="http://schemas.microsoft.com/office/powerpoint/2010/main" val="168703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a:xfrm>
            <a:off x="7077073" y="6297521"/>
            <a:ext cx="4201727" cy="365125"/>
          </a:xfrm>
          <a:prstGeom prst="rect">
            <a:avLst/>
          </a:prstGeom>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6247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Image Title 02">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3845"/>
            <a:ext cx="12201057" cy="5005594"/>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5"/>
            <a:ext cx="11161713" cy="1468437"/>
          </a:xfrm>
        </p:spPr>
        <p:txBody>
          <a:bodyPr anchor="b" anchorCtr="0"/>
          <a:lstStyle>
            <a:lvl1pPr algn="l">
              <a:defRPr sz="4399" b="1" cap="all" baseline="0">
                <a:solidFill>
                  <a:srgbClr val="ACE8E6"/>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1" y="2703059"/>
            <a:ext cx="8295821" cy="1655762"/>
          </a:xfrm>
        </p:spPr>
        <p:txBody>
          <a:bodyPr anchor="t" anchorCtr="0"/>
          <a:lstStyle>
            <a:lvl1pPr marL="0" indent="0" algn="l">
              <a:buNone/>
              <a:defRPr sz="31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9A6DFED-0FBE-48D4-A5E6-0F2D5059C09B}"/>
              </a:ext>
            </a:extLst>
          </p:cNvPr>
          <p:cNvSpPr>
            <a:spLocks noGrp="1"/>
          </p:cNvSpPr>
          <p:nvPr>
            <p:ph type="dt" sz="half" idx="10"/>
          </p:nvPr>
        </p:nvSpPr>
        <p:spPr>
          <a:xfrm>
            <a:off x="514350" y="5915822"/>
            <a:ext cx="2743200" cy="365125"/>
          </a:xfrm>
          <a:prstGeom prst="rect">
            <a:avLst/>
          </a:prstGeom>
        </p:spPr>
        <p:txBody>
          <a:bodyPr anchor="t" anchorCtr="0"/>
          <a:lstStyle>
            <a:lvl1pPr>
              <a:defRPr sz="1400">
                <a:solidFill>
                  <a:schemeClr val="tx1"/>
                </a:solidFill>
              </a:defRPr>
            </a:lvl1pPr>
          </a:lstStyle>
          <a:p>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9" name="TextBox 8">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198486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1481776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8" name="Picture 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80255" y="4347939"/>
            <a:ext cx="1188720" cy="1143000"/>
          </a:xfrm>
          <a:prstGeom prst="rect">
            <a:avLst/>
          </a:prstGeom>
        </p:spPr>
      </p:pic>
    </p:spTree>
    <p:extLst>
      <p:ext uri="{BB962C8B-B14F-4D97-AF65-F5344CB8AC3E}">
        <p14:creationId xmlns:p14="http://schemas.microsoft.com/office/powerpoint/2010/main" val="2185675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98980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Group 13">
            <a:extLst>
              <a:ext uri="{FF2B5EF4-FFF2-40B4-BE49-F238E27FC236}">
                <a16:creationId xmlns:a16="http://schemas.microsoft.com/office/drawing/2014/main" id="{136F6DB4-38A8-4042-A493-7D73F47477BF}"/>
              </a:ext>
            </a:extLst>
          </p:cNvPr>
          <p:cNvGrpSpPr/>
          <p:nvPr userDrawn="1"/>
        </p:nvGrpSpPr>
        <p:grpSpPr>
          <a:xfrm>
            <a:off x="515937" y="326276"/>
            <a:ext cx="902611" cy="902611"/>
            <a:chOff x="515937" y="326276"/>
            <a:chExt cx="902611" cy="902611"/>
          </a:xfrm>
        </p:grpSpPr>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E4ADF36D-5770-435B-B007-92D6042FF29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3317211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10102557"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11160124" cy="4587081"/>
          </a:xfrm>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2F8C67F5-A98A-43ED-9E09-1254ECAEF5B9}"/>
              </a:ext>
            </a:extLst>
          </p:cNvPr>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960974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10102556"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3537149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3459697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866056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413542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9771D9D-4CCE-4E88-A579-EE0BE326CD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00" y="461028"/>
            <a:ext cx="12189600" cy="499164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dirty="0"/>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dirty="0"/>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dirty="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4D166F5D-BA8F-48A8-8AA2-F99261C9E5D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432777" y="4634727"/>
            <a:ext cx="715104" cy="687600"/>
          </a:xfrm>
          <a:prstGeom prst="rect">
            <a:avLst/>
          </a:prstGeom>
        </p:spPr>
      </p:pic>
    </p:spTree>
    <p:extLst>
      <p:ext uri="{BB962C8B-B14F-4D97-AF65-F5344CB8AC3E}">
        <p14:creationId xmlns:p14="http://schemas.microsoft.com/office/powerpoint/2010/main" val="3320583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dirty="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dirty="0">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dirty="0"/>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grpSp>
        <p:nvGrpSpPr>
          <p:cNvPr id="22" name="Group 21">
            <a:extLst>
              <a:ext uri="{FF2B5EF4-FFF2-40B4-BE49-F238E27FC236}">
                <a16:creationId xmlns:a16="http://schemas.microsoft.com/office/drawing/2014/main" id="{C394641D-F82B-4D80-BC4E-DD0ABEB6808A}"/>
              </a:ext>
            </a:extLst>
          </p:cNvPr>
          <p:cNvGrpSpPr/>
          <p:nvPr/>
        </p:nvGrpSpPr>
        <p:grpSpPr>
          <a:xfrm>
            <a:off x="933841" y="4139282"/>
            <a:ext cx="1328400" cy="1327985"/>
            <a:chOff x="4492144" y="190843"/>
            <a:chExt cx="855656" cy="855656"/>
          </a:xfrm>
        </p:grpSpPr>
        <p:sp>
          <p:nvSpPr>
            <p:cNvPr id="24" name="Oval 23">
              <a:extLst>
                <a:ext uri="{FF2B5EF4-FFF2-40B4-BE49-F238E27FC236}">
                  <a16:creationId xmlns:a16="http://schemas.microsoft.com/office/drawing/2014/main" id="{D598798A-3B17-421E-88FC-2B5EF9DE12A3}"/>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a:extLst>
              <a:ext uri="{FF2B5EF4-FFF2-40B4-BE49-F238E27FC236}">
                <a16:creationId xmlns:a16="http://schemas.microsoft.com/office/drawing/2014/main" id="{A7B91F5F-3BF4-44CB-8FB5-D47624AEF19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40489" y="4459474"/>
            <a:ext cx="715104" cy="687600"/>
          </a:xfrm>
          <a:prstGeom prst="rect">
            <a:avLst/>
          </a:prstGeom>
        </p:spPr>
      </p:pic>
    </p:spTree>
    <p:extLst>
      <p:ext uri="{BB962C8B-B14F-4D97-AF65-F5344CB8AC3E}">
        <p14:creationId xmlns:p14="http://schemas.microsoft.com/office/powerpoint/2010/main" val="38579018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rgbClr val="EEBB33">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80255" y="4343868"/>
            <a:ext cx="1188720" cy="1188720"/>
          </a:xfrm>
          <a:prstGeom prst="rect">
            <a:avLst/>
          </a:prstGeom>
        </p:spPr>
      </p:pic>
    </p:spTree>
    <p:extLst>
      <p:ext uri="{BB962C8B-B14F-4D97-AF65-F5344CB8AC3E}">
        <p14:creationId xmlns:p14="http://schemas.microsoft.com/office/powerpoint/2010/main" val="3991132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09185"/>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21610952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438726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138277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a:xfrm>
            <a:off x="1532335" y="210344"/>
            <a:ext cx="8881665" cy="984247"/>
          </a:xfrm>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grpSp>
        <p:nvGrpSpPr>
          <p:cNvPr id="15" name="Group 14">
            <a:extLst>
              <a:ext uri="{FF2B5EF4-FFF2-40B4-BE49-F238E27FC236}">
                <a16:creationId xmlns:a16="http://schemas.microsoft.com/office/drawing/2014/main" id="{D2D4FF2C-2863-449B-8159-028D52A383B4}"/>
              </a:ext>
            </a:extLst>
          </p:cNvPr>
          <p:cNvGrpSpPr/>
          <p:nvPr userDrawn="1"/>
        </p:nvGrpSpPr>
        <p:grpSpPr>
          <a:xfrm>
            <a:off x="515937" y="309185"/>
            <a:ext cx="902611" cy="902611"/>
            <a:chOff x="515937" y="326276"/>
            <a:chExt cx="902611" cy="902611"/>
          </a:xfrm>
        </p:grpSpPr>
        <p:grpSp>
          <p:nvGrpSpPr>
            <p:cNvPr id="16" name="Group 15">
              <a:extLst>
                <a:ext uri="{FF2B5EF4-FFF2-40B4-BE49-F238E27FC236}">
                  <a16:creationId xmlns:a16="http://schemas.microsoft.com/office/drawing/2014/main" id="{E2CBE3F5-E740-4343-ACD0-B407836957CB}"/>
                </a:ext>
              </a:extLst>
            </p:cNvPr>
            <p:cNvGrpSpPr/>
            <p:nvPr/>
          </p:nvGrpSpPr>
          <p:grpSpPr>
            <a:xfrm>
              <a:off x="515937" y="326276"/>
              <a:ext cx="902611" cy="902611"/>
              <a:chOff x="4492144" y="190843"/>
              <a:chExt cx="855656" cy="855656"/>
            </a:xfrm>
          </p:grpSpPr>
          <p:sp>
            <p:nvSpPr>
              <p:cNvPr id="18" name="Oval 17">
                <a:extLst>
                  <a:ext uri="{FF2B5EF4-FFF2-40B4-BE49-F238E27FC236}">
                    <a16:creationId xmlns:a16="http://schemas.microsoft.com/office/drawing/2014/main" id="{C93D632E-D509-451A-99C4-85C616D003F4}"/>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EF1310D-D492-45DC-B970-E0959483EFE6}"/>
                  </a:ext>
                </a:extLst>
              </p:cNvPr>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7" name="Picture 16">
              <a:extLst>
                <a:ext uri="{FF2B5EF4-FFF2-40B4-BE49-F238E27FC236}">
                  <a16:creationId xmlns:a16="http://schemas.microsoft.com/office/drawing/2014/main" id="{1C694745-7EE9-4ADE-B5CF-8E3D7F859F9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21600348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Introductory">
    <p:spTree>
      <p:nvGrpSpPr>
        <p:cNvPr id="1" name=""/>
        <p:cNvGrpSpPr/>
        <p:nvPr/>
      </p:nvGrpSpPr>
      <p:grpSpPr>
        <a:xfrm>
          <a:off x="0" y="0"/>
          <a:ext cx="0" cy="0"/>
          <a:chOff x="0" y="0"/>
          <a:chExt cx="0" cy="0"/>
        </a:xfrm>
      </p:grpSpPr>
      <p:sp>
        <p:nvSpPr>
          <p:cNvPr id="4" name="Rectangle 7"/>
          <p:cNvSpPr>
            <a:spLocks noChangeArrowheads="1"/>
          </p:cNvSpPr>
          <p:nvPr/>
        </p:nvSpPr>
        <p:spPr bwMode="auto">
          <a:xfrm>
            <a:off x="777632" y="6424616"/>
            <a:ext cx="2858478"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a:solidFill>
                  <a:srgbClr val="122632"/>
                </a:solidFill>
                <a:cs typeface="Arial" pitchFamily="34" charset="0"/>
              </a:rPr>
              <a:t>© Copyright JTI 2015</a:t>
            </a:r>
          </a:p>
        </p:txBody>
      </p:sp>
      <p:sp>
        <p:nvSpPr>
          <p:cNvPr id="2" name="Title 1"/>
          <p:cNvSpPr>
            <a:spLocks noGrp="1"/>
          </p:cNvSpPr>
          <p:nvPr>
            <p:ph type="title" hasCustomPrompt="1"/>
          </p:nvPr>
        </p:nvSpPr>
        <p:spPr>
          <a:xfrm>
            <a:off x="777632" y="576265"/>
            <a:ext cx="10619153" cy="385763"/>
          </a:xfrm>
        </p:spPr>
        <p:txBody>
          <a:bodyPr>
            <a:noAutofit/>
          </a:bodyPr>
          <a:lstStyle>
            <a:lvl1pPr>
              <a:defRPr sz="2400">
                <a:solidFill>
                  <a:schemeClr val="tx1"/>
                </a:solidFill>
              </a:defRPr>
            </a:lvl1pPr>
          </a:lstStyle>
          <a:p>
            <a:r>
              <a:rPr lang="en-US"/>
              <a:t>Click to edit Master title style</a:t>
            </a:r>
            <a:br>
              <a:rPr lang="en-US"/>
            </a:br>
            <a:br>
              <a:rPr lang="en-US"/>
            </a:br>
            <a:endParaRPr lang="en-GB"/>
          </a:p>
        </p:txBody>
      </p:sp>
      <p:sp>
        <p:nvSpPr>
          <p:cNvPr id="3" name="Content Placeholder 2"/>
          <p:cNvSpPr>
            <a:spLocks noGrp="1"/>
          </p:cNvSpPr>
          <p:nvPr>
            <p:ph idx="1"/>
          </p:nvPr>
        </p:nvSpPr>
        <p:spPr>
          <a:xfrm>
            <a:off x="778608" y="1994403"/>
            <a:ext cx="10619154" cy="4269875"/>
          </a:xfrm>
        </p:spPr>
        <p:txBody>
          <a:bodyPr>
            <a:normAutofit/>
          </a:bodyPr>
          <a:lstStyle>
            <a:lvl1pPr>
              <a:defRPr sz="2400">
                <a:latin typeface="Georgia" pitchFamily="18" charset="0"/>
              </a:defRPr>
            </a:lvl1pPr>
            <a:lvl2pPr>
              <a:defRPr sz="2400">
                <a:latin typeface="Georgia" pitchFamily="18" charset="0"/>
              </a:defRPr>
            </a:lvl2pPr>
            <a:lvl3pPr>
              <a:defRPr sz="2400">
                <a:latin typeface="Georgia" pitchFamily="18" charset="0"/>
              </a:defRPr>
            </a:lvl3pPr>
            <a:lvl4pPr>
              <a:defRPr sz="2400">
                <a:latin typeface="Georgia" pitchFamily="18" charset="0"/>
              </a:defRPr>
            </a:lvl4pPr>
            <a:lvl5pPr>
              <a:defRPr sz="2400">
                <a:latin typeface="Georgia" pitchFamily="18" charset="0"/>
              </a:defRPr>
            </a:lvl5pPr>
          </a:lstStyle>
          <a:p>
            <a:pPr lvl="0"/>
            <a:r>
              <a:rPr lang="en-US"/>
              <a:t>Click to edit Master text styles</a:t>
            </a:r>
          </a:p>
        </p:txBody>
      </p:sp>
      <p:sp>
        <p:nvSpPr>
          <p:cNvPr id="10" name="Text Placeholder 9"/>
          <p:cNvSpPr>
            <a:spLocks noGrp="1"/>
          </p:cNvSpPr>
          <p:nvPr>
            <p:ph type="body" sz="quarter" idx="12"/>
          </p:nvPr>
        </p:nvSpPr>
        <p:spPr>
          <a:xfrm>
            <a:off x="777632" y="967741"/>
            <a:ext cx="10619446" cy="342900"/>
          </a:xfrm>
        </p:spPr>
        <p:txBody>
          <a:bodyPr>
            <a:normAutofit/>
          </a:bodyPr>
          <a:lstStyle>
            <a:lvl1pPr algn="l" rtl="0" eaLnBrk="1" fontAlgn="base" hangingPunct="1">
              <a:spcBef>
                <a:spcPct val="0"/>
              </a:spcBef>
              <a:spcAft>
                <a:spcPct val="0"/>
              </a:spcAft>
              <a:defRPr lang="en-US" sz="1800" i="1" dirty="0">
                <a:solidFill>
                  <a:schemeClr val="tx2"/>
                </a:solidFill>
                <a:latin typeface="Georgia" pitchFamily="18" charset="0"/>
                <a:ea typeface="ＭＳ Ｐゴシック" pitchFamily="80" charset="-128"/>
                <a:cs typeface="+mj-cs"/>
              </a:defRPr>
            </a:lvl1pPr>
          </a:lstStyle>
          <a:p>
            <a:pPr lvl="0"/>
            <a:r>
              <a:rPr lang="en-US"/>
              <a:t>Click to edit Master text styles</a:t>
            </a:r>
          </a:p>
        </p:txBody>
      </p:sp>
      <p:sp>
        <p:nvSpPr>
          <p:cNvPr id="12" name="Footer Placeholder 11"/>
          <p:cNvSpPr>
            <a:spLocks noGrp="1"/>
          </p:cNvSpPr>
          <p:nvPr>
            <p:ph type="ftr" sz="quarter" idx="13"/>
          </p:nvPr>
        </p:nvSpPr>
        <p:spPr>
          <a:xfrm>
            <a:off x="7077073" y="6297521"/>
            <a:ext cx="4201727" cy="365125"/>
          </a:xfrm>
          <a:prstGeom prst="rect">
            <a:avLst/>
          </a:prstGeom>
        </p:spPr>
        <p:txBody>
          <a:bodyPr/>
          <a:lstStyle/>
          <a:p>
            <a:pPr>
              <a:defRPr/>
            </a:pPr>
            <a:r>
              <a:rPr lang="pt-BR">
                <a:solidFill>
                  <a:srgbClr val="122632"/>
                </a:solidFill>
              </a:rPr>
              <a:t>R2R-FI Webinar 2017</a:t>
            </a:r>
            <a:endParaRPr lang="en-US">
              <a:solidFill>
                <a:srgbClr val="122632"/>
              </a:solidFill>
            </a:endParaRPr>
          </a:p>
        </p:txBody>
      </p:sp>
      <p:sp>
        <p:nvSpPr>
          <p:cNvPr id="13" name="Slide Number Placeholder 12"/>
          <p:cNvSpPr>
            <a:spLocks noGrp="1"/>
          </p:cNvSpPr>
          <p:nvPr>
            <p:ph type="sldNum" sz="quarter" idx="14"/>
          </p:nvPr>
        </p:nvSpPr>
        <p:spPr/>
        <p:txBody>
          <a:bodyPr/>
          <a:lstStyle/>
          <a:p>
            <a:pPr>
              <a:defRPr/>
            </a:pPr>
            <a:fld id="{1BB4E4D9-2C5A-423A-A8BE-9B5EA07DECC8}" type="slidenum">
              <a:rPr lang="en-US">
                <a:solidFill>
                  <a:srgbClr val="122632"/>
                </a:solidFill>
              </a:rPr>
              <a:pPr>
                <a:defRPr/>
              </a:pPr>
              <a:t>‹#›</a:t>
            </a:fld>
            <a:endParaRPr lang="en-US">
              <a:solidFill>
                <a:srgbClr val="122632"/>
              </a:solidFill>
            </a:endParaRPr>
          </a:p>
        </p:txBody>
      </p:sp>
    </p:spTree>
    <p:extLst>
      <p:ext uri="{BB962C8B-B14F-4D97-AF65-F5344CB8AC3E}">
        <p14:creationId xmlns:p14="http://schemas.microsoft.com/office/powerpoint/2010/main" val="42315407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a:xfrm>
            <a:off x="7077073" y="6297521"/>
            <a:ext cx="4201727" cy="365125"/>
          </a:xfrm>
          <a:prstGeom prst="rect">
            <a:avLst/>
          </a:prstGeom>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6421616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Image Title 02">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3845"/>
            <a:ext cx="12201057" cy="5005594"/>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5"/>
            <a:ext cx="11161713" cy="1468437"/>
          </a:xfrm>
        </p:spPr>
        <p:txBody>
          <a:bodyPr anchor="b" anchorCtr="0"/>
          <a:lstStyle>
            <a:lvl1pPr algn="l">
              <a:defRPr sz="4399" b="1" cap="all" baseline="0">
                <a:solidFill>
                  <a:srgbClr val="ACE8E6"/>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1" y="2703059"/>
            <a:ext cx="8295821" cy="1655762"/>
          </a:xfrm>
        </p:spPr>
        <p:txBody>
          <a:bodyPr anchor="t" anchorCtr="0"/>
          <a:lstStyle>
            <a:lvl1pPr marL="0" indent="0" algn="l">
              <a:buNone/>
              <a:defRPr sz="31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9A6DFED-0FBE-48D4-A5E6-0F2D5059C09B}"/>
              </a:ext>
            </a:extLst>
          </p:cNvPr>
          <p:cNvSpPr>
            <a:spLocks noGrp="1"/>
          </p:cNvSpPr>
          <p:nvPr>
            <p:ph type="dt" sz="half" idx="10"/>
          </p:nvPr>
        </p:nvSpPr>
        <p:spPr>
          <a:xfrm>
            <a:off x="514350" y="5915822"/>
            <a:ext cx="2743200" cy="365125"/>
          </a:xfrm>
          <a:prstGeom prst="rect">
            <a:avLst/>
          </a:prstGeom>
        </p:spPr>
        <p:txBody>
          <a:bodyPr anchor="t" anchorCtr="0"/>
          <a:lstStyle>
            <a:lvl1pPr>
              <a:defRPr sz="1400">
                <a:solidFill>
                  <a:schemeClr val="tx1"/>
                </a:solidFill>
              </a:defRPr>
            </a:lvl1pPr>
          </a:lstStyle>
          <a:p>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9" name="TextBox 8">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7441964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7077073" y="6297521"/>
            <a:ext cx="4201727" cy="365125"/>
          </a:xfrm>
          <a:prstGeom prst="rect">
            <a:avLst/>
          </a:prstGeom>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977862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320326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vmlDrawing" Target="../drawings/vmlDrawing1.v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ags" Target="../tags/tag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vmlDrawing" Target="../drawings/vmlDrawing2.vml"/><Relationship Id="rId2" Type="http://schemas.openxmlformats.org/officeDocument/2006/relationships/slideLayout" Target="../slideLayouts/slideLayout20.xml"/><Relationship Id="rId16" Type="http://schemas.openxmlformats.org/officeDocument/2006/relationships/image" Target="../media/image1.emf"/><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5" Type="http://schemas.openxmlformats.org/officeDocument/2006/relationships/oleObject" Target="../embeddings/oleObject2.bin"/><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EA6C60B-421A-4EC2-B272-C9C1D65B9CDA}"/>
              </a:ext>
            </a:extLst>
          </p:cNvPr>
          <p:cNvGraphicFramePr>
            <a:graphicFrameLocks noChangeAspect="1"/>
          </p:cNvGraphicFramePr>
          <p:nvPr userDrawn="1">
            <p:custDataLst>
              <p:tags r:id="rId12"/>
            </p:custDataLst>
            <p:extLst>
              <p:ext uri="{D42A27DB-BD31-4B8C-83A1-F6EECF244321}">
                <p14:modId xmlns:p14="http://schemas.microsoft.com/office/powerpoint/2010/main" val="1482567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4" imgW="499" imgH="499" progId="TCLayout.ActiveDocument.1">
                  <p:embed/>
                </p:oleObj>
              </mc:Choice>
              <mc:Fallback>
                <p:oleObj name="think-cell Slide" r:id="rId14" imgW="499" imgH="499" progId="TCLayout.ActiveDocument.1">
                  <p:embed/>
                  <p:pic>
                    <p:nvPicPr>
                      <p:cNvPr id="7" name="Object 6" hidden="1">
                        <a:extLst>
                          <a:ext uri="{FF2B5EF4-FFF2-40B4-BE49-F238E27FC236}">
                            <a16:creationId xmlns:a16="http://schemas.microsoft.com/office/drawing/2014/main" id="{FEA6C60B-421A-4EC2-B272-C9C1D65B9CD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F70C274-30A4-4B8A-A080-A328CB853D4D}"/>
              </a:ext>
            </a:extLst>
          </p:cNvPr>
          <p:cNvSpPr/>
          <p:nvPr userDrawn="1">
            <p:custDataLst>
              <p:tags r:id="rId13"/>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6271870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92081506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EA6C60B-421A-4EC2-B272-C9C1D65B9CDA}"/>
              </a:ext>
            </a:extLst>
          </p:cNvPr>
          <p:cNvGraphicFramePr>
            <a:graphicFrameLocks noChangeAspect="1"/>
          </p:cNvGraphicFramePr>
          <p:nvPr userDrawn="1">
            <p:custDataLst>
              <p:tags r:id="rId13"/>
            </p:custDataLst>
            <p:extLst>
              <p:ext uri="{D42A27DB-BD31-4B8C-83A1-F6EECF244321}">
                <p14:modId xmlns:p14="http://schemas.microsoft.com/office/powerpoint/2010/main" val="4077965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 name="think-cell Slide" r:id="rId15" imgW="499" imgH="499" progId="TCLayout.ActiveDocument.1">
                  <p:embed/>
                </p:oleObj>
              </mc:Choice>
              <mc:Fallback>
                <p:oleObj name="think-cell Slide" r:id="rId15" imgW="499" imgH="499" progId="TCLayout.ActiveDocument.1">
                  <p:embed/>
                  <p:pic>
                    <p:nvPicPr>
                      <p:cNvPr id="7" name="Object 6" hidden="1">
                        <a:extLst>
                          <a:ext uri="{FF2B5EF4-FFF2-40B4-BE49-F238E27FC236}">
                            <a16:creationId xmlns:a16="http://schemas.microsoft.com/office/drawing/2014/main" id="{FEA6C60B-421A-4EC2-B272-C9C1D65B9CD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F70C274-30A4-4B8A-A080-A328CB853D4D}"/>
              </a:ext>
            </a:extLst>
          </p:cNvPr>
          <p:cNvSpPr/>
          <p:nvPr userDrawn="1">
            <p:custDataLst>
              <p:tags r:id="rId14"/>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31543085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232351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Overview</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297079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Key Design Areas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61447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Postings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258152"/>
            <a:ext cx="2165184" cy="482400"/>
          </a:xfrm>
          <a:prstGeom prst="roundRect">
            <a:avLst/>
          </a:prstGeom>
          <a:solidFill>
            <a:schemeClr val="accent3"/>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Reporting</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p:cNvCxnSpPr>
          <p:nvPr/>
        </p:nvCxnSpPr>
        <p:spPr>
          <a:xfrm flipV="1">
            <a:off x="1854000" y="3208392"/>
            <a:ext cx="1339200" cy="23500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412272"/>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055952"/>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564712"/>
            <a:ext cx="1339200" cy="87868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9FA8FF-989B-44C3-957E-B59207B0B7A7}"/>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chemeClr val="accent3"/>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353D9CF2-11F3-4D70-8FD0-848F6BE97F7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1501" y="3156545"/>
              <a:ext cx="715104" cy="687600"/>
            </a:xfrm>
            <a:prstGeom prst="rect">
              <a:avLst/>
            </a:prstGeom>
          </p:spPr>
        </p:pic>
      </p:grpSp>
      <p:sp>
        <p:nvSpPr>
          <p:cNvPr id="28" name="Rectangle: Rounded Corners 27">
            <a:extLst>
              <a:ext uri="{FF2B5EF4-FFF2-40B4-BE49-F238E27FC236}">
                <a16:creationId xmlns:a16="http://schemas.microsoft.com/office/drawing/2014/main" id="{D9FCF5C0-13B8-4D66-93A0-FC552CB816D6}"/>
              </a:ext>
            </a:extLst>
          </p:cNvPr>
          <p:cNvSpPr/>
          <p:nvPr/>
        </p:nvSpPr>
        <p:spPr>
          <a:xfrm>
            <a:off x="5728320" y="3701729"/>
            <a:ext cx="568218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FI Reporting - Standard G/L Reports in S/4HANA</a:t>
            </a:r>
          </a:p>
        </p:txBody>
      </p:sp>
      <p:sp>
        <p:nvSpPr>
          <p:cNvPr id="30" name="Rectangle: Rounded Corners 29">
            <a:extLst>
              <a:ext uri="{FF2B5EF4-FFF2-40B4-BE49-F238E27FC236}">
                <a16:creationId xmlns:a16="http://schemas.microsoft.com/office/drawing/2014/main" id="{2ACE3D03-992B-45A9-AD40-4EE394368293}"/>
              </a:ext>
            </a:extLst>
          </p:cNvPr>
          <p:cNvSpPr/>
          <p:nvPr/>
        </p:nvSpPr>
        <p:spPr>
          <a:xfrm>
            <a:off x="5728320" y="4293562"/>
            <a:ext cx="568218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Finance CDS Views</a:t>
            </a:r>
          </a:p>
        </p:txBody>
      </p:sp>
      <p:sp>
        <p:nvSpPr>
          <p:cNvPr id="31" name="Rectangle: Rounded Corners 30">
            <a:extLst>
              <a:ext uri="{FF2B5EF4-FFF2-40B4-BE49-F238E27FC236}">
                <a16:creationId xmlns:a16="http://schemas.microsoft.com/office/drawing/2014/main" id="{0AB1BB0D-DA2B-4CB2-ABA5-23AC551F0A1A}"/>
              </a:ext>
            </a:extLst>
          </p:cNvPr>
          <p:cNvSpPr/>
          <p:nvPr/>
        </p:nvSpPr>
        <p:spPr>
          <a:xfrm>
            <a:off x="5728320" y="4883256"/>
            <a:ext cx="5682180"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Currencies in FI Reports</a:t>
            </a:r>
          </a:p>
        </p:txBody>
      </p:sp>
      <p:cxnSp>
        <p:nvCxnSpPr>
          <p:cNvPr id="32" name="Elbow Connector 29">
            <a:extLst>
              <a:ext uri="{FF2B5EF4-FFF2-40B4-BE49-F238E27FC236}">
                <a16:creationId xmlns:a16="http://schemas.microsoft.com/office/drawing/2014/main" id="{72C22EBD-AB5A-40DA-A7F9-2FC2088B2D1F}"/>
              </a:ext>
            </a:extLst>
          </p:cNvPr>
          <p:cNvCxnSpPr>
            <a:cxnSpLocks/>
            <a:stCxn id="71" idx="3"/>
            <a:endCxn id="28" idx="1"/>
          </p:cNvCxnSpPr>
          <p:nvPr/>
        </p:nvCxnSpPr>
        <p:spPr>
          <a:xfrm flipV="1">
            <a:off x="5358384" y="3942929"/>
            <a:ext cx="369936" cy="556423"/>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3" name="Elbow Connector 29">
            <a:extLst>
              <a:ext uri="{FF2B5EF4-FFF2-40B4-BE49-F238E27FC236}">
                <a16:creationId xmlns:a16="http://schemas.microsoft.com/office/drawing/2014/main" id="{6E47F5AB-3316-44DD-9078-D72F88425D8E}"/>
              </a:ext>
            </a:extLst>
          </p:cNvPr>
          <p:cNvCxnSpPr>
            <a:cxnSpLocks/>
            <a:stCxn id="71" idx="3"/>
            <a:endCxn id="30" idx="1"/>
          </p:cNvCxnSpPr>
          <p:nvPr/>
        </p:nvCxnSpPr>
        <p:spPr>
          <a:xfrm>
            <a:off x="5358384" y="4499352"/>
            <a:ext cx="369936" cy="35410"/>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5" name="Elbow Connector 29">
            <a:extLst>
              <a:ext uri="{FF2B5EF4-FFF2-40B4-BE49-F238E27FC236}">
                <a16:creationId xmlns:a16="http://schemas.microsoft.com/office/drawing/2014/main" id="{ABABD9E0-11A2-4C5C-B4F5-F6D9B289171E}"/>
              </a:ext>
            </a:extLst>
          </p:cNvPr>
          <p:cNvCxnSpPr>
            <a:cxnSpLocks/>
            <a:stCxn id="71" idx="3"/>
            <a:endCxn id="31" idx="1"/>
          </p:cNvCxnSpPr>
          <p:nvPr/>
        </p:nvCxnSpPr>
        <p:spPr>
          <a:xfrm>
            <a:off x="5358384" y="4499352"/>
            <a:ext cx="369936" cy="62510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8DDBED87-0F39-41CB-8D9D-39F9E13F4C88}"/>
              </a:ext>
            </a:extLst>
          </p:cNvPr>
          <p:cNvSpPr/>
          <p:nvPr/>
        </p:nvSpPr>
        <p:spPr>
          <a:xfrm>
            <a:off x="5728320" y="5472950"/>
            <a:ext cx="5682180" cy="482400"/>
          </a:xfrm>
          <a:prstGeom prst="roundRect">
            <a:avLst/>
          </a:prstGeom>
          <a:solidFill>
            <a:schemeClr val="accent3"/>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Make the Right Choice of FI Reports</a:t>
            </a:r>
          </a:p>
        </p:txBody>
      </p:sp>
      <p:cxnSp>
        <p:nvCxnSpPr>
          <p:cNvPr id="37" name="Elbow Connector 29">
            <a:extLst>
              <a:ext uri="{FF2B5EF4-FFF2-40B4-BE49-F238E27FC236}">
                <a16:creationId xmlns:a16="http://schemas.microsoft.com/office/drawing/2014/main" id="{CDB12E56-BCC2-4F3A-974F-FB598089A9C7}"/>
              </a:ext>
            </a:extLst>
          </p:cNvPr>
          <p:cNvCxnSpPr>
            <a:cxnSpLocks/>
            <a:stCxn id="71" idx="3"/>
            <a:endCxn id="36" idx="1"/>
          </p:cNvCxnSpPr>
          <p:nvPr/>
        </p:nvCxnSpPr>
        <p:spPr>
          <a:xfrm>
            <a:off x="5358384" y="4499352"/>
            <a:ext cx="369936" cy="1214798"/>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183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10C1D1-CA00-464C-9E02-5B4CBDC471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04D63DD-2389-4329-B8E2-BE406263B091}"/>
              </a:ext>
            </a:extLst>
          </p:cNvPr>
          <p:cNvSpPr>
            <a:spLocks noGrp="1"/>
          </p:cNvSpPr>
          <p:nvPr>
            <p:ph type="title"/>
          </p:nvPr>
        </p:nvSpPr>
        <p:spPr/>
        <p:txBody>
          <a:bodyPr/>
          <a:lstStyle/>
          <a:p>
            <a:r>
              <a:rPr lang="en-GB" dirty="0"/>
              <a:t>When Best To Use CDS Views</a:t>
            </a:r>
            <a:endParaRPr lang="en-US" dirty="0"/>
          </a:p>
        </p:txBody>
      </p:sp>
      <p:sp>
        <p:nvSpPr>
          <p:cNvPr id="6" name="TextBox 5">
            <a:extLst>
              <a:ext uri="{FF2B5EF4-FFF2-40B4-BE49-F238E27FC236}">
                <a16:creationId xmlns:a16="http://schemas.microsoft.com/office/drawing/2014/main" id="{4BB343D3-9182-4B1A-9688-002D10F27A62}"/>
              </a:ext>
            </a:extLst>
          </p:cNvPr>
          <p:cNvSpPr txBox="1"/>
          <p:nvPr/>
        </p:nvSpPr>
        <p:spPr>
          <a:xfrm>
            <a:off x="862641" y="1595887"/>
            <a:ext cx="10813419" cy="4572000"/>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rPr>
              <a:t>When you want to </a:t>
            </a:r>
            <a:r>
              <a:rPr kumimoji="0" lang="en-GB" sz="2000" b="1" i="0" u="none" strike="noStrike" kern="1200" cap="none" spc="0" normalizeH="0" baseline="0" noProof="0" dirty="0">
                <a:ln>
                  <a:noFill/>
                </a:ln>
                <a:solidFill>
                  <a:srgbClr val="000000"/>
                </a:solidFill>
                <a:effectLst/>
                <a:uLnTx/>
                <a:uFillTx/>
                <a:latin typeface="Arial" panose="020B0604020202020204"/>
                <a:ea typeface="+mn-ea"/>
                <a:cs typeface="+mn-cs"/>
              </a:rPr>
              <a:t>compare multiple ledgers </a:t>
            </a:r>
            <a:r>
              <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rPr>
              <a:t>– SAP standard reports only allows up to 2 ledgers for comparison at one 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rPr>
              <a:t>When you need to perform analysis, especially with changing parameters, filters, measures (key figures), or fields to display, etc.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mn-ea"/>
                <a:cs typeface="+mn-cs"/>
              </a:rPr>
              <a:t>When you need to work with the information on the report in excel, which is not always possible with SAP Standard Reports </a:t>
            </a:r>
            <a:endParaRPr kumimoji="0" lang="en-US" sz="20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37852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7BFCD2-D88F-4EC1-BD4E-C60AF123BDB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graphicFrame>
        <p:nvGraphicFramePr>
          <p:cNvPr id="5" name="Table 5">
            <a:extLst>
              <a:ext uri="{FF2B5EF4-FFF2-40B4-BE49-F238E27FC236}">
                <a16:creationId xmlns:a16="http://schemas.microsoft.com/office/drawing/2014/main" id="{9186D89D-3BB6-463D-B081-F31EE4401D37}"/>
              </a:ext>
            </a:extLst>
          </p:cNvPr>
          <p:cNvGraphicFramePr>
            <a:graphicFrameLocks noGrp="1"/>
          </p:cNvGraphicFramePr>
          <p:nvPr/>
        </p:nvGraphicFramePr>
        <p:xfrm>
          <a:off x="251211" y="503237"/>
          <a:ext cx="11689578" cy="6172200"/>
        </p:xfrm>
        <a:graphic>
          <a:graphicData uri="http://schemas.openxmlformats.org/drawingml/2006/table">
            <a:tbl>
              <a:tblPr firstRow="1" bandRow="1">
                <a:tableStyleId>{5C22544A-7EE6-4342-B048-85BDC9FD1C3A}</a:tableStyleId>
              </a:tblPr>
              <a:tblGrid>
                <a:gridCol w="2569627">
                  <a:extLst>
                    <a:ext uri="{9D8B030D-6E8A-4147-A177-3AD203B41FA5}">
                      <a16:colId xmlns:a16="http://schemas.microsoft.com/office/drawing/2014/main" val="2657355181"/>
                    </a:ext>
                  </a:extLst>
                </a:gridCol>
                <a:gridCol w="3743864">
                  <a:extLst>
                    <a:ext uri="{9D8B030D-6E8A-4147-A177-3AD203B41FA5}">
                      <a16:colId xmlns:a16="http://schemas.microsoft.com/office/drawing/2014/main" val="1780846046"/>
                    </a:ext>
                  </a:extLst>
                </a:gridCol>
                <a:gridCol w="5376087">
                  <a:extLst>
                    <a:ext uri="{9D8B030D-6E8A-4147-A177-3AD203B41FA5}">
                      <a16:colId xmlns:a16="http://schemas.microsoft.com/office/drawing/2014/main" val="103848729"/>
                    </a:ext>
                  </a:extLst>
                </a:gridCol>
              </a:tblGrid>
              <a:tr h="513867">
                <a:tc>
                  <a:txBody>
                    <a:bodyPr/>
                    <a:lstStyle/>
                    <a:p>
                      <a:pPr algn="ctr"/>
                      <a:r>
                        <a:rPr lang="en-GB" sz="1400" dirty="0"/>
                        <a:t>What do you want from an FI Report?</a:t>
                      </a:r>
                      <a:endParaRPr lang="en-US" sz="1400" dirty="0"/>
                    </a:p>
                  </a:txBody>
                  <a:tcPr anchor="ctr"/>
                </a:tc>
                <a:tc>
                  <a:txBody>
                    <a:bodyPr/>
                    <a:lstStyle/>
                    <a:p>
                      <a:pPr algn="ctr"/>
                      <a:r>
                        <a:rPr lang="en-GB" sz="1400" dirty="0"/>
                        <a:t>Recommended Reports / T-Codes</a:t>
                      </a:r>
                      <a:endParaRPr lang="en-US" sz="1400" dirty="0"/>
                    </a:p>
                  </a:txBody>
                  <a:tcPr anchor="ctr"/>
                </a:tc>
                <a:tc>
                  <a:txBody>
                    <a:bodyPr/>
                    <a:lstStyle/>
                    <a:p>
                      <a:pPr algn="ctr"/>
                      <a:r>
                        <a:rPr lang="en-GB" sz="1400" dirty="0"/>
                        <a:t>Considerations</a:t>
                      </a:r>
                      <a:endParaRPr lang="en-US" sz="1400" dirty="0"/>
                    </a:p>
                  </a:txBody>
                  <a:tcPr anchor="ctr"/>
                </a:tc>
                <a:extLst>
                  <a:ext uri="{0D108BD9-81ED-4DB2-BD59-A6C34878D82A}">
                    <a16:rowId xmlns:a16="http://schemas.microsoft.com/office/drawing/2014/main" val="622798202"/>
                  </a:ext>
                </a:extLst>
              </a:tr>
              <a:tr h="423184">
                <a:tc>
                  <a:txBody>
                    <a:bodyPr/>
                    <a:lstStyle/>
                    <a:p>
                      <a:r>
                        <a:rPr lang="en-GB" sz="1100" dirty="0"/>
                        <a:t>To </a:t>
                      </a:r>
                      <a:r>
                        <a:rPr lang="en-GB" sz="1100" b="1" u="sng" dirty="0"/>
                        <a:t>display</a:t>
                      </a:r>
                      <a:r>
                        <a:rPr lang="en-GB" sz="1100" dirty="0"/>
                        <a:t> a list of G/L </a:t>
                      </a:r>
                      <a:r>
                        <a:rPr lang="en-GB" sz="1100" b="1" u="sng" dirty="0"/>
                        <a:t>line items</a:t>
                      </a:r>
                      <a:r>
                        <a:rPr lang="en-GB" sz="1100" dirty="0"/>
                        <a:t> filtered by a set of selection criteria</a:t>
                      </a:r>
                      <a:endParaRPr lang="en-US" sz="1100" dirty="0"/>
                    </a:p>
                  </a:txBody>
                  <a:tcPr/>
                </a:tc>
                <a:tc>
                  <a:txBody>
                    <a:bodyPr/>
                    <a:lstStyle/>
                    <a:p>
                      <a:pPr marL="171450" indent="-171450">
                        <a:buFont typeface="Arial" panose="020B0604020202020204" pitchFamily="34" charset="0"/>
                        <a:buChar char="•"/>
                      </a:pPr>
                      <a:r>
                        <a:rPr lang="en-GB" sz="1100" dirty="0"/>
                        <a:t>FAGLL03</a:t>
                      </a:r>
                    </a:p>
                    <a:p>
                      <a:pPr marL="171450" indent="-171450">
                        <a:buFont typeface="Arial" panose="020B0604020202020204" pitchFamily="34" charset="0"/>
                        <a:buChar char="•"/>
                      </a:pPr>
                      <a:r>
                        <a:rPr lang="en-GB" sz="1100" dirty="0"/>
                        <a:t>FAGLL03H</a:t>
                      </a:r>
                      <a:endParaRPr lang="en-US" sz="1100" dirty="0"/>
                    </a:p>
                  </a:txBody>
                  <a:tcPr/>
                </a:tc>
                <a:tc>
                  <a:txBody>
                    <a:bodyPr/>
                    <a:lstStyle/>
                    <a:p>
                      <a:r>
                        <a:rPr lang="en-GB" sz="1100" dirty="0"/>
                        <a:t>If large volume of data is expected, use FAGLL03H for optimized performance</a:t>
                      </a:r>
                      <a:endParaRPr lang="en-US" sz="1100" dirty="0"/>
                    </a:p>
                  </a:txBody>
                  <a:tcPr/>
                </a:tc>
                <a:extLst>
                  <a:ext uri="{0D108BD9-81ED-4DB2-BD59-A6C34878D82A}">
                    <a16:rowId xmlns:a16="http://schemas.microsoft.com/office/drawing/2014/main" val="1544046503"/>
                  </a:ext>
                </a:extLst>
              </a:tr>
              <a:tr h="589435">
                <a:tc>
                  <a:txBody>
                    <a:bodyPr/>
                    <a:lstStyle/>
                    <a:p>
                      <a:r>
                        <a:rPr lang="en-GB" sz="1100" dirty="0"/>
                        <a:t>To perform </a:t>
                      </a:r>
                      <a:r>
                        <a:rPr lang="en-GB" sz="1100" b="1" u="sng" dirty="0"/>
                        <a:t>analysis</a:t>
                      </a:r>
                      <a:r>
                        <a:rPr lang="en-GB" sz="1100" dirty="0"/>
                        <a:t> of certain G/L </a:t>
                      </a:r>
                      <a:r>
                        <a:rPr lang="en-GB" sz="1100" b="1" u="sng" dirty="0"/>
                        <a:t>line items</a:t>
                      </a:r>
                      <a:r>
                        <a:rPr lang="en-GB" sz="1100" dirty="0"/>
                        <a:t> with potentially changing selection / filtering criteria</a:t>
                      </a:r>
                      <a:endParaRPr lang="en-US" sz="11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t>CDS View: JTI G/L Line Items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t>FAGLL03H </a:t>
                      </a:r>
                    </a:p>
                    <a:p>
                      <a:pPr marL="171450" indent="-171450">
                        <a:buFont typeface="Arial" panose="020B0604020202020204" pitchFamily="34" charset="0"/>
                        <a:buChar char="•"/>
                      </a:pPr>
                      <a:endParaRPr lang="en-US" sz="1100" dirty="0"/>
                    </a:p>
                  </a:txBody>
                  <a:tcPr/>
                </a:tc>
                <a:tc>
                  <a:txBody>
                    <a:bodyPr/>
                    <a:lstStyle/>
                    <a:p>
                      <a:r>
                        <a:rPr lang="en-GB" sz="1100" dirty="0"/>
                        <a:t>FAGLL03H works in a similar way as the G/L Line Item CDS View, with the possibility of adding or removing fields. Many users prefer CDS Views due to the quick data refreshment and flexibility offered by Analysis for Office in Excel.</a:t>
                      </a:r>
                      <a:endParaRPr lang="en-US" sz="1100" dirty="0"/>
                    </a:p>
                  </a:txBody>
                  <a:tcPr/>
                </a:tc>
                <a:extLst>
                  <a:ext uri="{0D108BD9-81ED-4DB2-BD59-A6C34878D82A}">
                    <a16:rowId xmlns:a16="http://schemas.microsoft.com/office/drawing/2014/main" val="1598962111"/>
                  </a:ext>
                </a:extLst>
              </a:tr>
              <a:tr h="423184">
                <a:tc>
                  <a:txBody>
                    <a:bodyPr/>
                    <a:lstStyle/>
                    <a:p>
                      <a:r>
                        <a:rPr lang="en-GB" sz="1100" dirty="0"/>
                        <a:t>To quickly </a:t>
                      </a:r>
                      <a:r>
                        <a:rPr lang="en-GB" sz="1100" b="1" u="sng" dirty="0"/>
                        <a:t>display</a:t>
                      </a:r>
                      <a:r>
                        <a:rPr lang="en-GB" sz="1100" dirty="0"/>
                        <a:t> </a:t>
                      </a:r>
                      <a:r>
                        <a:rPr lang="en-GB" sz="1100" b="1" u="sng" dirty="0"/>
                        <a:t>balances</a:t>
                      </a:r>
                      <a:r>
                        <a:rPr lang="en-GB" sz="1100" dirty="0"/>
                        <a:t> of selected G/L accounts</a:t>
                      </a:r>
                      <a:endParaRPr lang="en-US" sz="1100" dirty="0"/>
                    </a:p>
                  </a:txBody>
                  <a:tcPr/>
                </a:tc>
                <a:tc>
                  <a:txBody>
                    <a:bodyPr/>
                    <a:lstStyle/>
                    <a:p>
                      <a:pPr marL="171450" indent="-171450">
                        <a:buFont typeface="Arial" panose="020B0604020202020204" pitchFamily="34" charset="0"/>
                        <a:buChar char="•"/>
                      </a:pPr>
                      <a:r>
                        <a:rPr lang="en-GB" sz="1100" dirty="0"/>
                        <a:t>FAGLB03</a:t>
                      </a:r>
                      <a:endParaRPr lang="en-US" sz="1100" dirty="0"/>
                    </a:p>
                  </a:txBody>
                  <a:tcPr/>
                </a:tc>
                <a:tc>
                  <a:txBody>
                    <a:bodyPr/>
                    <a:lstStyle/>
                    <a:p>
                      <a:r>
                        <a:rPr lang="en-GB" sz="1100" dirty="0"/>
                        <a:t>You can also use CDS Views JTI G/L Line Items or Trial Balance, however it will be quicker to use FAGLB03 if you simply want to see an account balance. </a:t>
                      </a:r>
                      <a:endParaRPr lang="en-US" sz="1100" dirty="0"/>
                    </a:p>
                  </a:txBody>
                  <a:tcPr/>
                </a:tc>
                <a:extLst>
                  <a:ext uri="{0D108BD9-81ED-4DB2-BD59-A6C34878D82A}">
                    <a16:rowId xmlns:a16="http://schemas.microsoft.com/office/drawing/2014/main" val="368981522"/>
                  </a:ext>
                </a:extLst>
              </a:tr>
              <a:tr h="755686">
                <a:tc>
                  <a:txBody>
                    <a:bodyPr/>
                    <a:lstStyle/>
                    <a:p>
                      <a:r>
                        <a:rPr lang="en-GB" sz="1100" dirty="0"/>
                        <a:t>To perform </a:t>
                      </a:r>
                      <a:r>
                        <a:rPr lang="en-GB" sz="1100" b="1" u="sng" dirty="0"/>
                        <a:t>analysis</a:t>
                      </a:r>
                      <a:r>
                        <a:rPr lang="en-GB" sz="1100" dirty="0"/>
                        <a:t> of </a:t>
                      </a:r>
                      <a:r>
                        <a:rPr lang="en-GB" sz="1100" b="1" u="sng" dirty="0"/>
                        <a:t>balances</a:t>
                      </a:r>
                      <a:r>
                        <a:rPr lang="en-GB" sz="1100" dirty="0"/>
                        <a:t> of selected G/L account which sometimes require drilling down to further details at line item level</a:t>
                      </a:r>
                      <a:endParaRPr lang="en-US" sz="1100" dirty="0"/>
                    </a:p>
                  </a:txBody>
                  <a:tcPr/>
                </a:tc>
                <a:tc>
                  <a:txBody>
                    <a:bodyPr/>
                    <a:lstStyle/>
                    <a:p>
                      <a:pPr marL="171450" indent="-171450">
                        <a:buFont typeface="Arial" panose="020B0604020202020204" pitchFamily="34" charset="0"/>
                        <a:buChar char="•"/>
                      </a:pPr>
                      <a:r>
                        <a:rPr lang="en-GB" sz="1100" dirty="0"/>
                        <a:t>CDS View: JTI Trial Balance</a:t>
                      </a:r>
                      <a:endParaRPr lang="en-US" sz="1100" dirty="0"/>
                    </a:p>
                  </a:txBody>
                  <a:tcPr/>
                </a:tc>
                <a:tc>
                  <a:txBody>
                    <a:bodyPr/>
                    <a:lstStyle/>
                    <a:p>
                      <a:r>
                        <a:rPr lang="en-GB" sz="1100" dirty="0"/>
                        <a:t>You can use FAGLB03 to achieve the same by double clicking on the selected accounts. However, CDS View is much quicker and flexible therefore much easier to use when you need to change your selection criteria or display different line item details (fields) and summarize the balances at different levels. </a:t>
                      </a:r>
                      <a:endParaRPr lang="en-US" sz="1100" dirty="0"/>
                    </a:p>
                  </a:txBody>
                  <a:tcPr/>
                </a:tc>
                <a:extLst>
                  <a:ext uri="{0D108BD9-81ED-4DB2-BD59-A6C34878D82A}">
                    <a16:rowId xmlns:a16="http://schemas.microsoft.com/office/drawing/2014/main" val="453498141"/>
                  </a:ext>
                </a:extLst>
              </a:tr>
              <a:tr h="1330008">
                <a:tc>
                  <a:txBody>
                    <a:bodyPr/>
                    <a:lstStyle/>
                    <a:p>
                      <a:r>
                        <a:rPr lang="en-GB" sz="1100" dirty="0"/>
                        <a:t>To simply </a:t>
                      </a:r>
                      <a:r>
                        <a:rPr lang="en-GB" sz="1100" b="1" u="sng" dirty="0"/>
                        <a:t>display</a:t>
                      </a:r>
                      <a:r>
                        <a:rPr lang="en-GB" sz="1100" b="1" u="none" dirty="0"/>
                        <a:t> </a:t>
                      </a:r>
                      <a:r>
                        <a:rPr lang="en-GB" sz="1100" dirty="0"/>
                        <a:t>a traditional </a:t>
                      </a:r>
                      <a:r>
                        <a:rPr lang="en-GB" sz="1100" b="1" u="sng" dirty="0"/>
                        <a:t>Trial Balance</a:t>
                      </a:r>
                      <a:endParaRPr lang="en-US" sz="1100" b="1" u="sng" dirty="0"/>
                    </a:p>
                  </a:txBody>
                  <a:tcPr/>
                </a:tc>
                <a:tc>
                  <a:txBody>
                    <a:bodyPr/>
                    <a:lstStyle/>
                    <a:p>
                      <a:pPr marL="171450" indent="-171450">
                        <a:buFont typeface="Arial" panose="020B0604020202020204" pitchFamily="34" charset="0"/>
                        <a:buChar char="•"/>
                      </a:pPr>
                      <a:r>
                        <a:rPr lang="en-GB" sz="1100" dirty="0"/>
                        <a:t>CDS View: JTI Trial Balance</a:t>
                      </a:r>
                    </a:p>
                    <a:p>
                      <a:pPr marL="171450" indent="-171450">
                        <a:buFont typeface="Arial" panose="020B0604020202020204" pitchFamily="34" charset="0"/>
                        <a:buChar char="•"/>
                      </a:pPr>
                      <a:r>
                        <a:rPr lang="en-GB" sz="1100" dirty="0"/>
                        <a:t>Standard SAP and custom G/L Balance Reports:  </a:t>
                      </a:r>
                    </a:p>
                    <a:p>
                      <a:pPr marL="628650" lvl="1" indent="-171450">
                        <a:buFont typeface="Arial" panose="020B0604020202020204" pitchFamily="34" charset="0"/>
                        <a:buChar char="•"/>
                      </a:pPr>
                      <a:r>
                        <a:rPr lang="en-GB" sz="1000" dirty="0"/>
                        <a:t>S_ALR_87012277: G/L Account Balances</a:t>
                      </a:r>
                    </a:p>
                    <a:p>
                      <a:pPr marL="628650" lvl="1" indent="-171450">
                        <a:buFont typeface="Arial" panose="020B0604020202020204" pitchFamily="34" charset="0"/>
                        <a:buChar char="•"/>
                      </a:pPr>
                      <a:r>
                        <a:rPr lang="en-GB" sz="1000" dirty="0"/>
                        <a:t>S_PL0_86000030: G/L Account Balances (New)</a:t>
                      </a:r>
                    </a:p>
                    <a:p>
                      <a:pPr marL="628650" lvl="1" indent="-171450">
                        <a:buFont typeface="Arial" panose="020B0604020202020204" pitchFamily="34" charset="0"/>
                        <a:buChar char="•"/>
                      </a:pPr>
                      <a:r>
                        <a:rPr lang="en-GB" sz="1000" dirty="0"/>
                        <a:t>S_PL0_86000031: Transaction Figures: Account Balance</a:t>
                      </a:r>
                    </a:p>
                    <a:p>
                      <a:pPr marL="628650" lvl="1" indent="-171450">
                        <a:buFont typeface="Arial" panose="020B0604020202020204" pitchFamily="34" charset="0"/>
                        <a:buChar char="•"/>
                      </a:pPr>
                      <a:r>
                        <a:rPr lang="en-GB" sz="1000" dirty="0"/>
                        <a:t>ZFFIA03: Account balances by document currency</a:t>
                      </a:r>
                    </a:p>
                    <a:p>
                      <a:pPr marL="628650" lvl="1" indent="-171450">
                        <a:buFont typeface="Arial" panose="020B0604020202020204" pitchFamily="34" charset="0"/>
                        <a:buChar char="•"/>
                      </a:pPr>
                      <a:r>
                        <a:rPr lang="en-GB" sz="1000" dirty="0"/>
                        <a:t>ZFFIA20: Global TB</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t>The TBs in SAP GUI differ from each other with the columns and level of details shown. Please refer to the detailed slides in section </a:t>
                      </a:r>
                      <a:r>
                        <a:rPr lang="en-US" sz="1100" b="1" dirty="0">
                          <a:solidFill>
                            <a:schemeClr val="tx1"/>
                          </a:solidFill>
                          <a:latin typeface="Arial" charset="0"/>
                          <a:cs typeface="Arial" charset="0"/>
                        </a:rPr>
                        <a:t>FI Reporting - Standard G/L Reports in S/4HANA.</a:t>
                      </a:r>
                      <a:endParaRPr lang="en-GB" sz="1100" b="1" dirty="0">
                        <a:solidFill>
                          <a:schemeClr val="tx1"/>
                        </a:solidFill>
                        <a:latin typeface="Arial" charset="0"/>
                        <a:cs typeface="Arial" charset="0"/>
                      </a:endParaRPr>
                    </a:p>
                    <a:p>
                      <a:endParaRPr lang="en-US" sz="1100" dirty="0"/>
                    </a:p>
                  </a:txBody>
                  <a:tcPr/>
                </a:tc>
                <a:extLst>
                  <a:ext uri="{0D108BD9-81ED-4DB2-BD59-A6C34878D82A}">
                    <a16:rowId xmlns:a16="http://schemas.microsoft.com/office/drawing/2014/main" val="4193644416"/>
                  </a:ext>
                </a:extLst>
              </a:tr>
              <a:tr h="1163757">
                <a:tc>
                  <a:txBody>
                    <a:bodyPr/>
                    <a:lstStyle/>
                    <a:p>
                      <a:r>
                        <a:rPr lang="en-GB" sz="1100" dirty="0"/>
                        <a:t>To simply </a:t>
                      </a:r>
                      <a:r>
                        <a:rPr lang="en-GB" sz="1100" b="1" u="sng" dirty="0"/>
                        <a:t>display</a:t>
                      </a:r>
                      <a:r>
                        <a:rPr lang="en-GB" sz="1100" dirty="0"/>
                        <a:t> a </a:t>
                      </a:r>
                      <a:r>
                        <a:rPr lang="en-GB" sz="1100" b="1" u="sng" dirty="0"/>
                        <a:t>formatted financial statement</a:t>
                      </a:r>
                      <a:r>
                        <a:rPr lang="en-GB" sz="1100" dirty="0"/>
                        <a:t> (e.g. based on Financial Statement Versions)</a:t>
                      </a:r>
                      <a:endParaRPr lang="en-US" sz="1100" dirty="0"/>
                    </a:p>
                  </a:txBody>
                  <a:tcPr/>
                </a:tc>
                <a:tc>
                  <a:txBody>
                    <a:bodyPr/>
                    <a:lstStyle/>
                    <a:p>
                      <a:r>
                        <a:rPr lang="en-GB" sz="1100" dirty="0"/>
                        <a:t>Standard SAP Financial Statements Reports:</a:t>
                      </a:r>
                    </a:p>
                    <a:p>
                      <a:pPr marL="171450" indent="-171450" algn="l" defTabSz="914400" rtl="0" eaLnBrk="1" latinLnBrk="0" hangingPunct="1">
                        <a:buFont typeface="Arial" panose="020B0604020202020204" pitchFamily="34" charset="0"/>
                        <a:buChar char="•"/>
                      </a:pPr>
                      <a:r>
                        <a:rPr lang="en-GB" sz="1000" kern="1200" dirty="0">
                          <a:solidFill>
                            <a:schemeClr val="dk1"/>
                          </a:solidFill>
                          <a:latin typeface="+mn-lt"/>
                          <a:ea typeface="+mn-ea"/>
                          <a:cs typeface="+mn-cs"/>
                        </a:rPr>
                        <a:t>S_ALR_87012284: Financial Statement: Balance Sheet / P&amp;L Report</a:t>
                      </a:r>
                    </a:p>
                    <a:p>
                      <a:pPr marL="171450" indent="-171450" algn="l" defTabSz="914400" rtl="0" eaLnBrk="1" latinLnBrk="0" hangingPunct="1">
                        <a:buFont typeface="Arial" panose="020B0604020202020204" pitchFamily="34" charset="0"/>
                        <a:buChar char="•"/>
                      </a:pPr>
                      <a:r>
                        <a:rPr lang="en-GB" sz="1000" kern="1200" dirty="0">
                          <a:solidFill>
                            <a:schemeClr val="dk1"/>
                          </a:solidFill>
                          <a:latin typeface="+mn-lt"/>
                          <a:ea typeface="+mn-ea"/>
                          <a:cs typeface="+mn-cs"/>
                        </a:rPr>
                        <a:t>S_PL0_86000032: SAP Structured Balance List</a:t>
                      </a:r>
                    </a:p>
                    <a:p>
                      <a:pPr marL="171450" indent="-171450" algn="l" defTabSz="914400" rtl="0" eaLnBrk="1" latinLnBrk="0" hangingPunct="1">
                        <a:buFont typeface="Arial" panose="020B0604020202020204" pitchFamily="34" charset="0"/>
                        <a:buChar char="•"/>
                      </a:pPr>
                      <a:r>
                        <a:rPr lang="en-GB" sz="1000" kern="1200" dirty="0">
                          <a:solidFill>
                            <a:schemeClr val="dk1"/>
                          </a:solidFill>
                          <a:latin typeface="+mn-lt"/>
                          <a:ea typeface="+mn-ea"/>
                          <a:cs typeface="+mn-cs"/>
                        </a:rPr>
                        <a:t>S_ALR_87012279: Structured Account Balances </a:t>
                      </a:r>
                    </a:p>
                    <a:p>
                      <a:pPr marL="171450" indent="-171450" algn="l" defTabSz="914400" rtl="0" eaLnBrk="1" latinLnBrk="0" hangingPunct="1">
                        <a:buFont typeface="Arial" panose="020B0604020202020204" pitchFamily="34" charset="0"/>
                        <a:buChar char="•"/>
                      </a:pPr>
                      <a:r>
                        <a:rPr lang="en-GB" sz="1000" dirty="0"/>
                        <a:t>ZFGL_CTA: CTA Accounting Report/Account balance by currency type</a:t>
                      </a:r>
                      <a:endParaRPr lang="en-US" sz="1000" dirty="0"/>
                    </a:p>
                  </a:txBody>
                  <a:tcPr/>
                </a:tc>
                <a:tc>
                  <a:txBody>
                    <a:bodyPr/>
                    <a:lstStyle/>
                    <a:p>
                      <a:r>
                        <a:rPr lang="en-GB" sz="1100" dirty="0"/>
                        <a:t>Balances displayed on these reports are </a:t>
                      </a:r>
                      <a:r>
                        <a:rPr lang="en-GB" sz="1100" b="1" dirty="0"/>
                        <a:t>based on Financial Statement Versions </a:t>
                      </a:r>
                      <a:r>
                        <a:rPr lang="en-GB" sz="1100" b="0" dirty="0"/>
                        <a:t>and no drill down to line item details is available. Although you can download these reports to Excel, it is inconvenient to perform any quick and meaningful analysis using these reports. </a:t>
                      </a:r>
                      <a:endParaRPr lang="en-US" sz="1100" b="0" dirty="0"/>
                    </a:p>
                  </a:txBody>
                  <a:tcPr/>
                </a:tc>
                <a:extLst>
                  <a:ext uri="{0D108BD9-81ED-4DB2-BD59-A6C34878D82A}">
                    <a16:rowId xmlns:a16="http://schemas.microsoft.com/office/drawing/2014/main" val="2873233807"/>
                  </a:ext>
                </a:extLst>
              </a:tr>
              <a:tr h="826318">
                <a:tc>
                  <a:txBody>
                    <a:bodyPr/>
                    <a:lstStyle/>
                    <a:p>
                      <a:r>
                        <a:rPr lang="en-GB" sz="1100" dirty="0"/>
                        <a:t>To </a:t>
                      </a:r>
                      <a:r>
                        <a:rPr lang="en-GB" sz="1100" b="1" u="sng" dirty="0"/>
                        <a:t>display</a:t>
                      </a:r>
                      <a:r>
                        <a:rPr lang="en-GB" sz="1100" dirty="0"/>
                        <a:t> account balances </a:t>
                      </a:r>
                      <a:r>
                        <a:rPr lang="en-GB" sz="1100" b="1" u="sng" dirty="0"/>
                        <a:t>with comparison </a:t>
                      </a:r>
                      <a:r>
                        <a:rPr lang="en-GB" sz="1100" dirty="0"/>
                        <a:t>and </a:t>
                      </a:r>
                      <a:r>
                        <a:rPr lang="en-GB" sz="1100" b="1" u="sng" dirty="0"/>
                        <a:t>perform various analysis</a:t>
                      </a:r>
                      <a:endParaRPr lang="en-US" sz="1100" b="1" u="sng"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100" dirty="0"/>
                        <a:t>CDS View: JTI Trial Balance Comparison</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0" dirty="0"/>
                        <a:t>There are SAP standard TB comparison reports available as explained in </a:t>
                      </a:r>
                      <a:r>
                        <a:rPr lang="en-GB" sz="1100" dirty="0"/>
                        <a:t>section </a:t>
                      </a:r>
                      <a:r>
                        <a:rPr lang="en-US" sz="1100" b="1" dirty="0">
                          <a:solidFill>
                            <a:schemeClr val="tx1"/>
                          </a:solidFill>
                          <a:latin typeface="Arial" charset="0"/>
                          <a:cs typeface="Arial" charset="0"/>
                        </a:rPr>
                        <a:t>FI Reporting - Standard G/L Reports in S/4HANA, </a:t>
                      </a:r>
                      <a:r>
                        <a:rPr lang="en-US" sz="1100" b="0" dirty="0">
                          <a:solidFill>
                            <a:schemeClr val="tx1"/>
                          </a:solidFill>
                          <a:latin typeface="Arial" charset="0"/>
                          <a:cs typeface="Arial" charset="0"/>
                        </a:rPr>
                        <a:t>but the JTI Trial Balance Comparison CDS View offers great flexibility and options for all types of comparison, such as by Fiscal Year / Period / Posting Date / Ledger / Currency Type, etc., with further details instantly available. </a:t>
                      </a:r>
                      <a:endParaRPr lang="en-US" sz="1100" b="0" dirty="0"/>
                    </a:p>
                  </a:txBody>
                  <a:tcPr/>
                </a:tc>
                <a:extLst>
                  <a:ext uri="{0D108BD9-81ED-4DB2-BD59-A6C34878D82A}">
                    <a16:rowId xmlns:a16="http://schemas.microsoft.com/office/drawing/2014/main" val="2118732139"/>
                  </a:ext>
                </a:extLst>
              </a:tr>
            </a:tbl>
          </a:graphicData>
        </a:graphic>
      </p:graphicFrame>
      <p:sp>
        <p:nvSpPr>
          <p:cNvPr id="3" name="Slide Number Placeholder 2">
            <a:extLst>
              <a:ext uri="{FF2B5EF4-FFF2-40B4-BE49-F238E27FC236}">
                <a16:creationId xmlns:a16="http://schemas.microsoft.com/office/drawing/2014/main" id="{1950C525-08A6-44C9-BC03-51F0079C428A}"/>
              </a:ext>
            </a:extLst>
          </p:cNvPr>
          <p:cNvSpPr>
            <a:spLocks noGrp="1"/>
          </p:cNvSpPr>
          <p:nvPr>
            <p:ph type="sldNum" sz="quarter" idx="12"/>
          </p:nvPr>
        </p:nvSpPr>
        <p:spPr>
          <a:xfrm>
            <a:off x="9128008" y="62847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2FBF0FA1-2027-4F04-BFC3-BB436CF6ED98}"/>
              </a:ext>
            </a:extLst>
          </p:cNvPr>
          <p:cNvSpPr txBox="1"/>
          <p:nvPr/>
        </p:nvSpPr>
        <p:spPr>
          <a:xfrm>
            <a:off x="336430" y="0"/>
            <a:ext cx="8791578" cy="47765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000000"/>
                </a:solidFill>
                <a:effectLst/>
                <a:uLnTx/>
                <a:uFillTx/>
                <a:latin typeface="Arial" panose="020B0604020202020204"/>
                <a:ea typeface="+mn-ea"/>
                <a:cs typeface="+mn-cs"/>
              </a:rPr>
              <a:t>Which FI Report Should I use?</a:t>
            </a:r>
            <a:endParaRPr kumimoji="0" lang="en-US" sz="2800" b="1"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02809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PBJN_SWybPKTnLDXXb0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1PBJN_SWybPKTnLDXXb0bA"/>
</p:tagLst>
</file>

<file path=ppt/theme/theme1.xml><?xml version="1.0" encoding="utf-8"?>
<a:theme xmlns:a="http://schemas.openxmlformats.org/drawingml/2006/main" name="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FF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Finance Master Data">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FF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87D43548-1F98-44F1-B4C3-5D3C6F52D737}"/>
</file>

<file path=customXml/itemProps2.xml><?xml version="1.0" encoding="utf-8"?>
<ds:datastoreItem xmlns:ds="http://schemas.openxmlformats.org/officeDocument/2006/customXml" ds:itemID="{993817C1-75B9-4441-845A-04B34832B98E}">
  <ds:schemaRefs>
    <ds:schemaRef ds:uri="http://schemas.microsoft.com/sharepoint/v3/contenttype/forms"/>
  </ds:schemaRefs>
</ds:datastoreItem>
</file>

<file path=customXml/itemProps3.xml><?xml version="1.0" encoding="utf-8"?>
<ds:datastoreItem xmlns:ds="http://schemas.openxmlformats.org/officeDocument/2006/customXml" ds:itemID="{A6E35DBB-31B6-4503-96F4-47E0E8619721}">
  <ds:schemaRefs>
    <ds:schemaRef ds:uri="http://purl.org/dc/elements/1.1/"/>
    <ds:schemaRef ds:uri="http://schemas.microsoft.com/office/2006/metadata/properties"/>
    <ds:schemaRef ds:uri="http://schemas.openxmlformats.org/package/2006/metadata/core-properties"/>
    <ds:schemaRef ds:uri="ba249638-b5c4-4b59-8094-70d8491c2e9c"/>
    <ds:schemaRef ds:uri="http://purl.org/dc/terms/"/>
    <ds:schemaRef ds:uri="http://schemas.microsoft.com/office/infopath/2007/PartnerControls"/>
    <ds:schemaRef ds:uri="http://schemas.microsoft.com/office/2006/documentManagement/types"/>
    <ds:schemaRef ds:uri="91871c47-af2e-43ea-ad3f-7bb4c536bc4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677</Words>
  <Application>Microsoft Office PowerPoint</Application>
  <PresentationFormat>Widescreen</PresentationFormat>
  <Paragraphs>57</Paragraphs>
  <Slides>3</Slides>
  <Notes>0</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3</vt:i4>
      </vt:variant>
    </vt:vector>
  </HeadingPairs>
  <TitlesOfParts>
    <vt:vector size="10" baseType="lpstr">
      <vt:lpstr>Arial</vt:lpstr>
      <vt:lpstr>Calibri</vt:lpstr>
      <vt:lpstr>Georgia</vt:lpstr>
      <vt:lpstr>S4F-ERP Clean IFRS Stat &amp; Tax Rep</vt:lpstr>
      <vt:lpstr>Finance Master Data</vt:lpstr>
      <vt:lpstr>11_S4F-ERP Clean IFRS Stat &amp; Tax Rep</vt:lpstr>
      <vt:lpstr>think-cell Slide</vt:lpstr>
      <vt:lpstr>Course Structure</vt:lpstr>
      <vt:lpstr>When Best To Use CDS Views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Wang, Wei</dc:creator>
  <cp:lastModifiedBy>Wang, Wei</cp:lastModifiedBy>
  <cp:revision>1</cp:revision>
  <dcterms:created xsi:type="dcterms:W3CDTF">2021-06-01T16:53:55Z</dcterms:created>
  <dcterms:modified xsi:type="dcterms:W3CDTF">2021-07-14T15:29:47Z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20b37f-db72-473e-ae54-fb16df408069_Enabled">
    <vt:lpwstr>true</vt:lpwstr>
  </property>
  <property fmtid="{D5CDD505-2E9C-101B-9397-08002B2CF9AE}" pid="3" name="MSIP_Label_b020b37f-db72-473e-ae54-fb16df408069_SetDate">
    <vt:lpwstr>2021-06-01T16:53:55Z</vt:lpwstr>
  </property>
  <property fmtid="{D5CDD505-2E9C-101B-9397-08002B2CF9AE}" pid="4" name="MSIP_Label_b020b37f-db72-473e-ae54-fb16df408069_Method">
    <vt:lpwstr>Standard</vt:lpwstr>
  </property>
  <property fmtid="{D5CDD505-2E9C-101B-9397-08002B2CF9AE}" pid="5" name="MSIP_Label_b020b37f-db72-473e-ae54-fb16df408069_Name">
    <vt:lpwstr>General</vt:lpwstr>
  </property>
  <property fmtid="{D5CDD505-2E9C-101B-9397-08002B2CF9AE}" pid="6" name="MSIP_Label_b020b37f-db72-473e-ae54-fb16df408069_SiteId">
    <vt:lpwstr>705d07a3-2eea-4f3b-ab59-65ca29abeb26</vt:lpwstr>
  </property>
  <property fmtid="{D5CDD505-2E9C-101B-9397-08002B2CF9AE}" pid="7" name="MSIP_Label_b020b37f-db72-473e-ae54-fb16df408069_ActionId">
    <vt:lpwstr>e54cd198-2442-495a-bd00-40325c156c63</vt:lpwstr>
  </property>
  <property fmtid="{D5CDD505-2E9C-101B-9397-08002B2CF9AE}" pid="8" name="MSIP_Label_b020b37f-db72-473e-ae54-fb16df408069_ContentBits">
    <vt:lpwstr>0</vt:lpwstr>
  </property>
  <property fmtid="{D5CDD505-2E9C-101B-9397-08002B2CF9AE}" pid="9" name="ContentTypeId">
    <vt:lpwstr>0x010100EA691DA1475FED40816A34A9887BD419</vt:lpwstr>
  </property>
</Properties>
</file>