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4" r:id="rId4"/>
    <p:sldMasterId id="2147483849" r:id="rId5"/>
    <p:sldMasterId id="2147483926" r:id="rId6"/>
    <p:sldMasterId id="2147483931" r:id="rId7"/>
  </p:sldMasterIdLst>
  <p:notesMasterIdLst>
    <p:notesMasterId r:id="rId25"/>
  </p:notesMasterIdLst>
  <p:sldIdLst>
    <p:sldId id="3317" r:id="rId8"/>
    <p:sldId id="3334" r:id="rId9"/>
    <p:sldId id="3328" r:id="rId10"/>
    <p:sldId id="3329" r:id="rId11"/>
    <p:sldId id="3335" r:id="rId12"/>
    <p:sldId id="2147477293" r:id="rId13"/>
    <p:sldId id="3331" r:id="rId14"/>
    <p:sldId id="2147477294" r:id="rId15"/>
    <p:sldId id="2147477295" r:id="rId16"/>
    <p:sldId id="3332" r:id="rId17"/>
    <p:sldId id="3394" r:id="rId18"/>
    <p:sldId id="3337" r:id="rId19"/>
    <p:sldId id="3339" r:id="rId20"/>
    <p:sldId id="2134961590" r:id="rId21"/>
    <p:sldId id="3338" r:id="rId22"/>
    <p:sldId id="2638" r:id="rId23"/>
    <p:sldId id="2522"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ang, Wei" initials="WW" lastIdx="20" clrIdx="0">
    <p:extLst>
      <p:ext uri="{19B8F6BF-5375-455C-9EA6-DF929625EA0E}">
        <p15:presenceInfo xmlns:p15="http://schemas.microsoft.com/office/powerpoint/2012/main" userId="S-1-5-21-1645522239-1214440339-682003330-696358" providerId="AD"/>
      </p:ext>
    </p:extLst>
  </p:cmAuthor>
  <p:cmAuthor id="2" name="Riggien, Samantha" initials="RS" lastIdx="3" clrIdx="1">
    <p:extLst>
      <p:ext uri="{19B8F6BF-5375-455C-9EA6-DF929625EA0E}">
        <p15:presenceInfo xmlns:p15="http://schemas.microsoft.com/office/powerpoint/2012/main" userId="S-1-5-21-1645522239-1214440339-682003330-754366" providerId="AD"/>
      </p:ext>
    </p:extLst>
  </p:cmAuthor>
  <p:cmAuthor id="3" name="Wang, Wei" initials="WW [2]" lastIdx="304" clrIdx="2">
    <p:extLst>
      <p:ext uri="{19B8F6BF-5375-455C-9EA6-DF929625EA0E}">
        <p15:presenceInfo xmlns:p15="http://schemas.microsoft.com/office/powerpoint/2012/main" userId="S::CSTWANGW@CORP.JTI.COM::627587dd-935f-4f2b-a6c6-edd4e0dcbff5" providerId="AD"/>
      </p:ext>
    </p:extLst>
  </p:cmAuthor>
  <p:cmAuthor id="4" name="Aardse, Leone" initials="AL" lastIdx="24" clrIdx="3">
    <p:extLst>
      <p:ext uri="{19B8F6BF-5375-455C-9EA6-DF929625EA0E}">
        <p15:presenceInfo xmlns:p15="http://schemas.microsoft.com/office/powerpoint/2012/main" userId="S::GVAAARDSL@CORP.JTI.COM::739cd3d2-ccb6-46e7-9410-591a9a971dee" providerId="AD"/>
      </p:ext>
    </p:extLst>
  </p:cmAuthor>
  <p:cmAuthor id="5" name="Vostrenkova, Anna" initials="VA" lastIdx="5" clrIdx="4">
    <p:extLst>
      <p:ext uri="{19B8F6BF-5375-455C-9EA6-DF929625EA0E}">
        <p15:presenceInfo xmlns:p15="http://schemas.microsoft.com/office/powerpoint/2012/main" userId="S::SPBVOSTRA@CORP.JTI.COM::714b791a-f154-4e8e-a89b-2941418e6a84" providerId="AD"/>
      </p:ext>
    </p:extLst>
  </p:cmAuthor>
  <p:cmAuthor id="6" name="Kandrotiene, Ilmante" initials="KI" lastIdx="55" clrIdx="5">
    <p:extLst>
      <p:ext uri="{19B8F6BF-5375-455C-9EA6-DF929625EA0E}">
        <p15:presenceInfo xmlns:p15="http://schemas.microsoft.com/office/powerpoint/2012/main" userId="S::GVAKANDRI@CORP.JTI.COM::9c9540c0-163c-4c36-9d78-d3fff8b35cb9" providerId="AD"/>
      </p:ext>
    </p:extLst>
  </p:cmAuthor>
  <p:cmAuthor id="7" name="Hill, Daniel" initials="HD" lastIdx="72" clrIdx="6">
    <p:extLst>
      <p:ext uri="{19B8F6BF-5375-455C-9EA6-DF929625EA0E}">
        <p15:presenceInfo xmlns:p15="http://schemas.microsoft.com/office/powerpoint/2012/main" userId="S::MANHILLD@CORP.JTI.COM::e75359db-c6a9-4245-8308-303af67184cd" providerId="AD"/>
      </p:ext>
    </p:extLst>
  </p:cmAuthor>
  <p:cmAuthor id="8" name="Sandler, Marina" initials="SM" lastIdx="7" clrIdx="7">
    <p:extLst>
      <p:ext uri="{19B8F6BF-5375-455C-9EA6-DF929625EA0E}">
        <p15:presenceInfo xmlns:p15="http://schemas.microsoft.com/office/powerpoint/2012/main" userId="S::GVASANDLMB@CORP.JTI.COM::b711e7c6-a7ab-441a-b8e7-d5e5b2cdc6ec" providerId="AD"/>
      </p:ext>
    </p:extLst>
  </p:cmAuthor>
  <p:cmAuthor id="9" name="Parshina, Olga" initials="PO" lastIdx="8" clrIdx="8">
    <p:extLst>
      <p:ext uri="{19B8F6BF-5375-455C-9EA6-DF929625EA0E}">
        <p15:presenceInfo xmlns:p15="http://schemas.microsoft.com/office/powerpoint/2012/main" userId="S::SPBPARSHOD@CORP.JTI.COM::873a8ef6-ff3d-4f50-8df2-5293041e8e5f" providerId="AD"/>
      </p:ext>
    </p:extLst>
  </p:cmAuthor>
  <p:cmAuthor id="10" name="Marchais, Helene" initials="MH" lastIdx="2" clrIdx="9">
    <p:extLst>
      <p:ext uri="{19B8F6BF-5375-455C-9EA6-DF929625EA0E}">
        <p15:presenceInfo xmlns:p15="http://schemas.microsoft.com/office/powerpoint/2012/main" userId="S::GVAMARCHH@CORP.JTI.COM::17418108-8412-4e41-8311-0d6f205b872e" providerId="AD"/>
      </p:ext>
    </p:extLst>
  </p:cmAuthor>
  <p:cmAuthor id="11" name="McVey, Suzanne" initials="MS" lastIdx="2" clrIdx="10">
    <p:extLst>
      <p:ext uri="{19B8F6BF-5375-455C-9EA6-DF929625EA0E}">
        <p15:presenceInfo xmlns:p15="http://schemas.microsoft.com/office/powerpoint/2012/main" userId="S::gvamcveys@corp.jti.com::d4086ca4-ef1f-4ada-91cc-91d6702702bb" providerId="AD"/>
      </p:ext>
    </p:extLst>
  </p:cmAuthor>
  <p:cmAuthor id="12" name="Tierney, Jacqueline" initials="TJ" lastIdx="2" clrIdx="11">
    <p:extLst>
      <p:ext uri="{19B8F6BF-5375-455C-9EA6-DF929625EA0E}">
        <p15:presenceInfo xmlns:p15="http://schemas.microsoft.com/office/powerpoint/2012/main" userId="S::mantiernj@corp.jti.com::c724e8cc-4489-4c36-9411-a0d84306cb81" providerId="AD"/>
      </p:ext>
    </p:extLst>
  </p:cmAuthor>
  <p:cmAuthor id="13" name="Ng, Leo" initials="NL" lastIdx="20" clrIdx="12">
    <p:extLst>
      <p:ext uri="{19B8F6BF-5375-455C-9EA6-DF929625EA0E}">
        <p15:presenceInfo xmlns:p15="http://schemas.microsoft.com/office/powerpoint/2012/main" userId="S::KUANGL@CORP.JTI.COM::ab3a9736-2aae-4d22-bdfd-26ab630f437e" providerId="AD"/>
      </p:ext>
    </p:extLst>
  </p:cmAuthor>
  <p:cmAuthor id="14" name="O'Neill, Shauna" initials="OS" lastIdx="9" clrIdx="13">
    <p:extLst>
      <p:ext uri="{19B8F6BF-5375-455C-9EA6-DF929625EA0E}">
        <p15:presenceInfo xmlns:p15="http://schemas.microsoft.com/office/powerpoint/2012/main" userId="S::cstoneils2@corp.jti.com::1d0a8ccc-c260-429c-86e4-d406a5ac1d3d" providerId="AD"/>
      </p:ext>
    </p:extLst>
  </p:cmAuthor>
  <p:cmAuthor id="15" name="McDonald, Pippa" initials="MP" lastIdx="6" clrIdx="14">
    <p:extLst>
      <p:ext uri="{19B8F6BF-5375-455C-9EA6-DF929625EA0E}">
        <p15:presenceInfo xmlns:p15="http://schemas.microsoft.com/office/powerpoint/2012/main" userId="S::manmcdonp@corp.jti.com::2ed36ef8-ebae-4e24-821e-a2650104ad6d" providerId="AD"/>
      </p:ext>
    </p:extLst>
  </p:cmAuthor>
  <p:cmAuthor id="16" name="Lim, Yen Ping (Fynn)" initials="L(" lastIdx="8" clrIdx="15">
    <p:extLst>
      <p:ext uri="{19B8F6BF-5375-455C-9EA6-DF929625EA0E}">
        <p15:presenceInfo xmlns:p15="http://schemas.microsoft.com/office/powerpoint/2012/main" userId="S::kualimyp@corp.jti.com::525a2945-a468-48a4-8798-4320c60077ff" providerId="AD"/>
      </p:ext>
    </p:extLst>
  </p:cmAuthor>
  <p:cmAuthor id="17" name="Chong, Crystal" initials="CC" lastIdx="4" clrIdx="16">
    <p:extLst>
      <p:ext uri="{19B8F6BF-5375-455C-9EA6-DF929625EA0E}">
        <p15:presenceInfo xmlns:p15="http://schemas.microsoft.com/office/powerpoint/2012/main" userId="S::kuachongc@corp.jti.com::d3b25bd2-e090-4a14-88fa-ea464c19b5b9" providerId="AD"/>
      </p:ext>
    </p:extLst>
  </p:cmAuthor>
  <p:cmAuthor id="18" name="Polyakova, Alexandra" initials="PA" lastIdx="13" clrIdx="17">
    <p:extLst>
      <p:ext uri="{19B8F6BF-5375-455C-9EA6-DF929625EA0E}">
        <p15:presenceInfo xmlns:p15="http://schemas.microsoft.com/office/powerpoint/2012/main" userId="S::spbpolyaa@corp.jti.com::8426ce0f-1f14-446c-9762-b32f13d7d8d4" providerId="AD"/>
      </p:ext>
    </p:extLst>
  </p:cmAuthor>
  <p:cmAuthor id="19" name="Jarvis, Aaron" initials="JA" lastIdx="17" clrIdx="18">
    <p:extLst>
      <p:ext uri="{19B8F6BF-5375-455C-9EA6-DF929625EA0E}">
        <p15:presenceInfo xmlns:p15="http://schemas.microsoft.com/office/powerpoint/2012/main" userId="S::MANJARVIA@CORP.JTI.COM::26a134ec-3939-4533-807c-1ff3cfe41ae7" providerId="AD"/>
      </p:ext>
    </p:extLst>
  </p:cmAuthor>
  <p:cmAuthor id="20" name="Jarvis, Chris" initials="JC" lastIdx="4" clrIdx="19">
    <p:extLst>
      <p:ext uri="{19B8F6BF-5375-455C-9EA6-DF929625EA0E}">
        <p15:presenceInfo xmlns:p15="http://schemas.microsoft.com/office/powerpoint/2012/main" userId="S::manjarvic1@corp.jti.com::4151bf10-c6f8-44fb-9722-90b2018781db" providerId="AD"/>
      </p:ext>
    </p:extLst>
  </p:cmAuthor>
  <p:cmAuthor id="21" name="Kovzhik, Lina" initials="KL" lastIdx="10" clrIdx="20">
    <p:extLst>
      <p:ext uri="{19B8F6BF-5375-455C-9EA6-DF929625EA0E}">
        <p15:presenceInfo xmlns:p15="http://schemas.microsoft.com/office/powerpoint/2012/main" userId="S::spbkovzhl@corp.jti.com::666477bb-32b9-4dd3-90a8-a3c49814c101" providerId="AD"/>
      </p:ext>
    </p:extLst>
  </p:cmAuthor>
  <p:cmAuthor id="22" name="Harvey-Ascroft, Mike" initials="HM" lastIdx="1" clrIdx="21">
    <p:extLst>
      <p:ext uri="{19B8F6BF-5375-455C-9EA6-DF929625EA0E}">
        <p15:presenceInfo xmlns:p15="http://schemas.microsoft.com/office/powerpoint/2012/main" userId="S::manharvem@corp.jti.com::4d8eba1c-0aef-42c6-8f5f-fb79cd2a516a" providerId="AD"/>
      </p:ext>
    </p:extLst>
  </p:cmAuthor>
  <p:cmAuthor id="23" name="Vrzhesnevskaya, Eugenia" initials="VE" lastIdx="6" clrIdx="22">
    <p:extLst>
      <p:ext uri="{19B8F6BF-5375-455C-9EA6-DF929625EA0E}">
        <p15:presenceInfo xmlns:p15="http://schemas.microsoft.com/office/powerpoint/2012/main" userId="S::spbvrzhee@corp.jti.com::76edc36c-0c8b-48b9-8f3a-b38671d2a9a2" providerId="AD"/>
      </p:ext>
    </p:extLst>
  </p:cmAuthor>
  <p:cmAuthor id="24" name="Tolstaya, Aleksandra" initials="TA" lastIdx="8" clrIdx="23">
    <p:extLst>
      <p:ext uri="{19B8F6BF-5375-455C-9EA6-DF929625EA0E}">
        <p15:presenceInfo xmlns:p15="http://schemas.microsoft.com/office/powerpoint/2012/main" userId="S::spbtolsta@corp.jti.com::b1d6c31e-3cf3-468b-8ba5-69804c559cd4" providerId="AD"/>
      </p:ext>
    </p:extLst>
  </p:cmAuthor>
  <p:cmAuthor id="25" name="Matthews, Tamsin" initials="MT" lastIdx="5" clrIdx="24">
    <p:extLst>
      <p:ext uri="{19B8F6BF-5375-455C-9EA6-DF929625EA0E}">
        <p15:presenceInfo xmlns:p15="http://schemas.microsoft.com/office/powerpoint/2012/main" userId="S::manmattht@corp.jti.com::9da61704-b5a9-4579-add8-ec9a9822e6e4" providerId="AD"/>
      </p:ext>
    </p:extLst>
  </p:cmAuthor>
  <p:cmAuthor id="26" name="Koay, Li Min" initials="KM" lastIdx="2" clrIdx="25">
    <p:extLst>
      <p:ext uri="{19B8F6BF-5375-455C-9EA6-DF929625EA0E}">
        <p15:presenceInfo xmlns:p15="http://schemas.microsoft.com/office/powerpoint/2012/main" userId="S::kuakoaylm@corp.jti.com::703457b3-a307-46c3-8549-6b5de8d482e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AAA00"/>
    <a:srgbClr val="C3EBE9"/>
    <a:srgbClr val="33C781"/>
    <a:srgbClr val="7DD9A2"/>
    <a:srgbClr val="74D9D5"/>
    <a:srgbClr val="E6E6E6"/>
    <a:srgbClr val="0D3919"/>
    <a:srgbClr val="005855"/>
    <a:srgbClr val="005955"/>
    <a:srgbClr val="606F7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0CF332-D0A3-4C72-8596-9E072941940B}" v="1" dt="2024-04-25T18:35:34.66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792" y="8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slide" Target="slides/slide14.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viewProps" Target="viewProps.xml"/><Relationship Id="rId10" Type="http://schemas.openxmlformats.org/officeDocument/2006/relationships/slide" Target="slides/slide3.xml"/><Relationship Id="rId19" Type="http://schemas.openxmlformats.org/officeDocument/2006/relationships/slide" Target="slides/slide12.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ng, Wei" userId="627587dd-935f-4f2b-a6c6-edd4e0dcbff5" providerId="ADAL" clId="{1A4859DD-1438-4A62-B3ED-3248FAA592C6}"/>
    <pc:docChg chg="modSld">
      <pc:chgData name="Wang, Wei" userId="627587dd-935f-4f2b-a6c6-edd4e0dcbff5" providerId="ADAL" clId="{1A4859DD-1438-4A62-B3ED-3248FAA592C6}" dt="2020-05-22T10:55:46.525" v="3" actId="14100"/>
      <pc:docMkLst>
        <pc:docMk/>
      </pc:docMkLst>
      <pc:sldChg chg="modSp">
        <pc:chgData name="Wang, Wei" userId="627587dd-935f-4f2b-a6c6-edd4e0dcbff5" providerId="ADAL" clId="{1A4859DD-1438-4A62-B3ED-3248FAA592C6}" dt="2020-05-22T10:55:46.525" v="3" actId="14100"/>
        <pc:sldMkLst>
          <pc:docMk/>
          <pc:sldMk cId="391170887" sldId="2638"/>
        </pc:sldMkLst>
        <pc:spChg chg="mod">
          <ac:chgData name="Wang, Wei" userId="627587dd-935f-4f2b-a6c6-edd4e0dcbff5" providerId="ADAL" clId="{1A4859DD-1438-4A62-B3ED-3248FAA592C6}" dt="2020-05-22T10:55:44.645" v="2" actId="14100"/>
          <ac:spMkLst>
            <pc:docMk/>
            <pc:sldMk cId="391170887" sldId="2638"/>
            <ac:spMk id="4" creationId="{7DF6DE24-71F6-4B4D-B00E-1C92B20D83D9}"/>
          </ac:spMkLst>
        </pc:spChg>
        <pc:spChg chg="mod">
          <ac:chgData name="Wang, Wei" userId="627587dd-935f-4f2b-a6c6-edd4e0dcbff5" providerId="ADAL" clId="{1A4859DD-1438-4A62-B3ED-3248FAA592C6}" dt="2020-05-22T10:55:46.525" v="3" actId="14100"/>
          <ac:spMkLst>
            <pc:docMk/>
            <pc:sldMk cId="391170887" sldId="2638"/>
            <ac:spMk id="6" creationId="{BE07B137-E250-4AC5-81D1-F142F8E125F0}"/>
          </ac:spMkLst>
        </pc:spChg>
      </pc:sldChg>
    </pc:docChg>
  </pc:docChgLst>
  <pc:docChgLst>
    <pc:chgData name="Wang, Wei" userId="627587dd-935f-4f2b-a6c6-edd4e0dcbff5" providerId="ADAL" clId="{340CF332-D0A3-4C72-8596-9E072941940B}"/>
    <pc:docChg chg="delSld">
      <pc:chgData name="Wang, Wei" userId="627587dd-935f-4f2b-a6c6-edd4e0dcbff5" providerId="ADAL" clId="{340CF332-D0A3-4C72-8596-9E072941940B}" dt="2024-04-25T18:35:17.272" v="0" actId="47"/>
      <pc:docMkLst>
        <pc:docMk/>
      </pc:docMkLst>
      <pc:sldChg chg="del">
        <pc:chgData name="Wang, Wei" userId="627587dd-935f-4f2b-a6c6-edd4e0dcbff5" providerId="ADAL" clId="{340CF332-D0A3-4C72-8596-9E072941940B}" dt="2024-04-25T18:35:17.272" v="0" actId="47"/>
        <pc:sldMkLst>
          <pc:docMk/>
          <pc:sldMk cId="3477645088" sldId="3328"/>
        </pc:sldMkLst>
      </pc:sldChg>
      <pc:sldChg chg="del">
        <pc:chgData name="Wang, Wei" userId="627587dd-935f-4f2b-a6c6-edd4e0dcbff5" providerId="ADAL" clId="{340CF332-D0A3-4C72-8596-9E072941940B}" dt="2024-04-25T18:35:17.272" v="0" actId="47"/>
        <pc:sldMkLst>
          <pc:docMk/>
          <pc:sldMk cId="1662053451" sldId="3329"/>
        </pc:sldMkLst>
      </pc:sldChg>
      <pc:sldChg chg="del">
        <pc:chgData name="Wang, Wei" userId="627587dd-935f-4f2b-a6c6-edd4e0dcbff5" providerId="ADAL" clId="{340CF332-D0A3-4C72-8596-9E072941940B}" dt="2024-04-25T18:35:17.272" v="0" actId="47"/>
        <pc:sldMkLst>
          <pc:docMk/>
          <pc:sldMk cId="346396587" sldId="3330"/>
        </pc:sldMkLst>
      </pc:sldChg>
      <pc:sldChg chg="del">
        <pc:chgData name="Wang, Wei" userId="627587dd-935f-4f2b-a6c6-edd4e0dcbff5" providerId="ADAL" clId="{340CF332-D0A3-4C72-8596-9E072941940B}" dt="2024-04-25T18:35:17.272" v="0" actId="47"/>
        <pc:sldMkLst>
          <pc:docMk/>
          <pc:sldMk cId="1291678737" sldId="3331"/>
        </pc:sldMkLst>
      </pc:sldChg>
      <pc:sldChg chg="del">
        <pc:chgData name="Wang, Wei" userId="627587dd-935f-4f2b-a6c6-edd4e0dcbff5" providerId="ADAL" clId="{340CF332-D0A3-4C72-8596-9E072941940B}" dt="2024-04-25T18:35:17.272" v="0" actId="47"/>
        <pc:sldMkLst>
          <pc:docMk/>
          <pc:sldMk cId="3148421959" sldId="3332"/>
        </pc:sldMkLst>
      </pc:sldChg>
      <pc:sldChg chg="del">
        <pc:chgData name="Wang, Wei" userId="627587dd-935f-4f2b-a6c6-edd4e0dcbff5" providerId="ADAL" clId="{340CF332-D0A3-4C72-8596-9E072941940B}" dt="2024-04-25T18:35:17.272" v="0" actId="47"/>
        <pc:sldMkLst>
          <pc:docMk/>
          <pc:sldMk cId="3111119971" sldId="3334"/>
        </pc:sldMkLst>
      </pc:sldChg>
      <pc:sldChg chg="del">
        <pc:chgData name="Wang, Wei" userId="627587dd-935f-4f2b-a6c6-edd4e0dcbff5" providerId="ADAL" clId="{340CF332-D0A3-4C72-8596-9E072941940B}" dt="2024-04-25T18:35:17.272" v="0" actId="47"/>
        <pc:sldMkLst>
          <pc:docMk/>
          <pc:sldMk cId="380740504" sldId="3335"/>
        </pc:sldMkLst>
      </pc:sldChg>
      <pc:sldChg chg="del">
        <pc:chgData name="Wang, Wei" userId="627587dd-935f-4f2b-a6c6-edd4e0dcbff5" providerId="ADAL" clId="{340CF332-D0A3-4C72-8596-9E072941940B}" dt="2024-04-25T18:35:17.272" v="0" actId="47"/>
        <pc:sldMkLst>
          <pc:docMk/>
          <pc:sldMk cId="4214234733" sldId="3337"/>
        </pc:sldMkLst>
      </pc:sldChg>
      <pc:sldChg chg="del">
        <pc:chgData name="Wang, Wei" userId="627587dd-935f-4f2b-a6c6-edd4e0dcbff5" providerId="ADAL" clId="{340CF332-D0A3-4C72-8596-9E072941940B}" dt="2024-04-25T18:35:17.272" v="0" actId="47"/>
        <pc:sldMkLst>
          <pc:docMk/>
          <pc:sldMk cId="3949925884" sldId="3338"/>
        </pc:sldMkLst>
      </pc:sldChg>
      <pc:sldChg chg="del">
        <pc:chgData name="Wang, Wei" userId="627587dd-935f-4f2b-a6c6-edd4e0dcbff5" providerId="ADAL" clId="{340CF332-D0A3-4C72-8596-9E072941940B}" dt="2024-04-25T18:35:17.272" v="0" actId="47"/>
        <pc:sldMkLst>
          <pc:docMk/>
          <pc:sldMk cId="4188551729" sldId="3339"/>
        </pc:sldMkLst>
      </pc:sldChg>
      <pc:sldChg chg="del">
        <pc:chgData name="Wang, Wei" userId="627587dd-935f-4f2b-a6c6-edd4e0dcbff5" providerId="ADAL" clId="{340CF332-D0A3-4C72-8596-9E072941940B}" dt="2024-04-25T18:35:17.272" v="0" actId="47"/>
        <pc:sldMkLst>
          <pc:docMk/>
          <pc:sldMk cId="3603535866" sldId="3340"/>
        </pc:sldMkLst>
      </pc:sldChg>
      <pc:sldChg chg="del">
        <pc:chgData name="Wang, Wei" userId="627587dd-935f-4f2b-a6c6-edd4e0dcbff5" providerId="ADAL" clId="{340CF332-D0A3-4C72-8596-9E072941940B}" dt="2024-04-25T18:35:17.272" v="0" actId="47"/>
        <pc:sldMkLst>
          <pc:docMk/>
          <pc:sldMk cId="3144107531" sldId="3341"/>
        </pc:sldMkLst>
      </pc:sldChg>
      <pc:sldChg chg="del">
        <pc:chgData name="Wang, Wei" userId="627587dd-935f-4f2b-a6c6-edd4e0dcbff5" providerId="ADAL" clId="{340CF332-D0A3-4C72-8596-9E072941940B}" dt="2024-04-25T18:35:17.272" v="0" actId="47"/>
        <pc:sldMkLst>
          <pc:docMk/>
          <pc:sldMk cId="2740622052" sldId="3342"/>
        </pc:sldMkLst>
      </pc:sldChg>
      <pc:sldChg chg="del">
        <pc:chgData name="Wang, Wei" userId="627587dd-935f-4f2b-a6c6-edd4e0dcbff5" providerId="ADAL" clId="{340CF332-D0A3-4C72-8596-9E072941940B}" dt="2024-04-25T18:35:17.272" v="0" actId="47"/>
        <pc:sldMkLst>
          <pc:docMk/>
          <pc:sldMk cId="2567629624" sldId="3394"/>
        </pc:sldMkLst>
      </pc:sldChg>
    </pc:docChg>
  </pc:docChgLst>
  <pc:docChgLst>
    <pc:chgData name="Wang, Wei" userId="627587dd-935f-4f2b-a6c6-edd4e0dcbff5" providerId="ADAL" clId="{CA4E89E4-842A-4FC6-8E2B-51B2DA5662AB}"/>
    <pc:docChg chg="delSld">
      <pc:chgData name="Wang, Wei" userId="627587dd-935f-4f2b-a6c6-edd4e0dcbff5" providerId="ADAL" clId="{CA4E89E4-842A-4FC6-8E2B-51B2DA5662AB}" dt="2020-05-21T16:20:17.840" v="8" actId="2696"/>
      <pc:docMkLst>
        <pc:docMk/>
      </pc:docMkLst>
      <pc:sldChg chg="del">
        <pc:chgData name="Wang, Wei" userId="627587dd-935f-4f2b-a6c6-edd4e0dcbff5" providerId="ADAL" clId="{CA4E89E4-842A-4FC6-8E2B-51B2DA5662AB}" dt="2020-05-21T16:20:17.840" v="8" actId="2696"/>
        <pc:sldMkLst>
          <pc:docMk/>
          <pc:sldMk cId="2416137483" sldId="3316"/>
        </pc:sldMkLst>
      </pc:sldChg>
      <pc:sldChg chg="del">
        <pc:chgData name="Wang, Wei" userId="627587dd-935f-4f2b-a6c6-edd4e0dcbff5" providerId="ADAL" clId="{CA4E89E4-842A-4FC6-8E2B-51B2DA5662AB}" dt="2020-05-21T16:20:17.836" v="7" actId="2696"/>
        <pc:sldMkLst>
          <pc:docMk/>
          <pc:sldMk cId="2127992302" sldId="3319"/>
        </pc:sldMkLst>
      </pc:sldChg>
      <pc:sldChg chg="del">
        <pc:chgData name="Wang, Wei" userId="627587dd-935f-4f2b-a6c6-edd4e0dcbff5" providerId="ADAL" clId="{CA4E89E4-842A-4FC6-8E2B-51B2DA5662AB}" dt="2020-05-21T16:20:17.831" v="5" actId="2696"/>
        <pc:sldMkLst>
          <pc:docMk/>
          <pc:sldMk cId="2777060430" sldId="3320"/>
        </pc:sldMkLst>
      </pc:sldChg>
      <pc:sldChg chg="del">
        <pc:chgData name="Wang, Wei" userId="627587dd-935f-4f2b-a6c6-edd4e0dcbff5" providerId="ADAL" clId="{CA4E89E4-842A-4FC6-8E2B-51B2DA5662AB}" dt="2020-05-21T16:20:17.825" v="4" actId="2696"/>
        <pc:sldMkLst>
          <pc:docMk/>
          <pc:sldMk cId="1945554767" sldId="3321"/>
        </pc:sldMkLst>
      </pc:sldChg>
      <pc:sldChg chg="del">
        <pc:chgData name="Wang, Wei" userId="627587dd-935f-4f2b-a6c6-edd4e0dcbff5" providerId="ADAL" clId="{CA4E89E4-842A-4FC6-8E2B-51B2DA5662AB}" dt="2020-05-21T16:20:17.821" v="3" actId="2696"/>
        <pc:sldMkLst>
          <pc:docMk/>
          <pc:sldMk cId="2127991632" sldId="3322"/>
        </pc:sldMkLst>
      </pc:sldChg>
      <pc:sldChg chg="del">
        <pc:chgData name="Wang, Wei" userId="627587dd-935f-4f2b-a6c6-edd4e0dcbff5" providerId="ADAL" clId="{CA4E89E4-842A-4FC6-8E2B-51B2DA5662AB}" dt="2020-05-21T16:20:17.819" v="2" actId="2696"/>
        <pc:sldMkLst>
          <pc:docMk/>
          <pc:sldMk cId="4281611941" sldId="3323"/>
        </pc:sldMkLst>
      </pc:sldChg>
      <pc:sldChg chg="del">
        <pc:chgData name="Wang, Wei" userId="627587dd-935f-4f2b-a6c6-edd4e0dcbff5" providerId="ADAL" clId="{CA4E89E4-842A-4FC6-8E2B-51B2DA5662AB}" dt="2020-05-21T16:20:17.812" v="0" actId="2696"/>
        <pc:sldMkLst>
          <pc:docMk/>
          <pc:sldMk cId="3390179843" sldId="3326"/>
        </pc:sldMkLst>
      </pc:sldChg>
      <pc:sldChg chg="del">
        <pc:chgData name="Wang, Wei" userId="627587dd-935f-4f2b-a6c6-edd4e0dcbff5" providerId="ADAL" clId="{CA4E89E4-842A-4FC6-8E2B-51B2DA5662AB}" dt="2020-05-21T16:20:17.817" v="1" actId="2696"/>
        <pc:sldMkLst>
          <pc:docMk/>
          <pc:sldMk cId="3124520466" sldId="3327"/>
        </pc:sldMkLst>
      </pc:sldChg>
      <pc:sldMasterChg chg="delSldLayout">
        <pc:chgData name="Wang, Wei" userId="627587dd-935f-4f2b-a6c6-edd4e0dcbff5" providerId="ADAL" clId="{CA4E89E4-842A-4FC6-8E2B-51B2DA5662AB}" dt="2020-05-21T16:20:17.833" v="6" actId="2696"/>
        <pc:sldMasterMkLst>
          <pc:docMk/>
          <pc:sldMasterMk cId="2216067138" sldId="2147483931"/>
        </pc:sldMasterMkLst>
        <pc:sldLayoutChg chg="del">
          <pc:chgData name="Wang, Wei" userId="627587dd-935f-4f2b-a6c6-edd4e0dcbff5" providerId="ADAL" clId="{CA4E89E4-842A-4FC6-8E2B-51B2DA5662AB}" dt="2020-05-21T16:20:17.833" v="6" actId="2696"/>
          <pc:sldLayoutMkLst>
            <pc:docMk/>
            <pc:sldMasterMk cId="2216067138" sldId="2147483931"/>
            <pc:sldLayoutMk cId="3162750045" sldId="2147483996"/>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D2E298-1248-4401-9F3E-79067294A229}" type="datetimeFigureOut">
              <a:rPr lang="en-GB" smtClean="0"/>
              <a:t>25/04/2024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944EB3-E743-414B-A21A-64E051E5FA09}" type="slidenum">
              <a:rPr lang="en-GB" smtClean="0"/>
              <a:t>‹#›</a:t>
            </a:fld>
            <a:endParaRPr lang="en-GB"/>
          </a:p>
        </p:txBody>
      </p:sp>
    </p:spTree>
    <p:extLst>
      <p:ext uri="{BB962C8B-B14F-4D97-AF65-F5344CB8AC3E}">
        <p14:creationId xmlns:p14="http://schemas.microsoft.com/office/powerpoint/2010/main" val="1844677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2944EB3-E743-414B-A21A-64E051E5FA09}" type="slidenum">
              <a:rPr lang="en-GB" smtClean="0"/>
              <a:t>4</a:t>
            </a:fld>
            <a:endParaRPr lang="en-GB"/>
          </a:p>
        </p:txBody>
      </p:sp>
    </p:spTree>
    <p:extLst>
      <p:ext uri="{BB962C8B-B14F-4D97-AF65-F5344CB8AC3E}">
        <p14:creationId xmlns:p14="http://schemas.microsoft.com/office/powerpoint/2010/main" val="36403337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2944EB3-E743-414B-A21A-64E051E5FA09}" type="slidenum">
              <a:rPr lang="en-GB" smtClean="0"/>
              <a:t>7</a:t>
            </a:fld>
            <a:endParaRPr lang="en-GB"/>
          </a:p>
        </p:txBody>
      </p:sp>
    </p:spTree>
    <p:extLst>
      <p:ext uri="{BB962C8B-B14F-4D97-AF65-F5344CB8AC3E}">
        <p14:creationId xmlns:p14="http://schemas.microsoft.com/office/powerpoint/2010/main" val="2134778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jpeg"/><Relationship Id="rId1" Type="http://schemas.openxmlformats.org/officeDocument/2006/relationships/slideMaster" Target="../slideMasters/slideMaster2.xml"/><Relationship Id="rId4" Type="http://schemas.openxmlformats.org/officeDocument/2006/relationships/image" Target="../media/image7.jpe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4.jpeg"/><Relationship Id="rId1" Type="http://schemas.openxmlformats.org/officeDocument/2006/relationships/slideMaster" Target="../slideMasters/slideMaster3.xml"/><Relationship Id="rId4" Type="http://schemas.openxmlformats.org/officeDocument/2006/relationships/image" Target="../media/image15.png"/></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4.jpeg"/><Relationship Id="rId1" Type="http://schemas.openxmlformats.org/officeDocument/2006/relationships/slideMaster" Target="../slideMasters/slideMaster4.xml"/><Relationship Id="rId4" Type="http://schemas.openxmlformats.org/officeDocument/2006/relationships/image" Target="../media/image15.png"/></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0.jpe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2" name="Group 21">
            <a:extLst>
              <a:ext uri="{FF2B5EF4-FFF2-40B4-BE49-F238E27FC236}">
                <a16:creationId xmlns:a16="http://schemas.microsoft.com/office/drawing/2014/main" id="{119BDA20-998B-457A-B579-10860DCD0A1C}"/>
              </a:ext>
            </a:extLst>
          </p:cNvPr>
          <p:cNvGrpSpPr/>
          <p:nvPr userDrawn="1"/>
        </p:nvGrpSpPr>
        <p:grpSpPr>
          <a:xfrm>
            <a:off x="534277" y="380597"/>
            <a:ext cx="902611" cy="902611"/>
            <a:chOff x="515937" y="326276"/>
            <a:chExt cx="902611" cy="902611"/>
          </a:xfrm>
        </p:grpSpPr>
        <p:grpSp>
          <p:nvGrpSpPr>
            <p:cNvPr id="23" name="Group 22">
              <a:extLst>
                <a:ext uri="{FF2B5EF4-FFF2-40B4-BE49-F238E27FC236}">
                  <a16:creationId xmlns:a16="http://schemas.microsoft.com/office/drawing/2014/main" id="{461574AA-36DC-4AA1-8288-BB699FC616CA}"/>
                </a:ext>
              </a:extLst>
            </p:cNvPr>
            <p:cNvGrpSpPr/>
            <p:nvPr/>
          </p:nvGrpSpPr>
          <p:grpSpPr>
            <a:xfrm>
              <a:off x="515937" y="326276"/>
              <a:ext cx="902611" cy="902611"/>
              <a:chOff x="4492144" y="190843"/>
              <a:chExt cx="855656" cy="855656"/>
            </a:xfrm>
          </p:grpSpPr>
          <p:sp>
            <p:nvSpPr>
              <p:cNvPr id="25" name="Oval 24">
                <a:extLst>
                  <a:ext uri="{FF2B5EF4-FFF2-40B4-BE49-F238E27FC236}">
                    <a16:creationId xmlns:a16="http://schemas.microsoft.com/office/drawing/2014/main" id="{1F46EE58-4E15-4047-BA0A-08D806BDD0C5}"/>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6" name="Oval 25">
                <a:extLst>
                  <a:ext uri="{FF2B5EF4-FFF2-40B4-BE49-F238E27FC236}">
                    <a16:creationId xmlns:a16="http://schemas.microsoft.com/office/drawing/2014/main" id="{D491A383-0A05-4DB6-8C35-81A9AE683911}"/>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4" name="Picture 23">
              <a:extLst>
                <a:ext uri="{FF2B5EF4-FFF2-40B4-BE49-F238E27FC236}">
                  <a16:creationId xmlns:a16="http://schemas.microsoft.com/office/drawing/2014/main" id="{9B915A6A-1CF1-4842-9A60-D4810548BDB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2793661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a:extLst>
              <a:ext uri="{FF2B5EF4-FFF2-40B4-BE49-F238E27FC236}">
                <a16:creationId xmlns:a16="http://schemas.microsoft.com/office/drawing/2014/main" id="{D1121BA3-DFDA-4363-BC31-122FB93EABAF}"/>
              </a:ext>
            </a:extLst>
          </p:cNvPr>
          <p:cNvGrpSpPr/>
          <p:nvPr userDrawn="1"/>
        </p:nvGrpSpPr>
        <p:grpSpPr>
          <a:xfrm>
            <a:off x="480180" y="350564"/>
            <a:ext cx="902611" cy="902611"/>
            <a:chOff x="515937" y="326276"/>
            <a:chExt cx="902611" cy="902611"/>
          </a:xfrm>
        </p:grpSpPr>
        <p:grpSp>
          <p:nvGrpSpPr>
            <p:cNvPr id="22" name="Group 21">
              <a:extLst>
                <a:ext uri="{FF2B5EF4-FFF2-40B4-BE49-F238E27FC236}">
                  <a16:creationId xmlns:a16="http://schemas.microsoft.com/office/drawing/2014/main" id="{52474FB6-94CF-4B97-ACDD-CA64BE8D759B}"/>
                </a:ext>
              </a:extLst>
            </p:cNvPr>
            <p:cNvGrpSpPr/>
            <p:nvPr/>
          </p:nvGrpSpPr>
          <p:grpSpPr>
            <a:xfrm>
              <a:off x="515937" y="326276"/>
              <a:ext cx="902611" cy="902611"/>
              <a:chOff x="4492144" y="190843"/>
              <a:chExt cx="855656" cy="855656"/>
            </a:xfrm>
          </p:grpSpPr>
          <p:sp>
            <p:nvSpPr>
              <p:cNvPr id="29" name="Oval 28">
                <a:extLst>
                  <a:ext uri="{FF2B5EF4-FFF2-40B4-BE49-F238E27FC236}">
                    <a16:creationId xmlns:a16="http://schemas.microsoft.com/office/drawing/2014/main" id="{B9F5856B-5698-43AD-BCFC-2C10B8A97B78}"/>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0" name="Oval 29">
                <a:extLst>
                  <a:ext uri="{FF2B5EF4-FFF2-40B4-BE49-F238E27FC236}">
                    <a16:creationId xmlns:a16="http://schemas.microsoft.com/office/drawing/2014/main" id="{21963F15-A1C0-4470-B411-E0046E12E4B7}"/>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8" name="Picture 27">
              <a:extLst>
                <a:ext uri="{FF2B5EF4-FFF2-40B4-BE49-F238E27FC236}">
                  <a16:creationId xmlns:a16="http://schemas.microsoft.com/office/drawing/2014/main" id="{71FC43D5-4C18-40D6-9BB7-C5A28C7442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40103462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03">
    <p:spTree>
      <p:nvGrpSpPr>
        <p:cNvPr id="1" name=""/>
        <p:cNvGrpSpPr/>
        <p:nvPr/>
      </p:nvGrpSpPr>
      <p:grpSpPr>
        <a:xfrm>
          <a:off x="0" y="0"/>
          <a:ext cx="0" cy="0"/>
          <a:chOff x="0" y="0"/>
          <a:chExt cx="0" cy="0"/>
        </a:xfrm>
      </p:grpSpPr>
      <p:grpSp>
        <p:nvGrpSpPr>
          <p:cNvPr id="6" name="Group 5"/>
          <p:cNvGrpSpPr/>
          <p:nvPr userDrawn="1"/>
        </p:nvGrpSpPr>
        <p:grpSpPr>
          <a:xfrm>
            <a:off x="0" y="-11151"/>
            <a:ext cx="12192000" cy="6869151"/>
            <a:chOff x="0" y="-11151"/>
            <a:chExt cx="12192000" cy="6869151"/>
          </a:xfrm>
        </p:grpSpPr>
        <p:grpSp>
          <p:nvGrpSpPr>
            <p:cNvPr id="7" name="Group 6"/>
            <p:cNvGrpSpPr/>
            <p:nvPr/>
          </p:nvGrpSpPr>
          <p:grpSpPr>
            <a:xfrm>
              <a:off x="0" y="30978"/>
              <a:ext cx="7346443" cy="6827022"/>
              <a:chOff x="0" y="30978"/>
              <a:chExt cx="7346443" cy="6827022"/>
            </a:xfrm>
          </p:grpSpPr>
          <p:sp>
            <p:nvSpPr>
              <p:cNvPr id="9" name="Freeform 8"/>
              <p:cNvSpPr/>
              <p:nvPr/>
            </p:nvSpPr>
            <p:spPr>
              <a:xfrm>
                <a:off x="0" y="30978"/>
                <a:ext cx="7346443" cy="6827022"/>
              </a:xfrm>
              <a:custGeom>
                <a:avLst/>
                <a:gdLst>
                  <a:gd name="connsiteX0" fmla="*/ 0 w 7346443"/>
                  <a:gd name="connsiteY0" fmla="*/ 0 h 6827022"/>
                  <a:gd name="connsiteX1" fmla="*/ 7346443 w 7346443"/>
                  <a:gd name="connsiteY1" fmla="*/ 6827022 h 6827022"/>
                  <a:gd name="connsiteX2" fmla="*/ 0 w 7346443"/>
                  <a:gd name="connsiteY2" fmla="*/ 6827022 h 6827022"/>
                </a:gdLst>
                <a:ahLst/>
                <a:cxnLst>
                  <a:cxn ang="0">
                    <a:pos x="connsiteX0" y="connsiteY0"/>
                  </a:cxn>
                  <a:cxn ang="0">
                    <a:pos x="connsiteX1" y="connsiteY1"/>
                  </a:cxn>
                  <a:cxn ang="0">
                    <a:pos x="connsiteX2" y="connsiteY2"/>
                  </a:cxn>
                </a:cxnLst>
                <a:rect l="l" t="t" r="r" b="b"/>
                <a:pathLst>
                  <a:path w="7346443" h="6827022">
                    <a:moveTo>
                      <a:pt x="0" y="0"/>
                    </a:moveTo>
                    <a:lnTo>
                      <a:pt x="7346443" y="6827022"/>
                    </a:lnTo>
                    <a:lnTo>
                      <a:pt x="0" y="6827022"/>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0" name="Freeform 9"/>
              <p:cNvSpPr/>
              <p:nvPr/>
            </p:nvSpPr>
            <p:spPr>
              <a:xfrm>
                <a:off x="0" y="1696574"/>
                <a:ext cx="802656" cy="1625366"/>
              </a:xfrm>
              <a:custGeom>
                <a:avLst/>
                <a:gdLst>
                  <a:gd name="connsiteX0" fmla="*/ 0 w 802656"/>
                  <a:gd name="connsiteY0" fmla="*/ 0 h 1625366"/>
                  <a:gd name="connsiteX1" fmla="*/ 152859 w 802656"/>
                  <a:gd name="connsiteY1" fmla="*/ 15410 h 1625366"/>
                  <a:gd name="connsiteX2" fmla="*/ 802656 w 802656"/>
                  <a:gd name="connsiteY2" fmla="*/ 812683 h 1625366"/>
                  <a:gd name="connsiteX3" fmla="*/ 152859 w 802656"/>
                  <a:gd name="connsiteY3" fmla="*/ 1609956 h 1625366"/>
                  <a:gd name="connsiteX4" fmla="*/ 0 w 802656"/>
                  <a:gd name="connsiteY4" fmla="*/ 1625366 h 162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56" h="1625366">
                    <a:moveTo>
                      <a:pt x="0" y="0"/>
                    </a:moveTo>
                    <a:lnTo>
                      <a:pt x="152859" y="15410"/>
                    </a:lnTo>
                    <a:cubicBezTo>
                      <a:pt x="523697" y="91294"/>
                      <a:pt x="802656" y="419412"/>
                      <a:pt x="802656" y="812683"/>
                    </a:cubicBezTo>
                    <a:cubicBezTo>
                      <a:pt x="802656" y="1205955"/>
                      <a:pt x="523697" y="1534072"/>
                      <a:pt x="152859" y="1609956"/>
                    </a:cubicBezTo>
                    <a:lnTo>
                      <a:pt x="0" y="1625366"/>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8" name="Rectangle 7"/>
            <p:cNvSpPr/>
            <p:nvPr/>
          </p:nvSpPr>
          <p:spPr>
            <a:xfrm>
              <a:off x="6096000" y="-11151"/>
              <a:ext cx="6096000" cy="6869151"/>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A6A2304-23DC-2B46-BD14-F082077842FF}" type="slidenum">
              <a:rPr lang="en-US" smtClean="0"/>
              <a:pPr/>
              <a:t>‹#›</a:t>
            </a:fld>
            <a:endParaRPr lang="en-US"/>
          </a:p>
        </p:txBody>
      </p:sp>
      <p:cxnSp>
        <p:nvCxnSpPr>
          <p:cNvPr id="12" name="Straight Connector 11"/>
          <p:cNvCxnSpPr/>
          <p:nvPr userDrawn="1"/>
        </p:nvCxnSpPr>
        <p:spPr>
          <a:xfrm>
            <a:off x="515939" y="1340547"/>
            <a:ext cx="989806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532335" y="210344"/>
            <a:ext cx="8881665" cy="984247"/>
          </a:xfrm>
        </p:spPr>
        <p:txBody>
          <a:bodyPr/>
          <a:lstStyle/>
          <a:p>
            <a:r>
              <a:rPr lang="en-US"/>
              <a:t>Click to edit Master title style</a:t>
            </a:r>
          </a:p>
        </p:txBody>
      </p:sp>
      <p:grpSp>
        <p:nvGrpSpPr>
          <p:cNvPr id="20" name="Group 19">
            <a:extLst>
              <a:ext uri="{FF2B5EF4-FFF2-40B4-BE49-F238E27FC236}">
                <a16:creationId xmlns:a16="http://schemas.microsoft.com/office/drawing/2014/main" id="{4D3E3ED3-E1D0-48F5-B172-777303D896C3}"/>
              </a:ext>
            </a:extLst>
          </p:cNvPr>
          <p:cNvGrpSpPr/>
          <p:nvPr userDrawn="1"/>
        </p:nvGrpSpPr>
        <p:grpSpPr>
          <a:xfrm>
            <a:off x="445437" y="339706"/>
            <a:ext cx="902611" cy="902611"/>
            <a:chOff x="515937" y="326276"/>
            <a:chExt cx="902611" cy="902611"/>
          </a:xfrm>
        </p:grpSpPr>
        <p:grpSp>
          <p:nvGrpSpPr>
            <p:cNvPr id="21" name="Group 20">
              <a:extLst>
                <a:ext uri="{FF2B5EF4-FFF2-40B4-BE49-F238E27FC236}">
                  <a16:creationId xmlns:a16="http://schemas.microsoft.com/office/drawing/2014/main" id="{21A762A3-16E6-49DD-8A26-37F5555A1037}"/>
                </a:ext>
              </a:extLst>
            </p:cNvPr>
            <p:cNvGrpSpPr/>
            <p:nvPr/>
          </p:nvGrpSpPr>
          <p:grpSpPr>
            <a:xfrm>
              <a:off x="515937" y="326276"/>
              <a:ext cx="902611" cy="902611"/>
              <a:chOff x="4492144" y="190843"/>
              <a:chExt cx="855656" cy="855656"/>
            </a:xfrm>
          </p:grpSpPr>
          <p:sp>
            <p:nvSpPr>
              <p:cNvPr id="23" name="Oval 22">
                <a:extLst>
                  <a:ext uri="{FF2B5EF4-FFF2-40B4-BE49-F238E27FC236}">
                    <a16:creationId xmlns:a16="http://schemas.microsoft.com/office/drawing/2014/main" id="{EACDF384-011B-4FDE-A421-145C11992406}"/>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4" name="Oval 23">
                <a:extLst>
                  <a:ext uri="{FF2B5EF4-FFF2-40B4-BE49-F238E27FC236}">
                    <a16:creationId xmlns:a16="http://schemas.microsoft.com/office/drawing/2014/main" id="{4C7C968A-376D-438A-92CD-5E062A0ACAE8}"/>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2" name="Picture 21">
              <a:extLst>
                <a:ext uri="{FF2B5EF4-FFF2-40B4-BE49-F238E27FC236}">
                  <a16:creationId xmlns:a16="http://schemas.microsoft.com/office/drawing/2014/main" id="{00ADBB0A-57B8-4C48-B096-6520C0B734E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2666527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rgbClr val="0058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a:extLst>
              <a:ext uri="{FF2B5EF4-FFF2-40B4-BE49-F238E27FC236}">
                <a16:creationId xmlns:a16="http://schemas.microsoft.com/office/drawing/2014/main" id="{E3E30CAE-C48E-4C10-823D-7B7B055C1621}"/>
              </a:ext>
            </a:extLst>
          </p:cNvPr>
          <p:cNvGrpSpPr/>
          <p:nvPr userDrawn="1"/>
        </p:nvGrpSpPr>
        <p:grpSpPr>
          <a:xfrm>
            <a:off x="445437" y="339706"/>
            <a:ext cx="902611" cy="902611"/>
            <a:chOff x="515937" y="326276"/>
            <a:chExt cx="902611" cy="902611"/>
          </a:xfrm>
        </p:grpSpPr>
        <p:grpSp>
          <p:nvGrpSpPr>
            <p:cNvPr id="19" name="Group 18">
              <a:extLst>
                <a:ext uri="{FF2B5EF4-FFF2-40B4-BE49-F238E27FC236}">
                  <a16:creationId xmlns:a16="http://schemas.microsoft.com/office/drawing/2014/main" id="{448B2734-2F5C-4117-AEB7-A94237D67448}"/>
                </a:ext>
              </a:extLst>
            </p:cNvPr>
            <p:cNvGrpSpPr/>
            <p:nvPr/>
          </p:nvGrpSpPr>
          <p:grpSpPr>
            <a:xfrm>
              <a:off x="515937" y="326276"/>
              <a:ext cx="902611" cy="902611"/>
              <a:chOff x="4492144" y="190843"/>
              <a:chExt cx="855656" cy="855656"/>
            </a:xfrm>
          </p:grpSpPr>
          <p:sp>
            <p:nvSpPr>
              <p:cNvPr id="26" name="Oval 25">
                <a:extLst>
                  <a:ext uri="{FF2B5EF4-FFF2-40B4-BE49-F238E27FC236}">
                    <a16:creationId xmlns:a16="http://schemas.microsoft.com/office/drawing/2014/main" id="{54C76669-00B0-4607-8644-F90CB369E0B5}"/>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7" name="Oval 26">
                <a:extLst>
                  <a:ext uri="{FF2B5EF4-FFF2-40B4-BE49-F238E27FC236}">
                    <a16:creationId xmlns:a16="http://schemas.microsoft.com/office/drawing/2014/main" id="{DCEA192E-2BDC-4203-AC54-8AD16575143B}"/>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5" name="Picture 24">
              <a:extLst>
                <a:ext uri="{FF2B5EF4-FFF2-40B4-BE49-F238E27FC236}">
                  <a16:creationId xmlns:a16="http://schemas.microsoft.com/office/drawing/2014/main" id="{F905EC3A-FD2E-44C9-BC8C-D41A7528EB3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16606420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Project Title Slide">
    <p:spTree>
      <p:nvGrpSpPr>
        <p:cNvPr id="1" name=""/>
        <p:cNvGrpSpPr/>
        <p:nvPr/>
      </p:nvGrpSpPr>
      <p:grpSpPr>
        <a:xfrm>
          <a:off x="0" y="0"/>
          <a:ext cx="0" cy="0"/>
          <a:chOff x="0" y="0"/>
          <a:chExt cx="0" cy="0"/>
        </a:xfrm>
      </p:grpSpPr>
      <p:pic>
        <p:nvPicPr>
          <p:cNvPr id="15" name="Picture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Slide Number Placeholder 5"/>
          <p:cNvSpPr>
            <a:spLocks noGrp="1"/>
          </p:cNvSpPr>
          <p:nvPr>
            <p:ph type="sldNum" sz="quarter" idx="12"/>
          </p:nvPr>
        </p:nvSpPr>
        <p:spPr/>
        <p:txBody>
          <a:bodyPr/>
          <a:lstStyle>
            <a:lvl1pPr>
              <a:defRPr>
                <a:solidFill>
                  <a:schemeClr val="bg1"/>
                </a:solidFill>
              </a:defRPr>
            </a:lvl1pPr>
          </a:lstStyle>
          <a:p>
            <a:pPr fontAlgn="base">
              <a:spcBef>
                <a:spcPct val="0"/>
              </a:spcBef>
              <a:spcAft>
                <a:spcPct val="0"/>
              </a:spcAft>
              <a:defRPr/>
            </a:pPr>
            <a:fld id="{1BB4E4D9-2C5A-423A-A8BE-9B5EA07DECC8}" type="slidenum">
              <a:rPr lang="en-US" smtClean="0">
                <a:solidFill>
                  <a:srgbClr val="122632"/>
                </a:solidFill>
                <a:latin typeface="Arial" pitchFamily="34" charset="0"/>
                <a:ea typeface="ＭＳ Ｐゴシック" pitchFamily="80" charset="-128"/>
              </a:rPr>
              <a:pPr fontAlgn="base">
                <a:spcBef>
                  <a:spcPct val="0"/>
                </a:spcBef>
                <a:spcAft>
                  <a:spcPct val="0"/>
                </a:spcAft>
                <a:defRPr/>
              </a:pPr>
              <a:t>‹#›</a:t>
            </a:fld>
            <a:endParaRPr lang="en-US">
              <a:solidFill>
                <a:srgbClr val="122632"/>
              </a:solidFill>
              <a:latin typeface="Arial" pitchFamily="34" charset="0"/>
              <a:ea typeface="ＭＳ Ｐゴシック" pitchFamily="80" charset="-128"/>
            </a:endParaRPr>
          </a:p>
        </p:txBody>
      </p:sp>
      <p:sp>
        <p:nvSpPr>
          <p:cNvPr id="8" name="Date Placeholder 1"/>
          <p:cNvSpPr txBox="1">
            <a:spLocks/>
          </p:cNvSpPr>
          <p:nvPr/>
        </p:nvSpPr>
        <p:spPr>
          <a:xfrm>
            <a:off x="4151273" y="5923728"/>
            <a:ext cx="3889454"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000" i="0">
                <a:solidFill>
                  <a:schemeClr val="bg1"/>
                </a:solidFill>
                <a:latin typeface="+mn-lt"/>
                <a:ea typeface="Roboto" charset="0"/>
                <a:cs typeface="Roboto" charset="0"/>
              </a:rPr>
              <a:t>Simplify, Standardize, Accelerate </a:t>
            </a:r>
          </a:p>
        </p:txBody>
      </p:sp>
      <p:sp>
        <p:nvSpPr>
          <p:cNvPr id="9" name="TextBox 8"/>
          <p:cNvSpPr txBox="1"/>
          <p:nvPr/>
        </p:nvSpPr>
        <p:spPr>
          <a:xfrm>
            <a:off x="3398969" y="2345440"/>
            <a:ext cx="5387927" cy="1941342"/>
          </a:xfrm>
          <a:prstGeom prst="rect">
            <a:avLst/>
          </a:prstGeom>
          <a:noFill/>
        </p:spPr>
        <p:txBody>
          <a:bodyPr wrap="square" lIns="0" tIns="0" rIns="0" bIns="0" rtlCol="0">
            <a:noAutofit/>
          </a:bodyPr>
          <a:lstStyle/>
          <a:p>
            <a:pPr algn="l"/>
            <a:r>
              <a:rPr lang="en-US" sz="9600" b="1">
                <a:solidFill>
                  <a:schemeClr val="bg1"/>
                </a:solidFill>
                <a:latin typeface="Arial" charset="0"/>
                <a:ea typeface="Arial" charset="0"/>
                <a:cs typeface="Arial" charset="0"/>
              </a:rPr>
              <a:t>S4F-ERP</a:t>
            </a:r>
          </a:p>
        </p:txBody>
      </p:sp>
      <p:sp>
        <p:nvSpPr>
          <p:cNvPr id="10" name="Rectangle 9"/>
          <p:cNvSpPr/>
          <p:nvPr/>
        </p:nvSpPr>
        <p:spPr>
          <a:xfrm>
            <a:off x="5517737" y="1642984"/>
            <a:ext cx="1150391" cy="104931"/>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4271627" y="4115677"/>
            <a:ext cx="3642610" cy="704538"/>
          </a:xfrm>
          <a:prstGeom prst="rect">
            <a:avLst/>
          </a:prstGeom>
          <a:noFill/>
        </p:spPr>
        <p:txBody>
          <a:bodyPr wrap="square" lIns="0" tIns="0" rIns="0" bIns="0" rtlCol="0">
            <a:noAutofit/>
          </a:bodyPr>
          <a:lstStyle/>
          <a:p>
            <a:pPr algn="ctr"/>
            <a:r>
              <a:rPr lang="en-US" spc="1000">
                <a:solidFill>
                  <a:schemeClr val="bg1"/>
                </a:solidFill>
                <a:latin typeface="Arial" charset="0"/>
                <a:ea typeface="Arial" charset="0"/>
                <a:cs typeface="Arial" charset="0"/>
              </a:rPr>
              <a:t>PROJECT</a:t>
            </a:r>
          </a:p>
        </p:txBody>
      </p:sp>
      <p:sp>
        <p:nvSpPr>
          <p:cNvPr id="12" name="Rectangle 11"/>
          <p:cNvSpPr/>
          <p:nvPr/>
        </p:nvSpPr>
        <p:spPr>
          <a:xfrm>
            <a:off x="5517737" y="5047786"/>
            <a:ext cx="1150391"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DD2F868E-F9E5-4FD0-AA54-A0611266E9A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775643" y="498252"/>
            <a:ext cx="634576" cy="474992"/>
          </a:xfrm>
          <a:prstGeom prst="rect">
            <a:avLst/>
          </a:prstGeom>
        </p:spPr>
      </p:pic>
    </p:spTree>
    <p:extLst>
      <p:ext uri="{BB962C8B-B14F-4D97-AF65-F5344CB8AC3E}">
        <p14:creationId xmlns:p14="http://schemas.microsoft.com/office/powerpoint/2010/main" val="2809059773"/>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2_Agenda">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3343037" cy="6858001"/>
          </a:xfrm>
          <a:prstGeom prst="rect">
            <a:avLst/>
          </a:prstGeom>
        </p:spPr>
      </p:pic>
      <p:sp>
        <p:nvSpPr>
          <p:cNvPr id="4" name="Slide Number Placeholder 3">
            <a:extLst>
              <a:ext uri="{FF2B5EF4-FFF2-40B4-BE49-F238E27FC236}">
                <a16:creationId xmlns:a16="http://schemas.microsoft.com/office/drawing/2014/main" id="{10D12603-15D9-4377-BA98-9268CA8548FA}"/>
              </a:ext>
            </a:extLst>
          </p:cNvPr>
          <p:cNvSpPr>
            <a:spLocks noGrp="1"/>
          </p:cNvSpPr>
          <p:nvPr>
            <p:ph type="sldNum" sz="quarter" idx="12"/>
          </p:nvPr>
        </p:nvSpPr>
        <p:spPr>
          <a:xfrm>
            <a:off x="2429837" y="6297521"/>
            <a:ext cx="397261" cy="365125"/>
          </a:xfrm>
        </p:spPr>
        <p:txBody>
          <a:bodyPr/>
          <a:lstStyle/>
          <a:p>
            <a:pPr fontAlgn="base">
              <a:spcBef>
                <a:spcPct val="0"/>
              </a:spcBef>
              <a:spcAft>
                <a:spcPct val="0"/>
              </a:spcAft>
              <a:defRPr/>
            </a:pPr>
            <a:fld id="{1BB4E4D9-2C5A-423A-A8BE-9B5EA07DECC8}" type="slidenum">
              <a:rPr lang="en-US" smtClean="0">
                <a:solidFill>
                  <a:srgbClr val="122632"/>
                </a:solidFill>
                <a:latin typeface="Arial" pitchFamily="34" charset="0"/>
                <a:ea typeface="ＭＳ Ｐゴシック" pitchFamily="80" charset="-128"/>
              </a:rPr>
              <a:pPr fontAlgn="base">
                <a:spcBef>
                  <a:spcPct val="0"/>
                </a:spcBef>
                <a:spcAft>
                  <a:spcPct val="0"/>
                </a:spcAft>
                <a:defRPr/>
              </a:pPr>
              <a:t>‹#›</a:t>
            </a:fld>
            <a:endParaRPr lang="en-US">
              <a:solidFill>
                <a:srgbClr val="122632"/>
              </a:solidFill>
              <a:latin typeface="Arial" pitchFamily="34" charset="0"/>
              <a:ea typeface="ＭＳ Ｐゴシック" pitchFamily="80" charset="-128"/>
            </a:endParaRPr>
          </a:p>
        </p:txBody>
      </p:sp>
      <p:sp>
        <p:nvSpPr>
          <p:cNvPr id="12" name="Rectangle 11"/>
          <p:cNvSpPr/>
          <p:nvPr/>
        </p:nvSpPr>
        <p:spPr>
          <a:xfrm>
            <a:off x="1060932" y="1609286"/>
            <a:ext cx="1150391" cy="104931"/>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1A3140"/>
              </a:solidFill>
            </a:endParaRPr>
          </a:p>
        </p:txBody>
      </p:sp>
      <p:sp>
        <p:nvSpPr>
          <p:cNvPr id="13" name="Rectangle 12"/>
          <p:cNvSpPr/>
          <p:nvPr/>
        </p:nvSpPr>
        <p:spPr>
          <a:xfrm>
            <a:off x="1060932" y="4095884"/>
            <a:ext cx="1150391"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 name="Date Placeholder 1"/>
          <p:cNvSpPr txBox="1">
            <a:spLocks/>
          </p:cNvSpPr>
          <p:nvPr/>
        </p:nvSpPr>
        <p:spPr>
          <a:xfrm>
            <a:off x="0" y="5860532"/>
            <a:ext cx="3343037" cy="365125"/>
          </a:xfrm>
          <a:prstGeom prst="rect">
            <a:avLst/>
          </a:prstGeom>
        </p:spPr>
        <p:txBody>
          <a:bodyPr vert="horz" lIns="0" tIns="0" rIns="0" bIns="0" rtlCol="0" anchor="b" anchorCtr="0">
            <a:noAutofit/>
          </a:bodyP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i="0">
                <a:solidFill>
                  <a:schemeClr val="bg1"/>
                </a:solidFill>
                <a:latin typeface="+mn-lt"/>
                <a:ea typeface="Roboto" charset="0"/>
                <a:cs typeface="Roboto" charset="0"/>
              </a:rPr>
              <a:t>Simplify, Standardize, Accelerate </a:t>
            </a:r>
          </a:p>
        </p:txBody>
      </p:sp>
      <p:pic>
        <p:nvPicPr>
          <p:cNvPr id="16" name="Picture 15">
            <a:extLst>
              <a:ext uri="{FF2B5EF4-FFF2-40B4-BE49-F238E27FC236}">
                <a16:creationId xmlns:a16="http://schemas.microsoft.com/office/drawing/2014/main" id="{DD2F868E-F9E5-4FD0-AA54-A0611266E9A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315690" y="369889"/>
            <a:ext cx="576887" cy="431811"/>
          </a:xfrm>
          <a:prstGeom prst="rect">
            <a:avLst/>
          </a:prstGeom>
        </p:spPr>
      </p:pic>
    </p:spTree>
    <p:extLst>
      <p:ext uri="{BB962C8B-B14F-4D97-AF65-F5344CB8AC3E}">
        <p14:creationId xmlns:p14="http://schemas.microsoft.com/office/powerpoint/2010/main" val="4210182259"/>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48963" y="0"/>
            <a:ext cx="3343037" cy="6858001"/>
          </a:xfrm>
          <a:prstGeom prst="rect">
            <a:avLst/>
          </a:prstGeom>
        </p:spPr>
      </p:pic>
      <p:sp>
        <p:nvSpPr>
          <p:cNvPr id="12" name="Rectangle 11"/>
          <p:cNvSpPr/>
          <p:nvPr/>
        </p:nvSpPr>
        <p:spPr>
          <a:xfrm>
            <a:off x="9909895" y="1609286"/>
            <a:ext cx="1150391" cy="104931"/>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1A3140"/>
              </a:solidFill>
            </a:endParaRPr>
          </a:p>
        </p:txBody>
      </p:sp>
      <p:sp>
        <p:nvSpPr>
          <p:cNvPr id="13" name="Rectangle 12"/>
          <p:cNvSpPr/>
          <p:nvPr/>
        </p:nvSpPr>
        <p:spPr>
          <a:xfrm>
            <a:off x="9909895" y="4095884"/>
            <a:ext cx="1150391"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 name="Date Placeholder 1"/>
          <p:cNvSpPr txBox="1">
            <a:spLocks/>
          </p:cNvSpPr>
          <p:nvPr/>
        </p:nvSpPr>
        <p:spPr>
          <a:xfrm>
            <a:off x="8848963" y="5860532"/>
            <a:ext cx="3343037" cy="365125"/>
          </a:xfrm>
          <a:prstGeom prst="rect">
            <a:avLst/>
          </a:prstGeom>
        </p:spPr>
        <p:txBody>
          <a:bodyPr vert="horz" lIns="0" tIns="0" rIns="0" bIns="0" rtlCol="0" anchor="b" anchorCtr="0">
            <a:noAutofit/>
          </a:bodyP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i="0">
                <a:solidFill>
                  <a:schemeClr val="bg1"/>
                </a:solidFill>
                <a:latin typeface="+mn-lt"/>
                <a:ea typeface="Roboto" charset="0"/>
                <a:cs typeface="Roboto" charset="0"/>
              </a:rPr>
              <a:t>Simplify, Standardize, Accelerate </a:t>
            </a:r>
          </a:p>
        </p:txBody>
      </p:sp>
      <p:pic>
        <p:nvPicPr>
          <p:cNvPr id="16" name="Picture 15">
            <a:extLst>
              <a:ext uri="{FF2B5EF4-FFF2-40B4-BE49-F238E27FC236}">
                <a16:creationId xmlns:a16="http://schemas.microsoft.com/office/drawing/2014/main" id="{DD2F868E-F9E5-4FD0-AA54-A0611266E9A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164653" y="369889"/>
            <a:ext cx="576887" cy="431811"/>
          </a:xfrm>
          <a:prstGeom prst="rect">
            <a:avLst/>
          </a:prstGeom>
        </p:spPr>
      </p:pic>
      <p:sp>
        <p:nvSpPr>
          <p:cNvPr id="4" name="Slide Number Placeholder 3">
            <a:extLst>
              <a:ext uri="{FF2B5EF4-FFF2-40B4-BE49-F238E27FC236}">
                <a16:creationId xmlns:a16="http://schemas.microsoft.com/office/drawing/2014/main" id="{10D12603-15D9-4377-BA98-9268CA8548FA}"/>
              </a:ext>
            </a:extLst>
          </p:cNvPr>
          <p:cNvSpPr>
            <a:spLocks noGrp="1"/>
          </p:cNvSpPr>
          <p:nvPr>
            <p:ph type="sldNum" sz="quarter" idx="12"/>
          </p:nvPr>
        </p:nvSpPr>
        <p:spPr/>
        <p:txBody>
          <a:bodyPr/>
          <a:lstStyle>
            <a:lvl1pPr>
              <a:defRPr>
                <a:solidFill>
                  <a:schemeClr val="bg1"/>
                </a:solidFill>
              </a:defRPr>
            </a:lvl1pPr>
          </a:lstStyle>
          <a:p>
            <a:pPr fontAlgn="base">
              <a:spcBef>
                <a:spcPct val="0"/>
              </a:spcBef>
              <a:spcAft>
                <a:spcPct val="0"/>
              </a:spcAft>
              <a:defRPr/>
            </a:pPr>
            <a:fld id="{1BB4E4D9-2C5A-423A-A8BE-9B5EA07DECC8}" type="slidenum">
              <a:rPr lang="en-US" smtClean="0">
                <a:ea typeface="ＭＳ Ｐゴシック" pitchFamily="80" charset="-128"/>
              </a:rPr>
              <a:pPr fontAlgn="base">
                <a:spcBef>
                  <a:spcPct val="0"/>
                </a:spcBef>
                <a:spcAft>
                  <a:spcPct val="0"/>
                </a:spcAft>
                <a:defRPr/>
              </a:pPr>
              <a:t>‹#›</a:t>
            </a:fld>
            <a:endParaRPr lang="en-US">
              <a:ea typeface="ＭＳ Ｐゴシック" pitchFamily="80" charset="-128"/>
            </a:endParaRPr>
          </a:p>
        </p:txBody>
      </p:sp>
    </p:spTree>
    <p:extLst>
      <p:ext uri="{BB962C8B-B14F-4D97-AF65-F5344CB8AC3E}">
        <p14:creationId xmlns:p14="http://schemas.microsoft.com/office/powerpoint/2010/main" val="3881125674"/>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1_Agenda">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764"/>
            <a:ext cx="3343037" cy="6858001"/>
          </a:xfrm>
          <a:prstGeom prst="rect">
            <a:avLst/>
          </a:prstGeom>
        </p:spPr>
      </p:pic>
      <p:sp>
        <p:nvSpPr>
          <p:cNvPr id="3" name="Footer Placeholder 2">
            <a:extLst>
              <a:ext uri="{FF2B5EF4-FFF2-40B4-BE49-F238E27FC236}">
                <a16:creationId xmlns:a16="http://schemas.microsoft.com/office/drawing/2014/main" id="{9E2566DF-8A7B-474D-A0F4-205CFA3DC5A8}"/>
              </a:ext>
            </a:extLst>
          </p:cNvPr>
          <p:cNvSpPr>
            <a:spLocks noGrp="1"/>
          </p:cNvSpPr>
          <p:nvPr>
            <p:ph type="ftr" sz="quarter" idx="11"/>
          </p:nvPr>
        </p:nvSpPr>
        <p:spPr>
          <a:xfrm>
            <a:off x="7077073" y="6297521"/>
            <a:ext cx="4201727" cy="365125"/>
          </a:xfrm>
          <a:prstGeom prst="rect">
            <a:avLst/>
          </a:prstGeom>
        </p:spPr>
        <p:txBody>
          <a:bodyPr/>
          <a:lstStyle/>
          <a:p>
            <a:pPr marL="0" marR="0" lvl="0" indent="0" algn="r" defTabSz="914400" rtl="0" eaLnBrk="1" fontAlgn="base" latinLnBrk="0" hangingPunct="1">
              <a:lnSpc>
                <a:spcPct val="100000"/>
              </a:lnSpc>
              <a:spcBef>
                <a:spcPts val="0"/>
              </a:spcBef>
              <a:spcAft>
                <a:spcPct val="0"/>
              </a:spcAft>
              <a:buClrTx/>
              <a:buSzTx/>
              <a:buFontTx/>
              <a:buNone/>
              <a:tabLst/>
              <a:defRPr/>
            </a:pPr>
            <a:r>
              <a:rPr kumimoji="0" lang="pt-BR" sz="800" b="0" i="0" u="none" strike="noStrike" kern="1200" cap="none" spc="0" normalizeH="0" baseline="0" noProof="0">
                <a:ln>
                  <a:noFill/>
                </a:ln>
                <a:solidFill>
                  <a:srgbClr val="122632"/>
                </a:solidFill>
                <a:effectLst/>
                <a:uLnTx/>
                <a:uFillTx/>
                <a:latin typeface="Arial" panose="020B0604020202020204"/>
                <a:ea typeface="+mn-ea"/>
                <a:cs typeface="+mn-cs"/>
              </a:rPr>
              <a:t>S4F ERP </a:t>
            </a:r>
            <a:endParaRPr kumimoji="0" lang="en-US" sz="800" b="0" i="0" u="none" strike="noStrike" kern="1200" cap="none" spc="0" normalizeH="0" baseline="0" noProof="0">
              <a:ln>
                <a:noFill/>
              </a:ln>
              <a:solidFill>
                <a:srgbClr val="122632"/>
              </a:solidFill>
              <a:effectLst/>
              <a:uLnTx/>
              <a:uFillTx/>
              <a:latin typeface="Arial" panose="020B0604020202020204"/>
              <a:ea typeface="+mn-ea"/>
              <a:cs typeface="+mn-cs"/>
            </a:endParaRPr>
          </a:p>
        </p:txBody>
      </p:sp>
      <p:sp>
        <p:nvSpPr>
          <p:cNvPr id="4" name="Slide Number Placeholder 3">
            <a:extLst>
              <a:ext uri="{FF2B5EF4-FFF2-40B4-BE49-F238E27FC236}">
                <a16:creationId xmlns:a16="http://schemas.microsoft.com/office/drawing/2014/main" id="{10D12603-15D9-4377-BA98-9268CA8548FA}"/>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BB4E4D9-2C5A-423A-A8BE-9B5EA07DECC8}" type="slidenum">
              <a:rPr kumimoji="0" lang="en-US" sz="800" b="0" i="0" u="none" strike="noStrike" kern="1200" cap="none" spc="0" normalizeH="0" baseline="0" noProof="0" smtClean="0">
                <a:ln>
                  <a:noFill/>
                </a:ln>
                <a:solidFill>
                  <a:srgbClr val="122632"/>
                </a:solidFill>
                <a:effectLst/>
                <a:uLnTx/>
                <a:uFillTx/>
                <a:latin typeface="Arial" pitchFamily="34" charset="0"/>
                <a:ea typeface="ＭＳ Ｐゴシック" pitchFamily="80"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800" b="0" i="0" u="none" strike="noStrike" kern="1200" cap="none" spc="0" normalizeH="0" baseline="0" noProof="0">
              <a:ln>
                <a:noFill/>
              </a:ln>
              <a:solidFill>
                <a:srgbClr val="122632"/>
              </a:solidFill>
              <a:effectLst/>
              <a:uLnTx/>
              <a:uFillTx/>
              <a:latin typeface="Arial" pitchFamily="34" charset="0"/>
              <a:ea typeface="ＭＳ Ｐゴシック" pitchFamily="80" charset="-128"/>
              <a:cs typeface="+mn-cs"/>
            </a:endParaRPr>
          </a:p>
        </p:txBody>
      </p:sp>
      <p:sp>
        <p:nvSpPr>
          <p:cNvPr id="10" name="Content Placeholder 2"/>
          <p:cNvSpPr>
            <a:spLocks noGrp="1"/>
          </p:cNvSpPr>
          <p:nvPr>
            <p:ph idx="1"/>
          </p:nvPr>
        </p:nvSpPr>
        <p:spPr>
          <a:xfrm>
            <a:off x="5792779" y="987425"/>
            <a:ext cx="5561021" cy="4873625"/>
          </a:xfrm>
        </p:spPr>
        <p:txBody>
          <a:bodyPr>
            <a:normAutofit/>
          </a:bodyPr>
          <a:lstStyle>
            <a:lvl1pPr>
              <a:defRPr sz="2000">
                <a:latin typeface="Arial" charset="0"/>
                <a:ea typeface="Arial" charset="0"/>
                <a:cs typeface="Arial" charset="0"/>
              </a:defRPr>
            </a:lvl1pPr>
            <a:lvl2pPr>
              <a:defRPr sz="1800">
                <a:latin typeface="Arial" charset="0"/>
                <a:ea typeface="Arial" charset="0"/>
                <a:cs typeface="Arial" charset="0"/>
              </a:defRPr>
            </a:lvl2pPr>
            <a:lvl3pPr>
              <a:defRPr sz="1600">
                <a:latin typeface="Arial" charset="0"/>
                <a:ea typeface="Arial" charset="0"/>
                <a:cs typeface="Arial" charset="0"/>
              </a:defRPr>
            </a:lvl3pPr>
            <a:lvl4pPr>
              <a:defRPr sz="1400">
                <a:latin typeface="Arial" charset="0"/>
                <a:ea typeface="Arial" charset="0"/>
                <a:cs typeface="Arial" charset="0"/>
              </a:defRPr>
            </a:lvl4pPr>
            <a:lvl5pPr>
              <a:defRPr sz="1400">
                <a:latin typeface="Arial" charset="0"/>
                <a:ea typeface="Arial" charset="0"/>
                <a:cs typeface="Arial"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Rectangle 11"/>
          <p:cNvSpPr/>
          <p:nvPr/>
        </p:nvSpPr>
        <p:spPr>
          <a:xfrm>
            <a:off x="1060932" y="1604522"/>
            <a:ext cx="1150391" cy="104931"/>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3140"/>
              </a:solidFill>
              <a:effectLst/>
              <a:uLnTx/>
              <a:uFillTx/>
              <a:latin typeface="Arial" panose="020B0604020202020204"/>
              <a:ea typeface="+mn-ea"/>
              <a:cs typeface="+mn-cs"/>
            </a:endParaRPr>
          </a:p>
        </p:txBody>
      </p:sp>
      <p:sp>
        <p:nvSpPr>
          <p:cNvPr id="13" name="Rectangle 12"/>
          <p:cNvSpPr/>
          <p:nvPr/>
        </p:nvSpPr>
        <p:spPr>
          <a:xfrm>
            <a:off x="1060932" y="4091120"/>
            <a:ext cx="1150391"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 name="Date Placeholder 1"/>
          <p:cNvSpPr txBox="1">
            <a:spLocks/>
          </p:cNvSpPr>
          <p:nvPr/>
        </p:nvSpPr>
        <p:spPr>
          <a:xfrm>
            <a:off x="0" y="5855768"/>
            <a:ext cx="3343037" cy="365125"/>
          </a:xfrm>
          <a:prstGeom prst="rect">
            <a:avLst/>
          </a:prstGeom>
        </p:spPr>
        <p:txBody>
          <a:bodyPr vert="horz" lIns="0" tIns="0" rIns="0" bIns="0" rtlCol="0" anchor="b" anchorCtr="0">
            <a:noAutofit/>
          </a:bodyP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panose="020B0604020202020204"/>
                <a:ea typeface="Roboto" charset="0"/>
                <a:cs typeface="Roboto" charset="0"/>
              </a:rPr>
              <a:t>Simplify, Standardize, Accelerate </a:t>
            </a:r>
          </a:p>
        </p:txBody>
      </p:sp>
      <p:sp>
        <p:nvSpPr>
          <p:cNvPr id="15" name="Rectangle 14"/>
          <p:cNvSpPr/>
          <p:nvPr/>
        </p:nvSpPr>
        <p:spPr>
          <a:xfrm>
            <a:off x="4731547" y="1017332"/>
            <a:ext cx="250825" cy="584066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16" name="Picture 15">
            <a:extLst>
              <a:ext uri="{FF2B5EF4-FFF2-40B4-BE49-F238E27FC236}">
                <a16:creationId xmlns:a16="http://schemas.microsoft.com/office/drawing/2014/main" id="{DD2F868E-F9E5-4FD0-AA54-A0611266E9A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315690" y="365125"/>
            <a:ext cx="576887" cy="431811"/>
          </a:xfrm>
          <a:prstGeom prst="rect">
            <a:avLst/>
          </a:prstGeom>
        </p:spPr>
      </p:pic>
    </p:spTree>
    <p:extLst>
      <p:ext uri="{BB962C8B-B14F-4D97-AF65-F5344CB8AC3E}">
        <p14:creationId xmlns:p14="http://schemas.microsoft.com/office/powerpoint/2010/main" val="214291803"/>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itle" preserve="1">
  <p:cSld name="Image Title 01">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647272"/>
            <a:ext cx="12192001" cy="4498847"/>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1103313"/>
            <a:ext cx="11161713" cy="1468437"/>
          </a:xfrm>
        </p:spPr>
        <p:txBody>
          <a:bodyPr anchor="b" anchorCtr="0"/>
          <a:lstStyle>
            <a:lvl1pPr algn="l">
              <a:defRPr sz="4400" b="1" cap="all" baseline="0">
                <a:solidFill>
                  <a:schemeClr val="accent1">
                    <a:lumMod val="60000"/>
                    <a:lumOff val="40000"/>
                  </a:schemeClr>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F631D629-EA3E-4A82-8438-59B781EBBDC8}"/>
              </a:ext>
            </a:extLst>
          </p:cNvPr>
          <p:cNvSpPr>
            <a:spLocks noGrp="1"/>
          </p:cNvSpPr>
          <p:nvPr>
            <p:ph type="subTitle" idx="1"/>
          </p:nvPr>
        </p:nvSpPr>
        <p:spPr>
          <a:xfrm>
            <a:off x="514350" y="2703059"/>
            <a:ext cx="8295821" cy="1655762"/>
          </a:xfrm>
        </p:spPr>
        <p:txBody>
          <a:bodyPr anchor="t" anchorCtr="0"/>
          <a:lstStyle>
            <a:lvl1pPr marL="0" indent="0" algn="l">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pic>
        <p:nvPicPr>
          <p:cNvPr id="8" name="Picture 7"/>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11723" y="5090737"/>
            <a:ext cx="12212780" cy="548702"/>
          </a:xfrm>
          <a:prstGeom prst="rect">
            <a:avLst/>
          </a:prstGeom>
        </p:spPr>
      </p:pic>
      <p:sp>
        <p:nvSpPr>
          <p:cNvPr id="9"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307146"/>
            <a:ext cx="397261" cy="365125"/>
          </a:xfrm>
          <a:prstGeom prst="rect">
            <a:avLst/>
          </a:prstGeom>
        </p:spPr>
        <p:txBody>
          <a:bodyPr vert="horz" lIns="0" tIns="0" rIns="0" bIns="0" rtlCol="0" anchor="b" anchorCtr="0">
            <a:noAutofit/>
          </a:bodyPr>
          <a:lstStyle>
            <a:lvl1pPr algn="r">
              <a:defRPr sz="800">
                <a:solidFill>
                  <a:schemeClr val="tx1"/>
                </a:solidFill>
              </a:defRPr>
            </a:lvl1pPr>
          </a:lstStyle>
          <a:p>
            <a:pPr fontAlgn="base">
              <a:spcBef>
                <a:spcPct val="0"/>
              </a:spcBef>
              <a:spcAft>
                <a:spcPct val="0"/>
              </a:spcAft>
              <a:defRPr/>
            </a:pPr>
            <a:fld id="{1BB4E4D9-2C5A-423A-A8BE-9B5EA07DECC8}" type="slidenum">
              <a:rPr lang="en-US" smtClean="0">
                <a:solidFill>
                  <a:srgbClr val="122632"/>
                </a:solidFill>
                <a:latin typeface="Arial" pitchFamily="34" charset="0"/>
                <a:ea typeface="ＭＳ Ｐゴシック" pitchFamily="80" charset="-128"/>
              </a:rPr>
              <a:pPr fontAlgn="base">
                <a:spcBef>
                  <a:spcPct val="0"/>
                </a:spcBef>
                <a:spcAft>
                  <a:spcPct val="0"/>
                </a:spcAft>
                <a:defRPr/>
              </a:pPr>
              <a:t>‹#›</a:t>
            </a:fld>
            <a:endParaRPr lang="en-US">
              <a:solidFill>
                <a:srgbClr val="122632"/>
              </a:solidFill>
              <a:latin typeface="Arial" pitchFamily="34" charset="0"/>
              <a:ea typeface="ＭＳ Ｐゴシック" pitchFamily="80" charset="-128"/>
            </a:endParaRPr>
          </a:p>
        </p:txBody>
      </p:sp>
      <p:sp>
        <p:nvSpPr>
          <p:cNvPr id="10" name="TextBox 9"/>
          <p:cNvSpPr txBox="1"/>
          <p:nvPr userDrawn="1"/>
        </p:nvSpPr>
        <p:spPr>
          <a:xfrm>
            <a:off x="111939" y="152184"/>
            <a:ext cx="7098747" cy="338554"/>
          </a:xfrm>
          <a:prstGeom prst="rect">
            <a:avLst/>
          </a:prstGeom>
          <a:noFill/>
        </p:spPr>
        <p:txBody>
          <a:bodyPr wrap="square" rtlCol="0">
            <a:spAutoFit/>
          </a:bodyPr>
          <a:lstStyle/>
          <a:p>
            <a:r>
              <a:rPr lang="en-GB" sz="1600" i="1">
                <a:solidFill>
                  <a:schemeClr val="tx1"/>
                </a:solidFill>
                <a:latin typeface="Georgia" panose="02040502050405020303" pitchFamily="18" charset="0"/>
              </a:rPr>
              <a:t>S4F-ERP Knowledge Transfer </a:t>
            </a:r>
          </a:p>
        </p:txBody>
      </p:sp>
    </p:spTree>
    <p:extLst>
      <p:ext uri="{BB962C8B-B14F-4D97-AF65-F5344CB8AC3E}">
        <p14:creationId xmlns:p14="http://schemas.microsoft.com/office/powerpoint/2010/main" val="1474066911"/>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itle" preserve="1">
  <p:cSld name="Image Title 02">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633845"/>
            <a:ext cx="12201057" cy="4499140"/>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1103313"/>
            <a:ext cx="11161713" cy="1468437"/>
          </a:xfrm>
        </p:spPr>
        <p:txBody>
          <a:bodyPr anchor="b" anchorCtr="0"/>
          <a:lstStyle>
            <a:lvl1pPr algn="l">
              <a:defRPr sz="4400" b="1" cap="all" baseline="0">
                <a:solidFill>
                  <a:schemeClr val="bg1"/>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F631D629-EA3E-4A82-8438-59B781EBBDC8}"/>
              </a:ext>
            </a:extLst>
          </p:cNvPr>
          <p:cNvSpPr>
            <a:spLocks noGrp="1"/>
          </p:cNvSpPr>
          <p:nvPr>
            <p:ph type="subTitle" idx="1"/>
          </p:nvPr>
        </p:nvSpPr>
        <p:spPr>
          <a:xfrm>
            <a:off x="514350" y="2703059"/>
            <a:ext cx="8295821" cy="1655762"/>
          </a:xfrm>
        </p:spPr>
        <p:txBody>
          <a:bodyPr anchor="t" anchorCtr="0"/>
          <a:lstStyle>
            <a:lvl1pPr marL="0" indent="0" algn="l">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8"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pPr fontAlgn="base">
              <a:spcBef>
                <a:spcPct val="0"/>
              </a:spcBef>
              <a:spcAft>
                <a:spcPct val="0"/>
              </a:spcAft>
              <a:defRPr/>
            </a:pPr>
            <a:fld id="{1BB4E4D9-2C5A-423A-A8BE-9B5EA07DECC8}" type="slidenum">
              <a:rPr lang="en-US" smtClean="0">
                <a:solidFill>
                  <a:srgbClr val="122632"/>
                </a:solidFill>
                <a:latin typeface="Arial" pitchFamily="34" charset="0"/>
                <a:ea typeface="ＭＳ Ｐゴシック" pitchFamily="80" charset="-128"/>
              </a:rPr>
              <a:pPr fontAlgn="base">
                <a:spcBef>
                  <a:spcPct val="0"/>
                </a:spcBef>
                <a:spcAft>
                  <a:spcPct val="0"/>
                </a:spcAft>
                <a:defRPr/>
              </a:pPr>
              <a:t>‹#›</a:t>
            </a:fld>
            <a:endParaRPr lang="en-US">
              <a:solidFill>
                <a:srgbClr val="122632"/>
              </a:solidFill>
              <a:latin typeface="Arial" pitchFamily="34" charset="0"/>
              <a:ea typeface="ＭＳ Ｐゴシック" pitchFamily="80" charset="-128"/>
            </a:endParaRPr>
          </a:p>
        </p:txBody>
      </p:sp>
      <p:sp>
        <p:nvSpPr>
          <p:cNvPr id="9" name="TextBox 8"/>
          <p:cNvSpPr txBox="1"/>
          <p:nvPr userDrawn="1"/>
        </p:nvSpPr>
        <p:spPr>
          <a:xfrm>
            <a:off x="111939" y="152184"/>
            <a:ext cx="7098747" cy="338554"/>
          </a:xfrm>
          <a:prstGeom prst="rect">
            <a:avLst/>
          </a:prstGeom>
          <a:noFill/>
        </p:spPr>
        <p:txBody>
          <a:bodyPr wrap="square" rtlCol="0">
            <a:spAutoFit/>
          </a:bodyPr>
          <a:lstStyle/>
          <a:p>
            <a:r>
              <a:rPr lang="en-GB" sz="1600" i="1">
                <a:solidFill>
                  <a:schemeClr val="tx1"/>
                </a:solidFill>
                <a:latin typeface="Georgia" panose="02040502050405020303" pitchFamily="18" charset="0"/>
              </a:rPr>
              <a:t>S4F-ERP Knowledge Transfer </a:t>
            </a:r>
          </a:p>
        </p:txBody>
      </p:sp>
    </p:spTree>
    <p:extLst>
      <p:ext uri="{BB962C8B-B14F-4D97-AF65-F5344CB8AC3E}">
        <p14:creationId xmlns:p14="http://schemas.microsoft.com/office/powerpoint/2010/main" val="1847845935"/>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itle" preserve="1">
  <p:cSld name="Spectrum Title 0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45274"/>
            <a:ext cx="12193587" cy="5001275"/>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1103313"/>
            <a:ext cx="11161713" cy="1468437"/>
          </a:xfrm>
        </p:spPr>
        <p:txBody>
          <a:bodyPr anchor="b" anchorCtr="0"/>
          <a:lstStyle>
            <a:lvl1pPr algn="l">
              <a:defRPr sz="4400" b="1" cap="all" baseline="0">
                <a:solidFill>
                  <a:schemeClr val="bg1"/>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F631D629-EA3E-4A82-8438-59B781EBBDC8}"/>
              </a:ext>
            </a:extLst>
          </p:cNvPr>
          <p:cNvSpPr>
            <a:spLocks noGrp="1"/>
          </p:cNvSpPr>
          <p:nvPr>
            <p:ph type="subTitle" idx="1"/>
          </p:nvPr>
        </p:nvSpPr>
        <p:spPr>
          <a:xfrm>
            <a:off x="514350" y="2703059"/>
            <a:ext cx="8295821" cy="1655762"/>
          </a:xfrm>
        </p:spPr>
        <p:txBody>
          <a:bodyPr anchor="t" anchorCtr="0"/>
          <a:lstStyle>
            <a:lvl1pPr marL="0" indent="0" algn="l">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Tree>
    <p:extLst>
      <p:ext uri="{BB962C8B-B14F-4D97-AF65-F5344CB8AC3E}">
        <p14:creationId xmlns:p14="http://schemas.microsoft.com/office/powerpoint/2010/main" val="4057498967"/>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pPr fontAlgn="base">
              <a:spcBef>
                <a:spcPct val="0"/>
              </a:spcBef>
              <a:spcAft>
                <a:spcPct val="0"/>
              </a:spcAft>
              <a:defRPr/>
            </a:pPr>
            <a:fld id="{1BB4E4D9-2C5A-423A-A8BE-9B5EA07DECC8}" type="slidenum">
              <a:rPr lang="en-US" smtClean="0">
                <a:solidFill>
                  <a:srgbClr val="122632"/>
                </a:solidFill>
                <a:latin typeface="Arial" pitchFamily="34" charset="0"/>
                <a:ea typeface="ＭＳ Ｐゴシック" pitchFamily="80" charset="-128"/>
              </a:rPr>
              <a:pPr fontAlgn="base">
                <a:spcBef>
                  <a:spcPct val="0"/>
                </a:spcBef>
                <a:spcAft>
                  <a:spcPct val="0"/>
                </a:spcAft>
                <a:defRPr/>
              </a:pPr>
              <a:t>‹#›</a:t>
            </a:fld>
            <a:endParaRPr lang="en-US">
              <a:solidFill>
                <a:srgbClr val="122632"/>
              </a:solidFill>
              <a:latin typeface="Arial" pitchFamily="34" charset="0"/>
              <a:ea typeface="ＭＳ Ｐゴシック" pitchFamily="80" charset="-128"/>
            </a:endParaRPr>
          </a:p>
        </p:txBody>
      </p:sp>
      <p:grpSp>
        <p:nvGrpSpPr>
          <p:cNvPr id="7" name="Group 6"/>
          <p:cNvGrpSpPr/>
          <p:nvPr/>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Tree>
    <p:extLst>
      <p:ext uri="{BB962C8B-B14F-4D97-AF65-F5344CB8AC3E}">
        <p14:creationId xmlns:p14="http://schemas.microsoft.com/office/powerpoint/2010/main" val="439931139"/>
      </p:ext>
    </p:extLst>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pPr fontAlgn="base">
              <a:spcBef>
                <a:spcPct val="0"/>
              </a:spcBef>
              <a:spcAft>
                <a:spcPct val="0"/>
              </a:spcAft>
              <a:defRPr/>
            </a:pPr>
            <a:fld id="{1BB4E4D9-2C5A-423A-A8BE-9B5EA07DECC8}" type="slidenum">
              <a:rPr lang="en-US" smtClean="0">
                <a:solidFill>
                  <a:srgbClr val="122632"/>
                </a:solidFill>
                <a:latin typeface="Arial" pitchFamily="34" charset="0"/>
                <a:ea typeface="ＭＳ Ｐゴシック" pitchFamily="80" charset="-128"/>
              </a:rPr>
              <a:pPr fontAlgn="base">
                <a:spcBef>
                  <a:spcPct val="0"/>
                </a:spcBef>
                <a:spcAft>
                  <a:spcPct val="0"/>
                </a:spcAft>
                <a:defRPr/>
              </a:pPr>
              <a:t>‹#›</a:t>
            </a:fld>
            <a:endParaRPr lang="en-US">
              <a:solidFill>
                <a:srgbClr val="122632"/>
              </a:solidFill>
              <a:latin typeface="Arial" pitchFamily="34" charset="0"/>
              <a:ea typeface="ＭＳ Ｐゴシック" pitchFamily="80" charset="-128"/>
            </a:endParaRPr>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Tree>
    <p:extLst>
      <p:ext uri="{BB962C8B-B14F-4D97-AF65-F5344CB8AC3E}">
        <p14:creationId xmlns:p14="http://schemas.microsoft.com/office/powerpoint/2010/main" val="740488066"/>
      </p:ext>
    </p:extLst>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Title Only">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pPr fontAlgn="base">
              <a:spcBef>
                <a:spcPct val="0"/>
              </a:spcBef>
              <a:spcAft>
                <a:spcPct val="0"/>
              </a:spcAft>
              <a:defRPr/>
            </a:pPr>
            <a:fld id="{1BB4E4D9-2C5A-423A-A8BE-9B5EA07DECC8}" type="slidenum">
              <a:rPr lang="en-US" smtClean="0">
                <a:solidFill>
                  <a:srgbClr val="122632"/>
                </a:solidFill>
                <a:latin typeface="Arial" pitchFamily="34" charset="0"/>
                <a:ea typeface="ＭＳ Ｐゴシック" pitchFamily="80" charset="-128"/>
              </a:rPr>
              <a:pPr fontAlgn="base">
                <a:spcBef>
                  <a:spcPct val="0"/>
                </a:spcBef>
                <a:spcAft>
                  <a:spcPct val="0"/>
                </a:spcAft>
                <a:defRPr/>
              </a:pPr>
              <a:t>‹#›</a:t>
            </a:fld>
            <a:endParaRPr lang="en-US">
              <a:solidFill>
                <a:srgbClr val="122632"/>
              </a:solidFill>
              <a:latin typeface="Arial" pitchFamily="34" charset="0"/>
              <a:ea typeface="ＭＳ Ｐゴシック" pitchFamily="80" charset="-128"/>
            </a:endParaRPr>
          </a:p>
        </p:txBody>
      </p:sp>
      <p:sp>
        <p:nvSpPr>
          <p:cNvPr id="6" name="Title 5"/>
          <p:cNvSpPr>
            <a:spLocks noGrp="1"/>
          </p:cNvSpPr>
          <p:nvPr>
            <p:ph type="title"/>
          </p:nvPr>
        </p:nvSpPr>
        <p:spPr/>
        <p:txBody>
          <a:bodyPr/>
          <a:lstStyle/>
          <a:p>
            <a:r>
              <a:rPr lang="en-US"/>
              <a:t>Click to edit Master title style</a:t>
            </a:r>
          </a:p>
        </p:txBody>
      </p:sp>
      <p:grpSp>
        <p:nvGrpSpPr>
          <p:cNvPr id="7" name="Group 6"/>
          <p:cNvGrpSpPr/>
          <p:nvPr/>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Tree>
    <p:extLst>
      <p:ext uri="{BB962C8B-B14F-4D97-AF65-F5344CB8AC3E}">
        <p14:creationId xmlns:p14="http://schemas.microsoft.com/office/powerpoint/2010/main" val="1760919890"/>
      </p:ext>
    </p:extLst>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sp>
        <p:nvSpPr>
          <p:cNvPr id="24" name="Slide Number Placeholder 23"/>
          <p:cNvSpPr>
            <a:spLocks noGrp="1"/>
          </p:cNvSpPr>
          <p:nvPr>
            <p:ph type="sldNum" sz="quarter" idx="12"/>
          </p:nvPr>
        </p:nvSpPr>
        <p:spPr/>
        <p:txBody>
          <a:bodyPr/>
          <a:lstStyle/>
          <a:p>
            <a:pPr>
              <a:defRPr/>
            </a:pPr>
            <a:fld id="{85D77248-F92F-47C9-97FD-9CF7B39594FC}" type="slidenum">
              <a:rPr lang="en-GB" smtClean="0">
                <a:solidFill>
                  <a:srgbClr val="FFFFFF"/>
                </a:solidFill>
              </a:rPr>
              <a:pPr>
                <a:defRPr/>
              </a:pPr>
              <a:t>‹#›</a:t>
            </a:fld>
            <a:endParaRPr lang="en-GB">
              <a:solidFill>
                <a:srgbClr val="FFFFFF"/>
              </a:solidFill>
            </a:endParaRPr>
          </a:p>
        </p:txBody>
      </p:sp>
      <p:grpSp>
        <p:nvGrpSpPr>
          <p:cNvPr id="6" name="Group 5"/>
          <p:cNvGrpSpPr/>
          <p:nvPr/>
        </p:nvGrpSpPr>
        <p:grpSpPr>
          <a:xfrm>
            <a:off x="10086109" y="417870"/>
            <a:ext cx="2105891" cy="569193"/>
            <a:chOff x="10086109" y="5763491"/>
            <a:chExt cx="2105891" cy="569193"/>
          </a:xfrm>
        </p:grpSpPr>
        <p:sp>
          <p:nvSpPr>
            <p:cNvPr id="7" name="Rectangle 6"/>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8" name="Group 7"/>
            <p:cNvGrpSpPr/>
            <p:nvPr/>
          </p:nvGrpSpPr>
          <p:grpSpPr>
            <a:xfrm>
              <a:off x="10538695" y="5812704"/>
              <a:ext cx="1343888" cy="519980"/>
              <a:chOff x="515938" y="466803"/>
              <a:chExt cx="2499478" cy="967103"/>
            </a:xfrm>
          </p:grpSpPr>
          <p:grpSp>
            <p:nvGrpSpPr>
              <p:cNvPr id="9" name="Group 8"/>
              <p:cNvGrpSpPr/>
              <p:nvPr/>
            </p:nvGrpSpPr>
            <p:grpSpPr>
              <a:xfrm>
                <a:off x="515938" y="466803"/>
                <a:ext cx="281354" cy="780960"/>
                <a:chOff x="4342156" y="2541184"/>
                <a:chExt cx="219003" cy="683186"/>
              </a:xfrm>
            </p:grpSpPr>
            <p:sp>
              <p:nvSpPr>
                <p:cNvPr id="11" name="Rectangle 10"/>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2" name="Rounded Rectangle 11"/>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0" name="TextBox 9"/>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Tree>
    <p:extLst>
      <p:ext uri="{BB962C8B-B14F-4D97-AF65-F5344CB8AC3E}">
        <p14:creationId xmlns:p14="http://schemas.microsoft.com/office/powerpoint/2010/main" val="26944690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Divider 01">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55EFAC8-0232-4ACB-8A16-76099AC73170}"/>
              </a:ext>
            </a:extLst>
          </p:cNvPr>
          <p:cNvSpPr>
            <a:spLocks noGrp="1"/>
          </p:cNvSpPr>
          <p:nvPr>
            <p:ph type="title"/>
          </p:nvPr>
        </p:nvSpPr>
        <p:spPr>
          <a:xfrm>
            <a:off x="515938" y="1947863"/>
            <a:ext cx="8961437" cy="4334668"/>
          </a:xfrm>
        </p:spPr>
        <p:txBody>
          <a:bodyPr anchor="t" anchorCtr="0"/>
          <a:lstStyle>
            <a:lvl1pPr>
              <a:lnSpc>
                <a:spcPct val="80000"/>
              </a:lnSpc>
              <a:defRPr sz="5400" cap="all" spc="300" baseline="0">
                <a:solidFill>
                  <a:schemeClr val="bg1"/>
                </a:solidFill>
              </a:defRPr>
            </a:lvl1pPr>
          </a:lstStyle>
          <a:p>
            <a:r>
              <a:rPr lang="en-US"/>
              <a:t>Click to edit Master title style</a:t>
            </a:r>
            <a:endParaRPr lang="en-GB"/>
          </a:p>
        </p:txBody>
      </p:sp>
      <p:sp>
        <p:nvSpPr>
          <p:cNvPr id="6" name="Slide Number Placeholder 5">
            <a:extLst>
              <a:ext uri="{FF2B5EF4-FFF2-40B4-BE49-F238E27FC236}">
                <a16:creationId xmlns:a16="http://schemas.microsoft.com/office/drawing/2014/main" id="{7642C075-17B3-4F6A-89D1-B6091271B389}"/>
              </a:ext>
            </a:extLst>
          </p:cNvPr>
          <p:cNvSpPr>
            <a:spLocks noGrp="1"/>
          </p:cNvSpPr>
          <p:nvPr>
            <p:ph type="sldNum" sz="quarter" idx="12"/>
          </p:nvPr>
        </p:nvSpPr>
        <p:spPr/>
        <p:txBody>
          <a:bodyPr/>
          <a:lstStyle>
            <a:lvl1pPr>
              <a:defRPr>
                <a:solidFill>
                  <a:schemeClr val="bg1"/>
                </a:solidFill>
              </a:defRPr>
            </a:lvl1pPr>
          </a:lstStyle>
          <a:p>
            <a:pPr fontAlgn="base">
              <a:spcBef>
                <a:spcPct val="0"/>
              </a:spcBef>
              <a:spcAft>
                <a:spcPct val="0"/>
              </a:spcAft>
              <a:defRPr/>
            </a:pPr>
            <a:fld id="{1BB4E4D9-2C5A-423A-A8BE-9B5EA07DECC8}" type="slidenum">
              <a:rPr lang="en-US" smtClean="0">
                <a:solidFill>
                  <a:srgbClr val="122632"/>
                </a:solidFill>
                <a:latin typeface="Arial" pitchFamily="34" charset="0"/>
                <a:ea typeface="ＭＳ Ｐゴシック" pitchFamily="80" charset="-128"/>
              </a:rPr>
              <a:pPr fontAlgn="base">
                <a:spcBef>
                  <a:spcPct val="0"/>
                </a:spcBef>
                <a:spcAft>
                  <a:spcPct val="0"/>
                </a:spcAft>
                <a:defRPr/>
              </a:pPr>
              <a:t>‹#›</a:t>
            </a:fld>
            <a:endParaRPr lang="en-US">
              <a:solidFill>
                <a:srgbClr val="122632"/>
              </a:solidFill>
              <a:latin typeface="Arial" pitchFamily="34" charset="0"/>
              <a:ea typeface="ＭＳ Ｐゴシック" pitchFamily="80" charset="-128"/>
            </a:endParaRPr>
          </a:p>
        </p:txBody>
      </p:sp>
      <p:pic>
        <p:nvPicPr>
          <p:cNvPr id="10" name="Picture 9">
            <a:extLst>
              <a:ext uri="{FF2B5EF4-FFF2-40B4-BE49-F238E27FC236}">
                <a16:creationId xmlns:a16="http://schemas.microsoft.com/office/drawing/2014/main" id="{DD2F868E-F9E5-4FD0-AA54-A0611266E9A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Tree>
    <p:extLst>
      <p:ext uri="{BB962C8B-B14F-4D97-AF65-F5344CB8AC3E}">
        <p14:creationId xmlns:p14="http://schemas.microsoft.com/office/powerpoint/2010/main" val="2180933198"/>
      </p:ext>
    </p:extLst>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Divider 02">
    <p:spTree>
      <p:nvGrpSpPr>
        <p:cNvPr id="1" name=""/>
        <p:cNvGrpSpPr/>
        <p:nvPr/>
      </p:nvGrpSpPr>
      <p:grpSpPr>
        <a:xfrm>
          <a:off x="0" y="0"/>
          <a:ext cx="0" cy="0"/>
          <a:chOff x="0" y="0"/>
          <a:chExt cx="0" cy="0"/>
        </a:xfrm>
      </p:grpSpPr>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Slide Number Placeholder 4"/>
          <p:cNvSpPr>
            <a:spLocks noGrp="1"/>
          </p:cNvSpPr>
          <p:nvPr>
            <p:ph type="sldNum" sz="quarter" idx="12"/>
          </p:nvPr>
        </p:nvSpPr>
        <p:spPr/>
        <p:txBody>
          <a:bodyPr/>
          <a:lstStyle>
            <a:lvl1pPr>
              <a:defRPr>
                <a:solidFill>
                  <a:schemeClr val="bg1"/>
                </a:solidFill>
              </a:defRPr>
            </a:lvl1pPr>
          </a:lstStyle>
          <a:p>
            <a:pPr fontAlgn="base">
              <a:spcBef>
                <a:spcPct val="0"/>
              </a:spcBef>
              <a:spcAft>
                <a:spcPct val="0"/>
              </a:spcAft>
              <a:defRPr/>
            </a:pPr>
            <a:fld id="{1BB4E4D9-2C5A-423A-A8BE-9B5EA07DECC8}" type="slidenum">
              <a:rPr lang="en-US" smtClean="0">
                <a:solidFill>
                  <a:srgbClr val="122632"/>
                </a:solidFill>
                <a:latin typeface="Arial" pitchFamily="34" charset="0"/>
                <a:ea typeface="ＭＳ Ｐゴシック" pitchFamily="80" charset="-128"/>
              </a:rPr>
              <a:pPr fontAlgn="base">
                <a:spcBef>
                  <a:spcPct val="0"/>
                </a:spcBef>
                <a:spcAft>
                  <a:spcPct val="0"/>
                </a:spcAft>
                <a:defRPr/>
              </a:pPr>
              <a:t>‹#›</a:t>
            </a:fld>
            <a:endParaRPr lang="en-US">
              <a:solidFill>
                <a:srgbClr val="122632"/>
              </a:solidFill>
              <a:latin typeface="Arial" pitchFamily="34" charset="0"/>
              <a:ea typeface="ＭＳ Ｐゴシック" pitchFamily="80" charset="-128"/>
            </a:endParaRPr>
          </a:p>
        </p:txBody>
      </p:sp>
    </p:spTree>
    <p:extLst>
      <p:ext uri="{BB962C8B-B14F-4D97-AF65-F5344CB8AC3E}">
        <p14:creationId xmlns:p14="http://schemas.microsoft.com/office/powerpoint/2010/main" val="3841452663"/>
      </p:ext>
    </p:extLst>
  </p:cSld>
  <p:clrMapOvr>
    <a:masterClrMapping/>
  </p:clrMapOvr>
  <p:hf hdr="0" dt="0"/>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Divider 0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55EFAC8-0232-4ACB-8A16-76099AC73170}"/>
              </a:ext>
            </a:extLst>
          </p:cNvPr>
          <p:cNvSpPr>
            <a:spLocks noGrp="1"/>
          </p:cNvSpPr>
          <p:nvPr>
            <p:ph type="title"/>
          </p:nvPr>
        </p:nvSpPr>
        <p:spPr>
          <a:xfrm>
            <a:off x="515938" y="1947863"/>
            <a:ext cx="8961437" cy="4334668"/>
          </a:xfrm>
        </p:spPr>
        <p:txBody>
          <a:bodyPr anchor="t" anchorCtr="0"/>
          <a:lstStyle>
            <a:lvl1pPr>
              <a:lnSpc>
                <a:spcPct val="80000"/>
              </a:lnSpc>
              <a:defRPr sz="5400" cap="all" spc="300" baseline="0">
                <a:solidFill>
                  <a:schemeClr val="bg1"/>
                </a:solidFill>
              </a:defRPr>
            </a:lvl1pPr>
          </a:lstStyle>
          <a:p>
            <a:r>
              <a:rPr lang="en-US"/>
              <a:t>Click to edit Master title style</a:t>
            </a:r>
            <a:endParaRPr lang="en-GB"/>
          </a:p>
        </p:txBody>
      </p:sp>
      <p:sp>
        <p:nvSpPr>
          <p:cNvPr id="6" name="Slide Number Placeholder 5">
            <a:extLst>
              <a:ext uri="{FF2B5EF4-FFF2-40B4-BE49-F238E27FC236}">
                <a16:creationId xmlns:a16="http://schemas.microsoft.com/office/drawing/2014/main" id="{7642C075-17B3-4F6A-89D1-B6091271B389}"/>
              </a:ext>
            </a:extLst>
          </p:cNvPr>
          <p:cNvSpPr>
            <a:spLocks noGrp="1"/>
          </p:cNvSpPr>
          <p:nvPr>
            <p:ph type="sldNum" sz="quarter" idx="12"/>
          </p:nvPr>
        </p:nvSpPr>
        <p:spPr/>
        <p:txBody>
          <a:bodyPr/>
          <a:lstStyle>
            <a:lvl1pPr>
              <a:defRPr>
                <a:solidFill>
                  <a:schemeClr val="bg1"/>
                </a:solidFill>
              </a:defRPr>
            </a:lvl1pPr>
          </a:lstStyle>
          <a:p>
            <a:pPr fontAlgn="base">
              <a:spcBef>
                <a:spcPct val="0"/>
              </a:spcBef>
              <a:spcAft>
                <a:spcPct val="0"/>
              </a:spcAft>
              <a:defRPr/>
            </a:pPr>
            <a:fld id="{1BB4E4D9-2C5A-423A-A8BE-9B5EA07DECC8}" type="slidenum">
              <a:rPr lang="en-US" smtClean="0">
                <a:solidFill>
                  <a:srgbClr val="122632"/>
                </a:solidFill>
                <a:latin typeface="Arial" pitchFamily="34" charset="0"/>
                <a:ea typeface="ＭＳ Ｐゴシック" pitchFamily="80" charset="-128"/>
              </a:rPr>
              <a:pPr fontAlgn="base">
                <a:spcBef>
                  <a:spcPct val="0"/>
                </a:spcBef>
                <a:spcAft>
                  <a:spcPct val="0"/>
                </a:spcAft>
                <a:defRPr/>
              </a:pPr>
              <a:t>‹#›</a:t>
            </a:fld>
            <a:endParaRPr lang="en-US">
              <a:solidFill>
                <a:srgbClr val="122632"/>
              </a:solidFill>
              <a:latin typeface="Arial" pitchFamily="34" charset="0"/>
              <a:ea typeface="ＭＳ Ｐゴシック" pitchFamily="80" charset="-128"/>
            </a:endParaRPr>
          </a:p>
        </p:txBody>
      </p:sp>
      <p:pic>
        <p:nvPicPr>
          <p:cNvPr id="10" name="Picture 9">
            <a:extLst>
              <a:ext uri="{FF2B5EF4-FFF2-40B4-BE49-F238E27FC236}">
                <a16:creationId xmlns:a16="http://schemas.microsoft.com/office/drawing/2014/main" id="{DD2F868E-F9E5-4FD0-AA54-A0611266E9A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Tree>
    <p:extLst>
      <p:ext uri="{BB962C8B-B14F-4D97-AF65-F5344CB8AC3E}">
        <p14:creationId xmlns:p14="http://schemas.microsoft.com/office/powerpoint/2010/main" val="1875997094"/>
      </p:ext>
    </p:extLst>
  </p:cSld>
  <p:clrMapOvr>
    <a:masterClrMapping/>
  </p:clrMapOvr>
  <p:hf hdr="0" dt="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Divider 04">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55EFAC8-0232-4ACB-8A16-76099AC73170}"/>
              </a:ext>
            </a:extLst>
          </p:cNvPr>
          <p:cNvSpPr>
            <a:spLocks noGrp="1"/>
          </p:cNvSpPr>
          <p:nvPr>
            <p:ph type="title"/>
          </p:nvPr>
        </p:nvSpPr>
        <p:spPr>
          <a:xfrm>
            <a:off x="515938" y="4819338"/>
            <a:ext cx="8961437" cy="1463192"/>
          </a:xfrm>
        </p:spPr>
        <p:txBody>
          <a:bodyPr anchor="t" anchorCtr="0"/>
          <a:lstStyle>
            <a:lvl1pPr>
              <a:lnSpc>
                <a:spcPct val="80000"/>
              </a:lnSpc>
              <a:defRPr sz="5400" cap="all" spc="300" baseline="0">
                <a:solidFill>
                  <a:schemeClr val="bg1"/>
                </a:solidFill>
              </a:defRPr>
            </a:lvl1pPr>
          </a:lstStyle>
          <a:p>
            <a:r>
              <a:rPr lang="en-US"/>
              <a:t>Click to edit Master title style</a:t>
            </a:r>
            <a:endParaRPr lang="en-GB"/>
          </a:p>
        </p:txBody>
      </p:sp>
      <p:sp>
        <p:nvSpPr>
          <p:cNvPr id="6" name="Slide Number Placeholder 5">
            <a:extLst>
              <a:ext uri="{FF2B5EF4-FFF2-40B4-BE49-F238E27FC236}">
                <a16:creationId xmlns:a16="http://schemas.microsoft.com/office/drawing/2014/main" id="{7642C075-17B3-4F6A-89D1-B6091271B389}"/>
              </a:ext>
            </a:extLst>
          </p:cNvPr>
          <p:cNvSpPr>
            <a:spLocks noGrp="1"/>
          </p:cNvSpPr>
          <p:nvPr>
            <p:ph type="sldNum" sz="quarter" idx="12"/>
          </p:nvPr>
        </p:nvSpPr>
        <p:spPr/>
        <p:txBody>
          <a:bodyPr/>
          <a:lstStyle>
            <a:lvl1pPr>
              <a:defRPr>
                <a:solidFill>
                  <a:schemeClr val="bg1"/>
                </a:solidFill>
              </a:defRPr>
            </a:lvl1pPr>
          </a:lstStyle>
          <a:p>
            <a:pPr fontAlgn="base">
              <a:spcBef>
                <a:spcPct val="0"/>
              </a:spcBef>
              <a:spcAft>
                <a:spcPct val="0"/>
              </a:spcAft>
              <a:defRPr/>
            </a:pPr>
            <a:fld id="{1BB4E4D9-2C5A-423A-A8BE-9B5EA07DECC8}" type="slidenum">
              <a:rPr lang="en-US" smtClean="0">
                <a:solidFill>
                  <a:srgbClr val="122632"/>
                </a:solidFill>
                <a:latin typeface="Arial" pitchFamily="34" charset="0"/>
                <a:ea typeface="ＭＳ Ｐゴシック" pitchFamily="80" charset="-128"/>
              </a:rPr>
              <a:pPr fontAlgn="base">
                <a:spcBef>
                  <a:spcPct val="0"/>
                </a:spcBef>
                <a:spcAft>
                  <a:spcPct val="0"/>
                </a:spcAft>
                <a:defRPr/>
              </a:pPr>
              <a:t>‹#›</a:t>
            </a:fld>
            <a:endParaRPr lang="en-US">
              <a:solidFill>
                <a:srgbClr val="122632"/>
              </a:solidFill>
              <a:latin typeface="Arial" pitchFamily="34" charset="0"/>
              <a:ea typeface="ＭＳ Ｐゴシック" pitchFamily="80" charset="-128"/>
            </a:endParaRPr>
          </a:p>
        </p:txBody>
      </p:sp>
      <p:pic>
        <p:nvPicPr>
          <p:cNvPr id="10" name="Picture 9">
            <a:extLst>
              <a:ext uri="{FF2B5EF4-FFF2-40B4-BE49-F238E27FC236}">
                <a16:creationId xmlns:a16="http://schemas.microsoft.com/office/drawing/2014/main" id="{DD2F868E-F9E5-4FD0-AA54-A0611266E9A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Tree>
    <p:extLst>
      <p:ext uri="{BB962C8B-B14F-4D97-AF65-F5344CB8AC3E}">
        <p14:creationId xmlns:p14="http://schemas.microsoft.com/office/powerpoint/2010/main" val="2610778980"/>
      </p:ext>
    </p:extLst>
  </p:cSld>
  <p:clrMapOvr>
    <a:masterClrMapping/>
  </p:clrMapOvr>
  <p:hf hd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pPr fontAlgn="base">
              <a:spcBef>
                <a:spcPct val="0"/>
              </a:spcBef>
              <a:spcAft>
                <a:spcPct val="0"/>
              </a:spcAft>
              <a:defRPr/>
            </a:pPr>
            <a:fld id="{1BB4E4D9-2C5A-423A-A8BE-9B5EA07DECC8}" type="slidenum">
              <a:rPr lang="en-US" smtClean="0">
                <a:solidFill>
                  <a:srgbClr val="122632"/>
                </a:solidFill>
                <a:latin typeface="Arial" pitchFamily="34" charset="0"/>
                <a:ea typeface="ＭＳ Ｐゴシック" pitchFamily="80" charset="-128"/>
              </a:rPr>
              <a:pPr fontAlgn="base">
                <a:spcBef>
                  <a:spcPct val="0"/>
                </a:spcBef>
                <a:spcAft>
                  <a:spcPct val="0"/>
                </a:spcAft>
                <a:defRPr/>
              </a:pPr>
              <a:t>‹#›</a:t>
            </a:fld>
            <a:endParaRPr lang="en-US">
              <a:solidFill>
                <a:srgbClr val="122632"/>
              </a:solidFill>
              <a:latin typeface="Arial" pitchFamily="34" charset="0"/>
              <a:ea typeface="ＭＳ Ｐゴシック" pitchFamily="80" charset="-128"/>
            </a:endParaRPr>
          </a:p>
        </p:txBody>
      </p:sp>
      <p:grpSp>
        <p:nvGrpSpPr>
          <p:cNvPr id="7" name="Group 6"/>
          <p:cNvGrpSpPr/>
          <p:nvPr/>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p:nvSpPr>
        <p:spPr>
          <a:xfrm>
            <a:off x="0" y="678873"/>
            <a:ext cx="207818" cy="5968783"/>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2535699597"/>
      </p:ext>
    </p:extLst>
  </p:cSld>
  <p:clrMapOvr>
    <a:masterClrMapping/>
  </p:clrMapOvr>
  <p:hf hd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itle and Content 0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pPr fontAlgn="base">
              <a:spcBef>
                <a:spcPct val="0"/>
              </a:spcBef>
              <a:spcAft>
                <a:spcPct val="0"/>
              </a:spcAft>
              <a:defRPr/>
            </a:pPr>
            <a:fld id="{1BB4E4D9-2C5A-423A-A8BE-9B5EA07DECC8}" type="slidenum">
              <a:rPr lang="en-US" smtClean="0">
                <a:solidFill>
                  <a:srgbClr val="122632"/>
                </a:solidFill>
                <a:latin typeface="Arial" pitchFamily="34" charset="0"/>
                <a:ea typeface="ＭＳ Ｐゴシック" pitchFamily="80" charset="-128"/>
              </a:rPr>
              <a:pPr fontAlgn="base">
                <a:spcBef>
                  <a:spcPct val="0"/>
                </a:spcBef>
                <a:spcAft>
                  <a:spcPct val="0"/>
                </a:spcAft>
                <a:defRPr/>
              </a:pPr>
              <a:t>‹#›</a:t>
            </a:fld>
            <a:endParaRPr lang="en-US">
              <a:solidFill>
                <a:srgbClr val="122632"/>
              </a:solidFill>
              <a:latin typeface="Arial" pitchFamily="34" charset="0"/>
              <a:ea typeface="ＭＳ Ｐゴシック" pitchFamily="80" charset="-128"/>
            </a:endParaRPr>
          </a:p>
        </p:txBody>
      </p:sp>
      <p:grpSp>
        <p:nvGrpSpPr>
          <p:cNvPr id="7" name="Group 6"/>
          <p:cNvGrpSpPr/>
          <p:nvPr/>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accent1">
                    <a:lumMod val="60000"/>
                    <a:lumOff val="40000"/>
                  </a:schemeClr>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p:nvSpPr>
        <p:spPr>
          <a:xfrm>
            <a:off x="0" y="678873"/>
            <a:ext cx="207818" cy="596878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3601425507"/>
      </p:ext>
    </p:extLst>
  </p:cSld>
  <p:clrMapOvr>
    <a:masterClrMapping/>
  </p:clrMapOvr>
  <p:hf hdr="0" dt="0"/>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Title Only 02">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0D12603-15D9-4377-BA98-9268CA8548FA}"/>
              </a:ext>
            </a:extLst>
          </p:cNvPr>
          <p:cNvSpPr>
            <a:spLocks noGrp="1"/>
          </p:cNvSpPr>
          <p:nvPr>
            <p:ph type="sldNum" sz="quarter" idx="12"/>
          </p:nvPr>
        </p:nvSpPr>
        <p:spPr/>
        <p:txBody>
          <a:bodyPr/>
          <a:lstStyle/>
          <a:p>
            <a:pPr fontAlgn="base">
              <a:spcBef>
                <a:spcPct val="0"/>
              </a:spcBef>
              <a:spcAft>
                <a:spcPct val="0"/>
              </a:spcAft>
              <a:defRPr/>
            </a:pPr>
            <a:fld id="{1BB4E4D9-2C5A-423A-A8BE-9B5EA07DECC8}" type="slidenum">
              <a:rPr lang="en-US" smtClean="0">
                <a:solidFill>
                  <a:srgbClr val="122632"/>
                </a:solidFill>
                <a:latin typeface="Arial" pitchFamily="34" charset="0"/>
                <a:ea typeface="ＭＳ Ｐゴシック" pitchFamily="80" charset="-128"/>
              </a:rPr>
              <a:pPr fontAlgn="base">
                <a:spcBef>
                  <a:spcPct val="0"/>
                </a:spcBef>
                <a:spcAft>
                  <a:spcPct val="0"/>
                </a:spcAft>
                <a:defRPr/>
              </a:pPr>
              <a:t>‹#›</a:t>
            </a:fld>
            <a:endParaRPr lang="en-US">
              <a:solidFill>
                <a:srgbClr val="122632"/>
              </a:solidFill>
              <a:latin typeface="Arial" pitchFamily="34" charset="0"/>
              <a:ea typeface="ＭＳ Ｐゴシック" pitchFamily="80" charset="-128"/>
            </a:endParaRPr>
          </a:p>
        </p:txBody>
      </p:sp>
      <p:pic>
        <p:nvPicPr>
          <p:cNvPr id="6" name="Picture 5"/>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9365" y="-66611"/>
            <a:ext cx="12212780" cy="548702"/>
          </a:xfrm>
          <a:prstGeom prst="rect">
            <a:avLst/>
          </a:prstGeom>
        </p:spPr>
      </p:pic>
      <p:sp>
        <p:nvSpPr>
          <p:cNvPr id="7" name="Title 6"/>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09394409"/>
      </p:ext>
    </p:extLst>
  </p:cSld>
  <p:clrMapOvr>
    <a:masterClrMapping/>
  </p:clrMapOvr>
  <p:hf hd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Only 03">
    <p:spTree>
      <p:nvGrpSpPr>
        <p:cNvPr id="1" name=""/>
        <p:cNvGrpSpPr/>
        <p:nvPr/>
      </p:nvGrpSpPr>
      <p:grpSpPr>
        <a:xfrm>
          <a:off x="0" y="0"/>
          <a:ext cx="0" cy="0"/>
          <a:chOff x="0" y="0"/>
          <a:chExt cx="0" cy="0"/>
        </a:xfrm>
      </p:grpSpPr>
      <p:grpSp>
        <p:nvGrpSpPr>
          <p:cNvPr id="6" name="Group 5"/>
          <p:cNvGrpSpPr/>
          <p:nvPr/>
        </p:nvGrpSpPr>
        <p:grpSpPr>
          <a:xfrm>
            <a:off x="0" y="-11151"/>
            <a:ext cx="12192000" cy="6869151"/>
            <a:chOff x="0" y="-11151"/>
            <a:chExt cx="12192000" cy="6869151"/>
          </a:xfrm>
        </p:grpSpPr>
        <p:grpSp>
          <p:nvGrpSpPr>
            <p:cNvPr id="7" name="Group 6"/>
            <p:cNvGrpSpPr/>
            <p:nvPr/>
          </p:nvGrpSpPr>
          <p:grpSpPr>
            <a:xfrm>
              <a:off x="0" y="30978"/>
              <a:ext cx="7346443" cy="6827022"/>
              <a:chOff x="0" y="30978"/>
              <a:chExt cx="7346443" cy="6827022"/>
            </a:xfrm>
          </p:grpSpPr>
          <p:sp>
            <p:nvSpPr>
              <p:cNvPr id="9" name="Freeform 8"/>
              <p:cNvSpPr/>
              <p:nvPr/>
            </p:nvSpPr>
            <p:spPr>
              <a:xfrm>
                <a:off x="0" y="30978"/>
                <a:ext cx="7346443" cy="6827022"/>
              </a:xfrm>
              <a:custGeom>
                <a:avLst/>
                <a:gdLst>
                  <a:gd name="connsiteX0" fmla="*/ 0 w 7346443"/>
                  <a:gd name="connsiteY0" fmla="*/ 0 h 6827022"/>
                  <a:gd name="connsiteX1" fmla="*/ 7346443 w 7346443"/>
                  <a:gd name="connsiteY1" fmla="*/ 6827022 h 6827022"/>
                  <a:gd name="connsiteX2" fmla="*/ 0 w 7346443"/>
                  <a:gd name="connsiteY2" fmla="*/ 6827022 h 6827022"/>
                </a:gdLst>
                <a:ahLst/>
                <a:cxnLst>
                  <a:cxn ang="0">
                    <a:pos x="connsiteX0" y="connsiteY0"/>
                  </a:cxn>
                  <a:cxn ang="0">
                    <a:pos x="connsiteX1" y="connsiteY1"/>
                  </a:cxn>
                  <a:cxn ang="0">
                    <a:pos x="connsiteX2" y="connsiteY2"/>
                  </a:cxn>
                </a:cxnLst>
                <a:rect l="l" t="t" r="r" b="b"/>
                <a:pathLst>
                  <a:path w="7346443" h="6827022">
                    <a:moveTo>
                      <a:pt x="0" y="0"/>
                    </a:moveTo>
                    <a:lnTo>
                      <a:pt x="7346443" y="6827022"/>
                    </a:lnTo>
                    <a:lnTo>
                      <a:pt x="0" y="6827022"/>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0" name="Freeform 9"/>
              <p:cNvSpPr/>
              <p:nvPr/>
            </p:nvSpPr>
            <p:spPr>
              <a:xfrm>
                <a:off x="0" y="1696574"/>
                <a:ext cx="802656" cy="1625366"/>
              </a:xfrm>
              <a:custGeom>
                <a:avLst/>
                <a:gdLst>
                  <a:gd name="connsiteX0" fmla="*/ 0 w 802656"/>
                  <a:gd name="connsiteY0" fmla="*/ 0 h 1625366"/>
                  <a:gd name="connsiteX1" fmla="*/ 152859 w 802656"/>
                  <a:gd name="connsiteY1" fmla="*/ 15410 h 1625366"/>
                  <a:gd name="connsiteX2" fmla="*/ 802656 w 802656"/>
                  <a:gd name="connsiteY2" fmla="*/ 812683 h 1625366"/>
                  <a:gd name="connsiteX3" fmla="*/ 152859 w 802656"/>
                  <a:gd name="connsiteY3" fmla="*/ 1609956 h 1625366"/>
                  <a:gd name="connsiteX4" fmla="*/ 0 w 802656"/>
                  <a:gd name="connsiteY4" fmla="*/ 1625366 h 162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56" h="1625366">
                    <a:moveTo>
                      <a:pt x="0" y="0"/>
                    </a:moveTo>
                    <a:lnTo>
                      <a:pt x="152859" y="15410"/>
                    </a:lnTo>
                    <a:cubicBezTo>
                      <a:pt x="523697" y="91294"/>
                      <a:pt x="802656" y="419412"/>
                      <a:pt x="802656" y="812683"/>
                    </a:cubicBezTo>
                    <a:cubicBezTo>
                      <a:pt x="802656" y="1205955"/>
                      <a:pt x="523697" y="1534072"/>
                      <a:pt x="152859" y="1609956"/>
                    </a:cubicBezTo>
                    <a:lnTo>
                      <a:pt x="0" y="1625366"/>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8" name="Rectangle 7"/>
            <p:cNvSpPr/>
            <p:nvPr/>
          </p:nvSpPr>
          <p:spPr>
            <a:xfrm>
              <a:off x="6096000" y="-11151"/>
              <a:ext cx="6096000" cy="6869151"/>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5" name="Slide Number Placeholder 4"/>
          <p:cNvSpPr>
            <a:spLocks noGrp="1"/>
          </p:cNvSpPr>
          <p:nvPr>
            <p:ph type="sldNum" sz="quarter" idx="12"/>
          </p:nvPr>
        </p:nvSpPr>
        <p:spPr/>
        <p:txBody>
          <a:bodyPr/>
          <a:lstStyle/>
          <a:p>
            <a:pPr fontAlgn="base">
              <a:spcBef>
                <a:spcPct val="0"/>
              </a:spcBef>
              <a:spcAft>
                <a:spcPct val="0"/>
              </a:spcAft>
              <a:defRPr/>
            </a:pPr>
            <a:fld id="{1BB4E4D9-2C5A-423A-A8BE-9B5EA07DECC8}" type="slidenum">
              <a:rPr lang="en-US" smtClean="0">
                <a:solidFill>
                  <a:srgbClr val="122632"/>
                </a:solidFill>
                <a:latin typeface="Arial" pitchFamily="34" charset="0"/>
                <a:ea typeface="ＭＳ Ｐゴシック" pitchFamily="80" charset="-128"/>
              </a:rPr>
              <a:pPr fontAlgn="base">
                <a:spcBef>
                  <a:spcPct val="0"/>
                </a:spcBef>
                <a:spcAft>
                  <a:spcPct val="0"/>
                </a:spcAft>
                <a:defRPr/>
              </a:pPr>
              <a:t>‹#›</a:t>
            </a:fld>
            <a:endParaRPr lang="en-US">
              <a:solidFill>
                <a:srgbClr val="122632"/>
              </a:solidFill>
              <a:latin typeface="Arial" pitchFamily="34" charset="0"/>
              <a:ea typeface="ＭＳ Ｐゴシック" pitchFamily="80" charset="-128"/>
            </a:endParaRPr>
          </a:p>
        </p:txBody>
      </p:sp>
      <p:cxnSp>
        <p:nvCxnSpPr>
          <p:cNvPr id="12" name="Straight Connector 11"/>
          <p:cNvCxnSpPr/>
          <p:nvPr/>
        </p:nvCxnSpPr>
        <p:spPr>
          <a:xfrm>
            <a:off x="515939" y="1340547"/>
            <a:ext cx="989806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10381843"/>
      </p:ext>
    </p:extLst>
  </p:cSld>
  <p:clrMapOvr>
    <a:masterClrMapping/>
  </p:clrMapOvr>
  <p:hf hd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5" name="Slide Number Placeholder 4"/>
          <p:cNvSpPr>
            <a:spLocks noGrp="1"/>
          </p:cNvSpPr>
          <p:nvPr>
            <p:ph type="sldNum" sz="quarter" idx="12"/>
          </p:nvPr>
        </p:nvSpPr>
        <p:spPr/>
        <p:txBody>
          <a:bodyPr/>
          <a:lstStyle>
            <a:lvl1pPr>
              <a:defRPr>
                <a:solidFill>
                  <a:schemeClr val="bg1"/>
                </a:solidFill>
              </a:defRPr>
            </a:lvl1pPr>
          </a:lstStyle>
          <a:p>
            <a:pPr fontAlgn="base">
              <a:spcBef>
                <a:spcPct val="0"/>
              </a:spcBef>
              <a:spcAft>
                <a:spcPct val="0"/>
              </a:spcAft>
              <a:defRPr/>
            </a:pPr>
            <a:fld id="{1BB4E4D9-2C5A-423A-A8BE-9B5EA07DECC8}" type="slidenum">
              <a:rPr lang="en-US" smtClean="0">
                <a:solidFill>
                  <a:srgbClr val="122632"/>
                </a:solidFill>
                <a:latin typeface="Arial" pitchFamily="34" charset="0"/>
                <a:ea typeface="ＭＳ Ｐゴシック" pitchFamily="80" charset="-128"/>
              </a:rPr>
              <a:pPr fontAlgn="base">
                <a:spcBef>
                  <a:spcPct val="0"/>
                </a:spcBef>
                <a:spcAft>
                  <a:spcPct val="0"/>
                </a:spcAft>
                <a:defRPr/>
              </a:pPr>
              <a:t>‹#›</a:t>
            </a:fld>
            <a:endParaRPr lang="en-US">
              <a:solidFill>
                <a:srgbClr val="122632"/>
              </a:solidFill>
              <a:latin typeface="Arial" pitchFamily="34" charset="0"/>
              <a:ea typeface="ＭＳ Ｐゴシック" pitchFamily="80" charset="-128"/>
            </a:endParaRPr>
          </a:p>
        </p:txBody>
      </p:sp>
      <p:sp>
        <p:nvSpPr>
          <p:cNvPr id="8" name="Rectangle 7"/>
          <p:cNvSpPr/>
          <p:nvPr/>
        </p:nvSpPr>
        <p:spPr>
          <a:xfrm>
            <a:off x="4623867" y="1695450"/>
            <a:ext cx="2957512" cy="2957512"/>
          </a:xfrm>
          <a:prstGeom prst="rect">
            <a:avLst/>
          </a:prstGeom>
          <a:noFill/>
          <a:ln w="1270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3916663" y="1945294"/>
            <a:ext cx="4405534" cy="1971681"/>
          </a:xfrm>
          <a:prstGeom prst="rect">
            <a:avLst/>
          </a:prstGeom>
          <a:noFill/>
        </p:spPr>
        <p:txBody>
          <a:bodyPr wrap="square" lIns="0" tIns="0" rIns="0" bIns="0" rtlCol="0">
            <a:noAutofit/>
          </a:bodyPr>
          <a:lstStyle/>
          <a:p>
            <a:pPr algn="l"/>
            <a:r>
              <a:rPr lang="en-US" sz="15000" b="1" i="0">
                <a:solidFill>
                  <a:schemeClr val="bg1"/>
                </a:solidFill>
                <a:latin typeface="Arial" charset="0"/>
                <a:ea typeface="Arial" charset="0"/>
                <a:cs typeface="Arial" charset="0"/>
              </a:rPr>
              <a:t>Q&amp;A</a:t>
            </a:r>
          </a:p>
        </p:txBody>
      </p:sp>
      <p:grpSp>
        <p:nvGrpSpPr>
          <p:cNvPr id="10" name="Group 9"/>
          <p:cNvGrpSpPr/>
          <p:nvPr/>
        </p:nvGrpSpPr>
        <p:grpSpPr>
          <a:xfrm>
            <a:off x="9177936" y="5483056"/>
            <a:ext cx="2499478" cy="844061"/>
            <a:chOff x="515938" y="495364"/>
            <a:chExt cx="2499478" cy="844061"/>
          </a:xfrm>
        </p:grpSpPr>
        <p:grpSp>
          <p:nvGrpSpPr>
            <p:cNvPr id="11" name="Group 10"/>
            <p:cNvGrpSpPr/>
            <p:nvPr/>
          </p:nvGrpSpPr>
          <p:grpSpPr>
            <a:xfrm>
              <a:off x="515938" y="499199"/>
              <a:ext cx="281354" cy="780960"/>
              <a:chOff x="4342156" y="2569527"/>
              <a:chExt cx="219003" cy="683186"/>
            </a:xfrm>
          </p:grpSpPr>
          <p:sp>
            <p:nvSpPr>
              <p:cNvPr id="13" name="Rectangle 12"/>
              <p:cNvSpPr/>
              <p:nvPr/>
            </p:nvSpPr>
            <p:spPr>
              <a:xfrm>
                <a:off x="4342156" y="2569527"/>
                <a:ext cx="92606" cy="544710"/>
              </a:xfrm>
              <a:prstGeom prst="rect">
                <a:avLst/>
              </a:prstGeom>
              <a:solidFill>
                <a:srgbClr val="A7E6E4"/>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4" name="Rounded Rectangle 13"/>
              <p:cNvSpPr/>
              <p:nvPr/>
            </p:nvSpPr>
            <p:spPr bwMode="auto">
              <a:xfrm>
                <a:off x="4475003" y="2569527"/>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2" name="TextBox 11"/>
            <p:cNvSpPr txBox="1"/>
            <p:nvPr/>
          </p:nvSpPr>
          <p:spPr>
            <a:xfrm>
              <a:off x="891194" y="495364"/>
              <a:ext cx="2124222" cy="844061"/>
            </a:xfrm>
            <a:prstGeom prst="rect">
              <a:avLst/>
            </a:prstGeom>
            <a:noFill/>
          </p:spPr>
          <p:txBody>
            <a:bodyPr wrap="square" lIns="0" tIns="0" rIns="0" bIns="0" rtlCol="0">
              <a:noAutofit/>
            </a:bodyPr>
            <a:lstStyle/>
            <a:p>
              <a:pPr algn="l"/>
              <a:r>
                <a:rPr lang="en-US" sz="3600" b="1">
                  <a:solidFill>
                    <a:schemeClr val="bg1"/>
                  </a:solidFill>
                  <a:latin typeface="Arial" charset="0"/>
                  <a:ea typeface="Arial" charset="0"/>
                  <a:cs typeface="Arial" charset="0"/>
                </a:rPr>
                <a:t>S4F-ERP</a:t>
              </a:r>
            </a:p>
          </p:txBody>
        </p:sp>
      </p:grpSp>
      <p:pic>
        <p:nvPicPr>
          <p:cNvPr id="15" name="Picture 14">
            <a:extLst>
              <a:ext uri="{FF2B5EF4-FFF2-40B4-BE49-F238E27FC236}">
                <a16:creationId xmlns:a16="http://schemas.microsoft.com/office/drawing/2014/main" id="{DD2F868E-F9E5-4FD0-AA54-A0611266E9A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Tree>
    <p:extLst>
      <p:ext uri="{BB962C8B-B14F-4D97-AF65-F5344CB8AC3E}">
        <p14:creationId xmlns:p14="http://schemas.microsoft.com/office/powerpoint/2010/main" val="286573086"/>
      </p:ext>
    </p:extLst>
  </p:cSld>
  <p:clrMapOvr>
    <a:masterClrMapping/>
  </p:clrMapOvr>
  <p:hf hd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5_Custom Layout">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8" name="Rectangle 7"/>
          <p:cNvSpPr/>
          <p:nvPr/>
        </p:nvSpPr>
        <p:spPr>
          <a:xfrm>
            <a:off x="4623867" y="1695450"/>
            <a:ext cx="2957512" cy="2957512"/>
          </a:xfrm>
          <a:prstGeom prst="rect">
            <a:avLst/>
          </a:prstGeom>
          <a:noFill/>
          <a:ln w="1270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p:nvGrpSpPr>
        <p:grpSpPr>
          <a:xfrm>
            <a:off x="9177936" y="5483056"/>
            <a:ext cx="2499478" cy="844061"/>
            <a:chOff x="515938" y="495364"/>
            <a:chExt cx="2499478" cy="844061"/>
          </a:xfrm>
        </p:grpSpPr>
        <p:grpSp>
          <p:nvGrpSpPr>
            <p:cNvPr id="11" name="Group 10"/>
            <p:cNvGrpSpPr/>
            <p:nvPr/>
          </p:nvGrpSpPr>
          <p:grpSpPr>
            <a:xfrm>
              <a:off x="515938" y="499199"/>
              <a:ext cx="281354" cy="780960"/>
              <a:chOff x="4342156" y="2569527"/>
              <a:chExt cx="219003" cy="683186"/>
            </a:xfrm>
          </p:grpSpPr>
          <p:sp>
            <p:nvSpPr>
              <p:cNvPr id="13" name="Rectangle 12"/>
              <p:cNvSpPr/>
              <p:nvPr/>
            </p:nvSpPr>
            <p:spPr>
              <a:xfrm>
                <a:off x="4342156" y="2569527"/>
                <a:ext cx="92606" cy="544710"/>
              </a:xfrm>
              <a:prstGeom prst="rect">
                <a:avLst/>
              </a:prstGeom>
              <a:solidFill>
                <a:schemeClr val="accent1">
                  <a:lumMod val="60000"/>
                  <a:lumOff val="40000"/>
                </a:schemeClr>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4" name="Rounded Rectangle 13"/>
              <p:cNvSpPr/>
              <p:nvPr/>
            </p:nvSpPr>
            <p:spPr bwMode="auto">
              <a:xfrm>
                <a:off x="4475003" y="2569527"/>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2" name="TextBox 11"/>
            <p:cNvSpPr txBox="1"/>
            <p:nvPr/>
          </p:nvSpPr>
          <p:spPr>
            <a:xfrm>
              <a:off x="891194" y="495364"/>
              <a:ext cx="2124222" cy="844061"/>
            </a:xfrm>
            <a:prstGeom prst="rect">
              <a:avLst/>
            </a:prstGeom>
            <a:noFill/>
          </p:spPr>
          <p:txBody>
            <a:bodyPr wrap="square" lIns="0" tIns="0" rIns="0" bIns="0" rtlCol="0">
              <a:noAutofit/>
            </a:bodyPr>
            <a:lstStyle/>
            <a:p>
              <a:pPr algn="l"/>
              <a:r>
                <a:rPr lang="en-US" sz="3600" b="1">
                  <a:solidFill>
                    <a:schemeClr val="bg1"/>
                  </a:solidFill>
                  <a:latin typeface="Arial" charset="0"/>
                  <a:ea typeface="Arial" charset="0"/>
                  <a:cs typeface="Arial" charset="0"/>
                </a:rPr>
                <a:t>S4F-ERP</a:t>
              </a:r>
            </a:p>
          </p:txBody>
        </p:sp>
      </p:grpSp>
      <p:pic>
        <p:nvPicPr>
          <p:cNvPr id="15" name="Picture 14">
            <a:extLst>
              <a:ext uri="{FF2B5EF4-FFF2-40B4-BE49-F238E27FC236}">
                <a16:creationId xmlns:a16="http://schemas.microsoft.com/office/drawing/2014/main" id="{DD2F868E-F9E5-4FD0-AA54-A0611266E9A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Tree>
    <p:extLst>
      <p:ext uri="{BB962C8B-B14F-4D97-AF65-F5344CB8AC3E}">
        <p14:creationId xmlns:p14="http://schemas.microsoft.com/office/powerpoint/2010/main" val="1939716253"/>
      </p:ext>
    </p:extLst>
  </p:cSld>
  <p:clrMapOvr>
    <a:masterClrMapping/>
  </p:clrMapOvr>
  <p:hf hd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4_Custom Layout">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7" name="Picture 6">
            <a:extLst>
              <a:ext uri="{FF2B5EF4-FFF2-40B4-BE49-F238E27FC236}">
                <a16:creationId xmlns:a16="http://schemas.microsoft.com/office/drawing/2014/main" id="{DD2F868E-F9E5-4FD0-AA54-A0611266E9A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770608" y="2544869"/>
            <a:ext cx="2650782" cy="1984161"/>
          </a:xfrm>
          <a:prstGeom prst="rect">
            <a:avLst/>
          </a:prstGeom>
        </p:spPr>
      </p:pic>
    </p:spTree>
    <p:extLst>
      <p:ext uri="{BB962C8B-B14F-4D97-AF65-F5344CB8AC3E}">
        <p14:creationId xmlns:p14="http://schemas.microsoft.com/office/powerpoint/2010/main" val="3360775297"/>
      </p:ext>
    </p:extLst>
  </p:cSld>
  <p:clrMapOvr>
    <a:masterClrMapping/>
  </p:clrMapOvr>
  <p:hf hdr="0" dt="0"/>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77631" y="364808"/>
            <a:ext cx="10580078" cy="944562"/>
          </a:xfrm>
        </p:spPr>
        <p:txBody>
          <a:bodyPr/>
          <a:lstStyle>
            <a:lvl1pPr>
              <a:defRPr>
                <a:solidFill>
                  <a:schemeClr val="accent3"/>
                </a:solidFill>
              </a:defRPr>
            </a:lvl1pPr>
          </a:lstStyle>
          <a:p>
            <a:r>
              <a:rPr lang="en-US"/>
              <a:t>Click to edit Master title style</a:t>
            </a:r>
            <a:endParaRPr lang="en-GB"/>
          </a:p>
        </p:txBody>
      </p:sp>
      <p:sp>
        <p:nvSpPr>
          <p:cNvPr id="3" name="Content Placeholder 2"/>
          <p:cNvSpPr>
            <a:spLocks noGrp="1"/>
          </p:cNvSpPr>
          <p:nvPr>
            <p:ph idx="1"/>
          </p:nvPr>
        </p:nvSpPr>
        <p:spPr>
          <a:xfrm>
            <a:off x="778609" y="1994403"/>
            <a:ext cx="10619154" cy="4269875"/>
          </a:xfrm>
        </p:spPr>
        <p:txBody>
          <a:bodyP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Slide Number Placeholder 13"/>
          <p:cNvSpPr>
            <a:spLocks noGrp="1"/>
          </p:cNvSpPr>
          <p:nvPr>
            <p:ph type="sldNum" sz="quarter" idx="11"/>
          </p:nvPr>
        </p:nvSpPr>
        <p:spPr/>
        <p:txBody>
          <a:bodyPr/>
          <a:lstStyle>
            <a:lvl1pPr>
              <a:defRPr>
                <a:solidFill>
                  <a:schemeClr val="accent3"/>
                </a:solidFill>
              </a:defRPr>
            </a:lvl1pPr>
          </a:lstStyle>
          <a:p>
            <a:pPr>
              <a:defRPr/>
            </a:pPr>
            <a:fld id="{1BB4E4D9-2C5A-423A-A8BE-9B5EA07DECC8}" type="slidenum">
              <a:rPr lang="en-US" smtClean="0">
                <a:solidFill>
                  <a:srgbClr val="4D5C65"/>
                </a:solidFill>
              </a:rPr>
              <a:pPr>
                <a:defRPr/>
              </a:pPr>
              <a:t>‹#›</a:t>
            </a:fld>
            <a:endParaRPr lang="en-US">
              <a:solidFill>
                <a:srgbClr val="4D5C65"/>
              </a:solidFill>
            </a:endParaRPr>
          </a:p>
        </p:txBody>
      </p:sp>
    </p:spTree>
    <p:extLst>
      <p:ext uri="{BB962C8B-B14F-4D97-AF65-F5344CB8AC3E}">
        <p14:creationId xmlns:p14="http://schemas.microsoft.com/office/powerpoint/2010/main" val="176590094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3_Title and Text">
    <p:spTree>
      <p:nvGrpSpPr>
        <p:cNvPr id="1" name=""/>
        <p:cNvGrpSpPr/>
        <p:nvPr/>
      </p:nvGrpSpPr>
      <p:grpSpPr>
        <a:xfrm>
          <a:off x="0" y="0"/>
          <a:ext cx="0" cy="0"/>
          <a:chOff x="0" y="0"/>
          <a:chExt cx="0" cy="0"/>
        </a:xfrm>
      </p:grpSpPr>
      <p:sp>
        <p:nvSpPr>
          <p:cNvPr id="6" name="Slide Number Placeholder 6"/>
          <p:cNvSpPr>
            <a:spLocks noGrp="1"/>
          </p:cNvSpPr>
          <p:nvPr>
            <p:ph type="sldNum" sz="quarter" idx="11"/>
          </p:nvPr>
        </p:nvSpPr>
        <p:spPr>
          <a:xfrm>
            <a:off x="10914187" y="6424616"/>
            <a:ext cx="480646" cy="287337"/>
          </a:xfrm>
        </p:spPr>
        <p:txBody>
          <a:bodyPr/>
          <a:lstStyle>
            <a:lvl1pPr>
              <a:defRPr smtClean="0"/>
            </a:lvl1pPr>
          </a:lstStyle>
          <a:p>
            <a:pPr>
              <a:defRPr/>
            </a:pPr>
            <a:fld id="{85D77248-F92F-47C9-97FD-9CF7B39594FC}" type="slidenum">
              <a:rPr lang="en-GB">
                <a:solidFill>
                  <a:srgbClr val="122632"/>
                </a:solidFill>
              </a:rPr>
              <a:pPr>
                <a:defRPr/>
              </a:pPr>
              <a:t>‹#›</a:t>
            </a:fld>
            <a:endParaRPr lang="en-GB">
              <a:solidFill>
                <a:srgbClr val="122632"/>
              </a:solidFill>
            </a:endParaRPr>
          </a:p>
        </p:txBody>
      </p:sp>
    </p:spTree>
    <p:extLst>
      <p:ext uri="{BB962C8B-B14F-4D97-AF65-F5344CB8AC3E}">
        <p14:creationId xmlns:p14="http://schemas.microsoft.com/office/powerpoint/2010/main" val="195393277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1_Title Slide">
    <p:spTree>
      <p:nvGrpSpPr>
        <p:cNvPr id="1" name=""/>
        <p:cNvGrpSpPr/>
        <p:nvPr/>
      </p:nvGrpSpPr>
      <p:grpSpPr>
        <a:xfrm>
          <a:off x="0" y="0"/>
          <a:ext cx="0" cy="0"/>
          <a:chOff x="0" y="0"/>
          <a:chExt cx="0" cy="0"/>
        </a:xfrm>
      </p:grpSpPr>
      <p:pic>
        <p:nvPicPr>
          <p:cNvPr id="7" name="Picture 6"/>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
            <a:ext cx="12255498" cy="6858001"/>
          </a:xfrm>
          <a:prstGeom prst="rect">
            <a:avLst/>
          </a:prstGeom>
        </p:spPr>
      </p:pic>
      <p:sp>
        <p:nvSpPr>
          <p:cNvPr id="9" name="TextBox 8"/>
          <p:cNvSpPr txBox="1"/>
          <p:nvPr/>
        </p:nvSpPr>
        <p:spPr>
          <a:xfrm>
            <a:off x="3535691" y="2691335"/>
            <a:ext cx="5387927" cy="1941342"/>
          </a:xfrm>
          <a:prstGeom prst="rect">
            <a:avLst/>
          </a:prstGeom>
          <a:noFill/>
        </p:spPr>
        <p:txBody>
          <a:bodyPr wrap="square" lIns="0" tIns="0" rIns="0" bIns="0" rtlCol="0">
            <a:noAutofit/>
          </a:bodyPr>
          <a:lstStyle/>
          <a:p>
            <a:pPr algn="l"/>
            <a:r>
              <a:rPr lang="en-US" sz="5000" b="1">
                <a:solidFill>
                  <a:schemeClr val="bg1"/>
                </a:solidFill>
                <a:latin typeface="Arial" charset="0"/>
                <a:ea typeface="Arial" charset="0"/>
                <a:cs typeface="Arial" charset="0"/>
              </a:rPr>
              <a:t>BACKUP</a:t>
            </a:r>
            <a:r>
              <a:rPr lang="en-US" sz="5000" b="1" baseline="0">
                <a:solidFill>
                  <a:schemeClr val="bg1"/>
                </a:solidFill>
                <a:latin typeface="Arial" charset="0"/>
                <a:ea typeface="Arial" charset="0"/>
                <a:cs typeface="Arial" charset="0"/>
              </a:rPr>
              <a:t> SLIDES</a:t>
            </a:r>
            <a:endParaRPr lang="en-US" sz="5000" b="1">
              <a:solidFill>
                <a:schemeClr val="bg1"/>
              </a:solidFill>
              <a:latin typeface="Arial" charset="0"/>
              <a:ea typeface="Arial" charset="0"/>
              <a:cs typeface="Arial" charset="0"/>
            </a:endParaRPr>
          </a:p>
        </p:txBody>
      </p:sp>
      <p:sp>
        <p:nvSpPr>
          <p:cNvPr id="10" name="Rectangle 9"/>
          <p:cNvSpPr/>
          <p:nvPr/>
        </p:nvSpPr>
        <p:spPr>
          <a:xfrm>
            <a:off x="5517738" y="1642986"/>
            <a:ext cx="1150391" cy="104931"/>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1" name="TextBox 10"/>
          <p:cNvSpPr txBox="1"/>
          <p:nvPr/>
        </p:nvSpPr>
        <p:spPr>
          <a:xfrm>
            <a:off x="4271627" y="4115677"/>
            <a:ext cx="3642610" cy="704538"/>
          </a:xfrm>
          <a:prstGeom prst="rect">
            <a:avLst/>
          </a:prstGeom>
          <a:noFill/>
        </p:spPr>
        <p:txBody>
          <a:bodyPr wrap="square" lIns="0" tIns="0" rIns="0" bIns="0" rtlCol="0">
            <a:noAutofit/>
          </a:bodyPr>
          <a:lstStyle/>
          <a:p>
            <a:pPr algn="ctr"/>
            <a:r>
              <a:rPr lang="en-US" sz="1600" spc="1000">
                <a:solidFill>
                  <a:schemeClr val="bg1"/>
                </a:solidFill>
                <a:latin typeface="Arial" charset="0"/>
                <a:ea typeface="Arial" charset="0"/>
                <a:cs typeface="Arial" charset="0"/>
              </a:rPr>
              <a:t>S4F-ERP PROJECT</a:t>
            </a:r>
          </a:p>
        </p:txBody>
      </p:sp>
      <p:sp>
        <p:nvSpPr>
          <p:cNvPr id="12" name="Rectangle 11"/>
          <p:cNvSpPr/>
          <p:nvPr/>
        </p:nvSpPr>
        <p:spPr>
          <a:xfrm>
            <a:off x="5517738" y="5047788"/>
            <a:ext cx="1150391"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pic>
        <p:nvPicPr>
          <p:cNvPr id="13" name="Picture 12">
            <a:extLst>
              <a:ext uri="{FF2B5EF4-FFF2-40B4-BE49-F238E27FC236}">
                <a16:creationId xmlns:a16="http://schemas.microsoft.com/office/drawing/2014/main" id="{DD2F868E-F9E5-4FD0-AA54-A0611266E9A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775643" y="498252"/>
            <a:ext cx="634576" cy="474992"/>
          </a:xfrm>
          <a:prstGeom prst="rect">
            <a:avLst/>
          </a:prstGeom>
        </p:spPr>
      </p:pic>
    </p:spTree>
    <p:extLst>
      <p:ext uri="{BB962C8B-B14F-4D97-AF65-F5344CB8AC3E}">
        <p14:creationId xmlns:p14="http://schemas.microsoft.com/office/powerpoint/2010/main" val="27957235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GB" noProof="0"/>
              <a:t>Insert page title</a:t>
            </a:r>
            <a:endParaRPr lang="en-GB"/>
          </a:p>
        </p:txBody>
      </p:sp>
      <p:sp>
        <p:nvSpPr>
          <p:cNvPr id="7" name="Content Placeholder 2"/>
          <p:cNvSpPr>
            <a:spLocks noGrp="1"/>
          </p:cNvSpPr>
          <p:nvPr>
            <p:ph idx="1" hasCustomPrompt="1"/>
          </p:nvPr>
        </p:nvSpPr>
        <p:spPr>
          <a:xfrm>
            <a:off x="323916" y="1691999"/>
            <a:ext cx="11542194" cy="4392000"/>
          </a:xfrm>
        </p:spPr>
        <p:txBody>
          <a:bodyPr tIns="0"/>
          <a:lstStyle>
            <a:lvl1pPr algn="l">
              <a:defRPr b="0"/>
            </a:lvl1pPr>
          </a:lstStyle>
          <a:p>
            <a:pPr lvl="0"/>
            <a:r>
              <a:rPr lang="en-GB"/>
              <a:t>Click to add content</a:t>
            </a:r>
          </a:p>
        </p:txBody>
      </p:sp>
    </p:spTree>
    <p:extLst>
      <p:ext uri="{BB962C8B-B14F-4D97-AF65-F5344CB8AC3E}">
        <p14:creationId xmlns:p14="http://schemas.microsoft.com/office/powerpoint/2010/main" val="362518338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3_Custom Layout">
    <p:spTree>
      <p:nvGrpSpPr>
        <p:cNvPr id="1" name=""/>
        <p:cNvGrpSpPr/>
        <p:nvPr/>
      </p:nvGrpSpPr>
      <p:grpSpPr>
        <a:xfrm>
          <a:off x="0" y="0"/>
          <a:ext cx="0" cy="0"/>
          <a:chOff x="0" y="0"/>
          <a:chExt cx="0" cy="0"/>
        </a:xfrm>
      </p:grpSpPr>
      <p:grpSp>
        <p:nvGrpSpPr>
          <p:cNvPr id="6" name="Group 5"/>
          <p:cNvGrpSpPr/>
          <p:nvPr/>
        </p:nvGrpSpPr>
        <p:grpSpPr>
          <a:xfrm>
            <a:off x="0" y="-11151"/>
            <a:ext cx="12192000" cy="6869151"/>
            <a:chOff x="0" y="-11151"/>
            <a:chExt cx="12192000" cy="6869151"/>
          </a:xfrm>
        </p:grpSpPr>
        <p:grpSp>
          <p:nvGrpSpPr>
            <p:cNvPr id="7" name="Group 6"/>
            <p:cNvGrpSpPr/>
            <p:nvPr/>
          </p:nvGrpSpPr>
          <p:grpSpPr>
            <a:xfrm>
              <a:off x="0" y="30978"/>
              <a:ext cx="7346443" cy="6827022"/>
              <a:chOff x="0" y="30978"/>
              <a:chExt cx="7346443" cy="6827022"/>
            </a:xfrm>
          </p:grpSpPr>
          <p:sp>
            <p:nvSpPr>
              <p:cNvPr id="9" name="Freeform 8"/>
              <p:cNvSpPr/>
              <p:nvPr/>
            </p:nvSpPr>
            <p:spPr>
              <a:xfrm>
                <a:off x="0" y="30978"/>
                <a:ext cx="7346443" cy="6827022"/>
              </a:xfrm>
              <a:custGeom>
                <a:avLst/>
                <a:gdLst>
                  <a:gd name="connsiteX0" fmla="*/ 0 w 7346443"/>
                  <a:gd name="connsiteY0" fmla="*/ 0 h 6827022"/>
                  <a:gd name="connsiteX1" fmla="*/ 7346443 w 7346443"/>
                  <a:gd name="connsiteY1" fmla="*/ 6827022 h 6827022"/>
                  <a:gd name="connsiteX2" fmla="*/ 0 w 7346443"/>
                  <a:gd name="connsiteY2" fmla="*/ 6827022 h 6827022"/>
                </a:gdLst>
                <a:ahLst/>
                <a:cxnLst>
                  <a:cxn ang="0">
                    <a:pos x="connsiteX0" y="connsiteY0"/>
                  </a:cxn>
                  <a:cxn ang="0">
                    <a:pos x="connsiteX1" y="connsiteY1"/>
                  </a:cxn>
                  <a:cxn ang="0">
                    <a:pos x="connsiteX2" y="connsiteY2"/>
                  </a:cxn>
                </a:cxnLst>
                <a:rect l="l" t="t" r="r" b="b"/>
                <a:pathLst>
                  <a:path w="7346443" h="6827022">
                    <a:moveTo>
                      <a:pt x="0" y="0"/>
                    </a:moveTo>
                    <a:lnTo>
                      <a:pt x="7346443" y="6827022"/>
                    </a:lnTo>
                    <a:lnTo>
                      <a:pt x="0" y="6827022"/>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sz="1600"/>
              </a:p>
            </p:txBody>
          </p:sp>
          <p:sp>
            <p:nvSpPr>
              <p:cNvPr id="10" name="Freeform 9"/>
              <p:cNvSpPr/>
              <p:nvPr/>
            </p:nvSpPr>
            <p:spPr>
              <a:xfrm>
                <a:off x="0" y="1696574"/>
                <a:ext cx="802656" cy="1625366"/>
              </a:xfrm>
              <a:custGeom>
                <a:avLst/>
                <a:gdLst>
                  <a:gd name="connsiteX0" fmla="*/ 0 w 802656"/>
                  <a:gd name="connsiteY0" fmla="*/ 0 h 1625366"/>
                  <a:gd name="connsiteX1" fmla="*/ 152859 w 802656"/>
                  <a:gd name="connsiteY1" fmla="*/ 15410 h 1625366"/>
                  <a:gd name="connsiteX2" fmla="*/ 802656 w 802656"/>
                  <a:gd name="connsiteY2" fmla="*/ 812683 h 1625366"/>
                  <a:gd name="connsiteX3" fmla="*/ 152859 w 802656"/>
                  <a:gd name="connsiteY3" fmla="*/ 1609956 h 1625366"/>
                  <a:gd name="connsiteX4" fmla="*/ 0 w 802656"/>
                  <a:gd name="connsiteY4" fmla="*/ 1625366 h 162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56" h="1625366">
                    <a:moveTo>
                      <a:pt x="0" y="0"/>
                    </a:moveTo>
                    <a:lnTo>
                      <a:pt x="152859" y="15410"/>
                    </a:lnTo>
                    <a:cubicBezTo>
                      <a:pt x="523697" y="91294"/>
                      <a:pt x="802656" y="419412"/>
                      <a:pt x="802656" y="812683"/>
                    </a:cubicBezTo>
                    <a:cubicBezTo>
                      <a:pt x="802656" y="1205955"/>
                      <a:pt x="523697" y="1534072"/>
                      <a:pt x="152859" y="1609956"/>
                    </a:cubicBezTo>
                    <a:lnTo>
                      <a:pt x="0" y="1625366"/>
                    </a:lnTo>
                    <a:close/>
                  </a:path>
                </a:pathLst>
              </a:cu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grpSp>
        <p:sp>
          <p:nvSpPr>
            <p:cNvPr id="8" name="Rectangle 7"/>
            <p:cNvSpPr/>
            <p:nvPr/>
          </p:nvSpPr>
          <p:spPr>
            <a:xfrm>
              <a:off x="6096000" y="-11151"/>
              <a:ext cx="6096000" cy="6869151"/>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grpSp>
      <p:sp>
        <p:nvSpPr>
          <p:cNvPr id="4" name="Footer Placeholder 3"/>
          <p:cNvSpPr>
            <a:spLocks noGrp="1"/>
          </p:cNvSpPr>
          <p:nvPr>
            <p:ph type="ftr" sz="quarter" idx="11"/>
          </p:nvPr>
        </p:nvSpPr>
        <p:spPr/>
        <p:txBody>
          <a:bodyPr/>
          <a:lstStyle/>
          <a:p>
            <a:r>
              <a:rPr lang="en-US"/>
              <a:t>S4F-ERP Knowledge Transfer</a:t>
            </a:r>
          </a:p>
        </p:txBody>
      </p:sp>
      <p:sp>
        <p:nvSpPr>
          <p:cNvPr id="5" name="Slide Number Placeholder 4"/>
          <p:cNvSpPr>
            <a:spLocks noGrp="1"/>
          </p:cNvSpPr>
          <p:nvPr>
            <p:ph type="sldNum" sz="quarter" idx="12"/>
          </p:nvPr>
        </p:nvSpPr>
        <p:spPr>
          <a:xfrm>
            <a:off x="9448800" y="6492875"/>
            <a:ext cx="2743200" cy="365125"/>
          </a:xfrm>
        </p:spPr>
        <p:txBody>
          <a:bodyPr/>
          <a:lstStyle>
            <a:lvl1pPr>
              <a:defRPr sz="800"/>
            </a:lvl1pPr>
          </a:lstStyle>
          <a:p>
            <a:fld id="{1A6A2304-23DC-2B46-BD14-F082077842FF}" type="slidenum">
              <a:rPr lang="en-US" smtClean="0"/>
              <a:pPr/>
              <a:t>‹#›</a:t>
            </a:fld>
            <a:endParaRPr lang="en-US"/>
          </a:p>
        </p:txBody>
      </p:sp>
      <p:sp>
        <p:nvSpPr>
          <p:cNvPr id="11" name="Title 1">
            <a:extLst>
              <a:ext uri="{FF2B5EF4-FFF2-40B4-BE49-F238E27FC236}">
                <a16:creationId xmlns:a16="http://schemas.microsoft.com/office/drawing/2014/main" id="{42F2BE79-9CF6-49D0-828F-83304EE10FA4}"/>
              </a:ext>
            </a:extLst>
          </p:cNvPr>
          <p:cNvSpPr>
            <a:spLocks noGrp="1"/>
          </p:cNvSpPr>
          <p:nvPr>
            <p:ph type="title"/>
          </p:nvPr>
        </p:nvSpPr>
        <p:spPr>
          <a:xfrm>
            <a:off x="515940" y="210346"/>
            <a:ext cx="9898061" cy="984247"/>
          </a:xfrm>
        </p:spPr>
        <p:txBody>
          <a:bodyPr>
            <a:normAutofit/>
          </a:bodyPr>
          <a:lstStyle>
            <a:lvl1pPr>
              <a:defRPr sz="3199"/>
            </a:lvl1pPr>
          </a:lstStyle>
          <a:p>
            <a:r>
              <a:rPr lang="en-US"/>
              <a:t>Click to edit Master title style</a:t>
            </a:r>
            <a:endParaRPr lang="en-GB"/>
          </a:p>
        </p:txBody>
      </p:sp>
      <p:cxnSp>
        <p:nvCxnSpPr>
          <p:cNvPr id="12" name="Straight Connector 11"/>
          <p:cNvCxnSpPr/>
          <p:nvPr/>
        </p:nvCxnSpPr>
        <p:spPr>
          <a:xfrm>
            <a:off x="515940" y="1348042"/>
            <a:ext cx="989806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EC8EE6D-3E29-41D5-BCF4-F699C8F035C9}"/>
              </a:ext>
            </a:extLst>
          </p:cNvPr>
          <p:cNvSpPr txBox="1"/>
          <p:nvPr/>
        </p:nvSpPr>
        <p:spPr>
          <a:xfrm>
            <a:off x="515938" y="6282533"/>
            <a:ext cx="1799722" cy="365125"/>
          </a:xfrm>
          <a:prstGeom prst="rect">
            <a:avLst/>
          </a:prstGeom>
          <a:noFill/>
        </p:spPr>
        <p:txBody>
          <a:bodyPr wrap="square" lIns="0" tIns="0" rIns="0" bIns="0" rtlCol="0" anchor="b" anchorCtr="0">
            <a:noAutofit/>
          </a:bodyPr>
          <a:lstStyle/>
          <a:p>
            <a:r>
              <a:rPr lang="en-GB" sz="800"/>
              <a:t>© JTI 2018 Confidential </a:t>
            </a:r>
          </a:p>
        </p:txBody>
      </p:sp>
    </p:spTree>
    <p:extLst>
      <p:ext uri="{BB962C8B-B14F-4D97-AF65-F5344CB8AC3E}">
        <p14:creationId xmlns:p14="http://schemas.microsoft.com/office/powerpoint/2010/main" val="375432623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46809"/>
            <a:ext cx="12192017" cy="4992630"/>
          </a:xfrm>
          <a:prstGeom prst="rect">
            <a:avLst/>
          </a:prstGeom>
        </p:spPr>
      </p:pic>
      <p:sp>
        <p:nvSpPr>
          <p:cNvPr id="6" name="Rectangle 5"/>
          <p:cNvSpPr/>
          <p:nvPr userDrawn="1"/>
        </p:nvSpPr>
        <p:spPr>
          <a:xfrm>
            <a:off x="0" y="4199439"/>
            <a:ext cx="12192000" cy="1440000"/>
          </a:xfrm>
          <a:prstGeom prst="rect">
            <a:avLst/>
          </a:prstGeom>
          <a:solidFill>
            <a:schemeClr val="accent3">
              <a:lumMod val="5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725975" y="4347939"/>
            <a:ext cx="1143000" cy="1143000"/>
          </a:xfrm>
          <a:prstGeom prst="rect">
            <a:avLst/>
          </a:prstGeom>
        </p:spPr>
      </p:pic>
    </p:spTree>
    <p:extLst>
      <p:ext uri="{BB962C8B-B14F-4D97-AF65-F5344CB8AC3E}">
        <p14:creationId xmlns:p14="http://schemas.microsoft.com/office/powerpoint/2010/main" val="225296263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5" name="Group 14"/>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99247922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a:xfrm>
            <a:off x="7077073" y="6297521"/>
            <a:ext cx="4201727" cy="365125"/>
          </a:xfrm>
          <a:prstGeom prst="rect">
            <a:avLst/>
          </a:prstGeom>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22" name="Group 21"/>
            <p:cNvGrpSpPr/>
            <p:nvPr/>
          </p:nvGrpSpPr>
          <p:grpSpPr>
            <a:xfrm>
              <a:off x="515937" y="326276"/>
              <a:ext cx="902611" cy="902611"/>
              <a:chOff x="4492144" y="190843"/>
              <a:chExt cx="855656" cy="855656"/>
            </a:xfrm>
          </p:grpSpPr>
          <p:sp>
            <p:nvSpPr>
              <p:cNvPr id="29" name="Oval 28"/>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9"/>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8" name="Picture 2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118167828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a:xfrm>
            <a:off x="7077073" y="6297521"/>
            <a:ext cx="4201727" cy="365125"/>
          </a:xfrm>
          <a:prstGeom prst="rect">
            <a:avLst/>
          </a:prstGeom>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p:cNvGrpSpPr/>
          <p:nvPr userDrawn="1"/>
        </p:nvGrpSpPr>
        <p:grpSpPr>
          <a:xfrm>
            <a:off x="515937" y="326276"/>
            <a:ext cx="902611" cy="902611"/>
            <a:chOff x="515937" y="326276"/>
            <a:chExt cx="902611" cy="902611"/>
          </a:xfrm>
        </p:grpSpPr>
        <p:grpSp>
          <p:nvGrpSpPr>
            <p:cNvPr id="19" name="Group 18"/>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75102028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3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60521" y="19143"/>
            <a:ext cx="10837863" cy="1325563"/>
          </a:xfrm>
        </p:spPr>
        <p:txBody>
          <a:bodyPr>
            <a:normAutofit/>
          </a:bodyPr>
          <a:lstStyle>
            <a:lvl1pPr>
              <a:defRPr sz="3000">
                <a:latin typeface="Arial" charset="0"/>
                <a:ea typeface="Arial" charset="0"/>
                <a:cs typeface="Arial" charset="0"/>
              </a:defRPr>
            </a:lvl1pPr>
          </a:lstStyle>
          <a:p>
            <a:r>
              <a:rPr lang="en-US"/>
              <a:t>Click to edit Master title style</a:t>
            </a:r>
          </a:p>
        </p:txBody>
      </p:sp>
      <p:sp>
        <p:nvSpPr>
          <p:cNvPr id="5" name="Slide Number Placeholder 4"/>
          <p:cNvSpPr>
            <a:spLocks noGrp="1"/>
          </p:cNvSpPr>
          <p:nvPr>
            <p:ph type="sldNum" sz="quarter" idx="12"/>
          </p:nvPr>
        </p:nvSpPr>
        <p:spPr>
          <a:xfrm>
            <a:off x="9139383" y="6465095"/>
            <a:ext cx="2743200" cy="365125"/>
          </a:xfrm>
        </p:spPr>
        <p:txBody>
          <a:bodyPr/>
          <a:lstStyle>
            <a:lvl1pPr>
              <a:defRPr sz="800"/>
            </a:lvl1pPr>
          </a:lstStyle>
          <a:p>
            <a:fld id="{1A6A2304-23DC-2B46-BD14-F082077842FF}" type="slidenum">
              <a:rPr lang="en-US" smtClean="0"/>
              <a:pPr/>
              <a:t>‹#›</a:t>
            </a:fld>
            <a:endParaRPr lang="en-US"/>
          </a:p>
        </p:txBody>
      </p:sp>
      <p:sp>
        <p:nvSpPr>
          <p:cNvPr id="6" name="Rectangle 5"/>
          <p:cNvSpPr/>
          <p:nvPr/>
        </p:nvSpPr>
        <p:spPr>
          <a:xfrm>
            <a:off x="0" y="678875"/>
            <a:ext cx="207818" cy="5968783"/>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sp>
        <p:nvSpPr>
          <p:cNvPr id="18"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8" y="1695453"/>
            <a:ext cx="10837863" cy="496548"/>
          </a:xfrm>
        </p:spPr>
        <p:txBody>
          <a:bodyPr/>
          <a:lstStyle>
            <a:lvl3pPr marL="399930" indent="-195204">
              <a:defRPr/>
            </a:lvl3pPr>
          </a:lstStyle>
          <a:p>
            <a:pPr lvl="0"/>
            <a:r>
              <a:rPr lang="en-US"/>
              <a:t>Edit Master text styles</a:t>
            </a:r>
          </a:p>
        </p:txBody>
      </p:sp>
      <p:cxnSp>
        <p:nvCxnSpPr>
          <p:cNvPr id="19" name="Straight Connector 18"/>
          <p:cNvCxnSpPr/>
          <p:nvPr/>
        </p:nvCxnSpPr>
        <p:spPr>
          <a:xfrm>
            <a:off x="515939"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EEC8EE6D-3E29-41D5-BCF4-F699C8F035C9}"/>
              </a:ext>
            </a:extLst>
          </p:cNvPr>
          <p:cNvSpPr txBox="1"/>
          <p:nvPr/>
        </p:nvSpPr>
        <p:spPr>
          <a:xfrm>
            <a:off x="515938" y="6282533"/>
            <a:ext cx="1799722" cy="365125"/>
          </a:xfrm>
          <a:prstGeom prst="rect">
            <a:avLst/>
          </a:prstGeom>
          <a:noFill/>
        </p:spPr>
        <p:txBody>
          <a:bodyPr wrap="square" lIns="0" tIns="0" rIns="0" bIns="0" rtlCol="0" anchor="b" anchorCtr="0">
            <a:noAutofit/>
          </a:bodyPr>
          <a:lstStyle/>
          <a:p>
            <a:r>
              <a:rPr lang="en-GB" sz="800"/>
              <a:t>© JTI 2018 Confidential </a:t>
            </a:r>
          </a:p>
        </p:txBody>
      </p:sp>
      <p:grpSp>
        <p:nvGrpSpPr>
          <p:cNvPr id="9" name="Group 8"/>
          <p:cNvGrpSpPr/>
          <p:nvPr userDrawn="1"/>
        </p:nvGrpSpPr>
        <p:grpSpPr>
          <a:xfrm>
            <a:off x="10086109" y="394278"/>
            <a:ext cx="2105891" cy="569193"/>
            <a:chOff x="10086109" y="5763491"/>
            <a:chExt cx="2105891" cy="569193"/>
          </a:xfrm>
        </p:grpSpPr>
        <p:sp>
          <p:nvSpPr>
            <p:cNvPr id="10" name="Rectangle 9"/>
            <p:cNvSpPr/>
            <p:nvPr/>
          </p:nvSpPr>
          <p:spPr>
            <a:xfrm>
              <a:off x="10086109" y="5763491"/>
              <a:ext cx="2105891" cy="519040"/>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grpSp>
          <p:nvGrpSpPr>
            <p:cNvPr id="11" name="Group 10"/>
            <p:cNvGrpSpPr/>
            <p:nvPr/>
          </p:nvGrpSpPr>
          <p:grpSpPr>
            <a:xfrm>
              <a:off x="10538695" y="5812704"/>
              <a:ext cx="1343888" cy="519980"/>
              <a:chOff x="515938" y="466803"/>
              <a:chExt cx="2499478" cy="967103"/>
            </a:xfrm>
          </p:grpSpPr>
          <p:grpSp>
            <p:nvGrpSpPr>
              <p:cNvPr id="12" name="Group 11"/>
              <p:cNvGrpSpPr/>
              <p:nvPr/>
            </p:nvGrpSpPr>
            <p:grpSpPr>
              <a:xfrm>
                <a:off x="515938" y="466803"/>
                <a:ext cx="281354" cy="780960"/>
                <a:chOff x="4342156" y="2541184"/>
                <a:chExt cx="219003" cy="683186"/>
              </a:xfrm>
            </p:grpSpPr>
            <p:sp>
              <p:nvSpPr>
                <p:cNvPr id="14" name="Rectangle 13"/>
                <p:cNvSpPr/>
                <p:nvPr/>
              </p:nvSpPr>
              <p:spPr>
                <a:xfrm>
                  <a:off x="4342156" y="2541184"/>
                  <a:ext cx="92606" cy="544709"/>
                </a:xfrm>
                <a:prstGeom prst="rect">
                  <a:avLst/>
                </a:prstGeom>
                <a:solidFill>
                  <a:srgbClr val="1A3140"/>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FFFFFF"/>
                    </a:solidFill>
                    <a:effectLst/>
                    <a:uLnTx/>
                    <a:uFillTx/>
                    <a:latin typeface="Arial"/>
                    <a:ea typeface="+mn-ea"/>
                    <a:cs typeface="+mn-cs"/>
                  </a:endParaRPr>
                </a:p>
              </p:txBody>
            </p:sp>
            <p:sp>
              <p:nvSpPr>
                <p:cNvPr id="15" name="Rounded Rectangle 14"/>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126"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3" name="TextBox 12"/>
              <p:cNvSpPr txBox="1"/>
              <p:nvPr/>
            </p:nvSpPr>
            <p:spPr>
              <a:xfrm>
                <a:off x="891194" y="589844"/>
                <a:ext cx="2124222" cy="844062"/>
              </a:xfrm>
              <a:prstGeom prst="rect">
                <a:avLst/>
              </a:prstGeom>
              <a:noFill/>
            </p:spPr>
            <p:txBody>
              <a:bodyPr wrap="square" lIns="0" tIns="0" rIns="0" bIns="0" rtlCol="0">
                <a:noAutofit/>
              </a:bodyPr>
              <a:lstStyle/>
              <a:p>
                <a:pPr algn="l"/>
                <a:r>
                  <a:rPr lang="en-US" sz="1999" b="1">
                    <a:solidFill>
                      <a:schemeClr val="bg1"/>
                    </a:solidFill>
                  </a:rPr>
                  <a:t>S4F-ERP</a:t>
                </a:r>
              </a:p>
            </p:txBody>
          </p:sp>
        </p:grpSp>
      </p:grpSp>
    </p:spTree>
    <p:extLst>
      <p:ext uri="{BB962C8B-B14F-4D97-AF65-F5344CB8AC3E}">
        <p14:creationId xmlns:p14="http://schemas.microsoft.com/office/powerpoint/2010/main" val="428561331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46809"/>
            <a:ext cx="12192017" cy="4992630"/>
          </a:xfrm>
          <a:prstGeom prst="rect">
            <a:avLst/>
          </a:prstGeom>
        </p:spPr>
      </p:pic>
      <p:sp>
        <p:nvSpPr>
          <p:cNvPr id="6" name="Rectangle 5"/>
          <p:cNvSpPr/>
          <p:nvPr userDrawn="1"/>
        </p:nvSpPr>
        <p:spPr>
          <a:xfrm>
            <a:off x="0" y="4199439"/>
            <a:ext cx="12192000" cy="1440000"/>
          </a:xfrm>
          <a:prstGeom prst="rect">
            <a:avLst/>
          </a:prstGeom>
          <a:solidFill>
            <a:schemeClr val="accent3">
              <a:lumMod val="5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725975" y="4347939"/>
            <a:ext cx="1143000" cy="1143000"/>
          </a:xfrm>
          <a:prstGeom prst="rect">
            <a:avLst/>
          </a:prstGeom>
        </p:spPr>
      </p:pic>
    </p:spTree>
    <p:extLst>
      <p:ext uri="{BB962C8B-B14F-4D97-AF65-F5344CB8AC3E}">
        <p14:creationId xmlns:p14="http://schemas.microsoft.com/office/powerpoint/2010/main" val="291890067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5" name="Group 14"/>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79891416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22" name="Group 21"/>
            <p:cNvGrpSpPr/>
            <p:nvPr/>
          </p:nvGrpSpPr>
          <p:grpSpPr>
            <a:xfrm>
              <a:off x="515937" y="326276"/>
              <a:ext cx="902611" cy="902611"/>
              <a:chOff x="4492144" y="190843"/>
              <a:chExt cx="855656" cy="855656"/>
            </a:xfrm>
          </p:grpSpPr>
          <p:sp>
            <p:nvSpPr>
              <p:cNvPr id="29" name="Oval 28"/>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9"/>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8" name="Picture 2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176514526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p:cNvGrpSpPr/>
          <p:nvPr userDrawn="1"/>
        </p:nvGrpSpPr>
        <p:grpSpPr>
          <a:xfrm>
            <a:off x="515937" y="326276"/>
            <a:ext cx="902611" cy="902611"/>
            <a:chOff x="515937" y="326276"/>
            <a:chExt cx="902611" cy="902611"/>
          </a:xfrm>
        </p:grpSpPr>
        <p:grpSp>
          <p:nvGrpSpPr>
            <p:cNvPr id="19" name="Group 18"/>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283070739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userDrawn="1">
  <p:cSld name="Divider 01">
    <p:spTree>
      <p:nvGrpSpPr>
        <p:cNvPr id="1" name=""/>
        <p:cNvGrpSpPr/>
        <p:nvPr/>
      </p:nvGrpSpPr>
      <p:grpSpPr>
        <a:xfrm>
          <a:off x="0" y="0"/>
          <a:ext cx="0" cy="0"/>
          <a:chOff x="0" y="0"/>
          <a:chExt cx="0" cy="0"/>
        </a:xfrm>
      </p:grpSpPr>
      <p:pic>
        <p:nvPicPr>
          <p:cNvPr id="8" name="Picture 7"/>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55EFAC8-0232-4ACB-8A16-76099AC73170}"/>
              </a:ext>
            </a:extLst>
          </p:cNvPr>
          <p:cNvSpPr>
            <a:spLocks noGrp="1"/>
          </p:cNvSpPr>
          <p:nvPr>
            <p:ph type="title"/>
          </p:nvPr>
        </p:nvSpPr>
        <p:spPr>
          <a:xfrm>
            <a:off x="515938" y="1947863"/>
            <a:ext cx="8961437" cy="4334668"/>
          </a:xfrm>
        </p:spPr>
        <p:txBody>
          <a:bodyPr anchor="t" anchorCtr="0"/>
          <a:lstStyle>
            <a:lvl1pPr>
              <a:lnSpc>
                <a:spcPct val="80000"/>
              </a:lnSpc>
              <a:defRPr sz="5400" cap="all" spc="300" baseline="0">
                <a:solidFill>
                  <a:schemeClr val="bg1"/>
                </a:solidFill>
              </a:defRPr>
            </a:lvl1pPr>
          </a:lstStyle>
          <a:p>
            <a:r>
              <a:rPr lang="en-US"/>
              <a:t>Click to edit Master title style</a:t>
            </a:r>
            <a:endParaRPr lang="en-GB"/>
          </a:p>
        </p:txBody>
      </p:sp>
      <p:sp>
        <p:nvSpPr>
          <p:cNvPr id="5" name="Footer Placeholder 4">
            <a:extLst>
              <a:ext uri="{FF2B5EF4-FFF2-40B4-BE49-F238E27FC236}">
                <a16:creationId xmlns:a16="http://schemas.microsoft.com/office/drawing/2014/main" id="{93BBD97A-1CD4-44FA-84FA-934F1FF548CB}"/>
              </a:ext>
            </a:extLst>
          </p:cNvPr>
          <p:cNvSpPr>
            <a:spLocks noGrp="1"/>
          </p:cNvSpPr>
          <p:nvPr>
            <p:ph type="ftr" sz="quarter" idx="11"/>
          </p:nvPr>
        </p:nvSpPr>
        <p:spPr/>
        <p:txBody>
          <a:bodyPr/>
          <a:lstStyle>
            <a:lvl1pPr>
              <a:defRPr>
                <a:solidFill>
                  <a:schemeClr val="bg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7642C075-17B3-4F6A-89D1-B6091271B389}"/>
              </a:ext>
            </a:extLst>
          </p:cNvPr>
          <p:cNvSpPr>
            <a:spLocks noGrp="1"/>
          </p:cNvSpPr>
          <p:nvPr>
            <p:ph type="sldNum" sz="quarter" idx="12"/>
          </p:nvPr>
        </p:nvSpPr>
        <p:spPr/>
        <p:txBody>
          <a:bodyPr/>
          <a:lstStyle>
            <a:lvl1pPr>
              <a:defRPr>
                <a:solidFill>
                  <a:schemeClr val="bg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C104388B-09B7-42D5-B607-EFED05EEE73A}"/>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solidFill>
                  <a:schemeClr val="bg1"/>
                </a:solidFill>
              </a:rPr>
              <a:t>© </a:t>
            </a:r>
            <a:r>
              <a:rPr lang="en-GB" sz="800" err="1">
                <a:solidFill>
                  <a:schemeClr val="bg1"/>
                </a:solidFill>
              </a:rPr>
              <a:t>JTI</a:t>
            </a:r>
            <a:r>
              <a:rPr lang="en-GB" sz="800">
                <a:solidFill>
                  <a:schemeClr val="bg1"/>
                </a:solidFill>
              </a:rPr>
              <a:t> 2019 Confidential </a:t>
            </a:r>
          </a:p>
        </p:txBody>
      </p:sp>
      <p:pic>
        <p:nvPicPr>
          <p:cNvPr id="10" name="Picture 9">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2" name="TextBox 11">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85236607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slideLayout" Target="../slideLayouts/slideLayout17.xml"/><Relationship Id="rId18" Type="http://schemas.openxmlformats.org/officeDocument/2006/relationships/slideLayout" Target="../slideLayouts/slideLayout22.xml"/><Relationship Id="rId26" Type="http://schemas.openxmlformats.org/officeDocument/2006/relationships/slideLayout" Target="../slideLayouts/slideLayout30.xml"/><Relationship Id="rId3" Type="http://schemas.openxmlformats.org/officeDocument/2006/relationships/slideLayout" Target="../slideLayouts/slideLayout7.xml"/><Relationship Id="rId21" Type="http://schemas.openxmlformats.org/officeDocument/2006/relationships/slideLayout" Target="../slideLayouts/slideLayout25.xml"/><Relationship Id="rId7" Type="http://schemas.openxmlformats.org/officeDocument/2006/relationships/slideLayout" Target="../slideLayouts/slideLayout11.xml"/><Relationship Id="rId12" Type="http://schemas.openxmlformats.org/officeDocument/2006/relationships/slideLayout" Target="../slideLayouts/slideLayout16.xml"/><Relationship Id="rId17" Type="http://schemas.openxmlformats.org/officeDocument/2006/relationships/slideLayout" Target="../slideLayouts/slideLayout21.xml"/><Relationship Id="rId25" Type="http://schemas.openxmlformats.org/officeDocument/2006/relationships/slideLayout" Target="../slideLayouts/slideLayout29.xml"/><Relationship Id="rId2" Type="http://schemas.openxmlformats.org/officeDocument/2006/relationships/slideLayout" Target="../slideLayouts/slideLayout6.xml"/><Relationship Id="rId16" Type="http://schemas.openxmlformats.org/officeDocument/2006/relationships/slideLayout" Target="../slideLayouts/slideLayout20.xml"/><Relationship Id="rId20" Type="http://schemas.openxmlformats.org/officeDocument/2006/relationships/slideLayout" Target="../slideLayouts/slideLayout24.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24" Type="http://schemas.openxmlformats.org/officeDocument/2006/relationships/slideLayout" Target="../slideLayouts/slideLayout28.xml"/><Relationship Id="rId5" Type="http://schemas.openxmlformats.org/officeDocument/2006/relationships/slideLayout" Target="../slideLayouts/slideLayout9.xml"/><Relationship Id="rId15" Type="http://schemas.openxmlformats.org/officeDocument/2006/relationships/slideLayout" Target="../slideLayouts/slideLayout19.xml"/><Relationship Id="rId23" Type="http://schemas.openxmlformats.org/officeDocument/2006/relationships/slideLayout" Target="../slideLayouts/slideLayout27.xml"/><Relationship Id="rId28" Type="http://schemas.openxmlformats.org/officeDocument/2006/relationships/theme" Target="../theme/theme2.xml"/><Relationship Id="rId10" Type="http://schemas.openxmlformats.org/officeDocument/2006/relationships/slideLayout" Target="../slideLayouts/slideLayout14.xml"/><Relationship Id="rId19" Type="http://schemas.openxmlformats.org/officeDocument/2006/relationships/slideLayout" Target="../slideLayouts/slideLayout23.xml"/><Relationship Id="rId4" Type="http://schemas.openxmlformats.org/officeDocument/2006/relationships/slideLayout" Target="../slideLayouts/slideLayout8.xml"/><Relationship Id="rId9" Type="http://schemas.openxmlformats.org/officeDocument/2006/relationships/slideLayout" Target="../slideLayouts/slideLayout13.xml"/><Relationship Id="rId14" Type="http://schemas.openxmlformats.org/officeDocument/2006/relationships/slideLayout" Target="../slideLayouts/slideLayout18.xml"/><Relationship Id="rId22" Type="http://schemas.openxmlformats.org/officeDocument/2006/relationships/slideLayout" Target="../slideLayouts/slideLayout26.xml"/><Relationship Id="rId27" Type="http://schemas.openxmlformats.org/officeDocument/2006/relationships/slideLayout" Target="../slideLayouts/slideLayout31.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34.xml"/><Relationship Id="rId2" Type="http://schemas.openxmlformats.org/officeDocument/2006/relationships/slideLayout" Target="../slideLayouts/slideLayout33.xml"/><Relationship Id="rId1" Type="http://schemas.openxmlformats.org/officeDocument/2006/relationships/slideLayout" Target="../slideLayouts/slideLayout32.xml"/><Relationship Id="rId6" Type="http://schemas.openxmlformats.org/officeDocument/2006/relationships/theme" Target="../theme/theme3.xml"/><Relationship Id="rId5" Type="http://schemas.openxmlformats.org/officeDocument/2006/relationships/slideLayout" Target="../slideLayouts/slideLayout36.xml"/><Relationship Id="rId4" Type="http://schemas.openxmlformats.org/officeDocument/2006/relationships/slideLayout" Target="../slideLayouts/slideLayout35.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39.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theme" Target="../theme/theme4.xml"/><Relationship Id="rId5" Type="http://schemas.openxmlformats.org/officeDocument/2006/relationships/slideLayout" Target="../slideLayouts/slideLayout41.xml"/><Relationship Id="rId4"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1059941870"/>
      </p:ext>
    </p:extLst>
  </p:cSld>
  <p:clrMap bg1="lt1" tx1="dk1" bg2="lt2" tx2="dk2" accent1="accent1" accent2="accent2" accent3="accent3" accent4="accent4" accent5="accent5" accent6="accent6" hlink="hlink" folHlink="folHlink"/>
  <p:sldLayoutIdLst>
    <p:sldLayoutId id="2147483846" r:id="rId1"/>
    <p:sldLayoutId id="2147483847" r:id="rId2"/>
    <p:sldLayoutId id="2147483991" r:id="rId3"/>
    <p:sldLayoutId id="2147483848" r:id="rId4"/>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pPr>
              <a:defRPr/>
            </a:pPr>
            <a:fld id="{1BB4E4D9-2C5A-423A-A8BE-9B5EA07DECC8}" type="slidenum">
              <a:rPr lang="en-US" smtClean="0"/>
              <a:pPr>
                <a:defRPr/>
              </a:pPr>
              <a:t>‹#›</a:t>
            </a:fld>
            <a:endParaRPr lang="en-US"/>
          </a:p>
        </p:txBody>
      </p:sp>
      <p:cxnSp>
        <p:nvCxnSpPr>
          <p:cNvPr id="11" name="Straight Connector 10">
            <a:extLst>
              <a:ext uri="{FF2B5EF4-FFF2-40B4-BE49-F238E27FC236}">
                <a16:creationId xmlns:a16="http://schemas.microsoft.com/office/drawing/2014/main" id="{4B558707-958B-46B5-B09F-9B53C1657C43}"/>
              </a:ext>
            </a:extLst>
          </p:cNvPr>
          <p:cNvCxnSpPr/>
          <p:nvPr/>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7396151"/>
      </p:ext>
    </p:extLst>
  </p:cSld>
  <p:clrMap bg1="lt1" tx1="dk1" bg2="lt2" tx2="dk2" accent1="accent1" accent2="accent2" accent3="accent3" accent4="accent4" accent5="accent5" accent6="accent6" hlink="hlink" folHlink="folHlink"/>
  <p:sldLayoutIdLst>
    <p:sldLayoutId id="2147483850" r:id="rId1"/>
    <p:sldLayoutId id="2147483851" r:id="rId2"/>
    <p:sldLayoutId id="2147483852" r:id="rId3"/>
    <p:sldLayoutId id="2147483853" r:id="rId4"/>
    <p:sldLayoutId id="2147483854" r:id="rId5"/>
    <p:sldLayoutId id="2147483855" r:id="rId6"/>
    <p:sldLayoutId id="2147483856" r:id="rId7"/>
    <p:sldLayoutId id="2147483857" r:id="rId8"/>
    <p:sldLayoutId id="2147483858" r:id="rId9"/>
    <p:sldLayoutId id="2147483859" r:id="rId10"/>
    <p:sldLayoutId id="2147483860" r:id="rId11"/>
    <p:sldLayoutId id="2147483861" r:id="rId12"/>
    <p:sldLayoutId id="2147483862" r:id="rId13"/>
    <p:sldLayoutId id="2147483863" r:id="rId14"/>
    <p:sldLayoutId id="2147483864" r:id="rId15"/>
    <p:sldLayoutId id="2147483865" r:id="rId16"/>
    <p:sldLayoutId id="2147483866" r:id="rId17"/>
    <p:sldLayoutId id="2147483867" r:id="rId18"/>
    <p:sldLayoutId id="2147483868" r:id="rId19"/>
    <p:sldLayoutId id="2147483869" r:id="rId20"/>
    <p:sldLayoutId id="2147483870" r:id="rId21"/>
    <p:sldLayoutId id="2147483871" r:id="rId22"/>
    <p:sldLayoutId id="2147483872" r:id="rId23"/>
    <p:sldLayoutId id="2147483873" r:id="rId24"/>
    <p:sldLayoutId id="2147483874" r:id="rId25"/>
    <p:sldLayoutId id="2147483875" r:id="rId26"/>
    <p:sldLayoutId id="2147483876" r:id="rId2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2027459739"/>
      </p:ext>
    </p:extLst>
  </p:cSld>
  <p:clrMap bg1="lt1" tx1="dk1" bg2="lt2" tx2="dk2" accent1="accent1" accent2="accent2" accent3="accent3" accent4="accent4" accent5="accent5" accent6="accent6" hlink="hlink" folHlink="folHlink"/>
  <p:sldLayoutIdLst>
    <p:sldLayoutId id="2147483927" r:id="rId1"/>
    <p:sldLayoutId id="2147483928" r:id="rId2"/>
    <p:sldLayoutId id="2147483929" r:id="rId3"/>
    <p:sldLayoutId id="2147483930" r:id="rId4"/>
    <p:sldLayoutId id="2147483994" r:id="rId5"/>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2216067138"/>
      </p:ext>
    </p:extLst>
  </p:cSld>
  <p:clrMap bg1="lt1" tx1="dk1" bg2="lt2" tx2="dk2" accent1="accent1" accent2="accent2" accent3="accent3" accent4="accent4" accent5="accent5" accent6="accent6" hlink="hlink" folHlink="folHlink"/>
  <p:sldLayoutIdLst>
    <p:sldLayoutId id="2147483932" r:id="rId1"/>
    <p:sldLayoutId id="2147483933" r:id="rId2"/>
    <p:sldLayoutId id="2147483934" r:id="rId3"/>
    <p:sldLayoutId id="2147483935" r:id="rId4"/>
    <p:sldLayoutId id="2147483997" r:id="rId5"/>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eg"/><Relationship Id="rId1" Type="http://schemas.openxmlformats.org/officeDocument/2006/relationships/slideLayout" Target="../slideLayouts/slideLayout40.xml"/></Relationships>
</file>

<file path=ppt/slides/_rels/slide2.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38.xml"/></Relationships>
</file>

<file path=ppt/slides/_rels/slide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40.xml"/></Relationships>
</file>

<file path=ppt/slides/_rels/slide4.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9.png"/><Relationship Id="rId7" Type="http://schemas.openxmlformats.org/officeDocument/2006/relationships/image" Target="../media/image22.png"/><Relationship Id="rId2" Type="http://schemas.openxmlformats.org/officeDocument/2006/relationships/notesSlide" Target="../notesSlides/notesSlide1.xml"/><Relationship Id="rId1" Type="http://schemas.openxmlformats.org/officeDocument/2006/relationships/slideLayout" Target="../slideLayouts/slideLayout38.xml"/><Relationship Id="rId6" Type="http://schemas.openxmlformats.org/officeDocument/2006/relationships/image" Target="../media/image21.png"/><Relationship Id="rId5" Type="http://schemas.openxmlformats.org/officeDocument/2006/relationships/image" Target="../media/image20.png"/><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38.xml"/><Relationship Id="rId5" Type="http://schemas.openxmlformats.org/officeDocument/2006/relationships/image" Target="../media/image18.sv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40.xml"/></Relationships>
</file>

<file path=ppt/slides/_rels/slide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xml"/><Relationship Id="rId1" Type="http://schemas.openxmlformats.org/officeDocument/2006/relationships/slideLayout" Target="../slideLayouts/slideLayout38.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40.xml"/></Relationships>
</file>

<file path=ppt/slides/_rels/slide1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8.xml"/></Relationships>
</file>

<file path=ppt/slides/_rels/slide1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1.png"/><Relationship Id="rId1" Type="http://schemas.openxmlformats.org/officeDocument/2006/relationships/slideLayout" Target="../slideLayouts/slideLayout38.xml"/></Relationships>
</file>

<file path=ppt/slides/_rels/slide1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38.xml"/></Relationships>
</file>

<file path=ppt/slides/_rels/slide13.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34.png"/><Relationship Id="rId1" Type="http://schemas.openxmlformats.org/officeDocument/2006/relationships/slideLayout" Target="../slideLayouts/slideLayout38.xml"/><Relationship Id="rId5" Type="http://schemas.openxmlformats.org/officeDocument/2006/relationships/image" Target="../media/image36.png"/><Relationship Id="rId4" Type="http://schemas.openxmlformats.org/officeDocument/2006/relationships/image" Target="../media/image3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38.xml"/><Relationship Id="rId4" Type="http://schemas.microsoft.com/office/2007/relationships/hdphoto" Target="../media/hdphoto4.wdp"/></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40603"/>
            <a:ext cx="12192000" cy="4902408"/>
          </a:xfrm>
          <a:prstGeom prst="rect">
            <a:avLst/>
          </a:prstGeom>
        </p:spPr>
      </p:pic>
      <p:sp>
        <p:nvSpPr>
          <p:cNvPr id="38" name="Rectangle 37"/>
          <p:cNvSpPr/>
          <p:nvPr/>
        </p:nvSpPr>
        <p:spPr>
          <a:xfrm>
            <a:off x="0" y="1340602"/>
            <a:ext cx="12192000" cy="4902409"/>
          </a:xfrm>
          <a:prstGeom prst="rect">
            <a:avLst/>
          </a:prstGeom>
          <a:gradFill flip="none" rotWithShape="1">
            <a:gsLst>
              <a:gs pos="0">
                <a:schemeClr val="accent6">
                  <a:lumMod val="75000"/>
                  <a:alpha val="85000"/>
                </a:schemeClr>
              </a:gs>
              <a:gs pos="100000">
                <a:schemeClr val="accent3">
                  <a:alpha val="8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Slide Number Placeholder 2"/>
          <p:cNvSpPr>
            <a:spLocks noGrp="1"/>
          </p:cNvSpPr>
          <p:nvPr>
            <p:ph type="sldNum" sz="quarter" idx="12"/>
          </p:nvPr>
        </p:nvSpPr>
        <p:spPr/>
        <p:txBody>
          <a:bodyPr/>
          <a:lstStyle/>
          <a:p>
            <a:fld id="{F4C94289-3309-4C35-850A-56FD49B3E346}" type="slidenum">
              <a:rPr lang="en-GB" smtClean="0"/>
              <a:pPr/>
              <a:t>1</a:t>
            </a:fld>
            <a:endParaRPr lang="en-GB"/>
          </a:p>
        </p:txBody>
      </p:sp>
      <p:sp>
        <p:nvSpPr>
          <p:cNvPr id="34" name="Title 33"/>
          <p:cNvSpPr>
            <a:spLocks noGrp="1"/>
          </p:cNvSpPr>
          <p:nvPr>
            <p:ph type="title"/>
          </p:nvPr>
        </p:nvSpPr>
        <p:spPr/>
        <p:txBody>
          <a:bodyPr/>
          <a:lstStyle/>
          <a:p>
            <a:r>
              <a:rPr lang="en-GB"/>
              <a:t>Course Structure</a:t>
            </a:r>
          </a:p>
        </p:txBody>
      </p:sp>
      <p:cxnSp>
        <p:nvCxnSpPr>
          <p:cNvPr id="8" name="Elbow Connector 7"/>
          <p:cNvCxnSpPr>
            <a:cxnSpLocks/>
          </p:cNvCxnSpPr>
          <p:nvPr/>
        </p:nvCxnSpPr>
        <p:spPr>
          <a:xfrm rot="16200000" flipH="1">
            <a:off x="2744086" y="4077167"/>
            <a:ext cx="1967667" cy="740429"/>
          </a:xfrm>
          <a:prstGeom prst="bentConnector3">
            <a:avLst>
              <a:gd name="adj1" fmla="val 99640"/>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3379734" y="3632028"/>
            <a:ext cx="749571"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a:cxnSpLocks/>
          </p:cNvCxnSpPr>
          <p:nvPr/>
        </p:nvCxnSpPr>
        <p:spPr>
          <a:xfrm>
            <a:off x="3357704" y="4536961"/>
            <a:ext cx="740428"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39" name="Rounded Rectangle 38"/>
          <p:cNvSpPr/>
          <p:nvPr/>
        </p:nvSpPr>
        <p:spPr>
          <a:xfrm>
            <a:off x="4234198" y="2439972"/>
            <a:ext cx="6098522"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chemeClr val="bg1"/>
                </a:solidFill>
                <a:latin typeface="Arial" charset="0"/>
                <a:ea typeface="Arial" charset="0"/>
                <a:cs typeface="Arial" charset="0"/>
              </a:rPr>
              <a:t>Period End Closing Overview</a:t>
            </a:r>
            <a:endParaRPr lang="en-GB" sz="1400">
              <a:solidFill>
                <a:schemeClr val="bg1"/>
              </a:solidFill>
            </a:endParaRPr>
          </a:p>
        </p:txBody>
      </p:sp>
      <p:sp>
        <p:nvSpPr>
          <p:cNvPr id="40" name="Rounded Rectangle 39"/>
          <p:cNvSpPr/>
          <p:nvPr/>
        </p:nvSpPr>
        <p:spPr>
          <a:xfrm>
            <a:off x="4234198" y="3353104"/>
            <a:ext cx="6098522"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r>
              <a:rPr lang="en-GB" sz="1400" b="1">
                <a:solidFill>
                  <a:schemeClr val="bg1"/>
                </a:solidFill>
                <a:ea typeface="Arial" charset="0"/>
                <a:cs typeface="Arial"/>
              </a:rPr>
              <a:t>Period End Closing Key Process Areas and New Period End Checks</a:t>
            </a:r>
          </a:p>
        </p:txBody>
      </p:sp>
      <p:sp>
        <p:nvSpPr>
          <p:cNvPr id="41" name="Rounded Rectangle 40"/>
          <p:cNvSpPr/>
          <p:nvPr/>
        </p:nvSpPr>
        <p:spPr>
          <a:xfrm>
            <a:off x="4234198" y="4266236"/>
            <a:ext cx="6098522"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r>
              <a:rPr lang="en-GB" sz="1400" b="1">
                <a:solidFill>
                  <a:schemeClr val="bg1"/>
                </a:solidFill>
                <a:cs typeface="Arial"/>
              </a:rPr>
              <a:t>Post Closing Activities</a:t>
            </a:r>
          </a:p>
        </p:txBody>
      </p:sp>
      <p:sp>
        <p:nvSpPr>
          <p:cNvPr id="42" name="Rounded Rectangle 41"/>
          <p:cNvSpPr/>
          <p:nvPr/>
        </p:nvSpPr>
        <p:spPr>
          <a:xfrm>
            <a:off x="4234198" y="5179367"/>
            <a:ext cx="6098522"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000000"/>
                </a:solidFill>
                <a:latin typeface="Arial" charset="0"/>
                <a:cs typeface="Arial" charset="0"/>
              </a:rPr>
              <a:t>Year End Specific Closing Activities</a:t>
            </a:r>
          </a:p>
        </p:txBody>
      </p:sp>
      <p:cxnSp>
        <p:nvCxnSpPr>
          <p:cNvPr id="17" name="Connector: Elbow 16">
            <a:extLst>
              <a:ext uri="{FF2B5EF4-FFF2-40B4-BE49-F238E27FC236}">
                <a16:creationId xmlns:a16="http://schemas.microsoft.com/office/drawing/2014/main" id="{0F65B0DB-7517-46A1-8934-276D3565448D}"/>
              </a:ext>
            </a:extLst>
          </p:cNvPr>
          <p:cNvCxnSpPr>
            <a:cxnSpLocks/>
          </p:cNvCxnSpPr>
          <p:nvPr/>
        </p:nvCxnSpPr>
        <p:spPr>
          <a:xfrm rot="10800000" flipV="1">
            <a:off x="2487149" y="2727095"/>
            <a:ext cx="1642156" cy="904932"/>
          </a:xfrm>
          <a:prstGeom prst="bentConnector3">
            <a:avLst>
              <a:gd name="adj1" fmla="val 46836"/>
            </a:avLst>
          </a:prstGeom>
          <a:ln w="28575">
            <a:solidFill>
              <a:schemeClr val="bg1"/>
            </a:solidFill>
            <a:headEnd type="oval"/>
            <a:tailEnd type="none"/>
          </a:ln>
        </p:spPr>
        <p:style>
          <a:lnRef idx="1">
            <a:schemeClr val="accent1"/>
          </a:lnRef>
          <a:fillRef idx="0">
            <a:schemeClr val="accent1"/>
          </a:fillRef>
          <a:effectRef idx="0">
            <a:schemeClr val="accent1"/>
          </a:effectRef>
          <a:fontRef idx="minor">
            <a:schemeClr val="tx1"/>
          </a:fontRef>
        </p:style>
      </p:cxnSp>
      <p:grpSp>
        <p:nvGrpSpPr>
          <p:cNvPr id="49" name="Group 48">
            <a:extLst>
              <a:ext uri="{FF2B5EF4-FFF2-40B4-BE49-F238E27FC236}">
                <a16:creationId xmlns:a16="http://schemas.microsoft.com/office/drawing/2014/main" id="{79D84CA8-1570-4568-81C4-DA4A4A6EAA20}"/>
              </a:ext>
            </a:extLst>
          </p:cNvPr>
          <p:cNvGrpSpPr/>
          <p:nvPr/>
        </p:nvGrpSpPr>
        <p:grpSpPr>
          <a:xfrm>
            <a:off x="762742" y="2727095"/>
            <a:ext cx="1821250" cy="1809866"/>
            <a:chOff x="515937" y="326276"/>
            <a:chExt cx="902611" cy="902611"/>
          </a:xfrm>
        </p:grpSpPr>
        <p:grpSp>
          <p:nvGrpSpPr>
            <p:cNvPr id="50" name="Group 49">
              <a:extLst>
                <a:ext uri="{FF2B5EF4-FFF2-40B4-BE49-F238E27FC236}">
                  <a16:creationId xmlns:a16="http://schemas.microsoft.com/office/drawing/2014/main" id="{7AD3D2AB-812B-4EEB-8A6B-C310FC95D81F}"/>
                </a:ext>
              </a:extLst>
            </p:cNvPr>
            <p:cNvGrpSpPr/>
            <p:nvPr/>
          </p:nvGrpSpPr>
          <p:grpSpPr>
            <a:xfrm>
              <a:off x="515937" y="326276"/>
              <a:ext cx="902611" cy="902611"/>
              <a:chOff x="4492144" y="190843"/>
              <a:chExt cx="855656" cy="855656"/>
            </a:xfrm>
          </p:grpSpPr>
          <p:sp>
            <p:nvSpPr>
              <p:cNvPr id="52" name="Oval 51">
                <a:extLst>
                  <a:ext uri="{FF2B5EF4-FFF2-40B4-BE49-F238E27FC236}">
                    <a16:creationId xmlns:a16="http://schemas.microsoft.com/office/drawing/2014/main" id="{2BABECE1-DBAB-4194-B8BA-B5C33B4B683F}"/>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4" name="Oval 53">
                <a:extLst>
                  <a:ext uri="{FF2B5EF4-FFF2-40B4-BE49-F238E27FC236}">
                    <a16:creationId xmlns:a16="http://schemas.microsoft.com/office/drawing/2014/main" id="{503EC1E2-1AA5-4CB4-AF33-999BAD7FA59F}"/>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51" name="Picture 50">
              <a:extLst>
                <a:ext uri="{FF2B5EF4-FFF2-40B4-BE49-F238E27FC236}">
                  <a16:creationId xmlns:a16="http://schemas.microsoft.com/office/drawing/2014/main" id="{D7E63B56-5370-4BAA-8D45-F6BC2DA8B76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5264478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D3B2FE2-5FCA-40D5-9AB0-A34021790302}"/>
              </a:ext>
            </a:extLst>
          </p:cNvPr>
          <p:cNvSpPr/>
          <p:nvPr/>
        </p:nvSpPr>
        <p:spPr>
          <a:xfrm>
            <a:off x="501582" y="5686809"/>
            <a:ext cx="11337492" cy="1220847"/>
          </a:xfrm>
          <a:prstGeom prst="rect">
            <a:avLst/>
          </a:prstGeom>
          <a:solidFill>
            <a:schemeClr val="bg1"/>
          </a:solidFill>
        </p:spPr>
        <p:txBody>
          <a:bodyPr wrap="square">
            <a:spAutoFit/>
          </a:bodyPr>
          <a:lstStyle/>
          <a:p>
            <a:pPr marL="171450" indent="-171450">
              <a:lnSpc>
                <a:spcPts val="1200"/>
              </a:lnSpc>
              <a:spcBef>
                <a:spcPts val="400"/>
              </a:spcBef>
              <a:buFont typeface="Arial" panose="020B0604020202020204" pitchFamily="34" charset="0"/>
              <a:buChar char="•"/>
            </a:pPr>
            <a:r>
              <a:rPr lang="en-US" sz="1200" i="1" dirty="0">
                <a:latin typeface="Georgia" panose="02040502050405020303" pitchFamily="18" charset="0"/>
              </a:rPr>
              <a:t>The above activities are performed after the relevant accounts are closed for the year, e.g. Receivable/Payable carry forward can’t be done before all AR/AP accounts are finalized for P12 of the year. There is no specific dependency between the carry forward of different types of accounts, but they are scheduled in FCC each at a specific time. </a:t>
            </a:r>
          </a:p>
          <a:p>
            <a:pPr marL="171450" indent="-171450">
              <a:lnSpc>
                <a:spcPts val="1200"/>
              </a:lnSpc>
              <a:spcBef>
                <a:spcPts val="400"/>
              </a:spcBef>
              <a:buFont typeface="Arial" panose="020B0604020202020204" pitchFamily="34" charset="0"/>
              <a:buChar char="•"/>
            </a:pPr>
            <a:r>
              <a:rPr lang="en-US" sz="1200" i="1" dirty="0">
                <a:latin typeface="Georgia" panose="02040502050405020303" pitchFamily="18" charset="0"/>
              </a:rPr>
              <a:t>In S/4 each FCC Periodic Task List is indicated with a Closing Type of  M/Q/Y  (Monthly/Quarterly/Yearly). This allows different tasks to be included in different closing types and potentially have different scheduled times for monthly/quarterly/yearly closing if needed, e.g. some tasks need to be done earlier during Year end closing only. The above activities are Yearly tasks which only exist in P12 closing task list, which should be indicated with Closing Type Y in the Task List Basic Data. </a:t>
            </a:r>
          </a:p>
        </p:txBody>
      </p:sp>
      <p:sp>
        <p:nvSpPr>
          <p:cNvPr id="4" name="Title 3">
            <a:extLst>
              <a:ext uri="{FF2B5EF4-FFF2-40B4-BE49-F238E27FC236}">
                <a16:creationId xmlns:a16="http://schemas.microsoft.com/office/drawing/2014/main" id="{5C5230AC-8C77-4DE7-9F78-B62894FF3563}"/>
              </a:ext>
            </a:extLst>
          </p:cNvPr>
          <p:cNvSpPr>
            <a:spLocks noGrp="1"/>
          </p:cNvSpPr>
          <p:nvPr>
            <p:ph type="title"/>
          </p:nvPr>
        </p:nvSpPr>
        <p:spPr/>
        <p:txBody>
          <a:bodyPr/>
          <a:lstStyle/>
          <a:p>
            <a:pPr>
              <a:spcAft>
                <a:spcPts val="1000"/>
              </a:spcAft>
            </a:pPr>
            <a:r>
              <a:rPr lang="en-US">
                <a:solidFill>
                  <a:srgbClr val="000000"/>
                </a:solidFill>
                <a:latin typeface="Arial" charset="0"/>
                <a:cs typeface="Arial" charset="0"/>
              </a:rPr>
              <a:t>Year End Specific Closing Activities</a:t>
            </a:r>
          </a:p>
        </p:txBody>
      </p:sp>
      <p:sp>
        <p:nvSpPr>
          <p:cNvPr id="3" name="Slide Number Placeholder 2">
            <a:extLst>
              <a:ext uri="{FF2B5EF4-FFF2-40B4-BE49-F238E27FC236}">
                <a16:creationId xmlns:a16="http://schemas.microsoft.com/office/drawing/2014/main" id="{9D23ECF1-71C3-4803-B697-FD92BA260E57}"/>
              </a:ext>
            </a:extLst>
          </p:cNvPr>
          <p:cNvSpPr>
            <a:spLocks noGrp="1"/>
          </p:cNvSpPr>
          <p:nvPr>
            <p:ph type="sldNum" sz="quarter" idx="12"/>
          </p:nvPr>
        </p:nvSpPr>
        <p:spPr>
          <a:xfrm>
            <a:off x="11640443" y="6388697"/>
            <a:ext cx="397261" cy="365125"/>
          </a:xfrm>
        </p:spPr>
        <p:txBody>
          <a:bodyPr/>
          <a:lstStyle/>
          <a:p>
            <a:fld id="{1A6A2304-23DC-2B46-BD14-F082077842FF}" type="slidenum">
              <a:rPr lang="en-US" smtClean="0"/>
              <a:pPr/>
              <a:t>2</a:t>
            </a:fld>
            <a:endParaRPr lang="en-US"/>
          </a:p>
        </p:txBody>
      </p:sp>
      <p:sp>
        <p:nvSpPr>
          <p:cNvPr id="18" name="Freeform: Shape 17">
            <a:extLst>
              <a:ext uri="{FF2B5EF4-FFF2-40B4-BE49-F238E27FC236}">
                <a16:creationId xmlns:a16="http://schemas.microsoft.com/office/drawing/2014/main" id="{588E3379-9264-4362-8C66-BDC7930C5CC2}"/>
              </a:ext>
            </a:extLst>
          </p:cNvPr>
          <p:cNvSpPr/>
          <p:nvPr/>
        </p:nvSpPr>
        <p:spPr>
          <a:xfrm>
            <a:off x="4419255" y="1495561"/>
            <a:ext cx="2358536" cy="1179268"/>
          </a:xfrm>
          <a:custGeom>
            <a:avLst/>
            <a:gdLst>
              <a:gd name="connsiteX0" fmla="*/ 0 w 2358536"/>
              <a:gd name="connsiteY0" fmla="*/ 117927 h 1179268"/>
              <a:gd name="connsiteX1" fmla="*/ 117927 w 2358536"/>
              <a:gd name="connsiteY1" fmla="*/ 0 h 1179268"/>
              <a:gd name="connsiteX2" fmla="*/ 2240609 w 2358536"/>
              <a:gd name="connsiteY2" fmla="*/ 0 h 1179268"/>
              <a:gd name="connsiteX3" fmla="*/ 2358536 w 2358536"/>
              <a:gd name="connsiteY3" fmla="*/ 117927 h 1179268"/>
              <a:gd name="connsiteX4" fmla="*/ 2358536 w 2358536"/>
              <a:gd name="connsiteY4" fmla="*/ 1061341 h 1179268"/>
              <a:gd name="connsiteX5" fmla="*/ 2240609 w 2358536"/>
              <a:gd name="connsiteY5" fmla="*/ 1179268 h 1179268"/>
              <a:gd name="connsiteX6" fmla="*/ 117927 w 2358536"/>
              <a:gd name="connsiteY6" fmla="*/ 1179268 h 1179268"/>
              <a:gd name="connsiteX7" fmla="*/ 0 w 2358536"/>
              <a:gd name="connsiteY7" fmla="*/ 1061341 h 1179268"/>
              <a:gd name="connsiteX8" fmla="*/ 0 w 2358536"/>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8536" h="1179268">
                <a:moveTo>
                  <a:pt x="0" y="117927"/>
                </a:moveTo>
                <a:cubicBezTo>
                  <a:pt x="0" y="52798"/>
                  <a:pt x="52798" y="0"/>
                  <a:pt x="117927" y="0"/>
                </a:cubicBezTo>
                <a:lnTo>
                  <a:pt x="2240609" y="0"/>
                </a:lnTo>
                <a:cubicBezTo>
                  <a:pt x="2305738" y="0"/>
                  <a:pt x="2358536" y="52798"/>
                  <a:pt x="2358536" y="117927"/>
                </a:cubicBezTo>
                <a:lnTo>
                  <a:pt x="2358536" y="1061341"/>
                </a:lnTo>
                <a:cubicBezTo>
                  <a:pt x="2358536" y="1126470"/>
                  <a:pt x="2305738" y="1179268"/>
                  <a:pt x="2240609" y="1179268"/>
                </a:cubicBezTo>
                <a:lnTo>
                  <a:pt x="117927" y="1179268"/>
                </a:lnTo>
                <a:cubicBezTo>
                  <a:pt x="52798" y="1179268"/>
                  <a:pt x="0" y="1126470"/>
                  <a:pt x="0" y="1061341"/>
                </a:cubicBezTo>
                <a:lnTo>
                  <a:pt x="0" y="117927"/>
                </a:lnTo>
                <a:close/>
              </a:path>
            </a:pathLst>
          </a:custGeom>
        </p:spPr>
        <p:style>
          <a:lnRef idx="0">
            <a:schemeClr val="lt1">
              <a:hueOff val="0"/>
              <a:satOff val="0"/>
              <a:lumOff val="0"/>
              <a:alphaOff val="0"/>
            </a:schemeClr>
          </a:lnRef>
          <a:fillRef idx="3">
            <a:schemeClr val="accent3">
              <a:hueOff val="3096097"/>
              <a:satOff val="-22684"/>
              <a:lumOff val="3725"/>
              <a:alphaOff val="0"/>
            </a:schemeClr>
          </a:fillRef>
          <a:effectRef idx="3">
            <a:schemeClr val="accent3">
              <a:hueOff val="3096097"/>
              <a:satOff val="-22684"/>
              <a:lumOff val="3725"/>
              <a:alphaOff val="0"/>
            </a:schemeClr>
          </a:effectRef>
          <a:fontRef idx="minor">
            <a:schemeClr val="lt1"/>
          </a:fontRef>
        </p:style>
        <p:txBody>
          <a:bodyPr spcFirstLastPara="0" vert="horz" wrap="square" lIns="72640" tIns="59940" rIns="72640" bIns="59940" numCol="1" spcCol="1270" anchor="ctr" anchorCtr="0">
            <a:noAutofit/>
          </a:bodyPr>
          <a:lstStyle/>
          <a:p>
            <a:pPr lvl="0" algn="ctr" defTabSz="889000">
              <a:lnSpc>
                <a:spcPct val="90000"/>
              </a:lnSpc>
              <a:spcBef>
                <a:spcPct val="0"/>
              </a:spcBef>
              <a:spcAft>
                <a:spcPct val="35000"/>
              </a:spcAft>
            </a:pPr>
            <a:r>
              <a:rPr lang="en-GB" sz="2000"/>
              <a:t>Asset Accounting Fiscal Year Close</a:t>
            </a:r>
          </a:p>
        </p:txBody>
      </p:sp>
      <p:sp>
        <p:nvSpPr>
          <p:cNvPr id="20" name="Freeform: Shape 19">
            <a:extLst>
              <a:ext uri="{FF2B5EF4-FFF2-40B4-BE49-F238E27FC236}">
                <a16:creationId xmlns:a16="http://schemas.microsoft.com/office/drawing/2014/main" id="{1980CF64-D864-4CE8-9C77-64C46E9CE215}"/>
              </a:ext>
            </a:extLst>
          </p:cNvPr>
          <p:cNvSpPr/>
          <p:nvPr/>
        </p:nvSpPr>
        <p:spPr>
          <a:xfrm>
            <a:off x="4890962" y="2969646"/>
            <a:ext cx="1886829" cy="589634"/>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a:ln>
            <a:solidFill>
              <a:schemeClr val="accent6"/>
            </a:solidFill>
          </a:ln>
        </p:spPr>
        <p:style>
          <a:lnRef idx="1">
            <a:schemeClr val="accent3">
              <a:hueOff val="2476878"/>
              <a:satOff val="-18147"/>
              <a:lumOff val="298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algn="ctr" defTabSz="1644650">
              <a:lnSpc>
                <a:spcPct val="90000"/>
              </a:lnSpc>
              <a:spcBef>
                <a:spcPct val="0"/>
              </a:spcBef>
              <a:spcAft>
                <a:spcPct val="35000"/>
              </a:spcAft>
            </a:pPr>
            <a:r>
              <a:rPr lang="en-US" sz="1600" b="1"/>
              <a:t>T-Code:</a:t>
            </a:r>
          </a:p>
          <a:p>
            <a:pPr algn="ctr" defTabSz="1644650">
              <a:lnSpc>
                <a:spcPct val="90000"/>
              </a:lnSpc>
              <a:spcBef>
                <a:spcPct val="0"/>
              </a:spcBef>
              <a:spcAft>
                <a:spcPct val="35000"/>
              </a:spcAft>
            </a:pPr>
            <a:r>
              <a:rPr lang="en-US" sz="1200"/>
              <a:t>AJAB</a:t>
            </a:r>
          </a:p>
        </p:txBody>
      </p:sp>
      <p:sp>
        <p:nvSpPr>
          <p:cNvPr id="21" name="Freeform: Shape 20">
            <a:extLst>
              <a:ext uri="{FF2B5EF4-FFF2-40B4-BE49-F238E27FC236}">
                <a16:creationId xmlns:a16="http://schemas.microsoft.com/office/drawing/2014/main" id="{907F54C8-262C-440E-A6ED-3F5593A6FAEB}"/>
              </a:ext>
            </a:extLst>
          </p:cNvPr>
          <p:cNvSpPr/>
          <p:nvPr/>
        </p:nvSpPr>
        <p:spPr>
          <a:xfrm>
            <a:off x="4655108" y="2674829"/>
            <a:ext cx="235853" cy="2358536"/>
          </a:xfrm>
          <a:custGeom>
            <a:avLst/>
            <a:gdLst/>
            <a:ahLst/>
            <a:cxnLst/>
            <a:rect l="0" t="0" r="0" b="0"/>
            <a:pathLst>
              <a:path>
                <a:moveTo>
                  <a:pt x="0" y="0"/>
                </a:moveTo>
                <a:lnTo>
                  <a:pt x="0" y="2358536"/>
                </a:lnTo>
                <a:lnTo>
                  <a:pt x="235853" y="2358536"/>
                </a:lnTo>
              </a:path>
            </a:pathLst>
          </a:custGeom>
          <a:solidFill>
            <a:schemeClr val="accent6">
              <a:lumMod val="40000"/>
              <a:lumOff val="60000"/>
            </a:schemeClr>
          </a:solidFill>
          <a:ln>
            <a:solidFill>
              <a:schemeClr val="accent6">
                <a:lumMod val="40000"/>
                <a:lumOff val="60000"/>
              </a:schemeClr>
            </a:solidFill>
          </a:ln>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22" name="Freeform: Shape 21">
            <a:extLst>
              <a:ext uri="{FF2B5EF4-FFF2-40B4-BE49-F238E27FC236}">
                <a16:creationId xmlns:a16="http://schemas.microsoft.com/office/drawing/2014/main" id="{7AE8875A-CABD-4514-923F-008F79A3BF72}"/>
              </a:ext>
            </a:extLst>
          </p:cNvPr>
          <p:cNvSpPr/>
          <p:nvPr/>
        </p:nvSpPr>
        <p:spPr>
          <a:xfrm>
            <a:off x="4890962" y="4443731"/>
            <a:ext cx="1886829" cy="1179268"/>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p:spPr>
        <p:style>
          <a:lnRef idx="1">
            <a:schemeClr val="accent3">
              <a:hueOff val="3715316"/>
              <a:satOff val="-27221"/>
              <a:lumOff val="447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algn="ctr" defTabSz="1644650">
              <a:lnSpc>
                <a:spcPct val="90000"/>
              </a:lnSpc>
              <a:spcBef>
                <a:spcPct val="0"/>
              </a:spcBef>
              <a:spcAft>
                <a:spcPct val="35000"/>
              </a:spcAft>
            </a:pPr>
            <a:r>
              <a:rPr lang="en-US" sz="1600" b="1"/>
              <a:t>Timing: </a:t>
            </a:r>
            <a:r>
              <a:rPr lang="en-US" sz="1400"/>
              <a:t>WD-1</a:t>
            </a:r>
            <a:endParaRPr lang="en-US" sz="1400" kern="1200"/>
          </a:p>
        </p:txBody>
      </p:sp>
      <p:sp>
        <p:nvSpPr>
          <p:cNvPr id="23" name="Freeform: Shape 22">
            <a:extLst>
              <a:ext uri="{FF2B5EF4-FFF2-40B4-BE49-F238E27FC236}">
                <a16:creationId xmlns:a16="http://schemas.microsoft.com/office/drawing/2014/main" id="{42F8868A-F7CE-4669-84AF-0E25C783568C}"/>
              </a:ext>
            </a:extLst>
          </p:cNvPr>
          <p:cNvSpPr/>
          <p:nvPr/>
        </p:nvSpPr>
        <p:spPr>
          <a:xfrm>
            <a:off x="7367425" y="1495561"/>
            <a:ext cx="2358536" cy="1179268"/>
          </a:xfrm>
          <a:custGeom>
            <a:avLst/>
            <a:gdLst>
              <a:gd name="connsiteX0" fmla="*/ 0 w 2358536"/>
              <a:gd name="connsiteY0" fmla="*/ 117927 h 1179268"/>
              <a:gd name="connsiteX1" fmla="*/ 117927 w 2358536"/>
              <a:gd name="connsiteY1" fmla="*/ 0 h 1179268"/>
              <a:gd name="connsiteX2" fmla="*/ 2240609 w 2358536"/>
              <a:gd name="connsiteY2" fmla="*/ 0 h 1179268"/>
              <a:gd name="connsiteX3" fmla="*/ 2358536 w 2358536"/>
              <a:gd name="connsiteY3" fmla="*/ 117927 h 1179268"/>
              <a:gd name="connsiteX4" fmla="*/ 2358536 w 2358536"/>
              <a:gd name="connsiteY4" fmla="*/ 1061341 h 1179268"/>
              <a:gd name="connsiteX5" fmla="*/ 2240609 w 2358536"/>
              <a:gd name="connsiteY5" fmla="*/ 1179268 h 1179268"/>
              <a:gd name="connsiteX6" fmla="*/ 117927 w 2358536"/>
              <a:gd name="connsiteY6" fmla="*/ 1179268 h 1179268"/>
              <a:gd name="connsiteX7" fmla="*/ 0 w 2358536"/>
              <a:gd name="connsiteY7" fmla="*/ 1061341 h 1179268"/>
              <a:gd name="connsiteX8" fmla="*/ 0 w 2358536"/>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8536" h="1179268">
                <a:moveTo>
                  <a:pt x="0" y="117927"/>
                </a:moveTo>
                <a:cubicBezTo>
                  <a:pt x="0" y="52798"/>
                  <a:pt x="52798" y="0"/>
                  <a:pt x="117927" y="0"/>
                </a:cubicBezTo>
                <a:lnTo>
                  <a:pt x="2240609" y="0"/>
                </a:lnTo>
                <a:cubicBezTo>
                  <a:pt x="2305738" y="0"/>
                  <a:pt x="2358536" y="52798"/>
                  <a:pt x="2358536" y="117927"/>
                </a:cubicBezTo>
                <a:lnTo>
                  <a:pt x="2358536" y="1061341"/>
                </a:lnTo>
                <a:cubicBezTo>
                  <a:pt x="2358536" y="1126470"/>
                  <a:pt x="2305738" y="1179268"/>
                  <a:pt x="2240609" y="1179268"/>
                </a:cubicBezTo>
                <a:lnTo>
                  <a:pt x="117927" y="1179268"/>
                </a:lnTo>
                <a:cubicBezTo>
                  <a:pt x="52798" y="1179268"/>
                  <a:pt x="0" y="1126470"/>
                  <a:pt x="0" y="1061341"/>
                </a:cubicBezTo>
                <a:lnTo>
                  <a:pt x="0" y="117927"/>
                </a:lnTo>
                <a:close/>
              </a:path>
            </a:pathLst>
          </a:custGeom>
          <a:solidFill>
            <a:schemeClr val="bg1">
              <a:lumMod val="50000"/>
            </a:schemeClr>
          </a:solidFill>
          <a:ln>
            <a:noFill/>
          </a:ln>
        </p:spPr>
        <p:style>
          <a:lnRef idx="0">
            <a:schemeClr val="lt1">
              <a:hueOff val="0"/>
              <a:satOff val="0"/>
              <a:lumOff val="0"/>
              <a:alphaOff val="0"/>
            </a:schemeClr>
          </a:lnRef>
          <a:fillRef idx="3">
            <a:schemeClr val="accent3">
              <a:hueOff val="6192194"/>
              <a:satOff val="-45368"/>
              <a:lumOff val="7450"/>
              <a:alphaOff val="0"/>
            </a:schemeClr>
          </a:fillRef>
          <a:effectRef idx="3">
            <a:schemeClr val="accent3">
              <a:hueOff val="6192194"/>
              <a:satOff val="-45368"/>
              <a:lumOff val="7450"/>
              <a:alphaOff val="0"/>
            </a:schemeClr>
          </a:effectRef>
          <a:fontRef idx="minor">
            <a:schemeClr val="lt1"/>
          </a:fontRef>
        </p:style>
        <p:txBody>
          <a:bodyPr spcFirstLastPara="0" vert="horz" wrap="square" lIns="72640" tIns="59940" rIns="72640" bIns="59940" numCol="1" spcCol="1270" anchor="ctr" anchorCtr="0">
            <a:noAutofit/>
          </a:bodyPr>
          <a:lstStyle/>
          <a:p>
            <a:pPr lvl="0" algn="ctr" defTabSz="889000">
              <a:lnSpc>
                <a:spcPct val="90000"/>
              </a:lnSpc>
              <a:spcBef>
                <a:spcPct val="0"/>
              </a:spcBef>
              <a:spcAft>
                <a:spcPct val="35000"/>
              </a:spcAft>
            </a:pPr>
            <a:r>
              <a:rPr lang="en-GB" sz="2000"/>
              <a:t>G/L Balance Carry Forward</a:t>
            </a:r>
          </a:p>
        </p:txBody>
      </p:sp>
      <p:sp>
        <p:nvSpPr>
          <p:cNvPr id="25" name="Freeform: Shape 24">
            <a:extLst>
              <a:ext uri="{FF2B5EF4-FFF2-40B4-BE49-F238E27FC236}">
                <a16:creationId xmlns:a16="http://schemas.microsoft.com/office/drawing/2014/main" id="{B88BF49F-B0E8-4BE4-A9FE-89A1D20592EC}"/>
              </a:ext>
            </a:extLst>
          </p:cNvPr>
          <p:cNvSpPr/>
          <p:nvPr/>
        </p:nvSpPr>
        <p:spPr>
          <a:xfrm>
            <a:off x="7839132" y="2969646"/>
            <a:ext cx="1886829" cy="589634"/>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a:ln>
            <a:solidFill>
              <a:schemeClr val="bg1">
                <a:lumMod val="65000"/>
              </a:schemeClr>
            </a:solidFill>
          </a:ln>
        </p:spPr>
        <p:style>
          <a:lnRef idx="1">
            <a:schemeClr val="accent3">
              <a:hueOff val="4953755"/>
              <a:satOff val="-36294"/>
              <a:lumOff val="596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algn="ctr" defTabSz="1644650">
              <a:lnSpc>
                <a:spcPct val="90000"/>
              </a:lnSpc>
              <a:spcBef>
                <a:spcPct val="0"/>
              </a:spcBef>
              <a:spcAft>
                <a:spcPct val="35000"/>
              </a:spcAft>
            </a:pPr>
            <a:r>
              <a:rPr lang="en-US" sz="1600" b="1"/>
              <a:t>T-Code</a:t>
            </a:r>
            <a:r>
              <a:rPr lang="en-US" sz="1600"/>
              <a:t>:</a:t>
            </a:r>
          </a:p>
          <a:p>
            <a:pPr algn="ctr" defTabSz="1644650">
              <a:lnSpc>
                <a:spcPct val="90000"/>
              </a:lnSpc>
              <a:spcBef>
                <a:spcPct val="0"/>
              </a:spcBef>
              <a:spcAft>
                <a:spcPct val="35000"/>
              </a:spcAft>
            </a:pPr>
            <a:r>
              <a:rPr lang="en-US" sz="1200"/>
              <a:t>FAGLGVTR</a:t>
            </a:r>
            <a:endParaRPr lang="en-US" sz="1600"/>
          </a:p>
        </p:txBody>
      </p:sp>
      <p:sp>
        <p:nvSpPr>
          <p:cNvPr id="26" name="Freeform: Shape 25">
            <a:extLst>
              <a:ext uri="{FF2B5EF4-FFF2-40B4-BE49-F238E27FC236}">
                <a16:creationId xmlns:a16="http://schemas.microsoft.com/office/drawing/2014/main" id="{31A7DC40-60AB-4805-A72A-FF8AD9A3E216}"/>
              </a:ext>
            </a:extLst>
          </p:cNvPr>
          <p:cNvSpPr/>
          <p:nvPr/>
        </p:nvSpPr>
        <p:spPr>
          <a:xfrm>
            <a:off x="7603279" y="2674829"/>
            <a:ext cx="235853" cy="2358536"/>
          </a:xfrm>
          <a:custGeom>
            <a:avLst/>
            <a:gdLst/>
            <a:ahLst/>
            <a:cxnLst/>
            <a:rect l="0" t="0" r="0" b="0"/>
            <a:pathLst>
              <a:path>
                <a:moveTo>
                  <a:pt x="0" y="0"/>
                </a:moveTo>
                <a:lnTo>
                  <a:pt x="0" y="2358536"/>
                </a:lnTo>
                <a:lnTo>
                  <a:pt x="235853" y="2358536"/>
                </a:lnTo>
              </a:path>
            </a:pathLst>
          </a:custGeom>
          <a:solidFill>
            <a:schemeClr val="bg1">
              <a:lumMod val="65000"/>
            </a:schemeClr>
          </a:solidFill>
          <a:ln>
            <a:solidFill>
              <a:schemeClr val="bg1">
                <a:lumMod val="65000"/>
              </a:schemeClr>
            </a:solidFill>
          </a:ln>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27" name="Freeform: Shape 26">
            <a:extLst>
              <a:ext uri="{FF2B5EF4-FFF2-40B4-BE49-F238E27FC236}">
                <a16:creationId xmlns:a16="http://schemas.microsoft.com/office/drawing/2014/main" id="{50178BAA-EBD1-4308-A4DC-2EA20667193B}"/>
              </a:ext>
            </a:extLst>
          </p:cNvPr>
          <p:cNvSpPr/>
          <p:nvPr/>
        </p:nvSpPr>
        <p:spPr>
          <a:xfrm>
            <a:off x="7839132" y="4443731"/>
            <a:ext cx="1886829" cy="1179268"/>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a:ln>
            <a:solidFill>
              <a:schemeClr val="bg1">
                <a:lumMod val="65000"/>
              </a:schemeClr>
            </a:solidFill>
          </a:ln>
        </p:spPr>
        <p:style>
          <a:lnRef idx="1">
            <a:schemeClr val="accent3">
              <a:hueOff val="6192194"/>
              <a:satOff val="-45368"/>
              <a:lumOff val="745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algn="ctr" defTabSz="1644650">
              <a:lnSpc>
                <a:spcPct val="90000"/>
              </a:lnSpc>
              <a:spcBef>
                <a:spcPct val="0"/>
              </a:spcBef>
              <a:spcAft>
                <a:spcPct val="35000"/>
              </a:spcAft>
            </a:pPr>
            <a:r>
              <a:rPr lang="en-US" sz="1600" b="1"/>
              <a:t>Timing: </a:t>
            </a:r>
          </a:p>
          <a:p>
            <a:pPr algn="ctr" defTabSz="1644650">
              <a:lnSpc>
                <a:spcPct val="90000"/>
              </a:lnSpc>
              <a:spcBef>
                <a:spcPct val="0"/>
              </a:spcBef>
              <a:spcAft>
                <a:spcPct val="35000"/>
              </a:spcAft>
            </a:pPr>
            <a:r>
              <a:rPr lang="en-US" sz="1400"/>
              <a:t>WD1 and WD14</a:t>
            </a:r>
            <a:endParaRPr lang="en-US" sz="1400" kern="1200"/>
          </a:p>
        </p:txBody>
      </p:sp>
      <p:cxnSp>
        <p:nvCxnSpPr>
          <p:cNvPr id="32" name="Straight Connector 31">
            <a:extLst>
              <a:ext uri="{FF2B5EF4-FFF2-40B4-BE49-F238E27FC236}">
                <a16:creationId xmlns:a16="http://schemas.microsoft.com/office/drawing/2014/main" id="{E3FFCCEE-2C39-4C6D-89AF-B89955B5F69C}"/>
              </a:ext>
            </a:extLst>
          </p:cNvPr>
          <p:cNvCxnSpPr>
            <a:cxnSpLocks/>
          </p:cNvCxnSpPr>
          <p:nvPr/>
        </p:nvCxnSpPr>
        <p:spPr>
          <a:xfrm>
            <a:off x="4655108" y="3191727"/>
            <a:ext cx="235853" cy="0"/>
          </a:xfrm>
          <a:prstGeom prst="line">
            <a:avLst/>
          </a:prstGeom>
          <a:solidFill>
            <a:schemeClr val="accent6">
              <a:lumMod val="40000"/>
              <a:lumOff val="60000"/>
            </a:schemeClr>
          </a:solidFill>
          <a:ln>
            <a:solidFill>
              <a:schemeClr val="accent6">
                <a:lumMod val="40000"/>
                <a:lumOff val="60000"/>
              </a:schemeClr>
            </a:solidFill>
          </a:ln>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cxnSp>
      <p:cxnSp>
        <p:nvCxnSpPr>
          <p:cNvPr id="33" name="Straight Connector 32">
            <a:extLst>
              <a:ext uri="{FF2B5EF4-FFF2-40B4-BE49-F238E27FC236}">
                <a16:creationId xmlns:a16="http://schemas.microsoft.com/office/drawing/2014/main" id="{E807BAE5-0E5F-4918-888F-FB36B5E7AF22}"/>
              </a:ext>
            </a:extLst>
          </p:cNvPr>
          <p:cNvCxnSpPr>
            <a:cxnSpLocks/>
          </p:cNvCxnSpPr>
          <p:nvPr/>
        </p:nvCxnSpPr>
        <p:spPr>
          <a:xfrm>
            <a:off x="7603279" y="3209046"/>
            <a:ext cx="235853" cy="0"/>
          </a:xfrm>
          <a:prstGeom prst="line">
            <a:avLst/>
          </a:prstGeom>
          <a:solidFill>
            <a:schemeClr val="bg1">
              <a:lumMod val="65000"/>
            </a:schemeClr>
          </a:solidFill>
          <a:ln>
            <a:solidFill>
              <a:schemeClr val="bg1">
                <a:lumMod val="65000"/>
              </a:schemeClr>
            </a:solidFill>
          </a:ln>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cxnSp>
      <p:sp>
        <p:nvSpPr>
          <p:cNvPr id="36" name="Freeform: Shape 35">
            <a:extLst>
              <a:ext uri="{FF2B5EF4-FFF2-40B4-BE49-F238E27FC236}">
                <a16:creationId xmlns:a16="http://schemas.microsoft.com/office/drawing/2014/main" id="{648BBED3-1DC2-4351-A55C-AA83614F0CAD}"/>
              </a:ext>
            </a:extLst>
          </p:cNvPr>
          <p:cNvSpPr/>
          <p:nvPr/>
        </p:nvSpPr>
        <p:spPr>
          <a:xfrm>
            <a:off x="4890961" y="3709194"/>
            <a:ext cx="1886829" cy="589634"/>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a:ln>
            <a:solidFill>
              <a:schemeClr val="accent6"/>
            </a:solidFill>
          </a:ln>
        </p:spPr>
        <p:style>
          <a:lnRef idx="1">
            <a:schemeClr val="accent3">
              <a:hueOff val="2476878"/>
              <a:satOff val="-18147"/>
              <a:lumOff val="298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lvl="0" algn="ctr" defTabSz="1644650">
              <a:lnSpc>
                <a:spcPct val="90000"/>
              </a:lnSpc>
              <a:spcBef>
                <a:spcPct val="0"/>
              </a:spcBef>
              <a:spcAft>
                <a:spcPct val="35000"/>
              </a:spcAft>
            </a:pPr>
            <a:r>
              <a:rPr lang="en-US" sz="1600" b="1"/>
              <a:t>FCC Task</a:t>
            </a:r>
            <a:r>
              <a:rPr lang="en-US" sz="1600"/>
              <a:t>: Entity Level</a:t>
            </a:r>
            <a:endParaRPr lang="en-US" sz="1000"/>
          </a:p>
        </p:txBody>
      </p:sp>
      <p:cxnSp>
        <p:nvCxnSpPr>
          <p:cNvPr id="37" name="Straight Connector 36">
            <a:extLst>
              <a:ext uri="{FF2B5EF4-FFF2-40B4-BE49-F238E27FC236}">
                <a16:creationId xmlns:a16="http://schemas.microsoft.com/office/drawing/2014/main" id="{765FE4FB-A953-4161-9FE3-8DB66E4EB144}"/>
              </a:ext>
            </a:extLst>
          </p:cNvPr>
          <p:cNvCxnSpPr>
            <a:cxnSpLocks/>
          </p:cNvCxnSpPr>
          <p:nvPr/>
        </p:nvCxnSpPr>
        <p:spPr>
          <a:xfrm>
            <a:off x="4655107" y="3924556"/>
            <a:ext cx="235853" cy="0"/>
          </a:xfrm>
          <a:prstGeom prst="line">
            <a:avLst/>
          </a:prstGeom>
          <a:solidFill>
            <a:schemeClr val="accent6">
              <a:lumMod val="40000"/>
              <a:lumOff val="60000"/>
            </a:schemeClr>
          </a:solidFill>
          <a:ln>
            <a:solidFill>
              <a:schemeClr val="accent6">
                <a:lumMod val="40000"/>
                <a:lumOff val="60000"/>
              </a:schemeClr>
            </a:solidFill>
          </a:ln>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cxnSp>
      <p:sp>
        <p:nvSpPr>
          <p:cNvPr id="38" name="Freeform: Shape 37">
            <a:extLst>
              <a:ext uri="{FF2B5EF4-FFF2-40B4-BE49-F238E27FC236}">
                <a16:creationId xmlns:a16="http://schemas.microsoft.com/office/drawing/2014/main" id="{2EBDCEF3-50BD-4BF5-9AC1-98FA398A27B9}"/>
              </a:ext>
            </a:extLst>
          </p:cNvPr>
          <p:cNvSpPr/>
          <p:nvPr/>
        </p:nvSpPr>
        <p:spPr>
          <a:xfrm>
            <a:off x="7839132" y="3714111"/>
            <a:ext cx="1886829" cy="589634"/>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a:ln>
            <a:solidFill>
              <a:schemeClr val="bg1">
                <a:lumMod val="65000"/>
              </a:schemeClr>
            </a:solidFill>
          </a:ln>
        </p:spPr>
        <p:style>
          <a:lnRef idx="1">
            <a:schemeClr val="accent3">
              <a:hueOff val="4953755"/>
              <a:satOff val="-36294"/>
              <a:lumOff val="596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lvl="0" algn="ctr" defTabSz="1644650">
              <a:lnSpc>
                <a:spcPct val="90000"/>
              </a:lnSpc>
              <a:spcBef>
                <a:spcPct val="0"/>
              </a:spcBef>
              <a:spcAft>
                <a:spcPct val="35000"/>
              </a:spcAft>
            </a:pPr>
            <a:r>
              <a:rPr lang="en-US" sz="1600" b="1" dirty="0"/>
              <a:t>FCC Task</a:t>
            </a:r>
            <a:r>
              <a:rPr lang="en-US" sz="1600" dirty="0"/>
              <a:t>: GBS/JTBC Level</a:t>
            </a:r>
            <a:endParaRPr lang="en-US" sz="1000" dirty="0"/>
          </a:p>
        </p:txBody>
      </p:sp>
      <p:cxnSp>
        <p:nvCxnSpPr>
          <p:cNvPr id="39" name="Straight Connector 38">
            <a:extLst>
              <a:ext uri="{FF2B5EF4-FFF2-40B4-BE49-F238E27FC236}">
                <a16:creationId xmlns:a16="http://schemas.microsoft.com/office/drawing/2014/main" id="{C53F47FD-3675-49ED-A6B5-90AAA41C483C}"/>
              </a:ext>
            </a:extLst>
          </p:cNvPr>
          <p:cNvCxnSpPr>
            <a:cxnSpLocks/>
          </p:cNvCxnSpPr>
          <p:nvPr/>
        </p:nvCxnSpPr>
        <p:spPr>
          <a:xfrm>
            <a:off x="7603278" y="3929473"/>
            <a:ext cx="235853" cy="0"/>
          </a:xfrm>
          <a:prstGeom prst="line">
            <a:avLst/>
          </a:prstGeom>
          <a:solidFill>
            <a:schemeClr val="bg1">
              <a:lumMod val="65000"/>
            </a:schemeClr>
          </a:solidFill>
          <a:ln>
            <a:solidFill>
              <a:schemeClr val="bg1">
                <a:lumMod val="65000"/>
              </a:schemeClr>
            </a:solidFill>
          </a:ln>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cxnSp>
      <p:sp>
        <p:nvSpPr>
          <p:cNvPr id="28" name="Freeform: Shape 27">
            <a:extLst>
              <a:ext uri="{FF2B5EF4-FFF2-40B4-BE49-F238E27FC236}">
                <a16:creationId xmlns:a16="http://schemas.microsoft.com/office/drawing/2014/main" id="{5706C434-41D9-4B9B-BA2D-D45F87869045}"/>
              </a:ext>
            </a:extLst>
          </p:cNvPr>
          <p:cNvSpPr/>
          <p:nvPr/>
        </p:nvSpPr>
        <p:spPr>
          <a:xfrm>
            <a:off x="1464647" y="1495561"/>
            <a:ext cx="2358536" cy="1179268"/>
          </a:xfrm>
          <a:custGeom>
            <a:avLst/>
            <a:gdLst>
              <a:gd name="connsiteX0" fmla="*/ 0 w 2358536"/>
              <a:gd name="connsiteY0" fmla="*/ 117927 h 1179268"/>
              <a:gd name="connsiteX1" fmla="*/ 117927 w 2358536"/>
              <a:gd name="connsiteY1" fmla="*/ 0 h 1179268"/>
              <a:gd name="connsiteX2" fmla="*/ 2240609 w 2358536"/>
              <a:gd name="connsiteY2" fmla="*/ 0 h 1179268"/>
              <a:gd name="connsiteX3" fmla="*/ 2358536 w 2358536"/>
              <a:gd name="connsiteY3" fmla="*/ 117927 h 1179268"/>
              <a:gd name="connsiteX4" fmla="*/ 2358536 w 2358536"/>
              <a:gd name="connsiteY4" fmla="*/ 1061341 h 1179268"/>
              <a:gd name="connsiteX5" fmla="*/ 2240609 w 2358536"/>
              <a:gd name="connsiteY5" fmla="*/ 1179268 h 1179268"/>
              <a:gd name="connsiteX6" fmla="*/ 117927 w 2358536"/>
              <a:gd name="connsiteY6" fmla="*/ 1179268 h 1179268"/>
              <a:gd name="connsiteX7" fmla="*/ 0 w 2358536"/>
              <a:gd name="connsiteY7" fmla="*/ 1061341 h 1179268"/>
              <a:gd name="connsiteX8" fmla="*/ 0 w 2358536"/>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8536" h="1179268">
                <a:moveTo>
                  <a:pt x="0" y="117927"/>
                </a:moveTo>
                <a:cubicBezTo>
                  <a:pt x="0" y="52798"/>
                  <a:pt x="52798" y="0"/>
                  <a:pt x="117927" y="0"/>
                </a:cubicBezTo>
                <a:lnTo>
                  <a:pt x="2240609" y="0"/>
                </a:lnTo>
                <a:cubicBezTo>
                  <a:pt x="2305738" y="0"/>
                  <a:pt x="2358536" y="52798"/>
                  <a:pt x="2358536" y="117927"/>
                </a:cubicBezTo>
                <a:lnTo>
                  <a:pt x="2358536" y="1061341"/>
                </a:lnTo>
                <a:cubicBezTo>
                  <a:pt x="2358536" y="1126470"/>
                  <a:pt x="2305738" y="1179268"/>
                  <a:pt x="2240609" y="1179268"/>
                </a:cubicBezTo>
                <a:lnTo>
                  <a:pt x="117927" y="1179268"/>
                </a:lnTo>
                <a:cubicBezTo>
                  <a:pt x="52798" y="1179268"/>
                  <a:pt x="0" y="1126470"/>
                  <a:pt x="0" y="1061341"/>
                </a:cubicBezTo>
                <a:lnTo>
                  <a:pt x="0" y="117927"/>
                </a:lnTo>
                <a:close/>
              </a:path>
            </a:pathLst>
          </a:custGeom>
          <a:solidFill>
            <a:schemeClr val="accent3">
              <a:lumMod val="75000"/>
            </a:schemeClr>
          </a:solidFill>
        </p:spPr>
        <p:style>
          <a:lnRef idx="0">
            <a:schemeClr val="lt1">
              <a:hueOff val="0"/>
              <a:satOff val="0"/>
              <a:lumOff val="0"/>
              <a:alphaOff val="0"/>
            </a:schemeClr>
          </a:lnRef>
          <a:fillRef idx="3">
            <a:schemeClr val="accent3">
              <a:hueOff val="0"/>
              <a:satOff val="0"/>
              <a:lumOff val="0"/>
              <a:alphaOff val="0"/>
            </a:schemeClr>
          </a:fillRef>
          <a:effectRef idx="3">
            <a:schemeClr val="accent3">
              <a:hueOff val="0"/>
              <a:satOff val="0"/>
              <a:lumOff val="0"/>
              <a:alphaOff val="0"/>
            </a:schemeClr>
          </a:effectRef>
          <a:fontRef idx="minor">
            <a:schemeClr val="lt1"/>
          </a:fontRef>
        </p:style>
        <p:txBody>
          <a:bodyPr spcFirstLastPara="0" vert="horz" wrap="square" lIns="72640" tIns="59940" rIns="72640" bIns="59940" numCol="1" spcCol="1270" anchor="ctr" anchorCtr="0">
            <a:noAutofit/>
          </a:bodyPr>
          <a:lstStyle/>
          <a:p>
            <a:pPr lvl="0" algn="ctr" defTabSz="889000">
              <a:lnSpc>
                <a:spcPct val="90000"/>
              </a:lnSpc>
              <a:spcBef>
                <a:spcPct val="0"/>
              </a:spcBef>
            </a:pPr>
            <a:r>
              <a:rPr lang="en-GB"/>
              <a:t>Balance Carry Forward for Receivables/</a:t>
            </a:r>
          </a:p>
          <a:p>
            <a:pPr lvl="0" algn="ctr" defTabSz="889000">
              <a:lnSpc>
                <a:spcPct val="90000"/>
              </a:lnSpc>
              <a:spcBef>
                <a:spcPct val="0"/>
              </a:spcBef>
            </a:pPr>
            <a:r>
              <a:rPr lang="en-GB"/>
              <a:t>Payables</a:t>
            </a:r>
          </a:p>
        </p:txBody>
      </p:sp>
      <p:sp>
        <p:nvSpPr>
          <p:cNvPr id="29" name="Freeform: Shape 28">
            <a:extLst>
              <a:ext uri="{FF2B5EF4-FFF2-40B4-BE49-F238E27FC236}">
                <a16:creationId xmlns:a16="http://schemas.microsoft.com/office/drawing/2014/main" id="{BC1D8616-1495-4701-B1C7-035909F614EB}"/>
              </a:ext>
            </a:extLst>
          </p:cNvPr>
          <p:cNvSpPr/>
          <p:nvPr/>
        </p:nvSpPr>
        <p:spPr>
          <a:xfrm>
            <a:off x="1936355" y="2969646"/>
            <a:ext cx="1886829" cy="589634"/>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a:ln>
            <a:solidFill>
              <a:schemeClr val="accent3"/>
            </a:solidFill>
          </a:ln>
        </p:spPr>
        <p:style>
          <a:lnRef idx="1">
            <a:schemeClr val="accent3">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lvl="0" algn="ctr" defTabSz="1644650">
              <a:lnSpc>
                <a:spcPct val="90000"/>
              </a:lnSpc>
              <a:spcBef>
                <a:spcPct val="0"/>
              </a:spcBef>
              <a:spcAft>
                <a:spcPct val="35000"/>
              </a:spcAft>
            </a:pPr>
            <a:r>
              <a:rPr lang="en-US" sz="1600" b="1" kern="1200"/>
              <a:t>T-Code</a:t>
            </a:r>
            <a:r>
              <a:rPr lang="en-US" sz="1600" kern="1200"/>
              <a:t>: </a:t>
            </a:r>
            <a:r>
              <a:rPr lang="en-US" sz="1200"/>
              <a:t>F.07</a:t>
            </a:r>
            <a:endParaRPr lang="en-US" sz="1200" kern="1200"/>
          </a:p>
        </p:txBody>
      </p:sp>
      <p:sp>
        <p:nvSpPr>
          <p:cNvPr id="31" name="Freeform: Shape 30">
            <a:extLst>
              <a:ext uri="{FF2B5EF4-FFF2-40B4-BE49-F238E27FC236}">
                <a16:creationId xmlns:a16="http://schemas.microsoft.com/office/drawing/2014/main" id="{3A066206-2B4F-45A4-888F-B544D183DBE7}"/>
              </a:ext>
            </a:extLst>
          </p:cNvPr>
          <p:cNvSpPr/>
          <p:nvPr/>
        </p:nvSpPr>
        <p:spPr>
          <a:xfrm>
            <a:off x="1700501" y="2674829"/>
            <a:ext cx="235853" cy="2358536"/>
          </a:xfrm>
          <a:custGeom>
            <a:avLst/>
            <a:gdLst/>
            <a:ahLst/>
            <a:cxnLst/>
            <a:rect l="0" t="0" r="0" b="0"/>
            <a:pathLst>
              <a:path>
                <a:moveTo>
                  <a:pt x="0" y="0"/>
                </a:moveTo>
                <a:lnTo>
                  <a:pt x="0" y="2358536"/>
                </a:lnTo>
                <a:lnTo>
                  <a:pt x="235853" y="2358536"/>
                </a:lnTo>
              </a:path>
            </a:pathLst>
          </a:custGeom>
          <a:solidFill>
            <a:schemeClr val="accent3"/>
          </a:solidFill>
          <a:ln>
            <a:solidFill>
              <a:schemeClr val="accent1">
                <a:lumMod val="40000"/>
                <a:lumOff val="60000"/>
              </a:schemeClr>
            </a:solidFill>
          </a:ln>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41" name="Freeform: Shape 40">
            <a:extLst>
              <a:ext uri="{FF2B5EF4-FFF2-40B4-BE49-F238E27FC236}">
                <a16:creationId xmlns:a16="http://schemas.microsoft.com/office/drawing/2014/main" id="{BE5654F6-5B7F-400A-A9E6-D183227F94FB}"/>
              </a:ext>
            </a:extLst>
          </p:cNvPr>
          <p:cNvSpPr/>
          <p:nvPr/>
        </p:nvSpPr>
        <p:spPr>
          <a:xfrm>
            <a:off x="1936354" y="4443731"/>
            <a:ext cx="1886829" cy="1179268"/>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a:ln>
            <a:solidFill>
              <a:schemeClr val="accent3"/>
            </a:solidFill>
          </a:ln>
        </p:spPr>
        <p:style>
          <a:lnRef idx="1">
            <a:schemeClr val="accent3">
              <a:hueOff val="1238439"/>
              <a:satOff val="-9074"/>
              <a:lumOff val="149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marL="0" lvl="0" indent="0" algn="ctr" defTabSz="1644650">
              <a:lnSpc>
                <a:spcPct val="90000"/>
              </a:lnSpc>
              <a:spcBef>
                <a:spcPct val="0"/>
              </a:spcBef>
              <a:spcAft>
                <a:spcPct val="35000"/>
              </a:spcAft>
              <a:buNone/>
            </a:pPr>
            <a:r>
              <a:rPr lang="en-US" sz="1600" b="1" kern="1200"/>
              <a:t>Timing: </a:t>
            </a:r>
            <a:r>
              <a:rPr lang="en-US" sz="1600" kern="1200"/>
              <a:t>WD4</a:t>
            </a:r>
          </a:p>
        </p:txBody>
      </p:sp>
      <p:cxnSp>
        <p:nvCxnSpPr>
          <p:cNvPr id="42" name="Straight Connector 41">
            <a:extLst>
              <a:ext uri="{FF2B5EF4-FFF2-40B4-BE49-F238E27FC236}">
                <a16:creationId xmlns:a16="http://schemas.microsoft.com/office/drawing/2014/main" id="{44CFF805-EE25-4646-837F-0007D056268B}"/>
              </a:ext>
            </a:extLst>
          </p:cNvPr>
          <p:cNvCxnSpPr>
            <a:cxnSpLocks/>
          </p:cNvCxnSpPr>
          <p:nvPr/>
        </p:nvCxnSpPr>
        <p:spPr>
          <a:xfrm>
            <a:off x="1700501" y="3185008"/>
            <a:ext cx="235853" cy="0"/>
          </a:xfrm>
          <a:prstGeom prst="line">
            <a:avLst/>
          </a:prstGeom>
          <a:solidFill>
            <a:schemeClr val="accent1">
              <a:lumMod val="40000"/>
              <a:lumOff val="60000"/>
            </a:schemeClr>
          </a:solidFill>
          <a:ln>
            <a:solidFill>
              <a:schemeClr val="accent3"/>
            </a:solidFill>
          </a:ln>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cxnSp>
      <p:sp>
        <p:nvSpPr>
          <p:cNvPr id="43" name="Freeform: Shape 42">
            <a:extLst>
              <a:ext uri="{FF2B5EF4-FFF2-40B4-BE49-F238E27FC236}">
                <a16:creationId xmlns:a16="http://schemas.microsoft.com/office/drawing/2014/main" id="{5B4A61FA-6CE2-45CE-B866-D900471CC3C9}"/>
              </a:ext>
            </a:extLst>
          </p:cNvPr>
          <p:cNvSpPr/>
          <p:nvPr/>
        </p:nvSpPr>
        <p:spPr>
          <a:xfrm>
            <a:off x="1936354" y="3702475"/>
            <a:ext cx="1886829" cy="589634"/>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a:ln>
            <a:solidFill>
              <a:schemeClr val="accent3"/>
            </a:solidFill>
          </a:ln>
        </p:spPr>
        <p:style>
          <a:lnRef idx="1">
            <a:schemeClr val="accent3">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marL="0" lvl="0" indent="0" algn="ctr" defTabSz="1644650">
              <a:lnSpc>
                <a:spcPct val="90000"/>
              </a:lnSpc>
              <a:spcBef>
                <a:spcPct val="0"/>
              </a:spcBef>
              <a:spcAft>
                <a:spcPct val="35000"/>
              </a:spcAft>
              <a:buNone/>
            </a:pPr>
            <a:r>
              <a:rPr lang="en-US" sz="1600" b="1" kern="1200" dirty="0"/>
              <a:t>FCC Task</a:t>
            </a:r>
            <a:r>
              <a:rPr lang="en-US" sz="1600" kern="1200" dirty="0"/>
              <a:t>: GBS/JTBC Level</a:t>
            </a:r>
            <a:endParaRPr lang="en-US" sz="1000" kern="1200" dirty="0"/>
          </a:p>
        </p:txBody>
      </p:sp>
      <p:cxnSp>
        <p:nvCxnSpPr>
          <p:cNvPr id="44" name="Straight Connector 43">
            <a:extLst>
              <a:ext uri="{FF2B5EF4-FFF2-40B4-BE49-F238E27FC236}">
                <a16:creationId xmlns:a16="http://schemas.microsoft.com/office/drawing/2014/main" id="{DCD7E4FF-3803-4073-AB13-5D56A650A9F5}"/>
              </a:ext>
            </a:extLst>
          </p:cNvPr>
          <p:cNvCxnSpPr>
            <a:cxnSpLocks/>
          </p:cNvCxnSpPr>
          <p:nvPr/>
        </p:nvCxnSpPr>
        <p:spPr>
          <a:xfrm>
            <a:off x="1700500" y="3917837"/>
            <a:ext cx="235853" cy="0"/>
          </a:xfrm>
          <a:prstGeom prst="line">
            <a:avLst/>
          </a:prstGeom>
          <a:solidFill>
            <a:schemeClr val="accent1">
              <a:lumMod val="40000"/>
              <a:lumOff val="60000"/>
            </a:schemeClr>
          </a:solidFill>
          <a:ln>
            <a:solidFill>
              <a:schemeClr val="accent3"/>
            </a:solidFill>
          </a:ln>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cxnSp>
      <p:pic>
        <p:nvPicPr>
          <p:cNvPr id="40" name="Graphic 39" descr="Person with idea">
            <a:extLst>
              <a:ext uri="{FF2B5EF4-FFF2-40B4-BE49-F238E27FC236}">
                <a16:creationId xmlns:a16="http://schemas.microsoft.com/office/drawing/2014/main" id="{D469B65F-7DCC-4BF5-82D3-1D87DA9470B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70983" y="5395691"/>
            <a:ext cx="661199" cy="661199"/>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31111199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25613"/>
            <a:ext cx="12192000" cy="4902408"/>
          </a:xfrm>
          <a:prstGeom prst="rect">
            <a:avLst/>
          </a:prstGeom>
        </p:spPr>
      </p:pic>
      <p:sp>
        <p:nvSpPr>
          <p:cNvPr id="38" name="Rectangle 37"/>
          <p:cNvSpPr/>
          <p:nvPr/>
        </p:nvSpPr>
        <p:spPr>
          <a:xfrm>
            <a:off x="0" y="1321093"/>
            <a:ext cx="12192000" cy="4902409"/>
          </a:xfrm>
          <a:prstGeom prst="rect">
            <a:avLst/>
          </a:prstGeom>
          <a:gradFill flip="none" rotWithShape="1">
            <a:gsLst>
              <a:gs pos="0">
                <a:schemeClr val="accent6"/>
              </a:gs>
              <a:gs pos="100000">
                <a:schemeClr val="accent1">
                  <a:lumMod val="20000"/>
                  <a:lumOff val="80000"/>
                  <a:alpha val="41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FFFFFF"/>
              </a:solidFill>
              <a:latin typeface="Arial" panose="020B0604020202020204"/>
            </a:endParaRP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Title 33"/>
          <p:cNvSpPr>
            <a:spLocks noGrp="1"/>
          </p:cNvSpPr>
          <p:nvPr>
            <p:ph type="title"/>
          </p:nvPr>
        </p:nvSpPr>
        <p:spPr/>
        <p:txBody>
          <a:bodyPr/>
          <a:lstStyle/>
          <a:p>
            <a:pPr>
              <a:spcAft>
                <a:spcPts val="1000"/>
              </a:spcAft>
            </a:pPr>
            <a:r>
              <a:rPr lang="en-GB" dirty="0"/>
              <a:t>Period End Closing Execution (GBS/JTBC) </a:t>
            </a:r>
            <a:endParaRPr lang="en-GB" dirty="0">
              <a:solidFill>
                <a:srgbClr val="000000"/>
              </a:solidFill>
              <a:latin typeface="Arial" charset="0"/>
              <a:cs typeface="Arial" charset="0"/>
            </a:endParaRPr>
          </a:p>
        </p:txBody>
      </p:sp>
      <p:sp>
        <p:nvSpPr>
          <p:cNvPr id="40" name="Rounded Rectangle 39"/>
          <p:cNvSpPr/>
          <p:nvPr/>
        </p:nvSpPr>
        <p:spPr>
          <a:xfrm>
            <a:off x="164492" y="3524970"/>
            <a:ext cx="3525625"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defRPr/>
            </a:pPr>
            <a:r>
              <a:rPr lang="en-GB" sz="1400" b="1">
                <a:solidFill>
                  <a:srgbClr val="000000"/>
                </a:solidFill>
                <a:latin typeface="Arial" charset="0"/>
                <a:cs typeface="Arial" charset="0"/>
              </a:rPr>
              <a:t>Year End Specific Closing Activities</a:t>
            </a:r>
          </a:p>
        </p:txBody>
      </p:sp>
      <p:sp>
        <p:nvSpPr>
          <p:cNvPr id="32" name="Rounded Rectangle 39">
            <a:extLst>
              <a:ext uri="{FF2B5EF4-FFF2-40B4-BE49-F238E27FC236}">
                <a16:creationId xmlns:a16="http://schemas.microsoft.com/office/drawing/2014/main" id="{95943B57-958A-4B14-9959-D27D9C2163B5}"/>
              </a:ext>
            </a:extLst>
          </p:cNvPr>
          <p:cNvSpPr/>
          <p:nvPr/>
        </p:nvSpPr>
        <p:spPr>
          <a:xfrm>
            <a:off x="5124506" y="5025947"/>
            <a:ext cx="4593074"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r>
              <a:rPr lang="en-US" sz="1400" b="1">
                <a:solidFill>
                  <a:srgbClr val="FFFFFF"/>
                </a:solidFill>
                <a:cs typeface="Arial"/>
              </a:rPr>
              <a:t>G/L Balance Carry Forward</a:t>
            </a:r>
          </a:p>
        </p:txBody>
      </p:sp>
      <p:sp>
        <p:nvSpPr>
          <p:cNvPr id="33" name="Rounded Rectangle 39">
            <a:extLst>
              <a:ext uri="{FF2B5EF4-FFF2-40B4-BE49-F238E27FC236}">
                <a16:creationId xmlns:a16="http://schemas.microsoft.com/office/drawing/2014/main" id="{72B7565A-673C-4ABF-AB86-333F67803ECD}"/>
              </a:ext>
            </a:extLst>
          </p:cNvPr>
          <p:cNvSpPr/>
          <p:nvPr/>
        </p:nvSpPr>
        <p:spPr>
          <a:xfrm>
            <a:off x="5124506" y="2654953"/>
            <a:ext cx="4593074"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US" sz="1400" b="1">
                <a:solidFill>
                  <a:srgbClr val="000000"/>
                </a:solidFill>
                <a:latin typeface="Arial" charset="0"/>
                <a:cs typeface="Arial" charset="0"/>
              </a:rPr>
              <a:t>Balance Carry Forward for Receivables/Payables</a:t>
            </a:r>
          </a:p>
        </p:txBody>
      </p:sp>
      <p:cxnSp>
        <p:nvCxnSpPr>
          <p:cNvPr id="53" name="Elbow Connector 4">
            <a:extLst>
              <a:ext uri="{FF2B5EF4-FFF2-40B4-BE49-F238E27FC236}">
                <a16:creationId xmlns:a16="http://schemas.microsoft.com/office/drawing/2014/main" id="{213A4D26-F0F8-4F27-B89A-429D9EA6A4EC}"/>
              </a:ext>
            </a:extLst>
          </p:cNvPr>
          <p:cNvCxnSpPr>
            <a:cxnSpLocks/>
            <a:stCxn id="40" idx="3"/>
            <a:endCxn id="33" idx="1"/>
          </p:cNvCxnSpPr>
          <p:nvPr/>
        </p:nvCxnSpPr>
        <p:spPr>
          <a:xfrm flipV="1">
            <a:off x="3690117" y="2906800"/>
            <a:ext cx="1434389" cy="870017"/>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15" name="Rounded Rectangle 39">
            <a:extLst>
              <a:ext uri="{FF2B5EF4-FFF2-40B4-BE49-F238E27FC236}">
                <a16:creationId xmlns:a16="http://schemas.microsoft.com/office/drawing/2014/main" id="{94A33D2A-CF2C-4FBA-BC57-8CA71CBA9B2B}"/>
              </a:ext>
            </a:extLst>
          </p:cNvPr>
          <p:cNvSpPr/>
          <p:nvPr/>
        </p:nvSpPr>
        <p:spPr>
          <a:xfrm>
            <a:off x="5124506" y="3840450"/>
            <a:ext cx="4593074"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r>
              <a:rPr lang="en-GB" sz="1400" b="1">
                <a:solidFill>
                  <a:srgbClr val="FFFFFF"/>
                </a:solidFill>
                <a:cs typeface="Arial"/>
              </a:rPr>
              <a:t>Asset Accounting Fiscal Year Close</a:t>
            </a:r>
            <a:endParaRPr lang="en-US" sz="1400" b="1">
              <a:solidFill>
                <a:srgbClr val="FFFFFF"/>
              </a:solidFill>
              <a:latin typeface="Arial" panose="020B0604020202020204"/>
              <a:cs typeface="Arial"/>
            </a:endParaRPr>
          </a:p>
        </p:txBody>
      </p:sp>
      <p:cxnSp>
        <p:nvCxnSpPr>
          <p:cNvPr id="7" name="Elbow Connector 4">
            <a:extLst>
              <a:ext uri="{FF2B5EF4-FFF2-40B4-BE49-F238E27FC236}">
                <a16:creationId xmlns:a16="http://schemas.microsoft.com/office/drawing/2014/main" id="{139785CE-FF9A-98D2-2B6A-CC29B9DB8C7A}"/>
              </a:ext>
            </a:extLst>
          </p:cNvPr>
          <p:cNvCxnSpPr>
            <a:cxnSpLocks/>
            <a:stCxn id="40" idx="3"/>
            <a:endCxn id="15" idx="1"/>
          </p:cNvCxnSpPr>
          <p:nvPr/>
        </p:nvCxnSpPr>
        <p:spPr>
          <a:xfrm>
            <a:off x="3690117" y="3776817"/>
            <a:ext cx="1434389" cy="315480"/>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12" name="Elbow Connector 4">
            <a:extLst>
              <a:ext uri="{FF2B5EF4-FFF2-40B4-BE49-F238E27FC236}">
                <a16:creationId xmlns:a16="http://schemas.microsoft.com/office/drawing/2014/main" id="{D85446C0-4C49-94B5-FBE0-B2BE6F4036B7}"/>
              </a:ext>
            </a:extLst>
          </p:cNvPr>
          <p:cNvCxnSpPr>
            <a:cxnSpLocks/>
            <a:stCxn id="40" idx="3"/>
            <a:endCxn id="32" idx="1"/>
          </p:cNvCxnSpPr>
          <p:nvPr/>
        </p:nvCxnSpPr>
        <p:spPr>
          <a:xfrm>
            <a:off x="3690117" y="3776817"/>
            <a:ext cx="1434389" cy="1500977"/>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76450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893A8-0718-43C5-9F01-D4C2C6441A1A}"/>
              </a:ext>
            </a:extLst>
          </p:cNvPr>
          <p:cNvSpPr>
            <a:spLocks noGrp="1"/>
          </p:cNvSpPr>
          <p:nvPr>
            <p:ph type="title"/>
          </p:nvPr>
        </p:nvSpPr>
        <p:spPr/>
        <p:txBody>
          <a:bodyPr/>
          <a:lstStyle/>
          <a:p>
            <a:r>
              <a:rPr lang="en-GB"/>
              <a:t>Balance Carry forward for Receivables/Payables: Execution</a:t>
            </a:r>
            <a:endParaRPr lang="en-US"/>
          </a:p>
        </p:txBody>
      </p:sp>
      <p:sp>
        <p:nvSpPr>
          <p:cNvPr id="5" name="Slide Number Placeholder 4">
            <a:extLst>
              <a:ext uri="{FF2B5EF4-FFF2-40B4-BE49-F238E27FC236}">
                <a16:creationId xmlns:a16="http://schemas.microsoft.com/office/drawing/2014/main" id="{86C28B6E-4826-4046-B675-424DC168604A}"/>
              </a:ext>
            </a:extLst>
          </p:cNvPr>
          <p:cNvSpPr>
            <a:spLocks noGrp="1"/>
          </p:cNvSpPr>
          <p:nvPr>
            <p:ph type="sldNum" sz="quarter" idx="12"/>
          </p:nvPr>
        </p:nvSpPr>
        <p:spPr/>
        <p:txBody>
          <a:bodyPr/>
          <a:lstStyle/>
          <a:p>
            <a:fld id="{F4C94289-3309-4C35-850A-56FD49B3E346}" type="slidenum">
              <a:rPr lang="en-GB" smtClean="0"/>
              <a:t>4</a:t>
            </a:fld>
            <a:endParaRPr lang="en-GB"/>
          </a:p>
        </p:txBody>
      </p:sp>
      <p:pic>
        <p:nvPicPr>
          <p:cNvPr id="6" name="Picture 5">
            <a:extLst>
              <a:ext uri="{FF2B5EF4-FFF2-40B4-BE49-F238E27FC236}">
                <a16:creationId xmlns:a16="http://schemas.microsoft.com/office/drawing/2014/main" id="{F6D22F48-AEF9-4027-91A0-C4CF3B944683}"/>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332193" y="1454572"/>
            <a:ext cx="5503341" cy="2404172"/>
          </a:xfrm>
          <a:prstGeom prst="rect">
            <a:avLst/>
          </a:prstGeom>
          <a:effectLst>
            <a:outerShdw blurRad="50800" dist="38100" dir="2700000" algn="tl" rotWithShape="0">
              <a:prstClr val="black">
                <a:alpha val="40000"/>
              </a:prstClr>
            </a:outerShdw>
          </a:effectLst>
        </p:spPr>
      </p:pic>
      <p:pic>
        <p:nvPicPr>
          <p:cNvPr id="7" name="Picture 6">
            <a:extLst>
              <a:ext uri="{FF2B5EF4-FFF2-40B4-BE49-F238E27FC236}">
                <a16:creationId xmlns:a16="http://schemas.microsoft.com/office/drawing/2014/main" id="{A3F5DD2F-D8E1-4526-941B-EFF864F5D0C2}"/>
              </a:ext>
            </a:extLst>
          </p:cNvPr>
          <p:cNvPicPr>
            <a:picLocks noChangeAspect="1"/>
          </p:cNvPicPr>
          <p:nvPr/>
        </p:nvPicPr>
        <p:blipFill>
          <a:blip r:embed="rId5"/>
          <a:stretch>
            <a:fillRect/>
          </a:stretch>
        </p:blipFill>
        <p:spPr>
          <a:xfrm>
            <a:off x="358836" y="3956297"/>
            <a:ext cx="2882105" cy="2785834"/>
          </a:xfrm>
          <a:prstGeom prst="rect">
            <a:avLst/>
          </a:prstGeom>
          <a:ln>
            <a:solidFill>
              <a:srgbClr val="FF0000"/>
            </a:solidFill>
          </a:ln>
          <a:effectLst>
            <a:outerShdw blurRad="50800" dist="38100" dir="2700000" algn="tl" rotWithShape="0">
              <a:prstClr val="black">
                <a:alpha val="40000"/>
              </a:prstClr>
            </a:outerShdw>
          </a:effectLst>
        </p:spPr>
      </p:pic>
      <p:pic>
        <p:nvPicPr>
          <p:cNvPr id="8" name="Picture 7">
            <a:extLst>
              <a:ext uri="{FF2B5EF4-FFF2-40B4-BE49-F238E27FC236}">
                <a16:creationId xmlns:a16="http://schemas.microsoft.com/office/drawing/2014/main" id="{13977697-C76F-4446-AAA8-667B0B9EE287}"/>
              </a:ext>
            </a:extLst>
          </p:cNvPr>
          <p:cNvPicPr>
            <a:picLocks noChangeAspect="1"/>
          </p:cNvPicPr>
          <p:nvPr/>
        </p:nvPicPr>
        <p:blipFill>
          <a:blip r:embed="rId6"/>
          <a:stretch>
            <a:fillRect/>
          </a:stretch>
        </p:blipFill>
        <p:spPr>
          <a:xfrm>
            <a:off x="3403810" y="4954729"/>
            <a:ext cx="2168503" cy="1862049"/>
          </a:xfrm>
          <a:prstGeom prst="rect">
            <a:avLst/>
          </a:prstGeom>
          <a:ln>
            <a:solidFill>
              <a:srgbClr val="FF0000"/>
            </a:solidFill>
          </a:ln>
          <a:effectLst>
            <a:outerShdw blurRad="50800" dist="38100" dir="2700000" algn="tl" rotWithShape="0">
              <a:prstClr val="black">
                <a:alpha val="40000"/>
              </a:prstClr>
            </a:outerShdw>
          </a:effectLst>
        </p:spPr>
      </p:pic>
      <p:sp>
        <p:nvSpPr>
          <p:cNvPr id="9" name="Rectangle: Rounded Corners 8">
            <a:extLst>
              <a:ext uri="{FF2B5EF4-FFF2-40B4-BE49-F238E27FC236}">
                <a16:creationId xmlns:a16="http://schemas.microsoft.com/office/drawing/2014/main" id="{35C04937-7649-4479-B912-3AC71E705DCF}"/>
              </a:ext>
            </a:extLst>
          </p:cNvPr>
          <p:cNvSpPr/>
          <p:nvPr/>
        </p:nvSpPr>
        <p:spPr>
          <a:xfrm>
            <a:off x="341194" y="1325014"/>
            <a:ext cx="1570733" cy="226101"/>
          </a:xfrm>
          <a:prstGeom prst="roundRect">
            <a:avLst/>
          </a:prstGeom>
          <a:solidFill>
            <a:schemeClr val="bg1"/>
          </a:solid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FCLOCO: FCC Task List</a:t>
            </a:r>
          </a:p>
        </p:txBody>
      </p:sp>
      <p:sp>
        <p:nvSpPr>
          <p:cNvPr id="10" name="Rectangle: Rounded Corners 9">
            <a:extLst>
              <a:ext uri="{FF2B5EF4-FFF2-40B4-BE49-F238E27FC236}">
                <a16:creationId xmlns:a16="http://schemas.microsoft.com/office/drawing/2014/main" id="{1E48B8CF-E29D-4278-8C01-C50716BCF2A4}"/>
              </a:ext>
            </a:extLst>
          </p:cNvPr>
          <p:cNvSpPr/>
          <p:nvPr/>
        </p:nvSpPr>
        <p:spPr>
          <a:xfrm>
            <a:off x="1734109" y="2175263"/>
            <a:ext cx="3453034" cy="143987"/>
          </a:xfrm>
          <a:prstGeom prst="roundRect">
            <a:avLst>
              <a:gd name="adj" fmla="val 426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11" name="Rectangle: Rounded Corners 10">
            <a:extLst>
              <a:ext uri="{FF2B5EF4-FFF2-40B4-BE49-F238E27FC236}">
                <a16:creationId xmlns:a16="http://schemas.microsoft.com/office/drawing/2014/main" id="{020D72F3-52CF-4744-9D68-4C37B7295B66}"/>
              </a:ext>
            </a:extLst>
          </p:cNvPr>
          <p:cNvSpPr/>
          <p:nvPr/>
        </p:nvSpPr>
        <p:spPr>
          <a:xfrm>
            <a:off x="1734110" y="2341517"/>
            <a:ext cx="3453034" cy="143987"/>
          </a:xfrm>
          <a:prstGeom prst="roundRect">
            <a:avLst>
              <a:gd name="adj" fmla="val 4268"/>
            </a:avLst>
          </a:prstGeom>
          <a:noFill/>
          <a:ln w="19050">
            <a:solidFill>
              <a:schemeClr val="accent6"/>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pic>
        <p:nvPicPr>
          <p:cNvPr id="3" name="Picture 2">
            <a:extLst>
              <a:ext uri="{FF2B5EF4-FFF2-40B4-BE49-F238E27FC236}">
                <a16:creationId xmlns:a16="http://schemas.microsoft.com/office/drawing/2014/main" id="{4435A63E-E336-4A96-8F82-175290E0FD9C}"/>
              </a:ext>
            </a:extLst>
          </p:cNvPr>
          <p:cNvPicPr>
            <a:picLocks noChangeAspect="1"/>
          </p:cNvPicPr>
          <p:nvPr/>
        </p:nvPicPr>
        <p:blipFill>
          <a:blip r:embed="rId7"/>
          <a:stretch>
            <a:fillRect/>
          </a:stretch>
        </p:blipFill>
        <p:spPr>
          <a:xfrm>
            <a:off x="9232700" y="1438064"/>
            <a:ext cx="2769205" cy="5003450"/>
          </a:xfrm>
          <a:prstGeom prst="rect">
            <a:avLst/>
          </a:prstGeom>
          <a:ln>
            <a:solidFill>
              <a:schemeClr val="accent6"/>
            </a:solidFill>
          </a:ln>
          <a:effectLst>
            <a:outerShdw blurRad="50800" dist="38100" dir="2700000" algn="tl" rotWithShape="0">
              <a:prstClr val="black">
                <a:alpha val="40000"/>
              </a:prstClr>
            </a:outerShdw>
          </a:effectLst>
        </p:spPr>
      </p:pic>
      <p:pic>
        <p:nvPicPr>
          <p:cNvPr id="12" name="Picture 11">
            <a:extLst>
              <a:ext uri="{FF2B5EF4-FFF2-40B4-BE49-F238E27FC236}">
                <a16:creationId xmlns:a16="http://schemas.microsoft.com/office/drawing/2014/main" id="{D8C634D1-6B6B-41AC-947B-695115FA30EB}"/>
              </a:ext>
            </a:extLst>
          </p:cNvPr>
          <p:cNvPicPr>
            <a:picLocks noChangeAspect="1"/>
          </p:cNvPicPr>
          <p:nvPr/>
        </p:nvPicPr>
        <p:blipFill>
          <a:blip r:embed="rId8"/>
          <a:stretch>
            <a:fillRect/>
          </a:stretch>
        </p:blipFill>
        <p:spPr>
          <a:xfrm>
            <a:off x="6093065" y="1454572"/>
            <a:ext cx="2882104" cy="2908127"/>
          </a:xfrm>
          <a:prstGeom prst="rect">
            <a:avLst/>
          </a:prstGeom>
          <a:ln>
            <a:solidFill>
              <a:schemeClr val="accent6"/>
            </a:solidFill>
          </a:ln>
          <a:effectLst>
            <a:outerShdw blurRad="50800" dist="38100" dir="2700000" algn="tl" rotWithShape="0">
              <a:prstClr val="black">
                <a:alpha val="40000"/>
              </a:prstClr>
            </a:outerShdw>
          </a:effectLst>
        </p:spPr>
      </p:pic>
      <p:cxnSp>
        <p:nvCxnSpPr>
          <p:cNvPr id="14" name="Connector: Elbow 13">
            <a:extLst>
              <a:ext uri="{FF2B5EF4-FFF2-40B4-BE49-F238E27FC236}">
                <a16:creationId xmlns:a16="http://schemas.microsoft.com/office/drawing/2014/main" id="{2245C110-0ABF-43A6-A8B1-00021FBBD437}"/>
              </a:ext>
            </a:extLst>
          </p:cNvPr>
          <p:cNvCxnSpPr>
            <a:cxnSpLocks/>
            <a:stCxn id="10" idx="1"/>
            <a:endCxn id="7" idx="1"/>
          </p:cNvCxnSpPr>
          <p:nvPr/>
        </p:nvCxnSpPr>
        <p:spPr>
          <a:xfrm rot="10800000" flipV="1">
            <a:off x="358837" y="2247256"/>
            <a:ext cx="1375273" cy="3101957"/>
          </a:xfrm>
          <a:prstGeom prst="bentConnector3">
            <a:avLst>
              <a:gd name="adj1" fmla="val 108159"/>
            </a:avLst>
          </a:prstGeom>
          <a:ln w="9525">
            <a:solidFill>
              <a:srgbClr val="FF0000"/>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2E6D5071-DAA5-49D3-972B-D5FA4F86DF7A}"/>
              </a:ext>
            </a:extLst>
          </p:cNvPr>
          <p:cNvCxnSpPr>
            <a:cxnSpLocks/>
            <a:stCxn id="7" idx="3"/>
            <a:endCxn id="8" idx="1"/>
          </p:cNvCxnSpPr>
          <p:nvPr/>
        </p:nvCxnSpPr>
        <p:spPr>
          <a:xfrm>
            <a:off x="3240941" y="5349214"/>
            <a:ext cx="162869" cy="536540"/>
          </a:xfrm>
          <a:prstGeom prst="straightConnector1">
            <a:avLst/>
          </a:prstGeom>
          <a:ln w="9525">
            <a:solidFill>
              <a:srgbClr val="FF0000"/>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4" name="Connector: Elbow 23">
            <a:extLst>
              <a:ext uri="{FF2B5EF4-FFF2-40B4-BE49-F238E27FC236}">
                <a16:creationId xmlns:a16="http://schemas.microsoft.com/office/drawing/2014/main" id="{72A41ABF-1E85-450F-AE8F-A23E43D9F8B4}"/>
              </a:ext>
            </a:extLst>
          </p:cNvPr>
          <p:cNvCxnSpPr>
            <a:endCxn id="12" idx="1"/>
          </p:cNvCxnSpPr>
          <p:nvPr/>
        </p:nvCxnSpPr>
        <p:spPr>
          <a:xfrm>
            <a:off x="5187143" y="2413510"/>
            <a:ext cx="905922" cy="495126"/>
          </a:xfrm>
          <a:prstGeom prst="bentConnector3">
            <a:avLst/>
          </a:prstGeom>
          <a:ln w="9525">
            <a:solidFill>
              <a:schemeClr val="accent6"/>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74975962-C2C0-4C7C-BAD1-2B2D784A1C70}"/>
              </a:ext>
            </a:extLst>
          </p:cNvPr>
          <p:cNvCxnSpPr>
            <a:stCxn id="12" idx="3"/>
            <a:endCxn id="3" idx="1"/>
          </p:cNvCxnSpPr>
          <p:nvPr/>
        </p:nvCxnSpPr>
        <p:spPr>
          <a:xfrm>
            <a:off x="8975169" y="2908636"/>
            <a:ext cx="257531" cy="1031153"/>
          </a:xfrm>
          <a:prstGeom prst="straightConnector1">
            <a:avLst/>
          </a:prstGeom>
          <a:ln w="9525">
            <a:solidFill>
              <a:schemeClr val="accent6"/>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8" name="Rectangle: Rounded Corners 27">
            <a:extLst>
              <a:ext uri="{FF2B5EF4-FFF2-40B4-BE49-F238E27FC236}">
                <a16:creationId xmlns:a16="http://schemas.microsoft.com/office/drawing/2014/main" id="{59C40D48-FD8E-4E9F-9184-0F83374E0AF7}"/>
              </a:ext>
            </a:extLst>
          </p:cNvPr>
          <p:cNvSpPr/>
          <p:nvPr/>
        </p:nvSpPr>
        <p:spPr>
          <a:xfrm>
            <a:off x="6123190" y="3313507"/>
            <a:ext cx="1241886" cy="115493"/>
          </a:xfrm>
          <a:prstGeom prst="roundRect">
            <a:avLst>
              <a:gd name="adj" fmla="val 4268"/>
            </a:avLst>
          </a:prstGeom>
          <a:noFill/>
          <a:ln w="19050">
            <a:solidFill>
              <a:schemeClr val="accent6"/>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30" name="Rectangle: Rounded Corners 29">
            <a:extLst>
              <a:ext uri="{FF2B5EF4-FFF2-40B4-BE49-F238E27FC236}">
                <a16:creationId xmlns:a16="http://schemas.microsoft.com/office/drawing/2014/main" id="{6E5A8D70-F2A3-4576-83AA-B536583391C7}"/>
              </a:ext>
            </a:extLst>
          </p:cNvPr>
          <p:cNvSpPr/>
          <p:nvPr/>
        </p:nvSpPr>
        <p:spPr>
          <a:xfrm>
            <a:off x="460554" y="5299486"/>
            <a:ext cx="1110551" cy="147280"/>
          </a:xfrm>
          <a:prstGeom prst="roundRect">
            <a:avLst>
              <a:gd name="adj" fmla="val 426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32" name="Rectangle 31">
            <a:extLst>
              <a:ext uri="{FF2B5EF4-FFF2-40B4-BE49-F238E27FC236}">
                <a16:creationId xmlns:a16="http://schemas.microsoft.com/office/drawing/2014/main" id="{2CD89A74-2B7B-465F-BD37-362E92FBBECF}"/>
              </a:ext>
            </a:extLst>
          </p:cNvPr>
          <p:cNvSpPr/>
          <p:nvPr/>
        </p:nvSpPr>
        <p:spPr>
          <a:xfrm>
            <a:off x="5670005" y="4435473"/>
            <a:ext cx="3478843" cy="2400657"/>
          </a:xfrm>
          <a:prstGeom prst="rect">
            <a:avLst/>
          </a:prstGeom>
          <a:solidFill>
            <a:schemeClr val="bg1"/>
          </a:solidFill>
        </p:spPr>
        <p:txBody>
          <a:bodyPr wrap="square">
            <a:spAutoFit/>
          </a:bodyPr>
          <a:lstStyle/>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200" i="1">
                <a:latin typeface="Georgia" panose="02040502050405020303" pitchFamily="18" charset="0"/>
              </a:rPr>
              <a:t>You will notice two FCC tasks for F.07.</a:t>
            </a:r>
          </a:p>
          <a:p>
            <a:pPr marL="360000" lvl="1" indent="-171450">
              <a:lnSpc>
                <a:spcPts val="1200"/>
              </a:lnSpc>
              <a:spcBef>
                <a:spcPts val="600"/>
              </a:spcBef>
              <a:buFont typeface="Courier New" panose="02070309020205020404" pitchFamily="49" charset="0"/>
              <a:buChar char="o"/>
              <a:defRPr/>
            </a:pPr>
            <a:r>
              <a:rPr lang="en-GB" sz="1100" i="1">
                <a:latin typeface="Georgia" panose="02040502050405020303" pitchFamily="18" charset="0"/>
              </a:rPr>
              <a:t>The first task performs the actual Carry Forward however without a detailed list</a:t>
            </a:r>
          </a:p>
          <a:p>
            <a:pPr marL="360000" lvl="1" indent="-171450">
              <a:lnSpc>
                <a:spcPts val="1200"/>
              </a:lnSpc>
              <a:spcBef>
                <a:spcPts val="600"/>
              </a:spcBef>
              <a:buFont typeface="Courier New" panose="02070309020205020404" pitchFamily="49" charset="0"/>
              <a:buChar char="o"/>
              <a:defRPr/>
            </a:pPr>
            <a:r>
              <a:rPr kumimoji="0" lang="en-GB" sz="1100" b="0" i="1" u="none" strike="noStrike" kern="1200" cap="none" spc="0" normalizeH="0" baseline="0" noProof="0">
                <a:ln>
                  <a:noFill/>
                </a:ln>
                <a:effectLst/>
                <a:uLnTx/>
                <a:uFillTx/>
                <a:latin typeface="Georgia" panose="02040502050405020303" pitchFamily="18" charset="0"/>
                <a:ea typeface="+mn-ea"/>
                <a:cs typeface="+mn-cs"/>
              </a:rPr>
              <a:t>The second task displays </a:t>
            </a:r>
            <a:r>
              <a:rPr lang="en-GB" sz="1100" i="1">
                <a:latin typeface="Georgia" panose="02040502050405020303" pitchFamily="18" charset="0"/>
              </a:rPr>
              <a:t>what has been carried forward. This may be particularly important in case you/or entities need to retain and check some details when things go wrong</a:t>
            </a:r>
          </a:p>
          <a:p>
            <a:pPr marL="171450" indent="-171450">
              <a:lnSpc>
                <a:spcPts val="1200"/>
              </a:lnSpc>
              <a:spcBef>
                <a:spcPts val="600"/>
              </a:spcBef>
              <a:buFont typeface="Arial" panose="020B0604020202020204" pitchFamily="34" charset="0"/>
              <a:buChar char="•"/>
              <a:defRPr/>
            </a:pPr>
            <a:r>
              <a:rPr lang="en-GB" sz="1200" i="1">
                <a:latin typeface="Georgia" panose="02040502050405020303" pitchFamily="18" charset="0"/>
              </a:rPr>
              <a:t>If you need to execute F.07 outside of FCC you should also follow the sequence as in FCC.</a:t>
            </a:r>
          </a:p>
          <a:p>
            <a:pPr marL="171450" indent="-171450">
              <a:lnSpc>
                <a:spcPts val="1200"/>
              </a:lnSpc>
              <a:spcBef>
                <a:spcPts val="600"/>
              </a:spcBef>
              <a:buFont typeface="Arial" panose="020B0604020202020204" pitchFamily="34" charset="0"/>
              <a:buChar char="•"/>
              <a:defRPr/>
            </a:pPr>
            <a:r>
              <a:rPr lang="en-GB" sz="1200" i="1">
                <a:latin typeface="Georgia" panose="02040502050405020303" pitchFamily="18" charset="0"/>
              </a:rPr>
              <a:t>You should also check/amend the Company Code and the new Fiscal Year before execution outside of FCC.</a:t>
            </a:r>
          </a:p>
        </p:txBody>
      </p:sp>
      <p:sp>
        <p:nvSpPr>
          <p:cNvPr id="19" name="Speech Bubble: Rectangle 18">
            <a:extLst>
              <a:ext uri="{FF2B5EF4-FFF2-40B4-BE49-F238E27FC236}">
                <a16:creationId xmlns:a16="http://schemas.microsoft.com/office/drawing/2014/main" id="{2B9DB866-0213-406E-A9CF-9974269FD4AA}"/>
              </a:ext>
            </a:extLst>
          </p:cNvPr>
          <p:cNvSpPr/>
          <p:nvPr/>
        </p:nvSpPr>
        <p:spPr>
          <a:xfrm>
            <a:off x="3322376" y="4023706"/>
            <a:ext cx="2090098" cy="536540"/>
          </a:xfrm>
          <a:prstGeom prst="wedgeRectCallout">
            <a:avLst>
              <a:gd name="adj1" fmla="val 62340"/>
              <a:gd name="adj2" fmla="val -71530"/>
            </a:avLst>
          </a:prstGeom>
          <a:solidFill>
            <a:schemeClr val="accent3"/>
          </a:solidFill>
          <a:ln/>
        </p:spPr>
        <p:style>
          <a:lnRef idx="0">
            <a:schemeClr val="accent1"/>
          </a:lnRef>
          <a:fillRef idx="3">
            <a:schemeClr val="accent1"/>
          </a:fillRef>
          <a:effectRef idx="3">
            <a:schemeClr val="accent1"/>
          </a:effectRef>
          <a:fontRef idx="minor">
            <a:schemeClr val="lt1"/>
          </a:fontRef>
        </p:style>
        <p:txBody>
          <a:bodyPr rtlCol="0" anchor="ctr"/>
          <a:lstStyle/>
          <a:p>
            <a:pPr>
              <a:lnSpc>
                <a:spcPts val="1200"/>
              </a:lnSpc>
              <a:spcBef>
                <a:spcPts val="600"/>
              </a:spcBef>
              <a:defRPr/>
            </a:pPr>
            <a:r>
              <a:rPr lang="en-US" sz="1050" i="1" dirty="0">
                <a:solidFill>
                  <a:schemeClr val="tx1"/>
                </a:solidFill>
                <a:latin typeface="Georgia" panose="02040502050405020303" pitchFamily="18" charset="0"/>
              </a:rPr>
              <a:t>This is a GBS/JTBC variants, using Company Code variables.</a:t>
            </a:r>
          </a:p>
        </p:txBody>
      </p:sp>
    </p:spTree>
    <p:extLst>
      <p:ext uri="{BB962C8B-B14F-4D97-AF65-F5344CB8AC3E}">
        <p14:creationId xmlns:p14="http://schemas.microsoft.com/office/powerpoint/2010/main" val="16620534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DCD09B0-34FD-4142-BF19-A146FFDE81A2}"/>
              </a:ext>
            </a:extLst>
          </p:cNvPr>
          <p:cNvPicPr>
            <a:picLocks noChangeAspect="1"/>
          </p:cNvPicPr>
          <p:nvPr/>
        </p:nvPicPr>
        <p:blipFill>
          <a:blip r:embed="rId2"/>
          <a:stretch>
            <a:fillRect/>
          </a:stretch>
        </p:blipFill>
        <p:spPr>
          <a:xfrm>
            <a:off x="366131" y="3971592"/>
            <a:ext cx="7239350" cy="2446199"/>
          </a:xfrm>
          <a:prstGeom prst="rect">
            <a:avLst/>
          </a:prstGeom>
          <a:effectLst>
            <a:outerShdw blurRad="50800" dist="38100" dir="2700000" algn="tl" rotWithShape="0">
              <a:prstClr val="black">
                <a:alpha val="40000"/>
              </a:prstClr>
            </a:outerShdw>
          </a:effectLst>
        </p:spPr>
      </p:pic>
      <p:pic>
        <p:nvPicPr>
          <p:cNvPr id="3" name="Picture 2">
            <a:extLst>
              <a:ext uri="{FF2B5EF4-FFF2-40B4-BE49-F238E27FC236}">
                <a16:creationId xmlns:a16="http://schemas.microsoft.com/office/drawing/2014/main" id="{9752B2ED-651D-4CF5-A3A2-5AA551B8D854}"/>
              </a:ext>
            </a:extLst>
          </p:cNvPr>
          <p:cNvPicPr>
            <a:picLocks noChangeAspect="1"/>
          </p:cNvPicPr>
          <p:nvPr/>
        </p:nvPicPr>
        <p:blipFill>
          <a:blip r:embed="rId3"/>
          <a:stretch>
            <a:fillRect/>
          </a:stretch>
        </p:blipFill>
        <p:spPr>
          <a:xfrm>
            <a:off x="366131" y="1500821"/>
            <a:ext cx="7239351" cy="2244856"/>
          </a:xfrm>
          <a:prstGeom prst="rect">
            <a:avLst/>
          </a:prstGeom>
          <a:effectLst>
            <a:outerShdw blurRad="50800" dist="38100" dir="2700000" algn="tl" rotWithShape="0">
              <a:prstClr val="black">
                <a:alpha val="40000"/>
              </a:prstClr>
            </a:outerShdw>
          </a:effectLst>
        </p:spPr>
      </p:pic>
      <p:sp>
        <p:nvSpPr>
          <p:cNvPr id="2" name="Title 1">
            <a:extLst>
              <a:ext uri="{FF2B5EF4-FFF2-40B4-BE49-F238E27FC236}">
                <a16:creationId xmlns:a16="http://schemas.microsoft.com/office/drawing/2014/main" id="{1C6893A8-0718-43C5-9F01-D4C2C6441A1A}"/>
              </a:ext>
            </a:extLst>
          </p:cNvPr>
          <p:cNvSpPr>
            <a:spLocks noGrp="1"/>
          </p:cNvSpPr>
          <p:nvPr>
            <p:ph type="title"/>
          </p:nvPr>
        </p:nvSpPr>
        <p:spPr/>
        <p:txBody>
          <a:bodyPr/>
          <a:lstStyle/>
          <a:p>
            <a:r>
              <a:rPr lang="en-GB"/>
              <a:t>Balance Carry forward for Receivables/Payables: Validation</a:t>
            </a:r>
            <a:endParaRPr lang="en-US"/>
          </a:p>
        </p:txBody>
      </p:sp>
      <p:sp>
        <p:nvSpPr>
          <p:cNvPr id="5" name="Slide Number Placeholder 4">
            <a:extLst>
              <a:ext uri="{FF2B5EF4-FFF2-40B4-BE49-F238E27FC236}">
                <a16:creationId xmlns:a16="http://schemas.microsoft.com/office/drawing/2014/main" id="{86C28B6E-4826-4046-B675-424DC168604A}"/>
              </a:ext>
            </a:extLst>
          </p:cNvPr>
          <p:cNvSpPr>
            <a:spLocks noGrp="1"/>
          </p:cNvSpPr>
          <p:nvPr>
            <p:ph type="sldNum" sz="quarter" idx="12"/>
          </p:nvPr>
        </p:nvSpPr>
        <p:spPr/>
        <p:txBody>
          <a:bodyPr/>
          <a:lstStyle/>
          <a:p>
            <a:fld id="{F4C94289-3309-4C35-850A-56FD49B3E346}" type="slidenum">
              <a:rPr lang="en-GB" smtClean="0"/>
              <a:t>5</a:t>
            </a:fld>
            <a:endParaRPr lang="en-GB"/>
          </a:p>
        </p:txBody>
      </p:sp>
      <p:sp>
        <p:nvSpPr>
          <p:cNvPr id="9" name="Rectangle: Rounded Corners 8">
            <a:extLst>
              <a:ext uri="{FF2B5EF4-FFF2-40B4-BE49-F238E27FC236}">
                <a16:creationId xmlns:a16="http://schemas.microsoft.com/office/drawing/2014/main" id="{35C04937-7649-4479-B912-3AC71E705DCF}"/>
              </a:ext>
            </a:extLst>
          </p:cNvPr>
          <p:cNvSpPr/>
          <p:nvPr/>
        </p:nvSpPr>
        <p:spPr>
          <a:xfrm>
            <a:off x="366132" y="1325014"/>
            <a:ext cx="3524224" cy="304281"/>
          </a:xfrm>
          <a:prstGeom prst="roundRect">
            <a:avLst/>
          </a:prstGeom>
          <a:solidFill>
            <a:schemeClr val="bg1"/>
          </a:solid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lvl="0">
              <a:defRPr/>
            </a:pPr>
            <a:r>
              <a:rPr lang="en-GB" sz="900" b="1">
                <a:solidFill>
                  <a:srgbClr val="00B2A9">
                    <a:lumMod val="50000"/>
                  </a:srgbClr>
                </a:solidFill>
              </a:rPr>
              <a:t>S_ALR_87012172: Customer Balances in Local Currency</a:t>
            </a:r>
            <a:endPar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12" name="Rectangle: Rounded Corners 11">
            <a:extLst>
              <a:ext uri="{FF2B5EF4-FFF2-40B4-BE49-F238E27FC236}">
                <a16:creationId xmlns:a16="http://schemas.microsoft.com/office/drawing/2014/main" id="{D30CCE40-D96A-4FCC-8A09-8D0E19A043C6}"/>
              </a:ext>
            </a:extLst>
          </p:cNvPr>
          <p:cNvSpPr/>
          <p:nvPr/>
        </p:nvSpPr>
        <p:spPr>
          <a:xfrm>
            <a:off x="424321" y="3819452"/>
            <a:ext cx="3524224" cy="304281"/>
          </a:xfrm>
          <a:prstGeom prst="roundRect">
            <a:avLst/>
          </a:prstGeom>
          <a:solidFill>
            <a:schemeClr val="bg1"/>
          </a:solid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lvl="0">
              <a:defRPr/>
            </a:pPr>
            <a:r>
              <a:rPr lang="en-GB" sz="900" b="1">
                <a:solidFill>
                  <a:srgbClr val="00B2A9">
                    <a:lumMod val="50000"/>
                  </a:srgbClr>
                </a:solidFill>
              </a:rPr>
              <a:t>S_ALR_87012082: Vendor Balances in Local Currency</a:t>
            </a:r>
            <a:endPar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10" name="Rectangle: Rounded Corners 9">
            <a:extLst>
              <a:ext uri="{FF2B5EF4-FFF2-40B4-BE49-F238E27FC236}">
                <a16:creationId xmlns:a16="http://schemas.microsoft.com/office/drawing/2014/main" id="{A4D3C6AB-0C34-40B6-95BF-B4134AA98952}"/>
              </a:ext>
            </a:extLst>
          </p:cNvPr>
          <p:cNvSpPr/>
          <p:nvPr/>
        </p:nvSpPr>
        <p:spPr>
          <a:xfrm>
            <a:off x="4485622" y="2511097"/>
            <a:ext cx="959214" cy="1234579"/>
          </a:xfrm>
          <a:prstGeom prst="roundRect">
            <a:avLst>
              <a:gd name="adj" fmla="val 426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11" name="Rectangle: Rounded Corners 10">
            <a:extLst>
              <a:ext uri="{FF2B5EF4-FFF2-40B4-BE49-F238E27FC236}">
                <a16:creationId xmlns:a16="http://schemas.microsoft.com/office/drawing/2014/main" id="{1A9411CE-0ECD-44CE-A8B6-52078036EB88}"/>
              </a:ext>
            </a:extLst>
          </p:cNvPr>
          <p:cNvSpPr/>
          <p:nvPr/>
        </p:nvSpPr>
        <p:spPr>
          <a:xfrm>
            <a:off x="3468938" y="5078714"/>
            <a:ext cx="1078124" cy="1339077"/>
          </a:xfrm>
          <a:prstGeom prst="roundRect">
            <a:avLst>
              <a:gd name="adj" fmla="val 426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13" name="Rectangle 12">
            <a:extLst>
              <a:ext uri="{FF2B5EF4-FFF2-40B4-BE49-F238E27FC236}">
                <a16:creationId xmlns:a16="http://schemas.microsoft.com/office/drawing/2014/main" id="{18FFC21D-8288-4C98-B0FD-1B47DFCEC14F}"/>
              </a:ext>
            </a:extLst>
          </p:cNvPr>
          <p:cNvSpPr/>
          <p:nvPr/>
        </p:nvSpPr>
        <p:spPr>
          <a:xfrm>
            <a:off x="7994271" y="3271400"/>
            <a:ext cx="3938489" cy="1785104"/>
          </a:xfrm>
          <a:prstGeom prst="rect">
            <a:avLst/>
          </a:prstGeom>
        </p:spPr>
        <p:txBody>
          <a:bodyPr wrap="square">
            <a:spAutoFit/>
          </a:bodyPr>
          <a:lstStyle/>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200" i="1" dirty="0">
                <a:solidFill>
                  <a:srgbClr val="000000"/>
                </a:solidFill>
                <a:latin typeface="Georgia" panose="02040502050405020303" pitchFamily="18" charset="0"/>
              </a:rPr>
              <a:t>Upon the execution of F.07, you can see the </a:t>
            </a:r>
            <a:r>
              <a:rPr lang="en-GB" sz="1200" b="1" i="1" dirty="0">
                <a:solidFill>
                  <a:srgbClr val="000000"/>
                </a:solidFill>
                <a:latin typeface="Georgia" panose="02040502050405020303" pitchFamily="18" charset="0"/>
              </a:rPr>
              <a:t>Balance </a:t>
            </a:r>
            <a:r>
              <a:rPr lang="en-GB" sz="1200" b="1" i="1" dirty="0" err="1">
                <a:solidFill>
                  <a:srgbClr val="000000"/>
                </a:solidFill>
                <a:latin typeface="Georgia" panose="02040502050405020303" pitchFamily="18" charset="0"/>
              </a:rPr>
              <a:t>Carryforward</a:t>
            </a:r>
            <a:r>
              <a:rPr lang="en-GB" sz="1200" b="1" i="1" dirty="0">
                <a:solidFill>
                  <a:srgbClr val="000000"/>
                </a:solidFill>
                <a:latin typeface="Georgia" panose="02040502050405020303" pitchFamily="18" charset="0"/>
              </a:rPr>
              <a:t> </a:t>
            </a:r>
            <a:r>
              <a:rPr lang="en-GB" sz="1200" i="1" dirty="0">
                <a:solidFill>
                  <a:srgbClr val="000000"/>
                </a:solidFill>
                <a:latin typeface="Georgia" panose="02040502050405020303" pitchFamily="18" charset="0"/>
              </a:rPr>
              <a:t>columns filled on the Customer/Vendor Balances reports. </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endParaRPr lang="en-GB" sz="1200" i="1" dirty="0">
              <a:solidFill>
                <a:srgbClr val="000000"/>
              </a:solidFill>
              <a:latin typeface="Georgia" panose="02040502050405020303" pitchFamily="18" charset="0"/>
            </a:endParaRP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200" i="1" dirty="0">
                <a:solidFill>
                  <a:srgbClr val="000000"/>
                </a:solidFill>
                <a:latin typeface="Georgia" panose="02040502050405020303" pitchFamily="18" charset="0"/>
              </a:rPr>
              <a:t>It is not required for GBS/JTBC teams to check these reports upon the execution of carry forward, however it is important to understand that if the Balance Carry Forward isn’t done correctly, these reports will not show any value in the Balance </a:t>
            </a:r>
            <a:r>
              <a:rPr lang="en-GB" sz="1200" i="1" dirty="0" err="1">
                <a:solidFill>
                  <a:srgbClr val="000000"/>
                </a:solidFill>
                <a:latin typeface="Georgia" panose="02040502050405020303" pitchFamily="18" charset="0"/>
              </a:rPr>
              <a:t>Carryforward</a:t>
            </a:r>
            <a:r>
              <a:rPr lang="en-GB" sz="1200" i="1" dirty="0">
                <a:solidFill>
                  <a:srgbClr val="000000"/>
                </a:solidFill>
                <a:latin typeface="Georgia" panose="02040502050405020303" pitchFamily="18" charset="0"/>
              </a:rPr>
              <a:t> column.</a:t>
            </a:r>
          </a:p>
        </p:txBody>
      </p:sp>
      <p:pic>
        <p:nvPicPr>
          <p:cNvPr id="14" name="Graphic 13" descr="Person with idea">
            <a:extLst>
              <a:ext uri="{FF2B5EF4-FFF2-40B4-BE49-F238E27FC236}">
                <a16:creationId xmlns:a16="http://schemas.microsoft.com/office/drawing/2014/main" id="{D7879BCD-137A-44EA-9BCB-6E1F577C274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663671" y="2879569"/>
            <a:ext cx="661199" cy="661199"/>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3807405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25613"/>
            <a:ext cx="12192000" cy="4902408"/>
          </a:xfrm>
          <a:prstGeom prst="rect">
            <a:avLst/>
          </a:prstGeom>
        </p:spPr>
      </p:pic>
      <p:sp>
        <p:nvSpPr>
          <p:cNvPr id="38" name="Rectangle 37"/>
          <p:cNvSpPr/>
          <p:nvPr/>
        </p:nvSpPr>
        <p:spPr>
          <a:xfrm>
            <a:off x="0" y="1321093"/>
            <a:ext cx="12192000" cy="4902409"/>
          </a:xfrm>
          <a:prstGeom prst="rect">
            <a:avLst/>
          </a:prstGeom>
          <a:gradFill flip="none" rotWithShape="1">
            <a:gsLst>
              <a:gs pos="0">
                <a:schemeClr val="accent6"/>
              </a:gs>
              <a:gs pos="100000">
                <a:schemeClr val="accent1">
                  <a:lumMod val="20000"/>
                  <a:lumOff val="80000"/>
                  <a:alpha val="41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FFFFFF"/>
              </a:solidFill>
              <a:latin typeface="Arial" panose="020B0604020202020204"/>
            </a:endParaRP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Title 33"/>
          <p:cNvSpPr>
            <a:spLocks noGrp="1"/>
          </p:cNvSpPr>
          <p:nvPr>
            <p:ph type="title"/>
          </p:nvPr>
        </p:nvSpPr>
        <p:spPr/>
        <p:txBody>
          <a:bodyPr/>
          <a:lstStyle/>
          <a:p>
            <a:pPr>
              <a:spcAft>
                <a:spcPts val="1000"/>
              </a:spcAft>
            </a:pPr>
            <a:r>
              <a:rPr lang="en-GB" dirty="0"/>
              <a:t>Period End Closing Execution (GBS/JTBC) </a:t>
            </a:r>
            <a:endParaRPr lang="en-GB" dirty="0">
              <a:solidFill>
                <a:srgbClr val="000000"/>
              </a:solidFill>
              <a:latin typeface="Arial" charset="0"/>
              <a:cs typeface="Arial" charset="0"/>
            </a:endParaRPr>
          </a:p>
        </p:txBody>
      </p:sp>
      <p:sp>
        <p:nvSpPr>
          <p:cNvPr id="40" name="Rounded Rectangle 39"/>
          <p:cNvSpPr/>
          <p:nvPr/>
        </p:nvSpPr>
        <p:spPr>
          <a:xfrm>
            <a:off x="164492" y="3524970"/>
            <a:ext cx="3525625"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defRPr/>
            </a:pPr>
            <a:r>
              <a:rPr lang="en-GB" sz="1400" b="1">
                <a:solidFill>
                  <a:srgbClr val="000000"/>
                </a:solidFill>
                <a:latin typeface="Arial" charset="0"/>
                <a:cs typeface="Arial" charset="0"/>
              </a:rPr>
              <a:t>Year End Specific Closing Activities</a:t>
            </a:r>
          </a:p>
        </p:txBody>
      </p:sp>
      <p:sp>
        <p:nvSpPr>
          <p:cNvPr id="32" name="Rounded Rectangle 39">
            <a:extLst>
              <a:ext uri="{FF2B5EF4-FFF2-40B4-BE49-F238E27FC236}">
                <a16:creationId xmlns:a16="http://schemas.microsoft.com/office/drawing/2014/main" id="{95943B57-958A-4B14-9959-D27D9C2163B5}"/>
              </a:ext>
            </a:extLst>
          </p:cNvPr>
          <p:cNvSpPr/>
          <p:nvPr/>
        </p:nvSpPr>
        <p:spPr>
          <a:xfrm>
            <a:off x="5124506" y="5025947"/>
            <a:ext cx="4593074"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r>
              <a:rPr lang="en-US" sz="1400" b="1">
                <a:solidFill>
                  <a:srgbClr val="FFFFFF"/>
                </a:solidFill>
                <a:cs typeface="Arial"/>
              </a:rPr>
              <a:t>G/L Balance Carry Forward</a:t>
            </a:r>
          </a:p>
        </p:txBody>
      </p:sp>
      <p:sp>
        <p:nvSpPr>
          <p:cNvPr id="33" name="Rounded Rectangle 39">
            <a:extLst>
              <a:ext uri="{FF2B5EF4-FFF2-40B4-BE49-F238E27FC236}">
                <a16:creationId xmlns:a16="http://schemas.microsoft.com/office/drawing/2014/main" id="{72B7565A-673C-4ABF-AB86-333F67803ECD}"/>
              </a:ext>
            </a:extLst>
          </p:cNvPr>
          <p:cNvSpPr/>
          <p:nvPr/>
        </p:nvSpPr>
        <p:spPr>
          <a:xfrm>
            <a:off x="5124506" y="2654953"/>
            <a:ext cx="4593074"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r>
              <a:rPr lang="en-US" sz="1400" b="1">
                <a:solidFill>
                  <a:srgbClr val="FFFFFF"/>
                </a:solidFill>
                <a:cs typeface="Arial"/>
              </a:rPr>
              <a:t>Balance Carry Forward for Receivables/Payables</a:t>
            </a:r>
          </a:p>
        </p:txBody>
      </p:sp>
      <p:cxnSp>
        <p:nvCxnSpPr>
          <p:cNvPr id="53" name="Elbow Connector 4">
            <a:extLst>
              <a:ext uri="{FF2B5EF4-FFF2-40B4-BE49-F238E27FC236}">
                <a16:creationId xmlns:a16="http://schemas.microsoft.com/office/drawing/2014/main" id="{213A4D26-F0F8-4F27-B89A-429D9EA6A4EC}"/>
              </a:ext>
            </a:extLst>
          </p:cNvPr>
          <p:cNvCxnSpPr>
            <a:cxnSpLocks/>
            <a:stCxn id="40" idx="3"/>
            <a:endCxn id="33" idx="1"/>
          </p:cNvCxnSpPr>
          <p:nvPr/>
        </p:nvCxnSpPr>
        <p:spPr>
          <a:xfrm flipV="1">
            <a:off x="3690117" y="2906800"/>
            <a:ext cx="1434389" cy="870017"/>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15" name="Rounded Rectangle 39">
            <a:extLst>
              <a:ext uri="{FF2B5EF4-FFF2-40B4-BE49-F238E27FC236}">
                <a16:creationId xmlns:a16="http://schemas.microsoft.com/office/drawing/2014/main" id="{94A33D2A-CF2C-4FBA-BC57-8CA71CBA9B2B}"/>
              </a:ext>
            </a:extLst>
          </p:cNvPr>
          <p:cNvSpPr/>
          <p:nvPr/>
        </p:nvSpPr>
        <p:spPr>
          <a:xfrm>
            <a:off x="5124506" y="3840450"/>
            <a:ext cx="4593074"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dirty="0">
                <a:solidFill>
                  <a:srgbClr val="000000"/>
                </a:solidFill>
                <a:latin typeface="Arial" charset="0"/>
                <a:cs typeface="Arial" charset="0"/>
              </a:rPr>
              <a:t>Asset Accounting Fiscal Year Close</a:t>
            </a:r>
            <a:endParaRPr lang="en-US" sz="1400" b="1" dirty="0">
              <a:solidFill>
                <a:srgbClr val="000000"/>
              </a:solidFill>
              <a:latin typeface="Arial" charset="0"/>
              <a:cs typeface="Arial" charset="0"/>
            </a:endParaRPr>
          </a:p>
        </p:txBody>
      </p:sp>
      <p:cxnSp>
        <p:nvCxnSpPr>
          <p:cNvPr id="7" name="Elbow Connector 4">
            <a:extLst>
              <a:ext uri="{FF2B5EF4-FFF2-40B4-BE49-F238E27FC236}">
                <a16:creationId xmlns:a16="http://schemas.microsoft.com/office/drawing/2014/main" id="{139785CE-FF9A-98D2-2B6A-CC29B9DB8C7A}"/>
              </a:ext>
            </a:extLst>
          </p:cNvPr>
          <p:cNvCxnSpPr>
            <a:cxnSpLocks/>
            <a:stCxn id="40" idx="3"/>
            <a:endCxn id="15" idx="1"/>
          </p:cNvCxnSpPr>
          <p:nvPr/>
        </p:nvCxnSpPr>
        <p:spPr>
          <a:xfrm>
            <a:off x="3690117" y="3776817"/>
            <a:ext cx="1434389" cy="315480"/>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12" name="Elbow Connector 4">
            <a:extLst>
              <a:ext uri="{FF2B5EF4-FFF2-40B4-BE49-F238E27FC236}">
                <a16:creationId xmlns:a16="http://schemas.microsoft.com/office/drawing/2014/main" id="{D85446C0-4C49-94B5-FBE0-B2BE6F4036B7}"/>
              </a:ext>
            </a:extLst>
          </p:cNvPr>
          <p:cNvCxnSpPr>
            <a:cxnSpLocks/>
            <a:stCxn id="40" idx="3"/>
            <a:endCxn id="32" idx="1"/>
          </p:cNvCxnSpPr>
          <p:nvPr/>
        </p:nvCxnSpPr>
        <p:spPr>
          <a:xfrm>
            <a:off x="3690117" y="3776817"/>
            <a:ext cx="1434389" cy="1500977"/>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27905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0A48AB7-48A3-4838-9AAA-17635129D859}"/>
              </a:ext>
            </a:extLst>
          </p:cNvPr>
          <p:cNvPicPr>
            <a:picLocks noChangeAspect="1"/>
          </p:cNvPicPr>
          <p:nvPr/>
        </p:nvPicPr>
        <p:blipFill>
          <a:blip r:embed="rId3"/>
          <a:stretch>
            <a:fillRect/>
          </a:stretch>
        </p:blipFill>
        <p:spPr>
          <a:xfrm>
            <a:off x="289633" y="1407827"/>
            <a:ext cx="5110140" cy="2520211"/>
          </a:xfrm>
          <a:prstGeom prst="rect">
            <a:avLst/>
          </a:prstGeom>
          <a:effectLst>
            <a:outerShdw blurRad="50800" dist="38100" dir="2700000" algn="tl" rotWithShape="0">
              <a:prstClr val="black">
                <a:alpha val="40000"/>
              </a:prstClr>
            </a:outerShdw>
          </a:effectLst>
        </p:spPr>
      </p:pic>
      <p:pic>
        <p:nvPicPr>
          <p:cNvPr id="17" name="Picture 16">
            <a:extLst>
              <a:ext uri="{FF2B5EF4-FFF2-40B4-BE49-F238E27FC236}">
                <a16:creationId xmlns:a16="http://schemas.microsoft.com/office/drawing/2014/main" id="{94E2D6A9-24D6-45F8-AA12-34BDA0D2B193}"/>
              </a:ext>
            </a:extLst>
          </p:cNvPr>
          <p:cNvPicPr>
            <a:picLocks noChangeAspect="1"/>
          </p:cNvPicPr>
          <p:nvPr/>
        </p:nvPicPr>
        <p:blipFill>
          <a:blip r:embed="rId4"/>
          <a:stretch>
            <a:fillRect/>
          </a:stretch>
        </p:blipFill>
        <p:spPr>
          <a:xfrm>
            <a:off x="5559759" y="1446327"/>
            <a:ext cx="4633396" cy="2220897"/>
          </a:xfrm>
          <a:prstGeom prst="rect">
            <a:avLst/>
          </a:prstGeom>
          <a:effectLst>
            <a:outerShdw blurRad="50800" dist="38100" dir="2700000" algn="tl" rotWithShape="0">
              <a:prstClr val="black">
                <a:alpha val="40000"/>
              </a:prstClr>
            </a:outerShdw>
          </a:effectLst>
        </p:spPr>
      </p:pic>
      <p:sp>
        <p:nvSpPr>
          <p:cNvPr id="2" name="Title 1">
            <a:extLst>
              <a:ext uri="{FF2B5EF4-FFF2-40B4-BE49-F238E27FC236}">
                <a16:creationId xmlns:a16="http://schemas.microsoft.com/office/drawing/2014/main" id="{1C6893A8-0718-43C5-9F01-D4C2C6441A1A}"/>
              </a:ext>
            </a:extLst>
          </p:cNvPr>
          <p:cNvSpPr>
            <a:spLocks noGrp="1"/>
          </p:cNvSpPr>
          <p:nvPr>
            <p:ph type="title"/>
          </p:nvPr>
        </p:nvSpPr>
        <p:spPr/>
        <p:txBody>
          <a:bodyPr/>
          <a:lstStyle/>
          <a:p>
            <a:r>
              <a:rPr lang="en-GB"/>
              <a:t>Asset Accounting Fiscal Year Close</a:t>
            </a:r>
          </a:p>
        </p:txBody>
      </p:sp>
      <p:sp>
        <p:nvSpPr>
          <p:cNvPr id="5" name="Slide Number Placeholder 4">
            <a:extLst>
              <a:ext uri="{FF2B5EF4-FFF2-40B4-BE49-F238E27FC236}">
                <a16:creationId xmlns:a16="http://schemas.microsoft.com/office/drawing/2014/main" id="{86C28B6E-4826-4046-B675-424DC168604A}"/>
              </a:ext>
            </a:extLst>
          </p:cNvPr>
          <p:cNvSpPr>
            <a:spLocks noGrp="1"/>
          </p:cNvSpPr>
          <p:nvPr>
            <p:ph type="sldNum" sz="quarter" idx="12"/>
          </p:nvPr>
        </p:nvSpPr>
        <p:spPr/>
        <p:txBody>
          <a:bodyPr/>
          <a:lstStyle/>
          <a:p>
            <a:fld id="{F4C94289-3309-4C35-850A-56FD49B3E346}" type="slidenum">
              <a:rPr lang="en-GB" smtClean="0"/>
              <a:t>7</a:t>
            </a:fld>
            <a:endParaRPr lang="en-GB"/>
          </a:p>
        </p:txBody>
      </p:sp>
      <p:sp>
        <p:nvSpPr>
          <p:cNvPr id="7" name="Rectangle: Rounded Corners 6">
            <a:extLst>
              <a:ext uri="{FF2B5EF4-FFF2-40B4-BE49-F238E27FC236}">
                <a16:creationId xmlns:a16="http://schemas.microsoft.com/office/drawing/2014/main" id="{6D6300F3-2B76-47A7-B0EB-CCD1D926CAA0}"/>
              </a:ext>
            </a:extLst>
          </p:cNvPr>
          <p:cNvSpPr/>
          <p:nvPr/>
        </p:nvSpPr>
        <p:spPr>
          <a:xfrm>
            <a:off x="2102736" y="2268718"/>
            <a:ext cx="3297037" cy="609235"/>
          </a:xfrm>
          <a:prstGeom prst="roundRect">
            <a:avLst>
              <a:gd name="adj" fmla="val 426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pic>
        <p:nvPicPr>
          <p:cNvPr id="8" name="Picture 7">
            <a:extLst>
              <a:ext uri="{FF2B5EF4-FFF2-40B4-BE49-F238E27FC236}">
                <a16:creationId xmlns:a16="http://schemas.microsoft.com/office/drawing/2014/main" id="{AFECF4E1-64F2-47FA-9873-376E385533FA}"/>
              </a:ext>
            </a:extLst>
          </p:cNvPr>
          <p:cNvPicPr>
            <a:picLocks noChangeAspect="1"/>
          </p:cNvPicPr>
          <p:nvPr/>
        </p:nvPicPr>
        <p:blipFill>
          <a:blip r:embed="rId5"/>
          <a:stretch>
            <a:fillRect/>
          </a:stretch>
        </p:blipFill>
        <p:spPr>
          <a:xfrm>
            <a:off x="269490" y="4159524"/>
            <a:ext cx="3872025" cy="2554738"/>
          </a:xfrm>
          <a:prstGeom prst="rect">
            <a:avLst/>
          </a:prstGeom>
          <a:effectLst>
            <a:outerShdw blurRad="50800" dist="38100" dir="2700000" algn="tl" rotWithShape="0">
              <a:prstClr val="black">
                <a:alpha val="40000"/>
              </a:prstClr>
            </a:outerShdw>
          </a:effectLst>
        </p:spPr>
      </p:pic>
      <p:pic>
        <p:nvPicPr>
          <p:cNvPr id="9" name="Picture 8">
            <a:extLst>
              <a:ext uri="{FF2B5EF4-FFF2-40B4-BE49-F238E27FC236}">
                <a16:creationId xmlns:a16="http://schemas.microsoft.com/office/drawing/2014/main" id="{4D4FDEFC-099B-4467-959C-91F57F7356C9}"/>
              </a:ext>
            </a:extLst>
          </p:cNvPr>
          <p:cNvPicPr>
            <a:picLocks noChangeAspect="1"/>
          </p:cNvPicPr>
          <p:nvPr/>
        </p:nvPicPr>
        <p:blipFill>
          <a:blip r:embed="rId6"/>
          <a:stretch>
            <a:fillRect/>
          </a:stretch>
        </p:blipFill>
        <p:spPr>
          <a:xfrm>
            <a:off x="4316013" y="4143110"/>
            <a:ext cx="4210163" cy="2589301"/>
          </a:xfrm>
          <a:prstGeom prst="rect">
            <a:avLst/>
          </a:prstGeom>
          <a:effectLst>
            <a:outerShdw blurRad="50800" dist="38100" dir="2700000" algn="tl" rotWithShape="0">
              <a:prstClr val="black">
                <a:alpha val="40000"/>
              </a:prstClr>
            </a:outerShdw>
          </a:effectLst>
        </p:spPr>
      </p:pic>
      <p:sp>
        <p:nvSpPr>
          <p:cNvPr id="11" name="Rectangle: Rounded Corners 10">
            <a:extLst>
              <a:ext uri="{FF2B5EF4-FFF2-40B4-BE49-F238E27FC236}">
                <a16:creationId xmlns:a16="http://schemas.microsoft.com/office/drawing/2014/main" id="{624BB331-E565-4B5B-9B1F-20991012FBE3}"/>
              </a:ext>
            </a:extLst>
          </p:cNvPr>
          <p:cNvSpPr/>
          <p:nvPr/>
        </p:nvSpPr>
        <p:spPr>
          <a:xfrm>
            <a:off x="288181" y="1364138"/>
            <a:ext cx="1570733" cy="226101"/>
          </a:xfrm>
          <a:prstGeom prst="roundRect">
            <a:avLst/>
          </a:prstGeom>
          <a:solidFill>
            <a:schemeClr val="bg1"/>
          </a:solid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FCLOCO: FCC Task List</a:t>
            </a:r>
          </a:p>
        </p:txBody>
      </p:sp>
      <p:sp>
        <p:nvSpPr>
          <p:cNvPr id="12" name="Rectangle: Rounded Corners 11">
            <a:extLst>
              <a:ext uri="{FF2B5EF4-FFF2-40B4-BE49-F238E27FC236}">
                <a16:creationId xmlns:a16="http://schemas.microsoft.com/office/drawing/2014/main" id="{3F980912-C301-4E16-81BB-70F023060F8F}"/>
              </a:ext>
            </a:extLst>
          </p:cNvPr>
          <p:cNvSpPr/>
          <p:nvPr/>
        </p:nvSpPr>
        <p:spPr>
          <a:xfrm>
            <a:off x="269490" y="4173086"/>
            <a:ext cx="1570733" cy="226101"/>
          </a:xfrm>
          <a:prstGeom prst="roundRect">
            <a:avLst/>
          </a:prstGeom>
          <a:solidFill>
            <a:schemeClr val="bg1"/>
          </a:solid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AJAB: AA YE Closing</a:t>
            </a:r>
          </a:p>
        </p:txBody>
      </p:sp>
      <p:sp>
        <p:nvSpPr>
          <p:cNvPr id="13" name="Rectangle: Rounded Corners 12">
            <a:extLst>
              <a:ext uri="{FF2B5EF4-FFF2-40B4-BE49-F238E27FC236}">
                <a16:creationId xmlns:a16="http://schemas.microsoft.com/office/drawing/2014/main" id="{15D2CDD3-DEF5-473A-A5B3-1C8645A38FFC}"/>
              </a:ext>
            </a:extLst>
          </p:cNvPr>
          <p:cNvSpPr/>
          <p:nvPr/>
        </p:nvSpPr>
        <p:spPr>
          <a:xfrm>
            <a:off x="1858914" y="6423318"/>
            <a:ext cx="903537" cy="179612"/>
          </a:xfrm>
          <a:prstGeom prst="roundRect">
            <a:avLst>
              <a:gd name="adj" fmla="val 426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14" name="Rectangle: Rounded Corners 13">
            <a:extLst>
              <a:ext uri="{FF2B5EF4-FFF2-40B4-BE49-F238E27FC236}">
                <a16:creationId xmlns:a16="http://schemas.microsoft.com/office/drawing/2014/main" id="{0F91E75F-D1A5-4B9F-90AF-D0765E64AD53}"/>
              </a:ext>
            </a:extLst>
          </p:cNvPr>
          <p:cNvSpPr/>
          <p:nvPr/>
        </p:nvSpPr>
        <p:spPr>
          <a:xfrm>
            <a:off x="4262145" y="4144177"/>
            <a:ext cx="1445637" cy="404453"/>
          </a:xfrm>
          <a:prstGeom prst="roundRect">
            <a:avLst/>
          </a:prstGeom>
          <a:solidFill>
            <a:schemeClr val="bg1"/>
          </a:solid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AJAB: AA YE Closing – Test Run log</a:t>
            </a:r>
          </a:p>
        </p:txBody>
      </p:sp>
      <p:sp>
        <p:nvSpPr>
          <p:cNvPr id="15" name="Rectangle: Rounded Corners 14">
            <a:extLst>
              <a:ext uri="{FF2B5EF4-FFF2-40B4-BE49-F238E27FC236}">
                <a16:creationId xmlns:a16="http://schemas.microsoft.com/office/drawing/2014/main" id="{958971A4-C02B-4123-B5BB-D8DF3BA93573}"/>
              </a:ext>
            </a:extLst>
          </p:cNvPr>
          <p:cNvSpPr/>
          <p:nvPr/>
        </p:nvSpPr>
        <p:spPr>
          <a:xfrm>
            <a:off x="5559759" y="1427760"/>
            <a:ext cx="1832445" cy="404453"/>
          </a:xfrm>
          <a:prstGeom prst="roundRect">
            <a:avLst/>
          </a:prstGeom>
          <a:solidFill>
            <a:schemeClr val="bg1"/>
          </a:solid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AJAB: AA YE Closing – Update Run log (SM37 spool)</a:t>
            </a:r>
          </a:p>
        </p:txBody>
      </p:sp>
      <p:sp>
        <p:nvSpPr>
          <p:cNvPr id="16" name="Rectangle: Rounded Corners 15">
            <a:extLst>
              <a:ext uri="{FF2B5EF4-FFF2-40B4-BE49-F238E27FC236}">
                <a16:creationId xmlns:a16="http://schemas.microsoft.com/office/drawing/2014/main" id="{64B30F6A-F3A0-4C16-BBFB-24E63FAF84A4}"/>
              </a:ext>
            </a:extLst>
          </p:cNvPr>
          <p:cNvSpPr/>
          <p:nvPr/>
        </p:nvSpPr>
        <p:spPr>
          <a:xfrm>
            <a:off x="9487686" y="2198517"/>
            <a:ext cx="618842" cy="508348"/>
          </a:xfrm>
          <a:prstGeom prst="roundRect">
            <a:avLst>
              <a:gd name="adj" fmla="val 426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18" name="Rectangle: Rounded Corners 17">
            <a:extLst>
              <a:ext uri="{FF2B5EF4-FFF2-40B4-BE49-F238E27FC236}">
                <a16:creationId xmlns:a16="http://schemas.microsoft.com/office/drawing/2014/main" id="{E20150A8-B359-4E91-8899-04766500840B}"/>
              </a:ext>
            </a:extLst>
          </p:cNvPr>
          <p:cNvSpPr/>
          <p:nvPr/>
        </p:nvSpPr>
        <p:spPr>
          <a:xfrm>
            <a:off x="5897102" y="2210870"/>
            <a:ext cx="994587" cy="508348"/>
          </a:xfrm>
          <a:prstGeom prst="roundRect">
            <a:avLst>
              <a:gd name="adj" fmla="val 426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19" name="Rectangle 18">
            <a:extLst>
              <a:ext uri="{FF2B5EF4-FFF2-40B4-BE49-F238E27FC236}">
                <a16:creationId xmlns:a16="http://schemas.microsoft.com/office/drawing/2014/main" id="{8795F3A3-CB89-4B51-9CBC-8C4E9806B28C}"/>
              </a:ext>
            </a:extLst>
          </p:cNvPr>
          <p:cNvSpPr/>
          <p:nvPr/>
        </p:nvSpPr>
        <p:spPr>
          <a:xfrm>
            <a:off x="8487677" y="3718143"/>
            <a:ext cx="3690817" cy="3093154"/>
          </a:xfrm>
          <a:prstGeom prst="rect">
            <a:avLst/>
          </a:prstGeom>
        </p:spPr>
        <p:txBody>
          <a:bodyPr wrap="square">
            <a:spAutoFit/>
          </a:bodyPr>
          <a:lstStyle/>
          <a:p>
            <a:pPr marL="171450" indent="-171450">
              <a:lnSpc>
                <a:spcPts val="1200"/>
              </a:lnSpc>
              <a:spcBef>
                <a:spcPts val="600"/>
              </a:spcBef>
              <a:buFont typeface="Arial" panose="020B0604020202020204" pitchFamily="34" charset="0"/>
              <a:buChar char="•"/>
              <a:defRPr/>
            </a:pPr>
            <a:r>
              <a:rPr lang="en-GB" sz="1050" i="1">
                <a:latin typeface="Georgia" panose="02040502050405020303" pitchFamily="18" charset="0"/>
              </a:rPr>
              <a:t>It is important to carry out the Test Run for AA FY Closing as various errors can occur. </a:t>
            </a:r>
          </a:p>
          <a:p>
            <a:pPr marL="171450" indent="-171450">
              <a:lnSpc>
                <a:spcPts val="1200"/>
              </a:lnSpc>
              <a:spcBef>
                <a:spcPts val="600"/>
              </a:spcBef>
              <a:buFont typeface="Arial" panose="020B0604020202020204" pitchFamily="34" charset="0"/>
              <a:buChar char="•"/>
              <a:defRPr/>
            </a:pPr>
            <a:r>
              <a:rPr lang="en-GB" sz="1050" i="1">
                <a:latin typeface="Georgia" panose="02040502050405020303" pitchFamily="18" charset="0"/>
              </a:rPr>
              <a:t>The system requires all AA related postings, especially all depreciation postings have been done before a fiscal year can be closed in AA module. This is one of the most common errors if you can’t close a fiscal year in AA.</a:t>
            </a:r>
          </a:p>
          <a:p>
            <a:pPr marL="171450" indent="-171450">
              <a:lnSpc>
                <a:spcPts val="1200"/>
              </a:lnSpc>
              <a:spcBef>
                <a:spcPts val="600"/>
              </a:spcBef>
              <a:buFont typeface="Arial" panose="020B0604020202020204" pitchFamily="34" charset="0"/>
              <a:buChar char="•"/>
              <a:defRPr/>
            </a:pPr>
            <a:r>
              <a:rPr lang="en-GB" sz="1050" i="1">
                <a:latin typeface="Georgia" panose="02040502050405020303" pitchFamily="18" charset="0"/>
              </a:rPr>
              <a:t>You should check/amend the Company Code and the Fiscal year to be closed before execution outside of FCC.</a:t>
            </a:r>
          </a:p>
          <a:p>
            <a:pPr marL="171450" indent="-171450">
              <a:lnSpc>
                <a:spcPts val="1200"/>
              </a:lnSpc>
              <a:spcBef>
                <a:spcPts val="600"/>
              </a:spcBef>
              <a:buFont typeface="Arial" panose="020B0604020202020204" pitchFamily="34" charset="0"/>
              <a:buChar char="•"/>
              <a:defRPr/>
            </a:pPr>
            <a:r>
              <a:rPr lang="en-GB" sz="1050" i="1">
                <a:latin typeface="Georgia" panose="02040502050405020303" pitchFamily="18" charset="0"/>
              </a:rPr>
              <a:t>Update Run needs to be carried out via Background processing (under “More” menu). </a:t>
            </a:r>
          </a:p>
          <a:p>
            <a:pPr marL="171450" lvl="0" indent="-171450">
              <a:lnSpc>
                <a:spcPts val="1200"/>
              </a:lnSpc>
              <a:spcBef>
                <a:spcPts val="600"/>
              </a:spcBef>
              <a:buFont typeface="Arial" panose="020B0604020202020204" pitchFamily="34" charset="0"/>
              <a:buChar char="•"/>
              <a:defRPr/>
            </a:pPr>
            <a:r>
              <a:rPr lang="en-GB" sz="1050" i="1">
                <a:latin typeface="Georgia" panose="02040502050405020303" pitchFamily="18" charset="0"/>
              </a:rPr>
              <a:t>Once the Update Run is completed, the system does not allow any posting to AA module in the closed fiscal year. </a:t>
            </a:r>
          </a:p>
          <a:p>
            <a:pPr marL="171450" lvl="0" indent="-171450">
              <a:lnSpc>
                <a:spcPts val="1200"/>
              </a:lnSpc>
              <a:spcBef>
                <a:spcPts val="600"/>
              </a:spcBef>
              <a:buFont typeface="Arial" panose="020B0604020202020204" pitchFamily="34" charset="0"/>
              <a:buChar char="•"/>
              <a:defRPr/>
            </a:pPr>
            <a:r>
              <a:rPr lang="en-GB" sz="1050" i="1">
                <a:latin typeface="Georgia" panose="02040502050405020303" pitchFamily="18" charset="0"/>
              </a:rPr>
              <a:t>Note that this transaction doesn’t impact whether posting to AA module in the New Fiscal Year is allowed, which is controlled by the G/L Carry Forward transaction.</a:t>
            </a:r>
          </a:p>
        </p:txBody>
      </p:sp>
      <p:sp>
        <p:nvSpPr>
          <p:cNvPr id="20" name="Speech Bubble: Rectangle 19">
            <a:extLst>
              <a:ext uri="{FF2B5EF4-FFF2-40B4-BE49-F238E27FC236}">
                <a16:creationId xmlns:a16="http://schemas.microsoft.com/office/drawing/2014/main" id="{54BEFDB8-2233-40D0-A759-A935D62A6DAE}"/>
              </a:ext>
            </a:extLst>
          </p:cNvPr>
          <p:cNvSpPr/>
          <p:nvPr/>
        </p:nvSpPr>
        <p:spPr>
          <a:xfrm>
            <a:off x="5828412" y="3696044"/>
            <a:ext cx="2090098" cy="536540"/>
          </a:xfrm>
          <a:prstGeom prst="wedgeRectCallout">
            <a:avLst>
              <a:gd name="adj1" fmla="val -77657"/>
              <a:gd name="adj2" fmla="val -24887"/>
            </a:avLst>
          </a:prstGeom>
          <a:solidFill>
            <a:schemeClr val="accent3"/>
          </a:solidFill>
          <a:ln/>
        </p:spPr>
        <p:style>
          <a:lnRef idx="0">
            <a:schemeClr val="accent1"/>
          </a:lnRef>
          <a:fillRef idx="3">
            <a:schemeClr val="accent1"/>
          </a:fillRef>
          <a:effectRef idx="3">
            <a:schemeClr val="accent1"/>
          </a:effectRef>
          <a:fontRef idx="minor">
            <a:schemeClr val="lt1"/>
          </a:fontRef>
        </p:style>
        <p:txBody>
          <a:bodyPr rtlCol="0" anchor="ctr"/>
          <a:lstStyle/>
          <a:p>
            <a:pPr>
              <a:lnSpc>
                <a:spcPts val="1200"/>
              </a:lnSpc>
              <a:spcBef>
                <a:spcPts val="600"/>
              </a:spcBef>
              <a:defRPr/>
            </a:pPr>
            <a:r>
              <a:rPr lang="en-US" sz="1050" i="1">
                <a:solidFill>
                  <a:schemeClr val="tx1"/>
                </a:solidFill>
                <a:latin typeface="Georgia" panose="02040502050405020303" pitchFamily="18" charset="0"/>
              </a:rPr>
              <a:t>This is a global variants using Company Code variables.</a:t>
            </a:r>
          </a:p>
        </p:txBody>
      </p:sp>
      <p:sp>
        <p:nvSpPr>
          <p:cNvPr id="4" name="Rectangle: Rounded Corners 3">
            <a:extLst>
              <a:ext uri="{FF2B5EF4-FFF2-40B4-BE49-F238E27FC236}">
                <a16:creationId xmlns:a16="http://schemas.microsoft.com/office/drawing/2014/main" id="{4B8EF32A-79A3-4A0F-BAF8-672ECD643BFB}"/>
              </a:ext>
            </a:extLst>
          </p:cNvPr>
          <p:cNvSpPr/>
          <p:nvPr/>
        </p:nvSpPr>
        <p:spPr>
          <a:xfrm>
            <a:off x="4262145" y="3738844"/>
            <a:ext cx="997100" cy="189194"/>
          </a:xfrm>
          <a:prstGeom prst="round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916787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4A32776-8FF2-EC49-E55C-687CECED4559}"/>
              </a:ext>
            </a:extLst>
          </p:cNvPr>
          <p:cNvSpPr>
            <a:spLocks noGrp="1"/>
          </p:cNvSpPr>
          <p:nvPr>
            <p:ph type="sldNum" sz="quarter" idx="12"/>
          </p:nvPr>
        </p:nvSpPr>
        <p:spPr/>
        <p:txBody>
          <a:bodyPr/>
          <a:lstStyle/>
          <a:p>
            <a:fld id="{F4C94289-3309-4C35-850A-56FD49B3E346}" type="slidenum">
              <a:rPr lang="en-GB" smtClean="0"/>
              <a:t>8</a:t>
            </a:fld>
            <a:endParaRPr lang="en-GB"/>
          </a:p>
        </p:txBody>
      </p:sp>
      <p:sp>
        <p:nvSpPr>
          <p:cNvPr id="4" name="Title 3">
            <a:extLst>
              <a:ext uri="{FF2B5EF4-FFF2-40B4-BE49-F238E27FC236}">
                <a16:creationId xmlns:a16="http://schemas.microsoft.com/office/drawing/2014/main" id="{6CEFBAEA-7764-8788-713E-498D74B9680F}"/>
              </a:ext>
            </a:extLst>
          </p:cNvPr>
          <p:cNvSpPr>
            <a:spLocks noGrp="1"/>
          </p:cNvSpPr>
          <p:nvPr>
            <p:ph type="title"/>
          </p:nvPr>
        </p:nvSpPr>
        <p:spPr/>
        <p:txBody>
          <a:bodyPr/>
          <a:lstStyle/>
          <a:p>
            <a:r>
              <a:rPr lang="en-GB" dirty="0"/>
              <a:t>Asset Accounting Fiscal Year Close - </a:t>
            </a:r>
            <a:r>
              <a:rPr lang="en-GB" cap="none" dirty="0"/>
              <a:t>Common Error</a:t>
            </a:r>
            <a:endParaRPr lang="en-US" dirty="0"/>
          </a:p>
        </p:txBody>
      </p:sp>
      <p:graphicFrame>
        <p:nvGraphicFramePr>
          <p:cNvPr id="5" name="Table 5">
            <a:extLst>
              <a:ext uri="{FF2B5EF4-FFF2-40B4-BE49-F238E27FC236}">
                <a16:creationId xmlns:a16="http://schemas.microsoft.com/office/drawing/2014/main" id="{31555022-062A-51F0-CE70-8DCED109EDDD}"/>
              </a:ext>
            </a:extLst>
          </p:cNvPr>
          <p:cNvGraphicFramePr>
            <a:graphicFrameLocks noGrp="1"/>
          </p:cNvGraphicFramePr>
          <p:nvPr/>
        </p:nvGraphicFramePr>
        <p:xfrm>
          <a:off x="477537" y="1886823"/>
          <a:ext cx="11171907" cy="4292742"/>
        </p:xfrm>
        <a:graphic>
          <a:graphicData uri="http://schemas.openxmlformats.org/drawingml/2006/table">
            <a:tbl>
              <a:tblPr firstRow="1" bandRow="1">
                <a:tableStyleId>{F5AB1C69-6EDB-4FF4-983F-18BD219EF322}</a:tableStyleId>
              </a:tblPr>
              <a:tblGrid>
                <a:gridCol w="3723969">
                  <a:extLst>
                    <a:ext uri="{9D8B030D-6E8A-4147-A177-3AD203B41FA5}">
                      <a16:colId xmlns:a16="http://schemas.microsoft.com/office/drawing/2014/main" val="9356114"/>
                    </a:ext>
                  </a:extLst>
                </a:gridCol>
                <a:gridCol w="3094075">
                  <a:extLst>
                    <a:ext uri="{9D8B030D-6E8A-4147-A177-3AD203B41FA5}">
                      <a16:colId xmlns:a16="http://schemas.microsoft.com/office/drawing/2014/main" val="1965869314"/>
                    </a:ext>
                  </a:extLst>
                </a:gridCol>
                <a:gridCol w="4353863">
                  <a:extLst>
                    <a:ext uri="{9D8B030D-6E8A-4147-A177-3AD203B41FA5}">
                      <a16:colId xmlns:a16="http://schemas.microsoft.com/office/drawing/2014/main" val="566335056"/>
                    </a:ext>
                  </a:extLst>
                </a:gridCol>
              </a:tblGrid>
              <a:tr h="413636">
                <a:tc>
                  <a:txBody>
                    <a:bodyPr/>
                    <a:lstStyle/>
                    <a:p>
                      <a:pPr algn="ctr" fontAlgn="b"/>
                      <a:r>
                        <a:rPr lang="en-US" sz="1200" b="1" u="none" strike="noStrike" dirty="0">
                          <a:solidFill>
                            <a:schemeClr val="bg1"/>
                          </a:solidFill>
                          <a:effectLst/>
                        </a:rPr>
                        <a:t>Errors</a:t>
                      </a:r>
                      <a:endParaRPr lang="en-US" sz="1200" b="1" i="0" u="none" strike="noStrike" dirty="0">
                        <a:solidFill>
                          <a:schemeClr val="bg1"/>
                        </a:solidFill>
                        <a:effectLst/>
                        <a:latin typeface="Calibri" panose="020F0502020204030204" pitchFamily="34" charset="0"/>
                      </a:endParaRPr>
                    </a:p>
                  </a:txBody>
                  <a:tcPr marL="6350" marR="6350" marT="6350" marB="0" anchor="ctr"/>
                </a:tc>
                <a:tc>
                  <a:txBody>
                    <a:bodyPr/>
                    <a:lstStyle/>
                    <a:p>
                      <a:pPr algn="ctr" fontAlgn="b"/>
                      <a:r>
                        <a:rPr lang="en-US" sz="1200" b="1" u="none" strike="noStrike" dirty="0">
                          <a:solidFill>
                            <a:schemeClr val="bg1"/>
                          </a:solidFill>
                          <a:effectLst/>
                        </a:rPr>
                        <a:t>Error Description (Reason)</a:t>
                      </a:r>
                      <a:endParaRPr lang="en-US" sz="1200" b="1" i="0" u="none" strike="noStrike" dirty="0">
                        <a:solidFill>
                          <a:schemeClr val="bg1"/>
                        </a:solidFill>
                        <a:effectLst/>
                        <a:latin typeface="Calibri" panose="020F0502020204030204" pitchFamily="34" charset="0"/>
                      </a:endParaRPr>
                    </a:p>
                  </a:txBody>
                  <a:tcPr marL="6350" marR="6350" marT="6350" marB="0" anchor="ctr"/>
                </a:tc>
                <a:tc>
                  <a:txBody>
                    <a:bodyPr/>
                    <a:lstStyle/>
                    <a:p>
                      <a:pPr algn="ctr" fontAlgn="b"/>
                      <a:r>
                        <a:rPr lang="en-US" sz="1200" b="1" u="none" strike="noStrike">
                          <a:solidFill>
                            <a:schemeClr val="bg1"/>
                          </a:solidFill>
                          <a:effectLst/>
                        </a:rPr>
                        <a:t>Resolution </a:t>
                      </a:r>
                      <a:endParaRPr lang="en-US" sz="1200" b="1" i="0" u="none" strike="noStrike">
                        <a:solidFill>
                          <a:schemeClr val="bg1"/>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409099569"/>
                  </a:ext>
                </a:extLst>
              </a:tr>
              <a:tr h="2184455">
                <a:tc>
                  <a:txBody>
                    <a:bodyPr/>
                    <a:lstStyle/>
                    <a:p>
                      <a:pPr algn="l" fontAlgn="b"/>
                      <a:r>
                        <a:rPr lang="en-US" sz="1200" b="0" u="none" strike="noStrike">
                          <a:solidFill>
                            <a:srgbClr val="000000"/>
                          </a:solidFill>
                          <a:effectLst/>
                        </a:rPr>
                        <a:t>Company Code XXXX contains fixed assets with calculations with errors</a:t>
                      </a:r>
                      <a:endParaRPr lang="en-US" sz="1200" b="0" i="0" u="none" strike="noStrike">
                        <a:solidFill>
                          <a:srgbClr val="000000"/>
                        </a:solidFill>
                        <a:effectLst/>
                        <a:latin typeface="Calibri" panose="020F0502020204030204" pitchFamily="34" charset="0"/>
                      </a:endParaRPr>
                    </a:p>
                  </a:txBody>
                  <a:tcPr marL="72000" marR="72000" marT="36000" marB="0" anchor="ctr"/>
                </a:tc>
                <a:tc>
                  <a:txBody>
                    <a:bodyPr/>
                    <a:lstStyle/>
                    <a:p>
                      <a:pPr algn="l" fontAlgn="b"/>
                      <a:r>
                        <a:rPr lang="en-US" sz="1200" b="0" u="none" strike="noStrike">
                          <a:solidFill>
                            <a:srgbClr val="000000"/>
                          </a:solidFill>
                          <a:effectLst/>
                        </a:rPr>
                        <a:t>In company code XXXX, not all depreciation values have been calculated completely and correctly.</a:t>
                      </a:r>
                      <a:endParaRPr lang="en-US" sz="1200" b="0" i="0" u="none" strike="noStrike">
                        <a:solidFill>
                          <a:srgbClr val="000000"/>
                        </a:solidFill>
                        <a:effectLst/>
                        <a:latin typeface="Calibri" panose="020F0502020204030204" pitchFamily="34" charset="0"/>
                      </a:endParaRPr>
                    </a:p>
                  </a:txBody>
                  <a:tcPr marL="72000" marR="72000" marT="36000" marB="0" anchor="ctr"/>
                </a:tc>
                <a:tc>
                  <a:txBody>
                    <a:bodyPr/>
                    <a:lstStyle/>
                    <a:p>
                      <a:pPr algn="l" fontAlgn="b"/>
                      <a:r>
                        <a:rPr lang="en-US" sz="1200" b="0" u="none" strike="noStrike">
                          <a:solidFill>
                            <a:srgbClr val="000000"/>
                          </a:solidFill>
                          <a:effectLst/>
                        </a:rPr>
                        <a:t>Recalculate depreciation for company code XXXX:</a:t>
                      </a:r>
                    </a:p>
                    <a:p>
                      <a:pPr algn="l" fontAlgn="b"/>
                      <a:endParaRPr lang="en-US" sz="1200" b="0" u="none" strike="noStrike">
                        <a:solidFill>
                          <a:srgbClr val="000000"/>
                        </a:solidFill>
                        <a:effectLst/>
                      </a:endParaRPr>
                    </a:p>
                    <a:p>
                      <a:pPr algn="l" fontAlgn="b"/>
                      <a:r>
                        <a:rPr lang="en-US" sz="1200" b="0" u="none" strike="noStrike">
                          <a:solidFill>
                            <a:srgbClr val="000000"/>
                          </a:solidFill>
                          <a:effectLst/>
                        </a:rPr>
                        <a:t>For this you can follow either one of the below 2 steps.</a:t>
                      </a:r>
                    </a:p>
                    <a:p>
                      <a:pPr algn="l" fontAlgn="b"/>
                      <a:endParaRPr lang="en-US" sz="1200" b="0" u="none" strike="noStrike">
                        <a:solidFill>
                          <a:srgbClr val="000000"/>
                        </a:solidFill>
                        <a:effectLst/>
                      </a:endParaRPr>
                    </a:p>
                    <a:p>
                      <a:pPr marL="228600" indent="-228600" algn="l" fontAlgn="b">
                        <a:buAutoNum type="arabicPeriod"/>
                      </a:pPr>
                      <a:r>
                        <a:rPr lang="en-US" sz="1200" b="0" u="none" strike="noStrike">
                          <a:solidFill>
                            <a:srgbClr val="000000"/>
                          </a:solidFill>
                          <a:effectLst/>
                        </a:rPr>
                        <a:t>In the “SAP Easy Access Menu” under Accounting-&gt;Fixed Assets-&gt;Environment-&gt;Recalculate Values Or,</a:t>
                      </a:r>
                    </a:p>
                    <a:p>
                      <a:pPr marL="228600" indent="-228600" algn="l" fontAlgn="b">
                        <a:buAutoNum type="arabicPeriod"/>
                      </a:pPr>
                      <a:r>
                        <a:rPr lang="en-US" sz="1200" b="0" u="none" strike="noStrike">
                          <a:solidFill>
                            <a:srgbClr val="000000"/>
                          </a:solidFill>
                          <a:effectLst/>
                        </a:rPr>
                        <a:t>Use T-Code “ AFAR”</a:t>
                      </a:r>
                    </a:p>
                    <a:p>
                      <a:pPr marL="0" indent="0" algn="l" fontAlgn="b">
                        <a:buNone/>
                      </a:pPr>
                      <a:endParaRPr lang="en-US" sz="1200" b="0" u="none" strike="noStrike">
                        <a:solidFill>
                          <a:srgbClr val="000000"/>
                        </a:solidFill>
                        <a:effectLst/>
                      </a:endParaRPr>
                    </a:p>
                    <a:p>
                      <a:pPr marL="0" marR="0" lvl="0" indent="0" algn="l" defTabSz="914400" rtl="0" eaLnBrk="1" fontAlgn="b" latinLnBrk="0" hangingPunct="1">
                        <a:lnSpc>
                          <a:spcPct val="100000"/>
                        </a:lnSpc>
                        <a:spcBef>
                          <a:spcPts val="0"/>
                        </a:spcBef>
                        <a:spcAft>
                          <a:spcPts val="0"/>
                        </a:spcAft>
                        <a:buClrTx/>
                        <a:buSzTx/>
                        <a:buFontTx/>
                        <a:buNone/>
                        <a:tabLst/>
                        <a:defRPr/>
                      </a:pPr>
                      <a:r>
                        <a:rPr lang="en-US" sz="1200" b="0" u="none" strike="noStrike">
                          <a:solidFill>
                            <a:srgbClr val="000000"/>
                          </a:solidFill>
                          <a:effectLst/>
                        </a:rPr>
                        <a:t>By doing this, system will either fully recalculate the depreciation for the affected Fixed Assets or gives an error details why the recalculation of depreciation can not be done.</a:t>
                      </a:r>
                    </a:p>
                    <a:p>
                      <a:pPr algn="l" fontAlgn="b"/>
                      <a:endParaRPr lang="en-US" sz="1200" b="0" i="0" u="none" strike="noStrike">
                        <a:solidFill>
                          <a:srgbClr val="000000"/>
                        </a:solidFill>
                        <a:effectLst/>
                        <a:latin typeface="Calibri" panose="020F0502020204030204" pitchFamily="34" charset="0"/>
                      </a:endParaRPr>
                    </a:p>
                  </a:txBody>
                  <a:tcPr marL="72000" marR="72000" marT="36000" marB="0" anchor="ctr"/>
                </a:tc>
                <a:extLst>
                  <a:ext uri="{0D108BD9-81ED-4DB2-BD59-A6C34878D82A}">
                    <a16:rowId xmlns:a16="http://schemas.microsoft.com/office/drawing/2014/main" val="583018577"/>
                  </a:ext>
                </a:extLst>
              </a:tr>
              <a:tr h="804092">
                <a:tc>
                  <a:txBody>
                    <a:bodyPr/>
                    <a:lstStyle/>
                    <a:p>
                      <a:pPr algn="l" fontAlgn="b"/>
                      <a:r>
                        <a:rPr lang="en-US" sz="1200" b="0" u="none" strike="noStrike">
                          <a:solidFill>
                            <a:srgbClr val="000000"/>
                          </a:solidFill>
                          <a:effectLst/>
                        </a:rPr>
                        <a:t>Asset is not fully completed </a:t>
                      </a:r>
                      <a:endParaRPr lang="en-US" sz="1200" b="0" i="0" u="none" strike="noStrike">
                        <a:solidFill>
                          <a:srgbClr val="000000"/>
                        </a:solidFill>
                        <a:effectLst/>
                        <a:latin typeface="Calibri" panose="020F0502020204030204" pitchFamily="34" charset="0"/>
                      </a:endParaRPr>
                    </a:p>
                  </a:txBody>
                  <a:tcPr marL="72000" marR="72000" marT="36000" marB="0" anchor="ctr"/>
                </a:tc>
                <a:tc>
                  <a:txBody>
                    <a:bodyPr/>
                    <a:lstStyle/>
                    <a:p>
                      <a:pPr algn="l" fontAlgn="b"/>
                      <a:r>
                        <a:rPr lang="en-US" sz="1200" b="0" u="none" strike="noStrike">
                          <a:solidFill>
                            <a:srgbClr val="000000"/>
                          </a:solidFill>
                          <a:effectLst/>
                        </a:rPr>
                        <a:t>Asset master data not completed</a:t>
                      </a:r>
                      <a:endParaRPr lang="en-US" sz="1200" b="0" i="0" u="none" strike="noStrike">
                        <a:solidFill>
                          <a:srgbClr val="000000"/>
                        </a:solidFill>
                        <a:effectLst/>
                        <a:latin typeface="Calibri" panose="020F0502020204030204" pitchFamily="34" charset="0"/>
                      </a:endParaRPr>
                    </a:p>
                  </a:txBody>
                  <a:tcPr marL="72000" marR="72000" marT="36000" marB="0" anchor="ctr"/>
                </a:tc>
                <a:tc>
                  <a:txBody>
                    <a:bodyPr/>
                    <a:lstStyle/>
                    <a:p>
                      <a:pPr algn="l" fontAlgn="b"/>
                      <a:r>
                        <a:rPr lang="en-US" sz="1200" b="0" u="none" strike="noStrike" dirty="0">
                          <a:solidFill>
                            <a:srgbClr val="000000"/>
                          </a:solidFill>
                          <a:effectLst/>
                        </a:rPr>
                        <a:t>This would be the case when mandatory fields are missing in the Asset. e.g., Cost Center, Responsible Cost Center. Contact the Market to update these fields using the T-Code “AS02”. After the change re-run the process.</a:t>
                      </a:r>
                    </a:p>
                    <a:p>
                      <a:pPr algn="l" fontAlgn="b"/>
                      <a:endParaRPr lang="en-US" sz="1200" b="0" i="0" u="none" strike="noStrike" dirty="0">
                        <a:solidFill>
                          <a:srgbClr val="000000"/>
                        </a:solidFill>
                        <a:effectLst/>
                        <a:latin typeface="Calibri" panose="020F0502020204030204" pitchFamily="34" charset="0"/>
                      </a:endParaRPr>
                    </a:p>
                  </a:txBody>
                  <a:tcPr marL="72000" marR="72000" marT="36000" marB="0" anchor="ctr"/>
                </a:tc>
                <a:extLst>
                  <a:ext uri="{0D108BD9-81ED-4DB2-BD59-A6C34878D82A}">
                    <a16:rowId xmlns:a16="http://schemas.microsoft.com/office/drawing/2014/main" val="4132295502"/>
                  </a:ext>
                </a:extLst>
              </a:tr>
              <a:tr h="698146">
                <a:tc>
                  <a:txBody>
                    <a:bodyPr/>
                    <a:lstStyle/>
                    <a:p>
                      <a:pPr algn="l" fontAlgn="b"/>
                      <a:r>
                        <a:rPr lang="en-US" sz="1200" b="0" u="none" strike="noStrike">
                          <a:solidFill>
                            <a:srgbClr val="000000"/>
                          </a:solidFill>
                          <a:effectLst/>
                        </a:rPr>
                        <a:t>Asset not yet capitalized, although an acquisition exists</a:t>
                      </a:r>
                      <a:endParaRPr lang="en-US" sz="1200" b="0" i="0" u="none" strike="noStrike">
                        <a:solidFill>
                          <a:srgbClr val="000000"/>
                        </a:solidFill>
                        <a:effectLst/>
                        <a:latin typeface="Calibri" panose="020F0502020204030204" pitchFamily="34" charset="0"/>
                      </a:endParaRPr>
                    </a:p>
                  </a:txBody>
                  <a:tcPr marL="72000" marR="72000" marT="36000" marB="0" anchor="ctr"/>
                </a:tc>
                <a:tc>
                  <a:txBody>
                    <a:bodyPr/>
                    <a:lstStyle/>
                    <a:p>
                      <a:pPr algn="l" fontAlgn="b"/>
                      <a:r>
                        <a:rPr lang="en-US" sz="1200" b="0" u="none" strike="noStrike">
                          <a:solidFill>
                            <a:srgbClr val="000000"/>
                          </a:solidFill>
                          <a:effectLst/>
                        </a:rPr>
                        <a:t>Asset not yet capitalized, although an acquisition exists</a:t>
                      </a:r>
                      <a:endParaRPr lang="en-US" sz="1200" b="0" i="0" u="none" strike="noStrike">
                        <a:solidFill>
                          <a:srgbClr val="000000"/>
                        </a:solidFill>
                        <a:effectLst/>
                        <a:latin typeface="Calibri" panose="020F0502020204030204" pitchFamily="34" charset="0"/>
                      </a:endParaRPr>
                    </a:p>
                  </a:txBody>
                  <a:tcPr marL="72000" marR="72000" marT="36000" marB="0" anchor="ctr"/>
                </a:tc>
                <a:tc>
                  <a:txBody>
                    <a:bodyPr/>
                    <a:lstStyle/>
                    <a:p>
                      <a:pPr algn="l" fontAlgn="b"/>
                      <a:r>
                        <a:rPr lang="en-US" sz="1200" b="0" u="none" strike="noStrike" dirty="0">
                          <a:solidFill>
                            <a:srgbClr val="000000"/>
                          </a:solidFill>
                          <a:effectLst/>
                        </a:rPr>
                        <a:t>Add first Acquisition date for Asset using the T-Code “AS02”- same case for Asset in Use and  Construction In Progress (CIP) - Add Capitalization Date</a:t>
                      </a:r>
                      <a:endParaRPr lang="en-US" sz="1200" b="0" i="0" u="none" strike="noStrike" dirty="0">
                        <a:solidFill>
                          <a:srgbClr val="000000"/>
                        </a:solidFill>
                        <a:effectLst/>
                        <a:latin typeface="Calibri" panose="020F0502020204030204" pitchFamily="34" charset="0"/>
                      </a:endParaRPr>
                    </a:p>
                  </a:txBody>
                  <a:tcPr marL="72000" marR="72000" marT="36000" marB="0" anchor="ctr"/>
                </a:tc>
                <a:extLst>
                  <a:ext uri="{0D108BD9-81ED-4DB2-BD59-A6C34878D82A}">
                    <a16:rowId xmlns:a16="http://schemas.microsoft.com/office/drawing/2014/main" val="2787535360"/>
                  </a:ext>
                </a:extLst>
              </a:tr>
            </a:tbl>
          </a:graphicData>
        </a:graphic>
      </p:graphicFrame>
      <p:sp>
        <p:nvSpPr>
          <p:cNvPr id="2" name="TextBox 1">
            <a:extLst>
              <a:ext uri="{FF2B5EF4-FFF2-40B4-BE49-F238E27FC236}">
                <a16:creationId xmlns:a16="http://schemas.microsoft.com/office/drawing/2014/main" id="{166975D7-5333-5064-5965-EE7B7402857C}"/>
              </a:ext>
            </a:extLst>
          </p:cNvPr>
          <p:cNvSpPr txBox="1"/>
          <p:nvPr/>
        </p:nvSpPr>
        <p:spPr>
          <a:xfrm>
            <a:off x="365590" y="1427303"/>
            <a:ext cx="11283853" cy="276999"/>
          </a:xfrm>
          <a:prstGeom prst="rect">
            <a:avLst/>
          </a:prstGeom>
          <a:ln/>
        </p:spPr>
        <p:style>
          <a:lnRef idx="0">
            <a:schemeClr val="accent3"/>
          </a:lnRef>
          <a:fillRef idx="3">
            <a:schemeClr val="accent3"/>
          </a:fillRef>
          <a:effectRef idx="3">
            <a:schemeClr val="accent3"/>
          </a:effectRef>
          <a:fontRef idx="minor">
            <a:schemeClr val="lt1"/>
          </a:fontRef>
        </p:style>
        <p:txBody>
          <a:bodyPr wrap="square">
            <a:spAutoFit/>
          </a:bodyPr>
          <a:lstStyle>
            <a:defPPr>
              <a:defRPr lang="en-US"/>
            </a:defPPr>
            <a:lvl1pPr>
              <a:defRPr sz="1200"/>
            </a:lvl1pPr>
          </a:lstStyle>
          <a:p>
            <a:r>
              <a:rPr lang="en-US" sz="1200" dirty="0"/>
              <a:t>Detail of the “Errors” can be checked from the “Output Logs”. GL Team needs to check the error and work as per the resolution mentioned below.</a:t>
            </a:r>
          </a:p>
        </p:txBody>
      </p:sp>
    </p:spTree>
    <p:extLst>
      <p:ext uri="{BB962C8B-B14F-4D97-AF65-F5344CB8AC3E}">
        <p14:creationId xmlns:p14="http://schemas.microsoft.com/office/powerpoint/2010/main" val="13357170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25613"/>
            <a:ext cx="12192000" cy="4902408"/>
          </a:xfrm>
          <a:prstGeom prst="rect">
            <a:avLst/>
          </a:prstGeom>
        </p:spPr>
      </p:pic>
      <p:sp>
        <p:nvSpPr>
          <p:cNvPr id="38" name="Rectangle 37"/>
          <p:cNvSpPr/>
          <p:nvPr/>
        </p:nvSpPr>
        <p:spPr>
          <a:xfrm>
            <a:off x="0" y="1321093"/>
            <a:ext cx="12192000" cy="4902409"/>
          </a:xfrm>
          <a:prstGeom prst="rect">
            <a:avLst/>
          </a:prstGeom>
          <a:gradFill flip="none" rotWithShape="1">
            <a:gsLst>
              <a:gs pos="0">
                <a:schemeClr val="accent6"/>
              </a:gs>
              <a:gs pos="100000">
                <a:schemeClr val="accent1">
                  <a:lumMod val="20000"/>
                  <a:lumOff val="80000"/>
                  <a:alpha val="41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FFFFFF"/>
              </a:solidFill>
              <a:latin typeface="Arial" panose="020B0604020202020204"/>
            </a:endParaRP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Title 33"/>
          <p:cNvSpPr>
            <a:spLocks noGrp="1"/>
          </p:cNvSpPr>
          <p:nvPr>
            <p:ph type="title"/>
          </p:nvPr>
        </p:nvSpPr>
        <p:spPr/>
        <p:txBody>
          <a:bodyPr/>
          <a:lstStyle/>
          <a:p>
            <a:pPr>
              <a:spcAft>
                <a:spcPts val="1000"/>
              </a:spcAft>
            </a:pPr>
            <a:r>
              <a:rPr lang="en-GB" dirty="0"/>
              <a:t>Period End Closing Execution (GBS/JTBC) </a:t>
            </a:r>
            <a:endParaRPr lang="en-GB" dirty="0">
              <a:solidFill>
                <a:srgbClr val="000000"/>
              </a:solidFill>
              <a:latin typeface="Arial" charset="0"/>
              <a:cs typeface="Arial" charset="0"/>
            </a:endParaRPr>
          </a:p>
        </p:txBody>
      </p:sp>
      <p:sp>
        <p:nvSpPr>
          <p:cNvPr id="40" name="Rounded Rectangle 39"/>
          <p:cNvSpPr/>
          <p:nvPr/>
        </p:nvSpPr>
        <p:spPr>
          <a:xfrm>
            <a:off x="164492" y="3524970"/>
            <a:ext cx="3525625"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defRPr/>
            </a:pPr>
            <a:r>
              <a:rPr lang="en-GB" sz="1400" b="1">
                <a:solidFill>
                  <a:srgbClr val="000000"/>
                </a:solidFill>
                <a:latin typeface="Arial" charset="0"/>
                <a:cs typeface="Arial" charset="0"/>
              </a:rPr>
              <a:t>Year End Specific Closing Activities</a:t>
            </a:r>
          </a:p>
        </p:txBody>
      </p:sp>
      <p:sp>
        <p:nvSpPr>
          <p:cNvPr id="32" name="Rounded Rectangle 39">
            <a:extLst>
              <a:ext uri="{FF2B5EF4-FFF2-40B4-BE49-F238E27FC236}">
                <a16:creationId xmlns:a16="http://schemas.microsoft.com/office/drawing/2014/main" id="{95943B57-958A-4B14-9959-D27D9C2163B5}"/>
              </a:ext>
            </a:extLst>
          </p:cNvPr>
          <p:cNvSpPr/>
          <p:nvPr/>
        </p:nvSpPr>
        <p:spPr>
          <a:xfrm>
            <a:off x="5124506" y="5025947"/>
            <a:ext cx="4593074"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US" sz="1400" b="1" dirty="0">
                <a:solidFill>
                  <a:srgbClr val="000000"/>
                </a:solidFill>
                <a:latin typeface="Arial" charset="0"/>
                <a:cs typeface="Arial" charset="0"/>
              </a:rPr>
              <a:t>G/L Balance Carry Forward</a:t>
            </a:r>
          </a:p>
        </p:txBody>
      </p:sp>
      <p:sp>
        <p:nvSpPr>
          <p:cNvPr id="33" name="Rounded Rectangle 39">
            <a:extLst>
              <a:ext uri="{FF2B5EF4-FFF2-40B4-BE49-F238E27FC236}">
                <a16:creationId xmlns:a16="http://schemas.microsoft.com/office/drawing/2014/main" id="{72B7565A-673C-4ABF-AB86-333F67803ECD}"/>
              </a:ext>
            </a:extLst>
          </p:cNvPr>
          <p:cNvSpPr/>
          <p:nvPr/>
        </p:nvSpPr>
        <p:spPr>
          <a:xfrm>
            <a:off x="5124506" y="2654953"/>
            <a:ext cx="4593074"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r>
              <a:rPr lang="en-US" sz="1400" b="1">
                <a:solidFill>
                  <a:srgbClr val="FFFFFF"/>
                </a:solidFill>
                <a:cs typeface="Arial"/>
              </a:rPr>
              <a:t>Balance Carry Forward for Receivables/Payables</a:t>
            </a:r>
          </a:p>
        </p:txBody>
      </p:sp>
      <p:cxnSp>
        <p:nvCxnSpPr>
          <p:cNvPr id="53" name="Elbow Connector 4">
            <a:extLst>
              <a:ext uri="{FF2B5EF4-FFF2-40B4-BE49-F238E27FC236}">
                <a16:creationId xmlns:a16="http://schemas.microsoft.com/office/drawing/2014/main" id="{213A4D26-F0F8-4F27-B89A-429D9EA6A4EC}"/>
              </a:ext>
            </a:extLst>
          </p:cNvPr>
          <p:cNvCxnSpPr>
            <a:cxnSpLocks/>
            <a:stCxn id="40" idx="3"/>
            <a:endCxn id="33" idx="1"/>
          </p:cNvCxnSpPr>
          <p:nvPr/>
        </p:nvCxnSpPr>
        <p:spPr>
          <a:xfrm flipV="1">
            <a:off x="3690117" y="2906800"/>
            <a:ext cx="1434389" cy="870017"/>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15" name="Rounded Rectangle 39">
            <a:extLst>
              <a:ext uri="{FF2B5EF4-FFF2-40B4-BE49-F238E27FC236}">
                <a16:creationId xmlns:a16="http://schemas.microsoft.com/office/drawing/2014/main" id="{94A33D2A-CF2C-4FBA-BC57-8CA71CBA9B2B}"/>
              </a:ext>
            </a:extLst>
          </p:cNvPr>
          <p:cNvSpPr/>
          <p:nvPr/>
        </p:nvSpPr>
        <p:spPr>
          <a:xfrm>
            <a:off x="5124506" y="3840450"/>
            <a:ext cx="4593074"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r>
              <a:rPr lang="en-GB" sz="1400" b="1" dirty="0">
                <a:solidFill>
                  <a:srgbClr val="FFFFFF"/>
                </a:solidFill>
                <a:cs typeface="Arial"/>
              </a:rPr>
              <a:t>Asset Accounting Fiscal Year Close</a:t>
            </a:r>
            <a:endParaRPr lang="en-US" sz="1400" b="1" dirty="0">
              <a:solidFill>
                <a:srgbClr val="FFFFFF"/>
              </a:solidFill>
              <a:cs typeface="Arial"/>
            </a:endParaRPr>
          </a:p>
        </p:txBody>
      </p:sp>
      <p:cxnSp>
        <p:nvCxnSpPr>
          <p:cNvPr id="7" name="Elbow Connector 4">
            <a:extLst>
              <a:ext uri="{FF2B5EF4-FFF2-40B4-BE49-F238E27FC236}">
                <a16:creationId xmlns:a16="http://schemas.microsoft.com/office/drawing/2014/main" id="{139785CE-FF9A-98D2-2B6A-CC29B9DB8C7A}"/>
              </a:ext>
            </a:extLst>
          </p:cNvPr>
          <p:cNvCxnSpPr>
            <a:cxnSpLocks/>
            <a:stCxn id="40" idx="3"/>
            <a:endCxn id="15" idx="1"/>
          </p:cNvCxnSpPr>
          <p:nvPr/>
        </p:nvCxnSpPr>
        <p:spPr>
          <a:xfrm>
            <a:off x="3690117" y="3776817"/>
            <a:ext cx="1434389" cy="315480"/>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12" name="Elbow Connector 4">
            <a:extLst>
              <a:ext uri="{FF2B5EF4-FFF2-40B4-BE49-F238E27FC236}">
                <a16:creationId xmlns:a16="http://schemas.microsoft.com/office/drawing/2014/main" id="{D85446C0-4C49-94B5-FBE0-B2BE6F4036B7}"/>
              </a:ext>
            </a:extLst>
          </p:cNvPr>
          <p:cNvCxnSpPr>
            <a:cxnSpLocks/>
            <a:stCxn id="40" idx="3"/>
            <a:endCxn id="32" idx="1"/>
          </p:cNvCxnSpPr>
          <p:nvPr/>
        </p:nvCxnSpPr>
        <p:spPr>
          <a:xfrm>
            <a:off x="3690117" y="3776817"/>
            <a:ext cx="1434389" cy="1500977"/>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16155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5547867-9629-480E-90AD-452DEFCF18F3}"/>
              </a:ext>
            </a:extLst>
          </p:cNvPr>
          <p:cNvPicPr>
            <a:picLocks noChangeAspect="1"/>
          </p:cNvPicPr>
          <p:nvPr/>
        </p:nvPicPr>
        <p:blipFill>
          <a:blip r:embed="rId2"/>
          <a:stretch>
            <a:fillRect/>
          </a:stretch>
        </p:blipFill>
        <p:spPr>
          <a:xfrm>
            <a:off x="307431" y="1330810"/>
            <a:ext cx="7641703" cy="3314629"/>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1C6893A8-0718-43C5-9F01-D4C2C6441A1A}"/>
              </a:ext>
            </a:extLst>
          </p:cNvPr>
          <p:cNvSpPr>
            <a:spLocks noGrp="1"/>
          </p:cNvSpPr>
          <p:nvPr>
            <p:ph type="title"/>
          </p:nvPr>
        </p:nvSpPr>
        <p:spPr/>
        <p:txBody>
          <a:bodyPr/>
          <a:lstStyle/>
          <a:p>
            <a:r>
              <a:rPr lang="en-GB"/>
              <a:t>G/L Balance Carry Forward: Execution (1/2)</a:t>
            </a:r>
          </a:p>
        </p:txBody>
      </p:sp>
      <p:sp>
        <p:nvSpPr>
          <p:cNvPr id="5" name="Slide Number Placeholder 4">
            <a:extLst>
              <a:ext uri="{FF2B5EF4-FFF2-40B4-BE49-F238E27FC236}">
                <a16:creationId xmlns:a16="http://schemas.microsoft.com/office/drawing/2014/main" id="{86C28B6E-4826-4046-B675-424DC168604A}"/>
              </a:ext>
            </a:extLst>
          </p:cNvPr>
          <p:cNvSpPr>
            <a:spLocks noGrp="1"/>
          </p:cNvSpPr>
          <p:nvPr>
            <p:ph type="sldNum" sz="quarter" idx="12"/>
          </p:nvPr>
        </p:nvSpPr>
        <p:spPr/>
        <p:txBody>
          <a:bodyPr/>
          <a:lstStyle/>
          <a:p>
            <a:fld id="{F4C94289-3309-4C35-850A-56FD49B3E346}" type="slidenum">
              <a:rPr lang="en-GB" smtClean="0"/>
              <a:t>10</a:t>
            </a:fld>
            <a:endParaRPr lang="en-GB"/>
          </a:p>
        </p:txBody>
      </p:sp>
      <p:sp>
        <p:nvSpPr>
          <p:cNvPr id="7" name="Rectangle: Rounded Corners 6">
            <a:extLst>
              <a:ext uri="{FF2B5EF4-FFF2-40B4-BE49-F238E27FC236}">
                <a16:creationId xmlns:a16="http://schemas.microsoft.com/office/drawing/2014/main" id="{782C1532-401C-4774-8AAB-B2A87F70569F}"/>
              </a:ext>
            </a:extLst>
          </p:cNvPr>
          <p:cNvSpPr/>
          <p:nvPr/>
        </p:nvSpPr>
        <p:spPr>
          <a:xfrm>
            <a:off x="307431" y="1340883"/>
            <a:ext cx="1570733" cy="226101"/>
          </a:xfrm>
          <a:prstGeom prst="roundRect">
            <a:avLst/>
          </a:prstGeom>
          <a:solidFill>
            <a:schemeClr val="bg1"/>
          </a:solid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FCLOCO: FCC Task List</a:t>
            </a:r>
          </a:p>
        </p:txBody>
      </p:sp>
      <p:sp>
        <p:nvSpPr>
          <p:cNvPr id="8" name="Rectangle: Rounded Corners 7">
            <a:extLst>
              <a:ext uri="{FF2B5EF4-FFF2-40B4-BE49-F238E27FC236}">
                <a16:creationId xmlns:a16="http://schemas.microsoft.com/office/drawing/2014/main" id="{ABE0E844-7B44-47C0-B8A8-A2A48689F44B}"/>
              </a:ext>
            </a:extLst>
          </p:cNvPr>
          <p:cNvSpPr/>
          <p:nvPr/>
        </p:nvSpPr>
        <p:spPr>
          <a:xfrm>
            <a:off x="3446455" y="2398670"/>
            <a:ext cx="4502680" cy="481421"/>
          </a:xfrm>
          <a:prstGeom prst="roundRect">
            <a:avLst>
              <a:gd name="adj" fmla="val 426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9" name="Rectangle: Rounded Corners 8">
            <a:extLst>
              <a:ext uri="{FF2B5EF4-FFF2-40B4-BE49-F238E27FC236}">
                <a16:creationId xmlns:a16="http://schemas.microsoft.com/office/drawing/2014/main" id="{DC282D3D-2A51-40A6-B59E-449029CDF71F}"/>
              </a:ext>
            </a:extLst>
          </p:cNvPr>
          <p:cNvSpPr/>
          <p:nvPr/>
        </p:nvSpPr>
        <p:spPr>
          <a:xfrm>
            <a:off x="3446455" y="2923660"/>
            <a:ext cx="4502680" cy="559497"/>
          </a:xfrm>
          <a:prstGeom prst="roundRect">
            <a:avLst>
              <a:gd name="adj" fmla="val 426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12" name="Rectangle 11">
            <a:extLst>
              <a:ext uri="{FF2B5EF4-FFF2-40B4-BE49-F238E27FC236}">
                <a16:creationId xmlns:a16="http://schemas.microsoft.com/office/drawing/2014/main" id="{1B596583-DECF-40D4-BFAA-9B6C763B1DA1}"/>
              </a:ext>
            </a:extLst>
          </p:cNvPr>
          <p:cNvSpPr/>
          <p:nvPr/>
        </p:nvSpPr>
        <p:spPr>
          <a:xfrm>
            <a:off x="307431" y="4781658"/>
            <a:ext cx="11685647" cy="1323439"/>
          </a:xfrm>
          <a:prstGeom prst="rect">
            <a:avLst/>
          </a:prstGeom>
        </p:spPr>
        <p:txBody>
          <a:bodyPr wrap="square">
            <a:spAutoFit/>
          </a:bodyPr>
          <a:lstStyle/>
          <a:p>
            <a:pPr marL="171450" indent="-171450">
              <a:lnSpc>
                <a:spcPts val="1200"/>
              </a:lnSpc>
              <a:spcBef>
                <a:spcPts val="600"/>
              </a:spcBef>
              <a:buFont typeface="Arial" panose="020B0604020202020204" pitchFamily="34" charset="0"/>
              <a:buChar char="•"/>
              <a:defRPr/>
            </a:pPr>
            <a:r>
              <a:rPr lang="en-GB" sz="1200" i="1">
                <a:latin typeface="Georgia" panose="02040502050405020303" pitchFamily="18" charset="0"/>
              </a:rPr>
              <a:t>In S/4 HANA. The new G/L Balance Carry Forward transaction not only replaces the ECC G/L Balance Carry Forward transaction, but also the Asset Fiscal Year Change transaction (AJRW – now obsolete in S/4 HANA).</a:t>
            </a:r>
          </a:p>
          <a:p>
            <a:pPr marL="171450" indent="-171450">
              <a:lnSpc>
                <a:spcPts val="1200"/>
              </a:lnSpc>
              <a:spcBef>
                <a:spcPts val="600"/>
              </a:spcBef>
              <a:buFont typeface="Arial" panose="020B0604020202020204" pitchFamily="34" charset="0"/>
              <a:buChar char="•"/>
              <a:defRPr/>
            </a:pPr>
            <a:r>
              <a:rPr lang="en-GB" sz="1200" i="1">
                <a:latin typeface="Georgia" panose="02040502050405020303" pitchFamily="18" charset="0"/>
              </a:rPr>
              <a:t>As a result, when a new fiscal year begins,  G/L Balance Carry Forward for all ledgers should be executed at the beginning of the fiscal year to allow Asset transactions to be posted in the new fiscal year. This is therefore scheduled on WD1 to enable the Asset posting in the new year. </a:t>
            </a:r>
          </a:p>
          <a:p>
            <a:pPr marL="171450" indent="-171450">
              <a:lnSpc>
                <a:spcPts val="1200"/>
              </a:lnSpc>
              <a:spcBef>
                <a:spcPts val="600"/>
              </a:spcBef>
              <a:buFont typeface="Arial" panose="020B0604020202020204" pitchFamily="34" charset="0"/>
              <a:buChar char="•"/>
              <a:defRPr/>
            </a:pPr>
            <a:r>
              <a:rPr lang="en-GB" sz="1200" i="1">
                <a:latin typeface="Georgia" panose="02040502050405020303" pitchFamily="18" charset="0"/>
              </a:rPr>
              <a:t>Technically the FAGLGVTR transaction only needs to be executed once for one ledger, which is able to pick up any further postings in the previous year and automatically carry them over to the new fiscal year. But as JTI finalizes closing after WD1 (WD3 for IFRS and WD14 for STAT and TAX), carry forward tasks have been scheduled again on WD14 for all ledgers. “Reset Balance </a:t>
            </a:r>
            <a:r>
              <a:rPr lang="en-GB" sz="1200" i="1" err="1">
                <a:latin typeface="Georgia" panose="02040502050405020303" pitchFamily="18" charset="0"/>
              </a:rPr>
              <a:t>Carryfoward</a:t>
            </a:r>
            <a:r>
              <a:rPr lang="en-GB" sz="1200" i="1">
                <a:latin typeface="Georgia" panose="02040502050405020303" pitchFamily="18" charset="0"/>
              </a:rPr>
              <a:t>” option is used for WD14 runs. (See explanation on the next slide)</a:t>
            </a:r>
          </a:p>
        </p:txBody>
      </p:sp>
      <p:sp>
        <p:nvSpPr>
          <p:cNvPr id="28" name="Rectangle: Rounded Corners 27">
            <a:extLst>
              <a:ext uri="{FF2B5EF4-FFF2-40B4-BE49-F238E27FC236}">
                <a16:creationId xmlns:a16="http://schemas.microsoft.com/office/drawing/2014/main" id="{9E960DF8-B864-4FD3-92F1-A68DE8D36227}"/>
              </a:ext>
            </a:extLst>
          </p:cNvPr>
          <p:cNvSpPr/>
          <p:nvPr/>
        </p:nvSpPr>
        <p:spPr>
          <a:xfrm>
            <a:off x="7344075" y="4475747"/>
            <a:ext cx="680457" cy="169692"/>
          </a:xfrm>
          <a:prstGeom prst="roundRect">
            <a:avLst>
              <a:gd name="adj" fmla="val 426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30" name="Speech Bubble: Rectangle 29">
            <a:extLst>
              <a:ext uri="{FF2B5EF4-FFF2-40B4-BE49-F238E27FC236}">
                <a16:creationId xmlns:a16="http://schemas.microsoft.com/office/drawing/2014/main" id="{9CF14FBB-9570-404F-8AEE-6114032E3F36}"/>
              </a:ext>
            </a:extLst>
          </p:cNvPr>
          <p:cNvSpPr/>
          <p:nvPr/>
        </p:nvSpPr>
        <p:spPr>
          <a:xfrm>
            <a:off x="8566484" y="1566985"/>
            <a:ext cx="2982477" cy="2157992"/>
          </a:xfrm>
          <a:prstGeom prst="wedgeRectCallout">
            <a:avLst>
              <a:gd name="adj1" fmla="val -69256"/>
              <a:gd name="adj2" fmla="val 87296"/>
            </a:avLst>
          </a:prstGeom>
          <a:solidFill>
            <a:schemeClr val="accent3"/>
          </a:solidFill>
          <a:ln/>
        </p:spPr>
        <p:style>
          <a:lnRef idx="0">
            <a:schemeClr val="accent1"/>
          </a:lnRef>
          <a:fillRef idx="3">
            <a:schemeClr val="accent1"/>
          </a:fillRef>
          <a:effectRef idx="3">
            <a:schemeClr val="accent1"/>
          </a:effectRef>
          <a:fontRef idx="minor">
            <a:schemeClr val="lt1"/>
          </a:fontRef>
        </p:style>
        <p:txBody>
          <a:bodyPr rtlCol="0" anchor="ctr"/>
          <a:lstStyle/>
          <a:p>
            <a:pPr>
              <a:lnSpc>
                <a:spcPts val="1200"/>
              </a:lnSpc>
              <a:spcBef>
                <a:spcPts val="600"/>
              </a:spcBef>
              <a:defRPr/>
            </a:pPr>
            <a:r>
              <a:rPr lang="en-US" sz="1050" i="1" dirty="0">
                <a:solidFill>
                  <a:schemeClr val="tx1"/>
                </a:solidFill>
                <a:latin typeface="Georgia" panose="02040502050405020303" pitchFamily="18" charset="0"/>
              </a:rPr>
              <a:t>The variants used in G/L Balance Carry Forward are GBS/JTBC variants containing all entities with a given GBS/JTBC, therefore the Company Code variable should be used. You should review/amend the Company Codes included before executing the transaction outside of FCC to ensure they meet your purpose of execution. The Fiscal Year should also be check and amended if needed as it uses the variable for fiscal year.</a:t>
            </a:r>
          </a:p>
        </p:txBody>
      </p:sp>
    </p:spTree>
    <p:extLst>
      <p:ext uri="{BB962C8B-B14F-4D97-AF65-F5344CB8AC3E}">
        <p14:creationId xmlns:p14="http://schemas.microsoft.com/office/powerpoint/2010/main" val="31484219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D95928B-6523-458D-849B-BE61E32C311B}"/>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307431" y="1583850"/>
            <a:ext cx="3988820" cy="2373625"/>
          </a:xfrm>
          <a:prstGeom prst="rect">
            <a:avLst/>
          </a:prstGeom>
          <a:effectLst>
            <a:outerShdw blurRad="50800" dist="38100" dir="2700000" algn="tl" rotWithShape="0">
              <a:prstClr val="black">
                <a:alpha val="40000"/>
              </a:prstClr>
            </a:outerShdw>
          </a:effectLst>
        </p:spPr>
      </p:pic>
      <p:sp>
        <p:nvSpPr>
          <p:cNvPr id="25" name="Rectangle 24">
            <a:extLst>
              <a:ext uri="{FF2B5EF4-FFF2-40B4-BE49-F238E27FC236}">
                <a16:creationId xmlns:a16="http://schemas.microsoft.com/office/drawing/2014/main" id="{A2CA198A-A2F5-41A9-8EB0-E4F9C9D1A0E9}"/>
              </a:ext>
            </a:extLst>
          </p:cNvPr>
          <p:cNvSpPr/>
          <p:nvPr/>
        </p:nvSpPr>
        <p:spPr>
          <a:xfrm>
            <a:off x="4472215" y="4894104"/>
            <a:ext cx="7588240" cy="1325729"/>
          </a:xfrm>
          <a:prstGeom prst="rect">
            <a:avLst/>
          </a:prstGeom>
          <a:solidFill>
            <a:schemeClr val="bg1"/>
          </a:solidFill>
          <a:ln w="19050">
            <a:solidFill>
              <a:schemeClr val="accent4"/>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sz="1100">
                <a:solidFill>
                  <a:schemeClr val="tx1"/>
                </a:solidFill>
                <a:latin typeface="Calibri" panose="020F0502020204030204" pitchFamily="34" charset="0"/>
                <a:cs typeface="Calibri" panose="020F0502020204030204" pitchFamily="34" charset="0"/>
              </a:rPr>
              <a:t>In S/4HANA, carry forward line items are added to ACDOCA table with unique document numbers and status once carry forward is executed. (However end users can’t display these items via FAGLB03/FAHLL03, etc.) So if you perform carry forward early in the new year but subsequently you did some adjustments in the old fiscal year, although the system will automatically adjust the “balance carryforward” without you performing the carryforward again, it also adds a large number of carry forward line items in ACDOCA to reflect your old balance adjustments. To reduce the database footprint, you can perform carryforward again with this indicator selected, which will remove the initial carryforward items and re-write them based on the updated balance carryforward. </a:t>
            </a:r>
          </a:p>
        </p:txBody>
      </p:sp>
      <p:sp>
        <p:nvSpPr>
          <p:cNvPr id="2" name="Title 1">
            <a:extLst>
              <a:ext uri="{FF2B5EF4-FFF2-40B4-BE49-F238E27FC236}">
                <a16:creationId xmlns:a16="http://schemas.microsoft.com/office/drawing/2014/main" id="{1C6893A8-0718-43C5-9F01-D4C2C6441A1A}"/>
              </a:ext>
            </a:extLst>
          </p:cNvPr>
          <p:cNvSpPr>
            <a:spLocks noGrp="1"/>
          </p:cNvSpPr>
          <p:nvPr>
            <p:ph type="title"/>
          </p:nvPr>
        </p:nvSpPr>
        <p:spPr/>
        <p:txBody>
          <a:bodyPr/>
          <a:lstStyle/>
          <a:p>
            <a:r>
              <a:rPr lang="en-GB"/>
              <a:t>G/L Balance Carry Forward: Execution (1/2)</a:t>
            </a:r>
          </a:p>
        </p:txBody>
      </p:sp>
      <p:sp>
        <p:nvSpPr>
          <p:cNvPr id="5" name="Slide Number Placeholder 4">
            <a:extLst>
              <a:ext uri="{FF2B5EF4-FFF2-40B4-BE49-F238E27FC236}">
                <a16:creationId xmlns:a16="http://schemas.microsoft.com/office/drawing/2014/main" id="{86C28B6E-4826-4046-B675-424DC168604A}"/>
              </a:ext>
            </a:extLst>
          </p:cNvPr>
          <p:cNvSpPr>
            <a:spLocks noGrp="1"/>
          </p:cNvSpPr>
          <p:nvPr>
            <p:ph type="sldNum" sz="quarter" idx="12"/>
          </p:nvPr>
        </p:nvSpPr>
        <p:spPr/>
        <p:txBody>
          <a:bodyPr/>
          <a:lstStyle/>
          <a:p>
            <a:fld id="{F4C94289-3309-4C35-850A-56FD49B3E346}" type="slidenum">
              <a:rPr lang="en-GB" smtClean="0"/>
              <a:t>11</a:t>
            </a:fld>
            <a:endParaRPr lang="en-GB"/>
          </a:p>
        </p:txBody>
      </p:sp>
      <p:sp>
        <p:nvSpPr>
          <p:cNvPr id="11" name="Rectangle: Rounded Corners 10">
            <a:extLst>
              <a:ext uri="{FF2B5EF4-FFF2-40B4-BE49-F238E27FC236}">
                <a16:creationId xmlns:a16="http://schemas.microsoft.com/office/drawing/2014/main" id="{66DF06FC-B21C-413F-A3CD-27DF19578DEC}"/>
              </a:ext>
            </a:extLst>
          </p:cNvPr>
          <p:cNvSpPr/>
          <p:nvPr/>
        </p:nvSpPr>
        <p:spPr>
          <a:xfrm>
            <a:off x="307431" y="1536514"/>
            <a:ext cx="2455020" cy="272436"/>
          </a:xfrm>
          <a:prstGeom prst="roundRect">
            <a:avLst/>
          </a:prstGeom>
          <a:solidFill>
            <a:schemeClr val="bg1"/>
          </a:solid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FAGLGVTR: G/L Balance Carry forward</a:t>
            </a:r>
          </a:p>
        </p:txBody>
      </p:sp>
      <p:sp>
        <p:nvSpPr>
          <p:cNvPr id="13" name="Rectangle: Rounded Corners 12">
            <a:extLst>
              <a:ext uri="{FF2B5EF4-FFF2-40B4-BE49-F238E27FC236}">
                <a16:creationId xmlns:a16="http://schemas.microsoft.com/office/drawing/2014/main" id="{177623ED-3DCA-4201-B1AD-5271B9EFB61E}"/>
              </a:ext>
            </a:extLst>
          </p:cNvPr>
          <p:cNvSpPr/>
          <p:nvPr/>
        </p:nvSpPr>
        <p:spPr>
          <a:xfrm>
            <a:off x="880123" y="2493892"/>
            <a:ext cx="1574317" cy="181924"/>
          </a:xfrm>
          <a:prstGeom prst="roundRect">
            <a:avLst>
              <a:gd name="adj" fmla="val 426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14" name="Rectangle: Rounded Corners 13">
            <a:extLst>
              <a:ext uri="{FF2B5EF4-FFF2-40B4-BE49-F238E27FC236}">
                <a16:creationId xmlns:a16="http://schemas.microsoft.com/office/drawing/2014/main" id="{DFFD9498-CFEE-4F90-9839-890AAEFEC689}"/>
              </a:ext>
            </a:extLst>
          </p:cNvPr>
          <p:cNvSpPr/>
          <p:nvPr/>
        </p:nvSpPr>
        <p:spPr>
          <a:xfrm>
            <a:off x="897971" y="2757140"/>
            <a:ext cx="1556469" cy="120656"/>
          </a:xfrm>
          <a:prstGeom prst="roundRect">
            <a:avLst>
              <a:gd name="adj" fmla="val 4268"/>
            </a:avLst>
          </a:prstGeom>
          <a:noFill/>
          <a:ln w="19050">
            <a:solidFill>
              <a:schemeClr val="accent6"/>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15" name="Rectangle: Rounded Corners 14">
            <a:extLst>
              <a:ext uri="{FF2B5EF4-FFF2-40B4-BE49-F238E27FC236}">
                <a16:creationId xmlns:a16="http://schemas.microsoft.com/office/drawing/2014/main" id="{A560DD5C-1602-47B8-A1C0-4746D568E3CE}"/>
              </a:ext>
            </a:extLst>
          </p:cNvPr>
          <p:cNvSpPr/>
          <p:nvPr/>
        </p:nvSpPr>
        <p:spPr>
          <a:xfrm>
            <a:off x="897972" y="2937689"/>
            <a:ext cx="1556469" cy="120656"/>
          </a:xfrm>
          <a:prstGeom prst="roundRect">
            <a:avLst>
              <a:gd name="adj" fmla="val 4268"/>
            </a:avLst>
          </a:prstGeom>
          <a:noFill/>
          <a:ln w="19050">
            <a:solidFill>
              <a:schemeClr val="accent5"/>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16" name="Rectangle: Rounded Corners 15">
            <a:extLst>
              <a:ext uri="{FF2B5EF4-FFF2-40B4-BE49-F238E27FC236}">
                <a16:creationId xmlns:a16="http://schemas.microsoft.com/office/drawing/2014/main" id="{680E517B-12E4-482E-9D3F-9279F59E4AE3}"/>
              </a:ext>
            </a:extLst>
          </p:cNvPr>
          <p:cNvSpPr/>
          <p:nvPr/>
        </p:nvSpPr>
        <p:spPr>
          <a:xfrm>
            <a:off x="878722" y="3494154"/>
            <a:ext cx="1556469" cy="120656"/>
          </a:xfrm>
          <a:prstGeom prst="roundRect">
            <a:avLst>
              <a:gd name="adj" fmla="val 4268"/>
            </a:avLst>
          </a:prstGeom>
          <a:noFill/>
          <a:ln w="19050">
            <a:solidFill>
              <a:schemeClr val="accent3"/>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17" name="Rectangle: Rounded Corners 16">
            <a:extLst>
              <a:ext uri="{FF2B5EF4-FFF2-40B4-BE49-F238E27FC236}">
                <a16:creationId xmlns:a16="http://schemas.microsoft.com/office/drawing/2014/main" id="{5A28586B-D973-40FD-B2AE-A309B935A53A}"/>
              </a:ext>
            </a:extLst>
          </p:cNvPr>
          <p:cNvSpPr/>
          <p:nvPr/>
        </p:nvSpPr>
        <p:spPr>
          <a:xfrm>
            <a:off x="878723" y="3696134"/>
            <a:ext cx="1556469" cy="120656"/>
          </a:xfrm>
          <a:prstGeom prst="roundRect">
            <a:avLst>
              <a:gd name="adj" fmla="val 4268"/>
            </a:avLst>
          </a:prstGeom>
          <a:noFill/>
          <a:ln w="19050">
            <a:solidFill>
              <a:schemeClr val="accent4"/>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1" name="Rectangle 20">
            <a:extLst>
              <a:ext uri="{FF2B5EF4-FFF2-40B4-BE49-F238E27FC236}">
                <a16:creationId xmlns:a16="http://schemas.microsoft.com/office/drawing/2014/main" id="{306824F4-36F5-4E69-BD14-9277D4EEA56F}"/>
              </a:ext>
            </a:extLst>
          </p:cNvPr>
          <p:cNvSpPr/>
          <p:nvPr/>
        </p:nvSpPr>
        <p:spPr>
          <a:xfrm>
            <a:off x="4472215" y="1727097"/>
            <a:ext cx="7588240" cy="395752"/>
          </a:xfrm>
          <a:prstGeom prst="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sz="1100">
                <a:solidFill>
                  <a:schemeClr val="tx1"/>
                </a:solidFill>
                <a:latin typeface="Calibri" panose="020F0502020204030204" pitchFamily="34" charset="0"/>
                <a:cs typeface="Calibri" panose="020F0502020204030204" pitchFamily="34" charset="0"/>
              </a:rPr>
              <a:t>The G/L Balance Carryforward transaction is to be done for each core ledger at a time. No carry forward is scheduled for Extension Ledgers S1 and T1 because key reports for these extension ledgers (CBCR and TIR), do not rely on balance carried forward.</a:t>
            </a:r>
          </a:p>
        </p:txBody>
      </p:sp>
      <p:sp>
        <p:nvSpPr>
          <p:cNvPr id="22" name="Rectangle 21">
            <a:extLst>
              <a:ext uri="{FF2B5EF4-FFF2-40B4-BE49-F238E27FC236}">
                <a16:creationId xmlns:a16="http://schemas.microsoft.com/office/drawing/2014/main" id="{003B9845-2A0A-49B8-8A75-DA57CE07417A}"/>
              </a:ext>
            </a:extLst>
          </p:cNvPr>
          <p:cNvSpPr/>
          <p:nvPr/>
        </p:nvSpPr>
        <p:spPr>
          <a:xfrm>
            <a:off x="4472215" y="2340739"/>
            <a:ext cx="7588240" cy="532059"/>
          </a:xfrm>
          <a:prstGeom prst="rect">
            <a:avLst/>
          </a:prstGeom>
          <a:noFill/>
          <a:ln w="19050">
            <a:solidFill>
              <a:schemeClr val="accent6"/>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sz="1100" dirty="0">
                <a:solidFill>
                  <a:schemeClr val="tx1"/>
                </a:solidFill>
                <a:latin typeface="Calibri" panose="020F0502020204030204" pitchFamily="34" charset="0"/>
                <a:cs typeface="Calibri" panose="020F0502020204030204" pitchFamily="34" charset="0"/>
              </a:rPr>
              <a:t>In FCC, all entities belong to one GBS/JTBC are included in one variant for the respective GBS/JTBC to execute the carryforward. If you are doing any extra runs outside of FCC, you may use the GBS/JTBC variant but include only the company code for which you need to run the carryforward.</a:t>
            </a:r>
          </a:p>
        </p:txBody>
      </p:sp>
      <p:sp>
        <p:nvSpPr>
          <p:cNvPr id="23" name="Rectangle 22">
            <a:extLst>
              <a:ext uri="{FF2B5EF4-FFF2-40B4-BE49-F238E27FC236}">
                <a16:creationId xmlns:a16="http://schemas.microsoft.com/office/drawing/2014/main" id="{4EF08808-ED77-44D2-84DD-5315138E4671}"/>
              </a:ext>
            </a:extLst>
          </p:cNvPr>
          <p:cNvSpPr/>
          <p:nvPr/>
        </p:nvSpPr>
        <p:spPr>
          <a:xfrm>
            <a:off x="4472215" y="3315558"/>
            <a:ext cx="7588240" cy="216866"/>
          </a:xfrm>
          <a:prstGeom prst="rect">
            <a:avLst/>
          </a:prstGeom>
          <a:noFill/>
          <a:ln w="19050">
            <a:solidFill>
              <a:schemeClr val="accent5"/>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sz="1100">
                <a:solidFill>
                  <a:schemeClr val="tx1"/>
                </a:solidFill>
                <a:latin typeface="Calibri" panose="020F0502020204030204" pitchFamily="34" charset="0"/>
                <a:cs typeface="Calibri" panose="020F0502020204030204" pitchFamily="34" charset="0"/>
              </a:rPr>
              <a:t>This is the New Fiscal Year to which you want the balances to be carried over.</a:t>
            </a:r>
          </a:p>
        </p:txBody>
      </p:sp>
      <p:sp>
        <p:nvSpPr>
          <p:cNvPr id="24" name="Rectangle 23">
            <a:extLst>
              <a:ext uri="{FF2B5EF4-FFF2-40B4-BE49-F238E27FC236}">
                <a16:creationId xmlns:a16="http://schemas.microsoft.com/office/drawing/2014/main" id="{0245C265-60D7-47F5-A74B-5A89CA124FD1}"/>
              </a:ext>
            </a:extLst>
          </p:cNvPr>
          <p:cNvSpPr/>
          <p:nvPr/>
        </p:nvSpPr>
        <p:spPr>
          <a:xfrm>
            <a:off x="4472215" y="3986992"/>
            <a:ext cx="7588240" cy="613886"/>
          </a:xfrm>
          <a:prstGeom prst="rect">
            <a:avLst/>
          </a:prstGeom>
          <a:noFill/>
          <a:ln w="19050">
            <a:solidFill>
              <a:schemeClr val="accent3"/>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sz="1100">
                <a:solidFill>
                  <a:schemeClr val="tx1"/>
                </a:solidFill>
                <a:latin typeface="Calibri" panose="020F0502020204030204" pitchFamily="34" charset="0"/>
                <a:cs typeface="Calibri" panose="020F0502020204030204" pitchFamily="34" charset="0"/>
              </a:rPr>
              <a:t>Test Run is not selected in FCC variant but you should do a Test Run first if you execute carry forward outside of FCC. This will allow  you to see any errors which should be corrected before an Update Run. Errors can include for example some P&amp;L accounts are not assigned to a P&amp;L Statement Account type.</a:t>
            </a:r>
          </a:p>
        </p:txBody>
      </p:sp>
      <p:cxnSp>
        <p:nvCxnSpPr>
          <p:cNvPr id="27" name="Connector: Elbow 26">
            <a:extLst>
              <a:ext uri="{FF2B5EF4-FFF2-40B4-BE49-F238E27FC236}">
                <a16:creationId xmlns:a16="http://schemas.microsoft.com/office/drawing/2014/main" id="{DB8948B8-C9D4-499C-9F91-E27135DBBAE1}"/>
              </a:ext>
            </a:extLst>
          </p:cNvPr>
          <p:cNvCxnSpPr>
            <a:cxnSpLocks/>
            <a:stCxn id="13" idx="3"/>
            <a:endCxn id="21" idx="1"/>
          </p:cNvCxnSpPr>
          <p:nvPr/>
        </p:nvCxnSpPr>
        <p:spPr>
          <a:xfrm flipV="1">
            <a:off x="2454440" y="1924973"/>
            <a:ext cx="2017775" cy="659881"/>
          </a:xfrm>
          <a:prstGeom prst="bentConnector3">
            <a:avLst>
              <a:gd name="adj1" fmla="val 38074"/>
            </a:avLst>
          </a:prstGeom>
          <a:ln w="9525">
            <a:solidFill>
              <a:srgbClr val="FF0000"/>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9" name="Connector: Elbow 28">
            <a:extLst>
              <a:ext uri="{FF2B5EF4-FFF2-40B4-BE49-F238E27FC236}">
                <a16:creationId xmlns:a16="http://schemas.microsoft.com/office/drawing/2014/main" id="{04C29EC7-05B1-4C74-9E15-D0CE2223D53D}"/>
              </a:ext>
            </a:extLst>
          </p:cNvPr>
          <p:cNvCxnSpPr>
            <a:stCxn id="14" idx="3"/>
            <a:endCxn id="22" idx="1"/>
          </p:cNvCxnSpPr>
          <p:nvPr/>
        </p:nvCxnSpPr>
        <p:spPr>
          <a:xfrm flipV="1">
            <a:off x="2454440" y="2606769"/>
            <a:ext cx="2017775" cy="210699"/>
          </a:xfrm>
          <a:prstGeom prst="bentConnector3">
            <a:avLst>
              <a:gd name="adj1" fmla="val 50000"/>
            </a:avLst>
          </a:prstGeom>
          <a:ln w="9525">
            <a:solidFill>
              <a:schemeClr val="accent6"/>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32" name="Connector: Elbow 31">
            <a:extLst>
              <a:ext uri="{FF2B5EF4-FFF2-40B4-BE49-F238E27FC236}">
                <a16:creationId xmlns:a16="http://schemas.microsoft.com/office/drawing/2014/main" id="{28A8027C-B6DB-486F-9A8A-0D6C1B9338A6}"/>
              </a:ext>
            </a:extLst>
          </p:cNvPr>
          <p:cNvCxnSpPr>
            <a:stCxn id="15" idx="3"/>
            <a:endCxn id="23" idx="1"/>
          </p:cNvCxnSpPr>
          <p:nvPr/>
        </p:nvCxnSpPr>
        <p:spPr>
          <a:xfrm>
            <a:off x="2454441" y="2998017"/>
            <a:ext cx="2017774" cy="425974"/>
          </a:xfrm>
          <a:prstGeom prst="bentConnector3">
            <a:avLst>
              <a:gd name="adj1" fmla="val 50000"/>
            </a:avLst>
          </a:prstGeom>
          <a:ln w="9525">
            <a:solidFill>
              <a:schemeClr val="accent5"/>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35" name="Connector: Elbow 34">
            <a:extLst>
              <a:ext uri="{FF2B5EF4-FFF2-40B4-BE49-F238E27FC236}">
                <a16:creationId xmlns:a16="http://schemas.microsoft.com/office/drawing/2014/main" id="{8BAC1DD9-EEAF-4A7E-AC94-8769BD060DFF}"/>
              </a:ext>
            </a:extLst>
          </p:cNvPr>
          <p:cNvCxnSpPr>
            <a:stCxn id="16" idx="3"/>
            <a:endCxn id="24" idx="1"/>
          </p:cNvCxnSpPr>
          <p:nvPr/>
        </p:nvCxnSpPr>
        <p:spPr>
          <a:xfrm>
            <a:off x="2435191" y="3554482"/>
            <a:ext cx="2037024" cy="739453"/>
          </a:xfrm>
          <a:prstGeom prst="bentConnector3">
            <a:avLst>
              <a:gd name="adj1" fmla="val 50000"/>
            </a:avLst>
          </a:prstGeom>
          <a:ln w="9525">
            <a:solidFill>
              <a:schemeClr val="accent3"/>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38" name="Connector: Elbow 37">
            <a:extLst>
              <a:ext uri="{FF2B5EF4-FFF2-40B4-BE49-F238E27FC236}">
                <a16:creationId xmlns:a16="http://schemas.microsoft.com/office/drawing/2014/main" id="{DB0D57E1-D3CA-4A08-8FFF-77057A232610}"/>
              </a:ext>
            </a:extLst>
          </p:cNvPr>
          <p:cNvCxnSpPr>
            <a:cxnSpLocks/>
            <a:stCxn id="17" idx="3"/>
            <a:endCxn id="25" idx="1"/>
          </p:cNvCxnSpPr>
          <p:nvPr/>
        </p:nvCxnSpPr>
        <p:spPr>
          <a:xfrm>
            <a:off x="2435192" y="3756462"/>
            <a:ext cx="2037023" cy="1800507"/>
          </a:xfrm>
          <a:prstGeom prst="bentConnector3">
            <a:avLst>
              <a:gd name="adj1" fmla="val 12199"/>
            </a:avLst>
          </a:prstGeom>
          <a:ln w="9525">
            <a:solidFill>
              <a:schemeClr val="accent4"/>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76296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E27525B-B03E-41DE-A6CB-80029C38E066}"/>
              </a:ext>
            </a:extLst>
          </p:cNvPr>
          <p:cNvPicPr>
            <a:picLocks noChangeAspect="1"/>
          </p:cNvPicPr>
          <p:nvPr/>
        </p:nvPicPr>
        <p:blipFill>
          <a:blip r:embed="rId2"/>
          <a:stretch>
            <a:fillRect/>
          </a:stretch>
        </p:blipFill>
        <p:spPr>
          <a:xfrm>
            <a:off x="278542" y="1636342"/>
            <a:ext cx="4466457" cy="1431280"/>
          </a:xfrm>
          <a:prstGeom prst="rect">
            <a:avLst/>
          </a:prstGeom>
          <a:effectLst>
            <a:outerShdw blurRad="50800" dist="38100" dir="2700000" algn="tl" rotWithShape="0">
              <a:prstClr val="black">
                <a:alpha val="40000"/>
              </a:prstClr>
            </a:outerShdw>
          </a:effectLst>
        </p:spPr>
      </p:pic>
      <p:sp>
        <p:nvSpPr>
          <p:cNvPr id="2" name="Title 1">
            <a:extLst>
              <a:ext uri="{FF2B5EF4-FFF2-40B4-BE49-F238E27FC236}">
                <a16:creationId xmlns:a16="http://schemas.microsoft.com/office/drawing/2014/main" id="{1C6893A8-0718-43C5-9F01-D4C2C6441A1A}"/>
              </a:ext>
            </a:extLst>
          </p:cNvPr>
          <p:cNvSpPr>
            <a:spLocks noGrp="1"/>
          </p:cNvSpPr>
          <p:nvPr>
            <p:ph type="title"/>
          </p:nvPr>
        </p:nvSpPr>
        <p:spPr/>
        <p:txBody>
          <a:bodyPr/>
          <a:lstStyle/>
          <a:p>
            <a:r>
              <a:rPr lang="en-GB"/>
              <a:t>G/L Balance Carry Forward: Execution (2/2)</a:t>
            </a:r>
          </a:p>
        </p:txBody>
      </p:sp>
      <p:sp>
        <p:nvSpPr>
          <p:cNvPr id="5" name="Slide Number Placeholder 4">
            <a:extLst>
              <a:ext uri="{FF2B5EF4-FFF2-40B4-BE49-F238E27FC236}">
                <a16:creationId xmlns:a16="http://schemas.microsoft.com/office/drawing/2014/main" id="{86C28B6E-4826-4046-B675-424DC168604A}"/>
              </a:ext>
            </a:extLst>
          </p:cNvPr>
          <p:cNvSpPr>
            <a:spLocks noGrp="1"/>
          </p:cNvSpPr>
          <p:nvPr>
            <p:ph type="sldNum" sz="quarter" idx="12"/>
          </p:nvPr>
        </p:nvSpPr>
        <p:spPr/>
        <p:txBody>
          <a:bodyPr/>
          <a:lstStyle/>
          <a:p>
            <a:fld id="{F4C94289-3309-4C35-850A-56FD49B3E346}" type="slidenum">
              <a:rPr lang="en-GB" smtClean="0"/>
              <a:t>12</a:t>
            </a:fld>
            <a:endParaRPr lang="en-GB"/>
          </a:p>
        </p:txBody>
      </p:sp>
      <p:sp>
        <p:nvSpPr>
          <p:cNvPr id="7" name="Rectangle: Rounded Corners 6">
            <a:extLst>
              <a:ext uri="{FF2B5EF4-FFF2-40B4-BE49-F238E27FC236}">
                <a16:creationId xmlns:a16="http://schemas.microsoft.com/office/drawing/2014/main" id="{30E9E4AE-0248-4EB5-A79D-336CD88313B0}"/>
              </a:ext>
            </a:extLst>
          </p:cNvPr>
          <p:cNvSpPr/>
          <p:nvPr/>
        </p:nvSpPr>
        <p:spPr>
          <a:xfrm>
            <a:off x="283766" y="1363906"/>
            <a:ext cx="2455020" cy="272436"/>
          </a:xfrm>
          <a:prstGeom prst="roundRect">
            <a:avLst/>
          </a:prstGeom>
          <a:solidFill>
            <a:schemeClr val="bg1"/>
          </a:solid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FAGLGVTR: G/L Balance Carry forward</a:t>
            </a:r>
          </a:p>
        </p:txBody>
      </p:sp>
      <p:sp>
        <p:nvSpPr>
          <p:cNvPr id="9" name="Rectangle: Rounded Corners 8">
            <a:extLst>
              <a:ext uri="{FF2B5EF4-FFF2-40B4-BE49-F238E27FC236}">
                <a16:creationId xmlns:a16="http://schemas.microsoft.com/office/drawing/2014/main" id="{AF94211B-1B64-4692-AC76-7FED363A8D03}"/>
              </a:ext>
            </a:extLst>
          </p:cNvPr>
          <p:cNvSpPr/>
          <p:nvPr/>
        </p:nvSpPr>
        <p:spPr>
          <a:xfrm>
            <a:off x="1282981" y="1883976"/>
            <a:ext cx="1574317" cy="181924"/>
          </a:xfrm>
          <a:prstGeom prst="roundRect">
            <a:avLst>
              <a:gd name="adj" fmla="val 426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10" name="Rectangle: Rounded Corners 9">
            <a:extLst>
              <a:ext uri="{FF2B5EF4-FFF2-40B4-BE49-F238E27FC236}">
                <a16:creationId xmlns:a16="http://schemas.microsoft.com/office/drawing/2014/main" id="{ECF78840-3C23-4889-B74E-874A5EEF33A8}"/>
              </a:ext>
            </a:extLst>
          </p:cNvPr>
          <p:cNvSpPr/>
          <p:nvPr/>
        </p:nvSpPr>
        <p:spPr>
          <a:xfrm>
            <a:off x="398302" y="2157213"/>
            <a:ext cx="1651879" cy="167531"/>
          </a:xfrm>
          <a:prstGeom prst="roundRect">
            <a:avLst>
              <a:gd name="adj" fmla="val 4268"/>
            </a:avLst>
          </a:prstGeom>
          <a:noFill/>
          <a:ln w="19050">
            <a:solidFill>
              <a:schemeClr val="accent6"/>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11" name="Rectangle: Rounded Corners 10">
            <a:extLst>
              <a:ext uri="{FF2B5EF4-FFF2-40B4-BE49-F238E27FC236}">
                <a16:creationId xmlns:a16="http://schemas.microsoft.com/office/drawing/2014/main" id="{E440CB83-F0F6-4C69-8C56-9FF922D5987A}"/>
              </a:ext>
            </a:extLst>
          </p:cNvPr>
          <p:cNvSpPr/>
          <p:nvPr/>
        </p:nvSpPr>
        <p:spPr>
          <a:xfrm>
            <a:off x="398302" y="2340119"/>
            <a:ext cx="3904191" cy="167531"/>
          </a:xfrm>
          <a:prstGeom prst="roundRect">
            <a:avLst>
              <a:gd name="adj" fmla="val 4268"/>
            </a:avLst>
          </a:prstGeom>
          <a:noFill/>
          <a:ln w="19050">
            <a:solidFill>
              <a:schemeClr val="accent5"/>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cxnSp>
        <p:nvCxnSpPr>
          <p:cNvPr id="12" name="Connector: Elbow 11">
            <a:extLst>
              <a:ext uri="{FF2B5EF4-FFF2-40B4-BE49-F238E27FC236}">
                <a16:creationId xmlns:a16="http://schemas.microsoft.com/office/drawing/2014/main" id="{C1135BE2-AC93-424E-9BEA-409650FFE149}"/>
              </a:ext>
            </a:extLst>
          </p:cNvPr>
          <p:cNvCxnSpPr>
            <a:cxnSpLocks/>
            <a:stCxn id="10" idx="3"/>
            <a:endCxn id="17" idx="1"/>
          </p:cNvCxnSpPr>
          <p:nvPr/>
        </p:nvCxnSpPr>
        <p:spPr>
          <a:xfrm>
            <a:off x="2050181" y="2240979"/>
            <a:ext cx="3098453" cy="785234"/>
          </a:xfrm>
          <a:prstGeom prst="bentConnector3">
            <a:avLst>
              <a:gd name="adj1" fmla="val 79201"/>
            </a:avLst>
          </a:prstGeom>
          <a:ln w="9525">
            <a:solidFill>
              <a:schemeClr val="accent6"/>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4" name="Rectangle: Rounded Corners 13">
            <a:extLst>
              <a:ext uri="{FF2B5EF4-FFF2-40B4-BE49-F238E27FC236}">
                <a16:creationId xmlns:a16="http://schemas.microsoft.com/office/drawing/2014/main" id="{C5EAA3B2-B6D8-490F-88A0-5C7AD429B4CA}"/>
              </a:ext>
            </a:extLst>
          </p:cNvPr>
          <p:cNvSpPr/>
          <p:nvPr/>
        </p:nvSpPr>
        <p:spPr>
          <a:xfrm>
            <a:off x="398301" y="2707347"/>
            <a:ext cx="1651879" cy="167531"/>
          </a:xfrm>
          <a:prstGeom prst="roundRect">
            <a:avLst>
              <a:gd name="adj" fmla="val 4268"/>
            </a:avLst>
          </a:prstGeom>
          <a:noFill/>
          <a:ln w="19050">
            <a:solidFill>
              <a:schemeClr val="accent1">
                <a:lumMod val="5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16" name="Rectangle 15">
            <a:extLst>
              <a:ext uri="{FF2B5EF4-FFF2-40B4-BE49-F238E27FC236}">
                <a16:creationId xmlns:a16="http://schemas.microsoft.com/office/drawing/2014/main" id="{BD402324-F700-4A4F-82C6-0419EA002BCB}"/>
              </a:ext>
            </a:extLst>
          </p:cNvPr>
          <p:cNvSpPr/>
          <p:nvPr/>
        </p:nvSpPr>
        <p:spPr>
          <a:xfrm>
            <a:off x="5120640" y="1567500"/>
            <a:ext cx="6891688" cy="806814"/>
          </a:xfrm>
          <a:prstGeom prst="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sz="1100">
                <a:solidFill>
                  <a:schemeClr val="tx1"/>
                </a:solidFill>
                <a:latin typeface="Calibri" panose="020F0502020204030204" pitchFamily="34" charset="0"/>
                <a:cs typeface="Calibri" panose="020F0502020204030204" pitchFamily="34" charset="0"/>
              </a:rPr>
              <a:t>Results list should be selected so that upon execution of the transaction you receive a list of what balances have been carried forward to the new year. This should include 2 main parts: 1) P&amp;L account balances are carried over to their corresponding Retained Earning accounts; 2) Balance Sheet account balances are carried over to the same accounts. </a:t>
            </a:r>
          </a:p>
        </p:txBody>
      </p:sp>
      <p:sp>
        <p:nvSpPr>
          <p:cNvPr id="17" name="Rectangle 16">
            <a:extLst>
              <a:ext uri="{FF2B5EF4-FFF2-40B4-BE49-F238E27FC236}">
                <a16:creationId xmlns:a16="http://schemas.microsoft.com/office/drawing/2014/main" id="{17C4219C-335C-457A-9540-7F2743EC57A7}"/>
              </a:ext>
            </a:extLst>
          </p:cNvPr>
          <p:cNvSpPr/>
          <p:nvPr/>
        </p:nvSpPr>
        <p:spPr>
          <a:xfrm>
            <a:off x="5148634" y="2747223"/>
            <a:ext cx="6891688" cy="557979"/>
          </a:xfrm>
          <a:prstGeom prst="rect">
            <a:avLst/>
          </a:prstGeom>
          <a:noFill/>
          <a:ln w="19050">
            <a:solidFill>
              <a:schemeClr val="accent6"/>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sz="1100">
                <a:solidFill>
                  <a:schemeClr val="tx1"/>
                </a:solidFill>
                <a:latin typeface="Calibri" panose="020F0502020204030204" pitchFamily="34" charset="0"/>
                <a:cs typeface="Calibri" panose="020F0502020204030204" pitchFamily="34" charset="0"/>
              </a:rPr>
              <a:t>Select this option so that the P&amp;L account balances are carried over to their corresponding Retained Earning accounts in the new fiscal year.</a:t>
            </a:r>
          </a:p>
        </p:txBody>
      </p:sp>
      <p:sp>
        <p:nvSpPr>
          <p:cNvPr id="18" name="Rectangle 17">
            <a:extLst>
              <a:ext uri="{FF2B5EF4-FFF2-40B4-BE49-F238E27FC236}">
                <a16:creationId xmlns:a16="http://schemas.microsoft.com/office/drawing/2014/main" id="{4696C633-2CD5-4567-B4B8-228015BF97CD}"/>
              </a:ext>
            </a:extLst>
          </p:cNvPr>
          <p:cNvSpPr/>
          <p:nvPr/>
        </p:nvSpPr>
        <p:spPr>
          <a:xfrm>
            <a:off x="5120640" y="3725766"/>
            <a:ext cx="6891688" cy="1211995"/>
          </a:xfrm>
          <a:prstGeom prst="rect">
            <a:avLst/>
          </a:prstGeom>
          <a:noFill/>
          <a:ln w="19050">
            <a:solidFill>
              <a:schemeClr val="accent5"/>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sz="1100">
                <a:solidFill>
                  <a:schemeClr val="tx1"/>
                </a:solidFill>
                <a:latin typeface="Calibri" panose="020F0502020204030204" pitchFamily="34" charset="0"/>
                <a:cs typeface="Calibri" panose="020F0502020204030204" pitchFamily="34" charset="0"/>
              </a:rPr>
              <a:t>In the FCC variants the Save Results List option is not selected. This option will save the result list from each execution of the carryforward transaction and allow you to display these lists later on directly from this screen. You can even give it a name if you wish to. It is normally not required as we would have the list stored in the FCC task if the carry forward is executed via FCC. You may wish to use this option if you are executing the carry forward outside of FCC and you are not using Background processing, so that you have this result list saved here and can display it later on. </a:t>
            </a:r>
          </a:p>
        </p:txBody>
      </p:sp>
      <p:pic>
        <p:nvPicPr>
          <p:cNvPr id="13" name="Picture 12">
            <a:extLst>
              <a:ext uri="{FF2B5EF4-FFF2-40B4-BE49-F238E27FC236}">
                <a16:creationId xmlns:a16="http://schemas.microsoft.com/office/drawing/2014/main" id="{BE67DBBE-74DB-4989-8FE8-2CFCA729DC78}"/>
              </a:ext>
            </a:extLst>
          </p:cNvPr>
          <p:cNvPicPr>
            <a:picLocks noChangeAspect="1"/>
          </p:cNvPicPr>
          <p:nvPr/>
        </p:nvPicPr>
        <p:blipFill>
          <a:blip r:embed="rId3"/>
          <a:stretch>
            <a:fillRect/>
          </a:stretch>
        </p:blipFill>
        <p:spPr>
          <a:xfrm>
            <a:off x="278542" y="3795415"/>
            <a:ext cx="4087722" cy="2182058"/>
          </a:xfrm>
          <a:prstGeom prst="rect">
            <a:avLst/>
          </a:prstGeom>
          <a:ln>
            <a:solidFill>
              <a:schemeClr val="accent1">
                <a:lumMod val="50000"/>
              </a:schemeClr>
            </a:solidFill>
          </a:ln>
          <a:effectLst>
            <a:outerShdw blurRad="50800" dist="38100" dir="2700000" algn="tl" rotWithShape="0">
              <a:prstClr val="black">
                <a:alpha val="40000"/>
              </a:prstClr>
            </a:outerShdw>
          </a:effectLst>
        </p:spPr>
      </p:pic>
      <p:cxnSp>
        <p:nvCxnSpPr>
          <p:cNvPr id="19" name="Connector: Elbow 18">
            <a:extLst>
              <a:ext uri="{FF2B5EF4-FFF2-40B4-BE49-F238E27FC236}">
                <a16:creationId xmlns:a16="http://schemas.microsoft.com/office/drawing/2014/main" id="{35AFD1BD-E7E9-41DD-BA61-85106CD97670}"/>
              </a:ext>
            </a:extLst>
          </p:cNvPr>
          <p:cNvCxnSpPr>
            <a:stCxn id="9" idx="3"/>
            <a:endCxn id="16" idx="1"/>
          </p:cNvCxnSpPr>
          <p:nvPr/>
        </p:nvCxnSpPr>
        <p:spPr>
          <a:xfrm flipV="1">
            <a:off x="2857298" y="1970907"/>
            <a:ext cx="2263342" cy="4031"/>
          </a:xfrm>
          <a:prstGeom prst="bentConnector3">
            <a:avLst/>
          </a:prstGeom>
          <a:ln w="9525">
            <a:solidFill>
              <a:srgbClr val="FF0000"/>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5" name="Connector: Elbow 24">
            <a:extLst>
              <a:ext uri="{FF2B5EF4-FFF2-40B4-BE49-F238E27FC236}">
                <a16:creationId xmlns:a16="http://schemas.microsoft.com/office/drawing/2014/main" id="{E2362095-D977-4DED-954A-5AE21B4BC00D}"/>
              </a:ext>
            </a:extLst>
          </p:cNvPr>
          <p:cNvCxnSpPr>
            <a:cxnSpLocks/>
            <a:stCxn id="11" idx="2"/>
            <a:endCxn id="18" idx="0"/>
          </p:cNvCxnSpPr>
          <p:nvPr/>
        </p:nvCxnSpPr>
        <p:spPr>
          <a:xfrm rot="16200000" flipH="1">
            <a:off x="4849383" y="8665"/>
            <a:ext cx="1218116" cy="6216086"/>
          </a:xfrm>
          <a:prstGeom prst="bentConnector3">
            <a:avLst>
              <a:gd name="adj1" fmla="val 76076"/>
            </a:avLst>
          </a:prstGeom>
          <a:ln w="9525">
            <a:solidFill>
              <a:schemeClr val="accent5"/>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3CCFDD10-C7C2-415E-8E1F-6A20F033A98D}"/>
              </a:ext>
            </a:extLst>
          </p:cNvPr>
          <p:cNvCxnSpPr>
            <a:stCxn id="14" idx="2"/>
            <a:endCxn id="13" idx="0"/>
          </p:cNvCxnSpPr>
          <p:nvPr/>
        </p:nvCxnSpPr>
        <p:spPr>
          <a:xfrm>
            <a:off x="1224241" y="2874878"/>
            <a:ext cx="1098162" cy="920537"/>
          </a:xfrm>
          <a:prstGeom prst="straightConnector1">
            <a:avLst/>
          </a:prstGeom>
          <a:ln w="9525">
            <a:solidFill>
              <a:schemeClr val="accent1">
                <a:lumMod val="50000"/>
              </a:schemeClr>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42347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893A8-0718-43C5-9F01-D4C2C6441A1A}"/>
              </a:ext>
            </a:extLst>
          </p:cNvPr>
          <p:cNvSpPr>
            <a:spLocks noGrp="1"/>
          </p:cNvSpPr>
          <p:nvPr>
            <p:ph type="title"/>
          </p:nvPr>
        </p:nvSpPr>
        <p:spPr/>
        <p:txBody>
          <a:bodyPr/>
          <a:lstStyle/>
          <a:p>
            <a:r>
              <a:rPr lang="en-GB"/>
              <a:t>G/L Balance Carry Forward: Output</a:t>
            </a:r>
          </a:p>
        </p:txBody>
      </p:sp>
      <p:sp>
        <p:nvSpPr>
          <p:cNvPr id="5" name="Slide Number Placeholder 4">
            <a:extLst>
              <a:ext uri="{FF2B5EF4-FFF2-40B4-BE49-F238E27FC236}">
                <a16:creationId xmlns:a16="http://schemas.microsoft.com/office/drawing/2014/main" id="{86C28B6E-4826-4046-B675-424DC168604A}"/>
              </a:ext>
            </a:extLst>
          </p:cNvPr>
          <p:cNvSpPr>
            <a:spLocks noGrp="1"/>
          </p:cNvSpPr>
          <p:nvPr>
            <p:ph type="sldNum" sz="quarter" idx="12"/>
          </p:nvPr>
        </p:nvSpPr>
        <p:spPr/>
        <p:txBody>
          <a:bodyPr/>
          <a:lstStyle/>
          <a:p>
            <a:fld id="{F4C94289-3309-4C35-850A-56FD49B3E346}" type="slidenum">
              <a:rPr lang="en-GB" smtClean="0"/>
              <a:t>13</a:t>
            </a:fld>
            <a:endParaRPr lang="en-GB"/>
          </a:p>
        </p:txBody>
      </p:sp>
      <p:pic>
        <p:nvPicPr>
          <p:cNvPr id="6" name="Picture 5">
            <a:extLst>
              <a:ext uri="{FF2B5EF4-FFF2-40B4-BE49-F238E27FC236}">
                <a16:creationId xmlns:a16="http://schemas.microsoft.com/office/drawing/2014/main" id="{D9092D17-B920-4798-B8F1-1CFA9362CFBC}"/>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515939" y="1439941"/>
            <a:ext cx="4339674" cy="5327460"/>
          </a:xfrm>
          <a:prstGeom prst="rect">
            <a:avLst/>
          </a:prstGeom>
          <a:effectLst>
            <a:outerShdw blurRad="50800" dist="38100" dir="2700000" algn="tl" rotWithShape="0">
              <a:prstClr val="black">
                <a:alpha val="40000"/>
              </a:prstClr>
            </a:outerShdw>
          </a:effectLst>
        </p:spPr>
      </p:pic>
      <p:pic>
        <p:nvPicPr>
          <p:cNvPr id="21" name="Picture 20">
            <a:extLst>
              <a:ext uri="{FF2B5EF4-FFF2-40B4-BE49-F238E27FC236}">
                <a16:creationId xmlns:a16="http://schemas.microsoft.com/office/drawing/2014/main" id="{0D25B0C9-550C-4348-B9CD-3759A333A119}"/>
              </a:ext>
            </a:extLst>
          </p:cNvPr>
          <p:cNvPicPr>
            <a:picLocks noChangeAspect="1"/>
          </p:cNvPicPr>
          <p:nvPr/>
        </p:nvPicPr>
        <p:blipFill>
          <a:blip r:embed="rId4"/>
          <a:stretch>
            <a:fillRect/>
          </a:stretch>
        </p:blipFill>
        <p:spPr>
          <a:xfrm>
            <a:off x="4982934" y="1439941"/>
            <a:ext cx="3831798" cy="1690716"/>
          </a:xfrm>
          <a:prstGeom prst="rect">
            <a:avLst/>
          </a:prstGeom>
          <a:ln>
            <a:solidFill>
              <a:srgbClr val="FF0000"/>
            </a:solidFill>
          </a:ln>
          <a:effectLst>
            <a:outerShdw blurRad="50800" dist="38100" dir="2700000" algn="tl" rotWithShape="0">
              <a:prstClr val="black">
                <a:alpha val="40000"/>
              </a:prstClr>
            </a:outerShdw>
          </a:effectLst>
        </p:spPr>
      </p:pic>
      <p:pic>
        <p:nvPicPr>
          <p:cNvPr id="22" name="Picture 21">
            <a:extLst>
              <a:ext uri="{FF2B5EF4-FFF2-40B4-BE49-F238E27FC236}">
                <a16:creationId xmlns:a16="http://schemas.microsoft.com/office/drawing/2014/main" id="{BF5BD23C-428B-4D7D-B378-47601DFAD5E7}"/>
              </a:ext>
            </a:extLst>
          </p:cNvPr>
          <p:cNvPicPr>
            <a:picLocks noChangeAspect="1"/>
          </p:cNvPicPr>
          <p:nvPr/>
        </p:nvPicPr>
        <p:blipFill>
          <a:blip r:embed="rId5"/>
          <a:stretch>
            <a:fillRect/>
          </a:stretch>
        </p:blipFill>
        <p:spPr>
          <a:xfrm>
            <a:off x="5260668" y="5211300"/>
            <a:ext cx="4112940" cy="1094859"/>
          </a:xfrm>
          <a:prstGeom prst="rect">
            <a:avLst/>
          </a:prstGeom>
          <a:effectLst>
            <a:outerShdw blurRad="50800" dist="38100" dir="2700000" algn="tl" rotWithShape="0">
              <a:prstClr val="black">
                <a:alpha val="40000"/>
              </a:prstClr>
            </a:outerShdw>
          </a:effectLst>
        </p:spPr>
      </p:pic>
      <p:sp>
        <p:nvSpPr>
          <p:cNvPr id="15" name="Rectangle: Rounded Corners 14">
            <a:extLst>
              <a:ext uri="{FF2B5EF4-FFF2-40B4-BE49-F238E27FC236}">
                <a16:creationId xmlns:a16="http://schemas.microsoft.com/office/drawing/2014/main" id="{9A0AA95C-6EFF-4B4C-9EC3-38C2D74EC21E}"/>
              </a:ext>
            </a:extLst>
          </p:cNvPr>
          <p:cNvSpPr/>
          <p:nvPr/>
        </p:nvSpPr>
        <p:spPr>
          <a:xfrm>
            <a:off x="350117" y="1362941"/>
            <a:ext cx="3923499" cy="272436"/>
          </a:xfrm>
          <a:prstGeom prst="roundRect">
            <a:avLst/>
          </a:prstGeom>
          <a:solidFill>
            <a:schemeClr val="bg1"/>
          </a:solid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FAGLGVTR: G/L Balance Carry forward Output (foreground run)</a:t>
            </a:r>
          </a:p>
        </p:txBody>
      </p:sp>
      <p:sp>
        <p:nvSpPr>
          <p:cNvPr id="18" name="Rectangle: Rounded Corners 17">
            <a:extLst>
              <a:ext uri="{FF2B5EF4-FFF2-40B4-BE49-F238E27FC236}">
                <a16:creationId xmlns:a16="http://schemas.microsoft.com/office/drawing/2014/main" id="{25765389-812D-47FF-916B-5FC6922F6D59}"/>
              </a:ext>
            </a:extLst>
          </p:cNvPr>
          <p:cNvSpPr/>
          <p:nvPr/>
        </p:nvSpPr>
        <p:spPr>
          <a:xfrm>
            <a:off x="1597794" y="1883976"/>
            <a:ext cx="693020" cy="272436"/>
          </a:xfrm>
          <a:prstGeom prst="roundRect">
            <a:avLst>
              <a:gd name="adj" fmla="val 426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cxnSp>
        <p:nvCxnSpPr>
          <p:cNvPr id="8" name="Connector: Elbow 7">
            <a:extLst>
              <a:ext uri="{FF2B5EF4-FFF2-40B4-BE49-F238E27FC236}">
                <a16:creationId xmlns:a16="http://schemas.microsoft.com/office/drawing/2014/main" id="{392E6229-AC37-493C-8EBE-5E475A10DCFA}"/>
              </a:ext>
            </a:extLst>
          </p:cNvPr>
          <p:cNvCxnSpPr>
            <a:cxnSpLocks/>
            <a:stCxn id="18" idx="0"/>
            <a:endCxn id="21" idx="1"/>
          </p:cNvCxnSpPr>
          <p:nvPr/>
        </p:nvCxnSpPr>
        <p:spPr>
          <a:xfrm rot="16200000" flipH="1">
            <a:off x="3262957" y="565322"/>
            <a:ext cx="401323" cy="3038630"/>
          </a:xfrm>
          <a:prstGeom prst="bentConnector4">
            <a:avLst>
              <a:gd name="adj1" fmla="val -13791"/>
              <a:gd name="adj2" fmla="val 55702"/>
            </a:avLst>
          </a:prstGeom>
          <a:ln w="9525">
            <a:solidFill>
              <a:srgbClr val="FF0000"/>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3" name="Rectangle: Rounded Corners 22">
            <a:extLst>
              <a:ext uri="{FF2B5EF4-FFF2-40B4-BE49-F238E27FC236}">
                <a16:creationId xmlns:a16="http://schemas.microsoft.com/office/drawing/2014/main" id="{65C33215-6247-4CC6-B596-594B42807CF1}"/>
              </a:ext>
            </a:extLst>
          </p:cNvPr>
          <p:cNvSpPr/>
          <p:nvPr/>
        </p:nvSpPr>
        <p:spPr>
          <a:xfrm>
            <a:off x="525565" y="2964741"/>
            <a:ext cx="2852901" cy="165916"/>
          </a:xfrm>
          <a:prstGeom prst="roundRect">
            <a:avLst>
              <a:gd name="adj" fmla="val 4268"/>
            </a:avLst>
          </a:prstGeom>
          <a:noFill/>
          <a:ln w="19050">
            <a:solidFill>
              <a:srgbClr val="FFC000"/>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4" name="Rectangle: Rounded Corners 23">
            <a:extLst>
              <a:ext uri="{FF2B5EF4-FFF2-40B4-BE49-F238E27FC236}">
                <a16:creationId xmlns:a16="http://schemas.microsoft.com/office/drawing/2014/main" id="{BC6A1833-82CB-4C69-A7A5-F281292C6595}"/>
              </a:ext>
            </a:extLst>
          </p:cNvPr>
          <p:cNvSpPr/>
          <p:nvPr/>
        </p:nvSpPr>
        <p:spPr>
          <a:xfrm>
            <a:off x="525565" y="4928135"/>
            <a:ext cx="2852901" cy="165916"/>
          </a:xfrm>
          <a:prstGeom prst="roundRect">
            <a:avLst>
              <a:gd name="adj" fmla="val 4268"/>
            </a:avLst>
          </a:prstGeom>
          <a:noFill/>
          <a:ln w="19050">
            <a:solidFill>
              <a:schemeClr val="accent4">
                <a:lumMod val="75000"/>
              </a:schemeClr>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GB" sz="1000" b="1">
              <a:solidFill>
                <a:srgbClr val="00B2A9">
                  <a:lumMod val="50000"/>
                </a:srgbClr>
              </a:solidFill>
              <a:latin typeface="Arial" panose="020B0604020202020204"/>
            </a:endParaRPr>
          </a:p>
        </p:txBody>
      </p:sp>
      <p:sp>
        <p:nvSpPr>
          <p:cNvPr id="25" name="Rectangle: Rounded Corners 24">
            <a:extLst>
              <a:ext uri="{FF2B5EF4-FFF2-40B4-BE49-F238E27FC236}">
                <a16:creationId xmlns:a16="http://schemas.microsoft.com/office/drawing/2014/main" id="{EDBC598A-12BA-4255-ABAF-F267E21A73EA}"/>
              </a:ext>
            </a:extLst>
          </p:cNvPr>
          <p:cNvSpPr/>
          <p:nvPr/>
        </p:nvSpPr>
        <p:spPr>
          <a:xfrm>
            <a:off x="5299169" y="4938864"/>
            <a:ext cx="4074439" cy="272436"/>
          </a:xfrm>
          <a:prstGeom prst="roundRect">
            <a:avLst/>
          </a:prstGeom>
          <a:solidFill>
            <a:schemeClr val="bg1"/>
          </a:solid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FAGLGVTR: G/L Balance Carry forward Output (background run spool)</a:t>
            </a:r>
          </a:p>
        </p:txBody>
      </p:sp>
      <p:sp>
        <p:nvSpPr>
          <p:cNvPr id="26" name="Rectangle: Rounded Corners 25">
            <a:extLst>
              <a:ext uri="{FF2B5EF4-FFF2-40B4-BE49-F238E27FC236}">
                <a16:creationId xmlns:a16="http://schemas.microsoft.com/office/drawing/2014/main" id="{BDAE4FBB-2445-4580-88E7-876204D6C83A}"/>
              </a:ext>
            </a:extLst>
          </p:cNvPr>
          <p:cNvSpPr/>
          <p:nvPr/>
        </p:nvSpPr>
        <p:spPr>
          <a:xfrm>
            <a:off x="6057500" y="5673556"/>
            <a:ext cx="189296" cy="172154"/>
          </a:xfrm>
          <a:prstGeom prst="roundRect">
            <a:avLst>
              <a:gd name="adj" fmla="val 426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7" name="Rectangle: Rounded Corners 26">
            <a:extLst>
              <a:ext uri="{FF2B5EF4-FFF2-40B4-BE49-F238E27FC236}">
                <a16:creationId xmlns:a16="http://schemas.microsoft.com/office/drawing/2014/main" id="{4F68BDF8-43C9-489F-8DA1-18593534ADF3}"/>
              </a:ext>
            </a:extLst>
          </p:cNvPr>
          <p:cNvSpPr/>
          <p:nvPr/>
        </p:nvSpPr>
        <p:spPr>
          <a:xfrm>
            <a:off x="6057500" y="5845710"/>
            <a:ext cx="189296" cy="172154"/>
          </a:xfrm>
          <a:prstGeom prst="roundRect">
            <a:avLst>
              <a:gd name="adj" fmla="val 4268"/>
            </a:avLst>
          </a:prstGeom>
          <a:noFill/>
          <a:ln w="19050">
            <a:solidFill>
              <a:schemeClr val="accent2"/>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8" name="Rectangle: Rounded Corners 27">
            <a:extLst>
              <a:ext uri="{FF2B5EF4-FFF2-40B4-BE49-F238E27FC236}">
                <a16:creationId xmlns:a16="http://schemas.microsoft.com/office/drawing/2014/main" id="{5B913568-2806-4CEB-ADF7-4066461BEAC7}"/>
              </a:ext>
            </a:extLst>
          </p:cNvPr>
          <p:cNvSpPr/>
          <p:nvPr/>
        </p:nvSpPr>
        <p:spPr>
          <a:xfrm>
            <a:off x="6057500" y="6017864"/>
            <a:ext cx="189296" cy="172154"/>
          </a:xfrm>
          <a:prstGeom prst="roundRect">
            <a:avLst>
              <a:gd name="adj" fmla="val 4268"/>
            </a:avLst>
          </a:prstGeom>
          <a:noFill/>
          <a:ln w="19050">
            <a:solidFill>
              <a:schemeClr val="accent4"/>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cxnSp>
        <p:nvCxnSpPr>
          <p:cNvPr id="29" name="Connector: Elbow 28">
            <a:extLst>
              <a:ext uri="{FF2B5EF4-FFF2-40B4-BE49-F238E27FC236}">
                <a16:creationId xmlns:a16="http://schemas.microsoft.com/office/drawing/2014/main" id="{FA836B5D-11F4-45FC-84C9-219F1AD13B8F}"/>
              </a:ext>
            </a:extLst>
          </p:cNvPr>
          <p:cNvCxnSpPr>
            <a:cxnSpLocks/>
            <a:stCxn id="26" idx="1"/>
            <a:endCxn id="21" idx="1"/>
          </p:cNvCxnSpPr>
          <p:nvPr/>
        </p:nvCxnSpPr>
        <p:spPr>
          <a:xfrm rot="10800000">
            <a:off x="4982934" y="2285299"/>
            <a:ext cx="1074566" cy="3474334"/>
          </a:xfrm>
          <a:prstGeom prst="bentConnector3">
            <a:avLst>
              <a:gd name="adj1" fmla="val 114398"/>
            </a:avLst>
          </a:prstGeom>
          <a:ln w="19050">
            <a:solidFill>
              <a:srgbClr val="FF0000"/>
            </a:solidFill>
            <a:prstDash val="sysDash"/>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33" name="Connector: Elbow 32">
            <a:extLst>
              <a:ext uri="{FF2B5EF4-FFF2-40B4-BE49-F238E27FC236}">
                <a16:creationId xmlns:a16="http://schemas.microsoft.com/office/drawing/2014/main" id="{A7BBAFA5-9DAD-4F87-BBEC-2036CADFAE26}"/>
              </a:ext>
            </a:extLst>
          </p:cNvPr>
          <p:cNvCxnSpPr>
            <a:cxnSpLocks/>
            <a:stCxn id="27" idx="1"/>
            <a:endCxn id="23" idx="3"/>
          </p:cNvCxnSpPr>
          <p:nvPr/>
        </p:nvCxnSpPr>
        <p:spPr>
          <a:xfrm rot="10800000">
            <a:off x="3378466" y="3047699"/>
            <a:ext cx="2679034" cy="2884088"/>
          </a:xfrm>
          <a:prstGeom prst="bentConnector3">
            <a:avLst>
              <a:gd name="adj1" fmla="val 50000"/>
            </a:avLst>
          </a:prstGeom>
          <a:ln w="19050">
            <a:solidFill>
              <a:schemeClr val="accent2"/>
            </a:solidFill>
            <a:prstDash val="sysDash"/>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37" name="Connector: Elbow 36">
            <a:extLst>
              <a:ext uri="{FF2B5EF4-FFF2-40B4-BE49-F238E27FC236}">
                <a16:creationId xmlns:a16="http://schemas.microsoft.com/office/drawing/2014/main" id="{85CA751A-14EE-4FE0-A260-820C05EB9729}"/>
              </a:ext>
            </a:extLst>
          </p:cNvPr>
          <p:cNvCxnSpPr>
            <a:cxnSpLocks/>
            <a:stCxn id="28" idx="2"/>
            <a:endCxn id="24" idx="3"/>
          </p:cNvCxnSpPr>
          <p:nvPr/>
        </p:nvCxnSpPr>
        <p:spPr>
          <a:xfrm rot="5400000" flipH="1">
            <a:off x="4175844" y="4213715"/>
            <a:ext cx="1178925" cy="2773682"/>
          </a:xfrm>
          <a:prstGeom prst="bentConnector4">
            <a:avLst>
              <a:gd name="adj1" fmla="val -19391"/>
              <a:gd name="adj2" fmla="val 56368"/>
            </a:avLst>
          </a:prstGeom>
          <a:ln w="19050">
            <a:solidFill>
              <a:schemeClr val="accent4"/>
            </a:solidFill>
            <a:prstDash val="sysDash"/>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3B8C0CB3-17AB-42F8-8BAE-6E30915F3AC5}"/>
              </a:ext>
            </a:extLst>
          </p:cNvPr>
          <p:cNvSpPr/>
          <p:nvPr/>
        </p:nvSpPr>
        <p:spPr>
          <a:xfrm>
            <a:off x="8853233" y="1419414"/>
            <a:ext cx="2988650" cy="1708160"/>
          </a:xfrm>
          <a:prstGeom prst="rect">
            <a:avLst/>
          </a:prstGeom>
        </p:spPr>
        <p:txBody>
          <a:bodyPr wrap="square">
            <a:spAutoFit/>
          </a:bodyPr>
          <a:lstStyle/>
          <a:p>
            <a:pPr marL="171450" indent="-171450">
              <a:lnSpc>
                <a:spcPts val="1200"/>
              </a:lnSpc>
              <a:spcBef>
                <a:spcPts val="600"/>
              </a:spcBef>
              <a:buFont typeface="Arial" panose="020B0604020202020204" pitchFamily="34" charset="0"/>
              <a:buChar char="•"/>
              <a:defRPr/>
            </a:pPr>
            <a:r>
              <a:rPr lang="en-GB" sz="1200" i="1">
                <a:solidFill>
                  <a:srgbClr val="000000"/>
                </a:solidFill>
                <a:latin typeface="Georgia" panose="02040502050405020303" pitchFamily="18" charset="0"/>
              </a:rPr>
              <a:t>If the transaction is executed </a:t>
            </a:r>
            <a:r>
              <a:rPr lang="en-GB" sz="1200" b="1" i="1">
                <a:solidFill>
                  <a:srgbClr val="000000"/>
                </a:solidFill>
                <a:latin typeface="Georgia" panose="02040502050405020303" pitchFamily="18" charset="0"/>
              </a:rPr>
              <a:t>foreground, </a:t>
            </a:r>
            <a:r>
              <a:rPr lang="en-GB" sz="1200" i="1">
                <a:solidFill>
                  <a:srgbClr val="000000"/>
                </a:solidFill>
                <a:latin typeface="Georgia" panose="02040502050405020303" pitchFamily="18" charset="0"/>
              </a:rPr>
              <a:t>you will see the detailed balance carry forward list on the screen.</a:t>
            </a:r>
          </a:p>
          <a:p>
            <a:pPr marL="171450" indent="-171450">
              <a:lnSpc>
                <a:spcPts val="1200"/>
              </a:lnSpc>
              <a:spcBef>
                <a:spcPts val="600"/>
              </a:spcBef>
              <a:buFont typeface="Arial" panose="020B0604020202020204" pitchFamily="34" charset="0"/>
              <a:buChar char="•"/>
              <a:defRPr/>
            </a:pPr>
            <a:r>
              <a:rPr lang="en-GB" sz="1200" i="1">
                <a:solidFill>
                  <a:srgbClr val="000000"/>
                </a:solidFill>
                <a:latin typeface="Georgia" panose="02040502050405020303" pitchFamily="18" charset="0"/>
              </a:rPr>
              <a:t>You should check if there’s any error message during the test run and get them corrected before doing an update run. Note you may also have errors during update run so you should check messages in all cases. </a:t>
            </a:r>
          </a:p>
        </p:txBody>
      </p:sp>
      <p:sp>
        <p:nvSpPr>
          <p:cNvPr id="41" name="TextBox 40">
            <a:extLst>
              <a:ext uri="{FF2B5EF4-FFF2-40B4-BE49-F238E27FC236}">
                <a16:creationId xmlns:a16="http://schemas.microsoft.com/office/drawing/2014/main" id="{0F22702D-74AB-457F-A81D-35B3CD434408}"/>
              </a:ext>
            </a:extLst>
          </p:cNvPr>
          <p:cNvSpPr txBox="1"/>
          <p:nvPr/>
        </p:nvSpPr>
        <p:spPr>
          <a:xfrm>
            <a:off x="528025" y="2772861"/>
            <a:ext cx="1762789" cy="165916"/>
          </a:xfrm>
          <a:prstGeom prst="rect">
            <a:avLst/>
          </a:prstGeom>
          <a:solidFill>
            <a:schemeClr val="bg1"/>
          </a:solidFill>
          <a:ln w="19050">
            <a:solidFill>
              <a:schemeClr val="accent2"/>
            </a:solidFill>
          </a:ln>
        </p:spPr>
        <p:txBody>
          <a:bodyPr wrap="square" lIns="36000" tIns="0" rIns="72000" bIns="72000" rtlCol="0">
            <a:noAutofit/>
          </a:bodyPr>
          <a:lstStyle/>
          <a:p>
            <a:r>
              <a:rPr lang="en-US" sz="1000" i="1">
                <a:latin typeface="Georgia" panose="02040502050405020303" pitchFamily="18" charset="0"/>
              </a:rPr>
              <a:t>1) P&amp;L to Retained Earning</a:t>
            </a:r>
          </a:p>
        </p:txBody>
      </p:sp>
      <p:sp>
        <p:nvSpPr>
          <p:cNvPr id="42" name="TextBox 41">
            <a:extLst>
              <a:ext uri="{FF2B5EF4-FFF2-40B4-BE49-F238E27FC236}">
                <a16:creationId xmlns:a16="http://schemas.microsoft.com/office/drawing/2014/main" id="{82D82C57-E1C5-40FD-9249-762F9004F81D}"/>
              </a:ext>
            </a:extLst>
          </p:cNvPr>
          <p:cNvSpPr txBox="1"/>
          <p:nvPr/>
        </p:nvSpPr>
        <p:spPr>
          <a:xfrm>
            <a:off x="528025" y="4721683"/>
            <a:ext cx="1762789" cy="165916"/>
          </a:xfrm>
          <a:prstGeom prst="rect">
            <a:avLst/>
          </a:prstGeom>
          <a:solidFill>
            <a:schemeClr val="bg1"/>
          </a:solidFill>
          <a:ln w="19050">
            <a:solidFill>
              <a:schemeClr val="accent4"/>
            </a:solidFill>
          </a:ln>
        </p:spPr>
        <p:txBody>
          <a:bodyPr wrap="square" lIns="36000" tIns="0" rIns="72000" bIns="72000" rtlCol="0">
            <a:noAutofit/>
          </a:bodyPr>
          <a:lstStyle/>
          <a:p>
            <a:r>
              <a:rPr lang="en-US" sz="1000" i="1">
                <a:latin typeface="Georgia" panose="02040502050405020303" pitchFamily="18" charset="0"/>
              </a:rPr>
              <a:t>2) B/S to B/S</a:t>
            </a:r>
          </a:p>
        </p:txBody>
      </p:sp>
      <p:sp>
        <p:nvSpPr>
          <p:cNvPr id="43" name="Rectangle 42">
            <a:extLst>
              <a:ext uri="{FF2B5EF4-FFF2-40B4-BE49-F238E27FC236}">
                <a16:creationId xmlns:a16="http://schemas.microsoft.com/office/drawing/2014/main" id="{EF8331FA-7AE0-4462-B751-593716A61F65}"/>
              </a:ext>
            </a:extLst>
          </p:cNvPr>
          <p:cNvSpPr/>
          <p:nvPr/>
        </p:nvSpPr>
        <p:spPr>
          <a:xfrm>
            <a:off x="5021435" y="4054109"/>
            <a:ext cx="6822541" cy="784830"/>
          </a:xfrm>
          <a:prstGeom prst="rect">
            <a:avLst/>
          </a:prstGeom>
        </p:spPr>
        <p:txBody>
          <a:bodyPr wrap="square">
            <a:spAutoFit/>
          </a:bodyPr>
          <a:lstStyle/>
          <a:p>
            <a:pPr marL="171450" indent="-171450">
              <a:lnSpc>
                <a:spcPts val="1200"/>
              </a:lnSpc>
              <a:spcBef>
                <a:spcPts val="600"/>
              </a:spcBef>
              <a:buFont typeface="Arial" panose="020B0604020202020204" pitchFamily="34" charset="0"/>
              <a:buChar char="•"/>
              <a:defRPr/>
            </a:pPr>
            <a:r>
              <a:rPr lang="en-GB" sz="1200" i="1">
                <a:solidFill>
                  <a:srgbClr val="000000"/>
                </a:solidFill>
                <a:latin typeface="Georgia" panose="02040502050405020303" pitchFamily="18" charset="0"/>
              </a:rPr>
              <a:t>You can execute the transaction in </a:t>
            </a:r>
            <a:r>
              <a:rPr lang="en-GB" sz="1200" b="1" i="1">
                <a:solidFill>
                  <a:srgbClr val="000000"/>
                </a:solidFill>
                <a:latin typeface="Georgia" panose="02040502050405020303" pitchFamily="18" charset="0"/>
              </a:rPr>
              <a:t>background</a:t>
            </a:r>
            <a:r>
              <a:rPr lang="en-GB" sz="1200" i="1">
                <a:solidFill>
                  <a:srgbClr val="000000"/>
                </a:solidFill>
                <a:latin typeface="Georgia" panose="02040502050405020303" pitchFamily="18" charset="0"/>
              </a:rPr>
              <a:t> (FCC always executes it in background).</a:t>
            </a:r>
          </a:p>
          <a:p>
            <a:pPr marL="171450" indent="-171450">
              <a:lnSpc>
                <a:spcPts val="1200"/>
              </a:lnSpc>
              <a:spcBef>
                <a:spcPts val="600"/>
              </a:spcBef>
              <a:buFont typeface="Arial" panose="020B0604020202020204" pitchFamily="34" charset="0"/>
              <a:buChar char="•"/>
              <a:defRPr/>
            </a:pPr>
            <a:r>
              <a:rPr lang="en-GB" sz="1200" i="1">
                <a:solidFill>
                  <a:srgbClr val="000000"/>
                </a:solidFill>
                <a:latin typeface="Georgia" panose="02040502050405020303" pitchFamily="18" charset="0"/>
              </a:rPr>
              <a:t>You should check “All Spool Lists” for this particular background job, where you should find 3 spool lists as shown below. These three lists contain the corresponding information as you would find when you execute the transaction foreground.</a:t>
            </a:r>
          </a:p>
        </p:txBody>
      </p:sp>
    </p:spTree>
    <p:extLst>
      <p:ext uri="{BB962C8B-B14F-4D97-AF65-F5344CB8AC3E}">
        <p14:creationId xmlns:p14="http://schemas.microsoft.com/office/powerpoint/2010/main" val="41885517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4A32776-8FF2-EC49-E55C-687CECED4559}"/>
              </a:ext>
            </a:extLst>
          </p:cNvPr>
          <p:cNvSpPr>
            <a:spLocks noGrp="1"/>
          </p:cNvSpPr>
          <p:nvPr>
            <p:ph type="sldNum" sz="quarter" idx="12"/>
          </p:nvPr>
        </p:nvSpPr>
        <p:spPr>
          <a:effectLst>
            <a:outerShdw blurRad="63500" sx="102000" sy="102000" algn="ctr" rotWithShape="0">
              <a:prstClr val="black">
                <a:alpha val="40000"/>
              </a:prstClr>
            </a:outerShdw>
          </a:effectLst>
        </p:spPr>
        <p:txBody>
          <a:bodyPr/>
          <a:lstStyle/>
          <a:p>
            <a:fld id="{F4C94289-3309-4C35-850A-56FD49B3E346}" type="slidenum">
              <a:rPr lang="en-GB" smtClean="0"/>
              <a:t>14</a:t>
            </a:fld>
            <a:endParaRPr lang="en-GB"/>
          </a:p>
        </p:txBody>
      </p:sp>
      <p:sp>
        <p:nvSpPr>
          <p:cNvPr id="4" name="Title 3">
            <a:extLst>
              <a:ext uri="{FF2B5EF4-FFF2-40B4-BE49-F238E27FC236}">
                <a16:creationId xmlns:a16="http://schemas.microsoft.com/office/drawing/2014/main" id="{6CEFBAEA-7764-8788-713E-498D74B9680F}"/>
              </a:ext>
            </a:extLst>
          </p:cNvPr>
          <p:cNvSpPr>
            <a:spLocks noGrp="1"/>
          </p:cNvSpPr>
          <p:nvPr>
            <p:ph type="title"/>
          </p:nvPr>
        </p:nvSpPr>
        <p:spPr>
          <a:effectLst>
            <a:outerShdw blurRad="63500" sx="102000" sy="102000" algn="ctr" rotWithShape="0">
              <a:prstClr val="black">
                <a:alpha val="40000"/>
              </a:prstClr>
            </a:outerShdw>
          </a:effectLst>
        </p:spPr>
        <p:txBody>
          <a:bodyPr/>
          <a:lstStyle/>
          <a:p>
            <a:r>
              <a:rPr lang="en-GB" dirty="0"/>
              <a:t>G/L Balance Carry Forward - </a:t>
            </a:r>
            <a:r>
              <a:rPr lang="en-GB" cap="none" dirty="0"/>
              <a:t>Common Error</a:t>
            </a:r>
            <a:endParaRPr lang="en-US" dirty="0"/>
          </a:p>
        </p:txBody>
      </p:sp>
      <p:graphicFrame>
        <p:nvGraphicFramePr>
          <p:cNvPr id="5" name="Table 5">
            <a:extLst>
              <a:ext uri="{FF2B5EF4-FFF2-40B4-BE49-F238E27FC236}">
                <a16:creationId xmlns:a16="http://schemas.microsoft.com/office/drawing/2014/main" id="{31555022-062A-51F0-CE70-8DCED109EDDD}"/>
              </a:ext>
            </a:extLst>
          </p:cNvPr>
          <p:cNvGraphicFramePr>
            <a:graphicFrameLocks noGrp="1"/>
          </p:cNvGraphicFramePr>
          <p:nvPr/>
        </p:nvGraphicFramePr>
        <p:xfrm>
          <a:off x="509068" y="1588298"/>
          <a:ext cx="10915812" cy="2549317"/>
        </p:xfrm>
        <a:graphic>
          <a:graphicData uri="http://schemas.openxmlformats.org/drawingml/2006/table">
            <a:tbl>
              <a:tblPr firstRow="1" bandRow="1">
                <a:tableStyleId>{F5AB1C69-6EDB-4FF4-983F-18BD219EF322}</a:tableStyleId>
              </a:tblPr>
              <a:tblGrid>
                <a:gridCol w="5053532">
                  <a:extLst>
                    <a:ext uri="{9D8B030D-6E8A-4147-A177-3AD203B41FA5}">
                      <a16:colId xmlns:a16="http://schemas.microsoft.com/office/drawing/2014/main" val="9356114"/>
                    </a:ext>
                  </a:extLst>
                </a:gridCol>
                <a:gridCol w="2223676">
                  <a:extLst>
                    <a:ext uri="{9D8B030D-6E8A-4147-A177-3AD203B41FA5}">
                      <a16:colId xmlns:a16="http://schemas.microsoft.com/office/drawing/2014/main" val="1965869314"/>
                    </a:ext>
                  </a:extLst>
                </a:gridCol>
                <a:gridCol w="3638604">
                  <a:extLst>
                    <a:ext uri="{9D8B030D-6E8A-4147-A177-3AD203B41FA5}">
                      <a16:colId xmlns:a16="http://schemas.microsoft.com/office/drawing/2014/main" val="566335056"/>
                    </a:ext>
                  </a:extLst>
                </a:gridCol>
              </a:tblGrid>
              <a:tr h="399122">
                <a:tc>
                  <a:txBody>
                    <a:bodyPr/>
                    <a:lstStyle/>
                    <a:p>
                      <a:pPr algn="ctr" fontAlgn="b"/>
                      <a:r>
                        <a:rPr lang="en-US" sz="1200" b="1" u="none" strike="noStrike" dirty="0">
                          <a:solidFill>
                            <a:schemeClr val="bg1"/>
                          </a:solidFill>
                          <a:effectLst/>
                        </a:rPr>
                        <a:t>Errors</a:t>
                      </a:r>
                      <a:endParaRPr lang="en-US" sz="1200" b="1" i="0" u="none" strike="noStrike" dirty="0">
                        <a:solidFill>
                          <a:schemeClr val="bg1"/>
                        </a:solidFill>
                        <a:effectLst/>
                        <a:latin typeface="Calibri" panose="020F0502020204030204" pitchFamily="34" charset="0"/>
                      </a:endParaRPr>
                    </a:p>
                  </a:txBody>
                  <a:tcPr marL="6350" marR="6350" marT="6350" marB="0" anchor="ctr"/>
                </a:tc>
                <a:tc>
                  <a:txBody>
                    <a:bodyPr/>
                    <a:lstStyle/>
                    <a:p>
                      <a:pPr algn="ctr" fontAlgn="b"/>
                      <a:r>
                        <a:rPr lang="en-US" sz="1200" b="1" u="none" strike="noStrike">
                          <a:solidFill>
                            <a:schemeClr val="bg1"/>
                          </a:solidFill>
                          <a:effectLst/>
                        </a:rPr>
                        <a:t>Error Description (Reason)</a:t>
                      </a:r>
                      <a:endParaRPr lang="en-US" sz="1200" b="1" i="0" u="none" strike="noStrike">
                        <a:solidFill>
                          <a:schemeClr val="bg1"/>
                        </a:solidFill>
                        <a:effectLst/>
                        <a:latin typeface="Calibri" panose="020F0502020204030204" pitchFamily="34" charset="0"/>
                      </a:endParaRPr>
                    </a:p>
                  </a:txBody>
                  <a:tcPr marL="6350" marR="6350" marT="6350" marB="0" anchor="ctr"/>
                </a:tc>
                <a:tc>
                  <a:txBody>
                    <a:bodyPr/>
                    <a:lstStyle/>
                    <a:p>
                      <a:pPr algn="ctr" fontAlgn="b"/>
                      <a:r>
                        <a:rPr lang="en-US" sz="1200" b="1" u="none" strike="noStrike">
                          <a:solidFill>
                            <a:schemeClr val="bg1"/>
                          </a:solidFill>
                          <a:effectLst/>
                        </a:rPr>
                        <a:t>Resolution </a:t>
                      </a:r>
                      <a:endParaRPr lang="en-US" sz="1200" b="1" i="0" u="none" strike="noStrike">
                        <a:solidFill>
                          <a:schemeClr val="bg1"/>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409099569"/>
                  </a:ext>
                </a:extLst>
              </a:tr>
              <a:tr h="1242042">
                <a:tc>
                  <a:txBody>
                    <a:bodyPr/>
                    <a:lstStyle/>
                    <a:p>
                      <a:pPr algn="l" fontAlgn="b"/>
                      <a:r>
                        <a:rPr lang="en-US" sz="1200" b="0" u="none" strike="noStrike">
                          <a:solidFill>
                            <a:srgbClr val="000000"/>
                          </a:solidFill>
                          <a:effectLst/>
                        </a:rPr>
                        <a:t>ERRORS OCCURRED! Please read long text for details! ERRORS OCCURRED! FINS_BCF_EN 019 I</a:t>
                      </a:r>
                    </a:p>
                    <a:p>
                      <a:pPr algn="l" fontAlgn="b"/>
                      <a:r>
                        <a:rPr lang="en-US" sz="1200" b="0" u="none" strike="noStrike">
                          <a:solidFill>
                            <a:srgbClr val="000000"/>
                          </a:solidFill>
                          <a:effectLst/>
                        </a:rPr>
                        <a:t>Run 1417 didn't process specified ledgers, company codes, and FY. FINS_BCF_EN 070 E</a:t>
                      </a:r>
                    </a:p>
                    <a:p>
                      <a:pPr algn="l" fontAlgn="b"/>
                      <a:r>
                        <a:rPr lang="en-US" sz="1200" b="0" u="none" strike="noStrike">
                          <a:solidFill>
                            <a:srgbClr val="000000"/>
                          </a:solidFill>
                          <a:effectLst/>
                        </a:rPr>
                        <a:t>Job canceled after system exception ERROR_MESSAGE</a:t>
                      </a:r>
                      <a:endParaRPr lang="en-US" sz="1200" b="0" i="0" u="none" strike="noStrike">
                        <a:solidFill>
                          <a:srgbClr val="000000"/>
                        </a:solidFill>
                        <a:effectLst/>
                        <a:latin typeface="Calibri" panose="020F0502020204030204" pitchFamily="34" charset="0"/>
                      </a:endParaRPr>
                    </a:p>
                  </a:txBody>
                  <a:tcPr marL="72000" marR="72000" marT="36000" marB="0" anchor="ctr"/>
                </a:tc>
                <a:tc>
                  <a:txBody>
                    <a:bodyPr/>
                    <a:lstStyle/>
                    <a:p>
                      <a:pPr algn="l" fontAlgn="b"/>
                      <a:r>
                        <a:rPr lang="en-US" sz="1200" b="0" u="none" strike="noStrike">
                          <a:solidFill>
                            <a:srgbClr val="000000"/>
                          </a:solidFill>
                          <a:effectLst/>
                        </a:rPr>
                        <a:t>Not enough memory due to large number active processes</a:t>
                      </a:r>
                      <a:endParaRPr lang="en-US" sz="1200" b="0" i="0" u="none" strike="noStrike">
                        <a:solidFill>
                          <a:srgbClr val="000000"/>
                        </a:solidFill>
                        <a:effectLst/>
                        <a:latin typeface="Calibri" panose="020F0502020204030204" pitchFamily="34" charset="0"/>
                      </a:endParaRPr>
                    </a:p>
                  </a:txBody>
                  <a:tcPr marL="72000" marR="72000" marT="36000" marB="0" anchor="ctr"/>
                </a:tc>
                <a:tc>
                  <a:txBody>
                    <a:bodyPr/>
                    <a:lstStyle/>
                    <a:p>
                      <a:pPr algn="l" fontAlgn="b"/>
                      <a:r>
                        <a:rPr lang="en-US" sz="1200" b="0" u="none" strike="noStrike" dirty="0">
                          <a:solidFill>
                            <a:srgbClr val="000000"/>
                          </a:solidFill>
                          <a:effectLst/>
                        </a:rPr>
                        <a:t>GL Team needs to restart task</a:t>
                      </a:r>
                      <a:endParaRPr lang="en-US" sz="1200" b="0" i="0" u="none" strike="noStrike" dirty="0">
                        <a:solidFill>
                          <a:srgbClr val="000000"/>
                        </a:solidFill>
                        <a:effectLst/>
                        <a:latin typeface="Calibri" panose="020F0502020204030204" pitchFamily="34" charset="0"/>
                      </a:endParaRPr>
                    </a:p>
                  </a:txBody>
                  <a:tcPr marL="72000" marR="72000" marT="36000" marB="0" anchor="ctr"/>
                </a:tc>
                <a:extLst>
                  <a:ext uri="{0D108BD9-81ED-4DB2-BD59-A6C34878D82A}">
                    <a16:rowId xmlns:a16="http://schemas.microsoft.com/office/drawing/2014/main" val="4132295502"/>
                  </a:ext>
                </a:extLst>
              </a:tr>
              <a:tr h="908153">
                <a:tc>
                  <a:txBody>
                    <a:bodyPr/>
                    <a:lstStyle/>
                    <a:p>
                      <a:pPr algn="l" fontAlgn="b"/>
                      <a:r>
                        <a:rPr lang="en-US" sz="1200" b="0" u="none" strike="noStrike">
                          <a:solidFill>
                            <a:srgbClr val="000000"/>
                          </a:solidFill>
                          <a:effectLst/>
                        </a:rPr>
                        <a:t>No error but processes for entities with large numbers entries can take many hour</a:t>
                      </a:r>
                      <a:endParaRPr lang="en-US" sz="1200" b="0" i="0" u="none" strike="noStrike">
                        <a:solidFill>
                          <a:srgbClr val="000000"/>
                        </a:solidFill>
                        <a:effectLst/>
                        <a:latin typeface="Calibri" panose="020F0502020204030204" pitchFamily="34" charset="0"/>
                      </a:endParaRPr>
                    </a:p>
                  </a:txBody>
                  <a:tcPr marL="72000" marR="72000" marT="36000" marB="0" anchor="ctr"/>
                </a:tc>
                <a:tc>
                  <a:txBody>
                    <a:bodyPr/>
                    <a:lstStyle/>
                    <a:p>
                      <a:pPr marL="0" algn="l" defTabSz="914400" rtl="0" eaLnBrk="1" fontAlgn="b" latinLnBrk="0" hangingPunct="1"/>
                      <a:r>
                        <a:rPr lang="en-US" sz="1200" b="0" u="none" strike="noStrike" kern="1200" dirty="0">
                          <a:solidFill>
                            <a:srgbClr val="000000"/>
                          </a:solidFill>
                          <a:effectLst/>
                          <a:latin typeface="+mn-lt"/>
                          <a:ea typeface="+mn-ea"/>
                          <a:cs typeface="+mn-cs"/>
                        </a:rPr>
                        <a:t>Not error but processes for entities with large numbers entries can take many hour</a:t>
                      </a:r>
                    </a:p>
                  </a:txBody>
                  <a:tcPr marL="72000" marR="72000" marT="36000" marB="0" anchor="ctr"/>
                </a:tc>
                <a:tc>
                  <a:txBody>
                    <a:bodyPr/>
                    <a:lstStyle/>
                    <a:p>
                      <a:pPr marL="0" algn="l" defTabSz="914400" rtl="0" eaLnBrk="1" fontAlgn="b" latinLnBrk="0" hangingPunct="1"/>
                      <a:r>
                        <a:rPr lang="en-US" sz="1200" b="0" u="none" strike="noStrike" kern="1200" dirty="0">
                          <a:solidFill>
                            <a:srgbClr val="000000"/>
                          </a:solidFill>
                          <a:effectLst/>
                          <a:latin typeface="+mn-lt"/>
                          <a:ea typeface="+mn-ea"/>
                          <a:cs typeface="+mn-cs"/>
                        </a:rPr>
                        <a:t>GL Team needs to wait until the job finished.</a:t>
                      </a:r>
                    </a:p>
                  </a:txBody>
                  <a:tcPr marL="72000" marR="72000" marT="36000" marB="0" anchor="ctr"/>
                </a:tc>
                <a:extLst>
                  <a:ext uri="{0D108BD9-81ED-4DB2-BD59-A6C34878D82A}">
                    <a16:rowId xmlns:a16="http://schemas.microsoft.com/office/drawing/2014/main" val="2787535360"/>
                  </a:ext>
                </a:extLst>
              </a:tr>
            </a:tbl>
          </a:graphicData>
        </a:graphic>
      </p:graphicFrame>
    </p:spTree>
    <p:extLst>
      <p:ext uri="{BB962C8B-B14F-4D97-AF65-F5344CB8AC3E}">
        <p14:creationId xmlns:p14="http://schemas.microsoft.com/office/powerpoint/2010/main" val="29684177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893A8-0718-43C5-9F01-D4C2C6441A1A}"/>
              </a:ext>
            </a:extLst>
          </p:cNvPr>
          <p:cNvSpPr>
            <a:spLocks noGrp="1"/>
          </p:cNvSpPr>
          <p:nvPr>
            <p:ph type="title"/>
          </p:nvPr>
        </p:nvSpPr>
        <p:spPr/>
        <p:txBody>
          <a:bodyPr/>
          <a:lstStyle/>
          <a:p>
            <a:r>
              <a:rPr lang="en-GB"/>
              <a:t>G/L Balance Carry Forward: Validation</a:t>
            </a:r>
          </a:p>
        </p:txBody>
      </p:sp>
      <p:sp>
        <p:nvSpPr>
          <p:cNvPr id="5" name="Slide Number Placeholder 4">
            <a:extLst>
              <a:ext uri="{FF2B5EF4-FFF2-40B4-BE49-F238E27FC236}">
                <a16:creationId xmlns:a16="http://schemas.microsoft.com/office/drawing/2014/main" id="{86C28B6E-4826-4046-B675-424DC168604A}"/>
              </a:ext>
            </a:extLst>
          </p:cNvPr>
          <p:cNvSpPr>
            <a:spLocks noGrp="1"/>
          </p:cNvSpPr>
          <p:nvPr>
            <p:ph type="sldNum" sz="quarter" idx="12"/>
          </p:nvPr>
        </p:nvSpPr>
        <p:spPr/>
        <p:txBody>
          <a:bodyPr/>
          <a:lstStyle/>
          <a:p>
            <a:fld id="{F4C94289-3309-4C35-850A-56FD49B3E346}" type="slidenum">
              <a:rPr lang="en-GB" smtClean="0"/>
              <a:t>15</a:t>
            </a:fld>
            <a:endParaRPr lang="en-GB"/>
          </a:p>
        </p:txBody>
      </p:sp>
      <p:pic>
        <p:nvPicPr>
          <p:cNvPr id="4" name="Picture 3">
            <a:extLst>
              <a:ext uri="{FF2B5EF4-FFF2-40B4-BE49-F238E27FC236}">
                <a16:creationId xmlns:a16="http://schemas.microsoft.com/office/drawing/2014/main" id="{C754A06D-3594-4EAB-A69A-FDA67446EB9B}"/>
              </a:ext>
            </a:extLst>
          </p:cNvPr>
          <p:cNvPicPr>
            <a:picLocks noChangeAspect="1"/>
          </p:cNvPicPr>
          <p:nvPr/>
        </p:nvPicPr>
        <p:blipFill>
          <a:blip r:embed="rId2"/>
          <a:stretch>
            <a:fillRect/>
          </a:stretch>
        </p:blipFill>
        <p:spPr>
          <a:xfrm>
            <a:off x="486939" y="1430510"/>
            <a:ext cx="4980952" cy="2476190"/>
          </a:xfrm>
          <a:prstGeom prst="rect">
            <a:avLst/>
          </a:prstGeom>
          <a:effectLst>
            <a:outerShdw blurRad="50800" dist="38100" dir="2700000" algn="tl" rotWithShape="0">
              <a:prstClr val="black">
                <a:alpha val="40000"/>
              </a:prstClr>
            </a:outerShdw>
          </a:effectLst>
        </p:spPr>
      </p:pic>
      <p:pic>
        <p:nvPicPr>
          <p:cNvPr id="7" name="Picture 6">
            <a:extLst>
              <a:ext uri="{FF2B5EF4-FFF2-40B4-BE49-F238E27FC236}">
                <a16:creationId xmlns:a16="http://schemas.microsoft.com/office/drawing/2014/main" id="{8C3B9573-ED84-46BE-919F-E7E63C904CE3}"/>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3213908" y="3249685"/>
            <a:ext cx="4457427" cy="3024386"/>
          </a:xfrm>
          <a:prstGeom prst="rect">
            <a:avLst/>
          </a:prstGeom>
          <a:effectLst>
            <a:outerShdw blurRad="50800" dist="38100" dir="2700000" algn="tl" rotWithShape="0">
              <a:prstClr val="black">
                <a:alpha val="40000"/>
              </a:prstClr>
            </a:outerShdw>
          </a:effectLst>
        </p:spPr>
      </p:pic>
      <p:sp>
        <p:nvSpPr>
          <p:cNvPr id="6" name="Rectangle: Rounded Corners 5">
            <a:extLst>
              <a:ext uri="{FF2B5EF4-FFF2-40B4-BE49-F238E27FC236}">
                <a16:creationId xmlns:a16="http://schemas.microsoft.com/office/drawing/2014/main" id="{4B68187D-3894-4677-B4DF-25E2417C3059}"/>
              </a:ext>
            </a:extLst>
          </p:cNvPr>
          <p:cNvSpPr/>
          <p:nvPr/>
        </p:nvSpPr>
        <p:spPr>
          <a:xfrm>
            <a:off x="486939" y="1362941"/>
            <a:ext cx="1905279" cy="281132"/>
          </a:xfrm>
          <a:prstGeom prst="roundRect">
            <a:avLst/>
          </a:prstGeom>
          <a:solidFill>
            <a:schemeClr val="bg1"/>
          </a:solid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FAGLB03: G/L Balance Display</a:t>
            </a:r>
          </a:p>
        </p:txBody>
      </p:sp>
      <p:cxnSp>
        <p:nvCxnSpPr>
          <p:cNvPr id="8" name="Straight Arrow Connector 7">
            <a:extLst>
              <a:ext uri="{FF2B5EF4-FFF2-40B4-BE49-F238E27FC236}">
                <a16:creationId xmlns:a16="http://schemas.microsoft.com/office/drawing/2014/main" id="{506AB01F-4914-4852-995D-57135345B73A}"/>
              </a:ext>
            </a:extLst>
          </p:cNvPr>
          <p:cNvCxnSpPr>
            <a:cxnSpLocks/>
            <a:endCxn id="12" idx="0"/>
          </p:cNvCxnSpPr>
          <p:nvPr/>
        </p:nvCxnSpPr>
        <p:spPr>
          <a:xfrm>
            <a:off x="3213908" y="2613891"/>
            <a:ext cx="2228713" cy="3207337"/>
          </a:xfrm>
          <a:prstGeom prst="straightConnector1">
            <a:avLst/>
          </a:prstGeom>
          <a:ln w="9525">
            <a:solidFill>
              <a:srgbClr val="FF0000"/>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A4AD70C4-DB60-4FF3-8C73-F7A782D0AE0B}"/>
              </a:ext>
            </a:extLst>
          </p:cNvPr>
          <p:cNvSpPr/>
          <p:nvPr/>
        </p:nvSpPr>
        <p:spPr>
          <a:xfrm>
            <a:off x="1164766" y="2502950"/>
            <a:ext cx="2049142" cy="281132"/>
          </a:xfrm>
          <a:prstGeom prst="roundRect">
            <a:avLst>
              <a:gd name="adj" fmla="val 426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12" name="Rectangle: Rounded Corners 11">
            <a:extLst>
              <a:ext uri="{FF2B5EF4-FFF2-40B4-BE49-F238E27FC236}">
                <a16:creationId xmlns:a16="http://schemas.microsoft.com/office/drawing/2014/main" id="{C9EA16C7-8FD3-4C8A-99C5-662CE7C90283}"/>
              </a:ext>
            </a:extLst>
          </p:cNvPr>
          <p:cNvSpPr/>
          <p:nvPr/>
        </p:nvSpPr>
        <p:spPr>
          <a:xfrm>
            <a:off x="3213908" y="5821228"/>
            <a:ext cx="4457426" cy="204666"/>
          </a:xfrm>
          <a:prstGeom prst="roundRect">
            <a:avLst>
              <a:gd name="adj" fmla="val 426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14" name="Rectangle 13">
            <a:extLst>
              <a:ext uri="{FF2B5EF4-FFF2-40B4-BE49-F238E27FC236}">
                <a16:creationId xmlns:a16="http://schemas.microsoft.com/office/drawing/2014/main" id="{86E2647D-61D2-4F74-9714-CC8FAD918358}"/>
              </a:ext>
            </a:extLst>
          </p:cNvPr>
          <p:cNvSpPr/>
          <p:nvPr/>
        </p:nvSpPr>
        <p:spPr>
          <a:xfrm>
            <a:off x="5575616" y="1555268"/>
            <a:ext cx="6339293" cy="1092607"/>
          </a:xfrm>
          <a:prstGeom prst="rect">
            <a:avLst/>
          </a:prstGeom>
        </p:spPr>
        <p:txBody>
          <a:bodyPr wrap="square">
            <a:spAutoFit/>
          </a:bodyPr>
          <a:lstStyle/>
          <a:p>
            <a:pPr marL="171450" indent="-171450">
              <a:lnSpc>
                <a:spcPts val="1200"/>
              </a:lnSpc>
              <a:spcBef>
                <a:spcPts val="600"/>
              </a:spcBef>
              <a:buFont typeface="Arial" panose="020B0604020202020204" pitchFamily="34" charset="0"/>
              <a:buChar char="•"/>
              <a:defRPr/>
            </a:pPr>
            <a:r>
              <a:rPr lang="en-GB" sz="1200" i="1">
                <a:solidFill>
                  <a:srgbClr val="000000"/>
                </a:solidFill>
                <a:latin typeface="Georgia" panose="02040502050405020303" pitchFamily="18" charset="0"/>
              </a:rPr>
              <a:t>One of the quickest ways to validate if G/L Balance Carry Forward is actually performed is to check the FAGLB03 report.</a:t>
            </a:r>
          </a:p>
          <a:p>
            <a:pPr marL="171450" indent="-171450">
              <a:lnSpc>
                <a:spcPts val="1200"/>
              </a:lnSpc>
              <a:spcBef>
                <a:spcPts val="600"/>
              </a:spcBef>
              <a:buFont typeface="Arial" panose="020B0604020202020204" pitchFamily="34" charset="0"/>
              <a:buChar char="•"/>
              <a:defRPr/>
            </a:pPr>
            <a:r>
              <a:rPr lang="en-GB" sz="1200" i="1">
                <a:solidFill>
                  <a:srgbClr val="000000"/>
                </a:solidFill>
                <a:latin typeface="Georgia" panose="02040502050405020303" pitchFamily="18" charset="0"/>
              </a:rPr>
              <a:t>You may check it for any ledger and any account, which should show a balance in the first row “</a:t>
            </a:r>
            <a:r>
              <a:rPr lang="en-GB" sz="1200" i="1" err="1">
                <a:solidFill>
                  <a:srgbClr val="000000"/>
                </a:solidFill>
                <a:latin typeface="Georgia" panose="02040502050405020303" pitchFamily="18" charset="0"/>
              </a:rPr>
              <a:t>Bal.Carryforward</a:t>
            </a:r>
            <a:r>
              <a:rPr lang="en-GB" sz="1200" i="1">
                <a:solidFill>
                  <a:srgbClr val="000000"/>
                </a:solidFill>
                <a:latin typeface="Georgia" panose="02040502050405020303" pitchFamily="18" charset="0"/>
              </a:rPr>
              <a:t>” if carry </a:t>
            </a:r>
            <a:r>
              <a:rPr lang="en-GB" sz="1200" i="1" err="1">
                <a:solidFill>
                  <a:srgbClr val="000000"/>
                </a:solidFill>
                <a:latin typeface="Georgia" panose="02040502050405020303" pitchFamily="18" charset="0"/>
              </a:rPr>
              <a:t>foward</a:t>
            </a:r>
            <a:r>
              <a:rPr lang="en-GB" sz="1200" i="1">
                <a:solidFill>
                  <a:srgbClr val="000000"/>
                </a:solidFill>
                <a:latin typeface="Georgia" panose="02040502050405020303" pitchFamily="18" charset="0"/>
              </a:rPr>
              <a:t> is done. Normally we would check a retained earning account, as this can tell if P&amp;L accounts have been carried over to retained earnings in the new fiscal year.</a:t>
            </a:r>
          </a:p>
        </p:txBody>
      </p:sp>
      <p:sp>
        <p:nvSpPr>
          <p:cNvPr id="15" name="Rectangle 14">
            <a:extLst>
              <a:ext uri="{FF2B5EF4-FFF2-40B4-BE49-F238E27FC236}">
                <a16:creationId xmlns:a16="http://schemas.microsoft.com/office/drawing/2014/main" id="{49DF8273-3D21-48CE-8065-1A4ACC40DCF9}"/>
              </a:ext>
            </a:extLst>
          </p:cNvPr>
          <p:cNvSpPr/>
          <p:nvPr/>
        </p:nvSpPr>
        <p:spPr>
          <a:xfrm>
            <a:off x="7777018" y="3457034"/>
            <a:ext cx="4211782" cy="1554272"/>
          </a:xfrm>
          <a:prstGeom prst="rect">
            <a:avLst/>
          </a:prstGeom>
        </p:spPr>
        <p:txBody>
          <a:bodyPr wrap="square">
            <a:spAutoFit/>
          </a:bodyPr>
          <a:lstStyle/>
          <a:p>
            <a:pPr marL="171450" indent="-171450">
              <a:lnSpc>
                <a:spcPts val="1200"/>
              </a:lnSpc>
              <a:spcBef>
                <a:spcPts val="600"/>
              </a:spcBef>
              <a:buFont typeface="Arial" panose="020B0604020202020204" pitchFamily="34" charset="0"/>
              <a:buChar char="•"/>
              <a:defRPr/>
            </a:pPr>
            <a:r>
              <a:rPr lang="en-GB" sz="1200" i="1">
                <a:solidFill>
                  <a:srgbClr val="000000"/>
                </a:solidFill>
                <a:latin typeface="Georgia" panose="02040502050405020303" pitchFamily="18" charset="0"/>
              </a:rPr>
              <a:t>You will normally be able to double click the balance you see on FAGLB03 report, however please be aware that the line items you see upon double clicking </a:t>
            </a:r>
            <a:r>
              <a:rPr lang="en-GB" sz="1200" b="1" i="1">
                <a:solidFill>
                  <a:srgbClr val="000000"/>
                </a:solidFill>
                <a:latin typeface="Georgia" panose="02040502050405020303" pitchFamily="18" charset="0"/>
              </a:rPr>
              <a:t>will not contain the line items that have been added to ACDOCA table during the balance carry forward. </a:t>
            </a:r>
            <a:r>
              <a:rPr lang="en-GB" sz="1200" i="1">
                <a:solidFill>
                  <a:srgbClr val="000000"/>
                </a:solidFill>
                <a:latin typeface="Georgia" panose="02040502050405020303" pitchFamily="18" charset="0"/>
              </a:rPr>
              <a:t>This is a technical nature of the system. </a:t>
            </a:r>
          </a:p>
          <a:p>
            <a:pPr marL="171450" indent="-171450">
              <a:lnSpc>
                <a:spcPts val="1200"/>
              </a:lnSpc>
              <a:spcBef>
                <a:spcPts val="600"/>
              </a:spcBef>
              <a:buFont typeface="Arial" panose="020B0604020202020204" pitchFamily="34" charset="0"/>
              <a:buChar char="•"/>
              <a:defRPr/>
            </a:pPr>
            <a:r>
              <a:rPr lang="en-GB" sz="1200" i="1">
                <a:solidFill>
                  <a:srgbClr val="000000"/>
                </a:solidFill>
                <a:latin typeface="Georgia" panose="02040502050405020303" pitchFamily="18" charset="0"/>
              </a:rPr>
              <a:t>You will only see the postings of prior years posted to the account that you are displaying if any of such postings exit.</a:t>
            </a:r>
          </a:p>
        </p:txBody>
      </p:sp>
    </p:spTree>
    <p:extLst>
      <p:ext uri="{BB962C8B-B14F-4D97-AF65-F5344CB8AC3E}">
        <p14:creationId xmlns:p14="http://schemas.microsoft.com/office/powerpoint/2010/main" val="39499258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D90CC5F-7E64-4D1A-90F2-3D2368F93671}"/>
              </a:ext>
            </a:extLst>
          </p:cNvPr>
          <p:cNvSpPr>
            <a:spLocks noGrp="1"/>
          </p:cNvSpPr>
          <p:nvPr>
            <p:ph type="title"/>
          </p:nvPr>
        </p:nvSpPr>
        <p:spPr>
          <a:xfrm>
            <a:off x="515938" y="866408"/>
            <a:ext cx="8961437" cy="4334668"/>
          </a:xfrm>
        </p:spPr>
        <p:txBody>
          <a:bodyPr/>
          <a:lstStyle/>
          <a:p>
            <a:r>
              <a:rPr lang="en-GB"/>
              <a:t>Demonstration &amp; exercises</a:t>
            </a:r>
          </a:p>
        </p:txBody>
      </p:sp>
      <p:sp>
        <p:nvSpPr>
          <p:cNvPr id="2" name="Slide Number Placeholder 1">
            <a:extLst>
              <a:ext uri="{FF2B5EF4-FFF2-40B4-BE49-F238E27FC236}">
                <a16:creationId xmlns:a16="http://schemas.microsoft.com/office/drawing/2014/main" id="{45968D6E-A1C2-48A1-8EEA-68D04FC7DD8F}"/>
              </a:ext>
            </a:extLst>
          </p:cNvPr>
          <p:cNvSpPr>
            <a:spLocks noGrp="1"/>
          </p:cNvSpPr>
          <p:nvPr>
            <p:ph type="sldNum" sz="quarter" idx="12"/>
          </p:nvPr>
        </p:nvSpPr>
        <p:spPr/>
        <p:txBody>
          <a:bodyPr/>
          <a:lstStyle/>
          <a:p>
            <a:fld id="{1A6A2304-23DC-2B46-BD14-F082077842FF}" type="slidenum">
              <a:rPr lang="en-US" smtClean="0"/>
              <a:t>16</a:t>
            </a:fld>
            <a:endParaRPr lang="en-US"/>
          </a:p>
        </p:txBody>
      </p:sp>
      <p:sp>
        <p:nvSpPr>
          <p:cNvPr id="4" name="Rectangle 3">
            <a:extLst>
              <a:ext uri="{FF2B5EF4-FFF2-40B4-BE49-F238E27FC236}">
                <a16:creationId xmlns:a16="http://schemas.microsoft.com/office/drawing/2014/main" id="{7DF6DE24-71F6-4B4D-B00E-1C92B20D83D9}"/>
              </a:ext>
            </a:extLst>
          </p:cNvPr>
          <p:cNvSpPr>
            <a:spLocks noChangeArrowheads="1"/>
          </p:cNvSpPr>
          <p:nvPr/>
        </p:nvSpPr>
        <p:spPr bwMode="auto">
          <a:xfrm>
            <a:off x="725715" y="3745523"/>
            <a:ext cx="10111656" cy="2734559"/>
          </a:xfrm>
          <a:prstGeom prst="rect">
            <a:avLst/>
          </a:prstGeom>
          <a:noFill/>
          <a:ln w="12700">
            <a:noFill/>
            <a:miter lim="800000"/>
            <a:headEnd/>
            <a:tailEnd/>
          </a:ln>
          <a:effectLst/>
        </p:spPr>
        <p:txBody>
          <a:bodyPr lIns="92075" tIns="457200" rIns="92075" bIns="457200"/>
          <a:lstStyle/>
          <a:p>
            <a:pPr marL="180000" indent="-180000">
              <a:spcBef>
                <a:spcPct val="40000"/>
              </a:spcBef>
              <a:buClr>
                <a:schemeClr val="bg2"/>
              </a:buClr>
              <a:buSzPct val="80000"/>
              <a:buFont typeface="Wingdings" pitchFamily="2" charset="2"/>
              <a:buChar char="§"/>
            </a:pPr>
            <a:r>
              <a:rPr lang="en-US" b="1" dirty="0">
                <a:solidFill>
                  <a:schemeClr val="bg1"/>
                </a:solidFill>
                <a:cs typeface="Arial" pitchFamily="34" charset="0"/>
              </a:rPr>
              <a:t>Exercise No. 7: </a:t>
            </a:r>
            <a:r>
              <a:rPr lang="en-US" dirty="0">
                <a:solidFill>
                  <a:schemeClr val="bg1"/>
                </a:solidFill>
                <a:cs typeface="Arial" pitchFamily="34" charset="0"/>
              </a:rPr>
              <a:t>Perform G/L Balance Carry Forward using T-Code </a:t>
            </a:r>
            <a:r>
              <a:rPr lang="en-US" dirty="0">
                <a:solidFill>
                  <a:schemeClr val="bg1"/>
                </a:solidFill>
              </a:rPr>
              <a:t>FAGLGVTR</a:t>
            </a:r>
            <a:endParaRPr lang="en-US" sz="2400" dirty="0">
              <a:solidFill>
                <a:schemeClr val="bg1"/>
              </a:solidFill>
            </a:endParaRPr>
          </a:p>
          <a:p>
            <a:pPr marL="180000" indent="-180000" algn="l">
              <a:spcBef>
                <a:spcPct val="40000"/>
              </a:spcBef>
              <a:buClr>
                <a:schemeClr val="bg2"/>
              </a:buClr>
              <a:buSzPct val="80000"/>
              <a:buFont typeface="Wingdings" pitchFamily="2" charset="2"/>
              <a:buChar char="§"/>
            </a:pPr>
            <a:endParaRPr lang="en-US" sz="1800" dirty="0">
              <a:solidFill>
                <a:schemeClr val="bg1"/>
              </a:solidFill>
              <a:cs typeface="Arial" pitchFamily="34" charset="0"/>
            </a:endParaRPr>
          </a:p>
        </p:txBody>
      </p:sp>
      <p:sp>
        <p:nvSpPr>
          <p:cNvPr id="6" name="Rectangle: Rounded Corners 5">
            <a:extLst>
              <a:ext uri="{FF2B5EF4-FFF2-40B4-BE49-F238E27FC236}">
                <a16:creationId xmlns:a16="http://schemas.microsoft.com/office/drawing/2014/main" id="{BE07B137-E250-4AC5-81D1-F142F8E125F0}"/>
              </a:ext>
            </a:extLst>
          </p:cNvPr>
          <p:cNvSpPr/>
          <p:nvPr/>
        </p:nvSpPr>
        <p:spPr>
          <a:xfrm>
            <a:off x="600318" y="3613638"/>
            <a:ext cx="10152673" cy="2866444"/>
          </a:xfrm>
          <a:prstGeom prst="roundRect">
            <a:avLst>
              <a:gd name="adj" fmla="val 7381"/>
            </a:avLst>
          </a:prstGeom>
          <a:noFill/>
          <a:ln w="57150">
            <a:solidFill>
              <a:schemeClr val="bg1"/>
            </a:solid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911708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907484"/>
      </p:ext>
    </p:extLst>
  </p:cSld>
  <p:clrMapOvr>
    <a:masterClrMapping/>
  </p:clrMapOvr>
</p:sld>
</file>

<file path=ppt/theme/theme1.xml><?xml version="1.0" encoding="utf-8"?>
<a:theme xmlns:a="http://schemas.openxmlformats.org/drawingml/2006/main" name="1_S4F-ERP Clean IFRS Stat &amp; Tax Rep">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effectLst>
          <a:outerShdw blurRad="50800" dist="38100" dir="2700000" algn="tl" rotWithShape="0">
            <a:prstClr val="black">
              <a:alpha val="40000"/>
            </a:prstClr>
          </a:outerShdw>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2.xml><?xml version="1.0" encoding="utf-8"?>
<a:theme xmlns:a="http://schemas.openxmlformats.org/drawingml/2006/main" name="Theme_new_JTI_2019">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effectLst>
          <a:outerShdw blurRad="50800" dist="38100" dir="2700000" algn="tl" rotWithShape="0">
            <a:prstClr val="black">
              <a:alpha val="40000"/>
            </a:prstClr>
          </a:outerShdw>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Theme_new_JTI_2019" id="{AC63BD66-588F-44A9-9AF1-34FCD0DAEC67}" vid="{6D463B28-2833-440F-9D0F-115CB299EF29}"/>
    </a:ext>
  </a:extLst>
</a:theme>
</file>

<file path=ppt/theme/theme3.xml><?xml version="1.0" encoding="utf-8"?>
<a:theme xmlns:a="http://schemas.openxmlformats.org/drawingml/2006/main" name="S4F-ERP Period End Closing">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4.xml><?xml version="1.0" encoding="utf-8"?>
<a:theme xmlns:a="http://schemas.openxmlformats.org/drawingml/2006/main" name="1_S4F-ERP Period End Closing">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effectLst>
          <a:outerShdw blurRad="50800" dist="38100" dir="2700000" algn="tl" rotWithShape="0">
            <a:prstClr val="black">
              <a:alpha val="40000"/>
            </a:prstClr>
          </a:outerShdw>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rgbClr val="FF0000"/>
          </a:solidFill>
          <a:tailEnd type="triangle"/>
        </a:ln>
        <a:effectLst>
          <a:outerShdw blurRad="50800" dist="38100" dir="2700000" algn="tl" rotWithShape="0">
            <a:prstClr val="black">
              <a:alpha val="40000"/>
            </a:prstClr>
          </a:outerShdw>
        </a:effectLst>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A691DA1475FED40816A34A9887BD419" ma:contentTypeVersion="25" ma:contentTypeDescription="Create a new document." ma:contentTypeScope="" ma:versionID="f84ceb03c7fb484362c32ee8faf439b3">
  <xsd:schema xmlns:xsd="http://www.w3.org/2001/XMLSchema" xmlns:xs="http://www.w3.org/2001/XMLSchema" xmlns:p="http://schemas.microsoft.com/office/2006/metadata/properties" xmlns:ns1="http://schemas.microsoft.com/sharepoint/v3" xmlns:ns2="91871c47-af2e-43ea-ad3f-7bb4c536bc45" xmlns:ns3="ba249638-b5c4-4b59-8094-70d8491c2e9c" xmlns:ns4="cb52ee0d-5346-4ae8-a9f9-d746adffeb6b" targetNamespace="http://schemas.microsoft.com/office/2006/metadata/properties" ma:root="true" ma:fieldsID="54372b6b2bb40f924c416d4186193cec" ns1:_="" ns2:_="" ns3:_="" ns4:_="">
    <xsd:import namespace="http://schemas.microsoft.com/sharepoint/v3"/>
    <xsd:import namespace="91871c47-af2e-43ea-ad3f-7bb4c536bc45"/>
    <xsd:import namespace="ba249638-b5c4-4b59-8094-70d8491c2e9c"/>
    <xsd:import namespace="cb52ee0d-5346-4ae8-a9f9-d746adffeb6b"/>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KeyPoints" minOccurs="0"/>
                <xsd:element ref="ns2:MediaServiceKeyPoints" minOccurs="0"/>
                <xsd:element ref="ns2:MediaLengthInSeconds" minOccurs="0"/>
                <xsd:element ref="ns2:ReportDate" minOccurs="0"/>
                <xsd:element ref="ns2:MediaServiceAutoTags"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2:MediaServiceLocation" minOccurs="0"/>
                <xsd:element ref="ns2:MediaServiceObjectDetectorVersions" minOccurs="0"/>
                <xsd:element ref="ns2:MediaServiceSearchProperties" minOccurs="0"/>
                <xsd:element ref="ns1:_ip_UnifiedCompliancePolicyProperties" minOccurs="0"/>
                <xsd:element ref="ns1:_ip_UnifiedCompliancePolicyUIAction" minOccurs="0"/>
                <xsd:element ref="ns2:Remarks" minOccurs="0"/>
                <xsd:element ref="ns2:Details" minOccurs="0"/>
                <xsd:element ref="ns2:FolderInfo" minOccurs="0"/>
                <xsd:element ref="ns2:T_x002d_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7" nillable="true" ma:displayName="Unified Compliance Policy Properties" ma:hidden="true" ma:internalName="_ip_UnifiedCompliancePolicyProperties">
      <xsd:simpleType>
        <xsd:restriction base="dms:Note"/>
      </xsd:simpleType>
    </xsd:element>
    <xsd:element name="_ip_UnifiedCompliancePolicyUIAction" ma:index="2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871c47-af2e-43ea-ad3f-7bb4c536bc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ReportDate" ma:index="16" nillable="true" ma:displayName="Report Date" ma:format="DateOnly" ma:internalName="ReportDate">
      <xsd:simpleType>
        <xsd:restriction base="dms:DateTime"/>
      </xsd:simpleType>
    </xsd:element>
    <xsd:element name="MediaServiceAutoTags" ma:index="17" nillable="true" ma:displayName="Tags" ma:internalName="MediaServiceAutoTags"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3dfe741-475c-44cf-bcd4-46bfd3fd0691" ma:termSetId="09814cd3-568e-fe90-9814-8d621ff8fb84" ma:anchorId="fba54fb3-c3e1-fe81-a776-ca4b69148c4d" ma:open="true" ma:isKeyword="false">
      <xsd:complexType>
        <xsd:sequence>
          <xsd:element ref="pc:Terms" minOccurs="0" maxOccurs="1"/>
        </xsd:sequence>
      </xsd:complex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OCR" ma:index="23" nillable="true" ma:displayName="Extracted Text" ma:internalName="MediaServiceOCR" ma:readOnly="true">
      <xsd:simpleType>
        <xsd:restriction base="dms:Note">
          <xsd:maxLength value="255"/>
        </xsd:restriction>
      </xsd:simpleType>
    </xsd:element>
    <xsd:element name="MediaServiceLocation" ma:index="24" nillable="true" ma:displayName="Location" ma:indexed="true" ma:internalName="MediaServiceLocation" ma:readOnly="true">
      <xsd:simpleType>
        <xsd:restriction base="dms:Text"/>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Remarks" ma:index="29" nillable="true" ma:displayName="Remarks" ma:format="Dropdown" ma:internalName="Remarks">
      <xsd:simpleType>
        <xsd:restriction base="dms:Text">
          <xsd:maxLength value="255"/>
        </xsd:restriction>
      </xsd:simpleType>
    </xsd:element>
    <xsd:element name="Details" ma:index="30" nillable="true" ma:displayName="Details" ma:format="Dropdown" ma:internalName="Details">
      <xsd:simpleType>
        <xsd:restriction base="dms:Note">
          <xsd:maxLength value="255"/>
        </xsd:restriction>
      </xsd:simpleType>
    </xsd:element>
    <xsd:element name="FolderInfo" ma:index="31" nillable="true" ma:displayName="Folder/File Info" ma:format="Dropdown" ma:internalName="FolderInfo">
      <xsd:simpleType>
        <xsd:restriction base="dms:Note">
          <xsd:maxLength value="255"/>
        </xsd:restriction>
      </xsd:simpleType>
    </xsd:element>
    <xsd:element name="T_x002d_Code" ma:index="32" nillable="true" ma:displayName="T-Code" ma:format="Dropdown" ma:internalName="T_x002d_Cod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a249638-b5c4-4b59-8094-70d8491c2e9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b52ee0d-5346-4ae8-a9f9-d746adffeb6b"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4cb22aed-3451-4198-9f27-006c28665e31}" ma:internalName="TaxCatchAll" ma:showField="CatchAllData" ma:web="cb52ee0d-5346-4ae8-a9f9-d746adffeb6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haredWithUsers xmlns="ba249638-b5c4-4b59-8094-70d8491c2e9c">
      <UserInfo>
        <DisplayName>Kovzhik, Lina</DisplayName>
        <AccountId>3249</AccountId>
        <AccountType/>
      </UserInfo>
      <UserInfo>
        <DisplayName>Eliseeva, Julia</DisplayName>
        <AccountId>2595</AccountId>
        <AccountType/>
      </UserInfo>
    </SharedWithUsers>
    <ReportDate xmlns="91871c47-af2e-43ea-ad3f-7bb4c536bc45" xsi:nil="true"/>
    <lcf76f155ced4ddcb4097134ff3c332f xmlns="91871c47-af2e-43ea-ad3f-7bb4c536bc45">
      <Terms xmlns="http://schemas.microsoft.com/office/infopath/2007/PartnerControls"/>
    </lcf76f155ced4ddcb4097134ff3c332f>
    <TaxCatchAll xmlns="cb52ee0d-5346-4ae8-a9f9-d746adffeb6b" xsi:nil="true"/>
    <_ip_UnifiedCompliancePolicyUIAction xmlns="http://schemas.microsoft.com/sharepoint/v3" xsi:nil="true"/>
    <_ip_UnifiedCompliancePolicyProperties xmlns="http://schemas.microsoft.com/sharepoint/v3" xsi:nil="true"/>
    <Details xmlns="91871c47-af2e-43ea-ad3f-7bb4c536bc45" xsi:nil="true"/>
    <FolderInfo xmlns="91871c47-af2e-43ea-ad3f-7bb4c536bc45" xsi:nil="true"/>
    <Remarks xmlns="91871c47-af2e-43ea-ad3f-7bb4c536bc45" xsi:nil="true"/>
    <T_x002d_Code xmlns="91871c47-af2e-43ea-ad3f-7bb4c536bc45" xsi:nil="true"/>
  </documentManagement>
</p:properties>
</file>

<file path=customXml/itemProps1.xml><?xml version="1.0" encoding="utf-8"?>
<ds:datastoreItem xmlns:ds="http://schemas.openxmlformats.org/officeDocument/2006/customXml" ds:itemID="{5F43394D-A9A2-4315-AC7E-DD8C77BEB19A}">
  <ds:schemaRefs>
    <ds:schemaRef ds:uri="http://schemas.microsoft.com/sharepoint/v3/contenttype/forms"/>
  </ds:schemaRefs>
</ds:datastoreItem>
</file>

<file path=customXml/itemProps2.xml><?xml version="1.0" encoding="utf-8"?>
<ds:datastoreItem xmlns:ds="http://schemas.openxmlformats.org/officeDocument/2006/customXml" ds:itemID="{2019985F-79C6-4E1E-BD4A-6158647B315B}"/>
</file>

<file path=customXml/itemProps3.xml><?xml version="1.0" encoding="utf-8"?>
<ds:datastoreItem xmlns:ds="http://schemas.openxmlformats.org/officeDocument/2006/customXml" ds:itemID="{E3BC77B7-89BE-45D2-B43A-94AB4C5F40F4}">
  <ds:schemaRefs>
    <ds:schemaRef ds:uri="http://schemas.microsoft.com/office/infopath/2007/PartnerControls"/>
    <ds:schemaRef ds:uri="91871c47-af2e-43ea-ad3f-7bb4c536bc45"/>
    <ds:schemaRef ds:uri="http://schemas.microsoft.com/office/2006/documentManagement/types"/>
    <ds:schemaRef ds:uri="http://schemas.openxmlformats.org/package/2006/metadata/core-properties"/>
    <ds:schemaRef ds:uri="cb52ee0d-5346-4ae8-a9f9-d746adffeb6b"/>
    <ds:schemaRef ds:uri="http://www.w3.org/XML/1998/namespace"/>
    <ds:schemaRef ds:uri="ba249638-b5c4-4b59-8094-70d8491c2e9c"/>
    <ds:schemaRef ds:uri="http://purl.org/dc/elements/1.1/"/>
    <ds:schemaRef ds:uri="http://schemas.microsoft.com/office/2006/metadata/properties"/>
    <ds:schemaRef ds:uri="http://purl.org/dc/dcmitype/"/>
    <ds:schemaRef ds:uri="http://purl.org/dc/terms/"/>
  </ds:schemaRefs>
</ds:datastoreItem>
</file>

<file path=docMetadata/LabelInfo.xml><?xml version="1.0" encoding="utf-8"?>
<clbl:labelList xmlns:clbl="http://schemas.microsoft.com/office/2020/mipLabelMetadata">
  <clbl:label id="{b020b37f-db72-473e-ae54-fb16df408069}" enabled="1" method="Standard" siteId="{705d07a3-2eea-4f3b-ab59-65ca29abeb26}" removed="0"/>
</clbl:labelList>
</file>

<file path=docProps/app.xml><?xml version="1.0" encoding="utf-8"?>
<Properties xmlns="http://schemas.openxmlformats.org/officeDocument/2006/extended-properties" xmlns:vt="http://schemas.openxmlformats.org/officeDocument/2006/docPropsVTypes">
  <Template>S4F Template</Template>
  <TotalTime>77</TotalTime>
  <Words>2406</Words>
  <Application>Microsoft Office PowerPoint</Application>
  <PresentationFormat>Widescreen</PresentationFormat>
  <Paragraphs>151</Paragraphs>
  <Slides>17</Slides>
  <Notes>2</Notes>
  <HiddenSlides>0</HiddenSlides>
  <MMClips>0</MMClips>
  <ScaleCrop>false</ScaleCrop>
  <HeadingPairs>
    <vt:vector size="6" baseType="variant">
      <vt:variant>
        <vt:lpstr>Fonts Used</vt:lpstr>
      </vt:variant>
      <vt:variant>
        <vt:i4>5</vt:i4>
      </vt:variant>
      <vt:variant>
        <vt:lpstr>Theme</vt:lpstr>
      </vt:variant>
      <vt:variant>
        <vt:i4>4</vt:i4>
      </vt:variant>
      <vt:variant>
        <vt:lpstr>Slide Titles</vt:lpstr>
      </vt:variant>
      <vt:variant>
        <vt:i4>17</vt:i4>
      </vt:variant>
    </vt:vector>
  </HeadingPairs>
  <TitlesOfParts>
    <vt:vector size="26" baseType="lpstr">
      <vt:lpstr>Arial</vt:lpstr>
      <vt:lpstr>Calibri</vt:lpstr>
      <vt:lpstr>Courier New</vt:lpstr>
      <vt:lpstr>Georgia</vt:lpstr>
      <vt:lpstr>Wingdings</vt:lpstr>
      <vt:lpstr>1_S4F-ERP Clean IFRS Stat &amp; Tax Rep</vt:lpstr>
      <vt:lpstr>Theme_new_JTI_2019</vt:lpstr>
      <vt:lpstr>S4F-ERP Period End Closing</vt:lpstr>
      <vt:lpstr>1_S4F-ERP Period End Closing</vt:lpstr>
      <vt:lpstr>Course Structure</vt:lpstr>
      <vt:lpstr>Year End Specific Closing Activities</vt:lpstr>
      <vt:lpstr>Period End Closing Execution (GBS/JTBC) </vt:lpstr>
      <vt:lpstr>Balance Carry forward for Receivables/Payables: Execution</vt:lpstr>
      <vt:lpstr>Balance Carry forward for Receivables/Payables: Validation</vt:lpstr>
      <vt:lpstr>Period End Closing Execution (GBS/JTBC) </vt:lpstr>
      <vt:lpstr>Asset Accounting Fiscal Year Close</vt:lpstr>
      <vt:lpstr>Asset Accounting Fiscal Year Close - Common Error</vt:lpstr>
      <vt:lpstr>Period End Closing Execution (GBS/JTBC) </vt:lpstr>
      <vt:lpstr>G/L Balance Carry Forward: Execution (1/2)</vt:lpstr>
      <vt:lpstr>G/L Balance Carry Forward: Execution (1/2)</vt:lpstr>
      <vt:lpstr>G/L Balance Carry Forward: Execution (2/2)</vt:lpstr>
      <vt:lpstr>G/L Balance Carry Forward: Output</vt:lpstr>
      <vt:lpstr>G/L Balance Carry Forward - Common Error</vt:lpstr>
      <vt:lpstr>G/L Balance Carry Forward: Validation</vt:lpstr>
      <vt:lpstr>Demonstration &amp; exercises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Sara Griffiths</dc:creator>
  <cp:lastModifiedBy>Wang, Wei</cp:lastModifiedBy>
  <cp:revision>3</cp:revision>
  <dcterms:created xsi:type="dcterms:W3CDTF">2019-04-11T09:35:08Z</dcterms:created>
  <dcterms:modified xsi:type="dcterms:W3CDTF">2024-04-25T18:35:35Z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0x010100EA691DA1475FED40816A34A9887BD419</vt:lpwstr>
  </property>
  <property fmtid="{D5CDD505-2E9C-101B-9397-08002B2CF9AE}" pid="3" name="Order">
    <vt:r8>1339100</vt:r8>
  </property>
  <property fmtid="{D5CDD505-2E9C-101B-9397-08002B2CF9AE}" pid="4" name="xd_Signature">
    <vt:bool>false</vt:bool>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MediaServiceImageTags">
    <vt:lpwstr/>
  </property>
</Properties>
</file>