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14"/>
  </p:notesMasterIdLst>
  <p:sldIdLst>
    <p:sldId id="3262" r:id="rId7"/>
    <p:sldId id="3263" r:id="rId8"/>
    <p:sldId id="3461" r:id="rId9"/>
    <p:sldId id="2147477260" r:id="rId10"/>
    <p:sldId id="3264" r:id="rId11"/>
    <p:sldId id="3265" r:id="rId12"/>
    <p:sldId id="2147477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5D3F8B-2EA8-4512-9C39-CD1A7EEA5F68}" v="1" dt="2024-04-25T17:40:54.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2D5D3F8B-2EA8-4512-9C39-CD1A7EEA5F68}"/>
    <pc:docChg chg="delSld">
      <pc:chgData name="Wang, Wei" userId="627587dd-935f-4f2b-a6c6-edd4e0dcbff5" providerId="ADAL" clId="{2D5D3F8B-2EA8-4512-9C39-CD1A7EEA5F68}" dt="2024-04-25T17:40:42.740" v="0" actId="47"/>
      <pc:docMkLst>
        <pc:docMk/>
      </pc:docMkLst>
      <pc:sldChg chg="del">
        <pc:chgData name="Wang, Wei" userId="627587dd-935f-4f2b-a6c6-edd4e0dcbff5" providerId="ADAL" clId="{2D5D3F8B-2EA8-4512-9C39-CD1A7EEA5F68}" dt="2024-04-25T17:40:42.740" v="0" actId="47"/>
        <pc:sldMkLst>
          <pc:docMk/>
          <pc:sldMk cId="1346862001" sldId="3263"/>
        </pc:sldMkLst>
      </pc:sldChg>
      <pc:sldChg chg="del">
        <pc:chgData name="Wang, Wei" userId="627587dd-935f-4f2b-a6c6-edd4e0dcbff5" providerId="ADAL" clId="{2D5D3F8B-2EA8-4512-9C39-CD1A7EEA5F68}" dt="2024-04-25T17:40:42.740" v="0" actId="47"/>
        <pc:sldMkLst>
          <pc:docMk/>
          <pc:sldMk cId="1391415964" sldId="3264"/>
        </pc:sldMkLst>
      </pc:sldChg>
      <pc:sldChg chg="del">
        <pc:chgData name="Wang, Wei" userId="627587dd-935f-4f2b-a6c6-edd4e0dcbff5" providerId="ADAL" clId="{2D5D3F8B-2EA8-4512-9C39-CD1A7EEA5F68}" dt="2024-04-25T17:40:42.740" v="0" actId="47"/>
        <pc:sldMkLst>
          <pc:docMk/>
          <pc:sldMk cId="2212679919" sldId="3265"/>
        </pc:sldMkLst>
      </pc:sldChg>
      <pc:sldMasterChg chg="delSldLayout">
        <pc:chgData name="Wang, Wei" userId="627587dd-935f-4f2b-a6c6-edd4e0dcbff5" providerId="ADAL" clId="{2D5D3F8B-2EA8-4512-9C39-CD1A7EEA5F68}" dt="2024-04-25T17:40:42.740" v="0" actId="47"/>
        <pc:sldMasterMkLst>
          <pc:docMk/>
          <pc:sldMasterMk cId="2027459739" sldId="2147483926"/>
        </pc:sldMasterMkLst>
        <pc:sldLayoutChg chg="del">
          <pc:chgData name="Wang, Wei" userId="627587dd-935f-4f2b-a6c6-edd4e0dcbff5" providerId="ADAL" clId="{2D5D3F8B-2EA8-4512-9C39-CD1A7EEA5F68}" dt="2024-04-25T17:40:42.740" v="0" actId="47"/>
          <pc:sldLayoutMkLst>
            <pc:docMk/>
            <pc:sldMasterMk cId="2027459739" sldId="2147483926"/>
            <pc:sldLayoutMk cId="1571272697" sldId="2147483992"/>
          </pc:sldLayoutMkLst>
        </pc:sldLayoutChg>
      </pc:sldMasterChg>
    </pc:docChg>
  </pc:docChgLst>
  <pc:docChgLst>
    <pc:chgData name="Wang, Wei" userId="627587dd-935f-4f2b-a6c6-edd4e0dcbff5" providerId="ADAL" clId="{6BE5CC1D-85E1-4702-A57D-887F46104AC5}"/>
    <pc:docChg chg="delSld modSld delMainMaster">
      <pc:chgData name="Wang, Wei" userId="627587dd-935f-4f2b-a6c6-edd4e0dcbff5" providerId="ADAL" clId="{6BE5CC1D-85E1-4702-A57D-887F46104AC5}" dt="2020-06-03T09:48:17.369" v="171" actId="20577"/>
      <pc:docMkLst>
        <pc:docMk/>
      </pc:docMkLst>
      <pc:sldChg chg="modSp">
        <pc:chgData name="Wang, Wei" userId="627587dd-935f-4f2b-a6c6-edd4e0dcbff5" providerId="ADAL" clId="{6BE5CC1D-85E1-4702-A57D-887F46104AC5}" dt="2020-06-03T09:48:17.369" v="171" actId="20577"/>
        <pc:sldMkLst>
          <pc:docMk/>
          <pc:sldMk cId="1346862001" sldId="3263"/>
        </pc:sldMkLst>
        <pc:spChg chg="mod">
          <ac:chgData name="Wang, Wei" userId="627587dd-935f-4f2b-a6c6-edd4e0dcbff5" providerId="ADAL" clId="{6BE5CC1D-85E1-4702-A57D-887F46104AC5}" dt="2020-06-03T09:48:17.369" v="171" actId="20577"/>
          <ac:spMkLst>
            <pc:docMk/>
            <pc:sldMk cId="1346862001" sldId="3263"/>
            <ac:spMk id="2" creationId="{99BD268B-C716-485A-AB0B-41CEF17BEB30}"/>
          </ac:spMkLst>
        </pc:spChg>
      </pc:sldChg>
      <pc:sldMasterChg chg="delSldLayout">
        <pc:chgData name="Wang, Wei" userId="627587dd-935f-4f2b-a6c6-edd4e0dcbff5" providerId="ADAL" clId="{6BE5CC1D-85E1-4702-A57D-887F46104AC5}" dt="2020-05-21T16:06:42.134" v="120" actId="2696"/>
        <pc:sldMasterMkLst>
          <pc:docMk/>
          <pc:sldMasterMk cId="2216067138" sldId="2147483931"/>
        </pc:sldMasterMkLst>
      </pc:sldMaster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05:07.113" v="5" actId="2696"/>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30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5</a:t>
            </a:fld>
            <a:endParaRPr lang="en-GB"/>
          </a:p>
        </p:txBody>
      </p:sp>
    </p:spTree>
    <p:extLst>
      <p:ext uri="{BB962C8B-B14F-4D97-AF65-F5344CB8AC3E}">
        <p14:creationId xmlns:p14="http://schemas.microsoft.com/office/powerpoint/2010/main" val="6062984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a:xfrm>
            <a:off x="7077073" y="6297521"/>
            <a:ext cx="4201727"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52683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 id="2147483995"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tags" Target="../tags/tag1.xml"/><Relationship Id="rId5" Type="http://schemas.openxmlformats.org/officeDocument/2006/relationships/image" Target="../media/image8.png"/><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p>
        </p:txBody>
      </p:sp>
      <p:sp>
        <p:nvSpPr>
          <p:cNvPr id="40" name="Rounded Rectangle 39"/>
          <p:cNvSpPr/>
          <p:nvPr/>
        </p:nvSpPr>
        <p:spPr>
          <a:xfrm>
            <a:off x="229562"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83896" y="4423558"/>
            <a:ext cx="325291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000000"/>
                </a:solidFill>
                <a:latin typeface="Arial" charset="0"/>
                <a:cs typeface="Arial" charset="0"/>
              </a:rPr>
              <a:t>Internal Order Settlement (Leaf entities only)</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06014" y="2426677"/>
            <a:ext cx="1127055" cy="95728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113629" y="3755965"/>
            <a:ext cx="1275352" cy="563531"/>
          </a:xfrm>
          <a:prstGeom prst="bentConnector3">
            <a:avLst>
              <a:gd name="adj1" fmla="val 9963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183896" y="2166899"/>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Above Brand Contribution (ABC) </a:t>
            </a:r>
          </a:p>
          <a:p>
            <a:pPr algn="ctr"/>
            <a:r>
              <a:rPr lang="en-US" sz="1400" b="1">
                <a:solidFill>
                  <a:srgbClr val="FFFFFF"/>
                </a:solidFill>
                <a:cs typeface="Arial"/>
              </a:rPr>
              <a:t>WBS Settlement / Allocation</a:t>
            </a:r>
          </a:p>
        </p:txBody>
      </p:sp>
      <p:sp>
        <p:nvSpPr>
          <p:cNvPr id="12" name="Rounded Rectangle 39">
            <a:extLst>
              <a:ext uri="{FF2B5EF4-FFF2-40B4-BE49-F238E27FC236}">
                <a16:creationId xmlns:a16="http://schemas.microsoft.com/office/drawing/2014/main" id="{8A776FC3-4960-4AD9-9227-E8B126916165}"/>
              </a:ext>
            </a:extLst>
          </p:cNvPr>
          <p:cNvSpPr/>
          <p:nvPr/>
        </p:nvSpPr>
        <p:spPr>
          <a:xfrm>
            <a:off x="5183896" y="329522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Cost Center Distribution and Assessment</a:t>
            </a:r>
            <a:endParaRPr lang="en-US" sz="1400" b="1">
              <a:solidFill>
                <a:srgbClr val="FFFFFF"/>
              </a:solidFill>
              <a:cs typeface="Arial"/>
            </a:endParaRPr>
          </a:p>
        </p:txBody>
      </p:sp>
      <p:sp>
        <p:nvSpPr>
          <p:cNvPr id="13" name="Rounded Rectangle 39">
            <a:extLst>
              <a:ext uri="{FF2B5EF4-FFF2-40B4-BE49-F238E27FC236}">
                <a16:creationId xmlns:a16="http://schemas.microsoft.com/office/drawing/2014/main" id="{5A52AF00-EF3E-46AF-8786-EF618280372E}"/>
              </a:ext>
            </a:extLst>
          </p:cNvPr>
          <p:cNvSpPr/>
          <p:nvPr/>
        </p:nvSpPr>
        <p:spPr>
          <a:xfrm>
            <a:off x="9073614" y="1656450"/>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Branded WBS Settlement</a:t>
            </a:r>
          </a:p>
        </p:txBody>
      </p:sp>
      <p:cxnSp>
        <p:nvCxnSpPr>
          <p:cNvPr id="16" name="Straight Connector 15">
            <a:extLst>
              <a:ext uri="{FF2B5EF4-FFF2-40B4-BE49-F238E27FC236}">
                <a16:creationId xmlns:a16="http://schemas.microsoft.com/office/drawing/2014/main" id="{5283D96A-5731-472E-9487-7ADDE6457265}"/>
              </a:ext>
            </a:extLst>
          </p:cNvPr>
          <p:cNvCxnSpPr/>
          <p:nvPr/>
        </p:nvCxnSpPr>
        <p:spPr>
          <a:xfrm>
            <a:off x="4462895" y="3563897"/>
            <a:ext cx="570174"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0" name="Rounded Rectangle 39">
            <a:extLst>
              <a:ext uri="{FF2B5EF4-FFF2-40B4-BE49-F238E27FC236}">
                <a16:creationId xmlns:a16="http://schemas.microsoft.com/office/drawing/2014/main" id="{D684800A-41AE-4F99-9CEA-90641277B25A}"/>
              </a:ext>
            </a:extLst>
          </p:cNvPr>
          <p:cNvSpPr/>
          <p:nvPr/>
        </p:nvSpPr>
        <p:spPr>
          <a:xfrm>
            <a:off x="9088392" y="2401627"/>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Multi-brand WBS Settlement / Allocation</a:t>
            </a:r>
          </a:p>
        </p:txBody>
      </p:sp>
      <p:cxnSp>
        <p:nvCxnSpPr>
          <p:cNvPr id="21" name="Elbow Connector 4">
            <a:extLst>
              <a:ext uri="{FF2B5EF4-FFF2-40B4-BE49-F238E27FC236}">
                <a16:creationId xmlns:a16="http://schemas.microsoft.com/office/drawing/2014/main" id="{86A5B1BA-39B7-4009-9BB7-56D899D48295}"/>
              </a:ext>
            </a:extLst>
          </p:cNvPr>
          <p:cNvCxnSpPr>
            <a:cxnSpLocks/>
          </p:cNvCxnSpPr>
          <p:nvPr/>
        </p:nvCxnSpPr>
        <p:spPr>
          <a:xfrm rot="5400000" flipH="1" flipV="1">
            <a:off x="8535974" y="2051408"/>
            <a:ext cx="518382" cy="282038"/>
          </a:xfrm>
          <a:prstGeom prst="bentConnector3">
            <a:avLst>
              <a:gd name="adj1" fmla="val 9810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28" name="Elbow Connector 7">
            <a:extLst>
              <a:ext uri="{FF2B5EF4-FFF2-40B4-BE49-F238E27FC236}">
                <a16:creationId xmlns:a16="http://schemas.microsoft.com/office/drawing/2014/main" id="{B2F017F9-FF9C-4E54-AC9A-7AA7E3BF78C5}"/>
              </a:ext>
            </a:extLst>
          </p:cNvPr>
          <p:cNvCxnSpPr>
            <a:cxnSpLocks/>
          </p:cNvCxnSpPr>
          <p:nvPr/>
        </p:nvCxnSpPr>
        <p:spPr>
          <a:xfrm rot="16200000" flipH="1">
            <a:off x="8543455" y="2302802"/>
            <a:ext cx="503695" cy="281768"/>
          </a:xfrm>
          <a:prstGeom prst="bentConnector3">
            <a:avLst>
              <a:gd name="adj1" fmla="val 10116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6A0742E-DFA2-4FAF-8EFC-0F6655E0D182}"/>
              </a:ext>
            </a:extLst>
          </p:cNvPr>
          <p:cNvCxnSpPr/>
          <p:nvPr/>
        </p:nvCxnSpPr>
        <p:spPr>
          <a:xfrm>
            <a:off x="8474174" y="2393807"/>
            <a:ext cx="205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49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3D1A54-016A-48A5-A141-FB998F58220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154245" y="1397579"/>
            <a:ext cx="5915835" cy="3223251"/>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Internal Order Settlement</a:t>
            </a:r>
          </a:p>
        </p:txBody>
      </p:sp>
      <p:sp>
        <p:nvSpPr>
          <p:cNvPr id="8" name="Rectangle 7">
            <a:extLst>
              <a:ext uri="{FF2B5EF4-FFF2-40B4-BE49-F238E27FC236}">
                <a16:creationId xmlns:a16="http://schemas.microsoft.com/office/drawing/2014/main" id="{23CA56EC-827F-49BB-A015-79EA68FD2EFE}"/>
              </a:ext>
            </a:extLst>
          </p:cNvPr>
          <p:cNvSpPr/>
          <p:nvPr/>
        </p:nvSpPr>
        <p:spPr>
          <a:xfrm>
            <a:off x="6367352" y="2078954"/>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815221"/>
            <a:ext cx="310768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lang="en-US" sz="1600">
                <a:solidFill>
                  <a:srgbClr val="000000">
                    <a:hueOff val="0"/>
                    <a:satOff val="0"/>
                    <a:lumOff val="0"/>
                    <a:alphaOff val="0"/>
                  </a:srgbClr>
                </a:solidFill>
                <a:latin typeface="Arial" panose="020B0604020202020204"/>
              </a:rPr>
              <a:t>KO8G</a:t>
            </a: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202096"/>
            <a:ext cx="3107689" cy="623397"/>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lang="en-US" sz="1300">
                <a:solidFill>
                  <a:srgbClr val="000000">
                    <a:hueOff val="0"/>
                    <a:satOff val="0"/>
                    <a:lumOff val="0"/>
                    <a:alphaOff val="0"/>
                  </a:srgbClr>
                </a:solidFill>
                <a:latin typeface="Arial" panose="020B0604020202020204"/>
              </a:rPr>
              <a:t>WD1</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500489"/>
            <a:ext cx="310768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Entity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4844017"/>
            <a:ext cx="8170987" cy="553998"/>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 S/4 HANA, with the introduction of WBS for Cost Management purpose, Internal Orders are only used for Leaf entities in the Leaf Production process. The way how Leaf Internal Orders are set up and the settlement process has not changed from ECC to S/4 HANA.</a:t>
            </a:r>
            <a:endParaRPr kumimoji="0" lang="en-GB" sz="1150" b="1"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0" name="Rectangle 9">
            <a:extLst>
              <a:ext uri="{FF2B5EF4-FFF2-40B4-BE49-F238E27FC236}">
                <a16:creationId xmlns:a16="http://schemas.microsoft.com/office/drawing/2014/main" id="{141AA02A-B49B-45C1-8C1D-6AD74350EDB8}"/>
              </a:ext>
            </a:extLst>
          </p:cNvPr>
          <p:cNvSpPr/>
          <p:nvPr/>
        </p:nvSpPr>
        <p:spPr>
          <a:xfrm>
            <a:off x="3791637" y="6300244"/>
            <a:ext cx="7627062" cy="400110"/>
          </a:xfrm>
          <a:prstGeom prst="rect">
            <a:avLst/>
          </a:prstGeom>
        </p:spPr>
        <p:txBody>
          <a:bodyPr wrap="square">
            <a:spAutoFit/>
          </a:bodyPr>
          <a:lstStyle/>
          <a:p>
            <a:pPr lvl="0">
              <a:lnSpc>
                <a:spcPts val="1200"/>
              </a:lnSpc>
              <a:spcBef>
                <a:spcPts val="600"/>
              </a:spcBef>
              <a:defRPr/>
            </a:pPr>
            <a:r>
              <a:rPr lang="en-GB" sz="1150" i="1">
                <a:solidFill>
                  <a:srgbClr val="000000"/>
                </a:solidFill>
                <a:latin typeface="Georgia" panose="02040502050405020303" pitchFamily="18" charset="0"/>
              </a:rPr>
              <a:t>On WD1 leaf </a:t>
            </a: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Internal Orders receive some costs from Cost Center allocations and subsequently settle some of their costs to Business Processes. </a:t>
            </a:r>
            <a:endParaRPr kumimoji="0" lang="en-GB" sz="1150" b="0" i="1" u="none" strike="noStrike" kern="1200" cap="none" spc="0" normalizeH="0" baseline="0" noProof="0">
              <a:ln>
                <a:noFill/>
              </a:ln>
              <a:solidFill>
                <a:srgbClr val="000000"/>
              </a:solidFill>
              <a:effectLst/>
              <a:highlight>
                <a:srgbClr val="FFFF00"/>
              </a:highlight>
              <a:uLnTx/>
              <a:uFillTx/>
              <a:latin typeface="Georgia" panose="02040502050405020303" pitchFamily="18" charset="0"/>
              <a:ea typeface="+mn-ea"/>
              <a:cs typeface="+mn-cs"/>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577830"/>
            <a:ext cx="7627062"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Internal Order</a:t>
            </a:r>
            <a:r>
              <a:rPr lang="en-GB" sz="1150" i="1">
                <a:solidFill>
                  <a:srgbClr val="000000"/>
                </a:solidFill>
                <a:latin typeface="Georgia" panose="02040502050405020303" pitchFamily="18" charset="0"/>
              </a:rPr>
              <a:t> settlement tasks in FCC have remained at entity level with the same sequence and variants as used in ECC. Entities are in charge of determining the orders included in each variants.</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1" name="Rectangle: Rounded Corners 40">
            <a:extLst>
              <a:ext uri="{FF2B5EF4-FFF2-40B4-BE49-F238E27FC236}">
                <a16:creationId xmlns:a16="http://schemas.microsoft.com/office/drawing/2014/main" id="{0BAE89FA-D485-41D3-B31A-1D7EC9BAC655}"/>
              </a:ext>
            </a:extLst>
          </p:cNvPr>
          <p:cNvSpPr/>
          <p:nvPr/>
        </p:nvSpPr>
        <p:spPr>
          <a:xfrm>
            <a:off x="6391512" y="2550707"/>
            <a:ext cx="2005150" cy="243175"/>
          </a:xfrm>
          <a:prstGeom prst="roundRect">
            <a:avLst>
              <a:gd name="adj" fmla="val 5266"/>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4C5E2CC5-2C66-4542-8223-46C3080CF74E}"/>
              </a:ext>
            </a:extLst>
          </p:cNvPr>
          <p:cNvGrpSpPr/>
          <p:nvPr/>
        </p:nvGrpSpPr>
        <p:grpSpPr>
          <a:xfrm>
            <a:off x="459716" y="1453783"/>
            <a:ext cx="5409875" cy="3223251"/>
            <a:chOff x="607926" y="3508514"/>
            <a:chExt cx="5409875" cy="1872367"/>
          </a:xfrm>
        </p:grpSpPr>
        <p:sp>
          <p:nvSpPr>
            <p:cNvPr id="28" name="Rectangle: Rounded Corners 27">
              <a:extLst>
                <a:ext uri="{FF2B5EF4-FFF2-40B4-BE49-F238E27FC236}">
                  <a16:creationId xmlns:a16="http://schemas.microsoft.com/office/drawing/2014/main" id="{632755FA-8251-4818-B7EC-7A033CCBD198}"/>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5A971985-60E8-4735-9D02-63B2F413B723}"/>
                </a:ext>
              </a:extLst>
            </p:cNvPr>
            <p:cNvSpPr txBox="1"/>
            <p:nvPr/>
          </p:nvSpPr>
          <p:spPr>
            <a:xfrm>
              <a:off x="1336930" y="3581269"/>
              <a:ext cx="4538749"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Internal Order process</a:t>
              </a:r>
            </a:p>
          </p:txBody>
        </p:sp>
      </p:grpSp>
      <p:sp>
        <p:nvSpPr>
          <p:cNvPr id="34" name="Freeform: Shape 33">
            <a:extLst>
              <a:ext uri="{FF2B5EF4-FFF2-40B4-BE49-F238E27FC236}">
                <a16:creationId xmlns:a16="http://schemas.microsoft.com/office/drawing/2014/main" id="{6D35B591-ACF2-4365-86BF-DF8238236438}"/>
              </a:ext>
            </a:extLst>
          </p:cNvPr>
          <p:cNvSpPr/>
          <p:nvPr/>
        </p:nvSpPr>
        <p:spPr>
          <a:xfrm>
            <a:off x="744370" y="2321112"/>
            <a:ext cx="1495573"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Costs recorded in Internal Orders</a:t>
            </a:r>
          </a:p>
        </p:txBody>
      </p:sp>
      <p:sp>
        <p:nvSpPr>
          <p:cNvPr id="35" name="TextBox 34">
            <a:extLst>
              <a:ext uri="{FF2B5EF4-FFF2-40B4-BE49-F238E27FC236}">
                <a16:creationId xmlns:a16="http://schemas.microsoft.com/office/drawing/2014/main" id="{16A7252A-394C-4476-A42F-3E53C7B88A3D}"/>
              </a:ext>
            </a:extLst>
          </p:cNvPr>
          <p:cNvSpPr txBox="1"/>
          <p:nvPr/>
        </p:nvSpPr>
        <p:spPr>
          <a:xfrm>
            <a:off x="659129" y="3192057"/>
            <a:ext cx="2884633" cy="1517983"/>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defRPr/>
            </a:pPr>
            <a:r>
              <a:rPr lang="en-GB" sz="1050">
                <a:solidFill>
                  <a:srgbClr val="000000"/>
                </a:solidFill>
                <a:latin typeface="Calibri" panose="020F0502020204030204" pitchFamily="34" charset="0"/>
                <a:cs typeface="Calibri" panose="020F0502020204030204" pitchFamily="34" charset="0"/>
              </a:rPr>
              <a:t>There are two main types of Leaf Internal Orders, LCYO (Leaf Crop Year Order) and LDIO (Leaf Dummy Order).</a:t>
            </a:r>
          </a:p>
          <a:p>
            <a:pPr marL="108000" indent="-108000">
              <a:lnSpc>
                <a:spcPts val="1050"/>
              </a:lnSpc>
              <a:spcBef>
                <a:spcPts val="300"/>
              </a:spcBef>
              <a:buFont typeface="Arial" panose="020B0604020202020204" pitchFamily="34" charset="0"/>
              <a:buChar char="•"/>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LCYO </a:t>
            </a:r>
            <a:r>
              <a:rPr lang="en-GB" sz="1050">
                <a:solidFill>
                  <a:srgbClr val="000000"/>
                </a:solidFill>
                <a:latin typeface="Calibri" panose="020F0502020204030204" pitchFamily="34" charset="0"/>
                <a:cs typeface="Calibri" panose="020F0502020204030204" pitchFamily="34" charset="0"/>
              </a:rPr>
              <a:t>orders collects costs during the month, which include costs such as goods issue, billing, depreciations, accruals, as well as allocated costs  from cost centers and other internal orders. </a:t>
            </a:r>
          </a:p>
        </p:txBody>
      </p:sp>
      <p:sp>
        <p:nvSpPr>
          <p:cNvPr id="36" name="Freeform: Shape 35">
            <a:extLst>
              <a:ext uri="{FF2B5EF4-FFF2-40B4-BE49-F238E27FC236}">
                <a16:creationId xmlns:a16="http://schemas.microsoft.com/office/drawing/2014/main" id="{4D5DBE57-AF7D-41CA-B3DD-8E8DDCEF6C77}"/>
              </a:ext>
            </a:extLst>
          </p:cNvPr>
          <p:cNvSpPr/>
          <p:nvPr/>
        </p:nvSpPr>
        <p:spPr>
          <a:xfrm>
            <a:off x="3804001" y="2321112"/>
            <a:ext cx="1495573" cy="759059"/>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Internal Order Settlement</a:t>
            </a:r>
          </a:p>
        </p:txBody>
      </p:sp>
      <p:grpSp>
        <p:nvGrpSpPr>
          <p:cNvPr id="11" name="Group 10">
            <a:extLst>
              <a:ext uri="{FF2B5EF4-FFF2-40B4-BE49-F238E27FC236}">
                <a16:creationId xmlns:a16="http://schemas.microsoft.com/office/drawing/2014/main" id="{33F1A8C5-6D95-4800-8D0B-23AE7C2E8C08}"/>
              </a:ext>
            </a:extLst>
          </p:cNvPr>
          <p:cNvGrpSpPr/>
          <p:nvPr/>
        </p:nvGrpSpPr>
        <p:grpSpPr>
          <a:xfrm>
            <a:off x="2483189" y="2542453"/>
            <a:ext cx="1111569" cy="259684"/>
            <a:chOff x="2316933" y="2908218"/>
            <a:chExt cx="1111569" cy="259684"/>
          </a:xfrm>
        </p:grpSpPr>
        <p:grpSp>
          <p:nvGrpSpPr>
            <p:cNvPr id="9" name="Group 8">
              <a:extLst>
                <a:ext uri="{FF2B5EF4-FFF2-40B4-BE49-F238E27FC236}">
                  <a16:creationId xmlns:a16="http://schemas.microsoft.com/office/drawing/2014/main" id="{807928F5-3AF6-4136-AD87-98ECD53C62F2}"/>
                </a:ext>
              </a:extLst>
            </p:cNvPr>
            <p:cNvGrpSpPr/>
            <p:nvPr/>
          </p:nvGrpSpPr>
          <p:grpSpPr>
            <a:xfrm>
              <a:off x="2316933" y="2908218"/>
              <a:ext cx="738309" cy="251429"/>
              <a:chOff x="2992582" y="2277837"/>
              <a:chExt cx="368264" cy="191043"/>
            </a:xfrm>
          </p:grpSpPr>
          <p:sp>
            <p:nvSpPr>
              <p:cNvPr id="7" name="Arrow: Chevron 6">
                <a:extLst>
                  <a:ext uri="{FF2B5EF4-FFF2-40B4-BE49-F238E27FC236}">
                    <a16:creationId xmlns:a16="http://schemas.microsoft.com/office/drawing/2014/main" id="{2AD794A7-CE34-4F91-88D0-6067FEBAD549}"/>
                  </a:ext>
                </a:extLst>
              </p:cNvPr>
              <p:cNvSpPr/>
              <p:nvPr/>
            </p:nvSpPr>
            <p:spPr>
              <a:xfrm>
                <a:off x="2992582"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45" name="Arrow: Chevron 44">
                <a:extLst>
                  <a:ext uri="{FF2B5EF4-FFF2-40B4-BE49-F238E27FC236}">
                    <a16:creationId xmlns:a16="http://schemas.microsoft.com/office/drawing/2014/main" id="{822A4AFE-3EBB-4B7A-8851-D1A117B6A886}"/>
                  </a:ext>
                </a:extLst>
              </p:cNvPr>
              <p:cNvSpPr/>
              <p:nvPr/>
            </p:nvSpPr>
            <p:spPr>
              <a:xfrm>
                <a:off x="3174666"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48" name="Arrow: Chevron 47">
              <a:extLst>
                <a:ext uri="{FF2B5EF4-FFF2-40B4-BE49-F238E27FC236}">
                  <a16:creationId xmlns:a16="http://schemas.microsoft.com/office/drawing/2014/main" id="{13F922DD-7513-4195-A278-3F3C6E719EAE}"/>
                </a:ext>
              </a:extLst>
            </p:cNvPr>
            <p:cNvSpPr/>
            <p:nvPr/>
          </p:nvSpPr>
          <p:spPr>
            <a:xfrm>
              <a:off x="3055242" y="2916473"/>
              <a:ext cx="373260" cy="251429"/>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50" name="TextBox 49">
            <a:extLst>
              <a:ext uri="{FF2B5EF4-FFF2-40B4-BE49-F238E27FC236}">
                <a16:creationId xmlns:a16="http://schemas.microsoft.com/office/drawing/2014/main" id="{57502CB5-A902-4B8C-AAD8-B37C4C672E0E}"/>
              </a:ext>
            </a:extLst>
          </p:cNvPr>
          <p:cNvSpPr txBox="1"/>
          <p:nvPr/>
        </p:nvSpPr>
        <p:spPr>
          <a:xfrm>
            <a:off x="659130" y="1953379"/>
            <a:ext cx="2798964" cy="432775"/>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lang="en-GB" sz="1050">
                <a:solidFill>
                  <a:srgbClr val="000000"/>
                </a:solidFill>
                <a:latin typeface="Calibri" panose="020F0502020204030204" pitchFamily="34" charset="0"/>
                <a:cs typeface="Calibri" panose="020F0502020204030204" pitchFamily="34" charset="0"/>
              </a:rPr>
              <a:t>In S/4HANA, Internal Orders are </a:t>
            </a:r>
            <a:r>
              <a:rPr lang="en-GB" sz="1050" b="1">
                <a:solidFill>
                  <a:srgbClr val="000000"/>
                </a:solidFill>
                <a:latin typeface="Calibri" panose="020F0502020204030204" pitchFamily="34" charset="0"/>
                <a:cs typeface="Calibri" panose="020F0502020204030204" pitchFamily="34" charset="0"/>
              </a:rPr>
              <a:t>only used in Leaf Production</a:t>
            </a:r>
            <a:r>
              <a:rPr lang="en-GB" sz="1050">
                <a:solidFill>
                  <a:srgbClr val="000000"/>
                </a:solidFill>
                <a:latin typeface="Calibri" panose="020F0502020204030204" pitchFamily="34" charset="0"/>
                <a:cs typeface="Calibri" panose="020F0502020204030204" pitchFamily="34" charset="0"/>
              </a:rPr>
              <a:t> process.</a:t>
            </a: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 name="Rectangle 12">
            <a:extLst>
              <a:ext uri="{FF2B5EF4-FFF2-40B4-BE49-F238E27FC236}">
                <a16:creationId xmlns:a16="http://schemas.microsoft.com/office/drawing/2014/main" id="{DBE4A2A4-C5EB-48D7-9DE7-591ACDF13233}"/>
              </a:ext>
            </a:extLst>
          </p:cNvPr>
          <p:cNvSpPr/>
          <p:nvPr/>
        </p:nvSpPr>
        <p:spPr>
          <a:xfrm>
            <a:off x="3607726" y="1933357"/>
            <a:ext cx="2106706" cy="25595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9BD268B-C716-485A-AB0B-41CEF17BEB30}"/>
              </a:ext>
            </a:extLst>
          </p:cNvPr>
          <p:cNvSpPr/>
          <p:nvPr/>
        </p:nvSpPr>
        <p:spPr>
          <a:xfrm>
            <a:off x="3791637" y="3185027"/>
            <a:ext cx="1926011" cy="374718"/>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LCYO orders are settled first during the period end and LDIOs are settled afterwards. </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LYCO are settled to LDIOs and LDIOs are settled partly to Business Process and partly to LYCO based on settlement rules maintained by entities.</a:t>
            </a:r>
          </a:p>
        </p:txBody>
      </p:sp>
    </p:spTree>
    <p:extLst>
      <p:ext uri="{BB962C8B-B14F-4D97-AF65-F5344CB8AC3E}">
        <p14:creationId xmlns:p14="http://schemas.microsoft.com/office/powerpoint/2010/main" val="1346862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95379E7-6B29-BF99-ED19-A540789D13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595379E7-6B29-BF99-ED19-A540789D13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B70032F-0259-6A58-D02D-9D6DCC080F8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DF39102-679B-344F-C38C-3D0A1B97DCB3}"/>
              </a:ext>
            </a:extLst>
          </p:cNvPr>
          <p:cNvSpPr>
            <a:spLocks noGrp="1"/>
          </p:cNvSpPr>
          <p:nvPr>
            <p:ph type="title"/>
          </p:nvPr>
        </p:nvSpPr>
        <p:spPr>
          <a:xfrm>
            <a:off x="1512904" y="277150"/>
            <a:ext cx="3843410" cy="984247"/>
          </a:xfrm>
        </p:spPr>
        <p:txBody>
          <a:bodyPr vert="horz"/>
          <a:lstStyle/>
          <a:p>
            <a:r>
              <a:rPr lang="en-US"/>
              <a:t>IO Settlement Rules</a:t>
            </a:r>
            <a:endParaRPr lang="ru-RU"/>
          </a:p>
        </p:txBody>
      </p:sp>
      <p:pic>
        <p:nvPicPr>
          <p:cNvPr id="10" name="Picture 9">
            <a:extLst>
              <a:ext uri="{FF2B5EF4-FFF2-40B4-BE49-F238E27FC236}">
                <a16:creationId xmlns:a16="http://schemas.microsoft.com/office/drawing/2014/main" id="{CB965048-625F-37C7-2BAA-3168FDA0CB11}"/>
              </a:ext>
              <a:ext uri="{147F2762-F138-4A5C-976F-8EAC2B608ADB}">
                <a16:predDERef xmlns:a16="http://schemas.microsoft.com/office/drawing/2014/main" pred="{A321CA75-1CB0-4E8A-A7AA-67540A0B0E6A}"/>
              </a:ext>
            </a:extLst>
          </p:cNvPr>
          <p:cNvPicPr>
            <a:picLocks noChangeAspect="1"/>
          </p:cNvPicPr>
          <p:nvPr/>
        </p:nvPicPr>
        <p:blipFill rotWithShape="1">
          <a:blip r:embed="rId5"/>
          <a:srcRect l="-225" t="34214" r="25932"/>
          <a:stretch/>
        </p:blipFill>
        <p:spPr>
          <a:xfrm>
            <a:off x="409700" y="1413613"/>
            <a:ext cx="5427866" cy="2112079"/>
          </a:xfrm>
          <a:prstGeom prst="rect">
            <a:avLst/>
          </a:prstGeom>
        </p:spPr>
      </p:pic>
      <p:sp>
        <p:nvSpPr>
          <p:cNvPr id="11" name="Rectangle: Rounded Corners 10">
            <a:extLst>
              <a:ext uri="{FF2B5EF4-FFF2-40B4-BE49-F238E27FC236}">
                <a16:creationId xmlns:a16="http://schemas.microsoft.com/office/drawing/2014/main" id="{9619A518-7726-3029-C203-DBBFF563D953}"/>
              </a:ext>
            </a:extLst>
          </p:cNvPr>
          <p:cNvSpPr/>
          <p:nvPr/>
        </p:nvSpPr>
        <p:spPr>
          <a:xfrm>
            <a:off x="2474933" y="3068099"/>
            <a:ext cx="3470786" cy="457593"/>
          </a:xfrm>
          <a:prstGeom prst="roundRect">
            <a:avLst/>
          </a:prstGeom>
          <a:noFill/>
          <a:ln w="28575">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E28E33A6-6BAB-DE73-13FF-DEA340E5DA7F}"/>
              </a:ext>
            </a:extLst>
          </p:cNvPr>
          <p:cNvSpPr/>
          <p:nvPr/>
        </p:nvSpPr>
        <p:spPr>
          <a:xfrm>
            <a:off x="107695" y="6445684"/>
            <a:ext cx="1396640"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aphicFrame>
        <p:nvGraphicFramePr>
          <p:cNvPr id="7" name="Table 3">
            <a:extLst>
              <a:ext uri="{FF2B5EF4-FFF2-40B4-BE49-F238E27FC236}">
                <a16:creationId xmlns:a16="http://schemas.microsoft.com/office/drawing/2014/main" id="{6FAE9483-909E-B1DA-FD23-1BE4A9B512ED}"/>
              </a:ext>
            </a:extLst>
          </p:cNvPr>
          <p:cNvGraphicFramePr>
            <a:graphicFrameLocks noGrp="1"/>
          </p:cNvGraphicFramePr>
          <p:nvPr/>
        </p:nvGraphicFramePr>
        <p:xfrm>
          <a:off x="6835688" y="1446964"/>
          <a:ext cx="4860036" cy="4590042"/>
        </p:xfrm>
        <a:graphic>
          <a:graphicData uri="http://schemas.openxmlformats.org/drawingml/2006/table">
            <a:tbl>
              <a:tblPr>
                <a:tableStyleId>{D27102A9-8310-4765-A935-A1911B00CA55}</a:tableStyleId>
              </a:tblPr>
              <a:tblGrid>
                <a:gridCol w="4860036">
                  <a:extLst>
                    <a:ext uri="{9D8B030D-6E8A-4147-A177-3AD203B41FA5}">
                      <a16:colId xmlns:a16="http://schemas.microsoft.com/office/drawing/2014/main" val="264674907"/>
                    </a:ext>
                  </a:extLst>
                </a:gridCol>
              </a:tblGrid>
              <a:tr h="4590042">
                <a:tc>
                  <a:txBody>
                    <a:bodyPr/>
                    <a:lstStyle/>
                    <a:p>
                      <a:pPr marL="171450" indent="-171450" algn="just">
                        <a:buFont typeface="Arial" panose="020B0604020202020204" pitchFamily="34" charset="0"/>
                        <a:buChar char="•"/>
                      </a:pPr>
                      <a:r>
                        <a:rPr lang="en-US" sz="1200">
                          <a:solidFill>
                            <a:schemeClr val="tx1"/>
                          </a:solidFill>
                        </a:rPr>
                        <a:t>For any point of time, </a:t>
                      </a:r>
                      <a:r>
                        <a:rPr lang="en-US" sz="1200" b="0">
                          <a:solidFill>
                            <a:schemeClr val="tx1"/>
                          </a:solidFill>
                        </a:rPr>
                        <a:t>IO shows total cost of crop year.</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If the crop processing period is 4 months (for example), by the end of 1</a:t>
                      </a:r>
                      <a:r>
                        <a:rPr lang="en-US" sz="1200" baseline="30000"/>
                        <a:t>st</a:t>
                      </a:r>
                      <a:r>
                        <a:rPr lang="en-US" sz="1200"/>
                        <a:t> month 25% of IO costs should be settled to business processes (percentage is calculated outside of the system based on production volume), leaving only residual amount of costs on the IO balance. So, IO will settle the amount related with production volume in a certain period</a:t>
                      </a:r>
                    </a:p>
                    <a:p>
                      <a:pPr marL="171450" marR="0" lvl="0" indent="-171450" algn="just" rtl="0" eaLnBrk="1" fontAlgn="auto" latinLnBrk="0" hangingPunct="1">
                        <a:lnSpc>
                          <a:spcPct val="100000"/>
                        </a:lnSpc>
                        <a:spcBef>
                          <a:spcPts val="0"/>
                        </a:spcBef>
                        <a:spcAft>
                          <a:spcPts val="0"/>
                        </a:spcAft>
                        <a:buClrTx/>
                        <a:buSzTx/>
                        <a:buFont typeface="Arial" panose="020B0604020202020204" pitchFamily="34" charset="0"/>
                        <a:buChar char="•"/>
                      </a:pPr>
                      <a:r>
                        <a:rPr lang="en-US" sz="1200"/>
                        <a:t>Dummy IO is settled with residual 75% of costs for closing purposes (Month end) and afterwards costs are brought back to main cost controlling object – main IO.</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p>
                    <a:p>
                      <a:pPr marL="171450" indent="-171450" algn="just">
                        <a:buFont typeface="Arial" panose="020B0604020202020204" pitchFamily="34" charset="0"/>
                        <a:buChar char="•"/>
                      </a:pPr>
                      <a:r>
                        <a:rPr lang="en-US" sz="1200"/>
                        <a:t>For new crop, </a:t>
                      </a:r>
                      <a:r>
                        <a:rPr lang="en-US" sz="1200">
                          <a:hlinkClick r:id="" action="ppaction://noaction"/>
                        </a:rPr>
                        <a:t>IO Variant </a:t>
                      </a:r>
                      <a:r>
                        <a:rPr lang="en-US" sz="1200"/>
                        <a:t>for IO Settlement is created and communicated to JTBC. Distribution Cycles for new orders should be updated.</a:t>
                      </a:r>
                    </a:p>
                    <a:p>
                      <a:pPr marL="171450" indent="-171450" algn="just">
                        <a:buFont typeface="Arial" panose="020B0604020202020204" pitchFamily="34" charset="0"/>
                        <a:buChar char="•"/>
                      </a:pPr>
                      <a:r>
                        <a:rPr lang="en-US" sz="1200"/>
                        <a:t>As soon as postings for old crop are finalized (usually, one month after the end of the crop), IO should be closed to prevent conversion costs of the new crop to be booked to old Internal Order (New IO for new CY to be created). Latest settlement rules for CY orders should be updated taking into consideration actual and plan volumes. After settlement is done (KO8G) and subsequently ML is closed, all variances are allocated to materials and thus </a:t>
                      </a:r>
                      <a:r>
                        <a:rPr lang="en-US" sz="1200">
                          <a:solidFill>
                            <a:schemeClr val="accent6">
                              <a:lumMod val="75000"/>
                            </a:schemeClr>
                          </a:solidFill>
                        </a:rPr>
                        <a:t>Business Processes should not hold any costs.</a:t>
                      </a:r>
                    </a:p>
                  </a:txBody>
                  <a:tcPr/>
                </a:tc>
                <a:extLst>
                  <a:ext uri="{0D108BD9-81ED-4DB2-BD59-A6C34878D82A}">
                    <a16:rowId xmlns:a16="http://schemas.microsoft.com/office/drawing/2014/main" val="147971534"/>
                  </a:ext>
                </a:extLst>
              </a:tr>
            </a:tbl>
          </a:graphicData>
        </a:graphic>
      </p:graphicFrame>
      <p:graphicFrame>
        <p:nvGraphicFramePr>
          <p:cNvPr id="8" name="Table 8">
            <a:extLst>
              <a:ext uri="{FF2B5EF4-FFF2-40B4-BE49-F238E27FC236}">
                <a16:creationId xmlns:a16="http://schemas.microsoft.com/office/drawing/2014/main" id="{9122CF8E-6226-6A58-FAF8-FBF4241B1E0B}"/>
              </a:ext>
            </a:extLst>
          </p:cNvPr>
          <p:cNvGraphicFramePr>
            <a:graphicFrameLocks noGrp="1"/>
          </p:cNvGraphicFramePr>
          <p:nvPr/>
        </p:nvGraphicFramePr>
        <p:xfrm>
          <a:off x="173095" y="3946324"/>
          <a:ext cx="6440591" cy="2834640"/>
        </p:xfrm>
        <a:graphic>
          <a:graphicData uri="http://schemas.openxmlformats.org/drawingml/2006/table">
            <a:tbl>
              <a:tblPr firstRow="1" bandRow="1">
                <a:tableStyleId>{17292A2E-F333-43FB-9621-5CBBE7FDCDCB}</a:tableStyleId>
              </a:tblPr>
              <a:tblGrid>
                <a:gridCol w="2399531">
                  <a:extLst>
                    <a:ext uri="{9D8B030D-6E8A-4147-A177-3AD203B41FA5}">
                      <a16:colId xmlns:a16="http://schemas.microsoft.com/office/drawing/2014/main" val="1396062578"/>
                    </a:ext>
                  </a:extLst>
                </a:gridCol>
                <a:gridCol w="1010265">
                  <a:extLst>
                    <a:ext uri="{9D8B030D-6E8A-4147-A177-3AD203B41FA5}">
                      <a16:colId xmlns:a16="http://schemas.microsoft.com/office/drawing/2014/main" val="1371626842"/>
                    </a:ext>
                  </a:extLst>
                </a:gridCol>
                <a:gridCol w="1010265">
                  <a:extLst>
                    <a:ext uri="{9D8B030D-6E8A-4147-A177-3AD203B41FA5}">
                      <a16:colId xmlns:a16="http://schemas.microsoft.com/office/drawing/2014/main" val="2140116885"/>
                    </a:ext>
                  </a:extLst>
                </a:gridCol>
                <a:gridCol w="1010265">
                  <a:extLst>
                    <a:ext uri="{9D8B030D-6E8A-4147-A177-3AD203B41FA5}">
                      <a16:colId xmlns:a16="http://schemas.microsoft.com/office/drawing/2014/main" val="4289372243"/>
                    </a:ext>
                  </a:extLst>
                </a:gridCol>
                <a:gridCol w="1010265">
                  <a:extLst>
                    <a:ext uri="{9D8B030D-6E8A-4147-A177-3AD203B41FA5}">
                      <a16:colId xmlns:a16="http://schemas.microsoft.com/office/drawing/2014/main" val="3270183844"/>
                    </a:ext>
                  </a:extLst>
                </a:gridCol>
              </a:tblGrid>
              <a:tr h="144050">
                <a:tc>
                  <a:txBody>
                    <a:bodyPr/>
                    <a:lstStyle/>
                    <a:p>
                      <a:pPr algn="ctr"/>
                      <a:r>
                        <a:rPr lang="en-US" sz="1200"/>
                        <a:t>Steps</a:t>
                      </a:r>
                      <a:endParaRPr lang="ru-RU" sz="1200"/>
                    </a:p>
                  </a:txBody>
                  <a:tcPr anchor="ctr"/>
                </a:tc>
                <a:tc>
                  <a:txBody>
                    <a:bodyPr/>
                    <a:lstStyle/>
                    <a:p>
                      <a:pPr algn="ctr"/>
                      <a:r>
                        <a:rPr lang="en-US" sz="1200"/>
                        <a:t>1</a:t>
                      </a:r>
                      <a:r>
                        <a:rPr lang="en-US" sz="1200" baseline="30000"/>
                        <a:t>st</a:t>
                      </a:r>
                      <a:r>
                        <a:rPr lang="en-US" sz="1200"/>
                        <a:t> month</a:t>
                      </a:r>
                      <a:endParaRPr lang="ru-RU" sz="1200"/>
                    </a:p>
                  </a:txBody>
                  <a:tcPr anchor="ctr"/>
                </a:tc>
                <a:tc>
                  <a:txBody>
                    <a:bodyPr/>
                    <a:lstStyle/>
                    <a:p>
                      <a:pPr algn="ctr"/>
                      <a:r>
                        <a:rPr lang="en-US" sz="1200"/>
                        <a:t>2</a:t>
                      </a:r>
                      <a:r>
                        <a:rPr lang="en-US" sz="1200" baseline="30000"/>
                        <a:t>nd</a:t>
                      </a:r>
                      <a:r>
                        <a:rPr lang="en-US" sz="1200"/>
                        <a:t> month</a:t>
                      </a:r>
                      <a:endParaRPr lang="ru-RU" sz="1200"/>
                    </a:p>
                  </a:txBody>
                  <a:tcPr anchor="ctr"/>
                </a:tc>
                <a:tc>
                  <a:txBody>
                    <a:bodyPr/>
                    <a:lstStyle/>
                    <a:p>
                      <a:pPr algn="ctr"/>
                      <a:r>
                        <a:rPr lang="en-US" sz="1200"/>
                        <a:t>3</a:t>
                      </a:r>
                      <a:r>
                        <a:rPr lang="en-US" sz="1200" baseline="30000"/>
                        <a:t>rd</a:t>
                      </a:r>
                      <a:r>
                        <a:rPr lang="en-US" sz="1200"/>
                        <a:t> month</a:t>
                      </a:r>
                      <a:endParaRPr lang="ru-RU" sz="1200"/>
                    </a:p>
                  </a:txBody>
                  <a:tcPr anchor="ctr"/>
                </a:tc>
                <a:tc>
                  <a:txBody>
                    <a:bodyPr/>
                    <a:lstStyle/>
                    <a:p>
                      <a:pPr algn="ctr"/>
                      <a:r>
                        <a:rPr lang="en-US" sz="1200"/>
                        <a:t>4</a:t>
                      </a:r>
                      <a:r>
                        <a:rPr lang="en-US" sz="1200" baseline="30000"/>
                        <a:t>th</a:t>
                      </a:r>
                      <a:r>
                        <a:rPr lang="en-US" sz="1200"/>
                        <a:t> month</a:t>
                      </a:r>
                      <a:endParaRPr lang="ru-RU" sz="1200"/>
                    </a:p>
                  </a:txBody>
                  <a:tcPr anchor="ctr"/>
                </a:tc>
                <a:extLst>
                  <a:ext uri="{0D108BD9-81ED-4DB2-BD59-A6C34878D82A}">
                    <a16:rowId xmlns:a16="http://schemas.microsoft.com/office/drawing/2014/main" val="2760831577"/>
                  </a:ext>
                </a:extLst>
              </a:tr>
              <a:tr h="188936">
                <a:tc>
                  <a:txBody>
                    <a:bodyPr/>
                    <a:lstStyle/>
                    <a:p>
                      <a:pPr algn="l"/>
                      <a:r>
                        <a:rPr lang="en-US" sz="1200"/>
                        <a:t>Production Volume (kg) </a:t>
                      </a:r>
                      <a:endParaRPr lang="ru-RU" sz="1200"/>
                    </a:p>
                  </a:txBody>
                  <a:tcPr anchor="ctr"/>
                </a:tc>
                <a:tc>
                  <a:txBody>
                    <a:bodyPr/>
                    <a:lstStyle/>
                    <a:p>
                      <a:pPr algn="ctr" fontAlgn="b"/>
                      <a:r>
                        <a:rPr lang="ru-RU" sz="1200" b="0" i="0" u="none" strike="noStrike">
                          <a:solidFill>
                            <a:srgbClr val="000000"/>
                          </a:solidFill>
                          <a:effectLst/>
                          <a:latin typeface="+mn-lt"/>
                        </a:rPr>
                        <a:t>25</a:t>
                      </a:r>
                    </a:p>
                  </a:txBody>
                  <a:tcPr marL="6350" marR="6350" marT="6350" marB="0" anchor="ctr"/>
                </a:tc>
                <a:tc>
                  <a:txBody>
                    <a:bodyPr/>
                    <a:lstStyle/>
                    <a:p>
                      <a:pPr algn="ctr" fontAlgn="b"/>
                      <a:r>
                        <a:rPr kumimoji="0" lang="ru-RU" sz="1200" b="0" i="0" u="none" strike="noStrike" kern="1200" cap="none" spc="0" normalizeH="0" baseline="0" noProof="0">
                          <a:ln>
                            <a:noFill/>
                          </a:ln>
                          <a:solidFill>
                            <a:srgbClr val="000000"/>
                          </a:solidFill>
                          <a:effectLst/>
                          <a:uLnTx/>
                          <a:uFillTx/>
                          <a:latin typeface="Arial" panose="020B0604020202020204"/>
                          <a:ea typeface="+mn-ea"/>
                          <a:cs typeface="+mn-cs"/>
                        </a:rPr>
                        <a:t>25</a:t>
                      </a:r>
                      <a:endParaRPr lang="ru-RU" sz="1200" b="0" i="0" u="none" strike="noStrike">
                        <a:solidFill>
                          <a:srgbClr val="000000"/>
                        </a:solidFill>
                        <a:effectLst/>
                        <a:latin typeface="+mn-lt"/>
                      </a:endParaRPr>
                    </a:p>
                  </a:txBody>
                  <a:tcPr marL="6350" marR="6350" marT="6350" marB="0" anchor="ctr"/>
                </a:tc>
                <a:tc>
                  <a:txBody>
                    <a:bodyPr/>
                    <a:lstStyle/>
                    <a:p>
                      <a:pPr algn="ctr" fontAlgn="b"/>
                      <a:r>
                        <a:rPr kumimoji="0" lang="ru-RU" sz="1200" b="0" i="0" u="none" strike="noStrike" kern="1200" cap="none" spc="0" normalizeH="0" baseline="0" noProof="0">
                          <a:ln>
                            <a:noFill/>
                          </a:ln>
                          <a:solidFill>
                            <a:srgbClr val="000000"/>
                          </a:solidFill>
                          <a:effectLst/>
                          <a:uLnTx/>
                          <a:uFillTx/>
                          <a:latin typeface="Arial" panose="020B0604020202020204"/>
                          <a:ea typeface="+mn-ea"/>
                          <a:cs typeface="+mn-cs"/>
                        </a:rPr>
                        <a:t>25</a:t>
                      </a:r>
                      <a:endParaRPr lang="ru-RU" sz="1200" b="0" i="0" u="none" strike="noStrike">
                        <a:solidFill>
                          <a:srgbClr val="000000"/>
                        </a:solidFill>
                        <a:effectLst/>
                        <a:latin typeface="+mn-lt"/>
                      </a:endParaRPr>
                    </a:p>
                  </a:txBody>
                  <a:tcPr marL="6350" marR="6350" marT="6350" marB="0" anchor="ctr"/>
                </a:tc>
                <a:tc>
                  <a:txBody>
                    <a:bodyPr/>
                    <a:lstStyle/>
                    <a:p>
                      <a:pPr algn="ctr" fontAlgn="b"/>
                      <a:r>
                        <a:rPr kumimoji="0" lang="ru-RU" sz="1200" b="0" i="0" u="none" strike="noStrike" kern="1200" cap="none" spc="0" normalizeH="0" baseline="0" noProof="0">
                          <a:ln>
                            <a:noFill/>
                          </a:ln>
                          <a:solidFill>
                            <a:srgbClr val="000000"/>
                          </a:solidFill>
                          <a:effectLst/>
                          <a:uLnTx/>
                          <a:uFillTx/>
                          <a:latin typeface="Arial" panose="020B0604020202020204"/>
                          <a:ea typeface="+mn-ea"/>
                          <a:cs typeface="+mn-cs"/>
                        </a:rPr>
                        <a:t>25</a:t>
                      </a:r>
                      <a:endParaRPr lang="ru-RU" sz="1200" b="0" i="0" u="none" strike="noStrike">
                        <a:solidFill>
                          <a:srgbClr val="000000"/>
                        </a:solidFill>
                        <a:effectLst/>
                        <a:latin typeface="+mn-lt"/>
                      </a:endParaRPr>
                    </a:p>
                  </a:txBody>
                  <a:tcPr marL="6350" marR="6350" marT="6350" marB="0" anchor="ctr"/>
                </a:tc>
                <a:extLst>
                  <a:ext uri="{0D108BD9-81ED-4DB2-BD59-A6C34878D82A}">
                    <a16:rowId xmlns:a16="http://schemas.microsoft.com/office/drawing/2014/main" val="139588955"/>
                  </a:ext>
                </a:extLst>
              </a:tr>
              <a:tr h="188936">
                <a:tc>
                  <a:txBody>
                    <a:bodyPr/>
                    <a:lstStyle/>
                    <a:p>
                      <a:pPr algn="l"/>
                      <a:r>
                        <a:rPr lang="en-US" sz="1200"/>
                        <a:t>Remaining CY volume beginning of the month (kg)</a:t>
                      </a:r>
                      <a:endParaRPr lang="ru-RU" sz="1200"/>
                    </a:p>
                  </a:txBody>
                  <a:tcPr anchor="ctr"/>
                </a:tc>
                <a:tc>
                  <a:txBody>
                    <a:bodyPr/>
                    <a:lstStyle/>
                    <a:p>
                      <a:pPr algn="ctr"/>
                      <a:r>
                        <a:rPr lang="en-US" sz="1200"/>
                        <a:t>100</a:t>
                      </a:r>
                      <a:endParaRPr lang="ru-RU" sz="1200"/>
                    </a:p>
                  </a:txBody>
                  <a:tcPr anchor="ctr"/>
                </a:tc>
                <a:tc>
                  <a:txBody>
                    <a:bodyPr/>
                    <a:lstStyle/>
                    <a:p>
                      <a:pPr algn="ctr"/>
                      <a:r>
                        <a:rPr lang="en-US" sz="1200"/>
                        <a:t>75</a:t>
                      </a:r>
                      <a:endParaRPr lang="ru-RU" sz="1200"/>
                    </a:p>
                  </a:txBody>
                  <a:tcPr anchor="ctr"/>
                </a:tc>
                <a:tc>
                  <a:txBody>
                    <a:bodyPr/>
                    <a:lstStyle/>
                    <a:p>
                      <a:pPr algn="ctr"/>
                      <a:r>
                        <a:rPr lang="en-US" sz="1200"/>
                        <a:t>50</a:t>
                      </a:r>
                      <a:endParaRPr lang="ru-RU" sz="1200"/>
                    </a:p>
                  </a:txBody>
                  <a:tcPr anchor="ctr"/>
                </a:tc>
                <a:tc>
                  <a:txBody>
                    <a:bodyPr/>
                    <a:lstStyle/>
                    <a:p>
                      <a:pPr algn="ctr"/>
                      <a:r>
                        <a:rPr lang="en-US" sz="1200"/>
                        <a:t>25</a:t>
                      </a:r>
                      <a:endParaRPr lang="ru-RU" sz="1200"/>
                    </a:p>
                  </a:txBody>
                  <a:tcPr anchor="ctr"/>
                </a:tc>
                <a:extLst>
                  <a:ext uri="{0D108BD9-81ED-4DB2-BD59-A6C34878D82A}">
                    <a16:rowId xmlns:a16="http://schemas.microsoft.com/office/drawing/2014/main" val="4127795640"/>
                  </a:ext>
                </a:extLst>
              </a:tr>
              <a:tr h="144050">
                <a:tc>
                  <a:txBody>
                    <a:bodyPr/>
                    <a:lstStyle/>
                    <a:p>
                      <a:pPr algn="l"/>
                      <a:r>
                        <a:rPr lang="en-US" sz="1200"/>
                        <a:t>IO FCA (USD)</a:t>
                      </a:r>
                      <a:endParaRPr lang="ru-RU" sz="1200"/>
                    </a:p>
                  </a:txBody>
                  <a:tcPr anchor="ctr"/>
                </a:tc>
                <a:tc>
                  <a:txBody>
                    <a:bodyPr/>
                    <a:lstStyle/>
                    <a:p>
                      <a:pPr algn="ctr"/>
                      <a:r>
                        <a:rPr lang="en-US" sz="1200"/>
                        <a:t>200 000</a:t>
                      </a:r>
                      <a:endParaRPr lang="ru-RU" sz="1200"/>
                    </a:p>
                  </a:txBody>
                  <a:tcPr anchor="ctr"/>
                </a:tc>
                <a:tc>
                  <a:txBody>
                    <a:bodyPr/>
                    <a:lstStyle/>
                    <a:p>
                      <a:pPr algn="ctr"/>
                      <a:endParaRPr lang="ru-RU" sz="1200"/>
                    </a:p>
                  </a:txBody>
                  <a:tcPr anchor="ctr"/>
                </a:tc>
                <a:tc>
                  <a:txBody>
                    <a:bodyPr/>
                    <a:lstStyle/>
                    <a:p>
                      <a:pPr algn="ctr"/>
                      <a:endParaRPr lang="ru-RU" sz="1200"/>
                    </a:p>
                  </a:txBody>
                  <a:tcPr anchor="ctr"/>
                </a:tc>
                <a:tc>
                  <a:txBody>
                    <a:bodyPr/>
                    <a:lstStyle/>
                    <a:p>
                      <a:pPr algn="ctr"/>
                      <a:endParaRPr lang="ru-RU" sz="1200"/>
                    </a:p>
                  </a:txBody>
                  <a:tcPr anchor="ctr"/>
                </a:tc>
                <a:extLst>
                  <a:ext uri="{0D108BD9-81ED-4DB2-BD59-A6C34878D82A}">
                    <a16:rowId xmlns:a16="http://schemas.microsoft.com/office/drawing/2014/main" val="276223906"/>
                  </a:ext>
                </a:extLst>
              </a:tr>
              <a:tr h="144050">
                <a:tc>
                  <a:txBody>
                    <a:bodyPr/>
                    <a:lstStyle/>
                    <a:p>
                      <a:pPr algn="l"/>
                      <a:r>
                        <a:rPr lang="en-US" sz="1200"/>
                        <a:t>Cost allocation based on volume</a:t>
                      </a:r>
                      <a:endParaRPr lang="ru-RU" sz="1200"/>
                    </a:p>
                  </a:txBody>
                  <a:tcPr anchor="ctr"/>
                </a:tc>
                <a:tc>
                  <a:txBody>
                    <a:bodyPr/>
                    <a:lstStyle/>
                    <a:p>
                      <a:pPr algn="ctr"/>
                      <a:r>
                        <a:rPr lang="en-US" sz="1200"/>
                        <a:t>25%</a:t>
                      </a:r>
                      <a:endParaRPr lang="ru-RU" sz="1200"/>
                    </a:p>
                  </a:txBody>
                  <a:tcPr anchor="ctr"/>
                </a:tc>
                <a:tc>
                  <a:txBody>
                    <a:bodyPr/>
                    <a:lstStyle/>
                    <a:p>
                      <a:pPr algn="ctr"/>
                      <a:r>
                        <a:rPr lang="en-US" sz="1200"/>
                        <a:t>33%</a:t>
                      </a:r>
                      <a:endParaRPr lang="ru-RU" sz="1200"/>
                    </a:p>
                  </a:txBody>
                  <a:tcPr anchor="ctr"/>
                </a:tc>
                <a:tc>
                  <a:txBody>
                    <a:bodyPr/>
                    <a:lstStyle/>
                    <a:p>
                      <a:pPr algn="ctr"/>
                      <a:r>
                        <a:rPr lang="en-US" sz="1200"/>
                        <a:t>50%</a:t>
                      </a:r>
                      <a:endParaRPr lang="ru-RU" sz="1200"/>
                    </a:p>
                  </a:txBody>
                  <a:tcPr anchor="ctr"/>
                </a:tc>
                <a:tc>
                  <a:txBody>
                    <a:bodyPr/>
                    <a:lstStyle/>
                    <a:p>
                      <a:pPr algn="ctr"/>
                      <a:r>
                        <a:rPr lang="en-US" sz="1200"/>
                        <a:t>100%</a:t>
                      </a:r>
                      <a:endParaRPr lang="ru-RU" sz="1200"/>
                    </a:p>
                  </a:txBody>
                  <a:tcPr anchor="ctr"/>
                </a:tc>
                <a:extLst>
                  <a:ext uri="{0D108BD9-81ED-4DB2-BD59-A6C34878D82A}">
                    <a16:rowId xmlns:a16="http://schemas.microsoft.com/office/drawing/2014/main" val="1902806995"/>
                  </a:ext>
                </a:extLst>
              </a:tr>
              <a:tr h="144050">
                <a:tc>
                  <a:txBody>
                    <a:bodyPr/>
                    <a:lstStyle/>
                    <a:p>
                      <a:pPr algn="l"/>
                      <a:r>
                        <a:rPr lang="en-US" sz="1200"/>
                        <a:t>Cost allocation to BP</a:t>
                      </a:r>
                      <a:endParaRPr lang="ru-RU" sz="1200"/>
                    </a:p>
                  </a:txBody>
                  <a:tcPr anchor="ctr"/>
                </a:tc>
                <a:tc>
                  <a:txBody>
                    <a:bodyPr/>
                    <a:lstStyle/>
                    <a:p>
                      <a:pPr algn="ctr"/>
                      <a:r>
                        <a:rPr lang="en-US" sz="1200"/>
                        <a:t>25%</a:t>
                      </a:r>
                      <a:endParaRPr lang="ru-RU" sz="1200"/>
                    </a:p>
                  </a:txBody>
                  <a:tcPr anchor="ctr"/>
                </a:tc>
                <a:tc>
                  <a:txBody>
                    <a:bodyPr/>
                    <a:lstStyle/>
                    <a:p>
                      <a:pPr algn="ctr"/>
                      <a:r>
                        <a:rPr lang="en-US" sz="1200"/>
                        <a:t>33%</a:t>
                      </a:r>
                      <a:endParaRPr lang="ru-RU" sz="1200"/>
                    </a:p>
                  </a:txBody>
                  <a:tcPr anchor="ctr"/>
                </a:tc>
                <a:tc>
                  <a:txBody>
                    <a:bodyPr/>
                    <a:lstStyle/>
                    <a:p>
                      <a:pPr algn="ctr"/>
                      <a:r>
                        <a:rPr lang="en-US" sz="1200"/>
                        <a:t>50%</a:t>
                      </a:r>
                      <a:endParaRPr lang="ru-RU" sz="1200"/>
                    </a:p>
                  </a:txBody>
                  <a:tcPr anchor="ctr"/>
                </a:tc>
                <a:tc>
                  <a:txBody>
                    <a:bodyPr/>
                    <a:lstStyle/>
                    <a:p>
                      <a:pPr algn="ctr"/>
                      <a:r>
                        <a:rPr lang="en-US" sz="1200"/>
                        <a:t>100%</a:t>
                      </a:r>
                      <a:endParaRPr lang="ru-RU" sz="1200"/>
                    </a:p>
                  </a:txBody>
                  <a:tcPr anchor="ctr"/>
                </a:tc>
                <a:extLst>
                  <a:ext uri="{0D108BD9-81ED-4DB2-BD59-A6C34878D82A}">
                    <a16:rowId xmlns:a16="http://schemas.microsoft.com/office/drawing/2014/main" val="3409344512"/>
                  </a:ext>
                </a:extLst>
              </a:tr>
              <a:tr h="1440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Cost allocation to Dummy IO</a:t>
                      </a:r>
                      <a:endParaRPr lang="ru-RU" sz="1200"/>
                    </a:p>
                  </a:txBody>
                  <a:tcPr anchor="ctr"/>
                </a:tc>
                <a:tc>
                  <a:txBody>
                    <a:bodyPr/>
                    <a:lstStyle/>
                    <a:p>
                      <a:pPr algn="ctr"/>
                      <a:r>
                        <a:rPr lang="en-US" sz="1200"/>
                        <a:t>75%</a:t>
                      </a:r>
                      <a:endParaRPr lang="ru-RU"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67%</a:t>
                      </a:r>
                      <a:endParaRPr lang="ru-RU" sz="1200"/>
                    </a:p>
                  </a:txBody>
                  <a:tcPr anchor="ctr"/>
                </a:tc>
                <a:tc>
                  <a:txBody>
                    <a:bodyPr/>
                    <a:lstStyle/>
                    <a:p>
                      <a:pPr algn="ctr"/>
                      <a:r>
                        <a:rPr lang="en-US" sz="1200"/>
                        <a:t>50%</a:t>
                      </a:r>
                      <a:endParaRPr lang="ru-RU" sz="1200"/>
                    </a:p>
                  </a:txBody>
                  <a:tcPr anchor="ctr"/>
                </a:tc>
                <a:tc>
                  <a:txBody>
                    <a:bodyPr/>
                    <a:lstStyle/>
                    <a:p>
                      <a:pPr algn="ctr"/>
                      <a:r>
                        <a:rPr lang="en-US" sz="1200"/>
                        <a:t>-</a:t>
                      </a:r>
                      <a:endParaRPr lang="ru-RU" sz="1200"/>
                    </a:p>
                  </a:txBody>
                  <a:tcPr anchor="ctr"/>
                </a:tc>
                <a:extLst>
                  <a:ext uri="{0D108BD9-81ED-4DB2-BD59-A6C34878D82A}">
                    <a16:rowId xmlns:a16="http://schemas.microsoft.com/office/drawing/2014/main" val="3040428834"/>
                  </a:ext>
                </a:extLst>
              </a:tr>
              <a:tr h="144050">
                <a:tc>
                  <a:txBody>
                    <a:bodyPr/>
                    <a:lstStyle/>
                    <a:p>
                      <a:pPr algn="l"/>
                      <a:r>
                        <a:rPr lang="en-US" sz="1200"/>
                        <a:t>Cost allocation to BP (USD)</a:t>
                      </a:r>
                      <a:endParaRPr lang="ru-RU" sz="1200"/>
                    </a:p>
                  </a:txBody>
                  <a:tcPr anchor="ctr"/>
                </a:tc>
                <a:tc>
                  <a:txBody>
                    <a:bodyPr/>
                    <a:lstStyle/>
                    <a:p>
                      <a:pPr algn="ctr"/>
                      <a:r>
                        <a:rPr lang="en-US" sz="1200"/>
                        <a:t>50 000</a:t>
                      </a:r>
                      <a:endParaRPr lang="ru-RU"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50 000</a:t>
                      </a:r>
                      <a:endParaRPr lang="ru-RU" sz="1200"/>
                    </a:p>
                  </a:txBody>
                  <a:tcPr anchor="ctr"/>
                </a:tc>
                <a:tc>
                  <a:txBody>
                    <a:bodyPr/>
                    <a:lstStyle/>
                    <a:p>
                      <a:pPr algn="ctr"/>
                      <a:r>
                        <a:rPr lang="en-US" sz="1200"/>
                        <a:t>50 000</a:t>
                      </a:r>
                      <a:endParaRPr lang="ru-RU" sz="1200"/>
                    </a:p>
                  </a:txBody>
                  <a:tcPr anchor="ctr"/>
                </a:tc>
                <a:tc>
                  <a:txBody>
                    <a:bodyPr/>
                    <a:lstStyle/>
                    <a:p>
                      <a:pPr algn="ctr"/>
                      <a:r>
                        <a:rPr lang="en-US" sz="1200"/>
                        <a:t>50 000</a:t>
                      </a:r>
                      <a:endParaRPr lang="ru-RU" sz="1200"/>
                    </a:p>
                  </a:txBody>
                  <a:tcPr anchor="ctr"/>
                </a:tc>
                <a:extLst>
                  <a:ext uri="{0D108BD9-81ED-4DB2-BD59-A6C34878D82A}">
                    <a16:rowId xmlns:a16="http://schemas.microsoft.com/office/drawing/2014/main" val="3069124033"/>
                  </a:ext>
                </a:extLst>
              </a:tr>
              <a:tr h="1440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Cost allocation to Dummy IO (USD)</a:t>
                      </a:r>
                      <a:endParaRPr lang="ru-RU" sz="1200"/>
                    </a:p>
                  </a:txBody>
                  <a:tcPr anchor="ctr"/>
                </a:tc>
                <a:tc>
                  <a:txBody>
                    <a:bodyPr/>
                    <a:lstStyle/>
                    <a:p>
                      <a:pPr algn="ctr"/>
                      <a:r>
                        <a:rPr lang="en-US" sz="1200"/>
                        <a:t>150 000</a:t>
                      </a:r>
                      <a:endParaRPr lang="ru-RU"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100 000</a:t>
                      </a:r>
                      <a:endParaRPr lang="ru-RU" sz="1200"/>
                    </a:p>
                  </a:txBody>
                  <a:tcPr anchor="ctr"/>
                </a:tc>
                <a:tc>
                  <a:txBody>
                    <a:bodyPr/>
                    <a:lstStyle/>
                    <a:p>
                      <a:pPr algn="ctr"/>
                      <a:r>
                        <a:rPr lang="en-US" sz="1200"/>
                        <a:t>50 000</a:t>
                      </a:r>
                      <a:endParaRPr lang="ru-RU" sz="1200"/>
                    </a:p>
                  </a:txBody>
                  <a:tcPr anchor="ctr"/>
                </a:tc>
                <a:tc>
                  <a:txBody>
                    <a:bodyPr/>
                    <a:lstStyle/>
                    <a:p>
                      <a:pPr algn="ctr"/>
                      <a:r>
                        <a:rPr lang="en-US" sz="1200"/>
                        <a:t>-</a:t>
                      </a:r>
                      <a:endParaRPr lang="ru-RU" sz="1200"/>
                    </a:p>
                  </a:txBody>
                  <a:tcPr anchor="ctr"/>
                </a:tc>
                <a:extLst>
                  <a:ext uri="{0D108BD9-81ED-4DB2-BD59-A6C34878D82A}">
                    <a16:rowId xmlns:a16="http://schemas.microsoft.com/office/drawing/2014/main" val="682157680"/>
                  </a:ext>
                </a:extLst>
              </a:tr>
            </a:tbl>
          </a:graphicData>
        </a:graphic>
      </p:graphicFrame>
      <p:sp>
        <p:nvSpPr>
          <p:cNvPr id="15" name="Rectangle: Rounded Corners 14">
            <a:extLst>
              <a:ext uri="{FF2B5EF4-FFF2-40B4-BE49-F238E27FC236}">
                <a16:creationId xmlns:a16="http://schemas.microsoft.com/office/drawing/2014/main" id="{E7B3F4CB-84FC-3DE5-0786-B98D32D4DEC7}"/>
              </a:ext>
            </a:extLst>
          </p:cNvPr>
          <p:cNvSpPr/>
          <p:nvPr/>
        </p:nvSpPr>
        <p:spPr>
          <a:xfrm>
            <a:off x="3871114" y="1613294"/>
            <a:ext cx="2074606" cy="1362994"/>
          </a:xfrm>
          <a:prstGeom prst="roundRect">
            <a:avLst/>
          </a:prstGeom>
          <a:noFill/>
          <a:ln w="28575">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7" name="TextBox 26">
            <a:extLst>
              <a:ext uri="{FF2B5EF4-FFF2-40B4-BE49-F238E27FC236}">
                <a16:creationId xmlns:a16="http://schemas.microsoft.com/office/drawing/2014/main" id="{2CC7680B-12E9-E0C5-5D87-AAC81DAED1D2}"/>
              </a:ext>
            </a:extLst>
          </p:cNvPr>
          <p:cNvSpPr txBox="1"/>
          <p:nvPr/>
        </p:nvSpPr>
        <p:spPr>
          <a:xfrm>
            <a:off x="228539" y="3672855"/>
            <a:ext cx="512777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6">
                    <a:lumMod val="75000"/>
                  </a:schemeClr>
                </a:solidFill>
                <a:effectLst/>
                <a:uLnTx/>
                <a:uFillTx/>
                <a:latin typeface="Arial" panose="020B0604020202020204"/>
                <a:ea typeface="+mn-ea"/>
                <a:cs typeface="+mn-cs"/>
              </a:rPr>
              <a:t>Example representing settlement % calculation</a:t>
            </a:r>
            <a:endParaRPr kumimoji="0" lang="ru-RU" sz="1200" b="0" i="0" u="none" strike="noStrike" kern="1200" cap="none" spc="0" normalizeH="0" baseline="0" noProof="0">
              <a:ln>
                <a:noFill/>
              </a:ln>
              <a:solidFill>
                <a:schemeClr val="accent6">
                  <a:lumMod val="75000"/>
                </a:schemeClr>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B51F813B-39E8-794F-045D-04CD22D9E0CC}"/>
              </a:ext>
            </a:extLst>
          </p:cNvPr>
          <p:cNvSpPr/>
          <p:nvPr/>
        </p:nvSpPr>
        <p:spPr>
          <a:xfrm>
            <a:off x="2637368" y="6073293"/>
            <a:ext cx="3799291" cy="228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C0D8D453-0015-B7AF-57F5-706B206B7F84}"/>
              </a:ext>
            </a:extLst>
          </p:cNvPr>
          <p:cNvSpPr/>
          <p:nvPr/>
        </p:nvSpPr>
        <p:spPr>
          <a:xfrm>
            <a:off x="2637368" y="4970940"/>
            <a:ext cx="796114" cy="228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cxnSp>
        <p:nvCxnSpPr>
          <p:cNvPr id="14" name="Connector: Elbow 13">
            <a:extLst>
              <a:ext uri="{FF2B5EF4-FFF2-40B4-BE49-F238E27FC236}">
                <a16:creationId xmlns:a16="http://schemas.microsoft.com/office/drawing/2014/main" id="{8ED41E6C-F2A4-4BF7-C4DC-D0FB0368B37B}"/>
              </a:ext>
            </a:extLst>
          </p:cNvPr>
          <p:cNvCxnSpPr>
            <a:cxnSpLocks/>
            <a:stCxn id="9" idx="1"/>
            <a:endCxn id="12" idx="1"/>
          </p:cNvCxnSpPr>
          <p:nvPr/>
        </p:nvCxnSpPr>
        <p:spPr>
          <a:xfrm rot="10800000">
            <a:off x="2637368" y="5085241"/>
            <a:ext cx="12700" cy="1102353"/>
          </a:xfrm>
          <a:prstGeom prst="bentConnector3">
            <a:avLst>
              <a:gd name="adj1" fmla="val 1800000"/>
            </a:avLst>
          </a:prstGeom>
          <a:ln w="190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6493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AAFD-4632-7870-3780-6E397862E672}"/>
              </a:ext>
            </a:extLst>
          </p:cNvPr>
          <p:cNvSpPr>
            <a:spLocks noGrp="1"/>
          </p:cNvSpPr>
          <p:nvPr>
            <p:ph type="title"/>
          </p:nvPr>
        </p:nvSpPr>
        <p:spPr/>
        <p:txBody>
          <a:bodyPr/>
          <a:lstStyle/>
          <a:p>
            <a:r>
              <a:rPr lang="en-GB"/>
              <a:t>Crop Year Internal Order Settlement Rules</a:t>
            </a:r>
            <a:endParaRPr lang="en-US"/>
          </a:p>
        </p:txBody>
      </p:sp>
      <p:sp>
        <p:nvSpPr>
          <p:cNvPr id="5" name="Slide Number Placeholder 4">
            <a:extLst>
              <a:ext uri="{FF2B5EF4-FFF2-40B4-BE49-F238E27FC236}">
                <a16:creationId xmlns:a16="http://schemas.microsoft.com/office/drawing/2014/main" id="{41CB0513-4DA1-042D-547D-8EBFDD0785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graphicFrame>
        <p:nvGraphicFramePr>
          <p:cNvPr id="8" name="Table 7">
            <a:extLst>
              <a:ext uri="{FF2B5EF4-FFF2-40B4-BE49-F238E27FC236}">
                <a16:creationId xmlns:a16="http://schemas.microsoft.com/office/drawing/2014/main" id="{E88CDB08-8412-06E4-C880-DF21000F2552}"/>
              </a:ext>
            </a:extLst>
          </p:cNvPr>
          <p:cNvGraphicFramePr>
            <a:graphicFrameLocks noGrp="1"/>
          </p:cNvGraphicFramePr>
          <p:nvPr/>
        </p:nvGraphicFramePr>
        <p:xfrm>
          <a:off x="737937" y="1444121"/>
          <a:ext cx="10540863" cy="2651760"/>
        </p:xfrm>
        <a:graphic>
          <a:graphicData uri="http://schemas.openxmlformats.org/drawingml/2006/table">
            <a:tbl>
              <a:tblPr firstRow="1">
                <a:tableStyleId>{68D230F3-CF80-4859-8CE7-A43EE81993B5}</a:tableStyleId>
              </a:tblPr>
              <a:tblGrid>
                <a:gridCol w="10540863">
                  <a:extLst>
                    <a:ext uri="{9D8B030D-6E8A-4147-A177-3AD203B41FA5}">
                      <a16:colId xmlns:a16="http://schemas.microsoft.com/office/drawing/2014/main" val="3338571815"/>
                    </a:ext>
                  </a:extLst>
                </a:gridCol>
              </a:tblGrid>
              <a:tr h="2052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0">
                          <a:ln>
                            <a:noFill/>
                          </a:ln>
                          <a:solidFill>
                            <a:prstClr val="black"/>
                          </a:solidFill>
                          <a:effectLst/>
                          <a:uLnTx/>
                          <a:uFillTx/>
                        </a:rPr>
                        <a:t>Settlement Rules </a:t>
                      </a:r>
                    </a:p>
                  </a:txBody>
                  <a:tcPr/>
                </a:tc>
                <a:extLst>
                  <a:ext uri="{0D108BD9-81ED-4DB2-BD59-A6C34878D82A}">
                    <a16:rowId xmlns:a16="http://schemas.microsoft.com/office/drawing/2014/main" val="3629118289"/>
                  </a:ext>
                </a:extLst>
              </a:tr>
              <a:tr h="1359411">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Crop year and dummy internal orders are settled on a monthly basis irrespective of production, i.e. settlement rule needs to be updated in all months.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In months without production, 100% of crop year internal orders cost is settled to respective dummy internal orders and back to crop year internal orders.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In the months of production, the portion of overheads, which belongs to current month production, should be settled to business processes, and the remaining portion should be transferred to dummy internal orders and back to crop year internal orders.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Percentage to be settled to business processes should be calculated based on the latest approved forecast for the crop:</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Settlement to Business Process % = SG Prod. Volume Month / (SG Prod. Volume Month + Remain. Crop End),</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SG Prod. Volume Month – lamina volume produced for the month</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SG Prod. Volume Month + Remain. Crop End – lamina volume produced for the month plus remaining to be produced till the end of the crop</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u="none" strike="noStrike" kern="1200" cap="none" spc="0" normalizeH="0" baseline="0" noProof="0">
                          <a:ln>
                            <a:noFill/>
                          </a:ln>
                          <a:solidFill>
                            <a:schemeClr val="tx1"/>
                          </a:solidFill>
                          <a:effectLst/>
                          <a:uLnTx/>
                          <a:uFillTx/>
                        </a:rPr>
                        <a:t>Normally, settlement percentage to business processes would increase as the crop progresses. In the last month of the crop, 100% cost would be settled to business processes.</a:t>
                      </a:r>
                    </a:p>
                  </a:txBody>
                  <a:tcPr/>
                </a:tc>
                <a:extLst>
                  <a:ext uri="{0D108BD9-81ED-4DB2-BD59-A6C34878D82A}">
                    <a16:rowId xmlns:a16="http://schemas.microsoft.com/office/drawing/2014/main" val="2134802628"/>
                  </a:ext>
                </a:extLst>
              </a:tr>
              <a:tr h="2052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200" b="0" u="none" strike="noStrike" kern="1200" cap="none" spc="0" normalizeH="0" baseline="0" noProof="0">
                          <a:ln>
                            <a:noFill/>
                          </a:ln>
                          <a:solidFill>
                            <a:schemeClr val="accent6">
                              <a:lumMod val="50000"/>
                            </a:schemeClr>
                          </a:solidFill>
                          <a:effectLst/>
                          <a:uLnTx/>
                          <a:uFillTx/>
                        </a:rPr>
                        <a:t>Settlement rules created during Internal Order creation using Transaction Code KO01 (KO02 to change Internal Order)</a:t>
                      </a:r>
                      <a:endParaRPr kumimoji="0" lang="en-US" sz="1200" b="0" u="none" strike="noStrike" kern="1200" cap="none" spc="0" normalizeH="0" baseline="0" noProof="0">
                        <a:ln>
                          <a:noFill/>
                        </a:ln>
                        <a:solidFill>
                          <a:schemeClr val="accent6">
                            <a:lumMod val="50000"/>
                          </a:schemeClr>
                        </a:solidFill>
                        <a:effectLst/>
                        <a:uLnTx/>
                        <a:uFillTx/>
                      </a:endParaRPr>
                    </a:p>
                  </a:txBody>
                  <a:tcPr/>
                </a:tc>
                <a:extLst>
                  <a:ext uri="{0D108BD9-81ED-4DB2-BD59-A6C34878D82A}">
                    <a16:rowId xmlns:a16="http://schemas.microsoft.com/office/drawing/2014/main" val="3678461203"/>
                  </a:ext>
                </a:extLst>
              </a:tr>
            </a:tbl>
          </a:graphicData>
        </a:graphic>
      </p:graphicFrame>
      <p:pic>
        <p:nvPicPr>
          <p:cNvPr id="9" name="Picture 8">
            <a:extLst>
              <a:ext uri="{FF2B5EF4-FFF2-40B4-BE49-F238E27FC236}">
                <a16:creationId xmlns:a16="http://schemas.microsoft.com/office/drawing/2014/main" id="{5877A06B-EE8A-AA26-2950-DAFB62E6F1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7937" y="4212928"/>
            <a:ext cx="6032152" cy="2401901"/>
          </a:xfrm>
          <a:prstGeom prst="rect">
            <a:avLst/>
          </a:prstGeom>
          <a:noFill/>
          <a:ln>
            <a:noFill/>
          </a:ln>
        </p:spPr>
      </p:pic>
    </p:spTree>
    <p:extLst>
      <p:ext uri="{BB962C8B-B14F-4D97-AF65-F5344CB8AC3E}">
        <p14:creationId xmlns:p14="http://schemas.microsoft.com/office/powerpoint/2010/main" val="3091893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950489-17BD-4982-8842-EBCD6DB627C9}"/>
              </a:ext>
            </a:extLst>
          </p:cNvPr>
          <p:cNvPicPr>
            <a:picLocks noChangeAspect="1"/>
          </p:cNvPicPr>
          <p:nvPr/>
        </p:nvPicPr>
        <p:blipFill>
          <a:blip r:embed="rId3"/>
          <a:stretch>
            <a:fillRect/>
          </a:stretch>
        </p:blipFill>
        <p:spPr>
          <a:xfrm>
            <a:off x="3844913" y="2382518"/>
            <a:ext cx="2105719" cy="1399956"/>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D039F9B6-8A8B-4C25-8858-607C504F3A4D}"/>
              </a:ext>
            </a:extLst>
          </p:cNvPr>
          <p:cNvPicPr>
            <a:picLocks noChangeAspect="1"/>
          </p:cNvPicPr>
          <p:nvPr/>
        </p:nvPicPr>
        <p:blipFill>
          <a:blip r:embed="rId4"/>
          <a:stretch>
            <a:fillRect/>
          </a:stretch>
        </p:blipFill>
        <p:spPr>
          <a:xfrm>
            <a:off x="5991408" y="1371911"/>
            <a:ext cx="2781342" cy="3759396"/>
          </a:xfrm>
          <a:prstGeom prst="rect">
            <a:avLst/>
          </a:prstGeom>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75A2F387-6C3B-4E8E-AEEE-8E1EEE79920A}"/>
              </a:ext>
            </a:extLst>
          </p:cNvPr>
          <p:cNvPicPr>
            <a:picLocks noChangeAspect="1"/>
          </p:cNvPicPr>
          <p:nvPr/>
        </p:nvPicPr>
        <p:blipFill>
          <a:blip r:embed="rId5"/>
          <a:stretch>
            <a:fillRect/>
          </a:stretch>
        </p:blipFill>
        <p:spPr>
          <a:xfrm>
            <a:off x="479904" y="1371911"/>
            <a:ext cx="3289558" cy="3534052"/>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653112" cy="984247"/>
          </a:xfrm>
        </p:spPr>
        <p:txBody>
          <a:bodyPr/>
          <a:lstStyle/>
          <a:p>
            <a:r>
              <a:rPr lang="en-US"/>
              <a:t>Internal Order Settlement: Execution</a:t>
            </a:r>
            <a:endParaRPr lang="en-US" sz="1600"/>
          </a:p>
        </p:txBody>
      </p:sp>
      <p:sp>
        <p:nvSpPr>
          <p:cNvPr id="14" name="Rectangle: Rounded Corners 13">
            <a:extLst>
              <a:ext uri="{FF2B5EF4-FFF2-40B4-BE49-F238E27FC236}">
                <a16:creationId xmlns:a16="http://schemas.microsoft.com/office/drawing/2014/main" id="{33044BA5-9871-45BC-A3CE-171919FDDDF2}"/>
              </a:ext>
            </a:extLst>
          </p:cNvPr>
          <p:cNvSpPr/>
          <p:nvPr/>
        </p:nvSpPr>
        <p:spPr>
          <a:xfrm>
            <a:off x="499058" y="1357080"/>
            <a:ext cx="2842658"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KO8G: Internal Order Settlement</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6B7093B8-CD06-401F-BABF-200184011643}"/>
              </a:ext>
            </a:extLst>
          </p:cNvPr>
          <p:cNvSpPr/>
          <p:nvPr/>
        </p:nvSpPr>
        <p:spPr>
          <a:xfrm>
            <a:off x="912668" y="2394764"/>
            <a:ext cx="1813907" cy="19715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B8AC01D4-8CFE-4AED-A890-1F8B36C8B560}"/>
              </a:ext>
            </a:extLst>
          </p:cNvPr>
          <p:cNvSpPr/>
          <p:nvPr/>
        </p:nvSpPr>
        <p:spPr>
          <a:xfrm>
            <a:off x="4210057" y="3126033"/>
            <a:ext cx="1085150" cy="32747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84951235-BE7D-4727-B296-B8C4DDA49336}"/>
              </a:ext>
            </a:extLst>
          </p:cNvPr>
          <p:cNvSpPr/>
          <p:nvPr/>
        </p:nvSpPr>
        <p:spPr>
          <a:xfrm>
            <a:off x="5991409" y="1374364"/>
            <a:ext cx="902382" cy="16649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KO8G log</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4EF58C46-5F40-4DE3-949E-6A59FF6C8E04}"/>
              </a:ext>
            </a:extLst>
          </p:cNvPr>
          <p:cNvSpPr/>
          <p:nvPr/>
        </p:nvSpPr>
        <p:spPr>
          <a:xfrm>
            <a:off x="6795547" y="1716869"/>
            <a:ext cx="362173" cy="166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Arrow: Striped Right 24">
            <a:extLst>
              <a:ext uri="{FF2B5EF4-FFF2-40B4-BE49-F238E27FC236}">
                <a16:creationId xmlns:a16="http://schemas.microsoft.com/office/drawing/2014/main" id="{769EB45F-FF61-49D1-AE92-15F3DE06C985}"/>
              </a:ext>
            </a:extLst>
          </p:cNvPr>
          <p:cNvSpPr/>
          <p:nvPr/>
        </p:nvSpPr>
        <p:spPr>
          <a:xfrm>
            <a:off x="3611527" y="1853503"/>
            <a:ext cx="2595023" cy="166490"/>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Rectangle 33">
            <a:extLst>
              <a:ext uri="{FF2B5EF4-FFF2-40B4-BE49-F238E27FC236}">
                <a16:creationId xmlns:a16="http://schemas.microsoft.com/office/drawing/2014/main" id="{458DBBC5-66EC-45CF-9675-142A5CCF7438}"/>
              </a:ext>
            </a:extLst>
          </p:cNvPr>
          <p:cNvSpPr/>
          <p:nvPr/>
        </p:nvSpPr>
        <p:spPr>
          <a:xfrm>
            <a:off x="391415" y="4967732"/>
            <a:ext cx="3590804" cy="246221"/>
          </a:xfrm>
          <a:prstGeom prst="rect">
            <a:avLst/>
          </a:prstGeom>
          <a:noFill/>
        </p:spPr>
        <p:txBody>
          <a:bodyPr wrap="square">
            <a:spAutoFit/>
          </a:bodyPr>
          <a:lstStyle/>
          <a:p>
            <a:pPr lvl="0">
              <a:lnSpc>
                <a:spcPts val="1200"/>
              </a:lnSpc>
              <a:spcBef>
                <a:spcPts val="600"/>
              </a:spcBef>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Internal Order Settlement </a:t>
            </a:r>
            <a:r>
              <a:rPr lang="en-GB" sz="1200" b="1" i="1" u="sng">
                <a:solidFill>
                  <a:srgbClr val="000000"/>
                </a:solidFill>
                <a:latin typeface="Georgia" panose="02040502050405020303" pitchFamily="18" charset="0"/>
              </a:rPr>
              <a:t>(KO8G) </a:t>
            </a: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a:t>
            </a:r>
          </a:p>
        </p:txBody>
      </p:sp>
      <p:sp>
        <p:nvSpPr>
          <p:cNvPr id="35" name="Rectangle 34">
            <a:extLst>
              <a:ext uri="{FF2B5EF4-FFF2-40B4-BE49-F238E27FC236}">
                <a16:creationId xmlns:a16="http://schemas.microsoft.com/office/drawing/2014/main" id="{A162241E-1568-43EA-A650-3EDB0EC5CACF}"/>
              </a:ext>
            </a:extLst>
          </p:cNvPr>
          <p:cNvSpPr/>
          <p:nvPr/>
        </p:nvSpPr>
        <p:spPr>
          <a:xfrm>
            <a:off x="380601" y="5183352"/>
            <a:ext cx="7055679" cy="1323439"/>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If you execute KO8G outside of FCC you should make sure you use the same </a:t>
            </a:r>
            <a:r>
              <a:rPr lang="en-GB" sz="1100" b="1" i="1">
                <a:solidFill>
                  <a:srgbClr val="000000"/>
                </a:solidFill>
                <a:latin typeface="Georgia" panose="02040502050405020303" pitchFamily="18" charset="0"/>
              </a:rPr>
              <a:t>Selection Variant </a:t>
            </a:r>
            <a:r>
              <a:rPr lang="en-GB" sz="1100" i="1">
                <a:solidFill>
                  <a:srgbClr val="000000"/>
                </a:solidFill>
                <a:latin typeface="Georgia" panose="02040502050405020303" pitchFamily="18" charset="0"/>
              </a:rPr>
              <a:t>as shown in the variants of the corresponding FCC task. It is possible that you may need to modify it temporarily if some ad hoc change is required. (Use the </a:t>
            </a:r>
            <a:r>
              <a:rPr lang="en-GB" sz="1100" b="1" i="1">
                <a:solidFill>
                  <a:srgbClr val="000000"/>
                </a:solidFill>
                <a:latin typeface="Georgia" panose="02040502050405020303" pitchFamily="18" charset="0"/>
              </a:rPr>
              <a:t>change </a:t>
            </a:r>
            <a:r>
              <a:rPr lang="en-GB" sz="1100" i="1">
                <a:solidFill>
                  <a:srgbClr val="000000"/>
                </a:solidFill>
                <a:latin typeface="Georgia" panose="02040502050405020303" pitchFamily="18" charset="0"/>
              </a:rPr>
              <a:t>icon for the selection variant to do so.)</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It is recommended you perform a test run first so that you can act on the messages if there’s any, before you proceed with an update run.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When you perform an update run, tick Detailed List, which will show you which Internal Orders can be settled along with their senders/receivers and Accounting Documents posted.</a:t>
            </a:r>
          </a:p>
        </p:txBody>
      </p:sp>
      <p:pic>
        <p:nvPicPr>
          <p:cNvPr id="10" name="Picture 9">
            <a:extLst>
              <a:ext uri="{FF2B5EF4-FFF2-40B4-BE49-F238E27FC236}">
                <a16:creationId xmlns:a16="http://schemas.microsoft.com/office/drawing/2014/main" id="{241496DB-EC51-4C74-B445-D090278FBB5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436281" y="5086486"/>
            <a:ext cx="4239780" cy="1439067"/>
          </a:xfrm>
          <a:prstGeom prst="rect">
            <a:avLst/>
          </a:prstGeom>
          <a:ln>
            <a:solidFill>
              <a:srgbClr val="FF0000"/>
            </a:solidFill>
          </a:ln>
          <a:effectLst>
            <a:outerShdw blurRad="50800" dist="38100" dir="2700000" algn="tl" rotWithShape="0">
              <a:prstClr val="black">
                <a:alpha val="40000"/>
              </a:prstClr>
            </a:outerShdw>
          </a:effectLst>
        </p:spPr>
      </p:pic>
      <p:cxnSp>
        <p:nvCxnSpPr>
          <p:cNvPr id="12" name="Straight Arrow Connector 11">
            <a:extLst>
              <a:ext uri="{FF2B5EF4-FFF2-40B4-BE49-F238E27FC236}">
                <a16:creationId xmlns:a16="http://schemas.microsoft.com/office/drawing/2014/main" id="{AECF71B7-FC26-47A0-8BFA-0683961DC3A6}"/>
              </a:ext>
            </a:extLst>
          </p:cNvPr>
          <p:cNvCxnSpPr>
            <a:stCxn id="15" idx="3"/>
            <a:endCxn id="16" idx="1"/>
          </p:cNvCxnSpPr>
          <p:nvPr/>
        </p:nvCxnSpPr>
        <p:spPr>
          <a:xfrm>
            <a:off x="2726575" y="2493339"/>
            <a:ext cx="1483482" cy="79643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12A91176-01F3-405C-8EEE-DD6FC5C17E67}"/>
              </a:ext>
            </a:extLst>
          </p:cNvPr>
          <p:cNvSpPr/>
          <p:nvPr/>
        </p:nvSpPr>
        <p:spPr>
          <a:xfrm>
            <a:off x="8503678" y="5431444"/>
            <a:ext cx="1579660" cy="23970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7" name="Connector: Elbow 26">
            <a:extLst>
              <a:ext uri="{FF2B5EF4-FFF2-40B4-BE49-F238E27FC236}">
                <a16:creationId xmlns:a16="http://schemas.microsoft.com/office/drawing/2014/main" id="{A90F0EE1-56A9-4E92-A632-E2D7592CE002}"/>
              </a:ext>
            </a:extLst>
          </p:cNvPr>
          <p:cNvCxnSpPr>
            <a:cxnSpLocks/>
            <a:stCxn id="23" idx="3"/>
            <a:endCxn id="10" idx="0"/>
          </p:cNvCxnSpPr>
          <p:nvPr/>
        </p:nvCxnSpPr>
        <p:spPr>
          <a:xfrm>
            <a:off x="7157720" y="1800114"/>
            <a:ext cx="2398451" cy="3286372"/>
          </a:xfrm>
          <a:prstGeom prst="bentConnector2">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Speech Bubble: Rectangle 19">
            <a:extLst>
              <a:ext uri="{FF2B5EF4-FFF2-40B4-BE49-F238E27FC236}">
                <a16:creationId xmlns:a16="http://schemas.microsoft.com/office/drawing/2014/main" id="{57512D74-407F-45DE-8A5B-F2E90F03D63A}"/>
              </a:ext>
            </a:extLst>
          </p:cNvPr>
          <p:cNvSpPr/>
          <p:nvPr/>
        </p:nvSpPr>
        <p:spPr>
          <a:xfrm>
            <a:off x="3355610" y="3782474"/>
            <a:ext cx="2595023" cy="1382116"/>
          </a:xfrm>
          <a:prstGeom prst="wedgeRectCallout">
            <a:avLst>
              <a:gd name="adj1" fmla="val 19447"/>
              <a:gd name="adj2" fmla="val -74245"/>
            </a:avLst>
          </a:prstGeom>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GB" sz="1050" i="1">
                <a:solidFill>
                  <a:schemeClr val="tx1"/>
                </a:solidFill>
                <a:latin typeface="Georgia" panose="02040502050405020303" pitchFamily="18" charset="0"/>
              </a:rPr>
              <a:t>Internal Order settlement variants also use “Selection Variant” like CJB1/CJ8G, but there’s no standard or custom variables used. Therefore you only need to validate if the Orders included in the Selection variants are the correct ones to be settled – you may need to confirm this with the entities.</a:t>
            </a:r>
            <a:endParaRPr lang="en-US" sz="1050" i="1">
              <a:solidFill>
                <a:schemeClr val="tx1"/>
              </a:solidFill>
              <a:latin typeface="Georgia" panose="02040502050405020303" pitchFamily="18" charset="0"/>
            </a:endParaRPr>
          </a:p>
        </p:txBody>
      </p:sp>
    </p:spTree>
    <p:extLst>
      <p:ext uri="{BB962C8B-B14F-4D97-AF65-F5344CB8AC3E}">
        <p14:creationId xmlns:p14="http://schemas.microsoft.com/office/powerpoint/2010/main" val="1391415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09DBE2D-B098-4F96-9D0C-7891AB514A80}"/>
              </a:ext>
            </a:extLst>
          </p:cNvPr>
          <p:cNvPicPr>
            <a:picLocks noChangeAspect="1"/>
          </p:cNvPicPr>
          <p:nvPr/>
        </p:nvPicPr>
        <p:blipFill>
          <a:blip r:embed="rId2"/>
          <a:stretch>
            <a:fillRect/>
          </a:stretch>
        </p:blipFill>
        <p:spPr>
          <a:xfrm>
            <a:off x="268435" y="5069637"/>
            <a:ext cx="5140835" cy="1736025"/>
          </a:xfrm>
          <a:prstGeom prst="rect">
            <a:avLst/>
          </a:prstGeom>
          <a:effectLst>
            <a:outerShdw blurRad="50800" dist="38100" dir="18900000" algn="bl" rotWithShape="0">
              <a:prstClr val="black">
                <a:alpha val="40000"/>
              </a:prstClr>
            </a:outerShdw>
          </a:effectLst>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653112" cy="984247"/>
          </a:xfrm>
        </p:spPr>
        <p:txBody>
          <a:bodyPr/>
          <a:lstStyle/>
          <a:p>
            <a:r>
              <a:rPr lang="en-US"/>
              <a:t>Internal Order Settlement: Postings</a:t>
            </a:r>
            <a:endParaRPr lang="en-US" sz="1600"/>
          </a:p>
        </p:txBody>
      </p:sp>
      <p:sp>
        <p:nvSpPr>
          <p:cNvPr id="34" name="Rectangle 33">
            <a:extLst>
              <a:ext uri="{FF2B5EF4-FFF2-40B4-BE49-F238E27FC236}">
                <a16:creationId xmlns:a16="http://schemas.microsoft.com/office/drawing/2014/main" id="{458DBBC5-66EC-45CF-9675-142A5CCF7438}"/>
              </a:ext>
            </a:extLst>
          </p:cNvPr>
          <p:cNvSpPr/>
          <p:nvPr/>
        </p:nvSpPr>
        <p:spPr>
          <a:xfrm>
            <a:off x="3868600" y="1361516"/>
            <a:ext cx="5402400" cy="246221"/>
          </a:xfrm>
          <a:prstGeom prst="rect">
            <a:avLst/>
          </a:prstGeom>
          <a:noFill/>
        </p:spPr>
        <p:txBody>
          <a:bodyPr wrap="square">
            <a:spAutoFit/>
          </a:bodyPr>
          <a:lstStyle/>
          <a:p>
            <a:pPr lvl="0">
              <a:lnSpc>
                <a:spcPts val="1200"/>
              </a:lnSpc>
              <a:spcBef>
                <a:spcPts val="600"/>
              </a:spcBef>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Internal Order Settlement </a:t>
            </a:r>
            <a:r>
              <a:rPr lang="en-GB" sz="1200" b="1" i="1" u="sng">
                <a:solidFill>
                  <a:srgbClr val="000000"/>
                </a:solidFill>
                <a:latin typeface="Georgia" panose="02040502050405020303" pitchFamily="18" charset="0"/>
              </a:rPr>
              <a:t>(KO8G) Postings </a:t>
            </a: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a:t>
            </a:r>
          </a:p>
        </p:txBody>
      </p:sp>
      <p:sp>
        <p:nvSpPr>
          <p:cNvPr id="35" name="Rectangle 34">
            <a:extLst>
              <a:ext uri="{FF2B5EF4-FFF2-40B4-BE49-F238E27FC236}">
                <a16:creationId xmlns:a16="http://schemas.microsoft.com/office/drawing/2014/main" id="{A162241E-1568-43EA-A650-3EDB0EC5CACF}"/>
              </a:ext>
            </a:extLst>
          </p:cNvPr>
          <p:cNvSpPr/>
          <p:nvPr/>
        </p:nvSpPr>
        <p:spPr>
          <a:xfrm>
            <a:off x="3868600" y="1559372"/>
            <a:ext cx="4900767" cy="1323439"/>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Depending on the ledger(s) where the costs of sender internal orders are posted, the settlement will be posted to the corresponding ledger(s).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Like Cost Center Allocations, IO settlement documents are also posted with Doc Type SZ.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At G/L line item level you can identify the movement of the costs (from/to) based on Text, Order, Account Assignment /Account Assignment Category fields.</a:t>
            </a:r>
          </a:p>
        </p:txBody>
      </p:sp>
      <p:pic>
        <p:nvPicPr>
          <p:cNvPr id="6" name="Picture 5">
            <a:extLst>
              <a:ext uri="{FF2B5EF4-FFF2-40B4-BE49-F238E27FC236}">
                <a16:creationId xmlns:a16="http://schemas.microsoft.com/office/drawing/2014/main" id="{DD25268A-67C5-4D2D-88C1-1C8C6823B83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68436" y="1367317"/>
            <a:ext cx="3600164" cy="2497614"/>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06C16D5-A4DA-4AFB-8367-1E234EB6B516}"/>
              </a:ext>
            </a:extLst>
          </p:cNvPr>
          <p:cNvPicPr>
            <a:picLocks noChangeAspect="1"/>
          </p:cNvPicPr>
          <p:nvPr/>
        </p:nvPicPr>
        <p:blipFill>
          <a:blip r:embed="rId5"/>
          <a:stretch>
            <a:fillRect/>
          </a:stretch>
        </p:blipFill>
        <p:spPr>
          <a:xfrm>
            <a:off x="2784892" y="2833379"/>
            <a:ext cx="7438884" cy="2868004"/>
          </a:xfrm>
          <a:prstGeom prst="rect">
            <a:avLst/>
          </a:prstGeom>
          <a:effectLst>
            <a:outerShdw blurRad="50800" dist="38100" dir="10800000" algn="r" rotWithShape="0">
              <a:prstClr val="black">
                <a:alpha val="40000"/>
              </a:prstClr>
            </a:outerShdw>
          </a:effectLst>
        </p:spPr>
      </p:pic>
      <p:pic>
        <p:nvPicPr>
          <p:cNvPr id="9" name="Picture 8">
            <a:extLst>
              <a:ext uri="{FF2B5EF4-FFF2-40B4-BE49-F238E27FC236}">
                <a16:creationId xmlns:a16="http://schemas.microsoft.com/office/drawing/2014/main" id="{148F6104-4C74-4417-94C4-80B893D2EA21}"/>
              </a:ext>
            </a:extLst>
          </p:cNvPr>
          <p:cNvPicPr>
            <a:picLocks noChangeAspect="1"/>
          </p:cNvPicPr>
          <p:nvPr/>
        </p:nvPicPr>
        <p:blipFill>
          <a:blip r:embed="rId6"/>
          <a:stretch>
            <a:fillRect/>
          </a:stretch>
        </p:blipFill>
        <p:spPr>
          <a:xfrm>
            <a:off x="8769367" y="1415360"/>
            <a:ext cx="3081081" cy="3000490"/>
          </a:xfrm>
          <a:prstGeom prst="rect">
            <a:avLst/>
          </a:prstGeom>
          <a:ln>
            <a:solidFill>
              <a:srgbClr val="FF0000"/>
            </a:solidFill>
          </a:ln>
          <a:effectLst>
            <a:outerShdw blurRad="50800" dist="38100" dir="10800000" algn="r" rotWithShape="0">
              <a:prstClr val="black">
                <a:alpha val="40000"/>
              </a:prstClr>
            </a:outerShdw>
          </a:effectLst>
        </p:spPr>
      </p:pic>
      <p:sp>
        <p:nvSpPr>
          <p:cNvPr id="14" name="Rectangle: Rounded Corners 13">
            <a:extLst>
              <a:ext uri="{FF2B5EF4-FFF2-40B4-BE49-F238E27FC236}">
                <a16:creationId xmlns:a16="http://schemas.microsoft.com/office/drawing/2014/main" id="{33044BA5-9871-45BC-A3CE-171919FDDDF2}"/>
              </a:ext>
            </a:extLst>
          </p:cNvPr>
          <p:cNvSpPr/>
          <p:nvPr/>
        </p:nvSpPr>
        <p:spPr>
          <a:xfrm>
            <a:off x="270457" y="1357080"/>
            <a:ext cx="2842658"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KO8G log – Detailed List</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6B7093B8-CD06-401F-BABF-200184011643}"/>
              </a:ext>
            </a:extLst>
          </p:cNvPr>
          <p:cNvSpPr/>
          <p:nvPr/>
        </p:nvSpPr>
        <p:spPr>
          <a:xfrm>
            <a:off x="771613" y="3330425"/>
            <a:ext cx="1196612" cy="9857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B8AC01D4-8CFE-4AED-A890-1F8B36C8B560}"/>
              </a:ext>
            </a:extLst>
          </p:cNvPr>
          <p:cNvSpPr/>
          <p:nvPr/>
        </p:nvSpPr>
        <p:spPr>
          <a:xfrm>
            <a:off x="2888984" y="3443866"/>
            <a:ext cx="1259015" cy="19715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2" name="Straight Arrow Connector 11">
            <a:extLst>
              <a:ext uri="{FF2B5EF4-FFF2-40B4-BE49-F238E27FC236}">
                <a16:creationId xmlns:a16="http://schemas.microsoft.com/office/drawing/2014/main" id="{AECF71B7-FC26-47A0-8BFA-0683961DC3A6}"/>
              </a:ext>
            </a:extLst>
          </p:cNvPr>
          <p:cNvCxnSpPr>
            <a:cxnSpLocks/>
            <a:stCxn id="15" idx="3"/>
            <a:endCxn id="16" idx="1"/>
          </p:cNvCxnSpPr>
          <p:nvPr/>
        </p:nvCxnSpPr>
        <p:spPr>
          <a:xfrm>
            <a:off x="1968225" y="3379713"/>
            <a:ext cx="920759" cy="162728"/>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CFECE686-A5AF-491D-847A-0B0B1A1894DF}"/>
              </a:ext>
            </a:extLst>
          </p:cNvPr>
          <p:cNvSpPr/>
          <p:nvPr/>
        </p:nvSpPr>
        <p:spPr>
          <a:xfrm>
            <a:off x="2784892" y="2828237"/>
            <a:ext cx="2842658"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 Display FI Documents</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A66025D6-2199-4177-A902-E095E97BA9D6}"/>
              </a:ext>
            </a:extLst>
          </p:cNvPr>
          <p:cNvSpPr/>
          <p:nvPr/>
        </p:nvSpPr>
        <p:spPr>
          <a:xfrm>
            <a:off x="4623542" y="3054312"/>
            <a:ext cx="890572" cy="19715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36" name="Straight Arrow Connector 35">
            <a:extLst>
              <a:ext uri="{FF2B5EF4-FFF2-40B4-BE49-F238E27FC236}">
                <a16:creationId xmlns:a16="http://schemas.microsoft.com/office/drawing/2014/main" id="{6C07AAFE-59F9-4401-9ECC-8EF073B92BE6}"/>
              </a:ext>
            </a:extLst>
          </p:cNvPr>
          <p:cNvCxnSpPr>
            <a:cxnSpLocks/>
            <a:stCxn id="32" idx="3"/>
            <a:endCxn id="9" idx="1"/>
          </p:cNvCxnSpPr>
          <p:nvPr/>
        </p:nvCxnSpPr>
        <p:spPr>
          <a:xfrm flipV="1">
            <a:off x="5514114" y="2915605"/>
            <a:ext cx="3255253" cy="23728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12A91176-01F3-405C-8EEE-DD6FC5C17E67}"/>
              </a:ext>
            </a:extLst>
          </p:cNvPr>
          <p:cNvSpPr/>
          <p:nvPr/>
        </p:nvSpPr>
        <p:spPr>
          <a:xfrm flipV="1">
            <a:off x="8043334" y="4866966"/>
            <a:ext cx="2180442" cy="82313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E4485A35-DD52-42CE-B74A-8572935BCDA9}"/>
              </a:ext>
            </a:extLst>
          </p:cNvPr>
          <p:cNvSpPr/>
          <p:nvPr/>
        </p:nvSpPr>
        <p:spPr>
          <a:xfrm>
            <a:off x="5409270" y="6180666"/>
            <a:ext cx="5958219" cy="246221"/>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The Controlling Document clearly shows the sender and receiver of the settlement.</a:t>
            </a:r>
          </a:p>
        </p:txBody>
      </p:sp>
      <p:sp>
        <p:nvSpPr>
          <p:cNvPr id="41" name="Rectangle: Rounded Corners 40">
            <a:extLst>
              <a:ext uri="{FF2B5EF4-FFF2-40B4-BE49-F238E27FC236}">
                <a16:creationId xmlns:a16="http://schemas.microsoft.com/office/drawing/2014/main" id="{1312AD81-297D-4AF2-944F-33127BA2F41A}"/>
              </a:ext>
            </a:extLst>
          </p:cNvPr>
          <p:cNvSpPr/>
          <p:nvPr/>
        </p:nvSpPr>
        <p:spPr>
          <a:xfrm>
            <a:off x="771612" y="3665879"/>
            <a:ext cx="1196612" cy="98575"/>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43" name="Straight Arrow Connector 42">
            <a:extLst>
              <a:ext uri="{FF2B5EF4-FFF2-40B4-BE49-F238E27FC236}">
                <a16:creationId xmlns:a16="http://schemas.microsoft.com/office/drawing/2014/main" id="{613270C9-348F-4BF8-AA05-A9282A882E51}"/>
              </a:ext>
            </a:extLst>
          </p:cNvPr>
          <p:cNvCxnSpPr/>
          <p:nvPr/>
        </p:nvCxnSpPr>
        <p:spPr>
          <a:xfrm>
            <a:off x="1369918" y="3780498"/>
            <a:ext cx="141359" cy="1326580"/>
          </a:xfrm>
          <a:prstGeom prst="straightConnector1">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1887FA43-3858-43B4-9486-3EDC215C60AF}"/>
              </a:ext>
            </a:extLst>
          </p:cNvPr>
          <p:cNvSpPr/>
          <p:nvPr/>
        </p:nvSpPr>
        <p:spPr>
          <a:xfrm flipV="1">
            <a:off x="604450" y="6180666"/>
            <a:ext cx="765468" cy="55033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12679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B4E21EA-DEF0-8207-E45E-8934F49776F8}"/>
              </a:ext>
            </a:extLst>
          </p:cNvPr>
          <p:cNvPicPr>
            <a:picLocks noChangeAspect="1"/>
          </p:cNvPicPr>
          <p:nvPr/>
        </p:nvPicPr>
        <p:blipFill>
          <a:blip r:embed="rId2"/>
          <a:stretch>
            <a:fillRect/>
          </a:stretch>
        </p:blipFill>
        <p:spPr>
          <a:xfrm>
            <a:off x="646784" y="1492476"/>
            <a:ext cx="4119180" cy="2843372"/>
          </a:xfrm>
          <a:prstGeom prst="rect">
            <a:avLst/>
          </a:prstGeom>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EA1995B1-3815-F3CB-4C76-38A1D7ADAA92}"/>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14" name="Title 13">
            <a:extLst>
              <a:ext uri="{FF2B5EF4-FFF2-40B4-BE49-F238E27FC236}">
                <a16:creationId xmlns:a16="http://schemas.microsoft.com/office/drawing/2014/main" id="{513E914F-78E3-032D-0F82-9F19A8B47465}"/>
              </a:ext>
            </a:extLst>
          </p:cNvPr>
          <p:cNvSpPr>
            <a:spLocks noGrp="1"/>
          </p:cNvSpPr>
          <p:nvPr>
            <p:ph type="title"/>
          </p:nvPr>
        </p:nvSpPr>
        <p:spPr/>
        <p:txBody>
          <a:bodyPr/>
          <a:lstStyle/>
          <a:p>
            <a:r>
              <a:rPr lang="en-US" dirty="0"/>
              <a:t>Internal Order Settlement Leaf </a:t>
            </a:r>
            <a:r>
              <a:rPr lang="en-GB" dirty="0"/>
              <a:t>– Common Errors</a:t>
            </a:r>
          </a:p>
        </p:txBody>
      </p:sp>
      <p:graphicFrame>
        <p:nvGraphicFramePr>
          <p:cNvPr id="6" name="Table 6">
            <a:extLst>
              <a:ext uri="{FF2B5EF4-FFF2-40B4-BE49-F238E27FC236}">
                <a16:creationId xmlns:a16="http://schemas.microsoft.com/office/drawing/2014/main" id="{2869A511-A20C-AE8F-97AC-0246A2B24682}"/>
              </a:ext>
            </a:extLst>
          </p:cNvPr>
          <p:cNvGraphicFramePr>
            <a:graphicFrameLocks noGrp="1"/>
          </p:cNvGraphicFramePr>
          <p:nvPr/>
        </p:nvGraphicFramePr>
        <p:xfrm>
          <a:off x="646784" y="4727925"/>
          <a:ext cx="11188908" cy="1335991"/>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636458">
                  <a:extLst>
                    <a:ext uri="{9D8B030D-6E8A-4147-A177-3AD203B41FA5}">
                      <a16:colId xmlns:a16="http://schemas.microsoft.com/office/drawing/2014/main" val="4175835808"/>
                    </a:ext>
                  </a:extLst>
                </a:gridCol>
                <a:gridCol w="3263915">
                  <a:extLst>
                    <a:ext uri="{9D8B030D-6E8A-4147-A177-3AD203B41FA5}">
                      <a16:colId xmlns:a16="http://schemas.microsoft.com/office/drawing/2014/main" val="3494736957"/>
                    </a:ext>
                  </a:extLst>
                </a:gridCol>
                <a:gridCol w="4288535">
                  <a:extLst>
                    <a:ext uri="{9D8B030D-6E8A-4147-A177-3AD203B41FA5}">
                      <a16:colId xmlns:a16="http://schemas.microsoft.com/office/drawing/2014/main" val="3274509539"/>
                    </a:ext>
                  </a:extLst>
                </a:gridCol>
              </a:tblGrid>
              <a:tr h="471431">
                <a:tc>
                  <a:txBody>
                    <a:bodyPr/>
                    <a:lstStyle/>
                    <a:p>
                      <a:r>
                        <a:rPr lang="en-GB" sz="1400" dirty="0">
                          <a:solidFill>
                            <a:schemeClr val="tx1"/>
                          </a:solidFill>
                        </a:rPr>
                        <a:t>KO8G Transaction Common Errors</a:t>
                      </a:r>
                    </a:p>
                  </a:txBody>
                  <a:tcPr marL="108000" marT="144000"/>
                </a:tc>
                <a:tc>
                  <a:txBody>
                    <a:bodyPr/>
                    <a:lstStyle/>
                    <a:p>
                      <a:r>
                        <a:rPr lang="en-GB" sz="1400" dirty="0">
                          <a:solidFill>
                            <a:schemeClr val="tx1"/>
                          </a:solidFill>
                        </a:rPr>
                        <a:t>Error Reason</a:t>
                      </a:r>
                    </a:p>
                  </a:txBody>
                  <a:tcPr marL="108000" marT="144000"/>
                </a:tc>
                <a:tc>
                  <a:txBody>
                    <a:bodyPr/>
                    <a:lstStyle/>
                    <a:p>
                      <a:r>
                        <a:rPr lang="en-GB" sz="1400">
                          <a:solidFill>
                            <a:schemeClr val="tx1"/>
                          </a:solidFill>
                        </a:rPr>
                        <a:t>Error Resolution</a:t>
                      </a:r>
                    </a:p>
                  </a:txBody>
                  <a:tcPr marL="108000" marT="144000"/>
                </a:tc>
                <a:extLst>
                  <a:ext uri="{0D108BD9-81ED-4DB2-BD59-A6C34878D82A}">
                    <a16:rowId xmlns:a16="http://schemas.microsoft.com/office/drawing/2014/main" val="4189051396"/>
                  </a:ext>
                </a:extLst>
              </a:tr>
              <a:tr h="864560">
                <a:tc>
                  <a:txBody>
                    <a:bodyPr/>
                    <a:lstStyle/>
                    <a:p>
                      <a:pPr algn="l" fontAlgn="ctr"/>
                      <a:r>
                        <a:rPr lang="en-US" sz="1100" b="0" i="0" u="none" strike="noStrike">
                          <a:solidFill>
                            <a:srgbClr val="000000"/>
                          </a:solidFill>
                          <a:effectLst/>
                          <a:latin typeface="+mj-lt"/>
                        </a:rPr>
                        <a:t>Maintain settlement rule of the sender</a:t>
                      </a:r>
                      <a:endParaRPr lang="en-GB" sz="1100" b="0" i="0" u="none" strike="noStrike">
                        <a:solidFill>
                          <a:srgbClr val="000000"/>
                        </a:solidFill>
                        <a:effectLst/>
                        <a:latin typeface="+mj-lt"/>
                      </a:endParaRPr>
                    </a:p>
                  </a:txBody>
                  <a:tcPr marL="108000" marR="9525" marT="144000" marB="0" anchor="ctr"/>
                </a:tc>
                <a:tc>
                  <a:txBody>
                    <a:bodyPr/>
                    <a:lstStyle/>
                    <a:p>
                      <a:pPr algn="l" fontAlgn="ctr"/>
                      <a:r>
                        <a:rPr lang="en-US" sz="1100" b="0" i="0" u="none" strike="noStrike" dirty="0">
                          <a:solidFill>
                            <a:srgbClr val="000000"/>
                          </a:solidFill>
                          <a:effectLst/>
                          <a:latin typeface="+mj-lt"/>
                        </a:rPr>
                        <a:t>Missing settlement rules</a:t>
                      </a:r>
                    </a:p>
                  </a:txBody>
                  <a:tcPr marL="108000" marR="9525" marT="144000" marB="0" anchor="ctr"/>
                </a:tc>
                <a:tc>
                  <a:txBody>
                    <a:bodyPr/>
                    <a:lstStyle/>
                    <a:p>
                      <a:pPr algn="l" fontAlgn="ctr"/>
                      <a:r>
                        <a:rPr lang="en-US" sz="1100" b="0" i="0" u="none" strike="noStrike" dirty="0">
                          <a:solidFill>
                            <a:srgbClr val="000000"/>
                          </a:solidFill>
                          <a:effectLst/>
                          <a:latin typeface="+mj-lt"/>
                        </a:rPr>
                        <a:t>Contact Market if this error occurs and confirm the status</a:t>
                      </a:r>
                      <a:endParaRPr lang="en-GB" sz="1100" b="0" i="0" u="none" strike="noStrike" dirty="0">
                        <a:solidFill>
                          <a:srgbClr val="000000"/>
                        </a:solidFill>
                        <a:effectLst/>
                        <a:latin typeface="+mj-lt"/>
                      </a:endParaRPr>
                    </a:p>
                  </a:txBody>
                  <a:tcPr marL="108000" marR="9525" marT="144000" marB="0" anchor="ctr"/>
                </a:tc>
                <a:extLst>
                  <a:ext uri="{0D108BD9-81ED-4DB2-BD59-A6C34878D82A}">
                    <a16:rowId xmlns:a16="http://schemas.microsoft.com/office/drawing/2014/main" val="4208081998"/>
                  </a:ext>
                </a:extLst>
              </a:tr>
            </a:tbl>
          </a:graphicData>
        </a:graphic>
      </p:graphicFrame>
      <p:sp>
        <p:nvSpPr>
          <p:cNvPr id="7" name="Rectangle 6">
            <a:extLst>
              <a:ext uri="{FF2B5EF4-FFF2-40B4-BE49-F238E27FC236}">
                <a16:creationId xmlns:a16="http://schemas.microsoft.com/office/drawing/2014/main" id="{9FF14D73-2EA0-203D-5030-BE274F78A7E2}"/>
              </a:ext>
            </a:extLst>
          </p:cNvPr>
          <p:cNvSpPr/>
          <p:nvPr/>
        </p:nvSpPr>
        <p:spPr>
          <a:xfrm>
            <a:off x="901666" y="2475138"/>
            <a:ext cx="256032" cy="1828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Speech Bubble: Rectangle 7">
            <a:extLst>
              <a:ext uri="{FF2B5EF4-FFF2-40B4-BE49-F238E27FC236}">
                <a16:creationId xmlns:a16="http://schemas.microsoft.com/office/drawing/2014/main" id="{40822693-7430-548E-3F18-A5A23509AEFC}"/>
              </a:ext>
            </a:extLst>
          </p:cNvPr>
          <p:cNvSpPr/>
          <p:nvPr/>
        </p:nvSpPr>
        <p:spPr>
          <a:xfrm>
            <a:off x="5738057" y="1492476"/>
            <a:ext cx="3081528" cy="982662"/>
          </a:xfrm>
          <a:prstGeom prst="wedgeRectCallout">
            <a:avLst>
              <a:gd name="adj1" fmla="val -111345"/>
              <a:gd name="adj2" fmla="val 107353"/>
            </a:avLst>
          </a:prstGeom>
          <a:solidFill>
            <a:schemeClr val="accent6">
              <a:lumMod val="40000"/>
              <a:lumOff val="6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a:solidFill>
                  <a:schemeClr val="tx1"/>
                </a:solidFill>
              </a:rPr>
              <a:t>If the FCC task returns with an error status, you may check the details of the errors also on the “Output Logs” tab, by displaying the Spool List and Job Log. Usually the Spool List will explain what the errors are.</a:t>
            </a:r>
          </a:p>
        </p:txBody>
      </p:sp>
      <p:sp>
        <p:nvSpPr>
          <p:cNvPr id="9" name="Speech Bubble: Rectangle 8">
            <a:extLst>
              <a:ext uri="{FF2B5EF4-FFF2-40B4-BE49-F238E27FC236}">
                <a16:creationId xmlns:a16="http://schemas.microsoft.com/office/drawing/2014/main" id="{7D49C72F-5A90-C6F0-9D87-330A2DC971E5}"/>
              </a:ext>
            </a:extLst>
          </p:cNvPr>
          <p:cNvSpPr/>
          <p:nvPr/>
        </p:nvSpPr>
        <p:spPr>
          <a:xfrm>
            <a:off x="6594628" y="3067143"/>
            <a:ext cx="3467822" cy="889226"/>
          </a:xfrm>
          <a:prstGeom prst="wedgeRectCallout">
            <a:avLst>
              <a:gd name="adj1" fmla="val -37219"/>
              <a:gd name="adj2" fmla="val 123801"/>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a:solidFill>
                  <a:schemeClr val="tx1"/>
                </a:solidFill>
              </a:rPr>
              <a:t>The below common errors and solutions are </a:t>
            </a:r>
            <a:r>
              <a:rPr lang="en-GB" sz="1050" b="1">
                <a:solidFill>
                  <a:schemeClr val="tx1"/>
                </a:solidFill>
              </a:rPr>
              <a:t>not specific for KO8G FCC execution, but also when you manually execute KO8G.</a:t>
            </a:r>
          </a:p>
        </p:txBody>
      </p:sp>
    </p:spTree>
    <p:extLst>
      <p:ext uri="{BB962C8B-B14F-4D97-AF65-F5344CB8AC3E}">
        <p14:creationId xmlns:p14="http://schemas.microsoft.com/office/powerpoint/2010/main" val="3786386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4AA366-7DF1-4CDA-8CAD-CB7F437F67EF}"/>
</file>

<file path=customXml/itemProps2.xml><?xml version="1.0" encoding="utf-8"?>
<ds:datastoreItem xmlns:ds="http://schemas.openxmlformats.org/officeDocument/2006/customXml" ds:itemID="{E3BC77B7-89BE-45D2-B43A-94AB4C5F40F4}">
  <ds:schemaRefs>
    <ds:schemaRef ds:uri="http://purl.org/dc/terms/"/>
    <ds:schemaRef ds:uri="http://schemas.microsoft.com/office/2006/documentManagement/types"/>
    <ds:schemaRef ds:uri="cb52ee0d-5346-4ae8-a9f9-d746adffeb6b"/>
    <ds:schemaRef ds:uri="http://purl.org/dc/elements/1.1/"/>
    <ds:schemaRef ds:uri="91871c47-af2e-43ea-ad3f-7bb4c536bc45"/>
    <ds:schemaRef ds:uri="http://schemas.microsoft.com/office/infopath/2007/PartnerControls"/>
    <ds:schemaRef ds:uri="http://schemas.microsoft.com/office/2006/metadata/properties"/>
    <ds:schemaRef ds:uri="http://purl.org/dc/dcmitype/"/>
    <ds:schemaRef ds:uri="http://schemas.openxmlformats.org/package/2006/metadata/core-properties"/>
    <ds:schemaRef ds:uri="ba249638-b5c4-4b59-8094-70d8491c2e9c"/>
    <ds:schemaRef ds:uri="http://www.w3.org/XML/1998/namespace"/>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60</TotalTime>
  <Words>1316</Words>
  <Application>Microsoft Office PowerPoint</Application>
  <PresentationFormat>Widescreen</PresentationFormat>
  <Paragraphs>119</Paragraphs>
  <Slides>7</Slides>
  <Notes>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7</vt:i4>
      </vt:variant>
    </vt:vector>
  </HeadingPairs>
  <TitlesOfParts>
    <vt:vector size="15" baseType="lpstr">
      <vt:lpstr>Aharoni</vt:lpstr>
      <vt:lpstr>Arial</vt:lpstr>
      <vt:lpstr>Calibri</vt:lpstr>
      <vt:lpstr>Georgia</vt:lpstr>
      <vt:lpstr>1_S4F-ERP Clean IFRS Stat &amp; Tax Rep</vt:lpstr>
      <vt:lpstr>S4F-ERP Period End Closing</vt:lpstr>
      <vt:lpstr>1_S4F-ERP Period End Closing</vt:lpstr>
      <vt:lpstr>think-cell Slide</vt:lpstr>
      <vt:lpstr>Period End Closing Key Process Areas and New Period End Checks</vt:lpstr>
      <vt:lpstr>Internal Order Settlement</vt:lpstr>
      <vt:lpstr>IO Settlement Rules</vt:lpstr>
      <vt:lpstr>Crop Year Internal Order Settlement Rules</vt:lpstr>
      <vt:lpstr>Internal Order Settlement: Execution</vt:lpstr>
      <vt:lpstr>Internal Order Settlement: Postings</vt:lpstr>
      <vt:lpstr>Internal Order Settlement Leaf – Common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2024-04-25T17:40:57Z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1338200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