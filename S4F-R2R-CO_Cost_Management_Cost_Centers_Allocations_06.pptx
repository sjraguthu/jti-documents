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comments/comment1.xml" ContentType="application/vnd.openxmlformats-officedocument.presentationml.comment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324" r:id="rId5"/>
    <p:sldId id="3012" r:id="rId6"/>
    <p:sldId id="2315" r:id="rId7"/>
    <p:sldId id="2406" r:id="rId8"/>
    <p:sldId id="2407" r:id="rId9"/>
    <p:sldId id="2408" r:id="rId10"/>
    <p:sldId id="2411" r:id="rId11"/>
    <p:sldId id="2412" r:id="rId12"/>
    <p:sldId id="3013" r:id="rId13"/>
    <p:sldId id="3014" r:id="rId14"/>
    <p:sldId id="3015" r:id="rId15"/>
    <p:sldId id="2500" r:id="rId16"/>
    <p:sldId id="250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ardse, Leone" initials="AL" lastIdx="67" clrIdx="0">
    <p:extLst>
      <p:ext uri="{19B8F6BF-5375-455C-9EA6-DF929625EA0E}">
        <p15:presenceInfo xmlns:p15="http://schemas.microsoft.com/office/powerpoint/2012/main" userId="S-1-5-21-1645522239-1214440339-682003330-25083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8B64F5-F15B-5403-32B5-302AE0403F15}" v="1" dt="2021-06-03T13:52:17.903"/>
    <p1510:client id="{4A09EA7B-6382-EAC7-B830-E6F87403B8F0}" v="64" dt="2021-06-07T11:47:25.0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krevskaya, Julia" userId="S::cstzakrej@corp.jti.com::79016554-fc06-4349-8d4d-7fef3d29d8b9" providerId="AD" clId="Web-{8E67270D-B1A3-C1ED-32AF-2620E5DD0363}"/>
    <pc:docChg chg="mod">
      <pc:chgData name="Zakrevskaya, Julia" userId="S::cstzakrej@corp.jti.com::79016554-fc06-4349-8d4d-7fef3d29d8b9" providerId="AD" clId="Web-{8E67270D-B1A3-C1ED-32AF-2620E5DD0363}" dt="2022-04-29T07:07:48.361" v="0" actId="33475"/>
      <pc:docMkLst>
        <pc:docMk/>
      </pc:docMkLst>
    </pc:docChg>
  </pc:docChgLst>
  <pc:docChgLst>
    <pc:chgData name="O'Neill, Shauna" userId="S::cstoneils2@corp.jti.com::1d0a8ccc-c260-429c-86e4-d406a5ac1d3d" providerId="AD" clId="Web-{088B64F5-F15B-5403-32B5-302AE0403F15}"/>
    <pc:docChg chg="modSld">
      <pc:chgData name="O'Neill, Shauna" userId="S::cstoneils2@corp.jti.com::1d0a8ccc-c260-429c-86e4-d406a5ac1d3d" providerId="AD" clId="Web-{088B64F5-F15B-5403-32B5-302AE0403F15}" dt="2021-06-03T13:52:17.903" v="0" actId="20577"/>
      <pc:docMkLst>
        <pc:docMk/>
      </pc:docMkLst>
      <pc:sldChg chg="modSp">
        <pc:chgData name="O'Neill, Shauna" userId="S::cstoneils2@corp.jti.com::1d0a8ccc-c260-429c-86e4-d406a5ac1d3d" providerId="AD" clId="Web-{088B64F5-F15B-5403-32B5-302AE0403F15}" dt="2021-06-03T13:52:17.903" v="0" actId="20577"/>
        <pc:sldMkLst>
          <pc:docMk/>
          <pc:sldMk cId="3591797585" sldId="2406"/>
        </pc:sldMkLst>
        <pc:spChg chg="mod">
          <ac:chgData name="O'Neill, Shauna" userId="S::cstoneils2@corp.jti.com::1d0a8ccc-c260-429c-86e4-d406a5ac1d3d" providerId="AD" clId="Web-{088B64F5-F15B-5403-32B5-302AE0403F15}" dt="2021-06-03T13:52:17.903" v="0" actId="20577"/>
          <ac:spMkLst>
            <pc:docMk/>
            <pc:sldMk cId="3591797585" sldId="2406"/>
            <ac:spMk id="19" creationId="{C7ECDD7D-9158-473B-B1ED-A3348BDB3899}"/>
          </ac:spMkLst>
        </pc:spChg>
      </pc:sldChg>
    </pc:docChg>
  </pc:docChgLst>
  <pc:docChgLst>
    <pc:chgData name="O'Neill, Shauna" userId="S::cstoneils2@corp.jti.com::1d0a8ccc-c260-429c-86e4-d406a5ac1d3d" providerId="AD" clId="Web-{4A09EA7B-6382-EAC7-B830-E6F87403B8F0}"/>
    <pc:docChg chg="addSld delSld modSld">
      <pc:chgData name="O'Neill, Shauna" userId="S::cstoneils2@corp.jti.com::1d0a8ccc-c260-429c-86e4-d406a5ac1d3d" providerId="AD" clId="Web-{4A09EA7B-6382-EAC7-B830-E6F87403B8F0}" dt="2021-06-07T11:47:25.096" v="54" actId="14100"/>
      <pc:docMkLst>
        <pc:docMk/>
      </pc:docMkLst>
      <pc:sldChg chg="addSp delSp modSp">
        <pc:chgData name="O'Neill, Shauna" userId="S::cstoneils2@corp.jti.com::1d0a8ccc-c260-429c-86e4-d406a5ac1d3d" providerId="AD" clId="Web-{4A09EA7B-6382-EAC7-B830-E6F87403B8F0}" dt="2021-06-07T11:28:21.365" v="2"/>
        <pc:sldMkLst>
          <pc:docMk/>
          <pc:sldMk cId="3027499687" sldId="2412"/>
        </pc:sldMkLst>
        <pc:picChg chg="add del mod">
          <ac:chgData name="O'Neill, Shauna" userId="S::cstoneils2@corp.jti.com::1d0a8ccc-c260-429c-86e4-d406a5ac1d3d" providerId="AD" clId="Web-{4A09EA7B-6382-EAC7-B830-E6F87403B8F0}" dt="2021-06-07T11:28:21.365" v="2"/>
          <ac:picMkLst>
            <pc:docMk/>
            <pc:sldMk cId="3027499687" sldId="2412"/>
            <ac:picMk id="3" creationId="{66128529-FA7C-4242-867B-B67AEA8EAE01}"/>
          </ac:picMkLst>
        </pc:picChg>
      </pc:sldChg>
      <pc:sldChg chg="addSp delSp modSp new">
        <pc:chgData name="O'Neill, Shauna" userId="S::cstoneils2@corp.jti.com::1d0a8ccc-c260-429c-86e4-d406a5ac1d3d" providerId="AD" clId="Web-{4A09EA7B-6382-EAC7-B830-E6F87403B8F0}" dt="2021-06-07T11:29:10.740" v="21" actId="20577"/>
        <pc:sldMkLst>
          <pc:docMk/>
          <pc:sldMk cId="3018066723" sldId="3013"/>
        </pc:sldMkLst>
        <pc:spChg chg="mod">
          <ac:chgData name="O'Neill, Shauna" userId="S::cstoneils2@corp.jti.com::1d0a8ccc-c260-429c-86e4-d406a5ac1d3d" providerId="AD" clId="Web-{4A09EA7B-6382-EAC7-B830-E6F87403B8F0}" dt="2021-06-07T11:29:10.740" v="21" actId="20577"/>
          <ac:spMkLst>
            <pc:docMk/>
            <pc:sldMk cId="3018066723" sldId="3013"/>
            <ac:spMk id="2" creationId="{D8A1EF92-6D8C-4B07-B15D-8E2FC5CC7062}"/>
          </ac:spMkLst>
        </pc:spChg>
        <pc:spChg chg="del">
          <ac:chgData name="O'Neill, Shauna" userId="S::cstoneils2@corp.jti.com::1d0a8ccc-c260-429c-86e4-d406a5ac1d3d" providerId="AD" clId="Web-{4A09EA7B-6382-EAC7-B830-E6F87403B8F0}" dt="2021-06-07T11:28:43.646" v="3"/>
          <ac:spMkLst>
            <pc:docMk/>
            <pc:sldMk cId="3018066723" sldId="3013"/>
            <ac:spMk id="3" creationId="{6FCEDC16-1FF3-456E-AC06-59A7620CA9A3}"/>
          </ac:spMkLst>
        </pc:spChg>
        <pc:picChg chg="add mod ord">
          <ac:chgData name="O'Neill, Shauna" userId="S::cstoneils2@corp.jti.com::1d0a8ccc-c260-429c-86e4-d406a5ac1d3d" providerId="AD" clId="Web-{4A09EA7B-6382-EAC7-B830-E6F87403B8F0}" dt="2021-06-07T11:28:48.630" v="4" actId="14100"/>
          <ac:picMkLst>
            <pc:docMk/>
            <pc:sldMk cId="3018066723" sldId="3013"/>
            <ac:picMk id="6" creationId="{4B263232-B7CA-44AA-9D8B-B2EAD32A7A13}"/>
          </ac:picMkLst>
        </pc:picChg>
      </pc:sldChg>
      <pc:sldChg chg="addSp delSp modSp new">
        <pc:chgData name="O'Neill, Shauna" userId="S::cstoneils2@corp.jti.com::1d0a8ccc-c260-429c-86e4-d406a5ac1d3d" providerId="AD" clId="Web-{4A09EA7B-6382-EAC7-B830-E6F87403B8F0}" dt="2021-06-07T11:44:51.220" v="35" actId="20577"/>
        <pc:sldMkLst>
          <pc:docMk/>
          <pc:sldMk cId="1465844862" sldId="3014"/>
        </pc:sldMkLst>
        <pc:spChg chg="mod">
          <ac:chgData name="O'Neill, Shauna" userId="S::cstoneils2@corp.jti.com::1d0a8ccc-c260-429c-86e4-d406a5ac1d3d" providerId="AD" clId="Web-{4A09EA7B-6382-EAC7-B830-E6F87403B8F0}" dt="2021-06-07T11:44:51.220" v="35" actId="20577"/>
          <ac:spMkLst>
            <pc:docMk/>
            <pc:sldMk cId="1465844862" sldId="3014"/>
            <ac:spMk id="2" creationId="{B6780447-82B6-4956-A8DB-10805738C994}"/>
          </ac:spMkLst>
        </pc:spChg>
        <pc:spChg chg="del">
          <ac:chgData name="O'Neill, Shauna" userId="S::cstoneils2@corp.jti.com::1d0a8ccc-c260-429c-86e4-d406a5ac1d3d" providerId="AD" clId="Web-{4A09EA7B-6382-EAC7-B830-E6F87403B8F0}" dt="2021-06-07T11:29:51.241" v="25"/>
          <ac:spMkLst>
            <pc:docMk/>
            <pc:sldMk cId="1465844862" sldId="3014"/>
            <ac:spMk id="3" creationId="{17596354-45CE-4D8B-8C9A-AE17E69EAC1A}"/>
          </ac:spMkLst>
        </pc:spChg>
        <pc:spChg chg="add del mod">
          <ac:chgData name="O'Neill, Shauna" userId="S::cstoneils2@corp.jti.com::1d0a8ccc-c260-429c-86e4-d406a5ac1d3d" providerId="AD" clId="Web-{4A09EA7B-6382-EAC7-B830-E6F87403B8F0}" dt="2021-06-07T11:32:22.431" v="27"/>
          <ac:spMkLst>
            <pc:docMk/>
            <pc:sldMk cId="1465844862" sldId="3014"/>
            <ac:spMk id="8" creationId="{ACDAD2F2-1926-4BB5-8D19-47504CBE6E7A}"/>
          </ac:spMkLst>
        </pc:spChg>
        <pc:picChg chg="add del mod ord">
          <ac:chgData name="O'Neill, Shauna" userId="S::cstoneils2@corp.jti.com::1d0a8ccc-c260-429c-86e4-d406a5ac1d3d" providerId="AD" clId="Web-{4A09EA7B-6382-EAC7-B830-E6F87403B8F0}" dt="2021-06-07T11:29:56.959" v="26"/>
          <ac:picMkLst>
            <pc:docMk/>
            <pc:sldMk cId="1465844862" sldId="3014"/>
            <ac:picMk id="6" creationId="{8A19C473-B212-40C5-9DC4-AB832C0F8D71}"/>
          </ac:picMkLst>
        </pc:picChg>
        <pc:picChg chg="add mod ord">
          <ac:chgData name="O'Neill, Shauna" userId="S::cstoneils2@corp.jti.com::1d0a8ccc-c260-429c-86e4-d406a5ac1d3d" providerId="AD" clId="Web-{4A09EA7B-6382-EAC7-B830-E6F87403B8F0}" dt="2021-06-07T11:32:23.102" v="30" actId="1076"/>
          <ac:picMkLst>
            <pc:docMk/>
            <pc:sldMk cId="1465844862" sldId="3014"/>
            <ac:picMk id="9" creationId="{02D6BEA9-19D8-46D6-950A-6C3ED7844E9E}"/>
          </ac:picMkLst>
        </pc:picChg>
      </pc:sldChg>
      <pc:sldChg chg="new del">
        <pc:chgData name="O'Neill, Shauna" userId="S::cstoneils2@corp.jti.com::1d0a8ccc-c260-429c-86e4-d406a5ac1d3d" providerId="AD" clId="Web-{4A09EA7B-6382-EAC7-B830-E6F87403B8F0}" dt="2021-06-07T11:29:21.865" v="23"/>
        <pc:sldMkLst>
          <pc:docMk/>
          <pc:sldMk cId="1634036210" sldId="3014"/>
        </pc:sldMkLst>
      </pc:sldChg>
      <pc:sldChg chg="addSp delSp modSp new">
        <pc:chgData name="O'Neill, Shauna" userId="S::cstoneils2@corp.jti.com::1d0a8ccc-c260-429c-86e4-d406a5ac1d3d" providerId="AD" clId="Web-{4A09EA7B-6382-EAC7-B830-E6F87403B8F0}" dt="2021-06-07T11:47:25.096" v="54" actId="14100"/>
        <pc:sldMkLst>
          <pc:docMk/>
          <pc:sldMk cId="2150619054" sldId="3015"/>
        </pc:sldMkLst>
        <pc:spChg chg="mod">
          <ac:chgData name="O'Neill, Shauna" userId="S::cstoneils2@corp.jti.com::1d0a8ccc-c260-429c-86e4-d406a5ac1d3d" providerId="AD" clId="Web-{4A09EA7B-6382-EAC7-B830-E6F87403B8F0}" dt="2021-06-07T11:47:12.174" v="53" actId="20577"/>
          <ac:spMkLst>
            <pc:docMk/>
            <pc:sldMk cId="2150619054" sldId="3015"/>
            <ac:spMk id="2" creationId="{B1BC8F17-A48C-4EDD-B4D7-81E30261D968}"/>
          </ac:spMkLst>
        </pc:spChg>
        <pc:spChg chg="del">
          <ac:chgData name="O'Neill, Shauna" userId="S::cstoneils2@corp.jti.com::1d0a8ccc-c260-429c-86e4-d406a5ac1d3d" providerId="AD" clId="Web-{4A09EA7B-6382-EAC7-B830-E6F87403B8F0}" dt="2021-06-07T11:45:41.376" v="37"/>
          <ac:spMkLst>
            <pc:docMk/>
            <pc:sldMk cId="2150619054" sldId="3015"/>
            <ac:spMk id="3" creationId="{38E73C74-48E2-432A-BC7D-B5685DA68F1E}"/>
          </ac:spMkLst>
        </pc:spChg>
        <pc:spChg chg="del">
          <ac:chgData name="O'Neill, Shauna" userId="S::cstoneils2@corp.jti.com::1d0a8ccc-c260-429c-86e4-d406a5ac1d3d" providerId="AD" clId="Web-{4A09EA7B-6382-EAC7-B830-E6F87403B8F0}" dt="2021-06-07T11:45:48.142" v="40"/>
          <ac:spMkLst>
            <pc:docMk/>
            <pc:sldMk cId="2150619054" sldId="3015"/>
            <ac:spMk id="4" creationId="{5CE589C1-D02A-4BE8-932B-20D6D5D13A9A}"/>
          </ac:spMkLst>
        </pc:spChg>
        <pc:spChg chg="add del mod">
          <ac:chgData name="O'Neill, Shauna" userId="S::cstoneils2@corp.jti.com::1d0a8ccc-c260-429c-86e4-d406a5ac1d3d" providerId="AD" clId="Web-{4A09EA7B-6382-EAC7-B830-E6F87403B8F0}" dt="2021-06-07T11:46:38.846" v="42"/>
          <ac:spMkLst>
            <pc:docMk/>
            <pc:sldMk cId="2150619054" sldId="3015"/>
            <ac:spMk id="8" creationId="{9E66CAF0-B740-470F-B912-ECD5546CBC5D}"/>
          </ac:spMkLst>
        </pc:spChg>
        <pc:picChg chg="add del mod ord">
          <ac:chgData name="O'Neill, Shauna" userId="S::cstoneils2@corp.jti.com::1d0a8ccc-c260-429c-86e4-d406a5ac1d3d" providerId="AD" clId="Web-{4A09EA7B-6382-EAC7-B830-E6F87403B8F0}" dt="2021-06-07T11:46:37.564" v="41"/>
          <ac:picMkLst>
            <pc:docMk/>
            <pc:sldMk cId="2150619054" sldId="3015"/>
            <ac:picMk id="6" creationId="{EABA5501-1FD5-4F9B-82A2-E474F754214E}"/>
          </ac:picMkLst>
        </pc:picChg>
        <pc:picChg chg="add mod ord">
          <ac:chgData name="O'Neill, Shauna" userId="S::cstoneils2@corp.jti.com::1d0a8ccc-c260-429c-86e4-d406a5ac1d3d" providerId="AD" clId="Web-{4A09EA7B-6382-EAC7-B830-E6F87403B8F0}" dt="2021-06-07T11:47:25.096" v="54" actId="14100"/>
          <ac:picMkLst>
            <pc:docMk/>
            <pc:sldMk cId="2150619054" sldId="3015"/>
            <ac:picMk id="9" creationId="{A5FFD255-24DF-4BE1-9A80-C4ADC9D6B521}"/>
          </ac:picMkLst>
        </pc:pic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9-10-03T18:42:42.332" idx="67">
    <p:pos x="7387" y="1051"/>
    <p:text>Shauna add title and review the box</p:text>
    <p:extLst>
      <p:ext uri="{C676402C-5697-4E1C-873F-D02D1690AC5C}">
        <p15:threadingInfo xmlns:p15="http://schemas.microsoft.com/office/powerpoint/2012/main" timeZoneBias="-12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46816"/>
            <a:ext cx="12193200" cy="499062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0" y="4199439"/>
            <a:ext cx="12192000" cy="1440000"/>
          </a:xfrm>
          <a:prstGeom prst="rect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480B215-A81F-481D-8C0E-6BF46A6156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999" y="5879560"/>
            <a:ext cx="829976" cy="6212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6C11B0-82D2-4B1D-A080-5DEC7B98E4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4199439"/>
            <a:ext cx="8472253" cy="1440000"/>
          </a:xfrm>
        </p:spPr>
        <p:txBody>
          <a:bodyPr anchor="ctr" anchorCtr="0"/>
          <a:lstStyle>
            <a:lvl1pPr algn="l">
              <a:defRPr sz="44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5975" y="4347939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031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2BE79-9CF6-49D0-828F-83304EE10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276" y="210344"/>
            <a:ext cx="8902723" cy="9842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31794-EBBB-48C2-B2AE-5771C52F0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3pPr marL="400050" indent="-195263"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396C8-82EE-4828-BB90-F70077CC6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CAEA2-92AB-4512-A9D7-FD0A72486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‹#›</a:t>
            </a:fld>
            <a:endParaRPr lang="en-GB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10086109" y="417870"/>
            <a:ext cx="2105891" cy="569193"/>
            <a:chOff x="10086109" y="5763491"/>
            <a:chExt cx="2105891" cy="569193"/>
          </a:xfrm>
        </p:grpSpPr>
        <p:sp>
          <p:nvSpPr>
            <p:cNvPr id="8" name="Rectangle 7"/>
            <p:cNvSpPr/>
            <p:nvPr/>
          </p:nvSpPr>
          <p:spPr>
            <a:xfrm>
              <a:off x="10086109" y="5763491"/>
              <a:ext cx="2105891" cy="51904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10538695" y="5812704"/>
              <a:ext cx="1343888" cy="519980"/>
              <a:chOff x="515938" y="466803"/>
              <a:chExt cx="2499478" cy="967103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515938" y="466803"/>
                <a:ext cx="281354" cy="780960"/>
                <a:chOff x="4342156" y="2541184"/>
                <a:chExt cx="219003" cy="683186"/>
              </a:xfrm>
            </p:grpSpPr>
            <p:sp>
              <p:nvSpPr>
                <p:cNvPr id="12" name="Rectangle 11"/>
                <p:cNvSpPr/>
                <p:nvPr/>
              </p:nvSpPr>
              <p:spPr>
                <a:xfrm>
                  <a:off x="4342156" y="2541184"/>
                  <a:ext cx="92606" cy="544709"/>
                </a:xfrm>
                <a:prstGeom prst="rect">
                  <a:avLst/>
                </a:prstGeom>
                <a:solidFill>
                  <a:schemeClr val="tx2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Rounded Rectangle 12"/>
                <p:cNvSpPr/>
                <p:nvPr/>
              </p:nvSpPr>
              <p:spPr bwMode="auto">
                <a:xfrm>
                  <a:off x="4475003" y="2541184"/>
                  <a:ext cx="86156" cy="683186"/>
                </a:xfrm>
                <a:prstGeom prst="roundRect">
                  <a:avLst>
                    <a:gd name="adj" fmla="val 6597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vert="horz" wrap="square" lIns="0" tIns="0" rIns="0" bIns="0" numCol="1" rtlCol="0" anchor="ctr" anchorCtr="1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122632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sp>
            <p:nvSpPr>
              <p:cNvPr id="11" name="TextBox 10"/>
              <p:cNvSpPr txBox="1"/>
              <p:nvPr/>
            </p:nvSpPr>
            <p:spPr>
              <a:xfrm>
                <a:off x="891194" y="589844"/>
                <a:ext cx="2124222" cy="8440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/>
                <a:r>
                  <a:rPr lang="en-US" sz="2000" b="1">
                    <a:solidFill>
                      <a:schemeClr val="bg1"/>
                    </a:solidFill>
                  </a:rPr>
                  <a:t>S4F-ERP</a:t>
                </a:r>
              </a:p>
            </p:txBody>
          </p:sp>
        </p:grpSp>
      </p:grpSp>
      <p:sp>
        <p:nvSpPr>
          <p:cNvPr id="14" name="Rectangle 13"/>
          <p:cNvSpPr/>
          <p:nvPr userDrawn="1"/>
        </p:nvSpPr>
        <p:spPr>
          <a:xfrm>
            <a:off x="0" y="678873"/>
            <a:ext cx="207818" cy="59687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515937" y="326276"/>
            <a:ext cx="902611" cy="902611"/>
            <a:chOff x="515937" y="326276"/>
            <a:chExt cx="902611" cy="902611"/>
          </a:xfrm>
        </p:grpSpPr>
        <p:grpSp>
          <p:nvGrpSpPr>
            <p:cNvPr id="17" name="Group 16"/>
            <p:cNvGrpSpPr/>
            <p:nvPr/>
          </p:nvGrpSpPr>
          <p:grpSpPr>
            <a:xfrm>
              <a:off x="515937" y="326276"/>
              <a:ext cx="902611" cy="902611"/>
              <a:chOff x="4492144" y="190843"/>
              <a:chExt cx="855656" cy="855656"/>
            </a:xfrm>
          </p:grpSpPr>
          <p:sp>
            <p:nvSpPr>
              <p:cNvPr id="18" name="Oval 17"/>
              <p:cNvSpPr/>
              <p:nvPr/>
            </p:nvSpPr>
            <p:spPr>
              <a:xfrm>
                <a:off x="4492144" y="190843"/>
                <a:ext cx="855656" cy="855656"/>
              </a:xfrm>
              <a:prstGeom prst="ellipse">
                <a:avLst/>
              </a:prstGeom>
              <a:solidFill>
                <a:schemeClr val="bg1"/>
              </a:solidFill>
              <a:ln w="76200"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Oval 18"/>
              <p:cNvSpPr/>
              <p:nvPr/>
            </p:nvSpPr>
            <p:spPr>
              <a:xfrm>
                <a:off x="4551137" y="249836"/>
                <a:ext cx="737671" cy="737671"/>
              </a:xfrm>
              <a:prstGeom prst="ellipse">
                <a:avLst/>
              </a:prstGeom>
              <a:solidFill>
                <a:schemeClr val="accent1"/>
              </a:solidFill>
              <a:ln w="76200"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pic>
          <p:nvPicPr>
            <p:cNvPr id="20" name="Picture 19"/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95901" y="533238"/>
              <a:ext cx="505958" cy="5059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45353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2BE79-9CF6-49D0-828F-83304EE10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277" y="210344"/>
            <a:ext cx="8902723" cy="9842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31794-EBBB-48C2-B2AE-5771C52F0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695450"/>
            <a:ext cx="4824413" cy="4587081"/>
          </a:xfrm>
        </p:spPr>
        <p:txBody>
          <a:bodyPr/>
          <a:lstStyle>
            <a:lvl1pPr>
              <a:defRPr sz="1400"/>
            </a:lvl1pPr>
            <a:lvl2pPr marL="165100" indent="-165100">
              <a:defRPr sz="1400"/>
            </a:lvl2pPr>
            <a:lvl3pPr marL="344488" indent="-160338">
              <a:defRPr sz="1200"/>
            </a:lvl3pPr>
            <a:lvl4pPr marL="544513" indent="-184150">
              <a:defRPr sz="1100"/>
            </a:lvl4pPr>
            <a:lvl5pPr marL="746125" indent="-176213"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396C8-82EE-4828-BB90-F70077CC6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CAEA2-92AB-4512-A9D7-FD0A72486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0463241-5450-4976-8525-5C06611D08B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591175" y="1695450"/>
            <a:ext cx="6084886" cy="4587081"/>
          </a:xfrm>
        </p:spPr>
        <p:txBody>
          <a:bodyPr/>
          <a:lstStyle>
            <a:lvl1pPr>
              <a:defRPr sz="1400"/>
            </a:lvl1pPr>
            <a:lvl2pPr marL="165100" indent="-165100">
              <a:defRPr sz="1400"/>
            </a:lvl2pPr>
            <a:lvl3pPr marL="344488" indent="-160338">
              <a:defRPr sz="1200"/>
            </a:lvl3pPr>
            <a:lvl4pPr marL="544513" indent="-184150">
              <a:defRPr sz="1100"/>
            </a:lvl4pPr>
            <a:lvl5pPr marL="746125" indent="-176213"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515938" y="1344706"/>
            <a:ext cx="11160123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 userDrawn="1"/>
        </p:nvGrpSpPr>
        <p:grpSpPr>
          <a:xfrm>
            <a:off x="10086109" y="417870"/>
            <a:ext cx="2105891" cy="569193"/>
            <a:chOff x="10086109" y="5763491"/>
            <a:chExt cx="2105891" cy="569193"/>
          </a:xfrm>
        </p:grpSpPr>
        <p:sp>
          <p:nvSpPr>
            <p:cNvPr id="11" name="Rectangle 10"/>
            <p:cNvSpPr/>
            <p:nvPr/>
          </p:nvSpPr>
          <p:spPr>
            <a:xfrm>
              <a:off x="10086109" y="5763491"/>
              <a:ext cx="2105891" cy="51904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10538695" y="5812704"/>
              <a:ext cx="1343888" cy="519980"/>
              <a:chOff x="515938" y="466803"/>
              <a:chExt cx="2499478" cy="967103"/>
            </a:xfrm>
          </p:grpSpPr>
          <p:grpSp>
            <p:nvGrpSpPr>
              <p:cNvPr id="13" name="Group 12"/>
              <p:cNvGrpSpPr/>
              <p:nvPr/>
            </p:nvGrpSpPr>
            <p:grpSpPr>
              <a:xfrm>
                <a:off x="515938" y="466803"/>
                <a:ext cx="281354" cy="780960"/>
                <a:chOff x="4342156" y="2541184"/>
                <a:chExt cx="219003" cy="683186"/>
              </a:xfrm>
            </p:grpSpPr>
            <p:sp>
              <p:nvSpPr>
                <p:cNvPr id="15" name="Rectangle 14"/>
                <p:cNvSpPr/>
                <p:nvPr/>
              </p:nvSpPr>
              <p:spPr>
                <a:xfrm>
                  <a:off x="4342156" y="2541184"/>
                  <a:ext cx="92606" cy="544709"/>
                </a:xfrm>
                <a:prstGeom prst="rect">
                  <a:avLst/>
                </a:prstGeom>
                <a:solidFill>
                  <a:schemeClr val="tx2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6" name="Rounded Rectangle 15"/>
                <p:cNvSpPr/>
                <p:nvPr/>
              </p:nvSpPr>
              <p:spPr bwMode="auto">
                <a:xfrm>
                  <a:off x="4475003" y="2541184"/>
                  <a:ext cx="86156" cy="683186"/>
                </a:xfrm>
                <a:prstGeom prst="roundRect">
                  <a:avLst>
                    <a:gd name="adj" fmla="val 6597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vert="horz" wrap="square" lIns="0" tIns="0" rIns="0" bIns="0" numCol="1" rtlCol="0" anchor="ctr" anchorCtr="1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122632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sp>
            <p:nvSpPr>
              <p:cNvPr id="14" name="TextBox 13"/>
              <p:cNvSpPr txBox="1"/>
              <p:nvPr/>
            </p:nvSpPr>
            <p:spPr>
              <a:xfrm>
                <a:off x="891194" y="589844"/>
                <a:ext cx="2124222" cy="8440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/>
                <a:r>
                  <a:rPr lang="en-US" sz="2000" b="1">
                    <a:solidFill>
                      <a:schemeClr val="bg1"/>
                    </a:solidFill>
                  </a:rPr>
                  <a:t>S4F-ERP</a:t>
                </a:r>
              </a:p>
            </p:txBody>
          </p:sp>
        </p:grpSp>
      </p:grpSp>
      <p:sp>
        <p:nvSpPr>
          <p:cNvPr id="17" name="Rectangle 16"/>
          <p:cNvSpPr/>
          <p:nvPr userDrawn="1"/>
        </p:nvSpPr>
        <p:spPr>
          <a:xfrm>
            <a:off x="0" y="678873"/>
            <a:ext cx="207818" cy="59687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3" name="Group 22"/>
          <p:cNvGrpSpPr/>
          <p:nvPr userDrawn="1"/>
        </p:nvGrpSpPr>
        <p:grpSpPr>
          <a:xfrm>
            <a:off x="515937" y="326276"/>
            <a:ext cx="902611" cy="902611"/>
            <a:chOff x="515937" y="326276"/>
            <a:chExt cx="902611" cy="902611"/>
          </a:xfrm>
        </p:grpSpPr>
        <p:grpSp>
          <p:nvGrpSpPr>
            <p:cNvPr id="24" name="Group 23"/>
            <p:cNvGrpSpPr/>
            <p:nvPr/>
          </p:nvGrpSpPr>
          <p:grpSpPr>
            <a:xfrm>
              <a:off x="515937" y="326276"/>
              <a:ext cx="902611" cy="902611"/>
              <a:chOff x="4492144" y="190843"/>
              <a:chExt cx="855656" cy="855656"/>
            </a:xfrm>
          </p:grpSpPr>
          <p:sp>
            <p:nvSpPr>
              <p:cNvPr id="26" name="Oval 25"/>
              <p:cNvSpPr/>
              <p:nvPr/>
            </p:nvSpPr>
            <p:spPr>
              <a:xfrm>
                <a:off x="4492144" y="190843"/>
                <a:ext cx="855656" cy="855656"/>
              </a:xfrm>
              <a:prstGeom prst="ellipse">
                <a:avLst/>
              </a:prstGeom>
              <a:solidFill>
                <a:schemeClr val="bg1"/>
              </a:solidFill>
              <a:ln w="76200"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4551137" y="249836"/>
                <a:ext cx="737671" cy="737671"/>
              </a:xfrm>
              <a:prstGeom prst="ellipse">
                <a:avLst/>
              </a:prstGeom>
              <a:solidFill>
                <a:schemeClr val="accent1"/>
              </a:solidFill>
              <a:ln w="76200"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95901" y="533238"/>
              <a:ext cx="505958" cy="5059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77365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08513E-D1D6-4909-A6A1-E798C3840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in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81A9FA-9619-43AB-B085-D7F021094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511277" y="210344"/>
            <a:ext cx="8902723" cy="98424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7" name="Group 6"/>
          <p:cNvGrpSpPr/>
          <p:nvPr userDrawn="1"/>
        </p:nvGrpSpPr>
        <p:grpSpPr>
          <a:xfrm>
            <a:off x="10086109" y="417870"/>
            <a:ext cx="2105891" cy="569193"/>
            <a:chOff x="10086109" y="5763491"/>
            <a:chExt cx="2105891" cy="569193"/>
          </a:xfrm>
        </p:grpSpPr>
        <p:sp>
          <p:nvSpPr>
            <p:cNvPr id="8" name="Rectangle 7"/>
            <p:cNvSpPr/>
            <p:nvPr/>
          </p:nvSpPr>
          <p:spPr>
            <a:xfrm>
              <a:off x="10086109" y="5763491"/>
              <a:ext cx="2105891" cy="51904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10538695" y="5812704"/>
              <a:ext cx="1343888" cy="519980"/>
              <a:chOff x="515938" y="466803"/>
              <a:chExt cx="2499478" cy="967103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515938" y="466803"/>
                <a:ext cx="281354" cy="780960"/>
                <a:chOff x="4342156" y="2541184"/>
                <a:chExt cx="219003" cy="683186"/>
              </a:xfrm>
            </p:grpSpPr>
            <p:sp>
              <p:nvSpPr>
                <p:cNvPr id="12" name="Rectangle 11"/>
                <p:cNvSpPr/>
                <p:nvPr/>
              </p:nvSpPr>
              <p:spPr>
                <a:xfrm>
                  <a:off x="4342156" y="2541184"/>
                  <a:ext cx="92606" cy="544709"/>
                </a:xfrm>
                <a:prstGeom prst="rect">
                  <a:avLst/>
                </a:prstGeom>
                <a:solidFill>
                  <a:schemeClr val="tx2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Rounded Rectangle 12"/>
                <p:cNvSpPr/>
                <p:nvPr/>
              </p:nvSpPr>
              <p:spPr bwMode="auto">
                <a:xfrm>
                  <a:off x="4475003" y="2541184"/>
                  <a:ext cx="86156" cy="683186"/>
                </a:xfrm>
                <a:prstGeom prst="roundRect">
                  <a:avLst>
                    <a:gd name="adj" fmla="val 6597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vert="horz" wrap="square" lIns="0" tIns="0" rIns="0" bIns="0" numCol="1" rtlCol="0" anchor="ctr" anchorCtr="1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122632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sp>
            <p:nvSpPr>
              <p:cNvPr id="11" name="TextBox 10"/>
              <p:cNvSpPr txBox="1"/>
              <p:nvPr/>
            </p:nvSpPr>
            <p:spPr>
              <a:xfrm>
                <a:off x="891194" y="589844"/>
                <a:ext cx="2124222" cy="8440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/>
                <a:r>
                  <a:rPr lang="en-US" sz="2000" b="1">
                    <a:solidFill>
                      <a:schemeClr val="bg1"/>
                    </a:solidFill>
                  </a:rPr>
                  <a:t>S4F-ERP</a:t>
                </a:r>
              </a:p>
            </p:txBody>
          </p:sp>
        </p:grpSp>
      </p:grpSp>
      <p:sp>
        <p:nvSpPr>
          <p:cNvPr id="14" name="Rectangle 13"/>
          <p:cNvSpPr/>
          <p:nvPr userDrawn="1"/>
        </p:nvSpPr>
        <p:spPr>
          <a:xfrm>
            <a:off x="0" y="678873"/>
            <a:ext cx="207818" cy="59687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515937" y="326276"/>
            <a:ext cx="902611" cy="902611"/>
            <a:chOff x="515937" y="326276"/>
            <a:chExt cx="902611" cy="902611"/>
          </a:xfrm>
        </p:grpSpPr>
        <p:grpSp>
          <p:nvGrpSpPr>
            <p:cNvPr id="21" name="Group 20"/>
            <p:cNvGrpSpPr/>
            <p:nvPr/>
          </p:nvGrpSpPr>
          <p:grpSpPr>
            <a:xfrm>
              <a:off x="515937" y="326276"/>
              <a:ext cx="902611" cy="902611"/>
              <a:chOff x="4492144" y="190843"/>
              <a:chExt cx="855656" cy="855656"/>
            </a:xfrm>
          </p:grpSpPr>
          <p:sp>
            <p:nvSpPr>
              <p:cNvPr id="23" name="Oval 22"/>
              <p:cNvSpPr/>
              <p:nvPr/>
            </p:nvSpPr>
            <p:spPr>
              <a:xfrm>
                <a:off x="4492144" y="190843"/>
                <a:ext cx="855656" cy="855656"/>
              </a:xfrm>
              <a:prstGeom prst="ellipse">
                <a:avLst/>
              </a:prstGeom>
              <a:solidFill>
                <a:schemeClr val="bg1"/>
              </a:solidFill>
              <a:ln w="76200"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4" name="Oval 23"/>
              <p:cNvSpPr/>
              <p:nvPr/>
            </p:nvSpPr>
            <p:spPr>
              <a:xfrm>
                <a:off x="4551137" y="249836"/>
                <a:ext cx="737671" cy="737671"/>
              </a:xfrm>
              <a:prstGeom prst="ellipse">
                <a:avLst/>
              </a:prstGeom>
              <a:solidFill>
                <a:schemeClr val="accent1"/>
              </a:solidFill>
              <a:ln w="76200"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pic>
          <p:nvPicPr>
            <p:cNvPr id="22" name="Picture 21"/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95901" y="533238"/>
              <a:ext cx="505958" cy="5059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42680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-11151"/>
            <a:ext cx="12192000" cy="6869151"/>
            <a:chOff x="0" y="-11151"/>
            <a:chExt cx="12192000" cy="6869151"/>
          </a:xfrm>
        </p:grpSpPr>
        <p:grpSp>
          <p:nvGrpSpPr>
            <p:cNvPr id="7" name="Group 6"/>
            <p:cNvGrpSpPr/>
            <p:nvPr/>
          </p:nvGrpSpPr>
          <p:grpSpPr>
            <a:xfrm>
              <a:off x="0" y="30978"/>
              <a:ext cx="7346443" cy="6827022"/>
              <a:chOff x="0" y="30978"/>
              <a:chExt cx="7346443" cy="6827022"/>
            </a:xfrm>
          </p:grpSpPr>
          <p:sp>
            <p:nvSpPr>
              <p:cNvPr id="9" name="Freeform 8"/>
              <p:cNvSpPr/>
              <p:nvPr/>
            </p:nvSpPr>
            <p:spPr>
              <a:xfrm>
                <a:off x="0" y="30978"/>
                <a:ext cx="7346443" cy="6827022"/>
              </a:xfrm>
              <a:custGeom>
                <a:avLst/>
                <a:gdLst>
                  <a:gd name="connsiteX0" fmla="*/ 0 w 7346443"/>
                  <a:gd name="connsiteY0" fmla="*/ 0 h 6827022"/>
                  <a:gd name="connsiteX1" fmla="*/ 7346443 w 7346443"/>
                  <a:gd name="connsiteY1" fmla="*/ 6827022 h 6827022"/>
                  <a:gd name="connsiteX2" fmla="*/ 0 w 7346443"/>
                  <a:gd name="connsiteY2" fmla="*/ 6827022 h 6827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346443" h="6827022">
                    <a:moveTo>
                      <a:pt x="0" y="0"/>
                    </a:moveTo>
                    <a:lnTo>
                      <a:pt x="7346443" y="6827022"/>
                    </a:lnTo>
                    <a:lnTo>
                      <a:pt x="0" y="6827022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ru-RU" sz="1600"/>
              </a:p>
            </p:txBody>
          </p:sp>
          <p:sp>
            <p:nvSpPr>
              <p:cNvPr id="10" name="Freeform 9"/>
              <p:cNvSpPr/>
              <p:nvPr/>
            </p:nvSpPr>
            <p:spPr>
              <a:xfrm>
                <a:off x="0" y="1696574"/>
                <a:ext cx="802656" cy="1625366"/>
              </a:xfrm>
              <a:custGeom>
                <a:avLst/>
                <a:gdLst>
                  <a:gd name="connsiteX0" fmla="*/ 0 w 802656"/>
                  <a:gd name="connsiteY0" fmla="*/ 0 h 1625366"/>
                  <a:gd name="connsiteX1" fmla="*/ 152859 w 802656"/>
                  <a:gd name="connsiteY1" fmla="*/ 15410 h 1625366"/>
                  <a:gd name="connsiteX2" fmla="*/ 802656 w 802656"/>
                  <a:gd name="connsiteY2" fmla="*/ 812683 h 1625366"/>
                  <a:gd name="connsiteX3" fmla="*/ 152859 w 802656"/>
                  <a:gd name="connsiteY3" fmla="*/ 1609956 h 1625366"/>
                  <a:gd name="connsiteX4" fmla="*/ 0 w 802656"/>
                  <a:gd name="connsiteY4" fmla="*/ 1625366 h 16253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02656" h="1625366">
                    <a:moveTo>
                      <a:pt x="0" y="0"/>
                    </a:moveTo>
                    <a:lnTo>
                      <a:pt x="152859" y="15410"/>
                    </a:lnTo>
                    <a:cubicBezTo>
                      <a:pt x="523697" y="91294"/>
                      <a:pt x="802656" y="419412"/>
                      <a:pt x="802656" y="812683"/>
                    </a:cubicBezTo>
                    <a:cubicBezTo>
                      <a:pt x="802656" y="1205955"/>
                      <a:pt x="523697" y="1534072"/>
                      <a:pt x="152859" y="1609956"/>
                    </a:cubicBezTo>
                    <a:lnTo>
                      <a:pt x="0" y="1625366"/>
                    </a:lnTo>
                    <a:close/>
                  </a:path>
                </a:pathLst>
              </a:custGeom>
              <a:solidFill>
                <a:srgbClr val="A7E6E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600"/>
              </a:p>
            </p:txBody>
          </p:sp>
        </p:grpSp>
        <p:sp>
          <p:nvSpPr>
            <p:cNvPr id="8" name="Rectangle 7"/>
            <p:cNvSpPr/>
            <p:nvPr/>
          </p:nvSpPr>
          <p:spPr>
            <a:xfrm>
              <a:off x="6096000" y="-11151"/>
              <a:ext cx="6096000" cy="6869151"/>
            </a:xfrm>
            <a:prstGeom prst="rect">
              <a:avLst/>
            </a:prstGeom>
            <a:solidFill>
              <a:srgbClr val="A7E6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600"/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A2304-23DC-2B46-BD14-F082077842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2F2BE79-9CF6-49D0-828F-83304EE10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40" y="210346"/>
            <a:ext cx="9898061" cy="984247"/>
          </a:xfrm>
        </p:spPr>
        <p:txBody>
          <a:bodyPr>
            <a:normAutofit/>
          </a:bodyPr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515940" y="1348042"/>
            <a:ext cx="98980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693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A2304-23DC-2B46-BD14-F082077842FF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9365" y="-66611"/>
            <a:ext cx="12212780" cy="548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496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19571F-E128-4FF8-A846-91352A101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9" y="210344"/>
            <a:ext cx="9898061" cy="98424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EE3A9-E955-4AFD-9C72-3106238E9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695450"/>
            <a:ext cx="9898063" cy="458708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7185E-8EC7-42C4-875B-7957276D60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77073" y="6297521"/>
            <a:ext cx="4201727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505A6-DE1E-455A-9F96-B1BC2DE26A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8800" y="6297521"/>
            <a:ext cx="397261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4C94289-3309-4C35-850A-56FD49B3E346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E89007-8C14-45BA-9B75-C9A19A48430E}"/>
              </a:ext>
            </a:extLst>
          </p:cNvPr>
          <p:cNvSpPr txBox="1"/>
          <p:nvPr userDrawn="1"/>
        </p:nvSpPr>
        <p:spPr>
          <a:xfrm>
            <a:off x="515938" y="6282531"/>
            <a:ext cx="1799722" cy="3651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00"/>
              <a:t>© </a:t>
            </a:r>
            <a:r>
              <a:rPr lang="en-GB" sz="800" err="1"/>
              <a:t>JTI</a:t>
            </a:r>
            <a:r>
              <a:rPr lang="en-GB" sz="800"/>
              <a:t> 2019 Confidential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558707-958B-46B5-B09F-9B53C1657C43}"/>
              </a:ext>
            </a:extLst>
          </p:cNvPr>
          <p:cNvCxnSpPr/>
          <p:nvPr userDrawn="1"/>
        </p:nvCxnSpPr>
        <p:spPr>
          <a:xfrm>
            <a:off x="515937" y="1343026"/>
            <a:ext cx="1116012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1E89007-8C14-45BA-9B75-C9A19A48430E}"/>
              </a:ext>
            </a:extLst>
          </p:cNvPr>
          <p:cNvSpPr txBox="1"/>
          <p:nvPr userDrawn="1"/>
        </p:nvSpPr>
        <p:spPr>
          <a:xfrm>
            <a:off x="4703985" y="6535710"/>
            <a:ext cx="2802070" cy="27683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/>
            <a:r>
              <a:rPr lang="en-US" sz="1000">
                <a:latin typeface="+mn-lt"/>
                <a:ea typeface="Roboto" charset="0"/>
                <a:cs typeface="Roboto" charset="0"/>
              </a:rPr>
              <a:t>Simplify, Standardize, Accelerate </a:t>
            </a:r>
          </a:p>
        </p:txBody>
      </p:sp>
    </p:spTree>
    <p:extLst>
      <p:ext uri="{BB962C8B-B14F-4D97-AF65-F5344CB8AC3E}">
        <p14:creationId xmlns:p14="http://schemas.microsoft.com/office/powerpoint/2010/main" val="325407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79388" indent="-179388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207963" indent="182563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08013" indent="-198438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31850" indent="-204788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25">
          <p15:clr>
            <a:srgbClr val="F26B43"/>
          </p15:clr>
        </p15:guide>
        <p15:guide id="3" pos="7355">
          <p15:clr>
            <a:srgbClr val="F26B43"/>
          </p15:clr>
        </p15:guide>
        <p15:guide id="4" pos="3364">
          <p15:clr>
            <a:srgbClr val="F26B43"/>
          </p15:clr>
        </p15:guide>
        <p15:guide id="5" pos="3522">
          <p15:clr>
            <a:srgbClr val="F26B43"/>
          </p15:clr>
        </p15:guide>
        <p15:guide id="6" orient="horz" pos="1068">
          <p15:clr>
            <a:srgbClr val="F26B43"/>
          </p15:clr>
        </p15:guide>
        <p15:guide id="7" orient="horz" pos="3959">
          <p15:clr>
            <a:srgbClr val="F26B43"/>
          </p15:clr>
        </p15:guide>
        <p15:guide id="8" pos="3840">
          <p15:clr>
            <a:srgbClr val="F26B43"/>
          </p15:clr>
        </p15:guide>
        <p15:guide id="9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340603"/>
            <a:ext cx="12192000" cy="4902408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0" y="1340602"/>
            <a:ext cx="12192000" cy="4902409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  <a:alpha val="85000"/>
                </a:schemeClr>
              </a:gs>
              <a:gs pos="100000">
                <a:schemeClr val="accent3">
                  <a:alpha val="8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Presentation title in footer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C94289-3309-4C35-850A-56FD49B3E346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4" name="Title 3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Course Structure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0D94340-C2C1-4AC4-B239-D127A63FC583}"/>
              </a:ext>
            </a:extLst>
          </p:cNvPr>
          <p:cNvGrpSpPr/>
          <p:nvPr/>
        </p:nvGrpSpPr>
        <p:grpSpPr>
          <a:xfrm>
            <a:off x="7110838" y="2307595"/>
            <a:ext cx="4771781" cy="3461648"/>
            <a:chOff x="6011091" y="1748227"/>
            <a:chExt cx="4771781" cy="3461648"/>
          </a:xfrm>
        </p:grpSpPr>
        <p:cxnSp>
          <p:nvCxnSpPr>
            <p:cNvPr id="5" name="Elbow Connector 4"/>
            <p:cNvCxnSpPr>
              <a:cxnSpLocks/>
            </p:cNvCxnSpPr>
            <p:nvPr/>
          </p:nvCxnSpPr>
          <p:spPr>
            <a:xfrm flipV="1">
              <a:off x="6011091" y="1953919"/>
              <a:ext cx="1521085" cy="1112592"/>
            </a:xfrm>
            <a:prstGeom prst="bentConnector3">
              <a:avLst/>
            </a:prstGeom>
            <a:ln w="28575">
              <a:solidFill>
                <a:schemeClr val="bg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Elbow Connector 7"/>
            <p:cNvCxnSpPr>
              <a:cxnSpLocks/>
            </p:cNvCxnSpPr>
            <p:nvPr/>
          </p:nvCxnSpPr>
          <p:spPr>
            <a:xfrm>
              <a:off x="6011091" y="3054645"/>
              <a:ext cx="1521084" cy="1920738"/>
            </a:xfrm>
            <a:prstGeom prst="bentConnector3">
              <a:avLst/>
            </a:prstGeom>
            <a:ln w="28575">
              <a:solidFill>
                <a:schemeClr val="bg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6782605" y="2692997"/>
              <a:ext cx="749571" cy="0"/>
            </a:xfrm>
            <a:prstGeom prst="line">
              <a:avLst/>
            </a:prstGeom>
            <a:ln w="28575">
              <a:solidFill>
                <a:schemeClr val="bg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6771633" y="3431286"/>
              <a:ext cx="749571" cy="0"/>
            </a:xfrm>
            <a:prstGeom prst="line">
              <a:avLst/>
            </a:prstGeom>
            <a:ln w="28575">
              <a:solidFill>
                <a:schemeClr val="bg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ounded Rectangle 38"/>
            <p:cNvSpPr/>
            <p:nvPr/>
          </p:nvSpPr>
          <p:spPr>
            <a:xfrm>
              <a:off x="7684328" y="4706182"/>
              <a:ext cx="3098543" cy="503693"/>
            </a:xfrm>
            <a:prstGeom prst="roundRect">
              <a:avLst>
                <a:gd name="adj" fmla="val 31330"/>
              </a:avLst>
            </a:prstGeom>
            <a:solidFill>
              <a:schemeClr val="accent1"/>
            </a:solidFill>
            <a:ln w="50800">
              <a:solidFill>
                <a:schemeClr val="bg1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46800" rIns="90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A3040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Reporting</a:t>
              </a: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1A304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7684328" y="3208047"/>
              <a:ext cx="3098543" cy="410647"/>
            </a:xfrm>
            <a:prstGeom prst="roundRect">
              <a:avLst>
                <a:gd name="adj" fmla="val 31330"/>
              </a:avLst>
            </a:prstGeom>
            <a:solidFill>
              <a:schemeClr val="accent6">
                <a:lumMod val="75000"/>
              </a:schemeClr>
            </a:solidFill>
            <a:ln w="50800">
              <a:solidFill>
                <a:schemeClr val="bg1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46800" rIns="90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Statistical Key Figures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7684329" y="1748227"/>
              <a:ext cx="3098543" cy="410647"/>
            </a:xfrm>
            <a:prstGeom prst="roundRect">
              <a:avLst>
                <a:gd name="adj" fmla="val 31330"/>
              </a:avLst>
            </a:prstGeom>
            <a:solidFill>
              <a:schemeClr val="accent6">
                <a:lumMod val="75000"/>
              </a:schemeClr>
            </a:solidFill>
            <a:ln w="50800">
              <a:solidFill>
                <a:schemeClr val="bg1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46800" rIns="90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Allocation Overview</a:t>
              </a: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7684329" y="2490608"/>
              <a:ext cx="3098543" cy="410647"/>
            </a:xfrm>
            <a:prstGeom prst="roundRect">
              <a:avLst>
                <a:gd name="adj" fmla="val 31330"/>
              </a:avLst>
            </a:prstGeom>
            <a:solidFill>
              <a:schemeClr val="accent6">
                <a:lumMod val="75000"/>
              </a:schemeClr>
            </a:solidFill>
            <a:ln w="50800">
              <a:solidFill>
                <a:schemeClr val="bg1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46800" rIns="90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Allocation Cycles</a:t>
              </a: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6910E8D-B254-4300-8FE8-603121A7D4F0}"/>
              </a:ext>
            </a:extLst>
          </p:cNvPr>
          <p:cNvGrpSpPr/>
          <p:nvPr/>
        </p:nvGrpSpPr>
        <p:grpSpPr>
          <a:xfrm>
            <a:off x="571776" y="2586817"/>
            <a:ext cx="6635055" cy="2208261"/>
            <a:chOff x="4381175" y="2883731"/>
            <a:chExt cx="7294886" cy="2427864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140A22BA-1D90-49A5-AB19-0F9786903880}"/>
                </a:ext>
              </a:extLst>
            </p:cNvPr>
            <p:cNvGrpSpPr/>
            <p:nvPr/>
          </p:nvGrpSpPr>
          <p:grpSpPr>
            <a:xfrm>
              <a:off x="7444303" y="2883731"/>
              <a:ext cx="4231758" cy="2427864"/>
              <a:chOff x="7444303" y="2883731"/>
              <a:chExt cx="4231758" cy="2427864"/>
            </a:xfrm>
          </p:grpSpPr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E53F13B-1991-4147-8071-E43AD604C6BB}"/>
                  </a:ext>
                </a:extLst>
              </p:cNvPr>
              <p:cNvSpPr txBox="1"/>
              <p:nvPr/>
            </p:nvSpPr>
            <p:spPr>
              <a:xfrm>
                <a:off x="7444304" y="4756406"/>
                <a:ext cx="4231757" cy="55518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Reporting</a:t>
                </a:r>
                <a:endParaRPr kumimoji="0" lang="en-GB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D703B1FB-112C-40FF-B347-EC08CF494A52}"/>
                  </a:ext>
                </a:extLst>
              </p:cNvPr>
              <p:cNvGrpSpPr/>
              <p:nvPr/>
            </p:nvGrpSpPr>
            <p:grpSpPr>
              <a:xfrm>
                <a:off x="7444303" y="2883731"/>
                <a:ext cx="4231757" cy="1393150"/>
                <a:chOff x="7444303" y="2883731"/>
                <a:chExt cx="4231757" cy="1393150"/>
              </a:xfrm>
            </p:grpSpPr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95F25F2A-4584-4D95-B003-EA8BC304A6EF}"/>
                    </a:ext>
                  </a:extLst>
                </p:cNvPr>
                <p:cNvSpPr txBox="1"/>
                <p:nvPr/>
              </p:nvSpPr>
              <p:spPr>
                <a:xfrm>
                  <a:off x="7444304" y="2883731"/>
                  <a:ext cx="3566596" cy="55518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3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rPr>
                    <a:t>Master Data</a:t>
                  </a:r>
                  <a:endParaRPr kumimoji="0" lang="en-GB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EBEAB4F0-77C8-4813-B301-E28A1134A7D2}"/>
                    </a:ext>
                  </a:extLst>
                </p:cNvPr>
                <p:cNvSpPr txBox="1"/>
                <p:nvPr/>
              </p:nvSpPr>
              <p:spPr>
                <a:xfrm>
                  <a:off x="7444303" y="3721692"/>
                  <a:ext cx="4231757" cy="55518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3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rPr>
                    <a:t>Cost Allocations</a:t>
                  </a:r>
                  <a:endParaRPr kumimoji="0" lang="en-GB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516D7A96-7256-48BE-AF98-ABE93DEBA8CA}"/>
                </a:ext>
              </a:extLst>
            </p:cNvPr>
            <p:cNvGrpSpPr/>
            <p:nvPr/>
          </p:nvGrpSpPr>
          <p:grpSpPr>
            <a:xfrm>
              <a:off x="4381175" y="3076671"/>
              <a:ext cx="2917844" cy="1931716"/>
              <a:chOff x="4372240" y="3074237"/>
              <a:chExt cx="2917844" cy="1931716"/>
            </a:xfrm>
          </p:grpSpPr>
          <p:cxnSp>
            <p:nvCxnSpPr>
              <p:cNvPr id="48" name="Elbow Connector 31">
                <a:extLst>
                  <a:ext uri="{FF2B5EF4-FFF2-40B4-BE49-F238E27FC236}">
                    <a16:creationId xmlns:a16="http://schemas.microsoft.com/office/drawing/2014/main" id="{82A8A684-6624-4A29-929A-693B83021671}"/>
                  </a:ext>
                </a:extLst>
              </p:cNvPr>
              <p:cNvCxnSpPr/>
              <p:nvPr/>
            </p:nvCxnSpPr>
            <p:spPr>
              <a:xfrm flipV="1">
                <a:off x="6194084" y="3201452"/>
                <a:ext cx="1096000" cy="780152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chemeClr val="bg1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Elbow Connector 37">
                <a:extLst>
                  <a:ext uri="{FF2B5EF4-FFF2-40B4-BE49-F238E27FC236}">
                    <a16:creationId xmlns:a16="http://schemas.microsoft.com/office/drawing/2014/main" id="{D34F875D-7BE8-4E03-B1B2-A88E02AC5978}"/>
                  </a:ext>
                </a:extLst>
              </p:cNvPr>
              <p:cNvCxnSpPr/>
              <p:nvPr/>
            </p:nvCxnSpPr>
            <p:spPr>
              <a:xfrm>
                <a:off x="6194084" y="3981604"/>
                <a:ext cx="1096000" cy="1024349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chemeClr val="bg1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DD0FBCCA-188E-4728-8C65-265742158C4F}"/>
                  </a:ext>
                </a:extLst>
              </p:cNvPr>
              <p:cNvGrpSpPr/>
              <p:nvPr/>
            </p:nvGrpSpPr>
            <p:grpSpPr>
              <a:xfrm>
                <a:off x="4372240" y="3074237"/>
                <a:ext cx="1850100" cy="1850100"/>
                <a:chOff x="4401574" y="3295146"/>
                <a:chExt cx="624164" cy="624164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2743DAC2-783E-4DD1-8583-AEBB3CD8D715}"/>
                    </a:ext>
                  </a:extLst>
                </p:cNvPr>
                <p:cNvGrpSpPr/>
                <p:nvPr/>
              </p:nvGrpSpPr>
              <p:grpSpPr>
                <a:xfrm>
                  <a:off x="4401574" y="3295146"/>
                  <a:ext cx="624164" cy="624164"/>
                  <a:chOff x="4492144" y="190843"/>
                  <a:chExt cx="855656" cy="855656"/>
                </a:xfrm>
              </p:grpSpPr>
              <p:sp>
                <p:nvSpPr>
                  <p:cNvPr id="54" name="Oval 53">
                    <a:extLst>
                      <a:ext uri="{FF2B5EF4-FFF2-40B4-BE49-F238E27FC236}">
                        <a16:creationId xmlns:a16="http://schemas.microsoft.com/office/drawing/2014/main" id="{FF9C6092-D6EB-4CE7-B57D-A237D6BD8821}"/>
                      </a:ext>
                    </a:extLst>
                  </p:cNvPr>
                  <p:cNvSpPr/>
                  <p:nvPr/>
                </p:nvSpPr>
                <p:spPr>
                  <a:xfrm>
                    <a:off x="4492144" y="190843"/>
                    <a:ext cx="855656" cy="855656"/>
                  </a:xfrm>
                  <a:prstGeom prst="ellipse">
                    <a:avLst/>
                  </a:prstGeom>
                  <a:solidFill>
                    <a:schemeClr val="bg1"/>
                  </a:solidFill>
                  <a:ln w="76200">
                    <a:noFill/>
                  </a:ln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5" name="Oval 54">
                    <a:extLst>
                      <a:ext uri="{FF2B5EF4-FFF2-40B4-BE49-F238E27FC236}">
                        <a16:creationId xmlns:a16="http://schemas.microsoft.com/office/drawing/2014/main" id="{52690E08-68DC-4EB1-AB60-D6E5B4D37D5A}"/>
                      </a:ext>
                    </a:extLst>
                  </p:cNvPr>
                  <p:cNvSpPr/>
                  <p:nvPr/>
                </p:nvSpPr>
                <p:spPr>
                  <a:xfrm>
                    <a:off x="4551137" y="249836"/>
                    <a:ext cx="737671" cy="737671"/>
                  </a:xfrm>
                  <a:prstGeom prst="ellipse">
                    <a:avLst/>
                  </a:prstGeom>
                  <a:solidFill>
                    <a:srgbClr val="74D9D5"/>
                  </a:solidFill>
                  <a:ln w="76200">
                    <a:noFill/>
                  </a:ln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endParaRPr>
                  </a:p>
                </p:txBody>
              </p:sp>
            </p:grpSp>
            <p:pic>
              <p:nvPicPr>
                <p:cNvPr id="53" name="Picture 52">
                  <a:extLst>
                    <a:ext uri="{FF2B5EF4-FFF2-40B4-BE49-F238E27FC236}">
                      <a16:creationId xmlns:a16="http://schemas.microsoft.com/office/drawing/2014/main" id="{48F5A937-44D1-4B39-A9BF-86982C1077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5159" y="3458800"/>
                  <a:ext cx="337454" cy="337454"/>
                </a:xfrm>
                <a:prstGeom prst="rect">
                  <a:avLst/>
                </a:prstGeom>
              </p:spPr>
            </p:pic>
          </p:grp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2A5E8B1E-3D40-466D-8916-2503E0AE43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12794" y="3981604"/>
                <a:ext cx="577290" cy="0"/>
              </a:xfrm>
              <a:prstGeom prst="line">
                <a:avLst/>
              </a:prstGeom>
              <a:ln w="28575">
                <a:solidFill>
                  <a:schemeClr val="bg1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4D3FBF6A-7C0E-4BA8-8778-59D9F25E454D}"/>
              </a:ext>
            </a:extLst>
          </p:cNvPr>
          <p:cNvCxnSpPr/>
          <p:nvPr/>
        </p:nvCxnSpPr>
        <p:spPr>
          <a:xfrm>
            <a:off x="7872594" y="4718388"/>
            <a:ext cx="749571" cy="0"/>
          </a:xfrm>
          <a:prstGeom prst="line">
            <a:avLst/>
          </a:prstGeom>
          <a:ln w="28575"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39">
            <a:extLst>
              <a:ext uri="{FF2B5EF4-FFF2-40B4-BE49-F238E27FC236}">
                <a16:creationId xmlns:a16="http://schemas.microsoft.com/office/drawing/2014/main" id="{7910D65D-2CF8-4479-A6E9-F0205B866B86}"/>
              </a:ext>
            </a:extLst>
          </p:cNvPr>
          <p:cNvSpPr/>
          <p:nvPr/>
        </p:nvSpPr>
        <p:spPr>
          <a:xfrm>
            <a:off x="8757051" y="4484854"/>
            <a:ext cx="3098543" cy="410647"/>
          </a:xfrm>
          <a:prstGeom prst="roundRect">
            <a:avLst>
              <a:gd name="adj" fmla="val 31330"/>
            </a:avLst>
          </a:prstGeom>
          <a:solidFill>
            <a:schemeClr val="accent6">
              <a:lumMod val="75000"/>
            </a:schemeClr>
          </a:solidFill>
          <a:ln w="50800"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6800" rIns="90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Direct MCA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82013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65B41-7336-4558-9275-D75D880FF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FB03L – Display document: General Ledger view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068D1B-C255-420D-B4CB-272FCA296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Presentation title in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906774-B0E7-4658-A0B1-B3A485D75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C94289-3309-4C35-850A-56FD49B3E346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11572A-DEB5-4208-B31C-EEB1C47EB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524" y="1888063"/>
            <a:ext cx="8477146" cy="4201853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C654B37-D986-4872-8FC3-D19B7F4D2167}"/>
              </a:ext>
            </a:extLst>
          </p:cNvPr>
          <p:cNvSpPr/>
          <p:nvPr/>
        </p:nvSpPr>
        <p:spPr>
          <a:xfrm>
            <a:off x="7181193" y="1888063"/>
            <a:ext cx="2199290" cy="45311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Rectangular Callout 18">
            <a:extLst>
              <a:ext uri="{FF2B5EF4-FFF2-40B4-BE49-F238E27FC236}">
                <a16:creationId xmlns:a16="http://schemas.microsoft.com/office/drawing/2014/main" id="{647B1285-B6CE-4337-AFE6-8CCE2D7207C9}"/>
              </a:ext>
            </a:extLst>
          </p:cNvPr>
          <p:cNvSpPr/>
          <p:nvPr/>
        </p:nvSpPr>
        <p:spPr bwMode="auto">
          <a:xfrm>
            <a:off x="9793558" y="1667794"/>
            <a:ext cx="1932710" cy="673385"/>
          </a:xfrm>
          <a:prstGeom prst="wedgeRectCallout">
            <a:avLst>
              <a:gd name="adj1" fmla="val -47672"/>
              <a:gd name="adj2" fmla="val 90558"/>
            </a:avLst>
          </a:prstGeom>
          <a:solidFill>
            <a:srgbClr val="FFFFFF"/>
          </a:solidFill>
          <a:ln w="12700" cap="flat" cmpd="sng" algn="ctr">
            <a:solidFill>
              <a:srgbClr val="88D5B8"/>
            </a:solidFill>
            <a:prstDash val="solid"/>
            <a:miter lim="800000"/>
          </a:ln>
          <a:effectLst/>
        </p:spPr>
        <p:txBody>
          <a:bodyPr vert="horz" wrap="square" lIns="36000" tIns="3600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Select General Ledger </a:t>
            </a:r>
            <a:r>
              <a:rPr kumimoji="0" lang="en-GB" sz="105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View to see for each line item the Profit Center (default will show Entry view – so you need to change) </a:t>
            </a:r>
            <a:endParaRPr kumimoji="0" lang="en-GB" sz="105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4FF9137-77B7-4DDC-877B-CDB36371F048}"/>
              </a:ext>
            </a:extLst>
          </p:cNvPr>
          <p:cNvSpPr/>
          <p:nvPr/>
        </p:nvSpPr>
        <p:spPr>
          <a:xfrm>
            <a:off x="1292772" y="4830960"/>
            <a:ext cx="622738" cy="130160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F57E0D1-DCE8-4B66-B503-4BE99D7AD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0878" y="1447871"/>
            <a:ext cx="2738438" cy="666750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130A88A3-E7E7-419B-8A6C-A186648BC23B}"/>
              </a:ext>
            </a:extLst>
          </p:cNvPr>
          <p:cNvSpPr/>
          <p:nvPr/>
        </p:nvSpPr>
        <p:spPr>
          <a:xfrm rot="2786253">
            <a:off x="6134884" y="1460576"/>
            <a:ext cx="378372" cy="414435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5369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A1021-9F75-414F-9F9A-E0B884C75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KSB1 - Cost </a:t>
            </a:r>
            <a:r>
              <a:rPr lang="en-GB" dirty="0" err="1"/>
              <a:t>center</a:t>
            </a:r>
            <a:r>
              <a:rPr lang="en-GB" dirty="0"/>
              <a:t> line item report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A6DE59-7DF8-46F6-B8F5-3236E3DAF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Presentation title in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548F23-DEA9-4C38-A6BF-666896066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C94289-3309-4C35-850A-56FD49B3E346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5C0222-AE0B-4A9E-BCFE-A001E8D64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761" y="1819127"/>
            <a:ext cx="8902723" cy="420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328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C78D7-57F0-4516-B7E0-C23F9900A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S/4 Instant Operational Reporting - 3 key Options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AD3743-9108-4146-93EF-CD04DFD20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Presentation title in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C3B49D-2DC5-476D-9D8F-142C67F48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C94289-3309-4C35-850A-56FD49B3E346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69D2492-9668-486A-8221-A0FFC6ACC652}"/>
              </a:ext>
            </a:extLst>
          </p:cNvPr>
          <p:cNvSpPr/>
          <p:nvPr/>
        </p:nvSpPr>
        <p:spPr bwMode="auto">
          <a:xfrm>
            <a:off x="4049897" y="2441636"/>
            <a:ext cx="3691192" cy="3379486"/>
          </a:xfrm>
          <a:prstGeom prst="roundRect">
            <a:avLst>
              <a:gd name="adj" fmla="val 0"/>
            </a:avLst>
          </a:prstGeom>
          <a:solidFill>
            <a:srgbClr val="00BDB7">
              <a:alpha val="22000"/>
            </a:srgbClr>
          </a:solidFill>
          <a:ln>
            <a:noFill/>
          </a:ln>
          <a:effectLst/>
        </p:spPr>
        <p:txBody>
          <a:bodyPr vert="horz" wrap="square" lIns="0" tIns="0" rIns="0" bIns="0" numCol="1" rtlCol="0" anchor="t" anchorCtr="1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sng" strike="noStrike" kern="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ＭＳ Ｐゴシック" pitchFamily="80" charset="-128"/>
              <a:cs typeface="Arial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DB1A697-3612-4D8E-93C2-CC1BA9826D9E}"/>
              </a:ext>
            </a:extLst>
          </p:cNvPr>
          <p:cNvSpPr/>
          <p:nvPr/>
        </p:nvSpPr>
        <p:spPr bwMode="auto">
          <a:xfrm>
            <a:off x="7840467" y="2443693"/>
            <a:ext cx="3905629" cy="3398014"/>
          </a:xfrm>
          <a:prstGeom prst="roundRect">
            <a:avLst>
              <a:gd name="adj" fmla="val 0"/>
            </a:avLst>
          </a:prstGeom>
          <a:solidFill>
            <a:srgbClr val="00BDB7">
              <a:alpha val="22000"/>
            </a:srgbClr>
          </a:solidFill>
          <a:ln>
            <a:noFill/>
          </a:ln>
          <a:effectLst/>
        </p:spPr>
        <p:txBody>
          <a:bodyPr vert="horz" wrap="square" lIns="0" tIns="0" rIns="0" bIns="0" numCol="1" rtlCol="0" anchor="t" anchorCtr="1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sng" strike="noStrike" kern="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ＭＳ Ｐゴシック" pitchFamily="80" charset="-128"/>
              <a:cs typeface="Arial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440C07-BCD0-4E84-9905-E29397B30D67}"/>
              </a:ext>
            </a:extLst>
          </p:cNvPr>
          <p:cNvSpPr txBox="1"/>
          <p:nvPr/>
        </p:nvSpPr>
        <p:spPr>
          <a:xfrm>
            <a:off x="4062832" y="5857483"/>
            <a:ext cx="3790570" cy="46722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ＭＳ Ｐゴシック" pitchFamily="80" charset="-128"/>
                <a:cs typeface="+mn-cs"/>
              </a:rPr>
              <a:t>* For Go Live Jan 2020 Market P&amp;L will be seen through GR55 transaction with its traditional format. Option to bring AFO into S/4 will be evaluated post Go Live 2020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ＭＳ Ｐゴシック"/>
                <a:cs typeface="Arial"/>
              </a:rPr>
              <a:t>** Market P&amp;L Lines – JTIO mapping some subject to changes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/>
              <a:ea typeface="ＭＳ Ｐゴシック" pitchFamily="80" charset="-128"/>
              <a:cs typeface="Arial"/>
            </a:endParaRPr>
          </a:p>
        </p:txBody>
      </p:sp>
      <p:sp>
        <p:nvSpPr>
          <p:cNvPr id="9" name="Rectangular Callout 18">
            <a:extLst>
              <a:ext uri="{FF2B5EF4-FFF2-40B4-BE49-F238E27FC236}">
                <a16:creationId xmlns:a16="http://schemas.microsoft.com/office/drawing/2014/main" id="{73011141-514A-4E4E-BC2F-AD949D8AF2F8}"/>
              </a:ext>
            </a:extLst>
          </p:cNvPr>
          <p:cNvSpPr/>
          <p:nvPr/>
        </p:nvSpPr>
        <p:spPr bwMode="auto">
          <a:xfrm>
            <a:off x="7910886" y="2525338"/>
            <a:ext cx="3620773" cy="890048"/>
          </a:xfrm>
          <a:prstGeom prst="wedgeRectCallout">
            <a:avLst>
              <a:gd name="adj1" fmla="val 13318"/>
              <a:gd name="adj2" fmla="val 48064"/>
            </a:avLst>
          </a:prstGeom>
          <a:solidFill>
            <a:srgbClr val="FFFFFF"/>
          </a:solidFill>
          <a:ln w="12700" cap="flat" cmpd="sng" algn="ctr">
            <a:solidFill>
              <a:srgbClr val="88D5B8"/>
            </a:solidFill>
            <a:prstDash val="solid"/>
            <a:miter lim="800000"/>
          </a:ln>
          <a:effectLst/>
        </p:spPr>
        <p:txBody>
          <a:bodyPr vert="horz" wrap="square" lIns="36000" tIns="3600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CDS Views - SAP </a:t>
            </a:r>
            <a:r>
              <a:rPr kumimoji="0" lang="en-GB" sz="1400" b="0" i="0" u="sng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Analysis for Office </a:t>
            </a: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queries (</a:t>
            </a:r>
            <a:r>
              <a:rPr kumimoji="0" lang="en-GB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AfO</a:t>
            </a: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). All dimensions </a:t>
            </a: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ＭＳ Ｐゴシック" charset="0"/>
                <a:cs typeface="+mn-cs"/>
              </a:rPr>
              <a:t>present </a:t>
            </a: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 the Universal Journal have been identified as relevant &amp; to which we want have instant visibility on.</a:t>
            </a:r>
          </a:p>
        </p:txBody>
      </p:sp>
      <p:sp>
        <p:nvSpPr>
          <p:cNvPr id="10" name="Rectangular Callout 18">
            <a:extLst>
              <a:ext uri="{FF2B5EF4-FFF2-40B4-BE49-F238E27FC236}">
                <a16:creationId xmlns:a16="http://schemas.microsoft.com/office/drawing/2014/main" id="{7154CC74-7BF5-4CC1-9918-4F29A192E764}"/>
              </a:ext>
            </a:extLst>
          </p:cNvPr>
          <p:cNvSpPr/>
          <p:nvPr/>
        </p:nvSpPr>
        <p:spPr bwMode="auto">
          <a:xfrm>
            <a:off x="4162863" y="2520874"/>
            <a:ext cx="3458985" cy="898976"/>
          </a:xfrm>
          <a:prstGeom prst="wedgeRectCallout">
            <a:avLst>
              <a:gd name="adj1" fmla="val 7705"/>
              <a:gd name="adj2" fmla="val 42470"/>
            </a:avLst>
          </a:prstGeom>
          <a:solidFill>
            <a:srgbClr val="FFFFFF"/>
          </a:solidFill>
          <a:ln w="12700" cap="flat" cmpd="sng" algn="ctr">
            <a:solidFill>
              <a:srgbClr val="88D5B8"/>
            </a:solidFill>
            <a:prstDash val="solid"/>
            <a:miter lim="800000"/>
          </a:ln>
          <a:effectLst/>
        </p:spPr>
        <p:txBody>
          <a:bodyPr vert="horz" wrap="square" lIns="36000" tIns="3600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Instant S/4 Market P&amp;L – aligned with GPM &amp; GPM+ structure - (will include the key dimensions like Brand Family and Product Type)</a:t>
            </a:r>
            <a:endParaRPr kumimoji="0" lang="en-GB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ＭＳ Ｐゴシック" charset="0"/>
              <a:cs typeface="+mn-cs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5E806A4-7ACC-4039-A778-6A6CA9B20B50}"/>
              </a:ext>
            </a:extLst>
          </p:cNvPr>
          <p:cNvSpPr/>
          <p:nvPr/>
        </p:nvSpPr>
        <p:spPr>
          <a:xfrm>
            <a:off x="8050913" y="3513738"/>
            <a:ext cx="1837777" cy="420686"/>
          </a:xfrm>
          <a:prstGeom prst="roundRect">
            <a:avLst/>
          </a:prstGeom>
          <a:solidFill>
            <a:srgbClr val="00BDB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CDS views standard queries**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99E21C2-8508-4930-AC75-18470CB6BC06}"/>
              </a:ext>
            </a:extLst>
          </p:cNvPr>
          <p:cNvSpPr/>
          <p:nvPr/>
        </p:nvSpPr>
        <p:spPr>
          <a:xfrm>
            <a:off x="9979984" y="3511160"/>
            <a:ext cx="1653209" cy="420686"/>
          </a:xfrm>
          <a:prstGeom prst="roundRect">
            <a:avLst/>
          </a:prstGeom>
          <a:solidFill>
            <a:srgbClr val="00BDB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Set of predefined workbooks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020B196-7FFF-4C33-8578-CC235663E1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6989" y="4060002"/>
            <a:ext cx="964014" cy="964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A31E467-10F8-4582-A51C-94BB872CE5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3474"/>
          <a:stretch/>
        </p:blipFill>
        <p:spPr>
          <a:xfrm>
            <a:off x="8050914" y="3952458"/>
            <a:ext cx="1837777" cy="178430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1025FFD-8158-447F-9B6D-B2A0C8DEFC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9967" y="3484018"/>
            <a:ext cx="2852402" cy="1803404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83D04FD-7D54-4377-B670-5A8EBC433552}"/>
              </a:ext>
            </a:extLst>
          </p:cNvPr>
          <p:cNvSpPr/>
          <p:nvPr/>
        </p:nvSpPr>
        <p:spPr bwMode="auto">
          <a:xfrm>
            <a:off x="297719" y="2423721"/>
            <a:ext cx="3691192" cy="3379486"/>
          </a:xfrm>
          <a:prstGeom prst="roundRect">
            <a:avLst>
              <a:gd name="adj" fmla="val 0"/>
            </a:avLst>
          </a:prstGeom>
          <a:solidFill>
            <a:srgbClr val="00BDB7">
              <a:alpha val="22000"/>
            </a:srgbClr>
          </a:solidFill>
          <a:ln>
            <a:noFill/>
          </a:ln>
          <a:effectLst/>
        </p:spPr>
        <p:txBody>
          <a:bodyPr vert="horz" wrap="square" lIns="0" tIns="0" rIns="0" bIns="0" numCol="1" rtlCol="0" anchor="t" anchorCtr="1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sng" strike="noStrike" kern="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ＭＳ Ｐゴシック" pitchFamily="80" charset="-128"/>
              <a:cs typeface="Arial" charset="0"/>
            </a:endParaRP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7F6AB19B-9C06-405F-9451-790DD7DCC949}"/>
              </a:ext>
            </a:extLst>
          </p:cNvPr>
          <p:cNvSpPr/>
          <p:nvPr/>
        </p:nvSpPr>
        <p:spPr>
          <a:xfrm rot="19894031">
            <a:off x="6540536" y="4539703"/>
            <a:ext cx="329202" cy="373746"/>
          </a:xfrm>
          <a:prstGeom prst="downArrow">
            <a:avLst/>
          </a:prstGeom>
          <a:solidFill>
            <a:srgbClr val="FFFFFF">
              <a:lumMod val="65000"/>
            </a:srgbClr>
          </a:solidFill>
          <a:ln w="1270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8" name="Content Placeholder 5">
            <a:extLst>
              <a:ext uri="{FF2B5EF4-FFF2-40B4-BE49-F238E27FC236}">
                <a16:creationId xmlns:a16="http://schemas.microsoft.com/office/drawing/2014/main" id="{8F5B053D-6845-446C-9445-E6FCF51595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190" y="4925366"/>
            <a:ext cx="1781630" cy="649608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7ECDD7D-9158-473B-B1ED-A3348BDB3899}"/>
              </a:ext>
            </a:extLst>
          </p:cNvPr>
          <p:cNvSpPr/>
          <p:nvPr/>
        </p:nvSpPr>
        <p:spPr>
          <a:xfrm>
            <a:off x="6934508" y="3923434"/>
            <a:ext cx="700243" cy="973321"/>
          </a:xfrm>
          <a:prstGeom prst="roundRect">
            <a:avLst/>
          </a:prstGeom>
          <a:solidFill>
            <a:srgbClr val="FFFFFF">
              <a:lumMod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Drill down to </a:t>
            </a:r>
            <a:r>
              <a:rPr lang="en-US" sz="1000" kern="0">
                <a:solidFill>
                  <a:srgbClr val="000000"/>
                </a:solidFill>
                <a:latin typeface="Arial" panose="020B0604020202020204"/>
              </a:rPr>
              <a:t>FAGLLO3H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Rectangular Callout 18">
            <a:extLst>
              <a:ext uri="{FF2B5EF4-FFF2-40B4-BE49-F238E27FC236}">
                <a16:creationId xmlns:a16="http://schemas.microsoft.com/office/drawing/2014/main" id="{A8F99C49-304F-43AD-AA94-7852EAC2B88D}"/>
              </a:ext>
            </a:extLst>
          </p:cNvPr>
          <p:cNvSpPr/>
          <p:nvPr/>
        </p:nvSpPr>
        <p:spPr bwMode="auto">
          <a:xfrm>
            <a:off x="341691" y="2502959"/>
            <a:ext cx="3458985" cy="898976"/>
          </a:xfrm>
          <a:prstGeom prst="wedgeRectCallout">
            <a:avLst>
              <a:gd name="adj1" fmla="val 7705"/>
              <a:gd name="adj2" fmla="val 42470"/>
            </a:avLst>
          </a:prstGeom>
          <a:solidFill>
            <a:srgbClr val="FFFFFF"/>
          </a:solidFill>
          <a:ln w="12700" cap="flat" cmpd="sng" algn="ctr">
            <a:solidFill>
              <a:srgbClr val="88D5B8"/>
            </a:solidFill>
            <a:prstDash val="solid"/>
            <a:miter lim="800000"/>
          </a:ln>
          <a:effectLst/>
        </p:spPr>
        <p:txBody>
          <a:bodyPr vert="horz" wrap="square" lIns="36000" tIns="3600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Instant S/4 Market P&amp;L – aligned with GPM &amp; GPM+ structure - (will include the key dimensions like Brand Family and Product Type)</a:t>
            </a:r>
            <a:endParaRPr kumimoji="0" lang="en-GB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ＭＳ Ｐゴシック" charset="0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6A782D-8E2F-4035-ACB3-41DC81B3A406}"/>
              </a:ext>
            </a:extLst>
          </p:cNvPr>
          <p:cNvSpPr txBox="1"/>
          <p:nvPr/>
        </p:nvSpPr>
        <p:spPr>
          <a:xfrm>
            <a:off x="10147987" y="5136775"/>
            <a:ext cx="1295478" cy="28024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ＭＳ Ｐゴシック" pitchFamily="80" charset="-128"/>
                <a:cs typeface="+mn-cs"/>
              </a:rPr>
              <a:t>NB! Save the work books in a local folder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ＭＳ Ｐゴシック" pitchFamily="80" charset="-128"/>
              <a:cs typeface="Arial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E4E24F1-6B08-4F65-B26C-2C52D45E929F}"/>
              </a:ext>
            </a:extLst>
          </p:cNvPr>
          <p:cNvSpPr/>
          <p:nvPr/>
        </p:nvSpPr>
        <p:spPr>
          <a:xfrm>
            <a:off x="297720" y="1887093"/>
            <a:ext cx="3691192" cy="463826"/>
          </a:xfrm>
          <a:prstGeom prst="roundRect">
            <a:avLst/>
          </a:prstGeom>
          <a:gradFill rotWithShape="1">
            <a:gsLst>
              <a:gs pos="0">
                <a:srgbClr val="00BDB7">
                  <a:satMod val="103000"/>
                  <a:lumMod val="102000"/>
                  <a:tint val="94000"/>
                </a:srgbClr>
              </a:gs>
              <a:gs pos="50000">
                <a:srgbClr val="00BDB7">
                  <a:satMod val="110000"/>
                  <a:lumMod val="100000"/>
                  <a:shade val="100000"/>
                </a:srgbClr>
              </a:gs>
              <a:gs pos="100000">
                <a:srgbClr val="00BDB7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 charset="0"/>
              </a:rPr>
              <a:t>1. GL Line Item Browser FAGLL03H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51356E6-C00A-43A6-9F07-E74598EC50E8}"/>
              </a:ext>
            </a:extLst>
          </p:cNvPr>
          <p:cNvSpPr/>
          <p:nvPr/>
        </p:nvSpPr>
        <p:spPr>
          <a:xfrm>
            <a:off x="4049898" y="1887093"/>
            <a:ext cx="3691192" cy="463826"/>
          </a:xfrm>
          <a:prstGeom prst="roundRect">
            <a:avLst/>
          </a:prstGeom>
          <a:gradFill rotWithShape="1">
            <a:gsLst>
              <a:gs pos="0">
                <a:srgbClr val="00BDB7">
                  <a:satMod val="103000"/>
                  <a:lumMod val="102000"/>
                  <a:tint val="94000"/>
                </a:srgbClr>
              </a:gs>
              <a:gs pos="50000">
                <a:srgbClr val="00BDB7">
                  <a:satMod val="110000"/>
                  <a:lumMod val="100000"/>
                  <a:shade val="100000"/>
                </a:srgbClr>
              </a:gs>
              <a:gs pos="100000">
                <a:srgbClr val="00BDB7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 charset="0"/>
              </a:rPr>
              <a:t>2. Market P/L (GR55 – Z4PL)*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33AAAC6-256A-499E-A487-FB93B7ED8371}"/>
              </a:ext>
            </a:extLst>
          </p:cNvPr>
          <p:cNvSpPr/>
          <p:nvPr/>
        </p:nvSpPr>
        <p:spPr>
          <a:xfrm>
            <a:off x="7840467" y="1887093"/>
            <a:ext cx="3905629" cy="463826"/>
          </a:xfrm>
          <a:prstGeom prst="roundRect">
            <a:avLst/>
          </a:prstGeom>
          <a:gradFill rotWithShape="1">
            <a:gsLst>
              <a:gs pos="0">
                <a:srgbClr val="00BDB7">
                  <a:satMod val="103000"/>
                  <a:lumMod val="102000"/>
                  <a:tint val="94000"/>
                </a:srgbClr>
              </a:gs>
              <a:gs pos="50000">
                <a:srgbClr val="00BDB7">
                  <a:satMod val="110000"/>
                  <a:lumMod val="100000"/>
                  <a:shade val="100000"/>
                </a:srgbClr>
              </a:gs>
              <a:gs pos="100000">
                <a:srgbClr val="00BDB7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 charset="0"/>
              </a:rPr>
              <a:t>3. CDS Views/Queries (AFO)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655ABD1-7491-4100-9369-BD0A98BFD6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599" y="3511160"/>
            <a:ext cx="3116759" cy="1240454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3F8466DB-D6BF-432E-84BB-3E71B14C0D6D}"/>
              </a:ext>
            </a:extLst>
          </p:cNvPr>
          <p:cNvGrpSpPr/>
          <p:nvPr/>
        </p:nvGrpSpPr>
        <p:grpSpPr>
          <a:xfrm>
            <a:off x="10728063" y="943407"/>
            <a:ext cx="1117410" cy="1075601"/>
            <a:chOff x="2977913" y="2550708"/>
            <a:chExt cx="1384644" cy="1358910"/>
          </a:xfrm>
        </p:grpSpPr>
        <p:pic>
          <p:nvPicPr>
            <p:cNvPr id="24" name="Placeholder">
              <a:extLst>
                <a:ext uri="{FF2B5EF4-FFF2-40B4-BE49-F238E27FC236}">
                  <a16:creationId xmlns:a16="http://schemas.microsoft.com/office/drawing/2014/main" id="{1DAC613C-8D23-42B8-A320-447B9DF7E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77913" y="2550708"/>
              <a:ext cx="1384644" cy="1358910"/>
            </a:xfrm>
            <a:prstGeom prst="rect">
              <a:avLst/>
            </a:prstGeom>
            <a:solidFill>
              <a:srgbClr val="122632"/>
            </a:solidFill>
            <a:extLst>
              <a:ext uri="{FAA26D3D-D897-4be2-8F04-BA451C77F1D7}">
                <ma14:placeholderFlag xmlns="" xmlns:ma14="http://schemas.microsoft.com/office/mac/drawingml/2011/main" val="1"/>
              </a:ext>
            </a:extLst>
          </p:spPr>
        </p:pic>
        <p:sp>
          <p:nvSpPr>
            <p:cNvPr id="25" name="Rounded Rectangle 48">
              <a:extLst>
                <a:ext uri="{FF2B5EF4-FFF2-40B4-BE49-F238E27FC236}">
                  <a16:creationId xmlns:a16="http://schemas.microsoft.com/office/drawing/2014/main" id="{D14CC4BB-ED1A-46D3-84E1-FDE0EEB394DB}"/>
                </a:ext>
              </a:extLst>
            </p:cNvPr>
            <p:cNvSpPr/>
            <p:nvPr/>
          </p:nvSpPr>
          <p:spPr bwMode="auto">
            <a:xfrm>
              <a:off x="3326798" y="2806331"/>
              <a:ext cx="686871" cy="382833"/>
            </a:xfrm>
            <a:prstGeom prst="roundRect">
              <a:avLst/>
            </a:prstGeom>
            <a:solidFill>
              <a:srgbClr val="00BDB7"/>
            </a:solidFill>
            <a:ln>
              <a:noFill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rgbClr val="122632"/>
                  </a:solidFill>
                  <a:effectLst/>
                  <a:uLnTx/>
                  <a:uFillTx/>
                  <a:latin typeface="Arial" panose="020B0604020202020204"/>
                  <a:ea typeface="ＭＳ Ｐゴシック" charset="0"/>
                  <a:cs typeface="+mn-cs"/>
                </a:rPr>
                <a:t>Instant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91797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C78D7-57F0-4516-B7E0-C23F9900A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 Line Item Browser FAGLL03H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AD3743-9108-4146-93EF-CD04DFD20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Presentation title in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C3B49D-2DC5-476D-9D8F-142C67F48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C94289-3309-4C35-850A-56FD49B3E346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" name="Content Placeholder 7">
            <a:extLst>
              <a:ext uri="{FF2B5EF4-FFF2-40B4-BE49-F238E27FC236}">
                <a16:creationId xmlns:a16="http://schemas.microsoft.com/office/drawing/2014/main" id="{1EAE41AD-1A66-41B1-B676-2BE434F27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37" y="1541482"/>
            <a:ext cx="9626565" cy="4924631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09F47DF-11FC-48DD-9CFA-DED4879BEDDE}"/>
              </a:ext>
            </a:extLst>
          </p:cNvPr>
          <p:cNvGraphicFramePr>
            <a:graphicFrameLocks noGrp="1"/>
          </p:cNvGraphicFramePr>
          <p:nvPr/>
        </p:nvGraphicFramePr>
        <p:xfrm>
          <a:off x="7176801" y="3792518"/>
          <a:ext cx="4499262" cy="1524000"/>
        </p:xfrm>
        <a:graphic>
          <a:graphicData uri="http://schemas.openxmlformats.org/drawingml/2006/table">
            <a:tbl>
              <a:tblPr firstRow="1" bandRow="1"/>
              <a:tblGrid>
                <a:gridCol w="4499262">
                  <a:extLst>
                    <a:ext uri="{9D8B030D-6E8A-4147-A177-3AD203B41FA5}">
                      <a16:colId xmlns:a16="http://schemas.microsoft.com/office/drawing/2014/main" val="3847836094"/>
                    </a:ext>
                  </a:extLst>
                </a:gridCol>
              </a:tblGrid>
              <a:tr h="20470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endParaRPr lang="en-US" sz="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00BDB7"/>
                      </a:solidFill>
                    </a:lnT>
                    <a:lnB w="12700" cmpd="sng">
                      <a:solidFill>
                        <a:srgbClr val="00BDB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1244950"/>
                  </a:ext>
                </a:extLst>
              </a:tr>
              <a:tr h="129057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600" b="1" dirty="0"/>
                        <a:t>FAGLL03H is the S4 version of R3 legacy GL Line Items report FBL3N</a:t>
                      </a:r>
                    </a:p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600" b="1" dirty="0"/>
                    </a:p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600" b="1" dirty="0"/>
                        <a:t>The front end should be very familiar to those who have used FBL3N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00BDB7"/>
                      </a:solidFill>
                    </a:lnT>
                    <a:lnB w="12700" cmpd="sng">
                      <a:solidFill>
                        <a:srgbClr val="00BDB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DB7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324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8589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C78D7-57F0-4516-B7E0-C23F9900A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 GL Line Item Browser FAGLL03H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AD3743-9108-4146-93EF-CD04DFD20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Presentation title in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C3B49D-2DC5-476D-9D8F-142C67F48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C94289-3309-4C35-850A-56FD49B3E346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7F1C42-05F2-4EC3-BBD4-0CE58D997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38" y="2239306"/>
            <a:ext cx="10837863" cy="4313413"/>
          </a:xfrm>
          <a:prstGeom prst="rect">
            <a:avLst/>
          </a:prstGeom>
        </p:spPr>
      </p:pic>
      <p:sp>
        <p:nvSpPr>
          <p:cNvPr id="7" name="Rectangular Callout 18">
            <a:extLst>
              <a:ext uri="{FF2B5EF4-FFF2-40B4-BE49-F238E27FC236}">
                <a16:creationId xmlns:a16="http://schemas.microsoft.com/office/drawing/2014/main" id="{01EF223A-9713-44F8-B3E9-D5C105F2F10B}"/>
              </a:ext>
            </a:extLst>
          </p:cNvPr>
          <p:cNvSpPr/>
          <p:nvPr/>
        </p:nvSpPr>
        <p:spPr bwMode="auto">
          <a:xfrm>
            <a:off x="9505848" y="1864410"/>
            <a:ext cx="2369820" cy="1196470"/>
          </a:xfrm>
          <a:prstGeom prst="wedgeRectCallout">
            <a:avLst>
              <a:gd name="adj1" fmla="val -44001"/>
              <a:gd name="adj2" fmla="val 62463"/>
            </a:avLst>
          </a:prstGeom>
          <a:solidFill>
            <a:srgbClr val="FFFFFF"/>
          </a:solidFill>
          <a:ln w="12700" cap="flat" cmpd="sng" algn="ctr">
            <a:solidFill>
              <a:srgbClr val="88D5B8"/>
            </a:solidFill>
            <a:prstDash val="solid"/>
            <a:miter lim="800000"/>
          </a:ln>
          <a:effectLst/>
        </p:spPr>
        <p:txBody>
          <a:bodyPr vert="horz" wrap="square" lIns="36000" tIns="3600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Screenshot shows few dimensions but will display all ACDOCA dimensions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 will create a default layout which can then be tailored </a:t>
            </a:r>
            <a:endParaRPr kumimoji="0" lang="en-GB" sz="105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/>
            </a:endParaRPr>
          </a:p>
        </p:txBody>
      </p:sp>
      <p:sp>
        <p:nvSpPr>
          <p:cNvPr id="8" name="Rectangular Callout 18">
            <a:extLst>
              <a:ext uri="{FF2B5EF4-FFF2-40B4-BE49-F238E27FC236}">
                <a16:creationId xmlns:a16="http://schemas.microsoft.com/office/drawing/2014/main" id="{06E21F7A-A711-44F9-BB17-5EA9F06D2505}"/>
              </a:ext>
            </a:extLst>
          </p:cNvPr>
          <p:cNvSpPr/>
          <p:nvPr/>
        </p:nvSpPr>
        <p:spPr bwMode="auto">
          <a:xfrm>
            <a:off x="515938" y="1443023"/>
            <a:ext cx="2369820" cy="1196470"/>
          </a:xfrm>
          <a:prstGeom prst="wedgeRectCallout">
            <a:avLst>
              <a:gd name="adj1" fmla="val 1600"/>
              <a:gd name="adj2" fmla="val 63331"/>
            </a:avLst>
          </a:prstGeom>
          <a:solidFill>
            <a:srgbClr val="FFFFFF"/>
          </a:solidFill>
          <a:ln w="12700" cap="flat" cmpd="sng" algn="ctr">
            <a:solidFill>
              <a:srgbClr val="88D5B8"/>
            </a:solidFill>
            <a:prstDash val="solid"/>
            <a:miter lim="800000"/>
          </a:ln>
          <a:effectLst/>
        </p:spPr>
        <p:txBody>
          <a:bodyPr vert="horz" wrap="square" lIns="36000" tIns="3600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Drill down from GR55 will be into the default layout of the GL Line Item Browser report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</a:t>
            </a:r>
            <a:r>
              <a:rPr kumimoji="0" lang="en-GB" sz="105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his can be accessed on its own via </a:t>
            </a:r>
            <a:r>
              <a:rPr kumimoji="0" lang="en-GB" sz="105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Tcode</a:t>
            </a:r>
            <a:r>
              <a:rPr kumimoji="0" lang="en-GB" sz="105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FAGLL03H and will be familiar to those who use FBL3n</a:t>
            </a:r>
          </a:p>
        </p:txBody>
      </p:sp>
    </p:spTree>
    <p:extLst>
      <p:ext uri="{BB962C8B-B14F-4D97-AF65-F5344CB8AC3E}">
        <p14:creationId xmlns:p14="http://schemas.microsoft.com/office/powerpoint/2010/main" val="769067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C78D7-57F0-4516-B7E0-C23F9900A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S/4 Market P&amp;L (GR55 – Z4PL) 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AD3743-9108-4146-93EF-CD04DFD20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Presentation title in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C3B49D-2DC5-476D-9D8F-142C67F48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C94289-3309-4C35-850A-56FD49B3E346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C8B2ECB-93FE-4646-9F5E-8F785BD32B86}"/>
              </a:ext>
            </a:extLst>
          </p:cNvPr>
          <p:cNvSpPr/>
          <p:nvPr/>
        </p:nvSpPr>
        <p:spPr bwMode="auto">
          <a:xfrm>
            <a:off x="4188229" y="1717409"/>
            <a:ext cx="7693132" cy="4695191"/>
          </a:xfrm>
          <a:prstGeom prst="roundRect">
            <a:avLst>
              <a:gd name="adj" fmla="val 0"/>
            </a:avLst>
          </a:prstGeom>
          <a:solidFill>
            <a:srgbClr val="FFFFFF">
              <a:lumMod val="95000"/>
            </a:srgbClr>
          </a:solidFill>
          <a:ln>
            <a:noFill/>
          </a:ln>
          <a:effectLst/>
        </p:spPr>
        <p:txBody>
          <a:bodyPr vert="horz" wrap="square" lIns="0" tIns="0" rIns="0" bIns="0" numCol="1" rtlCol="0" anchor="t" anchorCtr="1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ＭＳ Ｐゴシック" pitchFamily="80" charset="-128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44C771-C240-4659-9107-5F4A9E0F0567}"/>
              </a:ext>
            </a:extLst>
          </p:cNvPr>
          <p:cNvSpPr txBox="1"/>
          <p:nvPr/>
        </p:nvSpPr>
        <p:spPr>
          <a:xfrm>
            <a:off x="4268128" y="6037315"/>
            <a:ext cx="7597626" cy="30520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ＭＳ Ｐゴシック" pitchFamily="80" charset="-128"/>
                <a:cs typeface="+mn-cs"/>
              </a:rPr>
              <a:t>* For Go Live Jan 2020 Market P&amp;L will be seen through GR55 transaction with its traditional format. Option to bring AFO into S-4 will be evaluated post Go Live 2020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ＭＳ Ｐゴシック"/>
                <a:cs typeface="Arial"/>
              </a:rPr>
              <a:t>. Market P&amp;L Lines subject to changes.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/>
              <a:ea typeface="ＭＳ Ｐゴシック" pitchFamily="80" charset="-128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B4B060-EE7E-46A4-83CF-9FBF0346DD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7198" b="75847"/>
          <a:stretch/>
        </p:blipFill>
        <p:spPr>
          <a:xfrm>
            <a:off x="1994328" y="1846697"/>
            <a:ext cx="2008688" cy="61563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6649AB8-08C4-4A82-A1E1-0EB13ECE5F0B}"/>
              </a:ext>
            </a:extLst>
          </p:cNvPr>
          <p:cNvGrpSpPr/>
          <p:nvPr/>
        </p:nvGrpSpPr>
        <p:grpSpPr>
          <a:xfrm>
            <a:off x="1700327" y="2884620"/>
            <a:ext cx="2327049" cy="366870"/>
            <a:chOff x="1416690" y="2801616"/>
            <a:chExt cx="2196882" cy="28735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3855BE5-06F5-468D-A5AE-E51E2A2380F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07" t="74002" r="76724" b="7082"/>
            <a:stretch/>
          </p:blipFill>
          <p:spPr>
            <a:xfrm>
              <a:off x="1416690" y="2801616"/>
              <a:ext cx="763293" cy="287357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D1A0EC1-CF0D-43F7-8BF9-BFEC6BCA24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2458" t="76539" r="2858" b="4545"/>
            <a:stretch/>
          </p:blipFill>
          <p:spPr>
            <a:xfrm>
              <a:off x="2122137" y="2801616"/>
              <a:ext cx="1491435" cy="287357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BB729569-A4A9-4700-A929-1FDEC3FF3B0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47" r="7482"/>
          <a:stretch/>
        </p:blipFill>
        <p:spPr>
          <a:xfrm>
            <a:off x="9824664" y="2235212"/>
            <a:ext cx="1833270" cy="365251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6F4C0C1-594B-4171-AA67-BD7E85983FFD}"/>
              </a:ext>
            </a:extLst>
          </p:cNvPr>
          <p:cNvSpPr/>
          <p:nvPr/>
        </p:nvSpPr>
        <p:spPr>
          <a:xfrm>
            <a:off x="4316505" y="2589279"/>
            <a:ext cx="139148" cy="179432"/>
          </a:xfrm>
          <a:prstGeom prst="rect">
            <a:avLst/>
          </a:prstGeom>
          <a:solidFill>
            <a:srgbClr val="88D5B8">
              <a:lumMod val="60000"/>
              <a:lumOff val="40000"/>
            </a:srgbClr>
          </a:solidFill>
          <a:ln w="12700" cap="flat" cmpd="sng" algn="ctr">
            <a:solidFill>
              <a:srgbClr val="00BDB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2D7EFF-E9F9-4A94-A2D1-C0D9442AF8B6}"/>
              </a:ext>
            </a:extLst>
          </p:cNvPr>
          <p:cNvSpPr/>
          <p:nvPr/>
        </p:nvSpPr>
        <p:spPr>
          <a:xfrm>
            <a:off x="4363926" y="2683488"/>
            <a:ext cx="139148" cy="179432"/>
          </a:xfrm>
          <a:prstGeom prst="rect">
            <a:avLst/>
          </a:prstGeom>
          <a:solidFill>
            <a:srgbClr val="88D5B8">
              <a:lumMod val="60000"/>
              <a:lumOff val="40000"/>
            </a:srgbClr>
          </a:solidFill>
          <a:ln w="12700" cap="flat" cmpd="sng" algn="ctr">
            <a:solidFill>
              <a:srgbClr val="00BDB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61A5E7-0B2E-4253-A811-EA3552C6AE82}"/>
              </a:ext>
            </a:extLst>
          </p:cNvPr>
          <p:cNvSpPr/>
          <p:nvPr/>
        </p:nvSpPr>
        <p:spPr>
          <a:xfrm>
            <a:off x="4368476" y="2883779"/>
            <a:ext cx="139148" cy="179432"/>
          </a:xfrm>
          <a:prstGeom prst="rect">
            <a:avLst/>
          </a:prstGeom>
          <a:solidFill>
            <a:srgbClr val="88D5B8">
              <a:lumMod val="60000"/>
              <a:lumOff val="40000"/>
            </a:srgbClr>
          </a:solidFill>
          <a:ln w="12700" cap="flat" cmpd="sng" algn="ctr">
            <a:solidFill>
              <a:srgbClr val="00BDB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66A4BA-A219-46CC-886B-4FF7415FB31C}"/>
              </a:ext>
            </a:extLst>
          </p:cNvPr>
          <p:cNvSpPr/>
          <p:nvPr/>
        </p:nvSpPr>
        <p:spPr>
          <a:xfrm>
            <a:off x="7659429" y="3064301"/>
            <a:ext cx="139148" cy="179432"/>
          </a:xfrm>
          <a:prstGeom prst="rect">
            <a:avLst/>
          </a:prstGeom>
          <a:solidFill>
            <a:srgbClr val="88D5B8">
              <a:lumMod val="60000"/>
              <a:lumOff val="40000"/>
            </a:srgbClr>
          </a:solidFill>
          <a:ln w="12700" cap="flat" cmpd="sng" algn="ctr">
            <a:solidFill>
              <a:srgbClr val="00BDB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59ACC6-03D3-4CC6-9F96-CAC12594D6EB}"/>
              </a:ext>
            </a:extLst>
          </p:cNvPr>
          <p:cNvSpPr/>
          <p:nvPr/>
        </p:nvSpPr>
        <p:spPr>
          <a:xfrm>
            <a:off x="9809319" y="2408716"/>
            <a:ext cx="139148" cy="179432"/>
          </a:xfrm>
          <a:prstGeom prst="rect">
            <a:avLst/>
          </a:prstGeom>
          <a:solidFill>
            <a:srgbClr val="88D5B8">
              <a:lumMod val="60000"/>
              <a:lumOff val="40000"/>
            </a:srgbClr>
          </a:solidFill>
          <a:ln w="12700" cap="flat" cmpd="sng" algn="ctr">
            <a:solidFill>
              <a:srgbClr val="00BDB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3F7D568-40FF-4CA8-A78B-AE5D3BF87D46}"/>
              </a:ext>
            </a:extLst>
          </p:cNvPr>
          <p:cNvSpPr/>
          <p:nvPr/>
        </p:nvSpPr>
        <p:spPr>
          <a:xfrm>
            <a:off x="4381139" y="3313140"/>
            <a:ext cx="139148" cy="179432"/>
          </a:xfrm>
          <a:prstGeom prst="rect">
            <a:avLst/>
          </a:prstGeom>
          <a:solidFill>
            <a:srgbClr val="88D5B8">
              <a:lumMod val="60000"/>
              <a:lumOff val="40000"/>
            </a:srgbClr>
          </a:solidFill>
          <a:ln w="12700" cap="flat" cmpd="sng" algn="ctr">
            <a:solidFill>
              <a:srgbClr val="00BDB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69D534EA-E829-4B7D-9FD4-2B52DB781F49}"/>
              </a:ext>
            </a:extLst>
          </p:cNvPr>
          <p:cNvSpPr txBox="1">
            <a:spLocks/>
          </p:cNvSpPr>
          <p:nvPr/>
        </p:nvSpPr>
        <p:spPr>
          <a:xfrm>
            <a:off x="401122" y="1734333"/>
            <a:ext cx="3684821" cy="4668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vert="horz" lIns="91440" tIns="45720" rIns="91440" bIns="45720" rtlCol="0">
            <a:noAutofit/>
          </a:bodyPr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1999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799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9863" marR="0" lvl="0" indent="-169863" algn="l" defTabSz="91412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Tcode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 </a:t>
            </a:r>
          </a:p>
          <a:p>
            <a:pPr marL="169863" marR="0" lvl="0" indent="-169863" algn="l" defTabSz="91412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  <a:p>
            <a:pPr marL="169863" marR="0" lvl="0" indent="-169863" algn="l" defTabSz="91412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Report Group</a:t>
            </a:r>
          </a:p>
          <a:p>
            <a:pPr marL="169863" marR="0" lvl="0" indent="-169863" algn="l" defTabSz="91412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  <a:p>
            <a:pPr marL="169863" marR="0" lvl="0" indent="-169863" algn="l" defTabSz="91412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  <a:p>
            <a:pPr marL="169863" marR="0" lvl="0" indent="-169863" algn="l" defTabSz="91412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Dimensions </a:t>
            </a:r>
          </a:p>
          <a:p>
            <a:pPr marL="228531" marR="0" lvl="0" indent="-228531" algn="l" defTabSz="914126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Profit Center / Brand Family / Product Type </a:t>
            </a:r>
          </a:p>
          <a:p>
            <a:pPr marL="228531" marR="0" lvl="0" indent="-228531" algn="l" defTabSz="914126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Dimensions are </a:t>
            </a:r>
            <a:r>
              <a:rPr kumimoji="0" lang="en-US" sz="1400" b="1" i="1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static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 and can help spot unallocated postings. For dynamic reports it is recommended to use </a:t>
            </a:r>
            <a:r>
              <a:rPr kumimoji="0" lang="en-US" sz="1400" b="0" i="1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CDS Query functionality (Analysis for Office)</a:t>
            </a:r>
          </a:p>
          <a:p>
            <a:pPr marL="228531" marR="0" lvl="0" indent="-228531" algn="l" defTabSz="914126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Drill down of P&amp;L lines to FAGLL03H. To note that drill down will show all postings to the specific JTIO which can result in a different total of the Market P&amp;L in case JTIOs have multiple Functional Areas as it is also currently the case.</a:t>
            </a:r>
          </a:p>
          <a:p>
            <a:pPr marL="169863" marR="0" lvl="0" indent="-169863" algn="l" defTabSz="91412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5427B21-1492-44B7-A752-3B620175E9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3209" y="1870088"/>
            <a:ext cx="4599897" cy="248754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7E1CF04-00C7-4AF0-A6A1-26B3049994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6592" y="3054266"/>
            <a:ext cx="1890806" cy="2825404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492E3B6-4B4D-4431-8921-0596B874E4B3}"/>
              </a:ext>
            </a:extLst>
          </p:cNvPr>
          <p:cNvSpPr/>
          <p:nvPr/>
        </p:nvSpPr>
        <p:spPr>
          <a:xfrm rot="1283172">
            <a:off x="7672374" y="2345135"/>
            <a:ext cx="1348571" cy="338165"/>
          </a:xfrm>
          <a:prstGeom prst="roundRect">
            <a:avLst/>
          </a:prstGeom>
          <a:solidFill>
            <a:srgbClr val="00BDB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Example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 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2235249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AB312-4CB9-4327-B575-59104B3A1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S/4 CDS Query functionality with AFO (excel)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057AA6-C369-4B76-8FAF-400B0A75E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Presentation title in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DAFCB-272A-4003-906E-2C6B12ECB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C94289-3309-4C35-850A-56FD49B3E346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98D4239-60CB-4581-B78A-B481C42A4B72}"/>
              </a:ext>
            </a:extLst>
          </p:cNvPr>
          <p:cNvSpPr/>
          <p:nvPr/>
        </p:nvSpPr>
        <p:spPr bwMode="auto">
          <a:xfrm>
            <a:off x="6208644" y="1458859"/>
            <a:ext cx="5764695" cy="5004201"/>
          </a:xfrm>
          <a:prstGeom prst="roundRect">
            <a:avLst>
              <a:gd name="adj" fmla="val 0"/>
            </a:avLst>
          </a:prstGeom>
          <a:solidFill>
            <a:srgbClr val="FFFFFF">
              <a:lumMod val="95000"/>
            </a:srgbClr>
          </a:solidFill>
          <a:ln>
            <a:noFill/>
          </a:ln>
          <a:effectLst/>
        </p:spPr>
        <p:txBody>
          <a:bodyPr vert="horz" wrap="square" lIns="0" tIns="0" rIns="0" bIns="0" numCol="1" rtlCol="0" anchor="t" anchorCtr="1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1" i="0" u="sng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ＭＳ Ｐゴシック" pitchFamily="80" charset="-128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8DDD5B-FF59-4F83-B5EE-66CD52BBA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0587" y="1501845"/>
            <a:ext cx="5562201" cy="4681559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3DB055BE-D48A-4D4B-96E5-7A384ACAD7DB}"/>
              </a:ext>
            </a:extLst>
          </p:cNvPr>
          <p:cNvSpPr txBox="1">
            <a:spLocks/>
          </p:cNvSpPr>
          <p:nvPr/>
        </p:nvSpPr>
        <p:spPr>
          <a:xfrm>
            <a:off x="331304" y="1458859"/>
            <a:ext cx="5764695" cy="5004201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lumMod val="8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Autofit/>
          </a:bodyPr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1999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799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9863" marR="0" lvl="0" indent="-169863" algn="l" defTabSz="91412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CDS views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(Core Data Services) are built on existing S/4 database tables and views, to provide efficient way of data modelling. </a:t>
            </a:r>
          </a:p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  <a:p>
            <a:pPr marL="169863" marR="0" lvl="0" indent="-169863" algn="l" defTabSz="91412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“Analysis for Office” (AO)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is used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similarly to how BW / GPM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reports are ran through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excel. Reports / workbooks can be saved and refreshed. </a:t>
            </a:r>
          </a:p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  <a:p>
            <a:pPr marL="169863" marR="0" lvl="0" indent="-169863" algn="l" defTabSz="91412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“Slice and Dice” functionality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by selecting in a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dynamic manner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FI&amp;CO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dimensions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to meet specific needs.</a:t>
            </a:r>
          </a:p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  <a:p>
            <a:pPr marL="169863" marR="0" lvl="0" indent="-169863" algn="l" defTabSz="91412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Selection criteria, characteristics and key figures are being enhanced to meet JTI reporting requirements in the following SAP S4 HANA standard CDS views:</a:t>
            </a:r>
          </a:p>
          <a:p>
            <a:pPr marL="685594" marR="0" lvl="1" indent="-228531" algn="l" defTabSz="914126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G/L Account Balance Cube</a:t>
            </a:r>
          </a:p>
          <a:p>
            <a:pPr marL="685594" marR="0" lvl="1" indent="-228531" algn="l" defTabSz="914126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G/L Account Balance Comparison Cube</a:t>
            </a:r>
          </a:p>
          <a:p>
            <a:pPr marL="685594" marR="0" lvl="1" indent="-228531" algn="l" defTabSz="914126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Accounting Journal Entry Item Cube</a:t>
            </a:r>
          </a:p>
          <a:p>
            <a:pPr marL="685594" marR="0" lvl="1" indent="-228531" algn="l" defTabSz="914126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G/L Line Items Cube</a:t>
            </a:r>
          </a:p>
          <a:p>
            <a:pPr marL="685594" marR="0" lvl="1" indent="-228531" algn="l" defTabSz="914126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GL  Account Master Cube </a:t>
            </a:r>
          </a:p>
          <a:p>
            <a:pPr marL="228531" marR="0" lvl="0" indent="-228531" algn="l" defTabSz="914126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Enhanced views will allow end users to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access and analyze transactional data at both account balance and line item levels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in single and multiple ledgers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 including its comparison.</a:t>
            </a:r>
          </a:p>
          <a:p>
            <a:pPr marL="228531" marR="0" lvl="0" indent="-228531" algn="l" defTabSz="914126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7499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1EF92-6D8C-4B07-B15D-8E2FC5CC7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Arial"/>
              </a:rPr>
              <a:t>JTI Cost Center Commitment vs Actuals</a:t>
            </a:r>
            <a:endParaRPr lang="en-US" dirty="0"/>
          </a:p>
        </p:txBody>
      </p:sp>
      <p:pic>
        <p:nvPicPr>
          <p:cNvPr id="6" name="Picture 6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4B263232-B7CA-44AA-9D8B-B2EAD32A7A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5937" y="1463576"/>
            <a:ext cx="10762282" cy="4679122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999BA8-D0C6-4AF2-9E84-86157422A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in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E5C5AC-1D5A-4531-B9FC-1AF3B786D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8066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80447-82B6-4956-A8DB-10805738C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JTI Cost Center Commitment vs Actuals</a:t>
            </a:r>
            <a:endParaRPr lang="en-US" b="0" dirty="0">
              <a:ea typeface="+mj-lt"/>
              <a:cs typeface="+mj-lt"/>
            </a:endParaRPr>
          </a:p>
          <a:p>
            <a:r>
              <a:rPr lang="en-US" dirty="0">
                <a:cs typeface="Arial"/>
              </a:rPr>
              <a:t>Key Figures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568E03-6310-427E-AA45-EF8F5427C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in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8F3067-AD27-4005-9651-31BF8C689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10</a:t>
            </a:fld>
            <a:endParaRPr lang="en-GB"/>
          </a:p>
        </p:txBody>
      </p:sp>
      <p:pic>
        <p:nvPicPr>
          <p:cNvPr id="9" name="Picture 9" descr="Table&#10;&#10;Description automatically generated">
            <a:extLst>
              <a:ext uri="{FF2B5EF4-FFF2-40B4-BE49-F238E27FC236}">
                <a16:creationId xmlns:a16="http://schemas.microsoft.com/office/drawing/2014/main" id="{02D6BEA9-19D8-46D6-950A-6C3ED7844E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8619" y="1841335"/>
            <a:ext cx="11543290" cy="4018220"/>
          </a:xfrm>
        </p:spPr>
      </p:pic>
    </p:spTree>
    <p:extLst>
      <p:ext uri="{BB962C8B-B14F-4D97-AF65-F5344CB8AC3E}">
        <p14:creationId xmlns:p14="http://schemas.microsoft.com/office/powerpoint/2010/main" val="1465844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C8F17-A48C-4EDD-B4D7-81E30261D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Arial"/>
              </a:rPr>
              <a:t>JTI Cost Center Commitment vs Actuals</a:t>
            </a:r>
            <a:endParaRPr lang="en-US" b="0" dirty="0">
              <a:ea typeface="+mj-lt"/>
              <a:cs typeface="+mj-lt"/>
            </a:endParaRPr>
          </a:p>
          <a:p>
            <a:r>
              <a:rPr lang="en-US" dirty="0">
                <a:ea typeface="+mj-lt"/>
                <a:cs typeface="+mj-lt"/>
              </a:rPr>
              <a:t>Characteristics</a:t>
            </a:r>
            <a:endParaRPr lang="en-US" b="0" dirty="0">
              <a:ea typeface="+mj-lt"/>
              <a:cs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DEB4A6-BA56-489A-85A4-EAF987641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11</a:t>
            </a:fld>
            <a:endParaRPr lang="en-GB"/>
          </a:p>
        </p:txBody>
      </p:sp>
      <p:pic>
        <p:nvPicPr>
          <p:cNvPr id="9" name="Picture 9" descr="Table&#10;&#10;Description automatically generated">
            <a:extLst>
              <a:ext uri="{FF2B5EF4-FFF2-40B4-BE49-F238E27FC236}">
                <a16:creationId xmlns:a16="http://schemas.microsoft.com/office/drawing/2014/main" id="{A5FFD255-24DF-4BE1-9A80-C4ADC9D6B5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1553" y="1718998"/>
            <a:ext cx="11609953" cy="4268587"/>
          </a:xfrm>
        </p:spPr>
      </p:pic>
    </p:spTree>
    <p:extLst>
      <p:ext uri="{BB962C8B-B14F-4D97-AF65-F5344CB8AC3E}">
        <p14:creationId xmlns:p14="http://schemas.microsoft.com/office/powerpoint/2010/main" val="2150619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77C8EE-9354-442B-B2F0-29C5F6281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A2304-23DC-2B46-BD14-F082077842FF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EF2FBC2-6ED3-4BD0-88C7-ACEA6CD8C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Exercises: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8038BFD-CFF0-4058-80F4-EAC63745796E}"/>
              </a:ext>
            </a:extLst>
          </p:cNvPr>
          <p:cNvSpPr/>
          <p:nvPr/>
        </p:nvSpPr>
        <p:spPr>
          <a:xfrm>
            <a:off x="6919251" y="2640536"/>
            <a:ext cx="4276735" cy="227132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Exercise 1.7: 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FB03L –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Display different document numbers for postings in the different ledgers: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0L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TX</a:t>
            </a:r>
          </a:p>
        </p:txBody>
      </p:sp>
    </p:spTree>
    <p:extLst>
      <p:ext uri="{BB962C8B-B14F-4D97-AF65-F5344CB8AC3E}">
        <p14:creationId xmlns:p14="http://schemas.microsoft.com/office/powerpoint/2010/main" val="4137938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77C8EE-9354-442B-B2F0-29C5F6281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A2304-23DC-2B46-BD14-F082077842FF}" type="slidenum">
              <a: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EF2FBC2-6ED3-4BD0-88C7-ACEA6CD8C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Exercises: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8038BFD-CFF0-4058-80F4-EAC63745796E}"/>
              </a:ext>
            </a:extLst>
          </p:cNvPr>
          <p:cNvSpPr/>
          <p:nvPr/>
        </p:nvSpPr>
        <p:spPr>
          <a:xfrm>
            <a:off x="6919251" y="2640536"/>
            <a:ext cx="4276735" cy="227132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Exercise 1.8 &amp; 1.9: 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KSB1 –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Display cost 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center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line items</a:t>
            </a:r>
          </a:p>
        </p:txBody>
      </p:sp>
    </p:spTree>
    <p:extLst>
      <p:ext uri="{BB962C8B-B14F-4D97-AF65-F5344CB8AC3E}">
        <p14:creationId xmlns:p14="http://schemas.microsoft.com/office/powerpoint/2010/main" val="2780223835"/>
      </p:ext>
    </p:extLst>
  </p:cSld>
  <p:clrMapOvr>
    <a:masterClrMapping/>
  </p:clrMapOvr>
</p:sld>
</file>

<file path=ppt/theme/theme1.xml><?xml version="1.0" encoding="utf-8"?>
<a:theme xmlns:a="http://schemas.openxmlformats.org/drawingml/2006/main" name="S4F-ERP G&amp;A &amp; Marketing Cost Management">
  <a:themeElements>
    <a:clrScheme name="Custom 9">
      <a:dk1>
        <a:srgbClr val="000000"/>
      </a:dk1>
      <a:lt1>
        <a:srgbClr val="FFFFFF"/>
      </a:lt1>
      <a:dk2>
        <a:srgbClr val="1A3040"/>
      </a:dk2>
      <a:lt2>
        <a:srgbClr val="DDDDDD"/>
      </a:lt2>
      <a:accent1>
        <a:srgbClr val="74D9D5"/>
      </a:accent1>
      <a:accent2>
        <a:srgbClr val="EAAA00"/>
      </a:accent2>
      <a:accent3>
        <a:srgbClr val="00B2A9"/>
      </a:accent3>
      <a:accent4>
        <a:srgbClr val="8031A7"/>
      </a:accent4>
      <a:accent5>
        <a:srgbClr val="E782A9"/>
      </a:accent5>
      <a:accent6>
        <a:srgbClr val="407EC9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4F Template" id="{8187A0D7-44D4-4A4B-A36D-CEF7DE641DC2}" vid="{E04EDAD1-AFC5-BE4E-A44C-E641ABC5FF6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EA691DA1475FED40816A34A9887BD419" ma:contentTypeVersion="26" ma:contentTypeDescription="Создание документа." ma:contentTypeScope="" ma:versionID="559e90d719ff0254e378a0bb7967f071">
  <xsd:schema xmlns:xsd="http://www.w3.org/2001/XMLSchema" xmlns:xs="http://www.w3.org/2001/XMLSchema" xmlns:p="http://schemas.microsoft.com/office/2006/metadata/properties" xmlns:ns1="http://schemas.microsoft.com/sharepoint/v3" xmlns:ns2="91871c47-af2e-43ea-ad3f-7bb4c536bc45" xmlns:ns3="ba249638-b5c4-4b59-8094-70d8491c2e9c" xmlns:ns4="cb52ee0d-5346-4ae8-a9f9-d746adffeb6b" targetNamespace="http://schemas.microsoft.com/office/2006/metadata/properties" ma:root="true" ma:fieldsID="a3b096dd063bdcacd4429cc4e08033be" ns1:_="" ns2:_="" ns3:_="" ns4:_="">
    <xsd:import namespace="http://schemas.microsoft.com/sharepoint/v3"/>
    <xsd:import namespace="91871c47-af2e-43ea-ad3f-7bb4c536bc45"/>
    <xsd:import namespace="ba249638-b5c4-4b59-8094-70d8491c2e9c"/>
    <xsd:import namespace="cb52ee0d-5346-4ae8-a9f9-d746adffeb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ReportDate" minOccurs="0"/>
                <xsd:element ref="ns2:MediaServiceAutoTags" minOccurs="0"/>
                <xsd:element ref="ns2:lcf76f155ced4ddcb4097134ff3c332f" minOccurs="0"/>
                <xsd:element ref="ns4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  <xsd:element ref="ns2:Remarks" minOccurs="0"/>
                <xsd:element ref="ns2:Details" minOccurs="0"/>
                <xsd:element ref="ns2:FolderInfo" minOccurs="0"/>
                <xsd:element ref="ns2:T_x002d_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7" nillable="true" ma:displayName="Свойства единой политики соответствия требованиям" ma:hidden="true" ma:internalName="_ip_UnifiedCompliancePolicyProperties">
      <xsd:simpleType>
        <xsd:restriction base="dms:Note"/>
      </xsd:simpleType>
    </xsd:element>
    <xsd:element name="_ip_UnifiedCompliancePolicyUIAction" ma:index="28" nillable="true" ma:displayName="Действие с пользовательским интерфейсом в рамках единой политики соответствия требованиям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871c47-af2e-43ea-ad3f-7bb4c536bc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ReportDate" ma:index="16" nillable="true" ma:displayName="Report Date" ma:format="DateOnly" ma:internalName="ReportDate">
      <xsd:simpleType>
        <xsd:restriction base="dms:DateTime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c3dfe741-475c-44cf-bcd4-46bfd3fd069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Remarks" ma:index="29" nillable="true" ma:displayName="Remarks" ma:format="Dropdown" ma:internalName="Remarks">
      <xsd:simpleType>
        <xsd:restriction base="dms:Text">
          <xsd:maxLength value="255"/>
        </xsd:restriction>
      </xsd:simpleType>
    </xsd:element>
    <xsd:element name="Details" ma:index="30" nillable="true" ma:displayName="Details" ma:format="Dropdown" ma:internalName="Details">
      <xsd:simpleType>
        <xsd:restriction base="dms:Note">
          <xsd:maxLength value="255"/>
        </xsd:restriction>
      </xsd:simpleType>
    </xsd:element>
    <xsd:element name="FolderInfo" ma:index="31" nillable="true" ma:displayName="Folder/File Info" ma:format="Dropdown" ma:internalName="FolderInfo">
      <xsd:simpleType>
        <xsd:restriction base="dms:Note">
          <xsd:maxLength value="255"/>
        </xsd:restriction>
      </xsd:simpleType>
    </xsd:element>
    <xsd:element name="T_x002d_Code" ma:index="32" nillable="true" ma:displayName="T-Code" ma:format="Dropdown" ma:internalName="T_x002d_Code">
      <xsd:simpleType>
        <xsd:restriction base="dms:Text">
          <xsd:maxLength value="255"/>
        </xsd:restriction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249638-b5c4-4b59-8094-70d8491c2e9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52ee0d-5346-4ae8-a9f9-d746adffeb6b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4cb22aed-3451-4198-9f27-006c28665e31}" ma:internalName="TaxCatchAll" ma:showField="CatchAllData" ma:web="cb52ee0d-5346-4ae8-a9f9-d746adffeb6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ba249638-b5c4-4b59-8094-70d8491c2e9c">
      <UserInfo>
        <DisplayName/>
        <AccountId xsi:nil="true"/>
        <AccountType/>
      </UserInfo>
    </SharedWithUsers>
    <ReportDate xmlns="91871c47-af2e-43ea-ad3f-7bb4c536bc45" xsi:nil="true"/>
    <lcf76f155ced4ddcb4097134ff3c332f xmlns="91871c47-af2e-43ea-ad3f-7bb4c536bc45">
      <Terms xmlns="http://schemas.microsoft.com/office/infopath/2007/PartnerControls"/>
    </lcf76f155ced4ddcb4097134ff3c332f>
    <TaxCatchAll xmlns="cb52ee0d-5346-4ae8-a9f9-d746adffeb6b" xsi:nil="true"/>
    <_ip_UnifiedCompliancePolicyUIAction xmlns="http://schemas.microsoft.com/sharepoint/v3" xsi:nil="true"/>
    <_ip_UnifiedCompliancePolicyProperties xmlns="http://schemas.microsoft.com/sharepoint/v3" xsi:nil="true"/>
    <Details xmlns="91871c47-af2e-43ea-ad3f-7bb4c536bc45" xsi:nil="true"/>
    <FolderInfo xmlns="91871c47-af2e-43ea-ad3f-7bb4c536bc45" xsi:nil="true"/>
    <Remarks xmlns="91871c47-af2e-43ea-ad3f-7bb4c536bc45" xsi:nil="true"/>
    <T_x002d_Code xmlns="91871c47-af2e-43ea-ad3f-7bb4c536bc4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1FB603F-AFBC-42EF-928C-3A93AAAA8754}"/>
</file>

<file path=customXml/itemProps2.xml><?xml version="1.0" encoding="utf-8"?>
<ds:datastoreItem xmlns:ds="http://schemas.openxmlformats.org/officeDocument/2006/customXml" ds:itemID="{7269441E-AC75-403E-8C72-4E9DA07F2011}">
  <ds:schemaRefs>
    <ds:schemaRef ds:uri="http://schemas.microsoft.com/office/2006/metadata/properties"/>
    <ds:schemaRef ds:uri="http://schemas.microsoft.com/office/infopath/2007/PartnerControls"/>
    <ds:schemaRef ds:uri="ba249638-b5c4-4b59-8094-70d8491c2e9c"/>
    <ds:schemaRef ds:uri="91871c47-af2e-43ea-ad3f-7bb4c536bc45"/>
  </ds:schemaRefs>
</ds:datastoreItem>
</file>

<file path=customXml/itemProps3.xml><?xml version="1.0" encoding="utf-8"?>
<ds:datastoreItem xmlns:ds="http://schemas.openxmlformats.org/officeDocument/2006/customXml" ds:itemID="{912A35F3-78C0-40CA-9F54-36B5BBC3A1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757</Words>
  <Application>Microsoft Office PowerPoint</Application>
  <PresentationFormat>Widescreen</PresentationFormat>
  <Paragraphs>95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S4F-ERP G&amp;A &amp; Marketing Cost Management</vt:lpstr>
      <vt:lpstr>Course Structure</vt:lpstr>
      <vt:lpstr>FB03L – Display document: General Ledger view</vt:lpstr>
      <vt:lpstr>KSB1 - Cost center line item report</vt:lpstr>
      <vt:lpstr>S/4 Instant Operational Reporting - 3 key Options </vt:lpstr>
      <vt:lpstr>GL Line Item Browser FAGLL03H</vt:lpstr>
      <vt:lpstr>. GL Line Item Browser FAGLL03H</vt:lpstr>
      <vt:lpstr>S/4 Market P&amp;L (GR55 – Z4PL) </vt:lpstr>
      <vt:lpstr>S/4 CDS Query functionality with AFO (excel)</vt:lpstr>
      <vt:lpstr>JTI Cost Center Commitment vs Actuals</vt:lpstr>
      <vt:lpstr>JTI Cost Center Commitment vs Actuals Key Figures</vt:lpstr>
      <vt:lpstr>JTI Cost Center Commitment vs Actuals Characteristics</vt:lpstr>
      <vt:lpstr>Exercises:</vt:lpstr>
      <vt:lpstr>Exercises: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Structure</dc:title>
  <dc:creator>O'Neill, Shauna</dc:creator>
  <cp:lastModifiedBy>O'Neill, Shauna</cp:lastModifiedBy>
  <cp:revision>28</cp:revision>
  <dcterms:created xsi:type="dcterms:W3CDTF">2019-10-09T10:58:35Z</dcterms:created>
  <dcterms:modified xsi:type="dcterms:W3CDTF">2022-04-29T07:07:48Z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0x010100EA691DA1475FED40816A34A9887BD419</vt:lpwstr>
  </property>
  <property fmtid="{D5CDD505-2E9C-101B-9397-08002B2CF9AE}" pid="3" name="Order">
    <vt:r8>1276100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MSIP_Label_b020b37f-db72-473e-ae54-fb16df408069_Enabled">
    <vt:lpwstr>true</vt:lpwstr>
  </property>
  <property fmtid="{D5CDD505-2E9C-101B-9397-08002B2CF9AE}" pid="11" name="MSIP_Label_b020b37f-db72-473e-ae54-fb16df408069_SetDate">
    <vt:lpwstr>2022-04-29T07:07:48Z</vt:lpwstr>
  </property>
  <property fmtid="{D5CDD505-2E9C-101B-9397-08002B2CF9AE}" pid="12" name="MSIP_Label_b020b37f-db72-473e-ae54-fb16df408069_Method">
    <vt:lpwstr>Standard</vt:lpwstr>
  </property>
  <property fmtid="{D5CDD505-2E9C-101B-9397-08002B2CF9AE}" pid="13" name="MSIP_Label_b020b37f-db72-473e-ae54-fb16df408069_Name">
    <vt:lpwstr>General</vt:lpwstr>
  </property>
  <property fmtid="{D5CDD505-2E9C-101B-9397-08002B2CF9AE}" pid="14" name="MSIP_Label_b020b37f-db72-473e-ae54-fb16df408069_SiteId">
    <vt:lpwstr>705d07a3-2eea-4f3b-ab59-65ca29abeb26</vt:lpwstr>
  </property>
  <property fmtid="{D5CDD505-2E9C-101B-9397-08002B2CF9AE}" pid="15" name="MSIP_Label_b020b37f-db72-473e-ae54-fb16df408069_ActionId">
    <vt:lpwstr>b66b25aa-ad89-4ff6-8c1b-f247511b3d03</vt:lpwstr>
  </property>
  <property fmtid="{D5CDD505-2E9C-101B-9397-08002B2CF9AE}" pid="16" name="MSIP_Label_b020b37f-db72-473e-ae54-fb16df408069_ContentBits">
    <vt:lpwstr>0</vt:lpwstr>
  </property>
</Properties>
</file>