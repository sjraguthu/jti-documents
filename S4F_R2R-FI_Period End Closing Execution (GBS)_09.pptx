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11"/>
  </p:notesMasterIdLst>
  <p:sldIdLst>
    <p:sldId id="3352" r:id="rId7"/>
    <p:sldId id="3241" r:id="rId8"/>
    <p:sldId id="3242" r:id="rId9"/>
    <p:sldId id="213496152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8DFEB1-972A-4240-BF79-514B83C902FF}" v="1" dt="2024-04-25T17:35:07.7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DD2FCFA3-3CB8-4C3F-A228-92AF68DF1A5B}"/>
    <pc:docChg chg="delSld modSld delMainMaster">
      <pc:chgData name="Wang, Wei" userId="627587dd-935f-4f2b-a6c6-edd4e0dcbff5" providerId="ADAL" clId="{DD2FCFA3-3CB8-4C3F-A228-92AF68DF1A5B}" dt="2020-06-03T15:27:35.060" v="230"/>
      <pc:docMkLst>
        <pc:docMk/>
      </pc:docMkLst>
      <pc:sldChg chg="modSp">
        <pc:chgData name="Wang, Wei" userId="627587dd-935f-4f2b-a6c6-edd4e0dcbff5" providerId="ADAL" clId="{DD2FCFA3-3CB8-4C3F-A228-92AF68DF1A5B}" dt="2020-06-03T15:27:28.532" v="228"/>
        <pc:sldMkLst>
          <pc:docMk/>
          <pc:sldMk cId="1984202630" sldId="3241"/>
        </pc:sldMkLst>
        <pc:spChg chg="mod">
          <ac:chgData name="Wang, Wei" userId="627587dd-935f-4f2b-a6c6-edd4e0dcbff5" providerId="ADAL" clId="{DD2FCFA3-3CB8-4C3F-A228-92AF68DF1A5B}" dt="2020-06-03T15:27:28.532" v="228"/>
          <ac:spMkLst>
            <pc:docMk/>
            <pc:sldMk cId="1984202630" sldId="3241"/>
            <ac:spMk id="12" creationId="{388DE740-A239-4DBA-9D3C-D7D935676A55}"/>
          </ac:spMkLst>
        </pc:spChg>
      </pc:sldChg>
      <pc:sldChg chg="modSp">
        <pc:chgData name="Wang, Wei" userId="627587dd-935f-4f2b-a6c6-edd4e0dcbff5" providerId="ADAL" clId="{DD2FCFA3-3CB8-4C3F-A228-92AF68DF1A5B}" dt="2020-06-03T15:27:35.060" v="230"/>
        <pc:sldMkLst>
          <pc:docMk/>
          <pc:sldMk cId="1888640879" sldId="3242"/>
        </pc:sldMkLst>
        <pc:spChg chg="mod">
          <ac:chgData name="Wang, Wei" userId="627587dd-935f-4f2b-a6c6-edd4e0dcbff5" providerId="ADAL" clId="{DD2FCFA3-3CB8-4C3F-A228-92AF68DF1A5B}" dt="2020-06-03T15:27:35.060" v="230"/>
          <ac:spMkLst>
            <pc:docMk/>
            <pc:sldMk cId="1888640879" sldId="3242"/>
            <ac:spMk id="18" creationId="{3773BF96-871B-4027-BCB3-75F4EA9277F0}"/>
          </ac:spMkLst>
        </pc:spChg>
      </pc:sldChg>
      <pc:sldMasterChg chg="delSldLayout">
        <pc:chgData name="Wang, Wei" userId="627587dd-935f-4f2b-a6c6-edd4e0dcbff5" providerId="ADAL" clId="{DD2FCFA3-3CB8-4C3F-A228-92AF68DF1A5B}" dt="2020-05-21T15:36:05.289" v="119" actId="2696"/>
        <pc:sldMasterMkLst>
          <pc:docMk/>
          <pc:sldMasterMk cId="2027459739" sldId="2147483926"/>
        </pc:sldMasterMkLst>
      </pc:sldMasterChg>
      <pc:sldMasterChg chg="delSldLayout">
        <pc:chgData name="Wang, Wei" userId="627587dd-935f-4f2b-a6c6-edd4e0dcbff5" providerId="ADAL" clId="{DD2FCFA3-3CB8-4C3F-A228-92AF68DF1A5B}" dt="2020-05-21T15:36:06.746" v="173" actId="2696"/>
        <pc:sldMasterMkLst>
          <pc:docMk/>
          <pc:sldMasterMk cId="2216067138" sldId="2147483931"/>
        </pc:sldMasterMkLst>
      </pc:sldMasterChg>
    </pc:docChg>
  </pc:docChgLst>
  <pc:docChgLst>
    <pc:chgData name="Wang, Wei" userId="627587dd-935f-4f2b-a6c6-edd4e0dcbff5" providerId="ADAL" clId="{458DFEB1-972A-4240-BF79-514B83C902FF}"/>
    <pc:docChg chg="delSld">
      <pc:chgData name="Wang, Wei" userId="627587dd-935f-4f2b-a6c6-edd4e0dcbff5" providerId="ADAL" clId="{458DFEB1-972A-4240-BF79-514B83C902FF}" dt="2024-04-25T17:22:52.916" v="0" actId="47"/>
      <pc:docMkLst>
        <pc:docMk/>
      </pc:docMkLst>
      <pc:sldChg chg="del">
        <pc:chgData name="Wang, Wei" userId="627587dd-935f-4f2b-a6c6-edd4e0dcbff5" providerId="ADAL" clId="{458DFEB1-972A-4240-BF79-514B83C902FF}" dt="2024-04-25T17:22:52.916" v="0" actId="47"/>
        <pc:sldMkLst>
          <pc:docMk/>
          <pc:sldMk cId="1984202630" sldId="3241"/>
        </pc:sldMkLst>
      </pc:sldChg>
      <pc:sldChg chg="del">
        <pc:chgData name="Wang, Wei" userId="627587dd-935f-4f2b-a6c6-edd4e0dcbff5" providerId="ADAL" clId="{458DFEB1-972A-4240-BF79-514B83C902FF}" dt="2024-04-25T17:22:52.916" v="0" actId="47"/>
        <pc:sldMkLst>
          <pc:docMk/>
          <pc:sldMk cId="1888640879" sldId="32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2944EB3-E743-414B-A21A-64E051E5FA09}" type="slidenum">
              <a:rPr lang="en-GB" smtClean="0"/>
              <a:t>2</a:t>
            </a:fld>
            <a:endParaRPr lang="en-GB"/>
          </a:p>
        </p:txBody>
      </p:sp>
    </p:spTree>
    <p:extLst>
      <p:ext uri="{BB962C8B-B14F-4D97-AF65-F5344CB8AC3E}">
        <p14:creationId xmlns:p14="http://schemas.microsoft.com/office/powerpoint/2010/main" val="23053847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GR/IR Closing Activities</a:t>
            </a: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t>
            </a:r>
            <a:r>
              <a:rPr lang="en-GB" sz="1400" b="1">
                <a:solidFill>
                  <a:srgbClr val="000000"/>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Cost Management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FFFFFF"/>
                </a:solidFill>
                <a:latin typeface="Arial" charset="0"/>
                <a:cs typeface="Arial" charset="0"/>
              </a:rPr>
              <a:t>Intercompany and Period End Closing</a:t>
            </a:r>
            <a:endParaRPr lang="en-GB" sz="1400">
              <a:solidFill>
                <a:srgbClr val="FFFFFF"/>
              </a:solidFill>
            </a:endParaRP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80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CC2FA4-35FD-483D-BF17-4E4E9CA34AD0}"/>
              </a:ext>
            </a:extLst>
          </p:cNvPr>
          <p:cNvPicPr>
            <a:picLocks noChangeAspect="1"/>
          </p:cNvPicPr>
          <p:nvPr/>
        </p:nvPicPr>
        <p:blipFill>
          <a:blip r:embed="rId3"/>
          <a:stretch>
            <a:fillRect/>
          </a:stretch>
        </p:blipFill>
        <p:spPr>
          <a:xfrm>
            <a:off x="7519302" y="1379196"/>
            <a:ext cx="3984769" cy="4550101"/>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426A332D-E956-448A-8DC6-BEED2B5BC0A5}"/>
              </a:ext>
            </a:extLst>
          </p:cNvPr>
          <p:cNvPicPr>
            <a:picLocks noChangeAspect="1"/>
          </p:cNvPicPr>
          <p:nvPr/>
        </p:nvPicPr>
        <p:blipFill>
          <a:blip r:embed="rId4"/>
          <a:stretch>
            <a:fillRect/>
          </a:stretch>
        </p:blipFill>
        <p:spPr>
          <a:xfrm>
            <a:off x="387405" y="1379196"/>
            <a:ext cx="7079663" cy="3032329"/>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a:xfrm>
            <a:off x="1511276" y="283785"/>
            <a:ext cx="8902723" cy="984247"/>
          </a:xfrm>
        </p:spPr>
        <p:txBody>
          <a:bodyPr/>
          <a:lstStyle/>
          <a:p>
            <a:pPr>
              <a:spcAft>
                <a:spcPts val="1000"/>
              </a:spcAft>
            </a:pPr>
            <a:r>
              <a:rPr lang="en-GB">
                <a:latin typeface="Arial" charset="0"/>
                <a:cs typeface="Arial" charset="0"/>
              </a:rPr>
              <a:t>Automatic Clearing of LSC</a:t>
            </a:r>
            <a:r>
              <a:rPr lang="en-GB" i="1" baseline="30000">
                <a:solidFill>
                  <a:srgbClr val="FF0000"/>
                </a:solidFill>
                <a:latin typeface="Arial" charset="0"/>
                <a:cs typeface="Arial" charset="0"/>
              </a:rPr>
              <a:t>1)</a:t>
            </a:r>
            <a:r>
              <a:rPr lang="en-GB">
                <a:solidFill>
                  <a:srgbClr val="FF0000"/>
                </a:solidFill>
                <a:latin typeface="Arial" charset="0"/>
                <a:cs typeface="Arial" charset="0"/>
              </a:rPr>
              <a:t> </a:t>
            </a:r>
            <a:r>
              <a:rPr lang="en-GB">
                <a:latin typeface="Arial" charset="0"/>
                <a:cs typeface="Arial" charset="0"/>
              </a:rPr>
              <a:t>Accounts (1/2)</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275068" y="4474564"/>
            <a:ext cx="7192000" cy="2015936"/>
          </a:xfrm>
          <a:prstGeom prst="rect">
            <a:avLst/>
          </a:prstGeom>
          <a:solidFill>
            <a:schemeClr val="bg1"/>
          </a:solid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Auto Clearing of LSC Accounts: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In S/4 HANA G/L accounts with indicator “Clearing Specific to Ledger Groups” (known as LSC accounts in JTI) are introduced in the Parallel Ledger environment. This means we will have accounts which receive ledger specific postings and can be cleared in specific ledger groups.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F13L is a new transaction in S/4 which allows the LSC accounts to be cleared. The F13L functionality is described in the Parallel Ledger course, which can be run for any LSC accounts as long as the automatic clearing criteria are configured.</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F13L is included in FCC and run once per month for all LSC accounts unless specifically excluded (see screenshot) on WD1.  This will ensure that only open items are left on these accounts, which provides a clean balance sheet that helps the subsequent closing processes such as Revaluation, Translation, etc., to achieve accurate calculations and postings.  </a:t>
            </a:r>
          </a:p>
        </p:txBody>
      </p:sp>
      <p:sp>
        <p:nvSpPr>
          <p:cNvPr id="9" name="Rectangle: Rounded Corners 8">
            <a:extLst>
              <a:ext uri="{FF2B5EF4-FFF2-40B4-BE49-F238E27FC236}">
                <a16:creationId xmlns:a16="http://schemas.microsoft.com/office/drawing/2014/main" id="{93158348-2584-4500-82C2-62F3A15AD735}"/>
              </a:ext>
            </a:extLst>
          </p:cNvPr>
          <p:cNvSpPr/>
          <p:nvPr/>
        </p:nvSpPr>
        <p:spPr>
          <a:xfrm>
            <a:off x="3343628" y="2504128"/>
            <a:ext cx="3892441" cy="50284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332614BA-11F0-4CA9-877C-9F3CD478E5F1}"/>
              </a:ext>
            </a:extLst>
          </p:cNvPr>
          <p:cNvSpPr/>
          <p:nvPr/>
        </p:nvSpPr>
        <p:spPr>
          <a:xfrm>
            <a:off x="391112" y="1363955"/>
            <a:ext cx="2240328"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12" name="Rectangle: Rounded Corners 11">
            <a:extLst>
              <a:ext uri="{FF2B5EF4-FFF2-40B4-BE49-F238E27FC236}">
                <a16:creationId xmlns:a16="http://schemas.microsoft.com/office/drawing/2014/main" id="{388DE740-A239-4DBA-9D3C-D7D935676A55}"/>
              </a:ext>
            </a:extLst>
          </p:cNvPr>
          <p:cNvSpPr/>
          <p:nvPr/>
        </p:nvSpPr>
        <p:spPr>
          <a:xfrm>
            <a:off x="7519301" y="1379196"/>
            <a:ext cx="3656763"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F13L: Automatic </a:t>
            </a:r>
            <a:r>
              <a:rPr lang="en-GB" sz="1000" b="1" dirty="0">
                <a:solidFill>
                  <a:srgbClr val="00B2A9">
                    <a:lumMod val="50000"/>
                  </a:srgbClr>
                </a:solidFill>
              </a:rPr>
              <a:t>Clearing specific to Ledger Groups</a:t>
            </a:r>
            <a:endPar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90D0C389-502F-46B2-BE83-6DCFB553E513}"/>
              </a:ext>
            </a:extLst>
          </p:cNvPr>
          <p:cNvSpPr/>
          <p:nvPr/>
        </p:nvSpPr>
        <p:spPr>
          <a:xfrm>
            <a:off x="8397391" y="3320254"/>
            <a:ext cx="2724878" cy="217491"/>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8D3832D0-5697-4012-8068-985BFDCEDC7D}"/>
              </a:ext>
            </a:extLst>
          </p:cNvPr>
          <p:cNvSpPr txBox="1"/>
          <p:nvPr/>
        </p:nvSpPr>
        <p:spPr>
          <a:xfrm>
            <a:off x="7685519" y="6236829"/>
            <a:ext cx="3490546" cy="365125"/>
          </a:xfrm>
          <a:prstGeom prst="rect">
            <a:avLst/>
          </a:prstGeom>
          <a:noFill/>
        </p:spPr>
        <p:txBody>
          <a:bodyPr wrap="square" lIns="0" tIns="0" rIns="0" bIns="0" rtlCol="0">
            <a:noAutofit/>
          </a:bodyPr>
          <a:lstStyle/>
          <a:p>
            <a:pPr algn="l"/>
            <a:r>
              <a:rPr lang="en-US" sz="900" i="1" baseline="30000" dirty="0">
                <a:solidFill>
                  <a:srgbClr val="FF0000"/>
                </a:solidFill>
              </a:rPr>
              <a:t>1) </a:t>
            </a:r>
            <a:r>
              <a:rPr lang="en-US" sz="900" b="1" i="1" dirty="0"/>
              <a:t>LSC</a:t>
            </a:r>
            <a:r>
              <a:rPr lang="en-US" sz="900" i="1" dirty="0"/>
              <a:t> – Accounts with indicator “Open Item </a:t>
            </a:r>
            <a:r>
              <a:rPr lang="en-US" sz="900" i="1" dirty="0" err="1"/>
              <a:t>Mgmt</a:t>
            </a:r>
            <a:r>
              <a:rPr lang="en-US" sz="900" i="1" dirty="0"/>
              <a:t> by Ledger Group” active. It was previously “Ledger Specific Clearing”, hence the abbreviation “LSC” </a:t>
            </a:r>
          </a:p>
        </p:txBody>
      </p:sp>
      <p:sp>
        <p:nvSpPr>
          <p:cNvPr id="16" name="Rectangle: Rounded Corners 15">
            <a:extLst>
              <a:ext uri="{FF2B5EF4-FFF2-40B4-BE49-F238E27FC236}">
                <a16:creationId xmlns:a16="http://schemas.microsoft.com/office/drawing/2014/main" id="{FA6E9C24-497D-4171-8B49-7245EC7D8103}"/>
              </a:ext>
            </a:extLst>
          </p:cNvPr>
          <p:cNvSpPr/>
          <p:nvPr/>
        </p:nvSpPr>
        <p:spPr>
          <a:xfrm>
            <a:off x="6096000" y="4131901"/>
            <a:ext cx="1371068" cy="123576"/>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10909ECD-F327-4532-9869-B3B01FE2F25D}"/>
              </a:ext>
            </a:extLst>
          </p:cNvPr>
          <p:cNvPicPr>
            <a:picLocks noChangeAspect="1"/>
          </p:cNvPicPr>
          <p:nvPr/>
        </p:nvPicPr>
        <p:blipFill>
          <a:blip r:embed="rId5"/>
          <a:stretch>
            <a:fillRect/>
          </a:stretch>
        </p:blipFill>
        <p:spPr>
          <a:xfrm>
            <a:off x="9430792" y="4408532"/>
            <a:ext cx="2486140" cy="1034422"/>
          </a:xfrm>
          <a:prstGeom prst="rect">
            <a:avLst/>
          </a:prstGeom>
          <a:ln>
            <a:solidFill>
              <a:srgbClr val="FF0000"/>
            </a:solidFill>
          </a:ln>
          <a:effectLst>
            <a:outerShdw blurRad="50800" dist="38100" dir="8100000" algn="tr" rotWithShape="0">
              <a:prstClr val="black">
                <a:alpha val="40000"/>
              </a:prstClr>
            </a:outerShdw>
          </a:effectLst>
        </p:spPr>
      </p:pic>
      <p:cxnSp>
        <p:nvCxnSpPr>
          <p:cNvPr id="15" name="Straight Arrow Connector 14">
            <a:extLst>
              <a:ext uri="{FF2B5EF4-FFF2-40B4-BE49-F238E27FC236}">
                <a16:creationId xmlns:a16="http://schemas.microsoft.com/office/drawing/2014/main" id="{FF60852C-157D-4103-A8E9-2FD28CE7FE0E}"/>
              </a:ext>
            </a:extLst>
          </p:cNvPr>
          <p:cNvCxnSpPr>
            <a:cxnSpLocks/>
          </p:cNvCxnSpPr>
          <p:nvPr/>
        </p:nvCxnSpPr>
        <p:spPr>
          <a:xfrm>
            <a:off x="11020474" y="3537745"/>
            <a:ext cx="0" cy="83995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BA67A575-BB41-4DC7-931F-FA0E53AC68A4}"/>
              </a:ext>
            </a:extLst>
          </p:cNvPr>
          <p:cNvSpPr/>
          <p:nvPr/>
        </p:nvSpPr>
        <p:spPr>
          <a:xfrm>
            <a:off x="10957614" y="4408533"/>
            <a:ext cx="959318" cy="19314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Speech Bubble: Rectangle 16">
            <a:extLst>
              <a:ext uri="{FF2B5EF4-FFF2-40B4-BE49-F238E27FC236}">
                <a16:creationId xmlns:a16="http://schemas.microsoft.com/office/drawing/2014/main" id="{6E9366E1-0BF7-4EC2-82F6-3B7AFEFD70EC}"/>
              </a:ext>
            </a:extLst>
          </p:cNvPr>
          <p:cNvSpPr/>
          <p:nvPr/>
        </p:nvSpPr>
        <p:spPr>
          <a:xfrm>
            <a:off x="7106441" y="4522689"/>
            <a:ext cx="1967168" cy="1236985"/>
          </a:xfrm>
          <a:prstGeom prst="wedgeRectCallout">
            <a:avLst>
              <a:gd name="adj1" fmla="val -44573"/>
              <a:gd name="adj2" fmla="val -68209"/>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150" i="1">
              <a:solidFill>
                <a:schemeClr val="tx1"/>
              </a:solidFill>
              <a:latin typeface="Georgia" panose="02040502050405020303" pitchFamily="18" charset="0"/>
            </a:endParaRPr>
          </a:p>
          <a:p>
            <a:pPr>
              <a:lnSpc>
                <a:spcPts val="1200"/>
              </a:lnSpc>
              <a:spcBef>
                <a:spcPts val="600"/>
              </a:spcBef>
              <a:defRPr/>
            </a:pPr>
            <a:r>
              <a:rPr lang="en-US" sz="1150" i="1">
                <a:solidFill>
                  <a:schemeClr val="tx1"/>
                </a:solidFill>
                <a:latin typeface="Georgia" panose="02040502050405020303" pitchFamily="18" charset="0"/>
              </a:rPr>
              <a:t>This is a “global variant”. Therefore it is important you review/amend the Company Code field and ensure the Fiscal Year and Posting Period are correct when executing F13L outside of FCC.</a:t>
            </a:r>
          </a:p>
          <a:p>
            <a:pPr>
              <a:lnSpc>
                <a:spcPts val="1200"/>
              </a:lnSpc>
              <a:spcBef>
                <a:spcPts val="600"/>
              </a:spcBef>
              <a:defRPr/>
            </a:pPr>
            <a:endParaRPr lang="en-US" sz="1150" i="1">
              <a:solidFill>
                <a:schemeClr val="tx1"/>
              </a:solidFill>
              <a:latin typeface="Georgia" panose="02040502050405020303" pitchFamily="18" charset="0"/>
            </a:endParaRPr>
          </a:p>
        </p:txBody>
      </p:sp>
    </p:spTree>
    <p:extLst>
      <p:ext uri="{BB962C8B-B14F-4D97-AF65-F5344CB8AC3E}">
        <p14:creationId xmlns:p14="http://schemas.microsoft.com/office/powerpoint/2010/main" val="198420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5230AC-8C77-4DE7-9F78-B62894FF3563}"/>
              </a:ext>
            </a:extLst>
          </p:cNvPr>
          <p:cNvSpPr>
            <a:spLocks noGrp="1"/>
          </p:cNvSpPr>
          <p:nvPr>
            <p:ph type="title"/>
          </p:nvPr>
        </p:nvSpPr>
        <p:spPr/>
        <p:txBody>
          <a:bodyPr/>
          <a:lstStyle/>
          <a:p>
            <a:pPr>
              <a:spcAft>
                <a:spcPts val="1000"/>
              </a:spcAft>
            </a:pPr>
            <a:r>
              <a:rPr lang="en-GB">
                <a:latin typeface="Arial" charset="0"/>
                <a:cs typeface="Arial" charset="0"/>
              </a:rPr>
              <a:t>Automatic Clearing of LSC</a:t>
            </a:r>
            <a:r>
              <a:rPr lang="en-GB" i="1" baseline="30000">
                <a:solidFill>
                  <a:srgbClr val="FF0000"/>
                </a:solidFill>
                <a:latin typeface="Arial" charset="0"/>
                <a:cs typeface="Arial" charset="0"/>
              </a:rPr>
              <a:t>1)</a:t>
            </a:r>
            <a:r>
              <a:rPr lang="en-GB">
                <a:solidFill>
                  <a:srgbClr val="FF0000"/>
                </a:solidFill>
                <a:latin typeface="Arial" charset="0"/>
                <a:cs typeface="Arial" charset="0"/>
              </a:rPr>
              <a:t> </a:t>
            </a:r>
            <a:r>
              <a:rPr lang="en-GB">
                <a:latin typeface="Arial" charset="0"/>
                <a:cs typeface="Arial" charset="0"/>
              </a:rPr>
              <a:t>Accounts (2/2)</a:t>
            </a:r>
          </a:p>
        </p:txBody>
      </p:sp>
      <p:sp>
        <p:nvSpPr>
          <p:cNvPr id="3" name="Slide Number Placeholder 2">
            <a:extLst>
              <a:ext uri="{FF2B5EF4-FFF2-40B4-BE49-F238E27FC236}">
                <a16:creationId xmlns:a16="http://schemas.microsoft.com/office/drawing/2014/main" id="{9D23ECF1-71C3-4803-B697-FD92BA260E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0" name="Rectangle 49">
            <a:extLst>
              <a:ext uri="{FF2B5EF4-FFF2-40B4-BE49-F238E27FC236}">
                <a16:creationId xmlns:a16="http://schemas.microsoft.com/office/drawing/2014/main" id="{B4E6453A-DBCF-4724-BF29-9C559C5BBEF6}"/>
              </a:ext>
            </a:extLst>
          </p:cNvPr>
          <p:cNvSpPr/>
          <p:nvPr/>
        </p:nvSpPr>
        <p:spPr>
          <a:xfrm>
            <a:off x="7025054" y="2488222"/>
            <a:ext cx="4674740" cy="3323987"/>
          </a:xfrm>
          <a:prstGeom prst="rect">
            <a:avLst/>
          </a:prstGeom>
          <a:noFill/>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effectLst/>
                <a:uLnTx/>
                <a:uFillTx/>
                <a:latin typeface="Georgia" panose="02040502050405020303" pitchFamily="18" charset="0"/>
                <a:ea typeface="+mn-ea"/>
                <a:cs typeface="+mn-cs"/>
              </a:rPr>
              <a:t>Auto Clearing of LSC Accounts – Manual Execution: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If you execute F13L as part of Period End Closing but outside of FCC, make sure you use the same variant as stated in the corresponding FCC task.</a:t>
            </a:r>
          </a:p>
          <a:p>
            <a:pPr marL="171450" indent="-171450">
              <a:lnSpc>
                <a:spcPts val="1200"/>
              </a:lnSpc>
              <a:spcBef>
                <a:spcPts val="600"/>
              </a:spcBef>
              <a:buFont typeface="Arial" panose="020B0604020202020204" pitchFamily="34" charset="0"/>
              <a:buChar char="•"/>
              <a:defRPr/>
            </a:pPr>
            <a:r>
              <a:rPr lang="en-GB" sz="1100" i="1" dirty="0">
                <a:latin typeface="Georgia" panose="02040502050405020303" pitchFamily="18" charset="0"/>
              </a:rPr>
              <a:t>The F13L FCC task use a “global variant” therefore you should always review/amend the Company Code and dates/periods/years fields before executing it outside of FCC.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00" b="0" i="1" u="none" strike="noStrike" kern="1200" cap="none" spc="0" normalizeH="0" baseline="0" noProof="0" dirty="0">
                <a:ln>
                  <a:noFill/>
                </a:ln>
                <a:effectLst/>
                <a:uLnTx/>
                <a:uFillTx/>
                <a:latin typeface="Georgia" panose="02040502050405020303" pitchFamily="18" charset="0"/>
                <a:ea typeface="+mn-ea"/>
                <a:cs typeface="+mn-cs"/>
              </a:rPr>
              <a:t>As this is a GBS/JTBC level task, make sure you have included the correct entities (e.g. </a:t>
            </a:r>
            <a:r>
              <a:rPr lang="en-GB" sz="1100" i="1" dirty="0">
                <a:latin typeface="Georgia" panose="02040502050405020303" pitchFamily="18" charset="0"/>
              </a:rPr>
              <a:t>you should add your entity to the variant if you recently have a new entity) in the variant before executing the transaction.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Make sure you save the output including any error log at the bottom of the output.</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Like F.13, any items that can be cleared are highlighted in green in the output with clearing document numbers next to them. You can reset the clearing using these clearing document numbers via FBRA should any items need to be reset.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Refer to Parallel Ledger course materials for F.13, F13L and FBRA.</a:t>
            </a:r>
          </a:p>
        </p:txBody>
      </p:sp>
      <p:pic>
        <p:nvPicPr>
          <p:cNvPr id="2" name="Picture 1">
            <a:extLst>
              <a:ext uri="{FF2B5EF4-FFF2-40B4-BE49-F238E27FC236}">
                <a16:creationId xmlns:a16="http://schemas.microsoft.com/office/drawing/2014/main" id="{40BFA7B8-F225-43C9-BFF9-55233368DD6B}"/>
              </a:ext>
            </a:extLst>
          </p:cNvPr>
          <p:cNvPicPr>
            <a:picLocks noChangeAspect="1"/>
          </p:cNvPicPr>
          <p:nvPr/>
        </p:nvPicPr>
        <p:blipFill>
          <a:blip r:embed="rId2"/>
          <a:stretch>
            <a:fillRect/>
          </a:stretch>
        </p:blipFill>
        <p:spPr>
          <a:xfrm>
            <a:off x="492206" y="1415561"/>
            <a:ext cx="6322229" cy="4425561"/>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D76A4CCB-4233-4259-A1A3-E1B143A2876F}"/>
              </a:ext>
            </a:extLst>
          </p:cNvPr>
          <p:cNvPicPr>
            <a:picLocks noChangeAspect="1"/>
          </p:cNvPicPr>
          <p:nvPr/>
        </p:nvPicPr>
        <p:blipFill>
          <a:blip r:embed="rId3"/>
          <a:stretch>
            <a:fillRect/>
          </a:stretch>
        </p:blipFill>
        <p:spPr>
          <a:xfrm>
            <a:off x="492206" y="5268193"/>
            <a:ext cx="6322229" cy="968635"/>
          </a:xfrm>
          <a:prstGeom prst="rect">
            <a:avLst/>
          </a:prstGeom>
          <a:effectLst>
            <a:outerShdw blurRad="50800" dist="38100" dir="2700000" algn="tl" rotWithShape="0">
              <a:prstClr val="black">
                <a:alpha val="40000"/>
              </a:prstClr>
            </a:outerShdw>
          </a:effectLst>
        </p:spPr>
      </p:pic>
      <p:sp>
        <p:nvSpPr>
          <p:cNvPr id="18" name="Rectangle: Rounded Corners 17">
            <a:extLst>
              <a:ext uri="{FF2B5EF4-FFF2-40B4-BE49-F238E27FC236}">
                <a16:creationId xmlns:a16="http://schemas.microsoft.com/office/drawing/2014/main" id="{3773BF96-871B-4027-BCB3-75F4EA9277F0}"/>
              </a:ext>
            </a:extLst>
          </p:cNvPr>
          <p:cNvSpPr/>
          <p:nvPr/>
        </p:nvSpPr>
        <p:spPr>
          <a:xfrm>
            <a:off x="492205" y="1366862"/>
            <a:ext cx="5257963"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lvl="0">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F13L: Automatic Clearing </a:t>
            </a:r>
            <a:r>
              <a:rPr lang="en-GB" sz="1000" b="1" dirty="0">
                <a:solidFill>
                  <a:srgbClr val="00B2A9">
                    <a:lumMod val="50000"/>
                  </a:srgbClr>
                </a:solidFill>
              </a:rPr>
              <a:t>specific to Ledger Groups Output</a:t>
            </a:r>
            <a:endPar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7FC64799-E015-F29E-7DE7-A5DB19A1DFC6}"/>
              </a:ext>
            </a:extLst>
          </p:cNvPr>
          <p:cNvSpPr txBox="1"/>
          <p:nvPr/>
        </p:nvSpPr>
        <p:spPr>
          <a:xfrm>
            <a:off x="7685519" y="6236829"/>
            <a:ext cx="3490546" cy="365125"/>
          </a:xfrm>
          <a:prstGeom prst="rect">
            <a:avLst/>
          </a:prstGeom>
          <a:noFill/>
        </p:spPr>
        <p:txBody>
          <a:bodyPr wrap="square" lIns="0" tIns="0" rIns="0" bIns="0" rtlCol="0">
            <a:noAutofit/>
          </a:bodyPr>
          <a:lstStyle/>
          <a:p>
            <a:pPr algn="l"/>
            <a:r>
              <a:rPr lang="en-US" sz="900" i="1" baseline="30000" dirty="0">
                <a:solidFill>
                  <a:srgbClr val="FF0000"/>
                </a:solidFill>
              </a:rPr>
              <a:t>1) </a:t>
            </a:r>
            <a:r>
              <a:rPr lang="en-US" sz="900" b="1" i="1" dirty="0"/>
              <a:t>LSC</a:t>
            </a:r>
            <a:r>
              <a:rPr lang="en-US" sz="900" i="1" dirty="0"/>
              <a:t> – Accounts with indicator “Open Item </a:t>
            </a:r>
            <a:r>
              <a:rPr lang="en-US" sz="900" i="1" dirty="0" err="1"/>
              <a:t>Mgmt</a:t>
            </a:r>
            <a:r>
              <a:rPr lang="en-US" sz="900" i="1" dirty="0"/>
              <a:t> by Ledger Group” active. It was previously “Ledger Specific Clearing”, hence the abbreviation “LSC” </a:t>
            </a:r>
          </a:p>
        </p:txBody>
      </p:sp>
    </p:spTree>
    <p:extLst>
      <p:ext uri="{BB962C8B-B14F-4D97-AF65-F5344CB8AC3E}">
        <p14:creationId xmlns:p14="http://schemas.microsoft.com/office/powerpoint/2010/main" val="1888640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11422-5F97-9FCE-8F67-D156A21C6C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Date Placeholder 4">
            <a:extLst>
              <a:ext uri="{FF2B5EF4-FFF2-40B4-BE49-F238E27FC236}">
                <a16:creationId xmlns:a16="http://schemas.microsoft.com/office/drawing/2014/main" id="{BFBE1AF6-C8E6-2ED8-9692-5F747370BFAA}"/>
              </a:ext>
            </a:extLst>
          </p:cNvPr>
          <p:cNvSpPr>
            <a:spLocks noGrp="1"/>
          </p:cNvSpPr>
          <p:nvPr>
            <p:ph type="dt" sz="half" idx="10"/>
          </p:nvPr>
        </p:nvSpPr>
        <p:spPr>
          <a:xfrm>
            <a:off x="5591174" y="6282531"/>
            <a:ext cx="1485899"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2EF8FC0-23EE-DC41-AAF0-D7F5B1B41C59}" type="datetime4">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 April 2024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Title 1">
            <a:extLst>
              <a:ext uri="{FF2B5EF4-FFF2-40B4-BE49-F238E27FC236}">
                <a16:creationId xmlns:a16="http://schemas.microsoft.com/office/drawing/2014/main" id="{AD8E48F7-ED91-4489-FA70-0DA73BBB3EAA}"/>
              </a:ext>
            </a:extLst>
          </p:cNvPr>
          <p:cNvSpPr>
            <a:spLocks noGrp="1"/>
          </p:cNvSpPr>
          <p:nvPr>
            <p:ph type="title"/>
          </p:nvPr>
        </p:nvSpPr>
        <p:spPr>
          <a:xfrm>
            <a:off x="1444734" y="481903"/>
            <a:ext cx="9359900" cy="631084"/>
          </a:xfrm>
        </p:spPr>
        <p:txBody>
          <a:bodyPr/>
          <a:lstStyle/>
          <a:p>
            <a:r>
              <a:rPr lang="en-US" sz="2800" cap="none" dirty="0"/>
              <a:t>Automatic Clearing of LSC Accounts</a:t>
            </a:r>
            <a:r>
              <a:rPr lang="en-GB" sz="2800" cap="none" dirty="0"/>
              <a:t> – Common Errors</a:t>
            </a:r>
            <a:endParaRPr lang="en-GB" sz="2800" dirty="0"/>
          </a:p>
        </p:txBody>
      </p:sp>
      <p:graphicFrame>
        <p:nvGraphicFramePr>
          <p:cNvPr id="6" name="Table 6">
            <a:extLst>
              <a:ext uri="{FF2B5EF4-FFF2-40B4-BE49-F238E27FC236}">
                <a16:creationId xmlns:a16="http://schemas.microsoft.com/office/drawing/2014/main" id="{88594A84-FBED-CEAC-C60E-D045521BF507}"/>
              </a:ext>
            </a:extLst>
          </p:cNvPr>
          <p:cNvGraphicFramePr>
            <a:graphicFrameLocks noGrp="1"/>
          </p:cNvGraphicFramePr>
          <p:nvPr/>
        </p:nvGraphicFramePr>
        <p:xfrm>
          <a:off x="551987" y="4379123"/>
          <a:ext cx="11188908" cy="199580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114757">
                  <a:extLst>
                    <a:ext uri="{9D8B030D-6E8A-4147-A177-3AD203B41FA5}">
                      <a16:colId xmlns:a16="http://schemas.microsoft.com/office/drawing/2014/main" val="4175835808"/>
                    </a:ext>
                  </a:extLst>
                </a:gridCol>
                <a:gridCol w="3785616">
                  <a:extLst>
                    <a:ext uri="{9D8B030D-6E8A-4147-A177-3AD203B41FA5}">
                      <a16:colId xmlns:a16="http://schemas.microsoft.com/office/drawing/2014/main" val="3494736957"/>
                    </a:ext>
                  </a:extLst>
                </a:gridCol>
                <a:gridCol w="4288535">
                  <a:extLst>
                    <a:ext uri="{9D8B030D-6E8A-4147-A177-3AD203B41FA5}">
                      <a16:colId xmlns:a16="http://schemas.microsoft.com/office/drawing/2014/main" val="3274509539"/>
                    </a:ext>
                  </a:extLst>
                </a:gridCol>
              </a:tblGrid>
              <a:tr h="370840">
                <a:tc>
                  <a:txBody>
                    <a:bodyPr/>
                    <a:lstStyle/>
                    <a:p>
                      <a:r>
                        <a:rPr lang="en-GB" sz="1400">
                          <a:solidFill>
                            <a:schemeClr val="tx1"/>
                          </a:solidFill>
                        </a:rPr>
                        <a:t>F13L Transaction Common Errors</a:t>
                      </a:r>
                    </a:p>
                  </a:txBody>
                  <a:tcPr/>
                </a:tc>
                <a:tc>
                  <a:txBody>
                    <a:bodyPr/>
                    <a:lstStyle/>
                    <a:p>
                      <a:r>
                        <a:rPr lang="en-GB" sz="1400">
                          <a:solidFill>
                            <a:schemeClr val="tx1"/>
                          </a:solidFill>
                        </a:rPr>
                        <a:t>Error Reason</a:t>
                      </a:r>
                    </a:p>
                  </a:txBody>
                  <a:tcPr/>
                </a:tc>
                <a:tc>
                  <a:txBody>
                    <a:bodyPr/>
                    <a:lstStyle/>
                    <a:p>
                      <a:r>
                        <a:rPr lang="en-GB" sz="1400">
                          <a:solidFill>
                            <a:schemeClr val="tx1"/>
                          </a:solidFill>
                        </a:rPr>
                        <a:t>Error Resolution</a:t>
                      </a:r>
                    </a:p>
                  </a:txBody>
                  <a:tcPr/>
                </a:tc>
                <a:extLst>
                  <a:ext uri="{0D108BD9-81ED-4DB2-BD59-A6C34878D82A}">
                    <a16:rowId xmlns:a16="http://schemas.microsoft.com/office/drawing/2014/main" val="4189051396"/>
                  </a:ext>
                </a:extLst>
              </a:tr>
              <a:tr h="370840">
                <a:tc>
                  <a:txBody>
                    <a:bodyPr/>
                    <a:lstStyle/>
                    <a:p>
                      <a:pPr algn="l" fontAlgn="ctr"/>
                      <a:r>
                        <a:rPr lang="en-GB" sz="1100" b="0" i="0" u="none" strike="noStrike">
                          <a:solidFill>
                            <a:srgbClr val="000000"/>
                          </a:solidFill>
                          <a:effectLst/>
                          <a:latin typeface="+mj-lt"/>
                        </a:rPr>
                        <a:t>FX clearing accounts are not setup for clearing </a:t>
                      </a:r>
                    </a:p>
                  </a:txBody>
                  <a:tcPr marL="72000" marR="9525" marT="9525" marB="0" anchor="ctr"/>
                </a:tc>
                <a:tc>
                  <a:txBody>
                    <a:bodyPr/>
                    <a:lstStyle/>
                    <a:p>
                      <a:pPr algn="l" fontAlgn="ctr"/>
                      <a:r>
                        <a:rPr lang="en-GB" sz="1100" b="0" i="0" u="none" strike="noStrike">
                          <a:solidFill>
                            <a:srgbClr val="000000"/>
                          </a:solidFill>
                          <a:effectLst/>
                          <a:latin typeface="+mj-lt"/>
                        </a:rPr>
                        <a:t>FX clearing accounts are not setup in the system for clearing </a:t>
                      </a:r>
                    </a:p>
                  </a:txBody>
                  <a:tcPr marL="72000" marR="9525" marT="9525" marB="0" anchor="ctr"/>
                </a:tc>
                <a:tc>
                  <a:txBody>
                    <a:bodyPr/>
                    <a:lstStyle/>
                    <a:p>
                      <a:pPr algn="l" fontAlgn="ctr"/>
                      <a:r>
                        <a:rPr lang="en-GB" sz="1100" b="0" i="0" u="none" strike="noStrike">
                          <a:solidFill>
                            <a:srgbClr val="000000"/>
                          </a:solidFill>
                          <a:effectLst/>
                          <a:latin typeface="+mj-lt"/>
                        </a:rPr>
                        <a:t>Contact the Market and ask them to raise the RITM request via the IT Service Portal. Once the request is completed the task can be re-run or executed manually</a:t>
                      </a:r>
                    </a:p>
                  </a:txBody>
                  <a:tcPr marL="72000" marR="9525" marT="9525" marB="0" anchor="ctr"/>
                </a:tc>
                <a:extLst>
                  <a:ext uri="{0D108BD9-81ED-4DB2-BD59-A6C34878D82A}">
                    <a16:rowId xmlns:a16="http://schemas.microsoft.com/office/drawing/2014/main" val="4208081998"/>
                  </a:ext>
                </a:extLst>
              </a:tr>
              <a:tr h="370840">
                <a:tc>
                  <a:txBody>
                    <a:bodyPr/>
                    <a:lstStyle/>
                    <a:p>
                      <a:pPr algn="l" fontAlgn="ctr"/>
                      <a:r>
                        <a:rPr lang="en-GB" sz="1100" b="0" i="0" u="none" strike="noStrike">
                          <a:solidFill>
                            <a:srgbClr val="000000"/>
                          </a:solidFill>
                          <a:effectLst/>
                          <a:latin typeface="+mj-lt"/>
                        </a:rPr>
                        <a:t>The difference is too large for clearing</a:t>
                      </a:r>
                    </a:p>
                  </a:txBody>
                  <a:tcPr marL="72000" marR="9525" marT="9525" marB="0" anchor="ctr"/>
                </a:tc>
                <a:tc>
                  <a:txBody>
                    <a:bodyPr/>
                    <a:lstStyle/>
                    <a:p>
                      <a:pPr algn="l" fontAlgn="ctr"/>
                      <a:r>
                        <a:rPr lang="en-GB" sz="1100" b="0" i="0" u="none" strike="noStrike">
                          <a:solidFill>
                            <a:srgbClr val="000000"/>
                          </a:solidFill>
                          <a:effectLst/>
                          <a:latin typeface="+mj-lt"/>
                        </a:rPr>
                        <a:t>The system confirms that the clearing criteria were not met due to difference in clearing process</a:t>
                      </a:r>
                    </a:p>
                  </a:txBody>
                  <a:tcPr marL="72000" marR="9525" marT="9525" marB="0" anchor="ctr"/>
                </a:tc>
                <a:tc>
                  <a:txBody>
                    <a:bodyPr/>
                    <a:lstStyle/>
                    <a:p>
                      <a:pPr algn="l" fontAlgn="ctr"/>
                      <a:r>
                        <a:rPr lang="en-GB" sz="1100" b="0" i="0" u="none" strike="noStrike">
                          <a:solidFill>
                            <a:srgbClr val="000000"/>
                          </a:solidFill>
                          <a:effectLst/>
                          <a:latin typeface="+mj-lt"/>
                        </a:rPr>
                        <a:t>No action to be taken, we can ignore the message</a:t>
                      </a:r>
                    </a:p>
                  </a:txBody>
                  <a:tcPr marL="72000" marR="9525" marT="9525" marB="0" anchor="ctr"/>
                </a:tc>
                <a:extLst>
                  <a:ext uri="{0D108BD9-81ED-4DB2-BD59-A6C34878D82A}">
                    <a16:rowId xmlns:a16="http://schemas.microsoft.com/office/drawing/2014/main" val="4015071510"/>
                  </a:ext>
                </a:extLst>
              </a:tr>
              <a:tr h="370840">
                <a:tc>
                  <a:txBody>
                    <a:bodyPr/>
                    <a:lstStyle/>
                    <a:p>
                      <a:pPr algn="l" fontAlgn="ctr"/>
                      <a:r>
                        <a:rPr lang="en-GB" sz="1100" b="0" i="0" u="none" strike="noStrike">
                          <a:solidFill>
                            <a:srgbClr val="000000"/>
                          </a:solidFill>
                          <a:effectLst/>
                          <a:latin typeface="+mj-lt"/>
                        </a:rPr>
                        <a:t>No G/L account documents selected</a:t>
                      </a:r>
                    </a:p>
                  </a:txBody>
                  <a:tcPr marL="72000" marR="9525" marT="9525" marB="0" anchor="ctr"/>
                </a:tc>
                <a:tc>
                  <a:txBody>
                    <a:bodyPr/>
                    <a:lstStyle/>
                    <a:p>
                      <a:pPr algn="l" fontAlgn="ctr"/>
                      <a:r>
                        <a:rPr lang="en-GB" sz="1100" b="0" i="0" u="none" strike="noStrike">
                          <a:solidFill>
                            <a:srgbClr val="000000"/>
                          </a:solidFill>
                          <a:effectLst/>
                          <a:latin typeface="+mj-lt"/>
                        </a:rPr>
                        <a:t>Not a real error, message informing that there is no posting to be cleared for the selected account</a:t>
                      </a:r>
                    </a:p>
                  </a:txBody>
                  <a:tcPr marL="72000" marR="9525" marT="9525" marB="0" anchor="ctr"/>
                </a:tc>
                <a:tc>
                  <a:txBody>
                    <a:bodyPr/>
                    <a:lstStyle/>
                    <a:p>
                      <a:pPr algn="l" fontAlgn="ctr"/>
                      <a:r>
                        <a:rPr lang="en-GB" sz="1100" b="0" i="0" u="none" strike="noStrike">
                          <a:solidFill>
                            <a:srgbClr val="000000"/>
                          </a:solidFill>
                          <a:effectLst/>
                          <a:latin typeface="+mj-lt"/>
                        </a:rPr>
                        <a:t>No action to be taken, we can ignore the message</a:t>
                      </a:r>
                    </a:p>
                  </a:txBody>
                  <a:tcPr marL="72000" marR="9525" marT="9525" marB="0" anchor="ctr"/>
                </a:tc>
                <a:extLst>
                  <a:ext uri="{0D108BD9-81ED-4DB2-BD59-A6C34878D82A}">
                    <a16:rowId xmlns:a16="http://schemas.microsoft.com/office/drawing/2014/main" val="1179639376"/>
                  </a:ext>
                </a:extLst>
              </a:tr>
              <a:tr h="370840">
                <a:tc>
                  <a:txBody>
                    <a:bodyPr/>
                    <a:lstStyle/>
                    <a:p>
                      <a:pPr algn="l" fontAlgn="ctr"/>
                      <a:r>
                        <a:rPr lang="en-GB" sz="1100" b="0" i="0" u="none" strike="noStrike">
                          <a:solidFill>
                            <a:srgbClr val="000000"/>
                          </a:solidFill>
                          <a:effectLst/>
                          <a:latin typeface="+mj-lt"/>
                        </a:rPr>
                        <a:t>No ledger group-specific clearing for the account</a:t>
                      </a:r>
                    </a:p>
                  </a:txBody>
                  <a:tcPr marL="72000" marR="9525" marT="9525" marB="0" anchor="ctr"/>
                </a:tc>
                <a:tc>
                  <a:txBody>
                    <a:bodyPr/>
                    <a:lstStyle/>
                    <a:p>
                      <a:pPr algn="l" fontAlgn="ctr"/>
                      <a:r>
                        <a:rPr lang="en-GB" sz="1100" b="0" i="0" u="none" strike="noStrike">
                          <a:solidFill>
                            <a:srgbClr val="000000"/>
                          </a:solidFill>
                          <a:effectLst/>
                          <a:latin typeface="+mj-lt"/>
                        </a:rPr>
                        <a:t>Not a real error, message informing that there is no ledger -specific posting to be cleared for the selected account</a:t>
                      </a:r>
                    </a:p>
                  </a:txBody>
                  <a:tcPr marL="72000" marR="9525" marT="9525" marB="0" anchor="ctr"/>
                </a:tc>
                <a:tc>
                  <a:txBody>
                    <a:bodyPr/>
                    <a:lstStyle/>
                    <a:p>
                      <a:pPr algn="l" fontAlgn="ctr"/>
                      <a:r>
                        <a:rPr lang="en-GB" sz="1100" b="0" i="0" u="none" strike="noStrike">
                          <a:solidFill>
                            <a:srgbClr val="000000"/>
                          </a:solidFill>
                          <a:effectLst/>
                          <a:latin typeface="+mj-lt"/>
                        </a:rPr>
                        <a:t>No action to be taken, we can ignore the message</a:t>
                      </a:r>
                    </a:p>
                  </a:txBody>
                  <a:tcPr marL="72000" marR="9525" marT="9525" marB="0" anchor="ctr"/>
                </a:tc>
                <a:extLst>
                  <a:ext uri="{0D108BD9-81ED-4DB2-BD59-A6C34878D82A}">
                    <a16:rowId xmlns:a16="http://schemas.microsoft.com/office/drawing/2014/main" val="2373823773"/>
                  </a:ext>
                </a:extLst>
              </a:tr>
            </a:tbl>
          </a:graphicData>
        </a:graphic>
      </p:graphicFrame>
      <p:grpSp>
        <p:nvGrpSpPr>
          <p:cNvPr id="10" name="Group 9">
            <a:extLst>
              <a:ext uri="{FF2B5EF4-FFF2-40B4-BE49-F238E27FC236}">
                <a16:creationId xmlns:a16="http://schemas.microsoft.com/office/drawing/2014/main" id="{CC8CFCA3-B1A7-48CC-D89D-03D82DF94DBE}"/>
              </a:ext>
            </a:extLst>
          </p:cNvPr>
          <p:cNvGrpSpPr/>
          <p:nvPr/>
        </p:nvGrpSpPr>
        <p:grpSpPr>
          <a:xfrm>
            <a:off x="551987" y="1446194"/>
            <a:ext cx="4804656" cy="2773687"/>
            <a:chOff x="551987" y="1446194"/>
            <a:chExt cx="4804656" cy="2773687"/>
          </a:xfrm>
        </p:grpSpPr>
        <p:grpSp>
          <p:nvGrpSpPr>
            <p:cNvPr id="2" name="Group 1">
              <a:extLst>
                <a:ext uri="{FF2B5EF4-FFF2-40B4-BE49-F238E27FC236}">
                  <a16:creationId xmlns:a16="http://schemas.microsoft.com/office/drawing/2014/main" id="{AC6981E0-9A4F-27A1-67E3-A9F7A1E8BCFA}"/>
                </a:ext>
              </a:extLst>
            </p:cNvPr>
            <p:cNvGrpSpPr/>
            <p:nvPr/>
          </p:nvGrpSpPr>
          <p:grpSpPr>
            <a:xfrm>
              <a:off x="551987" y="1446194"/>
              <a:ext cx="4804656" cy="2773687"/>
              <a:chOff x="533699" y="2881802"/>
              <a:chExt cx="4804656" cy="2773687"/>
            </a:xfrm>
          </p:grpSpPr>
          <p:pic>
            <p:nvPicPr>
              <p:cNvPr id="23" name="Picture 22">
                <a:extLst>
                  <a:ext uri="{FF2B5EF4-FFF2-40B4-BE49-F238E27FC236}">
                    <a16:creationId xmlns:a16="http://schemas.microsoft.com/office/drawing/2014/main" id="{A7F502D6-E654-A5DF-3612-CAADA65D7C91}"/>
                  </a:ext>
                </a:extLst>
              </p:cNvPr>
              <p:cNvPicPr>
                <a:picLocks noChangeAspect="1"/>
              </p:cNvPicPr>
              <p:nvPr/>
            </p:nvPicPr>
            <p:blipFill>
              <a:blip r:embed="rId2"/>
              <a:stretch>
                <a:fillRect/>
              </a:stretch>
            </p:blipFill>
            <p:spPr>
              <a:xfrm>
                <a:off x="533699" y="2881802"/>
                <a:ext cx="4804656" cy="2773687"/>
              </a:xfrm>
              <a:prstGeom prst="rect">
                <a:avLst/>
              </a:prstGeom>
              <a:effectLst>
                <a:outerShdw blurRad="63500" sx="102000" sy="102000" algn="ctr" rotWithShape="0">
                  <a:prstClr val="black">
                    <a:alpha val="40000"/>
                  </a:prstClr>
                </a:outerShdw>
              </a:effectLst>
            </p:spPr>
          </p:pic>
          <p:sp>
            <p:nvSpPr>
              <p:cNvPr id="31" name="Rectangle 30">
                <a:extLst>
                  <a:ext uri="{FF2B5EF4-FFF2-40B4-BE49-F238E27FC236}">
                    <a16:creationId xmlns:a16="http://schemas.microsoft.com/office/drawing/2014/main" id="{BB06D3EE-06F8-DBA5-5A63-7789D02CBB98}"/>
                  </a:ext>
                </a:extLst>
              </p:cNvPr>
              <p:cNvSpPr/>
              <p:nvPr/>
            </p:nvSpPr>
            <p:spPr>
              <a:xfrm>
                <a:off x="4040777" y="4171406"/>
                <a:ext cx="783772" cy="261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Rectangle 31">
                <a:extLst>
                  <a:ext uri="{FF2B5EF4-FFF2-40B4-BE49-F238E27FC236}">
                    <a16:creationId xmlns:a16="http://schemas.microsoft.com/office/drawing/2014/main" id="{C642BDEC-D2EF-0A83-0636-02BF7DAEF7EE}"/>
                  </a:ext>
                </a:extLst>
              </p:cNvPr>
              <p:cNvSpPr/>
              <p:nvPr/>
            </p:nvSpPr>
            <p:spPr>
              <a:xfrm>
                <a:off x="653143" y="5207726"/>
                <a:ext cx="3509554" cy="3426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9" name="Picture 8">
              <a:extLst>
                <a:ext uri="{FF2B5EF4-FFF2-40B4-BE49-F238E27FC236}">
                  <a16:creationId xmlns:a16="http://schemas.microsoft.com/office/drawing/2014/main" id="{0BD1E115-BCA4-27A4-05C0-77879C6A5421}"/>
                </a:ext>
              </a:extLst>
            </p:cNvPr>
            <p:cNvPicPr>
              <a:picLocks noChangeAspect="1"/>
            </p:cNvPicPr>
            <p:nvPr/>
          </p:nvPicPr>
          <p:blipFill>
            <a:blip r:embed="rId3"/>
            <a:stretch>
              <a:fillRect/>
            </a:stretch>
          </p:blipFill>
          <p:spPr>
            <a:xfrm>
              <a:off x="806315" y="1682496"/>
              <a:ext cx="223033" cy="155448"/>
            </a:xfrm>
            <a:prstGeom prst="rect">
              <a:avLst/>
            </a:prstGeom>
          </p:spPr>
        </p:pic>
      </p:grpSp>
      <p:sp>
        <p:nvSpPr>
          <p:cNvPr id="7" name="Rectangle 6">
            <a:extLst>
              <a:ext uri="{FF2B5EF4-FFF2-40B4-BE49-F238E27FC236}">
                <a16:creationId xmlns:a16="http://schemas.microsoft.com/office/drawing/2014/main" id="{BCEA9DDF-6D5C-CC7C-D850-4602913CA170}"/>
              </a:ext>
            </a:extLst>
          </p:cNvPr>
          <p:cNvSpPr/>
          <p:nvPr/>
        </p:nvSpPr>
        <p:spPr>
          <a:xfrm>
            <a:off x="806315" y="1668780"/>
            <a:ext cx="256032" cy="1828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peech Bubble: Rectangle 10">
            <a:extLst>
              <a:ext uri="{FF2B5EF4-FFF2-40B4-BE49-F238E27FC236}">
                <a16:creationId xmlns:a16="http://schemas.microsoft.com/office/drawing/2014/main" id="{69FC74FF-DFD9-DFCE-9632-23D2E9462F10}"/>
              </a:ext>
            </a:extLst>
          </p:cNvPr>
          <p:cNvSpPr/>
          <p:nvPr/>
        </p:nvSpPr>
        <p:spPr>
          <a:xfrm>
            <a:off x="5943600" y="1850375"/>
            <a:ext cx="3081528" cy="982662"/>
          </a:xfrm>
          <a:prstGeom prst="wedgeRectCallout">
            <a:avLst>
              <a:gd name="adj1" fmla="val -77279"/>
              <a:gd name="adj2" fmla="val 97905"/>
            </a:avLst>
          </a:prstGeom>
          <a:solidFill>
            <a:schemeClr val="accent6">
              <a:lumMod val="40000"/>
              <a:lumOff val="6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a:solidFill>
                  <a:schemeClr val="tx1"/>
                </a:solidFill>
              </a:rPr>
              <a:t>If the FCC task returns with an error status, you may check the details of the errors also on the “Output Logs” tab, by displaying the Spool List and Job Log. Usually the Spool List will explain what the errors are.</a:t>
            </a:r>
          </a:p>
        </p:txBody>
      </p:sp>
      <p:sp>
        <p:nvSpPr>
          <p:cNvPr id="12" name="Speech Bubble: Rectangle 11">
            <a:extLst>
              <a:ext uri="{FF2B5EF4-FFF2-40B4-BE49-F238E27FC236}">
                <a16:creationId xmlns:a16="http://schemas.microsoft.com/office/drawing/2014/main" id="{BD3BB28D-ABEB-C27A-C013-B046DDFD5D19}"/>
              </a:ext>
            </a:extLst>
          </p:cNvPr>
          <p:cNvSpPr/>
          <p:nvPr/>
        </p:nvSpPr>
        <p:spPr>
          <a:xfrm>
            <a:off x="6269736" y="3447288"/>
            <a:ext cx="3081528" cy="598628"/>
          </a:xfrm>
          <a:prstGeom prst="wedgeRectCallout">
            <a:avLst>
              <a:gd name="adj1" fmla="val -37219"/>
              <a:gd name="adj2" fmla="val 123801"/>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a:solidFill>
                  <a:schemeClr val="tx1"/>
                </a:solidFill>
              </a:rPr>
              <a:t>The below common errors and solutions are </a:t>
            </a:r>
            <a:r>
              <a:rPr lang="en-GB" sz="1050" b="1">
                <a:solidFill>
                  <a:schemeClr val="tx1"/>
                </a:solidFill>
              </a:rPr>
              <a:t>not specific for F13L FCC execution, but also when you manually execute F13L.</a:t>
            </a:r>
          </a:p>
        </p:txBody>
      </p:sp>
    </p:spTree>
    <p:extLst>
      <p:ext uri="{BB962C8B-B14F-4D97-AF65-F5344CB8AC3E}">
        <p14:creationId xmlns:p14="http://schemas.microsoft.com/office/powerpoint/2010/main" val="113881284"/>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55F22184-D3DE-49E4-8CDF-B6B9D10D8ED5}"/>
</file>

<file path=customXml/itemProps2.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3.xml><?xml version="1.0" encoding="utf-8"?>
<ds:datastoreItem xmlns:ds="http://schemas.openxmlformats.org/officeDocument/2006/customXml" ds:itemID="{E3BC77B7-89BE-45D2-B43A-94AB4C5F40F4}">
  <ds:schemaRefs>
    <ds:schemaRef ds:uri="http://schemas.microsoft.com/office/infopath/2007/PartnerControls"/>
    <ds:schemaRef ds:uri="http://purl.org/dc/dcmitype/"/>
    <ds:schemaRef ds:uri="http://schemas.microsoft.com/office/2006/documentManagement/types"/>
    <ds:schemaRef ds:uri="http://purl.org/dc/elements/1.1/"/>
    <ds:schemaRef ds:uri="ba249638-b5c4-4b59-8094-70d8491c2e9c"/>
    <ds:schemaRef ds:uri="http://schemas.microsoft.com/office/2006/metadata/properties"/>
    <ds:schemaRef ds:uri="91871c47-af2e-43ea-ad3f-7bb4c536bc45"/>
    <ds:schemaRef ds:uri="http://schemas.openxmlformats.org/package/2006/metadata/core-properties"/>
    <ds:schemaRef ds:uri="cb52ee0d-5346-4ae8-a9f9-d746adffeb6b"/>
    <ds:schemaRef ds:uri="http://www.w3.org/XML/1998/namespace"/>
    <ds:schemaRef ds:uri="http://purl.org/dc/te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36</TotalTime>
  <Words>857</Words>
  <Application>Microsoft Office PowerPoint</Application>
  <PresentationFormat>Widescreen</PresentationFormat>
  <Paragraphs>59</Paragraphs>
  <Slides>4</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4</vt:i4>
      </vt:variant>
    </vt:vector>
  </HeadingPairs>
  <TitlesOfParts>
    <vt:vector size="10" baseType="lpstr">
      <vt:lpstr>Arial</vt:lpstr>
      <vt:lpstr>Calibri</vt:lpstr>
      <vt:lpstr>Georgia</vt:lpstr>
      <vt:lpstr>1_S4F-ERP Clean IFRS Stat &amp; Tax Rep</vt:lpstr>
      <vt:lpstr>S4F-ERP Period End Closing</vt:lpstr>
      <vt:lpstr>1_S4F-ERP Period End Closing</vt:lpstr>
      <vt:lpstr>Period End Closing Execution (BSC) </vt:lpstr>
      <vt:lpstr>Automatic Clearing of LSC1) Accounts (1/2)</vt:lpstr>
      <vt:lpstr>Automatic Clearing of LSC1) Accounts (2/2)</vt:lpstr>
      <vt:lpstr>Automatic Clearing of LSC Accounts – Common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2</cp:revision>
  <dcterms:created xsi:type="dcterms:W3CDTF">2019-04-11T09:35:08Z</dcterms:created>
  <dcterms:modified xsi:type="dcterms:W3CDTF">2024-04-25T17:35:16Z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1337800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