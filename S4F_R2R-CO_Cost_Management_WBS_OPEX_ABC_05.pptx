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363" r:id="rId5"/>
    <p:sldId id="2504" r:id="rId6"/>
    <p:sldId id="2341" r:id="rId7"/>
    <p:sldId id="2336" r:id="rId8"/>
    <p:sldId id="2337" r:id="rId9"/>
    <p:sldId id="2352" r:id="rId10"/>
    <p:sldId id="2991" r:id="rId11"/>
    <p:sldId id="2342" r:id="rId12"/>
    <p:sldId id="2987" r:id="rId13"/>
    <p:sldId id="2988" r:id="rId14"/>
    <p:sldId id="2992" r:id="rId15"/>
    <p:sldId id="2345" r:id="rId16"/>
    <p:sldId id="3006" r:id="rId17"/>
    <p:sldId id="3009" r:id="rId18"/>
    <p:sldId id="2346" r:id="rId19"/>
    <p:sldId id="2347" r:id="rId20"/>
    <p:sldId id="2983" r:id="rId21"/>
    <p:sldId id="3020" r:id="rId22"/>
    <p:sldId id="2996" r:id="rId23"/>
    <p:sldId id="2984" r:id="rId24"/>
    <p:sldId id="2985" r:id="rId25"/>
    <p:sldId id="2986" r:id="rId26"/>
    <p:sldId id="2989" r:id="rId27"/>
    <p:sldId id="2990" r:id="rId28"/>
    <p:sldId id="3018" r:id="rId29"/>
    <p:sldId id="3019" r:id="rId30"/>
    <p:sldId id="301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ED19D3C8-6D90-4216-A050-496D1F38F03E}"/>
    <pc:docChg chg="modSld">
      <pc:chgData name="O'Neill, Shauna" userId="1d0a8ccc-c260-429c-86e4-d406a5ac1d3d" providerId="ADAL" clId="{ED19D3C8-6D90-4216-A050-496D1F38F03E}" dt="2020-02-07T10:54:35.991" v="83" actId="20577"/>
      <pc:docMkLst>
        <pc:docMk/>
      </pc:docMkLst>
      <pc:sldChg chg="modSp">
        <pc:chgData name="O'Neill, Shauna" userId="1d0a8ccc-c260-429c-86e4-d406a5ac1d3d" providerId="ADAL" clId="{ED19D3C8-6D90-4216-A050-496D1F38F03E}" dt="2020-02-07T10:54:35.991" v="83" actId="20577"/>
        <pc:sldMkLst>
          <pc:docMk/>
          <pc:sldMk cId="656517287" sldId="2987"/>
        </pc:sldMkLst>
        <pc:graphicFrameChg chg="modGraphic">
          <ac:chgData name="O'Neill, Shauna" userId="1d0a8ccc-c260-429c-86e4-d406a5ac1d3d" providerId="ADAL" clId="{ED19D3C8-6D90-4216-A050-496D1F38F03E}" dt="2020-02-07T10:54:35.991" v="83" actId="20577"/>
          <ac:graphicFrameMkLst>
            <pc:docMk/>
            <pc:sldMk cId="656517287" sldId="2987"/>
            <ac:graphicFrameMk id="6" creationId="{952914F3-1008-432A-9698-F4E895B6A3F0}"/>
          </ac:graphicFrameMkLst>
        </pc:graphicFrameChg>
      </pc:sldChg>
    </pc:docChg>
  </pc:docChgLst>
  <pc:docChgLst>
    <pc:chgData name="McVey, Suzanne" userId="d4086ca4-ef1f-4ada-91cc-91d6702702bb" providerId="ADAL" clId="{23D299A8-1F35-4D1F-983A-05E0E3EDD737}"/>
    <pc:docChg chg="modSld">
      <pc:chgData name="McVey, Suzanne" userId="d4086ca4-ef1f-4ada-91cc-91d6702702bb" providerId="ADAL" clId="{23D299A8-1F35-4D1F-983A-05E0E3EDD737}" dt="2020-03-12T19:10:46.685" v="2"/>
      <pc:docMkLst>
        <pc:docMk/>
      </pc:docMkLst>
      <pc:sldChg chg="modSp">
        <pc:chgData name="McVey, Suzanne" userId="d4086ca4-ef1f-4ada-91cc-91d6702702bb" providerId="ADAL" clId="{23D299A8-1F35-4D1F-983A-05E0E3EDD737}" dt="2020-03-12T19:10:46.685" v="2"/>
        <pc:sldMkLst>
          <pc:docMk/>
          <pc:sldMk cId="3577663136" sldId="2996"/>
        </pc:sldMkLst>
        <pc:graphicFrameChg chg="mod">
          <ac:chgData name="McVey, Suzanne" userId="d4086ca4-ef1f-4ada-91cc-91d6702702bb" providerId="ADAL" clId="{23D299A8-1F35-4D1F-983A-05E0E3EDD737}" dt="2020-03-12T19:10:46.685" v="2"/>
          <ac:graphicFrameMkLst>
            <pc:docMk/>
            <pc:sldMk cId="3577663136" sldId="2996"/>
            <ac:graphicFrameMk id="11" creationId="{07D41673-C65B-42C6-816B-84E97B9A01E8}"/>
          </ac:graphicFrameMkLst>
        </pc:graphicFrameChg>
      </pc:sldChg>
    </pc:docChg>
  </pc:docChgLst>
  <pc:docChgLst>
    <pc:chgData name="McVey, Suzanne" userId="S::gvamcveys@corp.jti.com::d4086ca4-ef1f-4ada-91cc-91d6702702bb" providerId="AD" clId="Web-{0F94DC3F-7F56-24D5-C39D-2880A95C3A84}"/>
    <pc:docChg chg="modSld">
      <pc:chgData name="McVey, Suzanne" userId="S::gvamcveys@corp.jti.com::d4086ca4-ef1f-4ada-91cc-91d6702702bb" providerId="AD" clId="Web-{0F94DC3F-7F56-24D5-C39D-2880A95C3A84}" dt="2020-03-31T18:12:30.062" v="240" actId="1076"/>
      <pc:docMkLst>
        <pc:docMk/>
      </pc:docMkLst>
      <pc:sldChg chg="modSp">
        <pc:chgData name="McVey, Suzanne" userId="S::gvamcveys@corp.jti.com::d4086ca4-ef1f-4ada-91cc-91d6702702bb" providerId="AD" clId="Web-{0F94DC3F-7F56-24D5-C39D-2880A95C3A84}" dt="2020-03-31T18:09:15.495" v="98" actId="20577"/>
        <pc:sldMkLst>
          <pc:docMk/>
          <pc:sldMk cId="2645642552" sldId="2336"/>
        </pc:sldMkLst>
        <pc:spChg chg="mod">
          <ac:chgData name="McVey, Suzanne" userId="S::gvamcveys@corp.jti.com::d4086ca4-ef1f-4ada-91cc-91d6702702bb" providerId="AD" clId="Web-{0F94DC3F-7F56-24D5-C39D-2880A95C3A84}" dt="2020-03-31T18:09:15.495" v="98" actId="20577"/>
          <ac:spMkLst>
            <pc:docMk/>
            <pc:sldMk cId="2645642552" sldId="2336"/>
            <ac:spMk id="6" creationId="{D4C1EA47-9F6C-4AE6-AED1-28FCE04B0B3D}"/>
          </ac:spMkLst>
        </pc:spChg>
      </pc:sldChg>
      <pc:sldChg chg="addSp modSp">
        <pc:chgData name="McVey, Suzanne" userId="S::gvamcveys@corp.jti.com::d4086ca4-ef1f-4ada-91cc-91d6702702bb" providerId="AD" clId="Web-{0F94DC3F-7F56-24D5-C39D-2880A95C3A84}" dt="2020-03-31T18:12:30.062" v="240" actId="1076"/>
        <pc:sldMkLst>
          <pc:docMk/>
          <pc:sldMk cId="2123304048" sldId="3019"/>
        </pc:sldMkLst>
        <pc:spChg chg="mod">
          <ac:chgData name="McVey, Suzanne" userId="S::gvamcveys@corp.jti.com::d4086ca4-ef1f-4ada-91cc-91d6702702bb" providerId="AD" clId="Web-{0F94DC3F-7F56-24D5-C39D-2880A95C3A84}" dt="2020-03-31T18:11:27.154" v="130" actId="20577"/>
          <ac:spMkLst>
            <pc:docMk/>
            <pc:sldMk cId="2123304048" sldId="3019"/>
            <ac:spMk id="2" creationId="{55B0FC2D-6181-4335-9251-CD59A2B3CECA}"/>
          </ac:spMkLst>
        </pc:spChg>
        <pc:spChg chg="add mod">
          <ac:chgData name="McVey, Suzanne" userId="S::gvamcveys@corp.jti.com::d4086ca4-ef1f-4ada-91cc-91d6702702bb" providerId="AD" clId="Web-{0F94DC3F-7F56-24D5-C39D-2880A95C3A84}" dt="2020-03-31T18:12:30.062" v="240" actId="1076"/>
          <ac:spMkLst>
            <pc:docMk/>
            <pc:sldMk cId="2123304048" sldId="3019"/>
            <ac:spMk id="4" creationId="{B406867D-D384-4B35-8D99-CF877AED2C8C}"/>
          </ac:spMkLst>
        </pc:spChg>
        <pc:graphicFrameChg chg="mod modGraphic">
          <ac:chgData name="McVey, Suzanne" userId="S::gvamcveys@corp.jti.com::d4086ca4-ef1f-4ada-91cc-91d6702702bb" providerId="AD" clId="Web-{0F94DC3F-7F56-24D5-C39D-2880A95C3A84}" dt="2020-03-31T18:10:53.013" v="102"/>
          <ac:graphicFrameMkLst>
            <pc:docMk/>
            <pc:sldMk cId="2123304048" sldId="3019"/>
            <ac:graphicFrameMk id="8" creationId="{9D8F80A0-72D7-40AC-AD1A-B8B6EABC86FB}"/>
          </ac:graphicFrameMkLst>
        </pc:graphicFrameChg>
      </pc:sldChg>
    </pc:docChg>
  </pc:docChgLst>
  <pc:docChgLst>
    <pc:chgData name="O'Neill, Shauna" userId="1d0a8ccc-c260-429c-86e4-d406a5ac1d3d" providerId="ADAL" clId="{915D1563-C3B9-4345-9AAE-55C3E22B2486}"/>
    <pc:docChg chg="modSld">
      <pc:chgData name="O'Neill, Shauna" userId="1d0a8ccc-c260-429c-86e4-d406a5ac1d3d" providerId="ADAL" clId="{915D1563-C3B9-4345-9AAE-55C3E22B2486}" dt="2020-01-16T10:08:33.658" v="167" actId="20577"/>
      <pc:docMkLst>
        <pc:docMk/>
      </pc:docMkLst>
      <pc:sldChg chg="modSp">
        <pc:chgData name="O'Neill, Shauna" userId="1d0a8ccc-c260-429c-86e4-d406a5ac1d3d" providerId="ADAL" clId="{915D1563-C3B9-4345-9AAE-55C3E22B2486}" dt="2020-01-16T10:08:33.658" v="167" actId="20577"/>
        <pc:sldMkLst>
          <pc:docMk/>
          <pc:sldMk cId="75714366" sldId="2989"/>
        </pc:sldMkLst>
        <pc:spChg chg="mod">
          <ac:chgData name="O'Neill, Shauna" userId="1d0a8ccc-c260-429c-86e4-d406a5ac1d3d" providerId="ADAL" clId="{915D1563-C3B9-4345-9AAE-55C3E22B2486}" dt="2020-01-16T10:07:42.049" v="87" actId="404"/>
          <ac:spMkLst>
            <pc:docMk/>
            <pc:sldMk cId="75714366" sldId="2989"/>
            <ac:spMk id="2" creationId="{7C74B67E-1762-4006-84AF-75E27EF7F790}"/>
          </ac:spMkLst>
        </pc:spChg>
        <pc:spChg chg="mod">
          <ac:chgData name="O'Neill, Shauna" userId="1d0a8ccc-c260-429c-86e4-d406a5ac1d3d" providerId="ADAL" clId="{915D1563-C3B9-4345-9AAE-55C3E22B2486}" dt="2020-01-16T10:07:42.049" v="87" actId="404"/>
          <ac:spMkLst>
            <pc:docMk/>
            <pc:sldMk cId="75714366" sldId="2989"/>
            <ac:spMk id="4" creationId="{3E097871-09B1-4B18-A367-E61AEBE6DCF0}"/>
          </ac:spMkLst>
        </pc:spChg>
        <pc:spChg chg="mod">
          <ac:chgData name="O'Neill, Shauna" userId="1d0a8ccc-c260-429c-86e4-d406a5ac1d3d" providerId="ADAL" clId="{915D1563-C3B9-4345-9AAE-55C3E22B2486}" dt="2020-01-16T10:07:42.049" v="87" actId="404"/>
          <ac:spMkLst>
            <pc:docMk/>
            <pc:sldMk cId="75714366" sldId="2989"/>
            <ac:spMk id="5" creationId="{EDC8C677-1851-4161-B2B0-21176554149B}"/>
          </ac:spMkLst>
        </pc:spChg>
        <pc:spChg chg="mod">
          <ac:chgData name="O'Neill, Shauna" userId="1d0a8ccc-c260-429c-86e4-d406a5ac1d3d" providerId="ADAL" clId="{915D1563-C3B9-4345-9AAE-55C3E22B2486}" dt="2020-01-16T10:08:33.658" v="167" actId="20577"/>
          <ac:spMkLst>
            <pc:docMk/>
            <pc:sldMk cId="75714366" sldId="2989"/>
            <ac:spMk id="7" creationId="{86955B0C-D2DC-4AA5-83B0-5051A7B27A53}"/>
          </ac:spMkLst>
        </pc:spChg>
        <pc:spChg chg="mod">
          <ac:chgData name="O'Neill, Shauna" userId="1d0a8ccc-c260-429c-86e4-d406a5ac1d3d" providerId="ADAL" clId="{915D1563-C3B9-4345-9AAE-55C3E22B2486}" dt="2020-01-16T10:07:42.049" v="87" actId="404"/>
          <ac:spMkLst>
            <pc:docMk/>
            <pc:sldMk cId="75714366" sldId="2989"/>
            <ac:spMk id="8" creationId="{C32BA1A2-8D68-4B18-9C09-CC4A6F4FED96}"/>
          </ac:spMkLst>
        </pc:spChg>
        <pc:picChg chg="mod">
          <ac:chgData name="O'Neill, Shauna" userId="1d0a8ccc-c260-429c-86e4-d406a5ac1d3d" providerId="ADAL" clId="{915D1563-C3B9-4345-9AAE-55C3E22B2486}" dt="2020-01-16T10:07:42.049" v="87" actId="404"/>
          <ac:picMkLst>
            <pc:docMk/>
            <pc:sldMk cId="75714366" sldId="2989"/>
            <ac:picMk id="6" creationId="{9E3D71DC-9825-45CC-BEAA-3CE8D5E220E0}"/>
          </ac:picMkLst>
        </pc:picChg>
        <pc:picChg chg="mod">
          <ac:chgData name="O'Neill, Shauna" userId="1d0a8ccc-c260-429c-86e4-d406a5ac1d3d" providerId="ADAL" clId="{915D1563-C3B9-4345-9AAE-55C3E22B2486}" dt="2020-01-16T10:07:42.049" v="87" actId="404"/>
          <ac:picMkLst>
            <pc:docMk/>
            <pc:sldMk cId="75714366" sldId="2989"/>
            <ac:picMk id="16386" creationId="{196DF8D9-FC66-41C0-8CB1-6030FEF9E622}"/>
          </ac:picMkLst>
        </pc:picChg>
      </pc:sldChg>
    </pc:docChg>
  </pc:docChgLst>
  <pc:docChgLst>
    <pc:chgData name="Chuksina, Vera" userId="a120b435-2ba4-41a7-a630-19094674ca58" providerId="ADAL" clId="{EA87D349-C35D-4AB8-8D35-1269BF8CE0EB}"/>
    <pc:docChg chg="modSld">
      <pc:chgData name="Chuksina, Vera" userId="a120b435-2ba4-41a7-a630-19094674ca58" providerId="ADAL" clId="{EA87D349-C35D-4AB8-8D35-1269BF8CE0EB}" dt="2020-03-17T11:28:34.968" v="0"/>
      <pc:docMkLst>
        <pc:docMk/>
      </pc:docMkLst>
      <pc:sldChg chg="modSp">
        <pc:chgData name="Chuksina, Vera" userId="a120b435-2ba4-41a7-a630-19094674ca58" providerId="ADAL" clId="{EA87D349-C35D-4AB8-8D35-1269BF8CE0EB}" dt="2020-03-17T11:28:34.968" v="0"/>
        <pc:sldMkLst>
          <pc:docMk/>
          <pc:sldMk cId="3577663136" sldId="2996"/>
        </pc:sldMkLst>
        <pc:graphicFrameChg chg="mod">
          <ac:chgData name="Chuksina, Vera" userId="a120b435-2ba4-41a7-a630-19094674ca58" providerId="ADAL" clId="{EA87D349-C35D-4AB8-8D35-1269BF8CE0EB}" dt="2020-03-17T11:28:34.968" v="0"/>
          <ac:graphicFrameMkLst>
            <pc:docMk/>
            <pc:sldMk cId="3577663136" sldId="2996"/>
            <ac:graphicFrameMk id="12" creationId="{0FDF06B9-4E57-488F-951C-6AACC84D602E}"/>
          </ac:graphicFrameMkLst>
        </pc:graphicFrameChg>
      </pc:sldChg>
    </pc:docChg>
  </pc:docChgLst>
  <pc:docChgLst>
    <pc:chgData name="Kudriavtseva, Larisa" userId="c9b253eb-83a1-48eb-8fd1-06d51841f35a" providerId="ADAL" clId="{D34D2E9F-7201-4013-9136-FAF31443C6AD}"/>
    <pc:docChg chg="modSld">
      <pc:chgData name="Kudriavtseva, Larisa" userId="c9b253eb-83a1-48eb-8fd1-06d51841f35a" providerId="ADAL" clId="{D34D2E9F-7201-4013-9136-FAF31443C6AD}" dt="2020-02-25T12:44:01.404" v="0"/>
      <pc:docMkLst>
        <pc:docMk/>
      </pc:docMkLst>
      <pc:sldChg chg="modSp">
        <pc:chgData name="Kudriavtseva, Larisa" userId="c9b253eb-83a1-48eb-8fd1-06d51841f35a" providerId="ADAL" clId="{D34D2E9F-7201-4013-9136-FAF31443C6AD}" dt="2020-02-25T12:44:01.404" v="0"/>
        <pc:sldMkLst>
          <pc:docMk/>
          <pc:sldMk cId="3577663136" sldId="2996"/>
        </pc:sldMkLst>
        <pc:graphicFrameChg chg="mod">
          <ac:chgData name="Kudriavtseva, Larisa" userId="c9b253eb-83a1-48eb-8fd1-06d51841f35a" providerId="ADAL" clId="{D34D2E9F-7201-4013-9136-FAF31443C6AD}" dt="2020-02-25T12:44:01.404" v="0"/>
          <ac:graphicFrameMkLst>
            <pc:docMk/>
            <pc:sldMk cId="3577663136" sldId="2996"/>
            <ac:graphicFrameMk id="11" creationId="{07D41673-C65B-42C6-816B-84E97B9A01E8}"/>
          </ac:graphicFrameMkLst>
        </pc:graphicFrameChg>
      </pc:sldChg>
    </pc:docChg>
  </pc:docChgLst>
  <pc:docChgLst>
    <pc:chgData name="Chuksina, Vera" userId="S::spbchuksvv@corp.jti.com::a120b435-2ba4-41a7-a630-19094674ca58" providerId="AD" clId="Web-{44F85F02-925B-CED1-FA42-B92127C52030}"/>
    <pc:docChg chg="modSld">
      <pc:chgData name="Chuksina, Vera" userId="S::spbchuksvv@corp.jti.com::a120b435-2ba4-41a7-a630-19094674ca58" providerId="AD" clId="Web-{44F85F02-925B-CED1-FA42-B92127C52030}" dt="2020-03-31T09:45:56.452" v="18" actId="20577"/>
      <pc:docMkLst>
        <pc:docMk/>
      </pc:docMkLst>
      <pc:sldChg chg="modSp">
        <pc:chgData name="Chuksina, Vera" userId="S::spbchuksvv@corp.jti.com::a120b435-2ba4-41a7-a630-19094674ca58" providerId="AD" clId="Web-{44F85F02-925B-CED1-FA42-B92127C52030}" dt="2020-03-31T09:45:56.452" v="18" actId="20577"/>
        <pc:sldMkLst>
          <pc:docMk/>
          <pc:sldMk cId="2123304048" sldId="3019"/>
        </pc:sldMkLst>
        <pc:spChg chg="mod">
          <ac:chgData name="Chuksina, Vera" userId="S::spbchuksvv@corp.jti.com::a120b435-2ba4-41a7-a630-19094674ca58" providerId="AD" clId="Web-{44F85F02-925B-CED1-FA42-B92127C52030}" dt="2020-03-31T09:45:56.452" v="18" actId="20577"/>
          <ac:spMkLst>
            <pc:docMk/>
            <pc:sldMk cId="2123304048" sldId="3019"/>
            <ac:spMk id="3" creationId="{64D2EE5A-1F9F-4B9A-A0C5-72990092D232}"/>
          </ac:spMkLst>
        </pc:spChg>
        <pc:graphicFrameChg chg="mod modGraphic">
          <ac:chgData name="Chuksina, Vera" userId="S::spbchuksvv@corp.jti.com::a120b435-2ba4-41a7-a630-19094674ca58" providerId="AD" clId="Web-{44F85F02-925B-CED1-FA42-B92127C52030}" dt="2020-03-31T09:44:58.904" v="12"/>
          <ac:graphicFrameMkLst>
            <pc:docMk/>
            <pc:sldMk cId="2123304048" sldId="3019"/>
            <ac:graphicFrameMk id="8" creationId="{9D8F80A0-72D7-40AC-AD1A-B8B6EABC86FB}"/>
          </ac:graphicFrameMkLst>
        </pc:graphicFrameChg>
      </pc:sldChg>
    </pc:docChg>
  </pc:docChgLst>
  <pc:docChgLst>
    <pc:chgData name="O'Neill, Shauna" userId="S::cstoneils2@corp.jti.com::1d0a8ccc-c260-429c-86e4-d406a5ac1d3d" providerId="AD" clId="Web-{9CDB8064-03CC-7ECE-8029-69A3AEA88A2C}"/>
    <pc:docChg chg="modSld">
      <pc:chgData name="O'Neill, Shauna" userId="S::cstoneils2@corp.jti.com::1d0a8ccc-c260-429c-86e4-d406a5ac1d3d" providerId="AD" clId="Web-{9CDB8064-03CC-7ECE-8029-69A3AEA88A2C}" dt="2020-06-03T15:09:01.991" v="0" actId="1076"/>
      <pc:docMkLst>
        <pc:docMk/>
      </pc:docMkLst>
      <pc:sldChg chg="modSp">
        <pc:chgData name="O'Neill, Shauna" userId="S::cstoneils2@corp.jti.com::1d0a8ccc-c260-429c-86e4-d406a5ac1d3d" providerId="AD" clId="Web-{9CDB8064-03CC-7ECE-8029-69A3AEA88A2C}" dt="2020-06-03T15:09:01.991" v="0" actId="1076"/>
        <pc:sldMkLst>
          <pc:docMk/>
          <pc:sldMk cId="1530028002" sldId="2504"/>
        </pc:sldMkLst>
        <pc:picChg chg="mod">
          <ac:chgData name="O'Neill, Shauna" userId="S::cstoneils2@corp.jti.com::1d0a8ccc-c260-429c-86e4-d406a5ac1d3d" providerId="AD" clId="Web-{9CDB8064-03CC-7ECE-8029-69A3AEA88A2C}" dt="2020-06-03T15:09:01.991" v="0" actId="1076"/>
          <ac:picMkLst>
            <pc:docMk/>
            <pc:sldMk cId="1530028002" sldId="2504"/>
            <ac:picMk id="39" creationId="{D7B7FDEE-26C0-4806-9BAE-860E52629F7A}"/>
          </ac:picMkLst>
        </pc:picChg>
      </pc:sldChg>
    </pc:docChg>
  </pc:docChgLst>
  <pc:docChgLst>
    <pc:chgData name="O'Neill, Shauna" userId="1d0a8ccc-c260-429c-86e4-d406a5ac1d3d" providerId="ADAL" clId="{9535F624-6B4D-487A-A01B-7353476E6752}"/>
    <pc:docChg chg="undo custSel addSld modSld">
      <pc:chgData name="O'Neill, Shauna" userId="1d0a8ccc-c260-429c-86e4-d406a5ac1d3d" providerId="ADAL" clId="{9535F624-6B4D-487A-A01B-7353476E6752}" dt="2020-04-09T20:13:22.046" v="2319"/>
      <pc:docMkLst>
        <pc:docMk/>
      </pc:docMkLst>
      <pc:sldChg chg="modSp">
        <pc:chgData name="O'Neill, Shauna" userId="1d0a8ccc-c260-429c-86e4-d406a5ac1d3d" providerId="ADAL" clId="{9535F624-6B4D-487A-A01B-7353476E6752}" dt="2020-03-13T12:45:36.960" v="1006" actId="20577"/>
        <pc:sldMkLst>
          <pc:docMk/>
          <pc:sldMk cId="3767150453" sldId="2345"/>
        </pc:sldMkLst>
        <pc:spChg chg="mod">
          <ac:chgData name="O'Neill, Shauna" userId="1d0a8ccc-c260-429c-86e4-d406a5ac1d3d" providerId="ADAL" clId="{9535F624-6B4D-487A-A01B-7353476E6752}" dt="2020-03-13T12:45:15.414" v="988" actId="1076"/>
          <ac:spMkLst>
            <pc:docMk/>
            <pc:sldMk cId="3767150453" sldId="2345"/>
            <ac:spMk id="8" creationId="{21F98ACC-26D8-4A04-AEC8-CB400110F4C8}"/>
          </ac:spMkLst>
        </pc:spChg>
        <pc:graphicFrameChg chg="mod modGraphic">
          <ac:chgData name="O'Neill, Shauna" userId="1d0a8ccc-c260-429c-86e4-d406a5ac1d3d" providerId="ADAL" clId="{9535F624-6B4D-487A-A01B-7353476E6752}" dt="2020-03-13T12:45:36.960" v="1006" actId="20577"/>
          <ac:graphicFrameMkLst>
            <pc:docMk/>
            <pc:sldMk cId="3767150453" sldId="2345"/>
            <ac:graphicFrameMk id="6" creationId="{BF11A145-D9FE-4FA9-9D3B-1BEEECB2DC1D}"/>
          </ac:graphicFrameMkLst>
        </pc:graphicFrameChg>
      </pc:sldChg>
      <pc:sldChg chg="modSp">
        <pc:chgData name="O'Neill, Shauna" userId="1d0a8ccc-c260-429c-86e4-d406a5ac1d3d" providerId="ADAL" clId="{9535F624-6B4D-487A-A01B-7353476E6752}" dt="2020-03-13T12:17:30.791" v="967" actId="20577"/>
        <pc:sldMkLst>
          <pc:docMk/>
          <pc:sldMk cId="1530028002" sldId="2504"/>
        </pc:sldMkLst>
        <pc:spChg chg="mod">
          <ac:chgData name="O'Neill, Shauna" userId="1d0a8ccc-c260-429c-86e4-d406a5ac1d3d" providerId="ADAL" clId="{9535F624-6B4D-487A-A01B-7353476E6752}" dt="2020-03-13T12:16:49.513" v="882" actId="113"/>
          <ac:spMkLst>
            <pc:docMk/>
            <pc:sldMk cId="1530028002" sldId="2504"/>
            <ac:spMk id="31" creationId="{0D08E539-567F-413A-A74D-C728640AEB90}"/>
          </ac:spMkLst>
        </pc:spChg>
        <pc:spChg chg="mod">
          <ac:chgData name="O'Neill, Shauna" userId="1d0a8ccc-c260-429c-86e4-d406a5ac1d3d" providerId="ADAL" clId="{9535F624-6B4D-487A-A01B-7353476E6752}" dt="2020-03-13T12:17:30.791" v="967" actId="20577"/>
          <ac:spMkLst>
            <pc:docMk/>
            <pc:sldMk cId="1530028002" sldId="2504"/>
            <ac:spMk id="34" creationId="{199F1171-0E18-4609-95FF-A06EC073F388}"/>
          </ac:spMkLst>
        </pc:spChg>
        <pc:spChg chg="mod">
          <ac:chgData name="O'Neill, Shauna" userId="1d0a8ccc-c260-429c-86e4-d406a5ac1d3d" providerId="ADAL" clId="{9535F624-6B4D-487A-A01B-7353476E6752}" dt="2020-03-13T12:16:32.857" v="880" actId="14100"/>
          <ac:spMkLst>
            <pc:docMk/>
            <pc:sldMk cId="1530028002" sldId="2504"/>
            <ac:spMk id="40" creationId="{AECC5FD0-CEC1-4C23-B206-91C718E1C739}"/>
          </ac:spMkLst>
        </pc:spChg>
        <pc:spChg chg="mod">
          <ac:chgData name="O'Neill, Shauna" userId="1d0a8ccc-c260-429c-86e4-d406a5ac1d3d" providerId="ADAL" clId="{9535F624-6B4D-487A-A01B-7353476E6752}" dt="2020-03-13T12:16:37.162" v="881" actId="14100"/>
          <ac:spMkLst>
            <pc:docMk/>
            <pc:sldMk cId="1530028002" sldId="2504"/>
            <ac:spMk id="42" creationId="{3B16B97E-AA9C-42A6-9532-FFE8CB2B6188}"/>
          </ac:spMkLst>
        </pc:spChg>
      </pc:sldChg>
      <pc:sldChg chg="addSp delSp modSp">
        <pc:chgData name="O'Neill, Shauna" userId="1d0a8ccc-c260-429c-86e4-d406a5ac1d3d" providerId="ADAL" clId="{9535F624-6B4D-487A-A01B-7353476E6752}" dt="2020-03-13T12:53:50.758" v="1073" actId="1076"/>
        <pc:sldMkLst>
          <pc:docMk/>
          <pc:sldMk cId="3296499084" sldId="2983"/>
        </pc:sldMkLst>
        <pc:spChg chg="del mod">
          <ac:chgData name="O'Neill, Shauna" userId="1d0a8ccc-c260-429c-86e4-d406a5ac1d3d" providerId="ADAL" clId="{9535F624-6B4D-487A-A01B-7353476E6752}" dt="2020-03-13T12:51:56.209" v="1024"/>
          <ac:spMkLst>
            <pc:docMk/>
            <pc:sldMk cId="3296499084" sldId="2983"/>
            <ac:spMk id="4" creationId="{33182F0C-92B6-4E69-836E-259849DCB894}"/>
          </ac:spMkLst>
        </pc:spChg>
        <pc:spChg chg="mod">
          <ac:chgData name="O'Neill, Shauna" userId="1d0a8ccc-c260-429c-86e4-d406a5ac1d3d" providerId="ADAL" clId="{9535F624-6B4D-487A-A01B-7353476E6752}" dt="2020-03-13T12:53:07.322" v="1065" actId="20577"/>
          <ac:spMkLst>
            <pc:docMk/>
            <pc:sldMk cId="3296499084" sldId="2983"/>
            <ac:spMk id="6" creationId="{579805AA-5D70-4823-B789-062D5DF1FF8C}"/>
          </ac:spMkLst>
        </pc:spChg>
        <pc:spChg chg="mod">
          <ac:chgData name="O'Neill, Shauna" userId="1d0a8ccc-c260-429c-86e4-d406a5ac1d3d" providerId="ADAL" clId="{9535F624-6B4D-487A-A01B-7353476E6752}" dt="2020-03-13T12:51:29.622" v="1018" actId="1076"/>
          <ac:spMkLst>
            <pc:docMk/>
            <pc:sldMk cId="3296499084" sldId="2983"/>
            <ac:spMk id="8" creationId="{9E6067A5-8CE8-4DB7-B2AE-DEA0DDFC985C}"/>
          </ac:spMkLst>
        </pc:spChg>
        <pc:spChg chg="add mod">
          <ac:chgData name="O'Neill, Shauna" userId="1d0a8ccc-c260-429c-86e4-d406a5ac1d3d" providerId="ADAL" clId="{9535F624-6B4D-487A-A01B-7353476E6752}" dt="2020-03-13T12:52:38.382" v="1036" actId="14100"/>
          <ac:spMkLst>
            <pc:docMk/>
            <pc:sldMk cId="3296499084" sldId="2983"/>
            <ac:spMk id="10" creationId="{CF94B54E-7110-45BB-B39A-014A71D1645B}"/>
          </ac:spMkLst>
        </pc:spChg>
        <pc:picChg chg="mod">
          <ac:chgData name="O'Neill, Shauna" userId="1d0a8ccc-c260-429c-86e4-d406a5ac1d3d" providerId="ADAL" clId="{9535F624-6B4D-487A-A01B-7353476E6752}" dt="2020-03-13T12:51:24.030" v="1016" actId="1076"/>
          <ac:picMkLst>
            <pc:docMk/>
            <pc:sldMk cId="3296499084" sldId="2983"/>
            <ac:picMk id="7" creationId="{AE66C14D-F420-454A-B1F0-057AAB7E1BC1}"/>
          </ac:picMkLst>
        </pc:picChg>
        <pc:picChg chg="add mod">
          <ac:chgData name="O'Neill, Shauna" userId="1d0a8ccc-c260-429c-86e4-d406a5ac1d3d" providerId="ADAL" clId="{9535F624-6B4D-487A-A01B-7353476E6752}" dt="2020-03-13T12:53:50.758" v="1073" actId="1076"/>
          <ac:picMkLst>
            <pc:docMk/>
            <pc:sldMk cId="3296499084" sldId="2983"/>
            <ac:picMk id="11" creationId="{9685912F-B6B0-4A23-B016-5A5B881D34E1}"/>
          </ac:picMkLst>
        </pc:picChg>
        <pc:picChg chg="mod">
          <ac:chgData name="O'Neill, Shauna" userId="1d0a8ccc-c260-429c-86e4-d406a5ac1d3d" providerId="ADAL" clId="{9535F624-6B4D-487A-A01B-7353476E6752}" dt="2020-03-13T12:52:10.958" v="1029" actId="1076"/>
          <ac:picMkLst>
            <pc:docMk/>
            <pc:sldMk cId="3296499084" sldId="2983"/>
            <ac:picMk id="12" creationId="{D8F1EB8B-2525-4B3D-8CA7-EC59A84BC0B2}"/>
          </ac:picMkLst>
        </pc:picChg>
        <pc:picChg chg="mod">
          <ac:chgData name="O'Neill, Shauna" userId="1d0a8ccc-c260-429c-86e4-d406a5ac1d3d" providerId="ADAL" clId="{9535F624-6B4D-487A-A01B-7353476E6752}" dt="2020-03-13T12:53:46.158" v="1072" actId="1076"/>
          <ac:picMkLst>
            <pc:docMk/>
            <pc:sldMk cId="3296499084" sldId="2983"/>
            <ac:picMk id="13" creationId="{54EC1032-2FEB-4009-B648-11A99FA8DC49}"/>
          </ac:picMkLst>
        </pc:picChg>
      </pc:sldChg>
      <pc:sldChg chg="modSp">
        <pc:chgData name="O'Neill, Shauna" userId="1d0a8ccc-c260-429c-86e4-d406a5ac1d3d" providerId="ADAL" clId="{9535F624-6B4D-487A-A01B-7353476E6752}" dt="2020-04-07T11:46:49.089" v="1471" actId="20577"/>
        <pc:sldMkLst>
          <pc:docMk/>
          <pc:sldMk cId="2823534408" sldId="2988"/>
        </pc:sldMkLst>
        <pc:spChg chg="mod">
          <ac:chgData name="O'Neill, Shauna" userId="1d0a8ccc-c260-429c-86e4-d406a5ac1d3d" providerId="ADAL" clId="{9535F624-6B4D-487A-A01B-7353476E6752}" dt="2020-04-07T11:46:49.089" v="1471" actId="20577"/>
          <ac:spMkLst>
            <pc:docMk/>
            <pc:sldMk cId="2823534408" sldId="2988"/>
            <ac:spMk id="27" creationId="{1CDEEEAF-917A-48F2-8AD5-968BCE55242E}"/>
          </ac:spMkLst>
        </pc:spChg>
      </pc:sldChg>
      <pc:sldChg chg="addSp delSp modSp">
        <pc:chgData name="O'Neill, Shauna" userId="1d0a8ccc-c260-429c-86e4-d406a5ac1d3d" providerId="ADAL" clId="{9535F624-6B4D-487A-A01B-7353476E6752}" dt="2020-03-26T12:42:14.723" v="1421"/>
        <pc:sldMkLst>
          <pc:docMk/>
          <pc:sldMk cId="3577663136" sldId="2996"/>
        </pc:sldMkLst>
        <pc:graphicFrameChg chg="del mod">
          <ac:chgData name="O'Neill, Shauna" userId="1d0a8ccc-c260-429c-86e4-d406a5ac1d3d" providerId="ADAL" clId="{9535F624-6B4D-487A-A01B-7353476E6752}" dt="2020-03-13T09:37:26.535" v="853"/>
          <ac:graphicFrameMkLst>
            <pc:docMk/>
            <pc:sldMk cId="3577663136" sldId="2996"/>
            <ac:graphicFrameMk id="11" creationId="{07D41673-C65B-42C6-816B-84E97B9A01E8}"/>
          </ac:graphicFrameMkLst>
        </pc:graphicFrameChg>
        <pc:graphicFrameChg chg="add del mod">
          <ac:chgData name="O'Neill, Shauna" userId="1d0a8ccc-c260-429c-86e4-d406a5ac1d3d" providerId="ADAL" clId="{9535F624-6B4D-487A-A01B-7353476E6752}" dt="2020-03-26T12:42:14.723" v="1421"/>
          <ac:graphicFrameMkLst>
            <pc:docMk/>
            <pc:sldMk cId="3577663136" sldId="2996"/>
            <ac:graphicFrameMk id="12" creationId="{0FDF06B9-4E57-488F-951C-6AACC84D602E}"/>
          </ac:graphicFrameMkLst>
        </pc:graphicFrameChg>
      </pc:sldChg>
      <pc:sldChg chg="addSp delSp modSp">
        <pc:chgData name="O'Neill, Shauna" userId="1d0a8ccc-c260-429c-86e4-d406a5ac1d3d" providerId="ADAL" clId="{9535F624-6B4D-487A-A01B-7353476E6752}" dt="2020-03-13T12:49:58.432" v="1010" actId="1036"/>
        <pc:sldMkLst>
          <pc:docMk/>
          <pc:sldMk cId="2331112402" sldId="3006"/>
        </pc:sldMkLst>
        <pc:picChg chg="add mod">
          <ac:chgData name="O'Neill, Shauna" userId="1d0a8ccc-c260-429c-86e4-d406a5ac1d3d" providerId="ADAL" clId="{9535F624-6B4D-487A-A01B-7353476E6752}" dt="2020-03-13T10:00:27.526" v="858" actId="1076"/>
          <ac:picMkLst>
            <pc:docMk/>
            <pc:sldMk cId="2331112402" sldId="3006"/>
            <ac:picMk id="6" creationId="{13064A3C-004C-46CA-9799-035F58E34420}"/>
          </ac:picMkLst>
        </pc:picChg>
        <pc:picChg chg="del">
          <ac:chgData name="O'Neill, Shauna" userId="1d0a8ccc-c260-429c-86e4-d406a5ac1d3d" providerId="ADAL" clId="{9535F624-6B4D-487A-A01B-7353476E6752}" dt="2020-03-13T09:59:39.868" v="856" actId="478"/>
          <ac:picMkLst>
            <pc:docMk/>
            <pc:sldMk cId="2331112402" sldId="3006"/>
            <ac:picMk id="7" creationId="{CBF24214-24BE-44FF-80CC-69824C200234}"/>
          </ac:picMkLst>
        </pc:picChg>
        <pc:picChg chg="del">
          <ac:chgData name="O'Neill, Shauna" userId="1d0a8ccc-c260-429c-86e4-d406a5ac1d3d" providerId="ADAL" clId="{9535F624-6B4D-487A-A01B-7353476E6752}" dt="2020-03-13T12:48:05.026" v="1007" actId="478"/>
          <ac:picMkLst>
            <pc:docMk/>
            <pc:sldMk cId="2331112402" sldId="3006"/>
            <ac:picMk id="8" creationId="{F6C23AEB-ED90-4C14-82DC-1A2942C6214A}"/>
          </ac:picMkLst>
        </pc:picChg>
        <pc:picChg chg="add mod">
          <ac:chgData name="O'Neill, Shauna" userId="1d0a8ccc-c260-429c-86e4-d406a5ac1d3d" providerId="ADAL" clId="{9535F624-6B4D-487A-A01B-7353476E6752}" dt="2020-03-13T12:49:58.432" v="1010" actId="1036"/>
          <ac:picMkLst>
            <pc:docMk/>
            <pc:sldMk cId="2331112402" sldId="3006"/>
            <ac:picMk id="9" creationId="{E596606E-6A0C-4E24-A868-12303EFAD76B}"/>
          </ac:picMkLst>
        </pc:picChg>
      </pc:sldChg>
      <pc:sldChg chg="addSp delSp modSp">
        <pc:chgData name="O'Neill, Shauna" userId="1d0a8ccc-c260-429c-86e4-d406a5ac1d3d" providerId="ADAL" clId="{9535F624-6B4D-487A-A01B-7353476E6752}" dt="2020-03-13T14:55:35.555" v="1420" actId="20577"/>
        <pc:sldMkLst>
          <pc:docMk/>
          <pc:sldMk cId="684458861" sldId="3009"/>
        </pc:sldMkLst>
        <pc:spChg chg="del">
          <ac:chgData name="O'Neill, Shauna" userId="1d0a8ccc-c260-429c-86e4-d406a5ac1d3d" providerId="ADAL" clId="{9535F624-6B4D-487A-A01B-7353476E6752}" dt="2020-03-13T14:52:12.829" v="1283"/>
          <ac:spMkLst>
            <pc:docMk/>
            <pc:sldMk cId="684458861" sldId="3009"/>
            <ac:spMk id="4" creationId="{162021CB-EA1A-4759-9786-5A4DA8DB786A}"/>
          </ac:spMkLst>
        </pc:spChg>
        <pc:spChg chg="add mod">
          <ac:chgData name="O'Neill, Shauna" userId="1d0a8ccc-c260-429c-86e4-d406a5ac1d3d" providerId="ADAL" clId="{9535F624-6B4D-487A-A01B-7353476E6752}" dt="2020-03-13T14:55:05.076" v="1410" actId="14100"/>
          <ac:spMkLst>
            <pc:docMk/>
            <pc:sldMk cId="684458861" sldId="3009"/>
            <ac:spMk id="7" creationId="{45E1DB61-E0AB-4086-85B2-234D8932F47D}"/>
          </ac:spMkLst>
        </pc:spChg>
        <pc:spChg chg="mod">
          <ac:chgData name="O'Neill, Shauna" userId="1d0a8ccc-c260-429c-86e4-d406a5ac1d3d" providerId="ADAL" clId="{9535F624-6B4D-487A-A01B-7353476E6752}" dt="2020-03-13T14:55:35.555" v="1420" actId="20577"/>
          <ac:spMkLst>
            <pc:docMk/>
            <pc:sldMk cId="684458861" sldId="3009"/>
            <ac:spMk id="15" creationId="{921837EB-46C7-4357-967B-CC1EEA6023BC}"/>
          </ac:spMkLst>
        </pc:spChg>
        <pc:spChg chg="mod">
          <ac:chgData name="O'Neill, Shauna" userId="1d0a8ccc-c260-429c-86e4-d406a5ac1d3d" providerId="ADAL" clId="{9535F624-6B4D-487A-A01B-7353476E6752}" dt="2020-03-13T14:53:58.549" v="1395" actId="1076"/>
          <ac:spMkLst>
            <pc:docMk/>
            <pc:sldMk cId="684458861" sldId="3009"/>
            <ac:spMk id="18" creationId="{82B8D8BB-10AF-4A5F-BD2F-0D1CED418C99}"/>
          </ac:spMkLst>
        </pc:spChg>
        <pc:spChg chg="add del mod">
          <ac:chgData name="O'Neill, Shauna" userId="1d0a8ccc-c260-429c-86e4-d406a5ac1d3d" providerId="ADAL" clId="{9535F624-6B4D-487A-A01B-7353476E6752}" dt="2020-03-13T14:50:17.559" v="1243" actId="692"/>
          <ac:spMkLst>
            <pc:docMk/>
            <pc:sldMk cId="684458861" sldId="3009"/>
            <ac:spMk id="19" creationId="{D146F05B-7EF7-4491-AAB3-E6DCED693A4E}"/>
          </ac:spMkLst>
        </pc:spChg>
        <pc:spChg chg="mod">
          <ac:chgData name="O'Neill, Shauna" userId="1d0a8ccc-c260-429c-86e4-d406a5ac1d3d" providerId="ADAL" clId="{9535F624-6B4D-487A-A01B-7353476E6752}" dt="2020-03-13T14:54:15.717" v="1399" actId="1076"/>
          <ac:spMkLst>
            <pc:docMk/>
            <pc:sldMk cId="684458861" sldId="3009"/>
            <ac:spMk id="20" creationId="{E7651EFD-36CE-4BA2-9B22-50C0834ED9D7}"/>
          </ac:spMkLst>
        </pc:spChg>
        <pc:spChg chg="mod">
          <ac:chgData name="O'Neill, Shauna" userId="1d0a8ccc-c260-429c-86e4-d406a5ac1d3d" providerId="ADAL" clId="{9535F624-6B4D-487A-A01B-7353476E6752}" dt="2020-03-13T14:54:04.788" v="1397" actId="1076"/>
          <ac:spMkLst>
            <pc:docMk/>
            <pc:sldMk cId="684458861" sldId="3009"/>
            <ac:spMk id="21" creationId="{CA34ACD3-D4BD-4723-B8D4-D20CD7B1AB6A}"/>
          </ac:spMkLst>
        </pc:spChg>
        <pc:picChg chg="mod">
          <ac:chgData name="O'Neill, Shauna" userId="1d0a8ccc-c260-429c-86e4-d406a5ac1d3d" providerId="ADAL" clId="{9535F624-6B4D-487A-A01B-7353476E6752}" dt="2020-03-13T14:54:09.268" v="1398" actId="1076"/>
          <ac:picMkLst>
            <pc:docMk/>
            <pc:sldMk cId="684458861" sldId="3009"/>
            <ac:picMk id="9" creationId="{773B5A81-6A76-447F-ACEB-EC9420245445}"/>
          </ac:picMkLst>
        </pc:picChg>
        <pc:picChg chg="mod">
          <ac:chgData name="O'Neill, Shauna" userId="1d0a8ccc-c260-429c-86e4-d406a5ac1d3d" providerId="ADAL" clId="{9535F624-6B4D-487A-A01B-7353476E6752}" dt="2020-03-13T14:54:43.236" v="1405" actId="14100"/>
          <ac:picMkLst>
            <pc:docMk/>
            <pc:sldMk cId="684458861" sldId="3009"/>
            <ac:picMk id="14" creationId="{DA4DD92B-3C94-4921-AD02-7C36E602A6A8}"/>
          </ac:picMkLst>
        </pc:picChg>
        <pc:picChg chg="mod">
          <ac:chgData name="O'Neill, Shauna" userId="1d0a8ccc-c260-429c-86e4-d406a5ac1d3d" providerId="ADAL" clId="{9535F624-6B4D-487A-A01B-7353476E6752}" dt="2020-03-13T14:54:01.476" v="1396" actId="1076"/>
          <ac:picMkLst>
            <pc:docMk/>
            <pc:sldMk cId="684458861" sldId="3009"/>
            <ac:picMk id="16" creationId="{C67F096B-412E-48B9-9D47-8A818FA11094}"/>
          </ac:picMkLst>
        </pc:picChg>
        <pc:picChg chg="mod">
          <ac:chgData name="O'Neill, Shauna" userId="1d0a8ccc-c260-429c-86e4-d406a5ac1d3d" providerId="ADAL" clId="{9535F624-6B4D-487A-A01B-7353476E6752}" dt="2020-03-13T14:54:17.604" v="1400" actId="1076"/>
          <ac:picMkLst>
            <pc:docMk/>
            <pc:sldMk cId="684458861" sldId="3009"/>
            <ac:picMk id="17" creationId="{822F7A33-ECA3-4C3D-B520-00C00BFFD363}"/>
          </ac:picMkLst>
        </pc:picChg>
        <pc:picChg chg="mod">
          <ac:chgData name="O'Neill, Shauna" userId="1d0a8ccc-c260-429c-86e4-d406a5ac1d3d" providerId="ADAL" clId="{9535F624-6B4D-487A-A01B-7353476E6752}" dt="2020-03-13T14:53:54.269" v="1394" actId="14100"/>
          <ac:picMkLst>
            <pc:docMk/>
            <pc:sldMk cId="684458861" sldId="3009"/>
            <ac:picMk id="23" creationId="{9963DA8A-FD2A-4169-924F-72A004D15BCF}"/>
          </ac:picMkLst>
        </pc:picChg>
      </pc:sldChg>
      <pc:sldChg chg="addSp delSp modSp add">
        <pc:chgData name="O'Neill, Shauna" userId="1d0a8ccc-c260-429c-86e4-d406a5ac1d3d" providerId="ADAL" clId="{9535F624-6B4D-487A-A01B-7353476E6752}" dt="2020-03-13T12:57:34.673" v="1074"/>
        <pc:sldMkLst>
          <pc:docMk/>
          <pc:sldMk cId="282629752" sldId="3018"/>
        </pc:sldMkLst>
        <pc:spChg chg="mod">
          <ac:chgData name="O'Neill, Shauna" userId="1d0a8ccc-c260-429c-86e4-d406a5ac1d3d" providerId="ADAL" clId="{9535F624-6B4D-487A-A01B-7353476E6752}" dt="2020-03-02T12:09:33.455" v="448" actId="20577"/>
          <ac:spMkLst>
            <pc:docMk/>
            <pc:sldMk cId="282629752" sldId="3018"/>
            <ac:spMk id="2" creationId="{4ED70743-E814-4E13-A9C0-BA1F9A7BF298}"/>
          </ac:spMkLst>
        </pc:spChg>
        <pc:spChg chg="del">
          <ac:chgData name="O'Neill, Shauna" userId="1d0a8ccc-c260-429c-86e4-d406a5ac1d3d" providerId="ADAL" clId="{9535F624-6B4D-487A-A01B-7353476E6752}" dt="2020-03-02T10:29:12.876" v="79" actId="478"/>
          <ac:spMkLst>
            <pc:docMk/>
            <pc:sldMk cId="282629752" sldId="3018"/>
            <ac:spMk id="3" creationId="{159934C6-2618-4F82-8701-6F9989B20ADD}"/>
          </ac:spMkLst>
        </pc:spChg>
        <pc:spChg chg="del">
          <ac:chgData name="O'Neill, Shauna" userId="1d0a8ccc-c260-429c-86e4-d406a5ac1d3d" providerId="ADAL" clId="{9535F624-6B4D-487A-A01B-7353476E6752}" dt="2020-03-13T12:57:34.673" v="1074"/>
          <ac:spMkLst>
            <pc:docMk/>
            <pc:sldMk cId="282629752" sldId="3018"/>
            <ac:spMk id="4" creationId="{B708081A-88C2-4764-BECD-93C92E708617}"/>
          </ac:spMkLst>
        </pc:spChg>
        <pc:spChg chg="add mod">
          <ac:chgData name="O'Neill, Shauna" userId="1d0a8ccc-c260-429c-86e4-d406a5ac1d3d" providerId="ADAL" clId="{9535F624-6B4D-487A-A01B-7353476E6752}" dt="2020-03-02T12:09:21.745" v="435" actId="20577"/>
          <ac:spMkLst>
            <pc:docMk/>
            <pc:sldMk cId="282629752" sldId="3018"/>
            <ac:spMk id="6" creationId="{A3BAEF19-6709-497B-A2E0-8BAF8DBA6325}"/>
          </ac:spMkLst>
        </pc:spChg>
        <pc:spChg chg="add mod">
          <ac:chgData name="O'Neill, Shauna" userId="1d0a8ccc-c260-429c-86e4-d406a5ac1d3d" providerId="ADAL" clId="{9535F624-6B4D-487A-A01B-7353476E6752}" dt="2020-03-02T12:11:23.520" v="523" actId="1076"/>
          <ac:spMkLst>
            <pc:docMk/>
            <pc:sldMk cId="282629752" sldId="3018"/>
            <ac:spMk id="8" creationId="{660A4772-0E89-43E5-9854-DF25AE101D88}"/>
          </ac:spMkLst>
        </pc:spChg>
        <pc:spChg chg="add mod">
          <ac:chgData name="O'Neill, Shauna" userId="1d0a8ccc-c260-429c-86e4-d406a5ac1d3d" providerId="ADAL" clId="{9535F624-6B4D-487A-A01B-7353476E6752}" dt="2020-03-02T12:11:19.321" v="522" actId="1076"/>
          <ac:spMkLst>
            <pc:docMk/>
            <pc:sldMk cId="282629752" sldId="3018"/>
            <ac:spMk id="9" creationId="{233B7826-1A4D-4861-9C38-70590DF5D75D}"/>
          </ac:spMkLst>
        </pc:spChg>
        <pc:spChg chg="add del mod ord">
          <ac:chgData name="O'Neill, Shauna" userId="1d0a8ccc-c260-429c-86e4-d406a5ac1d3d" providerId="ADAL" clId="{9535F624-6B4D-487A-A01B-7353476E6752}" dt="2020-03-02T12:11:47.024" v="529" actId="20577"/>
          <ac:spMkLst>
            <pc:docMk/>
            <pc:sldMk cId="282629752" sldId="3018"/>
            <ac:spMk id="12" creationId="{418CDC3D-B232-4D7E-B619-25CB7261A3E0}"/>
          </ac:spMkLst>
        </pc:spChg>
        <pc:spChg chg="add mod ord">
          <ac:chgData name="O'Neill, Shauna" userId="1d0a8ccc-c260-429c-86e4-d406a5ac1d3d" providerId="ADAL" clId="{9535F624-6B4D-487A-A01B-7353476E6752}" dt="2020-03-02T12:12:16.582" v="535" actId="20577"/>
          <ac:spMkLst>
            <pc:docMk/>
            <pc:sldMk cId="282629752" sldId="3018"/>
            <ac:spMk id="13" creationId="{29E535A3-8888-4810-9EAB-F95ED4FC30DC}"/>
          </ac:spMkLst>
        </pc:spChg>
        <pc:spChg chg="add del mod">
          <ac:chgData name="O'Neill, Shauna" userId="1d0a8ccc-c260-429c-86e4-d406a5ac1d3d" providerId="ADAL" clId="{9535F624-6B4D-487A-A01B-7353476E6752}" dt="2020-03-02T12:13:03.710" v="577" actId="478"/>
          <ac:spMkLst>
            <pc:docMk/>
            <pc:sldMk cId="282629752" sldId="3018"/>
            <ac:spMk id="14" creationId="{06F8B502-13BF-4BEC-ACA2-78EF784774BE}"/>
          </ac:spMkLst>
        </pc:spChg>
        <pc:graphicFrameChg chg="add mod">
          <ac:chgData name="O'Neill, Shauna" userId="1d0a8ccc-c260-429c-86e4-d406a5ac1d3d" providerId="ADAL" clId="{9535F624-6B4D-487A-A01B-7353476E6752}" dt="2020-03-02T12:11:15.404" v="521" actId="14100"/>
          <ac:graphicFrameMkLst>
            <pc:docMk/>
            <pc:sldMk cId="282629752" sldId="3018"/>
            <ac:graphicFrameMk id="7" creationId="{01E836F1-228B-4C0D-A750-01BD38E0E037}"/>
          </ac:graphicFrameMkLst>
        </pc:graphicFrameChg>
        <pc:graphicFrameChg chg="add mod">
          <ac:chgData name="O'Neill, Shauna" userId="1d0a8ccc-c260-429c-86e4-d406a5ac1d3d" providerId="ADAL" clId="{9535F624-6B4D-487A-A01B-7353476E6752}" dt="2020-03-02T12:11:56.997" v="530" actId="167"/>
          <ac:graphicFrameMkLst>
            <pc:docMk/>
            <pc:sldMk cId="282629752" sldId="3018"/>
            <ac:graphicFrameMk id="10" creationId="{B68A7A2F-C217-4DD0-AAD8-688A87A09AAA}"/>
          </ac:graphicFrameMkLst>
        </pc:graphicFrameChg>
        <pc:graphicFrameChg chg="add mod">
          <ac:chgData name="O'Neill, Shauna" userId="1d0a8ccc-c260-429c-86e4-d406a5ac1d3d" providerId="ADAL" clId="{9535F624-6B4D-487A-A01B-7353476E6752}" dt="2020-03-02T12:12:09.965" v="533" actId="167"/>
          <ac:graphicFrameMkLst>
            <pc:docMk/>
            <pc:sldMk cId="282629752" sldId="3018"/>
            <ac:graphicFrameMk id="11" creationId="{AF26F329-97CF-4A21-846A-56522E79871E}"/>
          </ac:graphicFrameMkLst>
        </pc:graphicFrameChg>
      </pc:sldChg>
      <pc:sldChg chg="addSp delSp modSp add">
        <pc:chgData name="O'Neill, Shauna" userId="1d0a8ccc-c260-429c-86e4-d406a5ac1d3d" providerId="ADAL" clId="{9535F624-6B4D-487A-A01B-7353476E6752}" dt="2020-03-26T12:46:35.345" v="1451"/>
        <pc:sldMkLst>
          <pc:docMk/>
          <pc:sldMk cId="2123304048" sldId="3019"/>
        </pc:sldMkLst>
        <pc:spChg chg="mod">
          <ac:chgData name="O'Neill, Shauna" userId="1d0a8ccc-c260-429c-86e4-d406a5ac1d3d" providerId="ADAL" clId="{9535F624-6B4D-487A-A01B-7353476E6752}" dt="2020-03-02T15:21:40.322" v="849" actId="20577"/>
          <ac:spMkLst>
            <pc:docMk/>
            <pc:sldMk cId="2123304048" sldId="3019"/>
            <ac:spMk id="2" creationId="{55B0FC2D-6181-4335-9251-CD59A2B3CECA}"/>
          </ac:spMkLst>
        </pc:spChg>
        <pc:spChg chg="del">
          <ac:chgData name="O'Neill, Shauna" userId="1d0a8ccc-c260-429c-86e4-d406a5ac1d3d" providerId="ADAL" clId="{9535F624-6B4D-487A-A01B-7353476E6752}" dt="2020-03-02T12:14:33.738" v="620" actId="478"/>
          <ac:spMkLst>
            <pc:docMk/>
            <pc:sldMk cId="2123304048" sldId="3019"/>
            <ac:spMk id="3" creationId="{593C7760-9B07-495F-94F8-AF7F8B7EFFE8}"/>
          </ac:spMkLst>
        </pc:spChg>
        <pc:spChg chg="add mod">
          <ac:chgData name="O'Neill, Shauna" userId="1d0a8ccc-c260-429c-86e4-d406a5ac1d3d" providerId="ADAL" clId="{9535F624-6B4D-487A-A01B-7353476E6752}" dt="2020-03-26T12:46:00.896" v="1450" actId="14100"/>
          <ac:spMkLst>
            <pc:docMk/>
            <pc:sldMk cId="2123304048" sldId="3019"/>
            <ac:spMk id="3" creationId="{64D2EE5A-1F9F-4B9A-A0C5-72990092D232}"/>
          </ac:spMkLst>
        </pc:spChg>
        <pc:spChg chg="del">
          <ac:chgData name="O'Neill, Shauna" userId="1d0a8ccc-c260-429c-86e4-d406a5ac1d3d" providerId="ADAL" clId="{9535F624-6B4D-487A-A01B-7353476E6752}" dt="2020-03-13T13:22:48.901" v="1075"/>
          <ac:spMkLst>
            <pc:docMk/>
            <pc:sldMk cId="2123304048" sldId="3019"/>
            <ac:spMk id="4" creationId="{5B571797-4D8D-48C1-A750-22385B5AB7D7}"/>
          </ac:spMkLst>
        </pc:spChg>
        <pc:graphicFrameChg chg="add del mod modGraphic">
          <ac:chgData name="O'Neill, Shauna" userId="1d0a8ccc-c260-429c-86e4-d406a5ac1d3d" providerId="ADAL" clId="{9535F624-6B4D-487A-A01B-7353476E6752}" dt="2020-03-02T12:15:45.168" v="656" actId="478"/>
          <ac:graphicFrameMkLst>
            <pc:docMk/>
            <pc:sldMk cId="2123304048" sldId="3019"/>
            <ac:graphicFrameMk id="6" creationId="{4F21CB4D-696E-4D88-9C54-B183588E0421}"/>
          </ac:graphicFrameMkLst>
        </pc:graphicFrameChg>
        <pc:graphicFrameChg chg="add del modGraphic">
          <ac:chgData name="O'Neill, Shauna" userId="1d0a8ccc-c260-429c-86e4-d406a5ac1d3d" providerId="ADAL" clId="{9535F624-6B4D-487A-A01B-7353476E6752}" dt="2020-03-02T12:28:28.514" v="750" actId="478"/>
          <ac:graphicFrameMkLst>
            <pc:docMk/>
            <pc:sldMk cId="2123304048" sldId="3019"/>
            <ac:graphicFrameMk id="7" creationId="{D9165D62-671A-4A75-BB03-ABA5C1A19CAA}"/>
          </ac:graphicFrameMkLst>
        </pc:graphicFrameChg>
        <pc:graphicFrameChg chg="add mod modGraphic">
          <ac:chgData name="O'Neill, Shauna" userId="1d0a8ccc-c260-429c-86e4-d406a5ac1d3d" providerId="ADAL" clId="{9535F624-6B4D-487A-A01B-7353476E6752}" dt="2020-03-26T12:46:35.345" v="1451"/>
          <ac:graphicFrameMkLst>
            <pc:docMk/>
            <pc:sldMk cId="2123304048" sldId="3019"/>
            <ac:graphicFrameMk id="8" creationId="{9D8F80A0-72D7-40AC-AD1A-B8B6EABC86FB}"/>
          </ac:graphicFrameMkLst>
        </pc:graphicFrameChg>
      </pc:sldChg>
      <pc:sldChg chg="addSp delSp modSp add">
        <pc:chgData name="O'Neill, Shauna" userId="1d0a8ccc-c260-429c-86e4-d406a5ac1d3d" providerId="ADAL" clId="{9535F624-6B4D-487A-A01B-7353476E6752}" dt="2020-04-09T20:13:22.046" v="2319"/>
        <pc:sldMkLst>
          <pc:docMk/>
          <pc:sldMk cId="4250246069" sldId="3020"/>
        </pc:sldMkLst>
        <pc:spChg chg="mod">
          <ac:chgData name="O'Neill, Shauna" userId="1d0a8ccc-c260-429c-86e4-d406a5ac1d3d" providerId="ADAL" clId="{9535F624-6B4D-487A-A01B-7353476E6752}" dt="2020-04-09T20:11:47.482" v="2318" actId="20577"/>
          <ac:spMkLst>
            <pc:docMk/>
            <pc:sldMk cId="4250246069" sldId="3020"/>
            <ac:spMk id="2" creationId="{2943A70B-4811-42B0-9C21-A3E0ED5074EA}"/>
          </ac:spMkLst>
        </pc:spChg>
        <pc:spChg chg="del">
          <ac:chgData name="O'Neill, Shauna" userId="1d0a8ccc-c260-429c-86e4-d406a5ac1d3d" providerId="ADAL" clId="{9535F624-6B4D-487A-A01B-7353476E6752}" dt="2020-04-09T20:04:23.527" v="1520" actId="478"/>
          <ac:spMkLst>
            <pc:docMk/>
            <pc:sldMk cId="4250246069" sldId="3020"/>
            <ac:spMk id="3" creationId="{ADA22005-2D9F-4376-A657-B1EF04C6C83F}"/>
          </ac:spMkLst>
        </pc:spChg>
        <pc:spChg chg="del">
          <ac:chgData name="O'Neill, Shauna" userId="1d0a8ccc-c260-429c-86e4-d406a5ac1d3d" providerId="ADAL" clId="{9535F624-6B4D-487A-A01B-7353476E6752}" dt="2020-04-09T20:13:22.046" v="2319"/>
          <ac:spMkLst>
            <pc:docMk/>
            <pc:sldMk cId="4250246069" sldId="3020"/>
            <ac:spMk id="4" creationId="{9A6D0AE9-150A-432E-92D4-DF688A54BFF3}"/>
          </ac:spMkLst>
        </pc:spChg>
        <pc:spChg chg="add mod">
          <ac:chgData name="O'Neill, Shauna" userId="1d0a8ccc-c260-429c-86e4-d406a5ac1d3d" providerId="ADAL" clId="{9535F624-6B4D-487A-A01B-7353476E6752}" dt="2020-04-09T20:10:48.759" v="2238" actId="20577"/>
          <ac:spMkLst>
            <pc:docMk/>
            <pc:sldMk cId="4250246069" sldId="3020"/>
            <ac:spMk id="7" creationId="{D277D291-116A-43E4-897A-FE75E93CCCCF}"/>
          </ac:spMkLst>
        </pc:spChg>
        <pc:picChg chg="add mod">
          <ac:chgData name="O'Neill, Shauna" userId="1d0a8ccc-c260-429c-86e4-d406a5ac1d3d" providerId="ADAL" clId="{9535F624-6B4D-487A-A01B-7353476E6752}" dt="2020-04-09T20:09:34.567" v="2153" actId="1076"/>
          <ac:picMkLst>
            <pc:docMk/>
            <pc:sldMk cId="4250246069" sldId="3020"/>
            <ac:picMk id="2050" creationId="{F98E6598-284A-4699-8613-85181C2B5A08}"/>
          </ac:picMkLst>
        </pc:picChg>
      </pc:sldChg>
    </pc:docChg>
  </pc:docChgLst>
  <pc:docChgLst>
    <pc:chgData name="Chuksina, Vera" userId="S::spbchuksvv@corp.jti.com::a120b435-2ba4-41a7-a630-19094674ca58" providerId="AD" clId="Web-{E91AD762-C3A7-3B80-061F-3399991BC52D}"/>
    <pc:docChg chg="modSld">
      <pc:chgData name="Chuksina, Vera" userId="S::spbchuksvv@corp.jti.com::a120b435-2ba4-41a7-a630-19094674ca58" providerId="AD" clId="Web-{E91AD762-C3A7-3B80-061F-3399991BC52D}" dt="2020-03-31T09:42:01.542" v="2"/>
      <pc:docMkLst>
        <pc:docMk/>
      </pc:docMkLst>
      <pc:sldChg chg="modSp">
        <pc:chgData name="Chuksina, Vera" userId="S::spbchuksvv@corp.jti.com::a120b435-2ba4-41a7-a630-19094674ca58" providerId="AD" clId="Web-{E91AD762-C3A7-3B80-061F-3399991BC52D}" dt="2020-03-31T09:42:01.542" v="2"/>
        <pc:sldMkLst>
          <pc:docMk/>
          <pc:sldMk cId="2123304048" sldId="3019"/>
        </pc:sldMkLst>
        <pc:graphicFrameChg chg="mod modGraphic">
          <ac:chgData name="Chuksina, Vera" userId="S::spbchuksvv@corp.jti.com::a120b435-2ba4-41a7-a630-19094674ca58" providerId="AD" clId="Web-{E91AD762-C3A7-3B80-061F-3399991BC52D}" dt="2020-03-31T09:42:01.542" v="2"/>
          <ac:graphicFrameMkLst>
            <pc:docMk/>
            <pc:sldMk cId="2123304048" sldId="3019"/>
            <ac:graphicFrameMk id="8" creationId="{9D8F80A0-72D7-40AC-AD1A-B8B6EABC86F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298C4A-5106-43B5-9712-35043F6127E6}" type="doc">
      <dgm:prSet loTypeId="urn:microsoft.com/office/officeart/2005/8/layout/chevron1" loCatId="process" qsTypeId="urn:microsoft.com/office/officeart/2005/8/quickstyle/simple1" qsCatId="simple" csTypeId="urn:microsoft.com/office/officeart/2005/8/colors/accent1_2" csCatId="accent1" phldr="1"/>
      <dgm:spPr/>
    </dgm:pt>
    <dgm:pt modelId="{2EDB7707-103C-4B68-AE7D-594235B183BB}">
      <dgm:prSet phldrT="[Text]" custT="1"/>
      <dgm:spPr/>
      <dgm:t>
        <a:bodyPr/>
        <a:lstStyle/>
        <a:p>
          <a:r>
            <a:rPr lang="en-GB" sz="3100"/>
            <a:t>WD3</a:t>
          </a:r>
        </a:p>
        <a:p>
          <a:r>
            <a:rPr lang="en-US" sz="1600"/>
            <a:t>After Material Ledger Close</a:t>
          </a:r>
        </a:p>
      </dgm:t>
    </dgm:pt>
    <dgm:pt modelId="{DD50ED0F-41C1-4ACE-8BD5-87BCC9F6DBD6}" type="parTrans" cxnId="{9DDB924D-4D52-40AE-A50A-BE7645248E8F}">
      <dgm:prSet/>
      <dgm:spPr/>
      <dgm:t>
        <a:bodyPr/>
        <a:lstStyle/>
        <a:p>
          <a:endParaRPr lang="en-US"/>
        </a:p>
      </dgm:t>
    </dgm:pt>
    <dgm:pt modelId="{099E26DB-E63E-4093-A6C5-1B53A72C3DBA}" type="sibTrans" cxnId="{9DDB924D-4D52-40AE-A50A-BE7645248E8F}">
      <dgm:prSet/>
      <dgm:spPr/>
      <dgm:t>
        <a:bodyPr/>
        <a:lstStyle/>
        <a:p>
          <a:endParaRPr lang="en-US"/>
        </a:p>
      </dgm:t>
    </dgm:pt>
    <dgm:pt modelId="{01C19FCC-D7D8-4160-9C4B-7C697C6E3919}" type="pres">
      <dgm:prSet presAssocID="{D8298C4A-5106-43B5-9712-35043F6127E6}" presName="Name0" presStyleCnt="0">
        <dgm:presLayoutVars>
          <dgm:dir/>
          <dgm:animLvl val="lvl"/>
          <dgm:resizeHandles val="exact"/>
        </dgm:presLayoutVars>
      </dgm:prSet>
      <dgm:spPr/>
    </dgm:pt>
    <dgm:pt modelId="{5047D8F8-9BA3-4685-BBFE-F778EC72CCF8}" type="pres">
      <dgm:prSet presAssocID="{2EDB7707-103C-4B68-AE7D-594235B183BB}" presName="parTxOnly" presStyleLbl="node1" presStyleIdx="0" presStyleCnt="1" custScaleX="43296" custScaleY="41686" custLinFactNeighborX="-29758" custLinFactNeighborY="-21397">
        <dgm:presLayoutVars>
          <dgm:chMax val="0"/>
          <dgm:chPref val="0"/>
          <dgm:bulletEnabled val="1"/>
        </dgm:presLayoutVars>
      </dgm:prSet>
      <dgm:spPr/>
    </dgm:pt>
  </dgm:ptLst>
  <dgm:cxnLst>
    <dgm:cxn modelId="{E2359B43-FD24-4DC3-9C8A-049403387B3B}" type="presOf" srcId="{D8298C4A-5106-43B5-9712-35043F6127E6}" destId="{01C19FCC-D7D8-4160-9C4B-7C697C6E3919}" srcOrd="0" destOrd="0" presId="urn:microsoft.com/office/officeart/2005/8/layout/chevron1"/>
    <dgm:cxn modelId="{9DDB924D-4D52-40AE-A50A-BE7645248E8F}" srcId="{D8298C4A-5106-43B5-9712-35043F6127E6}" destId="{2EDB7707-103C-4B68-AE7D-594235B183BB}" srcOrd="0" destOrd="0" parTransId="{DD50ED0F-41C1-4ACE-8BD5-87BCC9F6DBD6}" sibTransId="{099E26DB-E63E-4093-A6C5-1B53A72C3DBA}"/>
    <dgm:cxn modelId="{ECDE6197-CB12-4863-B2A0-E96F627B9D99}" type="presOf" srcId="{2EDB7707-103C-4B68-AE7D-594235B183BB}" destId="{5047D8F8-9BA3-4685-BBFE-F778EC72CCF8}" srcOrd="0" destOrd="0" presId="urn:microsoft.com/office/officeart/2005/8/layout/chevron1"/>
    <dgm:cxn modelId="{195319D0-CCAE-4408-95A6-A3413FB98D8F}" type="presParOf" srcId="{01C19FCC-D7D8-4160-9C4B-7C697C6E3919}" destId="{5047D8F8-9BA3-4685-BBFE-F778EC72CCF8}" srcOrd="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298C4A-5106-43B5-9712-35043F6127E6}" type="doc">
      <dgm:prSet loTypeId="urn:microsoft.com/office/officeart/2005/8/layout/chevron1" loCatId="process" qsTypeId="urn:microsoft.com/office/officeart/2005/8/quickstyle/simple1" qsCatId="simple" csTypeId="urn:microsoft.com/office/officeart/2005/8/colors/accent1_2" csCatId="accent1" phldr="1"/>
      <dgm:spPr/>
    </dgm:pt>
    <dgm:pt modelId="{2EDB7707-103C-4B68-AE7D-594235B183BB}">
      <dgm:prSet phldrT="[Text]"/>
      <dgm:spPr/>
      <dgm:t>
        <a:bodyPr/>
        <a:lstStyle/>
        <a:p>
          <a:r>
            <a:rPr lang="en-GB"/>
            <a:t>End of WD2</a:t>
          </a:r>
          <a:endParaRPr lang="en-US"/>
        </a:p>
      </dgm:t>
    </dgm:pt>
    <dgm:pt modelId="{DD50ED0F-41C1-4ACE-8BD5-87BCC9F6DBD6}" type="parTrans" cxnId="{9DDB924D-4D52-40AE-A50A-BE7645248E8F}">
      <dgm:prSet/>
      <dgm:spPr/>
      <dgm:t>
        <a:bodyPr/>
        <a:lstStyle/>
        <a:p>
          <a:endParaRPr lang="en-US"/>
        </a:p>
      </dgm:t>
    </dgm:pt>
    <dgm:pt modelId="{099E26DB-E63E-4093-A6C5-1B53A72C3DBA}" type="sibTrans" cxnId="{9DDB924D-4D52-40AE-A50A-BE7645248E8F}">
      <dgm:prSet/>
      <dgm:spPr/>
      <dgm:t>
        <a:bodyPr/>
        <a:lstStyle/>
        <a:p>
          <a:endParaRPr lang="en-US"/>
        </a:p>
      </dgm:t>
    </dgm:pt>
    <dgm:pt modelId="{01C19FCC-D7D8-4160-9C4B-7C697C6E3919}" type="pres">
      <dgm:prSet presAssocID="{D8298C4A-5106-43B5-9712-35043F6127E6}" presName="Name0" presStyleCnt="0">
        <dgm:presLayoutVars>
          <dgm:dir/>
          <dgm:animLvl val="lvl"/>
          <dgm:resizeHandles val="exact"/>
        </dgm:presLayoutVars>
      </dgm:prSet>
      <dgm:spPr/>
    </dgm:pt>
    <dgm:pt modelId="{5047D8F8-9BA3-4685-BBFE-F778EC72CCF8}" type="pres">
      <dgm:prSet presAssocID="{2EDB7707-103C-4B68-AE7D-594235B183BB}" presName="parTxOnly" presStyleLbl="node1" presStyleIdx="0" presStyleCnt="1" custScaleX="42006" custScaleY="41686" custLinFactNeighborX="-22884" custLinFactNeighborY="-4815">
        <dgm:presLayoutVars>
          <dgm:chMax val="0"/>
          <dgm:chPref val="0"/>
          <dgm:bulletEnabled val="1"/>
        </dgm:presLayoutVars>
      </dgm:prSet>
      <dgm:spPr/>
    </dgm:pt>
  </dgm:ptLst>
  <dgm:cxnLst>
    <dgm:cxn modelId="{E2359B43-FD24-4DC3-9C8A-049403387B3B}" type="presOf" srcId="{D8298C4A-5106-43B5-9712-35043F6127E6}" destId="{01C19FCC-D7D8-4160-9C4B-7C697C6E3919}" srcOrd="0" destOrd="0" presId="urn:microsoft.com/office/officeart/2005/8/layout/chevron1"/>
    <dgm:cxn modelId="{9DDB924D-4D52-40AE-A50A-BE7645248E8F}" srcId="{D8298C4A-5106-43B5-9712-35043F6127E6}" destId="{2EDB7707-103C-4B68-AE7D-594235B183BB}" srcOrd="0" destOrd="0" parTransId="{DD50ED0F-41C1-4ACE-8BD5-87BCC9F6DBD6}" sibTransId="{099E26DB-E63E-4093-A6C5-1B53A72C3DBA}"/>
    <dgm:cxn modelId="{ECDE6197-CB12-4863-B2A0-E96F627B9D99}" type="presOf" srcId="{2EDB7707-103C-4B68-AE7D-594235B183BB}" destId="{5047D8F8-9BA3-4685-BBFE-F778EC72CCF8}" srcOrd="0" destOrd="0" presId="urn:microsoft.com/office/officeart/2005/8/layout/chevron1"/>
    <dgm:cxn modelId="{195319D0-CCAE-4408-95A6-A3413FB98D8F}" type="presParOf" srcId="{01C19FCC-D7D8-4160-9C4B-7C697C6E3919}" destId="{5047D8F8-9BA3-4685-BBFE-F778EC72CCF8}" srcOrd="0"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298C4A-5106-43B5-9712-35043F6127E6}" type="doc">
      <dgm:prSet loTypeId="urn:microsoft.com/office/officeart/2005/8/layout/chevron1" loCatId="process" qsTypeId="urn:microsoft.com/office/officeart/2005/8/quickstyle/simple1" qsCatId="simple" csTypeId="urn:microsoft.com/office/officeart/2005/8/colors/accent1_2" csCatId="accent1" phldr="1"/>
      <dgm:spPr/>
    </dgm:pt>
    <dgm:pt modelId="{9E16F3FF-D12C-48DB-974F-D860E2843300}">
      <dgm:prSet phldrT="[Text]"/>
      <dgm:spPr/>
      <dgm:t>
        <a:bodyPr/>
        <a:lstStyle/>
        <a:p>
          <a:r>
            <a:rPr lang="en-GB"/>
            <a:t>End of WD1</a:t>
          </a:r>
          <a:endParaRPr lang="en-US"/>
        </a:p>
      </dgm:t>
    </dgm:pt>
    <dgm:pt modelId="{D275CA7D-4391-485D-BA77-BAFC04247729}" type="parTrans" cxnId="{022547A6-D7D3-4952-9212-6022F66699CD}">
      <dgm:prSet/>
      <dgm:spPr/>
      <dgm:t>
        <a:bodyPr/>
        <a:lstStyle/>
        <a:p>
          <a:endParaRPr lang="en-US"/>
        </a:p>
      </dgm:t>
    </dgm:pt>
    <dgm:pt modelId="{28CE8C6E-D2AB-4A0D-A432-C0C83713EF0D}" type="sibTrans" cxnId="{022547A6-D7D3-4952-9212-6022F66699CD}">
      <dgm:prSet/>
      <dgm:spPr/>
      <dgm:t>
        <a:bodyPr/>
        <a:lstStyle/>
        <a:p>
          <a:endParaRPr lang="en-US"/>
        </a:p>
      </dgm:t>
    </dgm:pt>
    <dgm:pt modelId="{2EDB7707-103C-4B68-AE7D-594235B183BB}">
      <dgm:prSet phldrT="[Text]"/>
      <dgm:spPr/>
      <dgm:t>
        <a:bodyPr/>
        <a:lstStyle/>
        <a:p>
          <a:r>
            <a:rPr lang="en-GB"/>
            <a:t>End of WD2</a:t>
          </a:r>
          <a:endParaRPr lang="en-US"/>
        </a:p>
      </dgm:t>
    </dgm:pt>
    <dgm:pt modelId="{DD50ED0F-41C1-4ACE-8BD5-87BCC9F6DBD6}" type="parTrans" cxnId="{9DDB924D-4D52-40AE-A50A-BE7645248E8F}">
      <dgm:prSet/>
      <dgm:spPr/>
      <dgm:t>
        <a:bodyPr/>
        <a:lstStyle/>
        <a:p>
          <a:endParaRPr lang="en-US"/>
        </a:p>
      </dgm:t>
    </dgm:pt>
    <dgm:pt modelId="{099E26DB-E63E-4093-A6C5-1B53A72C3DBA}" type="sibTrans" cxnId="{9DDB924D-4D52-40AE-A50A-BE7645248E8F}">
      <dgm:prSet/>
      <dgm:spPr/>
      <dgm:t>
        <a:bodyPr/>
        <a:lstStyle/>
        <a:p>
          <a:endParaRPr lang="en-US"/>
        </a:p>
      </dgm:t>
    </dgm:pt>
    <dgm:pt modelId="{7D868380-472D-46AF-B75B-A7D870B520A8}">
      <dgm:prSet phldrT="[Text]"/>
      <dgm:spPr/>
      <dgm:t>
        <a:bodyPr/>
        <a:lstStyle/>
        <a:p>
          <a:r>
            <a:rPr lang="en-GB"/>
            <a:t>Morning of WD3</a:t>
          </a:r>
          <a:endParaRPr lang="en-US"/>
        </a:p>
      </dgm:t>
    </dgm:pt>
    <dgm:pt modelId="{3171D2E8-ACB9-4160-AAB3-0B81003D114E}" type="parTrans" cxnId="{6354F51D-ABB7-45FA-8048-C174DA6C16CB}">
      <dgm:prSet/>
      <dgm:spPr/>
      <dgm:t>
        <a:bodyPr/>
        <a:lstStyle/>
        <a:p>
          <a:endParaRPr lang="en-US"/>
        </a:p>
      </dgm:t>
    </dgm:pt>
    <dgm:pt modelId="{229A66E3-B99D-403C-B5C6-C10312295628}" type="sibTrans" cxnId="{6354F51D-ABB7-45FA-8048-C174DA6C16CB}">
      <dgm:prSet/>
      <dgm:spPr/>
      <dgm:t>
        <a:bodyPr/>
        <a:lstStyle/>
        <a:p>
          <a:endParaRPr lang="en-US"/>
        </a:p>
      </dgm:t>
    </dgm:pt>
    <dgm:pt modelId="{01C19FCC-D7D8-4160-9C4B-7C697C6E3919}" type="pres">
      <dgm:prSet presAssocID="{D8298C4A-5106-43B5-9712-35043F6127E6}" presName="Name0" presStyleCnt="0">
        <dgm:presLayoutVars>
          <dgm:dir/>
          <dgm:animLvl val="lvl"/>
          <dgm:resizeHandles val="exact"/>
        </dgm:presLayoutVars>
      </dgm:prSet>
      <dgm:spPr/>
    </dgm:pt>
    <dgm:pt modelId="{D976A290-990E-48C0-9415-F2BAC9F681A2}" type="pres">
      <dgm:prSet presAssocID="{9E16F3FF-D12C-48DB-974F-D860E2843300}" presName="parTxOnly" presStyleLbl="node1" presStyleIdx="0" presStyleCnt="3">
        <dgm:presLayoutVars>
          <dgm:chMax val="0"/>
          <dgm:chPref val="0"/>
          <dgm:bulletEnabled val="1"/>
        </dgm:presLayoutVars>
      </dgm:prSet>
      <dgm:spPr/>
    </dgm:pt>
    <dgm:pt modelId="{5AC25A0E-0F87-40B2-BA94-710FB81C35C2}" type="pres">
      <dgm:prSet presAssocID="{28CE8C6E-D2AB-4A0D-A432-C0C83713EF0D}" presName="parTxOnlySpace" presStyleCnt="0"/>
      <dgm:spPr/>
    </dgm:pt>
    <dgm:pt modelId="{5047D8F8-9BA3-4685-BBFE-F778EC72CCF8}" type="pres">
      <dgm:prSet presAssocID="{2EDB7707-103C-4B68-AE7D-594235B183BB}" presName="parTxOnly" presStyleLbl="node1" presStyleIdx="1" presStyleCnt="3">
        <dgm:presLayoutVars>
          <dgm:chMax val="0"/>
          <dgm:chPref val="0"/>
          <dgm:bulletEnabled val="1"/>
        </dgm:presLayoutVars>
      </dgm:prSet>
      <dgm:spPr/>
    </dgm:pt>
    <dgm:pt modelId="{86818E0B-800C-40FC-8EF4-5E1D2062CE38}" type="pres">
      <dgm:prSet presAssocID="{099E26DB-E63E-4093-A6C5-1B53A72C3DBA}" presName="parTxOnlySpace" presStyleCnt="0"/>
      <dgm:spPr/>
    </dgm:pt>
    <dgm:pt modelId="{DF9E79C7-CA6D-4D4C-879A-51BD4DD4333A}" type="pres">
      <dgm:prSet presAssocID="{7D868380-472D-46AF-B75B-A7D870B520A8}" presName="parTxOnly" presStyleLbl="node1" presStyleIdx="2" presStyleCnt="3">
        <dgm:presLayoutVars>
          <dgm:chMax val="0"/>
          <dgm:chPref val="0"/>
          <dgm:bulletEnabled val="1"/>
        </dgm:presLayoutVars>
      </dgm:prSet>
      <dgm:spPr/>
    </dgm:pt>
  </dgm:ptLst>
  <dgm:cxnLst>
    <dgm:cxn modelId="{6354F51D-ABB7-45FA-8048-C174DA6C16CB}" srcId="{D8298C4A-5106-43B5-9712-35043F6127E6}" destId="{7D868380-472D-46AF-B75B-A7D870B520A8}" srcOrd="2" destOrd="0" parTransId="{3171D2E8-ACB9-4160-AAB3-0B81003D114E}" sibTransId="{229A66E3-B99D-403C-B5C6-C10312295628}"/>
    <dgm:cxn modelId="{3B55CE36-2C68-4013-AD86-8DBD35354197}" type="presOf" srcId="{9E16F3FF-D12C-48DB-974F-D860E2843300}" destId="{D976A290-990E-48C0-9415-F2BAC9F681A2}" srcOrd="0" destOrd="0" presId="urn:microsoft.com/office/officeart/2005/8/layout/chevron1"/>
    <dgm:cxn modelId="{E2359B43-FD24-4DC3-9C8A-049403387B3B}" type="presOf" srcId="{D8298C4A-5106-43B5-9712-35043F6127E6}" destId="{01C19FCC-D7D8-4160-9C4B-7C697C6E3919}" srcOrd="0" destOrd="0" presId="urn:microsoft.com/office/officeart/2005/8/layout/chevron1"/>
    <dgm:cxn modelId="{5FC23747-C847-439C-9847-E1E56B5BDE7F}" type="presOf" srcId="{7D868380-472D-46AF-B75B-A7D870B520A8}" destId="{DF9E79C7-CA6D-4D4C-879A-51BD4DD4333A}" srcOrd="0" destOrd="0" presId="urn:microsoft.com/office/officeart/2005/8/layout/chevron1"/>
    <dgm:cxn modelId="{9DDB924D-4D52-40AE-A50A-BE7645248E8F}" srcId="{D8298C4A-5106-43B5-9712-35043F6127E6}" destId="{2EDB7707-103C-4B68-AE7D-594235B183BB}" srcOrd="1" destOrd="0" parTransId="{DD50ED0F-41C1-4ACE-8BD5-87BCC9F6DBD6}" sibTransId="{099E26DB-E63E-4093-A6C5-1B53A72C3DBA}"/>
    <dgm:cxn modelId="{ECDE6197-CB12-4863-B2A0-E96F627B9D99}" type="presOf" srcId="{2EDB7707-103C-4B68-AE7D-594235B183BB}" destId="{5047D8F8-9BA3-4685-BBFE-F778EC72CCF8}" srcOrd="0" destOrd="0" presId="urn:microsoft.com/office/officeart/2005/8/layout/chevron1"/>
    <dgm:cxn modelId="{022547A6-D7D3-4952-9212-6022F66699CD}" srcId="{D8298C4A-5106-43B5-9712-35043F6127E6}" destId="{9E16F3FF-D12C-48DB-974F-D860E2843300}" srcOrd="0" destOrd="0" parTransId="{D275CA7D-4391-485D-BA77-BAFC04247729}" sibTransId="{28CE8C6E-D2AB-4A0D-A432-C0C83713EF0D}"/>
    <dgm:cxn modelId="{FEA9663A-A173-44E7-B08B-74BE3304C0F4}" type="presParOf" srcId="{01C19FCC-D7D8-4160-9C4B-7C697C6E3919}" destId="{D976A290-990E-48C0-9415-F2BAC9F681A2}" srcOrd="0" destOrd="0" presId="urn:microsoft.com/office/officeart/2005/8/layout/chevron1"/>
    <dgm:cxn modelId="{76E13B8F-527F-46E2-8AE5-298A3F1F893B}" type="presParOf" srcId="{01C19FCC-D7D8-4160-9C4B-7C697C6E3919}" destId="{5AC25A0E-0F87-40B2-BA94-710FB81C35C2}" srcOrd="1" destOrd="0" presId="urn:microsoft.com/office/officeart/2005/8/layout/chevron1"/>
    <dgm:cxn modelId="{195319D0-CCAE-4408-95A6-A3413FB98D8F}" type="presParOf" srcId="{01C19FCC-D7D8-4160-9C4B-7C697C6E3919}" destId="{5047D8F8-9BA3-4685-BBFE-F778EC72CCF8}" srcOrd="2" destOrd="0" presId="urn:microsoft.com/office/officeart/2005/8/layout/chevron1"/>
    <dgm:cxn modelId="{3130EF43-8823-47B5-9D6E-AA77860EF2CE}" type="presParOf" srcId="{01C19FCC-D7D8-4160-9C4B-7C697C6E3919}" destId="{86818E0B-800C-40FC-8EF4-5E1D2062CE38}" srcOrd="3" destOrd="0" presId="urn:microsoft.com/office/officeart/2005/8/layout/chevron1"/>
    <dgm:cxn modelId="{5EBFD691-1D53-4D27-98D9-5A830862AC01}" type="presParOf" srcId="{01C19FCC-D7D8-4160-9C4B-7C697C6E3919}" destId="{DF9E79C7-CA6D-4D4C-879A-51BD4DD4333A}" srcOrd="4" destOrd="0" presId="urn:microsoft.com/office/officeart/2005/8/layout/chevron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47D8F8-9BA3-4685-BBFE-F778EC72CCF8}">
      <dsp:nvSpPr>
        <dsp:cNvPr id="0" name=""/>
        <dsp:cNvSpPr/>
      </dsp:nvSpPr>
      <dsp:spPr>
        <a:xfrm>
          <a:off x="0" y="878088"/>
          <a:ext cx="2806481" cy="108084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n-GB" sz="3100" kern="1200"/>
            <a:t>WD3</a:t>
          </a:r>
        </a:p>
        <a:p>
          <a:pPr marL="0" lvl="0" indent="0" algn="ctr" defTabSz="1377950">
            <a:lnSpc>
              <a:spcPct val="90000"/>
            </a:lnSpc>
            <a:spcBef>
              <a:spcPct val="0"/>
            </a:spcBef>
            <a:spcAft>
              <a:spcPct val="35000"/>
            </a:spcAft>
            <a:buNone/>
          </a:pPr>
          <a:r>
            <a:rPr lang="en-US" sz="1600" kern="1200"/>
            <a:t>After Material Ledger Close</a:t>
          </a:r>
        </a:p>
      </dsp:txBody>
      <dsp:txXfrm>
        <a:off x="540424" y="878088"/>
        <a:ext cx="1725634" cy="10808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47D8F8-9BA3-4685-BBFE-F778EC72CCF8}">
      <dsp:nvSpPr>
        <dsp:cNvPr id="0" name=""/>
        <dsp:cNvSpPr/>
      </dsp:nvSpPr>
      <dsp:spPr>
        <a:xfrm>
          <a:off x="396249" y="1308032"/>
          <a:ext cx="2722862" cy="108084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019" tIns="49340" rIns="49340" bIns="49340" numCol="1" spcCol="1270" anchor="ctr" anchorCtr="0">
          <a:noAutofit/>
        </a:bodyPr>
        <a:lstStyle/>
        <a:p>
          <a:pPr marL="0" lvl="0" indent="0" algn="ctr" defTabSz="1644650">
            <a:lnSpc>
              <a:spcPct val="90000"/>
            </a:lnSpc>
            <a:spcBef>
              <a:spcPct val="0"/>
            </a:spcBef>
            <a:spcAft>
              <a:spcPct val="35000"/>
            </a:spcAft>
            <a:buNone/>
          </a:pPr>
          <a:r>
            <a:rPr lang="en-GB" sz="3700" kern="1200"/>
            <a:t>End of WD2</a:t>
          </a:r>
          <a:endParaRPr lang="en-US" sz="3700" kern="1200"/>
        </a:p>
      </dsp:txBody>
      <dsp:txXfrm>
        <a:off x="936673" y="1308032"/>
        <a:ext cx="1642015" cy="10808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76A290-990E-48C0-9415-F2BAC9F681A2}">
      <dsp:nvSpPr>
        <dsp:cNvPr id="0" name=""/>
        <dsp:cNvSpPr/>
      </dsp:nvSpPr>
      <dsp:spPr>
        <a:xfrm>
          <a:off x="1845" y="1450344"/>
          <a:ext cx="2248927" cy="89957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a:t>End of WD1</a:t>
          </a:r>
          <a:endParaRPr lang="en-US" sz="2600" kern="1200"/>
        </a:p>
      </dsp:txBody>
      <dsp:txXfrm>
        <a:off x="451631" y="1450344"/>
        <a:ext cx="1349356" cy="899571"/>
      </dsp:txXfrm>
    </dsp:sp>
    <dsp:sp modelId="{5047D8F8-9BA3-4685-BBFE-F778EC72CCF8}">
      <dsp:nvSpPr>
        <dsp:cNvPr id="0" name=""/>
        <dsp:cNvSpPr/>
      </dsp:nvSpPr>
      <dsp:spPr>
        <a:xfrm>
          <a:off x="2025880" y="1450344"/>
          <a:ext cx="2248927" cy="89957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a:t>End of WD2</a:t>
          </a:r>
          <a:endParaRPr lang="en-US" sz="2600" kern="1200"/>
        </a:p>
      </dsp:txBody>
      <dsp:txXfrm>
        <a:off x="2475666" y="1450344"/>
        <a:ext cx="1349356" cy="899571"/>
      </dsp:txXfrm>
    </dsp:sp>
    <dsp:sp modelId="{DF9E79C7-CA6D-4D4C-879A-51BD4DD4333A}">
      <dsp:nvSpPr>
        <dsp:cNvPr id="0" name=""/>
        <dsp:cNvSpPr/>
      </dsp:nvSpPr>
      <dsp:spPr>
        <a:xfrm>
          <a:off x="4049915" y="1450344"/>
          <a:ext cx="2248927" cy="89957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a:t>Morning of WD3</a:t>
          </a:r>
          <a:endParaRPr lang="en-US" sz="2600" kern="1200"/>
        </a:p>
      </dsp:txBody>
      <dsp:txXfrm>
        <a:off x="4499701" y="1450344"/>
        <a:ext cx="1349356" cy="89957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137CD-A85F-413B-919D-828495E108B1}" type="datetimeFigureOut">
              <a:rPr lang="en-US" smtClean="0"/>
              <a:t>8/18/2020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6E3179-A85B-4305-BD0A-B63AA9390BFB}" type="slidenum">
              <a:rPr lang="en-US" smtClean="0"/>
              <a:t>‹#›</a:t>
            </a:fld>
            <a:endParaRPr lang="en-US"/>
          </a:p>
        </p:txBody>
      </p:sp>
    </p:spTree>
    <p:extLst>
      <p:ext uri="{BB962C8B-B14F-4D97-AF65-F5344CB8AC3E}">
        <p14:creationId xmlns:p14="http://schemas.microsoft.com/office/powerpoint/2010/main" val="3817876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8817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9046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472292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670782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02687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12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271118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jticorp.sharepoint.com/:x:/r/sites/BPM/ERP/Change%20Management%20Team/06_Training/Global%20Training%20Kit/R2R-CO/S4F_R2R-CO_Cost_Management_WBS_Elements_OPEX_ABC/WBS%20Allocation%20Keys%20and%20GL%20Accounts.xlsx?d=w1aea443829c14d2e812c804e967cd74e&amp;csf=1&amp;e=ArCTNg" TargetMode="Externa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hyperlink" Target="https://jticorp.sharepoint.com/:p:/r/sites/BPM/ERP/Change%20Management%20Team/06_Training/Global%20Training%20Kit/R2R-CO/S4F_R2R-CO_Cost_Management_WBS_Elements_OPEX_ABC/S4F_R2R-CO_Cost_Management_WBS_OPEX_ABC_05.pptx?d=wf96d17c2c59848808289f9a3c686ca31&amp;csf=1&amp;e=eYVE9D" TargetMode="Externa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hyperlink" Target="https://jticorp.sharepoint.com/:x:/r/sites/BPM/ERP/Change%20Management%20Team/06_Training/Global%20Training%20Kit/R2R-CO/S4F_R2R-CO_Cost_Management_WBS_Elements_OPEX_ABC/WBS%20Allocation%20Keys%20and%20GL%20Accounts.xlsx?d=w1aea443829c14d2e812c804e967cd74e&amp;csf=1&amp;e=bVch1z" TargetMode="External"/><Relationship Id="rId5" Type="http://schemas.openxmlformats.org/officeDocument/2006/relationships/image" Target="../media/image38.sv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1964509"/>
            <a:ext cx="4564896" cy="2514164"/>
            <a:chOff x="6326261" y="1702071"/>
            <a:chExt cx="4564896" cy="2514164"/>
          </a:xfrm>
        </p:grpSpPr>
        <p:cxnSp>
          <p:nvCxnSpPr>
            <p:cNvPr id="5" name="Elbow Connector 4"/>
            <p:cNvCxnSpPr>
              <a:cxnSpLocks/>
            </p:cNvCxnSpPr>
            <p:nvPr/>
          </p:nvCxnSpPr>
          <p:spPr>
            <a:xfrm flipV="1">
              <a:off x="6326261" y="1987271"/>
              <a:ext cx="944475" cy="1736449"/>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771633" y="1702071"/>
              <a:ext cx="4119524" cy="2514164"/>
              <a:chOff x="6771633" y="1702071"/>
              <a:chExt cx="4119524" cy="2514164"/>
            </a:xfrm>
          </p:grpSpPr>
          <p:cxnSp>
            <p:nvCxnSpPr>
              <p:cNvPr id="43" name="Straight Connector 42"/>
              <p:cNvCxnSpPr>
                <a:cxnSpLocks/>
              </p:cNvCxnSpPr>
              <p:nvPr/>
            </p:nvCxnSpPr>
            <p:spPr>
              <a:xfrm>
                <a:off x="6782605" y="2692997"/>
                <a:ext cx="48813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6771633" y="3301726"/>
                <a:ext cx="49910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1702071"/>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solidFill>
                    <a:effectLst/>
                    <a:uLnTx/>
                    <a:uFillTx/>
                    <a:latin typeface="Arial" charset="0"/>
                    <a:ea typeface="Arial" charset="0"/>
                    <a:cs typeface="Arial" charset="0"/>
                  </a:rPr>
                  <a:t>Postings to WBS</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4" y="2434337"/>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rial"/>
                    <a:ea typeface="+mn-ea"/>
                    <a:cs typeface="Arial"/>
                  </a:rPr>
                  <a:t>Settlement</a:t>
                </a:r>
                <a:endParaRPr kumimoji="0" lang="en-US" sz="2000" b="1" i="0" u="none" strike="noStrike" kern="1200" cap="none" spc="0" normalizeH="0" baseline="0" noProof="0">
                  <a:ln>
                    <a:noFill/>
                  </a:ln>
                  <a:solidFill>
                    <a:srgbClr val="FFFFFF"/>
                  </a:solidFill>
                  <a:effectLst/>
                  <a:uLnTx/>
                  <a:uFillTx/>
                  <a:latin typeface="Arial"/>
                  <a:ea typeface="+mn-ea"/>
                  <a:cs typeface="Arial"/>
                </a:endParaRPr>
              </a:p>
            </p:txBody>
          </p:sp>
          <p:sp>
            <p:nvSpPr>
              <p:cNvPr id="42" name="Rounded Rectangle 41"/>
              <p:cNvSpPr/>
              <p:nvPr/>
            </p:nvSpPr>
            <p:spPr>
              <a:xfrm>
                <a:off x="7667063" y="3073544"/>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charset="0"/>
                    <a:ea typeface="Arial" charset="0"/>
                    <a:cs typeface="Arial" charset="0"/>
                  </a:rPr>
                  <a:t>Multi Branded Settlement</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3" y="3757695"/>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84057"/>
            <a:ext cx="1011699" cy="38235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104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a:t>Practical Usage of WBS in S/4HANA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CDA642C0-BEB3-4497-A4C7-2053584D8163}"/>
              </a:ext>
            </a:extLst>
          </p:cNvPr>
          <p:cNvSpPr/>
          <p:nvPr/>
        </p:nvSpPr>
        <p:spPr>
          <a:xfrm>
            <a:off x="535709" y="1470892"/>
            <a:ext cx="2650836" cy="314036"/>
          </a:xfrm>
          <a:prstGeom prst="rect">
            <a:avLst/>
          </a:prstGeom>
          <a:solidFill>
            <a:schemeClr val="accent3"/>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Planning</a:t>
            </a:r>
          </a:p>
        </p:txBody>
      </p:sp>
      <p:sp>
        <p:nvSpPr>
          <p:cNvPr id="28" name="Rectangle 27">
            <a:extLst>
              <a:ext uri="{FF2B5EF4-FFF2-40B4-BE49-F238E27FC236}">
                <a16:creationId xmlns:a16="http://schemas.microsoft.com/office/drawing/2014/main" id="{2DE733F7-F4D7-409E-9117-8A7F1276FACA}"/>
              </a:ext>
            </a:extLst>
          </p:cNvPr>
          <p:cNvSpPr/>
          <p:nvPr/>
        </p:nvSpPr>
        <p:spPr>
          <a:xfrm>
            <a:off x="535709" y="1784928"/>
            <a:ext cx="2650836" cy="1770184"/>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When we refer to planning, this is Corporate FP&amp;A financial planning submissions such as A&amp;SP, LE, TDT, PMM etc.</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At JTI, most planning is loaded in BW (e.g. in GPM) rather than SAP.</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In EAM scenario, planning needs to be done at Capex WBS level via Planning Screen (linked to BW).</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0CCCAF79-5226-40FB-BD14-F50AFC292A81}"/>
              </a:ext>
            </a:extLst>
          </p:cNvPr>
          <p:cNvSpPr/>
          <p:nvPr/>
        </p:nvSpPr>
        <p:spPr>
          <a:xfrm>
            <a:off x="535709" y="3702894"/>
            <a:ext cx="2650836" cy="314036"/>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Budgeting</a:t>
            </a:r>
          </a:p>
        </p:txBody>
      </p:sp>
      <p:sp>
        <p:nvSpPr>
          <p:cNvPr id="31" name="Rectangle 30">
            <a:extLst>
              <a:ext uri="{FF2B5EF4-FFF2-40B4-BE49-F238E27FC236}">
                <a16:creationId xmlns:a16="http://schemas.microsoft.com/office/drawing/2014/main" id="{0D08E539-567F-413A-A74D-C728640AEB90}"/>
              </a:ext>
            </a:extLst>
          </p:cNvPr>
          <p:cNvSpPr/>
          <p:nvPr/>
        </p:nvSpPr>
        <p:spPr>
          <a:xfrm>
            <a:off x="535709" y="4016930"/>
            <a:ext cx="2650836" cy="251595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In SAP, a budget can be assigned to a WBS as a control mechanism. </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Once a budget amount is assigned, spend on the internal order or WBS element cannot exceed the budget amount.</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Budget is no longer mandatory for all spend with an approved BAP / Memo, and is optional for any other projects.</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The budget amount is not necessarily the same as what is included in plan</a:t>
            </a:r>
          </a:p>
          <a:p>
            <a:pPr marL="144000" lvl="1" indent="-144000" defTabSz="933450">
              <a:lnSpc>
                <a:spcPct val="90000"/>
              </a:lnSpc>
              <a:spcAft>
                <a:spcPct val="15000"/>
              </a:spcAft>
              <a:buFontTx/>
              <a:buChar char="••"/>
              <a:defRPr/>
            </a:pPr>
            <a:r>
              <a:rPr lang="en-GB" sz="1100" b="1" kern="0" dirty="0">
                <a:solidFill>
                  <a:srgbClr val="000000"/>
                </a:solidFill>
                <a:latin typeface="Arial" panose="020B0604020202020204"/>
              </a:rPr>
              <a:t>Budget MUST be </a:t>
            </a:r>
            <a:r>
              <a:rPr lang="en-US" sz="1100" b="1" kern="0" dirty="0">
                <a:solidFill>
                  <a:srgbClr val="000000"/>
                </a:solidFill>
              </a:rPr>
              <a:t>assigned before PR/PO creation in accordance to recommended business flow</a:t>
            </a:r>
            <a:r>
              <a:rPr lang="en-GB" sz="1100" b="1" kern="0" dirty="0">
                <a:solidFill>
                  <a:srgbClr val="000000"/>
                </a:solidFill>
                <a:latin typeface="Arial" panose="020B0604020202020204"/>
              </a:rPr>
              <a:t> </a:t>
            </a:r>
            <a:endPar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F103BC2A-43E4-4F3D-B20D-7D0E5B923422}"/>
              </a:ext>
            </a:extLst>
          </p:cNvPr>
          <p:cNvSpPr/>
          <p:nvPr/>
        </p:nvSpPr>
        <p:spPr>
          <a:xfrm>
            <a:off x="3348181" y="1470892"/>
            <a:ext cx="8308109" cy="314036"/>
          </a:xfrm>
          <a:prstGeom prst="rect">
            <a:avLst/>
          </a:prstGeom>
          <a:solidFill>
            <a:schemeClr val="accent6"/>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Actuals</a:t>
            </a:r>
          </a:p>
        </p:txBody>
      </p:sp>
      <p:sp>
        <p:nvSpPr>
          <p:cNvPr id="34" name="Rectangle 33">
            <a:extLst>
              <a:ext uri="{FF2B5EF4-FFF2-40B4-BE49-F238E27FC236}">
                <a16:creationId xmlns:a16="http://schemas.microsoft.com/office/drawing/2014/main" id="{199F1171-0E18-4609-95FF-A06EC073F388}"/>
              </a:ext>
            </a:extLst>
          </p:cNvPr>
          <p:cNvSpPr/>
          <p:nvPr/>
        </p:nvSpPr>
        <p:spPr>
          <a:xfrm>
            <a:off x="3348181" y="2112685"/>
            <a:ext cx="2253658" cy="4420195"/>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In order for costs/expenses from Purchase Orders (PO) to be recorded in WBS, you need to select an </a:t>
            </a:r>
            <a:r>
              <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rPr>
              <a:t>Account Assignment Category </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related to WBS and indicate the WBS number in PR/PO.</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A new PR/PO account assignment category </a:t>
            </a:r>
            <a:r>
              <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rPr>
              <a:t>Y</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has been created so that cost </a:t>
            </a:r>
            <a:r>
              <a:rPr kumimoji="0" lang="en-GB" sz="1100" b="0" i="0" u="none" strike="noStrike" kern="0" cap="none" spc="0" normalizeH="0" baseline="0" noProof="0" dirty="0" err="1">
                <a:ln>
                  <a:noFill/>
                </a:ln>
                <a:solidFill>
                  <a:srgbClr val="000000"/>
                </a:solidFill>
                <a:effectLst/>
                <a:uLnTx/>
                <a:uFillTx/>
                <a:latin typeface="Arial" panose="020B0604020202020204"/>
                <a:ea typeface="+mn-ea"/>
                <a:cs typeface="+mn-cs"/>
              </a:rPr>
              <a:t>center</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and WBS element can both be used and posted into.</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rPr>
              <a:t>K</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is to be used when only a cost </a:t>
            </a:r>
            <a:r>
              <a:rPr kumimoji="0" lang="en-GB" sz="1100" b="0" i="0" u="none" strike="noStrike" kern="0" cap="none" spc="0" normalizeH="0" baseline="0" noProof="0" dirty="0" err="1">
                <a:ln>
                  <a:noFill/>
                </a:ln>
                <a:solidFill>
                  <a:srgbClr val="000000"/>
                </a:solidFill>
                <a:effectLst/>
                <a:uLnTx/>
                <a:uFillTx/>
                <a:latin typeface="Arial" panose="020B0604020202020204"/>
                <a:ea typeface="+mn-ea"/>
                <a:cs typeface="+mn-cs"/>
              </a:rPr>
              <a:t>center</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is needed in the posting; </a:t>
            </a:r>
            <a:r>
              <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rPr>
              <a:t>P</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is for capex related expenditure and </a:t>
            </a:r>
            <a:r>
              <a:rPr kumimoji="0" lang="en-GB" sz="1100" b="1" i="0" u="none" strike="noStrike" kern="0" cap="none" spc="0" normalizeH="0" baseline="0" noProof="0" dirty="0">
                <a:ln>
                  <a:noFill/>
                </a:ln>
                <a:solidFill>
                  <a:srgbClr val="000000"/>
                </a:solidFill>
                <a:effectLst/>
                <a:uLnTx/>
                <a:uFillTx/>
                <a:latin typeface="Arial" panose="020B0604020202020204"/>
                <a:ea typeface="+mn-ea"/>
                <a:cs typeface="+mn-cs"/>
              </a:rPr>
              <a:t>Y</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is for cost </a:t>
            </a:r>
            <a:r>
              <a:rPr kumimoji="0" lang="en-GB" sz="1100" b="0" i="0" u="none" strike="noStrike" kern="0" cap="none" spc="0" normalizeH="0" baseline="0" noProof="0" dirty="0" err="1">
                <a:ln>
                  <a:noFill/>
                </a:ln>
                <a:solidFill>
                  <a:srgbClr val="000000"/>
                </a:solidFill>
                <a:effectLst/>
                <a:uLnTx/>
                <a:uFillTx/>
                <a:latin typeface="Arial" panose="020B0604020202020204"/>
                <a:ea typeface="+mn-ea"/>
                <a:cs typeface="+mn-cs"/>
              </a:rPr>
              <a:t>center</a:t>
            </a:r>
            <a:r>
              <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rPr>
              <a:t> and WBS element.</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lang="en-GB" sz="1100" kern="0" dirty="0">
                <a:solidFill>
                  <a:srgbClr val="000000"/>
                </a:solidFill>
                <a:latin typeface="Arial" panose="020B0604020202020204"/>
              </a:rPr>
              <a:t>If a Budget is maintained for a Project, it must be assigned BEFORE PR/PO creation</a:t>
            </a: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35" name="Rectangle 34">
            <a:extLst>
              <a:ext uri="{FF2B5EF4-FFF2-40B4-BE49-F238E27FC236}">
                <a16:creationId xmlns:a16="http://schemas.microsoft.com/office/drawing/2014/main" id="{B2815A08-B248-4BEF-ACC8-5163D511DDEE}"/>
              </a:ext>
            </a:extLst>
          </p:cNvPr>
          <p:cNvSpPr/>
          <p:nvPr/>
        </p:nvSpPr>
        <p:spPr>
          <a:xfrm>
            <a:off x="3348179" y="1797601"/>
            <a:ext cx="2253660" cy="313564"/>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Purchasing</a:t>
            </a:r>
          </a:p>
        </p:txBody>
      </p:sp>
      <p:sp>
        <p:nvSpPr>
          <p:cNvPr id="36" name="Rectangle 35">
            <a:extLst>
              <a:ext uri="{FF2B5EF4-FFF2-40B4-BE49-F238E27FC236}">
                <a16:creationId xmlns:a16="http://schemas.microsoft.com/office/drawing/2014/main" id="{54AC93E4-F9BD-466A-9246-A1E82D6E34E4}"/>
              </a:ext>
            </a:extLst>
          </p:cNvPr>
          <p:cNvSpPr/>
          <p:nvPr/>
        </p:nvSpPr>
        <p:spPr>
          <a:xfrm>
            <a:off x="5601840" y="1797601"/>
            <a:ext cx="2027420" cy="313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Payroll</a:t>
            </a:r>
          </a:p>
        </p:txBody>
      </p:sp>
      <p:sp>
        <p:nvSpPr>
          <p:cNvPr id="37" name="Rectangle 36">
            <a:extLst>
              <a:ext uri="{FF2B5EF4-FFF2-40B4-BE49-F238E27FC236}">
                <a16:creationId xmlns:a16="http://schemas.microsoft.com/office/drawing/2014/main" id="{DF8FD26B-79A7-4D59-AB8E-987CA6B8A523}"/>
              </a:ext>
            </a:extLst>
          </p:cNvPr>
          <p:cNvSpPr/>
          <p:nvPr/>
        </p:nvSpPr>
        <p:spPr>
          <a:xfrm>
            <a:off x="7629260" y="1797601"/>
            <a:ext cx="2013514" cy="314036"/>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srgbClr val="000000"/>
                </a:solidFill>
                <a:effectLst/>
                <a:uLnTx/>
                <a:uFillTx/>
                <a:latin typeface="Arial" panose="020B0604020202020204"/>
                <a:ea typeface="+mn-ea"/>
                <a:cs typeface="+mn-cs"/>
              </a:rPr>
              <a:t>MyRequest</a:t>
            </a:r>
            <a:endParaRPr kumimoji="0" lang="en-GB"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10EB5A31-5673-4EF8-89AD-69AC7800BC87}"/>
              </a:ext>
            </a:extLst>
          </p:cNvPr>
          <p:cNvSpPr/>
          <p:nvPr/>
        </p:nvSpPr>
        <p:spPr>
          <a:xfrm>
            <a:off x="9642773" y="1797601"/>
            <a:ext cx="2013515" cy="314036"/>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WBS Settlement</a:t>
            </a:r>
          </a:p>
        </p:txBody>
      </p:sp>
      <p:pic>
        <p:nvPicPr>
          <p:cNvPr id="39" name="Picture 8" descr="C:\Users\CSTSHA~1\AppData\Local\Temp\SNAGHTMLa8976a8.PNG">
            <a:extLst>
              <a:ext uri="{FF2B5EF4-FFF2-40B4-BE49-F238E27FC236}">
                <a16:creationId xmlns:a16="http://schemas.microsoft.com/office/drawing/2014/main" id="{D7B7FDEE-26C0-4806-9BAE-860E52629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1883" y="4020961"/>
            <a:ext cx="1706252" cy="1075244"/>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a:extLst>
              <a:ext uri="{FF2B5EF4-FFF2-40B4-BE49-F238E27FC236}">
                <a16:creationId xmlns:a16="http://schemas.microsoft.com/office/drawing/2014/main" id="{AECC5FD0-CEC1-4C23-B206-91C718E1C739}"/>
              </a:ext>
            </a:extLst>
          </p:cNvPr>
          <p:cNvSpPr/>
          <p:nvPr/>
        </p:nvSpPr>
        <p:spPr>
          <a:xfrm>
            <a:off x="5601837" y="2112062"/>
            <a:ext cx="2027420" cy="4420194"/>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WBS element has been added to the payroll file used for the payroll interface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Any locations who record payroll via the interface can therefore include WBS element in any payroll entries if applicable – this is not mandatory</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4CDA0808-72E1-4D75-A44D-3316905AE3B1}"/>
              </a:ext>
            </a:extLst>
          </p:cNvPr>
          <p:cNvSpPr/>
          <p:nvPr/>
        </p:nvSpPr>
        <p:spPr>
          <a:xfrm>
            <a:off x="7629257" y="2110801"/>
            <a:ext cx="2013514" cy="4003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WBS element is added as a field in all </a:t>
            </a:r>
            <a:r>
              <a:rPr kumimoji="0" lang="en-GB" sz="1100" b="0" i="0" u="none" strike="noStrike" kern="0" cap="none" spc="0" normalizeH="0" baseline="0" noProof="0" err="1">
                <a:ln>
                  <a:noFill/>
                </a:ln>
                <a:solidFill>
                  <a:srgbClr val="000000"/>
                </a:solidFill>
                <a:effectLst/>
                <a:uLnTx/>
                <a:uFillTx/>
                <a:latin typeface="Arial" panose="020B0604020202020204"/>
                <a:ea typeface="+mn-ea"/>
                <a:cs typeface="+mn-cs"/>
              </a:rPr>
              <a:t>MyRequest</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templates where a posting against a P&amp;L account is possible.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Where a branded WBS is used, there is no need to also populate brand family and product type in the </a:t>
            </a:r>
            <a:r>
              <a:rPr kumimoji="0" lang="en-GB" sz="1100" b="0" i="0" u="none" strike="noStrike" kern="0" cap="none" spc="0" normalizeH="0" baseline="0" noProof="0" err="1">
                <a:ln>
                  <a:noFill/>
                </a:ln>
                <a:solidFill>
                  <a:srgbClr val="000000"/>
                </a:solidFill>
                <a:effectLst/>
                <a:uLnTx/>
                <a:uFillTx/>
                <a:latin typeface="Arial" panose="020B0604020202020204"/>
                <a:ea typeface="+mn-ea"/>
                <a:cs typeface="+mn-cs"/>
              </a:rPr>
              <a:t>MyRequest</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template as these will be derived from the WBS element master data.</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Depending on the nature of the cost that you wish to book against a WBS element, you need to make sure you have populated the correct WBS number in your </a:t>
            </a:r>
            <a:r>
              <a:rPr kumimoji="0" lang="en-GB" sz="1100" b="0" i="0" u="none" strike="noStrike" kern="0" cap="none" spc="0" normalizeH="0" baseline="0" noProof="0" err="1">
                <a:ln>
                  <a:noFill/>
                </a:ln>
                <a:solidFill>
                  <a:srgbClr val="000000"/>
                </a:solidFill>
                <a:effectLst/>
                <a:uLnTx/>
                <a:uFillTx/>
                <a:latin typeface="Arial" panose="020B0604020202020204"/>
                <a:ea typeface="+mn-ea"/>
                <a:cs typeface="+mn-cs"/>
              </a:rPr>
              <a:t>MyRequest</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template.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3B16B97E-AA9C-42A6-9532-FFE8CB2B6188}"/>
              </a:ext>
            </a:extLst>
          </p:cNvPr>
          <p:cNvSpPr/>
          <p:nvPr/>
        </p:nvSpPr>
        <p:spPr>
          <a:xfrm>
            <a:off x="9642771" y="2110801"/>
            <a:ext cx="2013514" cy="4420194"/>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As explained earlier some WBS elements need to be settled at period end. These will create FI postings made to WBS elements.</a:t>
            </a:r>
          </a:p>
          <a:p>
            <a:pPr marL="144000" marR="0" lvl="1" indent="-144000" algn="l" defTabSz="933450" rtl="0" eaLnBrk="1" fontAlgn="base" latinLnBrk="0" hangingPunct="1">
              <a:lnSpc>
                <a:spcPct val="90000"/>
              </a:lnSpc>
              <a:spcBef>
                <a:spcPts val="60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Settlement is performed based on Settlement rules in each WBS.</a:t>
            </a:r>
          </a:p>
          <a:p>
            <a:pPr marL="144000" marR="0" lvl="1" indent="-144000" algn="l" defTabSz="933450" rtl="0" eaLnBrk="1" fontAlgn="base" latinLnBrk="0" hangingPunct="1">
              <a:lnSpc>
                <a:spcPct val="90000"/>
              </a:lnSpc>
              <a:spcBef>
                <a:spcPts val="60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Some of the settlement rules are automatically generated, e.g. in the case of Capex WBS settling to CIP; some of the settlement rules need to be maintained in WBS manually by users.</a:t>
            </a:r>
          </a:p>
          <a:p>
            <a:pPr marL="144000" marR="0" lvl="1" indent="-144000" algn="l" defTabSz="933450" rtl="0" eaLnBrk="1" fontAlgn="base" latinLnBrk="0" hangingPunct="1">
              <a:lnSpc>
                <a:spcPct val="90000"/>
              </a:lnSpc>
              <a:spcBef>
                <a:spcPts val="60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Details of settlement rules of each WBS scenario is explained in the respective training courses.</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pic>
        <p:nvPicPr>
          <p:cNvPr id="3076" name="Picture 4" descr="C:\Users\CSTSHA~1\AppData\Local\Temp\SNAGHTML578e0736.PNG">
            <a:extLst>
              <a:ext uri="{FF2B5EF4-FFF2-40B4-BE49-F238E27FC236}">
                <a16:creationId xmlns:a16="http://schemas.microsoft.com/office/drawing/2014/main" id="{20399132-171E-4D90-ADD5-3B31DA99C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8748" y="5950113"/>
            <a:ext cx="4565015" cy="69265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BF02B057-8E69-4A99-B3EB-4026C5989920}"/>
              </a:ext>
            </a:extLst>
          </p:cNvPr>
          <p:cNvCxnSpPr>
            <a:cxnSpLocks/>
          </p:cNvCxnSpPr>
          <p:nvPr/>
        </p:nvCxnSpPr>
        <p:spPr>
          <a:xfrm>
            <a:off x="8859766" y="5622979"/>
            <a:ext cx="514013" cy="674542"/>
          </a:xfrm>
          <a:prstGeom prst="straightConnector1">
            <a:avLst/>
          </a:prstGeom>
          <a:ln w="34925">
            <a:solidFill>
              <a:srgbClr val="30AFA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02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Purchase Orders</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B6DCF4FC-1C29-4181-924F-B850225CD0F3}"/>
              </a:ext>
            </a:extLst>
          </p:cNvPr>
          <p:cNvSpPr/>
          <p:nvPr/>
        </p:nvSpPr>
        <p:spPr>
          <a:xfrm>
            <a:off x="565090" y="1461856"/>
            <a:ext cx="11242249" cy="1078142"/>
          </a:xfrm>
          <a:prstGeom prst="roundRect">
            <a:avLst/>
          </a:prstGeom>
          <a:gradFill rotWithShape="1">
            <a:gsLst>
              <a:gs pos="0">
                <a:srgbClr val="ACE8E6"/>
              </a:gs>
              <a:gs pos="50000">
                <a:srgbClr val="78DAD6"/>
              </a:gs>
              <a:gs pos="100000">
                <a:srgbClr val="33C1B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Within a Purchase Order there is an Account Assignment Category that determines the Accounts related postings will be posted to. Account Assignment Y has been created for postings to WBS Elements. When selected for line items the mandatory fields for Cost </a:t>
            </a:r>
            <a:r>
              <a:rPr kumimoji="0" lang="en-GB" sz="1600" b="0" i="0" u="none" strike="noStrike" kern="0" cap="none" spc="0" normalizeH="0" baseline="0" noProof="0" err="1">
                <a:ln>
                  <a:noFill/>
                </a:ln>
                <a:solidFill>
                  <a:srgbClr val="000000"/>
                </a:solidFill>
                <a:effectLst/>
                <a:uLnTx/>
                <a:uFillTx/>
                <a:latin typeface="Arial" panose="020B0604020202020204"/>
                <a:ea typeface="+mn-ea"/>
                <a:cs typeface="+mn-cs"/>
              </a:rPr>
              <a:t>center</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 and WBS Element appear in the Account Assignment tab for that line item and must be populated</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pic>
        <p:nvPicPr>
          <p:cNvPr id="25604" name="Picture 4" descr="C:\Users\CSTSHA~1\AppData\Local\Temp\SNAGHTML2f95d967.PNG">
            <a:extLst>
              <a:ext uri="{FF2B5EF4-FFF2-40B4-BE49-F238E27FC236}">
                <a16:creationId xmlns:a16="http://schemas.microsoft.com/office/drawing/2014/main" id="{33D4CAA1-EAA1-4A80-81D8-32DB716AC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813" y="2379571"/>
            <a:ext cx="8239647" cy="410051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CDF7D442-3CF0-4B2C-9C21-6668834096AD}"/>
              </a:ext>
            </a:extLst>
          </p:cNvPr>
          <p:cNvGrpSpPr/>
          <p:nvPr/>
        </p:nvGrpSpPr>
        <p:grpSpPr>
          <a:xfrm>
            <a:off x="4165501" y="3236903"/>
            <a:ext cx="1930499" cy="621534"/>
            <a:chOff x="5130750" y="3225789"/>
            <a:chExt cx="1930499" cy="621534"/>
          </a:xfrm>
        </p:grpSpPr>
        <p:pic>
          <p:nvPicPr>
            <p:cNvPr id="3" name="Picture 2">
              <a:extLst>
                <a:ext uri="{FF2B5EF4-FFF2-40B4-BE49-F238E27FC236}">
                  <a16:creationId xmlns:a16="http://schemas.microsoft.com/office/drawing/2014/main" id="{BDB7EF35-DDE7-4F8F-B40B-6A323859D769}"/>
                </a:ext>
              </a:extLst>
            </p:cNvPr>
            <p:cNvPicPr>
              <a:picLocks noChangeAspect="1"/>
            </p:cNvPicPr>
            <p:nvPr/>
          </p:nvPicPr>
          <p:blipFill>
            <a:blip r:embed="rId3"/>
            <a:stretch>
              <a:fillRect/>
            </a:stretch>
          </p:blipFill>
          <p:spPr>
            <a:xfrm>
              <a:off x="5130750" y="3225789"/>
              <a:ext cx="1930499" cy="406421"/>
            </a:xfrm>
            <a:prstGeom prst="rect">
              <a:avLst/>
            </a:prstGeom>
            <a:ln w="25400">
              <a:solidFill>
                <a:srgbClr val="EAAA00"/>
              </a:solidFill>
              <a:prstDash val="sysDash"/>
            </a:ln>
          </p:spPr>
        </p:pic>
        <p:pic>
          <p:nvPicPr>
            <p:cNvPr id="8" name="Picture 7">
              <a:extLst>
                <a:ext uri="{FF2B5EF4-FFF2-40B4-BE49-F238E27FC236}">
                  <a16:creationId xmlns:a16="http://schemas.microsoft.com/office/drawing/2014/main" id="{F8AB465D-3D2E-4720-AC72-DD6E53D86143}"/>
                </a:ext>
              </a:extLst>
            </p:cNvPr>
            <p:cNvPicPr>
              <a:picLocks noChangeAspect="1"/>
            </p:cNvPicPr>
            <p:nvPr/>
          </p:nvPicPr>
          <p:blipFill>
            <a:blip r:embed="rId4"/>
            <a:stretch>
              <a:fillRect/>
            </a:stretch>
          </p:blipFill>
          <p:spPr>
            <a:xfrm>
              <a:off x="5162501" y="3599660"/>
              <a:ext cx="1866996" cy="247663"/>
            </a:xfrm>
            <a:prstGeom prst="rect">
              <a:avLst/>
            </a:prstGeom>
            <a:ln w="25400">
              <a:solidFill>
                <a:srgbClr val="EAAA00"/>
              </a:solidFill>
              <a:prstDash val="sysDash"/>
            </a:ln>
          </p:spPr>
        </p:pic>
      </p:grpSp>
      <p:cxnSp>
        <p:nvCxnSpPr>
          <p:cNvPr id="14" name="Straight Arrow Connector 13">
            <a:extLst>
              <a:ext uri="{FF2B5EF4-FFF2-40B4-BE49-F238E27FC236}">
                <a16:creationId xmlns:a16="http://schemas.microsoft.com/office/drawing/2014/main" id="{8E5354DF-00A3-4342-BFD3-2DE2FF81E004}"/>
              </a:ext>
            </a:extLst>
          </p:cNvPr>
          <p:cNvCxnSpPr/>
          <p:nvPr/>
        </p:nvCxnSpPr>
        <p:spPr>
          <a:xfrm>
            <a:off x="3048000" y="3581400"/>
            <a:ext cx="1079500" cy="0"/>
          </a:xfrm>
          <a:prstGeom prst="straightConnector1">
            <a:avLst/>
          </a:prstGeom>
          <a:ln w="34925">
            <a:solidFill>
              <a:srgbClr val="EAAA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57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Manual Postings to Profitability Analysis with WBS Elements – Statistical Allocation</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D4C1EA47-9F6C-4AE6-AED1-28FCE04B0B3D}"/>
              </a:ext>
            </a:extLst>
          </p:cNvPr>
          <p:cNvSpPr/>
          <p:nvPr/>
        </p:nvSpPr>
        <p:spPr>
          <a:xfrm>
            <a:off x="457200" y="3647124"/>
            <a:ext cx="11218861" cy="2612615"/>
          </a:xfrm>
          <a:prstGeom prst="roundRect">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WBS elements with priority </a:t>
            </a:r>
            <a:r>
              <a:rPr kumimoji="0" lang="en-GB" sz="1600" b="1" i="0" u="none" strike="noStrike" kern="0" cap="none" spc="0" normalizeH="0" baseline="0" noProof="0">
                <a:ln>
                  <a:noFill/>
                </a:ln>
                <a:solidFill>
                  <a:srgbClr val="000000"/>
                </a:solidFill>
                <a:effectLst/>
                <a:uLnTx/>
                <a:uFillTx/>
                <a:latin typeface="Arial" panose="020B0604020202020204"/>
                <a:ea typeface="+mn-ea"/>
                <a:cs typeface="+mn-cs"/>
              </a:rPr>
              <a:t>1 – allocation statistical </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can be used for costs above brand contribution where a branded or multi-brand WBS element are not suitable</a:t>
            </a: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Such WBS elements must be used with a cost </a:t>
            </a:r>
            <a:r>
              <a:rPr kumimoji="0" lang="en-GB" sz="1600" b="0" i="0" u="none" strike="noStrike" kern="0" cap="none" spc="0" normalizeH="0" baseline="0" noProof="0" err="1">
                <a:ln>
                  <a:noFill/>
                </a:ln>
                <a:solidFill>
                  <a:srgbClr val="000000"/>
                </a:solidFill>
                <a:effectLst/>
                <a:uLnTx/>
                <a:uFillTx/>
                <a:latin typeface="Arial" panose="020B0604020202020204"/>
                <a:ea typeface="+mn-ea"/>
                <a:cs typeface="+mn-cs"/>
              </a:rPr>
              <a:t>center</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 and with brand family and product type or material populated</a:t>
            </a: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indent="-285750">
              <a:buFont typeface="Wingdings" panose="05000000000000000000" pitchFamily="2" charset="2"/>
              <a:buChar char="ü"/>
              <a:defRPr/>
            </a:pPr>
            <a:r>
              <a:rPr kumimoji="0" lang="en-GB" sz="1600" b="1" i="0" u="none" strike="noStrike" kern="0" cap="none" spc="0" normalizeH="0" baseline="0" noProof="0">
                <a:ln>
                  <a:noFill/>
                </a:ln>
                <a:solidFill>
                  <a:srgbClr val="000000"/>
                </a:solidFill>
                <a:effectLst/>
                <a:uLnTx/>
                <a:uFillTx/>
                <a:latin typeface="Arial" panose="020B0604020202020204"/>
                <a:ea typeface="+mn-ea"/>
                <a:cs typeface="+mn-cs"/>
              </a:rPr>
              <a:t>It will not be possible to use these WBS elements in purchase orders</a:t>
            </a:r>
            <a:r>
              <a:rPr lang="en-GB" sz="1600" b="1" kern="0">
                <a:solidFill>
                  <a:srgbClr val="000000"/>
                </a:solidFill>
                <a:latin typeface="Arial" panose="020B0604020202020204"/>
              </a:rPr>
              <a:t> for above brand contribution spend</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 these can only be used via manual postings such as journal postings, direct FI vendor or customer invoices etc</a:t>
            </a:r>
            <a:r>
              <a:rPr lang="en-GB" sz="1600" kern="0">
                <a:solidFill>
                  <a:srgbClr val="000000"/>
                </a:solidFill>
                <a:latin typeface="Arial" panose="020B0604020202020204"/>
              </a:rPr>
              <a:t>. However, these can be used in purchase orders with </a:t>
            </a:r>
            <a:r>
              <a:rPr lang="en-GB" sz="1600" kern="0" err="1">
                <a:solidFill>
                  <a:srgbClr val="000000"/>
                </a:solidFill>
                <a:latin typeface="Arial" panose="020B0604020202020204"/>
              </a:rPr>
              <a:t>opex</a:t>
            </a:r>
            <a:r>
              <a:rPr lang="en-GB" sz="1600" kern="0">
                <a:solidFill>
                  <a:srgbClr val="000000"/>
                </a:solidFill>
                <a:latin typeface="Arial" panose="020B0604020202020204"/>
              </a:rPr>
              <a:t> GL accounts</a:t>
            </a: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GB" sz="1600" b="0" i="0" u="none" strike="noStrike" kern="0" cap="none" spc="0" normalizeH="0" baseline="0" noProof="0">
              <a:ln>
                <a:noFill/>
              </a:ln>
              <a:solidFill>
                <a:srgbClr val="000000"/>
              </a:solidFill>
              <a:effectLst/>
              <a:uLnTx/>
              <a:uFillTx/>
              <a:latin typeface="Arial" panose="020B0604020202020204"/>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If the WBS element or project has a budget assigned, these entries will reduce the amount remaining on the budget</a:t>
            </a:r>
            <a:endParaRPr lang="en-US" sz="1600" b="0" i="0" u="none" strike="noStrike" kern="0" cap="none" spc="0" normalizeH="0" baseline="0" noProof="0">
              <a:ln>
                <a:noFill/>
              </a:ln>
              <a:solidFill>
                <a:srgbClr val="000000"/>
              </a:solidFill>
              <a:effectLst/>
              <a:uLnTx/>
              <a:uFillTx/>
              <a:latin typeface="Arial" panose="020B0604020202020204"/>
              <a:cs typeface="Arial"/>
            </a:endParaRPr>
          </a:p>
        </p:txBody>
      </p:sp>
      <p:pic>
        <p:nvPicPr>
          <p:cNvPr id="3" name="Picture 2">
            <a:extLst>
              <a:ext uri="{FF2B5EF4-FFF2-40B4-BE49-F238E27FC236}">
                <a16:creationId xmlns:a16="http://schemas.microsoft.com/office/drawing/2014/main" id="{E0C415B4-BF35-4744-B604-A0894AB97EBF}"/>
              </a:ext>
            </a:extLst>
          </p:cNvPr>
          <p:cNvPicPr>
            <a:picLocks noChangeAspect="1"/>
          </p:cNvPicPr>
          <p:nvPr/>
        </p:nvPicPr>
        <p:blipFill>
          <a:blip r:embed="rId2"/>
          <a:stretch>
            <a:fillRect/>
          </a:stretch>
        </p:blipFill>
        <p:spPr>
          <a:xfrm>
            <a:off x="536307" y="1558892"/>
            <a:ext cx="10965616" cy="1651983"/>
          </a:xfrm>
          <a:prstGeom prst="rect">
            <a:avLst/>
          </a:prstGeom>
        </p:spPr>
      </p:pic>
    </p:spTree>
    <p:extLst>
      <p:ext uri="{BB962C8B-B14F-4D97-AF65-F5344CB8AC3E}">
        <p14:creationId xmlns:p14="http://schemas.microsoft.com/office/powerpoint/2010/main" val="2645642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Attributed Profitability</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2F5787E7-1A01-4A05-A5EC-6C3DAA963E43}"/>
              </a:ext>
            </a:extLst>
          </p:cNvPr>
          <p:cNvGraphicFramePr>
            <a:graphicFrameLocks noGrp="1"/>
          </p:cNvGraphicFramePr>
          <p:nvPr/>
        </p:nvGraphicFramePr>
        <p:xfrm>
          <a:off x="683076" y="5268832"/>
          <a:ext cx="10017595" cy="914444"/>
        </p:xfrm>
        <a:graphic>
          <a:graphicData uri="http://schemas.openxmlformats.org/drawingml/2006/table">
            <a:tbl>
              <a:tblPr firstRow="1" bandRow="1"/>
              <a:tblGrid>
                <a:gridCol w="1482006">
                  <a:extLst>
                    <a:ext uri="{9D8B030D-6E8A-4147-A177-3AD203B41FA5}">
                      <a16:colId xmlns:a16="http://schemas.microsoft.com/office/drawing/2014/main" val="20000"/>
                    </a:ext>
                  </a:extLst>
                </a:gridCol>
                <a:gridCol w="665963">
                  <a:extLst>
                    <a:ext uri="{9D8B030D-6E8A-4147-A177-3AD203B41FA5}">
                      <a16:colId xmlns:a16="http://schemas.microsoft.com/office/drawing/2014/main" val="20001"/>
                    </a:ext>
                  </a:extLst>
                </a:gridCol>
                <a:gridCol w="1059367">
                  <a:extLst>
                    <a:ext uri="{9D8B030D-6E8A-4147-A177-3AD203B41FA5}">
                      <a16:colId xmlns:a16="http://schemas.microsoft.com/office/drawing/2014/main" val="20002"/>
                    </a:ext>
                  </a:extLst>
                </a:gridCol>
                <a:gridCol w="1736564">
                  <a:extLst>
                    <a:ext uri="{9D8B030D-6E8A-4147-A177-3AD203B41FA5}">
                      <a16:colId xmlns:a16="http://schemas.microsoft.com/office/drawing/2014/main" val="20003"/>
                    </a:ext>
                  </a:extLst>
                </a:gridCol>
                <a:gridCol w="1467516">
                  <a:extLst>
                    <a:ext uri="{9D8B030D-6E8A-4147-A177-3AD203B41FA5}">
                      <a16:colId xmlns:a16="http://schemas.microsoft.com/office/drawing/2014/main" val="20004"/>
                    </a:ext>
                  </a:extLst>
                </a:gridCol>
                <a:gridCol w="1369682">
                  <a:extLst>
                    <a:ext uri="{9D8B030D-6E8A-4147-A177-3AD203B41FA5}">
                      <a16:colId xmlns:a16="http://schemas.microsoft.com/office/drawing/2014/main" val="20006"/>
                    </a:ext>
                  </a:extLst>
                </a:gridCol>
                <a:gridCol w="1486116">
                  <a:extLst>
                    <a:ext uri="{9D8B030D-6E8A-4147-A177-3AD203B41FA5}">
                      <a16:colId xmlns:a16="http://schemas.microsoft.com/office/drawing/2014/main" val="20007"/>
                    </a:ext>
                  </a:extLst>
                </a:gridCol>
                <a:gridCol w="750381">
                  <a:extLst>
                    <a:ext uri="{9D8B030D-6E8A-4147-A177-3AD203B41FA5}">
                      <a16:colId xmlns:a16="http://schemas.microsoft.com/office/drawing/2014/main" val="20010"/>
                    </a:ext>
                  </a:extLst>
                </a:gridCol>
              </a:tblGrid>
              <a:tr h="447009">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algn="ctr"/>
                      <a:r>
                        <a:rPr lang="en-US" sz="1600"/>
                        <a:t>Doc</a:t>
                      </a:r>
                      <a:r>
                        <a:rPr lang="en-US" sz="1600" baseline="0"/>
                        <a:t> number</a:t>
                      </a:r>
                      <a:endParaRPr lang="en-US" sz="1600">
                        <a:solidFill>
                          <a:schemeClr val="tx1"/>
                        </a:solidFill>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algn="ctr"/>
                      <a:r>
                        <a:rPr lang="en-US" sz="1600"/>
                        <a:t>Item No.</a:t>
                      </a:r>
                      <a:endParaRPr lang="en-US" sz="1600">
                        <a:solidFill>
                          <a:schemeClr val="tx1"/>
                        </a:solidFill>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algn="ctr" defTabSz="914400" rtl="0" eaLnBrk="1" latinLnBrk="0" hangingPunct="1"/>
                      <a:r>
                        <a:rPr lang="en-US" sz="1600" kern="1200"/>
                        <a:t>Doc. Type</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algn="ctr" defTabSz="914400" rtl="0" eaLnBrk="1" latinLnBrk="0" hangingPunct="1"/>
                      <a:r>
                        <a:rPr lang="en-US" sz="1600" kern="1200"/>
                        <a:t>G/L Account</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algn="ctr" defTabSz="914400" rtl="0" eaLnBrk="1" latinLnBrk="0" hangingPunct="1"/>
                      <a:r>
                        <a:rPr lang="en-US" sz="1600" kern="1200"/>
                        <a:t>WBS element</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algn="ctr" defTabSz="914400" rtl="0" eaLnBrk="1" latinLnBrk="0" hangingPunct="1"/>
                      <a:r>
                        <a:rPr lang="en-US" sz="1600" kern="1200"/>
                        <a:t>Brand</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algn="ctr" defTabSz="914400" rtl="0" eaLnBrk="1" latinLnBrk="0" hangingPunct="1"/>
                      <a:r>
                        <a:rPr lang="en-US" sz="1600" kern="1200"/>
                        <a:t>Product type</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kern="1200"/>
                        <a:t>…</a:t>
                      </a:r>
                      <a:endParaRPr lang="en-US" sz="1600" b="1" kern="1200">
                        <a:solidFill>
                          <a:schemeClr val="tx1"/>
                        </a:solidFill>
                        <a:latin typeface="+mn-lt"/>
                        <a:ea typeface="+mn-ea"/>
                        <a:cs typeface="+mn-cs"/>
                      </a:endParaRPr>
                    </a:p>
                  </a:txBody>
                  <a:tcPr marL="91461" marR="91461" marT="45731" marB="45731"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extLst>
                  <a:ext uri="{0D108BD9-81ED-4DB2-BD59-A6C34878D82A}">
                    <a16:rowId xmlns:a16="http://schemas.microsoft.com/office/drawing/2014/main" val="10000"/>
                  </a:ext>
                </a:extLst>
              </a:tr>
              <a:tr h="321797">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t>5000000011</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t>2</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t>WE</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t>502705</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t>123456</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highlight>
                            <a:srgbClr val="FFFF00"/>
                          </a:highlight>
                        </a:rPr>
                        <a:t>WI</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600">
                          <a:highlight>
                            <a:srgbClr val="FFFF00"/>
                          </a:highlight>
                        </a:rPr>
                        <a:t>RMC</a:t>
                      </a:r>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eaLnBrk="1"/>
                      <a:endParaRPr lang="en-US" sz="1600"/>
                    </a:p>
                  </a:txBody>
                  <a:tcPr marL="91461" marR="91461" marT="45731" marB="45731"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extLst>
                  <a:ext uri="{0D108BD9-81ED-4DB2-BD59-A6C34878D82A}">
                    <a16:rowId xmlns:a16="http://schemas.microsoft.com/office/drawing/2014/main" val="10001"/>
                  </a:ext>
                </a:extLst>
              </a:tr>
            </a:tbl>
          </a:graphicData>
        </a:graphic>
      </p:graphicFrame>
      <p:grpSp>
        <p:nvGrpSpPr>
          <p:cNvPr id="7" name="Group 6">
            <a:extLst>
              <a:ext uri="{FF2B5EF4-FFF2-40B4-BE49-F238E27FC236}">
                <a16:creationId xmlns:a16="http://schemas.microsoft.com/office/drawing/2014/main" id="{BD093D41-AA93-4BE7-B1F0-9AAAE1397790}"/>
              </a:ext>
            </a:extLst>
          </p:cNvPr>
          <p:cNvGrpSpPr/>
          <p:nvPr/>
        </p:nvGrpSpPr>
        <p:grpSpPr>
          <a:xfrm>
            <a:off x="6642550" y="6270744"/>
            <a:ext cx="2308478" cy="221443"/>
            <a:chOff x="4333361" y="2824626"/>
            <a:chExt cx="1091615" cy="219683"/>
          </a:xfrm>
        </p:grpSpPr>
        <p:grpSp>
          <p:nvGrpSpPr>
            <p:cNvPr id="8" name="Group 7">
              <a:extLst>
                <a:ext uri="{FF2B5EF4-FFF2-40B4-BE49-F238E27FC236}">
                  <a16:creationId xmlns:a16="http://schemas.microsoft.com/office/drawing/2014/main" id="{011B53F5-3E75-4915-AC47-6A4256EB0434}"/>
                </a:ext>
              </a:extLst>
            </p:cNvPr>
            <p:cNvGrpSpPr/>
            <p:nvPr/>
          </p:nvGrpSpPr>
          <p:grpSpPr>
            <a:xfrm>
              <a:off x="4333361" y="2824626"/>
              <a:ext cx="548640" cy="218953"/>
              <a:chOff x="3732904" y="2824627"/>
              <a:chExt cx="548640" cy="218953"/>
            </a:xfrm>
          </p:grpSpPr>
          <p:cxnSp>
            <p:nvCxnSpPr>
              <p:cNvPr id="10" name="Elbow Connector 28">
                <a:extLst>
                  <a:ext uri="{FF2B5EF4-FFF2-40B4-BE49-F238E27FC236}">
                    <a16:creationId xmlns:a16="http://schemas.microsoft.com/office/drawing/2014/main" id="{42A2E7E0-995C-406A-B958-B4E4B61D4FB3}"/>
                  </a:ext>
                </a:extLst>
              </p:cNvPr>
              <p:cNvCxnSpPr/>
              <p:nvPr/>
            </p:nvCxnSpPr>
            <p:spPr>
              <a:xfrm flipV="1">
                <a:off x="3732904" y="2824627"/>
                <a:ext cx="548640" cy="218953"/>
              </a:xfrm>
              <a:prstGeom prst="bentConnector3">
                <a:avLst>
                  <a:gd name="adj1" fmla="val 100980"/>
                </a:avLst>
              </a:prstGeom>
              <a:noFill/>
              <a:ln w="38100" cap="flat" cmpd="sng" algn="ctr">
                <a:solidFill>
                  <a:srgbClr val="8F9195"/>
                </a:solidFill>
                <a:prstDash val="solid"/>
                <a:tailEnd type="triangle"/>
              </a:ln>
              <a:effectLst/>
            </p:spPr>
          </p:cxnSp>
          <p:cxnSp>
            <p:nvCxnSpPr>
              <p:cNvPr id="11" name="Straight Connector 10">
                <a:extLst>
                  <a:ext uri="{FF2B5EF4-FFF2-40B4-BE49-F238E27FC236}">
                    <a16:creationId xmlns:a16="http://schemas.microsoft.com/office/drawing/2014/main" id="{C89D4A70-9EC3-4A30-9616-7E9B4CC14916}"/>
                  </a:ext>
                </a:extLst>
              </p:cNvPr>
              <p:cNvCxnSpPr/>
              <p:nvPr/>
            </p:nvCxnSpPr>
            <p:spPr>
              <a:xfrm flipV="1">
                <a:off x="3732904" y="2824627"/>
                <a:ext cx="0" cy="218953"/>
              </a:xfrm>
              <a:prstGeom prst="line">
                <a:avLst/>
              </a:prstGeom>
              <a:noFill/>
              <a:ln w="38100" cap="flat" cmpd="sng" algn="ctr">
                <a:solidFill>
                  <a:srgbClr val="8F9195"/>
                </a:solidFill>
                <a:prstDash val="solid"/>
              </a:ln>
              <a:effectLst/>
            </p:spPr>
          </p:cxnSp>
        </p:grpSp>
        <p:cxnSp>
          <p:nvCxnSpPr>
            <p:cNvPr id="9" name="Elbow Connector 27">
              <a:extLst>
                <a:ext uri="{FF2B5EF4-FFF2-40B4-BE49-F238E27FC236}">
                  <a16:creationId xmlns:a16="http://schemas.microsoft.com/office/drawing/2014/main" id="{5B263357-6340-4ED7-A645-B1AA4F7220A7}"/>
                </a:ext>
              </a:extLst>
            </p:cNvPr>
            <p:cNvCxnSpPr/>
            <p:nvPr/>
          </p:nvCxnSpPr>
          <p:spPr>
            <a:xfrm flipV="1">
              <a:off x="4876336" y="2825356"/>
              <a:ext cx="548640" cy="218953"/>
            </a:xfrm>
            <a:prstGeom prst="bentConnector3">
              <a:avLst>
                <a:gd name="adj1" fmla="val 100980"/>
              </a:avLst>
            </a:prstGeom>
            <a:noFill/>
            <a:ln w="38100" cap="flat" cmpd="sng" algn="ctr">
              <a:solidFill>
                <a:srgbClr val="8F9195"/>
              </a:solidFill>
              <a:prstDash val="solid"/>
              <a:tailEnd type="triangle"/>
            </a:ln>
            <a:effectLst/>
          </p:spPr>
        </p:cxnSp>
      </p:grpSp>
      <p:sp>
        <p:nvSpPr>
          <p:cNvPr id="12" name="Rounded Rectangular Callout 33">
            <a:extLst>
              <a:ext uri="{FF2B5EF4-FFF2-40B4-BE49-F238E27FC236}">
                <a16:creationId xmlns:a16="http://schemas.microsoft.com/office/drawing/2014/main" id="{74EBCE80-6C01-4195-89CC-DA0619739530}"/>
              </a:ext>
            </a:extLst>
          </p:cNvPr>
          <p:cNvSpPr/>
          <p:nvPr/>
        </p:nvSpPr>
        <p:spPr bwMode="gray">
          <a:xfrm>
            <a:off x="10131275" y="4910102"/>
            <a:ext cx="1940466" cy="1619757"/>
          </a:xfrm>
          <a:prstGeom prst="wedgeRoundRectCallout">
            <a:avLst>
              <a:gd name="adj1" fmla="val -92309"/>
              <a:gd name="adj2" fmla="val 97"/>
              <a:gd name="adj3" fmla="val 16667"/>
            </a:avLst>
          </a:prstGeom>
          <a:gradFill rotWithShape="1">
            <a:gsLst>
              <a:gs pos="0">
                <a:srgbClr val="B0D838">
                  <a:lumMod val="110000"/>
                  <a:satMod val="105000"/>
                  <a:tint val="67000"/>
                </a:srgbClr>
              </a:gs>
              <a:gs pos="50000">
                <a:srgbClr val="B0D838">
                  <a:lumMod val="105000"/>
                  <a:satMod val="103000"/>
                  <a:tint val="73000"/>
                </a:srgbClr>
              </a:gs>
              <a:gs pos="100000">
                <a:srgbClr val="B0D838">
                  <a:lumMod val="105000"/>
                  <a:satMod val="109000"/>
                  <a:tint val="81000"/>
                </a:srgbClr>
              </a:gs>
            </a:gsLst>
            <a:lin ang="5400000" scaled="0"/>
          </a:gradFill>
          <a:ln w="6350" cap="flat" cmpd="sng" algn="ctr">
            <a:solidFill>
              <a:srgbClr val="B0D838"/>
            </a:solidFill>
            <a:prstDash val="solid"/>
            <a:miter lim="800000"/>
            <a:headEnd/>
            <a:tailEnd/>
          </a:ln>
          <a:effectLst/>
        </p:spPr>
        <p:txBody>
          <a:bodyPr lIns="90000" tIns="72000" rIns="90000" bIns="72000" rtlCol="0" anchor="ctr"/>
          <a:lstStyle/>
          <a:p>
            <a:pPr marL="0" marR="0" lvl="0" indent="0" algn="l" defTabSz="914400" rtl="0" eaLnBrk="1" fontAlgn="auto" latinLnBrk="0" hangingPunct="1">
              <a:lnSpc>
                <a:spcPct val="100000"/>
              </a:lnSpc>
              <a:spcBef>
                <a:spcPct val="50000"/>
              </a:spcBef>
              <a:spcAft>
                <a:spcPts val="0"/>
              </a:spcAft>
              <a:buClr>
                <a:srgbClr val="F0AB00"/>
              </a:buClr>
              <a:buSzPct val="80000"/>
              <a:buFontTx/>
              <a:buNone/>
              <a:tabLst/>
              <a:defRPr/>
            </a:pPr>
            <a:r>
              <a:rPr kumimoji="0" lang="en-US" sz="1800" b="0" i="0" u="none" strike="noStrike" kern="0" cap="none" spc="0" normalizeH="0" baseline="0" noProof="0">
                <a:ln>
                  <a:noFill/>
                </a:ln>
                <a:solidFill>
                  <a:srgbClr val="122632"/>
                </a:solidFill>
                <a:effectLst/>
                <a:uLnTx/>
                <a:uFillTx/>
                <a:latin typeface="Arial" panose="020B0604020202020204"/>
                <a:ea typeface="+mn-ea"/>
                <a:cs typeface="+mn-cs"/>
              </a:rPr>
              <a:t>CO-PA characteristics are derived on initial posting – before settlement</a:t>
            </a:r>
          </a:p>
        </p:txBody>
      </p:sp>
      <p:sp>
        <p:nvSpPr>
          <p:cNvPr id="13" name="TextBox 12">
            <a:extLst>
              <a:ext uri="{FF2B5EF4-FFF2-40B4-BE49-F238E27FC236}">
                <a16:creationId xmlns:a16="http://schemas.microsoft.com/office/drawing/2014/main" id="{DC40D7D3-96CC-47E7-B349-E8B554A324F2}"/>
              </a:ext>
            </a:extLst>
          </p:cNvPr>
          <p:cNvSpPr txBox="1"/>
          <p:nvPr/>
        </p:nvSpPr>
        <p:spPr>
          <a:xfrm>
            <a:off x="3479240" y="3429004"/>
            <a:ext cx="4145768" cy="1612312"/>
          </a:xfrm>
          <a:prstGeom prst="rect">
            <a:avLst/>
          </a:prstGeom>
          <a:gradFill rotWithShape="1">
            <a:gsLst>
              <a:gs pos="0">
                <a:srgbClr val="407EC9">
                  <a:lumMod val="110000"/>
                  <a:satMod val="105000"/>
                  <a:tint val="67000"/>
                </a:srgbClr>
              </a:gs>
              <a:gs pos="50000">
                <a:srgbClr val="407EC9">
                  <a:lumMod val="105000"/>
                  <a:satMod val="103000"/>
                  <a:tint val="73000"/>
                </a:srgbClr>
              </a:gs>
              <a:gs pos="100000">
                <a:srgbClr val="407EC9">
                  <a:lumMod val="105000"/>
                  <a:satMod val="109000"/>
                  <a:tint val="81000"/>
                </a:srgbClr>
              </a:gs>
            </a:gsLst>
            <a:lin ang="5400000" scaled="0"/>
          </a:gradFill>
          <a:ln w="6350" cap="flat" cmpd="sng" algn="ctr">
            <a:solidFill>
              <a:srgbClr val="407EC9"/>
            </a:solidFill>
            <a:prstDash val="solid"/>
            <a:miter lim="800000"/>
          </a:ln>
          <a:effectLst/>
        </p:spPr>
        <p:txBody>
          <a:bodyPr vert="horz" wrap="square" lIns="0" tIns="0" rIns="0" bIns="0" numCol="1" anchor="ctr" anchorCtr="0" compatLnSpc="1">
            <a:prstTxWarp prst="textNoShape">
              <a:avLst/>
            </a:prstTxWarp>
          </a:bodyPr>
          <a:lstStyle>
            <a:defPPr>
              <a:defRPr lang="ru-RU"/>
            </a:defPPr>
            <a:lvl1pPr algn="ctr" fontAlgn="base">
              <a:spcBef>
                <a:spcPct val="0"/>
              </a:spcBef>
              <a:defRPr sz="1400" b="1">
                <a:solidFill>
                  <a:srgbClr val="FFFFFF"/>
                </a:solidFill>
                <a:latin typeface="Arial"/>
                <a:ea typeface="ＭＳ Ｐゴシック" charset="-128"/>
                <a:cs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base" latinLnBrk="0" hangingPunct="1">
              <a:lnSpc>
                <a:spcPct val="100000"/>
              </a:lnSpc>
              <a:spcBef>
                <a:spcPct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Arial"/>
                <a:ea typeface="ＭＳ Ｐゴシック" charset="-128"/>
                <a:cs typeface="Calibri"/>
              </a:rPr>
              <a:t>WBS element 123456</a:t>
            </a: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Arial"/>
              <a:ea typeface="ＭＳ Ｐゴシック" charset="-128"/>
              <a:cs typeface="Calibri"/>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Arial"/>
              <a:ea typeface="ＭＳ Ｐゴシック" charset="-128"/>
              <a:cs typeface="Calibri"/>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Arial"/>
              <a:ea typeface="ＭＳ Ｐゴシック" charset="-128"/>
              <a:cs typeface="Calibri"/>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Arial"/>
              <a:ea typeface="ＭＳ Ｐゴシック" charset="-128"/>
              <a:cs typeface="Calibri"/>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Arial"/>
              <a:ea typeface="ＭＳ Ｐゴシック" charset="-128"/>
              <a:cs typeface="Calibri"/>
            </a:endParaRPr>
          </a:p>
          <a:p>
            <a:pPr marL="0" marR="0" lvl="0" indent="0" algn="ctr" defTabSz="914400" rtl="0" eaLnBrk="1" fontAlgn="base" latinLnBrk="0" hangingPunct="1">
              <a:lnSpc>
                <a:spcPct val="100000"/>
              </a:lnSpc>
              <a:spcBef>
                <a:spcPct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Arial"/>
              <a:ea typeface="ＭＳ Ｐゴシック" charset="-128"/>
              <a:cs typeface="Calibri"/>
            </a:endParaRPr>
          </a:p>
        </p:txBody>
      </p:sp>
      <p:graphicFrame>
        <p:nvGraphicFramePr>
          <p:cNvPr id="14" name="Table 13">
            <a:extLst>
              <a:ext uri="{FF2B5EF4-FFF2-40B4-BE49-F238E27FC236}">
                <a16:creationId xmlns:a16="http://schemas.microsoft.com/office/drawing/2014/main" id="{2545A1F1-A266-4654-9356-FA291501A98E}"/>
              </a:ext>
            </a:extLst>
          </p:cNvPr>
          <p:cNvGraphicFramePr>
            <a:graphicFrameLocks noGrp="1"/>
          </p:cNvGraphicFramePr>
          <p:nvPr/>
        </p:nvGraphicFramePr>
        <p:xfrm>
          <a:off x="4297388" y="3721367"/>
          <a:ext cx="2410968" cy="1263900"/>
        </p:xfrm>
        <a:graphic>
          <a:graphicData uri="http://schemas.openxmlformats.org/drawingml/2006/table">
            <a:tbl>
              <a:tblPr firstRow="1" bandRow="1"/>
              <a:tblGrid>
                <a:gridCol w="1205484">
                  <a:extLst>
                    <a:ext uri="{9D8B030D-6E8A-4147-A177-3AD203B41FA5}">
                      <a16:colId xmlns:a16="http://schemas.microsoft.com/office/drawing/2014/main" val="20000"/>
                    </a:ext>
                  </a:extLst>
                </a:gridCol>
                <a:gridCol w="1205484">
                  <a:extLst>
                    <a:ext uri="{9D8B030D-6E8A-4147-A177-3AD203B41FA5}">
                      <a16:colId xmlns:a16="http://schemas.microsoft.com/office/drawing/2014/main" val="20001"/>
                    </a:ext>
                  </a:extLst>
                </a:gridCol>
              </a:tblGrid>
              <a:tr h="349434">
                <a:tc gridSpan="2">
                  <a:txBody>
                    <a:bodyPr/>
                    <a:lstStyle>
                      <a:lvl1pPr marL="0" algn="l" defTabSz="914400" rtl="0" eaLnBrk="1" latinLnBrk="0" hangingPunct="1">
                        <a:defRPr sz="1800" b="1" kern="1200">
                          <a:solidFill>
                            <a:schemeClr val="bg1"/>
                          </a:solidFill>
                          <a:latin typeface="Arial" panose="020B0604020202020204"/>
                        </a:defRPr>
                      </a:lvl1pPr>
                      <a:lvl2pPr marL="457200" algn="l" defTabSz="914400" rtl="0" eaLnBrk="1" latinLnBrk="0" hangingPunct="1">
                        <a:defRPr sz="1800" b="1" kern="1200">
                          <a:solidFill>
                            <a:schemeClr val="bg1"/>
                          </a:solidFill>
                          <a:latin typeface="Arial" panose="020B0604020202020204"/>
                        </a:defRPr>
                      </a:lvl2pPr>
                      <a:lvl3pPr marL="914400" algn="l" defTabSz="914400" rtl="0" eaLnBrk="1" latinLnBrk="0" hangingPunct="1">
                        <a:defRPr sz="1800" b="1" kern="1200">
                          <a:solidFill>
                            <a:schemeClr val="bg1"/>
                          </a:solidFill>
                          <a:latin typeface="Arial" panose="020B0604020202020204"/>
                        </a:defRPr>
                      </a:lvl3pPr>
                      <a:lvl4pPr marL="1371600" algn="l" defTabSz="914400" rtl="0" eaLnBrk="1" latinLnBrk="0" hangingPunct="1">
                        <a:defRPr sz="1800" b="1" kern="1200">
                          <a:solidFill>
                            <a:schemeClr val="bg1"/>
                          </a:solidFill>
                          <a:latin typeface="Arial" panose="020B0604020202020204"/>
                        </a:defRPr>
                      </a:lvl4pPr>
                      <a:lvl5pPr marL="1828800" algn="l" defTabSz="914400" rtl="0" eaLnBrk="1" latinLnBrk="0" hangingPunct="1">
                        <a:defRPr sz="1800" b="1" kern="1200">
                          <a:solidFill>
                            <a:schemeClr val="bg1"/>
                          </a:solidFill>
                          <a:latin typeface="Arial" panose="020B0604020202020204"/>
                        </a:defRPr>
                      </a:lvl5pPr>
                      <a:lvl6pPr marL="2286000" algn="l" defTabSz="914400" rtl="0" eaLnBrk="1" latinLnBrk="0" hangingPunct="1">
                        <a:defRPr sz="1800" b="1" kern="1200">
                          <a:solidFill>
                            <a:schemeClr val="bg1"/>
                          </a:solidFill>
                          <a:latin typeface="Arial" panose="020B0604020202020204"/>
                        </a:defRPr>
                      </a:lvl6pPr>
                      <a:lvl7pPr marL="2743200" algn="l" defTabSz="914400" rtl="0" eaLnBrk="1" latinLnBrk="0" hangingPunct="1">
                        <a:defRPr sz="1800" b="1" kern="1200">
                          <a:solidFill>
                            <a:schemeClr val="bg1"/>
                          </a:solidFill>
                          <a:latin typeface="Arial" panose="020B0604020202020204"/>
                        </a:defRPr>
                      </a:lvl7pPr>
                      <a:lvl8pPr marL="3200400" algn="l" defTabSz="914400" rtl="0" eaLnBrk="1" latinLnBrk="0" hangingPunct="1">
                        <a:defRPr sz="1800" b="1" kern="1200">
                          <a:solidFill>
                            <a:schemeClr val="bg1"/>
                          </a:solidFill>
                          <a:latin typeface="Arial" panose="020B0604020202020204"/>
                        </a:defRPr>
                      </a:lvl8pPr>
                      <a:lvl9pPr marL="3657600" algn="l" defTabSz="914400" rtl="0" eaLnBrk="1" latinLnBrk="0" hangingPunct="1">
                        <a:defRPr sz="1800" b="1" kern="1200">
                          <a:solidFill>
                            <a:schemeClr val="bg1"/>
                          </a:solidFill>
                          <a:latin typeface="Arial" panose="020B0604020202020204"/>
                        </a:defRPr>
                      </a:lvl9pPr>
                    </a:lstStyle>
                    <a:p>
                      <a:pPr algn="ctr"/>
                      <a:r>
                        <a:rPr lang="en-US" sz="1600"/>
                        <a:t>Settlement</a:t>
                      </a:r>
                      <a:r>
                        <a:rPr lang="en-US" sz="1600" baseline="0"/>
                        <a:t> rule</a:t>
                      </a:r>
                      <a:endParaRPr lang="en-US" sz="1600"/>
                    </a:p>
                  </a:txBody>
                  <a:tcPr marL="91461" marR="91461" marT="45731" marB="45731" anchor="ctr">
                    <a:lnL w="12700" cmpd="sng">
                      <a:solidFill>
                        <a:srgbClr val="407EC9"/>
                      </a:solidFill>
                    </a:lnL>
                    <a:lnR w="12700" cmpd="sng">
                      <a:solidFill>
                        <a:srgbClr val="407EC9"/>
                      </a:solid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407EC9"/>
                    </a:solidFill>
                  </a:tcPr>
                </a:tc>
                <a:tc hMerge="1">
                  <a:txBody>
                    <a:bodyPr/>
                    <a:lstStyle/>
                    <a:p>
                      <a:pPr algn="ctr"/>
                      <a:endParaRPr lang="en-US" sz="1000"/>
                    </a:p>
                  </a:txBody>
                  <a:tcPr marL="91461" marR="91461" marT="45731" marB="45731" anchor="ctr">
                    <a:lnR w="6350" cap="flat" cmpd="sng" algn="ctr">
                      <a:solidFill>
                        <a:schemeClr val="tx2"/>
                      </a:solidFill>
                      <a:prstDash val="solid"/>
                      <a:round/>
                      <a:headEnd type="none" w="med" len="med"/>
                      <a:tailEnd type="none" w="med" len="med"/>
                    </a:lnR>
                    <a:solidFill>
                      <a:schemeClr val="accent1"/>
                    </a:solidFill>
                  </a:tcPr>
                </a:tc>
                <a:extLst>
                  <a:ext uri="{0D108BD9-81ED-4DB2-BD59-A6C34878D82A}">
                    <a16:rowId xmlns:a16="http://schemas.microsoft.com/office/drawing/2014/main" val="10000"/>
                  </a:ext>
                </a:extLst>
              </a:tr>
              <a:tr h="235276">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Percentage</a:t>
                      </a:r>
                    </a:p>
                  </a:txBody>
                  <a:tcPr marL="91461" marR="91461" marT="45731" marB="45731" anchor="ctr">
                    <a:lnL w="12700" cmpd="sng">
                      <a:solidFill>
                        <a:srgbClr val="407EC9"/>
                      </a:solidFill>
                    </a:lnL>
                    <a:lnR>
                      <a:no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407EC9">
                        <a:tint val="2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100%</a:t>
                      </a:r>
                    </a:p>
                  </a:txBody>
                  <a:tcPr marL="91461" marR="91461" marT="45731" marB="45731" anchor="ctr">
                    <a:lnL>
                      <a:noFill/>
                    </a:lnL>
                    <a:lnR w="12700" cmpd="sng">
                      <a:solidFill>
                        <a:srgbClr val="407EC9"/>
                      </a:solid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407EC9">
                        <a:tint val="20000"/>
                      </a:srgbClr>
                    </a:solidFill>
                  </a:tcPr>
                </a:tc>
                <a:extLst>
                  <a:ext uri="{0D108BD9-81ED-4DB2-BD59-A6C34878D82A}">
                    <a16:rowId xmlns:a16="http://schemas.microsoft.com/office/drawing/2014/main" val="10001"/>
                  </a:ext>
                </a:extLst>
              </a:tr>
              <a:tr h="235276">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Brand:</a:t>
                      </a:r>
                    </a:p>
                  </a:txBody>
                  <a:tcPr marL="91461" marR="91461" marT="45731" marB="45731" anchor="ctr">
                    <a:lnL w="12700" cmpd="sng">
                      <a:solidFill>
                        <a:srgbClr val="407EC9"/>
                      </a:solidFill>
                    </a:lnL>
                    <a:lnR>
                      <a:no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WI</a:t>
                      </a:r>
                    </a:p>
                  </a:txBody>
                  <a:tcPr marL="91461" marR="91461" marT="45731" marB="45731" anchor="ctr">
                    <a:lnL>
                      <a:noFill/>
                    </a:lnL>
                    <a:lnR w="12700" cmpd="sng">
                      <a:solidFill>
                        <a:srgbClr val="407EC9"/>
                      </a:solid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35276">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Prod.</a:t>
                      </a:r>
                      <a:r>
                        <a:rPr lang="en-US" sz="1400" baseline="0"/>
                        <a:t> type:</a:t>
                      </a:r>
                      <a:endParaRPr lang="en-US" sz="1400"/>
                    </a:p>
                  </a:txBody>
                  <a:tcPr marL="91461" marR="91461" marT="45731" marB="45731" anchor="ctr">
                    <a:lnL w="12700" cmpd="sng">
                      <a:solidFill>
                        <a:srgbClr val="407EC9"/>
                      </a:solidFill>
                    </a:lnL>
                    <a:lnR>
                      <a:no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407EC9">
                        <a:tint val="2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RMC</a:t>
                      </a:r>
                    </a:p>
                  </a:txBody>
                  <a:tcPr marL="91461" marR="91461" marT="45731" marB="45731" anchor="ctr">
                    <a:lnL>
                      <a:noFill/>
                    </a:lnL>
                    <a:lnR w="12700" cmpd="sng">
                      <a:solidFill>
                        <a:srgbClr val="407EC9"/>
                      </a:solidFill>
                    </a:lnR>
                    <a:lnT w="12700" cmpd="sng">
                      <a:solidFill>
                        <a:srgbClr val="407EC9"/>
                      </a:solidFill>
                    </a:lnT>
                    <a:lnB w="12700" cmpd="sng">
                      <a:solidFill>
                        <a:srgbClr val="407EC9"/>
                      </a:solidFill>
                    </a:lnB>
                    <a:lnTlToBr w="12700" cmpd="sng">
                      <a:noFill/>
                      <a:prstDash val="solid"/>
                    </a:lnTlToBr>
                    <a:lnBlToTr w="12700" cmpd="sng">
                      <a:noFill/>
                      <a:prstDash val="solid"/>
                    </a:lnBlToTr>
                    <a:solidFill>
                      <a:srgbClr val="407EC9">
                        <a:tint val="20000"/>
                      </a:srgbClr>
                    </a:solidFill>
                  </a:tcPr>
                </a:tc>
                <a:extLst>
                  <a:ext uri="{0D108BD9-81ED-4DB2-BD59-A6C34878D82A}">
                    <a16:rowId xmlns:a16="http://schemas.microsoft.com/office/drawing/2014/main" val="10003"/>
                  </a:ext>
                </a:extLst>
              </a:tr>
            </a:tbl>
          </a:graphicData>
        </a:graphic>
      </p:graphicFrame>
      <p:sp>
        <p:nvSpPr>
          <p:cNvPr id="15" name="Arrow: Right 20">
            <a:extLst>
              <a:ext uri="{FF2B5EF4-FFF2-40B4-BE49-F238E27FC236}">
                <a16:creationId xmlns:a16="http://schemas.microsoft.com/office/drawing/2014/main" id="{05DDF0A6-9CBB-4FF8-BFCA-E33F5684883C}"/>
              </a:ext>
            </a:extLst>
          </p:cNvPr>
          <p:cNvSpPr/>
          <p:nvPr/>
        </p:nvSpPr>
        <p:spPr bwMode="auto">
          <a:xfrm>
            <a:off x="1465565" y="3860818"/>
            <a:ext cx="1787584" cy="908435"/>
          </a:xfrm>
          <a:prstGeom prst="rightArrow">
            <a:avLst>
              <a:gd name="adj1" fmla="val 47133"/>
              <a:gd name="adj2" fmla="val 50000"/>
            </a:avLst>
          </a:prstGeom>
          <a:gradFill rotWithShape="1">
            <a:gsLst>
              <a:gs pos="0">
                <a:srgbClr val="E03C31">
                  <a:lumMod val="110000"/>
                  <a:satMod val="105000"/>
                  <a:tint val="67000"/>
                </a:srgbClr>
              </a:gs>
              <a:gs pos="50000">
                <a:srgbClr val="E03C31">
                  <a:lumMod val="105000"/>
                  <a:satMod val="103000"/>
                  <a:tint val="73000"/>
                </a:srgbClr>
              </a:gs>
              <a:gs pos="100000">
                <a:srgbClr val="E03C31">
                  <a:lumMod val="105000"/>
                  <a:satMod val="109000"/>
                  <a:tint val="81000"/>
                </a:srgbClr>
              </a:gs>
            </a:gsLst>
            <a:lin ang="5400000" scaled="0"/>
          </a:gradFill>
          <a:ln w="6350" cap="flat" cmpd="sng" algn="ctr">
            <a:solidFill>
              <a:srgbClr val="E03C31"/>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Actuals</a:t>
            </a:r>
          </a:p>
        </p:txBody>
      </p:sp>
      <p:sp>
        <p:nvSpPr>
          <p:cNvPr id="16" name="Down Arrow 24">
            <a:extLst>
              <a:ext uri="{FF2B5EF4-FFF2-40B4-BE49-F238E27FC236}">
                <a16:creationId xmlns:a16="http://schemas.microsoft.com/office/drawing/2014/main" id="{C96169A2-5574-4293-BB46-CE4FC3E8EA17}"/>
              </a:ext>
            </a:extLst>
          </p:cNvPr>
          <p:cNvSpPr/>
          <p:nvPr/>
        </p:nvSpPr>
        <p:spPr bwMode="auto">
          <a:xfrm>
            <a:off x="5055426" y="5046049"/>
            <a:ext cx="876715" cy="456426"/>
          </a:xfrm>
          <a:prstGeom prst="downArrow">
            <a:avLst/>
          </a:prstGeom>
          <a:gradFill rotWithShape="1">
            <a:gsLst>
              <a:gs pos="0">
                <a:srgbClr val="E03C31">
                  <a:lumMod val="110000"/>
                  <a:satMod val="105000"/>
                  <a:tint val="67000"/>
                </a:srgbClr>
              </a:gs>
              <a:gs pos="50000">
                <a:srgbClr val="E03C31">
                  <a:lumMod val="105000"/>
                  <a:satMod val="103000"/>
                  <a:tint val="73000"/>
                </a:srgbClr>
              </a:gs>
              <a:gs pos="100000">
                <a:srgbClr val="E03C31">
                  <a:lumMod val="105000"/>
                  <a:satMod val="109000"/>
                  <a:tint val="81000"/>
                </a:srgbClr>
              </a:gs>
            </a:gsLst>
            <a:lin ang="5400000" scaled="0"/>
          </a:gradFill>
          <a:ln w="6350" cap="flat" cmpd="sng" algn="ctr">
            <a:solidFill>
              <a:srgbClr val="E03C31"/>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17" name="Rounded Rectangular Callout 5">
            <a:extLst>
              <a:ext uri="{FF2B5EF4-FFF2-40B4-BE49-F238E27FC236}">
                <a16:creationId xmlns:a16="http://schemas.microsoft.com/office/drawing/2014/main" id="{F1B72ACD-0991-4DA5-8320-BB2317E79A67}"/>
              </a:ext>
            </a:extLst>
          </p:cNvPr>
          <p:cNvSpPr/>
          <p:nvPr/>
        </p:nvSpPr>
        <p:spPr bwMode="gray">
          <a:xfrm>
            <a:off x="7077073" y="4115255"/>
            <a:ext cx="3096032" cy="768806"/>
          </a:xfrm>
          <a:prstGeom prst="wedgeRoundRectCallout">
            <a:avLst>
              <a:gd name="adj1" fmla="val -56900"/>
              <a:gd name="adj2" fmla="val -83908"/>
              <a:gd name="adj3" fmla="val 16667"/>
            </a:avLst>
          </a:prstGeom>
          <a:gradFill rotWithShape="1">
            <a:gsLst>
              <a:gs pos="0">
                <a:srgbClr val="B0D838">
                  <a:lumMod val="110000"/>
                  <a:satMod val="105000"/>
                  <a:tint val="67000"/>
                </a:srgbClr>
              </a:gs>
              <a:gs pos="50000">
                <a:srgbClr val="B0D838">
                  <a:lumMod val="105000"/>
                  <a:satMod val="103000"/>
                  <a:tint val="73000"/>
                </a:srgbClr>
              </a:gs>
              <a:gs pos="100000">
                <a:srgbClr val="B0D838">
                  <a:lumMod val="105000"/>
                  <a:satMod val="109000"/>
                  <a:tint val="81000"/>
                </a:srgbClr>
              </a:gs>
            </a:gsLst>
            <a:lin ang="5400000" scaled="0"/>
          </a:gradFill>
          <a:ln w="6350" cap="flat" cmpd="sng" algn="ctr">
            <a:solidFill>
              <a:srgbClr val="B0D838"/>
            </a:solidFill>
            <a:prstDash val="solid"/>
            <a:miter lim="800000"/>
            <a:headEnd/>
            <a:tailEnd/>
          </a:ln>
          <a:effectLst/>
        </p:spPr>
        <p:txBody>
          <a:bodyPr lIns="90000" tIns="72000" rIns="90000" bIns="72000" rtlCol="0" anchor="ctr"/>
          <a:lstStyle/>
          <a:p>
            <a:pPr marL="0" marR="0" lvl="0" indent="0" algn="l" defTabSz="914400" rtl="0" eaLnBrk="1" fontAlgn="auto" latinLnBrk="0" hangingPunct="1">
              <a:lnSpc>
                <a:spcPct val="100000"/>
              </a:lnSpc>
              <a:spcBef>
                <a:spcPct val="50000"/>
              </a:spcBef>
              <a:spcAft>
                <a:spcPts val="0"/>
              </a:spcAft>
              <a:buClr>
                <a:srgbClr val="F0AB00"/>
              </a:buClr>
              <a:buSzPct val="80000"/>
              <a:buFontTx/>
              <a:buNone/>
              <a:tabLst/>
              <a:defRPr/>
            </a:pPr>
            <a:r>
              <a:rPr kumimoji="0" lang="en-US" sz="1800" b="0" i="0" u="none" strike="noStrike" kern="0" cap="none" spc="0" normalizeH="0" baseline="0" noProof="0">
                <a:ln>
                  <a:noFill/>
                </a:ln>
                <a:solidFill>
                  <a:srgbClr val="122632"/>
                </a:solidFill>
                <a:effectLst/>
                <a:uLnTx/>
                <a:uFillTx/>
                <a:latin typeface="Arial" panose="020B0604020202020204"/>
                <a:ea typeface="+mn-ea"/>
                <a:cs typeface="+mn-cs"/>
              </a:rPr>
              <a:t>Settlement rule for profitability segment exists for WBS element</a:t>
            </a:r>
          </a:p>
        </p:txBody>
      </p:sp>
      <p:sp>
        <p:nvSpPr>
          <p:cNvPr id="19" name="Rectangle: Diagonal Corners Rounded 18">
            <a:extLst>
              <a:ext uri="{FF2B5EF4-FFF2-40B4-BE49-F238E27FC236}">
                <a16:creationId xmlns:a16="http://schemas.microsoft.com/office/drawing/2014/main" id="{47DAB174-B720-415A-86EF-E52498016758}"/>
              </a:ext>
            </a:extLst>
          </p:cNvPr>
          <p:cNvSpPr/>
          <p:nvPr/>
        </p:nvSpPr>
        <p:spPr>
          <a:xfrm>
            <a:off x="487680" y="1417374"/>
            <a:ext cx="11216640" cy="1865448"/>
          </a:xfrm>
          <a:prstGeom prst="round2DiagRect">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Attributed profitability is a new feature in S/4 HANA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GB" sz="9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It is only applicable for </a:t>
            </a:r>
            <a:r>
              <a:rPr kumimoji="0" lang="en-GB" sz="1600" b="1" i="0" u="none" strike="noStrike" kern="0" cap="none" spc="0" normalizeH="0" baseline="0" noProof="0">
                <a:ln>
                  <a:noFill/>
                </a:ln>
                <a:solidFill>
                  <a:srgbClr val="000000"/>
                </a:solidFill>
                <a:effectLst/>
                <a:uLnTx/>
                <a:uFillTx/>
                <a:latin typeface="Arial" panose="020B0604020202020204"/>
                <a:ea typeface="+mn-ea"/>
                <a:cs typeface="+mn-cs"/>
              </a:rPr>
              <a:t>branded WBS elements </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where 100% of the costs will be allocated to one brand family / product type combination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GB" sz="9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Attributed profitability means that </a:t>
            </a:r>
            <a:r>
              <a:rPr kumimoji="0" lang="en-GB" sz="1600" b="1" i="0" u="none" strike="noStrike" kern="0" cap="none" spc="0" normalizeH="0" baseline="0" noProof="0">
                <a:ln>
                  <a:noFill/>
                </a:ln>
                <a:solidFill>
                  <a:srgbClr val="000000"/>
                </a:solidFill>
                <a:effectLst/>
                <a:uLnTx/>
                <a:uFillTx/>
                <a:latin typeface="Arial" panose="020B0604020202020204"/>
                <a:ea typeface="+mn-ea"/>
                <a:cs typeface="+mn-cs"/>
              </a:rPr>
              <a:t>as soon as costs are posted against the WBS element, we can see the brand family and product type</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 even though BSC have not yet executed WBS settlement at month end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GB" sz="9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As a technical step, BSC will still perform WBS settlement. This ensures that WBS elements can later be closed</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0528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1000"/>
                                        <p:tgtEl>
                                          <p:spTgt spid="12"/>
                                        </p:tgtEl>
                                      </p:cBhvr>
                                    </p:animEffect>
                                    <p:anim calcmode="lin" valueType="num">
                                      <p:cBhvr>
                                        <p:cTn id="45" dur="1000" fill="hold"/>
                                        <p:tgtEl>
                                          <p:spTgt spid="12"/>
                                        </p:tgtEl>
                                        <p:attrNameLst>
                                          <p:attrName>ppt_x</p:attrName>
                                        </p:attrNameLst>
                                      </p:cBhvr>
                                      <p:tavLst>
                                        <p:tav tm="0">
                                          <p:val>
                                            <p:strVal val="#ppt_x"/>
                                          </p:val>
                                        </p:tav>
                                        <p:tav tm="100000">
                                          <p:val>
                                            <p:strVal val="#ppt_x"/>
                                          </p:val>
                                        </p:tav>
                                      </p:tavLst>
                                    </p:anim>
                                    <p:anim calcmode="lin" valueType="num">
                                      <p:cBhvr>
                                        <p:cTn id="4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09E6F-EC06-4A36-AE7F-BBD89741D628}"/>
              </a:ext>
            </a:extLst>
          </p:cNvPr>
          <p:cNvSpPr>
            <a:spLocks noGrp="1"/>
          </p:cNvSpPr>
          <p:nvPr>
            <p:ph type="title"/>
          </p:nvPr>
        </p:nvSpPr>
        <p:spPr/>
        <p:txBody>
          <a:bodyPr/>
          <a:lstStyle/>
          <a:p>
            <a:r>
              <a:rPr lang="en-GB"/>
              <a:t>FG Write off with WBS Elements</a:t>
            </a:r>
            <a:endParaRPr lang="en-US"/>
          </a:p>
        </p:txBody>
      </p:sp>
      <p:sp>
        <p:nvSpPr>
          <p:cNvPr id="4" name="Footer Placeholder 3">
            <a:extLst>
              <a:ext uri="{FF2B5EF4-FFF2-40B4-BE49-F238E27FC236}">
                <a16:creationId xmlns:a16="http://schemas.microsoft.com/office/drawing/2014/main" id="{54A3A7CE-B7EF-4B63-B9E5-C9867C2A465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96C1D254-7F30-4304-9258-6B7B6831AD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B614DBBC-1D9F-4C92-8A83-5011BC8F488B}"/>
              </a:ext>
            </a:extLst>
          </p:cNvPr>
          <p:cNvSpPr txBox="1"/>
          <p:nvPr/>
        </p:nvSpPr>
        <p:spPr>
          <a:xfrm>
            <a:off x="402914" y="1469148"/>
            <a:ext cx="11202392" cy="1886742"/>
          </a:xfrm>
          <a:prstGeom prst="rect">
            <a:avLst/>
          </a:prstGeom>
          <a:noFill/>
        </p:spPr>
        <p:txBody>
          <a:bodyPr wrap="square" lIns="0" tIns="0" rIns="0" bIns="0" rtlCol="0">
            <a:noAutofit/>
          </a:bodyPr>
          <a:lstStyle/>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WBS element can be used to track the costs related to inventory write-offs</a:t>
            </a: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Specific movement type to be used where cost center and WBS element should be populated</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G/L accounts are predefined in configuration based on the product type that is being written off</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Brand family and product type should come directly from material, so no branded or multi-brand WBS elements are expected</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Validation on the movement type 221 allowing only ‘Allocation statistical’ WBS element</a:t>
            </a:r>
          </a:p>
          <a:p>
            <a:pPr marL="457200" marR="0" lvl="1"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graphicFrame>
        <p:nvGraphicFramePr>
          <p:cNvPr id="7" name="Table 6">
            <a:extLst>
              <a:ext uri="{FF2B5EF4-FFF2-40B4-BE49-F238E27FC236}">
                <a16:creationId xmlns:a16="http://schemas.microsoft.com/office/drawing/2014/main" id="{F7BE2E67-8275-457B-B007-8D8C22FE15C7}"/>
              </a:ext>
            </a:extLst>
          </p:cNvPr>
          <p:cNvGraphicFramePr>
            <a:graphicFrameLocks noGrp="1"/>
          </p:cNvGraphicFramePr>
          <p:nvPr/>
        </p:nvGraphicFramePr>
        <p:xfrm>
          <a:off x="6821666" y="4119985"/>
          <a:ext cx="4476718" cy="889000"/>
        </p:xfrm>
        <a:graphic>
          <a:graphicData uri="http://schemas.openxmlformats.org/drawingml/2006/table">
            <a:tbl>
              <a:tblPr firstRow="1" bandRow="1"/>
              <a:tblGrid>
                <a:gridCol w="1095033">
                  <a:extLst>
                    <a:ext uri="{9D8B030D-6E8A-4147-A177-3AD203B41FA5}">
                      <a16:colId xmlns:a16="http://schemas.microsoft.com/office/drawing/2014/main" val="3588361974"/>
                    </a:ext>
                  </a:extLst>
                </a:gridCol>
                <a:gridCol w="1169525">
                  <a:extLst>
                    <a:ext uri="{9D8B030D-6E8A-4147-A177-3AD203B41FA5}">
                      <a16:colId xmlns:a16="http://schemas.microsoft.com/office/drawing/2014/main" val="2536476751"/>
                    </a:ext>
                  </a:extLst>
                </a:gridCol>
                <a:gridCol w="1029148">
                  <a:extLst>
                    <a:ext uri="{9D8B030D-6E8A-4147-A177-3AD203B41FA5}">
                      <a16:colId xmlns:a16="http://schemas.microsoft.com/office/drawing/2014/main" val="3209019056"/>
                    </a:ext>
                  </a:extLst>
                </a:gridCol>
                <a:gridCol w="466530">
                  <a:extLst>
                    <a:ext uri="{9D8B030D-6E8A-4147-A177-3AD203B41FA5}">
                      <a16:colId xmlns:a16="http://schemas.microsoft.com/office/drawing/2014/main" val="2827840240"/>
                    </a:ext>
                  </a:extLst>
                </a:gridCol>
                <a:gridCol w="716482">
                  <a:extLst>
                    <a:ext uri="{9D8B030D-6E8A-4147-A177-3AD203B41FA5}">
                      <a16:colId xmlns:a16="http://schemas.microsoft.com/office/drawing/2014/main" val="259265106"/>
                    </a:ext>
                  </a:extLst>
                </a:gridCol>
              </a:tblGrid>
              <a:tr h="370840">
                <a:tc gridSpan="5">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POSTING</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BDB7"/>
                    </a:solidFill>
                  </a:tcPr>
                </a:tc>
                <a:tc hMerge="1">
                  <a:txBody>
                    <a:bodyPr/>
                    <a:lstStyle/>
                    <a:p>
                      <a:endParaRPr lang="ru-RU" sz="1400"/>
                    </a:p>
                  </a:txBody>
                  <a:tcPr/>
                </a:tc>
                <a:tc hMerge="1">
                  <a:txBody>
                    <a:bodyPr/>
                    <a:lstStyle/>
                    <a:p>
                      <a:endParaRPr lang="ru-RU"/>
                    </a:p>
                  </a:txBody>
                  <a:tcPr/>
                </a:tc>
                <a:tc hMerge="1">
                  <a:txBody>
                    <a:bodyPr/>
                    <a:lstStyle/>
                    <a:p>
                      <a:endParaRPr lang="ru-RU" sz="1400"/>
                    </a:p>
                  </a:txBody>
                  <a:tcPr/>
                </a:tc>
                <a:tc hMerge="1">
                  <a:txBody>
                    <a:bodyPr/>
                    <a:lstStyle/>
                    <a:p>
                      <a:endParaRPr lang="ru-RU" sz="1400"/>
                    </a:p>
                  </a:txBody>
                  <a:tcPr/>
                </a:tc>
                <a:extLst>
                  <a:ext uri="{0D108BD9-81ED-4DB2-BD59-A6C34878D82A}">
                    <a16:rowId xmlns:a16="http://schemas.microsoft.com/office/drawing/2014/main" val="2161826438"/>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G/L account 1</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WBS element 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Cost center X</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WI</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RMC</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DB7">
                        <a:tint val="40000"/>
                      </a:srgbClr>
                    </a:solidFill>
                  </a:tcPr>
                </a:tc>
                <a:extLst>
                  <a:ext uri="{0D108BD9-81ED-4DB2-BD59-A6C34878D82A}">
                    <a16:rowId xmlns:a16="http://schemas.microsoft.com/office/drawing/2014/main" val="1384817921"/>
                  </a:ext>
                </a:extLst>
              </a:tr>
            </a:tbl>
          </a:graphicData>
        </a:graphic>
      </p:graphicFrame>
      <p:sp>
        <p:nvSpPr>
          <p:cNvPr id="8" name="Arrow: Pentagon 7">
            <a:extLst>
              <a:ext uri="{FF2B5EF4-FFF2-40B4-BE49-F238E27FC236}">
                <a16:creationId xmlns:a16="http://schemas.microsoft.com/office/drawing/2014/main" id="{8B0E1DD3-654B-48BD-8EAC-3D489AE0C5CD}"/>
              </a:ext>
            </a:extLst>
          </p:cNvPr>
          <p:cNvSpPr/>
          <p:nvPr/>
        </p:nvSpPr>
        <p:spPr>
          <a:xfrm>
            <a:off x="1559952" y="5383504"/>
            <a:ext cx="2891736" cy="830269"/>
          </a:xfrm>
          <a:prstGeom prst="homePlate">
            <a:avLst/>
          </a:prstGeom>
          <a:gradFill rotWithShape="1">
            <a:gsLst>
              <a:gs pos="0">
                <a:srgbClr val="B0D838">
                  <a:lumMod val="110000"/>
                  <a:satMod val="105000"/>
                  <a:tint val="67000"/>
                </a:srgbClr>
              </a:gs>
              <a:gs pos="50000">
                <a:srgbClr val="B0D838">
                  <a:lumMod val="105000"/>
                  <a:satMod val="103000"/>
                  <a:tint val="73000"/>
                </a:srgbClr>
              </a:gs>
              <a:gs pos="100000">
                <a:srgbClr val="B0D838">
                  <a:lumMod val="105000"/>
                  <a:satMod val="109000"/>
                  <a:tint val="81000"/>
                </a:srgbClr>
              </a:gs>
            </a:gsLst>
            <a:lin ang="5400000" scaled="0"/>
          </a:gradFill>
          <a:ln w="6350" cap="flat" cmpd="sng" algn="ctr">
            <a:solidFill>
              <a:srgbClr val="B0D83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Arial" panose="020B0604020202020204"/>
                <a:ea typeface="+mn-ea"/>
                <a:cs typeface="+mn-cs"/>
              </a:rPr>
              <a:t>MANUAL INPUT              (WBS &amp; COST CENTER)</a:t>
            </a:r>
          </a:p>
        </p:txBody>
      </p:sp>
      <p:sp>
        <p:nvSpPr>
          <p:cNvPr id="9" name="Arrow: Pentagon 8">
            <a:extLst>
              <a:ext uri="{FF2B5EF4-FFF2-40B4-BE49-F238E27FC236}">
                <a16:creationId xmlns:a16="http://schemas.microsoft.com/office/drawing/2014/main" id="{6AEA6551-317E-4453-8AB9-F53064AB1B2D}"/>
              </a:ext>
            </a:extLst>
          </p:cNvPr>
          <p:cNvSpPr/>
          <p:nvPr/>
        </p:nvSpPr>
        <p:spPr>
          <a:xfrm>
            <a:off x="1559951" y="4369697"/>
            <a:ext cx="2891737" cy="830269"/>
          </a:xfrm>
          <a:prstGeom prst="homePlat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Arial" panose="020B0604020202020204"/>
                <a:ea typeface="+mn-ea"/>
                <a:cs typeface="+mn-cs"/>
              </a:rPr>
              <a:t>MATERIAL MASTER DATA</a:t>
            </a:r>
          </a:p>
        </p:txBody>
      </p:sp>
      <p:sp>
        <p:nvSpPr>
          <p:cNvPr id="10" name="Arrow: Pentagon 9">
            <a:extLst>
              <a:ext uri="{FF2B5EF4-FFF2-40B4-BE49-F238E27FC236}">
                <a16:creationId xmlns:a16="http://schemas.microsoft.com/office/drawing/2014/main" id="{6CF7212E-FCA0-4735-B6C4-CD7E56426FC8}"/>
              </a:ext>
            </a:extLst>
          </p:cNvPr>
          <p:cNvSpPr/>
          <p:nvPr/>
        </p:nvSpPr>
        <p:spPr>
          <a:xfrm>
            <a:off x="1559952" y="3355890"/>
            <a:ext cx="2891738" cy="830269"/>
          </a:xfrm>
          <a:prstGeom prst="homePlate">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Arial" panose="020B0604020202020204"/>
                <a:ea typeface="+mn-ea"/>
                <a:cs typeface="+mn-cs"/>
              </a:rPr>
              <a:t>CONFIGURATION                (G/L ACCOUNT)</a:t>
            </a:r>
          </a:p>
        </p:txBody>
      </p:sp>
      <p:sp>
        <p:nvSpPr>
          <p:cNvPr id="11" name="Arrow: Pentagon 10">
            <a:extLst>
              <a:ext uri="{FF2B5EF4-FFF2-40B4-BE49-F238E27FC236}">
                <a16:creationId xmlns:a16="http://schemas.microsoft.com/office/drawing/2014/main" id="{B1BDA794-1E66-4BB6-9C22-4ABB66B7CD96}"/>
              </a:ext>
            </a:extLst>
          </p:cNvPr>
          <p:cNvSpPr/>
          <p:nvPr/>
        </p:nvSpPr>
        <p:spPr>
          <a:xfrm>
            <a:off x="4899561" y="3870433"/>
            <a:ext cx="1641992" cy="1828796"/>
          </a:xfrm>
          <a:prstGeom prst="homePlate">
            <a:avLst/>
          </a:prstGeom>
          <a:solidFill>
            <a:srgbClr val="407EC9"/>
          </a:solidFill>
          <a:ln w="12700" cap="flat" cmpd="sng" algn="ctr">
            <a:solidFill>
              <a:srgbClr val="407EC9">
                <a:shade val="50000"/>
              </a:srgbClr>
            </a:solidFill>
            <a:prstDash val="solid"/>
            <a:miter lim="800000"/>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mn-cs"/>
              </a:rPr>
              <a:t>MOVEMENT TYPE</a:t>
            </a:r>
          </a:p>
        </p:txBody>
      </p:sp>
    </p:spTree>
    <p:extLst>
      <p:ext uri="{BB962C8B-B14F-4D97-AF65-F5344CB8AC3E}">
        <p14:creationId xmlns:p14="http://schemas.microsoft.com/office/powerpoint/2010/main" val="153398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2032938"/>
            <a:ext cx="4564895" cy="2445735"/>
            <a:chOff x="6326261" y="1770500"/>
            <a:chExt cx="4564895" cy="2445735"/>
          </a:xfrm>
        </p:grpSpPr>
        <p:cxnSp>
          <p:nvCxnSpPr>
            <p:cNvPr id="5" name="Elbow Connector 4"/>
            <p:cNvCxnSpPr>
              <a:cxnSpLocks/>
            </p:cNvCxnSpPr>
            <p:nvPr/>
          </p:nvCxnSpPr>
          <p:spPr>
            <a:xfrm flipV="1">
              <a:off x="6326261" y="1987271"/>
              <a:ext cx="944475" cy="1736449"/>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771633" y="1770500"/>
              <a:ext cx="4119523" cy="2445735"/>
              <a:chOff x="6771633" y="1770500"/>
              <a:chExt cx="4119523" cy="2445735"/>
            </a:xfrm>
          </p:grpSpPr>
          <p:cxnSp>
            <p:nvCxnSpPr>
              <p:cNvPr id="43" name="Straight Connector 42"/>
              <p:cNvCxnSpPr>
                <a:cxnSpLocks/>
              </p:cNvCxnSpPr>
              <p:nvPr/>
            </p:nvCxnSpPr>
            <p:spPr>
              <a:xfrm>
                <a:off x="6782605" y="2692997"/>
                <a:ext cx="48813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6771633" y="3301726"/>
                <a:ext cx="49910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39838" y="2417682"/>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solidFill>
                    <a:effectLst/>
                    <a:uLnTx/>
                    <a:uFillTx/>
                    <a:latin typeface="Arial" charset="0"/>
                    <a:ea typeface="Arial" charset="0"/>
                    <a:cs typeface="Arial" charset="0"/>
                  </a:rPr>
                  <a:t>Settlement</a:t>
                </a:r>
              </a:p>
            </p:txBody>
          </p:sp>
          <p:sp>
            <p:nvSpPr>
              <p:cNvPr id="40" name="Rounded Rectangle 39"/>
              <p:cNvSpPr/>
              <p:nvPr/>
            </p:nvSpPr>
            <p:spPr>
              <a:xfrm>
                <a:off x="7667063" y="3141744"/>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rial"/>
                    <a:ea typeface="+mn-ea"/>
                    <a:cs typeface="Arial"/>
                  </a:rPr>
                  <a:t>Multi Brand Settlement</a:t>
                </a:r>
                <a:endParaRPr kumimoji="0" lang="en-US" sz="2000" b="1" i="0" u="none" strike="noStrike" kern="1200" cap="none" spc="0" normalizeH="0" baseline="0" noProof="0">
                  <a:ln>
                    <a:noFill/>
                  </a:ln>
                  <a:solidFill>
                    <a:srgbClr val="FFFFFF"/>
                  </a:solidFill>
                  <a:effectLst/>
                  <a:uLnTx/>
                  <a:uFillTx/>
                  <a:latin typeface="Arial"/>
                  <a:ea typeface="+mn-ea"/>
                  <a:cs typeface="Arial"/>
                </a:endParaRPr>
              </a:p>
            </p:txBody>
          </p:sp>
          <p:sp>
            <p:nvSpPr>
              <p:cNvPr id="42" name="Rounded Rectangle 41"/>
              <p:cNvSpPr/>
              <p:nvPr/>
            </p:nvSpPr>
            <p:spPr>
              <a:xfrm>
                <a:off x="7667063" y="1770500"/>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Postings to WBS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3" y="3757695"/>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84057"/>
            <a:ext cx="1011699" cy="38235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7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WBS Settlement to CO-PA</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7" name="Group 16">
            <a:extLst>
              <a:ext uri="{FF2B5EF4-FFF2-40B4-BE49-F238E27FC236}">
                <a16:creationId xmlns:a16="http://schemas.microsoft.com/office/drawing/2014/main" id="{ABB39C45-8D86-4EDC-893F-73FCD59A287A}"/>
              </a:ext>
            </a:extLst>
          </p:cNvPr>
          <p:cNvGrpSpPr/>
          <p:nvPr/>
        </p:nvGrpSpPr>
        <p:grpSpPr>
          <a:xfrm>
            <a:off x="777632" y="1370632"/>
            <a:ext cx="10981609" cy="4857447"/>
            <a:chOff x="777632" y="1370632"/>
            <a:chExt cx="10981609" cy="4857447"/>
          </a:xfrm>
        </p:grpSpPr>
        <p:pic>
          <p:nvPicPr>
            <p:cNvPr id="18" name="Picture 17">
              <a:extLst>
                <a:ext uri="{FF2B5EF4-FFF2-40B4-BE49-F238E27FC236}">
                  <a16:creationId xmlns:a16="http://schemas.microsoft.com/office/drawing/2014/main" id="{7151F44E-74D0-4CBE-A47B-CBD378FAFE9D}"/>
                </a:ext>
              </a:extLst>
            </p:cNvPr>
            <p:cNvPicPr>
              <a:picLocks noChangeAspect="1"/>
            </p:cNvPicPr>
            <p:nvPr/>
          </p:nvPicPr>
          <p:blipFill rotWithShape="1">
            <a:blip r:embed="rId2"/>
            <a:srcRect l="7177" r="6495"/>
            <a:stretch/>
          </p:blipFill>
          <p:spPr>
            <a:xfrm>
              <a:off x="777632" y="1500623"/>
              <a:ext cx="634388" cy="609492"/>
            </a:xfrm>
            <a:prstGeom prst="rect">
              <a:avLst/>
            </a:prstGeom>
          </p:spPr>
        </p:pic>
        <p:pic>
          <p:nvPicPr>
            <p:cNvPr id="19" name="Picture 18">
              <a:extLst>
                <a:ext uri="{FF2B5EF4-FFF2-40B4-BE49-F238E27FC236}">
                  <a16:creationId xmlns:a16="http://schemas.microsoft.com/office/drawing/2014/main" id="{54769C36-5B19-4D58-819F-9276BD3CA4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42500" y="1521464"/>
              <a:ext cx="548956" cy="548956"/>
            </a:xfrm>
            <a:prstGeom prst="rect">
              <a:avLst/>
            </a:prstGeom>
          </p:spPr>
        </p:pic>
        <p:grpSp>
          <p:nvGrpSpPr>
            <p:cNvPr id="20" name="Group 19">
              <a:extLst>
                <a:ext uri="{FF2B5EF4-FFF2-40B4-BE49-F238E27FC236}">
                  <a16:creationId xmlns:a16="http://schemas.microsoft.com/office/drawing/2014/main" id="{98D7EF55-A634-447F-B98C-9DA04F08BCD9}"/>
                </a:ext>
              </a:extLst>
            </p:cNvPr>
            <p:cNvGrpSpPr/>
            <p:nvPr/>
          </p:nvGrpSpPr>
          <p:grpSpPr>
            <a:xfrm>
              <a:off x="777632" y="1370632"/>
              <a:ext cx="10981609" cy="4857447"/>
              <a:chOff x="777632" y="1370632"/>
              <a:chExt cx="10981609" cy="4857447"/>
            </a:xfrm>
          </p:grpSpPr>
          <p:grpSp>
            <p:nvGrpSpPr>
              <p:cNvPr id="21" name="Group 20">
                <a:extLst>
                  <a:ext uri="{FF2B5EF4-FFF2-40B4-BE49-F238E27FC236}">
                    <a16:creationId xmlns:a16="http://schemas.microsoft.com/office/drawing/2014/main" id="{1E02AFB0-6E8A-4580-AD67-3A1D5476D6DA}"/>
                  </a:ext>
                </a:extLst>
              </p:cNvPr>
              <p:cNvGrpSpPr/>
              <p:nvPr/>
            </p:nvGrpSpPr>
            <p:grpSpPr>
              <a:xfrm>
                <a:off x="777632" y="1370632"/>
                <a:ext cx="10981609" cy="4857447"/>
                <a:chOff x="777632" y="1370632"/>
                <a:chExt cx="10981609" cy="4857447"/>
              </a:xfrm>
            </p:grpSpPr>
            <p:cxnSp>
              <p:nvCxnSpPr>
                <p:cNvPr id="25" name="Straight Connector 24">
                  <a:extLst>
                    <a:ext uri="{FF2B5EF4-FFF2-40B4-BE49-F238E27FC236}">
                      <a16:creationId xmlns:a16="http://schemas.microsoft.com/office/drawing/2014/main" id="{AD45BE18-C4D4-4D03-8C30-087F2465F669}"/>
                    </a:ext>
                  </a:extLst>
                </p:cNvPr>
                <p:cNvCxnSpPr/>
                <p:nvPr/>
              </p:nvCxnSpPr>
              <p:spPr bwMode="auto">
                <a:xfrm flipV="1">
                  <a:off x="777632" y="2096078"/>
                  <a:ext cx="10768641" cy="34617"/>
                </a:xfrm>
                <a:prstGeom prst="line">
                  <a:avLst/>
                </a:prstGeom>
                <a:noFill/>
                <a:ln w="28575" cap="flat" cmpd="sng" algn="ctr">
                  <a:solidFill>
                    <a:srgbClr val="4D5C65">
                      <a:shade val="95000"/>
                      <a:satMod val="105000"/>
                    </a:srgbClr>
                  </a:solidFill>
                  <a:prstDash val="solid"/>
                  <a:headEnd type="none" w="med" len="med"/>
                  <a:tailEnd type="none" w="med" len="med"/>
                </a:ln>
                <a:effectLst/>
              </p:spPr>
            </p:cxnSp>
            <p:grpSp>
              <p:nvGrpSpPr>
                <p:cNvPr id="26" name="Group 25">
                  <a:extLst>
                    <a:ext uri="{FF2B5EF4-FFF2-40B4-BE49-F238E27FC236}">
                      <a16:creationId xmlns:a16="http://schemas.microsoft.com/office/drawing/2014/main" id="{0BD182C0-5969-4C0C-BB9C-2A8B1C3E3C71}"/>
                    </a:ext>
                  </a:extLst>
                </p:cNvPr>
                <p:cNvGrpSpPr/>
                <p:nvPr/>
              </p:nvGrpSpPr>
              <p:grpSpPr>
                <a:xfrm>
                  <a:off x="5585885" y="1370632"/>
                  <a:ext cx="206894" cy="4857447"/>
                  <a:chOff x="5775170" y="2473336"/>
                  <a:chExt cx="108260" cy="3367293"/>
                </a:xfrm>
              </p:grpSpPr>
              <p:cxnSp>
                <p:nvCxnSpPr>
                  <p:cNvPr id="29" name="Straight Connector 28">
                    <a:extLst>
                      <a:ext uri="{FF2B5EF4-FFF2-40B4-BE49-F238E27FC236}">
                        <a16:creationId xmlns:a16="http://schemas.microsoft.com/office/drawing/2014/main" id="{8139D01E-09E0-4DCE-B5B7-D3790EBD9B79}"/>
                      </a:ext>
                    </a:extLst>
                  </p:cNvPr>
                  <p:cNvCxnSpPr/>
                  <p:nvPr/>
                </p:nvCxnSpPr>
                <p:spPr bwMode="auto">
                  <a:xfrm>
                    <a:off x="5829300" y="2473336"/>
                    <a:ext cx="0" cy="3367293"/>
                  </a:xfrm>
                  <a:prstGeom prst="line">
                    <a:avLst/>
                  </a:prstGeom>
                  <a:noFill/>
                  <a:ln w="28575" cap="flat" cmpd="sng" algn="ctr">
                    <a:solidFill>
                      <a:srgbClr val="4D5C65">
                        <a:shade val="95000"/>
                        <a:satMod val="105000"/>
                      </a:srgbClr>
                    </a:solidFill>
                    <a:prstDash val="solid"/>
                    <a:headEnd type="none" w="med" len="med"/>
                    <a:tailEnd type="none" w="med" len="med"/>
                  </a:ln>
                  <a:effectLst/>
                </p:spPr>
              </p:cxnSp>
              <p:sp>
                <p:nvSpPr>
                  <p:cNvPr id="30" name="Rounded Rectangle 71">
                    <a:extLst>
                      <a:ext uri="{FF2B5EF4-FFF2-40B4-BE49-F238E27FC236}">
                        <a16:creationId xmlns:a16="http://schemas.microsoft.com/office/drawing/2014/main" id="{FF479E05-10E7-49DF-9172-3E284D52DCD3}"/>
                      </a:ext>
                    </a:extLst>
                  </p:cNvPr>
                  <p:cNvSpPr/>
                  <p:nvPr/>
                </p:nvSpPr>
                <p:spPr bwMode="auto">
                  <a:xfrm rot="5400000">
                    <a:off x="5665782" y="3142688"/>
                    <a:ext cx="327036" cy="108260"/>
                  </a:xfrm>
                  <a:prstGeom prst="roundRect">
                    <a:avLst>
                      <a:gd name="adj" fmla="val 50000"/>
                    </a:avLst>
                  </a:prstGeom>
                  <a:solidFill>
                    <a:srgbClr val="408D7A">
                      <a:lumMod val="60000"/>
                      <a:lumOff val="4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FFFFFF">
                          <a:lumMod val="50000"/>
                        </a:srgbClr>
                      </a:solidFill>
                      <a:effectLst/>
                      <a:uLnTx/>
                      <a:uFillTx/>
                      <a:latin typeface="Arial" panose="020B0604020202020204"/>
                      <a:ea typeface="ＭＳ Ｐゴシック" charset="0"/>
                      <a:cs typeface="+mn-cs"/>
                    </a:endParaRPr>
                  </a:p>
                </p:txBody>
              </p:sp>
            </p:grpSp>
            <p:sp>
              <p:nvSpPr>
                <p:cNvPr id="27" name="TextBox 26">
                  <a:extLst>
                    <a:ext uri="{FF2B5EF4-FFF2-40B4-BE49-F238E27FC236}">
                      <a16:creationId xmlns:a16="http://schemas.microsoft.com/office/drawing/2014/main" id="{9967E354-8B5D-4140-AC77-C1069E40F985}"/>
                    </a:ext>
                  </a:extLst>
                </p:cNvPr>
                <p:cNvSpPr txBox="1"/>
                <p:nvPr/>
              </p:nvSpPr>
              <p:spPr>
                <a:xfrm>
                  <a:off x="1528964" y="1534778"/>
                  <a:ext cx="4031675" cy="44649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0" cap="none" spc="0" normalizeH="0" baseline="0" noProof="0">
                      <a:ln>
                        <a:noFill/>
                      </a:ln>
                      <a:solidFill>
                        <a:srgbClr val="408D7A">
                          <a:lumMod val="50000"/>
                        </a:srgbClr>
                      </a:solidFill>
                      <a:effectLst/>
                      <a:uLnTx/>
                      <a:uFillTx/>
                      <a:latin typeface="Arial" panose="020B0604020202020204"/>
                      <a:ea typeface="ＭＳ Ｐゴシック" pitchFamily="80" charset="-128"/>
                      <a:cs typeface="+mn-cs"/>
                    </a:rPr>
                    <a:t>Branded WBS elements</a:t>
                  </a:r>
                </a:p>
              </p:txBody>
            </p:sp>
            <p:sp>
              <p:nvSpPr>
                <p:cNvPr id="28" name="TextBox 27">
                  <a:extLst>
                    <a:ext uri="{FF2B5EF4-FFF2-40B4-BE49-F238E27FC236}">
                      <a16:creationId xmlns:a16="http://schemas.microsoft.com/office/drawing/2014/main" id="{5798CECD-8AAC-40E8-ACDD-23AB2B2902E3}"/>
                    </a:ext>
                  </a:extLst>
                </p:cNvPr>
                <p:cNvSpPr txBox="1"/>
                <p:nvPr/>
              </p:nvSpPr>
              <p:spPr>
                <a:xfrm>
                  <a:off x="6908400" y="1535191"/>
                  <a:ext cx="4850841" cy="44608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0" cap="none" spc="0" normalizeH="0" baseline="0" noProof="0">
                      <a:ln>
                        <a:noFill/>
                      </a:ln>
                      <a:solidFill>
                        <a:srgbClr val="408D7A">
                          <a:lumMod val="50000"/>
                        </a:srgbClr>
                      </a:solidFill>
                      <a:effectLst/>
                      <a:uLnTx/>
                      <a:uFillTx/>
                      <a:latin typeface="Arial" panose="020B0604020202020204"/>
                      <a:ea typeface="ＭＳ Ｐゴシック" pitchFamily="80" charset="-128"/>
                      <a:cs typeface="+mn-cs"/>
                    </a:rPr>
                    <a:t>Multi-brand WBS elements</a:t>
                  </a:r>
                </a:p>
              </p:txBody>
            </p:sp>
          </p:grpSp>
          <p:grpSp>
            <p:nvGrpSpPr>
              <p:cNvPr id="22" name="Group 21">
                <a:extLst>
                  <a:ext uri="{FF2B5EF4-FFF2-40B4-BE49-F238E27FC236}">
                    <a16:creationId xmlns:a16="http://schemas.microsoft.com/office/drawing/2014/main" id="{53BFB89A-FB51-472A-A920-8B9941C8A76B}"/>
                  </a:ext>
                </a:extLst>
              </p:cNvPr>
              <p:cNvGrpSpPr/>
              <p:nvPr/>
            </p:nvGrpSpPr>
            <p:grpSpPr>
              <a:xfrm>
                <a:off x="777632" y="2283720"/>
                <a:ext cx="10410110" cy="3898948"/>
                <a:chOff x="777632" y="2283720"/>
                <a:chExt cx="10410110" cy="3898948"/>
              </a:xfrm>
            </p:grpSpPr>
            <p:sp>
              <p:nvSpPr>
                <p:cNvPr id="23" name="TextBox 22">
                  <a:extLst>
                    <a:ext uri="{FF2B5EF4-FFF2-40B4-BE49-F238E27FC236}">
                      <a16:creationId xmlns:a16="http://schemas.microsoft.com/office/drawing/2014/main" id="{9BDAE7E8-EF16-4A0F-9C1B-DEFC87E93149}"/>
                    </a:ext>
                  </a:extLst>
                </p:cNvPr>
                <p:cNvSpPr txBox="1"/>
                <p:nvPr/>
              </p:nvSpPr>
              <p:spPr>
                <a:xfrm>
                  <a:off x="777632" y="2283720"/>
                  <a:ext cx="4728820" cy="2837501"/>
                </a:xfrm>
                <a:prstGeom prst="rect">
                  <a:avLst/>
                </a:prstGeom>
                <a:noFill/>
              </p:spPr>
              <p:txBody>
                <a:bodyPr wrap="square" lIns="0" tIns="0" rIns="0" bIns="0" rtlCol="0">
                  <a:normAutofit/>
                </a:bodyPr>
                <a:lstStyle/>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Each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branded WBS element </a:t>
                  </a: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must be linked to a brand and product type – these are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CO-PA characteristics</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As expenses are recorded against the WBS element the brand family / product type will also be visible for reporting via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instant derivation </a:t>
                  </a: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functionality</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At month-end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WBS settlement </a:t>
                  </a: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will be performed by BSC</a:t>
                  </a: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
              <p:nvSpPr>
                <p:cNvPr id="24" name="TextBox 23">
                  <a:extLst>
                    <a:ext uri="{FF2B5EF4-FFF2-40B4-BE49-F238E27FC236}">
                      <a16:creationId xmlns:a16="http://schemas.microsoft.com/office/drawing/2014/main" id="{E8FEAA9E-2CEC-4267-B310-4492F995D120}"/>
                    </a:ext>
                  </a:extLst>
                </p:cNvPr>
                <p:cNvSpPr txBox="1"/>
                <p:nvPr/>
              </p:nvSpPr>
              <p:spPr>
                <a:xfrm>
                  <a:off x="6033457" y="2283720"/>
                  <a:ext cx="5154285" cy="3898948"/>
                </a:xfrm>
                <a:prstGeom prst="rect">
                  <a:avLst/>
                </a:prstGeom>
                <a:noFill/>
              </p:spPr>
              <p:txBody>
                <a:bodyPr wrap="square" lIns="0" tIns="0" rIns="0" bIns="0" rtlCol="0">
                  <a:normAutofit lnSpcReduction="10000"/>
                </a:bodyPr>
                <a:lstStyle/>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A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multi-brand WBS element </a:t>
                  </a: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will be used to collect costs where brand and product type is unknown when the purchase order is created</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On a monthly basis the custom WBS allocation program will be executed, and </a:t>
                  </a: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the costs will be allocated from the multi-brand WBS to brand family / product type CO-PA characteristics</a:t>
                  </a:r>
                  <a:r>
                    <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 based on the weighting of year-to-date net revenue per brand family / product type for the market</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Multi-brand WBS allocation to SKU will be possible for transportation / warehousing costs based on year-to-date net volumes</a:t>
                  </a:r>
                  <a:endParaRPr kumimoji="0" lang="en-US" sz="18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grpSp>
        </p:grpSp>
      </p:grpSp>
    </p:spTree>
    <p:extLst>
      <p:ext uri="{BB962C8B-B14F-4D97-AF65-F5344CB8AC3E}">
        <p14:creationId xmlns:p14="http://schemas.microsoft.com/office/powerpoint/2010/main" val="3610868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94B4-9EA6-4529-AE9B-2AC876815443}"/>
              </a:ext>
            </a:extLst>
          </p:cNvPr>
          <p:cNvSpPr>
            <a:spLocks noGrp="1"/>
          </p:cNvSpPr>
          <p:nvPr>
            <p:ph type="title"/>
          </p:nvPr>
        </p:nvSpPr>
        <p:spPr/>
        <p:txBody>
          <a:bodyPr/>
          <a:lstStyle/>
          <a:p>
            <a:r>
              <a:rPr lang="en-GB"/>
              <a:t>WBS Settlement Expected Results</a:t>
            </a:r>
            <a:endParaRPr lang="en-US"/>
          </a:p>
        </p:txBody>
      </p:sp>
      <p:sp>
        <p:nvSpPr>
          <p:cNvPr id="4" name="Footer Placeholder 3">
            <a:extLst>
              <a:ext uri="{FF2B5EF4-FFF2-40B4-BE49-F238E27FC236}">
                <a16:creationId xmlns:a16="http://schemas.microsoft.com/office/drawing/2014/main" id="{5B3A7AEE-68C5-414A-80E7-E33AA0404B4C}"/>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2B78406-84EA-4099-A90C-7AC257966A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Content Placeholder 6">
            <a:extLst>
              <a:ext uri="{FF2B5EF4-FFF2-40B4-BE49-F238E27FC236}">
                <a16:creationId xmlns:a16="http://schemas.microsoft.com/office/drawing/2014/main" id="{952914F3-1008-432A-9698-F4E895B6A3F0}"/>
              </a:ext>
            </a:extLst>
          </p:cNvPr>
          <p:cNvGraphicFramePr>
            <a:graphicFrameLocks noGrp="1"/>
          </p:cNvGraphicFramePr>
          <p:nvPr>
            <p:ph idx="1"/>
            <p:extLst>
              <p:ext uri="{D42A27DB-BD31-4B8C-83A1-F6EECF244321}">
                <p14:modId xmlns:p14="http://schemas.microsoft.com/office/powerpoint/2010/main" val="3071323151"/>
              </p:ext>
            </p:extLst>
          </p:nvPr>
        </p:nvGraphicFramePr>
        <p:xfrm>
          <a:off x="517236" y="1542591"/>
          <a:ext cx="11158825" cy="4647581"/>
        </p:xfrm>
        <a:graphic>
          <a:graphicData uri="http://schemas.openxmlformats.org/drawingml/2006/table">
            <a:tbl>
              <a:tblPr firstRow="1" bandRow="1">
                <a:tableStyleId>{5C22544A-7EE6-4342-B048-85BDC9FD1C3A}</a:tableStyleId>
              </a:tblPr>
              <a:tblGrid>
                <a:gridCol w="4257964">
                  <a:extLst>
                    <a:ext uri="{9D8B030D-6E8A-4147-A177-3AD203B41FA5}">
                      <a16:colId xmlns:a16="http://schemas.microsoft.com/office/drawing/2014/main" val="2149724214"/>
                    </a:ext>
                  </a:extLst>
                </a:gridCol>
                <a:gridCol w="2133600">
                  <a:extLst>
                    <a:ext uri="{9D8B030D-6E8A-4147-A177-3AD203B41FA5}">
                      <a16:colId xmlns:a16="http://schemas.microsoft.com/office/drawing/2014/main" val="192737522"/>
                    </a:ext>
                  </a:extLst>
                </a:gridCol>
                <a:gridCol w="2171700">
                  <a:extLst>
                    <a:ext uri="{9D8B030D-6E8A-4147-A177-3AD203B41FA5}">
                      <a16:colId xmlns:a16="http://schemas.microsoft.com/office/drawing/2014/main" val="1927813928"/>
                    </a:ext>
                  </a:extLst>
                </a:gridCol>
                <a:gridCol w="2595561">
                  <a:extLst>
                    <a:ext uri="{9D8B030D-6E8A-4147-A177-3AD203B41FA5}">
                      <a16:colId xmlns:a16="http://schemas.microsoft.com/office/drawing/2014/main" val="207294981"/>
                    </a:ext>
                  </a:extLst>
                </a:gridCol>
              </a:tblGrid>
              <a:tr h="657949">
                <a:tc>
                  <a:txBody>
                    <a:bodyPr/>
                    <a:lstStyle/>
                    <a:p>
                      <a:pPr algn="ctr"/>
                      <a:r>
                        <a:rPr lang="en-GB" sz="1600"/>
                        <a:t>Validations/Expected Results</a:t>
                      </a:r>
                    </a:p>
                  </a:txBody>
                  <a:tcPr anchor="ct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a:t>Branded WBS</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a:t>Multi-Branded WBS with allocation type ZZZ</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a:t>Multi-Branded WBS </a:t>
                      </a:r>
                    </a:p>
                  </a:txBody>
                  <a:tcPr anchor="ct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157612100"/>
                  </a:ext>
                </a:extLst>
              </a:tr>
              <a:tr h="577236">
                <a:tc>
                  <a:txBody>
                    <a:bodyPr/>
                    <a:lstStyle/>
                    <a:p>
                      <a:r>
                        <a:rPr lang="en-US" sz="1400"/>
                        <a:t>Debits and credits are within the same GL account netting to 0</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r>
                        <a:rPr lang="en-GB" sz="140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extLst>
                  <a:ext uri="{0D108BD9-81ED-4DB2-BD59-A6C34878D82A}">
                    <a16:rowId xmlns:a16="http://schemas.microsoft.com/office/drawing/2014/main" val="3269856921"/>
                  </a:ext>
                </a:extLst>
              </a:tr>
              <a:tr h="664013">
                <a:tc>
                  <a:txBody>
                    <a:bodyPr/>
                    <a:lstStyle/>
                    <a:p>
                      <a:r>
                        <a:rPr lang="en-GB" sz="1400"/>
                        <a:t>Separate documents in all Ledgers – 0L, ST, TX, where costs have been posted to WBS</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0L, ST, TX, where costs have been posted to WBS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0L, ST, TX, where costs have been posted to WBS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200"/>
                        <a:t>IFRS only</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67425218"/>
                  </a:ext>
                </a:extLst>
              </a:tr>
              <a:tr h="503993">
                <a:tc>
                  <a:txBody>
                    <a:bodyPr/>
                    <a:lstStyle/>
                    <a:p>
                      <a:r>
                        <a:rPr lang="en-US" sz="1400"/>
                        <a:t>The same profit center is debited and credited</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tx1"/>
                          </a:solidFill>
                        </a:rPr>
                        <a:t>Yes</a:t>
                      </a:r>
                    </a:p>
                    <a:p>
                      <a:endParaRPr lang="en-GB" sz="1200"/>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919635700"/>
                  </a:ext>
                </a:extLst>
              </a:tr>
              <a:tr h="371257">
                <a:tc>
                  <a:txBody>
                    <a:bodyPr/>
                    <a:lstStyle/>
                    <a:p>
                      <a:r>
                        <a:rPr lang="en-US" sz="1400"/>
                        <a:t>The same cost center is debited and credited (if Cost center information is included in settlement rule)</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645495381"/>
                  </a:ext>
                </a:extLst>
              </a:tr>
              <a:tr h="381000">
                <a:tc>
                  <a:txBody>
                    <a:bodyPr/>
                    <a:lstStyle/>
                    <a:p>
                      <a:r>
                        <a:rPr lang="en-US" sz="1400"/>
                        <a:t>The same functional area is debited and credited</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900903693"/>
                  </a:ext>
                </a:extLst>
              </a:tr>
              <a:tr h="381192">
                <a:tc>
                  <a:txBody>
                    <a:bodyPr/>
                    <a:lstStyle/>
                    <a:p>
                      <a:r>
                        <a:rPr lang="en-US" sz="1400"/>
                        <a:t>Multiple settlement documents generated (if more than one currency used)</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tx1"/>
                          </a:solidFill>
                        </a:rPr>
                        <a:t>Yes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1058165328"/>
                  </a:ext>
                </a:extLst>
              </a:tr>
              <a:tr h="381192">
                <a:tc>
                  <a:txBody>
                    <a:bodyPr/>
                    <a:lstStyle/>
                    <a:p>
                      <a:r>
                        <a:rPr lang="en-GB" sz="1400"/>
                        <a:t>Document Type</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400">
                          <a:solidFill>
                            <a:schemeClr val="tx1"/>
                          </a:solidFill>
                        </a:rPr>
                        <a:t>SZ</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400">
                          <a:solidFill>
                            <a:schemeClr val="tx1"/>
                          </a:solidFill>
                        </a:rPr>
                        <a:t>SZ</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200" dirty="0"/>
                        <a:t>XW</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2679975991"/>
                  </a:ext>
                </a:extLst>
              </a:tr>
            </a:tbl>
          </a:graphicData>
        </a:graphic>
      </p:graphicFrame>
      <p:sp>
        <p:nvSpPr>
          <p:cNvPr id="7" name="Oval 6">
            <a:extLst>
              <a:ext uri="{FF2B5EF4-FFF2-40B4-BE49-F238E27FC236}">
                <a16:creationId xmlns:a16="http://schemas.microsoft.com/office/drawing/2014/main" id="{9614F470-B3F6-480E-A521-1EE0FCB5920C}"/>
              </a:ext>
            </a:extLst>
          </p:cNvPr>
          <p:cNvSpPr/>
          <p:nvPr/>
        </p:nvSpPr>
        <p:spPr>
          <a:xfrm>
            <a:off x="6553200" y="2070100"/>
            <a:ext cx="266700" cy="228600"/>
          </a:xfrm>
          <a:prstGeom prst="ellipse">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9AD86BA5-480E-497A-AE5C-DF716EA3E302}"/>
              </a:ext>
            </a:extLst>
          </p:cNvPr>
          <p:cNvSpPr/>
          <p:nvPr/>
        </p:nvSpPr>
        <p:spPr>
          <a:xfrm>
            <a:off x="8636000" y="2070100"/>
            <a:ext cx="2667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0D0FDD58-A615-4973-8507-56A6097E206B}"/>
              </a:ext>
            </a:extLst>
          </p:cNvPr>
          <p:cNvSpPr/>
          <p:nvPr/>
        </p:nvSpPr>
        <p:spPr>
          <a:xfrm>
            <a:off x="11278800" y="2070100"/>
            <a:ext cx="2667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656517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24423AF1-2A22-4C79-82B8-BCB6606CC290}"/>
              </a:ext>
            </a:extLst>
          </p:cNvPr>
          <p:cNvPicPr>
            <a:picLocks noChangeAspect="1"/>
          </p:cNvPicPr>
          <p:nvPr/>
        </p:nvPicPr>
        <p:blipFill>
          <a:blip r:embed="rId2"/>
          <a:stretch>
            <a:fillRect/>
          </a:stretch>
        </p:blipFill>
        <p:spPr>
          <a:xfrm>
            <a:off x="502334" y="3198874"/>
            <a:ext cx="8603353" cy="588120"/>
          </a:xfrm>
          <a:prstGeom prst="rect">
            <a:avLst/>
          </a:prstGeom>
        </p:spPr>
      </p:pic>
      <p:sp>
        <p:nvSpPr>
          <p:cNvPr id="2" name="Title 1">
            <a:extLst>
              <a:ext uri="{FF2B5EF4-FFF2-40B4-BE49-F238E27FC236}">
                <a16:creationId xmlns:a16="http://schemas.microsoft.com/office/drawing/2014/main" id="{94621EF0-296C-4231-8192-905625566E02}"/>
              </a:ext>
            </a:extLst>
          </p:cNvPr>
          <p:cNvSpPr>
            <a:spLocks noGrp="1"/>
          </p:cNvSpPr>
          <p:nvPr>
            <p:ph type="title"/>
          </p:nvPr>
        </p:nvSpPr>
        <p:spPr/>
        <p:txBody>
          <a:bodyPr/>
          <a:lstStyle/>
          <a:p>
            <a:r>
              <a:rPr lang="en-US"/>
              <a:t>WBS Settlement Actual Results Example</a:t>
            </a:r>
          </a:p>
        </p:txBody>
      </p:sp>
      <p:sp>
        <p:nvSpPr>
          <p:cNvPr id="4" name="Footer Placeholder 3">
            <a:extLst>
              <a:ext uri="{FF2B5EF4-FFF2-40B4-BE49-F238E27FC236}">
                <a16:creationId xmlns:a16="http://schemas.microsoft.com/office/drawing/2014/main" id="{47262EBB-3544-48B6-A6D0-7404D3BACC1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3A65D8BC-780F-494E-98C5-14CAD20406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F025E446-3457-433E-A713-4CAAEE195BD2}"/>
              </a:ext>
            </a:extLst>
          </p:cNvPr>
          <p:cNvGrpSpPr/>
          <p:nvPr/>
        </p:nvGrpSpPr>
        <p:grpSpPr>
          <a:xfrm>
            <a:off x="502334" y="1477146"/>
            <a:ext cx="8619427" cy="1427337"/>
            <a:chOff x="735384" y="3035280"/>
            <a:chExt cx="10720291" cy="2188029"/>
          </a:xfrm>
        </p:grpSpPr>
        <p:grpSp>
          <p:nvGrpSpPr>
            <p:cNvPr id="9" name="Group 8">
              <a:extLst>
                <a:ext uri="{FF2B5EF4-FFF2-40B4-BE49-F238E27FC236}">
                  <a16:creationId xmlns:a16="http://schemas.microsoft.com/office/drawing/2014/main" id="{9D0880A0-2BD0-4458-BEC3-23F69CEB5ABC}"/>
                </a:ext>
              </a:extLst>
            </p:cNvPr>
            <p:cNvGrpSpPr/>
            <p:nvPr/>
          </p:nvGrpSpPr>
          <p:grpSpPr>
            <a:xfrm>
              <a:off x="735384" y="3035280"/>
              <a:ext cx="10720291" cy="2043872"/>
              <a:chOff x="735384" y="3035280"/>
              <a:chExt cx="10720291" cy="2043872"/>
            </a:xfrm>
          </p:grpSpPr>
          <p:pic>
            <p:nvPicPr>
              <p:cNvPr id="6" name="Picture 5">
                <a:extLst>
                  <a:ext uri="{FF2B5EF4-FFF2-40B4-BE49-F238E27FC236}">
                    <a16:creationId xmlns:a16="http://schemas.microsoft.com/office/drawing/2014/main" id="{8EA5C403-AA93-4B30-8BBC-EBB8945BC06F}"/>
                  </a:ext>
                </a:extLst>
              </p:cNvPr>
              <p:cNvPicPr>
                <a:picLocks noChangeAspect="1"/>
              </p:cNvPicPr>
              <p:nvPr/>
            </p:nvPicPr>
            <p:blipFill>
              <a:blip r:embed="rId3"/>
              <a:stretch>
                <a:fillRect/>
              </a:stretch>
            </p:blipFill>
            <p:spPr>
              <a:xfrm>
                <a:off x="736324" y="3035280"/>
                <a:ext cx="10719351" cy="787440"/>
              </a:xfrm>
              <a:prstGeom prst="rect">
                <a:avLst/>
              </a:prstGeom>
            </p:spPr>
          </p:pic>
          <p:pic>
            <p:nvPicPr>
              <p:cNvPr id="7" name="Picture 6">
                <a:extLst>
                  <a:ext uri="{FF2B5EF4-FFF2-40B4-BE49-F238E27FC236}">
                    <a16:creationId xmlns:a16="http://schemas.microsoft.com/office/drawing/2014/main" id="{D671B9CB-B6BC-4F01-9DD6-A9579618326F}"/>
                  </a:ext>
                </a:extLst>
              </p:cNvPr>
              <p:cNvPicPr>
                <a:picLocks noChangeAspect="1"/>
              </p:cNvPicPr>
              <p:nvPr/>
            </p:nvPicPr>
            <p:blipFill>
              <a:blip r:embed="rId4"/>
              <a:stretch>
                <a:fillRect/>
              </a:stretch>
            </p:blipFill>
            <p:spPr>
              <a:xfrm>
                <a:off x="739029" y="3810020"/>
                <a:ext cx="10713001" cy="336567"/>
              </a:xfrm>
              <a:prstGeom prst="rect">
                <a:avLst/>
              </a:prstGeom>
            </p:spPr>
          </p:pic>
          <p:pic>
            <p:nvPicPr>
              <p:cNvPr id="8" name="Picture 7">
                <a:extLst>
                  <a:ext uri="{FF2B5EF4-FFF2-40B4-BE49-F238E27FC236}">
                    <a16:creationId xmlns:a16="http://schemas.microsoft.com/office/drawing/2014/main" id="{3F06F94B-E71C-4A83-B4F2-EE0CD85C00E8}"/>
                  </a:ext>
                </a:extLst>
              </p:cNvPr>
              <p:cNvPicPr>
                <a:picLocks noChangeAspect="1"/>
              </p:cNvPicPr>
              <p:nvPr/>
            </p:nvPicPr>
            <p:blipFill>
              <a:blip r:embed="rId5"/>
              <a:stretch>
                <a:fillRect/>
              </a:stretch>
            </p:blipFill>
            <p:spPr>
              <a:xfrm>
                <a:off x="735384" y="4177406"/>
                <a:ext cx="10700300" cy="901746"/>
              </a:xfrm>
              <a:prstGeom prst="rect">
                <a:avLst/>
              </a:prstGeom>
            </p:spPr>
          </p:pic>
        </p:grpSp>
        <p:pic>
          <p:nvPicPr>
            <p:cNvPr id="10" name="Picture 9">
              <a:extLst>
                <a:ext uri="{FF2B5EF4-FFF2-40B4-BE49-F238E27FC236}">
                  <a16:creationId xmlns:a16="http://schemas.microsoft.com/office/drawing/2014/main" id="{9A4B5C68-6F44-426D-8CF1-ECCF08BF1D94}"/>
                </a:ext>
              </a:extLst>
            </p:cNvPr>
            <p:cNvPicPr>
              <a:picLocks noChangeAspect="1"/>
            </p:cNvPicPr>
            <p:nvPr/>
          </p:nvPicPr>
          <p:blipFill>
            <a:blip r:embed="rId6"/>
            <a:stretch>
              <a:fillRect/>
            </a:stretch>
          </p:blipFill>
          <p:spPr>
            <a:xfrm>
              <a:off x="735384" y="4189174"/>
              <a:ext cx="10719351" cy="1034135"/>
            </a:xfrm>
            <a:prstGeom prst="rect">
              <a:avLst/>
            </a:prstGeom>
          </p:spPr>
        </p:pic>
      </p:grpSp>
      <p:sp>
        <p:nvSpPr>
          <p:cNvPr id="13" name="Arrow: Right 12">
            <a:extLst>
              <a:ext uri="{FF2B5EF4-FFF2-40B4-BE49-F238E27FC236}">
                <a16:creationId xmlns:a16="http://schemas.microsoft.com/office/drawing/2014/main" id="{083B9E78-1436-4576-BB06-DB2E2A25AC92}"/>
              </a:ext>
            </a:extLst>
          </p:cNvPr>
          <p:cNvSpPr/>
          <p:nvPr/>
        </p:nvSpPr>
        <p:spPr>
          <a:xfrm>
            <a:off x="9178094" y="1966413"/>
            <a:ext cx="740764" cy="622875"/>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54E685C2-52FD-4B4D-98F2-97F5D2D84C84}"/>
              </a:ext>
            </a:extLst>
          </p:cNvPr>
          <p:cNvSpPr/>
          <p:nvPr/>
        </p:nvSpPr>
        <p:spPr>
          <a:xfrm>
            <a:off x="10005546" y="1499915"/>
            <a:ext cx="1988041" cy="1572100"/>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SZ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7" name="Rectangle 16">
            <a:extLst>
              <a:ext uri="{FF2B5EF4-FFF2-40B4-BE49-F238E27FC236}">
                <a16:creationId xmlns:a16="http://schemas.microsoft.com/office/drawing/2014/main" id="{C4B298FE-0801-40B7-80E2-B8BD9DF79C3A}"/>
              </a:ext>
            </a:extLst>
          </p:cNvPr>
          <p:cNvSpPr/>
          <p:nvPr/>
        </p:nvSpPr>
        <p:spPr>
          <a:xfrm>
            <a:off x="1922181" y="2285965"/>
            <a:ext cx="3441700" cy="625779"/>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E914CA25-6D91-4BA5-B57C-3C9429403BF7}"/>
              </a:ext>
            </a:extLst>
          </p:cNvPr>
          <p:cNvSpPr/>
          <p:nvPr/>
        </p:nvSpPr>
        <p:spPr>
          <a:xfrm>
            <a:off x="6313666" y="2289551"/>
            <a:ext cx="876072" cy="614932"/>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9FF1FEA9-5C9B-44DE-86ED-F54E040FC8AA}"/>
              </a:ext>
            </a:extLst>
          </p:cNvPr>
          <p:cNvSpPr/>
          <p:nvPr/>
        </p:nvSpPr>
        <p:spPr>
          <a:xfrm>
            <a:off x="5835991" y="1978862"/>
            <a:ext cx="1177581" cy="261898"/>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0" name="Picture 19">
            <a:extLst>
              <a:ext uri="{FF2B5EF4-FFF2-40B4-BE49-F238E27FC236}">
                <a16:creationId xmlns:a16="http://schemas.microsoft.com/office/drawing/2014/main" id="{7C7469EC-4ECA-4A7B-90D1-CEB1C23FE6B7}"/>
              </a:ext>
            </a:extLst>
          </p:cNvPr>
          <p:cNvPicPr>
            <a:picLocks noChangeAspect="1"/>
          </p:cNvPicPr>
          <p:nvPr/>
        </p:nvPicPr>
        <p:blipFill>
          <a:blip r:embed="rId7"/>
          <a:stretch>
            <a:fillRect/>
          </a:stretch>
        </p:blipFill>
        <p:spPr>
          <a:xfrm>
            <a:off x="4942850" y="1620871"/>
            <a:ext cx="2660787" cy="311166"/>
          </a:xfrm>
          <a:prstGeom prst="rect">
            <a:avLst/>
          </a:prstGeom>
          <a:ln>
            <a:solidFill>
              <a:srgbClr val="EAAA00"/>
            </a:solidFill>
          </a:ln>
        </p:spPr>
      </p:pic>
      <p:sp>
        <p:nvSpPr>
          <p:cNvPr id="21" name="Rectangle: Rounded Corners 20">
            <a:extLst>
              <a:ext uri="{FF2B5EF4-FFF2-40B4-BE49-F238E27FC236}">
                <a16:creationId xmlns:a16="http://schemas.microsoft.com/office/drawing/2014/main" id="{B0665074-9459-44AD-A93C-33167F7167ED}"/>
              </a:ext>
            </a:extLst>
          </p:cNvPr>
          <p:cNvSpPr/>
          <p:nvPr/>
        </p:nvSpPr>
        <p:spPr>
          <a:xfrm>
            <a:off x="1669596" y="1463096"/>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FB03L – Branded WBS Settlement</a:t>
            </a:r>
          </a:p>
        </p:txBody>
      </p:sp>
      <p:grpSp>
        <p:nvGrpSpPr>
          <p:cNvPr id="26" name="Group 25">
            <a:extLst>
              <a:ext uri="{FF2B5EF4-FFF2-40B4-BE49-F238E27FC236}">
                <a16:creationId xmlns:a16="http://schemas.microsoft.com/office/drawing/2014/main" id="{5008903C-E898-479C-A057-3FE0C1B61C93}"/>
              </a:ext>
            </a:extLst>
          </p:cNvPr>
          <p:cNvGrpSpPr/>
          <p:nvPr/>
        </p:nvGrpSpPr>
        <p:grpSpPr>
          <a:xfrm>
            <a:off x="574583" y="4950630"/>
            <a:ext cx="8603354" cy="1520398"/>
            <a:chOff x="558508" y="3385617"/>
            <a:chExt cx="8665787" cy="1936630"/>
          </a:xfrm>
        </p:grpSpPr>
        <p:pic>
          <p:nvPicPr>
            <p:cNvPr id="22" name="Picture 21">
              <a:extLst>
                <a:ext uri="{FF2B5EF4-FFF2-40B4-BE49-F238E27FC236}">
                  <a16:creationId xmlns:a16="http://schemas.microsoft.com/office/drawing/2014/main" id="{C5CC6E60-6099-465C-9626-F3E8D5DBCF45}"/>
                </a:ext>
              </a:extLst>
            </p:cNvPr>
            <p:cNvPicPr>
              <a:picLocks noChangeAspect="1"/>
            </p:cNvPicPr>
            <p:nvPr/>
          </p:nvPicPr>
          <p:blipFill>
            <a:blip r:embed="rId8"/>
            <a:stretch>
              <a:fillRect/>
            </a:stretch>
          </p:blipFill>
          <p:spPr>
            <a:xfrm>
              <a:off x="558508" y="3385617"/>
              <a:ext cx="8665786" cy="547456"/>
            </a:xfrm>
            <a:prstGeom prst="rect">
              <a:avLst/>
            </a:prstGeom>
          </p:spPr>
        </p:pic>
        <p:pic>
          <p:nvPicPr>
            <p:cNvPr id="23" name="Picture 22">
              <a:extLst>
                <a:ext uri="{FF2B5EF4-FFF2-40B4-BE49-F238E27FC236}">
                  <a16:creationId xmlns:a16="http://schemas.microsoft.com/office/drawing/2014/main" id="{1FC0B040-14B2-4DCC-B599-C298365344E7}"/>
                </a:ext>
              </a:extLst>
            </p:cNvPr>
            <p:cNvPicPr>
              <a:picLocks noChangeAspect="1"/>
            </p:cNvPicPr>
            <p:nvPr/>
          </p:nvPicPr>
          <p:blipFill>
            <a:blip r:embed="rId9"/>
            <a:stretch>
              <a:fillRect/>
            </a:stretch>
          </p:blipFill>
          <p:spPr>
            <a:xfrm>
              <a:off x="558509" y="3942323"/>
              <a:ext cx="8665786" cy="222549"/>
            </a:xfrm>
            <a:prstGeom prst="rect">
              <a:avLst/>
            </a:prstGeom>
          </p:spPr>
        </p:pic>
        <p:pic>
          <p:nvPicPr>
            <p:cNvPr id="25" name="Picture 24">
              <a:extLst>
                <a:ext uri="{FF2B5EF4-FFF2-40B4-BE49-F238E27FC236}">
                  <a16:creationId xmlns:a16="http://schemas.microsoft.com/office/drawing/2014/main" id="{423AA2B2-00AD-4DAE-A64D-501F359732EA}"/>
                </a:ext>
              </a:extLst>
            </p:cNvPr>
            <p:cNvPicPr>
              <a:picLocks noChangeAspect="1"/>
            </p:cNvPicPr>
            <p:nvPr/>
          </p:nvPicPr>
          <p:blipFill>
            <a:blip r:embed="rId10"/>
            <a:stretch>
              <a:fillRect/>
            </a:stretch>
          </p:blipFill>
          <p:spPr>
            <a:xfrm>
              <a:off x="558508" y="4153787"/>
              <a:ext cx="8665786" cy="1168460"/>
            </a:xfrm>
            <a:prstGeom prst="rect">
              <a:avLst/>
            </a:prstGeom>
          </p:spPr>
        </p:pic>
      </p:grpSp>
      <p:sp>
        <p:nvSpPr>
          <p:cNvPr id="27" name="Rectangle: Rounded Corners 26">
            <a:extLst>
              <a:ext uri="{FF2B5EF4-FFF2-40B4-BE49-F238E27FC236}">
                <a16:creationId xmlns:a16="http://schemas.microsoft.com/office/drawing/2014/main" id="{1CDEEEAF-917A-48F2-8AD5-968BCE55242E}"/>
              </a:ext>
            </a:extLst>
          </p:cNvPr>
          <p:cNvSpPr/>
          <p:nvPr/>
        </p:nvSpPr>
        <p:spPr>
          <a:xfrm>
            <a:off x="1669596" y="4851054"/>
            <a:ext cx="1670504" cy="36772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FB03L – Multi Branded WBS </a:t>
            </a:r>
            <a:r>
              <a:rPr lang="en-GB" sz="1000" b="1" dirty="0">
                <a:solidFill>
                  <a:srgbClr val="00B2A9">
                    <a:lumMod val="50000"/>
                  </a:srgbClr>
                </a:solidFill>
                <a:latin typeface="Arial" panose="020B0604020202020204"/>
              </a:rPr>
              <a:t>Allocation</a:t>
            </a:r>
            <a:endPar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EF6A92F3-5BCE-42A3-B729-9C5CE60ABF86}"/>
              </a:ext>
            </a:extLst>
          </p:cNvPr>
          <p:cNvSpPr/>
          <p:nvPr/>
        </p:nvSpPr>
        <p:spPr>
          <a:xfrm>
            <a:off x="1673228" y="5618102"/>
            <a:ext cx="5340344" cy="843857"/>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Arrow: Right 28">
            <a:extLst>
              <a:ext uri="{FF2B5EF4-FFF2-40B4-BE49-F238E27FC236}">
                <a16:creationId xmlns:a16="http://schemas.microsoft.com/office/drawing/2014/main" id="{762A89FF-77BB-4D4E-A4B2-16DE8978E502}"/>
              </a:ext>
            </a:extLst>
          </p:cNvPr>
          <p:cNvSpPr/>
          <p:nvPr/>
        </p:nvSpPr>
        <p:spPr>
          <a:xfrm>
            <a:off x="9221358" y="5614174"/>
            <a:ext cx="740764" cy="622874"/>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58DA161E-90BC-42DC-A004-E775D4986407}"/>
              </a:ext>
            </a:extLst>
          </p:cNvPr>
          <p:cNvSpPr/>
          <p:nvPr/>
        </p:nvSpPr>
        <p:spPr>
          <a:xfrm>
            <a:off x="10005545" y="4950630"/>
            <a:ext cx="1988042" cy="157210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r>
              <a:rPr kumimoji="0" lang="en-US" sz="1100" b="0" i="0" u="none" strike="noStrike" kern="1200" cap="none" spc="0" normalizeH="0" baseline="0" noProof="0">
                <a:ln>
                  <a:noFill/>
                </a:ln>
                <a:solidFill>
                  <a:srgbClr val="FF0000"/>
                </a:solidFill>
                <a:effectLst/>
                <a:uLnTx/>
                <a:uFillTx/>
                <a:latin typeface="Arial" panose="020B0604020202020204"/>
                <a:ea typeface="+mn-ea"/>
                <a:cs typeface="+mn-cs"/>
              </a:rPr>
              <a:t>X</a:t>
            </a:r>
            <a:endParaRPr kumimoji="0" lang="en-US" sz="11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XW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31" name="Rectangle: Rounded Corners 30">
            <a:extLst>
              <a:ext uri="{FF2B5EF4-FFF2-40B4-BE49-F238E27FC236}">
                <a16:creationId xmlns:a16="http://schemas.microsoft.com/office/drawing/2014/main" id="{B384FF5B-236E-418C-8F53-574B76A9B9D7}"/>
              </a:ext>
            </a:extLst>
          </p:cNvPr>
          <p:cNvSpPr/>
          <p:nvPr/>
        </p:nvSpPr>
        <p:spPr>
          <a:xfrm>
            <a:off x="1612446" y="3143174"/>
            <a:ext cx="4039054" cy="34813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FB03L – Multi Branded WBS Settlement – Allocation ZZZ</a:t>
            </a:r>
          </a:p>
        </p:txBody>
      </p:sp>
      <p:sp>
        <p:nvSpPr>
          <p:cNvPr id="33" name="Rectangle 32">
            <a:extLst>
              <a:ext uri="{FF2B5EF4-FFF2-40B4-BE49-F238E27FC236}">
                <a16:creationId xmlns:a16="http://schemas.microsoft.com/office/drawing/2014/main" id="{3DDD6E90-CAD3-4CDD-97C7-B1276399B468}"/>
              </a:ext>
            </a:extLst>
          </p:cNvPr>
          <p:cNvSpPr/>
          <p:nvPr/>
        </p:nvSpPr>
        <p:spPr>
          <a:xfrm>
            <a:off x="8075770" y="5566851"/>
            <a:ext cx="1102166" cy="917328"/>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Rectangle 33">
            <a:extLst>
              <a:ext uri="{FF2B5EF4-FFF2-40B4-BE49-F238E27FC236}">
                <a16:creationId xmlns:a16="http://schemas.microsoft.com/office/drawing/2014/main" id="{47C1B8E0-69C5-4A18-BC5E-67F8C46C0D3F}"/>
              </a:ext>
            </a:extLst>
          </p:cNvPr>
          <p:cNvSpPr/>
          <p:nvPr/>
        </p:nvSpPr>
        <p:spPr>
          <a:xfrm>
            <a:off x="5171077" y="5362082"/>
            <a:ext cx="1102166" cy="200320"/>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6" name="Picture 35">
            <a:extLst>
              <a:ext uri="{FF2B5EF4-FFF2-40B4-BE49-F238E27FC236}">
                <a16:creationId xmlns:a16="http://schemas.microsoft.com/office/drawing/2014/main" id="{C4208EB1-4AE7-408A-8DC1-2B786D61FEF6}"/>
              </a:ext>
            </a:extLst>
          </p:cNvPr>
          <p:cNvPicPr>
            <a:picLocks noChangeAspect="1"/>
          </p:cNvPicPr>
          <p:nvPr/>
        </p:nvPicPr>
        <p:blipFill>
          <a:blip r:embed="rId11"/>
          <a:stretch>
            <a:fillRect/>
          </a:stretch>
        </p:blipFill>
        <p:spPr>
          <a:xfrm>
            <a:off x="6365474" y="4972642"/>
            <a:ext cx="2400423" cy="292115"/>
          </a:xfrm>
          <a:prstGeom prst="rect">
            <a:avLst/>
          </a:prstGeom>
          <a:ln>
            <a:solidFill>
              <a:srgbClr val="00B050"/>
            </a:solidFill>
          </a:ln>
        </p:spPr>
      </p:pic>
      <p:pic>
        <p:nvPicPr>
          <p:cNvPr id="37" name="Picture 36">
            <a:extLst>
              <a:ext uri="{FF2B5EF4-FFF2-40B4-BE49-F238E27FC236}">
                <a16:creationId xmlns:a16="http://schemas.microsoft.com/office/drawing/2014/main" id="{F03AB886-2E48-4A09-99A6-395E7D841BE3}"/>
              </a:ext>
            </a:extLst>
          </p:cNvPr>
          <p:cNvPicPr>
            <a:picLocks noChangeAspect="1"/>
          </p:cNvPicPr>
          <p:nvPr/>
        </p:nvPicPr>
        <p:blipFill>
          <a:blip r:embed="rId12"/>
          <a:stretch>
            <a:fillRect/>
          </a:stretch>
        </p:blipFill>
        <p:spPr>
          <a:xfrm>
            <a:off x="543664" y="3889598"/>
            <a:ext cx="8593294" cy="908097"/>
          </a:xfrm>
          <a:prstGeom prst="rect">
            <a:avLst/>
          </a:prstGeom>
        </p:spPr>
      </p:pic>
      <p:sp>
        <p:nvSpPr>
          <p:cNvPr id="38" name="Arrow: Right 37">
            <a:extLst>
              <a:ext uri="{FF2B5EF4-FFF2-40B4-BE49-F238E27FC236}">
                <a16:creationId xmlns:a16="http://schemas.microsoft.com/office/drawing/2014/main" id="{1E4AA33B-657B-433B-9343-FA76897B948F}"/>
              </a:ext>
            </a:extLst>
          </p:cNvPr>
          <p:cNvSpPr/>
          <p:nvPr/>
        </p:nvSpPr>
        <p:spPr>
          <a:xfrm>
            <a:off x="9180302" y="3737231"/>
            <a:ext cx="738556" cy="622874"/>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Rectangle 38">
            <a:extLst>
              <a:ext uri="{FF2B5EF4-FFF2-40B4-BE49-F238E27FC236}">
                <a16:creationId xmlns:a16="http://schemas.microsoft.com/office/drawing/2014/main" id="{3B2D4D3E-85EC-4290-864A-BBC7B18BD4E3}"/>
              </a:ext>
            </a:extLst>
          </p:cNvPr>
          <p:cNvSpPr/>
          <p:nvPr/>
        </p:nvSpPr>
        <p:spPr>
          <a:xfrm>
            <a:off x="10005546" y="3277428"/>
            <a:ext cx="1988041" cy="1572100"/>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SZ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pic>
        <p:nvPicPr>
          <p:cNvPr id="43" name="Picture 42">
            <a:extLst>
              <a:ext uri="{FF2B5EF4-FFF2-40B4-BE49-F238E27FC236}">
                <a16:creationId xmlns:a16="http://schemas.microsoft.com/office/drawing/2014/main" id="{7456E3F6-3600-41C3-A3BE-761BC5197B1B}"/>
              </a:ext>
            </a:extLst>
          </p:cNvPr>
          <p:cNvPicPr>
            <a:picLocks noChangeAspect="1"/>
          </p:cNvPicPr>
          <p:nvPr/>
        </p:nvPicPr>
        <p:blipFill>
          <a:blip r:embed="rId13"/>
          <a:stretch>
            <a:fillRect/>
          </a:stretch>
        </p:blipFill>
        <p:spPr>
          <a:xfrm>
            <a:off x="502335" y="3729970"/>
            <a:ext cx="8591280" cy="296878"/>
          </a:xfrm>
          <a:prstGeom prst="rect">
            <a:avLst/>
          </a:prstGeom>
        </p:spPr>
      </p:pic>
      <p:sp>
        <p:nvSpPr>
          <p:cNvPr id="42" name="Rectangle 41">
            <a:extLst>
              <a:ext uri="{FF2B5EF4-FFF2-40B4-BE49-F238E27FC236}">
                <a16:creationId xmlns:a16="http://schemas.microsoft.com/office/drawing/2014/main" id="{C38BFC1A-C51C-415B-A0CB-89297BAB22A7}"/>
              </a:ext>
            </a:extLst>
          </p:cNvPr>
          <p:cNvSpPr/>
          <p:nvPr/>
        </p:nvSpPr>
        <p:spPr>
          <a:xfrm>
            <a:off x="6795481" y="3749925"/>
            <a:ext cx="1372292" cy="23528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8E1C99C8-14D6-405D-B3CE-5047D2E98276}"/>
              </a:ext>
            </a:extLst>
          </p:cNvPr>
          <p:cNvSpPr/>
          <p:nvPr/>
        </p:nvSpPr>
        <p:spPr>
          <a:xfrm>
            <a:off x="6343707" y="4040913"/>
            <a:ext cx="876072" cy="75678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2446062B-FF77-48D9-9CC5-0744FCD80CDA}"/>
              </a:ext>
            </a:extLst>
          </p:cNvPr>
          <p:cNvSpPr/>
          <p:nvPr/>
        </p:nvSpPr>
        <p:spPr>
          <a:xfrm>
            <a:off x="1519275" y="3985212"/>
            <a:ext cx="3862731" cy="8265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4" name="Picture 43">
            <a:extLst>
              <a:ext uri="{FF2B5EF4-FFF2-40B4-BE49-F238E27FC236}">
                <a16:creationId xmlns:a16="http://schemas.microsoft.com/office/drawing/2014/main" id="{8D3AD497-8B67-436A-93AA-4FB2EA5E907A}"/>
              </a:ext>
            </a:extLst>
          </p:cNvPr>
          <p:cNvPicPr>
            <a:picLocks noChangeAspect="1"/>
          </p:cNvPicPr>
          <p:nvPr/>
        </p:nvPicPr>
        <p:blipFill>
          <a:blip r:embed="rId7"/>
          <a:stretch>
            <a:fillRect/>
          </a:stretch>
        </p:blipFill>
        <p:spPr>
          <a:xfrm>
            <a:off x="5786641" y="3285824"/>
            <a:ext cx="2660787" cy="311166"/>
          </a:xfrm>
          <a:prstGeom prst="rect">
            <a:avLst/>
          </a:prstGeom>
          <a:ln>
            <a:solidFill>
              <a:srgbClr val="FF0000"/>
            </a:solidFill>
          </a:ln>
        </p:spPr>
      </p:pic>
    </p:spTree>
    <p:extLst>
      <p:ext uri="{BB962C8B-B14F-4D97-AF65-F5344CB8AC3E}">
        <p14:creationId xmlns:p14="http://schemas.microsoft.com/office/powerpoint/2010/main" val="2823534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2032938"/>
            <a:ext cx="4564896" cy="2445735"/>
            <a:chOff x="6326261" y="1770500"/>
            <a:chExt cx="4564896" cy="2445735"/>
          </a:xfrm>
        </p:grpSpPr>
        <p:cxnSp>
          <p:nvCxnSpPr>
            <p:cNvPr id="5" name="Elbow Connector 4"/>
            <p:cNvCxnSpPr>
              <a:cxnSpLocks/>
            </p:cNvCxnSpPr>
            <p:nvPr/>
          </p:nvCxnSpPr>
          <p:spPr>
            <a:xfrm flipV="1">
              <a:off x="6326261" y="1987271"/>
              <a:ext cx="944475" cy="1736449"/>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771633" y="1770500"/>
              <a:ext cx="4119524" cy="2445735"/>
              <a:chOff x="6771633" y="1770500"/>
              <a:chExt cx="4119524" cy="2445735"/>
            </a:xfrm>
          </p:grpSpPr>
          <p:cxnSp>
            <p:nvCxnSpPr>
              <p:cNvPr id="43" name="Straight Connector 42"/>
              <p:cNvCxnSpPr>
                <a:cxnSpLocks/>
              </p:cNvCxnSpPr>
              <p:nvPr/>
            </p:nvCxnSpPr>
            <p:spPr>
              <a:xfrm>
                <a:off x="6782605" y="2692997"/>
                <a:ext cx="48813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6771633" y="3301726"/>
                <a:ext cx="49910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3" y="3049486"/>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a:ln>
                      <a:noFill/>
                    </a:ln>
                    <a:solidFill>
                      <a:srgbClr val="1A3040"/>
                    </a:solidFill>
                    <a:effectLst/>
                    <a:uLnTx/>
                    <a:uFillTx/>
                    <a:latin typeface="Arial" charset="0"/>
                    <a:ea typeface="Arial" charset="0"/>
                    <a:cs typeface="Arial" charset="0"/>
                  </a:rPr>
                  <a:t>Multi Brand Settlement</a:t>
                </a:r>
                <a:endParaRPr kumimoji="0" lang="en-US" sz="2400" b="1" i="0" u="none" strike="noStrike" kern="1200" cap="none" spc="0" normalizeH="0" baseline="0" noProof="0">
                  <a:ln>
                    <a:noFill/>
                  </a:ln>
                  <a:solidFill>
                    <a:srgbClr val="1A3040"/>
                  </a:solidFill>
                  <a:effectLst/>
                  <a:uLnTx/>
                  <a:uFillTx/>
                  <a:latin typeface="Arial" charset="0"/>
                  <a:ea typeface="Arial" charset="0"/>
                  <a:cs typeface="Arial" charset="0"/>
                </a:endParaRPr>
              </a:p>
            </p:txBody>
          </p:sp>
          <p:sp>
            <p:nvSpPr>
              <p:cNvPr id="40" name="Rounded Rectangle 39"/>
              <p:cNvSpPr/>
              <p:nvPr/>
            </p:nvSpPr>
            <p:spPr>
              <a:xfrm>
                <a:off x="7667064" y="2434337"/>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rial"/>
                    <a:ea typeface="+mn-ea"/>
                    <a:cs typeface="Arial"/>
                  </a:rPr>
                  <a:t>Settlement</a:t>
                </a:r>
                <a:endParaRPr kumimoji="0" lang="en-US" sz="2000" b="1" i="0" u="none" strike="noStrike" kern="1200" cap="none" spc="0" normalizeH="0" baseline="0" noProof="0">
                  <a:ln>
                    <a:noFill/>
                  </a:ln>
                  <a:solidFill>
                    <a:srgbClr val="FFFFFF"/>
                  </a:solidFill>
                  <a:effectLst/>
                  <a:uLnTx/>
                  <a:uFillTx/>
                  <a:latin typeface="Arial"/>
                  <a:ea typeface="+mn-ea"/>
                  <a:cs typeface="Arial"/>
                </a:endParaRPr>
              </a:p>
            </p:txBody>
          </p:sp>
          <p:sp>
            <p:nvSpPr>
              <p:cNvPr id="42" name="Rounded Rectangle 41"/>
              <p:cNvSpPr/>
              <p:nvPr/>
            </p:nvSpPr>
            <p:spPr>
              <a:xfrm>
                <a:off x="7667063" y="1770500"/>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Postings to WBS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3" y="3757695"/>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84057"/>
            <a:ext cx="1011699" cy="38235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067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33B4-2E3E-4FCD-8F01-AF1BFAE1C9D9}"/>
              </a:ext>
            </a:extLst>
          </p:cNvPr>
          <p:cNvSpPr>
            <a:spLocks noGrp="1"/>
          </p:cNvSpPr>
          <p:nvPr>
            <p:ph type="title"/>
          </p:nvPr>
        </p:nvSpPr>
        <p:spPr/>
        <p:txBody>
          <a:bodyPr/>
          <a:lstStyle/>
          <a:p>
            <a:r>
              <a:rPr lang="en-GB"/>
              <a:t>Multi-brand WBS Settlement</a:t>
            </a:r>
            <a:endParaRPr lang="en-US"/>
          </a:p>
        </p:txBody>
      </p:sp>
      <p:sp>
        <p:nvSpPr>
          <p:cNvPr id="4" name="Footer Placeholder 3">
            <a:extLst>
              <a:ext uri="{FF2B5EF4-FFF2-40B4-BE49-F238E27FC236}">
                <a16:creationId xmlns:a16="http://schemas.microsoft.com/office/drawing/2014/main" id="{BBFE033A-947B-4C9F-B5C6-87AF5992D96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64381430-5527-4641-9B43-B5AD7C613E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BF11A145-D9FE-4FA9-9D3B-1BEEECB2DC1D}"/>
              </a:ext>
            </a:extLst>
          </p:cNvPr>
          <p:cNvGraphicFramePr>
            <a:graphicFrameLocks noGrp="1"/>
          </p:cNvGraphicFramePr>
          <p:nvPr>
            <p:extLst>
              <p:ext uri="{D42A27DB-BD31-4B8C-83A1-F6EECF244321}">
                <p14:modId xmlns:p14="http://schemas.microsoft.com/office/powerpoint/2010/main" val="3054041477"/>
              </p:ext>
            </p:extLst>
          </p:nvPr>
        </p:nvGraphicFramePr>
        <p:xfrm>
          <a:off x="294641" y="1941795"/>
          <a:ext cx="11653520" cy="4222446"/>
        </p:xfrm>
        <a:graphic>
          <a:graphicData uri="http://schemas.openxmlformats.org/drawingml/2006/table">
            <a:tbl>
              <a:tblPr firstRow="1" bandRow="1">
                <a:tableStyleId>{E8B1032C-EA38-4F05-BA0D-38AFFFC7BED3}</a:tableStyleId>
              </a:tblPr>
              <a:tblGrid>
                <a:gridCol w="1447893">
                  <a:extLst>
                    <a:ext uri="{9D8B030D-6E8A-4147-A177-3AD203B41FA5}">
                      <a16:colId xmlns:a16="http://schemas.microsoft.com/office/drawing/2014/main" val="255554645"/>
                    </a:ext>
                  </a:extLst>
                </a:gridCol>
                <a:gridCol w="3429590">
                  <a:extLst>
                    <a:ext uri="{9D8B030D-6E8A-4147-A177-3AD203B41FA5}">
                      <a16:colId xmlns:a16="http://schemas.microsoft.com/office/drawing/2014/main" val="820559033"/>
                    </a:ext>
                  </a:extLst>
                </a:gridCol>
                <a:gridCol w="3453226">
                  <a:extLst>
                    <a:ext uri="{9D8B030D-6E8A-4147-A177-3AD203B41FA5}">
                      <a16:colId xmlns:a16="http://schemas.microsoft.com/office/drawing/2014/main" val="2832590392"/>
                    </a:ext>
                  </a:extLst>
                </a:gridCol>
                <a:gridCol w="3322811">
                  <a:extLst>
                    <a:ext uri="{9D8B030D-6E8A-4147-A177-3AD203B41FA5}">
                      <a16:colId xmlns:a16="http://schemas.microsoft.com/office/drawing/2014/main" val="674880499"/>
                    </a:ext>
                  </a:extLst>
                </a:gridCol>
              </a:tblGrid>
              <a:tr h="290526">
                <a:tc>
                  <a:txBody>
                    <a:bodyPr/>
                    <a:lstStyle>
                      <a:lvl1pPr marL="0" algn="l" defTabSz="914400" rtl="0" eaLnBrk="1" latinLnBrk="0" hangingPunct="1">
                        <a:defRPr sz="1800" b="1" kern="1200">
                          <a:solidFill>
                            <a:schemeClr val="tx1"/>
                          </a:solidFill>
                        </a:defRPr>
                      </a:lvl1pPr>
                      <a:lvl2pPr marL="457200" algn="l" defTabSz="914400" rtl="0" eaLnBrk="1" latinLnBrk="0" hangingPunct="1">
                        <a:defRPr sz="1800" b="1" kern="1200">
                          <a:solidFill>
                            <a:schemeClr val="tx1"/>
                          </a:solidFill>
                        </a:defRPr>
                      </a:lvl2pPr>
                      <a:lvl3pPr marL="914400" algn="l" defTabSz="914400" rtl="0" eaLnBrk="1" latinLnBrk="0" hangingPunct="1">
                        <a:defRPr sz="1800" b="1" kern="1200">
                          <a:solidFill>
                            <a:schemeClr val="tx1"/>
                          </a:solidFill>
                        </a:defRPr>
                      </a:lvl3pPr>
                      <a:lvl4pPr marL="1371600" algn="l" defTabSz="914400" rtl="0" eaLnBrk="1" latinLnBrk="0" hangingPunct="1">
                        <a:defRPr sz="1800" b="1" kern="1200">
                          <a:solidFill>
                            <a:schemeClr val="tx1"/>
                          </a:solidFill>
                        </a:defRPr>
                      </a:lvl4pPr>
                      <a:lvl5pPr marL="1828800" algn="l" defTabSz="914400" rtl="0" eaLnBrk="1" latinLnBrk="0" hangingPunct="1">
                        <a:defRPr sz="1800" b="1" kern="1200">
                          <a:solidFill>
                            <a:schemeClr val="tx1"/>
                          </a:solidFill>
                        </a:defRPr>
                      </a:lvl5pPr>
                      <a:lvl6pPr marL="2286000" algn="l" defTabSz="914400" rtl="0" eaLnBrk="1" latinLnBrk="0" hangingPunct="1">
                        <a:defRPr sz="1800" b="1" kern="1200">
                          <a:solidFill>
                            <a:schemeClr val="tx1"/>
                          </a:solidFill>
                        </a:defRPr>
                      </a:lvl6pPr>
                      <a:lvl7pPr marL="2743200" algn="l" defTabSz="914400" rtl="0" eaLnBrk="1" latinLnBrk="0" hangingPunct="1">
                        <a:defRPr sz="1800" b="1" kern="1200">
                          <a:solidFill>
                            <a:schemeClr val="tx1"/>
                          </a:solidFill>
                        </a:defRPr>
                      </a:lvl7pPr>
                      <a:lvl8pPr marL="3200400" algn="l" defTabSz="914400" rtl="0" eaLnBrk="1" latinLnBrk="0" hangingPunct="1">
                        <a:defRPr sz="1800" b="1" kern="1200">
                          <a:solidFill>
                            <a:schemeClr val="tx1"/>
                          </a:solidFill>
                        </a:defRPr>
                      </a:lvl8pPr>
                      <a:lvl9pPr marL="3657600" algn="l" defTabSz="914400" rtl="0" eaLnBrk="1" latinLnBrk="0" hangingPunct="1">
                        <a:defRPr sz="1800" b="1" kern="1200">
                          <a:solidFill>
                            <a:schemeClr val="tx1"/>
                          </a:solidFill>
                        </a:defRPr>
                      </a:lvl9pPr>
                    </a:lstStyle>
                    <a:p>
                      <a:r>
                        <a:rPr lang="en-US" sz="1200"/>
                        <a:t>P&amp;L Line</a:t>
                      </a:r>
                    </a:p>
                  </a:txBody>
                  <a:tcPr/>
                </a:tc>
                <a:tc>
                  <a:txBody>
                    <a:bodyPr/>
                    <a:lstStyle>
                      <a:lvl1pPr marL="0" algn="l" defTabSz="914400" rtl="0" eaLnBrk="1" latinLnBrk="0" hangingPunct="1">
                        <a:defRPr sz="1800" b="1" kern="1200">
                          <a:solidFill>
                            <a:schemeClr val="tx1"/>
                          </a:solidFill>
                        </a:defRPr>
                      </a:lvl1pPr>
                      <a:lvl2pPr marL="457200" algn="l" defTabSz="914400" rtl="0" eaLnBrk="1" latinLnBrk="0" hangingPunct="1">
                        <a:defRPr sz="1800" b="1" kern="1200">
                          <a:solidFill>
                            <a:schemeClr val="tx1"/>
                          </a:solidFill>
                        </a:defRPr>
                      </a:lvl2pPr>
                      <a:lvl3pPr marL="914400" algn="l" defTabSz="914400" rtl="0" eaLnBrk="1" latinLnBrk="0" hangingPunct="1">
                        <a:defRPr sz="1800" b="1" kern="1200">
                          <a:solidFill>
                            <a:schemeClr val="tx1"/>
                          </a:solidFill>
                        </a:defRPr>
                      </a:lvl3pPr>
                      <a:lvl4pPr marL="1371600" algn="l" defTabSz="914400" rtl="0" eaLnBrk="1" latinLnBrk="0" hangingPunct="1">
                        <a:defRPr sz="1800" b="1" kern="1200">
                          <a:solidFill>
                            <a:schemeClr val="tx1"/>
                          </a:solidFill>
                        </a:defRPr>
                      </a:lvl4pPr>
                      <a:lvl5pPr marL="1828800" algn="l" defTabSz="914400" rtl="0" eaLnBrk="1" latinLnBrk="0" hangingPunct="1">
                        <a:defRPr sz="1800" b="1" kern="1200">
                          <a:solidFill>
                            <a:schemeClr val="tx1"/>
                          </a:solidFill>
                        </a:defRPr>
                      </a:lvl5pPr>
                      <a:lvl6pPr marL="2286000" algn="l" defTabSz="914400" rtl="0" eaLnBrk="1" latinLnBrk="0" hangingPunct="1">
                        <a:defRPr sz="1800" b="1" kern="1200">
                          <a:solidFill>
                            <a:schemeClr val="tx1"/>
                          </a:solidFill>
                        </a:defRPr>
                      </a:lvl6pPr>
                      <a:lvl7pPr marL="2743200" algn="l" defTabSz="914400" rtl="0" eaLnBrk="1" latinLnBrk="0" hangingPunct="1">
                        <a:defRPr sz="1800" b="1" kern="1200">
                          <a:solidFill>
                            <a:schemeClr val="tx1"/>
                          </a:solidFill>
                        </a:defRPr>
                      </a:lvl7pPr>
                      <a:lvl8pPr marL="3200400" algn="l" defTabSz="914400" rtl="0" eaLnBrk="1" latinLnBrk="0" hangingPunct="1">
                        <a:defRPr sz="1800" b="1" kern="1200">
                          <a:solidFill>
                            <a:schemeClr val="tx1"/>
                          </a:solidFill>
                        </a:defRPr>
                      </a:lvl8pPr>
                      <a:lvl9pPr marL="3657600" algn="l" defTabSz="914400" rtl="0" eaLnBrk="1" latinLnBrk="0" hangingPunct="1">
                        <a:defRPr sz="1800" b="1" kern="1200">
                          <a:solidFill>
                            <a:schemeClr val="tx1"/>
                          </a:solidFill>
                        </a:defRPr>
                      </a:lvl9pPr>
                    </a:lstStyle>
                    <a:p>
                      <a:r>
                        <a:rPr lang="en-US" sz="1200"/>
                        <a:t>Marketing Investments</a:t>
                      </a:r>
                    </a:p>
                  </a:txBody>
                  <a:tcPr/>
                </a:tc>
                <a:tc>
                  <a:txBody>
                    <a:bodyPr/>
                    <a:lstStyle>
                      <a:lvl1pPr marL="0" algn="l" defTabSz="914400" rtl="0" eaLnBrk="1" latinLnBrk="0" hangingPunct="1">
                        <a:defRPr sz="1800" b="1" kern="1200">
                          <a:solidFill>
                            <a:schemeClr val="tx1"/>
                          </a:solidFill>
                        </a:defRPr>
                      </a:lvl1pPr>
                      <a:lvl2pPr marL="457200" algn="l" defTabSz="914400" rtl="0" eaLnBrk="1" latinLnBrk="0" hangingPunct="1">
                        <a:defRPr sz="1800" b="1" kern="1200">
                          <a:solidFill>
                            <a:schemeClr val="tx1"/>
                          </a:solidFill>
                        </a:defRPr>
                      </a:lvl2pPr>
                      <a:lvl3pPr marL="914400" algn="l" defTabSz="914400" rtl="0" eaLnBrk="1" latinLnBrk="0" hangingPunct="1">
                        <a:defRPr sz="1800" b="1" kern="1200">
                          <a:solidFill>
                            <a:schemeClr val="tx1"/>
                          </a:solidFill>
                        </a:defRPr>
                      </a:lvl3pPr>
                      <a:lvl4pPr marL="1371600" algn="l" defTabSz="914400" rtl="0" eaLnBrk="1" latinLnBrk="0" hangingPunct="1">
                        <a:defRPr sz="1800" b="1" kern="1200">
                          <a:solidFill>
                            <a:schemeClr val="tx1"/>
                          </a:solidFill>
                        </a:defRPr>
                      </a:lvl4pPr>
                      <a:lvl5pPr marL="1828800" algn="l" defTabSz="914400" rtl="0" eaLnBrk="1" latinLnBrk="0" hangingPunct="1">
                        <a:defRPr sz="1800" b="1" kern="1200">
                          <a:solidFill>
                            <a:schemeClr val="tx1"/>
                          </a:solidFill>
                        </a:defRPr>
                      </a:lvl5pPr>
                      <a:lvl6pPr marL="2286000" algn="l" defTabSz="914400" rtl="0" eaLnBrk="1" latinLnBrk="0" hangingPunct="1">
                        <a:defRPr sz="1800" b="1" kern="1200">
                          <a:solidFill>
                            <a:schemeClr val="tx1"/>
                          </a:solidFill>
                        </a:defRPr>
                      </a:lvl6pPr>
                      <a:lvl7pPr marL="2743200" algn="l" defTabSz="914400" rtl="0" eaLnBrk="1" latinLnBrk="0" hangingPunct="1">
                        <a:defRPr sz="1800" b="1" kern="1200">
                          <a:solidFill>
                            <a:schemeClr val="tx1"/>
                          </a:solidFill>
                        </a:defRPr>
                      </a:lvl7pPr>
                      <a:lvl8pPr marL="3200400" algn="l" defTabSz="914400" rtl="0" eaLnBrk="1" latinLnBrk="0" hangingPunct="1">
                        <a:defRPr sz="1800" b="1" kern="1200">
                          <a:solidFill>
                            <a:schemeClr val="tx1"/>
                          </a:solidFill>
                        </a:defRPr>
                      </a:lvl8pPr>
                      <a:lvl9pPr marL="3657600" algn="l" defTabSz="914400" rtl="0" eaLnBrk="1" latinLnBrk="0" hangingPunct="1">
                        <a:defRPr sz="1800" b="1" kern="1200">
                          <a:solidFill>
                            <a:schemeClr val="tx1"/>
                          </a:solidFill>
                        </a:defRPr>
                      </a:lvl9pPr>
                    </a:lstStyle>
                    <a:p>
                      <a:r>
                        <a:rPr lang="en-US" sz="1200"/>
                        <a:t>Transportation / Warehousing</a:t>
                      </a:r>
                    </a:p>
                  </a:txBody>
                  <a:tcPr/>
                </a:tc>
                <a:tc>
                  <a:txBody>
                    <a:bodyPr/>
                    <a:lstStyle/>
                    <a:p>
                      <a:pPr marL="0" algn="l" defTabSz="914400" rtl="0" eaLnBrk="1" latinLnBrk="0" hangingPunct="1"/>
                      <a:r>
                        <a:rPr lang="en-US" sz="1200" kern="1200"/>
                        <a:t>Price / Distribution Allowances</a:t>
                      </a:r>
                      <a:endParaRPr lang="en-US" sz="1200" b="1" kern="1200">
                        <a:solidFill>
                          <a:schemeClr val="tx1"/>
                        </a:solidFill>
                        <a:latin typeface="+mn-lt"/>
                        <a:ea typeface="+mn-ea"/>
                        <a:cs typeface="+mn-cs"/>
                      </a:endParaRPr>
                    </a:p>
                  </a:txBody>
                  <a:tcPr/>
                </a:tc>
                <a:extLst>
                  <a:ext uri="{0D108BD9-81ED-4DB2-BD59-A6C34878D82A}">
                    <a16:rowId xmlns:a16="http://schemas.microsoft.com/office/drawing/2014/main" val="287903113"/>
                  </a:ext>
                </a:extLst>
              </a:tr>
              <a:tr h="434215">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Calculation</a:t>
                      </a:r>
                      <a:r>
                        <a:rPr lang="en-US" sz="1200" baseline="0"/>
                        <a:t> basis</a:t>
                      </a:r>
                      <a:endParaRPr lang="en-US" sz="1200"/>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YTD net revenue</a:t>
                      </a:r>
                      <a:r>
                        <a:rPr lang="en-US" sz="1200" baseline="0"/>
                        <a:t> (gross revenue – excise and returns)</a:t>
                      </a:r>
                      <a:endParaRPr lang="en-US" sz="1200"/>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YTD volumes</a:t>
                      </a:r>
                      <a:endParaRPr lang="en-US" sz="120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a:ln>
                            <a:noFill/>
                          </a:ln>
                          <a:effectLst/>
                          <a:uLnTx/>
                          <a:uFillTx/>
                        </a:rPr>
                        <a:t>YTD net revenue (gross revenue – excise and returns)</a:t>
                      </a:r>
                      <a:endParaRPr lang="en-US" sz="1200">
                        <a:solidFill>
                          <a:srgbClr val="FF0000"/>
                        </a:solidFill>
                      </a:endParaRPr>
                    </a:p>
                  </a:txBody>
                  <a:tcPr/>
                </a:tc>
                <a:extLst>
                  <a:ext uri="{0D108BD9-81ED-4DB2-BD59-A6C34878D82A}">
                    <a16:rowId xmlns:a16="http://schemas.microsoft.com/office/drawing/2014/main" val="4245029678"/>
                  </a:ext>
                </a:extLst>
              </a:tr>
              <a:tr h="955274">
                <a:tc>
                  <a:txBody>
                    <a:bodyPr/>
                    <a:lstStyle/>
                    <a:p>
                      <a:r>
                        <a:rPr lang="en-US" sz="1200"/>
                        <a:t>Reference market hub</a:t>
                      </a:r>
                    </a:p>
                  </a:txBody>
                  <a:tcPr/>
                </a:tc>
                <a:tc>
                  <a:txBody>
                    <a:bodyPr/>
                    <a:lstStyle/>
                    <a:p>
                      <a:r>
                        <a:rPr lang="en-US" sz="1200" baseline="0" dirty="0"/>
                        <a:t>Used by profit centers where we have above brand contribution expenses, but don’t have 3rd party sales. This is mainly for Global Functions (G* profit centers) or Management profit centers (M*). </a:t>
                      </a:r>
                      <a:endParaRPr lang="en-US" sz="1200" dirty="0"/>
                    </a:p>
                  </a:txBody>
                  <a:tcPr/>
                </a:tc>
                <a:tc>
                  <a:txBody>
                    <a:bodyPr/>
                    <a:lstStyle/>
                    <a:p>
                      <a:r>
                        <a:rPr lang="en-US" sz="1200" baseline="0" dirty="0"/>
                        <a:t>Used by profit centers where we have above brand contribution expenses, but don’t have 3rd party sales. This is mainly for Global Functions (G* profit centers) or Management profit centers (M*). </a:t>
                      </a:r>
                      <a:endParaRPr lang="en-US" sz="1200" dirty="0"/>
                    </a:p>
                  </a:txBody>
                  <a:tcPr/>
                </a:tc>
                <a:tc>
                  <a:txBody>
                    <a:bodyPr/>
                    <a:lstStyle/>
                    <a:p>
                      <a:r>
                        <a:rPr lang="en-US" sz="1200" baseline="0" dirty="0"/>
                        <a:t>Used by profit centers where we have above brand contribution expenses, but don’t have 3rd party sales. This is mainly for Global Functions (G* profit centers) or Management profit centers (M*). </a:t>
                      </a:r>
                      <a:endParaRPr lang="en-US" sz="1200" dirty="0"/>
                    </a:p>
                  </a:txBody>
                  <a:tcPr/>
                </a:tc>
                <a:extLst>
                  <a:ext uri="{0D108BD9-81ED-4DB2-BD59-A6C34878D82A}">
                    <a16:rowId xmlns:a16="http://schemas.microsoft.com/office/drawing/2014/main" val="2176133434"/>
                  </a:ext>
                </a:extLst>
              </a:tr>
              <a:tr h="434215">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Characteristics</a:t>
                      </a:r>
                      <a:r>
                        <a:rPr lang="en-US" sz="1200" baseline="0"/>
                        <a:t> populated</a:t>
                      </a:r>
                      <a:endParaRPr lang="en-US" sz="1200"/>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Brand family and product type</a:t>
                      </a:r>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SKU, brand family, product type and</a:t>
                      </a:r>
                      <a:r>
                        <a:rPr lang="en-US" sz="1200" baseline="0"/>
                        <a:t> all others derived from SKU</a:t>
                      </a:r>
                      <a:endParaRPr lang="en-US"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SKU,</a:t>
                      </a:r>
                      <a:r>
                        <a:rPr lang="en-US" sz="1200" baseline="0"/>
                        <a:t> </a:t>
                      </a:r>
                      <a:r>
                        <a:rPr lang="en-US" sz="1200"/>
                        <a:t>brand family, product type and</a:t>
                      </a:r>
                      <a:r>
                        <a:rPr lang="en-US" sz="1200" baseline="0"/>
                        <a:t> all others derived from SKU</a:t>
                      </a:r>
                      <a:endParaRPr lang="en-US" sz="1200"/>
                    </a:p>
                  </a:txBody>
                  <a:tcPr/>
                </a:tc>
                <a:extLst>
                  <a:ext uri="{0D108BD9-81ED-4DB2-BD59-A6C34878D82A}">
                    <a16:rowId xmlns:a16="http://schemas.microsoft.com/office/drawing/2014/main" val="1026324840"/>
                  </a:ext>
                </a:extLst>
              </a:tr>
              <a:tr h="95527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Allocation criteria –</a:t>
                      </a:r>
                      <a:r>
                        <a:rPr lang="en-US" sz="1200" baseline="0"/>
                        <a:t> product types</a:t>
                      </a:r>
                      <a:endParaRPr lang="en-US" sz="1200"/>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buFont typeface="Courier New" panose="02070309020205020404" pitchFamily="49" charset="0"/>
                        <a:buChar char="o"/>
                      </a:pPr>
                      <a:r>
                        <a:rPr lang="en-US" sz="1200"/>
                        <a:t>All</a:t>
                      </a:r>
                      <a:r>
                        <a:rPr lang="en-US" sz="1200" baseline="0"/>
                        <a:t> product types</a:t>
                      </a:r>
                    </a:p>
                    <a:p>
                      <a:pPr marL="285750" indent="-285750">
                        <a:buFont typeface="Courier New" panose="02070309020205020404" pitchFamily="49" charset="0"/>
                        <a:buChar char="o"/>
                      </a:pPr>
                      <a:r>
                        <a:rPr lang="en-US" sz="1200" baseline="0"/>
                        <a:t>RMC</a:t>
                      </a:r>
                    </a:p>
                    <a:p>
                      <a:pPr marL="285750" indent="-285750">
                        <a:buFont typeface="Courier New" panose="02070309020205020404" pitchFamily="49" charset="0"/>
                        <a:buChar char="o"/>
                      </a:pPr>
                      <a:r>
                        <a:rPr lang="en-GB" sz="1200"/>
                        <a:t>F</a:t>
                      </a:r>
                      <a:r>
                        <a:rPr lang="en-US" sz="1200"/>
                        <a:t>CT</a:t>
                      </a:r>
                    </a:p>
                    <a:p>
                      <a:pPr marL="285750" indent="-285750">
                        <a:buFont typeface="Courier New" panose="02070309020205020404" pitchFamily="49" charset="0"/>
                        <a:buChar char="o"/>
                      </a:pPr>
                      <a:r>
                        <a:rPr lang="en-US" sz="1200"/>
                        <a:t>RMC / OTP / FCT</a:t>
                      </a:r>
                    </a:p>
                    <a:p>
                      <a:pPr marL="285750" indent="-285750">
                        <a:buFont typeface="Courier New" panose="02070309020205020404" pitchFamily="49" charset="0"/>
                        <a:buChar char="o"/>
                      </a:pPr>
                      <a:r>
                        <a:rPr lang="en-US" sz="1200"/>
                        <a:t>RRP</a:t>
                      </a:r>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buFont typeface="Courier New" panose="02070309020205020404" pitchFamily="49" charset="0"/>
                        <a:buChar char="o"/>
                      </a:pPr>
                      <a:r>
                        <a:rPr lang="en-US" sz="1200"/>
                        <a:t>All</a:t>
                      </a:r>
                      <a:r>
                        <a:rPr lang="en-US" sz="1200" baseline="0"/>
                        <a:t> product types</a:t>
                      </a:r>
                    </a:p>
                    <a:p>
                      <a:pPr marL="285750" indent="-285750">
                        <a:buFont typeface="Courier New" panose="02070309020205020404" pitchFamily="49" charset="0"/>
                        <a:buChar char="o"/>
                      </a:pPr>
                      <a:r>
                        <a:rPr lang="en-US" sz="1200" baseline="0"/>
                        <a:t>RMC</a:t>
                      </a:r>
                    </a:p>
                    <a:p>
                      <a:pPr marL="285750" indent="-285750">
                        <a:buFont typeface="Courier New" panose="02070309020205020404" pitchFamily="49" charset="0"/>
                        <a:buChar char="o"/>
                      </a:pPr>
                      <a:r>
                        <a:rPr lang="en-GB" sz="1200"/>
                        <a:t>F</a:t>
                      </a:r>
                      <a:r>
                        <a:rPr lang="en-US" sz="1200"/>
                        <a:t>CT</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a:t>RMC / OTP / FCT</a:t>
                      </a:r>
                    </a:p>
                    <a:p>
                      <a:pPr marL="285750" indent="-285750">
                        <a:buFont typeface="Courier New" panose="02070309020205020404" pitchFamily="49" charset="0"/>
                        <a:buChar char="o"/>
                      </a:pPr>
                      <a:r>
                        <a:rPr lang="en-US" sz="1200"/>
                        <a:t>RRP</a:t>
                      </a:r>
                    </a:p>
                  </a:txBody>
                  <a:tcPr/>
                </a:tc>
                <a:tc>
                  <a:txBody>
                    <a:bodyPr/>
                    <a:lstStyle/>
                    <a:p>
                      <a:pPr marL="285750" indent="-285750">
                        <a:buFont typeface="Courier New" panose="02070309020205020404" pitchFamily="49" charset="0"/>
                        <a:buChar char="o"/>
                      </a:pPr>
                      <a:r>
                        <a:rPr lang="en-US" sz="1200"/>
                        <a:t>All product types</a:t>
                      </a:r>
                    </a:p>
                    <a:p>
                      <a:pPr marL="285750" indent="-285750">
                        <a:buFont typeface="Courier New" panose="02070309020205020404" pitchFamily="49" charset="0"/>
                        <a:buChar char="o"/>
                      </a:pPr>
                      <a:r>
                        <a:rPr lang="en-US" sz="1200"/>
                        <a:t>RMC</a:t>
                      </a:r>
                    </a:p>
                    <a:p>
                      <a:pPr marL="285750" indent="-285750">
                        <a:buFont typeface="Courier New" panose="02070309020205020404" pitchFamily="49" charset="0"/>
                        <a:buChar char="o"/>
                      </a:pPr>
                      <a:r>
                        <a:rPr lang="en-GB" sz="1200"/>
                        <a:t>F</a:t>
                      </a:r>
                      <a:r>
                        <a:rPr lang="en-US" sz="1200"/>
                        <a:t>CT</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a:t>RMC / OTP / FCT</a:t>
                      </a:r>
                    </a:p>
                    <a:p>
                      <a:pPr marL="285750" indent="-285750">
                        <a:buFont typeface="Courier New" panose="02070309020205020404" pitchFamily="49" charset="0"/>
                        <a:buChar char="o"/>
                      </a:pPr>
                      <a:r>
                        <a:rPr lang="en-US" sz="1200"/>
                        <a:t>RRP</a:t>
                      </a:r>
                    </a:p>
                  </a:txBody>
                  <a:tcPr/>
                </a:tc>
                <a:extLst>
                  <a:ext uri="{0D108BD9-81ED-4DB2-BD59-A6C34878D82A}">
                    <a16:rowId xmlns:a16="http://schemas.microsoft.com/office/drawing/2014/main" val="3683083926"/>
                  </a:ext>
                </a:extLst>
              </a:tr>
              <a:tr h="955274">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200"/>
                        <a:t>Allocation criteria – brand family</a:t>
                      </a:r>
                    </a:p>
                    <a:p>
                      <a:endParaRPr lang="en-US" sz="1200"/>
                    </a:p>
                    <a:p>
                      <a:endParaRPr lang="en-US" sz="1200" i="1"/>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buFont typeface="Courier New" panose="02070309020205020404" pitchFamily="49" charset="0"/>
                        <a:buChar char="o"/>
                      </a:pPr>
                      <a:r>
                        <a:rPr lang="en-US" sz="1200"/>
                        <a:t>All brands (incl.</a:t>
                      </a:r>
                      <a:r>
                        <a:rPr lang="en-US" sz="1200" baseline="0"/>
                        <a:t> private labels)</a:t>
                      </a:r>
                    </a:p>
                    <a:p>
                      <a:pPr marL="285750" indent="-285750">
                        <a:buFont typeface="Courier New" panose="02070309020205020404" pitchFamily="49" charset="0"/>
                        <a:buChar char="o"/>
                      </a:pPr>
                      <a:r>
                        <a:rPr lang="en-US" sz="1200" baseline="0"/>
                        <a:t>All JTI brands</a:t>
                      </a:r>
                    </a:p>
                    <a:p>
                      <a:pPr marL="285750" indent="-285750">
                        <a:buFont typeface="Courier New" panose="02070309020205020404" pitchFamily="49" charset="0"/>
                        <a:buChar char="o"/>
                      </a:pPr>
                      <a:r>
                        <a:rPr lang="en-US" sz="1200" baseline="0"/>
                        <a:t>GFB and SFB</a:t>
                      </a:r>
                    </a:p>
                    <a:p>
                      <a:pPr marL="285750" indent="-285750">
                        <a:buFont typeface="Courier New" panose="02070309020205020404" pitchFamily="49" charset="0"/>
                        <a:buChar char="o"/>
                      </a:pPr>
                      <a:r>
                        <a:rPr lang="en-US" sz="1200" baseline="0"/>
                        <a:t>GFB</a:t>
                      </a:r>
                    </a:p>
                    <a:p>
                      <a:pPr marL="285750" indent="-285750">
                        <a:buFont typeface="Courier New" panose="02070309020205020404" pitchFamily="49" charset="0"/>
                        <a:buChar char="o"/>
                      </a:pPr>
                      <a:r>
                        <a:rPr lang="en-US" sz="1200" baseline="0"/>
                        <a:t>SFB</a:t>
                      </a:r>
                      <a:endParaRPr lang="en-US" sz="1200"/>
                    </a:p>
                  </a:txBody>
                  <a:tcPr/>
                </a:tc>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buFont typeface="Courier New" panose="02070309020205020404" pitchFamily="49" charset="0"/>
                        <a:buChar char="o"/>
                      </a:pPr>
                      <a:r>
                        <a:rPr lang="en-US" sz="1200"/>
                        <a:t>All brands (incl.</a:t>
                      </a:r>
                      <a:r>
                        <a:rPr lang="en-US" sz="1200" baseline="0"/>
                        <a:t> private labels)</a:t>
                      </a:r>
                    </a:p>
                    <a:p>
                      <a:pPr marL="285750" indent="-285750">
                        <a:buFont typeface="Courier New" panose="02070309020205020404" pitchFamily="49" charset="0"/>
                        <a:buChar char="o"/>
                      </a:pPr>
                      <a:r>
                        <a:rPr lang="en-US" sz="1200" baseline="0"/>
                        <a:t>All JTI brands</a:t>
                      </a:r>
                    </a:p>
                    <a:p>
                      <a:pPr marL="285750" indent="-285750">
                        <a:buFont typeface="Courier New" panose="02070309020205020404" pitchFamily="49" charset="0"/>
                        <a:buChar char="o"/>
                      </a:pPr>
                      <a:r>
                        <a:rPr lang="en-US" sz="1200" baseline="0"/>
                        <a:t>GFB and SFB</a:t>
                      </a:r>
                    </a:p>
                    <a:p>
                      <a:pPr marL="285750" indent="-285750">
                        <a:buFont typeface="Courier New" panose="02070309020205020404" pitchFamily="49" charset="0"/>
                        <a:buChar char="o"/>
                      </a:pPr>
                      <a:r>
                        <a:rPr lang="en-US" sz="1200" baseline="0"/>
                        <a:t>GFB</a:t>
                      </a:r>
                    </a:p>
                    <a:p>
                      <a:pPr marL="285750" indent="-285750">
                        <a:buFont typeface="Courier New" panose="02070309020205020404" pitchFamily="49" charset="0"/>
                        <a:buChar char="o"/>
                      </a:pPr>
                      <a:r>
                        <a:rPr lang="en-US" sz="1200" baseline="0"/>
                        <a:t>SFB</a:t>
                      </a:r>
                      <a:endParaRPr lang="en-US" sz="1200"/>
                    </a:p>
                  </a:txBody>
                  <a:tcPr/>
                </a:tc>
                <a:tc>
                  <a:txBody>
                    <a:bodyPr/>
                    <a:lstStyle/>
                    <a:p>
                      <a:pPr marL="285750" indent="-285750">
                        <a:buFont typeface="Courier New" panose="02070309020205020404" pitchFamily="49" charset="0"/>
                        <a:buChar char="o"/>
                      </a:pPr>
                      <a:r>
                        <a:rPr lang="en-US" sz="1200" dirty="0"/>
                        <a:t>All brands (incl. private labels)</a:t>
                      </a:r>
                    </a:p>
                    <a:p>
                      <a:pPr marL="285750" indent="-285750">
                        <a:buFont typeface="Courier New" panose="02070309020205020404" pitchFamily="49" charset="0"/>
                        <a:buChar char="o"/>
                      </a:pPr>
                      <a:r>
                        <a:rPr lang="en-US" sz="1200" dirty="0"/>
                        <a:t>All JTI brands</a:t>
                      </a:r>
                    </a:p>
                    <a:p>
                      <a:pPr marL="285750" indent="-285750">
                        <a:buFont typeface="Courier New" panose="02070309020205020404" pitchFamily="49" charset="0"/>
                        <a:buChar char="o"/>
                      </a:pPr>
                      <a:r>
                        <a:rPr lang="en-US" sz="1200" dirty="0"/>
                        <a:t>GFB and SFB</a:t>
                      </a:r>
                    </a:p>
                    <a:p>
                      <a:pPr marL="285750" indent="-285750">
                        <a:buFont typeface="Courier New" panose="02070309020205020404" pitchFamily="49" charset="0"/>
                        <a:buChar char="o"/>
                      </a:pPr>
                      <a:r>
                        <a:rPr lang="en-US" sz="1200" dirty="0"/>
                        <a:t>GFB</a:t>
                      </a:r>
                    </a:p>
                    <a:p>
                      <a:pPr marL="285750" indent="-285750">
                        <a:buFont typeface="Courier New" panose="02070309020205020404" pitchFamily="49" charset="0"/>
                        <a:buChar char="o"/>
                      </a:pPr>
                      <a:r>
                        <a:rPr lang="en-US" sz="1200" dirty="0"/>
                        <a:t>SFB</a:t>
                      </a:r>
                    </a:p>
                  </a:txBody>
                  <a:tcPr/>
                </a:tc>
                <a:extLst>
                  <a:ext uri="{0D108BD9-81ED-4DB2-BD59-A6C34878D82A}">
                    <a16:rowId xmlns:a16="http://schemas.microsoft.com/office/drawing/2014/main" val="1081775646"/>
                  </a:ext>
                </a:extLst>
              </a:tr>
            </a:tbl>
          </a:graphicData>
        </a:graphic>
      </p:graphicFrame>
      <p:sp>
        <p:nvSpPr>
          <p:cNvPr id="7" name="Rounded Rectangle 20">
            <a:extLst>
              <a:ext uri="{FF2B5EF4-FFF2-40B4-BE49-F238E27FC236}">
                <a16:creationId xmlns:a16="http://schemas.microsoft.com/office/drawing/2014/main" id="{F1F49CD9-2F3B-4890-AE4E-D89A1D352830}"/>
              </a:ext>
            </a:extLst>
          </p:cNvPr>
          <p:cNvSpPr/>
          <p:nvPr/>
        </p:nvSpPr>
        <p:spPr bwMode="auto">
          <a:xfrm>
            <a:off x="495299" y="1396205"/>
            <a:ext cx="11160328" cy="461770"/>
          </a:xfrm>
          <a:prstGeom prst="roundRect">
            <a:avLst/>
          </a:prstGeom>
          <a:ln/>
        </p:spPr>
        <p:style>
          <a:lnRef idx="1">
            <a:schemeClr val="accent1"/>
          </a:lnRef>
          <a:fillRef idx="2">
            <a:schemeClr val="accent1"/>
          </a:fillRef>
          <a:effectRef idx="1">
            <a:schemeClr val="accent1"/>
          </a:effectRef>
          <a:fontRef idx="minor">
            <a:schemeClr val="dk1"/>
          </a:fontRef>
        </p:style>
        <p:txBody>
          <a:bodyPr vert="horz" wrap="square" lIns="0" tIns="0" rIns="0" bIns="0" numCol="1" rtlCol="0" anchor="ctr" anchorCtr="1"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T</a:t>
            </a: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he automated settlement program for multi-brand WBS allocations will have the below features to determine how the costs should be allocated, and whether the allocation will impact SKU (plus all characteristics derived from SKU) or brand family and product type</a:t>
            </a:r>
          </a:p>
        </p:txBody>
      </p:sp>
      <p:sp>
        <p:nvSpPr>
          <p:cNvPr id="8" name="Rectangle 7">
            <a:extLst>
              <a:ext uri="{FF2B5EF4-FFF2-40B4-BE49-F238E27FC236}">
                <a16:creationId xmlns:a16="http://schemas.microsoft.com/office/drawing/2014/main" id="{21F98ACC-26D8-4A04-AEC8-CB400110F4C8}"/>
              </a:ext>
            </a:extLst>
          </p:cNvPr>
          <p:cNvSpPr/>
          <p:nvPr/>
        </p:nvSpPr>
        <p:spPr bwMode="auto">
          <a:xfrm>
            <a:off x="361934" y="6144364"/>
            <a:ext cx="11201405" cy="713636"/>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2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In cases where the above allocation keys are not appropriate, markets can manually enter a settlement rule on the WBS element master data (e.g. 50% Camel RMC, 50% Winston RMC). This approach is only recommended where the % allocation will not change every month. Manual entries with statistical WBS element will also be possible, with relevant CO-PA fields available to populate (such as where information comes from TME)</a:t>
            </a:r>
          </a:p>
        </p:txBody>
      </p:sp>
    </p:spTree>
    <p:extLst>
      <p:ext uri="{BB962C8B-B14F-4D97-AF65-F5344CB8AC3E}">
        <p14:creationId xmlns:p14="http://schemas.microsoft.com/office/powerpoint/2010/main" val="376715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9C747-21DC-402D-A463-3FA71D12CF80}"/>
              </a:ext>
            </a:extLst>
          </p:cNvPr>
          <p:cNvSpPr>
            <a:spLocks noGrp="1"/>
          </p:cNvSpPr>
          <p:nvPr>
            <p:ph idx="1"/>
          </p:nvPr>
        </p:nvSpPr>
        <p:spPr>
          <a:xfrm>
            <a:off x="515936" y="1532890"/>
            <a:ext cx="10345104" cy="4587081"/>
          </a:xfrm>
        </p:spPr>
        <p:txBody>
          <a:bodyPr/>
          <a:lstStyle/>
          <a:p>
            <a:r>
              <a:rPr lang="en-GB" dirty="0"/>
              <a:t>There are several different allocation keys that have been designed for Multi-brand allocations. These are groupings of different Brand Family/Product type dimensions (an example of some of these can be seen below). A full list can be found by link to </a:t>
            </a:r>
            <a:r>
              <a:rPr lang="en-GB" dirty="0">
                <a:hlinkClick r:id="rId2"/>
              </a:rPr>
              <a:t>WBS Allocation Keys and Accounts file</a:t>
            </a:r>
            <a:endParaRPr lang="en-GB" dirty="0"/>
          </a:p>
          <a:p>
            <a:r>
              <a:rPr lang="en-GB" dirty="0"/>
              <a:t> </a:t>
            </a:r>
            <a:endParaRPr lang="en-US" dirty="0"/>
          </a:p>
        </p:txBody>
      </p:sp>
      <p:sp>
        <p:nvSpPr>
          <p:cNvPr id="2" name="Title 1">
            <a:extLst>
              <a:ext uri="{FF2B5EF4-FFF2-40B4-BE49-F238E27FC236}">
                <a16:creationId xmlns:a16="http://schemas.microsoft.com/office/drawing/2014/main" id="{FC3B87E8-C242-4507-9ABA-7036644D7037}"/>
              </a:ext>
            </a:extLst>
          </p:cNvPr>
          <p:cNvSpPr>
            <a:spLocks noGrp="1"/>
          </p:cNvSpPr>
          <p:nvPr>
            <p:ph type="title"/>
          </p:nvPr>
        </p:nvSpPr>
        <p:spPr/>
        <p:txBody>
          <a:bodyPr/>
          <a:lstStyle/>
          <a:p>
            <a:r>
              <a:rPr lang="en-GB"/>
              <a:t>Allocation Keys – Examples	</a:t>
            </a:r>
            <a:endParaRPr lang="en-US"/>
          </a:p>
        </p:txBody>
      </p:sp>
      <p:sp>
        <p:nvSpPr>
          <p:cNvPr id="4" name="Footer Placeholder 3">
            <a:extLst>
              <a:ext uri="{FF2B5EF4-FFF2-40B4-BE49-F238E27FC236}">
                <a16:creationId xmlns:a16="http://schemas.microsoft.com/office/drawing/2014/main" id="{162021CB-EA1A-4759-9786-5A4DA8DB786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3E897F1-EBA4-4B38-9C91-7113D7D7C4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13064A3C-004C-46CA-9799-035F58E34420}"/>
              </a:ext>
            </a:extLst>
          </p:cNvPr>
          <p:cNvPicPr>
            <a:picLocks noChangeAspect="1"/>
          </p:cNvPicPr>
          <p:nvPr/>
        </p:nvPicPr>
        <p:blipFill>
          <a:blip r:embed="rId3"/>
          <a:stretch>
            <a:fillRect/>
          </a:stretch>
        </p:blipFill>
        <p:spPr>
          <a:xfrm>
            <a:off x="662204" y="2470811"/>
            <a:ext cx="10052567" cy="1778091"/>
          </a:xfrm>
          <a:prstGeom prst="rect">
            <a:avLst/>
          </a:prstGeom>
        </p:spPr>
      </p:pic>
      <p:pic>
        <p:nvPicPr>
          <p:cNvPr id="9" name="Picture 8">
            <a:extLst>
              <a:ext uri="{FF2B5EF4-FFF2-40B4-BE49-F238E27FC236}">
                <a16:creationId xmlns:a16="http://schemas.microsoft.com/office/drawing/2014/main" id="{E596606E-6A0C-4E24-A868-12303EFAD76B}"/>
              </a:ext>
            </a:extLst>
          </p:cNvPr>
          <p:cNvPicPr>
            <a:picLocks noChangeAspect="1"/>
          </p:cNvPicPr>
          <p:nvPr/>
        </p:nvPicPr>
        <p:blipFill>
          <a:blip r:embed="rId4"/>
          <a:stretch>
            <a:fillRect/>
          </a:stretch>
        </p:blipFill>
        <p:spPr>
          <a:xfrm>
            <a:off x="2408544" y="4398529"/>
            <a:ext cx="8306227" cy="1778091"/>
          </a:xfrm>
          <a:prstGeom prst="rect">
            <a:avLst/>
          </a:prstGeom>
        </p:spPr>
      </p:pic>
    </p:spTree>
    <p:extLst>
      <p:ext uri="{BB962C8B-B14F-4D97-AF65-F5344CB8AC3E}">
        <p14:creationId xmlns:p14="http://schemas.microsoft.com/office/powerpoint/2010/main" val="2331112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9963DA8A-FD2A-4169-924F-72A004D15BCF}"/>
              </a:ext>
            </a:extLst>
          </p:cNvPr>
          <p:cNvPicPr>
            <a:picLocks noChangeAspect="1"/>
          </p:cNvPicPr>
          <p:nvPr/>
        </p:nvPicPr>
        <p:blipFill>
          <a:blip r:embed="rId2"/>
          <a:stretch>
            <a:fillRect/>
          </a:stretch>
        </p:blipFill>
        <p:spPr>
          <a:xfrm>
            <a:off x="467575" y="2879435"/>
            <a:ext cx="4229594" cy="1675017"/>
          </a:xfrm>
          <a:prstGeom prst="rect">
            <a:avLst/>
          </a:prstGeom>
        </p:spPr>
      </p:pic>
      <p:sp>
        <p:nvSpPr>
          <p:cNvPr id="3" name="Content Placeholder 2">
            <a:extLst>
              <a:ext uri="{FF2B5EF4-FFF2-40B4-BE49-F238E27FC236}">
                <a16:creationId xmlns:a16="http://schemas.microsoft.com/office/drawing/2014/main" id="{A0F9C747-21DC-402D-A463-3FA71D12CF80}"/>
              </a:ext>
            </a:extLst>
          </p:cNvPr>
          <p:cNvSpPr>
            <a:spLocks noGrp="1"/>
          </p:cNvSpPr>
          <p:nvPr>
            <p:ph idx="1"/>
          </p:nvPr>
        </p:nvSpPr>
        <p:spPr>
          <a:xfrm>
            <a:off x="515936" y="1532890"/>
            <a:ext cx="10345104" cy="4587081"/>
          </a:xfrm>
        </p:spPr>
        <p:txBody>
          <a:bodyPr/>
          <a:lstStyle/>
          <a:p>
            <a:r>
              <a:rPr lang="en-GB"/>
              <a:t> </a:t>
            </a:r>
            <a:endParaRPr lang="en-US"/>
          </a:p>
        </p:txBody>
      </p:sp>
      <p:sp>
        <p:nvSpPr>
          <p:cNvPr id="2" name="Title 1">
            <a:extLst>
              <a:ext uri="{FF2B5EF4-FFF2-40B4-BE49-F238E27FC236}">
                <a16:creationId xmlns:a16="http://schemas.microsoft.com/office/drawing/2014/main" id="{FC3B87E8-C242-4507-9ABA-7036644D7037}"/>
              </a:ext>
            </a:extLst>
          </p:cNvPr>
          <p:cNvSpPr>
            <a:spLocks noGrp="1"/>
          </p:cNvSpPr>
          <p:nvPr>
            <p:ph type="title"/>
          </p:nvPr>
        </p:nvSpPr>
        <p:spPr/>
        <p:txBody>
          <a:bodyPr/>
          <a:lstStyle/>
          <a:p>
            <a:r>
              <a:rPr lang="en-GB"/>
              <a:t>Allocation Keys – Custom ZZZ</a:t>
            </a:r>
            <a:endParaRPr lang="en-US"/>
          </a:p>
        </p:txBody>
      </p:sp>
      <p:sp>
        <p:nvSpPr>
          <p:cNvPr id="5" name="Slide Number Placeholder 4">
            <a:extLst>
              <a:ext uri="{FF2B5EF4-FFF2-40B4-BE49-F238E27FC236}">
                <a16:creationId xmlns:a16="http://schemas.microsoft.com/office/drawing/2014/main" id="{73E897F1-EBA4-4B38-9C91-7113D7D7C4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28B4D736-C810-4C5A-BCC7-D3A8BC846270}"/>
              </a:ext>
            </a:extLst>
          </p:cNvPr>
          <p:cNvSpPr/>
          <p:nvPr/>
        </p:nvSpPr>
        <p:spPr>
          <a:xfrm>
            <a:off x="426720" y="1422743"/>
            <a:ext cx="10852080"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In cases where the above allocation keys are not appropriate, markets can manually enter a settlement rule on the WBS element master data (e.g. 50% Camel RMC, 50% Winston RMC). This approach is only recommended where the % allocation will not change every month. They assign Allocation Key ZZZ when creating the WBS element</a:t>
            </a: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773B5A81-6A76-447F-ACEB-EC9420245445}"/>
              </a:ext>
            </a:extLst>
          </p:cNvPr>
          <p:cNvPicPr>
            <a:picLocks noChangeAspect="1"/>
          </p:cNvPicPr>
          <p:nvPr/>
        </p:nvPicPr>
        <p:blipFill>
          <a:blip r:embed="rId3"/>
          <a:stretch>
            <a:fillRect/>
          </a:stretch>
        </p:blipFill>
        <p:spPr>
          <a:xfrm>
            <a:off x="2620049" y="2226281"/>
            <a:ext cx="2334615" cy="447629"/>
          </a:xfrm>
          <a:prstGeom prst="rect">
            <a:avLst/>
          </a:prstGeom>
        </p:spPr>
      </p:pic>
      <p:sp>
        <p:nvSpPr>
          <p:cNvPr id="11" name="Rectangle: Rounded Corners 10">
            <a:extLst>
              <a:ext uri="{FF2B5EF4-FFF2-40B4-BE49-F238E27FC236}">
                <a16:creationId xmlns:a16="http://schemas.microsoft.com/office/drawing/2014/main" id="{D01AE9BC-AC6C-472D-AEBB-FFB3E91283DC}"/>
              </a:ext>
            </a:extLst>
          </p:cNvPr>
          <p:cNvSpPr/>
          <p:nvPr/>
        </p:nvSpPr>
        <p:spPr>
          <a:xfrm>
            <a:off x="426720" y="2449329"/>
            <a:ext cx="2095990" cy="36938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CJ12 – Change WBS Master Data</a:t>
            </a:r>
          </a:p>
        </p:txBody>
      </p:sp>
      <p:sp>
        <p:nvSpPr>
          <p:cNvPr id="15" name="Rectangle: Rounded Corners 14">
            <a:extLst>
              <a:ext uri="{FF2B5EF4-FFF2-40B4-BE49-F238E27FC236}">
                <a16:creationId xmlns:a16="http://schemas.microsoft.com/office/drawing/2014/main" id="{921837EB-46C7-4357-967B-CC1EEA6023BC}"/>
              </a:ext>
            </a:extLst>
          </p:cNvPr>
          <p:cNvSpPr/>
          <p:nvPr/>
        </p:nvSpPr>
        <p:spPr>
          <a:xfrm>
            <a:off x="8391311" y="2996049"/>
            <a:ext cx="3597159" cy="3651607"/>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The settlement rule is created in CJ12 for the relevant WBS with allocation key ZZZ. Each month BSC run these to allocate costs according to the settlement rule created.</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Click Settlement Rule.</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 new window opens and here users assign the Category PSG (Profitability Segment) and the % split between Brand Family &amp; Product Type so in this example the first split is 40% and also the type of settlement. Periodic settles only the costs that occurred in that period. </a:t>
            </a:r>
            <a:r>
              <a:rPr lang="en-GB" sz="1100" dirty="0">
                <a:solidFill>
                  <a:srgbClr val="000000"/>
                </a:solidFill>
                <a:latin typeface="Arial" panose="020B0604020202020204"/>
              </a:rPr>
              <a:t>This is not advised as late postings will </a:t>
            </a:r>
            <a:r>
              <a:rPr lang="en-GB" sz="1100">
                <a:solidFill>
                  <a:srgbClr val="000000"/>
                </a:solidFill>
                <a:latin typeface="Arial" panose="020B0604020202020204"/>
              </a:rPr>
              <a:t>result in unallocated </a:t>
            </a:r>
            <a:r>
              <a:rPr lang="en-GB" sz="1100" dirty="0">
                <a:solidFill>
                  <a:srgbClr val="000000"/>
                </a:solidFill>
                <a:latin typeface="Arial" panose="020B0604020202020204"/>
              </a:rPr>
              <a:t>costs on WBS</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1" i="0" u="sng" strike="noStrike" kern="1200" cap="none" spc="0" normalizeH="0" baseline="0" noProof="0" dirty="0">
                <a:ln>
                  <a:noFill/>
                </a:ln>
                <a:solidFill>
                  <a:srgbClr val="000000"/>
                </a:solidFill>
                <a:effectLst/>
                <a:uLnTx/>
                <a:uFillTx/>
                <a:latin typeface="Arial" panose="020B0604020202020204"/>
                <a:ea typeface="+mn-ea"/>
                <a:cs typeface="+mn-cs"/>
              </a:rPr>
              <a:t>Please always use Full as this settles all costs that have not yet been settled even if they occur in a different month</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Double clicking on the line opens up another window where users can assign these values. Click on Profit. Segment</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Assignment to Brand Family/Product Type</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4" name="Picture 13">
            <a:extLst>
              <a:ext uri="{FF2B5EF4-FFF2-40B4-BE49-F238E27FC236}">
                <a16:creationId xmlns:a16="http://schemas.microsoft.com/office/drawing/2014/main" id="{DA4DD92B-3C94-4921-AD02-7C36E602A6A8}"/>
              </a:ext>
            </a:extLst>
          </p:cNvPr>
          <p:cNvPicPr>
            <a:picLocks noChangeAspect="1"/>
          </p:cNvPicPr>
          <p:nvPr/>
        </p:nvPicPr>
        <p:blipFill>
          <a:blip r:embed="rId4"/>
          <a:stretch>
            <a:fillRect/>
          </a:stretch>
        </p:blipFill>
        <p:spPr>
          <a:xfrm>
            <a:off x="4869394" y="4362929"/>
            <a:ext cx="3415972" cy="2385852"/>
          </a:xfrm>
          <a:prstGeom prst="rect">
            <a:avLst/>
          </a:prstGeom>
        </p:spPr>
      </p:pic>
      <p:pic>
        <p:nvPicPr>
          <p:cNvPr id="16" name="Picture 15">
            <a:extLst>
              <a:ext uri="{FF2B5EF4-FFF2-40B4-BE49-F238E27FC236}">
                <a16:creationId xmlns:a16="http://schemas.microsoft.com/office/drawing/2014/main" id="{C67F096B-412E-48B9-9D47-8A818FA11094}"/>
              </a:ext>
            </a:extLst>
          </p:cNvPr>
          <p:cNvPicPr>
            <a:picLocks noChangeAspect="1"/>
          </p:cNvPicPr>
          <p:nvPr/>
        </p:nvPicPr>
        <p:blipFill>
          <a:blip r:embed="rId5"/>
          <a:stretch>
            <a:fillRect/>
          </a:stretch>
        </p:blipFill>
        <p:spPr>
          <a:xfrm>
            <a:off x="4928893" y="3201595"/>
            <a:ext cx="3462418" cy="712659"/>
          </a:xfrm>
          <a:prstGeom prst="rect">
            <a:avLst/>
          </a:prstGeom>
        </p:spPr>
      </p:pic>
      <p:pic>
        <p:nvPicPr>
          <p:cNvPr id="17" name="Picture 16">
            <a:extLst>
              <a:ext uri="{FF2B5EF4-FFF2-40B4-BE49-F238E27FC236}">
                <a16:creationId xmlns:a16="http://schemas.microsoft.com/office/drawing/2014/main" id="{822F7A33-ECA3-4C3D-B520-00C00BFFD363}"/>
              </a:ext>
            </a:extLst>
          </p:cNvPr>
          <p:cNvPicPr>
            <a:picLocks noChangeAspect="1"/>
          </p:cNvPicPr>
          <p:nvPr/>
        </p:nvPicPr>
        <p:blipFill>
          <a:blip r:embed="rId6"/>
          <a:stretch>
            <a:fillRect/>
          </a:stretch>
        </p:blipFill>
        <p:spPr>
          <a:xfrm>
            <a:off x="5090457" y="2145918"/>
            <a:ext cx="6601708" cy="749006"/>
          </a:xfrm>
          <a:prstGeom prst="rect">
            <a:avLst/>
          </a:prstGeom>
        </p:spPr>
      </p:pic>
      <p:sp>
        <p:nvSpPr>
          <p:cNvPr id="18" name="TextBox 17">
            <a:extLst>
              <a:ext uri="{FF2B5EF4-FFF2-40B4-BE49-F238E27FC236}">
                <a16:creationId xmlns:a16="http://schemas.microsoft.com/office/drawing/2014/main" id="{82B8D8BB-10AF-4A5F-BD2F-0D1CED418C99}"/>
              </a:ext>
            </a:extLst>
          </p:cNvPr>
          <p:cNvSpPr txBox="1"/>
          <p:nvPr/>
        </p:nvSpPr>
        <p:spPr>
          <a:xfrm>
            <a:off x="1046480" y="3104796"/>
            <a:ext cx="284480" cy="2919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AFAA"/>
                </a:solidFill>
                <a:effectLst/>
                <a:uLnTx/>
                <a:uFillTx/>
                <a:latin typeface="Arial" panose="020B0604020202020204"/>
                <a:ea typeface="+mn-ea"/>
                <a:cs typeface="+mn-cs"/>
              </a:rPr>
              <a:t>1</a:t>
            </a:r>
            <a:endParaRPr kumimoji="0" lang="en-US" sz="1800" b="0" i="0" u="none" strike="noStrike" kern="1200" cap="none" spc="0" normalizeH="0" baseline="0" noProof="0" dirty="0">
              <a:ln>
                <a:noFill/>
              </a:ln>
              <a:solidFill>
                <a:srgbClr val="30AFAA"/>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E7651EFD-36CE-4BA2-9B22-50C0834ED9D7}"/>
              </a:ext>
            </a:extLst>
          </p:cNvPr>
          <p:cNvSpPr txBox="1"/>
          <p:nvPr/>
        </p:nvSpPr>
        <p:spPr>
          <a:xfrm>
            <a:off x="4949687" y="2101479"/>
            <a:ext cx="284480" cy="2919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AFAA"/>
                </a:solidFill>
                <a:effectLst/>
                <a:uLnTx/>
                <a:uFillTx/>
                <a:latin typeface="Arial" panose="020B0604020202020204"/>
                <a:ea typeface="+mn-ea"/>
                <a:cs typeface="+mn-cs"/>
              </a:rPr>
              <a:t>2</a:t>
            </a:r>
            <a:endParaRPr kumimoji="0" lang="en-US" sz="1800" b="0" i="0" u="none" strike="noStrike" kern="1200" cap="none" spc="0" normalizeH="0" baseline="0" noProof="0" dirty="0">
              <a:ln>
                <a:noFill/>
              </a:ln>
              <a:solidFill>
                <a:srgbClr val="30AFAA"/>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CA34ACD3-D4BD-4723-B8D4-D20CD7B1AB6A}"/>
              </a:ext>
            </a:extLst>
          </p:cNvPr>
          <p:cNvSpPr txBox="1"/>
          <p:nvPr/>
        </p:nvSpPr>
        <p:spPr>
          <a:xfrm>
            <a:off x="5809118" y="3096251"/>
            <a:ext cx="284480" cy="2919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AFAA"/>
                </a:solidFill>
                <a:effectLst/>
                <a:uLnTx/>
                <a:uFillTx/>
                <a:latin typeface="Arial" panose="020B0604020202020204"/>
                <a:ea typeface="+mn-ea"/>
                <a:cs typeface="+mn-cs"/>
              </a:rPr>
              <a:t>3</a:t>
            </a:r>
            <a:endParaRPr kumimoji="0" lang="en-US" sz="1800" b="0" i="0" u="none" strike="noStrike" kern="1200" cap="none" spc="0" normalizeH="0" baseline="0" noProof="0" dirty="0">
              <a:ln>
                <a:noFill/>
              </a:ln>
              <a:solidFill>
                <a:srgbClr val="30AFAA"/>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496D45B7-C10A-4056-B75C-DF2D063E41B1}"/>
              </a:ext>
            </a:extLst>
          </p:cNvPr>
          <p:cNvSpPr txBox="1"/>
          <p:nvPr/>
        </p:nvSpPr>
        <p:spPr>
          <a:xfrm>
            <a:off x="5878760" y="4605617"/>
            <a:ext cx="284480" cy="29196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0AFAA"/>
                </a:solidFill>
                <a:effectLst/>
                <a:uLnTx/>
                <a:uFillTx/>
                <a:latin typeface="Arial" panose="020B0604020202020204"/>
                <a:ea typeface="+mn-ea"/>
                <a:cs typeface="+mn-cs"/>
              </a:rPr>
              <a:t>4</a:t>
            </a:r>
            <a:endParaRPr kumimoji="0" lang="en-US" sz="1800" b="0" i="0" u="none" strike="noStrike" kern="1200" cap="none" spc="0" normalizeH="0" baseline="0" noProof="0" err="1">
              <a:ln>
                <a:noFill/>
              </a:ln>
              <a:solidFill>
                <a:srgbClr val="30AFAA"/>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D146F05B-7EF7-4491-AAB3-E6DCED693A4E}"/>
              </a:ext>
            </a:extLst>
          </p:cNvPr>
          <p:cNvSpPr/>
          <p:nvPr/>
        </p:nvSpPr>
        <p:spPr>
          <a:xfrm>
            <a:off x="467574" y="4816373"/>
            <a:ext cx="4335540" cy="1569660"/>
          </a:xfrm>
          <a:prstGeom prst="rect">
            <a:avLst/>
          </a:prstGeom>
          <a:ln w="34925">
            <a:solidFill>
              <a:srgbClr val="FFC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Please be advised that users should use the </a:t>
            </a:r>
            <a:r>
              <a:rPr kumimoji="0" lang="en-US" sz="24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FUL</a:t>
            </a:r>
            <a:r>
              <a:rPr kumimoji="0" lang="en-US" sz="2400"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 settlement type and not PER (which the systems currently defaults to)</a:t>
            </a: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Arrow: Right 6">
            <a:extLst>
              <a:ext uri="{FF2B5EF4-FFF2-40B4-BE49-F238E27FC236}">
                <a16:creationId xmlns:a16="http://schemas.microsoft.com/office/drawing/2014/main" id="{45E1DB61-E0AB-4086-85B2-234D8932F47D}"/>
              </a:ext>
            </a:extLst>
          </p:cNvPr>
          <p:cNvSpPr/>
          <p:nvPr/>
        </p:nvSpPr>
        <p:spPr>
          <a:xfrm rot="20387429">
            <a:off x="3141441" y="3714889"/>
            <a:ext cx="6280808" cy="45719"/>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445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33B4-2E3E-4FCD-8F01-AF1BFAE1C9D9}"/>
              </a:ext>
            </a:extLst>
          </p:cNvPr>
          <p:cNvSpPr>
            <a:spLocks noGrp="1"/>
          </p:cNvSpPr>
          <p:nvPr>
            <p:ph type="title"/>
          </p:nvPr>
        </p:nvSpPr>
        <p:spPr/>
        <p:txBody>
          <a:bodyPr/>
          <a:lstStyle/>
          <a:p>
            <a:r>
              <a:rPr lang="en-GB"/>
              <a:t>Results of Multi-brand WBS settlement</a:t>
            </a:r>
            <a:endParaRPr lang="en-US"/>
          </a:p>
        </p:txBody>
      </p:sp>
      <p:sp>
        <p:nvSpPr>
          <p:cNvPr id="4" name="Footer Placeholder 3">
            <a:extLst>
              <a:ext uri="{FF2B5EF4-FFF2-40B4-BE49-F238E27FC236}">
                <a16:creationId xmlns:a16="http://schemas.microsoft.com/office/drawing/2014/main" id="{BBFE033A-947B-4C9F-B5C6-87AF5992D96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64381430-5527-4641-9B43-B5AD7C613E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ound Single Corner Rectangle 7">
            <a:extLst>
              <a:ext uri="{FF2B5EF4-FFF2-40B4-BE49-F238E27FC236}">
                <a16:creationId xmlns:a16="http://schemas.microsoft.com/office/drawing/2014/main" id="{4BC4977E-D605-4329-BA60-3FEB44DCF732}"/>
              </a:ext>
            </a:extLst>
          </p:cNvPr>
          <p:cNvSpPr/>
          <p:nvPr/>
        </p:nvSpPr>
        <p:spPr bwMode="auto">
          <a:xfrm>
            <a:off x="620062" y="1665516"/>
            <a:ext cx="11137598" cy="4824418"/>
          </a:xfrm>
          <a:prstGeom prst="round1Rect">
            <a:avLst/>
          </a:prstGeom>
          <a:solidFill>
            <a:srgbClr val="D5EBE6"/>
          </a:solidFill>
          <a:ln w="12700" cap="flat" cmpd="sng" algn="ctr">
            <a:solidFill>
              <a:srgbClr val="D5EBE6">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24" name="TextBox 23">
            <a:extLst>
              <a:ext uri="{FF2B5EF4-FFF2-40B4-BE49-F238E27FC236}">
                <a16:creationId xmlns:a16="http://schemas.microsoft.com/office/drawing/2014/main" id="{B0051A53-679B-46CE-9003-409EA76AC04F}"/>
              </a:ext>
            </a:extLst>
          </p:cNvPr>
          <p:cNvSpPr txBox="1"/>
          <p:nvPr/>
        </p:nvSpPr>
        <p:spPr>
          <a:xfrm>
            <a:off x="810705" y="2786035"/>
            <a:ext cx="10504994" cy="3553808"/>
          </a:xfrm>
          <a:prstGeom prst="rect">
            <a:avLst/>
          </a:prstGeom>
          <a:solidFill>
            <a:srgbClr val="FFFFFF"/>
          </a:solidFill>
          <a:ln w="12700" cap="flat" cmpd="sng" algn="ctr">
            <a:solidFill>
              <a:srgbClr val="39454B"/>
            </a:solidFill>
            <a:prstDash val="solid"/>
            <a:miter lim="800000"/>
          </a:ln>
          <a:effectLst/>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39454B"/>
              </a:solidFill>
              <a:effectLst/>
              <a:uLnTx/>
              <a:uFillTx/>
              <a:latin typeface="Arial"/>
              <a:ea typeface="ＭＳ Ｐゴシック" pitchFamily="80" charset="-128"/>
              <a:cs typeface="+mn-cs"/>
            </a:endParaRPr>
          </a:p>
        </p:txBody>
      </p:sp>
      <p:grpSp>
        <p:nvGrpSpPr>
          <p:cNvPr id="25" name="Group 24">
            <a:extLst>
              <a:ext uri="{FF2B5EF4-FFF2-40B4-BE49-F238E27FC236}">
                <a16:creationId xmlns:a16="http://schemas.microsoft.com/office/drawing/2014/main" id="{FFC12E62-4442-41D0-A16C-7D416DFB3BD6}"/>
              </a:ext>
            </a:extLst>
          </p:cNvPr>
          <p:cNvGrpSpPr/>
          <p:nvPr/>
        </p:nvGrpSpPr>
        <p:grpSpPr>
          <a:xfrm>
            <a:off x="1039305" y="3144175"/>
            <a:ext cx="3868790" cy="3055620"/>
            <a:chOff x="1039305" y="2801272"/>
            <a:chExt cx="3868790" cy="3055620"/>
          </a:xfrm>
        </p:grpSpPr>
        <p:grpSp>
          <p:nvGrpSpPr>
            <p:cNvPr id="26" name="Group 25">
              <a:extLst>
                <a:ext uri="{FF2B5EF4-FFF2-40B4-BE49-F238E27FC236}">
                  <a16:creationId xmlns:a16="http://schemas.microsoft.com/office/drawing/2014/main" id="{B92E1C17-BA38-44A1-933F-319C80B73313}"/>
                </a:ext>
              </a:extLst>
            </p:cNvPr>
            <p:cNvGrpSpPr/>
            <p:nvPr/>
          </p:nvGrpSpPr>
          <p:grpSpPr>
            <a:xfrm>
              <a:off x="1039305" y="2801272"/>
              <a:ext cx="2697480" cy="3055620"/>
              <a:chOff x="1039305" y="2801272"/>
              <a:chExt cx="2697480" cy="3055620"/>
            </a:xfrm>
          </p:grpSpPr>
          <p:grpSp>
            <p:nvGrpSpPr>
              <p:cNvPr id="29" name="Group 28">
                <a:extLst>
                  <a:ext uri="{FF2B5EF4-FFF2-40B4-BE49-F238E27FC236}">
                    <a16:creationId xmlns:a16="http://schemas.microsoft.com/office/drawing/2014/main" id="{AD5A44A3-EFDC-4924-B26F-C9DA1E73DA99}"/>
                  </a:ext>
                </a:extLst>
              </p:cNvPr>
              <p:cNvGrpSpPr/>
              <p:nvPr/>
            </p:nvGrpSpPr>
            <p:grpSpPr>
              <a:xfrm>
                <a:off x="1039305" y="2801272"/>
                <a:ext cx="2697480" cy="3055620"/>
                <a:chOff x="1039305" y="2801272"/>
                <a:chExt cx="2697480" cy="3055620"/>
              </a:xfrm>
            </p:grpSpPr>
            <p:sp>
              <p:nvSpPr>
                <p:cNvPr id="44" name="TextBox 43">
                  <a:extLst>
                    <a:ext uri="{FF2B5EF4-FFF2-40B4-BE49-F238E27FC236}">
                      <a16:creationId xmlns:a16="http://schemas.microsoft.com/office/drawing/2014/main" id="{1D1CA2B5-FD01-45FF-8E1E-58084CC95BFF}"/>
                    </a:ext>
                  </a:extLst>
                </p:cNvPr>
                <p:cNvSpPr txBox="1"/>
                <p:nvPr/>
              </p:nvSpPr>
              <p:spPr>
                <a:xfrm>
                  <a:off x="1039305" y="2801272"/>
                  <a:ext cx="2697480" cy="3055620"/>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p:txBody>
            </p:sp>
            <p:sp>
              <p:nvSpPr>
                <p:cNvPr id="45" name="TextBox 44">
                  <a:extLst>
                    <a:ext uri="{FF2B5EF4-FFF2-40B4-BE49-F238E27FC236}">
                      <a16:creationId xmlns:a16="http://schemas.microsoft.com/office/drawing/2014/main" id="{D7A72B8A-5021-47CE-843B-EE6BF3DFDF22}"/>
                    </a:ext>
                  </a:extLst>
                </p:cNvPr>
                <p:cNvSpPr txBox="1"/>
                <p:nvPr/>
              </p:nvSpPr>
              <p:spPr>
                <a:xfrm>
                  <a:off x="1868411" y="2900885"/>
                  <a:ext cx="808297"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0100358.0001</a:t>
                  </a:r>
                </a:p>
              </p:txBody>
            </p:sp>
            <p:sp>
              <p:nvSpPr>
                <p:cNvPr id="46" name="TextBox 45">
                  <a:extLst>
                    <a:ext uri="{FF2B5EF4-FFF2-40B4-BE49-F238E27FC236}">
                      <a16:creationId xmlns:a16="http://schemas.microsoft.com/office/drawing/2014/main" id="{34AC6858-7D9A-414E-BEE4-FE84C6D87011}"/>
                    </a:ext>
                  </a:extLst>
                </p:cNvPr>
                <p:cNvSpPr txBox="1"/>
                <p:nvPr/>
              </p:nvSpPr>
              <p:spPr>
                <a:xfrm>
                  <a:off x="1108460" y="2900885"/>
                  <a:ext cx="738565" cy="19139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WBS element</a:t>
                  </a:r>
                </a:p>
              </p:txBody>
            </p:sp>
            <p:sp>
              <p:nvSpPr>
                <p:cNvPr id="47" name="TextBox 46">
                  <a:extLst>
                    <a:ext uri="{FF2B5EF4-FFF2-40B4-BE49-F238E27FC236}">
                      <a16:creationId xmlns:a16="http://schemas.microsoft.com/office/drawing/2014/main" id="{25CDC8E3-4849-41A6-AAD1-15C5B573899E}"/>
                    </a:ext>
                  </a:extLst>
                </p:cNvPr>
                <p:cNvSpPr txBox="1"/>
                <p:nvPr/>
              </p:nvSpPr>
              <p:spPr>
                <a:xfrm>
                  <a:off x="2760651" y="2900885"/>
                  <a:ext cx="861779"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Mkt info system</a:t>
                  </a:r>
                </a:p>
              </p:txBody>
            </p:sp>
            <p:sp>
              <p:nvSpPr>
                <p:cNvPr id="48" name="TextBox 47">
                  <a:extLst>
                    <a:ext uri="{FF2B5EF4-FFF2-40B4-BE49-F238E27FC236}">
                      <a16:creationId xmlns:a16="http://schemas.microsoft.com/office/drawing/2014/main" id="{25D7818C-E25D-43B2-83A9-71AB6A5CCA95}"/>
                    </a:ext>
                  </a:extLst>
                </p:cNvPr>
                <p:cNvSpPr txBox="1"/>
                <p:nvPr/>
              </p:nvSpPr>
              <p:spPr>
                <a:xfrm>
                  <a:off x="1108460" y="3200707"/>
                  <a:ext cx="738565" cy="19139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Type</a:t>
                  </a:r>
                </a:p>
              </p:txBody>
            </p:sp>
            <p:sp>
              <p:nvSpPr>
                <p:cNvPr id="49" name="TextBox 48">
                  <a:extLst>
                    <a:ext uri="{FF2B5EF4-FFF2-40B4-BE49-F238E27FC236}">
                      <a16:creationId xmlns:a16="http://schemas.microsoft.com/office/drawing/2014/main" id="{2B33DDAB-A4DC-4B0B-8569-17D32C8613C7}"/>
                    </a:ext>
                  </a:extLst>
                </p:cNvPr>
                <p:cNvSpPr txBox="1"/>
                <p:nvPr/>
              </p:nvSpPr>
              <p:spPr>
                <a:xfrm>
                  <a:off x="1868410" y="3205198"/>
                  <a:ext cx="1754020"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Multi-brand</a:t>
                  </a:r>
                </a:p>
              </p:txBody>
            </p:sp>
          </p:grpSp>
          <p:grpSp>
            <p:nvGrpSpPr>
              <p:cNvPr id="30" name="Group 29">
                <a:extLst>
                  <a:ext uri="{FF2B5EF4-FFF2-40B4-BE49-F238E27FC236}">
                    <a16:creationId xmlns:a16="http://schemas.microsoft.com/office/drawing/2014/main" id="{A0B0B252-285B-45B0-8C07-0CDD05E1280F}"/>
                  </a:ext>
                </a:extLst>
              </p:cNvPr>
              <p:cNvGrpSpPr/>
              <p:nvPr/>
            </p:nvGrpSpPr>
            <p:grpSpPr>
              <a:xfrm>
                <a:off x="1108460" y="4641492"/>
                <a:ext cx="1568248" cy="513528"/>
                <a:chOff x="1108460" y="4641492"/>
                <a:chExt cx="1568248" cy="513528"/>
              </a:xfrm>
            </p:grpSpPr>
            <p:sp>
              <p:nvSpPr>
                <p:cNvPr id="40" name="TextBox 39">
                  <a:extLst>
                    <a:ext uri="{FF2B5EF4-FFF2-40B4-BE49-F238E27FC236}">
                      <a16:creationId xmlns:a16="http://schemas.microsoft.com/office/drawing/2014/main" id="{C5CA6E88-2C22-4576-9DFC-DD242EE841FD}"/>
                    </a:ext>
                  </a:extLst>
                </p:cNvPr>
                <p:cNvSpPr txBox="1"/>
                <p:nvPr/>
              </p:nvSpPr>
              <p:spPr>
                <a:xfrm>
                  <a:off x="1108460" y="4641492"/>
                  <a:ext cx="738565" cy="241085"/>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Company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code</a:t>
                  </a:r>
                </a:p>
              </p:txBody>
            </p:sp>
            <p:sp>
              <p:nvSpPr>
                <p:cNvPr id="41" name="TextBox 40">
                  <a:extLst>
                    <a:ext uri="{FF2B5EF4-FFF2-40B4-BE49-F238E27FC236}">
                      <a16:creationId xmlns:a16="http://schemas.microsoft.com/office/drawing/2014/main" id="{8197A9E8-7DB7-41C4-9329-598F80F50BF5}"/>
                    </a:ext>
                  </a:extLst>
                </p:cNvPr>
                <p:cNvSpPr txBox="1"/>
                <p:nvPr/>
              </p:nvSpPr>
              <p:spPr>
                <a:xfrm>
                  <a:off x="1868411" y="4641492"/>
                  <a:ext cx="808297"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2101</a:t>
                  </a:r>
                </a:p>
              </p:txBody>
            </p:sp>
            <p:sp>
              <p:nvSpPr>
                <p:cNvPr id="42" name="TextBox 41">
                  <a:extLst>
                    <a:ext uri="{FF2B5EF4-FFF2-40B4-BE49-F238E27FC236}">
                      <a16:creationId xmlns:a16="http://schemas.microsoft.com/office/drawing/2014/main" id="{73641094-44DC-44F0-8A9D-74327813FBCE}"/>
                    </a:ext>
                  </a:extLst>
                </p:cNvPr>
                <p:cNvSpPr txBox="1"/>
                <p:nvPr/>
              </p:nvSpPr>
              <p:spPr>
                <a:xfrm>
                  <a:off x="1108460" y="4940509"/>
                  <a:ext cx="738565" cy="19139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Profit center</a:t>
                  </a:r>
                </a:p>
              </p:txBody>
            </p:sp>
            <p:sp>
              <p:nvSpPr>
                <p:cNvPr id="43" name="TextBox 42">
                  <a:extLst>
                    <a:ext uri="{FF2B5EF4-FFF2-40B4-BE49-F238E27FC236}">
                      <a16:creationId xmlns:a16="http://schemas.microsoft.com/office/drawing/2014/main" id="{65385213-30D3-40CD-A3FC-3EA695BD7098}"/>
                    </a:ext>
                  </a:extLst>
                </p:cNvPr>
                <p:cNvSpPr txBox="1"/>
                <p:nvPr/>
              </p:nvSpPr>
              <p:spPr>
                <a:xfrm>
                  <a:off x="1868411" y="4938893"/>
                  <a:ext cx="808297"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GB00</a:t>
                  </a:r>
                </a:p>
              </p:txBody>
            </p:sp>
          </p:grpSp>
          <p:grpSp>
            <p:nvGrpSpPr>
              <p:cNvPr id="31" name="Group 30">
                <a:extLst>
                  <a:ext uri="{FF2B5EF4-FFF2-40B4-BE49-F238E27FC236}">
                    <a16:creationId xmlns:a16="http://schemas.microsoft.com/office/drawing/2014/main" id="{FD189255-CD89-4267-A482-49F7A960754A}"/>
                  </a:ext>
                </a:extLst>
              </p:cNvPr>
              <p:cNvGrpSpPr/>
              <p:nvPr/>
            </p:nvGrpSpPr>
            <p:grpSpPr>
              <a:xfrm>
                <a:off x="1108460" y="5231180"/>
                <a:ext cx="1568248" cy="260557"/>
                <a:chOff x="1108460" y="5231180"/>
                <a:chExt cx="1568248" cy="260557"/>
              </a:xfrm>
            </p:grpSpPr>
            <p:sp>
              <p:nvSpPr>
                <p:cNvPr id="38" name="TextBox 37">
                  <a:extLst>
                    <a:ext uri="{FF2B5EF4-FFF2-40B4-BE49-F238E27FC236}">
                      <a16:creationId xmlns:a16="http://schemas.microsoft.com/office/drawing/2014/main" id="{35BAE7E0-594C-46A8-86B3-13855570DA6F}"/>
                    </a:ext>
                  </a:extLst>
                </p:cNvPr>
                <p:cNvSpPr txBox="1"/>
                <p:nvPr/>
              </p:nvSpPr>
              <p:spPr>
                <a:xfrm>
                  <a:off x="1108460" y="5231180"/>
                  <a:ext cx="738565" cy="260557"/>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Responsible cost center</a:t>
                  </a:r>
                </a:p>
              </p:txBody>
            </p:sp>
            <p:sp>
              <p:nvSpPr>
                <p:cNvPr id="39" name="TextBox 38">
                  <a:extLst>
                    <a:ext uri="{FF2B5EF4-FFF2-40B4-BE49-F238E27FC236}">
                      <a16:creationId xmlns:a16="http://schemas.microsoft.com/office/drawing/2014/main" id="{41B705B7-830E-4C05-8D1E-C815E67EA992}"/>
                    </a:ext>
                  </a:extLst>
                </p:cNvPr>
                <p:cNvSpPr txBox="1"/>
                <p:nvPr/>
              </p:nvSpPr>
              <p:spPr>
                <a:xfrm>
                  <a:off x="1868411" y="5236295"/>
                  <a:ext cx="808297"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43252</a:t>
                  </a:r>
                </a:p>
              </p:txBody>
            </p:sp>
          </p:grpSp>
          <p:grpSp>
            <p:nvGrpSpPr>
              <p:cNvPr id="32" name="Group 31">
                <a:extLst>
                  <a:ext uri="{FF2B5EF4-FFF2-40B4-BE49-F238E27FC236}">
                    <a16:creationId xmlns:a16="http://schemas.microsoft.com/office/drawing/2014/main" id="{7B0569A1-3BD1-4EBA-BE06-67D0D03C9A32}"/>
                  </a:ext>
                </a:extLst>
              </p:cNvPr>
              <p:cNvGrpSpPr/>
              <p:nvPr/>
            </p:nvGrpSpPr>
            <p:grpSpPr>
              <a:xfrm>
                <a:off x="1108460" y="3500155"/>
                <a:ext cx="2513970" cy="299017"/>
                <a:chOff x="1108460" y="3500155"/>
                <a:chExt cx="2513970" cy="299017"/>
              </a:xfrm>
            </p:grpSpPr>
            <p:sp>
              <p:nvSpPr>
                <p:cNvPr id="36" name="TextBox 35">
                  <a:extLst>
                    <a:ext uri="{FF2B5EF4-FFF2-40B4-BE49-F238E27FC236}">
                      <a16:creationId xmlns:a16="http://schemas.microsoft.com/office/drawing/2014/main" id="{30E391D0-159F-4EB8-87EB-F986B97B4FDE}"/>
                    </a:ext>
                  </a:extLst>
                </p:cNvPr>
                <p:cNvSpPr txBox="1"/>
                <p:nvPr/>
              </p:nvSpPr>
              <p:spPr>
                <a:xfrm>
                  <a:off x="1108460" y="3500155"/>
                  <a:ext cx="738565" cy="299017"/>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Allocation key</a:t>
                  </a:r>
                </a:p>
              </p:txBody>
            </p:sp>
            <p:sp>
              <p:nvSpPr>
                <p:cNvPr id="37" name="TextBox 36">
                  <a:extLst>
                    <a:ext uri="{FF2B5EF4-FFF2-40B4-BE49-F238E27FC236}">
                      <a16:creationId xmlns:a16="http://schemas.microsoft.com/office/drawing/2014/main" id="{B08B6087-1441-4A65-B612-33B5B42E9576}"/>
                    </a:ext>
                  </a:extLst>
                </p:cNvPr>
                <p:cNvSpPr txBox="1"/>
                <p:nvPr/>
              </p:nvSpPr>
              <p:spPr>
                <a:xfrm>
                  <a:off x="1868410" y="3540210"/>
                  <a:ext cx="1754020" cy="231841"/>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All JTI_RMC / OTP / FCT</a:t>
                  </a:r>
                </a:p>
              </p:txBody>
            </p:sp>
          </p:grpSp>
          <p:grpSp>
            <p:nvGrpSpPr>
              <p:cNvPr id="33" name="Group 32">
                <a:extLst>
                  <a:ext uri="{FF2B5EF4-FFF2-40B4-BE49-F238E27FC236}">
                    <a16:creationId xmlns:a16="http://schemas.microsoft.com/office/drawing/2014/main" id="{D74C4082-6F3B-4022-8B38-A4103340FEE4}"/>
                  </a:ext>
                </a:extLst>
              </p:cNvPr>
              <p:cNvGrpSpPr/>
              <p:nvPr/>
            </p:nvGrpSpPr>
            <p:grpSpPr>
              <a:xfrm>
                <a:off x="1108460" y="3903413"/>
                <a:ext cx="2513970" cy="272151"/>
                <a:chOff x="1108460" y="3903413"/>
                <a:chExt cx="2513970" cy="272151"/>
              </a:xfrm>
            </p:grpSpPr>
            <p:sp>
              <p:nvSpPr>
                <p:cNvPr id="34" name="TextBox 33">
                  <a:extLst>
                    <a:ext uri="{FF2B5EF4-FFF2-40B4-BE49-F238E27FC236}">
                      <a16:creationId xmlns:a16="http://schemas.microsoft.com/office/drawing/2014/main" id="{687D86A0-133A-4BD8-849E-0B8B64EA1627}"/>
                    </a:ext>
                  </a:extLst>
                </p:cNvPr>
                <p:cNvSpPr txBox="1"/>
                <p:nvPr/>
              </p:nvSpPr>
              <p:spPr>
                <a:xfrm>
                  <a:off x="1108460" y="3903413"/>
                  <a:ext cx="738565" cy="27215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Reference market hub</a:t>
                  </a:r>
                </a:p>
              </p:txBody>
            </p:sp>
            <p:sp>
              <p:nvSpPr>
                <p:cNvPr id="35" name="TextBox 34">
                  <a:extLst>
                    <a:ext uri="{FF2B5EF4-FFF2-40B4-BE49-F238E27FC236}">
                      <a16:creationId xmlns:a16="http://schemas.microsoft.com/office/drawing/2014/main" id="{F08BD0B4-E862-4245-9CE3-C926126CB8BE}"/>
                    </a:ext>
                  </a:extLst>
                </p:cNvPr>
                <p:cNvSpPr txBox="1"/>
                <p:nvPr/>
              </p:nvSpPr>
              <p:spPr>
                <a:xfrm>
                  <a:off x="1868410" y="3903413"/>
                  <a:ext cx="1754020" cy="255116"/>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p:txBody>
            </p:sp>
          </p:grpSp>
        </p:grpSp>
        <p:sp>
          <p:nvSpPr>
            <p:cNvPr id="27" name="Right Arrow 11">
              <a:extLst>
                <a:ext uri="{FF2B5EF4-FFF2-40B4-BE49-F238E27FC236}">
                  <a16:creationId xmlns:a16="http://schemas.microsoft.com/office/drawing/2014/main" id="{6A14C876-E4EF-48BB-BB1D-C6D48B135322}"/>
                </a:ext>
              </a:extLst>
            </p:cNvPr>
            <p:cNvSpPr/>
            <p:nvPr/>
          </p:nvSpPr>
          <p:spPr bwMode="auto">
            <a:xfrm>
              <a:off x="3500421" y="4102665"/>
              <a:ext cx="1407674" cy="637427"/>
            </a:xfrm>
            <a:prstGeom prst="rightArrow">
              <a:avLst/>
            </a:prstGeom>
            <a:gradFill rotWithShape="1">
              <a:gsLst>
                <a:gs pos="0">
                  <a:srgbClr val="39454B">
                    <a:satMod val="103000"/>
                    <a:lumMod val="102000"/>
                    <a:tint val="94000"/>
                  </a:srgbClr>
                </a:gs>
                <a:gs pos="50000">
                  <a:srgbClr val="39454B">
                    <a:satMod val="110000"/>
                    <a:lumMod val="100000"/>
                    <a:shade val="100000"/>
                  </a:srgbClr>
                </a:gs>
                <a:gs pos="100000">
                  <a:srgbClr val="39454B">
                    <a:lumMod val="99000"/>
                    <a:satMod val="120000"/>
                    <a:shade val="78000"/>
                  </a:srgbClr>
                </a:gs>
              </a:gsLst>
              <a:lin ang="5400000" scaled="0"/>
            </a:gra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39454B"/>
                </a:solidFill>
                <a:effectLst/>
                <a:uLnTx/>
                <a:uFillTx/>
                <a:latin typeface="Arial"/>
                <a:ea typeface="ＭＳ Ｐゴシック" charset="0"/>
                <a:cs typeface="+mn-cs"/>
              </a:endParaRPr>
            </a:p>
          </p:txBody>
        </p:sp>
        <p:sp>
          <p:nvSpPr>
            <p:cNvPr id="28" name="Oval 27">
              <a:extLst>
                <a:ext uri="{FF2B5EF4-FFF2-40B4-BE49-F238E27FC236}">
                  <a16:creationId xmlns:a16="http://schemas.microsoft.com/office/drawing/2014/main" id="{079410B1-8C94-4056-8948-681CB9DDD894}"/>
                </a:ext>
              </a:extLst>
            </p:cNvPr>
            <p:cNvSpPr/>
            <p:nvPr/>
          </p:nvSpPr>
          <p:spPr bwMode="auto">
            <a:xfrm>
              <a:off x="3401952" y="4843645"/>
              <a:ext cx="1379220" cy="774451"/>
            </a:xfrm>
            <a:prstGeom prst="ellipse">
              <a:avLst/>
            </a:prstGeom>
            <a:solidFill>
              <a:srgbClr val="81C5B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200" b="0" i="0" u="none" strike="noStrike" kern="0" cap="none" spc="0" normalizeH="0" baseline="0" noProof="0">
                  <a:ln>
                    <a:noFill/>
                  </a:ln>
                  <a:solidFill>
                    <a:srgbClr val="39454B"/>
                  </a:solidFill>
                  <a:effectLst/>
                  <a:uLnTx/>
                  <a:uFillTx/>
                  <a:latin typeface="Arial" charset="0"/>
                  <a:ea typeface="ＭＳ Ｐゴシック" charset="0"/>
                  <a:cs typeface="+mn-cs"/>
                </a:rPr>
                <a:t>Marketing info systems: $100M</a:t>
              </a:r>
            </a:p>
          </p:txBody>
        </p:sp>
      </p:grpSp>
      <p:sp>
        <p:nvSpPr>
          <p:cNvPr id="51" name="TextBox 50">
            <a:extLst>
              <a:ext uri="{FF2B5EF4-FFF2-40B4-BE49-F238E27FC236}">
                <a16:creationId xmlns:a16="http://schemas.microsoft.com/office/drawing/2014/main" id="{AE6A4268-90F4-43D0-AACC-72B69EE562EA}"/>
              </a:ext>
            </a:extLst>
          </p:cNvPr>
          <p:cNvSpPr txBox="1"/>
          <p:nvPr/>
        </p:nvSpPr>
        <p:spPr>
          <a:xfrm>
            <a:off x="1108460" y="4616299"/>
            <a:ext cx="738565" cy="19139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Status</a:t>
            </a:r>
          </a:p>
        </p:txBody>
      </p:sp>
      <p:sp>
        <p:nvSpPr>
          <p:cNvPr id="52" name="TextBox 51">
            <a:extLst>
              <a:ext uri="{FF2B5EF4-FFF2-40B4-BE49-F238E27FC236}">
                <a16:creationId xmlns:a16="http://schemas.microsoft.com/office/drawing/2014/main" id="{223C616A-82C1-432D-A3DA-0ACB177CA8E5}"/>
              </a:ext>
            </a:extLst>
          </p:cNvPr>
          <p:cNvSpPr txBox="1"/>
          <p:nvPr/>
        </p:nvSpPr>
        <p:spPr>
          <a:xfrm>
            <a:off x="1847025" y="4630744"/>
            <a:ext cx="1205337" cy="201768"/>
          </a:xfrm>
          <a:prstGeom prst="rect">
            <a:avLst/>
          </a:prstGeom>
          <a:solidFill>
            <a:srgbClr val="FFFFFF">
              <a:lumMod val="85000"/>
            </a:srgbClr>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Created, Released</a:t>
            </a:r>
          </a:p>
        </p:txBody>
      </p:sp>
      <p:graphicFrame>
        <p:nvGraphicFramePr>
          <p:cNvPr id="78" name="Table 77">
            <a:extLst>
              <a:ext uri="{FF2B5EF4-FFF2-40B4-BE49-F238E27FC236}">
                <a16:creationId xmlns:a16="http://schemas.microsoft.com/office/drawing/2014/main" id="{274FFA21-185D-43B6-9668-3DBD5C6E8729}"/>
              </a:ext>
            </a:extLst>
          </p:cNvPr>
          <p:cNvGraphicFramePr>
            <a:graphicFrameLocks noGrp="1"/>
          </p:cNvGraphicFramePr>
          <p:nvPr/>
        </p:nvGraphicFramePr>
        <p:xfrm>
          <a:off x="5022644" y="2878673"/>
          <a:ext cx="4753182" cy="1710467"/>
        </p:xfrm>
        <a:graphic>
          <a:graphicData uri="http://schemas.openxmlformats.org/drawingml/2006/table">
            <a:tbl>
              <a:tblPr firstRow="1" bandRow="1"/>
              <a:tblGrid>
                <a:gridCol w="1188295">
                  <a:extLst>
                    <a:ext uri="{9D8B030D-6E8A-4147-A177-3AD203B41FA5}">
                      <a16:colId xmlns:a16="http://schemas.microsoft.com/office/drawing/2014/main" val="2878213589"/>
                    </a:ext>
                  </a:extLst>
                </a:gridCol>
                <a:gridCol w="1188295">
                  <a:extLst>
                    <a:ext uri="{9D8B030D-6E8A-4147-A177-3AD203B41FA5}">
                      <a16:colId xmlns:a16="http://schemas.microsoft.com/office/drawing/2014/main" val="750885484"/>
                    </a:ext>
                  </a:extLst>
                </a:gridCol>
                <a:gridCol w="1304736">
                  <a:extLst>
                    <a:ext uri="{9D8B030D-6E8A-4147-A177-3AD203B41FA5}">
                      <a16:colId xmlns:a16="http://schemas.microsoft.com/office/drawing/2014/main" val="2480336109"/>
                    </a:ext>
                  </a:extLst>
                </a:gridCol>
                <a:gridCol w="1071856">
                  <a:extLst>
                    <a:ext uri="{9D8B030D-6E8A-4147-A177-3AD203B41FA5}">
                      <a16:colId xmlns:a16="http://schemas.microsoft.com/office/drawing/2014/main" val="2189032374"/>
                    </a:ext>
                  </a:extLst>
                </a:gridCol>
              </a:tblGrid>
              <a:tr h="338867">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Brand</a:t>
                      </a:r>
                    </a:p>
                  </a:txBody>
                  <a:tcPr>
                    <a:lnL w="12700" cmpd="sng">
                      <a:solidFill>
                        <a:srgbClr val="39454B"/>
                      </a:solidFill>
                    </a:lnL>
                    <a:lnR w="12700" cmpd="sng">
                      <a:solidFill>
                        <a:srgbClr val="39454B"/>
                      </a:solidFill>
                    </a:lnR>
                    <a:lnT w="12700" cmpd="sng">
                      <a:solidFill>
                        <a:srgbClr val="39454B"/>
                      </a:solidFill>
                    </a:lnT>
                    <a:lnB w="254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Product type</a:t>
                      </a:r>
                    </a:p>
                  </a:txBody>
                  <a:tcPr>
                    <a:lnL w="12700" cmpd="sng">
                      <a:solidFill>
                        <a:srgbClr val="39454B"/>
                      </a:solidFill>
                    </a:lnL>
                    <a:lnR w="12700" cmpd="sng">
                      <a:solidFill>
                        <a:srgbClr val="39454B"/>
                      </a:solidFill>
                    </a:lnR>
                    <a:lnT w="12700" cmpd="sng">
                      <a:solidFill>
                        <a:srgbClr val="39454B"/>
                      </a:solidFill>
                    </a:lnT>
                    <a:lnB w="254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Net revenue</a:t>
                      </a:r>
                    </a:p>
                  </a:txBody>
                  <a:tcPr>
                    <a:lnL w="12700" cmpd="sng">
                      <a:solidFill>
                        <a:srgbClr val="39454B"/>
                      </a:solidFill>
                    </a:lnL>
                    <a:lnR w="12700" cmpd="sng">
                      <a:solidFill>
                        <a:srgbClr val="39454B"/>
                      </a:solidFill>
                    </a:lnR>
                    <a:lnT w="12700" cmpd="sng">
                      <a:solidFill>
                        <a:srgbClr val="39454B"/>
                      </a:solidFill>
                    </a:lnT>
                    <a:lnB w="254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a:t>
                      </a:r>
                    </a:p>
                  </a:txBody>
                  <a:tcPr>
                    <a:lnL w="12700" cmpd="sng">
                      <a:solidFill>
                        <a:srgbClr val="39454B"/>
                      </a:solidFill>
                    </a:lnL>
                    <a:lnR w="12700" cmpd="sng">
                      <a:solidFill>
                        <a:srgbClr val="39454B"/>
                      </a:solidFill>
                    </a:lnR>
                    <a:lnT w="12700" cmpd="sng">
                      <a:solidFill>
                        <a:srgbClr val="39454B"/>
                      </a:solidFill>
                    </a:lnT>
                    <a:lnB w="254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2807539624"/>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Silk Cut</a:t>
                      </a:r>
                    </a:p>
                  </a:txBody>
                  <a:tcPr>
                    <a:lnL w="12700" cmpd="sng">
                      <a:solidFill>
                        <a:srgbClr val="39454B"/>
                      </a:solidFill>
                    </a:lnL>
                    <a:lnR w="12700" cmpd="sng">
                      <a:solidFill>
                        <a:srgbClr val="39454B"/>
                      </a:solidFill>
                    </a:lnR>
                    <a:lnT w="254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39454B"/>
                      </a:solidFill>
                    </a:lnL>
                    <a:lnR w="12700" cmpd="sng">
                      <a:solidFill>
                        <a:srgbClr val="39454B"/>
                      </a:solidFill>
                    </a:lnR>
                    <a:lnT w="254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500</a:t>
                      </a:r>
                    </a:p>
                  </a:txBody>
                  <a:tcPr>
                    <a:lnL w="12700" cmpd="sng">
                      <a:solidFill>
                        <a:srgbClr val="39454B"/>
                      </a:solidFill>
                    </a:lnL>
                    <a:lnR w="12700" cmpd="sng">
                      <a:solidFill>
                        <a:srgbClr val="39454B"/>
                      </a:solidFill>
                    </a:lnR>
                    <a:lnT w="254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23%</a:t>
                      </a:r>
                    </a:p>
                  </a:txBody>
                  <a:tcPr>
                    <a:lnL w="12700" cmpd="sng">
                      <a:solidFill>
                        <a:srgbClr val="39454B"/>
                      </a:solidFill>
                    </a:lnL>
                    <a:lnR w="12700" cmpd="sng">
                      <a:solidFill>
                        <a:srgbClr val="39454B"/>
                      </a:solidFill>
                    </a:lnR>
                    <a:lnT w="254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extLst>
                  <a:ext uri="{0D108BD9-81ED-4DB2-BD59-A6C34878D82A}">
                    <a16:rowId xmlns:a16="http://schemas.microsoft.com/office/drawing/2014/main" val="2845065624"/>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B&amp;H</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1500</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70%</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179716098"/>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B&amp;H</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RYO</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50</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extLst>
                  <a:ext uri="{0D108BD9-81ED-4DB2-BD59-A6C34878D82A}">
                    <a16:rowId xmlns:a16="http://schemas.microsoft.com/office/drawing/2014/main" val="123713963"/>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Logic</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RRP</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100</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5%</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894883849"/>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TOTAL</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2150</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alpha val="20000"/>
                      </a:srgbClr>
                    </a:solidFill>
                  </a:tcPr>
                </a:tc>
                <a:extLst>
                  <a:ext uri="{0D108BD9-81ED-4DB2-BD59-A6C34878D82A}">
                    <a16:rowId xmlns:a16="http://schemas.microsoft.com/office/drawing/2014/main" val="2307670053"/>
                  </a:ext>
                </a:extLst>
              </a:tr>
            </a:tbl>
          </a:graphicData>
        </a:graphic>
      </p:graphicFrame>
      <p:graphicFrame>
        <p:nvGraphicFramePr>
          <p:cNvPr id="79" name="Table 78">
            <a:extLst>
              <a:ext uri="{FF2B5EF4-FFF2-40B4-BE49-F238E27FC236}">
                <a16:creationId xmlns:a16="http://schemas.microsoft.com/office/drawing/2014/main" id="{E36507DF-4289-42C6-BD22-4B31A516E8CA}"/>
              </a:ext>
            </a:extLst>
          </p:cNvPr>
          <p:cNvGraphicFramePr>
            <a:graphicFrameLocks noGrp="1"/>
          </p:cNvGraphicFramePr>
          <p:nvPr/>
        </p:nvGraphicFramePr>
        <p:xfrm>
          <a:off x="5022372" y="4720522"/>
          <a:ext cx="4753183" cy="1554480"/>
        </p:xfrm>
        <a:graphic>
          <a:graphicData uri="http://schemas.openxmlformats.org/drawingml/2006/table">
            <a:tbl>
              <a:tblPr firstRow="1" bandRow="1"/>
              <a:tblGrid>
                <a:gridCol w="1171732">
                  <a:extLst>
                    <a:ext uri="{9D8B030D-6E8A-4147-A177-3AD203B41FA5}">
                      <a16:colId xmlns:a16="http://schemas.microsoft.com/office/drawing/2014/main" val="2878213589"/>
                    </a:ext>
                  </a:extLst>
                </a:gridCol>
                <a:gridCol w="1218818">
                  <a:extLst>
                    <a:ext uri="{9D8B030D-6E8A-4147-A177-3AD203B41FA5}">
                      <a16:colId xmlns:a16="http://schemas.microsoft.com/office/drawing/2014/main" val="750885484"/>
                    </a:ext>
                  </a:extLst>
                </a:gridCol>
                <a:gridCol w="1281552">
                  <a:extLst>
                    <a:ext uri="{9D8B030D-6E8A-4147-A177-3AD203B41FA5}">
                      <a16:colId xmlns:a16="http://schemas.microsoft.com/office/drawing/2014/main" val="2480336109"/>
                    </a:ext>
                  </a:extLst>
                </a:gridCol>
                <a:gridCol w="1081081">
                  <a:extLst>
                    <a:ext uri="{9D8B030D-6E8A-4147-A177-3AD203B41FA5}">
                      <a16:colId xmlns:a16="http://schemas.microsoft.com/office/drawing/2014/main" val="2189032374"/>
                    </a:ext>
                  </a:extLst>
                </a:gridCol>
              </a:tblGrid>
              <a:tr h="338867">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Brand</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Product type</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MKT info systems</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extLst>
                  <a:ext uri="{0D108BD9-81ED-4DB2-BD59-A6C34878D82A}">
                    <a16:rowId xmlns:a16="http://schemas.microsoft.com/office/drawing/2014/main" val="2807539624"/>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Silk Cut</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24.4</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24.4%</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extLst>
                  <a:ext uri="{0D108BD9-81ED-4DB2-BD59-A6C34878D82A}">
                    <a16:rowId xmlns:a16="http://schemas.microsoft.com/office/drawing/2014/main" val="2845065624"/>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B&amp;H</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73.2</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73.2%</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extLst>
                  <a:ext uri="{0D108BD9-81ED-4DB2-BD59-A6C34878D82A}">
                    <a16:rowId xmlns:a16="http://schemas.microsoft.com/office/drawing/2014/main" val="179716098"/>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B&amp;H</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RYO</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2.4</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2.4%</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extLst>
                  <a:ext uri="{0D108BD9-81ED-4DB2-BD59-A6C34878D82A}">
                    <a16:rowId xmlns:a16="http://schemas.microsoft.com/office/drawing/2014/main" val="123713963"/>
                  </a:ext>
                </a:extLst>
              </a:tr>
              <a:tr h="207085">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TOTAL</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100</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extLst>
                  <a:ext uri="{0D108BD9-81ED-4DB2-BD59-A6C34878D82A}">
                    <a16:rowId xmlns:a16="http://schemas.microsoft.com/office/drawing/2014/main" val="1450031410"/>
                  </a:ext>
                </a:extLst>
              </a:tr>
            </a:tbl>
          </a:graphicData>
        </a:graphic>
      </p:graphicFrame>
      <p:sp>
        <p:nvSpPr>
          <p:cNvPr id="80" name="Rectangular Callout 10">
            <a:extLst>
              <a:ext uri="{FF2B5EF4-FFF2-40B4-BE49-F238E27FC236}">
                <a16:creationId xmlns:a16="http://schemas.microsoft.com/office/drawing/2014/main" id="{DACA623A-54A9-4718-8FD6-44F4A2A7E32F}"/>
              </a:ext>
            </a:extLst>
          </p:cNvPr>
          <p:cNvSpPr/>
          <p:nvPr/>
        </p:nvSpPr>
        <p:spPr bwMode="auto">
          <a:xfrm>
            <a:off x="10155448" y="3221776"/>
            <a:ext cx="780629" cy="805895"/>
          </a:xfrm>
          <a:prstGeom prst="wedgeRectCallout">
            <a:avLst>
              <a:gd name="adj1" fmla="val -153152"/>
              <a:gd name="adj2" fmla="val 59414"/>
            </a:avLst>
          </a:prstGeom>
          <a:solidFill>
            <a:srgbClr val="E9F1EE"/>
          </a:solidFill>
          <a:ln w="6350" cap="flat" cmpd="sng" algn="ctr">
            <a:solidFill>
              <a:srgbClr val="262E32"/>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2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Ignored during allocation</a:t>
            </a:r>
          </a:p>
        </p:txBody>
      </p:sp>
      <p:sp>
        <p:nvSpPr>
          <p:cNvPr id="81" name="Rectangular Callout 10">
            <a:extLst>
              <a:ext uri="{FF2B5EF4-FFF2-40B4-BE49-F238E27FC236}">
                <a16:creationId xmlns:a16="http://schemas.microsoft.com/office/drawing/2014/main" id="{DFBC9E98-0D82-450F-A60B-65094D717293}"/>
              </a:ext>
            </a:extLst>
          </p:cNvPr>
          <p:cNvSpPr/>
          <p:nvPr/>
        </p:nvSpPr>
        <p:spPr bwMode="auto">
          <a:xfrm>
            <a:off x="10155448" y="4762034"/>
            <a:ext cx="780629" cy="805895"/>
          </a:xfrm>
          <a:prstGeom prst="wedgeRectCallout">
            <a:avLst>
              <a:gd name="adj1" fmla="val -136890"/>
              <a:gd name="adj2" fmla="val -49833"/>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2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No allocation to RRP</a:t>
            </a:r>
          </a:p>
        </p:txBody>
      </p:sp>
      <p:sp>
        <p:nvSpPr>
          <p:cNvPr id="82" name="TextBox 81">
            <a:extLst>
              <a:ext uri="{FF2B5EF4-FFF2-40B4-BE49-F238E27FC236}">
                <a16:creationId xmlns:a16="http://schemas.microsoft.com/office/drawing/2014/main" id="{02CA02E1-7FD0-47F6-8138-B64843FBABFF}"/>
              </a:ext>
            </a:extLst>
          </p:cNvPr>
          <p:cNvSpPr txBox="1"/>
          <p:nvPr/>
        </p:nvSpPr>
        <p:spPr>
          <a:xfrm>
            <a:off x="620063" y="1423009"/>
            <a:ext cx="11137598" cy="1323439"/>
          </a:xfrm>
          <a:prstGeom prst="rect">
            <a:avLst/>
          </a:prstGeom>
          <a:solidFill>
            <a:srgbClr val="FFFFFF"/>
          </a:solidFill>
          <a:ln w="12700" cap="flat" cmpd="sng" algn="ctr">
            <a:solidFill>
              <a:srgbClr val="00BDB7"/>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In the multi-brand WBS element master data, it will be possible to select that only certain brand family types or product types should be included in the settlement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In the below example, all JTI brands have been selected with product types RMC, OTP and FCT, therefore RRP is excluded. Therefore, even though the market has sales of RRP products, the costs are not allocated to RRP. Instead, the proportion allocated to other brand family / product type combinations is increased</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60144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1000"/>
                                        <p:tgtEl>
                                          <p:spTgt spid="51"/>
                                        </p:tgtEl>
                                      </p:cBhvr>
                                    </p:animEffect>
                                    <p:anim calcmode="lin" valueType="num">
                                      <p:cBhvr>
                                        <p:cTn id="18" dur="1000" fill="hold"/>
                                        <p:tgtEl>
                                          <p:spTgt spid="51"/>
                                        </p:tgtEl>
                                        <p:attrNameLst>
                                          <p:attrName>ppt_x</p:attrName>
                                        </p:attrNameLst>
                                      </p:cBhvr>
                                      <p:tavLst>
                                        <p:tav tm="0">
                                          <p:val>
                                            <p:strVal val="#ppt_x"/>
                                          </p:val>
                                        </p:tav>
                                        <p:tav tm="100000">
                                          <p:val>
                                            <p:strVal val="#ppt_x"/>
                                          </p:val>
                                        </p:tav>
                                      </p:tavLst>
                                    </p:anim>
                                    <p:anim calcmode="lin" valueType="num">
                                      <p:cBhvr>
                                        <p:cTn id="19" dur="1000" fill="hold"/>
                                        <p:tgtEl>
                                          <p:spTgt spid="5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1000"/>
                                        <p:tgtEl>
                                          <p:spTgt spid="52"/>
                                        </p:tgtEl>
                                      </p:cBhvr>
                                    </p:animEffect>
                                    <p:anim calcmode="lin" valueType="num">
                                      <p:cBhvr>
                                        <p:cTn id="23" dur="1000" fill="hold"/>
                                        <p:tgtEl>
                                          <p:spTgt spid="52"/>
                                        </p:tgtEl>
                                        <p:attrNameLst>
                                          <p:attrName>ppt_x</p:attrName>
                                        </p:attrNameLst>
                                      </p:cBhvr>
                                      <p:tavLst>
                                        <p:tav tm="0">
                                          <p:val>
                                            <p:strVal val="#ppt_x"/>
                                          </p:val>
                                        </p:tav>
                                        <p:tav tm="100000">
                                          <p:val>
                                            <p:strVal val="#ppt_x"/>
                                          </p:val>
                                        </p:tav>
                                      </p:tavLst>
                                    </p:anim>
                                    <p:anim calcmode="lin" valueType="num">
                                      <p:cBhvr>
                                        <p:cTn id="24" dur="1000" fill="hold"/>
                                        <p:tgtEl>
                                          <p:spTgt spid="5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fade">
                                      <p:cBhvr>
                                        <p:cTn id="27" dur="1000"/>
                                        <p:tgtEl>
                                          <p:spTgt spid="78"/>
                                        </p:tgtEl>
                                      </p:cBhvr>
                                    </p:animEffect>
                                    <p:anim calcmode="lin" valueType="num">
                                      <p:cBhvr>
                                        <p:cTn id="28" dur="1000" fill="hold"/>
                                        <p:tgtEl>
                                          <p:spTgt spid="78"/>
                                        </p:tgtEl>
                                        <p:attrNameLst>
                                          <p:attrName>ppt_x</p:attrName>
                                        </p:attrNameLst>
                                      </p:cBhvr>
                                      <p:tavLst>
                                        <p:tav tm="0">
                                          <p:val>
                                            <p:strVal val="#ppt_x"/>
                                          </p:val>
                                        </p:tav>
                                        <p:tav tm="100000">
                                          <p:val>
                                            <p:strVal val="#ppt_x"/>
                                          </p:val>
                                        </p:tav>
                                      </p:tavLst>
                                    </p:anim>
                                    <p:anim calcmode="lin" valueType="num">
                                      <p:cBhvr>
                                        <p:cTn id="29" dur="1000" fill="hold"/>
                                        <p:tgtEl>
                                          <p:spTgt spid="7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9"/>
                                        </p:tgtEl>
                                        <p:attrNameLst>
                                          <p:attrName>style.visibility</p:attrName>
                                        </p:attrNameLst>
                                      </p:cBhvr>
                                      <p:to>
                                        <p:strVal val="visible"/>
                                      </p:to>
                                    </p:set>
                                    <p:animEffect transition="in" filter="fade">
                                      <p:cBhvr>
                                        <p:cTn id="32" dur="1000"/>
                                        <p:tgtEl>
                                          <p:spTgt spid="79"/>
                                        </p:tgtEl>
                                      </p:cBhvr>
                                    </p:animEffect>
                                    <p:anim calcmode="lin" valueType="num">
                                      <p:cBhvr>
                                        <p:cTn id="33" dur="1000" fill="hold"/>
                                        <p:tgtEl>
                                          <p:spTgt spid="79"/>
                                        </p:tgtEl>
                                        <p:attrNameLst>
                                          <p:attrName>ppt_x</p:attrName>
                                        </p:attrNameLst>
                                      </p:cBhvr>
                                      <p:tavLst>
                                        <p:tav tm="0">
                                          <p:val>
                                            <p:strVal val="#ppt_x"/>
                                          </p:val>
                                        </p:tav>
                                        <p:tav tm="100000">
                                          <p:val>
                                            <p:strVal val="#ppt_x"/>
                                          </p:val>
                                        </p:tav>
                                      </p:tavLst>
                                    </p:anim>
                                    <p:anim calcmode="lin" valueType="num">
                                      <p:cBhvr>
                                        <p:cTn id="34" dur="1000" fill="hold"/>
                                        <p:tgtEl>
                                          <p:spTgt spid="7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fade">
                                      <p:cBhvr>
                                        <p:cTn id="37" dur="1000"/>
                                        <p:tgtEl>
                                          <p:spTgt spid="80"/>
                                        </p:tgtEl>
                                      </p:cBhvr>
                                    </p:animEffect>
                                    <p:anim calcmode="lin" valueType="num">
                                      <p:cBhvr>
                                        <p:cTn id="38" dur="1000" fill="hold"/>
                                        <p:tgtEl>
                                          <p:spTgt spid="80"/>
                                        </p:tgtEl>
                                        <p:attrNameLst>
                                          <p:attrName>ppt_x</p:attrName>
                                        </p:attrNameLst>
                                      </p:cBhvr>
                                      <p:tavLst>
                                        <p:tav tm="0">
                                          <p:val>
                                            <p:strVal val="#ppt_x"/>
                                          </p:val>
                                        </p:tav>
                                        <p:tav tm="100000">
                                          <p:val>
                                            <p:strVal val="#ppt_x"/>
                                          </p:val>
                                        </p:tav>
                                      </p:tavLst>
                                    </p:anim>
                                    <p:anim calcmode="lin" valueType="num">
                                      <p:cBhvr>
                                        <p:cTn id="39" dur="1000" fill="hold"/>
                                        <p:tgtEl>
                                          <p:spTgt spid="8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fade">
                                      <p:cBhvr>
                                        <p:cTn id="42" dur="1000"/>
                                        <p:tgtEl>
                                          <p:spTgt spid="81"/>
                                        </p:tgtEl>
                                      </p:cBhvr>
                                    </p:animEffect>
                                    <p:anim calcmode="lin" valueType="num">
                                      <p:cBhvr>
                                        <p:cTn id="43" dur="1000" fill="hold"/>
                                        <p:tgtEl>
                                          <p:spTgt spid="81"/>
                                        </p:tgtEl>
                                        <p:attrNameLst>
                                          <p:attrName>ppt_x</p:attrName>
                                        </p:attrNameLst>
                                      </p:cBhvr>
                                      <p:tavLst>
                                        <p:tav tm="0">
                                          <p:val>
                                            <p:strVal val="#ppt_x"/>
                                          </p:val>
                                        </p:tav>
                                        <p:tav tm="100000">
                                          <p:val>
                                            <p:strVal val="#ppt_x"/>
                                          </p:val>
                                        </p:tav>
                                      </p:tavLst>
                                    </p:anim>
                                    <p:anim calcmode="lin" valueType="num">
                                      <p:cBhvr>
                                        <p:cTn id="44" dur="1000" fill="hold"/>
                                        <p:tgtEl>
                                          <p:spTgt spid="8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animEffect transition="in" filter="fade">
                                      <p:cBhvr>
                                        <p:cTn id="47" dur="1000"/>
                                        <p:tgtEl>
                                          <p:spTgt spid="82"/>
                                        </p:tgtEl>
                                      </p:cBhvr>
                                    </p:animEffect>
                                    <p:anim calcmode="lin" valueType="num">
                                      <p:cBhvr>
                                        <p:cTn id="48" dur="1000" fill="hold"/>
                                        <p:tgtEl>
                                          <p:spTgt spid="82"/>
                                        </p:tgtEl>
                                        <p:attrNameLst>
                                          <p:attrName>ppt_x</p:attrName>
                                        </p:attrNameLst>
                                      </p:cBhvr>
                                      <p:tavLst>
                                        <p:tav tm="0">
                                          <p:val>
                                            <p:strVal val="#ppt_x"/>
                                          </p:val>
                                        </p:tav>
                                        <p:tav tm="100000">
                                          <p:val>
                                            <p:strVal val="#ppt_x"/>
                                          </p:val>
                                        </p:tav>
                                      </p:tavLst>
                                    </p:anim>
                                    <p:anim calcmode="lin" valueType="num">
                                      <p:cBhvr>
                                        <p:cTn id="49"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4" grpId="0" animBg="1"/>
      <p:bldP spid="51" grpId="0"/>
      <p:bldP spid="52" grpId="0" animBg="1"/>
      <p:bldP spid="80" grpId="0" animBg="1"/>
      <p:bldP spid="81" grpId="0" animBg="1"/>
      <p:bldP spid="8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4A5AFA85-D53A-4DE1-A831-91B9EFE4FF8D}"/>
              </a:ext>
            </a:extLst>
          </p:cNvPr>
          <p:cNvGrpSpPr/>
          <p:nvPr/>
        </p:nvGrpSpPr>
        <p:grpSpPr>
          <a:xfrm>
            <a:off x="922176" y="3096524"/>
            <a:ext cx="3308573" cy="2262484"/>
            <a:chOff x="1089659" y="2499708"/>
            <a:chExt cx="3308573" cy="2262484"/>
          </a:xfrm>
        </p:grpSpPr>
        <p:sp>
          <p:nvSpPr>
            <p:cNvPr id="13" name="TextBox 12">
              <a:extLst>
                <a:ext uri="{FF2B5EF4-FFF2-40B4-BE49-F238E27FC236}">
                  <a16:creationId xmlns:a16="http://schemas.microsoft.com/office/drawing/2014/main" id="{28DA3B74-6786-4CF4-BBC9-A5912D5E4A29}"/>
                </a:ext>
              </a:extLst>
            </p:cNvPr>
            <p:cNvSpPr txBox="1"/>
            <p:nvPr/>
          </p:nvSpPr>
          <p:spPr>
            <a:xfrm>
              <a:off x="1089659" y="2499708"/>
              <a:ext cx="3308573" cy="2262484"/>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endParaRPr>
            </a:p>
          </p:txBody>
        </p:sp>
        <p:sp>
          <p:nvSpPr>
            <p:cNvPr id="14" name="TextBox 13">
              <a:extLst>
                <a:ext uri="{FF2B5EF4-FFF2-40B4-BE49-F238E27FC236}">
                  <a16:creationId xmlns:a16="http://schemas.microsoft.com/office/drawing/2014/main" id="{12556217-F0E5-4A0C-AF2E-FB9C7CD99FB0}"/>
                </a:ext>
              </a:extLst>
            </p:cNvPr>
            <p:cNvSpPr txBox="1"/>
            <p:nvPr/>
          </p:nvSpPr>
          <p:spPr>
            <a:xfrm>
              <a:off x="1918766" y="2599321"/>
              <a:ext cx="808297" cy="216127"/>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0100123.0001</a:t>
              </a:r>
            </a:p>
          </p:txBody>
        </p:sp>
        <p:sp>
          <p:nvSpPr>
            <p:cNvPr id="15" name="TextBox 14">
              <a:extLst>
                <a:ext uri="{FF2B5EF4-FFF2-40B4-BE49-F238E27FC236}">
                  <a16:creationId xmlns:a16="http://schemas.microsoft.com/office/drawing/2014/main" id="{B89522BA-92BF-4818-9B6E-1C7DDEA8CAE2}"/>
                </a:ext>
              </a:extLst>
            </p:cNvPr>
            <p:cNvSpPr txBox="1"/>
            <p:nvPr/>
          </p:nvSpPr>
          <p:spPr>
            <a:xfrm>
              <a:off x="1158815" y="2599321"/>
              <a:ext cx="738565" cy="19139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WBS element</a:t>
              </a:r>
            </a:p>
          </p:txBody>
        </p:sp>
        <p:sp>
          <p:nvSpPr>
            <p:cNvPr id="16" name="TextBox 15">
              <a:extLst>
                <a:ext uri="{FF2B5EF4-FFF2-40B4-BE49-F238E27FC236}">
                  <a16:creationId xmlns:a16="http://schemas.microsoft.com/office/drawing/2014/main" id="{F84FF49B-DCC2-495D-B274-D59698AD4617}"/>
                </a:ext>
              </a:extLst>
            </p:cNvPr>
            <p:cNvSpPr txBox="1"/>
            <p:nvPr/>
          </p:nvSpPr>
          <p:spPr>
            <a:xfrm>
              <a:off x="1158815" y="2899143"/>
              <a:ext cx="738565" cy="19139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Type</a:t>
              </a:r>
            </a:p>
          </p:txBody>
        </p:sp>
        <p:sp>
          <p:nvSpPr>
            <p:cNvPr id="17" name="TextBox 16">
              <a:extLst>
                <a:ext uri="{FF2B5EF4-FFF2-40B4-BE49-F238E27FC236}">
                  <a16:creationId xmlns:a16="http://schemas.microsoft.com/office/drawing/2014/main" id="{5F91F302-8B47-4FBD-8E40-C6AAF7D01976}"/>
                </a:ext>
              </a:extLst>
            </p:cNvPr>
            <p:cNvSpPr txBox="1"/>
            <p:nvPr/>
          </p:nvSpPr>
          <p:spPr>
            <a:xfrm>
              <a:off x="1918765" y="2903635"/>
              <a:ext cx="1936798" cy="211274"/>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Multi-brand</a:t>
              </a:r>
            </a:p>
          </p:txBody>
        </p:sp>
      </p:grpSp>
      <p:sp>
        <p:nvSpPr>
          <p:cNvPr id="2" name="Title 1">
            <a:extLst>
              <a:ext uri="{FF2B5EF4-FFF2-40B4-BE49-F238E27FC236}">
                <a16:creationId xmlns:a16="http://schemas.microsoft.com/office/drawing/2014/main" id="{D52433B4-2E3E-4FCD-8F01-AF1BFAE1C9D9}"/>
              </a:ext>
            </a:extLst>
          </p:cNvPr>
          <p:cNvSpPr>
            <a:spLocks noGrp="1"/>
          </p:cNvSpPr>
          <p:nvPr>
            <p:ph type="title"/>
          </p:nvPr>
        </p:nvSpPr>
        <p:spPr/>
        <p:txBody>
          <a:bodyPr/>
          <a:lstStyle/>
          <a:p>
            <a:r>
              <a:rPr lang="en-GB"/>
              <a:t>Multi-brand WBS settlement with defined settlement rule</a:t>
            </a:r>
            <a:endParaRPr lang="en-US"/>
          </a:p>
        </p:txBody>
      </p:sp>
      <p:sp>
        <p:nvSpPr>
          <p:cNvPr id="4" name="Footer Placeholder 3">
            <a:extLst>
              <a:ext uri="{FF2B5EF4-FFF2-40B4-BE49-F238E27FC236}">
                <a16:creationId xmlns:a16="http://schemas.microsoft.com/office/drawing/2014/main" id="{BBFE033A-947B-4C9F-B5C6-87AF5992D96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64381430-5527-4641-9B43-B5AD7C613E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B77C3D4D-C15D-4B26-B191-D29D95232AA0}"/>
              </a:ext>
            </a:extLst>
          </p:cNvPr>
          <p:cNvSpPr/>
          <p:nvPr/>
        </p:nvSpPr>
        <p:spPr bwMode="auto">
          <a:xfrm>
            <a:off x="634971" y="1498992"/>
            <a:ext cx="11041089" cy="132343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If it is not appropriate to use net revenue to allocate marketing investments or price / distribution allowances, or net volumes for transportation and warehousing costs, there will be two alternative solutions available.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1. It will be possible to define the settlement rule on the WBS element master data (as a %), such as in the below example. From an efficiency perspective, it is not recommended to change the % every month</a:t>
            </a:r>
          </a:p>
        </p:txBody>
      </p:sp>
      <p:graphicFrame>
        <p:nvGraphicFramePr>
          <p:cNvPr id="7" name="Table 6">
            <a:extLst>
              <a:ext uri="{FF2B5EF4-FFF2-40B4-BE49-F238E27FC236}">
                <a16:creationId xmlns:a16="http://schemas.microsoft.com/office/drawing/2014/main" id="{72C6AFDB-3B42-4360-8A59-36C636F52D69}"/>
              </a:ext>
            </a:extLst>
          </p:cNvPr>
          <p:cNvGraphicFramePr>
            <a:graphicFrameLocks noGrp="1"/>
          </p:cNvGraphicFramePr>
          <p:nvPr/>
        </p:nvGraphicFramePr>
        <p:xfrm>
          <a:off x="1086306" y="4227766"/>
          <a:ext cx="2980312" cy="1007420"/>
        </p:xfrm>
        <a:graphic>
          <a:graphicData uri="http://schemas.openxmlformats.org/drawingml/2006/table">
            <a:tbl>
              <a:tblPr firstRow="1" bandRow="1"/>
              <a:tblGrid>
                <a:gridCol w="587109">
                  <a:extLst>
                    <a:ext uri="{9D8B030D-6E8A-4147-A177-3AD203B41FA5}">
                      <a16:colId xmlns:a16="http://schemas.microsoft.com/office/drawing/2014/main" val="966073337"/>
                    </a:ext>
                  </a:extLst>
                </a:gridCol>
                <a:gridCol w="546755">
                  <a:extLst>
                    <a:ext uri="{9D8B030D-6E8A-4147-A177-3AD203B41FA5}">
                      <a16:colId xmlns:a16="http://schemas.microsoft.com/office/drawing/2014/main" val="2337728263"/>
                    </a:ext>
                  </a:extLst>
                </a:gridCol>
                <a:gridCol w="461913">
                  <a:extLst>
                    <a:ext uri="{9D8B030D-6E8A-4147-A177-3AD203B41FA5}">
                      <a16:colId xmlns:a16="http://schemas.microsoft.com/office/drawing/2014/main" val="3000523162"/>
                    </a:ext>
                  </a:extLst>
                </a:gridCol>
                <a:gridCol w="678730">
                  <a:extLst>
                    <a:ext uri="{9D8B030D-6E8A-4147-A177-3AD203B41FA5}">
                      <a16:colId xmlns:a16="http://schemas.microsoft.com/office/drawing/2014/main" val="545106362"/>
                    </a:ext>
                  </a:extLst>
                </a:gridCol>
                <a:gridCol w="705805">
                  <a:extLst>
                    <a:ext uri="{9D8B030D-6E8A-4147-A177-3AD203B41FA5}">
                      <a16:colId xmlns:a16="http://schemas.microsoft.com/office/drawing/2014/main" val="3323448714"/>
                    </a:ext>
                  </a:extLst>
                </a:gridCol>
              </a:tblGrid>
              <a:tr h="297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Brand family</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Prod. type</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From</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To</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3215905931"/>
                  </a:ext>
                </a:extLst>
              </a:tr>
              <a:tr h="297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LD</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RMC</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75%</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01.2019</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12.2019</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217407015"/>
                  </a:ext>
                </a:extLst>
              </a:tr>
              <a:tr h="297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Camel</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RMC</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25%</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01.2019</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050"/>
                        <a:t>12.2019</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noFill/>
                  </a:tcPr>
                </a:tc>
                <a:extLst>
                  <a:ext uri="{0D108BD9-81ED-4DB2-BD59-A6C34878D82A}">
                    <a16:rowId xmlns:a16="http://schemas.microsoft.com/office/drawing/2014/main" val="3528449387"/>
                  </a:ext>
                </a:extLst>
              </a:tr>
            </a:tbl>
          </a:graphicData>
        </a:graphic>
      </p:graphicFrame>
      <p:sp>
        <p:nvSpPr>
          <p:cNvPr id="36" name="TextBox 35">
            <a:extLst>
              <a:ext uri="{FF2B5EF4-FFF2-40B4-BE49-F238E27FC236}">
                <a16:creationId xmlns:a16="http://schemas.microsoft.com/office/drawing/2014/main" id="{DE81D340-0561-4585-9FF7-80CE1A49EDE8}"/>
              </a:ext>
            </a:extLst>
          </p:cNvPr>
          <p:cNvSpPr txBox="1"/>
          <p:nvPr/>
        </p:nvSpPr>
        <p:spPr>
          <a:xfrm>
            <a:off x="991332" y="3922760"/>
            <a:ext cx="1281943" cy="19139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122632"/>
                </a:solidFill>
                <a:effectLst/>
                <a:uLnTx/>
                <a:uFillTx/>
                <a:latin typeface="Arial" pitchFamily="34" charset="0"/>
                <a:ea typeface="ＭＳ Ｐゴシック" pitchFamily="80" charset="-128"/>
                <a:cs typeface="+mn-cs"/>
              </a:rPr>
              <a:t>Settlement rule</a:t>
            </a:r>
          </a:p>
        </p:txBody>
      </p:sp>
      <p:sp>
        <p:nvSpPr>
          <p:cNvPr id="37" name="Rectangle 36">
            <a:extLst>
              <a:ext uri="{FF2B5EF4-FFF2-40B4-BE49-F238E27FC236}">
                <a16:creationId xmlns:a16="http://schemas.microsoft.com/office/drawing/2014/main" id="{8C7C3E7F-2E72-4317-B7FC-F05BEB8E08F9}"/>
              </a:ext>
            </a:extLst>
          </p:cNvPr>
          <p:cNvSpPr/>
          <p:nvPr/>
        </p:nvSpPr>
        <p:spPr bwMode="auto">
          <a:xfrm>
            <a:off x="634970" y="5425243"/>
            <a:ext cx="11041089" cy="1077218"/>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2. It will also be possible to create a statistical WBS element and manually enter CO-PA characteristics such as brand family &amp; product type or SKU directly in postings such as manual journals or manual vendor / customer invoices. This approach is only recommended where the amounts or proportions to be allocated are calculated in another system such as TME</a:t>
            </a:r>
          </a:p>
        </p:txBody>
      </p:sp>
      <p:sp>
        <p:nvSpPr>
          <p:cNvPr id="38" name="Right Arrow 11">
            <a:extLst>
              <a:ext uri="{FF2B5EF4-FFF2-40B4-BE49-F238E27FC236}">
                <a16:creationId xmlns:a16="http://schemas.microsoft.com/office/drawing/2014/main" id="{795DF996-522E-424B-8053-001E65D399A8}"/>
              </a:ext>
            </a:extLst>
          </p:cNvPr>
          <p:cNvSpPr/>
          <p:nvPr/>
        </p:nvSpPr>
        <p:spPr bwMode="auto">
          <a:xfrm>
            <a:off x="3952527" y="3775251"/>
            <a:ext cx="2143473" cy="637427"/>
          </a:xfrm>
          <a:prstGeom prst="rightArrow">
            <a:avLst/>
          </a:prstGeom>
          <a:gradFill rotWithShape="1">
            <a:gsLst>
              <a:gs pos="0">
                <a:srgbClr val="39454B">
                  <a:satMod val="103000"/>
                  <a:lumMod val="102000"/>
                  <a:tint val="94000"/>
                </a:srgbClr>
              </a:gs>
              <a:gs pos="50000">
                <a:srgbClr val="39454B">
                  <a:satMod val="110000"/>
                  <a:lumMod val="100000"/>
                  <a:shade val="100000"/>
                </a:srgbClr>
              </a:gs>
              <a:gs pos="100000">
                <a:srgbClr val="39454B">
                  <a:lumMod val="99000"/>
                  <a:satMod val="120000"/>
                  <a:shade val="78000"/>
                </a:srgbClr>
              </a:gs>
            </a:gsLst>
            <a:lin ang="5400000" scaled="0"/>
          </a:gra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39454B"/>
              </a:solidFill>
              <a:effectLst/>
              <a:uLnTx/>
              <a:uFillTx/>
              <a:latin typeface="Arial"/>
              <a:ea typeface="ＭＳ Ｐゴシック" charset="0"/>
              <a:cs typeface="+mn-cs"/>
            </a:endParaRPr>
          </a:p>
        </p:txBody>
      </p:sp>
      <p:sp>
        <p:nvSpPr>
          <p:cNvPr id="39" name="Oval 38">
            <a:extLst>
              <a:ext uri="{FF2B5EF4-FFF2-40B4-BE49-F238E27FC236}">
                <a16:creationId xmlns:a16="http://schemas.microsoft.com/office/drawing/2014/main" id="{394A8A3D-156F-4578-AB31-BD440497B905}"/>
              </a:ext>
            </a:extLst>
          </p:cNvPr>
          <p:cNvSpPr/>
          <p:nvPr/>
        </p:nvSpPr>
        <p:spPr bwMode="auto">
          <a:xfrm>
            <a:off x="4447971" y="4479600"/>
            <a:ext cx="1669194" cy="775718"/>
          </a:xfrm>
          <a:prstGeom prst="ellipse">
            <a:avLst/>
          </a:prstGeom>
          <a:solidFill>
            <a:srgbClr val="81C5B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39454B"/>
                </a:solidFill>
                <a:effectLst/>
                <a:uLnTx/>
                <a:uFillTx/>
                <a:latin typeface="Arial" charset="0"/>
                <a:ea typeface="ＭＳ Ｐゴシック" charset="0"/>
                <a:cs typeface="+mn-cs"/>
              </a:rPr>
              <a:t>Marketing project: $500M</a:t>
            </a:r>
          </a:p>
        </p:txBody>
      </p:sp>
      <p:graphicFrame>
        <p:nvGraphicFramePr>
          <p:cNvPr id="40" name="Table 39">
            <a:extLst>
              <a:ext uri="{FF2B5EF4-FFF2-40B4-BE49-F238E27FC236}">
                <a16:creationId xmlns:a16="http://schemas.microsoft.com/office/drawing/2014/main" id="{7B171EFD-960C-4A2C-9962-2C19B7E684C0}"/>
              </a:ext>
            </a:extLst>
          </p:cNvPr>
          <p:cNvGraphicFramePr>
            <a:graphicFrameLocks noGrp="1"/>
          </p:cNvGraphicFramePr>
          <p:nvPr/>
        </p:nvGraphicFramePr>
        <p:xfrm>
          <a:off x="6554301" y="3348881"/>
          <a:ext cx="3955412" cy="1606110"/>
        </p:xfrm>
        <a:graphic>
          <a:graphicData uri="http://schemas.openxmlformats.org/drawingml/2006/table">
            <a:tbl>
              <a:tblPr firstRow="1" bandRow="1"/>
              <a:tblGrid>
                <a:gridCol w="861303">
                  <a:extLst>
                    <a:ext uri="{9D8B030D-6E8A-4147-A177-3AD203B41FA5}">
                      <a16:colId xmlns:a16="http://schemas.microsoft.com/office/drawing/2014/main" val="2878213589"/>
                    </a:ext>
                  </a:extLst>
                </a:gridCol>
                <a:gridCol w="1074392">
                  <a:extLst>
                    <a:ext uri="{9D8B030D-6E8A-4147-A177-3AD203B41FA5}">
                      <a16:colId xmlns:a16="http://schemas.microsoft.com/office/drawing/2014/main" val="750885484"/>
                    </a:ext>
                  </a:extLst>
                </a:gridCol>
                <a:gridCol w="1438750">
                  <a:extLst>
                    <a:ext uri="{9D8B030D-6E8A-4147-A177-3AD203B41FA5}">
                      <a16:colId xmlns:a16="http://schemas.microsoft.com/office/drawing/2014/main" val="2480336109"/>
                    </a:ext>
                  </a:extLst>
                </a:gridCol>
                <a:gridCol w="580967">
                  <a:extLst>
                    <a:ext uri="{9D8B030D-6E8A-4147-A177-3AD203B41FA5}">
                      <a16:colId xmlns:a16="http://schemas.microsoft.com/office/drawing/2014/main" val="2189032374"/>
                    </a:ext>
                  </a:extLst>
                </a:gridCol>
              </a:tblGrid>
              <a:tr h="397950">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Brand</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Prod.</a:t>
                      </a:r>
                      <a:r>
                        <a:rPr lang="en-US" sz="1200" baseline="0"/>
                        <a:t> </a:t>
                      </a:r>
                      <a:r>
                        <a:rPr lang="en-US" sz="1200"/>
                        <a:t>type</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Marketing project</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200"/>
                        <a:t>%</a:t>
                      </a:r>
                    </a:p>
                  </a:txBody>
                  <a:tcPr>
                    <a:lnL w="12700" cmpd="sng">
                      <a:solidFill>
                        <a:srgbClr val="4DA790"/>
                      </a:solidFill>
                    </a:lnL>
                    <a:lnR w="12700" cmpd="sng">
                      <a:solidFill>
                        <a:srgbClr val="4DA790"/>
                      </a:solidFill>
                    </a:lnR>
                    <a:lnT w="12700" cmpd="sng">
                      <a:solidFill>
                        <a:srgbClr val="4DA790"/>
                      </a:solidFill>
                    </a:lnT>
                    <a:lnB w="25400" cmpd="sng">
                      <a:solidFill>
                        <a:srgbClr val="4DA790"/>
                      </a:solidFill>
                    </a:lnB>
                    <a:lnTlToBr w="12700" cmpd="sng">
                      <a:noFill/>
                      <a:prstDash val="solid"/>
                    </a:lnTlToBr>
                    <a:lnBlToTr w="12700" cmpd="sng">
                      <a:noFill/>
                      <a:prstDash val="solid"/>
                    </a:lnBlToTr>
                    <a:noFill/>
                  </a:tcPr>
                </a:tc>
                <a:extLst>
                  <a:ext uri="{0D108BD9-81ED-4DB2-BD59-A6C34878D82A}">
                    <a16:rowId xmlns:a16="http://schemas.microsoft.com/office/drawing/2014/main" val="2807539624"/>
                  </a:ext>
                </a:extLst>
              </a:tr>
              <a:tr h="382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LD</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375</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75%</a:t>
                      </a:r>
                    </a:p>
                  </a:txBody>
                  <a:tcPr>
                    <a:lnL w="12700" cmpd="sng">
                      <a:solidFill>
                        <a:srgbClr val="4DA790"/>
                      </a:solidFill>
                    </a:lnL>
                    <a:lnR w="12700" cmpd="sng">
                      <a:solidFill>
                        <a:srgbClr val="4DA790"/>
                      </a:solidFill>
                    </a:lnR>
                    <a:lnT w="254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extLst>
                  <a:ext uri="{0D108BD9-81ED-4DB2-BD59-A6C34878D82A}">
                    <a16:rowId xmlns:a16="http://schemas.microsoft.com/office/drawing/2014/main" val="2845065624"/>
                  </a:ext>
                </a:extLst>
              </a:tr>
              <a:tr h="382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Camel</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RMC</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125</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25%</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noFill/>
                  </a:tcPr>
                </a:tc>
                <a:extLst>
                  <a:ext uri="{0D108BD9-81ED-4DB2-BD59-A6C34878D82A}">
                    <a16:rowId xmlns:a16="http://schemas.microsoft.com/office/drawing/2014/main" val="179716098"/>
                  </a:ext>
                </a:extLst>
              </a:tr>
              <a:tr h="38297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TOTAL</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200"/>
                        <a:t>500</a:t>
                      </a:r>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endParaRPr lang="en-US" sz="1200"/>
                    </a:p>
                  </a:txBody>
                  <a:tcPr>
                    <a:lnL w="12700" cmpd="sng">
                      <a:solidFill>
                        <a:srgbClr val="4DA790"/>
                      </a:solidFill>
                    </a:lnL>
                    <a:lnR w="12700" cmpd="sng">
                      <a:solidFill>
                        <a:srgbClr val="4DA790"/>
                      </a:solidFill>
                    </a:lnR>
                    <a:lnT w="12700" cmpd="sng">
                      <a:solidFill>
                        <a:srgbClr val="4DA790"/>
                      </a:solidFill>
                    </a:lnT>
                    <a:lnB w="12700" cmpd="sng">
                      <a:solidFill>
                        <a:srgbClr val="4DA790"/>
                      </a:solidFill>
                    </a:lnB>
                    <a:lnTlToBr w="12700" cmpd="sng">
                      <a:noFill/>
                      <a:prstDash val="solid"/>
                    </a:lnTlToBr>
                    <a:lnBlToTr w="12700" cmpd="sng">
                      <a:noFill/>
                      <a:prstDash val="solid"/>
                    </a:lnBlToTr>
                    <a:solidFill>
                      <a:srgbClr val="4DA790">
                        <a:alpha val="20000"/>
                      </a:srgbClr>
                    </a:solidFill>
                  </a:tcPr>
                </a:tc>
                <a:extLst>
                  <a:ext uri="{0D108BD9-81ED-4DB2-BD59-A6C34878D82A}">
                    <a16:rowId xmlns:a16="http://schemas.microsoft.com/office/drawing/2014/main" val="370913626"/>
                  </a:ext>
                </a:extLst>
              </a:tr>
            </a:tbl>
          </a:graphicData>
        </a:graphic>
      </p:graphicFrame>
    </p:spTree>
    <p:extLst>
      <p:ext uri="{BB962C8B-B14F-4D97-AF65-F5344CB8AC3E}">
        <p14:creationId xmlns:p14="http://schemas.microsoft.com/office/powerpoint/2010/main" val="133103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1000"/>
                                        <p:tgtEl>
                                          <p:spTgt spid="36"/>
                                        </p:tgtEl>
                                      </p:cBhvr>
                                    </p:animEffect>
                                    <p:anim calcmode="lin" valueType="num">
                                      <p:cBhvr>
                                        <p:cTn id="18" dur="1000" fill="hold"/>
                                        <p:tgtEl>
                                          <p:spTgt spid="36"/>
                                        </p:tgtEl>
                                        <p:attrNameLst>
                                          <p:attrName>ppt_x</p:attrName>
                                        </p:attrNameLst>
                                      </p:cBhvr>
                                      <p:tavLst>
                                        <p:tav tm="0">
                                          <p:val>
                                            <p:strVal val="#ppt_x"/>
                                          </p:val>
                                        </p:tav>
                                        <p:tav tm="100000">
                                          <p:val>
                                            <p:strVal val="#ppt_x"/>
                                          </p:val>
                                        </p:tav>
                                      </p:tavLst>
                                    </p:anim>
                                    <p:anim calcmode="lin" valueType="num">
                                      <p:cBhvr>
                                        <p:cTn id="1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1000"/>
                                        <p:tgtEl>
                                          <p:spTgt spid="38"/>
                                        </p:tgtEl>
                                      </p:cBhvr>
                                    </p:animEffect>
                                    <p:anim calcmode="lin" valueType="num">
                                      <p:cBhvr>
                                        <p:cTn id="32" dur="1000" fill="hold"/>
                                        <p:tgtEl>
                                          <p:spTgt spid="38"/>
                                        </p:tgtEl>
                                        <p:attrNameLst>
                                          <p:attrName>ppt_x</p:attrName>
                                        </p:attrNameLst>
                                      </p:cBhvr>
                                      <p:tavLst>
                                        <p:tav tm="0">
                                          <p:val>
                                            <p:strVal val="#ppt_x"/>
                                          </p:val>
                                        </p:tav>
                                        <p:tav tm="100000">
                                          <p:val>
                                            <p:strVal val="#ppt_x"/>
                                          </p:val>
                                        </p:tav>
                                      </p:tavLst>
                                    </p:anim>
                                    <p:anim calcmode="lin" valueType="num">
                                      <p:cBhvr>
                                        <p:cTn id="33" dur="1000" fill="hold"/>
                                        <p:tgtEl>
                                          <p:spTgt spid="3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1000"/>
                                        <p:tgtEl>
                                          <p:spTgt spid="39"/>
                                        </p:tgtEl>
                                      </p:cBhvr>
                                    </p:animEffect>
                                    <p:anim calcmode="lin" valueType="num">
                                      <p:cBhvr>
                                        <p:cTn id="37" dur="1000" fill="hold"/>
                                        <p:tgtEl>
                                          <p:spTgt spid="39"/>
                                        </p:tgtEl>
                                        <p:attrNameLst>
                                          <p:attrName>ppt_x</p:attrName>
                                        </p:attrNameLst>
                                      </p:cBhvr>
                                      <p:tavLst>
                                        <p:tav tm="0">
                                          <p:val>
                                            <p:strVal val="#ppt_x"/>
                                          </p:val>
                                        </p:tav>
                                        <p:tav tm="100000">
                                          <p:val>
                                            <p:strVal val="#ppt_x"/>
                                          </p:val>
                                        </p:tav>
                                      </p:tavLst>
                                    </p:anim>
                                    <p:anim calcmode="lin" valueType="num">
                                      <p:cBhvr>
                                        <p:cTn id="38" dur="1000" fill="hold"/>
                                        <p:tgtEl>
                                          <p:spTgt spid="39"/>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6" grpId="0"/>
      <p:bldP spid="37"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5ED7-B09D-4255-BC15-2B5B5B04C0D1}"/>
              </a:ext>
            </a:extLst>
          </p:cNvPr>
          <p:cNvSpPr>
            <a:spLocks noGrp="1"/>
          </p:cNvSpPr>
          <p:nvPr>
            <p:ph type="title"/>
          </p:nvPr>
        </p:nvSpPr>
        <p:spPr/>
        <p:txBody>
          <a:bodyPr/>
          <a:lstStyle/>
          <a:p>
            <a:r>
              <a:rPr lang="en-US" dirty="0"/>
              <a:t>WBS allocation keys and posting rules</a:t>
            </a:r>
          </a:p>
        </p:txBody>
      </p:sp>
      <p:sp>
        <p:nvSpPr>
          <p:cNvPr id="5" name="Slide Number Placeholder 4">
            <a:extLst>
              <a:ext uri="{FF2B5EF4-FFF2-40B4-BE49-F238E27FC236}">
                <a16:creationId xmlns:a16="http://schemas.microsoft.com/office/drawing/2014/main" id="{B62E983B-AAE6-48E8-9068-FAC8C4847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579805AA-5D70-4823-B789-062D5DF1FF8C}"/>
              </a:ext>
            </a:extLst>
          </p:cNvPr>
          <p:cNvSpPr txBox="1"/>
          <p:nvPr/>
        </p:nvSpPr>
        <p:spPr>
          <a:xfrm>
            <a:off x="786200" y="1518886"/>
            <a:ext cx="9843700" cy="3746186"/>
          </a:xfrm>
          <a:prstGeom prst="rect">
            <a:avLst/>
          </a:prstGeom>
          <a:noFill/>
        </p:spPr>
        <p:txBody>
          <a:bodyPr wrap="square" lIns="0" tIns="0" rIns="0" bIns="0" rtlCol="0">
            <a:noAutofit/>
          </a:bodyPr>
          <a:lstStyle/>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Allocation keys are assigned when creating the Multi Brand WBS in Fiori </a:t>
            </a: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r>
              <a:rPr lang="en-US" dirty="0">
                <a:solidFill>
                  <a:srgbClr val="000000"/>
                </a:solidFill>
                <a:latin typeface="Arial" panose="020B0604020202020204"/>
                <a:ea typeface="ＭＳ Ｐゴシック" pitchFamily="80" charset="-128"/>
              </a:rPr>
              <a:t>Hubs are an optional entry</a:t>
            </a: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pic>
        <p:nvPicPr>
          <p:cNvPr id="12" name="Picture 11">
            <a:extLst>
              <a:ext uri="{FF2B5EF4-FFF2-40B4-BE49-F238E27FC236}">
                <a16:creationId xmlns:a16="http://schemas.microsoft.com/office/drawing/2014/main" id="{D8F1EB8B-2525-4B3D-8CA7-EC59A84BC0B2}"/>
              </a:ext>
            </a:extLst>
          </p:cNvPr>
          <p:cNvPicPr>
            <a:picLocks noChangeAspect="1"/>
          </p:cNvPicPr>
          <p:nvPr/>
        </p:nvPicPr>
        <p:blipFill>
          <a:blip r:embed="rId2"/>
          <a:stretch>
            <a:fillRect/>
          </a:stretch>
        </p:blipFill>
        <p:spPr>
          <a:xfrm>
            <a:off x="650559" y="2210640"/>
            <a:ext cx="5026023" cy="3229961"/>
          </a:xfrm>
          <a:prstGeom prst="rect">
            <a:avLst/>
          </a:prstGeom>
          <a:ln w="19050">
            <a:solidFill>
              <a:srgbClr val="00B050"/>
            </a:solidFill>
          </a:ln>
        </p:spPr>
      </p:pic>
      <p:pic>
        <p:nvPicPr>
          <p:cNvPr id="13" name="Picture 12">
            <a:extLst>
              <a:ext uri="{FF2B5EF4-FFF2-40B4-BE49-F238E27FC236}">
                <a16:creationId xmlns:a16="http://schemas.microsoft.com/office/drawing/2014/main" id="{54EC1032-2FEB-4009-B648-11A99FA8DC49}"/>
              </a:ext>
            </a:extLst>
          </p:cNvPr>
          <p:cNvPicPr>
            <a:picLocks noChangeAspect="1"/>
          </p:cNvPicPr>
          <p:nvPr/>
        </p:nvPicPr>
        <p:blipFill>
          <a:blip r:embed="rId3"/>
          <a:stretch>
            <a:fillRect/>
          </a:stretch>
        </p:blipFill>
        <p:spPr>
          <a:xfrm>
            <a:off x="5812223" y="1877823"/>
            <a:ext cx="1980825" cy="2440491"/>
          </a:xfrm>
          <a:prstGeom prst="rect">
            <a:avLst/>
          </a:prstGeom>
          <a:ln w="19050">
            <a:solidFill>
              <a:srgbClr val="00B050"/>
            </a:solidFill>
            <a:prstDash val="sysDash"/>
          </a:ln>
        </p:spPr>
      </p:pic>
      <p:pic>
        <p:nvPicPr>
          <p:cNvPr id="7" name="Graphic 6" descr="Workflow">
            <a:extLst>
              <a:ext uri="{FF2B5EF4-FFF2-40B4-BE49-F238E27FC236}">
                <a16:creationId xmlns:a16="http://schemas.microsoft.com/office/drawing/2014/main" id="{AE66C14D-F420-454A-B1F0-057AAB7E1BC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10006" y="1296240"/>
            <a:ext cx="914400" cy="914400"/>
          </a:xfrm>
          <a:prstGeom prst="rect">
            <a:avLst/>
          </a:prstGeom>
        </p:spPr>
      </p:pic>
      <p:sp>
        <p:nvSpPr>
          <p:cNvPr id="8" name="TextBox 7">
            <a:extLst>
              <a:ext uri="{FF2B5EF4-FFF2-40B4-BE49-F238E27FC236}">
                <a16:creationId xmlns:a16="http://schemas.microsoft.com/office/drawing/2014/main" id="{9E6067A5-8CE8-4DB7-B2AE-DEA0DDFC985C}"/>
              </a:ext>
            </a:extLst>
          </p:cNvPr>
          <p:cNvSpPr txBox="1"/>
          <p:nvPr/>
        </p:nvSpPr>
        <p:spPr>
          <a:xfrm>
            <a:off x="10815001" y="2175080"/>
            <a:ext cx="875981" cy="120904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hlinkClick r:id="rId6"/>
              </a:rPr>
              <a:t>Click here for a Allocation Key and accounts</a:t>
            </a: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CF94B54E-7110-45BB-B39A-014A71D1645B}"/>
              </a:ext>
            </a:extLst>
          </p:cNvPr>
          <p:cNvSpPr/>
          <p:nvPr/>
        </p:nvSpPr>
        <p:spPr>
          <a:xfrm>
            <a:off x="5812223" y="4400169"/>
            <a:ext cx="6249062" cy="2024761"/>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Allocation Key (Mandatory)</a:t>
            </a: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A key which determines the rule for WBS allocation at month end. The allocation key defines which brand family and product types should be considered for the allocation. See more </a:t>
            </a:r>
            <a:r>
              <a:rPr lang="en-US" sz="1100" dirty="0">
                <a:solidFill>
                  <a:srgbClr val="000000"/>
                </a:solidFill>
                <a:latin typeface="Arial" panose="020B0604020202020204"/>
              </a:rPr>
              <a:t>on allocation keys </a:t>
            </a:r>
            <a:r>
              <a:rPr lang="en-US" sz="1100" dirty="0">
                <a:solidFill>
                  <a:srgbClr val="000000"/>
                </a:solidFill>
                <a:latin typeface="Arial" panose="020B0604020202020204"/>
                <a:hlinkClick r:id="rId7"/>
              </a:rPr>
              <a:t>here</a:t>
            </a:r>
            <a:endParaRPr lang="en-US" sz="1100" dirty="0">
              <a:solidFill>
                <a:srgbClr val="000000"/>
              </a:solidFill>
              <a:latin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lvl="0">
              <a:defRPr/>
            </a:pPr>
            <a:r>
              <a:rPr kumimoji="0" lang="en-US" sz="1100" b="1" i="0" u="none" strike="noStrike" kern="1200" cap="none" spc="0" normalizeH="0" baseline="0" noProof="0" dirty="0">
                <a:ln>
                  <a:noFill/>
                </a:ln>
                <a:solidFill>
                  <a:srgbClr val="000000"/>
                </a:solidFill>
                <a:effectLst/>
                <a:uLnTx/>
                <a:uFillTx/>
                <a:latin typeface="Arial" panose="020B0604020202020204"/>
                <a:ea typeface="+mn-ea"/>
                <a:cs typeface="+mn-cs"/>
              </a:rPr>
              <a:t>Hub (Optional): </a:t>
            </a: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A key which determines the reference market(s) from which the system should analyze sales to calculate the allocation, to be used in cases where the costs are incurred in a difference profit center(s) to the sales revenue or volumes. Please note – in most cases this should not be populated. There is a validation that will prevent hub being used except for management or global functions profit </a:t>
            </a:r>
            <a:r>
              <a:rPr lang="en-US" sz="1100" dirty="0">
                <a:solidFill>
                  <a:srgbClr val="000000"/>
                </a:solidFill>
              </a:rPr>
              <a:t>centers. It is used by profit centers where we have above brand contribution expenses, but don’t have 3rd party sales. This is mainly for Global Functions (G* profit centers) or Management profit centers (M*).</a:t>
            </a: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1" name="Picture 10">
            <a:extLst>
              <a:ext uri="{FF2B5EF4-FFF2-40B4-BE49-F238E27FC236}">
                <a16:creationId xmlns:a16="http://schemas.microsoft.com/office/drawing/2014/main" id="{9685912F-B6B0-4A23-B016-5A5B881D34E1}"/>
              </a:ext>
            </a:extLst>
          </p:cNvPr>
          <p:cNvPicPr>
            <a:picLocks noChangeAspect="1"/>
          </p:cNvPicPr>
          <p:nvPr/>
        </p:nvPicPr>
        <p:blipFill>
          <a:blip r:embed="rId8"/>
          <a:stretch>
            <a:fillRect/>
          </a:stretch>
        </p:blipFill>
        <p:spPr>
          <a:xfrm>
            <a:off x="8124776" y="2730351"/>
            <a:ext cx="2325732" cy="1587963"/>
          </a:xfrm>
          <a:prstGeom prst="rect">
            <a:avLst/>
          </a:prstGeom>
          <a:ln w="19050">
            <a:solidFill>
              <a:srgbClr val="00B050"/>
            </a:solidFill>
            <a:prstDash val="sysDash"/>
          </a:ln>
        </p:spPr>
      </p:pic>
    </p:spTree>
    <p:extLst>
      <p:ext uri="{BB962C8B-B14F-4D97-AF65-F5344CB8AC3E}">
        <p14:creationId xmlns:p14="http://schemas.microsoft.com/office/powerpoint/2010/main" val="3296499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A70B-4811-42B0-9C21-A3E0ED5074EA}"/>
              </a:ext>
            </a:extLst>
          </p:cNvPr>
          <p:cNvSpPr>
            <a:spLocks noGrp="1"/>
          </p:cNvSpPr>
          <p:nvPr>
            <p:ph type="title"/>
          </p:nvPr>
        </p:nvSpPr>
        <p:spPr/>
        <p:txBody>
          <a:bodyPr/>
          <a:lstStyle/>
          <a:p>
            <a:r>
              <a:rPr lang="en-GB" dirty="0"/>
              <a:t>WBS Allocation Keys: HUB Requirement Update </a:t>
            </a:r>
            <a:r>
              <a:rPr lang="en-GB" sz="1800" dirty="0"/>
              <a:t>(with exception of WBS elements with allocation type ZZZ)</a:t>
            </a:r>
            <a:endParaRPr lang="en-US" dirty="0"/>
          </a:p>
        </p:txBody>
      </p:sp>
      <p:sp>
        <p:nvSpPr>
          <p:cNvPr id="5" name="Slide Number Placeholder 4">
            <a:extLst>
              <a:ext uri="{FF2B5EF4-FFF2-40B4-BE49-F238E27FC236}">
                <a16:creationId xmlns:a16="http://schemas.microsoft.com/office/drawing/2014/main" id="{F87D8740-1D81-41C0-AC3D-798671475EB2}"/>
              </a:ext>
            </a:extLst>
          </p:cNvPr>
          <p:cNvSpPr>
            <a:spLocks noGrp="1"/>
          </p:cNvSpPr>
          <p:nvPr>
            <p:ph type="sldNum" sz="quarter" idx="12"/>
          </p:nvPr>
        </p:nvSpPr>
        <p:spPr/>
        <p:txBody>
          <a:bodyPr/>
          <a:lstStyle/>
          <a:p>
            <a:fld id="{F4C94289-3309-4C35-850A-56FD49B3E346}" type="slidenum">
              <a:rPr lang="en-GB" smtClean="0"/>
              <a:t>18</a:t>
            </a:fld>
            <a:endParaRPr lang="en-GB"/>
          </a:p>
        </p:txBody>
      </p:sp>
      <p:pic>
        <p:nvPicPr>
          <p:cNvPr id="2050" name="Picture 2" descr="image011">
            <a:extLst>
              <a:ext uri="{FF2B5EF4-FFF2-40B4-BE49-F238E27FC236}">
                <a16:creationId xmlns:a16="http://schemas.microsoft.com/office/drawing/2014/main" id="{F98E6598-284A-4699-8613-85181C2B5A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286" y="2946754"/>
            <a:ext cx="9704401" cy="335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D277D291-116A-43E4-897A-FE75E93CCCCF}"/>
              </a:ext>
            </a:extLst>
          </p:cNvPr>
          <p:cNvSpPr/>
          <p:nvPr/>
        </p:nvSpPr>
        <p:spPr>
          <a:xfrm>
            <a:off x="558482" y="1474978"/>
            <a:ext cx="10514011" cy="128016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1600" b="1" dirty="0">
                <a:solidFill>
                  <a:srgbClr val="000000"/>
                </a:solidFill>
                <a:latin typeface="Arial" panose="020B0604020202020204"/>
              </a:rPr>
              <a:t>A</a:t>
            </a:r>
            <a:r>
              <a:rPr lang="en-US" sz="1600" b="1" dirty="0">
                <a:solidFill>
                  <a:srgbClr val="000000"/>
                </a:solidFill>
                <a:latin typeface="Arial" panose="020B0604020202020204"/>
              </a:rPr>
              <a:t> new validation rule has been created to check the need to include an appropriate HUB. </a:t>
            </a:r>
          </a:p>
          <a:p>
            <a:pPr lvl="0">
              <a:defRPr/>
            </a:pPr>
            <a:r>
              <a:rPr lang="en-US" sz="1600" dirty="0">
                <a:solidFill>
                  <a:srgbClr val="000000"/>
                </a:solidFill>
                <a:latin typeface="Arial" panose="020B0604020202020204"/>
              </a:rPr>
              <a:t>For Profit Centers beginning with G* or M* a new validation rule will alert users to the need to include HUB information for all projects that are being created for these Profit Centers. If HUB details for these specific profit centers are not entered for the required WBS elements, users will now see an error message instructing them to provide a hub. If the hub is not entered the WBS cannot be saved. </a:t>
            </a:r>
            <a:endParaRPr kumimoji="0" lang="en-US" sz="160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50246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5ED7-B09D-4255-BC15-2B5B5B04C0D1}"/>
              </a:ext>
            </a:extLst>
          </p:cNvPr>
          <p:cNvSpPr>
            <a:spLocks noGrp="1"/>
          </p:cNvSpPr>
          <p:nvPr>
            <p:ph type="title"/>
          </p:nvPr>
        </p:nvSpPr>
        <p:spPr/>
        <p:txBody>
          <a:bodyPr/>
          <a:lstStyle/>
          <a:p>
            <a:r>
              <a:rPr lang="en-US"/>
              <a:t>WBS allocation keys and posting rules</a:t>
            </a:r>
          </a:p>
        </p:txBody>
      </p:sp>
      <p:sp>
        <p:nvSpPr>
          <p:cNvPr id="4" name="Footer Placeholder 3">
            <a:extLst>
              <a:ext uri="{FF2B5EF4-FFF2-40B4-BE49-F238E27FC236}">
                <a16:creationId xmlns:a16="http://schemas.microsoft.com/office/drawing/2014/main" id="{33182F0C-92B6-4E69-836E-259849DCB8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62E983B-AAE6-48E8-9068-FAC8C4847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579805AA-5D70-4823-B789-062D5DF1FF8C}"/>
              </a:ext>
            </a:extLst>
          </p:cNvPr>
          <p:cNvSpPr txBox="1"/>
          <p:nvPr/>
        </p:nvSpPr>
        <p:spPr>
          <a:xfrm>
            <a:off x="786200" y="1518886"/>
            <a:ext cx="9843700" cy="3746186"/>
          </a:xfrm>
          <a:prstGeom prst="rect">
            <a:avLst/>
          </a:prstGeom>
          <a:noFill/>
        </p:spPr>
        <p:txBody>
          <a:bodyPr wrap="square" lIns="0" tIns="0" rIns="0" bIns="0" rtlCol="0">
            <a:noAutofit/>
          </a:bodyPr>
          <a:lstStyle/>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G/L account (together with Functional Area) belonging to a particular P&amp;L line determines:</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P&amp;L Granularity</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Basis for the ratio calculation</a:t>
            </a:r>
          </a:p>
          <a:p>
            <a:pPr marL="457200" marR="0" lvl="1"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742950" marR="0" lvl="1"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457200" marR="0" lvl="1"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457200" marR="0" lvl="1"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Allocation key in WBS master data determines:</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Reference Brand family and product type whose sales should be taken into account for ratio calculation</a:t>
            </a:r>
          </a:p>
          <a:p>
            <a:pPr marL="742950" marR="0" lvl="1" indent="-285750" algn="l" defTabSz="914400" rtl="0" eaLnBrk="1" fontAlgn="base"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Target Brand Family and product type to which costs on WBS element should be allocated</a:t>
            </a: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p:txBody>
      </p:sp>
      <p:graphicFrame>
        <p:nvGraphicFramePr>
          <p:cNvPr id="7" name="Table 6">
            <a:extLst>
              <a:ext uri="{FF2B5EF4-FFF2-40B4-BE49-F238E27FC236}">
                <a16:creationId xmlns:a16="http://schemas.microsoft.com/office/drawing/2014/main" id="{7A3A867A-E1C2-408B-901D-1A330418A16D}"/>
              </a:ext>
            </a:extLst>
          </p:cNvPr>
          <p:cNvGraphicFramePr>
            <a:graphicFrameLocks noGrp="1"/>
          </p:cNvGraphicFramePr>
          <p:nvPr/>
        </p:nvGraphicFramePr>
        <p:xfrm>
          <a:off x="5389130" y="1948002"/>
          <a:ext cx="5396701" cy="1292928"/>
        </p:xfrm>
        <a:graphic>
          <a:graphicData uri="http://schemas.openxmlformats.org/drawingml/2006/table">
            <a:tbl>
              <a:tblPr firstRow="1" bandRow="1">
                <a:tableStyleId>{10A1B5D5-9B99-4C35-A422-299274C87663}</a:tableStyleId>
              </a:tblPr>
              <a:tblGrid>
                <a:gridCol w="1368527">
                  <a:extLst>
                    <a:ext uri="{9D8B030D-6E8A-4147-A177-3AD203B41FA5}">
                      <a16:colId xmlns:a16="http://schemas.microsoft.com/office/drawing/2014/main" val="1408585141"/>
                    </a:ext>
                  </a:extLst>
                </a:gridCol>
                <a:gridCol w="2340833">
                  <a:extLst>
                    <a:ext uri="{9D8B030D-6E8A-4147-A177-3AD203B41FA5}">
                      <a16:colId xmlns:a16="http://schemas.microsoft.com/office/drawing/2014/main" val="3704198450"/>
                    </a:ext>
                  </a:extLst>
                </a:gridCol>
                <a:gridCol w="1687341">
                  <a:extLst>
                    <a:ext uri="{9D8B030D-6E8A-4147-A177-3AD203B41FA5}">
                      <a16:colId xmlns:a16="http://schemas.microsoft.com/office/drawing/2014/main" val="2304701410"/>
                    </a:ext>
                  </a:extLst>
                </a:gridCol>
              </a:tblGrid>
              <a:tr h="469968">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G/L ACCOUNT</a:t>
                      </a:r>
                    </a:p>
                  </a:txBody>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GRANULARITY</a:t>
                      </a:r>
                    </a:p>
                  </a:txBody>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CALCULATION BASIS</a:t>
                      </a:r>
                    </a:p>
                  </a:txBody>
                  <a:tcPr/>
                </a:tc>
                <a:extLst>
                  <a:ext uri="{0D108BD9-81ED-4DB2-BD59-A6C34878D82A}">
                    <a16:rowId xmlns:a16="http://schemas.microsoft.com/office/drawing/2014/main" val="1571174423"/>
                  </a:ext>
                </a:extLst>
              </a:tr>
              <a:tr h="469968">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503070</a:t>
                      </a:r>
                    </a:p>
                  </a:txBody>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Brand Family/Product Type</a:t>
                      </a:r>
                    </a:p>
                  </a:txBody>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Net Revenue</a:t>
                      </a:r>
                    </a:p>
                  </a:txBody>
                  <a:tcPr/>
                </a:tc>
                <a:extLst>
                  <a:ext uri="{0D108BD9-81ED-4DB2-BD59-A6C34878D82A}">
                    <a16:rowId xmlns:a16="http://schemas.microsoft.com/office/drawing/2014/main" val="2878511206"/>
                  </a:ext>
                </a:extLst>
              </a:tr>
              <a:tr h="272087">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430050</a:t>
                      </a:r>
                    </a:p>
                  </a:txBody>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a:t>
                      </a:r>
                    </a:p>
                  </a:txBody>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Net Volumes</a:t>
                      </a:r>
                    </a:p>
                  </a:txBody>
                  <a:tcPr/>
                </a:tc>
                <a:extLst>
                  <a:ext uri="{0D108BD9-81ED-4DB2-BD59-A6C34878D82A}">
                    <a16:rowId xmlns:a16="http://schemas.microsoft.com/office/drawing/2014/main" val="1120057004"/>
                  </a:ext>
                </a:extLst>
              </a:tr>
            </a:tbl>
          </a:graphicData>
        </a:graphic>
      </p:graphicFrame>
      <p:graphicFrame>
        <p:nvGraphicFramePr>
          <p:cNvPr id="8" name="Table 7">
            <a:extLst>
              <a:ext uri="{FF2B5EF4-FFF2-40B4-BE49-F238E27FC236}">
                <a16:creationId xmlns:a16="http://schemas.microsoft.com/office/drawing/2014/main" id="{7DEA9B1F-48E3-4536-9409-907F8F432838}"/>
              </a:ext>
            </a:extLst>
          </p:cNvPr>
          <p:cNvGraphicFramePr>
            <a:graphicFrameLocks noGrp="1"/>
          </p:cNvGraphicFramePr>
          <p:nvPr/>
        </p:nvGraphicFramePr>
        <p:xfrm>
          <a:off x="3627507" y="4760251"/>
          <a:ext cx="3754344" cy="1645920"/>
        </p:xfrm>
        <a:graphic>
          <a:graphicData uri="http://schemas.openxmlformats.org/drawingml/2006/table">
            <a:tbl>
              <a:tblPr firstRow="1" bandRow="1"/>
              <a:tblGrid>
                <a:gridCol w="1804979">
                  <a:extLst>
                    <a:ext uri="{9D8B030D-6E8A-4147-A177-3AD203B41FA5}">
                      <a16:colId xmlns:a16="http://schemas.microsoft.com/office/drawing/2014/main" val="34141962"/>
                    </a:ext>
                  </a:extLst>
                </a:gridCol>
                <a:gridCol w="1949365">
                  <a:extLst>
                    <a:ext uri="{9D8B030D-6E8A-4147-A177-3AD203B41FA5}">
                      <a16:colId xmlns:a16="http://schemas.microsoft.com/office/drawing/2014/main" val="3073078919"/>
                    </a:ext>
                  </a:extLst>
                </a:gridCol>
              </a:tblGrid>
              <a:tr h="225576">
                <a:tc gridSpan="2">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200">
                          <a:solidFill>
                            <a:schemeClr val="tx1"/>
                          </a:solidFill>
                        </a:rPr>
                        <a:t>ALLOCATON KEY GFB0</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hMerge="1">
                  <a:txBody>
                    <a:bodyPr/>
                    <a:lstStyle/>
                    <a:p>
                      <a:endParaRPr lang="ru-RU" sz="1400"/>
                    </a:p>
                  </a:txBody>
                  <a:tcPr/>
                </a:tc>
                <a:extLst>
                  <a:ext uri="{0D108BD9-81ED-4DB2-BD59-A6C34878D82A}">
                    <a16:rowId xmlns:a16="http://schemas.microsoft.com/office/drawing/2014/main" val="2976193306"/>
                  </a:ext>
                </a:extLst>
              </a:tr>
              <a:tr h="225576">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b="1">
                          <a:solidFill>
                            <a:schemeClr val="bg1"/>
                          </a:solidFill>
                        </a:rPr>
                        <a:t>BRAND FAMILY</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F9195"/>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b="1">
                          <a:solidFill>
                            <a:schemeClr val="bg1"/>
                          </a:solidFill>
                        </a:rPr>
                        <a:t>PRODUCT TYPE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F9195"/>
                    </a:solidFill>
                  </a:tcPr>
                </a:tc>
                <a:extLst>
                  <a:ext uri="{0D108BD9-81ED-4DB2-BD59-A6C34878D82A}">
                    <a16:rowId xmlns:a16="http://schemas.microsoft.com/office/drawing/2014/main" val="2908321078"/>
                  </a:ext>
                </a:extLst>
              </a:tr>
              <a:tr h="225576">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a:t>WI</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rowSpan="4">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endParaRPr lang="en-US" sz="1200"/>
                    </a:p>
                    <a:p>
                      <a:pPr algn="ctr"/>
                      <a:endParaRPr lang="en-US" sz="1200"/>
                    </a:p>
                    <a:p>
                      <a:pPr algn="ctr"/>
                      <a:r>
                        <a:rPr lang="en-US" sz="1200"/>
                        <a:t>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1306983528"/>
                  </a:ext>
                </a:extLst>
              </a:tr>
              <a:tr h="225576">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a:t>CA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vMerge="1">
                  <a:txBody>
                    <a:bodyPr/>
                    <a:lstStyle/>
                    <a:p>
                      <a:endParaRPr lang="ru-RU" sz="1400"/>
                    </a:p>
                  </a:txBody>
                  <a:tcPr/>
                </a:tc>
                <a:extLst>
                  <a:ext uri="{0D108BD9-81ED-4DB2-BD59-A6C34878D82A}">
                    <a16:rowId xmlns:a16="http://schemas.microsoft.com/office/drawing/2014/main" val="1855348950"/>
                  </a:ext>
                </a:extLst>
              </a:tr>
              <a:tr h="225576">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a:t>EV</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vMerge="1">
                  <a:txBody>
                    <a:bodyPr/>
                    <a:lstStyle/>
                    <a:p>
                      <a:endParaRPr lang="ru-RU" sz="1400"/>
                    </a:p>
                  </a:txBody>
                  <a:tcPr/>
                </a:tc>
                <a:extLst>
                  <a:ext uri="{0D108BD9-81ED-4DB2-BD59-A6C34878D82A}">
                    <a16:rowId xmlns:a16="http://schemas.microsoft.com/office/drawing/2014/main" val="2554110767"/>
                  </a:ext>
                </a:extLst>
              </a:tr>
              <a:tr h="225576">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200"/>
                        <a:t>LD</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vMerge="1">
                  <a:txBody>
                    <a:bodyPr/>
                    <a:lstStyle/>
                    <a:p>
                      <a:endParaRPr lang="ru-RU" sz="1400"/>
                    </a:p>
                  </a:txBody>
                  <a:tcPr/>
                </a:tc>
                <a:extLst>
                  <a:ext uri="{0D108BD9-81ED-4DB2-BD59-A6C34878D82A}">
                    <a16:rowId xmlns:a16="http://schemas.microsoft.com/office/drawing/2014/main" val="2985489745"/>
                  </a:ext>
                </a:extLst>
              </a:tr>
            </a:tbl>
          </a:graphicData>
        </a:graphic>
      </p:graphicFrame>
      <p:sp>
        <p:nvSpPr>
          <p:cNvPr id="9" name="Arrow: Pentagon 8">
            <a:extLst>
              <a:ext uri="{FF2B5EF4-FFF2-40B4-BE49-F238E27FC236}">
                <a16:creationId xmlns:a16="http://schemas.microsoft.com/office/drawing/2014/main" id="{54E2B327-10E8-492B-A635-22AF6C41E16B}"/>
              </a:ext>
            </a:extLst>
          </p:cNvPr>
          <p:cNvSpPr/>
          <p:nvPr/>
        </p:nvSpPr>
        <p:spPr>
          <a:xfrm>
            <a:off x="1451307" y="5054318"/>
            <a:ext cx="1690722" cy="833624"/>
          </a:xfrm>
          <a:prstGeom prst="homePlate">
            <a:avLst/>
          </a:prstGeom>
          <a:solidFill>
            <a:srgbClr val="00B2A9"/>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Arial" panose="020B0604020202020204"/>
                <a:ea typeface="+mn-ea"/>
                <a:cs typeface="+mn-cs"/>
              </a:rPr>
              <a:t>SALES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panose="020B0604020202020204"/>
                <a:ea typeface="+mn-ea"/>
                <a:cs typeface="+mn-cs"/>
              </a:rPr>
              <a:t>WI/CA/EV/LD RMC</a:t>
            </a:r>
          </a:p>
        </p:txBody>
      </p:sp>
      <p:sp>
        <p:nvSpPr>
          <p:cNvPr id="10" name="Arrow: Pentagon 9">
            <a:extLst>
              <a:ext uri="{FF2B5EF4-FFF2-40B4-BE49-F238E27FC236}">
                <a16:creationId xmlns:a16="http://schemas.microsoft.com/office/drawing/2014/main" id="{6EC49A00-B14E-48F8-9485-69A4538BEB5B}"/>
              </a:ext>
            </a:extLst>
          </p:cNvPr>
          <p:cNvSpPr/>
          <p:nvPr/>
        </p:nvSpPr>
        <p:spPr>
          <a:xfrm>
            <a:off x="7867330" y="5054317"/>
            <a:ext cx="1690722" cy="964165"/>
          </a:xfrm>
          <a:prstGeom prst="homePlate">
            <a:avLst/>
          </a:prstGeom>
          <a:solidFill>
            <a:srgbClr val="00B2A9"/>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mn-cs"/>
              </a:rPr>
              <a:t>COSTS ALLOCATION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panose="020B0604020202020204"/>
                <a:ea typeface="+mn-ea"/>
                <a:cs typeface="+mn-cs"/>
              </a:rPr>
              <a:t>WI/CA/EV/LD RMC</a:t>
            </a:r>
          </a:p>
        </p:txBody>
      </p:sp>
    </p:spTree>
    <p:extLst>
      <p:ext uri="{BB962C8B-B14F-4D97-AF65-F5344CB8AC3E}">
        <p14:creationId xmlns:p14="http://schemas.microsoft.com/office/powerpoint/2010/main" val="3577663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5ED7-B09D-4255-BC15-2B5B5B04C0D1}"/>
              </a:ext>
            </a:extLst>
          </p:cNvPr>
          <p:cNvSpPr>
            <a:spLocks noGrp="1"/>
          </p:cNvSpPr>
          <p:nvPr>
            <p:ph type="title"/>
          </p:nvPr>
        </p:nvSpPr>
        <p:spPr/>
        <p:txBody>
          <a:bodyPr/>
          <a:lstStyle/>
          <a:p>
            <a:r>
              <a:rPr lang="en-US"/>
              <a:t>WBS allocation keys and posting rules</a:t>
            </a:r>
          </a:p>
        </p:txBody>
      </p:sp>
      <p:sp>
        <p:nvSpPr>
          <p:cNvPr id="4" name="Footer Placeholder 3">
            <a:extLst>
              <a:ext uri="{FF2B5EF4-FFF2-40B4-BE49-F238E27FC236}">
                <a16:creationId xmlns:a16="http://schemas.microsoft.com/office/drawing/2014/main" id="{33182F0C-92B6-4E69-836E-259849DCB8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62E983B-AAE6-48E8-9068-FAC8C4847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Slide Number Placeholder 3">
            <a:extLst>
              <a:ext uri="{FF2B5EF4-FFF2-40B4-BE49-F238E27FC236}">
                <a16:creationId xmlns:a16="http://schemas.microsoft.com/office/drawing/2014/main" id="{A5B395F5-0F23-4D29-B221-6E5F714B2B50}"/>
              </a:ext>
            </a:extLst>
          </p:cNvPr>
          <p:cNvSpPr txBox="1">
            <a:spLocks/>
          </p:cNvSpPr>
          <p:nvPr/>
        </p:nvSpPr>
        <p:spPr>
          <a:xfrm>
            <a:off x="11280527" y="6200539"/>
            <a:ext cx="480771" cy="287337"/>
          </a:xfrm>
          <a:prstGeom prst="rect">
            <a:avLst/>
          </a:prstGeom>
        </p:spPr>
        <p:txBody>
          <a:bodyPr vert="horz" lIns="0" tIns="0" rIns="0" bIns="0" rtlCol="0" anchor="b" anchorCtr="0">
            <a:noAutofit/>
          </a:bodyPr>
          <a:lstStyle>
            <a:defPPr>
              <a:defRPr lang="en-US"/>
            </a:defPPr>
            <a:lvl1pPr algn="r" rtl="0" fontAlgn="base">
              <a:spcBef>
                <a:spcPct val="0"/>
              </a:spcBef>
              <a:spcAft>
                <a:spcPct val="0"/>
              </a:spcAft>
              <a:defRPr sz="800" kern="1200" smtClean="0">
                <a:solidFill>
                  <a:schemeClr val="tx1"/>
                </a:solidFill>
                <a:latin typeface="Arial" pitchFamily="34" charset="0"/>
                <a:ea typeface="ＭＳ Ｐゴシック" pitchFamily="80" charset="-128"/>
                <a:cs typeface="+mn-cs"/>
              </a:defRPr>
            </a:lvl1pPr>
            <a:lvl2pPr marL="4572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2pPr>
            <a:lvl3pPr marL="9144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3pPr>
            <a:lvl4pPr marL="13716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4pPr>
            <a:lvl5pPr marL="18288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5pPr>
            <a:lvl6pPr marL="2286000" algn="l" defTabSz="914400" rtl="0" eaLnBrk="1" latinLnBrk="0" hangingPunct="1">
              <a:defRPr sz="1600" kern="1200">
                <a:solidFill>
                  <a:schemeClr val="bg1"/>
                </a:solidFill>
                <a:latin typeface="Arial" pitchFamily="34" charset="0"/>
                <a:ea typeface="ＭＳ Ｐゴシック" pitchFamily="80" charset="-128"/>
                <a:cs typeface="+mn-cs"/>
              </a:defRPr>
            </a:lvl6pPr>
            <a:lvl7pPr marL="2743200" algn="l" defTabSz="914400" rtl="0" eaLnBrk="1" latinLnBrk="0" hangingPunct="1">
              <a:defRPr sz="1600" kern="1200">
                <a:solidFill>
                  <a:schemeClr val="bg1"/>
                </a:solidFill>
                <a:latin typeface="Arial" pitchFamily="34" charset="0"/>
                <a:ea typeface="ＭＳ Ｐゴシック" pitchFamily="80" charset="-128"/>
                <a:cs typeface="+mn-cs"/>
              </a:defRPr>
            </a:lvl7pPr>
            <a:lvl8pPr marL="3200400" algn="l" defTabSz="914400" rtl="0" eaLnBrk="1" latinLnBrk="0" hangingPunct="1">
              <a:defRPr sz="1600" kern="1200">
                <a:solidFill>
                  <a:schemeClr val="bg1"/>
                </a:solidFill>
                <a:latin typeface="Arial" pitchFamily="34" charset="0"/>
                <a:ea typeface="ＭＳ Ｐゴシック" pitchFamily="80" charset="-128"/>
                <a:cs typeface="+mn-cs"/>
              </a:defRPr>
            </a:lvl8pPr>
            <a:lvl9pPr marL="3657600" algn="l" defTabSz="914400" rtl="0" eaLnBrk="1" latinLnBrk="0" hangingPunct="1">
              <a:defRPr sz="1600" kern="1200">
                <a:solidFill>
                  <a:schemeClr val="bg1"/>
                </a:solidFill>
                <a:latin typeface="Arial" pitchFamily="34" charset="0"/>
                <a:ea typeface="ＭＳ Ｐゴシック" pitchFamily="80" charset="-128"/>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D77248-F92F-47C9-97FD-9CF7B39594FC}" type="slidenum">
              <a:rPr kumimoji="0" lang="en-US" sz="800" b="0" i="0" u="none" strike="noStrike" kern="1200" cap="none" spc="0" normalizeH="0" baseline="0" noProof="0" smtClean="0">
                <a:ln>
                  <a:noFill/>
                </a:ln>
                <a:solidFill>
                  <a:srgbClr val="000000"/>
                </a:solidFill>
                <a:effectLst/>
                <a:uLnTx/>
                <a:uFillTx/>
                <a:latin typeface="Arial" pitchFamily="34" charset="0"/>
                <a:ea typeface="ＭＳ Ｐゴシック" pitchFamily="8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8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endParaRPr>
          </a:p>
        </p:txBody>
      </p:sp>
      <p:sp>
        <p:nvSpPr>
          <p:cNvPr id="7" name="TextBox 6">
            <a:extLst>
              <a:ext uri="{FF2B5EF4-FFF2-40B4-BE49-F238E27FC236}">
                <a16:creationId xmlns:a16="http://schemas.microsoft.com/office/drawing/2014/main" id="{FCCFF118-05E6-4607-AACA-8D22BC5F07A6}"/>
              </a:ext>
            </a:extLst>
          </p:cNvPr>
          <p:cNvSpPr txBox="1"/>
          <p:nvPr/>
        </p:nvSpPr>
        <p:spPr>
          <a:xfrm>
            <a:off x="318520" y="1321872"/>
            <a:ext cx="11202392" cy="4728980"/>
          </a:xfrm>
          <a:prstGeom prst="rect">
            <a:avLst/>
          </a:prstGeom>
          <a:noFill/>
        </p:spPr>
        <p:txBody>
          <a:bodyPr wrap="square" lIns="0" tIns="0" rIns="0" bIns="0" rtlCol="0">
            <a:noAutofit/>
          </a:bodyPr>
          <a:lstStyle/>
          <a:p>
            <a:pPr marL="0" marR="0" lvl="0" indent="0" algn="l" defTabSz="914400" rtl="0" eaLnBrk="1" fontAlgn="base" latinLnBrk="0" hangingPunct="1">
              <a:lnSpc>
                <a:spcPct val="100000"/>
              </a:lnSpc>
              <a:spcBef>
                <a:spcPts val="100"/>
              </a:spcBef>
              <a:spcAft>
                <a:spcPts val="10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Example</a:t>
            </a: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ts val="100"/>
              </a:spcBef>
              <a:spcAft>
                <a:spcPts val="100"/>
              </a:spcAft>
              <a:buClrTx/>
              <a:buSzTx/>
              <a:buFont typeface="Arial" panose="020B0604020202020204" pitchFamily="34" charset="0"/>
              <a:buChar char="•"/>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ts val="100"/>
              </a:spcBef>
              <a:spcAft>
                <a:spcPts val="10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graphicFrame>
        <p:nvGraphicFramePr>
          <p:cNvPr id="8" name="Table 7">
            <a:extLst>
              <a:ext uri="{FF2B5EF4-FFF2-40B4-BE49-F238E27FC236}">
                <a16:creationId xmlns:a16="http://schemas.microsoft.com/office/drawing/2014/main" id="{EE06207B-6679-4B5B-9ABD-5E5E31632B32}"/>
              </a:ext>
            </a:extLst>
          </p:cNvPr>
          <p:cNvGraphicFramePr>
            <a:graphicFrameLocks noGrp="1"/>
          </p:cNvGraphicFramePr>
          <p:nvPr>
            <p:extLst>
              <p:ext uri="{D42A27DB-BD31-4B8C-83A1-F6EECF244321}">
                <p14:modId xmlns:p14="http://schemas.microsoft.com/office/powerpoint/2010/main" val="3485619759"/>
              </p:ext>
            </p:extLst>
          </p:nvPr>
        </p:nvGraphicFramePr>
        <p:xfrm>
          <a:off x="1803633" y="4938332"/>
          <a:ext cx="3927865" cy="1112520"/>
        </p:xfrm>
        <a:graphic>
          <a:graphicData uri="http://schemas.openxmlformats.org/drawingml/2006/table">
            <a:tbl>
              <a:tblPr firstRow="1" bandRow="1"/>
              <a:tblGrid>
                <a:gridCol w="1167048">
                  <a:extLst>
                    <a:ext uri="{9D8B030D-6E8A-4147-A177-3AD203B41FA5}">
                      <a16:colId xmlns:a16="http://schemas.microsoft.com/office/drawing/2014/main" val="1408585141"/>
                    </a:ext>
                  </a:extLst>
                </a:gridCol>
                <a:gridCol w="1543050">
                  <a:extLst>
                    <a:ext uri="{9D8B030D-6E8A-4147-A177-3AD203B41FA5}">
                      <a16:colId xmlns:a16="http://schemas.microsoft.com/office/drawing/2014/main" val="3704198450"/>
                    </a:ext>
                  </a:extLst>
                </a:gridCol>
                <a:gridCol w="1217767">
                  <a:extLst>
                    <a:ext uri="{9D8B030D-6E8A-4147-A177-3AD203B41FA5}">
                      <a16:colId xmlns:a16="http://schemas.microsoft.com/office/drawing/2014/main" val="2304701410"/>
                    </a:ext>
                  </a:extLst>
                </a:gridCol>
              </a:tblGrid>
              <a:tr h="370840">
                <a:tc gridSpan="3">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ACTUALS ON WBS ELEMENT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hMerge="1">
                  <a:txBody>
                    <a:bodyPr/>
                    <a:lstStyle/>
                    <a:p>
                      <a:pPr algn="ctr"/>
                      <a:endParaRPr lang="ru-RU" sz="1400"/>
                    </a:p>
                  </a:txBody>
                  <a:tcPr/>
                </a:tc>
                <a:tc hMerge="1">
                  <a:txBody>
                    <a:bodyPr/>
                    <a:lstStyle/>
                    <a:p>
                      <a:pPr algn="ctr"/>
                      <a:endParaRPr lang="ru-RU" sz="1400"/>
                    </a:p>
                  </a:txBody>
                  <a:tcPr/>
                </a:tc>
                <a:extLst>
                  <a:ext uri="{0D108BD9-81ED-4DB2-BD59-A6C34878D82A}">
                    <a16:rowId xmlns:a16="http://schemas.microsoft.com/office/drawing/2014/main" val="1571174423"/>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G/L 503070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WBS element 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878511206"/>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G/L 430050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WBS element 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1120057004"/>
                  </a:ext>
                </a:extLst>
              </a:tr>
            </a:tbl>
          </a:graphicData>
        </a:graphic>
      </p:graphicFrame>
      <p:graphicFrame>
        <p:nvGraphicFramePr>
          <p:cNvPr id="9" name="Table 8">
            <a:extLst>
              <a:ext uri="{FF2B5EF4-FFF2-40B4-BE49-F238E27FC236}">
                <a16:creationId xmlns:a16="http://schemas.microsoft.com/office/drawing/2014/main" id="{08D51082-63F4-4CE3-B284-45B692AC3787}"/>
              </a:ext>
            </a:extLst>
          </p:cNvPr>
          <p:cNvGraphicFramePr>
            <a:graphicFrameLocks noGrp="1"/>
          </p:cNvGraphicFramePr>
          <p:nvPr/>
        </p:nvGraphicFramePr>
        <p:xfrm>
          <a:off x="251923" y="1645450"/>
          <a:ext cx="5479575" cy="2372360"/>
        </p:xfrm>
        <a:graphic>
          <a:graphicData uri="http://schemas.openxmlformats.org/drawingml/2006/table">
            <a:tbl>
              <a:tblPr firstRow="1" bandRow="1"/>
              <a:tblGrid>
                <a:gridCol w="1202851">
                  <a:extLst>
                    <a:ext uri="{9D8B030D-6E8A-4147-A177-3AD203B41FA5}">
                      <a16:colId xmlns:a16="http://schemas.microsoft.com/office/drawing/2014/main" val="1408585141"/>
                    </a:ext>
                  </a:extLst>
                </a:gridCol>
                <a:gridCol w="838200">
                  <a:extLst>
                    <a:ext uri="{9D8B030D-6E8A-4147-A177-3AD203B41FA5}">
                      <a16:colId xmlns:a16="http://schemas.microsoft.com/office/drawing/2014/main" val="1037393567"/>
                    </a:ext>
                  </a:extLst>
                </a:gridCol>
                <a:gridCol w="1124359">
                  <a:extLst>
                    <a:ext uri="{9D8B030D-6E8A-4147-A177-3AD203B41FA5}">
                      <a16:colId xmlns:a16="http://schemas.microsoft.com/office/drawing/2014/main" val="2335000668"/>
                    </a:ext>
                  </a:extLst>
                </a:gridCol>
                <a:gridCol w="1229536">
                  <a:extLst>
                    <a:ext uri="{9D8B030D-6E8A-4147-A177-3AD203B41FA5}">
                      <a16:colId xmlns:a16="http://schemas.microsoft.com/office/drawing/2014/main" val="3704198450"/>
                    </a:ext>
                  </a:extLst>
                </a:gridCol>
                <a:gridCol w="1084629">
                  <a:extLst>
                    <a:ext uri="{9D8B030D-6E8A-4147-A177-3AD203B41FA5}">
                      <a16:colId xmlns:a16="http://schemas.microsoft.com/office/drawing/2014/main" val="2304701410"/>
                    </a:ext>
                  </a:extLst>
                </a:gridCol>
              </a:tblGrid>
              <a:tr h="486410">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MATERIAL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BRAND FAMILY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PRODUCT TYPE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NET REVENUES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NET VOLUMES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extLst>
                  <a:ext uri="{0D108BD9-81ED-4DB2-BD59-A6C34878D82A}">
                    <a16:rowId xmlns:a16="http://schemas.microsoft.com/office/drawing/2014/main" val="1571174423"/>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111</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WI</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RMC</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500 KU</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878511206"/>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222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60,000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 KU</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1120057004"/>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333</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SB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300 KU</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1652542665"/>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444</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RYO</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200 KU</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3078579978"/>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555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WI</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30,000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500 KU</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732357908"/>
                  </a:ext>
                </a:extLst>
              </a:tr>
            </a:tbl>
          </a:graphicData>
        </a:graphic>
      </p:graphicFrame>
      <p:sp>
        <p:nvSpPr>
          <p:cNvPr id="10" name="Arrow: Pentagon 9">
            <a:extLst>
              <a:ext uri="{FF2B5EF4-FFF2-40B4-BE49-F238E27FC236}">
                <a16:creationId xmlns:a16="http://schemas.microsoft.com/office/drawing/2014/main" id="{1A03ECC8-7129-47C3-83BB-F502A6F5D17E}"/>
              </a:ext>
            </a:extLst>
          </p:cNvPr>
          <p:cNvSpPr/>
          <p:nvPr/>
        </p:nvSpPr>
        <p:spPr>
          <a:xfrm>
            <a:off x="5884476" y="1891426"/>
            <a:ext cx="2057400" cy="1085850"/>
          </a:xfrm>
          <a:prstGeom prst="homePlate">
            <a:avLst/>
          </a:prstGeom>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Arial" panose="020B0604020202020204"/>
                <a:ea typeface="+mn-ea"/>
                <a:cs typeface="+mn-cs"/>
              </a:rPr>
              <a:t>ALLOCATION KEY GFB0</a:t>
            </a:r>
          </a:p>
        </p:txBody>
      </p:sp>
      <p:graphicFrame>
        <p:nvGraphicFramePr>
          <p:cNvPr id="11" name="Table 10">
            <a:extLst>
              <a:ext uri="{FF2B5EF4-FFF2-40B4-BE49-F238E27FC236}">
                <a16:creationId xmlns:a16="http://schemas.microsoft.com/office/drawing/2014/main" id="{F1C35FB8-F0E3-4A15-8BBF-41C7BDEBB83A}"/>
              </a:ext>
            </a:extLst>
          </p:cNvPr>
          <p:cNvGraphicFramePr>
            <a:graphicFrameLocks noGrp="1"/>
          </p:cNvGraphicFramePr>
          <p:nvPr/>
        </p:nvGraphicFramePr>
        <p:xfrm>
          <a:off x="8094854" y="1895147"/>
          <a:ext cx="1722246" cy="1112520"/>
        </p:xfrm>
        <a:graphic>
          <a:graphicData uri="http://schemas.openxmlformats.org/drawingml/2006/table">
            <a:tbl>
              <a:tblPr firstRow="1" bandRow="1"/>
              <a:tblGrid>
                <a:gridCol w="1097015">
                  <a:extLst>
                    <a:ext uri="{9D8B030D-6E8A-4147-A177-3AD203B41FA5}">
                      <a16:colId xmlns:a16="http://schemas.microsoft.com/office/drawing/2014/main" val="1454865088"/>
                    </a:ext>
                  </a:extLst>
                </a:gridCol>
                <a:gridCol w="625231">
                  <a:extLst>
                    <a:ext uri="{9D8B030D-6E8A-4147-A177-3AD203B41FA5}">
                      <a16:colId xmlns:a16="http://schemas.microsoft.com/office/drawing/2014/main" val="2761828065"/>
                    </a:ext>
                  </a:extLst>
                </a:gridCol>
              </a:tblGrid>
              <a:tr h="370840">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r>
                        <a:rPr lang="en-US" sz="1400"/>
                        <a:t>RATIO 1</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endParaRPr lang="en-US" sz="140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extLst>
                  <a:ext uri="{0D108BD9-81ED-4DB2-BD59-A6C34878D82A}">
                    <a16:rowId xmlns:a16="http://schemas.microsoft.com/office/drawing/2014/main" val="3844662788"/>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WI RMC</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400"/>
                        <a:t>40%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10369222"/>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CA 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400"/>
                        <a:t>60%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3844946481"/>
                  </a:ext>
                </a:extLst>
              </a:tr>
            </a:tbl>
          </a:graphicData>
        </a:graphic>
      </p:graphicFrame>
      <p:graphicFrame>
        <p:nvGraphicFramePr>
          <p:cNvPr id="12" name="Table 11">
            <a:extLst>
              <a:ext uri="{FF2B5EF4-FFF2-40B4-BE49-F238E27FC236}">
                <a16:creationId xmlns:a16="http://schemas.microsoft.com/office/drawing/2014/main" id="{57E2497F-2412-4285-B349-F7E245701399}"/>
              </a:ext>
            </a:extLst>
          </p:cNvPr>
          <p:cNvGraphicFramePr>
            <a:graphicFrameLocks noGrp="1"/>
          </p:cNvGraphicFramePr>
          <p:nvPr>
            <p:extLst>
              <p:ext uri="{D42A27DB-BD31-4B8C-83A1-F6EECF244321}">
                <p14:modId xmlns:p14="http://schemas.microsoft.com/office/powerpoint/2010/main" val="2434368164"/>
              </p:ext>
            </p:extLst>
          </p:nvPr>
        </p:nvGraphicFramePr>
        <p:xfrm>
          <a:off x="7833972" y="3521156"/>
          <a:ext cx="3966256" cy="2966720"/>
        </p:xfrm>
        <a:graphic>
          <a:graphicData uri="http://schemas.openxmlformats.org/drawingml/2006/table">
            <a:tbl>
              <a:tblPr firstRow="1" bandRow="1"/>
              <a:tblGrid>
                <a:gridCol w="423975">
                  <a:extLst>
                    <a:ext uri="{9D8B030D-6E8A-4147-A177-3AD203B41FA5}">
                      <a16:colId xmlns:a16="http://schemas.microsoft.com/office/drawing/2014/main" val="3588361974"/>
                    </a:ext>
                  </a:extLst>
                </a:gridCol>
                <a:gridCol w="1185750">
                  <a:extLst>
                    <a:ext uri="{9D8B030D-6E8A-4147-A177-3AD203B41FA5}">
                      <a16:colId xmlns:a16="http://schemas.microsoft.com/office/drawing/2014/main" val="1456246133"/>
                    </a:ext>
                  </a:extLst>
                </a:gridCol>
                <a:gridCol w="1505000">
                  <a:extLst>
                    <a:ext uri="{9D8B030D-6E8A-4147-A177-3AD203B41FA5}">
                      <a16:colId xmlns:a16="http://schemas.microsoft.com/office/drawing/2014/main" val="2536476751"/>
                    </a:ext>
                  </a:extLst>
                </a:gridCol>
                <a:gridCol w="851531">
                  <a:extLst>
                    <a:ext uri="{9D8B030D-6E8A-4147-A177-3AD203B41FA5}">
                      <a16:colId xmlns:a16="http://schemas.microsoft.com/office/drawing/2014/main" val="2827840240"/>
                    </a:ext>
                  </a:extLst>
                </a:gridCol>
              </a:tblGrid>
              <a:tr h="370840">
                <a:tc gridSpan="3">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400"/>
                        <a:t>POSTING</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hMerge="1">
                  <a:txBody>
                    <a:bodyPr/>
                    <a:lstStyle/>
                    <a:p>
                      <a:endParaRPr lang="ru-RU"/>
                    </a:p>
                  </a:txBody>
                  <a:tcPr/>
                </a:tc>
                <a:tc hMerge="1">
                  <a:txBody>
                    <a:bodyPr/>
                    <a:lstStyle/>
                    <a:p>
                      <a:endParaRPr lang="ru-RU" sz="1400"/>
                    </a:p>
                  </a:txBody>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endParaRPr lang="en-US" sz="140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extLst>
                  <a:ext uri="{0D108BD9-81ED-4DB2-BD59-A6C34878D82A}">
                    <a16:rowId xmlns:a16="http://schemas.microsoft.com/office/drawing/2014/main" val="2161826438"/>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503070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WBS element 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1384817921"/>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503070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WI 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40,000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550748961"/>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503070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CA RMC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60,000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1545698249"/>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Cr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430050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WBS element 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10,000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2572344614"/>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430050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111</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2,500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3599738251"/>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430050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222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5,000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3998211069"/>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G/L 430050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555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GB" sz="1400"/>
                        <a:t>2</a:t>
                      </a:r>
                      <a:r>
                        <a:rPr lang="en-US" sz="1400"/>
                        <a:t>,500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1939983928"/>
                  </a:ext>
                </a:extLst>
              </a:tr>
            </a:tbl>
          </a:graphicData>
        </a:graphic>
      </p:graphicFrame>
      <p:graphicFrame>
        <p:nvGraphicFramePr>
          <p:cNvPr id="13" name="Table 12">
            <a:extLst>
              <a:ext uri="{FF2B5EF4-FFF2-40B4-BE49-F238E27FC236}">
                <a16:creationId xmlns:a16="http://schemas.microsoft.com/office/drawing/2014/main" id="{8F24694E-C627-47D8-8ACD-6689F8DCFDAB}"/>
              </a:ext>
            </a:extLst>
          </p:cNvPr>
          <p:cNvGraphicFramePr>
            <a:graphicFrameLocks noGrp="1"/>
          </p:cNvGraphicFramePr>
          <p:nvPr>
            <p:extLst>
              <p:ext uri="{D42A27DB-BD31-4B8C-83A1-F6EECF244321}">
                <p14:modId xmlns:p14="http://schemas.microsoft.com/office/powerpoint/2010/main" val="3127567337"/>
              </p:ext>
            </p:extLst>
          </p:nvPr>
        </p:nvGraphicFramePr>
        <p:xfrm>
          <a:off x="9970078" y="1524307"/>
          <a:ext cx="1791220" cy="1483360"/>
        </p:xfrm>
        <a:graphic>
          <a:graphicData uri="http://schemas.openxmlformats.org/drawingml/2006/table">
            <a:tbl>
              <a:tblPr firstRow="1" bandRow="1"/>
              <a:tblGrid>
                <a:gridCol w="1235547">
                  <a:extLst>
                    <a:ext uri="{9D8B030D-6E8A-4147-A177-3AD203B41FA5}">
                      <a16:colId xmlns:a16="http://schemas.microsoft.com/office/drawing/2014/main" val="1454865088"/>
                    </a:ext>
                  </a:extLst>
                </a:gridCol>
                <a:gridCol w="555673">
                  <a:extLst>
                    <a:ext uri="{9D8B030D-6E8A-4147-A177-3AD203B41FA5}">
                      <a16:colId xmlns:a16="http://schemas.microsoft.com/office/drawing/2014/main" val="2761828065"/>
                    </a:ext>
                  </a:extLst>
                </a:gridCol>
              </a:tblGrid>
              <a:tr h="370840">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r>
                        <a:rPr lang="en-US" sz="1400"/>
                        <a:t>RATIO 2</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endParaRPr lang="en-US" sz="140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extLst>
                  <a:ext uri="{0D108BD9-81ED-4DB2-BD59-A6C34878D82A}">
                    <a16:rowId xmlns:a16="http://schemas.microsoft.com/office/drawing/2014/main" val="3844662788"/>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111</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400"/>
                        <a:t>25%</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10369222"/>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222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400"/>
                        <a:t>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20000"/>
                      </a:srgbClr>
                    </a:solidFill>
                  </a:tcPr>
                </a:tc>
                <a:extLst>
                  <a:ext uri="{0D108BD9-81ED-4DB2-BD59-A6C34878D82A}">
                    <a16:rowId xmlns:a16="http://schemas.microsoft.com/office/drawing/2014/main" val="3844946481"/>
                  </a:ext>
                </a:extLst>
              </a:tr>
              <a:tr h="370840">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400"/>
                        <a:t>Material 555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algn="ctr"/>
                      <a:r>
                        <a:rPr lang="en-US" sz="1400"/>
                        <a:t>25%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943700311"/>
                  </a:ext>
                </a:extLst>
              </a:tr>
            </a:tbl>
          </a:graphicData>
        </a:graphic>
      </p:graphicFrame>
      <p:sp>
        <p:nvSpPr>
          <p:cNvPr id="14" name="Arrow: Down 13">
            <a:extLst>
              <a:ext uri="{FF2B5EF4-FFF2-40B4-BE49-F238E27FC236}">
                <a16:creationId xmlns:a16="http://schemas.microsoft.com/office/drawing/2014/main" id="{72F48F70-B21B-440F-B0A4-8893B198633C}"/>
              </a:ext>
            </a:extLst>
          </p:cNvPr>
          <p:cNvSpPr/>
          <p:nvPr/>
        </p:nvSpPr>
        <p:spPr>
          <a:xfrm>
            <a:off x="9654686" y="3120743"/>
            <a:ext cx="512762" cy="360405"/>
          </a:xfrm>
          <a:prstGeom prst="downArrow">
            <a:avLst/>
          </a:prstGeom>
          <a:solidFill>
            <a:srgbClr val="00B2A9"/>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5" name="Arrow: Pentagon 14">
            <a:extLst>
              <a:ext uri="{FF2B5EF4-FFF2-40B4-BE49-F238E27FC236}">
                <a16:creationId xmlns:a16="http://schemas.microsoft.com/office/drawing/2014/main" id="{FF19BF66-C434-4A1B-B37C-C40AD70A3260}"/>
              </a:ext>
            </a:extLst>
          </p:cNvPr>
          <p:cNvSpPr/>
          <p:nvPr/>
        </p:nvSpPr>
        <p:spPr>
          <a:xfrm>
            <a:off x="5884476" y="5084195"/>
            <a:ext cx="1785732" cy="830269"/>
          </a:xfrm>
          <a:prstGeom prst="homePlate">
            <a:avLst/>
          </a:prstGeom>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Arial" panose="020B0604020202020204"/>
                <a:ea typeface="+mn-ea"/>
                <a:cs typeface="+mn-cs"/>
              </a:rPr>
              <a:t>GRANULARITY</a:t>
            </a:r>
          </a:p>
        </p:txBody>
      </p:sp>
      <p:sp>
        <p:nvSpPr>
          <p:cNvPr id="16" name="Arrow: Pentagon 15">
            <a:extLst>
              <a:ext uri="{FF2B5EF4-FFF2-40B4-BE49-F238E27FC236}">
                <a16:creationId xmlns:a16="http://schemas.microsoft.com/office/drawing/2014/main" id="{07667D2A-8849-405C-AFB3-C169DA2A78CE}"/>
              </a:ext>
            </a:extLst>
          </p:cNvPr>
          <p:cNvSpPr/>
          <p:nvPr/>
        </p:nvSpPr>
        <p:spPr>
          <a:xfrm rot="16200000">
            <a:off x="4220719" y="3563672"/>
            <a:ext cx="787313" cy="1828796"/>
          </a:xfrm>
          <a:prstGeom prst="homePlate">
            <a:avLst/>
          </a:prstGeom>
          <a:ln/>
        </p:spPr>
        <p:style>
          <a:lnRef idx="1">
            <a:schemeClr val="accent5"/>
          </a:lnRef>
          <a:fillRef idx="2">
            <a:schemeClr val="accent5"/>
          </a:fillRef>
          <a:effectRef idx="1">
            <a:schemeClr val="accent5"/>
          </a:effectRef>
          <a:fontRef idx="minor">
            <a:schemeClr val="dk1"/>
          </a:fontRef>
        </p:style>
        <p:txBody>
          <a:bodyPr vert="vert"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Arial" panose="020B0604020202020204"/>
                <a:ea typeface="+mn-ea"/>
                <a:cs typeface="+mn-cs"/>
              </a:rPr>
              <a:t>CALCULATION BASIS</a:t>
            </a:r>
          </a:p>
        </p:txBody>
      </p:sp>
    </p:spTree>
    <p:extLst>
      <p:ext uri="{BB962C8B-B14F-4D97-AF65-F5344CB8AC3E}">
        <p14:creationId xmlns:p14="http://schemas.microsoft.com/office/powerpoint/2010/main" val="3106735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5ED7-B09D-4255-BC15-2B5B5B04C0D1}"/>
              </a:ext>
            </a:extLst>
          </p:cNvPr>
          <p:cNvSpPr>
            <a:spLocks noGrp="1"/>
          </p:cNvSpPr>
          <p:nvPr>
            <p:ph type="title"/>
          </p:nvPr>
        </p:nvSpPr>
        <p:spPr/>
        <p:txBody>
          <a:bodyPr/>
          <a:lstStyle/>
          <a:p>
            <a:r>
              <a:rPr lang="en-US"/>
              <a:t>Multi-brand WBS allocations – types of postings</a:t>
            </a:r>
          </a:p>
        </p:txBody>
      </p:sp>
      <p:sp>
        <p:nvSpPr>
          <p:cNvPr id="4" name="Footer Placeholder 3">
            <a:extLst>
              <a:ext uri="{FF2B5EF4-FFF2-40B4-BE49-F238E27FC236}">
                <a16:creationId xmlns:a16="http://schemas.microsoft.com/office/drawing/2014/main" id="{33182F0C-92B6-4E69-836E-259849DCB8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62E983B-AAE6-48E8-9068-FAC8C4847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7262D8BC-8C8C-44CC-AF58-506FF562F81E}"/>
              </a:ext>
            </a:extLst>
          </p:cNvPr>
          <p:cNvSpPr/>
          <p:nvPr/>
        </p:nvSpPr>
        <p:spPr>
          <a:xfrm>
            <a:off x="548640" y="1795780"/>
            <a:ext cx="11176000" cy="558800"/>
          </a:xfrm>
          <a:prstGeom prst="roundRect">
            <a:avLst/>
          </a:prstGeom>
          <a:gradFill>
            <a:gsLst>
              <a:gs pos="0">
                <a:srgbClr val="ACE8E6"/>
              </a:gs>
              <a:gs pos="50000">
                <a:srgbClr val="78DAD6"/>
              </a:gs>
              <a:gs pos="100000">
                <a:srgbClr val="30AFAA"/>
              </a:gs>
            </a:gsLst>
          </a:gradFill>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1. WBS to profitability segment (with brand family / product type / SKU populated)</a:t>
            </a:r>
          </a:p>
        </p:txBody>
      </p:sp>
      <p:sp>
        <p:nvSpPr>
          <p:cNvPr id="7" name="TextBox 6">
            <a:extLst>
              <a:ext uri="{FF2B5EF4-FFF2-40B4-BE49-F238E27FC236}">
                <a16:creationId xmlns:a16="http://schemas.microsoft.com/office/drawing/2014/main" id="{38304951-6EE8-422E-BACD-DB6F66C477FC}"/>
              </a:ext>
            </a:extLst>
          </p:cNvPr>
          <p:cNvSpPr txBox="1"/>
          <p:nvPr/>
        </p:nvSpPr>
        <p:spPr>
          <a:xfrm>
            <a:off x="548640" y="2557780"/>
            <a:ext cx="11176000" cy="974626"/>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Actuals are collected on WBS element and at month end should be allocated to Profitability Analysis</a:t>
            </a:r>
          </a:p>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Allocation proportion is calculate</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d based on YTD net revenues/volumes</a:t>
            </a:r>
          </a:p>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Each period YTD costs are reposted based on a new ratio</a:t>
            </a: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8" name="Table 7">
            <a:extLst>
              <a:ext uri="{FF2B5EF4-FFF2-40B4-BE49-F238E27FC236}">
                <a16:creationId xmlns:a16="http://schemas.microsoft.com/office/drawing/2014/main" id="{CE833400-0F97-49E3-A74F-FCA7EE94A6DC}"/>
              </a:ext>
            </a:extLst>
          </p:cNvPr>
          <p:cNvGraphicFramePr>
            <a:graphicFrameLocks noGrp="1"/>
          </p:cNvGraphicFramePr>
          <p:nvPr/>
        </p:nvGraphicFramePr>
        <p:xfrm>
          <a:off x="680720" y="3891315"/>
          <a:ext cx="3650787" cy="1737360"/>
        </p:xfrm>
        <a:graphic>
          <a:graphicData uri="http://schemas.openxmlformats.org/drawingml/2006/table">
            <a:tbl>
              <a:tblPr firstRow="1" bandRow="1">
                <a:tableStyleId>{93296810-A885-4BE3-A3E7-6D5BEEA58F35}</a:tableStyleId>
              </a:tblPr>
              <a:tblGrid>
                <a:gridCol w="2277253">
                  <a:extLst>
                    <a:ext uri="{9D8B030D-6E8A-4147-A177-3AD203B41FA5}">
                      <a16:colId xmlns:a16="http://schemas.microsoft.com/office/drawing/2014/main" val="1784131885"/>
                    </a:ext>
                  </a:extLst>
                </a:gridCol>
                <a:gridCol w="1373534">
                  <a:extLst>
                    <a:ext uri="{9D8B030D-6E8A-4147-A177-3AD203B41FA5}">
                      <a16:colId xmlns:a16="http://schemas.microsoft.com/office/drawing/2014/main" val="880213478"/>
                    </a:ext>
                  </a:extLst>
                </a:gridCol>
              </a:tblGrid>
              <a:tr h="359103">
                <a:tc>
                  <a:txBody>
                    <a:bodyPr/>
                    <a:lstStyle/>
                    <a:p>
                      <a:r>
                        <a:rPr lang="en-US" sz="1800"/>
                        <a:t>PARAMETER</a:t>
                      </a:r>
                    </a:p>
                  </a:txBody>
                  <a:tcPr/>
                </a:tc>
                <a:tc>
                  <a:txBody>
                    <a:bodyPr/>
                    <a:lstStyle/>
                    <a:p>
                      <a:endParaRPr lang="en-US" sz="1800"/>
                    </a:p>
                  </a:txBody>
                  <a:tcPr/>
                </a:tc>
                <a:extLst>
                  <a:ext uri="{0D108BD9-81ED-4DB2-BD59-A6C34878D82A}">
                    <a16:rowId xmlns:a16="http://schemas.microsoft.com/office/drawing/2014/main" val="91389602"/>
                  </a:ext>
                </a:extLst>
              </a:tr>
              <a:tr h="359103">
                <a:tc>
                  <a:txBody>
                    <a:bodyPr/>
                    <a:lstStyle/>
                    <a:p>
                      <a:r>
                        <a:rPr lang="en-US" sz="1800"/>
                        <a:t>Actuals on WBS element A</a:t>
                      </a:r>
                    </a:p>
                  </a:txBody>
                  <a:tcPr/>
                </a:tc>
                <a:tc>
                  <a:txBody>
                    <a:bodyPr/>
                    <a:lstStyle/>
                    <a:p>
                      <a:pPr algn="ctr"/>
                      <a:r>
                        <a:rPr lang="en-US" sz="1800"/>
                        <a:t>100,000</a:t>
                      </a:r>
                    </a:p>
                  </a:txBody>
                  <a:tcPr/>
                </a:tc>
                <a:extLst>
                  <a:ext uri="{0D108BD9-81ED-4DB2-BD59-A6C34878D82A}">
                    <a16:rowId xmlns:a16="http://schemas.microsoft.com/office/drawing/2014/main" val="329476389"/>
                  </a:ext>
                </a:extLst>
              </a:tr>
              <a:tr h="359103">
                <a:tc>
                  <a:txBody>
                    <a:bodyPr/>
                    <a:lstStyle/>
                    <a:p>
                      <a:r>
                        <a:rPr lang="en-US" sz="1800"/>
                        <a:t>WI RMC sales</a:t>
                      </a:r>
                    </a:p>
                  </a:txBody>
                  <a:tcPr/>
                </a:tc>
                <a:tc>
                  <a:txBody>
                    <a:bodyPr/>
                    <a:lstStyle/>
                    <a:p>
                      <a:pPr algn="ctr"/>
                      <a:r>
                        <a:rPr lang="en-US" sz="1800"/>
                        <a:t>7,500,000</a:t>
                      </a:r>
                    </a:p>
                  </a:txBody>
                  <a:tcPr/>
                </a:tc>
                <a:extLst>
                  <a:ext uri="{0D108BD9-81ED-4DB2-BD59-A6C34878D82A}">
                    <a16:rowId xmlns:a16="http://schemas.microsoft.com/office/drawing/2014/main" val="3973186805"/>
                  </a:ext>
                </a:extLst>
              </a:tr>
              <a:tr h="359103">
                <a:tc>
                  <a:txBody>
                    <a:bodyPr/>
                    <a:lstStyle/>
                    <a:p>
                      <a:r>
                        <a:rPr lang="en-US" sz="1800"/>
                        <a:t>CA RMC sales</a:t>
                      </a:r>
                    </a:p>
                  </a:txBody>
                  <a:tcPr/>
                </a:tc>
                <a:tc>
                  <a:txBody>
                    <a:bodyPr/>
                    <a:lstStyle/>
                    <a:p>
                      <a:pPr algn="ctr"/>
                      <a:r>
                        <a:rPr lang="en-US" sz="1800"/>
                        <a:t>2,500,000</a:t>
                      </a:r>
                    </a:p>
                  </a:txBody>
                  <a:tcPr/>
                </a:tc>
                <a:extLst>
                  <a:ext uri="{0D108BD9-81ED-4DB2-BD59-A6C34878D82A}">
                    <a16:rowId xmlns:a16="http://schemas.microsoft.com/office/drawing/2014/main" val="302310809"/>
                  </a:ext>
                </a:extLst>
              </a:tr>
            </a:tbl>
          </a:graphicData>
        </a:graphic>
      </p:graphicFrame>
      <p:sp>
        <p:nvSpPr>
          <p:cNvPr id="9" name="Arrow: Notched Right 8">
            <a:extLst>
              <a:ext uri="{FF2B5EF4-FFF2-40B4-BE49-F238E27FC236}">
                <a16:creationId xmlns:a16="http://schemas.microsoft.com/office/drawing/2014/main" id="{B4DD2B4D-6C1F-4768-93A2-705836D17E0C}"/>
              </a:ext>
            </a:extLst>
          </p:cNvPr>
          <p:cNvSpPr/>
          <p:nvPr/>
        </p:nvSpPr>
        <p:spPr>
          <a:xfrm>
            <a:off x="4497265" y="4359946"/>
            <a:ext cx="899731" cy="633047"/>
          </a:xfrm>
          <a:prstGeom prst="notchedRightArrow">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0" name="Table 9">
            <a:extLst>
              <a:ext uri="{FF2B5EF4-FFF2-40B4-BE49-F238E27FC236}">
                <a16:creationId xmlns:a16="http://schemas.microsoft.com/office/drawing/2014/main" id="{CDCDFFDD-EED5-4410-8AF8-982E09249076}"/>
              </a:ext>
            </a:extLst>
          </p:cNvPr>
          <p:cNvGraphicFramePr>
            <a:graphicFrameLocks noGrp="1"/>
          </p:cNvGraphicFramePr>
          <p:nvPr/>
        </p:nvGraphicFramePr>
        <p:xfrm>
          <a:off x="5573888" y="3891315"/>
          <a:ext cx="1722246" cy="1758589"/>
        </p:xfrm>
        <a:graphic>
          <a:graphicData uri="http://schemas.openxmlformats.org/drawingml/2006/table">
            <a:tbl>
              <a:tblPr firstRow="1" bandRow="1">
                <a:tableStyleId>{7DF18680-E054-41AD-8BC1-D1AEF772440D}</a:tableStyleId>
              </a:tblPr>
              <a:tblGrid>
                <a:gridCol w="1009792">
                  <a:extLst>
                    <a:ext uri="{9D8B030D-6E8A-4147-A177-3AD203B41FA5}">
                      <a16:colId xmlns:a16="http://schemas.microsoft.com/office/drawing/2014/main" val="1454865088"/>
                    </a:ext>
                  </a:extLst>
                </a:gridCol>
                <a:gridCol w="712454">
                  <a:extLst>
                    <a:ext uri="{9D8B030D-6E8A-4147-A177-3AD203B41FA5}">
                      <a16:colId xmlns:a16="http://schemas.microsoft.com/office/drawing/2014/main" val="2761828065"/>
                    </a:ext>
                  </a:extLst>
                </a:gridCol>
              </a:tblGrid>
              <a:tr h="439917">
                <a:tc>
                  <a:txBody>
                    <a:bodyPr/>
                    <a:lstStyle/>
                    <a:p>
                      <a:r>
                        <a:rPr lang="en-US" sz="1800"/>
                        <a:t>RATIO</a:t>
                      </a:r>
                    </a:p>
                  </a:txBody>
                  <a:tcPr/>
                </a:tc>
                <a:tc>
                  <a:txBody>
                    <a:bodyPr/>
                    <a:lstStyle/>
                    <a:p>
                      <a:endParaRPr lang="en-US" sz="1800"/>
                    </a:p>
                  </a:txBody>
                  <a:tcPr/>
                </a:tc>
                <a:extLst>
                  <a:ext uri="{0D108BD9-81ED-4DB2-BD59-A6C34878D82A}">
                    <a16:rowId xmlns:a16="http://schemas.microsoft.com/office/drawing/2014/main" val="3844662788"/>
                  </a:ext>
                </a:extLst>
              </a:tr>
              <a:tr h="659336">
                <a:tc>
                  <a:txBody>
                    <a:bodyPr/>
                    <a:lstStyle/>
                    <a:p>
                      <a:r>
                        <a:rPr lang="en-US" sz="1800"/>
                        <a:t>WI RMC</a:t>
                      </a:r>
                    </a:p>
                  </a:txBody>
                  <a:tcPr/>
                </a:tc>
                <a:tc>
                  <a:txBody>
                    <a:bodyPr/>
                    <a:lstStyle/>
                    <a:p>
                      <a:pPr algn="ctr"/>
                      <a:r>
                        <a:rPr lang="en-US" sz="1800"/>
                        <a:t>75%</a:t>
                      </a:r>
                    </a:p>
                  </a:txBody>
                  <a:tcPr/>
                </a:tc>
                <a:extLst>
                  <a:ext uri="{0D108BD9-81ED-4DB2-BD59-A6C34878D82A}">
                    <a16:rowId xmlns:a16="http://schemas.microsoft.com/office/drawing/2014/main" val="210369222"/>
                  </a:ext>
                </a:extLst>
              </a:tr>
              <a:tr h="659336">
                <a:tc>
                  <a:txBody>
                    <a:bodyPr/>
                    <a:lstStyle/>
                    <a:p>
                      <a:r>
                        <a:rPr lang="en-US" sz="1800"/>
                        <a:t>CA RMC</a:t>
                      </a:r>
                    </a:p>
                  </a:txBody>
                  <a:tcPr/>
                </a:tc>
                <a:tc>
                  <a:txBody>
                    <a:bodyPr/>
                    <a:lstStyle/>
                    <a:p>
                      <a:pPr algn="ctr"/>
                      <a:r>
                        <a:rPr lang="en-US" sz="1800"/>
                        <a:t>25%</a:t>
                      </a:r>
                    </a:p>
                  </a:txBody>
                  <a:tcPr/>
                </a:tc>
                <a:extLst>
                  <a:ext uri="{0D108BD9-81ED-4DB2-BD59-A6C34878D82A}">
                    <a16:rowId xmlns:a16="http://schemas.microsoft.com/office/drawing/2014/main" val="3844946481"/>
                  </a:ext>
                </a:extLst>
              </a:tr>
            </a:tbl>
          </a:graphicData>
        </a:graphic>
      </p:graphicFrame>
      <p:sp>
        <p:nvSpPr>
          <p:cNvPr id="11" name="Arrow: Notched Right 10">
            <a:extLst>
              <a:ext uri="{FF2B5EF4-FFF2-40B4-BE49-F238E27FC236}">
                <a16:creationId xmlns:a16="http://schemas.microsoft.com/office/drawing/2014/main" id="{AE8BB08E-8FF0-49C4-9090-7A6788BB546A}"/>
              </a:ext>
            </a:extLst>
          </p:cNvPr>
          <p:cNvSpPr/>
          <p:nvPr/>
        </p:nvSpPr>
        <p:spPr>
          <a:xfrm>
            <a:off x="7473026" y="4358641"/>
            <a:ext cx="899731" cy="633047"/>
          </a:xfrm>
          <a:prstGeom prst="notchedRightArrow">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2" name="Table 11">
            <a:extLst>
              <a:ext uri="{FF2B5EF4-FFF2-40B4-BE49-F238E27FC236}">
                <a16:creationId xmlns:a16="http://schemas.microsoft.com/office/drawing/2014/main" id="{0A1C2471-79F9-46AE-90C6-D97C87671B7B}"/>
              </a:ext>
            </a:extLst>
          </p:cNvPr>
          <p:cNvGraphicFramePr>
            <a:graphicFrameLocks noGrp="1"/>
          </p:cNvGraphicFramePr>
          <p:nvPr/>
        </p:nvGraphicFramePr>
        <p:xfrm>
          <a:off x="8549649" y="3897304"/>
          <a:ext cx="3063231" cy="1752600"/>
        </p:xfrm>
        <a:graphic>
          <a:graphicData uri="http://schemas.openxmlformats.org/drawingml/2006/table">
            <a:tbl>
              <a:tblPr firstRow="1" bandRow="1">
                <a:tableStyleId>{F5AB1C69-6EDB-4FF4-983F-18BD219EF322}</a:tableStyleId>
              </a:tblPr>
              <a:tblGrid>
                <a:gridCol w="577969">
                  <a:extLst>
                    <a:ext uri="{9D8B030D-6E8A-4147-A177-3AD203B41FA5}">
                      <a16:colId xmlns:a16="http://schemas.microsoft.com/office/drawing/2014/main" val="3588361974"/>
                    </a:ext>
                  </a:extLst>
                </a:gridCol>
                <a:gridCol w="1454789">
                  <a:extLst>
                    <a:ext uri="{9D8B030D-6E8A-4147-A177-3AD203B41FA5}">
                      <a16:colId xmlns:a16="http://schemas.microsoft.com/office/drawing/2014/main" val="2536476751"/>
                    </a:ext>
                  </a:extLst>
                </a:gridCol>
                <a:gridCol w="1030473">
                  <a:extLst>
                    <a:ext uri="{9D8B030D-6E8A-4147-A177-3AD203B41FA5}">
                      <a16:colId xmlns:a16="http://schemas.microsoft.com/office/drawing/2014/main" val="2827840240"/>
                    </a:ext>
                  </a:extLst>
                </a:gridCol>
              </a:tblGrid>
              <a:tr h="370840">
                <a:tc gridSpan="2">
                  <a:txBody>
                    <a:bodyPr/>
                    <a:lstStyle/>
                    <a:p>
                      <a:pPr algn="ctr"/>
                      <a:r>
                        <a:rPr lang="en-US" sz="1800"/>
                        <a:t>POSTING</a:t>
                      </a:r>
                    </a:p>
                  </a:txBody>
                  <a:tcPr/>
                </a:tc>
                <a:tc hMerge="1">
                  <a:txBody>
                    <a:bodyPr/>
                    <a:lstStyle/>
                    <a:p>
                      <a:endParaRPr lang="ru-RU" sz="1400"/>
                    </a:p>
                  </a:txBody>
                  <a:tcPr/>
                </a:tc>
                <a:tc>
                  <a:txBody>
                    <a:bodyPr/>
                    <a:lstStyle/>
                    <a:p>
                      <a:endParaRPr lang="en-US" sz="1800"/>
                    </a:p>
                  </a:txBody>
                  <a:tcPr/>
                </a:tc>
                <a:extLst>
                  <a:ext uri="{0D108BD9-81ED-4DB2-BD59-A6C34878D82A}">
                    <a16:rowId xmlns:a16="http://schemas.microsoft.com/office/drawing/2014/main" val="2161826438"/>
                  </a:ext>
                </a:extLst>
              </a:tr>
              <a:tr h="370840">
                <a:tc>
                  <a:txBody>
                    <a:bodyPr/>
                    <a:lstStyle/>
                    <a:p>
                      <a:r>
                        <a:rPr lang="en-US" sz="1800"/>
                        <a:t>CR</a:t>
                      </a:r>
                    </a:p>
                  </a:txBody>
                  <a:tcPr/>
                </a:tc>
                <a:tc>
                  <a:txBody>
                    <a:bodyPr/>
                    <a:lstStyle/>
                    <a:p>
                      <a:r>
                        <a:rPr lang="en-US" sz="1800"/>
                        <a:t>WBS element A</a:t>
                      </a:r>
                    </a:p>
                  </a:txBody>
                  <a:tcPr/>
                </a:tc>
                <a:tc>
                  <a:txBody>
                    <a:bodyPr/>
                    <a:lstStyle/>
                    <a:p>
                      <a:r>
                        <a:rPr lang="en-US" sz="1800"/>
                        <a:t>100,000</a:t>
                      </a:r>
                    </a:p>
                  </a:txBody>
                  <a:tcPr/>
                </a:tc>
                <a:extLst>
                  <a:ext uri="{0D108BD9-81ED-4DB2-BD59-A6C34878D82A}">
                    <a16:rowId xmlns:a16="http://schemas.microsoft.com/office/drawing/2014/main" val="1384817921"/>
                  </a:ext>
                </a:extLst>
              </a:tr>
              <a:tr h="370840">
                <a:tc>
                  <a:txBody>
                    <a:bodyPr/>
                    <a:lstStyle/>
                    <a:p>
                      <a:r>
                        <a:rPr lang="en-US" sz="1800"/>
                        <a:t>DR</a:t>
                      </a:r>
                    </a:p>
                  </a:txBody>
                  <a:tcPr/>
                </a:tc>
                <a:tc>
                  <a:txBody>
                    <a:bodyPr/>
                    <a:lstStyle/>
                    <a:p>
                      <a:r>
                        <a:rPr lang="en-US" sz="1800"/>
                        <a:t>WI RMC</a:t>
                      </a:r>
                    </a:p>
                  </a:txBody>
                  <a:tcPr/>
                </a:tc>
                <a:tc>
                  <a:txBody>
                    <a:bodyPr/>
                    <a:lstStyle/>
                    <a:p>
                      <a:r>
                        <a:rPr lang="en-US" sz="1800"/>
                        <a:t>75,000</a:t>
                      </a:r>
                    </a:p>
                  </a:txBody>
                  <a:tcPr/>
                </a:tc>
                <a:extLst>
                  <a:ext uri="{0D108BD9-81ED-4DB2-BD59-A6C34878D82A}">
                    <a16:rowId xmlns:a16="http://schemas.microsoft.com/office/drawing/2014/main" val="550748961"/>
                  </a:ext>
                </a:extLst>
              </a:tr>
              <a:tr h="370840">
                <a:tc>
                  <a:txBody>
                    <a:bodyPr/>
                    <a:lstStyle/>
                    <a:p>
                      <a:r>
                        <a:rPr lang="en-US" sz="1800"/>
                        <a:t>DR</a:t>
                      </a:r>
                    </a:p>
                  </a:txBody>
                  <a:tcPr/>
                </a:tc>
                <a:tc>
                  <a:txBody>
                    <a:bodyPr/>
                    <a:lstStyle/>
                    <a:p>
                      <a:r>
                        <a:rPr lang="en-US" sz="1800"/>
                        <a:t>CA RMC</a:t>
                      </a:r>
                    </a:p>
                  </a:txBody>
                  <a:tcPr/>
                </a:tc>
                <a:tc>
                  <a:txBody>
                    <a:bodyPr/>
                    <a:lstStyle/>
                    <a:p>
                      <a:r>
                        <a:rPr lang="en-US" sz="1800"/>
                        <a:t>25,000</a:t>
                      </a:r>
                    </a:p>
                  </a:txBody>
                  <a:tcPr/>
                </a:tc>
                <a:extLst>
                  <a:ext uri="{0D108BD9-81ED-4DB2-BD59-A6C34878D82A}">
                    <a16:rowId xmlns:a16="http://schemas.microsoft.com/office/drawing/2014/main" val="1545698249"/>
                  </a:ext>
                </a:extLst>
              </a:tr>
            </a:tbl>
          </a:graphicData>
        </a:graphic>
      </p:graphicFrame>
    </p:spTree>
    <p:extLst>
      <p:ext uri="{BB962C8B-B14F-4D97-AF65-F5344CB8AC3E}">
        <p14:creationId xmlns:p14="http://schemas.microsoft.com/office/powerpoint/2010/main" val="3506680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5ED7-B09D-4255-BC15-2B5B5B04C0D1}"/>
              </a:ext>
            </a:extLst>
          </p:cNvPr>
          <p:cNvSpPr>
            <a:spLocks noGrp="1"/>
          </p:cNvSpPr>
          <p:nvPr>
            <p:ph type="title"/>
          </p:nvPr>
        </p:nvSpPr>
        <p:spPr/>
        <p:txBody>
          <a:bodyPr/>
          <a:lstStyle/>
          <a:p>
            <a:r>
              <a:rPr lang="en-US"/>
              <a:t>Multi-brand WBS allocations – types of postings</a:t>
            </a:r>
          </a:p>
        </p:txBody>
      </p:sp>
      <p:sp>
        <p:nvSpPr>
          <p:cNvPr id="4" name="Footer Placeholder 3">
            <a:extLst>
              <a:ext uri="{FF2B5EF4-FFF2-40B4-BE49-F238E27FC236}">
                <a16:creationId xmlns:a16="http://schemas.microsoft.com/office/drawing/2014/main" id="{33182F0C-92B6-4E69-836E-259849DCB8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62E983B-AAE6-48E8-9068-FAC8C4847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2E7BE71E-0E41-4A89-B924-3BB820277BB6}"/>
              </a:ext>
            </a:extLst>
          </p:cNvPr>
          <p:cNvSpPr/>
          <p:nvPr/>
        </p:nvSpPr>
        <p:spPr>
          <a:xfrm>
            <a:off x="548640" y="1554480"/>
            <a:ext cx="11176000" cy="558800"/>
          </a:xfrm>
          <a:prstGeom prst="roundRect">
            <a:avLst/>
          </a:prstGeom>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2. Profitability segment to Profitability segment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200406C5-6BA0-4BAF-8439-6EDE131B8230}"/>
              </a:ext>
            </a:extLst>
          </p:cNvPr>
          <p:cNvSpPr txBox="1"/>
          <p:nvPr/>
        </p:nvSpPr>
        <p:spPr>
          <a:xfrm>
            <a:off x="548640" y="2316480"/>
            <a:ext cx="11176000" cy="1554272"/>
          </a:xfrm>
          <a:prstGeom prst="rect">
            <a:avLst/>
          </a:prstGeom>
          <a:ln w="28575"/>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There are already costs allocated to Profitability Analysis from prior periods which should be redistributed</a:t>
            </a:r>
          </a:p>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YTD amount that was allocated in prior periods is greater than the amount for the current period</a:t>
            </a:r>
          </a:p>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YTD amount that was allocated in prior periods is lower than the amount for the current period</a:t>
            </a:r>
          </a:p>
          <a:p>
            <a:pPr marL="28575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Only the delta between the amounts previously allocated and the allocation for the current period will be posted (e.g. the previous allocation is not reversed and the full YTD amount posted)</a:t>
            </a:r>
          </a:p>
        </p:txBody>
      </p:sp>
      <p:graphicFrame>
        <p:nvGraphicFramePr>
          <p:cNvPr id="8" name="Table 7">
            <a:extLst>
              <a:ext uri="{FF2B5EF4-FFF2-40B4-BE49-F238E27FC236}">
                <a16:creationId xmlns:a16="http://schemas.microsoft.com/office/drawing/2014/main" id="{A01A9F7E-F641-4040-82EF-7F92F4ADBEF4}"/>
              </a:ext>
            </a:extLst>
          </p:cNvPr>
          <p:cNvGraphicFramePr>
            <a:graphicFrameLocks noGrp="1"/>
          </p:cNvGraphicFramePr>
          <p:nvPr/>
        </p:nvGraphicFramePr>
        <p:xfrm>
          <a:off x="506926" y="4061748"/>
          <a:ext cx="3698072" cy="2096463"/>
        </p:xfrm>
        <a:graphic>
          <a:graphicData uri="http://schemas.openxmlformats.org/drawingml/2006/table">
            <a:tbl>
              <a:tblPr firstRow="1" bandRow="1">
                <a:tableStyleId>{93296810-A885-4BE3-A3E7-6D5BEEA58F35}</a:tableStyleId>
              </a:tblPr>
              <a:tblGrid>
                <a:gridCol w="2571554">
                  <a:extLst>
                    <a:ext uri="{9D8B030D-6E8A-4147-A177-3AD203B41FA5}">
                      <a16:colId xmlns:a16="http://schemas.microsoft.com/office/drawing/2014/main" val="1784131885"/>
                    </a:ext>
                  </a:extLst>
                </a:gridCol>
                <a:gridCol w="1126518">
                  <a:extLst>
                    <a:ext uri="{9D8B030D-6E8A-4147-A177-3AD203B41FA5}">
                      <a16:colId xmlns:a16="http://schemas.microsoft.com/office/drawing/2014/main" val="880213478"/>
                    </a:ext>
                  </a:extLst>
                </a:gridCol>
              </a:tblGrid>
              <a:tr h="359103">
                <a:tc>
                  <a:txBody>
                    <a:bodyPr/>
                    <a:lstStyle/>
                    <a:p>
                      <a:r>
                        <a:rPr lang="en-US" sz="1600"/>
                        <a:t>PARAMETER</a:t>
                      </a:r>
                    </a:p>
                  </a:txBody>
                  <a:tcPr/>
                </a:tc>
                <a:tc>
                  <a:txBody>
                    <a:bodyPr/>
                    <a:lstStyle/>
                    <a:p>
                      <a:r>
                        <a:rPr lang="en-US" sz="1600"/>
                        <a:t>Amount</a:t>
                      </a:r>
                    </a:p>
                  </a:txBody>
                  <a:tcPr/>
                </a:tc>
                <a:extLst>
                  <a:ext uri="{0D108BD9-81ED-4DB2-BD59-A6C34878D82A}">
                    <a16:rowId xmlns:a16="http://schemas.microsoft.com/office/drawing/2014/main" val="91389602"/>
                  </a:ext>
                </a:extLst>
              </a:tr>
              <a:tr h="359103">
                <a:tc>
                  <a:txBody>
                    <a:bodyPr/>
                    <a:lstStyle/>
                    <a:p>
                      <a:r>
                        <a:rPr lang="en-US" sz="1600"/>
                        <a:t>YTD Actuals on WBS element A</a:t>
                      </a:r>
                    </a:p>
                  </a:txBody>
                  <a:tcPr/>
                </a:tc>
                <a:tc>
                  <a:txBody>
                    <a:bodyPr/>
                    <a:lstStyle/>
                    <a:p>
                      <a:pPr algn="ctr"/>
                      <a:r>
                        <a:rPr lang="en-US" sz="1600"/>
                        <a:t>120,000</a:t>
                      </a:r>
                    </a:p>
                  </a:txBody>
                  <a:tcPr/>
                </a:tc>
                <a:extLst>
                  <a:ext uri="{0D108BD9-81ED-4DB2-BD59-A6C34878D82A}">
                    <a16:rowId xmlns:a16="http://schemas.microsoft.com/office/drawing/2014/main" val="329476389"/>
                  </a:ext>
                </a:extLst>
              </a:tr>
              <a:tr h="359103">
                <a:tc>
                  <a:txBody>
                    <a:bodyPr/>
                    <a:lstStyle/>
                    <a:p>
                      <a:r>
                        <a:rPr lang="en-US" sz="1600"/>
                        <a:t>Already allocated to WI RMC</a:t>
                      </a:r>
                    </a:p>
                  </a:txBody>
                  <a:tcPr/>
                </a:tc>
                <a:tc>
                  <a:txBody>
                    <a:bodyPr/>
                    <a:lstStyle/>
                    <a:p>
                      <a:pPr algn="ctr"/>
                      <a:r>
                        <a:rPr lang="en-US" sz="1600"/>
                        <a:t>75,000</a:t>
                      </a:r>
                    </a:p>
                  </a:txBody>
                  <a:tcPr/>
                </a:tc>
                <a:extLst>
                  <a:ext uri="{0D108BD9-81ED-4DB2-BD59-A6C34878D82A}">
                    <a16:rowId xmlns:a16="http://schemas.microsoft.com/office/drawing/2014/main" val="3973186805"/>
                  </a:ext>
                </a:extLst>
              </a:tr>
              <a:tr h="359103">
                <a:tc>
                  <a:txBody>
                    <a:bodyPr/>
                    <a:lstStyle/>
                    <a:p>
                      <a:r>
                        <a:rPr lang="en-US" sz="1600"/>
                        <a:t>Already allocated to CA RMC</a:t>
                      </a:r>
                    </a:p>
                  </a:txBody>
                  <a:tcPr/>
                </a:tc>
                <a:tc>
                  <a:txBody>
                    <a:bodyPr/>
                    <a:lstStyle/>
                    <a:p>
                      <a:pPr algn="ctr"/>
                      <a:r>
                        <a:rPr lang="en-US" sz="1600"/>
                        <a:t>25,000</a:t>
                      </a:r>
                    </a:p>
                  </a:txBody>
                  <a:tcPr/>
                </a:tc>
                <a:extLst>
                  <a:ext uri="{0D108BD9-81ED-4DB2-BD59-A6C34878D82A}">
                    <a16:rowId xmlns:a16="http://schemas.microsoft.com/office/drawing/2014/main" val="302310809"/>
                  </a:ext>
                </a:extLst>
              </a:tr>
            </a:tbl>
          </a:graphicData>
        </a:graphic>
      </p:graphicFrame>
      <p:graphicFrame>
        <p:nvGraphicFramePr>
          <p:cNvPr id="9" name="Table 8">
            <a:extLst>
              <a:ext uri="{FF2B5EF4-FFF2-40B4-BE49-F238E27FC236}">
                <a16:creationId xmlns:a16="http://schemas.microsoft.com/office/drawing/2014/main" id="{8D6B155D-E34D-4CB4-80BC-92902179728F}"/>
              </a:ext>
            </a:extLst>
          </p:cNvPr>
          <p:cNvGraphicFramePr>
            <a:graphicFrameLocks noGrp="1"/>
          </p:cNvGraphicFramePr>
          <p:nvPr/>
        </p:nvGraphicFramePr>
        <p:xfrm>
          <a:off x="4932533" y="4189678"/>
          <a:ext cx="2990242" cy="1737360"/>
        </p:xfrm>
        <a:graphic>
          <a:graphicData uri="http://schemas.openxmlformats.org/drawingml/2006/table">
            <a:tbl>
              <a:tblPr firstRow="1" bandRow="1">
                <a:tableStyleId>{7DF18680-E054-41AD-8BC1-D1AEF772440D}</a:tableStyleId>
              </a:tblPr>
              <a:tblGrid>
                <a:gridCol w="804544">
                  <a:extLst>
                    <a:ext uri="{9D8B030D-6E8A-4147-A177-3AD203B41FA5}">
                      <a16:colId xmlns:a16="http://schemas.microsoft.com/office/drawing/2014/main" val="1454865088"/>
                    </a:ext>
                  </a:extLst>
                </a:gridCol>
                <a:gridCol w="864897">
                  <a:extLst>
                    <a:ext uri="{9D8B030D-6E8A-4147-A177-3AD203B41FA5}">
                      <a16:colId xmlns:a16="http://schemas.microsoft.com/office/drawing/2014/main" val="2761828065"/>
                    </a:ext>
                  </a:extLst>
                </a:gridCol>
                <a:gridCol w="1320801">
                  <a:extLst>
                    <a:ext uri="{9D8B030D-6E8A-4147-A177-3AD203B41FA5}">
                      <a16:colId xmlns:a16="http://schemas.microsoft.com/office/drawing/2014/main" val="1150697166"/>
                    </a:ext>
                  </a:extLst>
                </a:gridCol>
              </a:tblGrid>
              <a:tr h="370840">
                <a:tc>
                  <a:txBody>
                    <a:bodyPr/>
                    <a:lstStyle/>
                    <a:p>
                      <a:endParaRPr lang="en-US" sz="1600"/>
                    </a:p>
                  </a:txBody>
                  <a:tcPr/>
                </a:tc>
                <a:tc>
                  <a:txBody>
                    <a:bodyPr/>
                    <a:lstStyle/>
                    <a:p>
                      <a:pPr algn="ctr"/>
                      <a:r>
                        <a:rPr lang="en-US" sz="1600"/>
                        <a:t>NEW RATIO</a:t>
                      </a:r>
                    </a:p>
                  </a:txBody>
                  <a:tcPr/>
                </a:tc>
                <a:tc>
                  <a:txBody>
                    <a:bodyPr/>
                    <a:lstStyle/>
                    <a:p>
                      <a:pPr algn="ctr"/>
                      <a:r>
                        <a:rPr lang="en-US" sz="1600"/>
                        <a:t>EXPECTED AMOUNT</a:t>
                      </a:r>
                    </a:p>
                  </a:txBody>
                  <a:tcPr/>
                </a:tc>
                <a:extLst>
                  <a:ext uri="{0D108BD9-81ED-4DB2-BD59-A6C34878D82A}">
                    <a16:rowId xmlns:a16="http://schemas.microsoft.com/office/drawing/2014/main" val="3844662788"/>
                  </a:ext>
                </a:extLst>
              </a:tr>
              <a:tr h="370840">
                <a:tc>
                  <a:txBody>
                    <a:bodyPr/>
                    <a:lstStyle/>
                    <a:p>
                      <a:r>
                        <a:rPr lang="en-US" sz="1600"/>
                        <a:t>WI RMC</a:t>
                      </a:r>
                    </a:p>
                  </a:txBody>
                  <a:tcPr/>
                </a:tc>
                <a:tc>
                  <a:txBody>
                    <a:bodyPr/>
                    <a:lstStyle/>
                    <a:p>
                      <a:pPr algn="ctr"/>
                      <a:r>
                        <a:rPr lang="en-US" sz="1600"/>
                        <a:t>50%</a:t>
                      </a:r>
                    </a:p>
                  </a:txBody>
                  <a:tcPr/>
                </a:tc>
                <a:tc>
                  <a:txBody>
                    <a:bodyPr/>
                    <a:lstStyle/>
                    <a:p>
                      <a:pPr algn="ctr"/>
                      <a:r>
                        <a:rPr lang="en-US" sz="1600"/>
                        <a:t>60,000</a:t>
                      </a:r>
                    </a:p>
                  </a:txBody>
                  <a:tcPr/>
                </a:tc>
                <a:extLst>
                  <a:ext uri="{0D108BD9-81ED-4DB2-BD59-A6C34878D82A}">
                    <a16:rowId xmlns:a16="http://schemas.microsoft.com/office/drawing/2014/main" val="210369222"/>
                  </a:ext>
                </a:extLst>
              </a:tr>
              <a:tr h="370840">
                <a:tc>
                  <a:txBody>
                    <a:bodyPr/>
                    <a:lstStyle/>
                    <a:p>
                      <a:r>
                        <a:rPr lang="en-US" sz="1600"/>
                        <a:t>CA RMC</a:t>
                      </a:r>
                    </a:p>
                  </a:txBody>
                  <a:tcPr/>
                </a:tc>
                <a:tc>
                  <a:txBody>
                    <a:bodyPr/>
                    <a:lstStyle/>
                    <a:p>
                      <a:pPr algn="ctr"/>
                      <a:r>
                        <a:rPr lang="en-US" sz="1600"/>
                        <a:t>50%</a:t>
                      </a:r>
                    </a:p>
                  </a:txBody>
                  <a:tcPr/>
                </a:tc>
                <a:tc>
                  <a:txBody>
                    <a:bodyPr/>
                    <a:lstStyle/>
                    <a:p>
                      <a:pPr algn="ctr"/>
                      <a:r>
                        <a:rPr lang="en-US" sz="1600"/>
                        <a:t>60,000</a:t>
                      </a:r>
                    </a:p>
                  </a:txBody>
                  <a:tcPr/>
                </a:tc>
                <a:extLst>
                  <a:ext uri="{0D108BD9-81ED-4DB2-BD59-A6C34878D82A}">
                    <a16:rowId xmlns:a16="http://schemas.microsoft.com/office/drawing/2014/main" val="3844946481"/>
                  </a:ext>
                </a:extLst>
              </a:tr>
            </a:tbl>
          </a:graphicData>
        </a:graphic>
      </p:graphicFrame>
      <p:graphicFrame>
        <p:nvGraphicFramePr>
          <p:cNvPr id="10" name="Table 9">
            <a:extLst>
              <a:ext uri="{FF2B5EF4-FFF2-40B4-BE49-F238E27FC236}">
                <a16:creationId xmlns:a16="http://schemas.microsoft.com/office/drawing/2014/main" id="{3D34CFBA-2807-4D56-A5EF-75CF6A857C12}"/>
              </a:ext>
            </a:extLst>
          </p:cNvPr>
          <p:cNvGraphicFramePr>
            <a:graphicFrameLocks noGrp="1"/>
          </p:cNvGraphicFramePr>
          <p:nvPr/>
        </p:nvGraphicFramePr>
        <p:xfrm>
          <a:off x="8724491" y="4204196"/>
          <a:ext cx="2880815" cy="1691640"/>
        </p:xfrm>
        <a:graphic>
          <a:graphicData uri="http://schemas.openxmlformats.org/drawingml/2006/table">
            <a:tbl>
              <a:tblPr firstRow="1" bandRow="1">
                <a:tableStyleId>{00A15C55-8517-42AA-B614-E9B94910E393}</a:tableStyleId>
              </a:tblPr>
              <a:tblGrid>
                <a:gridCol w="551589">
                  <a:extLst>
                    <a:ext uri="{9D8B030D-6E8A-4147-A177-3AD203B41FA5}">
                      <a16:colId xmlns:a16="http://schemas.microsoft.com/office/drawing/2014/main" val="3588361974"/>
                    </a:ext>
                  </a:extLst>
                </a:gridCol>
                <a:gridCol w="1360118">
                  <a:extLst>
                    <a:ext uri="{9D8B030D-6E8A-4147-A177-3AD203B41FA5}">
                      <a16:colId xmlns:a16="http://schemas.microsoft.com/office/drawing/2014/main" val="2536476751"/>
                    </a:ext>
                  </a:extLst>
                </a:gridCol>
                <a:gridCol w="969108">
                  <a:extLst>
                    <a:ext uri="{9D8B030D-6E8A-4147-A177-3AD203B41FA5}">
                      <a16:colId xmlns:a16="http://schemas.microsoft.com/office/drawing/2014/main" val="2827840240"/>
                    </a:ext>
                  </a:extLst>
                </a:gridCol>
              </a:tblGrid>
              <a:tr h="370840">
                <a:tc gridSpan="2">
                  <a:txBody>
                    <a:bodyPr/>
                    <a:lstStyle/>
                    <a:p>
                      <a:pPr algn="ctr"/>
                      <a:r>
                        <a:rPr lang="en-US" sz="1600"/>
                        <a:t>POSTING</a:t>
                      </a:r>
                    </a:p>
                  </a:txBody>
                  <a:tcPr/>
                </a:tc>
                <a:tc hMerge="1">
                  <a:txBody>
                    <a:bodyPr/>
                    <a:lstStyle/>
                    <a:p>
                      <a:endParaRPr lang="ru-RU" sz="1400"/>
                    </a:p>
                  </a:txBody>
                  <a:tcPr/>
                </a:tc>
                <a:tc>
                  <a:txBody>
                    <a:bodyPr/>
                    <a:lstStyle/>
                    <a:p>
                      <a:r>
                        <a:rPr lang="en-US" sz="1600"/>
                        <a:t>Amount</a:t>
                      </a:r>
                    </a:p>
                  </a:txBody>
                  <a:tcPr/>
                </a:tc>
                <a:extLst>
                  <a:ext uri="{0D108BD9-81ED-4DB2-BD59-A6C34878D82A}">
                    <a16:rowId xmlns:a16="http://schemas.microsoft.com/office/drawing/2014/main" val="2161826438"/>
                  </a:ext>
                </a:extLst>
              </a:tr>
              <a:tr h="370840">
                <a:tc>
                  <a:txBody>
                    <a:bodyPr/>
                    <a:lstStyle/>
                    <a:p>
                      <a:r>
                        <a:rPr lang="en-US" sz="1600"/>
                        <a:t>CR</a:t>
                      </a:r>
                    </a:p>
                  </a:txBody>
                  <a:tcPr/>
                </a:tc>
                <a:tc>
                  <a:txBody>
                    <a:bodyPr/>
                    <a:lstStyle/>
                    <a:p>
                      <a:r>
                        <a:rPr lang="en-US" sz="1600"/>
                        <a:t>WBS element A</a:t>
                      </a:r>
                    </a:p>
                  </a:txBody>
                  <a:tcPr/>
                </a:tc>
                <a:tc>
                  <a:txBody>
                    <a:bodyPr/>
                    <a:lstStyle/>
                    <a:p>
                      <a:r>
                        <a:rPr lang="en-US" sz="1600"/>
                        <a:t>20,000</a:t>
                      </a:r>
                    </a:p>
                  </a:txBody>
                  <a:tcPr/>
                </a:tc>
                <a:extLst>
                  <a:ext uri="{0D108BD9-81ED-4DB2-BD59-A6C34878D82A}">
                    <a16:rowId xmlns:a16="http://schemas.microsoft.com/office/drawing/2014/main" val="1384817921"/>
                  </a:ext>
                </a:extLst>
              </a:tr>
              <a:tr h="370840">
                <a:tc>
                  <a:txBody>
                    <a:bodyPr/>
                    <a:lstStyle/>
                    <a:p>
                      <a:r>
                        <a:rPr lang="en-US" sz="1600"/>
                        <a:t>CR</a:t>
                      </a:r>
                    </a:p>
                  </a:txBody>
                  <a:tcPr/>
                </a:tc>
                <a:tc>
                  <a:txBody>
                    <a:bodyPr/>
                    <a:lstStyle/>
                    <a:p>
                      <a:r>
                        <a:rPr lang="en-US" sz="1600"/>
                        <a:t>WI RMC</a:t>
                      </a:r>
                    </a:p>
                  </a:txBody>
                  <a:tcPr/>
                </a:tc>
                <a:tc>
                  <a:txBody>
                    <a:bodyPr/>
                    <a:lstStyle/>
                    <a:p>
                      <a:r>
                        <a:rPr lang="en-US" sz="1600"/>
                        <a:t>15,000</a:t>
                      </a:r>
                    </a:p>
                  </a:txBody>
                  <a:tcPr/>
                </a:tc>
                <a:extLst>
                  <a:ext uri="{0D108BD9-81ED-4DB2-BD59-A6C34878D82A}">
                    <a16:rowId xmlns:a16="http://schemas.microsoft.com/office/drawing/2014/main" val="550748961"/>
                  </a:ext>
                </a:extLst>
              </a:tr>
              <a:tr h="370840">
                <a:tc>
                  <a:txBody>
                    <a:bodyPr/>
                    <a:lstStyle/>
                    <a:p>
                      <a:r>
                        <a:rPr lang="en-US" sz="1600"/>
                        <a:t>DR</a:t>
                      </a:r>
                    </a:p>
                  </a:txBody>
                  <a:tcPr/>
                </a:tc>
                <a:tc>
                  <a:txBody>
                    <a:bodyPr/>
                    <a:lstStyle/>
                    <a:p>
                      <a:r>
                        <a:rPr lang="en-US" sz="1600"/>
                        <a:t>CA RMC</a:t>
                      </a:r>
                    </a:p>
                  </a:txBody>
                  <a:tcPr/>
                </a:tc>
                <a:tc>
                  <a:txBody>
                    <a:bodyPr/>
                    <a:lstStyle/>
                    <a:p>
                      <a:r>
                        <a:rPr lang="en-US" sz="1600"/>
                        <a:t>35,000</a:t>
                      </a:r>
                    </a:p>
                  </a:txBody>
                  <a:tcPr/>
                </a:tc>
                <a:extLst>
                  <a:ext uri="{0D108BD9-81ED-4DB2-BD59-A6C34878D82A}">
                    <a16:rowId xmlns:a16="http://schemas.microsoft.com/office/drawing/2014/main" val="1545698249"/>
                  </a:ext>
                </a:extLst>
              </a:tr>
            </a:tbl>
          </a:graphicData>
        </a:graphic>
      </p:graphicFrame>
      <p:sp>
        <p:nvSpPr>
          <p:cNvPr id="11" name="Arrow: Notched Right 10">
            <a:extLst>
              <a:ext uri="{FF2B5EF4-FFF2-40B4-BE49-F238E27FC236}">
                <a16:creationId xmlns:a16="http://schemas.microsoft.com/office/drawing/2014/main" id="{7ED437DA-1144-4CC6-BB68-D733E9B177E0}"/>
              </a:ext>
            </a:extLst>
          </p:cNvPr>
          <p:cNvSpPr/>
          <p:nvPr/>
        </p:nvSpPr>
        <p:spPr>
          <a:xfrm>
            <a:off x="4240409" y="4811474"/>
            <a:ext cx="646587" cy="493771"/>
          </a:xfrm>
          <a:prstGeom prst="notch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Arrow: Notched Right 11">
            <a:extLst>
              <a:ext uri="{FF2B5EF4-FFF2-40B4-BE49-F238E27FC236}">
                <a16:creationId xmlns:a16="http://schemas.microsoft.com/office/drawing/2014/main" id="{6729003F-8FD2-47B4-AC3D-96F53F02B4C7}"/>
              </a:ext>
            </a:extLst>
          </p:cNvPr>
          <p:cNvSpPr/>
          <p:nvPr/>
        </p:nvSpPr>
        <p:spPr>
          <a:xfrm>
            <a:off x="8007081" y="4811473"/>
            <a:ext cx="646587" cy="493771"/>
          </a:xfrm>
          <a:prstGeom prst="notch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534625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4B67E-1762-4006-84AF-75E27EF7F790}"/>
              </a:ext>
            </a:extLst>
          </p:cNvPr>
          <p:cNvSpPr>
            <a:spLocks noGrp="1"/>
          </p:cNvSpPr>
          <p:nvPr>
            <p:ph type="title"/>
          </p:nvPr>
        </p:nvSpPr>
        <p:spPr/>
        <p:txBody>
          <a:bodyPr/>
          <a:lstStyle/>
          <a:p>
            <a:r>
              <a:rPr lang="en-US" sz="2800"/>
              <a:t>Display the calculation for automated WBS allocation to CO-PA – </a:t>
            </a:r>
            <a:r>
              <a:rPr lang="en-US" sz="2000"/>
              <a:t>ZFFIR_POST_ALLOC_PS</a:t>
            </a:r>
            <a:endParaRPr lang="en-US" sz="2800"/>
          </a:p>
        </p:txBody>
      </p:sp>
      <p:sp>
        <p:nvSpPr>
          <p:cNvPr id="4" name="Footer Placeholder 3">
            <a:extLst>
              <a:ext uri="{FF2B5EF4-FFF2-40B4-BE49-F238E27FC236}">
                <a16:creationId xmlns:a16="http://schemas.microsoft.com/office/drawing/2014/main" id="{3E097871-09B1-4B18-A367-E61AEBE6DCF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EDC8C677-1851-4161-B2B0-2117655414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7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7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6386" name="Picture 2">
            <a:extLst>
              <a:ext uri="{FF2B5EF4-FFF2-40B4-BE49-F238E27FC236}">
                <a16:creationId xmlns:a16="http://schemas.microsoft.com/office/drawing/2014/main" id="{196DF8D9-FC66-41C0-8CB1-6030FEF9E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66" y="2217341"/>
            <a:ext cx="3244958" cy="13176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6955B0C-D2DC-4AA5-83B0-5051A7B27A53}"/>
              </a:ext>
            </a:extLst>
          </p:cNvPr>
          <p:cNvSpPr/>
          <p:nvPr/>
        </p:nvSpPr>
        <p:spPr>
          <a:xfrm>
            <a:off x="7517434" y="1574800"/>
            <a:ext cx="4350436" cy="4845251"/>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rPr>
              <a:t>The fields that must be populated are as follows: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rPr>
              <a:t>Project definition or WBS element</a:t>
            </a:r>
            <a:r>
              <a:rPr kumimoji="0" lang="en-GB" sz="1400" b="1" i="0" u="none" strike="noStrike" kern="1200" cap="none" spc="0" normalizeH="0" baseline="0" noProof="0">
                <a:ln>
                  <a:noFill/>
                </a:ln>
                <a:solidFill>
                  <a:srgbClr val="000000"/>
                </a:solidFill>
                <a:effectLst/>
                <a:uLnTx/>
                <a:uFillTx/>
                <a:latin typeface="Arial" panose="020B0604020202020204"/>
              </a:rPr>
              <a:t>: </a:t>
            </a:r>
            <a:r>
              <a:rPr kumimoji="0" lang="en-US" sz="1400" b="0" i="0" u="none" strike="noStrike" kern="1200" cap="none" spc="0" normalizeH="0" baseline="0" noProof="0">
                <a:ln>
                  <a:noFill/>
                </a:ln>
                <a:solidFill>
                  <a:srgbClr val="000000"/>
                </a:solidFill>
                <a:effectLst/>
                <a:uLnTx/>
                <a:uFillTx/>
                <a:latin typeface="Arial" panose="020B0604020202020204"/>
              </a:rPr>
              <a:t>If you enter the project, you will see the proposed allocation for all multi-brand WBS elements within that project that do not have allocation key ZZZ. If you only enter the WBS element you will see the proposed allocation for one element only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rPr>
              <a:t>Company code (optional): </a:t>
            </a:r>
            <a:r>
              <a:rPr kumimoji="0" lang="en-US" sz="1400" b="0" i="0" u="none" strike="noStrike" kern="1200" cap="none" spc="0" normalizeH="0" baseline="0" noProof="0">
                <a:ln>
                  <a:noFill/>
                </a:ln>
                <a:solidFill>
                  <a:srgbClr val="000000"/>
                </a:solidFill>
                <a:effectLst/>
                <a:uLnTx/>
                <a:uFillTx/>
                <a:latin typeface="Arial" panose="020B0604020202020204"/>
              </a:rPr>
              <a:t>The company code where the element(s) have been created. This field is not mandatory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rPr>
              <a:t>Posting period / year: </a:t>
            </a:r>
            <a:r>
              <a:rPr kumimoji="0" lang="en-US" sz="1400" b="0" i="0" u="none" strike="noStrike" kern="1200" cap="none" spc="0" normalizeH="0" baseline="0" noProof="0">
                <a:ln>
                  <a:noFill/>
                </a:ln>
                <a:solidFill>
                  <a:srgbClr val="000000"/>
                </a:solidFill>
                <a:effectLst/>
                <a:uLnTx/>
                <a:uFillTx/>
                <a:latin typeface="Arial" panose="020B0604020202020204"/>
              </a:rPr>
              <a:t>The posting period and year in which the allocation will take place. Please note – the allocation is based on YTD net revenue or volumes  </a:t>
            </a:r>
          </a:p>
          <a:p>
            <a:pPr lvl="0">
              <a:spcBef>
                <a:spcPts val="600"/>
              </a:spcBef>
              <a:defRPr/>
            </a:pPr>
            <a:r>
              <a:rPr kumimoji="0" lang="en-GB" sz="1400" b="1" i="0" u="none" strike="noStrike" kern="1200" cap="none" spc="0" normalizeH="0" baseline="0" noProof="0">
                <a:ln>
                  <a:noFill/>
                </a:ln>
                <a:solidFill>
                  <a:srgbClr val="000000"/>
                </a:solidFill>
                <a:effectLst/>
                <a:uLnTx/>
                <a:uFillTx/>
                <a:latin typeface="Arial" panose="020B0604020202020204"/>
              </a:rPr>
              <a:t>Test run: </a:t>
            </a:r>
            <a:r>
              <a:rPr kumimoji="0" lang="en-US" sz="1400" b="0" i="0" u="none" strike="noStrike" kern="1200" cap="none" spc="0" normalizeH="0" baseline="0" noProof="0">
                <a:ln>
                  <a:noFill/>
                </a:ln>
                <a:solidFill>
                  <a:srgbClr val="000000"/>
                </a:solidFill>
                <a:effectLst/>
                <a:uLnTx/>
                <a:uFillTx/>
                <a:latin typeface="Arial" panose="020B0604020202020204"/>
              </a:rPr>
              <a:t>This should also be flagged by Markets </a:t>
            </a:r>
            <a:r>
              <a:rPr lang="en-US" sz="1400">
                <a:solidFill>
                  <a:srgbClr val="000000"/>
                </a:solidFill>
              </a:rPr>
              <a:t>as if it is not flagged the % allocation calculation report will not be displayed.</a:t>
            </a:r>
          </a:p>
          <a:p>
            <a:pPr lvl="0">
              <a:spcBef>
                <a:spcPts val="600"/>
              </a:spcBef>
              <a:defRPr/>
            </a:pPr>
            <a:r>
              <a:rPr lang="en-US" sz="1400">
                <a:solidFill>
                  <a:srgbClr val="000000"/>
                </a:solidFill>
              </a:rPr>
              <a:t>Please note that although test mode can be unflagged, only BSC has access to actually execute the allocation.</a:t>
            </a:r>
          </a:p>
        </p:txBody>
      </p:sp>
      <p:pic>
        <p:nvPicPr>
          <p:cNvPr id="6" name="Picture 5">
            <a:extLst>
              <a:ext uri="{FF2B5EF4-FFF2-40B4-BE49-F238E27FC236}">
                <a16:creationId xmlns:a16="http://schemas.microsoft.com/office/drawing/2014/main" id="{9E3D71DC-9825-45CC-BEAA-3CE8D5E220E0}"/>
              </a:ext>
            </a:extLst>
          </p:cNvPr>
          <p:cNvPicPr>
            <a:picLocks noChangeAspect="1"/>
          </p:cNvPicPr>
          <p:nvPr/>
        </p:nvPicPr>
        <p:blipFill>
          <a:blip r:embed="rId3"/>
          <a:stretch>
            <a:fillRect/>
          </a:stretch>
        </p:blipFill>
        <p:spPr>
          <a:xfrm>
            <a:off x="551767" y="3609184"/>
            <a:ext cx="6333498" cy="2799954"/>
          </a:xfrm>
          <a:prstGeom prst="rect">
            <a:avLst/>
          </a:prstGeom>
        </p:spPr>
      </p:pic>
      <p:sp>
        <p:nvSpPr>
          <p:cNvPr id="8" name="Rectangle 7">
            <a:extLst>
              <a:ext uri="{FF2B5EF4-FFF2-40B4-BE49-F238E27FC236}">
                <a16:creationId xmlns:a16="http://schemas.microsoft.com/office/drawing/2014/main" id="{C32BA1A2-8D68-4B18-9C09-CC4A6F4FED96}"/>
              </a:ext>
            </a:extLst>
          </p:cNvPr>
          <p:cNvSpPr/>
          <p:nvPr/>
        </p:nvSpPr>
        <p:spPr>
          <a:xfrm>
            <a:off x="504953" y="1385595"/>
            <a:ext cx="6820673" cy="757529"/>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rPr>
              <a:t>This is to check that all allocations to Multi-Branded WBS Elements </a:t>
            </a:r>
            <a:r>
              <a:rPr lang="en-GB" sz="1100">
                <a:solidFill>
                  <a:srgbClr val="000000"/>
                </a:solidFill>
                <a:latin typeface="Arial" panose="020B0604020202020204"/>
              </a:rPr>
              <a:t>via pre defined allocation calculations have all been allocated successfully and we are not missing any. Some allocations could be missed if WBS elements are locked by other users. Important to remember not to keep a Project open in CJ20N</a:t>
            </a:r>
            <a:endParaRPr kumimoji="0" lang="en-GB" sz="1100" b="0" i="0" u="none" strike="noStrike" kern="1200" cap="none" spc="0" normalizeH="0" baseline="0" noProof="0">
              <a:ln>
                <a:noFill/>
              </a:ln>
              <a:solidFill>
                <a:srgbClr val="000000"/>
              </a:solidFill>
              <a:effectLst/>
              <a:uLnTx/>
              <a:uFillTx/>
              <a:latin typeface="Arial" panose="020B0604020202020204"/>
            </a:endParaRPr>
          </a:p>
        </p:txBody>
      </p:sp>
    </p:spTree>
    <p:extLst>
      <p:ext uri="{BB962C8B-B14F-4D97-AF65-F5344CB8AC3E}">
        <p14:creationId xmlns:p14="http://schemas.microsoft.com/office/powerpoint/2010/main" val="75714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CBEB73-8AA0-44F3-BE71-34A04BF82678}"/>
              </a:ext>
            </a:extLst>
          </p:cNvPr>
          <p:cNvPicPr>
            <a:picLocks noChangeAspect="1"/>
          </p:cNvPicPr>
          <p:nvPr/>
        </p:nvPicPr>
        <p:blipFill>
          <a:blip r:embed="rId2"/>
          <a:stretch>
            <a:fillRect/>
          </a:stretch>
        </p:blipFill>
        <p:spPr>
          <a:xfrm>
            <a:off x="629149" y="1377408"/>
            <a:ext cx="10831332" cy="1654952"/>
          </a:xfrm>
          <a:prstGeom prst="rect">
            <a:avLst/>
          </a:prstGeom>
        </p:spPr>
      </p:pic>
      <p:sp>
        <p:nvSpPr>
          <p:cNvPr id="2" name="Title 1">
            <a:extLst>
              <a:ext uri="{FF2B5EF4-FFF2-40B4-BE49-F238E27FC236}">
                <a16:creationId xmlns:a16="http://schemas.microsoft.com/office/drawing/2014/main" id="{FF95F226-5B5C-4E08-BDF8-5E48724CB585}"/>
              </a:ext>
            </a:extLst>
          </p:cNvPr>
          <p:cNvSpPr>
            <a:spLocks noGrp="1"/>
          </p:cNvSpPr>
          <p:nvPr>
            <p:ph type="title"/>
          </p:nvPr>
        </p:nvSpPr>
        <p:spPr/>
        <p:txBody>
          <a:bodyPr/>
          <a:lstStyle/>
          <a:p>
            <a:r>
              <a:rPr lang="en-US"/>
              <a:t>Display the calculation for automated WBS allocation to CO-PA – </a:t>
            </a:r>
            <a:r>
              <a:rPr lang="en-US" sz="2400"/>
              <a:t>ZFFIR_POST_ALLOC_PS</a:t>
            </a:r>
            <a:endParaRPr lang="en-US"/>
          </a:p>
        </p:txBody>
      </p:sp>
      <p:sp>
        <p:nvSpPr>
          <p:cNvPr id="4" name="Footer Placeholder 3">
            <a:extLst>
              <a:ext uri="{FF2B5EF4-FFF2-40B4-BE49-F238E27FC236}">
                <a16:creationId xmlns:a16="http://schemas.microsoft.com/office/drawing/2014/main" id="{4F01ED93-E2DF-48FF-BDD2-7B2E64467F0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01A54709-31FC-4B41-B58B-BA4487A217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726DD38E-3C9A-44FE-9DB8-4CE1DC17AF49}"/>
              </a:ext>
            </a:extLst>
          </p:cNvPr>
          <p:cNvSpPr/>
          <p:nvPr/>
        </p:nvSpPr>
        <p:spPr>
          <a:xfrm>
            <a:off x="608400" y="3098574"/>
            <a:ext cx="5487600" cy="3378426"/>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mn-cs"/>
              </a:rPr>
              <a:t>Company Code: T</a:t>
            </a: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he company code where distribution from WBS to CO-PA is performed </a:t>
            </a:r>
            <a:r>
              <a:rPr kumimoji="0" lang="en-GB" sz="1050" b="0" i="0" u="none" strike="noStrike" kern="1200" cap="none" spc="0" normalizeH="0" baseline="0" noProof="0">
                <a:ln>
                  <a:noFill/>
                </a:ln>
                <a:solidFill>
                  <a:srgbClr val="000000"/>
                </a:solidFill>
                <a:effectLst/>
                <a:uLnTx/>
                <a:uFillTx/>
                <a:latin typeface="Arial" panose="020B0604020202020204"/>
                <a:ea typeface="+mn-ea"/>
                <a:cs typeface="+mn-cs"/>
              </a:rPr>
              <a:t>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GB" sz="1050" b="0" i="0" u="none" strike="noStrike" kern="1200" cap="none" spc="0" normalizeH="0" baseline="0" noProof="0" err="1">
                <a:ln>
                  <a:noFill/>
                </a:ln>
                <a:solidFill>
                  <a:srgbClr val="000000"/>
                </a:solidFill>
                <a:effectLst/>
                <a:uLnTx/>
                <a:uFillTx/>
                <a:latin typeface="Arial" panose="020B0604020202020204"/>
                <a:ea typeface="+mn-ea"/>
                <a:cs typeface="+mn-cs"/>
              </a:rPr>
              <a:t>Period,Year</a:t>
            </a:r>
            <a:r>
              <a:rPr kumimoji="0" lang="en-GB" sz="105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Period/year which is used to define YTD costs and YTD reference sales figures to calculate the proportion for the distribution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WBS Element: WBS element holding the costs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Allocation Key: The allocation key from the WBS element master data which determines the rules for the distribution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Reference Figures: The basis for the reference sales figures: NS – net revenue; NV – net volumes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Account: G/L account with which distribution is performed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Cost Center: The original cost center that was posted along with WBS element and which will be inherited during distribution to CO-PA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Functional Area: Functional area where the costs were originally posted, and which will be inherited during cost distribution to CO-PA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Profit Center for WBS: Profit center within which the distribution of costs is performed </a:t>
            </a:r>
          </a:p>
        </p:txBody>
      </p:sp>
      <p:sp>
        <p:nvSpPr>
          <p:cNvPr id="10" name="Rectangle 9">
            <a:extLst>
              <a:ext uri="{FF2B5EF4-FFF2-40B4-BE49-F238E27FC236}">
                <a16:creationId xmlns:a16="http://schemas.microsoft.com/office/drawing/2014/main" id="{AE13303C-1A4D-4B1F-B19B-978FF50F921E}"/>
              </a:ext>
            </a:extLst>
          </p:cNvPr>
          <p:cNvSpPr/>
          <p:nvPr/>
        </p:nvSpPr>
        <p:spPr>
          <a:xfrm>
            <a:off x="6226561" y="3098574"/>
            <a:ext cx="5487600" cy="3378426"/>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Transaction Currency: The original transaction currency for costs posting which will be inherited during distribution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YTD Distributed Amount: The proposed figures for distribution of YTD costs according to the ratio calculated based on latest reference sales figures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Ratio: Proposed distribution ration based on reference sales figures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Cumulative Distributed Amounts: The amount of costs from previous month which have already been distributed to profitability analysis according to the previous revenues/volumes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Distributed amount to post: The proposed amount to be posted in the current period which is always the delta between the amounts already distributed and newly calculated amounts according to the latest ratio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Product Sold Group: The material in profitability analysis which will receive the distributed amounts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Brand </a:t>
            </a: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Family:The</a:t>
            </a: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brand family in profitability analysis which will receive the distributed amounts </a:t>
            </a:r>
          </a:p>
          <a:p>
            <a:pPr marL="342900" marR="0" lvl="0" indent="-342900" algn="l" defTabSz="914400" rtl="0" eaLnBrk="1" fontAlgn="auto" latinLnBrk="0" hangingPunct="1">
              <a:lnSpc>
                <a:spcPct val="100000"/>
              </a:lnSpc>
              <a:spcBef>
                <a:spcPts val="600"/>
              </a:spcBef>
              <a:spcAft>
                <a:spcPts val="0"/>
              </a:spcAft>
              <a:buClr>
                <a:srgbClr val="FF0000"/>
              </a:buClr>
              <a:buSzTx/>
              <a:buFont typeface="+mj-lt"/>
              <a:buAutoNum type="arabicPeriod" startAt="10"/>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Product Type:  The product type in profitability analysis which will receive the distributed amounts </a:t>
            </a:r>
            <a:endParaRPr kumimoji="0" lang="en-GB" sz="105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37721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AF26F329-97CF-4A21-846A-56522E79871E}"/>
              </a:ext>
            </a:extLst>
          </p:cNvPr>
          <p:cNvGraphicFramePr/>
          <p:nvPr>
            <p:extLst>
              <p:ext uri="{D42A27DB-BD31-4B8C-83A1-F6EECF244321}">
                <p14:modId xmlns:p14="http://schemas.microsoft.com/office/powerpoint/2010/main" val="2814740718"/>
              </p:ext>
            </p:extLst>
          </p:nvPr>
        </p:nvGraphicFramePr>
        <p:xfrm>
          <a:off x="7020560" y="3690502"/>
          <a:ext cx="6482080" cy="3946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Diagram 9">
            <a:extLst>
              <a:ext uri="{FF2B5EF4-FFF2-40B4-BE49-F238E27FC236}">
                <a16:creationId xmlns:a16="http://schemas.microsoft.com/office/drawing/2014/main" id="{B68A7A2F-C217-4DD0-AAD8-688A87A09AAA}"/>
              </a:ext>
            </a:extLst>
          </p:cNvPr>
          <p:cNvGraphicFramePr/>
          <p:nvPr>
            <p:extLst>
              <p:ext uri="{D42A27DB-BD31-4B8C-83A1-F6EECF244321}">
                <p14:modId xmlns:p14="http://schemas.microsoft.com/office/powerpoint/2010/main" val="3257231491"/>
              </p:ext>
            </p:extLst>
          </p:nvPr>
        </p:nvGraphicFramePr>
        <p:xfrm>
          <a:off x="1195289" y="3256859"/>
          <a:ext cx="6482080" cy="394660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Rectangle 12">
            <a:extLst>
              <a:ext uri="{FF2B5EF4-FFF2-40B4-BE49-F238E27FC236}">
                <a16:creationId xmlns:a16="http://schemas.microsoft.com/office/drawing/2014/main" id="{29E535A3-8888-4810-9EAB-F95ED4FC30DC}"/>
              </a:ext>
            </a:extLst>
          </p:cNvPr>
          <p:cNvSpPr/>
          <p:nvPr/>
        </p:nvSpPr>
        <p:spPr>
          <a:xfrm>
            <a:off x="5768034" y="4061297"/>
            <a:ext cx="4990049" cy="1689264"/>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GB" sz="1400">
                <a:solidFill>
                  <a:srgbClr val="000000"/>
                </a:solidFill>
                <a:latin typeface="Arial" panose="020B0604020202020204"/>
              </a:rPr>
              <a:t>Markets </a:t>
            </a:r>
            <a:r>
              <a:rPr lang="en-GB" sz="2000" b="1">
                <a:solidFill>
                  <a:srgbClr val="00B050"/>
                </a:solidFill>
                <a:latin typeface="Arial" panose="020B0604020202020204"/>
              </a:rPr>
              <a:t>WITH</a:t>
            </a:r>
            <a:r>
              <a:rPr lang="en-GB" sz="1400">
                <a:solidFill>
                  <a:srgbClr val="000000"/>
                </a:solidFill>
                <a:latin typeface="Arial" panose="020B0604020202020204"/>
              </a:rPr>
              <a:t> excise flow through Material  Ledger</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p:txBody>
      </p:sp>
      <p:sp>
        <p:nvSpPr>
          <p:cNvPr id="12" name="Rectangle 11">
            <a:extLst>
              <a:ext uri="{FF2B5EF4-FFF2-40B4-BE49-F238E27FC236}">
                <a16:creationId xmlns:a16="http://schemas.microsoft.com/office/drawing/2014/main" id="{418CDC3D-B232-4D7E-B619-25CB7261A3E0}"/>
              </a:ext>
            </a:extLst>
          </p:cNvPr>
          <p:cNvSpPr/>
          <p:nvPr/>
        </p:nvSpPr>
        <p:spPr>
          <a:xfrm>
            <a:off x="539969" y="4083389"/>
            <a:ext cx="4990049" cy="1667171"/>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GB" sz="1400">
                <a:solidFill>
                  <a:srgbClr val="000000"/>
                </a:solidFill>
                <a:latin typeface="Arial" panose="020B0604020202020204"/>
              </a:rPr>
              <a:t>Markets with excise NOT through Material  Ledger</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lang="en-GB" sz="1400">
              <a:solidFill>
                <a:srgbClr val="000000"/>
              </a:solidFill>
              <a:latin typeface="Arial" panose="020B0604020202020204"/>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Arial" panose="020B0604020202020204"/>
            </a:endParaRPr>
          </a:p>
        </p:txBody>
      </p:sp>
      <p:sp>
        <p:nvSpPr>
          <p:cNvPr id="2" name="Title 1">
            <a:extLst>
              <a:ext uri="{FF2B5EF4-FFF2-40B4-BE49-F238E27FC236}">
                <a16:creationId xmlns:a16="http://schemas.microsoft.com/office/drawing/2014/main" id="{4ED70743-E814-4E13-A9C0-BA1F9A7BF298}"/>
              </a:ext>
            </a:extLst>
          </p:cNvPr>
          <p:cNvSpPr>
            <a:spLocks noGrp="1"/>
          </p:cNvSpPr>
          <p:nvPr>
            <p:ph type="title"/>
          </p:nvPr>
        </p:nvSpPr>
        <p:spPr/>
        <p:txBody>
          <a:bodyPr/>
          <a:lstStyle/>
          <a:p>
            <a:r>
              <a:rPr lang="en-GB"/>
              <a:t>Month end closing schedule: Settlements</a:t>
            </a:r>
            <a:endParaRPr lang="en-US"/>
          </a:p>
        </p:txBody>
      </p:sp>
      <p:sp>
        <p:nvSpPr>
          <p:cNvPr id="5" name="Slide Number Placeholder 4">
            <a:extLst>
              <a:ext uri="{FF2B5EF4-FFF2-40B4-BE49-F238E27FC236}">
                <a16:creationId xmlns:a16="http://schemas.microsoft.com/office/drawing/2014/main" id="{15C0C43F-5DC6-4287-A4E2-C17029999FEC}"/>
              </a:ext>
            </a:extLst>
          </p:cNvPr>
          <p:cNvSpPr>
            <a:spLocks noGrp="1"/>
          </p:cNvSpPr>
          <p:nvPr>
            <p:ph type="sldNum" sz="quarter" idx="12"/>
          </p:nvPr>
        </p:nvSpPr>
        <p:spPr/>
        <p:txBody>
          <a:bodyPr/>
          <a:lstStyle/>
          <a:p>
            <a:fld id="{F4C94289-3309-4C35-850A-56FD49B3E346}" type="slidenum">
              <a:rPr lang="en-GB" smtClean="0"/>
              <a:t>25</a:t>
            </a:fld>
            <a:endParaRPr lang="en-GB"/>
          </a:p>
        </p:txBody>
      </p:sp>
      <p:sp>
        <p:nvSpPr>
          <p:cNvPr id="6" name="Rectangle 5">
            <a:extLst>
              <a:ext uri="{FF2B5EF4-FFF2-40B4-BE49-F238E27FC236}">
                <a16:creationId xmlns:a16="http://schemas.microsoft.com/office/drawing/2014/main" id="{A3BAEF19-6709-497B-A2E0-8BAF8DBA6325}"/>
              </a:ext>
            </a:extLst>
          </p:cNvPr>
          <p:cNvSpPr/>
          <p:nvPr/>
        </p:nvSpPr>
        <p:spPr>
          <a:xfrm>
            <a:off x="506511" y="1518318"/>
            <a:ext cx="9718729" cy="426801"/>
          </a:xfrm>
          <a:prstGeom prst="rect">
            <a:avLst/>
          </a:prstGeom>
        </p:spPr>
        <p:style>
          <a:lnRef idx="1">
            <a:schemeClr val="accent1">
              <a:shade val="50000"/>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Branded/Multi-Branded WBS with Allocation Key ZZZ to be settled:</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7" name="Diagram 6">
            <a:extLst>
              <a:ext uri="{FF2B5EF4-FFF2-40B4-BE49-F238E27FC236}">
                <a16:creationId xmlns:a16="http://schemas.microsoft.com/office/drawing/2014/main" id="{01E836F1-228B-4C0D-A750-01BD38E0E037}"/>
              </a:ext>
            </a:extLst>
          </p:cNvPr>
          <p:cNvGraphicFramePr/>
          <p:nvPr>
            <p:extLst>
              <p:ext uri="{D42A27DB-BD31-4B8C-83A1-F6EECF244321}">
                <p14:modId xmlns:p14="http://schemas.microsoft.com/office/powerpoint/2010/main" val="1260189470"/>
              </p:ext>
            </p:extLst>
          </p:nvPr>
        </p:nvGraphicFramePr>
        <p:xfrm>
          <a:off x="2032000" y="719667"/>
          <a:ext cx="6300689" cy="380026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8" name="Rectangle 7">
            <a:extLst>
              <a:ext uri="{FF2B5EF4-FFF2-40B4-BE49-F238E27FC236}">
                <a16:creationId xmlns:a16="http://schemas.microsoft.com/office/drawing/2014/main" id="{660A4772-0E89-43E5-9854-DF25AE101D88}"/>
              </a:ext>
            </a:extLst>
          </p:cNvPr>
          <p:cNvSpPr/>
          <p:nvPr/>
        </p:nvSpPr>
        <p:spPr>
          <a:xfrm>
            <a:off x="506511" y="3526920"/>
            <a:ext cx="9718729" cy="426801"/>
          </a:xfrm>
          <a:prstGeom prst="rect">
            <a:avLst/>
          </a:prstGeom>
        </p:spPr>
        <p:style>
          <a:lnRef idx="1">
            <a:schemeClr val="accent1">
              <a:shade val="50000"/>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Multi-Branded WBS based on Net Sales/Volumes to be settled:</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Arrow: Right 8">
            <a:extLst>
              <a:ext uri="{FF2B5EF4-FFF2-40B4-BE49-F238E27FC236}">
                <a16:creationId xmlns:a16="http://schemas.microsoft.com/office/drawing/2014/main" id="{233B7826-1A4D-4861-9C38-70590DF5D75D}"/>
              </a:ext>
            </a:extLst>
          </p:cNvPr>
          <p:cNvSpPr/>
          <p:nvPr/>
        </p:nvSpPr>
        <p:spPr>
          <a:xfrm>
            <a:off x="1793984" y="2995357"/>
            <a:ext cx="6776720" cy="523005"/>
          </a:xfrm>
          <a:prstGeom prst="rightArrow">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GB"/>
              <a:t>After journals have been posted</a:t>
            </a:r>
            <a:endParaRPr lang="en-US"/>
          </a:p>
        </p:txBody>
      </p:sp>
    </p:spTree>
    <p:extLst>
      <p:ext uri="{BB962C8B-B14F-4D97-AF65-F5344CB8AC3E}">
        <p14:creationId xmlns:p14="http://schemas.microsoft.com/office/powerpoint/2010/main" val="282629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FC2D-6181-4335-9251-CD59A2B3CECA}"/>
              </a:ext>
            </a:extLst>
          </p:cNvPr>
          <p:cNvSpPr>
            <a:spLocks noGrp="1"/>
          </p:cNvSpPr>
          <p:nvPr>
            <p:ph type="title"/>
          </p:nvPr>
        </p:nvSpPr>
        <p:spPr/>
        <p:txBody>
          <a:bodyPr/>
          <a:lstStyle/>
          <a:p>
            <a:r>
              <a:rPr lang="en-GB" dirty="0"/>
              <a:t>Automatic Sales data for </a:t>
            </a:r>
            <a:r>
              <a:rPr lang="en-GB"/>
              <a:t>Multi-brand allocation</a:t>
            </a:r>
            <a:r>
              <a:rPr lang="en-GB" dirty="0"/>
              <a:t>: Exceptions</a:t>
            </a:r>
            <a:endParaRPr lang="en-US" dirty="0"/>
          </a:p>
        </p:txBody>
      </p:sp>
      <p:sp>
        <p:nvSpPr>
          <p:cNvPr id="5" name="Slide Number Placeholder 4">
            <a:extLst>
              <a:ext uri="{FF2B5EF4-FFF2-40B4-BE49-F238E27FC236}">
                <a16:creationId xmlns:a16="http://schemas.microsoft.com/office/drawing/2014/main" id="{98506D85-B9F3-406B-A234-7CEE4A9A6FCD}"/>
              </a:ext>
            </a:extLst>
          </p:cNvPr>
          <p:cNvSpPr>
            <a:spLocks noGrp="1"/>
          </p:cNvSpPr>
          <p:nvPr>
            <p:ph type="sldNum" sz="quarter" idx="12"/>
          </p:nvPr>
        </p:nvSpPr>
        <p:spPr/>
        <p:txBody>
          <a:bodyPr/>
          <a:lstStyle/>
          <a:p>
            <a:fld id="{F4C94289-3309-4C35-850A-56FD49B3E346}" type="slidenum">
              <a:rPr lang="en-GB" smtClean="0"/>
              <a:t>26</a:t>
            </a:fld>
            <a:endParaRPr lang="en-GB"/>
          </a:p>
        </p:txBody>
      </p:sp>
      <p:graphicFrame>
        <p:nvGraphicFramePr>
          <p:cNvPr id="8" name="Table 7">
            <a:extLst>
              <a:ext uri="{FF2B5EF4-FFF2-40B4-BE49-F238E27FC236}">
                <a16:creationId xmlns:a16="http://schemas.microsoft.com/office/drawing/2014/main" id="{9D8F80A0-72D7-40AC-AD1A-B8B6EABC86FB}"/>
              </a:ext>
            </a:extLst>
          </p:cNvPr>
          <p:cNvGraphicFramePr>
            <a:graphicFrameLocks noGrp="1"/>
          </p:cNvGraphicFramePr>
          <p:nvPr>
            <p:extLst>
              <p:ext uri="{D42A27DB-BD31-4B8C-83A1-F6EECF244321}">
                <p14:modId xmlns:p14="http://schemas.microsoft.com/office/powerpoint/2010/main" val="1857062444"/>
              </p:ext>
            </p:extLst>
          </p:nvPr>
        </p:nvGraphicFramePr>
        <p:xfrm>
          <a:off x="642038" y="1482054"/>
          <a:ext cx="8784037" cy="4676775"/>
        </p:xfrm>
        <a:graphic>
          <a:graphicData uri="http://schemas.openxmlformats.org/drawingml/2006/table">
            <a:tbl>
              <a:tblPr firstRow="1" firstCol="1" bandRow="1">
                <a:tableStyleId>{5C22544A-7EE6-4342-B048-85BDC9FD1C3A}</a:tableStyleId>
              </a:tblPr>
              <a:tblGrid>
                <a:gridCol w="1468837">
                  <a:extLst>
                    <a:ext uri="{9D8B030D-6E8A-4147-A177-3AD203B41FA5}">
                      <a16:colId xmlns:a16="http://schemas.microsoft.com/office/drawing/2014/main" val="3797312058"/>
                    </a:ext>
                  </a:extLst>
                </a:gridCol>
                <a:gridCol w="3657600">
                  <a:extLst>
                    <a:ext uri="{9D8B030D-6E8A-4147-A177-3AD203B41FA5}">
                      <a16:colId xmlns:a16="http://schemas.microsoft.com/office/drawing/2014/main" val="1180223735"/>
                    </a:ext>
                  </a:extLst>
                </a:gridCol>
                <a:gridCol w="3657600">
                  <a:extLst>
                    <a:ext uri="{9D8B030D-6E8A-4147-A177-3AD203B41FA5}">
                      <a16:colId xmlns:a16="http://schemas.microsoft.com/office/drawing/2014/main" val="3954643174"/>
                    </a:ext>
                  </a:extLst>
                </a:gridCol>
              </a:tblGrid>
              <a:tr h="184150">
                <a:tc>
                  <a:txBody>
                    <a:bodyPr/>
                    <a:lstStyle/>
                    <a:p>
                      <a:pPr>
                        <a:lnSpc>
                          <a:spcPct val="107000"/>
                        </a:lnSpc>
                        <a:spcAft>
                          <a:spcPts val="0"/>
                        </a:spcAft>
                      </a:pPr>
                      <a:r>
                        <a:rPr lang="ru-RU" sz="1400">
                          <a:effectLst/>
                        </a:rPr>
                        <a:t>PC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a:effectLst/>
                        </a:rPr>
                        <a:t>Do not have Sales every month*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 Sales Booked at Month end*</a:t>
                      </a:r>
                      <a:endParaRPr lang="en-US" sz="14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8209231"/>
                  </a:ext>
                </a:extLst>
              </a:tr>
              <a:tr h="184150">
                <a:tc>
                  <a:txBody>
                    <a:bodyPr/>
                    <a:lstStyle/>
                    <a:p>
                      <a:pPr>
                        <a:lnSpc>
                          <a:spcPct val="107000"/>
                        </a:lnSpc>
                        <a:spcAft>
                          <a:spcPts val="0"/>
                        </a:spcAft>
                      </a:pPr>
                      <a:r>
                        <a:rPr lang="ru-RU" sz="1400">
                          <a:effectLst/>
                        </a:rPr>
                        <a:t>AFD0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1045708"/>
                  </a:ext>
                </a:extLst>
              </a:tr>
              <a:tr h="184150">
                <a:tc>
                  <a:txBody>
                    <a:bodyPr/>
                    <a:lstStyle/>
                    <a:p>
                      <a:pPr>
                        <a:lnSpc>
                          <a:spcPct val="107000"/>
                        </a:lnSpc>
                        <a:spcAft>
                          <a:spcPts val="0"/>
                        </a:spcAft>
                      </a:pPr>
                      <a:r>
                        <a:rPr lang="en-US" sz="1400">
                          <a:effectLst/>
                        </a:rPr>
                        <a:t>AO00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2556863"/>
                  </a:ext>
                </a:extLst>
              </a:tr>
              <a:tr h="184150">
                <a:tc>
                  <a:txBody>
                    <a:bodyPr/>
                    <a:lstStyle/>
                    <a:p>
                      <a:pPr>
                        <a:lnSpc>
                          <a:spcPct val="107000"/>
                        </a:lnSpc>
                        <a:spcAft>
                          <a:spcPts val="0"/>
                        </a:spcAft>
                      </a:pPr>
                      <a:r>
                        <a:rPr lang="ru-RU" sz="1400">
                          <a:effectLst/>
                        </a:rPr>
                        <a:t>BHD0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807838"/>
                  </a:ext>
                </a:extLst>
              </a:tr>
              <a:tr h="184150">
                <a:tc>
                  <a:txBody>
                    <a:bodyPr/>
                    <a:lstStyle/>
                    <a:p>
                      <a:pPr>
                        <a:lnSpc>
                          <a:spcPct val="107000"/>
                        </a:lnSpc>
                        <a:spcAft>
                          <a:spcPts val="0"/>
                        </a:spcAft>
                      </a:pPr>
                      <a:r>
                        <a:rPr lang="ru-RU" sz="1400">
                          <a:effectLst/>
                        </a:rPr>
                        <a:t>D013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3261192"/>
                  </a:ext>
                </a:extLst>
              </a:tr>
              <a:tr h="184150">
                <a:tc>
                  <a:txBody>
                    <a:bodyPr/>
                    <a:lstStyle/>
                    <a:p>
                      <a:pPr>
                        <a:lnSpc>
                          <a:spcPct val="107000"/>
                        </a:lnSpc>
                        <a:spcAft>
                          <a:spcPts val="0"/>
                        </a:spcAft>
                      </a:pPr>
                      <a:r>
                        <a:rPr lang="ru-RU" sz="1400">
                          <a:effectLst/>
                        </a:rPr>
                        <a:t>D021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7288785"/>
                  </a:ext>
                </a:extLst>
              </a:tr>
              <a:tr h="184150">
                <a:tc>
                  <a:txBody>
                    <a:bodyPr/>
                    <a:lstStyle/>
                    <a:p>
                      <a:pPr>
                        <a:lnSpc>
                          <a:spcPct val="107000"/>
                        </a:lnSpc>
                        <a:spcAft>
                          <a:spcPts val="0"/>
                        </a:spcAft>
                      </a:pPr>
                      <a:r>
                        <a:rPr lang="ru-RU" sz="1400">
                          <a:effectLst/>
                        </a:rPr>
                        <a:t>E005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9242534"/>
                  </a:ext>
                </a:extLst>
              </a:tr>
              <a:tr h="184150">
                <a:tc>
                  <a:txBody>
                    <a:bodyPr/>
                    <a:lstStyle/>
                    <a:p>
                      <a:pPr>
                        <a:lnSpc>
                          <a:spcPct val="107000"/>
                        </a:lnSpc>
                        <a:spcAft>
                          <a:spcPts val="0"/>
                        </a:spcAft>
                      </a:pPr>
                      <a:r>
                        <a:rPr lang="ru-RU" sz="1400">
                          <a:effectLst/>
                        </a:rPr>
                        <a:t>EGD0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3105766"/>
                  </a:ext>
                </a:extLst>
              </a:tr>
              <a:tr h="184150">
                <a:tc>
                  <a:txBody>
                    <a:bodyPr/>
                    <a:lstStyle/>
                    <a:p>
                      <a:pPr>
                        <a:lnSpc>
                          <a:spcPct val="107000"/>
                        </a:lnSpc>
                        <a:spcAft>
                          <a:spcPts val="0"/>
                        </a:spcAft>
                      </a:pPr>
                      <a:r>
                        <a:rPr lang="en-US" sz="1400">
                          <a:effectLst/>
                        </a:rPr>
                        <a:t>GT00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5242325"/>
                  </a:ext>
                </a:extLst>
              </a:tr>
              <a:tr h="184150">
                <a:tc>
                  <a:txBody>
                    <a:bodyPr/>
                    <a:lstStyle/>
                    <a:p>
                      <a:pPr>
                        <a:lnSpc>
                          <a:spcPct val="107000"/>
                        </a:lnSpc>
                        <a:spcAft>
                          <a:spcPts val="0"/>
                        </a:spcAft>
                      </a:pPr>
                      <a:r>
                        <a:rPr lang="ru-RU" sz="1400">
                          <a:effectLst/>
                        </a:rPr>
                        <a:t>JOD0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03217616"/>
                  </a:ext>
                </a:extLst>
              </a:tr>
              <a:tr h="184150">
                <a:tc>
                  <a:txBody>
                    <a:bodyPr/>
                    <a:lstStyle/>
                    <a:p>
                      <a:pPr>
                        <a:lnSpc>
                          <a:spcPct val="107000"/>
                        </a:lnSpc>
                        <a:spcAft>
                          <a:spcPts val="0"/>
                        </a:spcAft>
                      </a:pPr>
                      <a:r>
                        <a:rPr lang="ru-RU" sz="1400">
                          <a:effectLst/>
                        </a:rPr>
                        <a:t>KRD0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5857530"/>
                  </a:ext>
                </a:extLst>
              </a:tr>
              <a:tr h="184150">
                <a:tc>
                  <a:txBody>
                    <a:bodyPr/>
                    <a:lstStyle/>
                    <a:p>
                      <a:pPr>
                        <a:lnSpc>
                          <a:spcPct val="107000"/>
                        </a:lnSpc>
                        <a:spcAft>
                          <a:spcPts val="0"/>
                        </a:spcAft>
                      </a:pPr>
                      <a:r>
                        <a:rPr lang="ru-RU" sz="1400">
                          <a:effectLst/>
                        </a:rPr>
                        <a:t>OMD0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978718"/>
                  </a:ext>
                </a:extLst>
              </a:tr>
              <a:tr h="184150">
                <a:tc>
                  <a:txBody>
                    <a:bodyPr/>
                    <a:lstStyle/>
                    <a:p>
                      <a:pPr>
                        <a:lnSpc>
                          <a:spcPct val="107000"/>
                        </a:lnSpc>
                        <a:spcAft>
                          <a:spcPts val="0"/>
                        </a:spcAft>
                      </a:pPr>
                      <a:r>
                        <a:rPr lang="ru-RU" sz="1400">
                          <a:effectLst/>
                        </a:rPr>
                        <a:t>MYD0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8083537"/>
                  </a:ext>
                </a:extLst>
              </a:tr>
              <a:tr h="184150">
                <a:tc>
                  <a:txBody>
                    <a:bodyPr/>
                    <a:lstStyle/>
                    <a:p>
                      <a:pPr>
                        <a:lnSpc>
                          <a:spcPct val="107000"/>
                        </a:lnSpc>
                        <a:spcAft>
                          <a:spcPts val="0"/>
                        </a:spcAft>
                      </a:pPr>
                      <a:r>
                        <a:rPr lang="ru-RU" sz="1400">
                          <a:effectLst/>
                        </a:rPr>
                        <a:t>NI00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549943"/>
                  </a:ext>
                </a:extLst>
              </a:tr>
              <a:tr h="184150">
                <a:tc>
                  <a:txBody>
                    <a:bodyPr/>
                    <a:lstStyle/>
                    <a:p>
                      <a:pPr>
                        <a:lnSpc>
                          <a:spcPct val="107000"/>
                        </a:lnSpc>
                        <a:spcAft>
                          <a:spcPts val="0"/>
                        </a:spcAft>
                      </a:pPr>
                      <a:r>
                        <a:rPr lang="ru-RU" sz="1400">
                          <a:effectLst/>
                        </a:rPr>
                        <a:t>PHD0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8142364"/>
                  </a:ext>
                </a:extLst>
              </a:tr>
              <a:tr h="184150">
                <a:tc>
                  <a:txBody>
                    <a:bodyPr/>
                    <a:lstStyle/>
                    <a:p>
                      <a:pPr>
                        <a:lnSpc>
                          <a:spcPct val="107000"/>
                        </a:lnSpc>
                        <a:spcAft>
                          <a:spcPts val="0"/>
                        </a:spcAft>
                      </a:pPr>
                      <a:r>
                        <a:rPr lang="ru-RU" sz="1400">
                          <a:effectLst/>
                        </a:rPr>
                        <a:t>TF00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6139337"/>
                  </a:ext>
                </a:extLst>
              </a:tr>
              <a:tr h="184150">
                <a:tc>
                  <a:txBody>
                    <a:bodyPr/>
                    <a:lstStyle/>
                    <a:p>
                      <a:pPr>
                        <a:lnSpc>
                          <a:spcPct val="107000"/>
                        </a:lnSpc>
                        <a:spcAft>
                          <a:spcPts val="0"/>
                        </a:spcAft>
                      </a:pPr>
                      <a:r>
                        <a:rPr lang="ru-RU" sz="1400">
                          <a:effectLst/>
                        </a:rPr>
                        <a:t>TND0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3549753"/>
                  </a:ext>
                </a:extLst>
              </a:tr>
              <a:tr h="184150">
                <a:tc>
                  <a:txBody>
                    <a:bodyPr/>
                    <a:lstStyle/>
                    <a:p>
                      <a:pPr>
                        <a:lnSpc>
                          <a:spcPct val="107000"/>
                        </a:lnSpc>
                        <a:spcAft>
                          <a:spcPts val="0"/>
                        </a:spcAft>
                      </a:pPr>
                      <a:r>
                        <a:rPr lang="ru-RU" sz="1400">
                          <a:effectLst/>
                        </a:rPr>
                        <a:t>BY00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a:solidFill>
                            <a:schemeClr val="accent3">
                              <a:lumMod val="75000"/>
                            </a:schemeClr>
                          </a:solidFill>
                          <a:effectLst/>
                          <a:sym typeface="Wingdings" panose="05000000000000000000" pitchFamily="2" charset="2"/>
                        </a:rPr>
                        <a:t></a:t>
                      </a:r>
                      <a:endParaRPr lang="en-US" sz="1400" b="1">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3167846"/>
                  </a:ext>
                </a:extLst>
              </a:tr>
              <a:tr h="184150">
                <a:tc>
                  <a:txBody>
                    <a:bodyPr/>
                    <a:lstStyle/>
                    <a:p>
                      <a:pPr>
                        <a:lnSpc>
                          <a:spcPct val="107000"/>
                        </a:lnSpc>
                        <a:spcAft>
                          <a:spcPts val="0"/>
                        </a:spcAft>
                      </a:pPr>
                      <a:r>
                        <a:rPr lang="ru-RU" sz="1400">
                          <a:effectLst/>
                        </a:rPr>
                        <a:t>UZ00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b="1" dirty="0">
                          <a:solidFill>
                            <a:schemeClr val="accent3">
                              <a:lumMod val="75000"/>
                            </a:schemeClr>
                          </a:solidFill>
                          <a:effectLst/>
                          <a:sym typeface="Wingdings" panose="05000000000000000000" pitchFamily="2" charset="2"/>
                        </a:rPr>
                        <a:t></a:t>
                      </a:r>
                      <a:endParaRPr lang="en-US" sz="1400" b="1" dirty="0">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7461391"/>
                  </a:ext>
                </a:extLst>
              </a:tr>
            </a:tbl>
          </a:graphicData>
        </a:graphic>
      </p:graphicFrame>
      <p:sp>
        <p:nvSpPr>
          <p:cNvPr id="3" name="TextBox 2">
            <a:extLst>
              <a:ext uri="{FF2B5EF4-FFF2-40B4-BE49-F238E27FC236}">
                <a16:creationId xmlns:a16="http://schemas.microsoft.com/office/drawing/2014/main" id="{64D2EE5A-1F9F-4B9A-A0C5-72990092D232}"/>
              </a:ext>
            </a:extLst>
          </p:cNvPr>
          <p:cNvSpPr txBox="1"/>
          <p:nvPr/>
        </p:nvSpPr>
        <p:spPr>
          <a:xfrm>
            <a:off x="9471771" y="5596932"/>
            <a:ext cx="2105203" cy="805185"/>
          </a:xfrm>
          <a:prstGeom prst="rect">
            <a:avLst/>
          </a:prstGeom>
          <a:noFill/>
        </p:spPr>
        <p:txBody>
          <a:bodyPr wrap="square" lIns="0" tIns="0" rIns="0" bIns="0" rtlCol="0" anchor="t">
            <a:noAutofit/>
          </a:bodyPr>
          <a:lstStyle/>
          <a:p>
            <a:r>
              <a:rPr lang="en-US" sz="1600"/>
              <a:t>*Costs will not be allocated until sales are posted</a:t>
            </a:r>
          </a:p>
        </p:txBody>
      </p:sp>
      <p:sp>
        <p:nvSpPr>
          <p:cNvPr id="4" name="TextBox 3">
            <a:extLst>
              <a:ext uri="{FF2B5EF4-FFF2-40B4-BE49-F238E27FC236}">
                <a16:creationId xmlns:a16="http://schemas.microsoft.com/office/drawing/2014/main" id="{B406867D-D384-4B35-8D99-CF877AED2C8C}"/>
              </a:ext>
            </a:extLst>
          </p:cNvPr>
          <p:cNvSpPr txBox="1"/>
          <p:nvPr/>
        </p:nvSpPr>
        <p:spPr>
          <a:xfrm>
            <a:off x="2097206" y="6339384"/>
            <a:ext cx="2197290"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a:cs typeface="Arial"/>
              </a:rPr>
              <a:t>Please note: This list may not be exhaustive</a:t>
            </a:r>
          </a:p>
        </p:txBody>
      </p:sp>
    </p:spTree>
    <p:extLst>
      <p:ext uri="{BB962C8B-B14F-4D97-AF65-F5344CB8AC3E}">
        <p14:creationId xmlns:p14="http://schemas.microsoft.com/office/powerpoint/2010/main" val="2123304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ZFFIR_POST_ALLOC_PS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 Check expected results of allocations</a:t>
            </a: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782138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9053C3-5469-49EF-81E3-DAE349A333D0}">
  <ds:schemaRefs>
    <ds:schemaRef ds:uri="http://schemas.microsoft.com/sharepoint/v3/contenttype/forms"/>
  </ds:schemaRefs>
</ds:datastoreItem>
</file>

<file path=customXml/itemProps2.xml><?xml version="1.0" encoding="utf-8"?>
<ds:datastoreItem xmlns:ds="http://schemas.openxmlformats.org/officeDocument/2006/customXml" ds:itemID="{DE524636-6FD6-491F-989E-F743BB66FF7A}">
  <ds:schemaRefs>
    <ds:schemaRef ds:uri="da913ec1-a210-4093-97d6-83558d020e4c"/>
    <ds:schemaRef ds:uri="http://purl.org/dc/elements/1.1/"/>
    <ds:schemaRef ds:uri="http://schemas.microsoft.com/office/infopath/2007/PartnerControls"/>
    <ds:schemaRef ds:uri="http://purl.org/dc/terms/"/>
    <ds:schemaRef ds:uri="http://schemas.openxmlformats.org/package/2006/metadata/core-properties"/>
    <ds:schemaRef ds:uri="033d2065-0f41-4cc7-b07b-20f12998cf87"/>
    <ds:schemaRef ds:uri="http://schemas.microsoft.com/office/2006/documentManagement/typ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3888B2E8-F1E6-422F-8079-92BF3627EE33}"/>
</file>

<file path=docProps/app.xml><?xml version="1.0" encoding="utf-8"?>
<Properties xmlns="http://schemas.openxmlformats.org/officeDocument/2006/extended-properties" xmlns:vt="http://schemas.openxmlformats.org/officeDocument/2006/docPropsVTypes">
  <TotalTime>17237</TotalTime>
  <Words>4243</Words>
  <Application>Microsoft Office PowerPoint</Application>
  <PresentationFormat>Widescreen</PresentationFormat>
  <Paragraphs>795</Paragraphs>
  <Slides>27</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3" baseType="lpstr">
      <vt:lpstr>Arial</vt:lpstr>
      <vt:lpstr>Calibri</vt:lpstr>
      <vt:lpstr>Courier New</vt:lpstr>
      <vt:lpstr>Wingdings</vt:lpstr>
      <vt:lpstr>S4F-ERP G&amp;A &amp; Marketing Cost Management</vt:lpstr>
      <vt:lpstr>think-cell Slide</vt:lpstr>
      <vt:lpstr>Course Structure</vt:lpstr>
      <vt:lpstr>Practical Usage of WBS in S/4HANA</vt:lpstr>
      <vt:lpstr>Purchase Orders</vt:lpstr>
      <vt:lpstr>Manual Postings to Profitability Analysis with WBS Elements – Statistical Allocation</vt:lpstr>
      <vt:lpstr>Attributed Profitability</vt:lpstr>
      <vt:lpstr>FG Write off with WBS Elements</vt:lpstr>
      <vt:lpstr>Course Structure</vt:lpstr>
      <vt:lpstr>WBS Settlement to CO-PA</vt:lpstr>
      <vt:lpstr>WBS Settlement Expected Results</vt:lpstr>
      <vt:lpstr>WBS Settlement Actual Results Example</vt:lpstr>
      <vt:lpstr>Course Structure</vt:lpstr>
      <vt:lpstr>Multi-brand WBS Settlement</vt:lpstr>
      <vt:lpstr>Allocation Keys – Examples </vt:lpstr>
      <vt:lpstr>Allocation Keys – Custom ZZZ</vt:lpstr>
      <vt:lpstr>Results of Multi-brand WBS settlement</vt:lpstr>
      <vt:lpstr>Multi-brand WBS settlement with defined settlement rule</vt:lpstr>
      <vt:lpstr>WBS allocation keys and posting rules</vt:lpstr>
      <vt:lpstr>WBS Allocation Keys: HUB Requirement Update (with exception of WBS elements with allocation type ZZZ)</vt:lpstr>
      <vt:lpstr>WBS allocation keys and posting rules</vt:lpstr>
      <vt:lpstr>WBS allocation keys and posting rules</vt:lpstr>
      <vt:lpstr>Multi-brand WBS allocations – types of postings</vt:lpstr>
      <vt:lpstr>Multi-brand WBS allocations – types of postings</vt:lpstr>
      <vt:lpstr>Display the calculation for automated WBS allocation to CO-PA – ZFFIR_POST_ALLOC_PS</vt:lpstr>
      <vt:lpstr>Display the calculation for automated WBS allocation to CO-PA – ZFFIR_POST_ALLOC_PS</vt:lpstr>
      <vt:lpstr>Month end closing schedule: Settlements</vt:lpstr>
      <vt:lpstr>Automatic Sales data for Multi-brand allocation: Exceptions</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McVey, Suzanne</cp:lastModifiedBy>
  <cp:revision>2</cp:revision>
  <dcterms:created xsi:type="dcterms:W3CDTF">2019-10-10T12:24:37Z</dcterms:created>
  <dcterms:modified xsi:type="dcterms:W3CDTF">2020-08-18T05:16:39Z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1279800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