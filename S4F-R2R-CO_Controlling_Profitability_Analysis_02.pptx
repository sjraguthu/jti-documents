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3"/>
  </p:notesMasterIdLst>
  <p:sldIdLst>
    <p:sldId id="3055" r:id="rId5"/>
    <p:sldId id="2298" r:id="rId6"/>
    <p:sldId id="2299" r:id="rId7"/>
    <p:sldId id="2300" r:id="rId8"/>
    <p:sldId id="2301" r:id="rId9"/>
    <p:sldId id="3060" r:id="rId10"/>
    <p:sldId id="2350" r:id="rId11"/>
    <p:sldId id="24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0" d="100"/>
          <a:sy n="110" d="100"/>
        </p:scale>
        <p:origin x="63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bis, Laurent" userId="S::gvakobisl@corp.jti.com::94ff78ae-c02b-4787-8ff1-25cfe61d3d64" providerId="AD" clId="Web-{4461C422-7532-4CA9-B0FA-9D5CFE9FE1F8}"/>
    <pc:docChg chg="modSld">
      <pc:chgData name="Kobis, Laurent" userId="S::gvakobisl@corp.jti.com::94ff78ae-c02b-4787-8ff1-25cfe61d3d64" providerId="AD" clId="Web-{4461C422-7532-4CA9-B0FA-9D5CFE9FE1F8}" dt="2020-06-09T12:32:40.632" v="0" actId="14100"/>
      <pc:docMkLst>
        <pc:docMk/>
      </pc:docMkLst>
      <pc:sldChg chg="modSp">
        <pc:chgData name="Kobis, Laurent" userId="S::gvakobisl@corp.jti.com::94ff78ae-c02b-4787-8ff1-25cfe61d3d64" providerId="AD" clId="Web-{4461C422-7532-4CA9-B0FA-9D5CFE9FE1F8}" dt="2020-06-09T12:32:40.632" v="0" actId="14100"/>
        <pc:sldMkLst>
          <pc:docMk/>
          <pc:sldMk cId="2397031228" sldId="2301"/>
        </pc:sldMkLst>
        <pc:picChg chg="mod">
          <ac:chgData name="Kobis, Laurent" userId="S::gvakobisl@corp.jti.com::94ff78ae-c02b-4787-8ff1-25cfe61d3d64" providerId="AD" clId="Web-{4461C422-7532-4CA9-B0FA-9D5CFE9FE1F8}" dt="2020-06-09T12:32:40.632" v="0" actId="14100"/>
          <ac:picMkLst>
            <pc:docMk/>
            <pc:sldMk cId="2397031228" sldId="2301"/>
            <ac:picMk id="3" creationId="{19DDA5D4-3797-48F5-BE08-4407B1FE616E}"/>
          </ac:picMkLst>
        </pc:picChg>
      </pc:sldChg>
    </pc:docChg>
  </pc:docChgLst>
  <pc:docChgLst>
    <pc:chgData name="Harvey-Ascroft, Mike" userId="S::manharvem@corp.jti.com::4d8eba1c-0aef-42c6-8f5f-fb79cd2a516a" providerId="AD" clId="Web-{948202E4-B150-357D-65D1-FD12F4A8E14F}"/>
    <pc:docChg chg="addSld delSld">
      <pc:chgData name="Harvey-Ascroft, Mike" userId="S::manharvem@corp.jti.com::4d8eba1c-0aef-42c6-8f5f-fb79cd2a516a" providerId="AD" clId="Web-{948202E4-B150-357D-65D1-FD12F4A8E14F}" dt="2019-11-06T15:13:18.422" v="1"/>
      <pc:docMkLst>
        <pc:docMk/>
      </pc:docMkLst>
      <pc:sldChg chg="add del">
        <pc:chgData name="Harvey-Ascroft, Mike" userId="S::manharvem@corp.jti.com::4d8eba1c-0aef-42c6-8f5f-fb79cd2a516a" providerId="AD" clId="Web-{948202E4-B150-357D-65D1-FD12F4A8E14F}" dt="2019-11-06T15:13:18.422" v="1"/>
        <pc:sldMkLst>
          <pc:docMk/>
          <pc:sldMk cId="3295882923" sldId="230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EE8FF0-BD9E-41C5-9EFE-DB0637CB7573}" type="datetimeFigureOut">
              <a:rPr lang="en-US" smtClean="0"/>
              <a:t>10/11/2021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ACE617-C24A-4BEC-8177-5C75CBDA7FCD}" type="slidenum">
              <a:rPr lang="en-US" smtClean="0"/>
              <a:t>‹#›</a:t>
            </a:fld>
            <a:endParaRPr lang="en-US"/>
          </a:p>
        </p:txBody>
      </p:sp>
    </p:spTree>
    <p:extLst>
      <p:ext uri="{BB962C8B-B14F-4D97-AF65-F5344CB8AC3E}">
        <p14:creationId xmlns:p14="http://schemas.microsoft.com/office/powerpoint/2010/main" val="488261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49356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0.emf"/><Relationship Id="rId4" Type="http://schemas.openxmlformats.org/officeDocument/2006/relationships/oleObject" Target="../embeddings/oleObject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3114"/>
          </a:xfrm>
          <a:prstGeom prst="rect">
            <a:avLst/>
          </a:prstGeom>
        </p:spPr>
      </p:pic>
      <p:sp>
        <p:nvSpPr>
          <p:cNvPr id="6" name="Rectangle 5"/>
          <p:cNvSpPr/>
          <p:nvPr userDrawn="1"/>
        </p:nvSpPr>
        <p:spPr>
          <a:xfrm>
            <a:off x="0" y="4199439"/>
            <a:ext cx="12192000" cy="1440000"/>
          </a:xfrm>
          <a:prstGeom prst="rect">
            <a:avLst/>
          </a:prstGeom>
          <a:solidFill>
            <a:schemeClr val="accent2">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50359" y="4381467"/>
            <a:ext cx="1118616" cy="1075944"/>
          </a:xfrm>
          <a:prstGeom prst="rect">
            <a:avLst/>
          </a:prstGeom>
        </p:spPr>
      </p:pic>
    </p:spTree>
    <p:extLst>
      <p:ext uri="{BB962C8B-B14F-4D97-AF65-F5344CB8AC3E}">
        <p14:creationId xmlns:p14="http://schemas.microsoft.com/office/powerpoint/2010/main" val="2376286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4805" y="553120"/>
              <a:ext cx="448056" cy="429768"/>
            </a:xfrm>
            <a:prstGeom prst="rect">
              <a:avLst/>
            </a:prstGeom>
          </p:spPr>
        </p:pic>
      </p:grpSp>
    </p:spTree>
    <p:extLst>
      <p:ext uri="{BB962C8B-B14F-4D97-AF65-F5344CB8AC3E}">
        <p14:creationId xmlns:p14="http://schemas.microsoft.com/office/powerpoint/2010/main" val="2587124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4805" y="553120"/>
              <a:ext cx="448056" cy="429768"/>
            </a:xfrm>
            <a:prstGeom prst="rect">
              <a:avLst/>
            </a:prstGeom>
          </p:spPr>
        </p:pic>
      </p:grpSp>
    </p:spTree>
    <p:extLst>
      <p:ext uri="{BB962C8B-B14F-4D97-AF65-F5344CB8AC3E}">
        <p14:creationId xmlns:p14="http://schemas.microsoft.com/office/powerpoint/2010/main" val="507933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4805" y="553120"/>
              <a:ext cx="448056" cy="429768"/>
            </a:xfrm>
            <a:prstGeom prst="rect">
              <a:avLst/>
            </a:prstGeom>
          </p:spPr>
        </p:pic>
      </p:grpSp>
    </p:spTree>
    <p:extLst>
      <p:ext uri="{BB962C8B-B14F-4D97-AF65-F5344CB8AC3E}">
        <p14:creationId xmlns:p14="http://schemas.microsoft.com/office/powerpoint/2010/main" val="289848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Divider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114987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Divider 0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585781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Spectrum Title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extLst>
      <p:ext uri="{BB962C8B-B14F-4D97-AF65-F5344CB8AC3E}">
        <p14:creationId xmlns:p14="http://schemas.microsoft.com/office/powerpoint/2010/main" val="1097660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 </a:t>
            </a:r>
            <a:r>
              <a:rPr kumimoji="0" lang="en-GB" sz="800" b="0" i="0" u="none" strike="noStrike" kern="1200" cap="none" spc="0" normalizeH="0" baseline="0" noProof="0" err="1">
                <a:ln>
                  <a:noFill/>
                </a:ln>
                <a:solidFill>
                  <a:srgbClr val="FFFFFF"/>
                </a:solidFill>
                <a:effectLst/>
                <a:uLnTx/>
                <a:uFillTx/>
                <a:latin typeface="Arial" panose="020B0604020202020204"/>
                <a:ea typeface="+mn-ea"/>
                <a:cs typeface="+mn-cs"/>
              </a:rPr>
              <a:t>JTI</a:t>
            </a: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a:ea typeface="Roboto" charset="0"/>
                <a:cs typeface="Roboto" charset="0"/>
              </a:rPr>
              <a:t>Simplify, Standardize, Accelerate </a:t>
            </a:r>
          </a:p>
        </p:txBody>
      </p:sp>
    </p:spTree>
    <p:extLst>
      <p:ext uri="{BB962C8B-B14F-4D97-AF65-F5344CB8AC3E}">
        <p14:creationId xmlns:p14="http://schemas.microsoft.com/office/powerpoint/2010/main" val="372858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5938" y="12539"/>
            <a:ext cx="10837863" cy="1325563"/>
          </a:xfrm>
        </p:spPr>
        <p:txBody>
          <a:bodyPr>
            <a:normAutofit/>
          </a:bodyPr>
          <a:lstStyle>
            <a:lvl1pPr>
              <a:defRPr sz="3199">
                <a:latin typeface="Arial" charset="0"/>
                <a:ea typeface="Arial" charset="0"/>
                <a:cs typeface="Arial" charset="0"/>
              </a:defRPr>
            </a:lvl1pPr>
          </a:lstStyle>
          <a:p>
            <a:r>
              <a:rPr lang="en-US"/>
              <a:t>Click to edit Master title style</a:t>
            </a:r>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2"/>
            <a:ext cx="10837863" cy="4067101"/>
          </a:xfrm>
        </p:spPr>
        <p:txBody>
          <a:bodyPr/>
          <a:lstStyle>
            <a:lvl3pPr marL="399930" indent="-195204">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Date Placeholder 14"/>
          <p:cNvSpPr>
            <a:spLocks noGrp="1"/>
          </p:cNvSpPr>
          <p:nvPr>
            <p:ph type="dt" sz="half" idx="10"/>
          </p:nvPr>
        </p:nvSpPr>
        <p:spPr/>
        <p:txBody>
          <a:bodyPr/>
          <a:lstStyle/>
          <a:p>
            <a:endParaRPr lang="en-GB"/>
          </a:p>
        </p:txBody>
      </p:sp>
      <p:sp>
        <p:nvSpPr>
          <p:cNvPr id="17" name="Footer Placeholder 16"/>
          <p:cNvSpPr>
            <a:spLocks noGrp="1"/>
          </p:cNvSpPr>
          <p:nvPr>
            <p:ph type="ftr" sz="quarter" idx="11"/>
          </p:nvPr>
        </p:nvSpPr>
        <p:spPr>
          <a:xfrm>
            <a:off x="7316057" y="6356352"/>
            <a:ext cx="4114800" cy="365125"/>
          </a:xfrm>
        </p:spPr>
        <p:txBody>
          <a:bodyPr/>
          <a:lstStyle>
            <a:lvl1pPr algn="r">
              <a:defRPr sz="800"/>
            </a:lvl1pPr>
          </a:lstStyle>
          <a:p>
            <a:pPr>
              <a:defRPr/>
            </a:pPr>
            <a:fld id="{737923CA-60CF-4E27-AE00-5869EACE0DFB}" type="slidenum">
              <a:rPr lang="en-US" smtClean="0"/>
              <a:pPr>
                <a:defRPr/>
              </a:pPr>
              <a:t>‹#›</a:t>
            </a:fld>
            <a:endParaRPr lang="en-US"/>
          </a:p>
        </p:txBody>
      </p:sp>
    </p:spTree>
    <p:extLst>
      <p:ext uri="{BB962C8B-B14F-4D97-AF65-F5344CB8AC3E}">
        <p14:creationId xmlns:p14="http://schemas.microsoft.com/office/powerpoint/2010/main" val="1571288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1BBF04DD-055F-4DF8-8046-823C8DE061D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 name="Object 2" hidden="1">
                        <a:extLst>
                          <a:ext uri="{FF2B5EF4-FFF2-40B4-BE49-F238E27FC236}">
                            <a16:creationId xmlns:a16="http://schemas.microsoft.com/office/drawing/2014/main" id="{1BBF04DD-055F-4DF8-8046-823C8DE061D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31270673-9415-401F-89B5-DB068CE9828E}"/>
              </a:ext>
            </a:extLst>
          </p:cNvPr>
          <p:cNvSpPr/>
          <p:nvPr userDrawn="1">
            <p:custDataLst>
              <p:tags r:id="rId2"/>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199" b="1" i="0" baseline="0">
              <a:latin typeface="Arial" panose="020B0604020202020204" pitchFamily="34" charset="0"/>
              <a:ea typeface="+mj-ea"/>
              <a:cs typeface="+mj-cs"/>
              <a:sym typeface="Arial" panose="020B0604020202020204" pitchFamily="34" charset="0"/>
            </a:endParaRPr>
          </a:p>
        </p:txBody>
      </p:sp>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4" name="Footer Placeholder 3"/>
          <p:cNvSpPr>
            <a:spLocks noGrp="1"/>
          </p:cNvSpPr>
          <p:nvPr>
            <p:ph type="ftr" sz="quarter" idx="11"/>
          </p:nvPr>
        </p:nvSpPr>
        <p:spPr/>
        <p:txBody>
          <a:bodyPr/>
          <a:lstStyle/>
          <a:p>
            <a:r>
              <a:rPr lang="en-US"/>
              <a:t>S4F-ERP FIT 2</a:t>
            </a:r>
          </a:p>
        </p:txBody>
      </p:sp>
      <p:sp>
        <p:nvSpPr>
          <p:cNvPr id="5" name="Slide Number Placeholder 4"/>
          <p:cNvSpPr>
            <a:spLocks noGrp="1"/>
          </p:cNvSpPr>
          <p:nvPr>
            <p:ph type="sldNum" sz="quarter" idx="12"/>
          </p:nvPr>
        </p:nvSpPr>
        <p:spPr>
          <a:xfrm>
            <a:off x="9144000" y="6465095"/>
            <a:ext cx="2743200" cy="365125"/>
          </a:xfrm>
        </p:spPr>
        <p:txBody>
          <a:bodyPr/>
          <a:lstStyle>
            <a:lvl1pPr>
              <a:defRPr sz="800"/>
            </a:lvl1pPr>
          </a:lstStyle>
          <a:p>
            <a:fld id="{1A6A2304-23DC-2B46-BD14-F082077842FF}" type="slidenum">
              <a:rPr lang="en-US" smtClean="0"/>
              <a:pPr/>
              <a:t>‹#›</a:t>
            </a:fld>
            <a:endParaRPr lang="en-US"/>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US" sz="800"/>
              <a:t>© JTI 2018 Confidential </a:t>
            </a:r>
          </a:p>
        </p:txBody>
      </p:sp>
    </p:spTree>
    <p:extLst>
      <p:ext uri="{BB962C8B-B14F-4D97-AF65-F5344CB8AC3E}">
        <p14:creationId xmlns:p14="http://schemas.microsoft.com/office/powerpoint/2010/main" val="2563783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7361518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hyperlink" Target="https://jticorp.sharepoint.com/:x:/r/sites/BPM/ERP/Change%20Management%20Team/06_Training/Global%20Training%20Kit/R2R-CO/S4F_R2R-CO_Controlling_Profitability_Analysis/PC_Finder.xlsx?d=wed64cfdcd3ca4443b705d7c26dab194a&amp;csf=1&amp;e=0vydof"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8.sv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256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33" name="Group 32">
            <a:extLst>
              <a:ext uri="{FF2B5EF4-FFF2-40B4-BE49-F238E27FC236}">
                <a16:creationId xmlns:a16="http://schemas.microsoft.com/office/drawing/2014/main" id="{C8338A77-1B31-4560-85F1-1B0A537B6460}"/>
              </a:ext>
            </a:extLst>
          </p:cNvPr>
          <p:cNvGrpSpPr/>
          <p:nvPr/>
        </p:nvGrpSpPr>
        <p:grpSpPr>
          <a:xfrm>
            <a:off x="174216" y="2521436"/>
            <a:ext cx="6278878" cy="2769372"/>
            <a:chOff x="4428422" y="2334368"/>
            <a:chExt cx="7806123" cy="3512903"/>
          </a:xfrm>
        </p:grpSpPr>
        <p:cxnSp>
          <p:nvCxnSpPr>
            <p:cNvPr id="54" name="Straight Connector 53">
              <a:extLst>
                <a:ext uri="{FF2B5EF4-FFF2-40B4-BE49-F238E27FC236}">
                  <a16:creationId xmlns:a16="http://schemas.microsoft.com/office/drawing/2014/main" id="{9EA03E96-6461-41F0-9798-470563646CFB}"/>
                </a:ext>
              </a:extLst>
            </p:cNvPr>
            <p:cNvCxnSpPr>
              <a:cxnSpLocks/>
            </p:cNvCxnSpPr>
            <p:nvPr/>
          </p:nvCxnSpPr>
          <p:spPr>
            <a:xfrm>
              <a:off x="6781086" y="3324312"/>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5EAF377-EAA8-40B2-A534-D02AD6E82103}"/>
                </a:ext>
              </a:extLst>
            </p:cNvPr>
            <p:cNvCxnSpPr>
              <a:cxnSpLocks/>
            </p:cNvCxnSpPr>
            <p:nvPr/>
          </p:nvCxnSpPr>
          <p:spPr>
            <a:xfrm>
              <a:off x="6795663" y="4793898"/>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41D4BAF2-056B-44D1-8166-93BFA094B433}"/>
                </a:ext>
              </a:extLst>
            </p:cNvPr>
            <p:cNvGrpSpPr/>
            <p:nvPr/>
          </p:nvGrpSpPr>
          <p:grpSpPr>
            <a:xfrm>
              <a:off x="4428422" y="2334368"/>
              <a:ext cx="7806123" cy="3512903"/>
              <a:chOff x="4428422" y="2334368"/>
              <a:chExt cx="7806123" cy="3512903"/>
            </a:xfrm>
          </p:grpSpPr>
          <p:grpSp>
            <p:nvGrpSpPr>
              <p:cNvPr id="57" name="Group 56">
                <a:extLst>
                  <a:ext uri="{FF2B5EF4-FFF2-40B4-BE49-F238E27FC236}">
                    <a16:creationId xmlns:a16="http://schemas.microsoft.com/office/drawing/2014/main" id="{EDD44819-3DB2-4ADB-A35E-31A798337098}"/>
                  </a:ext>
                </a:extLst>
              </p:cNvPr>
              <p:cNvGrpSpPr/>
              <p:nvPr/>
            </p:nvGrpSpPr>
            <p:grpSpPr>
              <a:xfrm>
                <a:off x="4428422" y="2334368"/>
                <a:ext cx="7796979" cy="3512903"/>
                <a:chOff x="4371016" y="2260587"/>
                <a:chExt cx="7796979" cy="3512903"/>
              </a:xfrm>
            </p:grpSpPr>
            <p:cxnSp>
              <p:nvCxnSpPr>
                <p:cNvPr id="62" name="Elbow Connector 37">
                  <a:extLst>
                    <a:ext uri="{FF2B5EF4-FFF2-40B4-BE49-F238E27FC236}">
                      <a16:creationId xmlns:a16="http://schemas.microsoft.com/office/drawing/2014/main" id="{C5E1527C-E338-44C3-AA19-8F9F035A3753}"/>
                    </a:ext>
                  </a:extLst>
                </p:cNvPr>
                <p:cNvCxnSpPr>
                  <a:cxnSpLocks/>
                </p:cNvCxnSpPr>
                <p:nvPr/>
              </p:nvCxnSpPr>
              <p:spPr>
                <a:xfrm>
                  <a:off x="6204970" y="3996147"/>
                  <a:ext cx="1096000" cy="14997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21489D11-4550-4FBB-A227-AF776870A433}"/>
                    </a:ext>
                  </a:extLst>
                </p:cNvPr>
                <p:cNvGrpSpPr/>
                <p:nvPr/>
              </p:nvGrpSpPr>
              <p:grpSpPr>
                <a:xfrm>
                  <a:off x="4371016" y="2260587"/>
                  <a:ext cx="7796979" cy="3512903"/>
                  <a:chOff x="4371016" y="2260587"/>
                  <a:chExt cx="7796979" cy="3512903"/>
                </a:xfrm>
              </p:grpSpPr>
              <p:cxnSp>
                <p:nvCxnSpPr>
                  <p:cNvPr id="64" name="Elbow Connector 31">
                    <a:extLst>
                      <a:ext uri="{FF2B5EF4-FFF2-40B4-BE49-F238E27FC236}">
                        <a16:creationId xmlns:a16="http://schemas.microsoft.com/office/drawing/2014/main" id="{67E1BF88-6FDD-487A-B27F-0390698EEB76}"/>
                      </a:ext>
                    </a:extLst>
                  </p:cNvPr>
                  <p:cNvCxnSpPr>
                    <a:cxnSpLocks/>
                  </p:cNvCxnSpPr>
                  <p:nvPr/>
                </p:nvCxnSpPr>
                <p:spPr>
                  <a:xfrm flipV="1">
                    <a:off x="6194084" y="2527165"/>
                    <a:ext cx="1121463" cy="1465481"/>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DABCCCB0-4008-4ACB-9112-D675690711A9}"/>
                      </a:ext>
                    </a:extLst>
                  </p:cNvPr>
                  <p:cNvGrpSpPr/>
                  <p:nvPr/>
                </p:nvGrpSpPr>
                <p:grpSpPr>
                  <a:xfrm>
                    <a:off x="4371016" y="2260587"/>
                    <a:ext cx="7796979" cy="3512903"/>
                    <a:chOff x="4371016" y="2260587"/>
                    <a:chExt cx="7796979" cy="3512903"/>
                  </a:xfrm>
                </p:grpSpPr>
                <p:sp>
                  <p:nvSpPr>
                    <p:cNvPr id="66" name="TextBox 65">
                      <a:extLst>
                        <a:ext uri="{FF2B5EF4-FFF2-40B4-BE49-F238E27FC236}">
                          <a16:creationId xmlns:a16="http://schemas.microsoft.com/office/drawing/2014/main" id="{6B897F3D-3CEC-47F1-87BF-9F4CC7306BE9}"/>
                        </a:ext>
                      </a:extLst>
                    </p:cNvPr>
                    <p:cNvSpPr txBox="1"/>
                    <p:nvPr/>
                  </p:nvSpPr>
                  <p:spPr>
                    <a:xfrm>
                      <a:off x="7532636" y="226058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Profitability Analysis: Intro to S/4 </a:t>
                      </a:r>
                    </a:p>
                  </p:txBody>
                </p:sp>
                <p:grpSp>
                  <p:nvGrpSpPr>
                    <p:cNvPr id="67" name="Group 66">
                      <a:extLst>
                        <a:ext uri="{FF2B5EF4-FFF2-40B4-BE49-F238E27FC236}">
                          <a16:creationId xmlns:a16="http://schemas.microsoft.com/office/drawing/2014/main" id="{36F4C111-BB68-4804-BCF3-6EAF7C73AF2F}"/>
                        </a:ext>
                      </a:extLst>
                    </p:cNvPr>
                    <p:cNvGrpSpPr/>
                    <p:nvPr/>
                  </p:nvGrpSpPr>
                  <p:grpSpPr>
                    <a:xfrm>
                      <a:off x="4371016" y="3031011"/>
                      <a:ext cx="1867560" cy="1901181"/>
                      <a:chOff x="575788" y="4361808"/>
                      <a:chExt cx="624164" cy="624164"/>
                    </a:xfrm>
                  </p:grpSpPr>
                  <p:grpSp>
                    <p:nvGrpSpPr>
                      <p:cNvPr id="69" name="Group 68">
                        <a:extLst>
                          <a:ext uri="{FF2B5EF4-FFF2-40B4-BE49-F238E27FC236}">
                            <a16:creationId xmlns:a16="http://schemas.microsoft.com/office/drawing/2014/main" id="{C08058BF-676E-4FB3-BC57-B36A2ED595CE}"/>
                          </a:ext>
                        </a:extLst>
                      </p:cNvPr>
                      <p:cNvGrpSpPr/>
                      <p:nvPr/>
                    </p:nvGrpSpPr>
                    <p:grpSpPr>
                      <a:xfrm>
                        <a:off x="575788" y="4361808"/>
                        <a:ext cx="624164" cy="624164"/>
                        <a:chOff x="4492144" y="190843"/>
                        <a:chExt cx="855656" cy="855656"/>
                      </a:xfrm>
                    </p:grpSpPr>
                    <p:sp>
                      <p:nvSpPr>
                        <p:cNvPr id="71" name="Oval 70">
                          <a:extLst>
                            <a:ext uri="{FF2B5EF4-FFF2-40B4-BE49-F238E27FC236}">
                              <a16:creationId xmlns:a16="http://schemas.microsoft.com/office/drawing/2014/main" id="{8A78D47E-765D-4CD2-8349-44060FF389E0}"/>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2" name="Oval 71">
                          <a:extLst>
                            <a:ext uri="{FF2B5EF4-FFF2-40B4-BE49-F238E27FC236}">
                              <a16:creationId xmlns:a16="http://schemas.microsoft.com/office/drawing/2014/main" id="{E67C8941-2415-4EA0-A1D0-367664F9654E}"/>
                            </a:ext>
                          </a:extLst>
                        </p:cNvPr>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70" name="Picture 69">
                        <a:extLst>
                          <a:ext uri="{FF2B5EF4-FFF2-40B4-BE49-F238E27FC236}">
                            <a16:creationId xmlns:a16="http://schemas.microsoft.com/office/drawing/2014/main" id="{0BE9D445-018B-4D2A-B42A-82AC4829A1BA}"/>
                          </a:ext>
                        </a:extLst>
                      </p:cNvPr>
                      <p:cNvPicPr>
                        <a:picLocks noChangeAspect="1"/>
                      </p:cNvPicPr>
                      <p:nvPr/>
                    </p:nvPicPr>
                    <p:blipFill>
                      <a:blip r:embed="rId3"/>
                      <a:stretch>
                        <a:fillRect/>
                      </a:stretch>
                    </p:blipFill>
                    <p:spPr>
                      <a:xfrm>
                        <a:off x="718607" y="4514537"/>
                        <a:ext cx="328080" cy="318706"/>
                      </a:xfrm>
                      <a:prstGeom prst="rect">
                        <a:avLst/>
                      </a:prstGeom>
                    </p:spPr>
                  </p:pic>
                </p:grpSp>
                <p:sp>
                  <p:nvSpPr>
                    <p:cNvPr id="68" name="TextBox 67">
                      <a:extLst>
                        <a:ext uri="{FF2B5EF4-FFF2-40B4-BE49-F238E27FC236}">
                          <a16:creationId xmlns:a16="http://schemas.microsoft.com/office/drawing/2014/main" id="{73301DCB-3EB8-414B-B2AF-2400E094CAB8}"/>
                        </a:ext>
                      </a:extLst>
                    </p:cNvPr>
                    <p:cNvSpPr txBox="1"/>
                    <p:nvPr/>
                  </p:nvSpPr>
                  <p:spPr>
                    <a:xfrm>
                      <a:off x="7558856" y="5218301"/>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Reporting Capabilities</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sp>
            <p:nvSpPr>
              <p:cNvPr id="58" name="TextBox 57">
                <a:extLst>
                  <a:ext uri="{FF2B5EF4-FFF2-40B4-BE49-F238E27FC236}">
                    <a16:creationId xmlns:a16="http://schemas.microsoft.com/office/drawing/2014/main" id="{DF1C2DEC-7A57-4376-BD97-35C99713090B}"/>
                  </a:ext>
                </a:extLst>
              </p:cNvPr>
              <p:cNvSpPr txBox="1"/>
              <p:nvPr/>
            </p:nvSpPr>
            <p:spPr>
              <a:xfrm>
                <a:off x="7616262" y="4511768"/>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Market P&amp;L</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9" name="Straight Connector 58">
                <a:extLst>
                  <a:ext uri="{FF2B5EF4-FFF2-40B4-BE49-F238E27FC236}">
                    <a16:creationId xmlns:a16="http://schemas.microsoft.com/office/drawing/2014/main" id="{F80DA88D-C452-4C1B-8AC0-95BFC7AA964F}"/>
                  </a:ext>
                </a:extLst>
              </p:cNvPr>
              <p:cNvCxnSpPr>
                <a:cxnSpLocks/>
              </p:cNvCxnSpPr>
              <p:nvPr/>
            </p:nvCxnSpPr>
            <p:spPr>
              <a:xfrm>
                <a:off x="6810376" y="4066427"/>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1E9D8F81-1A2F-4048-96CD-8F5776320B83}"/>
                  </a:ext>
                </a:extLst>
              </p:cNvPr>
              <p:cNvSpPr txBox="1"/>
              <p:nvPr/>
            </p:nvSpPr>
            <p:spPr>
              <a:xfrm>
                <a:off x="7590041" y="3107175"/>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 </a:t>
                </a:r>
                <a:r>
                  <a:rPr kumimoji="0" lang="en-GB" sz="1800" b="1" i="0" u="none" strike="noStrike" kern="1200" cap="none" spc="0" normalizeH="0" baseline="0" noProof="0" err="1">
                    <a:ln>
                      <a:noFill/>
                    </a:ln>
                    <a:solidFill>
                      <a:srgbClr val="FFFFFF"/>
                    </a:solidFill>
                    <a:effectLst/>
                    <a:uLnTx/>
                    <a:uFillTx/>
                    <a:latin typeface="Arial" panose="020B0604020202020204"/>
                    <a:ea typeface="+mn-ea"/>
                    <a:cs typeface="+mn-cs"/>
                  </a:rPr>
                  <a:t>Center</a:t>
                </a: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 Reorganization</a:t>
                </a:r>
              </a:p>
            </p:txBody>
          </p:sp>
          <p:sp>
            <p:nvSpPr>
              <p:cNvPr id="61" name="TextBox 60">
                <a:extLst>
                  <a:ext uri="{FF2B5EF4-FFF2-40B4-BE49-F238E27FC236}">
                    <a16:creationId xmlns:a16="http://schemas.microsoft.com/office/drawing/2014/main" id="{30DD7D17-E78D-442F-9DE7-C1AA37AA1BA5}"/>
                  </a:ext>
                </a:extLst>
              </p:cNvPr>
              <p:cNvSpPr txBox="1"/>
              <p:nvPr/>
            </p:nvSpPr>
            <p:spPr>
              <a:xfrm>
                <a:off x="7599186" y="383682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Standardization of Dimensions</a:t>
                </a:r>
              </a:p>
            </p:txBody>
          </p:sp>
        </p:grpSp>
      </p:grpSp>
      <p:grpSp>
        <p:nvGrpSpPr>
          <p:cNvPr id="36" name="Group 35">
            <a:extLst>
              <a:ext uri="{FF2B5EF4-FFF2-40B4-BE49-F238E27FC236}">
                <a16:creationId xmlns:a16="http://schemas.microsoft.com/office/drawing/2014/main" id="{57654869-9499-4D43-894C-6E53EFDB6E21}"/>
              </a:ext>
            </a:extLst>
          </p:cNvPr>
          <p:cNvGrpSpPr/>
          <p:nvPr/>
        </p:nvGrpSpPr>
        <p:grpSpPr>
          <a:xfrm>
            <a:off x="6167129" y="2110550"/>
            <a:ext cx="4835583" cy="2985172"/>
            <a:chOff x="6167129" y="2110550"/>
            <a:chExt cx="4835583" cy="2985172"/>
          </a:xfrm>
        </p:grpSpPr>
        <p:grpSp>
          <p:nvGrpSpPr>
            <p:cNvPr id="37" name="Group 36">
              <a:extLst>
                <a:ext uri="{FF2B5EF4-FFF2-40B4-BE49-F238E27FC236}">
                  <a16:creationId xmlns:a16="http://schemas.microsoft.com/office/drawing/2014/main" id="{E913F206-F635-45C9-9CD1-5F941FB74A30}"/>
                </a:ext>
              </a:extLst>
            </p:cNvPr>
            <p:cNvGrpSpPr/>
            <p:nvPr/>
          </p:nvGrpSpPr>
          <p:grpSpPr>
            <a:xfrm>
              <a:off x="6168074" y="2343005"/>
              <a:ext cx="4834638" cy="2752717"/>
              <a:chOff x="7304060" y="2095049"/>
              <a:chExt cx="4834638" cy="2752717"/>
            </a:xfrm>
          </p:grpSpPr>
          <p:cxnSp>
            <p:nvCxnSpPr>
              <p:cNvPr id="45" name="Elbow Connector 7">
                <a:extLst>
                  <a:ext uri="{FF2B5EF4-FFF2-40B4-BE49-F238E27FC236}">
                    <a16:creationId xmlns:a16="http://schemas.microsoft.com/office/drawing/2014/main" id="{64B98268-6E62-46C9-B3BF-BB33FFD580F5}"/>
                  </a:ext>
                </a:extLst>
              </p:cNvPr>
              <p:cNvCxnSpPr>
                <a:cxnSpLocks/>
              </p:cNvCxnSpPr>
              <p:nvPr/>
            </p:nvCxnSpPr>
            <p:spPr>
              <a:xfrm>
                <a:off x="7304060" y="3061029"/>
                <a:ext cx="1009162" cy="719660"/>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6" name="Elbow Connector 4">
                <a:extLst>
                  <a:ext uri="{FF2B5EF4-FFF2-40B4-BE49-F238E27FC236}">
                    <a16:creationId xmlns:a16="http://schemas.microsoft.com/office/drawing/2014/main" id="{6B945E98-E7E0-44F3-A3E3-F89EA94F87A9}"/>
                  </a:ext>
                </a:extLst>
              </p:cNvPr>
              <p:cNvCxnSpPr>
                <a:cxnSpLocks/>
              </p:cNvCxnSpPr>
              <p:nvPr/>
            </p:nvCxnSpPr>
            <p:spPr>
              <a:xfrm flipV="1">
                <a:off x="7304060" y="2095049"/>
                <a:ext cx="1008701" cy="958351"/>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79E854C-DF78-4D45-9D63-D5DFE8505217}"/>
                  </a:ext>
                </a:extLst>
              </p:cNvPr>
              <p:cNvCxnSpPr>
                <a:cxnSpLocks/>
              </p:cNvCxnSpPr>
              <p:nvPr/>
            </p:nvCxnSpPr>
            <p:spPr>
              <a:xfrm>
                <a:off x="7785534" y="3053401"/>
                <a:ext cx="527227" cy="6919"/>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48" name="Rounded Rectangle 38">
                <a:extLst>
                  <a:ext uri="{FF2B5EF4-FFF2-40B4-BE49-F238E27FC236}">
                    <a16:creationId xmlns:a16="http://schemas.microsoft.com/office/drawing/2014/main" id="{80ED882D-673E-4AB0-B5C8-B3CF4AB5CD5B}"/>
                  </a:ext>
                </a:extLst>
              </p:cNvPr>
              <p:cNvSpPr/>
              <p:nvPr/>
            </p:nvSpPr>
            <p:spPr>
              <a:xfrm>
                <a:off x="8446903" y="3320396"/>
                <a:ext cx="3691795" cy="803812"/>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dirty="0">
                    <a:ln>
                      <a:noFill/>
                    </a:ln>
                    <a:solidFill>
                      <a:srgbClr val="1A3040"/>
                    </a:solidFill>
                    <a:effectLst/>
                    <a:uLnTx/>
                    <a:uFillTx/>
                    <a:latin typeface="Arial" charset="0"/>
                    <a:ea typeface="+mn-ea"/>
                    <a:cs typeface="Arial" charset="0"/>
                  </a:rPr>
                  <a:t>Profit </a:t>
                </a:r>
                <a:r>
                  <a:rPr kumimoji="0" lang="en-GB" sz="2000" b="1" i="0" u="none" strike="noStrike" kern="1200" cap="none" spc="0" normalizeH="0" baseline="0" noProof="0" dirty="0" err="1">
                    <a:ln>
                      <a:noFill/>
                    </a:ln>
                    <a:solidFill>
                      <a:srgbClr val="1A3040"/>
                    </a:solidFill>
                    <a:effectLst/>
                    <a:uLnTx/>
                    <a:uFillTx/>
                    <a:latin typeface="Arial" charset="0"/>
                    <a:ea typeface="+mn-ea"/>
                    <a:cs typeface="Arial" charset="0"/>
                  </a:rPr>
                  <a:t>Center</a:t>
                </a:r>
                <a:r>
                  <a:rPr kumimoji="0" lang="en-GB" sz="2000" b="1" i="0" u="none" strike="noStrike" kern="1200" cap="none" spc="0" normalizeH="0" baseline="0" noProof="0" dirty="0">
                    <a:ln>
                      <a:noFill/>
                    </a:ln>
                    <a:solidFill>
                      <a:srgbClr val="1A3040"/>
                    </a:solidFill>
                    <a:effectLst/>
                    <a:uLnTx/>
                    <a:uFillTx/>
                    <a:latin typeface="Arial" charset="0"/>
                    <a:ea typeface="+mn-ea"/>
                    <a:cs typeface="Arial" charset="0"/>
                  </a:rPr>
                  <a:t> Reorganization</a:t>
                </a:r>
                <a:endParaRPr kumimoji="0" lang="en-GB" sz="1400" b="0" i="0" u="none" strike="noStrike" kern="1200" cap="none" spc="0" normalizeH="0" baseline="0" noProof="0" dirty="0">
                  <a:ln>
                    <a:noFill/>
                  </a:ln>
                  <a:solidFill>
                    <a:srgbClr val="1A3040"/>
                  </a:solidFill>
                  <a:effectLst/>
                  <a:uLnTx/>
                  <a:uFillTx/>
                  <a:latin typeface="Arial" panose="020B0604020202020204"/>
                  <a:ea typeface="+mn-ea"/>
                  <a:cs typeface="+mn-cs"/>
                </a:endParaRPr>
              </a:p>
            </p:txBody>
          </p:sp>
          <p:sp>
            <p:nvSpPr>
              <p:cNvPr id="49" name="Rounded Rectangle 39">
                <a:extLst>
                  <a:ext uri="{FF2B5EF4-FFF2-40B4-BE49-F238E27FC236}">
                    <a16:creationId xmlns:a16="http://schemas.microsoft.com/office/drawing/2014/main" id="{15ACB942-7E3D-40ED-8EBF-9A623863CD4A}"/>
                  </a:ext>
                </a:extLst>
              </p:cNvPr>
              <p:cNvSpPr/>
              <p:nvPr/>
            </p:nvSpPr>
            <p:spPr>
              <a:xfrm>
                <a:off x="8435666" y="2626784"/>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Arial"/>
                  </a:rPr>
                  <a:t>The 3 Building Blocks</a:t>
                </a:r>
                <a:endParaRPr kumimoji="0" lang="en-US" sz="1400" b="0" i="0" u="none" strike="noStrike" kern="1200" cap="none" spc="0" normalizeH="0" baseline="0" noProof="0" dirty="0">
                  <a:ln>
                    <a:noFill/>
                  </a:ln>
                  <a:solidFill>
                    <a:srgbClr val="FFFFFF"/>
                  </a:solidFill>
                  <a:effectLst/>
                  <a:uLnTx/>
                  <a:uFillTx/>
                  <a:latin typeface="Arial"/>
                  <a:ea typeface="+mn-ea"/>
                  <a:cs typeface="Arial"/>
                </a:endParaRPr>
              </a:p>
            </p:txBody>
          </p:sp>
          <p:sp>
            <p:nvSpPr>
              <p:cNvPr id="50" name="Rounded Rectangle 40">
                <a:extLst>
                  <a:ext uri="{FF2B5EF4-FFF2-40B4-BE49-F238E27FC236}">
                    <a16:creationId xmlns:a16="http://schemas.microsoft.com/office/drawing/2014/main" id="{6D07EB45-E0B7-4055-9C57-4032426D2F39}"/>
                  </a:ext>
                </a:extLst>
              </p:cNvPr>
              <p:cNvSpPr/>
              <p:nvPr/>
            </p:nvSpPr>
            <p:spPr>
              <a:xfrm>
                <a:off x="8437136" y="4317157"/>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charset="0"/>
                    <a:ea typeface="+mn-ea"/>
                    <a:cs typeface="Arial" charset="0"/>
                  </a:rPr>
                  <a:t>Cost </a:t>
                </a:r>
                <a:r>
                  <a:rPr kumimoji="0" lang="en-GB" sz="1600" b="1" i="0" u="none" strike="noStrike" kern="1200" cap="none" spc="0" normalizeH="0" baseline="0" noProof="0" dirty="0" err="1">
                    <a:ln>
                      <a:noFill/>
                    </a:ln>
                    <a:solidFill>
                      <a:srgbClr val="FFFFFF"/>
                    </a:solidFill>
                    <a:effectLst/>
                    <a:uLnTx/>
                    <a:uFillTx/>
                    <a:latin typeface="Arial" charset="0"/>
                    <a:ea typeface="+mn-ea"/>
                    <a:cs typeface="Arial" charset="0"/>
                  </a:rPr>
                  <a:t>Center</a:t>
                </a:r>
                <a:r>
                  <a:rPr kumimoji="0" lang="en-GB" sz="1600" b="1" i="0" u="none" strike="noStrike" kern="1200" cap="none" spc="0" normalizeH="0" baseline="0" noProof="0" dirty="0">
                    <a:ln>
                      <a:noFill/>
                    </a:ln>
                    <a:solidFill>
                      <a:srgbClr val="FFFFFF"/>
                    </a:solidFill>
                    <a:effectLst/>
                    <a:uLnTx/>
                    <a:uFillTx/>
                    <a:latin typeface="Arial" charset="0"/>
                    <a:ea typeface="+mn-ea"/>
                    <a:cs typeface="Arial" charset="0"/>
                  </a:rPr>
                  <a:t> Standardization</a:t>
                </a:r>
                <a:endParaRPr kumimoji="0" lang="en-GB"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cxnSp>
          <p:nvCxnSpPr>
            <p:cNvPr id="42" name="Elbow Connector 7">
              <a:extLst>
                <a:ext uri="{FF2B5EF4-FFF2-40B4-BE49-F238E27FC236}">
                  <a16:creationId xmlns:a16="http://schemas.microsoft.com/office/drawing/2014/main" id="{6A8B1679-63D3-400A-9113-762C802A415C}"/>
                </a:ext>
              </a:extLst>
            </p:cNvPr>
            <p:cNvCxnSpPr>
              <a:cxnSpLocks/>
            </p:cNvCxnSpPr>
            <p:nvPr/>
          </p:nvCxnSpPr>
          <p:spPr>
            <a:xfrm>
              <a:off x="6167129" y="3302800"/>
              <a:ext cx="1009162" cy="1542657"/>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44" name="Rounded Rectangle 39">
              <a:extLst>
                <a:ext uri="{FF2B5EF4-FFF2-40B4-BE49-F238E27FC236}">
                  <a16:creationId xmlns:a16="http://schemas.microsoft.com/office/drawing/2014/main" id="{22889AA0-E95F-4A8C-BBDE-06C6D0E076A5}"/>
                </a:ext>
              </a:extLst>
            </p:cNvPr>
            <p:cNvSpPr/>
            <p:nvPr/>
          </p:nvSpPr>
          <p:spPr>
            <a:xfrm>
              <a:off x="7299680" y="2110550"/>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Arial"/>
                </a:rPr>
                <a:t>Rationale for CO-PA changes</a:t>
              </a:r>
              <a:endParaRPr kumimoji="0" lang="en-US" sz="1400" b="0" i="0" u="none" strike="noStrike" kern="1200" cap="none" spc="0" normalizeH="0" baseline="0" noProof="0" dirty="0">
                <a:ln>
                  <a:noFill/>
                </a:ln>
                <a:solidFill>
                  <a:srgbClr val="FFFFFF"/>
                </a:solidFill>
                <a:effectLst/>
                <a:uLnTx/>
                <a:uFillTx/>
                <a:latin typeface="Arial"/>
                <a:ea typeface="+mn-ea"/>
                <a:cs typeface="Arial"/>
              </a:endParaRPr>
            </a:p>
          </p:txBody>
        </p:sp>
      </p:grpSp>
    </p:spTree>
    <p:extLst>
      <p:ext uri="{BB962C8B-B14F-4D97-AF65-F5344CB8AC3E}">
        <p14:creationId xmlns:p14="http://schemas.microsoft.com/office/powerpoint/2010/main" val="3818442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D4B73-BD81-424A-B610-42700208DC5A}"/>
              </a:ext>
            </a:extLst>
          </p:cNvPr>
          <p:cNvSpPr>
            <a:spLocks noGrp="1"/>
          </p:cNvSpPr>
          <p:nvPr>
            <p:ph type="title"/>
          </p:nvPr>
        </p:nvSpPr>
        <p:spPr/>
        <p:txBody>
          <a:bodyPr/>
          <a:lstStyle/>
          <a:p>
            <a:r>
              <a:rPr lang="en-GB" dirty="0"/>
              <a:t>Profit </a:t>
            </a:r>
            <a:r>
              <a:rPr lang="en-GB" dirty="0" err="1"/>
              <a:t>Center</a:t>
            </a:r>
            <a:r>
              <a:rPr lang="en-GB" dirty="0"/>
              <a:t> Re-Organization</a:t>
            </a:r>
            <a:endParaRPr lang="en-US" dirty="0"/>
          </a:p>
        </p:txBody>
      </p:sp>
      <p:sp>
        <p:nvSpPr>
          <p:cNvPr id="4" name="Footer Placeholder 3">
            <a:extLst>
              <a:ext uri="{FF2B5EF4-FFF2-40B4-BE49-F238E27FC236}">
                <a16:creationId xmlns:a16="http://schemas.microsoft.com/office/drawing/2014/main" id="{0B8CFD36-00FA-44A0-B5E6-F91E278B3CF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3C766226-4F5F-4777-9E24-753CBDFDFF0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59" name="Group 58">
            <a:extLst>
              <a:ext uri="{FF2B5EF4-FFF2-40B4-BE49-F238E27FC236}">
                <a16:creationId xmlns:a16="http://schemas.microsoft.com/office/drawing/2014/main" id="{A958B214-EFB2-4203-8378-FBBA408D69E2}"/>
              </a:ext>
            </a:extLst>
          </p:cNvPr>
          <p:cNvGrpSpPr/>
          <p:nvPr/>
        </p:nvGrpSpPr>
        <p:grpSpPr>
          <a:xfrm>
            <a:off x="714569" y="1504787"/>
            <a:ext cx="10762861" cy="4169025"/>
            <a:chOff x="515938" y="1534103"/>
            <a:chExt cx="11214195" cy="4337476"/>
          </a:xfrm>
        </p:grpSpPr>
        <p:sp>
          <p:nvSpPr>
            <p:cNvPr id="14" name="ZoneTexte 2">
              <a:extLst>
                <a:ext uri="{FF2B5EF4-FFF2-40B4-BE49-F238E27FC236}">
                  <a16:creationId xmlns:a16="http://schemas.microsoft.com/office/drawing/2014/main" id="{7B2C6A3C-963D-4C1F-8A74-28999386C1E5}"/>
                </a:ext>
              </a:extLst>
            </p:cNvPr>
            <p:cNvSpPr txBox="1"/>
            <p:nvPr/>
          </p:nvSpPr>
          <p:spPr>
            <a:xfrm>
              <a:off x="515938" y="1550659"/>
              <a:ext cx="3741803" cy="566069"/>
            </a:xfrm>
            <a:prstGeom prst="rect">
              <a:avLst/>
            </a:prstGeom>
            <a:solidFill>
              <a:srgbClr val="A7E6E4"/>
            </a:solidFill>
            <a:ln>
              <a:noFill/>
            </a:ln>
            <a:effectLst/>
          </p:spPr>
          <p:txBody>
            <a:bodyPr vert="horz" wrap="square" lIns="0" tIns="0" rIns="0" bIns="0" numCol="1" rtlCol="0" anchor="ctr" anchorCtr="1" compatLnSpc="1">
              <a:prstTxWarp prst="textNoShape">
                <a:avLst/>
              </a:prstTxWarp>
            </a:bodyPr>
            <a:lstStyle>
              <a:defPPr>
                <a:defRPr lang="en-US"/>
              </a:defPPr>
              <a:lvl1pPr marL="0" marR="0" lvl="0" indent="0" defTabSz="914400" eaLnBrk="1" latinLnBrk="0" hangingPunct="1">
                <a:lnSpc>
                  <a:spcPct val="100000"/>
                </a:lnSpc>
                <a:spcBef>
                  <a:spcPct val="20000"/>
                </a:spcBef>
                <a:buClrTx/>
                <a:buSzTx/>
                <a:buFontTx/>
                <a:buNone/>
                <a:tabLst/>
                <a:defRPr kumimoji="0" sz="2000" b="1" i="0" u="none" strike="noStrike" cap="none" spc="0" normalizeH="0" baseline="0">
                  <a:ln>
                    <a:noFill/>
                  </a:ln>
                  <a:solidFill>
                    <a:schemeClr val="tx1">
                      <a:lumMod val="75000"/>
                      <a:lumOff val="25000"/>
                    </a:schemeClr>
                  </a:solidFill>
                  <a:effectLst/>
                  <a:uLnTx/>
                  <a:uFillTx/>
                  <a:latin typeface="Arial" charset="0"/>
                  <a:ea typeface="Arial" charset="0"/>
                  <a:cs typeface="Arial" charset="0"/>
                </a:defRPr>
              </a:lvl1pPr>
              <a:lvl2pPr>
                <a:defRPr>
                  <a:solidFill>
                    <a:schemeClr val="bg1"/>
                  </a:solidFill>
                  <a:latin typeface="Arial" pitchFamily="34" charset="0"/>
                  <a:ea typeface="ＭＳ Ｐゴシック" pitchFamily="80" charset="-128"/>
                </a:defRPr>
              </a:lvl2pPr>
              <a:lvl3pPr>
                <a:defRPr>
                  <a:solidFill>
                    <a:schemeClr val="bg1"/>
                  </a:solidFill>
                  <a:latin typeface="Arial" pitchFamily="34" charset="0"/>
                  <a:ea typeface="ＭＳ Ｐゴシック" pitchFamily="80" charset="-128"/>
                </a:defRPr>
              </a:lvl3pPr>
              <a:lvl4pPr>
                <a:defRPr>
                  <a:solidFill>
                    <a:schemeClr val="bg1"/>
                  </a:solidFill>
                  <a:latin typeface="Arial" pitchFamily="34" charset="0"/>
                  <a:ea typeface="ＭＳ Ｐゴシック" pitchFamily="80" charset="-128"/>
                </a:defRPr>
              </a:lvl4pPr>
              <a:lvl5pPr>
                <a:defRPr>
                  <a:solidFill>
                    <a:schemeClr val="bg1"/>
                  </a:solidFill>
                  <a:latin typeface="Arial" pitchFamily="34" charset="0"/>
                  <a:ea typeface="ＭＳ Ｐゴシック" pitchFamily="80" charset="-128"/>
                </a:defRPr>
              </a:lvl5pPr>
              <a:lvl6pPr>
                <a:defRPr>
                  <a:solidFill>
                    <a:schemeClr val="bg1"/>
                  </a:solidFill>
                  <a:latin typeface="Arial" pitchFamily="34" charset="0"/>
                  <a:ea typeface="ＭＳ Ｐゴシック" pitchFamily="80" charset="-128"/>
                </a:defRPr>
              </a:lvl6pPr>
              <a:lvl7pPr>
                <a:defRPr>
                  <a:solidFill>
                    <a:schemeClr val="bg1"/>
                  </a:solidFill>
                  <a:latin typeface="Arial" pitchFamily="34" charset="0"/>
                  <a:ea typeface="ＭＳ Ｐゴシック" pitchFamily="80" charset="-128"/>
                </a:defRPr>
              </a:lvl7pPr>
              <a:lvl8pPr>
                <a:defRPr>
                  <a:solidFill>
                    <a:schemeClr val="bg1"/>
                  </a:solidFill>
                  <a:latin typeface="Arial" pitchFamily="34" charset="0"/>
                  <a:ea typeface="ＭＳ Ｐゴシック" pitchFamily="80" charset="-128"/>
                </a:defRPr>
              </a:lvl8pPr>
              <a:lvl9pPr>
                <a:defRPr>
                  <a:solidFill>
                    <a:schemeClr val="bg1"/>
                  </a:solidFill>
                  <a:latin typeface="Arial" pitchFamily="34" charset="0"/>
                  <a:ea typeface="ＭＳ Ｐゴシック" pitchFamily="80"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fr-FR" sz="1400" b="1" i="0" u="none" strike="noStrike" kern="1200" cap="none" spc="0" normalizeH="0" baseline="0" noProof="0">
                  <a:ln>
                    <a:noFill/>
                  </a:ln>
                  <a:solidFill>
                    <a:srgbClr val="000000">
                      <a:lumMod val="75000"/>
                      <a:lumOff val="25000"/>
                    </a:srgbClr>
                  </a:solidFill>
                  <a:effectLst/>
                  <a:uLnTx/>
                  <a:uFillTx/>
                  <a:latin typeface="Arial" charset="0"/>
                  <a:cs typeface="Arial" charset="0"/>
                </a:rPr>
                <a:t>1. Profit Centers and Cost Centers to reflect the organization</a:t>
              </a:r>
            </a:p>
          </p:txBody>
        </p:sp>
        <p:sp>
          <p:nvSpPr>
            <p:cNvPr id="15" name="Rectangle 14">
              <a:extLst>
                <a:ext uri="{FF2B5EF4-FFF2-40B4-BE49-F238E27FC236}">
                  <a16:creationId xmlns:a16="http://schemas.microsoft.com/office/drawing/2014/main" id="{8F598EDE-8BBA-4EA6-A0E3-5A57D2F4AFBB}"/>
                </a:ext>
              </a:extLst>
            </p:cNvPr>
            <p:cNvSpPr/>
            <p:nvPr/>
          </p:nvSpPr>
          <p:spPr bwMode="auto">
            <a:xfrm>
              <a:off x="4486782" y="2187848"/>
              <a:ext cx="7243351" cy="3683731"/>
            </a:xfrm>
            <a:prstGeom prst="rect">
              <a:avLst/>
            </a:prstGeom>
            <a:solidFill>
              <a:srgbClr val="D5EBE6"/>
            </a:solidFill>
            <a:ln w="12700" cap="flat" cmpd="sng" algn="ctr">
              <a:noFill/>
              <a:prstDash val="solid"/>
              <a:miter lim="800000"/>
            </a:ln>
            <a:effectLst/>
          </p:spPr>
          <p:txBody>
            <a:bodyPr vert="horz" wrap="square" lIns="0" tIns="0" rIns="0" bIns="0" numCol="1" rtlCol="0" anchor="ctr" anchorCtr="1" compatLnSpc="1">
              <a:prstTxWarp prst="textNoShape">
                <a:avLst/>
              </a:prstTxWarp>
            </a:bodyPr>
            <a:lstStyle/>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GB" sz="1600" b="0" i="0" u="none" strike="noStrike" kern="1200" cap="none" spc="0" normalizeH="0" baseline="0" noProof="0" dirty="0">
                  <a:ln>
                    <a:noFill/>
                  </a:ln>
                  <a:solidFill>
                    <a:srgbClr val="122632"/>
                  </a:solidFill>
                  <a:effectLst/>
                  <a:uLnTx/>
                  <a:uFillTx/>
                  <a:latin typeface="Arial"/>
                  <a:ea typeface="ＭＳ Ｐゴシック" pitchFamily="80" charset="-128"/>
                  <a:cs typeface="+mn-cs"/>
                </a:rPr>
                <a:t>New framework to be applied for Profit </a:t>
              </a:r>
              <a:r>
                <a:rPr kumimoji="0" lang="en-GB" sz="1600" b="0" i="0" u="none" strike="noStrike" kern="1200" cap="none" spc="0" normalizeH="0" baseline="0" noProof="0" dirty="0" err="1">
                  <a:ln>
                    <a:noFill/>
                  </a:ln>
                  <a:solidFill>
                    <a:srgbClr val="122632"/>
                  </a:solidFill>
                  <a:effectLst/>
                  <a:uLnTx/>
                  <a:uFillTx/>
                  <a:latin typeface="Arial"/>
                  <a:ea typeface="ＭＳ Ｐゴシック" pitchFamily="80" charset="-128"/>
                  <a:cs typeface="+mn-cs"/>
                </a:rPr>
                <a:t>Centers</a:t>
              </a:r>
              <a:r>
                <a:rPr kumimoji="0" lang="en-GB" sz="1600" b="0" i="0" u="none" strike="noStrike" kern="1200" cap="none" spc="0" normalizeH="0" baseline="0" noProof="0" dirty="0">
                  <a:ln>
                    <a:noFill/>
                  </a:ln>
                  <a:solidFill>
                    <a:srgbClr val="122632"/>
                  </a:solidFill>
                  <a:effectLst/>
                  <a:uLnTx/>
                  <a:uFillTx/>
                  <a:latin typeface="Arial"/>
                  <a:ea typeface="ＭＳ Ｐゴシック" pitchFamily="80" charset="-128"/>
                  <a:cs typeface="+mn-cs"/>
                </a:rPr>
                <a:t> (PC) and Cost </a:t>
              </a:r>
              <a:r>
                <a:rPr kumimoji="0" lang="en-GB" sz="1600" b="0" i="0" u="none" strike="noStrike" kern="1200" cap="none" spc="0" normalizeH="0" baseline="0" noProof="0" dirty="0" err="1">
                  <a:ln>
                    <a:noFill/>
                  </a:ln>
                  <a:solidFill>
                    <a:srgbClr val="122632"/>
                  </a:solidFill>
                  <a:effectLst/>
                  <a:uLnTx/>
                  <a:uFillTx/>
                  <a:latin typeface="Arial"/>
                  <a:ea typeface="ＭＳ Ｐゴシック" pitchFamily="80" charset="-128"/>
                  <a:cs typeface="+mn-cs"/>
                </a:rPr>
                <a:t>Centers</a:t>
              </a:r>
              <a:r>
                <a:rPr kumimoji="0" lang="en-GB" sz="1600" b="0" i="0" u="none" strike="noStrike" kern="1200" cap="none" spc="0" normalizeH="0" baseline="0" noProof="0" dirty="0">
                  <a:ln>
                    <a:noFill/>
                  </a:ln>
                  <a:solidFill>
                    <a:srgbClr val="122632"/>
                  </a:solidFill>
                  <a:effectLst/>
                  <a:uLnTx/>
                  <a:uFillTx/>
                  <a:latin typeface="Arial"/>
                  <a:ea typeface="ＭＳ Ｐゴシック" pitchFamily="80" charset="-128"/>
                  <a:cs typeface="+mn-cs"/>
                </a:rPr>
                <a:t> (CC)</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dirty="0">
                  <a:ln>
                    <a:noFill/>
                  </a:ln>
                  <a:solidFill>
                    <a:srgbClr val="122632"/>
                  </a:solidFill>
                  <a:effectLst/>
                  <a:uLnTx/>
                  <a:uFillTx/>
                  <a:latin typeface="Arial"/>
                  <a:ea typeface="ＭＳ Ｐゴシック" pitchFamily="80" charset="-128"/>
                  <a:cs typeface="+mn-cs"/>
                </a:rPr>
                <a:t>New Framework to support FCF by market</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GB" sz="1600" b="0" i="0" u="none" strike="noStrike" kern="1200" cap="none" spc="0" normalizeH="0" baseline="0" noProof="0" dirty="0">
                  <a:ln>
                    <a:noFill/>
                  </a:ln>
                  <a:solidFill>
                    <a:srgbClr val="122632"/>
                  </a:solidFill>
                  <a:effectLst/>
                  <a:uLnTx/>
                  <a:uFillTx/>
                  <a:latin typeface="Arial"/>
                  <a:ea typeface="ＭＳ Ｐゴシック" pitchFamily="80" charset="-128"/>
                  <a:cs typeface="+mn-cs"/>
                </a:rPr>
                <a:t>Mandatory for all postings </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GB" sz="1600" b="0" i="0" u="none" strike="noStrike" kern="1200" cap="none" spc="0" normalizeH="0" baseline="0" noProof="0" dirty="0">
                  <a:ln>
                    <a:noFill/>
                  </a:ln>
                  <a:solidFill>
                    <a:srgbClr val="122632"/>
                  </a:solidFill>
                  <a:effectLst/>
                  <a:uLnTx/>
                  <a:uFillTx/>
                  <a:latin typeface="Arial"/>
                  <a:ea typeface="ＭＳ Ｐゴシック" pitchFamily="80" charset="-128"/>
                  <a:cs typeface="+mn-cs"/>
                </a:rPr>
                <a:t>PC for Market, Factory, Global Function and Regions </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GB" sz="1600" b="0" i="0" u="none" strike="noStrike" kern="1200" cap="none" spc="0" normalizeH="0" baseline="0" noProof="0" dirty="0">
                  <a:ln>
                    <a:noFill/>
                  </a:ln>
                  <a:solidFill>
                    <a:srgbClr val="122632"/>
                  </a:solidFill>
                  <a:effectLst/>
                  <a:uLnTx/>
                  <a:uFillTx/>
                  <a:latin typeface="Arial"/>
                  <a:ea typeface="ＭＳ Ｐゴシック" pitchFamily="80" charset="-128"/>
                  <a:cs typeface="+mn-cs"/>
                </a:rPr>
                <a:t>Product Type and Brand not included in PC </a:t>
              </a:r>
              <a:r>
                <a:rPr kumimoji="0" lang="en-US" sz="1600" b="0" i="0" u="none" strike="noStrike" kern="1200" cap="none" spc="0" normalizeH="0" baseline="0" noProof="0" dirty="0">
                  <a:ln>
                    <a:noFill/>
                  </a:ln>
                  <a:solidFill>
                    <a:srgbClr val="122632"/>
                  </a:solidFill>
                  <a:effectLst/>
                  <a:uLnTx/>
                  <a:uFillTx/>
                  <a:latin typeface="Arial"/>
                  <a:ea typeface="ＭＳ Ｐゴシック" pitchFamily="80" charset="-128"/>
                  <a:cs typeface="+mn-cs"/>
                  <a:sym typeface="Wingdings" panose="05000000000000000000" pitchFamily="2" charset="2"/>
                </a:rPr>
                <a:t> will become </a:t>
              </a:r>
              <a:r>
                <a:rPr kumimoji="0" lang="en-GB" sz="1600" b="0" i="0" u="none" strike="noStrike" kern="1200" cap="none" spc="0" normalizeH="0" baseline="0" noProof="0" dirty="0">
                  <a:ln>
                    <a:noFill/>
                  </a:ln>
                  <a:solidFill>
                    <a:srgbClr val="122632"/>
                  </a:solidFill>
                  <a:effectLst/>
                  <a:uLnTx/>
                  <a:uFillTx/>
                  <a:latin typeface="Arial"/>
                  <a:ea typeface="ＭＳ Ｐゴシック" pitchFamily="80" charset="-128"/>
                  <a:cs typeface="+mn-cs"/>
                </a:rPr>
                <a:t>characteristics</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GB" sz="1600" b="0" i="0" u="none" strike="noStrike" kern="1200" cap="none" spc="0" normalizeH="0" baseline="0" noProof="0" dirty="0">
                  <a:ln>
                    <a:noFill/>
                  </a:ln>
                  <a:solidFill>
                    <a:srgbClr val="122632"/>
                  </a:solidFill>
                  <a:effectLst/>
                  <a:uLnTx/>
                  <a:uFillTx/>
                  <a:latin typeface="Arial"/>
                  <a:ea typeface="ＭＳ Ｐゴシック" pitchFamily="80" charset="-128"/>
                  <a:cs typeface="+mn-cs"/>
                </a:rPr>
                <a:t>New naming and numbering convention (alpha – numeric)</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GB" sz="1600" b="0" i="0" u="none" strike="noStrike" kern="1200" cap="none" spc="0" normalizeH="0" baseline="0" noProof="0" dirty="0">
                  <a:ln>
                    <a:noFill/>
                  </a:ln>
                  <a:solidFill>
                    <a:srgbClr val="122632"/>
                  </a:solidFill>
                  <a:effectLst/>
                  <a:uLnTx/>
                  <a:uFillTx/>
                  <a:latin typeface="Arial"/>
                  <a:ea typeface="ＭＳ Ｐゴシック" pitchFamily="80" charset="-128"/>
                  <a:cs typeface="+mn-cs"/>
                </a:rPr>
                <a:t>Main PC hierarchies included in S/4</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GB" sz="1600" b="0" i="0" u="none" strike="noStrike" kern="1200" cap="none" spc="0" normalizeH="0" baseline="0" noProof="0" dirty="0">
                  <a:ln>
                    <a:noFill/>
                  </a:ln>
                  <a:solidFill>
                    <a:srgbClr val="122632"/>
                  </a:solidFill>
                  <a:effectLst/>
                  <a:uLnTx/>
                  <a:uFillTx/>
                  <a:latin typeface="Arial"/>
                  <a:ea typeface="ＭＳ Ｐゴシック" pitchFamily="80" charset="-128"/>
                  <a:cs typeface="+mn-cs"/>
                </a:rPr>
                <a:t>PC/CC creation and maintenance procedure as part of R2R GRM</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GB" sz="1600" b="0" i="0" u="none" strike="noStrike" kern="1200" cap="none" spc="0" normalizeH="0" baseline="0" noProof="0" dirty="0">
                  <a:ln>
                    <a:noFill/>
                  </a:ln>
                  <a:solidFill>
                    <a:srgbClr val="122632"/>
                  </a:solidFill>
                  <a:effectLst/>
                  <a:uLnTx/>
                  <a:uFillTx/>
                  <a:latin typeface="Arial"/>
                  <a:ea typeface="ＭＳ Ｐゴシック" pitchFamily="80" charset="-128"/>
                  <a:cs typeface="+mn-cs"/>
                </a:rPr>
                <a:t>PC &amp; CC ownership: Corporate F&amp;A</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GB" sz="1600" b="0" i="0" u="none" strike="noStrike" kern="1200" cap="none" spc="0" normalizeH="0" baseline="0" noProof="0" dirty="0">
                  <a:ln>
                    <a:noFill/>
                  </a:ln>
                  <a:solidFill>
                    <a:srgbClr val="122632"/>
                  </a:solidFill>
                  <a:effectLst/>
                  <a:uLnTx/>
                  <a:uFillTx/>
                  <a:latin typeface="Arial"/>
                  <a:ea typeface="ＭＳ Ｐゴシック" pitchFamily="80" charset="-128"/>
                  <a:cs typeface="+mn-cs"/>
                </a:rPr>
                <a:t>CC approval: Market CFO / Function Finance Lead / Factory Controller, with notification sent to Entity CFO</a:t>
              </a:r>
            </a:p>
          </p:txBody>
        </p:sp>
        <p:sp>
          <p:nvSpPr>
            <p:cNvPr id="16" name="ZoneTexte 2">
              <a:extLst>
                <a:ext uri="{FF2B5EF4-FFF2-40B4-BE49-F238E27FC236}">
                  <a16:creationId xmlns:a16="http://schemas.microsoft.com/office/drawing/2014/main" id="{3A1A0E09-4A2F-4D9F-A1AA-728BEC114539}"/>
                </a:ext>
              </a:extLst>
            </p:cNvPr>
            <p:cNvSpPr txBox="1"/>
            <p:nvPr/>
          </p:nvSpPr>
          <p:spPr>
            <a:xfrm>
              <a:off x="4486781" y="1534103"/>
              <a:ext cx="7243351" cy="576400"/>
            </a:xfrm>
            <a:prstGeom prst="rect">
              <a:avLst/>
            </a:prstGeom>
            <a:solidFill>
              <a:srgbClr val="A7E6E4"/>
            </a:solidFill>
            <a:ln>
              <a:noFill/>
            </a:ln>
            <a:effectLst/>
          </p:spPr>
          <p:txBody>
            <a:bodyPr vert="horz" wrap="square" lIns="0" tIns="0" rIns="0" bIns="0" numCol="1" rtlCol="0" anchor="ctr" anchorCtr="1" compatLnSpc="1">
              <a:prstTxWarp prst="textNoShape">
                <a:avLst/>
              </a:prstTxWarp>
            </a:bodyPr>
            <a:lstStyle>
              <a:defPPr>
                <a:defRPr lang="en-US"/>
              </a:defPPr>
              <a:lvl1pPr marL="0" marR="0" lvl="0" indent="0" defTabSz="914400" eaLnBrk="1" latinLnBrk="0" hangingPunct="1">
                <a:lnSpc>
                  <a:spcPct val="100000"/>
                </a:lnSpc>
                <a:spcBef>
                  <a:spcPct val="20000"/>
                </a:spcBef>
                <a:buClrTx/>
                <a:buSzTx/>
                <a:buFontTx/>
                <a:buNone/>
                <a:tabLst/>
                <a:defRPr kumimoji="0" sz="2000" b="1" i="0" u="none" strike="noStrike" cap="none" spc="0" normalizeH="0" baseline="0">
                  <a:ln>
                    <a:noFill/>
                  </a:ln>
                  <a:solidFill>
                    <a:schemeClr val="tx1">
                      <a:lumMod val="75000"/>
                      <a:lumOff val="25000"/>
                    </a:schemeClr>
                  </a:solidFill>
                  <a:effectLst/>
                  <a:uLnTx/>
                  <a:uFillTx/>
                  <a:latin typeface="Arial" charset="0"/>
                  <a:ea typeface="Arial" charset="0"/>
                  <a:cs typeface="Arial" charset="0"/>
                </a:defRPr>
              </a:lvl1pPr>
              <a:lvl2pPr>
                <a:defRPr>
                  <a:solidFill>
                    <a:schemeClr val="bg1"/>
                  </a:solidFill>
                  <a:latin typeface="Arial" pitchFamily="34" charset="0"/>
                  <a:ea typeface="ＭＳ Ｐゴシック" pitchFamily="80" charset="-128"/>
                </a:defRPr>
              </a:lvl2pPr>
              <a:lvl3pPr>
                <a:defRPr>
                  <a:solidFill>
                    <a:schemeClr val="bg1"/>
                  </a:solidFill>
                  <a:latin typeface="Arial" pitchFamily="34" charset="0"/>
                  <a:ea typeface="ＭＳ Ｐゴシック" pitchFamily="80" charset="-128"/>
                </a:defRPr>
              </a:lvl3pPr>
              <a:lvl4pPr>
                <a:defRPr>
                  <a:solidFill>
                    <a:schemeClr val="bg1"/>
                  </a:solidFill>
                  <a:latin typeface="Arial" pitchFamily="34" charset="0"/>
                  <a:ea typeface="ＭＳ Ｐゴシック" pitchFamily="80" charset="-128"/>
                </a:defRPr>
              </a:lvl4pPr>
              <a:lvl5pPr>
                <a:defRPr>
                  <a:solidFill>
                    <a:schemeClr val="bg1"/>
                  </a:solidFill>
                  <a:latin typeface="Arial" pitchFamily="34" charset="0"/>
                  <a:ea typeface="ＭＳ Ｐゴシック" pitchFamily="80" charset="-128"/>
                </a:defRPr>
              </a:lvl5pPr>
              <a:lvl6pPr>
                <a:defRPr>
                  <a:solidFill>
                    <a:schemeClr val="bg1"/>
                  </a:solidFill>
                  <a:latin typeface="Arial" pitchFamily="34" charset="0"/>
                  <a:ea typeface="ＭＳ Ｐゴシック" pitchFamily="80" charset="-128"/>
                </a:defRPr>
              </a:lvl6pPr>
              <a:lvl7pPr>
                <a:defRPr>
                  <a:solidFill>
                    <a:schemeClr val="bg1"/>
                  </a:solidFill>
                  <a:latin typeface="Arial" pitchFamily="34" charset="0"/>
                  <a:ea typeface="ＭＳ Ｐゴシック" pitchFamily="80" charset="-128"/>
                </a:defRPr>
              </a:lvl7pPr>
              <a:lvl8pPr>
                <a:defRPr>
                  <a:solidFill>
                    <a:schemeClr val="bg1"/>
                  </a:solidFill>
                  <a:latin typeface="Arial" pitchFamily="34" charset="0"/>
                  <a:ea typeface="ＭＳ Ｐゴシック" pitchFamily="80" charset="-128"/>
                </a:defRPr>
              </a:lvl8pPr>
              <a:lvl9pPr>
                <a:defRPr>
                  <a:solidFill>
                    <a:schemeClr val="bg1"/>
                  </a:solidFill>
                  <a:latin typeface="Arial" pitchFamily="34" charset="0"/>
                  <a:ea typeface="ＭＳ Ｐゴシック" pitchFamily="80"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fr-FR" sz="1400" b="1" i="0" u="none" strike="noStrike" kern="1200" cap="none" spc="0" normalizeH="0" baseline="0" noProof="0">
                  <a:ln>
                    <a:noFill/>
                  </a:ln>
                  <a:solidFill>
                    <a:srgbClr val="000000">
                      <a:lumMod val="75000"/>
                      <a:lumOff val="25000"/>
                    </a:srgbClr>
                  </a:solidFill>
                  <a:effectLst/>
                  <a:uLnTx/>
                  <a:uFillTx/>
                  <a:latin typeface="Arial" charset="0"/>
                  <a:cs typeface="Arial" charset="0"/>
                </a:rPr>
                <a:t>Key Changes</a:t>
              </a:r>
            </a:p>
          </p:txBody>
        </p:sp>
        <p:grpSp>
          <p:nvGrpSpPr>
            <p:cNvPr id="18" name="Group 17">
              <a:extLst>
                <a:ext uri="{FF2B5EF4-FFF2-40B4-BE49-F238E27FC236}">
                  <a16:creationId xmlns:a16="http://schemas.microsoft.com/office/drawing/2014/main" id="{10089B40-23C0-4ABC-B04B-97EB8D4B6CD6}"/>
                </a:ext>
              </a:extLst>
            </p:cNvPr>
            <p:cNvGrpSpPr/>
            <p:nvPr/>
          </p:nvGrpSpPr>
          <p:grpSpPr>
            <a:xfrm>
              <a:off x="515938" y="2187848"/>
              <a:ext cx="3741803" cy="3665276"/>
              <a:chOff x="515938" y="2187848"/>
              <a:chExt cx="3741803" cy="3665276"/>
            </a:xfrm>
          </p:grpSpPr>
          <p:sp>
            <p:nvSpPr>
              <p:cNvPr id="19" name="ZoneTexte 2">
                <a:extLst>
                  <a:ext uri="{FF2B5EF4-FFF2-40B4-BE49-F238E27FC236}">
                    <a16:creationId xmlns:a16="http://schemas.microsoft.com/office/drawing/2014/main" id="{1A3FBCB2-56DB-488F-B0EC-9EC873EA009B}"/>
                  </a:ext>
                </a:extLst>
              </p:cNvPr>
              <p:cNvSpPr txBox="1"/>
              <p:nvPr/>
            </p:nvSpPr>
            <p:spPr>
              <a:xfrm>
                <a:off x="515938" y="2187848"/>
                <a:ext cx="3741803" cy="3665276"/>
              </a:xfrm>
              <a:prstGeom prst="rect">
                <a:avLst/>
              </a:prstGeom>
              <a:solidFill>
                <a:schemeClr val="bg1">
                  <a:lumMod val="95000"/>
                </a:schemeClr>
              </a:soli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defPPr>
                  <a:defRPr lang="en-US"/>
                </a:defPPr>
                <a:lvl1pPr algn="ctr">
                  <a:defRPr>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799" b="1" i="0" u="none" strike="noStrike" kern="1200" cap="none" spc="0" normalizeH="0" baseline="0" noProof="0">
                  <a:ln>
                    <a:noFill/>
                  </a:ln>
                  <a:solidFill>
                    <a:srgbClr val="122632"/>
                  </a:solidFill>
                  <a:effectLst/>
                  <a:uLnTx/>
                  <a:uFillTx/>
                  <a:latin typeface="Arial"/>
                  <a:ea typeface="+mn-ea"/>
                  <a:cs typeface="+mn-cs"/>
                </a:endParaRPr>
              </a:p>
            </p:txBody>
          </p:sp>
          <p:sp>
            <p:nvSpPr>
              <p:cNvPr id="20" name="Triangle isocèle 4">
                <a:extLst>
                  <a:ext uri="{FF2B5EF4-FFF2-40B4-BE49-F238E27FC236}">
                    <a16:creationId xmlns:a16="http://schemas.microsoft.com/office/drawing/2014/main" id="{C506AB75-060F-45D1-89F7-3F8696FA190A}"/>
                  </a:ext>
                </a:extLst>
              </p:cNvPr>
              <p:cNvSpPr/>
              <p:nvPr/>
            </p:nvSpPr>
            <p:spPr>
              <a:xfrm>
                <a:off x="623042" y="2709495"/>
                <a:ext cx="3458296" cy="2538599"/>
              </a:xfrm>
              <a:prstGeom prst="triangle">
                <a:avLst>
                  <a:gd name="adj" fmla="val 50568"/>
                </a:avLst>
              </a:prstGeom>
              <a:solidFill>
                <a:srgbClr val="ABD9CE"/>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sp>
            <p:nvSpPr>
              <p:cNvPr id="21" name="ZoneTexte 12">
                <a:extLst>
                  <a:ext uri="{FF2B5EF4-FFF2-40B4-BE49-F238E27FC236}">
                    <a16:creationId xmlns:a16="http://schemas.microsoft.com/office/drawing/2014/main" id="{81C93761-CA32-4D56-B9D4-95FE15E2D37D}"/>
                  </a:ext>
                </a:extLst>
              </p:cNvPr>
              <p:cNvSpPr txBox="1"/>
              <p:nvPr/>
            </p:nvSpPr>
            <p:spPr>
              <a:xfrm>
                <a:off x="1070192" y="2914195"/>
                <a:ext cx="857724" cy="461545"/>
              </a:xfrm>
              <a:prstGeom prst="rect">
                <a:avLst/>
              </a:prstGeom>
              <a:noFill/>
              <a:ln>
                <a:noFill/>
              </a:ln>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22632"/>
                    </a:solidFill>
                    <a:effectLst/>
                    <a:uLnTx/>
                    <a:uFillTx/>
                    <a:latin typeface="Arial"/>
                    <a:ea typeface="ＭＳ Ｐゴシック" pitchFamily="80" charset="-128"/>
                    <a:cs typeface="+mn-cs"/>
                  </a:rPr>
                  <a:t>Profit Centers</a:t>
                </a:r>
              </a:p>
            </p:txBody>
          </p:sp>
          <p:sp>
            <p:nvSpPr>
              <p:cNvPr id="22" name="ZoneTexte 26">
                <a:extLst>
                  <a:ext uri="{FF2B5EF4-FFF2-40B4-BE49-F238E27FC236}">
                    <a16:creationId xmlns:a16="http://schemas.microsoft.com/office/drawing/2014/main" id="{54AF8426-4B91-4B8B-8E61-19E695A413E9}"/>
                  </a:ext>
                </a:extLst>
              </p:cNvPr>
              <p:cNvSpPr txBox="1"/>
              <p:nvPr/>
            </p:nvSpPr>
            <p:spPr>
              <a:xfrm flipV="1">
                <a:off x="1919903" y="3807142"/>
                <a:ext cx="343090" cy="225872"/>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8F9195"/>
                  </a:solidFill>
                  <a:effectLst/>
                  <a:uLnTx/>
                  <a:uFillTx/>
                  <a:latin typeface="Georgia"/>
                  <a:ea typeface="ＭＳ Ｐゴシック" pitchFamily="80" charset="-128"/>
                  <a:cs typeface="+mn-cs"/>
                </a:endParaRPr>
              </a:p>
            </p:txBody>
          </p:sp>
          <p:sp>
            <p:nvSpPr>
              <p:cNvPr id="23" name="ZoneTexte 35">
                <a:extLst>
                  <a:ext uri="{FF2B5EF4-FFF2-40B4-BE49-F238E27FC236}">
                    <a16:creationId xmlns:a16="http://schemas.microsoft.com/office/drawing/2014/main" id="{0D4F1C89-FD26-4F39-B8AE-B2BD608A03C8}"/>
                  </a:ext>
                </a:extLst>
              </p:cNvPr>
              <p:cNvSpPr txBox="1"/>
              <p:nvPr/>
            </p:nvSpPr>
            <p:spPr>
              <a:xfrm>
                <a:off x="2412299" y="3804378"/>
                <a:ext cx="343090" cy="229816"/>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122632"/>
                  </a:solidFill>
                  <a:effectLst/>
                  <a:uLnTx/>
                  <a:uFillTx/>
                  <a:latin typeface="Georgia"/>
                  <a:ea typeface="ＭＳ Ｐゴシック" pitchFamily="80" charset="-128"/>
                  <a:cs typeface="+mn-cs"/>
                </a:endParaRPr>
              </a:p>
            </p:txBody>
          </p:sp>
          <p:sp>
            <p:nvSpPr>
              <p:cNvPr id="24" name="ZoneTexte 36">
                <a:extLst>
                  <a:ext uri="{FF2B5EF4-FFF2-40B4-BE49-F238E27FC236}">
                    <a16:creationId xmlns:a16="http://schemas.microsoft.com/office/drawing/2014/main" id="{C0D2FBAE-C377-4CB3-81D0-94F39EA3A32E}"/>
                  </a:ext>
                </a:extLst>
              </p:cNvPr>
              <p:cNvSpPr txBox="1"/>
              <p:nvPr/>
            </p:nvSpPr>
            <p:spPr>
              <a:xfrm>
                <a:off x="1343520" y="4524236"/>
                <a:ext cx="270454" cy="158355"/>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8F9195"/>
                  </a:solidFill>
                  <a:effectLst/>
                  <a:uLnTx/>
                  <a:uFillTx/>
                  <a:latin typeface="Georgia"/>
                  <a:ea typeface="ＭＳ Ｐゴシック" pitchFamily="80" charset="-128"/>
                  <a:cs typeface="+mn-cs"/>
                </a:endParaRPr>
              </a:p>
            </p:txBody>
          </p:sp>
          <p:sp>
            <p:nvSpPr>
              <p:cNvPr id="25" name="ZoneTexte 42">
                <a:extLst>
                  <a:ext uri="{FF2B5EF4-FFF2-40B4-BE49-F238E27FC236}">
                    <a16:creationId xmlns:a16="http://schemas.microsoft.com/office/drawing/2014/main" id="{D3A07B8E-3C54-4802-A35D-EFEAB2B03F50}"/>
                  </a:ext>
                </a:extLst>
              </p:cNvPr>
              <p:cNvSpPr txBox="1"/>
              <p:nvPr/>
            </p:nvSpPr>
            <p:spPr>
              <a:xfrm>
                <a:off x="1694138" y="4524236"/>
                <a:ext cx="270454" cy="158355"/>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8F9195"/>
                  </a:solidFill>
                  <a:effectLst/>
                  <a:uLnTx/>
                  <a:uFillTx/>
                  <a:latin typeface="Georgia"/>
                  <a:ea typeface="ＭＳ Ｐゴシック" pitchFamily="80" charset="-128"/>
                  <a:cs typeface="+mn-cs"/>
                </a:endParaRPr>
              </a:p>
            </p:txBody>
          </p:sp>
          <p:sp>
            <p:nvSpPr>
              <p:cNvPr id="26" name="ZoneTexte 43">
                <a:extLst>
                  <a:ext uri="{FF2B5EF4-FFF2-40B4-BE49-F238E27FC236}">
                    <a16:creationId xmlns:a16="http://schemas.microsoft.com/office/drawing/2014/main" id="{07DEB69A-5D85-463A-847C-C9AC67B2EBBB}"/>
                  </a:ext>
                </a:extLst>
              </p:cNvPr>
              <p:cNvSpPr txBox="1"/>
              <p:nvPr/>
            </p:nvSpPr>
            <p:spPr>
              <a:xfrm>
                <a:off x="2036407" y="4524236"/>
                <a:ext cx="270454" cy="158355"/>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8F9195"/>
                  </a:solidFill>
                  <a:effectLst/>
                  <a:uLnTx/>
                  <a:uFillTx/>
                  <a:latin typeface="Georgia"/>
                  <a:ea typeface="ＭＳ Ｐゴシック" pitchFamily="80" charset="-128"/>
                  <a:cs typeface="+mn-cs"/>
                </a:endParaRPr>
              </a:p>
            </p:txBody>
          </p:sp>
          <p:sp>
            <p:nvSpPr>
              <p:cNvPr id="27" name="ZoneTexte 44">
                <a:extLst>
                  <a:ext uri="{FF2B5EF4-FFF2-40B4-BE49-F238E27FC236}">
                    <a16:creationId xmlns:a16="http://schemas.microsoft.com/office/drawing/2014/main" id="{8C47A01C-4258-4F59-84E1-13DF6967075F}"/>
                  </a:ext>
                </a:extLst>
              </p:cNvPr>
              <p:cNvSpPr txBox="1"/>
              <p:nvPr/>
            </p:nvSpPr>
            <p:spPr>
              <a:xfrm>
                <a:off x="2397516" y="4524236"/>
                <a:ext cx="270454" cy="158355"/>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8F9195"/>
                  </a:solidFill>
                  <a:effectLst/>
                  <a:uLnTx/>
                  <a:uFillTx/>
                  <a:latin typeface="Georgia"/>
                  <a:ea typeface="ＭＳ Ｐゴシック" pitchFamily="80" charset="-128"/>
                  <a:cs typeface="+mn-cs"/>
                </a:endParaRPr>
              </a:p>
            </p:txBody>
          </p:sp>
          <p:sp>
            <p:nvSpPr>
              <p:cNvPr id="28" name="ZoneTexte 45">
                <a:extLst>
                  <a:ext uri="{FF2B5EF4-FFF2-40B4-BE49-F238E27FC236}">
                    <a16:creationId xmlns:a16="http://schemas.microsoft.com/office/drawing/2014/main" id="{55F1759A-160B-4AF4-BD38-60AFDB00044F}"/>
                  </a:ext>
                </a:extLst>
              </p:cNvPr>
              <p:cNvSpPr txBox="1"/>
              <p:nvPr/>
            </p:nvSpPr>
            <p:spPr>
              <a:xfrm>
                <a:off x="2748135" y="4524236"/>
                <a:ext cx="270454" cy="158355"/>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8F9195"/>
                  </a:solidFill>
                  <a:effectLst/>
                  <a:uLnTx/>
                  <a:uFillTx/>
                  <a:latin typeface="Georgia"/>
                  <a:ea typeface="ＭＳ Ｐゴシック" pitchFamily="80" charset="-128"/>
                  <a:cs typeface="+mn-cs"/>
                </a:endParaRPr>
              </a:p>
            </p:txBody>
          </p:sp>
          <p:sp>
            <p:nvSpPr>
              <p:cNvPr id="29" name="ZoneTexte 46">
                <a:extLst>
                  <a:ext uri="{FF2B5EF4-FFF2-40B4-BE49-F238E27FC236}">
                    <a16:creationId xmlns:a16="http://schemas.microsoft.com/office/drawing/2014/main" id="{59A2C3AB-AE78-4594-95A7-74D8920E93DB}"/>
                  </a:ext>
                </a:extLst>
              </p:cNvPr>
              <p:cNvSpPr txBox="1"/>
              <p:nvPr/>
            </p:nvSpPr>
            <p:spPr>
              <a:xfrm>
                <a:off x="3090405" y="4524236"/>
                <a:ext cx="270454" cy="158355"/>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8F9195"/>
                  </a:solidFill>
                  <a:effectLst/>
                  <a:uLnTx/>
                  <a:uFillTx/>
                  <a:latin typeface="Georgia"/>
                  <a:ea typeface="ＭＳ Ｐゴシック" pitchFamily="80" charset="-128"/>
                  <a:cs typeface="+mn-cs"/>
                </a:endParaRPr>
              </a:p>
            </p:txBody>
          </p:sp>
          <p:cxnSp>
            <p:nvCxnSpPr>
              <p:cNvPr id="30" name="Straight Connector 29">
                <a:extLst>
                  <a:ext uri="{FF2B5EF4-FFF2-40B4-BE49-F238E27FC236}">
                    <a16:creationId xmlns:a16="http://schemas.microsoft.com/office/drawing/2014/main" id="{6634138D-A9D3-4A96-9DF0-1ACBC7EDA83C}"/>
                  </a:ext>
                </a:extLst>
              </p:cNvPr>
              <p:cNvCxnSpPr/>
              <p:nvPr/>
            </p:nvCxnSpPr>
            <p:spPr>
              <a:xfrm>
                <a:off x="2092097" y="3587610"/>
                <a:ext cx="491098"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60D0354-8FE1-4C62-B51B-DED9A37C1DD2}"/>
                  </a:ext>
                </a:extLst>
              </p:cNvPr>
              <p:cNvCxnSpPr/>
              <p:nvPr/>
            </p:nvCxnSpPr>
            <p:spPr>
              <a:xfrm flipV="1">
                <a:off x="2379638" y="3368082"/>
                <a:ext cx="0" cy="219529"/>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C5F96D6-4D06-4DB0-8D4B-787B811780CE}"/>
                  </a:ext>
                </a:extLst>
              </p:cNvPr>
              <p:cNvCxnSpPr>
                <a:endCxn id="35" idx="0"/>
              </p:cNvCxnSpPr>
              <p:nvPr/>
            </p:nvCxnSpPr>
            <p:spPr>
              <a:xfrm>
                <a:off x="2091448" y="3587611"/>
                <a:ext cx="650" cy="216766"/>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561FD7E-4522-4232-9C17-CA2F9243495C}"/>
                  </a:ext>
                </a:extLst>
              </p:cNvPr>
              <p:cNvCxnSpPr/>
              <p:nvPr/>
            </p:nvCxnSpPr>
            <p:spPr>
              <a:xfrm>
                <a:off x="2590458" y="4034986"/>
                <a:ext cx="0" cy="15940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B6C6082-0F36-4734-88F8-769625C96BBC}"/>
                  </a:ext>
                </a:extLst>
              </p:cNvPr>
              <p:cNvCxnSpPr>
                <a:endCxn id="23" idx="0"/>
              </p:cNvCxnSpPr>
              <p:nvPr/>
            </p:nvCxnSpPr>
            <p:spPr>
              <a:xfrm>
                <a:off x="2583195" y="3587611"/>
                <a:ext cx="650" cy="216766"/>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DC12DBC0-A865-4FDC-BD37-01A8DA535BB4}"/>
                  </a:ext>
                </a:extLst>
              </p:cNvPr>
              <p:cNvSpPr/>
              <p:nvPr/>
            </p:nvSpPr>
            <p:spPr>
              <a:xfrm>
                <a:off x="1921200" y="3804377"/>
                <a:ext cx="341791" cy="230608"/>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sp>
            <p:nvSpPr>
              <p:cNvPr id="36" name="Rectangle 35">
                <a:extLst>
                  <a:ext uri="{FF2B5EF4-FFF2-40B4-BE49-F238E27FC236}">
                    <a16:creationId xmlns:a16="http://schemas.microsoft.com/office/drawing/2014/main" id="{4AD16F16-4C06-434D-B900-F377B02EB42C}"/>
                  </a:ext>
                </a:extLst>
              </p:cNvPr>
              <p:cNvSpPr/>
              <p:nvPr/>
            </p:nvSpPr>
            <p:spPr>
              <a:xfrm>
                <a:off x="2412298" y="3803585"/>
                <a:ext cx="341791" cy="230608"/>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sp>
            <p:nvSpPr>
              <p:cNvPr id="37" name="Rectangle 36">
                <a:extLst>
                  <a:ext uri="{FF2B5EF4-FFF2-40B4-BE49-F238E27FC236}">
                    <a16:creationId xmlns:a16="http://schemas.microsoft.com/office/drawing/2014/main" id="{F66BBC38-FD68-485B-AEB6-5CC61F61F1FF}"/>
                  </a:ext>
                </a:extLst>
              </p:cNvPr>
              <p:cNvSpPr/>
              <p:nvPr/>
            </p:nvSpPr>
            <p:spPr>
              <a:xfrm>
                <a:off x="1343520" y="4525979"/>
                <a:ext cx="260684" cy="154873"/>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sp>
            <p:nvSpPr>
              <p:cNvPr id="38" name="Rectangle 37">
                <a:extLst>
                  <a:ext uri="{FF2B5EF4-FFF2-40B4-BE49-F238E27FC236}">
                    <a16:creationId xmlns:a16="http://schemas.microsoft.com/office/drawing/2014/main" id="{3647C086-07FD-4BE2-8976-AC89ED0004CA}"/>
                  </a:ext>
                </a:extLst>
              </p:cNvPr>
              <p:cNvSpPr/>
              <p:nvPr/>
            </p:nvSpPr>
            <p:spPr>
              <a:xfrm>
                <a:off x="1699023" y="4525979"/>
                <a:ext cx="260684" cy="154873"/>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sp>
            <p:nvSpPr>
              <p:cNvPr id="39" name="Rectangle 38">
                <a:extLst>
                  <a:ext uri="{FF2B5EF4-FFF2-40B4-BE49-F238E27FC236}">
                    <a16:creationId xmlns:a16="http://schemas.microsoft.com/office/drawing/2014/main" id="{1FAE6606-F22B-4140-9813-75A7CDEC44F8}"/>
                  </a:ext>
                </a:extLst>
              </p:cNvPr>
              <p:cNvSpPr/>
              <p:nvPr/>
            </p:nvSpPr>
            <p:spPr>
              <a:xfrm>
                <a:off x="2036407" y="4525979"/>
                <a:ext cx="260684" cy="154873"/>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sp>
            <p:nvSpPr>
              <p:cNvPr id="40" name="Rectangle 39">
                <a:extLst>
                  <a:ext uri="{FF2B5EF4-FFF2-40B4-BE49-F238E27FC236}">
                    <a16:creationId xmlns:a16="http://schemas.microsoft.com/office/drawing/2014/main" id="{46CD7944-986D-4778-BBFF-6EF18FBDB732}"/>
                  </a:ext>
                </a:extLst>
              </p:cNvPr>
              <p:cNvSpPr/>
              <p:nvPr/>
            </p:nvSpPr>
            <p:spPr>
              <a:xfrm>
                <a:off x="2407286" y="4525979"/>
                <a:ext cx="260684" cy="154873"/>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sp>
            <p:nvSpPr>
              <p:cNvPr id="41" name="Rectangle 40">
                <a:extLst>
                  <a:ext uri="{FF2B5EF4-FFF2-40B4-BE49-F238E27FC236}">
                    <a16:creationId xmlns:a16="http://schemas.microsoft.com/office/drawing/2014/main" id="{D537F1FE-0635-4AC3-A9B4-D11A11855FE3}"/>
                  </a:ext>
                </a:extLst>
              </p:cNvPr>
              <p:cNvSpPr/>
              <p:nvPr/>
            </p:nvSpPr>
            <p:spPr>
              <a:xfrm>
                <a:off x="2744791" y="4525979"/>
                <a:ext cx="260684" cy="154873"/>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sp>
            <p:nvSpPr>
              <p:cNvPr id="42" name="Rectangle 41">
                <a:extLst>
                  <a:ext uri="{FF2B5EF4-FFF2-40B4-BE49-F238E27FC236}">
                    <a16:creationId xmlns:a16="http://schemas.microsoft.com/office/drawing/2014/main" id="{18F29D4B-CE72-4EBD-87B0-B19DE2AC3AE5}"/>
                  </a:ext>
                </a:extLst>
              </p:cNvPr>
              <p:cNvSpPr/>
              <p:nvPr/>
            </p:nvSpPr>
            <p:spPr>
              <a:xfrm>
                <a:off x="3095290" y="4525979"/>
                <a:ext cx="260684" cy="154873"/>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cxnSp>
            <p:nvCxnSpPr>
              <p:cNvPr id="43" name="Straight Connector 19">
                <a:extLst>
                  <a:ext uri="{FF2B5EF4-FFF2-40B4-BE49-F238E27FC236}">
                    <a16:creationId xmlns:a16="http://schemas.microsoft.com/office/drawing/2014/main" id="{8D1355CD-F25E-4264-BC77-C8B454EA39A0}"/>
                  </a:ext>
                </a:extLst>
              </p:cNvPr>
              <p:cNvCxnSpPr/>
              <p:nvPr/>
            </p:nvCxnSpPr>
            <p:spPr>
              <a:xfrm>
                <a:off x="2092096" y="4034986"/>
                <a:ext cx="0" cy="15940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9">
                <a:extLst>
                  <a:ext uri="{FF2B5EF4-FFF2-40B4-BE49-F238E27FC236}">
                    <a16:creationId xmlns:a16="http://schemas.microsoft.com/office/drawing/2014/main" id="{4156A7EA-4B4E-4A27-8319-942C0140EFCD}"/>
                  </a:ext>
                </a:extLst>
              </p:cNvPr>
              <p:cNvCxnSpPr/>
              <p:nvPr/>
            </p:nvCxnSpPr>
            <p:spPr>
              <a:xfrm>
                <a:off x="1549711" y="4194387"/>
                <a:ext cx="983033"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9">
                <a:extLst>
                  <a:ext uri="{FF2B5EF4-FFF2-40B4-BE49-F238E27FC236}">
                    <a16:creationId xmlns:a16="http://schemas.microsoft.com/office/drawing/2014/main" id="{7330ACFC-004E-44BC-860A-D8DAC23E3E9D}"/>
                  </a:ext>
                </a:extLst>
              </p:cNvPr>
              <p:cNvCxnSpPr/>
              <p:nvPr/>
            </p:nvCxnSpPr>
            <p:spPr>
              <a:xfrm>
                <a:off x="2595064" y="4194387"/>
                <a:ext cx="500227"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16">
                <a:extLst>
                  <a:ext uri="{FF2B5EF4-FFF2-40B4-BE49-F238E27FC236}">
                    <a16:creationId xmlns:a16="http://schemas.microsoft.com/office/drawing/2014/main" id="{F6008FA5-2DC9-4D19-8A89-E2998ECDDBBC}"/>
                  </a:ext>
                </a:extLst>
              </p:cNvPr>
              <p:cNvCxnSpPr>
                <a:endCxn id="37" idx="0"/>
              </p:cNvCxnSpPr>
              <p:nvPr/>
            </p:nvCxnSpPr>
            <p:spPr>
              <a:xfrm flipH="1">
                <a:off x="1473864" y="4194387"/>
                <a:ext cx="75849" cy="33159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16">
                <a:extLst>
                  <a:ext uri="{FF2B5EF4-FFF2-40B4-BE49-F238E27FC236}">
                    <a16:creationId xmlns:a16="http://schemas.microsoft.com/office/drawing/2014/main" id="{9F6226C6-AD54-49CA-9DAB-50897CFA39E8}"/>
                  </a:ext>
                </a:extLst>
              </p:cNvPr>
              <p:cNvCxnSpPr>
                <a:endCxn id="42" idx="0"/>
              </p:cNvCxnSpPr>
              <p:nvPr/>
            </p:nvCxnSpPr>
            <p:spPr>
              <a:xfrm>
                <a:off x="3095290" y="4194387"/>
                <a:ext cx="130342" cy="33159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16">
                <a:extLst>
                  <a:ext uri="{FF2B5EF4-FFF2-40B4-BE49-F238E27FC236}">
                    <a16:creationId xmlns:a16="http://schemas.microsoft.com/office/drawing/2014/main" id="{32946A5D-C19A-4123-8C69-676A773901C8}"/>
                  </a:ext>
                </a:extLst>
              </p:cNvPr>
              <p:cNvCxnSpPr>
                <a:endCxn id="41" idx="0"/>
              </p:cNvCxnSpPr>
              <p:nvPr/>
            </p:nvCxnSpPr>
            <p:spPr>
              <a:xfrm>
                <a:off x="2872566" y="4194387"/>
                <a:ext cx="2568" cy="33159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16">
                <a:extLst>
                  <a:ext uri="{FF2B5EF4-FFF2-40B4-BE49-F238E27FC236}">
                    <a16:creationId xmlns:a16="http://schemas.microsoft.com/office/drawing/2014/main" id="{52C7D7E2-7430-4590-90D4-7F0A2EEC4FFF}"/>
                  </a:ext>
                </a:extLst>
              </p:cNvPr>
              <p:cNvCxnSpPr/>
              <p:nvPr/>
            </p:nvCxnSpPr>
            <p:spPr>
              <a:xfrm>
                <a:off x="2531460" y="4204171"/>
                <a:ext cx="2568" cy="33159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16">
                <a:extLst>
                  <a:ext uri="{FF2B5EF4-FFF2-40B4-BE49-F238E27FC236}">
                    <a16:creationId xmlns:a16="http://schemas.microsoft.com/office/drawing/2014/main" id="{D4BDB507-CB9C-4EB3-8C48-3E7B0CE6B118}"/>
                  </a:ext>
                </a:extLst>
              </p:cNvPr>
              <p:cNvCxnSpPr/>
              <p:nvPr/>
            </p:nvCxnSpPr>
            <p:spPr>
              <a:xfrm>
                <a:off x="1826798" y="4194387"/>
                <a:ext cx="2568" cy="33159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16">
                <a:extLst>
                  <a:ext uri="{FF2B5EF4-FFF2-40B4-BE49-F238E27FC236}">
                    <a16:creationId xmlns:a16="http://schemas.microsoft.com/office/drawing/2014/main" id="{78BBA9CC-3893-4CE8-9A61-1F6EC3225F18}"/>
                  </a:ext>
                </a:extLst>
              </p:cNvPr>
              <p:cNvCxnSpPr/>
              <p:nvPr/>
            </p:nvCxnSpPr>
            <p:spPr>
              <a:xfrm>
                <a:off x="2159200" y="4204171"/>
                <a:ext cx="2568" cy="33159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2" name="ZoneTexte 47">
                <a:extLst>
                  <a:ext uri="{FF2B5EF4-FFF2-40B4-BE49-F238E27FC236}">
                    <a16:creationId xmlns:a16="http://schemas.microsoft.com/office/drawing/2014/main" id="{D8CD9068-F3B3-40D3-8072-142C7F668A32}"/>
                  </a:ext>
                </a:extLst>
              </p:cNvPr>
              <p:cNvSpPr txBox="1"/>
              <p:nvPr/>
            </p:nvSpPr>
            <p:spPr>
              <a:xfrm>
                <a:off x="515938" y="3816163"/>
                <a:ext cx="835173" cy="461665"/>
              </a:xfrm>
              <a:prstGeom prst="rect">
                <a:avLst/>
              </a:prstGeom>
              <a:noFill/>
              <a:ln>
                <a:noFill/>
              </a:ln>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22632"/>
                    </a:solidFill>
                    <a:effectLst/>
                    <a:uLnTx/>
                    <a:uFillTx/>
                    <a:latin typeface="Arial"/>
                    <a:ea typeface="ＭＳ Ｐゴシック" pitchFamily="80" charset="-128"/>
                    <a:cs typeface="+mn-cs"/>
                  </a:rPr>
                  <a:t>Cost</a:t>
                </a:r>
                <a:br>
                  <a:rPr kumimoji="0" lang="fr-FR" sz="1100" b="0" i="0" u="none" strike="noStrike" kern="1200" cap="none" spc="0" normalizeH="0" baseline="0" noProof="0">
                    <a:ln>
                      <a:noFill/>
                    </a:ln>
                    <a:solidFill>
                      <a:srgbClr val="122632"/>
                    </a:solidFill>
                    <a:effectLst/>
                    <a:uLnTx/>
                    <a:uFillTx/>
                    <a:latin typeface="Arial"/>
                    <a:ea typeface="ＭＳ Ｐゴシック" pitchFamily="80" charset="-128"/>
                    <a:cs typeface="+mn-cs"/>
                  </a:rPr>
                </a:br>
                <a:r>
                  <a:rPr kumimoji="0" lang="fr-FR" sz="1200" b="0" i="0" u="none" strike="noStrike" kern="1200" cap="none" spc="0" normalizeH="0" baseline="0" noProof="0">
                    <a:ln>
                      <a:noFill/>
                    </a:ln>
                    <a:solidFill>
                      <a:srgbClr val="122632"/>
                    </a:solidFill>
                    <a:effectLst/>
                    <a:uLnTx/>
                    <a:uFillTx/>
                    <a:latin typeface="Arial"/>
                    <a:ea typeface="ＭＳ Ｐゴシック" pitchFamily="80" charset="-128"/>
                    <a:cs typeface="+mn-cs"/>
                  </a:rPr>
                  <a:t>Centers </a:t>
                </a:r>
                <a:r>
                  <a:rPr kumimoji="0" lang="fr-FR" sz="1100" b="0" i="0" u="none" strike="noStrike" kern="1200" cap="none" spc="0" normalizeH="0" baseline="0" noProof="0">
                    <a:ln>
                      <a:noFill/>
                    </a:ln>
                    <a:solidFill>
                      <a:srgbClr val="122632"/>
                    </a:solidFill>
                    <a:effectLst/>
                    <a:uLnTx/>
                    <a:uFillTx/>
                    <a:latin typeface="Arial"/>
                    <a:ea typeface="ＭＳ Ｐゴシック" pitchFamily="80" charset="-128"/>
                    <a:cs typeface="+mn-cs"/>
                  </a:rPr>
                  <a:t>  </a:t>
                </a:r>
              </a:p>
            </p:txBody>
          </p:sp>
          <p:sp>
            <p:nvSpPr>
              <p:cNvPr id="53" name="Freeform 66">
                <a:extLst>
                  <a:ext uri="{FF2B5EF4-FFF2-40B4-BE49-F238E27FC236}">
                    <a16:creationId xmlns:a16="http://schemas.microsoft.com/office/drawing/2014/main" id="{CEAE1DFF-4194-4752-AA61-0CC71C5AFCF5}"/>
                  </a:ext>
                </a:extLst>
              </p:cNvPr>
              <p:cNvSpPr/>
              <p:nvPr/>
            </p:nvSpPr>
            <p:spPr>
              <a:xfrm>
                <a:off x="623042" y="4830222"/>
                <a:ext cx="3458295" cy="416486"/>
              </a:xfrm>
              <a:custGeom>
                <a:avLst/>
                <a:gdLst>
                  <a:gd name="connsiteX0" fmla="*/ 286750 w 3456384"/>
                  <a:gd name="connsiteY0" fmla="*/ 0 h 409836"/>
                  <a:gd name="connsiteX1" fmla="*/ 3176076 w 3456384"/>
                  <a:gd name="connsiteY1" fmla="*/ 0 h 409836"/>
                  <a:gd name="connsiteX2" fmla="*/ 3456384 w 3456384"/>
                  <a:gd name="connsiteY2" fmla="*/ 409836 h 409836"/>
                  <a:gd name="connsiteX3" fmla="*/ 0 w 3456384"/>
                  <a:gd name="connsiteY3" fmla="*/ 409836 h 409836"/>
                  <a:gd name="connsiteX4" fmla="*/ 286750 w 3456384"/>
                  <a:gd name="connsiteY4" fmla="*/ 0 h 4098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384" h="409836">
                    <a:moveTo>
                      <a:pt x="286750" y="0"/>
                    </a:moveTo>
                    <a:lnTo>
                      <a:pt x="3176076" y="0"/>
                    </a:lnTo>
                    <a:lnTo>
                      <a:pt x="3456384" y="409836"/>
                    </a:lnTo>
                    <a:lnTo>
                      <a:pt x="0" y="409836"/>
                    </a:lnTo>
                    <a:lnTo>
                      <a:pt x="286750" y="0"/>
                    </a:lnTo>
                    <a:close/>
                  </a:path>
                </a:pathLst>
              </a:custGeom>
              <a:solidFill>
                <a:srgbClr val="78C2B0">
                  <a:alpha val="74000"/>
                </a:srgbClr>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cxnSp>
            <p:nvCxnSpPr>
              <p:cNvPr id="54" name="Straight Connector 9">
                <a:extLst>
                  <a:ext uri="{FF2B5EF4-FFF2-40B4-BE49-F238E27FC236}">
                    <a16:creationId xmlns:a16="http://schemas.microsoft.com/office/drawing/2014/main" id="{40C6D521-3CB6-41DE-8D5F-12280E25F6E7}"/>
                  </a:ext>
                </a:extLst>
              </p:cNvPr>
              <p:cNvCxnSpPr/>
              <p:nvPr/>
            </p:nvCxnSpPr>
            <p:spPr>
              <a:xfrm>
                <a:off x="1135340" y="4831608"/>
                <a:ext cx="2369613" cy="0"/>
              </a:xfrm>
              <a:prstGeom prst="line">
                <a:avLst/>
              </a:prstGeom>
              <a:ln w="9525">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5" name="ZoneTexte 31">
                <a:extLst>
                  <a:ext uri="{FF2B5EF4-FFF2-40B4-BE49-F238E27FC236}">
                    <a16:creationId xmlns:a16="http://schemas.microsoft.com/office/drawing/2014/main" id="{4A9F2EEC-DE79-47A2-9BCA-70AADA2E4296}"/>
                  </a:ext>
                </a:extLst>
              </p:cNvPr>
              <p:cNvSpPr txBox="1"/>
              <p:nvPr/>
            </p:nvSpPr>
            <p:spPr>
              <a:xfrm>
                <a:off x="1396453" y="4861839"/>
                <a:ext cx="1888292" cy="281494"/>
              </a:xfrm>
              <a:prstGeom prst="rect">
                <a:avLst/>
              </a:prstGeom>
              <a:noFill/>
              <a:ln>
                <a:noFill/>
              </a:ln>
            </p:spPr>
            <p:txBody>
              <a:bodyPr wrap="non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25" b="0" i="0" u="none" strike="noStrike" kern="1200" cap="none" spc="0" normalizeH="0" baseline="0" noProof="0">
                    <a:ln>
                      <a:noFill/>
                    </a:ln>
                    <a:solidFill>
                      <a:srgbClr val="122632"/>
                    </a:solidFill>
                    <a:effectLst/>
                    <a:uLnTx/>
                    <a:uFillTx/>
                    <a:latin typeface="Arial"/>
                    <a:ea typeface="ＭＳ Ｐゴシック" pitchFamily="80" charset="-128"/>
                    <a:cs typeface="+mn-cs"/>
                  </a:rPr>
                  <a:t>Markets</a:t>
                </a:r>
              </a:p>
            </p:txBody>
          </p:sp>
          <p:sp>
            <p:nvSpPr>
              <p:cNvPr id="56" name="ZoneTexte 26">
                <a:extLst>
                  <a:ext uri="{FF2B5EF4-FFF2-40B4-BE49-F238E27FC236}">
                    <a16:creationId xmlns:a16="http://schemas.microsoft.com/office/drawing/2014/main" id="{B6BDFBBD-E30E-4DE7-BCF1-EE79E227EB67}"/>
                  </a:ext>
                </a:extLst>
              </p:cNvPr>
              <p:cNvSpPr txBox="1"/>
              <p:nvPr/>
            </p:nvSpPr>
            <p:spPr>
              <a:xfrm flipV="1">
                <a:off x="2208094" y="3148554"/>
                <a:ext cx="343090" cy="225872"/>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8F9195"/>
                  </a:solidFill>
                  <a:effectLst/>
                  <a:uLnTx/>
                  <a:uFillTx/>
                  <a:latin typeface="Georgia"/>
                  <a:ea typeface="ＭＳ Ｐゴシック" pitchFamily="80" charset="-128"/>
                  <a:cs typeface="+mn-cs"/>
                </a:endParaRPr>
              </a:p>
            </p:txBody>
          </p:sp>
        </p:grpSp>
      </p:grpSp>
      <p:pic>
        <p:nvPicPr>
          <p:cNvPr id="6" name="Graphic 5" descr="Research">
            <a:extLst>
              <a:ext uri="{FF2B5EF4-FFF2-40B4-BE49-F238E27FC236}">
                <a16:creationId xmlns:a16="http://schemas.microsoft.com/office/drawing/2014/main" id="{05CA7BB0-F41F-4422-891B-6B189A4582D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81421" y="5712626"/>
            <a:ext cx="914400" cy="914400"/>
          </a:xfrm>
          <a:prstGeom prst="rect">
            <a:avLst/>
          </a:prstGeom>
        </p:spPr>
      </p:pic>
      <p:sp>
        <p:nvSpPr>
          <p:cNvPr id="7" name="TextBox 6">
            <a:extLst>
              <a:ext uri="{FF2B5EF4-FFF2-40B4-BE49-F238E27FC236}">
                <a16:creationId xmlns:a16="http://schemas.microsoft.com/office/drawing/2014/main" id="{3B1BDEA8-C7B2-4D98-8770-FC24319F9375}"/>
              </a:ext>
            </a:extLst>
          </p:cNvPr>
          <p:cNvSpPr txBox="1"/>
          <p:nvPr/>
        </p:nvSpPr>
        <p:spPr>
          <a:xfrm>
            <a:off x="2648973" y="5973112"/>
            <a:ext cx="4030839" cy="36512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hlinkClick r:id="rId4"/>
              </a:rPr>
              <a:t>Click here to open PC Finder</a:t>
            </a:r>
            <a:endParaRPr kumimoji="0" lang="en-US" sz="1800" b="0" i="0" u="none" strike="noStrike" kern="1200" cap="none" spc="0" normalizeH="0" baseline="0" noProof="0" dirty="0" err="1">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991062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03A65-79C7-4EB7-AC70-53B1F95329C3}"/>
              </a:ext>
            </a:extLst>
          </p:cNvPr>
          <p:cNvSpPr>
            <a:spLocks noGrp="1"/>
          </p:cNvSpPr>
          <p:nvPr>
            <p:ph type="title"/>
          </p:nvPr>
        </p:nvSpPr>
        <p:spPr/>
        <p:txBody>
          <a:bodyPr/>
          <a:lstStyle/>
          <a:p>
            <a:r>
              <a:rPr lang="en-GB"/>
              <a:t>Profit Center New Framework</a:t>
            </a:r>
            <a:endParaRPr lang="en-US"/>
          </a:p>
        </p:txBody>
      </p:sp>
      <p:sp>
        <p:nvSpPr>
          <p:cNvPr id="4" name="Footer Placeholder 3">
            <a:extLst>
              <a:ext uri="{FF2B5EF4-FFF2-40B4-BE49-F238E27FC236}">
                <a16:creationId xmlns:a16="http://schemas.microsoft.com/office/drawing/2014/main" id="{760BDBCD-55D4-4367-A08E-EA8940A5D1E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20B08DBF-43E0-4191-A87C-245F91B34DC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6" name="Group 5">
            <a:extLst>
              <a:ext uri="{FF2B5EF4-FFF2-40B4-BE49-F238E27FC236}">
                <a16:creationId xmlns:a16="http://schemas.microsoft.com/office/drawing/2014/main" id="{F815CF38-7327-4AE5-A6D7-4FDA953235E6}"/>
              </a:ext>
            </a:extLst>
          </p:cNvPr>
          <p:cNvGrpSpPr/>
          <p:nvPr/>
        </p:nvGrpSpPr>
        <p:grpSpPr>
          <a:xfrm>
            <a:off x="705288" y="1640139"/>
            <a:ext cx="10986755" cy="4913832"/>
            <a:chOff x="705288" y="1640139"/>
            <a:chExt cx="10986755" cy="4913832"/>
          </a:xfrm>
        </p:grpSpPr>
        <p:sp>
          <p:nvSpPr>
            <p:cNvPr id="7" name="Rounded Rectangle 11">
              <a:extLst>
                <a:ext uri="{FF2B5EF4-FFF2-40B4-BE49-F238E27FC236}">
                  <a16:creationId xmlns:a16="http://schemas.microsoft.com/office/drawing/2014/main" id="{05E420CC-EC4D-44AC-818D-4E3DACCBD5B1}"/>
                </a:ext>
              </a:extLst>
            </p:cNvPr>
            <p:cNvSpPr/>
            <p:nvPr/>
          </p:nvSpPr>
          <p:spPr bwMode="auto">
            <a:xfrm>
              <a:off x="2059664" y="1959091"/>
              <a:ext cx="2271166" cy="1216058"/>
            </a:xfrm>
            <a:prstGeom prst="roundRect">
              <a:avLst/>
            </a:prstGeom>
            <a:solidFill>
              <a:srgbClr val="D4F3F2"/>
            </a:solidFill>
            <a:ln>
              <a:no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1 PC for </a:t>
              </a:r>
              <a:r>
                <a:rPr kumimoji="0" lang="en-US" sz="1400" b="1" i="0" u="none" strike="noStrike" kern="1200" cap="none" spc="0" normalizeH="0" baseline="0" noProof="0">
                  <a:ln>
                    <a:noFill/>
                  </a:ln>
                  <a:solidFill>
                    <a:srgbClr val="000000"/>
                  </a:solidFill>
                  <a:effectLst/>
                  <a:uLnTx/>
                  <a:uFillTx/>
                  <a:latin typeface="Arial" charset="0"/>
                  <a:ea typeface="ＭＳ Ｐゴシック" charset="0"/>
                  <a:cs typeface="+mn-cs"/>
                </a:rPr>
                <a:t>Market</a:t>
              </a: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(country / accountability)</a:t>
              </a:r>
            </a:p>
          </p:txBody>
        </p:sp>
        <p:sp>
          <p:nvSpPr>
            <p:cNvPr id="8" name="Rounded Rectangle 12">
              <a:extLst>
                <a:ext uri="{FF2B5EF4-FFF2-40B4-BE49-F238E27FC236}">
                  <a16:creationId xmlns:a16="http://schemas.microsoft.com/office/drawing/2014/main" id="{2C93A695-36A4-42B7-BF80-7980FCF6D667}"/>
                </a:ext>
              </a:extLst>
            </p:cNvPr>
            <p:cNvSpPr/>
            <p:nvPr/>
          </p:nvSpPr>
          <p:spPr bwMode="auto">
            <a:xfrm>
              <a:off x="4887102" y="1974099"/>
              <a:ext cx="2271166" cy="1216058"/>
            </a:xfrm>
            <a:prstGeom prst="roundRect">
              <a:avLst/>
            </a:prstGeom>
            <a:solidFill>
              <a:srgbClr val="D4F3F2"/>
            </a:solidFill>
            <a:ln>
              <a:no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1 PC for </a:t>
              </a:r>
              <a:r>
                <a:rPr kumimoji="0" lang="en-US" sz="1400" b="1" i="0" u="none" strike="noStrike" kern="1200" cap="none" spc="0" normalizeH="0" baseline="0" noProof="0">
                  <a:ln>
                    <a:noFill/>
                  </a:ln>
                  <a:solidFill>
                    <a:srgbClr val="000000"/>
                  </a:solidFill>
                  <a:effectLst/>
                  <a:uLnTx/>
                  <a:uFillTx/>
                  <a:latin typeface="Arial" charset="0"/>
                  <a:ea typeface="ＭＳ Ｐゴシック" charset="0"/>
                  <a:cs typeface="+mn-cs"/>
                </a:rPr>
                <a:t>Duty Free Market</a:t>
              </a: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(country / accountability)*</a:t>
              </a:r>
            </a:p>
          </p:txBody>
        </p:sp>
        <p:sp>
          <p:nvSpPr>
            <p:cNvPr id="9" name="Rounded Rectangle 13">
              <a:extLst>
                <a:ext uri="{FF2B5EF4-FFF2-40B4-BE49-F238E27FC236}">
                  <a16:creationId xmlns:a16="http://schemas.microsoft.com/office/drawing/2014/main" id="{E68359AD-D59A-4BC3-8B61-55825DF2C41A}"/>
                </a:ext>
              </a:extLst>
            </p:cNvPr>
            <p:cNvSpPr/>
            <p:nvPr/>
          </p:nvSpPr>
          <p:spPr bwMode="auto">
            <a:xfrm>
              <a:off x="7741938" y="1972703"/>
              <a:ext cx="2271166" cy="1216058"/>
            </a:xfrm>
            <a:prstGeom prst="roundRect">
              <a:avLst/>
            </a:prstGeom>
            <a:solidFill>
              <a:srgbClr val="D4F3F2"/>
            </a:solidFill>
            <a:ln>
              <a:no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1 PC for </a:t>
              </a:r>
              <a:r>
                <a:rPr kumimoji="0" lang="en-US" sz="1400" b="1" i="0" u="none" strike="noStrike" kern="1200" cap="none" spc="0" normalizeH="0" baseline="0" noProof="0">
                  <a:ln>
                    <a:noFill/>
                  </a:ln>
                  <a:solidFill>
                    <a:srgbClr val="000000"/>
                  </a:solidFill>
                  <a:effectLst/>
                  <a:uLnTx/>
                  <a:uFillTx/>
                  <a:latin typeface="Arial" charset="0"/>
                  <a:ea typeface="ＭＳ Ｐゴシック" charset="0"/>
                  <a:cs typeface="+mn-cs"/>
                </a:rPr>
                <a:t>Factory</a:t>
              </a:r>
              <a:br>
                <a:rPr kumimoji="0" lang="en-US" sz="1400" b="1" i="0" u="none" strike="noStrike" kern="1200" cap="none" spc="0" normalizeH="0" baseline="0" noProof="0">
                  <a:ln>
                    <a:noFill/>
                  </a:ln>
                  <a:solidFill>
                    <a:srgbClr val="000000"/>
                  </a:solidFill>
                  <a:effectLst/>
                  <a:uLnTx/>
                  <a:uFillTx/>
                  <a:latin typeface="Arial" charset="0"/>
                  <a:ea typeface="ＭＳ Ｐゴシック" charset="0"/>
                  <a:cs typeface="+mn-cs"/>
                </a:rPr>
              </a:br>
              <a:endParaRPr kumimoji="0" lang="en-US" sz="1400" b="1"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0" name="Rounded Rectangle 14">
              <a:extLst>
                <a:ext uri="{FF2B5EF4-FFF2-40B4-BE49-F238E27FC236}">
                  <a16:creationId xmlns:a16="http://schemas.microsoft.com/office/drawing/2014/main" id="{2030B99C-C251-4596-A7B0-D10780181616}"/>
                </a:ext>
              </a:extLst>
            </p:cNvPr>
            <p:cNvSpPr/>
            <p:nvPr/>
          </p:nvSpPr>
          <p:spPr bwMode="auto">
            <a:xfrm>
              <a:off x="877890" y="3938411"/>
              <a:ext cx="2271166" cy="1216058"/>
            </a:xfrm>
            <a:prstGeom prst="roundRect">
              <a:avLst/>
            </a:prstGeom>
            <a:solidFill>
              <a:srgbClr val="D4F3F2"/>
            </a:solidFill>
            <a:ln>
              <a:no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1 PC for </a:t>
              </a:r>
              <a:r>
                <a:rPr kumimoji="0" lang="en-US" sz="1400" b="1" i="0" u="none" strike="noStrike" kern="1200" cap="none" spc="0" normalizeH="0" baseline="0" noProof="0">
                  <a:ln>
                    <a:noFill/>
                  </a:ln>
                  <a:solidFill>
                    <a:srgbClr val="000000"/>
                  </a:solidFill>
                  <a:effectLst/>
                  <a:uLnTx/>
                  <a:uFillTx/>
                  <a:latin typeface="Arial" charset="0"/>
                  <a:ea typeface="ＭＳ Ｐゴシック" charset="0"/>
                  <a:cs typeface="+mn-cs"/>
                </a:rPr>
                <a:t>Function</a:t>
              </a: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GB" sz="105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Ultimate responsibility area of the Function (HQ) and </a:t>
              </a: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GB" sz="105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Cost </a:t>
              </a:r>
              <a:r>
                <a:rPr kumimoji="0" lang="en-GB" sz="1050" b="0" i="0" u="none" strike="noStrike" kern="1200" cap="none" spc="0" normalizeH="0" baseline="0" noProof="0" err="1">
                  <a:ln>
                    <a:noFill/>
                  </a:ln>
                  <a:solidFill>
                    <a:srgbClr val="000000"/>
                  </a:solidFill>
                  <a:effectLst/>
                  <a:uLnTx/>
                  <a:uFillTx/>
                  <a:latin typeface="Arial" pitchFamily="34" charset="0"/>
                  <a:ea typeface="ＭＳ Ｐゴシック" pitchFamily="80" charset="-128"/>
                  <a:cs typeface="+mn-cs"/>
                </a:rPr>
                <a:t>Centers</a:t>
              </a:r>
              <a:r>
                <a:rPr kumimoji="0" lang="en-GB" sz="105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 for Sub functions</a:t>
              </a:r>
            </a:p>
          </p:txBody>
        </p:sp>
        <p:sp>
          <p:nvSpPr>
            <p:cNvPr id="11" name="Rounded Rectangle 15">
              <a:extLst>
                <a:ext uri="{FF2B5EF4-FFF2-40B4-BE49-F238E27FC236}">
                  <a16:creationId xmlns:a16="http://schemas.microsoft.com/office/drawing/2014/main" id="{CA1E860D-5BF0-47D8-B071-691A96D3D08C}"/>
                </a:ext>
              </a:extLst>
            </p:cNvPr>
            <p:cNvSpPr/>
            <p:nvPr/>
          </p:nvSpPr>
          <p:spPr bwMode="auto">
            <a:xfrm>
              <a:off x="3506761" y="3973868"/>
              <a:ext cx="2271166" cy="1216058"/>
            </a:xfrm>
            <a:prstGeom prst="roundRect">
              <a:avLst/>
            </a:prstGeom>
            <a:solidFill>
              <a:srgbClr val="D4F3F2"/>
            </a:solidFill>
            <a:ln>
              <a:noFill/>
            </a:ln>
            <a:effectLst/>
          </p:spPr>
          <p:txBody>
            <a:bodyPr vert="horz" wrap="square" lIns="0" tIns="0" rIns="0" bIns="0" numCol="1" rtlCol="0" anchor="ctr" anchorCtr="1" compatLnSpc="1">
              <a:prstTxWarp prst="textNoShape">
                <a:avLst/>
              </a:prstTxWarp>
            </a:bodyPr>
            <a:lstStyle/>
            <a:p>
              <a:pPr marL="55562" marR="0" lvl="0" indent="0" algn="ctr"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1 PC for </a:t>
              </a:r>
              <a:r>
                <a:rPr kumimoji="0" lang="en-GB" sz="1400" b="1"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Regional Team </a:t>
              </a:r>
              <a:r>
                <a:rPr kumimoji="0" lang="en-GB" sz="11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and (Sub Regional: treated on an ad-hoc basis)**</a:t>
              </a:r>
            </a:p>
          </p:txBody>
        </p:sp>
        <p:sp>
          <p:nvSpPr>
            <p:cNvPr id="12" name="Rounded Rectangle 16">
              <a:extLst>
                <a:ext uri="{FF2B5EF4-FFF2-40B4-BE49-F238E27FC236}">
                  <a16:creationId xmlns:a16="http://schemas.microsoft.com/office/drawing/2014/main" id="{93F0AE80-E921-4084-A6E5-7E9093768C15}"/>
                </a:ext>
              </a:extLst>
            </p:cNvPr>
            <p:cNvSpPr/>
            <p:nvPr/>
          </p:nvSpPr>
          <p:spPr bwMode="auto">
            <a:xfrm>
              <a:off x="6136003" y="3987246"/>
              <a:ext cx="2271166" cy="1216058"/>
            </a:xfrm>
            <a:prstGeom prst="roundRect">
              <a:avLst/>
            </a:prstGeom>
            <a:solidFill>
              <a:srgbClr val="D4F3F2"/>
            </a:solidFill>
            <a:ln>
              <a:noFill/>
            </a:ln>
            <a:effectLst/>
          </p:spPr>
          <p:txBody>
            <a:bodyPr vert="horz" wrap="square" lIns="0" tIns="0" rIns="0" bIns="0" numCol="1" rtlCol="0" anchor="ctr" anchorCtr="1" compatLnSpc="1">
              <a:prstTxWarp prst="textNoShape">
                <a:avLst/>
              </a:prstTxWarp>
            </a:bodyPr>
            <a:lstStyle/>
            <a:p>
              <a:pPr marL="55562" marR="0" lvl="0" indent="0" algn="ctr"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Limit use of </a:t>
              </a:r>
              <a:br>
                <a:rPr kumimoji="0" lang="en-GB" sz="14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br>
              <a:r>
                <a:rPr kumimoji="0" lang="en-GB" sz="1400" b="1"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Technical PC ‘s</a:t>
              </a:r>
            </a:p>
          </p:txBody>
        </p:sp>
        <p:sp>
          <p:nvSpPr>
            <p:cNvPr id="13" name="Rounded Rectangle 17">
              <a:extLst>
                <a:ext uri="{FF2B5EF4-FFF2-40B4-BE49-F238E27FC236}">
                  <a16:creationId xmlns:a16="http://schemas.microsoft.com/office/drawing/2014/main" id="{D51FB12A-26B3-48F5-B465-880B233E64B7}"/>
                </a:ext>
              </a:extLst>
            </p:cNvPr>
            <p:cNvSpPr/>
            <p:nvPr/>
          </p:nvSpPr>
          <p:spPr bwMode="auto">
            <a:xfrm>
              <a:off x="8717045" y="3987246"/>
              <a:ext cx="2271166" cy="1216058"/>
            </a:xfrm>
            <a:prstGeom prst="roundRect">
              <a:avLst/>
            </a:prstGeom>
            <a:solidFill>
              <a:srgbClr val="D4F3F2"/>
            </a:solidFill>
            <a:ln>
              <a:noFill/>
            </a:ln>
            <a:effectLst/>
          </p:spPr>
          <p:txBody>
            <a:bodyPr vert="horz" wrap="square" lIns="0" tIns="0" rIns="0" bIns="0" numCol="1" rtlCol="0" anchor="ctr" anchorCtr="1" compatLnSpc="1">
              <a:prstTxWarp prst="textNoShape">
                <a:avLst/>
              </a:prstTxWarp>
            </a:bodyPr>
            <a:lstStyle/>
            <a:p>
              <a:pPr marL="55562" marR="0" lvl="0" indent="0" algn="ctr" defTabSz="914400" rtl="0" eaLnBrk="1" fontAlgn="auto" latinLnBrk="0" hangingPunct="1">
                <a:lnSpc>
                  <a:spcPct val="100000"/>
                </a:lnSpc>
                <a:spcBef>
                  <a:spcPts val="600"/>
                </a:spcBef>
                <a:spcAft>
                  <a:spcPts val="0"/>
                </a:spcAft>
                <a:buClrTx/>
                <a:buSzTx/>
                <a:buFontTx/>
                <a:buNone/>
                <a:tabLst/>
                <a:defRPr/>
              </a:pPr>
              <a:r>
                <a:rPr kumimoji="0" lang="en-GB" sz="1400" b="1" i="1"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Acquisitions to be treated ad-hoc</a:t>
              </a:r>
            </a:p>
          </p:txBody>
        </p:sp>
        <p:pic>
          <p:nvPicPr>
            <p:cNvPr id="14" name="Picture 13">
              <a:extLst>
                <a:ext uri="{FF2B5EF4-FFF2-40B4-BE49-F238E27FC236}">
                  <a16:creationId xmlns:a16="http://schemas.microsoft.com/office/drawing/2014/main" id="{A52BA3E5-910B-4350-B0A4-82EDBEE12001}"/>
                </a:ext>
              </a:extLst>
            </p:cNvPr>
            <p:cNvPicPr>
              <a:picLocks noChangeAspect="1"/>
            </p:cNvPicPr>
            <p:nvPr/>
          </p:nvPicPr>
          <p:blipFill>
            <a:blip r:embed="rId2"/>
            <a:stretch>
              <a:fillRect/>
            </a:stretch>
          </p:blipFill>
          <p:spPr>
            <a:xfrm>
              <a:off x="1869941" y="1789206"/>
              <a:ext cx="455742" cy="465336"/>
            </a:xfrm>
            <a:prstGeom prst="rect">
              <a:avLst/>
            </a:prstGeom>
          </p:spPr>
        </p:pic>
        <p:pic>
          <p:nvPicPr>
            <p:cNvPr id="15" name="Picture 14">
              <a:extLst>
                <a:ext uri="{FF2B5EF4-FFF2-40B4-BE49-F238E27FC236}">
                  <a16:creationId xmlns:a16="http://schemas.microsoft.com/office/drawing/2014/main" id="{BAB9AA62-8592-469C-8767-632F774658C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14540" y="1789206"/>
              <a:ext cx="432029" cy="441124"/>
            </a:xfrm>
            <a:prstGeom prst="rect">
              <a:avLst/>
            </a:prstGeom>
          </p:spPr>
        </p:pic>
        <p:pic>
          <p:nvPicPr>
            <p:cNvPr id="16" name="Picture 15">
              <a:extLst>
                <a:ext uri="{FF2B5EF4-FFF2-40B4-BE49-F238E27FC236}">
                  <a16:creationId xmlns:a16="http://schemas.microsoft.com/office/drawing/2014/main" id="{D80FCCBD-64C7-4C1A-AC5A-A27712F3D171}"/>
                </a:ext>
              </a:extLst>
            </p:cNvPr>
            <p:cNvPicPr>
              <a:picLocks noChangeAspect="1"/>
            </p:cNvPicPr>
            <p:nvPr/>
          </p:nvPicPr>
          <p:blipFill>
            <a:blip r:embed="rId4"/>
            <a:stretch>
              <a:fillRect/>
            </a:stretch>
          </p:blipFill>
          <p:spPr>
            <a:xfrm>
              <a:off x="705288" y="3662380"/>
              <a:ext cx="504936" cy="452094"/>
            </a:xfrm>
            <a:prstGeom prst="rect">
              <a:avLst/>
            </a:prstGeom>
          </p:spPr>
        </p:pic>
        <p:pic>
          <p:nvPicPr>
            <p:cNvPr id="17" name="Picture 16">
              <a:extLst>
                <a:ext uri="{FF2B5EF4-FFF2-40B4-BE49-F238E27FC236}">
                  <a16:creationId xmlns:a16="http://schemas.microsoft.com/office/drawing/2014/main" id="{928D93CE-5B91-418E-93CA-743BAD564826}"/>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280240" y="3662380"/>
              <a:ext cx="515204" cy="526848"/>
            </a:xfrm>
            <a:prstGeom prst="rect">
              <a:avLst/>
            </a:prstGeom>
          </p:spPr>
        </p:pic>
        <p:pic>
          <p:nvPicPr>
            <p:cNvPr id="18" name="Picture 17">
              <a:extLst>
                <a:ext uri="{FF2B5EF4-FFF2-40B4-BE49-F238E27FC236}">
                  <a16:creationId xmlns:a16="http://schemas.microsoft.com/office/drawing/2014/main" id="{1236028D-894B-4A15-8EEC-4A7FC54AE5B9}"/>
                </a:ext>
              </a:extLst>
            </p:cNvPr>
            <p:cNvPicPr>
              <a:picLocks noChangeAspect="1"/>
            </p:cNvPicPr>
            <p:nvPr/>
          </p:nvPicPr>
          <p:blipFill>
            <a:blip r:embed="rId6"/>
            <a:stretch>
              <a:fillRect/>
            </a:stretch>
          </p:blipFill>
          <p:spPr>
            <a:xfrm>
              <a:off x="5961806" y="3662380"/>
              <a:ext cx="525654" cy="497694"/>
            </a:xfrm>
            <a:prstGeom prst="rect">
              <a:avLst/>
            </a:prstGeom>
          </p:spPr>
        </p:pic>
        <p:pic>
          <p:nvPicPr>
            <p:cNvPr id="19" name="Picture 18">
              <a:extLst>
                <a:ext uri="{FF2B5EF4-FFF2-40B4-BE49-F238E27FC236}">
                  <a16:creationId xmlns:a16="http://schemas.microsoft.com/office/drawing/2014/main" id="{BDCC2508-23FD-4506-A59F-8C48D4622318}"/>
                </a:ext>
              </a:extLst>
            </p:cNvPr>
            <p:cNvPicPr>
              <a:picLocks noChangeAspect="1"/>
            </p:cNvPicPr>
            <p:nvPr/>
          </p:nvPicPr>
          <p:blipFill>
            <a:blip r:embed="rId7"/>
            <a:stretch>
              <a:fillRect/>
            </a:stretch>
          </p:blipFill>
          <p:spPr>
            <a:xfrm>
              <a:off x="8569049" y="3662380"/>
              <a:ext cx="532438" cy="489374"/>
            </a:xfrm>
            <a:prstGeom prst="rect">
              <a:avLst/>
            </a:prstGeom>
          </p:spPr>
        </p:pic>
        <p:pic>
          <p:nvPicPr>
            <p:cNvPr id="20" name="Picture 19">
              <a:extLst>
                <a:ext uri="{FF2B5EF4-FFF2-40B4-BE49-F238E27FC236}">
                  <a16:creationId xmlns:a16="http://schemas.microsoft.com/office/drawing/2014/main" id="{B4DD0A69-137D-445A-8DA1-812369ABBF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92686" y="1789206"/>
              <a:ext cx="443628" cy="443628"/>
            </a:xfrm>
            <a:prstGeom prst="rect">
              <a:avLst/>
            </a:prstGeom>
            <a:solidFill>
              <a:schemeClr val="tx1"/>
            </a:solidFill>
          </p:spPr>
        </p:pic>
        <p:sp>
          <p:nvSpPr>
            <p:cNvPr id="21" name="Rounded Rectangle 1">
              <a:extLst>
                <a:ext uri="{FF2B5EF4-FFF2-40B4-BE49-F238E27FC236}">
                  <a16:creationId xmlns:a16="http://schemas.microsoft.com/office/drawing/2014/main" id="{7CE9D30A-C444-44B2-A305-DEEF6B1514E7}"/>
                </a:ext>
              </a:extLst>
            </p:cNvPr>
            <p:cNvSpPr/>
            <p:nvPr/>
          </p:nvSpPr>
          <p:spPr bwMode="auto">
            <a:xfrm>
              <a:off x="3174912" y="1960062"/>
              <a:ext cx="1125415" cy="311498"/>
            </a:xfrm>
            <a:prstGeom prst="roundRect">
              <a:avLst/>
            </a:prstGeom>
            <a:solidFill>
              <a:schemeClr val="accent6">
                <a:lumMod val="60000"/>
                <a:lumOff val="40000"/>
              </a:schemeClr>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500" b="1" i="0" u="none" strike="noStrike" kern="1200" cap="none" spc="0" normalizeH="0" baseline="0" noProof="0">
                  <a:ln>
                    <a:noFill/>
                  </a:ln>
                  <a:solidFill>
                    <a:srgbClr val="000000"/>
                  </a:solidFill>
                  <a:effectLst/>
                  <a:uLnTx/>
                  <a:uFillTx/>
                  <a:latin typeface="Arial" charset="0"/>
                  <a:ea typeface="ＭＳ Ｐゴシック" charset="0"/>
                  <a:cs typeface="+mn-cs"/>
                </a:rPr>
                <a:t>RU00</a:t>
              </a:r>
            </a:p>
          </p:txBody>
        </p:sp>
        <p:sp>
          <p:nvSpPr>
            <p:cNvPr id="22" name="Rounded Rectangle 40">
              <a:extLst>
                <a:ext uri="{FF2B5EF4-FFF2-40B4-BE49-F238E27FC236}">
                  <a16:creationId xmlns:a16="http://schemas.microsoft.com/office/drawing/2014/main" id="{9454C6ED-7471-4912-9D42-994CC991C71A}"/>
                </a:ext>
              </a:extLst>
            </p:cNvPr>
            <p:cNvSpPr/>
            <p:nvPr/>
          </p:nvSpPr>
          <p:spPr bwMode="auto">
            <a:xfrm>
              <a:off x="6002350" y="1943044"/>
              <a:ext cx="1125415" cy="311498"/>
            </a:xfrm>
            <a:prstGeom prst="roundRect">
              <a:avLst/>
            </a:prstGeom>
            <a:solidFill>
              <a:schemeClr val="accent6">
                <a:lumMod val="60000"/>
                <a:lumOff val="40000"/>
              </a:schemeClr>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500" b="1" i="0" u="none" strike="noStrike" kern="1200" cap="none" spc="0" normalizeH="0" baseline="0" noProof="0">
                  <a:ln>
                    <a:noFill/>
                  </a:ln>
                  <a:solidFill>
                    <a:srgbClr val="000000"/>
                  </a:solidFill>
                  <a:effectLst/>
                  <a:uLnTx/>
                  <a:uFillTx/>
                  <a:latin typeface="Arial" charset="0"/>
                  <a:ea typeface="ＭＳ Ｐゴシック" charset="0"/>
                  <a:cs typeface="+mn-cs"/>
                </a:rPr>
                <a:t>RUD0</a:t>
              </a:r>
            </a:p>
          </p:txBody>
        </p:sp>
        <p:sp>
          <p:nvSpPr>
            <p:cNvPr id="23" name="Rounded Rectangle 41">
              <a:extLst>
                <a:ext uri="{FF2B5EF4-FFF2-40B4-BE49-F238E27FC236}">
                  <a16:creationId xmlns:a16="http://schemas.microsoft.com/office/drawing/2014/main" id="{85AB4700-F3B6-41F1-A74F-AF025408FBDB}"/>
                </a:ext>
              </a:extLst>
            </p:cNvPr>
            <p:cNvSpPr/>
            <p:nvPr/>
          </p:nvSpPr>
          <p:spPr bwMode="auto">
            <a:xfrm>
              <a:off x="8887689" y="1913954"/>
              <a:ext cx="1125415" cy="311498"/>
            </a:xfrm>
            <a:prstGeom prst="roundRect">
              <a:avLst/>
            </a:prstGeom>
            <a:solidFill>
              <a:schemeClr val="accent6">
                <a:lumMod val="60000"/>
                <a:lumOff val="40000"/>
              </a:schemeClr>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500" b="1" i="0" u="none" strike="noStrike" kern="1200" cap="none" spc="0" normalizeH="0" baseline="0" noProof="0">
                  <a:ln>
                    <a:noFill/>
                  </a:ln>
                  <a:solidFill>
                    <a:srgbClr val="000000"/>
                  </a:solidFill>
                  <a:effectLst/>
                  <a:uLnTx/>
                  <a:uFillTx/>
                  <a:latin typeface="Arial" charset="0"/>
                  <a:ea typeface="ＭＳ Ｐゴシック" charset="0"/>
                  <a:cs typeface="+mn-cs"/>
                </a:rPr>
                <a:t>RUP1</a:t>
              </a:r>
            </a:p>
          </p:txBody>
        </p:sp>
        <p:sp>
          <p:nvSpPr>
            <p:cNvPr id="24" name="Rounded Rectangle 42">
              <a:extLst>
                <a:ext uri="{FF2B5EF4-FFF2-40B4-BE49-F238E27FC236}">
                  <a16:creationId xmlns:a16="http://schemas.microsoft.com/office/drawing/2014/main" id="{5C27A484-E7DA-467E-B9E5-DD28AD621157}"/>
                </a:ext>
              </a:extLst>
            </p:cNvPr>
            <p:cNvSpPr/>
            <p:nvPr/>
          </p:nvSpPr>
          <p:spPr bwMode="auto">
            <a:xfrm>
              <a:off x="2041564" y="3855057"/>
              <a:ext cx="1125415" cy="311498"/>
            </a:xfrm>
            <a:prstGeom prst="roundRect">
              <a:avLst/>
            </a:prstGeom>
            <a:solidFill>
              <a:schemeClr val="accent6">
                <a:lumMod val="60000"/>
                <a:lumOff val="40000"/>
              </a:schemeClr>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500" b="1" i="0" u="none" strike="noStrike" kern="1200" cap="none" spc="0" normalizeH="0" baseline="0" noProof="0">
                  <a:ln>
                    <a:noFill/>
                  </a:ln>
                  <a:solidFill>
                    <a:srgbClr val="000000"/>
                  </a:solidFill>
                  <a:effectLst/>
                  <a:uLnTx/>
                  <a:uFillTx/>
                  <a:latin typeface="Arial" charset="0"/>
                  <a:ea typeface="ＭＳ Ｐゴシック" charset="0"/>
                  <a:cs typeface="+mn-cs"/>
                </a:rPr>
                <a:t>G001</a:t>
              </a:r>
            </a:p>
          </p:txBody>
        </p:sp>
        <p:sp>
          <p:nvSpPr>
            <p:cNvPr id="25" name="Rounded Rectangle 43">
              <a:extLst>
                <a:ext uri="{FF2B5EF4-FFF2-40B4-BE49-F238E27FC236}">
                  <a16:creationId xmlns:a16="http://schemas.microsoft.com/office/drawing/2014/main" id="{B127F22D-C080-4ED7-A882-DA117E9C3204}"/>
                </a:ext>
              </a:extLst>
            </p:cNvPr>
            <p:cNvSpPr/>
            <p:nvPr/>
          </p:nvSpPr>
          <p:spPr bwMode="auto">
            <a:xfrm>
              <a:off x="4651722" y="3853823"/>
              <a:ext cx="1125415" cy="311498"/>
            </a:xfrm>
            <a:prstGeom prst="roundRect">
              <a:avLst/>
            </a:prstGeom>
            <a:solidFill>
              <a:schemeClr val="accent6">
                <a:lumMod val="60000"/>
                <a:lumOff val="40000"/>
              </a:schemeClr>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500" b="1" i="0" u="none" strike="noStrike" kern="1200" cap="none" spc="0" normalizeH="0" baseline="0" noProof="0">
                  <a:ln>
                    <a:noFill/>
                  </a:ln>
                  <a:solidFill>
                    <a:srgbClr val="000000"/>
                  </a:solidFill>
                  <a:effectLst/>
                  <a:uLnTx/>
                  <a:uFillTx/>
                  <a:latin typeface="Arial" charset="0"/>
                  <a:ea typeface="ＭＳ Ｐゴシック" charset="0"/>
                  <a:cs typeface="+mn-cs"/>
                </a:rPr>
                <a:t>M001</a:t>
              </a:r>
            </a:p>
          </p:txBody>
        </p:sp>
        <p:sp>
          <p:nvSpPr>
            <p:cNvPr id="26" name="Rounded Rectangle 44">
              <a:extLst>
                <a:ext uri="{FF2B5EF4-FFF2-40B4-BE49-F238E27FC236}">
                  <a16:creationId xmlns:a16="http://schemas.microsoft.com/office/drawing/2014/main" id="{7ACF5291-0712-4DE0-80CA-0EEEF198A235}"/>
                </a:ext>
              </a:extLst>
            </p:cNvPr>
            <p:cNvSpPr/>
            <p:nvPr/>
          </p:nvSpPr>
          <p:spPr bwMode="auto">
            <a:xfrm>
              <a:off x="7271586" y="3853823"/>
              <a:ext cx="1125415" cy="417085"/>
            </a:xfrm>
            <a:prstGeom prst="roundRect">
              <a:avLst/>
            </a:prstGeom>
            <a:solidFill>
              <a:schemeClr val="accent6">
                <a:lumMod val="60000"/>
                <a:lumOff val="40000"/>
              </a:schemeClr>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1500" b="1" i="0" u="none" strike="noStrike" kern="1200" cap="none" spc="0" normalizeH="0" baseline="0" noProof="0">
                  <a:ln>
                    <a:noFill/>
                  </a:ln>
                  <a:solidFill>
                    <a:srgbClr val="000000"/>
                  </a:solidFill>
                  <a:effectLst/>
                  <a:uLnTx/>
                  <a:uFillTx/>
                  <a:latin typeface="Arial" charset="0"/>
                  <a:ea typeface="ＭＳ Ｐゴシック" charset="0"/>
                  <a:cs typeface="+mn-cs"/>
                </a:rPr>
                <a:t>S999</a:t>
              </a:r>
            </a:p>
          </p:txBody>
        </p:sp>
        <p:sp>
          <p:nvSpPr>
            <p:cNvPr id="27" name="Rounded Rectangle 29">
              <a:extLst>
                <a:ext uri="{FF2B5EF4-FFF2-40B4-BE49-F238E27FC236}">
                  <a16:creationId xmlns:a16="http://schemas.microsoft.com/office/drawing/2014/main" id="{D91F7D4B-670A-4311-80F4-5F666E641C2E}"/>
                </a:ext>
              </a:extLst>
            </p:cNvPr>
            <p:cNvSpPr/>
            <p:nvPr/>
          </p:nvSpPr>
          <p:spPr bwMode="auto">
            <a:xfrm>
              <a:off x="3369328" y="1693467"/>
              <a:ext cx="1125415" cy="311498"/>
            </a:xfrm>
            <a:prstGeom prst="roundRect">
              <a:avLst/>
            </a:prstGeom>
            <a:no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88D5B8">
                      <a:lumMod val="50000"/>
                    </a:srgbClr>
                  </a:solidFill>
                  <a:effectLst/>
                  <a:uLnTx/>
                  <a:uFillTx/>
                  <a:latin typeface="Arial" charset="0"/>
                  <a:ea typeface="ＭＳ Ｐゴシック" charset="0"/>
                  <a:cs typeface="+mn-cs"/>
                </a:rPr>
                <a:t>Russia</a:t>
              </a:r>
              <a:endParaRPr kumimoji="0" lang="en-US" sz="1000" b="0" i="0" u="none" strike="noStrike" kern="1200" cap="none" spc="0" normalizeH="0" baseline="0" noProof="0">
                <a:ln>
                  <a:noFill/>
                </a:ln>
                <a:solidFill>
                  <a:srgbClr val="FF0000"/>
                </a:solidFill>
                <a:effectLst/>
                <a:uLnTx/>
                <a:uFillTx/>
                <a:latin typeface="Arial" charset="0"/>
                <a:ea typeface="ＭＳ Ｐゴシック" charset="0"/>
                <a:cs typeface="+mn-cs"/>
              </a:endParaRPr>
            </a:p>
          </p:txBody>
        </p:sp>
        <p:sp>
          <p:nvSpPr>
            <p:cNvPr id="28" name="Rounded Rectangle 30">
              <a:extLst>
                <a:ext uri="{FF2B5EF4-FFF2-40B4-BE49-F238E27FC236}">
                  <a16:creationId xmlns:a16="http://schemas.microsoft.com/office/drawing/2014/main" id="{BBB75FE6-153E-4113-A0C4-FF44DCEEE569}"/>
                </a:ext>
              </a:extLst>
            </p:cNvPr>
            <p:cNvSpPr/>
            <p:nvPr/>
          </p:nvSpPr>
          <p:spPr bwMode="auto">
            <a:xfrm>
              <a:off x="6270278" y="1662954"/>
              <a:ext cx="1210843" cy="311498"/>
            </a:xfrm>
            <a:prstGeom prst="roundRect">
              <a:avLst/>
            </a:prstGeom>
            <a:no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88D5B8">
                      <a:lumMod val="50000"/>
                    </a:srgbClr>
                  </a:solidFill>
                  <a:effectLst/>
                  <a:uLnTx/>
                  <a:uFillTx/>
                  <a:latin typeface="Arial" charset="0"/>
                  <a:ea typeface="ＭＳ Ｐゴシック" charset="0"/>
                  <a:cs typeface="+mn-cs"/>
                </a:rPr>
                <a:t>Russia DF</a:t>
              </a:r>
              <a:endParaRPr kumimoji="0" lang="en-US" sz="1000" b="0" i="0" u="none" strike="noStrike" kern="1200" cap="none" spc="0" normalizeH="0" baseline="0" noProof="0">
                <a:ln>
                  <a:noFill/>
                </a:ln>
                <a:solidFill>
                  <a:srgbClr val="FF0000"/>
                </a:solidFill>
                <a:effectLst/>
                <a:uLnTx/>
                <a:uFillTx/>
                <a:latin typeface="Arial" charset="0"/>
                <a:ea typeface="ＭＳ Ｐゴシック" charset="0"/>
                <a:cs typeface="+mn-cs"/>
              </a:endParaRPr>
            </a:p>
          </p:txBody>
        </p:sp>
        <p:sp>
          <p:nvSpPr>
            <p:cNvPr id="29" name="Rounded Rectangle 31">
              <a:extLst>
                <a:ext uri="{FF2B5EF4-FFF2-40B4-BE49-F238E27FC236}">
                  <a16:creationId xmlns:a16="http://schemas.microsoft.com/office/drawing/2014/main" id="{6BA73B75-FAEA-486C-B97C-08DD00E30367}"/>
                </a:ext>
              </a:extLst>
            </p:cNvPr>
            <p:cNvSpPr/>
            <p:nvPr/>
          </p:nvSpPr>
          <p:spPr bwMode="auto">
            <a:xfrm>
              <a:off x="9130187" y="1640139"/>
              <a:ext cx="1210843" cy="311498"/>
            </a:xfrm>
            <a:prstGeom prst="roundRect">
              <a:avLst/>
            </a:prstGeom>
            <a:no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88D5B8">
                      <a:lumMod val="50000"/>
                    </a:srgbClr>
                  </a:solidFill>
                  <a:effectLst/>
                  <a:uLnTx/>
                  <a:uFillTx/>
                  <a:latin typeface="Arial" charset="0"/>
                  <a:ea typeface="ＭＳ Ｐゴシック" charset="0"/>
                  <a:cs typeface="+mn-cs"/>
                </a:rPr>
                <a:t>Petro</a:t>
              </a:r>
              <a:endParaRPr kumimoji="0" lang="en-US" sz="1000" b="0" i="0" u="none" strike="noStrike" kern="1200" cap="none" spc="0" normalizeH="0" baseline="0" noProof="0">
                <a:ln>
                  <a:noFill/>
                </a:ln>
                <a:solidFill>
                  <a:srgbClr val="FF0000"/>
                </a:solidFill>
                <a:effectLst/>
                <a:uLnTx/>
                <a:uFillTx/>
                <a:latin typeface="Arial" charset="0"/>
                <a:ea typeface="ＭＳ Ｐゴシック" charset="0"/>
                <a:cs typeface="+mn-cs"/>
              </a:endParaRPr>
            </a:p>
          </p:txBody>
        </p:sp>
        <p:sp>
          <p:nvSpPr>
            <p:cNvPr id="30" name="Rounded Rectangle 32">
              <a:extLst>
                <a:ext uri="{FF2B5EF4-FFF2-40B4-BE49-F238E27FC236}">
                  <a16:creationId xmlns:a16="http://schemas.microsoft.com/office/drawing/2014/main" id="{48809F1B-6AD6-4E8C-9B79-1CBE00D6B844}"/>
                </a:ext>
              </a:extLst>
            </p:cNvPr>
            <p:cNvSpPr/>
            <p:nvPr/>
          </p:nvSpPr>
          <p:spPr bwMode="auto">
            <a:xfrm>
              <a:off x="2127588" y="3589433"/>
              <a:ext cx="1125415" cy="311498"/>
            </a:xfrm>
            <a:prstGeom prst="roundRect">
              <a:avLst/>
            </a:prstGeom>
            <a:no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88D5B8">
                      <a:lumMod val="50000"/>
                    </a:srgbClr>
                  </a:solidFill>
                  <a:effectLst/>
                  <a:uLnTx/>
                  <a:uFillTx/>
                  <a:latin typeface="Arial" charset="0"/>
                  <a:ea typeface="ＭＳ Ｐゴシック" charset="0"/>
                  <a:cs typeface="+mn-cs"/>
                </a:rPr>
                <a:t>Business Development</a:t>
              </a:r>
              <a:endParaRPr kumimoji="0" lang="en-US" sz="1000" b="0" i="0" u="none" strike="noStrike" kern="1200" cap="none" spc="0" normalizeH="0" baseline="0" noProof="0">
                <a:ln>
                  <a:noFill/>
                </a:ln>
                <a:solidFill>
                  <a:srgbClr val="FF0000"/>
                </a:solidFill>
                <a:effectLst/>
                <a:uLnTx/>
                <a:uFillTx/>
                <a:latin typeface="Arial" charset="0"/>
                <a:ea typeface="ＭＳ Ｐゴシック" charset="0"/>
                <a:cs typeface="+mn-cs"/>
              </a:endParaRPr>
            </a:p>
          </p:txBody>
        </p:sp>
        <p:sp>
          <p:nvSpPr>
            <p:cNvPr id="31" name="Rounded Rectangle 33">
              <a:extLst>
                <a:ext uri="{FF2B5EF4-FFF2-40B4-BE49-F238E27FC236}">
                  <a16:creationId xmlns:a16="http://schemas.microsoft.com/office/drawing/2014/main" id="{32F8AB0C-B983-441B-B1A7-FBD2E37FA93D}"/>
                </a:ext>
              </a:extLst>
            </p:cNvPr>
            <p:cNvSpPr/>
            <p:nvPr/>
          </p:nvSpPr>
          <p:spPr bwMode="auto">
            <a:xfrm>
              <a:off x="7406514" y="3589433"/>
              <a:ext cx="1125415" cy="311498"/>
            </a:xfrm>
            <a:prstGeom prst="roundRect">
              <a:avLst/>
            </a:prstGeom>
            <a:no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88D5B8">
                      <a:lumMod val="50000"/>
                    </a:srgbClr>
                  </a:solidFill>
                  <a:effectLst/>
                  <a:uLnTx/>
                  <a:uFillTx/>
                  <a:latin typeface="Arial" charset="0"/>
                  <a:ea typeface="ＭＳ Ｐゴシック" charset="0"/>
                  <a:cs typeface="+mn-cs"/>
                </a:rPr>
                <a:t>Sales Error Process</a:t>
              </a:r>
              <a:endParaRPr kumimoji="0" lang="en-US" sz="1000" b="0" i="0" u="none" strike="noStrike" kern="1200" cap="none" spc="0" normalizeH="0" baseline="0" noProof="0">
                <a:ln>
                  <a:noFill/>
                </a:ln>
                <a:solidFill>
                  <a:srgbClr val="FF0000"/>
                </a:solidFill>
                <a:effectLst/>
                <a:uLnTx/>
                <a:uFillTx/>
                <a:latin typeface="Arial" charset="0"/>
                <a:ea typeface="ＭＳ Ｐゴシック" charset="0"/>
                <a:cs typeface="+mn-cs"/>
              </a:endParaRPr>
            </a:p>
          </p:txBody>
        </p:sp>
        <p:sp>
          <p:nvSpPr>
            <p:cNvPr id="32" name="Rounded Rectangle 34">
              <a:extLst>
                <a:ext uri="{FF2B5EF4-FFF2-40B4-BE49-F238E27FC236}">
                  <a16:creationId xmlns:a16="http://schemas.microsoft.com/office/drawing/2014/main" id="{5B728B3A-FF81-4E21-934B-529E25F597AB}"/>
                </a:ext>
              </a:extLst>
            </p:cNvPr>
            <p:cNvSpPr/>
            <p:nvPr/>
          </p:nvSpPr>
          <p:spPr bwMode="auto">
            <a:xfrm>
              <a:off x="4737746" y="3555068"/>
              <a:ext cx="1125415" cy="311498"/>
            </a:xfrm>
            <a:prstGeom prst="roundRect">
              <a:avLst/>
            </a:prstGeom>
            <a:no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000" b="0" i="0" u="none" strike="noStrike" kern="1200" cap="none" spc="0" normalizeH="0" baseline="0" noProof="0">
                  <a:ln>
                    <a:noFill/>
                  </a:ln>
                  <a:solidFill>
                    <a:srgbClr val="88D5B8">
                      <a:lumMod val="50000"/>
                    </a:srgbClr>
                  </a:solidFill>
                  <a:effectLst/>
                  <a:uLnTx/>
                  <a:uFillTx/>
                  <a:latin typeface="Arial" charset="0"/>
                  <a:ea typeface="ＭＳ Ｐゴシック" charset="0"/>
                  <a:cs typeface="+mn-cs"/>
                </a:rPr>
                <a:t>Western Europe </a:t>
              </a:r>
              <a:r>
                <a:rPr kumimoji="0" lang="en-US" sz="1000" b="0" i="0" u="none" strike="noStrike" kern="1200" cap="none" spc="0" normalizeH="0" baseline="0" noProof="0" err="1">
                  <a:ln>
                    <a:noFill/>
                  </a:ln>
                  <a:solidFill>
                    <a:srgbClr val="88D5B8">
                      <a:lumMod val="50000"/>
                    </a:srgbClr>
                  </a:solidFill>
                  <a:effectLst/>
                  <a:uLnTx/>
                  <a:uFillTx/>
                  <a:latin typeface="Arial" charset="0"/>
                  <a:ea typeface="ＭＳ Ｐゴシック" charset="0"/>
                  <a:cs typeface="+mn-cs"/>
                </a:rPr>
                <a:t>Mgmt</a:t>
              </a:r>
              <a:endParaRPr kumimoji="0" lang="en-US" sz="1000" b="0" i="0" u="none" strike="noStrike" kern="1200" cap="none" spc="0" normalizeH="0" baseline="0" noProof="0">
                <a:ln>
                  <a:noFill/>
                </a:ln>
                <a:solidFill>
                  <a:srgbClr val="FF0000"/>
                </a:solidFill>
                <a:effectLst/>
                <a:uLnTx/>
                <a:uFillTx/>
                <a:latin typeface="Arial" charset="0"/>
                <a:ea typeface="ＭＳ Ｐゴシック" charset="0"/>
                <a:cs typeface="+mn-cs"/>
              </a:endParaRPr>
            </a:p>
          </p:txBody>
        </p:sp>
        <p:sp>
          <p:nvSpPr>
            <p:cNvPr id="33" name="TextBox 32">
              <a:extLst>
                <a:ext uri="{FF2B5EF4-FFF2-40B4-BE49-F238E27FC236}">
                  <a16:creationId xmlns:a16="http://schemas.microsoft.com/office/drawing/2014/main" id="{270489B3-E941-4B96-9637-6AA1B60AB50C}"/>
                </a:ext>
              </a:extLst>
            </p:cNvPr>
            <p:cNvSpPr txBox="1"/>
            <p:nvPr/>
          </p:nvSpPr>
          <p:spPr>
            <a:xfrm>
              <a:off x="757222" y="5260772"/>
              <a:ext cx="10934821" cy="1293199"/>
            </a:xfrm>
            <a:prstGeom prst="rect">
              <a:avLst/>
            </a:prstGeom>
            <a:noFill/>
          </p:spPr>
          <p:txBody>
            <a:bodyPr wrap="square" lIns="0" tIns="0" rIns="0" bIns="0" rtlCol="0">
              <a:norm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GB" sz="1000" b="0" i="1"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a:t>
              </a:r>
              <a:r>
                <a:rPr kumimoji="0" lang="en-GB" sz="1000" b="1"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 WWDF Structure </a:t>
              </a:r>
              <a:r>
                <a:rPr kumimoji="0" lang="en-GB" sz="10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due to its specific set up also includes mix of Distributer and Market destinations. For non markets the coding D01, D02,..is applied</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 </a:t>
              </a:r>
              <a:r>
                <a:rPr kumimoji="0" lang="en-GB" sz="1000" b="1"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Sub Regional PC’s: </a:t>
              </a:r>
              <a:r>
                <a:rPr kumimoji="0" lang="en-GB" sz="10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allocation of Sub Regional PC’s is advised, however there can be cases in which Sub regional PCs are too complex to allocate and have a clear accountability. These cases should be logged as exception at the discretion of the Region CFO / Corp. FP&amp;A. </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GB" sz="1000" b="1"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 Non Core PCs </a:t>
              </a:r>
              <a:r>
                <a:rPr kumimoji="0" lang="en-GB" sz="10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follow numbering </a:t>
              </a:r>
              <a:r>
                <a:rPr kumimoji="0" lang="en-US" sz="10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(N01,N02,..) </a:t>
              </a:r>
              <a:r>
                <a:rPr kumimoji="0" lang="en-GB" sz="10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These are areas of our business such as Distribution, Leaf Sales to JT and Third Parties, CMA and Sale of Private Labels. </a:t>
              </a:r>
              <a:endParaRPr kumimoji="0" lang="en-US" sz="10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 If a business is managed independently it shall sit on a separate Profit Center, with the exception of Private Labels (with a specific numbering). If it is deemed the Market GM is still accountable for the business flows, PL will be part of the Market Profit Center and carved out based upon non-JTI brands classification.</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 In category Factory  F01, F02,.. coding is applied in cases of Non Plants. </a:t>
              </a:r>
              <a:endParaRPr kumimoji="0" lang="en-US" sz="10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endParaRPr>
            </a:p>
          </p:txBody>
        </p:sp>
      </p:grpSp>
    </p:spTree>
    <p:extLst>
      <p:ext uri="{BB962C8B-B14F-4D97-AF65-F5344CB8AC3E}">
        <p14:creationId xmlns:p14="http://schemas.microsoft.com/office/powerpoint/2010/main" val="3971338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1D40E-D08A-4CB4-A29E-2B27FE4E9722}"/>
              </a:ext>
            </a:extLst>
          </p:cNvPr>
          <p:cNvSpPr>
            <a:spLocks noGrp="1"/>
          </p:cNvSpPr>
          <p:nvPr>
            <p:ph type="title"/>
          </p:nvPr>
        </p:nvSpPr>
        <p:spPr/>
        <p:txBody>
          <a:bodyPr/>
          <a:lstStyle/>
          <a:p>
            <a:r>
              <a:rPr lang="en-GB" dirty="0"/>
              <a:t>Profit </a:t>
            </a:r>
            <a:r>
              <a:rPr lang="en-GB" dirty="0" err="1"/>
              <a:t>Center</a:t>
            </a:r>
            <a:r>
              <a:rPr lang="en-GB" dirty="0"/>
              <a:t> Example Old vs New</a:t>
            </a:r>
            <a:endParaRPr lang="en-US" dirty="0"/>
          </a:p>
        </p:txBody>
      </p:sp>
      <p:sp>
        <p:nvSpPr>
          <p:cNvPr id="4" name="Footer Placeholder 3">
            <a:extLst>
              <a:ext uri="{FF2B5EF4-FFF2-40B4-BE49-F238E27FC236}">
                <a16:creationId xmlns:a16="http://schemas.microsoft.com/office/drawing/2014/main" id="{9AE362C2-BE02-42EF-8D2F-6BFFC31A7EF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53C98915-AA99-42F2-B5C2-FAA3E75854F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6" name="Group 5">
            <a:extLst>
              <a:ext uri="{FF2B5EF4-FFF2-40B4-BE49-F238E27FC236}">
                <a16:creationId xmlns:a16="http://schemas.microsoft.com/office/drawing/2014/main" id="{9F90859C-0C00-4D9B-95DD-ED539467568D}"/>
              </a:ext>
            </a:extLst>
          </p:cNvPr>
          <p:cNvGrpSpPr/>
          <p:nvPr/>
        </p:nvGrpSpPr>
        <p:grpSpPr>
          <a:xfrm>
            <a:off x="734572" y="1855445"/>
            <a:ext cx="10285468" cy="4517100"/>
            <a:chOff x="734572" y="1855445"/>
            <a:chExt cx="10285468" cy="4517100"/>
          </a:xfrm>
        </p:grpSpPr>
        <p:pic>
          <p:nvPicPr>
            <p:cNvPr id="7" name="Picture 6">
              <a:extLst>
                <a:ext uri="{FF2B5EF4-FFF2-40B4-BE49-F238E27FC236}">
                  <a16:creationId xmlns:a16="http://schemas.microsoft.com/office/drawing/2014/main" id="{3D753B89-83A4-42CA-800B-1DE2E2C7BF7E}"/>
                </a:ext>
              </a:extLst>
            </p:cNvPr>
            <p:cNvPicPr>
              <a:picLocks noChangeAspect="1"/>
            </p:cNvPicPr>
            <p:nvPr/>
          </p:nvPicPr>
          <p:blipFill>
            <a:blip r:embed="rId2"/>
            <a:stretch>
              <a:fillRect/>
            </a:stretch>
          </p:blipFill>
          <p:spPr>
            <a:xfrm>
              <a:off x="741197" y="2393555"/>
              <a:ext cx="9487022" cy="2062680"/>
            </a:xfrm>
            <a:prstGeom prst="rect">
              <a:avLst/>
            </a:prstGeom>
          </p:spPr>
        </p:pic>
        <p:sp>
          <p:nvSpPr>
            <p:cNvPr id="8" name="Rectangle: Rounded Corners 7">
              <a:extLst>
                <a:ext uri="{FF2B5EF4-FFF2-40B4-BE49-F238E27FC236}">
                  <a16:creationId xmlns:a16="http://schemas.microsoft.com/office/drawing/2014/main" id="{1A20E262-D7CB-4F0C-9E3E-FB80F4AEAE65}"/>
                </a:ext>
              </a:extLst>
            </p:cNvPr>
            <p:cNvSpPr/>
            <p:nvPr/>
          </p:nvSpPr>
          <p:spPr>
            <a:xfrm>
              <a:off x="741197" y="3056570"/>
              <a:ext cx="6462217" cy="1427921"/>
            </a:xfrm>
            <a:prstGeom prst="roundRect">
              <a:avLst/>
            </a:prstGeom>
            <a:noFill/>
            <a:ln w="571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4AA42DC3-BBDE-4639-BFAB-8DA38D8F486B}"/>
                </a:ext>
              </a:extLst>
            </p:cNvPr>
            <p:cNvSpPr/>
            <p:nvPr/>
          </p:nvSpPr>
          <p:spPr>
            <a:xfrm>
              <a:off x="7322683" y="3078604"/>
              <a:ext cx="2912162" cy="1383472"/>
            </a:xfrm>
            <a:prstGeom prst="roundRect">
              <a:avLst/>
            </a:prstGeom>
            <a:noFill/>
            <a:ln w="571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ounded Rectangle 9">
              <a:extLst>
                <a:ext uri="{FF2B5EF4-FFF2-40B4-BE49-F238E27FC236}">
                  <a16:creationId xmlns:a16="http://schemas.microsoft.com/office/drawing/2014/main" id="{BA5FC8DC-ABD9-417B-98F8-C3800DABADE9}"/>
                </a:ext>
              </a:extLst>
            </p:cNvPr>
            <p:cNvSpPr/>
            <p:nvPr/>
          </p:nvSpPr>
          <p:spPr bwMode="auto">
            <a:xfrm>
              <a:off x="734572" y="1855445"/>
              <a:ext cx="6382703" cy="429379"/>
            </a:xfrm>
            <a:prstGeom prst="roundRect">
              <a:avLst/>
            </a:prstGeom>
            <a:solidFill>
              <a:srgbClr val="7FDDD7"/>
            </a:solidFill>
            <a:ln>
              <a:noFill/>
            </a:ln>
            <a:effectLst/>
          </p:spPr>
          <p:txBody>
            <a:bodyPr vert="horz" wrap="square" lIns="0" tIns="0" rIns="0" bIns="0" numCol="1" rtlCol="0" anchor="ctr" anchorCtr="1" compatLnSpc="1">
              <a:prstTxWarp prst="textNoShape">
                <a:avLst/>
              </a:prstTxWarp>
            </a:bodyPr>
            <a:lstStyle/>
            <a:p>
              <a:pPr marL="0" marR="0" lvl="0" indent="0" algn="l" defTabSz="914126" rtl="0" eaLnBrk="1" fontAlgn="base" latinLnBrk="0" hangingPunct="1">
                <a:lnSpc>
                  <a:spcPct val="100000"/>
                </a:lnSpc>
                <a:spcBef>
                  <a:spcPct val="20000"/>
                </a:spcBef>
                <a:spcAft>
                  <a:spcPct val="0"/>
                </a:spcAft>
                <a:buClrTx/>
                <a:buSzTx/>
                <a:buFontTx/>
                <a:buNone/>
                <a:tabLst/>
                <a:defRPr/>
              </a:pPr>
              <a:r>
                <a:rPr kumimoji="0" lang="en-GB" sz="1999" b="1" i="0" u="none" strike="noStrike" kern="1200" cap="none" spc="0" normalizeH="0" baseline="0" noProof="0">
                  <a:ln>
                    <a:noFill/>
                  </a:ln>
                  <a:solidFill>
                    <a:srgbClr val="000000"/>
                  </a:solidFill>
                  <a:effectLst/>
                  <a:uLnTx/>
                  <a:uFillTx/>
                  <a:latin typeface="Arial" charset="0"/>
                  <a:ea typeface="ＭＳ Ｐゴシック" charset="0"/>
                  <a:cs typeface="+mn-cs"/>
                </a:rPr>
                <a:t>As/Is</a:t>
              </a:r>
              <a:endParaRPr kumimoji="0" lang="en-US" sz="1999" b="1"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1" name="Rounded Rectangle 9">
              <a:extLst>
                <a:ext uri="{FF2B5EF4-FFF2-40B4-BE49-F238E27FC236}">
                  <a16:creationId xmlns:a16="http://schemas.microsoft.com/office/drawing/2014/main" id="{F1C4C658-30BE-4318-AC24-22269BD8042E}"/>
                </a:ext>
              </a:extLst>
            </p:cNvPr>
            <p:cNvSpPr/>
            <p:nvPr/>
          </p:nvSpPr>
          <p:spPr bwMode="auto">
            <a:xfrm>
              <a:off x="7322683" y="1877479"/>
              <a:ext cx="2905536" cy="429379"/>
            </a:xfrm>
            <a:prstGeom prst="roundRect">
              <a:avLst/>
            </a:prstGeom>
            <a:solidFill>
              <a:srgbClr val="7FDDD7"/>
            </a:solidFill>
            <a:ln>
              <a:noFill/>
            </a:ln>
            <a:effectLst/>
          </p:spPr>
          <p:txBody>
            <a:bodyPr vert="horz" wrap="square" lIns="0" tIns="0" rIns="0" bIns="0" numCol="1" rtlCol="0" anchor="ctr" anchorCtr="1" compatLnSpc="1">
              <a:prstTxWarp prst="textNoShape">
                <a:avLst/>
              </a:prstTxWarp>
            </a:bodyPr>
            <a:lstStyle/>
            <a:p>
              <a:pPr marL="0" marR="0" lvl="0" indent="0" algn="l" defTabSz="914126" rtl="0" eaLnBrk="1" fontAlgn="base" latinLnBrk="0" hangingPunct="1">
                <a:lnSpc>
                  <a:spcPct val="100000"/>
                </a:lnSpc>
                <a:spcBef>
                  <a:spcPct val="20000"/>
                </a:spcBef>
                <a:spcAft>
                  <a:spcPct val="0"/>
                </a:spcAft>
                <a:buClrTx/>
                <a:buSzTx/>
                <a:buFontTx/>
                <a:buNone/>
                <a:tabLst/>
                <a:defRPr/>
              </a:pPr>
              <a:r>
                <a:rPr kumimoji="0" lang="en-GB" sz="1999" b="1" i="0" u="none" strike="noStrike" kern="1200" cap="none" spc="0" normalizeH="0" baseline="0" noProof="0">
                  <a:ln>
                    <a:noFill/>
                  </a:ln>
                  <a:solidFill>
                    <a:srgbClr val="000000"/>
                  </a:solidFill>
                  <a:effectLst/>
                  <a:uLnTx/>
                  <a:uFillTx/>
                  <a:latin typeface="Arial" charset="0"/>
                  <a:ea typeface="ＭＳ Ｐゴシック" charset="0"/>
                  <a:cs typeface="+mn-cs"/>
                </a:rPr>
                <a:t>To/Be</a:t>
              </a:r>
              <a:endParaRPr kumimoji="0" lang="en-US" sz="1999" b="1"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12" name="Speech Bubble: Rectangle 11">
              <a:extLst>
                <a:ext uri="{FF2B5EF4-FFF2-40B4-BE49-F238E27FC236}">
                  <a16:creationId xmlns:a16="http://schemas.microsoft.com/office/drawing/2014/main" id="{03BC34A9-953F-4B69-BF71-58C94D94B62F}"/>
                </a:ext>
              </a:extLst>
            </p:cNvPr>
            <p:cNvSpPr/>
            <p:nvPr/>
          </p:nvSpPr>
          <p:spPr>
            <a:xfrm>
              <a:off x="849698" y="5001834"/>
              <a:ext cx="10170342" cy="1370711"/>
            </a:xfrm>
            <a:prstGeom prst="wedgeRectCallout">
              <a:avLst>
                <a:gd name="adj1" fmla="val 49627"/>
                <a:gd name="adj2" fmla="val -41382"/>
              </a:avLst>
            </a:prstGeom>
            <a:solidFill>
              <a:schemeClr val="bg1"/>
            </a:solidFill>
            <a:ln w="19050"/>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lIns="36000" tIns="36000" rIns="36000" bIns="36000" rtlCol="0" anchor="t" anchorCtr="0"/>
            <a:lstStyle/>
            <a:p>
              <a:pPr marL="233363" marR="0" lvl="0" indent="-180975" algn="l" defTabSz="914400" rtl="0" eaLnBrk="1" fontAlgn="base" latinLnBrk="0" hangingPunct="1">
                <a:lnSpc>
                  <a:spcPct val="100000"/>
                </a:lnSpc>
                <a:spcBef>
                  <a:spcPts val="500"/>
                </a:spcBef>
                <a:spcAft>
                  <a:spcPct val="0"/>
                </a:spcAft>
                <a:buClrTx/>
                <a:buSzTx/>
                <a:buFont typeface="Arial" panose="020B0604020202020204" pitchFamily="34" charset="0"/>
                <a:buChar char="•"/>
                <a:tabLst/>
                <a:defRPr/>
              </a:pPr>
              <a:r>
                <a:rPr kumimoji="0" lang="en-GB" sz="2000" b="1" i="0" u="none" strike="noStrike" kern="1200" cap="none" spc="0" normalizeH="0" baseline="0" noProof="0">
                  <a:ln>
                    <a:noFill/>
                  </a:ln>
                  <a:solidFill>
                    <a:srgbClr val="000000"/>
                  </a:solidFill>
                  <a:effectLst/>
                  <a:uLnTx/>
                  <a:uFillTx/>
                  <a:latin typeface="Arial" panose="020B0604020202020204"/>
                  <a:ea typeface="+mn-ea"/>
                  <a:cs typeface="+mn-cs"/>
                </a:rPr>
                <a:t>New Profit Center (PC) will be used in S/4 with a new naming and coding </a:t>
              </a:r>
            </a:p>
            <a:p>
              <a:pPr marL="52388" marR="0" lvl="0" indent="0" algn="l" defTabSz="914400" rtl="0" eaLnBrk="1" fontAlgn="base" latinLnBrk="0" hangingPunct="1">
                <a:lnSpc>
                  <a:spcPct val="100000"/>
                </a:lnSpc>
                <a:spcBef>
                  <a:spcPts val="500"/>
                </a:spcBef>
                <a:spcAft>
                  <a:spcPct val="0"/>
                </a:spcAft>
                <a:buClrTx/>
                <a:buSzTx/>
                <a:buFontTx/>
                <a:buNone/>
                <a:tabLst/>
                <a:defRPr/>
              </a:pPr>
              <a:endParaRPr kumimoji="0" lang="en-GB" sz="2000" b="1" i="0" u="none" strike="noStrike" kern="1200" cap="none" spc="0" normalizeH="0" baseline="0" noProof="0">
                <a:ln>
                  <a:noFill/>
                </a:ln>
                <a:solidFill>
                  <a:srgbClr val="000000"/>
                </a:solidFill>
                <a:effectLst/>
                <a:uLnTx/>
                <a:uFillTx/>
                <a:latin typeface="Arial" panose="020B0604020202020204"/>
                <a:ea typeface="+mn-ea"/>
                <a:cs typeface="+mn-cs"/>
              </a:endParaRPr>
            </a:p>
            <a:p>
              <a:pPr marL="233363" marR="0" lvl="0" indent="-180975" algn="l" defTabSz="914400" rtl="0" eaLnBrk="1" fontAlgn="base" latinLnBrk="0" hangingPunct="1">
                <a:lnSpc>
                  <a:spcPct val="100000"/>
                </a:lnSpc>
                <a:spcBef>
                  <a:spcPts val="500"/>
                </a:spcBef>
                <a:spcAft>
                  <a:spcPct val="0"/>
                </a:spcAft>
                <a:buClrTx/>
                <a:buSzTx/>
                <a:buFont typeface="Arial" panose="020B0604020202020204" pitchFamily="34" charset="0"/>
                <a:buChar char="•"/>
                <a:tabLst/>
                <a:defRPr/>
              </a:pPr>
              <a:r>
                <a:rPr kumimoji="0" lang="en-GB" sz="2000" b="1" i="0" u="none" strike="noStrike" kern="1200" cap="none" spc="0" normalizeH="0" baseline="0" noProof="0">
                  <a:ln>
                    <a:noFill/>
                  </a:ln>
                  <a:solidFill>
                    <a:srgbClr val="000000"/>
                  </a:solidFill>
                  <a:effectLst/>
                  <a:uLnTx/>
                  <a:uFillTx/>
                  <a:latin typeface="Arial" panose="020B0604020202020204"/>
                  <a:ea typeface="+mn-ea"/>
                  <a:cs typeface="+mn-cs"/>
                </a:rPr>
                <a:t>Product Type and Brand Family will not be included in the new PCs</a:t>
              </a:r>
              <a:endParaRPr kumimoji="0" lang="en-GB" sz="20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3295882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CEB22-6B26-468F-B89F-C84288957AE9}"/>
              </a:ext>
            </a:extLst>
          </p:cNvPr>
          <p:cNvSpPr>
            <a:spLocks noGrp="1"/>
          </p:cNvSpPr>
          <p:nvPr>
            <p:ph type="title"/>
          </p:nvPr>
        </p:nvSpPr>
        <p:spPr/>
        <p:txBody>
          <a:bodyPr/>
          <a:lstStyle/>
          <a:p>
            <a:r>
              <a:rPr lang="en-GB"/>
              <a:t>Profit </a:t>
            </a:r>
            <a:r>
              <a:rPr lang="en-GB" err="1"/>
              <a:t>Centers</a:t>
            </a:r>
            <a:r>
              <a:rPr lang="en-GB"/>
              <a:t> in S/4 - </a:t>
            </a:r>
            <a:r>
              <a:rPr lang="en-GB" err="1"/>
              <a:t>TCodes</a:t>
            </a:r>
            <a:endParaRPr lang="en-US"/>
          </a:p>
        </p:txBody>
      </p:sp>
      <p:sp>
        <p:nvSpPr>
          <p:cNvPr id="4" name="Footer Placeholder 3">
            <a:extLst>
              <a:ext uri="{FF2B5EF4-FFF2-40B4-BE49-F238E27FC236}">
                <a16:creationId xmlns:a16="http://schemas.microsoft.com/office/drawing/2014/main" id="{F6003155-22B2-41D7-B8BB-8CD2C3A202C9}"/>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1151488B-0BD1-464A-AD93-54AA0B3DA12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6" name="Group 5">
            <a:extLst>
              <a:ext uri="{FF2B5EF4-FFF2-40B4-BE49-F238E27FC236}">
                <a16:creationId xmlns:a16="http://schemas.microsoft.com/office/drawing/2014/main" id="{EF1F47A3-CF49-47EE-9A45-E0E233318E07}"/>
              </a:ext>
            </a:extLst>
          </p:cNvPr>
          <p:cNvGrpSpPr/>
          <p:nvPr/>
        </p:nvGrpSpPr>
        <p:grpSpPr>
          <a:xfrm>
            <a:off x="460521" y="1495233"/>
            <a:ext cx="10867548" cy="4993701"/>
            <a:chOff x="460521" y="1583367"/>
            <a:chExt cx="11514403" cy="5546850"/>
          </a:xfrm>
        </p:grpSpPr>
        <p:sp>
          <p:nvSpPr>
            <p:cNvPr id="7" name="Speech Bubble: Rectangle 6">
              <a:extLst>
                <a:ext uri="{FF2B5EF4-FFF2-40B4-BE49-F238E27FC236}">
                  <a16:creationId xmlns:a16="http://schemas.microsoft.com/office/drawing/2014/main" id="{40761539-CCAE-4EB4-B369-4B145F9FBBA6}"/>
                </a:ext>
              </a:extLst>
            </p:cNvPr>
            <p:cNvSpPr/>
            <p:nvPr/>
          </p:nvSpPr>
          <p:spPr>
            <a:xfrm>
              <a:off x="460521" y="1583367"/>
              <a:ext cx="4335166" cy="5546850"/>
            </a:xfrm>
            <a:prstGeom prst="wedgeRectCallout">
              <a:avLst>
                <a:gd name="adj1" fmla="val 57413"/>
                <a:gd name="adj2" fmla="val -38680"/>
              </a:avLst>
            </a:prstGeom>
            <a:ln w="19050"/>
          </p:spPr>
          <p:style>
            <a:lnRef idx="2">
              <a:schemeClr val="accent3"/>
            </a:lnRef>
            <a:fillRef idx="1">
              <a:schemeClr val="lt1"/>
            </a:fillRef>
            <a:effectRef idx="0">
              <a:schemeClr val="accent3"/>
            </a:effectRef>
            <a:fontRef idx="minor">
              <a:schemeClr val="dk1"/>
            </a:fontRef>
          </p:style>
          <p:txBody>
            <a:bodyPr lIns="36000" tIns="36000" rIns="36000" bIns="36000" rtlCol="0" anchor="t" anchorCtr="0"/>
            <a:lstStyle/>
            <a:p>
              <a:pPr marL="233363" marR="0" lvl="0" indent="-180975" algn="l" defTabSz="914400" rtl="0" eaLnBrk="1" fontAlgn="base" latinLnBrk="0" hangingPunct="1">
                <a:lnSpc>
                  <a:spcPct val="100000"/>
                </a:lnSpc>
                <a:spcBef>
                  <a:spcPts val="500"/>
                </a:spcBef>
                <a:spcAft>
                  <a:spcPct val="0"/>
                </a:spcAft>
                <a:buClrTx/>
                <a:buSzTx/>
                <a:buFont typeface="Arial" panose="020B0604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New Profit </a:t>
              </a:r>
              <a:r>
                <a:rPr kumimoji="0" lang="en-GB" sz="1400" b="1"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 (PC) will be used in S/4 with a new naming and coding </a:t>
              </a:r>
            </a:p>
            <a:p>
              <a:pPr marL="233363" marR="0" lvl="0" indent="-180975" algn="l" defTabSz="914400" rtl="0" eaLnBrk="1" fontAlgn="base" latinLnBrk="0" hangingPunct="1">
                <a:lnSpc>
                  <a:spcPct val="100000"/>
                </a:lnSpc>
                <a:spcBef>
                  <a:spcPts val="500"/>
                </a:spcBef>
                <a:spcAft>
                  <a:spcPct val="0"/>
                </a:spcAft>
                <a:buClrTx/>
                <a:buSzTx/>
                <a:buFont typeface="Arial" panose="020B0604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Product Type and Brand Family will not be included in the new PCs.</a:t>
              </a:r>
            </a:p>
            <a:p>
              <a:pPr marL="233363" marR="0" lvl="0" indent="-180975" algn="l" defTabSz="914400" rtl="0" eaLnBrk="1" fontAlgn="base" latinLnBrk="0" hangingPunct="1">
                <a:lnSpc>
                  <a:spcPct val="100000"/>
                </a:lnSpc>
                <a:spcBef>
                  <a:spcPts val="500"/>
                </a:spcBef>
                <a:spcAft>
                  <a:spcPct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Info will be kept through CO-PA characteristics/dimensions</a:t>
              </a:r>
            </a:p>
            <a:p>
              <a:pPr marL="233363" marR="0" lvl="0" indent="-180975" algn="l" defTabSz="914400" rtl="0" eaLnBrk="1" fontAlgn="base" latinLnBrk="0" hangingPunct="1">
                <a:lnSpc>
                  <a:spcPct val="100000"/>
                </a:lnSpc>
                <a:spcBef>
                  <a:spcPts val="500"/>
                </a:spcBef>
                <a:spcAft>
                  <a:spcPct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Therefore if you display the G/L line item view, you will see, amongst other info, both PC and dimensions (ACDOCA). </a:t>
              </a:r>
              <a:endPar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233363" marR="0" lvl="0" indent="-180975" algn="l" defTabSz="914400" rtl="0" eaLnBrk="1" fontAlgn="base" latinLnBrk="0" hangingPunct="1">
                <a:lnSpc>
                  <a:spcPct val="100000"/>
                </a:lnSpc>
                <a:spcBef>
                  <a:spcPts val="500"/>
                </a:spcBef>
                <a:spcAft>
                  <a:spcPct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This set up allows </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FCF by market </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since this is done at the level of PC.</a:t>
              </a:r>
            </a:p>
            <a:p>
              <a:pPr marL="233363" marR="0" lvl="0" indent="-180975" algn="l" defTabSz="914400" rtl="0" eaLnBrk="1" fontAlgn="base" latinLnBrk="0" hangingPunct="1">
                <a:lnSpc>
                  <a:spcPct val="100000"/>
                </a:lnSpc>
                <a:spcBef>
                  <a:spcPts val="500"/>
                </a:spcBef>
                <a:spcAft>
                  <a:spcPct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PCs are one of the so called structural Master Data within S/4 and </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S/4 is considered the single source of both the PC and main PC Hierarchy. </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BW will read and use the data and hierarchy from S/4.</a:t>
              </a:r>
            </a:p>
            <a:p>
              <a:pPr marL="233363" marR="0" lvl="0" indent="-180975" algn="l" defTabSz="914400" rtl="0" eaLnBrk="1" fontAlgn="base" latinLnBrk="0" hangingPunct="1">
                <a:lnSpc>
                  <a:spcPct val="100000"/>
                </a:lnSpc>
                <a:spcBef>
                  <a:spcPts val="500"/>
                </a:spcBef>
                <a:spcAft>
                  <a:spcPct val="0"/>
                </a:spcAft>
                <a:buClrTx/>
                <a:buSzTx/>
                <a:buFont typeface="Arial" panose="020B0604020202020204" pitchFamily="34" charset="0"/>
                <a:buChar char="•"/>
                <a:tabLst/>
                <a:defRPr/>
              </a:pPr>
              <a:r>
                <a:rPr kumimoji="0" lang="en-GB" sz="1400" b="0" i="0" u="none" strike="noStrike" kern="1200" cap="none" spc="0" normalizeH="0" baseline="0" noProof="0" dirty="0" err="1">
                  <a:ln>
                    <a:noFill/>
                  </a:ln>
                  <a:solidFill>
                    <a:srgbClr val="000000"/>
                  </a:solidFill>
                  <a:effectLst/>
                  <a:uLnTx/>
                  <a:uFillTx/>
                  <a:latin typeface="Arial" panose="020B0604020202020204"/>
                  <a:ea typeface="+mn-ea"/>
                  <a:cs typeface="+mn-cs"/>
                </a:rPr>
                <a:t>Tcode</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to display the PC Hierarchy </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KCH3 </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is unchanged in S/4</a:t>
              </a:r>
            </a:p>
            <a:p>
              <a:pPr marL="233363" marR="0" lvl="0" indent="-180975" algn="l" defTabSz="914400" rtl="0" eaLnBrk="1" fontAlgn="base" latinLnBrk="0" hangingPunct="1">
                <a:lnSpc>
                  <a:spcPct val="100000"/>
                </a:lnSpc>
                <a:spcBef>
                  <a:spcPts val="500"/>
                </a:spcBef>
                <a:spcAft>
                  <a:spcPct val="0"/>
                </a:spcAft>
                <a:buClrTx/>
                <a:buSzTx/>
                <a:buFont typeface="Arial" panose="020B0604020202020204" pitchFamily="34" charset="0"/>
                <a:buChar char="•"/>
                <a:tabLst/>
                <a:defRPr/>
              </a:pP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T:Code KCH6N also displays top node hierarchy with master data viewable in same screen</a:t>
              </a:r>
            </a:p>
            <a:p>
              <a:pPr marL="72000" marR="0" lvl="0" indent="-720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8" name="Picture 7" descr="imb__34">
              <a:extLst>
                <a:ext uri="{FF2B5EF4-FFF2-40B4-BE49-F238E27FC236}">
                  <a16:creationId xmlns:a16="http://schemas.microsoft.com/office/drawing/2014/main" id="{FB377B96-AABC-4964-A213-9D9A5E5DD874}"/>
                </a:ext>
              </a:extLst>
            </p:cNvPr>
            <p:cNvPicPr/>
            <p:nvPr/>
          </p:nvPicPr>
          <p:blipFill rotWithShape="1">
            <a:blip r:embed="rId2" cstate="print">
              <a:extLst>
                <a:ext uri="{28A0092B-C50C-407E-A947-70E740481C1C}">
                  <a14:useLocalDpi xmlns:a14="http://schemas.microsoft.com/office/drawing/2010/main" val="0"/>
                </a:ext>
              </a:extLst>
            </a:blip>
            <a:srcRect l="90" t="16018" r="65726" b="22032"/>
            <a:stretch/>
          </p:blipFill>
          <p:spPr bwMode="auto">
            <a:xfrm>
              <a:off x="5053321" y="2230534"/>
              <a:ext cx="2788678" cy="3288834"/>
            </a:xfrm>
            <a:prstGeom prst="rect">
              <a:avLst/>
            </a:prstGeom>
            <a:noFill/>
            <a:ln>
              <a:noFill/>
            </a:ln>
          </p:spPr>
        </p:pic>
        <p:sp>
          <p:nvSpPr>
            <p:cNvPr id="9" name="Rectangle: Rounded Corners 8">
              <a:extLst>
                <a:ext uri="{FF2B5EF4-FFF2-40B4-BE49-F238E27FC236}">
                  <a16:creationId xmlns:a16="http://schemas.microsoft.com/office/drawing/2014/main" id="{12661425-B8FA-49D7-85A6-D91564B8132E}"/>
                </a:ext>
              </a:extLst>
            </p:cNvPr>
            <p:cNvSpPr/>
            <p:nvPr/>
          </p:nvSpPr>
          <p:spPr>
            <a:xfrm>
              <a:off x="5028519" y="1908725"/>
              <a:ext cx="2961536" cy="46953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CH" sz="1600" b="0" i="0" u="none" strike="noStrike" kern="1200" cap="none" spc="0" normalizeH="0" baseline="0" noProof="0">
                  <a:ln>
                    <a:noFill/>
                  </a:ln>
                  <a:solidFill>
                    <a:srgbClr val="FFFFFF"/>
                  </a:solidFill>
                  <a:effectLst/>
                  <a:uLnTx/>
                  <a:uFillTx/>
                  <a:latin typeface="Arial" panose="020B0604020202020204"/>
                  <a:ea typeface="+mn-ea"/>
                  <a:cs typeface="+mn-cs"/>
                </a:rPr>
                <a:t>New Profit Centers</a:t>
              </a:r>
              <a:endParaRPr kumimoji="0" lang="en-U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EA918B35-4258-466F-B453-78BDC77D2563}"/>
                </a:ext>
              </a:extLst>
            </p:cNvPr>
            <p:cNvSpPr/>
            <p:nvPr/>
          </p:nvSpPr>
          <p:spPr>
            <a:xfrm>
              <a:off x="5485932" y="4377606"/>
              <a:ext cx="2204720" cy="243840"/>
            </a:xfrm>
            <a:prstGeom prst="roundRect">
              <a:avLst/>
            </a:prstGeom>
            <a:noFill/>
            <a:ln w="38100">
              <a:solidFill>
                <a:srgbClr val="00BD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Arrow: Right 10">
              <a:extLst>
                <a:ext uri="{FF2B5EF4-FFF2-40B4-BE49-F238E27FC236}">
                  <a16:creationId xmlns:a16="http://schemas.microsoft.com/office/drawing/2014/main" id="{BE987550-13BF-4C1F-8350-8908144CEFC7}"/>
                </a:ext>
              </a:extLst>
            </p:cNvPr>
            <p:cNvSpPr/>
            <p:nvPr/>
          </p:nvSpPr>
          <p:spPr>
            <a:xfrm rot="18412424">
              <a:off x="7428024" y="3883223"/>
              <a:ext cx="959977" cy="462188"/>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204454B0-DD60-4789-97B8-67FF89841A6C}"/>
                </a:ext>
              </a:extLst>
            </p:cNvPr>
            <p:cNvSpPr/>
            <p:nvPr/>
          </p:nvSpPr>
          <p:spPr>
            <a:xfrm>
              <a:off x="9329002" y="1953470"/>
              <a:ext cx="2645922" cy="42479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CH" sz="1600" b="0" i="0" u="none" strike="noStrike" kern="1200" cap="none" spc="0" normalizeH="0" baseline="0" noProof="0">
                  <a:ln>
                    <a:noFill/>
                  </a:ln>
                  <a:solidFill>
                    <a:srgbClr val="FFFFFF"/>
                  </a:solidFill>
                  <a:effectLst/>
                  <a:uLnTx/>
                  <a:uFillTx/>
                  <a:latin typeface="Arial" panose="020B0604020202020204"/>
                  <a:ea typeface="+mn-ea"/>
                  <a:cs typeface="+mn-cs"/>
                </a:rPr>
                <a:t>Dimensions</a:t>
              </a:r>
              <a:endParaRPr kumimoji="0" lang="en-U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Rectangle: Rounded Corners 12">
              <a:extLst>
                <a:ext uri="{FF2B5EF4-FFF2-40B4-BE49-F238E27FC236}">
                  <a16:creationId xmlns:a16="http://schemas.microsoft.com/office/drawing/2014/main" id="{AA4D96BE-55A0-4995-9D09-BAD38643F118}"/>
                </a:ext>
              </a:extLst>
            </p:cNvPr>
            <p:cNvSpPr/>
            <p:nvPr/>
          </p:nvSpPr>
          <p:spPr>
            <a:xfrm>
              <a:off x="8290170" y="1953470"/>
              <a:ext cx="921200" cy="42479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CH" sz="1600" b="0" i="0" u="none" strike="noStrike" kern="1200" cap="none" spc="0" normalizeH="0" baseline="0" noProof="0">
                  <a:ln>
                    <a:noFill/>
                  </a:ln>
                  <a:solidFill>
                    <a:srgbClr val="FFFFFF"/>
                  </a:solidFill>
                  <a:effectLst/>
                  <a:uLnTx/>
                  <a:uFillTx/>
                  <a:latin typeface="Arial" panose="020B0604020202020204"/>
                  <a:ea typeface="+mn-ea"/>
                  <a:cs typeface="+mn-cs"/>
                </a:rPr>
                <a:t>PC +</a:t>
              </a:r>
              <a:endParaRPr kumimoji="0" lang="en-U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4" name="Picture 13">
              <a:extLst>
                <a:ext uri="{FF2B5EF4-FFF2-40B4-BE49-F238E27FC236}">
                  <a16:creationId xmlns:a16="http://schemas.microsoft.com/office/drawing/2014/main" id="{5384E02D-B133-4EC5-909E-48670FDC4840}"/>
                </a:ext>
              </a:extLst>
            </p:cNvPr>
            <p:cNvPicPr>
              <a:picLocks noChangeAspect="1"/>
            </p:cNvPicPr>
            <p:nvPr/>
          </p:nvPicPr>
          <p:blipFill rotWithShape="1">
            <a:blip r:embed="rId3"/>
            <a:srcRect r="5948"/>
            <a:stretch/>
          </p:blipFill>
          <p:spPr>
            <a:xfrm>
              <a:off x="8290170" y="2543249"/>
              <a:ext cx="3353908" cy="2293307"/>
            </a:xfrm>
            <a:prstGeom prst="rect">
              <a:avLst/>
            </a:prstGeom>
          </p:spPr>
        </p:pic>
        <p:sp>
          <p:nvSpPr>
            <p:cNvPr id="15" name="TextBox 14">
              <a:extLst>
                <a:ext uri="{FF2B5EF4-FFF2-40B4-BE49-F238E27FC236}">
                  <a16:creationId xmlns:a16="http://schemas.microsoft.com/office/drawing/2014/main" id="{0BC9BB73-D5C9-4B35-96A3-1BA706F78CB8}"/>
                </a:ext>
              </a:extLst>
            </p:cNvPr>
            <p:cNvSpPr txBox="1"/>
            <p:nvPr/>
          </p:nvSpPr>
          <p:spPr>
            <a:xfrm>
              <a:off x="10110776" y="1693312"/>
              <a:ext cx="1707344" cy="250992"/>
            </a:xfrm>
            <a:prstGeom prst="rect">
              <a:avLst/>
            </a:prstGeom>
            <a:noFill/>
          </p:spPr>
          <p:txBody>
            <a:bodyPr wrap="none" lIns="0" tIns="0" rIns="0" bIns="0" rtlCol="0">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de-CH" sz="1050" b="0" i="0" u="none" strike="noStrike" kern="1200" cap="none" spc="0" normalizeH="0" baseline="0" noProof="0">
                  <a:ln>
                    <a:noFill/>
                  </a:ln>
                  <a:solidFill>
                    <a:srgbClr val="FFFFFF">
                      <a:lumMod val="50000"/>
                    </a:srgbClr>
                  </a:solidFill>
                  <a:effectLst/>
                  <a:uLnTx/>
                  <a:uFillTx/>
                  <a:latin typeface="Arial" pitchFamily="34" charset="0"/>
                  <a:ea typeface="ＭＳ Ｐゴシック" pitchFamily="80" charset="-128"/>
                  <a:cs typeface="+mn-cs"/>
                </a:rPr>
                <a:t>H</a:t>
              </a:r>
              <a:endParaRPr kumimoji="0" lang="en-US" sz="1050" b="0" i="0" u="none" strike="noStrike" kern="1200" cap="none" spc="0" normalizeH="0" baseline="0" noProof="0">
                <a:ln>
                  <a:noFill/>
                </a:ln>
                <a:solidFill>
                  <a:srgbClr val="FFFFFF">
                    <a:lumMod val="50000"/>
                  </a:srgbClr>
                </a:solidFill>
                <a:effectLst/>
                <a:uLnTx/>
                <a:uFillTx/>
                <a:latin typeface="Arial" pitchFamily="34" charset="0"/>
                <a:ea typeface="ＭＳ Ｐゴシック" pitchFamily="80" charset="-128"/>
                <a:cs typeface="+mn-cs"/>
              </a:endParaRPr>
            </a:p>
          </p:txBody>
        </p:sp>
      </p:grpSp>
      <p:sp>
        <p:nvSpPr>
          <p:cNvPr id="17" name="Rectangle: Rounded Corners 16">
            <a:extLst>
              <a:ext uri="{FF2B5EF4-FFF2-40B4-BE49-F238E27FC236}">
                <a16:creationId xmlns:a16="http://schemas.microsoft.com/office/drawing/2014/main" id="{001F8D3C-9003-44F2-80A1-29423833BFAB}"/>
              </a:ext>
            </a:extLst>
          </p:cNvPr>
          <p:cNvSpPr/>
          <p:nvPr/>
        </p:nvSpPr>
        <p:spPr>
          <a:xfrm>
            <a:off x="6176910" y="1399294"/>
            <a:ext cx="1312717" cy="33125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KCH3 – Display PC</a:t>
            </a:r>
          </a:p>
        </p:txBody>
      </p:sp>
      <p:pic>
        <p:nvPicPr>
          <p:cNvPr id="3" name="Picture 2">
            <a:extLst>
              <a:ext uri="{FF2B5EF4-FFF2-40B4-BE49-F238E27FC236}">
                <a16:creationId xmlns:a16="http://schemas.microsoft.com/office/drawing/2014/main" id="{19DDA5D4-3797-48F5-BE08-4407B1FE616E}"/>
              </a:ext>
            </a:extLst>
          </p:cNvPr>
          <p:cNvPicPr>
            <a:picLocks noChangeAspect="1"/>
          </p:cNvPicPr>
          <p:nvPr/>
        </p:nvPicPr>
        <p:blipFill>
          <a:blip r:embed="rId4"/>
          <a:stretch>
            <a:fillRect/>
          </a:stretch>
        </p:blipFill>
        <p:spPr>
          <a:xfrm>
            <a:off x="7403913" y="1638726"/>
            <a:ext cx="9078864" cy="5029013"/>
          </a:xfrm>
          <a:prstGeom prst="rect">
            <a:avLst/>
          </a:prstGeom>
        </p:spPr>
      </p:pic>
      <p:sp>
        <p:nvSpPr>
          <p:cNvPr id="18" name="Rectangle: Rounded Corners 17">
            <a:extLst>
              <a:ext uri="{FF2B5EF4-FFF2-40B4-BE49-F238E27FC236}">
                <a16:creationId xmlns:a16="http://schemas.microsoft.com/office/drawing/2014/main" id="{EC43BA80-A310-4912-BEA0-37F222A6CB51}"/>
              </a:ext>
            </a:extLst>
          </p:cNvPr>
          <p:cNvSpPr/>
          <p:nvPr/>
        </p:nvSpPr>
        <p:spPr>
          <a:xfrm>
            <a:off x="8230704" y="4572537"/>
            <a:ext cx="1383410" cy="27228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KCH6N – Display PC</a:t>
            </a:r>
          </a:p>
        </p:txBody>
      </p:sp>
      <p:sp>
        <p:nvSpPr>
          <p:cNvPr id="19" name="Rectangle: Rounded Corners 18">
            <a:extLst>
              <a:ext uri="{FF2B5EF4-FFF2-40B4-BE49-F238E27FC236}">
                <a16:creationId xmlns:a16="http://schemas.microsoft.com/office/drawing/2014/main" id="{26A69DD3-D550-406E-8BB7-8E4DB1FEC86C}"/>
              </a:ext>
            </a:extLst>
          </p:cNvPr>
          <p:cNvSpPr/>
          <p:nvPr/>
        </p:nvSpPr>
        <p:spPr>
          <a:xfrm>
            <a:off x="7850316" y="1424057"/>
            <a:ext cx="1899474" cy="30649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Abstract Tcode FAGLL03</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397031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90CC5F-7E64-4D1A-90F2-3D2368F93671}"/>
              </a:ext>
            </a:extLst>
          </p:cNvPr>
          <p:cNvSpPr>
            <a:spLocks noGrp="1"/>
          </p:cNvSpPr>
          <p:nvPr>
            <p:ph type="title"/>
          </p:nvPr>
        </p:nvSpPr>
        <p:spPr/>
        <p:txBody>
          <a:bodyPr/>
          <a:lstStyle/>
          <a:p>
            <a:r>
              <a:rPr lang="en-GB" dirty="0"/>
              <a:t>Demonstration &amp; exercises</a:t>
            </a:r>
          </a:p>
        </p:txBody>
      </p:sp>
      <p:sp>
        <p:nvSpPr>
          <p:cNvPr id="2" name="Slide Number Placeholder 1">
            <a:extLst>
              <a:ext uri="{FF2B5EF4-FFF2-40B4-BE49-F238E27FC236}">
                <a16:creationId xmlns:a16="http://schemas.microsoft.com/office/drawing/2014/main" id="{45968D6E-A1C2-48A1-8EEA-68D04FC7DD8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7DF6DE24-71F6-4B4D-B00E-1C92B20D83D9}"/>
              </a:ext>
            </a:extLst>
          </p:cNvPr>
          <p:cNvSpPr>
            <a:spLocks noChangeArrowheads="1"/>
          </p:cNvSpPr>
          <p:nvPr/>
        </p:nvSpPr>
        <p:spPr bwMode="auto">
          <a:xfrm>
            <a:off x="641334" y="3121981"/>
            <a:ext cx="8177215" cy="1764980"/>
          </a:xfrm>
          <a:prstGeom prst="rect">
            <a:avLst/>
          </a:prstGeom>
          <a:noFill/>
          <a:ln w="12700">
            <a:noFill/>
            <a:miter lim="800000"/>
            <a:headEnd/>
            <a:tailEnd/>
          </a:ln>
          <a:effectLst/>
        </p:spPr>
        <p:txBody>
          <a:bodyPr lIns="92075" tIns="457200" rIns="92075" bIns="457200"/>
          <a:lstStyle/>
          <a:p>
            <a:pPr marL="180000" marR="0" lvl="0" indent="-180000" algn="l" defTabSz="914400" rtl="0" eaLnBrk="1" fontAlgn="auto" latinLnBrk="0" hangingPunct="1">
              <a:lnSpc>
                <a:spcPct val="100000"/>
              </a:lnSpc>
              <a:spcBef>
                <a:spcPct val="40000"/>
              </a:spcBef>
              <a:spcAft>
                <a:spcPts val="0"/>
              </a:spcAft>
              <a:buClr>
                <a:srgbClr val="DDDDDD"/>
              </a:buClr>
              <a:buSzPct val="80000"/>
              <a:buFont typeface="Wingdings" pitchFamily="2" charset="2"/>
              <a:buChar char="§"/>
              <a:tabLst/>
              <a:defRPr/>
            </a:pPr>
            <a:r>
              <a:rPr kumimoji="0" lang="en-US" sz="1800" b="1" i="0" u="none" strike="noStrike" kern="1200" cap="none" spc="0" normalizeH="0" baseline="0" noProof="0" dirty="0">
                <a:ln>
                  <a:noFill/>
                </a:ln>
                <a:solidFill>
                  <a:srgbClr val="FFFFFF"/>
                </a:solidFill>
                <a:effectLst/>
                <a:uLnTx/>
                <a:uFillTx/>
                <a:latin typeface="Arial" panose="020B0604020202020204"/>
                <a:ea typeface="+mn-ea"/>
                <a:cs typeface="Arial" pitchFamily="34" charset="0"/>
              </a:rPr>
              <a:t>Exercise 1.1: Display Profit Center Hierarchy</a:t>
            </a:r>
          </a:p>
        </p:txBody>
      </p:sp>
      <p:sp>
        <p:nvSpPr>
          <p:cNvPr id="6" name="Rectangle: Rounded Corners 5">
            <a:extLst>
              <a:ext uri="{FF2B5EF4-FFF2-40B4-BE49-F238E27FC236}">
                <a16:creationId xmlns:a16="http://schemas.microsoft.com/office/drawing/2014/main" id="{BE07B137-E250-4AC5-81D1-F142F8E125F0}"/>
              </a:ext>
            </a:extLst>
          </p:cNvPr>
          <p:cNvSpPr/>
          <p:nvPr/>
        </p:nvSpPr>
        <p:spPr>
          <a:xfrm>
            <a:off x="515938" y="3286779"/>
            <a:ext cx="8428008" cy="1122662"/>
          </a:xfrm>
          <a:prstGeom prst="roundRect">
            <a:avLst>
              <a:gd name="adj" fmla="val 7381"/>
            </a:avLst>
          </a:prstGeom>
          <a:noFill/>
          <a:ln w="57150">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8239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256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33" name="Group 32">
            <a:extLst>
              <a:ext uri="{FF2B5EF4-FFF2-40B4-BE49-F238E27FC236}">
                <a16:creationId xmlns:a16="http://schemas.microsoft.com/office/drawing/2014/main" id="{0B4CBA28-D150-432B-B948-A80EAF14F1DB}"/>
              </a:ext>
            </a:extLst>
          </p:cNvPr>
          <p:cNvGrpSpPr/>
          <p:nvPr/>
        </p:nvGrpSpPr>
        <p:grpSpPr>
          <a:xfrm>
            <a:off x="253140" y="2497103"/>
            <a:ext cx="6278878" cy="2562826"/>
            <a:chOff x="4428422" y="2334368"/>
            <a:chExt cx="7806123" cy="3512903"/>
          </a:xfrm>
        </p:grpSpPr>
        <p:cxnSp>
          <p:nvCxnSpPr>
            <p:cNvPr id="54" name="Straight Connector 53">
              <a:extLst>
                <a:ext uri="{FF2B5EF4-FFF2-40B4-BE49-F238E27FC236}">
                  <a16:creationId xmlns:a16="http://schemas.microsoft.com/office/drawing/2014/main" id="{BBE7A980-B3B3-4866-90BD-C4825E223823}"/>
                </a:ext>
              </a:extLst>
            </p:cNvPr>
            <p:cNvCxnSpPr>
              <a:cxnSpLocks/>
            </p:cNvCxnSpPr>
            <p:nvPr/>
          </p:nvCxnSpPr>
          <p:spPr>
            <a:xfrm>
              <a:off x="6781086" y="3324312"/>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C8585EA-B378-449B-BE6D-FBFA99535DB5}"/>
                </a:ext>
              </a:extLst>
            </p:cNvPr>
            <p:cNvCxnSpPr>
              <a:cxnSpLocks/>
            </p:cNvCxnSpPr>
            <p:nvPr/>
          </p:nvCxnSpPr>
          <p:spPr>
            <a:xfrm>
              <a:off x="6795663" y="4793898"/>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EAF45949-3769-489D-A71A-2F870EACB4A8}"/>
                </a:ext>
              </a:extLst>
            </p:cNvPr>
            <p:cNvGrpSpPr/>
            <p:nvPr/>
          </p:nvGrpSpPr>
          <p:grpSpPr>
            <a:xfrm>
              <a:off x="4428422" y="2334368"/>
              <a:ext cx="7806123" cy="3512903"/>
              <a:chOff x="4428422" y="2334368"/>
              <a:chExt cx="7806123" cy="3512903"/>
            </a:xfrm>
          </p:grpSpPr>
          <p:grpSp>
            <p:nvGrpSpPr>
              <p:cNvPr id="57" name="Group 56">
                <a:extLst>
                  <a:ext uri="{FF2B5EF4-FFF2-40B4-BE49-F238E27FC236}">
                    <a16:creationId xmlns:a16="http://schemas.microsoft.com/office/drawing/2014/main" id="{8BDFB0AF-A821-4BC1-960F-E1482E8C5ACF}"/>
                  </a:ext>
                </a:extLst>
              </p:cNvPr>
              <p:cNvGrpSpPr/>
              <p:nvPr/>
            </p:nvGrpSpPr>
            <p:grpSpPr>
              <a:xfrm>
                <a:off x="4428422" y="2334368"/>
                <a:ext cx="7796979" cy="3512903"/>
                <a:chOff x="4371016" y="2260587"/>
                <a:chExt cx="7796979" cy="3512903"/>
              </a:xfrm>
            </p:grpSpPr>
            <p:cxnSp>
              <p:nvCxnSpPr>
                <p:cNvPr id="62" name="Elbow Connector 37">
                  <a:extLst>
                    <a:ext uri="{FF2B5EF4-FFF2-40B4-BE49-F238E27FC236}">
                      <a16:creationId xmlns:a16="http://schemas.microsoft.com/office/drawing/2014/main" id="{5D0B86D1-D4C3-47A3-9CE0-1AD0552BCA65}"/>
                    </a:ext>
                  </a:extLst>
                </p:cNvPr>
                <p:cNvCxnSpPr>
                  <a:cxnSpLocks/>
                </p:cNvCxnSpPr>
                <p:nvPr/>
              </p:nvCxnSpPr>
              <p:spPr>
                <a:xfrm>
                  <a:off x="6204970" y="3996147"/>
                  <a:ext cx="1096000" cy="14997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23363022-A64A-49A5-8BE4-98CAB99442E2}"/>
                    </a:ext>
                  </a:extLst>
                </p:cNvPr>
                <p:cNvGrpSpPr/>
                <p:nvPr/>
              </p:nvGrpSpPr>
              <p:grpSpPr>
                <a:xfrm>
                  <a:off x="4371016" y="2260587"/>
                  <a:ext cx="7796979" cy="3512903"/>
                  <a:chOff x="4371016" y="2260587"/>
                  <a:chExt cx="7796979" cy="3512903"/>
                </a:xfrm>
              </p:grpSpPr>
              <p:cxnSp>
                <p:nvCxnSpPr>
                  <p:cNvPr id="64" name="Elbow Connector 31">
                    <a:extLst>
                      <a:ext uri="{FF2B5EF4-FFF2-40B4-BE49-F238E27FC236}">
                        <a16:creationId xmlns:a16="http://schemas.microsoft.com/office/drawing/2014/main" id="{D8C34368-D6D4-4B0B-A307-0B635720E86D}"/>
                      </a:ext>
                    </a:extLst>
                  </p:cNvPr>
                  <p:cNvCxnSpPr>
                    <a:cxnSpLocks/>
                  </p:cNvCxnSpPr>
                  <p:nvPr/>
                </p:nvCxnSpPr>
                <p:spPr>
                  <a:xfrm flipV="1">
                    <a:off x="6194084" y="2527165"/>
                    <a:ext cx="1121463" cy="1465481"/>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6D3C328A-B6AD-4905-A8A8-54A4739FF410}"/>
                      </a:ext>
                    </a:extLst>
                  </p:cNvPr>
                  <p:cNvGrpSpPr/>
                  <p:nvPr/>
                </p:nvGrpSpPr>
                <p:grpSpPr>
                  <a:xfrm>
                    <a:off x="4371016" y="2260587"/>
                    <a:ext cx="7796979" cy="3512903"/>
                    <a:chOff x="4371016" y="2260587"/>
                    <a:chExt cx="7796979" cy="3512903"/>
                  </a:xfrm>
                </p:grpSpPr>
                <p:sp>
                  <p:nvSpPr>
                    <p:cNvPr id="66" name="TextBox 65">
                      <a:extLst>
                        <a:ext uri="{FF2B5EF4-FFF2-40B4-BE49-F238E27FC236}">
                          <a16:creationId xmlns:a16="http://schemas.microsoft.com/office/drawing/2014/main" id="{8462B847-73DC-4CDB-9EB2-C4D2AE9B41A5}"/>
                        </a:ext>
                      </a:extLst>
                    </p:cNvPr>
                    <p:cNvSpPr txBox="1"/>
                    <p:nvPr/>
                  </p:nvSpPr>
                  <p:spPr>
                    <a:xfrm>
                      <a:off x="7532636" y="226058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Profitability Analysis: Intro to S/4 </a:t>
                      </a:r>
                    </a:p>
                  </p:txBody>
                </p:sp>
                <p:grpSp>
                  <p:nvGrpSpPr>
                    <p:cNvPr id="67" name="Group 66">
                      <a:extLst>
                        <a:ext uri="{FF2B5EF4-FFF2-40B4-BE49-F238E27FC236}">
                          <a16:creationId xmlns:a16="http://schemas.microsoft.com/office/drawing/2014/main" id="{E3ED8521-5DFF-433B-B780-0F9D14573BE4}"/>
                        </a:ext>
                      </a:extLst>
                    </p:cNvPr>
                    <p:cNvGrpSpPr/>
                    <p:nvPr/>
                  </p:nvGrpSpPr>
                  <p:grpSpPr>
                    <a:xfrm>
                      <a:off x="4371016" y="3031011"/>
                      <a:ext cx="1867560" cy="1901181"/>
                      <a:chOff x="575788" y="4361808"/>
                      <a:chExt cx="624164" cy="624164"/>
                    </a:xfrm>
                  </p:grpSpPr>
                  <p:grpSp>
                    <p:nvGrpSpPr>
                      <p:cNvPr id="69" name="Group 68">
                        <a:extLst>
                          <a:ext uri="{FF2B5EF4-FFF2-40B4-BE49-F238E27FC236}">
                            <a16:creationId xmlns:a16="http://schemas.microsoft.com/office/drawing/2014/main" id="{8B23A4D5-A324-4EF3-8CCF-5EF61EDA8AD0}"/>
                          </a:ext>
                        </a:extLst>
                      </p:cNvPr>
                      <p:cNvGrpSpPr/>
                      <p:nvPr/>
                    </p:nvGrpSpPr>
                    <p:grpSpPr>
                      <a:xfrm>
                        <a:off x="575788" y="4361808"/>
                        <a:ext cx="624164" cy="624164"/>
                        <a:chOff x="4492144" y="190843"/>
                        <a:chExt cx="855656" cy="855656"/>
                      </a:xfrm>
                    </p:grpSpPr>
                    <p:sp>
                      <p:nvSpPr>
                        <p:cNvPr id="71" name="Oval 70">
                          <a:extLst>
                            <a:ext uri="{FF2B5EF4-FFF2-40B4-BE49-F238E27FC236}">
                              <a16:creationId xmlns:a16="http://schemas.microsoft.com/office/drawing/2014/main" id="{FE7E7D21-5559-44CA-BEF5-4356223F704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2" name="Oval 71">
                          <a:extLst>
                            <a:ext uri="{FF2B5EF4-FFF2-40B4-BE49-F238E27FC236}">
                              <a16:creationId xmlns:a16="http://schemas.microsoft.com/office/drawing/2014/main" id="{C5AD3CDD-D4C3-4506-9906-0E4EDFEC4C36}"/>
                            </a:ext>
                          </a:extLst>
                        </p:cNvPr>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70" name="Picture 69">
                        <a:extLst>
                          <a:ext uri="{FF2B5EF4-FFF2-40B4-BE49-F238E27FC236}">
                            <a16:creationId xmlns:a16="http://schemas.microsoft.com/office/drawing/2014/main" id="{07E7BB9F-DEB0-4B2C-A143-7B4FCFA80DE3}"/>
                          </a:ext>
                        </a:extLst>
                      </p:cNvPr>
                      <p:cNvPicPr>
                        <a:picLocks noChangeAspect="1"/>
                      </p:cNvPicPr>
                      <p:nvPr/>
                    </p:nvPicPr>
                    <p:blipFill>
                      <a:blip r:embed="rId3"/>
                      <a:stretch>
                        <a:fillRect/>
                      </a:stretch>
                    </p:blipFill>
                    <p:spPr>
                      <a:xfrm>
                        <a:off x="718607" y="4514537"/>
                        <a:ext cx="328080" cy="318706"/>
                      </a:xfrm>
                      <a:prstGeom prst="rect">
                        <a:avLst/>
                      </a:prstGeom>
                    </p:spPr>
                  </p:pic>
                </p:grpSp>
                <p:sp>
                  <p:nvSpPr>
                    <p:cNvPr id="68" name="TextBox 67">
                      <a:extLst>
                        <a:ext uri="{FF2B5EF4-FFF2-40B4-BE49-F238E27FC236}">
                          <a16:creationId xmlns:a16="http://schemas.microsoft.com/office/drawing/2014/main" id="{0E1C7B5D-5997-4EF9-8632-2583021FD315}"/>
                        </a:ext>
                      </a:extLst>
                    </p:cNvPr>
                    <p:cNvSpPr txBox="1"/>
                    <p:nvPr/>
                  </p:nvSpPr>
                  <p:spPr>
                    <a:xfrm>
                      <a:off x="7558856" y="5218301"/>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Reporting Capabilities</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sp>
            <p:nvSpPr>
              <p:cNvPr id="58" name="TextBox 57">
                <a:extLst>
                  <a:ext uri="{FF2B5EF4-FFF2-40B4-BE49-F238E27FC236}">
                    <a16:creationId xmlns:a16="http://schemas.microsoft.com/office/drawing/2014/main" id="{019E8849-A346-47C7-9567-9C19C6A65A1B}"/>
                  </a:ext>
                </a:extLst>
              </p:cNvPr>
              <p:cNvSpPr txBox="1"/>
              <p:nvPr/>
            </p:nvSpPr>
            <p:spPr>
              <a:xfrm>
                <a:off x="7616262" y="4511768"/>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Market P&amp;L</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9" name="Straight Connector 58">
                <a:extLst>
                  <a:ext uri="{FF2B5EF4-FFF2-40B4-BE49-F238E27FC236}">
                    <a16:creationId xmlns:a16="http://schemas.microsoft.com/office/drawing/2014/main" id="{43E0F5AD-9B61-4B21-A5B0-CDAC6C286C96}"/>
                  </a:ext>
                </a:extLst>
              </p:cNvPr>
              <p:cNvCxnSpPr>
                <a:cxnSpLocks/>
              </p:cNvCxnSpPr>
              <p:nvPr/>
            </p:nvCxnSpPr>
            <p:spPr>
              <a:xfrm>
                <a:off x="6810376" y="4066427"/>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862646DD-A37F-487E-98A9-CD10FC0A5C49}"/>
                  </a:ext>
                </a:extLst>
              </p:cNvPr>
              <p:cNvSpPr txBox="1"/>
              <p:nvPr/>
            </p:nvSpPr>
            <p:spPr>
              <a:xfrm>
                <a:off x="7590041" y="3107175"/>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 </a:t>
                </a:r>
                <a:r>
                  <a:rPr kumimoji="0" lang="en-GB" sz="1800" b="1" i="0" u="none" strike="noStrike" kern="1200" cap="none" spc="0" normalizeH="0" baseline="0" noProof="0" err="1">
                    <a:ln>
                      <a:noFill/>
                    </a:ln>
                    <a:solidFill>
                      <a:srgbClr val="FFFFFF"/>
                    </a:solidFill>
                    <a:effectLst/>
                    <a:uLnTx/>
                    <a:uFillTx/>
                    <a:latin typeface="Arial" panose="020B0604020202020204"/>
                    <a:ea typeface="+mn-ea"/>
                    <a:cs typeface="+mn-cs"/>
                  </a:rPr>
                  <a:t>Center</a:t>
                </a: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 Reorganization</a:t>
                </a:r>
              </a:p>
            </p:txBody>
          </p:sp>
          <p:sp>
            <p:nvSpPr>
              <p:cNvPr id="61" name="TextBox 60">
                <a:extLst>
                  <a:ext uri="{FF2B5EF4-FFF2-40B4-BE49-F238E27FC236}">
                    <a16:creationId xmlns:a16="http://schemas.microsoft.com/office/drawing/2014/main" id="{12A26A85-F1C7-4E7B-A6A6-10A7D9AF810D}"/>
                  </a:ext>
                </a:extLst>
              </p:cNvPr>
              <p:cNvSpPr txBox="1"/>
              <p:nvPr/>
            </p:nvSpPr>
            <p:spPr>
              <a:xfrm>
                <a:off x="7599186" y="383682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Standardization of Dimensions</a:t>
                </a:r>
              </a:p>
            </p:txBody>
          </p:sp>
        </p:grpSp>
      </p:grpSp>
      <p:grpSp>
        <p:nvGrpSpPr>
          <p:cNvPr id="35" name="Group 34">
            <a:extLst>
              <a:ext uri="{FF2B5EF4-FFF2-40B4-BE49-F238E27FC236}">
                <a16:creationId xmlns:a16="http://schemas.microsoft.com/office/drawing/2014/main" id="{1587F3DB-EACA-4E2B-99CA-DF6CD02CBFB0}"/>
              </a:ext>
            </a:extLst>
          </p:cNvPr>
          <p:cNvGrpSpPr/>
          <p:nvPr/>
        </p:nvGrpSpPr>
        <p:grpSpPr>
          <a:xfrm>
            <a:off x="6167129" y="2110550"/>
            <a:ext cx="4825703" cy="3183915"/>
            <a:chOff x="6167129" y="2110550"/>
            <a:chExt cx="4825703" cy="3183915"/>
          </a:xfrm>
        </p:grpSpPr>
        <p:grpSp>
          <p:nvGrpSpPr>
            <p:cNvPr id="36" name="Group 35">
              <a:extLst>
                <a:ext uri="{FF2B5EF4-FFF2-40B4-BE49-F238E27FC236}">
                  <a16:creationId xmlns:a16="http://schemas.microsoft.com/office/drawing/2014/main" id="{DE3C1D3D-C617-4A48-9FB3-D0018928AE65}"/>
                </a:ext>
              </a:extLst>
            </p:cNvPr>
            <p:cNvGrpSpPr/>
            <p:nvPr/>
          </p:nvGrpSpPr>
          <p:grpSpPr>
            <a:xfrm>
              <a:off x="6168074" y="2343005"/>
              <a:ext cx="4824758" cy="2951460"/>
              <a:chOff x="7304060" y="2095049"/>
              <a:chExt cx="4824758" cy="2951460"/>
            </a:xfrm>
          </p:grpSpPr>
          <p:cxnSp>
            <p:nvCxnSpPr>
              <p:cNvPr id="44" name="Elbow Connector 7">
                <a:extLst>
                  <a:ext uri="{FF2B5EF4-FFF2-40B4-BE49-F238E27FC236}">
                    <a16:creationId xmlns:a16="http://schemas.microsoft.com/office/drawing/2014/main" id="{63E747AA-A54E-4EA9-8728-04DFB1F45A15}"/>
                  </a:ext>
                </a:extLst>
              </p:cNvPr>
              <p:cNvCxnSpPr>
                <a:cxnSpLocks/>
              </p:cNvCxnSpPr>
              <p:nvPr/>
            </p:nvCxnSpPr>
            <p:spPr>
              <a:xfrm>
                <a:off x="7304060" y="3061029"/>
                <a:ext cx="1009162" cy="719660"/>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5" name="Elbow Connector 4">
                <a:extLst>
                  <a:ext uri="{FF2B5EF4-FFF2-40B4-BE49-F238E27FC236}">
                    <a16:creationId xmlns:a16="http://schemas.microsoft.com/office/drawing/2014/main" id="{D1D61E21-0726-4723-BD25-AA036D38AA75}"/>
                  </a:ext>
                </a:extLst>
              </p:cNvPr>
              <p:cNvCxnSpPr>
                <a:cxnSpLocks/>
              </p:cNvCxnSpPr>
              <p:nvPr/>
            </p:nvCxnSpPr>
            <p:spPr>
              <a:xfrm flipV="1">
                <a:off x="7304060" y="2095049"/>
                <a:ext cx="1008701" cy="958351"/>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986E391-D121-421A-BEC8-367EA4DBD553}"/>
                  </a:ext>
                </a:extLst>
              </p:cNvPr>
              <p:cNvCxnSpPr>
                <a:cxnSpLocks/>
              </p:cNvCxnSpPr>
              <p:nvPr/>
            </p:nvCxnSpPr>
            <p:spPr>
              <a:xfrm>
                <a:off x="7785534" y="3053401"/>
                <a:ext cx="527227" cy="6919"/>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47" name="Rounded Rectangle 38">
                <a:extLst>
                  <a:ext uri="{FF2B5EF4-FFF2-40B4-BE49-F238E27FC236}">
                    <a16:creationId xmlns:a16="http://schemas.microsoft.com/office/drawing/2014/main" id="{EFD80674-F08B-49D1-A9B3-669AAF4E4378}"/>
                  </a:ext>
                </a:extLst>
              </p:cNvPr>
              <p:cNvSpPr/>
              <p:nvPr/>
            </p:nvSpPr>
            <p:spPr>
              <a:xfrm>
                <a:off x="8437023" y="4242697"/>
                <a:ext cx="3691795" cy="803812"/>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dirty="0">
                    <a:ln>
                      <a:noFill/>
                    </a:ln>
                    <a:solidFill>
                      <a:srgbClr val="1A3040"/>
                    </a:solidFill>
                    <a:effectLst/>
                    <a:uLnTx/>
                    <a:uFillTx/>
                    <a:latin typeface="Arial" charset="0"/>
                    <a:ea typeface="+mn-ea"/>
                    <a:cs typeface="Arial" charset="0"/>
                  </a:rPr>
                  <a:t>Cost </a:t>
                </a:r>
                <a:r>
                  <a:rPr kumimoji="0" lang="en-GB" sz="2000" b="1" i="0" u="none" strike="noStrike" kern="1200" cap="none" spc="0" normalizeH="0" baseline="0" noProof="0" dirty="0" err="1">
                    <a:ln>
                      <a:noFill/>
                    </a:ln>
                    <a:solidFill>
                      <a:srgbClr val="1A3040"/>
                    </a:solidFill>
                    <a:effectLst/>
                    <a:uLnTx/>
                    <a:uFillTx/>
                    <a:latin typeface="Arial" charset="0"/>
                    <a:ea typeface="+mn-ea"/>
                    <a:cs typeface="Arial" charset="0"/>
                  </a:rPr>
                  <a:t>Center</a:t>
                </a:r>
                <a:r>
                  <a:rPr kumimoji="0" lang="en-GB" sz="2000" b="1" i="0" u="none" strike="noStrike" kern="1200" cap="none" spc="0" normalizeH="0" baseline="0" noProof="0" dirty="0">
                    <a:ln>
                      <a:noFill/>
                    </a:ln>
                    <a:solidFill>
                      <a:srgbClr val="1A3040"/>
                    </a:solidFill>
                    <a:effectLst/>
                    <a:uLnTx/>
                    <a:uFillTx/>
                    <a:latin typeface="Arial" charset="0"/>
                    <a:ea typeface="+mn-ea"/>
                    <a:cs typeface="Arial" charset="0"/>
                  </a:rPr>
                  <a:t> Standardization</a:t>
                </a:r>
              </a:p>
            </p:txBody>
          </p:sp>
          <p:sp>
            <p:nvSpPr>
              <p:cNvPr id="48" name="Rounded Rectangle 39">
                <a:extLst>
                  <a:ext uri="{FF2B5EF4-FFF2-40B4-BE49-F238E27FC236}">
                    <a16:creationId xmlns:a16="http://schemas.microsoft.com/office/drawing/2014/main" id="{09F9CDCE-1F5C-4BFA-BC40-6990D17187FF}"/>
                  </a:ext>
                </a:extLst>
              </p:cNvPr>
              <p:cNvSpPr/>
              <p:nvPr/>
            </p:nvSpPr>
            <p:spPr>
              <a:xfrm>
                <a:off x="8435666" y="2626784"/>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Arial"/>
                  </a:rPr>
                  <a:t>The 3 Building Blocks</a:t>
                </a:r>
                <a:endParaRPr kumimoji="0" lang="en-US" sz="1400" b="0" i="0" u="none" strike="noStrike" kern="1200" cap="none" spc="0" normalizeH="0" baseline="0" noProof="0" dirty="0">
                  <a:ln>
                    <a:noFill/>
                  </a:ln>
                  <a:solidFill>
                    <a:srgbClr val="FFFFFF"/>
                  </a:solidFill>
                  <a:effectLst/>
                  <a:uLnTx/>
                  <a:uFillTx/>
                  <a:latin typeface="Arial"/>
                  <a:ea typeface="+mn-ea"/>
                  <a:cs typeface="Arial"/>
                </a:endParaRPr>
              </a:p>
            </p:txBody>
          </p:sp>
          <p:sp>
            <p:nvSpPr>
              <p:cNvPr id="49" name="Rounded Rectangle 40">
                <a:extLst>
                  <a:ext uri="{FF2B5EF4-FFF2-40B4-BE49-F238E27FC236}">
                    <a16:creationId xmlns:a16="http://schemas.microsoft.com/office/drawing/2014/main" id="{58DE49A8-1170-430E-A1E4-AF844070DFA1}"/>
                  </a:ext>
                </a:extLst>
              </p:cNvPr>
              <p:cNvSpPr/>
              <p:nvPr/>
            </p:nvSpPr>
            <p:spPr>
              <a:xfrm>
                <a:off x="8435666" y="3489835"/>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charset="0"/>
                    <a:ea typeface="+mn-ea"/>
                    <a:cs typeface="Arial" charset="0"/>
                  </a:rPr>
                  <a:t>Profit </a:t>
                </a:r>
                <a:r>
                  <a:rPr kumimoji="0" lang="en-GB" sz="1600" b="1" i="0" u="none" strike="noStrike" kern="1200" cap="none" spc="0" normalizeH="0" baseline="0" noProof="0" dirty="0" err="1">
                    <a:ln>
                      <a:noFill/>
                    </a:ln>
                    <a:solidFill>
                      <a:srgbClr val="FFFFFF"/>
                    </a:solidFill>
                    <a:effectLst/>
                    <a:uLnTx/>
                    <a:uFillTx/>
                    <a:latin typeface="Arial" charset="0"/>
                    <a:ea typeface="+mn-ea"/>
                    <a:cs typeface="Arial" charset="0"/>
                  </a:rPr>
                  <a:t>Center</a:t>
                </a:r>
                <a:r>
                  <a:rPr kumimoji="0" lang="en-GB" sz="1600" b="1" i="0" u="none" strike="noStrike" kern="1200" cap="none" spc="0" normalizeH="0" baseline="0" noProof="0" dirty="0">
                    <a:ln>
                      <a:noFill/>
                    </a:ln>
                    <a:solidFill>
                      <a:srgbClr val="FFFFFF"/>
                    </a:solidFill>
                    <a:effectLst/>
                    <a:uLnTx/>
                    <a:uFillTx/>
                    <a:latin typeface="Arial" charset="0"/>
                    <a:ea typeface="+mn-ea"/>
                    <a:cs typeface="Arial" charset="0"/>
                  </a:rPr>
                  <a:t> Reorganization</a:t>
                </a:r>
                <a:endParaRPr kumimoji="0" lang="en-GB"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cxnSp>
          <p:nvCxnSpPr>
            <p:cNvPr id="37" name="Elbow Connector 7">
              <a:extLst>
                <a:ext uri="{FF2B5EF4-FFF2-40B4-BE49-F238E27FC236}">
                  <a16:creationId xmlns:a16="http://schemas.microsoft.com/office/drawing/2014/main" id="{3919A5E4-6AFA-4849-A677-18031D0B19C6}"/>
                </a:ext>
              </a:extLst>
            </p:cNvPr>
            <p:cNvCxnSpPr>
              <a:cxnSpLocks/>
            </p:cNvCxnSpPr>
            <p:nvPr/>
          </p:nvCxnSpPr>
          <p:spPr>
            <a:xfrm>
              <a:off x="6167129" y="3302800"/>
              <a:ext cx="1009162" cy="1542657"/>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42" name="Rounded Rectangle 39">
              <a:extLst>
                <a:ext uri="{FF2B5EF4-FFF2-40B4-BE49-F238E27FC236}">
                  <a16:creationId xmlns:a16="http://schemas.microsoft.com/office/drawing/2014/main" id="{266F9255-DF2A-454F-A2A8-95324DEDFFF1}"/>
                </a:ext>
              </a:extLst>
            </p:cNvPr>
            <p:cNvSpPr/>
            <p:nvPr/>
          </p:nvSpPr>
          <p:spPr>
            <a:xfrm>
              <a:off x="7299680" y="2110550"/>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Arial"/>
                </a:rPr>
                <a:t>Rationale for CO-PA changes</a:t>
              </a:r>
              <a:endParaRPr kumimoji="0" lang="en-US" sz="1400" b="0" i="0" u="none" strike="noStrike" kern="1200" cap="none" spc="0" normalizeH="0" baseline="0" noProof="0" dirty="0">
                <a:ln>
                  <a:noFill/>
                </a:ln>
                <a:solidFill>
                  <a:srgbClr val="FFFFFF"/>
                </a:solidFill>
                <a:effectLst/>
                <a:uLnTx/>
                <a:uFillTx/>
                <a:latin typeface="Arial"/>
                <a:ea typeface="+mn-ea"/>
                <a:cs typeface="Arial"/>
              </a:endParaRPr>
            </a:p>
          </p:txBody>
        </p:sp>
      </p:grpSp>
    </p:spTree>
    <p:extLst>
      <p:ext uri="{BB962C8B-B14F-4D97-AF65-F5344CB8AC3E}">
        <p14:creationId xmlns:p14="http://schemas.microsoft.com/office/powerpoint/2010/main" val="1974687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C0E9E-059A-4562-B5AA-C98C05D5E878}"/>
              </a:ext>
            </a:extLst>
          </p:cNvPr>
          <p:cNvSpPr>
            <a:spLocks noGrp="1"/>
          </p:cNvSpPr>
          <p:nvPr>
            <p:ph type="title"/>
          </p:nvPr>
        </p:nvSpPr>
        <p:spPr/>
        <p:txBody>
          <a:bodyPr/>
          <a:lstStyle/>
          <a:p>
            <a:r>
              <a:rPr lang="en-GB"/>
              <a:t>Cost </a:t>
            </a:r>
            <a:r>
              <a:rPr lang="en-GB" err="1"/>
              <a:t>Center</a:t>
            </a:r>
            <a:r>
              <a:rPr lang="en-GB"/>
              <a:t> Key Master Data Fields – Basic Fields</a:t>
            </a:r>
          </a:p>
        </p:txBody>
      </p:sp>
      <p:sp>
        <p:nvSpPr>
          <p:cNvPr id="5" name="Slide Number Placeholder 4">
            <a:extLst>
              <a:ext uri="{FF2B5EF4-FFF2-40B4-BE49-F238E27FC236}">
                <a16:creationId xmlns:a16="http://schemas.microsoft.com/office/drawing/2014/main" id="{DB931FD7-FC7F-4A5F-B28A-D5BA7B8BCF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0DECE023-DC38-4CA2-A0C4-2F7F84BC69BD}"/>
              </a:ext>
            </a:extLst>
          </p:cNvPr>
          <p:cNvPicPr>
            <a:picLocks noChangeAspect="1"/>
          </p:cNvPicPr>
          <p:nvPr/>
        </p:nvPicPr>
        <p:blipFill>
          <a:blip r:embed="rId3"/>
          <a:stretch>
            <a:fillRect/>
          </a:stretch>
        </p:blipFill>
        <p:spPr>
          <a:xfrm>
            <a:off x="515939" y="1437910"/>
            <a:ext cx="5580061" cy="5368253"/>
          </a:xfrm>
          <a:prstGeom prst="rect">
            <a:avLst/>
          </a:prstGeom>
          <a:effectLst>
            <a:outerShdw blurRad="50800" dist="38100" dir="2700000" algn="tl" rotWithShape="0">
              <a:prstClr val="black">
                <a:alpha val="40000"/>
              </a:prstClr>
            </a:outerShdw>
          </a:effectLst>
        </p:spPr>
      </p:pic>
      <p:sp>
        <p:nvSpPr>
          <p:cNvPr id="8" name="Rectangle 7">
            <a:extLst>
              <a:ext uri="{FF2B5EF4-FFF2-40B4-BE49-F238E27FC236}">
                <a16:creationId xmlns:a16="http://schemas.microsoft.com/office/drawing/2014/main" id="{93AAC0CC-D83C-4E24-84B5-C986D28E74EE}"/>
              </a:ext>
            </a:extLst>
          </p:cNvPr>
          <p:cNvSpPr/>
          <p:nvPr/>
        </p:nvSpPr>
        <p:spPr>
          <a:xfrm>
            <a:off x="1103747" y="1437910"/>
            <a:ext cx="2877126" cy="233873"/>
          </a:xfrm>
          <a:prstGeom prst="rect">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Rectangle 8">
            <a:extLst>
              <a:ext uri="{FF2B5EF4-FFF2-40B4-BE49-F238E27FC236}">
                <a16:creationId xmlns:a16="http://schemas.microsoft.com/office/drawing/2014/main" id="{E263D21D-33B8-488E-9F39-CC7F9650E93C}"/>
              </a:ext>
            </a:extLst>
          </p:cNvPr>
          <p:cNvSpPr/>
          <p:nvPr/>
        </p:nvSpPr>
        <p:spPr>
          <a:xfrm>
            <a:off x="6530110" y="1437910"/>
            <a:ext cx="5412507" cy="365125"/>
          </a:xfrm>
          <a:prstGeom prst="rect">
            <a:avLst/>
          </a:prstGeom>
          <a:noFill/>
          <a:ln w="952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All Cost </a:t>
            </a:r>
            <a:r>
              <a:rPr kumimoji="0" lang="en-GB" sz="1100" b="0" i="0" u="none" strike="noStrike" kern="1200" cap="none" spc="0" normalizeH="0" baseline="0" noProof="0" err="1">
                <a:ln>
                  <a:noFill/>
                </a:ln>
                <a:solidFill>
                  <a:srgbClr val="000000"/>
                </a:solidFill>
                <a:effectLst/>
                <a:uLnTx/>
                <a:uFillTx/>
                <a:latin typeface="Arial" panose="020B0604020202020204"/>
                <a:ea typeface="+mn-ea"/>
                <a:cs typeface="+mn-cs"/>
              </a:rPr>
              <a:t>Centers</a:t>
            </a: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  have 5 digits numeric codes. Cost </a:t>
            </a:r>
            <a:r>
              <a:rPr kumimoji="0" lang="en-GB" sz="1100" b="0" i="0" u="none" strike="noStrike" kern="1200" cap="none" spc="0" normalizeH="0" baseline="0" noProof="0" err="1">
                <a:ln>
                  <a:noFill/>
                </a:ln>
                <a:solidFill>
                  <a:srgbClr val="000000"/>
                </a:solidFill>
                <a:effectLst/>
                <a:uLnTx/>
                <a:uFillTx/>
                <a:latin typeface="Arial" panose="020B0604020202020204"/>
                <a:ea typeface="+mn-ea"/>
                <a:cs typeface="+mn-cs"/>
              </a:rPr>
              <a:t>Centers</a:t>
            </a: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 migrated from ECC have the same number in S/4 as in ECC.</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4374EA16-C313-4043-999C-9E8981E99754}"/>
              </a:ext>
            </a:extLst>
          </p:cNvPr>
          <p:cNvSpPr/>
          <p:nvPr/>
        </p:nvSpPr>
        <p:spPr>
          <a:xfrm>
            <a:off x="1103747" y="1686098"/>
            <a:ext cx="2877126" cy="233873"/>
          </a:xfrm>
          <a:prstGeom prst="rect">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9D3D58DC-CC62-4E8D-B1D0-392A96B27F89}"/>
              </a:ext>
            </a:extLst>
          </p:cNvPr>
          <p:cNvSpPr/>
          <p:nvPr/>
        </p:nvSpPr>
        <p:spPr>
          <a:xfrm>
            <a:off x="6530110" y="1891069"/>
            <a:ext cx="5412507" cy="233295"/>
          </a:xfrm>
          <a:prstGeom prst="rect">
            <a:avLst/>
          </a:prstGeom>
          <a:noFill/>
          <a:ln w="952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All Cost </a:t>
            </a:r>
            <a:r>
              <a:rPr kumimoji="0" lang="en-GB" sz="1100" b="0" i="0" u="none" strike="noStrike" kern="1200" cap="none" spc="0" normalizeH="0" baseline="0" noProof="0" err="1">
                <a:ln>
                  <a:noFill/>
                </a:ln>
                <a:solidFill>
                  <a:srgbClr val="000000"/>
                </a:solidFill>
                <a:effectLst/>
                <a:uLnTx/>
                <a:uFillTx/>
                <a:latin typeface="Arial" panose="020B0604020202020204"/>
                <a:ea typeface="+mn-ea"/>
                <a:cs typeface="+mn-cs"/>
              </a:rPr>
              <a:t>Centers</a:t>
            </a: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 in JTI are created in Controlling Area 1000.</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F14DD8A1-AC85-4DE8-847E-0ACA3813C7D8}"/>
              </a:ext>
            </a:extLst>
          </p:cNvPr>
          <p:cNvSpPr/>
          <p:nvPr/>
        </p:nvSpPr>
        <p:spPr>
          <a:xfrm>
            <a:off x="6530110" y="2212398"/>
            <a:ext cx="5412507" cy="233295"/>
          </a:xfrm>
          <a:prstGeom prst="rect">
            <a:avLst/>
          </a:prstGeom>
          <a:noFill/>
          <a:ln w="952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All valid Cost </a:t>
            </a:r>
            <a:r>
              <a:rPr kumimoji="0" lang="en-GB" sz="1100" b="0" i="0" u="none" strike="noStrike" kern="1200" cap="none" spc="0" normalizeH="0" baseline="0" noProof="0" err="1">
                <a:ln>
                  <a:noFill/>
                </a:ln>
                <a:solidFill>
                  <a:srgbClr val="000000"/>
                </a:solidFill>
                <a:effectLst/>
                <a:uLnTx/>
                <a:uFillTx/>
                <a:latin typeface="Arial" panose="020B0604020202020204"/>
                <a:ea typeface="+mn-ea"/>
                <a:cs typeface="+mn-cs"/>
              </a:rPr>
              <a:t>Centers</a:t>
            </a: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 must be in its validity period defined here.</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Rectangle 12">
            <a:extLst>
              <a:ext uri="{FF2B5EF4-FFF2-40B4-BE49-F238E27FC236}">
                <a16:creationId xmlns:a16="http://schemas.microsoft.com/office/drawing/2014/main" id="{3022FD16-4359-4163-A9D9-F18B9A089421}"/>
              </a:ext>
            </a:extLst>
          </p:cNvPr>
          <p:cNvSpPr/>
          <p:nvPr/>
        </p:nvSpPr>
        <p:spPr>
          <a:xfrm>
            <a:off x="1103746" y="1950817"/>
            <a:ext cx="3523671" cy="233873"/>
          </a:xfrm>
          <a:prstGeom prst="rect">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Arrow: Right 13">
            <a:extLst>
              <a:ext uri="{FF2B5EF4-FFF2-40B4-BE49-F238E27FC236}">
                <a16:creationId xmlns:a16="http://schemas.microsoft.com/office/drawing/2014/main" id="{F01A9962-345B-4F0E-832C-F8583FC8C000}"/>
              </a:ext>
            </a:extLst>
          </p:cNvPr>
          <p:cNvSpPr/>
          <p:nvPr/>
        </p:nvSpPr>
        <p:spPr>
          <a:xfrm>
            <a:off x="4876801" y="1437910"/>
            <a:ext cx="1551713" cy="712501"/>
          </a:xfrm>
          <a:prstGeom prst="rightArrow">
            <a:avLst>
              <a:gd name="adj1" fmla="val 50000"/>
              <a:gd name="adj2" fmla="val 30275"/>
            </a:avLst>
          </a:prstGeom>
          <a:gradFill flip="none" rotWithShape="1">
            <a:gsLst>
              <a:gs pos="0">
                <a:schemeClr val="accent1">
                  <a:lumMod val="75000"/>
                </a:schemeClr>
              </a:gs>
              <a:gs pos="50000">
                <a:schemeClr val="accent1"/>
              </a:gs>
              <a:gs pos="100000">
                <a:srgbClr val="00B0F0">
                  <a:tint val="23500"/>
                  <a:satMod val="160000"/>
                </a:srgb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76A3EF12-BDDB-4DF7-8C35-A6B9B618F176}"/>
              </a:ext>
            </a:extLst>
          </p:cNvPr>
          <p:cNvSpPr/>
          <p:nvPr/>
        </p:nvSpPr>
        <p:spPr>
          <a:xfrm>
            <a:off x="1902691" y="3098725"/>
            <a:ext cx="3629891" cy="531166"/>
          </a:xfrm>
          <a:prstGeom prst="rect">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 name="Rectangle 16">
            <a:extLst>
              <a:ext uri="{FF2B5EF4-FFF2-40B4-BE49-F238E27FC236}">
                <a16:creationId xmlns:a16="http://schemas.microsoft.com/office/drawing/2014/main" id="{544A3D6A-F538-47A8-BE25-AC8B647CA623}"/>
              </a:ext>
            </a:extLst>
          </p:cNvPr>
          <p:cNvSpPr/>
          <p:nvPr/>
        </p:nvSpPr>
        <p:spPr>
          <a:xfrm>
            <a:off x="6502402" y="3040401"/>
            <a:ext cx="5412507" cy="589490"/>
          </a:xfrm>
          <a:prstGeom prst="rect">
            <a:avLst/>
          </a:prstGeom>
          <a:noFill/>
          <a:ln w="9525">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A new standard naming convention for cost centers are introduced to include the profit center code (e.g. RU00) in the “Name” field, and the profit center name in the “Description” field. Both will be visible in GPM+ reporting</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Arrow: Right 17">
            <a:extLst>
              <a:ext uri="{FF2B5EF4-FFF2-40B4-BE49-F238E27FC236}">
                <a16:creationId xmlns:a16="http://schemas.microsoft.com/office/drawing/2014/main" id="{F21640F8-812C-4642-BF3D-1A0E8CCECFC0}"/>
              </a:ext>
            </a:extLst>
          </p:cNvPr>
          <p:cNvSpPr/>
          <p:nvPr/>
        </p:nvSpPr>
        <p:spPr>
          <a:xfrm>
            <a:off x="5609313" y="2942396"/>
            <a:ext cx="819202" cy="712501"/>
          </a:xfrm>
          <a:prstGeom prst="rightArrow">
            <a:avLst>
              <a:gd name="adj1" fmla="val 50000"/>
              <a:gd name="adj2" fmla="val 30275"/>
            </a:avLst>
          </a:prstGeom>
          <a:gradFill flip="none" rotWithShape="1">
            <a:gsLst>
              <a:gs pos="0">
                <a:schemeClr val="accent1">
                  <a:lumMod val="75000"/>
                </a:schemeClr>
              </a:gs>
              <a:gs pos="50000">
                <a:schemeClr val="accent1"/>
              </a:gs>
              <a:gs pos="100000">
                <a:srgbClr val="00B0F0">
                  <a:tint val="23500"/>
                  <a:satMod val="160000"/>
                </a:srgb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E0856DBD-F7AF-418C-94D1-654DC160911F}"/>
              </a:ext>
            </a:extLst>
          </p:cNvPr>
          <p:cNvSpPr/>
          <p:nvPr/>
        </p:nvSpPr>
        <p:spPr>
          <a:xfrm>
            <a:off x="1511276" y="3980873"/>
            <a:ext cx="2543488" cy="531166"/>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 name="Rectangle 19">
            <a:extLst>
              <a:ext uri="{FF2B5EF4-FFF2-40B4-BE49-F238E27FC236}">
                <a16:creationId xmlns:a16="http://schemas.microsoft.com/office/drawing/2014/main" id="{EC63C15E-7BF0-4457-8CB3-C7D1D07BC122}"/>
              </a:ext>
            </a:extLst>
          </p:cNvPr>
          <p:cNvSpPr/>
          <p:nvPr/>
        </p:nvSpPr>
        <p:spPr>
          <a:xfrm>
            <a:off x="6502402" y="3799727"/>
            <a:ext cx="5412507" cy="589490"/>
          </a:xfrm>
          <a:prstGeom prst="rect">
            <a:avLst/>
          </a:prstGeom>
          <a:noFill/>
          <a:ln w="63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Every cost center </a:t>
            </a: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must have a user responsible </a:t>
            </a: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populated</a:t>
            </a: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 this will be used to identify the purchase requisition approver in cases where the PR contains a cost center not linked to the SAP HR hierarchy.</a:t>
            </a:r>
          </a:p>
        </p:txBody>
      </p:sp>
      <p:sp>
        <p:nvSpPr>
          <p:cNvPr id="21" name="Arrow: Right 20">
            <a:extLst>
              <a:ext uri="{FF2B5EF4-FFF2-40B4-BE49-F238E27FC236}">
                <a16:creationId xmlns:a16="http://schemas.microsoft.com/office/drawing/2014/main" id="{A7D7A4A7-87EC-4232-A4E0-EF88B6442C9D}"/>
              </a:ext>
            </a:extLst>
          </p:cNvPr>
          <p:cNvSpPr/>
          <p:nvPr/>
        </p:nvSpPr>
        <p:spPr>
          <a:xfrm>
            <a:off x="4267197" y="3765786"/>
            <a:ext cx="2179786" cy="712500"/>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ounded Rectangle 56">
            <a:extLst>
              <a:ext uri="{FF2B5EF4-FFF2-40B4-BE49-F238E27FC236}">
                <a16:creationId xmlns:a16="http://schemas.microsoft.com/office/drawing/2014/main" id="{321AA661-DA58-4AB3-A013-571C8D88006C}"/>
              </a:ext>
            </a:extLst>
          </p:cNvPr>
          <p:cNvSpPr/>
          <p:nvPr/>
        </p:nvSpPr>
        <p:spPr bwMode="auto">
          <a:xfrm>
            <a:off x="6502404" y="4470665"/>
            <a:ext cx="5441649" cy="2040148"/>
          </a:xfrm>
          <a:prstGeom prst="roundRect">
            <a:avLst>
              <a:gd name="adj" fmla="val 5198"/>
            </a:avLst>
          </a:prstGeom>
          <a:solidFill>
            <a:schemeClr val="accent1"/>
          </a:solidFill>
          <a:ln>
            <a:noFill/>
          </a:ln>
          <a:effectLst/>
        </p:spPr>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marL="53975"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4" name="Graphic 23" descr="Lightbulb and gear">
            <a:extLst>
              <a:ext uri="{FF2B5EF4-FFF2-40B4-BE49-F238E27FC236}">
                <a16:creationId xmlns:a16="http://schemas.microsoft.com/office/drawing/2014/main" id="{925EF99B-D31F-44C6-A7D9-75E776CBB8E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19578" y="4486083"/>
            <a:ext cx="340169" cy="355219"/>
          </a:xfrm>
          <a:prstGeom prst="rect">
            <a:avLst/>
          </a:prstGeom>
        </p:spPr>
      </p:pic>
      <p:sp>
        <p:nvSpPr>
          <p:cNvPr id="25" name="Rectangle 24">
            <a:extLst>
              <a:ext uri="{FF2B5EF4-FFF2-40B4-BE49-F238E27FC236}">
                <a16:creationId xmlns:a16="http://schemas.microsoft.com/office/drawing/2014/main" id="{FFACDF03-0693-4630-B248-25265C5ED4E9}"/>
              </a:ext>
            </a:extLst>
          </p:cNvPr>
          <p:cNvSpPr/>
          <p:nvPr/>
        </p:nvSpPr>
        <p:spPr>
          <a:xfrm>
            <a:off x="6733309" y="4450816"/>
            <a:ext cx="5181600" cy="2123658"/>
          </a:xfrm>
          <a:prstGeom prst="rect">
            <a:avLst/>
          </a:prstGeom>
        </p:spPr>
        <p:txBody>
          <a:bodyPr wrap="square">
            <a:spAutoFit/>
          </a:bodyPr>
          <a:lstStyle/>
          <a:p>
            <a:pPr marL="53975"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In S/4HANA, Spending Approval is changing!</a:t>
            </a:r>
            <a:r>
              <a:rPr kumimoji="0" lang="en-GB" sz="1400" b="0" i="1" u="none" strike="noStrike" kern="1200" cap="none" spc="0" normalizeH="0" baseline="30000" noProof="0">
                <a:ln>
                  <a:noFill/>
                </a:ln>
                <a:solidFill>
                  <a:srgbClr val="FF0000"/>
                </a:solidFill>
                <a:effectLst/>
                <a:uLnTx/>
                <a:uFillTx/>
                <a:latin typeface="Georgia" panose="02040502050405020303" pitchFamily="18" charset="0"/>
                <a:ea typeface="+mn-ea"/>
                <a:cs typeface="+mn-cs"/>
              </a:rPr>
              <a:t>1)</a:t>
            </a:r>
          </a:p>
          <a:p>
            <a:pPr marL="144000" marR="0" lvl="0" indent="-144000" algn="l"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PR approval will be based on HR hierarchy</a:t>
            </a:r>
            <a:r>
              <a:rPr kumimoji="0" lang="en-GB" sz="1200" b="0" i="1" u="none" strike="noStrike" kern="1200" cap="none" spc="0" normalizeH="0" baseline="30000" noProof="0">
                <a:ln>
                  <a:noFill/>
                </a:ln>
                <a:solidFill>
                  <a:srgbClr val="FF0000"/>
                </a:solidFill>
                <a:effectLst/>
                <a:uLnTx/>
                <a:uFillTx/>
                <a:latin typeface="Georgia" panose="02040502050405020303" pitchFamily="18" charset="0"/>
                <a:ea typeface="+mn-ea"/>
                <a:cs typeface="+mn-cs"/>
              </a:rPr>
              <a:t>2)</a:t>
            </a: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a:t>
            </a:r>
          </a:p>
          <a:p>
            <a:pPr marL="144000" marR="0" lvl="0" indent="-144000" algn="l"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1</a:t>
            </a:r>
            <a:r>
              <a:rPr kumimoji="0" lang="en-GB" sz="1200" b="0" i="1" u="none" strike="noStrike" kern="1200" cap="none" spc="0" normalizeH="0" baseline="30000" noProof="0">
                <a:ln>
                  <a:noFill/>
                </a:ln>
                <a:solidFill>
                  <a:srgbClr val="000000"/>
                </a:solidFill>
                <a:effectLst/>
                <a:uLnTx/>
                <a:uFillTx/>
                <a:latin typeface="Georgia" panose="02040502050405020303" pitchFamily="18" charset="0"/>
                <a:ea typeface="+mn-ea"/>
                <a:cs typeface="+mn-cs"/>
              </a:rPr>
              <a:t>st</a:t>
            </a: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level PR approver name will be populated with “User Responsible” field from Cost Center master data, in case of PR linked to a Cost Center other than the purchase requisitioner’s own Cost Center. This is applicable to purchasing to Cost Center, Capex/</a:t>
            </a:r>
            <a:r>
              <a:rPr kumimoji="0" lang="en-GB" sz="1200" b="0" i="1" u="none" strike="noStrike" kern="1200" cap="none" spc="0" normalizeH="0" baseline="0" noProof="0" err="1">
                <a:ln>
                  <a:noFill/>
                </a:ln>
                <a:solidFill>
                  <a:srgbClr val="000000"/>
                </a:solidFill>
                <a:effectLst/>
                <a:uLnTx/>
                <a:uFillTx/>
                <a:latin typeface="Georgia" panose="02040502050405020303" pitchFamily="18" charset="0"/>
                <a:ea typeface="+mn-ea"/>
                <a:cs typeface="+mn-cs"/>
              </a:rPr>
              <a:t>Opex</a:t>
            </a: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/Marketing WBS, or orders.</a:t>
            </a:r>
          </a:p>
          <a:p>
            <a:pPr marL="144000" marR="0" lvl="0" indent="-144000" algn="l" defTabSz="91440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Once the 1</a:t>
            </a:r>
            <a:r>
              <a:rPr kumimoji="0" lang="en-GB" sz="1200" b="0" i="1" u="none" strike="noStrike" kern="1200" cap="none" spc="0" normalizeH="0" baseline="30000" noProof="0">
                <a:ln>
                  <a:noFill/>
                </a:ln>
                <a:solidFill>
                  <a:srgbClr val="000000"/>
                </a:solidFill>
                <a:effectLst/>
                <a:uLnTx/>
                <a:uFillTx/>
                <a:latin typeface="Georgia" panose="02040502050405020303" pitchFamily="18" charset="0"/>
                <a:ea typeface="+mn-ea"/>
                <a:cs typeface="+mn-cs"/>
              </a:rPr>
              <a:t>st</a:t>
            </a: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level approver name is populated, the further level approvers are populated based on the HR hierarchy of the first approver.</a:t>
            </a:r>
          </a:p>
        </p:txBody>
      </p:sp>
      <p:sp>
        <p:nvSpPr>
          <p:cNvPr id="22" name="TextBox 21">
            <a:extLst>
              <a:ext uri="{FF2B5EF4-FFF2-40B4-BE49-F238E27FC236}">
                <a16:creationId xmlns:a16="http://schemas.microsoft.com/office/drawing/2014/main" id="{6DD56DFD-AEF2-4CD2-B0AF-657FEF6EF95A}"/>
              </a:ext>
            </a:extLst>
          </p:cNvPr>
          <p:cNvSpPr txBox="1"/>
          <p:nvPr/>
        </p:nvSpPr>
        <p:spPr>
          <a:xfrm>
            <a:off x="7068177" y="6510813"/>
            <a:ext cx="4256770" cy="221951"/>
          </a:xfrm>
          <a:prstGeom prst="rect">
            <a:avLst/>
          </a:prstGeom>
          <a:noFill/>
        </p:spPr>
        <p:txBody>
          <a:bodyPr wrap="square" lIns="0" tIns="0" rIns="0" bIns="0" rtlCol="0">
            <a:normAutofit fontScale="92500" lnSpcReduction="10000"/>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GB" sz="900" b="0" i="1" u="none" strike="noStrike" kern="1200" cap="none" spc="0" normalizeH="0" baseline="30000" noProof="0">
                <a:ln>
                  <a:noFill/>
                </a:ln>
                <a:solidFill>
                  <a:srgbClr val="FF0000"/>
                </a:solidFill>
                <a:effectLst/>
                <a:uLnTx/>
                <a:uFillTx/>
                <a:latin typeface="Arial" pitchFamily="34" charset="0"/>
                <a:ea typeface="ＭＳ Ｐゴシック" pitchFamily="80" charset="-128"/>
                <a:cs typeface="+mn-cs"/>
              </a:rPr>
              <a:t>1) </a:t>
            </a:r>
            <a:r>
              <a:rPr kumimoji="0" lang="en-GB" sz="900" b="0" i="1"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Refer to P2P courses for further details.</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GB" sz="900" b="0" i="1" u="none" strike="noStrike" kern="1200" cap="none" spc="0" normalizeH="0" baseline="30000" noProof="0">
                <a:ln>
                  <a:noFill/>
                </a:ln>
                <a:solidFill>
                  <a:srgbClr val="FF0000"/>
                </a:solidFill>
                <a:effectLst/>
                <a:uLnTx/>
                <a:uFillTx/>
                <a:latin typeface="Arial" pitchFamily="34" charset="0"/>
                <a:ea typeface="ＭＳ Ｐゴシック" pitchFamily="80" charset="-128"/>
                <a:cs typeface="+mn-cs"/>
              </a:rPr>
              <a:t>2) </a:t>
            </a:r>
            <a:r>
              <a:rPr kumimoji="0" lang="en-GB" sz="900" b="0" i="1"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You can find HR hierarchy via Outlook Properties of a given user.</a:t>
            </a:r>
            <a:endParaRPr kumimoji="0" lang="en-US" sz="900" b="0" i="1"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endParaRPr>
          </a:p>
        </p:txBody>
      </p:sp>
      <p:sp>
        <p:nvSpPr>
          <p:cNvPr id="26" name="Rectangle: Rounded Corners 25">
            <a:extLst>
              <a:ext uri="{FF2B5EF4-FFF2-40B4-BE49-F238E27FC236}">
                <a16:creationId xmlns:a16="http://schemas.microsoft.com/office/drawing/2014/main" id="{D78D91C4-86B0-4E94-964A-71FB415E67AF}"/>
              </a:ext>
            </a:extLst>
          </p:cNvPr>
          <p:cNvSpPr/>
          <p:nvPr/>
        </p:nvSpPr>
        <p:spPr>
          <a:xfrm>
            <a:off x="4876801" y="1437909"/>
            <a:ext cx="1219199" cy="159982"/>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KS03 – Display CC</a:t>
            </a:r>
          </a:p>
        </p:txBody>
      </p:sp>
    </p:spTree>
    <p:extLst>
      <p:ext uri="{BB962C8B-B14F-4D97-AF65-F5344CB8AC3E}">
        <p14:creationId xmlns:p14="http://schemas.microsoft.com/office/powerpoint/2010/main" val="15088227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YwLtFvJPmZMIJRo0G1gMKg"/>
</p:tagLst>
</file>

<file path=ppt/theme/theme1.xml><?xml version="1.0" encoding="utf-8"?>
<a:theme xmlns:a="http://schemas.openxmlformats.org/drawingml/2006/main" name="S4F-ERP Profitability Analysis">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Remarks xmlns="91871c47-af2e-43ea-ad3f-7bb4c536bc45" xsi:nil="true"/>
    <Details xmlns="91871c47-af2e-43ea-ad3f-7bb4c536bc45" xsi:nil="true"/>
    <FolderInfo xmlns="91871c47-af2e-43ea-ad3f-7bb4c536bc45" xsi:nil="true"/>
    <T_x002d_Code xmlns="91871c47-af2e-43ea-ad3f-7bb4c536bc4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Документ" ma:contentTypeID="0x010100EA691DA1475FED40816A34A9887BD419" ma:contentTypeVersion="26" ma:contentTypeDescription="Создание документа." ma:contentTypeScope="" ma:versionID="559e90d719ff0254e378a0bb7967f071">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a3b096dd063bdcacd4429cc4e08033be"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Свойства единой политики соответствия требованиям" ma:hidden="true" ma:internalName="_ip_UnifiedCompliancePolicyProperties">
      <xsd:simpleType>
        <xsd:restriction base="dms:Note"/>
      </xsd:simpleType>
    </xsd:element>
    <xsd:element name="_ip_UnifiedCompliancePolicyUIAction" ma:index="28" nillable="true" ma:displayName="Действие с пользовательским интерфейсом в рамках единой политики соответствия требованиям"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Теги изображений"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Совместно с подробностями"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AD4D8B1-B0DB-40FD-ABC1-AC90CB5B261C}">
  <ds:schemaRefs>
    <ds:schemaRef ds:uri="http://schemas.microsoft.com/office/2006/metadata/properties"/>
    <ds:schemaRef ds:uri="http://purl.org/dc/terms/"/>
    <ds:schemaRef ds:uri="http://schemas.openxmlformats.org/package/2006/metadata/core-properties"/>
    <ds:schemaRef ds:uri="ba249638-b5c4-4b59-8094-70d8491c2e9c"/>
    <ds:schemaRef ds:uri="http://schemas.microsoft.com/office/2006/documentManagement/types"/>
    <ds:schemaRef ds:uri="http://schemas.microsoft.com/office/infopath/2007/PartnerControls"/>
    <ds:schemaRef ds:uri="http://purl.org/dc/elements/1.1/"/>
    <ds:schemaRef ds:uri="91871c47-af2e-43ea-ad3f-7bb4c536bc45"/>
    <ds:schemaRef ds:uri="http://www.w3.org/XML/1998/namespace"/>
    <ds:schemaRef ds:uri="http://purl.org/dc/dcmitype/"/>
  </ds:schemaRefs>
</ds:datastoreItem>
</file>

<file path=customXml/itemProps2.xml><?xml version="1.0" encoding="utf-8"?>
<ds:datastoreItem xmlns:ds="http://schemas.openxmlformats.org/officeDocument/2006/customXml" ds:itemID="{7FA0802A-4D85-47EB-815F-5D605703270E}">
  <ds:schemaRefs>
    <ds:schemaRef ds:uri="http://schemas.microsoft.com/sharepoint/v3/contenttype/forms"/>
  </ds:schemaRefs>
</ds:datastoreItem>
</file>

<file path=customXml/itemProps3.xml><?xml version="1.0" encoding="utf-8"?>
<ds:datastoreItem xmlns:ds="http://schemas.openxmlformats.org/officeDocument/2006/customXml" ds:itemID="{25988005-1CE7-4A66-9846-E3D6EA58C4CB}"/>
</file>

<file path=docProps/app.xml><?xml version="1.0" encoding="utf-8"?>
<Properties xmlns="http://schemas.openxmlformats.org/officeDocument/2006/extended-properties" xmlns:vt="http://schemas.openxmlformats.org/officeDocument/2006/docPropsVTypes">
  <TotalTime>0</TotalTime>
  <Words>1055</Words>
  <Application>Microsoft Office PowerPoint</Application>
  <PresentationFormat>Widescreen</PresentationFormat>
  <Paragraphs>118</Paragraphs>
  <Slides>8</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4" baseType="lpstr">
      <vt:lpstr>Arial</vt:lpstr>
      <vt:lpstr>Calibri</vt:lpstr>
      <vt:lpstr>Georgia</vt:lpstr>
      <vt:lpstr>Wingdings</vt:lpstr>
      <vt:lpstr>S4F-ERP Profitability Analysis</vt:lpstr>
      <vt:lpstr>think-cell Slide</vt:lpstr>
      <vt:lpstr>Course Structure</vt:lpstr>
      <vt:lpstr>Profit Center Re-Organization</vt:lpstr>
      <vt:lpstr>Profit Center New Framework</vt:lpstr>
      <vt:lpstr>Profit Center Example Old vs New</vt:lpstr>
      <vt:lpstr>Profit Centers in S/4 - TCodes</vt:lpstr>
      <vt:lpstr>Demonstration &amp; exercises</vt:lpstr>
      <vt:lpstr>Course Structure</vt:lpstr>
      <vt:lpstr>Cost Center Key Master Data Fields – Basic Fields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Structure</dc:title>
  <dc:creator>O'Neill, Shauna</dc:creator>
  <cp:lastModifiedBy>O'Neill, Shauna</cp:lastModifiedBy>
  <cp:revision>5</cp:revision>
  <dcterms:created xsi:type="dcterms:W3CDTF">2019-10-14T14:09:54Z</dcterms:created>
  <dcterms:modified xsi:type="dcterms:W3CDTF">2021-10-11T08:36:13Z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1284000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SIP_Label_b020b37f-db72-473e-ae54-fb16df408069_Enabled">
    <vt:lpwstr>true</vt:lpwstr>
  </property>
  <property fmtid="{D5CDD505-2E9C-101B-9397-08002B2CF9AE}" pid="9" name="MSIP_Label_b020b37f-db72-473e-ae54-fb16df408069_SetDate">
    <vt:lpwstr>2021-10-11T08:36:02Z</vt:lpwstr>
  </property>
  <property fmtid="{D5CDD505-2E9C-101B-9397-08002B2CF9AE}" pid="10" name="MSIP_Label_b020b37f-db72-473e-ae54-fb16df408069_Method">
    <vt:lpwstr>Standard</vt:lpwstr>
  </property>
  <property fmtid="{D5CDD505-2E9C-101B-9397-08002B2CF9AE}" pid="11" name="MSIP_Label_b020b37f-db72-473e-ae54-fb16df408069_Name">
    <vt:lpwstr>General</vt:lpwstr>
  </property>
  <property fmtid="{D5CDD505-2E9C-101B-9397-08002B2CF9AE}" pid="12" name="MSIP_Label_b020b37f-db72-473e-ae54-fb16df408069_SiteId">
    <vt:lpwstr>705d07a3-2eea-4f3b-ab59-65ca29abeb26</vt:lpwstr>
  </property>
  <property fmtid="{D5CDD505-2E9C-101B-9397-08002B2CF9AE}" pid="13" name="MSIP_Label_b020b37f-db72-473e-ae54-fb16df408069_ActionId">
    <vt:lpwstr>780562af-1d25-4872-9e78-ebe66d52cce1</vt:lpwstr>
  </property>
  <property fmtid="{D5CDD505-2E9C-101B-9397-08002B2CF9AE}" pid="14" name="MSIP_Label_b020b37f-db72-473e-ae54-fb16df408069_ContentBits">
    <vt:lpwstr>0</vt:lpwstr>
  </property>
  <property fmtid="{D5CDD505-2E9C-101B-9397-08002B2CF9AE}" pid="15" name="_SourceUrl">
    <vt:lpwstr/>
  </property>
  <property fmtid="{D5CDD505-2E9C-101B-9397-08002B2CF9AE}" pid="16" name="_SharedFileIndex">
    <vt:lpwstr/>
  </property>
</Properties>
</file>