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2" r:id="rId5"/>
    <p:sldMasterId id="2147483689" r:id="rId6"/>
  </p:sldMasterIdLst>
  <p:notesMasterIdLst>
    <p:notesMasterId r:id="rId32"/>
  </p:notesMasterIdLst>
  <p:sldIdLst>
    <p:sldId id="403" r:id="rId7"/>
    <p:sldId id="427" r:id="rId8"/>
    <p:sldId id="455" r:id="rId9"/>
    <p:sldId id="2504" r:id="rId10"/>
    <p:sldId id="457" r:id="rId11"/>
    <p:sldId id="2293" r:id="rId12"/>
    <p:sldId id="2467" r:id="rId13"/>
    <p:sldId id="2475" r:id="rId14"/>
    <p:sldId id="2304" r:id="rId15"/>
    <p:sldId id="2134961596" r:id="rId16"/>
    <p:sldId id="2134961597" r:id="rId17"/>
    <p:sldId id="2134961598" r:id="rId18"/>
    <p:sldId id="2318" r:id="rId19"/>
    <p:sldId id="2503" r:id="rId20"/>
    <p:sldId id="2303" r:id="rId21"/>
    <p:sldId id="2469" r:id="rId22"/>
    <p:sldId id="2471" r:id="rId23"/>
    <p:sldId id="2319" r:id="rId24"/>
    <p:sldId id="2472" r:id="rId25"/>
    <p:sldId id="2501" r:id="rId26"/>
    <p:sldId id="2502" r:id="rId27"/>
    <p:sldId id="2320" r:id="rId28"/>
    <p:sldId id="2473" r:id="rId29"/>
    <p:sldId id="2474" r:id="rId30"/>
    <p:sldId id="229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8DC475-B222-4687-BD48-68B16882E0A3}" v="7" dt="2024-05-02T08:27:59.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F78DC475-B222-4687-BD48-68B16882E0A3}"/>
    <pc:docChg chg="undo redo custSel modSld">
      <pc:chgData name="O'Neill, Shauna" userId="1d0a8ccc-c260-429c-86e4-d406a5ac1d3d" providerId="ADAL" clId="{F78DC475-B222-4687-BD48-68B16882E0A3}" dt="2024-05-13T14:46:56.569" v="74" actId="20577"/>
      <pc:docMkLst>
        <pc:docMk/>
      </pc:docMkLst>
      <pc:sldChg chg="delSp mod">
        <pc:chgData name="O'Neill, Shauna" userId="1d0a8ccc-c260-429c-86e4-d406a5ac1d3d" providerId="ADAL" clId="{F78DC475-B222-4687-BD48-68B16882E0A3}" dt="2024-05-02T08:28:15.535" v="53" actId="478"/>
        <pc:sldMkLst>
          <pc:docMk/>
          <pc:sldMk cId="1223658901" sldId="455"/>
        </pc:sldMkLst>
        <pc:spChg chg="del">
          <ac:chgData name="O'Neill, Shauna" userId="1d0a8ccc-c260-429c-86e4-d406a5ac1d3d" providerId="ADAL" clId="{F78DC475-B222-4687-BD48-68B16882E0A3}" dt="2024-05-02T08:28:15.535" v="53" actId="478"/>
          <ac:spMkLst>
            <pc:docMk/>
            <pc:sldMk cId="1223658901" sldId="455"/>
            <ac:spMk id="2" creationId="{00000000-0000-0000-0000-000000000000}"/>
          </ac:spMkLst>
        </pc:spChg>
      </pc:sldChg>
      <pc:sldChg chg="addSp delSp modSp mod modClrScheme chgLayout">
        <pc:chgData name="O'Neill, Shauna" userId="1d0a8ccc-c260-429c-86e4-d406a5ac1d3d" providerId="ADAL" clId="{F78DC475-B222-4687-BD48-68B16882E0A3}" dt="2024-05-02T08:28:22.483" v="54" actId="478"/>
        <pc:sldMkLst>
          <pc:docMk/>
          <pc:sldMk cId="2366578546" sldId="457"/>
        </pc:sldMkLst>
        <pc:spChg chg="del mod ord">
          <ac:chgData name="O'Neill, Shauna" userId="1d0a8ccc-c260-429c-86e4-d406a5ac1d3d" providerId="ADAL" clId="{F78DC475-B222-4687-BD48-68B16882E0A3}" dt="2024-05-02T08:28:22.483" v="54" actId="478"/>
          <ac:spMkLst>
            <pc:docMk/>
            <pc:sldMk cId="2366578546" sldId="457"/>
            <ac:spMk id="2" creationId="{00000000-0000-0000-0000-000000000000}"/>
          </ac:spMkLst>
        </pc:spChg>
        <pc:spChg chg="mod ord">
          <ac:chgData name="O'Neill, Shauna" userId="1d0a8ccc-c260-429c-86e4-d406a5ac1d3d" providerId="ADAL" clId="{F78DC475-B222-4687-BD48-68B16882E0A3}" dt="2024-05-02T08:27:33.116" v="47" actId="700"/>
          <ac:spMkLst>
            <pc:docMk/>
            <pc:sldMk cId="2366578546" sldId="457"/>
            <ac:spMk id="3" creationId="{00000000-0000-0000-0000-000000000000}"/>
          </ac:spMkLst>
        </pc:spChg>
        <pc:spChg chg="add del mod">
          <ac:chgData name="O'Neill, Shauna" userId="1d0a8ccc-c260-429c-86e4-d406a5ac1d3d" providerId="ADAL" clId="{F78DC475-B222-4687-BD48-68B16882E0A3}" dt="2024-05-02T08:27:45.674" v="51" actId="478"/>
          <ac:spMkLst>
            <pc:docMk/>
            <pc:sldMk cId="2366578546" sldId="457"/>
            <ac:spMk id="9" creationId="{8BA1EADF-0171-B485-BBCF-6375C8C32E33}"/>
          </ac:spMkLst>
        </pc:spChg>
        <pc:spChg chg="add mod">
          <ac:chgData name="O'Neill, Shauna" userId="1d0a8ccc-c260-429c-86e4-d406a5ac1d3d" providerId="ADAL" clId="{F78DC475-B222-4687-BD48-68B16882E0A3}" dt="2024-05-02T08:27:59.815" v="52"/>
          <ac:spMkLst>
            <pc:docMk/>
            <pc:sldMk cId="2366578546" sldId="457"/>
            <ac:spMk id="10" creationId="{D457E300-A179-051B-F586-19247880757D}"/>
          </ac:spMkLst>
        </pc:spChg>
        <pc:spChg chg="del mod ord">
          <ac:chgData name="O'Neill, Shauna" userId="1d0a8ccc-c260-429c-86e4-d406a5ac1d3d" providerId="ADAL" clId="{F78DC475-B222-4687-BD48-68B16882E0A3}" dt="2024-05-02T08:27:41.739" v="50" actId="478"/>
          <ac:spMkLst>
            <pc:docMk/>
            <pc:sldMk cId="2366578546" sldId="457"/>
            <ac:spMk id="34" creationId="{00000000-0000-0000-0000-000000000000}"/>
          </ac:spMkLst>
        </pc:spChg>
        <pc:spChg chg="mod">
          <ac:chgData name="O'Neill, Shauna" userId="1d0a8ccc-c260-429c-86e4-d406a5ac1d3d" providerId="ADAL" clId="{F78DC475-B222-4687-BD48-68B16882E0A3}" dt="2024-05-02T08:27:38.926" v="49" actId="14100"/>
          <ac:spMkLst>
            <pc:docMk/>
            <pc:sldMk cId="2366578546" sldId="457"/>
            <ac:spMk id="38" creationId="{00000000-0000-0000-0000-000000000000}"/>
          </ac:spMkLst>
        </pc:spChg>
      </pc:sldChg>
      <pc:sldChg chg="addSp delSp modSp mod modClrScheme chgLayout">
        <pc:chgData name="O'Neill, Shauna" userId="1d0a8ccc-c260-429c-86e4-d406a5ac1d3d" providerId="ADAL" clId="{F78DC475-B222-4687-BD48-68B16882E0A3}" dt="2024-05-02T08:23:09.048" v="6" actId="478"/>
        <pc:sldMkLst>
          <pc:docMk/>
          <pc:sldMk cId="3468797720" sldId="2293"/>
        </pc:sldMkLst>
        <pc:spChg chg="mod ord">
          <ac:chgData name="O'Neill, Shauna" userId="1d0a8ccc-c260-429c-86e4-d406a5ac1d3d" providerId="ADAL" clId="{F78DC475-B222-4687-BD48-68B16882E0A3}" dt="2024-05-02T08:22:40.582" v="0" actId="700"/>
          <ac:spMkLst>
            <pc:docMk/>
            <pc:sldMk cId="3468797720" sldId="2293"/>
            <ac:spMk id="2" creationId="{6C4EE263-D130-4C38-9EC6-BEE0EA660B2E}"/>
          </ac:spMkLst>
        </pc:spChg>
        <pc:spChg chg="add del mod ord">
          <ac:chgData name="O'Neill, Shauna" userId="1d0a8ccc-c260-429c-86e4-d406a5ac1d3d" providerId="ADAL" clId="{F78DC475-B222-4687-BD48-68B16882E0A3}" dt="2024-05-02T08:22:46.292" v="1" actId="478"/>
          <ac:spMkLst>
            <pc:docMk/>
            <pc:sldMk cId="3468797720" sldId="2293"/>
            <ac:spMk id="3" creationId="{91B72436-A02E-42B1-36A5-2A3CB28F1D12}"/>
          </ac:spMkLst>
        </pc:spChg>
        <pc:spChg chg="del mod ord">
          <ac:chgData name="O'Neill, Shauna" userId="1d0a8ccc-c260-429c-86e4-d406a5ac1d3d" providerId="ADAL" clId="{F78DC475-B222-4687-BD48-68B16882E0A3}" dt="2024-05-02T08:23:09.048" v="6" actId="478"/>
          <ac:spMkLst>
            <pc:docMk/>
            <pc:sldMk cId="3468797720" sldId="2293"/>
            <ac:spMk id="4" creationId="{680FA84E-F515-4414-9784-C04BB5053620}"/>
          </ac:spMkLst>
        </pc:spChg>
        <pc:spChg chg="mod ord">
          <ac:chgData name="O'Neill, Shauna" userId="1d0a8ccc-c260-429c-86e4-d406a5ac1d3d" providerId="ADAL" clId="{F78DC475-B222-4687-BD48-68B16882E0A3}" dt="2024-05-02T08:22:40.582" v="0" actId="700"/>
          <ac:spMkLst>
            <pc:docMk/>
            <pc:sldMk cId="3468797720" sldId="2293"/>
            <ac:spMk id="5" creationId="{3751308E-3F79-4741-BF19-33342114548A}"/>
          </ac:spMkLst>
        </pc:spChg>
      </pc:sldChg>
      <pc:sldChg chg="delSp modSp mod modClrScheme chgLayout">
        <pc:chgData name="O'Neill, Shauna" userId="1d0a8ccc-c260-429c-86e4-d406a5ac1d3d" providerId="ADAL" clId="{F78DC475-B222-4687-BD48-68B16882E0A3}" dt="2024-05-02T08:28:59.242" v="66" actId="478"/>
        <pc:sldMkLst>
          <pc:docMk/>
          <pc:sldMk cId="2256089466" sldId="2296"/>
        </pc:sldMkLst>
        <pc:spChg chg="mod ord">
          <ac:chgData name="O'Neill, Shauna" userId="1d0a8ccc-c260-429c-86e4-d406a5ac1d3d" providerId="ADAL" clId="{F78DC475-B222-4687-BD48-68B16882E0A3}" dt="2024-05-02T08:27:10.579" v="46" actId="700"/>
          <ac:spMkLst>
            <pc:docMk/>
            <pc:sldMk cId="2256089466" sldId="2296"/>
            <ac:spMk id="2" creationId="{3B500185-492B-43A0-9F62-BE1B350759A3}"/>
          </ac:spMkLst>
        </pc:spChg>
        <pc:spChg chg="del mod ord">
          <ac:chgData name="O'Neill, Shauna" userId="1d0a8ccc-c260-429c-86e4-d406a5ac1d3d" providerId="ADAL" clId="{F78DC475-B222-4687-BD48-68B16882E0A3}" dt="2024-05-02T08:28:59.242" v="66" actId="478"/>
          <ac:spMkLst>
            <pc:docMk/>
            <pc:sldMk cId="2256089466" sldId="2296"/>
            <ac:spMk id="4" creationId="{089C3767-A4C2-4A0E-BB45-CF4304A4F82E}"/>
          </ac:spMkLst>
        </pc:spChg>
        <pc:spChg chg="mod ord">
          <ac:chgData name="O'Neill, Shauna" userId="1d0a8ccc-c260-429c-86e4-d406a5ac1d3d" providerId="ADAL" clId="{F78DC475-B222-4687-BD48-68B16882E0A3}" dt="2024-05-02T08:27:10.579" v="46" actId="700"/>
          <ac:spMkLst>
            <pc:docMk/>
            <pc:sldMk cId="2256089466" sldId="2296"/>
            <ac:spMk id="5" creationId="{D8E2E0CB-2EEE-4DBB-A111-836D15806860}"/>
          </ac:spMkLst>
        </pc:spChg>
        <pc:spChg chg="del">
          <ac:chgData name="O'Neill, Shauna" userId="1d0a8ccc-c260-429c-86e4-d406a5ac1d3d" providerId="ADAL" clId="{F78DC475-B222-4687-BD48-68B16882E0A3}" dt="2024-05-02T08:28:57.899" v="65" actId="478"/>
          <ac:spMkLst>
            <pc:docMk/>
            <pc:sldMk cId="2256089466" sldId="2296"/>
            <ac:spMk id="6" creationId="{49782C2F-E4C9-4412-B51B-2DC808BE17A3}"/>
          </ac:spMkLst>
        </pc:spChg>
      </pc:sldChg>
      <pc:sldChg chg="addSp delSp modSp mod modClrScheme chgLayout">
        <pc:chgData name="O'Neill, Shauna" userId="1d0a8ccc-c260-429c-86e4-d406a5ac1d3d" providerId="ADAL" clId="{F78DC475-B222-4687-BD48-68B16882E0A3}" dt="2024-05-02T08:28:48.109" v="63" actId="478"/>
        <pc:sldMkLst>
          <pc:docMk/>
          <pc:sldMk cId="954365415" sldId="2303"/>
        </pc:sldMkLst>
        <pc:spChg chg="mod ord">
          <ac:chgData name="O'Neill, Shauna" userId="1d0a8ccc-c260-429c-86e4-d406a5ac1d3d" providerId="ADAL" clId="{F78DC475-B222-4687-BD48-68B16882E0A3}" dt="2024-05-02T08:24:18.301" v="16" actId="700"/>
          <ac:spMkLst>
            <pc:docMk/>
            <pc:sldMk cId="954365415" sldId="2303"/>
            <ac:spMk id="2" creationId="{3B500185-492B-43A0-9F62-BE1B350759A3}"/>
          </ac:spMkLst>
        </pc:spChg>
        <pc:spChg chg="add del mod ord">
          <ac:chgData name="O'Neill, Shauna" userId="1d0a8ccc-c260-429c-86e4-d406a5ac1d3d" providerId="ADAL" clId="{F78DC475-B222-4687-BD48-68B16882E0A3}" dt="2024-05-02T08:28:48.109" v="63" actId="478"/>
          <ac:spMkLst>
            <pc:docMk/>
            <pc:sldMk cId="954365415" sldId="2303"/>
            <ac:spMk id="4" creationId="{089C3767-A4C2-4A0E-BB45-CF4304A4F82E}"/>
          </ac:spMkLst>
        </pc:spChg>
        <pc:spChg chg="mod ord">
          <ac:chgData name="O'Neill, Shauna" userId="1d0a8ccc-c260-429c-86e4-d406a5ac1d3d" providerId="ADAL" clId="{F78DC475-B222-4687-BD48-68B16882E0A3}" dt="2024-05-02T08:24:18.301" v="16" actId="700"/>
          <ac:spMkLst>
            <pc:docMk/>
            <pc:sldMk cId="954365415" sldId="2303"/>
            <ac:spMk id="5" creationId="{D8E2E0CB-2EEE-4DBB-A111-836D15806860}"/>
          </ac:spMkLst>
        </pc:spChg>
        <pc:spChg chg="add del">
          <ac:chgData name="O'Neill, Shauna" userId="1d0a8ccc-c260-429c-86e4-d406a5ac1d3d" providerId="ADAL" clId="{F78DC475-B222-4687-BD48-68B16882E0A3}" dt="2024-05-02T08:28:46.609" v="62" actId="478"/>
          <ac:spMkLst>
            <pc:docMk/>
            <pc:sldMk cId="954365415" sldId="2303"/>
            <ac:spMk id="6" creationId="{49782C2F-E4C9-4412-B51B-2DC808BE17A3}"/>
          </ac:spMkLst>
        </pc:spChg>
      </pc:sldChg>
      <pc:sldChg chg="addSp delSp modSp mod modClrScheme chgLayout">
        <pc:chgData name="O'Neill, Shauna" userId="1d0a8ccc-c260-429c-86e4-d406a5ac1d3d" providerId="ADAL" clId="{F78DC475-B222-4687-BD48-68B16882E0A3}" dt="2024-05-02T08:23:02.395" v="5" actId="478"/>
        <pc:sldMkLst>
          <pc:docMk/>
          <pc:sldMk cId="538733623" sldId="2304"/>
        </pc:sldMkLst>
        <pc:spChg chg="mod ord">
          <ac:chgData name="O'Neill, Shauna" userId="1d0a8ccc-c260-429c-86e4-d406a5ac1d3d" providerId="ADAL" clId="{F78DC475-B222-4687-BD48-68B16882E0A3}" dt="2024-05-02T08:22:40.582" v="0" actId="700"/>
          <ac:spMkLst>
            <pc:docMk/>
            <pc:sldMk cId="538733623" sldId="2304"/>
            <ac:spMk id="2" creationId="{E9AA2F9E-E271-4412-85A9-807E3524B19D}"/>
          </ac:spMkLst>
        </pc:spChg>
        <pc:spChg chg="add del mod ord">
          <ac:chgData name="O'Neill, Shauna" userId="1d0a8ccc-c260-429c-86e4-d406a5ac1d3d" providerId="ADAL" clId="{F78DC475-B222-4687-BD48-68B16882E0A3}" dt="2024-05-02T08:22:56.611" v="4" actId="478"/>
          <ac:spMkLst>
            <pc:docMk/>
            <pc:sldMk cId="538733623" sldId="2304"/>
            <ac:spMk id="3" creationId="{645D955B-EBC7-E020-8A3C-81FE3EB8AE63}"/>
          </ac:spMkLst>
        </pc:spChg>
        <pc:spChg chg="del mod ord">
          <ac:chgData name="O'Neill, Shauna" userId="1d0a8ccc-c260-429c-86e4-d406a5ac1d3d" providerId="ADAL" clId="{F78DC475-B222-4687-BD48-68B16882E0A3}" dt="2024-05-02T08:23:02.395" v="5" actId="478"/>
          <ac:spMkLst>
            <pc:docMk/>
            <pc:sldMk cId="538733623" sldId="2304"/>
            <ac:spMk id="4" creationId="{1997D3B3-FB9D-4FDD-A3A2-E147CCB7615D}"/>
          </ac:spMkLst>
        </pc:spChg>
        <pc:spChg chg="mod ord">
          <ac:chgData name="O'Neill, Shauna" userId="1d0a8ccc-c260-429c-86e4-d406a5ac1d3d" providerId="ADAL" clId="{F78DC475-B222-4687-BD48-68B16882E0A3}" dt="2024-05-02T08:22:40.582" v="0" actId="700"/>
          <ac:spMkLst>
            <pc:docMk/>
            <pc:sldMk cId="538733623" sldId="2304"/>
            <ac:spMk id="5" creationId="{4A3B04A8-1290-4E38-AD14-386F486D6FCE}"/>
          </ac:spMkLst>
        </pc:spChg>
      </pc:sldChg>
      <pc:sldChg chg="addSp delSp modSp mod modClrScheme chgLayout">
        <pc:chgData name="O'Neill, Shauna" userId="1d0a8ccc-c260-429c-86e4-d406a5ac1d3d" providerId="ADAL" clId="{F78DC475-B222-4687-BD48-68B16882E0A3}" dt="2024-05-02T08:28:39.856" v="61" actId="478"/>
        <pc:sldMkLst>
          <pc:docMk/>
          <pc:sldMk cId="3060985490" sldId="2318"/>
        </pc:sldMkLst>
        <pc:spChg chg="add del mod ord">
          <ac:chgData name="O'Neill, Shauna" userId="1d0a8ccc-c260-429c-86e4-d406a5ac1d3d" providerId="ADAL" clId="{F78DC475-B222-4687-BD48-68B16882E0A3}" dt="2024-05-02T08:28:39.856" v="61" actId="478"/>
          <ac:spMkLst>
            <pc:docMk/>
            <pc:sldMk cId="3060985490" sldId="2318"/>
            <ac:spMk id="2" creationId="{00000000-0000-0000-0000-000000000000}"/>
          </ac:spMkLst>
        </pc:spChg>
        <pc:spChg chg="mod ord">
          <ac:chgData name="O'Neill, Shauna" userId="1d0a8ccc-c260-429c-86e4-d406a5ac1d3d" providerId="ADAL" clId="{F78DC475-B222-4687-BD48-68B16882E0A3}" dt="2024-05-02T08:23:53.910" v="8" actId="700"/>
          <ac:spMkLst>
            <pc:docMk/>
            <pc:sldMk cId="3060985490" sldId="2318"/>
            <ac:spMk id="3" creationId="{00000000-0000-0000-0000-000000000000}"/>
          </ac:spMkLst>
        </pc:spChg>
        <pc:spChg chg="add del mod">
          <ac:chgData name="O'Neill, Shauna" userId="1d0a8ccc-c260-429c-86e4-d406a5ac1d3d" providerId="ADAL" clId="{F78DC475-B222-4687-BD48-68B16882E0A3}" dt="2024-05-02T08:25:07.685" v="25" actId="478"/>
          <ac:spMkLst>
            <pc:docMk/>
            <pc:sldMk cId="3060985490" sldId="2318"/>
            <ac:spMk id="9" creationId="{A84663A1-391B-440C-BB41-CFC1128A3A1A}"/>
          </ac:spMkLst>
        </pc:spChg>
        <pc:spChg chg="add del mod">
          <ac:chgData name="O'Neill, Shauna" userId="1d0a8ccc-c260-429c-86e4-d406a5ac1d3d" providerId="ADAL" clId="{F78DC475-B222-4687-BD48-68B16882E0A3}" dt="2024-05-02T08:25:23.148" v="31"/>
          <ac:spMkLst>
            <pc:docMk/>
            <pc:sldMk cId="3060985490" sldId="2318"/>
            <ac:spMk id="10" creationId="{1556C77A-100D-D8AB-39C0-86B5DD6AFD8D}"/>
          </ac:spMkLst>
        </pc:spChg>
        <pc:spChg chg="add mod">
          <ac:chgData name="O'Neill, Shauna" userId="1d0a8ccc-c260-429c-86e4-d406a5ac1d3d" providerId="ADAL" clId="{F78DC475-B222-4687-BD48-68B16882E0A3}" dt="2024-05-02T08:25:53.839" v="36"/>
          <ac:spMkLst>
            <pc:docMk/>
            <pc:sldMk cId="3060985490" sldId="2318"/>
            <ac:spMk id="11" creationId="{09FAC480-2AAA-FF2A-C2D9-CBDA87E87C28}"/>
          </ac:spMkLst>
        </pc:spChg>
        <pc:spChg chg="del mod ord">
          <ac:chgData name="O'Neill, Shauna" userId="1d0a8ccc-c260-429c-86e4-d406a5ac1d3d" providerId="ADAL" clId="{F78DC475-B222-4687-BD48-68B16882E0A3}" dt="2024-05-02T08:25:03.200" v="24" actId="478"/>
          <ac:spMkLst>
            <pc:docMk/>
            <pc:sldMk cId="3060985490" sldId="2318"/>
            <ac:spMk id="34" creationId="{00000000-0000-0000-0000-000000000000}"/>
          </ac:spMkLst>
        </pc:spChg>
        <pc:spChg chg="mod">
          <ac:chgData name="O'Neill, Shauna" userId="1d0a8ccc-c260-429c-86e4-d406a5ac1d3d" providerId="ADAL" clId="{F78DC475-B222-4687-BD48-68B16882E0A3}" dt="2024-05-02T08:24:02.649" v="15" actId="14100"/>
          <ac:spMkLst>
            <pc:docMk/>
            <pc:sldMk cId="3060985490" sldId="2318"/>
            <ac:spMk id="38" creationId="{00000000-0000-0000-0000-000000000000}"/>
          </ac:spMkLst>
        </pc:spChg>
      </pc:sldChg>
      <pc:sldChg chg="addSp delSp modSp mod modClrScheme chgLayout">
        <pc:chgData name="O'Neill, Shauna" userId="1d0a8ccc-c260-429c-86e4-d406a5ac1d3d" providerId="ADAL" clId="{F78DC475-B222-4687-BD48-68B16882E0A3}" dt="2024-05-02T08:28:52.411" v="64" actId="478"/>
        <pc:sldMkLst>
          <pc:docMk/>
          <pc:sldMk cId="2477690617" sldId="2319"/>
        </pc:sldMkLst>
        <pc:spChg chg="del mod ord">
          <ac:chgData name="O'Neill, Shauna" userId="1d0a8ccc-c260-429c-86e4-d406a5ac1d3d" providerId="ADAL" clId="{F78DC475-B222-4687-BD48-68B16882E0A3}" dt="2024-05-02T08:28:52.411" v="64" actId="478"/>
          <ac:spMkLst>
            <pc:docMk/>
            <pc:sldMk cId="2477690617" sldId="2319"/>
            <ac:spMk id="2" creationId="{00000000-0000-0000-0000-000000000000}"/>
          </ac:spMkLst>
        </pc:spChg>
        <pc:spChg chg="mod ord">
          <ac:chgData name="O'Neill, Shauna" userId="1d0a8ccc-c260-429c-86e4-d406a5ac1d3d" providerId="ADAL" clId="{F78DC475-B222-4687-BD48-68B16882E0A3}" dt="2024-05-02T08:24:28.221" v="17" actId="700"/>
          <ac:spMkLst>
            <pc:docMk/>
            <pc:sldMk cId="2477690617" sldId="2319"/>
            <ac:spMk id="3" creationId="{00000000-0000-0000-0000-000000000000}"/>
          </ac:spMkLst>
        </pc:spChg>
        <pc:spChg chg="add del mod">
          <ac:chgData name="O'Neill, Shauna" userId="1d0a8ccc-c260-429c-86e4-d406a5ac1d3d" providerId="ADAL" clId="{F78DC475-B222-4687-BD48-68B16882E0A3}" dt="2024-05-02T08:24:54.050" v="23" actId="478"/>
          <ac:spMkLst>
            <pc:docMk/>
            <pc:sldMk cId="2477690617" sldId="2319"/>
            <ac:spMk id="9" creationId="{F49EA705-49D8-5649-B925-C0F9EEF5CAB5}"/>
          </ac:spMkLst>
        </pc:spChg>
        <pc:spChg chg="add mod">
          <ac:chgData name="O'Neill, Shauna" userId="1d0a8ccc-c260-429c-86e4-d406a5ac1d3d" providerId="ADAL" clId="{F78DC475-B222-4687-BD48-68B16882E0A3}" dt="2024-05-02T08:26:00.054" v="37"/>
          <ac:spMkLst>
            <pc:docMk/>
            <pc:sldMk cId="2477690617" sldId="2319"/>
            <ac:spMk id="10" creationId="{5E1D5695-996A-8B94-360A-0A44C5A361E8}"/>
          </ac:spMkLst>
        </pc:spChg>
        <pc:spChg chg="del mod ord">
          <ac:chgData name="O'Neill, Shauna" userId="1d0a8ccc-c260-429c-86e4-d406a5ac1d3d" providerId="ADAL" clId="{F78DC475-B222-4687-BD48-68B16882E0A3}" dt="2024-05-02T08:24:49.269" v="22" actId="478"/>
          <ac:spMkLst>
            <pc:docMk/>
            <pc:sldMk cId="2477690617" sldId="2319"/>
            <ac:spMk id="34" creationId="{00000000-0000-0000-0000-000000000000}"/>
          </ac:spMkLst>
        </pc:spChg>
        <pc:spChg chg="mod">
          <ac:chgData name="O'Neill, Shauna" userId="1d0a8ccc-c260-429c-86e4-d406a5ac1d3d" providerId="ADAL" clId="{F78DC475-B222-4687-BD48-68B16882E0A3}" dt="2024-05-02T08:24:40.017" v="21" actId="1036"/>
          <ac:spMkLst>
            <pc:docMk/>
            <pc:sldMk cId="2477690617" sldId="2319"/>
            <ac:spMk id="38" creationId="{00000000-0000-0000-0000-000000000000}"/>
          </ac:spMkLst>
        </pc:spChg>
      </pc:sldChg>
      <pc:sldChg chg="addSp delSp modSp mod modClrScheme chgLayout">
        <pc:chgData name="O'Neill, Shauna" userId="1d0a8ccc-c260-429c-86e4-d406a5ac1d3d" providerId="ADAL" clId="{F78DC475-B222-4687-BD48-68B16882E0A3}" dt="2024-05-02T08:26:51.798" v="44"/>
        <pc:sldMkLst>
          <pc:docMk/>
          <pc:sldMk cId="622682381" sldId="2320"/>
        </pc:sldMkLst>
        <pc:spChg chg="del mod ord">
          <ac:chgData name="O'Neill, Shauna" userId="1d0a8ccc-c260-429c-86e4-d406a5ac1d3d" providerId="ADAL" clId="{F78DC475-B222-4687-BD48-68B16882E0A3}" dt="2024-05-02T08:26:38.575" v="43" actId="478"/>
          <ac:spMkLst>
            <pc:docMk/>
            <pc:sldMk cId="622682381" sldId="2320"/>
            <ac:spMk id="2" creationId="{00000000-0000-0000-0000-000000000000}"/>
          </ac:spMkLst>
        </pc:spChg>
        <pc:spChg chg="mod ord">
          <ac:chgData name="O'Neill, Shauna" userId="1d0a8ccc-c260-429c-86e4-d406a5ac1d3d" providerId="ADAL" clId="{F78DC475-B222-4687-BD48-68B16882E0A3}" dt="2024-05-02T08:26:13.640" v="38" actId="700"/>
          <ac:spMkLst>
            <pc:docMk/>
            <pc:sldMk cId="622682381" sldId="2320"/>
            <ac:spMk id="3" creationId="{00000000-0000-0000-0000-000000000000}"/>
          </ac:spMkLst>
        </pc:spChg>
        <pc:spChg chg="add del mod">
          <ac:chgData name="O'Neill, Shauna" userId="1d0a8ccc-c260-429c-86e4-d406a5ac1d3d" providerId="ADAL" clId="{F78DC475-B222-4687-BD48-68B16882E0A3}" dt="2024-05-02T08:26:31.603" v="41" actId="478"/>
          <ac:spMkLst>
            <pc:docMk/>
            <pc:sldMk cId="622682381" sldId="2320"/>
            <ac:spMk id="9" creationId="{4FFAF84B-6448-E0C2-51FF-9BAB98870F9E}"/>
          </ac:spMkLst>
        </pc:spChg>
        <pc:spChg chg="add mod">
          <ac:chgData name="O'Neill, Shauna" userId="1d0a8ccc-c260-429c-86e4-d406a5ac1d3d" providerId="ADAL" clId="{F78DC475-B222-4687-BD48-68B16882E0A3}" dt="2024-05-02T08:26:51.798" v="44"/>
          <ac:spMkLst>
            <pc:docMk/>
            <pc:sldMk cId="622682381" sldId="2320"/>
            <ac:spMk id="10" creationId="{0D7C802B-A831-4580-F1A4-3E458284B5C4}"/>
          </ac:spMkLst>
        </pc:spChg>
        <pc:spChg chg="del mod ord">
          <ac:chgData name="O'Neill, Shauna" userId="1d0a8ccc-c260-429c-86e4-d406a5ac1d3d" providerId="ADAL" clId="{F78DC475-B222-4687-BD48-68B16882E0A3}" dt="2024-05-02T08:26:24.912" v="40" actId="478"/>
          <ac:spMkLst>
            <pc:docMk/>
            <pc:sldMk cId="622682381" sldId="2320"/>
            <ac:spMk id="34" creationId="{00000000-0000-0000-0000-000000000000}"/>
          </ac:spMkLst>
        </pc:spChg>
        <pc:spChg chg="mod">
          <ac:chgData name="O'Neill, Shauna" userId="1d0a8ccc-c260-429c-86e4-d406a5ac1d3d" providerId="ADAL" clId="{F78DC475-B222-4687-BD48-68B16882E0A3}" dt="2024-05-02T08:26:36.317" v="42" actId="14100"/>
          <ac:spMkLst>
            <pc:docMk/>
            <pc:sldMk cId="622682381" sldId="2320"/>
            <ac:spMk id="38" creationId="{00000000-0000-0000-0000-000000000000}"/>
          </ac:spMkLst>
        </pc:spChg>
      </pc:sldChg>
      <pc:sldChg chg="addSp delSp modSp mod modClrScheme chgLayout">
        <pc:chgData name="O'Neill, Shauna" userId="1d0a8ccc-c260-429c-86e4-d406a5ac1d3d" providerId="ADAL" clId="{F78DC475-B222-4687-BD48-68B16882E0A3}" dt="2024-05-02T08:22:50.606" v="2" actId="478"/>
        <pc:sldMkLst>
          <pc:docMk/>
          <pc:sldMk cId="1508822768" sldId="2467"/>
        </pc:sldMkLst>
        <pc:spChg chg="mod ord">
          <ac:chgData name="O'Neill, Shauna" userId="1d0a8ccc-c260-429c-86e4-d406a5ac1d3d" providerId="ADAL" clId="{F78DC475-B222-4687-BD48-68B16882E0A3}" dt="2024-05-02T08:22:40.582" v="0" actId="700"/>
          <ac:spMkLst>
            <pc:docMk/>
            <pc:sldMk cId="1508822768" sldId="2467"/>
            <ac:spMk id="2" creationId="{A01C0E9E-059A-4562-B5AA-C98C05D5E878}"/>
          </ac:spMkLst>
        </pc:spChg>
        <pc:spChg chg="add del mod ord">
          <ac:chgData name="O'Neill, Shauna" userId="1d0a8ccc-c260-429c-86e4-d406a5ac1d3d" providerId="ADAL" clId="{F78DC475-B222-4687-BD48-68B16882E0A3}" dt="2024-05-02T08:22:50.606" v="2" actId="478"/>
          <ac:spMkLst>
            <pc:docMk/>
            <pc:sldMk cId="1508822768" sldId="2467"/>
            <ac:spMk id="3" creationId="{B628D851-004B-47E3-25BD-FFAB538637F1}"/>
          </ac:spMkLst>
        </pc:spChg>
        <pc:spChg chg="mod ord">
          <ac:chgData name="O'Neill, Shauna" userId="1d0a8ccc-c260-429c-86e4-d406a5ac1d3d" providerId="ADAL" clId="{F78DC475-B222-4687-BD48-68B16882E0A3}" dt="2024-05-02T08:22:40.582" v="0" actId="700"/>
          <ac:spMkLst>
            <pc:docMk/>
            <pc:sldMk cId="1508822768" sldId="2467"/>
            <ac:spMk id="5" creationId="{DB931FD7-FC7F-4A5F-B28A-D5BA7B8BCFD3}"/>
          </ac:spMkLst>
        </pc:spChg>
      </pc:sldChg>
      <pc:sldChg chg="modSp mod modClrScheme chgLayout">
        <pc:chgData name="O'Neill, Shauna" userId="1d0a8ccc-c260-429c-86e4-d406a5ac1d3d" providerId="ADAL" clId="{F78DC475-B222-4687-BD48-68B16882E0A3}" dt="2024-05-02T08:24:18.301" v="16" actId="700"/>
        <pc:sldMkLst>
          <pc:docMk/>
          <pc:sldMk cId="3850425604" sldId="2469"/>
        </pc:sldMkLst>
        <pc:spChg chg="mod ord">
          <ac:chgData name="O'Neill, Shauna" userId="1d0a8ccc-c260-429c-86e4-d406a5ac1d3d" providerId="ADAL" clId="{F78DC475-B222-4687-BD48-68B16882E0A3}" dt="2024-05-02T08:24:18.301" v="16" actId="700"/>
          <ac:spMkLst>
            <pc:docMk/>
            <pc:sldMk cId="3850425604" sldId="2469"/>
            <ac:spMk id="2" creationId="{A01C0E9E-059A-4562-B5AA-C98C05D5E878}"/>
          </ac:spMkLst>
        </pc:spChg>
        <pc:spChg chg="mod ord">
          <ac:chgData name="O'Neill, Shauna" userId="1d0a8ccc-c260-429c-86e4-d406a5ac1d3d" providerId="ADAL" clId="{F78DC475-B222-4687-BD48-68B16882E0A3}" dt="2024-05-02T08:24:18.301" v="16" actId="700"/>
          <ac:spMkLst>
            <pc:docMk/>
            <pc:sldMk cId="3850425604" sldId="2469"/>
            <ac:spMk id="5" creationId="{DB931FD7-FC7F-4A5F-B28A-D5BA7B8BCFD3}"/>
          </ac:spMkLst>
        </pc:spChg>
      </pc:sldChg>
      <pc:sldChg chg="modSp mod modClrScheme chgLayout">
        <pc:chgData name="O'Neill, Shauna" userId="1d0a8ccc-c260-429c-86e4-d406a5ac1d3d" providerId="ADAL" clId="{F78DC475-B222-4687-BD48-68B16882E0A3}" dt="2024-05-02T08:24:18.301" v="16" actId="700"/>
        <pc:sldMkLst>
          <pc:docMk/>
          <pc:sldMk cId="768994257" sldId="2471"/>
        </pc:sldMkLst>
        <pc:spChg chg="mod ord">
          <ac:chgData name="O'Neill, Shauna" userId="1d0a8ccc-c260-429c-86e4-d406a5ac1d3d" providerId="ADAL" clId="{F78DC475-B222-4687-BD48-68B16882E0A3}" dt="2024-05-02T08:24:18.301" v="16" actId="700"/>
          <ac:spMkLst>
            <pc:docMk/>
            <pc:sldMk cId="768994257" sldId="2471"/>
            <ac:spMk id="2" creationId="{A01C0E9E-059A-4562-B5AA-C98C05D5E878}"/>
          </ac:spMkLst>
        </pc:spChg>
        <pc:spChg chg="mod ord">
          <ac:chgData name="O'Neill, Shauna" userId="1d0a8ccc-c260-429c-86e4-d406a5ac1d3d" providerId="ADAL" clId="{F78DC475-B222-4687-BD48-68B16882E0A3}" dt="2024-05-02T08:24:18.301" v="16" actId="700"/>
          <ac:spMkLst>
            <pc:docMk/>
            <pc:sldMk cId="768994257" sldId="2471"/>
            <ac:spMk id="5" creationId="{DB931FD7-FC7F-4A5F-B28A-D5BA7B8BCFD3}"/>
          </ac:spMkLst>
        </pc:spChg>
      </pc:sldChg>
      <pc:sldChg chg="modSp mod modClrScheme chgLayout">
        <pc:chgData name="O'Neill, Shauna" userId="1d0a8ccc-c260-429c-86e4-d406a5ac1d3d" providerId="ADAL" clId="{F78DC475-B222-4687-BD48-68B16882E0A3}" dt="2024-05-02T08:27:01.519" v="45" actId="700"/>
        <pc:sldMkLst>
          <pc:docMk/>
          <pc:sldMk cId="2690549080" sldId="2472"/>
        </pc:sldMkLst>
        <pc:spChg chg="mod ord">
          <ac:chgData name="O'Neill, Shauna" userId="1d0a8ccc-c260-429c-86e4-d406a5ac1d3d" providerId="ADAL" clId="{F78DC475-B222-4687-BD48-68B16882E0A3}" dt="2024-05-02T08:27:01.519" v="45" actId="700"/>
          <ac:spMkLst>
            <pc:docMk/>
            <pc:sldMk cId="2690549080" sldId="2472"/>
            <ac:spMk id="2" creationId="{A01C0E9E-059A-4562-B5AA-C98C05D5E878}"/>
          </ac:spMkLst>
        </pc:spChg>
        <pc:spChg chg="mod ord">
          <ac:chgData name="O'Neill, Shauna" userId="1d0a8ccc-c260-429c-86e4-d406a5ac1d3d" providerId="ADAL" clId="{F78DC475-B222-4687-BD48-68B16882E0A3}" dt="2024-05-02T08:27:01.519" v="45" actId="700"/>
          <ac:spMkLst>
            <pc:docMk/>
            <pc:sldMk cId="2690549080" sldId="2472"/>
            <ac:spMk id="5" creationId="{DB931FD7-FC7F-4A5F-B28A-D5BA7B8BCFD3}"/>
          </ac:spMkLst>
        </pc:spChg>
      </pc:sldChg>
      <pc:sldChg chg="modSp mod modClrScheme chgLayout">
        <pc:chgData name="O'Neill, Shauna" userId="1d0a8ccc-c260-429c-86e4-d406a5ac1d3d" providerId="ADAL" clId="{F78DC475-B222-4687-BD48-68B16882E0A3}" dt="2024-05-02T08:27:10.579" v="46" actId="700"/>
        <pc:sldMkLst>
          <pc:docMk/>
          <pc:sldMk cId="2020765259" sldId="2473"/>
        </pc:sldMkLst>
        <pc:spChg chg="mod ord">
          <ac:chgData name="O'Neill, Shauna" userId="1d0a8ccc-c260-429c-86e4-d406a5ac1d3d" providerId="ADAL" clId="{F78DC475-B222-4687-BD48-68B16882E0A3}" dt="2024-05-02T08:27:10.579" v="46" actId="700"/>
          <ac:spMkLst>
            <pc:docMk/>
            <pc:sldMk cId="2020765259" sldId="2473"/>
            <ac:spMk id="2" creationId="{A01C0E9E-059A-4562-B5AA-C98C05D5E878}"/>
          </ac:spMkLst>
        </pc:spChg>
        <pc:spChg chg="mod ord">
          <ac:chgData name="O'Neill, Shauna" userId="1d0a8ccc-c260-429c-86e4-d406a5ac1d3d" providerId="ADAL" clId="{F78DC475-B222-4687-BD48-68B16882E0A3}" dt="2024-05-02T08:27:10.579" v="46" actId="700"/>
          <ac:spMkLst>
            <pc:docMk/>
            <pc:sldMk cId="2020765259" sldId="2473"/>
            <ac:spMk id="5" creationId="{DB931FD7-FC7F-4A5F-B28A-D5BA7B8BCFD3}"/>
          </ac:spMkLst>
        </pc:spChg>
      </pc:sldChg>
      <pc:sldChg chg="modSp mod modClrScheme chgLayout">
        <pc:chgData name="O'Neill, Shauna" userId="1d0a8ccc-c260-429c-86e4-d406a5ac1d3d" providerId="ADAL" clId="{F78DC475-B222-4687-BD48-68B16882E0A3}" dt="2024-05-02T08:27:10.579" v="46" actId="700"/>
        <pc:sldMkLst>
          <pc:docMk/>
          <pc:sldMk cId="757706267" sldId="2474"/>
        </pc:sldMkLst>
        <pc:spChg chg="mod ord">
          <ac:chgData name="O'Neill, Shauna" userId="1d0a8ccc-c260-429c-86e4-d406a5ac1d3d" providerId="ADAL" clId="{F78DC475-B222-4687-BD48-68B16882E0A3}" dt="2024-05-02T08:27:10.579" v="46" actId="700"/>
          <ac:spMkLst>
            <pc:docMk/>
            <pc:sldMk cId="757706267" sldId="2474"/>
            <ac:spMk id="2" creationId="{A01C0E9E-059A-4562-B5AA-C98C05D5E878}"/>
          </ac:spMkLst>
        </pc:spChg>
        <pc:spChg chg="mod ord">
          <ac:chgData name="O'Neill, Shauna" userId="1d0a8ccc-c260-429c-86e4-d406a5ac1d3d" providerId="ADAL" clId="{F78DC475-B222-4687-BD48-68B16882E0A3}" dt="2024-05-02T08:27:10.579" v="46" actId="700"/>
          <ac:spMkLst>
            <pc:docMk/>
            <pc:sldMk cId="757706267" sldId="2474"/>
            <ac:spMk id="5" creationId="{DB931FD7-FC7F-4A5F-B28A-D5BA7B8BCFD3}"/>
          </ac:spMkLst>
        </pc:spChg>
      </pc:sldChg>
      <pc:sldChg chg="addSp delSp modSp mod modClrScheme chgLayout">
        <pc:chgData name="O'Neill, Shauna" userId="1d0a8ccc-c260-429c-86e4-d406a5ac1d3d" providerId="ADAL" clId="{F78DC475-B222-4687-BD48-68B16882E0A3}" dt="2024-05-02T08:22:53.178" v="3" actId="478"/>
        <pc:sldMkLst>
          <pc:docMk/>
          <pc:sldMk cId="3843662213" sldId="2475"/>
        </pc:sldMkLst>
        <pc:spChg chg="mod ord">
          <ac:chgData name="O'Neill, Shauna" userId="1d0a8ccc-c260-429c-86e4-d406a5ac1d3d" providerId="ADAL" clId="{F78DC475-B222-4687-BD48-68B16882E0A3}" dt="2024-05-02T08:22:40.582" v="0" actId="700"/>
          <ac:spMkLst>
            <pc:docMk/>
            <pc:sldMk cId="3843662213" sldId="2475"/>
            <ac:spMk id="2" creationId="{DC7BE845-10A6-4954-A34B-03C7DB15DAC2}"/>
          </ac:spMkLst>
        </pc:spChg>
        <pc:spChg chg="add del mod ord">
          <ac:chgData name="O'Neill, Shauna" userId="1d0a8ccc-c260-429c-86e4-d406a5ac1d3d" providerId="ADAL" clId="{F78DC475-B222-4687-BD48-68B16882E0A3}" dt="2024-05-02T08:22:53.178" v="3" actId="478"/>
          <ac:spMkLst>
            <pc:docMk/>
            <pc:sldMk cId="3843662213" sldId="2475"/>
            <ac:spMk id="4" creationId="{955A75EB-D8F8-0628-F5A0-6E2C459B0EC7}"/>
          </ac:spMkLst>
        </pc:spChg>
        <pc:spChg chg="mod ord">
          <ac:chgData name="O'Neill, Shauna" userId="1d0a8ccc-c260-429c-86e4-d406a5ac1d3d" providerId="ADAL" clId="{F78DC475-B222-4687-BD48-68B16882E0A3}" dt="2024-05-02T08:22:40.582" v="0" actId="700"/>
          <ac:spMkLst>
            <pc:docMk/>
            <pc:sldMk cId="3843662213" sldId="2475"/>
            <ac:spMk id="5" creationId="{A921CDEE-13F1-4F99-BFCA-C55230C0DF6C}"/>
          </ac:spMkLst>
        </pc:spChg>
      </pc:sldChg>
      <pc:sldChg chg="modSp mod modClrScheme chgLayout">
        <pc:chgData name="O'Neill, Shauna" userId="1d0a8ccc-c260-429c-86e4-d406a5ac1d3d" providerId="ADAL" clId="{F78DC475-B222-4687-BD48-68B16882E0A3}" dt="2024-05-02T08:27:01.519" v="45" actId="700"/>
        <pc:sldMkLst>
          <pc:docMk/>
          <pc:sldMk cId="2475533848" sldId="2501"/>
        </pc:sldMkLst>
        <pc:spChg chg="mod ord">
          <ac:chgData name="O'Neill, Shauna" userId="1d0a8ccc-c260-429c-86e4-d406a5ac1d3d" providerId="ADAL" clId="{F78DC475-B222-4687-BD48-68B16882E0A3}" dt="2024-05-02T08:27:01.519" v="45" actId="700"/>
          <ac:spMkLst>
            <pc:docMk/>
            <pc:sldMk cId="2475533848" sldId="2501"/>
            <ac:spMk id="3" creationId="{14976B9C-C239-4634-8E15-8E92C7135832}"/>
          </ac:spMkLst>
        </pc:spChg>
        <pc:spChg chg="mod ord">
          <ac:chgData name="O'Neill, Shauna" userId="1d0a8ccc-c260-429c-86e4-d406a5ac1d3d" providerId="ADAL" clId="{F78DC475-B222-4687-BD48-68B16882E0A3}" dt="2024-05-02T08:27:01.519" v="45" actId="700"/>
          <ac:spMkLst>
            <pc:docMk/>
            <pc:sldMk cId="2475533848" sldId="2501"/>
            <ac:spMk id="4" creationId="{3238ABDD-74E1-4DE2-8DA5-184DB3EDC29E}"/>
          </ac:spMkLst>
        </pc:spChg>
      </pc:sldChg>
      <pc:sldChg chg="modSp mod modClrScheme chgLayout">
        <pc:chgData name="O'Neill, Shauna" userId="1d0a8ccc-c260-429c-86e4-d406a5ac1d3d" providerId="ADAL" clId="{F78DC475-B222-4687-BD48-68B16882E0A3}" dt="2024-05-02T08:27:01.519" v="45" actId="700"/>
        <pc:sldMkLst>
          <pc:docMk/>
          <pc:sldMk cId="3191623115" sldId="2502"/>
        </pc:sldMkLst>
        <pc:spChg chg="mod ord">
          <ac:chgData name="O'Neill, Shauna" userId="1d0a8ccc-c260-429c-86e4-d406a5ac1d3d" providerId="ADAL" clId="{F78DC475-B222-4687-BD48-68B16882E0A3}" dt="2024-05-02T08:27:01.519" v="45" actId="700"/>
          <ac:spMkLst>
            <pc:docMk/>
            <pc:sldMk cId="3191623115" sldId="2502"/>
            <ac:spMk id="3" creationId="{14976B9C-C239-4634-8E15-8E92C7135832}"/>
          </ac:spMkLst>
        </pc:spChg>
        <pc:spChg chg="mod ord">
          <ac:chgData name="O'Neill, Shauna" userId="1d0a8ccc-c260-429c-86e4-d406a5ac1d3d" providerId="ADAL" clId="{F78DC475-B222-4687-BD48-68B16882E0A3}" dt="2024-05-02T08:27:01.519" v="45" actId="700"/>
          <ac:spMkLst>
            <pc:docMk/>
            <pc:sldMk cId="3191623115" sldId="2502"/>
            <ac:spMk id="4" creationId="{3238ABDD-74E1-4DE2-8DA5-184DB3EDC29E}"/>
          </ac:spMkLst>
        </pc:spChg>
      </pc:sldChg>
      <pc:sldChg chg="modSp mod modClrScheme chgLayout">
        <pc:chgData name="O'Neill, Shauna" userId="1d0a8ccc-c260-429c-86e4-d406a5ac1d3d" providerId="ADAL" clId="{F78DC475-B222-4687-BD48-68B16882E0A3}" dt="2024-05-02T08:24:18.301" v="16" actId="700"/>
        <pc:sldMkLst>
          <pc:docMk/>
          <pc:sldMk cId="219640576" sldId="2503"/>
        </pc:sldMkLst>
        <pc:spChg chg="mod ord">
          <ac:chgData name="O'Neill, Shauna" userId="1d0a8ccc-c260-429c-86e4-d406a5ac1d3d" providerId="ADAL" clId="{F78DC475-B222-4687-BD48-68B16882E0A3}" dt="2024-05-02T08:24:18.301" v="16" actId="700"/>
          <ac:spMkLst>
            <pc:docMk/>
            <pc:sldMk cId="219640576" sldId="2503"/>
            <ac:spMk id="2" creationId="{A01C0E9E-059A-4562-B5AA-C98C05D5E878}"/>
          </ac:spMkLst>
        </pc:spChg>
        <pc:spChg chg="mod ord">
          <ac:chgData name="O'Neill, Shauna" userId="1d0a8ccc-c260-429c-86e4-d406a5ac1d3d" providerId="ADAL" clId="{F78DC475-B222-4687-BD48-68B16882E0A3}" dt="2024-05-02T08:24:18.301" v="16" actId="700"/>
          <ac:spMkLst>
            <pc:docMk/>
            <pc:sldMk cId="219640576" sldId="2503"/>
            <ac:spMk id="5" creationId="{DB931FD7-FC7F-4A5F-B28A-D5BA7B8BCFD3}"/>
          </ac:spMkLst>
        </pc:spChg>
      </pc:sldChg>
      <pc:sldChg chg="modSp mod modClrScheme chgLayout">
        <pc:chgData name="O'Neill, Shauna" userId="1d0a8ccc-c260-429c-86e4-d406a5ac1d3d" providerId="ADAL" clId="{F78DC475-B222-4687-BD48-68B16882E0A3}" dt="2024-05-02T08:23:19.250" v="7" actId="700"/>
        <pc:sldMkLst>
          <pc:docMk/>
          <pc:sldMk cId="84209405" sldId="2504"/>
        </pc:sldMkLst>
        <pc:spChg chg="mod ord">
          <ac:chgData name="O'Neill, Shauna" userId="1d0a8ccc-c260-429c-86e4-d406a5ac1d3d" providerId="ADAL" clId="{F78DC475-B222-4687-BD48-68B16882E0A3}" dt="2024-05-02T08:23:19.250" v="7" actId="700"/>
          <ac:spMkLst>
            <pc:docMk/>
            <pc:sldMk cId="84209405" sldId="2504"/>
            <ac:spMk id="3" creationId="{00000000-0000-0000-0000-000000000000}"/>
          </ac:spMkLst>
        </pc:spChg>
        <pc:spChg chg="mod ord">
          <ac:chgData name="O'Neill, Shauna" userId="1d0a8ccc-c260-429c-86e4-d406a5ac1d3d" providerId="ADAL" clId="{F78DC475-B222-4687-BD48-68B16882E0A3}" dt="2024-05-02T08:23:19.250" v="7" actId="700"/>
          <ac:spMkLst>
            <pc:docMk/>
            <pc:sldMk cId="84209405" sldId="2504"/>
            <ac:spMk id="34" creationId="{00000000-0000-0000-0000-000000000000}"/>
          </ac:spMkLst>
        </pc:spChg>
      </pc:sldChg>
      <pc:sldChg chg="modSp mod">
        <pc:chgData name="O'Neill, Shauna" userId="1d0a8ccc-c260-429c-86e4-d406a5ac1d3d" providerId="ADAL" clId="{F78DC475-B222-4687-BD48-68B16882E0A3}" dt="2024-05-13T14:46:56.569" v="74" actId="20577"/>
        <pc:sldMkLst>
          <pc:docMk/>
          <pc:sldMk cId="54521451" sldId="2134961598"/>
        </pc:sldMkLst>
        <pc:spChg chg="mod">
          <ac:chgData name="O'Neill, Shauna" userId="1d0a8ccc-c260-429c-86e4-d406a5ac1d3d" providerId="ADAL" clId="{F78DC475-B222-4687-BD48-68B16882E0A3}" dt="2024-05-02T08:29:19.743" v="68" actId="20577"/>
          <ac:spMkLst>
            <pc:docMk/>
            <pc:sldMk cId="54521451" sldId="2134961598"/>
            <ac:spMk id="21" creationId="{F6572393-EE3F-E3A1-22AA-C50E75AB15E9}"/>
          </ac:spMkLst>
        </pc:spChg>
        <pc:spChg chg="mod">
          <ac:chgData name="O'Neill, Shauna" userId="1d0a8ccc-c260-429c-86e4-d406a5ac1d3d" providerId="ADAL" clId="{F78DC475-B222-4687-BD48-68B16882E0A3}" dt="2024-05-13T14:46:56.569" v="74" actId="20577"/>
          <ac:spMkLst>
            <pc:docMk/>
            <pc:sldMk cId="54521451" sldId="2134961598"/>
            <ac:spMk id="24" creationId="{CB8F8E65-D03C-E776-6513-07A5B34A8459}"/>
          </ac:spMkLst>
        </pc:spChg>
      </pc:sldChg>
    </pc:docChg>
  </pc:docChgLst>
  <pc:docChgLst>
    <pc:chgData name="Zakrevskaya, Julia" userId="S::cstzakrej@corp.jti.com::79016554-fc06-4349-8d4d-7fef3d29d8b9" providerId="AD" clId="Web-{D8C55738-867B-9A59-F785-D4E9E8716783}"/>
    <pc:docChg chg="mod">
      <pc:chgData name="Zakrevskaya, Julia" userId="S::cstzakrej@corp.jti.com::79016554-fc06-4349-8d4d-7fef3d29d8b9" providerId="AD" clId="Web-{D8C55738-867B-9A59-F785-D4E9E8716783}" dt="2022-04-29T07:00:26.670" v="0" actId="33475"/>
      <pc:docMkLst>
        <pc:docMk/>
      </pc:docMkLst>
    </pc:docChg>
  </pc:docChgLst>
  <pc:docChgLst>
    <pc:chgData name="Hill, Daniel" userId="e75359db-c6a9-4245-8308-303af67184cd" providerId="ADAL" clId="{9D1EE626-1A58-486A-95B2-4F40E37EED82}"/>
    <pc:docChg chg="undo addSld delSld">
      <pc:chgData name="Hill, Daniel" userId="e75359db-c6a9-4245-8308-303af67184cd" providerId="ADAL" clId="{9D1EE626-1A58-486A-95B2-4F40E37EED82}" dt="2020-07-23T01:16:34.756" v="3" actId="2696"/>
      <pc:docMkLst>
        <pc:docMk/>
      </pc:docMkLst>
      <pc:sldChg chg="del">
        <pc:chgData name="Hill, Daniel" userId="e75359db-c6a9-4245-8308-303af67184cd" providerId="ADAL" clId="{9D1EE626-1A58-486A-95B2-4F40E37EED82}" dt="2020-07-23T01:16:27.404" v="0" actId="2696"/>
        <pc:sldMkLst>
          <pc:docMk/>
          <pc:sldMk cId="3511674007" sldId="2278"/>
        </pc:sldMkLst>
      </pc:sldChg>
      <pc:sldChg chg="add del">
        <pc:chgData name="Hill, Daniel" userId="e75359db-c6a9-4245-8308-303af67184cd" providerId="ADAL" clId="{9D1EE626-1A58-486A-95B2-4F40E37EED82}" dt="2020-07-23T01:16:34.756" v="3" actId="2696"/>
        <pc:sldMkLst>
          <pc:docMk/>
          <pc:sldMk cId="3060985490" sldId="2318"/>
        </pc:sldMkLst>
      </pc:sldChg>
      <pc:sldMasterChg chg="delSldLayout">
        <pc:chgData name="Hill, Daniel" userId="e75359db-c6a9-4245-8308-303af67184cd" providerId="ADAL" clId="{9D1EE626-1A58-486A-95B2-4F40E37EED82}" dt="2020-07-23T01:16:27.407" v="1" actId="2696"/>
        <pc:sldMasterMkLst>
          <pc:docMk/>
          <pc:sldMasterMk cId="1654698721" sldId="2147483682"/>
        </pc:sldMasterMkLst>
        <pc:sldLayoutChg chg="del">
          <pc:chgData name="Hill, Daniel" userId="e75359db-c6a9-4245-8308-303af67184cd" providerId="ADAL" clId="{9D1EE626-1A58-486A-95B2-4F40E37EED82}" dt="2020-07-23T01:16:27.407" v="1" actId="2696"/>
          <pc:sldLayoutMkLst>
            <pc:docMk/>
            <pc:sldMasterMk cId="1654698721" sldId="2147483682"/>
            <pc:sldLayoutMk cId="3588159321" sldId="214748368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1CE6A8-A186-4926-8CCD-A7A87D052E61}" type="datetimeFigureOut">
              <a:rPr lang="en-US" smtClean="0"/>
              <a:t>5/2/2024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9F025E-2062-4D72-98DE-45E9B823B560}" type="slidenum">
              <a:rPr lang="en-US" smtClean="0"/>
              <a:t>‹#›</a:t>
            </a:fld>
            <a:endParaRPr lang="en-US"/>
          </a:p>
        </p:txBody>
      </p:sp>
    </p:spTree>
    <p:extLst>
      <p:ext uri="{BB962C8B-B14F-4D97-AF65-F5344CB8AC3E}">
        <p14:creationId xmlns:p14="http://schemas.microsoft.com/office/powerpoint/2010/main" val="3543832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4259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4935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1174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944EB3-E743-414B-A21A-64E051E5FA09}" type="slidenum">
              <a:rPr lang="en-GB" smtClean="0"/>
              <a:t>14</a:t>
            </a:fld>
            <a:endParaRPr lang="en-GB"/>
          </a:p>
        </p:txBody>
      </p:sp>
    </p:spTree>
    <p:extLst>
      <p:ext uri="{BB962C8B-B14F-4D97-AF65-F5344CB8AC3E}">
        <p14:creationId xmlns:p14="http://schemas.microsoft.com/office/powerpoint/2010/main" val="6867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2048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5813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7301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1222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07605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6.jpe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roject 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Date Placeholder 1"/>
          <p:cNvSpPr txBox="1">
            <a:spLocks/>
          </p:cNvSpPr>
          <p:nvPr userDrawn="1"/>
        </p:nvSpPr>
        <p:spPr>
          <a:xfrm>
            <a:off x="4151273" y="5923728"/>
            <a:ext cx="3889454"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i="0">
                <a:solidFill>
                  <a:schemeClr val="bg1"/>
                </a:solidFill>
                <a:latin typeface="+mn-lt"/>
                <a:ea typeface="Roboto" charset="0"/>
                <a:cs typeface="Roboto" charset="0"/>
              </a:rPr>
              <a:t>Simplify, Standardize, Accelerate </a:t>
            </a:r>
          </a:p>
        </p:txBody>
      </p:sp>
      <p:sp>
        <p:nvSpPr>
          <p:cNvPr id="9" name="TextBox 8"/>
          <p:cNvSpPr txBox="1"/>
          <p:nvPr userDrawn="1"/>
        </p:nvSpPr>
        <p:spPr>
          <a:xfrm>
            <a:off x="3398969" y="2345440"/>
            <a:ext cx="5387927" cy="1941342"/>
          </a:xfrm>
          <a:prstGeom prst="rect">
            <a:avLst/>
          </a:prstGeom>
          <a:noFill/>
        </p:spPr>
        <p:txBody>
          <a:bodyPr wrap="square" lIns="0" tIns="0" rIns="0" bIns="0" rtlCol="0">
            <a:noAutofit/>
          </a:bodyPr>
          <a:lstStyle/>
          <a:p>
            <a:pPr algn="l"/>
            <a:r>
              <a:rPr lang="en-US" sz="9600" b="1">
                <a:solidFill>
                  <a:schemeClr val="bg1"/>
                </a:solidFill>
                <a:latin typeface="Arial" charset="0"/>
                <a:ea typeface="Arial" charset="0"/>
                <a:cs typeface="Arial" charset="0"/>
              </a:rPr>
              <a:t>S4F-ERP</a:t>
            </a:r>
          </a:p>
        </p:txBody>
      </p:sp>
      <p:sp>
        <p:nvSpPr>
          <p:cNvPr id="10" name="Rectangle 9"/>
          <p:cNvSpPr/>
          <p:nvPr userDrawn="1"/>
        </p:nvSpPr>
        <p:spPr>
          <a:xfrm>
            <a:off x="5517737" y="164298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userDrawn="1"/>
        </p:nvSpPr>
        <p:spPr>
          <a:xfrm>
            <a:off x="4271627" y="4115677"/>
            <a:ext cx="3642610" cy="704538"/>
          </a:xfrm>
          <a:prstGeom prst="rect">
            <a:avLst/>
          </a:prstGeom>
          <a:noFill/>
        </p:spPr>
        <p:txBody>
          <a:bodyPr wrap="square" lIns="0" tIns="0" rIns="0" bIns="0" rtlCol="0">
            <a:noAutofit/>
          </a:bodyPr>
          <a:lstStyle/>
          <a:p>
            <a:pPr algn="ctr"/>
            <a:r>
              <a:rPr lang="en-US" spc="1000">
                <a:solidFill>
                  <a:schemeClr val="bg1"/>
                </a:solidFill>
                <a:latin typeface="Arial" charset="0"/>
                <a:ea typeface="Arial" charset="0"/>
                <a:cs typeface="Arial" charset="0"/>
              </a:rPr>
              <a:t>PROJECT</a:t>
            </a:r>
          </a:p>
        </p:txBody>
      </p:sp>
      <p:sp>
        <p:nvSpPr>
          <p:cNvPr id="12" name="Rectangle 11"/>
          <p:cNvSpPr/>
          <p:nvPr userDrawn="1"/>
        </p:nvSpPr>
        <p:spPr>
          <a:xfrm>
            <a:off x="5517737" y="5047786"/>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619137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PROJECT</a:t>
            </a:r>
          </a:p>
        </p:txBody>
      </p:sp>
    </p:spTree>
    <p:extLst>
      <p:ext uri="{BB962C8B-B14F-4D97-AF65-F5344CB8AC3E}">
        <p14:creationId xmlns:p14="http://schemas.microsoft.com/office/powerpoint/2010/main" val="1628806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4100498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782898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2981154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639383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719116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645979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4217436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403199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4324175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5728997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8822377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11944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333176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1738741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2" name="Title 1"/>
          <p:cNvSpPr>
            <a:spLocks noGrp="1"/>
          </p:cNvSpPr>
          <p:nvPr>
            <p:ph type="title"/>
          </p:nvPr>
        </p:nvSpPr>
        <p:spPr/>
        <p:txBody>
          <a:bodyPr/>
          <a:lstStyle/>
          <a:p>
            <a:r>
              <a:rPr lang="en-US"/>
              <a:t>Click to edit Master title style</a:t>
            </a:r>
          </a:p>
        </p:txBody>
      </p:sp>
      <p:sp>
        <p:nvSpPr>
          <p:cNvPr id="14" name="TextBox 13">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438121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8355840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1272818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4904242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7441296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37477888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9435789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4211117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1476269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6A2304-23DC-2B46-BD14-F082077842FF}" type="slidenum">
              <a:rPr lang="en-US" smtClean="0"/>
              <a:t>‹#›</a:t>
            </a:fld>
            <a:endParaRPr lang="en-US" dirty="0"/>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Tree>
    <p:extLst>
      <p:ext uri="{BB962C8B-B14F-4D97-AF65-F5344CB8AC3E}">
        <p14:creationId xmlns:p14="http://schemas.microsoft.com/office/powerpoint/2010/main" val="3590531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2" y="1284770"/>
            <a:ext cx="12193200" cy="4990620"/>
          </a:xfrm>
          <a:prstGeom prst="rect">
            <a:avLst/>
          </a:prstGeom>
        </p:spPr>
      </p:pic>
      <p:sp>
        <p:nvSpPr>
          <p:cNvPr id="6" name="Rectangle 5"/>
          <p:cNvSpPr/>
          <p:nvPr userDrawn="1"/>
        </p:nvSpPr>
        <p:spPr>
          <a:xfrm>
            <a:off x="-92" y="4837393"/>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23783" y="4837393"/>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735408" y="4985893"/>
            <a:ext cx="1143000" cy="1143000"/>
          </a:xfrm>
          <a:prstGeom prst="rect">
            <a:avLst/>
          </a:prstGeom>
        </p:spPr>
      </p:pic>
    </p:spTree>
    <p:extLst>
      <p:ext uri="{BB962C8B-B14F-4D97-AF65-F5344CB8AC3E}">
        <p14:creationId xmlns:p14="http://schemas.microsoft.com/office/powerpoint/2010/main" val="29130838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F4C94289-3309-4C35-850A-56FD49B3E346}" type="slidenum">
              <a:rPr lang="en-GB" smtClean="0"/>
              <a:pPr/>
              <a:t>‹#›</a:t>
            </a:fld>
            <a:endParaRPr lang="en-GB" dirty="0"/>
          </a:p>
        </p:txBody>
      </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5831092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F4C94289-3309-4C35-850A-56FD49B3E346}" type="slidenum">
              <a:rPr lang="en-GB" smtClean="0"/>
              <a:pPr/>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6940130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F4C94289-3309-4C35-850A-56FD49B3E346}" type="slidenum">
              <a:rPr lang="en-GB" smtClean="0"/>
              <a:pPr/>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40286399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endParaRPr lang="en-GB" dirty="0"/>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dirty="0"/>
          </a:p>
        </p:txBody>
      </p:sp>
    </p:spTree>
    <p:extLst>
      <p:ext uri="{BB962C8B-B14F-4D97-AF65-F5344CB8AC3E}">
        <p14:creationId xmlns:p14="http://schemas.microsoft.com/office/powerpoint/2010/main" val="23739771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a:t>Click to edit Master title style</a:t>
            </a:r>
          </a:p>
        </p:txBody>
      </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grpSp>
        <p:nvGrpSpPr>
          <p:cNvPr id="7" name="Group 20">
            <a:extLst>
              <a:ext uri="{FF2B5EF4-FFF2-40B4-BE49-F238E27FC236}">
                <a16:creationId xmlns:a16="http://schemas.microsoft.com/office/drawing/2014/main" id="{10AAE099-A88A-CD65-7153-D0230BFDD831}"/>
              </a:ext>
            </a:extLst>
          </p:cNvPr>
          <p:cNvGrpSpPr/>
          <p:nvPr/>
        </p:nvGrpSpPr>
        <p:grpSpPr>
          <a:xfrm>
            <a:off x="1115377" y="4481716"/>
            <a:ext cx="902611" cy="902611"/>
            <a:chOff x="4492144" y="190843"/>
            <a:chExt cx="855656" cy="855656"/>
          </a:xfrm>
        </p:grpSpPr>
        <p:sp>
          <p:nvSpPr>
            <p:cNvPr id="14" name="Oval 22">
              <a:extLst>
                <a:ext uri="{FF2B5EF4-FFF2-40B4-BE49-F238E27FC236}">
                  <a16:creationId xmlns:a16="http://schemas.microsoft.com/office/drawing/2014/main" id="{55D888FB-8669-1B5C-16FE-90506AFE9BB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Oval 23">
              <a:extLst>
                <a:ext uri="{FF2B5EF4-FFF2-40B4-BE49-F238E27FC236}">
                  <a16:creationId xmlns:a16="http://schemas.microsoft.com/office/drawing/2014/main" id="{A1FDAAE3-2283-3C56-CA29-22B15BD98A47}"/>
                </a:ext>
              </a:extLst>
            </p:cNvPr>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pic>
        <p:nvPicPr>
          <p:cNvPr id="6" name="Picture 21">
            <a:extLst>
              <a:ext uri="{FF2B5EF4-FFF2-40B4-BE49-F238E27FC236}">
                <a16:creationId xmlns:a16="http://schemas.microsoft.com/office/drawing/2014/main" id="{BD129A2B-A03E-C019-87FE-7F48447F4A0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303082" y="4680042"/>
            <a:ext cx="505958" cy="505958"/>
          </a:xfrm>
          <a:prstGeom prst="rect">
            <a:avLst/>
          </a:prstGeom>
        </p:spPr>
      </p:pic>
    </p:spTree>
    <p:extLst>
      <p:ext uri="{BB962C8B-B14F-4D97-AF65-F5344CB8AC3E}">
        <p14:creationId xmlns:p14="http://schemas.microsoft.com/office/powerpoint/2010/main" val="4032245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2.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29.xml"/><Relationship Id="rId7"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739082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65469872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8"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292852F-8351-3457-A049-CCA14D71CD2A}"/>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593000" y="405536"/>
            <a:ext cx="1371600" cy="649224"/>
          </a:xfrm>
          <a:prstGeom prst="rect">
            <a:avLst/>
          </a:prstGeom>
        </p:spPr>
      </p:pic>
    </p:spTree>
    <p:extLst>
      <p:ext uri="{BB962C8B-B14F-4D97-AF65-F5344CB8AC3E}">
        <p14:creationId xmlns:p14="http://schemas.microsoft.com/office/powerpoint/2010/main" val="197674147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1.xml"/><Relationship Id="rId6" Type="http://schemas.openxmlformats.org/officeDocument/2006/relationships/image" Target="../media/image17.emf"/><Relationship Id="rId5" Type="http://schemas.openxmlformats.org/officeDocument/2006/relationships/image" Target="../media/image2.emf"/><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9.jpe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28.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8.xml"/><Relationship Id="rId5" Type="http://schemas.openxmlformats.org/officeDocument/2006/relationships/image" Target="../media/image30.sv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9.jpe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30.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9.jpe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30.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0.xml"/><Relationship Id="rId4" Type="http://schemas.openxmlformats.org/officeDocument/2006/relationships/image" Target="../media/image44.svg"/></Relationships>
</file>

<file path=ppt/slides/_rels/slide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9.jpe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0.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0.xml"/><Relationship Id="rId4" Type="http://schemas.openxmlformats.org/officeDocument/2006/relationships/image" Target="../media/image30.svg"/></Relationships>
</file>

<file path=ppt/slides/_rels/slide2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30.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59003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cap="none" dirty="0"/>
              <a:t>COST CENTER ALLOCATIONS</a:t>
            </a:r>
            <a:endParaRPr lang="en-GB" cap="none" dirty="0"/>
          </a:p>
        </p:txBody>
      </p:sp>
    </p:spTree>
    <p:extLst>
      <p:ext uri="{BB962C8B-B14F-4D97-AF65-F5344CB8AC3E}">
        <p14:creationId xmlns:p14="http://schemas.microsoft.com/office/powerpoint/2010/main" val="200685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13" name="Rectangle 12"/>
          <p:cNvSpPr/>
          <p:nvPr/>
        </p:nvSpPr>
        <p:spPr>
          <a:xfrm>
            <a:off x="3429753" y="0"/>
            <a:ext cx="8759126" cy="6857352"/>
          </a:xfrm>
          <a:prstGeom prst="rect">
            <a:avLst/>
          </a:prstGeom>
          <a:gradFill flip="none" rotWithShape="1">
            <a:gsLst>
              <a:gs pos="0">
                <a:schemeClr val="accent6">
                  <a:lumMod val="75000"/>
                  <a:alpha val="80000"/>
                </a:schemeClr>
              </a:gs>
              <a:gs pos="100000">
                <a:schemeClr val="accent3">
                  <a:alpha val="8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6" name="Group 15"/>
          <p:cNvGrpSpPr/>
          <p:nvPr/>
        </p:nvGrpSpPr>
        <p:grpSpPr>
          <a:xfrm>
            <a:off x="0" y="0"/>
            <a:ext cx="3343037" cy="6858001"/>
            <a:chOff x="0" y="0"/>
            <a:chExt cx="3343037" cy="6858001"/>
          </a:xfrm>
        </p:grpSpPr>
        <p:pic>
          <p:nvPicPr>
            <p:cNvPr id="23" name="Picture 2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24" name="TextBox 23"/>
            <p:cNvSpPr txBox="1"/>
            <p:nvPr/>
          </p:nvSpPr>
          <p:spPr>
            <a:xfrm>
              <a:off x="141298" y="2139775"/>
              <a:ext cx="2989658" cy="1941342"/>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charset="0"/>
                  <a:ea typeface="Arial" charset="0"/>
                  <a:cs typeface="Arial" charset="0"/>
                </a:rPr>
                <a:t>S4F-ERP</a:t>
              </a:r>
            </a:p>
          </p:txBody>
        </p:sp>
        <p:sp>
          <p:nvSpPr>
            <p:cNvPr id="25" name="Rectangle 24"/>
            <p:cNvSpPr/>
            <p:nvPr/>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3140"/>
                </a:solidFill>
                <a:effectLst/>
                <a:uLnTx/>
                <a:uFillTx/>
                <a:latin typeface="Arial" panose="020B0604020202020204"/>
                <a:ea typeface="+mn-ea"/>
                <a:cs typeface="+mn-cs"/>
              </a:endParaRPr>
            </a:p>
          </p:txBody>
        </p:sp>
        <p:sp>
          <p:nvSpPr>
            <p:cNvPr id="26" name="Rectangle 25"/>
            <p:cNvSpPr/>
            <p:nvPr/>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Date Placeholder 1"/>
            <p:cNvSpPr txBox="1">
              <a:spLocks/>
            </p:cNvSpPr>
            <p:nvPr/>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pic>
          <p:nvPicPr>
            <p:cNvPr id="28" name="Picture 27">
              <a:extLst>
                <a:ext uri="{FF2B5EF4-FFF2-40B4-BE49-F238E27FC236}">
                  <a16:creationId xmlns:a16="http://schemas.microsoft.com/office/drawing/2014/main" id="{DD2F868E-F9E5-4FD0-AA54-A0611266E9A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29" name="TextBox 28"/>
            <p:cNvSpPr txBox="1"/>
            <p:nvPr/>
          </p:nvSpPr>
          <p:spPr>
            <a:xfrm>
              <a:off x="389295" y="3213617"/>
              <a:ext cx="2493664" cy="704538"/>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00" normalizeH="0" baseline="0" noProof="0">
                  <a:ln>
                    <a:noFill/>
                  </a:ln>
                  <a:solidFill>
                    <a:srgbClr val="FFFFFF"/>
                  </a:solidFill>
                  <a:effectLst/>
                  <a:uLnTx/>
                  <a:uFillTx/>
                  <a:latin typeface="Arial" charset="0"/>
                  <a:ea typeface="Arial" charset="0"/>
                  <a:cs typeface="Arial" charset="0"/>
                </a:rPr>
                <a:t>PROJECT</a:t>
              </a:r>
            </a:p>
          </p:txBody>
        </p:sp>
      </p:gr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TextBox 4"/>
          <p:cNvSpPr txBox="1"/>
          <p:nvPr/>
        </p:nvSpPr>
        <p:spPr>
          <a:xfrm>
            <a:off x="0" y="4657460"/>
            <a:ext cx="3332136" cy="6541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98" b="1" i="0" u="none" strike="noStrike" kern="1200" cap="none" spc="0" normalizeH="0" baseline="0" noProof="0">
                <a:ln>
                  <a:noFill/>
                </a:ln>
                <a:solidFill>
                  <a:srgbClr val="FFFFFF"/>
                </a:solidFill>
                <a:effectLst/>
                <a:uLnTx/>
                <a:uFillTx/>
                <a:latin typeface="Arial" charset="0"/>
                <a:ea typeface="Arial" charset="0"/>
                <a:cs typeface="Arial" charset="0"/>
              </a:rPr>
              <a:t>TRAINING</a:t>
            </a:r>
          </a:p>
        </p:txBody>
      </p:sp>
      <p:grpSp>
        <p:nvGrpSpPr>
          <p:cNvPr id="22" name="Group 21"/>
          <p:cNvGrpSpPr/>
          <p:nvPr/>
        </p:nvGrpSpPr>
        <p:grpSpPr>
          <a:xfrm>
            <a:off x="4384219" y="3076671"/>
            <a:ext cx="1809865" cy="1809865"/>
            <a:chOff x="6929804" y="2305098"/>
            <a:chExt cx="1809865" cy="1809865"/>
          </a:xfrm>
        </p:grpSpPr>
        <p:grpSp>
          <p:nvGrpSpPr>
            <p:cNvPr id="7" name="Group 6"/>
            <p:cNvGrpSpPr/>
            <p:nvPr/>
          </p:nvGrpSpPr>
          <p:grpSpPr>
            <a:xfrm>
              <a:off x="6929804" y="2305098"/>
              <a:ext cx="1809865" cy="1809865"/>
              <a:chOff x="4492144" y="190843"/>
              <a:chExt cx="855656" cy="855656"/>
            </a:xfrm>
          </p:grpSpPr>
          <p:sp>
            <p:nvSpPr>
              <p:cNvPr id="8" name="Oval 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Oval 8"/>
              <p:cNvSpPr/>
              <p:nvPr/>
            </p:nvSpPr>
            <p:spPr>
              <a:xfrm>
                <a:off x="4551137" y="249836"/>
                <a:ext cx="737671" cy="737671"/>
              </a:xfrm>
              <a:prstGeom prst="ellipse">
                <a:avLst/>
              </a:prstGeom>
              <a:solidFill>
                <a:schemeClr val="bg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2" name="Rectangle 11"/>
            <p:cNvSpPr/>
            <p:nvPr/>
          </p:nvSpPr>
          <p:spPr>
            <a:xfrm>
              <a:off x="7059626" y="2732976"/>
              <a:ext cx="1555265" cy="954107"/>
            </a:xfrm>
            <a:prstGeom prst="rect">
              <a:avLst/>
            </a:prstGeom>
          </p:spPr>
          <p:txBody>
            <a:bodyPr wrap="square" anchor="ctr">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a:ln>
                    <a:noFill/>
                  </a:ln>
                  <a:solidFill>
                    <a:srgbClr val="000000"/>
                  </a:solidFill>
                  <a:effectLst/>
                  <a:uLnTx/>
                  <a:uFillTx/>
                  <a:latin typeface="Arial" panose="020B0604020202020204"/>
                  <a:ea typeface="+mn-ea"/>
                  <a:cs typeface="+mn-cs"/>
                </a:rPr>
                <a:t>Icon here</a:t>
              </a:r>
            </a:p>
          </p:txBody>
        </p:sp>
      </p:grpSp>
      <p:sp>
        <p:nvSpPr>
          <p:cNvPr id="19" name="Title 33"/>
          <p:cNvSpPr txBox="1">
            <a:spLocks/>
          </p:cNvSpPr>
          <p:nvPr/>
        </p:nvSpPr>
        <p:spPr>
          <a:xfrm>
            <a:off x="4434237" y="736170"/>
            <a:ext cx="6756400" cy="1073112"/>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1000"/>
              </a:spcAft>
              <a:buClrTx/>
              <a:buSzTx/>
              <a:buFontTx/>
              <a:buNone/>
              <a:tabLst/>
              <a:defRPr/>
            </a:pPr>
            <a:r>
              <a:rPr kumimoji="0" lang="en-GB" sz="3200" b="1" i="0" u="none" strike="noStrike" kern="1200" cap="none" spc="0" normalizeH="0" baseline="0" noProof="0" dirty="0">
                <a:ln>
                  <a:noFill/>
                </a:ln>
                <a:solidFill>
                  <a:srgbClr val="FFFFFF"/>
                </a:solidFill>
                <a:effectLst/>
                <a:uLnTx/>
                <a:uFillTx/>
                <a:latin typeface="Arial" panose="020B0604020202020204"/>
                <a:ea typeface="+mj-ea"/>
                <a:cs typeface="+mj-cs"/>
              </a:rPr>
              <a:t>Cost </a:t>
            </a:r>
            <a:r>
              <a:rPr kumimoji="0" lang="en-GB" sz="3200" b="1" i="0" u="none" strike="noStrike" kern="1200" cap="none" spc="0" normalizeH="0" baseline="0" noProof="0" dirty="0" err="1">
                <a:ln>
                  <a:noFill/>
                </a:ln>
                <a:solidFill>
                  <a:srgbClr val="FFFFFF"/>
                </a:solidFill>
                <a:effectLst/>
                <a:uLnTx/>
                <a:uFillTx/>
                <a:latin typeface="Arial" panose="020B0604020202020204"/>
                <a:ea typeface="+mj-ea"/>
                <a:cs typeface="+mj-cs"/>
              </a:rPr>
              <a:t>Center</a:t>
            </a:r>
            <a:r>
              <a:rPr kumimoji="0" lang="en-GB" sz="3200" b="1" i="0" u="none" strike="noStrike" kern="1200" cap="none" spc="0" normalizeH="0" baseline="0" noProof="0" dirty="0">
                <a:ln>
                  <a:noFill/>
                </a:ln>
                <a:solidFill>
                  <a:srgbClr val="FFFFFF"/>
                </a:solidFill>
                <a:effectLst/>
                <a:uLnTx/>
                <a:uFillTx/>
                <a:latin typeface="Arial" panose="020B0604020202020204"/>
                <a:ea typeface="+mj-ea"/>
                <a:cs typeface="+mj-cs"/>
              </a:rPr>
              <a:t> Allocations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3200" b="0" i="0" u="none" strike="noStrike" kern="1200" cap="none" spc="0" normalizeH="0" baseline="0" noProof="0" dirty="0">
                <a:ln>
                  <a:noFill/>
                </a:ln>
                <a:solidFill>
                  <a:srgbClr val="FFFFFF"/>
                </a:solidFill>
                <a:effectLst/>
                <a:uLnTx/>
                <a:uFillTx/>
                <a:latin typeface="Arial" panose="020B0604020202020204"/>
                <a:ea typeface="+mj-ea"/>
                <a:cs typeface="+mj-cs"/>
              </a:rPr>
              <a:t>Structure of the course</a:t>
            </a:r>
            <a:endParaRPr kumimoji="0" lang="en-GB" sz="3200" b="1" i="0" u="none" strike="noStrike" kern="1200" cap="none" spc="0" normalizeH="0" baseline="0" noProof="0" dirty="0">
              <a:ln>
                <a:noFill/>
              </a:ln>
              <a:solidFill>
                <a:srgbClr val="FFFFFF"/>
              </a:solidFill>
              <a:effectLst/>
              <a:uLnTx/>
              <a:uFillTx/>
              <a:latin typeface="Arial" panose="020B0604020202020204"/>
              <a:ea typeface="+mj-ea"/>
              <a:cs typeface="+mj-cs"/>
            </a:endParaRPr>
          </a:p>
        </p:txBody>
      </p:sp>
      <p:grpSp>
        <p:nvGrpSpPr>
          <p:cNvPr id="14" name="Group 13">
            <a:extLst>
              <a:ext uri="{FF2B5EF4-FFF2-40B4-BE49-F238E27FC236}">
                <a16:creationId xmlns:a16="http://schemas.microsoft.com/office/drawing/2014/main" id="{EC0B722B-8601-4310-8934-C9F35CC0A738}"/>
              </a:ext>
            </a:extLst>
          </p:cNvPr>
          <p:cNvGrpSpPr/>
          <p:nvPr/>
        </p:nvGrpSpPr>
        <p:grpSpPr>
          <a:xfrm>
            <a:off x="4381175" y="2883731"/>
            <a:ext cx="7294886" cy="2427864"/>
            <a:chOff x="4381175" y="2883731"/>
            <a:chExt cx="7294886" cy="2427864"/>
          </a:xfrm>
        </p:grpSpPr>
        <p:grpSp>
          <p:nvGrpSpPr>
            <p:cNvPr id="11" name="Group 10">
              <a:extLst>
                <a:ext uri="{FF2B5EF4-FFF2-40B4-BE49-F238E27FC236}">
                  <a16:creationId xmlns:a16="http://schemas.microsoft.com/office/drawing/2014/main" id="{DD04017C-791A-4089-A4D2-F5AA155E1B0B}"/>
                </a:ext>
              </a:extLst>
            </p:cNvPr>
            <p:cNvGrpSpPr/>
            <p:nvPr/>
          </p:nvGrpSpPr>
          <p:grpSpPr>
            <a:xfrm>
              <a:off x="7444303" y="2883731"/>
              <a:ext cx="4231758" cy="2427864"/>
              <a:chOff x="7444303" y="2883731"/>
              <a:chExt cx="4231758" cy="2427864"/>
            </a:xfrm>
          </p:grpSpPr>
          <p:sp>
            <p:nvSpPr>
              <p:cNvPr id="21" name="TextBox 20"/>
              <p:cNvSpPr txBox="1"/>
              <p:nvPr/>
            </p:nvSpPr>
            <p:spPr>
              <a:xfrm>
                <a:off x="7444304" y="4756406"/>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Reporting</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10" name="Group 9">
                <a:extLst>
                  <a:ext uri="{FF2B5EF4-FFF2-40B4-BE49-F238E27FC236}">
                    <a16:creationId xmlns:a16="http://schemas.microsoft.com/office/drawing/2014/main" id="{1614250D-486C-41CA-9483-C6A1AD9A6BEA}"/>
                  </a:ext>
                </a:extLst>
              </p:cNvPr>
              <p:cNvGrpSpPr/>
              <p:nvPr/>
            </p:nvGrpSpPr>
            <p:grpSpPr>
              <a:xfrm>
                <a:off x="7444303" y="2883731"/>
                <a:ext cx="4231757" cy="1393150"/>
                <a:chOff x="7444303" y="2883731"/>
                <a:chExt cx="4231757" cy="1393150"/>
              </a:xfrm>
            </p:grpSpPr>
            <p:sp>
              <p:nvSpPr>
                <p:cNvPr id="20" name="TextBox 19"/>
                <p:cNvSpPr txBox="1"/>
                <p:nvPr/>
              </p:nvSpPr>
              <p:spPr>
                <a:xfrm>
                  <a:off x="7444304" y="2883731"/>
                  <a:ext cx="3566596"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Master Data</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6" name="TextBox 35">
                  <a:extLst>
                    <a:ext uri="{FF2B5EF4-FFF2-40B4-BE49-F238E27FC236}">
                      <a16:creationId xmlns:a16="http://schemas.microsoft.com/office/drawing/2014/main" id="{DEF89FD0-9C43-48D7-AF14-FA0708CB27E4}"/>
                    </a:ext>
                  </a:extLst>
                </p:cNvPr>
                <p:cNvSpPr txBox="1"/>
                <p:nvPr/>
              </p:nvSpPr>
              <p:spPr>
                <a:xfrm>
                  <a:off x="7444303" y="3721692"/>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Cost Allocations</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6" name="Group 5">
              <a:extLst>
                <a:ext uri="{FF2B5EF4-FFF2-40B4-BE49-F238E27FC236}">
                  <a16:creationId xmlns:a16="http://schemas.microsoft.com/office/drawing/2014/main" id="{364A1F80-4267-496A-9516-701662ABCC2A}"/>
                </a:ext>
              </a:extLst>
            </p:cNvPr>
            <p:cNvGrpSpPr/>
            <p:nvPr/>
          </p:nvGrpSpPr>
          <p:grpSpPr>
            <a:xfrm>
              <a:off x="4381175" y="3076671"/>
              <a:ext cx="2917844" cy="1931716"/>
              <a:chOff x="4372240" y="3074237"/>
              <a:chExt cx="2917844" cy="1931716"/>
            </a:xfrm>
          </p:grpSpPr>
          <p:cxnSp>
            <p:nvCxnSpPr>
              <p:cNvPr id="32" name="Elbow Connector 31"/>
              <p:cNvCxnSpPr>
                <a:stCxn id="8" idx="6"/>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38" name="Elbow Connector 37"/>
              <p:cNvCxnSpPr>
                <a:stCxn id="8" idx="6"/>
              </p:cNvCxnSpPr>
              <p:nvPr/>
            </p:nvCxnSpPr>
            <p:spPr>
              <a:xfrm>
                <a:off x="6194084" y="3981604"/>
                <a:ext cx="1096000" cy="10243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E71DF702-DC4F-48EF-BBFC-AE9A80FE5D7A}"/>
                  </a:ext>
                </a:extLst>
              </p:cNvPr>
              <p:cNvGrpSpPr/>
              <p:nvPr/>
            </p:nvGrpSpPr>
            <p:grpSpPr>
              <a:xfrm>
                <a:off x="4372240" y="3074237"/>
                <a:ext cx="1850100" cy="1850100"/>
                <a:chOff x="4401574" y="3295146"/>
                <a:chExt cx="624164" cy="624164"/>
              </a:xfrm>
            </p:grpSpPr>
            <p:grpSp>
              <p:nvGrpSpPr>
                <p:cNvPr id="31" name="Group 30">
                  <a:extLst>
                    <a:ext uri="{FF2B5EF4-FFF2-40B4-BE49-F238E27FC236}">
                      <a16:creationId xmlns:a16="http://schemas.microsoft.com/office/drawing/2014/main" id="{36716172-8A2F-49D4-A347-B7036DE73277}"/>
                    </a:ext>
                  </a:extLst>
                </p:cNvPr>
                <p:cNvGrpSpPr/>
                <p:nvPr/>
              </p:nvGrpSpPr>
              <p:grpSpPr>
                <a:xfrm>
                  <a:off x="4401574" y="3295146"/>
                  <a:ext cx="624164" cy="624164"/>
                  <a:chOff x="4492144" y="190843"/>
                  <a:chExt cx="855656" cy="855656"/>
                </a:xfrm>
              </p:grpSpPr>
              <p:sp>
                <p:nvSpPr>
                  <p:cNvPr id="34" name="Oval 33">
                    <a:extLst>
                      <a:ext uri="{FF2B5EF4-FFF2-40B4-BE49-F238E27FC236}">
                        <a16:creationId xmlns:a16="http://schemas.microsoft.com/office/drawing/2014/main" id="{CF169B5B-DE52-4005-9FA1-02C962D8DF3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5" name="Oval 34">
                    <a:extLst>
                      <a:ext uri="{FF2B5EF4-FFF2-40B4-BE49-F238E27FC236}">
                        <a16:creationId xmlns:a16="http://schemas.microsoft.com/office/drawing/2014/main" id="{81A7CECB-A71D-4E3D-B131-11B6E46B122D}"/>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33" name="Picture 32">
                  <a:extLst>
                    <a:ext uri="{FF2B5EF4-FFF2-40B4-BE49-F238E27FC236}">
                      <a16:creationId xmlns:a16="http://schemas.microsoft.com/office/drawing/2014/main" id="{61237349-D6B6-446B-80CE-5F02D4DF779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cxnSp>
            <p:nvCxnSpPr>
              <p:cNvPr id="37" name="Straight Connector 36">
                <a:extLst>
                  <a:ext uri="{FF2B5EF4-FFF2-40B4-BE49-F238E27FC236}">
                    <a16:creationId xmlns:a16="http://schemas.microsoft.com/office/drawing/2014/main" id="{0CF290C6-7F48-439F-948A-16A23EA370A5}"/>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23658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cstate="email">
            <a:alphaModFix/>
            <a:extLst>
              <a:ext uri="{28A0092B-C50C-407E-A947-70E740481C1C}">
                <a14:useLocalDpi xmlns:a14="http://schemas.microsoft.com/office/drawing/2010/main"/>
              </a:ext>
            </a:extLst>
          </a:blip>
          <a:srcRect/>
          <a:stretch/>
        </p:blipFill>
        <p:spPr>
          <a:xfrm>
            <a:off x="0" y="1340603"/>
            <a:ext cx="12192000" cy="4897465"/>
          </a:xfrm>
          <a:prstGeom prst="rect">
            <a:avLst/>
          </a:prstGeom>
        </p:spPr>
      </p:pic>
      <p:sp>
        <p:nvSpPr>
          <p:cNvPr id="3" name="Slide Number Placeholder 2"/>
          <p:cNvSpPr>
            <a:spLocks noGrp="1"/>
          </p:cNvSpPr>
          <p:nvPr>
            <p:ph type="sldNum" sz="quarter" idx="12"/>
          </p:nvPr>
        </p:nvSpPr>
        <p:spPr/>
        <p:txBody>
          <a:bodyPr/>
          <a:lstStyle/>
          <a:p>
            <a:fld id="{F4C94289-3309-4C35-850A-56FD49B3E346}" type="slidenum">
              <a:rPr lang="en-GB" smtClean="0"/>
              <a:pPr/>
              <a:t>4</a:t>
            </a:fld>
            <a:endParaRPr lang="en-GB"/>
          </a:p>
        </p:txBody>
      </p:sp>
      <p:sp>
        <p:nvSpPr>
          <p:cNvPr id="34" name="Title 33"/>
          <p:cNvSpPr>
            <a:spLocks noGrp="1"/>
          </p:cNvSpPr>
          <p:nvPr>
            <p:ph type="title"/>
          </p:nvPr>
        </p:nvSpPr>
        <p:spPr/>
        <p:txBody>
          <a:bodyPr/>
          <a:lstStyle/>
          <a:p>
            <a:r>
              <a:rPr lang="en-GB"/>
              <a:t>Overview – About this course</a:t>
            </a:r>
          </a:p>
        </p:txBody>
      </p:sp>
      <p:sp>
        <p:nvSpPr>
          <p:cNvPr id="13" name="Rounded Rectangle 12"/>
          <p:cNvSpPr/>
          <p:nvPr/>
        </p:nvSpPr>
        <p:spPr>
          <a:xfrm>
            <a:off x="515939" y="1650568"/>
            <a:ext cx="3265647" cy="4277534"/>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lvl="0" algn="ctr">
              <a:spcAft>
                <a:spcPts val="1000"/>
              </a:spcAft>
            </a:pPr>
            <a:r>
              <a:rPr lang="en-US" sz="2000" b="1" dirty="0">
                <a:solidFill>
                  <a:schemeClr val="tx1"/>
                </a:solidFill>
                <a:latin typeface="Arial" charset="0"/>
                <a:ea typeface="Arial" charset="0"/>
                <a:cs typeface="Arial" charset="0"/>
              </a:rPr>
              <a:t>Course Objectives</a:t>
            </a:r>
          </a:p>
          <a:p>
            <a:pPr algn="ctr">
              <a:spcAft>
                <a:spcPts val="1000"/>
              </a:spcAft>
            </a:pPr>
            <a:r>
              <a:rPr lang="en-GB" sz="1600" b="1" dirty="0">
                <a:solidFill>
                  <a:schemeClr val="accent3"/>
                </a:solidFill>
              </a:rPr>
              <a:t>This course provides information on:</a:t>
            </a:r>
          </a:p>
          <a:p>
            <a:pPr marL="179946" lvl="2" indent="-179946">
              <a:spcBef>
                <a:spcPts val="600"/>
              </a:spcBef>
              <a:buFont typeface="Arial" panose="020B0604020202020204" pitchFamily="34" charset="0"/>
              <a:buChar char="•"/>
            </a:pPr>
            <a:r>
              <a:rPr lang="en-US" sz="1400" dirty="0">
                <a:solidFill>
                  <a:schemeClr val="tx1"/>
                </a:solidFill>
              </a:rPr>
              <a:t>Prepare Power Users for delivering this training materials to end-users</a:t>
            </a:r>
          </a:p>
          <a:p>
            <a:pPr marL="179946" lvl="2" indent="-179946">
              <a:spcBef>
                <a:spcPts val="600"/>
              </a:spcBef>
              <a:buFont typeface="Arial" panose="020B0604020202020204" pitchFamily="34" charset="0"/>
              <a:buChar char="•"/>
            </a:pPr>
            <a:r>
              <a:rPr lang="en-US" sz="1400" dirty="0">
                <a:solidFill>
                  <a:schemeClr val="tx1"/>
                </a:solidFill>
              </a:rPr>
              <a:t>Refresh knowledge of Power Users in the creation, maintenance and executing processes involved using Cost Center Allocations</a:t>
            </a:r>
          </a:p>
          <a:p>
            <a:pPr marL="179946" lvl="2" indent="-179946">
              <a:spcBef>
                <a:spcPts val="600"/>
              </a:spcBef>
              <a:buFont typeface="Arial" panose="020B0604020202020204" pitchFamily="34" charset="0"/>
              <a:buChar char="•"/>
            </a:pPr>
            <a:r>
              <a:rPr lang="en-US" sz="1400" dirty="0">
                <a:solidFill>
                  <a:schemeClr val="tx1"/>
                </a:solidFill>
              </a:rPr>
              <a:t>Provide the understanding of the newly implemented and refined    processes</a:t>
            </a:r>
          </a:p>
        </p:txBody>
      </p:sp>
      <p:sp>
        <p:nvSpPr>
          <p:cNvPr id="17" name="Rounded Rectangle 16"/>
          <p:cNvSpPr/>
          <p:nvPr/>
        </p:nvSpPr>
        <p:spPr>
          <a:xfrm>
            <a:off x="4430553" y="1650568"/>
            <a:ext cx="3265647" cy="4277534"/>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algn="ctr">
              <a:spcAft>
                <a:spcPts val="1000"/>
              </a:spcAft>
            </a:pPr>
            <a:r>
              <a:rPr lang="en-US" sz="2000" b="1" dirty="0">
                <a:solidFill>
                  <a:schemeClr val="tx2">
                    <a:lumMod val="50000"/>
                  </a:schemeClr>
                </a:solidFill>
                <a:latin typeface="Arial" charset="0"/>
                <a:ea typeface="Arial" charset="0"/>
                <a:cs typeface="Arial" charset="0"/>
              </a:rPr>
              <a:t>Target Audiences</a:t>
            </a:r>
          </a:p>
          <a:p>
            <a:pPr algn="ctr">
              <a:spcAft>
                <a:spcPts val="1000"/>
              </a:spcAft>
            </a:pPr>
            <a:r>
              <a:rPr lang="en-GB" sz="1600" b="1" dirty="0">
                <a:solidFill>
                  <a:schemeClr val="accent3"/>
                </a:solidFill>
              </a:rPr>
              <a:t>This course is mandatory for:</a:t>
            </a:r>
          </a:p>
          <a:p>
            <a:pPr marL="179946" lvl="2" indent="-179946">
              <a:spcBef>
                <a:spcPts val="600"/>
              </a:spcBef>
              <a:buFont typeface="Arial" panose="020B0604020202020204" pitchFamily="34" charset="0"/>
              <a:buChar char="•"/>
            </a:pPr>
            <a:r>
              <a:rPr lang="en-US" sz="1400" dirty="0">
                <a:solidFill>
                  <a:schemeClr val="tx1"/>
                </a:solidFill>
              </a:rPr>
              <a:t>Power Users who will be involved in allocating costs using Cost Center Allocation Cycles</a:t>
            </a:r>
          </a:p>
        </p:txBody>
      </p:sp>
      <p:sp>
        <p:nvSpPr>
          <p:cNvPr id="18" name="Rounded Rectangle 17"/>
          <p:cNvSpPr/>
          <p:nvPr/>
        </p:nvSpPr>
        <p:spPr>
          <a:xfrm>
            <a:off x="8345166" y="1650568"/>
            <a:ext cx="3265647" cy="4277534"/>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lvl="0" algn="ctr">
              <a:spcAft>
                <a:spcPts val="1000"/>
              </a:spcAft>
            </a:pPr>
            <a:r>
              <a:rPr lang="en-US" sz="2000" b="1" dirty="0">
                <a:solidFill>
                  <a:schemeClr val="tx2">
                    <a:lumMod val="50000"/>
                  </a:schemeClr>
                </a:solidFill>
                <a:latin typeface="Arial" charset="0"/>
                <a:ea typeface="Arial" charset="0"/>
                <a:cs typeface="Arial" charset="0"/>
              </a:rPr>
              <a:t>Learning Guide</a:t>
            </a:r>
          </a:p>
          <a:p>
            <a:pPr algn="ctr">
              <a:spcAft>
                <a:spcPts val="1000"/>
              </a:spcAft>
            </a:pPr>
            <a:r>
              <a:rPr lang="en-GB" sz="1600" b="1" dirty="0">
                <a:solidFill>
                  <a:schemeClr val="accent3"/>
                </a:solidFill>
              </a:rPr>
              <a:t>Related courses:</a:t>
            </a:r>
          </a:p>
          <a:p>
            <a:pPr marL="179946" lvl="2" indent="-179946">
              <a:spcBef>
                <a:spcPts val="600"/>
              </a:spcBef>
              <a:buFont typeface="Arial" panose="020B0604020202020204" pitchFamily="34" charset="0"/>
              <a:buChar char="•"/>
            </a:pPr>
            <a:r>
              <a:rPr lang="en-GB" sz="1400" dirty="0">
                <a:solidFill>
                  <a:schemeClr val="tx1"/>
                </a:solidFill>
              </a:rPr>
              <a:t>Prerequisite course:</a:t>
            </a:r>
          </a:p>
          <a:p>
            <a:pPr marL="637146" lvl="3" indent="-179946">
              <a:spcBef>
                <a:spcPts val="600"/>
              </a:spcBef>
              <a:buFont typeface="Courier New" panose="02070309020205020404" pitchFamily="49" charset="0"/>
              <a:buChar char="o"/>
            </a:pPr>
            <a:r>
              <a:rPr lang="en-GB" sz="1200" dirty="0">
                <a:solidFill>
                  <a:schemeClr val="tx1"/>
                </a:solidFill>
                <a:latin typeface="Arial" charset="0"/>
                <a:cs typeface="Arial" charset="0"/>
              </a:rPr>
              <a:t>Finance Fundamentals Overview</a:t>
            </a:r>
          </a:p>
          <a:p>
            <a:pPr marL="637146" lvl="3" indent="-179946">
              <a:spcBef>
                <a:spcPts val="600"/>
              </a:spcBef>
              <a:buFont typeface="Courier New" panose="02070309020205020404" pitchFamily="49" charset="0"/>
              <a:buChar char="o"/>
            </a:pPr>
            <a:r>
              <a:rPr lang="en-GB" sz="1200" dirty="0">
                <a:solidFill>
                  <a:schemeClr val="tx1"/>
                </a:solidFill>
                <a:latin typeface="Arial" charset="0"/>
                <a:cs typeface="Arial" charset="0"/>
              </a:rPr>
              <a:t>Finance Fundamentals</a:t>
            </a:r>
          </a:p>
          <a:p>
            <a:pPr marL="179946" lvl="2" indent="-179946">
              <a:spcBef>
                <a:spcPts val="600"/>
              </a:spcBef>
              <a:buFont typeface="Arial" panose="020B0604020202020204" pitchFamily="34" charset="0"/>
              <a:buChar char="•"/>
            </a:pPr>
            <a:endParaRPr lang="en-GB" sz="1400" dirty="0">
              <a:solidFill>
                <a:schemeClr val="tx1"/>
              </a:solidFill>
            </a:endParaRPr>
          </a:p>
          <a:p>
            <a:pPr marL="179946" lvl="2" indent="-179946">
              <a:spcBef>
                <a:spcPts val="600"/>
              </a:spcBef>
              <a:buFont typeface="Arial" panose="020B0604020202020204" pitchFamily="34" charset="0"/>
              <a:buChar char="•"/>
            </a:pPr>
            <a:r>
              <a:rPr lang="en-GB" sz="1400" dirty="0">
                <a:solidFill>
                  <a:schemeClr val="tx1"/>
                </a:solidFill>
              </a:rPr>
              <a:t>Chart of Accounts (CoA)</a:t>
            </a:r>
          </a:p>
          <a:p>
            <a:pPr marL="179946" lvl="2" indent="-179946">
              <a:spcBef>
                <a:spcPts val="600"/>
              </a:spcBef>
              <a:buFont typeface="Arial" panose="020B0604020202020204" pitchFamily="34" charset="0"/>
              <a:buChar char="•"/>
            </a:pPr>
            <a:r>
              <a:rPr lang="en-GB" sz="1400" dirty="0">
                <a:solidFill>
                  <a:schemeClr val="tx1"/>
                </a:solidFill>
              </a:rPr>
              <a:t>R2R Guidelines  </a:t>
            </a:r>
          </a:p>
          <a:p>
            <a:pPr marL="179946" lvl="2" indent="-179946">
              <a:spcBef>
                <a:spcPts val="600"/>
              </a:spcBef>
              <a:buFont typeface="Arial" panose="020B0604020202020204" pitchFamily="34" charset="0"/>
              <a:buChar char="•"/>
            </a:pPr>
            <a:r>
              <a:rPr lang="en-US" sz="1400" dirty="0">
                <a:solidFill>
                  <a:schemeClr val="tx1"/>
                </a:solidFill>
              </a:rPr>
              <a:t>CO Controlling and Profitability Analysis</a:t>
            </a:r>
          </a:p>
          <a:p>
            <a:pPr marL="179946" lvl="2" indent="-179946">
              <a:spcBef>
                <a:spcPts val="600"/>
              </a:spcBef>
              <a:buFont typeface="Arial" panose="020B0604020202020204" pitchFamily="34" charset="0"/>
              <a:buChar char="•"/>
            </a:pPr>
            <a:r>
              <a:rPr lang="en-GB" sz="1400" dirty="0">
                <a:solidFill>
                  <a:schemeClr val="tx1"/>
                </a:solidFill>
              </a:rPr>
              <a:t>CO Controlling WBS Elements &amp; Projects – OPEX</a:t>
            </a:r>
          </a:p>
          <a:p>
            <a:pPr marL="179946" lvl="2" indent="-179946">
              <a:spcBef>
                <a:spcPts val="600"/>
              </a:spcBef>
              <a:buFont typeface="Arial" panose="020B0604020202020204" pitchFamily="34" charset="0"/>
              <a:buChar char="•"/>
            </a:pPr>
            <a:endParaRPr lang="en-US" sz="2000" b="1" dirty="0">
              <a:solidFill>
                <a:schemeClr val="tx1"/>
              </a:solidFill>
              <a:latin typeface="Arial" charset="0"/>
              <a:ea typeface="Arial" charset="0"/>
              <a:cs typeface="Arial" charset="0"/>
            </a:endParaRPr>
          </a:p>
        </p:txBody>
      </p:sp>
    </p:spTree>
    <p:extLst>
      <p:ext uri="{BB962C8B-B14F-4D97-AF65-F5344CB8AC3E}">
        <p14:creationId xmlns:p14="http://schemas.microsoft.com/office/powerpoint/2010/main" val="84209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286001"/>
            <a:ext cx="12192000" cy="4991391"/>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4294967295"/>
          </p:nvPr>
        </p:nvSpPr>
        <p:spPr>
          <a:xfrm>
            <a:off x="11795125" y="6297613"/>
            <a:ext cx="396875"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 name="Group 3">
            <a:extLst>
              <a:ext uri="{FF2B5EF4-FFF2-40B4-BE49-F238E27FC236}">
                <a16:creationId xmlns:a16="http://schemas.microsoft.com/office/drawing/2014/main" id="{70D94340-C2C1-4AC4-B239-D127A63FC583}"/>
              </a:ext>
            </a:extLst>
          </p:cNvPr>
          <p:cNvGrpSpPr/>
          <p:nvPr/>
        </p:nvGrpSpPr>
        <p:grpSpPr>
          <a:xfrm>
            <a:off x="6921545" y="1699452"/>
            <a:ext cx="4754516" cy="2607446"/>
            <a:chOff x="6011091" y="1702071"/>
            <a:chExt cx="4754516" cy="2607446"/>
          </a:xfrm>
        </p:grpSpPr>
        <p:cxnSp>
          <p:nvCxnSpPr>
            <p:cNvPr id="5" name="Elbow Connector 4"/>
            <p:cNvCxnSpPr/>
            <p:nvPr/>
          </p:nvCxnSpPr>
          <p:spPr>
            <a:xfrm flipV="1">
              <a:off x="6011091" y="195391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p:cNvCxnSpPr/>
            <p:nvPr/>
          </p:nvCxnSpPr>
          <p:spPr>
            <a:xfrm>
              <a:off x="6011091" y="2844991"/>
              <a:ext cx="1521084" cy="1305726"/>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5" y="2692997"/>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771633" y="3431286"/>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4" y="1702071"/>
              <a:ext cx="309854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1A3040"/>
                  </a:solidFill>
                  <a:effectLst/>
                  <a:uLnTx/>
                  <a:uFillTx/>
                  <a:latin typeface="Arial" charset="0"/>
                  <a:ea typeface="Arial" charset="0"/>
                  <a:cs typeface="Arial" charset="0"/>
                </a:rPr>
                <a:t>Master Data Overview</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67064" y="2434337"/>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a:ea typeface="+mn-ea"/>
                  <a:cs typeface="Arial"/>
                </a:rPr>
                <a:t>C</a:t>
              </a:r>
              <a:r>
                <a:rPr kumimoji="0" lang="en-US" sz="2000" b="1" i="0" u="none" strike="noStrike" kern="1200" cap="none" spc="0" normalizeH="0" baseline="0" noProof="0" dirty="0" err="1">
                  <a:ln>
                    <a:noFill/>
                  </a:ln>
                  <a:solidFill>
                    <a:srgbClr val="FFFFFF"/>
                  </a:solidFill>
                  <a:effectLst/>
                  <a:uLnTx/>
                  <a:uFillTx/>
                  <a:latin typeface="Arial"/>
                  <a:ea typeface="+mn-ea"/>
                  <a:cs typeface="Arial"/>
                </a:rPr>
                <a:t>ost</a:t>
              </a:r>
              <a:r>
                <a:rPr kumimoji="0" lang="en-US" sz="2000" b="1" i="0" u="none" strike="noStrike" kern="1200" cap="none" spc="0" normalizeH="0" baseline="0" noProof="0" dirty="0">
                  <a:ln>
                    <a:noFill/>
                  </a:ln>
                  <a:solidFill>
                    <a:srgbClr val="FFFFFF"/>
                  </a:solidFill>
                  <a:effectLst/>
                  <a:uLnTx/>
                  <a:uFillTx/>
                  <a:latin typeface="Arial"/>
                  <a:ea typeface="+mn-ea"/>
                  <a:cs typeface="Arial"/>
                </a:rPr>
                <a:t> Center Category</a:t>
              </a:r>
              <a:endParaRPr kumimoji="0" lang="en-US" sz="1800" b="0" i="0" u="none" strike="noStrike" kern="1200" cap="none" spc="0" normalizeH="0" baseline="0" noProof="0" dirty="0">
                <a:ln>
                  <a:noFill/>
                </a:ln>
                <a:solidFill>
                  <a:srgbClr val="FFFFFF"/>
                </a:solidFill>
                <a:effectLst/>
                <a:uLnTx/>
                <a:uFillTx/>
                <a:latin typeface="Arial"/>
                <a:ea typeface="+mn-ea"/>
                <a:cs typeface="Arial"/>
              </a:endParaRPr>
            </a:p>
          </p:txBody>
        </p:sp>
        <p:sp>
          <p:nvSpPr>
            <p:cNvPr id="41" name="Rounded Rectangle 40"/>
            <p:cNvSpPr/>
            <p:nvPr/>
          </p:nvSpPr>
          <p:spPr>
            <a:xfrm>
              <a:off x="7667064" y="3166603"/>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Hierarchy Area</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2" name="Rounded Rectangle 41"/>
            <p:cNvSpPr/>
            <p:nvPr/>
          </p:nvSpPr>
          <p:spPr>
            <a:xfrm>
              <a:off x="7667064" y="3898870"/>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Functional Area</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45" name="Group 44">
            <a:extLst>
              <a:ext uri="{FF2B5EF4-FFF2-40B4-BE49-F238E27FC236}">
                <a16:creationId xmlns:a16="http://schemas.microsoft.com/office/drawing/2014/main" id="{76801A36-EB8B-47E5-8D8D-280F68FC7293}"/>
              </a:ext>
            </a:extLst>
          </p:cNvPr>
          <p:cNvGrpSpPr/>
          <p:nvPr/>
        </p:nvGrpSpPr>
        <p:grpSpPr>
          <a:xfrm>
            <a:off x="641316" y="2577874"/>
            <a:ext cx="7294886" cy="2427864"/>
            <a:chOff x="4381175" y="2883731"/>
            <a:chExt cx="7294886" cy="2427864"/>
          </a:xfrm>
        </p:grpSpPr>
        <p:grpSp>
          <p:nvGrpSpPr>
            <p:cNvPr id="46" name="Group 45">
              <a:extLst>
                <a:ext uri="{FF2B5EF4-FFF2-40B4-BE49-F238E27FC236}">
                  <a16:creationId xmlns:a16="http://schemas.microsoft.com/office/drawing/2014/main" id="{2A3FD0F9-5C39-4941-807E-34F10DF098A3}"/>
                </a:ext>
              </a:extLst>
            </p:cNvPr>
            <p:cNvGrpSpPr/>
            <p:nvPr/>
          </p:nvGrpSpPr>
          <p:grpSpPr>
            <a:xfrm>
              <a:off x="7444303" y="2883731"/>
              <a:ext cx="4231758" cy="2427864"/>
              <a:chOff x="7444303" y="2883731"/>
              <a:chExt cx="4231758" cy="2427864"/>
            </a:xfrm>
          </p:grpSpPr>
          <p:sp>
            <p:nvSpPr>
              <p:cNvPr id="56" name="TextBox 55">
                <a:extLst>
                  <a:ext uri="{FF2B5EF4-FFF2-40B4-BE49-F238E27FC236}">
                    <a16:creationId xmlns:a16="http://schemas.microsoft.com/office/drawing/2014/main" id="{8E68C0E5-2E2B-43D0-BEA5-D1BB197D04EC}"/>
                  </a:ext>
                </a:extLst>
              </p:cNvPr>
              <p:cNvSpPr txBox="1"/>
              <p:nvPr/>
            </p:nvSpPr>
            <p:spPr>
              <a:xfrm>
                <a:off x="7444304" y="4756406"/>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Reporting</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57" name="Group 56">
                <a:extLst>
                  <a:ext uri="{FF2B5EF4-FFF2-40B4-BE49-F238E27FC236}">
                    <a16:creationId xmlns:a16="http://schemas.microsoft.com/office/drawing/2014/main" id="{E7E3834B-8715-4B12-AAF1-3E6C8A16288A}"/>
                  </a:ext>
                </a:extLst>
              </p:cNvPr>
              <p:cNvGrpSpPr/>
              <p:nvPr/>
            </p:nvGrpSpPr>
            <p:grpSpPr>
              <a:xfrm>
                <a:off x="7444303" y="2883731"/>
                <a:ext cx="4231757" cy="1393150"/>
                <a:chOff x="7444303" y="2883731"/>
                <a:chExt cx="4231757" cy="1393150"/>
              </a:xfrm>
            </p:grpSpPr>
            <p:sp>
              <p:nvSpPr>
                <p:cNvPr id="58" name="TextBox 57">
                  <a:extLst>
                    <a:ext uri="{FF2B5EF4-FFF2-40B4-BE49-F238E27FC236}">
                      <a16:creationId xmlns:a16="http://schemas.microsoft.com/office/drawing/2014/main" id="{F2DC039B-5CBD-429F-B41D-5F79B2F8EA1C}"/>
                    </a:ext>
                  </a:extLst>
                </p:cNvPr>
                <p:cNvSpPr txBox="1"/>
                <p:nvPr/>
              </p:nvSpPr>
              <p:spPr>
                <a:xfrm>
                  <a:off x="7444304" y="2883731"/>
                  <a:ext cx="3566596"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Master Data</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9" name="TextBox 58">
                  <a:extLst>
                    <a:ext uri="{FF2B5EF4-FFF2-40B4-BE49-F238E27FC236}">
                      <a16:creationId xmlns:a16="http://schemas.microsoft.com/office/drawing/2014/main" id="{DE084E2F-B97C-4D5A-950F-33636CE62278}"/>
                    </a:ext>
                  </a:extLst>
                </p:cNvPr>
                <p:cNvSpPr txBox="1"/>
                <p:nvPr/>
              </p:nvSpPr>
              <p:spPr>
                <a:xfrm>
                  <a:off x="7444303" y="3721692"/>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Cost Allocations</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92A3E0B4-3642-427E-8BCF-9BE549EEBCB2}"/>
                </a:ext>
              </a:extLst>
            </p:cNvPr>
            <p:cNvGrpSpPr/>
            <p:nvPr/>
          </p:nvGrpSpPr>
          <p:grpSpPr>
            <a:xfrm>
              <a:off x="4381175" y="3076671"/>
              <a:ext cx="2917844" cy="1931716"/>
              <a:chOff x="4372240" y="3074237"/>
              <a:chExt cx="2917844" cy="1931716"/>
            </a:xfrm>
          </p:grpSpPr>
          <p:cxnSp>
            <p:nvCxnSpPr>
              <p:cNvPr id="48" name="Elbow Connector 31">
                <a:extLst>
                  <a:ext uri="{FF2B5EF4-FFF2-40B4-BE49-F238E27FC236}">
                    <a16:creationId xmlns:a16="http://schemas.microsoft.com/office/drawing/2014/main" id="{11F0AFDA-0CF3-40DD-8AE0-DD7502086761}"/>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9" name="Elbow Connector 37">
                <a:extLst>
                  <a:ext uri="{FF2B5EF4-FFF2-40B4-BE49-F238E27FC236}">
                    <a16:creationId xmlns:a16="http://schemas.microsoft.com/office/drawing/2014/main" id="{A17B36D0-545B-48B5-BBCE-763840E1C1FD}"/>
                  </a:ext>
                </a:extLst>
              </p:cNvPr>
              <p:cNvCxnSpPr/>
              <p:nvPr/>
            </p:nvCxnSpPr>
            <p:spPr>
              <a:xfrm>
                <a:off x="6194084" y="3981604"/>
                <a:ext cx="1096000" cy="10243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1B4E3B3C-2C9C-4BA5-8348-117CDE1BD4D4}"/>
                  </a:ext>
                </a:extLst>
              </p:cNvPr>
              <p:cNvGrpSpPr/>
              <p:nvPr/>
            </p:nvGrpSpPr>
            <p:grpSpPr>
              <a:xfrm>
                <a:off x="4372240" y="3074237"/>
                <a:ext cx="1850100" cy="1850100"/>
                <a:chOff x="4401574" y="3295146"/>
                <a:chExt cx="624164" cy="624164"/>
              </a:xfrm>
            </p:grpSpPr>
            <p:grpSp>
              <p:nvGrpSpPr>
                <p:cNvPr id="52" name="Group 51">
                  <a:extLst>
                    <a:ext uri="{FF2B5EF4-FFF2-40B4-BE49-F238E27FC236}">
                      <a16:creationId xmlns:a16="http://schemas.microsoft.com/office/drawing/2014/main" id="{5196425E-6A52-471D-9BB3-03F982D1979E}"/>
                    </a:ext>
                  </a:extLst>
                </p:cNvPr>
                <p:cNvGrpSpPr/>
                <p:nvPr/>
              </p:nvGrpSpPr>
              <p:grpSpPr>
                <a:xfrm>
                  <a:off x="4401574" y="3295146"/>
                  <a:ext cx="624164" cy="624164"/>
                  <a:chOff x="4492144" y="190843"/>
                  <a:chExt cx="855656" cy="855656"/>
                </a:xfrm>
              </p:grpSpPr>
              <p:sp>
                <p:nvSpPr>
                  <p:cNvPr id="54" name="Oval 53">
                    <a:extLst>
                      <a:ext uri="{FF2B5EF4-FFF2-40B4-BE49-F238E27FC236}">
                        <a16:creationId xmlns:a16="http://schemas.microsoft.com/office/drawing/2014/main" id="{AFAEDB54-5475-4194-B2EE-258A16FDCA3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Oval 54">
                    <a:extLst>
                      <a:ext uri="{FF2B5EF4-FFF2-40B4-BE49-F238E27FC236}">
                        <a16:creationId xmlns:a16="http://schemas.microsoft.com/office/drawing/2014/main" id="{68823DC9-A348-4957-8676-9E373BA8F0AD}"/>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3" name="Picture 52">
                  <a:extLst>
                    <a:ext uri="{FF2B5EF4-FFF2-40B4-BE49-F238E27FC236}">
                      <a16:creationId xmlns:a16="http://schemas.microsoft.com/office/drawing/2014/main" id="{78E23297-9636-48E7-AC33-C2518626BD1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cxnSp>
            <p:nvCxnSpPr>
              <p:cNvPr id="51" name="Straight Connector 50">
                <a:extLst>
                  <a:ext uri="{FF2B5EF4-FFF2-40B4-BE49-F238E27FC236}">
                    <a16:creationId xmlns:a16="http://schemas.microsoft.com/office/drawing/2014/main" id="{3DCCD240-A4AD-4C9F-88E7-61000DD28F74}"/>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sp>
        <p:nvSpPr>
          <p:cNvPr id="10" name="Title 33">
            <a:extLst>
              <a:ext uri="{FF2B5EF4-FFF2-40B4-BE49-F238E27FC236}">
                <a16:creationId xmlns:a16="http://schemas.microsoft.com/office/drawing/2014/main" id="{D457E300-A179-051B-F586-19247880757D}"/>
              </a:ext>
            </a:extLst>
          </p:cNvPr>
          <p:cNvSpPr txBox="1">
            <a:spLocks/>
          </p:cNvSpPr>
          <p:nvPr/>
        </p:nvSpPr>
        <p:spPr>
          <a:xfrm>
            <a:off x="515939" y="210344"/>
            <a:ext cx="9898061" cy="984247"/>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4400" b="1" kern="1200" cap="all" baseline="0">
                <a:solidFill>
                  <a:schemeClr val="bg1"/>
                </a:solidFill>
                <a:latin typeface="+mj-lt"/>
                <a:ea typeface="+mj-ea"/>
                <a:cs typeface="+mj-cs"/>
              </a:defRPr>
            </a:lvl1pPr>
          </a:lstStyle>
          <a:p>
            <a:r>
              <a:rPr kumimoji="0" lang="en-GB" sz="3200" b="1" i="0" u="none" strike="noStrike" kern="1200" cap="none" spc="0" normalizeH="0" baseline="0" noProof="0" dirty="0">
                <a:ln>
                  <a:noFill/>
                </a:ln>
                <a:solidFill>
                  <a:srgbClr val="000000"/>
                </a:solidFill>
                <a:effectLst/>
                <a:uLnTx/>
                <a:uFillTx/>
                <a:latin typeface="Arial" panose="020B0604020202020204"/>
                <a:ea typeface="+mj-ea"/>
                <a:cs typeface="+mj-cs"/>
              </a:rPr>
              <a:t>Course Structure</a:t>
            </a:r>
            <a:endParaRPr lang="en-GB" dirty="0">
              <a:solidFill>
                <a:schemeClr val="tx1"/>
              </a:solidFill>
            </a:endParaRPr>
          </a:p>
        </p:txBody>
      </p:sp>
    </p:spTree>
    <p:extLst>
      <p:ext uri="{BB962C8B-B14F-4D97-AF65-F5344CB8AC3E}">
        <p14:creationId xmlns:p14="http://schemas.microsoft.com/office/powerpoint/2010/main" val="2366578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EE263-D130-4C38-9EC6-BEE0EA660B2E}"/>
              </a:ext>
            </a:extLst>
          </p:cNvPr>
          <p:cNvSpPr>
            <a:spLocks noGrp="1"/>
          </p:cNvSpPr>
          <p:nvPr>
            <p:ph type="title"/>
          </p:nvPr>
        </p:nvSpPr>
        <p:spPr/>
        <p:txBody>
          <a:bodyPr/>
          <a:lstStyle/>
          <a:p>
            <a:r>
              <a:rPr lang="en-GB" dirty="0"/>
              <a:t>Cost </a:t>
            </a:r>
            <a:r>
              <a:rPr lang="en-GB" dirty="0" err="1"/>
              <a:t>Centers</a:t>
            </a:r>
            <a:r>
              <a:rPr lang="en-GB" dirty="0"/>
              <a:t> – Overview of key changes</a:t>
            </a:r>
            <a:endParaRPr lang="en-US" dirty="0"/>
          </a:p>
        </p:txBody>
      </p:sp>
      <p:sp>
        <p:nvSpPr>
          <p:cNvPr id="5" name="Slide Number Placeholder 4">
            <a:extLst>
              <a:ext uri="{FF2B5EF4-FFF2-40B4-BE49-F238E27FC236}">
                <a16:creationId xmlns:a16="http://schemas.microsoft.com/office/drawing/2014/main" id="{3751308E-3F79-4741-BF19-33342114548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Freeform 6">
            <a:extLst>
              <a:ext uri="{FF2B5EF4-FFF2-40B4-BE49-F238E27FC236}">
                <a16:creationId xmlns:a16="http://schemas.microsoft.com/office/drawing/2014/main" id="{58CAD675-7B2D-457F-8091-B6665562FC33}"/>
              </a:ext>
            </a:extLst>
          </p:cNvPr>
          <p:cNvSpPr/>
          <p:nvPr/>
        </p:nvSpPr>
        <p:spPr>
          <a:xfrm>
            <a:off x="851462" y="1647177"/>
            <a:ext cx="5087904" cy="2042427"/>
          </a:xfrm>
          <a:custGeom>
            <a:avLst/>
            <a:gdLst>
              <a:gd name="connsiteX0" fmla="*/ 0 w 5087904"/>
              <a:gd name="connsiteY0" fmla="*/ 0 h 2042427"/>
              <a:gd name="connsiteX1" fmla="*/ 5087904 w 5087904"/>
              <a:gd name="connsiteY1" fmla="*/ 0 h 2042427"/>
              <a:gd name="connsiteX2" fmla="*/ 5087904 w 5087904"/>
              <a:gd name="connsiteY2" fmla="*/ 2042427 h 2042427"/>
              <a:gd name="connsiteX3" fmla="*/ 0 w 5087904"/>
              <a:gd name="connsiteY3" fmla="*/ 2042427 h 2042427"/>
              <a:gd name="connsiteX4" fmla="*/ 0 w 5087904"/>
              <a:gd name="connsiteY4" fmla="*/ 0 h 2042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7904" h="2042427">
                <a:moveTo>
                  <a:pt x="0" y="0"/>
                </a:moveTo>
                <a:lnTo>
                  <a:pt x="5087904" y="0"/>
                </a:lnTo>
                <a:lnTo>
                  <a:pt x="5087904" y="2042427"/>
                </a:lnTo>
                <a:lnTo>
                  <a:pt x="0" y="2042427"/>
                </a:lnTo>
                <a:lnTo>
                  <a:pt x="0" y="0"/>
                </a:lnTo>
                <a:close/>
              </a:path>
            </a:pathLst>
          </a:custGeom>
          <a:solidFill>
            <a:srgbClr val="FFFFFF"/>
          </a:solidFill>
          <a:ln w="12700" cap="flat" cmpd="sng" algn="ctr">
            <a:solidFill>
              <a:srgbClr val="00BDB7"/>
            </a:solidFill>
            <a:prstDash val="solid"/>
            <a:miter lim="800000"/>
          </a:ln>
          <a:effectLst/>
        </p:spPr>
        <p:txBody>
          <a:bodyPr spcFirstLastPara="0" vert="horz" wrap="square" lIns="1076940" tIns="99060" rIns="99060" bIns="99060" numCol="1" spcCol="1270" anchor="ctr" anchorCtr="0">
            <a:noAutofit/>
          </a:bodyPr>
          <a:lstStyle/>
          <a:p>
            <a:pPr marL="0" marR="0" lvl="0" indent="0" algn="l" defTabSz="1155700" rtl="0" eaLnBrk="1" fontAlgn="auto" latinLnBrk="0" hangingPunct="1">
              <a:lnSpc>
                <a:spcPct val="90000"/>
              </a:lnSpc>
              <a:spcBef>
                <a:spcPts val="0"/>
              </a:spcBef>
              <a:spcAft>
                <a:spcPct val="35000"/>
              </a:spcAft>
              <a:buClrTx/>
              <a:buSzTx/>
              <a:buFontTx/>
              <a:buNone/>
              <a:tabLst/>
              <a:defRPr/>
            </a:pPr>
            <a:r>
              <a:rPr kumimoji="0" lang="en-US" sz="2500" b="1"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rPr>
              <a:t>Cost center creation and maintenance procedure: </a:t>
            </a:r>
            <a:r>
              <a:rPr kumimoji="0" lang="en-US" sz="2500" b="0"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rPr>
              <a:t>to be published by 2020 as part of the Record-to-Report Global Reference Model (R2R GRM)</a:t>
            </a:r>
          </a:p>
        </p:txBody>
      </p:sp>
      <p:sp>
        <p:nvSpPr>
          <p:cNvPr id="7" name="Rectangle 6">
            <a:extLst>
              <a:ext uri="{FF2B5EF4-FFF2-40B4-BE49-F238E27FC236}">
                <a16:creationId xmlns:a16="http://schemas.microsoft.com/office/drawing/2014/main" id="{E0C15367-F1A0-4ED9-8B40-D638AB083AA9}"/>
              </a:ext>
            </a:extLst>
          </p:cNvPr>
          <p:cNvSpPr/>
          <p:nvPr/>
        </p:nvSpPr>
        <p:spPr>
          <a:xfrm>
            <a:off x="639466" y="1643744"/>
            <a:ext cx="1112979" cy="1669468"/>
          </a:xfrm>
          <a:prstGeom prst="rect">
            <a:avLst/>
          </a:prstGeom>
          <a:gradFill rotWithShape="1">
            <a:gsLst>
              <a:gs pos="0">
                <a:srgbClr val="00BDB7">
                  <a:lumMod val="110000"/>
                  <a:satMod val="105000"/>
                  <a:tint val="67000"/>
                </a:srgbClr>
              </a:gs>
              <a:gs pos="50000">
                <a:srgbClr val="00BDB7">
                  <a:lumMod val="105000"/>
                  <a:satMod val="103000"/>
                  <a:tint val="73000"/>
                </a:srgbClr>
              </a:gs>
              <a:gs pos="100000">
                <a:srgbClr val="00BDB7">
                  <a:lumMod val="105000"/>
                  <a:satMod val="109000"/>
                  <a:tint val="81000"/>
                </a:srgbClr>
              </a:gs>
            </a:gsLst>
            <a:lin ang="5400000" scaled="0"/>
          </a:gradFill>
          <a:ln w="6350" cap="flat" cmpd="sng" algn="ctr">
            <a:solidFill>
              <a:srgbClr val="00BDB7"/>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hueOff val="0"/>
                  <a:satOff val="0"/>
                  <a:lumOff val="0"/>
                  <a:alphaOff val="0"/>
                </a:srgbClr>
              </a:solidFill>
              <a:effectLst/>
              <a:uLnTx/>
              <a:uFillTx/>
              <a:latin typeface="Arial" panose="020B0604020202020204"/>
              <a:ea typeface="+mn-ea"/>
              <a:cs typeface="+mn-cs"/>
            </a:endParaRPr>
          </a:p>
        </p:txBody>
      </p:sp>
      <p:sp>
        <p:nvSpPr>
          <p:cNvPr id="8" name="Freeform 14">
            <a:extLst>
              <a:ext uri="{FF2B5EF4-FFF2-40B4-BE49-F238E27FC236}">
                <a16:creationId xmlns:a16="http://schemas.microsoft.com/office/drawing/2014/main" id="{F0FEE1CD-375A-4BED-9DED-4CEF61B9EC24}"/>
              </a:ext>
            </a:extLst>
          </p:cNvPr>
          <p:cNvSpPr/>
          <p:nvPr/>
        </p:nvSpPr>
        <p:spPr>
          <a:xfrm>
            <a:off x="6406241" y="1647177"/>
            <a:ext cx="5087904" cy="2042427"/>
          </a:xfrm>
          <a:custGeom>
            <a:avLst/>
            <a:gdLst>
              <a:gd name="connsiteX0" fmla="*/ 0 w 5087904"/>
              <a:gd name="connsiteY0" fmla="*/ 0 h 2042427"/>
              <a:gd name="connsiteX1" fmla="*/ 5087904 w 5087904"/>
              <a:gd name="connsiteY1" fmla="*/ 0 h 2042427"/>
              <a:gd name="connsiteX2" fmla="*/ 5087904 w 5087904"/>
              <a:gd name="connsiteY2" fmla="*/ 2042427 h 2042427"/>
              <a:gd name="connsiteX3" fmla="*/ 0 w 5087904"/>
              <a:gd name="connsiteY3" fmla="*/ 2042427 h 2042427"/>
              <a:gd name="connsiteX4" fmla="*/ 0 w 5087904"/>
              <a:gd name="connsiteY4" fmla="*/ 0 h 2042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7904" h="2042427">
                <a:moveTo>
                  <a:pt x="0" y="0"/>
                </a:moveTo>
                <a:lnTo>
                  <a:pt x="5087904" y="0"/>
                </a:lnTo>
                <a:lnTo>
                  <a:pt x="5087904" y="2042427"/>
                </a:lnTo>
                <a:lnTo>
                  <a:pt x="0" y="2042427"/>
                </a:lnTo>
                <a:lnTo>
                  <a:pt x="0" y="0"/>
                </a:lnTo>
                <a:close/>
              </a:path>
            </a:pathLst>
          </a:custGeom>
          <a:solidFill>
            <a:srgbClr val="FFFFFF"/>
          </a:solidFill>
          <a:ln w="12700" cap="flat" cmpd="sng" algn="ctr">
            <a:solidFill>
              <a:srgbClr val="88D5B8"/>
            </a:solidFill>
            <a:prstDash val="solid"/>
            <a:miter lim="800000"/>
          </a:ln>
          <a:effectLst/>
        </p:spPr>
        <p:txBody>
          <a:bodyPr spcFirstLastPara="0" vert="horz" wrap="square" lIns="1076940" tIns="99060" rIns="99060" bIns="99060" numCol="1" spcCol="1270" anchor="ctr" anchorCtr="0">
            <a:noAutofit/>
          </a:bodyPr>
          <a:lstStyle/>
          <a:p>
            <a:pPr marL="0" marR="0" lvl="0" indent="0" algn="l" defTabSz="1155700" rtl="0" eaLnBrk="1" fontAlgn="auto" latinLnBrk="0" hangingPunct="1">
              <a:lnSpc>
                <a:spcPct val="90000"/>
              </a:lnSpc>
              <a:spcBef>
                <a:spcPts val="0"/>
              </a:spcBef>
              <a:spcAft>
                <a:spcPct val="35000"/>
              </a:spcAft>
              <a:buClrTx/>
              <a:buSzTx/>
              <a:buFontTx/>
              <a:buNone/>
              <a:tabLst/>
              <a:defRPr/>
            </a:pPr>
            <a:r>
              <a:rPr kumimoji="0" lang="en-GB" sz="2500" b="1"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rPr>
              <a:t>Cost center approval: </a:t>
            </a:r>
            <a:r>
              <a:rPr kumimoji="0" lang="en-GB" sz="2500" b="0"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rPr>
              <a:t>Market CFO / Function Finance Lead / Factory Controller, with notification sent to Entity CFO</a:t>
            </a:r>
            <a:endParaRPr kumimoji="0" lang="en-US" sz="2500" b="0"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2FAC3CE1-0338-4A93-94FD-54F4B97F7A31}"/>
              </a:ext>
            </a:extLst>
          </p:cNvPr>
          <p:cNvSpPr/>
          <p:nvPr/>
        </p:nvSpPr>
        <p:spPr>
          <a:xfrm>
            <a:off x="6194245" y="1643744"/>
            <a:ext cx="1112979" cy="1669468"/>
          </a:xfrm>
          <a:prstGeom prst="rect">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hueOff val="0"/>
                  <a:satOff val="0"/>
                  <a:lumOff val="0"/>
                  <a:alphaOff val="0"/>
                </a:srgbClr>
              </a:solidFill>
              <a:effectLst/>
              <a:uLnTx/>
              <a:uFillTx/>
              <a:latin typeface="Arial" panose="020B0604020202020204"/>
              <a:ea typeface="+mn-ea"/>
              <a:cs typeface="+mn-cs"/>
            </a:endParaRPr>
          </a:p>
        </p:txBody>
      </p:sp>
      <p:sp>
        <p:nvSpPr>
          <p:cNvPr id="10" name="Freeform 16">
            <a:extLst>
              <a:ext uri="{FF2B5EF4-FFF2-40B4-BE49-F238E27FC236}">
                <a16:creationId xmlns:a16="http://schemas.microsoft.com/office/drawing/2014/main" id="{E507FAFC-03D5-451D-89E5-DF3761009638}"/>
              </a:ext>
            </a:extLst>
          </p:cNvPr>
          <p:cNvSpPr/>
          <p:nvPr/>
        </p:nvSpPr>
        <p:spPr>
          <a:xfrm>
            <a:off x="851462" y="3875002"/>
            <a:ext cx="5087904" cy="2224390"/>
          </a:xfrm>
          <a:custGeom>
            <a:avLst/>
            <a:gdLst>
              <a:gd name="connsiteX0" fmla="*/ 0 w 5087904"/>
              <a:gd name="connsiteY0" fmla="*/ 0 h 2042427"/>
              <a:gd name="connsiteX1" fmla="*/ 5087904 w 5087904"/>
              <a:gd name="connsiteY1" fmla="*/ 0 h 2042427"/>
              <a:gd name="connsiteX2" fmla="*/ 5087904 w 5087904"/>
              <a:gd name="connsiteY2" fmla="*/ 2042427 h 2042427"/>
              <a:gd name="connsiteX3" fmla="*/ 0 w 5087904"/>
              <a:gd name="connsiteY3" fmla="*/ 2042427 h 2042427"/>
              <a:gd name="connsiteX4" fmla="*/ 0 w 5087904"/>
              <a:gd name="connsiteY4" fmla="*/ 0 h 2042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7904" h="2042427">
                <a:moveTo>
                  <a:pt x="0" y="0"/>
                </a:moveTo>
                <a:lnTo>
                  <a:pt x="5087904" y="0"/>
                </a:lnTo>
                <a:lnTo>
                  <a:pt x="5087904" y="2042427"/>
                </a:lnTo>
                <a:lnTo>
                  <a:pt x="0" y="2042427"/>
                </a:lnTo>
                <a:lnTo>
                  <a:pt x="0" y="0"/>
                </a:lnTo>
                <a:close/>
              </a:path>
            </a:pathLst>
          </a:custGeom>
          <a:solidFill>
            <a:srgbClr val="FFFFFF"/>
          </a:solidFill>
          <a:ln w="12700" cap="flat" cmpd="sng" algn="ctr">
            <a:solidFill>
              <a:srgbClr val="B0D838"/>
            </a:solidFill>
            <a:prstDash val="solid"/>
            <a:miter lim="800000"/>
          </a:ln>
          <a:effectLst/>
        </p:spPr>
        <p:txBody>
          <a:bodyPr spcFirstLastPara="0" vert="horz" wrap="square" lIns="1076940" tIns="99060" rIns="99060" bIns="99060" numCol="1" spcCol="1270" anchor="ctr" anchorCtr="0">
            <a:noAutofit/>
          </a:bodyPr>
          <a:lstStyle/>
          <a:p>
            <a:pPr marL="0" marR="0" lvl="0" indent="0" algn="l" defTabSz="1155700" rtl="0" eaLnBrk="1" fontAlgn="auto" latinLnBrk="0" hangingPunct="1">
              <a:lnSpc>
                <a:spcPct val="90000"/>
              </a:lnSpc>
              <a:spcBef>
                <a:spcPts val="0"/>
              </a:spcBef>
              <a:spcAft>
                <a:spcPct val="35000"/>
              </a:spcAft>
              <a:buClrTx/>
              <a:buSzTx/>
              <a:buFontTx/>
              <a:buNone/>
              <a:tabLst/>
              <a:defRPr/>
            </a:pPr>
            <a:r>
              <a:rPr kumimoji="0" lang="en-GB" sz="2500" b="1"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rPr>
              <a:t>Overall cost center master data owner: </a:t>
            </a:r>
            <a:r>
              <a:rPr kumimoji="0" lang="en-GB" sz="2500" b="0"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rPr>
              <a:t>Corporate FP&amp;A</a:t>
            </a:r>
            <a:endParaRPr kumimoji="0" lang="en-US" sz="2500" b="0"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003786C7-08E9-4E4E-9852-05B8FA1D9FDA}"/>
              </a:ext>
            </a:extLst>
          </p:cNvPr>
          <p:cNvSpPr/>
          <p:nvPr/>
        </p:nvSpPr>
        <p:spPr>
          <a:xfrm>
            <a:off x="639466" y="3871568"/>
            <a:ext cx="1112979" cy="1669468"/>
          </a:xfrm>
          <a:prstGeom prst="rect">
            <a:avLst/>
          </a:prstGeom>
          <a:gradFill rotWithShape="1">
            <a:gsLst>
              <a:gs pos="0">
                <a:srgbClr val="B0D838">
                  <a:lumMod val="110000"/>
                  <a:satMod val="105000"/>
                  <a:tint val="67000"/>
                </a:srgbClr>
              </a:gs>
              <a:gs pos="50000">
                <a:srgbClr val="B0D838">
                  <a:lumMod val="105000"/>
                  <a:satMod val="103000"/>
                  <a:tint val="73000"/>
                </a:srgbClr>
              </a:gs>
              <a:gs pos="100000">
                <a:srgbClr val="B0D838">
                  <a:lumMod val="105000"/>
                  <a:satMod val="109000"/>
                  <a:tint val="81000"/>
                </a:srgbClr>
              </a:gs>
            </a:gsLst>
            <a:lin ang="5400000" scaled="0"/>
          </a:gradFill>
          <a:ln w="6350" cap="flat" cmpd="sng" algn="ctr">
            <a:solidFill>
              <a:srgbClr val="B0D838"/>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hueOff val="0"/>
                  <a:satOff val="0"/>
                  <a:lumOff val="0"/>
                  <a:alphaOff val="0"/>
                </a:srgbClr>
              </a:solidFill>
              <a:effectLst/>
              <a:uLnTx/>
              <a:uFillTx/>
              <a:latin typeface="Arial" panose="020B0604020202020204"/>
              <a:ea typeface="+mn-ea"/>
              <a:cs typeface="+mn-cs"/>
            </a:endParaRPr>
          </a:p>
        </p:txBody>
      </p:sp>
      <p:sp>
        <p:nvSpPr>
          <p:cNvPr id="12" name="Freeform 18">
            <a:extLst>
              <a:ext uri="{FF2B5EF4-FFF2-40B4-BE49-F238E27FC236}">
                <a16:creationId xmlns:a16="http://schemas.microsoft.com/office/drawing/2014/main" id="{508632C0-0B38-449C-B924-FAE0F9AF91F3}"/>
              </a:ext>
            </a:extLst>
          </p:cNvPr>
          <p:cNvSpPr/>
          <p:nvPr/>
        </p:nvSpPr>
        <p:spPr>
          <a:xfrm>
            <a:off x="6406241" y="3875002"/>
            <a:ext cx="5087904" cy="2224390"/>
          </a:xfrm>
          <a:custGeom>
            <a:avLst/>
            <a:gdLst>
              <a:gd name="connsiteX0" fmla="*/ 0 w 5087904"/>
              <a:gd name="connsiteY0" fmla="*/ 0 h 2042427"/>
              <a:gd name="connsiteX1" fmla="*/ 5087904 w 5087904"/>
              <a:gd name="connsiteY1" fmla="*/ 0 h 2042427"/>
              <a:gd name="connsiteX2" fmla="*/ 5087904 w 5087904"/>
              <a:gd name="connsiteY2" fmla="*/ 2042427 h 2042427"/>
              <a:gd name="connsiteX3" fmla="*/ 0 w 5087904"/>
              <a:gd name="connsiteY3" fmla="*/ 2042427 h 2042427"/>
              <a:gd name="connsiteX4" fmla="*/ 0 w 5087904"/>
              <a:gd name="connsiteY4" fmla="*/ 0 h 2042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7904" h="2042427">
                <a:moveTo>
                  <a:pt x="0" y="0"/>
                </a:moveTo>
                <a:lnTo>
                  <a:pt x="5087904" y="0"/>
                </a:lnTo>
                <a:lnTo>
                  <a:pt x="5087904" y="2042427"/>
                </a:lnTo>
                <a:lnTo>
                  <a:pt x="0" y="2042427"/>
                </a:lnTo>
                <a:lnTo>
                  <a:pt x="0" y="0"/>
                </a:lnTo>
                <a:close/>
              </a:path>
            </a:pathLst>
          </a:custGeom>
          <a:solidFill>
            <a:srgbClr val="FFFFFF"/>
          </a:solidFill>
          <a:ln w="12700" cap="flat" cmpd="sng" algn="ctr">
            <a:solidFill>
              <a:srgbClr val="407EC9"/>
            </a:solidFill>
            <a:prstDash val="solid"/>
            <a:miter lim="800000"/>
          </a:ln>
          <a:effectLst/>
        </p:spPr>
        <p:txBody>
          <a:bodyPr spcFirstLastPara="0" vert="horz" wrap="square" lIns="1076940" tIns="99060" rIns="99060" bIns="99060" numCol="1" spcCol="1270" anchor="ctr" anchorCtr="0">
            <a:noAutofit/>
          </a:bodyPr>
          <a:lstStyle/>
          <a:p>
            <a:pPr marL="0" marR="0" lvl="0" indent="0" algn="l" defTabSz="1155700" rtl="0" eaLnBrk="1" fontAlgn="auto" latinLnBrk="0" hangingPunct="1">
              <a:lnSpc>
                <a:spcPct val="90000"/>
              </a:lnSpc>
              <a:spcBef>
                <a:spcPts val="0"/>
              </a:spcBef>
              <a:spcAft>
                <a:spcPct val="35000"/>
              </a:spcAft>
              <a:buClrTx/>
              <a:buSzTx/>
              <a:buFontTx/>
              <a:buNone/>
              <a:tabLst/>
              <a:defRPr/>
            </a:pPr>
            <a:r>
              <a:rPr kumimoji="0" lang="en-GB" sz="2500" b="1"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rPr>
              <a:t>Branded cost centers: </a:t>
            </a:r>
            <a:r>
              <a:rPr kumimoji="0" lang="en-GB" sz="2500" b="0"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rPr>
              <a:t>will be removed due to removal of branded profit centers, with branded WBS elements used instead</a:t>
            </a:r>
            <a:endParaRPr kumimoji="0" lang="en-US" sz="2500" b="0" i="0" u="none" strike="noStrike" kern="0" cap="none" spc="0" normalizeH="0" baseline="0" noProof="0" dirty="0">
              <a:ln>
                <a:noFill/>
              </a:ln>
              <a:solidFill>
                <a:srgbClr val="122632">
                  <a:hueOff val="0"/>
                  <a:satOff val="0"/>
                  <a:lumOff val="0"/>
                  <a:alphaOff val="0"/>
                </a:srgbClr>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D02DCBC4-3E6B-4F5C-8ED4-CF65F92C2A40}"/>
              </a:ext>
            </a:extLst>
          </p:cNvPr>
          <p:cNvSpPr/>
          <p:nvPr/>
        </p:nvSpPr>
        <p:spPr>
          <a:xfrm>
            <a:off x="6194245" y="3871568"/>
            <a:ext cx="1112979" cy="1669468"/>
          </a:xfrm>
          <a:prstGeom prst="rect">
            <a:avLst/>
          </a:prstGeom>
          <a:solidFill>
            <a:srgbClr val="407EC9">
              <a:lumMod val="20000"/>
              <a:lumOff val="80000"/>
            </a:srgbClr>
          </a:solidFill>
          <a:ln w="6350" cap="flat" cmpd="sng" algn="ctr">
            <a:solidFill>
              <a:srgbClr val="407EC9">
                <a:lumMod val="40000"/>
                <a:lumOff val="60000"/>
              </a:srgb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hueOff val="0"/>
                  <a:satOff val="0"/>
                  <a:lumOff val="0"/>
                  <a:alphaOff val="0"/>
                </a:srgbClr>
              </a:solidFill>
              <a:effectLst/>
              <a:uLnTx/>
              <a:uFillTx/>
              <a:latin typeface="Arial" panose="020B0604020202020204"/>
              <a:ea typeface="+mn-ea"/>
              <a:cs typeface="+mn-cs"/>
            </a:endParaRPr>
          </a:p>
        </p:txBody>
      </p:sp>
      <p:pic>
        <p:nvPicPr>
          <p:cNvPr id="14" name="Graphic 13" descr="List">
            <a:extLst>
              <a:ext uri="{FF2B5EF4-FFF2-40B4-BE49-F238E27FC236}">
                <a16:creationId xmlns:a16="http://schemas.microsoft.com/office/drawing/2014/main" id="{156472D4-1831-47DE-A024-01F4E2A81F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2172" y="2021278"/>
            <a:ext cx="914400" cy="914400"/>
          </a:xfrm>
          <a:prstGeom prst="rect">
            <a:avLst/>
          </a:prstGeom>
        </p:spPr>
      </p:pic>
      <p:pic>
        <p:nvPicPr>
          <p:cNvPr id="15" name="Graphic 14" descr="Checklist">
            <a:extLst>
              <a:ext uri="{FF2B5EF4-FFF2-40B4-BE49-F238E27FC236}">
                <a16:creationId xmlns:a16="http://schemas.microsoft.com/office/drawing/2014/main" id="{467A9F01-08EE-4917-9837-C1078F77C81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93534" y="2021278"/>
            <a:ext cx="914400" cy="914400"/>
          </a:xfrm>
          <a:prstGeom prst="rect">
            <a:avLst/>
          </a:prstGeom>
        </p:spPr>
      </p:pic>
      <p:pic>
        <p:nvPicPr>
          <p:cNvPr id="16" name="Graphic 15" descr="Meeting">
            <a:extLst>
              <a:ext uri="{FF2B5EF4-FFF2-40B4-BE49-F238E27FC236}">
                <a16:creationId xmlns:a16="http://schemas.microsoft.com/office/drawing/2014/main" id="{AF43A13A-CB87-4EBF-AD52-79B25B788EC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7632" y="4280450"/>
            <a:ext cx="714381" cy="714381"/>
          </a:xfrm>
          <a:prstGeom prst="rect">
            <a:avLst/>
          </a:prstGeom>
        </p:spPr>
      </p:pic>
      <p:pic>
        <p:nvPicPr>
          <p:cNvPr id="17" name="Graphic 16" descr="Bullseye">
            <a:extLst>
              <a:ext uri="{FF2B5EF4-FFF2-40B4-BE49-F238E27FC236}">
                <a16:creationId xmlns:a16="http://schemas.microsoft.com/office/drawing/2014/main" id="{FC153263-FC68-406B-B266-922F31C6878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07305" y="4189661"/>
            <a:ext cx="900629" cy="900629"/>
          </a:xfrm>
          <a:prstGeom prst="rect">
            <a:avLst/>
          </a:prstGeom>
        </p:spPr>
      </p:pic>
    </p:spTree>
    <p:extLst>
      <p:ext uri="{BB962C8B-B14F-4D97-AF65-F5344CB8AC3E}">
        <p14:creationId xmlns:p14="http://schemas.microsoft.com/office/powerpoint/2010/main" val="346879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1000"/>
                                        <p:tgtEl>
                                          <p:spTgt spid="9"/>
                                        </p:tgtEl>
                                      </p:cBhvr>
                                    </p:animEffect>
                                    <p:anim calcmode="lin" valueType="num">
                                      <p:cBhvr>
                                        <p:cTn id="45" dur="1000" fill="hold"/>
                                        <p:tgtEl>
                                          <p:spTgt spid="9"/>
                                        </p:tgtEl>
                                        <p:attrNameLst>
                                          <p:attrName>ppt_x</p:attrName>
                                        </p:attrNameLst>
                                      </p:cBhvr>
                                      <p:tavLst>
                                        <p:tav tm="0">
                                          <p:val>
                                            <p:strVal val="#ppt_x"/>
                                          </p:val>
                                        </p:tav>
                                        <p:tav tm="100000">
                                          <p:val>
                                            <p:strVal val="#ppt_x"/>
                                          </p:val>
                                        </p:tav>
                                      </p:tavLst>
                                    </p:anim>
                                    <p:anim calcmode="lin" valueType="num">
                                      <p:cBhvr>
                                        <p:cTn id="46" dur="10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anim calcmode="lin" valueType="num">
                                      <p:cBhvr>
                                        <p:cTn id="55" dur="1000" fill="hold"/>
                                        <p:tgtEl>
                                          <p:spTgt spid="13"/>
                                        </p:tgtEl>
                                        <p:attrNameLst>
                                          <p:attrName>ppt_x</p:attrName>
                                        </p:attrNameLst>
                                      </p:cBhvr>
                                      <p:tavLst>
                                        <p:tav tm="0">
                                          <p:val>
                                            <p:strVal val="#ppt_x"/>
                                          </p:val>
                                        </p:tav>
                                        <p:tav tm="100000">
                                          <p:val>
                                            <p:strVal val="#ppt_x"/>
                                          </p:val>
                                        </p:tav>
                                      </p:tavLst>
                                    </p:anim>
                                    <p:anim calcmode="lin" valueType="num">
                                      <p:cBhvr>
                                        <p:cTn id="56" dur="1000" fill="hold"/>
                                        <p:tgtEl>
                                          <p:spTgt spid="13"/>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1000"/>
                                        <p:tgtEl>
                                          <p:spTgt spid="15"/>
                                        </p:tgtEl>
                                      </p:cBhvr>
                                    </p:animEffect>
                                    <p:anim calcmode="lin" valueType="num">
                                      <p:cBhvr>
                                        <p:cTn id="60" dur="1000" fill="hold"/>
                                        <p:tgtEl>
                                          <p:spTgt spid="15"/>
                                        </p:tgtEl>
                                        <p:attrNameLst>
                                          <p:attrName>ppt_x</p:attrName>
                                        </p:attrNameLst>
                                      </p:cBhvr>
                                      <p:tavLst>
                                        <p:tav tm="0">
                                          <p:val>
                                            <p:strVal val="#ppt_x"/>
                                          </p:val>
                                        </p:tav>
                                        <p:tav tm="100000">
                                          <p:val>
                                            <p:strVal val="#ppt_x"/>
                                          </p:val>
                                        </p:tav>
                                      </p:tavLst>
                                    </p:anim>
                                    <p:anim calcmode="lin" valueType="num">
                                      <p:cBhvr>
                                        <p:cTn id="61" dur="1000" fill="hold"/>
                                        <p:tgtEl>
                                          <p:spTgt spid="1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1000"/>
                                        <p:tgtEl>
                                          <p:spTgt spid="17"/>
                                        </p:tgtEl>
                                      </p:cBhvr>
                                    </p:animEffect>
                                    <p:anim calcmode="lin" valueType="num">
                                      <p:cBhvr>
                                        <p:cTn id="65" dur="1000" fill="hold"/>
                                        <p:tgtEl>
                                          <p:spTgt spid="17"/>
                                        </p:tgtEl>
                                        <p:attrNameLst>
                                          <p:attrName>ppt_x</p:attrName>
                                        </p:attrNameLst>
                                      </p:cBhvr>
                                      <p:tavLst>
                                        <p:tav tm="0">
                                          <p:val>
                                            <p:strVal val="#ppt_x"/>
                                          </p:val>
                                        </p:tav>
                                        <p:tav tm="100000">
                                          <p:val>
                                            <p:strVal val="#ppt_x"/>
                                          </p:val>
                                        </p:tav>
                                      </p:tavLst>
                                    </p:anim>
                                    <p:anim calcmode="lin" valueType="num">
                                      <p:cBhvr>
                                        <p:cTn id="6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0E9E-059A-4562-B5AA-C98C05D5E878}"/>
              </a:ext>
            </a:extLst>
          </p:cNvPr>
          <p:cNvSpPr>
            <a:spLocks noGrp="1"/>
          </p:cNvSpPr>
          <p:nvPr>
            <p:ph type="title"/>
          </p:nvPr>
        </p:nvSpPr>
        <p:spPr/>
        <p:txBody>
          <a:bodyPr/>
          <a:lstStyle/>
          <a:p>
            <a:r>
              <a:rPr lang="en-GB" dirty="0"/>
              <a:t>CC Key Master Data Fields – Basic Fields</a:t>
            </a:r>
          </a:p>
        </p:txBody>
      </p:sp>
      <p:sp>
        <p:nvSpPr>
          <p:cNvPr id="5" name="Slide Number Placeholder 4">
            <a:extLst>
              <a:ext uri="{FF2B5EF4-FFF2-40B4-BE49-F238E27FC236}">
                <a16:creationId xmlns:a16="http://schemas.microsoft.com/office/drawing/2014/main" id="{DB931FD7-FC7F-4A5F-B28A-D5BA7B8BCF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0DECE023-DC38-4CA2-A0C4-2F7F84BC69BD}"/>
              </a:ext>
            </a:extLst>
          </p:cNvPr>
          <p:cNvPicPr>
            <a:picLocks noChangeAspect="1"/>
          </p:cNvPicPr>
          <p:nvPr/>
        </p:nvPicPr>
        <p:blipFill>
          <a:blip r:embed="rId3"/>
          <a:stretch>
            <a:fillRect/>
          </a:stretch>
        </p:blipFill>
        <p:spPr>
          <a:xfrm>
            <a:off x="382790" y="1437909"/>
            <a:ext cx="5580061" cy="5368253"/>
          </a:xfrm>
          <a:prstGeom prst="rect">
            <a:avLst/>
          </a:prstGeom>
          <a:effectLst>
            <a:outerShdw blurRad="50800" dist="38100" dir="2700000" algn="tl" rotWithShape="0">
              <a:prstClr val="black">
                <a:alpha val="40000"/>
              </a:prstClr>
            </a:outerShdw>
          </a:effectLst>
        </p:spPr>
      </p:pic>
      <p:sp>
        <p:nvSpPr>
          <p:cNvPr id="8" name="Rectangle 7">
            <a:extLst>
              <a:ext uri="{FF2B5EF4-FFF2-40B4-BE49-F238E27FC236}">
                <a16:creationId xmlns:a16="http://schemas.microsoft.com/office/drawing/2014/main" id="{93AAC0CC-D83C-4E24-84B5-C986D28E74EE}"/>
              </a:ext>
            </a:extLst>
          </p:cNvPr>
          <p:cNvSpPr/>
          <p:nvPr/>
        </p:nvSpPr>
        <p:spPr>
          <a:xfrm>
            <a:off x="1103747" y="1437910"/>
            <a:ext cx="2877126" cy="233873"/>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E263D21D-33B8-488E-9F39-CC7F9650E93C}"/>
              </a:ext>
            </a:extLst>
          </p:cNvPr>
          <p:cNvSpPr/>
          <p:nvPr/>
        </p:nvSpPr>
        <p:spPr>
          <a:xfrm>
            <a:off x="6530110" y="1437910"/>
            <a:ext cx="5412507" cy="365125"/>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All CCs have 5 digits numeric codes. CCs migrated from ECC have the same number in S/4 as in ECC.</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4374EA16-C313-4043-999C-9E8981E99754}"/>
              </a:ext>
            </a:extLst>
          </p:cNvPr>
          <p:cNvSpPr/>
          <p:nvPr/>
        </p:nvSpPr>
        <p:spPr>
          <a:xfrm>
            <a:off x="1103747" y="1686098"/>
            <a:ext cx="2877126" cy="233873"/>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9D3D58DC-CC62-4E8D-B1D0-392A96B27F89}"/>
              </a:ext>
            </a:extLst>
          </p:cNvPr>
          <p:cNvSpPr/>
          <p:nvPr/>
        </p:nvSpPr>
        <p:spPr>
          <a:xfrm>
            <a:off x="6530110" y="1891069"/>
            <a:ext cx="5412507" cy="233295"/>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All CCs in JTI are created in Controlling Area 1000.</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F14DD8A1-AC85-4DE8-847E-0ACA3813C7D8}"/>
              </a:ext>
            </a:extLst>
          </p:cNvPr>
          <p:cNvSpPr/>
          <p:nvPr/>
        </p:nvSpPr>
        <p:spPr>
          <a:xfrm>
            <a:off x="6530110" y="2212398"/>
            <a:ext cx="5412507" cy="233295"/>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All valid CCs must be in its validity period defined here.</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3022FD16-4359-4163-A9D9-F18B9A089421}"/>
              </a:ext>
            </a:extLst>
          </p:cNvPr>
          <p:cNvSpPr/>
          <p:nvPr/>
        </p:nvSpPr>
        <p:spPr>
          <a:xfrm>
            <a:off x="1103746" y="1950817"/>
            <a:ext cx="3523671" cy="233873"/>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F01A9962-345B-4F0E-832C-F8583FC8C000}"/>
              </a:ext>
            </a:extLst>
          </p:cNvPr>
          <p:cNvSpPr/>
          <p:nvPr/>
        </p:nvSpPr>
        <p:spPr>
          <a:xfrm>
            <a:off x="4876801" y="1437910"/>
            <a:ext cx="1551713" cy="712501"/>
          </a:xfrm>
          <a:prstGeom prst="rightArrow">
            <a:avLst>
              <a:gd name="adj1" fmla="val 50000"/>
              <a:gd name="adj2" fmla="val 30275"/>
            </a:avLst>
          </a:prstGeom>
          <a:gradFill flip="none" rotWithShape="1">
            <a:gsLst>
              <a:gs pos="0">
                <a:schemeClr val="accent1">
                  <a:lumMod val="75000"/>
                </a:schemeClr>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76A3EF12-BDDB-4DF7-8C35-A6B9B618F176}"/>
              </a:ext>
            </a:extLst>
          </p:cNvPr>
          <p:cNvSpPr/>
          <p:nvPr/>
        </p:nvSpPr>
        <p:spPr>
          <a:xfrm>
            <a:off x="1902691" y="3098725"/>
            <a:ext cx="3629891" cy="531166"/>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544A3D6A-F538-47A8-BE25-AC8B647CA623}"/>
              </a:ext>
            </a:extLst>
          </p:cNvPr>
          <p:cNvSpPr/>
          <p:nvPr/>
        </p:nvSpPr>
        <p:spPr>
          <a:xfrm>
            <a:off x="6502402" y="3040401"/>
            <a:ext cx="5412507" cy="589490"/>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 new standard naming convention for cost centers are introduced to include the profit center code (e.g. RU00) in the “Name” field, and the profit center name in the “Description” field. Both will be visible in GPM+ reporting</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8" name="Arrow: Right 17">
            <a:extLst>
              <a:ext uri="{FF2B5EF4-FFF2-40B4-BE49-F238E27FC236}">
                <a16:creationId xmlns:a16="http://schemas.microsoft.com/office/drawing/2014/main" id="{F21640F8-812C-4642-BF3D-1A0E8CCECFC0}"/>
              </a:ext>
            </a:extLst>
          </p:cNvPr>
          <p:cNvSpPr/>
          <p:nvPr/>
        </p:nvSpPr>
        <p:spPr>
          <a:xfrm>
            <a:off x="5609313" y="2942396"/>
            <a:ext cx="819202" cy="712501"/>
          </a:xfrm>
          <a:prstGeom prst="rightArrow">
            <a:avLst>
              <a:gd name="adj1" fmla="val 50000"/>
              <a:gd name="adj2" fmla="val 30275"/>
            </a:avLst>
          </a:prstGeom>
          <a:gradFill flip="none" rotWithShape="1">
            <a:gsLst>
              <a:gs pos="0">
                <a:schemeClr val="accent1">
                  <a:lumMod val="75000"/>
                </a:schemeClr>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E0856DBD-F7AF-418C-94D1-654DC160911F}"/>
              </a:ext>
            </a:extLst>
          </p:cNvPr>
          <p:cNvSpPr/>
          <p:nvPr/>
        </p:nvSpPr>
        <p:spPr>
          <a:xfrm>
            <a:off x="1511276" y="3980873"/>
            <a:ext cx="2543488" cy="53116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EC63C15E-7BF0-4457-8CB3-C7D1D07BC122}"/>
              </a:ext>
            </a:extLst>
          </p:cNvPr>
          <p:cNvSpPr/>
          <p:nvPr/>
        </p:nvSpPr>
        <p:spPr>
          <a:xfrm>
            <a:off x="6502402" y="3799727"/>
            <a:ext cx="5412507" cy="589490"/>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Every cost center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must have a user responsible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populated</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this will be used to identify the purchase requisition approver in cases where the PR contains a cost center not linked to the SAP HR hierarchy.</a:t>
            </a:r>
          </a:p>
        </p:txBody>
      </p:sp>
      <p:sp>
        <p:nvSpPr>
          <p:cNvPr id="21" name="Arrow: Right 20">
            <a:extLst>
              <a:ext uri="{FF2B5EF4-FFF2-40B4-BE49-F238E27FC236}">
                <a16:creationId xmlns:a16="http://schemas.microsoft.com/office/drawing/2014/main" id="{A7D7A4A7-87EC-4232-A4E0-EF88B6442C9D}"/>
              </a:ext>
            </a:extLst>
          </p:cNvPr>
          <p:cNvSpPr/>
          <p:nvPr/>
        </p:nvSpPr>
        <p:spPr>
          <a:xfrm>
            <a:off x="4267197" y="3765786"/>
            <a:ext cx="2179786" cy="712500"/>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ounded Rectangle 56">
            <a:extLst>
              <a:ext uri="{FF2B5EF4-FFF2-40B4-BE49-F238E27FC236}">
                <a16:creationId xmlns:a16="http://schemas.microsoft.com/office/drawing/2014/main" id="{321AA661-DA58-4AB3-A013-571C8D88006C}"/>
              </a:ext>
            </a:extLst>
          </p:cNvPr>
          <p:cNvSpPr/>
          <p:nvPr/>
        </p:nvSpPr>
        <p:spPr bwMode="auto">
          <a:xfrm>
            <a:off x="6502404" y="4470665"/>
            <a:ext cx="5441649" cy="1930135"/>
          </a:xfrm>
          <a:prstGeom prst="roundRect">
            <a:avLst>
              <a:gd name="adj" fmla="val 5198"/>
            </a:avLst>
          </a:prstGeom>
          <a:solidFill>
            <a:schemeClr val="accent1"/>
          </a:solidFill>
          <a:ln>
            <a:noFill/>
          </a:ln>
          <a:effectLst/>
        </p:spPr>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marL="53975"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Graphic 23" descr="Lightbulb and gear">
            <a:extLst>
              <a:ext uri="{FF2B5EF4-FFF2-40B4-BE49-F238E27FC236}">
                <a16:creationId xmlns:a16="http://schemas.microsoft.com/office/drawing/2014/main" id="{925EF99B-D31F-44C6-A7D9-75E776CBB8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19578" y="4486083"/>
            <a:ext cx="340169" cy="355219"/>
          </a:xfrm>
          <a:prstGeom prst="rect">
            <a:avLst/>
          </a:prstGeom>
        </p:spPr>
      </p:pic>
      <p:sp>
        <p:nvSpPr>
          <p:cNvPr id="25" name="Rectangle 24">
            <a:extLst>
              <a:ext uri="{FF2B5EF4-FFF2-40B4-BE49-F238E27FC236}">
                <a16:creationId xmlns:a16="http://schemas.microsoft.com/office/drawing/2014/main" id="{FFACDF03-0693-4630-B248-25265C5ED4E9}"/>
              </a:ext>
            </a:extLst>
          </p:cNvPr>
          <p:cNvSpPr/>
          <p:nvPr/>
        </p:nvSpPr>
        <p:spPr>
          <a:xfrm>
            <a:off x="6733309" y="4450816"/>
            <a:ext cx="5181600" cy="1938992"/>
          </a:xfrm>
          <a:prstGeom prst="rect">
            <a:avLst/>
          </a:prstGeom>
        </p:spPr>
        <p:txBody>
          <a:bodyPr wrap="square">
            <a:spAutoFit/>
          </a:bodyPr>
          <a:lstStyle/>
          <a:p>
            <a:pPr marL="53975"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 S/4HANA, Spending Approval is changing!</a:t>
            </a:r>
            <a:r>
              <a:rPr kumimoji="0" lang="en-GB" sz="1400" b="0" i="1" u="none" strike="noStrike" kern="1200" cap="none" spc="0" normalizeH="0" baseline="30000" noProof="0" dirty="0">
                <a:ln>
                  <a:noFill/>
                </a:ln>
                <a:solidFill>
                  <a:srgbClr val="FF0000"/>
                </a:solidFill>
                <a:effectLst/>
                <a:uLnTx/>
                <a:uFillTx/>
                <a:latin typeface="Georgia" panose="02040502050405020303" pitchFamily="18" charset="0"/>
                <a:ea typeface="+mn-ea"/>
                <a:cs typeface="+mn-cs"/>
              </a:rPr>
              <a:t>1)</a:t>
            </a:r>
          </a:p>
          <a:p>
            <a:pPr marL="144000" marR="0" lvl="0"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PR approval will be based on HR hierarchy</a:t>
            </a:r>
            <a:r>
              <a:rPr kumimoji="0" lang="en-GB" sz="1200" b="0" i="1" u="none" strike="noStrike" kern="1200" cap="none" spc="0" normalizeH="0" baseline="30000" noProof="0" dirty="0">
                <a:ln>
                  <a:noFill/>
                </a:ln>
                <a:solidFill>
                  <a:srgbClr val="FF0000"/>
                </a:solidFill>
                <a:effectLst/>
                <a:uLnTx/>
                <a:uFillTx/>
                <a:latin typeface="Georgia" panose="02040502050405020303" pitchFamily="18" charset="0"/>
                <a:ea typeface="+mn-ea"/>
                <a:cs typeface="+mn-cs"/>
              </a:rPr>
              <a:t>2)</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a:t>
            </a:r>
          </a:p>
          <a:p>
            <a:pPr marL="144000" marR="0" lvl="0"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1</a:t>
            </a:r>
            <a:r>
              <a:rPr kumimoji="0" lang="en-GB" sz="1200" b="0" i="1" u="none" strike="noStrike" kern="1200" cap="none" spc="0" normalizeH="0" baseline="30000" noProof="0" dirty="0">
                <a:ln>
                  <a:noFill/>
                </a:ln>
                <a:solidFill>
                  <a:srgbClr val="000000"/>
                </a:solidFill>
                <a:effectLst/>
                <a:uLnTx/>
                <a:uFillTx/>
                <a:latin typeface="Georgia" panose="02040502050405020303" pitchFamily="18" charset="0"/>
                <a:ea typeface="+mn-ea"/>
                <a:cs typeface="+mn-cs"/>
              </a:rPr>
              <a:t>st</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level PR approver name will be populated with “User Responsible” field from CC master data, in case of PR linked to a CC other than the purchase requisitioner’s own CC. This is applicable to purchasing to CC, Capex/Opex/Marketing WBS, or orders.</a:t>
            </a:r>
          </a:p>
          <a:p>
            <a:pPr marL="144000" marR="0" lvl="0"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Once the 1</a:t>
            </a:r>
            <a:r>
              <a:rPr kumimoji="0" lang="en-GB" sz="1200" b="0" i="1" u="none" strike="noStrike" kern="1200" cap="none" spc="0" normalizeH="0" baseline="30000" noProof="0" dirty="0">
                <a:ln>
                  <a:noFill/>
                </a:ln>
                <a:solidFill>
                  <a:srgbClr val="000000"/>
                </a:solidFill>
                <a:effectLst/>
                <a:uLnTx/>
                <a:uFillTx/>
                <a:latin typeface="Georgia" panose="02040502050405020303" pitchFamily="18" charset="0"/>
                <a:ea typeface="+mn-ea"/>
                <a:cs typeface="+mn-cs"/>
              </a:rPr>
              <a:t>st</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level approver name is populated, the further level approvers are populated based on the HR hierarchy of the first approver.</a:t>
            </a:r>
          </a:p>
        </p:txBody>
      </p:sp>
      <p:sp>
        <p:nvSpPr>
          <p:cNvPr id="22" name="TextBox 21">
            <a:extLst>
              <a:ext uri="{FF2B5EF4-FFF2-40B4-BE49-F238E27FC236}">
                <a16:creationId xmlns:a16="http://schemas.microsoft.com/office/drawing/2014/main" id="{6DD56DFD-AEF2-4CD2-B0AF-657FEF6EF95A}"/>
              </a:ext>
            </a:extLst>
          </p:cNvPr>
          <p:cNvSpPr txBox="1"/>
          <p:nvPr/>
        </p:nvSpPr>
        <p:spPr>
          <a:xfrm>
            <a:off x="7068177" y="6510813"/>
            <a:ext cx="4256770" cy="221951"/>
          </a:xfrm>
          <a:prstGeom prst="rect">
            <a:avLst/>
          </a:prstGeom>
          <a:noFill/>
        </p:spPr>
        <p:txBody>
          <a:bodyPr wrap="square" lIns="0" tIns="0" rIns="0" bIns="0" rtlCol="0">
            <a:normAutofit fontScale="92500" lnSpcReduction="10000"/>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GB" sz="900" b="0" i="1" u="none" strike="noStrike" kern="1200" cap="none" spc="0" normalizeH="0" baseline="30000" noProof="0" dirty="0">
                <a:ln>
                  <a:noFill/>
                </a:ln>
                <a:solidFill>
                  <a:srgbClr val="FF0000"/>
                </a:solidFill>
                <a:effectLst/>
                <a:uLnTx/>
                <a:uFillTx/>
                <a:latin typeface="Arial" pitchFamily="34" charset="0"/>
                <a:ea typeface="ＭＳ Ｐゴシック" pitchFamily="80" charset="-128"/>
                <a:cs typeface="+mn-cs"/>
              </a:rPr>
              <a:t>1) </a:t>
            </a:r>
            <a:r>
              <a:rPr kumimoji="0" lang="en-GB" sz="900" b="0" i="1" u="none" strike="noStrike" kern="1200" cap="none" spc="0" normalizeH="0" baseline="0" noProof="0" dirty="0">
                <a:ln>
                  <a:noFill/>
                </a:ln>
                <a:solidFill>
                  <a:srgbClr val="000000"/>
                </a:solidFill>
                <a:effectLst/>
                <a:uLnTx/>
                <a:uFillTx/>
                <a:latin typeface="Arial" pitchFamily="34" charset="0"/>
                <a:ea typeface="ＭＳ Ｐゴシック" pitchFamily="80" charset="-128"/>
                <a:cs typeface="+mn-cs"/>
              </a:rPr>
              <a:t>Refer to P2P courses for further details.</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GB" sz="900" b="0" i="1" u="none" strike="noStrike" kern="1200" cap="none" spc="0" normalizeH="0" baseline="30000" noProof="0" dirty="0">
                <a:ln>
                  <a:noFill/>
                </a:ln>
                <a:solidFill>
                  <a:srgbClr val="FF0000"/>
                </a:solidFill>
                <a:effectLst/>
                <a:uLnTx/>
                <a:uFillTx/>
                <a:latin typeface="Arial" pitchFamily="34" charset="0"/>
                <a:ea typeface="ＭＳ Ｐゴシック" pitchFamily="80" charset="-128"/>
                <a:cs typeface="+mn-cs"/>
              </a:rPr>
              <a:t>2) </a:t>
            </a:r>
            <a:r>
              <a:rPr kumimoji="0" lang="en-GB" sz="900" b="0" i="1" u="none" strike="noStrike" kern="1200" cap="none" spc="0" normalizeH="0" baseline="0" noProof="0" dirty="0">
                <a:ln>
                  <a:noFill/>
                </a:ln>
                <a:solidFill>
                  <a:srgbClr val="000000"/>
                </a:solidFill>
                <a:effectLst/>
                <a:uLnTx/>
                <a:uFillTx/>
                <a:latin typeface="Arial" pitchFamily="34" charset="0"/>
                <a:ea typeface="ＭＳ Ｐゴシック" pitchFamily="80" charset="-128"/>
                <a:cs typeface="+mn-cs"/>
              </a:rPr>
              <a:t>You can find HR hierarchy via Outlook Properties of a given user.</a:t>
            </a:r>
            <a:endParaRPr kumimoji="0" lang="en-US" sz="900" b="0" i="1" u="none" strike="noStrike" kern="1200" cap="none" spc="0" normalizeH="0" baseline="0" noProof="0" dirty="0">
              <a:ln>
                <a:noFill/>
              </a:ln>
              <a:solidFill>
                <a:srgbClr val="000000"/>
              </a:solidFill>
              <a:effectLst/>
              <a:uLnTx/>
              <a:uFillTx/>
              <a:latin typeface="Arial" pitchFamily="34" charset="0"/>
              <a:ea typeface="ＭＳ Ｐゴシック" pitchFamily="80" charset="-128"/>
              <a:cs typeface="+mn-cs"/>
            </a:endParaRPr>
          </a:p>
        </p:txBody>
      </p:sp>
      <p:sp>
        <p:nvSpPr>
          <p:cNvPr id="26" name="Rectangle: Rounded Corners 25">
            <a:extLst>
              <a:ext uri="{FF2B5EF4-FFF2-40B4-BE49-F238E27FC236}">
                <a16:creationId xmlns:a16="http://schemas.microsoft.com/office/drawing/2014/main" id="{D78D91C4-86B0-4E94-964A-71FB415E67AF}"/>
              </a:ext>
            </a:extLst>
          </p:cNvPr>
          <p:cNvSpPr/>
          <p:nvPr/>
        </p:nvSpPr>
        <p:spPr>
          <a:xfrm>
            <a:off x="4876801" y="1437909"/>
            <a:ext cx="1219199" cy="159982"/>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KS03 – Display CC</a:t>
            </a:r>
          </a:p>
        </p:txBody>
      </p:sp>
    </p:spTree>
    <p:extLst>
      <p:ext uri="{BB962C8B-B14F-4D97-AF65-F5344CB8AC3E}">
        <p14:creationId xmlns:p14="http://schemas.microsoft.com/office/powerpoint/2010/main" val="1508822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E845-10A6-4954-A34B-03C7DB15DAC2}"/>
              </a:ext>
            </a:extLst>
          </p:cNvPr>
          <p:cNvSpPr>
            <a:spLocks noGrp="1"/>
          </p:cNvSpPr>
          <p:nvPr>
            <p:ph type="title"/>
          </p:nvPr>
        </p:nvSpPr>
        <p:spPr/>
        <p:txBody>
          <a:bodyPr/>
          <a:lstStyle/>
          <a:p>
            <a:r>
              <a:rPr lang="en-GB" dirty="0"/>
              <a:t>CC Key Master Data Fields – Lock Indicators</a:t>
            </a:r>
          </a:p>
        </p:txBody>
      </p:sp>
      <p:sp>
        <p:nvSpPr>
          <p:cNvPr id="5" name="Slide Number Placeholder 4">
            <a:extLst>
              <a:ext uri="{FF2B5EF4-FFF2-40B4-BE49-F238E27FC236}">
                <a16:creationId xmlns:a16="http://schemas.microsoft.com/office/drawing/2014/main" id="{A921CDEE-13F1-4F99-BFCA-C55230C0DF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BEF723A9-3A14-4210-A9EF-F5D98785A598}"/>
              </a:ext>
            </a:extLst>
          </p:cNvPr>
          <p:cNvPicPr>
            <a:picLocks noChangeAspect="1"/>
          </p:cNvPicPr>
          <p:nvPr/>
        </p:nvPicPr>
        <p:blipFill>
          <a:blip r:embed="rId3"/>
          <a:stretch>
            <a:fillRect/>
          </a:stretch>
        </p:blipFill>
        <p:spPr>
          <a:xfrm>
            <a:off x="539453" y="1468587"/>
            <a:ext cx="6156911" cy="4663018"/>
          </a:xfrm>
          <a:prstGeom prst="rect">
            <a:avLst/>
          </a:prstGeom>
          <a:effectLst>
            <a:outerShdw blurRad="50800" dist="38100" dir="2700000" algn="tl" rotWithShape="0">
              <a:prstClr val="black">
                <a:alpha val="40000"/>
              </a:prstClr>
            </a:outerShdw>
          </a:effectLst>
        </p:spPr>
      </p:pic>
      <p:sp>
        <p:nvSpPr>
          <p:cNvPr id="7" name="Rectangle 6">
            <a:extLst>
              <a:ext uri="{FF2B5EF4-FFF2-40B4-BE49-F238E27FC236}">
                <a16:creationId xmlns:a16="http://schemas.microsoft.com/office/drawing/2014/main" id="{5D603310-7E02-4E82-BD44-EC0BD1546E70}"/>
              </a:ext>
            </a:extLst>
          </p:cNvPr>
          <p:cNvSpPr/>
          <p:nvPr/>
        </p:nvSpPr>
        <p:spPr>
          <a:xfrm>
            <a:off x="7185891" y="2142836"/>
            <a:ext cx="4675541" cy="3988769"/>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The Lock Indicators in CC Master Data restrict the usage of cost centers.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If a indicator is selected, it means that the cost center cannot be used for that particular purpose. E.g.</a:t>
            </a:r>
          </a:p>
          <a:p>
            <a:pPr marL="628650" marR="0" lvl="1" indent="-17145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200" b="0" i="1" u="none" strike="noStrike" kern="1200" cap="none" spc="0" normalizeH="0" baseline="0" noProof="0" dirty="0">
                <a:ln>
                  <a:noFill/>
                </a:ln>
                <a:solidFill>
                  <a:srgbClr val="000000"/>
                </a:solidFill>
                <a:effectLst/>
                <a:uLnTx/>
                <a:uFillTx/>
                <a:latin typeface="Arial" panose="020B0604020202020204"/>
                <a:ea typeface="+mn-ea"/>
                <a:cs typeface="+mn-cs"/>
              </a:rPr>
              <a:t>For all active cost centers which allow for primary costs posting in actual and plan, the indicators of “Actual primary costs” and “Plan primary costs” should be left blank.</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Locked cost centers should not be maintained in other objects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in the system, such as in Asset master data, in WBS elements, etc.. This is because there will be postings to these CCs from the postings to the cost objects in which the CC is assigned to, which will fail due to blocked CC. E.g.</a:t>
            </a:r>
          </a:p>
          <a:p>
            <a:pPr marL="628650" marR="0" lvl="1" indent="-17145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200" b="0" i="1" u="none" strike="noStrike" kern="1200" cap="none" spc="0" normalizeH="0" baseline="0" noProof="0" dirty="0">
                <a:ln>
                  <a:noFill/>
                </a:ln>
                <a:solidFill>
                  <a:srgbClr val="000000"/>
                </a:solidFill>
                <a:effectLst/>
                <a:uLnTx/>
                <a:uFillTx/>
                <a:latin typeface="Arial" panose="020B0604020202020204"/>
                <a:ea typeface="+mn-ea"/>
                <a:cs typeface="+mn-cs"/>
              </a:rPr>
              <a:t>When you run depreciation for Assets with blocked CC assigned in Assets master data, your depreciation run will not be able to be completed due to blocked CC.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Some cost centers allow statistical postings of revenues. In this case the “Actual Revenues” and “Plan Revenues” need to be left blank for this to be achieved.</a:t>
            </a:r>
          </a:p>
        </p:txBody>
      </p:sp>
      <p:sp>
        <p:nvSpPr>
          <p:cNvPr id="8" name="Arrow: Right 7">
            <a:extLst>
              <a:ext uri="{FF2B5EF4-FFF2-40B4-BE49-F238E27FC236}">
                <a16:creationId xmlns:a16="http://schemas.microsoft.com/office/drawing/2014/main" id="{83317376-D82F-4A45-8402-214DEF105F89}"/>
              </a:ext>
            </a:extLst>
          </p:cNvPr>
          <p:cNvSpPr/>
          <p:nvPr/>
        </p:nvSpPr>
        <p:spPr>
          <a:xfrm>
            <a:off x="6633726" y="4110182"/>
            <a:ext cx="480291" cy="712501"/>
          </a:xfrm>
          <a:prstGeom prst="rightArrow">
            <a:avLst>
              <a:gd name="adj1" fmla="val 50000"/>
              <a:gd name="adj2" fmla="val 30275"/>
            </a:avLst>
          </a:prstGeom>
          <a:gradFill flip="none" rotWithShape="1">
            <a:gsLst>
              <a:gs pos="0">
                <a:srgbClr val="FF0000"/>
              </a:gs>
              <a:gs pos="50000">
                <a:schemeClr val="accent5">
                  <a:lumMod val="40000"/>
                  <a:lumOff val="60000"/>
                </a:schemeClr>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482F0A1E-EBEA-4895-95C7-48A8C4B92A92}"/>
              </a:ext>
            </a:extLst>
          </p:cNvPr>
          <p:cNvSpPr/>
          <p:nvPr/>
        </p:nvSpPr>
        <p:spPr>
          <a:xfrm>
            <a:off x="5486400" y="1490259"/>
            <a:ext cx="1219199" cy="159982"/>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KS03 – Display CC</a:t>
            </a:r>
          </a:p>
        </p:txBody>
      </p:sp>
      <p:sp>
        <p:nvSpPr>
          <p:cNvPr id="11" name="Rectangle 10">
            <a:extLst>
              <a:ext uri="{FF2B5EF4-FFF2-40B4-BE49-F238E27FC236}">
                <a16:creationId xmlns:a16="http://schemas.microsoft.com/office/drawing/2014/main" id="{43AFDB1D-275E-4883-AA77-A797E4A78A78}"/>
              </a:ext>
            </a:extLst>
          </p:cNvPr>
          <p:cNvSpPr/>
          <p:nvPr/>
        </p:nvSpPr>
        <p:spPr>
          <a:xfrm>
            <a:off x="2419925" y="3118923"/>
            <a:ext cx="4158381" cy="632699"/>
          </a:xfrm>
          <a:prstGeom prst="rect">
            <a:avLst/>
          </a:prstGeom>
          <a:solidFill>
            <a:schemeClr val="bg1"/>
          </a:solidFill>
          <a:ln w="285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You may navigate to other tabs for additional information, which are generally technical and do not require update by end users.</a:t>
            </a:r>
          </a:p>
        </p:txBody>
      </p:sp>
      <p:sp>
        <p:nvSpPr>
          <p:cNvPr id="3" name="Rectangle 2">
            <a:extLst>
              <a:ext uri="{FF2B5EF4-FFF2-40B4-BE49-F238E27FC236}">
                <a16:creationId xmlns:a16="http://schemas.microsoft.com/office/drawing/2014/main" id="{BEE054B7-9A0B-4528-8BFD-E4BFA21F0494}"/>
              </a:ext>
            </a:extLst>
          </p:cNvPr>
          <p:cNvSpPr/>
          <p:nvPr/>
        </p:nvSpPr>
        <p:spPr>
          <a:xfrm>
            <a:off x="2272145" y="2687832"/>
            <a:ext cx="3648364" cy="350932"/>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43662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64F384-885D-4D03-86B2-E5CF9C9D9AA7}"/>
              </a:ext>
            </a:extLst>
          </p:cNvPr>
          <p:cNvSpPr/>
          <p:nvPr/>
        </p:nvSpPr>
        <p:spPr>
          <a:xfrm>
            <a:off x="6313608" y="1684232"/>
            <a:ext cx="4479123" cy="1384995"/>
          </a:xfrm>
          <a:prstGeom prst="rect">
            <a:avLst/>
          </a:prstGeom>
          <a:ln w="19050">
            <a:solidFill>
              <a:srgbClr val="00B050"/>
            </a:solidFill>
            <a:prstDash val="dash"/>
          </a:ln>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dirty="0">
                <a:ln>
                  <a:noFill/>
                </a:ln>
                <a:solidFill>
                  <a:srgbClr val="000000"/>
                </a:solidFill>
                <a:effectLst/>
                <a:uLnTx/>
                <a:uFillTx/>
                <a:latin typeface="Arial Black" panose="020B0A04020102020204" pitchFamily="34" charset="0"/>
                <a:ea typeface="+mn-ea"/>
                <a:cs typeface="+mn-cs"/>
              </a:rPr>
              <a:t>Display Cost Centers:</a:t>
            </a:r>
            <a:endParaRPr kumimoji="0" lang="en-GB" sz="1200" b="1" i="0" u="none" strike="noStrike" kern="1200" cap="none" spc="0" normalizeH="0" baseline="0" noProof="0" dirty="0">
              <a:ln>
                <a:noFill/>
              </a:ln>
              <a:solidFill>
                <a:srgbClr val="000000"/>
              </a:solidFill>
              <a:effectLst/>
              <a:uLnTx/>
              <a:uFillTx/>
              <a:latin typeface="Arial Black" panose="020B0A04020102020204" pitchFamily="34" charset="0"/>
              <a:ea typeface="+mn-ea"/>
              <a:cs typeface="+mn-cs"/>
            </a:endParaRP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Cost </a:t>
            </a:r>
            <a:r>
              <a:rPr kumimoji="0" lang="en-GB" sz="12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Master data can be viewed for more than one cost </a:t>
            </a:r>
            <a:r>
              <a:rPr kumimoji="0" lang="en-GB" sz="12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at a time. Either a range or the whole JTI Standard Hierarchy can be viewed using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KS13</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E9AA2F9E-E271-4412-85A9-807E3524B19D}"/>
              </a:ext>
            </a:extLst>
          </p:cNvPr>
          <p:cNvSpPr>
            <a:spLocks noGrp="1"/>
          </p:cNvSpPr>
          <p:nvPr>
            <p:ph type="title"/>
          </p:nvPr>
        </p:nvSpPr>
        <p:spPr/>
        <p:txBody>
          <a:bodyPr/>
          <a:lstStyle/>
          <a:p>
            <a:r>
              <a:rPr lang="en-GB" dirty="0"/>
              <a:t>Display Cost </a:t>
            </a:r>
            <a:r>
              <a:rPr lang="en-GB" dirty="0" err="1"/>
              <a:t>Center</a:t>
            </a:r>
            <a:r>
              <a:rPr lang="en-GB" dirty="0"/>
              <a:t> Master Data (</a:t>
            </a:r>
            <a:r>
              <a:rPr lang="en-GB" dirty="0" err="1"/>
              <a:t>Mulitple</a:t>
            </a:r>
            <a:r>
              <a:rPr lang="en-GB" dirty="0"/>
              <a:t> Cost </a:t>
            </a:r>
            <a:r>
              <a:rPr lang="en-GB" dirty="0" err="1"/>
              <a:t>centers</a:t>
            </a:r>
            <a:r>
              <a:rPr lang="en-GB" dirty="0"/>
              <a:t>)</a:t>
            </a:r>
            <a:endParaRPr lang="en-US" dirty="0"/>
          </a:p>
        </p:txBody>
      </p:sp>
      <p:sp>
        <p:nvSpPr>
          <p:cNvPr id="5" name="Slide Number Placeholder 4">
            <a:extLst>
              <a:ext uri="{FF2B5EF4-FFF2-40B4-BE49-F238E27FC236}">
                <a16:creationId xmlns:a16="http://schemas.microsoft.com/office/drawing/2014/main" id="{4A3B04A8-1290-4E38-AD14-386F486D6F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0" name="Group 9">
            <a:extLst>
              <a:ext uri="{FF2B5EF4-FFF2-40B4-BE49-F238E27FC236}">
                <a16:creationId xmlns:a16="http://schemas.microsoft.com/office/drawing/2014/main" id="{286460F7-5367-4EF0-9613-0865BC620372}"/>
              </a:ext>
            </a:extLst>
          </p:cNvPr>
          <p:cNvGrpSpPr/>
          <p:nvPr/>
        </p:nvGrpSpPr>
        <p:grpSpPr>
          <a:xfrm>
            <a:off x="696730" y="1682172"/>
            <a:ext cx="5082706" cy="2495765"/>
            <a:chOff x="798330" y="2488186"/>
            <a:chExt cx="4537423" cy="1863210"/>
          </a:xfrm>
        </p:grpSpPr>
        <p:pic>
          <p:nvPicPr>
            <p:cNvPr id="6" name="Picture 5">
              <a:extLst>
                <a:ext uri="{FF2B5EF4-FFF2-40B4-BE49-F238E27FC236}">
                  <a16:creationId xmlns:a16="http://schemas.microsoft.com/office/drawing/2014/main" id="{2659FF4F-BCCF-4BE1-9178-191BF261B1B0}"/>
                </a:ext>
              </a:extLst>
            </p:cNvPr>
            <p:cNvPicPr>
              <a:picLocks noChangeAspect="1"/>
            </p:cNvPicPr>
            <p:nvPr/>
          </p:nvPicPr>
          <p:blipFill>
            <a:blip r:embed="rId2"/>
            <a:stretch>
              <a:fillRect/>
            </a:stretch>
          </p:blipFill>
          <p:spPr>
            <a:xfrm>
              <a:off x="798330" y="2488186"/>
              <a:ext cx="4537423" cy="1863210"/>
            </a:xfrm>
            <a:prstGeom prst="rect">
              <a:avLst/>
            </a:prstGeom>
          </p:spPr>
        </p:pic>
        <p:sp>
          <p:nvSpPr>
            <p:cNvPr id="7" name="Rectangle: Rounded Corners 6">
              <a:extLst>
                <a:ext uri="{FF2B5EF4-FFF2-40B4-BE49-F238E27FC236}">
                  <a16:creationId xmlns:a16="http://schemas.microsoft.com/office/drawing/2014/main" id="{08C194B1-E5EE-4006-B53A-48E82D93055E}"/>
                </a:ext>
              </a:extLst>
            </p:cNvPr>
            <p:cNvSpPr/>
            <p:nvPr/>
          </p:nvSpPr>
          <p:spPr>
            <a:xfrm>
              <a:off x="3945103" y="2822891"/>
              <a:ext cx="1390650" cy="36508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KS13 – Display Cost </a:t>
              </a:r>
              <a:r>
                <a:rPr kumimoji="0" lang="en-GB" sz="10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Centers</a:t>
              </a:r>
              <a:endPar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grpSp>
      <p:pic>
        <p:nvPicPr>
          <p:cNvPr id="9" name="Picture 8">
            <a:extLst>
              <a:ext uri="{FF2B5EF4-FFF2-40B4-BE49-F238E27FC236}">
                <a16:creationId xmlns:a16="http://schemas.microsoft.com/office/drawing/2014/main" id="{E549E4B6-72FD-4841-A478-3833FEF11B3E}"/>
              </a:ext>
            </a:extLst>
          </p:cNvPr>
          <p:cNvPicPr>
            <a:picLocks noChangeAspect="1"/>
          </p:cNvPicPr>
          <p:nvPr/>
        </p:nvPicPr>
        <p:blipFill>
          <a:blip r:embed="rId3"/>
          <a:stretch>
            <a:fillRect/>
          </a:stretch>
        </p:blipFill>
        <p:spPr>
          <a:xfrm>
            <a:off x="5000550" y="3429000"/>
            <a:ext cx="5792181" cy="2965651"/>
          </a:xfrm>
          <a:prstGeom prst="rect">
            <a:avLst/>
          </a:prstGeom>
        </p:spPr>
      </p:pic>
    </p:spTree>
    <p:extLst>
      <p:ext uri="{BB962C8B-B14F-4D97-AF65-F5344CB8AC3E}">
        <p14:creationId xmlns:p14="http://schemas.microsoft.com/office/powerpoint/2010/main" val="538733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A4E32FE1-D013-6F50-6897-0D1F1E76778A}"/>
              </a:ext>
            </a:extLst>
          </p:cNvPr>
          <p:cNvSpPr txBox="1">
            <a:spLocks/>
          </p:cNvSpPr>
          <p:nvPr/>
        </p:nvSpPr>
        <p:spPr>
          <a:xfrm>
            <a:off x="1511276" y="210344"/>
            <a:ext cx="8280000"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Accounting</a:t>
            </a:r>
            <a:endPar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a:t>
            </a:r>
            <a:r>
              <a:rPr kumimoji="1" lang="ja-JP" altLang="en-US"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Master</a:t>
            </a:r>
            <a:r>
              <a:rPr kumimoji="1" lang="ja-JP" altLang="en-US"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data - Maintenance Process</a:t>
            </a:r>
          </a:p>
        </p:txBody>
      </p:sp>
      <p:pic>
        <p:nvPicPr>
          <p:cNvPr id="8" name="Picture 6">
            <a:extLst>
              <a:ext uri="{FF2B5EF4-FFF2-40B4-BE49-F238E27FC236}">
                <a16:creationId xmlns:a16="http://schemas.microsoft.com/office/drawing/2014/main" id="{F0C4B996-5BBB-7F5C-B105-39D686A68B2A}"/>
              </a:ext>
            </a:extLst>
          </p:cNvPr>
          <p:cNvPicPr>
            <a:picLocks noChangeAspect="1"/>
          </p:cNvPicPr>
          <p:nvPr/>
        </p:nvPicPr>
        <p:blipFill>
          <a:blip r:embed="rId2"/>
          <a:stretch>
            <a:fillRect/>
          </a:stretch>
        </p:blipFill>
        <p:spPr>
          <a:xfrm>
            <a:off x="7300156" y="1920738"/>
            <a:ext cx="4064981" cy="4376784"/>
          </a:xfrm>
          <a:prstGeom prst="rect">
            <a:avLst/>
          </a:prstGeom>
        </p:spPr>
      </p:pic>
      <p:sp>
        <p:nvSpPr>
          <p:cNvPr id="10" name="Rectangle: Rounded Corners 25">
            <a:extLst>
              <a:ext uri="{FF2B5EF4-FFF2-40B4-BE49-F238E27FC236}">
                <a16:creationId xmlns:a16="http://schemas.microsoft.com/office/drawing/2014/main" id="{D36890BA-B4ED-4F94-6887-10E321992D25}"/>
              </a:ext>
            </a:extLst>
          </p:cNvPr>
          <p:cNvSpPr/>
          <p:nvPr/>
        </p:nvSpPr>
        <p:spPr>
          <a:xfrm>
            <a:off x="9365671" y="2102439"/>
            <a:ext cx="1913129" cy="281044"/>
          </a:xfrm>
          <a:prstGeom prst="roundRect">
            <a:avLst/>
          </a:prstGeom>
          <a:solidFill>
            <a:schemeClr val="bg2">
              <a:lumMod val="50000"/>
            </a:schemeClr>
          </a:solidFill>
          <a:ln w="19050">
            <a:no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n-cs"/>
              </a:rPr>
              <a:t>IT Service Portal</a:t>
            </a:r>
            <a:endParaRPr kumimoji="0" lang="ja-JP" altLang="en-US" sz="105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1" name="Content Placeholder 2">
            <a:extLst>
              <a:ext uri="{FF2B5EF4-FFF2-40B4-BE49-F238E27FC236}">
                <a16:creationId xmlns:a16="http://schemas.microsoft.com/office/drawing/2014/main" id="{B6BF1FE0-68D0-263E-64E7-72D7A40A017B}"/>
              </a:ext>
            </a:extLst>
          </p:cNvPr>
          <p:cNvSpPr>
            <a:spLocks noGrp="1"/>
          </p:cNvSpPr>
          <p:nvPr>
            <p:ph idx="1"/>
          </p:nvPr>
        </p:nvSpPr>
        <p:spPr>
          <a:xfrm>
            <a:off x="913200" y="2356404"/>
            <a:ext cx="5352133" cy="4026602"/>
          </a:xfrm>
        </p:spPr>
        <p:txBody>
          <a:bodyPr/>
          <a:lstStyle/>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R2R Competency </a:t>
            </a:r>
            <a:r>
              <a:rPr lang="en-GB" sz="1600" dirty="0" err="1">
                <a:latin typeface="Meiryo UI" panose="020B0604030504040204" pitchFamily="50" charset="-128"/>
                <a:ea typeface="Meiryo UI" panose="020B0604030504040204" pitchFamily="50" charset="-128"/>
              </a:rPr>
              <a:t>center</a:t>
            </a:r>
            <a:r>
              <a:rPr lang="en-GB" sz="1600" dirty="0">
                <a:latin typeface="Meiryo UI" panose="020B0604030504040204" pitchFamily="50" charset="-128"/>
                <a:ea typeface="Meiryo UI" panose="020B0604030504040204" pitchFamily="50" charset="-128"/>
              </a:rPr>
              <a:t> provides the governance on cost </a:t>
            </a:r>
            <a:r>
              <a:rPr lang="en-GB" sz="1600" dirty="0" err="1">
                <a:latin typeface="Meiryo UI" panose="020B0604030504040204" pitchFamily="50" charset="-128"/>
                <a:ea typeface="Meiryo UI" panose="020B0604030504040204" pitchFamily="50" charset="-128"/>
              </a:rPr>
              <a:t>center</a:t>
            </a:r>
            <a:r>
              <a:rPr lang="en-GB" sz="1600" dirty="0">
                <a:latin typeface="Meiryo UI" panose="020B0604030504040204" pitchFamily="50" charset="-128"/>
                <a:ea typeface="Meiryo UI" panose="020B0604030504040204" pitchFamily="50" charset="-128"/>
              </a:rPr>
              <a:t> related business questions as well as serves as a judge for exceptional cases</a:t>
            </a:r>
          </a:p>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Market/Factory users requiring cost </a:t>
            </a:r>
            <a:r>
              <a:rPr lang="en-GB" sz="1600" dirty="0" err="1">
                <a:latin typeface="Meiryo UI" panose="020B0604030504040204" pitchFamily="50" charset="-128"/>
                <a:ea typeface="Meiryo UI" panose="020B0604030504040204" pitchFamily="50" charset="-128"/>
              </a:rPr>
              <a:t>center</a:t>
            </a:r>
            <a:r>
              <a:rPr lang="en-GB" sz="1600" dirty="0">
                <a:latin typeface="Meiryo UI" panose="020B0604030504040204" pitchFamily="50" charset="-128"/>
                <a:ea typeface="Meiryo UI" panose="020B0604030504040204" pitchFamily="50" charset="-128"/>
              </a:rPr>
              <a:t> master data changes are requesting them via IT Service Portal</a:t>
            </a:r>
          </a:p>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Form on the IT Service portal mirrors the fields available in cost </a:t>
            </a:r>
            <a:r>
              <a:rPr lang="en-GB" sz="1600" dirty="0" err="1">
                <a:latin typeface="Meiryo UI" panose="020B0604030504040204" pitchFamily="50" charset="-128"/>
                <a:ea typeface="Meiryo UI" panose="020B0604030504040204" pitchFamily="50" charset="-128"/>
              </a:rPr>
              <a:t>center</a:t>
            </a:r>
            <a:r>
              <a:rPr lang="en-GB" sz="1600" dirty="0">
                <a:latin typeface="Meiryo UI" panose="020B0604030504040204" pitchFamily="50" charset="-128"/>
                <a:ea typeface="Meiryo UI" panose="020B0604030504040204" pitchFamily="50" charset="-128"/>
              </a:rPr>
              <a:t> master data in SAP</a:t>
            </a:r>
          </a:p>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There is a level of automation within master data maintenance process allowing changes done in the main S/4 PROD system to be replicated in other systems.</a:t>
            </a:r>
          </a:p>
        </p:txBody>
      </p:sp>
      <p:sp>
        <p:nvSpPr>
          <p:cNvPr id="12" name="テキスト ボックス 11">
            <a:extLst>
              <a:ext uri="{FF2B5EF4-FFF2-40B4-BE49-F238E27FC236}">
                <a16:creationId xmlns:a16="http://schemas.microsoft.com/office/drawing/2014/main" id="{D5F13668-DD61-EA1C-4F59-9422C7A41BE3}"/>
              </a:ext>
            </a:extLst>
          </p:cNvPr>
          <p:cNvSpPr txBox="1"/>
          <p:nvPr/>
        </p:nvSpPr>
        <p:spPr>
          <a:xfrm>
            <a:off x="604875" y="1429035"/>
            <a:ext cx="7565457" cy="673404"/>
          </a:xfrm>
          <a:prstGeom prst="rect">
            <a:avLst/>
          </a:prstGeom>
          <a:noFill/>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Cost center maintenance process is owned by IT BTS Finance.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Users request for CC Maintenance via IT Service Portal.</a:t>
            </a:r>
          </a:p>
        </p:txBody>
      </p:sp>
      <p:sp>
        <p:nvSpPr>
          <p:cNvPr id="2" name="Slide Number Placeholder 4">
            <a:extLst>
              <a:ext uri="{FF2B5EF4-FFF2-40B4-BE49-F238E27FC236}">
                <a16:creationId xmlns:a16="http://schemas.microsoft.com/office/drawing/2014/main" id="{84148F3B-8B7F-A8B5-CF35-797B2EB68849}"/>
              </a:ext>
            </a:extLst>
          </p:cNvPr>
          <p:cNvSpPr>
            <a:spLocks noGrp="1"/>
          </p:cNvSpPr>
          <p:nvPr>
            <p:ph type="sldNum" sz="quarter" idx="12"/>
          </p:nvPr>
        </p:nvSpPr>
        <p:spPr>
          <a:xfrm>
            <a:off x="11278800" y="629752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65148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A4E32FE1-D013-6F50-6897-0D1F1E76778A}"/>
              </a:ext>
            </a:extLst>
          </p:cNvPr>
          <p:cNvSpPr txBox="1">
            <a:spLocks/>
          </p:cNvSpPr>
          <p:nvPr/>
        </p:nvSpPr>
        <p:spPr>
          <a:xfrm>
            <a:off x="1511276" y="210344"/>
            <a:ext cx="8280000"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Accounting</a:t>
            </a:r>
            <a:endPar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a:t>
            </a:r>
            <a:r>
              <a:rPr kumimoji="1" lang="ja-JP" altLang="en-US"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Master</a:t>
            </a:r>
            <a:r>
              <a:rPr kumimoji="1" lang="ja-JP" altLang="en-US"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data - Maintenance Process</a:t>
            </a:r>
          </a:p>
        </p:txBody>
      </p:sp>
      <p:sp>
        <p:nvSpPr>
          <p:cNvPr id="12" name="テキスト ボックス 11">
            <a:extLst>
              <a:ext uri="{FF2B5EF4-FFF2-40B4-BE49-F238E27FC236}">
                <a16:creationId xmlns:a16="http://schemas.microsoft.com/office/drawing/2014/main" id="{D5F13668-DD61-EA1C-4F59-9422C7A41BE3}"/>
              </a:ext>
            </a:extLst>
          </p:cNvPr>
          <p:cNvSpPr txBox="1"/>
          <p:nvPr/>
        </p:nvSpPr>
        <p:spPr>
          <a:xfrm>
            <a:off x="604875" y="1429035"/>
            <a:ext cx="7565457" cy="673404"/>
          </a:xfrm>
          <a:prstGeom prst="rect">
            <a:avLst/>
          </a:prstGeom>
          <a:noFill/>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Followings are R&amp;R for Cost Center Maintenance;</a:t>
            </a:r>
          </a:p>
        </p:txBody>
      </p:sp>
      <p:graphicFrame>
        <p:nvGraphicFramePr>
          <p:cNvPr id="6" name="Table 6">
            <a:extLst>
              <a:ext uri="{FF2B5EF4-FFF2-40B4-BE49-F238E27FC236}">
                <a16:creationId xmlns:a16="http://schemas.microsoft.com/office/drawing/2014/main" id="{1BD3095A-D7D2-D777-D2F6-29F5783AF9CF}"/>
              </a:ext>
            </a:extLst>
          </p:cNvPr>
          <p:cNvGraphicFramePr>
            <a:graphicFrameLocks noGrp="1"/>
          </p:cNvGraphicFramePr>
          <p:nvPr>
            <p:ph idx="1"/>
          </p:nvPr>
        </p:nvGraphicFramePr>
        <p:xfrm>
          <a:off x="1146969" y="2095804"/>
          <a:ext cx="9898062" cy="3266440"/>
        </p:xfrm>
        <a:graphic>
          <a:graphicData uri="http://schemas.openxmlformats.org/drawingml/2006/table">
            <a:tbl>
              <a:tblPr firstRow="1" bandRow="1">
                <a:tableStyleId>{5C22544A-7EE6-4342-B048-85BDC9FD1C3A}</a:tableStyleId>
              </a:tblPr>
              <a:tblGrid>
                <a:gridCol w="3211236">
                  <a:extLst>
                    <a:ext uri="{9D8B030D-6E8A-4147-A177-3AD203B41FA5}">
                      <a16:colId xmlns:a16="http://schemas.microsoft.com/office/drawing/2014/main" val="2910439823"/>
                    </a:ext>
                  </a:extLst>
                </a:gridCol>
                <a:gridCol w="6686826">
                  <a:extLst>
                    <a:ext uri="{9D8B030D-6E8A-4147-A177-3AD203B41FA5}">
                      <a16:colId xmlns:a16="http://schemas.microsoft.com/office/drawing/2014/main" val="1118238184"/>
                    </a:ext>
                  </a:extLst>
                </a:gridCol>
              </a:tblGrid>
              <a:tr h="370840">
                <a:tc>
                  <a:txBody>
                    <a:bodyPr/>
                    <a:lstStyle/>
                    <a:p>
                      <a:pPr algn="ctr"/>
                      <a:r>
                        <a:rPr lang="en-US" sz="1400" dirty="0">
                          <a:latin typeface="Meiryo UI" panose="020B0604030504040204" pitchFamily="50" charset="-128"/>
                          <a:ea typeface="Meiryo UI" panose="020B0604030504040204" pitchFamily="50" charset="-128"/>
                        </a:rPr>
                        <a:t>Role</a:t>
                      </a:r>
                      <a:endParaRPr lang="ru-RU" sz="1400" dirty="0">
                        <a:latin typeface="Meiryo UI" panose="020B0604030504040204" pitchFamily="50" charset="-128"/>
                        <a:ea typeface="Meiryo UI" panose="020B0604030504040204" pitchFamily="50" charset="-128"/>
                      </a:endParaRPr>
                    </a:p>
                  </a:txBody>
                  <a:tcPr/>
                </a:tc>
                <a:tc>
                  <a:txBody>
                    <a:bodyPr/>
                    <a:lstStyle/>
                    <a:p>
                      <a:pPr algn="ctr"/>
                      <a:r>
                        <a:rPr lang="en-US" sz="1400" dirty="0">
                          <a:latin typeface="Meiryo UI" panose="020B0604030504040204" pitchFamily="50" charset="-128"/>
                          <a:ea typeface="Meiryo UI" panose="020B0604030504040204" pitchFamily="50" charset="-128"/>
                        </a:rPr>
                        <a:t>Responsibility</a:t>
                      </a:r>
                      <a:endParaRPr lang="ru-RU"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20145842"/>
                  </a:ext>
                </a:extLst>
              </a:tr>
              <a:tr h="370840">
                <a:tc>
                  <a:txBody>
                    <a:bodyPr/>
                    <a:lstStyle/>
                    <a:p>
                      <a:r>
                        <a:rPr lang="en-US" sz="1400" dirty="0">
                          <a:latin typeface="Meiryo UI" panose="020B0604030504040204" pitchFamily="50" charset="-128"/>
                          <a:ea typeface="Meiryo UI" panose="020B0604030504040204" pitchFamily="50" charset="-128"/>
                        </a:rPr>
                        <a:t>Market/Factory user</a:t>
                      </a:r>
                      <a:endParaRPr lang="ru-RU" sz="1400" dirty="0">
                        <a:latin typeface="Meiryo UI" panose="020B0604030504040204" pitchFamily="50" charset="-128"/>
                        <a:ea typeface="Meiryo UI" panose="020B0604030504040204" pitchFamily="50" charset="-128"/>
                      </a:endParaRPr>
                    </a:p>
                  </a:txBody>
                  <a:tcPr/>
                </a:tc>
                <a:tc>
                  <a:txBody>
                    <a:bodyPr/>
                    <a:lstStyle/>
                    <a:p>
                      <a:r>
                        <a:rPr lang="en-US" sz="1400" dirty="0">
                          <a:latin typeface="Meiryo UI" panose="020B0604030504040204" pitchFamily="50" charset="-128"/>
                          <a:ea typeface="Meiryo UI" panose="020B0604030504040204" pitchFamily="50" charset="-128"/>
                        </a:rPr>
                        <a:t>Submits requests for cost center maintenance providing enough information for CFO to approve and BTS to maintain the master data</a:t>
                      </a:r>
                      <a:endParaRPr lang="ru-RU"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1597778"/>
                  </a:ext>
                </a:extLst>
              </a:tr>
              <a:tr h="370840">
                <a:tc>
                  <a:txBody>
                    <a:bodyPr/>
                    <a:lstStyle/>
                    <a:p>
                      <a:r>
                        <a:rPr lang="en-US" sz="1400" dirty="0">
                          <a:latin typeface="Meiryo UI" panose="020B0604030504040204" pitchFamily="50" charset="-128"/>
                          <a:ea typeface="Meiryo UI" panose="020B0604030504040204" pitchFamily="50" charset="-128"/>
                        </a:rPr>
                        <a:t>R2R Competency center</a:t>
                      </a:r>
                      <a:endParaRPr lang="ru-RU" sz="1400" dirty="0">
                        <a:latin typeface="Meiryo UI" panose="020B0604030504040204" pitchFamily="50" charset="-128"/>
                        <a:ea typeface="Meiryo UI" panose="020B0604030504040204" pitchFamily="50" charset="-128"/>
                      </a:endParaRPr>
                    </a:p>
                  </a:txBody>
                  <a:tcPr/>
                </a:tc>
                <a:tc>
                  <a:txBody>
                    <a:bodyPr/>
                    <a:lstStyle/>
                    <a:p>
                      <a:r>
                        <a:rPr lang="en-US" sz="1400" dirty="0">
                          <a:latin typeface="Meiryo UI" panose="020B0604030504040204" pitchFamily="50" charset="-128"/>
                          <a:ea typeface="Meiryo UI" panose="020B0604030504040204" pitchFamily="50" charset="-128"/>
                        </a:rPr>
                        <a:t>Provides the governance to the markets/factories/functions, reviews and approves exceptional cases</a:t>
                      </a:r>
                      <a:endParaRPr lang="ru-RU"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553803008"/>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eiryo UI" panose="020B0604030504040204" pitchFamily="50" charset="-128"/>
                          <a:ea typeface="Meiryo UI" panose="020B0604030504040204" pitchFamily="50" charset="-128"/>
                        </a:rPr>
                        <a:t>Market/Factory CFO, Function Lead</a:t>
                      </a:r>
                      <a:endParaRPr lang="ru-RU" sz="1400" dirty="0">
                        <a:latin typeface="Meiryo UI" panose="020B0604030504040204" pitchFamily="50" charset="-128"/>
                        <a:ea typeface="Meiryo UI" panose="020B0604030504040204" pitchFamily="50" charset="-128"/>
                      </a:endParaRPr>
                    </a:p>
                  </a:txBody>
                  <a:tcPr/>
                </a:tc>
                <a:tc>
                  <a:txBody>
                    <a:bodyPr/>
                    <a:lstStyle/>
                    <a:p>
                      <a:r>
                        <a:rPr lang="en-US" sz="1400" dirty="0">
                          <a:latin typeface="Meiryo UI" panose="020B0604030504040204" pitchFamily="50" charset="-128"/>
                          <a:ea typeface="Meiryo UI" panose="020B0604030504040204" pitchFamily="50" charset="-128"/>
                        </a:rPr>
                        <a:t>Reviews submitted requests and approves them based on Profit center basis</a:t>
                      </a:r>
                      <a:endParaRPr lang="ru-RU"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35482750"/>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eiryo UI" panose="020B0604030504040204" pitchFamily="50" charset="-128"/>
                          <a:ea typeface="Meiryo UI" panose="020B0604030504040204" pitchFamily="50" charset="-128"/>
                        </a:rPr>
                        <a:t>R2R CC Team</a:t>
                      </a:r>
                      <a:endParaRPr lang="ru-RU" sz="1400" dirty="0">
                        <a:latin typeface="Meiryo UI" panose="020B0604030504040204" pitchFamily="50" charset="-128"/>
                        <a:ea typeface="Meiryo UI" panose="020B0604030504040204" pitchFamily="50" charset="-128"/>
                      </a:endParaRPr>
                    </a:p>
                  </a:txBody>
                  <a:tcPr/>
                </a:tc>
                <a:tc>
                  <a:txBody>
                    <a:bodyPr/>
                    <a:lstStyle/>
                    <a:p>
                      <a:r>
                        <a:rPr lang="en-US" sz="1400" dirty="0">
                          <a:latin typeface="Meiryo UI" panose="020B0604030504040204" pitchFamily="50" charset="-128"/>
                          <a:ea typeface="Meiryo UI" panose="020B0604030504040204" pitchFamily="50" charset="-128"/>
                        </a:rPr>
                        <a:t>Exceptionally approve requests regarding cost center master on ITSP</a:t>
                      </a:r>
                      <a:endParaRPr lang="ru-RU"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851610117"/>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Meiryo UI" panose="020B0604030504040204" pitchFamily="50" charset="-128"/>
                          <a:ea typeface="Meiryo UI" panose="020B0604030504040204" pitchFamily="50" charset="-128"/>
                        </a:rPr>
                        <a:t>Entity CFO</a:t>
                      </a:r>
                      <a:endParaRPr lang="ru-RU" sz="1400">
                        <a:latin typeface="Meiryo UI" panose="020B0604030504040204" pitchFamily="50" charset="-128"/>
                        <a:ea typeface="Meiryo UI" panose="020B0604030504040204" pitchFamily="50" charset="-128"/>
                      </a:endParaRPr>
                    </a:p>
                  </a:txBody>
                  <a:tcPr/>
                </a:tc>
                <a:tc>
                  <a:txBody>
                    <a:bodyPr/>
                    <a:lstStyle/>
                    <a:p>
                      <a:r>
                        <a:rPr lang="en-US" sz="1400" dirty="0">
                          <a:latin typeface="Meiryo UI" panose="020B0604030504040204" pitchFamily="50" charset="-128"/>
                          <a:ea typeface="Meiryo UI" panose="020B0604030504040204" pitchFamily="50" charset="-128"/>
                        </a:rPr>
                        <a:t>Is informed via IT Service portal that such a cost center change has been made in a company code</a:t>
                      </a:r>
                      <a:endParaRPr lang="ru-RU"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228488891"/>
                  </a:ext>
                </a:extLst>
              </a:tr>
              <a:tr h="370840">
                <a:tc>
                  <a:txBody>
                    <a:bodyPr/>
                    <a:lstStyle/>
                    <a:p>
                      <a:r>
                        <a:rPr lang="en-US" sz="1400">
                          <a:latin typeface="Meiryo UI" panose="020B0604030504040204" pitchFamily="50" charset="-128"/>
                          <a:ea typeface="Meiryo UI" panose="020B0604030504040204" pitchFamily="50" charset="-128"/>
                        </a:rPr>
                        <a:t>IT BTS Finance</a:t>
                      </a:r>
                      <a:endParaRPr lang="ru-RU" sz="1400">
                        <a:latin typeface="Meiryo UI" panose="020B0604030504040204" pitchFamily="50" charset="-128"/>
                        <a:ea typeface="Meiryo UI" panose="020B0604030504040204" pitchFamily="50" charset="-128"/>
                      </a:endParaRPr>
                    </a:p>
                  </a:txBody>
                  <a:tcPr/>
                </a:tc>
                <a:tc>
                  <a:txBody>
                    <a:bodyPr/>
                    <a:lstStyle/>
                    <a:p>
                      <a:r>
                        <a:rPr lang="en-US" sz="1400" dirty="0">
                          <a:latin typeface="Meiryo UI" panose="020B0604030504040204" pitchFamily="50" charset="-128"/>
                          <a:ea typeface="Meiryo UI" panose="020B0604030504040204" pitchFamily="50" charset="-128"/>
                        </a:rPr>
                        <a:t>Checks submitted request on IT Service Portal and creates/changes cost center master data in S/4</a:t>
                      </a:r>
                      <a:endParaRPr lang="ru-RU"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281144896"/>
                  </a:ext>
                </a:extLst>
              </a:tr>
            </a:tbl>
          </a:graphicData>
        </a:graphic>
      </p:graphicFrame>
      <p:sp>
        <p:nvSpPr>
          <p:cNvPr id="2" name="Slide Number Placeholder 4">
            <a:extLst>
              <a:ext uri="{FF2B5EF4-FFF2-40B4-BE49-F238E27FC236}">
                <a16:creationId xmlns:a16="http://schemas.microsoft.com/office/drawing/2014/main" id="{AE2B2558-83ED-01F4-D1DF-494ECD33D3BA}"/>
              </a:ext>
            </a:extLst>
          </p:cNvPr>
          <p:cNvSpPr>
            <a:spLocks noGrp="1"/>
          </p:cNvSpPr>
          <p:nvPr>
            <p:ph type="sldNum" sz="quarter" idx="12"/>
          </p:nvPr>
        </p:nvSpPr>
        <p:spPr>
          <a:xfrm>
            <a:off x="11278800" y="629752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71216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A4E32FE1-D013-6F50-6897-0D1F1E76778A}"/>
              </a:ext>
            </a:extLst>
          </p:cNvPr>
          <p:cNvSpPr txBox="1">
            <a:spLocks/>
          </p:cNvSpPr>
          <p:nvPr/>
        </p:nvSpPr>
        <p:spPr>
          <a:xfrm>
            <a:off x="1511276" y="210344"/>
            <a:ext cx="8280000"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Accounting</a:t>
            </a:r>
            <a:endPar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a:t>
            </a:r>
            <a:r>
              <a:rPr kumimoji="1" lang="ja-JP" altLang="en-US"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Master</a:t>
            </a:r>
            <a:r>
              <a:rPr kumimoji="1" lang="ja-JP" altLang="en-US"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data - Maintenance Process</a:t>
            </a:r>
          </a:p>
        </p:txBody>
      </p:sp>
      <p:sp>
        <p:nvSpPr>
          <p:cNvPr id="12" name="テキスト ボックス 11">
            <a:extLst>
              <a:ext uri="{FF2B5EF4-FFF2-40B4-BE49-F238E27FC236}">
                <a16:creationId xmlns:a16="http://schemas.microsoft.com/office/drawing/2014/main" id="{D5F13668-DD61-EA1C-4F59-9422C7A41BE3}"/>
              </a:ext>
            </a:extLst>
          </p:cNvPr>
          <p:cNvSpPr txBox="1"/>
          <p:nvPr/>
        </p:nvSpPr>
        <p:spPr>
          <a:xfrm>
            <a:off x="604875" y="1429035"/>
            <a:ext cx="7565457" cy="673404"/>
          </a:xfrm>
          <a:prstGeom prst="rect">
            <a:avLst/>
          </a:prstGeom>
          <a:noFill/>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Followings are process flow for Cost Center Maintenance;</a:t>
            </a:r>
          </a:p>
        </p:txBody>
      </p:sp>
      <p:sp>
        <p:nvSpPr>
          <p:cNvPr id="7" name="Rectangle 4">
            <a:extLst>
              <a:ext uri="{FF2B5EF4-FFF2-40B4-BE49-F238E27FC236}">
                <a16:creationId xmlns:a16="http://schemas.microsoft.com/office/drawing/2014/main" id="{07C9D79E-FBFF-4E0C-E598-17791AFBF960}"/>
              </a:ext>
            </a:extLst>
          </p:cNvPr>
          <p:cNvSpPr/>
          <p:nvPr/>
        </p:nvSpPr>
        <p:spPr>
          <a:xfrm>
            <a:off x="1262896" y="2302875"/>
            <a:ext cx="2257419" cy="12001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lumMod val="95000"/>
                    <a:lumOff val="5000"/>
                  </a:srgbClr>
                </a:solidFill>
                <a:effectLst/>
                <a:uLnTx/>
                <a:uFillTx/>
                <a:latin typeface="Arial" panose="020B0604020202020204"/>
                <a:ea typeface="+mn-ea"/>
                <a:cs typeface="+mn-cs"/>
              </a:rPr>
              <a:t>Service request for cost center changes is raised on IT Service Portal</a:t>
            </a:r>
            <a:endParaRPr kumimoji="0" lang="ru-RU" sz="1400" b="0" i="0" u="none" strike="noStrike" kern="1200" cap="none" spc="0" normalizeH="0" baseline="0" noProof="0" dirty="0">
              <a:ln>
                <a:noFill/>
              </a:ln>
              <a:solidFill>
                <a:srgbClr val="000000">
                  <a:lumMod val="95000"/>
                  <a:lumOff val="5000"/>
                </a:srgbClr>
              </a:solidFill>
              <a:effectLst/>
              <a:uLnTx/>
              <a:uFillTx/>
              <a:latin typeface="Arial" panose="020B0604020202020204"/>
              <a:ea typeface="+mn-ea"/>
              <a:cs typeface="+mn-cs"/>
            </a:endParaRPr>
          </a:p>
        </p:txBody>
      </p:sp>
      <p:sp>
        <p:nvSpPr>
          <p:cNvPr id="8" name="Oval 5">
            <a:extLst>
              <a:ext uri="{FF2B5EF4-FFF2-40B4-BE49-F238E27FC236}">
                <a16:creationId xmlns:a16="http://schemas.microsoft.com/office/drawing/2014/main" id="{8C2474F6-FFF4-379D-E687-DDE22AB14393}"/>
              </a:ext>
            </a:extLst>
          </p:cNvPr>
          <p:cNvSpPr/>
          <p:nvPr/>
        </p:nvSpPr>
        <p:spPr>
          <a:xfrm>
            <a:off x="2701171" y="2004423"/>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ITSP</a:t>
            </a:r>
            <a:endParaRPr kumimoji="0" lang="ru-RU" sz="12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0" name="Parallelogram 6">
            <a:extLst>
              <a:ext uri="{FF2B5EF4-FFF2-40B4-BE49-F238E27FC236}">
                <a16:creationId xmlns:a16="http://schemas.microsoft.com/office/drawing/2014/main" id="{6FF1BBC1-5A45-2859-7674-8862A2C48660}"/>
              </a:ext>
            </a:extLst>
          </p:cNvPr>
          <p:cNvSpPr/>
          <p:nvPr/>
        </p:nvSpPr>
        <p:spPr>
          <a:xfrm>
            <a:off x="604875" y="2004423"/>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Market</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7">
            <a:extLst>
              <a:ext uri="{FF2B5EF4-FFF2-40B4-BE49-F238E27FC236}">
                <a16:creationId xmlns:a16="http://schemas.microsoft.com/office/drawing/2014/main" id="{20179F33-EFF5-42BF-3688-3D112CF64871}"/>
              </a:ext>
            </a:extLst>
          </p:cNvPr>
          <p:cNvSpPr/>
          <p:nvPr/>
        </p:nvSpPr>
        <p:spPr>
          <a:xfrm>
            <a:off x="4830138" y="2302875"/>
            <a:ext cx="2257419" cy="12001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Service request is approved by the market/factory CFO or function lead</a:t>
            </a:r>
            <a:endParaRPr kumimoji="0" lang="ru-RU"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13" name="Oval 8">
            <a:extLst>
              <a:ext uri="{FF2B5EF4-FFF2-40B4-BE49-F238E27FC236}">
                <a16:creationId xmlns:a16="http://schemas.microsoft.com/office/drawing/2014/main" id="{6C00255D-53CA-DCFC-D91F-68AB9EA4C20C}"/>
              </a:ext>
            </a:extLst>
          </p:cNvPr>
          <p:cNvSpPr/>
          <p:nvPr/>
        </p:nvSpPr>
        <p:spPr>
          <a:xfrm>
            <a:off x="6268413" y="2004423"/>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ITSP</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Parallelogram 9">
            <a:extLst>
              <a:ext uri="{FF2B5EF4-FFF2-40B4-BE49-F238E27FC236}">
                <a16:creationId xmlns:a16="http://schemas.microsoft.com/office/drawing/2014/main" id="{A28C9A73-1F9C-A9E1-E935-A52F29BBA4A2}"/>
              </a:ext>
            </a:extLst>
          </p:cNvPr>
          <p:cNvSpPr/>
          <p:nvPr/>
        </p:nvSpPr>
        <p:spPr>
          <a:xfrm>
            <a:off x="4172117" y="2004423"/>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Market</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0">
            <a:extLst>
              <a:ext uri="{FF2B5EF4-FFF2-40B4-BE49-F238E27FC236}">
                <a16:creationId xmlns:a16="http://schemas.microsoft.com/office/drawing/2014/main" id="{64495F1E-D4FB-B93E-9D09-099A43362A41}"/>
              </a:ext>
            </a:extLst>
          </p:cNvPr>
          <p:cNvSpPr/>
          <p:nvPr/>
        </p:nvSpPr>
        <p:spPr>
          <a:xfrm>
            <a:off x="8403599" y="2296564"/>
            <a:ext cx="2257419" cy="12001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lumMod val="95000"/>
                    <a:lumOff val="5000"/>
                  </a:srgbClr>
                </a:solidFill>
                <a:effectLst/>
                <a:uLnTx/>
                <a:uFillTx/>
                <a:latin typeface="Arial" panose="020B0604020202020204"/>
                <a:ea typeface="+mn-ea"/>
                <a:cs typeface="+mn-cs"/>
              </a:rPr>
              <a:t>Service request is approved by R2RCC on exceptional basis</a:t>
            </a:r>
            <a:endParaRPr kumimoji="0" lang="ru-RU" sz="1400" b="0" i="0" u="none" strike="noStrike" kern="1200" cap="none" spc="0" normalizeH="0" baseline="0" noProof="0" dirty="0">
              <a:ln>
                <a:noFill/>
              </a:ln>
              <a:solidFill>
                <a:srgbClr val="000000">
                  <a:lumMod val="95000"/>
                  <a:lumOff val="5000"/>
                </a:srgbClr>
              </a:solidFill>
              <a:effectLst/>
              <a:uLnTx/>
              <a:uFillTx/>
              <a:latin typeface="Arial" panose="020B0604020202020204"/>
              <a:ea typeface="+mn-ea"/>
              <a:cs typeface="+mn-cs"/>
            </a:endParaRPr>
          </a:p>
        </p:txBody>
      </p:sp>
      <p:sp>
        <p:nvSpPr>
          <p:cNvPr id="16" name="Oval 11">
            <a:extLst>
              <a:ext uri="{FF2B5EF4-FFF2-40B4-BE49-F238E27FC236}">
                <a16:creationId xmlns:a16="http://schemas.microsoft.com/office/drawing/2014/main" id="{48C521D2-8784-AA75-9438-91B0055A5B82}"/>
              </a:ext>
            </a:extLst>
          </p:cNvPr>
          <p:cNvSpPr/>
          <p:nvPr/>
        </p:nvSpPr>
        <p:spPr>
          <a:xfrm>
            <a:off x="9841874" y="1998112"/>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ITSP</a:t>
            </a:r>
            <a:endParaRPr kumimoji="0" lang="ru-RU" sz="12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7" name="Parallelogram 12">
            <a:extLst>
              <a:ext uri="{FF2B5EF4-FFF2-40B4-BE49-F238E27FC236}">
                <a16:creationId xmlns:a16="http://schemas.microsoft.com/office/drawing/2014/main" id="{06D32227-33AD-B113-63D6-E733924446E9}"/>
              </a:ext>
            </a:extLst>
          </p:cNvPr>
          <p:cNvSpPr/>
          <p:nvPr/>
        </p:nvSpPr>
        <p:spPr>
          <a:xfrm>
            <a:off x="7745578" y="1998112"/>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R2R CC</a:t>
            </a:r>
            <a:endParaRPr kumimoji="0" lang="ru-RU" sz="12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8" name="Rectangle 13">
            <a:extLst>
              <a:ext uri="{FF2B5EF4-FFF2-40B4-BE49-F238E27FC236}">
                <a16:creationId xmlns:a16="http://schemas.microsoft.com/office/drawing/2014/main" id="{5D05B99A-F711-4B4B-B637-5BBF24CD7AC6}"/>
              </a:ext>
            </a:extLst>
          </p:cNvPr>
          <p:cNvSpPr/>
          <p:nvPr/>
        </p:nvSpPr>
        <p:spPr>
          <a:xfrm>
            <a:off x="4836357" y="4649329"/>
            <a:ext cx="2257419" cy="12001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Cost center master data is replicated in S4 test systems automatically</a:t>
            </a:r>
            <a:endParaRPr kumimoji="0" lang="ru-RU"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19" name="Oval 14">
            <a:extLst>
              <a:ext uri="{FF2B5EF4-FFF2-40B4-BE49-F238E27FC236}">
                <a16:creationId xmlns:a16="http://schemas.microsoft.com/office/drawing/2014/main" id="{FCEE851E-EAB4-334E-FA1D-25C1ADBFC261}"/>
              </a:ext>
            </a:extLst>
          </p:cNvPr>
          <p:cNvSpPr/>
          <p:nvPr/>
        </p:nvSpPr>
        <p:spPr>
          <a:xfrm>
            <a:off x="6274632" y="4401679"/>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SAP S/4</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Parallelogram 15">
            <a:extLst>
              <a:ext uri="{FF2B5EF4-FFF2-40B4-BE49-F238E27FC236}">
                <a16:creationId xmlns:a16="http://schemas.microsoft.com/office/drawing/2014/main" id="{01353251-C1A2-8DDE-830E-BD862910660B}"/>
              </a:ext>
            </a:extLst>
          </p:cNvPr>
          <p:cNvSpPr/>
          <p:nvPr/>
        </p:nvSpPr>
        <p:spPr>
          <a:xfrm>
            <a:off x="4178336" y="4401679"/>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IT BTS</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Rectangle 16">
            <a:extLst>
              <a:ext uri="{FF2B5EF4-FFF2-40B4-BE49-F238E27FC236}">
                <a16:creationId xmlns:a16="http://schemas.microsoft.com/office/drawing/2014/main" id="{F6572393-EE3F-E3A1-22AA-C50E75AB15E9}"/>
              </a:ext>
            </a:extLst>
          </p:cNvPr>
          <p:cNvSpPr/>
          <p:nvPr/>
        </p:nvSpPr>
        <p:spPr>
          <a:xfrm>
            <a:off x="1262896" y="3893958"/>
            <a:ext cx="2257419" cy="12001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lumMod val="95000"/>
                    <a:lumOff val="5000"/>
                  </a:srgbClr>
                </a:solidFill>
                <a:effectLst/>
                <a:uLnTx/>
                <a:uFillTx/>
                <a:latin typeface="Arial" panose="020B0604020202020204"/>
                <a:ea typeface="+mn-ea"/>
                <a:cs typeface="+mn-cs"/>
              </a:rPr>
              <a:t>Cost center master data is automatically transferred via IDoc to SAP HR</a:t>
            </a:r>
            <a:endParaRPr kumimoji="0" lang="ru-RU" sz="1400" b="0" i="0" u="none" strike="noStrike" kern="1200" cap="none" spc="0" normalizeH="0" baseline="0" noProof="0" dirty="0">
              <a:ln>
                <a:noFill/>
              </a:ln>
              <a:solidFill>
                <a:srgbClr val="000000">
                  <a:lumMod val="95000"/>
                  <a:lumOff val="5000"/>
                </a:srgbClr>
              </a:solidFill>
              <a:effectLst/>
              <a:uLnTx/>
              <a:uFillTx/>
              <a:latin typeface="Arial" panose="020B0604020202020204"/>
              <a:ea typeface="+mn-ea"/>
              <a:cs typeface="+mn-cs"/>
            </a:endParaRPr>
          </a:p>
        </p:txBody>
      </p:sp>
      <p:sp>
        <p:nvSpPr>
          <p:cNvPr id="22" name="Oval 17">
            <a:extLst>
              <a:ext uri="{FF2B5EF4-FFF2-40B4-BE49-F238E27FC236}">
                <a16:creationId xmlns:a16="http://schemas.microsoft.com/office/drawing/2014/main" id="{D4F4FE05-4BD6-83E1-9484-91AB09E93CFE}"/>
              </a:ext>
            </a:extLst>
          </p:cNvPr>
          <p:cNvSpPr/>
          <p:nvPr/>
        </p:nvSpPr>
        <p:spPr>
          <a:xfrm>
            <a:off x="2701171" y="3646308"/>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SAP HR</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Parallelogram 18">
            <a:extLst>
              <a:ext uri="{FF2B5EF4-FFF2-40B4-BE49-F238E27FC236}">
                <a16:creationId xmlns:a16="http://schemas.microsoft.com/office/drawing/2014/main" id="{0BCEA1AF-D414-3743-DFFA-570E7841029F}"/>
              </a:ext>
            </a:extLst>
          </p:cNvPr>
          <p:cNvSpPr/>
          <p:nvPr/>
        </p:nvSpPr>
        <p:spPr>
          <a:xfrm>
            <a:off x="604875" y="3566097"/>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IT BTS</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Rectangle 19">
            <a:extLst>
              <a:ext uri="{FF2B5EF4-FFF2-40B4-BE49-F238E27FC236}">
                <a16:creationId xmlns:a16="http://schemas.microsoft.com/office/drawing/2014/main" id="{CB8F8E65-D03C-E776-6513-07A5B34A8459}"/>
              </a:ext>
            </a:extLst>
          </p:cNvPr>
          <p:cNvSpPr/>
          <p:nvPr/>
        </p:nvSpPr>
        <p:spPr>
          <a:xfrm>
            <a:off x="1262896" y="5497034"/>
            <a:ext cx="2257419" cy="12001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Cost center master data is automatically extracted to BW      </a:t>
            </a:r>
            <a:endParaRPr kumimoji="0" lang="ru-RU"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25" name="Oval 20">
            <a:extLst>
              <a:ext uri="{FF2B5EF4-FFF2-40B4-BE49-F238E27FC236}">
                <a16:creationId xmlns:a16="http://schemas.microsoft.com/office/drawing/2014/main" id="{2E33EE90-A86C-27E1-3669-93A564897208}"/>
              </a:ext>
            </a:extLst>
          </p:cNvPr>
          <p:cNvSpPr/>
          <p:nvPr/>
        </p:nvSpPr>
        <p:spPr>
          <a:xfrm>
            <a:off x="2701171" y="5249384"/>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BW</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Parallelogram 21">
            <a:extLst>
              <a:ext uri="{FF2B5EF4-FFF2-40B4-BE49-F238E27FC236}">
                <a16:creationId xmlns:a16="http://schemas.microsoft.com/office/drawing/2014/main" id="{C7C70D1A-DAD7-697B-EC91-BA1FE1D97165}"/>
              </a:ext>
            </a:extLst>
          </p:cNvPr>
          <p:cNvSpPr/>
          <p:nvPr/>
        </p:nvSpPr>
        <p:spPr>
          <a:xfrm>
            <a:off x="604875" y="5249384"/>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IT BTS</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7" name="Straight Arrow Connector 22">
            <a:extLst>
              <a:ext uri="{FF2B5EF4-FFF2-40B4-BE49-F238E27FC236}">
                <a16:creationId xmlns:a16="http://schemas.microsoft.com/office/drawing/2014/main" id="{A7CB77C4-1D3F-8B69-A8EE-7BF92262BB9E}"/>
              </a:ext>
            </a:extLst>
          </p:cNvPr>
          <p:cNvCxnSpPr>
            <a:cxnSpLocks/>
            <a:endCxn id="11" idx="1"/>
          </p:cNvCxnSpPr>
          <p:nvPr/>
        </p:nvCxnSpPr>
        <p:spPr>
          <a:xfrm>
            <a:off x="3520315" y="2899845"/>
            <a:ext cx="1309823" cy="3085"/>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5">
            <a:extLst>
              <a:ext uri="{FF2B5EF4-FFF2-40B4-BE49-F238E27FC236}">
                <a16:creationId xmlns:a16="http://schemas.microsoft.com/office/drawing/2014/main" id="{10795472-0782-A309-60BB-87E9B22698F0}"/>
              </a:ext>
            </a:extLst>
          </p:cNvPr>
          <p:cNvCxnSpPr>
            <a:cxnSpLocks/>
          </p:cNvCxnSpPr>
          <p:nvPr/>
        </p:nvCxnSpPr>
        <p:spPr>
          <a:xfrm>
            <a:off x="7087557" y="2845817"/>
            <a:ext cx="1309823" cy="3085"/>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6">
            <a:extLst>
              <a:ext uri="{FF2B5EF4-FFF2-40B4-BE49-F238E27FC236}">
                <a16:creationId xmlns:a16="http://schemas.microsoft.com/office/drawing/2014/main" id="{64D693C3-A31F-4B3E-C22D-FFFCD4789530}"/>
              </a:ext>
            </a:extLst>
          </p:cNvPr>
          <p:cNvCxnSpPr>
            <a:cxnSpLocks/>
            <a:stCxn id="18" idx="1"/>
            <a:endCxn id="21" idx="3"/>
          </p:cNvCxnSpPr>
          <p:nvPr/>
        </p:nvCxnSpPr>
        <p:spPr>
          <a:xfrm flipH="1" flipV="1">
            <a:off x="3520315" y="4494013"/>
            <a:ext cx="1316042" cy="755371"/>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31">
            <a:extLst>
              <a:ext uri="{FF2B5EF4-FFF2-40B4-BE49-F238E27FC236}">
                <a16:creationId xmlns:a16="http://schemas.microsoft.com/office/drawing/2014/main" id="{C5CF7FF6-7243-A34A-27A9-EF76EA11E9C1}"/>
              </a:ext>
            </a:extLst>
          </p:cNvPr>
          <p:cNvCxnSpPr>
            <a:cxnSpLocks/>
            <a:endCxn id="24" idx="3"/>
          </p:cNvCxnSpPr>
          <p:nvPr/>
        </p:nvCxnSpPr>
        <p:spPr>
          <a:xfrm flipH="1">
            <a:off x="3520315" y="5252444"/>
            <a:ext cx="1309824" cy="844645"/>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2">
            <a:extLst>
              <a:ext uri="{FF2B5EF4-FFF2-40B4-BE49-F238E27FC236}">
                <a16:creationId xmlns:a16="http://schemas.microsoft.com/office/drawing/2014/main" id="{6A705067-7950-CE17-410B-486125B73110}"/>
              </a:ext>
            </a:extLst>
          </p:cNvPr>
          <p:cNvCxnSpPr>
            <a:cxnSpLocks/>
            <a:stCxn id="15" idx="2"/>
            <a:endCxn id="32" idx="0"/>
          </p:cNvCxnSpPr>
          <p:nvPr/>
        </p:nvCxnSpPr>
        <p:spPr>
          <a:xfrm>
            <a:off x="9532309" y="3496674"/>
            <a:ext cx="6219" cy="1146536"/>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10">
            <a:extLst>
              <a:ext uri="{FF2B5EF4-FFF2-40B4-BE49-F238E27FC236}">
                <a16:creationId xmlns:a16="http://schemas.microsoft.com/office/drawing/2014/main" id="{4906EFC7-C88E-CB1A-FD01-064F2C0D0016}"/>
              </a:ext>
            </a:extLst>
          </p:cNvPr>
          <p:cNvSpPr/>
          <p:nvPr/>
        </p:nvSpPr>
        <p:spPr>
          <a:xfrm>
            <a:off x="8409818" y="4643210"/>
            <a:ext cx="2257419" cy="120011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Cost center is created/changed/blocked in S4 PROD</a:t>
            </a:r>
            <a:endParaRPr kumimoji="0" lang="ru-RU"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33" name="Oval 11">
            <a:extLst>
              <a:ext uri="{FF2B5EF4-FFF2-40B4-BE49-F238E27FC236}">
                <a16:creationId xmlns:a16="http://schemas.microsoft.com/office/drawing/2014/main" id="{B86830D7-15C5-A72D-AA4B-9C64C003E436}"/>
              </a:ext>
            </a:extLst>
          </p:cNvPr>
          <p:cNvSpPr/>
          <p:nvPr/>
        </p:nvSpPr>
        <p:spPr>
          <a:xfrm>
            <a:off x="9848093" y="4344758"/>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SAP S/4</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Parallelogram 12">
            <a:extLst>
              <a:ext uri="{FF2B5EF4-FFF2-40B4-BE49-F238E27FC236}">
                <a16:creationId xmlns:a16="http://schemas.microsoft.com/office/drawing/2014/main" id="{522B858A-8B0D-4346-FF16-019B4F5A3108}"/>
              </a:ext>
            </a:extLst>
          </p:cNvPr>
          <p:cNvSpPr/>
          <p:nvPr/>
        </p:nvSpPr>
        <p:spPr>
          <a:xfrm>
            <a:off x="7751797" y="4344758"/>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IT BTS</a:t>
            </a:r>
            <a:endParaRPr kumimoji="0" lang="ru-RU"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6" name="Straight Arrow Connector 32">
            <a:extLst>
              <a:ext uri="{FF2B5EF4-FFF2-40B4-BE49-F238E27FC236}">
                <a16:creationId xmlns:a16="http://schemas.microsoft.com/office/drawing/2014/main" id="{0165A1D2-CBEA-9C7D-489E-AB1CAEF75066}"/>
              </a:ext>
            </a:extLst>
          </p:cNvPr>
          <p:cNvCxnSpPr>
            <a:cxnSpLocks/>
            <a:stCxn id="32" idx="1"/>
            <a:endCxn id="18" idx="3"/>
          </p:cNvCxnSpPr>
          <p:nvPr/>
        </p:nvCxnSpPr>
        <p:spPr>
          <a:xfrm flipH="1">
            <a:off x="7093776" y="5243265"/>
            <a:ext cx="1316042" cy="6119"/>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80CCA255-8B3F-95F7-13C8-10B400A81835}"/>
              </a:ext>
            </a:extLst>
          </p:cNvPr>
          <p:cNvSpPr>
            <a:spLocks noGrp="1"/>
          </p:cNvSpPr>
          <p:nvPr>
            <p:ph type="sldNum" sz="quarter" idx="12"/>
          </p:nvPr>
        </p:nvSpPr>
        <p:spPr>
          <a:xfrm>
            <a:off x="11278800" y="629752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54521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289800"/>
            <a:ext cx="12192000" cy="4953211"/>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4294967295"/>
          </p:nvPr>
        </p:nvSpPr>
        <p:spPr>
          <a:xfrm>
            <a:off x="11795125" y="6297613"/>
            <a:ext cx="396875"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 name="Group 3">
            <a:extLst>
              <a:ext uri="{FF2B5EF4-FFF2-40B4-BE49-F238E27FC236}">
                <a16:creationId xmlns:a16="http://schemas.microsoft.com/office/drawing/2014/main" id="{70D94340-C2C1-4AC4-B239-D127A63FC583}"/>
              </a:ext>
            </a:extLst>
          </p:cNvPr>
          <p:cNvGrpSpPr/>
          <p:nvPr/>
        </p:nvGrpSpPr>
        <p:grpSpPr>
          <a:xfrm>
            <a:off x="6921545" y="1779732"/>
            <a:ext cx="4754516" cy="2527166"/>
            <a:chOff x="6011091" y="1782351"/>
            <a:chExt cx="4754516" cy="2527166"/>
          </a:xfrm>
        </p:grpSpPr>
        <p:cxnSp>
          <p:nvCxnSpPr>
            <p:cNvPr id="5" name="Elbow Connector 4"/>
            <p:cNvCxnSpPr/>
            <p:nvPr/>
          </p:nvCxnSpPr>
          <p:spPr>
            <a:xfrm flipV="1">
              <a:off x="6011091" y="195391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p:cNvCxnSpPr/>
            <p:nvPr/>
          </p:nvCxnSpPr>
          <p:spPr>
            <a:xfrm>
              <a:off x="6011091" y="2844991"/>
              <a:ext cx="1521084" cy="1305726"/>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5" y="2692997"/>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771633" y="3431286"/>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4" y="2427954"/>
              <a:ext cx="309854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1A3040"/>
                  </a:solidFill>
                  <a:effectLst/>
                  <a:uLnTx/>
                  <a:uFillTx/>
                  <a:latin typeface="Arial" charset="0"/>
                  <a:ea typeface="Arial" charset="0"/>
                  <a:cs typeface="Arial" charset="0"/>
                </a:rPr>
                <a:t>Cost Center Category</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50994" y="1782351"/>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a:ea typeface="+mn-ea"/>
                  <a:cs typeface="Arial"/>
                </a:rPr>
                <a:t>Master Data Overview</a:t>
              </a:r>
              <a:endParaRPr kumimoji="0" lang="en-US" sz="1800" b="0" i="0" u="none" strike="noStrike" kern="1200" cap="none" spc="0" normalizeH="0" baseline="0" noProof="0" dirty="0">
                <a:ln>
                  <a:noFill/>
                </a:ln>
                <a:solidFill>
                  <a:srgbClr val="FFFFFF"/>
                </a:solidFill>
                <a:effectLst/>
                <a:uLnTx/>
                <a:uFillTx/>
                <a:latin typeface="Arial"/>
                <a:ea typeface="+mn-ea"/>
                <a:cs typeface="Arial"/>
              </a:endParaRPr>
            </a:p>
          </p:txBody>
        </p:sp>
        <p:sp>
          <p:nvSpPr>
            <p:cNvPr id="41" name="Rounded Rectangle 40"/>
            <p:cNvSpPr/>
            <p:nvPr/>
          </p:nvSpPr>
          <p:spPr>
            <a:xfrm>
              <a:off x="7667064" y="3166603"/>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Hierarchy Area</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2" name="Rounded Rectangle 41"/>
            <p:cNvSpPr/>
            <p:nvPr/>
          </p:nvSpPr>
          <p:spPr>
            <a:xfrm>
              <a:off x="7667064" y="3898870"/>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Functional Area</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45" name="Group 44">
            <a:extLst>
              <a:ext uri="{FF2B5EF4-FFF2-40B4-BE49-F238E27FC236}">
                <a16:creationId xmlns:a16="http://schemas.microsoft.com/office/drawing/2014/main" id="{CF4CBEE7-3DDA-4E2E-BF2B-7BD11640EA51}"/>
              </a:ext>
            </a:extLst>
          </p:cNvPr>
          <p:cNvGrpSpPr/>
          <p:nvPr/>
        </p:nvGrpSpPr>
        <p:grpSpPr>
          <a:xfrm>
            <a:off x="772619" y="2524709"/>
            <a:ext cx="7294886" cy="2427864"/>
            <a:chOff x="4381175" y="2883731"/>
            <a:chExt cx="7294886" cy="2427864"/>
          </a:xfrm>
        </p:grpSpPr>
        <p:grpSp>
          <p:nvGrpSpPr>
            <p:cNvPr id="46" name="Group 45">
              <a:extLst>
                <a:ext uri="{FF2B5EF4-FFF2-40B4-BE49-F238E27FC236}">
                  <a16:creationId xmlns:a16="http://schemas.microsoft.com/office/drawing/2014/main" id="{ED60FAA4-4031-4994-9622-DBF68258B5B9}"/>
                </a:ext>
              </a:extLst>
            </p:cNvPr>
            <p:cNvGrpSpPr/>
            <p:nvPr/>
          </p:nvGrpSpPr>
          <p:grpSpPr>
            <a:xfrm>
              <a:off x="7444303" y="2883731"/>
              <a:ext cx="4231758" cy="2427864"/>
              <a:chOff x="7444303" y="2883731"/>
              <a:chExt cx="4231758" cy="2427864"/>
            </a:xfrm>
          </p:grpSpPr>
          <p:sp>
            <p:nvSpPr>
              <p:cNvPr id="56" name="TextBox 55">
                <a:extLst>
                  <a:ext uri="{FF2B5EF4-FFF2-40B4-BE49-F238E27FC236}">
                    <a16:creationId xmlns:a16="http://schemas.microsoft.com/office/drawing/2014/main" id="{F3A3FC1D-97A5-484D-A74C-2DD4F2A69D63}"/>
                  </a:ext>
                </a:extLst>
              </p:cNvPr>
              <p:cNvSpPr txBox="1"/>
              <p:nvPr/>
            </p:nvSpPr>
            <p:spPr>
              <a:xfrm>
                <a:off x="7444304" y="4756406"/>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Reporting</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57" name="Group 56">
                <a:extLst>
                  <a:ext uri="{FF2B5EF4-FFF2-40B4-BE49-F238E27FC236}">
                    <a16:creationId xmlns:a16="http://schemas.microsoft.com/office/drawing/2014/main" id="{C2A31730-3BDF-4373-BD24-54E623224197}"/>
                  </a:ext>
                </a:extLst>
              </p:cNvPr>
              <p:cNvGrpSpPr/>
              <p:nvPr/>
            </p:nvGrpSpPr>
            <p:grpSpPr>
              <a:xfrm>
                <a:off x="7444303" y="2883731"/>
                <a:ext cx="4231757" cy="1393150"/>
                <a:chOff x="7444303" y="2883731"/>
                <a:chExt cx="4231757" cy="1393150"/>
              </a:xfrm>
            </p:grpSpPr>
            <p:sp>
              <p:nvSpPr>
                <p:cNvPr id="58" name="TextBox 57">
                  <a:extLst>
                    <a:ext uri="{FF2B5EF4-FFF2-40B4-BE49-F238E27FC236}">
                      <a16:creationId xmlns:a16="http://schemas.microsoft.com/office/drawing/2014/main" id="{2E6E0E90-AC8B-41D6-82F4-D18F501D8AB3}"/>
                    </a:ext>
                  </a:extLst>
                </p:cNvPr>
                <p:cNvSpPr txBox="1"/>
                <p:nvPr/>
              </p:nvSpPr>
              <p:spPr>
                <a:xfrm>
                  <a:off x="7444304" y="2883731"/>
                  <a:ext cx="3566596"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Master Data</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9" name="TextBox 58">
                  <a:extLst>
                    <a:ext uri="{FF2B5EF4-FFF2-40B4-BE49-F238E27FC236}">
                      <a16:creationId xmlns:a16="http://schemas.microsoft.com/office/drawing/2014/main" id="{864E0719-CC01-4C14-B338-4EB5B9690B00}"/>
                    </a:ext>
                  </a:extLst>
                </p:cNvPr>
                <p:cNvSpPr txBox="1"/>
                <p:nvPr/>
              </p:nvSpPr>
              <p:spPr>
                <a:xfrm>
                  <a:off x="7444303" y="3721692"/>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Cost Allocations</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F98DEBEF-7C64-4122-875D-8FDA762A8164}"/>
                </a:ext>
              </a:extLst>
            </p:cNvPr>
            <p:cNvGrpSpPr/>
            <p:nvPr/>
          </p:nvGrpSpPr>
          <p:grpSpPr>
            <a:xfrm>
              <a:off x="4381175" y="3076671"/>
              <a:ext cx="2917844" cy="1931716"/>
              <a:chOff x="4372240" y="3074237"/>
              <a:chExt cx="2917844" cy="1931716"/>
            </a:xfrm>
          </p:grpSpPr>
          <p:cxnSp>
            <p:nvCxnSpPr>
              <p:cNvPr id="48" name="Elbow Connector 31">
                <a:extLst>
                  <a:ext uri="{FF2B5EF4-FFF2-40B4-BE49-F238E27FC236}">
                    <a16:creationId xmlns:a16="http://schemas.microsoft.com/office/drawing/2014/main" id="{88C2F9C1-311F-4366-90F2-A9CF1EF27AA3}"/>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9" name="Elbow Connector 37">
                <a:extLst>
                  <a:ext uri="{FF2B5EF4-FFF2-40B4-BE49-F238E27FC236}">
                    <a16:creationId xmlns:a16="http://schemas.microsoft.com/office/drawing/2014/main" id="{660D4C18-BB7B-4FDD-8152-2D73764B3F27}"/>
                  </a:ext>
                </a:extLst>
              </p:cNvPr>
              <p:cNvCxnSpPr/>
              <p:nvPr/>
            </p:nvCxnSpPr>
            <p:spPr>
              <a:xfrm>
                <a:off x="6194084" y="3981604"/>
                <a:ext cx="1096000" cy="10243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5050B571-80A1-477B-9BF9-A3DF7B890BC8}"/>
                  </a:ext>
                </a:extLst>
              </p:cNvPr>
              <p:cNvGrpSpPr/>
              <p:nvPr/>
            </p:nvGrpSpPr>
            <p:grpSpPr>
              <a:xfrm>
                <a:off x="4372240" y="3074237"/>
                <a:ext cx="1850100" cy="1850100"/>
                <a:chOff x="4401574" y="3295146"/>
                <a:chExt cx="624164" cy="624164"/>
              </a:xfrm>
            </p:grpSpPr>
            <p:grpSp>
              <p:nvGrpSpPr>
                <p:cNvPr id="52" name="Group 51">
                  <a:extLst>
                    <a:ext uri="{FF2B5EF4-FFF2-40B4-BE49-F238E27FC236}">
                      <a16:creationId xmlns:a16="http://schemas.microsoft.com/office/drawing/2014/main" id="{EB9A729C-161E-4524-BF55-56C035E6708F}"/>
                    </a:ext>
                  </a:extLst>
                </p:cNvPr>
                <p:cNvGrpSpPr/>
                <p:nvPr/>
              </p:nvGrpSpPr>
              <p:grpSpPr>
                <a:xfrm>
                  <a:off x="4401574" y="3295146"/>
                  <a:ext cx="624164" cy="624164"/>
                  <a:chOff x="4492144" y="190843"/>
                  <a:chExt cx="855656" cy="855656"/>
                </a:xfrm>
              </p:grpSpPr>
              <p:sp>
                <p:nvSpPr>
                  <p:cNvPr id="54" name="Oval 53">
                    <a:extLst>
                      <a:ext uri="{FF2B5EF4-FFF2-40B4-BE49-F238E27FC236}">
                        <a16:creationId xmlns:a16="http://schemas.microsoft.com/office/drawing/2014/main" id="{5FB068A8-4059-421E-9D3B-7DB2FE3DA433}"/>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Oval 54">
                    <a:extLst>
                      <a:ext uri="{FF2B5EF4-FFF2-40B4-BE49-F238E27FC236}">
                        <a16:creationId xmlns:a16="http://schemas.microsoft.com/office/drawing/2014/main" id="{2ACDCDD0-24B7-4A8A-AF8F-4ABC2DBDC4A6}"/>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3" name="Picture 52">
                  <a:extLst>
                    <a:ext uri="{FF2B5EF4-FFF2-40B4-BE49-F238E27FC236}">
                      <a16:creationId xmlns:a16="http://schemas.microsoft.com/office/drawing/2014/main" id="{F9F28DF1-5B9B-408E-B616-9CA0C7E0FF9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cxnSp>
            <p:nvCxnSpPr>
              <p:cNvPr id="51" name="Straight Connector 50">
                <a:extLst>
                  <a:ext uri="{FF2B5EF4-FFF2-40B4-BE49-F238E27FC236}">
                    <a16:creationId xmlns:a16="http://schemas.microsoft.com/office/drawing/2014/main" id="{CD1C34C1-C1BA-4B2C-897F-2D2DECA06362}"/>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sp>
        <p:nvSpPr>
          <p:cNvPr id="11" name="Title 33">
            <a:extLst>
              <a:ext uri="{FF2B5EF4-FFF2-40B4-BE49-F238E27FC236}">
                <a16:creationId xmlns:a16="http://schemas.microsoft.com/office/drawing/2014/main" id="{09FAC480-2AAA-FF2A-C2D9-CBDA87E87C28}"/>
              </a:ext>
            </a:extLst>
          </p:cNvPr>
          <p:cNvSpPr txBox="1">
            <a:spLocks/>
          </p:cNvSpPr>
          <p:nvPr/>
        </p:nvSpPr>
        <p:spPr>
          <a:xfrm>
            <a:off x="515939" y="210344"/>
            <a:ext cx="9898061" cy="984247"/>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4400" b="1" kern="1200" cap="all" baseline="0">
                <a:solidFill>
                  <a:schemeClr val="bg1"/>
                </a:solidFill>
                <a:latin typeface="+mj-lt"/>
                <a:ea typeface="+mj-ea"/>
                <a:cs typeface="+mj-cs"/>
              </a:defRPr>
            </a:lvl1pPr>
          </a:lstStyle>
          <a:p>
            <a:r>
              <a:rPr kumimoji="0" lang="en-GB" sz="3200" b="1" i="0" u="none" strike="noStrike" kern="1200" cap="none" spc="0" normalizeH="0" baseline="0" noProof="0" dirty="0">
                <a:ln>
                  <a:noFill/>
                </a:ln>
                <a:solidFill>
                  <a:srgbClr val="000000"/>
                </a:solidFill>
                <a:effectLst/>
                <a:uLnTx/>
                <a:uFillTx/>
                <a:latin typeface="Arial" panose="020B0604020202020204"/>
                <a:ea typeface="+mj-ea"/>
                <a:cs typeface="+mj-cs"/>
              </a:rPr>
              <a:t>Course Structure</a:t>
            </a:r>
            <a:endParaRPr lang="en-GB" dirty="0">
              <a:solidFill>
                <a:schemeClr val="tx1"/>
              </a:solidFill>
            </a:endParaRPr>
          </a:p>
        </p:txBody>
      </p:sp>
    </p:spTree>
    <p:extLst>
      <p:ext uri="{BB962C8B-B14F-4D97-AF65-F5344CB8AC3E}">
        <p14:creationId xmlns:p14="http://schemas.microsoft.com/office/powerpoint/2010/main" val="3060985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ECE023-DC38-4CA2-A0C4-2F7F84BC69BD}"/>
              </a:ext>
            </a:extLst>
          </p:cNvPr>
          <p:cNvPicPr>
            <a:picLocks noChangeAspect="1"/>
          </p:cNvPicPr>
          <p:nvPr/>
        </p:nvPicPr>
        <p:blipFill>
          <a:blip r:embed="rId3"/>
          <a:stretch>
            <a:fillRect/>
          </a:stretch>
        </p:blipFill>
        <p:spPr>
          <a:xfrm>
            <a:off x="515939" y="1437910"/>
            <a:ext cx="5580061" cy="5368253"/>
          </a:xfrm>
          <a:prstGeom prst="rect">
            <a:avLst/>
          </a:prstGeom>
          <a:ln>
            <a:noFill/>
          </a:ln>
          <a:effectLst>
            <a:outerShdw blurRad="292100" dist="139700" dir="5400000" algn="tl" rotWithShape="0">
              <a:prstClr val="black">
                <a:alpha val="65000"/>
              </a:prstClr>
            </a:outerShdw>
          </a:effectLst>
        </p:spPr>
      </p:pic>
      <p:sp>
        <p:nvSpPr>
          <p:cNvPr id="5" name="Slide Number Placeholder 4">
            <a:extLst>
              <a:ext uri="{FF2B5EF4-FFF2-40B4-BE49-F238E27FC236}">
                <a16:creationId xmlns:a16="http://schemas.microsoft.com/office/drawing/2014/main" id="{DB931FD7-FC7F-4A5F-B28A-D5BA7B8BCFD3}"/>
              </a:ext>
            </a:extLst>
          </p:cNvPr>
          <p:cNvSpPr>
            <a:spLocks noGrp="1"/>
          </p:cNvSpPr>
          <p:nvPr>
            <p:ph type="sldNum" sz="quarter" idx="12"/>
          </p:nvPr>
        </p:nvSpPr>
        <p:spPr/>
        <p:txBody>
          <a:bodyPr/>
          <a:lstStyle/>
          <a:p>
            <a:fld id="{F4C94289-3309-4C35-850A-56FD49B3E346}" type="slidenum">
              <a:rPr lang="en-GB" smtClean="0"/>
              <a:t>14</a:t>
            </a:fld>
            <a:endParaRPr lang="en-GB"/>
          </a:p>
        </p:txBody>
      </p:sp>
      <p:sp>
        <p:nvSpPr>
          <p:cNvPr id="2" name="Title 1">
            <a:extLst>
              <a:ext uri="{FF2B5EF4-FFF2-40B4-BE49-F238E27FC236}">
                <a16:creationId xmlns:a16="http://schemas.microsoft.com/office/drawing/2014/main" id="{A01C0E9E-059A-4562-B5AA-C98C05D5E878}"/>
              </a:ext>
            </a:extLst>
          </p:cNvPr>
          <p:cNvSpPr>
            <a:spLocks noGrp="1"/>
          </p:cNvSpPr>
          <p:nvPr>
            <p:ph type="title"/>
          </p:nvPr>
        </p:nvSpPr>
        <p:spPr/>
        <p:txBody>
          <a:bodyPr/>
          <a:lstStyle/>
          <a:p>
            <a:r>
              <a:rPr lang="en-GB" dirty="0"/>
              <a:t>CC Key Master Data Fields – CC Category</a:t>
            </a:r>
          </a:p>
        </p:txBody>
      </p:sp>
      <p:sp>
        <p:nvSpPr>
          <p:cNvPr id="9" name="Rectangle 8">
            <a:extLst>
              <a:ext uri="{FF2B5EF4-FFF2-40B4-BE49-F238E27FC236}">
                <a16:creationId xmlns:a16="http://schemas.microsoft.com/office/drawing/2014/main" id="{E263D21D-33B8-488E-9F39-CC7F9650E93C}"/>
              </a:ext>
            </a:extLst>
          </p:cNvPr>
          <p:cNvSpPr/>
          <p:nvPr/>
        </p:nvSpPr>
        <p:spPr>
          <a:xfrm>
            <a:off x="6494305" y="2437164"/>
            <a:ext cx="5145951" cy="2706254"/>
          </a:xfrm>
          <a:prstGeom prst="rect">
            <a:avLst/>
          </a:prstGeom>
          <a:noFill/>
          <a:ln w="28575">
            <a:solidFill>
              <a:srgbClr val="B777D7"/>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Arial" panose="020B0604020202020204" pitchFamily="34" charset="0"/>
              <a:buChar char="•"/>
            </a:pPr>
            <a:r>
              <a:rPr lang="en-GB" sz="1200" dirty="0">
                <a:solidFill>
                  <a:srgbClr val="000000"/>
                </a:solidFill>
              </a:rPr>
              <a:t>Cost center categories are used to </a:t>
            </a:r>
            <a:r>
              <a:rPr lang="en-GB" sz="1200" b="1" dirty="0">
                <a:solidFill>
                  <a:srgbClr val="000000"/>
                </a:solidFill>
              </a:rPr>
              <a:t>define cost centers within JTI functions</a:t>
            </a:r>
            <a:r>
              <a:rPr lang="en-GB" sz="1200" dirty="0">
                <a:solidFill>
                  <a:srgbClr val="000000"/>
                </a:solidFill>
              </a:rPr>
              <a:t>, such as Finance, HR, IT, Marketing &amp; Sales.</a:t>
            </a:r>
          </a:p>
          <a:p>
            <a:pPr marL="171450" indent="-171450">
              <a:spcBef>
                <a:spcPts val="600"/>
              </a:spcBef>
              <a:buFont typeface="Arial" panose="020B0604020202020204" pitchFamily="34" charset="0"/>
              <a:buChar char="•"/>
            </a:pPr>
            <a:r>
              <a:rPr lang="en-GB" sz="1200" dirty="0">
                <a:solidFill>
                  <a:srgbClr val="000000"/>
                </a:solidFill>
              </a:rPr>
              <a:t>Each cost center will be mapped to one of the </a:t>
            </a:r>
            <a:r>
              <a:rPr lang="en-GB" sz="1200" b="1" dirty="0">
                <a:solidFill>
                  <a:srgbClr val="000000"/>
                </a:solidFill>
              </a:rPr>
              <a:t>new CC categories in S/4HANA.</a:t>
            </a:r>
          </a:p>
          <a:p>
            <a:pPr marL="171450" indent="-171450">
              <a:spcBef>
                <a:spcPts val="600"/>
              </a:spcBef>
              <a:buFont typeface="Arial" panose="020B0604020202020204" pitchFamily="34" charset="0"/>
              <a:buChar char="•"/>
            </a:pPr>
            <a:r>
              <a:rPr lang="en-GB" sz="1200" dirty="0">
                <a:solidFill>
                  <a:srgbClr val="000000"/>
                </a:solidFill>
              </a:rPr>
              <a:t>This will </a:t>
            </a:r>
            <a:r>
              <a:rPr lang="en-GB" sz="1200" b="1" dirty="0">
                <a:solidFill>
                  <a:srgbClr val="000000"/>
                </a:solidFill>
              </a:rPr>
              <a:t>support global analysis </a:t>
            </a:r>
            <a:r>
              <a:rPr lang="en-GB" sz="1200" dirty="0">
                <a:solidFill>
                  <a:srgbClr val="000000"/>
                </a:solidFill>
              </a:rPr>
              <a:t>currently performed off-system or via excel-based surveys.</a:t>
            </a:r>
          </a:p>
          <a:p>
            <a:pPr marL="171450" indent="-171450">
              <a:spcBef>
                <a:spcPts val="600"/>
              </a:spcBef>
              <a:buFont typeface="Arial" panose="020B0604020202020204" pitchFamily="34" charset="0"/>
              <a:buChar char="•"/>
            </a:pPr>
            <a:r>
              <a:rPr lang="en-GB" sz="1200" dirty="0">
                <a:solidFill>
                  <a:srgbClr val="000000"/>
                </a:solidFill>
              </a:rPr>
              <a:t>The categories have been aligned with Corporate HR and are closely </a:t>
            </a:r>
            <a:r>
              <a:rPr lang="en-GB" sz="1200" b="1" dirty="0">
                <a:solidFill>
                  <a:srgbClr val="000000"/>
                </a:solidFill>
              </a:rPr>
              <a:t>linked to HR functional areas and job families</a:t>
            </a:r>
            <a:r>
              <a:rPr lang="en-GB" sz="1200" dirty="0">
                <a:solidFill>
                  <a:srgbClr val="000000"/>
                </a:solidFill>
              </a:rPr>
              <a:t> concept.</a:t>
            </a:r>
          </a:p>
          <a:p>
            <a:pPr marL="171450" indent="-171450">
              <a:spcBef>
                <a:spcPts val="600"/>
              </a:spcBef>
              <a:buFont typeface="Arial" panose="020B0604020202020204" pitchFamily="34" charset="0"/>
              <a:buChar char="•"/>
            </a:pPr>
            <a:r>
              <a:rPr lang="en-GB" sz="1200" dirty="0">
                <a:solidFill>
                  <a:srgbClr val="000000"/>
                </a:solidFill>
              </a:rPr>
              <a:t>This will therefore help to ensure that Finance and HR use aligned information when reporting on headcount or cost of functions.</a:t>
            </a:r>
          </a:p>
        </p:txBody>
      </p:sp>
      <p:sp>
        <p:nvSpPr>
          <p:cNvPr id="14" name="Arrow: Right 13">
            <a:extLst>
              <a:ext uri="{FF2B5EF4-FFF2-40B4-BE49-F238E27FC236}">
                <a16:creationId xmlns:a16="http://schemas.microsoft.com/office/drawing/2014/main" id="{F01A9962-345B-4F0E-832C-F8583FC8C000}"/>
              </a:ext>
            </a:extLst>
          </p:cNvPr>
          <p:cNvSpPr/>
          <p:nvPr/>
        </p:nvSpPr>
        <p:spPr>
          <a:xfrm>
            <a:off x="5652506" y="3322332"/>
            <a:ext cx="766623" cy="712501"/>
          </a:xfrm>
          <a:prstGeom prst="rightArrow">
            <a:avLst>
              <a:gd name="adj1" fmla="val 50000"/>
              <a:gd name="adj2" fmla="val 30275"/>
            </a:avLst>
          </a:prstGeom>
          <a:gradFill flip="none" rotWithShape="1">
            <a:gsLst>
              <a:gs pos="0">
                <a:schemeClr val="accent4">
                  <a:lumMod val="60000"/>
                  <a:lumOff val="40000"/>
                </a:schemeClr>
              </a:gs>
              <a:gs pos="50000">
                <a:schemeClr val="accent4">
                  <a:lumMod val="20000"/>
                  <a:lumOff val="80000"/>
                </a:schemeClr>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E0856DBD-F7AF-418C-94D1-654DC160911F}"/>
              </a:ext>
            </a:extLst>
          </p:cNvPr>
          <p:cNvSpPr/>
          <p:nvPr/>
        </p:nvSpPr>
        <p:spPr>
          <a:xfrm>
            <a:off x="1372731" y="4723500"/>
            <a:ext cx="1388942" cy="235603"/>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469A681A-F929-4ED5-A36E-E7F4C6004E59}"/>
              </a:ext>
            </a:extLst>
          </p:cNvPr>
          <p:cNvPicPr>
            <a:picLocks noChangeAspect="1"/>
          </p:cNvPicPr>
          <p:nvPr/>
        </p:nvPicPr>
        <p:blipFill>
          <a:blip r:embed="rId4"/>
          <a:stretch>
            <a:fillRect/>
          </a:stretch>
        </p:blipFill>
        <p:spPr>
          <a:xfrm>
            <a:off x="3618465" y="1437910"/>
            <a:ext cx="2019048" cy="4704762"/>
          </a:xfrm>
          <a:prstGeom prst="rect">
            <a:avLst/>
          </a:prstGeom>
          <a:effectLst>
            <a:outerShdw blurRad="50800" dist="38100" dir="2700000" algn="tl" rotWithShape="0">
              <a:prstClr val="black">
                <a:alpha val="40000"/>
              </a:prstClr>
            </a:outerShdw>
          </a:effectLst>
        </p:spPr>
      </p:pic>
      <p:cxnSp>
        <p:nvCxnSpPr>
          <p:cNvPr id="7" name="Straight Arrow Connector 6">
            <a:extLst>
              <a:ext uri="{FF2B5EF4-FFF2-40B4-BE49-F238E27FC236}">
                <a16:creationId xmlns:a16="http://schemas.microsoft.com/office/drawing/2014/main" id="{DF31CC85-2D33-4BE3-8251-D421E934BC74}"/>
              </a:ext>
            </a:extLst>
          </p:cNvPr>
          <p:cNvCxnSpPr>
            <a:cxnSpLocks/>
          </p:cNvCxnSpPr>
          <p:nvPr/>
        </p:nvCxnSpPr>
        <p:spPr>
          <a:xfrm flipV="1">
            <a:off x="2562521" y="1708484"/>
            <a:ext cx="1159247" cy="3015016"/>
          </a:xfrm>
          <a:prstGeom prst="straightConnector1">
            <a:avLst/>
          </a:prstGeom>
          <a:noFill/>
          <a:ln w="28575">
            <a:solidFill>
              <a:schemeClr val="accent4">
                <a:lumMod val="60000"/>
                <a:lumOff val="4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6" name="Rectangle: Rounded Corners 25">
            <a:extLst>
              <a:ext uri="{FF2B5EF4-FFF2-40B4-BE49-F238E27FC236}">
                <a16:creationId xmlns:a16="http://schemas.microsoft.com/office/drawing/2014/main" id="{0B694FDB-D994-4F7E-A278-2E2BB074AF2D}"/>
              </a:ext>
            </a:extLst>
          </p:cNvPr>
          <p:cNvSpPr/>
          <p:nvPr/>
        </p:nvSpPr>
        <p:spPr>
          <a:xfrm>
            <a:off x="4876801" y="1437909"/>
            <a:ext cx="1219199" cy="159982"/>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900" b="1" dirty="0">
                <a:solidFill>
                  <a:schemeClr val="accent3">
                    <a:lumMod val="50000"/>
                  </a:schemeClr>
                </a:solidFill>
              </a:rPr>
              <a:t>KS03 – Display CC</a:t>
            </a:r>
          </a:p>
        </p:txBody>
      </p:sp>
      <p:sp>
        <p:nvSpPr>
          <p:cNvPr id="4" name="TextBox 3">
            <a:extLst>
              <a:ext uri="{FF2B5EF4-FFF2-40B4-BE49-F238E27FC236}">
                <a16:creationId xmlns:a16="http://schemas.microsoft.com/office/drawing/2014/main" id="{F0EF016E-6492-4A47-B53B-93BFDCCB58FA}"/>
              </a:ext>
            </a:extLst>
          </p:cNvPr>
          <p:cNvSpPr txBox="1"/>
          <p:nvPr/>
        </p:nvSpPr>
        <p:spPr>
          <a:xfrm>
            <a:off x="6602786" y="6171406"/>
            <a:ext cx="4169228" cy="344420"/>
          </a:xfrm>
          <a:prstGeom prst="rect">
            <a:avLst/>
          </a:prstGeom>
          <a:noFill/>
        </p:spPr>
        <p:txBody>
          <a:bodyPr wrap="square" lIns="0" tIns="0" rIns="0" bIns="0" rtlCol="0">
            <a:noAutofit/>
          </a:bodyPr>
          <a:lstStyle/>
          <a:p>
            <a:pPr algn="l"/>
            <a:r>
              <a:rPr lang="en-GB" sz="1400" dirty="0"/>
              <a:t>*Human Resources will change to People &amp; Culture</a:t>
            </a:r>
            <a:endParaRPr lang="en-US" sz="1400" dirty="0" err="1"/>
          </a:p>
        </p:txBody>
      </p:sp>
      <p:sp>
        <p:nvSpPr>
          <p:cNvPr id="12" name="TextBox 11">
            <a:extLst>
              <a:ext uri="{FF2B5EF4-FFF2-40B4-BE49-F238E27FC236}">
                <a16:creationId xmlns:a16="http://schemas.microsoft.com/office/drawing/2014/main" id="{2F063038-0425-404E-9292-B031E7524081}"/>
              </a:ext>
            </a:extLst>
          </p:cNvPr>
          <p:cNvSpPr txBox="1"/>
          <p:nvPr/>
        </p:nvSpPr>
        <p:spPr>
          <a:xfrm>
            <a:off x="5254201" y="3454307"/>
            <a:ext cx="350006" cy="344420"/>
          </a:xfrm>
          <a:prstGeom prst="rect">
            <a:avLst/>
          </a:prstGeom>
          <a:noFill/>
        </p:spPr>
        <p:txBody>
          <a:bodyPr wrap="square" lIns="0" tIns="0" rIns="0" bIns="0" rtlCol="0">
            <a:noAutofit/>
          </a:bodyPr>
          <a:lstStyle/>
          <a:p>
            <a:pPr algn="l"/>
            <a:r>
              <a:rPr lang="en-GB" sz="1400" dirty="0"/>
              <a:t>*</a:t>
            </a:r>
            <a:endParaRPr lang="en-US" sz="1400" dirty="0" err="1"/>
          </a:p>
        </p:txBody>
      </p:sp>
    </p:spTree>
    <p:extLst>
      <p:ext uri="{BB962C8B-B14F-4D97-AF65-F5344CB8AC3E}">
        <p14:creationId xmlns:p14="http://schemas.microsoft.com/office/powerpoint/2010/main" val="219640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E2E0CB-2EEE-4DBB-A111-836D158068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B500185-492B-43A0-9F62-BE1B350759A3}"/>
              </a:ext>
            </a:extLst>
          </p:cNvPr>
          <p:cNvSpPr>
            <a:spLocks noGrp="1"/>
          </p:cNvSpPr>
          <p:nvPr>
            <p:ph type="title"/>
          </p:nvPr>
        </p:nvSpPr>
        <p:spPr/>
        <p:txBody>
          <a:bodyPr/>
          <a:lstStyle/>
          <a:p>
            <a:r>
              <a:rPr lang="en-GB" dirty="0"/>
              <a:t>CC Key Master Data Fields – CC Category</a:t>
            </a:r>
            <a:endParaRPr lang="en-US" dirty="0"/>
          </a:p>
        </p:txBody>
      </p:sp>
      <p:sp>
        <p:nvSpPr>
          <p:cNvPr id="7" name="Slide Number Placeholder 2">
            <a:extLst>
              <a:ext uri="{FF2B5EF4-FFF2-40B4-BE49-F238E27FC236}">
                <a16:creationId xmlns:a16="http://schemas.microsoft.com/office/drawing/2014/main" id="{BF7010AC-CB65-45DB-B230-1FE65CD9BB85}"/>
              </a:ext>
            </a:extLst>
          </p:cNvPr>
          <p:cNvSpPr txBox="1">
            <a:spLocks/>
          </p:cNvSpPr>
          <p:nvPr/>
        </p:nvSpPr>
        <p:spPr>
          <a:xfrm>
            <a:off x="11278800" y="6297521"/>
            <a:ext cx="397261" cy="365125"/>
          </a:xfrm>
          <a:prstGeom prst="rect">
            <a:avLst/>
          </a:prstGeom>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8194" name="Picture 2" descr="C:\Users\CSTSHA~1\AppData\Local\Temp\SNAGHTML729aeb6d.PNG">
            <a:extLst>
              <a:ext uri="{FF2B5EF4-FFF2-40B4-BE49-F238E27FC236}">
                <a16:creationId xmlns:a16="http://schemas.microsoft.com/office/drawing/2014/main" id="{07F668E4-D0A0-4CC5-A335-11E35F22DA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685" y="1558769"/>
            <a:ext cx="5808123" cy="301372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AB406BE6-F527-47DE-90EA-2B0A0469C903}"/>
              </a:ext>
            </a:extLst>
          </p:cNvPr>
          <p:cNvSpPr/>
          <p:nvPr/>
        </p:nvSpPr>
        <p:spPr>
          <a:xfrm>
            <a:off x="6736080" y="1923855"/>
            <a:ext cx="5039360" cy="3939540"/>
          </a:xfrm>
          <a:prstGeom prst="rect">
            <a:avLst/>
          </a:prstGeom>
          <a:ln w="31750">
            <a:solidFill>
              <a:srgbClr val="B777D7"/>
            </a:solidFill>
            <a:prstDash val="dash"/>
          </a:ln>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dirty="0">
                <a:ln>
                  <a:noFill/>
                </a:ln>
                <a:solidFill>
                  <a:srgbClr val="000000"/>
                </a:solidFill>
                <a:effectLst/>
                <a:uLnTx/>
                <a:uFillTx/>
                <a:latin typeface="Arial Black" panose="020B0A04020102020204" pitchFamily="34" charset="0"/>
                <a:ea typeface="+mn-ea"/>
                <a:cs typeface="+mn-cs"/>
              </a:rPr>
              <a:t>Definition and Principles :</a:t>
            </a:r>
            <a:endParaRPr kumimoji="0" lang="en-GB" sz="1200" b="1" i="0" u="none" strike="noStrike" kern="1200" cap="none" spc="0" normalizeH="0" baseline="0" noProof="0" dirty="0">
              <a:ln>
                <a:noFill/>
              </a:ln>
              <a:solidFill>
                <a:srgbClr val="000000"/>
              </a:solidFill>
              <a:effectLst/>
              <a:uLnTx/>
              <a:uFillTx/>
              <a:latin typeface="Arial Black" panose="020B0A04020102020204" pitchFamily="34" charset="0"/>
              <a:ea typeface="+mn-ea"/>
              <a:cs typeface="+mn-cs"/>
            </a:endParaRP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Cost center categories defines the type of activity performed by the cost center. They are used to restrict cost centers that may perform a particular activity and provide the ability to safe guard your postings to cost centers as they will prevent non-category costs being posted to the wrong cost center. In addition it provides greater organizational ability across your cost objects.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You can assign the same characteristics to similar cost centers. For example, you can allow particular activity types only for particular cost centers. This is useful to prevent production activities from being posted to administrative cost centers by mistake.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You can also use the cost center category for cost calculation, where it controls what percentage of the overheads applies to that cost center category</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The lock indicators select the type of activities allowed by the cost </a:t>
            </a:r>
            <a:r>
              <a:rPr kumimoji="0" lang="en-GB" sz="12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and when maintained are visible in the Control tab of the Cost </a:t>
            </a:r>
            <a:r>
              <a:rPr kumimoji="0" lang="en-GB" sz="12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Master Data</a:t>
            </a: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26613ACF-6E6C-42AB-9A0A-C7DCC6571DDA}"/>
              </a:ext>
            </a:extLst>
          </p:cNvPr>
          <p:cNvSpPr/>
          <p:nvPr/>
        </p:nvSpPr>
        <p:spPr>
          <a:xfrm>
            <a:off x="4999990" y="1558769"/>
            <a:ext cx="1390650" cy="36508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Cost </a:t>
            </a:r>
            <a:r>
              <a:rPr kumimoji="0" lang="en-GB" sz="10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Center</a:t>
            </a: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Categories</a:t>
            </a:r>
          </a:p>
        </p:txBody>
      </p:sp>
      <p:pic>
        <p:nvPicPr>
          <p:cNvPr id="8196" name="Picture 4" descr="C:\Users\CSTSHA~1\AppData\Local\Temp\SNAGHTML72a21e91.PNG">
            <a:extLst>
              <a:ext uri="{FF2B5EF4-FFF2-40B4-BE49-F238E27FC236}">
                <a16:creationId xmlns:a16="http://schemas.microsoft.com/office/drawing/2014/main" id="{105D432F-CB78-4942-B0AC-3E4147AB3D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5840" y="4572489"/>
            <a:ext cx="3942080" cy="1788327"/>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Rounded Corners 12">
            <a:extLst>
              <a:ext uri="{FF2B5EF4-FFF2-40B4-BE49-F238E27FC236}">
                <a16:creationId xmlns:a16="http://schemas.microsoft.com/office/drawing/2014/main" id="{5696ED01-4129-40AA-8A59-750302B88A60}"/>
              </a:ext>
            </a:extLst>
          </p:cNvPr>
          <p:cNvSpPr/>
          <p:nvPr/>
        </p:nvSpPr>
        <p:spPr>
          <a:xfrm>
            <a:off x="4749777" y="4553714"/>
            <a:ext cx="1390650" cy="5059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KS03 – Display Cost </a:t>
            </a:r>
            <a:r>
              <a:rPr kumimoji="0" lang="en-GB" sz="10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Center</a:t>
            </a: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(Control tab)</a:t>
            </a:r>
          </a:p>
        </p:txBody>
      </p:sp>
    </p:spTree>
    <p:extLst>
      <p:ext uri="{BB962C8B-B14F-4D97-AF65-F5344CB8AC3E}">
        <p14:creationId xmlns:p14="http://schemas.microsoft.com/office/powerpoint/2010/main" val="954365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931FD7-FC7F-4A5F-B28A-D5BA7B8BCF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A01C0E9E-059A-4562-B5AA-C98C05D5E878}"/>
              </a:ext>
            </a:extLst>
          </p:cNvPr>
          <p:cNvSpPr>
            <a:spLocks noGrp="1"/>
          </p:cNvSpPr>
          <p:nvPr>
            <p:ph type="title"/>
          </p:nvPr>
        </p:nvSpPr>
        <p:spPr/>
        <p:txBody>
          <a:bodyPr/>
          <a:lstStyle/>
          <a:p>
            <a:r>
              <a:rPr lang="en-GB" dirty="0"/>
              <a:t>CC Key Master Data Fields – CC Categories</a:t>
            </a:r>
          </a:p>
        </p:txBody>
      </p:sp>
      <p:graphicFrame>
        <p:nvGraphicFramePr>
          <p:cNvPr id="10" name="Table 9">
            <a:extLst>
              <a:ext uri="{FF2B5EF4-FFF2-40B4-BE49-F238E27FC236}">
                <a16:creationId xmlns:a16="http://schemas.microsoft.com/office/drawing/2014/main" id="{EB7C6F69-FB95-4737-BA47-9F9D29DD2B20}"/>
              </a:ext>
            </a:extLst>
          </p:cNvPr>
          <p:cNvGraphicFramePr>
            <a:graphicFrameLocks noGrp="1"/>
          </p:cNvGraphicFramePr>
          <p:nvPr>
            <p:extLst>
              <p:ext uri="{D42A27DB-BD31-4B8C-83A1-F6EECF244321}">
                <p14:modId xmlns:p14="http://schemas.microsoft.com/office/powerpoint/2010/main" val="702778867"/>
              </p:ext>
            </p:extLst>
          </p:nvPr>
        </p:nvGraphicFramePr>
        <p:xfrm>
          <a:off x="579001" y="1597891"/>
          <a:ext cx="11097060" cy="4823266"/>
        </p:xfrm>
        <a:graphic>
          <a:graphicData uri="http://schemas.openxmlformats.org/drawingml/2006/table">
            <a:tbl>
              <a:tblPr firstRow="1">
                <a:effectLst>
                  <a:outerShdw blurRad="63500" sx="102000" sy="102000" algn="ctr" rotWithShape="0">
                    <a:prstClr val="black">
                      <a:alpha val="40000"/>
                    </a:prstClr>
                  </a:outerShdw>
                </a:effectLst>
                <a:tableStyleId>{00A15C55-8517-42AA-B614-E9B94910E393}</a:tableStyleId>
              </a:tblPr>
              <a:tblGrid>
                <a:gridCol w="1771026">
                  <a:extLst>
                    <a:ext uri="{9D8B030D-6E8A-4147-A177-3AD203B41FA5}">
                      <a16:colId xmlns:a16="http://schemas.microsoft.com/office/drawing/2014/main" val="3680745902"/>
                    </a:ext>
                  </a:extLst>
                </a:gridCol>
                <a:gridCol w="9326034">
                  <a:extLst>
                    <a:ext uri="{9D8B030D-6E8A-4147-A177-3AD203B41FA5}">
                      <a16:colId xmlns:a16="http://schemas.microsoft.com/office/drawing/2014/main" val="2260438660"/>
                    </a:ext>
                  </a:extLst>
                </a:gridCol>
              </a:tblGrid>
              <a:tr h="549779">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
                      <a:r>
                        <a:rPr lang="en-US" sz="1400" u="none" strike="noStrike" dirty="0">
                          <a:solidFill>
                            <a:schemeClr val="bg1"/>
                          </a:solidFill>
                          <a:effectLst/>
                        </a:rPr>
                        <a:t>CC Category</a:t>
                      </a:r>
                      <a:endParaRPr lang="en-US" sz="1400" b="1" i="0" u="none" strike="noStrike" dirty="0">
                        <a:solidFill>
                          <a:schemeClr val="bg1"/>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solidFill>
                      <a:schemeClr val="accent4">
                        <a:lumMod val="50000"/>
                      </a:schemeClr>
                    </a:solidFill>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
                      <a:r>
                        <a:rPr lang="en-US" sz="1400" u="none" strike="noStrike" dirty="0">
                          <a:solidFill>
                            <a:schemeClr val="bg1"/>
                          </a:solidFill>
                          <a:effectLst/>
                        </a:rPr>
                        <a:t>Cost Center Category description</a:t>
                      </a:r>
                      <a:endParaRPr lang="en-US" sz="1400" b="1" i="0" u="none" strike="noStrike" dirty="0">
                        <a:solidFill>
                          <a:schemeClr val="bg1"/>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4">
                        <a:lumMod val="50000"/>
                      </a:schemeClr>
                    </a:solidFill>
                  </a:tcPr>
                </a:tc>
                <a:extLst>
                  <a:ext uri="{0D108BD9-81ED-4DB2-BD59-A6C34878D82A}">
                    <a16:rowId xmlns:a16="http://schemas.microsoft.com/office/drawing/2014/main" val="191481147"/>
                  </a:ext>
                </a:extLst>
              </a:tr>
              <a:tr h="27489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u="none" strike="noStrike" dirty="0">
                          <a:effectLst/>
                        </a:rPr>
                        <a:t>AIT</a:t>
                      </a:r>
                      <a:endParaRPr lang="en-US" sz="1200" b="1" i="0" u="none" strike="noStrike" dirty="0">
                        <a:solidFill>
                          <a:srgbClr val="122632"/>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u="none" strike="noStrike" dirty="0">
                          <a:effectLst/>
                        </a:rPr>
                        <a:t>AIT category includes the following activity: Anti Illicit Trade</a:t>
                      </a:r>
                      <a:endParaRPr lang="en-US" sz="1200" b="0" i="0" u="none" strike="noStrike" dirty="0">
                        <a:solidFill>
                          <a:srgbClr val="000000"/>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82260910"/>
                  </a:ext>
                </a:extLst>
              </a:tr>
              <a:tr h="604854">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u="none" strike="noStrike" dirty="0">
                          <a:effectLst/>
                        </a:rPr>
                        <a:t>Business Development and Corporate Strategy</a:t>
                      </a:r>
                      <a:endParaRPr lang="en-US" sz="1200" b="1" i="0" u="none" strike="noStrike" dirty="0">
                        <a:solidFill>
                          <a:srgbClr val="122632"/>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u="none" strike="noStrike" dirty="0">
                          <a:effectLst/>
                        </a:rPr>
                        <a:t>Business Development and Corporate Strategy category includes the following job families / activities: Business Development (M&amp;A) &amp; Corporate Strategy</a:t>
                      </a:r>
                      <a:endParaRPr lang="en-US" sz="1200" b="0" i="0" u="none" strike="noStrike" dirty="0">
                        <a:solidFill>
                          <a:srgbClr val="000000"/>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85840203"/>
                  </a:ext>
                </a:extLst>
              </a:tr>
              <a:tr h="604854">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u="none" strike="noStrike" dirty="0">
                          <a:effectLst/>
                        </a:rPr>
                        <a:t>Corporate Affairs and Communications</a:t>
                      </a:r>
                      <a:endParaRPr lang="en-US" sz="1200" b="1" i="0" u="none" strike="noStrike" dirty="0">
                        <a:solidFill>
                          <a:srgbClr val="122632"/>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u="none" strike="noStrike" dirty="0">
                          <a:effectLst/>
                        </a:rPr>
                        <a:t>Corporate Affairs and Communications category includes the following job families / activities: Communications; Corporate Affairs; Media Relations; Government Relations; Tobacco Taxation, Corporate Sustainability </a:t>
                      </a:r>
                      <a:endParaRPr lang="en-US" sz="1200" b="0" i="0" u="none" strike="noStrike" dirty="0">
                        <a:solidFill>
                          <a:srgbClr val="000000"/>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0877567"/>
                  </a:ext>
                </a:extLst>
              </a:tr>
              <a:tr h="404591">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u="none" strike="noStrike" dirty="0">
                          <a:effectLst/>
                        </a:rPr>
                        <a:t>Finance</a:t>
                      </a:r>
                      <a:endParaRPr lang="en-US" sz="1200" b="1" i="0" u="none" strike="noStrike" dirty="0">
                        <a:solidFill>
                          <a:srgbClr val="122632"/>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u="none" strike="noStrike" dirty="0">
                          <a:effectLst/>
                        </a:rPr>
                        <a:t>Finance category includes the following job families / activities: Accounting &amp; Reporting; Audit &amp; Internal Controls;  Finance (BSC Management, CFO, Corporate Finance); Financial Planning &amp; Analysis (including Investor Relations); Tax; Treasury</a:t>
                      </a:r>
                      <a:endParaRPr lang="en-US" sz="1200" b="0" i="0" u="none" strike="noStrike" dirty="0">
                        <a:solidFill>
                          <a:srgbClr val="000000"/>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26828173"/>
                  </a:ext>
                </a:extLst>
              </a:tr>
              <a:tr h="805117">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u="none" strike="noStrike" dirty="0">
                          <a:effectLst/>
                        </a:rPr>
                        <a:t>General Management / Regional Management </a:t>
                      </a:r>
                      <a:endParaRPr lang="en-US" sz="1200" b="1" i="0" u="none" strike="noStrike" dirty="0">
                        <a:solidFill>
                          <a:srgbClr val="122632"/>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u="none" strike="noStrike" dirty="0">
                          <a:effectLst/>
                        </a:rPr>
                        <a:t>General Management &amp; Regional Management category includes the following job families / activities: General Management (GM and assistants) &amp; Regional Management (Regional VP reporting line) where a separate cost center exists and cannot be mapped into other categories</a:t>
                      </a:r>
                      <a:endParaRPr lang="en-US" sz="1200" b="0" i="0" u="none" strike="noStrike" dirty="0">
                        <a:solidFill>
                          <a:srgbClr val="000000"/>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67609199"/>
                  </a:ext>
                </a:extLst>
              </a:tr>
              <a:tr h="404591">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u="none" strike="noStrike" dirty="0">
                          <a:effectLst/>
                        </a:rPr>
                        <a:t>General Services / EHS</a:t>
                      </a:r>
                      <a:endParaRPr lang="en-US" sz="1200" b="1" i="0" u="none" strike="noStrike" dirty="0">
                        <a:solidFill>
                          <a:srgbClr val="122632"/>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u="none" strike="noStrike" dirty="0">
                          <a:effectLst/>
                        </a:rPr>
                        <a:t>General Service and EHS category includes the following job families: General Services; Environment health &amp; Safety / activities</a:t>
                      </a:r>
                      <a:endParaRPr lang="en-US" sz="1200" b="0" i="0" u="none" strike="noStrike" dirty="0">
                        <a:solidFill>
                          <a:srgbClr val="000000"/>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23938476"/>
                  </a:ext>
                </a:extLst>
              </a:tr>
              <a:tr h="805117">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u="none" strike="noStrike" dirty="0">
                          <a:effectLst/>
                        </a:rPr>
                        <a:t>GSC Operational Services</a:t>
                      </a:r>
                      <a:endParaRPr lang="en-US" sz="1200" b="1" i="0" u="none" strike="noStrike" dirty="0">
                        <a:solidFill>
                          <a:srgbClr val="122632"/>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u="none" strike="noStrike" dirty="0">
                          <a:effectLst/>
                        </a:rPr>
                        <a:t>GSC Operational Services category includes the following job families / activities within GSC: Manufacturing management; Production; Customer Services; Engineering; GSC Planning; GSC Quality; GSC RRP; Logistics &amp; Warehousing; Manufacturing; Manufacturing Services; Leaf Commercial Purchasing; Leaf Operations; Leaf Planning; Leaf Processing; Leaf Product Quality; Leaf Production; Leaf Services; Leaf Strategy &amp; New Business; Leaf Supply; Leaf Technical Quality</a:t>
                      </a:r>
                      <a:endParaRPr lang="en-US" sz="1200" b="0" i="0" u="none" strike="noStrike" dirty="0">
                        <a:solidFill>
                          <a:srgbClr val="000000"/>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24102255"/>
                  </a:ext>
                </a:extLst>
              </a:tr>
              <a:tr h="330642">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u="none" strike="noStrike" dirty="0">
                          <a:effectLst/>
                        </a:rPr>
                        <a:t>HR</a:t>
                      </a:r>
                      <a:endParaRPr lang="en-US" sz="1200" b="1" i="0" u="none" strike="noStrike" dirty="0">
                        <a:solidFill>
                          <a:srgbClr val="122632"/>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u="none" strike="noStrike" dirty="0">
                          <a:effectLst/>
                        </a:rPr>
                        <a:t>HR category includes the following job families / activities: Compensation and Benefits; Payroll; Human Resources; Talent Management. Will be described as People and Culture </a:t>
                      </a:r>
                      <a:r>
                        <a:rPr lang="en-US" sz="1200" u="none" strike="noStrike">
                          <a:effectLst/>
                        </a:rPr>
                        <a:t>going forward.</a:t>
                      </a:r>
                      <a:endParaRPr lang="en-US" sz="1200" b="0" i="0" u="none" strike="noStrike" dirty="0">
                        <a:solidFill>
                          <a:srgbClr val="000000"/>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71686117"/>
                  </a:ext>
                </a:extLst>
              </a:tr>
            </a:tbl>
          </a:graphicData>
        </a:graphic>
      </p:graphicFrame>
    </p:spTree>
    <p:extLst>
      <p:ext uri="{BB962C8B-B14F-4D97-AF65-F5344CB8AC3E}">
        <p14:creationId xmlns:p14="http://schemas.microsoft.com/office/powerpoint/2010/main" val="3850425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931FD7-FC7F-4A5F-B28A-D5BA7B8BCF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A01C0E9E-059A-4562-B5AA-C98C05D5E878}"/>
              </a:ext>
            </a:extLst>
          </p:cNvPr>
          <p:cNvSpPr>
            <a:spLocks noGrp="1"/>
          </p:cNvSpPr>
          <p:nvPr>
            <p:ph type="title"/>
          </p:nvPr>
        </p:nvSpPr>
        <p:spPr/>
        <p:txBody>
          <a:bodyPr/>
          <a:lstStyle/>
          <a:p>
            <a:r>
              <a:rPr lang="en-GB" dirty="0"/>
              <a:t>CC Key Master Data Fields – CC Categories</a:t>
            </a:r>
          </a:p>
        </p:txBody>
      </p:sp>
      <p:graphicFrame>
        <p:nvGraphicFramePr>
          <p:cNvPr id="10" name="Table 9">
            <a:extLst>
              <a:ext uri="{FF2B5EF4-FFF2-40B4-BE49-F238E27FC236}">
                <a16:creationId xmlns:a16="http://schemas.microsoft.com/office/drawing/2014/main" id="{EB7C6F69-FB95-4737-BA47-9F9D29DD2B20}"/>
              </a:ext>
            </a:extLst>
          </p:cNvPr>
          <p:cNvGraphicFramePr>
            <a:graphicFrameLocks noGrp="1"/>
          </p:cNvGraphicFramePr>
          <p:nvPr/>
        </p:nvGraphicFramePr>
        <p:xfrm>
          <a:off x="579001" y="1597890"/>
          <a:ext cx="11097060" cy="4802910"/>
        </p:xfrm>
        <a:graphic>
          <a:graphicData uri="http://schemas.openxmlformats.org/drawingml/2006/table">
            <a:tbl>
              <a:tblPr firstRow="1">
                <a:effectLst>
                  <a:outerShdw blurRad="63500" sx="102000" sy="102000" algn="ctr" rotWithShape="0">
                    <a:prstClr val="black">
                      <a:alpha val="40000"/>
                    </a:prstClr>
                  </a:outerShdw>
                </a:effectLst>
                <a:tableStyleId>{00A15C55-8517-42AA-B614-E9B94910E393}</a:tableStyleId>
              </a:tblPr>
              <a:tblGrid>
                <a:gridCol w="1771026">
                  <a:extLst>
                    <a:ext uri="{9D8B030D-6E8A-4147-A177-3AD203B41FA5}">
                      <a16:colId xmlns:a16="http://schemas.microsoft.com/office/drawing/2014/main" val="3680745902"/>
                    </a:ext>
                  </a:extLst>
                </a:gridCol>
                <a:gridCol w="9326034">
                  <a:extLst>
                    <a:ext uri="{9D8B030D-6E8A-4147-A177-3AD203B41FA5}">
                      <a16:colId xmlns:a16="http://schemas.microsoft.com/office/drawing/2014/main" val="2260438660"/>
                    </a:ext>
                  </a:extLst>
                </a:gridCol>
              </a:tblGrid>
              <a:tr h="584464">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
                      <a:r>
                        <a:rPr lang="en-US" sz="1400" u="none" strike="noStrike" dirty="0">
                          <a:solidFill>
                            <a:schemeClr val="bg1"/>
                          </a:solidFill>
                          <a:effectLst/>
                        </a:rPr>
                        <a:t>CC Category</a:t>
                      </a:r>
                      <a:endParaRPr lang="en-US" sz="1400" b="1" i="0" u="none" strike="noStrike" dirty="0">
                        <a:solidFill>
                          <a:schemeClr val="bg1"/>
                        </a:solidFill>
                        <a:effectLst/>
                        <a:latin typeface="Arial" panose="020B0604020202020204" pitchFamily="34" charset="0"/>
                      </a:endParaRPr>
                    </a:p>
                  </a:txBody>
                  <a:tcPr marL="3713" marR="3713" marT="3713" marB="0" anchor="ctr">
                    <a:lnR w="28575" cap="flat" cmpd="sng" algn="ctr">
                      <a:solidFill>
                        <a:schemeClr val="bg1"/>
                      </a:solidFill>
                      <a:prstDash val="solid"/>
                      <a:round/>
                      <a:headEnd type="none" w="med" len="med"/>
                      <a:tailEnd type="none" w="med" len="med"/>
                    </a:lnR>
                    <a:solidFill>
                      <a:schemeClr val="accent4">
                        <a:lumMod val="50000"/>
                      </a:schemeClr>
                    </a:solidFill>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
                      <a:r>
                        <a:rPr lang="en-US" sz="1400" u="none" strike="noStrike" dirty="0">
                          <a:solidFill>
                            <a:schemeClr val="bg1"/>
                          </a:solidFill>
                          <a:effectLst/>
                        </a:rPr>
                        <a:t>Cost Center Category description</a:t>
                      </a:r>
                      <a:endParaRPr lang="en-US" sz="1400" b="1" i="0" u="none" strike="noStrike" dirty="0">
                        <a:solidFill>
                          <a:schemeClr val="bg1"/>
                        </a:solidFill>
                        <a:effectLst/>
                        <a:latin typeface="Arial" panose="020B0604020202020204" pitchFamily="34" charset="0"/>
                      </a:endParaRPr>
                    </a:p>
                  </a:txBody>
                  <a:tcPr marL="3713" marR="3713" marT="371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solidFill>
                      <a:schemeClr val="accent4">
                        <a:lumMod val="50000"/>
                      </a:schemeClr>
                    </a:solidFill>
                  </a:tcPr>
                </a:tc>
                <a:extLst>
                  <a:ext uri="{0D108BD9-81ED-4DB2-BD59-A6C34878D82A}">
                    <a16:rowId xmlns:a16="http://schemas.microsoft.com/office/drawing/2014/main" val="191481147"/>
                  </a:ext>
                </a:extLst>
              </a:tr>
              <a:tr h="392783">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i="0" u="none" strike="noStrike" dirty="0">
                          <a:solidFill>
                            <a:srgbClr val="122632"/>
                          </a:solidFill>
                          <a:effectLst/>
                          <a:latin typeface="Arial" panose="020B0604020202020204" pitchFamily="34" charset="0"/>
                        </a:rPr>
                        <a:t>IT</a:t>
                      </a: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b="0" i="0" u="none" strike="noStrike" dirty="0">
                          <a:solidFill>
                            <a:srgbClr val="000000"/>
                          </a:solidFill>
                          <a:effectLst/>
                          <a:latin typeface="Arial" panose="020B0604020202020204" pitchFamily="34" charset="0"/>
                        </a:rPr>
                        <a:t>IT category includes the following job families / activities: Business Technology Services; Global Service Desk; Infrastructure; IT Development; IT Security; Technical Analysis</a:t>
                      </a:r>
                    </a:p>
                  </a:txBody>
                  <a:tcPr marL="3713" marR="3713" marT="371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382260910"/>
                  </a:ext>
                </a:extLst>
              </a:tr>
              <a:tr h="643014">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i="0" u="none" strike="noStrike" dirty="0">
                          <a:solidFill>
                            <a:srgbClr val="122632"/>
                          </a:solidFill>
                          <a:effectLst/>
                          <a:latin typeface="Arial" panose="020B0604020202020204" pitchFamily="34" charset="0"/>
                        </a:rPr>
                        <a:t>Legal / Intellectual Property / SRA</a:t>
                      </a: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b="0" i="0" u="none" strike="noStrike" dirty="0">
                          <a:solidFill>
                            <a:srgbClr val="000000"/>
                          </a:solidFill>
                          <a:effectLst/>
                          <a:latin typeface="Arial" panose="020B0604020202020204" pitchFamily="34" charset="0"/>
                        </a:rPr>
                        <a:t>Legal/ Intellectual Property/SRA category includes the following job families / activities: Intellectual Property, Legal; Regulatory Affairs (including SRA)</a:t>
                      </a:r>
                    </a:p>
                  </a:txBody>
                  <a:tcPr marL="3713" marR="3713" marT="371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985840203"/>
                  </a:ext>
                </a:extLst>
              </a:tr>
              <a:tr h="643014">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i="0" u="none" strike="noStrike" dirty="0">
                          <a:solidFill>
                            <a:srgbClr val="122632"/>
                          </a:solidFill>
                          <a:effectLst/>
                          <a:latin typeface="Arial" panose="020B0604020202020204" pitchFamily="34" charset="0"/>
                        </a:rPr>
                        <a:t>Marketing &amp; Sales</a:t>
                      </a: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b="0" i="0" u="none" strike="noStrike" dirty="0">
                          <a:solidFill>
                            <a:srgbClr val="000000"/>
                          </a:solidFill>
                          <a:effectLst/>
                          <a:latin typeface="Arial" panose="020B0604020202020204" pitchFamily="34" charset="0"/>
                        </a:rPr>
                        <a:t>Marketing &amp; Sales category includes the following job families / activities: Brand Marketing; Portfolio Strategy &amp; Innovation, Portfolio &amp; Brand Strategy; Sales (Field Sales, Key Account, Merchandiser/Sales Representative/ Sales Support); Strategic Insights; Trade Marketing (Consumer Trade Channel; Development &amp; Planning; Program Development)</a:t>
                      </a:r>
                    </a:p>
                  </a:txBody>
                  <a:tcPr marL="3713" marR="3713" marT="371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760877567"/>
                  </a:ext>
                </a:extLst>
              </a:tr>
              <a:tr h="554802">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i="0" u="none" strike="noStrike" dirty="0">
                          <a:solidFill>
                            <a:srgbClr val="122632"/>
                          </a:solidFill>
                          <a:effectLst/>
                          <a:latin typeface="Arial" panose="020B0604020202020204" pitchFamily="34" charset="0"/>
                        </a:rPr>
                        <a:t>Market Operational Services</a:t>
                      </a: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b="0" i="0" u="none" strike="noStrike" dirty="0">
                          <a:solidFill>
                            <a:srgbClr val="000000"/>
                          </a:solidFill>
                          <a:effectLst/>
                          <a:latin typeface="Arial" panose="020B0604020202020204" pitchFamily="34" charset="0"/>
                        </a:rPr>
                        <a:t>Market Operational Services category includes the following job families / activities within markets: Customer Services; Logistics &amp; Warehousing</a:t>
                      </a:r>
                    </a:p>
                  </a:txBody>
                  <a:tcPr marL="3713" marR="3713" marT="371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926828173"/>
                  </a:ext>
                </a:extLst>
              </a:tr>
              <a:tr h="608784">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i="0" u="none" strike="noStrike" dirty="0">
                          <a:solidFill>
                            <a:srgbClr val="122632"/>
                          </a:solidFill>
                          <a:effectLst/>
                          <a:latin typeface="Arial" panose="020B0604020202020204" pitchFamily="34" charset="0"/>
                        </a:rPr>
                        <a:t>Procurement and Purchasing </a:t>
                      </a: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b="0" i="0" u="none" strike="noStrike" dirty="0">
                          <a:solidFill>
                            <a:srgbClr val="000000"/>
                          </a:solidFill>
                          <a:effectLst/>
                          <a:latin typeface="Arial" panose="020B0604020202020204" pitchFamily="34" charset="0"/>
                        </a:rPr>
                        <a:t>Procurement and Purchasing category includes the following job families / activities: Procurement and Purchasing </a:t>
                      </a:r>
                    </a:p>
                  </a:txBody>
                  <a:tcPr marL="3713" marR="3713" marT="371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467609199"/>
                  </a:ext>
                </a:extLst>
              </a:tr>
              <a:tr h="520411">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i="0" u="none" strike="noStrike" dirty="0">
                          <a:solidFill>
                            <a:srgbClr val="122632"/>
                          </a:solidFill>
                          <a:effectLst/>
                          <a:latin typeface="Arial" panose="020B0604020202020204" pitchFamily="34" charset="0"/>
                        </a:rPr>
                        <a:t>R&amp;D</a:t>
                      </a: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b="0" i="0" u="none" strike="noStrike" dirty="0">
                          <a:solidFill>
                            <a:srgbClr val="000000"/>
                          </a:solidFill>
                          <a:effectLst/>
                          <a:latin typeface="Arial" panose="020B0604020202020204" pitchFamily="34" charset="0"/>
                        </a:rPr>
                        <a:t>R&amp;D category includes the following job families / activities: Global Product Specification; Packaging; Product &amp; Technology Planning; Product Development; R&amp;D Quality Assurance; R&amp;D Regional Services</a:t>
                      </a:r>
                    </a:p>
                  </a:txBody>
                  <a:tcPr marL="3713" marR="3713" marT="371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723938476"/>
                  </a:ext>
                </a:extLst>
              </a:tr>
              <a:tr h="462855">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i="0" u="none" strike="noStrike" dirty="0">
                          <a:solidFill>
                            <a:srgbClr val="122632"/>
                          </a:solidFill>
                          <a:effectLst/>
                          <a:latin typeface="Arial" panose="020B0604020202020204" pitchFamily="34" charset="0"/>
                        </a:rPr>
                        <a:t>Security / Compliance</a:t>
                      </a: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b="0" i="0" u="none" strike="noStrike" dirty="0">
                          <a:solidFill>
                            <a:srgbClr val="000000"/>
                          </a:solidFill>
                          <a:effectLst/>
                          <a:latin typeface="Arial" panose="020B0604020202020204" pitchFamily="34" charset="0"/>
                        </a:rPr>
                        <a:t>Security/Compliance category includes the following job families / activities: Security, Compliance</a:t>
                      </a:r>
                    </a:p>
                  </a:txBody>
                  <a:tcPr marL="3713" marR="3713" marT="371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324102255"/>
                  </a:ext>
                </a:extLst>
              </a:tr>
              <a:tr h="392783">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rtl="0" fontAlgn="ctr"/>
                      <a:r>
                        <a:rPr lang="en-US" sz="1200" b="1" i="0" u="none" strike="noStrike" dirty="0">
                          <a:solidFill>
                            <a:srgbClr val="122632"/>
                          </a:solidFill>
                          <a:effectLst/>
                          <a:latin typeface="Arial" panose="020B0604020202020204" pitchFamily="34" charset="0"/>
                        </a:rPr>
                        <a:t>Technical </a:t>
                      </a:r>
                    </a:p>
                  </a:txBody>
                  <a:tcPr marL="3713" marR="3713" marT="3713" marB="0" anchor="ctr">
                    <a:lnR w="28575" cap="flat" cmpd="sng" algn="ctr">
                      <a:solidFill>
                        <a:schemeClr val="bg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fontAlgn="b"/>
                      <a:r>
                        <a:rPr lang="en-US" sz="1200" b="0" i="0" u="none" strike="noStrike" dirty="0">
                          <a:solidFill>
                            <a:srgbClr val="000000"/>
                          </a:solidFill>
                          <a:effectLst/>
                          <a:latin typeface="Arial" panose="020B0604020202020204" pitchFamily="34" charset="0"/>
                        </a:rPr>
                        <a:t>Technical category includes all cost centers required for technical purposes documented in R2R GRM including income/expense from investments in associated companies, gain/loss on intercompany sales of fixed assets etc.</a:t>
                      </a:r>
                    </a:p>
                  </a:txBody>
                  <a:tcPr marL="3713" marR="3713" marT="371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4271686117"/>
                  </a:ext>
                </a:extLst>
              </a:tr>
            </a:tbl>
          </a:graphicData>
        </a:graphic>
      </p:graphicFrame>
    </p:spTree>
    <p:extLst>
      <p:ext uri="{BB962C8B-B14F-4D97-AF65-F5344CB8AC3E}">
        <p14:creationId xmlns:p14="http://schemas.microsoft.com/office/powerpoint/2010/main" val="768994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270000"/>
            <a:ext cx="12192000" cy="4981478"/>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4294967295"/>
          </p:nvPr>
        </p:nvSpPr>
        <p:spPr>
          <a:xfrm>
            <a:off x="11795125" y="6297613"/>
            <a:ext cx="396875"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 name="Group 3">
            <a:extLst>
              <a:ext uri="{FF2B5EF4-FFF2-40B4-BE49-F238E27FC236}">
                <a16:creationId xmlns:a16="http://schemas.microsoft.com/office/drawing/2014/main" id="{70D94340-C2C1-4AC4-B239-D127A63FC583}"/>
              </a:ext>
            </a:extLst>
          </p:cNvPr>
          <p:cNvGrpSpPr/>
          <p:nvPr/>
        </p:nvGrpSpPr>
        <p:grpSpPr>
          <a:xfrm>
            <a:off x="6921545" y="1779732"/>
            <a:ext cx="4754516" cy="2527166"/>
            <a:chOff x="6011091" y="1782351"/>
            <a:chExt cx="4754516" cy="2527166"/>
          </a:xfrm>
        </p:grpSpPr>
        <p:cxnSp>
          <p:nvCxnSpPr>
            <p:cNvPr id="5" name="Elbow Connector 4"/>
            <p:cNvCxnSpPr/>
            <p:nvPr/>
          </p:nvCxnSpPr>
          <p:spPr>
            <a:xfrm flipV="1">
              <a:off x="6011091" y="195391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p:cNvCxnSpPr/>
            <p:nvPr/>
          </p:nvCxnSpPr>
          <p:spPr>
            <a:xfrm>
              <a:off x="6011091" y="2844991"/>
              <a:ext cx="1521084" cy="1305726"/>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5" y="2692997"/>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771633" y="3431286"/>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4" y="3087815"/>
              <a:ext cx="309854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1A3040"/>
                  </a:solidFill>
                  <a:effectLst/>
                  <a:uLnTx/>
                  <a:uFillTx/>
                  <a:latin typeface="Arial" charset="0"/>
                  <a:ea typeface="Arial" charset="0"/>
                  <a:cs typeface="Arial" charset="0"/>
                </a:rPr>
                <a:t>Hierarchy Area</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50994" y="1782351"/>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a:ea typeface="+mn-ea"/>
                  <a:cs typeface="Arial"/>
                </a:rPr>
                <a:t>Master Data Overview</a:t>
              </a:r>
              <a:endParaRPr kumimoji="0" lang="en-US" sz="1800" b="0" i="0" u="none" strike="noStrike" kern="1200" cap="none" spc="0" normalizeH="0" baseline="0" noProof="0" dirty="0">
                <a:ln>
                  <a:noFill/>
                </a:ln>
                <a:solidFill>
                  <a:srgbClr val="FFFFFF"/>
                </a:solidFill>
                <a:effectLst/>
                <a:uLnTx/>
                <a:uFillTx/>
                <a:latin typeface="Arial"/>
                <a:ea typeface="+mn-ea"/>
                <a:cs typeface="Arial"/>
              </a:endParaRPr>
            </a:p>
          </p:txBody>
        </p:sp>
        <p:sp>
          <p:nvSpPr>
            <p:cNvPr id="41" name="Rounded Rectangle 40"/>
            <p:cNvSpPr/>
            <p:nvPr/>
          </p:nvSpPr>
          <p:spPr>
            <a:xfrm>
              <a:off x="7667064" y="2444590"/>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Cost Center Category</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2" name="Rounded Rectangle 41"/>
            <p:cNvSpPr/>
            <p:nvPr/>
          </p:nvSpPr>
          <p:spPr>
            <a:xfrm>
              <a:off x="7667064" y="3898870"/>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Functional Area</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45" name="Group 44">
            <a:extLst>
              <a:ext uri="{FF2B5EF4-FFF2-40B4-BE49-F238E27FC236}">
                <a16:creationId xmlns:a16="http://schemas.microsoft.com/office/drawing/2014/main" id="{B0525803-0167-4675-A7D0-DD30B98F4AC8}"/>
              </a:ext>
            </a:extLst>
          </p:cNvPr>
          <p:cNvGrpSpPr/>
          <p:nvPr/>
        </p:nvGrpSpPr>
        <p:grpSpPr>
          <a:xfrm>
            <a:off x="862471" y="2512382"/>
            <a:ext cx="7294886" cy="2427864"/>
            <a:chOff x="4381175" y="2883731"/>
            <a:chExt cx="7294886" cy="2427864"/>
          </a:xfrm>
        </p:grpSpPr>
        <p:grpSp>
          <p:nvGrpSpPr>
            <p:cNvPr id="46" name="Group 45">
              <a:extLst>
                <a:ext uri="{FF2B5EF4-FFF2-40B4-BE49-F238E27FC236}">
                  <a16:creationId xmlns:a16="http://schemas.microsoft.com/office/drawing/2014/main" id="{7A080C75-AE66-4737-A129-A19D4CCF5636}"/>
                </a:ext>
              </a:extLst>
            </p:cNvPr>
            <p:cNvGrpSpPr/>
            <p:nvPr/>
          </p:nvGrpSpPr>
          <p:grpSpPr>
            <a:xfrm>
              <a:off x="7444303" y="2883731"/>
              <a:ext cx="4231758" cy="2427864"/>
              <a:chOff x="7444303" y="2883731"/>
              <a:chExt cx="4231758" cy="2427864"/>
            </a:xfrm>
          </p:grpSpPr>
          <p:sp>
            <p:nvSpPr>
              <p:cNvPr id="56" name="TextBox 55">
                <a:extLst>
                  <a:ext uri="{FF2B5EF4-FFF2-40B4-BE49-F238E27FC236}">
                    <a16:creationId xmlns:a16="http://schemas.microsoft.com/office/drawing/2014/main" id="{FB57CC38-D30D-4C82-8CA1-F5193B9823DE}"/>
                  </a:ext>
                </a:extLst>
              </p:cNvPr>
              <p:cNvSpPr txBox="1"/>
              <p:nvPr/>
            </p:nvSpPr>
            <p:spPr>
              <a:xfrm>
                <a:off x="7444304" y="4756406"/>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Reporting</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57" name="Group 56">
                <a:extLst>
                  <a:ext uri="{FF2B5EF4-FFF2-40B4-BE49-F238E27FC236}">
                    <a16:creationId xmlns:a16="http://schemas.microsoft.com/office/drawing/2014/main" id="{713EE869-6EF7-4108-BFFE-AD531EE9859A}"/>
                  </a:ext>
                </a:extLst>
              </p:cNvPr>
              <p:cNvGrpSpPr/>
              <p:nvPr/>
            </p:nvGrpSpPr>
            <p:grpSpPr>
              <a:xfrm>
                <a:off x="7444303" y="2883731"/>
                <a:ext cx="4231757" cy="1393150"/>
                <a:chOff x="7444303" y="2883731"/>
                <a:chExt cx="4231757" cy="1393150"/>
              </a:xfrm>
            </p:grpSpPr>
            <p:sp>
              <p:nvSpPr>
                <p:cNvPr id="58" name="TextBox 57">
                  <a:extLst>
                    <a:ext uri="{FF2B5EF4-FFF2-40B4-BE49-F238E27FC236}">
                      <a16:creationId xmlns:a16="http://schemas.microsoft.com/office/drawing/2014/main" id="{03F514DB-13BB-456E-8A1D-12EF954B6081}"/>
                    </a:ext>
                  </a:extLst>
                </p:cNvPr>
                <p:cNvSpPr txBox="1"/>
                <p:nvPr/>
              </p:nvSpPr>
              <p:spPr>
                <a:xfrm>
                  <a:off x="7444304" y="2883731"/>
                  <a:ext cx="3566596"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Master Data</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9" name="TextBox 58">
                  <a:extLst>
                    <a:ext uri="{FF2B5EF4-FFF2-40B4-BE49-F238E27FC236}">
                      <a16:creationId xmlns:a16="http://schemas.microsoft.com/office/drawing/2014/main" id="{F7C0E423-80B7-47C2-AEB2-0E275BA2E9A8}"/>
                    </a:ext>
                  </a:extLst>
                </p:cNvPr>
                <p:cNvSpPr txBox="1"/>
                <p:nvPr/>
              </p:nvSpPr>
              <p:spPr>
                <a:xfrm>
                  <a:off x="7444303" y="3721692"/>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Cost Allocations</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9957243E-FDE2-42B9-A910-33F21981581B}"/>
                </a:ext>
              </a:extLst>
            </p:cNvPr>
            <p:cNvGrpSpPr/>
            <p:nvPr/>
          </p:nvGrpSpPr>
          <p:grpSpPr>
            <a:xfrm>
              <a:off x="4381175" y="3076671"/>
              <a:ext cx="2917844" cy="1931716"/>
              <a:chOff x="4372240" y="3074237"/>
              <a:chExt cx="2917844" cy="1931716"/>
            </a:xfrm>
          </p:grpSpPr>
          <p:cxnSp>
            <p:nvCxnSpPr>
              <p:cNvPr id="48" name="Elbow Connector 31">
                <a:extLst>
                  <a:ext uri="{FF2B5EF4-FFF2-40B4-BE49-F238E27FC236}">
                    <a16:creationId xmlns:a16="http://schemas.microsoft.com/office/drawing/2014/main" id="{F23E0B89-A689-4888-870C-00ECAC11832E}"/>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9" name="Elbow Connector 37">
                <a:extLst>
                  <a:ext uri="{FF2B5EF4-FFF2-40B4-BE49-F238E27FC236}">
                    <a16:creationId xmlns:a16="http://schemas.microsoft.com/office/drawing/2014/main" id="{87624204-F328-48B7-9F3D-08E57FBD1E46}"/>
                  </a:ext>
                </a:extLst>
              </p:cNvPr>
              <p:cNvCxnSpPr/>
              <p:nvPr/>
            </p:nvCxnSpPr>
            <p:spPr>
              <a:xfrm>
                <a:off x="6194084" y="3981604"/>
                <a:ext cx="1096000" cy="10243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23E8DBA6-2CBD-4B4D-8E07-B492AD6BB28C}"/>
                  </a:ext>
                </a:extLst>
              </p:cNvPr>
              <p:cNvGrpSpPr/>
              <p:nvPr/>
            </p:nvGrpSpPr>
            <p:grpSpPr>
              <a:xfrm>
                <a:off x="4372240" y="3074237"/>
                <a:ext cx="1850100" cy="1850100"/>
                <a:chOff x="4401574" y="3295146"/>
                <a:chExt cx="624164" cy="624164"/>
              </a:xfrm>
            </p:grpSpPr>
            <p:grpSp>
              <p:nvGrpSpPr>
                <p:cNvPr id="52" name="Group 51">
                  <a:extLst>
                    <a:ext uri="{FF2B5EF4-FFF2-40B4-BE49-F238E27FC236}">
                      <a16:creationId xmlns:a16="http://schemas.microsoft.com/office/drawing/2014/main" id="{DB399AF9-DDAE-4F1C-90E3-67F9F928F9F7}"/>
                    </a:ext>
                  </a:extLst>
                </p:cNvPr>
                <p:cNvGrpSpPr/>
                <p:nvPr/>
              </p:nvGrpSpPr>
              <p:grpSpPr>
                <a:xfrm>
                  <a:off x="4401574" y="3295146"/>
                  <a:ext cx="624164" cy="624164"/>
                  <a:chOff x="4492144" y="190843"/>
                  <a:chExt cx="855656" cy="855656"/>
                </a:xfrm>
              </p:grpSpPr>
              <p:sp>
                <p:nvSpPr>
                  <p:cNvPr id="54" name="Oval 53">
                    <a:extLst>
                      <a:ext uri="{FF2B5EF4-FFF2-40B4-BE49-F238E27FC236}">
                        <a16:creationId xmlns:a16="http://schemas.microsoft.com/office/drawing/2014/main" id="{C49CB802-34A4-471C-AE1A-47EA7F69286C}"/>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Oval 54">
                    <a:extLst>
                      <a:ext uri="{FF2B5EF4-FFF2-40B4-BE49-F238E27FC236}">
                        <a16:creationId xmlns:a16="http://schemas.microsoft.com/office/drawing/2014/main" id="{49893C62-0AE6-4AF3-8535-B312A105DCCD}"/>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3" name="Picture 52">
                  <a:extLst>
                    <a:ext uri="{FF2B5EF4-FFF2-40B4-BE49-F238E27FC236}">
                      <a16:creationId xmlns:a16="http://schemas.microsoft.com/office/drawing/2014/main" id="{5F2564E2-9269-4D5B-AA6D-6A5F9377BC1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cxnSp>
            <p:nvCxnSpPr>
              <p:cNvPr id="51" name="Straight Connector 50">
                <a:extLst>
                  <a:ext uri="{FF2B5EF4-FFF2-40B4-BE49-F238E27FC236}">
                    <a16:creationId xmlns:a16="http://schemas.microsoft.com/office/drawing/2014/main" id="{CBAADA70-7870-4E06-A283-67C06B47A00C}"/>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sp>
        <p:nvSpPr>
          <p:cNvPr id="10" name="Title 33">
            <a:extLst>
              <a:ext uri="{FF2B5EF4-FFF2-40B4-BE49-F238E27FC236}">
                <a16:creationId xmlns:a16="http://schemas.microsoft.com/office/drawing/2014/main" id="{5E1D5695-996A-8B94-360A-0A44C5A361E8}"/>
              </a:ext>
            </a:extLst>
          </p:cNvPr>
          <p:cNvSpPr txBox="1">
            <a:spLocks/>
          </p:cNvSpPr>
          <p:nvPr/>
        </p:nvSpPr>
        <p:spPr>
          <a:xfrm>
            <a:off x="515939" y="210344"/>
            <a:ext cx="9898061" cy="984247"/>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4400" b="1" kern="1200" cap="all" baseline="0">
                <a:solidFill>
                  <a:schemeClr val="bg1"/>
                </a:solidFill>
                <a:latin typeface="+mj-lt"/>
                <a:ea typeface="+mj-ea"/>
                <a:cs typeface="+mj-cs"/>
              </a:defRPr>
            </a:lvl1pPr>
          </a:lstStyle>
          <a:p>
            <a:r>
              <a:rPr kumimoji="0" lang="en-GB" sz="3200" b="1" i="0" u="none" strike="noStrike" kern="1200" cap="none" spc="0" normalizeH="0" baseline="0" noProof="0" dirty="0">
                <a:ln>
                  <a:noFill/>
                </a:ln>
                <a:solidFill>
                  <a:srgbClr val="000000"/>
                </a:solidFill>
                <a:effectLst/>
                <a:uLnTx/>
                <a:uFillTx/>
                <a:latin typeface="Arial" panose="020B0604020202020204"/>
                <a:ea typeface="+mj-ea"/>
                <a:cs typeface="+mj-cs"/>
              </a:rPr>
              <a:t>Course Structure</a:t>
            </a:r>
            <a:endParaRPr lang="en-GB" dirty="0">
              <a:solidFill>
                <a:schemeClr val="tx1"/>
              </a:solidFill>
            </a:endParaRPr>
          </a:p>
        </p:txBody>
      </p:sp>
    </p:spTree>
    <p:extLst>
      <p:ext uri="{BB962C8B-B14F-4D97-AF65-F5344CB8AC3E}">
        <p14:creationId xmlns:p14="http://schemas.microsoft.com/office/powerpoint/2010/main" val="2477690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931FD7-FC7F-4A5F-B28A-D5BA7B8BCF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A01C0E9E-059A-4562-B5AA-C98C05D5E878}"/>
              </a:ext>
            </a:extLst>
          </p:cNvPr>
          <p:cNvSpPr>
            <a:spLocks noGrp="1"/>
          </p:cNvSpPr>
          <p:nvPr>
            <p:ph type="title"/>
          </p:nvPr>
        </p:nvSpPr>
        <p:spPr/>
        <p:txBody>
          <a:bodyPr/>
          <a:lstStyle/>
          <a:p>
            <a:r>
              <a:rPr lang="en-GB" dirty="0"/>
              <a:t>CC Key Master Data Fields – Hierarchy/Company Code</a:t>
            </a:r>
          </a:p>
        </p:txBody>
      </p:sp>
      <p:pic>
        <p:nvPicPr>
          <p:cNvPr id="6" name="Picture 5">
            <a:extLst>
              <a:ext uri="{FF2B5EF4-FFF2-40B4-BE49-F238E27FC236}">
                <a16:creationId xmlns:a16="http://schemas.microsoft.com/office/drawing/2014/main" id="{0DECE023-DC38-4CA2-A0C4-2F7F84BC69BD}"/>
              </a:ext>
            </a:extLst>
          </p:cNvPr>
          <p:cNvPicPr>
            <a:picLocks noChangeAspect="1"/>
          </p:cNvPicPr>
          <p:nvPr/>
        </p:nvPicPr>
        <p:blipFill>
          <a:blip r:embed="rId3"/>
          <a:stretch>
            <a:fillRect/>
          </a:stretch>
        </p:blipFill>
        <p:spPr>
          <a:xfrm>
            <a:off x="515939" y="1437910"/>
            <a:ext cx="5580061" cy="5368253"/>
          </a:xfrm>
          <a:prstGeom prst="rect">
            <a:avLst/>
          </a:prstGeom>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E263D21D-33B8-488E-9F39-CC7F9650E93C}"/>
              </a:ext>
            </a:extLst>
          </p:cNvPr>
          <p:cNvSpPr/>
          <p:nvPr/>
        </p:nvSpPr>
        <p:spPr>
          <a:xfrm>
            <a:off x="6489189" y="3576070"/>
            <a:ext cx="5363007" cy="2203236"/>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As a structural master data,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each cost center is created within a company code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(and can only be linked to one company code)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and assigned to the Cost Center Standard Hierarchy</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There is only one CC Standard Hierarchy within a Controlling Area.</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The field “Hierarchy area” indicates the node where the cost center is assigned to in the Cost Center Standard Hierarchy.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As Company Codes are assigned to Controlling Area according to the organizational levels in SAP, the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company code currency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becomes the currency of a cost center. This is shown as “object currency” in Cost Center reports. It is not possible to change the CC Currency as it is inherited from the company code.</a:t>
            </a:r>
          </a:p>
        </p:txBody>
      </p:sp>
      <p:sp>
        <p:nvSpPr>
          <p:cNvPr id="14" name="Arrow: Right 13">
            <a:extLst>
              <a:ext uri="{FF2B5EF4-FFF2-40B4-BE49-F238E27FC236}">
                <a16:creationId xmlns:a16="http://schemas.microsoft.com/office/drawing/2014/main" id="{F01A9962-345B-4F0E-832C-F8583FC8C000}"/>
              </a:ext>
            </a:extLst>
          </p:cNvPr>
          <p:cNvSpPr/>
          <p:nvPr/>
        </p:nvSpPr>
        <p:spPr>
          <a:xfrm>
            <a:off x="5774711" y="4089058"/>
            <a:ext cx="642574" cy="712501"/>
          </a:xfrm>
          <a:prstGeom prst="rightArrow">
            <a:avLst>
              <a:gd name="adj1" fmla="val 50000"/>
              <a:gd name="adj2" fmla="val 30275"/>
            </a:avLst>
          </a:prstGeom>
          <a:gradFill flip="none" rotWithShape="1">
            <a:gsLst>
              <a:gs pos="0">
                <a:srgbClr val="00B050"/>
              </a:gs>
              <a:gs pos="50000">
                <a:srgbClr val="92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E0856DBD-F7AF-418C-94D1-654DC160911F}"/>
              </a:ext>
            </a:extLst>
          </p:cNvPr>
          <p:cNvSpPr/>
          <p:nvPr/>
        </p:nvSpPr>
        <p:spPr>
          <a:xfrm>
            <a:off x="1695860" y="4971151"/>
            <a:ext cx="1524300" cy="44893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AD17EC0E-F6D4-4311-8485-4E116E7FA31C}"/>
              </a:ext>
            </a:extLst>
          </p:cNvPr>
          <p:cNvSpPr/>
          <p:nvPr/>
        </p:nvSpPr>
        <p:spPr>
          <a:xfrm>
            <a:off x="1695860" y="5918202"/>
            <a:ext cx="1524300" cy="205507"/>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9DCC5A60-688C-4B3F-A907-54AE078DE1C2}"/>
              </a:ext>
            </a:extLst>
          </p:cNvPr>
          <p:cNvPicPr>
            <a:picLocks noChangeAspect="1"/>
          </p:cNvPicPr>
          <p:nvPr/>
        </p:nvPicPr>
        <p:blipFill>
          <a:blip r:embed="rId4"/>
          <a:stretch>
            <a:fillRect/>
          </a:stretch>
        </p:blipFill>
        <p:spPr>
          <a:xfrm>
            <a:off x="3597188" y="1786144"/>
            <a:ext cx="2089455" cy="3713018"/>
          </a:xfrm>
          <a:prstGeom prst="rect">
            <a:avLst/>
          </a:prstGeom>
          <a:effectLst>
            <a:outerShdw blurRad="50800" dist="38100" dir="2700000" algn="tl" rotWithShape="0">
              <a:prstClr val="black">
                <a:alpha val="40000"/>
              </a:prstClr>
            </a:outerShdw>
          </a:effectLst>
        </p:spPr>
      </p:pic>
      <p:sp>
        <p:nvSpPr>
          <p:cNvPr id="13" name="Rectangle 12">
            <a:extLst>
              <a:ext uri="{FF2B5EF4-FFF2-40B4-BE49-F238E27FC236}">
                <a16:creationId xmlns:a16="http://schemas.microsoft.com/office/drawing/2014/main" id="{626AB88D-2D1A-41FC-A657-FDBFB662E485}"/>
              </a:ext>
            </a:extLst>
          </p:cNvPr>
          <p:cNvSpPr/>
          <p:nvPr/>
        </p:nvSpPr>
        <p:spPr>
          <a:xfrm>
            <a:off x="1695860" y="6194767"/>
            <a:ext cx="1524300" cy="205507"/>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2" name="Picture 11">
            <a:extLst>
              <a:ext uri="{FF2B5EF4-FFF2-40B4-BE49-F238E27FC236}">
                <a16:creationId xmlns:a16="http://schemas.microsoft.com/office/drawing/2014/main" id="{3E371BFD-751A-42D3-94B3-C02015652545}"/>
              </a:ext>
            </a:extLst>
          </p:cNvPr>
          <p:cNvPicPr>
            <a:picLocks noChangeAspect="1"/>
          </p:cNvPicPr>
          <p:nvPr/>
        </p:nvPicPr>
        <p:blipFill>
          <a:blip r:embed="rId5"/>
          <a:stretch>
            <a:fillRect/>
          </a:stretch>
        </p:blipFill>
        <p:spPr>
          <a:xfrm>
            <a:off x="6272135" y="1655179"/>
            <a:ext cx="5580061" cy="175093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5" name="TextBox 14">
            <a:extLst>
              <a:ext uri="{FF2B5EF4-FFF2-40B4-BE49-F238E27FC236}">
                <a16:creationId xmlns:a16="http://schemas.microsoft.com/office/drawing/2014/main" id="{D1F7095B-034A-408B-8DD7-0F3293256373}"/>
              </a:ext>
            </a:extLst>
          </p:cNvPr>
          <p:cNvSpPr txBox="1"/>
          <p:nvPr/>
        </p:nvSpPr>
        <p:spPr>
          <a:xfrm>
            <a:off x="7998691" y="1418201"/>
            <a:ext cx="2678545" cy="31573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dirty="0">
                <a:ln>
                  <a:noFill/>
                </a:ln>
                <a:solidFill>
                  <a:srgbClr val="000000"/>
                </a:solidFill>
                <a:effectLst/>
                <a:uLnTx/>
                <a:uFillTx/>
                <a:latin typeface="Arial" panose="020B0604020202020204"/>
                <a:ea typeface="+mn-ea"/>
                <a:cs typeface="+mn-cs"/>
              </a:rPr>
              <a:t>Organizational Levels in SAP</a:t>
            </a:r>
          </a:p>
        </p:txBody>
      </p:sp>
      <p:sp>
        <p:nvSpPr>
          <p:cNvPr id="17" name="Rectangle 16">
            <a:extLst>
              <a:ext uri="{FF2B5EF4-FFF2-40B4-BE49-F238E27FC236}">
                <a16:creationId xmlns:a16="http://schemas.microsoft.com/office/drawing/2014/main" id="{573BFA86-FE6F-4C79-8535-0823968C83AB}"/>
              </a:ext>
            </a:extLst>
          </p:cNvPr>
          <p:cNvSpPr/>
          <p:nvPr/>
        </p:nvSpPr>
        <p:spPr>
          <a:xfrm>
            <a:off x="6489189" y="5918202"/>
            <a:ext cx="5363007" cy="605548"/>
          </a:xfrm>
          <a:prstGeom prst="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Every Cost Center is assigned to one Profit Center only. According to S/4 PC structure, a CC is assigned to the PC which represent the market/function/factory that the CC belongs to.</a:t>
            </a:r>
          </a:p>
        </p:txBody>
      </p:sp>
      <p:sp>
        <p:nvSpPr>
          <p:cNvPr id="18" name="Arrow: Right 17">
            <a:extLst>
              <a:ext uri="{FF2B5EF4-FFF2-40B4-BE49-F238E27FC236}">
                <a16:creationId xmlns:a16="http://schemas.microsoft.com/office/drawing/2014/main" id="{F0B42F38-51F6-4D21-979A-41D1C1F973C3}"/>
              </a:ext>
            </a:extLst>
          </p:cNvPr>
          <p:cNvSpPr/>
          <p:nvPr/>
        </p:nvSpPr>
        <p:spPr>
          <a:xfrm>
            <a:off x="4673596" y="5950145"/>
            <a:ext cx="1708727" cy="712501"/>
          </a:xfrm>
          <a:prstGeom prst="rightArrow">
            <a:avLst>
              <a:gd name="adj1" fmla="val 50000"/>
              <a:gd name="adj2" fmla="val 30275"/>
            </a:avLst>
          </a:prstGeom>
          <a:gradFill flip="none" rotWithShape="1">
            <a:gsLst>
              <a:gs pos="0">
                <a:schemeClr val="accent5">
                  <a:lumMod val="75000"/>
                </a:schemeClr>
              </a:gs>
              <a:gs pos="50000">
                <a:schemeClr val="accent5">
                  <a:lumMod val="40000"/>
                  <a:lumOff val="60000"/>
                </a:schemeClr>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0" name="Straight Arrow Connector 19">
            <a:extLst>
              <a:ext uri="{FF2B5EF4-FFF2-40B4-BE49-F238E27FC236}">
                <a16:creationId xmlns:a16="http://schemas.microsoft.com/office/drawing/2014/main" id="{281FE5D0-7078-4496-903B-97935FC54B55}"/>
              </a:ext>
            </a:extLst>
          </p:cNvPr>
          <p:cNvCxnSpPr>
            <a:cxnSpLocks/>
          </p:cNvCxnSpPr>
          <p:nvPr/>
        </p:nvCxnSpPr>
        <p:spPr>
          <a:xfrm flipV="1">
            <a:off x="2881745" y="2078182"/>
            <a:ext cx="731604" cy="2892969"/>
          </a:xfrm>
          <a:prstGeom prst="straightConnector1">
            <a:avLst/>
          </a:prstGeom>
          <a:noFill/>
          <a:ln w="28575">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1" name="Rectangle: Rounded Corners 20">
            <a:extLst>
              <a:ext uri="{FF2B5EF4-FFF2-40B4-BE49-F238E27FC236}">
                <a16:creationId xmlns:a16="http://schemas.microsoft.com/office/drawing/2014/main" id="{B4082E52-5AAD-4C4A-8173-C8E3184AC7F0}"/>
              </a:ext>
            </a:extLst>
          </p:cNvPr>
          <p:cNvSpPr/>
          <p:nvPr/>
        </p:nvSpPr>
        <p:spPr>
          <a:xfrm>
            <a:off x="4876799" y="1462834"/>
            <a:ext cx="1219199" cy="159982"/>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KS03 – Display CC</a:t>
            </a:r>
          </a:p>
        </p:txBody>
      </p:sp>
    </p:spTree>
    <p:extLst>
      <p:ext uri="{BB962C8B-B14F-4D97-AF65-F5344CB8AC3E}">
        <p14:creationId xmlns:p14="http://schemas.microsoft.com/office/powerpoint/2010/main" val="2690549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418A54-1DFD-467A-BFE0-F620A7445424}"/>
              </a:ext>
            </a:extLst>
          </p:cNvPr>
          <p:cNvPicPr>
            <a:picLocks noChangeAspect="1"/>
          </p:cNvPicPr>
          <p:nvPr/>
        </p:nvPicPr>
        <p:blipFill>
          <a:blip r:embed="rId2"/>
          <a:stretch>
            <a:fillRect/>
          </a:stretch>
        </p:blipFill>
        <p:spPr>
          <a:xfrm>
            <a:off x="479686" y="1373691"/>
            <a:ext cx="3612023" cy="5364917"/>
          </a:xfrm>
          <a:prstGeom prst="rect">
            <a:avLst/>
          </a:prstGeom>
          <a:effectLst>
            <a:outerShdw blurRad="50800" dist="38100" dir="2700000" algn="tl" rotWithShape="0">
              <a:prstClr val="black">
                <a:alpha val="40000"/>
              </a:prstClr>
            </a:outerShdw>
          </a:effectLst>
        </p:spPr>
      </p:pic>
      <p:sp>
        <p:nvSpPr>
          <p:cNvPr id="3" name="Slide Number Placeholder 2">
            <a:extLst>
              <a:ext uri="{FF2B5EF4-FFF2-40B4-BE49-F238E27FC236}">
                <a16:creationId xmlns:a16="http://schemas.microsoft.com/office/drawing/2014/main" id="{14976B9C-C239-4634-8E15-8E92C71358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3238ABDD-74E1-4DE2-8DA5-184DB3EDC29E}"/>
              </a:ext>
            </a:extLst>
          </p:cNvPr>
          <p:cNvSpPr>
            <a:spLocks noGrp="1"/>
          </p:cNvSpPr>
          <p:nvPr>
            <p:ph type="title"/>
          </p:nvPr>
        </p:nvSpPr>
        <p:spPr/>
        <p:txBody>
          <a:bodyPr/>
          <a:lstStyle/>
          <a:p>
            <a:r>
              <a:rPr lang="en-GB" dirty="0"/>
              <a:t>Cost Center Standard Hierarchy</a:t>
            </a:r>
          </a:p>
        </p:txBody>
      </p:sp>
      <p:sp>
        <p:nvSpPr>
          <p:cNvPr id="16" name="Rectangle 15">
            <a:extLst>
              <a:ext uri="{FF2B5EF4-FFF2-40B4-BE49-F238E27FC236}">
                <a16:creationId xmlns:a16="http://schemas.microsoft.com/office/drawing/2014/main" id="{692F0B24-E6E9-4C92-BCDF-6143A2631DE0}"/>
              </a:ext>
            </a:extLst>
          </p:cNvPr>
          <p:cNvSpPr/>
          <p:nvPr/>
        </p:nvSpPr>
        <p:spPr>
          <a:xfrm>
            <a:off x="462721" y="1384623"/>
            <a:ext cx="2824564" cy="252791"/>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325192C3-02A3-41F2-85F9-62553C73AEE9}"/>
              </a:ext>
            </a:extLst>
          </p:cNvPr>
          <p:cNvSpPr txBox="1"/>
          <p:nvPr/>
        </p:nvSpPr>
        <p:spPr>
          <a:xfrm>
            <a:off x="6198781" y="1384623"/>
            <a:ext cx="4295554" cy="67809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err="1">
              <a:ln>
                <a:noFill/>
              </a:ln>
              <a:solidFill>
                <a:srgbClr val="000000"/>
              </a:solidFill>
              <a:effectLst/>
              <a:uLnTx/>
              <a:uFillTx/>
              <a:latin typeface="Arial" panose="020B0604020202020204"/>
              <a:ea typeface="+mn-ea"/>
              <a:cs typeface="+mn-cs"/>
            </a:endParaRPr>
          </a:p>
        </p:txBody>
      </p:sp>
      <p:sp>
        <p:nvSpPr>
          <p:cNvPr id="30" name="Arrow: Right 29">
            <a:extLst>
              <a:ext uri="{FF2B5EF4-FFF2-40B4-BE49-F238E27FC236}">
                <a16:creationId xmlns:a16="http://schemas.microsoft.com/office/drawing/2014/main" id="{C1B2F7C8-8384-4D49-B16C-03DA52787CB1}"/>
              </a:ext>
            </a:extLst>
          </p:cNvPr>
          <p:cNvSpPr/>
          <p:nvPr/>
        </p:nvSpPr>
        <p:spPr>
          <a:xfrm>
            <a:off x="3346354" y="1420640"/>
            <a:ext cx="1321339" cy="180756"/>
          </a:xfrm>
          <a:prstGeom prst="rightArrow">
            <a:avLst/>
          </a:prstGeom>
          <a:gradFill flip="none" rotWithShape="1">
            <a:gsLst>
              <a:gs pos="0">
                <a:srgbClr val="00B0F0"/>
              </a:gs>
              <a:gs pos="50000">
                <a:srgbClr val="00B0F0">
                  <a:tint val="44500"/>
                  <a:satMod val="160000"/>
                </a:srgbClr>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1" name="TextBox 30">
            <a:extLst>
              <a:ext uri="{FF2B5EF4-FFF2-40B4-BE49-F238E27FC236}">
                <a16:creationId xmlns:a16="http://schemas.microsoft.com/office/drawing/2014/main" id="{4E935E26-E0E3-4D60-A756-32A572767953}"/>
              </a:ext>
            </a:extLst>
          </p:cNvPr>
          <p:cNvSpPr txBox="1"/>
          <p:nvPr/>
        </p:nvSpPr>
        <p:spPr>
          <a:xfrm>
            <a:off x="4726762" y="1393540"/>
            <a:ext cx="6949299" cy="362724"/>
          </a:xfrm>
          <a:prstGeom prst="rect">
            <a:avLst/>
          </a:prstGeom>
          <a:noFill/>
          <a:ln w="19050">
            <a:solidFill>
              <a:srgbClr val="00B0F0"/>
            </a:solidFill>
            <a:prstDash val="sysDash"/>
          </a:ln>
        </p:spPr>
        <p:txBody>
          <a:bodyPr wrap="square" lIns="72000" tIns="72000" rIns="72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The CC Standard Hierarchy “JTI” has all CCs assigned to a node within it. </a:t>
            </a:r>
          </a:p>
        </p:txBody>
      </p:sp>
      <p:sp>
        <p:nvSpPr>
          <p:cNvPr id="32" name="Rectangle 31">
            <a:extLst>
              <a:ext uri="{FF2B5EF4-FFF2-40B4-BE49-F238E27FC236}">
                <a16:creationId xmlns:a16="http://schemas.microsoft.com/office/drawing/2014/main" id="{8BB43A4D-4242-4C0A-9B19-6D20FD5692F0}"/>
              </a:ext>
            </a:extLst>
          </p:cNvPr>
          <p:cNvSpPr/>
          <p:nvPr/>
        </p:nvSpPr>
        <p:spPr>
          <a:xfrm>
            <a:off x="705684" y="1756264"/>
            <a:ext cx="2581601" cy="252791"/>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Arrow: Right 32">
            <a:extLst>
              <a:ext uri="{FF2B5EF4-FFF2-40B4-BE49-F238E27FC236}">
                <a16:creationId xmlns:a16="http://schemas.microsoft.com/office/drawing/2014/main" id="{74A5BCF5-FD22-4494-9E7D-49375D19427A}"/>
              </a:ext>
            </a:extLst>
          </p:cNvPr>
          <p:cNvSpPr/>
          <p:nvPr/>
        </p:nvSpPr>
        <p:spPr>
          <a:xfrm>
            <a:off x="3346354" y="1828299"/>
            <a:ext cx="1975830" cy="180756"/>
          </a:xfrm>
          <a:prstGeom prst="rightArrow">
            <a:avLst/>
          </a:prstGeom>
          <a:gradFill>
            <a:gsLst>
              <a:gs pos="0">
                <a:srgbClr val="92D050"/>
              </a:gs>
              <a:gs pos="50000">
                <a:srgbClr val="C4E59F"/>
              </a:gs>
              <a:gs pos="100000">
                <a:schemeClr val="bg1"/>
              </a:gs>
            </a:gsLst>
            <a:lin ang="8100000" scaled="0"/>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TextBox 33">
            <a:extLst>
              <a:ext uri="{FF2B5EF4-FFF2-40B4-BE49-F238E27FC236}">
                <a16:creationId xmlns:a16="http://schemas.microsoft.com/office/drawing/2014/main" id="{C7B479F4-1E49-4DEB-AA0B-D3224057B739}"/>
              </a:ext>
            </a:extLst>
          </p:cNvPr>
          <p:cNvSpPr txBox="1"/>
          <p:nvPr/>
        </p:nvSpPr>
        <p:spPr>
          <a:xfrm>
            <a:off x="5417889" y="1834563"/>
            <a:ext cx="6258172" cy="1010237"/>
          </a:xfrm>
          <a:prstGeom prst="rect">
            <a:avLst/>
          </a:prstGeom>
          <a:noFill/>
          <a:ln w="19050">
            <a:solidFill>
              <a:srgbClr val="92D050"/>
            </a:solidFill>
            <a:prstDash val="sysDash"/>
          </a:ln>
        </p:spPr>
        <p:txBody>
          <a:bodyPr wrap="square" lIns="72000" tIns="72000" rIns="72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The highest level nodes within the hierarchy represent Regions. E.g. 101- Western Europe, 102-Eastern Europe, 103-Meneat, 104-Americas,105-Asia Pacific, 106-HQ and 108-Technical. This is the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same as in PC </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Standard Hierarchy.</a:t>
            </a:r>
          </a:p>
        </p:txBody>
      </p:sp>
      <p:sp>
        <p:nvSpPr>
          <p:cNvPr id="35" name="Rectangle 34">
            <a:extLst>
              <a:ext uri="{FF2B5EF4-FFF2-40B4-BE49-F238E27FC236}">
                <a16:creationId xmlns:a16="http://schemas.microsoft.com/office/drawing/2014/main" id="{69832120-2632-4ABC-9857-1232F25296AC}"/>
              </a:ext>
            </a:extLst>
          </p:cNvPr>
          <p:cNvSpPr/>
          <p:nvPr/>
        </p:nvSpPr>
        <p:spPr>
          <a:xfrm>
            <a:off x="945440" y="2482146"/>
            <a:ext cx="1859125" cy="1711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 name="Rectangle 35">
            <a:extLst>
              <a:ext uri="{FF2B5EF4-FFF2-40B4-BE49-F238E27FC236}">
                <a16:creationId xmlns:a16="http://schemas.microsoft.com/office/drawing/2014/main" id="{3C8A25C8-F816-4031-8EA1-94E110B21668}"/>
              </a:ext>
            </a:extLst>
          </p:cNvPr>
          <p:cNvSpPr/>
          <p:nvPr/>
        </p:nvSpPr>
        <p:spPr>
          <a:xfrm>
            <a:off x="953777" y="2772029"/>
            <a:ext cx="1954829" cy="927303"/>
          </a:xfrm>
          <a:prstGeom prst="rect">
            <a:avLst/>
          </a:prstGeom>
          <a:noFill/>
          <a:ln w="190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9" name="Rectangle 38">
            <a:extLst>
              <a:ext uri="{FF2B5EF4-FFF2-40B4-BE49-F238E27FC236}">
                <a16:creationId xmlns:a16="http://schemas.microsoft.com/office/drawing/2014/main" id="{1774BADA-3890-4214-99A4-C44AAE3D4630}"/>
              </a:ext>
            </a:extLst>
          </p:cNvPr>
          <p:cNvSpPr/>
          <p:nvPr/>
        </p:nvSpPr>
        <p:spPr>
          <a:xfrm>
            <a:off x="953776" y="3843749"/>
            <a:ext cx="1859125" cy="19254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1" name="Rectangle 40">
            <a:extLst>
              <a:ext uri="{FF2B5EF4-FFF2-40B4-BE49-F238E27FC236}">
                <a16:creationId xmlns:a16="http://schemas.microsoft.com/office/drawing/2014/main" id="{4F10DA72-5DE0-44D9-BB0C-35A97BF16AD1}"/>
              </a:ext>
            </a:extLst>
          </p:cNvPr>
          <p:cNvSpPr/>
          <p:nvPr/>
        </p:nvSpPr>
        <p:spPr>
          <a:xfrm>
            <a:off x="945439" y="4215391"/>
            <a:ext cx="1859125" cy="1711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D10C13C8-5F66-4F1F-9F9F-FAF266FE107B}"/>
              </a:ext>
            </a:extLst>
          </p:cNvPr>
          <p:cNvSpPr txBox="1"/>
          <p:nvPr/>
        </p:nvSpPr>
        <p:spPr>
          <a:xfrm>
            <a:off x="5417889" y="3642488"/>
            <a:ext cx="6258172" cy="1488042"/>
          </a:xfrm>
          <a:prstGeom prst="rect">
            <a:avLst/>
          </a:prstGeom>
          <a:noFill/>
          <a:ln w="19050">
            <a:solidFill>
              <a:srgbClr val="FF0000"/>
            </a:solidFill>
            <a:prstDash val="sysDash"/>
          </a:ln>
        </p:spPr>
        <p:txBody>
          <a:bodyPr wrap="square" lIns="72000" tIns="72000" rIns="72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The next level under Region may represent directly the Market/Function, such as AT00, CH00, etc. or a sub-region, e.g. in the cases of 228-Iberia and </a:t>
            </a: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231-Baltics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Here you may also have groups of Non-Core PCs within a region, e.g. 201-WE Non-Core. Again this is the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same as in PC </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Standard Hierarchy.</a:t>
            </a:r>
          </a:p>
        </p:txBody>
      </p:sp>
      <p:sp>
        <p:nvSpPr>
          <p:cNvPr id="43" name="Arrow: Right 42">
            <a:extLst>
              <a:ext uri="{FF2B5EF4-FFF2-40B4-BE49-F238E27FC236}">
                <a16:creationId xmlns:a16="http://schemas.microsoft.com/office/drawing/2014/main" id="{CCFCF198-16C9-419E-BEC4-F496CF88DFD7}"/>
              </a:ext>
            </a:extLst>
          </p:cNvPr>
          <p:cNvSpPr/>
          <p:nvPr/>
        </p:nvSpPr>
        <p:spPr>
          <a:xfrm>
            <a:off x="2956459" y="3849906"/>
            <a:ext cx="2413578" cy="180756"/>
          </a:xfrm>
          <a:prstGeom prst="rightArrow">
            <a:avLst/>
          </a:prstGeom>
          <a:gradFill>
            <a:gsLst>
              <a:gs pos="0">
                <a:srgbClr val="FF0000"/>
              </a:gs>
              <a:gs pos="50000">
                <a:srgbClr val="FFD1D1"/>
              </a:gs>
              <a:gs pos="100000">
                <a:schemeClr val="bg1"/>
              </a:gs>
            </a:gsLst>
            <a:lin ang="8100000" scaled="0"/>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Arrow: Right 43">
            <a:extLst>
              <a:ext uri="{FF2B5EF4-FFF2-40B4-BE49-F238E27FC236}">
                <a16:creationId xmlns:a16="http://schemas.microsoft.com/office/drawing/2014/main" id="{77990472-32DC-4A61-A68A-E7ADE133FAB3}"/>
              </a:ext>
            </a:extLst>
          </p:cNvPr>
          <p:cNvSpPr/>
          <p:nvPr/>
        </p:nvSpPr>
        <p:spPr>
          <a:xfrm>
            <a:off x="2956459" y="4844906"/>
            <a:ext cx="2413578" cy="180756"/>
          </a:xfrm>
          <a:prstGeom prst="rightArrow">
            <a:avLst/>
          </a:prstGeom>
          <a:gradFill>
            <a:gsLst>
              <a:gs pos="0">
                <a:srgbClr val="FF0000"/>
              </a:gs>
              <a:gs pos="50000">
                <a:srgbClr val="FFD1D1"/>
              </a:gs>
              <a:gs pos="100000">
                <a:schemeClr val="bg1"/>
              </a:gs>
            </a:gsLst>
            <a:lin ang="8100000" scaled="0"/>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Rectangle 44">
            <a:extLst>
              <a:ext uri="{FF2B5EF4-FFF2-40B4-BE49-F238E27FC236}">
                <a16:creationId xmlns:a16="http://schemas.microsoft.com/office/drawing/2014/main" id="{34949CD1-6813-4E4A-A767-70E57BD9D3B8}"/>
              </a:ext>
            </a:extLst>
          </p:cNvPr>
          <p:cNvSpPr/>
          <p:nvPr/>
        </p:nvSpPr>
        <p:spPr>
          <a:xfrm>
            <a:off x="942919" y="4565609"/>
            <a:ext cx="1859125" cy="19254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6" name="Rectangle 45">
            <a:extLst>
              <a:ext uri="{FF2B5EF4-FFF2-40B4-BE49-F238E27FC236}">
                <a16:creationId xmlns:a16="http://schemas.microsoft.com/office/drawing/2014/main" id="{37CBF45C-AE91-4D69-94DB-5B1AB370733E}"/>
              </a:ext>
            </a:extLst>
          </p:cNvPr>
          <p:cNvSpPr/>
          <p:nvPr/>
        </p:nvSpPr>
        <p:spPr>
          <a:xfrm>
            <a:off x="942918" y="4889817"/>
            <a:ext cx="1859125" cy="19254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7" name="Rectangle 46">
            <a:extLst>
              <a:ext uri="{FF2B5EF4-FFF2-40B4-BE49-F238E27FC236}">
                <a16:creationId xmlns:a16="http://schemas.microsoft.com/office/drawing/2014/main" id="{0CC244B6-6028-4EB8-B562-AE1FD191A41B}"/>
              </a:ext>
            </a:extLst>
          </p:cNvPr>
          <p:cNvSpPr/>
          <p:nvPr/>
        </p:nvSpPr>
        <p:spPr>
          <a:xfrm>
            <a:off x="942917" y="5261458"/>
            <a:ext cx="1859125" cy="84377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8" name="TextBox 47">
            <a:extLst>
              <a:ext uri="{FF2B5EF4-FFF2-40B4-BE49-F238E27FC236}">
                <a16:creationId xmlns:a16="http://schemas.microsoft.com/office/drawing/2014/main" id="{EACF3CB8-C0D7-48A8-8199-0C29141B5310}"/>
              </a:ext>
            </a:extLst>
          </p:cNvPr>
          <p:cNvSpPr txBox="1"/>
          <p:nvPr/>
        </p:nvSpPr>
        <p:spPr>
          <a:xfrm>
            <a:off x="5417889" y="2897817"/>
            <a:ext cx="6258172" cy="668710"/>
          </a:xfrm>
          <a:prstGeom prst="rect">
            <a:avLst/>
          </a:prstGeom>
          <a:noFill/>
          <a:ln w="19050">
            <a:solidFill>
              <a:schemeClr val="accent4">
                <a:lumMod val="40000"/>
                <a:lumOff val="60000"/>
              </a:schemeClr>
            </a:solidFill>
            <a:prstDash val="sysDash"/>
          </a:ln>
        </p:spPr>
        <p:txBody>
          <a:bodyPr wrap="square" lIns="72000" tIns="72000" rIns="72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In the cases for a sub-region, such as 228-Iberia, the Market/Functions are assigned under the nodes representing sub-region.</a:t>
            </a:r>
          </a:p>
        </p:txBody>
      </p:sp>
      <p:sp>
        <p:nvSpPr>
          <p:cNvPr id="49" name="Arrow: Right 48">
            <a:extLst>
              <a:ext uri="{FF2B5EF4-FFF2-40B4-BE49-F238E27FC236}">
                <a16:creationId xmlns:a16="http://schemas.microsoft.com/office/drawing/2014/main" id="{5A089994-9B12-4E95-AD6B-375A41B90CCC}"/>
              </a:ext>
            </a:extLst>
          </p:cNvPr>
          <p:cNvSpPr/>
          <p:nvPr/>
        </p:nvSpPr>
        <p:spPr>
          <a:xfrm>
            <a:off x="2956459" y="3116341"/>
            <a:ext cx="2413578" cy="180756"/>
          </a:xfrm>
          <a:prstGeom prst="rightArrow">
            <a:avLst/>
          </a:prstGeom>
          <a:gradFill>
            <a:gsLst>
              <a:gs pos="0">
                <a:schemeClr val="accent4">
                  <a:lumMod val="60000"/>
                  <a:lumOff val="40000"/>
                </a:schemeClr>
              </a:gs>
              <a:gs pos="50000">
                <a:schemeClr val="accent4">
                  <a:lumMod val="20000"/>
                  <a:lumOff val="80000"/>
                </a:schemeClr>
              </a:gs>
              <a:gs pos="100000">
                <a:schemeClr val="bg1"/>
              </a:gs>
            </a:gsLst>
            <a:lin ang="8100000" scaled="0"/>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C4C2CE4B-1337-42BA-B2B6-02B95C36B97F}"/>
              </a:ext>
            </a:extLst>
          </p:cNvPr>
          <p:cNvPicPr>
            <a:picLocks noChangeAspect="1"/>
          </p:cNvPicPr>
          <p:nvPr/>
        </p:nvPicPr>
        <p:blipFill>
          <a:blip r:embed="rId3"/>
          <a:stretch>
            <a:fillRect/>
          </a:stretch>
        </p:blipFill>
        <p:spPr>
          <a:xfrm>
            <a:off x="3610738" y="5180782"/>
            <a:ext cx="2790062" cy="1656779"/>
          </a:xfrm>
          <a:prstGeom prst="rect">
            <a:avLst/>
          </a:prstGeom>
          <a:effectLst>
            <a:outerShdw blurRad="50800" dist="38100" dir="2700000" algn="tl" rotWithShape="0">
              <a:prstClr val="black">
                <a:alpha val="40000"/>
              </a:prstClr>
            </a:outerShdw>
          </a:effectLst>
        </p:spPr>
      </p:pic>
      <p:sp>
        <p:nvSpPr>
          <p:cNvPr id="50" name="TextBox 49">
            <a:extLst>
              <a:ext uri="{FF2B5EF4-FFF2-40B4-BE49-F238E27FC236}">
                <a16:creationId xmlns:a16="http://schemas.microsoft.com/office/drawing/2014/main" id="{FDF9585F-2AA2-423D-938C-2E6BE83F0B5A}"/>
              </a:ext>
            </a:extLst>
          </p:cNvPr>
          <p:cNvSpPr txBox="1"/>
          <p:nvPr/>
        </p:nvSpPr>
        <p:spPr>
          <a:xfrm>
            <a:off x="6734904" y="5717045"/>
            <a:ext cx="4786619" cy="1021563"/>
          </a:xfrm>
          <a:prstGeom prst="rect">
            <a:avLst/>
          </a:prstGeom>
          <a:solidFill>
            <a:schemeClr val="bg1"/>
          </a:solidFill>
          <a:ln w="19050">
            <a:solidFill>
              <a:schemeClr val="accent2"/>
            </a:solidFill>
            <a:prstDash val="sysDash"/>
          </a:ln>
        </p:spPr>
        <p:txBody>
          <a:bodyPr wrap="square" lIns="72000" tIns="72000" rIns="72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The lowest level object in any cost center hierarchy is always individual cost centers. If you double click a cost center in the hierarchy, you will be taken to the CC master screen.</a:t>
            </a:r>
          </a:p>
        </p:txBody>
      </p:sp>
      <p:sp>
        <p:nvSpPr>
          <p:cNvPr id="51" name="Arrow: Right 50">
            <a:extLst>
              <a:ext uri="{FF2B5EF4-FFF2-40B4-BE49-F238E27FC236}">
                <a16:creationId xmlns:a16="http://schemas.microsoft.com/office/drawing/2014/main" id="{2C45DC7D-FB78-448D-8D98-B7C724CA755D}"/>
              </a:ext>
            </a:extLst>
          </p:cNvPr>
          <p:cNvSpPr/>
          <p:nvPr/>
        </p:nvSpPr>
        <p:spPr>
          <a:xfrm>
            <a:off x="5135418" y="6524555"/>
            <a:ext cx="1574431" cy="197060"/>
          </a:xfrm>
          <a:prstGeom prst="rightArrow">
            <a:avLst/>
          </a:prstGeom>
          <a:gradFill flip="none" rotWithShape="1">
            <a:gsLst>
              <a:gs pos="0">
                <a:schemeClr val="accent2">
                  <a:lumMod val="75000"/>
                </a:schemeClr>
              </a:gs>
              <a:gs pos="50000">
                <a:schemeClr val="accent2">
                  <a:lumMod val="60000"/>
                  <a:lumOff val="40000"/>
                </a:schemeClr>
              </a:gs>
              <a:gs pos="100000">
                <a:schemeClr val="bg1"/>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2" name="Rectangle: Rounded Corners 51">
            <a:extLst>
              <a:ext uri="{FF2B5EF4-FFF2-40B4-BE49-F238E27FC236}">
                <a16:creationId xmlns:a16="http://schemas.microsoft.com/office/drawing/2014/main" id="{E9131B4D-CE90-4678-99D1-A506094D0D86}"/>
              </a:ext>
            </a:extLst>
          </p:cNvPr>
          <p:cNvSpPr/>
          <p:nvPr/>
        </p:nvSpPr>
        <p:spPr>
          <a:xfrm>
            <a:off x="2402304" y="2140465"/>
            <a:ext cx="1689405" cy="17111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KSH3 – Display CC Group</a:t>
            </a:r>
          </a:p>
        </p:txBody>
      </p:sp>
    </p:spTree>
    <p:extLst>
      <p:ext uri="{BB962C8B-B14F-4D97-AF65-F5344CB8AC3E}">
        <p14:creationId xmlns:p14="http://schemas.microsoft.com/office/powerpoint/2010/main" val="2475533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B23F48E-6559-4BFF-8063-D72FFEC626E9}"/>
              </a:ext>
            </a:extLst>
          </p:cNvPr>
          <p:cNvPicPr>
            <a:picLocks noChangeAspect="1"/>
          </p:cNvPicPr>
          <p:nvPr/>
        </p:nvPicPr>
        <p:blipFill>
          <a:blip r:embed="rId2"/>
          <a:stretch>
            <a:fillRect/>
          </a:stretch>
        </p:blipFill>
        <p:spPr>
          <a:xfrm>
            <a:off x="489173" y="2009055"/>
            <a:ext cx="3683788" cy="3719703"/>
          </a:xfrm>
          <a:prstGeom prst="rect">
            <a:avLst/>
          </a:prstGeom>
        </p:spPr>
      </p:pic>
      <p:sp>
        <p:nvSpPr>
          <p:cNvPr id="3" name="Slide Number Placeholder 2">
            <a:extLst>
              <a:ext uri="{FF2B5EF4-FFF2-40B4-BE49-F238E27FC236}">
                <a16:creationId xmlns:a16="http://schemas.microsoft.com/office/drawing/2014/main" id="{14976B9C-C239-4634-8E15-8E92C71358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3238ABDD-74E1-4DE2-8DA5-184DB3EDC29E}"/>
              </a:ext>
            </a:extLst>
          </p:cNvPr>
          <p:cNvSpPr>
            <a:spLocks noGrp="1"/>
          </p:cNvSpPr>
          <p:nvPr>
            <p:ph type="title"/>
          </p:nvPr>
        </p:nvSpPr>
        <p:spPr/>
        <p:txBody>
          <a:bodyPr/>
          <a:lstStyle/>
          <a:p>
            <a:r>
              <a:rPr lang="en-GB" dirty="0"/>
              <a:t>Cost </a:t>
            </a:r>
            <a:r>
              <a:rPr lang="en-GB" dirty="0" err="1"/>
              <a:t>Center</a:t>
            </a:r>
            <a:r>
              <a:rPr lang="en-GB" dirty="0"/>
              <a:t> Alternative Hierarchies</a:t>
            </a:r>
          </a:p>
        </p:txBody>
      </p:sp>
      <p:sp>
        <p:nvSpPr>
          <p:cNvPr id="16" name="Rectangle 15">
            <a:extLst>
              <a:ext uri="{FF2B5EF4-FFF2-40B4-BE49-F238E27FC236}">
                <a16:creationId xmlns:a16="http://schemas.microsoft.com/office/drawing/2014/main" id="{692F0B24-E6E9-4C92-BCDF-6143A2631DE0}"/>
              </a:ext>
            </a:extLst>
          </p:cNvPr>
          <p:cNvSpPr/>
          <p:nvPr/>
        </p:nvSpPr>
        <p:spPr>
          <a:xfrm>
            <a:off x="471056" y="2084938"/>
            <a:ext cx="3683788" cy="241945"/>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325192C3-02A3-41F2-85F9-62553C73AEE9}"/>
              </a:ext>
            </a:extLst>
          </p:cNvPr>
          <p:cNvSpPr txBox="1"/>
          <p:nvPr/>
        </p:nvSpPr>
        <p:spPr>
          <a:xfrm>
            <a:off x="6198781" y="1384623"/>
            <a:ext cx="4295554" cy="67809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err="1">
              <a:ln>
                <a:noFill/>
              </a:ln>
              <a:solidFill>
                <a:srgbClr val="000000"/>
              </a:solidFill>
              <a:effectLst/>
              <a:uLnTx/>
              <a:uFillTx/>
              <a:latin typeface="Arial" panose="020B0604020202020204"/>
              <a:ea typeface="+mn-ea"/>
              <a:cs typeface="+mn-cs"/>
            </a:endParaRPr>
          </a:p>
        </p:txBody>
      </p:sp>
      <p:sp>
        <p:nvSpPr>
          <p:cNvPr id="30" name="Arrow: Right 29">
            <a:extLst>
              <a:ext uri="{FF2B5EF4-FFF2-40B4-BE49-F238E27FC236}">
                <a16:creationId xmlns:a16="http://schemas.microsoft.com/office/drawing/2014/main" id="{C1B2F7C8-8384-4D49-B16C-03DA52787CB1}"/>
              </a:ext>
            </a:extLst>
          </p:cNvPr>
          <p:cNvSpPr/>
          <p:nvPr/>
        </p:nvSpPr>
        <p:spPr>
          <a:xfrm>
            <a:off x="4222951" y="2100680"/>
            <a:ext cx="1120589" cy="200849"/>
          </a:xfrm>
          <a:prstGeom prst="rightArrow">
            <a:avLst/>
          </a:prstGeom>
          <a:gradFill flip="none" rotWithShape="1">
            <a:gsLst>
              <a:gs pos="0">
                <a:srgbClr val="00B0F0"/>
              </a:gs>
              <a:gs pos="50000">
                <a:srgbClr val="00B0F0">
                  <a:tint val="44500"/>
                  <a:satMod val="160000"/>
                </a:srgbClr>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1" name="TextBox 30">
            <a:extLst>
              <a:ext uri="{FF2B5EF4-FFF2-40B4-BE49-F238E27FC236}">
                <a16:creationId xmlns:a16="http://schemas.microsoft.com/office/drawing/2014/main" id="{4E935E26-E0E3-4D60-A756-32A572767953}"/>
              </a:ext>
            </a:extLst>
          </p:cNvPr>
          <p:cNvSpPr txBox="1"/>
          <p:nvPr/>
        </p:nvSpPr>
        <p:spPr>
          <a:xfrm>
            <a:off x="5560129" y="1907248"/>
            <a:ext cx="6258172" cy="552236"/>
          </a:xfrm>
          <a:prstGeom prst="rect">
            <a:avLst/>
          </a:prstGeom>
          <a:noFill/>
          <a:ln w="19050">
            <a:solidFill>
              <a:srgbClr val="00B0F0"/>
            </a:solidFill>
            <a:prstDash val="sysDash"/>
          </a:ln>
        </p:spPr>
        <p:txBody>
          <a:bodyPr wrap="square" lIns="72000" tIns="72000" rIns="72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An example of an Alternative hierarchy used in JTI is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Group “2180_OH”.  </a:t>
            </a:r>
          </a:p>
        </p:txBody>
      </p:sp>
      <p:sp>
        <p:nvSpPr>
          <p:cNvPr id="32" name="Rectangle 31">
            <a:extLst>
              <a:ext uri="{FF2B5EF4-FFF2-40B4-BE49-F238E27FC236}">
                <a16:creationId xmlns:a16="http://schemas.microsoft.com/office/drawing/2014/main" id="{8BB43A4D-4242-4C0A-9B19-6D20FD5692F0}"/>
              </a:ext>
            </a:extLst>
          </p:cNvPr>
          <p:cNvSpPr/>
          <p:nvPr/>
        </p:nvSpPr>
        <p:spPr>
          <a:xfrm>
            <a:off x="756146" y="2466737"/>
            <a:ext cx="3416815" cy="283015"/>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Arrow: Right 32">
            <a:extLst>
              <a:ext uri="{FF2B5EF4-FFF2-40B4-BE49-F238E27FC236}">
                <a16:creationId xmlns:a16="http://schemas.microsoft.com/office/drawing/2014/main" id="{74A5BCF5-FD22-4494-9E7D-49375D19427A}"/>
              </a:ext>
            </a:extLst>
          </p:cNvPr>
          <p:cNvSpPr/>
          <p:nvPr/>
        </p:nvSpPr>
        <p:spPr>
          <a:xfrm>
            <a:off x="4222951" y="2568996"/>
            <a:ext cx="1120589" cy="214056"/>
          </a:xfrm>
          <a:prstGeom prst="rightArrow">
            <a:avLst/>
          </a:prstGeom>
          <a:gradFill>
            <a:gsLst>
              <a:gs pos="0">
                <a:srgbClr val="92D050"/>
              </a:gs>
              <a:gs pos="50000">
                <a:srgbClr val="C4E59F"/>
              </a:gs>
              <a:gs pos="100000">
                <a:schemeClr val="bg1"/>
              </a:gs>
            </a:gsLst>
            <a:lin ang="8100000" scaled="0"/>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TextBox 33">
            <a:extLst>
              <a:ext uri="{FF2B5EF4-FFF2-40B4-BE49-F238E27FC236}">
                <a16:creationId xmlns:a16="http://schemas.microsoft.com/office/drawing/2014/main" id="{C7B479F4-1E49-4DEB-AA0B-D3224057B739}"/>
              </a:ext>
            </a:extLst>
          </p:cNvPr>
          <p:cNvSpPr txBox="1"/>
          <p:nvPr/>
        </p:nvSpPr>
        <p:spPr>
          <a:xfrm>
            <a:off x="5560129" y="3163364"/>
            <a:ext cx="6258172" cy="1868322"/>
          </a:xfrm>
          <a:prstGeom prst="rect">
            <a:avLst/>
          </a:prstGeom>
          <a:noFill/>
          <a:ln w="19050">
            <a:solidFill>
              <a:srgbClr val="92D050"/>
            </a:solidFill>
            <a:prstDash val="sysDash"/>
          </a:ln>
        </p:spPr>
        <p:txBody>
          <a:bodyPr wrap="square" lIns="72000" tIns="72000" rIns="72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group hierarchies like this are used to group similar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together for things such 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Reporting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groups can be used to group similar types of costs together, for example,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group 2180_OH groups Polish overhead groups so a report on overheads can easily be created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allocations: In allocation cycles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groups can be used especially in the cases of more complex cycles which will include a lot of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performing similar types of allocations</a:t>
            </a:r>
          </a:p>
        </p:txBody>
      </p:sp>
      <p:sp>
        <p:nvSpPr>
          <p:cNvPr id="36" name="Rectangle 35">
            <a:extLst>
              <a:ext uri="{FF2B5EF4-FFF2-40B4-BE49-F238E27FC236}">
                <a16:creationId xmlns:a16="http://schemas.microsoft.com/office/drawing/2014/main" id="{3C8A25C8-F816-4031-8EA1-94E110B21668}"/>
              </a:ext>
            </a:extLst>
          </p:cNvPr>
          <p:cNvSpPr/>
          <p:nvPr/>
        </p:nvSpPr>
        <p:spPr>
          <a:xfrm>
            <a:off x="847214" y="2783052"/>
            <a:ext cx="2733497" cy="568412"/>
          </a:xfrm>
          <a:prstGeom prst="rect">
            <a:avLst/>
          </a:prstGeom>
          <a:noFill/>
          <a:ln w="190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8" name="TextBox 47">
            <a:extLst>
              <a:ext uri="{FF2B5EF4-FFF2-40B4-BE49-F238E27FC236}">
                <a16:creationId xmlns:a16="http://schemas.microsoft.com/office/drawing/2014/main" id="{EACF3CB8-C0D7-48A8-8199-0C29141B5310}"/>
              </a:ext>
            </a:extLst>
          </p:cNvPr>
          <p:cNvSpPr txBox="1"/>
          <p:nvPr/>
        </p:nvSpPr>
        <p:spPr>
          <a:xfrm>
            <a:off x="5560129" y="5146430"/>
            <a:ext cx="6258172" cy="1335650"/>
          </a:xfrm>
          <a:prstGeom prst="rect">
            <a:avLst/>
          </a:prstGeom>
          <a:noFill/>
          <a:ln w="19050">
            <a:solidFill>
              <a:schemeClr val="accent4">
                <a:lumMod val="40000"/>
                <a:lumOff val="60000"/>
              </a:schemeClr>
            </a:solidFill>
            <a:prstDash val="sysDash"/>
          </a:ln>
        </p:spPr>
        <p:txBody>
          <a:bodyPr wrap="square" lIns="72000" tIns="72000" rIns="72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The end nodes are lists of the individual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required to be included in the group. Making it easy to uniquely tailor groups to include any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the user may need.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Requests to create new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groups is done through ITSP</a:t>
            </a:r>
          </a:p>
        </p:txBody>
      </p:sp>
      <p:sp>
        <p:nvSpPr>
          <p:cNvPr id="49" name="Arrow: Right 48">
            <a:extLst>
              <a:ext uri="{FF2B5EF4-FFF2-40B4-BE49-F238E27FC236}">
                <a16:creationId xmlns:a16="http://schemas.microsoft.com/office/drawing/2014/main" id="{5A089994-9B12-4E95-AD6B-375A41B90CCC}"/>
              </a:ext>
            </a:extLst>
          </p:cNvPr>
          <p:cNvSpPr/>
          <p:nvPr/>
        </p:nvSpPr>
        <p:spPr>
          <a:xfrm>
            <a:off x="3682422" y="5247237"/>
            <a:ext cx="1661118" cy="214055"/>
          </a:xfrm>
          <a:prstGeom prst="rightArrow">
            <a:avLst/>
          </a:prstGeom>
          <a:gradFill>
            <a:gsLst>
              <a:gs pos="0">
                <a:schemeClr val="accent4">
                  <a:lumMod val="60000"/>
                  <a:lumOff val="40000"/>
                </a:schemeClr>
              </a:gs>
              <a:gs pos="50000">
                <a:schemeClr val="accent4">
                  <a:lumMod val="20000"/>
                  <a:lumOff val="80000"/>
                </a:schemeClr>
              </a:gs>
              <a:gs pos="100000">
                <a:schemeClr val="bg1"/>
              </a:gs>
            </a:gsLst>
            <a:lin ang="8100000" scaled="0"/>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2" name="Rectangle: Rounded Corners 51">
            <a:extLst>
              <a:ext uri="{FF2B5EF4-FFF2-40B4-BE49-F238E27FC236}">
                <a16:creationId xmlns:a16="http://schemas.microsoft.com/office/drawing/2014/main" id="{E9131B4D-CE90-4678-99D1-A506094D0D86}"/>
              </a:ext>
            </a:extLst>
          </p:cNvPr>
          <p:cNvSpPr/>
          <p:nvPr/>
        </p:nvSpPr>
        <p:spPr>
          <a:xfrm>
            <a:off x="471056" y="1726064"/>
            <a:ext cx="1689405" cy="17111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KSH3 – Display CC Group</a:t>
            </a:r>
          </a:p>
        </p:txBody>
      </p:sp>
      <p:sp>
        <p:nvSpPr>
          <p:cNvPr id="37" name="Rectangle 36">
            <a:extLst>
              <a:ext uri="{FF2B5EF4-FFF2-40B4-BE49-F238E27FC236}">
                <a16:creationId xmlns:a16="http://schemas.microsoft.com/office/drawing/2014/main" id="{BEE69B45-D956-40A1-8DE0-D4FC2B0CD2A5}"/>
              </a:ext>
            </a:extLst>
          </p:cNvPr>
          <p:cNvSpPr/>
          <p:nvPr/>
        </p:nvSpPr>
        <p:spPr>
          <a:xfrm>
            <a:off x="717515" y="3421741"/>
            <a:ext cx="3437329" cy="283015"/>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73838AEE-15F0-4DCA-A775-8372C731F685}"/>
              </a:ext>
            </a:extLst>
          </p:cNvPr>
          <p:cNvSpPr/>
          <p:nvPr/>
        </p:nvSpPr>
        <p:spPr>
          <a:xfrm>
            <a:off x="714716" y="4575249"/>
            <a:ext cx="3416815" cy="283015"/>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CC1EA774-20B3-47AF-9D94-06ED403D96C5}"/>
              </a:ext>
            </a:extLst>
          </p:cNvPr>
          <p:cNvSpPr/>
          <p:nvPr/>
        </p:nvSpPr>
        <p:spPr>
          <a:xfrm>
            <a:off x="946201" y="3868906"/>
            <a:ext cx="2733497" cy="568412"/>
          </a:xfrm>
          <a:prstGeom prst="rect">
            <a:avLst/>
          </a:prstGeom>
          <a:noFill/>
          <a:ln w="190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3" name="Rectangle 52">
            <a:extLst>
              <a:ext uri="{FF2B5EF4-FFF2-40B4-BE49-F238E27FC236}">
                <a16:creationId xmlns:a16="http://schemas.microsoft.com/office/drawing/2014/main" id="{AB131847-86F2-453A-803F-A6DC7D199A27}"/>
              </a:ext>
            </a:extLst>
          </p:cNvPr>
          <p:cNvSpPr/>
          <p:nvPr/>
        </p:nvSpPr>
        <p:spPr>
          <a:xfrm>
            <a:off x="946201" y="5031686"/>
            <a:ext cx="2733497" cy="568412"/>
          </a:xfrm>
          <a:prstGeom prst="rect">
            <a:avLst/>
          </a:prstGeom>
          <a:noFill/>
          <a:ln w="190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TextBox 53">
            <a:extLst>
              <a:ext uri="{FF2B5EF4-FFF2-40B4-BE49-F238E27FC236}">
                <a16:creationId xmlns:a16="http://schemas.microsoft.com/office/drawing/2014/main" id="{1C88A53A-AD80-44F1-9345-F52B20F6279C}"/>
              </a:ext>
            </a:extLst>
          </p:cNvPr>
          <p:cNvSpPr txBox="1"/>
          <p:nvPr/>
        </p:nvSpPr>
        <p:spPr>
          <a:xfrm>
            <a:off x="5560129" y="2568996"/>
            <a:ext cx="6258172" cy="552236"/>
          </a:xfrm>
          <a:prstGeom prst="rect">
            <a:avLst/>
          </a:prstGeom>
          <a:noFill/>
          <a:ln w="19050">
            <a:solidFill>
              <a:srgbClr val="92D050"/>
            </a:solidFill>
            <a:prstDash val="sysDash"/>
          </a:ln>
        </p:spPr>
        <p:txBody>
          <a:bodyPr wrap="square" lIns="72000" tIns="72000" rIns="72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groups can contain other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groups giving a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flexibile</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approach to grouping cost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centers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for specific business requirements</a:t>
            </a:r>
          </a:p>
        </p:txBody>
      </p:sp>
      <p:sp>
        <p:nvSpPr>
          <p:cNvPr id="55" name="Arrow: Right 54">
            <a:extLst>
              <a:ext uri="{FF2B5EF4-FFF2-40B4-BE49-F238E27FC236}">
                <a16:creationId xmlns:a16="http://schemas.microsoft.com/office/drawing/2014/main" id="{A13E22A6-EF8B-413A-9C4D-CF8371AAE3D9}"/>
              </a:ext>
            </a:extLst>
          </p:cNvPr>
          <p:cNvSpPr/>
          <p:nvPr/>
        </p:nvSpPr>
        <p:spPr>
          <a:xfrm>
            <a:off x="4222951" y="3421741"/>
            <a:ext cx="1120589" cy="214056"/>
          </a:xfrm>
          <a:prstGeom prst="rightArrow">
            <a:avLst/>
          </a:prstGeom>
          <a:gradFill>
            <a:gsLst>
              <a:gs pos="0">
                <a:srgbClr val="92D050"/>
              </a:gs>
              <a:gs pos="50000">
                <a:srgbClr val="C4E59F"/>
              </a:gs>
              <a:gs pos="100000">
                <a:schemeClr val="bg1"/>
              </a:gs>
            </a:gsLst>
            <a:lin ang="8100000" scaled="0"/>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3" name="Graphic 22" descr="Thumbs Up Sign">
            <a:extLst>
              <a:ext uri="{FF2B5EF4-FFF2-40B4-BE49-F238E27FC236}">
                <a16:creationId xmlns:a16="http://schemas.microsoft.com/office/drawing/2014/main" id="{59FD1F28-2D5F-4171-8A96-52EFB80961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91648" y="5915855"/>
            <a:ext cx="504352" cy="491365"/>
          </a:xfrm>
          <a:prstGeom prst="rect">
            <a:avLst/>
          </a:prstGeom>
        </p:spPr>
      </p:pic>
    </p:spTree>
    <p:extLst>
      <p:ext uri="{BB962C8B-B14F-4D97-AF65-F5344CB8AC3E}">
        <p14:creationId xmlns:p14="http://schemas.microsoft.com/office/powerpoint/2010/main" val="3191623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286001"/>
            <a:ext cx="12192000" cy="5011611"/>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4294967295"/>
          </p:nvPr>
        </p:nvSpPr>
        <p:spPr>
          <a:xfrm>
            <a:off x="11795125" y="6297613"/>
            <a:ext cx="396875"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 name="Group 3">
            <a:extLst>
              <a:ext uri="{FF2B5EF4-FFF2-40B4-BE49-F238E27FC236}">
                <a16:creationId xmlns:a16="http://schemas.microsoft.com/office/drawing/2014/main" id="{70D94340-C2C1-4AC4-B239-D127A63FC583}"/>
              </a:ext>
            </a:extLst>
          </p:cNvPr>
          <p:cNvGrpSpPr/>
          <p:nvPr/>
        </p:nvGrpSpPr>
        <p:grpSpPr>
          <a:xfrm>
            <a:off x="6921545" y="1779732"/>
            <a:ext cx="4771781" cy="2573688"/>
            <a:chOff x="6011091" y="1782351"/>
            <a:chExt cx="4771781" cy="2573688"/>
          </a:xfrm>
        </p:grpSpPr>
        <p:cxnSp>
          <p:nvCxnSpPr>
            <p:cNvPr id="5" name="Elbow Connector 4"/>
            <p:cNvCxnSpPr/>
            <p:nvPr/>
          </p:nvCxnSpPr>
          <p:spPr>
            <a:xfrm flipV="1">
              <a:off x="6011091" y="195391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p:cNvCxnSpPr/>
            <p:nvPr/>
          </p:nvCxnSpPr>
          <p:spPr>
            <a:xfrm>
              <a:off x="6011091" y="2844991"/>
              <a:ext cx="1521084" cy="1305726"/>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5" y="2692997"/>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771633" y="3431286"/>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84329" y="3852346"/>
              <a:ext cx="309854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1A3040"/>
                  </a:solidFill>
                  <a:effectLst/>
                  <a:uLnTx/>
                  <a:uFillTx/>
                  <a:latin typeface="Arial" charset="0"/>
                  <a:ea typeface="Arial" charset="0"/>
                  <a:cs typeface="Arial" charset="0"/>
                </a:rPr>
                <a:t>Functional Area</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50994" y="1782351"/>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a:ea typeface="+mn-ea"/>
                  <a:cs typeface="Arial"/>
                </a:rPr>
                <a:t>Master Data Overview</a:t>
              </a:r>
              <a:endParaRPr kumimoji="0" lang="en-US" sz="1800" b="0" i="0" u="none" strike="noStrike" kern="1200" cap="none" spc="0" normalizeH="0" baseline="0" noProof="0" dirty="0">
                <a:ln>
                  <a:noFill/>
                </a:ln>
                <a:solidFill>
                  <a:srgbClr val="FFFFFF"/>
                </a:solidFill>
                <a:effectLst/>
                <a:uLnTx/>
                <a:uFillTx/>
                <a:latin typeface="Arial"/>
                <a:ea typeface="+mn-ea"/>
                <a:cs typeface="Arial"/>
              </a:endParaRPr>
            </a:p>
          </p:txBody>
        </p:sp>
        <p:sp>
          <p:nvSpPr>
            <p:cNvPr id="41" name="Rounded Rectangle 40"/>
            <p:cNvSpPr/>
            <p:nvPr/>
          </p:nvSpPr>
          <p:spPr>
            <a:xfrm>
              <a:off x="7667064" y="2444590"/>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Cost Center Category</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2" name="Rounded Rectangle 41"/>
            <p:cNvSpPr/>
            <p:nvPr/>
          </p:nvSpPr>
          <p:spPr>
            <a:xfrm>
              <a:off x="7684329" y="3170993"/>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Hierarchy Area</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45" name="Group 44">
            <a:extLst>
              <a:ext uri="{FF2B5EF4-FFF2-40B4-BE49-F238E27FC236}">
                <a16:creationId xmlns:a16="http://schemas.microsoft.com/office/drawing/2014/main" id="{547348DB-E401-453F-905B-B1A6FB987424}"/>
              </a:ext>
            </a:extLst>
          </p:cNvPr>
          <p:cNvGrpSpPr/>
          <p:nvPr/>
        </p:nvGrpSpPr>
        <p:grpSpPr>
          <a:xfrm>
            <a:off x="862471" y="2512382"/>
            <a:ext cx="7294886" cy="2427864"/>
            <a:chOff x="4381175" y="2883731"/>
            <a:chExt cx="7294886" cy="2427864"/>
          </a:xfrm>
        </p:grpSpPr>
        <p:grpSp>
          <p:nvGrpSpPr>
            <p:cNvPr id="46" name="Group 45">
              <a:extLst>
                <a:ext uri="{FF2B5EF4-FFF2-40B4-BE49-F238E27FC236}">
                  <a16:creationId xmlns:a16="http://schemas.microsoft.com/office/drawing/2014/main" id="{9BF74D43-860F-4BC0-83D1-0203828304DF}"/>
                </a:ext>
              </a:extLst>
            </p:cNvPr>
            <p:cNvGrpSpPr/>
            <p:nvPr/>
          </p:nvGrpSpPr>
          <p:grpSpPr>
            <a:xfrm>
              <a:off x="7444303" y="2883731"/>
              <a:ext cx="4231758" cy="2427864"/>
              <a:chOff x="7444303" y="2883731"/>
              <a:chExt cx="4231758" cy="2427864"/>
            </a:xfrm>
          </p:grpSpPr>
          <p:sp>
            <p:nvSpPr>
              <p:cNvPr id="56" name="TextBox 55">
                <a:extLst>
                  <a:ext uri="{FF2B5EF4-FFF2-40B4-BE49-F238E27FC236}">
                    <a16:creationId xmlns:a16="http://schemas.microsoft.com/office/drawing/2014/main" id="{C9F68BB9-BAFE-418C-9E37-D9F9D8B0550E}"/>
                  </a:ext>
                </a:extLst>
              </p:cNvPr>
              <p:cNvSpPr txBox="1"/>
              <p:nvPr/>
            </p:nvSpPr>
            <p:spPr>
              <a:xfrm>
                <a:off x="7444304" y="4756406"/>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Reporting</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57" name="Group 56">
                <a:extLst>
                  <a:ext uri="{FF2B5EF4-FFF2-40B4-BE49-F238E27FC236}">
                    <a16:creationId xmlns:a16="http://schemas.microsoft.com/office/drawing/2014/main" id="{391C99D5-FF67-4287-A6E1-F07A3AC42F19}"/>
                  </a:ext>
                </a:extLst>
              </p:cNvPr>
              <p:cNvGrpSpPr/>
              <p:nvPr/>
            </p:nvGrpSpPr>
            <p:grpSpPr>
              <a:xfrm>
                <a:off x="7444303" y="2883731"/>
                <a:ext cx="4231757" cy="1393150"/>
                <a:chOff x="7444303" y="2883731"/>
                <a:chExt cx="4231757" cy="1393150"/>
              </a:xfrm>
            </p:grpSpPr>
            <p:sp>
              <p:nvSpPr>
                <p:cNvPr id="58" name="TextBox 57">
                  <a:extLst>
                    <a:ext uri="{FF2B5EF4-FFF2-40B4-BE49-F238E27FC236}">
                      <a16:creationId xmlns:a16="http://schemas.microsoft.com/office/drawing/2014/main" id="{B4A6A7C1-B853-4010-AFEA-AB50C7AEE966}"/>
                    </a:ext>
                  </a:extLst>
                </p:cNvPr>
                <p:cNvSpPr txBox="1"/>
                <p:nvPr/>
              </p:nvSpPr>
              <p:spPr>
                <a:xfrm>
                  <a:off x="7444304" y="2883731"/>
                  <a:ext cx="3566596"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Master Data</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9" name="TextBox 58">
                  <a:extLst>
                    <a:ext uri="{FF2B5EF4-FFF2-40B4-BE49-F238E27FC236}">
                      <a16:creationId xmlns:a16="http://schemas.microsoft.com/office/drawing/2014/main" id="{6AFCB981-0CE3-471C-95F7-FCD474B00339}"/>
                    </a:ext>
                  </a:extLst>
                </p:cNvPr>
                <p:cNvSpPr txBox="1"/>
                <p:nvPr/>
              </p:nvSpPr>
              <p:spPr>
                <a:xfrm>
                  <a:off x="7444303" y="3721692"/>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Cost Allocations</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313DD4AB-9ED9-4ED7-88FC-0D70FB5FCECB}"/>
                </a:ext>
              </a:extLst>
            </p:cNvPr>
            <p:cNvGrpSpPr/>
            <p:nvPr/>
          </p:nvGrpSpPr>
          <p:grpSpPr>
            <a:xfrm>
              <a:off x="4381175" y="3076671"/>
              <a:ext cx="2917844" cy="1931716"/>
              <a:chOff x="4372240" y="3074237"/>
              <a:chExt cx="2917844" cy="1931716"/>
            </a:xfrm>
          </p:grpSpPr>
          <p:cxnSp>
            <p:nvCxnSpPr>
              <p:cNvPr id="48" name="Elbow Connector 31">
                <a:extLst>
                  <a:ext uri="{FF2B5EF4-FFF2-40B4-BE49-F238E27FC236}">
                    <a16:creationId xmlns:a16="http://schemas.microsoft.com/office/drawing/2014/main" id="{5DD8E379-B3A2-42C4-A3AC-933D6CBDB31A}"/>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9" name="Elbow Connector 37">
                <a:extLst>
                  <a:ext uri="{FF2B5EF4-FFF2-40B4-BE49-F238E27FC236}">
                    <a16:creationId xmlns:a16="http://schemas.microsoft.com/office/drawing/2014/main" id="{7368A30A-704C-42E6-B070-EE7CA56288DF}"/>
                  </a:ext>
                </a:extLst>
              </p:cNvPr>
              <p:cNvCxnSpPr/>
              <p:nvPr/>
            </p:nvCxnSpPr>
            <p:spPr>
              <a:xfrm>
                <a:off x="6194084" y="3981604"/>
                <a:ext cx="1096000" cy="10243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84F65564-6484-40DE-B3A3-E578ACD9DF9D}"/>
                  </a:ext>
                </a:extLst>
              </p:cNvPr>
              <p:cNvGrpSpPr/>
              <p:nvPr/>
            </p:nvGrpSpPr>
            <p:grpSpPr>
              <a:xfrm>
                <a:off x="4372240" y="3074237"/>
                <a:ext cx="1850100" cy="1850100"/>
                <a:chOff x="4401574" y="3295146"/>
                <a:chExt cx="624164" cy="624164"/>
              </a:xfrm>
            </p:grpSpPr>
            <p:grpSp>
              <p:nvGrpSpPr>
                <p:cNvPr id="52" name="Group 51">
                  <a:extLst>
                    <a:ext uri="{FF2B5EF4-FFF2-40B4-BE49-F238E27FC236}">
                      <a16:creationId xmlns:a16="http://schemas.microsoft.com/office/drawing/2014/main" id="{0805D8DF-0AF6-4E8F-9222-509BDAD1425B}"/>
                    </a:ext>
                  </a:extLst>
                </p:cNvPr>
                <p:cNvGrpSpPr/>
                <p:nvPr/>
              </p:nvGrpSpPr>
              <p:grpSpPr>
                <a:xfrm>
                  <a:off x="4401574" y="3295146"/>
                  <a:ext cx="624164" cy="624164"/>
                  <a:chOff x="4492144" y="190843"/>
                  <a:chExt cx="855656" cy="855656"/>
                </a:xfrm>
              </p:grpSpPr>
              <p:sp>
                <p:nvSpPr>
                  <p:cNvPr id="54" name="Oval 53">
                    <a:extLst>
                      <a:ext uri="{FF2B5EF4-FFF2-40B4-BE49-F238E27FC236}">
                        <a16:creationId xmlns:a16="http://schemas.microsoft.com/office/drawing/2014/main" id="{D519D882-C3E6-42E5-9795-3F5D32D7B1B3}"/>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Oval 54">
                    <a:extLst>
                      <a:ext uri="{FF2B5EF4-FFF2-40B4-BE49-F238E27FC236}">
                        <a16:creationId xmlns:a16="http://schemas.microsoft.com/office/drawing/2014/main" id="{FD88A258-4334-4A72-980C-1BAE6CA2CA7A}"/>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3" name="Picture 52">
                  <a:extLst>
                    <a:ext uri="{FF2B5EF4-FFF2-40B4-BE49-F238E27FC236}">
                      <a16:creationId xmlns:a16="http://schemas.microsoft.com/office/drawing/2014/main" id="{BDFF1B7F-388A-4CFC-AE51-4F70331FD99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cxnSp>
            <p:nvCxnSpPr>
              <p:cNvPr id="51" name="Straight Connector 50">
                <a:extLst>
                  <a:ext uri="{FF2B5EF4-FFF2-40B4-BE49-F238E27FC236}">
                    <a16:creationId xmlns:a16="http://schemas.microsoft.com/office/drawing/2014/main" id="{B42A162D-0B09-4106-A355-2F279DF46541}"/>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sp>
        <p:nvSpPr>
          <p:cNvPr id="10" name="Title 33">
            <a:extLst>
              <a:ext uri="{FF2B5EF4-FFF2-40B4-BE49-F238E27FC236}">
                <a16:creationId xmlns:a16="http://schemas.microsoft.com/office/drawing/2014/main" id="{0D7C802B-A831-4580-F1A4-3E458284B5C4}"/>
              </a:ext>
            </a:extLst>
          </p:cNvPr>
          <p:cNvSpPr txBox="1">
            <a:spLocks/>
          </p:cNvSpPr>
          <p:nvPr/>
        </p:nvSpPr>
        <p:spPr>
          <a:xfrm>
            <a:off x="515939" y="210344"/>
            <a:ext cx="9898061" cy="984247"/>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4400" b="1" kern="1200" cap="all" baseline="0">
                <a:solidFill>
                  <a:schemeClr val="bg1"/>
                </a:solidFill>
                <a:latin typeface="+mj-lt"/>
                <a:ea typeface="+mj-ea"/>
                <a:cs typeface="+mj-cs"/>
              </a:defRPr>
            </a:lvl1pPr>
          </a:lstStyle>
          <a:p>
            <a:r>
              <a:rPr kumimoji="0" lang="en-GB" sz="3200" b="1" i="0" u="none" strike="noStrike" kern="1200" cap="none" spc="0" normalizeH="0" baseline="0" noProof="0" dirty="0">
                <a:ln>
                  <a:noFill/>
                </a:ln>
                <a:solidFill>
                  <a:srgbClr val="000000"/>
                </a:solidFill>
                <a:effectLst/>
                <a:uLnTx/>
                <a:uFillTx/>
                <a:latin typeface="Arial" panose="020B0604020202020204"/>
                <a:ea typeface="+mj-ea"/>
                <a:cs typeface="+mj-cs"/>
              </a:rPr>
              <a:t>Course Structure</a:t>
            </a:r>
            <a:endParaRPr lang="en-GB" dirty="0">
              <a:solidFill>
                <a:schemeClr val="tx1"/>
              </a:solidFill>
            </a:endParaRPr>
          </a:p>
        </p:txBody>
      </p:sp>
    </p:spTree>
    <p:extLst>
      <p:ext uri="{BB962C8B-B14F-4D97-AF65-F5344CB8AC3E}">
        <p14:creationId xmlns:p14="http://schemas.microsoft.com/office/powerpoint/2010/main" val="622682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931FD7-FC7F-4A5F-B28A-D5BA7B8BCF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A01C0E9E-059A-4562-B5AA-C98C05D5E878}"/>
              </a:ext>
            </a:extLst>
          </p:cNvPr>
          <p:cNvSpPr>
            <a:spLocks noGrp="1"/>
          </p:cNvSpPr>
          <p:nvPr>
            <p:ph type="title"/>
          </p:nvPr>
        </p:nvSpPr>
        <p:spPr/>
        <p:txBody>
          <a:bodyPr/>
          <a:lstStyle/>
          <a:p>
            <a:r>
              <a:rPr lang="en-GB" dirty="0"/>
              <a:t>CC Key Master Data Fields – Functional Area</a:t>
            </a:r>
          </a:p>
        </p:txBody>
      </p:sp>
      <p:pic>
        <p:nvPicPr>
          <p:cNvPr id="6" name="Picture 5">
            <a:extLst>
              <a:ext uri="{FF2B5EF4-FFF2-40B4-BE49-F238E27FC236}">
                <a16:creationId xmlns:a16="http://schemas.microsoft.com/office/drawing/2014/main" id="{0DECE023-DC38-4CA2-A0C4-2F7F84BC69BD}"/>
              </a:ext>
            </a:extLst>
          </p:cNvPr>
          <p:cNvPicPr>
            <a:picLocks noChangeAspect="1"/>
          </p:cNvPicPr>
          <p:nvPr/>
        </p:nvPicPr>
        <p:blipFill>
          <a:blip r:embed="rId3"/>
          <a:stretch>
            <a:fillRect/>
          </a:stretch>
        </p:blipFill>
        <p:spPr>
          <a:xfrm>
            <a:off x="515939" y="1437910"/>
            <a:ext cx="5580061" cy="5368253"/>
          </a:xfrm>
          <a:prstGeom prst="rect">
            <a:avLst/>
          </a:prstGeom>
          <a:ln>
            <a:noFill/>
          </a:ln>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E263D21D-33B8-488E-9F39-CC7F9650E93C}"/>
              </a:ext>
            </a:extLst>
          </p:cNvPr>
          <p:cNvSpPr/>
          <p:nvPr/>
        </p:nvSpPr>
        <p:spPr>
          <a:xfrm>
            <a:off x="6489189" y="1553306"/>
            <a:ext cx="5363007" cy="4662767"/>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Functional areas (FA)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are used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in combination with JTIG (group account)</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to ensure entries are recorded in the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correct P&amp;L line on the Market P&amp;L</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for management reporting and the IFRS P&amp;L for JT Reporting.</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Pre-defined logic for FA on G/L line items in SAP: </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If a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G/L account has a defined functional area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mapped to it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maintained in G/L MD</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this is used in the entry regardless of the functional area mapped to the cost center. </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If the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G/L account does not have</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a functional area maintained in its MD, FA comes from the cost center – therefore the functional area on the G/L accounts has priority.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What G/L accounts already have FA maintained in their master data?</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G/L accounts such as for marketing programs, marketing allowances, inventory write-off and bank fees</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It is therefore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not required to maintain separate cost centers for these</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to ensure that the costs end up in the correct lines of the Market P&amp;L</a:t>
            </a:r>
          </a:p>
          <a:p>
            <a:pPr marL="628650" marR="0" lvl="1" indent="-17145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In S/4, we will also have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G/L accounts with functional area 9000</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that can be used when income / expenses should be recorded in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Miscellaneous” in the Market P&amp;L</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 therefore there is no need for CCs with FA 9000 in S/4HANA from January 2020.</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626AB88D-2D1A-41FC-A657-FDBFB662E485}"/>
              </a:ext>
            </a:extLst>
          </p:cNvPr>
          <p:cNvSpPr/>
          <p:nvPr/>
        </p:nvSpPr>
        <p:spPr>
          <a:xfrm>
            <a:off x="1705097" y="5661477"/>
            <a:ext cx="2089454" cy="2886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Arrow: Right 17">
            <a:extLst>
              <a:ext uri="{FF2B5EF4-FFF2-40B4-BE49-F238E27FC236}">
                <a16:creationId xmlns:a16="http://schemas.microsoft.com/office/drawing/2014/main" id="{F0B42F38-51F6-4D21-979A-41D1C1F973C3}"/>
              </a:ext>
            </a:extLst>
          </p:cNvPr>
          <p:cNvSpPr/>
          <p:nvPr/>
        </p:nvSpPr>
        <p:spPr>
          <a:xfrm>
            <a:off x="5865533" y="3805382"/>
            <a:ext cx="581887" cy="712501"/>
          </a:xfrm>
          <a:prstGeom prst="rightArrow">
            <a:avLst>
              <a:gd name="adj1" fmla="val 50000"/>
              <a:gd name="adj2" fmla="val 30275"/>
            </a:avLst>
          </a:prstGeom>
          <a:gradFill flip="none" rotWithShape="1">
            <a:gsLst>
              <a:gs pos="0">
                <a:srgbClr val="FF0000"/>
              </a:gs>
              <a:gs pos="50000">
                <a:schemeClr val="accent5">
                  <a:lumMod val="40000"/>
                  <a:lumOff val="60000"/>
                </a:schemeClr>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A2A7AC4F-DDF4-4EF1-AFA3-F102E17AC0B7}"/>
              </a:ext>
            </a:extLst>
          </p:cNvPr>
          <p:cNvPicPr>
            <a:picLocks noChangeAspect="1"/>
          </p:cNvPicPr>
          <p:nvPr/>
        </p:nvPicPr>
        <p:blipFill>
          <a:blip r:embed="rId4"/>
          <a:stretch>
            <a:fillRect/>
          </a:stretch>
        </p:blipFill>
        <p:spPr>
          <a:xfrm>
            <a:off x="3158414" y="1194592"/>
            <a:ext cx="2089454" cy="4345226"/>
          </a:xfrm>
          <a:prstGeom prst="rect">
            <a:avLst/>
          </a:prstGeom>
          <a:effectLst>
            <a:outerShdw blurRad="50800" dist="38100" dir="2700000" algn="tl" rotWithShape="0">
              <a:prstClr val="black">
                <a:alpha val="40000"/>
              </a:prstClr>
            </a:outerShdw>
          </a:effectLst>
        </p:spPr>
      </p:pic>
      <p:cxnSp>
        <p:nvCxnSpPr>
          <p:cNvPr id="7" name="Straight Arrow Connector 6">
            <a:extLst>
              <a:ext uri="{FF2B5EF4-FFF2-40B4-BE49-F238E27FC236}">
                <a16:creationId xmlns:a16="http://schemas.microsoft.com/office/drawing/2014/main" id="{FCBF91AB-B4DD-4E1F-BCA9-EDC1AD12F79E}"/>
              </a:ext>
            </a:extLst>
          </p:cNvPr>
          <p:cNvCxnSpPr>
            <a:cxnSpLocks/>
          </p:cNvCxnSpPr>
          <p:nvPr/>
        </p:nvCxnSpPr>
        <p:spPr>
          <a:xfrm flipV="1">
            <a:off x="2605393" y="3583709"/>
            <a:ext cx="615464" cy="207776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D9278AB0-88A3-4F7C-B4D3-EB5D4783C074}"/>
              </a:ext>
            </a:extLst>
          </p:cNvPr>
          <p:cNvSpPr/>
          <p:nvPr/>
        </p:nvSpPr>
        <p:spPr>
          <a:xfrm>
            <a:off x="4876801" y="1473315"/>
            <a:ext cx="1219199" cy="159982"/>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KS03 – Display CC</a:t>
            </a:r>
          </a:p>
        </p:txBody>
      </p:sp>
    </p:spTree>
    <p:extLst>
      <p:ext uri="{BB962C8B-B14F-4D97-AF65-F5344CB8AC3E}">
        <p14:creationId xmlns:p14="http://schemas.microsoft.com/office/powerpoint/2010/main" val="2020765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931FD7-FC7F-4A5F-B28A-D5BA7B8BCF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A01C0E9E-059A-4562-B5AA-C98C05D5E878}"/>
              </a:ext>
            </a:extLst>
          </p:cNvPr>
          <p:cNvSpPr>
            <a:spLocks noGrp="1"/>
          </p:cNvSpPr>
          <p:nvPr>
            <p:ph type="title"/>
          </p:nvPr>
        </p:nvSpPr>
        <p:spPr/>
        <p:txBody>
          <a:bodyPr/>
          <a:lstStyle/>
          <a:p>
            <a:r>
              <a:rPr lang="en-GB" dirty="0"/>
              <a:t>CC Key Master Data Fields – G/L Accounts for Misc.</a:t>
            </a:r>
          </a:p>
        </p:txBody>
      </p:sp>
      <p:graphicFrame>
        <p:nvGraphicFramePr>
          <p:cNvPr id="10" name="Table 9">
            <a:extLst>
              <a:ext uri="{FF2B5EF4-FFF2-40B4-BE49-F238E27FC236}">
                <a16:creationId xmlns:a16="http://schemas.microsoft.com/office/drawing/2014/main" id="{FF9238D3-E456-45BB-9E3B-D649833A9431}"/>
              </a:ext>
            </a:extLst>
          </p:cNvPr>
          <p:cNvGraphicFramePr>
            <a:graphicFrameLocks noGrp="1"/>
          </p:cNvGraphicFramePr>
          <p:nvPr/>
        </p:nvGraphicFramePr>
        <p:xfrm>
          <a:off x="505297" y="2505406"/>
          <a:ext cx="11170764" cy="3261360"/>
        </p:xfrm>
        <a:graphic>
          <a:graphicData uri="http://schemas.openxmlformats.org/drawingml/2006/table">
            <a:tbl>
              <a:tblPr firstRow="1" bandRow="1">
                <a:tableStyleId>{8799B23B-EC83-4686-B30A-512413B5E67A}</a:tableStyleId>
              </a:tblPr>
              <a:tblGrid>
                <a:gridCol w="2573519">
                  <a:extLst>
                    <a:ext uri="{9D8B030D-6E8A-4147-A177-3AD203B41FA5}">
                      <a16:colId xmlns:a16="http://schemas.microsoft.com/office/drawing/2014/main" val="3154876378"/>
                    </a:ext>
                  </a:extLst>
                </a:gridCol>
                <a:gridCol w="8597245">
                  <a:extLst>
                    <a:ext uri="{9D8B030D-6E8A-4147-A177-3AD203B41FA5}">
                      <a16:colId xmlns:a16="http://schemas.microsoft.com/office/drawing/2014/main" val="705260791"/>
                    </a:ext>
                  </a:extLst>
                </a:gridCol>
              </a:tblGrid>
              <a:tr h="370840">
                <a:tc>
                  <a:txBody>
                    <a:bodyPr/>
                    <a:lstStyle/>
                    <a:p>
                      <a:r>
                        <a:rPr lang="en-GB" sz="1900" dirty="0"/>
                        <a:t>Nature of account</a:t>
                      </a:r>
                      <a:endParaRPr lang="en-US" sz="1900" dirty="0"/>
                    </a:p>
                  </a:txBody>
                  <a:tcPr/>
                </a:tc>
                <a:tc>
                  <a:txBody>
                    <a:bodyPr/>
                    <a:lstStyle/>
                    <a:p>
                      <a:r>
                        <a:rPr lang="en-GB" sz="1900" dirty="0"/>
                        <a:t>JTIO numbers / JTIO descriptions</a:t>
                      </a:r>
                      <a:endParaRPr lang="en-US" sz="1900" dirty="0"/>
                    </a:p>
                  </a:txBody>
                  <a:tcPr/>
                </a:tc>
                <a:extLst>
                  <a:ext uri="{0D108BD9-81ED-4DB2-BD59-A6C34878D82A}">
                    <a16:rowId xmlns:a16="http://schemas.microsoft.com/office/drawing/2014/main" val="714813405"/>
                  </a:ext>
                </a:extLst>
              </a:tr>
              <a:tr h="370840">
                <a:tc>
                  <a:txBody>
                    <a:bodyPr/>
                    <a:lstStyle/>
                    <a:p>
                      <a:r>
                        <a:rPr lang="en-GB" sz="1900" dirty="0"/>
                        <a:t>Intercompany P&amp;L</a:t>
                      </a:r>
                      <a:endParaRPr lang="en-US" sz="1900" dirty="0"/>
                    </a:p>
                  </a:txBody>
                  <a:tcPr/>
                </a:tc>
                <a:tc>
                  <a:txBody>
                    <a:bodyPr/>
                    <a:lstStyle/>
                    <a:p>
                      <a:r>
                        <a:rPr lang="en-GB" sz="1900" dirty="0"/>
                        <a:t>For example: 304070 - GSA Revenue, 304075 - </a:t>
                      </a:r>
                      <a:r>
                        <a:rPr lang="en-US" sz="1900" kern="1200" dirty="0">
                          <a:solidFill>
                            <a:schemeClr val="tx1"/>
                          </a:solidFill>
                          <a:effectLst/>
                          <a:latin typeface="+mn-lt"/>
                          <a:ea typeface="+mn-ea"/>
                          <a:cs typeface="+mn-cs"/>
                        </a:rPr>
                        <a:t>GSA Revenue (Auto), 504001 – Marketing Costs Rec Income, 504002 – Marketing Costs Rec </a:t>
                      </a:r>
                      <a:r>
                        <a:rPr lang="en-US" sz="1900" kern="1200" dirty="0" err="1">
                          <a:solidFill>
                            <a:schemeClr val="tx1"/>
                          </a:solidFill>
                          <a:effectLst/>
                          <a:latin typeface="+mn-lt"/>
                          <a:ea typeface="+mn-ea"/>
                          <a:cs typeface="+mn-cs"/>
                        </a:rPr>
                        <a:t>Exp</a:t>
                      </a:r>
                      <a:r>
                        <a:rPr lang="en-US" sz="1900" kern="1200" dirty="0">
                          <a:solidFill>
                            <a:schemeClr val="tx1"/>
                          </a:solidFill>
                          <a:effectLst/>
                          <a:latin typeface="+mn-lt"/>
                          <a:ea typeface="+mn-ea"/>
                          <a:cs typeface="+mn-cs"/>
                        </a:rPr>
                        <a:t>, 512300 - GSA Expense, 512305 - GSA Expense (Auto)</a:t>
                      </a:r>
                      <a:endParaRPr lang="en-US" sz="1900" dirty="0"/>
                    </a:p>
                  </a:txBody>
                  <a:tcPr/>
                </a:tc>
                <a:extLst>
                  <a:ext uri="{0D108BD9-81ED-4DB2-BD59-A6C34878D82A}">
                    <a16:rowId xmlns:a16="http://schemas.microsoft.com/office/drawing/2014/main" val="2500588638"/>
                  </a:ext>
                </a:extLst>
              </a:tr>
              <a:tr h="370840">
                <a:tc>
                  <a:txBody>
                    <a:bodyPr/>
                    <a:lstStyle/>
                    <a:p>
                      <a:r>
                        <a:rPr lang="en-GB" sz="1900" dirty="0"/>
                        <a:t>Gain / loss on sales of fixed assets</a:t>
                      </a:r>
                      <a:endParaRPr lang="en-US" sz="1900" dirty="0"/>
                    </a:p>
                  </a:txBody>
                  <a:tcPr/>
                </a:tc>
                <a:tc>
                  <a:txBody>
                    <a:bodyPr/>
                    <a:lstStyle/>
                    <a:p>
                      <a:r>
                        <a:rPr lang="en-GB" sz="1900" dirty="0"/>
                        <a:t>For example: 605012 – Gain on Sale of Buildings, 605015 - Gain on Sale of Vehicles, 605020 – Gain on Sale of Fixed Asset (I/C), 606012 – Loss on Sale of Buildings, 606015 – Loss on Sale of Vehicles</a:t>
                      </a:r>
                      <a:endParaRPr lang="en-US" sz="1900" dirty="0"/>
                    </a:p>
                  </a:txBody>
                  <a:tcPr/>
                </a:tc>
                <a:extLst>
                  <a:ext uri="{0D108BD9-81ED-4DB2-BD59-A6C34878D82A}">
                    <a16:rowId xmlns:a16="http://schemas.microsoft.com/office/drawing/2014/main" val="1170625118"/>
                  </a:ext>
                </a:extLst>
              </a:tr>
              <a:tr h="370840">
                <a:tc>
                  <a:txBody>
                    <a:bodyPr/>
                    <a:lstStyle/>
                    <a:p>
                      <a:r>
                        <a:rPr lang="en-GB" sz="1900" dirty="0"/>
                        <a:t>Other</a:t>
                      </a:r>
                      <a:endParaRPr lang="en-US" sz="1900" dirty="0"/>
                    </a:p>
                  </a:txBody>
                  <a:tcPr/>
                </a:tc>
                <a:tc>
                  <a:txBody>
                    <a:bodyPr/>
                    <a:lstStyle/>
                    <a:p>
                      <a:r>
                        <a:rPr lang="en-GB" sz="1900" dirty="0"/>
                        <a:t>For example: 611010 – Doubtful Debt Expense, 614030 – Equity on Gain in Associated Companies, 616011 – Other Miscellaneous Operating Income, 616021 – Other Miscellaneous Operating Expenses</a:t>
                      </a:r>
                      <a:endParaRPr lang="en-US" sz="1900" dirty="0"/>
                    </a:p>
                  </a:txBody>
                  <a:tcPr/>
                </a:tc>
                <a:extLst>
                  <a:ext uri="{0D108BD9-81ED-4DB2-BD59-A6C34878D82A}">
                    <a16:rowId xmlns:a16="http://schemas.microsoft.com/office/drawing/2014/main" val="1617828017"/>
                  </a:ext>
                </a:extLst>
              </a:tr>
            </a:tbl>
          </a:graphicData>
        </a:graphic>
      </p:graphicFrame>
      <p:sp>
        <p:nvSpPr>
          <p:cNvPr id="11" name="Rounded Rectangle 56">
            <a:extLst>
              <a:ext uri="{FF2B5EF4-FFF2-40B4-BE49-F238E27FC236}">
                <a16:creationId xmlns:a16="http://schemas.microsoft.com/office/drawing/2014/main" id="{AA3730A2-82F4-4CA8-8FAD-0052C2E314A1}"/>
              </a:ext>
            </a:extLst>
          </p:cNvPr>
          <p:cNvSpPr/>
          <p:nvPr/>
        </p:nvSpPr>
        <p:spPr bwMode="auto">
          <a:xfrm>
            <a:off x="505297" y="1551973"/>
            <a:ext cx="11181406" cy="579695"/>
          </a:xfrm>
          <a:prstGeom prst="roundRect">
            <a:avLst>
              <a:gd name="adj" fmla="val 5198"/>
            </a:avLst>
          </a:prstGeom>
          <a:solidFill>
            <a:schemeClr val="accent1"/>
          </a:solidFill>
          <a:ln>
            <a:noFill/>
          </a:ln>
          <a:effectLst/>
        </p:spPr>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marL="53975"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2" name="Graphic 11" descr="Lightbulb and gear">
            <a:extLst>
              <a:ext uri="{FF2B5EF4-FFF2-40B4-BE49-F238E27FC236}">
                <a16:creationId xmlns:a16="http://schemas.microsoft.com/office/drawing/2014/main" id="{BF1F72E4-9B10-4C61-A547-78B1F8B095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2471" y="1567391"/>
            <a:ext cx="444923" cy="464608"/>
          </a:xfrm>
          <a:prstGeom prst="rect">
            <a:avLst/>
          </a:prstGeom>
        </p:spPr>
      </p:pic>
      <p:sp>
        <p:nvSpPr>
          <p:cNvPr id="14" name="Rectangle 13">
            <a:extLst>
              <a:ext uri="{FF2B5EF4-FFF2-40B4-BE49-F238E27FC236}">
                <a16:creationId xmlns:a16="http://schemas.microsoft.com/office/drawing/2014/main" id="{BE82B26C-3FB5-4694-B005-A56DE0B017AC}"/>
              </a:ext>
            </a:extLst>
          </p:cNvPr>
          <p:cNvSpPr/>
          <p:nvPr/>
        </p:nvSpPr>
        <p:spPr>
          <a:xfrm>
            <a:off x="879814" y="1650463"/>
            <a:ext cx="10933327" cy="307777"/>
          </a:xfrm>
          <a:prstGeom prst="rect">
            <a:avLst/>
          </a:prstGeom>
        </p:spPr>
        <p:txBody>
          <a:bodyPr wrap="square">
            <a:spAutoFit/>
          </a:bodyPr>
          <a:lstStyle/>
          <a:p>
            <a:pPr marL="53975"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Below are some examples of G/L accounts that have FA 9000 (Miscellaneous)  in S/4HANA:</a:t>
            </a:r>
          </a:p>
        </p:txBody>
      </p:sp>
    </p:spTree>
    <p:extLst>
      <p:ext uri="{BB962C8B-B14F-4D97-AF65-F5344CB8AC3E}">
        <p14:creationId xmlns:p14="http://schemas.microsoft.com/office/powerpoint/2010/main" val="757706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5B0703ED-D84B-4142-B64D-0FF9E0232A40}"/>
              </a:ext>
            </a:extLst>
          </p:cNvPr>
          <p:cNvGrpSpPr/>
          <p:nvPr/>
        </p:nvGrpSpPr>
        <p:grpSpPr>
          <a:xfrm>
            <a:off x="8590293" y="5414615"/>
            <a:ext cx="3078942" cy="1032194"/>
            <a:chOff x="7904018" y="5420868"/>
            <a:chExt cx="3078942" cy="1032194"/>
          </a:xfrm>
        </p:grpSpPr>
        <p:pic>
          <p:nvPicPr>
            <p:cNvPr id="41" name="Picture 40">
              <a:extLst>
                <a:ext uri="{FF2B5EF4-FFF2-40B4-BE49-F238E27FC236}">
                  <a16:creationId xmlns:a16="http://schemas.microsoft.com/office/drawing/2014/main" id="{D0DA62C4-C1A6-441E-9E94-E7B917C042D6}"/>
                </a:ext>
              </a:extLst>
            </p:cNvPr>
            <p:cNvPicPr>
              <a:picLocks noChangeAspect="1"/>
            </p:cNvPicPr>
            <p:nvPr/>
          </p:nvPicPr>
          <p:blipFill>
            <a:blip r:embed="rId2"/>
            <a:stretch>
              <a:fillRect/>
            </a:stretch>
          </p:blipFill>
          <p:spPr>
            <a:xfrm>
              <a:off x="7904018" y="6224170"/>
              <a:ext cx="3078941" cy="228892"/>
            </a:xfrm>
            <a:prstGeom prst="rect">
              <a:avLst/>
            </a:prstGeom>
          </p:spPr>
        </p:pic>
        <p:pic>
          <p:nvPicPr>
            <p:cNvPr id="37" name="Picture 36">
              <a:extLst>
                <a:ext uri="{FF2B5EF4-FFF2-40B4-BE49-F238E27FC236}">
                  <a16:creationId xmlns:a16="http://schemas.microsoft.com/office/drawing/2014/main" id="{E30A827A-70B6-4B4D-8298-F7C178B9C7F2}"/>
                </a:ext>
              </a:extLst>
            </p:cNvPr>
            <p:cNvPicPr>
              <a:picLocks noChangeAspect="1"/>
            </p:cNvPicPr>
            <p:nvPr/>
          </p:nvPicPr>
          <p:blipFill>
            <a:blip r:embed="rId3"/>
            <a:stretch>
              <a:fillRect/>
            </a:stretch>
          </p:blipFill>
          <p:spPr>
            <a:xfrm>
              <a:off x="7904019" y="5420868"/>
              <a:ext cx="3078941" cy="801594"/>
            </a:xfrm>
            <a:prstGeom prst="rect">
              <a:avLst/>
            </a:prstGeom>
          </p:spPr>
        </p:pic>
      </p:grpSp>
      <p:sp>
        <p:nvSpPr>
          <p:cNvPr id="5" name="Slide Number Placeholder 4">
            <a:extLst>
              <a:ext uri="{FF2B5EF4-FFF2-40B4-BE49-F238E27FC236}">
                <a16:creationId xmlns:a16="http://schemas.microsoft.com/office/drawing/2014/main" id="{D8E2E0CB-2EEE-4DBB-A111-836D158068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B500185-492B-43A0-9F62-BE1B350759A3}"/>
              </a:ext>
            </a:extLst>
          </p:cNvPr>
          <p:cNvSpPr>
            <a:spLocks noGrp="1"/>
          </p:cNvSpPr>
          <p:nvPr>
            <p:ph type="title"/>
          </p:nvPr>
        </p:nvSpPr>
        <p:spPr/>
        <p:txBody>
          <a:bodyPr/>
          <a:lstStyle/>
          <a:p>
            <a:r>
              <a:rPr lang="en-GB" dirty="0"/>
              <a:t>CC Key Master Data Fields – Functional Area</a:t>
            </a:r>
            <a:endParaRPr lang="en-US" dirty="0"/>
          </a:p>
        </p:txBody>
      </p:sp>
      <p:sp>
        <p:nvSpPr>
          <p:cNvPr id="7" name="Slide Number Placeholder 2">
            <a:extLst>
              <a:ext uri="{FF2B5EF4-FFF2-40B4-BE49-F238E27FC236}">
                <a16:creationId xmlns:a16="http://schemas.microsoft.com/office/drawing/2014/main" id="{BF7010AC-CB65-45DB-B230-1FE65CD9BB85}"/>
              </a:ext>
            </a:extLst>
          </p:cNvPr>
          <p:cNvSpPr txBox="1">
            <a:spLocks/>
          </p:cNvSpPr>
          <p:nvPr/>
        </p:nvSpPr>
        <p:spPr>
          <a:xfrm>
            <a:off x="11278800" y="6297521"/>
            <a:ext cx="397261" cy="365125"/>
          </a:xfrm>
          <a:prstGeom prst="rect">
            <a:avLst/>
          </a:prstGeom>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F035EA61-3848-4911-8F5B-33CC9F1494E1}"/>
              </a:ext>
            </a:extLst>
          </p:cNvPr>
          <p:cNvSpPr/>
          <p:nvPr/>
        </p:nvSpPr>
        <p:spPr>
          <a:xfrm>
            <a:off x="3810001" y="1372029"/>
            <a:ext cx="8188036" cy="938719"/>
          </a:xfrm>
          <a:prstGeom prst="rect">
            <a:avLst/>
          </a:prstGeom>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dirty="0">
                <a:ln>
                  <a:noFill/>
                </a:ln>
                <a:solidFill>
                  <a:srgbClr val="000000"/>
                </a:solidFill>
                <a:effectLst/>
                <a:uLnTx/>
                <a:uFillTx/>
                <a:latin typeface="Arial Black" panose="020B0A04020102020204" pitchFamily="34" charset="0"/>
                <a:ea typeface="+mn-ea"/>
                <a:cs typeface="+mn-cs"/>
              </a:rPr>
              <a:t>Definition and Principles :</a:t>
            </a:r>
            <a:endParaRPr kumimoji="0" lang="en-GB" sz="1200" b="1" i="0" u="none" strike="noStrike" kern="1200" cap="none" spc="0" normalizeH="0" baseline="0" noProof="0" dirty="0">
              <a:ln>
                <a:noFill/>
              </a:ln>
              <a:solidFill>
                <a:srgbClr val="000000"/>
              </a:solidFill>
              <a:effectLst/>
              <a:uLnTx/>
              <a:uFillTx/>
              <a:latin typeface="Arial Black" panose="020B0A04020102020204" pitchFamily="34" charset="0"/>
              <a:ea typeface="+mn-ea"/>
              <a:cs typeface="+mn-cs"/>
            </a:endParaRP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In JTI “Functional Area” (FA) is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populated in accounting records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posted to a given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P&amp;L account</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It is used as a criterion in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Market P&amp;L structure</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to determine which P&amp;L line a P&amp;L posting should be reported, and can be used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for analytical purposes</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by functional aspects defined by different Functional Areas.</a:t>
            </a:r>
          </a:p>
        </p:txBody>
      </p:sp>
      <p:pic>
        <p:nvPicPr>
          <p:cNvPr id="9" name="Picture 8">
            <a:extLst>
              <a:ext uri="{FF2B5EF4-FFF2-40B4-BE49-F238E27FC236}">
                <a16:creationId xmlns:a16="http://schemas.microsoft.com/office/drawing/2014/main" id="{FBBD2589-B2F0-4B0E-962B-AB3392F9B793}"/>
              </a:ext>
            </a:extLst>
          </p:cNvPr>
          <p:cNvPicPr>
            <a:picLocks noChangeAspect="1"/>
          </p:cNvPicPr>
          <p:nvPr/>
        </p:nvPicPr>
        <p:blipFill>
          <a:blip r:embed="rId4"/>
          <a:stretch>
            <a:fillRect/>
          </a:stretch>
        </p:blipFill>
        <p:spPr>
          <a:xfrm>
            <a:off x="522765" y="3501189"/>
            <a:ext cx="3513579" cy="2034177"/>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1BA38A56-AE52-4E4F-9044-E6F9DB999F9E}"/>
              </a:ext>
            </a:extLst>
          </p:cNvPr>
          <p:cNvPicPr>
            <a:picLocks noChangeAspect="1"/>
          </p:cNvPicPr>
          <p:nvPr/>
        </p:nvPicPr>
        <p:blipFill>
          <a:blip r:embed="rId5"/>
          <a:stretch>
            <a:fillRect/>
          </a:stretch>
        </p:blipFill>
        <p:spPr>
          <a:xfrm>
            <a:off x="522764" y="1362739"/>
            <a:ext cx="3513579" cy="2099094"/>
          </a:xfrm>
          <a:prstGeom prst="rect">
            <a:avLst/>
          </a:prstGeom>
          <a:ln>
            <a:noFill/>
          </a:ln>
          <a:effectLst>
            <a:outerShdw blurRad="292100" dist="139700" dir="2700000" algn="tl" rotWithShape="0">
              <a:srgbClr val="333333">
                <a:alpha val="65000"/>
              </a:srgbClr>
            </a:outerShdw>
          </a:effectLst>
        </p:spPr>
      </p:pic>
      <p:grpSp>
        <p:nvGrpSpPr>
          <p:cNvPr id="11" name="Group 10">
            <a:extLst>
              <a:ext uri="{FF2B5EF4-FFF2-40B4-BE49-F238E27FC236}">
                <a16:creationId xmlns:a16="http://schemas.microsoft.com/office/drawing/2014/main" id="{8652A951-D87E-40BC-833B-1E7849A19F2C}"/>
              </a:ext>
            </a:extLst>
          </p:cNvPr>
          <p:cNvGrpSpPr/>
          <p:nvPr/>
        </p:nvGrpSpPr>
        <p:grpSpPr>
          <a:xfrm>
            <a:off x="4130520" y="2364910"/>
            <a:ext cx="3731117" cy="847523"/>
            <a:chOff x="4173806" y="2577524"/>
            <a:chExt cx="3731117" cy="847523"/>
          </a:xfrm>
        </p:grpSpPr>
        <p:pic>
          <p:nvPicPr>
            <p:cNvPr id="12" name="Picture 11">
              <a:extLst>
                <a:ext uri="{FF2B5EF4-FFF2-40B4-BE49-F238E27FC236}">
                  <a16:creationId xmlns:a16="http://schemas.microsoft.com/office/drawing/2014/main" id="{E0FBEE5B-93BE-4BFE-BEE5-7DE904661221}"/>
                </a:ext>
              </a:extLst>
            </p:cNvPr>
            <p:cNvPicPr>
              <a:picLocks noChangeAspect="1"/>
            </p:cNvPicPr>
            <p:nvPr/>
          </p:nvPicPr>
          <p:blipFill>
            <a:blip r:embed="rId6"/>
            <a:stretch>
              <a:fillRect/>
            </a:stretch>
          </p:blipFill>
          <p:spPr>
            <a:xfrm>
              <a:off x="4173806" y="2577524"/>
              <a:ext cx="3715075" cy="574441"/>
            </a:xfrm>
            <a:prstGeom prst="rect">
              <a:avLst/>
            </a:prstGeom>
          </p:spPr>
        </p:pic>
        <p:pic>
          <p:nvPicPr>
            <p:cNvPr id="13" name="Picture 12">
              <a:extLst>
                <a:ext uri="{FF2B5EF4-FFF2-40B4-BE49-F238E27FC236}">
                  <a16:creationId xmlns:a16="http://schemas.microsoft.com/office/drawing/2014/main" id="{B3FDCB80-6480-47C7-B8DA-499DBC770576}"/>
                </a:ext>
              </a:extLst>
            </p:cNvPr>
            <p:cNvPicPr>
              <a:picLocks noChangeAspect="1"/>
            </p:cNvPicPr>
            <p:nvPr/>
          </p:nvPicPr>
          <p:blipFill>
            <a:blip r:embed="rId7"/>
            <a:stretch>
              <a:fillRect/>
            </a:stretch>
          </p:blipFill>
          <p:spPr>
            <a:xfrm>
              <a:off x="4189848" y="3136394"/>
              <a:ext cx="3715075" cy="288653"/>
            </a:xfrm>
            <a:prstGeom prst="rect">
              <a:avLst/>
            </a:prstGeom>
          </p:spPr>
        </p:pic>
      </p:grpSp>
      <p:pic>
        <p:nvPicPr>
          <p:cNvPr id="14" name="Picture 13">
            <a:extLst>
              <a:ext uri="{FF2B5EF4-FFF2-40B4-BE49-F238E27FC236}">
                <a16:creationId xmlns:a16="http://schemas.microsoft.com/office/drawing/2014/main" id="{618FCCF0-EFBB-4D0D-9FC5-43E8E3CCA447}"/>
              </a:ext>
            </a:extLst>
          </p:cNvPr>
          <p:cNvPicPr>
            <a:picLocks noChangeAspect="1"/>
          </p:cNvPicPr>
          <p:nvPr/>
        </p:nvPicPr>
        <p:blipFill>
          <a:blip r:embed="rId8"/>
          <a:stretch>
            <a:fillRect/>
          </a:stretch>
        </p:blipFill>
        <p:spPr>
          <a:xfrm>
            <a:off x="4130520" y="4283952"/>
            <a:ext cx="4596126" cy="984884"/>
          </a:xfrm>
          <a:prstGeom prst="rect">
            <a:avLst/>
          </a:prstGeom>
        </p:spPr>
      </p:pic>
      <p:sp>
        <p:nvSpPr>
          <p:cNvPr id="15" name="Arrow: Right 14">
            <a:extLst>
              <a:ext uri="{FF2B5EF4-FFF2-40B4-BE49-F238E27FC236}">
                <a16:creationId xmlns:a16="http://schemas.microsoft.com/office/drawing/2014/main" id="{1C51B806-2CB4-428A-8218-D18870C683D4}"/>
              </a:ext>
            </a:extLst>
          </p:cNvPr>
          <p:cNvSpPr/>
          <p:nvPr/>
        </p:nvSpPr>
        <p:spPr>
          <a:xfrm>
            <a:off x="3421563" y="3068106"/>
            <a:ext cx="571248" cy="14432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Arrow: Right 15">
            <a:extLst>
              <a:ext uri="{FF2B5EF4-FFF2-40B4-BE49-F238E27FC236}">
                <a16:creationId xmlns:a16="http://schemas.microsoft.com/office/drawing/2014/main" id="{DCEB606C-4AD4-435B-8409-B10AF1C3AE0E}"/>
              </a:ext>
            </a:extLst>
          </p:cNvPr>
          <p:cNvSpPr/>
          <p:nvPr/>
        </p:nvSpPr>
        <p:spPr>
          <a:xfrm>
            <a:off x="3433011" y="5095185"/>
            <a:ext cx="571248" cy="14432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Rounded Corners 16">
            <a:extLst>
              <a:ext uri="{FF2B5EF4-FFF2-40B4-BE49-F238E27FC236}">
                <a16:creationId xmlns:a16="http://schemas.microsoft.com/office/drawing/2014/main" id="{5D62E003-4B5C-46E5-87E9-042E0979048F}"/>
              </a:ext>
            </a:extLst>
          </p:cNvPr>
          <p:cNvSpPr/>
          <p:nvPr/>
        </p:nvSpPr>
        <p:spPr>
          <a:xfrm>
            <a:off x="2645693" y="1379074"/>
            <a:ext cx="1390650" cy="36508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FS00 – Display G/L Master Data</a:t>
            </a:r>
          </a:p>
        </p:txBody>
      </p:sp>
      <p:sp>
        <p:nvSpPr>
          <p:cNvPr id="18" name="Rectangle: Rounded Corners 17">
            <a:extLst>
              <a:ext uri="{FF2B5EF4-FFF2-40B4-BE49-F238E27FC236}">
                <a16:creationId xmlns:a16="http://schemas.microsoft.com/office/drawing/2014/main" id="{508D8097-9BE5-4575-B633-FA285211F75E}"/>
              </a:ext>
            </a:extLst>
          </p:cNvPr>
          <p:cNvSpPr/>
          <p:nvPr/>
        </p:nvSpPr>
        <p:spPr>
          <a:xfrm>
            <a:off x="2642559" y="3518842"/>
            <a:ext cx="1390650" cy="36508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FS00 – Display G/L Master Data</a:t>
            </a:r>
          </a:p>
        </p:txBody>
      </p:sp>
      <p:sp>
        <p:nvSpPr>
          <p:cNvPr id="19" name="Rectangle 18">
            <a:extLst>
              <a:ext uri="{FF2B5EF4-FFF2-40B4-BE49-F238E27FC236}">
                <a16:creationId xmlns:a16="http://schemas.microsoft.com/office/drawing/2014/main" id="{7D01A3F5-0097-4ED0-86E9-9CFBDCA60EA1}"/>
              </a:ext>
            </a:extLst>
          </p:cNvPr>
          <p:cNvSpPr/>
          <p:nvPr/>
        </p:nvSpPr>
        <p:spPr>
          <a:xfrm>
            <a:off x="3810001" y="3244243"/>
            <a:ext cx="8188036" cy="984885"/>
          </a:xfrm>
          <a:prstGeom prst="rect">
            <a:avLst/>
          </a:prstGeom>
        </p:spPr>
        <p:txBody>
          <a:bodyPr wrap="square">
            <a:spAutoFit/>
          </a:bodyPr>
          <a:lstStyle/>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Posting Rules as per SAP standard:</a:t>
            </a:r>
          </a:p>
          <a:p>
            <a:pPr marL="1080000" marR="0" lvl="2" indent="-14400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If FA is maintained in G/L master data, all postings made to the G/L will have this FA. (</a:t>
            </a:r>
            <a:r>
              <a:rPr kumimoji="0" lang="en-GB" sz="1200" b="0" i="1" u="none" strike="noStrike" kern="1200" cap="none" spc="0" normalizeH="0" baseline="0" noProof="0" dirty="0">
                <a:ln>
                  <a:noFill/>
                </a:ln>
                <a:solidFill>
                  <a:srgbClr val="000000"/>
                </a:solidFill>
                <a:effectLst/>
                <a:uLnTx/>
                <a:uFillTx/>
                <a:latin typeface="Arial" panose="020B0604020202020204"/>
                <a:ea typeface="+mn-ea"/>
                <a:cs typeface="+mn-cs"/>
              </a:rPr>
              <a:t>See Example 1</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1080000" marR="0" lvl="2" indent="-14400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However if FA is left blank in G/L master data, the FA on the respective G/L line items is determined by the FA maintained in the cost objects to which the G/L is posted to. (</a:t>
            </a:r>
            <a:r>
              <a:rPr kumimoji="0" lang="en-GB" sz="1200" b="0" i="1" u="none" strike="noStrike" kern="1200" cap="none" spc="0" normalizeH="0" baseline="0" noProof="0" dirty="0">
                <a:ln>
                  <a:noFill/>
                </a:ln>
                <a:solidFill>
                  <a:srgbClr val="000000"/>
                </a:solidFill>
                <a:effectLst/>
                <a:uLnTx/>
                <a:uFillTx/>
                <a:latin typeface="Arial" panose="020B0604020202020204"/>
                <a:ea typeface="+mn-ea"/>
                <a:cs typeface="+mn-cs"/>
              </a:rPr>
              <a:t>See Example 2</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sp>
        <p:nvSpPr>
          <p:cNvPr id="20" name="Rectangle: Rounded Corners 19">
            <a:extLst>
              <a:ext uri="{FF2B5EF4-FFF2-40B4-BE49-F238E27FC236}">
                <a16:creationId xmlns:a16="http://schemas.microsoft.com/office/drawing/2014/main" id="{5A521328-B4C2-4077-9622-BF32EA7979F0}"/>
              </a:ext>
            </a:extLst>
          </p:cNvPr>
          <p:cNvSpPr/>
          <p:nvPr/>
        </p:nvSpPr>
        <p:spPr>
          <a:xfrm>
            <a:off x="2974350" y="2395851"/>
            <a:ext cx="981489" cy="251645"/>
          </a:xfrm>
          <a:prstGeom prst="roundRect">
            <a:avLst/>
          </a:prstGeom>
          <a:solidFill>
            <a:schemeClr val="bg1"/>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dirty="0">
                <a:ln>
                  <a:noFill/>
                </a:ln>
                <a:solidFill>
                  <a:srgbClr val="000000"/>
                </a:solidFill>
                <a:effectLst/>
                <a:uLnTx/>
                <a:uFillTx/>
                <a:latin typeface="Arial" panose="020B0604020202020204"/>
                <a:ea typeface="+mn-ea"/>
                <a:cs typeface="+mn-cs"/>
              </a:rPr>
              <a:t>Example 1</a:t>
            </a:r>
          </a:p>
        </p:txBody>
      </p:sp>
      <p:sp>
        <p:nvSpPr>
          <p:cNvPr id="21" name="Rectangle: Rounded Corners 20">
            <a:extLst>
              <a:ext uri="{FF2B5EF4-FFF2-40B4-BE49-F238E27FC236}">
                <a16:creationId xmlns:a16="http://schemas.microsoft.com/office/drawing/2014/main" id="{B90E7B77-64ED-42D3-B4AF-3A9F9DB26949}"/>
              </a:ext>
            </a:extLst>
          </p:cNvPr>
          <p:cNvSpPr/>
          <p:nvPr/>
        </p:nvSpPr>
        <p:spPr>
          <a:xfrm>
            <a:off x="2974350" y="4453150"/>
            <a:ext cx="981489" cy="251645"/>
          </a:xfrm>
          <a:prstGeom prst="roundRect">
            <a:avLst/>
          </a:prstGeom>
          <a:solidFill>
            <a:schemeClr val="bg1"/>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dirty="0">
                <a:ln>
                  <a:noFill/>
                </a:ln>
                <a:solidFill>
                  <a:srgbClr val="000000"/>
                </a:solidFill>
                <a:effectLst/>
                <a:uLnTx/>
                <a:uFillTx/>
                <a:latin typeface="Arial" panose="020B0604020202020204"/>
                <a:ea typeface="+mn-ea"/>
                <a:cs typeface="+mn-cs"/>
              </a:rPr>
              <a:t>Example 2</a:t>
            </a:r>
          </a:p>
        </p:txBody>
      </p:sp>
      <p:grpSp>
        <p:nvGrpSpPr>
          <p:cNvPr id="26" name="Group 25">
            <a:extLst>
              <a:ext uri="{FF2B5EF4-FFF2-40B4-BE49-F238E27FC236}">
                <a16:creationId xmlns:a16="http://schemas.microsoft.com/office/drawing/2014/main" id="{710B4E7E-12B0-49A3-805B-5F879432718D}"/>
              </a:ext>
            </a:extLst>
          </p:cNvPr>
          <p:cNvGrpSpPr/>
          <p:nvPr/>
        </p:nvGrpSpPr>
        <p:grpSpPr>
          <a:xfrm>
            <a:off x="4594835" y="5411272"/>
            <a:ext cx="3266802" cy="1025634"/>
            <a:chOff x="4259893" y="5414615"/>
            <a:chExt cx="3266802" cy="1025634"/>
          </a:xfrm>
        </p:grpSpPr>
        <p:pic>
          <p:nvPicPr>
            <p:cNvPr id="24" name="Picture 23">
              <a:extLst>
                <a:ext uri="{FF2B5EF4-FFF2-40B4-BE49-F238E27FC236}">
                  <a16:creationId xmlns:a16="http://schemas.microsoft.com/office/drawing/2014/main" id="{15195509-3589-4CE6-B30E-1E2FB9A426C6}"/>
                </a:ext>
              </a:extLst>
            </p:cNvPr>
            <p:cNvPicPr>
              <a:picLocks noChangeAspect="1"/>
            </p:cNvPicPr>
            <p:nvPr/>
          </p:nvPicPr>
          <p:blipFill>
            <a:blip r:embed="rId9"/>
            <a:stretch>
              <a:fillRect/>
            </a:stretch>
          </p:blipFill>
          <p:spPr>
            <a:xfrm>
              <a:off x="4259893" y="5414615"/>
              <a:ext cx="3266802" cy="793680"/>
            </a:xfrm>
            <a:prstGeom prst="rect">
              <a:avLst/>
            </a:prstGeom>
          </p:spPr>
        </p:pic>
        <p:pic>
          <p:nvPicPr>
            <p:cNvPr id="25" name="Picture 24">
              <a:extLst>
                <a:ext uri="{FF2B5EF4-FFF2-40B4-BE49-F238E27FC236}">
                  <a16:creationId xmlns:a16="http://schemas.microsoft.com/office/drawing/2014/main" id="{DBA42DC8-DA0C-4CC5-A894-DE2E5296FB98}"/>
                </a:ext>
              </a:extLst>
            </p:cNvPr>
            <p:cNvPicPr>
              <a:picLocks noChangeAspect="1"/>
            </p:cNvPicPr>
            <p:nvPr/>
          </p:nvPicPr>
          <p:blipFill>
            <a:blip r:embed="rId10"/>
            <a:stretch>
              <a:fillRect/>
            </a:stretch>
          </p:blipFill>
          <p:spPr>
            <a:xfrm>
              <a:off x="4259893" y="6208295"/>
              <a:ext cx="3266802" cy="231954"/>
            </a:xfrm>
            <a:prstGeom prst="rect">
              <a:avLst/>
            </a:prstGeom>
          </p:spPr>
        </p:pic>
      </p:grpSp>
      <p:sp>
        <p:nvSpPr>
          <p:cNvPr id="27" name="Rectangle: Rounded Corners 26">
            <a:extLst>
              <a:ext uri="{FF2B5EF4-FFF2-40B4-BE49-F238E27FC236}">
                <a16:creationId xmlns:a16="http://schemas.microsoft.com/office/drawing/2014/main" id="{487BAFFC-FFE2-45C3-B5AC-8006C5BF8783}"/>
              </a:ext>
            </a:extLst>
          </p:cNvPr>
          <p:cNvSpPr/>
          <p:nvPr/>
        </p:nvSpPr>
        <p:spPr>
          <a:xfrm>
            <a:off x="6328473" y="5323660"/>
            <a:ext cx="1310960" cy="31308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KS03 – Display Cost Centre</a:t>
            </a:r>
          </a:p>
        </p:txBody>
      </p:sp>
      <p:sp>
        <p:nvSpPr>
          <p:cNvPr id="35" name="Rectangle: Rounded Corners 34">
            <a:extLst>
              <a:ext uri="{FF2B5EF4-FFF2-40B4-BE49-F238E27FC236}">
                <a16:creationId xmlns:a16="http://schemas.microsoft.com/office/drawing/2014/main" id="{CCCB4350-3F6F-4F8E-BF9F-1C171502D323}"/>
              </a:ext>
            </a:extLst>
          </p:cNvPr>
          <p:cNvSpPr/>
          <p:nvPr/>
        </p:nvSpPr>
        <p:spPr>
          <a:xfrm>
            <a:off x="10166470" y="5159939"/>
            <a:ext cx="1310960" cy="31308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CJ20N – Project Builder</a:t>
            </a:r>
          </a:p>
        </p:txBody>
      </p:sp>
      <p:sp>
        <p:nvSpPr>
          <p:cNvPr id="43" name="Rectangle: Rounded Corners 42">
            <a:extLst>
              <a:ext uri="{FF2B5EF4-FFF2-40B4-BE49-F238E27FC236}">
                <a16:creationId xmlns:a16="http://schemas.microsoft.com/office/drawing/2014/main" id="{B1537864-7FB1-4924-AAE3-EA6FE62041BD}"/>
              </a:ext>
            </a:extLst>
          </p:cNvPr>
          <p:cNvSpPr/>
          <p:nvPr/>
        </p:nvSpPr>
        <p:spPr>
          <a:xfrm>
            <a:off x="7619471" y="5688995"/>
            <a:ext cx="1183639" cy="313085"/>
          </a:xfrm>
          <a:prstGeom prst="roundRect">
            <a:avLst/>
          </a:prstGeom>
          <a:solidFill>
            <a:schemeClr val="bg1"/>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dirty="0">
                <a:ln>
                  <a:noFill/>
                </a:ln>
                <a:solidFill>
                  <a:srgbClr val="000000"/>
                </a:solidFill>
                <a:effectLst/>
                <a:uLnTx/>
                <a:uFillTx/>
                <a:latin typeface="Arial" panose="020B0604020202020204"/>
                <a:ea typeface="+mn-ea"/>
                <a:cs typeface="+mn-cs"/>
              </a:rPr>
              <a:t>Cost Objects</a:t>
            </a:r>
          </a:p>
        </p:txBody>
      </p:sp>
    </p:spTree>
    <p:extLst>
      <p:ext uri="{BB962C8B-B14F-4D97-AF65-F5344CB8AC3E}">
        <p14:creationId xmlns:p14="http://schemas.microsoft.com/office/powerpoint/2010/main" val="2256089466"/>
      </p:ext>
    </p:extLst>
  </p:cSld>
  <p:clrMapOvr>
    <a:masterClrMapping/>
  </p:clrMapOvr>
</p:sld>
</file>

<file path=ppt/theme/theme1.xml><?xml version="1.0" encoding="utf-8"?>
<a:theme xmlns:a="http://schemas.openxmlformats.org/drawingml/2006/main" name="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DA4E5D3D-1039-4387-AE5B-9E36346446E6}"/>
</file>

<file path=customXml/itemProps2.xml><?xml version="1.0" encoding="utf-8"?>
<ds:datastoreItem xmlns:ds="http://schemas.openxmlformats.org/officeDocument/2006/customXml" ds:itemID="{83AC0587-C419-4F7A-8ED3-B581C8802479}">
  <ds:schemaRefs>
    <ds:schemaRef ds:uri="http://schemas.microsoft.com/sharepoint/v3/contenttype/forms"/>
  </ds:schemaRefs>
</ds:datastoreItem>
</file>

<file path=customXml/itemProps3.xml><?xml version="1.0" encoding="utf-8"?>
<ds:datastoreItem xmlns:ds="http://schemas.openxmlformats.org/officeDocument/2006/customXml" ds:itemID="{1BC31FD9-A202-4162-A9BD-E33489D1CDCA}">
  <ds:schemaRefs>
    <ds:schemaRef ds:uri="http://schemas.microsoft.com/office/2006/metadata/properties"/>
    <ds:schemaRef ds:uri="http://schemas.microsoft.com/office/2006/documentManagement/types"/>
    <ds:schemaRef ds:uri="91871c47-af2e-43ea-ad3f-7bb4c536bc45"/>
    <ds:schemaRef ds:uri="http://schemas.microsoft.com/office/infopath/2007/PartnerControls"/>
    <ds:schemaRef ds:uri="http://schemas.openxmlformats.org/package/2006/metadata/core-properties"/>
    <ds:schemaRef ds:uri="http://www.w3.org/XML/1998/namespace"/>
    <ds:schemaRef ds:uri="http://purl.org/dc/terms/"/>
    <ds:schemaRef ds:uri="ba249638-b5c4-4b59-8094-70d8491c2e9c"/>
    <ds:schemaRef ds:uri="cb52ee0d-5346-4ae8-a9f9-d746adffeb6b"/>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16254</TotalTime>
  <Words>3348</Words>
  <Application>Microsoft Office PowerPoint</Application>
  <PresentationFormat>Widescreen</PresentationFormat>
  <Paragraphs>292</Paragraphs>
  <Slides>25</Slides>
  <Notes>9</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25</vt:i4>
      </vt:variant>
    </vt:vector>
  </HeadingPairs>
  <TitlesOfParts>
    <vt:vector size="35" baseType="lpstr">
      <vt:lpstr>Meiryo UI</vt:lpstr>
      <vt:lpstr>Arial</vt:lpstr>
      <vt:lpstr>Arial Black</vt:lpstr>
      <vt:lpstr>Calibri</vt:lpstr>
      <vt:lpstr>Courier New</vt:lpstr>
      <vt:lpstr>Georgia</vt:lpstr>
      <vt:lpstr>Wingdings</vt:lpstr>
      <vt:lpstr>JTI</vt:lpstr>
      <vt:lpstr>S4F-ERP G&amp;A &amp; Marketing Cost Management</vt:lpstr>
      <vt:lpstr>1_S4F-ERP G&amp;A &amp; Marketing Cost Management</vt:lpstr>
      <vt:lpstr>PowerPoint Presentation</vt:lpstr>
      <vt:lpstr>COST CENTER ALLOCATIONS</vt:lpstr>
      <vt:lpstr>PowerPoint Presentation</vt:lpstr>
      <vt:lpstr>Overview – About this course</vt:lpstr>
      <vt:lpstr>PowerPoint Presentation</vt:lpstr>
      <vt:lpstr>Cost Centers – Overview of key changes</vt:lpstr>
      <vt:lpstr>CC Key Master Data Fields – Basic Fields</vt:lpstr>
      <vt:lpstr>CC Key Master Data Fields – Lock Indicators</vt:lpstr>
      <vt:lpstr>Display Cost Center Master Data (Mulitple Cost centers)</vt:lpstr>
      <vt:lpstr>PowerPoint Presentation</vt:lpstr>
      <vt:lpstr>PowerPoint Presentation</vt:lpstr>
      <vt:lpstr>PowerPoint Presentation</vt:lpstr>
      <vt:lpstr>PowerPoint Presentation</vt:lpstr>
      <vt:lpstr>CC Key Master Data Fields – CC Category</vt:lpstr>
      <vt:lpstr>CC Key Master Data Fields – CC Category</vt:lpstr>
      <vt:lpstr>CC Key Master Data Fields – CC Categories</vt:lpstr>
      <vt:lpstr>CC Key Master Data Fields – CC Categories</vt:lpstr>
      <vt:lpstr>PowerPoint Presentation</vt:lpstr>
      <vt:lpstr>CC Key Master Data Fields – Hierarchy/Company Code</vt:lpstr>
      <vt:lpstr>Cost Center Standard Hierarchy</vt:lpstr>
      <vt:lpstr>Cost Center Alternative Hierarchies</vt:lpstr>
      <vt:lpstr>PowerPoint Presentation</vt:lpstr>
      <vt:lpstr>CC Key Master Data Fields – Functional Area</vt:lpstr>
      <vt:lpstr>CC Key Master Data Fields – G/L Accounts for Misc.</vt:lpstr>
      <vt:lpstr>CC Key Master Data Fields – Functional Area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O'Neill, Shauna</dc:creator>
  <cp:lastModifiedBy>O'Neill, Shauna</cp:lastModifiedBy>
  <cp:revision>2</cp:revision>
  <dcterms:created xsi:type="dcterms:W3CDTF">2019-10-09T10:37:21Z</dcterms:created>
  <dcterms:modified xsi:type="dcterms:W3CDTF">2024-05-13T14:47:05Z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1275600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2022-04-29T07:00:26Z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e955072a-5cd8-4967-abc0-ec0ffe48a864</vt:lpwstr>
  </property>
  <property fmtid="{D5CDD505-2E9C-101B-9397-08002B2CF9AE}" pid="14" name="MSIP_Label_b020b37f-db72-473e-ae54-fb16df408069_ContentBits">
    <vt:lpwstr>0</vt:lpwstr>
  </property>
  <property fmtid="{D5CDD505-2E9C-101B-9397-08002B2CF9AE}" pid="15" name="MediaServiceImageTags">
    <vt:lpwstr/>
  </property>
  <property fmtid="{D5CDD505-2E9C-101B-9397-08002B2CF9AE}" pid="16" name="_SourceUrl">
    <vt:lpwstr/>
  </property>
  <property fmtid="{D5CDD505-2E9C-101B-9397-08002B2CF9AE}" pid="17" name="_SharedFileIndex">
    <vt:lpwstr/>
  </property>
</Properties>
</file>