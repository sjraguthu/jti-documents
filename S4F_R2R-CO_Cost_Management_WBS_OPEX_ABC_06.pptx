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4"/>
  </p:notesMasterIdLst>
  <p:sldIdLst>
    <p:sldId id="2993" r:id="rId5"/>
    <p:sldId id="2994" r:id="rId6"/>
    <p:sldId id="3024" r:id="rId7"/>
    <p:sldId id="3025" r:id="rId8"/>
    <p:sldId id="2999" r:id="rId9"/>
    <p:sldId id="3000" r:id="rId10"/>
    <p:sldId id="2406" r:id="rId11"/>
    <p:sldId id="2407" r:id="rId12"/>
    <p:sldId id="2408" r:id="rId13"/>
    <p:sldId id="2411" r:id="rId14"/>
    <p:sldId id="2412" r:id="rId15"/>
    <p:sldId id="2658" r:id="rId16"/>
    <p:sldId id="2659" r:id="rId17"/>
    <p:sldId id="2660" r:id="rId18"/>
    <p:sldId id="3021" r:id="rId19"/>
    <p:sldId id="3022" r:id="rId20"/>
    <p:sldId id="3023" r:id="rId21"/>
    <p:sldId id="3018" r:id="rId22"/>
    <p:sldId id="301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A71D11-C4B5-43C6-999D-922DCCC1FF4D}" v="1" dt="2021-06-07T11:50:54.6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2" d="100"/>
          <a:sy n="62" d="100"/>
        </p:scale>
        <p:origin x="82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Neill, Shauna" userId="1d0a8ccc-c260-429c-86e4-d406a5ac1d3d" providerId="ADAL" clId="{6C523A21-49C9-4DFD-BCE6-D634B2E2913D}"/>
    <pc:docChg chg="addSld delSld modSld">
      <pc:chgData name="O'Neill, Shauna" userId="1d0a8ccc-c260-429c-86e4-d406a5ac1d3d" providerId="ADAL" clId="{6C523A21-49C9-4DFD-BCE6-D634B2E2913D}" dt="2019-10-17T11:47:59.917" v="11"/>
      <pc:docMkLst>
        <pc:docMk/>
      </pc:docMkLst>
      <pc:sldChg chg="del">
        <pc:chgData name="O'Neill, Shauna" userId="1d0a8ccc-c260-429c-86e4-d406a5ac1d3d" providerId="ADAL" clId="{6C523A21-49C9-4DFD-BCE6-D634B2E2913D}" dt="2019-10-17T11:43:15.336" v="1" actId="2696"/>
        <pc:sldMkLst>
          <pc:docMk/>
          <pc:sldMk cId="2102608680" sldId="2997"/>
        </pc:sldMkLst>
      </pc:sldChg>
      <pc:sldChg chg="del">
        <pc:chgData name="O'Neill, Shauna" userId="1d0a8ccc-c260-429c-86e4-d406a5ac1d3d" providerId="ADAL" clId="{6C523A21-49C9-4DFD-BCE6-D634B2E2913D}" dt="2019-10-17T11:43:15.357" v="2" actId="2696"/>
        <pc:sldMkLst>
          <pc:docMk/>
          <pc:sldMk cId="381747017" sldId="2998"/>
        </pc:sldMkLst>
      </pc:sldChg>
      <pc:sldChg chg="add">
        <pc:chgData name="O'Neill, Shauna" userId="1d0a8ccc-c260-429c-86e4-d406a5ac1d3d" providerId="ADAL" clId="{6C523A21-49C9-4DFD-BCE6-D634B2E2913D}" dt="2019-10-17T11:43:10.239" v="0"/>
        <pc:sldMkLst>
          <pc:docMk/>
          <pc:sldMk cId="2179134624" sldId="3024"/>
        </pc:sldMkLst>
      </pc:sldChg>
      <pc:sldChg chg="modSp add">
        <pc:chgData name="O'Neill, Shauna" userId="1d0a8ccc-c260-429c-86e4-d406a5ac1d3d" providerId="ADAL" clId="{6C523A21-49C9-4DFD-BCE6-D634B2E2913D}" dt="2019-10-17T11:47:59.917" v="11"/>
        <pc:sldMkLst>
          <pc:docMk/>
          <pc:sldMk cId="1116469673" sldId="3025"/>
        </pc:sldMkLst>
        <pc:spChg chg="mod">
          <ac:chgData name="O'Neill, Shauna" userId="1d0a8ccc-c260-429c-86e4-d406a5ac1d3d" providerId="ADAL" clId="{6C523A21-49C9-4DFD-BCE6-D634B2E2913D}" dt="2019-10-17T11:47:59.917" v="11"/>
          <ac:spMkLst>
            <pc:docMk/>
            <pc:sldMk cId="1116469673" sldId="3025"/>
            <ac:spMk id="11" creationId="{990CDEF0-6C0B-45BA-BABD-3B2C64F28634}"/>
          </ac:spMkLst>
        </pc:sp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78F6DC-E7D7-4D68-8D43-50EADAFAAA2A}" type="datetimeFigureOut">
              <a:rPr lang="en-US" smtClean="0"/>
              <a:t>6/7/2021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F4089B-D68D-47CC-94AC-7BC11258A43A}" type="slidenum">
              <a:rPr lang="en-US" smtClean="0"/>
              <a:t>‹#›</a:t>
            </a:fld>
            <a:endParaRPr lang="en-US"/>
          </a:p>
        </p:txBody>
      </p:sp>
    </p:spTree>
    <p:extLst>
      <p:ext uri="{BB962C8B-B14F-4D97-AF65-F5344CB8AC3E}">
        <p14:creationId xmlns:p14="http://schemas.microsoft.com/office/powerpoint/2010/main" val="2772027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02944EB3-E743-414B-A21A-64E051E5FA09}" type="slidenum">
              <a:rPr lang="en-GB" smtClean="0"/>
              <a:t>12</a:t>
            </a:fld>
            <a:endParaRPr lang="en-GB" dirty="0"/>
          </a:p>
        </p:txBody>
      </p:sp>
    </p:spTree>
    <p:extLst>
      <p:ext uri="{BB962C8B-B14F-4D97-AF65-F5344CB8AC3E}">
        <p14:creationId xmlns:p14="http://schemas.microsoft.com/office/powerpoint/2010/main" val="35898480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02944EB3-E743-414B-A21A-64E051E5FA09}" type="slidenum">
              <a:rPr lang="en-GB" smtClean="0"/>
              <a:t>13</a:t>
            </a:fld>
            <a:endParaRPr lang="en-GB" dirty="0"/>
          </a:p>
        </p:txBody>
      </p:sp>
    </p:spTree>
    <p:extLst>
      <p:ext uri="{BB962C8B-B14F-4D97-AF65-F5344CB8AC3E}">
        <p14:creationId xmlns:p14="http://schemas.microsoft.com/office/powerpoint/2010/main" val="42578402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02944EB3-E743-414B-A21A-64E051E5FA09}" type="slidenum">
              <a:rPr lang="en-GB" smtClean="0"/>
              <a:t>14</a:t>
            </a:fld>
            <a:endParaRPr lang="en-GB" dirty="0"/>
          </a:p>
        </p:txBody>
      </p:sp>
    </p:spTree>
    <p:extLst>
      <p:ext uri="{BB962C8B-B14F-4D97-AF65-F5344CB8AC3E}">
        <p14:creationId xmlns:p14="http://schemas.microsoft.com/office/powerpoint/2010/main" val="2586358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4705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90638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93200" cy="4990620"/>
          </a:xfrm>
          <a:prstGeom prst="rect">
            <a:avLst/>
          </a:prstGeom>
        </p:spPr>
      </p:pic>
      <p:sp>
        <p:nvSpPr>
          <p:cNvPr id="6" name="Rectangle 5"/>
          <p:cNvSpPr/>
          <p:nvPr userDrawn="1"/>
        </p:nvSpPr>
        <p:spPr>
          <a:xfrm>
            <a:off x="0" y="4199439"/>
            <a:ext cx="12192000" cy="1440000"/>
          </a:xfrm>
          <a:prstGeom prst="rect">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4090523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2461582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2060640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15541529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3_Custom Layout">
    <p:spTree>
      <p:nvGrpSpPr>
        <p:cNvPr id="1" name=""/>
        <p:cNvGrpSpPr/>
        <p:nvPr/>
      </p:nvGrpSpPr>
      <p:grpSpPr>
        <a:xfrm>
          <a:off x="0" y="0"/>
          <a:ext cx="0" cy="0"/>
          <a:chOff x="0" y="0"/>
          <a:chExt cx="0" cy="0"/>
        </a:xfrm>
      </p:grpSpPr>
      <p:grpSp>
        <p:nvGrpSpPr>
          <p:cNvPr id="6" name="Group 5"/>
          <p:cNvGrpSpPr/>
          <p:nvPr/>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sz="1600"/>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sp>
          <p:nvSpPr>
            <p:cNvPr id="8" name="Rectangle 7"/>
            <p:cNvSpPr/>
            <p:nvPr/>
          </p:nvSpPr>
          <p:spPr>
            <a:xfrm>
              <a:off x="6096000" y="-11151"/>
              <a:ext cx="6096000" cy="6869151"/>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dirty="0"/>
          </a:p>
        </p:txBody>
      </p:sp>
      <p:sp>
        <p:nvSpPr>
          <p:cNvPr id="11" name="Title 1">
            <a:extLst>
              <a:ext uri="{FF2B5EF4-FFF2-40B4-BE49-F238E27FC236}">
                <a16:creationId xmlns:a16="http://schemas.microsoft.com/office/drawing/2014/main" id="{42F2BE79-9CF6-49D0-828F-83304EE10FA4}"/>
              </a:ext>
            </a:extLst>
          </p:cNvPr>
          <p:cNvSpPr>
            <a:spLocks noGrp="1"/>
          </p:cNvSpPr>
          <p:nvPr>
            <p:ph type="title"/>
          </p:nvPr>
        </p:nvSpPr>
        <p:spPr>
          <a:xfrm>
            <a:off x="515940" y="210346"/>
            <a:ext cx="9898061" cy="984247"/>
          </a:xfrm>
        </p:spPr>
        <p:txBody>
          <a:bodyPr>
            <a:normAutofit/>
          </a:bodyPr>
          <a:lstStyle>
            <a:lvl1pPr>
              <a:defRPr sz="3199"/>
            </a:lvl1pPr>
          </a:lstStyle>
          <a:p>
            <a:r>
              <a:rPr lang="en-US"/>
              <a:t>Click to edit Master title style</a:t>
            </a:r>
            <a:endParaRPr lang="en-GB" dirty="0"/>
          </a:p>
        </p:txBody>
      </p:sp>
      <p:cxnSp>
        <p:nvCxnSpPr>
          <p:cNvPr id="12" name="Straight Connector 11"/>
          <p:cNvCxnSpPr/>
          <p:nvPr/>
        </p:nvCxnSpPr>
        <p:spPr>
          <a:xfrm>
            <a:off x="515940" y="1348042"/>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7579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vmlDrawing" Target="../drawings/vmlDrawing1.v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74C61B20-CA8C-448B-B3DE-7949AC7831DB}"/>
              </a:ext>
            </a:extLst>
          </p:cNvPr>
          <p:cNvGraphicFramePr>
            <a:graphicFrameLocks noChangeAspect="1"/>
          </p:cNvGraphicFramePr>
          <p:nvPr userDrawn="1">
            <p:custDataLst>
              <p:tags r:id="rId8"/>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6" name="think-cell Slide" r:id="rId10" imgW="415" imgH="416" progId="TCLayout.ActiveDocument.1">
                  <p:embed/>
                </p:oleObj>
              </mc:Choice>
              <mc:Fallback>
                <p:oleObj name="think-cell Slide" r:id="rId10" imgW="415" imgH="416" progId="TCLayout.ActiveDocument.1">
                  <p:embed/>
                  <p:pic>
                    <p:nvPicPr>
                      <p:cNvPr id="7" name="Object 6" hidden="1">
                        <a:extLst>
                          <a:ext uri="{FF2B5EF4-FFF2-40B4-BE49-F238E27FC236}">
                            <a16:creationId xmlns:a16="http://schemas.microsoft.com/office/drawing/2014/main" id="{74C61B20-CA8C-448B-B3DE-7949AC7831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7349891-03CB-4764-ACA2-C55EBD04A016}"/>
              </a:ext>
            </a:extLst>
          </p:cNvPr>
          <p:cNvSpPr/>
          <p:nvPr userDrawn="1">
            <p:custDataLst>
              <p:tags r:id="rId9"/>
            </p:custDataLst>
          </p:nvPr>
        </p:nvSpPr>
        <p:spPr>
          <a:xfrm>
            <a:off x="0" y="0"/>
            <a:ext cx="158750" cy="1587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3200" b="1" i="0" baseline="0">
              <a:latin typeface="Arial" panose="020B0604020202020204" pitchFamily="34" charset="0"/>
              <a:ea typeface="+mj-ea"/>
              <a:cs typeface="+mj-cs"/>
              <a:sym typeface="Arial" panose="020B0604020202020204" pitchFamily="34" charset="0"/>
            </a:endParaRPr>
          </a:p>
        </p:txBody>
      </p:sp>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7092147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image" Target="../media/image35.emf"/><Relationship Id="rId5" Type="http://schemas.openxmlformats.org/officeDocument/2006/relationships/package" Target="../embeddings/Microsoft_Excel_Worksheet.xlsx"/><Relationship Id="rId4" Type="http://schemas.openxmlformats.org/officeDocument/2006/relationships/image" Target="../media/image36.emf"/></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60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Course Structure</a:t>
            </a:r>
          </a:p>
        </p:txBody>
      </p:sp>
      <p:grpSp>
        <p:nvGrpSpPr>
          <p:cNvPr id="7" name="Group 6">
            <a:extLst>
              <a:ext uri="{FF2B5EF4-FFF2-40B4-BE49-F238E27FC236}">
                <a16:creationId xmlns:a16="http://schemas.microsoft.com/office/drawing/2014/main" id="{474D4FF4-254A-46D0-9CD7-22FB21CBD752}"/>
              </a:ext>
            </a:extLst>
          </p:cNvPr>
          <p:cNvGrpSpPr/>
          <p:nvPr/>
        </p:nvGrpSpPr>
        <p:grpSpPr>
          <a:xfrm>
            <a:off x="7127037" y="2032938"/>
            <a:ext cx="4564896" cy="2523128"/>
            <a:chOff x="6326261" y="1770500"/>
            <a:chExt cx="4564896" cy="2523128"/>
          </a:xfrm>
        </p:grpSpPr>
        <p:cxnSp>
          <p:nvCxnSpPr>
            <p:cNvPr id="5" name="Elbow Connector 4"/>
            <p:cNvCxnSpPr>
              <a:cxnSpLocks/>
            </p:cNvCxnSpPr>
            <p:nvPr/>
          </p:nvCxnSpPr>
          <p:spPr>
            <a:xfrm flipV="1">
              <a:off x="6326261" y="1987271"/>
              <a:ext cx="944475" cy="1736449"/>
            </a:xfrm>
            <a:prstGeom prst="bentConnector3">
              <a:avLst>
                <a:gd name="adj1" fmla="val 48917"/>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56F0F345-E558-4C12-9994-83968DB2906A}"/>
                </a:ext>
              </a:extLst>
            </p:cNvPr>
            <p:cNvGrpSpPr/>
            <p:nvPr/>
          </p:nvGrpSpPr>
          <p:grpSpPr>
            <a:xfrm>
              <a:off x="6771633" y="1770500"/>
              <a:ext cx="4119524" cy="2523128"/>
              <a:chOff x="6771633" y="1770500"/>
              <a:chExt cx="4119524" cy="2523128"/>
            </a:xfrm>
          </p:grpSpPr>
          <p:cxnSp>
            <p:nvCxnSpPr>
              <p:cNvPr id="43" name="Straight Connector 42"/>
              <p:cNvCxnSpPr>
                <a:cxnSpLocks/>
              </p:cNvCxnSpPr>
              <p:nvPr/>
            </p:nvCxnSpPr>
            <p:spPr>
              <a:xfrm>
                <a:off x="6782605" y="2692997"/>
                <a:ext cx="48813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cxnSpLocks/>
              </p:cNvCxnSpPr>
              <p:nvPr/>
            </p:nvCxnSpPr>
            <p:spPr>
              <a:xfrm>
                <a:off x="6771633" y="3301726"/>
                <a:ext cx="499103"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7667063" y="3789935"/>
                <a:ext cx="3224093" cy="503693"/>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1800" b="1" i="0" u="none" strike="noStrike" kern="1200" cap="none" spc="0" normalizeH="0" baseline="0" noProof="0" dirty="0">
                    <a:ln>
                      <a:noFill/>
                    </a:ln>
                    <a:solidFill>
                      <a:srgbClr val="1A3040"/>
                    </a:solidFill>
                    <a:effectLst/>
                    <a:uLnTx/>
                    <a:uFillTx/>
                    <a:latin typeface="Arial" charset="0"/>
                    <a:ea typeface="Arial" charset="0"/>
                    <a:cs typeface="Arial" charset="0"/>
                  </a:rPr>
                  <a:t>Reporting</a:t>
                </a:r>
                <a:endParaRPr kumimoji="0" lang="en-US" sz="2400" b="1" i="0" u="none" strike="noStrike" kern="1200" cap="none" spc="0" normalizeH="0" baseline="0" noProof="0" dirty="0">
                  <a:ln>
                    <a:noFill/>
                  </a:ln>
                  <a:solidFill>
                    <a:srgbClr val="1A3040"/>
                  </a:solidFill>
                  <a:effectLst/>
                  <a:uLnTx/>
                  <a:uFillTx/>
                  <a:latin typeface="Arial" charset="0"/>
                  <a:ea typeface="Arial" charset="0"/>
                  <a:cs typeface="Arial" charset="0"/>
                </a:endParaRPr>
              </a:p>
            </p:txBody>
          </p:sp>
          <p:sp>
            <p:nvSpPr>
              <p:cNvPr id="40" name="Rounded Rectangle 39"/>
              <p:cNvSpPr/>
              <p:nvPr/>
            </p:nvSpPr>
            <p:spPr>
              <a:xfrm>
                <a:off x="7667064" y="2434337"/>
                <a:ext cx="3224093" cy="41063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2000" b="1" i="0" u="none" strike="noStrike" kern="1200" cap="none" spc="0" normalizeH="0" baseline="0" noProof="0" dirty="0">
                    <a:ln>
                      <a:noFill/>
                    </a:ln>
                    <a:solidFill>
                      <a:srgbClr val="FFFFFF"/>
                    </a:solidFill>
                    <a:effectLst/>
                    <a:uLnTx/>
                    <a:uFillTx/>
                    <a:latin typeface="Arial"/>
                    <a:ea typeface="+mn-ea"/>
                    <a:cs typeface="Arial"/>
                  </a:rPr>
                  <a:t>Settlement</a:t>
                </a:r>
                <a:endParaRPr kumimoji="0" lang="en-US" sz="2000" b="1" i="0" u="none" strike="noStrike" kern="1200" cap="none" spc="0" normalizeH="0" baseline="0" noProof="0" dirty="0">
                  <a:ln>
                    <a:noFill/>
                  </a:ln>
                  <a:solidFill>
                    <a:srgbClr val="FFFFFF"/>
                  </a:solidFill>
                  <a:effectLst/>
                  <a:uLnTx/>
                  <a:uFillTx/>
                  <a:latin typeface="Arial"/>
                  <a:ea typeface="+mn-ea"/>
                  <a:cs typeface="Arial"/>
                </a:endParaRPr>
              </a:p>
            </p:txBody>
          </p:sp>
          <p:sp>
            <p:nvSpPr>
              <p:cNvPr id="42" name="Rounded Rectangle 41"/>
              <p:cNvSpPr/>
              <p:nvPr/>
            </p:nvSpPr>
            <p:spPr>
              <a:xfrm>
                <a:off x="7667063" y="1770500"/>
                <a:ext cx="3224093" cy="458540"/>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charset="0"/>
                    <a:ea typeface="Arial" charset="0"/>
                    <a:cs typeface="Arial" charset="0"/>
                  </a:rPr>
                  <a:t>Postings to WBS</a:t>
                </a:r>
                <a:endPar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5" name="Rounded Rectangle 41">
                <a:extLst>
                  <a:ext uri="{FF2B5EF4-FFF2-40B4-BE49-F238E27FC236}">
                    <a16:creationId xmlns:a16="http://schemas.microsoft.com/office/drawing/2014/main" id="{E963A717-D630-4DA8-B336-CCE6DE1BD091}"/>
                  </a:ext>
                </a:extLst>
              </p:cNvPr>
              <p:cNvSpPr/>
              <p:nvPr/>
            </p:nvSpPr>
            <p:spPr>
              <a:xfrm>
                <a:off x="7651192" y="3099059"/>
                <a:ext cx="3224093" cy="458540"/>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charset="0"/>
                    <a:ea typeface="Arial" charset="0"/>
                    <a:cs typeface="Arial" charset="0"/>
                  </a:rPr>
                  <a:t>Multi Brand Settlement</a:t>
                </a:r>
                <a:endPar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grpSp>
      <p:grpSp>
        <p:nvGrpSpPr>
          <p:cNvPr id="47" name="Group 46">
            <a:extLst>
              <a:ext uri="{FF2B5EF4-FFF2-40B4-BE49-F238E27FC236}">
                <a16:creationId xmlns:a16="http://schemas.microsoft.com/office/drawing/2014/main" id="{88557075-149A-4138-9231-545739BEBE1D}"/>
              </a:ext>
            </a:extLst>
          </p:cNvPr>
          <p:cNvGrpSpPr/>
          <p:nvPr/>
        </p:nvGrpSpPr>
        <p:grpSpPr>
          <a:xfrm>
            <a:off x="575920" y="2343092"/>
            <a:ext cx="6501153" cy="1801797"/>
            <a:chOff x="4372240" y="2883731"/>
            <a:chExt cx="8346518" cy="2313241"/>
          </a:xfrm>
        </p:grpSpPr>
        <p:sp>
          <p:nvSpPr>
            <p:cNvPr id="48" name="TextBox 47">
              <a:extLst>
                <a:ext uri="{FF2B5EF4-FFF2-40B4-BE49-F238E27FC236}">
                  <a16:creationId xmlns:a16="http://schemas.microsoft.com/office/drawing/2014/main" id="{3FACA906-96BB-44C5-B630-A79B75393CB9}"/>
                </a:ext>
              </a:extLst>
            </p:cNvPr>
            <p:cNvSpPr txBox="1"/>
            <p:nvPr/>
          </p:nvSpPr>
          <p:spPr>
            <a:xfrm>
              <a:off x="7444304" y="2883731"/>
              <a:ext cx="4606398" cy="54526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srgbClr val="FFFFFF"/>
                  </a:solidFill>
                  <a:effectLst/>
                  <a:uLnTx/>
                  <a:uFillTx/>
                  <a:latin typeface="Arial" panose="020B0604020202020204"/>
                  <a:ea typeface="+mn-ea"/>
                  <a:cs typeface="+mn-cs"/>
                </a:rPr>
                <a:t>Introduction to WBS</a:t>
              </a:r>
              <a:endParaRPr kumimoji="0" lang="en-GB" sz="2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9" name="TextBox 48">
              <a:extLst>
                <a:ext uri="{FF2B5EF4-FFF2-40B4-BE49-F238E27FC236}">
                  <a16:creationId xmlns:a16="http://schemas.microsoft.com/office/drawing/2014/main" id="{8EA03B0A-3843-495D-9908-710213E5EADF}"/>
                </a:ext>
              </a:extLst>
            </p:cNvPr>
            <p:cNvSpPr txBox="1"/>
            <p:nvPr/>
          </p:nvSpPr>
          <p:spPr>
            <a:xfrm>
              <a:off x="7444304" y="4651702"/>
              <a:ext cx="5274454" cy="54527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srgbClr val="FFFFFF"/>
                  </a:solidFill>
                  <a:effectLst/>
                  <a:uLnTx/>
                  <a:uFillTx/>
                  <a:latin typeface="Arial" panose="020B0604020202020204"/>
                  <a:ea typeface="+mn-ea"/>
                  <a:cs typeface="+mn-cs"/>
                </a:rPr>
                <a:t>WBS Costs &amp; Reporting</a:t>
              </a:r>
            </a:p>
          </p:txBody>
        </p:sp>
        <p:cxnSp>
          <p:nvCxnSpPr>
            <p:cNvPr id="50" name="Elbow Connector 31">
              <a:extLst>
                <a:ext uri="{FF2B5EF4-FFF2-40B4-BE49-F238E27FC236}">
                  <a16:creationId xmlns:a16="http://schemas.microsoft.com/office/drawing/2014/main" id="{DEF5C713-F45B-4872-8D42-194DB8B6B412}"/>
                </a:ext>
              </a:extLst>
            </p:cNvPr>
            <p:cNvCxnSpPr/>
            <p:nvPr/>
          </p:nvCxnSpPr>
          <p:spPr>
            <a:xfrm flipV="1">
              <a:off x="6194084" y="3201452"/>
              <a:ext cx="1096000" cy="780152"/>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1" name="Elbow Connector 37">
              <a:extLst>
                <a:ext uri="{FF2B5EF4-FFF2-40B4-BE49-F238E27FC236}">
                  <a16:creationId xmlns:a16="http://schemas.microsoft.com/office/drawing/2014/main" id="{1222C353-3050-4B4C-A150-5B156152833F}"/>
                </a:ext>
              </a:extLst>
            </p:cNvPr>
            <p:cNvCxnSpPr>
              <a:cxnSpLocks/>
            </p:cNvCxnSpPr>
            <p:nvPr/>
          </p:nvCxnSpPr>
          <p:spPr>
            <a:xfrm>
              <a:off x="6194084" y="3981604"/>
              <a:ext cx="1096000" cy="942733"/>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52" name="Group 51">
              <a:extLst>
                <a:ext uri="{FF2B5EF4-FFF2-40B4-BE49-F238E27FC236}">
                  <a16:creationId xmlns:a16="http://schemas.microsoft.com/office/drawing/2014/main" id="{B76DCB89-EE0A-4EFC-8C81-D03AF03DE943}"/>
                </a:ext>
              </a:extLst>
            </p:cNvPr>
            <p:cNvGrpSpPr/>
            <p:nvPr/>
          </p:nvGrpSpPr>
          <p:grpSpPr>
            <a:xfrm>
              <a:off x="4372240" y="3074237"/>
              <a:ext cx="1850100" cy="1850100"/>
              <a:chOff x="4401574" y="3295146"/>
              <a:chExt cx="624164" cy="624164"/>
            </a:xfrm>
          </p:grpSpPr>
          <p:grpSp>
            <p:nvGrpSpPr>
              <p:cNvPr id="55" name="Group 54">
                <a:extLst>
                  <a:ext uri="{FF2B5EF4-FFF2-40B4-BE49-F238E27FC236}">
                    <a16:creationId xmlns:a16="http://schemas.microsoft.com/office/drawing/2014/main" id="{0AF42F11-FB8F-4CDA-876A-CD7517C50089}"/>
                  </a:ext>
                </a:extLst>
              </p:cNvPr>
              <p:cNvGrpSpPr/>
              <p:nvPr/>
            </p:nvGrpSpPr>
            <p:grpSpPr>
              <a:xfrm>
                <a:off x="4401574" y="3295146"/>
                <a:ext cx="624164" cy="624164"/>
                <a:chOff x="4492144" y="190843"/>
                <a:chExt cx="855656" cy="855656"/>
              </a:xfrm>
            </p:grpSpPr>
            <p:sp>
              <p:nvSpPr>
                <p:cNvPr id="57" name="Oval 56">
                  <a:extLst>
                    <a:ext uri="{FF2B5EF4-FFF2-40B4-BE49-F238E27FC236}">
                      <a16:creationId xmlns:a16="http://schemas.microsoft.com/office/drawing/2014/main" id="{445B5FEA-008A-4DAC-B774-475D0044125F}"/>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8" name="Oval 57">
                  <a:extLst>
                    <a:ext uri="{FF2B5EF4-FFF2-40B4-BE49-F238E27FC236}">
                      <a16:creationId xmlns:a16="http://schemas.microsoft.com/office/drawing/2014/main" id="{E50A67D6-1127-4ADC-BEEB-575690EEE561}"/>
                    </a:ext>
                  </a:extLst>
                </p:cNvPr>
                <p:cNvSpPr/>
                <p:nvPr/>
              </p:nvSpPr>
              <p:spPr>
                <a:xfrm>
                  <a:off x="4551137" y="249836"/>
                  <a:ext cx="737671" cy="737671"/>
                </a:xfrm>
                <a:prstGeom prst="ellipse">
                  <a:avLst/>
                </a:prstGeom>
                <a:solidFill>
                  <a:srgbClr val="74D9D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56" name="Picture 55">
                <a:extLst>
                  <a:ext uri="{FF2B5EF4-FFF2-40B4-BE49-F238E27FC236}">
                    <a16:creationId xmlns:a16="http://schemas.microsoft.com/office/drawing/2014/main" id="{77C42F39-2F8D-461B-B761-5C3BD2A810B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45159" y="3458800"/>
                <a:ext cx="337454" cy="337454"/>
              </a:xfrm>
              <a:prstGeom prst="rect">
                <a:avLst/>
              </a:prstGeom>
            </p:spPr>
          </p:pic>
        </p:grpSp>
        <p:sp>
          <p:nvSpPr>
            <p:cNvPr id="53" name="TextBox 52">
              <a:extLst>
                <a:ext uri="{FF2B5EF4-FFF2-40B4-BE49-F238E27FC236}">
                  <a16:creationId xmlns:a16="http://schemas.microsoft.com/office/drawing/2014/main" id="{A1A658E9-7BEB-4B49-9866-5F5278D6DC2D}"/>
                </a:ext>
              </a:extLst>
            </p:cNvPr>
            <p:cNvSpPr txBox="1"/>
            <p:nvPr/>
          </p:nvSpPr>
          <p:spPr>
            <a:xfrm>
              <a:off x="7444304" y="3692476"/>
              <a:ext cx="4606398" cy="54526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srgbClr val="FFFFFF"/>
                  </a:solidFill>
                  <a:effectLst/>
                  <a:uLnTx/>
                  <a:uFillTx/>
                  <a:latin typeface="Arial" panose="020B0604020202020204"/>
                  <a:ea typeface="+mn-ea"/>
                  <a:cs typeface="+mn-cs"/>
                </a:rPr>
                <a:t>WBS Projects</a:t>
              </a:r>
            </a:p>
          </p:txBody>
        </p:sp>
        <p:cxnSp>
          <p:nvCxnSpPr>
            <p:cNvPr id="54" name="Straight Connector 53">
              <a:extLst>
                <a:ext uri="{FF2B5EF4-FFF2-40B4-BE49-F238E27FC236}">
                  <a16:creationId xmlns:a16="http://schemas.microsoft.com/office/drawing/2014/main" id="{724729C3-FCBA-4A9F-B2C3-1F1C3BB658AD}"/>
                </a:ext>
              </a:extLst>
            </p:cNvPr>
            <p:cNvCxnSpPr>
              <a:cxnSpLocks/>
            </p:cNvCxnSpPr>
            <p:nvPr/>
          </p:nvCxnSpPr>
          <p:spPr>
            <a:xfrm>
              <a:off x="6712794" y="3981604"/>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cxnSp>
        <p:nvCxnSpPr>
          <p:cNvPr id="60" name="Elbow Connector 4">
            <a:extLst>
              <a:ext uri="{FF2B5EF4-FFF2-40B4-BE49-F238E27FC236}">
                <a16:creationId xmlns:a16="http://schemas.microsoft.com/office/drawing/2014/main" id="{4F97492D-5F6C-492C-888A-F66D9FC3F85E}"/>
              </a:ext>
            </a:extLst>
          </p:cNvPr>
          <p:cNvCxnSpPr>
            <a:cxnSpLocks/>
          </p:cNvCxnSpPr>
          <p:nvPr/>
        </p:nvCxnSpPr>
        <p:spPr>
          <a:xfrm>
            <a:off x="7079297" y="3984057"/>
            <a:ext cx="1011699" cy="382354"/>
          </a:xfrm>
          <a:prstGeom prst="bentConnector3">
            <a:avLst>
              <a:gd name="adj1" fmla="val 50000"/>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68735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4270E85-EBDA-43A7-933C-C8FB4B77DA57}"/>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a:extLst>
              <a:ext uri="{FF2B5EF4-FFF2-40B4-BE49-F238E27FC236}">
                <a16:creationId xmlns:a16="http://schemas.microsoft.com/office/drawing/2014/main" id="{9017DD2F-CA15-4389-93D3-5BC89CF6880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CF075F6F-198B-4648-8816-F6C6B3E981E0}"/>
              </a:ext>
            </a:extLst>
          </p:cNvPr>
          <p:cNvSpPr>
            <a:spLocks noGrp="1"/>
          </p:cNvSpPr>
          <p:nvPr>
            <p:ph type="title"/>
          </p:nvPr>
        </p:nvSpPr>
        <p:spPr/>
        <p:txBody>
          <a:bodyPr/>
          <a:lstStyle/>
          <a:p>
            <a:r>
              <a:rPr lang="en-GB" dirty="0"/>
              <a:t>Budget Report - </a:t>
            </a:r>
            <a:r>
              <a:rPr lang="en-US" b="0" dirty="0"/>
              <a:t>ZBFIA_WBSREPORT</a:t>
            </a:r>
            <a:endParaRPr lang="en-US" dirty="0"/>
          </a:p>
        </p:txBody>
      </p:sp>
      <p:pic>
        <p:nvPicPr>
          <p:cNvPr id="26626" name="Picture 2">
            <a:extLst>
              <a:ext uri="{FF2B5EF4-FFF2-40B4-BE49-F238E27FC236}">
                <a16:creationId xmlns:a16="http://schemas.microsoft.com/office/drawing/2014/main" id="{B72DBCD7-6F37-4842-904B-BF512CD374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389" y="1589089"/>
            <a:ext cx="2652712" cy="108073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30F3237-9A8D-4442-999F-5C7E099BD41E}"/>
              </a:ext>
            </a:extLst>
          </p:cNvPr>
          <p:cNvPicPr>
            <a:picLocks noChangeAspect="1"/>
          </p:cNvPicPr>
          <p:nvPr/>
        </p:nvPicPr>
        <p:blipFill>
          <a:blip r:embed="rId3"/>
          <a:stretch>
            <a:fillRect/>
          </a:stretch>
        </p:blipFill>
        <p:spPr>
          <a:xfrm>
            <a:off x="687389" y="2790289"/>
            <a:ext cx="5167312" cy="1732808"/>
          </a:xfrm>
          <a:prstGeom prst="rect">
            <a:avLst/>
          </a:prstGeom>
        </p:spPr>
      </p:pic>
      <p:sp>
        <p:nvSpPr>
          <p:cNvPr id="7" name="Rectangle 6">
            <a:extLst>
              <a:ext uri="{FF2B5EF4-FFF2-40B4-BE49-F238E27FC236}">
                <a16:creationId xmlns:a16="http://schemas.microsoft.com/office/drawing/2014/main" id="{3237257E-15AE-4D90-8A5D-35FDF555FE57}"/>
              </a:ext>
            </a:extLst>
          </p:cNvPr>
          <p:cNvSpPr/>
          <p:nvPr/>
        </p:nvSpPr>
        <p:spPr>
          <a:xfrm>
            <a:off x="6412652" y="5044290"/>
            <a:ext cx="5530568" cy="1542665"/>
          </a:xfrm>
          <a:prstGeom prst="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There are many columns available in the report to meet the above requirements, and therefore we recommend that you use the below layouts when viewing the report: </a:t>
            </a:r>
          </a:p>
          <a:p>
            <a:pPr marL="742950" marR="0" lvl="1"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/PRJ_BUDG – to display the budget on a “budget holder” </a:t>
            </a:r>
          </a:p>
          <a:p>
            <a:pPr marL="742950" marR="0" lvl="1"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/WBS_EL_AC – to display the budget used for availability control for a WBS element </a:t>
            </a:r>
          </a:p>
        </p:txBody>
      </p:sp>
      <p:pic>
        <p:nvPicPr>
          <p:cNvPr id="6" name="Picture 5">
            <a:extLst>
              <a:ext uri="{FF2B5EF4-FFF2-40B4-BE49-F238E27FC236}">
                <a16:creationId xmlns:a16="http://schemas.microsoft.com/office/drawing/2014/main" id="{01C79B64-CCDD-4734-B914-862510B4F700}"/>
              </a:ext>
            </a:extLst>
          </p:cNvPr>
          <p:cNvPicPr>
            <a:picLocks noChangeAspect="1"/>
          </p:cNvPicPr>
          <p:nvPr/>
        </p:nvPicPr>
        <p:blipFill>
          <a:blip r:embed="rId4"/>
          <a:stretch>
            <a:fillRect/>
          </a:stretch>
        </p:blipFill>
        <p:spPr>
          <a:xfrm>
            <a:off x="913200" y="4925536"/>
            <a:ext cx="4475161" cy="1542665"/>
          </a:xfrm>
          <a:prstGeom prst="rect">
            <a:avLst/>
          </a:prstGeom>
          <a:ln w="19050">
            <a:solidFill>
              <a:srgbClr val="00B050"/>
            </a:solidFill>
          </a:ln>
        </p:spPr>
      </p:pic>
      <p:sp>
        <p:nvSpPr>
          <p:cNvPr id="9" name="Arrow: Right 8">
            <a:extLst>
              <a:ext uri="{FF2B5EF4-FFF2-40B4-BE49-F238E27FC236}">
                <a16:creationId xmlns:a16="http://schemas.microsoft.com/office/drawing/2014/main" id="{8C9AB3E7-D1B0-488F-9322-314CB3153AD4}"/>
              </a:ext>
            </a:extLst>
          </p:cNvPr>
          <p:cNvSpPr/>
          <p:nvPr/>
        </p:nvSpPr>
        <p:spPr>
          <a:xfrm>
            <a:off x="5549676" y="5218993"/>
            <a:ext cx="642574" cy="691701"/>
          </a:xfrm>
          <a:prstGeom prst="rightArrow">
            <a:avLst>
              <a:gd name="adj1" fmla="val 50000"/>
              <a:gd name="adj2" fmla="val 30275"/>
            </a:avLst>
          </a:prstGeom>
          <a:gradFill flip="none" rotWithShape="1">
            <a:gsLst>
              <a:gs pos="0">
                <a:srgbClr val="00B050"/>
              </a:gs>
              <a:gs pos="50000">
                <a:srgbClr val="93D050"/>
              </a:gs>
              <a:gs pos="100000">
                <a:schemeClr val="bg1">
                  <a:lumMod val="95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C0231B71-1064-4FE0-82DA-503672650D6D}"/>
              </a:ext>
            </a:extLst>
          </p:cNvPr>
          <p:cNvSpPr/>
          <p:nvPr/>
        </p:nvSpPr>
        <p:spPr>
          <a:xfrm>
            <a:off x="6412652" y="1499464"/>
            <a:ext cx="5530568" cy="2348636"/>
          </a:xfrm>
          <a:prstGeom prst="rect">
            <a:avLst/>
          </a:prstGeom>
          <a:no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The report can be used for the following purposes: </a:t>
            </a:r>
          </a:p>
          <a:p>
            <a:pPr marL="742950" marR="0" lvl="1"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To display the remaining budget on a “budget holder” (a WBS project or a WBS element, depending on if you have distributed the budget) </a:t>
            </a:r>
          </a:p>
          <a:p>
            <a:pPr marL="742950" marR="0" lvl="1"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To display the budget amount used for availability control </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Go to transaction ZBFIA_WBSREPORT in SAP</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On the selection screen you can either enter a project definition number (you can also run for more than one project) or for a WBS element (you can also run for more than one element) </a:t>
            </a:r>
          </a:p>
        </p:txBody>
      </p:sp>
      <p:sp>
        <p:nvSpPr>
          <p:cNvPr id="11" name="Arrow: Right 10">
            <a:extLst>
              <a:ext uri="{FF2B5EF4-FFF2-40B4-BE49-F238E27FC236}">
                <a16:creationId xmlns:a16="http://schemas.microsoft.com/office/drawing/2014/main" id="{E56AA120-39AD-450A-BDC3-9C1238B55683}"/>
              </a:ext>
            </a:extLst>
          </p:cNvPr>
          <p:cNvSpPr/>
          <p:nvPr/>
        </p:nvSpPr>
        <p:spPr>
          <a:xfrm>
            <a:off x="4773819" y="1957323"/>
            <a:ext cx="1551713" cy="712501"/>
          </a:xfrm>
          <a:prstGeom prst="rightArrow">
            <a:avLst>
              <a:gd name="adj1" fmla="val 50000"/>
              <a:gd name="adj2" fmla="val 30275"/>
            </a:avLst>
          </a:prstGeom>
          <a:gradFill flip="none" rotWithShape="1">
            <a:gsLst>
              <a:gs pos="0">
                <a:srgbClr val="36C4BE"/>
              </a:gs>
              <a:gs pos="50000">
                <a:schemeClr val="accent1"/>
              </a:gs>
              <a:gs pos="100000">
                <a:srgbClr val="00B0F0">
                  <a:tint val="23500"/>
                  <a:satMod val="160000"/>
                </a:srgb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Rectangle 11">
            <a:extLst>
              <a:ext uri="{FF2B5EF4-FFF2-40B4-BE49-F238E27FC236}">
                <a16:creationId xmlns:a16="http://schemas.microsoft.com/office/drawing/2014/main" id="{6C9FAA5F-CDBD-43F6-8CEB-63BD66BE35EE}"/>
              </a:ext>
            </a:extLst>
          </p:cNvPr>
          <p:cNvSpPr/>
          <p:nvPr/>
        </p:nvSpPr>
        <p:spPr>
          <a:xfrm>
            <a:off x="6413277" y="3914863"/>
            <a:ext cx="5530568" cy="1010673"/>
          </a:xfrm>
          <a:prstGeom prst="rect">
            <a:avLst/>
          </a:prstGeom>
          <a:noFill/>
          <a:ln w="28575">
            <a:solidFill>
              <a:srgbClr val="EAAA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If you execute the report for a project, you can also activate the option ‘Project structure’. In this case not only the values for a project but also for all WBS elements from this project will be displayed </a:t>
            </a:r>
          </a:p>
        </p:txBody>
      </p:sp>
      <p:sp>
        <p:nvSpPr>
          <p:cNvPr id="13" name="Arrow: Right 12">
            <a:extLst>
              <a:ext uri="{FF2B5EF4-FFF2-40B4-BE49-F238E27FC236}">
                <a16:creationId xmlns:a16="http://schemas.microsoft.com/office/drawing/2014/main" id="{BD441EF4-2399-467E-B549-7CD6C9341490}"/>
              </a:ext>
            </a:extLst>
          </p:cNvPr>
          <p:cNvSpPr/>
          <p:nvPr/>
        </p:nvSpPr>
        <p:spPr>
          <a:xfrm>
            <a:off x="5366263" y="3930277"/>
            <a:ext cx="825987" cy="592820"/>
          </a:xfrm>
          <a:prstGeom prst="rightArrow">
            <a:avLst>
              <a:gd name="adj1" fmla="val 50000"/>
              <a:gd name="adj2" fmla="val 30275"/>
            </a:avLst>
          </a:prstGeom>
          <a:gradFill flip="none" rotWithShape="1">
            <a:gsLst>
              <a:gs pos="0">
                <a:schemeClr val="accent2"/>
              </a:gs>
              <a:gs pos="50000">
                <a:schemeClr val="accent2">
                  <a:lumMod val="40000"/>
                  <a:lumOff val="60000"/>
                </a:schemeClr>
              </a:gs>
              <a:gs pos="100000">
                <a:schemeClr val="accent2">
                  <a:lumMod val="20000"/>
                  <a:lumOff val="80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2980566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FB9F051D-8172-4164-9B50-18A3298759DE}"/>
              </a:ext>
            </a:extLst>
          </p:cNvPr>
          <p:cNvGrpSpPr/>
          <p:nvPr/>
        </p:nvGrpSpPr>
        <p:grpSpPr>
          <a:xfrm>
            <a:off x="413072" y="1400646"/>
            <a:ext cx="11573188" cy="1968871"/>
            <a:chOff x="413072" y="1400646"/>
            <a:chExt cx="11573188" cy="1968871"/>
          </a:xfrm>
        </p:grpSpPr>
        <p:pic>
          <p:nvPicPr>
            <p:cNvPr id="30722" name="Picture 2" descr="C:\Users\CSTSHA~1\AppData\Local\Temp\SNAGHTML33e83c35.PNG">
              <a:extLst>
                <a:ext uri="{FF2B5EF4-FFF2-40B4-BE49-F238E27FC236}">
                  <a16:creationId xmlns:a16="http://schemas.microsoft.com/office/drawing/2014/main" id="{FF44B7B7-4EB0-4EB4-BAB0-5FD540CAEB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072" y="1405726"/>
              <a:ext cx="10865728" cy="1963791"/>
            </a:xfrm>
            <a:prstGeom prst="rect">
              <a:avLst/>
            </a:prstGeom>
            <a:noFill/>
            <a:extLst>
              <a:ext uri="{909E8E84-426E-40DD-AFC4-6F175D3DCCD1}">
                <a14:hiddenFill xmlns:a14="http://schemas.microsoft.com/office/drawing/2010/main">
                  <a:solidFill>
                    <a:srgbClr val="FFFFFF"/>
                  </a:solidFill>
                </a14:hiddenFill>
              </a:ext>
            </a:extLst>
          </p:spPr>
        </p:pic>
        <p:pic>
          <p:nvPicPr>
            <p:cNvPr id="10242" name="Picture 2" descr="C:\Users\CSTSHA~1\AppData\Local\Temp\SNAGHTMLf38ed28.PNG">
              <a:extLst>
                <a:ext uri="{FF2B5EF4-FFF2-40B4-BE49-F238E27FC236}">
                  <a16:creationId xmlns:a16="http://schemas.microsoft.com/office/drawing/2014/main" id="{7DFDB3DE-75D9-4C06-955C-08DB480F44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38033" y="2061190"/>
              <a:ext cx="748227" cy="108077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606D2355-1F2B-4C9E-B9D4-208248934F7B}"/>
                </a:ext>
              </a:extLst>
            </p:cNvPr>
            <p:cNvPicPr>
              <a:picLocks noChangeAspect="1"/>
            </p:cNvPicPr>
            <p:nvPr/>
          </p:nvPicPr>
          <p:blipFill>
            <a:blip r:embed="rId4"/>
            <a:stretch>
              <a:fillRect/>
            </a:stretch>
          </p:blipFill>
          <p:spPr>
            <a:xfrm>
              <a:off x="9375108" y="1400646"/>
              <a:ext cx="2600992" cy="675784"/>
            </a:xfrm>
            <a:prstGeom prst="rect">
              <a:avLst/>
            </a:prstGeom>
          </p:spPr>
        </p:pic>
      </p:grpSp>
      <p:sp>
        <p:nvSpPr>
          <p:cNvPr id="2" name="Footer Placeholder 1">
            <a:extLst>
              <a:ext uri="{FF2B5EF4-FFF2-40B4-BE49-F238E27FC236}">
                <a16:creationId xmlns:a16="http://schemas.microsoft.com/office/drawing/2014/main" id="{C4270E85-EBDA-43A7-933C-C8FB4B77DA57}"/>
              </a:ext>
            </a:extLst>
          </p:cNvPr>
          <p:cNvSpPr>
            <a:spLocks noGrp="1"/>
          </p:cNvSpPr>
          <p:nvPr>
            <p:ph type="ftr" sz="quarter" idx="11"/>
          </p:nvPr>
        </p:nvSpPr>
        <p:spPr/>
        <p:txBody>
          <a:bodyPr/>
          <a:lstStyle/>
          <a:p>
            <a:r>
              <a:rPr lang="en-GB"/>
              <a:t>Presentation title in footer</a:t>
            </a:r>
          </a:p>
        </p:txBody>
      </p:sp>
      <p:sp>
        <p:nvSpPr>
          <p:cNvPr id="3" name="Slide Number Placeholder 2">
            <a:extLst>
              <a:ext uri="{FF2B5EF4-FFF2-40B4-BE49-F238E27FC236}">
                <a16:creationId xmlns:a16="http://schemas.microsoft.com/office/drawing/2014/main" id="{9017DD2F-CA15-4389-93D3-5BC89CF68803}"/>
              </a:ext>
            </a:extLst>
          </p:cNvPr>
          <p:cNvSpPr>
            <a:spLocks noGrp="1"/>
          </p:cNvSpPr>
          <p:nvPr>
            <p:ph type="sldNum" sz="quarter" idx="12"/>
          </p:nvPr>
        </p:nvSpPr>
        <p:spPr/>
        <p:txBody>
          <a:bodyPr/>
          <a:lstStyle/>
          <a:p>
            <a:fld id="{F4C94289-3309-4C35-850A-56FD49B3E346}" type="slidenum">
              <a:rPr lang="en-GB" smtClean="0"/>
              <a:t>3</a:t>
            </a:fld>
            <a:endParaRPr lang="en-GB"/>
          </a:p>
        </p:txBody>
      </p:sp>
      <p:sp>
        <p:nvSpPr>
          <p:cNvPr id="4" name="Title 3">
            <a:extLst>
              <a:ext uri="{FF2B5EF4-FFF2-40B4-BE49-F238E27FC236}">
                <a16:creationId xmlns:a16="http://schemas.microsoft.com/office/drawing/2014/main" id="{CF075F6F-198B-4648-8816-F6C6B3E981E0}"/>
              </a:ext>
            </a:extLst>
          </p:cNvPr>
          <p:cNvSpPr>
            <a:spLocks noGrp="1"/>
          </p:cNvSpPr>
          <p:nvPr>
            <p:ph type="title"/>
          </p:nvPr>
        </p:nvSpPr>
        <p:spPr/>
        <p:txBody>
          <a:bodyPr/>
          <a:lstStyle/>
          <a:p>
            <a:r>
              <a:rPr lang="en-GB" dirty="0"/>
              <a:t>Budget Report – </a:t>
            </a:r>
            <a:r>
              <a:rPr lang="en-US" b="0" dirty="0"/>
              <a:t>Budget Holder</a:t>
            </a:r>
            <a:endParaRPr lang="en-US" dirty="0"/>
          </a:p>
        </p:txBody>
      </p:sp>
      <p:sp>
        <p:nvSpPr>
          <p:cNvPr id="10" name="Rectangle 9">
            <a:extLst>
              <a:ext uri="{FF2B5EF4-FFF2-40B4-BE49-F238E27FC236}">
                <a16:creationId xmlns:a16="http://schemas.microsoft.com/office/drawing/2014/main" id="{344F7A9B-0E3F-4F1C-8223-70111C3B4468}"/>
              </a:ext>
            </a:extLst>
          </p:cNvPr>
          <p:cNvSpPr/>
          <p:nvPr/>
        </p:nvSpPr>
        <p:spPr>
          <a:xfrm>
            <a:off x="310205" y="3098800"/>
            <a:ext cx="11665895" cy="3393439"/>
          </a:xfrm>
          <a:prstGeom prst="rect">
            <a:avLst/>
          </a:prstGeom>
          <a:solidFill>
            <a:schemeClr val="bg1"/>
          </a:solid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spcBef>
                <a:spcPts val="600"/>
              </a:spcBef>
              <a:buClr>
                <a:srgbClr val="FF0000"/>
              </a:buClr>
              <a:buFont typeface="+mj-lt"/>
              <a:buAutoNum type="arabicPeriod"/>
            </a:pPr>
            <a:r>
              <a:rPr lang="en-GB" sz="1300" dirty="0">
                <a:solidFill>
                  <a:srgbClr val="000000"/>
                </a:solidFill>
              </a:rPr>
              <a:t>WBS Budget Holder: </a:t>
            </a:r>
            <a:r>
              <a:rPr lang="en-US" sz="1300" dirty="0">
                <a:solidFill>
                  <a:srgbClr val="000000"/>
                </a:solidFill>
              </a:rPr>
              <a:t>The project (or WBS element) which holds the budget </a:t>
            </a:r>
            <a:endParaRPr lang="en-GB" sz="1300" dirty="0">
              <a:solidFill>
                <a:srgbClr val="000000"/>
              </a:solidFill>
            </a:endParaRPr>
          </a:p>
          <a:p>
            <a:pPr marL="342900" indent="-342900">
              <a:spcBef>
                <a:spcPts val="600"/>
              </a:spcBef>
              <a:buClr>
                <a:srgbClr val="FF0000"/>
              </a:buClr>
              <a:buFont typeface="+mj-lt"/>
              <a:buAutoNum type="arabicPeriod"/>
            </a:pPr>
            <a:r>
              <a:rPr lang="en-GB" sz="1300" dirty="0">
                <a:solidFill>
                  <a:srgbClr val="000000"/>
                </a:solidFill>
              </a:rPr>
              <a:t>Description: </a:t>
            </a:r>
            <a:r>
              <a:rPr lang="en-US" sz="1300" dirty="0">
                <a:solidFill>
                  <a:srgbClr val="000000"/>
                </a:solidFill>
              </a:rPr>
              <a:t>Description of each WBS for clear recognition</a:t>
            </a:r>
          </a:p>
          <a:p>
            <a:pPr marL="342900" indent="-342900">
              <a:spcBef>
                <a:spcPts val="600"/>
              </a:spcBef>
              <a:buClr>
                <a:srgbClr val="FF0000"/>
              </a:buClr>
              <a:buFont typeface="+mj-lt"/>
              <a:buAutoNum type="arabicPeriod"/>
            </a:pPr>
            <a:r>
              <a:rPr lang="en-US" sz="1300" dirty="0">
                <a:solidFill>
                  <a:srgbClr val="000000"/>
                </a:solidFill>
              </a:rPr>
              <a:t>Budget of a budget holder in transaction currency: The total approved budget for the budget holder, displayed per budget transaction currency which is assigned to a particular WBS budget holder (in this case - project). For each separate budget transaction currency there will be a separate line in the report </a:t>
            </a:r>
          </a:p>
          <a:p>
            <a:pPr marL="342900" indent="-342900">
              <a:spcBef>
                <a:spcPts val="600"/>
              </a:spcBef>
              <a:buClr>
                <a:srgbClr val="FF0000"/>
              </a:buClr>
              <a:buFont typeface="+mj-lt"/>
              <a:buAutoNum type="arabicPeriod"/>
            </a:pPr>
            <a:r>
              <a:rPr lang="en-US" sz="1300" dirty="0">
                <a:solidFill>
                  <a:srgbClr val="000000"/>
                </a:solidFill>
              </a:rPr>
              <a:t>Not approved budget in Transaction currency: The budget amount(s) on WBS budget holder (in this case - project) per budget transaction currency which has not yet been released/approved by Finance. For each separate budget transaction currency there will be a separate line in the report </a:t>
            </a:r>
          </a:p>
          <a:p>
            <a:pPr marL="342900" indent="-342900">
              <a:spcBef>
                <a:spcPts val="600"/>
              </a:spcBef>
              <a:buClr>
                <a:srgbClr val="FF0000"/>
              </a:buClr>
              <a:buFont typeface="+mj-lt"/>
              <a:buAutoNum type="arabicPeriod"/>
            </a:pPr>
            <a:r>
              <a:rPr lang="en-US" sz="1300" dirty="0">
                <a:solidFill>
                  <a:srgbClr val="000000"/>
                </a:solidFill>
              </a:rPr>
              <a:t>Budget holder actuals in transaction currency: Actual costs in transaction currency posted to WBS elements located below the budget holder (in this case – project) within the structure. For each separate transaction currency with actuals there will be a separate line in the report. To view the line items of the underlined figure it is possible to drill down to CJI3 report (actual line items report) unless the value is zero as specific layouts are used to suppress line items with zero value</a:t>
            </a:r>
          </a:p>
          <a:p>
            <a:pPr marL="342900" indent="-342900">
              <a:spcBef>
                <a:spcPts val="600"/>
              </a:spcBef>
              <a:buClr>
                <a:srgbClr val="FF0000"/>
              </a:buClr>
              <a:buFont typeface="+mj-lt"/>
              <a:buAutoNum type="arabicPeriod"/>
            </a:pPr>
            <a:r>
              <a:rPr lang="en-US" sz="1300" dirty="0">
                <a:solidFill>
                  <a:srgbClr val="000000"/>
                </a:solidFill>
              </a:rPr>
              <a:t>Budget holder commitments in transaction currency</a:t>
            </a:r>
            <a:r>
              <a:rPr lang="en-GB" sz="1300" dirty="0">
                <a:solidFill>
                  <a:srgbClr val="000000"/>
                </a:solidFill>
              </a:rPr>
              <a:t>: p</a:t>
            </a:r>
            <a:r>
              <a:rPr lang="en-US" sz="1300" dirty="0" err="1">
                <a:solidFill>
                  <a:srgbClr val="000000"/>
                </a:solidFill>
              </a:rPr>
              <a:t>urchase</a:t>
            </a:r>
            <a:r>
              <a:rPr lang="en-US" sz="1300" dirty="0">
                <a:solidFill>
                  <a:srgbClr val="000000"/>
                </a:solidFill>
              </a:rPr>
              <a:t> commitments in transaction currency posted to WBS elements located below the budget holder (in this case – project) within the structure. For each separate transaction currency of commitments there will be a separate line in the report. To view the line items of the underlined figure it is possible to drill down to CJI5 report (commitments line items report) unless the value is zero as specific layouts are used to suppress line items with zero value</a:t>
            </a:r>
            <a:endParaRPr lang="en-GB" sz="1300" dirty="0">
              <a:solidFill>
                <a:srgbClr val="000000"/>
              </a:solidFill>
            </a:endParaRPr>
          </a:p>
        </p:txBody>
      </p:sp>
    </p:spTree>
    <p:extLst>
      <p:ext uri="{BB962C8B-B14F-4D97-AF65-F5344CB8AC3E}">
        <p14:creationId xmlns:p14="http://schemas.microsoft.com/office/powerpoint/2010/main" val="2179134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E192167-66BF-41B8-91CE-94EE90A0F44D}"/>
              </a:ext>
            </a:extLst>
          </p:cNvPr>
          <p:cNvGrpSpPr/>
          <p:nvPr/>
        </p:nvGrpSpPr>
        <p:grpSpPr>
          <a:xfrm>
            <a:off x="436454" y="1462772"/>
            <a:ext cx="11319092" cy="2360640"/>
            <a:chOff x="436454" y="1462772"/>
            <a:chExt cx="11319092" cy="2360640"/>
          </a:xfrm>
        </p:grpSpPr>
        <p:pic>
          <p:nvPicPr>
            <p:cNvPr id="7" name="Picture 2" descr="C:\Users\CSTSHA~1\AppData\Local\Temp\SNAGHTMLf38ed28.PNG">
              <a:extLst>
                <a:ext uri="{FF2B5EF4-FFF2-40B4-BE49-F238E27FC236}">
                  <a16:creationId xmlns:a16="http://schemas.microsoft.com/office/drawing/2014/main" id="{E6D002DC-FF8D-488A-A7C2-5D32A5E599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6794" y="2221935"/>
              <a:ext cx="958752" cy="1384865"/>
            </a:xfrm>
            <a:prstGeom prst="rect">
              <a:avLst/>
            </a:prstGeom>
            <a:noFill/>
            <a:extLst>
              <a:ext uri="{909E8E84-426E-40DD-AFC4-6F175D3DCCD1}">
                <a14:hiddenFill xmlns:a14="http://schemas.microsoft.com/office/drawing/2010/main">
                  <a:solidFill>
                    <a:srgbClr val="FFFFFF"/>
                  </a:solidFill>
                </a14:hiddenFill>
              </a:ext>
            </a:extLst>
          </p:spPr>
        </p:pic>
        <p:pic>
          <p:nvPicPr>
            <p:cNvPr id="30722" name="Picture 2" descr="C:\Users\CSTSHA~1\AppData\Local\Temp\SNAGHTML33e83c35.PNG">
              <a:extLst>
                <a:ext uri="{FF2B5EF4-FFF2-40B4-BE49-F238E27FC236}">
                  <a16:creationId xmlns:a16="http://schemas.microsoft.com/office/drawing/2014/main" id="{FF44B7B7-4EB0-4EB4-BAB0-5FD540CAEB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454" y="1462772"/>
              <a:ext cx="10394106" cy="236064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69D9C456-851D-4E80-AFA3-7CB1027C3356}"/>
                </a:ext>
              </a:extLst>
            </p:cNvPr>
            <p:cNvPicPr>
              <a:picLocks noChangeAspect="1"/>
            </p:cNvPicPr>
            <p:nvPr/>
          </p:nvPicPr>
          <p:blipFill>
            <a:blip r:embed="rId4"/>
            <a:stretch>
              <a:fillRect/>
            </a:stretch>
          </p:blipFill>
          <p:spPr>
            <a:xfrm>
              <a:off x="9006609" y="1462772"/>
              <a:ext cx="2748937" cy="757657"/>
            </a:xfrm>
            <a:prstGeom prst="rect">
              <a:avLst/>
            </a:prstGeom>
          </p:spPr>
        </p:pic>
      </p:grpSp>
      <p:sp>
        <p:nvSpPr>
          <p:cNvPr id="2" name="Footer Placeholder 1">
            <a:extLst>
              <a:ext uri="{FF2B5EF4-FFF2-40B4-BE49-F238E27FC236}">
                <a16:creationId xmlns:a16="http://schemas.microsoft.com/office/drawing/2014/main" id="{C4270E85-EBDA-43A7-933C-C8FB4B77DA57}"/>
              </a:ext>
            </a:extLst>
          </p:cNvPr>
          <p:cNvSpPr>
            <a:spLocks noGrp="1"/>
          </p:cNvSpPr>
          <p:nvPr>
            <p:ph type="ftr" sz="quarter" idx="11"/>
          </p:nvPr>
        </p:nvSpPr>
        <p:spPr/>
        <p:txBody>
          <a:bodyPr/>
          <a:lstStyle/>
          <a:p>
            <a:r>
              <a:rPr lang="en-GB"/>
              <a:t>Presentation title in footer</a:t>
            </a:r>
          </a:p>
        </p:txBody>
      </p:sp>
      <p:sp>
        <p:nvSpPr>
          <p:cNvPr id="3" name="Slide Number Placeholder 2">
            <a:extLst>
              <a:ext uri="{FF2B5EF4-FFF2-40B4-BE49-F238E27FC236}">
                <a16:creationId xmlns:a16="http://schemas.microsoft.com/office/drawing/2014/main" id="{9017DD2F-CA15-4389-93D3-5BC89CF68803}"/>
              </a:ext>
            </a:extLst>
          </p:cNvPr>
          <p:cNvSpPr>
            <a:spLocks noGrp="1"/>
          </p:cNvSpPr>
          <p:nvPr>
            <p:ph type="sldNum" sz="quarter" idx="12"/>
          </p:nvPr>
        </p:nvSpPr>
        <p:spPr/>
        <p:txBody>
          <a:bodyPr/>
          <a:lstStyle/>
          <a:p>
            <a:fld id="{F4C94289-3309-4C35-850A-56FD49B3E346}" type="slidenum">
              <a:rPr lang="en-GB" smtClean="0"/>
              <a:t>4</a:t>
            </a:fld>
            <a:endParaRPr lang="en-GB"/>
          </a:p>
        </p:txBody>
      </p:sp>
      <p:sp>
        <p:nvSpPr>
          <p:cNvPr id="4" name="Title 3">
            <a:extLst>
              <a:ext uri="{FF2B5EF4-FFF2-40B4-BE49-F238E27FC236}">
                <a16:creationId xmlns:a16="http://schemas.microsoft.com/office/drawing/2014/main" id="{CF075F6F-198B-4648-8816-F6C6B3E981E0}"/>
              </a:ext>
            </a:extLst>
          </p:cNvPr>
          <p:cNvSpPr>
            <a:spLocks noGrp="1"/>
          </p:cNvSpPr>
          <p:nvPr>
            <p:ph type="title"/>
          </p:nvPr>
        </p:nvSpPr>
        <p:spPr/>
        <p:txBody>
          <a:bodyPr/>
          <a:lstStyle/>
          <a:p>
            <a:r>
              <a:rPr lang="en-GB" dirty="0"/>
              <a:t>Budget Report – </a:t>
            </a:r>
            <a:r>
              <a:rPr lang="en-US" b="0" dirty="0"/>
              <a:t>Budget Holder</a:t>
            </a:r>
            <a:endParaRPr lang="en-US" dirty="0"/>
          </a:p>
        </p:txBody>
      </p:sp>
      <p:sp>
        <p:nvSpPr>
          <p:cNvPr id="11" name="Rectangle 10">
            <a:extLst>
              <a:ext uri="{FF2B5EF4-FFF2-40B4-BE49-F238E27FC236}">
                <a16:creationId xmlns:a16="http://schemas.microsoft.com/office/drawing/2014/main" id="{990CDEF0-6C0B-45BA-BABD-3B2C64F28634}"/>
              </a:ext>
            </a:extLst>
          </p:cNvPr>
          <p:cNvSpPr/>
          <p:nvPr/>
        </p:nvSpPr>
        <p:spPr>
          <a:xfrm>
            <a:off x="292100" y="3362287"/>
            <a:ext cx="11747500" cy="3134400"/>
          </a:xfrm>
          <a:prstGeom prst="rect">
            <a:avLst/>
          </a:prstGeom>
          <a:solidFill>
            <a:schemeClr val="bg1"/>
          </a:solid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spcBef>
                <a:spcPts val="600"/>
              </a:spcBef>
              <a:buClr>
                <a:srgbClr val="FF0000"/>
              </a:buClr>
              <a:buFont typeface="+mj-lt"/>
              <a:buAutoNum type="arabicPeriod" startAt="7"/>
            </a:pPr>
            <a:r>
              <a:rPr lang="en-GB" sz="1200" dirty="0">
                <a:solidFill>
                  <a:srgbClr val="000000"/>
                </a:solidFill>
              </a:rPr>
              <a:t>Transaction Currency: </a:t>
            </a:r>
            <a:r>
              <a:rPr lang="en-US" sz="1200" dirty="0">
                <a:solidFill>
                  <a:srgbClr val="000000"/>
                </a:solidFill>
              </a:rPr>
              <a:t>The document or transaction currency for budget / actuals / commitments transactions </a:t>
            </a:r>
          </a:p>
          <a:p>
            <a:pPr marL="342900" indent="-342900">
              <a:spcBef>
                <a:spcPts val="600"/>
              </a:spcBef>
              <a:buClr>
                <a:srgbClr val="FF0000"/>
              </a:buClr>
              <a:buFont typeface="+mj-lt"/>
              <a:buAutoNum type="arabicPeriod" startAt="7"/>
            </a:pPr>
            <a:r>
              <a:rPr lang="en-US" sz="1200" dirty="0">
                <a:solidFill>
                  <a:srgbClr val="000000"/>
                </a:solidFill>
              </a:rPr>
              <a:t>FX Rate: The FX rate which is used when comparing the WBS budget and any actuals or commitments. The FX rate type and date are selected when the budget is assigned to the project </a:t>
            </a:r>
          </a:p>
          <a:p>
            <a:pPr marL="342900" indent="-342900">
              <a:spcBef>
                <a:spcPts val="600"/>
              </a:spcBef>
              <a:buClr>
                <a:srgbClr val="FF0000"/>
              </a:buClr>
              <a:buFont typeface="+mj-lt"/>
              <a:buAutoNum type="arabicPeriod" startAt="7"/>
            </a:pPr>
            <a:r>
              <a:rPr lang="en-US" sz="1200" dirty="0">
                <a:solidFill>
                  <a:srgbClr val="000000"/>
                </a:solidFill>
              </a:rPr>
              <a:t>Budget of a budget holder at FX in USD: The full approved budget from the budget holder (in this case – project) translated to USD using project FX rate </a:t>
            </a:r>
          </a:p>
          <a:p>
            <a:pPr marL="342900" indent="-342900">
              <a:spcBef>
                <a:spcPts val="600"/>
              </a:spcBef>
              <a:buClr>
                <a:srgbClr val="FF0000"/>
              </a:buClr>
              <a:buFont typeface="+mj-lt"/>
              <a:buAutoNum type="arabicPeriod" startAt="7"/>
            </a:pPr>
            <a:r>
              <a:rPr lang="en-US" sz="1200" dirty="0">
                <a:solidFill>
                  <a:srgbClr val="000000"/>
                </a:solidFill>
              </a:rPr>
              <a:t>Budget holder actuals at FX in USD: Actual costs from the budget holder (and WBS elements below) translated to USD using project FX rate </a:t>
            </a:r>
          </a:p>
          <a:p>
            <a:pPr marL="342900" indent="-342900">
              <a:spcBef>
                <a:spcPts val="600"/>
              </a:spcBef>
              <a:buClr>
                <a:srgbClr val="FF0000"/>
              </a:buClr>
              <a:buFont typeface="+mj-lt"/>
              <a:buAutoNum type="arabicPeriod" startAt="7"/>
            </a:pPr>
            <a:r>
              <a:rPr lang="en-US" sz="1200" dirty="0">
                <a:solidFill>
                  <a:srgbClr val="000000"/>
                </a:solidFill>
              </a:rPr>
              <a:t>Budget holder commitments at FX in USD: Commitments from the budget holder (and WBS elements below) translated to USD using project FX rate </a:t>
            </a:r>
          </a:p>
          <a:p>
            <a:pPr marL="342900" indent="-342900">
              <a:spcBef>
                <a:spcPts val="600"/>
              </a:spcBef>
              <a:buClr>
                <a:srgbClr val="FF0000"/>
              </a:buClr>
              <a:buFont typeface="+mj-lt"/>
              <a:buAutoNum type="arabicPeriod" startAt="7"/>
            </a:pPr>
            <a:r>
              <a:rPr lang="en-US" sz="1200" dirty="0">
                <a:solidFill>
                  <a:srgbClr val="000000"/>
                </a:solidFill>
              </a:rPr>
              <a:t>Budget holder Available at FX in USD: Total for all lines represents the remaining budget that is available for expenditure after deduction of all actuals and commitments </a:t>
            </a:r>
          </a:p>
          <a:p>
            <a:pPr marL="342900" indent="-342900">
              <a:spcBef>
                <a:spcPts val="600"/>
              </a:spcBef>
              <a:buClr>
                <a:srgbClr val="FF0000"/>
              </a:buClr>
              <a:buFont typeface="+mj-lt"/>
              <a:buAutoNum type="arabicPeriod" startAt="7"/>
            </a:pPr>
            <a:r>
              <a:rPr lang="en-US" sz="1200" dirty="0">
                <a:solidFill>
                  <a:srgbClr val="000000"/>
                </a:solidFill>
              </a:rPr>
              <a:t>CO currency FX: Controlling area currency, i.e. USD which is used as a target currency for all translations and comparisons </a:t>
            </a:r>
          </a:p>
          <a:p>
            <a:pPr marL="342900" indent="-342900">
              <a:spcBef>
                <a:spcPts val="600"/>
              </a:spcBef>
              <a:buClr>
                <a:srgbClr val="FF0000"/>
              </a:buClr>
              <a:buFont typeface="+mj-lt"/>
              <a:buAutoNum type="arabicPeriod" startAt="7"/>
            </a:pPr>
            <a:r>
              <a:rPr lang="en-US" sz="1200" dirty="0">
                <a:solidFill>
                  <a:srgbClr val="000000"/>
                </a:solidFill>
              </a:rPr>
              <a:t>Budget Status: Blocked (set in all the cases when approved amount is by some reason higher than originally proposed) or Active (set in all other cases, i.e. when the system will check if there is available budget or not). ). This gives visibility of budget control checks during document posting ensuring that when budget approved is higher than originally assigned there is an indication that it is blocked. This can be resolved by removing the extra budget and approving. </a:t>
            </a:r>
          </a:p>
        </p:txBody>
      </p:sp>
    </p:spTree>
    <p:extLst>
      <p:ext uri="{BB962C8B-B14F-4D97-AF65-F5344CB8AC3E}">
        <p14:creationId xmlns:p14="http://schemas.microsoft.com/office/powerpoint/2010/main" val="1116469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8754097-1B74-4A95-A026-32C3DD0DE588}"/>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a:extLst>
              <a:ext uri="{FF2B5EF4-FFF2-40B4-BE49-F238E27FC236}">
                <a16:creationId xmlns:a16="http://schemas.microsoft.com/office/drawing/2014/main" id="{991E2568-912C-4932-8286-C9D30962D70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1BE7D34F-B4FD-40FA-86DE-BCD65A8760A9}"/>
              </a:ext>
            </a:extLst>
          </p:cNvPr>
          <p:cNvSpPr>
            <a:spLocks noGrp="1"/>
          </p:cNvSpPr>
          <p:nvPr>
            <p:ph type="title"/>
          </p:nvPr>
        </p:nvSpPr>
        <p:spPr/>
        <p:txBody>
          <a:bodyPr/>
          <a:lstStyle/>
          <a:p>
            <a:r>
              <a:rPr lang="en-GB" dirty="0"/>
              <a:t>CJI5 – Display Project Commitment Line Items </a:t>
            </a:r>
            <a:endParaRPr lang="en-US" dirty="0"/>
          </a:p>
        </p:txBody>
      </p:sp>
      <p:sp>
        <p:nvSpPr>
          <p:cNvPr id="6" name="Rectangle 5">
            <a:extLst>
              <a:ext uri="{FF2B5EF4-FFF2-40B4-BE49-F238E27FC236}">
                <a16:creationId xmlns:a16="http://schemas.microsoft.com/office/drawing/2014/main" id="{B8DA691C-8544-4819-8C44-9B8EEBCC5200}"/>
              </a:ext>
            </a:extLst>
          </p:cNvPr>
          <p:cNvSpPr/>
          <p:nvPr/>
        </p:nvSpPr>
        <p:spPr>
          <a:xfrm>
            <a:off x="6412652" y="1423246"/>
            <a:ext cx="5530568" cy="2453656"/>
          </a:xfrm>
          <a:prstGeom prst="rect">
            <a:avLst/>
          </a:prstGeom>
          <a:no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The report is used to display all commitment costs posted to WBS Projects and/or WBS Elements arising from POs which have not yet had a Goods Receipt.</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As mentioned in the Budget report slide previously, users can drill down to display CJI5 report or you alternatively users can go directly to transaction CJI5 in SAP</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On the selection screen you can either enter a project definition number (you can also run for more than one project) or for a WBS element (you can also run for more than one element) </a:t>
            </a:r>
          </a:p>
        </p:txBody>
      </p:sp>
      <p:sp>
        <p:nvSpPr>
          <p:cNvPr id="7" name="Arrow: Right 6">
            <a:extLst>
              <a:ext uri="{FF2B5EF4-FFF2-40B4-BE49-F238E27FC236}">
                <a16:creationId xmlns:a16="http://schemas.microsoft.com/office/drawing/2014/main" id="{2CE947F6-9141-4AB8-9549-5F32F9FFE4F3}"/>
              </a:ext>
            </a:extLst>
          </p:cNvPr>
          <p:cNvSpPr/>
          <p:nvPr/>
        </p:nvSpPr>
        <p:spPr>
          <a:xfrm>
            <a:off x="4773819" y="1957323"/>
            <a:ext cx="1551713" cy="712501"/>
          </a:xfrm>
          <a:prstGeom prst="rightArrow">
            <a:avLst>
              <a:gd name="adj1" fmla="val 50000"/>
              <a:gd name="adj2" fmla="val 30275"/>
            </a:avLst>
          </a:prstGeom>
          <a:gradFill flip="none" rotWithShape="1">
            <a:gsLst>
              <a:gs pos="0">
                <a:srgbClr val="36C4BE"/>
              </a:gs>
              <a:gs pos="50000">
                <a:schemeClr val="accent1"/>
              </a:gs>
              <a:gs pos="100000">
                <a:srgbClr val="00B0F0">
                  <a:tint val="23500"/>
                  <a:satMod val="160000"/>
                </a:srgb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8" name="Picture 7">
            <a:extLst>
              <a:ext uri="{FF2B5EF4-FFF2-40B4-BE49-F238E27FC236}">
                <a16:creationId xmlns:a16="http://schemas.microsoft.com/office/drawing/2014/main" id="{29E5F9FC-CFD3-4EA4-BB06-860D8BCB3E52}"/>
              </a:ext>
            </a:extLst>
          </p:cNvPr>
          <p:cNvPicPr>
            <a:picLocks noChangeAspect="1"/>
          </p:cNvPicPr>
          <p:nvPr/>
        </p:nvPicPr>
        <p:blipFill>
          <a:blip r:embed="rId2"/>
          <a:stretch>
            <a:fillRect/>
          </a:stretch>
        </p:blipFill>
        <p:spPr>
          <a:xfrm>
            <a:off x="447362" y="4253612"/>
            <a:ext cx="7112000" cy="2043909"/>
          </a:xfrm>
          <a:prstGeom prst="rect">
            <a:avLst/>
          </a:prstGeom>
        </p:spPr>
      </p:pic>
      <p:pic>
        <p:nvPicPr>
          <p:cNvPr id="9" name="Picture 8">
            <a:extLst>
              <a:ext uri="{FF2B5EF4-FFF2-40B4-BE49-F238E27FC236}">
                <a16:creationId xmlns:a16="http://schemas.microsoft.com/office/drawing/2014/main" id="{84993A5C-46FF-4FD3-8570-6696BBA9A12B}"/>
              </a:ext>
            </a:extLst>
          </p:cNvPr>
          <p:cNvPicPr>
            <a:picLocks noChangeAspect="1"/>
          </p:cNvPicPr>
          <p:nvPr/>
        </p:nvPicPr>
        <p:blipFill>
          <a:blip r:embed="rId3"/>
          <a:stretch>
            <a:fillRect/>
          </a:stretch>
        </p:blipFill>
        <p:spPr>
          <a:xfrm>
            <a:off x="447362" y="1499464"/>
            <a:ext cx="5200180" cy="1514800"/>
          </a:xfrm>
          <a:prstGeom prst="rect">
            <a:avLst/>
          </a:prstGeom>
        </p:spPr>
      </p:pic>
      <p:pic>
        <p:nvPicPr>
          <p:cNvPr id="10" name="Picture 9">
            <a:extLst>
              <a:ext uri="{FF2B5EF4-FFF2-40B4-BE49-F238E27FC236}">
                <a16:creationId xmlns:a16="http://schemas.microsoft.com/office/drawing/2014/main" id="{4E5EF10D-5746-43A8-8CF6-2C97A3FCCA4A}"/>
              </a:ext>
            </a:extLst>
          </p:cNvPr>
          <p:cNvPicPr>
            <a:picLocks noChangeAspect="1"/>
          </p:cNvPicPr>
          <p:nvPr/>
        </p:nvPicPr>
        <p:blipFill>
          <a:blip r:embed="rId4"/>
          <a:stretch>
            <a:fillRect/>
          </a:stretch>
        </p:blipFill>
        <p:spPr>
          <a:xfrm>
            <a:off x="447362" y="3136050"/>
            <a:ext cx="5737538" cy="995776"/>
          </a:xfrm>
          <a:prstGeom prst="rect">
            <a:avLst/>
          </a:prstGeom>
          <a:ln w="22225">
            <a:solidFill>
              <a:srgbClr val="EAAA00"/>
            </a:solidFill>
          </a:ln>
        </p:spPr>
      </p:pic>
      <p:sp>
        <p:nvSpPr>
          <p:cNvPr id="12" name="Rectangle 11">
            <a:extLst>
              <a:ext uri="{FF2B5EF4-FFF2-40B4-BE49-F238E27FC236}">
                <a16:creationId xmlns:a16="http://schemas.microsoft.com/office/drawing/2014/main" id="{E4981937-B6B5-4876-B98E-750E311FFBFE}"/>
              </a:ext>
            </a:extLst>
          </p:cNvPr>
          <p:cNvSpPr/>
          <p:nvPr/>
        </p:nvSpPr>
        <p:spPr>
          <a:xfrm>
            <a:off x="7741492" y="3953120"/>
            <a:ext cx="4201728" cy="2191964"/>
          </a:xfrm>
          <a:prstGeom prst="rect">
            <a:avLst/>
          </a:prstGeom>
          <a:noFill/>
          <a:ln w="28575">
            <a:solidFill>
              <a:srgbClr val="EAAA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Commitments are based on the Expected Delivery date of the line item in the </a:t>
            </a:r>
            <a:r>
              <a:rPr kumimoji="0" lang="en-US" sz="1400" b="1" i="0" u="none" strike="noStrike" kern="1200" cap="none" spc="0" normalizeH="0" baseline="0" noProof="0" dirty="0">
                <a:ln>
                  <a:noFill/>
                </a:ln>
                <a:solidFill>
                  <a:srgbClr val="000000"/>
                </a:solidFill>
                <a:effectLst/>
                <a:uLnTx/>
                <a:uFillTx/>
                <a:latin typeface="Arial" panose="020B0604020202020204"/>
                <a:ea typeface="+mn-ea"/>
                <a:cs typeface="+mn-cs"/>
              </a:rPr>
              <a:t>Purchase Order. </a:t>
            </a: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It is therefore important to note that an adequate date range must be entered when executing CJI5 in order to capture all commitment line items!</a:t>
            </a:r>
            <a:endParaRPr kumimoji="0" lang="en-US" sz="14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 name="Arrow: Right 12">
            <a:extLst>
              <a:ext uri="{FF2B5EF4-FFF2-40B4-BE49-F238E27FC236}">
                <a16:creationId xmlns:a16="http://schemas.microsoft.com/office/drawing/2014/main" id="{CD136D42-8B76-4FC8-B294-C0BEB3C3E023}"/>
              </a:ext>
            </a:extLst>
          </p:cNvPr>
          <p:cNvSpPr/>
          <p:nvPr/>
        </p:nvSpPr>
        <p:spPr>
          <a:xfrm>
            <a:off x="6268002" y="3878074"/>
            <a:ext cx="1405236" cy="482913"/>
          </a:xfrm>
          <a:prstGeom prst="rightArrow">
            <a:avLst>
              <a:gd name="adj1" fmla="val 50000"/>
              <a:gd name="adj2" fmla="val 30275"/>
            </a:avLst>
          </a:prstGeom>
          <a:gradFill flip="none" rotWithShape="1">
            <a:gsLst>
              <a:gs pos="0">
                <a:schemeClr val="accent2"/>
              </a:gs>
              <a:gs pos="50000">
                <a:schemeClr val="accent2">
                  <a:lumMod val="40000"/>
                  <a:lumOff val="60000"/>
                </a:schemeClr>
              </a:gs>
              <a:gs pos="100000">
                <a:schemeClr val="accent2">
                  <a:lumMod val="20000"/>
                  <a:lumOff val="80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1524031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8754097-1B74-4A95-A026-32C3DD0DE588}"/>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a:extLst>
              <a:ext uri="{FF2B5EF4-FFF2-40B4-BE49-F238E27FC236}">
                <a16:creationId xmlns:a16="http://schemas.microsoft.com/office/drawing/2014/main" id="{991E2568-912C-4932-8286-C9D30962D70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1BE7D34F-B4FD-40FA-86DE-BCD65A8760A9}"/>
              </a:ext>
            </a:extLst>
          </p:cNvPr>
          <p:cNvSpPr>
            <a:spLocks noGrp="1"/>
          </p:cNvSpPr>
          <p:nvPr>
            <p:ph type="title"/>
          </p:nvPr>
        </p:nvSpPr>
        <p:spPr/>
        <p:txBody>
          <a:bodyPr/>
          <a:lstStyle/>
          <a:p>
            <a:r>
              <a:rPr lang="en-GB" dirty="0"/>
              <a:t>CJI3 – Display Project Actual Cost Line Items </a:t>
            </a:r>
            <a:endParaRPr lang="en-US" dirty="0"/>
          </a:p>
        </p:txBody>
      </p:sp>
      <p:pic>
        <p:nvPicPr>
          <p:cNvPr id="31746" name="Picture 2" descr="C:\Users\CSTSHA~1\AppData\Local\Temp\SNAGHTML33f818c1.PNG">
            <a:extLst>
              <a:ext uri="{FF2B5EF4-FFF2-40B4-BE49-F238E27FC236}">
                <a16:creationId xmlns:a16="http://schemas.microsoft.com/office/drawing/2014/main" id="{9991A496-2A28-40CA-8926-74FD13FE69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 y="1499464"/>
            <a:ext cx="4216400" cy="213674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8DA691C-8544-4819-8C44-9B8EEBCC5200}"/>
              </a:ext>
            </a:extLst>
          </p:cNvPr>
          <p:cNvSpPr/>
          <p:nvPr/>
        </p:nvSpPr>
        <p:spPr>
          <a:xfrm>
            <a:off x="6412652" y="1499464"/>
            <a:ext cx="5530568" cy="2056536"/>
          </a:xfrm>
          <a:prstGeom prst="rect">
            <a:avLst/>
          </a:prstGeom>
          <a:no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The report is used to display all actual costs posted to WBS Projects and/or WBS Elements</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As mentioned in the Budget report slide previously, users can drill down to display CJI3 report or you alternatively users can go directly to transaction CJI3 in SAP</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On the selection screen you can either enter a project definition number (you can also run for more than one project) or for a WBS element (you can also run for more than one element) </a:t>
            </a:r>
          </a:p>
        </p:txBody>
      </p:sp>
      <p:sp>
        <p:nvSpPr>
          <p:cNvPr id="7" name="Arrow: Right 6">
            <a:extLst>
              <a:ext uri="{FF2B5EF4-FFF2-40B4-BE49-F238E27FC236}">
                <a16:creationId xmlns:a16="http://schemas.microsoft.com/office/drawing/2014/main" id="{2CE947F6-9141-4AB8-9549-5F32F9FFE4F3}"/>
              </a:ext>
            </a:extLst>
          </p:cNvPr>
          <p:cNvSpPr/>
          <p:nvPr/>
        </p:nvSpPr>
        <p:spPr>
          <a:xfrm>
            <a:off x="4773819" y="1957323"/>
            <a:ext cx="1551713" cy="712501"/>
          </a:xfrm>
          <a:prstGeom prst="rightArrow">
            <a:avLst>
              <a:gd name="adj1" fmla="val 50000"/>
              <a:gd name="adj2" fmla="val 30275"/>
            </a:avLst>
          </a:prstGeom>
          <a:gradFill flip="none" rotWithShape="1">
            <a:gsLst>
              <a:gs pos="0">
                <a:srgbClr val="36C4BE"/>
              </a:gs>
              <a:gs pos="50000">
                <a:schemeClr val="accent1"/>
              </a:gs>
              <a:gs pos="100000">
                <a:srgbClr val="00B0F0">
                  <a:tint val="23500"/>
                  <a:satMod val="160000"/>
                </a:srgb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5" name="Picture 4">
            <a:extLst>
              <a:ext uri="{FF2B5EF4-FFF2-40B4-BE49-F238E27FC236}">
                <a16:creationId xmlns:a16="http://schemas.microsoft.com/office/drawing/2014/main" id="{DFB6D154-FEE7-4C97-B4BC-2FF1B01E50C4}"/>
              </a:ext>
            </a:extLst>
          </p:cNvPr>
          <p:cNvPicPr>
            <a:picLocks noChangeAspect="1"/>
          </p:cNvPicPr>
          <p:nvPr/>
        </p:nvPicPr>
        <p:blipFill>
          <a:blip r:embed="rId3"/>
          <a:stretch>
            <a:fillRect/>
          </a:stretch>
        </p:blipFill>
        <p:spPr>
          <a:xfrm>
            <a:off x="647700" y="3696359"/>
            <a:ext cx="7509188" cy="2691086"/>
          </a:xfrm>
          <a:prstGeom prst="rect">
            <a:avLst/>
          </a:prstGeom>
        </p:spPr>
      </p:pic>
    </p:spTree>
    <p:extLst>
      <p:ext uri="{BB962C8B-B14F-4D97-AF65-F5344CB8AC3E}">
        <p14:creationId xmlns:p14="http://schemas.microsoft.com/office/powerpoint/2010/main" val="3764703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C78D7-57F0-4516-B7E0-C23F9900A7DA}"/>
              </a:ext>
            </a:extLst>
          </p:cNvPr>
          <p:cNvSpPr>
            <a:spLocks noGrp="1"/>
          </p:cNvSpPr>
          <p:nvPr>
            <p:ph type="title"/>
          </p:nvPr>
        </p:nvSpPr>
        <p:spPr/>
        <p:txBody>
          <a:bodyPr/>
          <a:lstStyle/>
          <a:p>
            <a:r>
              <a:rPr lang="en-US" dirty="0"/>
              <a:t>S/4 Instant Operational Reporting - 3 key Options </a:t>
            </a:r>
          </a:p>
        </p:txBody>
      </p:sp>
      <p:sp>
        <p:nvSpPr>
          <p:cNvPr id="4" name="Footer Placeholder 3">
            <a:extLst>
              <a:ext uri="{FF2B5EF4-FFF2-40B4-BE49-F238E27FC236}">
                <a16:creationId xmlns:a16="http://schemas.microsoft.com/office/drawing/2014/main" id="{35AD3743-9108-4146-93EF-CD04DFD20685}"/>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B3C3B49D-2DC5-476D-9D8F-142C67F482E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569D2492-9668-486A-8221-A0FFC6ACC652}"/>
              </a:ext>
            </a:extLst>
          </p:cNvPr>
          <p:cNvSpPr/>
          <p:nvPr/>
        </p:nvSpPr>
        <p:spPr bwMode="auto">
          <a:xfrm>
            <a:off x="4049897" y="2441636"/>
            <a:ext cx="3691192" cy="3379486"/>
          </a:xfrm>
          <a:prstGeom prst="roundRect">
            <a:avLst>
              <a:gd name="adj" fmla="val 0"/>
            </a:avLst>
          </a:prstGeom>
          <a:solidFill>
            <a:srgbClr val="00BDB7">
              <a:alpha val="22000"/>
            </a:srgbClr>
          </a:solidFill>
          <a:ln>
            <a:noFill/>
          </a:ln>
          <a:effectLst/>
        </p:spPr>
        <p:txBody>
          <a:bodyPr vert="horz" wrap="square" lIns="0" tIns="0" rIns="0" bIns="0" numCol="1" rtlCol="0" anchor="t"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600" b="1" i="0" u="sng" strike="noStrike" kern="0" cap="none" spc="0" normalizeH="0" baseline="0" noProof="0">
              <a:ln>
                <a:noFill/>
              </a:ln>
              <a:solidFill>
                <a:srgbClr val="000000">
                  <a:lumMod val="75000"/>
                  <a:lumOff val="25000"/>
                </a:srgbClr>
              </a:solidFill>
              <a:effectLst/>
              <a:uLnTx/>
              <a:uFillTx/>
              <a:latin typeface="Arial" panose="020B0604020202020204"/>
              <a:ea typeface="ＭＳ Ｐゴシック" pitchFamily="80" charset="-128"/>
              <a:cs typeface="Arial" charset="0"/>
            </a:endParaRPr>
          </a:p>
        </p:txBody>
      </p:sp>
      <p:sp>
        <p:nvSpPr>
          <p:cNvPr id="7" name="Rectangle: Rounded Corners 6">
            <a:extLst>
              <a:ext uri="{FF2B5EF4-FFF2-40B4-BE49-F238E27FC236}">
                <a16:creationId xmlns:a16="http://schemas.microsoft.com/office/drawing/2014/main" id="{0DB1A697-3612-4D8E-93C2-CC1BA9826D9E}"/>
              </a:ext>
            </a:extLst>
          </p:cNvPr>
          <p:cNvSpPr/>
          <p:nvPr/>
        </p:nvSpPr>
        <p:spPr bwMode="auto">
          <a:xfrm>
            <a:off x="7840467" y="2443693"/>
            <a:ext cx="3905629" cy="3398014"/>
          </a:xfrm>
          <a:prstGeom prst="roundRect">
            <a:avLst>
              <a:gd name="adj" fmla="val 0"/>
            </a:avLst>
          </a:prstGeom>
          <a:solidFill>
            <a:srgbClr val="00BDB7">
              <a:alpha val="22000"/>
            </a:srgbClr>
          </a:solidFill>
          <a:ln>
            <a:noFill/>
          </a:ln>
          <a:effectLst/>
        </p:spPr>
        <p:txBody>
          <a:bodyPr vert="horz" wrap="square" lIns="0" tIns="0" rIns="0" bIns="0" numCol="1" rtlCol="0" anchor="t"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600" b="1" i="0" u="sng" strike="noStrike" kern="0" cap="none" spc="0" normalizeH="0" baseline="0" noProof="0">
              <a:ln>
                <a:noFill/>
              </a:ln>
              <a:solidFill>
                <a:srgbClr val="000000">
                  <a:lumMod val="75000"/>
                  <a:lumOff val="25000"/>
                </a:srgbClr>
              </a:solidFill>
              <a:effectLst/>
              <a:uLnTx/>
              <a:uFillTx/>
              <a:latin typeface="Arial" panose="020B0604020202020204"/>
              <a:ea typeface="ＭＳ Ｐゴシック" pitchFamily="80" charset="-128"/>
              <a:cs typeface="Arial" charset="0"/>
            </a:endParaRPr>
          </a:p>
        </p:txBody>
      </p:sp>
      <p:sp>
        <p:nvSpPr>
          <p:cNvPr id="8" name="TextBox 7">
            <a:extLst>
              <a:ext uri="{FF2B5EF4-FFF2-40B4-BE49-F238E27FC236}">
                <a16:creationId xmlns:a16="http://schemas.microsoft.com/office/drawing/2014/main" id="{0A440C07-BCD0-4E84-9905-E29397B30D67}"/>
              </a:ext>
            </a:extLst>
          </p:cNvPr>
          <p:cNvSpPr txBox="1"/>
          <p:nvPr/>
        </p:nvSpPr>
        <p:spPr>
          <a:xfrm>
            <a:off x="4062832" y="5857483"/>
            <a:ext cx="3790570" cy="467223"/>
          </a:xfrm>
          <a:prstGeom prst="rect">
            <a:avLst/>
          </a:prstGeom>
          <a:noFill/>
        </p:spPr>
        <p:txBody>
          <a:bodyPr wrap="square" lIns="0" tIns="0" rIns="0" bIns="0" rtlCol="0" anchor="t">
            <a:normAutofit fontScale="925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ＭＳ Ｐゴシック" pitchFamily="80" charset="-128"/>
                <a:cs typeface="+mn-cs"/>
              </a:rPr>
              <a:t>* For Go Live Jan 2020 Market P&amp;L will be seen through GR55 transaction with its traditional format. Option to bring AFO into S/4 will be evaluated post Go Live 2020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ＭＳ Ｐゴシック"/>
                <a:cs typeface="Arial"/>
              </a:rPr>
              <a:t>** Market P&amp;L Lines – JTIO mapping some subject to changes</a:t>
            </a:r>
            <a:endPar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ＭＳ Ｐゴシック" pitchFamily="80" charset="-128"/>
              <a:cs typeface="Arial"/>
            </a:endParaRPr>
          </a:p>
        </p:txBody>
      </p:sp>
      <p:sp>
        <p:nvSpPr>
          <p:cNvPr id="9" name="Rectangular Callout 18">
            <a:extLst>
              <a:ext uri="{FF2B5EF4-FFF2-40B4-BE49-F238E27FC236}">
                <a16:creationId xmlns:a16="http://schemas.microsoft.com/office/drawing/2014/main" id="{73011141-514A-4E4E-BC2F-AD949D8AF2F8}"/>
              </a:ext>
            </a:extLst>
          </p:cNvPr>
          <p:cNvSpPr/>
          <p:nvPr/>
        </p:nvSpPr>
        <p:spPr bwMode="auto">
          <a:xfrm>
            <a:off x="7910886" y="2525338"/>
            <a:ext cx="3620773" cy="890048"/>
          </a:xfrm>
          <a:prstGeom prst="wedgeRectCallout">
            <a:avLst>
              <a:gd name="adj1" fmla="val 13318"/>
              <a:gd name="adj2" fmla="val 48064"/>
            </a:avLst>
          </a:prstGeom>
          <a:solidFill>
            <a:srgbClr val="FFFFFF"/>
          </a:solidFill>
          <a:ln w="12700" cap="flat" cmpd="sng" algn="ctr">
            <a:solidFill>
              <a:srgbClr val="88D5B8"/>
            </a:solidFill>
            <a:prstDash val="solid"/>
            <a:miter lim="800000"/>
          </a:ln>
          <a:effectLst/>
        </p:spPr>
        <p:txBody>
          <a:bodyPr vert="horz" wrap="square" lIns="36000" tIns="36000" rIns="0" bIns="0" numCol="1" rtlCol="0" anchor="t" anchorCtr="0" compatLnSpc="1">
            <a:prstTxWarp prst="textNoShape">
              <a:avLst/>
            </a:prstTxWarp>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en-GB" sz="1400" b="0" i="0" u="none" strike="noStrike" kern="0" cap="none" spc="0" normalizeH="0" baseline="0" noProof="0">
                <a:ln>
                  <a:noFill/>
                </a:ln>
                <a:solidFill>
                  <a:srgbClr val="000000"/>
                </a:solidFill>
                <a:effectLst/>
                <a:uLnTx/>
                <a:uFillTx/>
                <a:latin typeface="Arial" panose="020B0604020202020204"/>
                <a:ea typeface="+mn-ea"/>
                <a:cs typeface="+mn-cs"/>
              </a:rPr>
              <a:t>CDS Views - SAP </a:t>
            </a:r>
            <a:r>
              <a:rPr kumimoji="0" lang="en-GB" sz="1400" b="0" i="0" u="sng" strike="noStrike" kern="0" cap="none" spc="0" normalizeH="0" baseline="0" noProof="0">
                <a:ln>
                  <a:noFill/>
                </a:ln>
                <a:solidFill>
                  <a:srgbClr val="000000"/>
                </a:solidFill>
                <a:effectLst/>
                <a:uLnTx/>
                <a:uFillTx/>
                <a:latin typeface="Arial" panose="020B0604020202020204"/>
                <a:ea typeface="+mn-ea"/>
                <a:cs typeface="+mn-cs"/>
              </a:rPr>
              <a:t>Analysis for Office </a:t>
            </a:r>
            <a:r>
              <a:rPr kumimoji="0" lang="en-GB" sz="1400" b="0" i="0" u="none" strike="noStrike" kern="0" cap="none" spc="0" normalizeH="0" baseline="0" noProof="0">
                <a:ln>
                  <a:noFill/>
                </a:ln>
                <a:solidFill>
                  <a:srgbClr val="000000"/>
                </a:solidFill>
                <a:effectLst/>
                <a:uLnTx/>
                <a:uFillTx/>
                <a:latin typeface="Arial" panose="020B0604020202020204"/>
                <a:ea typeface="+mn-ea"/>
                <a:cs typeface="+mn-cs"/>
              </a:rPr>
              <a:t>queries (</a:t>
            </a:r>
            <a:r>
              <a:rPr kumimoji="0" lang="en-GB" sz="1400" b="0" i="0" u="none" strike="noStrike" kern="0" cap="none" spc="0" normalizeH="0" baseline="0" noProof="0" err="1">
                <a:ln>
                  <a:noFill/>
                </a:ln>
                <a:solidFill>
                  <a:srgbClr val="000000"/>
                </a:solidFill>
                <a:effectLst/>
                <a:uLnTx/>
                <a:uFillTx/>
                <a:latin typeface="Arial" panose="020B0604020202020204"/>
                <a:ea typeface="+mn-ea"/>
                <a:cs typeface="+mn-cs"/>
              </a:rPr>
              <a:t>AfO</a:t>
            </a:r>
            <a:r>
              <a:rPr kumimoji="0" lang="en-GB" sz="1400" b="0" i="0" u="none" strike="noStrike" kern="0" cap="none" spc="0" normalizeH="0" baseline="0" noProof="0">
                <a:ln>
                  <a:noFill/>
                </a:ln>
                <a:solidFill>
                  <a:srgbClr val="000000"/>
                </a:solidFill>
                <a:effectLst/>
                <a:uLnTx/>
                <a:uFillTx/>
                <a:latin typeface="Arial" panose="020B0604020202020204"/>
                <a:ea typeface="+mn-ea"/>
                <a:cs typeface="+mn-cs"/>
              </a:rPr>
              <a:t>). All dimensions </a:t>
            </a:r>
            <a:r>
              <a:rPr kumimoji="0" lang="en-GB" sz="1400" b="0" i="0" u="none" strike="noStrike" kern="0" cap="none" spc="0" normalizeH="0" baseline="0" noProof="0">
                <a:ln>
                  <a:noFill/>
                </a:ln>
                <a:solidFill>
                  <a:srgbClr val="000000"/>
                </a:solidFill>
                <a:effectLst/>
                <a:uLnTx/>
                <a:uFillTx/>
                <a:latin typeface="Arial" panose="020B0604020202020204"/>
                <a:ea typeface="ＭＳ Ｐゴシック" charset="0"/>
                <a:cs typeface="+mn-cs"/>
              </a:rPr>
              <a:t>present </a:t>
            </a:r>
            <a:r>
              <a:rPr kumimoji="0" lang="en-GB" sz="1400" b="0" i="0" u="none" strike="noStrike" kern="0" cap="none" spc="0" normalizeH="0" baseline="0" noProof="0">
                <a:ln>
                  <a:noFill/>
                </a:ln>
                <a:solidFill>
                  <a:srgbClr val="000000"/>
                </a:solidFill>
                <a:effectLst/>
                <a:uLnTx/>
                <a:uFillTx/>
                <a:latin typeface="Arial" panose="020B0604020202020204"/>
                <a:ea typeface="+mn-ea"/>
                <a:cs typeface="+mn-cs"/>
              </a:rPr>
              <a:t>in the Universal Journal have been identified as relevant &amp; to which we want have instant visibility on.</a:t>
            </a:r>
          </a:p>
        </p:txBody>
      </p:sp>
      <p:sp>
        <p:nvSpPr>
          <p:cNvPr id="10" name="Rectangular Callout 18">
            <a:extLst>
              <a:ext uri="{FF2B5EF4-FFF2-40B4-BE49-F238E27FC236}">
                <a16:creationId xmlns:a16="http://schemas.microsoft.com/office/drawing/2014/main" id="{7154CC74-7BF5-4CC1-9918-4F29A192E764}"/>
              </a:ext>
            </a:extLst>
          </p:cNvPr>
          <p:cNvSpPr/>
          <p:nvPr/>
        </p:nvSpPr>
        <p:spPr bwMode="auto">
          <a:xfrm>
            <a:off x="4162863" y="2520874"/>
            <a:ext cx="3458985" cy="898976"/>
          </a:xfrm>
          <a:prstGeom prst="wedgeRectCallout">
            <a:avLst>
              <a:gd name="adj1" fmla="val 7705"/>
              <a:gd name="adj2" fmla="val 42470"/>
            </a:avLst>
          </a:prstGeom>
          <a:solidFill>
            <a:srgbClr val="FFFFFF"/>
          </a:solidFill>
          <a:ln w="12700" cap="flat" cmpd="sng" algn="ctr">
            <a:solidFill>
              <a:srgbClr val="88D5B8"/>
            </a:solidFill>
            <a:prstDash val="solid"/>
            <a:miter lim="800000"/>
          </a:ln>
          <a:effectLst/>
        </p:spPr>
        <p:txBody>
          <a:bodyPr vert="horz" wrap="square" lIns="36000" tIns="36000" rIns="0" bIns="0" numCol="1" rtlCol="0" anchor="t" anchorCtr="0" compatLnSpc="1">
            <a:prstTxWarp prst="textNoShape">
              <a:avLst/>
            </a:prstTxWarp>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en-GB" sz="1400" b="0" i="0" u="none" strike="noStrike" kern="0" cap="none" spc="0" normalizeH="0" baseline="0" noProof="0">
                <a:ln>
                  <a:noFill/>
                </a:ln>
                <a:solidFill>
                  <a:srgbClr val="000000"/>
                </a:solidFill>
                <a:effectLst/>
                <a:uLnTx/>
                <a:uFillTx/>
                <a:latin typeface="Arial" panose="020B0604020202020204"/>
                <a:ea typeface="+mn-ea"/>
                <a:cs typeface="+mn-cs"/>
              </a:rPr>
              <a:t>Instant S/4 Market P&amp;L – aligned with GPM &amp; GPM+ structure - (will include the key dimensions like Brand Family and Product Type)</a:t>
            </a:r>
            <a:endParaRPr kumimoji="0" lang="en-GB" sz="1400" b="0" i="0" u="none" strike="noStrike" kern="0" cap="none" spc="0" normalizeH="0" baseline="0" noProof="0">
              <a:ln>
                <a:noFill/>
              </a:ln>
              <a:solidFill>
                <a:srgbClr val="000000"/>
              </a:solidFill>
              <a:effectLst/>
              <a:uLnTx/>
              <a:uFillTx/>
              <a:latin typeface="Arial" panose="020B0604020202020204"/>
              <a:ea typeface="ＭＳ Ｐゴシック" charset="0"/>
              <a:cs typeface="+mn-cs"/>
            </a:endParaRPr>
          </a:p>
        </p:txBody>
      </p:sp>
      <p:sp>
        <p:nvSpPr>
          <p:cNvPr id="11" name="Rectangle: Rounded Corners 10">
            <a:extLst>
              <a:ext uri="{FF2B5EF4-FFF2-40B4-BE49-F238E27FC236}">
                <a16:creationId xmlns:a16="http://schemas.microsoft.com/office/drawing/2014/main" id="{75E806A4-7ACC-4039-A778-6A6CA9B20B50}"/>
              </a:ext>
            </a:extLst>
          </p:cNvPr>
          <p:cNvSpPr/>
          <p:nvPr/>
        </p:nvSpPr>
        <p:spPr>
          <a:xfrm>
            <a:off x="8050913" y="3513738"/>
            <a:ext cx="1837777" cy="420686"/>
          </a:xfrm>
          <a:prstGeom prst="roundRect">
            <a:avLst/>
          </a:prstGeom>
          <a:solidFill>
            <a:srgbClr val="00BD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Arial" panose="020B0604020202020204"/>
                <a:ea typeface="+mn-ea"/>
                <a:cs typeface="+mn-cs"/>
              </a:rPr>
              <a:t>CDS views standard queries**</a:t>
            </a:r>
          </a:p>
        </p:txBody>
      </p:sp>
      <p:sp>
        <p:nvSpPr>
          <p:cNvPr id="12" name="Rectangle: Rounded Corners 11">
            <a:extLst>
              <a:ext uri="{FF2B5EF4-FFF2-40B4-BE49-F238E27FC236}">
                <a16:creationId xmlns:a16="http://schemas.microsoft.com/office/drawing/2014/main" id="{D99E21C2-8508-4930-AC75-18470CB6BC06}"/>
              </a:ext>
            </a:extLst>
          </p:cNvPr>
          <p:cNvSpPr/>
          <p:nvPr/>
        </p:nvSpPr>
        <p:spPr>
          <a:xfrm>
            <a:off x="9979984" y="3511160"/>
            <a:ext cx="1653209" cy="420686"/>
          </a:xfrm>
          <a:prstGeom prst="roundRect">
            <a:avLst/>
          </a:prstGeom>
          <a:solidFill>
            <a:srgbClr val="00BD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Arial" panose="020B0604020202020204"/>
                <a:ea typeface="+mn-ea"/>
                <a:cs typeface="+mn-cs"/>
              </a:rPr>
              <a:t>Set of predefined workbooks</a:t>
            </a:r>
          </a:p>
        </p:txBody>
      </p:sp>
      <p:pic>
        <p:nvPicPr>
          <p:cNvPr id="13" name="Picture 12">
            <a:extLst>
              <a:ext uri="{FF2B5EF4-FFF2-40B4-BE49-F238E27FC236}">
                <a16:creationId xmlns:a16="http://schemas.microsoft.com/office/drawing/2014/main" id="{9020B196-7FFF-4C33-8578-CC235663E1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86989" y="4060002"/>
            <a:ext cx="964014" cy="964014"/>
          </a:xfrm>
          <a:prstGeom prst="rect">
            <a:avLst/>
          </a:prstGeom>
          <a:noFill/>
          <a:ln>
            <a:noFill/>
          </a:ln>
        </p:spPr>
      </p:pic>
      <p:pic>
        <p:nvPicPr>
          <p:cNvPr id="14" name="Picture 13">
            <a:extLst>
              <a:ext uri="{FF2B5EF4-FFF2-40B4-BE49-F238E27FC236}">
                <a16:creationId xmlns:a16="http://schemas.microsoft.com/office/drawing/2014/main" id="{EA31E467-10F8-4582-A51C-94BB872CE538}"/>
              </a:ext>
            </a:extLst>
          </p:cNvPr>
          <p:cNvPicPr>
            <a:picLocks noChangeAspect="1"/>
          </p:cNvPicPr>
          <p:nvPr/>
        </p:nvPicPr>
        <p:blipFill rotWithShape="1">
          <a:blip r:embed="rId3"/>
          <a:srcRect b="13474"/>
          <a:stretch/>
        </p:blipFill>
        <p:spPr>
          <a:xfrm>
            <a:off x="8050914" y="3952458"/>
            <a:ext cx="1837777" cy="1784305"/>
          </a:xfrm>
          <a:prstGeom prst="rect">
            <a:avLst/>
          </a:prstGeom>
        </p:spPr>
      </p:pic>
      <p:pic>
        <p:nvPicPr>
          <p:cNvPr id="15" name="Picture 14">
            <a:extLst>
              <a:ext uri="{FF2B5EF4-FFF2-40B4-BE49-F238E27FC236}">
                <a16:creationId xmlns:a16="http://schemas.microsoft.com/office/drawing/2014/main" id="{F1025FFD-8158-447F-9B6D-B2A0C8DEFCE9}"/>
              </a:ext>
            </a:extLst>
          </p:cNvPr>
          <p:cNvPicPr>
            <a:picLocks noChangeAspect="1"/>
          </p:cNvPicPr>
          <p:nvPr/>
        </p:nvPicPr>
        <p:blipFill>
          <a:blip r:embed="rId4"/>
          <a:stretch>
            <a:fillRect/>
          </a:stretch>
        </p:blipFill>
        <p:spPr>
          <a:xfrm>
            <a:off x="4109967" y="3484018"/>
            <a:ext cx="2852402" cy="1803404"/>
          </a:xfrm>
          <a:prstGeom prst="rect">
            <a:avLst/>
          </a:prstGeom>
        </p:spPr>
      </p:pic>
      <p:sp>
        <p:nvSpPr>
          <p:cNvPr id="16" name="Rectangle: Rounded Corners 15">
            <a:extLst>
              <a:ext uri="{FF2B5EF4-FFF2-40B4-BE49-F238E27FC236}">
                <a16:creationId xmlns:a16="http://schemas.microsoft.com/office/drawing/2014/main" id="{B83D04FD-7D54-4377-B670-5A8EBC433552}"/>
              </a:ext>
            </a:extLst>
          </p:cNvPr>
          <p:cNvSpPr/>
          <p:nvPr/>
        </p:nvSpPr>
        <p:spPr bwMode="auto">
          <a:xfrm>
            <a:off x="297719" y="2423721"/>
            <a:ext cx="3691192" cy="3379486"/>
          </a:xfrm>
          <a:prstGeom prst="roundRect">
            <a:avLst>
              <a:gd name="adj" fmla="val 0"/>
            </a:avLst>
          </a:prstGeom>
          <a:solidFill>
            <a:srgbClr val="00BDB7">
              <a:alpha val="22000"/>
            </a:srgbClr>
          </a:solidFill>
          <a:ln>
            <a:noFill/>
          </a:ln>
          <a:effectLst/>
        </p:spPr>
        <p:txBody>
          <a:bodyPr vert="horz" wrap="square" lIns="0" tIns="0" rIns="0" bIns="0" numCol="1" rtlCol="0" anchor="t"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600" b="1" i="0" u="sng" strike="noStrike" kern="0" cap="none" spc="0" normalizeH="0" baseline="0" noProof="0">
              <a:ln>
                <a:noFill/>
              </a:ln>
              <a:solidFill>
                <a:srgbClr val="000000">
                  <a:lumMod val="75000"/>
                  <a:lumOff val="25000"/>
                </a:srgbClr>
              </a:solidFill>
              <a:effectLst/>
              <a:uLnTx/>
              <a:uFillTx/>
              <a:latin typeface="Arial" panose="020B0604020202020204"/>
              <a:ea typeface="ＭＳ Ｐゴシック" pitchFamily="80" charset="-128"/>
              <a:cs typeface="Arial" charset="0"/>
            </a:endParaRPr>
          </a:p>
        </p:txBody>
      </p:sp>
      <p:sp>
        <p:nvSpPr>
          <p:cNvPr id="17" name="Arrow: Down 16">
            <a:extLst>
              <a:ext uri="{FF2B5EF4-FFF2-40B4-BE49-F238E27FC236}">
                <a16:creationId xmlns:a16="http://schemas.microsoft.com/office/drawing/2014/main" id="{7F6AB19B-9C06-405F-9451-790DD7DCC949}"/>
              </a:ext>
            </a:extLst>
          </p:cNvPr>
          <p:cNvSpPr/>
          <p:nvPr/>
        </p:nvSpPr>
        <p:spPr>
          <a:xfrm rot="19894031">
            <a:off x="6540536" y="4539703"/>
            <a:ext cx="329202" cy="373746"/>
          </a:xfrm>
          <a:prstGeom prst="downArrow">
            <a:avLst/>
          </a:prstGeom>
          <a:solidFill>
            <a:srgbClr val="FFFFFF">
              <a:lumMod val="65000"/>
            </a:srgbClr>
          </a:solidFill>
          <a:ln w="12700" cap="flat" cmpd="sng" algn="ctr">
            <a:solidFill>
              <a:srgbClr val="FFFFFF">
                <a:lumMod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pic>
        <p:nvPicPr>
          <p:cNvPr id="18" name="Content Placeholder 5">
            <a:extLst>
              <a:ext uri="{FF2B5EF4-FFF2-40B4-BE49-F238E27FC236}">
                <a16:creationId xmlns:a16="http://schemas.microsoft.com/office/drawing/2014/main" id="{8F5B053D-6845-446C-9445-E6FCF515952A}"/>
              </a:ext>
            </a:extLst>
          </p:cNvPr>
          <p:cNvPicPr>
            <a:picLocks noChangeAspect="1"/>
          </p:cNvPicPr>
          <p:nvPr/>
        </p:nvPicPr>
        <p:blipFill>
          <a:blip r:embed="rId5"/>
          <a:stretch>
            <a:fillRect/>
          </a:stretch>
        </p:blipFill>
        <p:spPr>
          <a:xfrm>
            <a:off x="5806190" y="4925366"/>
            <a:ext cx="1781630" cy="649608"/>
          </a:xfrm>
          <a:prstGeom prst="rect">
            <a:avLst/>
          </a:prstGeom>
        </p:spPr>
      </p:pic>
      <p:sp>
        <p:nvSpPr>
          <p:cNvPr id="19" name="Rectangle: Rounded Corners 18">
            <a:extLst>
              <a:ext uri="{FF2B5EF4-FFF2-40B4-BE49-F238E27FC236}">
                <a16:creationId xmlns:a16="http://schemas.microsoft.com/office/drawing/2014/main" id="{C7ECDD7D-9158-473B-B1ED-A3348BDB3899}"/>
              </a:ext>
            </a:extLst>
          </p:cNvPr>
          <p:cNvSpPr/>
          <p:nvPr/>
        </p:nvSpPr>
        <p:spPr>
          <a:xfrm>
            <a:off x="6934508" y="3923434"/>
            <a:ext cx="700243" cy="973321"/>
          </a:xfrm>
          <a:prstGeom prst="roundRect">
            <a:avLst/>
          </a:prstGeom>
          <a:solidFill>
            <a:srgbClr val="FFFFFF">
              <a:lumMod val="85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panose="020B0604020202020204"/>
                <a:ea typeface="+mn-ea"/>
                <a:cs typeface="+mn-cs"/>
              </a:rPr>
              <a:t>Drill down to FAGGLO3H</a:t>
            </a:r>
          </a:p>
        </p:txBody>
      </p:sp>
      <p:sp>
        <p:nvSpPr>
          <p:cNvPr id="20" name="Rectangular Callout 18">
            <a:extLst>
              <a:ext uri="{FF2B5EF4-FFF2-40B4-BE49-F238E27FC236}">
                <a16:creationId xmlns:a16="http://schemas.microsoft.com/office/drawing/2014/main" id="{A8F99C49-304F-43AD-AA94-7852EAC2B88D}"/>
              </a:ext>
            </a:extLst>
          </p:cNvPr>
          <p:cNvSpPr/>
          <p:nvPr/>
        </p:nvSpPr>
        <p:spPr bwMode="auto">
          <a:xfrm>
            <a:off x="341691" y="2502959"/>
            <a:ext cx="3458985" cy="898976"/>
          </a:xfrm>
          <a:prstGeom prst="wedgeRectCallout">
            <a:avLst>
              <a:gd name="adj1" fmla="val 7705"/>
              <a:gd name="adj2" fmla="val 42470"/>
            </a:avLst>
          </a:prstGeom>
          <a:solidFill>
            <a:srgbClr val="FFFFFF"/>
          </a:solidFill>
          <a:ln w="12700" cap="flat" cmpd="sng" algn="ctr">
            <a:solidFill>
              <a:srgbClr val="88D5B8"/>
            </a:solidFill>
            <a:prstDash val="solid"/>
            <a:miter lim="800000"/>
          </a:ln>
          <a:effectLst/>
        </p:spPr>
        <p:txBody>
          <a:bodyPr vert="horz" wrap="square" lIns="36000" tIns="36000" rIns="0" bIns="0" numCol="1" rtlCol="0" anchor="t" anchorCtr="0" compatLnSpc="1">
            <a:prstTxWarp prst="textNoShape">
              <a:avLst/>
            </a:prstTxWarp>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en-GB" sz="1400" b="0" i="0" u="none" strike="noStrike" kern="0" cap="none" spc="0" normalizeH="0" baseline="0" noProof="0">
                <a:ln>
                  <a:noFill/>
                </a:ln>
                <a:solidFill>
                  <a:srgbClr val="000000"/>
                </a:solidFill>
                <a:effectLst/>
                <a:uLnTx/>
                <a:uFillTx/>
                <a:latin typeface="Arial" panose="020B0604020202020204"/>
                <a:ea typeface="+mn-ea"/>
                <a:cs typeface="+mn-cs"/>
              </a:rPr>
              <a:t>Instant S/4 Market P&amp;L – aligned with GPM &amp; GPM+ structure - (will include the key dimensions like Brand Family and Product Type)</a:t>
            </a:r>
            <a:endParaRPr kumimoji="0" lang="en-GB" sz="1400" b="0" i="0" u="none" strike="noStrike" kern="0" cap="none" spc="0" normalizeH="0" baseline="0" noProof="0">
              <a:ln>
                <a:noFill/>
              </a:ln>
              <a:solidFill>
                <a:srgbClr val="000000"/>
              </a:solidFill>
              <a:effectLst/>
              <a:uLnTx/>
              <a:uFillTx/>
              <a:latin typeface="Arial" panose="020B0604020202020204"/>
              <a:ea typeface="ＭＳ Ｐゴシック" charset="0"/>
              <a:cs typeface="+mn-cs"/>
            </a:endParaRPr>
          </a:p>
        </p:txBody>
      </p:sp>
      <p:sp>
        <p:nvSpPr>
          <p:cNvPr id="21" name="TextBox 20">
            <a:extLst>
              <a:ext uri="{FF2B5EF4-FFF2-40B4-BE49-F238E27FC236}">
                <a16:creationId xmlns:a16="http://schemas.microsoft.com/office/drawing/2014/main" id="{C56A782D-8E2F-4035-ACB3-41DC81B3A406}"/>
              </a:ext>
            </a:extLst>
          </p:cNvPr>
          <p:cNvSpPr txBox="1"/>
          <p:nvPr/>
        </p:nvSpPr>
        <p:spPr>
          <a:xfrm>
            <a:off x="10147987" y="5136775"/>
            <a:ext cx="1295478" cy="280247"/>
          </a:xfrm>
          <a:prstGeom prst="rect">
            <a:avLst/>
          </a:prstGeom>
          <a:noFill/>
        </p:spPr>
        <p:txBody>
          <a:bodyPr wrap="square" lIns="0" tIns="0" rIns="0" bIns="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NB! Save the work books in a local folder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Arial"/>
            </a:endParaRPr>
          </a:p>
        </p:txBody>
      </p:sp>
      <p:sp>
        <p:nvSpPr>
          <p:cNvPr id="26" name="Rectangle: Rounded Corners 25">
            <a:extLst>
              <a:ext uri="{FF2B5EF4-FFF2-40B4-BE49-F238E27FC236}">
                <a16:creationId xmlns:a16="http://schemas.microsoft.com/office/drawing/2014/main" id="{3E4E24F1-6B08-4F65-B26C-2C52D45E929F}"/>
              </a:ext>
            </a:extLst>
          </p:cNvPr>
          <p:cNvSpPr/>
          <p:nvPr/>
        </p:nvSpPr>
        <p:spPr>
          <a:xfrm>
            <a:off x="297720" y="1887093"/>
            <a:ext cx="3691192" cy="463826"/>
          </a:xfrm>
          <a:prstGeom prst="roundRect">
            <a:avLst/>
          </a:prstGeom>
          <a:gradFill rotWithShape="1">
            <a:gsLst>
              <a:gs pos="0">
                <a:srgbClr val="00BDB7">
                  <a:satMod val="103000"/>
                  <a:lumMod val="102000"/>
                  <a:tint val="94000"/>
                </a:srgbClr>
              </a:gs>
              <a:gs pos="50000">
                <a:srgbClr val="00BDB7">
                  <a:satMod val="110000"/>
                  <a:lumMod val="100000"/>
                  <a:shade val="100000"/>
                </a:srgbClr>
              </a:gs>
              <a:gs pos="100000">
                <a:srgbClr val="00BDB7">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en-US" sz="1400" b="1" i="0" u="none" strike="noStrike" kern="0" cap="none" spc="0" normalizeH="0" baseline="0" noProof="0" dirty="0">
                <a:ln>
                  <a:noFill/>
                </a:ln>
                <a:solidFill>
                  <a:srgbClr val="FFFFFF"/>
                </a:solidFill>
                <a:effectLst/>
                <a:uLnTx/>
                <a:uFillTx/>
                <a:latin typeface="Arial" panose="020B0604020202020204"/>
                <a:ea typeface="+mn-ea"/>
                <a:cs typeface="Arial" charset="0"/>
              </a:rPr>
              <a:t>1. GL Line Item Browser FAGLL03H</a:t>
            </a:r>
          </a:p>
        </p:txBody>
      </p:sp>
      <p:sp>
        <p:nvSpPr>
          <p:cNvPr id="27" name="Rectangle: Rounded Corners 26">
            <a:extLst>
              <a:ext uri="{FF2B5EF4-FFF2-40B4-BE49-F238E27FC236}">
                <a16:creationId xmlns:a16="http://schemas.microsoft.com/office/drawing/2014/main" id="{A51356E6-C00A-43A6-9F07-E74598EC50E8}"/>
              </a:ext>
            </a:extLst>
          </p:cNvPr>
          <p:cNvSpPr/>
          <p:nvPr/>
        </p:nvSpPr>
        <p:spPr>
          <a:xfrm>
            <a:off x="4049898" y="1887093"/>
            <a:ext cx="3691192" cy="463826"/>
          </a:xfrm>
          <a:prstGeom prst="roundRect">
            <a:avLst/>
          </a:prstGeom>
          <a:gradFill rotWithShape="1">
            <a:gsLst>
              <a:gs pos="0">
                <a:srgbClr val="00BDB7">
                  <a:satMod val="103000"/>
                  <a:lumMod val="102000"/>
                  <a:tint val="94000"/>
                </a:srgbClr>
              </a:gs>
              <a:gs pos="50000">
                <a:srgbClr val="00BDB7">
                  <a:satMod val="110000"/>
                  <a:lumMod val="100000"/>
                  <a:shade val="100000"/>
                </a:srgbClr>
              </a:gs>
              <a:gs pos="100000">
                <a:srgbClr val="00BDB7">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en-US" sz="1400" b="1" i="0" u="none" strike="noStrike" kern="0" cap="none" spc="0" normalizeH="0" baseline="0" noProof="0">
                <a:ln>
                  <a:noFill/>
                </a:ln>
                <a:solidFill>
                  <a:srgbClr val="FFFFFF"/>
                </a:solidFill>
                <a:effectLst/>
                <a:uLnTx/>
                <a:uFillTx/>
                <a:latin typeface="Arial" panose="020B0604020202020204"/>
                <a:ea typeface="+mn-ea"/>
                <a:cs typeface="Arial" charset="0"/>
              </a:rPr>
              <a:t>2. Market P/L (GR55 – Z4PL)*</a:t>
            </a:r>
          </a:p>
        </p:txBody>
      </p:sp>
      <p:sp>
        <p:nvSpPr>
          <p:cNvPr id="28" name="Rectangle: Rounded Corners 27">
            <a:extLst>
              <a:ext uri="{FF2B5EF4-FFF2-40B4-BE49-F238E27FC236}">
                <a16:creationId xmlns:a16="http://schemas.microsoft.com/office/drawing/2014/main" id="{633AAAC6-256A-499E-A487-FB93B7ED8371}"/>
              </a:ext>
            </a:extLst>
          </p:cNvPr>
          <p:cNvSpPr/>
          <p:nvPr/>
        </p:nvSpPr>
        <p:spPr>
          <a:xfrm>
            <a:off x="7840467" y="1887093"/>
            <a:ext cx="3905629" cy="463826"/>
          </a:xfrm>
          <a:prstGeom prst="roundRect">
            <a:avLst/>
          </a:prstGeom>
          <a:gradFill rotWithShape="1">
            <a:gsLst>
              <a:gs pos="0">
                <a:srgbClr val="00BDB7">
                  <a:satMod val="103000"/>
                  <a:lumMod val="102000"/>
                  <a:tint val="94000"/>
                </a:srgbClr>
              </a:gs>
              <a:gs pos="50000">
                <a:srgbClr val="00BDB7">
                  <a:satMod val="110000"/>
                  <a:lumMod val="100000"/>
                  <a:shade val="100000"/>
                </a:srgbClr>
              </a:gs>
              <a:gs pos="100000">
                <a:srgbClr val="00BDB7">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en-US" sz="1400" b="1" i="0" u="none" strike="noStrike" kern="0" cap="none" spc="0" normalizeH="0" baseline="0" noProof="0">
                <a:ln>
                  <a:noFill/>
                </a:ln>
                <a:solidFill>
                  <a:srgbClr val="FFFFFF"/>
                </a:solidFill>
                <a:effectLst/>
                <a:uLnTx/>
                <a:uFillTx/>
                <a:latin typeface="Arial" panose="020B0604020202020204"/>
                <a:ea typeface="+mn-ea"/>
                <a:cs typeface="Arial" charset="0"/>
              </a:rPr>
              <a:t>3. CDS Views/Queries (AFO)</a:t>
            </a:r>
          </a:p>
        </p:txBody>
      </p:sp>
      <p:pic>
        <p:nvPicPr>
          <p:cNvPr id="29" name="Picture 28">
            <a:extLst>
              <a:ext uri="{FF2B5EF4-FFF2-40B4-BE49-F238E27FC236}">
                <a16:creationId xmlns:a16="http://schemas.microsoft.com/office/drawing/2014/main" id="{5655ABD1-7491-4100-9369-BD0A98BFD6CB}"/>
              </a:ext>
            </a:extLst>
          </p:cNvPr>
          <p:cNvPicPr>
            <a:picLocks noChangeAspect="1"/>
          </p:cNvPicPr>
          <p:nvPr/>
        </p:nvPicPr>
        <p:blipFill>
          <a:blip r:embed="rId6"/>
          <a:stretch>
            <a:fillRect/>
          </a:stretch>
        </p:blipFill>
        <p:spPr>
          <a:xfrm>
            <a:off x="645599" y="3511160"/>
            <a:ext cx="3116759" cy="1240454"/>
          </a:xfrm>
          <a:prstGeom prst="rect">
            <a:avLst/>
          </a:prstGeom>
        </p:spPr>
      </p:pic>
      <p:grpSp>
        <p:nvGrpSpPr>
          <p:cNvPr id="23" name="Group 22">
            <a:extLst>
              <a:ext uri="{FF2B5EF4-FFF2-40B4-BE49-F238E27FC236}">
                <a16:creationId xmlns:a16="http://schemas.microsoft.com/office/drawing/2014/main" id="{3F8466DB-D6BF-432E-84BB-3E71B14C0D6D}"/>
              </a:ext>
            </a:extLst>
          </p:cNvPr>
          <p:cNvGrpSpPr/>
          <p:nvPr/>
        </p:nvGrpSpPr>
        <p:grpSpPr>
          <a:xfrm>
            <a:off x="10728063" y="943407"/>
            <a:ext cx="1117410" cy="1075601"/>
            <a:chOff x="2977913" y="2550708"/>
            <a:chExt cx="1384644" cy="1358910"/>
          </a:xfrm>
        </p:grpSpPr>
        <p:pic>
          <p:nvPicPr>
            <p:cNvPr id="24" name="Placeholder">
              <a:extLst>
                <a:ext uri="{FF2B5EF4-FFF2-40B4-BE49-F238E27FC236}">
                  <a16:creationId xmlns:a16="http://schemas.microsoft.com/office/drawing/2014/main" id="{1DAC613C-8D23-42B8-A320-447B9DF7E3A0}"/>
                </a:ext>
              </a:extLst>
            </p:cNvPr>
            <p:cNvPicPr>
              <a:picLocks noChangeAspect="1"/>
            </p:cNvPicPr>
            <p:nvPr/>
          </p:nvPicPr>
          <p:blipFill>
            <a:blip r:embed="rId7">
              <a:biLevel thresh="25000"/>
              <a:extLst>
                <a:ext uri="{28A0092B-C50C-407E-A947-70E740481C1C}">
                  <a14:useLocalDpi xmlns:a14="http://schemas.microsoft.com/office/drawing/2010/main" val="0"/>
                </a:ext>
              </a:extLst>
            </a:blip>
            <a:stretch>
              <a:fillRect/>
            </a:stretch>
          </p:blipFill>
          <p:spPr>
            <a:xfrm>
              <a:off x="2977913" y="2550708"/>
              <a:ext cx="1384644" cy="1358910"/>
            </a:xfrm>
            <a:prstGeom prst="rect">
              <a:avLst/>
            </a:prstGeom>
            <a:solidFill>
              <a:srgbClr val="122632"/>
            </a:solidFill>
            <a:extLst>
              <a:ext uri="{FAA26D3D-D897-4be2-8F04-BA451C77F1D7}">
                <ma14:placeholderFlag xmlns="" xmlns:ma14="http://schemas.microsoft.com/office/mac/drawingml/2011/main" val="1"/>
              </a:ext>
            </a:extLst>
          </p:spPr>
        </p:pic>
        <p:sp>
          <p:nvSpPr>
            <p:cNvPr id="25" name="Rounded Rectangle 48">
              <a:extLst>
                <a:ext uri="{FF2B5EF4-FFF2-40B4-BE49-F238E27FC236}">
                  <a16:creationId xmlns:a16="http://schemas.microsoft.com/office/drawing/2014/main" id="{D14CC4BB-ED1A-46D3-84E1-FDE0EEB394DB}"/>
                </a:ext>
              </a:extLst>
            </p:cNvPr>
            <p:cNvSpPr/>
            <p:nvPr/>
          </p:nvSpPr>
          <p:spPr bwMode="auto">
            <a:xfrm>
              <a:off x="3326798" y="2806331"/>
              <a:ext cx="686871" cy="382833"/>
            </a:xfrm>
            <a:prstGeom prst="roundRect">
              <a:avLst/>
            </a:prstGeom>
            <a:solidFill>
              <a:srgbClr val="00BDB7"/>
            </a:solidFill>
            <a:ln>
              <a:noFill/>
            </a:ln>
            <a:effectLst/>
          </p:spPr>
          <p:txBody>
            <a:bodyPr vert="horz" wrap="square" lIns="0" tIns="0" rIns="0" bIns="0" numCol="1" rtlCol="0" anchor="ctr" anchorCtr="1" compatLnSpc="1">
              <a:prstTxWarp prst="textNoShape">
                <a:avLst/>
              </a:prstTxWarp>
            </a:bodyPr>
            <a:lstStyle/>
            <a:p>
              <a:pPr marL="0" marR="0" lvl="0" indent="0" algn="l" defTabSz="914126" rtl="0" eaLnBrk="1" fontAlgn="auto" latinLnBrk="0" hangingPunct="1">
                <a:lnSpc>
                  <a:spcPct val="100000"/>
                </a:lnSpc>
                <a:spcBef>
                  <a:spcPct val="20000"/>
                </a:spcBef>
                <a:spcAft>
                  <a:spcPts val="0"/>
                </a:spcAft>
                <a:buClrTx/>
                <a:buSzTx/>
                <a:buFontTx/>
                <a:buNone/>
                <a:tabLst/>
                <a:defRPr/>
              </a:pPr>
              <a:r>
                <a:rPr kumimoji="0" lang="en-US" sz="1100" b="0" i="0" u="none" strike="noStrike" kern="0" cap="none" spc="0" normalizeH="0" baseline="0" noProof="0">
                  <a:ln>
                    <a:noFill/>
                  </a:ln>
                  <a:solidFill>
                    <a:srgbClr val="122632"/>
                  </a:solidFill>
                  <a:effectLst/>
                  <a:uLnTx/>
                  <a:uFillTx/>
                  <a:latin typeface="Arial" panose="020B0604020202020204"/>
                  <a:ea typeface="ＭＳ Ｐゴシック" charset="0"/>
                  <a:cs typeface="+mn-cs"/>
                </a:rPr>
                <a:t>Instant</a:t>
              </a:r>
            </a:p>
          </p:txBody>
        </p:sp>
      </p:grpSp>
    </p:spTree>
    <p:extLst>
      <p:ext uri="{BB962C8B-B14F-4D97-AF65-F5344CB8AC3E}">
        <p14:creationId xmlns:p14="http://schemas.microsoft.com/office/powerpoint/2010/main" val="3591797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C78D7-57F0-4516-B7E0-C23F9900A7DA}"/>
              </a:ext>
            </a:extLst>
          </p:cNvPr>
          <p:cNvSpPr>
            <a:spLocks noGrp="1"/>
          </p:cNvSpPr>
          <p:nvPr>
            <p:ph type="title"/>
          </p:nvPr>
        </p:nvSpPr>
        <p:spPr/>
        <p:txBody>
          <a:bodyPr/>
          <a:lstStyle/>
          <a:p>
            <a:r>
              <a:rPr lang="en-US" dirty="0"/>
              <a:t>GL Line Item Browser FAGLL03H</a:t>
            </a:r>
          </a:p>
        </p:txBody>
      </p:sp>
      <p:sp>
        <p:nvSpPr>
          <p:cNvPr id="4" name="Footer Placeholder 3">
            <a:extLst>
              <a:ext uri="{FF2B5EF4-FFF2-40B4-BE49-F238E27FC236}">
                <a16:creationId xmlns:a16="http://schemas.microsoft.com/office/drawing/2014/main" id="{35AD3743-9108-4146-93EF-CD04DFD20685}"/>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B3C3B49D-2DC5-476D-9D8F-142C67F482E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6" name="Content Placeholder 7">
            <a:extLst>
              <a:ext uri="{FF2B5EF4-FFF2-40B4-BE49-F238E27FC236}">
                <a16:creationId xmlns:a16="http://schemas.microsoft.com/office/drawing/2014/main" id="{1EAE41AD-1A66-41B1-B676-2BE434F27623}"/>
              </a:ext>
            </a:extLst>
          </p:cNvPr>
          <p:cNvPicPr>
            <a:picLocks noChangeAspect="1"/>
          </p:cNvPicPr>
          <p:nvPr/>
        </p:nvPicPr>
        <p:blipFill>
          <a:blip r:embed="rId2"/>
          <a:stretch>
            <a:fillRect/>
          </a:stretch>
        </p:blipFill>
        <p:spPr>
          <a:xfrm>
            <a:off x="515937" y="1541482"/>
            <a:ext cx="9626565" cy="4924631"/>
          </a:xfrm>
          <a:prstGeom prst="rect">
            <a:avLst/>
          </a:prstGeom>
        </p:spPr>
      </p:pic>
      <p:graphicFrame>
        <p:nvGraphicFramePr>
          <p:cNvPr id="7" name="Table 6">
            <a:extLst>
              <a:ext uri="{FF2B5EF4-FFF2-40B4-BE49-F238E27FC236}">
                <a16:creationId xmlns:a16="http://schemas.microsoft.com/office/drawing/2014/main" id="{409F47DF-11FC-48DD-9CFA-DED4879BEDDE}"/>
              </a:ext>
            </a:extLst>
          </p:cNvPr>
          <p:cNvGraphicFramePr>
            <a:graphicFrameLocks noGrp="1"/>
          </p:cNvGraphicFramePr>
          <p:nvPr/>
        </p:nvGraphicFramePr>
        <p:xfrm>
          <a:off x="7176801" y="3792518"/>
          <a:ext cx="4499262" cy="1524000"/>
        </p:xfrm>
        <a:graphic>
          <a:graphicData uri="http://schemas.openxmlformats.org/drawingml/2006/table">
            <a:tbl>
              <a:tblPr firstRow="1" bandRow="1"/>
              <a:tblGrid>
                <a:gridCol w="4499262">
                  <a:extLst>
                    <a:ext uri="{9D8B030D-6E8A-4147-A177-3AD203B41FA5}">
                      <a16:colId xmlns:a16="http://schemas.microsoft.com/office/drawing/2014/main" val="3847836094"/>
                    </a:ext>
                  </a:extLst>
                </a:gridCol>
              </a:tblGrid>
              <a:tr h="204709">
                <a:tc>
                  <a:txBody>
                    <a:bodyPr/>
                    <a:lstStyle>
                      <a:lvl1pPr marL="0" algn="l" defTabSz="914400" rtl="0" eaLnBrk="1" latinLnBrk="0" hangingPunct="1">
                        <a:defRPr sz="1800" b="1" kern="1200">
                          <a:solidFill>
                            <a:schemeClr val="tx1"/>
                          </a:solidFill>
                          <a:latin typeface="Arial" panose="020B0604020202020204"/>
                        </a:defRPr>
                      </a:lvl1pPr>
                      <a:lvl2pPr marL="457200" algn="l" defTabSz="914400" rtl="0" eaLnBrk="1" latinLnBrk="0" hangingPunct="1">
                        <a:defRPr sz="1800" b="1" kern="1200">
                          <a:solidFill>
                            <a:schemeClr val="tx1"/>
                          </a:solidFill>
                          <a:latin typeface="Arial" panose="020B0604020202020204"/>
                        </a:defRPr>
                      </a:lvl2pPr>
                      <a:lvl3pPr marL="914400" algn="l" defTabSz="914400" rtl="0" eaLnBrk="1" latinLnBrk="0" hangingPunct="1">
                        <a:defRPr sz="1800" b="1" kern="1200">
                          <a:solidFill>
                            <a:schemeClr val="tx1"/>
                          </a:solidFill>
                          <a:latin typeface="Arial" panose="020B0604020202020204"/>
                        </a:defRPr>
                      </a:lvl3pPr>
                      <a:lvl4pPr marL="1371600" algn="l" defTabSz="914400" rtl="0" eaLnBrk="1" latinLnBrk="0" hangingPunct="1">
                        <a:defRPr sz="1800" b="1" kern="1200">
                          <a:solidFill>
                            <a:schemeClr val="tx1"/>
                          </a:solidFill>
                          <a:latin typeface="Arial" panose="020B0604020202020204"/>
                        </a:defRPr>
                      </a:lvl4pPr>
                      <a:lvl5pPr marL="1828800" algn="l" defTabSz="914400" rtl="0" eaLnBrk="1" latinLnBrk="0" hangingPunct="1">
                        <a:defRPr sz="1800" b="1" kern="1200">
                          <a:solidFill>
                            <a:schemeClr val="tx1"/>
                          </a:solidFill>
                          <a:latin typeface="Arial" panose="020B0604020202020204"/>
                        </a:defRPr>
                      </a:lvl5pPr>
                      <a:lvl6pPr marL="2286000" algn="l" defTabSz="914400" rtl="0" eaLnBrk="1" latinLnBrk="0" hangingPunct="1">
                        <a:defRPr sz="1800" b="1" kern="1200">
                          <a:solidFill>
                            <a:schemeClr val="tx1"/>
                          </a:solidFill>
                          <a:latin typeface="Arial" panose="020B0604020202020204"/>
                        </a:defRPr>
                      </a:lvl6pPr>
                      <a:lvl7pPr marL="2743200" algn="l" defTabSz="914400" rtl="0" eaLnBrk="1" latinLnBrk="0" hangingPunct="1">
                        <a:defRPr sz="1800" b="1" kern="1200">
                          <a:solidFill>
                            <a:schemeClr val="tx1"/>
                          </a:solidFill>
                          <a:latin typeface="Arial" panose="020B0604020202020204"/>
                        </a:defRPr>
                      </a:lvl7pPr>
                      <a:lvl8pPr marL="3200400" algn="l" defTabSz="914400" rtl="0" eaLnBrk="1" latinLnBrk="0" hangingPunct="1">
                        <a:defRPr sz="1800" b="1" kern="1200">
                          <a:solidFill>
                            <a:schemeClr val="tx1"/>
                          </a:solidFill>
                          <a:latin typeface="Arial" panose="020B0604020202020204"/>
                        </a:defRPr>
                      </a:lvl8pPr>
                      <a:lvl9pPr marL="3657600" algn="l" defTabSz="914400" rtl="0" eaLnBrk="1" latinLnBrk="0" hangingPunct="1">
                        <a:defRPr sz="1800" b="1" kern="1200">
                          <a:solidFill>
                            <a:schemeClr val="tx1"/>
                          </a:solidFill>
                          <a:latin typeface="Arial" panose="020B0604020202020204"/>
                        </a:defRPr>
                      </a:lvl9pPr>
                    </a:lstStyle>
                    <a:p>
                      <a:endParaRPr lang="en-US" sz="800"/>
                    </a:p>
                  </a:txBody>
                  <a:tcPr>
                    <a:lnL>
                      <a:noFill/>
                    </a:lnL>
                    <a:lnR>
                      <a:noFill/>
                    </a:lnR>
                    <a:lnT w="12700" cmpd="sng">
                      <a:solidFill>
                        <a:srgbClr val="00BDB7"/>
                      </a:solidFill>
                    </a:lnT>
                    <a:lnB w="12700" cmpd="sng">
                      <a:solidFill>
                        <a:srgbClr val="00BDB7"/>
                      </a:solidFill>
                    </a:lnB>
                    <a:lnTlToBr w="12700" cmpd="sng">
                      <a:noFill/>
                      <a:prstDash val="solid"/>
                    </a:lnTlToBr>
                    <a:lnBlToTr w="12700" cmpd="sng">
                      <a:noFill/>
                      <a:prstDash val="solid"/>
                    </a:lnBlToTr>
                    <a:noFill/>
                  </a:tcPr>
                </a:tc>
                <a:extLst>
                  <a:ext uri="{0D108BD9-81ED-4DB2-BD59-A6C34878D82A}">
                    <a16:rowId xmlns:a16="http://schemas.microsoft.com/office/drawing/2014/main" val="1621244950"/>
                  </a:ext>
                </a:extLst>
              </a:tr>
              <a:tr h="1290570">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1" dirty="0"/>
                        <a:t>FAGLL03H is the S4 version of R3 legacy GL Line Items report FBL3N</a:t>
                      </a:r>
                    </a:p>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600" b="1" dirty="0"/>
                    </a:p>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1" dirty="0"/>
                        <a:t>The front end should be very familiar to those who have used FBL3N</a:t>
                      </a:r>
                    </a:p>
                  </a:txBody>
                  <a:tcPr>
                    <a:lnL>
                      <a:noFill/>
                    </a:lnL>
                    <a:lnR>
                      <a:noFill/>
                    </a:lnR>
                    <a:lnT w="12700" cmpd="sng">
                      <a:solidFill>
                        <a:srgbClr val="00BDB7"/>
                      </a:solidFill>
                    </a:lnT>
                    <a:lnB w="12700" cmpd="sng">
                      <a:solidFill>
                        <a:srgbClr val="00BDB7"/>
                      </a:solidFill>
                    </a:lnB>
                    <a:lnTlToBr w="12700" cmpd="sng">
                      <a:noFill/>
                      <a:prstDash val="solid"/>
                    </a:lnTlToBr>
                    <a:lnBlToTr w="12700" cmpd="sng">
                      <a:noFill/>
                      <a:prstDash val="solid"/>
                    </a:lnBlToTr>
                    <a:solidFill>
                      <a:srgbClr val="00BDB7">
                        <a:alpha val="20000"/>
                      </a:srgbClr>
                    </a:solidFill>
                  </a:tcPr>
                </a:tc>
                <a:extLst>
                  <a:ext uri="{0D108BD9-81ED-4DB2-BD59-A6C34878D82A}">
                    <a16:rowId xmlns:a16="http://schemas.microsoft.com/office/drawing/2014/main" val="3377324238"/>
                  </a:ext>
                </a:extLst>
              </a:tr>
            </a:tbl>
          </a:graphicData>
        </a:graphic>
      </p:graphicFrame>
    </p:spTree>
    <p:extLst>
      <p:ext uri="{BB962C8B-B14F-4D97-AF65-F5344CB8AC3E}">
        <p14:creationId xmlns:p14="http://schemas.microsoft.com/office/powerpoint/2010/main" val="2308589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C78D7-57F0-4516-B7E0-C23F9900A7DA}"/>
              </a:ext>
            </a:extLst>
          </p:cNvPr>
          <p:cNvSpPr>
            <a:spLocks noGrp="1"/>
          </p:cNvSpPr>
          <p:nvPr>
            <p:ph type="title"/>
          </p:nvPr>
        </p:nvSpPr>
        <p:spPr/>
        <p:txBody>
          <a:bodyPr/>
          <a:lstStyle/>
          <a:p>
            <a:r>
              <a:rPr lang="en-US" dirty="0"/>
              <a:t>. GL Line Item Browser FAGLL03H</a:t>
            </a:r>
          </a:p>
        </p:txBody>
      </p:sp>
      <p:sp>
        <p:nvSpPr>
          <p:cNvPr id="4" name="Footer Placeholder 3">
            <a:extLst>
              <a:ext uri="{FF2B5EF4-FFF2-40B4-BE49-F238E27FC236}">
                <a16:creationId xmlns:a16="http://schemas.microsoft.com/office/drawing/2014/main" id="{35AD3743-9108-4146-93EF-CD04DFD20685}"/>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B3C3B49D-2DC5-476D-9D8F-142C67F482E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6" name="Picture 5">
            <a:extLst>
              <a:ext uri="{FF2B5EF4-FFF2-40B4-BE49-F238E27FC236}">
                <a16:creationId xmlns:a16="http://schemas.microsoft.com/office/drawing/2014/main" id="{937F1C42-05F2-4EC3-BBD4-0CE58D9974E3}"/>
              </a:ext>
            </a:extLst>
          </p:cNvPr>
          <p:cNvPicPr>
            <a:picLocks noChangeAspect="1"/>
          </p:cNvPicPr>
          <p:nvPr/>
        </p:nvPicPr>
        <p:blipFill>
          <a:blip r:embed="rId2"/>
          <a:stretch>
            <a:fillRect/>
          </a:stretch>
        </p:blipFill>
        <p:spPr>
          <a:xfrm>
            <a:off x="515938" y="2239306"/>
            <a:ext cx="10837863" cy="4313413"/>
          </a:xfrm>
          <a:prstGeom prst="rect">
            <a:avLst/>
          </a:prstGeom>
        </p:spPr>
      </p:pic>
      <p:sp>
        <p:nvSpPr>
          <p:cNvPr id="7" name="Rectangular Callout 18">
            <a:extLst>
              <a:ext uri="{FF2B5EF4-FFF2-40B4-BE49-F238E27FC236}">
                <a16:creationId xmlns:a16="http://schemas.microsoft.com/office/drawing/2014/main" id="{01EF223A-9713-44F8-B3E9-D5C105F2F10B}"/>
              </a:ext>
            </a:extLst>
          </p:cNvPr>
          <p:cNvSpPr/>
          <p:nvPr/>
        </p:nvSpPr>
        <p:spPr bwMode="auto">
          <a:xfrm>
            <a:off x="9505848" y="1864410"/>
            <a:ext cx="2369820" cy="1196470"/>
          </a:xfrm>
          <a:prstGeom prst="wedgeRectCallout">
            <a:avLst>
              <a:gd name="adj1" fmla="val -44001"/>
              <a:gd name="adj2" fmla="val 62463"/>
            </a:avLst>
          </a:prstGeom>
          <a:solidFill>
            <a:srgbClr val="FFFFFF"/>
          </a:solidFill>
          <a:ln w="12700" cap="flat" cmpd="sng" algn="ctr">
            <a:solidFill>
              <a:srgbClr val="88D5B8"/>
            </a:solidFill>
            <a:prstDash val="solid"/>
            <a:miter lim="800000"/>
          </a:ln>
          <a:effectLst/>
        </p:spPr>
        <p:txBody>
          <a:bodyPr vert="horz" wrap="square" lIns="36000" tIns="36000" rIns="0" bIns="0" numCol="1" rtlCol="0" anchor="t" anchorCtr="0"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GB" sz="1050" b="0" i="1" u="none" strike="noStrike" kern="0" cap="none" spc="0" normalizeH="0" baseline="0" noProof="0" dirty="0">
                <a:ln>
                  <a:noFill/>
                </a:ln>
                <a:solidFill>
                  <a:srgbClr val="000000"/>
                </a:solidFill>
                <a:effectLst/>
                <a:uLnTx/>
                <a:uFillTx/>
                <a:latin typeface="Arial" panose="020B0604020202020204"/>
                <a:ea typeface="+mn-ea"/>
                <a:cs typeface="+mn-cs"/>
              </a:rPr>
              <a:t>Screenshot shows few dimensions but will display all ACDOCA dimensions</a:t>
            </a:r>
          </a:p>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GB" sz="1050" b="0" i="1" u="none" strike="noStrike" kern="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GB" sz="1050" b="0" i="1" u="none" strike="noStrike" kern="0" cap="none" spc="0" normalizeH="0" baseline="0" noProof="0" dirty="0">
                <a:ln>
                  <a:noFill/>
                </a:ln>
                <a:solidFill>
                  <a:srgbClr val="000000"/>
                </a:solidFill>
                <a:effectLst/>
                <a:uLnTx/>
                <a:uFillTx/>
                <a:latin typeface="Arial" panose="020B0604020202020204"/>
                <a:ea typeface="+mn-ea"/>
                <a:cs typeface="+mn-cs"/>
              </a:rPr>
              <a:t>We will create a default layout which can then be tailored </a:t>
            </a:r>
            <a:endParaRPr kumimoji="0" lang="en-GB" sz="1050" b="0" i="1" u="none" strike="noStrike" kern="0" cap="none" spc="0" normalizeH="0" baseline="0" noProof="0" dirty="0">
              <a:ln>
                <a:noFill/>
              </a:ln>
              <a:solidFill>
                <a:srgbClr val="000000"/>
              </a:solidFill>
              <a:effectLst/>
              <a:uLnTx/>
              <a:uFillTx/>
              <a:latin typeface="Arial" panose="020B0604020202020204"/>
              <a:ea typeface="+mn-ea"/>
              <a:cs typeface="Arial"/>
            </a:endParaRPr>
          </a:p>
        </p:txBody>
      </p:sp>
      <p:sp>
        <p:nvSpPr>
          <p:cNvPr id="8" name="Rectangular Callout 18">
            <a:extLst>
              <a:ext uri="{FF2B5EF4-FFF2-40B4-BE49-F238E27FC236}">
                <a16:creationId xmlns:a16="http://schemas.microsoft.com/office/drawing/2014/main" id="{06E21F7A-A711-44F9-BB17-5EA9F06D2505}"/>
              </a:ext>
            </a:extLst>
          </p:cNvPr>
          <p:cNvSpPr/>
          <p:nvPr/>
        </p:nvSpPr>
        <p:spPr bwMode="auto">
          <a:xfrm>
            <a:off x="515938" y="1443023"/>
            <a:ext cx="2369820" cy="1196470"/>
          </a:xfrm>
          <a:prstGeom prst="wedgeRectCallout">
            <a:avLst>
              <a:gd name="adj1" fmla="val 1600"/>
              <a:gd name="adj2" fmla="val 63331"/>
            </a:avLst>
          </a:prstGeom>
          <a:solidFill>
            <a:srgbClr val="FFFFFF"/>
          </a:solidFill>
          <a:ln w="12700" cap="flat" cmpd="sng" algn="ctr">
            <a:solidFill>
              <a:srgbClr val="88D5B8"/>
            </a:solidFill>
            <a:prstDash val="solid"/>
            <a:miter lim="800000"/>
          </a:ln>
          <a:effectLst/>
        </p:spPr>
        <p:txBody>
          <a:bodyPr vert="horz" wrap="square" lIns="36000" tIns="36000" rIns="0" bIns="0" numCol="1" rtlCol="0" anchor="t" anchorCtr="0"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GB" sz="1050" b="0" i="1" u="none" strike="noStrike" kern="0" cap="none" spc="0" normalizeH="0" baseline="0" noProof="0" dirty="0">
                <a:ln>
                  <a:noFill/>
                </a:ln>
                <a:solidFill>
                  <a:srgbClr val="000000"/>
                </a:solidFill>
                <a:effectLst/>
                <a:uLnTx/>
                <a:uFillTx/>
                <a:latin typeface="Arial" panose="020B0604020202020204"/>
                <a:ea typeface="+mn-ea"/>
                <a:cs typeface="+mn-cs"/>
              </a:rPr>
              <a:t>Drill down from GR55 will be into the default layout of the GL Line Item Browser report</a:t>
            </a:r>
          </a:p>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050" b="0" i="1" u="none" strike="noStrike" kern="0" cap="none" spc="0" normalizeH="0" baseline="0" noProof="0" dirty="0">
                <a:ln>
                  <a:noFill/>
                </a:ln>
                <a:solidFill>
                  <a:srgbClr val="000000"/>
                </a:solidFill>
                <a:effectLst/>
                <a:uLnTx/>
                <a:uFillTx/>
                <a:latin typeface="Arial" panose="020B0604020202020204"/>
                <a:ea typeface="+mn-ea"/>
                <a:cs typeface="+mn-cs"/>
              </a:rPr>
              <a:t>T</a:t>
            </a:r>
            <a:r>
              <a:rPr kumimoji="0" lang="en-GB" sz="1050" b="0" i="1" u="none" strike="noStrike" kern="0" cap="none" spc="0" normalizeH="0" baseline="0" noProof="0" dirty="0">
                <a:ln>
                  <a:noFill/>
                </a:ln>
                <a:solidFill>
                  <a:srgbClr val="000000"/>
                </a:solidFill>
                <a:effectLst/>
                <a:uLnTx/>
                <a:uFillTx/>
                <a:latin typeface="Arial" panose="020B0604020202020204"/>
                <a:ea typeface="+mn-ea"/>
                <a:cs typeface="+mn-cs"/>
              </a:rPr>
              <a:t>his can be accessed on its own via </a:t>
            </a:r>
            <a:r>
              <a:rPr kumimoji="0" lang="en-GB" sz="1050" b="0" i="1" u="none" strike="noStrike" kern="0" cap="none" spc="0" normalizeH="0" baseline="0" noProof="0" dirty="0" err="1">
                <a:ln>
                  <a:noFill/>
                </a:ln>
                <a:solidFill>
                  <a:srgbClr val="000000"/>
                </a:solidFill>
                <a:effectLst/>
                <a:uLnTx/>
                <a:uFillTx/>
                <a:latin typeface="Arial" panose="020B0604020202020204"/>
                <a:ea typeface="+mn-ea"/>
                <a:cs typeface="+mn-cs"/>
              </a:rPr>
              <a:t>Tcode</a:t>
            </a:r>
            <a:r>
              <a:rPr kumimoji="0" lang="en-GB" sz="1050" b="0" i="1" u="none" strike="noStrike" kern="0" cap="none" spc="0" normalizeH="0" baseline="0" noProof="0" dirty="0">
                <a:ln>
                  <a:noFill/>
                </a:ln>
                <a:solidFill>
                  <a:srgbClr val="000000"/>
                </a:solidFill>
                <a:effectLst/>
                <a:uLnTx/>
                <a:uFillTx/>
                <a:latin typeface="Arial" panose="020B0604020202020204"/>
                <a:ea typeface="+mn-ea"/>
                <a:cs typeface="+mn-cs"/>
              </a:rPr>
              <a:t> FAGLL03H and will be familiar to those who use FBL3n</a:t>
            </a:r>
          </a:p>
        </p:txBody>
      </p:sp>
    </p:spTree>
    <p:extLst>
      <p:ext uri="{BB962C8B-B14F-4D97-AF65-F5344CB8AC3E}">
        <p14:creationId xmlns:p14="http://schemas.microsoft.com/office/powerpoint/2010/main" val="769067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C78D7-57F0-4516-B7E0-C23F9900A7DA}"/>
              </a:ext>
            </a:extLst>
          </p:cNvPr>
          <p:cNvSpPr>
            <a:spLocks noGrp="1"/>
          </p:cNvSpPr>
          <p:nvPr>
            <p:ph type="title"/>
          </p:nvPr>
        </p:nvSpPr>
        <p:spPr/>
        <p:txBody>
          <a:bodyPr/>
          <a:lstStyle/>
          <a:p>
            <a:r>
              <a:rPr lang="pl-PL" dirty="0"/>
              <a:t>S/4 Market P&amp;L (GR55 – Z4PL) </a:t>
            </a:r>
            <a:endParaRPr lang="en-US" dirty="0"/>
          </a:p>
        </p:txBody>
      </p:sp>
      <p:sp>
        <p:nvSpPr>
          <p:cNvPr id="4" name="Footer Placeholder 3">
            <a:extLst>
              <a:ext uri="{FF2B5EF4-FFF2-40B4-BE49-F238E27FC236}">
                <a16:creationId xmlns:a16="http://schemas.microsoft.com/office/drawing/2014/main" id="{35AD3743-9108-4146-93EF-CD04DFD20685}"/>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B3C3B49D-2DC5-476D-9D8F-142C67F482E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5C8B2ECB-93FE-4646-9F5E-8F785BD32B86}"/>
              </a:ext>
            </a:extLst>
          </p:cNvPr>
          <p:cNvSpPr/>
          <p:nvPr/>
        </p:nvSpPr>
        <p:spPr bwMode="auto">
          <a:xfrm>
            <a:off x="4188229" y="1717409"/>
            <a:ext cx="7693132" cy="4695191"/>
          </a:xfrm>
          <a:prstGeom prst="roundRect">
            <a:avLst>
              <a:gd name="adj" fmla="val 0"/>
            </a:avLst>
          </a:prstGeom>
          <a:solidFill>
            <a:srgbClr val="FFFFFF">
              <a:lumMod val="95000"/>
            </a:srgbClr>
          </a:solidFill>
          <a:ln>
            <a:noFill/>
          </a:ln>
          <a:effectLst/>
        </p:spPr>
        <p:txBody>
          <a:bodyPr vert="horz" wrap="square" lIns="0" tIns="0" rIns="0" bIns="0" numCol="1" rtlCol="0" anchor="t"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1799" b="1" i="0" u="none" strike="noStrike" kern="0" cap="none" spc="0" normalizeH="0" baseline="0" noProof="0" dirty="0">
              <a:ln>
                <a:noFill/>
              </a:ln>
              <a:solidFill>
                <a:srgbClr val="000000"/>
              </a:solidFill>
              <a:effectLst/>
              <a:uLnTx/>
              <a:uFillTx/>
              <a:latin typeface="Arial" panose="020B0604020202020204"/>
              <a:ea typeface="ＭＳ Ｐゴシック" pitchFamily="80" charset="-128"/>
              <a:cs typeface="+mn-cs"/>
            </a:endParaRPr>
          </a:p>
        </p:txBody>
      </p:sp>
      <p:sp>
        <p:nvSpPr>
          <p:cNvPr id="7" name="TextBox 6">
            <a:extLst>
              <a:ext uri="{FF2B5EF4-FFF2-40B4-BE49-F238E27FC236}">
                <a16:creationId xmlns:a16="http://schemas.microsoft.com/office/drawing/2014/main" id="{F744C771-C240-4659-9107-5F4A9E0F0567}"/>
              </a:ext>
            </a:extLst>
          </p:cNvPr>
          <p:cNvSpPr txBox="1"/>
          <p:nvPr/>
        </p:nvSpPr>
        <p:spPr>
          <a:xfrm>
            <a:off x="4268128" y="6037315"/>
            <a:ext cx="7597626" cy="305206"/>
          </a:xfrm>
          <a:prstGeom prst="rect">
            <a:avLst/>
          </a:prstGeom>
          <a:noFill/>
        </p:spPr>
        <p:txBody>
          <a:bodyPr wrap="square" lIns="0" tIns="0" rIns="0" bIns="0" rtlCol="0" anchor="t">
            <a:norm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FFFFFF">
                    <a:lumMod val="50000"/>
                  </a:srgbClr>
                </a:solidFill>
                <a:effectLst/>
                <a:uLnTx/>
                <a:uFillTx/>
                <a:latin typeface="Arial" panose="020B0604020202020204"/>
                <a:ea typeface="ＭＳ Ｐゴシック" pitchFamily="80" charset="-128"/>
                <a:cs typeface="+mn-cs"/>
              </a:rPr>
              <a:t>* For Go Live Jan 2020 Market P&amp;L will be seen through GR55 transaction with its traditional format. Option to bring AFO into S-4 will be evaluated post Go Live 2020 </a:t>
            </a:r>
            <a:r>
              <a:rPr kumimoji="0" lang="en-US" sz="900" b="0" i="0" u="none" strike="noStrike" kern="1200" cap="none" spc="0" normalizeH="0" baseline="0" noProof="0" dirty="0">
                <a:ln>
                  <a:noFill/>
                </a:ln>
                <a:solidFill>
                  <a:srgbClr val="FFFFFF">
                    <a:lumMod val="50000"/>
                  </a:srgbClr>
                </a:solidFill>
                <a:effectLst/>
                <a:uLnTx/>
                <a:uFillTx/>
                <a:latin typeface="Arial" panose="020B0604020202020204"/>
                <a:ea typeface="ＭＳ Ｐゴシック"/>
                <a:cs typeface="Arial"/>
              </a:rPr>
              <a:t>. Market P&amp;L Lines subject to changes.</a:t>
            </a:r>
            <a:endParaRPr kumimoji="0" lang="en-US" sz="900" b="0" i="0" u="none" strike="noStrike" kern="1200" cap="none" spc="0" normalizeH="0" baseline="0" noProof="0" dirty="0">
              <a:ln>
                <a:noFill/>
              </a:ln>
              <a:solidFill>
                <a:srgbClr val="FFFFFF">
                  <a:lumMod val="50000"/>
                </a:srgbClr>
              </a:solidFill>
              <a:effectLst/>
              <a:uLnTx/>
              <a:uFillTx/>
              <a:latin typeface="Arial" panose="020B0604020202020204"/>
              <a:ea typeface="ＭＳ Ｐゴシック" pitchFamily="80" charset="-128"/>
              <a:cs typeface="Arial"/>
            </a:endParaRPr>
          </a:p>
        </p:txBody>
      </p:sp>
      <p:pic>
        <p:nvPicPr>
          <p:cNvPr id="8" name="Picture 7">
            <a:extLst>
              <a:ext uri="{FF2B5EF4-FFF2-40B4-BE49-F238E27FC236}">
                <a16:creationId xmlns:a16="http://schemas.microsoft.com/office/drawing/2014/main" id="{C7B4B060-EE7E-46A4-83CF-9FBF0346DD02}"/>
              </a:ext>
            </a:extLst>
          </p:cNvPr>
          <p:cNvPicPr>
            <a:picLocks noChangeAspect="1"/>
          </p:cNvPicPr>
          <p:nvPr/>
        </p:nvPicPr>
        <p:blipFill rotWithShape="1">
          <a:blip r:embed="rId2"/>
          <a:srcRect r="47198" b="75847"/>
          <a:stretch/>
        </p:blipFill>
        <p:spPr>
          <a:xfrm>
            <a:off x="1994328" y="1846697"/>
            <a:ext cx="2008688" cy="615638"/>
          </a:xfrm>
          <a:prstGeom prst="rect">
            <a:avLst/>
          </a:prstGeom>
        </p:spPr>
      </p:pic>
      <p:grpSp>
        <p:nvGrpSpPr>
          <p:cNvPr id="9" name="Group 8">
            <a:extLst>
              <a:ext uri="{FF2B5EF4-FFF2-40B4-BE49-F238E27FC236}">
                <a16:creationId xmlns:a16="http://schemas.microsoft.com/office/drawing/2014/main" id="{F6649AB8-08C4-4A82-A1E1-0EB13ECE5F0B}"/>
              </a:ext>
            </a:extLst>
          </p:cNvPr>
          <p:cNvGrpSpPr/>
          <p:nvPr/>
        </p:nvGrpSpPr>
        <p:grpSpPr>
          <a:xfrm>
            <a:off x="1700327" y="2884620"/>
            <a:ext cx="2327049" cy="366870"/>
            <a:chOff x="1416690" y="2801616"/>
            <a:chExt cx="2196882" cy="287357"/>
          </a:xfrm>
        </p:grpSpPr>
        <p:pic>
          <p:nvPicPr>
            <p:cNvPr id="10" name="Picture 9">
              <a:extLst>
                <a:ext uri="{FF2B5EF4-FFF2-40B4-BE49-F238E27FC236}">
                  <a16:creationId xmlns:a16="http://schemas.microsoft.com/office/drawing/2014/main" id="{43855BE5-06F5-468D-A5AE-E51E2A2380F3}"/>
                </a:ext>
              </a:extLst>
            </p:cNvPr>
            <p:cNvPicPr>
              <a:picLocks noChangeAspect="1"/>
            </p:cNvPicPr>
            <p:nvPr/>
          </p:nvPicPr>
          <p:blipFill rotWithShape="1">
            <a:blip r:embed="rId3"/>
            <a:srcRect l="407" t="74002" r="76724" b="7082"/>
            <a:stretch/>
          </p:blipFill>
          <p:spPr>
            <a:xfrm>
              <a:off x="1416690" y="2801616"/>
              <a:ext cx="763293" cy="287357"/>
            </a:xfrm>
            <a:prstGeom prst="rect">
              <a:avLst/>
            </a:prstGeom>
          </p:spPr>
        </p:pic>
        <p:pic>
          <p:nvPicPr>
            <p:cNvPr id="11" name="Picture 10">
              <a:extLst>
                <a:ext uri="{FF2B5EF4-FFF2-40B4-BE49-F238E27FC236}">
                  <a16:creationId xmlns:a16="http://schemas.microsoft.com/office/drawing/2014/main" id="{ED1A0EC1-CF0D-43F7-8BF9-BFEC6BCA242A}"/>
                </a:ext>
              </a:extLst>
            </p:cNvPr>
            <p:cNvPicPr>
              <a:picLocks noChangeAspect="1"/>
            </p:cNvPicPr>
            <p:nvPr/>
          </p:nvPicPr>
          <p:blipFill rotWithShape="1">
            <a:blip r:embed="rId3"/>
            <a:srcRect l="52458" t="76539" r="2858" b="4545"/>
            <a:stretch/>
          </p:blipFill>
          <p:spPr>
            <a:xfrm>
              <a:off x="2122137" y="2801616"/>
              <a:ext cx="1491435" cy="287357"/>
            </a:xfrm>
            <a:prstGeom prst="rect">
              <a:avLst/>
            </a:prstGeom>
          </p:spPr>
        </p:pic>
      </p:grpSp>
      <p:pic>
        <p:nvPicPr>
          <p:cNvPr id="12" name="Picture 11">
            <a:extLst>
              <a:ext uri="{FF2B5EF4-FFF2-40B4-BE49-F238E27FC236}">
                <a16:creationId xmlns:a16="http://schemas.microsoft.com/office/drawing/2014/main" id="{BB729569-A4A9-4700-A929-1FDEC3FF3B07}"/>
              </a:ext>
            </a:extLst>
          </p:cNvPr>
          <p:cNvPicPr>
            <a:picLocks noChangeAspect="1"/>
          </p:cNvPicPr>
          <p:nvPr/>
        </p:nvPicPr>
        <p:blipFill rotWithShape="1">
          <a:blip r:embed="rId4"/>
          <a:srcRect l="547" r="7482"/>
          <a:stretch/>
        </p:blipFill>
        <p:spPr>
          <a:xfrm>
            <a:off x="9824664" y="2235212"/>
            <a:ext cx="1833270" cy="3652517"/>
          </a:xfrm>
          <a:prstGeom prst="rect">
            <a:avLst/>
          </a:prstGeom>
        </p:spPr>
      </p:pic>
      <p:sp>
        <p:nvSpPr>
          <p:cNvPr id="13" name="Rectangle 12">
            <a:extLst>
              <a:ext uri="{FF2B5EF4-FFF2-40B4-BE49-F238E27FC236}">
                <a16:creationId xmlns:a16="http://schemas.microsoft.com/office/drawing/2014/main" id="{46F4C0C1-594B-4171-AA67-BD7E85983FFD}"/>
              </a:ext>
            </a:extLst>
          </p:cNvPr>
          <p:cNvSpPr/>
          <p:nvPr/>
        </p:nvSpPr>
        <p:spPr>
          <a:xfrm>
            <a:off x="4316505" y="2589279"/>
            <a:ext cx="139148" cy="179432"/>
          </a:xfrm>
          <a:prstGeom prst="rect">
            <a:avLst/>
          </a:prstGeom>
          <a:solidFill>
            <a:srgbClr val="88D5B8">
              <a:lumMod val="60000"/>
              <a:lumOff val="40000"/>
            </a:srgbClr>
          </a:solidFill>
          <a:ln w="12700" cap="flat" cmpd="sng" algn="ctr">
            <a:solidFill>
              <a:srgbClr val="00BDB7"/>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rgbClr val="000000"/>
                </a:solidFill>
                <a:effectLst/>
                <a:uLnTx/>
                <a:uFillTx/>
                <a:latin typeface="Arial" panose="020B0604020202020204"/>
                <a:ea typeface="+mn-ea"/>
                <a:cs typeface="+mn-cs"/>
              </a:rPr>
              <a:t>1</a:t>
            </a:r>
          </a:p>
        </p:txBody>
      </p:sp>
      <p:sp>
        <p:nvSpPr>
          <p:cNvPr id="14" name="Rectangle 13">
            <a:extLst>
              <a:ext uri="{FF2B5EF4-FFF2-40B4-BE49-F238E27FC236}">
                <a16:creationId xmlns:a16="http://schemas.microsoft.com/office/drawing/2014/main" id="{002D7EFF-E9F9-4A94-A2D1-C0D9442AF8B6}"/>
              </a:ext>
            </a:extLst>
          </p:cNvPr>
          <p:cNvSpPr/>
          <p:nvPr/>
        </p:nvSpPr>
        <p:spPr>
          <a:xfrm>
            <a:off x="4363926" y="2683488"/>
            <a:ext cx="139148" cy="179432"/>
          </a:xfrm>
          <a:prstGeom prst="rect">
            <a:avLst/>
          </a:prstGeom>
          <a:solidFill>
            <a:srgbClr val="88D5B8">
              <a:lumMod val="60000"/>
              <a:lumOff val="40000"/>
            </a:srgbClr>
          </a:solidFill>
          <a:ln w="12700" cap="flat" cmpd="sng" algn="ctr">
            <a:solidFill>
              <a:srgbClr val="00BDB7"/>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rgbClr val="000000"/>
                </a:solidFill>
                <a:effectLst/>
                <a:uLnTx/>
                <a:uFillTx/>
                <a:latin typeface="Arial" panose="020B0604020202020204"/>
                <a:ea typeface="+mn-ea"/>
                <a:cs typeface="+mn-cs"/>
              </a:rPr>
              <a:t>2</a:t>
            </a:r>
          </a:p>
        </p:txBody>
      </p:sp>
      <p:sp>
        <p:nvSpPr>
          <p:cNvPr id="15" name="Rectangle 14">
            <a:extLst>
              <a:ext uri="{FF2B5EF4-FFF2-40B4-BE49-F238E27FC236}">
                <a16:creationId xmlns:a16="http://schemas.microsoft.com/office/drawing/2014/main" id="{2561A5E7-0B2E-4253-A811-EA3552C6AE82}"/>
              </a:ext>
            </a:extLst>
          </p:cNvPr>
          <p:cNvSpPr/>
          <p:nvPr/>
        </p:nvSpPr>
        <p:spPr>
          <a:xfrm>
            <a:off x="4368476" y="2883779"/>
            <a:ext cx="139148" cy="179432"/>
          </a:xfrm>
          <a:prstGeom prst="rect">
            <a:avLst/>
          </a:prstGeom>
          <a:solidFill>
            <a:srgbClr val="88D5B8">
              <a:lumMod val="60000"/>
              <a:lumOff val="40000"/>
            </a:srgbClr>
          </a:solidFill>
          <a:ln w="12700" cap="flat" cmpd="sng" algn="ctr">
            <a:solidFill>
              <a:srgbClr val="00BDB7"/>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rgbClr val="000000"/>
                </a:solidFill>
                <a:effectLst/>
                <a:uLnTx/>
                <a:uFillTx/>
                <a:latin typeface="Arial" panose="020B0604020202020204"/>
                <a:ea typeface="+mn-ea"/>
                <a:cs typeface="+mn-cs"/>
              </a:rPr>
              <a:t>3</a:t>
            </a:r>
          </a:p>
        </p:txBody>
      </p:sp>
      <p:sp>
        <p:nvSpPr>
          <p:cNvPr id="16" name="Rectangle 15">
            <a:extLst>
              <a:ext uri="{FF2B5EF4-FFF2-40B4-BE49-F238E27FC236}">
                <a16:creationId xmlns:a16="http://schemas.microsoft.com/office/drawing/2014/main" id="{4266A4BA-A219-46CC-886B-4FF7415FB31C}"/>
              </a:ext>
            </a:extLst>
          </p:cNvPr>
          <p:cNvSpPr/>
          <p:nvPr/>
        </p:nvSpPr>
        <p:spPr>
          <a:xfrm>
            <a:off x="7659429" y="3064301"/>
            <a:ext cx="139148" cy="179432"/>
          </a:xfrm>
          <a:prstGeom prst="rect">
            <a:avLst/>
          </a:prstGeom>
          <a:solidFill>
            <a:srgbClr val="88D5B8">
              <a:lumMod val="60000"/>
              <a:lumOff val="40000"/>
            </a:srgbClr>
          </a:solidFill>
          <a:ln w="12700" cap="flat" cmpd="sng" algn="ctr">
            <a:solidFill>
              <a:srgbClr val="00BDB7"/>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rgbClr val="000000"/>
                </a:solidFill>
                <a:effectLst/>
                <a:uLnTx/>
                <a:uFillTx/>
                <a:latin typeface="Arial" panose="020B0604020202020204"/>
                <a:ea typeface="+mn-ea"/>
                <a:cs typeface="+mn-cs"/>
              </a:rPr>
              <a:t>2</a:t>
            </a:r>
          </a:p>
        </p:txBody>
      </p:sp>
      <p:sp>
        <p:nvSpPr>
          <p:cNvPr id="17" name="Rectangle 16">
            <a:extLst>
              <a:ext uri="{FF2B5EF4-FFF2-40B4-BE49-F238E27FC236}">
                <a16:creationId xmlns:a16="http://schemas.microsoft.com/office/drawing/2014/main" id="{E359ACC6-03D3-4CC6-9F96-CAC12594D6EB}"/>
              </a:ext>
            </a:extLst>
          </p:cNvPr>
          <p:cNvSpPr/>
          <p:nvPr/>
        </p:nvSpPr>
        <p:spPr>
          <a:xfrm>
            <a:off x="9809319" y="2408716"/>
            <a:ext cx="139148" cy="179432"/>
          </a:xfrm>
          <a:prstGeom prst="rect">
            <a:avLst/>
          </a:prstGeom>
          <a:solidFill>
            <a:srgbClr val="88D5B8">
              <a:lumMod val="60000"/>
              <a:lumOff val="40000"/>
            </a:srgbClr>
          </a:solidFill>
          <a:ln w="12700" cap="flat" cmpd="sng" algn="ctr">
            <a:solidFill>
              <a:srgbClr val="00BDB7"/>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rgbClr val="000000"/>
                </a:solidFill>
                <a:effectLst/>
                <a:uLnTx/>
                <a:uFillTx/>
                <a:latin typeface="Arial" panose="020B0604020202020204"/>
                <a:ea typeface="+mn-ea"/>
                <a:cs typeface="+mn-cs"/>
              </a:rPr>
              <a:t>2</a:t>
            </a:r>
          </a:p>
        </p:txBody>
      </p:sp>
      <p:sp>
        <p:nvSpPr>
          <p:cNvPr id="18" name="Rectangle 17">
            <a:extLst>
              <a:ext uri="{FF2B5EF4-FFF2-40B4-BE49-F238E27FC236}">
                <a16:creationId xmlns:a16="http://schemas.microsoft.com/office/drawing/2014/main" id="{83F7D568-40FF-4CA8-A78B-AE5D3BF87D46}"/>
              </a:ext>
            </a:extLst>
          </p:cNvPr>
          <p:cNvSpPr/>
          <p:nvPr/>
        </p:nvSpPr>
        <p:spPr>
          <a:xfrm>
            <a:off x="4381139" y="3313140"/>
            <a:ext cx="139148" cy="179432"/>
          </a:xfrm>
          <a:prstGeom prst="rect">
            <a:avLst/>
          </a:prstGeom>
          <a:solidFill>
            <a:srgbClr val="88D5B8">
              <a:lumMod val="60000"/>
              <a:lumOff val="40000"/>
            </a:srgbClr>
          </a:solidFill>
          <a:ln w="12700" cap="flat" cmpd="sng" algn="ctr">
            <a:solidFill>
              <a:srgbClr val="00BDB7"/>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rgbClr val="000000"/>
                </a:solidFill>
                <a:effectLst/>
                <a:uLnTx/>
                <a:uFillTx/>
                <a:latin typeface="Arial" panose="020B0604020202020204"/>
                <a:ea typeface="+mn-ea"/>
                <a:cs typeface="+mn-cs"/>
              </a:rPr>
              <a:t>1</a:t>
            </a:r>
          </a:p>
        </p:txBody>
      </p:sp>
      <p:sp>
        <p:nvSpPr>
          <p:cNvPr id="19" name="Content Placeholder 3">
            <a:extLst>
              <a:ext uri="{FF2B5EF4-FFF2-40B4-BE49-F238E27FC236}">
                <a16:creationId xmlns:a16="http://schemas.microsoft.com/office/drawing/2014/main" id="{69D534EA-E829-4B7D-9FD4-2B52DB781F49}"/>
              </a:ext>
            </a:extLst>
          </p:cNvPr>
          <p:cNvSpPr txBox="1">
            <a:spLocks/>
          </p:cNvSpPr>
          <p:nvPr/>
        </p:nvSpPr>
        <p:spPr>
          <a:xfrm>
            <a:off x="401122" y="1734333"/>
            <a:ext cx="3684821" cy="4668107"/>
          </a:xfrm>
          <a:prstGeom prst="rect">
            <a:avLst/>
          </a:prstGeom>
          <a:solidFill>
            <a:srgbClr val="FFFFFF"/>
          </a:solidFill>
          <a:ln>
            <a:noFill/>
          </a:ln>
          <a:effectLst/>
          <a:scene3d>
            <a:camera prst="orthographicFront">
              <a:rot lat="0" lon="0" rev="0"/>
            </a:camera>
            <a:lightRig rig="chilly" dir="t">
              <a:rot lat="0" lon="0" rev="18480000"/>
            </a:lightRig>
          </a:scene3d>
          <a:sp3d prstMaterial="clear">
            <a:bevelT h="63500"/>
          </a:sp3d>
        </p:spPr>
        <p:txBody>
          <a:bodyPr vert="horz" lIns="91440" tIns="45720" rIns="91440" bIns="45720" rtlCol="0">
            <a:noAutofit/>
          </a:bodyPr>
          <a:lstStyle>
            <a:lvl1pPr marL="228531" indent="-228531" algn="l" defTabSz="914126" rtl="0" eaLnBrk="1" latinLnBrk="0" hangingPunct="1">
              <a:lnSpc>
                <a:spcPct val="90000"/>
              </a:lnSpc>
              <a:spcBef>
                <a:spcPts val="1000"/>
              </a:spcBef>
              <a:buFont typeface="Arial"/>
              <a:buChar char="•"/>
              <a:defRPr sz="1999" kern="1200">
                <a:solidFill>
                  <a:schemeClr val="tx1"/>
                </a:solidFill>
                <a:latin typeface="Arial" charset="0"/>
                <a:ea typeface="Arial" charset="0"/>
                <a:cs typeface="Arial" charset="0"/>
              </a:defRPr>
            </a:lvl1pPr>
            <a:lvl2pPr marL="685594" indent="-228531" algn="l" defTabSz="914126" rtl="0" eaLnBrk="1" latinLnBrk="0" hangingPunct="1">
              <a:lnSpc>
                <a:spcPct val="90000"/>
              </a:lnSpc>
              <a:spcBef>
                <a:spcPts val="500"/>
              </a:spcBef>
              <a:buFont typeface="Arial"/>
              <a:buChar char="•"/>
              <a:defRPr sz="1799" kern="1200">
                <a:solidFill>
                  <a:schemeClr val="tx1"/>
                </a:solidFill>
                <a:latin typeface="Arial" charset="0"/>
                <a:ea typeface="Arial" charset="0"/>
                <a:cs typeface="Arial" charset="0"/>
              </a:defRPr>
            </a:lvl2pPr>
            <a:lvl3pPr marL="1142657" indent="-228531" algn="l" defTabSz="914126" rtl="0" eaLnBrk="1" latinLnBrk="0" hangingPunct="1">
              <a:lnSpc>
                <a:spcPct val="90000"/>
              </a:lnSpc>
              <a:spcBef>
                <a:spcPts val="500"/>
              </a:spcBef>
              <a:buFont typeface="Arial"/>
              <a:buChar char="•"/>
              <a:defRPr sz="1600" kern="1200">
                <a:solidFill>
                  <a:schemeClr val="tx1"/>
                </a:solidFill>
                <a:latin typeface="Arial" charset="0"/>
                <a:ea typeface="Arial" charset="0"/>
                <a:cs typeface="Arial" charset="0"/>
              </a:defRPr>
            </a:lvl3pPr>
            <a:lvl4pPr marL="1599720"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4pPr>
            <a:lvl5pPr marL="2056783"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5pPr>
            <a:lvl6pPr marL="2513846"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9pPr>
          </a:lstStyle>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400" b="1" i="0" u="none" strike="noStrike" kern="1200" cap="none" spc="0" normalizeH="0" baseline="0" noProof="0" dirty="0" err="1">
                <a:ln>
                  <a:noFill/>
                </a:ln>
                <a:solidFill>
                  <a:srgbClr val="000000"/>
                </a:solidFill>
                <a:effectLst/>
                <a:uLnTx/>
                <a:uFillTx/>
                <a:latin typeface="Arial" charset="0"/>
                <a:cs typeface="Arial" charset="0"/>
              </a:rPr>
              <a:t>Tcode</a:t>
            </a:r>
            <a:r>
              <a:rPr kumimoji="0" lang="en-US" sz="1400" b="1" i="0" u="none" strike="noStrike" kern="1200" cap="none" spc="0" normalizeH="0" baseline="0" noProof="0" dirty="0">
                <a:ln>
                  <a:noFill/>
                </a:ln>
                <a:solidFill>
                  <a:srgbClr val="000000"/>
                </a:solidFill>
                <a:effectLst/>
                <a:uLnTx/>
                <a:uFillTx/>
                <a:latin typeface="Arial" charset="0"/>
                <a:cs typeface="Arial" charset="0"/>
              </a:rPr>
              <a:t> </a:t>
            </a:r>
          </a:p>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000000"/>
              </a:solidFill>
              <a:effectLst/>
              <a:uLnTx/>
              <a:uFillTx/>
              <a:latin typeface="Arial" charset="0"/>
              <a:cs typeface="Arial" charset="0"/>
            </a:endParaRPr>
          </a:p>
          <a:p>
            <a:pPr marL="0" marR="0" lvl="0" indent="0" algn="l" defTabSz="914126" rtl="0" eaLnBrk="1" fontAlgn="base" latinLnBrk="0" hangingPunct="1">
              <a:lnSpc>
                <a:spcPct val="100000"/>
              </a:lnSpc>
              <a:spcBef>
                <a:spcPts val="0"/>
              </a:spcBef>
              <a:spcAft>
                <a:spcPct val="0"/>
              </a:spcAft>
              <a:buClrTx/>
              <a:buSzTx/>
              <a:buFont typeface="Arial"/>
              <a:buNone/>
              <a:tabLst/>
              <a:defRPr/>
            </a:pPr>
            <a:endParaRPr kumimoji="0" lang="en-US" sz="1400" b="0" i="0" u="none" strike="noStrike" kern="1200" cap="none" spc="0" normalizeH="0" baseline="0" noProof="0" dirty="0">
              <a:ln>
                <a:noFill/>
              </a:ln>
              <a:solidFill>
                <a:srgbClr val="000000"/>
              </a:solidFill>
              <a:effectLst/>
              <a:uLnTx/>
              <a:uFillTx/>
              <a:latin typeface="Arial" charset="0"/>
              <a:cs typeface="Arial" charset="0"/>
            </a:endParaRPr>
          </a:p>
          <a:p>
            <a:pPr marL="0" marR="0" lvl="0" indent="0" algn="l" defTabSz="914126" rtl="0" eaLnBrk="1" fontAlgn="base" latinLnBrk="0" hangingPunct="1">
              <a:lnSpc>
                <a:spcPct val="100000"/>
              </a:lnSpc>
              <a:spcBef>
                <a:spcPts val="0"/>
              </a:spcBef>
              <a:spcAft>
                <a:spcPct val="0"/>
              </a:spcAft>
              <a:buClrTx/>
              <a:buSzTx/>
              <a:buFont typeface="Arial"/>
              <a:buNone/>
              <a:tabLst/>
              <a:defRPr/>
            </a:pPr>
            <a:endParaRPr kumimoji="0" lang="en-US" sz="1400" b="0" i="0" u="none" strike="noStrike" kern="1200" cap="none" spc="0" normalizeH="0" baseline="0" noProof="0" dirty="0">
              <a:ln>
                <a:noFill/>
              </a:ln>
              <a:solidFill>
                <a:srgbClr val="000000"/>
              </a:solidFill>
              <a:effectLst/>
              <a:uLnTx/>
              <a:uFillTx/>
              <a:latin typeface="Arial" charset="0"/>
              <a:cs typeface="Arial" charset="0"/>
            </a:endParaRPr>
          </a:p>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000000"/>
                </a:solidFill>
                <a:effectLst/>
                <a:uLnTx/>
                <a:uFillTx/>
                <a:latin typeface="Arial" charset="0"/>
                <a:cs typeface="Arial" charset="0"/>
              </a:rPr>
              <a:t>Report Group</a:t>
            </a:r>
          </a:p>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endParaRPr kumimoji="0" lang="en-US" sz="1400" b="1" i="0" u="none" strike="noStrike" kern="1200" cap="none" spc="0" normalizeH="0" baseline="0" noProof="0" dirty="0">
              <a:ln>
                <a:noFill/>
              </a:ln>
              <a:solidFill>
                <a:srgbClr val="000000"/>
              </a:solidFill>
              <a:effectLst/>
              <a:uLnTx/>
              <a:uFillTx/>
              <a:latin typeface="Arial" charset="0"/>
              <a:cs typeface="Arial" charset="0"/>
            </a:endParaRPr>
          </a:p>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endParaRPr kumimoji="0" lang="en-US" sz="1400" b="1" i="0" u="none" strike="noStrike" kern="1200" cap="none" spc="0" normalizeH="0" baseline="0" noProof="0" dirty="0">
              <a:ln>
                <a:noFill/>
              </a:ln>
              <a:solidFill>
                <a:srgbClr val="000000"/>
              </a:solidFill>
              <a:effectLst/>
              <a:uLnTx/>
              <a:uFillTx/>
              <a:latin typeface="Arial" charset="0"/>
              <a:cs typeface="Arial" charset="0"/>
            </a:endParaRPr>
          </a:p>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000000"/>
                </a:solidFill>
                <a:effectLst/>
                <a:uLnTx/>
                <a:uFillTx/>
                <a:latin typeface="Arial" charset="0"/>
                <a:cs typeface="Arial" charset="0"/>
              </a:rPr>
              <a:t>Dimensions </a:t>
            </a:r>
          </a:p>
          <a:p>
            <a:pPr marL="228531" marR="0" lvl="0" indent="-228531" algn="l" defTabSz="914126" rtl="0" eaLnBrk="1" fontAlgn="base" latinLnBrk="0" hangingPunct="1">
              <a:lnSpc>
                <a:spcPct val="90000"/>
              </a:lnSpc>
              <a:spcBef>
                <a:spcPts val="1000"/>
              </a:spcBef>
              <a:spcAft>
                <a:spcPct val="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srgbClr val="000000"/>
                </a:solidFill>
                <a:effectLst/>
                <a:uLnTx/>
                <a:uFillTx/>
                <a:latin typeface="Arial" charset="0"/>
                <a:cs typeface="Arial" charset="0"/>
              </a:rPr>
              <a:t>Profit Center / Brand Family / Product Type </a:t>
            </a:r>
          </a:p>
          <a:p>
            <a:pPr marL="228531" marR="0" lvl="0" indent="-228531" algn="l" defTabSz="914126" rtl="0" eaLnBrk="1" fontAlgn="base" latinLnBrk="0" hangingPunct="1">
              <a:lnSpc>
                <a:spcPct val="90000"/>
              </a:lnSpc>
              <a:spcBef>
                <a:spcPts val="1000"/>
              </a:spcBef>
              <a:spcAft>
                <a:spcPct val="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srgbClr val="000000"/>
                </a:solidFill>
                <a:effectLst/>
                <a:uLnTx/>
                <a:uFillTx/>
                <a:latin typeface="Arial" charset="0"/>
                <a:cs typeface="Arial" charset="0"/>
              </a:rPr>
              <a:t>Dimensions are </a:t>
            </a:r>
            <a:r>
              <a:rPr kumimoji="0" lang="en-US" sz="1400" b="1" i="1" u="sng" strike="noStrike" kern="1200" cap="none" spc="0" normalizeH="0" baseline="0" noProof="0" dirty="0">
                <a:ln>
                  <a:noFill/>
                </a:ln>
                <a:solidFill>
                  <a:srgbClr val="000000"/>
                </a:solidFill>
                <a:effectLst/>
                <a:uLnTx/>
                <a:uFillTx/>
                <a:latin typeface="Arial" charset="0"/>
                <a:cs typeface="Arial" charset="0"/>
              </a:rPr>
              <a:t>static</a:t>
            </a:r>
            <a:r>
              <a:rPr kumimoji="0" lang="en-US" sz="1400" b="0" i="0" u="none" strike="noStrike" kern="1200" cap="none" spc="0" normalizeH="0" baseline="0" noProof="0" dirty="0">
                <a:ln>
                  <a:noFill/>
                </a:ln>
                <a:solidFill>
                  <a:srgbClr val="000000"/>
                </a:solidFill>
                <a:effectLst/>
                <a:uLnTx/>
                <a:uFillTx/>
                <a:latin typeface="Arial" charset="0"/>
                <a:cs typeface="Arial" charset="0"/>
              </a:rPr>
              <a:t> and can help spot unallocated postings. For dynamic reports it is recommended to use </a:t>
            </a:r>
            <a:r>
              <a:rPr kumimoji="0" lang="en-US" sz="1400" b="0" i="1" u="sng" strike="noStrike" kern="1200" cap="none" spc="0" normalizeH="0" baseline="0" noProof="0" dirty="0">
                <a:ln>
                  <a:noFill/>
                </a:ln>
                <a:solidFill>
                  <a:srgbClr val="000000"/>
                </a:solidFill>
                <a:effectLst/>
                <a:uLnTx/>
                <a:uFillTx/>
                <a:latin typeface="Arial" charset="0"/>
                <a:cs typeface="Arial" charset="0"/>
              </a:rPr>
              <a:t>CDS Query functionality (Analysis for Office)</a:t>
            </a:r>
          </a:p>
          <a:p>
            <a:pPr marL="228531" marR="0" lvl="0" indent="-228531" algn="l" defTabSz="914126" rtl="0" eaLnBrk="1" fontAlgn="base" latinLnBrk="0" hangingPunct="1">
              <a:lnSpc>
                <a:spcPct val="90000"/>
              </a:lnSpc>
              <a:spcBef>
                <a:spcPts val="1000"/>
              </a:spcBef>
              <a:spcAft>
                <a:spcPct val="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srgbClr val="000000"/>
                </a:solidFill>
                <a:effectLst/>
                <a:uLnTx/>
                <a:uFillTx/>
                <a:latin typeface="Arial" charset="0"/>
                <a:cs typeface="Arial" charset="0"/>
              </a:rPr>
              <a:t>Drill down of P&amp;L lines to FAGLL03H. To note that drill down will show all postings to the specific JTIO which can result in a different total of the Market P&amp;L in case JTIOs have multiple Functional Areas as it is also currently the case.</a:t>
            </a:r>
          </a:p>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000000"/>
              </a:solidFill>
              <a:effectLst/>
              <a:uLnTx/>
              <a:uFillTx/>
              <a:latin typeface="Arial" charset="0"/>
              <a:cs typeface="Arial" charset="0"/>
            </a:endParaRPr>
          </a:p>
        </p:txBody>
      </p:sp>
      <p:pic>
        <p:nvPicPr>
          <p:cNvPr id="20" name="Picture 19">
            <a:extLst>
              <a:ext uri="{FF2B5EF4-FFF2-40B4-BE49-F238E27FC236}">
                <a16:creationId xmlns:a16="http://schemas.microsoft.com/office/drawing/2014/main" id="{85427B21-1492-44B7-A752-3B620175E916}"/>
              </a:ext>
            </a:extLst>
          </p:cNvPr>
          <p:cNvPicPr>
            <a:picLocks noChangeAspect="1"/>
          </p:cNvPicPr>
          <p:nvPr/>
        </p:nvPicPr>
        <p:blipFill>
          <a:blip r:embed="rId5"/>
          <a:stretch>
            <a:fillRect/>
          </a:stretch>
        </p:blipFill>
        <p:spPr>
          <a:xfrm>
            <a:off x="4253209" y="1870088"/>
            <a:ext cx="4599897" cy="2487549"/>
          </a:xfrm>
          <a:prstGeom prst="rect">
            <a:avLst/>
          </a:prstGeom>
        </p:spPr>
      </p:pic>
      <p:pic>
        <p:nvPicPr>
          <p:cNvPr id="21" name="Picture 20">
            <a:extLst>
              <a:ext uri="{FF2B5EF4-FFF2-40B4-BE49-F238E27FC236}">
                <a16:creationId xmlns:a16="http://schemas.microsoft.com/office/drawing/2014/main" id="{57E1CF04-00C7-4AF0-A6A1-26B3049994E9}"/>
              </a:ext>
            </a:extLst>
          </p:cNvPr>
          <p:cNvPicPr>
            <a:picLocks noChangeAspect="1"/>
          </p:cNvPicPr>
          <p:nvPr/>
        </p:nvPicPr>
        <p:blipFill>
          <a:blip r:embed="rId6"/>
          <a:stretch>
            <a:fillRect/>
          </a:stretch>
        </p:blipFill>
        <p:spPr>
          <a:xfrm>
            <a:off x="7766592" y="3054266"/>
            <a:ext cx="1890806" cy="2825404"/>
          </a:xfrm>
          <a:prstGeom prst="rect">
            <a:avLst/>
          </a:prstGeom>
        </p:spPr>
      </p:pic>
      <p:sp>
        <p:nvSpPr>
          <p:cNvPr id="22" name="Rectangle: Rounded Corners 21">
            <a:extLst>
              <a:ext uri="{FF2B5EF4-FFF2-40B4-BE49-F238E27FC236}">
                <a16:creationId xmlns:a16="http://schemas.microsoft.com/office/drawing/2014/main" id="{E492E3B6-4B4D-4431-8921-0596B874E4B3}"/>
              </a:ext>
            </a:extLst>
          </p:cNvPr>
          <p:cNvSpPr/>
          <p:nvPr/>
        </p:nvSpPr>
        <p:spPr>
          <a:xfrm rot="1283172">
            <a:off x="7672374" y="2345135"/>
            <a:ext cx="1348571" cy="338165"/>
          </a:xfrm>
          <a:prstGeom prst="roundRect">
            <a:avLst/>
          </a:prstGeom>
          <a:solidFill>
            <a:srgbClr val="00BDB7"/>
          </a:solidFill>
          <a:ln w="12700" cap="flat" cmpd="sng" algn="ctr">
            <a:no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FFFFFF"/>
                </a:solidFill>
                <a:effectLst/>
                <a:uLnTx/>
                <a:uFillTx/>
                <a:latin typeface="Arial" panose="020B0604020202020204"/>
                <a:ea typeface="+mn-ea"/>
                <a:cs typeface="+mn-cs"/>
              </a:rPr>
              <a:t>Example</a:t>
            </a:r>
            <a:r>
              <a:rPr kumimoji="0" lang="en-US" sz="1600" b="0" i="0" u="none" strike="noStrike" kern="0" cap="none" spc="0" normalizeH="0" baseline="0" noProof="0" dirty="0">
                <a:ln>
                  <a:noFill/>
                </a:ln>
                <a:solidFill>
                  <a:srgbClr val="FFFFFF">
                    <a:lumMod val="50000"/>
                  </a:srgbClr>
                </a:solidFill>
                <a:effectLst/>
                <a:uLnTx/>
                <a:uFillTx/>
                <a:latin typeface="Arial" panose="020B0604020202020204"/>
                <a:ea typeface="+mn-ea"/>
                <a:cs typeface="+mn-cs"/>
              </a:rPr>
              <a:t>  </a:t>
            </a:r>
            <a:r>
              <a:rPr kumimoji="0" lang="en-US" sz="1600" b="0" i="0" u="none" strike="noStrike" kern="0" cap="none" spc="0" normalizeH="0" baseline="0" noProof="0" dirty="0">
                <a:ln>
                  <a:noFill/>
                </a:ln>
                <a:solidFill>
                  <a:srgbClr val="FFFFFF"/>
                </a:solidFill>
                <a:effectLst/>
                <a:uLnTx/>
                <a:uFillTx/>
                <a:latin typeface="Arial" panose="020B0604020202020204"/>
                <a:ea typeface="+mn-ea"/>
                <a:cs typeface="+mn-cs"/>
              </a:rPr>
              <a:t>*</a:t>
            </a:r>
          </a:p>
        </p:txBody>
      </p:sp>
    </p:spTree>
    <p:extLst>
      <p:ext uri="{BB962C8B-B14F-4D97-AF65-F5344CB8AC3E}">
        <p14:creationId xmlns:p14="http://schemas.microsoft.com/office/powerpoint/2010/main" val="2235249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AB312-4CB9-4327-B575-59104B3A1EAC}"/>
              </a:ext>
            </a:extLst>
          </p:cNvPr>
          <p:cNvSpPr>
            <a:spLocks noGrp="1"/>
          </p:cNvSpPr>
          <p:nvPr>
            <p:ph type="title"/>
          </p:nvPr>
        </p:nvSpPr>
        <p:spPr/>
        <p:txBody>
          <a:bodyPr/>
          <a:lstStyle/>
          <a:p>
            <a:r>
              <a:rPr lang="en-US" dirty="0"/>
              <a:t>S/4 CDS Query functionality with AFO (excel)</a:t>
            </a:r>
          </a:p>
        </p:txBody>
      </p:sp>
      <p:sp>
        <p:nvSpPr>
          <p:cNvPr id="4" name="Footer Placeholder 3">
            <a:extLst>
              <a:ext uri="{FF2B5EF4-FFF2-40B4-BE49-F238E27FC236}">
                <a16:creationId xmlns:a16="http://schemas.microsoft.com/office/drawing/2014/main" id="{18057AA6-C369-4B76-8FAF-400B0A75E2E6}"/>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ABCDAFCB-272A-4003-906E-2C6B12ECB23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C98D4239-60CB-4581-B78A-B481C42A4B72}"/>
              </a:ext>
            </a:extLst>
          </p:cNvPr>
          <p:cNvSpPr/>
          <p:nvPr/>
        </p:nvSpPr>
        <p:spPr bwMode="auto">
          <a:xfrm>
            <a:off x="6208644" y="1458859"/>
            <a:ext cx="5764695" cy="5004201"/>
          </a:xfrm>
          <a:prstGeom prst="roundRect">
            <a:avLst>
              <a:gd name="adj" fmla="val 0"/>
            </a:avLst>
          </a:prstGeom>
          <a:solidFill>
            <a:srgbClr val="FFFFFF">
              <a:lumMod val="95000"/>
            </a:srgbClr>
          </a:solidFill>
          <a:ln>
            <a:noFill/>
          </a:ln>
          <a:effectLst/>
        </p:spPr>
        <p:txBody>
          <a:bodyPr vert="horz" wrap="square" lIns="0" tIns="0" rIns="0" bIns="0" numCol="1" rtlCol="0" anchor="t"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1799" b="1" i="0" u="sng" strike="noStrike" kern="0" cap="none" spc="0" normalizeH="0" baseline="0" noProof="0" dirty="0">
              <a:ln>
                <a:noFill/>
              </a:ln>
              <a:solidFill>
                <a:srgbClr val="000000"/>
              </a:solidFill>
              <a:effectLst/>
              <a:uLnTx/>
              <a:uFillTx/>
              <a:latin typeface="Arial" panose="020B0604020202020204"/>
              <a:ea typeface="ＭＳ Ｐゴシック" pitchFamily="80" charset="-128"/>
              <a:cs typeface="+mn-cs"/>
            </a:endParaRPr>
          </a:p>
        </p:txBody>
      </p:sp>
      <p:pic>
        <p:nvPicPr>
          <p:cNvPr id="7" name="Picture 6">
            <a:extLst>
              <a:ext uri="{FF2B5EF4-FFF2-40B4-BE49-F238E27FC236}">
                <a16:creationId xmlns:a16="http://schemas.microsoft.com/office/drawing/2014/main" id="{298DDD5B-FF59-4F83-B5EE-66CD52BBA9CF}"/>
              </a:ext>
            </a:extLst>
          </p:cNvPr>
          <p:cNvPicPr>
            <a:picLocks noChangeAspect="1"/>
          </p:cNvPicPr>
          <p:nvPr/>
        </p:nvPicPr>
        <p:blipFill>
          <a:blip r:embed="rId2"/>
          <a:stretch>
            <a:fillRect/>
          </a:stretch>
        </p:blipFill>
        <p:spPr>
          <a:xfrm>
            <a:off x="6230587" y="1501845"/>
            <a:ext cx="5562201" cy="4681559"/>
          </a:xfrm>
          <a:prstGeom prst="rect">
            <a:avLst/>
          </a:prstGeom>
        </p:spPr>
      </p:pic>
      <p:sp>
        <p:nvSpPr>
          <p:cNvPr id="8" name="Content Placeholder 3">
            <a:extLst>
              <a:ext uri="{FF2B5EF4-FFF2-40B4-BE49-F238E27FC236}">
                <a16:creationId xmlns:a16="http://schemas.microsoft.com/office/drawing/2014/main" id="{3DB055BE-D48A-4D4B-96E5-7A384ACAD7DB}"/>
              </a:ext>
            </a:extLst>
          </p:cNvPr>
          <p:cNvSpPr txBox="1">
            <a:spLocks/>
          </p:cNvSpPr>
          <p:nvPr/>
        </p:nvSpPr>
        <p:spPr>
          <a:xfrm>
            <a:off x="331304" y="1458859"/>
            <a:ext cx="5764695" cy="5004201"/>
          </a:xfrm>
          <a:prstGeom prst="rect">
            <a:avLst/>
          </a:prstGeom>
          <a:solidFill>
            <a:srgbClr val="FFFFFF"/>
          </a:solidFill>
          <a:ln>
            <a:solidFill>
              <a:srgbClr val="FFFFFF">
                <a:lumMod val="85000"/>
              </a:srgbClr>
            </a:solidFill>
          </a:ln>
          <a:effectLst>
            <a:outerShdw blurRad="50800" dist="38100" dir="2700000" algn="tl" rotWithShape="0">
              <a:prstClr val="black">
                <a:alpha val="40000"/>
              </a:prstClr>
            </a:outerShdw>
          </a:effectLst>
        </p:spPr>
        <p:txBody>
          <a:bodyPr vert="horz" lIns="91440" tIns="45720" rIns="91440" bIns="45720" rtlCol="0">
            <a:noAutofit/>
          </a:bodyPr>
          <a:lstStyle>
            <a:lvl1pPr marL="228531" indent="-228531" algn="l" defTabSz="914126" rtl="0" eaLnBrk="1" latinLnBrk="0" hangingPunct="1">
              <a:lnSpc>
                <a:spcPct val="90000"/>
              </a:lnSpc>
              <a:spcBef>
                <a:spcPts val="1000"/>
              </a:spcBef>
              <a:buFont typeface="Arial"/>
              <a:buChar char="•"/>
              <a:defRPr sz="1999" kern="1200">
                <a:solidFill>
                  <a:schemeClr val="tx1"/>
                </a:solidFill>
                <a:latin typeface="Arial" charset="0"/>
                <a:ea typeface="Arial" charset="0"/>
                <a:cs typeface="Arial" charset="0"/>
              </a:defRPr>
            </a:lvl1pPr>
            <a:lvl2pPr marL="685594" indent="-228531" algn="l" defTabSz="914126" rtl="0" eaLnBrk="1" latinLnBrk="0" hangingPunct="1">
              <a:lnSpc>
                <a:spcPct val="90000"/>
              </a:lnSpc>
              <a:spcBef>
                <a:spcPts val="500"/>
              </a:spcBef>
              <a:buFont typeface="Arial"/>
              <a:buChar char="•"/>
              <a:defRPr sz="1799" kern="1200">
                <a:solidFill>
                  <a:schemeClr val="tx1"/>
                </a:solidFill>
                <a:latin typeface="Arial" charset="0"/>
                <a:ea typeface="Arial" charset="0"/>
                <a:cs typeface="Arial" charset="0"/>
              </a:defRPr>
            </a:lvl2pPr>
            <a:lvl3pPr marL="1142657" indent="-228531" algn="l" defTabSz="914126" rtl="0" eaLnBrk="1" latinLnBrk="0" hangingPunct="1">
              <a:lnSpc>
                <a:spcPct val="90000"/>
              </a:lnSpc>
              <a:spcBef>
                <a:spcPts val="500"/>
              </a:spcBef>
              <a:buFont typeface="Arial"/>
              <a:buChar char="•"/>
              <a:defRPr sz="1600" kern="1200">
                <a:solidFill>
                  <a:schemeClr val="tx1"/>
                </a:solidFill>
                <a:latin typeface="Arial" charset="0"/>
                <a:ea typeface="Arial" charset="0"/>
                <a:cs typeface="Arial" charset="0"/>
              </a:defRPr>
            </a:lvl3pPr>
            <a:lvl4pPr marL="1599720"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4pPr>
            <a:lvl5pPr marL="2056783"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5pPr>
            <a:lvl6pPr marL="2513846"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9pPr>
          </a:lstStyle>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000000"/>
                </a:solidFill>
                <a:effectLst/>
                <a:uLnTx/>
                <a:uFillTx/>
                <a:latin typeface="Arial" charset="0"/>
                <a:cs typeface="Arial" charset="0"/>
              </a:rPr>
              <a:t>CDS views </a:t>
            </a:r>
            <a:r>
              <a:rPr kumimoji="0" lang="en-US" sz="1400" b="0" i="0" u="none" strike="noStrike" kern="1200" cap="none" spc="0" normalizeH="0" baseline="0" noProof="0" dirty="0">
                <a:ln>
                  <a:noFill/>
                </a:ln>
                <a:solidFill>
                  <a:srgbClr val="000000"/>
                </a:solidFill>
                <a:effectLst/>
                <a:uLnTx/>
                <a:uFillTx/>
                <a:latin typeface="Arial" charset="0"/>
                <a:cs typeface="Arial" charset="0"/>
              </a:rPr>
              <a:t>(Core Data Services) are built on existing S/4 database tables and views, to provide efficient way of data modelling. </a:t>
            </a:r>
          </a:p>
          <a:p>
            <a:pPr marL="0" marR="0" lvl="0" indent="0" algn="l" defTabSz="914126" rtl="0" eaLnBrk="1" fontAlgn="base" latinLnBrk="0" hangingPunct="1">
              <a:lnSpc>
                <a:spcPct val="100000"/>
              </a:lnSpc>
              <a:spcBef>
                <a:spcPts val="0"/>
              </a:spcBef>
              <a:spcAft>
                <a:spcPct val="0"/>
              </a:spcAft>
              <a:buClrTx/>
              <a:buSzTx/>
              <a:buFont typeface="Arial"/>
              <a:buNone/>
              <a:tabLst/>
              <a:defRPr/>
            </a:pPr>
            <a:endParaRPr kumimoji="0" lang="en-US" sz="1400" b="0" i="0" u="none" strike="noStrike" kern="1200" cap="none" spc="0" normalizeH="0" baseline="0" noProof="0" dirty="0">
              <a:ln>
                <a:noFill/>
              </a:ln>
              <a:solidFill>
                <a:srgbClr val="000000"/>
              </a:solidFill>
              <a:effectLst/>
              <a:uLnTx/>
              <a:uFillTx/>
              <a:latin typeface="Arial" charset="0"/>
              <a:cs typeface="Arial" charset="0"/>
            </a:endParaRPr>
          </a:p>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000000"/>
                </a:solidFill>
                <a:effectLst/>
                <a:uLnTx/>
                <a:uFillTx/>
                <a:latin typeface="Arial" charset="0"/>
                <a:cs typeface="Arial" charset="0"/>
              </a:rPr>
              <a:t>“Analysis for Office” (AO) </a:t>
            </a:r>
            <a:r>
              <a:rPr kumimoji="0" lang="en-US" sz="1400" b="0" i="0" u="none" strike="noStrike" kern="1200" cap="none" spc="0" normalizeH="0" baseline="0" noProof="0" dirty="0">
                <a:ln>
                  <a:noFill/>
                </a:ln>
                <a:solidFill>
                  <a:srgbClr val="000000"/>
                </a:solidFill>
                <a:effectLst/>
                <a:uLnTx/>
                <a:uFillTx/>
                <a:latin typeface="Arial" charset="0"/>
                <a:cs typeface="Arial" charset="0"/>
              </a:rPr>
              <a:t>is used </a:t>
            </a:r>
            <a:r>
              <a:rPr kumimoji="0" lang="en-US" sz="1400" b="1" i="0" u="none" strike="noStrike" kern="1200" cap="none" spc="0" normalizeH="0" baseline="0" noProof="0" dirty="0">
                <a:ln>
                  <a:noFill/>
                </a:ln>
                <a:solidFill>
                  <a:srgbClr val="000000"/>
                </a:solidFill>
                <a:effectLst/>
                <a:uLnTx/>
                <a:uFillTx/>
                <a:latin typeface="Arial" charset="0"/>
                <a:cs typeface="Arial" charset="0"/>
              </a:rPr>
              <a:t>similarly to how BW / GPM </a:t>
            </a:r>
            <a:r>
              <a:rPr kumimoji="0" lang="en-US" sz="1400" b="0" i="0" u="none" strike="noStrike" kern="1200" cap="none" spc="0" normalizeH="0" baseline="0" noProof="0" dirty="0">
                <a:ln>
                  <a:noFill/>
                </a:ln>
                <a:solidFill>
                  <a:srgbClr val="000000"/>
                </a:solidFill>
                <a:effectLst/>
                <a:uLnTx/>
                <a:uFillTx/>
                <a:latin typeface="Arial" charset="0"/>
                <a:cs typeface="Arial" charset="0"/>
              </a:rPr>
              <a:t>reports are ran through </a:t>
            </a:r>
            <a:r>
              <a:rPr kumimoji="0" lang="en-US" sz="1400" b="1" i="0" u="none" strike="noStrike" kern="1200" cap="none" spc="0" normalizeH="0" baseline="0" noProof="0" dirty="0">
                <a:ln>
                  <a:noFill/>
                </a:ln>
                <a:solidFill>
                  <a:srgbClr val="000000"/>
                </a:solidFill>
                <a:effectLst/>
                <a:uLnTx/>
                <a:uFillTx/>
                <a:latin typeface="Arial" charset="0"/>
                <a:cs typeface="Arial" charset="0"/>
              </a:rPr>
              <a:t>excel. Reports / workbooks can be saved and refreshed. </a:t>
            </a:r>
          </a:p>
          <a:p>
            <a:pPr marL="0" marR="0" lvl="0" indent="0" algn="l" defTabSz="914126" rtl="0" eaLnBrk="1" fontAlgn="base" latinLnBrk="0" hangingPunct="1">
              <a:lnSpc>
                <a:spcPct val="100000"/>
              </a:lnSpc>
              <a:spcBef>
                <a:spcPts val="0"/>
              </a:spcBef>
              <a:spcAft>
                <a:spcPct val="0"/>
              </a:spcAft>
              <a:buClrTx/>
              <a:buSzTx/>
              <a:buFont typeface="Arial"/>
              <a:buNone/>
              <a:tabLst/>
              <a:defRPr/>
            </a:pPr>
            <a:endParaRPr kumimoji="0" lang="en-US" sz="1400" b="1" i="0" u="none" strike="noStrike" kern="1200" cap="none" spc="0" normalizeH="0" baseline="0" noProof="0" dirty="0">
              <a:ln>
                <a:noFill/>
              </a:ln>
              <a:solidFill>
                <a:srgbClr val="000000"/>
              </a:solidFill>
              <a:effectLst/>
              <a:uLnTx/>
              <a:uFillTx/>
              <a:latin typeface="Arial" charset="0"/>
              <a:cs typeface="Arial" charset="0"/>
            </a:endParaRPr>
          </a:p>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000000"/>
                </a:solidFill>
                <a:effectLst/>
                <a:uLnTx/>
                <a:uFillTx/>
                <a:latin typeface="Arial" charset="0"/>
                <a:cs typeface="Arial" charset="0"/>
              </a:rPr>
              <a:t>“Slice and Dice” functionality </a:t>
            </a:r>
            <a:r>
              <a:rPr kumimoji="0" lang="en-US" sz="1400" b="0" i="0" u="none" strike="noStrike" kern="1200" cap="none" spc="0" normalizeH="0" baseline="0" noProof="0" dirty="0">
                <a:ln>
                  <a:noFill/>
                </a:ln>
                <a:solidFill>
                  <a:srgbClr val="000000"/>
                </a:solidFill>
                <a:effectLst/>
                <a:uLnTx/>
                <a:uFillTx/>
                <a:latin typeface="Arial" charset="0"/>
                <a:cs typeface="Arial" charset="0"/>
              </a:rPr>
              <a:t>by selecting in a </a:t>
            </a:r>
            <a:r>
              <a:rPr kumimoji="0" lang="en-US" sz="1400" b="1" i="0" u="none" strike="noStrike" kern="1200" cap="none" spc="0" normalizeH="0" baseline="0" noProof="0" dirty="0">
                <a:ln>
                  <a:noFill/>
                </a:ln>
                <a:solidFill>
                  <a:srgbClr val="000000"/>
                </a:solidFill>
                <a:effectLst/>
                <a:uLnTx/>
                <a:uFillTx/>
                <a:latin typeface="Arial" charset="0"/>
                <a:cs typeface="Arial" charset="0"/>
              </a:rPr>
              <a:t>dynamic manner </a:t>
            </a:r>
            <a:r>
              <a:rPr kumimoji="0" lang="en-US" sz="1400" b="0" i="0" u="none" strike="noStrike" kern="1200" cap="none" spc="0" normalizeH="0" baseline="0" noProof="0" dirty="0">
                <a:ln>
                  <a:noFill/>
                </a:ln>
                <a:solidFill>
                  <a:srgbClr val="000000"/>
                </a:solidFill>
                <a:effectLst/>
                <a:uLnTx/>
                <a:uFillTx/>
                <a:latin typeface="Arial" charset="0"/>
                <a:cs typeface="Arial" charset="0"/>
              </a:rPr>
              <a:t>FI&amp;CO </a:t>
            </a:r>
            <a:r>
              <a:rPr kumimoji="0" lang="en-US" sz="1400" b="1" i="0" u="none" strike="noStrike" kern="1200" cap="none" spc="0" normalizeH="0" baseline="0" noProof="0" dirty="0">
                <a:ln>
                  <a:noFill/>
                </a:ln>
                <a:solidFill>
                  <a:srgbClr val="000000"/>
                </a:solidFill>
                <a:effectLst/>
                <a:uLnTx/>
                <a:uFillTx/>
                <a:latin typeface="Arial" charset="0"/>
                <a:cs typeface="Arial" charset="0"/>
              </a:rPr>
              <a:t>dimensions </a:t>
            </a:r>
            <a:r>
              <a:rPr kumimoji="0" lang="en-US" sz="1400" b="0" i="0" u="none" strike="noStrike" kern="1200" cap="none" spc="0" normalizeH="0" baseline="0" noProof="0" dirty="0">
                <a:ln>
                  <a:noFill/>
                </a:ln>
                <a:solidFill>
                  <a:srgbClr val="000000"/>
                </a:solidFill>
                <a:effectLst/>
                <a:uLnTx/>
                <a:uFillTx/>
                <a:latin typeface="Arial" charset="0"/>
                <a:cs typeface="Arial" charset="0"/>
              </a:rPr>
              <a:t>to meet specific needs.</a:t>
            </a:r>
          </a:p>
          <a:p>
            <a:pPr marL="0" marR="0" lvl="0" indent="0" algn="l" defTabSz="914126" rtl="0" eaLnBrk="1" fontAlgn="base" latinLnBrk="0" hangingPunct="1">
              <a:lnSpc>
                <a:spcPct val="100000"/>
              </a:lnSpc>
              <a:spcBef>
                <a:spcPts val="0"/>
              </a:spcBef>
              <a:spcAft>
                <a:spcPct val="0"/>
              </a:spcAft>
              <a:buClrTx/>
              <a:buSzTx/>
              <a:buFont typeface="Arial"/>
              <a:buNone/>
              <a:tabLst/>
              <a:defRPr/>
            </a:pPr>
            <a:endParaRPr kumimoji="0" lang="en-US" sz="1400" b="1" i="0" u="none" strike="noStrike" kern="1200" cap="none" spc="0" normalizeH="0" baseline="0" noProof="0" dirty="0">
              <a:ln>
                <a:noFill/>
              </a:ln>
              <a:solidFill>
                <a:srgbClr val="000000"/>
              </a:solidFill>
              <a:effectLst/>
              <a:uLnTx/>
              <a:uFillTx/>
              <a:latin typeface="Arial" charset="0"/>
              <a:cs typeface="Arial" charset="0"/>
            </a:endParaRPr>
          </a:p>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charset="0"/>
                <a:cs typeface="Arial" charset="0"/>
              </a:rPr>
              <a:t>Selection criteria, characteristics and key figures are being enhanced to meet JTI reporting requirements in the following SAP S4 HANA standard CDS views:</a:t>
            </a:r>
          </a:p>
          <a:p>
            <a:pPr marL="685594" marR="0" lvl="1" indent="-228531" algn="l" defTabSz="914126" rtl="0" eaLnBrk="1" fontAlgn="base" latinLnBrk="0" hangingPunct="1">
              <a:lnSpc>
                <a:spcPct val="100000"/>
              </a:lnSpc>
              <a:spcBef>
                <a:spcPts val="500"/>
              </a:spcBef>
              <a:spcAft>
                <a:spcPct val="0"/>
              </a:spcAft>
              <a:buClrTx/>
              <a:buSzTx/>
              <a:buFont typeface="Arial"/>
              <a:buChar char="•"/>
              <a:tabLst/>
              <a:defRPr/>
            </a:pPr>
            <a:r>
              <a:rPr kumimoji="0" lang="en-US" sz="1400" b="0" i="0" u="none" strike="noStrike" kern="1200" cap="none" spc="0" normalizeH="0" baseline="0" noProof="0" dirty="0">
                <a:ln>
                  <a:noFill/>
                </a:ln>
                <a:solidFill>
                  <a:srgbClr val="000000"/>
                </a:solidFill>
                <a:effectLst/>
                <a:uLnTx/>
                <a:uFillTx/>
                <a:latin typeface="Arial" charset="0"/>
                <a:cs typeface="Arial" charset="0"/>
              </a:rPr>
              <a:t>G/L Account Balance Cube</a:t>
            </a:r>
          </a:p>
          <a:p>
            <a:pPr marL="685594" marR="0" lvl="1" indent="-228531" algn="l" defTabSz="914126" rtl="0" eaLnBrk="1" fontAlgn="base" latinLnBrk="0" hangingPunct="1">
              <a:lnSpc>
                <a:spcPct val="100000"/>
              </a:lnSpc>
              <a:spcBef>
                <a:spcPts val="500"/>
              </a:spcBef>
              <a:spcAft>
                <a:spcPct val="0"/>
              </a:spcAft>
              <a:buClrTx/>
              <a:buSzTx/>
              <a:buFont typeface="Arial"/>
              <a:buChar char="•"/>
              <a:tabLst/>
              <a:defRPr/>
            </a:pPr>
            <a:r>
              <a:rPr kumimoji="0" lang="en-US" sz="1400" b="0" i="0" u="none" strike="noStrike" kern="1200" cap="none" spc="0" normalizeH="0" baseline="0" noProof="0" dirty="0">
                <a:ln>
                  <a:noFill/>
                </a:ln>
                <a:solidFill>
                  <a:srgbClr val="000000"/>
                </a:solidFill>
                <a:effectLst/>
                <a:uLnTx/>
                <a:uFillTx/>
                <a:latin typeface="Arial" charset="0"/>
                <a:cs typeface="Arial" charset="0"/>
              </a:rPr>
              <a:t>G/L Account Balance Comparison Cube</a:t>
            </a:r>
          </a:p>
          <a:p>
            <a:pPr marL="685594" marR="0" lvl="1" indent="-228531" algn="l" defTabSz="914126" rtl="0" eaLnBrk="1" fontAlgn="base" latinLnBrk="0" hangingPunct="1">
              <a:lnSpc>
                <a:spcPct val="100000"/>
              </a:lnSpc>
              <a:spcBef>
                <a:spcPts val="500"/>
              </a:spcBef>
              <a:spcAft>
                <a:spcPct val="0"/>
              </a:spcAft>
              <a:buClrTx/>
              <a:buSzTx/>
              <a:buFont typeface="Arial"/>
              <a:buChar char="•"/>
              <a:tabLst/>
              <a:defRPr/>
            </a:pPr>
            <a:r>
              <a:rPr kumimoji="0" lang="en-US" sz="1400" b="0" i="0" u="none" strike="noStrike" kern="1200" cap="none" spc="0" normalizeH="0" baseline="0" noProof="0" dirty="0">
                <a:ln>
                  <a:noFill/>
                </a:ln>
                <a:solidFill>
                  <a:srgbClr val="000000"/>
                </a:solidFill>
                <a:effectLst/>
                <a:uLnTx/>
                <a:uFillTx/>
                <a:latin typeface="Arial" charset="0"/>
                <a:cs typeface="Arial" charset="0"/>
              </a:rPr>
              <a:t>Accounting Journal Entry Item Cube</a:t>
            </a:r>
          </a:p>
          <a:p>
            <a:pPr marL="685594" marR="0" lvl="1" indent="-228531" algn="l" defTabSz="914126" rtl="0" eaLnBrk="1" fontAlgn="base" latinLnBrk="0" hangingPunct="1">
              <a:lnSpc>
                <a:spcPct val="100000"/>
              </a:lnSpc>
              <a:spcBef>
                <a:spcPts val="500"/>
              </a:spcBef>
              <a:spcAft>
                <a:spcPct val="0"/>
              </a:spcAft>
              <a:buClrTx/>
              <a:buSzTx/>
              <a:buFont typeface="Arial"/>
              <a:buChar char="•"/>
              <a:tabLst/>
              <a:defRPr/>
            </a:pPr>
            <a:r>
              <a:rPr kumimoji="0" lang="en-US" sz="1400" b="0" i="0" u="none" strike="noStrike" kern="1200" cap="none" spc="0" normalizeH="0" baseline="0" noProof="0" dirty="0">
                <a:ln>
                  <a:noFill/>
                </a:ln>
                <a:solidFill>
                  <a:srgbClr val="000000"/>
                </a:solidFill>
                <a:effectLst/>
                <a:uLnTx/>
                <a:uFillTx/>
                <a:latin typeface="Arial" charset="0"/>
                <a:cs typeface="Arial" charset="0"/>
              </a:rPr>
              <a:t>G/L Line Items Cube</a:t>
            </a:r>
          </a:p>
          <a:p>
            <a:pPr marL="685594" marR="0" lvl="1" indent="-228531" algn="l" defTabSz="914126" rtl="0" eaLnBrk="1" fontAlgn="base" latinLnBrk="0" hangingPunct="1">
              <a:lnSpc>
                <a:spcPct val="100000"/>
              </a:lnSpc>
              <a:spcBef>
                <a:spcPts val="500"/>
              </a:spcBef>
              <a:spcAft>
                <a:spcPct val="0"/>
              </a:spcAft>
              <a:buClrTx/>
              <a:buSzTx/>
              <a:buFont typeface="Arial"/>
              <a:buChar char="•"/>
              <a:tabLst/>
              <a:defRPr/>
            </a:pPr>
            <a:r>
              <a:rPr kumimoji="0" lang="en-US" sz="1400" b="0" i="0" u="none" strike="noStrike" kern="1200" cap="none" spc="0" normalizeH="0" baseline="0" noProof="0" dirty="0">
                <a:ln>
                  <a:noFill/>
                </a:ln>
                <a:solidFill>
                  <a:srgbClr val="000000"/>
                </a:solidFill>
                <a:effectLst/>
                <a:uLnTx/>
                <a:uFillTx/>
                <a:latin typeface="Arial" charset="0"/>
                <a:cs typeface="Arial" charset="0"/>
              </a:rPr>
              <a:t>GL  Account Master Cube </a:t>
            </a:r>
          </a:p>
          <a:p>
            <a:pPr marL="228531" marR="0" lvl="0" indent="-228531" algn="l" defTabSz="914126" rtl="0" eaLnBrk="1" fontAlgn="base" latinLnBrk="0" hangingPunct="1">
              <a:lnSpc>
                <a:spcPct val="100000"/>
              </a:lnSpc>
              <a:spcBef>
                <a:spcPts val="1000"/>
              </a:spcBef>
              <a:spcAft>
                <a:spcPct val="0"/>
              </a:spcAft>
              <a:buClrTx/>
              <a:buSzTx/>
              <a:buFont typeface="Arial"/>
              <a:buChar char="•"/>
              <a:tabLst/>
              <a:defRPr/>
            </a:pPr>
            <a:r>
              <a:rPr kumimoji="0" lang="en-US" sz="1400" b="0" i="0" u="none" strike="noStrike" kern="1200" cap="none" spc="0" normalizeH="0" baseline="0" noProof="0" dirty="0">
                <a:ln>
                  <a:noFill/>
                </a:ln>
                <a:solidFill>
                  <a:srgbClr val="000000"/>
                </a:solidFill>
                <a:effectLst/>
                <a:uLnTx/>
                <a:uFillTx/>
                <a:latin typeface="Arial" charset="0"/>
                <a:cs typeface="Arial" charset="0"/>
              </a:rPr>
              <a:t>Enhanced views will allow end users to </a:t>
            </a:r>
            <a:r>
              <a:rPr kumimoji="0" lang="en-US" sz="1400" b="1" i="0" u="none" strike="noStrike" kern="1200" cap="none" spc="0" normalizeH="0" baseline="0" noProof="0" dirty="0">
                <a:ln>
                  <a:noFill/>
                </a:ln>
                <a:solidFill>
                  <a:srgbClr val="000000"/>
                </a:solidFill>
                <a:effectLst/>
                <a:uLnTx/>
                <a:uFillTx/>
                <a:latin typeface="Arial" charset="0"/>
                <a:cs typeface="Arial" charset="0"/>
              </a:rPr>
              <a:t>access and analyze transactional data at both account balance and line item levels </a:t>
            </a:r>
            <a:r>
              <a:rPr kumimoji="0" lang="en-US" sz="1400" b="0" i="0" u="none" strike="noStrike" kern="1200" cap="none" spc="0" normalizeH="0" baseline="0" noProof="0" dirty="0">
                <a:ln>
                  <a:noFill/>
                </a:ln>
                <a:solidFill>
                  <a:srgbClr val="000000"/>
                </a:solidFill>
                <a:effectLst/>
                <a:uLnTx/>
                <a:uFillTx/>
                <a:latin typeface="Arial" charset="0"/>
                <a:cs typeface="Arial" charset="0"/>
              </a:rPr>
              <a:t>in single and multiple ledgers</a:t>
            </a:r>
            <a:r>
              <a:rPr kumimoji="0" lang="en-US" sz="1400" b="1" i="0" u="none" strike="noStrike" kern="1200" cap="none" spc="0" normalizeH="0" baseline="0" noProof="0" dirty="0">
                <a:ln>
                  <a:noFill/>
                </a:ln>
                <a:solidFill>
                  <a:srgbClr val="000000"/>
                </a:solidFill>
                <a:effectLst/>
                <a:uLnTx/>
                <a:uFillTx/>
                <a:latin typeface="Arial" charset="0"/>
                <a:cs typeface="Arial" charset="0"/>
              </a:rPr>
              <a:t> including its comparison.</a:t>
            </a:r>
          </a:p>
          <a:p>
            <a:pPr marL="228531" marR="0" lvl="0" indent="-228531" algn="l" defTabSz="914126" rtl="0" eaLnBrk="1" fontAlgn="base" latinLnBrk="0" hangingPunct="1">
              <a:lnSpc>
                <a:spcPct val="90000"/>
              </a:lnSpc>
              <a:spcBef>
                <a:spcPts val="1000"/>
              </a:spcBef>
              <a:spcAft>
                <a:spcPct val="0"/>
              </a:spcAft>
              <a:buClrTx/>
              <a:buSzTx/>
              <a:buFont typeface="Arial"/>
              <a:buChar char="•"/>
              <a:tabLst/>
              <a:defRPr/>
            </a:pPr>
            <a:endParaRPr kumimoji="0" lang="en-US" sz="1400" b="0" i="0" u="none" strike="noStrike" kern="1200" cap="none" spc="0" normalizeH="0" baseline="0" noProof="0" dirty="0">
              <a:ln>
                <a:noFill/>
              </a:ln>
              <a:solidFill>
                <a:srgbClr val="000000"/>
              </a:solidFill>
              <a:effectLst/>
              <a:uLnTx/>
              <a:uFillTx/>
              <a:latin typeface="Arial" charset="0"/>
              <a:cs typeface="Arial" charset="0"/>
            </a:endParaRPr>
          </a:p>
        </p:txBody>
      </p:sp>
    </p:spTree>
    <p:extLst>
      <p:ext uri="{BB962C8B-B14F-4D97-AF65-F5344CB8AC3E}">
        <p14:creationId xmlns:p14="http://schemas.microsoft.com/office/powerpoint/2010/main" val="30274996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B0930BB-BDAD-4212-973E-6017EB4164DE}"/>
              </a:ext>
            </a:extLst>
          </p:cNvPr>
          <p:cNvPicPr>
            <a:picLocks noChangeAspect="1"/>
          </p:cNvPicPr>
          <p:nvPr/>
        </p:nvPicPr>
        <p:blipFill>
          <a:blip r:embed="rId3"/>
          <a:stretch>
            <a:fillRect/>
          </a:stretch>
        </p:blipFill>
        <p:spPr>
          <a:xfrm>
            <a:off x="674425" y="2900614"/>
            <a:ext cx="10226926" cy="2766300"/>
          </a:xfrm>
          <a:prstGeom prst="rect">
            <a:avLst/>
          </a:prstGeom>
        </p:spPr>
      </p:pic>
      <p:sp>
        <p:nvSpPr>
          <p:cNvPr id="2" name="Title 1">
            <a:extLst>
              <a:ext uri="{FF2B5EF4-FFF2-40B4-BE49-F238E27FC236}">
                <a16:creationId xmlns:a16="http://schemas.microsoft.com/office/drawing/2014/main" id="{C8E22BCF-CFCD-41A7-BF7E-3E597266F863}"/>
              </a:ext>
            </a:extLst>
          </p:cNvPr>
          <p:cNvSpPr>
            <a:spLocks noGrp="1"/>
          </p:cNvSpPr>
          <p:nvPr>
            <p:ph type="title"/>
          </p:nvPr>
        </p:nvSpPr>
        <p:spPr>
          <a:xfrm>
            <a:off x="1511277" y="210344"/>
            <a:ext cx="9461523" cy="984247"/>
          </a:xfrm>
        </p:spPr>
        <p:txBody>
          <a:bodyPr/>
          <a:lstStyle/>
          <a:p>
            <a:r>
              <a:rPr lang="en-GB" dirty="0"/>
              <a:t>JTI </a:t>
            </a:r>
            <a:r>
              <a:rPr lang="en-US" dirty="0"/>
              <a:t>WBS </a:t>
            </a:r>
            <a:r>
              <a:rPr lang="en-GB" dirty="0"/>
              <a:t>Commitments vs Actuals</a:t>
            </a:r>
          </a:p>
        </p:txBody>
      </p:sp>
      <p:sp>
        <p:nvSpPr>
          <p:cNvPr id="6" name="Rectangle 5">
            <a:extLst>
              <a:ext uri="{FF2B5EF4-FFF2-40B4-BE49-F238E27FC236}">
                <a16:creationId xmlns:a16="http://schemas.microsoft.com/office/drawing/2014/main" id="{5D6147A3-923C-41C8-97AA-0F37BB782DED}"/>
              </a:ext>
            </a:extLst>
          </p:cNvPr>
          <p:cNvSpPr/>
          <p:nvPr/>
        </p:nvSpPr>
        <p:spPr>
          <a:xfrm>
            <a:off x="555695" y="1467780"/>
            <a:ext cx="11080610" cy="1384995"/>
          </a:xfrm>
          <a:prstGeom prst="rect">
            <a:avLst/>
          </a:prstGeom>
        </p:spPr>
        <p:txBody>
          <a:bodyPr wrap="square">
            <a:spAutoFit/>
          </a:bodyPr>
          <a:lstStyle/>
          <a:p>
            <a:pPr marL="285750" indent="-285750">
              <a:buFont typeface="Arial" panose="020B0604020202020204" pitchFamily="34" charset="0"/>
              <a:buChar char="•"/>
              <a:defRPr/>
            </a:pPr>
            <a:r>
              <a:rPr lang="en-US" sz="1400" b="1" dirty="0">
                <a:solidFill>
                  <a:srgbClr val="000000"/>
                </a:solidFill>
              </a:rPr>
              <a:t>Business Requirement: </a:t>
            </a:r>
            <a:r>
              <a:rPr lang="en-US" sz="1400" dirty="0">
                <a:solidFill>
                  <a:srgbClr val="000000"/>
                </a:solidFill>
              </a:rPr>
              <a:t>to have a single Query for both WBS commitments and actuals</a:t>
            </a:r>
            <a:endParaRPr kumimoji="0" lang="en-US" sz="1400" i="0" u="none" strike="noStrike" kern="1200" cap="none" spc="0" normalizeH="0" baseline="0" noProof="0" dirty="0">
              <a:ln>
                <a:noFill/>
              </a:ln>
              <a:solidFill>
                <a:srgbClr val="000000"/>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i="0" u="none" strike="noStrike" kern="1200" cap="none" spc="0" normalizeH="0" baseline="0" noProof="0" dirty="0">
                <a:ln>
                  <a:noFill/>
                </a:ln>
                <a:solidFill>
                  <a:srgbClr val="000000"/>
                </a:solidFill>
                <a:effectLst/>
                <a:uLnTx/>
                <a:uFillTx/>
                <a:latin typeface="Arial" panose="020B0604020202020204"/>
                <a:ea typeface="+mn-ea"/>
                <a:cs typeface="+mn-cs"/>
              </a:rPr>
              <a:t>This Query is built to provide </a:t>
            </a:r>
            <a:r>
              <a:rPr kumimoji="0" lang="en-US" sz="1400" b="1" i="0" u="none" strike="noStrike" kern="1200" cap="none" spc="0" normalizeH="0" baseline="0" noProof="0" dirty="0">
                <a:ln>
                  <a:noFill/>
                </a:ln>
                <a:solidFill>
                  <a:srgbClr val="000000"/>
                </a:solidFill>
                <a:effectLst/>
                <a:uLnTx/>
                <a:uFillTx/>
                <a:latin typeface="Arial" panose="020B0604020202020204"/>
                <a:ea typeface="+mn-ea"/>
                <a:cs typeface="+mn-cs"/>
              </a:rPr>
              <a:t>Commitments and Actuals for selected WBS Element(s) </a:t>
            </a:r>
            <a:r>
              <a:rPr kumimoji="0" lang="en-US" sz="1400" i="0" u="none" strike="noStrike" kern="1200" cap="none" spc="0" normalizeH="0" baseline="0" noProof="0" dirty="0">
                <a:ln>
                  <a:noFill/>
                </a:ln>
                <a:solidFill>
                  <a:srgbClr val="000000"/>
                </a:solidFill>
                <a:effectLst/>
                <a:uLnTx/>
                <a:uFillTx/>
                <a:latin typeface="Arial" panose="020B0604020202020204"/>
                <a:ea typeface="+mn-ea"/>
                <a:cs typeface="+mn-cs"/>
              </a:rPr>
              <a:t>in one report (sort of compilation of </a:t>
            </a:r>
            <a:r>
              <a:rPr kumimoji="0" lang="en-US" sz="1400" b="1" i="0" u="none" strike="noStrike" kern="1200" cap="none" spc="0" normalizeH="0" baseline="0" noProof="0" dirty="0">
                <a:ln>
                  <a:noFill/>
                </a:ln>
                <a:solidFill>
                  <a:srgbClr val="000000"/>
                </a:solidFill>
                <a:effectLst/>
                <a:uLnTx/>
                <a:uFillTx/>
                <a:latin typeface="Arial" panose="020B0604020202020204"/>
                <a:ea typeface="+mn-ea"/>
                <a:cs typeface="+mn-cs"/>
              </a:rPr>
              <a:t>CJI5</a:t>
            </a:r>
            <a:r>
              <a:rPr kumimoji="0" lang="en-US" sz="1400" i="0" u="none" strike="noStrike" kern="1200" cap="none" spc="0" normalizeH="0" baseline="0" noProof="0" dirty="0">
                <a:ln>
                  <a:noFill/>
                </a:ln>
                <a:solidFill>
                  <a:srgbClr val="000000"/>
                </a:solidFill>
                <a:effectLst/>
                <a:uLnTx/>
                <a:uFillTx/>
                <a:latin typeface="Arial" panose="020B0604020202020204"/>
                <a:ea typeface="+mn-ea"/>
                <a:cs typeface="+mn-cs"/>
              </a:rPr>
              <a:t> WBS Element commitment and </a:t>
            </a:r>
            <a:r>
              <a:rPr kumimoji="0" lang="en-US" sz="1400" b="1" i="0" u="none" strike="noStrike" kern="1200" cap="none" spc="0" normalizeH="0" baseline="0" noProof="0" dirty="0">
                <a:ln>
                  <a:noFill/>
                </a:ln>
                <a:solidFill>
                  <a:srgbClr val="000000"/>
                </a:solidFill>
                <a:effectLst/>
                <a:uLnTx/>
                <a:uFillTx/>
                <a:latin typeface="Arial" panose="020B0604020202020204"/>
                <a:ea typeface="+mn-ea"/>
                <a:cs typeface="+mn-cs"/>
              </a:rPr>
              <a:t>FAGLL03/FAGLL03H </a:t>
            </a:r>
            <a:r>
              <a:rPr kumimoji="0" lang="en-US" sz="1400" i="0" u="none" strike="noStrike" kern="1200" cap="none" spc="0" normalizeH="0" baseline="0" noProof="0" dirty="0">
                <a:ln>
                  <a:noFill/>
                </a:ln>
                <a:solidFill>
                  <a:srgbClr val="000000"/>
                </a:solidFill>
                <a:effectLst/>
                <a:uLnTx/>
                <a:uFillTx/>
                <a:latin typeface="Arial" panose="020B0604020202020204"/>
                <a:ea typeface="+mn-ea"/>
                <a:cs typeface="+mn-cs"/>
              </a:rPr>
              <a:t>GL line item reports)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i="0" u="none" strike="noStrike" kern="1200" cap="none" spc="0" normalizeH="0" baseline="0" noProof="0" dirty="0">
                <a:ln>
                  <a:noFill/>
                </a:ln>
                <a:solidFill>
                  <a:srgbClr val="000000"/>
                </a:solidFill>
                <a:effectLst/>
                <a:uLnTx/>
                <a:uFillTx/>
                <a:latin typeface="Arial" panose="020B0604020202020204"/>
                <a:ea typeface="+mn-ea"/>
                <a:cs typeface="+mn-cs"/>
              </a:rPr>
              <a:t>The Query is available to all Users who have access to CJI5 report</a:t>
            </a:r>
          </a:p>
          <a:p>
            <a:pPr marL="0" marR="0" lvl="0" indent="0" algn="l" defTabSz="914400" rtl="0" eaLnBrk="1" fontAlgn="base" latinLnBrk="0" hangingPunct="1">
              <a:lnSpc>
                <a:spcPct val="100000"/>
              </a:lnSpc>
              <a:spcBef>
                <a:spcPts val="0"/>
              </a:spcBef>
              <a:spcAft>
                <a:spcPts val="0"/>
              </a:spcAft>
              <a:buClrTx/>
              <a:buSzTx/>
              <a:tabLst/>
              <a:defRPr/>
            </a:pPr>
            <a:endPar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2" name="AutoShape 9" descr="data:image/jpg;base64,%20/9j/4AAQSkZJRgABAQEAYABgAAD/2wBDAAUDBAQEAwUEBAQFBQUGBwwIBwcHBw8LCwkMEQ8SEhEPERETFhwXExQaFRERGCEYGh0dHx8fExciJCIeJBweHx7/2wBDAQUFBQcGBw4ICA4eFBEUHh4eHh4eHh4eHh4eHh4eHh4eHh4eHh4eHh4eHh4eHh4eHh4eHh4eHh4eHh4eHh4eHh7/wAARCACgAPI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6x1rxDb6Terb3FtcSb1BUwpvJPzEjH0X9fY1HD4miluhCun3gDRNIjFODt6r7HFVL64mS6nPnyqqyN/GcAZNZ0mtWiossmqKqt90tMRnp0/MfnXUsLJq9zmeJSdrGtB4vtZH8t9N1KJ96IA0B5LEj8hxn0yPWpz4hJa5iTS70zQMQV2cNhwowRnrkHp0rIt9US4kaKDUTK6j5lWYkj681P58//PxN/wB/DVfU5dxfWo9i3ceLLaBd0um6iqhQznyhhMgHnn3rT0XVI9UikkS3ngKEBlmUA8jPYmsAzz4/183/AH8NL58//PxN/wB/DR9Tl3D61HsdbRXIPdiIBrnUGt0J2hndsE+nH41q/wBl3/8Az+/+PtWUqKi7ORpGq5K6ibVFYv8AZd//AM/v/j7Uf2Xf/wDP7/4+1TyR/mK55fym1RWL/Zd//wA/v/j7Uf2Xf/8AP7/4+1HJH+YOeX8ptUVi/wBl3/8Az+/+PtR/Zd//AM/v/j7Uckf5g55fym1RWL/Zd/8A8/v/AI+1H9l3/wDz+/8Aj7Uckf5g55fym1RWL/Zd/wD8/v8A4+1H9l3/APz+/wDj7Uckf5g55fym1RWL/Zd//wA/v/j7Uf2Xf/8AP7/4+1HJH+YOeX8ptUVi/wBl3/8Az+/+PtR/Zd//AM/v/j7Uckf5g55fym1RWL/Zd/8A8/v/AI+1H9l3/wDz+/8Aj7Uckf5g55fym1RWL/Zd/wD8/v8A4+1H9l3/APz+/wDj7Uckf5g55fym1RXL6ul5p8aM1w0hc4AEjeoH9ax4NckmDeXcbymQyiVsqQCeapUU/tEOtZ2aPQKK4G11iae5eFZmJjkEcmJG4JrQ86f/AJ7zf9/DVxwrlsxSxCjujrqK5Hzp/wDnvN/38NFV9Tl3J+tR7Dr3/j8n/wCurfzNZd1o+l3UhkuLCCVz/Ey81vz6ddy3EsiRgq0jEHcPU0z+yr3/AJ5D/voV0wqQ5VdnNKnPmdkYum6Xp+nbjZ2scTsMM4HzN9T3q7V3+yr3/nkP++hR/ZV7/wA8h/30Kr2sO5Ps59ilRV3+yr3/AJ5D/voUf2Ve/wDPIf8AfQp+1h3D2c+xXtLVryQxCOGQBdxEq5H+ea2Ui1hVCrJAFAwBjtVSztNTtJTJDDESRg7zn+Rq35mt/wDPC2/X/wCKrjq+9NtWOulpGzuLs1n/AJ6wflRs1n/nrB+VJ5mt/wDPC2/X/wCKo8zW/wDnhbfr/wDFVlZ+X4Gl15/iLs1n/nrB+VGzWf8AnrB+VJ5mt/8APC2/X/4qjzNb/wCeFt+v/wAVRZ+X4Bdef4i7NZ/56wflRs1n/nrB+VJ5mt/88Lb9f/iqPM1v/nhbfr/8VRZ+X4Bdef4i7NZ/56wflRs1n/nrB+VJ5mt/88Lb9f8A4qjzNb/54W36/wDxVFn5fgF15/iLs1n/AJ6wflRs1n/nrB+VJ5mt/wDPC2/X/wCKo8zW/wDnhbfr/wDFUWfl+AXXn+IuzWf+esH5UbNZ/wCesH5Unma3/wA8Lb9f/iqPM1v/AJ4W36//ABVFn5fgF15/iLs1n/nrB+VGzWf+esH5Unma3/zwtv1/+Ko8zW/+eFt+v/xVFn5fgF15/iLs1n/nrB+VGzWf+esH5Unma3/zwtv1/wDiqPM1v/nhbfr/APFUWfl+AXXn+IuzWf8AnrB+VGzWf+esH5Unma3/AM8Lb9f/AIqjzNb/AOeFt+v/AMVRZ+X4Bdef4mT4lF4sEf2tlY5+TZxzuX/61cvaR2b3EtxCqGSTKyFGGQdp6jHFdlqlnquoIiyxwqUOVK+uQeefaseDwlPDdy3KRxpJKPn2k4JxjoWwPw61qum34GE4tyTSv9/boQW9ruuX8uW3Z4DmQKyjHXrx061aiffnGwjjDI+4MCM5BqzBoeoQTzTQwWiSTnMjBOWPv81SR6RqAZ2kSMliPu4AGBj1qqM5RfvNWJlFyjqtfmVaKu/2Ve/88h/30KK6vaw7mPs59jfi3eS23G7c2M9M5NZE134lgm40m2vIyBzFcCMg4GfvdRnOOnSti3/1Z/3m/wDQjUleOeqc79v8WC0tp/7BtGmdn8+3+2AGMAnaQ+CGJGOw5rY0uW8nsY5dQtEtLg53QrL5gXk4+YAZ4wfxq1RQAUUUUAZfiGS+jhj/ALPhglnOeJsbAOOeSPp+NV9LfUTekajFpotfJBDRLhvMwuR1PH3vyFa020zIHbC7W/ixzxRtg/v/APkQ/wCNADf9D9IfyFH+h+kP5CnbYP7/AP5EP+NG2D+//wCRD/jQA3/Q/SH8hR/ofpD+Qp22D+//AORD/jRtg/v/APkQ/wCNADf9D9IfyFH+h+kP5CnbYP7/AP5EP+NG2D+//wCRD/jQA3/Q/SH8hR/ofpD+Qp22D+//AORD/jRtg/v/APkQ/wCNADf9D9IfyFH+h+kP5CnbYP7/AP5EP+NG2D+//wCRD/jQA3/Q/SH8hR/ofpD+Qp22D+//AORD/jRtg/v/APkQ/wCNADf9D9IfyFH+h+kP5CnbYP7/AP5EP+NG2D+//wCRD/jQA3/Q/SH8hR/ofpD+Qp22D+//AORD/jRtg/v/APkQ/wCNADf9D9IfyFH+h+kP5CnbYP7/AP5EP+NG2D+//wCRD/jQBn64YxYS+QVHyjds9N6//XrkNEuNSa+uobmIKqRuY5Yz98bD+ua7HW28qxkMErKdoyQ54+df8TXJ6HqeqSahcW90J08pHKyCQlXGwkHr1/wp9DKb9+Or/pdSTw815/bkfnupjaX90ExwvPDep/Su8rj7S8vZLq7S4jMcSHEDfaG+f9elbfhuSSSGfzGBYOMgOWAO0ZwTQ5X1KpyUo3V/matFFFIsjgOIyTwNzfzNOSSN4xIjqyEZDA5BH1pkah4GRuQxcH6ZNYjeEdJ2uitdRxttBRJiAAowAPT3x1oA3kljcEpIjBW2nBzg+n1pwIOcHp1rAuPCOjzTyzMtwHl5bEzdc9f6fStHRtLtdJt5IbXzNskhkbe5Y5wB1PsooAvUUUUARysoZVMZckEjABxjH+NQz3EEIDSQMoPcqP8AGppY2Z1ZWUYUghlznOPf2qhLpELWcNnGlvFbw42RpFhVx0wM0AWo5YpFDJAxyM/dHFPyv/Ps3/fIplvbywxhVlQ8AElD/jUuJ/78f/fB/wAaAG5X/n2b/vkUZX/n2b/vkU7E/wDfj/74P+NGJ/78f/fB/wAaAG5X/n2b/vkUZX/n2b/vkU7E/wDfj/74P+NGJ/78f/fB/wAaAG5X/n2b/vkUZX/n2b/vkU7E/wDfj/74P+NGJ/78f/fB/wAaAGFoxjdbsBkDO0d6yYfEelzPsSCbPGR5a8Z9ea2GSZgA0iYyDwh7HPrXKr4LI1OC/wD7QUSxLtO2EgOPf5qehE3JW5Vc6vEfaHP/AAEUYT/nj/46KcA46MuM+lH7z+8v/fP/ANekWNwn/PH/AMdFGE/54/8Ajop37z+8v/fP/wBej95/eX/vn/69ADcJ/wA8f/HRRhP+eP8A46Kd+8/vL/3z/wDXo/ef3l/75/8Ar0ANwn/PH/x0UYT/AJ4/+OinfvP7y/8AfP8A9ej95/eX/vn/AOvQBFM8MUbM8Py45G0c81Tg1DTpIWnhjDIFJJVR2HI/Srs8TyoV3qD2+X3B9fasay8NRWct3Jb3BX7Sp3LtO0Eg89ff/DFAFldTsWZ1W1clDhgEX5frzxVzTrqC5WTyImjCMAcqBk4Bzx9ax7XwyttcXFxDNCJLj/WExMc+33uBWpo9gdPikj8yNlZgVCJtCgKBjqfSgmDlb3lqXqKKKCiKMssDsq7mBcgepyawF1/WRCPM8MXazAAuivuXJ7Bsc/oK6CD/AFZ/3m/9CNPDKWKhgWAyRnkUAc8niK+lt2kh0G7LRu6PG+Q2QFPGARzk9SOlaGhajdagJ/tWl3Fh5T7U83H7weo/z+daVJuXeU3DcBkjPOKAFooHIooAhm5mRSSBtY4DEZPFZt5NdpZQyLD5dwxG+M3BIX1+YZz+Vacxj3KrxlyQSPlzTP3P/Psf+/dAEdl+9iBkdz8ox85FT+XH/ef/AL+H/GmkxHGbdjjp+7pP3P8Az7H/AL90AP8ALj/vP/38P+NHlx/3n/7+H/Gmfuf+fY/9+6P3P/Psf+/dMB/lx/3n/wC/h/xo8uP+8/8A38P+NM/c/wDPsf8Av3R+5/59j/37oAf5cf8Aef8A7+H/ABo8uP8AvP8A9/D/AI0z9z/z7H/v3R+5/wCfY/8AfugBZFVVDKzZ3L/GT3HvXBQaxqqapBbyG6eKVQyzLIxAPB5GcV3o8oHIt2B/650wRWgORZKD6+SKLkSi3azsTgKeSxzk/wARo2r/AHm/77NMLoTzC/8A3xRuj/54P/3xSLH7V/vN/wB9mjav95v++zTN0f8Azwf/AL4o3R/88H/74oAftX+83/fZo2r/AHm/77NM3R/88H/74o3R/wDPB/8AvigB+1f7zf8AfZo2r/eb/vs0zdH/AM8H/wC+KN0f/PB/++KAGXmVhby3YEjruPqK53TdS1KX7ZDeQTQSQq22QMdrjBwR7/546V0F1dW9tA8k0bhAMkeXnPIH8yKqafq2mXs6Q28bFnyATFgcDJ5oAx7O+vpLq7jmhmijjOIXNy2JP1/Wtrw7LLLFP5zHcHGR5hcL8oyATV/7Lbf8+8P/AHwKfHHHGCI41QHk7RigmEXFWbuOooooKIolDQsrDILMCPbJrKu/DdjcJ5XmXEUIxhI5CuMADGeuMAcVqxsVgdgpYguQB35NY0GvX0tm8w0G88wRb1i5BZwcFMlQBxzk4zQBAng+zVsnUNSKhmZV+0HAzjGfXGKtT+HLeaERveXf3VDMJMMxChck++0cfX1NM/4SGYDc2hapjAOBCSee2Mdu/P5840NFvptQt5Jp7CeyKvtVJhhiMA5/Mkd+lAC6LpsWlWIs4ZZpUDEgyuWbntmrtFFAEciyGRXQqMAg5Hrj/Cj9/wCsf5GkmG6ZFy2NrHAYjJ4rNvJryOyhlW3eOdyN8TTk7fX5hmgDT/f+sf5Gj9/6x/kar2WZogXeQ4UfxEVY8lf70n/fZoAP3/rH+Ro/f+sf5GjyV/vSf99mjyV/vSf99mgA/f8ArH+Ro/f+sf5GjyV/vSf99mjyV/vSf99mgA/f+sf5Gj9/6x/kaPJX+9J/32aPJX+9J/32aAD9/wCsf5Gj9/6x/kabKmxQytJncvVye4rg4db1RdUgtZftTRyqGSYMSucAkHtTsRKaha/U779/6x/kaP3/AKx/kaULuGSW6n+I0uwerf8AfRpFjf3/AKx/kaP3/rH+Rp2werf99GjYPVv++jQA39/6x/kaP3/rH+Rp2werf99GjYPVv++jQA39/wCsf5Gj9/6x/kadsHq3/fRo2D1b/vo0AU9StJ7y2eLzI1Yjg7SR94H+lYnh3wpJpOtPfi8VkcktEFOAcEZGTXQXm5IT5bMCR1yfUVz2m6rqEwu4bqCe3lgVsPk7XGDgjP8An6dKdyZQjJptao6qiuStL+9luruKWG5iSI4idp2xJ+v61s+Hpppop/OLbg4+UyF9vyg4BPWkEJqaujUooooKI4P9Wf8Aeb/0I0/cuAdw56c9ajjUPA6N0YuD+ZrFXwtZrB5C3V6IwUZR5udhXGNvp07etAG/RXODwrtiSNdc1cYzub7QSX57+n4VNbeGoob1boalqBxL5vl+edhOc4I7j2oA3QQwyCCPUUVzo8LKt6J49Wv4olkaRYI5NqDLBtuBxjOfzroqAIpzFuVZI95wSPk3VDJJZxgb4dufWE/4VNKshkVk28KQckjrj/CqE+lb7KGzXAhiI2hpXY8dMsTk/iaALaPayKpWLcMcfujwPypcW/8Az7/+QT/hSW0M0MYXMbHAB61L+/8ASP8AM0AR4t/+ff8A8gn/AAoxb/8APv8A+QT/AIVJ+/8ASP8AM0fv/SP8zQBHi3/59/8AyCf8KMW//Pv/AOQT/hUn7/0j/M0fv/SP8zQBHi3/AOff/wAgn/CjFv8A8+//AJBP+FSfv/SP8zR+/wDSP8zQBGDbqQfJ2nIwfKI5/KsqHVPDzuPLhTdkYItCMf8AjvFa7rM4CnywNwJwT2Oa5BPB14uqQXwvIkKLtdVLYccf4U9CJOStyq52J8sk/u889dlH7r/nn/45SgSDptxml/eei/nSLG/uv+ef/jlH7r/nn/45Tv3nov50fvPRfzoAb+6/55/+OUfuv+ef/jlO/eei/nR+89F/OgBv7r/nn/45R+6/55/+OU7956L+dH7z0X86AIpXt442aRMLjnKds1XS701ojIiqybSSREcEAc9qsXEcksZX5Ae35g/0rD0/w29jJdtBc/JcA4jYkhWIPP60AXhc6QSQLUZHX/RTx+lW9OltJVk+yR7ArYceUU5wD6c8YrDtPDc1tdXVxHJGWuT84aRiB9K1tEsZLCKWNzHhmBQIScAKB3+lBMHJr3lZmhRRRQURRsVgdgu4gucevJrnU8XZZIm0PVFnYcR+V16ZI9hnrXR2/wDqz/vN/wChGpMc570AY2k64+oXot/7Jv7ZdpJknj2jjoB9a2aKKACiiigCKbLSou5gNrH5TjPSs27uLuOxhmWCZZnPzRNKMr+NaU/k7lWRdxwcfIT9f6VGVtf+eP8A5CP+FADbItNEC8j8KOhxU/k/9NJP++qjxbYA8k4HT90f8KMW3/PE/wDfo/4UASeT/wBNJP8Avqjyf+mkn/fVR4tv+eJ/79H/AAoxbf8APE/9+j/hQBJ5P/TST/vqjyf+mkn/AH1UeLb/AJ4n/v0f8KMW3/PE/wDfo/4UASeT/wBNJP8Avqjyf+mkn/fVR4tv+eJ/79H/AAoxbf8APE/9+j/hQA6RDGoZZJM7lHLe4rhYdf1JdUhtJmuSsqhklHKk4BINdyPs4IIiII/6ZH/CoFtNNVgwskBHQ+QeP0pkTTdrOxbC7udzdT3pdn+0351GXhJzsb/v2f8ACjdD/wA82/79n/CkWSbP9pvzo2f7TfnUe6H/AJ5t/wB+z/hRuh/55t/37P8AhQBJs/2m/OjZ/tN+dR7of+ebf9+z/hRuh/55t/37P+FAEmz/AGm/OjZ/tN+dR7of+ebf9+z/AIUbof8Anm3/AH7P+FADLwvHEfLdgSOCT7j/ABrn9N1i9uBdw3EM9vNbq3JztYYOCK37m4s4YXkmBVAMtmNumQOmOeSKpw6nosxKxsDlWJ/cOAQBz29M0AZVnqV5NdXcMkd3EsJxG7ScSfStjw/PNPFOZi25XHys27b8oOM96b52jf8APuP/AAFb/wCJq3p0lm6yfY0CBWw48spzgeoHbFBMIuKs3ctUUUUFEUa74HTJG4uMj6msAeE4VRI11bUxFGBsT7QcKQByP5/jxit5G2W7vgnaXOB1PJrnoPGVvJDG76VqkbOm8qYCdv1NAFi78NtcTO41jULdHJLJBJs3E9yRyfT6AUreHGkshbTaxqMrfaROJTL864HyqvYAHn3/AJNn8URwSiOTStRLMMpsi3BhxzkdOv6Ve0LV49WjkZLa4gaMgMsybTznH6DP4igDNXwrIskTjX9UIjULsaXKsAehH4f5HFdJRRQBHIsnmq6BTgEHJx1x7e1GZ/7kf/fZ/wAKSXcZVUMyjax+XvjH+NZ13d3MdjDcJDcCSQjMTlQy/XtQBpZn/uR/99n/AAozP/cj/wC+z/hUFm0k0QZpX6Dpjmp/KP8Az2k/Mf4UAGZ/7kf/AH2f8KMz/wByP/vs/wCFHlH/AJ7SfmP8KPKP/PaT8x/hQAZn/uR/99n/AAozP/cj/wC+z/hR5R/57SfmP8KPKP8Az2k/Mf4UAGZ/7kf/AH2f8KMz/wByP/vs/wCFHlH/AJ7SfmP8KPKP/PaT8x/hQAZn/uR/99n/AAozP/cj/wC+z/hTZFZFDCVz8wGDjuRXDw+JNRXVIbOZ5x5qhkkCgq3QkdKdiJzjC3N1O6zP/cj/AO+z/hRmf+5H/wB9n/ClALc7mHJpdp/vtSLG5n/uR/8AfZ/wozP/AHI/++z/AIU7af77UbT/AH2oAbmf+5H/AN9n/CjM/wDcj/77P+FO2n++1G0/32oAbmf+5H/32f8ACjM/9yP/AL7P+FO2n++1G0/32oApapa3F5avGoiViBjLHH3lPp7Vzej+E9QsL+4n+1RNDMrbYvMYhGKkccdP8811d20kcR8tzuI4z9R/jXP6brl1dC7hljmt57dWzuHB4OCOKd3axMoRk03uhbTw7dW11dXCSIzXJ+dWnYgfT5f161raHYzWMUscuzDMCgVy2AFA5J57VjWerXdxdXcBW8jEBwrNtAf6cVsaBcTXEUxnL7lcDa5BK5UHGR9alEUeTl/drTX89TSooopmpHb/AOrP+83/AKEakqKNd8DrkjJcZHbk1gp4ZnijWKDXtSSNQMIZMjjH6ZGce/pQB0dAABOABnk+9YTaBcNbOj6xdST7/MjmfkxuAwBA6fxdParGhaXd6eztdatc326NV2ynhSOpHfnryT37YAANWiiigCKfydyiUZODjAJ+vT8KhkNkuPMX6ZU1NKshkVkVSApBy2OuPb2rPudNkksYbRWfZEQQ0ly7ucerHk/iaALim0ZF2rlccYU9KXFt/db/AL5am2kU8MYUrGxwM/Mev5VNum/55x/99n/CgCPFt/db/vlqMW391v8Avlqk3Tf884/++z/hRum/55x/99n/AAoAjxbf3W/75ajFt/db/vlqk3Tf884/++z/AIUbpv8AnnH/AN9n/CgCPFt/db/vlqMW391v++WqTdN/zzj/AO+z/hRum/55x/8AfZ/woAjH2YEfKQcjGVPWsmK58NM6mMRE5G0iJuP0rYkEzgLsQDcDneexz6VxsXhPVk1WG8S4gjUKFljErEOMD/Z9v/1U9CJykrWVztD5WTwevoaT916H8jThvHG1Tye9LmT+6v8A31/9akWM/deh/I0fuvQ/kafmT+6v/fX/ANajMn91f++v/rUAM/deh/I0fuvQ/kafmT+6v/fX/wBajMn91f8Avr/61ADP3XofyNH7r0P5Gn5k/ur/AN9f/WozJ/dX/vr/AOtQBFK1usbGThcc5B9ar+bphRn+QqVOTtJBGOf61YuY5JYyoVOnduvIPp7Vg6d4eurFrsR3IeGYHZEznCMQfbpz/wDroAv79F/55j/v0/8AhVvTWsmWT7EAAG+fCkc4Hr7YrDs9Avra6u7gSLIbk/Mr3DYX6fL+ta2h2c1lFLHNswWGzbIX4CgckgelBMHJr3lZmjRRRQUf/9k=">
            <a:extLst>
              <a:ext uri="{FF2B5EF4-FFF2-40B4-BE49-F238E27FC236}">
                <a16:creationId xmlns:a16="http://schemas.microsoft.com/office/drawing/2014/main" id="{8D7771B6-7AD0-4286-9B0D-068380F0C6C9}"/>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 name="AutoShape 10" descr="data:image/jpg;base64,%20/9j/4AAQSkZJRgABAQEAYABgAAD/2wBDAAUDBAQEAwUEBAQFBQUGBwwIBwcHBw8LCwkMEQ8SEhEPERETFhwXExQaFRERGCEYGh0dHx8fExciJCIeJBweHx7/2wBDAQUFBQcGBw4ICA4eFBEUHh4eHh4eHh4eHh4eHh4eHh4eHh4eHh4eHh4eHh4eHh4eHh4eHh4eHh4eHh4eHh4eHh7/wAARCAA6ATE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6U8yP++KPMj/viuN8MaX4w0vWjPqGrxalZvvDRvNNuGQv7wAgjJKn5BgLuOKgtNL+I1uqxt4nsZlDBtxtmBILlmHKseM7Rz91QMAnImx5HKu53PmR/wB8U1ZI/Mb5h0H9a4hdP+JRjWNvEmnLwSZFtCW3ZOFxsxjpk9eo966jw8l9a6VBb6rdteXqIBNOEI8w5PPAHbHanYHGxo+ZH/fFHmR/3xR5i+j/APfBo8xfR/8Avg0rEh5kf98UeZH/AHxR5i+j/wDfBo8xfR/++DRYBrSR71+Yd6d5kf8AfFY3jK11DUvD1zY6Rey2N7KAIp1Z4ymGBOGAJGQCMgd65q20j4jw29pbjxdbMEQLM72xd8AIAQSnJ4ckt1J6ehYpRutzvvMj/vijzI/74ribfQvGFwoOreKJA66itzmz3xq0KwlRFgAYUyYYjnp1JqmNH+J00DJd+LrEbxgiG1ZNvPBDBQ2f09qdg5V3PQPMj8w/MOgp3mR/3xWR4V/teHSkj16cT3wdwXSPAKbyEzjvtwT7k1r+Yvo//fBpNCaDzI/74o8yP++KPMX0f/vg0eYvo/8A3waLCDzI/wC+Ka8kexvmHSneYvo//fBpGkXaeH6f3DRYBRJHj7wo8yP++K4ZNB8bWkVw1h4vkklnlkk2XMTSJGTICqqWDEAJkYGBnGAOtRx6Z8TI5Lg/8JNp8gllL5Nuw2AAAKg2EKDgnvg/3uaLF8q7ne+ZH/fFNeSPY3zDpXH6jpHiptHs5odbmk1mz+0NvDukM5bd5QeMbUYAlM5HQGm+H7T4gpq0FxrWu2Mmmq0/nWq2mZXB4iw4AAx1PX6nsWFy6XudoJI8feFHmR/3xQJFx0f/AL4NHmL/ALf/AHwaLEh5kf8AfFHmR/3xR5i+j/8AfBo8xfR/++DRYDC1eHWpdQSbS7+3hiBUMJCxAGTv+UDDEgjBPTFVV/4TRbu0V7zS2g8wmdlHzbPTG30B6Y5I6YrrLeC4lQvHBMyljghDUn2S7/59Z/8Av2afyNFGXY5S4h8TK7CyvrNQ8h3STSM5xvBBVSmF+TI29M4NQmHxoHcrrWmMuPkBgxk/L1O3/f8Ax2+9dj9ku/8An1n/AO/Zo+yXf/PrP/37NK3kHLL+U5ab/hIZIgBcQhluwRhgu6EDPzEDu2RwOmDjrUdza6+UZorxRIJGclbljvHzYAUqAvVR1xxnrXW/ZLv/AJ9Z/wDv2ag1HTr+40+4t4oriKSWJkVwrAqSMA5HSi3kCjLsc/rEevPdRy6XdWwK7A4klZVUjO87QpD54HOMYyKoGHx1Kz79X0qFMqVWNMn/AGhkp/nNdRoWl6lZ6Vb2l0s1xPDGqSSCNvmIA555q99ku/8An1n/AO/ZpteQcsv5Tj7KLxb/AGYtvPqln9qjliBnMed6Y/eEDGM5OBkduaZd23i8Xs1xZapp4WQRgJIXKrhV3YUggchumOD1rs/sl3/z6z/9+zR9ku/+fWf/AL9mlbyDll/KcrZx+KQkpvtQsJWDRmFIgUyAfmDNt7j2/wAabpNv4lgvY21TV7W5s0tyroiYZn5wT8vIHHfPJ9q6z7Jd/wDPrP8A9+zTJrW78l/9Fn+6f4DTS8g5ZdjjP7N8Zf8AQ02v/gOP8KK7b7Jd/wDPrP8A9+zRSsx2n/KclJ4baSUXD3khn8wSOwg+V/nkYqRuztO8AjPRR+ENz4UkmSMf2ncoyggkRdQSMD73QY4HY11O5/8Ank35j/Gjc/8Azyb8x/jQRzM56Dw35cGw3lyHOwlkUqMrIz5C7sD72MewpG0CY6daWcd/NHLaMXWbyc5JJPC7sfz/AArotz/88m/Mf401WfzG/dN0Hce/vTC7OWsfDGrWxLN4p1WUlw3zA44fP9/njC89hV3+wrnZqUT6pdyw3m/ZHIpYQ7nLcZbtnA6foBW9uf8A55N+Y/xo3P8A88m/Mf40g5mcx/wjuqRq/l69fvI6rGJJC+UXeGbGH9sADHXnI4qB/CurSEyP4s1Yy+YWRgCAqnGVA345IPPUZ4xxXXbn/wCeTfmP8aNz/wDPJvzH+NAczOfk0W6Ok3Vjc6vdyidlZZpFyYguMjljwcfrVjwxpbaTFMhvJb3zCGDNGoYceoPNX9St/tlv9nZHQFgwI2nkEEcHgjI6VS0PRV0q+u7xJrqeS7CCVX8sINvC7QoGMA4xTDoa+/8A6ZyflRv/AOmcn5Um5/8Ank35j/Gjc/8Azyb8x/jSJMfxPpp1WGGMXs1h5UgcSKqkk4IA5OOpz+FUR4b1dUXb4n1beDks24g8jHBf2b/vr2FbGqWX28xhg8ZjyynajjkFTkNkdDWEvguPbKW1bWWlkORJ9oAK/NuIAHGDyD7E0y0yS58N39xpN5YyeINRZrgACRlLeWVfcMAtn265IHJNP1Dw7f3V4l3H4g1K1kA+dYlAQnagJAzkcpnGSOcY652NGshpenpZx+fKqFjvkcFjk55Oaubn/wCeTfmP8aBXZx9p4Z1yG9bPiS/FqGZwFZ8uzNuIIL8AZOOTnPPQY6fTo5rTTIraeaa6kjTa0zj5n9zyf51Z3P8A88m/Mf40jO+0/um6eo/xoBu5xtx4P827aaPX76MPuLKoAPzOrcEMO6jGQT1GT26jR4fslksQ2yLnIaKPapH5n065rmo/Dvh+3kkM1+zOZHALzRjyyVbKj2BLNg55Ge1b1hLZabFLAbqMsZmeTc6LtZu2AcL9PxpDlqae/wD6ZyflTXk+U/u36elKsjMAyxkgjIIYc/rSO77T+6bp6j/Ggg46Xwa0ty08evX6KSSwVQOrq2Mhh3QdQTyeT26fTIDYWgt32k5JGyPYO3bJ/n3rk5fB2l3G63i12/jzLlkhuIw2c5C8c8HP5mthfDMH2GO1luL6Vo53nWZpQXDMhXrngAkNx3UGmW7dzoCx/wCecn5UiSCRQyI7qehUAg1z9n4ZWCR2kv8AUrhGgkhWOSVdqb8ZI9xjAz0BNQz+EY5rkzNqOqIrtukhilWOJjkH7o6Z2qOPQ+ppWFZHpOgTEaao8mU/M3QD1+tX/PP/ADwm/If41m+GTJDo0MPkzSbMrvLLlsdzz1rS82X/AJ9ZP++l/wAas9On8CDzz/zwm/If40eef+eE35D/ABo82X/n1k/76X/GjzZf+fWT/vpf8aCw88/88JvyH+NHnn/nhN+Q/wAaPNl/59ZP++l/xo82X/n1k/76X/GgBkU53SfuJvv+g9B70/zz/wA8JvyH+NMill3Sf6LJ9/8AvL6D3p/my/8APrJ/30v+NAB55/54TfkP8aPPP/PCb8h/jR5sv/PrJ/30v+NHmy/8+sn/AH0v+NAB55/54TfkP8ajupj9ml/cTfcPYen1qTzZf+fWT/vpf8ajupZfs0v+iyfcP8S+n1oQEvnH/nhN+Q/xopPNk/59Zf8Avpf8aKAON3Sf881/77/+tRuk/wCea/8Aff8A9al/eeifmaP3non5moPHE3Sf881/77/+tTVaTzG/dr0H8f19qf8AvPRPzNNXzfMbhOg7n3oAXdJ/zzX/AL7/APrUbpP+ea/99/8A1qX956J+Zo/eeifmaAE3Sf8APNf++/8A61G6T/nmv/ff/wBal/eeifmaP3non5mgBrNJvX92vf8Aj/8ArUu6T/nmv/ff/wBakbzd6cJ37mnfvPRPzNACbpP+ea/99/8A1qN0n/PNf++//rUv7z0T8zR+89E/M0AN3SeYf3a9B/H/APWpd0n/ADzX/vv/AOtSfvfMPCdB3NO/eeifmaAE3Sf881/77/8ArUbpP+ea/wDff/1qX956J+Zo/eeifmaAE3Sf881/77/+tSO0mw/u16f3v/rU7956J+ZpH83aeE6epoA5O6g8LzGSC51KHJRl2tchSqHehA46ZmYZ55I5qS18KaDdQzyW6ySW88m9gtwwG7BHBxkdfWqElr4Fmu2ZhB5u91YKZAGfOWyAME5UE9/lz2rrNIMf2Qi1keRVcq3ms5dWHG07uRjjiixbk0WIEeGCOFUUqihRluwGOwpztLtP7ten97/61O/eeifmaR/N2nhOnqaCDi9Q03wheXIN5fwGVI2jTdcqpjQvj5flzw7jB65I5rd8LaZp2nWsjaUBIkrfNI0mScds49z+ea5+S08ByGW7drRPKciQeY65fcM/KPvHIXP0FdFZalpds72K6hH5kbgMJ5W3AkZAy3tjA9KZb2NXdJ/zzX/vv/61G6T/AJ5r/wB9/wD1qoya1YJH5n2y3dMsC0ZLgbcbidoOAMjJPTIp9vqljcXC29vf2UszAlUSYMxA68CkTY67QGuP7NXbChG5usnv9Kv77n/nhH/38/8ArVQ0D7R/Zq7VixubqT61fzdf3YfzP+FWepT+BBvuf+eEf/fz/wCtRvuf+eEf/fz/AOtRm6/uw/mf8KM3X92H8z/hQWG+5/54R/8Afz/61G+5/wCeEf8A38/+tRm6/uw/mf8ACjN1/dh/M/4UAMie43SfuY/v/wDPT2HtT99z/wA8I/8Av5/9amRfad0nyw/f9T6D2p+br+7D+Z/woAN9z/zwj/7+f/Wo33P/ADwj/wC/n/1qM3X92H8z/hRm6/uw/mf8KADfc/8APCP/AL+f/WqO6e4+zS/uY/uH/lp7fSpM3X92H8z/AIVHdG5+zS/LD9w9z6fShASbrn/njH/38P8AhRS5uf7sP/fR/wAKKBnG4k/vJ/3z/wDXoxJ/eT/vn/69OorO54w3En95P++f/r01RJ5jfMvQfw/X3qSmr/rG+g/rTuAYk/vJ/wB8/wD16MSf3k/75/8Ar06ilcBuJP7yf98//XoxJ/eT/vn/AOvTqKLgVb64+yRCaVsqCFAWMkkkgAAZ6kkVV0vWrXUb65sreRhcWwBlSSEqVz+NWtWRZLCZXVWXy3OCMjIGRVHw9bwQ3V35MMcfyxj5FA/h9qY7aGtiT+8n/fP/ANejEn95P++f/r06ilcRTvbsWkkYk3O0nCLHEWJwCScZ6AVT0/xFpV/cQW9rfxPLPEJY18thkHP5H5W49jU+uxRTW6rLEkgEseAyg9Wwf0JH41Q0iwsYdZMkNlbRuu4KyRKCBtHTA9z+Zpoqytc3sSf3k/75/wDr0Yk/vJ/3z/8AXp1FK5I3En95P++f/r0jiTafmTp/d/8Ar0+kf7jfSmmBxZ17wbDNNEypG2XEn+jNgkEI3Q9f3n1wc9BXT6QI/sebaN4UZixEqEOxPO45OTn1NVJtO0+S+ieSwtXYLwWhUn7x9qt6DHHFpqrHGiAuxIUY/iI/oKOhUti5iT+8n/fP/wBekYSbT8ydP7v/ANen0j/cb6UJknB3OpeBJJ5I7iGPcCQ/+jvgkOinODgncy9ee/aumOm6dq0ImmshgsDiWNlbIAAJGfQLj6A0ybTtPkvonksLV2CjBaFSep9quaDHHFpkaxxqgLMSFGOdxo6FMij0PT47SK1jtolhi3bFAb+L7wPPIOBkHrSWGg6Xp8qy2djbQOrbgyIeDt256+hIrUoouTdnQ6As/wDZq7ZIwNzdYz6/Wr+24/56xf8Afs//ABVVPD3/ACDF/wB5v51oVR61P4ERbbj/AJ6xf9+z/wDFUbbj/nrF/wB+z/8AFVLRQWRbbj/nrF/37P8A8VRtuP8AnrF/37P/AMVUtFAFeJbjdJ+9i+//AM8z6D3p+24/56xf9+z/APFUsX3pf9/+gqSmBFtuP+esX/fs/wDxVG24/wCesX/fs/8AxVS0UgIttx/z1i/79n/4qo7pbj7NL+9i+4f+WZ9PrVmo7v8A49Zf9w/ypoBNtx/z1i/79n/4qipaKQH/2Q==">
            <a:extLst>
              <a:ext uri="{FF2B5EF4-FFF2-40B4-BE49-F238E27FC236}">
                <a16:creationId xmlns:a16="http://schemas.microsoft.com/office/drawing/2014/main" id="{4204A776-377B-48FA-9C90-FEC3D04CAF3E}"/>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4" name="AutoShape 11" descr="data:image/jpg;base64,%20/9j/4AAQSkZJRgABAQEAYABgAAD/2wBDAAUDBAQEAwUEBAQFBQUGBwwIBwcHBw8LCwkMEQ8SEhEPERETFhwXExQaFRERGCEYGh0dHx8fExciJCIeJBweHx7/2wBDAQUFBQcGBw4ICA4eFBEUHh4eHh4eHh4eHh4eHh4eHh4eHh4eHh4eHh4eHh4eHh4eHh4eHh4eHh4eHh4eHh4eHh7/wAARCAATALQ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7HubiC2j8y4mjhTIG52CjP1NedX3xE1D+0X+w2Fq1jDIVlZ3Yvwcdume2Ac16FfpBJZypcwefCV+aPZv3D0x3rwvxN4A8T6rJdHQ9Llt4DHPHAtxdeS0TsQUfHfA4/wD1VzYmnXnFeyly23/T/gmkMRSoKUp0+d9Ft6/8A9e1DxTp2neHbHWr2O7Ed6Ykhigt3mlZ5B8qhUBJNaOj6nZatpdvqdhMJbW4jEkbkFTj3B5BHQg9DXN6v4Tuda8H6Bo9xeTWUthLazTyQSssmYl+YK6nIJPesfWfhfayvdvpsen7TBZQ28F3EZEaOCRneKU8lkkLAt1yRk5rojfl13Jdnsej7h6ijcOORz0ry5PhLBL5Ml9JYTyxJZJGDASsKRXMkssUYJ4Rkk8oD+6MHjis23+Gd6vjCK1Fvp/9mWkEDQ3UkDZt0F9cz+TbjopEbJGf9lvTimJrRs9b02/s9Ssob2xuY7i2nXdFIhyHHqKr6RrWn6tLepYySOLK5a1ldomVDKv3lViMNg8EjOCCK4TwT8N7jw5qugzQx6JDDpdvLbyPBb/PKhLFdqlcRsd2WZSCcYORjFfVfhT5lo8NiuibZb7ULiSKe0PlqbpwyzKF/wCW8QGFb/aOCKAt/X3/APAPTNRvLfT9Pub+6k2W9tE00rAE7UUEk4HJ4Brm/wDhYPh4Xt1ayJqsZtbUXk0r6bMsQhOdr79uCDtbGOuDVSLwVcWfhjxLp1jNZtf65cTNJdzRnPlyfL85HLMqlsds+mTUmr+CpbtNWjhvkRL3Q7fSo96ElDE0p3nHXIkHHsaatf8ArsCt/Xqv0ubWveJdN0a5htbhby4uJkMghs7SS4dYwcF2VASq5OMnvUlz4g0q31qDR5bhheTusaKImI3MjuAWxgHbE55Pb3Fc7488IarrNzdTaRqUNodQsEsbkyGRHiCOzpNE8ZB3qXb5TweORg5S/wDC2uMmnalZXFgdXt9WfUJxdFzE6mGSFUBUZG1GTtyVPrSQv6/D/PQ6xtTs11ldHMh+2tbG5Eew8xhgpOenUjjrU9rOtxbxzKsiCRQwSRCjgH1U8g+1c5qej643jPT9fsZNO8tbFrO7im3g4aRXLRkd/lIwa5LS/hLJaC0n/tOBNRtxbxrfRRETJElk1u6q2cjcxD46cDPQYOn9d/8Ahh2R6Xqeo2mm2guruXZCZY4QwUt88jqijj1ZgPxpdOv7PUbOK8sbmO4t5c+XIhyGwcHH4g1wfhH4dzaP4EPhuSS0Rzf2107xySSJL5UsTsSr/dL+WcgZGTnmsXT/AIQzWV3oMkb6Z5GkmVY4YfMt1UmbeJ1CceYQdrA8EAc44puwul+p69uXOMiq2qajZaXp02oX1wsNtCMu5574AAHJJJAAHJJArzbSPhFa6YljJbNYR3VpHpu2ZISGEtu5M8gOchpUIQnqQADkAVq6J4FvLLwFJ4f+0WFpPHfJeWRt4N0cLRyJJGH4VpfmQbmb5jk8k80u4+p2Gi6pBqtn9qhgvLcbymy7tngkz/uuAcVdLL6j86888XeDPEHipLCbVpNBNxDHPA0Zikkig8wpi4izgidNh2nj7x5HfP1L4Q2l79vlkexkubtNT3TyQFnMlxIHt3J7mLBx6FiVxk0ILeZ6mWHPI4qO6uILW2kubiVI4Y0Mjux4VQMk/lXkWnfD3Xby+8RXv/Ev0+a4uL+KKaS3LTXSSuuBKTkGLCkqBnBbOMg5uaX8Kp7XT7bTrw6PqNqNOmsSt1C0psg7zMGt92cZEoVs4yI157UPYElfU9StZ4bq2iubeRZYZUDxupyGUjII/Cis3wZpbaH4V0zR5IrOJrO3SEraJsi+UYyo7Z6/UminK19CVe2prUUUUhhRRRQAUUUUAFFFFABRRRQAUUUUAFFFFABRRRQAUUUUAFFFFABRRRQAUUUUAf/Z">
            <a:extLst>
              <a:ext uri="{FF2B5EF4-FFF2-40B4-BE49-F238E27FC236}">
                <a16:creationId xmlns:a16="http://schemas.microsoft.com/office/drawing/2014/main" id="{0AD60BAE-1AFD-49B6-B834-C7D7B3CFE0D3}"/>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5" name="AutoShape 12" descr="data:image/jpg;base64,%20/9j/4AAQSkZJRgABAQEAYABgAAD/2wBDAAUDBAQEAwUEBAQFBQUGBwwIBwcHBw8LCwkMEQ8SEhEPERETFhwXExQaFRERGCEYGh0dHx8fExciJCIeJBweHx7/2wBDAQUFBQcGBw4ICA4eFBEUHh4eHh4eHh4eHh4eHh4eHh4eHh4eHh4eHh4eHh4eHh4eHh4eHh4eHh4eHh4eHh4eHh7/wAARCABNAaM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68smhtbVQ0yCOMcucAY968m+KvhLVPEfiKa60jWdCFjdtbGdZrjEimI9Rjgjrx349K2PHUm/4MeIWDf8ALq+CD/tCvkGPczqvmOMkDO41jUlbQ8jM8SqbVOUb9d7H3N4Lh0/QNKazl1mwnZpC+5JAo6AdCT6VzUGk6ukdrZt4u082cN/HO0fmptMKTeYEAxkHATnPUGvm+bwraNbvLa3k7+Xei3YiUMCmVBb8Nx/Kua1y2+w6rcWiNJtjcqMybsj1zVwxMqa0Rms3nRjZQ09f+Afedymm61Zy2jSxXMRxvEcgOD26VFp2ki0v55YysVs8YjWJCefVjnv24rw79jUsYfE2WJ/eW/U57PXsniHX7vTLyWCDTJrsJFFIpQHksZAV+vyD86cZcyuenha/t6SqWtc3TFi3MKMyfLtDZyR71k6ZoFrAbae5iR7u3JxKrN8xPG4574rEuPF+oQTtHHYJex+U/lzQ7trSYQov0yzAnttzW34U1abVreeWdBG6SFfLCkbfxPWqOg1441jZ2XOXO45OeawfGE91o+gahf2VwwuJJIwhcBhHuZVOB+JNb8zFIXcYyqk815d4o8U3+oeG1trmwSP7RPGySgkKyLImcf7QY4x6YNZV21Sk12f5Ez+FnZDSfERAP/CUn/wBX/4qg6R4ix/yNJ/8AV/+KrR1q4mtdN82GeCBsgbpVLA+wA6k1atHlksopJ0WOVowXVTkA45GazVKF+XX73/mTyxvb9WZfgfUbjVvClhqF2ytPNFlyBgE/StquN8E3Utl8LbO6hj8ySO3yq4zk5p3/CVX8dx9mudP8kkLH5xVtiSZBYtx02sDj1BFaUG3Si32Q6bvFHYUVyth4mmuLfUpwm4WkQdFMRUuMDLc/wAqS68VXAvLqOzsftEMar5MgDASnIVwDjHBdPw3elalnV0VyX/CU3UN0i3NvEIt0izkZ/0baSFD/wC9jI/Gtbw7e3179oa9jSPaU2oFIIyoYg564zj8KANeiiuL/wCEq1NdOS5ezUTG3WZYGRg0u5Sfl9lxye/NAHaUVw6+MNUQtFJpJaT5VQgEYffhtw/h+T5h64NW7bxed6NdW4SP7IZGxnPnBUJiHvliPwoA62iuZ0LxFc31/b2t1bi3dlZZECnIkXOc55UEYIJ65rpqACiuX1TxJc2eoXkKwJMIpPKSJVO/JjVlc+qlm2/lUL+JtQ+yNcx2m92hj8u28tt/nFiGQ/7uxj07UAddRUGn3KXljBdxghZow4BHIyKzvFmp3el2UE1nbmeSSbYVCk4UI7E8f7v60AbFFccviq+a3MkdqkjSySxRAKcIyHPJ7jYGYHvjFQJ4w1H7B9pSxW4dpnhEaqVwVOQc9wUV2/4DigDuKKp6JdyX+lW97JF5RnQSBPQHp+lR+INQfS9ON8sJljiYeaoBLbTxkAehI/DNAGhRXFReLNQSW8F1bRr9jXfIiqTlRKyPz6qq7vetzwnq15q9lLPeWX2OSOTymjyThwBv/JiR+FAGzXM+F/8AkbvE/wD13g/9FLW/qEzW9hcXCLvaKJnVfUgE4rzLS/GtvoHiPWj4gsr2K4u2imjWG2Z8xiMDccdOnSsK7UXBvv8AoyJu1n5/oz0XXrq4s9P8+2EZcSxqd+cbWdVPTvg1frhbj4neHYwFnstWweQDYue456epFRH4teF9hfydV2jGT9ifjP4Ue3p3vcXPG+5yup/E6DQ/iRq0l1pFw0WxLbhgGwhb5sHsd1dJB8YfCNxYTSrcTQXKRMyQzREbmA4GRxya56bXPC2teJtS1iXRLm6tJLJArSw+V80e4ty2OcEY9ayfHfhPRZfDdzqmh6PdWtxHeLboshGHz1IA6fjXLH26g5U3dXelvM+iwVXKMRyU6tJwe11LT1d9l1PQfhr8SNN8VxrZ3Oyy1VR80BPyye6Hv9OtaMF94m1LU9Tj0+bTIbezujbqJo3ZjhVOTj614FovgfWpLuGSaddNxIyiZiQY2RC5PHpivbvg299JpGqNqNx9puv7QcPNjHmYVcMR2yMVdCVaSUaqsdGZUcuoynUwUlJdmm7arZvc1dvjD/oIaJ/36f8Axo2+MP8AoIaJ/wB+n/xrS1W7NhoxuIoRLNtVYkxnc54HTnHc+wrn/wDhLpww3aWypKSIjtOd4jyyEY4IfA+n0rq5F3Z4EseouzjH7kXtvjD/AKCGif8Afp/8aNvjD/oIaJ/36f8AxqG38R3Nxau0dgn2mN4keE5BBYAE8joHP5Cq7+J7pJ/LeK3BXJl2qTtAYfc/v8HtzS5V3ZP9or+WP/gKDW9J8VaxYGxm1TSURmViY4nzwc45qhoWn+JLi/1HT7nW1L2MkaFo9yq26MsDjtjevHfbzXeNt3QsABlvT2NYXh3/AJGzxL/13g/9ErQ1yyWv9WOmNRVadS8Vor6K3VL9SLw94f1LTb20luNQS8WBJoy7ZDFXKEADpxs/WrWs6Nd3VxZTQXnzW6TKTLjJL7cHgdRtrdorU4TlF8Pa5shSTXpnKTI7yK5VnUA5XGCBk4P6dK6DRbR7DSLSykk814IljL/3iBjNW6KACiiigDyiX4fweE/hQngm21vUb21u72O3a4u28yVY5ZACoPoO1cA/wl8Ho7J/aOqcEj/UJ/8AFV7X41nWbTdMaO4injbVbXDRkEZEq9wa4u4/4+JP98/zrlqRTm7mWYVfZUKcoxV25bxT7d0zhT8J/Bg66jqY/wC2Kf8AxVKPhP4OxxqOqY/64J/8VVzWrG+k8TxTSXOLV0EahF5AJ6HtWpoDNmaIK/lIcAsc5NcNXEUoYqOHjrdbpvR9mXDB1pZdLGtRVunJDVXtdO36Fv4e+GNP8L3EtroOu6tbG/kjWQiCPBI4Gck+teiyaFrEa7pPGl8g9WhiH9K4/Rf+QzZf9fEf/oQrrPiHaahcW0ckCRyWkY/eqR82Seor0adOLX/BZGX4+tKDWll/dj/kQFdW03xFpEJ8TT38VzNJFNFJFHgYjLD7oz1Fdc+5ELvMqqBkkrwK8dZJLfWvDxtmlMzXLkYOT90j8a9M8Sato0Hhi6vr6/jWx2lWkRgSSOw9TntVRtByu9P+Aj1K8Z1lScY3bXRdeZpbDtT8QaXp+kT6rc6nALWAfOwGST6AZ5Jrxufx74j8WXN8sdqkehq8Q2+X8y/vU2kt6n0rAsbLWPiJ4ka3tPNi05Xzz91FHQkdC2K9kh+HdnD4c/siC7aAFUDvGuNxUk5PPXJH5CuOTqYpPk0jr8/+Aeji8Nh8tw0qNRKVea+UE/8A278vz7G5tba7gWK6gSZBghXGQD61KiLHEI41CqowoHYVwK+AtdAH/Fcaqank8D6kqZ/4S/WO3/LSuq9S9+X8f+AfOXl2ND4YLJ/wgml4kAHlf3fc10h3g4Myg+m2uY0/wpcWctraLfu2k28ahYN7K28D72R79q2tR0truQsty0W6MIcDJyu7BB/4Efyq6UXCnGL6JDgrRSLxEmQPNXJ6fLS7Zf8AnoP++ayDocnnK/8AaEpCElQ2TgHtnPT9a04rYLZxW8kjybAo3FiCxHetChJ5fIjkkmnVEjXczFeAKg0/ULe+DG2ulYqcEFMH24NWLmCK5SW3mXdHJHtYeoOazNL0GHTplNscIH3EsxLHjAB+goA1Y2aRd0c6MPUDNO2y/wDPQf8AfNZEegiKFUhvJkIjVCcnDEA84BHqPyFEuizAM0V/MXZ8nczYI3Zx1/zigDW2yf8APUf980MJFUsZRgDJ+Ws+w0l7W5Wb7ZJIBywbPzfKB6+1aKxosjyDO58ZyTj8qAIbedZwTHcKcHH3cVJls489M/7tZs2msdRgmi8pURyzYPJ5z0om0VnZmS+mjZmdsjtuYtx+dAGptl/56D/vmkxJkDzVye22sptEm8tVTUp0w2Sckntx1+v50S6IzbW+2Slo87DuO7krxnP+zj8aANbbL/z0H/fNG2X/AJ6D/vmoLG1aK3g8+RpZowdz7jyT14q1QBGvmMP9YOpH3aP3mcecufTbTovun/eP865rxDLdQw+dZ+UJFufnZ32kLuxQB0m2X/noP++aRhIqljIOB/drH0nVJ7qKK4EkMqM2yRUOQpzjg1tS/wCqf6GgCGeZYNvnXCJuOBletPJZThp0HGeR29etUdWsbq7lQx3EcaIAVVlyQ3r+VN1DSGvvJaa6ZZFiaJyi/fDYyPxwKANELIRkSj/vmmmLeclo2567Aay00Jgm1tQuW5GDuI7j0PoMfjSLoMg/5iM4G4s20kbifXmgDU+zj/pn/wB+xSGEAgfu+f8ApmKr2em+R5qyXMsqSKq4LHII75z3q6/30H1/lQBkteaZdF7ZpI5NhDOnlHHsT6itNSxcoJ0LAcjb0rnv+EfuoL6S7geCSR02c8YAFak+lySeYEujGHdn4X5gSPUHt2oAvsJFGWmUD3WuO0vVBpGr65DdWuoEzXxmjaKyeRWQooBBXjsa25NDkb/mIzFd5bDZODxz19qcuiyrkJqEyg9hnr83PXr836ColFuzTN6NaMFKMldPzt1uVU8WafHEAbLWMKOSdOl/woXxhprOUWz1csOoGny5H6VYfRJ22r/ak+wdVOTk45796s3OmPI8jx3ksZkfccdvlx2/Olyz7/gV7TD/AMj/APAv+AUP+EssP+fHWP8AwXS/4Uh8XaeOtlq4/wC4fL/hVoaNIrB11G4DgcEsx545xn2P51GmhSBldtQmZwchjnj73v8A7X6Ucs+/4D9ph/5H/wCBf8AryeKrFtpWz1hSpyP+JdKf6VD4QkmutZ16/WK4ghnni8sz25jLARKCQDz1FXxpN3FcwNHfTOgdWfex4x179/yrWESrG6rn5sk5Ynk/WjkldNsHXpqEowja+m9+qfZdisl9bvP5CX0TSZxtA5zVhSzFgsykqcHC9KwbTQb6DWYLz7cvkRjDRAHnrV7+yH2xqLtlEYYLtBBbJB+bB5PB/M1ocpo7ZP8AnqP++aMSZx5q59NtZD6FM67W1KZlxyDnngD19qdFosy3a3DahIxD7sYI4yDgc+1AGttl/wCeg/75oqJrKBmLHzMk5P71v8aKAOT8UwafaaVpdrp1rbWsCarbERQ7VXJlBPC/jXJSsrzylGDASMDjsQelQz/8f2lf9hO2/wDRgrI1PRtt9czNqrwGadyoGQMtIXxjPJ5/SsqseWbRXEGFVClRhf8Am/Q2nXcuG6ZB5FMiaLcYo5ELJ95V6j8KyIdA2FWk1GeZlcOC7HGQwPTPoMfjTrvRHuDKUvjCWkkdWRMMN7biCQcntis7Lc+b5vd5ebQ6TRf+QxZf9fEf/oQr1KVlnt38mcJ23rg7a8W8K6PJa+JdOnGoSSRpMAY8HDFnzk816jJoMaJsbUJUjfK4zjczKF7HnpwK1pnpZekoysch8TpE8Lw6frMdx84kmKEIBl2iYD9TXz+Lm8uIls2nuJIPNMnkhiRvPVgPWvoL4j+F7fXrzQtNbUZPJlunVudwUiNm4568gVr6D4C0Hw1ZyS29slzNlSHlTJHQf/Xrhr4Wdeq9bJf8A+/yzO6OWYOK9m5Tl8lZOVtd76voZPwm06902xkhtbSWC1ktzIrSpglz0611kTa8qCFkDEbSZDj5vn5H/fP8zSaNraz389m+FW3j3MQm0DgZ/rUi+Ircwo7QuG3Ydf7g5IP5CvRSsrHydSbnNyfUU3WtAoBZqwP3jjGOOfyOcevFXrA3J05Dd587cc5GON3HH0xS2V79qjSRYZAGdl/3cHqasTf6v8R/OmQZfiO61SyjS6sYo7iNDh4NpLyZ9COmKjkm1qT7PdQw4U26M8Bx987sj8OK26KAMQz635yEwgIFbdtTI6rg+pP3uO1aq/aGgiLbI5eDIOo9wKmooAjdQ7spzgqOn41R020kju5mlkmZUbbGGPBGOtT6k0iWs7QyeXII/lbGcHNZOkXGoPqMKTX3nRMpJAQDtQMkQa6sVuGbLbFMpwDz3GKu6XLqcsmb2FIl2ZwBzuz0/D+tQLrsCxkzxurr99FGdpJwAffjtVy0vftESyLbyrmRoyCPu7SRk/lQIsRiQF/MZSCflwMYFPoooA5mzinOpwyMswCvjrxir88uqRh/KhkklMrAg42Bcnbj8MflWvRQBimfWVtwv2fdKQVJx06YOe/GT9eKb5+uNIQLcBVyBkD5zxjJ7DrzW5RQBjPca5jclvGVAPVec49PY8e9akHntteTABQZTHIbvzUtFAEYdEXLsFy5AyfeiSCGTPmQxvnruUGq9xatcPHIsoRoy45XcDn+vFU/7EYkM+oTnHQBmA6Y9fxoAs2mm2duqpb5RN24IuME5z6etXZf9U/0NY6aEwTb/aE20nJ25GfmB9fw4q1YWDWUc7PdS3BcdXJ460AVNft76a6ja23BFUE4zz97jj6j8qffrq6rALHp9nKOGx8rnGG59Oai1/UNRtb6GGza3CSKB+8HIPPPXpxVp9QlhhtnmVGDxs0jLnjaMnAoGV1utdVFDWiFt2D7DH69jx9Kd9q1tlwtmgYKxO7gE4+UfjT2161V2Vo5Rh1QcdSTj+ferFhqSXdv5kcMm4MqsuORkA5+nNAhllJqUolWdEjO1SjbTjPfIq8/3kzz1/lT6Y/30/GgDIt4bpboNCQOT98Hp/8AqpJ31yK6kaNBLCZGK5x8i8ADHf1H41T/AOEivC9xttkZIcZYMOM+vNan9rxpLIssbALIUUqCc4IBP5kUDI1l1tluUkt4kxA3lOh6vjjii4uNYDO9tah4+NqvwT6/TFKmv2h2Fop0V13BmTA6A/1FOh1mKeCSWGGTCuqAvwCW9fQCgRJZSalKsqzqkbDbsbacH14rQrIm1yOOTyxBI7LII3YD5Mn0Per1peJdRRSxRybJM8kfdx2PpQBZooooAKiu932Wby1LPsbaB3OKlooA4vwlL4hj1dbK9mmnso12pI4Ulhg8seu7IHbGCKfLeeJ7OVpFSS5i8wookix5hZ1AwByoAJ9Qcda7Gih7thfRI5K2vPF8cgjns4nVXUFguS6k8kY4Hfg9MD1rprVbpZJjcSxuhfMQVMFVx0PqetT0UAFFFFAHkWpafe2s2mTz20iRrqVtkkf9NBWlqngbVNSUMs0MPzl1dW+Zc+h7GtvxXZXl9pkaWEcck8N1FcBHfaGCNuIz26VFeT+N5Rbtb6PbogUDal6MZ9Tx6VnUd6jbR6eYU1j4Qcmk436pb27s5d/hbqjLt/tDCnIYBj8wKbfX8frU0Pw01KO9guftKN5BYqpc859eeTWrBD8Ro0ZWhtzvRAf9MB2kOWODjuMA+1act94++xTKNB03zy37ope8Bc8ZyvpU80ez+5nmf2Sv5l/4FH/MztF8GX2m3UDwx26RRziVlWQnJ3ZPWuv1O1kvljWRJYwh3DYy/e7H8K5nd49e0ljbT4Fkd0YOt4uVAIJA46HpUYuPiR5j79JsAiAbNl2CW45zkdf601OK6P7ma0su9lflktf7y/zLGr2X2XXfD0flvJvvpJDkgciAjt9K60yTEYNsSP8AeFcG+n+ONTudNa+t4LU2N15vnJcBmZSuCMY9zmultl8QSW10J5Fjc27CHAG7zSOv0B6e1Onq5P8ArZG2JSjCnG6bS6NP7T7Gmq7S5WxUFxhsFeR70rLubc1irN6naTWG/wDwlLpIuUTO4KVxuHHynJ49OPXNS3K63JpwUtKlwXlAaPHTadhPp/jWhyGyjSRrtS12r6AgCiR52XH2c9v4hXO21tr0abpmuZZFGceYoDJsxt9mJ/KtbQEvI45lu3mcgrtMn+4M49s5oAu+ZN/z7n/voUeZN/z7n/voVNRQBD5k3/Puf++hR5k3/Puf++hU1FAFZjKxbdbblK4ILCmxxiNwyWQVh0IIq3RQBVCYxixQY6fd4p6tIudtrjJycMOtT0UAQ+ZN/wA+5/76FHmTf8+5/wC+hU1FAEDTTKpY25wBn7wqSKRZIlkHAYZpZTiJz/smuXsNBu1s1j/tG5SMDEYAz8pUDpnjnJ70AdVRVTTo5bWzSCRpJ2XPzkYJ5+pqfzG/55vQBJRUfmN/zzejzG/55vQAsZARieAGP86cwV0KnlWGD7iqWo27Xdi9sC8ZZg27bkcMGwRnkHGCPSsx9DuJJWZtSvApk3hUG0LznHXpjj6UAb8aoqKiY2gYAz2ol/1T/Q1zMHhu5ihWMavejaOCqY5weevXJB9PlHFbGl201np4tZp57p8sTK4wTkk0AW5ra3mIaWFHIGMsM04rEqAMqBQMDI4ApPMb/nm9U9XtW1C1EILR4cNkpuB4PBGR60AW/Itzj9zEdvT5RxinxpGg/dqqg8/KMZrmn0C+DKsOq3KxHO/K/MPQjnr/AJ5qXTtGvrPUIpf7SuZrdRzERtAwMAdTn/61AHRUx/vp9TSeY3/PN6QsxZT5b8UAQNpensJFNqmJcbx/exVkxRnGY0ODkZHQ+tJ5jf8APN6PMb/nm9ACmGIjHlJj02igQwhCoijCkYICjBpPMb/nm9HmN/zzegAEEI6Qxj/gIp6KqKFRQqjoAMCmeY3/ADzejzG/55vQA/cM7cjPpS1i3mkvPfPdxXVzA7yRuwUDG1Bjb179aq/2Bcqn7vVr4PsC7mG4HggnGe+c0AdJRWboVnJpmnravNNdMGZjK4wWJOTnk1e8xv8Anm9AElFR+Y3/ADzejzG/55vQBJRUfmN/zzejzG/55vQBJRUfmN/zzeigDPu40junCKFHl9vxqK81y202a0tbhHxLEXMgI2oAOSaVi7Ozu5YlCP0NXha21xbx+fBHJ8gHzLnjr/OmzWqrWuUk8R6W+NszknAA8s8kkAKPfJHFSWutWl3OYbVZZWEbOGCYU7SAVye+TUi6PpquzfZUJZQpzk4A6Y9OnWrEVnaxMrRwIhUEDaMcHr/KkZGbD4jsjbrNOkkGU3srYO0YBHI4JwR0pJ/EdnHbQXCxSyRTTNGrLjAAOC3PbvWhLp9jLEYpLWJkIxjb9P8AAUNp9i0SRG1j8tDuVQMAH6UAUD4l0kF8zkJGdrNjgHOP/r/Snf8ACSaV5cknnNtjAL/IflBIC5/3sjHrVn+yNM2bPsMG3Ocbe9Pk0vT5CS1pEcjaeMZHGPywMemKAKmo6/Y2VsLiTe0ZRJARxwxOOvsrH8KcmuWRguZ23JFbkbm65z6Y+lXDZWrTJK0Kl0TYpPOB/kn8zTf7Osfs5t/ssXlHGVC8cdKAKq69prIrpKzIwJVlQkMAQMj2yQPqabJ4i0qOMs07AjIK7DuBABPHtkVa/svT+gtIgOeAOBkc/wAh/OgaXp4bd9ji3bduSvagCva67Z3MiRxrKGZ9vzJjHJAP0yKrT+JraG7EEltOByS+VwAGK56+xP0rSTTbFJlmS3RXU5BHY03+y7Alt9sj7gynfyCGzkY/E/nQBkx+LrSby/Js7mQuGOPlBGADjBPowroIZBLCkgBAZQwB96h+w2m2QLbxoZAwYquD8wAP8h+VWI1WONUUYVRgfSgBaKKKACiiigAooooAZN/qX/3T/KoLSI/ZY/30v3R3H+FTzf6l/wDdP8qqWl1/o0fyfwjvQBa8o/8APaX8x/hR5R/57S/mP8Ki+1H+5+tH2o/3P1oAl8o/89pfzH+FHlH/AJ7S/mP8Ki+1H+5+tH2o/wBz9aAJfKP/AD2l/Mf4UeUf+e0v5j/CovtR/ufrR9qP9z9aAJfKP/PaX8x/hR5R/wCe0v5j/CovtR/ufrR9qP8Ac/WgCXyj/wA9pfzH+FHlH/ntL+Y/wqL7Uf7n60faj/c/WgCXyj/z2l/Mf4UeUf8AntL+Y/wqL7Uf7n60faj/AHP1oAl8o/8APaX8x/hR5R/57S/mP8Ki+1H+5+tH2o/3P1oAl8o/89pfzH+FHlH/AJ7S/mP8Ki+1H+5+tH2o/wBz9aAJfKP/AD2l/Mf4UeUf+e0v5j/CovtR/ufrR9qP9z9aAJfKP/PaX8x/hR5R/wCe0v5j/CovtR/ufrR9qP8Ac/WgCXyj/wA9pfzH+FHlH/ntL+Y/wqL7Uf7n60faj/c/WgCXyj/z2l/Mf4UeUf8AntL+Y/wqL7Uf7n60faj/AHP1oAl8o/8APaX8x/hR5R/57S/mP8Ki+1H+5+tH2o/3P1oAl8o/89pfzH+FHlH/AJ7S/mP8Ki+1H+5+tH2o/wBz9aAJfKP/AD2l/Mf4UVF9qP8Ac/WigD//2Q==">
            <a:extLst>
              <a:ext uri="{FF2B5EF4-FFF2-40B4-BE49-F238E27FC236}">
                <a16:creationId xmlns:a16="http://schemas.microsoft.com/office/drawing/2014/main" id="{B5A6DAA8-9D69-4D0B-BE68-247FC962F4BD}"/>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9" name="Rectangle 18">
            <a:extLst>
              <a:ext uri="{FF2B5EF4-FFF2-40B4-BE49-F238E27FC236}">
                <a16:creationId xmlns:a16="http://schemas.microsoft.com/office/drawing/2014/main" id="{3E3A7148-F96A-4182-B1B8-F4AFB103084B}"/>
              </a:ext>
            </a:extLst>
          </p:cNvPr>
          <p:cNvSpPr/>
          <p:nvPr/>
        </p:nvSpPr>
        <p:spPr>
          <a:xfrm>
            <a:off x="3776870" y="3776869"/>
            <a:ext cx="4577233" cy="2534478"/>
          </a:xfrm>
          <a:prstGeom prst="rect">
            <a:avLst/>
          </a:prstGeom>
          <a:noFill/>
          <a:ln w="1905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0" name="Rectangle 19">
            <a:extLst>
              <a:ext uri="{FF2B5EF4-FFF2-40B4-BE49-F238E27FC236}">
                <a16:creationId xmlns:a16="http://schemas.microsoft.com/office/drawing/2014/main" id="{7A266BD3-047F-4A0A-89C7-1CA10B71EFA7}"/>
              </a:ext>
            </a:extLst>
          </p:cNvPr>
          <p:cNvSpPr/>
          <p:nvPr/>
        </p:nvSpPr>
        <p:spPr>
          <a:xfrm>
            <a:off x="8507481" y="3776868"/>
            <a:ext cx="3552825" cy="2534479"/>
          </a:xfrm>
          <a:prstGeom prst="rect">
            <a:avLst/>
          </a:prstGeom>
          <a:solidFill>
            <a:schemeClr val="bg1"/>
          </a:solidFill>
          <a:ln w="28575">
            <a:solidFill>
              <a:schemeClr val="accent6"/>
            </a:soli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150" b="1" dirty="0">
                <a:solidFill>
                  <a:srgbClr val="000000"/>
                </a:solidFill>
                <a:latin typeface="Arial" panose="020B0604020202020204"/>
              </a:rPr>
              <a:t>WBS Element</a:t>
            </a:r>
            <a:r>
              <a:rPr lang="en-GB" sz="1150" b="1" dirty="0">
                <a:solidFill>
                  <a:srgbClr val="000000"/>
                </a:solidFill>
                <a:latin typeface="Arial" panose="020B0604020202020204"/>
              </a:rPr>
              <a:t>: </a:t>
            </a:r>
            <a:r>
              <a:rPr lang="en-GB" sz="1150" dirty="0">
                <a:solidFill>
                  <a:srgbClr val="000000"/>
                </a:solidFill>
                <a:latin typeface="Arial" panose="020B0604020202020204"/>
              </a:rPr>
              <a:t>mandatory field. Specify single or multiple WBS; range or a mask (e.g. 50028*)</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GB" sz="1150" b="1" i="0" u="none" strike="noStrike" kern="1200" cap="none" spc="0" normalizeH="0" baseline="0" noProof="0" dirty="0">
                <a:ln>
                  <a:noFill/>
                </a:ln>
                <a:solidFill>
                  <a:srgbClr val="000000"/>
                </a:solidFill>
                <a:effectLst/>
                <a:uLnTx/>
                <a:uFillTx/>
                <a:latin typeface="Arial" panose="020B0604020202020204"/>
                <a:ea typeface="+mn-ea"/>
                <a:cs typeface="+mn-cs"/>
              </a:rPr>
              <a:t>Company Code</a:t>
            </a:r>
            <a:r>
              <a:rPr kumimoji="0" lang="en-GB" sz="1150" i="0" u="none" strike="noStrike" kern="1200" cap="none" spc="0" normalizeH="0" baseline="0" noProof="0" dirty="0">
                <a:ln>
                  <a:noFill/>
                </a:ln>
                <a:solidFill>
                  <a:srgbClr val="000000"/>
                </a:solidFill>
                <a:effectLst/>
                <a:uLnTx/>
                <a:uFillTx/>
                <a:latin typeface="Arial" panose="020B0604020202020204"/>
                <a:ea typeface="+mn-ea"/>
                <a:cs typeface="+mn-cs"/>
              </a:rPr>
              <a:t> can be specified to restrict further selection criteria</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1150" b="1" dirty="0">
                <a:solidFill>
                  <a:srgbClr val="000000"/>
                </a:solidFill>
                <a:latin typeface="Arial" panose="020B0604020202020204"/>
              </a:rPr>
              <a:t>Posting Date: </a:t>
            </a:r>
            <a:r>
              <a:rPr lang="en-GB" sz="1150" dirty="0">
                <a:solidFill>
                  <a:srgbClr val="000000"/>
                </a:solidFill>
                <a:latin typeface="Arial" panose="020B0604020202020204"/>
              </a:rPr>
              <a:t>at least one of the 2 rows should be populated</a:t>
            </a:r>
            <a:br>
              <a:rPr lang="en-GB" sz="1150" dirty="0">
                <a:solidFill>
                  <a:srgbClr val="000000"/>
                </a:solidFill>
                <a:latin typeface="Arial" panose="020B0604020202020204"/>
              </a:rPr>
            </a:br>
            <a:r>
              <a:rPr lang="en-GB" sz="1150" dirty="0">
                <a:solidFill>
                  <a:srgbClr val="000000"/>
                </a:solidFill>
                <a:latin typeface="Arial" panose="020B0604020202020204"/>
              </a:rPr>
              <a:t>- 31.12.9999 is defaulted – required to pick CO Commitment items from database. Leave as is if you require CO commitment data to be picked</a:t>
            </a:r>
            <a:br>
              <a:rPr lang="en-GB" sz="1150" dirty="0">
                <a:solidFill>
                  <a:srgbClr val="000000"/>
                </a:solidFill>
                <a:latin typeface="Arial" panose="020B0604020202020204"/>
              </a:rPr>
            </a:br>
            <a:r>
              <a:rPr lang="en-GB" sz="1150" dirty="0">
                <a:solidFill>
                  <a:srgbClr val="000000"/>
                </a:solidFill>
                <a:latin typeface="Arial" panose="020B0604020202020204"/>
              </a:rPr>
              <a:t>- second line is for GL line item actuals (single date or a range)</a:t>
            </a:r>
            <a:endParaRPr kumimoji="0" lang="en-GB" sz="115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cxnSp>
        <p:nvCxnSpPr>
          <p:cNvPr id="21" name="Connector: Elbow 20">
            <a:extLst>
              <a:ext uri="{FF2B5EF4-FFF2-40B4-BE49-F238E27FC236}">
                <a16:creationId xmlns:a16="http://schemas.microsoft.com/office/drawing/2014/main" id="{1857FD5C-9F47-4E95-9987-94B6A2733AC7}"/>
              </a:ext>
            </a:extLst>
          </p:cNvPr>
          <p:cNvCxnSpPr>
            <a:cxnSpLocks/>
            <a:endCxn id="20" idx="1"/>
          </p:cNvCxnSpPr>
          <p:nvPr/>
        </p:nvCxnSpPr>
        <p:spPr>
          <a:xfrm rot="16200000" flipH="1">
            <a:off x="8343827" y="4880454"/>
            <a:ext cx="173932" cy="153375"/>
          </a:xfrm>
          <a:prstGeom prst="bentConnector2">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6928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9C3EC4-60F7-4215-AF3C-81EADC6CA575}"/>
              </a:ext>
            </a:extLst>
          </p:cNvPr>
          <p:cNvPicPr>
            <a:picLocks noChangeAspect="1"/>
          </p:cNvPicPr>
          <p:nvPr/>
        </p:nvPicPr>
        <p:blipFill>
          <a:blip r:embed="rId3"/>
          <a:stretch>
            <a:fillRect/>
          </a:stretch>
        </p:blipFill>
        <p:spPr>
          <a:xfrm>
            <a:off x="416094" y="2552031"/>
            <a:ext cx="11286479" cy="756673"/>
          </a:xfrm>
          <a:prstGeom prst="rect">
            <a:avLst/>
          </a:prstGeom>
        </p:spPr>
      </p:pic>
      <p:sp>
        <p:nvSpPr>
          <p:cNvPr id="2" name="Title 1">
            <a:extLst>
              <a:ext uri="{FF2B5EF4-FFF2-40B4-BE49-F238E27FC236}">
                <a16:creationId xmlns:a16="http://schemas.microsoft.com/office/drawing/2014/main" id="{C8E22BCF-CFCD-41A7-BF7E-3E597266F863}"/>
              </a:ext>
            </a:extLst>
          </p:cNvPr>
          <p:cNvSpPr>
            <a:spLocks noGrp="1"/>
          </p:cNvSpPr>
          <p:nvPr>
            <p:ph type="title"/>
          </p:nvPr>
        </p:nvSpPr>
        <p:spPr>
          <a:xfrm>
            <a:off x="1511277" y="210344"/>
            <a:ext cx="9461523" cy="984247"/>
          </a:xfrm>
        </p:spPr>
        <p:txBody>
          <a:bodyPr/>
          <a:lstStyle/>
          <a:p>
            <a:r>
              <a:rPr lang="en-GB" sz="2800" dirty="0"/>
              <a:t>JTI WBS Commitments vs Actuals: key figures</a:t>
            </a:r>
          </a:p>
        </p:txBody>
      </p:sp>
      <p:sp>
        <p:nvSpPr>
          <p:cNvPr id="6" name="Rectangle 5">
            <a:extLst>
              <a:ext uri="{FF2B5EF4-FFF2-40B4-BE49-F238E27FC236}">
                <a16:creationId xmlns:a16="http://schemas.microsoft.com/office/drawing/2014/main" id="{5D6147A3-923C-41C8-97AA-0F37BB782DED}"/>
              </a:ext>
            </a:extLst>
          </p:cNvPr>
          <p:cNvSpPr/>
          <p:nvPr/>
        </p:nvSpPr>
        <p:spPr>
          <a:xfrm>
            <a:off x="555695" y="1467780"/>
            <a:ext cx="11080610" cy="1169551"/>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i="0" u="none" strike="noStrike" kern="1200" cap="none" spc="0" normalizeH="0" baseline="0" noProof="0" dirty="0">
                <a:ln>
                  <a:noFill/>
                </a:ln>
                <a:solidFill>
                  <a:srgbClr val="000000"/>
                </a:solidFill>
                <a:effectLst/>
                <a:uLnTx/>
                <a:uFillTx/>
                <a:latin typeface="Arial" panose="020B0604020202020204"/>
                <a:ea typeface="+mn-ea"/>
                <a:cs typeface="+mn-cs"/>
              </a:rPr>
              <a:t>As the Query compiles both Commitments and Actuals, the key </a:t>
            </a:r>
            <a:r>
              <a:rPr lang="en-US" sz="1400" dirty="0">
                <a:solidFill>
                  <a:srgbClr val="000000"/>
                </a:solidFill>
                <a:latin typeface="Arial" panose="020B0604020202020204"/>
              </a:rPr>
              <a:t>figures are also split between those relevant for Commitments and those relevant for Actuals:</a:t>
            </a:r>
            <a:br>
              <a:rPr lang="en-US" sz="1400" dirty="0">
                <a:solidFill>
                  <a:srgbClr val="000000"/>
                </a:solidFill>
                <a:latin typeface="Arial" panose="020B0604020202020204"/>
              </a:rPr>
            </a:br>
            <a:endParaRPr kumimoji="0" lang="en-US" sz="140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base" latinLnBrk="0" hangingPunct="1">
              <a:lnSpc>
                <a:spcPct val="100000"/>
              </a:lnSpc>
              <a:spcBef>
                <a:spcPts val="0"/>
              </a:spcBef>
              <a:spcAft>
                <a:spcPts val="0"/>
              </a:spcAft>
              <a:buClrTx/>
              <a:buSzTx/>
              <a:tabLst/>
              <a:defRPr/>
            </a:pPr>
            <a:endPar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2" name="AutoShape 9" descr="data:image/jpg;base64,%20/9j/4AAQSkZJRgABAQEAYABgAAD/2wBDAAUDBAQEAwUEBAQFBQUGBwwIBwcHBw8LCwkMEQ8SEhEPERETFhwXExQaFRERGCEYGh0dHx8fExciJCIeJBweHx7/2wBDAQUFBQcGBw4ICA4eFBEUHh4eHh4eHh4eHh4eHh4eHh4eHh4eHh4eHh4eHh4eHh4eHh4eHh4eHh4eHh4eHh4eHh7/wAARCACgAPI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6x1rxDb6Terb3FtcSb1BUwpvJPzEjH0X9fY1HD4miluhCun3gDRNIjFODt6r7HFVL64mS6nPnyqqyN/GcAZNZ0mtWiossmqKqt90tMRnp0/MfnXUsLJq9zmeJSdrGtB4vtZH8t9N1KJ96IA0B5LEj8hxn0yPWpz4hJa5iTS70zQMQV2cNhwowRnrkHp0rIt9US4kaKDUTK6j5lWYkj681P58//PxN/wB/DVfU5dxfWo9i3ceLLaBd0um6iqhQznyhhMgHnn3rT0XVI9UikkS3ngKEBlmUA8jPYmsAzz4/183/AH8NL58//PxN/wB/DR9Tl3D61HsdbRXIPdiIBrnUGt0J2hndsE+nH41q/wBl3/8Az+/+PtWUqKi7ORpGq5K6ibVFYv8AZd//AM/v/j7Uf2Xf/wDP7/4+1TyR/mK55fym1RWL/Zd//wA/v/j7Uf2Xf/8AP7/4+1HJH+YOeX8ptUVi/wBl3/8Az+/+PtR/Zd//AM/v/j7Uckf5g55fym1RWL/Zd/8A8/v/AI+1H9l3/wDz+/8Aj7Uckf5g55fym1RWL/Zd/wD8/v8A4+1H9l3/APz+/wDj7Uckf5g55fym1RWL/Zd//wA/v/j7Uf2Xf/8AP7/4+1HJH+YOeX8ptUVi/wBl3/8Az+/+PtR/Zd//AM/v/j7Uckf5g55fym1RWL/Zd/8A8/v/AI+1H9l3/wDz+/8Aj7Uckf5g55fym1RWL/Zd/wD8/v8A4+1H9l3/APz+/wDj7Uckf5g55fym1RXL6ul5p8aM1w0hc4AEjeoH9ax4NckmDeXcbymQyiVsqQCeapUU/tEOtZ2aPQKK4G11iae5eFZmJjkEcmJG4JrQ86f/AJ7zf9/DVxwrlsxSxCjujrqK5Hzp/wDnvN/38NFV9Tl3J+tR7Dr3/j8n/wCurfzNZd1o+l3UhkuLCCVz/Ey81vz6ddy3EsiRgq0jEHcPU0z+yr3/AJ5D/voV0wqQ5VdnNKnPmdkYum6Xp+nbjZ2scTsMM4HzN9T3q7V3+yr3/nkP++hR/ZV7/wA8h/30Kr2sO5Ps59ilRV3+yr3/AJ5D/voUf2Ve/wDPIf8AfQp+1h3D2c+xXtLVryQxCOGQBdxEq5H+ea2Ui1hVCrJAFAwBjtVSztNTtJTJDDESRg7zn+Rq35mt/wDPC2/X/wCKrjq+9NtWOulpGzuLs1n/AJ6wflRs1n/nrB+VJ5mt/wDPC2/X/wCKo8zW/wDnhbfr/wDFVlZ+X4Gl15/iLs1n/nrB+VGzWf8AnrB+VJ5mt/8APC2/X/4qjzNb/wCeFt+v/wAVRZ+X4Bdef4i7NZ/56wflRs1n/nrB+VJ5mt/88Lb9f/iqPM1v/nhbfr/8VRZ+X4Bdef4i7NZ/56wflRs1n/nrB+VJ5mt/88Lb9f8A4qjzNb/54W36/wDxVFn5fgF15/iLs1n/AJ6wflRs1n/nrB+VJ5mt/wDPC2/X/wCKo8zW/wDnhbfr/wDFUWfl+AXXn+IuzWf+esH5UbNZ/wCesH5Unma3/wA8Lb9f/iqPM1v/AJ4W36//ABVFn5fgF15/iLs1n/nrB+VGzWf+esH5Unma3/zwtv1/+Ko8zW/+eFt+v/xVFn5fgF15/iLs1n/nrB+VGzWf+esH5Unma3/zwtv1/wDiqPM1v/nhbfr/APFUWfl+AXXn+IuzWf8AnrB+VGzWf+esH5Unma3/AM8Lb9f/AIqjzNb/AOeFt+v/AMVRZ+X4Bdef4mT4lF4sEf2tlY5+TZxzuX/61cvaR2b3EtxCqGSTKyFGGQdp6jHFdlqlnquoIiyxwqUOVK+uQeefaseDwlPDdy3KRxpJKPn2k4JxjoWwPw61qum34GE4tyTSv9/boQW9ruuX8uW3Z4DmQKyjHXrx061aiffnGwjjDI+4MCM5BqzBoeoQTzTQwWiSTnMjBOWPv81SR6RqAZ2kSMliPu4AGBj1qqM5RfvNWJlFyjqtfmVaKu/2Ve/88h/30KK6vaw7mPs59jfi3eS23G7c2M9M5NZE134lgm40m2vIyBzFcCMg4GfvdRnOOnSti3/1Z/3m/wDQjUleOeqc79v8WC0tp/7BtGmdn8+3+2AGMAnaQ+CGJGOw5rY0uW8nsY5dQtEtLg53QrL5gXk4+YAZ4wfxq1RQAUUUUAZfiGS+jhj/ALPhglnOeJsbAOOeSPp+NV9LfUTekajFpotfJBDRLhvMwuR1PH3vyFa020zIHbC7W/ixzxRtg/v/APkQ/wCNADf9D9IfyFH+h+kP5CnbYP7/AP5EP+NG2D+//wCRD/jQA3/Q/SH8hR/ofpD+Qp22D+//AORD/jRtg/v/APkQ/wCNADf9D9IfyFH+h+kP5CnbYP7/AP5EP+NG2D+//wCRD/jQA3/Q/SH8hR/ofpD+Qp22D+//AORD/jRtg/v/APkQ/wCNADf9D9IfyFH+h+kP5CnbYP7/AP5EP+NG2D+//wCRD/jQA3/Q/SH8hR/ofpD+Qp22D+//AORD/jRtg/v/APkQ/wCNADf9D9IfyFH+h+kP5CnbYP7/AP5EP+NG2D+//wCRD/jQA3/Q/SH8hR/ofpD+Qp22D+//AORD/jRtg/v/APkQ/wCNADf9D9IfyFH+h+kP5CnbYP7/AP5EP+NG2D+//wCRD/jQBn64YxYS+QVHyjds9N6//XrkNEuNSa+uobmIKqRuY5Yz98bD+ua7HW28qxkMErKdoyQ54+df8TXJ6HqeqSahcW90J08pHKyCQlXGwkHr1/wp9DKb9+Or/pdSTw815/bkfnupjaX90ExwvPDep/Su8rj7S8vZLq7S4jMcSHEDfaG+f9elbfhuSSSGfzGBYOMgOWAO0ZwTQ5X1KpyUo3V/matFFFIsjgOIyTwNzfzNOSSN4xIjqyEZDA5BH1pkah4GRuQxcH6ZNYjeEdJ2uitdRxttBRJiAAowAPT3x1oA3kljcEpIjBW2nBzg+n1pwIOcHp1rAuPCOjzTyzMtwHl5bEzdc9f6fStHRtLtdJt5IbXzNskhkbe5Y5wB1PsooAvUUUUARysoZVMZckEjABxjH+NQz3EEIDSQMoPcqP8AGppY2Z1ZWUYUghlznOPf2qhLpELWcNnGlvFbw42RpFhVx0wM0AWo5YpFDJAxyM/dHFPyv/Ps3/fIplvbywxhVlQ8AElD/jUuJ/78f/fB/wAaAG5X/n2b/vkUZX/n2b/vkU7E/wDfj/74P+NGJ/78f/fB/wAaAG5X/n2b/vkUZX/n2b/vkU7E/wDfj/74P+NGJ/78f/fB/wAaAG5X/n2b/vkUZX/n2b/vkU7E/wDfj/74P+NGJ/78f/fB/wAaAGFoxjdbsBkDO0d6yYfEelzPsSCbPGR5a8Z9ea2GSZgA0iYyDwh7HPrXKr4LI1OC/wD7QUSxLtO2EgOPf5qehE3JW5Vc6vEfaHP/AAEUYT/nj/46KcA46MuM+lH7z+8v/fP/ANekWNwn/PH/AMdFGE/54/8Ajop37z+8v/fP/wBej95/eX/vn/69ADcJ/wA8f/HRRhP+eP8A46Kd+8/vL/3z/wDXo/ef3l/75/8Ar0ANwn/PH/x0UYT/AJ4/+OinfvP7y/8AfP8A9ej95/eX/vn/AOvQBFM8MUbM8Py45G0c81Tg1DTpIWnhjDIFJJVR2HI/Srs8TyoV3qD2+X3B9fasay8NRWct3Jb3BX7Sp3LtO0Eg89ff/DFAFldTsWZ1W1clDhgEX5frzxVzTrqC5WTyImjCMAcqBk4Bzx9ax7XwyttcXFxDNCJLj/WExMc+33uBWpo9gdPikj8yNlZgVCJtCgKBjqfSgmDlb3lqXqKKKCiKMssDsq7mBcgepyawF1/WRCPM8MXazAAuivuXJ7Bsc/oK6CD/AFZ/3m/9CNPDKWKhgWAyRnkUAc8niK+lt2kh0G7LRu6PG+Q2QFPGARzk9SOlaGhajdagJ/tWl3Fh5T7U83H7weo/z+daVJuXeU3DcBkjPOKAFooHIooAhm5mRSSBtY4DEZPFZt5NdpZQyLD5dwxG+M3BIX1+YZz+Vacxj3KrxlyQSPlzTP3P/Psf+/dAEdl+9iBkdz8ox85FT+XH/ef/AL+H/GmkxHGbdjjp+7pP3P8Az7H/AL90AP8ALj/vP/38P+NHlx/3n/7+H/Gmfuf+fY/9+6P3P/Psf+/dMB/lx/3n/wC/h/xo8uP+8/8A38P+NM/c/wDPsf8Av3R+5/59j/37oAf5cf8Aef8A7+H/ABo8uP8AvP8A9/D/AI0z9z/z7H/v3R+5/wCfY/8AfugBZFVVDKzZ3L/GT3HvXBQaxqqapBbyG6eKVQyzLIxAPB5GcV3o8oHIt2B/650wRWgORZKD6+SKLkSi3azsTgKeSxzk/wARo2r/AHm/77NMLoTzC/8A3xRuj/54P/3xSLH7V/vN/wB9mjav95v++zTN0f8Azwf/AL4o3R/88H/74oAftX+83/fZo2r/AHm/77NM3R/88H/74o3R/wDPB/8AvigB+1f7zf8AfZo2r/eb/vs0zdH/AM8H/wC+KN0f/PB/++KAGXmVhby3YEjruPqK53TdS1KX7ZDeQTQSQq22QMdrjBwR7/546V0F1dW9tA8k0bhAMkeXnPIH8yKqafq2mXs6Q28bFnyATFgcDJ5oAx7O+vpLq7jmhmijjOIXNy2JP1/Wtrw7LLLFP5zHcHGR5hcL8oyATV/7Lbf8+8P/AHwKfHHHGCI41QHk7RigmEXFWbuOooooKIolDQsrDILMCPbJrKu/DdjcJ5XmXEUIxhI5CuMADGeuMAcVqxsVgdgpYguQB35NY0GvX0tm8w0G88wRb1i5BZwcFMlQBxzk4zQBAng+zVsnUNSKhmZV+0HAzjGfXGKtT+HLeaERveXf3VDMJMMxChck++0cfX1NM/4SGYDc2hapjAOBCSee2Mdu/P5840NFvptQt5Jp7CeyKvtVJhhiMA5/Mkd+lAC6LpsWlWIs4ZZpUDEgyuWbntmrtFFAEciyGRXQqMAg5Hrj/Cj9/wCsf5GkmG6ZFy2NrHAYjJ4rNvJryOyhlW3eOdyN8TTk7fX5hmgDT/f+sf5Gj9/6x/kar2WZogXeQ4UfxEVY8lf70n/fZoAP3/rH+Ro/f+sf5GjyV/vSf99mjyV/vSf99mgA/f8ArH+Ro/f+sf5GjyV/vSf99mjyV/vSf99mgA/f+sf5Gj9/6x/kaPJX+9J/32aPJX+9J/32aAD9/wCsf5Gj9/6x/kabKmxQytJncvVye4rg4db1RdUgtZftTRyqGSYMSucAkHtTsRKaha/U779/6x/kaP3/AKx/kaULuGSW6n+I0uwerf8AfRpFjf3/AKx/kaP3/rH+Rp2werf99GjYPVv++jQA39/6x/kaP3/rH+Rp2werf99GjYPVv++jQA39/wCsf5Gj9/6x/kadsHq3/fRo2D1b/vo0AU9StJ7y2eLzI1Yjg7SR94H+lYnh3wpJpOtPfi8VkcktEFOAcEZGTXQXm5IT5bMCR1yfUVz2m6rqEwu4bqCe3lgVsPk7XGDgjP8An6dKdyZQjJptao6qiuStL+9luruKWG5iSI4idp2xJ+v61s+Hpppop/OLbg4+UyF9vyg4BPWkEJqaujUooooKI4P9Wf8Aeb/0I0/cuAdw56c9ajjUPA6N0YuD+ZrFXwtZrB5C3V6IwUZR5udhXGNvp07etAG/RXODwrtiSNdc1cYzub7QSX57+n4VNbeGoob1boalqBxL5vl+edhOc4I7j2oA3QQwyCCPUUVzo8LKt6J49Wv4olkaRYI5NqDLBtuBxjOfzroqAIpzFuVZI95wSPk3VDJJZxgb4dufWE/4VNKshkVk28KQckjrj/CqE+lb7KGzXAhiI2hpXY8dMsTk/iaALaPayKpWLcMcfujwPypcW/8Az7/+QT/hSW0M0MYXMbHAB61L+/8ASP8AM0AR4t/+ff8A8gn/AAoxb/8APv8A+QT/AIVJ+/8ASP8AM0fv/SP8zQBHi3/59/8AyCf8KMW//Pv/AOQT/hUn7/0j/M0fv/SP8zQBHi3/AOff/wAgn/CjFv8A8+//AJBP+FSfv/SP8zR+/wDSP8zQBGDbqQfJ2nIwfKI5/KsqHVPDzuPLhTdkYItCMf8AjvFa7rM4CnywNwJwT2Oa5BPB14uqQXwvIkKLtdVLYccf4U9CJOStyq52J8sk/u889dlH7r/nn/45SgSDptxml/eei/nSLG/uv+ef/jlH7r/nn/45Tv3nov50fvPRfzoAb+6/55/+OUfuv+ef/jlO/eei/nR+89F/OgBv7r/nn/45R+6/55/+OU7956L+dH7z0X86AIpXt442aRMLjnKds1XS701ojIiqybSSREcEAc9qsXEcksZX5Ae35g/0rD0/w29jJdtBc/JcA4jYkhWIPP60AXhc6QSQLUZHX/RTx+lW9OltJVk+yR7ArYceUU5wD6c8YrDtPDc1tdXVxHJGWuT84aRiB9K1tEsZLCKWNzHhmBQIScAKB3+lBMHJr3lZmhRRRQURRsVgdgu4gucevJrnU8XZZIm0PVFnYcR+V16ZI9hnrXR2/wDqz/vN/wChGpMc570AY2k64+oXot/7Jv7ZdpJknj2jjoB9a2aKKACiiigCKbLSou5gNrH5TjPSs27uLuOxhmWCZZnPzRNKMr+NaU/k7lWRdxwcfIT9f6VGVtf+eP8A5CP+FADbItNEC8j8KOhxU/k/9NJP++qjxbYA8k4HT90f8KMW3/PE/wDfo/4UASeT/wBNJP8Avqjyf+mkn/fVR4tv+eJ/79H/AAoxbf8APE/9+j/hQBJ5P/TST/vqjyf+mkn/AH1UeLb/AJ4n/v0f8KMW3/PE/wDfo/4UASeT/wBNJP8Avqjyf+mkn/fVR4tv+eJ/79H/AAoxbf8APE/9+j/hQA6RDGoZZJM7lHLe4rhYdf1JdUhtJmuSsqhklHKk4BINdyPs4IIiII/6ZH/CoFtNNVgwskBHQ+QeP0pkTTdrOxbC7udzdT3pdn+0351GXhJzsb/v2f8ACjdD/wA82/79n/CkWSbP9pvzo2f7TfnUe6H/AJ5t/wB+z/hRuh/55t/37P8AhQBJs/2m/OjZ/tN+dR7of+ebf9+z/hRuh/55t/37P+FAEmz/AGm/OjZ/tN+dR7of+ebf9+z/AIUbof8Anm3/AH7P+FADLwvHEfLdgSOCT7j/ABrn9N1i9uBdw3EM9vNbq3JztYYOCK37m4s4YXkmBVAMtmNumQOmOeSKpw6nosxKxsDlWJ/cOAQBz29M0AZVnqV5NdXcMkd3EsJxG7ScSfStjw/PNPFOZi25XHys27b8oOM96b52jf8APuP/AAFb/wCJq3p0lm6yfY0CBWw48spzgeoHbFBMIuKs3ctUUUUFEUa74HTJG4uMj6msAeE4VRI11bUxFGBsT7QcKQByP5/jxit5G2W7vgnaXOB1PJrnoPGVvJDG76VqkbOm8qYCdv1NAFi78NtcTO41jULdHJLJBJs3E9yRyfT6AUreHGkshbTaxqMrfaROJTL864HyqvYAHn3/AJNn8URwSiOTStRLMMpsi3BhxzkdOv6Ve0LV49WjkZLa4gaMgMsybTznH6DP4igDNXwrIskTjX9UIjULsaXKsAehH4f5HFdJRRQBHIsnmq6BTgEHJx1x7e1GZ/7kf/fZ/wAKSXcZVUMyjax+XvjH+NZ13d3MdjDcJDcCSQjMTlQy/XtQBpZn/uR/99n/AAozP/cj/wC+z/hUFm0k0QZpX6Dpjmp/KP8Az2k/Mf4UAGZ/7kf/AH2f8KMz/wByP/vs/wCFHlH/AJ7SfmP8KPKP/PaT8x/hQAZn/uR/99n/AAozP/cj/wC+z/hR5R/57SfmP8KPKP8Az2k/Mf4UAGZ/7kf/AH2f8KMz/wByP/vs/wCFHlH/AJ7SfmP8KPKP/PaT8x/hQAZn/uR/99n/AAozP/cj/wC+z/hTZFZFDCVz8wGDjuRXDw+JNRXVIbOZ5x5qhkkCgq3QkdKdiJzjC3N1O6zP/cj/AO+z/hRmf+5H/wB9n/ClALc7mHJpdp/vtSLG5n/uR/8AfZ/wozP/AHI/++z/AIU7af77UbT/AH2oAbmf+5H/AN9n/CjM/wDcj/77P+FO2n++1G0/32oAbmf+5H/32f8ACjM/9yP/AL7P+FO2n++1G0/32oApapa3F5avGoiViBjLHH3lPp7Vzej+E9QsL+4n+1RNDMrbYvMYhGKkccdP8811d20kcR8tzuI4z9R/jXP6brl1dC7hljmt57dWzuHB4OCOKd3axMoRk03uhbTw7dW11dXCSIzXJ+dWnYgfT5f161raHYzWMUscuzDMCgVy2AFA5J57VjWerXdxdXcBW8jEBwrNtAf6cVsaBcTXEUxnL7lcDa5BK5UHGR9alEUeTl/drTX89TSooopmpHb/AOrP+83/AKEakqKNd8DrkjJcZHbk1gp4ZnijWKDXtSSNQMIZMjjH6ZGce/pQB0dAABOABnk+9YTaBcNbOj6xdST7/MjmfkxuAwBA6fxdParGhaXd6eztdatc326NV2ynhSOpHfnryT37YAANWiiigCKfydyiUZODjAJ+vT8KhkNkuPMX6ZU1NKshkVkVSApBy2OuPb2rPudNkksYbRWfZEQQ0ly7ucerHk/iaALim0ZF2rlccYU9KXFt/db/AL5am2kU8MYUrGxwM/Mev5VNum/55x/99n/CgCPFt/db/vlqMW391v8Avlqk3Tf884/++z/hRum/55x/99n/AAoAjxbf3W/75ajFt/db/vlqk3Tf884/++z/AIUbpv8AnnH/AN9n/CgCPFt/db/vlqMW391v++WqTdN/zzj/AO+z/hRum/55x/8AfZ/woAjH2YEfKQcjGVPWsmK58NM6mMRE5G0iJuP0rYkEzgLsQDcDneexz6VxsXhPVk1WG8S4gjUKFljErEOMD/Z9v/1U9CJykrWVztD5WTwevoaT916H8jThvHG1Tye9LmT+6v8A31/9akWM/deh/I0fuvQ/kafmT+6v/fX/ANajMn91f++v/rUAM/deh/I0fuvQ/kafmT+6v/fX/wBajMn91f8Avr/61ADP3XofyNH7r0P5Gn5k/ur/AN9f/WozJ/dX/vr/AOtQBFK1usbGThcc5B9ar+bphRn+QqVOTtJBGOf61YuY5JYyoVOnduvIPp7Vg6d4eurFrsR3IeGYHZEznCMQfbpz/wDroAv79F/55j/v0/8AhVvTWsmWT7EAAG+fCkc4Hr7YrDs9Avra6u7gSLIbk/Mr3DYX6fL+ta2h2c1lFLHNswWGzbIX4CgckgelBMHJr3lZmjRRRQUf/9k=">
            <a:extLst>
              <a:ext uri="{FF2B5EF4-FFF2-40B4-BE49-F238E27FC236}">
                <a16:creationId xmlns:a16="http://schemas.microsoft.com/office/drawing/2014/main" id="{8D7771B6-7AD0-4286-9B0D-068380F0C6C9}"/>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 name="AutoShape 10" descr="data:image/jpg;base64,%20/9j/4AAQSkZJRgABAQEAYABgAAD/2wBDAAUDBAQEAwUEBAQFBQUGBwwIBwcHBw8LCwkMEQ8SEhEPERETFhwXExQaFRERGCEYGh0dHx8fExciJCIeJBweHx7/2wBDAQUFBQcGBw4ICA4eFBEUHh4eHh4eHh4eHh4eHh4eHh4eHh4eHh4eHh4eHh4eHh4eHh4eHh4eHh4eHh4eHh4eHh7/wAARCAA6ATE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6U8yP++KPMj/viuN8MaX4w0vWjPqGrxalZvvDRvNNuGQv7wAgjJKn5BgLuOKgtNL+I1uqxt4nsZlDBtxtmBILlmHKseM7Rz91QMAnImx5HKu53PmR/wB8U1ZI/Mb5h0H9a4hdP+JRjWNvEmnLwSZFtCW3ZOFxsxjpk9eo966jw8l9a6VBb6rdteXqIBNOEI8w5PPAHbHanYHGxo+ZH/fFHmR/3xR5i+j/APfBo8xfR/8Avg0rEh5kf98UeZH/AHxR5i+j/wDfBo8xfR/++DRYBrSR71+Yd6d5kf8AfFY3jK11DUvD1zY6Rey2N7KAIp1Z4ymGBOGAJGQCMgd65q20j4jw29pbjxdbMEQLM72xd8AIAQSnJ4ckt1J6ehYpRutzvvMj/vijzI/74ribfQvGFwoOreKJA66itzmz3xq0KwlRFgAYUyYYjnp1JqmNH+J00DJd+LrEbxgiG1ZNvPBDBQ2f09qdg5V3PQPMj8w/MOgp3mR/3xWR4V/teHSkj16cT3wdwXSPAKbyEzjvtwT7k1r+Yvo//fBpNCaDzI/74o8yP++KPMX0f/vg0eYvo/8A3waLCDzI/wC+Ka8kexvmHSneYvo//fBpGkXaeH6f3DRYBRJHj7wo8yP++K4ZNB8bWkVw1h4vkklnlkk2XMTSJGTICqqWDEAJkYGBnGAOtRx6Z8TI5Lg/8JNp8gllL5Nuw2AAAKg2EKDgnvg/3uaLF8q7ne+ZH/fFNeSPY3zDpXH6jpHiptHs5odbmk1mz+0NvDukM5bd5QeMbUYAlM5HQGm+H7T4gpq0FxrWu2Mmmq0/nWq2mZXB4iw4AAx1PX6nsWFy6XudoJI8feFHmR/3xQJFx0f/AL4NHmL/ALf/AHwaLEh5kf8AfFHmR/3xR5i+j/8AfBo8xfR/++DRYDC1eHWpdQSbS7+3hiBUMJCxAGTv+UDDEgjBPTFVV/4TRbu0V7zS2g8wmdlHzbPTG30B6Y5I6YrrLeC4lQvHBMyljghDUn2S7/59Z/8Av2afyNFGXY5S4h8TK7CyvrNQ8h3STSM5xvBBVSmF+TI29M4NQmHxoHcrrWmMuPkBgxk/L1O3/f8Ax2+9dj9ku/8An1n/AO/Zo+yXf/PrP/37NK3kHLL+U5ab/hIZIgBcQhluwRhgu6EDPzEDu2RwOmDjrUdza6+UZorxRIJGclbljvHzYAUqAvVR1xxnrXW/ZLv/AJ9Z/wDv2ag1HTr+40+4t4oriKSWJkVwrAqSMA5HSi3kCjLsc/rEevPdRy6XdWwK7A4klZVUjO87QpD54HOMYyKoGHx1Kz79X0qFMqVWNMn/AGhkp/nNdRoWl6lZ6Vb2l0s1xPDGqSSCNvmIA555q99ku/8An1n/AO/ZpteQcsv5Tj7KLxb/AGYtvPqln9qjliBnMed6Y/eEDGM5OBkduaZd23i8Xs1xZapp4WQRgJIXKrhV3YUggchumOD1rs/sl3/z6z/9+zR9ku/+fWf/AL9mlbyDll/KcrZx+KQkpvtQsJWDRmFIgUyAfmDNt7j2/wAabpNv4lgvY21TV7W5s0tyroiYZn5wT8vIHHfPJ9q6z7Jd/wDPrP8A9+zTJrW78l/9Fn+6f4DTS8g5ZdjjP7N8Zf8AQ02v/gOP8KK7b7Jd/wDPrP8A9+zRSsx2n/KclJ4baSUXD3khn8wSOwg+V/nkYqRuztO8AjPRR+ENz4UkmSMf2ncoyggkRdQSMD73QY4HY11O5/8Ank35j/Gjc/8Azyb8x/jQRzM56Dw35cGw3lyHOwlkUqMrIz5C7sD72MewpG0CY6daWcd/NHLaMXWbyc5JJPC7sfz/AArotz/88m/Mf401WfzG/dN0Hce/vTC7OWsfDGrWxLN4p1WUlw3zA44fP9/njC89hV3+wrnZqUT6pdyw3m/ZHIpYQ7nLcZbtnA6foBW9uf8A55N+Y/xo3P8A88m/Mf40g5mcx/wjuqRq/l69fvI6rGJJC+UXeGbGH9sADHXnI4qB/CurSEyP4s1Yy+YWRgCAqnGVA345IPPUZ4xxXXbn/wCeTfmP8aNz/wDPJvzH+NAczOfk0W6Ok3Vjc6vdyidlZZpFyYguMjljwcfrVjwxpbaTFMhvJb3zCGDNGoYceoPNX9St/tlv9nZHQFgwI2nkEEcHgjI6VS0PRV0q+u7xJrqeS7CCVX8sINvC7QoGMA4xTDoa+/8A6ZyflRv/AOmcn5Um5/8Ank35j/Gjc/8Azyb8x/jSJMfxPpp1WGGMXs1h5UgcSKqkk4IA5OOpz+FUR4b1dUXb4n1beDks24g8jHBf2b/vr2FbGqWX28xhg8ZjyynajjkFTkNkdDWEvguPbKW1bWWlkORJ9oAK/NuIAHGDyD7E0y0yS58N39xpN5YyeINRZrgACRlLeWVfcMAtn265IHJNP1Dw7f3V4l3H4g1K1kA+dYlAQnagJAzkcpnGSOcY652NGshpenpZx+fKqFjvkcFjk55Oaubn/wCeTfmP8aBXZx9p4Z1yG9bPiS/FqGZwFZ8uzNuIIL8AZOOTnPPQY6fTo5rTTIraeaa6kjTa0zj5n9zyf51Z3P8A88m/Mf40jO+0/um6eo/xoBu5xtx4P827aaPX76MPuLKoAPzOrcEMO6jGQT1GT26jR4fslksQ2yLnIaKPapH5n065rmo/Dvh+3kkM1+zOZHALzRjyyVbKj2BLNg55Ge1b1hLZabFLAbqMsZmeTc6LtZu2AcL9PxpDlqae/wD6ZyflTXk+U/u36elKsjMAyxkgjIIYc/rSO77T+6bp6j/Ggg46Xwa0ty08evX6KSSwVQOrq2Mhh3QdQTyeT26fTIDYWgt32k5JGyPYO3bJ/n3rk5fB2l3G63i12/jzLlkhuIw2c5C8c8HP5mthfDMH2GO1luL6Vo53nWZpQXDMhXrngAkNx3UGmW7dzoCx/wCecn5UiSCRQyI7qehUAg1z9n4ZWCR2kv8AUrhGgkhWOSVdqb8ZI9xjAz0BNQz+EY5rkzNqOqIrtukhilWOJjkH7o6Z2qOPQ+ppWFZHpOgTEaao8mU/M3QD1+tX/PP/ADwm/If41m+GTJDo0MPkzSbMrvLLlsdzz1rS82X/AJ9ZP++l/wAas9On8CDzz/zwm/If40eef+eE35D/ABo82X/n1k/76X/GjzZf+fWT/vpf8aCw88/88JvyH+NHnn/nhN+Q/wAaPNl/59ZP++l/xo82X/n1k/76X/GgBkU53SfuJvv+g9B70/zz/wA8JvyH+NMill3Sf6LJ9/8AvL6D3p/my/8APrJ/30v+NAB55/54TfkP8aPPP/PCb8h/jR5sv/PrJ/30v+NHmy/8+sn/AH0v+NAB55/54TfkP8ajupj9ml/cTfcPYen1qTzZf+fWT/vpf8ajupZfs0v+iyfcP8S+n1oQEvnH/nhN+Q/xopPNk/59Zf8Avpf8aKAON3Sf881/77/+tRuk/wCea/8Aff8A9al/eeifmaP3non5moPHE3Sf881/77/+tTVaTzG/dr0H8f19qf8AvPRPzNNXzfMbhOg7n3oAXdJ/zzX/AL7/APrUbpP+ea/99/8A1qX956J+Zo/eeifmaAE3Sf8APNf++/8A61G6T/nmv/ff/wBal/eeifmaP3non5mgBrNJvX92vf8Aj/8ArUu6T/nmv/ff/wBakbzd6cJ37mnfvPRPzNACbpP+ea/99/8A1qN0n/PNf++//rUv7z0T8zR+89E/M0AN3SeYf3a9B/H/APWpd0n/ADzX/vv/AOtSfvfMPCdB3NO/eeifmaAE3Sf881/77/8ArUbpP+ea/wDff/1qX956J+Zo/eeifmaAE3Sf881/77/+tSO0mw/u16f3v/rU7956J+ZpH83aeE6epoA5O6g8LzGSC51KHJRl2tchSqHehA46ZmYZ55I5qS18KaDdQzyW6ySW88m9gtwwG7BHBxkdfWqElr4Fmu2ZhB5u91YKZAGfOWyAME5UE9/lz2rrNIMf2Qi1keRVcq3ms5dWHG07uRjjiixbk0WIEeGCOFUUqihRluwGOwpztLtP7ten97/61O/eeifmaR/N2nhOnqaCDi9Q03wheXIN5fwGVI2jTdcqpjQvj5flzw7jB65I5rd8LaZp2nWsjaUBIkrfNI0mScds49z+ea5+S08ByGW7drRPKciQeY65fcM/KPvHIXP0FdFZalpds72K6hH5kbgMJ5W3AkZAy3tjA9KZb2NXdJ/zzX/vv/61G6T/AJ5r/wB9/wD1qoya1YJH5n2y3dMsC0ZLgbcbidoOAMjJPTIp9vqljcXC29vf2UszAlUSYMxA68CkTY67QGuP7NXbChG5usnv9Kv77n/nhH/38/8ArVQ0D7R/Zq7VixubqT61fzdf3YfzP+FWepT+BBvuf+eEf/fz/wCtRvuf+eEf/fz/AOtRm6/uw/mf8KM3X92H8z/hQWG+5/54R/8Afz/61G+5/wCeEf8A38/+tRm6/uw/mf8ACjN1/dh/M/4UAMie43SfuY/v/wDPT2HtT99z/wA8I/8Av5/9amRfad0nyw/f9T6D2p+br+7D+Z/woAN9z/zwj/7+f/Wo33P/ADwj/wC/n/1qM3X92H8z/hRm6/uw/mf8KADfc/8APCP/AL+f/WqO6e4+zS/uY/uH/lp7fSpM3X92H8z/AIVHdG5+zS/LD9w9z6fShASbrn/njH/38P8AhRS5uf7sP/fR/wAKKBnG4k/vJ/3z/wDXoxJ/eT/vn/69OorO54w3En95P++f/r01RJ5jfMvQfw/X3qSmr/rG+g/rTuAYk/vJ/wB8/wD16MSf3k/75/8Ar06ilcBuJP7yf98//XoxJ/eT/vn/AOvTqKLgVb64+yRCaVsqCFAWMkkkgAAZ6kkVV0vWrXUb65sreRhcWwBlSSEqVz+NWtWRZLCZXVWXy3OCMjIGRVHw9bwQ3V35MMcfyxj5FA/h9qY7aGtiT+8n/fP/ANejEn95P++f/r06ilcRTvbsWkkYk3O0nCLHEWJwCScZ6AVT0/xFpV/cQW9rfxPLPEJY18thkHP5H5W49jU+uxRTW6rLEkgEseAyg9Wwf0JH41Q0iwsYdZMkNlbRuu4KyRKCBtHTA9z+Zpoqytc3sSf3k/75/wDr0Yk/vJ/3z/8AXp1FK5I3En95P++f/r0jiTafmTp/d/8Ar0+kf7jfSmmBxZ17wbDNNEypG2XEn+jNgkEI3Q9f3n1wc9BXT6QI/sebaN4UZixEqEOxPO45OTn1NVJtO0+S+ieSwtXYLwWhUn7x9qt6DHHFpqrHGiAuxIUY/iI/oKOhUti5iT+8n/fP/wBekYSbT8ydP7v/ANen0j/cb6UJknB3OpeBJJ5I7iGPcCQ/+jvgkOinODgncy9ee/aumOm6dq0ImmshgsDiWNlbIAAJGfQLj6A0ybTtPkvonksLV2CjBaFSep9quaDHHFpkaxxqgLMSFGOdxo6FMij0PT47SK1jtolhi3bFAb+L7wPPIOBkHrSWGg6Xp8qy2djbQOrbgyIeDt256+hIrUoouTdnQ6As/wDZq7ZIwNzdYz6/Wr+24/56xf8Afs//ABVVPD3/ACDF/wB5v51oVR61P4ERbbj/AJ6xf9+z/wDFUbbj/nrF/wB+z/8AFVLRQWRbbj/nrF/37P8A8VRtuP8AnrF/37P/AMVUtFAFeJbjdJ+9i+//AM8z6D3p+24/56xf9+z/APFUsX3pf9/+gqSmBFtuP+esX/fs/wDxVG24/wCesX/fs/8AxVS0UgIttx/z1i/79n/4qo7pbj7NL+9i+4f+WZ9PrVmo7v8A49Zf9w/ypoBNtx/z1i/79n/4qipaKQH/2Q==">
            <a:extLst>
              <a:ext uri="{FF2B5EF4-FFF2-40B4-BE49-F238E27FC236}">
                <a16:creationId xmlns:a16="http://schemas.microsoft.com/office/drawing/2014/main" id="{4204A776-377B-48FA-9C90-FEC3D04CAF3E}"/>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4" name="AutoShape 11" descr="data:image/jpg;base64,%20/9j/4AAQSkZJRgABAQEAYABgAAD/2wBDAAUDBAQEAwUEBAQFBQUGBwwIBwcHBw8LCwkMEQ8SEhEPERETFhwXExQaFRERGCEYGh0dHx8fExciJCIeJBweHx7/2wBDAQUFBQcGBw4ICA4eFBEUHh4eHh4eHh4eHh4eHh4eHh4eHh4eHh4eHh4eHh4eHh4eHh4eHh4eHh4eHh4eHh4eHh7/wAARCAATALQ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7HubiC2j8y4mjhTIG52CjP1NedX3xE1D+0X+w2Fq1jDIVlZ3Yvwcdume2Ac16FfpBJZypcwefCV+aPZv3D0x3rwvxN4A8T6rJdHQ9Llt4DHPHAtxdeS0TsQUfHfA4/wD1VzYmnXnFeyly23/T/gmkMRSoKUp0+d9Ft6/8A9e1DxTp2neHbHWr2O7Ed6Ykhigt3mlZ5B8qhUBJNaOj6nZatpdvqdhMJbW4jEkbkFTj3B5BHQg9DXN6v4Tuda8H6Bo9xeTWUthLazTyQSssmYl+YK6nIJPesfWfhfayvdvpsen7TBZQ28F3EZEaOCRneKU8lkkLAt1yRk5rojfl13Jdnsej7h6ijcOORz0ry5PhLBL5Ml9JYTyxJZJGDASsKRXMkssUYJ4Rkk8oD+6MHjis23+Gd6vjCK1Fvp/9mWkEDQ3UkDZt0F9cz+TbjopEbJGf9lvTimJrRs9b02/s9Ssob2xuY7i2nXdFIhyHHqKr6RrWn6tLepYySOLK5a1ldomVDKv3lViMNg8EjOCCK4TwT8N7jw5qugzQx6JDDpdvLbyPBb/PKhLFdqlcRsd2WZSCcYORjFfVfhT5lo8NiuibZb7ULiSKe0PlqbpwyzKF/wCW8QGFb/aOCKAt/X3/APAPTNRvLfT9Pub+6k2W9tE00rAE7UUEk4HJ4Brm/wDhYPh4Xt1ayJqsZtbUXk0r6bMsQhOdr79uCDtbGOuDVSLwVcWfhjxLp1jNZtf65cTNJdzRnPlyfL85HLMqlsds+mTUmr+CpbtNWjhvkRL3Q7fSo96ElDE0p3nHXIkHHsaatf8ArsCt/Xqv0ubWveJdN0a5htbhby4uJkMghs7SS4dYwcF2VASq5OMnvUlz4g0q31qDR5bhheTusaKImI3MjuAWxgHbE55Pb3Fc7488IarrNzdTaRqUNodQsEsbkyGRHiCOzpNE8ZB3qXb5TweORg5S/wDC2uMmnalZXFgdXt9WfUJxdFzE6mGSFUBUZG1GTtyVPrSQv6/D/PQ6xtTs11ldHMh+2tbG5Eew8xhgpOenUjjrU9rOtxbxzKsiCRQwSRCjgH1U8g+1c5qej643jPT9fsZNO8tbFrO7im3g4aRXLRkd/lIwa5LS/hLJaC0n/tOBNRtxbxrfRRETJElk1u6q2cjcxD46cDPQYOn9d/8Ahh2R6Xqeo2mm2guruXZCZY4QwUt88jqijj1ZgPxpdOv7PUbOK8sbmO4t5c+XIhyGwcHH4g1wfhH4dzaP4EPhuSS0Rzf2107xySSJL5UsTsSr/dL+WcgZGTnmsXT/AIQzWV3oMkb6Z5GkmVY4YfMt1UmbeJ1CceYQdrA8EAc44puwul+p69uXOMiq2qajZaXp02oX1wsNtCMu5574AAHJJJAAHJJArzbSPhFa6YljJbNYR3VpHpu2ZISGEtu5M8gOchpUIQnqQADkAVq6J4FvLLwFJ4f+0WFpPHfJeWRt4N0cLRyJJGH4VpfmQbmb5jk8k80u4+p2Gi6pBqtn9qhgvLcbymy7tngkz/uuAcVdLL6j86888XeDPEHipLCbVpNBNxDHPA0Zikkig8wpi4izgidNh2nj7x5HfP1L4Q2l79vlkexkubtNT3TyQFnMlxIHt3J7mLBx6FiVxk0ILeZ6mWHPI4qO6uILW2kubiVI4Y0Mjux4VQMk/lXkWnfD3Xby+8RXv/Ev0+a4uL+KKaS3LTXSSuuBKTkGLCkqBnBbOMg5uaX8Kp7XT7bTrw6PqNqNOmsSt1C0psg7zMGt92cZEoVs4yI157UPYElfU9StZ4bq2iubeRZYZUDxupyGUjII/Cis3wZpbaH4V0zR5IrOJrO3SEraJsi+UYyo7Z6/UminK19CVe2prUUUUhhRRRQAUUUUAFFFFABRRRQAUUUUAFFFFABRRRQAUUUUAFFFFABRRRQAUUUUAf/Z">
            <a:extLst>
              <a:ext uri="{FF2B5EF4-FFF2-40B4-BE49-F238E27FC236}">
                <a16:creationId xmlns:a16="http://schemas.microsoft.com/office/drawing/2014/main" id="{0AD60BAE-1AFD-49B6-B834-C7D7B3CFE0D3}"/>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5" name="AutoShape 12" descr="data:image/jpg;base64,%20/9j/4AAQSkZJRgABAQEAYABgAAD/2wBDAAUDBAQEAwUEBAQFBQUGBwwIBwcHBw8LCwkMEQ8SEhEPERETFhwXExQaFRERGCEYGh0dHx8fExciJCIeJBweHx7/2wBDAQUFBQcGBw4ICA4eFBEUHh4eHh4eHh4eHh4eHh4eHh4eHh4eHh4eHh4eHh4eHh4eHh4eHh4eHh4eHh4eHh4eHh7/wAARCABNAaM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68smhtbVQ0yCOMcucAY968m+KvhLVPEfiKa60jWdCFjdtbGdZrjEimI9Rjgjrx349K2PHUm/4MeIWDf8ALq+CD/tCvkGPczqvmOMkDO41jUlbQ8jM8SqbVOUb9d7H3N4Lh0/QNKazl1mwnZpC+5JAo6AdCT6VzUGk6ukdrZt4u082cN/HO0fmptMKTeYEAxkHATnPUGvm+bwraNbvLa3k7+Xei3YiUMCmVBb8Nx/Kua1y2+w6rcWiNJtjcqMybsj1zVwxMqa0Rms3nRjZQ09f+Afedymm61Zy2jSxXMRxvEcgOD26VFp2ki0v55YysVs8YjWJCefVjnv24rw79jUsYfE2WJ/eW/U57PXsniHX7vTLyWCDTJrsJFFIpQHksZAV+vyD86cZcyuenha/t6SqWtc3TFi3MKMyfLtDZyR71k6ZoFrAbae5iR7u3JxKrN8xPG4574rEuPF+oQTtHHYJex+U/lzQ7trSYQov0yzAnttzW34U1abVreeWdBG6SFfLCkbfxPWqOg1441jZ2XOXO45OeawfGE91o+gahf2VwwuJJIwhcBhHuZVOB+JNb8zFIXcYyqk815d4o8U3+oeG1trmwSP7RPGySgkKyLImcf7QY4x6YNZV21Sk12f5Ez+FnZDSfERAP/CUn/wBX/4qg6R4ix/yNJ/8AV/+KrR1q4mtdN82GeCBsgbpVLA+wA6k1atHlksopJ0WOVowXVTkA45GazVKF+XX73/mTyxvb9WZfgfUbjVvClhqF2ytPNFlyBgE/StquN8E3Utl8LbO6hj8ySO3yq4zk5p3/CVX8dx9mudP8kkLH5xVtiSZBYtx02sDj1BFaUG3Si32Q6bvFHYUVyth4mmuLfUpwm4WkQdFMRUuMDLc/wAqS68VXAvLqOzsftEMar5MgDASnIVwDjHBdPw3elalnV0VyX/CU3UN0i3NvEIt0izkZ/0baSFD/wC9jI/Gtbw7e3179oa9jSPaU2oFIIyoYg564zj8KANeiiuL/wCEq1NdOS5ezUTG3WZYGRg0u5Sfl9lxye/NAHaUVw6+MNUQtFJpJaT5VQgEYffhtw/h+T5h64NW7bxed6NdW4SP7IZGxnPnBUJiHvliPwoA62iuZ0LxFc31/b2t1bi3dlZZECnIkXOc55UEYIJ65rpqACiuX1TxJc2eoXkKwJMIpPKSJVO/JjVlc+qlm2/lUL+JtQ+yNcx2m92hj8u28tt/nFiGQ/7uxj07UAddRUGn3KXljBdxghZow4BHIyKzvFmp3el2UE1nbmeSSbYVCk4UI7E8f7v60AbFFccviq+a3MkdqkjSySxRAKcIyHPJ7jYGYHvjFQJ4w1H7B9pSxW4dpnhEaqVwVOQc9wUV2/4DigDuKKp6JdyX+lW97JF5RnQSBPQHp+lR+INQfS9ON8sJljiYeaoBLbTxkAehI/DNAGhRXFReLNQSW8F1bRr9jXfIiqTlRKyPz6qq7vetzwnq15q9lLPeWX2OSOTymjyThwBv/JiR+FAGzXM+F/8AkbvE/wD13g/9FLW/qEzW9hcXCLvaKJnVfUgE4rzLS/GtvoHiPWj4gsr2K4u2imjWG2Z8xiMDccdOnSsK7UXBvv8AoyJu1n5/oz0XXrq4s9P8+2EZcSxqd+cbWdVPTvg1frhbj4neHYwFnstWweQDYue456epFRH4teF9hfydV2jGT9ifjP4Ue3p3vcXPG+5yup/E6DQ/iRq0l1pFw0WxLbhgGwhb5sHsd1dJB8YfCNxYTSrcTQXKRMyQzREbmA4GRxya56bXPC2teJtS1iXRLm6tJLJArSw+V80e4ty2OcEY9ayfHfhPRZfDdzqmh6PdWtxHeLboshGHz1IA6fjXLH26g5U3dXelvM+iwVXKMRyU6tJwe11LT1d9l1PQfhr8SNN8VxrZ3Oyy1VR80BPyye6Hv9OtaMF94m1LU9Tj0+bTIbezujbqJo3ZjhVOTj614FovgfWpLuGSaddNxIyiZiQY2RC5PHpivbvg299JpGqNqNx9puv7QcPNjHmYVcMR2yMVdCVaSUaqsdGZUcuoynUwUlJdmm7arZvc1dvjD/oIaJ/36f8Axo2+MP8AoIaJ/wB+n/xrS1W7NhoxuIoRLNtVYkxnc54HTnHc+wrn/wDhLpww3aWypKSIjtOd4jyyEY4IfA+n0rq5F3Z4EseouzjH7kXtvjD/AKCGif8Afp/8aNvjD/oIaJ/36f8AxqG38R3Nxau0dgn2mN4keE5BBYAE8joHP5Cq7+J7pJ/LeK3BXJl2qTtAYfc/v8HtzS5V3ZP9or+WP/gKDW9J8VaxYGxm1TSURmViY4nzwc45qhoWn+JLi/1HT7nW1L2MkaFo9yq26MsDjtjevHfbzXeNt3QsABlvT2NYXh3/AJGzxL/13g/9ErQ1yyWv9WOmNRVadS8Vor6K3VL9SLw94f1LTb20luNQS8WBJoy7ZDFXKEADpxs/WrWs6Nd3VxZTQXnzW6TKTLjJL7cHgdRtrdorU4TlF8Pa5shSTXpnKTI7yK5VnUA5XGCBk4P6dK6DRbR7DSLSykk814IljL/3iBjNW6KACiiigDyiX4fweE/hQngm21vUb21u72O3a4u28yVY5ZACoPoO1cA/wl8Ho7J/aOqcEj/UJ/8AFV7X41nWbTdMaO4injbVbXDRkEZEq9wa4u4/4+JP98/zrlqRTm7mWYVfZUKcoxV25bxT7d0zhT8J/Bg66jqY/wC2Kf8AxVKPhP4OxxqOqY/64J/8VVzWrG+k8TxTSXOLV0EahF5AJ6HtWpoDNmaIK/lIcAsc5NcNXEUoYqOHjrdbpvR9mXDB1pZdLGtRVunJDVXtdO36Fv4e+GNP8L3EtroOu6tbG/kjWQiCPBI4Gck+teiyaFrEa7pPGl8g9WhiH9K4/Rf+QzZf9fEf/oQrrPiHaahcW0ckCRyWkY/eqR82Seor0adOLX/BZGX4+tKDWll/dj/kQFdW03xFpEJ8TT38VzNJFNFJFHgYjLD7oz1Fdc+5ELvMqqBkkrwK8dZJLfWvDxtmlMzXLkYOT90j8a9M8Sato0Hhi6vr6/jWx2lWkRgSSOw9TntVRtByu9P+Aj1K8Z1lScY3bXRdeZpbDtT8QaXp+kT6rc6nALWAfOwGST6AZ5Jrxufx74j8WXN8sdqkehq8Q2+X8y/vU2kt6n0rAsbLWPiJ4ka3tPNi05Xzz91FHQkdC2K9kh+HdnD4c/siC7aAFUDvGuNxUk5PPXJH5CuOTqYpPk0jr8/+Aeji8Nh8tw0qNRKVea+UE/8A278vz7G5tba7gWK6gSZBghXGQD61KiLHEI41CqowoHYVwK+AtdAH/Fcaqank8D6kqZ/4S/WO3/LSuq9S9+X8f+AfOXl2ND4YLJ/wgml4kAHlf3fc10h3g4Myg+m2uY0/wpcWctraLfu2k28ahYN7K28D72R79q2tR0truQsty0W6MIcDJyu7BB/4Efyq6UXCnGL6JDgrRSLxEmQPNXJ6fLS7Zf8AnoP++ayDocnnK/8AaEpCElQ2TgHtnPT9a04rYLZxW8kjybAo3FiCxHetChJ5fIjkkmnVEjXczFeAKg0/ULe+DG2ulYqcEFMH24NWLmCK5SW3mXdHJHtYeoOazNL0GHTplNscIH3EsxLHjAB+goA1Y2aRd0c6MPUDNO2y/wDPQf8AfNZEegiKFUhvJkIjVCcnDEA84BHqPyFEuizAM0V/MXZ8nczYI3Zx1/zigDW2yf8APUf980MJFUsZRgDJ+Ws+w0l7W5Wb7ZJIBywbPzfKB6+1aKxosjyDO58ZyTj8qAIbedZwTHcKcHH3cVJls489M/7tZs2msdRgmi8pURyzYPJ5z0om0VnZmS+mjZmdsjtuYtx+dAGptl/56D/vmkxJkDzVye22sptEm8tVTUp0w2Sckntx1+v50S6IzbW+2Slo87DuO7krxnP+zj8aANbbL/z0H/fNG2X/AJ6D/vmoLG1aK3g8+RpZowdz7jyT14q1QBGvmMP9YOpH3aP3mcecufTbTovun/eP865rxDLdQw+dZ+UJFufnZ32kLuxQB0m2X/noP++aRhIqljIOB/drH0nVJ7qKK4EkMqM2yRUOQpzjg1tS/wCqf6GgCGeZYNvnXCJuOBletPJZThp0HGeR29etUdWsbq7lQx3EcaIAVVlyQ3r+VN1DSGvvJaa6ZZFiaJyi/fDYyPxwKANELIRkSj/vmmmLeclo2567Aay00Jgm1tQuW5GDuI7j0PoMfjSLoMg/5iM4G4s20kbifXmgDU+zj/pn/wB+xSGEAgfu+f8ApmKr2em+R5qyXMsqSKq4LHII75z3q6/30H1/lQBkteaZdF7ZpI5NhDOnlHHsT6itNSxcoJ0LAcjb0rnv+EfuoL6S7geCSR02c8YAFak+lySeYEujGHdn4X5gSPUHt2oAvsJFGWmUD3WuO0vVBpGr65DdWuoEzXxmjaKyeRWQooBBXjsa25NDkb/mIzFd5bDZODxz19qcuiyrkJqEyg9hnr83PXr836ColFuzTN6NaMFKMldPzt1uVU8WafHEAbLWMKOSdOl/woXxhprOUWz1csOoGny5H6VYfRJ22r/ak+wdVOTk45796s3OmPI8jx3ksZkfccdvlx2/Olyz7/gV7TD/AMj/APAv+AUP+EssP+fHWP8AwXS/4Uh8XaeOtlq4/wC4fL/hVoaNIrB11G4DgcEsx545xn2P51GmhSBldtQmZwchjnj73v8A7X6Ucs+/4D9ph/5H/wCBf8AryeKrFtpWz1hSpyP+JdKf6VD4QkmutZ16/WK4ghnni8sz25jLARKCQDz1FXxpN3FcwNHfTOgdWfex4x179/yrWESrG6rn5sk5Ynk/WjkldNsHXpqEowja+m9+qfZdisl9bvP5CX0TSZxtA5zVhSzFgsykqcHC9KwbTQb6DWYLz7cvkRjDRAHnrV7+yH2xqLtlEYYLtBBbJB+bB5PB/M1ocpo7ZP8AnqP++aMSZx5q59NtZD6FM67W1KZlxyDnngD19qdFosy3a3DahIxD7sYI4yDgc+1AGttl/wCeg/75oqJrKBmLHzMk5P71v8aKAOT8UwafaaVpdrp1rbWsCarbERQ7VXJlBPC/jXJSsrzylGDASMDjsQelQz/8f2lf9hO2/wDRgrI1PRtt9czNqrwGadyoGQMtIXxjPJ5/SsqseWbRXEGFVClRhf8Am/Q2nXcuG6ZB5FMiaLcYo5ELJ95V6j8KyIdA2FWk1GeZlcOC7HGQwPTPoMfjTrvRHuDKUvjCWkkdWRMMN7biCQcntis7Lc+b5vd5ebQ6TRf+QxZf9fEf/oQr1KVlnt38mcJ23rg7a8W8K6PJa+JdOnGoSSRpMAY8HDFnzk816jJoMaJsbUJUjfK4zjczKF7HnpwK1pnpZekoysch8TpE8Lw6frMdx84kmKEIBl2iYD9TXz+Lm8uIls2nuJIPNMnkhiRvPVgPWvoL4j+F7fXrzQtNbUZPJlunVudwUiNm4568gVr6D4C0Hw1ZyS29slzNlSHlTJHQf/Xrhr4Wdeq9bJf8A+/yzO6OWYOK9m5Tl8lZOVtd76voZPwm06902xkhtbSWC1ktzIrSpglz0611kTa8qCFkDEbSZDj5vn5H/fP8zSaNraz389m+FW3j3MQm0DgZ/rUi+Ircwo7QuG3Ydf7g5IP5CvRSsrHydSbnNyfUU3WtAoBZqwP3jjGOOfyOcevFXrA3J05Dd587cc5GON3HH0xS2V79qjSRYZAGdl/3cHqasTf6v8R/OmQZfiO61SyjS6sYo7iNDh4NpLyZ9COmKjkm1qT7PdQw4U26M8Bx987sj8OK26KAMQz635yEwgIFbdtTI6rg+pP3uO1aq/aGgiLbI5eDIOo9wKmooAjdQ7spzgqOn41R020kju5mlkmZUbbGGPBGOtT6k0iWs7QyeXII/lbGcHNZOkXGoPqMKTX3nRMpJAQDtQMkQa6sVuGbLbFMpwDz3GKu6XLqcsmb2FIl2ZwBzuz0/D+tQLrsCxkzxurr99FGdpJwAffjtVy0vftESyLbyrmRoyCPu7SRk/lQIsRiQF/MZSCflwMYFPoooA5mzinOpwyMswCvjrxir88uqRh/KhkklMrAg42Bcnbj8MflWvRQBimfWVtwv2fdKQVJx06YOe/GT9eKb5+uNIQLcBVyBkD5zxjJ7DrzW5RQBjPca5jclvGVAPVec49PY8e9akHntteTABQZTHIbvzUtFAEYdEXLsFy5AyfeiSCGTPmQxvnruUGq9xatcPHIsoRoy45XcDn+vFU/7EYkM+oTnHQBmA6Y9fxoAs2mm2duqpb5RN24IuME5z6etXZf9U/0NY6aEwTb/aE20nJ25GfmB9fw4q1YWDWUc7PdS3BcdXJ460AVNft76a6ja23BFUE4zz97jj6j8qffrq6rALHp9nKOGx8rnGG59Oai1/UNRtb6GGza3CSKB+8HIPPPXpxVp9QlhhtnmVGDxs0jLnjaMnAoGV1utdVFDWiFt2D7DH69jx9Kd9q1tlwtmgYKxO7gE4+UfjT2161V2Vo5Rh1QcdSTj+ferFhqSXdv5kcMm4MqsuORkA5+nNAhllJqUolWdEjO1SjbTjPfIq8/3kzz1/lT6Y/30/GgDIt4bpboNCQOT98Hp/8AqpJ31yK6kaNBLCZGK5x8i8ADHf1H41T/AOEivC9xttkZIcZYMOM+vNan9rxpLIssbALIUUqCc4IBP5kUDI1l1tluUkt4kxA3lOh6vjjii4uNYDO9tah4+NqvwT6/TFKmv2h2Fop0V13BmTA6A/1FOh1mKeCSWGGTCuqAvwCW9fQCgRJZSalKsqzqkbDbsbacH14rQrIm1yOOTyxBI7LII3YD5Mn0Per1peJdRRSxRybJM8kfdx2PpQBZooooAKiu932Wby1LPsbaB3OKlooA4vwlL4hj1dbK9mmnso12pI4Ulhg8seu7IHbGCKfLeeJ7OVpFSS5i8wookix5hZ1AwByoAJ9Qcda7Gih7thfRI5K2vPF8cgjns4nVXUFguS6k8kY4Hfg9MD1rprVbpZJjcSxuhfMQVMFVx0PqetT0UAFFFFAHkWpafe2s2mTz20iRrqVtkkf9NBWlqngbVNSUMs0MPzl1dW+Zc+h7GtvxXZXl9pkaWEcck8N1FcBHfaGCNuIz26VFeT+N5Rbtb6PbogUDal6MZ9Tx6VnUd6jbR6eYU1j4Qcmk436pb27s5d/hbqjLt/tDCnIYBj8wKbfX8frU0Pw01KO9guftKN5BYqpc859eeTWrBD8Ro0ZWhtzvRAf9MB2kOWODjuMA+1act94++xTKNB03zy37ope8Bc8ZyvpU80ez+5nmf2Sv5l/4FH/MztF8GX2m3UDwx26RRziVlWQnJ3ZPWuv1O1kvljWRJYwh3DYy/e7H8K5nd49e0ljbT4Fkd0YOt4uVAIJA46HpUYuPiR5j79JsAiAbNl2CW45zkdf601OK6P7ma0su9lflktf7y/zLGr2X2XXfD0flvJvvpJDkgciAjt9K60yTEYNsSP8AeFcG+n+ONTudNa+t4LU2N15vnJcBmZSuCMY9zmultl8QSW10J5Fjc27CHAG7zSOv0B6e1Onq5P8ArZG2JSjCnG6bS6NP7T7Gmq7S5WxUFxhsFeR70rLubc1irN6naTWG/wDwlLpIuUTO4KVxuHHynJ49OPXNS3K63JpwUtKlwXlAaPHTadhPp/jWhyGyjSRrtS12r6AgCiR52XH2c9v4hXO21tr0abpmuZZFGceYoDJsxt9mJ/KtbQEvI45lu3mcgrtMn+4M49s5oAu+ZN/z7n/voUeZN/z7n/voVNRQBD5k3/Puf++hR5k3/Puf++hU1FAFZjKxbdbblK4ILCmxxiNwyWQVh0IIq3RQBVCYxixQY6fd4p6tIudtrjJycMOtT0UAQ+ZN/wA+5/76FHmTf8+5/wC+hU1FAEDTTKpY25wBn7wqSKRZIlkHAYZpZTiJz/smuXsNBu1s1j/tG5SMDEYAz8pUDpnjnJ70AdVRVTTo5bWzSCRpJ2XPzkYJ5+pqfzG/55vQBJRUfmN/zzejzG/55vQAsZARieAGP86cwV0KnlWGD7iqWo27Xdi9sC8ZZg27bkcMGwRnkHGCPSsx9DuJJWZtSvApk3hUG0LznHXpjj6UAb8aoqKiY2gYAz2ol/1T/Q1zMHhu5ihWMavejaOCqY5weevXJB9PlHFbGl201np4tZp57p8sTK4wTkk0AW5ra3mIaWFHIGMsM04rEqAMqBQMDI4ApPMb/nm9U9XtW1C1EILR4cNkpuB4PBGR60AW/Itzj9zEdvT5RxinxpGg/dqqg8/KMZrmn0C+DKsOq3KxHO/K/MPQjnr/AJ5qXTtGvrPUIpf7SuZrdRzERtAwMAdTn/61AHRUx/vp9TSeY3/PN6QsxZT5b8UAQNpensJFNqmJcbx/exVkxRnGY0ODkZHQ+tJ5jf8APN6PMb/nm9ACmGIjHlJj02igQwhCoijCkYICjBpPMb/nm9HmN/zzegAEEI6Qxj/gIp6KqKFRQqjoAMCmeY3/ADzejzG/55vQA/cM7cjPpS1i3mkvPfPdxXVzA7yRuwUDG1Bjb179aq/2Bcqn7vVr4PsC7mG4HggnGe+c0AdJRWboVnJpmnravNNdMGZjK4wWJOTnk1e8xv8Anm9AElFR+Y3/ADzejzG/55vQBJRUfmN/zzejzG/55vQBJRUfmN/zzeigDPu40junCKFHl9vxqK81y202a0tbhHxLEXMgI2oAOSaVi7Ozu5YlCP0NXha21xbx+fBHJ8gHzLnjr/OmzWqrWuUk8R6W+NszknAA8s8kkAKPfJHFSWutWl3OYbVZZWEbOGCYU7SAVye+TUi6PpquzfZUJZQpzk4A6Y9OnWrEVnaxMrRwIhUEDaMcHr/KkZGbD4jsjbrNOkkGU3srYO0YBHI4JwR0pJ/EdnHbQXCxSyRTTNGrLjAAOC3PbvWhLp9jLEYpLWJkIxjb9P8AAUNp9i0SRG1j8tDuVQMAH6UAUD4l0kF8zkJGdrNjgHOP/r/Snf8ACSaV5cknnNtjAL/IflBIC5/3sjHrVn+yNM2bPsMG3Ocbe9Pk0vT5CS1pEcjaeMZHGPywMemKAKmo6/Y2VsLiTe0ZRJARxwxOOvsrH8KcmuWRguZ23JFbkbm65z6Y+lXDZWrTJK0Kl0TYpPOB/kn8zTf7Osfs5t/ssXlHGVC8cdKAKq69prIrpKzIwJVlQkMAQMj2yQPqabJ4i0qOMs07AjIK7DuBABPHtkVa/svT+gtIgOeAOBkc/wAh/OgaXp4bd9ji3bduSvagCva67Z3MiRxrKGZ9vzJjHJAP0yKrT+JraG7EEltOByS+VwAGK56+xP0rSTTbFJlmS3RXU5BHY03+y7Alt9sj7gynfyCGzkY/E/nQBkx+LrSby/Js7mQuGOPlBGADjBPowroIZBLCkgBAZQwB96h+w2m2QLbxoZAwYquD8wAP8h+VWI1WONUUYVRgfSgBaKKKACiiigAooooAZN/qX/3T/KoLSI/ZY/30v3R3H+FTzf6l/wDdP8qqWl1/o0fyfwjvQBa8o/8APaX8x/hR5R/57S/mP8Ki+1H+5+tH2o/3P1oAl8o/89pfzH+FHlH/AJ7S/mP8Ki+1H+5+tH2o/wBz9aAJfKP/AD2l/Mf4UeUf+e0v5j/CovtR/ufrR9qP9z9aAJfKP/PaX8x/hR5R/wCe0v5j/CovtR/ufrR9qP8Ac/WgCXyj/wA9pfzH+FHlH/ntL+Y/wqL7Uf7n60faj/c/WgCXyj/z2l/Mf4UeUf8AntL+Y/wqL7Uf7n60faj/AHP1oAl8o/8APaX8x/hR5R/57S/mP8Ki+1H+5+tH2o/3P1oAl8o/89pfzH+FHlH/AJ7S/mP8Ki+1H+5+tH2o/wBz9aAJfKP/AD2l/Mf4UeUf+e0v5j/CovtR/ufrR9qP9z9aAJfKP/PaX8x/hR5R/wCe0v5j/CovtR/ufrR9qP8Ac/WgCXyj/wA9pfzH+FHlH/ntL+Y/wqL7Uf7n60faj/c/WgCXyj/z2l/Mf4UeUf8AntL+Y/wqL7Uf7n60faj/AHP1oAl8o/8APaX8x/hR5R/57S/mP8Ki+1H+5+tH2o/3P1oAl8o/89pfzH+FHlH/AJ7S/mP8Ki+1H+5+tH2o/wBz9aAJfKP/AD2l/Mf4UVF9qP8Ac/WigD//2Q==">
            <a:extLst>
              <a:ext uri="{FF2B5EF4-FFF2-40B4-BE49-F238E27FC236}">
                <a16:creationId xmlns:a16="http://schemas.microsoft.com/office/drawing/2014/main" id="{B5A6DAA8-9D69-4D0B-BE68-247FC962F4BD}"/>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7" name="Rectangle 6">
            <a:extLst>
              <a:ext uri="{FF2B5EF4-FFF2-40B4-BE49-F238E27FC236}">
                <a16:creationId xmlns:a16="http://schemas.microsoft.com/office/drawing/2014/main" id="{D32E4C12-1E64-4620-92BC-895BD26D493C}"/>
              </a:ext>
            </a:extLst>
          </p:cNvPr>
          <p:cNvSpPr/>
          <p:nvPr/>
        </p:nvSpPr>
        <p:spPr>
          <a:xfrm>
            <a:off x="1531155" y="2166730"/>
            <a:ext cx="5187697" cy="1382567"/>
          </a:xfrm>
          <a:prstGeom prst="rect">
            <a:avLst/>
          </a:prstGeom>
          <a:noFill/>
          <a:ln w="31750">
            <a:solidFill>
              <a:srgbClr val="FF0000"/>
            </a:solidFill>
            <a:prstDash val="sysDot"/>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a:p>
        </p:txBody>
      </p:sp>
      <p:sp>
        <p:nvSpPr>
          <p:cNvPr id="8" name="TextBox 7">
            <a:extLst>
              <a:ext uri="{FF2B5EF4-FFF2-40B4-BE49-F238E27FC236}">
                <a16:creationId xmlns:a16="http://schemas.microsoft.com/office/drawing/2014/main" id="{67D7862A-50C8-46F6-85F2-0F77A2E0FAEF}"/>
              </a:ext>
            </a:extLst>
          </p:cNvPr>
          <p:cNvSpPr txBox="1"/>
          <p:nvPr/>
        </p:nvSpPr>
        <p:spPr>
          <a:xfrm>
            <a:off x="2912165" y="2276061"/>
            <a:ext cx="2743200" cy="290064"/>
          </a:xfrm>
          <a:prstGeom prst="rect">
            <a:avLst/>
          </a:prstGeom>
          <a:noFill/>
        </p:spPr>
        <p:txBody>
          <a:bodyPr wrap="square" lIns="0" tIns="0" rIns="0" bIns="0" rtlCol="0">
            <a:noAutofit/>
          </a:bodyPr>
          <a:lstStyle/>
          <a:p>
            <a:pPr algn="ctr"/>
            <a:r>
              <a:rPr lang="en-US" sz="1400" b="1" dirty="0">
                <a:solidFill>
                  <a:srgbClr val="FF0000"/>
                </a:solidFill>
              </a:rPr>
              <a:t>Actuals</a:t>
            </a:r>
            <a:endParaRPr lang="ru-RU" b="1" dirty="0" err="1">
              <a:solidFill>
                <a:srgbClr val="FF0000"/>
              </a:solidFill>
            </a:endParaRPr>
          </a:p>
        </p:txBody>
      </p:sp>
      <p:sp>
        <p:nvSpPr>
          <p:cNvPr id="17" name="Rectangle 16">
            <a:extLst>
              <a:ext uri="{FF2B5EF4-FFF2-40B4-BE49-F238E27FC236}">
                <a16:creationId xmlns:a16="http://schemas.microsoft.com/office/drawing/2014/main" id="{6051144B-1577-4401-A9A6-AFB8E1235002}"/>
              </a:ext>
            </a:extLst>
          </p:cNvPr>
          <p:cNvSpPr/>
          <p:nvPr/>
        </p:nvSpPr>
        <p:spPr>
          <a:xfrm>
            <a:off x="6748669" y="2166730"/>
            <a:ext cx="4953977" cy="1382567"/>
          </a:xfrm>
          <a:prstGeom prst="rect">
            <a:avLst/>
          </a:prstGeom>
          <a:noFill/>
          <a:ln w="31750">
            <a:solidFill>
              <a:srgbClr val="002060"/>
            </a:solidFill>
            <a:prstDash val="sysDot"/>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a:p>
        </p:txBody>
      </p:sp>
      <p:sp>
        <p:nvSpPr>
          <p:cNvPr id="18" name="TextBox 17">
            <a:extLst>
              <a:ext uri="{FF2B5EF4-FFF2-40B4-BE49-F238E27FC236}">
                <a16:creationId xmlns:a16="http://schemas.microsoft.com/office/drawing/2014/main" id="{EE9348CC-6053-4946-A216-A95CC4212406}"/>
              </a:ext>
            </a:extLst>
          </p:cNvPr>
          <p:cNvSpPr txBox="1"/>
          <p:nvPr/>
        </p:nvSpPr>
        <p:spPr>
          <a:xfrm>
            <a:off x="7854057" y="2276061"/>
            <a:ext cx="2743200" cy="290064"/>
          </a:xfrm>
          <a:prstGeom prst="rect">
            <a:avLst/>
          </a:prstGeom>
          <a:noFill/>
        </p:spPr>
        <p:txBody>
          <a:bodyPr wrap="square" lIns="0" tIns="0" rIns="0" bIns="0" rtlCol="0">
            <a:noAutofit/>
          </a:bodyPr>
          <a:lstStyle/>
          <a:p>
            <a:pPr algn="ctr"/>
            <a:r>
              <a:rPr lang="en-US" sz="1400" b="1" dirty="0">
                <a:solidFill>
                  <a:srgbClr val="002060"/>
                </a:solidFill>
              </a:rPr>
              <a:t>Commitments</a:t>
            </a:r>
            <a:endParaRPr lang="ru-RU" b="1" dirty="0" err="1">
              <a:solidFill>
                <a:srgbClr val="002060"/>
              </a:solidFill>
            </a:endParaRPr>
          </a:p>
        </p:txBody>
      </p:sp>
      <p:pic>
        <p:nvPicPr>
          <p:cNvPr id="9" name="Picture 8">
            <a:extLst>
              <a:ext uri="{FF2B5EF4-FFF2-40B4-BE49-F238E27FC236}">
                <a16:creationId xmlns:a16="http://schemas.microsoft.com/office/drawing/2014/main" id="{F2912E4C-3BFB-4D5F-97F0-44F330A15BD1}"/>
              </a:ext>
            </a:extLst>
          </p:cNvPr>
          <p:cNvPicPr>
            <a:picLocks noChangeAspect="1"/>
          </p:cNvPicPr>
          <p:nvPr/>
        </p:nvPicPr>
        <p:blipFill>
          <a:blip r:embed="rId4"/>
          <a:stretch>
            <a:fillRect/>
          </a:stretch>
        </p:blipFill>
        <p:spPr>
          <a:xfrm>
            <a:off x="5424239" y="3721582"/>
            <a:ext cx="6278334" cy="1734254"/>
          </a:xfrm>
          <a:prstGeom prst="rect">
            <a:avLst/>
          </a:prstGeom>
        </p:spPr>
      </p:pic>
      <p:cxnSp>
        <p:nvCxnSpPr>
          <p:cNvPr id="11" name="Straight Arrow Connector 10">
            <a:extLst>
              <a:ext uri="{FF2B5EF4-FFF2-40B4-BE49-F238E27FC236}">
                <a16:creationId xmlns:a16="http://schemas.microsoft.com/office/drawing/2014/main" id="{C6086BEF-767B-4245-A9BB-B9EDEF884258}"/>
              </a:ext>
            </a:extLst>
          </p:cNvPr>
          <p:cNvCxnSpPr/>
          <p:nvPr/>
        </p:nvCxnSpPr>
        <p:spPr>
          <a:xfrm>
            <a:off x="8130209" y="2910520"/>
            <a:ext cx="278295" cy="1830445"/>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05853F3-70FC-41DE-A4C4-EA9E3E375919}"/>
              </a:ext>
            </a:extLst>
          </p:cNvPr>
          <p:cNvCxnSpPr>
            <a:cxnSpLocks/>
          </p:cNvCxnSpPr>
          <p:nvPr/>
        </p:nvCxnSpPr>
        <p:spPr>
          <a:xfrm flipH="1">
            <a:off x="10505661" y="2915489"/>
            <a:ext cx="91596" cy="1825476"/>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E15F2F97-487A-4B59-88A8-B5B598A506BB}"/>
              </a:ext>
            </a:extLst>
          </p:cNvPr>
          <p:cNvSpPr/>
          <p:nvPr/>
        </p:nvSpPr>
        <p:spPr>
          <a:xfrm>
            <a:off x="5267740" y="4153946"/>
            <a:ext cx="2862469" cy="587019"/>
          </a:xfrm>
          <a:prstGeom prst="rect">
            <a:avLst/>
          </a:prstGeom>
          <a:solidFill>
            <a:schemeClr val="bg1"/>
          </a:solidFill>
          <a:ln w="28575">
            <a:solidFill>
              <a:schemeClr val="bg2">
                <a:lumMod val="75000"/>
              </a:schemeClr>
            </a:soli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50" b="0" i="0" u="none" strike="noStrike" kern="1200" cap="none" spc="0" normalizeH="0" baseline="0" noProof="0" dirty="0">
                <a:ln>
                  <a:noFill/>
                </a:ln>
                <a:solidFill>
                  <a:srgbClr val="000000"/>
                </a:solidFill>
                <a:effectLst/>
                <a:uLnTx/>
                <a:uFillTx/>
                <a:latin typeface="Arial" panose="020B0604020202020204"/>
                <a:ea typeface="+mn-ea"/>
                <a:cs typeface="+mn-cs"/>
              </a:rPr>
              <a:t>Report </a:t>
            </a:r>
            <a:r>
              <a:rPr kumimoji="0" lang="en-GB" sz="1150" b="1" i="0" u="none" strike="noStrike" kern="1200" cap="none" spc="0" normalizeH="0" baseline="0" noProof="0" dirty="0">
                <a:ln>
                  <a:noFill/>
                </a:ln>
                <a:solidFill>
                  <a:srgbClr val="000000"/>
                </a:solidFill>
                <a:effectLst/>
                <a:uLnTx/>
                <a:uFillTx/>
                <a:latin typeface="Arial" panose="020B0604020202020204"/>
                <a:ea typeface="+mn-ea"/>
                <a:cs typeface="+mn-cs"/>
              </a:rPr>
              <a:t>CJI5</a:t>
            </a:r>
            <a:r>
              <a:rPr kumimoji="0" lang="en-GB" sz="1150" b="0" i="0" u="none" strike="noStrike" kern="1200" cap="none" spc="0" normalizeH="0" baseline="0" noProof="0" dirty="0">
                <a:ln>
                  <a:noFill/>
                </a:ln>
                <a:solidFill>
                  <a:srgbClr val="000000"/>
                </a:solidFill>
                <a:effectLst/>
                <a:uLnTx/>
                <a:uFillTx/>
                <a:latin typeface="Arial" panose="020B0604020202020204"/>
                <a:ea typeface="+mn-ea"/>
                <a:cs typeface="+mn-cs"/>
              </a:rPr>
              <a:t> for WBS Commitment Line Items</a:t>
            </a:r>
          </a:p>
        </p:txBody>
      </p:sp>
      <p:sp>
        <p:nvSpPr>
          <p:cNvPr id="10" name="TextBox 9">
            <a:extLst>
              <a:ext uri="{FF2B5EF4-FFF2-40B4-BE49-F238E27FC236}">
                <a16:creationId xmlns:a16="http://schemas.microsoft.com/office/drawing/2014/main" id="{2A556471-6ECB-45F8-B40E-044C758AFE51}"/>
              </a:ext>
            </a:extLst>
          </p:cNvPr>
          <p:cNvSpPr txBox="1"/>
          <p:nvPr/>
        </p:nvSpPr>
        <p:spPr>
          <a:xfrm>
            <a:off x="416094" y="3612568"/>
            <a:ext cx="4712497" cy="834887"/>
          </a:xfrm>
          <a:prstGeom prst="rect">
            <a:avLst/>
          </a:prstGeom>
          <a:solidFill>
            <a:schemeClr val="accent2">
              <a:lumMod val="40000"/>
              <a:lumOff val="60000"/>
            </a:schemeClr>
          </a:solidFill>
          <a:ln>
            <a:solidFill>
              <a:schemeClr val="bg1">
                <a:lumMod val="85000"/>
              </a:schemeClr>
            </a:solidFill>
          </a:ln>
        </p:spPr>
        <p:txBody>
          <a:bodyPr wrap="square" lIns="0" tIns="0" rIns="0" bIns="0" rtlCol="0">
            <a:noAutofit/>
          </a:bodyPr>
          <a:lstStyle/>
          <a:p>
            <a:pPr algn="l"/>
            <a:r>
              <a:rPr lang="en-US" sz="1600" b="1" dirty="0"/>
              <a:t>Note! </a:t>
            </a:r>
            <a:r>
              <a:rPr lang="en-US" sz="1600" dirty="0"/>
              <a:t>Actuals do not include Period-End allocations and settlements by design, in order to avoid zero actuals for fully settled WBS elements</a:t>
            </a:r>
            <a:endParaRPr lang="ru-RU" sz="1600" dirty="0" err="1"/>
          </a:p>
        </p:txBody>
      </p:sp>
    </p:spTree>
    <p:extLst>
      <p:ext uri="{BB962C8B-B14F-4D97-AF65-F5344CB8AC3E}">
        <p14:creationId xmlns:p14="http://schemas.microsoft.com/office/powerpoint/2010/main" val="2161471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22BCF-CFCD-41A7-BF7E-3E597266F863}"/>
              </a:ext>
            </a:extLst>
          </p:cNvPr>
          <p:cNvSpPr>
            <a:spLocks noGrp="1"/>
          </p:cNvSpPr>
          <p:nvPr>
            <p:ph type="title"/>
          </p:nvPr>
        </p:nvSpPr>
        <p:spPr>
          <a:xfrm>
            <a:off x="1511277" y="210344"/>
            <a:ext cx="9839210" cy="984247"/>
          </a:xfrm>
        </p:spPr>
        <p:txBody>
          <a:bodyPr/>
          <a:lstStyle/>
          <a:p>
            <a:r>
              <a:rPr lang="en-GB" sz="2800" dirty="0"/>
              <a:t>JTI WBS Commitments vs Actuals: characteristics</a:t>
            </a:r>
          </a:p>
        </p:txBody>
      </p:sp>
      <p:sp>
        <p:nvSpPr>
          <p:cNvPr id="6" name="Rectangle 5">
            <a:extLst>
              <a:ext uri="{FF2B5EF4-FFF2-40B4-BE49-F238E27FC236}">
                <a16:creationId xmlns:a16="http://schemas.microsoft.com/office/drawing/2014/main" id="{5D6147A3-923C-41C8-97AA-0F37BB782DED}"/>
              </a:ext>
            </a:extLst>
          </p:cNvPr>
          <p:cNvSpPr/>
          <p:nvPr/>
        </p:nvSpPr>
        <p:spPr>
          <a:xfrm>
            <a:off x="555695" y="1467780"/>
            <a:ext cx="11080610" cy="2031325"/>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i="0" u="none" strike="noStrike" kern="1200" cap="none" spc="0" normalizeH="0" baseline="0" noProof="0" dirty="0">
                <a:ln>
                  <a:noFill/>
                </a:ln>
                <a:solidFill>
                  <a:srgbClr val="000000"/>
                </a:solidFill>
                <a:effectLst/>
                <a:uLnTx/>
                <a:uFillTx/>
                <a:latin typeface="Arial" panose="020B0604020202020204"/>
                <a:ea typeface="+mn-ea"/>
                <a:cs typeface="+mn-cs"/>
              </a:rPr>
              <a:t>The Query contains a wide range of Characteristics relevant for Commitments, Actuals or both. Where characteristic is only valid for Commitments or Actuals, the corresponding line would show only Commitments of Actuals key </a:t>
            </a:r>
            <a:r>
              <a:rPr lang="en-US" sz="1400" dirty="0">
                <a:solidFill>
                  <a:srgbClr val="000000"/>
                </a:solidFill>
                <a:latin typeface="Arial" panose="020B0604020202020204"/>
              </a:rPr>
              <a:t>figures and vice versa.</a:t>
            </a:r>
            <a:br>
              <a:rPr lang="en-US" sz="1400" dirty="0">
                <a:solidFill>
                  <a:srgbClr val="000000"/>
                </a:solidFill>
                <a:latin typeface="Arial" panose="020B0604020202020204"/>
              </a:rPr>
            </a:br>
            <a:br>
              <a:rPr lang="en-US" sz="1400" dirty="0">
                <a:solidFill>
                  <a:srgbClr val="000000"/>
                </a:solidFill>
                <a:latin typeface="Arial" panose="020B0604020202020204"/>
              </a:rPr>
            </a:br>
            <a:r>
              <a:rPr lang="en-US" sz="1400" b="1" u="sng" dirty="0">
                <a:solidFill>
                  <a:srgbClr val="000000"/>
                </a:solidFill>
                <a:latin typeface="Arial" panose="020B0604020202020204"/>
              </a:rPr>
              <a:t>For example</a:t>
            </a:r>
            <a:r>
              <a:rPr lang="en-US" sz="1400" dirty="0">
                <a:solidFill>
                  <a:srgbClr val="000000"/>
                </a:solidFill>
                <a:latin typeface="Arial" panose="020B0604020202020204"/>
              </a:rPr>
              <a:t>: for Expected Debit Dates (commitment specific characteristic) report </a:t>
            </a:r>
            <a:r>
              <a:rPr lang="en-US" sz="1400" b="1" dirty="0">
                <a:solidFill>
                  <a:srgbClr val="000000"/>
                </a:solidFill>
                <a:latin typeface="Arial" panose="020B0604020202020204"/>
              </a:rPr>
              <a:t>would show Commitments figures </a:t>
            </a:r>
            <a:r>
              <a:rPr lang="en-US" sz="1400" dirty="0">
                <a:solidFill>
                  <a:srgbClr val="000000"/>
                </a:solidFill>
                <a:latin typeface="Arial" panose="020B0604020202020204"/>
              </a:rPr>
              <a:t>while </a:t>
            </a:r>
            <a:r>
              <a:rPr lang="en-US" sz="1400" b="1" dirty="0">
                <a:solidFill>
                  <a:srgbClr val="000000"/>
                </a:solidFill>
                <a:latin typeface="Arial" panose="020B0604020202020204"/>
              </a:rPr>
              <a:t>Actuals would show zero amounts</a:t>
            </a:r>
            <a:r>
              <a:rPr lang="en-US" sz="1400" dirty="0">
                <a:solidFill>
                  <a:srgbClr val="000000"/>
                </a:solidFill>
                <a:latin typeface="Arial" panose="020B0604020202020204"/>
              </a:rPr>
              <a:t>. Actuals figures would be shown for the line with empty Expected Debit Dates (</a:t>
            </a:r>
            <a:r>
              <a:rPr lang="en-US" sz="1400" i="1" dirty="0">
                <a:solidFill>
                  <a:srgbClr val="000000"/>
                </a:solidFill>
                <a:latin typeface="Arial" panose="020B0604020202020204"/>
              </a:rPr>
              <a:t>which is obvious, as such information doesn’t exist in GL Line item reports</a:t>
            </a:r>
            <a:r>
              <a:rPr lang="en-US" sz="1400" dirty="0">
                <a:solidFill>
                  <a:srgbClr val="000000"/>
                </a:solidFill>
                <a:latin typeface="Arial" panose="020B0604020202020204"/>
              </a:rPr>
              <a:t>)</a:t>
            </a:r>
            <a:br>
              <a:rPr lang="en-US" sz="1400" dirty="0">
                <a:solidFill>
                  <a:srgbClr val="000000"/>
                </a:solidFill>
                <a:latin typeface="Arial" panose="020B0604020202020204"/>
              </a:rPr>
            </a:br>
            <a:endParaRPr kumimoji="0" lang="en-US" sz="140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base" latinLnBrk="0" hangingPunct="1">
              <a:lnSpc>
                <a:spcPct val="100000"/>
              </a:lnSpc>
              <a:spcBef>
                <a:spcPts val="0"/>
              </a:spcBef>
              <a:spcAft>
                <a:spcPts val="0"/>
              </a:spcAft>
              <a:buClrTx/>
              <a:buSzTx/>
              <a:tabLst/>
              <a:defRPr/>
            </a:pPr>
            <a:endPar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2" name="AutoShape 9" descr="data:image/jpg;base64,%20/9j/4AAQSkZJRgABAQEAYABgAAD/2wBDAAUDBAQEAwUEBAQFBQUGBwwIBwcHBw8LCwkMEQ8SEhEPERETFhwXExQaFRERGCEYGh0dHx8fExciJCIeJBweHx7/2wBDAQUFBQcGBw4ICA4eFBEUHh4eHh4eHh4eHh4eHh4eHh4eHh4eHh4eHh4eHh4eHh4eHh4eHh4eHh4eHh4eHh4eHh7/wAARCACgAPI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6x1rxDb6Terb3FtcSb1BUwpvJPzEjH0X9fY1HD4miluhCun3gDRNIjFODt6r7HFVL64mS6nPnyqqyN/GcAZNZ0mtWiossmqKqt90tMRnp0/MfnXUsLJq9zmeJSdrGtB4vtZH8t9N1KJ96IA0B5LEj8hxn0yPWpz4hJa5iTS70zQMQV2cNhwowRnrkHp0rIt9US4kaKDUTK6j5lWYkj681P58//PxN/wB/DVfU5dxfWo9i3ceLLaBd0um6iqhQznyhhMgHnn3rT0XVI9UikkS3ngKEBlmUA8jPYmsAzz4/183/AH8NL58//PxN/wB/DR9Tl3D61HsdbRXIPdiIBrnUGt0J2hndsE+nH41q/wBl3/8Az+/+PtWUqKi7ORpGq5K6ibVFYv8AZd//AM/v/j7Uf2Xf/wDP7/4+1TyR/mK55fym1RWL/Zd//wA/v/j7Uf2Xf/8AP7/4+1HJH+YOeX8ptUVi/wBl3/8Az+/+PtR/Zd//AM/v/j7Uckf5g55fym1RWL/Zd/8A8/v/AI+1H9l3/wDz+/8Aj7Uckf5g55fym1RWL/Zd/wD8/v8A4+1H9l3/APz+/wDj7Uckf5g55fym1RWL/Zd//wA/v/j7Uf2Xf/8AP7/4+1HJH+YOeX8ptUVi/wBl3/8Az+/+PtR/Zd//AM/v/j7Uckf5g55fym1RWL/Zd/8A8/v/AI+1H9l3/wDz+/8Aj7Uckf5g55fym1RWL/Zd/wD8/v8A4+1H9l3/APz+/wDj7Uckf5g55fym1RXL6ul5p8aM1w0hc4AEjeoH9ax4NckmDeXcbymQyiVsqQCeapUU/tEOtZ2aPQKK4G11iae5eFZmJjkEcmJG4JrQ86f/AJ7zf9/DVxwrlsxSxCjujrqK5Hzp/wDnvN/38NFV9Tl3J+tR7Dr3/j8n/wCurfzNZd1o+l3UhkuLCCVz/Ey81vz6ddy3EsiRgq0jEHcPU0z+yr3/AJ5D/voV0wqQ5VdnNKnPmdkYum6Xp+nbjZ2scTsMM4HzN9T3q7V3+yr3/nkP++hR/ZV7/wA8h/30Kr2sO5Ps59ilRV3+yr3/AJ5D/voUf2Ve/wDPIf8AfQp+1h3D2c+xXtLVryQxCOGQBdxEq5H+ea2Ui1hVCrJAFAwBjtVSztNTtJTJDDESRg7zn+Rq35mt/wDPC2/X/wCKrjq+9NtWOulpGzuLs1n/AJ6wflRs1n/nrB+VJ5mt/wDPC2/X/wCKo8zW/wDnhbfr/wDFVlZ+X4Gl15/iLs1n/nrB+VGzWf8AnrB+VJ5mt/8APC2/X/4qjzNb/wCeFt+v/wAVRZ+X4Bdef4i7NZ/56wflRs1n/nrB+VJ5mt/88Lb9f/iqPM1v/nhbfr/8VRZ+X4Bdef4i7NZ/56wflRs1n/nrB+VJ5mt/88Lb9f8A4qjzNb/54W36/wDxVFn5fgF15/iLs1n/AJ6wflRs1n/nrB+VJ5mt/wDPC2/X/wCKo8zW/wDnhbfr/wDFUWfl+AXXn+IuzWf+esH5UbNZ/wCesH5Unma3/wA8Lb9f/iqPM1v/AJ4W36//ABVFn5fgF15/iLs1n/nrB+VGzWf+esH5Unma3/zwtv1/+Ko8zW/+eFt+v/xVFn5fgF15/iLs1n/nrB+VGzWf+esH5Unma3/zwtv1/wDiqPM1v/nhbfr/APFUWfl+AXXn+IuzWf8AnrB+VGzWf+esH5Unma3/AM8Lb9f/AIqjzNb/AOeFt+v/AMVRZ+X4Bdef4mT4lF4sEf2tlY5+TZxzuX/61cvaR2b3EtxCqGSTKyFGGQdp6jHFdlqlnquoIiyxwqUOVK+uQeefaseDwlPDdy3KRxpJKPn2k4JxjoWwPw61qum34GE4tyTSv9/boQW9ruuX8uW3Z4DmQKyjHXrx061aiffnGwjjDI+4MCM5BqzBoeoQTzTQwWiSTnMjBOWPv81SR6RqAZ2kSMliPu4AGBj1qqM5RfvNWJlFyjqtfmVaKu/2Ve/88h/30KK6vaw7mPs59jfi3eS23G7c2M9M5NZE134lgm40m2vIyBzFcCMg4GfvdRnOOnSti3/1Z/3m/wDQjUleOeqc79v8WC0tp/7BtGmdn8+3+2AGMAnaQ+CGJGOw5rY0uW8nsY5dQtEtLg53QrL5gXk4+YAZ4wfxq1RQAUUUUAZfiGS+jhj/ALPhglnOeJsbAOOeSPp+NV9LfUTekajFpotfJBDRLhvMwuR1PH3vyFa020zIHbC7W/ixzxRtg/v/APkQ/wCNADf9D9IfyFH+h+kP5CnbYP7/AP5EP+NG2D+//wCRD/jQA3/Q/SH8hR/ofpD+Qp22D+//AORD/jRtg/v/APkQ/wCNADf9D9IfyFH+h+kP5CnbYP7/AP5EP+NG2D+//wCRD/jQA3/Q/SH8hR/ofpD+Qp22D+//AORD/jRtg/v/APkQ/wCNADf9D9IfyFH+h+kP5CnbYP7/AP5EP+NG2D+//wCRD/jQA3/Q/SH8hR/ofpD+Qp22D+//AORD/jRtg/v/APkQ/wCNADf9D9IfyFH+h+kP5CnbYP7/AP5EP+NG2D+//wCRD/jQA3/Q/SH8hR/ofpD+Qp22D+//AORD/jRtg/v/APkQ/wCNADf9D9IfyFH+h+kP5CnbYP7/AP5EP+NG2D+//wCRD/jQBn64YxYS+QVHyjds9N6//XrkNEuNSa+uobmIKqRuY5Yz98bD+ua7HW28qxkMErKdoyQ54+df8TXJ6HqeqSahcW90J08pHKyCQlXGwkHr1/wp9DKb9+Or/pdSTw815/bkfnupjaX90ExwvPDep/Su8rj7S8vZLq7S4jMcSHEDfaG+f9elbfhuSSSGfzGBYOMgOWAO0ZwTQ5X1KpyUo3V/matFFFIsjgOIyTwNzfzNOSSN4xIjqyEZDA5BH1pkah4GRuQxcH6ZNYjeEdJ2uitdRxttBRJiAAowAPT3x1oA3kljcEpIjBW2nBzg+n1pwIOcHp1rAuPCOjzTyzMtwHl5bEzdc9f6fStHRtLtdJt5IbXzNskhkbe5Y5wB1PsooAvUUUUARysoZVMZckEjABxjH+NQz3EEIDSQMoPcqP8AGppY2Z1ZWUYUghlznOPf2qhLpELWcNnGlvFbw42RpFhVx0wM0AWo5YpFDJAxyM/dHFPyv/Ps3/fIplvbywxhVlQ8AElD/jUuJ/78f/fB/wAaAG5X/n2b/vkUZX/n2b/vkU7E/wDfj/74P+NGJ/78f/fB/wAaAG5X/n2b/vkUZX/n2b/vkU7E/wDfj/74P+NGJ/78f/fB/wAaAG5X/n2b/vkUZX/n2b/vkU7E/wDfj/74P+NGJ/78f/fB/wAaAGFoxjdbsBkDO0d6yYfEelzPsSCbPGR5a8Z9ea2GSZgA0iYyDwh7HPrXKr4LI1OC/wD7QUSxLtO2EgOPf5qehE3JW5Vc6vEfaHP/AAEUYT/nj/46KcA46MuM+lH7z+8v/fP/ANekWNwn/PH/AMdFGE/54/8Ajop37z+8v/fP/wBej95/eX/vn/69ADcJ/wA8f/HRRhP+eP8A46Kd+8/vL/3z/wDXo/ef3l/75/8Ar0ANwn/PH/x0UYT/AJ4/+OinfvP7y/8AfP8A9ej95/eX/vn/AOvQBFM8MUbM8Py45G0c81Tg1DTpIWnhjDIFJJVR2HI/Srs8TyoV3qD2+X3B9fasay8NRWct3Jb3BX7Sp3LtO0Eg89ff/DFAFldTsWZ1W1clDhgEX5frzxVzTrqC5WTyImjCMAcqBk4Bzx9ax7XwyttcXFxDNCJLj/WExMc+33uBWpo9gdPikj8yNlZgVCJtCgKBjqfSgmDlb3lqXqKKKCiKMssDsq7mBcgepyawF1/WRCPM8MXazAAuivuXJ7Bsc/oK6CD/AFZ/3m/9CNPDKWKhgWAyRnkUAc8niK+lt2kh0G7LRu6PG+Q2QFPGARzk9SOlaGhajdagJ/tWl3Fh5T7U83H7weo/z+daVJuXeU3DcBkjPOKAFooHIooAhm5mRSSBtY4DEZPFZt5NdpZQyLD5dwxG+M3BIX1+YZz+Vacxj3KrxlyQSPlzTP3P/Psf+/dAEdl+9iBkdz8ox85FT+XH/ef/AL+H/GmkxHGbdjjp+7pP3P8Az7H/AL90AP8ALj/vP/38P+NHlx/3n/7+H/Gmfuf+fY/9+6P3P/Psf+/dMB/lx/3n/wC/h/xo8uP+8/8A38P+NM/c/wDPsf8Av3R+5/59j/37oAf5cf8Aef8A7+H/ABo8uP8AvP8A9/D/AI0z9z/z7H/v3R+5/wCfY/8AfugBZFVVDKzZ3L/GT3HvXBQaxqqapBbyG6eKVQyzLIxAPB5GcV3o8oHIt2B/650wRWgORZKD6+SKLkSi3azsTgKeSxzk/wARo2r/AHm/77NMLoTzC/8A3xRuj/54P/3xSLH7V/vN/wB9mjav95v++zTN0f8Azwf/AL4o3R/88H/74oAftX+83/fZo2r/AHm/77NM3R/88H/74o3R/wDPB/8AvigB+1f7zf8AfZo2r/eb/vs0zdH/AM8H/wC+KN0f/PB/++KAGXmVhby3YEjruPqK53TdS1KX7ZDeQTQSQq22QMdrjBwR7/546V0F1dW9tA8k0bhAMkeXnPIH8yKqafq2mXs6Q28bFnyATFgcDJ5oAx7O+vpLq7jmhmijjOIXNy2JP1/Wtrw7LLLFP5zHcHGR5hcL8oyATV/7Lbf8+8P/AHwKfHHHGCI41QHk7RigmEXFWbuOooooKIolDQsrDILMCPbJrKu/DdjcJ5XmXEUIxhI5CuMADGeuMAcVqxsVgdgpYguQB35NY0GvX0tm8w0G88wRb1i5BZwcFMlQBxzk4zQBAng+zVsnUNSKhmZV+0HAzjGfXGKtT+HLeaERveXf3VDMJMMxChck++0cfX1NM/4SGYDc2hapjAOBCSee2Mdu/P5840NFvptQt5Jp7CeyKvtVJhhiMA5/Mkd+lAC6LpsWlWIs4ZZpUDEgyuWbntmrtFFAEciyGRXQqMAg5Hrj/Cj9/wCsf5GkmG6ZFy2NrHAYjJ4rNvJryOyhlW3eOdyN8TTk7fX5hmgDT/f+sf5Gj9/6x/kar2WZogXeQ4UfxEVY8lf70n/fZoAP3/rH+Ro/f+sf5GjyV/vSf99mjyV/vSf99mgA/f8ArH+Ro/f+sf5GjyV/vSf99mjyV/vSf99mgA/f+sf5Gj9/6x/kaPJX+9J/32aPJX+9J/32aAD9/wCsf5Gj9/6x/kabKmxQytJncvVye4rg4db1RdUgtZftTRyqGSYMSucAkHtTsRKaha/U779/6x/kaP3/AKx/kaULuGSW6n+I0uwerf8AfRpFjf3/AKx/kaP3/rH+Rp2werf99GjYPVv++jQA39/6x/kaP3/rH+Rp2werf99GjYPVv++jQA39/wCsf5Gj9/6x/kadsHq3/fRo2D1b/vo0AU9StJ7y2eLzI1Yjg7SR94H+lYnh3wpJpOtPfi8VkcktEFOAcEZGTXQXm5IT5bMCR1yfUVz2m6rqEwu4bqCe3lgVsPk7XGDgjP8An6dKdyZQjJptao6qiuStL+9luruKWG5iSI4idp2xJ+v61s+Hpppop/OLbg4+UyF9vyg4BPWkEJqaujUooooKI4P9Wf8Aeb/0I0/cuAdw56c9ajjUPA6N0YuD+ZrFXwtZrB5C3V6IwUZR5udhXGNvp07etAG/RXODwrtiSNdc1cYzub7QSX57+n4VNbeGoob1boalqBxL5vl+edhOc4I7j2oA3QQwyCCPUUVzo8LKt6J49Wv4olkaRYI5NqDLBtuBxjOfzroqAIpzFuVZI95wSPk3VDJJZxgb4dufWE/4VNKshkVk28KQckjrj/CqE+lb7KGzXAhiI2hpXY8dMsTk/iaALaPayKpWLcMcfujwPypcW/8Az7/+QT/hSW0M0MYXMbHAB61L+/8ASP8AM0AR4t/+ff8A8gn/AAoxb/8APv8A+QT/AIVJ+/8ASP8AM0fv/SP8zQBHi3/59/8AyCf8KMW//Pv/AOQT/hUn7/0j/M0fv/SP8zQBHi3/AOff/wAgn/CjFv8A8+//AJBP+FSfv/SP8zR+/wDSP8zQBGDbqQfJ2nIwfKI5/KsqHVPDzuPLhTdkYItCMf8AjvFa7rM4CnywNwJwT2Oa5BPB14uqQXwvIkKLtdVLYccf4U9CJOStyq52J8sk/u889dlH7r/nn/45SgSDptxml/eei/nSLG/uv+ef/jlH7r/nn/45Tv3nov50fvPRfzoAb+6/55/+OUfuv+ef/jlO/eei/nR+89F/OgBv7r/nn/45R+6/55/+OU7956L+dH7z0X86AIpXt442aRMLjnKds1XS701ojIiqybSSREcEAc9qsXEcksZX5Ae35g/0rD0/w29jJdtBc/JcA4jYkhWIPP60AXhc6QSQLUZHX/RTx+lW9OltJVk+yR7ArYceUU5wD6c8YrDtPDc1tdXVxHJGWuT84aRiB9K1tEsZLCKWNzHhmBQIScAKB3+lBMHJr3lZmhRRRQURRsVgdgu4gucevJrnU8XZZIm0PVFnYcR+V16ZI9hnrXR2/wDqz/vN/wChGpMc570AY2k64+oXot/7Jv7ZdpJknj2jjoB9a2aKKACiiigCKbLSou5gNrH5TjPSs27uLuOxhmWCZZnPzRNKMr+NaU/k7lWRdxwcfIT9f6VGVtf+eP8A5CP+FADbItNEC8j8KOhxU/k/9NJP++qjxbYA8k4HT90f8KMW3/PE/wDfo/4UASeT/wBNJP8Avqjyf+mkn/fVR4tv+eJ/79H/AAoxbf8APE/9+j/hQBJ5P/TST/vqjyf+mkn/AH1UeLb/AJ4n/v0f8KMW3/PE/wDfo/4UASeT/wBNJP8Avqjyf+mkn/fVR4tv+eJ/79H/AAoxbf8APE/9+j/hQA6RDGoZZJM7lHLe4rhYdf1JdUhtJmuSsqhklHKk4BINdyPs4IIiII/6ZH/CoFtNNVgwskBHQ+QeP0pkTTdrOxbC7udzdT3pdn+0351GXhJzsb/v2f8ACjdD/wA82/79n/CkWSbP9pvzo2f7TfnUe6H/AJ5t/wB+z/hRuh/55t/37P8AhQBJs/2m/OjZ/tN+dR7of+ebf9+z/hRuh/55t/37P+FAEmz/AGm/OjZ/tN+dR7of+ebf9+z/AIUbof8Anm3/AH7P+FADLwvHEfLdgSOCT7j/ABrn9N1i9uBdw3EM9vNbq3JztYYOCK37m4s4YXkmBVAMtmNumQOmOeSKpw6nosxKxsDlWJ/cOAQBz29M0AZVnqV5NdXcMkd3EsJxG7ScSfStjw/PNPFOZi25XHys27b8oOM96b52jf8APuP/AAFb/wCJq3p0lm6yfY0CBWw48spzgeoHbFBMIuKs3ctUUUUFEUa74HTJG4uMj6msAeE4VRI11bUxFGBsT7QcKQByP5/jxit5G2W7vgnaXOB1PJrnoPGVvJDG76VqkbOm8qYCdv1NAFi78NtcTO41jULdHJLJBJs3E9yRyfT6AUreHGkshbTaxqMrfaROJTL864HyqvYAHn3/AJNn8URwSiOTStRLMMpsi3BhxzkdOv6Ve0LV49WjkZLa4gaMgMsybTznH6DP4igDNXwrIskTjX9UIjULsaXKsAehH4f5HFdJRRQBHIsnmq6BTgEHJx1x7e1GZ/7kf/fZ/wAKSXcZVUMyjax+XvjH+NZ13d3MdjDcJDcCSQjMTlQy/XtQBpZn/uR/99n/AAozP/cj/wC+z/hUFm0k0QZpX6Dpjmp/KP8Az2k/Mf4UAGZ/7kf/AH2f8KMz/wByP/vs/wCFHlH/AJ7SfmP8KPKP/PaT8x/hQAZn/uR/99n/AAozP/cj/wC+z/hR5R/57SfmP8KPKP8Az2k/Mf4UAGZ/7kf/AH2f8KMz/wByP/vs/wCFHlH/AJ7SfmP8KPKP/PaT8x/hQAZn/uR/99n/AAozP/cj/wC+z/hTZFZFDCVz8wGDjuRXDw+JNRXVIbOZ5x5qhkkCgq3QkdKdiJzjC3N1O6zP/cj/AO+z/hRmf+5H/wB9n/ClALc7mHJpdp/vtSLG5n/uR/8AfZ/wozP/AHI/++z/AIU7af77UbT/AH2oAbmf+5H/AN9n/CjM/wDcj/77P+FO2n++1G0/32oAbmf+5H/32f8ACjM/9yP/AL7P+FO2n++1G0/32oApapa3F5avGoiViBjLHH3lPp7Vzej+E9QsL+4n+1RNDMrbYvMYhGKkccdP8811d20kcR8tzuI4z9R/jXP6brl1dC7hljmt57dWzuHB4OCOKd3axMoRk03uhbTw7dW11dXCSIzXJ+dWnYgfT5f161raHYzWMUscuzDMCgVy2AFA5J57VjWerXdxdXcBW8jEBwrNtAf6cVsaBcTXEUxnL7lcDa5BK5UHGR9alEUeTl/drTX89TSooopmpHb/AOrP+83/AKEakqKNd8DrkjJcZHbk1gp4ZnijWKDXtSSNQMIZMjjH6ZGce/pQB0dAABOABnk+9YTaBcNbOj6xdST7/MjmfkxuAwBA6fxdParGhaXd6eztdatc326NV2ynhSOpHfnryT37YAANWiiigCKfydyiUZODjAJ+vT8KhkNkuPMX6ZU1NKshkVkVSApBy2OuPb2rPudNkksYbRWfZEQQ0ly7ucerHk/iaALim0ZF2rlccYU9KXFt/db/AL5am2kU8MYUrGxwM/Mev5VNum/55x/99n/CgCPFt/db/vlqMW391v8Avlqk3Tf884/++z/hRum/55x/99n/AAoAjxbf3W/75ajFt/db/vlqk3Tf884/++z/AIUbpv8AnnH/AN9n/CgCPFt/db/vlqMW391v++WqTdN/zzj/AO+z/hRum/55x/8AfZ/woAjH2YEfKQcjGVPWsmK58NM6mMRE5G0iJuP0rYkEzgLsQDcDneexz6VxsXhPVk1WG8S4gjUKFljErEOMD/Z9v/1U9CJykrWVztD5WTwevoaT916H8jThvHG1Tye9LmT+6v8A31/9akWM/deh/I0fuvQ/kafmT+6v/fX/ANajMn91f++v/rUAM/deh/I0fuvQ/kafmT+6v/fX/wBajMn91f8Avr/61ADP3XofyNH7r0P5Gn5k/ur/AN9f/WozJ/dX/vr/AOtQBFK1usbGThcc5B9ar+bphRn+QqVOTtJBGOf61YuY5JYyoVOnduvIPp7Vg6d4eurFrsR3IeGYHZEznCMQfbpz/wDroAv79F/55j/v0/8AhVvTWsmWT7EAAG+fCkc4Hr7YrDs9Avra6u7gSLIbk/Mr3DYX6fL+ta2h2c1lFLHNswWGzbIX4CgckgelBMHJr3lZmjRRRQUf/9k=">
            <a:extLst>
              <a:ext uri="{FF2B5EF4-FFF2-40B4-BE49-F238E27FC236}">
                <a16:creationId xmlns:a16="http://schemas.microsoft.com/office/drawing/2014/main" id="{8D7771B6-7AD0-4286-9B0D-068380F0C6C9}"/>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 name="AutoShape 10" descr="data:image/jpg;base64,%20/9j/4AAQSkZJRgABAQEAYABgAAD/2wBDAAUDBAQEAwUEBAQFBQUGBwwIBwcHBw8LCwkMEQ8SEhEPERETFhwXExQaFRERGCEYGh0dHx8fExciJCIeJBweHx7/2wBDAQUFBQcGBw4ICA4eFBEUHh4eHh4eHh4eHh4eHh4eHh4eHh4eHh4eHh4eHh4eHh4eHh4eHh4eHh4eHh4eHh4eHh7/wAARCAA6ATE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6U8yP++KPMj/viuN8MaX4w0vWjPqGrxalZvvDRvNNuGQv7wAgjJKn5BgLuOKgtNL+I1uqxt4nsZlDBtxtmBILlmHKseM7Rz91QMAnImx5HKu53PmR/wB8U1ZI/Mb5h0H9a4hdP+JRjWNvEmnLwSZFtCW3ZOFxsxjpk9eo966jw8l9a6VBb6rdteXqIBNOEI8w5PPAHbHanYHGxo+ZH/fFHmR/3xR5i+j/APfBo8xfR/8Avg0rEh5kf98UeZH/AHxR5i+j/wDfBo8xfR/++DRYBrSR71+Yd6d5kf8AfFY3jK11DUvD1zY6Rey2N7KAIp1Z4ymGBOGAJGQCMgd65q20j4jw29pbjxdbMEQLM72xd8AIAQSnJ4ckt1J6ehYpRutzvvMj/vijzI/74ribfQvGFwoOreKJA66itzmz3xq0KwlRFgAYUyYYjnp1JqmNH+J00DJd+LrEbxgiG1ZNvPBDBQ2f09qdg5V3PQPMj8w/MOgp3mR/3xWR4V/teHSkj16cT3wdwXSPAKbyEzjvtwT7k1r+Yvo//fBpNCaDzI/74o8yP++KPMX0f/vg0eYvo/8A3waLCDzI/wC+Ka8kexvmHSneYvo//fBpGkXaeH6f3DRYBRJHj7wo8yP++K4ZNB8bWkVw1h4vkklnlkk2XMTSJGTICqqWDEAJkYGBnGAOtRx6Z8TI5Lg/8JNp8gllL5Nuw2AAAKg2EKDgnvg/3uaLF8q7ne+ZH/fFNeSPY3zDpXH6jpHiptHs5odbmk1mz+0NvDukM5bd5QeMbUYAlM5HQGm+H7T4gpq0FxrWu2Mmmq0/nWq2mZXB4iw4AAx1PX6nsWFy6XudoJI8feFHmR/3xQJFx0f/AL4NHmL/ALf/AHwaLEh5kf8AfFHmR/3xR5i+j/8AfBo8xfR/++DRYDC1eHWpdQSbS7+3hiBUMJCxAGTv+UDDEgjBPTFVV/4TRbu0V7zS2g8wmdlHzbPTG30B6Y5I6YrrLeC4lQvHBMyljghDUn2S7/59Z/8Av2afyNFGXY5S4h8TK7CyvrNQ8h3STSM5xvBBVSmF+TI29M4NQmHxoHcrrWmMuPkBgxk/L1O3/f8Ax2+9dj9ku/8An1n/AO/Zo+yXf/PrP/37NK3kHLL+U5ab/hIZIgBcQhluwRhgu6EDPzEDu2RwOmDjrUdza6+UZorxRIJGclbljvHzYAUqAvVR1xxnrXW/ZLv/AJ9Z/wDv2ag1HTr+40+4t4oriKSWJkVwrAqSMA5HSi3kCjLsc/rEevPdRy6XdWwK7A4klZVUjO87QpD54HOMYyKoGHx1Kz79X0qFMqVWNMn/AGhkp/nNdRoWl6lZ6Vb2l0s1xPDGqSSCNvmIA555q99ku/8An1n/AO/ZpteQcsv5Tj7KLxb/AGYtvPqln9qjliBnMed6Y/eEDGM5OBkduaZd23i8Xs1xZapp4WQRgJIXKrhV3YUggchumOD1rs/sl3/z6z/9+zR9ku/+fWf/AL9mlbyDll/KcrZx+KQkpvtQsJWDRmFIgUyAfmDNt7j2/wAabpNv4lgvY21TV7W5s0tyroiYZn5wT8vIHHfPJ9q6z7Jd/wDPrP8A9+zTJrW78l/9Fn+6f4DTS8g5ZdjjP7N8Zf8AQ02v/gOP8KK7b7Jd/wDPrP8A9+zRSsx2n/KclJ4baSUXD3khn8wSOwg+V/nkYqRuztO8AjPRR+ENz4UkmSMf2ncoyggkRdQSMD73QY4HY11O5/8Ank35j/Gjc/8Azyb8x/jQRzM56Dw35cGw3lyHOwlkUqMrIz5C7sD72MewpG0CY6daWcd/NHLaMXWbyc5JJPC7sfz/AArotz/88m/Mf401WfzG/dN0Hce/vTC7OWsfDGrWxLN4p1WUlw3zA44fP9/njC89hV3+wrnZqUT6pdyw3m/ZHIpYQ7nLcZbtnA6foBW9uf8A55N+Y/xo3P8A88m/Mf40g5mcx/wjuqRq/l69fvI6rGJJC+UXeGbGH9sADHXnI4qB/CurSEyP4s1Yy+YWRgCAqnGVA345IPPUZ4xxXXbn/wCeTfmP8aNz/wDPJvzH+NAczOfk0W6Ok3Vjc6vdyidlZZpFyYguMjljwcfrVjwxpbaTFMhvJb3zCGDNGoYceoPNX9St/tlv9nZHQFgwI2nkEEcHgjI6VS0PRV0q+u7xJrqeS7CCVX8sINvC7QoGMA4xTDoa+/8A6ZyflRv/AOmcn5Um5/8Ank35j/Gjc/8Azyb8x/jSJMfxPpp1WGGMXs1h5UgcSKqkk4IA5OOpz+FUR4b1dUXb4n1beDks24g8jHBf2b/vr2FbGqWX28xhg8ZjyynajjkFTkNkdDWEvguPbKW1bWWlkORJ9oAK/NuIAHGDyD7E0y0yS58N39xpN5YyeINRZrgACRlLeWVfcMAtn265IHJNP1Dw7f3V4l3H4g1K1kA+dYlAQnagJAzkcpnGSOcY652NGshpenpZx+fKqFjvkcFjk55Oaubn/wCeTfmP8aBXZx9p4Z1yG9bPiS/FqGZwFZ8uzNuIIL8AZOOTnPPQY6fTo5rTTIraeaa6kjTa0zj5n9zyf51Z3P8A88m/Mf40jO+0/um6eo/xoBu5xtx4P827aaPX76MPuLKoAPzOrcEMO6jGQT1GT26jR4fslksQ2yLnIaKPapH5n065rmo/Dvh+3kkM1+zOZHALzRjyyVbKj2BLNg55Ge1b1hLZabFLAbqMsZmeTc6LtZu2AcL9PxpDlqae/wD6ZyflTXk+U/u36elKsjMAyxkgjIIYc/rSO77T+6bp6j/Ggg46Xwa0ty08evX6KSSwVQOrq2Mhh3QdQTyeT26fTIDYWgt32k5JGyPYO3bJ/n3rk5fB2l3G63i12/jzLlkhuIw2c5C8c8HP5mthfDMH2GO1luL6Vo53nWZpQXDMhXrngAkNx3UGmW7dzoCx/wCecn5UiSCRQyI7qehUAg1z9n4ZWCR2kv8AUrhGgkhWOSVdqb8ZI9xjAz0BNQz+EY5rkzNqOqIrtukhilWOJjkH7o6Z2qOPQ+ppWFZHpOgTEaao8mU/M3QD1+tX/PP/ADwm/If41m+GTJDo0MPkzSbMrvLLlsdzz1rS82X/AJ9ZP++l/wAas9On8CDzz/zwm/If40eef+eE35D/ABo82X/n1k/76X/GjzZf+fWT/vpf8aCw88/88JvyH+NHnn/nhN+Q/wAaPNl/59ZP++l/xo82X/n1k/76X/GgBkU53SfuJvv+g9B70/zz/wA8JvyH+NMill3Sf6LJ9/8AvL6D3p/my/8APrJ/30v+NAB55/54TfkP8aPPP/PCb8h/jR5sv/PrJ/30v+NHmy/8+sn/AH0v+NAB55/54TfkP8ajupj9ml/cTfcPYen1qTzZf+fWT/vpf8ajupZfs0v+iyfcP8S+n1oQEvnH/nhN+Q/xopPNk/59Zf8Avpf8aKAON3Sf881/77/+tRuk/wCea/8Aff8A9al/eeifmaP3non5moPHE3Sf881/77/+tTVaTzG/dr0H8f19qf8AvPRPzNNXzfMbhOg7n3oAXdJ/zzX/AL7/APrUbpP+ea/99/8A1qX956J+Zo/eeifmaAE3Sf8APNf++/8A61G6T/nmv/ff/wBal/eeifmaP3non5mgBrNJvX92vf8Aj/8ArUu6T/nmv/ff/wBakbzd6cJ37mnfvPRPzNACbpP+ea/99/8A1qN0n/PNf++//rUv7z0T8zR+89E/M0AN3SeYf3a9B/H/APWpd0n/ADzX/vv/AOtSfvfMPCdB3NO/eeifmaAE3Sf881/77/8ArUbpP+ea/wDff/1qX956J+Zo/eeifmaAE3Sf881/77/+tSO0mw/u16f3v/rU7956J+ZpH83aeE6epoA5O6g8LzGSC51KHJRl2tchSqHehA46ZmYZ55I5qS18KaDdQzyW6ySW88m9gtwwG7BHBxkdfWqElr4Fmu2ZhB5u91YKZAGfOWyAME5UE9/lz2rrNIMf2Qi1keRVcq3ms5dWHG07uRjjiixbk0WIEeGCOFUUqihRluwGOwpztLtP7ten97/61O/eeifmaR/N2nhOnqaCDi9Q03wheXIN5fwGVI2jTdcqpjQvj5flzw7jB65I5rd8LaZp2nWsjaUBIkrfNI0mScds49z+ea5+S08ByGW7drRPKciQeY65fcM/KPvHIXP0FdFZalpds72K6hH5kbgMJ5W3AkZAy3tjA9KZb2NXdJ/zzX/vv/61G6T/AJ5r/wB9/wD1qoya1YJH5n2y3dMsC0ZLgbcbidoOAMjJPTIp9vqljcXC29vf2UszAlUSYMxA68CkTY67QGuP7NXbChG5usnv9Kv77n/nhH/38/8ArVQ0D7R/Zq7VixubqT61fzdf3YfzP+FWepT+BBvuf+eEf/fz/wCtRvuf+eEf/fz/AOtRm6/uw/mf8KM3X92H8z/hQWG+5/54R/8Afz/61G+5/wCeEf8A38/+tRm6/uw/mf8ACjN1/dh/M/4UAMie43SfuY/v/wDPT2HtT99z/wA8I/8Av5/9amRfad0nyw/f9T6D2p+br+7D+Z/woAN9z/zwj/7+f/Wo33P/ADwj/wC/n/1qM3X92H8z/hRm6/uw/mf8KADfc/8APCP/AL+f/WqO6e4+zS/uY/uH/lp7fSpM3X92H8z/AIVHdG5+zS/LD9w9z6fShASbrn/njH/38P8AhRS5uf7sP/fR/wAKKBnG4k/vJ/3z/wDXoxJ/eT/vn/69OorO54w3En95P++f/r01RJ5jfMvQfw/X3qSmr/rG+g/rTuAYk/vJ/wB8/wD16MSf3k/75/8Ar06ilcBuJP7yf98//XoxJ/eT/vn/AOvTqKLgVb64+yRCaVsqCFAWMkkkgAAZ6kkVV0vWrXUb65sreRhcWwBlSSEqVz+NWtWRZLCZXVWXy3OCMjIGRVHw9bwQ3V35MMcfyxj5FA/h9qY7aGtiT+8n/fP/ANejEn95P++f/r06ilcRTvbsWkkYk3O0nCLHEWJwCScZ6AVT0/xFpV/cQW9rfxPLPEJY18thkHP5H5W49jU+uxRTW6rLEkgEseAyg9Wwf0JH41Q0iwsYdZMkNlbRuu4KyRKCBtHTA9z+Zpoqytc3sSf3k/75/wDr0Yk/vJ/3z/8AXp1FK5I3En95P++f/r0jiTafmTp/d/8Ar0+kf7jfSmmBxZ17wbDNNEypG2XEn+jNgkEI3Q9f3n1wc9BXT6QI/sebaN4UZixEqEOxPO45OTn1NVJtO0+S+ieSwtXYLwWhUn7x9qt6DHHFpqrHGiAuxIUY/iI/oKOhUti5iT+8n/fP/wBekYSbT8ydP7v/ANen0j/cb6UJknB3OpeBJJ5I7iGPcCQ/+jvgkOinODgncy9ee/aumOm6dq0ImmshgsDiWNlbIAAJGfQLj6A0ybTtPkvonksLV2CjBaFSep9quaDHHFpkaxxqgLMSFGOdxo6FMij0PT47SK1jtolhi3bFAb+L7wPPIOBkHrSWGg6Xp8qy2djbQOrbgyIeDt256+hIrUoouTdnQ6As/wDZq7ZIwNzdYz6/Wr+24/56xf8Afs//ABVVPD3/ACDF/wB5v51oVR61P4ERbbj/AJ6xf9+z/wDFUbbj/nrF/wB+z/8AFVLRQWRbbj/nrF/37P8A8VRtuP8AnrF/37P/AMVUtFAFeJbjdJ+9i+//AM8z6D3p+24/56xf9+z/APFUsX3pf9/+gqSmBFtuP+esX/fs/wDxVG24/wCesX/fs/8AxVS0UgIttx/z1i/79n/4qo7pbj7NL+9i+4f+WZ9PrVmo7v8A49Zf9w/ypoBNtx/z1i/79n/4qipaKQH/2Q==">
            <a:extLst>
              <a:ext uri="{FF2B5EF4-FFF2-40B4-BE49-F238E27FC236}">
                <a16:creationId xmlns:a16="http://schemas.microsoft.com/office/drawing/2014/main" id="{4204A776-377B-48FA-9C90-FEC3D04CAF3E}"/>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4" name="AutoShape 11" descr="data:image/jpg;base64,%20/9j/4AAQSkZJRgABAQEAYABgAAD/2wBDAAUDBAQEAwUEBAQFBQUGBwwIBwcHBw8LCwkMEQ8SEhEPERETFhwXExQaFRERGCEYGh0dHx8fExciJCIeJBweHx7/2wBDAQUFBQcGBw4ICA4eFBEUHh4eHh4eHh4eHh4eHh4eHh4eHh4eHh4eHh4eHh4eHh4eHh4eHh4eHh4eHh4eHh4eHh7/wAARCAATALQ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7HubiC2j8y4mjhTIG52CjP1NedX3xE1D+0X+w2Fq1jDIVlZ3Yvwcdume2Ac16FfpBJZypcwefCV+aPZv3D0x3rwvxN4A8T6rJdHQ9Llt4DHPHAtxdeS0TsQUfHfA4/wD1VzYmnXnFeyly23/T/gmkMRSoKUp0+d9Ft6/8A9e1DxTp2neHbHWr2O7Ed6Ykhigt3mlZ5B8qhUBJNaOj6nZatpdvqdhMJbW4jEkbkFTj3B5BHQg9DXN6v4Tuda8H6Bo9xeTWUthLazTyQSssmYl+YK6nIJPesfWfhfayvdvpsen7TBZQ28F3EZEaOCRneKU8lkkLAt1yRk5rojfl13Jdnsej7h6ijcOORz0ry5PhLBL5Ml9JYTyxJZJGDASsKRXMkssUYJ4Rkk8oD+6MHjis23+Gd6vjCK1Fvp/9mWkEDQ3UkDZt0F9cz+TbjopEbJGf9lvTimJrRs9b02/s9Ssob2xuY7i2nXdFIhyHHqKr6RrWn6tLepYySOLK5a1ldomVDKv3lViMNg8EjOCCK4TwT8N7jw5qugzQx6JDDpdvLbyPBb/PKhLFdqlcRsd2WZSCcYORjFfVfhT5lo8NiuibZb7ULiSKe0PlqbpwyzKF/wCW8QGFb/aOCKAt/X3/APAPTNRvLfT9Pub+6k2W9tE00rAE7UUEk4HJ4Brm/wDhYPh4Xt1ayJqsZtbUXk0r6bMsQhOdr79uCDtbGOuDVSLwVcWfhjxLp1jNZtf65cTNJdzRnPlyfL85HLMqlsds+mTUmr+CpbtNWjhvkRL3Q7fSo96ElDE0p3nHXIkHHsaatf8ArsCt/Xqv0ubWveJdN0a5htbhby4uJkMghs7SS4dYwcF2VASq5OMnvUlz4g0q31qDR5bhheTusaKImI3MjuAWxgHbE55Pb3Fc7488IarrNzdTaRqUNodQsEsbkyGRHiCOzpNE8ZB3qXb5TweORg5S/wDC2uMmnalZXFgdXt9WfUJxdFzE6mGSFUBUZG1GTtyVPrSQv6/D/PQ6xtTs11ldHMh+2tbG5Eew8xhgpOenUjjrU9rOtxbxzKsiCRQwSRCjgH1U8g+1c5qej643jPT9fsZNO8tbFrO7im3g4aRXLRkd/lIwa5LS/hLJaC0n/tOBNRtxbxrfRRETJElk1u6q2cjcxD46cDPQYOn9d/8Ahh2R6Xqeo2mm2guruXZCZY4QwUt88jqijj1ZgPxpdOv7PUbOK8sbmO4t5c+XIhyGwcHH4g1wfhH4dzaP4EPhuSS0Rzf2107xySSJL5UsTsSr/dL+WcgZGTnmsXT/AIQzWV3oMkb6Z5GkmVY4YfMt1UmbeJ1CceYQdrA8EAc44puwul+p69uXOMiq2qajZaXp02oX1wsNtCMu5574AAHJJJAAHJJArzbSPhFa6YljJbNYR3VpHpu2ZISGEtu5M8gOchpUIQnqQADkAVq6J4FvLLwFJ4f+0WFpPHfJeWRt4N0cLRyJJGH4VpfmQbmb5jk8k80u4+p2Gi6pBqtn9qhgvLcbymy7tngkz/uuAcVdLL6j86888XeDPEHipLCbVpNBNxDHPA0Zikkig8wpi4izgidNh2nj7x5HfP1L4Q2l79vlkexkubtNT3TyQFnMlxIHt3J7mLBx6FiVxk0ILeZ6mWHPI4qO6uILW2kubiVI4Y0Mjux4VQMk/lXkWnfD3Xby+8RXv/Ev0+a4uL+KKaS3LTXSSuuBKTkGLCkqBnBbOMg5uaX8Kp7XT7bTrw6PqNqNOmsSt1C0psg7zMGt92cZEoVs4yI157UPYElfU9StZ4bq2iubeRZYZUDxupyGUjII/Cis3wZpbaH4V0zR5IrOJrO3SEraJsi+UYyo7Z6/UminK19CVe2prUUUUhhRRRQAUUUUAFFFFABRRRQAUUUUAFFFFABRRRQAUUUUAFFFFABRRRQAUUUUAf/Z">
            <a:extLst>
              <a:ext uri="{FF2B5EF4-FFF2-40B4-BE49-F238E27FC236}">
                <a16:creationId xmlns:a16="http://schemas.microsoft.com/office/drawing/2014/main" id="{0AD60BAE-1AFD-49B6-B834-C7D7B3CFE0D3}"/>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5" name="AutoShape 12" descr="data:image/jpg;base64,%20/9j/4AAQSkZJRgABAQEAYABgAAD/2wBDAAUDBAQEAwUEBAQFBQUGBwwIBwcHBw8LCwkMEQ8SEhEPERETFhwXExQaFRERGCEYGh0dHx8fExciJCIeJBweHx7/2wBDAQUFBQcGBw4ICA4eFBEUHh4eHh4eHh4eHh4eHh4eHh4eHh4eHh4eHh4eHh4eHh4eHh4eHh4eHh4eHh4eHh4eHh7/wAARCABNAaM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68smhtbVQ0yCOMcucAY968m+KvhLVPEfiKa60jWdCFjdtbGdZrjEimI9Rjgjrx349K2PHUm/4MeIWDf8ALq+CD/tCvkGPczqvmOMkDO41jUlbQ8jM8SqbVOUb9d7H3N4Lh0/QNKazl1mwnZpC+5JAo6AdCT6VzUGk6ukdrZt4u082cN/HO0fmptMKTeYEAxkHATnPUGvm+bwraNbvLa3k7+Xei3YiUMCmVBb8Nx/Kua1y2+w6rcWiNJtjcqMybsj1zVwxMqa0Rms3nRjZQ09f+Afedymm61Zy2jSxXMRxvEcgOD26VFp2ki0v55YysVs8YjWJCefVjnv24rw79jUsYfE2WJ/eW/U57PXsniHX7vTLyWCDTJrsJFFIpQHksZAV+vyD86cZcyuenha/t6SqWtc3TFi3MKMyfLtDZyR71k6ZoFrAbae5iR7u3JxKrN8xPG4574rEuPF+oQTtHHYJex+U/lzQ7trSYQov0yzAnttzW34U1abVreeWdBG6SFfLCkbfxPWqOg1441jZ2XOXO45OeawfGE91o+gahf2VwwuJJIwhcBhHuZVOB+JNb8zFIXcYyqk815d4o8U3+oeG1trmwSP7RPGySgkKyLImcf7QY4x6YNZV21Sk12f5Ez+FnZDSfERAP/CUn/wBX/4qg6R4ix/yNJ/8AV/+KrR1q4mtdN82GeCBsgbpVLA+wA6k1atHlksopJ0WOVowXVTkA45GazVKF+XX73/mTyxvb9WZfgfUbjVvClhqF2ytPNFlyBgE/StquN8E3Utl8LbO6hj8ySO3yq4zk5p3/CVX8dx9mudP8kkLH5xVtiSZBYtx02sDj1BFaUG3Si32Q6bvFHYUVyth4mmuLfUpwm4WkQdFMRUuMDLc/wAqS68VXAvLqOzsftEMar5MgDASnIVwDjHBdPw3elalnV0VyX/CU3UN0i3NvEIt0izkZ/0baSFD/wC9jI/Gtbw7e3179oa9jSPaU2oFIIyoYg564zj8KANeiiuL/wCEq1NdOS5ezUTG3WZYGRg0u5Sfl9lxye/NAHaUVw6+MNUQtFJpJaT5VQgEYffhtw/h+T5h64NW7bxed6NdW4SP7IZGxnPnBUJiHvliPwoA62iuZ0LxFc31/b2t1bi3dlZZECnIkXOc55UEYIJ65rpqACiuX1TxJc2eoXkKwJMIpPKSJVO/JjVlc+qlm2/lUL+JtQ+yNcx2m92hj8u28tt/nFiGQ/7uxj07UAddRUGn3KXljBdxghZow4BHIyKzvFmp3el2UE1nbmeSSbYVCk4UI7E8f7v60AbFFccviq+a3MkdqkjSySxRAKcIyHPJ7jYGYHvjFQJ4w1H7B9pSxW4dpnhEaqVwVOQc9wUV2/4DigDuKKp6JdyX+lW97JF5RnQSBPQHp+lR+INQfS9ON8sJljiYeaoBLbTxkAehI/DNAGhRXFReLNQSW8F1bRr9jXfIiqTlRKyPz6qq7vetzwnq15q9lLPeWX2OSOTymjyThwBv/JiR+FAGzXM+F/8AkbvE/wD13g/9FLW/qEzW9hcXCLvaKJnVfUgE4rzLS/GtvoHiPWj4gsr2K4u2imjWG2Z8xiMDccdOnSsK7UXBvv8AoyJu1n5/oz0XXrq4s9P8+2EZcSxqd+cbWdVPTvg1frhbj4neHYwFnstWweQDYue456epFRH4teF9hfydV2jGT9ifjP4Ue3p3vcXPG+5yup/E6DQ/iRq0l1pFw0WxLbhgGwhb5sHsd1dJB8YfCNxYTSrcTQXKRMyQzREbmA4GRxya56bXPC2teJtS1iXRLm6tJLJArSw+V80e4ty2OcEY9ayfHfhPRZfDdzqmh6PdWtxHeLboshGHz1IA6fjXLH26g5U3dXelvM+iwVXKMRyU6tJwe11LT1d9l1PQfhr8SNN8VxrZ3Oyy1VR80BPyye6Hv9OtaMF94m1LU9Tj0+bTIbezujbqJo3ZjhVOTj614FovgfWpLuGSaddNxIyiZiQY2RC5PHpivbvg299JpGqNqNx9puv7QcPNjHmYVcMR2yMVdCVaSUaqsdGZUcuoynUwUlJdmm7arZvc1dvjD/oIaJ/36f8Axo2+MP8AoIaJ/wB+n/xrS1W7NhoxuIoRLNtVYkxnc54HTnHc+wrn/wDhLpww3aWypKSIjtOd4jyyEY4IfA+n0rq5F3Z4EseouzjH7kXtvjD/AKCGif8Afp/8aNvjD/oIaJ/36f8AxqG38R3Nxau0dgn2mN4keE5BBYAE8joHP5Cq7+J7pJ/LeK3BXJl2qTtAYfc/v8HtzS5V3ZP9or+WP/gKDW9J8VaxYGxm1TSURmViY4nzwc45qhoWn+JLi/1HT7nW1L2MkaFo9yq26MsDjtjevHfbzXeNt3QsABlvT2NYXh3/AJGzxL/13g/9ErQ1yyWv9WOmNRVadS8Vor6K3VL9SLw94f1LTb20luNQS8WBJoy7ZDFXKEADpxs/WrWs6Nd3VxZTQXnzW6TKTLjJL7cHgdRtrdorU4TlF8Pa5shSTXpnKTI7yK5VnUA5XGCBk4P6dK6DRbR7DSLSykk814IljL/3iBjNW6KACiiigDyiX4fweE/hQngm21vUb21u72O3a4u28yVY5ZACoPoO1cA/wl8Ho7J/aOqcEj/UJ/8AFV7X41nWbTdMaO4injbVbXDRkEZEq9wa4u4/4+JP98/zrlqRTm7mWYVfZUKcoxV25bxT7d0zhT8J/Bg66jqY/wC2Kf8AxVKPhP4OxxqOqY/64J/8VVzWrG+k8TxTSXOLV0EahF5AJ6HtWpoDNmaIK/lIcAsc5NcNXEUoYqOHjrdbpvR9mXDB1pZdLGtRVunJDVXtdO36Fv4e+GNP8L3EtroOu6tbG/kjWQiCPBI4Gck+teiyaFrEa7pPGl8g9WhiH9K4/Rf+QzZf9fEf/oQrrPiHaahcW0ckCRyWkY/eqR82Seor0adOLX/BZGX4+tKDWll/dj/kQFdW03xFpEJ8TT38VzNJFNFJFHgYjLD7oz1Fdc+5ELvMqqBkkrwK8dZJLfWvDxtmlMzXLkYOT90j8a9M8Sato0Hhi6vr6/jWx2lWkRgSSOw9TntVRtByu9P+Aj1K8Z1lScY3bXRdeZpbDtT8QaXp+kT6rc6nALWAfOwGST6AZ5Jrxufx74j8WXN8sdqkehq8Q2+X8y/vU2kt6n0rAsbLWPiJ4ka3tPNi05Xzz91FHQkdC2K9kh+HdnD4c/siC7aAFUDvGuNxUk5PPXJH5CuOTqYpPk0jr8/+Aeji8Nh8tw0qNRKVea+UE/8A278vz7G5tba7gWK6gSZBghXGQD61KiLHEI41CqowoHYVwK+AtdAH/Fcaqank8D6kqZ/4S/WO3/LSuq9S9+X8f+AfOXl2ND4YLJ/wgml4kAHlf3fc10h3g4Myg+m2uY0/wpcWctraLfu2k28ahYN7K28D72R79q2tR0truQsty0W6MIcDJyu7BB/4Efyq6UXCnGL6JDgrRSLxEmQPNXJ6fLS7Zf8AnoP++ayDocnnK/8AaEpCElQ2TgHtnPT9a04rYLZxW8kjybAo3FiCxHetChJ5fIjkkmnVEjXczFeAKg0/ULe+DG2ulYqcEFMH24NWLmCK5SW3mXdHJHtYeoOazNL0GHTplNscIH3EsxLHjAB+goA1Y2aRd0c6MPUDNO2y/wDPQf8AfNZEegiKFUhvJkIjVCcnDEA84BHqPyFEuizAM0V/MXZ8nczYI3Zx1/zigDW2yf8APUf980MJFUsZRgDJ+Ws+w0l7W5Wb7ZJIBywbPzfKB6+1aKxosjyDO58ZyTj8qAIbedZwTHcKcHH3cVJls489M/7tZs2msdRgmi8pURyzYPJ5z0om0VnZmS+mjZmdsjtuYtx+dAGptl/56D/vmkxJkDzVye22sptEm8tVTUp0w2Sckntx1+v50S6IzbW+2Slo87DuO7krxnP+zj8aANbbL/z0H/fNG2X/AJ6D/vmoLG1aK3g8+RpZowdz7jyT14q1QBGvmMP9YOpH3aP3mcecufTbTovun/eP865rxDLdQw+dZ+UJFufnZ32kLuxQB0m2X/noP++aRhIqljIOB/drH0nVJ7qKK4EkMqM2yRUOQpzjg1tS/wCqf6GgCGeZYNvnXCJuOBletPJZThp0HGeR29etUdWsbq7lQx3EcaIAVVlyQ3r+VN1DSGvvJaa6ZZFiaJyi/fDYyPxwKANELIRkSj/vmmmLeclo2567Aay00Jgm1tQuW5GDuI7j0PoMfjSLoMg/5iM4G4s20kbifXmgDU+zj/pn/wB+xSGEAgfu+f8ApmKr2em+R5qyXMsqSKq4LHII75z3q6/30H1/lQBkteaZdF7ZpI5NhDOnlHHsT6itNSxcoJ0LAcjb0rnv+EfuoL6S7geCSR02c8YAFak+lySeYEujGHdn4X5gSPUHt2oAvsJFGWmUD3WuO0vVBpGr65DdWuoEzXxmjaKyeRWQooBBXjsa25NDkb/mIzFd5bDZODxz19qcuiyrkJqEyg9hnr83PXr836ColFuzTN6NaMFKMldPzt1uVU8WafHEAbLWMKOSdOl/woXxhprOUWz1csOoGny5H6VYfRJ22r/ak+wdVOTk45796s3OmPI8jx3ksZkfccdvlx2/Olyz7/gV7TD/AMj/APAv+AUP+EssP+fHWP8AwXS/4Uh8XaeOtlq4/wC4fL/hVoaNIrB11G4DgcEsx545xn2P51GmhSBldtQmZwchjnj73v8A7X6Ucs+/4D9ph/5H/wCBf8AryeKrFtpWz1hSpyP+JdKf6VD4QkmutZ16/WK4ghnni8sz25jLARKCQDz1FXxpN3FcwNHfTOgdWfex4x179/yrWESrG6rn5sk5Ynk/WjkldNsHXpqEowja+m9+qfZdisl9bvP5CX0TSZxtA5zVhSzFgsykqcHC9KwbTQb6DWYLz7cvkRjDRAHnrV7+yH2xqLtlEYYLtBBbJB+bB5PB/M1ocpo7ZP8AnqP++aMSZx5q59NtZD6FM67W1KZlxyDnngD19qdFosy3a3DahIxD7sYI4yDgc+1AGttl/wCeg/75oqJrKBmLHzMk5P71v8aKAOT8UwafaaVpdrp1rbWsCarbERQ7VXJlBPC/jXJSsrzylGDASMDjsQelQz/8f2lf9hO2/wDRgrI1PRtt9czNqrwGadyoGQMtIXxjPJ5/SsqseWbRXEGFVClRhf8Am/Q2nXcuG6ZB5FMiaLcYo5ELJ95V6j8KyIdA2FWk1GeZlcOC7HGQwPTPoMfjTrvRHuDKUvjCWkkdWRMMN7biCQcntis7Lc+b5vd5ebQ6TRf+QxZf9fEf/oQr1KVlnt38mcJ23rg7a8W8K6PJa+JdOnGoSSRpMAY8HDFnzk816jJoMaJsbUJUjfK4zjczKF7HnpwK1pnpZekoysch8TpE8Lw6frMdx84kmKEIBl2iYD9TXz+Lm8uIls2nuJIPNMnkhiRvPVgPWvoL4j+F7fXrzQtNbUZPJlunVudwUiNm4568gVr6D4C0Hw1ZyS29slzNlSHlTJHQf/Xrhr4Wdeq9bJf8A+/yzO6OWYOK9m5Tl8lZOVtd76voZPwm06902xkhtbSWC1ktzIrSpglz0611kTa8qCFkDEbSZDj5vn5H/fP8zSaNraz389m+FW3j3MQm0DgZ/rUi+Ircwo7QuG3Ydf7g5IP5CvRSsrHydSbnNyfUU3WtAoBZqwP3jjGOOfyOcevFXrA3J05Dd587cc5GON3HH0xS2V79qjSRYZAGdl/3cHqasTf6v8R/OmQZfiO61SyjS6sYo7iNDh4NpLyZ9COmKjkm1qT7PdQw4U26M8Bx987sj8OK26KAMQz635yEwgIFbdtTI6rg+pP3uO1aq/aGgiLbI5eDIOo9wKmooAjdQ7spzgqOn41R020kju5mlkmZUbbGGPBGOtT6k0iWs7QyeXII/lbGcHNZOkXGoPqMKTX3nRMpJAQDtQMkQa6sVuGbLbFMpwDz3GKu6XLqcsmb2FIl2ZwBzuz0/D+tQLrsCxkzxurr99FGdpJwAffjtVy0vftESyLbyrmRoyCPu7SRk/lQIsRiQF/MZSCflwMYFPoooA5mzinOpwyMswCvjrxir88uqRh/KhkklMrAg42Bcnbj8MflWvRQBimfWVtwv2fdKQVJx06YOe/GT9eKb5+uNIQLcBVyBkD5zxjJ7DrzW5RQBjPca5jclvGVAPVec49PY8e9akHntteTABQZTHIbvzUtFAEYdEXLsFy5AyfeiSCGTPmQxvnruUGq9xatcPHIsoRoy45XcDn+vFU/7EYkM+oTnHQBmA6Y9fxoAs2mm2duqpb5RN24IuME5z6etXZf9U/0NY6aEwTb/aE20nJ25GfmB9fw4q1YWDWUc7PdS3BcdXJ460AVNft76a6ja23BFUE4zz97jj6j8qffrq6rALHp9nKOGx8rnGG59Oai1/UNRtb6GGza3CSKB+8HIPPPXpxVp9QlhhtnmVGDxs0jLnjaMnAoGV1utdVFDWiFt2D7DH69jx9Kd9q1tlwtmgYKxO7gE4+UfjT2161V2Vo5Rh1QcdSTj+ferFhqSXdv5kcMm4MqsuORkA5+nNAhllJqUolWdEjO1SjbTjPfIq8/3kzz1/lT6Y/30/GgDIt4bpboNCQOT98Hp/8AqpJ31yK6kaNBLCZGK5x8i8ADHf1H41T/AOEivC9xttkZIcZYMOM+vNan9rxpLIssbALIUUqCc4IBP5kUDI1l1tluUkt4kxA3lOh6vjjii4uNYDO9tah4+NqvwT6/TFKmv2h2Fop0V13BmTA6A/1FOh1mKeCSWGGTCuqAvwCW9fQCgRJZSalKsqzqkbDbsbacH14rQrIm1yOOTyxBI7LII3YD5Mn0Per1peJdRRSxRybJM8kfdx2PpQBZooooAKiu932Wby1LPsbaB3OKlooA4vwlL4hj1dbK9mmnso12pI4Ulhg8seu7IHbGCKfLeeJ7OVpFSS5i8wookix5hZ1AwByoAJ9Qcda7Gih7thfRI5K2vPF8cgjns4nVXUFguS6k8kY4Hfg9MD1rprVbpZJjcSxuhfMQVMFVx0PqetT0UAFFFFAHkWpafe2s2mTz20iRrqVtkkf9NBWlqngbVNSUMs0MPzl1dW+Zc+h7GtvxXZXl9pkaWEcck8N1FcBHfaGCNuIz26VFeT+N5Rbtb6PbogUDal6MZ9Tx6VnUd6jbR6eYU1j4Qcmk436pb27s5d/hbqjLt/tDCnIYBj8wKbfX8frU0Pw01KO9guftKN5BYqpc859eeTWrBD8Ro0ZWhtzvRAf9MB2kOWODjuMA+1act94++xTKNB03zy37ope8Bc8ZyvpU80ez+5nmf2Sv5l/4FH/MztF8GX2m3UDwx26RRziVlWQnJ3ZPWuv1O1kvljWRJYwh3DYy/e7H8K5nd49e0ljbT4Fkd0YOt4uVAIJA46HpUYuPiR5j79JsAiAbNl2CW45zkdf601OK6P7ma0su9lflktf7y/zLGr2X2XXfD0flvJvvpJDkgciAjt9K60yTEYNsSP8AeFcG+n+ONTudNa+t4LU2N15vnJcBmZSuCMY9zmultl8QSW10J5Fjc27CHAG7zSOv0B6e1Onq5P8ArZG2JSjCnG6bS6NP7T7Gmq7S5WxUFxhsFeR70rLubc1irN6naTWG/wDwlLpIuUTO4KVxuHHynJ49OPXNS3K63JpwUtKlwXlAaPHTadhPp/jWhyGyjSRrtS12r6AgCiR52XH2c9v4hXO21tr0abpmuZZFGceYoDJsxt9mJ/KtbQEvI45lu3mcgrtMn+4M49s5oAu+ZN/z7n/voUeZN/z7n/voVNRQBD5k3/Puf++hR5k3/Puf++hU1FAFZjKxbdbblK4ILCmxxiNwyWQVh0IIq3RQBVCYxixQY6fd4p6tIudtrjJycMOtT0UAQ+ZN/wA+5/76FHmTf8+5/wC+hU1FAEDTTKpY25wBn7wqSKRZIlkHAYZpZTiJz/smuXsNBu1s1j/tG5SMDEYAz8pUDpnjnJ70AdVRVTTo5bWzSCRpJ2XPzkYJ5+pqfzG/55vQBJRUfmN/zzejzG/55vQAsZARieAGP86cwV0KnlWGD7iqWo27Xdi9sC8ZZg27bkcMGwRnkHGCPSsx9DuJJWZtSvApk3hUG0LznHXpjj6UAb8aoqKiY2gYAz2ol/1T/Q1zMHhu5ihWMavejaOCqY5weevXJB9PlHFbGl201np4tZp57p8sTK4wTkk0AW5ra3mIaWFHIGMsM04rEqAMqBQMDI4ApPMb/nm9U9XtW1C1EILR4cNkpuB4PBGR60AW/Itzj9zEdvT5RxinxpGg/dqqg8/KMZrmn0C+DKsOq3KxHO/K/MPQjnr/AJ5qXTtGvrPUIpf7SuZrdRzERtAwMAdTn/61AHRUx/vp9TSeY3/PN6QsxZT5b8UAQNpensJFNqmJcbx/exVkxRnGY0ODkZHQ+tJ5jf8APN6PMb/nm9ACmGIjHlJj02igQwhCoijCkYICjBpPMb/nm9HmN/zzegAEEI6Qxj/gIp6KqKFRQqjoAMCmeY3/ADzejzG/55vQA/cM7cjPpS1i3mkvPfPdxXVzA7yRuwUDG1Bjb179aq/2Bcqn7vVr4PsC7mG4HggnGe+c0AdJRWboVnJpmnravNNdMGZjK4wWJOTnk1e8xv8Anm9AElFR+Y3/ADzejzG/55vQBJRUfmN/zzejzG/55vQBJRUfmN/zzeigDPu40junCKFHl9vxqK81y202a0tbhHxLEXMgI2oAOSaVi7Ozu5YlCP0NXha21xbx+fBHJ8gHzLnjr/OmzWqrWuUk8R6W+NszknAA8s8kkAKPfJHFSWutWl3OYbVZZWEbOGCYU7SAVye+TUi6PpquzfZUJZQpzk4A6Y9OnWrEVnaxMrRwIhUEDaMcHr/KkZGbD4jsjbrNOkkGU3srYO0YBHI4JwR0pJ/EdnHbQXCxSyRTTNGrLjAAOC3PbvWhLp9jLEYpLWJkIxjb9P8AAUNp9i0SRG1j8tDuVQMAH6UAUD4l0kF8zkJGdrNjgHOP/r/Snf8ACSaV5cknnNtjAL/IflBIC5/3sjHrVn+yNM2bPsMG3Ocbe9Pk0vT5CS1pEcjaeMZHGPywMemKAKmo6/Y2VsLiTe0ZRJARxwxOOvsrH8KcmuWRguZ23JFbkbm65z6Y+lXDZWrTJK0Kl0TYpPOB/kn8zTf7Osfs5t/ssXlHGVC8cdKAKq69prIrpKzIwJVlQkMAQMj2yQPqabJ4i0qOMs07AjIK7DuBABPHtkVa/svT+gtIgOeAOBkc/wAh/OgaXp4bd9ji3bduSvagCva67Z3MiRxrKGZ9vzJjHJAP0yKrT+JraG7EEltOByS+VwAGK56+xP0rSTTbFJlmS3RXU5BHY03+y7Alt9sj7gynfyCGzkY/E/nQBkx+LrSby/Js7mQuGOPlBGADjBPowroIZBLCkgBAZQwB96h+w2m2QLbxoZAwYquD8wAP8h+VWI1WONUUYVRgfSgBaKKKACiiigAooooAZN/qX/3T/KoLSI/ZY/30v3R3H+FTzf6l/wDdP8qqWl1/o0fyfwjvQBa8o/8APaX8x/hR5R/57S/mP8Ki+1H+5+tH2o/3P1oAl8o/89pfzH+FHlH/AJ7S/mP8Ki+1H+5+tH2o/wBz9aAJfKP/AD2l/Mf4UeUf+e0v5j/CovtR/ufrR9qP9z9aAJfKP/PaX8x/hR5R/wCe0v5j/CovtR/ufrR9qP8Ac/WgCXyj/wA9pfzH+FHlH/ntL+Y/wqL7Uf7n60faj/c/WgCXyj/z2l/Mf4UeUf8AntL+Y/wqL7Uf7n60faj/AHP1oAl8o/8APaX8x/hR5R/57S/mP8Ki+1H+5+tH2o/3P1oAl8o/89pfzH+FHlH/AJ7S/mP8Ki+1H+5+tH2o/wBz9aAJfKP/AD2l/Mf4UeUf+e0v5j/CovtR/ufrR9qP9z9aAJfKP/PaX8x/hR5R/wCe0v5j/CovtR/ufrR9qP8Ac/WgCXyj/wA9pfzH+FHlH/ntL+Y/wqL7Uf7n60faj/c/WgCXyj/z2l/Mf4UeUf8AntL+Y/wqL7Uf7n60faj/AHP1oAl8o/8APaX8x/hR5R/57S/mP8Ki+1H+5+tH2o/3P1oAl8o/89pfzH+FHlH/AJ7S/mP8Ki+1H+5+tH2o/wBz9aAJfKP/AD2l/Mf4UVF9qP8Ac/WigD//2Q==">
            <a:extLst>
              <a:ext uri="{FF2B5EF4-FFF2-40B4-BE49-F238E27FC236}">
                <a16:creationId xmlns:a16="http://schemas.microsoft.com/office/drawing/2014/main" id="{B5A6DAA8-9D69-4D0B-BE68-247FC962F4BD}"/>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9" name="Rectangle 18">
            <a:extLst>
              <a:ext uri="{FF2B5EF4-FFF2-40B4-BE49-F238E27FC236}">
                <a16:creationId xmlns:a16="http://schemas.microsoft.com/office/drawing/2014/main" id="{38CCB971-AEE2-420B-98DB-124153274ABA}"/>
              </a:ext>
            </a:extLst>
          </p:cNvPr>
          <p:cNvSpPr/>
          <p:nvPr/>
        </p:nvSpPr>
        <p:spPr>
          <a:xfrm flipV="1">
            <a:off x="304799" y="3437231"/>
            <a:ext cx="7825409" cy="210429"/>
          </a:xfrm>
          <a:prstGeom prst="rect">
            <a:avLst/>
          </a:prstGeom>
          <a:noFill/>
          <a:ln w="31750">
            <a:solidFill>
              <a:srgbClr val="FF0000"/>
            </a:solidFill>
            <a:prstDash val="sysDot"/>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a:p>
        </p:txBody>
      </p:sp>
      <p:sp>
        <p:nvSpPr>
          <p:cNvPr id="20" name="TextBox 19">
            <a:extLst>
              <a:ext uri="{FF2B5EF4-FFF2-40B4-BE49-F238E27FC236}">
                <a16:creationId xmlns:a16="http://schemas.microsoft.com/office/drawing/2014/main" id="{9D0DA586-A87F-46EB-BF75-A1165CD4EE1A}"/>
              </a:ext>
            </a:extLst>
          </p:cNvPr>
          <p:cNvSpPr txBox="1"/>
          <p:nvPr/>
        </p:nvSpPr>
        <p:spPr>
          <a:xfrm>
            <a:off x="-454847" y="3447172"/>
            <a:ext cx="2743200" cy="290064"/>
          </a:xfrm>
          <a:prstGeom prst="rect">
            <a:avLst/>
          </a:prstGeom>
          <a:noFill/>
        </p:spPr>
        <p:txBody>
          <a:bodyPr wrap="square" lIns="0" tIns="0" rIns="0" bIns="0" rtlCol="0">
            <a:noAutofit/>
          </a:bodyPr>
          <a:lstStyle/>
          <a:p>
            <a:pPr algn="ctr"/>
            <a:r>
              <a:rPr lang="en-US" sz="1400" b="1" dirty="0">
                <a:solidFill>
                  <a:srgbClr val="FF0000"/>
                </a:solidFill>
              </a:rPr>
              <a:t>Actuals</a:t>
            </a:r>
            <a:endParaRPr lang="ru-RU" b="1" dirty="0" err="1">
              <a:solidFill>
                <a:srgbClr val="FF0000"/>
              </a:solidFill>
            </a:endParaRPr>
          </a:p>
        </p:txBody>
      </p:sp>
      <p:sp>
        <p:nvSpPr>
          <p:cNvPr id="23" name="TextBox 22">
            <a:extLst>
              <a:ext uri="{FF2B5EF4-FFF2-40B4-BE49-F238E27FC236}">
                <a16:creationId xmlns:a16="http://schemas.microsoft.com/office/drawing/2014/main" id="{2D76F4D4-4CE8-4BBE-A91D-13411807245A}"/>
              </a:ext>
            </a:extLst>
          </p:cNvPr>
          <p:cNvSpPr txBox="1"/>
          <p:nvPr/>
        </p:nvSpPr>
        <p:spPr>
          <a:xfrm>
            <a:off x="-405848" y="3228818"/>
            <a:ext cx="2743200" cy="290064"/>
          </a:xfrm>
          <a:prstGeom prst="rect">
            <a:avLst/>
          </a:prstGeom>
          <a:noFill/>
        </p:spPr>
        <p:txBody>
          <a:bodyPr wrap="square" lIns="0" tIns="0" rIns="0" bIns="0" rtlCol="0">
            <a:noAutofit/>
          </a:bodyPr>
          <a:lstStyle/>
          <a:p>
            <a:pPr algn="ctr"/>
            <a:r>
              <a:rPr lang="en-US" sz="1400" b="1" dirty="0">
                <a:solidFill>
                  <a:srgbClr val="002060"/>
                </a:solidFill>
              </a:rPr>
              <a:t>Commitments</a:t>
            </a:r>
            <a:endParaRPr lang="ru-RU" b="1" dirty="0" err="1">
              <a:solidFill>
                <a:srgbClr val="002060"/>
              </a:solidFill>
            </a:endParaRPr>
          </a:p>
        </p:txBody>
      </p:sp>
      <p:pic>
        <p:nvPicPr>
          <p:cNvPr id="4" name="Picture 3">
            <a:extLst>
              <a:ext uri="{FF2B5EF4-FFF2-40B4-BE49-F238E27FC236}">
                <a16:creationId xmlns:a16="http://schemas.microsoft.com/office/drawing/2014/main" id="{6A61C326-A291-477D-8DDA-F3F4853EF6B8}"/>
              </a:ext>
            </a:extLst>
          </p:cNvPr>
          <p:cNvPicPr>
            <a:picLocks noChangeAspect="1"/>
          </p:cNvPicPr>
          <p:nvPr/>
        </p:nvPicPr>
        <p:blipFill>
          <a:blip r:embed="rId4"/>
          <a:stretch>
            <a:fillRect/>
          </a:stretch>
        </p:blipFill>
        <p:spPr>
          <a:xfrm>
            <a:off x="1626704" y="2915362"/>
            <a:ext cx="10009601" cy="710712"/>
          </a:xfrm>
          <a:prstGeom prst="rect">
            <a:avLst/>
          </a:prstGeom>
        </p:spPr>
      </p:pic>
      <p:sp>
        <p:nvSpPr>
          <p:cNvPr id="21" name="Rectangle 20">
            <a:extLst>
              <a:ext uri="{FF2B5EF4-FFF2-40B4-BE49-F238E27FC236}">
                <a16:creationId xmlns:a16="http://schemas.microsoft.com/office/drawing/2014/main" id="{0655E493-AA61-4403-B646-BA76F67DE3EB}"/>
              </a:ext>
            </a:extLst>
          </p:cNvPr>
          <p:cNvSpPr/>
          <p:nvPr/>
        </p:nvSpPr>
        <p:spPr>
          <a:xfrm>
            <a:off x="304800" y="3260035"/>
            <a:ext cx="11331505" cy="168966"/>
          </a:xfrm>
          <a:prstGeom prst="rect">
            <a:avLst/>
          </a:prstGeom>
          <a:noFill/>
          <a:ln w="31750">
            <a:solidFill>
              <a:srgbClr val="002060"/>
            </a:solidFill>
            <a:prstDash val="sysDot"/>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a:p>
        </p:txBody>
      </p:sp>
      <p:graphicFrame>
        <p:nvGraphicFramePr>
          <p:cNvPr id="5" name="Object 4">
            <a:extLst>
              <a:ext uri="{FF2B5EF4-FFF2-40B4-BE49-F238E27FC236}">
                <a16:creationId xmlns:a16="http://schemas.microsoft.com/office/drawing/2014/main" id="{1FF484E5-BB5E-4EF5-9B1E-7D695B01B141}"/>
              </a:ext>
            </a:extLst>
          </p:cNvPr>
          <p:cNvGraphicFramePr>
            <a:graphicFrameLocks noChangeAspect="1"/>
          </p:cNvGraphicFramePr>
          <p:nvPr/>
        </p:nvGraphicFramePr>
        <p:xfrm>
          <a:off x="10017883" y="4946687"/>
          <a:ext cx="1618422" cy="1402071"/>
        </p:xfrm>
        <a:graphic>
          <a:graphicData uri="http://schemas.openxmlformats.org/presentationml/2006/ole">
            <mc:AlternateContent xmlns:mc="http://schemas.openxmlformats.org/markup-compatibility/2006">
              <mc:Choice xmlns:v="urn:schemas-microsoft-com:vml" Requires="v">
                <p:oleObj spid="_x0000_s2050" name="Worksheet" showAsIcon="1" r:id="rId5" imgW="914400" imgH="792696" progId="Excel.Sheet.12">
                  <p:embed/>
                </p:oleObj>
              </mc:Choice>
              <mc:Fallback>
                <p:oleObj name="Worksheet" showAsIcon="1" r:id="rId5" imgW="914400" imgH="792696" progId="Excel.Sheet.12">
                  <p:embed/>
                  <p:pic>
                    <p:nvPicPr>
                      <p:cNvPr id="5" name="Object 4">
                        <a:extLst>
                          <a:ext uri="{FF2B5EF4-FFF2-40B4-BE49-F238E27FC236}">
                            <a16:creationId xmlns:a16="http://schemas.microsoft.com/office/drawing/2014/main" id="{1FF484E5-BB5E-4EF5-9B1E-7D695B01B141}"/>
                          </a:ext>
                        </a:extLst>
                      </p:cNvPr>
                      <p:cNvPicPr/>
                      <p:nvPr/>
                    </p:nvPicPr>
                    <p:blipFill>
                      <a:blip r:embed="rId6"/>
                      <a:stretch>
                        <a:fillRect/>
                      </a:stretch>
                    </p:blipFill>
                    <p:spPr>
                      <a:xfrm>
                        <a:off x="10017883" y="4946687"/>
                        <a:ext cx="1618422" cy="1402071"/>
                      </a:xfrm>
                      <a:prstGeom prst="rect">
                        <a:avLst/>
                      </a:prstGeom>
                    </p:spPr>
                  </p:pic>
                </p:oleObj>
              </mc:Fallback>
            </mc:AlternateContent>
          </a:graphicData>
        </a:graphic>
      </p:graphicFrame>
    </p:spTree>
    <p:extLst>
      <p:ext uri="{BB962C8B-B14F-4D97-AF65-F5344CB8AC3E}">
        <p14:creationId xmlns:p14="http://schemas.microsoft.com/office/powerpoint/2010/main" val="4068446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AB312-4CB9-4327-B575-59104B3A1EAC}"/>
              </a:ext>
            </a:extLst>
          </p:cNvPr>
          <p:cNvSpPr>
            <a:spLocks noGrp="1"/>
          </p:cNvSpPr>
          <p:nvPr>
            <p:ph type="title"/>
          </p:nvPr>
        </p:nvSpPr>
        <p:spPr/>
        <p:txBody>
          <a:bodyPr/>
          <a:lstStyle/>
          <a:p>
            <a:r>
              <a:rPr lang="en-US" dirty="0"/>
              <a:t>GPM05 – Display WBS features Project ID</a:t>
            </a:r>
          </a:p>
        </p:txBody>
      </p:sp>
      <p:sp>
        <p:nvSpPr>
          <p:cNvPr id="4" name="Footer Placeholder 3">
            <a:extLst>
              <a:ext uri="{FF2B5EF4-FFF2-40B4-BE49-F238E27FC236}">
                <a16:creationId xmlns:a16="http://schemas.microsoft.com/office/drawing/2014/main" id="{18057AA6-C369-4B76-8FAF-400B0A75E2E6}"/>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ABCDAFCB-272A-4003-906E-2C6B12ECB23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C98D4239-60CB-4581-B78A-B481C42A4B72}"/>
              </a:ext>
            </a:extLst>
          </p:cNvPr>
          <p:cNvSpPr/>
          <p:nvPr/>
        </p:nvSpPr>
        <p:spPr bwMode="auto">
          <a:xfrm>
            <a:off x="5765800" y="1458859"/>
            <a:ext cx="6207539" cy="5004201"/>
          </a:xfrm>
          <a:prstGeom prst="roundRect">
            <a:avLst>
              <a:gd name="adj" fmla="val 0"/>
            </a:avLst>
          </a:prstGeom>
          <a:solidFill>
            <a:srgbClr val="FFFFFF">
              <a:lumMod val="95000"/>
            </a:srgbClr>
          </a:solidFill>
          <a:ln>
            <a:noFill/>
          </a:ln>
          <a:effectLst/>
        </p:spPr>
        <p:txBody>
          <a:bodyPr vert="horz" wrap="square" lIns="0" tIns="0" rIns="0" bIns="0" numCol="1" rtlCol="0" anchor="t"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1799" b="1" i="0" u="sng" strike="noStrike" kern="0" cap="none" spc="0" normalizeH="0" baseline="0" noProof="0" dirty="0">
              <a:ln>
                <a:noFill/>
              </a:ln>
              <a:solidFill>
                <a:srgbClr val="000000"/>
              </a:solidFill>
              <a:effectLst/>
              <a:uLnTx/>
              <a:uFillTx/>
              <a:latin typeface="Arial" panose="020B0604020202020204"/>
              <a:ea typeface="ＭＳ Ｐゴシック" pitchFamily="80" charset="-128"/>
              <a:cs typeface="+mn-cs"/>
            </a:endParaRPr>
          </a:p>
        </p:txBody>
      </p:sp>
      <p:sp>
        <p:nvSpPr>
          <p:cNvPr id="8" name="Content Placeholder 3">
            <a:extLst>
              <a:ext uri="{FF2B5EF4-FFF2-40B4-BE49-F238E27FC236}">
                <a16:creationId xmlns:a16="http://schemas.microsoft.com/office/drawing/2014/main" id="{3DB055BE-D48A-4D4B-96E5-7A384ACAD7DB}"/>
              </a:ext>
            </a:extLst>
          </p:cNvPr>
          <p:cNvSpPr txBox="1">
            <a:spLocks/>
          </p:cNvSpPr>
          <p:nvPr/>
        </p:nvSpPr>
        <p:spPr>
          <a:xfrm>
            <a:off x="211482" y="1458856"/>
            <a:ext cx="5332896" cy="5004201"/>
          </a:xfrm>
          <a:prstGeom prst="rect">
            <a:avLst/>
          </a:prstGeom>
          <a:solidFill>
            <a:srgbClr val="FFFFFF"/>
          </a:solidFill>
          <a:ln>
            <a:solidFill>
              <a:srgbClr val="FFFFFF">
                <a:lumMod val="85000"/>
              </a:srgbClr>
            </a:solidFill>
          </a:ln>
          <a:effectLst>
            <a:outerShdw blurRad="50800" dist="38100" dir="2700000" algn="tl" rotWithShape="0">
              <a:prstClr val="black">
                <a:alpha val="40000"/>
              </a:prstClr>
            </a:outerShdw>
          </a:effectLst>
        </p:spPr>
        <p:txBody>
          <a:bodyPr vert="horz" lIns="91440" tIns="45720" rIns="91440" bIns="45720" rtlCol="0">
            <a:noAutofit/>
          </a:bodyPr>
          <a:lstStyle>
            <a:lvl1pPr marL="228531" indent="-228531" algn="l" defTabSz="914126" rtl="0" eaLnBrk="1" latinLnBrk="0" hangingPunct="1">
              <a:lnSpc>
                <a:spcPct val="90000"/>
              </a:lnSpc>
              <a:spcBef>
                <a:spcPts val="1000"/>
              </a:spcBef>
              <a:buFont typeface="Arial"/>
              <a:buChar char="•"/>
              <a:defRPr sz="1999" kern="1200">
                <a:solidFill>
                  <a:schemeClr val="tx1"/>
                </a:solidFill>
                <a:latin typeface="Arial" charset="0"/>
                <a:ea typeface="Arial" charset="0"/>
                <a:cs typeface="Arial" charset="0"/>
              </a:defRPr>
            </a:lvl1pPr>
            <a:lvl2pPr marL="685594" indent="-228531" algn="l" defTabSz="914126" rtl="0" eaLnBrk="1" latinLnBrk="0" hangingPunct="1">
              <a:lnSpc>
                <a:spcPct val="90000"/>
              </a:lnSpc>
              <a:spcBef>
                <a:spcPts val="500"/>
              </a:spcBef>
              <a:buFont typeface="Arial"/>
              <a:buChar char="•"/>
              <a:defRPr sz="1799" kern="1200">
                <a:solidFill>
                  <a:schemeClr val="tx1"/>
                </a:solidFill>
                <a:latin typeface="Arial" charset="0"/>
                <a:ea typeface="Arial" charset="0"/>
                <a:cs typeface="Arial" charset="0"/>
              </a:defRPr>
            </a:lvl2pPr>
            <a:lvl3pPr marL="1142657" indent="-228531" algn="l" defTabSz="914126" rtl="0" eaLnBrk="1" latinLnBrk="0" hangingPunct="1">
              <a:lnSpc>
                <a:spcPct val="90000"/>
              </a:lnSpc>
              <a:spcBef>
                <a:spcPts val="500"/>
              </a:spcBef>
              <a:buFont typeface="Arial"/>
              <a:buChar char="•"/>
              <a:defRPr sz="1600" kern="1200">
                <a:solidFill>
                  <a:schemeClr val="tx1"/>
                </a:solidFill>
                <a:latin typeface="Arial" charset="0"/>
                <a:ea typeface="Arial" charset="0"/>
                <a:cs typeface="Arial" charset="0"/>
              </a:defRPr>
            </a:lvl3pPr>
            <a:lvl4pPr marL="1599720"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4pPr>
            <a:lvl5pPr marL="2056783"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5pPr>
            <a:lvl6pPr marL="2513846"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9pPr>
          </a:lstStyle>
          <a:p>
            <a:pPr marL="0" marR="0" lvl="0" indent="0" algn="l" defTabSz="914126" rtl="0" eaLnBrk="1" fontAlgn="base" latinLnBrk="0" hangingPunct="1">
              <a:lnSpc>
                <a:spcPct val="100000"/>
              </a:lnSpc>
              <a:spcBef>
                <a:spcPts val="1000"/>
              </a:spcBef>
              <a:spcAft>
                <a:spcPct val="0"/>
              </a:spcAft>
              <a:buClrTx/>
              <a:buSzTx/>
              <a:buFont typeface="Arial"/>
              <a:buNone/>
              <a:tabLst/>
              <a:defRPr/>
            </a:pPr>
            <a:endParaRPr kumimoji="0" lang="en-US" sz="1400" b="1" i="0" u="none" strike="noStrike" kern="1200" cap="none" spc="0" normalizeH="0" baseline="0" noProof="0" dirty="0">
              <a:ln>
                <a:noFill/>
              </a:ln>
              <a:solidFill>
                <a:srgbClr val="000000"/>
              </a:solidFill>
              <a:effectLst/>
              <a:uLnTx/>
              <a:uFillTx/>
              <a:latin typeface="Arial" charset="0"/>
              <a:cs typeface="Arial" charset="0"/>
            </a:endParaRPr>
          </a:p>
          <a:p>
            <a:pPr marL="228531" marR="0" lvl="0" indent="-228531" algn="l" defTabSz="914126" rtl="0" eaLnBrk="1" fontAlgn="base" latinLnBrk="0" hangingPunct="1">
              <a:lnSpc>
                <a:spcPct val="90000"/>
              </a:lnSpc>
              <a:spcBef>
                <a:spcPts val="1000"/>
              </a:spcBef>
              <a:spcAft>
                <a:spcPct val="0"/>
              </a:spcAft>
              <a:buClrTx/>
              <a:buSzTx/>
              <a:buFont typeface="Arial"/>
              <a:buChar char="•"/>
              <a:tabLst/>
              <a:defRPr/>
            </a:pPr>
            <a:endParaRPr kumimoji="0" lang="en-US" sz="1400" b="0" i="0" u="none" strike="noStrike" kern="1200" cap="none" spc="0" normalizeH="0" baseline="0" noProof="0" dirty="0">
              <a:ln>
                <a:noFill/>
              </a:ln>
              <a:solidFill>
                <a:srgbClr val="000000"/>
              </a:solidFill>
              <a:effectLst/>
              <a:uLnTx/>
              <a:uFillTx/>
              <a:latin typeface="Arial" charset="0"/>
              <a:cs typeface="Arial" charset="0"/>
            </a:endParaRPr>
          </a:p>
        </p:txBody>
      </p:sp>
      <p:sp>
        <p:nvSpPr>
          <p:cNvPr id="3" name="Rectangle 2">
            <a:extLst>
              <a:ext uri="{FF2B5EF4-FFF2-40B4-BE49-F238E27FC236}">
                <a16:creationId xmlns:a16="http://schemas.microsoft.com/office/drawing/2014/main" id="{8E914B8E-F50C-4640-A6BB-46BF739F90F2}"/>
              </a:ext>
            </a:extLst>
          </p:cNvPr>
          <p:cNvSpPr/>
          <p:nvPr/>
        </p:nvSpPr>
        <p:spPr>
          <a:xfrm>
            <a:off x="439255" y="1516439"/>
            <a:ext cx="5116996" cy="4555093"/>
          </a:xfrm>
          <a:prstGeom prst="rect">
            <a:avLst/>
          </a:prstGeom>
        </p:spPr>
        <p:txBody>
          <a:bodyPr wrap="square">
            <a:spAutoFit/>
          </a:bodyPr>
          <a:lstStyle/>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000000"/>
                </a:solidFill>
                <a:effectLst/>
                <a:uLnTx/>
                <a:uFillTx/>
                <a:latin typeface="Arial" charset="0"/>
                <a:ea typeface="+mn-ea"/>
                <a:cs typeface="Arial" charset="0"/>
              </a:rPr>
              <a:t>“Analysis for Office” (AO) </a:t>
            </a:r>
            <a:r>
              <a:rPr kumimoji="0" lang="en-US" sz="1600" b="0" i="0" u="none" strike="noStrike" kern="1200" cap="none" spc="0" normalizeH="0" baseline="0" noProof="0" dirty="0">
                <a:ln>
                  <a:noFill/>
                </a:ln>
                <a:solidFill>
                  <a:srgbClr val="000000"/>
                </a:solidFill>
                <a:effectLst/>
                <a:uLnTx/>
                <a:uFillTx/>
                <a:latin typeface="Arial" charset="0"/>
                <a:ea typeface="+mn-ea"/>
                <a:cs typeface="Arial" charset="0"/>
              </a:rPr>
              <a:t>is used for</a:t>
            </a:r>
            <a:r>
              <a:rPr kumimoji="0" lang="en-US" sz="1600" b="1" i="0" u="none" strike="noStrike" kern="1200" cap="none" spc="0" normalizeH="0" baseline="0" noProof="0" dirty="0">
                <a:ln>
                  <a:noFill/>
                </a:ln>
                <a:solidFill>
                  <a:srgbClr val="000000"/>
                </a:solidFill>
                <a:effectLst/>
                <a:uLnTx/>
                <a:uFillTx/>
                <a:latin typeface="Arial" charset="0"/>
                <a:ea typeface="+mn-ea"/>
                <a:cs typeface="Arial" charset="0"/>
              </a:rPr>
              <a:t> BW / GPM </a:t>
            </a:r>
            <a:r>
              <a:rPr kumimoji="0" lang="en-US" sz="1600" b="0" i="0" u="none" strike="noStrike" kern="1200" cap="none" spc="0" normalizeH="0" baseline="0" noProof="0" dirty="0">
                <a:ln>
                  <a:noFill/>
                </a:ln>
                <a:solidFill>
                  <a:srgbClr val="000000"/>
                </a:solidFill>
                <a:effectLst/>
                <a:uLnTx/>
                <a:uFillTx/>
                <a:latin typeface="Arial" charset="0"/>
                <a:ea typeface="+mn-ea"/>
                <a:cs typeface="Arial" charset="0"/>
              </a:rPr>
              <a:t>reports are ran through </a:t>
            </a:r>
            <a:r>
              <a:rPr kumimoji="0" lang="en-US" sz="1600" b="1" i="0" u="none" strike="noStrike" kern="1200" cap="none" spc="0" normalizeH="0" baseline="0" noProof="0" dirty="0">
                <a:ln>
                  <a:noFill/>
                </a:ln>
                <a:solidFill>
                  <a:srgbClr val="000000"/>
                </a:solidFill>
                <a:effectLst/>
                <a:uLnTx/>
                <a:uFillTx/>
                <a:latin typeface="Arial" charset="0"/>
                <a:ea typeface="+mn-ea"/>
                <a:cs typeface="Arial" charset="0"/>
              </a:rPr>
              <a:t>excel. Reports / workbooks can be saved and refreshed. </a:t>
            </a:r>
          </a:p>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000000"/>
                </a:solidFill>
                <a:effectLst/>
                <a:uLnTx/>
                <a:uFillTx/>
                <a:latin typeface="Arial" charset="0"/>
                <a:ea typeface="+mn-ea"/>
                <a:cs typeface="Arial" charset="0"/>
              </a:rPr>
              <a:t>WBS Features </a:t>
            </a:r>
            <a:r>
              <a:rPr kumimoji="0" lang="en-US" sz="1600" b="0" i="0" u="none" strike="noStrike" kern="1200" cap="none" spc="0" normalizeH="0" baseline="0" noProof="0" dirty="0">
                <a:ln>
                  <a:noFill/>
                </a:ln>
                <a:solidFill>
                  <a:srgbClr val="000000"/>
                </a:solidFill>
                <a:effectLst/>
                <a:uLnTx/>
                <a:uFillTx/>
                <a:latin typeface="Arial" charset="0"/>
                <a:ea typeface="+mn-ea"/>
                <a:cs typeface="Arial" charset="0"/>
              </a:rPr>
              <a:t>are available as navigable objects in the Design Panel. They can be found under ‘GPMC’ objects as related to costs (C)</a:t>
            </a:r>
          </a:p>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If project ID is added as an object, the following features are available: </a:t>
            </a:r>
          </a:p>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800100" marR="0" lvl="1" indent="-342900" algn="l" defTabSz="914126" rtl="0" eaLnBrk="1" fontAlgn="base" latinLnBrk="0" hangingPunct="1">
              <a:lnSpc>
                <a:spcPct val="100000"/>
              </a:lnSpc>
              <a:spcBef>
                <a:spcPts val="0"/>
              </a:spcBef>
              <a:spcAft>
                <a:spcPct val="0"/>
              </a:spcAft>
              <a:buClrTx/>
              <a:buSzTx/>
              <a:buFont typeface="+mj-lt"/>
              <a:buAutoNum type="arabicPeriod"/>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Filtering either by:</a:t>
            </a:r>
          </a:p>
          <a:p>
            <a:pPr marL="1257300" marR="0" lvl="2" indent="-342900"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Using ‘Members’ or </a:t>
            </a:r>
          </a:p>
          <a:p>
            <a:pPr marL="1257300" marR="0" lvl="2" indent="-342900"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Double clicking on GPMC Project ID added as a row/column</a:t>
            </a:r>
          </a:p>
          <a:p>
            <a:pPr marL="800100" marR="0" lvl="1" indent="-342900" algn="l" defTabSz="914126" rtl="0" eaLnBrk="1" fontAlgn="base" latinLnBrk="0" hangingPunct="1">
              <a:lnSpc>
                <a:spcPct val="100000"/>
              </a:lnSpc>
              <a:spcBef>
                <a:spcPts val="0"/>
              </a:spcBef>
              <a:spcAft>
                <a:spcPct val="0"/>
              </a:spcAft>
              <a:buClrTx/>
              <a:buSzTx/>
              <a:buFont typeface="+mj-lt"/>
              <a:buAutoNum type="arabicPeriod"/>
              <a:tabLst/>
              <a:defRPr/>
            </a:pPr>
            <a:r>
              <a:rPr kumimoji="0" lang="en-US" sz="1600" b="0" i="0" u="none" strike="noStrike" kern="1200" cap="none" spc="0" normalizeH="0" baseline="0" noProof="0" dirty="0">
                <a:ln>
                  <a:noFill/>
                </a:ln>
                <a:solidFill>
                  <a:srgbClr val="000000"/>
                </a:solidFill>
                <a:effectLst/>
                <a:uLnTx/>
                <a:uFillTx/>
                <a:latin typeface="Arial" charset="0"/>
                <a:ea typeface="+mn-ea"/>
                <a:cs typeface="Arial" charset="0"/>
              </a:rPr>
              <a:t>Adding Attributes, for example:</a:t>
            </a:r>
          </a:p>
          <a:p>
            <a:pPr marL="1200150" marR="0" lvl="2"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FX date for budget control </a:t>
            </a:r>
          </a:p>
          <a:p>
            <a:pPr marL="1200150" marR="0" lvl="2"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FX rate type for budget control </a:t>
            </a:r>
          </a:p>
          <a:p>
            <a:pPr marL="1200150" marR="0" lvl="2"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BAP/MEMO number </a:t>
            </a:r>
          </a:p>
          <a:p>
            <a:pPr marL="1200150" marR="0" lvl="2"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Initiative ID </a:t>
            </a:r>
          </a:p>
          <a:p>
            <a:pPr marL="1257300" marR="0" lvl="2" indent="-342900" algn="l" defTabSz="914126" rtl="0" eaLnBrk="1" fontAlgn="base" latinLnBrk="0" hangingPunct="1">
              <a:lnSpc>
                <a:spcPct val="100000"/>
              </a:lnSpc>
              <a:spcBef>
                <a:spcPts val="0"/>
              </a:spcBef>
              <a:spcAft>
                <a:spcPct val="0"/>
              </a:spcAft>
              <a:buClrTx/>
              <a:buSzTx/>
              <a:buFont typeface="+mj-lt"/>
              <a:buAutoNum type="arabicPeriod"/>
              <a:tabLst/>
              <a:defRPr/>
            </a:pPr>
            <a:endParaRPr kumimoji="0" lang="en-US" sz="1600" b="0" i="0" u="none" strike="noStrike" kern="1200" cap="none" spc="0" normalizeH="0" baseline="0" noProof="0" dirty="0">
              <a:ln>
                <a:noFill/>
              </a:ln>
              <a:solidFill>
                <a:srgbClr val="000000"/>
              </a:solidFill>
              <a:effectLst/>
              <a:uLnTx/>
              <a:uFillTx/>
              <a:latin typeface="Arial" charset="0"/>
              <a:ea typeface="+mn-ea"/>
              <a:cs typeface="Arial" charset="0"/>
            </a:endParaRPr>
          </a:p>
        </p:txBody>
      </p:sp>
      <p:pic>
        <p:nvPicPr>
          <p:cNvPr id="57350" name="Picture 6">
            <a:extLst>
              <a:ext uri="{FF2B5EF4-FFF2-40B4-BE49-F238E27FC236}">
                <a16:creationId xmlns:a16="http://schemas.microsoft.com/office/drawing/2014/main" id="{CD19C0D3-DCF6-4648-9F6B-DBD46D1BB5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4024" y="1745025"/>
            <a:ext cx="3851645" cy="1683975"/>
          </a:xfrm>
          <a:prstGeom prst="rect">
            <a:avLst/>
          </a:prstGeom>
          <a:noFill/>
          <a:extLst>
            <a:ext uri="{909E8E84-426E-40DD-AFC4-6F175D3DCCD1}">
              <a14:hiddenFill xmlns:a14="http://schemas.microsoft.com/office/drawing/2010/main">
                <a:solidFill>
                  <a:srgbClr val="FFFFFF"/>
                </a:solidFill>
              </a14:hiddenFill>
            </a:ext>
          </a:extLst>
        </p:spPr>
      </p:pic>
      <p:pic>
        <p:nvPicPr>
          <p:cNvPr id="57352" name="Picture 8">
            <a:extLst>
              <a:ext uri="{FF2B5EF4-FFF2-40B4-BE49-F238E27FC236}">
                <a16:creationId xmlns:a16="http://schemas.microsoft.com/office/drawing/2014/main" id="{DF3A8627-87ED-4C4D-A246-FA6300C9BC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58006" y="1458857"/>
            <a:ext cx="1910589" cy="2453159"/>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EB4EC83E-8A31-4B08-BC6F-12F1922CA93A}"/>
              </a:ext>
            </a:extLst>
          </p:cNvPr>
          <p:cNvSpPr/>
          <p:nvPr/>
        </p:nvSpPr>
        <p:spPr>
          <a:xfrm>
            <a:off x="5247246" y="1406056"/>
            <a:ext cx="2426253" cy="378895"/>
          </a:xfrm>
          <a:prstGeom prst="rect">
            <a:avLst/>
          </a:prstGeom>
        </p:spPr>
        <p:txBody>
          <a:bodyPr wrap="square">
            <a:spAutoFit/>
          </a:bodyPr>
          <a:lstStyle/>
          <a:p>
            <a:pPr marL="800100" marR="0" lvl="1" indent="-342900" algn="l" defTabSz="914126" rtl="0" eaLnBrk="1" fontAlgn="base" latinLnBrk="0" hangingPunct="1">
              <a:lnSpc>
                <a:spcPct val="100000"/>
              </a:lnSpc>
              <a:spcBef>
                <a:spcPts val="0"/>
              </a:spcBef>
              <a:spcAft>
                <a:spcPct val="0"/>
              </a:spcAft>
              <a:buClrTx/>
              <a:buSzTx/>
              <a:buFont typeface="+mj-lt"/>
              <a:buAutoNum type="arabicPeriod"/>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Filtering</a:t>
            </a:r>
          </a:p>
        </p:txBody>
      </p:sp>
      <p:sp>
        <p:nvSpPr>
          <p:cNvPr id="14" name="Rectangle 13">
            <a:extLst>
              <a:ext uri="{FF2B5EF4-FFF2-40B4-BE49-F238E27FC236}">
                <a16:creationId xmlns:a16="http://schemas.microsoft.com/office/drawing/2014/main" id="{E05D0234-0F63-480B-81AB-359044FF4D97}"/>
              </a:ext>
            </a:extLst>
          </p:cNvPr>
          <p:cNvSpPr/>
          <p:nvPr/>
        </p:nvSpPr>
        <p:spPr>
          <a:xfrm>
            <a:off x="5377499" y="3646278"/>
            <a:ext cx="3188253" cy="369332"/>
          </a:xfrm>
          <a:prstGeom prst="rect">
            <a:avLst/>
          </a:prstGeom>
        </p:spPr>
        <p:txBody>
          <a:bodyPr wrap="square">
            <a:spAutoFit/>
          </a:bodyPr>
          <a:lstStyle/>
          <a:p>
            <a:pPr marL="800100" marR="0" lvl="1" indent="-342900" algn="l" defTabSz="914126" rtl="0" eaLnBrk="1" fontAlgn="base" latinLnBrk="0" hangingPunct="1">
              <a:lnSpc>
                <a:spcPct val="100000"/>
              </a:lnSpc>
              <a:spcBef>
                <a:spcPts val="0"/>
              </a:spcBef>
              <a:spcAft>
                <a:spcPct val="0"/>
              </a:spcAft>
              <a:buClrTx/>
              <a:buSzTx/>
              <a:buFont typeface="+mj-lt"/>
              <a:buAutoNum type="arabicPeriod" startAt="2"/>
              <a:tabLst/>
              <a:defRPr/>
            </a:pPr>
            <a:r>
              <a:rPr kumimoji="0" lang="en-US" sz="1800" b="0" i="0" u="none" strike="noStrike" kern="1200" cap="none" spc="0" normalizeH="0" baseline="0" noProof="0" dirty="0">
                <a:ln>
                  <a:noFill/>
                </a:ln>
                <a:solidFill>
                  <a:srgbClr val="000000"/>
                </a:solidFill>
                <a:effectLst/>
                <a:uLnTx/>
                <a:uFillTx/>
                <a:latin typeface="Arial" charset="0"/>
                <a:ea typeface="+mn-ea"/>
                <a:cs typeface="Arial" charset="0"/>
              </a:rPr>
              <a:t>Adding Attributes</a:t>
            </a:r>
          </a:p>
        </p:txBody>
      </p:sp>
      <p:pic>
        <p:nvPicPr>
          <p:cNvPr id="57354" name="Picture 10">
            <a:extLst>
              <a:ext uri="{FF2B5EF4-FFF2-40B4-BE49-F238E27FC236}">
                <a16:creationId xmlns:a16="http://schemas.microsoft.com/office/drawing/2014/main" id="{5497D9B7-FCBC-4711-99EC-71A2BDE9B5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1645" y="4033440"/>
            <a:ext cx="3138184" cy="1862137"/>
          </a:xfrm>
          <a:prstGeom prst="rect">
            <a:avLst/>
          </a:prstGeom>
          <a:noFill/>
          <a:extLst>
            <a:ext uri="{909E8E84-426E-40DD-AFC4-6F175D3DCCD1}">
              <a14:hiddenFill xmlns:a14="http://schemas.microsoft.com/office/drawing/2010/main">
                <a:solidFill>
                  <a:srgbClr val="FFFFFF"/>
                </a:solidFill>
              </a14:hiddenFill>
            </a:ext>
          </a:extLst>
        </p:spPr>
      </p:pic>
      <p:pic>
        <p:nvPicPr>
          <p:cNvPr id="57356" name="Picture 12">
            <a:extLst>
              <a:ext uri="{FF2B5EF4-FFF2-40B4-BE49-F238E27FC236}">
                <a16:creationId xmlns:a16="http://schemas.microsoft.com/office/drawing/2014/main" id="{65F505E9-60BD-432F-8B23-CF1EE58B68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45094" y="4070984"/>
            <a:ext cx="2892979" cy="21264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74869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AB312-4CB9-4327-B575-59104B3A1EAC}"/>
              </a:ext>
            </a:extLst>
          </p:cNvPr>
          <p:cNvSpPr>
            <a:spLocks noGrp="1"/>
          </p:cNvSpPr>
          <p:nvPr>
            <p:ph type="title"/>
          </p:nvPr>
        </p:nvSpPr>
        <p:spPr/>
        <p:txBody>
          <a:bodyPr/>
          <a:lstStyle/>
          <a:p>
            <a:r>
              <a:rPr lang="en-US" dirty="0"/>
              <a:t>GPM05 – Display WBS features WBS Element</a:t>
            </a:r>
          </a:p>
        </p:txBody>
      </p:sp>
      <p:sp>
        <p:nvSpPr>
          <p:cNvPr id="4" name="Footer Placeholder 3">
            <a:extLst>
              <a:ext uri="{FF2B5EF4-FFF2-40B4-BE49-F238E27FC236}">
                <a16:creationId xmlns:a16="http://schemas.microsoft.com/office/drawing/2014/main" id="{18057AA6-C369-4B76-8FAF-400B0A75E2E6}"/>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ABCDAFCB-272A-4003-906E-2C6B12ECB23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C98D4239-60CB-4581-B78A-B481C42A4B72}"/>
              </a:ext>
            </a:extLst>
          </p:cNvPr>
          <p:cNvSpPr/>
          <p:nvPr/>
        </p:nvSpPr>
        <p:spPr bwMode="auto">
          <a:xfrm>
            <a:off x="7327899" y="1458859"/>
            <a:ext cx="4645439" cy="5004201"/>
          </a:xfrm>
          <a:prstGeom prst="roundRect">
            <a:avLst>
              <a:gd name="adj" fmla="val 0"/>
            </a:avLst>
          </a:prstGeom>
          <a:solidFill>
            <a:srgbClr val="FFFFFF">
              <a:lumMod val="95000"/>
            </a:srgbClr>
          </a:solidFill>
          <a:ln>
            <a:noFill/>
          </a:ln>
          <a:effectLst/>
        </p:spPr>
        <p:txBody>
          <a:bodyPr vert="horz" wrap="square" lIns="0" tIns="0" rIns="0" bIns="0" numCol="1" rtlCol="0" anchor="t"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1799" b="1" i="0" u="sng" strike="noStrike" kern="0" cap="none" spc="0" normalizeH="0" baseline="0" noProof="0" dirty="0">
              <a:ln>
                <a:noFill/>
              </a:ln>
              <a:solidFill>
                <a:srgbClr val="000000"/>
              </a:solidFill>
              <a:effectLst/>
              <a:uLnTx/>
              <a:uFillTx/>
              <a:latin typeface="Arial" panose="020B0604020202020204"/>
              <a:ea typeface="ＭＳ Ｐゴシック" pitchFamily="80" charset="-128"/>
              <a:cs typeface="+mn-cs"/>
            </a:endParaRPr>
          </a:p>
        </p:txBody>
      </p:sp>
      <p:sp>
        <p:nvSpPr>
          <p:cNvPr id="8" name="Content Placeholder 3">
            <a:extLst>
              <a:ext uri="{FF2B5EF4-FFF2-40B4-BE49-F238E27FC236}">
                <a16:creationId xmlns:a16="http://schemas.microsoft.com/office/drawing/2014/main" id="{3DB055BE-D48A-4D4B-96E5-7A384ACAD7DB}"/>
              </a:ext>
            </a:extLst>
          </p:cNvPr>
          <p:cNvSpPr txBox="1">
            <a:spLocks/>
          </p:cNvSpPr>
          <p:nvPr/>
        </p:nvSpPr>
        <p:spPr>
          <a:xfrm>
            <a:off x="211481" y="1458856"/>
            <a:ext cx="6865591" cy="5004201"/>
          </a:xfrm>
          <a:prstGeom prst="rect">
            <a:avLst/>
          </a:prstGeom>
          <a:solidFill>
            <a:srgbClr val="FFFFFF"/>
          </a:solidFill>
          <a:ln>
            <a:solidFill>
              <a:srgbClr val="FFFFFF">
                <a:lumMod val="85000"/>
              </a:srgbClr>
            </a:solidFill>
          </a:ln>
          <a:effectLst>
            <a:outerShdw blurRad="50800" dist="38100" dir="2700000" algn="tl" rotWithShape="0">
              <a:prstClr val="black">
                <a:alpha val="40000"/>
              </a:prstClr>
            </a:outerShdw>
          </a:effectLst>
        </p:spPr>
        <p:txBody>
          <a:bodyPr vert="horz" lIns="91440" tIns="45720" rIns="91440" bIns="45720" rtlCol="0">
            <a:noAutofit/>
          </a:bodyPr>
          <a:lstStyle>
            <a:lvl1pPr marL="228531" indent="-228531" algn="l" defTabSz="914126" rtl="0" eaLnBrk="1" latinLnBrk="0" hangingPunct="1">
              <a:lnSpc>
                <a:spcPct val="90000"/>
              </a:lnSpc>
              <a:spcBef>
                <a:spcPts val="1000"/>
              </a:spcBef>
              <a:buFont typeface="Arial"/>
              <a:buChar char="•"/>
              <a:defRPr sz="1999" kern="1200">
                <a:solidFill>
                  <a:schemeClr val="tx1"/>
                </a:solidFill>
                <a:latin typeface="Arial" charset="0"/>
                <a:ea typeface="Arial" charset="0"/>
                <a:cs typeface="Arial" charset="0"/>
              </a:defRPr>
            </a:lvl1pPr>
            <a:lvl2pPr marL="685594" indent="-228531" algn="l" defTabSz="914126" rtl="0" eaLnBrk="1" latinLnBrk="0" hangingPunct="1">
              <a:lnSpc>
                <a:spcPct val="90000"/>
              </a:lnSpc>
              <a:spcBef>
                <a:spcPts val="500"/>
              </a:spcBef>
              <a:buFont typeface="Arial"/>
              <a:buChar char="•"/>
              <a:defRPr sz="1799" kern="1200">
                <a:solidFill>
                  <a:schemeClr val="tx1"/>
                </a:solidFill>
                <a:latin typeface="Arial" charset="0"/>
                <a:ea typeface="Arial" charset="0"/>
                <a:cs typeface="Arial" charset="0"/>
              </a:defRPr>
            </a:lvl2pPr>
            <a:lvl3pPr marL="1142657" indent="-228531" algn="l" defTabSz="914126" rtl="0" eaLnBrk="1" latinLnBrk="0" hangingPunct="1">
              <a:lnSpc>
                <a:spcPct val="90000"/>
              </a:lnSpc>
              <a:spcBef>
                <a:spcPts val="500"/>
              </a:spcBef>
              <a:buFont typeface="Arial"/>
              <a:buChar char="•"/>
              <a:defRPr sz="1600" kern="1200">
                <a:solidFill>
                  <a:schemeClr val="tx1"/>
                </a:solidFill>
                <a:latin typeface="Arial" charset="0"/>
                <a:ea typeface="Arial" charset="0"/>
                <a:cs typeface="Arial" charset="0"/>
              </a:defRPr>
            </a:lvl3pPr>
            <a:lvl4pPr marL="1599720"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4pPr>
            <a:lvl5pPr marL="2056783"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5pPr>
            <a:lvl6pPr marL="2513846"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9pPr>
          </a:lstStyle>
          <a:p>
            <a:pPr marL="0" marR="0" lvl="0" indent="0" algn="l" defTabSz="914126" rtl="0" eaLnBrk="1" fontAlgn="base" latinLnBrk="0" hangingPunct="1">
              <a:lnSpc>
                <a:spcPct val="100000"/>
              </a:lnSpc>
              <a:spcBef>
                <a:spcPts val="1000"/>
              </a:spcBef>
              <a:spcAft>
                <a:spcPct val="0"/>
              </a:spcAft>
              <a:buClrTx/>
              <a:buSzTx/>
              <a:buFont typeface="Arial"/>
              <a:buNone/>
              <a:tabLst/>
              <a:defRPr/>
            </a:pPr>
            <a:endParaRPr kumimoji="0" lang="en-US" sz="1400" b="1" i="0" u="none" strike="noStrike" kern="1200" cap="none" spc="0" normalizeH="0" baseline="0" noProof="0" dirty="0">
              <a:ln>
                <a:noFill/>
              </a:ln>
              <a:solidFill>
                <a:srgbClr val="000000"/>
              </a:solidFill>
              <a:effectLst/>
              <a:uLnTx/>
              <a:uFillTx/>
              <a:latin typeface="Arial" charset="0"/>
              <a:cs typeface="Arial" charset="0"/>
            </a:endParaRPr>
          </a:p>
          <a:p>
            <a:pPr marL="228531" marR="0" lvl="0" indent="-228531" algn="l" defTabSz="914126" rtl="0" eaLnBrk="1" fontAlgn="base" latinLnBrk="0" hangingPunct="1">
              <a:lnSpc>
                <a:spcPct val="90000"/>
              </a:lnSpc>
              <a:spcBef>
                <a:spcPts val="1000"/>
              </a:spcBef>
              <a:spcAft>
                <a:spcPct val="0"/>
              </a:spcAft>
              <a:buClrTx/>
              <a:buSzTx/>
              <a:buFont typeface="Arial"/>
              <a:buChar char="•"/>
              <a:tabLst/>
              <a:defRPr/>
            </a:pPr>
            <a:endParaRPr kumimoji="0" lang="en-US" sz="1400" b="0" i="0" u="none" strike="noStrike" kern="1200" cap="none" spc="0" normalizeH="0" baseline="0" noProof="0" dirty="0">
              <a:ln>
                <a:noFill/>
              </a:ln>
              <a:solidFill>
                <a:srgbClr val="000000"/>
              </a:solidFill>
              <a:effectLst/>
              <a:uLnTx/>
              <a:uFillTx/>
              <a:latin typeface="Arial" charset="0"/>
              <a:cs typeface="Arial" charset="0"/>
            </a:endParaRPr>
          </a:p>
        </p:txBody>
      </p:sp>
      <p:sp>
        <p:nvSpPr>
          <p:cNvPr id="3" name="Rectangle 2">
            <a:extLst>
              <a:ext uri="{FF2B5EF4-FFF2-40B4-BE49-F238E27FC236}">
                <a16:creationId xmlns:a16="http://schemas.microsoft.com/office/drawing/2014/main" id="{8E914B8E-F50C-4640-A6BB-46BF739F90F2}"/>
              </a:ext>
            </a:extLst>
          </p:cNvPr>
          <p:cNvSpPr/>
          <p:nvPr/>
        </p:nvSpPr>
        <p:spPr>
          <a:xfrm>
            <a:off x="439254" y="1516439"/>
            <a:ext cx="6637818" cy="5232202"/>
          </a:xfrm>
          <a:prstGeom prst="rect">
            <a:avLst/>
          </a:prstGeom>
        </p:spPr>
        <p:txBody>
          <a:bodyPr wrap="square">
            <a:spAutoFit/>
          </a:bodyPr>
          <a:lstStyle/>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WBS Element can also be added as an object, which also allows user to filter as with Project ID by using members or double clicking on GPMC Project ID added as a row/column. There are useful WBS Element A</a:t>
            </a:r>
            <a:r>
              <a:rPr kumimoji="0" lang="en-US" sz="1400" b="0" i="0" u="none" strike="noStrike" kern="1200" cap="none" spc="0" normalizeH="0" baseline="0" noProof="0" dirty="0">
                <a:ln>
                  <a:noFill/>
                </a:ln>
                <a:solidFill>
                  <a:srgbClr val="000000"/>
                </a:solidFill>
                <a:effectLst/>
                <a:uLnTx/>
                <a:uFillTx/>
                <a:latin typeface="Arial" charset="0"/>
                <a:ea typeface="+mn-ea"/>
                <a:cs typeface="Arial" charset="0"/>
              </a:rPr>
              <a:t>ttributes, for example:</a:t>
            </a:r>
          </a:p>
          <a:p>
            <a:pPr marL="742950" marR="0" lvl="1"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Priority </a:t>
            </a:r>
          </a:p>
          <a:p>
            <a:pPr marL="742950" marR="0" lvl="1"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Company Code </a:t>
            </a:r>
          </a:p>
          <a:p>
            <a:pPr marL="742950" marR="0" lvl="1"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Responsible/Requesting cost centers </a:t>
            </a:r>
          </a:p>
          <a:p>
            <a:pPr marL="742950" marR="0" lvl="1"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Brand Family </a:t>
            </a:r>
          </a:p>
          <a:p>
            <a:pPr marL="742950" marR="0" lvl="1"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Product Type </a:t>
            </a:r>
          </a:p>
          <a:p>
            <a:pPr marL="742950" marR="0" lvl="1"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Allocation key </a:t>
            </a:r>
          </a:p>
          <a:p>
            <a:pPr marL="742950" marR="0" lvl="1"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Hub </a:t>
            </a:r>
          </a:p>
          <a:p>
            <a:pPr marL="742950" marR="0" lvl="1"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Former IO number – this will be applicable for migrated WBS elements only </a:t>
            </a:r>
          </a:p>
          <a:p>
            <a:pPr marL="742950" marR="0" lvl="1"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Initiative ID  </a:t>
            </a:r>
          </a:p>
          <a:p>
            <a:pPr marL="1200150" marR="0" lvl="2"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By selecting such attributes, you can compare them with what was posted in SAP to validate: </a:t>
            </a:r>
          </a:p>
          <a:p>
            <a:pPr marL="628650" marR="0" lvl="1" indent="-1714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If brand family/product type from the WBS element were inherited in the posting </a:t>
            </a:r>
          </a:p>
          <a:p>
            <a:pPr marL="628650" marR="0" lvl="1" indent="-1714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If Allocation key in WBS element resulted in distribution to correct brand family/product type </a:t>
            </a:r>
          </a:p>
          <a:p>
            <a:pPr marL="628650" marR="0" lvl="1" indent="-1714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The cost centers used in the posting and if they were inherited from the WBS element or a different one used </a:t>
            </a:r>
          </a:p>
          <a:p>
            <a:pPr marL="628650" marR="0" lvl="1" indent="-1714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You can also view the previous IO number for migrated WBS elements, which will allow you to track the YoY expenditure related to the same IO </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1257300" marR="0" lvl="2" indent="-342900" algn="l" defTabSz="914126" rtl="0" eaLnBrk="1" fontAlgn="base" latinLnBrk="0" hangingPunct="1">
              <a:lnSpc>
                <a:spcPct val="100000"/>
              </a:lnSpc>
              <a:spcBef>
                <a:spcPts val="0"/>
              </a:spcBef>
              <a:spcAft>
                <a:spcPct val="0"/>
              </a:spcAft>
              <a:buClrTx/>
              <a:buSzTx/>
              <a:buFont typeface="+mj-lt"/>
              <a:buAutoNum type="arabicPeriod"/>
              <a:tabLst/>
              <a:defRPr/>
            </a:pPr>
            <a:endParaRPr kumimoji="0" lang="en-US" sz="1600" b="0" i="0" u="none" strike="noStrike" kern="1200" cap="none" spc="0" normalizeH="0" baseline="0" noProof="0" dirty="0">
              <a:ln>
                <a:noFill/>
              </a:ln>
              <a:solidFill>
                <a:srgbClr val="000000"/>
              </a:solidFill>
              <a:effectLst/>
              <a:uLnTx/>
              <a:uFillTx/>
              <a:latin typeface="Arial" charset="0"/>
              <a:ea typeface="+mn-ea"/>
              <a:cs typeface="Arial" charset="0"/>
            </a:endParaRPr>
          </a:p>
        </p:txBody>
      </p:sp>
      <p:sp>
        <p:nvSpPr>
          <p:cNvPr id="14" name="Rectangle 13">
            <a:extLst>
              <a:ext uri="{FF2B5EF4-FFF2-40B4-BE49-F238E27FC236}">
                <a16:creationId xmlns:a16="http://schemas.microsoft.com/office/drawing/2014/main" id="{E05D0234-0F63-480B-81AB-359044FF4D97}"/>
              </a:ext>
            </a:extLst>
          </p:cNvPr>
          <p:cNvSpPr/>
          <p:nvPr/>
        </p:nvSpPr>
        <p:spPr>
          <a:xfrm>
            <a:off x="7077073" y="1955410"/>
            <a:ext cx="4299901" cy="369332"/>
          </a:xfrm>
          <a:prstGeom prst="rect">
            <a:avLst/>
          </a:prstGeom>
        </p:spPr>
        <p:txBody>
          <a:bodyPr wrap="square">
            <a:spAutoFit/>
          </a:bodyPr>
          <a:lstStyle/>
          <a:p>
            <a:pPr marL="457200" marR="0" lvl="1" indent="0" algn="l" defTabSz="914126" rtl="0" eaLnBrk="1" fontAlgn="base" latinLnBrk="0" hangingPunct="1">
              <a:lnSpc>
                <a:spcPct val="100000"/>
              </a:lnSpc>
              <a:spcBef>
                <a:spcPts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mn-ea"/>
                <a:cs typeface="Arial" charset="0"/>
              </a:rPr>
              <a:t>WBS Element Attributes:</a:t>
            </a:r>
          </a:p>
        </p:txBody>
      </p:sp>
      <p:pic>
        <p:nvPicPr>
          <p:cNvPr id="58370" name="Picture 2">
            <a:extLst>
              <a:ext uri="{FF2B5EF4-FFF2-40B4-BE49-F238E27FC236}">
                <a16:creationId xmlns:a16="http://schemas.microsoft.com/office/drawing/2014/main" id="{6B38B1FF-B2CD-4CFF-A25A-8CD196C6CA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2211" y="2513066"/>
            <a:ext cx="4133850" cy="3038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85207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AB312-4CB9-4327-B575-59104B3A1EAC}"/>
              </a:ext>
            </a:extLst>
          </p:cNvPr>
          <p:cNvSpPr>
            <a:spLocks noGrp="1"/>
          </p:cNvSpPr>
          <p:nvPr>
            <p:ph type="title"/>
          </p:nvPr>
        </p:nvSpPr>
        <p:spPr/>
        <p:txBody>
          <a:bodyPr/>
          <a:lstStyle/>
          <a:p>
            <a:r>
              <a:rPr lang="en-US" dirty="0"/>
              <a:t>GPM05 – Display WBS Structure</a:t>
            </a:r>
          </a:p>
        </p:txBody>
      </p:sp>
      <p:sp>
        <p:nvSpPr>
          <p:cNvPr id="4" name="Footer Placeholder 3">
            <a:extLst>
              <a:ext uri="{FF2B5EF4-FFF2-40B4-BE49-F238E27FC236}">
                <a16:creationId xmlns:a16="http://schemas.microsoft.com/office/drawing/2014/main" id="{18057AA6-C369-4B76-8FAF-400B0A75E2E6}"/>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ABCDAFCB-272A-4003-906E-2C6B12ECB23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C98D4239-60CB-4581-B78A-B481C42A4B72}"/>
              </a:ext>
            </a:extLst>
          </p:cNvPr>
          <p:cNvSpPr/>
          <p:nvPr/>
        </p:nvSpPr>
        <p:spPr bwMode="auto">
          <a:xfrm>
            <a:off x="7327899" y="1458859"/>
            <a:ext cx="4645439" cy="5004201"/>
          </a:xfrm>
          <a:prstGeom prst="roundRect">
            <a:avLst>
              <a:gd name="adj" fmla="val 0"/>
            </a:avLst>
          </a:prstGeom>
          <a:solidFill>
            <a:srgbClr val="FFFFFF">
              <a:lumMod val="95000"/>
            </a:srgbClr>
          </a:solidFill>
          <a:ln>
            <a:noFill/>
          </a:ln>
          <a:effectLst/>
        </p:spPr>
        <p:txBody>
          <a:bodyPr vert="horz" wrap="square" lIns="0" tIns="0" rIns="0" bIns="0" numCol="1" rtlCol="0" anchor="t"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1799" b="1" i="0" u="sng" strike="noStrike" kern="0" cap="none" spc="0" normalizeH="0" baseline="0" noProof="0" dirty="0">
              <a:ln>
                <a:noFill/>
              </a:ln>
              <a:solidFill>
                <a:srgbClr val="000000"/>
              </a:solidFill>
              <a:effectLst/>
              <a:uLnTx/>
              <a:uFillTx/>
              <a:latin typeface="Arial" panose="020B0604020202020204"/>
              <a:ea typeface="ＭＳ Ｐゴシック" pitchFamily="80" charset="-128"/>
              <a:cs typeface="+mn-cs"/>
            </a:endParaRPr>
          </a:p>
        </p:txBody>
      </p:sp>
      <p:sp>
        <p:nvSpPr>
          <p:cNvPr id="8" name="Content Placeholder 3">
            <a:extLst>
              <a:ext uri="{FF2B5EF4-FFF2-40B4-BE49-F238E27FC236}">
                <a16:creationId xmlns:a16="http://schemas.microsoft.com/office/drawing/2014/main" id="{3DB055BE-D48A-4D4B-96E5-7A384ACAD7DB}"/>
              </a:ext>
            </a:extLst>
          </p:cNvPr>
          <p:cNvSpPr txBox="1">
            <a:spLocks/>
          </p:cNvSpPr>
          <p:nvPr/>
        </p:nvSpPr>
        <p:spPr>
          <a:xfrm>
            <a:off x="211481" y="1458857"/>
            <a:ext cx="6865591" cy="2673684"/>
          </a:xfrm>
          <a:prstGeom prst="rect">
            <a:avLst/>
          </a:prstGeom>
          <a:solidFill>
            <a:srgbClr val="FFFFFF"/>
          </a:solidFill>
          <a:ln>
            <a:solidFill>
              <a:srgbClr val="FFFFFF">
                <a:lumMod val="85000"/>
              </a:srgbClr>
            </a:solidFill>
          </a:ln>
          <a:effectLst>
            <a:outerShdw blurRad="50800" dist="38100" dir="2700000" algn="tl" rotWithShape="0">
              <a:prstClr val="black">
                <a:alpha val="40000"/>
              </a:prstClr>
            </a:outerShdw>
          </a:effectLst>
        </p:spPr>
        <p:txBody>
          <a:bodyPr vert="horz" lIns="91440" tIns="45720" rIns="91440" bIns="45720" rtlCol="0">
            <a:noAutofit/>
          </a:bodyPr>
          <a:lstStyle>
            <a:lvl1pPr marL="228531" indent="-228531" algn="l" defTabSz="914126" rtl="0" eaLnBrk="1" latinLnBrk="0" hangingPunct="1">
              <a:lnSpc>
                <a:spcPct val="90000"/>
              </a:lnSpc>
              <a:spcBef>
                <a:spcPts val="1000"/>
              </a:spcBef>
              <a:buFont typeface="Arial"/>
              <a:buChar char="•"/>
              <a:defRPr sz="1999" kern="1200">
                <a:solidFill>
                  <a:schemeClr val="tx1"/>
                </a:solidFill>
                <a:latin typeface="Arial" charset="0"/>
                <a:ea typeface="Arial" charset="0"/>
                <a:cs typeface="Arial" charset="0"/>
              </a:defRPr>
            </a:lvl1pPr>
            <a:lvl2pPr marL="685594" indent="-228531" algn="l" defTabSz="914126" rtl="0" eaLnBrk="1" latinLnBrk="0" hangingPunct="1">
              <a:lnSpc>
                <a:spcPct val="90000"/>
              </a:lnSpc>
              <a:spcBef>
                <a:spcPts val="500"/>
              </a:spcBef>
              <a:buFont typeface="Arial"/>
              <a:buChar char="•"/>
              <a:defRPr sz="1799" kern="1200">
                <a:solidFill>
                  <a:schemeClr val="tx1"/>
                </a:solidFill>
                <a:latin typeface="Arial" charset="0"/>
                <a:ea typeface="Arial" charset="0"/>
                <a:cs typeface="Arial" charset="0"/>
              </a:defRPr>
            </a:lvl2pPr>
            <a:lvl3pPr marL="1142657" indent="-228531" algn="l" defTabSz="914126" rtl="0" eaLnBrk="1" latinLnBrk="0" hangingPunct="1">
              <a:lnSpc>
                <a:spcPct val="90000"/>
              </a:lnSpc>
              <a:spcBef>
                <a:spcPts val="500"/>
              </a:spcBef>
              <a:buFont typeface="Arial"/>
              <a:buChar char="•"/>
              <a:defRPr sz="1600" kern="1200">
                <a:solidFill>
                  <a:schemeClr val="tx1"/>
                </a:solidFill>
                <a:latin typeface="Arial" charset="0"/>
                <a:ea typeface="Arial" charset="0"/>
                <a:cs typeface="Arial" charset="0"/>
              </a:defRPr>
            </a:lvl3pPr>
            <a:lvl4pPr marL="1599720"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4pPr>
            <a:lvl5pPr marL="2056783"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5pPr>
            <a:lvl6pPr marL="2513846"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9pPr>
          </a:lstStyle>
          <a:p>
            <a:pPr marL="0" marR="0" lvl="0" indent="0" algn="l" defTabSz="914126" rtl="0" eaLnBrk="1" fontAlgn="base" latinLnBrk="0" hangingPunct="1">
              <a:lnSpc>
                <a:spcPct val="100000"/>
              </a:lnSpc>
              <a:spcBef>
                <a:spcPts val="1000"/>
              </a:spcBef>
              <a:spcAft>
                <a:spcPct val="0"/>
              </a:spcAft>
              <a:buClrTx/>
              <a:buSzTx/>
              <a:buFont typeface="Arial"/>
              <a:buNone/>
              <a:tabLst/>
              <a:defRPr/>
            </a:pPr>
            <a:endParaRPr kumimoji="0" lang="en-US" sz="1400" b="1" i="0" u="none" strike="noStrike" kern="1200" cap="none" spc="0" normalizeH="0" baseline="0" noProof="0" dirty="0">
              <a:ln>
                <a:noFill/>
              </a:ln>
              <a:solidFill>
                <a:srgbClr val="000000"/>
              </a:solidFill>
              <a:effectLst/>
              <a:uLnTx/>
              <a:uFillTx/>
              <a:latin typeface="Arial" charset="0"/>
              <a:cs typeface="Arial" charset="0"/>
            </a:endParaRPr>
          </a:p>
          <a:p>
            <a:pPr marL="228531" marR="0" lvl="0" indent="-228531" algn="l" defTabSz="914126" rtl="0" eaLnBrk="1" fontAlgn="base" latinLnBrk="0" hangingPunct="1">
              <a:lnSpc>
                <a:spcPct val="90000"/>
              </a:lnSpc>
              <a:spcBef>
                <a:spcPts val="1000"/>
              </a:spcBef>
              <a:spcAft>
                <a:spcPct val="0"/>
              </a:spcAft>
              <a:buClrTx/>
              <a:buSzTx/>
              <a:buFont typeface="Arial"/>
              <a:buChar char="•"/>
              <a:tabLst/>
              <a:defRPr/>
            </a:pPr>
            <a:endParaRPr kumimoji="0" lang="en-US" sz="1400" b="0" i="0" u="none" strike="noStrike" kern="1200" cap="none" spc="0" normalizeH="0" baseline="0" noProof="0" dirty="0">
              <a:ln>
                <a:noFill/>
              </a:ln>
              <a:solidFill>
                <a:srgbClr val="000000"/>
              </a:solidFill>
              <a:effectLst/>
              <a:uLnTx/>
              <a:uFillTx/>
              <a:latin typeface="Arial" charset="0"/>
              <a:cs typeface="Arial" charset="0"/>
            </a:endParaRPr>
          </a:p>
        </p:txBody>
      </p:sp>
      <p:sp>
        <p:nvSpPr>
          <p:cNvPr id="3" name="Rectangle 2">
            <a:extLst>
              <a:ext uri="{FF2B5EF4-FFF2-40B4-BE49-F238E27FC236}">
                <a16:creationId xmlns:a16="http://schemas.microsoft.com/office/drawing/2014/main" id="{8E914B8E-F50C-4640-A6BB-46BF739F90F2}"/>
              </a:ext>
            </a:extLst>
          </p:cNvPr>
          <p:cNvSpPr/>
          <p:nvPr/>
        </p:nvSpPr>
        <p:spPr>
          <a:xfrm>
            <a:off x="439254" y="1516439"/>
            <a:ext cx="6637818" cy="2616101"/>
          </a:xfrm>
          <a:prstGeom prst="rect">
            <a:avLst/>
          </a:prstGeom>
        </p:spPr>
        <p:txBody>
          <a:bodyPr wrap="square">
            <a:spAutoFit/>
          </a:bodyPr>
          <a:lstStyle/>
          <a:p>
            <a:pPr marL="0" marR="0" lvl="0" indent="0" algn="l" defTabSz="914126" rtl="0" eaLnBrk="1" fontAlgn="base" latinLnBrk="0" hangingPunct="1">
              <a:lnSpc>
                <a:spcPct val="100000"/>
              </a:lnSpc>
              <a:spcBef>
                <a:spcPts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The WBS Project Structure can be displayed in GPM05 by selecting GPMC WBS element, expand the selection criteria and select Hierarchies</a:t>
            </a:r>
            <a:r>
              <a:rPr kumimoji="0" lang="en-US" sz="1600" b="0" i="0" u="none" strike="noStrike" kern="1200" cap="none" spc="0" normalizeH="0" baseline="0" noProof="0" dirty="0">
                <a:ln>
                  <a:noFill/>
                </a:ln>
                <a:solidFill>
                  <a:srgbClr val="000000"/>
                </a:solidFill>
                <a:effectLst/>
                <a:uLnTx/>
                <a:uFillTx/>
                <a:latin typeface="Arial" charset="0"/>
                <a:ea typeface="+mn-ea"/>
                <a:cs typeface="Arial" charset="0"/>
              </a:rPr>
              <a:t>:</a:t>
            </a:r>
          </a:p>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000000"/>
              </a:solidFill>
              <a:effectLst/>
              <a:uLnTx/>
              <a:uFillTx/>
              <a:latin typeface="Arial" charset="0"/>
              <a:ea typeface="+mn-ea"/>
              <a:cs typeface="Arial" charset="0"/>
            </a:endParaRPr>
          </a:p>
          <a:p>
            <a:pPr marL="0" marR="0" lvl="0" indent="0" algn="l" defTabSz="914126" rtl="0" eaLnBrk="1" fontAlgn="base" latinLnBrk="0" hangingPunct="1">
              <a:lnSpc>
                <a:spcPct val="100000"/>
              </a:lnSpc>
              <a:spcBef>
                <a:spcPts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This allows us to view the costs in the WBS project in a hierarchical structure with all the nodes. For a particular WBS element it is an alternative to using CJI3 or FAGLL03H as long as G/L accounts are added into the view </a:t>
            </a:r>
            <a:endParaRPr kumimoji="0" lang="en-US" sz="1400" b="0" i="0" u="none" strike="noStrike" kern="1200" cap="none" spc="0" normalizeH="0" baseline="0" noProof="0" dirty="0">
              <a:ln>
                <a:noFill/>
              </a:ln>
              <a:solidFill>
                <a:srgbClr val="000000"/>
              </a:solidFill>
              <a:effectLst/>
              <a:uLnTx/>
              <a:uFillTx/>
              <a:latin typeface="Arial" charset="0"/>
              <a:ea typeface="+mn-ea"/>
              <a:cs typeface="Arial" charset="0"/>
            </a:endParaRP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1257300" marR="0" lvl="2" indent="-342900" algn="l" defTabSz="914126" rtl="0" eaLnBrk="1" fontAlgn="base" latinLnBrk="0" hangingPunct="1">
              <a:lnSpc>
                <a:spcPct val="100000"/>
              </a:lnSpc>
              <a:spcBef>
                <a:spcPts val="0"/>
              </a:spcBef>
              <a:spcAft>
                <a:spcPct val="0"/>
              </a:spcAft>
              <a:buClrTx/>
              <a:buSzTx/>
              <a:buFont typeface="+mj-lt"/>
              <a:buAutoNum type="arabicPeriod"/>
              <a:tabLst/>
              <a:defRPr/>
            </a:pPr>
            <a:endParaRPr kumimoji="0" lang="en-US" sz="1600" b="0" i="0" u="none" strike="noStrike" kern="1200" cap="none" spc="0" normalizeH="0" baseline="0" noProof="0" dirty="0">
              <a:ln>
                <a:noFill/>
              </a:ln>
              <a:solidFill>
                <a:srgbClr val="000000"/>
              </a:solidFill>
              <a:effectLst/>
              <a:uLnTx/>
              <a:uFillTx/>
              <a:latin typeface="Arial" charset="0"/>
              <a:ea typeface="+mn-ea"/>
              <a:cs typeface="Arial" charset="0"/>
            </a:endParaRPr>
          </a:p>
        </p:txBody>
      </p:sp>
      <p:sp>
        <p:nvSpPr>
          <p:cNvPr id="14" name="Rectangle 13">
            <a:extLst>
              <a:ext uri="{FF2B5EF4-FFF2-40B4-BE49-F238E27FC236}">
                <a16:creationId xmlns:a16="http://schemas.microsoft.com/office/drawing/2014/main" id="{E05D0234-0F63-480B-81AB-359044FF4D97}"/>
              </a:ext>
            </a:extLst>
          </p:cNvPr>
          <p:cNvSpPr/>
          <p:nvPr/>
        </p:nvSpPr>
        <p:spPr>
          <a:xfrm>
            <a:off x="6886573" y="1516439"/>
            <a:ext cx="4299901" cy="369332"/>
          </a:xfrm>
          <a:prstGeom prst="rect">
            <a:avLst/>
          </a:prstGeom>
        </p:spPr>
        <p:txBody>
          <a:bodyPr wrap="square">
            <a:spAutoFit/>
          </a:bodyPr>
          <a:lstStyle/>
          <a:p>
            <a:pPr marL="457200" marR="0" lvl="1" indent="0" algn="l" defTabSz="914126" rtl="0" eaLnBrk="1" fontAlgn="base" latinLnBrk="0" hangingPunct="1">
              <a:lnSpc>
                <a:spcPct val="100000"/>
              </a:lnSpc>
              <a:spcBef>
                <a:spcPts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mn-ea"/>
                <a:cs typeface="Arial" charset="0"/>
              </a:rPr>
              <a:t>WBS Element Structure:</a:t>
            </a:r>
          </a:p>
        </p:txBody>
      </p:sp>
      <p:pic>
        <p:nvPicPr>
          <p:cNvPr id="59394" name="Picture 2">
            <a:extLst>
              <a:ext uri="{FF2B5EF4-FFF2-40B4-BE49-F238E27FC236}">
                <a16:creationId xmlns:a16="http://schemas.microsoft.com/office/drawing/2014/main" id="{2BEE2749-6ABC-4240-8AE3-A8299B232B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4111" y="1943351"/>
            <a:ext cx="2909888" cy="2690650"/>
          </a:xfrm>
          <a:prstGeom prst="rect">
            <a:avLst/>
          </a:prstGeom>
          <a:noFill/>
          <a:extLst>
            <a:ext uri="{909E8E84-426E-40DD-AFC4-6F175D3DCCD1}">
              <a14:hiddenFill xmlns:a14="http://schemas.microsoft.com/office/drawing/2010/main">
                <a:solidFill>
                  <a:srgbClr val="FFFFFF"/>
                </a:solidFill>
              </a14:hiddenFill>
            </a:ext>
          </a:extLst>
        </p:spPr>
      </p:pic>
      <p:pic>
        <p:nvPicPr>
          <p:cNvPr id="59396" name="Picture 4">
            <a:extLst>
              <a:ext uri="{FF2B5EF4-FFF2-40B4-BE49-F238E27FC236}">
                <a16:creationId xmlns:a16="http://schemas.microsoft.com/office/drawing/2014/main" id="{21E4069F-360C-4485-9719-1F4F8F1662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101" y="4700228"/>
            <a:ext cx="8637037" cy="1762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37456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77C8EE-9354-442B-B2F0-29C5F62814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 name="Title 4">
            <a:extLst>
              <a:ext uri="{FF2B5EF4-FFF2-40B4-BE49-F238E27FC236}">
                <a16:creationId xmlns:a16="http://schemas.microsoft.com/office/drawing/2014/main" id="{2EF2FBC2-6ED3-4BD0-88C7-ACEA6CD8C400}"/>
              </a:ext>
            </a:extLst>
          </p:cNvPr>
          <p:cNvSpPr>
            <a:spLocks noGrp="1"/>
          </p:cNvSpPr>
          <p:nvPr>
            <p:ph type="title"/>
          </p:nvPr>
        </p:nvSpPr>
        <p:spPr/>
        <p:txBody>
          <a:bodyPr/>
          <a:lstStyle/>
          <a:p>
            <a:r>
              <a:rPr lang="en-US" dirty="0"/>
              <a:t>Exercises</a:t>
            </a:r>
          </a:p>
        </p:txBody>
      </p:sp>
      <p:sp>
        <p:nvSpPr>
          <p:cNvPr id="8" name="Rectangle: Rounded Corners 7">
            <a:extLst>
              <a:ext uri="{FF2B5EF4-FFF2-40B4-BE49-F238E27FC236}">
                <a16:creationId xmlns:a16="http://schemas.microsoft.com/office/drawing/2014/main" id="{58038BFD-CFF0-4058-80F4-EAC63745796E}"/>
              </a:ext>
            </a:extLst>
          </p:cNvPr>
          <p:cNvSpPr/>
          <p:nvPr/>
        </p:nvSpPr>
        <p:spPr>
          <a:xfrm>
            <a:off x="904531" y="2996136"/>
            <a:ext cx="4276735" cy="227132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Exercise 1.18 &amp; 1.19:</a:t>
            </a:r>
            <a:endParaRPr kumimoji="0" lang="en-GB" sz="18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a:ln>
                  <a:noFill/>
                </a:ln>
                <a:solidFill>
                  <a:srgbClr val="000000"/>
                </a:solidFill>
                <a:effectLst/>
                <a:uLnTx/>
                <a:uFillTx/>
                <a:latin typeface="Arial" panose="020B0604020202020204"/>
                <a:ea typeface="+mn-ea"/>
                <a:cs typeface="+mn-cs"/>
              </a:rPr>
              <a:t>CJI5</a:t>
            </a:r>
            <a:r>
              <a:rPr kumimoji="0" lang="en-GB" sz="1800" b="0" i="0" u="none" strike="noStrike" kern="1200" cap="none" spc="0" normalizeH="0" baseline="0" noProof="0" dirty="0">
                <a:ln>
                  <a:noFill/>
                </a:ln>
                <a:solidFill>
                  <a:srgbClr val="000000"/>
                </a:solidFill>
                <a:effectLst/>
                <a:uLnTx/>
                <a:uFillTx/>
                <a:latin typeface="Arial" panose="020B0604020202020204"/>
                <a:ea typeface="+mn-ea"/>
                <a:cs typeface="+mn-cs"/>
              </a:rPr>
              <a:t>- Display Project Commitments Line Items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a:ln>
                  <a:noFill/>
                </a:ln>
                <a:solidFill>
                  <a:srgbClr val="000000"/>
                </a:solidFill>
                <a:effectLst/>
                <a:uLnTx/>
                <a:uFillTx/>
                <a:latin typeface="Arial" panose="020B0604020202020204"/>
                <a:ea typeface="+mn-ea"/>
                <a:cs typeface="+mn-cs"/>
              </a:rPr>
              <a:t>CJI3- </a:t>
            </a:r>
            <a:r>
              <a:rPr kumimoji="0" lang="en-GB" sz="1800" b="0" i="0" u="none" strike="noStrike" kern="1200" cap="none" spc="0" normalizeH="0" baseline="0" noProof="0" dirty="0">
                <a:ln>
                  <a:noFill/>
                </a:ln>
                <a:solidFill>
                  <a:srgbClr val="000000"/>
                </a:solidFill>
                <a:effectLst/>
                <a:uLnTx/>
                <a:uFillTx/>
                <a:latin typeface="Arial" panose="020B0604020202020204"/>
                <a:ea typeface="+mn-ea"/>
                <a:cs typeface="+mn-cs"/>
              </a:rPr>
              <a:t>Display Project Actual Line Items</a:t>
            </a:r>
            <a:endParaRPr kumimoji="0" lang="en-GB" sz="18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1466504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77C8EE-9354-442B-B2F0-29C5F62814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 name="Title 4">
            <a:extLst>
              <a:ext uri="{FF2B5EF4-FFF2-40B4-BE49-F238E27FC236}">
                <a16:creationId xmlns:a16="http://schemas.microsoft.com/office/drawing/2014/main" id="{2EF2FBC2-6ED3-4BD0-88C7-ACEA6CD8C400}"/>
              </a:ext>
            </a:extLst>
          </p:cNvPr>
          <p:cNvSpPr>
            <a:spLocks noGrp="1"/>
          </p:cNvSpPr>
          <p:nvPr>
            <p:ph type="title"/>
          </p:nvPr>
        </p:nvSpPr>
        <p:spPr/>
        <p:txBody>
          <a:bodyPr/>
          <a:lstStyle/>
          <a:p>
            <a:r>
              <a:rPr lang="en-US" dirty="0"/>
              <a:t>Exercises</a:t>
            </a:r>
          </a:p>
        </p:txBody>
      </p:sp>
      <p:sp>
        <p:nvSpPr>
          <p:cNvPr id="8" name="Rectangle: Rounded Corners 7">
            <a:extLst>
              <a:ext uri="{FF2B5EF4-FFF2-40B4-BE49-F238E27FC236}">
                <a16:creationId xmlns:a16="http://schemas.microsoft.com/office/drawing/2014/main" id="{58038BFD-CFF0-4058-80F4-EAC63745796E}"/>
              </a:ext>
            </a:extLst>
          </p:cNvPr>
          <p:cNvSpPr/>
          <p:nvPr/>
        </p:nvSpPr>
        <p:spPr>
          <a:xfrm>
            <a:off x="904531" y="2996136"/>
            <a:ext cx="4276735" cy="227132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Arial" panose="020B0604020202020204"/>
                <a:ea typeface="+mn-ea"/>
                <a:cs typeface="+mn-cs"/>
              </a:rPr>
              <a:t>Exercise 1.20: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1" i="0" u="none" strike="noStrike" kern="1200" cap="none" spc="0" normalizeH="0" baseline="0" noProof="0" dirty="0">
                <a:ln>
                  <a:noFill/>
                </a:ln>
                <a:solidFill>
                  <a:srgbClr val="000000"/>
                </a:solidFill>
                <a:effectLst/>
                <a:uLnTx/>
                <a:uFillTx/>
                <a:latin typeface="Arial" panose="020B0604020202020204"/>
                <a:ea typeface="+mn-ea"/>
                <a:cs typeface="Arial"/>
              </a:rPr>
              <a:t>CJ20N – Project Builder – </a:t>
            </a: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Arial"/>
              </a:rPr>
              <a:t>Set WBS Status to Technically Complete</a:t>
            </a:r>
            <a:endParaRPr kumimoji="0" lang="en-GB" sz="1600" b="1" i="0" u="none" strike="noStrike" kern="1200" cap="none" spc="0" normalizeH="0" baseline="0" noProof="0" dirty="0">
              <a:ln>
                <a:noFill/>
              </a:ln>
              <a:solidFill>
                <a:srgbClr val="000000"/>
              </a:solidFill>
              <a:effectLst/>
              <a:uLnTx/>
              <a:uFillTx/>
              <a:latin typeface="Arial" panose="020B0604020202020204"/>
              <a:ea typeface="+mn-ea"/>
              <a:cs typeface="Arial"/>
            </a:endParaRPr>
          </a:p>
        </p:txBody>
      </p:sp>
    </p:spTree>
    <p:extLst>
      <p:ext uri="{BB962C8B-B14F-4D97-AF65-F5344CB8AC3E}">
        <p14:creationId xmlns:p14="http://schemas.microsoft.com/office/powerpoint/2010/main" val="23905629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nsZEfql.UEc4aecHaoopIA"/>
</p:tagLst>
</file>

<file path=ppt/theme/theme1.xml><?xml version="1.0" encoding="utf-8"?>
<a:theme xmlns:a="http://schemas.openxmlformats.org/drawingml/2006/main" name="S4F-ERP G&amp;A &amp; Marketing Cost Management">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
        <AccountId xsi:nil="true"/>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Remarks xmlns="91871c47-af2e-43ea-ad3f-7bb4c536bc45" xsi:nil="true"/>
    <Details xmlns="91871c47-af2e-43ea-ad3f-7bb4c536bc45" xsi:nil="true"/>
    <FolderInfo xmlns="91871c47-af2e-43ea-ad3f-7bb4c536bc45" xsi:nil="true"/>
    <T_x002d_Code xmlns="91871c47-af2e-43ea-ad3f-7bb4c536bc4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F707B3C-78D3-49A9-9BCF-B266A45CD3C6}">
  <ds:schemaRef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ba249638-b5c4-4b59-8094-70d8491c2e9c"/>
    <ds:schemaRef ds:uri="http://schemas.microsoft.com/office/2006/documentManagement/types"/>
    <ds:schemaRef ds:uri="91871c47-af2e-43ea-ad3f-7bb4c536bc45"/>
    <ds:schemaRef ds:uri="http://www.w3.org/XML/1998/namespace"/>
    <ds:schemaRef ds:uri="http://purl.org/dc/dcmitype/"/>
  </ds:schemaRefs>
</ds:datastoreItem>
</file>

<file path=customXml/itemProps2.xml><?xml version="1.0" encoding="utf-8"?>
<ds:datastoreItem xmlns:ds="http://schemas.openxmlformats.org/officeDocument/2006/customXml" ds:itemID="{60EB07A8-AFEB-4401-B5EA-DE5B11729F0A}"/>
</file>

<file path=customXml/itemProps3.xml><?xml version="1.0" encoding="utf-8"?>
<ds:datastoreItem xmlns:ds="http://schemas.openxmlformats.org/officeDocument/2006/customXml" ds:itemID="{F0FD8DA9-A82C-42EA-9D50-47FA1A4F74D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TotalTime>
  <Words>2523</Words>
  <Application>Microsoft Office PowerPoint</Application>
  <PresentationFormat>Widescreen</PresentationFormat>
  <Paragraphs>198</Paragraphs>
  <Slides>19</Slides>
  <Notes>5</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2</vt:i4>
      </vt:variant>
      <vt:variant>
        <vt:lpstr>Slide Titles</vt:lpstr>
      </vt:variant>
      <vt:variant>
        <vt:i4>19</vt:i4>
      </vt:variant>
    </vt:vector>
  </HeadingPairs>
  <TitlesOfParts>
    <vt:vector size="25" baseType="lpstr">
      <vt:lpstr>Arial</vt:lpstr>
      <vt:lpstr>Calibri</vt:lpstr>
      <vt:lpstr>Wingdings</vt:lpstr>
      <vt:lpstr>S4F-ERP G&amp;A &amp; Marketing Cost Management</vt:lpstr>
      <vt:lpstr>think-cell Slide</vt:lpstr>
      <vt:lpstr>Worksheet</vt:lpstr>
      <vt:lpstr>Course Structure</vt:lpstr>
      <vt:lpstr>Budget Report - ZBFIA_WBSREPORT</vt:lpstr>
      <vt:lpstr>Budget Report – Budget Holder</vt:lpstr>
      <vt:lpstr>Budget Report – Budget Holder</vt:lpstr>
      <vt:lpstr>CJI5 – Display Project Commitment Line Items </vt:lpstr>
      <vt:lpstr>CJI3 – Display Project Actual Cost Line Items </vt:lpstr>
      <vt:lpstr>S/4 Instant Operational Reporting - 3 key Options </vt:lpstr>
      <vt:lpstr>GL Line Item Browser FAGLL03H</vt:lpstr>
      <vt:lpstr>. GL Line Item Browser FAGLL03H</vt:lpstr>
      <vt:lpstr>S/4 Market P&amp;L (GR55 – Z4PL) </vt:lpstr>
      <vt:lpstr>S/4 CDS Query functionality with AFO (excel)</vt:lpstr>
      <vt:lpstr>JTI WBS Commitments vs Actuals</vt:lpstr>
      <vt:lpstr>JTI WBS Commitments vs Actuals: key figures</vt:lpstr>
      <vt:lpstr>JTI WBS Commitments vs Actuals: characteristics</vt:lpstr>
      <vt:lpstr>GPM05 – Display WBS features Project ID</vt:lpstr>
      <vt:lpstr>GPM05 – Display WBS features WBS Element</vt:lpstr>
      <vt:lpstr>GPM05 – Display WBS Structure</vt:lpstr>
      <vt:lpstr>Exercises</vt:lpstr>
      <vt:lpstr>Exercises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Structure</dc:title>
  <dc:creator>O'Neill, Shauna</dc:creator>
  <cp:lastModifiedBy>O'Neill, Shauna</cp:lastModifiedBy>
  <cp:revision>1</cp:revision>
  <dcterms:created xsi:type="dcterms:W3CDTF">2019-10-10T12:26:00Z</dcterms:created>
  <dcterms:modified xsi:type="dcterms:W3CDTF">2021-06-07T11:50:56Z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1279900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SIP_Label_b020b37f-db72-473e-ae54-fb16df408069_Enabled">
    <vt:lpwstr>true</vt:lpwstr>
  </property>
  <property fmtid="{D5CDD505-2E9C-101B-9397-08002B2CF9AE}" pid="9" name="MSIP_Label_b020b37f-db72-473e-ae54-fb16df408069_SetDate">
    <vt:lpwstr>2021-06-07T11:50:26Z</vt:lpwstr>
  </property>
  <property fmtid="{D5CDD505-2E9C-101B-9397-08002B2CF9AE}" pid="10" name="MSIP_Label_b020b37f-db72-473e-ae54-fb16df408069_Method">
    <vt:lpwstr>Standard</vt:lpwstr>
  </property>
  <property fmtid="{D5CDD505-2E9C-101B-9397-08002B2CF9AE}" pid="11" name="MSIP_Label_b020b37f-db72-473e-ae54-fb16df408069_Name">
    <vt:lpwstr>General</vt:lpwstr>
  </property>
  <property fmtid="{D5CDD505-2E9C-101B-9397-08002B2CF9AE}" pid="12" name="MSIP_Label_b020b37f-db72-473e-ae54-fb16df408069_SiteId">
    <vt:lpwstr>705d07a3-2eea-4f3b-ab59-65ca29abeb26</vt:lpwstr>
  </property>
  <property fmtid="{D5CDD505-2E9C-101B-9397-08002B2CF9AE}" pid="13" name="MSIP_Label_b020b37f-db72-473e-ae54-fb16df408069_ActionId">
    <vt:lpwstr>de709d97-7c63-46f9-8296-78b0ae1d3ab2</vt:lpwstr>
  </property>
  <property fmtid="{D5CDD505-2E9C-101B-9397-08002B2CF9AE}" pid="14" name="MSIP_Label_b020b37f-db72-473e-ae54-fb16df408069_ContentBits">
    <vt:lpwstr>0</vt:lpwstr>
  </property>
</Properties>
</file>