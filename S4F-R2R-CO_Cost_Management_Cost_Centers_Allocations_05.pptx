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493" r:id="rId5"/>
    <p:sldId id="2496" r:id="rId6"/>
    <p:sldId id="2494" r:id="rId7"/>
    <p:sldId id="249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CC8ABC-CF32-4444-AABA-7F56363414FC}" v="2" dt="2019-10-25T12:49:06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'Neill, Shauna" userId="1d0a8ccc-c260-429c-86e4-d406a5ac1d3d" providerId="ADAL" clId="{C0CC8ABC-CF32-4444-AABA-7F56363414FC}"/>
    <pc:docChg chg="modSld sldOrd">
      <pc:chgData name="O'Neill, Shauna" userId="1d0a8ccc-c260-429c-86e4-d406a5ac1d3d" providerId="ADAL" clId="{C0CC8ABC-CF32-4444-AABA-7F56363414FC}" dt="2019-10-25T12:49:06.883" v="1"/>
      <pc:docMkLst>
        <pc:docMk/>
      </pc:docMkLst>
      <pc:sldChg chg="modSp">
        <pc:chgData name="O'Neill, Shauna" userId="1d0a8ccc-c260-429c-86e4-d406a5ac1d3d" providerId="ADAL" clId="{C0CC8ABC-CF32-4444-AABA-7F56363414FC}" dt="2019-10-23T14:45:36.922" v="0"/>
        <pc:sldMkLst>
          <pc:docMk/>
          <pc:sldMk cId="3447742163" sldId="2493"/>
        </pc:sldMkLst>
        <pc:spChg chg="mod">
          <ac:chgData name="O'Neill, Shauna" userId="1d0a8ccc-c260-429c-86e4-d406a5ac1d3d" providerId="ADAL" clId="{C0CC8ABC-CF32-4444-AABA-7F56363414FC}" dt="2019-10-23T14:45:36.922" v="0"/>
          <ac:spMkLst>
            <pc:docMk/>
            <pc:sldMk cId="3447742163" sldId="2493"/>
            <ac:spMk id="42" creationId="{00000000-0000-0000-0000-000000000000}"/>
          </ac:spMkLst>
        </pc:spChg>
      </pc:sldChg>
      <pc:sldChg chg="ord">
        <pc:chgData name="O'Neill, Shauna" userId="1d0a8ccc-c260-429c-86e4-d406a5ac1d3d" providerId="ADAL" clId="{C0CC8ABC-CF32-4444-AABA-7F56363414FC}" dt="2019-10-25T12:49:06.883" v="1"/>
        <pc:sldMkLst>
          <pc:docMk/>
          <pc:sldMk cId="2029923115" sldId="2496"/>
        </pc:sldMkLst>
      </pc:sldChg>
    </pc:docChg>
  </pc:docChgLst>
  <pc:docChgLst>
    <pc:chgData name="Zakrevskaya, Julia" userId="S::cstzakrej@corp.jti.com::79016554-fc06-4349-8d4d-7fef3d29d8b9" providerId="AD" clId="Web-{4264564C-5ED5-853B-6C69-CB32B7EA9527}"/>
    <pc:docChg chg="mod">
      <pc:chgData name="Zakrevskaya, Julia" userId="S::cstzakrej@corp.jti.com::79016554-fc06-4349-8d4d-7fef3d29d8b9" providerId="AD" clId="Web-{4264564C-5ED5-853B-6C69-CB32B7EA9527}" dt="2022-04-29T07:07:22.639" v="0" actId="33475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46816"/>
            <a:ext cx="12193200" cy="499062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4199439"/>
            <a:ext cx="12192000" cy="144000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0B215-A81F-481D-8C0E-6BF46A6156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999" y="5879560"/>
            <a:ext cx="829976" cy="6212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C11B0-82D2-4B1D-A080-5DEC7B98E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4199439"/>
            <a:ext cx="8472253" cy="1440000"/>
          </a:xfrm>
        </p:spPr>
        <p:txBody>
          <a:bodyPr anchor="ctr" anchorCtr="0"/>
          <a:lstStyle>
            <a:lvl1pPr algn="l">
              <a:defRPr sz="4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5975" y="4347939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767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6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3pPr marL="400050" indent="-195263"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17" name="Group 16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0" name="Picture 19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5901" y="533238"/>
              <a:ext cx="505958" cy="5059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7143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695450"/>
            <a:ext cx="4824413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63241-5450-4976-8525-5C06611D08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91175" y="1695450"/>
            <a:ext cx="6084886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15938" y="1344706"/>
            <a:ext cx="1116012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11" name="Rectangle 10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Rounded Rectangle 15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4" name="TextBox 13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7" name="Rectangle 16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24" name="Group 23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5901" y="533238"/>
              <a:ext cx="505958" cy="5059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7912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8513E-D1D6-4909-A6A1-E798C384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1A9FA-9619-43AB-B085-D7F02109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21" name="Group 20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2" name="Picture 21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5901" y="533238"/>
              <a:ext cx="505958" cy="5059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4304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-11151"/>
            <a:ext cx="12192000" cy="6869151"/>
            <a:chOff x="0" y="-11151"/>
            <a:chExt cx="12192000" cy="6869151"/>
          </a:xfrm>
        </p:grpSpPr>
        <p:grpSp>
          <p:nvGrpSpPr>
            <p:cNvPr id="7" name="Group 6"/>
            <p:cNvGrpSpPr/>
            <p:nvPr/>
          </p:nvGrpSpPr>
          <p:grpSpPr>
            <a:xfrm>
              <a:off x="0" y="30978"/>
              <a:ext cx="7346443" cy="6827022"/>
              <a:chOff x="0" y="30978"/>
              <a:chExt cx="7346443" cy="6827022"/>
            </a:xfrm>
          </p:grpSpPr>
          <p:sp>
            <p:nvSpPr>
              <p:cNvPr id="9" name="Freeform 8"/>
              <p:cNvSpPr/>
              <p:nvPr/>
            </p:nvSpPr>
            <p:spPr>
              <a:xfrm>
                <a:off x="0" y="30978"/>
                <a:ext cx="7346443" cy="6827022"/>
              </a:xfrm>
              <a:custGeom>
                <a:avLst/>
                <a:gdLst>
                  <a:gd name="connsiteX0" fmla="*/ 0 w 7346443"/>
                  <a:gd name="connsiteY0" fmla="*/ 0 h 6827022"/>
                  <a:gd name="connsiteX1" fmla="*/ 7346443 w 7346443"/>
                  <a:gd name="connsiteY1" fmla="*/ 6827022 h 6827022"/>
                  <a:gd name="connsiteX2" fmla="*/ 0 w 7346443"/>
                  <a:gd name="connsiteY2" fmla="*/ 6827022 h 6827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346443" h="6827022">
                    <a:moveTo>
                      <a:pt x="0" y="0"/>
                    </a:moveTo>
                    <a:lnTo>
                      <a:pt x="7346443" y="6827022"/>
                    </a:lnTo>
                    <a:lnTo>
                      <a:pt x="0" y="6827022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 sz="1600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0" y="1696574"/>
                <a:ext cx="802656" cy="1625366"/>
              </a:xfrm>
              <a:custGeom>
                <a:avLst/>
                <a:gdLst>
                  <a:gd name="connsiteX0" fmla="*/ 0 w 802656"/>
                  <a:gd name="connsiteY0" fmla="*/ 0 h 1625366"/>
                  <a:gd name="connsiteX1" fmla="*/ 152859 w 802656"/>
                  <a:gd name="connsiteY1" fmla="*/ 15410 h 1625366"/>
                  <a:gd name="connsiteX2" fmla="*/ 802656 w 802656"/>
                  <a:gd name="connsiteY2" fmla="*/ 812683 h 1625366"/>
                  <a:gd name="connsiteX3" fmla="*/ 152859 w 802656"/>
                  <a:gd name="connsiteY3" fmla="*/ 1609956 h 1625366"/>
                  <a:gd name="connsiteX4" fmla="*/ 0 w 802656"/>
                  <a:gd name="connsiteY4" fmla="*/ 1625366 h 16253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2656" h="1625366">
                    <a:moveTo>
                      <a:pt x="0" y="0"/>
                    </a:moveTo>
                    <a:lnTo>
                      <a:pt x="152859" y="15410"/>
                    </a:lnTo>
                    <a:cubicBezTo>
                      <a:pt x="523697" y="91294"/>
                      <a:pt x="802656" y="419412"/>
                      <a:pt x="802656" y="812683"/>
                    </a:cubicBezTo>
                    <a:cubicBezTo>
                      <a:pt x="802656" y="1205955"/>
                      <a:pt x="523697" y="1534072"/>
                      <a:pt x="152859" y="1609956"/>
                    </a:cubicBezTo>
                    <a:lnTo>
                      <a:pt x="0" y="1625366"/>
                    </a:lnTo>
                    <a:close/>
                  </a:path>
                </a:pathLst>
              </a:custGeom>
              <a:solidFill>
                <a:srgbClr val="A7E6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600"/>
              </a:p>
            </p:txBody>
          </p:sp>
        </p:grpSp>
        <p:sp>
          <p:nvSpPr>
            <p:cNvPr id="8" name="Rectangle 7"/>
            <p:cNvSpPr/>
            <p:nvPr/>
          </p:nvSpPr>
          <p:spPr>
            <a:xfrm>
              <a:off x="6096000" y="-11151"/>
              <a:ext cx="6096000" cy="6869151"/>
            </a:xfrm>
            <a:prstGeom prst="rect">
              <a:avLst/>
            </a:prstGeom>
            <a:solidFill>
              <a:srgbClr val="A7E6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2304-23DC-2B46-BD14-F082077842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40" y="210346"/>
            <a:ext cx="9898061" cy="984247"/>
          </a:xfrm>
        </p:spPr>
        <p:txBody>
          <a:bodyPr>
            <a:normAutofit/>
          </a:bodyPr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515940" y="1348042"/>
            <a:ext cx="98980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530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2304-23DC-2B46-BD14-F082077842F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9365" y="-66611"/>
            <a:ext cx="12212780" cy="54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491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19571F-E128-4FF8-A846-91352A10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210344"/>
            <a:ext cx="9898061" cy="98424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EE3A9-E955-4AFD-9C72-3106238E9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95450"/>
            <a:ext cx="9898063" cy="45870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7185E-8EC7-42C4-875B-7957276D6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05A6-DE1E-455A-9F96-B1BC2DE26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297521"/>
            <a:ext cx="397261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</a:t>
            </a:r>
            <a:r>
              <a:rPr lang="en-GB" sz="800" err="1"/>
              <a:t>JTI</a:t>
            </a:r>
            <a:r>
              <a:rPr lang="en-GB" sz="800"/>
              <a:t> 2019 Confidential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558707-958B-46B5-B09F-9B53C1657C43}"/>
              </a:ext>
            </a:extLst>
          </p:cNvPr>
          <p:cNvCxnSpPr/>
          <p:nvPr userDrawn="1"/>
        </p:nvCxnSpPr>
        <p:spPr>
          <a:xfrm>
            <a:off x="515937" y="1343026"/>
            <a:ext cx="1116012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3952947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07963" indent="182563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08013" indent="-19843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31850" indent="-20478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pos="3364">
          <p15:clr>
            <a:srgbClr val="F26B43"/>
          </p15:clr>
        </p15:guide>
        <p15:guide id="5" pos="3522">
          <p15:clr>
            <a:srgbClr val="F26B43"/>
          </p15:clr>
        </p15:guide>
        <p15:guide id="6" orient="horz" pos="1068">
          <p15:clr>
            <a:srgbClr val="F26B43"/>
          </p15:clr>
        </p15:guide>
        <p15:guide id="7" orient="horz" pos="3959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40603"/>
            <a:ext cx="12192000" cy="4902408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1340602"/>
            <a:ext cx="12192000" cy="4902409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alpha val="85000"/>
                </a:schemeClr>
              </a:gs>
              <a:gs pos="100000">
                <a:schemeClr val="accent3">
                  <a:alpha val="8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Title 3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Course Structure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0D94340-C2C1-4AC4-B239-D127A63FC583}"/>
              </a:ext>
            </a:extLst>
          </p:cNvPr>
          <p:cNvGrpSpPr/>
          <p:nvPr/>
        </p:nvGrpSpPr>
        <p:grpSpPr>
          <a:xfrm>
            <a:off x="7110838" y="2307595"/>
            <a:ext cx="4771781" cy="3227156"/>
            <a:chOff x="6011091" y="1748227"/>
            <a:chExt cx="4771781" cy="3227156"/>
          </a:xfrm>
        </p:grpSpPr>
        <p:cxnSp>
          <p:nvCxnSpPr>
            <p:cNvPr id="5" name="Elbow Connector 4"/>
            <p:cNvCxnSpPr>
              <a:cxnSpLocks/>
            </p:cNvCxnSpPr>
            <p:nvPr/>
          </p:nvCxnSpPr>
          <p:spPr>
            <a:xfrm flipV="1">
              <a:off x="6011091" y="1953919"/>
              <a:ext cx="1521085" cy="1112592"/>
            </a:xfrm>
            <a:prstGeom prst="bentConnector3">
              <a:avLst/>
            </a:prstGeom>
            <a:ln w="28575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/>
            <p:cNvCxnSpPr>
              <a:cxnSpLocks/>
            </p:cNvCxnSpPr>
            <p:nvPr/>
          </p:nvCxnSpPr>
          <p:spPr>
            <a:xfrm>
              <a:off x="6011091" y="3054645"/>
              <a:ext cx="1521084" cy="1920738"/>
            </a:xfrm>
            <a:prstGeom prst="bentConnector3">
              <a:avLst/>
            </a:prstGeom>
            <a:ln w="28575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6782605" y="2692997"/>
              <a:ext cx="749571" cy="0"/>
            </a:xfrm>
            <a:prstGeom prst="line">
              <a:avLst/>
            </a:prstGeom>
            <a:ln w="28575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6771633" y="3431286"/>
              <a:ext cx="749571" cy="0"/>
            </a:xfrm>
            <a:prstGeom prst="line">
              <a:avLst/>
            </a:prstGeom>
            <a:ln w="28575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ounded Rectangle 38"/>
            <p:cNvSpPr/>
            <p:nvPr/>
          </p:nvSpPr>
          <p:spPr>
            <a:xfrm>
              <a:off x="7647547" y="3895629"/>
              <a:ext cx="3098543" cy="503693"/>
            </a:xfrm>
            <a:prstGeom prst="roundRect">
              <a:avLst>
                <a:gd name="adj" fmla="val 31330"/>
              </a:avLst>
            </a:prstGeom>
            <a:solidFill>
              <a:schemeClr val="accent1"/>
            </a:solidFill>
            <a:ln w="50800">
              <a:solidFill>
                <a:schemeClr val="bg1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Ins="90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A304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D</a:t>
              </a:r>
              <a:r>
                <a:rPr kumimoji="0" 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A304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irect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A304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 MCA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1A3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7684328" y="3208047"/>
              <a:ext cx="3098543" cy="410647"/>
            </a:xfrm>
            <a:prstGeom prst="roundRect">
              <a:avLst>
                <a:gd name="adj" fmla="val 31330"/>
              </a:avLst>
            </a:prstGeom>
            <a:solidFill>
              <a:schemeClr val="accent6">
                <a:lumMod val="75000"/>
              </a:schemeClr>
            </a:solidFill>
            <a:ln w="50800">
              <a:solidFill>
                <a:schemeClr val="bg1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Ins="90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Statistical Key Figures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7684329" y="1748227"/>
              <a:ext cx="3098543" cy="410647"/>
            </a:xfrm>
            <a:prstGeom prst="roundRect">
              <a:avLst>
                <a:gd name="adj" fmla="val 31330"/>
              </a:avLst>
            </a:prstGeom>
            <a:solidFill>
              <a:schemeClr val="accent6">
                <a:lumMod val="75000"/>
              </a:schemeClr>
            </a:solidFill>
            <a:ln w="50800">
              <a:solidFill>
                <a:schemeClr val="bg1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Ins="90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Allocation Overview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7684329" y="2490608"/>
              <a:ext cx="3098543" cy="410647"/>
            </a:xfrm>
            <a:prstGeom prst="roundRect">
              <a:avLst>
                <a:gd name="adj" fmla="val 31330"/>
              </a:avLst>
            </a:prstGeom>
            <a:solidFill>
              <a:schemeClr val="accent6">
                <a:lumMod val="75000"/>
              </a:schemeClr>
            </a:solidFill>
            <a:ln w="50800">
              <a:solidFill>
                <a:schemeClr val="bg1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Ins="90000" rtlCol="0" anchor="ctr"/>
            <a:lstStyle/>
            <a:p>
              <a:pPr lvl="0" algn="ctr">
                <a:spcAft>
                  <a:spcPts val="1000"/>
                </a:spcAft>
                <a:defRPr/>
              </a:pPr>
              <a:r>
                <a:rPr lang="en-US" sz="2000" b="1" dirty="0" err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MyRequest</a:t>
              </a:r>
              <a:r>
                <a:rPr lang="en-US" sz="20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 Templates</a:t>
              </a:r>
              <a:endParaRPr lang="en-GB" sz="14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910E8D-B254-4300-8FE8-603121A7D4F0}"/>
              </a:ext>
            </a:extLst>
          </p:cNvPr>
          <p:cNvGrpSpPr/>
          <p:nvPr/>
        </p:nvGrpSpPr>
        <p:grpSpPr>
          <a:xfrm>
            <a:off x="571776" y="2586817"/>
            <a:ext cx="6635055" cy="2208261"/>
            <a:chOff x="4381175" y="2883731"/>
            <a:chExt cx="7294886" cy="2427864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40A22BA-1D90-49A5-AB19-0F9786903880}"/>
                </a:ext>
              </a:extLst>
            </p:cNvPr>
            <p:cNvGrpSpPr/>
            <p:nvPr/>
          </p:nvGrpSpPr>
          <p:grpSpPr>
            <a:xfrm>
              <a:off x="7444303" y="2883731"/>
              <a:ext cx="4231758" cy="2427864"/>
              <a:chOff x="7444303" y="2883731"/>
              <a:chExt cx="4231758" cy="2427864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E53F13B-1991-4147-8071-E43AD604C6BB}"/>
                  </a:ext>
                </a:extLst>
              </p:cNvPr>
              <p:cNvSpPr txBox="1"/>
              <p:nvPr/>
            </p:nvSpPr>
            <p:spPr>
              <a:xfrm>
                <a:off x="7444304" y="4756406"/>
                <a:ext cx="4231757" cy="55518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Reporting</a:t>
                </a:r>
                <a:endParaRPr kumimoji="0" lang="en-GB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D703B1FB-112C-40FF-B347-EC08CF494A52}"/>
                  </a:ext>
                </a:extLst>
              </p:cNvPr>
              <p:cNvGrpSpPr/>
              <p:nvPr/>
            </p:nvGrpSpPr>
            <p:grpSpPr>
              <a:xfrm>
                <a:off x="7444303" y="2883731"/>
                <a:ext cx="4231757" cy="1393150"/>
                <a:chOff x="7444303" y="2883731"/>
                <a:chExt cx="4231757" cy="1393150"/>
              </a:xfrm>
            </p:grpSpPr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95F25F2A-4584-4D95-B003-EA8BC304A6EF}"/>
                    </a:ext>
                  </a:extLst>
                </p:cNvPr>
                <p:cNvSpPr txBox="1"/>
                <p:nvPr/>
              </p:nvSpPr>
              <p:spPr>
                <a:xfrm>
                  <a:off x="7444304" y="2883731"/>
                  <a:ext cx="3566596" cy="55518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Master Data</a:t>
                  </a:r>
                  <a:endParaRPr kumimoji="0" lang="en-GB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BEAB4F0-77C8-4813-B301-E28A1134A7D2}"/>
                    </a:ext>
                  </a:extLst>
                </p:cNvPr>
                <p:cNvSpPr txBox="1"/>
                <p:nvPr/>
              </p:nvSpPr>
              <p:spPr>
                <a:xfrm>
                  <a:off x="7444303" y="3721692"/>
                  <a:ext cx="4231757" cy="55518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Cost Allocations</a:t>
                  </a:r>
                  <a:endParaRPr kumimoji="0" lang="en-GB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16D7A96-7256-48BE-AF98-ABE93DEBA8CA}"/>
                </a:ext>
              </a:extLst>
            </p:cNvPr>
            <p:cNvGrpSpPr/>
            <p:nvPr/>
          </p:nvGrpSpPr>
          <p:grpSpPr>
            <a:xfrm>
              <a:off x="4381175" y="3076671"/>
              <a:ext cx="2917844" cy="1931716"/>
              <a:chOff x="4372240" y="3074237"/>
              <a:chExt cx="2917844" cy="1931716"/>
            </a:xfrm>
          </p:grpSpPr>
          <p:cxnSp>
            <p:nvCxnSpPr>
              <p:cNvPr id="48" name="Elbow Connector 31">
                <a:extLst>
                  <a:ext uri="{FF2B5EF4-FFF2-40B4-BE49-F238E27FC236}">
                    <a16:creationId xmlns:a16="http://schemas.microsoft.com/office/drawing/2014/main" id="{82A8A684-6624-4A29-929A-693B83021671}"/>
                  </a:ext>
                </a:extLst>
              </p:cNvPr>
              <p:cNvCxnSpPr/>
              <p:nvPr/>
            </p:nvCxnSpPr>
            <p:spPr>
              <a:xfrm flipV="1">
                <a:off x="6194084" y="3201452"/>
                <a:ext cx="1096000" cy="780152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bg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Elbow Connector 37">
                <a:extLst>
                  <a:ext uri="{FF2B5EF4-FFF2-40B4-BE49-F238E27FC236}">
                    <a16:creationId xmlns:a16="http://schemas.microsoft.com/office/drawing/2014/main" id="{D34F875D-7BE8-4E03-B1B2-A88E02AC5978}"/>
                  </a:ext>
                </a:extLst>
              </p:cNvPr>
              <p:cNvCxnSpPr/>
              <p:nvPr/>
            </p:nvCxnSpPr>
            <p:spPr>
              <a:xfrm>
                <a:off x="6194084" y="3981604"/>
                <a:ext cx="1096000" cy="1024349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bg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DD0FBCCA-188E-4728-8C65-265742158C4F}"/>
                  </a:ext>
                </a:extLst>
              </p:cNvPr>
              <p:cNvGrpSpPr/>
              <p:nvPr/>
            </p:nvGrpSpPr>
            <p:grpSpPr>
              <a:xfrm>
                <a:off x="4372240" y="3074237"/>
                <a:ext cx="1850100" cy="1850100"/>
                <a:chOff x="4401574" y="3295146"/>
                <a:chExt cx="624164" cy="624164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2743DAC2-783E-4DD1-8583-AEBB3CD8D715}"/>
                    </a:ext>
                  </a:extLst>
                </p:cNvPr>
                <p:cNvGrpSpPr/>
                <p:nvPr/>
              </p:nvGrpSpPr>
              <p:grpSpPr>
                <a:xfrm>
                  <a:off x="4401574" y="3295146"/>
                  <a:ext cx="624164" cy="624164"/>
                  <a:chOff x="4492144" y="190843"/>
                  <a:chExt cx="855656" cy="855656"/>
                </a:xfrm>
              </p:grpSpPr>
              <p:sp>
                <p:nvSpPr>
                  <p:cNvPr id="54" name="Oval 53">
                    <a:extLst>
                      <a:ext uri="{FF2B5EF4-FFF2-40B4-BE49-F238E27FC236}">
                        <a16:creationId xmlns:a16="http://schemas.microsoft.com/office/drawing/2014/main" id="{FF9C6092-D6EB-4CE7-B57D-A237D6BD8821}"/>
                      </a:ext>
                    </a:extLst>
                  </p:cNvPr>
                  <p:cNvSpPr/>
                  <p:nvPr/>
                </p:nvSpPr>
                <p:spPr>
                  <a:xfrm>
                    <a:off x="4492144" y="190843"/>
                    <a:ext cx="855656" cy="855656"/>
                  </a:xfrm>
                  <a:prstGeom prst="ellipse">
                    <a:avLst/>
                  </a:prstGeom>
                  <a:solidFill>
                    <a:schemeClr val="bg1"/>
                  </a:solidFill>
                  <a:ln w="76200">
                    <a:noFill/>
                  </a:ln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52690E08-68DC-4EB1-AB60-D6E5B4D37D5A}"/>
                      </a:ext>
                    </a:extLst>
                  </p:cNvPr>
                  <p:cNvSpPr/>
                  <p:nvPr/>
                </p:nvSpPr>
                <p:spPr>
                  <a:xfrm>
                    <a:off x="4551137" y="249836"/>
                    <a:ext cx="737671" cy="737671"/>
                  </a:xfrm>
                  <a:prstGeom prst="ellipse">
                    <a:avLst/>
                  </a:prstGeom>
                  <a:solidFill>
                    <a:srgbClr val="74D9D5"/>
                  </a:solidFill>
                  <a:ln w="76200">
                    <a:noFill/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53" name="Picture 52">
                  <a:extLst>
                    <a:ext uri="{FF2B5EF4-FFF2-40B4-BE49-F238E27FC236}">
                      <a16:creationId xmlns:a16="http://schemas.microsoft.com/office/drawing/2014/main" id="{48F5A937-44D1-4B39-A9BF-86982C1077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5159" y="3458800"/>
                  <a:ext cx="337454" cy="337454"/>
                </a:xfrm>
                <a:prstGeom prst="rect">
                  <a:avLst/>
                </a:prstGeom>
              </p:spPr>
            </p:pic>
          </p:grp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2A5E8B1E-3D40-466D-8916-2503E0AE43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12794" y="3981604"/>
                <a:ext cx="577290" cy="0"/>
              </a:xfrm>
              <a:prstGeom prst="line">
                <a:avLst/>
              </a:prstGeom>
              <a:ln w="28575">
                <a:solidFill>
                  <a:schemeClr val="bg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D3FBF6A-7C0E-4BA8-8778-59D9F25E454D}"/>
              </a:ext>
            </a:extLst>
          </p:cNvPr>
          <p:cNvCxnSpPr/>
          <p:nvPr/>
        </p:nvCxnSpPr>
        <p:spPr>
          <a:xfrm>
            <a:off x="7872594" y="4718388"/>
            <a:ext cx="749571" cy="0"/>
          </a:xfrm>
          <a:prstGeom prst="line">
            <a:avLst/>
          </a:prstGeom>
          <a:ln w="2857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39">
            <a:extLst>
              <a:ext uri="{FF2B5EF4-FFF2-40B4-BE49-F238E27FC236}">
                <a16:creationId xmlns:a16="http://schemas.microsoft.com/office/drawing/2014/main" id="{7910D65D-2CF8-4479-A6E9-F0205B866B86}"/>
              </a:ext>
            </a:extLst>
          </p:cNvPr>
          <p:cNvSpPr/>
          <p:nvPr/>
        </p:nvSpPr>
        <p:spPr>
          <a:xfrm>
            <a:off x="8747293" y="5329427"/>
            <a:ext cx="3098543" cy="410647"/>
          </a:xfrm>
          <a:prstGeom prst="roundRect">
            <a:avLst>
              <a:gd name="adj" fmla="val 31330"/>
            </a:avLst>
          </a:prstGeom>
          <a:solidFill>
            <a:schemeClr val="accent6">
              <a:lumMod val="75000"/>
            </a:schemeClr>
          </a:solidFill>
          <a:ln w="508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Reporting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7742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90C9E6-6E81-455C-AC8E-51F31326C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4CCA3B-9063-4C87-91D0-621B29C3E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1EAD2A-E9CE-48C8-8375-1DFB1109C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Direct MCA - Update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FC595B-BD36-42D9-8145-3512857FE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48" y="1577762"/>
            <a:ext cx="5348401" cy="46490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8D2A82-B2C4-4525-BA8A-E5F56D8BD85C}"/>
              </a:ext>
            </a:extLst>
          </p:cNvPr>
          <p:cNvSpPr txBox="1"/>
          <p:nvPr/>
        </p:nvSpPr>
        <p:spPr>
          <a:xfrm>
            <a:off x="6582781" y="2132570"/>
            <a:ext cx="4696019" cy="3785652"/>
          </a:xfrm>
          <a:prstGeom prst="rect">
            <a:avLst/>
          </a:prstGeom>
          <a:gradFill rotWithShape="1">
            <a:gsLst>
              <a:gs pos="0">
                <a:srgbClr val="00BDB7">
                  <a:lumMod val="110000"/>
                  <a:satMod val="105000"/>
                  <a:tint val="67000"/>
                </a:srgbClr>
              </a:gs>
              <a:gs pos="50000">
                <a:srgbClr val="00BDB7">
                  <a:lumMod val="105000"/>
                  <a:satMod val="103000"/>
                  <a:tint val="73000"/>
                </a:srgbClr>
              </a:gs>
              <a:gs pos="100000">
                <a:srgbClr val="00BDB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00BDB7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 update to the A&amp;SP20 instructions was communicated on Workplace to advise a materiality threshold of $0.5MM should be applied for one time direct MCA entries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Costs below this threshold should be absorbed by the market who incurred the costs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recurring costs, or costs above the threshold, a direct MCA cost center should be created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Cost centers for LTIP specifically have been requested centrally and will be available in S/4 HANA</a:t>
            </a:r>
          </a:p>
        </p:txBody>
      </p:sp>
    </p:spTree>
    <p:extLst>
      <p:ext uri="{BB962C8B-B14F-4D97-AF65-F5344CB8AC3E}">
        <p14:creationId xmlns:p14="http://schemas.microsoft.com/office/powerpoint/2010/main" val="2029923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3B5065-703E-4F77-B6C9-F844EE398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E13BD6-0A4F-473A-94A0-0A35CCE84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9A4ABB-4B83-4378-928D-E693BE774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Direct MCA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ECEFAD-73A3-4759-B596-B539D5774F4E}"/>
              </a:ext>
            </a:extLst>
          </p:cNvPr>
          <p:cNvSpPr txBox="1"/>
          <p:nvPr/>
        </p:nvSpPr>
        <p:spPr>
          <a:xfrm>
            <a:off x="515939" y="1494029"/>
            <a:ext cx="11160119" cy="984247"/>
          </a:xfrm>
          <a:prstGeom prst="rect">
            <a:avLst/>
          </a:prstGeom>
          <a:gradFill>
            <a:gsLst>
              <a:gs pos="0">
                <a:srgbClr val="74D9D5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C4BE"/>
              </a:gs>
            </a:gsLst>
            <a:lin ang="5400000" scaled="1"/>
          </a:gradFill>
          <a:ln w="6350" cap="flat" cmpd="sng" algn="ctr">
            <a:solidFill>
              <a:srgbClr val="407EC9"/>
            </a:solidFill>
            <a:prstDash val="solid"/>
            <a:miter lim="800000"/>
          </a:ln>
          <a:effectLst/>
        </p:spPr>
        <p:txBody>
          <a:bodyPr wrap="square" lIns="0" tIns="0" rIns="0" bIns="0" rtlCol="0">
            <a:no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9454B"/>
                </a:solidFill>
                <a:effectLst/>
                <a:uLnTx/>
                <a:uFillTx/>
                <a:latin typeface="Arial" panose="020B0604020202020204"/>
                <a:ea typeface="ＭＳ Ｐゴシック" pitchFamily="80" charset="-128"/>
                <a:cs typeface="+mn-cs"/>
              </a:rPr>
              <a:t>Since it will not be possible to book a ledger specific journal in the CO module in SAP, we will switch from using indirect MCA to direct MCA entries – direct MCA is already used in some markets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sz="700" b="0" i="0" u="none" strike="noStrike" kern="0" cap="none" spc="0" normalizeH="0" baseline="0" noProof="0" dirty="0">
              <a:ln>
                <a:noFill/>
              </a:ln>
              <a:solidFill>
                <a:srgbClr val="39454B"/>
              </a:solidFill>
              <a:effectLst/>
              <a:uLnTx/>
              <a:uFillTx/>
              <a:latin typeface="Arial" panose="020B0604020202020204"/>
              <a:ea typeface="ＭＳ Ｐゴシック" pitchFamily="80" charset="-128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9454B"/>
                </a:solidFill>
                <a:effectLst/>
                <a:uLnTx/>
                <a:uFillTx/>
                <a:latin typeface="Arial" panose="020B0604020202020204"/>
                <a:ea typeface="ＭＳ Ｐゴシック" pitchFamily="80" charset="-128"/>
                <a:cs typeface="+mn-cs"/>
              </a:rPr>
              <a:t>Direct MCA is where a cost center is created within an entity that maps to the target profit center for the entries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sz="700" b="0" i="0" u="none" strike="noStrike" kern="0" cap="none" spc="0" normalizeH="0" baseline="0" noProof="0" dirty="0">
              <a:ln>
                <a:noFill/>
              </a:ln>
              <a:solidFill>
                <a:srgbClr val="39454B"/>
              </a:solidFill>
              <a:effectLst/>
              <a:uLnTx/>
              <a:uFillTx/>
              <a:latin typeface="Arial" panose="020B0604020202020204"/>
              <a:ea typeface="ＭＳ Ｐゴシック" pitchFamily="80" charset="-128"/>
              <a:cs typeface="+mn-cs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EE75A12-51E7-4551-8906-3B883728DFC4}"/>
              </a:ext>
            </a:extLst>
          </p:cNvPr>
          <p:cNvGraphicFramePr>
            <a:graphicFrameLocks noGrp="1"/>
          </p:cNvGraphicFramePr>
          <p:nvPr/>
        </p:nvGraphicFramePr>
        <p:xfrm>
          <a:off x="1339531" y="2609458"/>
          <a:ext cx="9775851" cy="1828800"/>
        </p:xfrm>
        <a:graphic>
          <a:graphicData uri="http://schemas.openxmlformats.org/drawingml/2006/table">
            <a:tbl>
              <a:tblPr firstRow="1" bandRow="1"/>
              <a:tblGrid>
                <a:gridCol w="2003632">
                  <a:extLst>
                    <a:ext uri="{9D8B030D-6E8A-4147-A177-3AD203B41FA5}">
                      <a16:colId xmlns:a16="http://schemas.microsoft.com/office/drawing/2014/main" val="3546588795"/>
                    </a:ext>
                  </a:extLst>
                </a:gridCol>
                <a:gridCol w="1223123">
                  <a:extLst>
                    <a:ext uri="{9D8B030D-6E8A-4147-A177-3AD203B41FA5}">
                      <a16:colId xmlns:a16="http://schemas.microsoft.com/office/drawing/2014/main" val="525127795"/>
                    </a:ext>
                  </a:extLst>
                </a:gridCol>
                <a:gridCol w="1759286">
                  <a:extLst>
                    <a:ext uri="{9D8B030D-6E8A-4147-A177-3AD203B41FA5}">
                      <a16:colId xmlns:a16="http://schemas.microsoft.com/office/drawing/2014/main" val="3184180003"/>
                    </a:ext>
                  </a:extLst>
                </a:gridCol>
                <a:gridCol w="921530">
                  <a:extLst>
                    <a:ext uri="{9D8B030D-6E8A-4147-A177-3AD203B41FA5}">
                      <a16:colId xmlns:a16="http://schemas.microsoft.com/office/drawing/2014/main" val="3379925228"/>
                    </a:ext>
                  </a:extLst>
                </a:gridCol>
                <a:gridCol w="1774350">
                  <a:extLst>
                    <a:ext uri="{9D8B030D-6E8A-4147-A177-3AD203B41FA5}">
                      <a16:colId xmlns:a16="http://schemas.microsoft.com/office/drawing/2014/main" val="1580247447"/>
                    </a:ext>
                  </a:extLst>
                </a:gridCol>
                <a:gridCol w="2093930">
                  <a:extLst>
                    <a:ext uri="{9D8B030D-6E8A-4147-A177-3AD203B41FA5}">
                      <a16:colId xmlns:a16="http://schemas.microsoft.com/office/drawing/2014/main" val="290265162"/>
                    </a:ext>
                  </a:extLst>
                </a:gridCol>
              </a:tblGrid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Entity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D5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DR / CR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D5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Account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D5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FA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D5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Profit Center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D5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Amount</a:t>
                      </a:r>
                      <a:r>
                        <a:rPr lang="en-US" sz="1600" baseline="0" dirty="0"/>
                        <a:t> $</a:t>
                      </a:r>
                      <a:endParaRPr lang="en-US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D5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437043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600" kern="1200" dirty="0"/>
                        <a:t>1178 - Russia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600" kern="1200" dirty="0"/>
                        <a:t>CR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600" kern="1200" dirty="0"/>
                        <a:t>Salaries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600" kern="1200" dirty="0"/>
                        <a:t>5000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600" kern="1200" dirty="0"/>
                        <a:t>Russia Market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600" kern="1200" dirty="0"/>
                        <a:t>(1,000)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47232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600" kern="1200" dirty="0"/>
                        <a:t>1178 - Russia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600" kern="1200" dirty="0"/>
                        <a:t>DR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600" kern="1200" dirty="0"/>
                        <a:t>Salaries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600" kern="1200" dirty="0"/>
                        <a:t>5000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600" kern="1200" dirty="0"/>
                        <a:t>MCA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600" kern="1200" dirty="0"/>
                        <a:t>1,000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19018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1799 – JTI SA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CR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Salaries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5000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MCA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(1,000)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005011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700" dirty="0"/>
                        <a:t>1799 – JTI SA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700" dirty="0"/>
                        <a:t>DR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700" dirty="0"/>
                        <a:t>Salaries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700" dirty="0"/>
                        <a:t>5000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700" dirty="0"/>
                        <a:t>LTIP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700" dirty="0"/>
                        <a:t>1,000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53247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865B520-4D0A-48DB-ACD0-6ADB63CD0912}"/>
              </a:ext>
            </a:extLst>
          </p:cNvPr>
          <p:cNvSpPr txBox="1"/>
          <p:nvPr/>
        </p:nvSpPr>
        <p:spPr>
          <a:xfrm>
            <a:off x="515940" y="2609458"/>
            <a:ext cx="678813" cy="1828800"/>
          </a:xfrm>
          <a:prstGeom prst="rect">
            <a:avLst/>
          </a:prstGeom>
          <a:gradFill rotWithShape="1">
            <a:gsLst>
              <a:gs pos="0">
                <a:srgbClr val="408D7A">
                  <a:tint val="50000"/>
                  <a:satMod val="300000"/>
                </a:srgbClr>
              </a:gs>
              <a:gs pos="35000">
                <a:srgbClr val="408D7A">
                  <a:tint val="37000"/>
                  <a:satMod val="300000"/>
                </a:srgbClr>
              </a:gs>
              <a:gs pos="100000">
                <a:srgbClr val="408D7A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08D7A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vert270"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ＭＳ Ｐゴシック" pitchFamily="80" charset="-128"/>
                <a:cs typeface="+mn-cs"/>
              </a:rPr>
              <a:t>Indirect MCA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13DB9FE2-37D9-42E5-99B0-82DAC6CB78CB}"/>
              </a:ext>
            </a:extLst>
          </p:cNvPr>
          <p:cNvSpPr/>
          <p:nvPr/>
        </p:nvSpPr>
        <p:spPr bwMode="auto">
          <a:xfrm>
            <a:off x="9877889" y="3435738"/>
            <a:ext cx="502253" cy="586740"/>
          </a:xfrm>
          <a:prstGeom prst="rightBrace">
            <a:avLst/>
          </a:prstGeom>
          <a:noFill/>
          <a:ln w="28575" cap="flat" cmpd="sng" algn="ctr">
            <a:solidFill>
              <a:srgbClr val="12263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ＭＳ Ｐゴシック" pitchFamily="80" charset="-128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2A0621-5DDA-497D-A7D4-48213CDC99C5}"/>
              </a:ext>
            </a:extLst>
          </p:cNvPr>
          <p:cNvSpPr txBox="1"/>
          <p:nvPr/>
        </p:nvSpPr>
        <p:spPr>
          <a:xfrm>
            <a:off x="10438567" y="3253802"/>
            <a:ext cx="1237493" cy="845898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408D7A"/>
            </a:solidFill>
            <a:prstDash val="solid"/>
          </a:ln>
          <a:effectLst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ＭＳ Ｐゴシック" pitchFamily="80" charset="-128"/>
                <a:cs typeface="+mn-cs"/>
              </a:rPr>
              <a:t>Transitory PC is used – entries offset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2EC27A5-0FCC-421B-8343-BFF620D348A5}"/>
              </a:ext>
            </a:extLst>
          </p:cNvPr>
          <p:cNvGraphicFramePr>
            <a:graphicFrameLocks noGrp="1"/>
          </p:cNvGraphicFramePr>
          <p:nvPr/>
        </p:nvGraphicFramePr>
        <p:xfrm>
          <a:off x="1339532" y="4591610"/>
          <a:ext cx="9775851" cy="1828800"/>
        </p:xfrm>
        <a:graphic>
          <a:graphicData uri="http://schemas.openxmlformats.org/drawingml/2006/table">
            <a:tbl>
              <a:tblPr firstRow="1" bandRow="1"/>
              <a:tblGrid>
                <a:gridCol w="2003632">
                  <a:extLst>
                    <a:ext uri="{9D8B030D-6E8A-4147-A177-3AD203B41FA5}">
                      <a16:colId xmlns:a16="http://schemas.microsoft.com/office/drawing/2014/main" val="3546588795"/>
                    </a:ext>
                  </a:extLst>
                </a:gridCol>
                <a:gridCol w="1256632">
                  <a:extLst>
                    <a:ext uri="{9D8B030D-6E8A-4147-A177-3AD203B41FA5}">
                      <a16:colId xmlns:a16="http://schemas.microsoft.com/office/drawing/2014/main" val="525127795"/>
                    </a:ext>
                  </a:extLst>
                </a:gridCol>
                <a:gridCol w="1692266">
                  <a:extLst>
                    <a:ext uri="{9D8B030D-6E8A-4147-A177-3AD203B41FA5}">
                      <a16:colId xmlns:a16="http://schemas.microsoft.com/office/drawing/2014/main" val="3184180003"/>
                    </a:ext>
                  </a:extLst>
                </a:gridCol>
                <a:gridCol w="971796">
                  <a:extLst>
                    <a:ext uri="{9D8B030D-6E8A-4147-A177-3AD203B41FA5}">
                      <a16:colId xmlns:a16="http://schemas.microsoft.com/office/drawing/2014/main" val="1329821620"/>
                    </a:ext>
                  </a:extLst>
                </a:gridCol>
                <a:gridCol w="1804728">
                  <a:extLst>
                    <a:ext uri="{9D8B030D-6E8A-4147-A177-3AD203B41FA5}">
                      <a16:colId xmlns:a16="http://schemas.microsoft.com/office/drawing/2014/main" val="1580247447"/>
                    </a:ext>
                  </a:extLst>
                </a:gridCol>
                <a:gridCol w="2046797">
                  <a:extLst>
                    <a:ext uri="{9D8B030D-6E8A-4147-A177-3AD203B41FA5}">
                      <a16:colId xmlns:a16="http://schemas.microsoft.com/office/drawing/2014/main" val="494384169"/>
                    </a:ext>
                  </a:extLst>
                </a:gridCol>
              </a:tblGrid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Entity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DB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DR</a:t>
                      </a:r>
                      <a:r>
                        <a:rPr lang="en-US" sz="1600" baseline="0" dirty="0"/>
                        <a:t> / CR</a:t>
                      </a:r>
                      <a:endParaRPr lang="en-US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DB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Account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DB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FA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DB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Profit Center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DB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Amount</a:t>
                      </a:r>
                      <a:r>
                        <a:rPr lang="en-US" sz="1600" baseline="0" dirty="0"/>
                        <a:t> $</a:t>
                      </a:r>
                      <a:endParaRPr lang="en-US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D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437043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1178 - Russia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CR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Salaries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5000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Russia Market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(1,000)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47232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1178 - Russia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DR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Salaries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5000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LTIP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1,000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19018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1799 – JTI SA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eaLnBrk="1"/>
                      <a:endParaRPr lang="en-US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eaLnBrk="1"/>
                      <a:endParaRPr lang="en-US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eaLnBrk="1"/>
                      <a:endParaRPr lang="en-US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eaLnBrk="1"/>
                      <a:endParaRPr lang="en-US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eaLnBrk="1"/>
                      <a:endParaRPr lang="en-US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532474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600" dirty="0"/>
                        <a:t>1799 – JTI SA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eaLnBrk="1"/>
                      <a:endParaRPr lang="en-US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eaLnBrk="1"/>
                      <a:endParaRPr lang="en-US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eaLnBrk="1"/>
                      <a:endParaRPr lang="en-US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eaLnBrk="1"/>
                      <a:endParaRPr lang="en-US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eaLnBrk="1"/>
                      <a:endParaRPr lang="en-US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75735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FBA8A71-8339-4F78-9465-0D5E1446381F}"/>
              </a:ext>
            </a:extLst>
          </p:cNvPr>
          <p:cNvSpPr txBox="1"/>
          <p:nvPr/>
        </p:nvSpPr>
        <p:spPr>
          <a:xfrm>
            <a:off x="515940" y="4591610"/>
            <a:ext cx="678813" cy="1828800"/>
          </a:xfrm>
          <a:prstGeom prst="rect">
            <a:avLst/>
          </a:prstGeom>
          <a:gradFill rotWithShape="1">
            <a:gsLst>
              <a:gs pos="0">
                <a:srgbClr val="4D5C65">
                  <a:tint val="50000"/>
                  <a:satMod val="300000"/>
                </a:srgbClr>
              </a:gs>
              <a:gs pos="35000">
                <a:srgbClr val="4D5C65">
                  <a:tint val="37000"/>
                  <a:satMod val="300000"/>
                </a:srgbClr>
              </a:gs>
              <a:gs pos="100000">
                <a:srgbClr val="4D5C65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D5C65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vert270"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ＭＳ Ｐゴシック" pitchFamily="80" charset="-128"/>
                <a:cs typeface="+mn-cs"/>
              </a:rPr>
              <a:t>Direct MCA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D442D2-AD42-40CC-AC27-13FD1299F7F1}"/>
              </a:ext>
            </a:extLst>
          </p:cNvPr>
          <p:cNvSpPr txBox="1"/>
          <p:nvPr/>
        </p:nvSpPr>
        <p:spPr>
          <a:xfrm>
            <a:off x="3622516" y="5839648"/>
            <a:ext cx="5693985" cy="44958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408D7A"/>
            </a:solidFill>
            <a:prstDash val="solid"/>
          </a:ln>
          <a:effectLst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ＭＳ Ｐゴシック" pitchFamily="80" charset="-128"/>
                <a:cs typeface="+mn-cs"/>
              </a:rPr>
              <a:t>No entries required in JTI SA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C79CB0-A81C-4E6D-9960-63804FF160B2}"/>
              </a:ext>
            </a:extLst>
          </p:cNvPr>
          <p:cNvSpPr txBox="1"/>
          <p:nvPr/>
        </p:nvSpPr>
        <p:spPr>
          <a:xfrm>
            <a:off x="10438566" y="4784157"/>
            <a:ext cx="1237493" cy="845898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408D7A"/>
            </a:solidFill>
            <a:prstDash val="solid"/>
          </a:ln>
          <a:effectLst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22632"/>
                </a:solidFill>
                <a:effectLst/>
                <a:uLnTx/>
                <a:uFillTx/>
                <a:latin typeface="Arial" panose="020B0604020202020204"/>
                <a:ea typeface="ＭＳ Ｐゴシック" pitchFamily="80" charset="-128"/>
                <a:cs typeface="+mn-cs"/>
              </a:rPr>
              <a:t>Entry is booked in IFRS ledger only</a:t>
            </a:r>
          </a:p>
        </p:txBody>
      </p:sp>
    </p:spTree>
    <p:extLst>
      <p:ext uri="{BB962C8B-B14F-4D97-AF65-F5344CB8AC3E}">
        <p14:creationId xmlns:p14="http://schemas.microsoft.com/office/powerpoint/2010/main" val="317917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9F34655-B669-4D98-A4B1-1958493F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1F20F0-A611-45EC-B519-DD63E062E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1269F9-F8C4-4282-9297-CCB1CB48F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Direct MCA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7CB8C9-C780-4277-BBA2-B4BBFB7B97B9}"/>
              </a:ext>
            </a:extLst>
          </p:cNvPr>
          <p:cNvSpPr txBox="1"/>
          <p:nvPr/>
        </p:nvSpPr>
        <p:spPr>
          <a:xfrm>
            <a:off x="515940" y="1474474"/>
            <a:ext cx="11160119" cy="549350"/>
          </a:xfrm>
          <a:prstGeom prst="rect">
            <a:avLst/>
          </a:prstGeom>
          <a:gradFill rotWithShape="1">
            <a:gsLst>
              <a:gs pos="0">
                <a:srgbClr val="74D9D5"/>
              </a:gs>
              <a:gs pos="50000">
                <a:srgbClr val="88D5B8">
                  <a:lumMod val="105000"/>
                  <a:satMod val="103000"/>
                  <a:tint val="73000"/>
                </a:srgbClr>
              </a:gs>
              <a:gs pos="100000">
                <a:srgbClr val="36C4BE"/>
              </a:gs>
            </a:gsLst>
            <a:lin ang="5400000" scaled="0"/>
          </a:gradFill>
          <a:ln w="6350" cap="flat" cmpd="sng" algn="ctr">
            <a:solidFill>
              <a:srgbClr val="88D5B8"/>
            </a:solidFill>
            <a:prstDash val="solid"/>
            <a:miter lim="800000"/>
          </a:ln>
          <a:effectLst/>
        </p:spPr>
        <p:txBody>
          <a:bodyPr wrap="square" lIns="0" tIns="0" rIns="0" bIns="0" rtlCol="0">
            <a:no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9454B"/>
                </a:solidFill>
                <a:effectLst/>
                <a:uLnTx/>
                <a:uFillTx/>
                <a:latin typeface="Arial" panose="020B0604020202020204"/>
                <a:ea typeface="ＭＳ Ｐゴシック" pitchFamily="80" charset="-128"/>
                <a:cs typeface="+mn-cs"/>
              </a:rPr>
              <a:t>Please ensure that ledger 0L is selected in the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39454B"/>
                </a:solidFill>
                <a:effectLst/>
                <a:uLnTx/>
                <a:uFillTx/>
                <a:latin typeface="Arial" panose="020B0604020202020204"/>
                <a:ea typeface="ＭＳ Ｐゴシック" pitchFamily="80" charset="-128"/>
                <a:cs typeface="+mn-cs"/>
              </a:rPr>
              <a:t>MyRequest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9454B"/>
                </a:solidFill>
                <a:effectLst/>
                <a:uLnTx/>
                <a:uFillTx/>
                <a:latin typeface="Arial" panose="020B0604020202020204"/>
                <a:ea typeface="ＭＳ Ｐゴシック" pitchFamily="80" charset="-128"/>
                <a:cs typeface="+mn-cs"/>
              </a:rPr>
              <a:t> template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9454B"/>
                </a:solidFill>
                <a:effectLst/>
                <a:uLnTx/>
                <a:uFillTx/>
                <a:latin typeface="Arial" panose="020B0604020202020204"/>
                <a:ea typeface="ＭＳ Ｐゴシック" pitchFamily="80" charset="-128"/>
                <a:cs typeface="+mn-cs"/>
              </a:rPr>
              <a:t>When the document is posted, the document type in SAP should be Y0 and the document number will start with 77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9454B"/>
              </a:solidFill>
              <a:effectLst/>
              <a:uLnTx/>
              <a:uFillTx/>
              <a:latin typeface="Arial" panose="020B0604020202020204"/>
              <a:ea typeface="ＭＳ Ｐゴシック" pitchFamily="80" charset="-128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EEA173-AB40-4116-80BA-EBF264B012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80"/>
          <a:stretch/>
        </p:blipFill>
        <p:spPr>
          <a:xfrm>
            <a:off x="515940" y="2641110"/>
            <a:ext cx="7376160" cy="3450592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538299CC-4568-4BA2-9F20-FE795C6E88ED}"/>
              </a:ext>
            </a:extLst>
          </p:cNvPr>
          <p:cNvSpPr/>
          <p:nvPr/>
        </p:nvSpPr>
        <p:spPr>
          <a:xfrm>
            <a:off x="9067800" y="4834177"/>
            <a:ext cx="2489200" cy="1628855"/>
          </a:xfrm>
          <a:prstGeom prst="wedgeRoundRectCallout">
            <a:avLst>
              <a:gd name="adj1" fmla="val -125324"/>
              <a:gd name="adj2" fmla="val 14476"/>
              <a:gd name="adj3" fmla="val 16667"/>
            </a:avLst>
          </a:prstGeom>
          <a:solidFill>
            <a:srgbClr val="FFFFFF"/>
          </a:solidFill>
          <a:ln w="12700" cap="flat" cmpd="sng" algn="ctr">
            <a:solidFill>
              <a:srgbClr val="00BDB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FCF zero-balancing account will be impacted – this is only visible in the General Ledger view</a:t>
            </a: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5F028AC8-DE1D-4B5D-830B-C1FD598DA542}"/>
              </a:ext>
            </a:extLst>
          </p:cNvPr>
          <p:cNvSpPr/>
          <p:nvPr/>
        </p:nvSpPr>
        <p:spPr>
          <a:xfrm>
            <a:off x="3464560" y="5151120"/>
            <a:ext cx="487680" cy="994971"/>
          </a:xfrm>
          <a:prstGeom prst="frame">
            <a:avLst>
              <a:gd name="adj1" fmla="val 10417"/>
            </a:avLst>
          </a:prstGeom>
          <a:solidFill>
            <a:srgbClr val="00BDB7"/>
          </a:solidFill>
          <a:ln w="12700" cap="flat" cmpd="sng" algn="ctr">
            <a:solidFill>
              <a:srgbClr val="00BDB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A8CFBC8E-A1C9-400B-A225-613FD6AF4150}"/>
              </a:ext>
            </a:extLst>
          </p:cNvPr>
          <p:cNvSpPr/>
          <p:nvPr/>
        </p:nvSpPr>
        <p:spPr>
          <a:xfrm>
            <a:off x="9067800" y="3711079"/>
            <a:ext cx="2489200" cy="1031797"/>
          </a:xfrm>
          <a:prstGeom prst="wedgeRoundRectCallout">
            <a:avLst>
              <a:gd name="adj1" fmla="val -255528"/>
              <a:gd name="adj2" fmla="val 89389"/>
              <a:gd name="adj3" fmla="val 16667"/>
            </a:avLst>
          </a:prstGeom>
          <a:solidFill>
            <a:srgbClr val="FFFFFF"/>
          </a:solidFill>
          <a:ln w="12700" cap="flat" cmpd="sng" algn="ctr">
            <a:solidFill>
              <a:srgbClr val="00BDB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Costs should be moved from one PC to another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0427927C-614F-4F99-8640-2A979AB984D0}"/>
              </a:ext>
            </a:extLst>
          </p:cNvPr>
          <p:cNvSpPr/>
          <p:nvPr/>
        </p:nvSpPr>
        <p:spPr>
          <a:xfrm>
            <a:off x="9067800" y="2587981"/>
            <a:ext cx="2489200" cy="1031797"/>
          </a:xfrm>
          <a:prstGeom prst="wedgeRoundRectCallout">
            <a:avLst>
              <a:gd name="adj1" fmla="val -196344"/>
              <a:gd name="adj2" fmla="val 99236"/>
              <a:gd name="adj3" fmla="val 16667"/>
            </a:avLst>
          </a:prstGeom>
          <a:solidFill>
            <a:srgbClr val="FFFFFF"/>
          </a:solidFill>
          <a:ln w="12700" cap="flat" cmpd="sng" algn="ctr">
            <a:solidFill>
              <a:srgbClr val="00BDB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Ledger should be 0L </a:t>
            </a:r>
          </a:p>
        </p:txBody>
      </p:sp>
    </p:spTree>
    <p:extLst>
      <p:ext uri="{BB962C8B-B14F-4D97-AF65-F5344CB8AC3E}">
        <p14:creationId xmlns:p14="http://schemas.microsoft.com/office/powerpoint/2010/main" val="427641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S4F-ERP G&amp;A &amp; Marketing Cost Management">
  <a:themeElements>
    <a:clrScheme name="Custom 9">
      <a:dk1>
        <a:srgbClr val="000000"/>
      </a:dk1>
      <a:lt1>
        <a:srgbClr val="FFFFFF"/>
      </a:lt1>
      <a:dk2>
        <a:srgbClr val="1A3040"/>
      </a:dk2>
      <a:lt2>
        <a:srgbClr val="DDDDDD"/>
      </a:lt2>
      <a:accent1>
        <a:srgbClr val="74D9D5"/>
      </a:accent1>
      <a:accent2>
        <a:srgbClr val="EAAA00"/>
      </a:accent2>
      <a:accent3>
        <a:srgbClr val="00B2A9"/>
      </a:accent3>
      <a:accent4>
        <a:srgbClr val="8031A7"/>
      </a:accent4>
      <a:accent5>
        <a:srgbClr val="E782A9"/>
      </a:accent5>
      <a:accent6>
        <a:srgbClr val="407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4F Template" id="{8187A0D7-44D4-4A4B-A36D-CEF7DE641DC2}" vid="{E04EDAD1-AFC5-BE4E-A44C-E641ABC5FF6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a249638-b5c4-4b59-8094-70d8491c2e9c">
      <UserInfo>
        <DisplayName/>
        <AccountId xsi:nil="true"/>
        <AccountType/>
      </UserInfo>
    </SharedWithUsers>
    <ReportDate xmlns="91871c47-af2e-43ea-ad3f-7bb4c536bc45" xsi:nil="true"/>
    <lcf76f155ced4ddcb4097134ff3c332f xmlns="91871c47-af2e-43ea-ad3f-7bb4c536bc45">
      <Terms xmlns="http://schemas.microsoft.com/office/infopath/2007/PartnerControls"/>
    </lcf76f155ced4ddcb4097134ff3c332f>
    <TaxCatchAll xmlns="cb52ee0d-5346-4ae8-a9f9-d746adffeb6b" xsi:nil="true"/>
    <_ip_UnifiedCompliancePolicyUIAction xmlns="http://schemas.microsoft.com/sharepoint/v3" xsi:nil="true"/>
    <_ip_UnifiedCompliancePolicyProperties xmlns="http://schemas.microsoft.com/sharepoint/v3" xsi:nil="true"/>
    <Details xmlns="91871c47-af2e-43ea-ad3f-7bb4c536bc45" xsi:nil="true"/>
    <FolderInfo xmlns="91871c47-af2e-43ea-ad3f-7bb4c536bc45" xsi:nil="true"/>
    <Remarks xmlns="91871c47-af2e-43ea-ad3f-7bb4c536bc45" xsi:nil="true"/>
    <T_x002d_Code xmlns="91871c47-af2e-43ea-ad3f-7bb4c536bc4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EA691DA1475FED40816A34A9887BD419" ma:contentTypeVersion="26" ma:contentTypeDescription="Создание документа." ma:contentTypeScope="" ma:versionID="559e90d719ff0254e378a0bb7967f071">
  <xsd:schema xmlns:xsd="http://www.w3.org/2001/XMLSchema" xmlns:xs="http://www.w3.org/2001/XMLSchema" xmlns:p="http://schemas.microsoft.com/office/2006/metadata/properties" xmlns:ns1="http://schemas.microsoft.com/sharepoint/v3" xmlns:ns2="91871c47-af2e-43ea-ad3f-7bb4c536bc45" xmlns:ns3="ba249638-b5c4-4b59-8094-70d8491c2e9c" xmlns:ns4="cb52ee0d-5346-4ae8-a9f9-d746adffeb6b" targetNamespace="http://schemas.microsoft.com/office/2006/metadata/properties" ma:root="true" ma:fieldsID="a3b096dd063bdcacd4429cc4e08033be" ns1:_="" ns2:_="" ns3:_="" ns4:_="">
    <xsd:import namespace="http://schemas.microsoft.com/sharepoint/v3"/>
    <xsd:import namespace="91871c47-af2e-43ea-ad3f-7bb4c536bc45"/>
    <xsd:import namespace="ba249638-b5c4-4b59-8094-70d8491c2e9c"/>
    <xsd:import namespace="cb52ee0d-5346-4ae8-a9f9-d746adffeb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ReportDate" minOccurs="0"/>
                <xsd:element ref="ns2:MediaServiceAutoTags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Remarks" minOccurs="0"/>
                <xsd:element ref="ns2:Details" minOccurs="0"/>
                <xsd:element ref="ns2:FolderInfo" minOccurs="0"/>
                <xsd:element ref="ns2:T_x002d_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Свойства единой политики соответствия требованиям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Действие с пользовательским интерфейсом в рамках единой политики соответствия требованиям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871c47-af2e-43ea-ad3f-7bb4c536bc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ReportDate" ma:index="16" nillable="true" ma:displayName="Report Date" ma:format="DateOnly" ma:internalName="ReportDate">
      <xsd:simpleType>
        <xsd:restriction base="dms:DateTime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c3dfe741-475c-44cf-bcd4-46bfd3fd06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Remarks" ma:index="29" nillable="true" ma:displayName="Remarks" ma:format="Dropdown" ma:internalName="Remarks">
      <xsd:simpleType>
        <xsd:restriction base="dms:Text">
          <xsd:maxLength value="255"/>
        </xsd:restriction>
      </xsd:simpleType>
    </xsd:element>
    <xsd:element name="Details" ma:index="30" nillable="true" ma:displayName="Details" ma:format="Dropdown" ma:internalName="Details">
      <xsd:simpleType>
        <xsd:restriction base="dms:Note">
          <xsd:maxLength value="255"/>
        </xsd:restriction>
      </xsd:simpleType>
    </xsd:element>
    <xsd:element name="FolderInfo" ma:index="31" nillable="true" ma:displayName="Folder/File Info" ma:format="Dropdown" ma:internalName="FolderInfo">
      <xsd:simpleType>
        <xsd:restriction base="dms:Note">
          <xsd:maxLength value="255"/>
        </xsd:restriction>
      </xsd:simpleType>
    </xsd:element>
    <xsd:element name="T_x002d_Code" ma:index="32" nillable="true" ma:displayName="T-Code" ma:format="Dropdown" ma:internalName="T_x002d_Code">
      <xsd:simpleType>
        <xsd:restriction base="dms:Text">
          <xsd:maxLength value="255"/>
        </xsd:restriction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249638-b5c4-4b59-8094-70d8491c2e9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52ee0d-5346-4ae8-a9f9-d746adffeb6b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4cb22aed-3451-4198-9f27-006c28665e31}" ma:internalName="TaxCatchAll" ma:showField="CatchAllData" ma:web="cb52ee0d-5346-4ae8-a9f9-d746adffeb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5EAC99-A2A6-411A-93B5-3BE2D95ECCB4}">
  <ds:schemaRefs>
    <ds:schemaRef ds:uri="da913ec1-a210-4093-97d6-83558d020e4c"/>
    <ds:schemaRef ds:uri="http://purl.org/dc/elements/1.1/"/>
    <ds:schemaRef ds:uri="http://schemas.microsoft.com/office/2006/metadata/properties"/>
    <ds:schemaRef ds:uri="033d2065-0f41-4cc7-b07b-20f12998cf8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  <ds:schemaRef ds:uri="ba249638-b5c4-4b59-8094-70d8491c2e9c"/>
    <ds:schemaRef ds:uri="91871c47-af2e-43ea-ad3f-7bb4c536bc45"/>
  </ds:schemaRefs>
</ds:datastoreItem>
</file>

<file path=customXml/itemProps2.xml><?xml version="1.0" encoding="utf-8"?>
<ds:datastoreItem xmlns:ds="http://schemas.openxmlformats.org/officeDocument/2006/customXml" ds:itemID="{F6AF56F7-DB29-4926-8DA3-317555DD8A0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1EE9EF-FCFC-441C-8640-1C051D0A1512}"/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358</Words>
  <Application>Microsoft Office PowerPoint</Application>
  <PresentationFormat>Widescreen</PresentationFormat>
  <Paragraphs>90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S4F-ERP G&amp;A &amp; Marketing Cost Management</vt:lpstr>
      <vt:lpstr>Course Structure</vt:lpstr>
      <vt:lpstr>Direct MCA - Update</vt:lpstr>
      <vt:lpstr>Direct MCA</vt:lpstr>
      <vt:lpstr>Direct MCA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Structure</dc:title>
  <dc:creator>O'Neill, Shauna</dc:creator>
  <cp:lastModifiedBy>O'Neill, Shauna</cp:lastModifiedBy>
  <cp:revision>2</cp:revision>
  <dcterms:created xsi:type="dcterms:W3CDTF">2019-10-09T10:56:57Z</dcterms:created>
  <dcterms:modified xsi:type="dcterms:W3CDTF">2022-04-29T07:07:23Z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0x010100EA691DA1475FED40816A34A9887BD419</vt:lpwstr>
  </property>
  <property fmtid="{D5CDD505-2E9C-101B-9397-08002B2CF9AE}" pid="3" name="Order">
    <vt:r8>1276000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MSIP_Label_b020b37f-db72-473e-ae54-fb16df408069_Enabled">
    <vt:lpwstr>true</vt:lpwstr>
  </property>
  <property fmtid="{D5CDD505-2E9C-101B-9397-08002B2CF9AE}" pid="11" name="MSIP_Label_b020b37f-db72-473e-ae54-fb16df408069_SetDate">
    <vt:lpwstr>2022-04-29T07:07:22Z</vt:lpwstr>
  </property>
  <property fmtid="{D5CDD505-2E9C-101B-9397-08002B2CF9AE}" pid="12" name="MSIP_Label_b020b37f-db72-473e-ae54-fb16df408069_Method">
    <vt:lpwstr>Standard</vt:lpwstr>
  </property>
  <property fmtid="{D5CDD505-2E9C-101B-9397-08002B2CF9AE}" pid="13" name="MSIP_Label_b020b37f-db72-473e-ae54-fb16df408069_Name">
    <vt:lpwstr>General</vt:lpwstr>
  </property>
  <property fmtid="{D5CDD505-2E9C-101B-9397-08002B2CF9AE}" pid="14" name="MSIP_Label_b020b37f-db72-473e-ae54-fb16df408069_SiteId">
    <vt:lpwstr>705d07a3-2eea-4f3b-ab59-65ca29abeb26</vt:lpwstr>
  </property>
  <property fmtid="{D5CDD505-2E9C-101B-9397-08002B2CF9AE}" pid="15" name="MSIP_Label_b020b37f-db72-473e-ae54-fb16df408069_ActionId">
    <vt:lpwstr>e004845c-abf2-4cdc-ae43-acd4bbd2ac9b</vt:lpwstr>
  </property>
  <property fmtid="{D5CDD505-2E9C-101B-9397-08002B2CF9AE}" pid="16" name="MSIP_Label_b020b37f-db72-473e-ae54-fb16df408069_ContentBits">
    <vt:lpwstr>0</vt:lpwstr>
  </property>
</Properties>
</file>