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3018" r:id="rId5"/>
    <p:sldId id="3063" r:id="rId6"/>
    <p:sldId id="3068" r:id="rId7"/>
    <p:sldId id="2390" r:id="rId8"/>
    <p:sldId id="2394" r:id="rId9"/>
    <p:sldId id="2391" r:id="rId10"/>
    <p:sldId id="2392" r:id="rId11"/>
    <p:sldId id="2393" r:id="rId12"/>
    <p:sldId id="3069" r:id="rId13"/>
    <p:sldId id="2471" r:id="rId14"/>
    <p:sldId id="2472" r:id="rId15"/>
    <p:sldId id="2988" r:id="rId16"/>
    <p:sldId id="3070" r:id="rId17"/>
    <p:sldId id="3071" r:id="rId18"/>
    <p:sldId id="3072" r:id="rId19"/>
    <p:sldId id="2402" r:id="rId20"/>
    <p:sldId id="2403" r:id="rId21"/>
    <p:sldId id="2386" r:id="rId22"/>
    <p:sldId id="30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5C417-4D2C-4B82-B107-3DC3B92E73B5}" v="4" dt="2019-11-18T15:46:44.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09B5C417-4D2C-4B82-B107-3DC3B92E73B5}"/>
    <pc:docChg chg="undo redo custSel modSld">
      <pc:chgData name="O'Neill, Shauna" userId="1d0a8ccc-c260-429c-86e4-d406a5ac1d3d" providerId="ADAL" clId="{09B5C417-4D2C-4B82-B107-3DC3B92E73B5}" dt="2019-11-18T15:46:47.462" v="11" actId="27636"/>
      <pc:docMkLst>
        <pc:docMk/>
      </pc:docMkLst>
      <pc:sldChg chg="modSp">
        <pc:chgData name="O'Neill, Shauna" userId="1d0a8ccc-c260-429c-86e4-d406a5ac1d3d" providerId="ADAL" clId="{09B5C417-4D2C-4B82-B107-3DC3B92E73B5}" dt="2019-11-18T15:46:47.462" v="11" actId="27636"/>
        <pc:sldMkLst>
          <pc:docMk/>
          <pc:sldMk cId="4140221307" sldId="2402"/>
        </pc:sldMkLst>
        <pc:spChg chg="mod">
          <ac:chgData name="O'Neill, Shauna" userId="1d0a8ccc-c260-429c-86e4-d406a5ac1d3d" providerId="ADAL" clId="{09B5C417-4D2C-4B82-B107-3DC3B92E73B5}" dt="2019-11-18T15:46:47.462" v="11" actId="27636"/>
          <ac:spMkLst>
            <pc:docMk/>
            <pc:sldMk cId="4140221307" sldId="2402"/>
            <ac:spMk id="6" creationId="{C2F57097-C544-4747-9A56-5F4D4D9C975F}"/>
          </ac:spMkLst>
        </pc:spChg>
      </pc:sldChg>
    </pc:docChg>
  </pc:docChgLst>
  <pc:docChgLst>
    <pc:chgData name="Wang, Wei" userId="S::cstwangw@corp.jti.com::627587dd-935f-4f2b-a6c6-edd4e0dcbff5" providerId="AD" clId="Web-{C4E8D3CA-16F4-15B8-FB9D-41BB85BC043D}"/>
    <pc:docChg chg="mod">
      <pc:chgData name="Wang, Wei" userId="S::cstwangw@corp.jti.com::627587dd-935f-4f2b-a6c6-edd4e0dcbff5" providerId="AD" clId="Web-{C4E8D3CA-16F4-15B8-FB9D-41BB85BC043D}" dt="2023-02-14T14:43:39.555" v="0" actId="33475"/>
      <pc:docMkLst>
        <pc:docMk/>
      </pc:docMkLst>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304E48-DF47-4E88-AD9A-81DC5B4CD25D}" type="doc">
      <dgm:prSet loTypeId="urn:microsoft.com/office/officeart/2005/8/layout/chevron1" loCatId="process" qsTypeId="urn:microsoft.com/office/officeart/2005/8/quickstyle/simple1" qsCatId="simple" csTypeId="urn:microsoft.com/office/officeart/2005/8/colors/accent1_2" csCatId="accent1" phldr="1"/>
      <dgm:spPr/>
    </dgm:pt>
    <dgm:pt modelId="{5353EB27-198A-4818-AFD7-90BDA97316B8}">
      <dgm:prSet phldrT="[Text]"/>
      <dgm:spPr/>
      <dgm:t>
        <a:bodyPr/>
        <a:lstStyle/>
        <a:p>
          <a:r>
            <a:rPr lang="en-GB"/>
            <a:t>Sales Order Creation</a:t>
          </a:r>
          <a:endParaRPr lang="en-US"/>
        </a:p>
      </dgm:t>
    </dgm:pt>
    <dgm:pt modelId="{41ED5CA0-D301-439B-987B-9CAF6658A166}" type="parTrans" cxnId="{866EBCF9-BB94-4C6E-BE2E-337D89C824FA}">
      <dgm:prSet/>
      <dgm:spPr/>
      <dgm:t>
        <a:bodyPr/>
        <a:lstStyle/>
        <a:p>
          <a:endParaRPr lang="en-US"/>
        </a:p>
      </dgm:t>
    </dgm:pt>
    <dgm:pt modelId="{5606C3AD-C7C0-48A4-8AAB-A0A55CB32CC6}" type="sibTrans" cxnId="{866EBCF9-BB94-4C6E-BE2E-337D89C824FA}">
      <dgm:prSet/>
      <dgm:spPr/>
      <dgm:t>
        <a:bodyPr/>
        <a:lstStyle/>
        <a:p>
          <a:endParaRPr lang="en-US"/>
        </a:p>
      </dgm:t>
    </dgm:pt>
    <dgm:pt modelId="{54AEF2C2-A484-4286-B4E2-71FE5C0E06DE}">
      <dgm:prSet phldrT="[Text]"/>
      <dgm:spPr/>
      <dgm:t>
        <a:bodyPr/>
        <a:lstStyle/>
        <a:p>
          <a:r>
            <a:rPr lang="en-GB"/>
            <a:t>Post Goods Issue (PGI)</a:t>
          </a:r>
          <a:endParaRPr lang="en-US"/>
        </a:p>
      </dgm:t>
    </dgm:pt>
    <dgm:pt modelId="{28C8E079-B283-4DEF-8E88-CC809E99F7DC}" type="parTrans" cxnId="{F2E0F1C3-D0AD-4664-BCB8-EB44FC8D888F}">
      <dgm:prSet/>
      <dgm:spPr/>
      <dgm:t>
        <a:bodyPr/>
        <a:lstStyle/>
        <a:p>
          <a:endParaRPr lang="en-US"/>
        </a:p>
      </dgm:t>
    </dgm:pt>
    <dgm:pt modelId="{21CFA1C2-5AAE-493E-8BC5-5B7D1C4DA580}" type="sibTrans" cxnId="{F2E0F1C3-D0AD-4664-BCB8-EB44FC8D888F}">
      <dgm:prSet/>
      <dgm:spPr/>
      <dgm:t>
        <a:bodyPr/>
        <a:lstStyle/>
        <a:p>
          <a:endParaRPr lang="en-US"/>
        </a:p>
      </dgm:t>
    </dgm:pt>
    <dgm:pt modelId="{FCC9DB38-6112-40BC-890B-4B8D2E3B4BB9}">
      <dgm:prSet phldrT="[Text]"/>
      <dgm:spPr/>
      <dgm:t>
        <a:bodyPr/>
        <a:lstStyle/>
        <a:p>
          <a:r>
            <a:rPr lang="en-GB"/>
            <a:t>Billing</a:t>
          </a:r>
          <a:endParaRPr lang="en-US"/>
        </a:p>
      </dgm:t>
    </dgm:pt>
    <dgm:pt modelId="{9B98BA4E-9870-46B6-887F-8FE139F2A02A}" type="parTrans" cxnId="{5B269E1F-08F0-49F1-B6AA-740189B5C818}">
      <dgm:prSet/>
      <dgm:spPr/>
      <dgm:t>
        <a:bodyPr/>
        <a:lstStyle/>
        <a:p>
          <a:endParaRPr lang="en-US"/>
        </a:p>
      </dgm:t>
    </dgm:pt>
    <dgm:pt modelId="{20168619-1A4B-42CC-AAB4-ABCD5A7FB5E9}" type="sibTrans" cxnId="{5B269E1F-08F0-49F1-B6AA-740189B5C818}">
      <dgm:prSet/>
      <dgm:spPr/>
      <dgm:t>
        <a:bodyPr/>
        <a:lstStyle/>
        <a:p>
          <a:endParaRPr lang="en-US"/>
        </a:p>
      </dgm:t>
    </dgm:pt>
    <dgm:pt modelId="{1CE4D90C-292C-41C3-848F-A1E30034021D}" type="pres">
      <dgm:prSet presAssocID="{E4304E48-DF47-4E88-AD9A-81DC5B4CD25D}" presName="Name0" presStyleCnt="0">
        <dgm:presLayoutVars>
          <dgm:dir/>
          <dgm:animLvl val="lvl"/>
          <dgm:resizeHandles val="exact"/>
        </dgm:presLayoutVars>
      </dgm:prSet>
      <dgm:spPr/>
    </dgm:pt>
    <dgm:pt modelId="{025E2F03-C551-4493-A687-CD3417E2384A}" type="pres">
      <dgm:prSet presAssocID="{5353EB27-198A-4818-AFD7-90BDA97316B8}" presName="parTxOnly" presStyleLbl="node1" presStyleIdx="0" presStyleCnt="3" custLinFactX="-16347" custLinFactNeighborX="-100000" custLinFactNeighborY="650">
        <dgm:presLayoutVars>
          <dgm:chMax val="0"/>
          <dgm:chPref val="0"/>
          <dgm:bulletEnabled val="1"/>
        </dgm:presLayoutVars>
      </dgm:prSet>
      <dgm:spPr/>
    </dgm:pt>
    <dgm:pt modelId="{963DD119-506F-46D6-A94C-85F8AA6CE770}" type="pres">
      <dgm:prSet presAssocID="{5606C3AD-C7C0-48A4-8AAB-A0A55CB32CC6}" presName="parTxOnlySpace" presStyleCnt="0"/>
      <dgm:spPr/>
    </dgm:pt>
    <dgm:pt modelId="{C4353E05-2DEB-4893-BC28-99BEF4642CA6}" type="pres">
      <dgm:prSet presAssocID="{54AEF2C2-A484-4286-B4E2-71FE5C0E06DE}" presName="parTxOnly" presStyleLbl="node1" presStyleIdx="1" presStyleCnt="3">
        <dgm:presLayoutVars>
          <dgm:chMax val="0"/>
          <dgm:chPref val="0"/>
          <dgm:bulletEnabled val="1"/>
        </dgm:presLayoutVars>
      </dgm:prSet>
      <dgm:spPr/>
    </dgm:pt>
    <dgm:pt modelId="{04B758A8-B8AB-4A82-90E6-6E13D7856440}" type="pres">
      <dgm:prSet presAssocID="{21CFA1C2-5AAE-493E-8BC5-5B7D1C4DA580}" presName="parTxOnlySpace" presStyleCnt="0"/>
      <dgm:spPr/>
    </dgm:pt>
    <dgm:pt modelId="{0B4317F5-604A-4DA7-A533-93CF5F8FE0C7}" type="pres">
      <dgm:prSet presAssocID="{FCC9DB38-6112-40BC-890B-4B8D2E3B4BB9}" presName="parTxOnly" presStyleLbl="node1" presStyleIdx="2" presStyleCnt="3" custLinFactNeighborX="4323">
        <dgm:presLayoutVars>
          <dgm:chMax val="0"/>
          <dgm:chPref val="0"/>
          <dgm:bulletEnabled val="1"/>
        </dgm:presLayoutVars>
      </dgm:prSet>
      <dgm:spPr/>
    </dgm:pt>
  </dgm:ptLst>
  <dgm:cxnLst>
    <dgm:cxn modelId="{D2A03D0B-DC53-479C-929E-6B88C94A93BE}" type="presOf" srcId="{E4304E48-DF47-4E88-AD9A-81DC5B4CD25D}" destId="{1CE4D90C-292C-41C3-848F-A1E30034021D}" srcOrd="0" destOrd="0" presId="urn:microsoft.com/office/officeart/2005/8/layout/chevron1"/>
    <dgm:cxn modelId="{9DB33B13-3665-4CA5-8C11-FBA1338BA159}" type="presOf" srcId="{5353EB27-198A-4818-AFD7-90BDA97316B8}" destId="{025E2F03-C551-4493-A687-CD3417E2384A}" srcOrd="0" destOrd="0" presId="urn:microsoft.com/office/officeart/2005/8/layout/chevron1"/>
    <dgm:cxn modelId="{5B269E1F-08F0-49F1-B6AA-740189B5C818}" srcId="{E4304E48-DF47-4E88-AD9A-81DC5B4CD25D}" destId="{FCC9DB38-6112-40BC-890B-4B8D2E3B4BB9}" srcOrd="2" destOrd="0" parTransId="{9B98BA4E-9870-46B6-887F-8FE139F2A02A}" sibTransId="{20168619-1A4B-42CC-AAB4-ABCD5A7FB5E9}"/>
    <dgm:cxn modelId="{03C95796-E75E-4F56-977B-FE8C3814717B}" type="presOf" srcId="{54AEF2C2-A484-4286-B4E2-71FE5C0E06DE}" destId="{C4353E05-2DEB-4893-BC28-99BEF4642CA6}" srcOrd="0" destOrd="0" presId="urn:microsoft.com/office/officeart/2005/8/layout/chevron1"/>
    <dgm:cxn modelId="{2C643AA6-626C-486A-81BE-E749DAD4C49A}" type="presOf" srcId="{FCC9DB38-6112-40BC-890B-4B8D2E3B4BB9}" destId="{0B4317F5-604A-4DA7-A533-93CF5F8FE0C7}" srcOrd="0" destOrd="0" presId="urn:microsoft.com/office/officeart/2005/8/layout/chevron1"/>
    <dgm:cxn modelId="{F2E0F1C3-D0AD-4664-BCB8-EB44FC8D888F}" srcId="{E4304E48-DF47-4E88-AD9A-81DC5B4CD25D}" destId="{54AEF2C2-A484-4286-B4E2-71FE5C0E06DE}" srcOrd="1" destOrd="0" parTransId="{28C8E079-B283-4DEF-8E88-CC809E99F7DC}" sibTransId="{21CFA1C2-5AAE-493E-8BC5-5B7D1C4DA580}"/>
    <dgm:cxn modelId="{866EBCF9-BB94-4C6E-BE2E-337D89C824FA}" srcId="{E4304E48-DF47-4E88-AD9A-81DC5B4CD25D}" destId="{5353EB27-198A-4818-AFD7-90BDA97316B8}" srcOrd="0" destOrd="0" parTransId="{41ED5CA0-D301-439B-987B-9CAF6658A166}" sibTransId="{5606C3AD-C7C0-48A4-8AAB-A0A55CB32CC6}"/>
    <dgm:cxn modelId="{93110D14-C3F4-40A0-8F83-2B0EC7BA5ABA}" type="presParOf" srcId="{1CE4D90C-292C-41C3-848F-A1E30034021D}" destId="{025E2F03-C551-4493-A687-CD3417E2384A}" srcOrd="0" destOrd="0" presId="urn:microsoft.com/office/officeart/2005/8/layout/chevron1"/>
    <dgm:cxn modelId="{8B32ED75-8F2F-473A-8D9B-F0202F93A97D}" type="presParOf" srcId="{1CE4D90C-292C-41C3-848F-A1E30034021D}" destId="{963DD119-506F-46D6-A94C-85F8AA6CE770}" srcOrd="1" destOrd="0" presId="urn:microsoft.com/office/officeart/2005/8/layout/chevron1"/>
    <dgm:cxn modelId="{BF395AB3-E665-4489-8D0C-6DA54EF2356E}" type="presParOf" srcId="{1CE4D90C-292C-41C3-848F-A1E30034021D}" destId="{C4353E05-2DEB-4893-BC28-99BEF4642CA6}" srcOrd="2" destOrd="0" presId="urn:microsoft.com/office/officeart/2005/8/layout/chevron1"/>
    <dgm:cxn modelId="{132A1944-1521-4900-87CC-0067231996BF}" type="presParOf" srcId="{1CE4D90C-292C-41C3-848F-A1E30034021D}" destId="{04B758A8-B8AB-4A82-90E6-6E13D7856440}" srcOrd="3" destOrd="0" presId="urn:microsoft.com/office/officeart/2005/8/layout/chevron1"/>
    <dgm:cxn modelId="{56A3BB00-BDF7-4014-90DD-931DC8CD6236}" type="presParOf" srcId="{1CE4D90C-292C-41C3-848F-A1E30034021D}" destId="{0B4317F5-604A-4DA7-A533-93CF5F8FE0C7}"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F3E882-994F-4CCB-9EEA-5A4F25E1A804}"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en-US"/>
        </a:p>
      </dgm:t>
    </dgm:pt>
    <dgm:pt modelId="{766E779E-5AFE-486A-ADA2-47E853205121}">
      <dgm:prSet phldrT="[Text]" custT="1"/>
      <dgm:spPr>
        <a:xfrm>
          <a:off x="392894" y="10927"/>
          <a:ext cx="2289245" cy="1373547"/>
        </a:xfrm>
        <a:prstGeom prst="rect">
          <a:avLst/>
        </a:prstGeom>
        <a:gradFill rotWithShape="0">
          <a:gsLst>
            <a:gs pos="0">
              <a:srgbClr val="00BDB7">
                <a:hueOff val="0"/>
                <a:satOff val="0"/>
                <a:lumOff val="0"/>
                <a:alphaOff val="0"/>
                <a:satMod val="103000"/>
                <a:lumMod val="102000"/>
                <a:tint val="94000"/>
              </a:srgbClr>
            </a:gs>
            <a:gs pos="50000">
              <a:srgbClr val="00BDB7">
                <a:hueOff val="0"/>
                <a:satOff val="0"/>
                <a:lumOff val="0"/>
                <a:alphaOff val="0"/>
                <a:satMod val="110000"/>
                <a:lumMod val="100000"/>
                <a:shade val="100000"/>
              </a:srgbClr>
            </a:gs>
            <a:gs pos="100000">
              <a:srgbClr val="00BDB7">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a:solidFill>
                <a:srgbClr val="FFFFFF"/>
              </a:solidFill>
              <a:latin typeface="Arial" panose="020B0604020202020204"/>
              <a:ea typeface="+mn-ea"/>
              <a:cs typeface="+mn-cs"/>
            </a:rPr>
            <a:t>Brand Family</a:t>
          </a:r>
          <a:br>
            <a:rPr lang="en-US" sz="2400">
              <a:solidFill>
                <a:srgbClr val="FFFFFF"/>
              </a:solidFill>
              <a:latin typeface="Arial" panose="020B0604020202020204"/>
              <a:ea typeface="+mn-ea"/>
              <a:cs typeface="+mn-cs"/>
            </a:rPr>
          </a:br>
          <a:r>
            <a:rPr lang="en-US" sz="1200" u="none" strike="noStrike">
              <a:solidFill>
                <a:srgbClr val="FFFFFF"/>
              </a:solidFill>
              <a:effectLst/>
              <a:latin typeface="Arial" panose="020B0604020202020204"/>
              <a:ea typeface="+mn-ea"/>
              <a:cs typeface="+mn-cs"/>
            </a:rPr>
            <a:t>Brand family name (drop down and will convert to key in the cell once you press enter – copy possible). </a:t>
          </a:r>
          <a:endParaRPr lang="en-US" sz="2400">
            <a:solidFill>
              <a:srgbClr val="FFFFFF"/>
            </a:solidFill>
            <a:latin typeface="Arial" panose="020B0604020202020204"/>
            <a:ea typeface="+mn-ea"/>
            <a:cs typeface="+mn-cs"/>
          </a:endParaRPr>
        </a:p>
      </dgm:t>
    </dgm:pt>
    <dgm:pt modelId="{0EBD472F-54E4-40D8-9974-D493C76230E0}" type="parTrans" cxnId="{AC7D1887-0D90-4C87-9B6C-1F192F519543}">
      <dgm:prSet/>
      <dgm:spPr/>
      <dgm:t>
        <a:bodyPr/>
        <a:lstStyle/>
        <a:p>
          <a:endParaRPr lang="en-US">
            <a:latin typeface="+mj-lt"/>
          </a:endParaRPr>
        </a:p>
      </dgm:t>
    </dgm:pt>
    <dgm:pt modelId="{02EDA65C-E970-4AD0-99CF-34170122ECF7}" type="sibTrans" cxnId="{AC7D1887-0D90-4C87-9B6C-1F192F519543}">
      <dgm:prSet/>
      <dgm:spPr/>
      <dgm:t>
        <a:bodyPr/>
        <a:lstStyle/>
        <a:p>
          <a:endParaRPr lang="en-US">
            <a:latin typeface="+mj-lt"/>
          </a:endParaRPr>
        </a:p>
      </dgm:t>
    </dgm:pt>
    <dgm:pt modelId="{07BD91B0-03B2-45C4-98D0-55AF2F384680}">
      <dgm:prSet phldrT="[Text]" custT="1"/>
      <dgm:spPr>
        <a:xfrm>
          <a:off x="2911064" y="1229"/>
          <a:ext cx="2289245" cy="1373547"/>
        </a:xfrm>
        <a:prstGeom prst="rect">
          <a:avLst/>
        </a:prstGeom>
        <a:gradFill rotWithShape="0">
          <a:gsLst>
            <a:gs pos="0">
              <a:srgbClr val="00BDB7">
                <a:hueOff val="-155196"/>
                <a:satOff val="-6522"/>
                <a:lumOff val="3922"/>
                <a:alphaOff val="0"/>
                <a:satMod val="103000"/>
                <a:lumMod val="102000"/>
                <a:tint val="94000"/>
              </a:srgbClr>
            </a:gs>
            <a:gs pos="50000">
              <a:srgbClr val="00BDB7">
                <a:hueOff val="-155196"/>
                <a:satOff val="-6522"/>
                <a:lumOff val="3922"/>
                <a:alphaOff val="0"/>
                <a:satMod val="110000"/>
                <a:lumMod val="100000"/>
                <a:shade val="100000"/>
              </a:srgbClr>
            </a:gs>
            <a:gs pos="100000">
              <a:srgbClr val="00BDB7">
                <a:hueOff val="-155196"/>
                <a:satOff val="-6522"/>
                <a:lumOff val="3922"/>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a:solidFill>
                <a:srgbClr val="FFFFFF"/>
              </a:solidFill>
              <a:latin typeface="Arial" panose="020B0604020202020204"/>
              <a:ea typeface="+mn-ea"/>
              <a:cs typeface="+mn-cs"/>
            </a:rPr>
            <a:t>Product Type</a:t>
          </a:r>
          <a:br>
            <a:rPr lang="en-US" sz="2400">
              <a:solidFill>
                <a:srgbClr val="FFFFFF"/>
              </a:solidFill>
              <a:latin typeface="Arial" panose="020B0604020202020204"/>
              <a:ea typeface="+mn-ea"/>
              <a:cs typeface="+mn-cs"/>
            </a:rPr>
          </a:br>
          <a:r>
            <a:rPr lang="en-US" sz="1200" u="none" strike="noStrike">
              <a:solidFill>
                <a:srgbClr val="FFFFFF"/>
              </a:solidFill>
              <a:effectLst/>
              <a:latin typeface="Arial" panose="020B0604020202020204"/>
              <a:ea typeface="+mn-ea"/>
              <a:cs typeface="+mn-cs"/>
            </a:rPr>
            <a:t>Drop down for product type with product type key only – no description</a:t>
          </a:r>
          <a:endParaRPr lang="en-US" sz="2400">
            <a:solidFill>
              <a:srgbClr val="FFFFFF"/>
            </a:solidFill>
            <a:latin typeface="Arial" panose="020B0604020202020204"/>
            <a:ea typeface="+mn-ea"/>
            <a:cs typeface="+mn-cs"/>
          </a:endParaRPr>
        </a:p>
      </dgm:t>
    </dgm:pt>
    <dgm:pt modelId="{238DD68C-02D4-4C41-8CF9-BE30792942FA}" type="parTrans" cxnId="{E0E8E276-1553-4C88-A277-5E65FA55938F}">
      <dgm:prSet/>
      <dgm:spPr/>
      <dgm:t>
        <a:bodyPr/>
        <a:lstStyle/>
        <a:p>
          <a:endParaRPr lang="en-US">
            <a:latin typeface="+mj-lt"/>
          </a:endParaRPr>
        </a:p>
      </dgm:t>
    </dgm:pt>
    <dgm:pt modelId="{4140150A-2873-4550-8B91-7E22876D246B}" type="sibTrans" cxnId="{E0E8E276-1553-4C88-A277-5E65FA55938F}">
      <dgm:prSet/>
      <dgm:spPr/>
      <dgm:t>
        <a:bodyPr/>
        <a:lstStyle/>
        <a:p>
          <a:endParaRPr lang="en-US">
            <a:latin typeface="+mj-lt"/>
          </a:endParaRPr>
        </a:p>
      </dgm:t>
    </dgm:pt>
    <dgm:pt modelId="{3BCCAF3B-05E7-4A6E-8A20-4CDE292E9B54}">
      <dgm:prSet phldrT="[Text]" custT="1"/>
      <dgm:spPr>
        <a:xfrm>
          <a:off x="392894" y="1603701"/>
          <a:ext cx="2289245" cy="1373547"/>
        </a:xfrm>
        <a:prstGeom prst="rect">
          <a:avLst/>
        </a:prstGeom>
        <a:gradFill rotWithShape="0">
          <a:gsLst>
            <a:gs pos="0">
              <a:srgbClr val="00BDB7">
                <a:hueOff val="-465587"/>
                <a:satOff val="-19565"/>
                <a:lumOff val="11765"/>
                <a:alphaOff val="0"/>
                <a:satMod val="103000"/>
                <a:lumMod val="102000"/>
                <a:tint val="94000"/>
              </a:srgbClr>
            </a:gs>
            <a:gs pos="50000">
              <a:srgbClr val="00BDB7">
                <a:hueOff val="-465587"/>
                <a:satOff val="-19565"/>
                <a:lumOff val="11765"/>
                <a:alphaOff val="0"/>
                <a:satMod val="110000"/>
                <a:lumMod val="100000"/>
                <a:shade val="100000"/>
              </a:srgbClr>
            </a:gs>
            <a:gs pos="100000">
              <a:srgbClr val="00BDB7">
                <a:hueOff val="-465587"/>
                <a:satOff val="-19565"/>
                <a:lumOff val="11765"/>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000" u="none" strike="noStrike">
              <a:solidFill>
                <a:srgbClr val="FFFFFF"/>
              </a:solidFill>
              <a:effectLst/>
              <a:latin typeface="Arial" panose="020B0604020202020204"/>
              <a:ea typeface="+mn-ea"/>
              <a:cs typeface="+mn-cs"/>
            </a:rPr>
            <a:t>Internal Order, WBS element, WBS COPA</a:t>
          </a:r>
        </a:p>
        <a:p>
          <a:pPr>
            <a:buNone/>
          </a:pPr>
          <a:r>
            <a:rPr lang="en-US" sz="1200" u="none" strike="noStrike">
              <a:solidFill>
                <a:srgbClr val="FFFFFF"/>
              </a:solidFill>
              <a:effectLst/>
              <a:latin typeface="Arial" panose="020B0604020202020204"/>
              <a:ea typeface="+mn-ea"/>
              <a:cs typeface="+mn-cs"/>
            </a:rPr>
            <a:t>Only one of the following fields should be populated for any given line item</a:t>
          </a:r>
          <a:endParaRPr lang="en-US" sz="1200">
            <a:solidFill>
              <a:srgbClr val="FFFFFF"/>
            </a:solidFill>
            <a:latin typeface="Arial" panose="020B0604020202020204"/>
            <a:ea typeface="+mn-ea"/>
            <a:cs typeface="+mn-cs"/>
          </a:endParaRPr>
        </a:p>
      </dgm:t>
    </dgm:pt>
    <dgm:pt modelId="{BE3673D5-DBA7-4A5B-866C-9DC5A3740CE2}" type="parTrans" cxnId="{B6716DB5-904F-4014-A00C-213431C89CAC}">
      <dgm:prSet/>
      <dgm:spPr/>
      <dgm:t>
        <a:bodyPr/>
        <a:lstStyle/>
        <a:p>
          <a:endParaRPr lang="en-US">
            <a:latin typeface="+mj-lt"/>
          </a:endParaRPr>
        </a:p>
      </dgm:t>
    </dgm:pt>
    <dgm:pt modelId="{3432F0B4-D4E1-4044-9A13-7C243493F0D5}" type="sibTrans" cxnId="{B6716DB5-904F-4014-A00C-213431C89CAC}">
      <dgm:prSet/>
      <dgm:spPr/>
      <dgm:t>
        <a:bodyPr/>
        <a:lstStyle/>
        <a:p>
          <a:endParaRPr lang="en-US">
            <a:latin typeface="+mj-lt"/>
          </a:endParaRPr>
        </a:p>
      </dgm:t>
    </dgm:pt>
    <dgm:pt modelId="{631BCA03-00F4-4FAB-B606-87DE274663A9}">
      <dgm:prSet phldrT="[Text]" custT="1"/>
      <dgm:spPr>
        <a:xfrm>
          <a:off x="2911064" y="1603701"/>
          <a:ext cx="2289245" cy="1373547"/>
        </a:xfrm>
        <a:prstGeom prst="rect">
          <a:avLst/>
        </a:prstGeom>
        <a:gradFill rotWithShape="0">
          <a:gsLst>
            <a:gs pos="0">
              <a:srgbClr val="00BDB7">
                <a:hueOff val="-620783"/>
                <a:satOff val="-26087"/>
                <a:lumOff val="15686"/>
                <a:alphaOff val="0"/>
                <a:satMod val="103000"/>
                <a:lumMod val="102000"/>
                <a:tint val="94000"/>
              </a:srgbClr>
            </a:gs>
            <a:gs pos="50000">
              <a:srgbClr val="00BDB7">
                <a:hueOff val="-620783"/>
                <a:satOff val="-26087"/>
                <a:lumOff val="15686"/>
                <a:alphaOff val="0"/>
                <a:satMod val="110000"/>
                <a:lumMod val="100000"/>
                <a:shade val="100000"/>
              </a:srgbClr>
            </a:gs>
            <a:gs pos="100000">
              <a:srgbClr val="00BDB7">
                <a:hueOff val="-620783"/>
                <a:satOff val="-26087"/>
                <a:lumOff val="15686"/>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u="none" strike="noStrike">
              <a:solidFill>
                <a:srgbClr val="FFFFFF"/>
              </a:solidFill>
              <a:effectLst/>
              <a:latin typeface="Arial" panose="020B0604020202020204"/>
              <a:ea typeface="+mn-ea"/>
              <a:cs typeface="+mn-cs"/>
            </a:rPr>
            <a:t>UOM</a:t>
          </a:r>
          <a:br>
            <a:rPr lang="en-US" sz="2400" u="none" strike="noStrike">
              <a:solidFill>
                <a:srgbClr val="FF0000"/>
              </a:solidFill>
              <a:effectLst/>
              <a:latin typeface="Arial" panose="020B0604020202020204"/>
              <a:ea typeface="+mn-ea"/>
              <a:cs typeface="+mn-cs"/>
            </a:rPr>
          </a:br>
          <a:r>
            <a:rPr lang="ru-RU" sz="1200" err="1">
              <a:solidFill>
                <a:srgbClr val="FFFFFF"/>
              </a:solidFill>
              <a:latin typeface="Arial" panose="020B0604020202020204"/>
              <a:ea typeface="+mn-ea"/>
              <a:cs typeface="+mn-cs"/>
            </a:rPr>
            <a:t>Drop</a:t>
          </a:r>
          <a:r>
            <a:rPr lang="ru-RU" sz="1200">
              <a:solidFill>
                <a:srgbClr val="FFFFFF"/>
              </a:solidFill>
              <a:latin typeface="Arial" panose="020B0604020202020204"/>
              <a:ea typeface="+mn-ea"/>
              <a:cs typeface="+mn-cs"/>
            </a:rPr>
            <a:t> </a:t>
          </a:r>
          <a:r>
            <a:rPr lang="ru-RU" sz="1200" err="1">
              <a:solidFill>
                <a:srgbClr val="FFFFFF"/>
              </a:solidFill>
              <a:latin typeface="Arial" panose="020B0604020202020204"/>
              <a:ea typeface="+mn-ea"/>
              <a:cs typeface="+mn-cs"/>
            </a:rPr>
            <a:t>down</a:t>
          </a:r>
          <a:r>
            <a:rPr lang="ru-RU" sz="1200">
              <a:solidFill>
                <a:srgbClr val="FFFFFF"/>
              </a:solidFill>
              <a:latin typeface="Arial" panose="020B0604020202020204"/>
              <a:ea typeface="+mn-ea"/>
              <a:cs typeface="+mn-cs"/>
            </a:rPr>
            <a:t> </a:t>
          </a:r>
          <a:r>
            <a:rPr lang="ru-RU" sz="1200" err="1">
              <a:solidFill>
                <a:srgbClr val="FFFFFF"/>
              </a:solidFill>
              <a:latin typeface="Arial" panose="020B0604020202020204"/>
              <a:ea typeface="+mn-ea"/>
              <a:cs typeface="+mn-cs"/>
            </a:rPr>
            <a:t>included</a:t>
          </a:r>
          <a:r>
            <a:rPr lang="ru-RU" sz="1200">
              <a:solidFill>
                <a:srgbClr val="FFFFFF"/>
              </a:solidFill>
              <a:latin typeface="Arial" panose="020B0604020202020204"/>
              <a:ea typeface="+mn-ea"/>
              <a:cs typeface="+mn-cs"/>
            </a:rPr>
            <a:t> </a:t>
          </a:r>
          <a:r>
            <a:rPr lang="ru-RU" sz="1200" err="1">
              <a:solidFill>
                <a:srgbClr val="FFFFFF"/>
              </a:solidFill>
              <a:latin typeface="Arial" panose="020B0604020202020204"/>
              <a:ea typeface="+mn-ea"/>
              <a:cs typeface="+mn-cs"/>
            </a:rPr>
            <a:t>with</a:t>
          </a:r>
          <a:r>
            <a:rPr lang="ru-RU" sz="1200">
              <a:solidFill>
                <a:srgbClr val="FFFFFF"/>
              </a:solidFill>
              <a:latin typeface="Arial" panose="020B0604020202020204"/>
              <a:ea typeface="+mn-ea"/>
              <a:cs typeface="+mn-cs"/>
            </a:rPr>
            <a:t> </a:t>
          </a:r>
          <a:r>
            <a:rPr lang="ru-RU" sz="1200" err="1">
              <a:solidFill>
                <a:srgbClr val="FFFFFF"/>
              </a:solidFill>
              <a:latin typeface="Arial" panose="020B0604020202020204"/>
              <a:ea typeface="+mn-ea"/>
              <a:cs typeface="+mn-cs"/>
            </a:rPr>
            <a:t>values</a:t>
          </a:r>
          <a:r>
            <a:rPr lang="ru-RU" sz="1200">
              <a:solidFill>
                <a:srgbClr val="FFFFFF"/>
              </a:solidFill>
              <a:latin typeface="Arial" panose="020B0604020202020204"/>
              <a:ea typeface="+mn-ea"/>
              <a:cs typeface="+mn-cs"/>
            </a:rPr>
            <a:t> KU, KG, UN, CS, PAC, PAL &amp; CAR</a:t>
          </a:r>
          <a:br>
            <a:rPr lang="en-US" sz="1200" u="none" strike="noStrike">
              <a:solidFill>
                <a:srgbClr val="FF0000"/>
              </a:solidFill>
              <a:effectLst/>
              <a:latin typeface="Arial" panose="020B0604020202020204"/>
              <a:ea typeface="+mn-ea"/>
              <a:cs typeface="+mn-cs"/>
            </a:rPr>
          </a:br>
          <a:endParaRPr lang="en-US" sz="2400">
            <a:solidFill>
              <a:srgbClr val="FF0000"/>
            </a:solidFill>
            <a:latin typeface="Arial" panose="020B0604020202020204"/>
            <a:ea typeface="+mn-ea"/>
            <a:cs typeface="+mn-cs"/>
          </a:endParaRPr>
        </a:p>
      </dgm:t>
    </dgm:pt>
    <dgm:pt modelId="{B23E85D4-AED1-42AF-B204-A33F44638D4B}" type="parTrans" cxnId="{EFB7CFEB-C783-4A7A-8DBF-D4AF360FB835}">
      <dgm:prSet/>
      <dgm:spPr/>
      <dgm:t>
        <a:bodyPr/>
        <a:lstStyle/>
        <a:p>
          <a:endParaRPr lang="en-US">
            <a:latin typeface="+mj-lt"/>
          </a:endParaRPr>
        </a:p>
      </dgm:t>
    </dgm:pt>
    <dgm:pt modelId="{848080F9-E87C-4818-A0AD-D73D29CA8739}" type="sibTrans" cxnId="{EFB7CFEB-C783-4A7A-8DBF-D4AF360FB835}">
      <dgm:prSet/>
      <dgm:spPr/>
      <dgm:t>
        <a:bodyPr/>
        <a:lstStyle/>
        <a:p>
          <a:endParaRPr lang="en-US">
            <a:latin typeface="+mj-lt"/>
          </a:endParaRPr>
        </a:p>
      </dgm:t>
    </dgm:pt>
    <dgm:pt modelId="{CF73F279-E329-4F4F-A2B4-64EF3694CE8E}">
      <dgm:prSet phldrT="[Text]" custT="1"/>
      <dgm:spPr>
        <a:xfrm>
          <a:off x="5429234" y="1603701"/>
          <a:ext cx="2289245" cy="1373547"/>
        </a:xfrm>
        <a:prstGeom prst="rect">
          <a:avLst/>
        </a:prstGeom>
        <a:gradFill rotWithShape="0">
          <a:gsLst>
            <a:gs pos="0">
              <a:srgbClr val="00BDB7">
                <a:hueOff val="-775979"/>
                <a:satOff val="-32608"/>
                <a:lumOff val="19608"/>
                <a:alphaOff val="0"/>
                <a:satMod val="103000"/>
                <a:lumMod val="102000"/>
                <a:tint val="94000"/>
              </a:srgbClr>
            </a:gs>
            <a:gs pos="50000">
              <a:srgbClr val="00BDB7">
                <a:hueOff val="-775979"/>
                <a:satOff val="-32608"/>
                <a:lumOff val="19608"/>
                <a:alphaOff val="0"/>
                <a:satMod val="110000"/>
                <a:lumMod val="100000"/>
                <a:shade val="100000"/>
              </a:srgbClr>
            </a:gs>
            <a:gs pos="100000">
              <a:srgbClr val="00BDB7">
                <a:hueOff val="-775979"/>
                <a:satOff val="-32608"/>
                <a:lumOff val="19608"/>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u="none" strike="noStrike">
              <a:solidFill>
                <a:srgbClr val="FFFFFF"/>
              </a:solidFill>
              <a:effectLst/>
              <a:latin typeface="Arial" panose="020B0604020202020204"/>
              <a:ea typeface="+mn-ea"/>
              <a:cs typeface="+mn-cs"/>
            </a:rPr>
            <a:t>UoM and Quantity</a:t>
          </a:r>
        </a:p>
        <a:p>
          <a:pPr>
            <a:buNone/>
          </a:pPr>
          <a:r>
            <a:rPr lang="en-US" sz="1200" u="none" strike="noStrike">
              <a:solidFill>
                <a:srgbClr val="FFFFFF"/>
              </a:solidFill>
              <a:effectLst/>
              <a:latin typeface="Arial" panose="020B0604020202020204"/>
              <a:ea typeface="+mn-ea"/>
              <a:cs typeface="+mn-cs"/>
            </a:rPr>
            <a:t>If UoM is populated, quantity is required and vice versa</a:t>
          </a:r>
          <a:endParaRPr lang="en-US" sz="1200">
            <a:solidFill>
              <a:srgbClr val="FFFFFF"/>
            </a:solidFill>
            <a:latin typeface="Arial" panose="020B0604020202020204"/>
            <a:ea typeface="+mn-ea"/>
            <a:cs typeface="+mn-cs"/>
          </a:endParaRPr>
        </a:p>
      </dgm:t>
    </dgm:pt>
    <dgm:pt modelId="{13DD7CC7-067E-47F5-A0FB-FDD133E1624E}" type="parTrans" cxnId="{A162A7BA-EE8B-4149-A39F-E806740BB1E2}">
      <dgm:prSet/>
      <dgm:spPr/>
      <dgm:t>
        <a:bodyPr/>
        <a:lstStyle/>
        <a:p>
          <a:endParaRPr lang="en-US">
            <a:latin typeface="+mj-lt"/>
          </a:endParaRPr>
        </a:p>
      </dgm:t>
    </dgm:pt>
    <dgm:pt modelId="{AC7708D3-B19A-4460-992F-25EED68FFE25}" type="sibTrans" cxnId="{A162A7BA-EE8B-4149-A39F-E806740BB1E2}">
      <dgm:prSet/>
      <dgm:spPr/>
      <dgm:t>
        <a:bodyPr/>
        <a:lstStyle/>
        <a:p>
          <a:endParaRPr lang="en-US">
            <a:latin typeface="+mj-lt"/>
          </a:endParaRPr>
        </a:p>
      </dgm:t>
    </dgm:pt>
    <dgm:pt modelId="{2227078B-62ED-4604-8364-E31DF72423AC}">
      <dgm:prSet phldrT="[Text]" custT="1"/>
      <dgm:spPr>
        <a:xfrm>
          <a:off x="5429234" y="1229"/>
          <a:ext cx="2289245" cy="1373547"/>
        </a:xfrm>
        <a:prstGeom prst="rect">
          <a:avLst/>
        </a:prstGeom>
        <a:gradFill rotWithShape="0">
          <a:gsLst>
            <a:gs pos="0">
              <a:srgbClr val="00BDB7">
                <a:hueOff val="-310391"/>
                <a:satOff val="-13043"/>
                <a:lumOff val="7843"/>
                <a:alphaOff val="0"/>
                <a:satMod val="103000"/>
                <a:lumMod val="102000"/>
                <a:tint val="94000"/>
              </a:srgbClr>
            </a:gs>
            <a:gs pos="50000">
              <a:srgbClr val="00BDB7">
                <a:hueOff val="-310391"/>
                <a:satOff val="-13043"/>
                <a:lumOff val="7843"/>
                <a:alphaOff val="0"/>
                <a:satMod val="110000"/>
                <a:lumMod val="100000"/>
                <a:shade val="100000"/>
              </a:srgbClr>
            </a:gs>
            <a:gs pos="100000">
              <a:srgbClr val="00BDB7">
                <a:hueOff val="-310391"/>
                <a:satOff val="-13043"/>
                <a:lumOff val="7843"/>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u="none" strike="noStrike">
              <a:solidFill>
                <a:srgbClr val="FFFFFF"/>
              </a:solidFill>
              <a:effectLst/>
              <a:latin typeface="Arial" panose="020B0604020202020204"/>
              <a:ea typeface="+mn-ea"/>
              <a:cs typeface="+mn-cs"/>
            </a:rPr>
            <a:t>Brand Family &amp;Product Type</a:t>
          </a:r>
          <a:br>
            <a:rPr lang="en-US" sz="2400" u="none" strike="noStrike">
              <a:solidFill>
                <a:srgbClr val="FFFFFF"/>
              </a:solidFill>
              <a:effectLst/>
              <a:latin typeface="Arial" panose="020B0604020202020204"/>
              <a:ea typeface="+mn-ea"/>
              <a:cs typeface="+mn-cs"/>
            </a:rPr>
          </a:br>
          <a:r>
            <a:rPr lang="en-US" sz="1200" u="none" strike="noStrike">
              <a:solidFill>
                <a:srgbClr val="FFFFFF"/>
              </a:solidFill>
              <a:effectLst/>
              <a:latin typeface="Arial" panose="020B0604020202020204"/>
              <a:ea typeface="+mn-ea"/>
              <a:cs typeface="+mn-cs"/>
            </a:rPr>
            <a:t>Brand family is populated, product type should be populated and vice versa </a:t>
          </a:r>
          <a:endParaRPr lang="en-US" sz="2400">
            <a:solidFill>
              <a:srgbClr val="FFFFFF"/>
            </a:solidFill>
            <a:latin typeface="Arial" panose="020B0604020202020204"/>
            <a:ea typeface="+mn-ea"/>
            <a:cs typeface="+mn-cs"/>
          </a:endParaRPr>
        </a:p>
      </dgm:t>
    </dgm:pt>
    <dgm:pt modelId="{D0168AE2-3D09-4C00-9402-A16F3D4206B5}" type="parTrans" cxnId="{4FBA1B05-99F8-494A-9FCE-2C2603A2F10B}">
      <dgm:prSet/>
      <dgm:spPr/>
      <dgm:t>
        <a:bodyPr/>
        <a:lstStyle/>
        <a:p>
          <a:endParaRPr lang="en-US">
            <a:latin typeface="+mj-lt"/>
          </a:endParaRPr>
        </a:p>
      </dgm:t>
    </dgm:pt>
    <dgm:pt modelId="{7C7ABCB0-D7E7-4B2D-A752-F4C5E7B0B716}" type="sibTrans" cxnId="{4FBA1B05-99F8-494A-9FCE-2C2603A2F10B}">
      <dgm:prSet/>
      <dgm:spPr/>
      <dgm:t>
        <a:bodyPr/>
        <a:lstStyle/>
        <a:p>
          <a:endParaRPr lang="en-US">
            <a:latin typeface="+mj-lt"/>
          </a:endParaRPr>
        </a:p>
      </dgm:t>
    </dgm:pt>
    <dgm:pt modelId="{FCBD009A-9162-40E7-9CE8-D33692EE2F0F}">
      <dgm:prSet phldrT="[Text]" custT="1"/>
      <dgm:spPr>
        <a:xfrm>
          <a:off x="392894" y="3206173"/>
          <a:ext cx="2289245" cy="1373547"/>
        </a:xfrm>
        <a:prstGeom prst="rect">
          <a:avLst/>
        </a:prstGeom>
        <a:gradFill rotWithShape="0">
          <a:gsLst>
            <a:gs pos="0">
              <a:srgbClr val="00BDB7">
                <a:hueOff val="-931174"/>
                <a:satOff val="-39130"/>
                <a:lumOff val="23529"/>
                <a:alphaOff val="0"/>
                <a:satMod val="103000"/>
                <a:lumMod val="102000"/>
                <a:tint val="94000"/>
              </a:srgbClr>
            </a:gs>
            <a:gs pos="50000">
              <a:srgbClr val="00BDB7">
                <a:hueOff val="-931174"/>
                <a:satOff val="-39130"/>
                <a:lumOff val="23529"/>
                <a:alphaOff val="0"/>
                <a:satMod val="110000"/>
                <a:lumMod val="100000"/>
                <a:shade val="100000"/>
              </a:srgbClr>
            </a:gs>
            <a:gs pos="100000">
              <a:srgbClr val="00BDB7">
                <a:hueOff val="-931174"/>
                <a:satOff val="-39130"/>
                <a:lumOff val="23529"/>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b="0">
              <a:solidFill>
                <a:srgbClr val="FFFFFF"/>
              </a:solidFill>
              <a:effectLst/>
              <a:latin typeface="Arial" panose="020B0604020202020204"/>
              <a:ea typeface="+mn-ea"/>
              <a:cs typeface="+mn-cs"/>
            </a:rPr>
            <a:t>Material</a:t>
          </a:r>
        </a:p>
        <a:p>
          <a:pPr>
            <a:buNone/>
          </a:pPr>
          <a:r>
            <a:rPr lang="en-US" sz="1200">
              <a:solidFill>
                <a:srgbClr val="FFFFFF"/>
              </a:solidFill>
              <a:latin typeface="Arial" panose="020B0604020202020204"/>
              <a:ea typeface="+mn-ea"/>
              <a:cs typeface="+mn-cs"/>
            </a:rPr>
            <a:t>Material is populated, brand family and product type should be greyed out and vice versa</a:t>
          </a:r>
        </a:p>
      </dgm:t>
    </dgm:pt>
    <dgm:pt modelId="{382FD5B6-5E5B-49F4-8DA3-C0E067B00EF7}" type="parTrans" cxnId="{2B694ECB-85A6-4B04-B58A-1AF0E60B6BC5}">
      <dgm:prSet/>
      <dgm:spPr/>
      <dgm:t>
        <a:bodyPr/>
        <a:lstStyle/>
        <a:p>
          <a:endParaRPr lang="en-US">
            <a:latin typeface="+mj-lt"/>
          </a:endParaRPr>
        </a:p>
      </dgm:t>
    </dgm:pt>
    <dgm:pt modelId="{97FA82D7-111A-4D4B-8F41-C39FC44A51F4}" type="sibTrans" cxnId="{2B694ECB-85A6-4B04-B58A-1AF0E60B6BC5}">
      <dgm:prSet/>
      <dgm:spPr/>
      <dgm:t>
        <a:bodyPr/>
        <a:lstStyle/>
        <a:p>
          <a:endParaRPr lang="en-US">
            <a:latin typeface="+mj-lt"/>
          </a:endParaRPr>
        </a:p>
      </dgm:t>
    </dgm:pt>
    <dgm:pt modelId="{62E6E278-3E7C-4183-B7E3-6705DEAD9C35}">
      <dgm:prSet phldrT="[Text]" custT="1"/>
      <dgm:spPr>
        <a:xfrm>
          <a:off x="2911064" y="3206173"/>
          <a:ext cx="2289245" cy="1373547"/>
        </a:xfrm>
        <a:prstGeom prst="rect">
          <a:avLst/>
        </a:prstGeom>
        <a:gradFill rotWithShape="0">
          <a:gsLst>
            <a:gs pos="0">
              <a:srgbClr val="00BDB7">
                <a:hueOff val="-1086370"/>
                <a:satOff val="-45651"/>
                <a:lumOff val="27451"/>
                <a:alphaOff val="0"/>
                <a:satMod val="103000"/>
                <a:lumMod val="102000"/>
                <a:tint val="94000"/>
              </a:srgbClr>
            </a:gs>
            <a:gs pos="50000">
              <a:srgbClr val="00BDB7">
                <a:hueOff val="-1086370"/>
                <a:satOff val="-45651"/>
                <a:lumOff val="27451"/>
                <a:alphaOff val="0"/>
                <a:satMod val="110000"/>
                <a:lumMod val="100000"/>
                <a:shade val="100000"/>
              </a:srgbClr>
            </a:gs>
            <a:gs pos="100000">
              <a:srgbClr val="00BDB7">
                <a:hueOff val="-1086370"/>
                <a:satOff val="-45651"/>
                <a:lumOff val="27451"/>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u="none" strike="noStrike">
              <a:solidFill>
                <a:srgbClr val="FFFFFF"/>
              </a:solidFill>
              <a:effectLst/>
              <a:latin typeface="Arial" panose="020B0604020202020204"/>
              <a:ea typeface="+mn-ea"/>
              <a:cs typeface="+mn-cs"/>
            </a:rPr>
            <a:t>Trade Channel</a:t>
          </a:r>
        </a:p>
        <a:p>
          <a:pPr>
            <a:buNone/>
          </a:pPr>
          <a:r>
            <a:rPr lang="en-US" sz="1200" u="none" strike="noStrike">
              <a:solidFill>
                <a:srgbClr val="FFFFFF"/>
              </a:solidFill>
              <a:effectLst/>
              <a:latin typeface="Arial" panose="020B0604020202020204"/>
              <a:ea typeface="+mn-ea"/>
              <a:cs typeface="+mn-cs"/>
            </a:rPr>
            <a:t>2 options will be available in drop down “Online” vs “Offline”</a:t>
          </a:r>
          <a:endParaRPr lang="en-US" sz="1200">
            <a:solidFill>
              <a:srgbClr val="FFFFFF"/>
            </a:solidFill>
            <a:latin typeface="Arial" panose="020B0604020202020204"/>
            <a:ea typeface="+mn-ea"/>
            <a:cs typeface="+mn-cs"/>
          </a:endParaRPr>
        </a:p>
      </dgm:t>
    </dgm:pt>
    <dgm:pt modelId="{13F90918-54A0-4817-8FB2-1B31FFDFB17C}" type="parTrans" cxnId="{C6EF4885-67CE-4DF3-9BF1-1188CE44B092}">
      <dgm:prSet/>
      <dgm:spPr/>
      <dgm:t>
        <a:bodyPr/>
        <a:lstStyle/>
        <a:p>
          <a:endParaRPr lang="en-US">
            <a:latin typeface="+mj-lt"/>
          </a:endParaRPr>
        </a:p>
      </dgm:t>
    </dgm:pt>
    <dgm:pt modelId="{CA9E5922-1F2C-488E-A5EB-EEDD6932B3FE}" type="sibTrans" cxnId="{C6EF4885-67CE-4DF3-9BF1-1188CE44B092}">
      <dgm:prSet/>
      <dgm:spPr/>
      <dgm:t>
        <a:bodyPr/>
        <a:lstStyle/>
        <a:p>
          <a:endParaRPr lang="en-US">
            <a:latin typeface="+mj-lt"/>
          </a:endParaRPr>
        </a:p>
      </dgm:t>
    </dgm:pt>
    <dgm:pt modelId="{7B8E0DA0-5F99-4178-A387-042DDCF75B0C}">
      <dgm:prSet phldrT="[Text]" custT="1"/>
      <dgm:spPr>
        <a:xfrm>
          <a:off x="5429234" y="3206173"/>
          <a:ext cx="2289245" cy="1373547"/>
        </a:xfrm>
        <a:prstGeom prst="rect">
          <a:avLst/>
        </a:prstGeom>
        <a:gradFill rotWithShape="0">
          <a:gsLst>
            <a:gs pos="0">
              <a:srgbClr val="00BDB7">
                <a:hueOff val="-1241566"/>
                <a:satOff val="-52173"/>
                <a:lumOff val="31372"/>
                <a:alphaOff val="0"/>
                <a:satMod val="103000"/>
                <a:lumMod val="102000"/>
                <a:tint val="94000"/>
              </a:srgbClr>
            </a:gs>
            <a:gs pos="50000">
              <a:srgbClr val="00BDB7">
                <a:hueOff val="-1241566"/>
                <a:satOff val="-52173"/>
                <a:lumOff val="31372"/>
                <a:alphaOff val="0"/>
                <a:satMod val="110000"/>
                <a:lumMod val="100000"/>
                <a:shade val="100000"/>
              </a:srgbClr>
            </a:gs>
            <a:gs pos="100000">
              <a:srgbClr val="00BDB7">
                <a:hueOff val="-1241566"/>
                <a:satOff val="-52173"/>
                <a:lumOff val="31372"/>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en-US" sz="2400">
              <a:solidFill>
                <a:srgbClr val="FFFFFF"/>
              </a:solidFill>
              <a:effectLst/>
              <a:latin typeface="Arial" panose="020B0604020202020204"/>
              <a:ea typeface="+mn-ea"/>
              <a:cs typeface="+mn-cs"/>
            </a:rPr>
            <a:t>Granularity*</a:t>
          </a:r>
        </a:p>
        <a:p>
          <a:pPr>
            <a:buNone/>
          </a:pPr>
          <a:r>
            <a:rPr lang="en-US" sz="1200">
              <a:solidFill>
                <a:srgbClr val="FFFFFF"/>
              </a:solidFill>
              <a:effectLst/>
              <a:latin typeface="Arial" panose="020B0604020202020204"/>
              <a:ea typeface="+mn-ea"/>
              <a:cs typeface="+mn-cs"/>
            </a:rPr>
            <a:t>Granularity is determined by Field status group assigned to GL accounts at the company code level (button </a:t>
          </a:r>
          <a:r>
            <a:rPr lang="ru-RU" sz="1200">
              <a:solidFill>
                <a:srgbClr val="FFFFFF"/>
              </a:solidFill>
              <a:latin typeface="Arial" panose="020B0604020202020204"/>
              <a:ea typeface="+mn-ea"/>
              <a:cs typeface="+mn-cs"/>
            </a:rPr>
            <a:t>Check GL Accounts</a:t>
          </a:r>
          <a:r>
            <a:rPr lang="en-US" sz="1200">
              <a:solidFill>
                <a:srgbClr val="FFFFFF"/>
              </a:solidFill>
              <a:latin typeface="Arial" panose="020B0604020202020204"/>
              <a:ea typeface="+mn-ea"/>
              <a:cs typeface="+mn-cs"/>
            </a:rPr>
            <a:t>)</a:t>
          </a:r>
        </a:p>
      </dgm:t>
    </dgm:pt>
    <dgm:pt modelId="{413EF02E-3623-4E8F-B3CA-FDA905ADC458}" type="parTrans" cxnId="{A9DDAC46-7333-4BCE-B112-9181421734F3}">
      <dgm:prSet/>
      <dgm:spPr/>
      <dgm:t>
        <a:bodyPr/>
        <a:lstStyle/>
        <a:p>
          <a:endParaRPr lang="en-US">
            <a:latin typeface="+mj-lt"/>
          </a:endParaRPr>
        </a:p>
      </dgm:t>
    </dgm:pt>
    <dgm:pt modelId="{48F695F5-354D-4333-AD68-0790CBB1E763}" type="sibTrans" cxnId="{A9DDAC46-7333-4BCE-B112-9181421734F3}">
      <dgm:prSet/>
      <dgm:spPr/>
      <dgm:t>
        <a:bodyPr/>
        <a:lstStyle/>
        <a:p>
          <a:endParaRPr lang="en-US">
            <a:latin typeface="+mj-lt"/>
          </a:endParaRPr>
        </a:p>
      </dgm:t>
    </dgm:pt>
    <dgm:pt modelId="{F1000878-D1DB-42F3-8CF5-74DE8C075C8A}" type="pres">
      <dgm:prSet presAssocID="{90F3E882-994F-4CCB-9EEA-5A4F25E1A804}" presName="diagram" presStyleCnt="0">
        <dgm:presLayoutVars>
          <dgm:dir/>
          <dgm:resizeHandles val="exact"/>
        </dgm:presLayoutVars>
      </dgm:prSet>
      <dgm:spPr/>
    </dgm:pt>
    <dgm:pt modelId="{29FD0F5F-D488-4EBC-AAA9-1821A7DDBBED}" type="pres">
      <dgm:prSet presAssocID="{766E779E-5AFE-486A-ADA2-47E853205121}" presName="node" presStyleLbl="node1" presStyleIdx="0" presStyleCnt="9" custLinFactNeighborY="706">
        <dgm:presLayoutVars>
          <dgm:bulletEnabled val="1"/>
        </dgm:presLayoutVars>
      </dgm:prSet>
      <dgm:spPr/>
    </dgm:pt>
    <dgm:pt modelId="{F8F54B0F-90C7-4F4C-BD3C-6122ED421963}" type="pres">
      <dgm:prSet presAssocID="{02EDA65C-E970-4AD0-99CF-34170122ECF7}" presName="sibTrans" presStyleCnt="0"/>
      <dgm:spPr/>
    </dgm:pt>
    <dgm:pt modelId="{4CDA13CF-74B6-48AF-B6F1-BB53E687891A}" type="pres">
      <dgm:prSet presAssocID="{07BD91B0-03B2-45C4-98D0-55AF2F384680}" presName="node" presStyleLbl="node1" presStyleIdx="1" presStyleCnt="9">
        <dgm:presLayoutVars>
          <dgm:bulletEnabled val="1"/>
        </dgm:presLayoutVars>
      </dgm:prSet>
      <dgm:spPr/>
    </dgm:pt>
    <dgm:pt modelId="{8440DB9A-12AB-4D6C-BDA7-6F1DC58FB151}" type="pres">
      <dgm:prSet presAssocID="{4140150A-2873-4550-8B91-7E22876D246B}" presName="sibTrans" presStyleCnt="0"/>
      <dgm:spPr/>
    </dgm:pt>
    <dgm:pt modelId="{3DA76971-9D3C-43E1-B41A-79D0C4A3364C}" type="pres">
      <dgm:prSet presAssocID="{2227078B-62ED-4604-8364-E31DF72423AC}" presName="node" presStyleLbl="node1" presStyleIdx="2" presStyleCnt="9">
        <dgm:presLayoutVars>
          <dgm:bulletEnabled val="1"/>
        </dgm:presLayoutVars>
      </dgm:prSet>
      <dgm:spPr/>
    </dgm:pt>
    <dgm:pt modelId="{15C52075-6C54-4F7F-9838-E665E9A1B7DD}" type="pres">
      <dgm:prSet presAssocID="{7C7ABCB0-D7E7-4B2D-A752-F4C5E7B0B716}" presName="sibTrans" presStyleCnt="0"/>
      <dgm:spPr/>
    </dgm:pt>
    <dgm:pt modelId="{54FB88E6-7A9A-43FD-A131-A4A3BE21B289}" type="pres">
      <dgm:prSet presAssocID="{3BCCAF3B-05E7-4A6E-8A20-4CDE292E9B54}" presName="node" presStyleLbl="node1" presStyleIdx="3" presStyleCnt="9">
        <dgm:presLayoutVars>
          <dgm:bulletEnabled val="1"/>
        </dgm:presLayoutVars>
      </dgm:prSet>
      <dgm:spPr/>
    </dgm:pt>
    <dgm:pt modelId="{4A77F9ED-4C74-494B-AB3B-87B4557952A5}" type="pres">
      <dgm:prSet presAssocID="{3432F0B4-D4E1-4044-9A13-7C243493F0D5}" presName="sibTrans" presStyleCnt="0"/>
      <dgm:spPr/>
    </dgm:pt>
    <dgm:pt modelId="{23A060E7-8CBB-4E7F-AC23-047A360916EC}" type="pres">
      <dgm:prSet presAssocID="{631BCA03-00F4-4FAB-B606-87DE274663A9}" presName="node" presStyleLbl="node1" presStyleIdx="4" presStyleCnt="9">
        <dgm:presLayoutVars>
          <dgm:bulletEnabled val="1"/>
        </dgm:presLayoutVars>
      </dgm:prSet>
      <dgm:spPr/>
    </dgm:pt>
    <dgm:pt modelId="{4B9C44E8-BF3E-49F2-BCA8-5229D0D02A3D}" type="pres">
      <dgm:prSet presAssocID="{848080F9-E87C-4818-A0AD-D73D29CA8739}" presName="sibTrans" presStyleCnt="0"/>
      <dgm:spPr/>
    </dgm:pt>
    <dgm:pt modelId="{419E0789-9032-46EB-8C63-39F72DE12F62}" type="pres">
      <dgm:prSet presAssocID="{CF73F279-E329-4F4F-A2B4-64EF3694CE8E}" presName="node" presStyleLbl="node1" presStyleIdx="5" presStyleCnt="9">
        <dgm:presLayoutVars>
          <dgm:bulletEnabled val="1"/>
        </dgm:presLayoutVars>
      </dgm:prSet>
      <dgm:spPr/>
    </dgm:pt>
    <dgm:pt modelId="{4A4E1CED-3332-40AD-980D-9FEDD941C442}" type="pres">
      <dgm:prSet presAssocID="{AC7708D3-B19A-4460-992F-25EED68FFE25}" presName="sibTrans" presStyleCnt="0"/>
      <dgm:spPr/>
    </dgm:pt>
    <dgm:pt modelId="{B3DDC2DB-D2BF-4DF4-87DC-00F9C17AC259}" type="pres">
      <dgm:prSet presAssocID="{FCBD009A-9162-40E7-9CE8-D33692EE2F0F}" presName="node" presStyleLbl="node1" presStyleIdx="6" presStyleCnt="9">
        <dgm:presLayoutVars>
          <dgm:bulletEnabled val="1"/>
        </dgm:presLayoutVars>
      </dgm:prSet>
      <dgm:spPr/>
    </dgm:pt>
    <dgm:pt modelId="{750634BE-1858-4BB5-91BE-1A2972D856A2}" type="pres">
      <dgm:prSet presAssocID="{97FA82D7-111A-4D4B-8F41-C39FC44A51F4}" presName="sibTrans" presStyleCnt="0"/>
      <dgm:spPr/>
    </dgm:pt>
    <dgm:pt modelId="{9A2E643B-AFDF-4340-B82D-F2C7CA31DC8F}" type="pres">
      <dgm:prSet presAssocID="{62E6E278-3E7C-4183-B7E3-6705DEAD9C35}" presName="node" presStyleLbl="node1" presStyleIdx="7" presStyleCnt="9">
        <dgm:presLayoutVars>
          <dgm:bulletEnabled val="1"/>
        </dgm:presLayoutVars>
      </dgm:prSet>
      <dgm:spPr/>
    </dgm:pt>
    <dgm:pt modelId="{73E828E5-2E5E-482E-AD4A-410F06B2D584}" type="pres">
      <dgm:prSet presAssocID="{CA9E5922-1F2C-488E-A5EB-EEDD6932B3FE}" presName="sibTrans" presStyleCnt="0"/>
      <dgm:spPr/>
    </dgm:pt>
    <dgm:pt modelId="{86A35C91-C1DA-445E-8AEF-94CC8F6BF58D}" type="pres">
      <dgm:prSet presAssocID="{7B8E0DA0-5F99-4178-A387-042DDCF75B0C}" presName="node" presStyleLbl="node1" presStyleIdx="8" presStyleCnt="9">
        <dgm:presLayoutVars>
          <dgm:bulletEnabled val="1"/>
        </dgm:presLayoutVars>
      </dgm:prSet>
      <dgm:spPr/>
    </dgm:pt>
  </dgm:ptLst>
  <dgm:cxnLst>
    <dgm:cxn modelId="{4FBA1B05-99F8-494A-9FCE-2C2603A2F10B}" srcId="{90F3E882-994F-4CCB-9EEA-5A4F25E1A804}" destId="{2227078B-62ED-4604-8364-E31DF72423AC}" srcOrd="2" destOrd="0" parTransId="{D0168AE2-3D09-4C00-9402-A16F3D4206B5}" sibTransId="{7C7ABCB0-D7E7-4B2D-A752-F4C5E7B0B716}"/>
    <dgm:cxn modelId="{C1EF123D-F16C-4FCF-9471-B4D5FEE9C2B2}" type="presOf" srcId="{2227078B-62ED-4604-8364-E31DF72423AC}" destId="{3DA76971-9D3C-43E1-B41A-79D0C4A3364C}" srcOrd="0" destOrd="0" presId="urn:microsoft.com/office/officeart/2005/8/layout/default"/>
    <dgm:cxn modelId="{A9DDAC46-7333-4BCE-B112-9181421734F3}" srcId="{90F3E882-994F-4CCB-9EEA-5A4F25E1A804}" destId="{7B8E0DA0-5F99-4178-A387-042DDCF75B0C}" srcOrd="8" destOrd="0" parTransId="{413EF02E-3623-4E8F-B3CA-FDA905ADC458}" sibTransId="{48F695F5-354D-4333-AD68-0790CBB1E763}"/>
    <dgm:cxn modelId="{06A37475-133F-4B6A-ABE1-17EB8D06D51C}" type="presOf" srcId="{90F3E882-994F-4CCB-9EEA-5A4F25E1A804}" destId="{F1000878-D1DB-42F3-8CF5-74DE8C075C8A}" srcOrd="0" destOrd="0" presId="urn:microsoft.com/office/officeart/2005/8/layout/default"/>
    <dgm:cxn modelId="{E0E8E276-1553-4C88-A277-5E65FA55938F}" srcId="{90F3E882-994F-4CCB-9EEA-5A4F25E1A804}" destId="{07BD91B0-03B2-45C4-98D0-55AF2F384680}" srcOrd="1" destOrd="0" parTransId="{238DD68C-02D4-4C41-8CF9-BE30792942FA}" sibTransId="{4140150A-2873-4550-8B91-7E22876D246B}"/>
    <dgm:cxn modelId="{00E4D078-6EB5-4E1B-A260-2CA982A75298}" type="presOf" srcId="{62E6E278-3E7C-4183-B7E3-6705DEAD9C35}" destId="{9A2E643B-AFDF-4340-B82D-F2C7CA31DC8F}" srcOrd="0" destOrd="0" presId="urn:microsoft.com/office/officeart/2005/8/layout/default"/>
    <dgm:cxn modelId="{735AB779-B2AF-4257-BE81-750D8C1B9E3F}" type="presOf" srcId="{631BCA03-00F4-4FAB-B606-87DE274663A9}" destId="{23A060E7-8CBB-4E7F-AC23-047A360916EC}" srcOrd="0" destOrd="0" presId="urn:microsoft.com/office/officeart/2005/8/layout/default"/>
    <dgm:cxn modelId="{C6EF4885-67CE-4DF3-9BF1-1188CE44B092}" srcId="{90F3E882-994F-4CCB-9EEA-5A4F25E1A804}" destId="{62E6E278-3E7C-4183-B7E3-6705DEAD9C35}" srcOrd="7" destOrd="0" parTransId="{13F90918-54A0-4817-8FB2-1B31FFDFB17C}" sibTransId="{CA9E5922-1F2C-488E-A5EB-EEDD6932B3FE}"/>
    <dgm:cxn modelId="{AC7D1887-0D90-4C87-9B6C-1F192F519543}" srcId="{90F3E882-994F-4CCB-9EEA-5A4F25E1A804}" destId="{766E779E-5AFE-486A-ADA2-47E853205121}" srcOrd="0" destOrd="0" parTransId="{0EBD472F-54E4-40D8-9974-D493C76230E0}" sibTransId="{02EDA65C-E970-4AD0-99CF-34170122ECF7}"/>
    <dgm:cxn modelId="{A14A398B-F70A-4BF6-83B9-4A88C2044D55}" type="presOf" srcId="{3BCCAF3B-05E7-4A6E-8A20-4CDE292E9B54}" destId="{54FB88E6-7A9A-43FD-A131-A4A3BE21B289}" srcOrd="0" destOrd="0" presId="urn:microsoft.com/office/officeart/2005/8/layout/default"/>
    <dgm:cxn modelId="{2B6BB994-F221-4E57-A1AF-A4169FBCAA45}" type="presOf" srcId="{7B8E0DA0-5F99-4178-A387-042DDCF75B0C}" destId="{86A35C91-C1DA-445E-8AEF-94CC8F6BF58D}" srcOrd="0" destOrd="0" presId="urn:microsoft.com/office/officeart/2005/8/layout/default"/>
    <dgm:cxn modelId="{3D740E9C-BC15-43FB-93C4-B6F1402EB232}" type="presOf" srcId="{CF73F279-E329-4F4F-A2B4-64EF3694CE8E}" destId="{419E0789-9032-46EB-8C63-39F72DE12F62}" srcOrd="0" destOrd="0" presId="urn:microsoft.com/office/officeart/2005/8/layout/default"/>
    <dgm:cxn modelId="{B6716DB5-904F-4014-A00C-213431C89CAC}" srcId="{90F3E882-994F-4CCB-9EEA-5A4F25E1A804}" destId="{3BCCAF3B-05E7-4A6E-8A20-4CDE292E9B54}" srcOrd="3" destOrd="0" parTransId="{BE3673D5-DBA7-4A5B-866C-9DC5A3740CE2}" sibTransId="{3432F0B4-D4E1-4044-9A13-7C243493F0D5}"/>
    <dgm:cxn modelId="{A132FAB7-1C1A-4ED6-821C-639C8C4721F4}" type="presOf" srcId="{766E779E-5AFE-486A-ADA2-47E853205121}" destId="{29FD0F5F-D488-4EBC-AAA9-1821A7DDBBED}" srcOrd="0" destOrd="0" presId="urn:microsoft.com/office/officeart/2005/8/layout/default"/>
    <dgm:cxn modelId="{A162A7BA-EE8B-4149-A39F-E806740BB1E2}" srcId="{90F3E882-994F-4CCB-9EEA-5A4F25E1A804}" destId="{CF73F279-E329-4F4F-A2B4-64EF3694CE8E}" srcOrd="5" destOrd="0" parTransId="{13DD7CC7-067E-47F5-A0FB-FDD133E1624E}" sibTransId="{AC7708D3-B19A-4460-992F-25EED68FFE25}"/>
    <dgm:cxn modelId="{87D884C4-4F52-43D4-B410-791660A87FFC}" type="presOf" srcId="{FCBD009A-9162-40E7-9CE8-D33692EE2F0F}" destId="{B3DDC2DB-D2BF-4DF4-87DC-00F9C17AC259}" srcOrd="0" destOrd="0" presId="urn:microsoft.com/office/officeart/2005/8/layout/default"/>
    <dgm:cxn modelId="{2B694ECB-85A6-4B04-B58A-1AF0E60B6BC5}" srcId="{90F3E882-994F-4CCB-9EEA-5A4F25E1A804}" destId="{FCBD009A-9162-40E7-9CE8-D33692EE2F0F}" srcOrd="6" destOrd="0" parTransId="{382FD5B6-5E5B-49F4-8DA3-C0E067B00EF7}" sibTransId="{97FA82D7-111A-4D4B-8F41-C39FC44A51F4}"/>
    <dgm:cxn modelId="{104931DF-8C72-464B-BD23-8F3E3E420B33}" type="presOf" srcId="{07BD91B0-03B2-45C4-98D0-55AF2F384680}" destId="{4CDA13CF-74B6-48AF-B6F1-BB53E687891A}" srcOrd="0" destOrd="0" presId="urn:microsoft.com/office/officeart/2005/8/layout/default"/>
    <dgm:cxn modelId="{EFB7CFEB-C783-4A7A-8DBF-D4AF360FB835}" srcId="{90F3E882-994F-4CCB-9EEA-5A4F25E1A804}" destId="{631BCA03-00F4-4FAB-B606-87DE274663A9}" srcOrd="4" destOrd="0" parTransId="{B23E85D4-AED1-42AF-B204-A33F44638D4B}" sibTransId="{848080F9-E87C-4818-A0AD-D73D29CA8739}"/>
    <dgm:cxn modelId="{A2BA0E83-3CC3-42BB-81E1-BC3145FBB6A3}" type="presParOf" srcId="{F1000878-D1DB-42F3-8CF5-74DE8C075C8A}" destId="{29FD0F5F-D488-4EBC-AAA9-1821A7DDBBED}" srcOrd="0" destOrd="0" presId="urn:microsoft.com/office/officeart/2005/8/layout/default"/>
    <dgm:cxn modelId="{B0CEC318-55CC-4A59-B39F-D009086CC3C2}" type="presParOf" srcId="{F1000878-D1DB-42F3-8CF5-74DE8C075C8A}" destId="{F8F54B0F-90C7-4F4C-BD3C-6122ED421963}" srcOrd="1" destOrd="0" presId="urn:microsoft.com/office/officeart/2005/8/layout/default"/>
    <dgm:cxn modelId="{4E0FDC5C-9014-40B3-99D1-3D2D76FDC7E5}" type="presParOf" srcId="{F1000878-D1DB-42F3-8CF5-74DE8C075C8A}" destId="{4CDA13CF-74B6-48AF-B6F1-BB53E687891A}" srcOrd="2" destOrd="0" presId="urn:microsoft.com/office/officeart/2005/8/layout/default"/>
    <dgm:cxn modelId="{D29762B3-2846-4A32-BB32-EE0737741E2A}" type="presParOf" srcId="{F1000878-D1DB-42F3-8CF5-74DE8C075C8A}" destId="{8440DB9A-12AB-4D6C-BDA7-6F1DC58FB151}" srcOrd="3" destOrd="0" presId="urn:microsoft.com/office/officeart/2005/8/layout/default"/>
    <dgm:cxn modelId="{79CF360F-9EE8-4709-BF07-02472104D902}" type="presParOf" srcId="{F1000878-D1DB-42F3-8CF5-74DE8C075C8A}" destId="{3DA76971-9D3C-43E1-B41A-79D0C4A3364C}" srcOrd="4" destOrd="0" presId="urn:microsoft.com/office/officeart/2005/8/layout/default"/>
    <dgm:cxn modelId="{322DB5C8-0EE3-4706-98B7-F85991BE77B1}" type="presParOf" srcId="{F1000878-D1DB-42F3-8CF5-74DE8C075C8A}" destId="{15C52075-6C54-4F7F-9838-E665E9A1B7DD}" srcOrd="5" destOrd="0" presId="urn:microsoft.com/office/officeart/2005/8/layout/default"/>
    <dgm:cxn modelId="{40924E3F-E1C9-4449-86E4-C6EBD72D6E17}" type="presParOf" srcId="{F1000878-D1DB-42F3-8CF5-74DE8C075C8A}" destId="{54FB88E6-7A9A-43FD-A131-A4A3BE21B289}" srcOrd="6" destOrd="0" presId="urn:microsoft.com/office/officeart/2005/8/layout/default"/>
    <dgm:cxn modelId="{F3301AA7-841F-4B6B-A825-87EDD18124A5}" type="presParOf" srcId="{F1000878-D1DB-42F3-8CF5-74DE8C075C8A}" destId="{4A77F9ED-4C74-494B-AB3B-87B4557952A5}" srcOrd="7" destOrd="0" presId="urn:microsoft.com/office/officeart/2005/8/layout/default"/>
    <dgm:cxn modelId="{37DB4C14-8389-4D74-921F-86E74DB356DB}" type="presParOf" srcId="{F1000878-D1DB-42F3-8CF5-74DE8C075C8A}" destId="{23A060E7-8CBB-4E7F-AC23-047A360916EC}" srcOrd="8" destOrd="0" presId="urn:microsoft.com/office/officeart/2005/8/layout/default"/>
    <dgm:cxn modelId="{AC2B9D41-F3C5-422A-8646-185A45C0B59A}" type="presParOf" srcId="{F1000878-D1DB-42F3-8CF5-74DE8C075C8A}" destId="{4B9C44E8-BF3E-49F2-BCA8-5229D0D02A3D}" srcOrd="9" destOrd="0" presId="urn:microsoft.com/office/officeart/2005/8/layout/default"/>
    <dgm:cxn modelId="{43540806-C526-4EBE-9A8D-B1884F81B668}" type="presParOf" srcId="{F1000878-D1DB-42F3-8CF5-74DE8C075C8A}" destId="{419E0789-9032-46EB-8C63-39F72DE12F62}" srcOrd="10" destOrd="0" presId="urn:microsoft.com/office/officeart/2005/8/layout/default"/>
    <dgm:cxn modelId="{C1C039F0-2E19-4FBC-956C-CA8C204F972A}" type="presParOf" srcId="{F1000878-D1DB-42F3-8CF5-74DE8C075C8A}" destId="{4A4E1CED-3332-40AD-980D-9FEDD941C442}" srcOrd="11" destOrd="0" presId="urn:microsoft.com/office/officeart/2005/8/layout/default"/>
    <dgm:cxn modelId="{342B0FB2-EA99-4102-B4F8-CFDF4222E63C}" type="presParOf" srcId="{F1000878-D1DB-42F3-8CF5-74DE8C075C8A}" destId="{B3DDC2DB-D2BF-4DF4-87DC-00F9C17AC259}" srcOrd="12" destOrd="0" presId="urn:microsoft.com/office/officeart/2005/8/layout/default"/>
    <dgm:cxn modelId="{82786BC2-4B03-4BE0-BC01-A8EDDEC9167D}" type="presParOf" srcId="{F1000878-D1DB-42F3-8CF5-74DE8C075C8A}" destId="{750634BE-1858-4BB5-91BE-1A2972D856A2}" srcOrd="13" destOrd="0" presId="urn:microsoft.com/office/officeart/2005/8/layout/default"/>
    <dgm:cxn modelId="{48717C51-A0C2-47A7-8DE2-FC85204BB9FE}" type="presParOf" srcId="{F1000878-D1DB-42F3-8CF5-74DE8C075C8A}" destId="{9A2E643B-AFDF-4340-B82D-F2C7CA31DC8F}" srcOrd="14" destOrd="0" presId="urn:microsoft.com/office/officeart/2005/8/layout/default"/>
    <dgm:cxn modelId="{DE1D581A-5FE7-484F-B551-ACA4C8622C53}" type="presParOf" srcId="{F1000878-D1DB-42F3-8CF5-74DE8C075C8A}" destId="{73E828E5-2E5E-482E-AD4A-410F06B2D584}" srcOrd="15" destOrd="0" presId="urn:microsoft.com/office/officeart/2005/8/layout/default"/>
    <dgm:cxn modelId="{44B9EBB2-EF45-40F7-8EFA-7C1AE4E5673D}" type="presParOf" srcId="{F1000878-D1DB-42F3-8CF5-74DE8C075C8A}" destId="{86A35C91-C1DA-445E-8AEF-94CC8F6BF58D}"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E2F03-C551-4493-A687-CD3417E2384A}">
      <dsp:nvSpPr>
        <dsp:cNvPr id="0" name=""/>
        <dsp:cNvSpPr/>
      </dsp:nvSpPr>
      <dsp:spPr>
        <a:xfrm>
          <a:off x="0" y="1735576"/>
          <a:ext cx="2947066" cy="117882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GB" sz="2500" kern="1200"/>
            <a:t>Sales Order Creation</a:t>
          </a:r>
          <a:endParaRPr lang="en-US" sz="2500" kern="1200"/>
        </a:p>
      </dsp:txBody>
      <dsp:txXfrm>
        <a:off x="589413" y="1735576"/>
        <a:ext cx="1768240" cy="1178826"/>
      </dsp:txXfrm>
    </dsp:sp>
    <dsp:sp modelId="{C4353E05-2DEB-4893-BC28-99BEF4642CA6}">
      <dsp:nvSpPr>
        <dsp:cNvPr id="0" name=""/>
        <dsp:cNvSpPr/>
      </dsp:nvSpPr>
      <dsp:spPr>
        <a:xfrm>
          <a:off x="2654778" y="1727913"/>
          <a:ext cx="2947066" cy="117882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GB" sz="2500" kern="1200"/>
            <a:t>Post Goods Issue (PGI)</a:t>
          </a:r>
          <a:endParaRPr lang="en-US" sz="2500" kern="1200"/>
        </a:p>
      </dsp:txBody>
      <dsp:txXfrm>
        <a:off x="3244191" y="1727913"/>
        <a:ext cx="1768240" cy="1178826"/>
      </dsp:txXfrm>
    </dsp:sp>
    <dsp:sp modelId="{0B4317F5-604A-4DA7-A533-93CF5F8FE0C7}">
      <dsp:nvSpPr>
        <dsp:cNvPr id="0" name=""/>
        <dsp:cNvSpPr/>
      </dsp:nvSpPr>
      <dsp:spPr>
        <a:xfrm>
          <a:off x="5309557" y="1727913"/>
          <a:ext cx="2947066" cy="117882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GB" sz="2500" kern="1200"/>
            <a:t>Billing</a:t>
          </a:r>
          <a:endParaRPr lang="en-US" sz="2500" kern="1200"/>
        </a:p>
      </dsp:txBody>
      <dsp:txXfrm>
        <a:off x="5898970" y="1727913"/>
        <a:ext cx="1768240" cy="1178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D0F5F-D488-4EBC-AAA9-1821A7DDBBED}">
      <dsp:nvSpPr>
        <dsp:cNvPr id="0" name=""/>
        <dsp:cNvSpPr/>
      </dsp:nvSpPr>
      <dsp:spPr>
        <a:xfrm>
          <a:off x="343297" y="11464"/>
          <a:ext cx="2237563" cy="1342538"/>
        </a:xfrm>
        <a:prstGeom prst="rect">
          <a:avLst/>
        </a:prstGeom>
        <a:gradFill rotWithShape="0">
          <a:gsLst>
            <a:gs pos="0">
              <a:srgbClr val="00BDB7">
                <a:hueOff val="0"/>
                <a:satOff val="0"/>
                <a:lumOff val="0"/>
                <a:alphaOff val="0"/>
                <a:satMod val="103000"/>
                <a:lumMod val="102000"/>
                <a:tint val="94000"/>
              </a:srgbClr>
            </a:gs>
            <a:gs pos="50000">
              <a:srgbClr val="00BDB7">
                <a:hueOff val="0"/>
                <a:satOff val="0"/>
                <a:lumOff val="0"/>
                <a:alphaOff val="0"/>
                <a:satMod val="110000"/>
                <a:lumMod val="100000"/>
                <a:shade val="100000"/>
              </a:srgbClr>
            </a:gs>
            <a:gs pos="100000">
              <a:srgbClr val="00BDB7">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FFFFF"/>
              </a:solidFill>
              <a:latin typeface="Arial" panose="020B0604020202020204"/>
              <a:ea typeface="+mn-ea"/>
              <a:cs typeface="+mn-cs"/>
            </a:rPr>
            <a:t>Brand Family</a:t>
          </a:r>
          <a:br>
            <a:rPr lang="en-US" sz="2400" kern="1200">
              <a:solidFill>
                <a:srgbClr val="FFFFFF"/>
              </a:solidFill>
              <a:latin typeface="Arial" panose="020B0604020202020204"/>
              <a:ea typeface="+mn-ea"/>
              <a:cs typeface="+mn-cs"/>
            </a:rPr>
          </a:br>
          <a:r>
            <a:rPr lang="en-US" sz="1200" u="none" strike="noStrike" kern="1200">
              <a:solidFill>
                <a:srgbClr val="FFFFFF"/>
              </a:solidFill>
              <a:effectLst/>
              <a:latin typeface="Arial" panose="020B0604020202020204"/>
              <a:ea typeface="+mn-ea"/>
              <a:cs typeface="+mn-cs"/>
            </a:rPr>
            <a:t>Brand family name (drop down and will convert to key in the cell once you press enter – copy possible). </a:t>
          </a:r>
          <a:endParaRPr lang="en-US" sz="2400" kern="1200">
            <a:solidFill>
              <a:srgbClr val="FFFFFF"/>
            </a:solidFill>
            <a:latin typeface="Arial" panose="020B0604020202020204"/>
            <a:ea typeface="+mn-ea"/>
            <a:cs typeface="+mn-cs"/>
          </a:endParaRPr>
        </a:p>
      </dsp:txBody>
      <dsp:txXfrm>
        <a:off x="343297" y="11464"/>
        <a:ext cx="2237563" cy="1342538"/>
      </dsp:txXfrm>
    </dsp:sp>
    <dsp:sp modelId="{4CDA13CF-74B6-48AF-B6F1-BB53E687891A}">
      <dsp:nvSpPr>
        <dsp:cNvPr id="0" name=""/>
        <dsp:cNvSpPr/>
      </dsp:nvSpPr>
      <dsp:spPr>
        <a:xfrm>
          <a:off x="2804617" y="1986"/>
          <a:ext cx="2237563" cy="1342538"/>
        </a:xfrm>
        <a:prstGeom prst="rect">
          <a:avLst/>
        </a:prstGeom>
        <a:gradFill rotWithShape="0">
          <a:gsLst>
            <a:gs pos="0">
              <a:srgbClr val="00BDB7">
                <a:hueOff val="-155196"/>
                <a:satOff val="-6522"/>
                <a:lumOff val="3922"/>
                <a:alphaOff val="0"/>
                <a:satMod val="103000"/>
                <a:lumMod val="102000"/>
                <a:tint val="94000"/>
              </a:srgbClr>
            </a:gs>
            <a:gs pos="50000">
              <a:srgbClr val="00BDB7">
                <a:hueOff val="-155196"/>
                <a:satOff val="-6522"/>
                <a:lumOff val="3922"/>
                <a:alphaOff val="0"/>
                <a:satMod val="110000"/>
                <a:lumMod val="100000"/>
                <a:shade val="100000"/>
              </a:srgbClr>
            </a:gs>
            <a:gs pos="100000">
              <a:srgbClr val="00BDB7">
                <a:hueOff val="-155196"/>
                <a:satOff val="-6522"/>
                <a:lumOff val="3922"/>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FFFFF"/>
              </a:solidFill>
              <a:latin typeface="Arial" panose="020B0604020202020204"/>
              <a:ea typeface="+mn-ea"/>
              <a:cs typeface="+mn-cs"/>
            </a:rPr>
            <a:t>Product Type</a:t>
          </a:r>
          <a:br>
            <a:rPr lang="en-US" sz="2400" kern="1200">
              <a:solidFill>
                <a:srgbClr val="FFFFFF"/>
              </a:solidFill>
              <a:latin typeface="Arial" panose="020B0604020202020204"/>
              <a:ea typeface="+mn-ea"/>
              <a:cs typeface="+mn-cs"/>
            </a:rPr>
          </a:br>
          <a:r>
            <a:rPr lang="en-US" sz="1200" u="none" strike="noStrike" kern="1200">
              <a:solidFill>
                <a:srgbClr val="FFFFFF"/>
              </a:solidFill>
              <a:effectLst/>
              <a:latin typeface="Arial" panose="020B0604020202020204"/>
              <a:ea typeface="+mn-ea"/>
              <a:cs typeface="+mn-cs"/>
            </a:rPr>
            <a:t>Drop down for product type with product type key only – no description</a:t>
          </a:r>
          <a:endParaRPr lang="en-US" sz="2400" kern="1200">
            <a:solidFill>
              <a:srgbClr val="FFFFFF"/>
            </a:solidFill>
            <a:latin typeface="Arial" panose="020B0604020202020204"/>
            <a:ea typeface="+mn-ea"/>
            <a:cs typeface="+mn-cs"/>
          </a:endParaRPr>
        </a:p>
      </dsp:txBody>
      <dsp:txXfrm>
        <a:off x="2804617" y="1986"/>
        <a:ext cx="2237563" cy="1342538"/>
      </dsp:txXfrm>
    </dsp:sp>
    <dsp:sp modelId="{3DA76971-9D3C-43E1-B41A-79D0C4A3364C}">
      <dsp:nvSpPr>
        <dsp:cNvPr id="0" name=""/>
        <dsp:cNvSpPr/>
      </dsp:nvSpPr>
      <dsp:spPr>
        <a:xfrm>
          <a:off x="5265937" y="1986"/>
          <a:ext cx="2237563" cy="1342538"/>
        </a:xfrm>
        <a:prstGeom prst="rect">
          <a:avLst/>
        </a:prstGeom>
        <a:gradFill rotWithShape="0">
          <a:gsLst>
            <a:gs pos="0">
              <a:srgbClr val="00BDB7">
                <a:hueOff val="-310391"/>
                <a:satOff val="-13043"/>
                <a:lumOff val="7843"/>
                <a:alphaOff val="0"/>
                <a:satMod val="103000"/>
                <a:lumMod val="102000"/>
                <a:tint val="94000"/>
              </a:srgbClr>
            </a:gs>
            <a:gs pos="50000">
              <a:srgbClr val="00BDB7">
                <a:hueOff val="-310391"/>
                <a:satOff val="-13043"/>
                <a:lumOff val="7843"/>
                <a:alphaOff val="0"/>
                <a:satMod val="110000"/>
                <a:lumMod val="100000"/>
                <a:shade val="100000"/>
              </a:srgbClr>
            </a:gs>
            <a:gs pos="100000">
              <a:srgbClr val="00BDB7">
                <a:hueOff val="-310391"/>
                <a:satOff val="-13043"/>
                <a:lumOff val="7843"/>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u="none" strike="noStrike" kern="1200">
              <a:solidFill>
                <a:srgbClr val="FFFFFF"/>
              </a:solidFill>
              <a:effectLst/>
              <a:latin typeface="Arial" panose="020B0604020202020204"/>
              <a:ea typeface="+mn-ea"/>
              <a:cs typeface="+mn-cs"/>
            </a:rPr>
            <a:t>Brand Family &amp;Product Type</a:t>
          </a:r>
          <a:br>
            <a:rPr lang="en-US" sz="2400" u="none" strike="noStrike" kern="1200">
              <a:solidFill>
                <a:srgbClr val="FFFFFF"/>
              </a:solidFill>
              <a:effectLst/>
              <a:latin typeface="Arial" panose="020B0604020202020204"/>
              <a:ea typeface="+mn-ea"/>
              <a:cs typeface="+mn-cs"/>
            </a:rPr>
          </a:br>
          <a:r>
            <a:rPr lang="en-US" sz="1200" u="none" strike="noStrike" kern="1200">
              <a:solidFill>
                <a:srgbClr val="FFFFFF"/>
              </a:solidFill>
              <a:effectLst/>
              <a:latin typeface="Arial" panose="020B0604020202020204"/>
              <a:ea typeface="+mn-ea"/>
              <a:cs typeface="+mn-cs"/>
            </a:rPr>
            <a:t>Brand family is populated, product type should be populated and vice versa </a:t>
          </a:r>
          <a:endParaRPr lang="en-US" sz="2400" kern="1200">
            <a:solidFill>
              <a:srgbClr val="FFFFFF"/>
            </a:solidFill>
            <a:latin typeface="Arial" panose="020B0604020202020204"/>
            <a:ea typeface="+mn-ea"/>
            <a:cs typeface="+mn-cs"/>
          </a:endParaRPr>
        </a:p>
      </dsp:txBody>
      <dsp:txXfrm>
        <a:off x="5265937" y="1986"/>
        <a:ext cx="2237563" cy="1342538"/>
      </dsp:txXfrm>
    </dsp:sp>
    <dsp:sp modelId="{54FB88E6-7A9A-43FD-A131-A4A3BE21B289}">
      <dsp:nvSpPr>
        <dsp:cNvPr id="0" name=""/>
        <dsp:cNvSpPr/>
      </dsp:nvSpPr>
      <dsp:spPr>
        <a:xfrm>
          <a:off x="343297" y="1568280"/>
          <a:ext cx="2237563" cy="1342538"/>
        </a:xfrm>
        <a:prstGeom prst="rect">
          <a:avLst/>
        </a:prstGeom>
        <a:gradFill rotWithShape="0">
          <a:gsLst>
            <a:gs pos="0">
              <a:srgbClr val="00BDB7">
                <a:hueOff val="-465587"/>
                <a:satOff val="-19565"/>
                <a:lumOff val="11765"/>
                <a:alphaOff val="0"/>
                <a:satMod val="103000"/>
                <a:lumMod val="102000"/>
                <a:tint val="94000"/>
              </a:srgbClr>
            </a:gs>
            <a:gs pos="50000">
              <a:srgbClr val="00BDB7">
                <a:hueOff val="-465587"/>
                <a:satOff val="-19565"/>
                <a:lumOff val="11765"/>
                <a:alphaOff val="0"/>
                <a:satMod val="110000"/>
                <a:lumMod val="100000"/>
                <a:shade val="100000"/>
              </a:srgbClr>
            </a:gs>
            <a:gs pos="100000">
              <a:srgbClr val="00BDB7">
                <a:hueOff val="-465587"/>
                <a:satOff val="-19565"/>
                <a:lumOff val="11765"/>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u="none" strike="noStrike" kern="1200">
              <a:solidFill>
                <a:srgbClr val="FFFFFF"/>
              </a:solidFill>
              <a:effectLst/>
              <a:latin typeface="Arial" panose="020B0604020202020204"/>
              <a:ea typeface="+mn-ea"/>
              <a:cs typeface="+mn-cs"/>
            </a:rPr>
            <a:t>Internal Order, WBS element, WBS COPA</a:t>
          </a:r>
        </a:p>
        <a:p>
          <a:pPr marL="0" lvl="0" indent="0" algn="ctr" defTabSz="889000">
            <a:lnSpc>
              <a:spcPct val="90000"/>
            </a:lnSpc>
            <a:spcBef>
              <a:spcPct val="0"/>
            </a:spcBef>
            <a:spcAft>
              <a:spcPct val="35000"/>
            </a:spcAft>
            <a:buNone/>
          </a:pPr>
          <a:r>
            <a:rPr lang="en-US" sz="1200" u="none" strike="noStrike" kern="1200">
              <a:solidFill>
                <a:srgbClr val="FFFFFF"/>
              </a:solidFill>
              <a:effectLst/>
              <a:latin typeface="Arial" panose="020B0604020202020204"/>
              <a:ea typeface="+mn-ea"/>
              <a:cs typeface="+mn-cs"/>
            </a:rPr>
            <a:t>Only one of the following fields should be populated for any given line item</a:t>
          </a:r>
          <a:endParaRPr lang="en-US" sz="1200" kern="1200">
            <a:solidFill>
              <a:srgbClr val="FFFFFF"/>
            </a:solidFill>
            <a:latin typeface="Arial" panose="020B0604020202020204"/>
            <a:ea typeface="+mn-ea"/>
            <a:cs typeface="+mn-cs"/>
          </a:endParaRPr>
        </a:p>
      </dsp:txBody>
      <dsp:txXfrm>
        <a:off x="343297" y="1568280"/>
        <a:ext cx="2237563" cy="1342538"/>
      </dsp:txXfrm>
    </dsp:sp>
    <dsp:sp modelId="{23A060E7-8CBB-4E7F-AC23-047A360916EC}">
      <dsp:nvSpPr>
        <dsp:cNvPr id="0" name=""/>
        <dsp:cNvSpPr/>
      </dsp:nvSpPr>
      <dsp:spPr>
        <a:xfrm>
          <a:off x="2804617" y="1568280"/>
          <a:ext cx="2237563" cy="1342538"/>
        </a:xfrm>
        <a:prstGeom prst="rect">
          <a:avLst/>
        </a:prstGeom>
        <a:gradFill rotWithShape="0">
          <a:gsLst>
            <a:gs pos="0">
              <a:srgbClr val="00BDB7">
                <a:hueOff val="-620783"/>
                <a:satOff val="-26087"/>
                <a:lumOff val="15686"/>
                <a:alphaOff val="0"/>
                <a:satMod val="103000"/>
                <a:lumMod val="102000"/>
                <a:tint val="94000"/>
              </a:srgbClr>
            </a:gs>
            <a:gs pos="50000">
              <a:srgbClr val="00BDB7">
                <a:hueOff val="-620783"/>
                <a:satOff val="-26087"/>
                <a:lumOff val="15686"/>
                <a:alphaOff val="0"/>
                <a:satMod val="110000"/>
                <a:lumMod val="100000"/>
                <a:shade val="100000"/>
              </a:srgbClr>
            </a:gs>
            <a:gs pos="100000">
              <a:srgbClr val="00BDB7">
                <a:hueOff val="-620783"/>
                <a:satOff val="-26087"/>
                <a:lumOff val="15686"/>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u="none" strike="noStrike" kern="1200">
              <a:solidFill>
                <a:srgbClr val="FFFFFF"/>
              </a:solidFill>
              <a:effectLst/>
              <a:latin typeface="Arial" panose="020B0604020202020204"/>
              <a:ea typeface="+mn-ea"/>
              <a:cs typeface="+mn-cs"/>
            </a:rPr>
            <a:t>UOM</a:t>
          </a:r>
          <a:br>
            <a:rPr lang="en-US" sz="2400" u="none" strike="noStrike" kern="1200">
              <a:solidFill>
                <a:srgbClr val="FF0000"/>
              </a:solidFill>
              <a:effectLst/>
              <a:latin typeface="Arial" panose="020B0604020202020204"/>
              <a:ea typeface="+mn-ea"/>
              <a:cs typeface="+mn-cs"/>
            </a:rPr>
          </a:br>
          <a:r>
            <a:rPr lang="ru-RU" sz="1200" kern="1200" err="1">
              <a:solidFill>
                <a:srgbClr val="FFFFFF"/>
              </a:solidFill>
              <a:latin typeface="Arial" panose="020B0604020202020204"/>
              <a:ea typeface="+mn-ea"/>
              <a:cs typeface="+mn-cs"/>
            </a:rPr>
            <a:t>Drop</a:t>
          </a:r>
          <a:r>
            <a:rPr lang="ru-RU" sz="1200" kern="1200">
              <a:solidFill>
                <a:srgbClr val="FFFFFF"/>
              </a:solidFill>
              <a:latin typeface="Arial" panose="020B0604020202020204"/>
              <a:ea typeface="+mn-ea"/>
              <a:cs typeface="+mn-cs"/>
            </a:rPr>
            <a:t> </a:t>
          </a:r>
          <a:r>
            <a:rPr lang="ru-RU" sz="1200" kern="1200" err="1">
              <a:solidFill>
                <a:srgbClr val="FFFFFF"/>
              </a:solidFill>
              <a:latin typeface="Arial" panose="020B0604020202020204"/>
              <a:ea typeface="+mn-ea"/>
              <a:cs typeface="+mn-cs"/>
            </a:rPr>
            <a:t>down</a:t>
          </a:r>
          <a:r>
            <a:rPr lang="ru-RU" sz="1200" kern="1200">
              <a:solidFill>
                <a:srgbClr val="FFFFFF"/>
              </a:solidFill>
              <a:latin typeface="Arial" panose="020B0604020202020204"/>
              <a:ea typeface="+mn-ea"/>
              <a:cs typeface="+mn-cs"/>
            </a:rPr>
            <a:t> </a:t>
          </a:r>
          <a:r>
            <a:rPr lang="ru-RU" sz="1200" kern="1200" err="1">
              <a:solidFill>
                <a:srgbClr val="FFFFFF"/>
              </a:solidFill>
              <a:latin typeface="Arial" panose="020B0604020202020204"/>
              <a:ea typeface="+mn-ea"/>
              <a:cs typeface="+mn-cs"/>
            </a:rPr>
            <a:t>included</a:t>
          </a:r>
          <a:r>
            <a:rPr lang="ru-RU" sz="1200" kern="1200">
              <a:solidFill>
                <a:srgbClr val="FFFFFF"/>
              </a:solidFill>
              <a:latin typeface="Arial" panose="020B0604020202020204"/>
              <a:ea typeface="+mn-ea"/>
              <a:cs typeface="+mn-cs"/>
            </a:rPr>
            <a:t> </a:t>
          </a:r>
          <a:r>
            <a:rPr lang="ru-RU" sz="1200" kern="1200" err="1">
              <a:solidFill>
                <a:srgbClr val="FFFFFF"/>
              </a:solidFill>
              <a:latin typeface="Arial" panose="020B0604020202020204"/>
              <a:ea typeface="+mn-ea"/>
              <a:cs typeface="+mn-cs"/>
            </a:rPr>
            <a:t>with</a:t>
          </a:r>
          <a:r>
            <a:rPr lang="ru-RU" sz="1200" kern="1200">
              <a:solidFill>
                <a:srgbClr val="FFFFFF"/>
              </a:solidFill>
              <a:latin typeface="Arial" panose="020B0604020202020204"/>
              <a:ea typeface="+mn-ea"/>
              <a:cs typeface="+mn-cs"/>
            </a:rPr>
            <a:t> </a:t>
          </a:r>
          <a:r>
            <a:rPr lang="ru-RU" sz="1200" kern="1200" err="1">
              <a:solidFill>
                <a:srgbClr val="FFFFFF"/>
              </a:solidFill>
              <a:latin typeface="Arial" panose="020B0604020202020204"/>
              <a:ea typeface="+mn-ea"/>
              <a:cs typeface="+mn-cs"/>
            </a:rPr>
            <a:t>values</a:t>
          </a:r>
          <a:r>
            <a:rPr lang="ru-RU" sz="1200" kern="1200">
              <a:solidFill>
                <a:srgbClr val="FFFFFF"/>
              </a:solidFill>
              <a:latin typeface="Arial" panose="020B0604020202020204"/>
              <a:ea typeface="+mn-ea"/>
              <a:cs typeface="+mn-cs"/>
            </a:rPr>
            <a:t> KU, KG, UN, CS, PAC, PAL &amp; CAR</a:t>
          </a:r>
          <a:br>
            <a:rPr lang="en-US" sz="1200" u="none" strike="noStrike" kern="1200">
              <a:solidFill>
                <a:srgbClr val="FF0000"/>
              </a:solidFill>
              <a:effectLst/>
              <a:latin typeface="Arial" panose="020B0604020202020204"/>
              <a:ea typeface="+mn-ea"/>
              <a:cs typeface="+mn-cs"/>
            </a:rPr>
          </a:br>
          <a:endParaRPr lang="en-US" sz="2400" kern="1200">
            <a:solidFill>
              <a:srgbClr val="FF0000"/>
            </a:solidFill>
            <a:latin typeface="Arial" panose="020B0604020202020204"/>
            <a:ea typeface="+mn-ea"/>
            <a:cs typeface="+mn-cs"/>
          </a:endParaRPr>
        </a:p>
      </dsp:txBody>
      <dsp:txXfrm>
        <a:off x="2804617" y="1568280"/>
        <a:ext cx="2237563" cy="1342538"/>
      </dsp:txXfrm>
    </dsp:sp>
    <dsp:sp modelId="{419E0789-9032-46EB-8C63-39F72DE12F62}">
      <dsp:nvSpPr>
        <dsp:cNvPr id="0" name=""/>
        <dsp:cNvSpPr/>
      </dsp:nvSpPr>
      <dsp:spPr>
        <a:xfrm>
          <a:off x="5265937" y="1568280"/>
          <a:ext cx="2237563" cy="1342538"/>
        </a:xfrm>
        <a:prstGeom prst="rect">
          <a:avLst/>
        </a:prstGeom>
        <a:gradFill rotWithShape="0">
          <a:gsLst>
            <a:gs pos="0">
              <a:srgbClr val="00BDB7">
                <a:hueOff val="-775979"/>
                <a:satOff val="-32608"/>
                <a:lumOff val="19608"/>
                <a:alphaOff val="0"/>
                <a:satMod val="103000"/>
                <a:lumMod val="102000"/>
                <a:tint val="94000"/>
              </a:srgbClr>
            </a:gs>
            <a:gs pos="50000">
              <a:srgbClr val="00BDB7">
                <a:hueOff val="-775979"/>
                <a:satOff val="-32608"/>
                <a:lumOff val="19608"/>
                <a:alphaOff val="0"/>
                <a:satMod val="110000"/>
                <a:lumMod val="100000"/>
                <a:shade val="100000"/>
              </a:srgbClr>
            </a:gs>
            <a:gs pos="100000">
              <a:srgbClr val="00BDB7">
                <a:hueOff val="-775979"/>
                <a:satOff val="-32608"/>
                <a:lumOff val="19608"/>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u="none" strike="noStrike" kern="1200">
              <a:solidFill>
                <a:srgbClr val="FFFFFF"/>
              </a:solidFill>
              <a:effectLst/>
              <a:latin typeface="Arial" panose="020B0604020202020204"/>
              <a:ea typeface="+mn-ea"/>
              <a:cs typeface="+mn-cs"/>
            </a:rPr>
            <a:t>UoM and Quantity</a:t>
          </a:r>
        </a:p>
        <a:p>
          <a:pPr marL="0" lvl="0" indent="0" algn="ctr" defTabSz="1066800">
            <a:lnSpc>
              <a:spcPct val="90000"/>
            </a:lnSpc>
            <a:spcBef>
              <a:spcPct val="0"/>
            </a:spcBef>
            <a:spcAft>
              <a:spcPct val="35000"/>
            </a:spcAft>
            <a:buNone/>
          </a:pPr>
          <a:r>
            <a:rPr lang="en-US" sz="1200" u="none" strike="noStrike" kern="1200">
              <a:solidFill>
                <a:srgbClr val="FFFFFF"/>
              </a:solidFill>
              <a:effectLst/>
              <a:latin typeface="Arial" panose="020B0604020202020204"/>
              <a:ea typeface="+mn-ea"/>
              <a:cs typeface="+mn-cs"/>
            </a:rPr>
            <a:t>If UoM is populated, quantity is required and vice versa</a:t>
          </a:r>
          <a:endParaRPr lang="en-US" sz="1200" kern="1200">
            <a:solidFill>
              <a:srgbClr val="FFFFFF"/>
            </a:solidFill>
            <a:latin typeface="Arial" panose="020B0604020202020204"/>
            <a:ea typeface="+mn-ea"/>
            <a:cs typeface="+mn-cs"/>
          </a:endParaRPr>
        </a:p>
      </dsp:txBody>
      <dsp:txXfrm>
        <a:off x="5265937" y="1568280"/>
        <a:ext cx="2237563" cy="1342538"/>
      </dsp:txXfrm>
    </dsp:sp>
    <dsp:sp modelId="{B3DDC2DB-D2BF-4DF4-87DC-00F9C17AC259}">
      <dsp:nvSpPr>
        <dsp:cNvPr id="0" name=""/>
        <dsp:cNvSpPr/>
      </dsp:nvSpPr>
      <dsp:spPr>
        <a:xfrm>
          <a:off x="343297" y="3134574"/>
          <a:ext cx="2237563" cy="1342538"/>
        </a:xfrm>
        <a:prstGeom prst="rect">
          <a:avLst/>
        </a:prstGeom>
        <a:gradFill rotWithShape="0">
          <a:gsLst>
            <a:gs pos="0">
              <a:srgbClr val="00BDB7">
                <a:hueOff val="-931174"/>
                <a:satOff val="-39130"/>
                <a:lumOff val="23529"/>
                <a:alphaOff val="0"/>
                <a:satMod val="103000"/>
                <a:lumMod val="102000"/>
                <a:tint val="94000"/>
              </a:srgbClr>
            </a:gs>
            <a:gs pos="50000">
              <a:srgbClr val="00BDB7">
                <a:hueOff val="-931174"/>
                <a:satOff val="-39130"/>
                <a:lumOff val="23529"/>
                <a:alphaOff val="0"/>
                <a:satMod val="110000"/>
                <a:lumMod val="100000"/>
                <a:shade val="100000"/>
              </a:srgbClr>
            </a:gs>
            <a:gs pos="100000">
              <a:srgbClr val="00BDB7">
                <a:hueOff val="-931174"/>
                <a:satOff val="-39130"/>
                <a:lumOff val="23529"/>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kern="1200">
              <a:solidFill>
                <a:srgbClr val="FFFFFF"/>
              </a:solidFill>
              <a:effectLst/>
              <a:latin typeface="Arial" panose="020B0604020202020204"/>
              <a:ea typeface="+mn-ea"/>
              <a:cs typeface="+mn-cs"/>
            </a:rPr>
            <a:t>Material</a:t>
          </a:r>
        </a:p>
        <a:p>
          <a:pPr marL="0" lvl="0" indent="0" algn="ctr" defTabSz="1066800">
            <a:lnSpc>
              <a:spcPct val="90000"/>
            </a:lnSpc>
            <a:spcBef>
              <a:spcPct val="0"/>
            </a:spcBef>
            <a:spcAft>
              <a:spcPct val="35000"/>
            </a:spcAft>
            <a:buNone/>
          </a:pPr>
          <a:r>
            <a:rPr lang="en-US" sz="1200" kern="1200">
              <a:solidFill>
                <a:srgbClr val="FFFFFF"/>
              </a:solidFill>
              <a:latin typeface="Arial" panose="020B0604020202020204"/>
              <a:ea typeface="+mn-ea"/>
              <a:cs typeface="+mn-cs"/>
            </a:rPr>
            <a:t>Material is populated, brand family and product type should be greyed out and vice versa</a:t>
          </a:r>
        </a:p>
      </dsp:txBody>
      <dsp:txXfrm>
        <a:off x="343297" y="3134574"/>
        <a:ext cx="2237563" cy="1342538"/>
      </dsp:txXfrm>
    </dsp:sp>
    <dsp:sp modelId="{9A2E643B-AFDF-4340-B82D-F2C7CA31DC8F}">
      <dsp:nvSpPr>
        <dsp:cNvPr id="0" name=""/>
        <dsp:cNvSpPr/>
      </dsp:nvSpPr>
      <dsp:spPr>
        <a:xfrm>
          <a:off x="2804617" y="3134574"/>
          <a:ext cx="2237563" cy="1342538"/>
        </a:xfrm>
        <a:prstGeom prst="rect">
          <a:avLst/>
        </a:prstGeom>
        <a:gradFill rotWithShape="0">
          <a:gsLst>
            <a:gs pos="0">
              <a:srgbClr val="00BDB7">
                <a:hueOff val="-1086370"/>
                <a:satOff val="-45651"/>
                <a:lumOff val="27451"/>
                <a:alphaOff val="0"/>
                <a:satMod val="103000"/>
                <a:lumMod val="102000"/>
                <a:tint val="94000"/>
              </a:srgbClr>
            </a:gs>
            <a:gs pos="50000">
              <a:srgbClr val="00BDB7">
                <a:hueOff val="-1086370"/>
                <a:satOff val="-45651"/>
                <a:lumOff val="27451"/>
                <a:alphaOff val="0"/>
                <a:satMod val="110000"/>
                <a:lumMod val="100000"/>
                <a:shade val="100000"/>
              </a:srgbClr>
            </a:gs>
            <a:gs pos="100000">
              <a:srgbClr val="00BDB7">
                <a:hueOff val="-1086370"/>
                <a:satOff val="-45651"/>
                <a:lumOff val="27451"/>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u="none" strike="noStrike" kern="1200">
              <a:solidFill>
                <a:srgbClr val="FFFFFF"/>
              </a:solidFill>
              <a:effectLst/>
              <a:latin typeface="Arial" panose="020B0604020202020204"/>
              <a:ea typeface="+mn-ea"/>
              <a:cs typeface="+mn-cs"/>
            </a:rPr>
            <a:t>Trade Channel</a:t>
          </a:r>
        </a:p>
        <a:p>
          <a:pPr marL="0" lvl="0" indent="0" algn="ctr" defTabSz="1066800">
            <a:lnSpc>
              <a:spcPct val="90000"/>
            </a:lnSpc>
            <a:spcBef>
              <a:spcPct val="0"/>
            </a:spcBef>
            <a:spcAft>
              <a:spcPct val="35000"/>
            </a:spcAft>
            <a:buNone/>
          </a:pPr>
          <a:r>
            <a:rPr lang="en-US" sz="1200" u="none" strike="noStrike" kern="1200">
              <a:solidFill>
                <a:srgbClr val="FFFFFF"/>
              </a:solidFill>
              <a:effectLst/>
              <a:latin typeface="Arial" panose="020B0604020202020204"/>
              <a:ea typeface="+mn-ea"/>
              <a:cs typeface="+mn-cs"/>
            </a:rPr>
            <a:t>2 options will be available in drop down “Online” vs “Offline”</a:t>
          </a:r>
          <a:endParaRPr lang="en-US" sz="1200" kern="1200">
            <a:solidFill>
              <a:srgbClr val="FFFFFF"/>
            </a:solidFill>
            <a:latin typeface="Arial" panose="020B0604020202020204"/>
            <a:ea typeface="+mn-ea"/>
            <a:cs typeface="+mn-cs"/>
          </a:endParaRPr>
        </a:p>
      </dsp:txBody>
      <dsp:txXfrm>
        <a:off x="2804617" y="3134574"/>
        <a:ext cx="2237563" cy="1342538"/>
      </dsp:txXfrm>
    </dsp:sp>
    <dsp:sp modelId="{86A35C91-C1DA-445E-8AEF-94CC8F6BF58D}">
      <dsp:nvSpPr>
        <dsp:cNvPr id="0" name=""/>
        <dsp:cNvSpPr/>
      </dsp:nvSpPr>
      <dsp:spPr>
        <a:xfrm>
          <a:off x="5265937" y="3134574"/>
          <a:ext cx="2237563" cy="1342538"/>
        </a:xfrm>
        <a:prstGeom prst="rect">
          <a:avLst/>
        </a:prstGeom>
        <a:gradFill rotWithShape="0">
          <a:gsLst>
            <a:gs pos="0">
              <a:srgbClr val="00BDB7">
                <a:hueOff val="-1241566"/>
                <a:satOff val="-52173"/>
                <a:lumOff val="31372"/>
                <a:alphaOff val="0"/>
                <a:satMod val="103000"/>
                <a:lumMod val="102000"/>
                <a:tint val="94000"/>
              </a:srgbClr>
            </a:gs>
            <a:gs pos="50000">
              <a:srgbClr val="00BDB7">
                <a:hueOff val="-1241566"/>
                <a:satOff val="-52173"/>
                <a:lumOff val="31372"/>
                <a:alphaOff val="0"/>
                <a:satMod val="110000"/>
                <a:lumMod val="100000"/>
                <a:shade val="100000"/>
              </a:srgbClr>
            </a:gs>
            <a:gs pos="100000">
              <a:srgbClr val="00BDB7">
                <a:hueOff val="-1241566"/>
                <a:satOff val="-52173"/>
                <a:lumOff val="31372"/>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FFFFF"/>
              </a:solidFill>
              <a:effectLst/>
              <a:latin typeface="Arial" panose="020B0604020202020204"/>
              <a:ea typeface="+mn-ea"/>
              <a:cs typeface="+mn-cs"/>
            </a:rPr>
            <a:t>Granularity*</a:t>
          </a:r>
        </a:p>
        <a:p>
          <a:pPr marL="0" lvl="0" indent="0" algn="ctr" defTabSz="1066800">
            <a:lnSpc>
              <a:spcPct val="90000"/>
            </a:lnSpc>
            <a:spcBef>
              <a:spcPct val="0"/>
            </a:spcBef>
            <a:spcAft>
              <a:spcPct val="35000"/>
            </a:spcAft>
            <a:buNone/>
          </a:pPr>
          <a:r>
            <a:rPr lang="en-US" sz="1200" kern="1200">
              <a:solidFill>
                <a:srgbClr val="FFFFFF"/>
              </a:solidFill>
              <a:effectLst/>
              <a:latin typeface="Arial" panose="020B0604020202020204"/>
              <a:ea typeface="+mn-ea"/>
              <a:cs typeface="+mn-cs"/>
            </a:rPr>
            <a:t>Granularity is determined by Field status group assigned to GL accounts at the company code level (button </a:t>
          </a:r>
          <a:r>
            <a:rPr lang="ru-RU" sz="1200" kern="1200">
              <a:solidFill>
                <a:srgbClr val="FFFFFF"/>
              </a:solidFill>
              <a:latin typeface="Arial" panose="020B0604020202020204"/>
              <a:ea typeface="+mn-ea"/>
              <a:cs typeface="+mn-cs"/>
            </a:rPr>
            <a:t>Check GL Accounts</a:t>
          </a:r>
          <a:r>
            <a:rPr lang="en-US" sz="1200" kern="1200">
              <a:solidFill>
                <a:srgbClr val="FFFFFF"/>
              </a:solidFill>
              <a:latin typeface="Arial" panose="020B0604020202020204"/>
              <a:ea typeface="+mn-ea"/>
              <a:cs typeface="+mn-cs"/>
            </a:rPr>
            <a:t>)</a:t>
          </a:r>
        </a:p>
      </dsp:txBody>
      <dsp:txXfrm>
        <a:off x="5265937" y="3134574"/>
        <a:ext cx="2237563" cy="134253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26C3-3033-429F-BFD6-A0B98831C760}" type="datetimeFigureOut">
              <a:rPr lang="en-US" smtClean="0"/>
              <a:t>2/14/2023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B6048-0406-41EC-B40F-FEAC49E26C9D}" type="slidenum">
              <a:rPr lang="en-US" smtClean="0"/>
              <a:t>‹#›</a:t>
            </a:fld>
            <a:endParaRPr lang="en-US"/>
          </a:p>
        </p:txBody>
      </p:sp>
    </p:spTree>
    <p:extLst>
      <p:ext uri="{BB962C8B-B14F-4D97-AF65-F5344CB8AC3E}">
        <p14:creationId xmlns:p14="http://schemas.microsoft.com/office/powerpoint/2010/main" val="496888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88F551-394F-40D6-9B2D-12F708E483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0825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0.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1039642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711998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44121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466616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329956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22678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3741001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GB" sz="800" b="0" i="0" u="none" strike="noStrike" kern="1200" cap="none" spc="0" normalizeH="0" baseline="0" noProof="0" err="1">
                <a:ln>
                  <a:noFill/>
                </a:ln>
                <a:solidFill>
                  <a:srgbClr val="FFFFFF"/>
                </a:solidFill>
                <a:effectLst/>
                <a:uLnTx/>
                <a:uFillTx/>
                <a:latin typeface="Arial" panose="020B0604020202020204"/>
                <a:ea typeface="+mn-ea"/>
                <a:cs typeface="+mn-cs"/>
              </a:rPr>
              <a:t>JTI</a:t>
            </a: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Tree>
    <p:extLst>
      <p:ext uri="{BB962C8B-B14F-4D97-AF65-F5344CB8AC3E}">
        <p14:creationId xmlns:p14="http://schemas.microsoft.com/office/powerpoint/2010/main" val="3873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364889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F04DD-055F-4DF8-8046-823C8DE061D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1BBF04DD-055F-4DF8-8046-823C8DE061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1270673-9415-401F-89B5-DB068CE9828E}"/>
              </a:ext>
            </a:extLst>
          </p:cNvPr>
          <p:cNvSpPr/>
          <p:nvPr userDrawn="1">
            <p:custDataLst>
              <p:tags r:id="rId2"/>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199" b="1" i="0" baseline="0">
              <a:latin typeface="Arial" panose="020B0604020202020204" pitchFamily="34" charset="0"/>
              <a:ea typeface="+mj-ea"/>
              <a:cs typeface="+mj-cs"/>
              <a:sym typeface="Arial" panose="020B0604020202020204" pitchFamily="34" charset="0"/>
            </a:endParaRPr>
          </a:p>
        </p:txBody>
      </p:sp>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 name="Footer Placeholder 3"/>
          <p:cNvSpPr>
            <a:spLocks noGrp="1"/>
          </p:cNvSpPr>
          <p:nvPr>
            <p:ph type="ftr" sz="quarter" idx="11"/>
          </p:nvPr>
        </p:nvSpPr>
        <p:spPr/>
        <p:txBody>
          <a:bodyPr/>
          <a:lstStyle/>
          <a:p>
            <a:r>
              <a:rPr lang="en-US"/>
              <a:t>S4F-ERP FIT 2</a:t>
            </a:r>
          </a:p>
        </p:txBody>
      </p:sp>
      <p:sp>
        <p:nvSpPr>
          <p:cNvPr id="5" name="Slide Number Placeholder 4"/>
          <p:cNvSpPr>
            <a:spLocks noGrp="1"/>
          </p:cNvSpPr>
          <p:nvPr>
            <p:ph type="sldNum" sz="quarter" idx="12"/>
          </p:nvPr>
        </p:nvSpPr>
        <p:spPr>
          <a:xfrm>
            <a:off x="9144000" y="646509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US" sz="800"/>
              <a:t>© JTI 2018 Confidential </a:t>
            </a:r>
          </a:p>
        </p:txBody>
      </p:sp>
    </p:spTree>
    <p:extLst>
      <p:ext uri="{BB962C8B-B14F-4D97-AF65-F5344CB8AC3E}">
        <p14:creationId xmlns:p14="http://schemas.microsoft.com/office/powerpoint/2010/main" val="1008576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90057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33" name="Group 32">
            <a:extLst>
              <a:ext uri="{FF2B5EF4-FFF2-40B4-BE49-F238E27FC236}">
                <a16:creationId xmlns:a16="http://schemas.microsoft.com/office/drawing/2014/main" id="{0B4CBA28-D150-432B-B948-A80EAF14F1DB}"/>
              </a:ext>
            </a:extLst>
          </p:cNvPr>
          <p:cNvGrpSpPr/>
          <p:nvPr/>
        </p:nvGrpSpPr>
        <p:grpSpPr>
          <a:xfrm>
            <a:off x="215253" y="2446854"/>
            <a:ext cx="6278883" cy="2825616"/>
            <a:chOff x="4428422" y="2334368"/>
            <a:chExt cx="7806123" cy="3512903"/>
          </a:xfrm>
        </p:grpSpPr>
        <p:cxnSp>
          <p:nvCxnSpPr>
            <p:cNvPr id="54" name="Straight Connector 53">
              <a:extLst>
                <a:ext uri="{FF2B5EF4-FFF2-40B4-BE49-F238E27FC236}">
                  <a16:creationId xmlns:a16="http://schemas.microsoft.com/office/drawing/2014/main" id="{BBE7A980-B3B3-4866-90BD-C4825E223823}"/>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C8585EA-B378-449B-BE6D-FBFA99535DB5}"/>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EAF45949-3769-489D-A71A-2F870EACB4A8}"/>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8BDFB0AF-A821-4BC1-960F-E1482E8C5ACF}"/>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5D0B86D1-D4C3-47A3-9CE0-1AD0552BCA65}"/>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23363022-A64A-49A5-8BE4-98CAB99442E2}"/>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D8C34368-D6D4-4B0B-A307-0B635720E86D}"/>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6D3C328A-B6AD-4905-A8A8-54A4739FF410}"/>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8462B847-73DC-4CDB-9EB2-C4D2AE9B41A5}"/>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E3ED8521-5DFF-433B-B780-0F9D14573BE4}"/>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8B23A4D5-A324-4EF3-8CCF-5EF61EDA8AD0}"/>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FE7E7D21-5559-44CA-BEF5-4356223F704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C5AD3CDD-D4C3-4506-9906-0E4EDFEC4C36}"/>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07E7BB9F-DEB0-4B2C-A143-7B4FCFA80DE3}"/>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0E1C7B5D-5997-4EF9-8632-2583021FD315}"/>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019E8849-A346-47C7-9567-9C19C6A65A1B}"/>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43E0F5AD-9B61-4B21-A5B0-CDAC6C286C96}"/>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62646DD-A37F-487E-98A9-CD10FC0A5C49}"/>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12A26A85-F1C7-4E7B-A6A6-10A7D9AF810D}"/>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grpSp>
        <p:nvGrpSpPr>
          <p:cNvPr id="32" name="Group 31">
            <a:extLst>
              <a:ext uri="{FF2B5EF4-FFF2-40B4-BE49-F238E27FC236}">
                <a16:creationId xmlns:a16="http://schemas.microsoft.com/office/drawing/2014/main" id="{4E4952FD-F86E-4E8F-80D2-046F50897D9B}"/>
              </a:ext>
            </a:extLst>
          </p:cNvPr>
          <p:cNvGrpSpPr/>
          <p:nvPr/>
        </p:nvGrpSpPr>
        <p:grpSpPr>
          <a:xfrm>
            <a:off x="6370412" y="2883204"/>
            <a:ext cx="4908388" cy="2342145"/>
            <a:chOff x="6231360" y="2921568"/>
            <a:chExt cx="4908388" cy="2342145"/>
          </a:xfrm>
        </p:grpSpPr>
        <p:grpSp>
          <p:nvGrpSpPr>
            <p:cNvPr id="35" name="Group 34">
              <a:extLst>
                <a:ext uri="{FF2B5EF4-FFF2-40B4-BE49-F238E27FC236}">
                  <a16:creationId xmlns:a16="http://schemas.microsoft.com/office/drawing/2014/main" id="{6251F476-3F01-4440-BB7F-EA19DBB3E95A}"/>
                </a:ext>
              </a:extLst>
            </p:cNvPr>
            <p:cNvGrpSpPr/>
            <p:nvPr/>
          </p:nvGrpSpPr>
          <p:grpSpPr>
            <a:xfrm>
              <a:off x="6231360" y="2921568"/>
              <a:ext cx="4908388" cy="2342145"/>
              <a:chOff x="7304060" y="2043608"/>
              <a:chExt cx="4908388" cy="2342145"/>
            </a:xfrm>
          </p:grpSpPr>
          <p:cxnSp>
            <p:nvCxnSpPr>
              <p:cNvPr id="41" name="Elbow Connector 7">
                <a:extLst>
                  <a:ext uri="{FF2B5EF4-FFF2-40B4-BE49-F238E27FC236}">
                    <a16:creationId xmlns:a16="http://schemas.microsoft.com/office/drawing/2014/main" id="{8C8C7E22-0914-4F9F-AD75-5BFA216D68FB}"/>
                  </a:ext>
                </a:extLst>
              </p:cNvPr>
              <p:cNvCxnSpPr>
                <a:cxnSpLocks/>
              </p:cNvCxnSpPr>
              <p:nvPr/>
            </p:nvCxnSpPr>
            <p:spPr>
              <a:xfrm>
                <a:off x="7304060" y="3038843"/>
                <a:ext cx="1009162" cy="870789"/>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2" name="Elbow Connector 4">
                <a:extLst>
                  <a:ext uri="{FF2B5EF4-FFF2-40B4-BE49-F238E27FC236}">
                    <a16:creationId xmlns:a16="http://schemas.microsoft.com/office/drawing/2014/main" id="{11F849D7-630A-4B41-8510-D7229BCFB240}"/>
                  </a:ext>
                </a:extLst>
              </p:cNvPr>
              <p:cNvCxnSpPr>
                <a:cxnSpLocks/>
              </p:cNvCxnSpPr>
              <p:nvPr/>
            </p:nvCxnSpPr>
            <p:spPr>
              <a:xfrm flipV="1">
                <a:off x="7304060" y="2171661"/>
                <a:ext cx="1008701" cy="871228"/>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3" name="Rounded Rectangle 38">
                <a:extLst>
                  <a:ext uri="{FF2B5EF4-FFF2-40B4-BE49-F238E27FC236}">
                    <a16:creationId xmlns:a16="http://schemas.microsoft.com/office/drawing/2014/main" id="{EAD0BE13-7155-4458-9C41-B16A824C4AA3}"/>
                  </a:ext>
                </a:extLst>
              </p:cNvPr>
              <p:cNvSpPr/>
              <p:nvPr/>
            </p:nvSpPr>
            <p:spPr>
              <a:xfrm>
                <a:off x="8520653" y="3581941"/>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900" b="1" i="0" u="none" strike="noStrike" kern="1200" cap="none" spc="0" normalizeH="0" baseline="0" noProof="0">
                    <a:ln>
                      <a:noFill/>
                    </a:ln>
                    <a:solidFill>
                      <a:srgbClr val="1A3040"/>
                    </a:solidFill>
                    <a:effectLst/>
                    <a:uLnTx/>
                    <a:uFillTx/>
                    <a:latin typeface="Arial" charset="0"/>
                    <a:ea typeface="+mn-ea"/>
                    <a:cs typeface="Arial" charset="0"/>
                  </a:rPr>
                  <a:t>Dimensions Derivation and Value Flow</a:t>
                </a:r>
              </a:p>
            </p:txBody>
          </p:sp>
          <p:sp>
            <p:nvSpPr>
              <p:cNvPr id="44" name="Rounded Rectangle 39">
                <a:extLst>
                  <a:ext uri="{FF2B5EF4-FFF2-40B4-BE49-F238E27FC236}">
                    <a16:creationId xmlns:a16="http://schemas.microsoft.com/office/drawing/2014/main" id="{E7A68C9F-2EED-4C9B-B89E-FF0F7164107F}"/>
                  </a:ext>
                </a:extLst>
              </p:cNvPr>
              <p:cNvSpPr/>
              <p:nvPr/>
            </p:nvSpPr>
            <p:spPr>
              <a:xfrm>
                <a:off x="8520653" y="2043608"/>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Dimensions Overview</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grpSp>
        <p:sp>
          <p:nvSpPr>
            <p:cNvPr id="36" name="Rounded Rectangle 39">
              <a:extLst>
                <a:ext uri="{FF2B5EF4-FFF2-40B4-BE49-F238E27FC236}">
                  <a16:creationId xmlns:a16="http://schemas.microsoft.com/office/drawing/2014/main" id="{A02C8663-B115-439D-A7F0-1AB6BD8915B1}"/>
                </a:ext>
              </a:extLst>
            </p:cNvPr>
            <p:cNvSpPr/>
            <p:nvPr/>
          </p:nvSpPr>
          <p:spPr>
            <a:xfrm>
              <a:off x="7447953" y="3666215"/>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Key Dimensions</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cxnSp>
          <p:nvCxnSpPr>
            <p:cNvPr id="37" name="Straight Connector 36">
              <a:extLst>
                <a:ext uri="{FF2B5EF4-FFF2-40B4-BE49-F238E27FC236}">
                  <a16:creationId xmlns:a16="http://schemas.microsoft.com/office/drawing/2014/main" id="{6D062C18-0E97-4313-B9CF-8E78C74F956E}"/>
                </a:ext>
              </a:extLst>
            </p:cNvPr>
            <p:cNvCxnSpPr>
              <a:cxnSpLocks/>
            </p:cNvCxnSpPr>
            <p:nvPr/>
          </p:nvCxnSpPr>
          <p:spPr>
            <a:xfrm>
              <a:off x="6712291" y="3913377"/>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6111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C40697EE-6667-42E0-BF0C-25CDB86DDB1C}"/>
              </a:ext>
            </a:extLst>
          </p:cNvPr>
          <p:cNvCxnSpPr>
            <a:cxnSpLocks/>
          </p:cNvCxnSpPr>
          <p:nvPr/>
        </p:nvCxnSpPr>
        <p:spPr>
          <a:xfrm>
            <a:off x="3660188" y="3737029"/>
            <a:ext cx="3159922" cy="1488"/>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 name="Arrow: Right 70">
            <a:extLst>
              <a:ext uri="{FF2B5EF4-FFF2-40B4-BE49-F238E27FC236}">
                <a16:creationId xmlns:a16="http://schemas.microsoft.com/office/drawing/2014/main" id="{06B28BD0-B8CD-4B80-8FE2-123595EFFECD}"/>
              </a:ext>
            </a:extLst>
          </p:cNvPr>
          <p:cNvSpPr/>
          <p:nvPr/>
        </p:nvSpPr>
        <p:spPr>
          <a:xfrm>
            <a:off x="9415638" y="2512175"/>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5" name="Straight Connector 64">
            <a:extLst>
              <a:ext uri="{FF2B5EF4-FFF2-40B4-BE49-F238E27FC236}">
                <a16:creationId xmlns:a16="http://schemas.microsoft.com/office/drawing/2014/main" id="{AD096336-C22C-43B6-845F-081454D0037F}"/>
              </a:ext>
            </a:extLst>
          </p:cNvPr>
          <p:cNvCxnSpPr>
            <a:cxnSpLocks/>
          </p:cNvCxnSpPr>
          <p:nvPr/>
        </p:nvCxnSpPr>
        <p:spPr>
          <a:xfrm>
            <a:off x="2963666" y="1854201"/>
            <a:ext cx="0" cy="361557"/>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C6AC6FB-1118-4A00-BF3F-B4552F3A4CC4}"/>
              </a:ext>
            </a:extLst>
          </p:cNvPr>
          <p:cNvSpPr>
            <a:spLocks noGrp="1"/>
          </p:cNvSpPr>
          <p:nvPr>
            <p:ph type="title"/>
          </p:nvPr>
        </p:nvSpPr>
        <p:spPr>
          <a:xfrm>
            <a:off x="1511276" y="210344"/>
            <a:ext cx="8902723" cy="984247"/>
          </a:xfrm>
        </p:spPr>
        <p:txBody>
          <a:bodyPr/>
          <a:lstStyle/>
          <a:p>
            <a:r>
              <a:rPr lang="en-GB"/>
              <a:t>Profitability Analysis – Value Flows</a:t>
            </a:r>
            <a:endParaRPr lang="en-US"/>
          </a:p>
        </p:txBody>
      </p:sp>
      <p:sp>
        <p:nvSpPr>
          <p:cNvPr id="4" name="Footer Placeholder 3">
            <a:extLst>
              <a:ext uri="{FF2B5EF4-FFF2-40B4-BE49-F238E27FC236}">
                <a16:creationId xmlns:a16="http://schemas.microsoft.com/office/drawing/2014/main" id="{8FEB7B36-7F97-4CDD-A318-0CFD315751E7}"/>
              </a:ext>
            </a:extLst>
          </p:cNvPr>
          <p:cNvSpPr>
            <a:spLocks noGrp="1"/>
          </p:cNvSpPr>
          <p:nvPr>
            <p:ph type="ftr" sz="quarter" idx="11"/>
          </p:nvPr>
        </p:nvSpPr>
        <p:spPr>
          <a:xfrm>
            <a:off x="7077073" y="6297521"/>
            <a:ext cx="420172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4AA4FA7A-BA70-49C8-ABA7-35641537FFE0}"/>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Arrow: Right 25">
            <a:extLst>
              <a:ext uri="{FF2B5EF4-FFF2-40B4-BE49-F238E27FC236}">
                <a16:creationId xmlns:a16="http://schemas.microsoft.com/office/drawing/2014/main" id="{4E7577C1-4B56-48AA-9B61-FD17E9373E59}"/>
              </a:ext>
            </a:extLst>
          </p:cNvPr>
          <p:cNvSpPr/>
          <p:nvPr/>
        </p:nvSpPr>
        <p:spPr>
          <a:xfrm flipV="1">
            <a:off x="3669592" y="4841531"/>
            <a:ext cx="4058857" cy="134655"/>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Arrow: Right 23">
            <a:extLst>
              <a:ext uri="{FF2B5EF4-FFF2-40B4-BE49-F238E27FC236}">
                <a16:creationId xmlns:a16="http://schemas.microsoft.com/office/drawing/2014/main" id="{67023741-A225-46DA-BAA7-709242EA1050}"/>
              </a:ext>
            </a:extLst>
          </p:cNvPr>
          <p:cNvSpPr/>
          <p:nvPr/>
        </p:nvSpPr>
        <p:spPr>
          <a:xfrm flipV="1">
            <a:off x="6096000" y="2563357"/>
            <a:ext cx="1651026" cy="144849"/>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Arrow: Right 22">
            <a:extLst>
              <a:ext uri="{FF2B5EF4-FFF2-40B4-BE49-F238E27FC236}">
                <a16:creationId xmlns:a16="http://schemas.microsoft.com/office/drawing/2014/main" id="{94E8AD87-296E-44A6-8465-C519A69B8D5D}"/>
              </a:ext>
            </a:extLst>
          </p:cNvPr>
          <p:cNvSpPr/>
          <p:nvPr/>
        </p:nvSpPr>
        <p:spPr>
          <a:xfrm>
            <a:off x="1841712" y="6038143"/>
            <a:ext cx="5905316" cy="161750"/>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Arrow: Right 20">
            <a:extLst>
              <a:ext uri="{FF2B5EF4-FFF2-40B4-BE49-F238E27FC236}">
                <a16:creationId xmlns:a16="http://schemas.microsoft.com/office/drawing/2014/main" id="{23F4671D-B969-4C87-A9F5-FB7FF3B0A46C}"/>
              </a:ext>
            </a:extLst>
          </p:cNvPr>
          <p:cNvSpPr/>
          <p:nvPr/>
        </p:nvSpPr>
        <p:spPr>
          <a:xfrm>
            <a:off x="1529654" y="4823858"/>
            <a:ext cx="796168" cy="136559"/>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Arrow: Right 18">
            <a:extLst>
              <a:ext uri="{FF2B5EF4-FFF2-40B4-BE49-F238E27FC236}">
                <a16:creationId xmlns:a16="http://schemas.microsoft.com/office/drawing/2014/main" id="{3405FB48-17C2-477B-9305-3F0DB67365F6}"/>
              </a:ext>
            </a:extLst>
          </p:cNvPr>
          <p:cNvSpPr/>
          <p:nvPr/>
        </p:nvSpPr>
        <p:spPr>
          <a:xfrm>
            <a:off x="1510077" y="2809800"/>
            <a:ext cx="796168" cy="13732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3" name="Group 12">
            <a:extLst>
              <a:ext uri="{FF2B5EF4-FFF2-40B4-BE49-F238E27FC236}">
                <a16:creationId xmlns:a16="http://schemas.microsoft.com/office/drawing/2014/main" id="{DE977DC0-C038-4CC0-8FB8-127F4C3A9A38}"/>
              </a:ext>
            </a:extLst>
          </p:cNvPr>
          <p:cNvGrpSpPr/>
          <p:nvPr/>
        </p:nvGrpSpPr>
        <p:grpSpPr>
          <a:xfrm>
            <a:off x="558800" y="2167704"/>
            <a:ext cx="3228988" cy="4047263"/>
            <a:chOff x="908957" y="1703614"/>
            <a:chExt cx="3762876" cy="5233551"/>
          </a:xfrm>
        </p:grpSpPr>
        <p:sp>
          <p:nvSpPr>
            <p:cNvPr id="3" name="Rectangle 2">
              <a:extLst>
                <a:ext uri="{FF2B5EF4-FFF2-40B4-BE49-F238E27FC236}">
                  <a16:creationId xmlns:a16="http://schemas.microsoft.com/office/drawing/2014/main" id="{506A000D-4E4E-494C-A6F3-B8E6EE0E7DAC}"/>
                </a:ext>
              </a:extLst>
            </p:cNvPr>
            <p:cNvSpPr/>
            <p:nvPr/>
          </p:nvSpPr>
          <p:spPr>
            <a:xfrm>
              <a:off x="908957" y="1703615"/>
              <a:ext cx="767637" cy="5233550"/>
            </a:xfrm>
            <a:prstGeom prst="rect">
              <a:avLst/>
            </a:prstGeom>
            <a:solidFill>
              <a:schemeClr val="accent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Financial Accounting</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8E2B194A-7DE6-4327-81DE-F6EDB648B4EF}"/>
                </a:ext>
              </a:extLst>
            </p:cNvPr>
            <p:cNvSpPr/>
            <p:nvPr/>
          </p:nvSpPr>
          <p:spPr>
            <a:xfrm>
              <a:off x="1812471" y="1703615"/>
              <a:ext cx="840995" cy="5233550"/>
            </a:xfrm>
            <a:prstGeom prst="rect">
              <a:avLst/>
            </a:prstGeom>
            <a:solidFill>
              <a:schemeClr val="accent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Cost Element Accounting</a:t>
              </a:r>
              <a:endParaRPr kumimoji="0" lang="en-US"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AC9698F8-B65F-4EA4-81B1-5F0CC0349FC4}"/>
                </a:ext>
              </a:extLst>
            </p:cNvPr>
            <p:cNvSpPr/>
            <p:nvPr/>
          </p:nvSpPr>
          <p:spPr>
            <a:xfrm>
              <a:off x="2971800" y="1703614"/>
              <a:ext cx="1698172" cy="1972076"/>
            </a:xfrm>
            <a:prstGeom prst="rect">
              <a:avLst/>
            </a:prstGeom>
            <a:ln/>
            <a:effectLst>
              <a:outerShdw blurRad="50800" dist="38100" dir="18900000" algn="bl" rotWithShape="0">
                <a:prstClr val="black">
                  <a:alpha val="40000"/>
                </a:prstClr>
              </a:outerShdw>
            </a:effectLst>
            <a:scene3d>
              <a:camera prst="orthographicFront"/>
              <a:lightRig rig="threePt" dir="t"/>
            </a:scene3d>
            <a:sp3d>
              <a:bevelT w="165100" prst="coolSlan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Production</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FC5FF7B5-DCC2-4B49-A72C-FB8715DE9DEA}"/>
                </a:ext>
              </a:extLst>
            </p:cNvPr>
            <p:cNvSpPr/>
            <p:nvPr/>
          </p:nvSpPr>
          <p:spPr>
            <a:xfrm>
              <a:off x="2973661" y="4203097"/>
              <a:ext cx="1698172" cy="2044837"/>
            </a:xfrm>
            <a:prstGeom prst="rect">
              <a:avLst/>
            </a:prstGeom>
            <a:ln/>
            <a:effectLst>
              <a:outerShdw blurRad="50800" dist="38100" dir="18900000" algn="bl" rotWithShape="0">
                <a:prstClr val="black">
                  <a:alpha val="40000"/>
                </a:prstClr>
              </a:outerShdw>
            </a:effectLst>
            <a:scene3d>
              <a:camera prst="orthographicFront"/>
              <a:lightRig rig="threePt" dir="t"/>
            </a:scene3d>
            <a:sp3d>
              <a:bevelT w="165100" prst="coolSlan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Overhead Management</a:t>
              </a: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5" name="Oval 14">
            <a:extLst>
              <a:ext uri="{FF2B5EF4-FFF2-40B4-BE49-F238E27FC236}">
                <a16:creationId xmlns:a16="http://schemas.microsoft.com/office/drawing/2014/main" id="{B9C0D564-A4DA-4D40-8284-E288F5CE0652}"/>
              </a:ext>
            </a:extLst>
          </p:cNvPr>
          <p:cNvSpPr/>
          <p:nvPr/>
        </p:nvSpPr>
        <p:spPr>
          <a:xfrm>
            <a:off x="2456529" y="3351350"/>
            <a:ext cx="1213063" cy="872398"/>
          </a:xfrm>
          <a:prstGeom prst="ellipse">
            <a:avLst/>
          </a:prstGeom>
          <a:solidFill>
            <a:schemeClr val="accent6">
              <a:lumMod val="60000"/>
              <a:lumOff val="40000"/>
            </a:schemeClr>
          </a:solidFill>
          <a:ln>
            <a:solidFill>
              <a:schemeClr val="bg1">
                <a:lumMod val="75000"/>
              </a:schemeClr>
            </a:solid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panose="020B0604020202020204"/>
                <a:ea typeface="+mn-ea"/>
                <a:cs typeface="+mn-cs"/>
              </a:rPr>
              <a:t>Product Cost</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6DDB918F-68D3-4670-8FBD-8A4CEA0FD67F}"/>
              </a:ext>
            </a:extLst>
          </p:cNvPr>
          <p:cNvSpPr/>
          <p:nvPr/>
        </p:nvSpPr>
        <p:spPr>
          <a:xfrm>
            <a:off x="4016627" y="2167705"/>
            <a:ext cx="1962773" cy="872398"/>
          </a:xfrm>
          <a:prstGeom prst="rect">
            <a:avLst/>
          </a:prstGeom>
          <a:ln/>
          <a:scene3d>
            <a:camera prst="orthographicFront"/>
            <a:lightRig rig="threePt" dir="t"/>
          </a:scene3d>
          <a:sp3d>
            <a:bevelT/>
          </a:sp3d>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Sales &amp; Distribution (SD)</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4F766FCC-F908-4B3E-947D-D7E5105D2A7B}"/>
              </a:ext>
            </a:extLst>
          </p:cNvPr>
          <p:cNvSpPr/>
          <p:nvPr/>
        </p:nvSpPr>
        <p:spPr>
          <a:xfrm>
            <a:off x="9807110" y="2167704"/>
            <a:ext cx="1670320" cy="4047262"/>
          </a:xfrm>
          <a:prstGeom prst="rect">
            <a:avLst/>
          </a:prstGeom>
          <a:solidFill>
            <a:schemeClr val="accent6">
              <a:lumMod val="60000"/>
              <a:lumOff val="40000"/>
              <a:alpha val="50000"/>
            </a:schemeClr>
          </a:soli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Market P&amp;L </a:t>
            </a:r>
            <a:b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b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Profit Center </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CAF04676-672C-4443-8533-FE89F7C610D3}"/>
              </a:ext>
            </a:extLst>
          </p:cNvPr>
          <p:cNvSpPr txBox="1"/>
          <p:nvPr/>
        </p:nvSpPr>
        <p:spPr>
          <a:xfrm>
            <a:off x="4297495" y="4577126"/>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Allocations/Settlements</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39467736-E6C6-4D8B-A5BE-7D4F9ED2431F}"/>
              </a:ext>
            </a:extLst>
          </p:cNvPr>
          <p:cNvSpPr txBox="1"/>
          <p:nvPr/>
        </p:nvSpPr>
        <p:spPr>
          <a:xfrm>
            <a:off x="4315259" y="5767078"/>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Direct FI Posting</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A505E3F4-DAB2-40A2-AEEE-0B5256A490FA}"/>
              </a:ext>
            </a:extLst>
          </p:cNvPr>
          <p:cNvSpPr txBox="1"/>
          <p:nvPr/>
        </p:nvSpPr>
        <p:spPr>
          <a:xfrm>
            <a:off x="6394642" y="2261632"/>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Billing</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3" name="Arrow: Right 32">
            <a:extLst>
              <a:ext uri="{FF2B5EF4-FFF2-40B4-BE49-F238E27FC236}">
                <a16:creationId xmlns:a16="http://schemas.microsoft.com/office/drawing/2014/main" id="{B1E25FB6-A0D9-412D-AD1A-263F3A16192D}"/>
              </a:ext>
            </a:extLst>
          </p:cNvPr>
          <p:cNvSpPr/>
          <p:nvPr/>
        </p:nvSpPr>
        <p:spPr>
          <a:xfrm rot="5400000">
            <a:off x="8341161" y="1931034"/>
            <a:ext cx="289701" cy="136035"/>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5" name="Straight Connector 34">
            <a:extLst>
              <a:ext uri="{FF2B5EF4-FFF2-40B4-BE49-F238E27FC236}">
                <a16:creationId xmlns:a16="http://schemas.microsoft.com/office/drawing/2014/main" id="{1EF40F3F-7A65-4E02-94F3-2C9951A0CB09}"/>
              </a:ext>
            </a:extLst>
          </p:cNvPr>
          <p:cNvCxnSpPr>
            <a:cxnSpLocks/>
          </p:cNvCxnSpPr>
          <p:nvPr/>
        </p:nvCxnSpPr>
        <p:spPr>
          <a:xfrm flipV="1">
            <a:off x="2954041" y="1854201"/>
            <a:ext cx="5544755" cy="23196"/>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2EBF829-A7E2-407F-BC52-B4CBEBD0ACAC}"/>
              </a:ext>
            </a:extLst>
          </p:cNvPr>
          <p:cNvSpPr txBox="1"/>
          <p:nvPr/>
        </p:nvSpPr>
        <p:spPr>
          <a:xfrm>
            <a:off x="3669592" y="1529998"/>
            <a:ext cx="3934366" cy="30018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Production Variances - Settlement</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4C0C936E-A5EF-4A93-8D84-5474457F38D4}"/>
              </a:ext>
            </a:extLst>
          </p:cNvPr>
          <p:cNvSpPr/>
          <p:nvPr/>
        </p:nvSpPr>
        <p:spPr>
          <a:xfrm>
            <a:off x="7747029" y="2167705"/>
            <a:ext cx="1670320" cy="4047262"/>
          </a:xfrm>
          <a:prstGeom prst="rect">
            <a:avLst/>
          </a:prstGeom>
          <a:solidFill>
            <a:schemeClr val="accent3">
              <a:lumMod val="75000"/>
            </a:schemeClr>
          </a:solidFill>
          <a:ln/>
        </p:spPr>
        <p:style>
          <a:lnRef idx="1">
            <a:schemeClr val="accent4"/>
          </a:lnRef>
          <a:fillRef idx="3">
            <a:schemeClr val="accent4"/>
          </a:fillRef>
          <a:effectRef idx="2">
            <a:schemeClr val="accent4"/>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Profitability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CO-PA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(ACDOCA Table)</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Arrow: Right 71">
            <a:extLst>
              <a:ext uri="{FF2B5EF4-FFF2-40B4-BE49-F238E27FC236}">
                <a16:creationId xmlns:a16="http://schemas.microsoft.com/office/drawing/2014/main" id="{2EC36645-594B-445F-BB11-88C462BACBB3}"/>
              </a:ext>
            </a:extLst>
          </p:cNvPr>
          <p:cNvSpPr/>
          <p:nvPr/>
        </p:nvSpPr>
        <p:spPr>
          <a:xfrm>
            <a:off x="9415638" y="3637293"/>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3" name="Arrow: Right 72">
            <a:extLst>
              <a:ext uri="{FF2B5EF4-FFF2-40B4-BE49-F238E27FC236}">
                <a16:creationId xmlns:a16="http://schemas.microsoft.com/office/drawing/2014/main" id="{BA5548FD-29BE-4DBB-8EE0-9403AB6AF1FD}"/>
              </a:ext>
            </a:extLst>
          </p:cNvPr>
          <p:cNvSpPr/>
          <p:nvPr/>
        </p:nvSpPr>
        <p:spPr>
          <a:xfrm>
            <a:off x="9412698" y="4583051"/>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4" name="Arrow: Right 73">
            <a:extLst>
              <a:ext uri="{FF2B5EF4-FFF2-40B4-BE49-F238E27FC236}">
                <a16:creationId xmlns:a16="http://schemas.microsoft.com/office/drawing/2014/main" id="{1957CF8F-DC6B-47D4-9AD7-E3381A25B062}"/>
              </a:ext>
            </a:extLst>
          </p:cNvPr>
          <p:cNvSpPr/>
          <p:nvPr/>
        </p:nvSpPr>
        <p:spPr>
          <a:xfrm>
            <a:off x="9400498" y="5440286"/>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Arrow: Right 76">
            <a:extLst>
              <a:ext uri="{FF2B5EF4-FFF2-40B4-BE49-F238E27FC236}">
                <a16:creationId xmlns:a16="http://schemas.microsoft.com/office/drawing/2014/main" id="{F10858B8-116B-4B0E-8579-76BE534D5BA2}"/>
              </a:ext>
            </a:extLst>
          </p:cNvPr>
          <p:cNvSpPr/>
          <p:nvPr/>
        </p:nvSpPr>
        <p:spPr>
          <a:xfrm rot="16200000" flipV="1">
            <a:off x="6335116" y="3214502"/>
            <a:ext cx="903483" cy="14010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9" name="TextBox 88">
            <a:extLst>
              <a:ext uri="{FF2B5EF4-FFF2-40B4-BE49-F238E27FC236}">
                <a16:creationId xmlns:a16="http://schemas.microsoft.com/office/drawing/2014/main" id="{24D6D6E6-84FB-40F6-A839-D59DF8F5DE11}"/>
              </a:ext>
            </a:extLst>
          </p:cNvPr>
          <p:cNvSpPr txBox="1"/>
          <p:nvPr/>
        </p:nvSpPr>
        <p:spPr>
          <a:xfrm>
            <a:off x="4315259" y="3435895"/>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Cost of Goods Sold</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4" name="Rectangle: Rounded Corners 33">
            <a:extLst>
              <a:ext uri="{FF2B5EF4-FFF2-40B4-BE49-F238E27FC236}">
                <a16:creationId xmlns:a16="http://schemas.microsoft.com/office/drawing/2014/main" id="{E97313D1-E400-48A4-9157-3259C2A1E8F6}"/>
              </a:ext>
            </a:extLst>
          </p:cNvPr>
          <p:cNvSpPr/>
          <p:nvPr/>
        </p:nvSpPr>
        <p:spPr>
          <a:xfrm>
            <a:off x="7803235" y="2274949"/>
            <a:ext cx="1543323"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FAGLL03H (line item)</a:t>
            </a:r>
          </a:p>
        </p:txBody>
      </p:sp>
      <p:sp>
        <p:nvSpPr>
          <p:cNvPr id="36" name="Rectangle: Rounded Corners 35">
            <a:extLst>
              <a:ext uri="{FF2B5EF4-FFF2-40B4-BE49-F238E27FC236}">
                <a16:creationId xmlns:a16="http://schemas.microsoft.com/office/drawing/2014/main" id="{08B39A26-EBB5-4CA8-8E08-8C6720BADB32}"/>
              </a:ext>
            </a:extLst>
          </p:cNvPr>
          <p:cNvSpPr/>
          <p:nvPr/>
        </p:nvSpPr>
        <p:spPr>
          <a:xfrm>
            <a:off x="9959154" y="2261632"/>
            <a:ext cx="1281948"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GR55 (Z4PL)</a:t>
            </a:r>
          </a:p>
        </p:txBody>
      </p:sp>
    </p:spTree>
    <p:extLst>
      <p:ext uri="{BB962C8B-B14F-4D97-AF65-F5344CB8AC3E}">
        <p14:creationId xmlns:p14="http://schemas.microsoft.com/office/powerpoint/2010/main" val="3276233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7F01-56E1-472B-8442-78F4860F1A7D}"/>
              </a:ext>
            </a:extLst>
          </p:cNvPr>
          <p:cNvSpPr>
            <a:spLocks noGrp="1"/>
          </p:cNvSpPr>
          <p:nvPr>
            <p:ph type="title"/>
          </p:nvPr>
        </p:nvSpPr>
        <p:spPr/>
        <p:txBody>
          <a:bodyPr/>
          <a:lstStyle/>
          <a:p>
            <a:r>
              <a:rPr lang="en-GB" dirty="0"/>
              <a:t>SALES &amp; Distribution  (SD) flows</a:t>
            </a:r>
            <a:endParaRPr lang="en-US" dirty="0"/>
          </a:p>
        </p:txBody>
      </p:sp>
    </p:spTree>
    <p:extLst>
      <p:ext uri="{BB962C8B-B14F-4D97-AF65-F5344CB8AC3E}">
        <p14:creationId xmlns:p14="http://schemas.microsoft.com/office/powerpoint/2010/main" val="2296583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p:txBody>
          <a:bodyPr/>
          <a:lstStyle/>
          <a:p>
            <a:r>
              <a:rPr lang="en-GB"/>
              <a:t>Sales &amp; Distribution Value Flows</a:t>
            </a:r>
          </a:p>
        </p:txBody>
      </p:sp>
      <p:sp>
        <p:nvSpPr>
          <p:cNvPr id="7" name="Rectangle 6">
            <a:extLst>
              <a:ext uri="{FF2B5EF4-FFF2-40B4-BE49-F238E27FC236}">
                <a16:creationId xmlns:a16="http://schemas.microsoft.com/office/drawing/2014/main" id="{0152CCC1-465B-4C09-8B60-C91F104DFE96}"/>
              </a:ext>
            </a:extLst>
          </p:cNvPr>
          <p:cNvSpPr/>
          <p:nvPr/>
        </p:nvSpPr>
        <p:spPr>
          <a:xfrm>
            <a:off x="129309" y="1583925"/>
            <a:ext cx="5966691" cy="492443"/>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Black" panose="020B0A04020102020204"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sng" strike="noStrike" kern="1200" cap="none" spc="0" normalizeH="0" baseline="0" noProof="0">
              <a:ln>
                <a:noFill/>
              </a:ln>
              <a:solidFill>
                <a:srgbClr val="000000"/>
              </a:solidFill>
              <a:effectLst/>
              <a:highlight>
                <a:srgbClr val="FFFF00"/>
              </a:highlight>
              <a:uLnTx/>
              <a:uFillTx/>
              <a:latin typeface="Arial" panose="020B0604020202020204"/>
              <a:ea typeface="+mn-ea"/>
              <a:cs typeface="+mn-cs"/>
            </a:endParaRPr>
          </a:p>
        </p:txBody>
      </p:sp>
      <p:graphicFrame>
        <p:nvGraphicFramePr>
          <p:cNvPr id="5" name="Diagram 4">
            <a:extLst>
              <a:ext uri="{FF2B5EF4-FFF2-40B4-BE49-F238E27FC236}">
                <a16:creationId xmlns:a16="http://schemas.microsoft.com/office/drawing/2014/main" id="{F26CDAF5-603C-405F-8EC6-F55447A02A20}"/>
              </a:ext>
            </a:extLst>
          </p:cNvPr>
          <p:cNvGraphicFramePr/>
          <p:nvPr/>
        </p:nvGraphicFramePr>
        <p:xfrm>
          <a:off x="1669696" y="0"/>
          <a:ext cx="8256624" cy="46346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ectangle: Rounded Corners 12">
            <a:extLst>
              <a:ext uri="{FF2B5EF4-FFF2-40B4-BE49-F238E27FC236}">
                <a16:creationId xmlns:a16="http://schemas.microsoft.com/office/drawing/2014/main" id="{AC86DCBC-B4E7-4E43-8B34-A4975954C415}"/>
              </a:ext>
            </a:extLst>
          </p:cNvPr>
          <p:cNvSpPr/>
          <p:nvPr/>
        </p:nvSpPr>
        <p:spPr>
          <a:xfrm>
            <a:off x="1511277" y="3064712"/>
            <a:ext cx="2535945" cy="323280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rPr>
              <a:t>With Account based CO-PA Sales Order creation is no longer the first step in data transfer to CO-PA. There is no accounting document posting at this stage and therefore no posting to G/L accounts</a:t>
            </a:r>
            <a:endParaRPr kumimoji="0" lang="en-US"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4AB50AD0-38AB-4B3B-9A94-679320AD5371}"/>
              </a:ext>
            </a:extLst>
          </p:cNvPr>
          <p:cNvSpPr/>
          <p:nvPr/>
        </p:nvSpPr>
        <p:spPr>
          <a:xfrm>
            <a:off x="4250194" y="3064711"/>
            <a:ext cx="2704542" cy="323281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Post Goods Issue is the first time data is transferred to CO-PA, as this is the first step that an accounting document is generated to G/L Accounts (using condition type VPRS)</a:t>
            </a:r>
          </a:p>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P</a:t>
            </a:r>
            <a:r>
              <a:rPr kumimoji="0" lang="en-GB"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osting</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to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Costs Of Goods Sold (COGS)</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G/L account occurs </a:t>
            </a:r>
            <a:endPar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8AB9497-4E7B-4B6C-9408-82DAC8D2F99C}"/>
              </a:ext>
            </a:extLst>
          </p:cNvPr>
          <p:cNvSpPr/>
          <p:nvPr/>
        </p:nvSpPr>
        <p:spPr>
          <a:xfrm>
            <a:off x="7157709" y="3064712"/>
            <a:ext cx="2608379" cy="3232809"/>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rPr>
              <a:t>Billing creates CO-PA postings using the JTI 3</a:t>
            </a:r>
            <a:r>
              <a:rPr kumimoji="0" lang="en-GB" sz="1600" b="0" i="0" u="none" strike="noStrike" kern="1200" cap="none" spc="0" normalizeH="0" baseline="30000" noProof="0" dirty="0">
                <a:ln>
                  <a:noFill/>
                </a:ln>
                <a:solidFill>
                  <a:srgbClr val="5F5F5F">
                    <a:lumMod val="50000"/>
                  </a:srgbClr>
                </a:solidFill>
                <a:effectLst/>
                <a:uLnTx/>
                <a:uFillTx/>
                <a:latin typeface="Arial" panose="020B0604020202020204"/>
                <a:ea typeface="+mn-ea"/>
                <a:cs typeface="+mn-cs"/>
              </a:rPr>
              <a:t>rd</a:t>
            </a:r>
            <a:r>
              <a:rPr kumimoji="0" lang="en-GB"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rPr>
              <a:t> party sales pricing condition ZPD0. This is </a:t>
            </a:r>
            <a:r>
              <a:rPr kumimoji="0" lang="en-GB" sz="1600" b="1" i="0" u="none" strike="noStrike" kern="1200" cap="none" spc="0" normalizeH="0" baseline="0" noProof="0" dirty="0">
                <a:ln>
                  <a:noFill/>
                </a:ln>
                <a:solidFill>
                  <a:srgbClr val="5F5F5F">
                    <a:lumMod val="50000"/>
                  </a:srgbClr>
                </a:solidFill>
                <a:effectLst/>
                <a:uLnTx/>
                <a:uFillTx/>
                <a:latin typeface="Arial" panose="020B0604020202020204"/>
                <a:ea typeface="+mn-ea"/>
                <a:cs typeface="+mn-cs"/>
              </a:rPr>
              <a:t>Sales</a:t>
            </a:r>
            <a:r>
              <a:rPr kumimoji="0" lang="en-GB"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rPr>
              <a:t> value.</a:t>
            </a:r>
            <a:endParaRPr kumimoji="0" lang="en-US" sz="1600" b="0" i="0" u="none" strike="noStrike" kern="1200" cap="none" spc="0" normalizeH="0" baseline="0" noProof="0" dirty="0">
              <a:ln>
                <a:noFill/>
              </a:ln>
              <a:solidFill>
                <a:srgbClr val="5F5F5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9506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C:\Users\CSTSHA~1\AppData\Local\Temp\SNAGHTML6df7d226.PNG">
            <a:extLst>
              <a:ext uri="{FF2B5EF4-FFF2-40B4-BE49-F238E27FC236}">
                <a16:creationId xmlns:a16="http://schemas.microsoft.com/office/drawing/2014/main" id="{AA8417DD-8110-4ACC-80D2-B39CD2D35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4126" y="1673944"/>
            <a:ext cx="5527040" cy="1784773"/>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Users\CSTSHA~1\AppData\Local\Temp\SNAGHTML6df4761a.PNG">
            <a:extLst>
              <a:ext uri="{FF2B5EF4-FFF2-40B4-BE49-F238E27FC236}">
                <a16:creationId xmlns:a16="http://schemas.microsoft.com/office/drawing/2014/main" id="{AE973251-4340-4B7A-8138-057B3E5E4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0492" y="3795237"/>
            <a:ext cx="6074787" cy="241963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p:txBody>
          <a:bodyPr/>
          <a:lstStyle/>
          <a:p>
            <a:r>
              <a:rPr lang="en-GB"/>
              <a:t>Sales &amp; Distribution: Profit Center Derivation </a:t>
            </a:r>
          </a:p>
        </p:txBody>
      </p:sp>
      <p:sp>
        <p:nvSpPr>
          <p:cNvPr id="7" name="Rectangle 6">
            <a:extLst>
              <a:ext uri="{FF2B5EF4-FFF2-40B4-BE49-F238E27FC236}">
                <a16:creationId xmlns:a16="http://schemas.microsoft.com/office/drawing/2014/main" id="{0152CCC1-465B-4C09-8B60-C91F104DFE96}"/>
              </a:ext>
            </a:extLst>
          </p:cNvPr>
          <p:cNvSpPr/>
          <p:nvPr/>
        </p:nvSpPr>
        <p:spPr>
          <a:xfrm>
            <a:off x="129309" y="1583925"/>
            <a:ext cx="3853857" cy="2677656"/>
          </a:xfrm>
          <a:prstGeom prst="rect">
            <a:avLst/>
          </a:prstGeom>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Postings are automated through SD flows using Sales Orders.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Upon creation OTC colleagues enter Material and Plant information. SAP can then derive the Profit </a:t>
            </a:r>
            <a:r>
              <a:rPr kumimoji="0" lang="en-GB" sz="1400" b="0" i="0" u="none" strike="noStrike" kern="1200" cap="none" spc="0" normalizeH="0" baseline="0" noProof="0" err="1">
                <a:ln>
                  <a:noFill/>
                </a:ln>
                <a:solidFill>
                  <a:srgbClr val="000000"/>
                </a:solidFill>
                <a:effectLst/>
                <a:uLnTx/>
                <a:uFillTx/>
                <a:latin typeface="Arial" panose="020B0604020202020204"/>
                <a:ea typeface="+mn-ea"/>
                <a:cs typeface="+mn-cs"/>
              </a:rPr>
              <a:t>Center</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 from this information from the Sales: General/Plant tab in the Material Master. </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D599D7E-FC3C-425E-887D-AF78E2F2084F}"/>
              </a:ext>
            </a:extLst>
          </p:cNvPr>
          <p:cNvSpPr/>
          <p:nvPr/>
        </p:nvSpPr>
        <p:spPr>
          <a:xfrm>
            <a:off x="7823646" y="1403798"/>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VA03 – Display Sales Order </a:t>
            </a:r>
          </a:p>
        </p:txBody>
      </p:sp>
      <p:sp>
        <p:nvSpPr>
          <p:cNvPr id="11" name="Rectangle: Rounded Corners 10">
            <a:extLst>
              <a:ext uri="{FF2B5EF4-FFF2-40B4-BE49-F238E27FC236}">
                <a16:creationId xmlns:a16="http://schemas.microsoft.com/office/drawing/2014/main" id="{F746E540-0CE7-4C7F-B9EE-9E148732FF29}"/>
              </a:ext>
            </a:extLst>
          </p:cNvPr>
          <p:cNvSpPr/>
          <p:nvPr/>
        </p:nvSpPr>
        <p:spPr>
          <a:xfrm>
            <a:off x="7824092" y="3665377"/>
            <a:ext cx="1808480" cy="5453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MM03– Display Material Master - Sales: General/Plant</a:t>
            </a:r>
          </a:p>
        </p:txBody>
      </p:sp>
      <p:pic>
        <p:nvPicPr>
          <p:cNvPr id="6150" name="Picture 6" descr="C:\Users\CSTSHA~1\AppData\Local\Temp\SNAGHTML6df990ed.PNG">
            <a:extLst>
              <a:ext uri="{FF2B5EF4-FFF2-40B4-BE49-F238E27FC236}">
                <a16:creationId xmlns:a16="http://schemas.microsoft.com/office/drawing/2014/main" id="{4AD4899E-130C-4FCE-8A6E-2CB343996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277" y="4473049"/>
            <a:ext cx="4172352" cy="1410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22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C:\Users\CSTSHA~1\AppData\Local\Temp\SNAGHTML6d76e3bd.PNG">
            <a:extLst>
              <a:ext uri="{FF2B5EF4-FFF2-40B4-BE49-F238E27FC236}">
                <a16:creationId xmlns:a16="http://schemas.microsoft.com/office/drawing/2014/main" id="{758DC36D-E8A6-4920-B8ED-F0852ACCC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6721" y="3322720"/>
            <a:ext cx="5653548" cy="2921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a:xfrm>
            <a:off x="1519518" y="222404"/>
            <a:ext cx="9957912" cy="984247"/>
          </a:xfrm>
        </p:spPr>
        <p:txBody>
          <a:bodyPr/>
          <a:lstStyle/>
          <a:p>
            <a:r>
              <a:rPr lang="en-GB"/>
              <a:t>Sales &amp; Distribution: G/L Account determination</a:t>
            </a:r>
          </a:p>
        </p:txBody>
      </p:sp>
      <p:sp>
        <p:nvSpPr>
          <p:cNvPr id="7" name="Rectangle 6">
            <a:extLst>
              <a:ext uri="{FF2B5EF4-FFF2-40B4-BE49-F238E27FC236}">
                <a16:creationId xmlns:a16="http://schemas.microsoft.com/office/drawing/2014/main" id="{0152CCC1-465B-4C09-8B60-C91F104DFE96}"/>
              </a:ext>
            </a:extLst>
          </p:cNvPr>
          <p:cNvSpPr/>
          <p:nvPr/>
        </p:nvSpPr>
        <p:spPr>
          <a:xfrm>
            <a:off x="129309" y="1583925"/>
            <a:ext cx="4178531" cy="3508653"/>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0000"/>
                </a:solidFill>
                <a:effectLst/>
                <a:uLnTx/>
                <a:uFillTx/>
                <a:latin typeface="Arial Black" panose="020B0A04020102020204" pitchFamily="34" charset="0"/>
                <a:ea typeface="+mn-ea"/>
                <a:cs typeface="+mn-cs"/>
              </a:rPr>
              <a:t>Definition and Functionality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Condition Types are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defined as specific features of daily pricing activities. Using the condition type, you can also put different condition types for each pricing, discounts on goods, tax and surcharge that occurs in business transactions.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a:t>
            </a:r>
            <a:r>
              <a:rPr kumimoji="0" lang="en-US" sz="1400" b="0" i="0" u="none" strike="noStrike" kern="1200" cap="none" spc="0" normalizeH="0" baseline="0" noProof="0" dirty="0" err="1">
                <a:ln>
                  <a:noFill/>
                </a:ln>
                <a:solidFill>
                  <a:srgbClr val="000000"/>
                </a:solidFill>
                <a:effectLst/>
                <a:uLnTx/>
                <a:uFillTx/>
                <a:latin typeface="Arial" panose="020B0604020202020204"/>
                <a:ea typeface="+mn-ea"/>
                <a:cs typeface="+mn-cs"/>
              </a:rPr>
              <a:t>ondition</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 types are used in Sales Orders to determine which values are to be posted to which G/L Account.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Conditions can be viewed in Sales Order by double clicking on the Material required</a:t>
            </a: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5122" name="Picture 2" descr="C:\Users\CSTSHA~1\AppData\Local\Temp\SNAGHTML6d743314.PNG">
            <a:extLst>
              <a:ext uri="{FF2B5EF4-FFF2-40B4-BE49-F238E27FC236}">
                <a16:creationId xmlns:a16="http://schemas.microsoft.com/office/drawing/2014/main" id="{9A1710EE-00CA-4ABD-846E-346D04D8B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7556" y="1583925"/>
            <a:ext cx="5183893" cy="24292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79AEA3DA-19E2-41CD-8BB6-45FCAA198F9C}"/>
              </a:ext>
            </a:extLst>
          </p:cNvPr>
          <p:cNvSpPr/>
          <p:nvPr/>
        </p:nvSpPr>
        <p:spPr>
          <a:xfrm>
            <a:off x="8483602" y="1489521"/>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VA03 – Display Sales Order </a:t>
            </a:r>
          </a:p>
        </p:txBody>
      </p:sp>
    </p:spTree>
    <p:extLst>
      <p:ext uri="{BB962C8B-B14F-4D97-AF65-F5344CB8AC3E}">
        <p14:creationId xmlns:p14="http://schemas.microsoft.com/office/powerpoint/2010/main" val="189837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STSHA~1\AppData\Local\Temp\SNAGHTML6d0d6bcd.PNG">
            <a:extLst>
              <a:ext uri="{FF2B5EF4-FFF2-40B4-BE49-F238E27FC236}">
                <a16:creationId xmlns:a16="http://schemas.microsoft.com/office/drawing/2014/main" id="{CCD58C8B-AD7E-4727-A320-AAA716190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560" y="2977906"/>
            <a:ext cx="7600880" cy="2093211"/>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C:\Users\CSTSHA~1\AppData\Local\Temp\SNAGHTML6d190604.PNG">
            <a:extLst>
              <a:ext uri="{FF2B5EF4-FFF2-40B4-BE49-F238E27FC236}">
                <a16:creationId xmlns:a16="http://schemas.microsoft.com/office/drawing/2014/main" id="{927ADF80-564F-4506-B508-26D3A8BE09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5480502"/>
            <a:ext cx="9895840" cy="650703"/>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Users\CSTSHA~1\AppData\Local\Temp\SNAGHTML6d1a5fe7.PNG">
            <a:extLst>
              <a:ext uri="{FF2B5EF4-FFF2-40B4-BE49-F238E27FC236}">
                <a16:creationId xmlns:a16="http://schemas.microsoft.com/office/drawing/2014/main" id="{F2CC5AD6-396A-4382-B57E-78CEF253CC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962" y="4670188"/>
            <a:ext cx="1881517" cy="108526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p:txBody>
          <a:bodyPr/>
          <a:lstStyle/>
          <a:p>
            <a:r>
              <a:rPr lang="en-GB"/>
              <a:t>Sales &amp; Distribution: Pricing Determination</a:t>
            </a:r>
          </a:p>
        </p:txBody>
      </p:sp>
      <p:sp>
        <p:nvSpPr>
          <p:cNvPr id="7" name="Rectangle 6">
            <a:extLst>
              <a:ext uri="{FF2B5EF4-FFF2-40B4-BE49-F238E27FC236}">
                <a16:creationId xmlns:a16="http://schemas.microsoft.com/office/drawing/2014/main" id="{0152CCC1-465B-4C09-8B60-C91F104DFE96}"/>
              </a:ext>
            </a:extLst>
          </p:cNvPr>
          <p:cNvSpPr/>
          <p:nvPr/>
        </p:nvSpPr>
        <p:spPr>
          <a:xfrm>
            <a:off x="129309" y="1583925"/>
            <a:ext cx="3548611" cy="4185761"/>
          </a:xfrm>
          <a:prstGeom prst="rect">
            <a:avLst/>
          </a:prstGeom>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O</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n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Post Goods Issue</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the system takes values using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VPRS</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condition type. VPRS (Internal Cost):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condition type VPRS is labeled as a statistical condition in the pricing procedure. in this, using the condition category G, the condition type VPRS goes into the valuation segment of the material master and determines from here the standard or average price. Standard price is used in JTI as indicated in Accounting 1 views in MM with Pricing Control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T</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his is</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 Cost Of Goods Sold (COGS)</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3B25028D-E949-4DE8-976D-47A4482B7D3C}"/>
              </a:ext>
            </a:extLst>
          </p:cNvPr>
          <p:cNvPicPr>
            <a:picLocks noChangeAspect="1"/>
          </p:cNvPicPr>
          <p:nvPr/>
        </p:nvPicPr>
        <p:blipFill>
          <a:blip r:embed="rId5"/>
          <a:stretch>
            <a:fillRect/>
          </a:stretch>
        </p:blipFill>
        <p:spPr>
          <a:xfrm>
            <a:off x="3788827" y="1882845"/>
            <a:ext cx="7688603" cy="984247"/>
          </a:xfrm>
          <a:prstGeom prst="rect">
            <a:avLst/>
          </a:prstGeom>
        </p:spPr>
      </p:pic>
      <p:sp>
        <p:nvSpPr>
          <p:cNvPr id="12" name="Rectangle: Rounded Corners 11">
            <a:extLst>
              <a:ext uri="{FF2B5EF4-FFF2-40B4-BE49-F238E27FC236}">
                <a16:creationId xmlns:a16="http://schemas.microsoft.com/office/drawing/2014/main" id="{DD599D7E-FC3C-425E-887D-AF78E2F2084F}"/>
              </a:ext>
            </a:extLst>
          </p:cNvPr>
          <p:cNvSpPr/>
          <p:nvPr/>
        </p:nvSpPr>
        <p:spPr>
          <a:xfrm>
            <a:off x="8829040" y="1611441"/>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VA03 – Display Sales Order </a:t>
            </a:r>
          </a:p>
        </p:txBody>
      </p:sp>
      <p:sp>
        <p:nvSpPr>
          <p:cNvPr id="14" name="Rectangle: Rounded Corners 13">
            <a:extLst>
              <a:ext uri="{FF2B5EF4-FFF2-40B4-BE49-F238E27FC236}">
                <a16:creationId xmlns:a16="http://schemas.microsoft.com/office/drawing/2014/main" id="{79FE002C-1211-4D45-BFB5-CC185A430D71}"/>
              </a:ext>
            </a:extLst>
          </p:cNvPr>
          <p:cNvSpPr/>
          <p:nvPr/>
        </p:nvSpPr>
        <p:spPr>
          <a:xfrm>
            <a:off x="8829040" y="5074866"/>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FAGLL03H – Display G/L Account Line Items </a:t>
            </a:r>
          </a:p>
        </p:txBody>
      </p:sp>
      <p:cxnSp>
        <p:nvCxnSpPr>
          <p:cNvPr id="15" name="Straight Arrow Connector 14">
            <a:extLst>
              <a:ext uri="{FF2B5EF4-FFF2-40B4-BE49-F238E27FC236}">
                <a16:creationId xmlns:a16="http://schemas.microsoft.com/office/drawing/2014/main" id="{AAD7AD5F-5F4A-4BCA-A746-BE9CD1E57E50}"/>
              </a:ext>
            </a:extLst>
          </p:cNvPr>
          <p:cNvCxnSpPr/>
          <p:nvPr/>
        </p:nvCxnSpPr>
        <p:spPr>
          <a:xfrm>
            <a:off x="1727200" y="5299441"/>
            <a:ext cx="2143760" cy="60351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68E458-1221-4B25-AEB4-E0929931B34D}"/>
              </a:ext>
            </a:extLst>
          </p:cNvPr>
          <p:cNvCxnSpPr>
            <a:cxnSpLocks/>
          </p:cNvCxnSpPr>
          <p:nvPr/>
        </p:nvCxnSpPr>
        <p:spPr>
          <a:xfrm flipV="1">
            <a:off x="4607520" y="4024511"/>
            <a:ext cx="1854240" cy="7256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FD2E14A-3D0E-4013-B1FB-5C66FBECC819}"/>
              </a:ext>
            </a:extLst>
          </p:cNvPr>
          <p:cNvCxnSpPr>
            <a:cxnSpLocks/>
          </p:cNvCxnSpPr>
          <p:nvPr/>
        </p:nvCxnSpPr>
        <p:spPr>
          <a:xfrm flipV="1">
            <a:off x="4567429" y="2867092"/>
            <a:ext cx="5582411" cy="219961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D86FDE0-1318-4243-ADCB-54AB1E6F8772}"/>
              </a:ext>
            </a:extLst>
          </p:cNvPr>
          <p:cNvCxnSpPr>
            <a:cxnSpLocks/>
          </p:cNvCxnSpPr>
          <p:nvPr/>
        </p:nvCxnSpPr>
        <p:spPr>
          <a:xfrm>
            <a:off x="4818611" y="5270173"/>
            <a:ext cx="4722235" cy="6515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F746E540-0CE7-4C7F-B9EE-9E148732FF29}"/>
              </a:ext>
            </a:extLst>
          </p:cNvPr>
          <p:cNvSpPr/>
          <p:nvPr/>
        </p:nvSpPr>
        <p:spPr>
          <a:xfrm>
            <a:off x="8829040" y="3062420"/>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MM03 – Display Material Master – Accounting 1</a:t>
            </a:r>
          </a:p>
        </p:txBody>
      </p:sp>
    </p:spTree>
    <p:extLst>
      <p:ext uri="{BB962C8B-B14F-4D97-AF65-F5344CB8AC3E}">
        <p14:creationId xmlns:p14="http://schemas.microsoft.com/office/powerpoint/2010/main" val="2848459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STSHA~1\AppData\Local\Temp\SNAGHTML6d68bbf6.PNG">
            <a:extLst>
              <a:ext uri="{FF2B5EF4-FFF2-40B4-BE49-F238E27FC236}">
                <a16:creationId xmlns:a16="http://schemas.microsoft.com/office/drawing/2014/main" id="{D47FC490-A1DE-4A43-94FD-BC9CE8A15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3840" y="5495264"/>
            <a:ext cx="7186400" cy="4491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9292364-A940-4A83-BBC1-81C0F5B868AF}"/>
              </a:ext>
            </a:extLst>
          </p:cNvPr>
          <p:cNvPicPr>
            <a:picLocks noChangeAspect="1"/>
          </p:cNvPicPr>
          <p:nvPr/>
        </p:nvPicPr>
        <p:blipFill>
          <a:blip r:embed="rId3"/>
          <a:stretch>
            <a:fillRect/>
          </a:stretch>
        </p:blipFill>
        <p:spPr>
          <a:xfrm>
            <a:off x="3842101" y="2843626"/>
            <a:ext cx="6968139" cy="2142329"/>
          </a:xfrm>
          <a:prstGeom prst="rect">
            <a:avLst/>
          </a:prstGeom>
        </p:spPr>
      </p:pic>
      <p:pic>
        <p:nvPicPr>
          <p:cNvPr id="6" name="Picture 5">
            <a:extLst>
              <a:ext uri="{FF2B5EF4-FFF2-40B4-BE49-F238E27FC236}">
                <a16:creationId xmlns:a16="http://schemas.microsoft.com/office/drawing/2014/main" id="{8731D12A-B67C-4D9F-BF61-D5088C9F296D}"/>
              </a:ext>
            </a:extLst>
          </p:cNvPr>
          <p:cNvPicPr>
            <a:picLocks noChangeAspect="1"/>
          </p:cNvPicPr>
          <p:nvPr/>
        </p:nvPicPr>
        <p:blipFill>
          <a:blip r:embed="rId4"/>
          <a:stretch>
            <a:fillRect/>
          </a:stretch>
        </p:blipFill>
        <p:spPr>
          <a:xfrm>
            <a:off x="3842101" y="1777234"/>
            <a:ext cx="6968139" cy="894586"/>
          </a:xfrm>
          <a:prstGeom prst="rect">
            <a:avLst/>
          </a:prstGeom>
        </p:spPr>
      </p:pic>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p:txBody>
          <a:bodyPr/>
          <a:lstStyle/>
          <a:p>
            <a:r>
              <a:rPr lang="en-GB"/>
              <a:t>Sales &amp; Distribution: Condition Types – ZPD0</a:t>
            </a:r>
          </a:p>
        </p:txBody>
      </p:sp>
      <p:sp>
        <p:nvSpPr>
          <p:cNvPr id="7" name="Rectangle 6">
            <a:extLst>
              <a:ext uri="{FF2B5EF4-FFF2-40B4-BE49-F238E27FC236}">
                <a16:creationId xmlns:a16="http://schemas.microsoft.com/office/drawing/2014/main" id="{0152CCC1-465B-4C09-8B60-C91F104DFE96}"/>
              </a:ext>
            </a:extLst>
          </p:cNvPr>
          <p:cNvSpPr/>
          <p:nvPr/>
        </p:nvSpPr>
        <p:spPr>
          <a:xfrm>
            <a:off x="129309" y="1583925"/>
            <a:ext cx="3712791" cy="3970318"/>
          </a:xfrm>
          <a:prstGeom prst="rect">
            <a:avLst/>
          </a:prstGeom>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O</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n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Billing</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the system takes values using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ZPD0</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(JTI Third party pricing) pricing condition type.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T</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hese</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prices are the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Sales Revenue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price calculated for different products using the JTI business model. Sales prices are maintained in SAP via VK11.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C</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ondition</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type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ZPD0</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automatically assigns these prices to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G/L Account 302110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(“Sales to third parties (automated SD entries)”)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1" i="0" u="none" strike="noStrike" kern="1200" cap="none" spc="0" normalizeH="0" baseline="0" noProof="0">
                <a:ln>
                  <a:noFill/>
                </a:ln>
                <a:solidFill>
                  <a:srgbClr val="000000"/>
                </a:solidFill>
                <a:effectLst/>
                <a:uLnTx/>
                <a:uFillTx/>
                <a:latin typeface="Arial" panose="020B0604020202020204"/>
                <a:ea typeface="+mn-ea"/>
                <a:cs typeface="+mn-cs"/>
              </a:rPr>
              <a:t>C</a:t>
            </a:r>
            <a:r>
              <a:rPr kumimoji="0" lang="en-US" sz="1400" b="1" i="0" u="none" strike="noStrike" kern="1200" cap="none" spc="0" normalizeH="0" baseline="0" noProof="0" err="1">
                <a:ln>
                  <a:noFill/>
                </a:ln>
                <a:solidFill>
                  <a:srgbClr val="000000"/>
                </a:solidFill>
                <a:effectLst/>
                <a:uLnTx/>
                <a:uFillTx/>
                <a:latin typeface="Arial" panose="020B0604020202020204"/>
                <a:ea typeface="+mn-ea"/>
                <a:cs typeface="+mn-cs"/>
              </a:rPr>
              <a:t>ost</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 Element Category 11 (Revenues)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correctly applies the appropriate signage for CO-PA</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D599D7E-FC3C-425E-887D-AF78E2F2084F}"/>
              </a:ext>
            </a:extLst>
          </p:cNvPr>
          <p:cNvSpPr/>
          <p:nvPr/>
        </p:nvSpPr>
        <p:spPr>
          <a:xfrm>
            <a:off x="8829040" y="1611441"/>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VA03 – Display Sales Order </a:t>
            </a:r>
          </a:p>
        </p:txBody>
      </p:sp>
      <p:sp>
        <p:nvSpPr>
          <p:cNvPr id="14" name="Rectangle: Rounded Corners 13">
            <a:extLst>
              <a:ext uri="{FF2B5EF4-FFF2-40B4-BE49-F238E27FC236}">
                <a16:creationId xmlns:a16="http://schemas.microsoft.com/office/drawing/2014/main" id="{79FE002C-1211-4D45-BFB5-CC185A430D71}"/>
              </a:ext>
            </a:extLst>
          </p:cNvPr>
          <p:cNvSpPr/>
          <p:nvPr/>
        </p:nvSpPr>
        <p:spPr>
          <a:xfrm>
            <a:off x="8829040" y="5074866"/>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FAGLL03H – Display G/L Account Line Items </a:t>
            </a:r>
          </a:p>
        </p:txBody>
      </p:sp>
      <p:sp>
        <p:nvSpPr>
          <p:cNvPr id="11" name="Rectangle: Rounded Corners 10">
            <a:extLst>
              <a:ext uri="{FF2B5EF4-FFF2-40B4-BE49-F238E27FC236}">
                <a16:creationId xmlns:a16="http://schemas.microsoft.com/office/drawing/2014/main" id="{F746E540-0CE7-4C7F-B9EE-9E148732FF29}"/>
              </a:ext>
            </a:extLst>
          </p:cNvPr>
          <p:cNvSpPr/>
          <p:nvPr/>
        </p:nvSpPr>
        <p:spPr>
          <a:xfrm>
            <a:off x="8829040" y="3062420"/>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VK13 – Display Pricing Conditions</a:t>
            </a:r>
          </a:p>
        </p:txBody>
      </p:sp>
      <p:pic>
        <p:nvPicPr>
          <p:cNvPr id="4100" name="Picture 4" descr="C:\Users\CSTSHA~1\AppData\Local\Temp\SNAGHTML6d6b0605.PNG">
            <a:extLst>
              <a:ext uri="{FF2B5EF4-FFF2-40B4-BE49-F238E27FC236}">
                <a16:creationId xmlns:a16="http://schemas.microsoft.com/office/drawing/2014/main" id="{C5E405DC-3BED-4C33-9A75-AD8A4B24E1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510" y="4914312"/>
            <a:ext cx="3474950" cy="89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145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7F01-56E1-472B-8442-78F4860F1A7D}"/>
              </a:ext>
            </a:extLst>
          </p:cNvPr>
          <p:cNvSpPr>
            <a:spLocks noGrp="1"/>
          </p:cNvSpPr>
          <p:nvPr>
            <p:ph type="title"/>
          </p:nvPr>
        </p:nvSpPr>
        <p:spPr/>
        <p:txBody>
          <a:bodyPr/>
          <a:lstStyle/>
          <a:p>
            <a:r>
              <a:rPr lang="en-GB" sz="4800" dirty="0"/>
              <a:t>Allocations &amp; settlements</a:t>
            </a:r>
            <a:endParaRPr lang="en-US" dirty="0"/>
          </a:p>
        </p:txBody>
      </p:sp>
    </p:spTree>
    <p:extLst>
      <p:ext uri="{BB962C8B-B14F-4D97-AF65-F5344CB8AC3E}">
        <p14:creationId xmlns:p14="http://schemas.microsoft.com/office/powerpoint/2010/main" val="95602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WBS Settlement to CO-PA - Branded</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7" name="Group 16">
            <a:extLst>
              <a:ext uri="{FF2B5EF4-FFF2-40B4-BE49-F238E27FC236}">
                <a16:creationId xmlns:a16="http://schemas.microsoft.com/office/drawing/2014/main" id="{ABB39C45-8D86-4EDC-893F-73FCD59A287A}"/>
              </a:ext>
            </a:extLst>
          </p:cNvPr>
          <p:cNvGrpSpPr/>
          <p:nvPr/>
        </p:nvGrpSpPr>
        <p:grpSpPr>
          <a:xfrm>
            <a:off x="777632" y="1500623"/>
            <a:ext cx="10768641" cy="3893689"/>
            <a:chOff x="777632" y="1500623"/>
            <a:chExt cx="10768641" cy="3893689"/>
          </a:xfrm>
        </p:grpSpPr>
        <p:pic>
          <p:nvPicPr>
            <p:cNvPr id="18" name="Picture 17">
              <a:extLst>
                <a:ext uri="{FF2B5EF4-FFF2-40B4-BE49-F238E27FC236}">
                  <a16:creationId xmlns:a16="http://schemas.microsoft.com/office/drawing/2014/main" id="{7151F44E-74D0-4CBE-A47B-CBD378FAFE9D}"/>
                </a:ext>
              </a:extLst>
            </p:cNvPr>
            <p:cNvPicPr>
              <a:picLocks noChangeAspect="1"/>
            </p:cNvPicPr>
            <p:nvPr/>
          </p:nvPicPr>
          <p:blipFill rotWithShape="1">
            <a:blip r:embed="rId2"/>
            <a:srcRect l="7177" r="6495"/>
            <a:stretch/>
          </p:blipFill>
          <p:spPr>
            <a:xfrm>
              <a:off x="777632" y="1500623"/>
              <a:ext cx="634388" cy="609492"/>
            </a:xfrm>
            <a:prstGeom prst="rect">
              <a:avLst/>
            </a:prstGeom>
          </p:spPr>
        </p:pic>
        <p:grpSp>
          <p:nvGrpSpPr>
            <p:cNvPr id="20" name="Group 19">
              <a:extLst>
                <a:ext uri="{FF2B5EF4-FFF2-40B4-BE49-F238E27FC236}">
                  <a16:creationId xmlns:a16="http://schemas.microsoft.com/office/drawing/2014/main" id="{98D7EF55-A634-447F-B98C-9DA04F08BCD9}"/>
                </a:ext>
              </a:extLst>
            </p:cNvPr>
            <p:cNvGrpSpPr/>
            <p:nvPr/>
          </p:nvGrpSpPr>
          <p:grpSpPr>
            <a:xfrm>
              <a:off x="777632" y="1534778"/>
              <a:ext cx="10768641" cy="3859534"/>
              <a:chOff x="777632" y="1534778"/>
              <a:chExt cx="10768641" cy="3859534"/>
            </a:xfrm>
          </p:grpSpPr>
          <p:grpSp>
            <p:nvGrpSpPr>
              <p:cNvPr id="21" name="Group 20">
                <a:extLst>
                  <a:ext uri="{FF2B5EF4-FFF2-40B4-BE49-F238E27FC236}">
                    <a16:creationId xmlns:a16="http://schemas.microsoft.com/office/drawing/2014/main" id="{1E02AFB0-6E8A-4580-AD67-3A1D5476D6DA}"/>
                  </a:ext>
                </a:extLst>
              </p:cNvPr>
              <p:cNvGrpSpPr/>
              <p:nvPr/>
            </p:nvGrpSpPr>
            <p:grpSpPr>
              <a:xfrm>
                <a:off x="777632" y="1534778"/>
                <a:ext cx="10768641" cy="595917"/>
                <a:chOff x="777632" y="1534778"/>
                <a:chExt cx="10768641" cy="595917"/>
              </a:xfrm>
            </p:grpSpPr>
            <p:cxnSp>
              <p:nvCxnSpPr>
                <p:cNvPr id="25" name="Straight Connector 24">
                  <a:extLst>
                    <a:ext uri="{FF2B5EF4-FFF2-40B4-BE49-F238E27FC236}">
                      <a16:creationId xmlns:a16="http://schemas.microsoft.com/office/drawing/2014/main" id="{AD45BE18-C4D4-4D03-8C30-087F2465F669}"/>
                    </a:ext>
                  </a:extLst>
                </p:cNvPr>
                <p:cNvCxnSpPr/>
                <p:nvPr/>
              </p:nvCxnSpPr>
              <p:spPr bwMode="auto">
                <a:xfrm flipV="1">
                  <a:off x="777632" y="2096078"/>
                  <a:ext cx="10768641" cy="34617"/>
                </a:xfrm>
                <a:prstGeom prst="line">
                  <a:avLst/>
                </a:prstGeom>
                <a:noFill/>
                <a:ln w="28575" cap="flat" cmpd="sng" algn="ctr">
                  <a:solidFill>
                    <a:srgbClr val="4D5C65">
                      <a:shade val="95000"/>
                      <a:satMod val="105000"/>
                    </a:srgbClr>
                  </a:solidFill>
                  <a:prstDash val="solid"/>
                  <a:headEnd type="none" w="med" len="med"/>
                  <a:tailEnd type="none" w="med" len="med"/>
                </a:ln>
                <a:effectLst/>
              </p:spPr>
            </p:cxnSp>
            <p:sp>
              <p:nvSpPr>
                <p:cNvPr id="27" name="TextBox 26">
                  <a:extLst>
                    <a:ext uri="{FF2B5EF4-FFF2-40B4-BE49-F238E27FC236}">
                      <a16:creationId xmlns:a16="http://schemas.microsoft.com/office/drawing/2014/main" id="{9967E354-8B5D-4140-AC77-C1069E40F985}"/>
                    </a:ext>
                  </a:extLst>
                </p:cNvPr>
                <p:cNvSpPr txBox="1"/>
                <p:nvPr/>
              </p:nvSpPr>
              <p:spPr>
                <a:xfrm>
                  <a:off x="1528964" y="1534778"/>
                  <a:ext cx="4031675" cy="44649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0" cap="none" spc="0" normalizeH="0" baseline="0" noProof="0">
                      <a:ln>
                        <a:noFill/>
                      </a:ln>
                      <a:solidFill>
                        <a:srgbClr val="408D7A">
                          <a:lumMod val="50000"/>
                        </a:srgbClr>
                      </a:solidFill>
                      <a:effectLst/>
                      <a:uLnTx/>
                      <a:uFillTx/>
                      <a:latin typeface="Arial" panose="020B0604020202020204"/>
                      <a:ea typeface="ＭＳ Ｐゴシック" pitchFamily="80" charset="-128"/>
                      <a:cs typeface="+mn-cs"/>
                    </a:rPr>
                    <a:t>Branded WBS elements</a:t>
                  </a:r>
                </a:p>
              </p:txBody>
            </p:sp>
          </p:grpSp>
          <p:sp>
            <p:nvSpPr>
              <p:cNvPr id="23" name="TextBox 22">
                <a:extLst>
                  <a:ext uri="{FF2B5EF4-FFF2-40B4-BE49-F238E27FC236}">
                    <a16:creationId xmlns:a16="http://schemas.microsoft.com/office/drawing/2014/main" id="{9BDAE7E8-EF16-4A0F-9C1B-DEFC87E93149}"/>
                  </a:ext>
                </a:extLst>
              </p:cNvPr>
              <p:cNvSpPr txBox="1"/>
              <p:nvPr/>
            </p:nvSpPr>
            <p:spPr>
              <a:xfrm>
                <a:off x="777632" y="2283720"/>
                <a:ext cx="5108161" cy="3110592"/>
              </a:xfrm>
              <a:prstGeom prst="rect">
                <a:avLst/>
              </a:prstGeom>
              <a:noFill/>
            </p:spPr>
            <p:txBody>
              <a:bodyPr wrap="square" lIns="0" tIns="0" rIns="0" bIns="0" rtlCol="0">
                <a:normAutofit/>
              </a:bodyPr>
              <a:lstStyle/>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Each </a:t>
                </a:r>
                <a:r>
                  <a:rPr kumimoji="0" lang="en-US" sz="15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branded WBS element </a:t>
                </a: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must be linked to a brand and product type – these are </a:t>
                </a:r>
                <a:r>
                  <a:rPr kumimoji="0" lang="en-US" sz="15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CO-PA characteristics. </a:t>
                </a: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This is completed in the Master Data of the WBS Element.</a:t>
                </a:r>
                <a:endParaRPr kumimoji="0" lang="en-US" sz="15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0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As expenses are recorded against the WBS element the brand family / product type will also be visible for reporting via </a:t>
                </a:r>
                <a:r>
                  <a:rPr kumimoji="0" lang="en-US" sz="15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instant derivation </a:t>
                </a: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functionality.</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0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At month-end </a:t>
                </a:r>
                <a:r>
                  <a:rPr kumimoji="0" lang="en-US" sz="15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WBS settlement </a:t>
                </a:r>
                <a:r>
                  <a:rPr kumimoji="0" lang="en-US" sz="15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will be performed by BSC and this is the value flow to CO-PA. </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grpSp>
      </p:grpSp>
      <p:pic>
        <p:nvPicPr>
          <p:cNvPr id="31" name="Picture 30">
            <a:extLst>
              <a:ext uri="{FF2B5EF4-FFF2-40B4-BE49-F238E27FC236}">
                <a16:creationId xmlns:a16="http://schemas.microsoft.com/office/drawing/2014/main" id="{8471CE84-413B-493F-B2FA-608906A2BE63}"/>
              </a:ext>
            </a:extLst>
          </p:cNvPr>
          <p:cNvPicPr>
            <a:picLocks noChangeAspect="1"/>
          </p:cNvPicPr>
          <p:nvPr/>
        </p:nvPicPr>
        <p:blipFill rotWithShape="1">
          <a:blip r:embed="rId3"/>
          <a:srcRect l="738"/>
          <a:stretch/>
        </p:blipFill>
        <p:spPr>
          <a:xfrm>
            <a:off x="6586092" y="2245495"/>
            <a:ext cx="3784213" cy="2658594"/>
          </a:xfrm>
          <a:prstGeom prst="rect">
            <a:avLst/>
          </a:prstGeom>
          <a:ln>
            <a:noFill/>
          </a:ln>
          <a:effectLst>
            <a:outerShdw blurRad="292100" dist="139700" dir="2700000" algn="tl" rotWithShape="0">
              <a:srgbClr val="333333">
                <a:alpha val="65000"/>
              </a:srgbClr>
            </a:outerShdw>
          </a:effectLst>
        </p:spPr>
      </p:pic>
      <p:pic>
        <p:nvPicPr>
          <p:cNvPr id="32" name="Picture 31">
            <a:extLst>
              <a:ext uri="{FF2B5EF4-FFF2-40B4-BE49-F238E27FC236}">
                <a16:creationId xmlns:a16="http://schemas.microsoft.com/office/drawing/2014/main" id="{7EA521FB-3E8A-41AB-A443-4595D942F55F}"/>
              </a:ext>
            </a:extLst>
          </p:cNvPr>
          <p:cNvPicPr>
            <a:picLocks noChangeAspect="1"/>
          </p:cNvPicPr>
          <p:nvPr/>
        </p:nvPicPr>
        <p:blipFill rotWithShape="1">
          <a:blip r:embed="rId4"/>
          <a:srcRect r="1422"/>
          <a:stretch/>
        </p:blipFill>
        <p:spPr>
          <a:xfrm>
            <a:off x="6542397" y="5011749"/>
            <a:ext cx="3871602" cy="848541"/>
          </a:xfrm>
          <a:prstGeom prst="rect">
            <a:avLst/>
          </a:prstGeom>
          <a:ln>
            <a:noFill/>
          </a:ln>
          <a:effectLst>
            <a:outerShdw blurRad="292100" dist="139700" dir="2700000" algn="tl" rotWithShape="0">
              <a:srgbClr val="333333">
                <a:alpha val="65000"/>
              </a:srgbClr>
            </a:outerShdw>
          </a:effectLst>
        </p:spPr>
      </p:pic>
      <p:sp>
        <p:nvSpPr>
          <p:cNvPr id="33" name="Freeform 29">
            <a:extLst>
              <a:ext uri="{FF2B5EF4-FFF2-40B4-BE49-F238E27FC236}">
                <a16:creationId xmlns:a16="http://schemas.microsoft.com/office/drawing/2014/main" id="{A472C836-7904-40D2-95BD-AEBDD0747711}"/>
              </a:ext>
            </a:extLst>
          </p:cNvPr>
          <p:cNvSpPr>
            <a:spLocks/>
          </p:cNvSpPr>
          <p:nvPr/>
        </p:nvSpPr>
        <p:spPr bwMode="gray">
          <a:xfrm>
            <a:off x="6447957" y="4904090"/>
            <a:ext cx="1954400" cy="1073208"/>
          </a:xfrm>
          <a:custGeom>
            <a:avLst/>
            <a:gdLst>
              <a:gd name="T0" fmla="*/ 2147483647 w 3884"/>
              <a:gd name="T1" fmla="*/ 2147483647 h 1600"/>
              <a:gd name="T2" fmla="*/ 2147483647 w 3884"/>
              <a:gd name="T3" fmla="*/ 2147483647 h 1600"/>
              <a:gd name="T4" fmla="*/ 2147483647 w 3884"/>
              <a:gd name="T5" fmla="*/ 2147483647 h 1600"/>
              <a:gd name="T6" fmla="*/ 2147483647 w 3884"/>
              <a:gd name="T7" fmla="*/ 2147483647 h 1600"/>
              <a:gd name="T8" fmla="*/ 2147483647 w 3884"/>
              <a:gd name="T9" fmla="*/ 2147483647 h 1600"/>
              <a:gd name="T10" fmla="*/ 2147483647 w 3884"/>
              <a:gd name="T11" fmla="*/ 2147483647 h 1600"/>
              <a:gd name="T12" fmla="*/ 0 w 3884"/>
              <a:gd name="T13" fmla="*/ 2147483647 h 1600"/>
              <a:gd name="T14" fmla="*/ 2147483647 w 3884"/>
              <a:gd name="T15" fmla="*/ 2147483647 h 1600"/>
              <a:gd name="T16" fmla="*/ 2147483647 w 3884"/>
              <a:gd name="T17" fmla="*/ 2147483647 h 1600"/>
              <a:gd name="T18" fmla="*/ 2147483647 w 3884"/>
              <a:gd name="T19" fmla="*/ 2147483647 h 1600"/>
              <a:gd name="T20" fmla="*/ 2147483647 w 3884"/>
              <a:gd name="T21" fmla="*/ 2147483647 h 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84"/>
              <a:gd name="T34" fmla="*/ 0 h 1600"/>
              <a:gd name="T35" fmla="*/ 3884 w 3884"/>
              <a:gd name="T36" fmla="*/ 1600 h 16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84" h="1600">
                <a:moveTo>
                  <a:pt x="297" y="1346"/>
                </a:moveTo>
                <a:cubicBezTo>
                  <a:pt x="918" y="1523"/>
                  <a:pt x="1726" y="1533"/>
                  <a:pt x="2310" y="1448"/>
                </a:cubicBezTo>
                <a:cubicBezTo>
                  <a:pt x="3125" y="1334"/>
                  <a:pt x="3798" y="1192"/>
                  <a:pt x="3810" y="884"/>
                </a:cubicBezTo>
                <a:cubicBezTo>
                  <a:pt x="3822" y="576"/>
                  <a:pt x="3114" y="204"/>
                  <a:pt x="1945" y="137"/>
                </a:cubicBezTo>
                <a:cubicBezTo>
                  <a:pt x="645" y="63"/>
                  <a:pt x="74" y="564"/>
                  <a:pt x="74" y="724"/>
                </a:cubicBezTo>
                <a:cubicBezTo>
                  <a:pt x="74" y="884"/>
                  <a:pt x="394" y="1032"/>
                  <a:pt x="781" y="1072"/>
                </a:cubicBezTo>
                <a:cubicBezTo>
                  <a:pt x="280" y="1135"/>
                  <a:pt x="0" y="912"/>
                  <a:pt x="0" y="724"/>
                </a:cubicBezTo>
                <a:cubicBezTo>
                  <a:pt x="0" y="536"/>
                  <a:pt x="473" y="0"/>
                  <a:pt x="1951" y="68"/>
                </a:cubicBezTo>
                <a:cubicBezTo>
                  <a:pt x="2863" y="110"/>
                  <a:pt x="3884" y="433"/>
                  <a:pt x="3878" y="884"/>
                </a:cubicBezTo>
                <a:cubicBezTo>
                  <a:pt x="3872" y="1335"/>
                  <a:pt x="2873" y="1446"/>
                  <a:pt x="2276" y="1523"/>
                </a:cubicBezTo>
                <a:cubicBezTo>
                  <a:pt x="1679" y="1600"/>
                  <a:pt x="553" y="1580"/>
                  <a:pt x="297" y="1346"/>
                </a:cubicBezTo>
                <a:close/>
              </a:path>
            </a:pathLst>
          </a:custGeom>
          <a:solidFill>
            <a:srgbClr val="00BDB7"/>
          </a:solidFill>
          <a:ln w="38100">
            <a:solidFill>
              <a:srgbClr val="00BDB7"/>
            </a:solidFill>
            <a:round/>
            <a:headEnd/>
            <a:tailEnd/>
          </a:ln>
        </p:spPr>
        <p:txBody>
          <a:bodyPr vert="horz" wrap="square" lIns="91440" tIns="91440" rIns="91440" bIns="9144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Tree>
    <p:extLst>
      <p:ext uri="{BB962C8B-B14F-4D97-AF65-F5344CB8AC3E}">
        <p14:creationId xmlns:p14="http://schemas.microsoft.com/office/powerpoint/2010/main" val="4283350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WBS Settlement to CO-PA – Multi-Branded</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7" name="Group 16">
            <a:extLst>
              <a:ext uri="{FF2B5EF4-FFF2-40B4-BE49-F238E27FC236}">
                <a16:creationId xmlns:a16="http://schemas.microsoft.com/office/drawing/2014/main" id="{ABB39C45-8D86-4EDC-893F-73FCD59A287A}"/>
              </a:ext>
            </a:extLst>
          </p:cNvPr>
          <p:cNvGrpSpPr/>
          <p:nvPr/>
        </p:nvGrpSpPr>
        <p:grpSpPr>
          <a:xfrm>
            <a:off x="776343" y="1483756"/>
            <a:ext cx="10769930" cy="4685816"/>
            <a:chOff x="776343" y="1483756"/>
            <a:chExt cx="10769930" cy="4685816"/>
          </a:xfrm>
        </p:grpSpPr>
        <p:pic>
          <p:nvPicPr>
            <p:cNvPr id="19" name="Picture 18">
              <a:extLst>
                <a:ext uri="{FF2B5EF4-FFF2-40B4-BE49-F238E27FC236}">
                  <a16:creationId xmlns:a16="http://schemas.microsoft.com/office/drawing/2014/main" id="{54769C36-5B19-4D58-819F-9276BD3CA4E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7632" y="1483756"/>
              <a:ext cx="548956" cy="548956"/>
            </a:xfrm>
            <a:prstGeom prst="rect">
              <a:avLst/>
            </a:prstGeom>
          </p:spPr>
        </p:pic>
        <p:grpSp>
          <p:nvGrpSpPr>
            <p:cNvPr id="20" name="Group 19">
              <a:extLst>
                <a:ext uri="{FF2B5EF4-FFF2-40B4-BE49-F238E27FC236}">
                  <a16:creationId xmlns:a16="http://schemas.microsoft.com/office/drawing/2014/main" id="{98D7EF55-A634-447F-B98C-9DA04F08BCD9}"/>
                </a:ext>
              </a:extLst>
            </p:cNvPr>
            <p:cNvGrpSpPr/>
            <p:nvPr/>
          </p:nvGrpSpPr>
          <p:grpSpPr>
            <a:xfrm>
              <a:off x="776343" y="1496967"/>
              <a:ext cx="10769930" cy="4672605"/>
              <a:chOff x="776343" y="1496967"/>
              <a:chExt cx="10769930" cy="4672605"/>
            </a:xfrm>
          </p:grpSpPr>
          <p:grpSp>
            <p:nvGrpSpPr>
              <p:cNvPr id="21" name="Group 20">
                <a:extLst>
                  <a:ext uri="{FF2B5EF4-FFF2-40B4-BE49-F238E27FC236}">
                    <a16:creationId xmlns:a16="http://schemas.microsoft.com/office/drawing/2014/main" id="{1E02AFB0-6E8A-4580-AD67-3A1D5476D6DA}"/>
                  </a:ext>
                </a:extLst>
              </p:cNvPr>
              <p:cNvGrpSpPr/>
              <p:nvPr/>
            </p:nvGrpSpPr>
            <p:grpSpPr>
              <a:xfrm>
                <a:off x="777632" y="1496967"/>
                <a:ext cx="10768641" cy="633728"/>
                <a:chOff x="777632" y="1496967"/>
                <a:chExt cx="10768641" cy="633728"/>
              </a:xfrm>
            </p:grpSpPr>
            <p:cxnSp>
              <p:nvCxnSpPr>
                <p:cNvPr id="25" name="Straight Connector 24">
                  <a:extLst>
                    <a:ext uri="{FF2B5EF4-FFF2-40B4-BE49-F238E27FC236}">
                      <a16:creationId xmlns:a16="http://schemas.microsoft.com/office/drawing/2014/main" id="{AD45BE18-C4D4-4D03-8C30-087F2465F669}"/>
                    </a:ext>
                  </a:extLst>
                </p:cNvPr>
                <p:cNvCxnSpPr/>
                <p:nvPr/>
              </p:nvCxnSpPr>
              <p:spPr bwMode="auto">
                <a:xfrm flipV="1">
                  <a:off x="777632" y="2096078"/>
                  <a:ext cx="10768641" cy="34617"/>
                </a:xfrm>
                <a:prstGeom prst="line">
                  <a:avLst/>
                </a:prstGeom>
                <a:noFill/>
                <a:ln w="28575" cap="flat" cmpd="sng" algn="ctr">
                  <a:solidFill>
                    <a:srgbClr val="4D5C65">
                      <a:shade val="95000"/>
                      <a:satMod val="105000"/>
                    </a:srgbClr>
                  </a:solidFill>
                  <a:prstDash val="solid"/>
                  <a:headEnd type="none" w="med" len="med"/>
                  <a:tailEnd type="none" w="med" len="med"/>
                </a:ln>
                <a:effectLst/>
              </p:spPr>
            </p:cxnSp>
            <p:sp>
              <p:nvSpPr>
                <p:cNvPr id="28" name="TextBox 27">
                  <a:extLst>
                    <a:ext uri="{FF2B5EF4-FFF2-40B4-BE49-F238E27FC236}">
                      <a16:creationId xmlns:a16="http://schemas.microsoft.com/office/drawing/2014/main" id="{5798CECD-8AAC-40E8-ACDD-23AB2B2902E3}"/>
                    </a:ext>
                  </a:extLst>
                </p:cNvPr>
                <p:cNvSpPr txBox="1"/>
                <p:nvPr/>
              </p:nvSpPr>
              <p:spPr>
                <a:xfrm>
                  <a:off x="1511276" y="1496967"/>
                  <a:ext cx="4850841" cy="44608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0" cap="none" spc="0" normalizeH="0" baseline="0" noProof="0">
                      <a:ln>
                        <a:noFill/>
                      </a:ln>
                      <a:solidFill>
                        <a:srgbClr val="408D7A">
                          <a:lumMod val="50000"/>
                        </a:srgbClr>
                      </a:solidFill>
                      <a:effectLst/>
                      <a:uLnTx/>
                      <a:uFillTx/>
                      <a:latin typeface="Arial" panose="020B0604020202020204"/>
                      <a:ea typeface="ＭＳ Ｐゴシック" pitchFamily="80" charset="-128"/>
                      <a:cs typeface="+mn-cs"/>
                    </a:rPr>
                    <a:t>Multi-brand WBS elements</a:t>
                  </a:r>
                </a:p>
              </p:txBody>
            </p:sp>
          </p:grpSp>
          <p:sp>
            <p:nvSpPr>
              <p:cNvPr id="24" name="TextBox 23">
                <a:extLst>
                  <a:ext uri="{FF2B5EF4-FFF2-40B4-BE49-F238E27FC236}">
                    <a16:creationId xmlns:a16="http://schemas.microsoft.com/office/drawing/2014/main" id="{E8FEAA9E-2CEC-4267-B310-4492F995D120}"/>
                  </a:ext>
                </a:extLst>
              </p:cNvPr>
              <p:cNvSpPr txBox="1"/>
              <p:nvPr/>
            </p:nvSpPr>
            <p:spPr>
              <a:xfrm>
                <a:off x="776343" y="2430865"/>
                <a:ext cx="5585774" cy="3738707"/>
              </a:xfrm>
              <a:prstGeom prst="rect">
                <a:avLst/>
              </a:prstGeom>
              <a:noFill/>
            </p:spPr>
            <p:txBody>
              <a:bodyPr wrap="square" lIns="0" tIns="0" rIns="0" bIns="0" rtlCol="0">
                <a:normAutofit lnSpcReduction="10000"/>
              </a:bodyPr>
              <a:lstStyle/>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A </a:t>
                </a:r>
                <a:r>
                  <a:rPr kumimoji="0" lang="en-US" sz="1600" b="1"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multi-brand WBS element </a:t>
                </a:r>
                <a:r>
                  <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will be used to collect costs where brand and product type is unknown when the purchase order is created</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On a monthly basis the custom WBS allocation program will be executed, and </a:t>
                </a:r>
                <a:r>
                  <a:rPr kumimoji="0" lang="en-US" sz="1600" b="1"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the costs will be allocated from the multi-brand WBS to brand family / product type CO-PA characteristics</a:t>
                </a:r>
                <a:r>
                  <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 based on the weighting of year-to-date net revenue per brand family / product type for the market</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This will be done by using allocation keys maintained in the master data of the WBS. The allocation key have a pre defined calculation basis assigned to them except ZZZ which allows users to create their own allocation rules. </a:t>
                </a:r>
              </a:p>
              <a:p>
                <a:pPr marL="2857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05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7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60000" marR="0" lvl="1" indent="-4064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4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p:txBody>
          </p:sp>
        </p:grpSp>
      </p:grpSp>
      <p:pic>
        <p:nvPicPr>
          <p:cNvPr id="6" name="Picture 5">
            <a:extLst>
              <a:ext uri="{FF2B5EF4-FFF2-40B4-BE49-F238E27FC236}">
                <a16:creationId xmlns:a16="http://schemas.microsoft.com/office/drawing/2014/main" id="{6A579FC7-B336-4E68-878D-7462AD2C7712}"/>
              </a:ext>
            </a:extLst>
          </p:cNvPr>
          <p:cNvPicPr>
            <a:picLocks noChangeAspect="1"/>
          </p:cNvPicPr>
          <p:nvPr/>
        </p:nvPicPr>
        <p:blipFill>
          <a:blip r:embed="rId3"/>
          <a:stretch>
            <a:fillRect/>
          </a:stretch>
        </p:blipFill>
        <p:spPr>
          <a:xfrm>
            <a:off x="6452787" y="2388870"/>
            <a:ext cx="3961212" cy="2080259"/>
          </a:xfrm>
          <a:prstGeom prst="rect">
            <a:avLst/>
          </a:prstGeom>
        </p:spPr>
      </p:pic>
      <p:pic>
        <p:nvPicPr>
          <p:cNvPr id="7" name="Picture 6">
            <a:extLst>
              <a:ext uri="{FF2B5EF4-FFF2-40B4-BE49-F238E27FC236}">
                <a16:creationId xmlns:a16="http://schemas.microsoft.com/office/drawing/2014/main" id="{6A2D657F-12AE-4CD2-8010-74AFD3A080CE}"/>
              </a:ext>
            </a:extLst>
          </p:cNvPr>
          <p:cNvPicPr>
            <a:picLocks noChangeAspect="1"/>
          </p:cNvPicPr>
          <p:nvPr/>
        </p:nvPicPr>
        <p:blipFill>
          <a:blip r:embed="rId4"/>
          <a:stretch>
            <a:fillRect/>
          </a:stretch>
        </p:blipFill>
        <p:spPr>
          <a:xfrm>
            <a:off x="9451178" y="3171779"/>
            <a:ext cx="2215226" cy="3111054"/>
          </a:xfrm>
          <a:prstGeom prst="rect">
            <a:avLst/>
          </a:prstGeom>
        </p:spPr>
      </p:pic>
      <p:pic>
        <p:nvPicPr>
          <p:cNvPr id="8" name="Graphic 7" descr="Head with gears">
            <a:extLst>
              <a:ext uri="{FF2B5EF4-FFF2-40B4-BE49-F238E27FC236}">
                <a16:creationId xmlns:a16="http://schemas.microsoft.com/office/drawing/2014/main" id="{C2AE1BCE-5E03-4177-B09A-C826A92965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1276" y="6016176"/>
            <a:ext cx="453566" cy="453566"/>
          </a:xfrm>
          <a:prstGeom prst="rect">
            <a:avLst/>
          </a:prstGeom>
        </p:spPr>
      </p:pic>
      <p:sp>
        <p:nvSpPr>
          <p:cNvPr id="9" name="TextBox 8">
            <a:extLst>
              <a:ext uri="{FF2B5EF4-FFF2-40B4-BE49-F238E27FC236}">
                <a16:creationId xmlns:a16="http://schemas.microsoft.com/office/drawing/2014/main" id="{0AC5A6A8-EEB4-4D2D-B72C-C6368027E610}"/>
              </a:ext>
            </a:extLst>
          </p:cNvPr>
          <p:cNvSpPr txBox="1"/>
          <p:nvPr/>
        </p:nvSpPr>
        <p:spPr>
          <a:xfrm>
            <a:off x="1964842" y="6075725"/>
            <a:ext cx="6574971" cy="50438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For more information on Above Brand Contribution Allocations and Settlements, please see course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CO Controlling WBS Elements &amp; Projects – ABC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85841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24423AF1-2A22-4C79-82B8-BCB6606CC290}"/>
              </a:ext>
            </a:extLst>
          </p:cNvPr>
          <p:cNvPicPr>
            <a:picLocks noChangeAspect="1"/>
          </p:cNvPicPr>
          <p:nvPr/>
        </p:nvPicPr>
        <p:blipFill>
          <a:blip r:embed="rId2"/>
          <a:stretch>
            <a:fillRect/>
          </a:stretch>
        </p:blipFill>
        <p:spPr>
          <a:xfrm>
            <a:off x="502334" y="3198874"/>
            <a:ext cx="8603353" cy="588120"/>
          </a:xfrm>
          <a:prstGeom prst="rect">
            <a:avLst/>
          </a:prstGeom>
        </p:spPr>
      </p:pic>
      <p:sp>
        <p:nvSpPr>
          <p:cNvPr id="2" name="Title 1">
            <a:extLst>
              <a:ext uri="{FF2B5EF4-FFF2-40B4-BE49-F238E27FC236}">
                <a16:creationId xmlns:a16="http://schemas.microsoft.com/office/drawing/2014/main" id="{94621EF0-296C-4231-8192-905625566E02}"/>
              </a:ext>
            </a:extLst>
          </p:cNvPr>
          <p:cNvSpPr>
            <a:spLocks noGrp="1"/>
          </p:cNvSpPr>
          <p:nvPr>
            <p:ph type="title"/>
          </p:nvPr>
        </p:nvSpPr>
        <p:spPr/>
        <p:txBody>
          <a:bodyPr/>
          <a:lstStyle/>
          <a:p>
            <a:r>
              <a:rPr lang="en-US"/>
              <a:t>WBS Settlement Flow to CO-PA</a:t>
            </a:r>
          </a:p>
        </p:txBody>
      </p:sp>
      <p:sp>
        <p:nvSpPr>
          <p:cNvPr id="4" name="Footer Placeholder 3">
            <a:extLst>
              <a:ext uri="{FF2B5EF4-FFF2-40B4-BE49-F238E27FC236}">
                <a16:creationId xmlns:a16="http://schemas.microsoft.com/office/drawing/2014/main" id="{47262EBB-3544-48B6-A6D0-7404D3BACC1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3A65D8BC-780F-494E-98C5-14CAD20406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F025E446-3457-433E-A713-4CAAEE195BD2}"/>
              </a:ext>
            </a:extLst>
          </p:cNvPr>
          <p:cNvGrpSpPr/>
          <p:nvPr/>
        </p:nvGrpSpPr>
        <p:grpSpPr>
          <a:xfrm>
            <a:off x="502334" y="1477146"/>
            <a:ext cx="8619427" cy="1427337"/>
            <a:chOff x="735384" y="3035280"/>
            <a:chExt cx="10720291" cy="2188029"/>
          </a:xfrm>
        </p:grpSpPr>
        <p:grpSp>
          <p:nvGrpSpPr>
            <p:cNvPr id="9" name="Group 8">
              <a:extLst>
                <a:ext uri="{FF2B5EF4-FFF2-40B4-BE49-F238E27FC236}">
                  <a16:creationId xmlns:a16="http://schemas.microsoft.com/office/drawing/2014/main" id="{9D0880A0-2BD0-4458-BEC3-23F69CEB5ABC}"/>
                </a:ext>
              </a:extLst>
            </p:cNvPr>
            <p:cNvGrpSpPr/>
            <p:nvPr/>
          </p:nvGrpSpPr>
          <p:grpSpPr>
            <a:xfrm>
              <a:off x="735384" y="3035280"/>
              <a:ext cx="10720291" cy="2043872"/>
              <a:chOff x="735384" y="3035280"/>
              <a:chExt cx="10720291" cy="2043872"/>
            </a:xfrm>
          </p:grpSpPr>
          <p:pic>
            <p:nvPicPr>
              <p:cNvPr id="6" name="Picture 5">
                <a:extLst>
                  <a:ext uri="{FF2B5EF4-FFF2-40B4-BE49-F238E27FC236}">
                    <a16:creationId xmlns:a16="http://schemas.microsoft.com/office/drawing/2014/main" id="{8EA5C403-AA93-4B30-8BBC-EBB8945BC06F}"/>
                  </a:ext>
                </a:extLst>
              </p:cNvPr>
              <p:cNvPicPr>
                <a:picLocks noChangeAspect="1"/>
              </p:cNvPicPr>
              <p:nvPr/>
            </p:nvPicPr>
            <p:blipFill>
              <a:blip r:embed="rId3"/>
              <a:stretch>
                <a:fillRect/>
              </a:stretch>
            </p:blipFill>
            <p:spPr>
              <a:xfrm>
                <a:off x="736324" y="3035280"/>
                <a:ext cx="10719351" cy="787440"/>
              </a:xfrm>
              <a:prstGeom prst="rect">
                <a:avLst/>
              </a:prstGeom>
            </p:spPr>
          </p:pic>
          <p:pic>
            <p:nvPicPr>
              <p:cNvPr id="7" name="Picture 6">
                <a:extLst>
                  <a:ext uri="{FF2B5EF4-FFF2-40B4-BE49-F238E27FC236}">
                    <a16:creationId xmlns:a16="http://schemas.microsoft.com/office/drawing/2014/main" id="{D671B9CB-B6BC-4F01-9DD6-A9579618326F}"/>
                  </a:ext>
                </a:extLst>
              </p:cNvPr>
              <p:cNvPicPr>
                <a:picLocks noChangeAspect="1"/>
              </p:cNvPicPr>
              <p:nvPr/>
            </p:nvPicPr>
            <p:blipFill>
              <a:blip r:embed="rId4"/>
              <a:stretch>
                <a:fillRect/>
              </a:stretch>
            </p:blipFill>
            <p:spPr>
              <a:xfrm>
                <a:off x="739029" y="3810020"/>
                <a:ext cx="10713001" cy="336567"/>
              </a:xfrm>
              <a:prstGeom prst="rect">
                <a:avLst/>
              </a:prstGeom>
            </p:spPr>
          </p:pic>
          <p:pic>
            <p:nvPicPr>
              <p:cNvPr id="8" name="Picture 7">
                <a:extLst>
                  <a:ext uri="{FF2B5EF4-FFF2-40B4-BE49-F238E27FC236}">
                    <a16:creationId xmlns:a16="http://schemas.microsoft.com/office/drawing/2014/main" id="{3F06F94B-E71C-4A83-B4F2-EE0CD85C00E8}"/>
                  </a:ext>
                </a:extLst>
              </p:cNvPr>
              <p:cNvPicPr>
                <a:picLocks noChangeAspect="1"/>
              </p:cNvPicPr>
              <p:nvPr/>
            </p:nvPicPr>
            <p:blipFill>
              <a:blip r:embed="rId5"/>
              <a:stretch>
                <a:fillRect/>
              </a:stretch>
            </p:blipFill>
            <p:spPr>
              <a:xfrm>
                <a:off x="735384" y="4177406"/>
                <a:ext cx="10700300" cy="901746"/>
              </a:xfrm>
              <a:prstGeom prst="rect">
                <a:avLst/>
              </a:prstGeom>
            </p:spPr>
          </p:pic>
        </p:grpSp>
        <p:pic>
          <p:nvPicPr>
            <p:cNvPr id="10" name="Picture 9">
              <a:extLst>
                <a:ext uri="{FF2B5EF4-FFF2-40B4-BE49-F238E27FC236}">
                  <a16:creationId xmlns:a16="http://schemas.microsoft.com/office/drawing/2014/main" id="{9A4B5C68-6F44-426D-8CF1-ECCF08BF1D94}"/>
                </a:ext>
              </a:extLst>
            </p:cNvPr>
            <p:cNvPicPr>
              <a:picLocks noChangeAspect="1"/>
            </p:cNvPicPr>
            <p:nvPr/>
          </p:nvPicPr>
          <p:blipFill>
            <a:blip r:embed="rId6"/>
            <a:stretch>
              <a:fillRect/>
            </a:stretch>
          </p:blipFill>
          <p:spPr>
            <a:xfrm>
              <a:off x="735384" y="4189174"/>
              <a:ext cx="10719351" cy="1034135"/>
            </a:xfrm>
            <a:prstGeom prst="rect">
              <a:avLst/>
            </a:prstGeom>
          </p:spPr>
        </p:pic>
      </p:grpSp>
      <p:sp>
        <p:nvSpPr>
          <p:cNvPr id="13" name="Arrow: Right 12">
            <a:extLst>
              <a:ext uri="{FF2B5EF4-FFF2-40B4-BE49-F238E27FC236}">
                <a16:creationId xmlns:a16="http://schemas.microsoft.com/office/drawing/2014/main" id="{083B9E78-1436-4576-BB06-DB2E2A25AC92}"/>
              </a:ext>
            </a:extLst>
          </p:cNvPr>
          <p:cNvSpPr/>
          <p:nvPr/>
        </p:nvSpPr>
        <p:spPr>
          <a:xfrm>
            <a:off x="9178094" y="1966413"/>
            <a:ext cx="740764" cy="622875"/>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54E685C2-52FD-4B4D-98F2-97F5D2D84C84}"/>
              </a:ext>
            </a:extLst>
          </p:cNvPr>
          <p:cNvSpPr/>
          <p:nvPr/>
        </p:nvSpPr>
        <p:spPr>
          <a:xfrm>
            <a:off x="10005546" y="1499915"/>
            <a:ext cx="1988041" cy="1572100"/>
          </a:xfrm>
          <a:prstGeom prst="rect">
            <a:avLst/>
          </a:prstGeom>
          <a:noFill/>
          <a:ln w="952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SZ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7" name="Rectangle 16">
            <a:extLst>
              <a:ext uri="{FF2B5EF4-FFF2-40B4-BE49-F238E27FC236}">
                <a16:creationId xmlns:a16="http://schemas.microsoft.com/office/drawing/2014/main" id="{C4B298FE-0801-40B7-80E2-B8BD9DF79C3A}"/>
              </a:ext>
            </a:extLst>
          </p:cNvPr>
          <p:cNvSpPr/>
          <p:nvPr/>
        </p:nvSpPr>
        <p:spPr>
          <a:xfrm>
            <a:off x="1922181" y="2285965"/>
            <a:ext cx="3441700" cy="625779"/>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E914CA25-6D91-4BA5-B57C-3C9429403BF7}"/>
              </a:ext>
            </a:extLst>
          </p:cNvPr>
          <p:cNvSpPr/>
          <p:nvPr/>
        </p:nvSpPr>
        <p:spPr>
          <a:xfrm>
            <a:off x="6313666" y="2289551"/>
            <a:ext cx="876072" cy="614932"/>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9FF1FEA9-5C9B-44DE-86ED-F54E040FC8AA}"/>
              </a:ext>
            </a:extLst>
          </p:cNvPr>
          <p:cNvSpPr/>
          <p:nvPr/>
        </p:nvSpPr>
        <p:spPr>
          <a:xfrm>
            <a:off x="5835991" y="1978862"/>
            <a:ext cx="1177581" cy="261898"/>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0" name="Picture 19">
            <a:extLst>
              <a:ext uri="{FF2B5EF4-FFF2-40B4-BE49-F238E27FC236}">
                <a16:creationId xmlns:a16="http://schemas.microsoft.com/office/drawing/2014/main" id="{7C7469EC-4ECA-4A7B-90D1-CEB1C23FE6B7}"/>
              </a:ext>
            </a:extLst>
          </p:cNvPr>
          <p:cNvPicPr>
            <a:picLocks noChangeAspect="1"/>
          </p:cNvPicPr>
          <p:nvPr/>
        </p:nvPicPr>
        <p:blipFill>
          <a:blip r:embed="rId7"/>
          <a:stretch>
            <a:fillRect/>
          </a:stretch>
        </p:blipFill>
        <p:spPr>
          <a:xfrm>
            <a:off x="4942850" y="1620871"/>
            <a:ext cx="2660787" cy="311166"/>
          </a:xfrm>
          <a:prstGeom prst="rect">
            <a:avLst/>
          </a:prstGeom>
          <a:ln>
            <a:solidFill>
              <a:srgbClr val="EAAA00"/>
            </a:solidFill>
          </a:ln>
        </p:spPr>
      </p:pic>
      <p:sp>
        <p:nvSpPr>
          <p:cNvPr id="21" name="Rectangle: Rounded Corners 20">
            <a:extLst>
              <a:ext uri="{FF2B5EF4-FFF2-40B4-BE49-F238E27FC236}">
                <a16:creationId xmlns:a16="http://schemas.microsoft.com/office/drawing/2014/main" id="{B0665074-9459-44AD-A93C-33167F7167ED}"/>
              </a:ext>
            </a:extLst>
          </p:cNvPr>
          <p:cNvSpPr/>
          <p:nvPr/>
        </p:nvSpPr>
        <p:spPr>
          <a:xfrm>
            <a:off x="1669596" y="1463096"/>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FB03L – Branded WBS Settlement</a:t>
            </a:r>
          </a:p>
        </p:txBody>
      </p:sp>
      <p:grpSp>
        <p:nvGrpSpPr>
          <p:cNvPr id="26" name="Group 25">
            <a:extLst>
              <a:ext uri="{FF2B5EF4-FFF2-40B4-BE49-F238E27FC236}">
                <a16:creationId xmlns:a16="http://schemas.microsoft.com/office/drawing/2014/main" id="{5008903C-E898-479C-A057-3FE0C1B61C93}"/>
              </a:ext>
            </a:extLst>
          </p:cNvPr>
          <p:cNvGrpSpPr/>
          <p:nvPr/>
        </p:nvGrpSpPr>
        <p:grpSpPr>
          <a:xfrm>
            <a:off x="574583" y="4950630"/>
            <a:ext cx="8603354" cy="1520398"/>
            <a:chOff x="558508" y="3385617"/>
            <a:chExt cx="8665787" cy="1936630"/>
          </a:xfrm>
        </p:grpSpPr>
        <p:pic>
          <p:nvPicPr>
            <p:cNvPr id="22" name="Picture 21">
              <a:extLst>
                <a:ext uri="{FF2B5EF4-FFF2-40B4-BE49-F238E27FC236}">
                  <a16:creationId xmlns:a16="http://schemas.microsoft.com/office/drawing/2014/main" id="{C5CC6E60-6099-465C-9626-F3E8D5DBCF45}"/>
                </a:ext>
              </a:extLst>
            </p:cNvPr>
            <p:cNvPicPr>
              <a:picLocks noChangeAspect="1"/>
            </p:cNvPicPr>
            <p:nvPr/>
          </p:nvPicPr>
          <p:blipFill>
            <a:blip r:embed="rId8"/>
            <a:stretch>
              <a:fillRect/>
            </a:stretch>
          </p:blipFill>
          <p:spPr>
            <a:xfrm>
              <a:off x="558508" y="3385617"/>
              <a:ext cx="8665786" cy="547456"/>
            </a:xfrm>
            <a:prstGeom prst="rect">
              <a:avLst/>
            </a:prstGeom>
          </p:spPr>
        </p:pic>
        <p:pic>
          <p:nvPicPr>
            <p:cNvPr id="23" name="Picture 22">
              <a:extLst>
                <a:ext uri="{FF2B5EF4-FFF2-40B4-BE49-F238E27FC236}">
                  <a16:creationId xmlns:a16="http://schemas.microsoft.com/office/drawing/2014/main" id="{1FC0B040-14B2-4DCC-B599-C298365344E7}"/>
                </a:ext>
              </a:extLst>
            </p:cNvPr>
            <p:cNvPicPr>
              <a:picLocks noChangeAspect="1"/>
            </p:cNvPicPr>
            <p:nvPr/>
          </p:nvPicPr>
          <p:blipFill>
            <a:blip r:embed="rId9"/>
            <a:stretch>
              <a:fillRect/>
            </a:stretch>
          </p:blipFill>
          <p:spPr>
            <a:xfrm>
              <a:off x="558509" y="3942323"/>
              <a:ext cx="8665786" cy="222549"/>
            </a:xfrm>
            <a:prstGeom prst="rect">
              <a:avLst/>
            </a:prstGeom>
          </p:spPr>
        </p:pic>
        <p:pic>
          <p:nvPicPr>
            <p:cNvPr id="25" name="Picture 24">
              <a:extLst>
                <a:ext uri="{FF2B5EF4-FFF2-40B4-BE49-F238E27FC236}">
                  <a16:creationId xmlns:a16="http://schemas.microsoft.com/office/drawing/2014/main" id="{423AA2B2-00AD-4DAE-A64D-501F359732EA}"/>
                </a:ext>
              </a:extLst>
            </p:cNvPr>
            <p:cNvPicPr>
              <a:picLocks noChangeAspect="1"/>
            </p:cNvPicPr>
            <p:nvPr/>
          </p:nvPicPr>
          <p:blipFill>
            <a:blip r:embed="rId10"/>
            <a:stretch>
              <a:fillRect/>
            </a:stretch>
          </p:blipFill>
          <p:spPr>
            <a:xfrm>
              <a:off x="558508" y="4153787"/>
              <a:ext cx="8665786" cy="1168460"/>
            </a:xfrm>
            <a:prstGeom prst="rect">
              <a:avLst/>
            </a:prstGeom>
          </p:spPr>
        </p:pic>
      </p:grpSp>
      <p:sp>
        <p:nvSpPr>
          <p:cNvPr id="27" name="Rectangle: Rounded Corners 26">
            <a:extLst>
              <a:ext uri="{FF2B5EF4-FFF2-40B4-BE49-F238E27FC236}">
                <a16:creationId xmlns:a16="http://schemas.microsoft.com/office/drawing/2014/main" id="{1CDEEEAF-917A-48F2-8AD5-968BCE55242E}"/>
              </a:ext>
            </a:extLst>
          </p:cNvPr>
          <p:cNvSpPr/>
          <p:nvPr/>
        </p:nvSpPr>
        <p:spPr>
          <a:xfrm>
            <a:off x="1669596" y="4851054"/>
            <a:ext cx="1670504" cy="36772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FB03L – Multi Branded WBS Settlement</a:t>
            </a:r>
          </a:p>
        </p:txBody>
      </p:sp>
      <p:sp>
        <p:nvSpPr>
          <p:cNvPr id="28" name="Rectangle 27">
            <a:extLst>
              <a:ext uri="{FF2B5EF4-FFF2-40B4-BE49-F238E27FC236}">
                <a16:creationId xmlns:a16="http://schemas.microsoft.com/office/drawing/2014/main" id="{EF6A92F3-5BCE-42A3-B729-9C5CE60ABF86}"/>
              </a:ext>
            </a:extLst>
          </p:cNvPr>
          <p:cNvSpPr/>
          <p:nvPr/>
        </p:nvSpPr>
        <p:spPr>
          <a:xfrm>
            <a:off x="1673228" y="5618102"/>
            <a:ext cx="5340344" cy="843857"/>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Arrow: Right 28">
            <a:extLst>
              <a:ext uri="{FF2B5EF4-FFF2-40B4-BE49-F238E27FC236}">
                <a16:creationId xmlns:a16="http://schemas.microsoft.com/office/drawing/2014/main" id="{762A89FF-77BB-4D4E-A4B2-16DE8978E502}"/>
              </a:ext>
            </a:extLst>
          </p:cNvPr>
          <p:cNvSpPr/>
          <p:nvPr/>
        </p:nvSpPr>
        <p:spPr>
          <a:xfrm>
            <a:off x="9221358" y="5614174"/>
            <a:ext cx="740764" cy="622874"/>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58DA161E-90BC-42DC-A004-E775D4986407}"/>
              </a:ext>
            </a:extLst>
          </p:cNvPr>
          <p:cNvSpPr/>
          <p:nvPr/>
        </p:nvSpPr>
        <p:spPr>
          <a:xfrm>
            <a:off x="10005545" y="4950630"/>
            <a:ext cx="1988042" cy="1572100"/>
          </a:xfrm>
          <a:prstGeom prst="rect">
            <a:avLst/>
          </a:prstGeom>
          <a:noFill/>
          <a:ln w="952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r>
              <a:rPr kumimoji="0" lang="en-US" sz="1100" b="0" i="0" u="none" strike="noStrike" kern="1200" cap="none" spc="0" normalizeH="0" baseline="0" noProof="0">
                <a:ln>
                  <a:noFill/>
                </a:ln>
                <a:solidFill>
                  <a:srgbClr val="FF0000"/>
                </a:solidFill>
                <a:effectLst/>
                <a:uLnTx/>
                <a:uFillTx/>
                <a:latin typeface="Arial" panose="020B0604020202020204"/>
                <a:ea typeface="+mn-ea"/>
                <a:cs typeface="+mn-cs"/>
              </a:rPr>
              <a:t>X</a:t>
            </a:r>
            <a:endParaRPr kumimoji="0" lang="en-US" sz="11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XW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31" name="Rectangle: Rounded Corners 30">
            <a:extLst>
              <a:ext uri="{FF2B5EF4-FFF2-40B4-BE49-F238E27FC236}">
                <a16:creationId xmlns:a16="http://schemas.microsoft.com/office/drawing/2014/main" id="{B384FF5B-236E-418C-8F53-574B76A9B9D7}"/>
              </a:ext>
            </a:extLst>
          </p:cNvPr>
          <p:cNvSpPr/>
          <p:nvPr/>
        </p:nvSpPr>
        <p:spPr>
          <a:xfrm>
            <a:off x="1612446" y="3143174"/>
            <a:ext cx="4039054" cy="34813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FB03L – Multi Branded WBS Settlement – Allocation ZZZ</a:t>
            </a:r>
          </a:p>
        </p:txBody>
      </p:sp>
      <p:sp>
        <p:nvSpPr>
          <p:cNvPr id="33" name="Rectangle 32">
            <a:extLst>
              <a:ext uri="{FF2B5EF4-FFF2-40B4-BE49-F238E27FC236}">
                <a16:creationId xmlns:a16="http://schemas.microsoft.com/office/drawing/2014/main" id="{3DDD6E90-CAD3-4CDD-97C7-B1276399B468}"/>
              </a:ext>
            </a:extLst>
          </p:cNvPr>
          <p:cNvSpPr/>
          <p:nvPr/>
        </p:nvSpPr>
        <p:spPr>
          <a:xfrm>
            <a:off x="8075770" y="5566851"/>
            <a:ext cx="1102166" cy="917328"/>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Rectangle 33">
            <a:extLst>
              <a:ext uri="{FF2B5EF4-FFF2-40B4-BE49-F238E27FC236}">
                <a16:creationId xmlns:a16="http://schemas.microsoft.com/office/drawing/2014/main" id="{47C1B8E0-69C5-4A18-BC5E-67F8C46C0D3F}"/>
              </a:ext>
            </a:extLst>
          </p:cNvPr>
          <p:cNvSpPr/>
          <p:nvPr/>
        </p:nvSpPr>
        <p:spPr>
          <a:xfrm>
            <a:off x="5171077" y="5362082"/>
            <a:ext cx="1102166" cy="200320"/>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6" name="Picture 35">
            <a:extLst>
              <a:ext uri="{FF2B5EF4-FFF2-40B4-BE49-F238E27FC236}">
                <a16:creationId xmlns:a16="http://schemas.microsoft.com/office/drawing/2014/main" id="{C4208EB1-4AE7-408A-8DC1-2B786D61FEF6}"/>
              </a:ext>
            </a:extLst>
          </p:cNvPr>
          <p:cNvPicPr>
            <a:picLocks noChangeAspect="1"/>
          </p:cNvPicPr>
          <p:nvPr/>
        </p:nvPicPr>
        <p:blipFill>
          <a:blip r:embed="rId11"/>
          <a:stretch>
            <a:fillRect/>
          </a:stretch>
        </p:blipFill>
        <p:spPr>
          <a:xfrm>
            <a:off x="6365474" y="4972642"/>
            <a:ext cx="2400423" cy="292115"/>
          </a:xfrm>
          <a:prstGeom prst="rect">
            <a:avLst/>
          </a:prstGeom>
          <a:ln>
            <a:solidFill>
              <a:srgbClr val="00B050"/>
            </a:solidFill>
          </a:ln>
        </p:spPr>
      </p:pic>
      <p:pic>
        <p:nvPicPr>
          <p:cNvPr id="37" name="Picture 36">
            <a:extLst>
              <a:ext uri="{FF2B5EF4-FFF2-40B4-BE49-F238E27FC236}">
                <a16:creationId xmlns:a16="http://schemas.microsoft.com/office/drawing/2014/main" id="{F03AB886-2E48-4A09-99A6-395E7D841BE3}"/>
              </a:ext>
            </a:extLst>
          </p:cNvPr>
          <p:cNvPicPr>
            <a:picLocks noChangeAspect="1"/>
          </p:cNvPicPr>
          <p:nvPr/>
        </p:nvPicPr>
        <p:blipFill>
          <a:blip r:embed="rId12"/>
          <a:stretch>
            <a:fillRect/>
          </a:stretch>
        </p:blipFill>
        <p:spPr>
          <a:xfrm>
            <a:off x="543664" y="3889598"/>
            <a:ext cx="8593294" cy="908097"/>
          </a:xfrm>
          <a:prstGeom prst="rect">
            <a:avLst/>
          </a:prstGeom>
        </p:spPr>
      </p:pic>
      <p:sp>
        <p:nvSpPr>
          <p:cNvPr id="38" name="Arrow: Right 37">
            <a:extLst>
              <a:ext uri="{FF2B5EF4-FFF2-40B4-BE49-F238E27FC236}">
                <a16:creationId xmlns:a16="http://schemas.microsoft.com/office/drawing/2014/main" id="{1E4AA33B-657B-433B-9343-FA76897B948F}"/>
              </a:ext>
            </a:extLst>
          </p:cNvPr>
          <p:cNvSpPr/>
          <p:nvPr/>
        </p:nvSpPr>
        <p:spPr>
          <a:xfrm>
            <a:off x="9180302" y="3737231"/>
            <a:ext cx="738556" cy="622874"/>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Rectangle 38">
            <a:extLst>
              <a:ext uri="{FF2B5EF4-FFF2-40B4-BE49-F238E27FC236}">
                <a16:creationId xmlns:a16="http://schemas.microsoft.com/office/drawing/2014/main" id="{3B2D4D3E-85EC-4290-864A-BBC7B18BD4E3}"/>
              </a:ext>
            </a:extLst>
          </p:cNvPr>
          <p:cNvSpPr/>
          <p:nvPr/>
        </p:nvSpPr>
        <p:spPr>
          <a:xfrm>
            <a:off x="10005546" y="3277428"/>
            <a:ext cx="1988041" cy="1572100"/>
          </a:xfrm>
          <a:prstGeom prst="rect">
            <a:avLst/>
          </a:prstGeom>
          <a:no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Debit and Credit in same: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G/L Account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Functional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Profit Center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Balanced to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Ledger other than 0L possible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Document type </a:t>
            </a: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SZ </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t>
            </a:r>
          </a:p>
        </p:txBody>
      </p:sp>
      <p:pic>
        <p:nvPicPr>
          <p:cNvPr id="43" name="Picture 42">
            <a:extLst>
              <a:ext uri="{FF2B5EF4-FFF2-40B4-BE49-F238E27FC236}">
                <a16:creationId xmlns:a16="http://schemas.microsoft.com/office/drawing/2014/main" id="{7456E3F6-3600-41C3-A3BE-761BC5197B1B}"/>
              </a:ext>
            </a:extLst>
          </p:cNvPr>
          <p:cNvPicPr>
            <a:picLocks noChangeAspect="1"/>
          </p:cNvPicPr>
          <p:nvPr/>
        </p:nvPicPr>
        <p:blipFill>
          <a:blip r:embed="rId13"/>
          <a:stretch>
            <a:fillRect/>
          </a:stretch>
        </p:blipFill>
        <p:spPr>
          <a:xfrm>
            <a:off x="502335" y="3729970"/>
            <a:ext cx="8591280" cy="296878"/>
          </a:xfrm>
          <a:prstGeom prst="rect">
            <a:avLst/>
          </a:prstGeom>
        </p:spPr>
      </p:pic>
      <p:sp>
        <p:nvSpPr>
          <p:cNvPr id="42" name="Rectangle 41">
            <a:extLst>
              <a:ext uri="{FF2B5EF4-FFF2-40B4-BE49-F238E27FC236}">
                <a16:creationId xmlns:a16="http://schemas.microsoft.com/office/drawing/2014/main" id="{C38BFC1A-C51C-415B-A0CB-89297BAB22A7}"/>
              </a:ext>
            </a:extLst>
          </p:cNvPr>
          <p:cNvSpPr/>
          <p:nvPr/>
        </p:nvSpPr>
        <p:spPr>
          <a:xfrm>
            <a:off x="6795481" y="3749925"/>
            <a:ext cx="1372292" cy="23528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8E1C99C8-14D6-405D-B3CE-5047D2E98276}"/>
              </a:ext>
            </a:extLst>
          </p:cNvPr>
          <p:cNvSpPr/>
          <p:nvPr/>
        </p:nvSpPr>
        <p:spPr>
          <a:xfrm>
            <a:off x="6343707" y="4040913"/>
            <a:ext cx="876072" cy="75678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2446062B-FF77-48D9-9CC5-0744FCD80CDA}"/>
              </a:ext>
            </a:extLst>
          </p:cNvPr>
          <p:cNvSpPr/>
          <p:nvPr/>
        </p:nvSpPr>
        <p:spPr>
          <a:xfrm>
            <a:off x="1519275" y="3985212"/>
            <a:ext cx="3862731" cy="8265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4" name="Picture 43">
            <a:extLst>
              <a:ext uri="{FF2B5EF4-FFF2-40B4-BE49-F238E27FC236}">
                <a16:creationId xmlns:a16="http://schemas.microsoft.com/office/drawing/2014/main" id="{8D3AD497-8B67-436A-93AA-4FB2EA5E907A}"/>
              </a:ext>
            </a:extLst>
          </p:cNvPr>
          <p:cNvPicPr>
            <a:picLocks noChangeAspect="1"/>
          </p:cNvPicPr>
          <p:nvPr/>
        </p:nvPicPr>
        <p:blipFill>
          <a:blip r:embed="rId7"/>
          <a:stretch>
            <a:fillRect/>
          </a:stretch>
        </p:blipFill>
        <p:spPr>
          <a:xfrm>
            <a:off x="5786641" y="3285824"/>
            <a:ext cx="2660787" cy="311166"/>
          </a:xfrm>
          <a:prstGeom prst="rect">
            <a:avLst/>
          </a:prstGeom>
          <a:ln>
            <a:solidFill>
              <a:srgbClr val="FF0000"/>
            </a:solidFill>
          </a:ln>
        </p:spPr>
      </p:pic>
    </p:spTree>
    <p:extLst>
      <p:ext uri="{BB962C8B-B14F-4D97-AF65-F5344CB8AC3E}">
        <p14:creationId xmlns:p14="http://schemas.microsoft.com/office/powerpoint/2010/main" val="2137619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D905AAD-9EE4-4C20-8178-F46658D5B5B1}"/>
              </a:ext>
            </a:extLst>
          </p:cNvPr>
          <p:cNvGrpSpPr/>
          <p:nvPr/>
        </p:nvGrpSpPr>
        <p:grpSpPr>
          <a:xfrm>
            <a:off x="776167" y="4242161"/>
            <a:ext cx="10618666" cy="2231237"/>
            <a:chOff x="776167" y="4185501"/>
            <a:chExt cx="10618666" cy="2287897"/>
          </a:xfrm>
        </p:grpSpPr>
        <p:sp>
          <p:nvSpPr>
            <p:cNvPr id="7" name="Snip Diagonal Corner Rectangle 7">
              <a:extLst>
                <a:ext uri="{FF2B5EF4-FFF2-40B4-BE49-F238E27FC236}">
                  <a16:creationId xmlns:a16="http://schemas.microsoft.com/office/drawing/2014/main" id="{F3C5072D-5ED0-4CE8-8DAC-5D67BE49B076}"/>
                </a:ext>
              </a:extLst>
            </p:cNvPr>
            <p:cNvSpPr/>
            <p:nvPr/>
          </p:nvSpPr>
          <p:spPr bwMode="auto">
            <a:xfrm>
              <a:off x="776167" y="4185501"/>
              <a:ext cx="10618666" cy="2287897"/>
            </a:xfrm>
            <a:prstGeom prst="snip2DiagRect">
              <a:avLst/>
            </a:prstGeom>
            <a:solidFill>
              <a:srgbClr val="88D5B8">
                <a:lumMod val="40000"/>
                <a:lumOff val="60000"/>
              </a:srgbClr>
            </a:solidFill>
            <a:ln w="6350" cap="flat" cmpd="sng" algn="ctr">
              <a:solidFill>
                <a:srgbClr val="00BDB7"/>
              </a:solidFill>
              <a:prstDash val="solid"/>
              <a:miter lim="800000"/>
            </a:ln>
            <a:effectLst>
              <a:outerShdw blurRad="50800" dist="38100" dir="2700000" algn="tl" rotWithShape="0">
                <a:prstClr val="black">
                  <a:alpha val="40000"/>
                </a:prstClr>
              </a:outerShdw>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400" b="1" i="0"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000000"/>
                </a:solidFill>
                <a:effectLst/>
                <a:uLnTx/>
                <a:uFillTx/>
                <a:latin typeface="Arial" panose="020B0604020202020204"/>
                <a:ea typeface="ＭＳ Ｐゴシック" charset="0"/>
                <a:cs typeface="+mn-cs"/>
              </a:endParaRPr>
            </a:p>
          </p:txBody>
        </p:sp>
        <p:sp>
          <p:nvSpPr>
            <p:cNvPr id="10" name="TextBox 9">
              <a:extLst>
                <a:ext uri="{FF2B5EF4-FFF2-40B4-BE49-F238E27FC236}">
                  <a16:creationId xmlns:a16="http://schemas.microsoft.com/office/drawing/2014/main" id="{F8EE0AF9-24E6-4F3C-B05A-C38003A7F464}"/>
                </a:ext>
              </a:extLst>
            </p:cNvPr>
            <p:cNvSpPr txBox="1"/>
            <p:nvPr/>
          </p:nvSpPr>
          <p:spPr>
            <a:xfrm>
              <a:off x="2008353" y="4315211"/>
              <a:ext cx="9049845" cy="2158187"/>
            </a:xfrm>
            <a:prstGeom prst="rect">
              <a:avLst/>
            </a:prstGeom>
            <a:noFill/>
          </p:spPr>
          <p:txBody>
            <a:bodyPr wrap="square" lIns="0" tIns="0" rIns="0" bIns="0" rtlCol="0">
              <a:no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The rules defined in the cycle can be: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 </a:t>
              </a:r>
              <a:r>
                <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fixed amount or fixed %</a:t>
              </a: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 which is updated periodically</a:t>
              </a: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 </a:t>
              </a:r>
              <a:r>
                <a:rPr kumimoji="0" lang="en-US" sz="1600" b="1"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Statistical Key Figure </a:t>
              </a: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 a key of allocations populated in SAP such as headcount per cost center, square meters per cost center etc.</a:t>
              </a: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Based on split of costs between cost centers / profit centers / WBS elements in other accounts</a:t>
              </a:r>
            </a:p>
          </p:txBody>
        </p:sp>
      </p:gr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 - Introduction</a:t>
            </a:r>
            <a:endParaRPr lang="en-US" dirty="0"/>
          </a:p>
        </p:txBody>
      </p:sp>
      <p:sp>
        <p:nvSpPr>
          <p:cNvPr id="4" name="Footer Placeholder 3">
            <a:extLst>
              <a:ext uri="{FF2B5EF4-FFF2-40B4-BE49-F238E27FC236}">
                <a16:creationId xmlns:a16="http://schemas.microsoft.com/office/drawing/2014/main" id="{54A6DE59-7DF8-46F6-B8F5-3236E3DAF46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0965259E-FC8A-4CC7-9D56-2A03AAD42E26}"/>
              </a:ext>
            </a:extLst>
          </p:cNvPr>
          <p:cNvGrpSpPr/>
          <p:nvPr/>
        </p:nvGrpSpPr>
        <p:grpSpPr>
          <a:xfrm>
            <a:off x="776167" y="1472665"/>
            <a:ext cx="10618666" cy="2653298"/>
            <a:chOff x="776167" y="772997"/>
            <a:chExt cx="10618666" cy="3242821"/>
          </a:xfrm>
        </p:grpSpPr>
        <p:sp>
          <p:nvSpPr>
            <p:cNvPr id="6" name="Snip Diagonal Corner Rectangle 6">
              <a:extLst>
                <a:ext uri="{FF2B5EF4-FFF2-40B4-BE49-F238E27FC236}">
                  <a16:creationId xmlns:a16="http://schemas.microsoft.com/office/drawing/2014/main" id="{1739F3EB-8C8C-447B-965B-9513345E3184}"/>
                </a:ext>
              </a:extLst>
            </p:cNvPr>
            <p:cNvSpPr/>
            <p:nvPr/>
          </p:nvSpPr>
          <p:spPr bwMode="auto">
            <a:xfrm>
              <a:off x="776167" y="772997"/>
              <a:ext cx="10618666" cy="3242821"/>
            </a:xfrm>
            <a:prstGeom prst="snip1Rect">
              <a:avLst/>
            </a:prstGeom>
            <a:solidFill>
              <a:srgbClr val="B0D838">
                <a:lumMod val="20000"/>
                <a:lumOff val="80000"/>
              </a:srgbClr>
            </a:solidFill>
            <a:ln w="6350" cap="flat" cmpd="sng" algn="ctr">
              <a:solidFill>
                <a:srgbClr val="B0D838"/>
              </a:solidFill>
              <a:prstDash val="solid"/>
              <a:miter lim="800000"/>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400" b="1" i="0"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000000"/>
                </a:solidFill>
                <a:effectLst/>
                <a:uLnTx/>
                <a:uFillTx/>
                <a:latin typeface="Arial" panose="020B0604020202020204"/>
                <a:ea typeface="ＭＳ Ｐゴシック" charset="0"/>
                <a:cs typeface="+mn-cs"/>
              </a:endParaRPr>
            </a:p>
          </p:txBody>
        </p:sp>
        <p:sp>
          <p:nvSpPr>
            <p:cNvPr id="8" name="TextBox 7">
              <a:extLst>
                <a:ext uri="{FF2B5EF4-FFF2-40B4-BE49-F238E27FC236}">
                  <a16:creationId xmlns:a16="http://schemas.microsoft.com/office/drawing/2014/main" id="{04D9CA57-C121-4AAC-B9CC-57E5AB93AE5D}"/>
                </a:ext>
              </a:extLst>
            </p:cNvPr>
            <p:cNvSpPr txBox="1"/>
            <p:nvPr/>
          </p:nvSpPr>
          <p:spPr>
            <a:xfrm>
              <a:off x="896379" y="915013"/>
              <a:ext cx="10399242" cy="3067811"/>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 Allocation Cycles</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Ability to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collect costs</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 against a cost center and allocate these costs to multiple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centers / WBS elements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based on the rules defined in the cycle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The cycles are executed on a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monthly basis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by BSC as per the rules defined – eliminating the need to submit journals each month through the MyRequest system (note: GSC cycles are executed by GSC Finance)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Allocation cycle entries in S/4 HANA will generate FI postings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and therefore are visible in FI reports. They can be performed in a </a:t>
              </a:r>
              <a:r>
                <a:rPr kumimoji="0" lang="en-US" sz="1400" b="1"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specific ledger </a:t>
              </a:r>
              <a:r>
                <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only (for example IFRS ledger only for management accounting allocations) if needed, or can impact all ledgers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rPr>
                <a:t>For markets, BSC will create allocation cycles in SAP on receipt of a MyRequest template</a:t>
              </a: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742950" marR="0" lvl="1" indent="-285750" algn="l" defTabSz="914400" rtl="0" eaLnBrk="1" fontAlgn="base" latinLnBrk="0" hangingPunct="1">
                <a:lnSpc>
                  <a:spcPct val="100000"/>
                </a:lnSpc>
                <a:spcBef>
                  <a:spcPct val="0"/>
                </a:spcBef>
                <a:spcAft>
                  <a:spcPct val="0"/>
                </a:spcAft>
                <a:buClrTx/>
                <a:buSzTx/>
                <a:buFont typeface="Courier New" panose="02070309020205020404" pitchFamily="49" charset="0"/>
                <a:buChar char="o"/>
                <a:tabLst/>
                <a:defRPr/>
              </a:pPr>
              <a:endParaRPr kumimoji="0" lang="en-US" sz="1400" b="0" i="0" u="none" strike="noStrike" kern="1200" cap="none" spc="0" normalizeH="0" baseline="0" noProof="0" dirty="0">
                <a:ln>
                  <a:noFill/>
                </a:ln>
                <a:solidFill>
                  <a:srgbClr val="122632"/>
                </a:solidFill>
                <a:effectLst/>
                <a:uLnTx/>
                <a:uFillTx/>
                <a:latin typeface="Arial" panose="020B0604020202020204"/>
                <a:ea typeface="ＭＳ Ｐゴシック" pitchFamily="80" charset="-128"/>
                <a:cs typeface="+mn-cs"/>
              </a:endParaRPr>
            </a:p>
          </p:txBody>
        </p:sp>
      </p:grpSp>
      <p:pic>
        <p:nvPicPr>
          <p:cNvPr id="9" name="Picture 8">
            <a:extLst>
              <a:ext uri="{FF2B5EF4-FFF2-40B4-BE49-F238E27FC236}">
                <a16:creationId xmlns:a16="http://schemas.microsoft.com/office/drawing/2014/main" id="{A6EC84FC-BCF5-47CA-B3A6-46A868AEBB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382" y="4741682"/>
            <a:ext cx="775756" cy="792086"/>
          </a:xfrm>
          <a:prstGeom prst="rect">
            <a:avLst/>
          </a:prstGeom>
        </p:spPr>
      </p:pic>
    </p:spTree>
    <p:extLst>
      <p:ext uri="{BB962C8B-B14F-4D97-AF65-F5344CB8AC3E}">
        <p14:creationId xmlns:p14="http://schemas.microsoft.com/office/powerpoint/2010/main" val="310657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Allocations for </a:t>
            </a:r>
            <a:r>
              <a:rPr lang="en-GB" dirty="0" err="1"/>
              <a:t>OpEx</a:t>
            </a:r>
            <a:endParaRPr lang="en-US" dirty="0"/>
          </a:p>
        </p:txBody>
      </p:sp>
      <p:sp>
        <p:nvSpPr>
          <p:cNvPr id="4" name="Footer Placeholder 3">
            <a:extLst>
              <a:ext uri="{FF2B5EF4-FFF2-40B4-BE49-F238E27FC236}">
                <a16:creationId xmlns:a16="http://schemas.microsoft.com/office/drawing/2014/main" id="{54A6DE59-7DF8-46F6-B8F5-3236E3DAF46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975268AC-9B63-4236-881E-F0AAAF889C85}"/>
              </a:ext>
            </a:extLst>
          </p:cNvPr>
          <p:cNvGraphicFramePr>
            <a:graphicFrameLocks noGrp="1"/>
          </p:cNvGraphicFramePr>
          <p:nvPr/>
        </p:nvGraphicFramePr>
        <p:xfrm>
          <a:off x="6107007" y="4203935"/>
          <a:ext cx="5204784" cy="1949087"/>
        </p:xfrm>
        <a:graphic>
          <a:graphicData uri="http://schemas.openxmlformats.org/drawingml/2006/table">
            <a:tbl>
              <a:tblPr firstRow="1" bandRow="1"/>
              <a:tblGrid>
                <a:gridCol w="599840">
                  <a:extLst>
                    <a:ext uri="{9D8B030D-6E8A-4147-A177-3AD203B41FA5}">
                      <a16:colId xmlns:a16="http://schemas.microsoft.com/office/drawing/2014/main" val="1738195229"/>
                    </a:ext>
                  </a:extLst>
                </a:gridCol>
                <a:gridCol w="1110343">
                  <a:extLst>
                    <a:ext uri="{9D8B030D-6E8A-4147-A177-3AD203B41FA5}">
                      <a16:colId xmlns:a16="http://schemas.microsoft.com/office/drawing/2014/main" val="1185855416"/>
                    </a:ext>
                  </a:extLst>
                </a:gridCol>
                <a:gridCol w="1149531">
                  <a:extLst>
                    <a:ext uri="{9D8B030D-6E8A-4147-A177-3AD203B41FA5}">
                      <a16:colId xmlns:a16="http://schemas.microsoft.com/office/drawing/2014/main" val="3564467507"/>
                    </a:ext>
                  </a:extLst>
                </a:gridCol>
                <a:gridCol w="1210150">
                  <a:extLst>
                    <a:ext uri="{9D8B030D-6E8A-4147-A177-3AD203B41FA5}">
                      <a16:colId xmlns:a16="http://schemas.microsoft.com/office/drawing/2014/main" val="1909753261"/>
                    </a:ext>
                  </a:extLst>
                </a:gridCol>
                <a:gridCol w="1134920">
                  <a:extLst>
                    <a:ext uri="{9D8B030D-6E8A-4147-A177-3AD203B41FA5}">
                      <a16:colId xmlns:a16="http://schemas.microsoft.com/office/drawing/2014/main" val="501845515"/>
                    </a:ext>
                  </a:extLst>
                </a:gridCol>
              </a:tblGrid>
              <a:tr h="54459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DR/CR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Account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dirty="0"/>
                        <a:t>Cost center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Profit Center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Amount</a:t>
                      </a:r>
                    </a:p>
                    <a:p>
                      <a:r>
                        <a:rPr lang="en-US" sz="1400"/>
                        <a:t>EUR </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356535567"/>
                  </a:ext>
                </a:extLst>
              </a:tr>
              <a:tr h="54459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Electricity</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General Services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France Market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(500)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939708156"/>
                  </a:ext>
                </a:extLst>
              </a:tr>
              <a:tr h="315293">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IT Dept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Global IT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200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2695043547"/>
                  </a:ext>
                </a:extLst>
              </a:tr>
              <a:tr h="54459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WWDF France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WWDF France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dirty="0"/>
                        <a:t>300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865250958"/>
                  </a:ext>
                </a:extLst>
              </a:tr>
            </a:tbl>
          </a:graphicData>
        </a:graphic>
      </p:graphicFrame>
      <p:graphicFrame>
        <p:nvGraphicFramePr>
          <p:cNvPr id="7" name="Table 6">
            <a:extLst>
              <a:ext uri="{FF2B5EF4-FFF2-40B4-BE49-F238E27FC236}">
                <a16:creationId xmlns:a16="http://schemas.microsoft.com/office/drawing/2014/main" id="{6335B06F-659D-47E8-AA31-EA1A7E3D7F1A}"/>
              </a:ext>
            </a:extLst>
          </p:cNvPr>
          <p:cNvGraphicFramePr>
            <a:graphicFrameLocks noGrp="1"/>
          </p:cNvGraphicFramePr>
          <p:nvPr/>
        </p:nvGraphicFramePr>
        <p:xfrm>
          <a:off x="772064" y="1950821"/>
          <a:ext cx="4921166" cy="1590564"/>
        </p:xfrm>
        <a:graphic>
          <a:graphicData uri="http://schemas.openxmlformats.org/drawingml/2006/table">
            <a:tbl>
              <a:tblPr firstRow="1" bandRow="1"/>
              <a:tblGrid>
                <a:gridCol w="529978">
                  <a:extLst>
                    <a:ext uri="{9D8B030D-6E8A-4147-A177-3AD203B41FA5}">
                      <a16:colId xmlns:a16="http://schemas.microsoft.com/office/drawing/2014/main" val="1738195229"/>
                    </a:ext>
                  </a:extLst>
                </a:gridCol>
                <a:gridCol w="1264826">
                  <a:extLst>
                    <a:ext uri="{9D8B030D-6E8A-4147-A177-3AD203B41FA5}">
                      <a16:colId xmlns:a16="http://schemas.microsoft.com/office/drawing/2014/main" val="1185855416"/>
                    </a:ext>
                  </a:extLst>
                </a:gridCol>
                <a:gridCol w="1103246">
                  <a:extLst>
                    <a:ext uri="{9D8B030D-6E8A-4147-A177-3AD203B41FA5}">
                      <a16:colId xmlns:a16="http://schemas.microsoft.com/office/drawing/2014/main" val="3564467507"/>
                    </a:ext>
                  </a:extLst>
                </a:gridCol>
                <a:gridCol w="950040">
                  <a:extLst>
                    <a:ext uri="{9D8B030D-6E8A-4147-A177-3AD203B41FA5}">
                      <a16:colId xmlns:a16="http://schemas.microsoft.com/office/drawing/2014/main" val="1909753261"/>
                    </a:ext>
                  </a:extLst>
                </a:gridCol>
                <a:gridCol w="1073076">
                  <a:extLst>
                    <a:ext uri="{9D8B030D-6E8A-4147-A177-3AD203B41FA5}">
                      <a16:colId xmlns:a16="http://schemas.microsoft.com/office/drawing/2014/main" val="501845515"/>
                    </a:ext>
                  </a:extLst>
                </a:gridCol>
              </a:tblGrid>
              <a:tr h="53018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DR/CR</a:t>
                      </a:r>
                      <a:endParaRPr lang="en-US" sz="140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a:t>Account</a:t>
                      </a:r>
                      <a:endParaRPr lang="en-US" sz="140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dirty="0"/>
                        <a:t>Cost center</a:t>
                      </a:r>
                      <a:endParaRPr lang="en-US" sz="14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dirty="0"/>
                        <a:t>Profit Center</a:t>
                      </a:r>
                      <a:endParaRPr lang="en-US" sz="14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400" dirty="0"/>
                        <a:t>Amount</a:t>
                      </a:r>
                    </a:p>
                    <a:p>
                      <a:r>
                        <a:rPr lang="en-US" sz="1400" dirty="0"/>
                        <a:t>EUR </a:t>
                      </a:r>
                      <a:endParaRPr lang="en-US" sz="1400" dirty="0">
                        <a:solidFill>
                          <a:schemeClr val="tx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356535567"/>
                  </a:ext>
                </a:extLst>
              </a:tr>
              <a:tr h="53018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GRIR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eaLnBrk="1"/>
                      <a:endParaRPr lang="en-US" sz="14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dirty="0"/>
                        <a:t>France Market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(1000)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939708156"/>
                  </a:ext>
                </a:extLst>
              </a:tr>
              <a:tr h="53018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Electricity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General Services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a:t>France Market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400" dirty="0"/>
                        <a:t>1000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865250958"/>
                  </a:ext>
                </a:extLst>
              </a:tr>
            </a:tbl>
          </a:graphicData>
        </a:graphic>
      </p:graphicFrame>
      <p:sp>
        <p:nvSpPr>
          <p:cNvPr id="8" name="TextBox 7">
            <a:extLst>
              <a:ext uri="{FF2B5EF4-FFF2-40B4-BE49-F238E27FC236}">
                <a16:creationId xmlns:a16="http://schemas.microsoft.com/office/drawing/2014/main" id="{EA4EA7B9-4E9C-4ECD-B628-E1BD3FCB21BA}"/>
              </a:ext>
            </a:extLst>
          </p:cNvPr>
          <p:cNvSpPr txBox="1"/>
          <p:nvPr/>
        </p:nvSpPr>
        <p:spPr>
          <a:xfrm>
            <a:off x="772063" y="1426382"/>
            <a:ext cx="5081885" cy="447265"/>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1. Goods receipt for electricity costs</a:t>
            </a:r>
          </a:p>
        </p:txBody>
      </p:sp>
      <p:sp>
        <p:nvSpPr>
          <p:cNvPr id="9" name="TextBox 8">
            <a:extLst>
              <a:ext uri="{FF2B5EF4-FFF2-40B4-BE49-F238E27FC236}">
                <a16:creationId xmlns:a16="http://schemas.microsoft.com/office/drawing/2014/main" id="{8D3EE689-5C35-4679-B621-14A06D9D5404}"/>
              </a:ext>
            </a:extLst>
          </p:cNvPr>
          <p:cNvSpPr txBox="1"/>
          <p:nvPr/>
        </p:nvSpPr>
        <p:spPr>
          <a:xfrm>
            <a:off x="6166720" y="1435418"/>
            <a:ext cx="5204785" cy="444174"/>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2. Total balance on General Services cost center</a:t>
            </a:r>
          </a:p>
        </p:txBody>
      </p:sp>
      <p:sp>
        <p:nvSpPr>
          <p:cNvPr id="10" name="TextBox 9">
            <a:extLst>
              <a:ext uri="{FF2B5EF4-FFF2-40B4-BE49-F238E27FC236}">
                <a16:creationId xmlns:a16="http://schemas.microsoft.com/office/drawing/2014/main" id="{2B57AE8C-1292-44DC-B792-9E54BAADADE0}"/>
              </a:ext>
            </a:extLst>
          </p:cNvPr>
          <p:cNvSpPr txBox="1"/>
          <p:nvPr/>
        </p:nvSpPr>
        <p:spPr>
          <a:xfrm>
            <a:off x="6166721" y="1947136"/>
            <a:ext cx="5204784" cy="1711177"/>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pic>
        <p:nvPicPr>
          <p:cNvPr id="11" name="Picture 10">
            <a:extLst>
              <a:ext uri="{FF2B5EF4-FFF2-40B4-BE49-F238E27FC236}">
                <a16:creationId xmlns:a16="http://schemas.microsoft.com/office/drawing/2014/main" id="{49EDBE39-3B0C-40DA-A8D2-CF835E41AAB8}"/>
              </a:ext>
            </a:extLst>
          </p:cNvPr>
          <p:cNvPicPr>
            <a:picLocks noChangeAspect="1"/>
          </p:cNvPicPr>
          <p:nvPr/>
        </p:nvPicPr>
        <p:blipFill>
          <a:blip r:embed="rId2"/>
          <a:stretch>
            <a:fillRect/>
          </a:stretch>
        </p:blipFill>
        <p:spPr>
          <a:xfrm>
            <a:off x="8438606" y="3204073"/>
            <a:ext cx="528502" cy="231219"/>
          </a:xfrm>
          <a:prstGeom prst="rect">
            <a:avLst/>
          </a:prstGeom>
        </p:spPr>
      </p:pic>
      <p:sp>
        <p:nvSpPr>
          <p:cNvPr id="12" name="TextBox 11">
            <a:extLst>
              <a:ext uri="{FF2B5EF4-FFF2-40B4-BE49-F238E27FC236}">
                <a16:creationId xmlns:a16="http://schemas.microsoft.com/office/drawing/2014/main" id="{83F3FC43-07BE-42AC-A9CF-0BBF01A4CB8C}"/>
              </a:ext>
            </a:extLst>
          </p:cNvPr>
          <p:cNvSpPr txBox="1"/>
          <p:nvPr/>
        </p:nvSpPr>
        <p:spPr>
          <a:xfrm>
            <a:off x="6311107" y="2279006"/>
            <a:ext cx="4779259" cy="417503"/>
          </a:xfrm>
          <a:prstGeom prst="rect">
            <a:avLst/>
          </a:prstGeom>
          <a:noFill/>
          <a:ln>
            <a:solidFill>
              <a:srgbClr val="122632"/>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Cost Center: General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Reporting Period: 1 to 3 2019</a:t>
            </a:r>
          </a:p>
        </p:txBody>
      </p:sp>
      <p:graphicFrame>
        <p:nvGraphicFramePr>
          <p:cNvPr id="13" name="Table 12">
            <a:extLst>
              <a:ext uri="{FF2B5EF4-FFF2-40B4-BE49-F238E27FC236}">
                <a16:creationId xmlns:a16="http://schemas.microsoft.com/office/drawing/2014/main" id="{154F9D7B-884B-4E6D-AFDD-E97C406A5154}"/>
              </a:ext>
            </a:extLst>
          </p:cNvPr>
          <p:cNvGraphicFramePr>
            <a:graphicFrameLocks noGrp="1"/>
          </p:cNvGraphicFramePr>
          <p:nvPr/>
        </p:nvGraphicFramePr>
        <p:xfrm>
          <a:off x="6317228" y="2812077"/>
          <a:ext cx="4773138" cy="670560"/>
        </p:xfrm>
        <a:graphic>
          <a:graphicData uri="http://schemas.openxmlformats.org/drawingml/2006/table">
            <a:tbl>
              <a:tblPr firstRow="1" bandRow="1"/>
              <a:tblGrid>
                <a:gridCol w="2388406">
                  <a:extLst>
                    <a:ext uri="{9D8B030D-6E8A-4147-A177-3AD203B41FA5}">
                      <a16:colId xmlns:a16="http://schemas.microsoft.com/office/drawing/2014/main" val="2401848360"/>
                    </a:ext>
                  </a:extLst>
                </a:gridCol>
                <a:gridCol w="2384732">
                  <a:extLst>
                    <a:ext uri="{9D8B030D-6E8A-4147-A177-3AD203B41FA5}">
                      <a16:colId xmlns:a16="http://schemas.microsoft.com/office/drawing/2014/main" val="1412338377"/>
                    </a:ext>
                  </a:extLst>
                </a:gridCol>
              </a:tblGrid>
              <a:tr h="323566">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a:t>Cost element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a:t>Actual Amount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extLst>
                  <a:ext uri="{0D108BD9-81ED-4DB2-BD59-A6C34878D82A}">
                    <a16:rowId xmlns:a16="http://schemas.microsoft.com/office/drawing/2014/main" val="1382815699"/>
                  </a:ext>
                </a:extLst>
              </a:tr>
              <a:tr h="32356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a:t>Electricity</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a:t>1000 EUR</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920727843"/>
                  </a:ext>
                </a:extLst>
              </a:tr>
            </a:tbl>
          </a:graphicData>
        </a:graphic>
      </p:graphicFrame>
      <p:sp>
        <p:nvSpPr>
          <p:cNvPr id="14" name="TextBox 13">
            <a:extLst>
              <a:ext uri="{FF2B5EF4-FFF2-40B4-BE49-F238E27FC236}">
                <a16:creationId xmlns:a16="http://schemas.microsoft.com/office/drawing/2014/main" id="{48071EA5-B576-45B3-83EC-819ACA5C8995}"/>
              </a:ext>
            </a:extLst>
          </p:cNvPr>
          <p:cNvSpPr txBox="1"/>
          <p:nvPr/>
        </p:nvSpPr>
        <p:spPr>
          <a:xfrm>
            <a:off x="772061" y="3658313"/>
            <a:ext cx="5081887" cy="365880"/>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3. Allocation cycle</a:t>
            </a:r>
          </a:p>
        </p:txBody>
      </p:sp>
      <p:sp>
        <p:nvSpPr>
          <p:cNvPr id="15" name="TextBox 14">
            <a:extLst>
              <a:ext uri="{FF2B5EF4-FFF2-40B4-BE49-F238E27FC236}">
                <a16:creationId xmlns:a16="http://schemas.microsoft.com/office/drawing/2014/main" id="{F85FA7BD-C28A-4D93-A93D-F09BFE8811C7}"/>
              </a:ext>
            </a:extLst>
          </p:cNvPr>
          <p:cNvSpPr txBox="1"/>
          <p:nvPr/>
        </p:nvSpPr>
        <p:spPr>
          <a:xfrm>
            <a:off x="772064" y="4138075"/>
            <a:ext cx="5081886" cy="2044772"/>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Allocation Cycle: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
        <p:nvSpPr>
          <p:cNvPr id="16" name="TextBox 15">
            <a:extLst>
              <a:ext uri="{FF2B5EF4-FFF2-40B4-BE49-F238E27FC236}">
                <a16:creationId xmlns:a16="http://schemas.microsoft.com/office/drawing/2014/main" id="{A36AB543-105B-4626-AE45-2F9BE717B6DA}"/>
              </a:ext>
            </a:extLst>
          </p:cNvPr>
          <p:cNvSpPr txBox="1"/>
          <p:nvPr/>
        </p:nvSpPr>
        <p:spPr>
          <a:xfrm>
            <a:off x="914400" y="4514667"/>
            <a:ext cx="2704011" cy="193734"/>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Sending cost center</a:t>
            </a:r>
          </a:p>
        </p:txBody>
      </p:sp>
      <p:sp>
        <p:nvSpPr>
          <p:cNvPr id="17" name="TextBox 16">
            <a:extLst>
              <a:ext uri="{FF2B5EF4-FFF2-40B4-BE49-F238E27FC236}">
                <a16:creationId xmlns:a16="http://schemas.microsoft.com/office/drawing/2014/main" id="{14A1094A-59DF-40ED-A09D-D41B597B52DC}"/>
              </a:ext>
            </a:extLst>
          </p:cNvPr>
          <p:cNvSpPr txBox="1"/>
          <p:nvPr/>
        </p:nvSpPr>
        <p:spPr>
          <a:xfrm>
            <a:off x="3627513" y="4514667"/>
            <a:ext cx="1718530" cy="206851"/>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General Services</a:t>
            </a:r>
          </a:p>
        </p:txBody>
      </p:sp>
      <p:sp>
        <p:nvSpPr>
          <p:cNvPr id="18" name="TextBox 17">
            <a:extLst>
              <a:ext uri="{FF2B5EF4-FFF2-40B4-BE49-F238E27FC236}">
                <a16:creationId xmlns:a16="http://schemas.microsoft.com/office/drawing/2014/main" id="{2B52D059-8806-4448-A80E-82E8F4D028D5}"/>
              </a:ext>
            </a:extLst>
          </p:cNvPr>
          <p:cNvSpPr txBox="1"/>
          <p:nvPr/>
        </p:nvSpPr>
        <p:spPr>
          <a:xfrm>
            <a:off x="914400" y="4759762"/>
            <a:ext cx="2704011" cy="214867"/>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Receiving cost centers</a:t>
            </a:r>
          </a:p>
        </p:txBody>
      </p:sp>
      <p:sp>
        <p:nvSpPr>
          <p:cNvPr id="19" name="TextBox 18">
            <a:extLst>
              <a:ext uri="{FF2B5EF4-FFF2-40B4-BE49-F238E27FC236}">
                <a16:creationId xmlns:a16="http://schemas.microsoft.com/office/drawing/2014/main" id="{09E2555C-F716-400B-888D-691E5FC63C99}"/>
              </a:ext>
            </a:extLst>
          </p:cNvPr>
          <p:cNvSpPr txBox="1"/>
          <p:nvPr/>
        </p:nvSpPr>
        <p:spPr>
          <a:xfrm>
            <a:off x="3627513" y="4759805"/>
            <a:ext cx="1718530" cy="188410"/>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IT Dept, WWDF</a:t>
            </a:r>
          </a:p>
        </p:txBody>
      </p:sp>
      <p:sp>
        <p:nvSpPr>
          <p:cNvPr id="20" name="TextBox 19">
            <a:extLst>
              <a:ext uri="{FF2B5EF4-FFF2-40B4-BE49-F238E27FC236}">
                <a16:creationId xmlns:a16="http://schemas.microsoft.com/office/drawing/2014/main" id="{A7932DAF-0A2B-411D-8AE4-7C2E32C45AA7}"/>
              </a:ext>
            </a:extLst>
          </p:cNvPr>
          <p:cNvSpPr txBox="1"/>
          <p:nvPr/>
        </p:nvSpPr>
        <p:spPr>
          <a:xfrm>
            <a:off x="914400" y="5015569"/>
            <a:ext cx="2704011" cy="185608"/>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Sender rule</a:t>
            </a:r>
          </a:p>
        </p:txBody>
      </p:sp>
      <p:sp>
        <p:nvSpPr>
          <p:cNvPr id="21" name="TextBox 20">
            <a:extLst>
              <a:ext uri="{FF2B5EF4-FFF2-40B4-BE49-F238E27FC236}">
                <a16:creationId xmlns:a16="http://schemas.microsoft.com/office/drawing/2014/main" id="{60CA7DC8-2B46-4BF8-BD44-9EDEC559190F}"/>
              </a:ext>
            </a:extLst>
          </p:cNvPr>
          <p:cNvSpPr txBox="1"/>
          <p:nvPr/>
        </p:nvSpPr>
        <p:spPr>
          <a:xfrm>
            <a:off x="3627513" y="4986502"/>
            <a:ext cx="1718530" cy="225475"/>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Posted amounts</a:t>
            </a:r>
          </a:p>
        </p:txBody>
      </p:sp>
      <p:sp>
        <p:nvSpPr>
          <p:cNvPr id="22" name="TextBox 21">
            <a:extLst>
              <a:ext uri="{FF2B5EF4-FFF2-40B4-BE49-F238E27FC236}">
                <a16:creationId xmlns:a16="http://schemas.microsoft.com/office/drawing/2014/main" id="{13AAA3C1-26B6-46C9-8958-783CAF7F4224}"/>
              </a:ext>
            </a:extLst>
          </p:cNvPr>
          <p:cNvSpPr txBox="1"/>
          <p:nvPr/>
        </p:nvSpPr>
        <p:spPr>
          <a:xfrm>
            <a:off x="914400" y="5258657"/>
            <a:ext cx="2704011" cy="208341"/>
          </a:xfrm>
          <a:prstGeom prst="rect">
            <a:avLst/>
          </a:prstGeom>
          <a:noFill/>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rule</a:t>
            </a:r>
          </a:p>
        </p:txBody>
      </p:sp>
      <p:sp>
        <p:nvSpPr>
          <p:cNvPr id="23" name="TextBox 22">
            <a:extLst>
              <a:ext uri="{FF2B5EF4-FFF2-40B4-BE49-F238E27FC236}">
                <a16:creationId xmlns:a16="http://schemas.microsoft.com/office/drawing/2014/main" id="{79D7F42C-95E4-4466-B5AE-53161D22412F}"/>
              </a:ext>
            </a:extLst>
          </p:cNvPr>
          <p:cNvSpPr txBox="1"/>
          <p:nvPr/>
        </p:nvSpPr>
        <p:spPr>
          <a:xfrm>
            <a:off x="3627513" y="5250264"/>
            <a:ext cx="1718530" cy="213590"/>
          </a:xfrm>
          <a:prstGeom prst="rect">
            <a:avLst/>
          </a:prstGeom>
          <a:solidFill>
            <a:srgbClr val="FFFFFF"/>
          </a:solid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Fixed percentage</a:t>
            </a:r>
          </a:p>
        </p:txBody>
      </p:sp>
      <p:sp>
        <p:nvSpPr>
          <p:cNvPr id="24" name="TextBox 23">
            <a:extLst>
              <a:ext uri="{FF2B5EF4-FFF2-40B4-BE49-F238E27FC236}">
                <a16:creationId xmlns:a16="http://schemas.microsoft.com/office/drawing/2014/main" id="{64D343C5-25B9-4705-AC91-22218F007197}"/>
              </a:ext>
            </a:extLst>
          </p:cNvPr>
          <p:cNvSpPr txBox="1"/>
          <p:nvPr/>
        </p:nvSpPr>
        <p:spPr>
          <a:xfrm>
            <a:off x="914400" y="5524498"/>
            <a:ext cx="2712021" cy="18327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1 %</a:t>
            </a:r>
          </a:p>
        </p:txBody>
      </p:sp>
      <p:sp>
        <p:nvSpPr>
          <p:cNvPr id="25" name="TextBox 24">
            <a:extLst>
              <a:ext uri="{FF2B5EF4-FFF2-40B4-BE49-F238E27FC236}">
                <a16:creationId xmlns:a16="http://schemas.microsoft.com/office/drawing/2014/main" id="{EDD8BC22-5FF8-4B70-8F27-2B441FD02EBF}"/>
              </a:ext>
            </a:extLst>
          </p:cNvPr>
          <p:cNvSpPr txBox="1"/>
          <p:nvPr/>
        </p:nvSpPr>
        <p:spPr>
          <a:xfrm>
            <a:off x="3627513" y="5502141"/>
            <a:ext cx="1718530" cy="196342"/>
          </a:xfrm>
          <a:prstGeom prst="rect">
            <a:avLst/>
          </a:prstGeom>
          <a:solidFill>
            <a:srgbClr val="FFFFFF"/>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20%</a:t>
            </a:r>
          </a:p>
        </p:txBody>
      </p:sp>
      <p:sp>
        <p:nvSpPr>
          <p:cNvPr id="26" name="TextBox 25">
            <a:extLst>
              <a:ext uri="{FF2B5EF4-FFF2-40B4-BE49-F238E27FC236}">
                <a16:creationId xmlns:a16="http://schemas.microsoft.com/office/drawing/2014/main" id="{2F1B4E7F-A461-4A7B-AEF2-59DFBFEA2B05}"/>
              </a:ext>
            </a:extLst>
          </p:cNvPr>
          <p:cNvSpPr txBox="1"/>
          <p:nvPr/>
        </p:nvSpPr>
        <p:spPr>
          <a:xfrm>
            <a:off x="914400" y="5764214"/>
            <a:ext cx="2704011" cy="16062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Receiver 2 %</a:t>
            </a:r>
          </a:p>
        </p:txBody>
      </p:sp>
      <p:sp>
        <p:nvSpPr>
          <p:cNvPr id="27" name="TextBox 26">
            <a:extLst>
              <a:ext uri="{FF2B5EF4-FFF2-40B4-BE49-F238E27FC236}">
                <a16:creationId xmlns:a16="http://schemas.microsoft.com/office/drawing/2014/main" id="{79B38A57-FF84-4AB9-A8AB-CAE2CBC795D1}"/>
              </a:ext>
            </a:extLst>
          </p:cNvPr>
          <p:cNvSpPr txBox="1"/>
          <p:nvPr/>
        </p:nvSpPr>
        <p:spPr>
          <a:xfrm>
            <a:off x="3618411" y="5736772"/>
            <a:ext cx="1727632" cy="184488"/>
          </a:xfrm>
          <a:prstGeom prst="rect">
            <a:avLst/>
          </a:prstGeom>
          <a:solidFill>
            <a:srgbClr val="FFFFFF"/>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30%</a:t>
            </a:r>
          </a:p>
        </p:txBody>
      </p:sp>
      <p:sp>
        <p:nvSpPr>
          <p:cNvPr id="28" name="TextBox 27">
            <a:extLst>
              <a:ext uri="{FF2B5EF4-FFF2-40B4-BE49-F238E27FC236}">
                <a16:creationId xmlns:a16="http://schemas.microsoft.com/office/drawing/2014/main" id="{E8D825EC-F44C-46D2-ABC4-3A2B00ED47E9}"/>
              </a:ext>
            </a:extLst>
          </p:cNvPr>
          <p:cNvSpPr txBox="1"/>
          <p:nvPr/>
        </p:nvSpPr>
        <p:spPr>
          <a:xfrm>
            <a:off x="6166719" y="3751952"/>
            <a:ext cx="5204785" cy="358344"/>
          </a:xfrm>
          <a:prstGeom prst="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w="6350" cap="flat" cmpd="sng" algn="ctr">
            <a:solidFill>
              <a:srgbClr val="00BDB7"/>
            </a:solidFill>
            <a:prstDash val="solid"/>
            <a:miter lim="800000"/>
          </a:ln>
          <a:effectLst/>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mn-ea"/>
                <a:cs typeface="+mn-cs"/>
              </a:rPr>
              <a:t>4. Allocation cycle postings</a:t>
            </a:r>
          </a:p>
        </p:txBody>
      </p:sp>
      <p:pic>
        <p:nvPicPr>
          <p:cNvPr id="29" name="Picture 28">
            <a:extLst>
              <a:ext uri="{FF2B5EF4-FFF2-40B4-BE49-F238E27FC236}">
                <a16:creationId xmlns:a16="http://schemas.microsoft.com/office/drawing/2014/main" id="{F36E250E-5B3F-48E1-8DCE-F5910BB3149E}"/>
              </a:ext>
            </a:extLst>
          </p:cNvPr>
          <p:cNvPicPr>
            <a:picLocks noChangeAspect="1"/>
          </p:cNvPicPr>
          <p:nvPr/>
        </p:nvPicPr>
        <p:blipFill>
          <a:blip r:embed="rId2"/>
          <a:stretch>
            <a:fillRect/>
          </a:stretch>
        </p:blipFill>
        <p:spPr>
          <a:xfrm>
            <a:off x="3048754" y="5938234"/>
            <a:ext cx="528502" cy="231219"/>
          </a:xfrm>
          <a:prstGeom prst="rect">
            <a:avLst/>
          </a:prstGeom>
        </p:spPr>
      </p:pic>
      <p:pic>
        <p:nvPicPr>
          <p:cNvPr id="30" name="Graphic 29" descr="Head with gears">
            <a:extLst>
              <a:ext uri="{FF2B5EF4-FFF2-40B4-BE49-F238E27FC236}">
                <a16:creationId xmlns:a16="http://schemas.microsoft.com/office/drawing/2014/main" id="{3C839A0E-A3E7-4C51-9FBE-93219AF951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38059" y="6209080"/>
            <a:ext cx="453566" cy="453566"/>
          </a:xfrm>
          <a:prstGeom prst="rect">
            <a:avLst/>
          </a:prstGeom>
        </p:spPr>
      </p:pic>
      <p:sp>
        <p:nvSpPr>
          <p:cNvPr id="31" name="TextBox 30">
            <a:extLst>
              <a:ext uri="{FF2B5EF4-FFF2-40B4-BE49-F238E27FC236}">
                <a16:creationId xmlns:a16="http://schemas.microsoft.com/office/drawing/2014/main" id="{A7A81EED-574C-4117-BD9B-D56CDAB3F601}"/>
              </a:ext>
            </a:extLst>
          </p:cNvPr>
          <p:cNvSpPr txBox="1"/>
          <p:nvPr/>
        </p:nvSpPr>
        <p:spPr>
          <a:xfrm>
            <a:off x="2194140" y="6258566"/>
            <a:ext cx="8560946" cy="50438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For more information on OPEX allocations, please see course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CO Controlling WBS Elements &amp; Projects – OPEX</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1237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anim calcmode="lin" valueType="num">
                                      <p:cBhvr>
                                        <p:cTn id="67" dur="1000" fill="hold"/>
                                        <p:tgtEl>
                                          <p:spTgt spid="18"/>
                                        </p:tgtEl>
                                        <p:attrNameLst>
                                          <p:attrName>ppt_x</p:attrName>
                                        </p:attrNameLst>
                                      </p:cBhvr>
                                      <p:tavLst>
                                        <p:tav tm="0">
                                          <p:val>
                                            <p:strVal val="#ppt_x"/>
                                          </p:val>
                                        </p:tav>
                                        <p:tav tm="100000">
                                          <p:val>
                                            <p:strVal val="#ppt_x"/>
                                          </p:val>
                                        </p:tav>
                                      </p:tavLst>
                                    </p:anim>
                                    <p:anim calcmode="lin" valueType="num">
                                      <p:cBhvr>
                                        <p:cTn id="68" dur="1000" fill="hold"/>
                                        <p:tgtEl>
                                          <p:spTgt spid="1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anim calcmode="lin" valueType="num">
                                      <p:cBhvr>
                                        <p:cTn id="72" dur="1000" fill="hold"/>
                                        <p:tgtEl>
                                          <p:spTgt spid="19"/>
                                        </p:tgtEl>
                                        <p:attrNameLst>
                                          <p:attrName>ppt_x</p:attrName>
                                        </p:attrNameLst>
                                      </p:cBhvr>
                                      <p:tavLst>
                                        <p:tav tm="0">
                                          <p:val>
                                            <p:strVal val="#ppt_x"/>
                                          </p:val>
                                        </p:tav>
                                        <p:tav tm="100000">
                                          <p:val>
                                            <p:strVal val="#ppt_x"/>
                                          </p:val>
                                        </p:tav>
                                      </p:tavLst>
                                    </p:anim>
                                    <p:anim calcmode="lin" valueType="num">
                                      <p:cBhvr>
                                        <p:cTn id="73" dur="1000" fill="hold"/>
                                        <p:tgtEl>
                                          <p:spTgt spid="1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1000"/>
                                        <p:tgtEl>
                                          <p:spTgt spid="20"/>
                                        </p:tgtEl>
                                      </p:cBhvr>
                                    </p:animEffect>
                                    <p:anim calcmode="lin" valueType="num">
                                      <p:cBhvr>
                                        <p:cTn id="77" dur="1000" fill="hold"/>
                                        <p:tgtEl>
                                          <p:spTgt spid="20"/>
                                        </p:tgtEl>
                                        <p:attrNameLst>
                                          <p:attrName>ppt_x</p:attrName>
                                        </p:attrNameLst>
                                      </p:cBhvr>
                                      <p:tavLst>
                                        <p:tav tm="0">
                                          <p:val>
                                            <p:strVal val="#ppt_x"/>
                                          </p:val>
                                        </p:tav>
                                        <p:tav tm="100000">
                                          <p:val>
                                            <p:strVal val="#ppt_x"/>
                                          </p:val>
                                        </p:tav>
                                      </p:tavLst>
                                    </p:anim>
                                    <p:anim calcmode="lin" valueType="num">
                                      <p:cBhvr>
                                        <p:cTn id="78" dur="1000" fill="hold"/>
                                        <p:tgtEl>
                                          <p:spTgt spid="20"/>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1000"/>
                                        <p:tgtEl>
                                          <p:spTgt spid="21"/>
                                        </p:tgtEl>
                                      </p:cBhvr>
                                    </p:animEffect>
                                    <p:anim calcmode="lin" valueType="num">
                                      <p:cBhvr>
                                        <p:cTn id="82" dur="1000" fill="hold"/>
                                        <p:tgtEl>
                                          <p:spTgt spid="21"/>
                                        </p:tgtEl>
                                        <p:attrNameLst>
                                          <p:attrName>ppt_x</p:attrName>
                                        </p:attrNameLst>
                                      </p:cBhvr>
                                      <p:tavLst>
                                        <p:tav tm="0">
                                          <p:val>
                                            <p:strVal val="#ppt_x"/>
                                          </p:val>
                                        </p:tav>
                                        <p:tav tm="100000">
                                          <p:val>
                                            <p:strVal val="#ppt_x"/>
                                          </p:val>
                                        </p:tav>
                                      </p:tavLst>
                                    </p:anim>
                                    <p:anim calcmode="lin" valueType="num">
                                      <p:cBhvr>
                                        <p:cTn id="83" dur="1000" fill="hold"/>
                                        <p:tgtEl>
                                          <p:spTgt spid="21"/>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1000"/>
                                        <p:tgtEl>
                                          <p:spTgt spid="22"/>
                                        </p:tgtEl>
                                      </p:cBhvr>
                                    </p:animEffect>
                                    <p:anim calcmode="lin" valueType="num">
                                      <p:cBhvr>
                                        <p:cTn id="87" dur="1000" fill="hold"/>
                                        <p:tgtEl>
                                          <p:spTgt spid="22"/>
                                        </p:tgtEl>
                                        <p:attrNameLst>
                                          <p:attrName>ppt_x</p:attrName>
                                        </p:attrNameLst>
                                      </p:cBhvr>
                                      <p:tavLst>
                                        <p:tav tm="0">
                                          <p:val>
                                            <p:strVal val="#ppt_x"/>
                                          </p:val>
                                        </p:tav>
                                        <p:tav tm="100000">
                                          <p:val>
                                            <p:strVal val="#ppt_x"/>
                                          </p:val>
                                        </p:tav>
                                      </p:tavLst>
                                    </p:anim>
                                    <p:anim calcmode="lin" valueType="num">
                                      <p:cBhvr>
                                        <p:cTn id="88" dur="1000" fill="hold"/>
                                        <p:tgtEl>
                                          <p:spTgt spid="22"/>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1000"/>
                                        <p:tgtEl>
                                          <p:spTgt spid="23"/>
                                        </p:tgtEl>
                                      </p:cBhvr>
                                    </p:animEffect>
                                    <p:anim calcmode="lin" valueType="num">
                                      <p:cBhvr>
                                        <p:cTn id="92" dur="1000" fill="hold"/>
                                        <p:tgtEl>
                                          <p:spTgt spid="23"/>
                                        </p:tgtEl>
                                        <p:attrNameLst>
                                          <p:attrName>ppt_x</p:attrName>
                                        </p:attrNameLst>
                                      </p:cBhvr>
                                      <p:tavLst>
                                        <p:tav tm="0">
                                          <p:val>
                                            <p:strVal val="#ppt_x"/>
                                          </p:val>
                                        </p:tav>
                                        <p:tav tm="100000">
                                          <p:val>
                                            <p:strVal val="#ppt_x"/>
                                          </p:val>
                                        </p:tav>
                                      </p:tavLst>
                                    </p:anim>
                                    <p:anim calcmode="lin" valueType="num">
                                      <p:cBhvr>
                                        <p:cTn id="93" dur="1000" fill="hold"/>
                                        <p:tgtEl>
                                          <p:spTgt spid="23"/>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1000"/>
                                        <p:tgtEl>
                                          <p:spTgt spid="24"/>
                                        </p:tgtEl>
                                      </p:cBhvr>
                                    </p:animEffect>
                                    <p:anim calcmode="lin" valueType="num">
                                      <p:cBhvr>
                                        <p:cTn id="97" dur="1000" fill="hold"/>
                                        <p:tgtEl>
                                          <p:spTgt spid="24"/>
                                        </p:tgtEl>
                                        <p:attrNameLst>
                                          <p:attrName>ppt_x</p:attrName>
                                        </p:attrNameLst>
                                      </p:cBhvr>
                                      <p:tavLst>
                                        <p:tav tm="0">
                                          <p:val>
                                            <p:strVal val="#ppt_x"/>
                                          </p:val>
                                        </p:tav>
                                        <p:tav tm="100000">
                                          <p:val>
                                            <p:strVal val="#ppt_x"/>
                                          </p:val>
                                        </p:tav>
                                      </p:tavLst>
                                    </p:anim>
                                    <p:anim calcmode="lin" valueType="num">
                                      <p:cBhvr>
                                        <p:cTn id="98" dur="1000" fill="hold"/>
                                        <p:tgtEl>
                                          <p:spTgt spid="24"/>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1000"/>
                                        <p:tgtEl>
                                          <p:spTgt spid="25"/>
                                        </p:tgtEl>
                                      </p:cBhvr>
                                    </p:animEffect>
                                    <p:anim calcmode="lin" valueType="num">
                                      <p:cBhvr>
                                        <p:cTn id="102" dur="1000" fill="hold"/>
                                        <p:tgtEl>
                                          <p:spTgt spid="25"/>
                                        </p:tgtEl>
                                        <p:attrNameLst>
                                          <p:attrName>ppt_x</p:attrName>
                                        </p:attrNameLst>
                                      </p:cBhvr>
                                      <p:tavLst>
                                        <p:tav tm="0">
                                          <p:val>
                                            <p:strVal val="#ppt_x"/>
                                          </p:val>
                                        </p:tav>
                                        <p:tav tm="100000">
                                          <p:val>
                                            <p:strVal val="#ppt_x"/>
                                          </p:val>
                                        </p:tav>
                                      </p:tavLst>
                                    </p:anim>
                                    <p:anim calcmode="lin" valueType="num">
                                      <p:cBhvr>
                                        <p:cTn id="103" dur="1000" fill="hold"/>
                                        <p:tgtEl>
                                          <p:spTgt spid="25"/>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1000"/>
                                        <p:tgtEl>
                                          <p:spTgt spid="26"/>
                                        </p:tgtEl>
                                      </p:cBhvr>
                                    </p:animEffect>
                                    <p:anim calcmode="lin" valueType="num">
                                      <p:cBhvr>
                                        <p:cTn id="107" dur="1000" fill="hold"/>
                                        <p:tgtEl>
                                          <p:spTgt spid="26"/>
                                        </p:tgtEl>
                                        <p:attrNameLst>
                                          <p:attrName>ppt_x</p:attrName>
                                        </p:attrNameLst>
                                      </p:cBhvr>
                                      <p:tavLst>
                                        <p:tav tm="0">
                                          <p:val>
                                            <p:strVal val="#ppt_x"/>
                                          </p:val>
                                        </p:tav>
                                        <p:tav tm="100000">
                                          <p:val>
                                            <p:strVal val="#ppt_x"/>
                                          </p:val>
                                        </p:tav>
                                      </p:tavLst>
                                    </p:anim>
                                    <p:anim calcmode="lin" valueType="num">
                                      <p:cBhvr>
                                        <p:cTn id="108" dur="1000" fill="hold"/>
                                        <p:tgtEl>
                                          <p:spTgt spid="26"/>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1000"/>
                                        <p:tgtEl>
                                          <p:spTgt spid="27"/>
                                        </p:tgtEl>
                                      </p:cBhvr>
                                    </p:animEffect>
                                    <p:anim calcmode="lin" valueType="num">
                                      <p:cBhvr>
                                        <p:cTn id="112" dur="1000" fill="hold"/>
                                        <p:tgtEl>
                                          <p:spTgt spid="27"/>
                                        </p:tgtEl>
                                        <p:attrNameLst>
                                          <p:attrName>ppt_x</p:attrName>
                                        </p:attrNameLst>
                                      </p:cBhvr>
                                      <p:tavLst>
                                        <p:tav tm="0">
                                          <p:val>
                                            <p:strVal val="#ppt_x"/>
                                          </p:val>
                                        </p:tav>
                                        <p:tav tm="100000">
                                          <p:val>
                                            <p:strVal val="#ppt_x"/>
                                          </p:val>
                                        </p:tav>
                                      </p:tavLst>
                                    </p:anim>
                                    <p:anim calcmode="lin" valueType="num">
                                      <p:cBhvr>
                                        <p:cTn id="113" dur="1000" fill="hold"/>
                                        <p:tgtEl>
                                          <p:spTgt spid="27"/>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1000"/>
                                        <p:tgtEl>
                                          <p:spTgt spid="29"/>
                                        </p:tgtEl>
                                      </p:cBhvr>
                                    </p:animEffect>
                                    <p:anim calcmode="lin" valueType="num">
                                      <p:cBhvr>
                                        <p:cTn id="117" dur="1000" fill="hold"/>
                                        <p:tgtEl>
                                          <p:spTgt spid="29"/>
                                        </p:tgtEl>
                                        <p:attrNameLst>
                                          <p:attrName>ppt_x</p:attrName>
                                        </p:attrNameLst>
                                      </p:cBhvr>
                                      <p:tavLst>
                                        <p:tav tm="0">
                                          <p:val>
                                            <p:strVal val="#ppt_x"/>
                                          </p:val>
                                        </p:tav>
                                        <p:tav tm="100000">
                                          <p:val>
                                            <p:strVal val="#ppt_x"/>
                                          </p:val>
                                        </p:tav>
                                      </p:tavLst>
                                    </p:anim>
                                    <p:anim calcmode="lin" valueType="num">
                                      <p:cBhvr>
                                        <p:cTn id="11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1000"/>
                                        <p:tgtEl>
                                          <p:spTgt spid="28"/>
                                        </p:tgtEl>
                                      </p:cBhvr>
                                    </p:animEffect>
                                    <p:anim calcmode="lin" valueType="num">
                                      <p:cBhvr>
                                        <p:cTn id="124" dur="1000" fill="hold"/>
                                        <p:tgtEl>
                                          <p:spTgt spid="28"/>
                                        </p:tgtEl>
                                        <p:attrNameLst>
                                          <p:attrName>ppt_x</p:attrName>
                                        </p:attrNameLst>
                                      </p:cBhvr>
                                      <p:tavLst>
                                        <p:tav tm="0">
                                          <p:val>
                                            <p:strVal val="#ppt_x"/>
                                          </p:val>
                                        </p:tav>
                                        <p:tav tm="100000">
                                          <p:val>
                                            <p:strVal val="#ppt_x"/>
                                          </p:val>
                                        </p:tav>
                                      </p:tavLst>
                                    </p:anim>
                                    <p:anim calcmode="lin" valueType="num">
                                      <p:cBhvr>
                                        <p:cTn id="125" dur="1000" fill="hold"/>
                                        <p:tgtEl>
                                          <p:spTgt spid="28"/>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6"/>
                                        </p:tgtEl>
                                        <p:attrNameLst>
                                          <p:attrName>style.visibility</p:attrName>
                                        </p:attrNameLst>
                                      </p:cBhvr>
                                      <p:to>
                                        <p:strVal val="visible"/>
                                      </p:to>
                                    </p:set>
                                    <p:animEffect transition="in" filter="fade">
                                      <p:cBhvr>
                                        <p:cTn id="128" dur="1000"/>
                                        <p:tgtEl>
                                          <p:spTgt spid="6"/>
                                        </p:tgtEl>
                                      </p:cBhvr>
                                    </p:animEffect>
                                    <p:anim calcmode="lin" valueType="num">
                                      <p:cBhvr>
                                        <p:cTn id="129" dur="1000" fill="hold"/>
                                        <p:tgtEl>
                                          <p:spTgt spid="6"/>
                                        </p:tgtEl>
                                        <p:attrNameLst>
                                          <p:attrName>ppt_x</p:attrName>
                                        </p:attrNameLst>
                                      </p:cBhvr>
                                      <p:tavLst>
                                        <p:tav tm="0">
                                          <p:val>
                                            <p:strVal val="#ppt_x"/>
                                          </p:val>
                                        </p:tav>
                                        <p:tav tm="100000">
                                          <p:val>
                                            <p:strVal val="#ppt_x"/>
                                          </p:val>
                                        </p:tav>
                                      </p:tavLst>
                                    </p:anim>
                                    <p:anim calcmode="lin" valueType="num">
                                      <p:cBhvr>
                                        <p:cTn id="1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4" grpId="0" animBg="1"/>
      <p:bldP spid="15" grpId="0" animBg="1"/>
      <p:bldP spid="16" grpId="0"/>
      <p:bldP spid="17" grpId="0" animBg="1"/>
      <p:bldP spid="18" grpId="0"/>
      <p:bldP spid="19" grpId="0" animBg="1"/>
      <p:bldP spid="20" grpId="0"/>
      <p:bldP spid="21" grpId="0" animBg="1"/>
      <p:bldP spid="22" grpId="0"/>
      <p:bldP spid="23" grpId="0" animBg="1"/>
      <p:bldP spid="24" grpId="0"/>
      <p:bldP spid="25" grpId="0" animBg="1"/>
      <p:bldP spid="26" grpId="0"/>
      <p:bldP spid="27"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7F01-56E1-472B-8442-78F4860F1A7D}"/>
              </a:ext>
            </a:extLst>
          </p:cNvPr>
          <p:cNvSpPr>
            <a:spLocks noGrp="1"/>
          </p:cNvSpPr>
          <p:nvPr>
            <p:ph type="title"/>
          </p:nvPr>
        </p:nvSpPr>
        <p:spPr/>
        <p:txBody>
          <a:bodyPr/>
          <a:lstStyle/>
          <a:p>
            <a:r>
              <a:rPr lang="en-GB" dirty="0"/>
              <a:t>Direct fi postings - Manual postings</a:t>
            </a:r>
            <a:endParaRPr lang="en-US" dirty="0"/>
          </a:p>
        </p:txBody>
      </p:sp>
    </p:spTree>
    <p:extLst>
      <p:ext uri="{BB962C8B-B14F-4D97-AF65-F5344CB8AC3E}">
        <p14:creationId xmlns:p14="http://schemas.microsoft.com/office/powerpoint/2010/main" val="3740935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FF6ABEB-1002-4961-9F48-1DFA5A94A0B6}"/>
              </a:ext>
            </a:extLst>
          </p:cNvPr>
          <p:cNvSpPr txBox="1"/>
          <p:nvPr/>
        </p:nvSpPr>
        <p:spPr>
          <a:xfrm>
            <a:off x="5224219" y="1404404"/>
            <a:ext cx="6881622" cy="5207867"/>
          </a:xfrm>
          <a:prstGeom prst="rect">
            <a:avLst/>
          </a:prstGeom>
          <a:noFill/>
          <a:ln w="19050">
            <a:solidFill>
              <a:schemeClr val="accent3"/>
            </a:solidFill>
          </a:ln>
        </p:spPr>
        <p:txBody>
          <a:bodyPr wrap="square" lIns="72000" tIns="72000" rIns="72000" bIns="72000" rtlCol="0">
            <a:noAutofit/>
          </a:bodyPr>
          <a:lstStyle/>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AEEDB3AA-A705-45B5-9D31-74E3103940A8}"/>
              </a:ext>
            </a:extLst>
          </p:cNvPr>
          <p:cNvPicPr>
            <a:picLocks noChangeAspect="1"/>
          </p:cNvPicPr>
          <p:nvPr/>
        </p:nvPicPr>
        <p:blipFill rotWithShape="1">
          <a:blip r:embed="rId2"/>
          <a:srcRect l="2096" t="2350" r="5273" b="-2350"/>
          <a:stretch/>
        </p:blipFill>
        <p:spPr>
          <a:xfrm>
            <a:off x="8156844" y="1457826"/>
            <a:ext cx="3519217" cy="1669250"/>
          </a:xfrm>
          <a:prstGeom prst="rect">
            <a:avLst/>
          </a:prstGeom>
        </p:spPr>
      </p:pic>
      <p:pic>
        <p:nvPicPr>
          <p:cNvPr id="8" name="Picture 7">
            <a:extLst>
              <a:ext uri="{FF2B5EF4-FFF2-40B4-BE49-F238E27FC236}">
                <a16:creationId xmlns:a16="http://schemas.microsoft.com/office/drawing/2014/main" id="{60A42EA1-FE91-467F-B6D1-D21475B8A979}"/>
              </a:ext>
            </a:extLst>
          </p:cNvPr>
          <p:cNvPicPr>
            <a:picLocks noChangeAspect="1"/>
          </p:cNvPicPr>
          <p:nvPr/>
        </p:nvPicPr>
        <p:blipFill rotWithShape="1">
          <a:blip r:embed="rId3"/>
          <a:srcRect t="2367" r="784"/>
          <a:stretch/>
        </p:blipFill>
        <p:spPr>
          <a:xfrm>
            <a:off x="5812381" y="1859177"/>
            <a:ext cx="3858322" cy="1591256"/>
          </a:xfrm>
          <a:prstGeom prst="rect">
            <a:avLst/>
          </a:prstGeom>
        </p:spPr>
      </p:pic>
      <p:pic>
        <p:nvPicPr>
          <p:cNvPr id="3" name="Picture 2">
            <a:extLst>
              <a:ext uri="{FF2B5EF4-FFF2-40B4-BE49-F238E27FC236}">
                <a16:creationId xmlns:a16="http://schemas.microsoft.com/office/drawing/2014/main" id="{2C0BA317-D29B-4257-AA8C-D36A99529CBD}"/>
              </a:ext>
            </a:extLst>
          </p:cNvPr>
          <p:cNvPicPr>
            <a:picLocks noChangeAspect="1"/>
          </p:cNvPicPr>
          <p:nvPr/>
        </p:nvPicPr>
        <p:blipFill>
          <a:blip r:embed="rId4"/>
          <a:stretch>
            <a:fillRect/>
          </a:stretch>
        </p:blipFill>
        <p:spPr>
          <a:xfrm>
            <a:off x="6292828" y="2472237"/>
            <a:ext cx="4744405" cy="1715444"/>
          </a:xfrm>
          <a:prstGeom prst="rect">
            <a:avLst/>
          </a:prstGeom>
        </p:spPr>
      </p:pic>
      <p:sp>
        <p:nvSpPr>
          <p:cNvPr id="12" name="Rectangle: Rounded Corners 11">
            <a:extLst>
              <a:ext uri="{FF2B5EF4-FFF2-40B4-BE49-F238E27FC236}">
                <a16:creationId xmlns:a16="http://schemas.microsoft.com/office/drawing/2014/main" id="{E185A0B8-44FA-4F74-AF6E-DB9809538B03}"/>
              </a:ext>
            </a:extLst>
          </p:cNvPr>
          <p:cNvSpPr/>
          <p:nvPr/>
        </p:nvSpPr>
        <p:spPr>
          <a:xfrm>
            <a:off x="5907825" y="3702123"/>
            <a:ext cx="5636712" cy="1698051"/>
          </a:xfrm>
          <a:prstGeom prst="roundRect">
            <a:avLst/>
          </a:prstGeom>
          <a:solidFill>
            <a:srgbClr val="FFFFFF"/>
          </a:solidFill>
          <a:ln w="12700" cap="flat" cmpd="sng" algn="ctr">
            <a:solidFill>
              <a:schemeClr val="accent1">
                <a:lumMod val="75000"/>
              </a:schemeClr>
            </a:solidFill>
            <a:prstDash val="solid"/>
            <a:miter lim="800000"/>
          </a:ln>
          <a:effectLst/>
        </p:spPr>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74D9D5">
                    <a:lumMod val="75000"/>
                  </a:srgbClr>
                </a:solidFill>
                <a:effectLst/>
                <a:uLnTx/>
                <a:uFillTx/>
                <a:latin typeface="Arial" panose="020B0604020202020204"/>
                <a:ea typeface="+mn-ea"/>
                <a:cs typeface="+mn-cs"/>
              </a:rPr>
              <a:t>Additional Profitability Fields</a:t>
            </a:r>
          </a:p>
        </p:txBody>
      </p:sp>
      <p:pic>
        <p:nvPicPr>
          <p:cNvPr id="17" name="Picture 16">
            <a:extLst>
              <a:ext uri="{FF2B5EF4-FFF2-40B4-BE49-F238E27FC236}">
                <a16:creationId xmlns:a16="http://schemas.microsoft.com/office/drawing/2014/main" id="{AF02D954-DD1B-4400-AD63-B5F596F930EF}"/>
              </a:ext>
            </a:extLst>
          </p:cNvPr>
          <p:cNvPicPr>
            <a:picLocks noChangeAspect="1"/>
          </p:cNvPicPr>
          <p:nvPr/>
        </p:nvPicPr>
        <p:blipFill>
          <a:blip r:embed="rId5"/>
          <a:stretch>
            <a:fillRect/>
          </a:stretch>
        </p:blipFill>
        <p:spPr>
          <a:xfrm>
            <a:off x="5953923" y="4172563"/>
            <a:ext cx="5544516" cy="1107291"/>
          </a:xfrm>
          <a:prstGeom prst="rect">
            <a:avLst/>
          </a:prstGeom>
        </p:spPr>
      </p:pic>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dirty="0"/>
              <a:t>Manual Postings via </a:t>
            </a:r>
            <a:r>
              <a:rPr lang="en-US" dirty="0" err="1"/>
              <a:t>MyRequest</a:t>
            </a:r>
            <a:r>
              <a:rPr lang="en-US" dirty="0"/>
              <a:t> templates</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Content Placeholder 1">
            <a:extLst>
              <a:ext uri="{FF2B5EF4-FFF2-40B4-BE49-F238E27FC236}">
                <a16:creationId xmlns:a16="http://schemas.microsoft.com/office/drawing/2014/main" id="{C2F57097-C544-4747-9A56-5F4D4D9C975F}"/>
              </a:ext>
            </a:extLst>
          </p:cNvPr>
          <p:cNvSpPr txBox="1">
            <a:spLocks/>
          </p:cNvSpPr>
          <p:nvPr/>
        </p:nvSpPr>
        <p:spPr>
          <a:xfrm>
            <a:off x="531123" y="1982978"/>
            <a:ext cx="4619029" cy="4078863"/>
          </a:xfrm>
          <a:prstGeom prst="rect">
            <a:avLst/>
          </a:prstGeom>
        </p:spPr>
        <p:txBody>
          <a:bodyPr vert="horz" lIns="91440" tIns="45720" rIns="91440" bIns="45720" rtlCol="0">
            <a:normAutofit fontScale="70000" lnSpcReduction="20000"/>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231775" marR="0" lvl="0" indent="-231775" algn="just" defTabSz="914126"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err="1">
                <a:ln>
                  <a:noFill/>
                </a:ln>
                <a:solidFill>
                  <a:srgbClr val="000000"/>
                </a:solidFill>
                <a:effectLst/>
                <a:uLnTx/>
                <a:uFillTx/>
                <a:latin typeface="Arial" charset="0"/>
                <a:cs typeface="Arial" charset="0"/>
              </a:rPr>
              <a:t>MyRequest</a:t>
            </a:r>
            <a:r>
              <a:rPr kumimoji="0" lang="en-US" sz="1700" b="0" i="0" u="none" strike="noStrike" kern="1200" cap="none" spc="0" normalizeH="0" baseline="0" noProof="0" dirty="0">
                <a:ln>
                  <a:noFill/>
                </a:ln>
                <a:solidFill>
                  <a:srgbClr val="000000"/>
                </a:solidFill>
                <a:effectLst/>
                <a:uLnTx/>
                <a:uFillTx/>
                <a:latin typeface="Arial" charset="0"/>
                <a:cs typeface="Arial" charset="0"/>
              </a:rPr>
              <a:t> templates are used to make manual postings  and will have </a:t>
            </a:r>
            <a:r>
              <a:rPr kumimoji="0" lang="en-US" sz="1700" b="1" i="0" u="none" strike="noStrike" kern="1200" cap="none" spc="0" normalizeH="0" baseline="0" noProof="0" dirty="0">
                <a:ln>
                  <a:noFill/>
                </a:ln>
                <a:solidFill>
                  <a:srgbClr val="000000"/>
                </a:solidFill>
                <a:effectLst/>
                <a:uLnTx/>
                <a:uFillTx/>
                <a:latin typeface="Arial" charset="0"/>
                <a:cs typeface="Arial" charset="0"/>
              </a:rPr>
              <a:t>additional Profitability fields</a:t>
            </a:r>
            <a:r>
              <a:rPr kumimoji="0" lang="en-US" sz="1700" b="0" i="0" u="none" strike="noStrike" kern="1200" cap="none" spc="0" normalizeH="0" baseline="0" noProof="0" dirty="0">
                <a:ln>
                  <a:noFill/>
                </a:ln>
                <a:solidFill>
                  <a:srgbClr val="000000"/>
                </a:solidFill>
                <a:effectLst/>
                <a:uLnTx/>
                <a:uFillTx/>
                <a:latin typeface="Arial" charset="0"/>
                <a:cs typeface="Arial" charset="0"/>
              </a:rPr>
              <a:t> to capture dimensions in postings (</a:t>
            </a:r>
            <a:r>
              <a:rPr kumimoji="0" lang="en-US" sz="1700" b="0" i="0" u="none" strike="noStrike" kern="1200" cap="none" spc="0" normalizeH="0" baseline="0" noProof="0" dirty="0" err="1">
                <a:ln>
                  <a:noFill/>
                </a:ln>
                <a:solidFill>
                  <a:srgbClr val="000000"/>
                </a:solidFill>
                <a:effectLst/>
                <a:uLnTx/>
                <a:uFillTx/>
                <a:latin typeface="Arial" charset="0"/>
                <a:cs typeface="Arial" charset="0"/>
              </a:rPr>
              <a:t>eg.</a:t>
            </a:r>
            <a:r>
              <a:rPr kumimoji="0" lang="en-US" sz="1700" b="0" i="0" u="none" strike="noStrike" kern="1200" cap="none" spc="0" normalizeH="0" baseline="0" noProof="0" dirty="0">
                <a:ln>
                  <a:noFill/>
                </a:ln>
                <a:solidFill>
                  <a:srgbClr val="000000"/>
                </a:solidFill>
                <a:effectLst/>
                <a:uLnTx/>
                <a:uFillTx/>
                <a:latin typeface="Arial" charset="0"/>
                <a:cs typeface="Arial" charset="0"/>
              </a:rPr>
              <a:t> “Brand Family” and “Product type”)</a:t>
            </a:r>
          </a:p>
          <a:p>
            <a:pPr marL="401638" lvl="2" indent="-173038" algn="just">
              <a:lnSpc>
                <a:spcPct val="100000"/>
              </a:lnSpc>
              <a:spcBef>
                <a:spcPts val="1200"/>
              </a:spcBef>
              <a:buFont typeface="Wingdings" panose="05000000000000000000" pitchFamily="2" charset="2"/>
              <a:buChar char="Ø"/>
              <a:defRPr/>
            </a:pPr>
            <a:r>
              <a:rPr lang="ru-RU" sz="1700" dirty="0">
                <a:solidFill>
                  <a:srgbClr val="000000"/>
                </a:solidFill>
              </a:rPr>
              <a:t>If </a:t>
            </a:r>
            <a:r>
              <a:rPr lang="en-US" sz="1700" dirty="0">
                <a:solidFill>
                  <a:srgbClr val="000000"/>
                </a:solidFill>
              </a:rPr>
              <a:t>“</a:t>
            </a:r>
            <a:r>
              <a:rPr lang="ru-RU" sz="1700" dirty="0">
                <a:solidFill>
                  <a:srgbClr val="000000"/>
                </a:solidFill>
              </a:rPr>
              <a:t>Brand family</a:t>
            </a:r>
            <a:r>
              <a:rPr lang="en-US" sz="1700" dirty="0">
                <a:solidFill>
                  <a:srgbClr val="000000"/>
                </a:solidFill>
              </a:rPr>
              <a:t>”</a:t>
            </a:r>
            <a:r>
              <a:rPr lang="ru-RU" sz="1700" dirty="0">
                <a:solidFill>
                  <a:srgbClr val="000000"/>
                </a:solidFill>
              </a:rPr>
              <a:t> is populated, </a:t>
            </a:r>
            <a:r>
              <a:rPr lang="en-US" sz="1700" dirty="0">
                <a:solidFill>
                  <a:srgbClr val="000000"/>
                </a:solidFill>
              </a:rPr>
              <a:t>“If “Material field” is populated then “Brand Family” and Product Type” should not be populated. If users fill out all 3 fields for  Material, Brand Family and Product Type it will trigger a validation error, flagging these three fields red. </a:t>
            </a:r>
            <a:r>
              <a:rPr lang="en-US" sz="1700">
                <a:solidFill>
                  <a:srgbClr val="000000"/>
                </a:solidFill>
              </a:rPr>
              <a:t>Users should only enter either Material data or the Brand Family and Product Type fields.  </a:t>
            </a:r>
            <a:endParaRPr lang="en-US" sz="1700" dirty="0">
              <a:solidFill>
                <a:srgbClr val="000000"/>
              </a:solidFill>
            </a:endParaRPr>
          </a:p>
          <a:p>
            <a:pPr marL="401638" marR="0" lvl="2" indent="-173038" algn="just" defTabSz="914126" rtl="0" eaLnBrk="1" fontAlgn="auto" latinLnBrk="0" hangingPunct="1">
              <a:lnSpc>
                <a:spcPct val="100000"/>
              </a:lnSpc>
              <a:spcBef>
                <a:spcPts val="1200"/>
              </a:spcBef>
              <a:spcAft>
                <a:spcPts val="0"/>
              </a:spcAft>
              <a:buClrTx/>
              <a:buSzTx/>
              <a:buFont typeface="Wingdings" panose="05000000000000000000" pitchFamily="2" charset="2"/>
              <a:buChar char="Ø"/>
              <a:tabLst/>
              <a:defRPr/>
            </a:pPr>
            <a:r>
              <a:rPr kumimoji="0" lang="ru-RU" sz="1700" b="0" i="0" u="none" strike="noStrike" kern="1200" cap="none" spc="0" normalizeH="0" baseline="0" noProof="0" dirty="0">
                <a:ln>
                  <a:noFill/>
                </a:ln>
                <a:solidFill>
                  <a:srgbClr val="000000"/>
                </a:solidFill>
                <a:effectLst/>
                <a:uLnTx/>
                <a:uFillTx/>
                <a:latin typeface="Arial" charset="0"/>
                <a:cs typeface="Arial" charset="0"/>
              </a:rPr>
              <a:t>If </a:t>
            </a:r>
            <a:r>
              <a:rPr kumimoji="0" lang="en-US" sz="1700" b="0" i="0" u="none" strike="noStrike" kern="1200" cap="none" spc="0" normalizeH="0" baseline="0" noProof="0" dirty="0">
                <a:ln>
                  <a:noFill/>
                </a:ln>
                <a:solidFill>
                  <a:srgbClr val="000000"/>
                </a:solidFill>
                <a:effectLst/>
                <a:uLnTx/>
                <a:uFillTx/>
                <a:latin typeface="Arial" charset="0"/>
                <a:cs typeface="Arial" charset="0"/>
              </a:rPr>
              <a:t>“</a:t>
            </a:r>
            <a:r>
              <a:rPr kumimoji="0" lang="ru-RU" sz="1700" b="0" i="0" u="none" strike="noStrike" kern="1200" cap="none" spc="0" normalizeH="0" baseline="0" noProof="0" dirty="0">
                <a:ln>
                  <a:noFill/>
                </a:ln>
                <a:solidFill>
                  <a:srgbClr val="000000"/>
                </a:solidFill>
                <a:effectLst/>
                <a:uLnTx/>
                <a:uFillTx/>
                <a:latin typeface="Arial" charset="0"/>
                <a:cs typeface="Arial" charset="0"/>
              </a:rPr>
              <a:t>Brand family</a:t>
            </a:r>
            <a:r>
              <a:rPr kumimoji="0" lang="en-US" sz="1700" b="0" i="0" u="none" strike="noStrike" kern="1200" cap="none" spc="0" normalizeH="0" baseline="0" noProof="0" dirty="0">
                <a:ln>
                  <a:noFill/>
                </a:ln>
                <a:solidFill>
                  <a:srgbClr val="000000"/>
                </a:solidFill>
                <a:effectLst/>
                <a:uLnTx/>
                <a:uFillTx/>
                <a:latin typeface="Arial" charset="0"/>
                <a:cs typeface="Arial" charset="0"/>
              </a:rPr>
              <a:t>”</a:t>
            </a:r>
            <a:r>
              <a:rPr kumimoji="0" lang="ru-RU" sz="1700" b="0" i="0" u="none" strike="noStrike" kern="1200" cap="none" spc="0" normalizeH="0" baseline="0" noProof="0" dirty="0">
                <a:ln>
                  <a:noFill/>
                </a:ln>
                <a:solidFill>
                  <a:srgbClr val="000000"/>
                </a:solidFill>
                <a:effectLst/>
                <a:uLnTx/>
                <a:uFillTx/>
                <a:latin typeface="Arial" charset="0"/>
                <a:cs typeface="Arial" charset="0"/>
              </a:rPr>
              <a:t> is populated, </a:t>
            </a:r>
            <a:r>
              <a:rPr kumimoji="0" lang="en-US" sz="1700" b="0" i="0" u="none" strike="noStrike" kern="1200" cap="none" spc="0" normalizeH="0" baseline="0" noProof="0" dirty="0">
                <a:ln>
                  <a:noFill/>
                </a:ln>
                <a:solidFill>
                  <a:srgbClr val="000000"/>
                </a:solidFill>
                <a:effectLst/>
                <a:uLnTx/>
                <a:uFillTx/>
                <a:latin typeface="Arial" charset="0"/>
                <a:cs typeface="Arial" charset="0"/>
              </a:rPr>
              <a:t>“P</a:t>
            </a:r>
            <a:r>
              <a:rPr kumimoji="0" lang="ru-RU" sz="1700" b="0" i="0" u="none" strike="noStrike" kern="1200" cap="none" spc="0" normalizeH="0" baseline="0" noProof="0" dirty="0">
                <a:ln>
                  <a:noFill/>
                </a:ln>
                <a:solidFill>
                  <a:srgbClr val="000000"/>
                </a:solidFill>
                <a:effectLst/>
                <a:uLnTx/>
                <a:uFillTx/>
                <a:latin typeface="Arial" charset="0"/>
                <a:cs typeface="Arial" charset="0"/>
              </a:rPr>
              <a:t>roduct type</a:t>
            </a:r>
            <a:r>
              <a:rPr kumimoji="0" lang="en-US" sz="1700" b="0" i="0" u="none" strike="noStrike" kern="1200" cap="none" spc="0" normalizeH="0" baseline="0" noProof="0" dirty="0">
                <a:ln>
                  <a:noFill/>
                </a:ln>
                <a:solidFill>
                  <a:srgbClr val="000000"/>
                </a:solidFill>
                <a:effectLst/>
                <a:uLnTx/>
                <a:uFillTx/>
                <a:latin typeface="Arial" charset="0"/>
                <a:cs typeface="Arial" charset="0"/>
              </a:rPr>
              <a:t>”</a:t>
            </a:r>
            <a:r>
              <a:rPr kumimoji="0" lang="ru-RU" sz="1700" b="0" i="0" u="none" strike="noStrike" kern="1200" cap="none" spc="0" normalizeH="0" baseline="0" noProof="0" dirty="0">
                <a:ln>
                  <a:noFill/>
                </a:ln>
                <a:solidFill>
                  <a:srgbClr val="000000"/>
                </a:solidFill>
                <a:effectLst/>
                <a:uLnTx/>
                <a:uFillTx/>
                <a:latin typeface="Arial" charset="0"/>
                <a:cs typeface="Arial" charset="0"/>
              </a:rPr>
              <a:t> should be populated and vice versa</a:t>
            </a:r>
            <a:r>
              <a:rPr kumimoji="0" lang="en-US" sz="1700" b="0" i="0" u="none" strike="noStrike" kern="1200" cap="none" spc="0" normalizeH="0" baseline="0" noProof="0" dirty="0">
                <a:ln>
                  <a:noFill/>
                </a:ln>
                <a:solidFill>
                  <a:srgbClr val="FF0000"/>
                </a:solidFill>
                <a:effectLst/>
                <a:uLnTx/>
                <a:uFillTx/>
                <a:latin typeface="Arial" charset="0"/>
                <a:cs typeface="Arial" charset="0"/>
              </a:rPr>
              <a:t>.</a:t>
            </a:r>
            <a:endParaRPr kumimoji="0" lang="en-US" sz="1700" b="0" i="0" u="none" strike="noStrike" kern="1200" cap="none" spc="0" normalizeH="0" baseline="0" noProof="0" dirty="0">
              <a:ln>
                <a:noFill/>
              </a:ln>
              <a:solidFill>
                <a:srgbClr val="000000"/>
              </a:solidFill>
              <a:effectLst/>
              <a:uLnTx/>
              <a:uFillTx/>
              <a:latin typeface="Arial" charset="0"/>
              <a:cs typeface="Arial" charset="0"/>
            </a:endParaRPr>
          </a:p>
          <a:p>
            <a:pPr marL="231775" marR="0" lvl="0" indent="-231775" algn="just" defTabSz="914126"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000000"/>
                </a:solidFill>
                <a:effectLst/>
                <a:uLnTx/>
                <a:uFillTx/>
                <a:latin typeface="Arial" charset="0"/>
                <a:cs typeface="Arial" charset="0"/>
              </a:rPr>
              <a:t>Additional </a:t>
            </a:r>
            <a:r>
              <a:rPr kumimoji="0" lang="en-US" sz="1700" b="1" i="0" u="none" strike="noStrike" kern="1200" cap="none" spc="0" normalizeH="0" baseline="0" noProof="0" dirty="0">
                <a:ln>
                  <a:noFill/>
                </a:ln>
                <a:solidFill>
                  <a:srgbClr val="000000"/>
                </a:solidFill>
                <a:effectLst/>
                <a:uLnTx/>
                <a:uFillTx/>
                <a:latin typeface="Arial" charset="0"/>
                <a:cs typeface="Arial" charset="0"/>
              </a:rPr>
              <a:t>information for Customers </a:t>
            </a:r>
            <a:r>
              <a:rPr kumimoji="0" lang="en-US" sz="1700" b="0" i="0" u="none" strike="noStrike" kern="1200" cap="none" spc="0" normalizeH="0" baseline="0" noProof="0" dirty="0">
                <a:ln>
                  <a:noFill/>
                </a:ln>
                <a:solidFill>
                  <a:srgbClr val="000000"/>
                </a:solidFill>
                <a:effectLst/>
                <a:uLnTx/>
                <a:uFillTx/>
                <a:latin typeface="Arial" charset="0"/>
                <a:cs typeface="Arial" charset="0"/>
              </a:rPr>
              <a:t>will be included in MD Template:</a:t>
            </a:r>
          </a:p>
          <a:p>
            <a:pPr marL="401638" marR="0" lvl="2" indent="-173038" algn="just" defTabSz="914126" rtl="0" eaLnBrk="1" fontAlgn="auto" latinLnBrk="0" hangingPunct="1">
              <a:lnSpc>
                <a:spcPct val="100000"/>
              </a:lnSpc>
              <a:spcBef>
                <a:spcPts val="120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srgbClr val="000000"/>
                </a:solidFill>
                <a:effectLst/>
                <a:uLnTx/>
                <a:uFillTx/>
                <a:latin typeface="Arial" charset="0"/>
                <a:cs typeface="Arial" charset="0"/>
              </a:rPr>
              <a:t>Customer field is optional.</a:t>
            </a:r>
          </a:p>
          <a:p>
            <a:pPr marL="401638" marR="0" lvl="2" indent="-173038" algn="just" defTabSz="914126" rtl="0" eaLnBrk="1" fontAlgn="auto" latinLnBrk="0" hangingPunct="1">
              <a:lnSpc>
                <a:spcPct val="100000"/>
              </a:lnSpc>
              <a:spcBef>
                <a:spcPts val="120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srgbClr val="000000"/>
                </a:solidFill>
                <a:effectLst/>
                <a:uLnTx/>
                <a:uFillTx/>
                <a:latin typeface="Arial" charset="0"/>
                <a:cs typeface="Arial" charset="0"/>
              </a:rPr>
              <a:t>Trade Channel field has 2 values: On-line and Off-line (defaulted if not changed to On-line).</a:t>
            </a:r>
          </a:p>
          <a:p>
            <a:pPr marL="231775" marR="0" lvl="0" indent="-231775" algn="just" defTabSz="914126"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srgbClr val="000000"/>
                </a:solidFill>
                <a:effectLst/>
                <a:uLnTx/>
                <a:uFillTx/>
                <a:latin typeface="Arial" charset="0"/>
                <a:cs typeface="Arial" charset="0"/>
              </a:rPr>
              <a:t>Dimensions in the </a:t>
            </a:r>
            <a:r>
              <a:rPr kumimoji="0" lang="en-US" sz="1700" b="0" i="0" u="none" strike="noStrike" kern="1200" cap="none" spc="0" normalizeH="0" baseline="0" noProof="0" dirty="0" err="1">
                <a:ln>
                  <a:noFill/>
                </a:ln>
                <a:solidFill>
                  <a:srgbClr val="000000"/>
                </a:solidFill>
                <a:effectLst/>
                <a:uLnTx/>
                <a:uFillTx/>
                <a:latin typeface="Arial" charset="0"/>
                <a:cs typeface="Arial" charset="0"/>
              </a:rPr>
              <a:t>MyRequest</a:t>
            </a:r>
            <a:r>
              <a:rPr kumimoji="0" lang="en-US" sz="1700" b="0" i="0" u="none" strike="noStrike" kern="1200" cap="none" spc="0" normalizeH="0" baseline="0" noProof="0" dirty="0">
                <a:ln>
                  <a:noFill/>
                </a:ln>
                <a:solidFill>
                  <a:srgbClr val="000000"/>
                </a:solidFill>
                <a:effectLst/>
                <a:uLnTx/>
                <a:uFillTx/>
                <a:latin typeface="Arial" charset="0"/>
                <a:cs typeface="Arial" charset="0"/>
              </a:rPr>
              <a:t> templates will be </a:t>
            </a:r>
            <a:r>
              <a:rPr kumimoji="0" lang="en-US" sz="1700" b="1" i="0" u="none" strike="noStrike" kern="1200" cap="none" spc="0" normalizeH="0" baseline="0" noProof="0" dirty="0">
                <a:ln>
                  <a:noFill/>
                </a:ln>
                <a:solidFill>
                  <a:srgbClr val="000000"/>
                </a:solidFill>
                <a:effectLst/>
                <a:uLnTx/>
                <a:uFillTx/>
                <a:latin typeface="Arial" charset="0"/>
                <a:cs typeface="Arial" charset="0"/>
              </a:rPr>
              <a:t>limited to the key dimension</a:t>
            </a:r>
            <a:r>
              <a:rPr kumimoji="0" lang="en-US" sz="1700" b="0" i="0" u="none" strike="noStrike" kern="1200" cap="none" spc="0" normalizeH="0" baseline="0" noProof="0" dirty="0">
                <a:ln>
                  <a:noFill/>
                </a:ln>
                <a:solidFill>
                  <a:srgbClr val="000000"/>
                </a:solidFill>
                <a:effectLst/>
                <a:uLnTx/>
                <a:uFillTx/>
                <a:latin typeface="Arial" charset="0"/>
                <a:cs typeface="Arial" charset="0"/>
              </a:rPr>
              <a:t>s from which other dimensions can be derived.</a:t>
            </a:r>
          </a:p>
          <a:p>
            <a:pPr marL="0" marR="0" lvl="0" indent="0" algn="just" defTabSz="914126" rtl="0" eaLnBrk="1" fontAlgn="auto" latinLnBrk="0" hangingPunct="1">
              <a:lnSpc>
                <a:spcPct val="100000"/>
              </a:lnSpc>
              <a:spcBef>
                <a:spcPts val="1200"/>
              </a:spcBef>
              <a:spcAft>
                <a:spcPts val="0"/>
              </a:spcAft>
              <a:buClrTx/>
              <a:buSzTx/>
              <a:buFont typeface="Arial"/>
              <a:buNone/>
              <a:tabLst/>
              <a:defRPr/>
            </a:pPr>
            <a:endParaRPr kumimoji="0" lang="en-US" sz="1999" b="0" i="0" u="none" strike="noStrike" kern="1200" cap="none" spc="0" normalizeH="0" baseline="0" noProof="0" dirty="0">
              <a:ln>
                <a:noFill/>
              </a:ln>
              <a:solidFill>
                <a:srgbClr val="000000"/>
              </a:solidFill>
              <a:effectLst/>
              <a:uLnTx/>
              <a:uFillTx/>
              <a:latin typeface="Arial" charset="0"/>
              <a:cs typeface="Arial" charset="0"/>
            </a:endParaRPr>
          </a:p>
        </p:txBody>
      </p:sp>
      <p:sp>
        <p:nvSpPr>
          <p:cNvPr id="15" name="Arrow: Down 14">
            <a:extLst>
              <a:ext uri="{FF2B5EF4-FFF2-40B4-BE49-F238E27FC236}">
                <a16:creationId xmlns:a16="http://schemas.microsoft.com/office/drawing/2014/main" id="{C94991B7-7A79-4098-9BF4-520CDEA53520}"/>
              </a:ext>
            </a:extLst>
          </p:cNvPr>
          <p:cNvSpPr/>
          <p:nvPr/>
        </p:nvSpPr>
        <p:spPr>
          <a:xfrm>
            <a:off x="8069467" y="3227033"/>
            <a:ext cx="883805" cy="446800"/>
          </a:xfrm>
          <a:prstGeom prst="downArrow">
            <a:avLst/>
          </a:prstGeom>
          <a:solidFill>
            <a:srgbClr val="74D9D5"/>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90304A87-0E64-41D5-9FEB-DEE110EE7F3A}"/>
              </a:ext>
            </a:extLst>
          </p:cNvPr>
          <p:cNvSpPr/>
          <p:nvPr/>
        </p:nvSpPr>
        <p:spPr>
          <a:xfrm>
            <a:off x="7447470" y="2514843"/>
            <a:ext cx="1134911" cy="249272"/>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C10923E4-B7EA-436D-ABEA-7551B489E786}"/>
              </a:ext>
            </a:extLst>
          </p:cNvPr>
          <p:cNvSpPr/>
          <p:nvPr/>
        </p:nvSpPr>
        <p:spPr>
          <a:xfrm rot="5400000">
            <a:off x="2634297" y="-586695"/>
            <a:ext cx="413445" cy="4502490"/>
          </a:xfrm>
          <a:prstGeom prst="rect">
            <a:avLst/>
          </a:prstGeom>
          <a:solidFill>
            <a:schemeClr val="accent1">
              <a:lumMod val="7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err="1">
                <a:ln>
                  <a:noFill/>
                </a:ln>
                <a:solidFill>
                  <a:srgbClr val="FFFFFF"/>
                </a:solidFill>
                <a:effectLst/>
                <a:uLnTx/>
                <a:uFillTx/>
                <a:latin typeface="Arial" panose="020B0604020202020204"/>
                <a:ea typeface="+mn-ea"/>
                <a:cs typeface="+mn-cs"/>
              </a:rPr>
              <a:t>MyRequest</a:t>
            </a:r>
            <a:r>
              <a:rPr kumimoji="0" lang="en-GB" sz="1600" b="1" i="0" u="none" strike="noStrike" kern="1200" cap="none" spc="0" normalizeH="0" baseline="0" noProof="0" dirty="0">
                <a:ln>
                  <a:noFill/>
                </a:ln>
                <a:solidFill>
                  <a:srgbClr val="FFFFFF"/>
                </a:solidFill>
                <a:effectLst/>
                <a:uLnTx/>
                <a:uFillTx/>
                <a:latin typeface="Arial" panose="020B0604020202020204"/>
                <a:ea typeface="+mn-ea"/>
                <a:cs typeface="+mn-cs"/>
              </a:rPr>
              <a:t> Templates</a:t>
            </a:r>
          </a:p>
        </p:txBody>
      </p:sp>
      <p:sp>
        <p:nvSpPr>
          <p:cNvPr id="21" name="TextBox 20">
            <a:extLst>
              <a:ext uri="{FF2B5EF4-FFF2-40B4-BE49-F238E27FC236}">
                <a16:creationId xmlns:a16="http://schemas.microsoft.com/office/drawing/2014/main" id="{3EFB2BAA-4599-48F1-919E-B9CF583DA24F}"/>
              </a:ext>
            </a:extLst>
          </p:cNvPr>
          <p:cNvSpPr txBox="1"/>
          <p:nvPr/>
        </p:nvSpPr>
        <p:spPr>
          <a:xfrm>
            <a:off x="5609990" y="5571848"/>
            <a:ext cx="6710761" cy="1040423"/>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Use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“Check GL Accounts”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button on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template to ensure you have entered the required dimensions for granularity purpose set up based on FSG and Cost Element Category master data</a:t>
            </a:r>
          </a:p>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Dimensions in the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templates will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be limited to the key dimensions</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from which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other dimensions can be derived</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CD98192A-DC1A-4AA1-8BFB-BCCE12233C95}"/>
              </a:ext>
            </a:extLst>
          </p:cNvPr>
          <p:cNvCxnSpPr>
            <a:cxnSpLocks/>
          </p:cNvCxnSpPr>
          <p:nvPr/>
        </p:nvCxnSpPr>
        <p:spPr>
          <a:xfrm flipH="1">
            <a:off x="6091527" y="2738313"/>
            <a:ext cx="1594164" cy="285758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0221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27B1-8EE1-4F9A-8378-BE59E5169F00}"/>
              </a:ext>
            </a:extLst>
          </p:cNvPr>
          <p:cNvSpPr>
            <a:spLocks noGrp="1"/>
          </p:cNvSpPr>
          <p:nvPr>
            <p:ph type="title"/>
          </p:nvPr>
        </p:nvSpPr>
        <p:spPr/>
        <p:txBody>
          <a:bodyPr/>
          <a:lstStyle/>
          <a:p>
            <a:r>
              <a:rPr lang="en-US"/>
              <a:t>Validations/Dropdowns in S/4 &amp; </a:t>
            </a:r>
            <a:r>
              <a:rPr lang="en-US" err="1"/>
              <a:t>MyRequest</a:t>
            </a:r>
            <a:r>
              <a:rPr lang="en-US"/>
              <a:t> Templates *</a:t>
            </a:r>
          </a:p>
        </p:txBody>
      </p:sp>
      <p:sp>
        <p:nvSpPr>
          <p:cNvPr id="4" name="Footer Placeholder 3">
            <a:extLst>
              <a:ext uri="{FF2B5EF4-FFF2-40B4-BE49-F238E27FC236}">
                <a16:creationId xmlns:a16="http://schemas.microsoft.com/office/drawing/2014/main" id="{338242A5-BCBE-4058-8C19-2B61332DF63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D9896D-72D0-439F-8D19-61FCE4020A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Footer Placeholder 3">
            <a:extLst>
              <a:ext uri="{FF2B5EF4-FFF2-40B4-BE49-F238E27FC236}">
                <a16:creationId xmlns:a16="http://schemas.microsoft.com/office/drawing/2014/main" id="{F139B501-734F-4E39-8DD0-D29FFD8C7A6C}"/>
              </a:ext>
            </a:extLst>
          </p:cNvPr>
          <p:cNvSpPr txBox="1">
            <a:spLocks/>
          </p:cNvSpPr>
          <p:nvPr/>
        </p:nvSpPr>
        <p:spPr>
          <a:xfrm>
            <a:off x="7348141" y="6115720"/>
            <a:ext cx="411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800" kern="1200">
                <a:solidFill>
                  <a:schemeClr val="tx1">
                    <a:tint val="75000"/>
                  </a:schemeClr>
                </a:solidFill>
                <a:latin typeface="Arial" charset="0"/>
                <a:ea typeface="Arial" charset="0"/>
                <a:cs typeface="Arial" charset="0"/>
              </a:defRPr>
            </a:lvl1pPr>
            <a:lvl2pPr marL="4572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2pPr>
            <a:lvl3pPr marL="9144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3pPr>
            <a:lvl4pPr marL="13716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4pPr>
            <a:lvl5pPr marL="1828800" algn="l" rtl="0" fontAlgn="base">
              <a:spcBef>
                <a:spcPct val="0"/>
              </a:spcBef>
              <a:spcAft>
                <a:spcPct val="0"/>
              </a:spcAft>
              <a:defRPr sz="1600" kern="1200">
                <a:solidFill>
                  <a:schemeClr val="bg1"/>
                </a:solidFill>
                <a:latin typeface="Arial" pitchFamily="34" charset="0"/>
                <a:ea typeface="ＭＳ Ｐゴシック" pitchFamily="80" charset="-128"/>
                <a:cs typeface="+mn-cs"/>
              </a:defRPr>
            </a:lvl5pPr>
            <a:lvl6pPr marL="2286000" algn="l" defTabSz="914400" rtl="0" eaLnBrk="1" latinLnBrk="0" hangingPunct="1">
              <a:defRPr sz="1600" kern="1200">
                <a:solidFill>
                  <a:schemeClr val="bg1"/>
                </a:solidFill>
                <a:latin typeface="Arial" pitchFamily="34" charset="0"/>
                <a:ea typeface="ＭＳ Ｐゴシック" pitchFamily="80" charset="-128"/>
                <a:cs typeface="+mn-cs"/>
              </a:defRPr>
            </a:lvl6pPr>
            <a:lvl7pPr marL="2743200" algn="l" defTabSz="914400" rtl="0" eaLnBrk="1" latinLnBrk="0" hangingPunct="1">
              <a:defRPr sz="1600" kern="1200">
                <a:solidFill>
                  <a:schemeClr val="bg1"/>
                </a:solidFill>
                <a:latin typeface="Arial" pitchFamily="34" charset="0"/>
                <a:ea typeface="ＭＳ Ｐゴシック" pitchFamily="80" charset="-128"/>
                <a:cs typeface="+mn-cs"/>
              </a:defRPr>
            </a:lvl7pPr>
            <a:lvl8pPr marL="3200400" algn="l" defTabSz="914400" rtl="0" eaLnBrk="1" latinLnBrk="0" hangingPunct="1">
              <a:defRPr sz="1600" kern="1200">
                <a:solidFill>
                  <a:schemeClr val="bg1"/>
                </a:solidFill>
                <a:latin typeface="Arial" pitchFamily="34" charset="0"/>
                <a:ea typeface="ＭＳ Ｐゴシック" pitchFamily="80" charset="-128"/>
                <a:cs typeface="+mn-cs"/>
              </a:defRPr>
            </a:lvl8pPr>
            <a:lvl9pPr marL="3657600" algn="l" defTabSz="914400" rtl="0" eaLnBrk="1" latinLnBrk="0" hangingPunct="1">
              <a:defRPr sz="1600" kern="1200">
                <a:solidFill>
                  <a:schemeClr val="bg1"/>
                </a:solidFill>
                <a:latin typeface="Arial" pitchFamily="34" charset="0"/>
                <a:ea typeface="ＭＳ Ｐゴシック" pitchFamily="80" charset="-128"/>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7923CA-60CF-4E27-AE00-5869EACE0DFB}" type="slidenum">
              <a:rPr kumimoji="0" lang="en-US" sz="800" b="0" i="0" u="none" strike="noStrike" kern="1200" cap="none" spc="0" normalizeH="0" baseline="0" noProof="0" smtClean="0">
                <a:ln>
                  <a:noFill/>
                </a:ln>
                <a:solidFill>
                  <a:srgbClr val="000000">
                    <a:tint val="75000"/>
                  </a:srgbClr>
                </a:solidFill>
                <a:effectLst/>
                <a:uLnTx/>
                <a:uFillTx/>
                <a:latin typeface="Arial" charset="0"/>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800" b="0" i="0" u="none" strike="noStrike" kern="1200" cap="none" spc="0" normalizeH="0" baseline="0" noProof="0">
              <a:ln>
                <a:noFill/>
              </a:ln>
              <a:solidFill>
                <a:srgbClr val="000000">
                  <a:tint val="75000"/>
                </a:srgbClr>
              </a:solidFill>
              <a:effectLst/>
              <a:uLnTx/>
              <a:uFillTx/>
              <a:latin typeface="Arial" charset="0"/>
              <a:cs typeface="Arial" charset="0"/>
            </a:endParaRPr>
          </a:p>
        </p:txBody>
      </p:sp>
      <p:graphicFrame>
        <p:nvGraphicFramePr>
          <p:cNvPr id="7" name="Diagram 6">
            <a:extLst>
              <a:ext uri="{FF2B5EF4-FFF2-40B4-BE49-F238E27FC236}">
                <a16:creationId xmlns:a16="http://schemas.microsoft.com/office/drawing/2014/main" id="{B7127B17-E49B-4EC2-A3F3-F633750AB3A5}"/>
              </a:ext>
            </a:extLst>
          </p:cNvPr>
          <p:cNvGraphicFramePr/>
          <p:nvPr/>
        </p:nvGraphicFramePr>
        <p:xfrm>
          <a:off x="1826591" y="1454820"/>
          <a:ext cx="7846798" cy="44790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068FA75B-B8C4-4A26-A50D-CEE7B93F84BA}"/>
              </a:ext>
            </a:extLst>
          </p:cNvPr>
          <p:cNvSpPr txBox="1"/>
          <p:nvPr/>
        </p:nvSpPr>
        <p:spPr>
          <a:xfrm>
            <a:off x="913201" y="6115720"/>
            <a:ext cx="10342122" cy="365125"/>
          </a:xfrm>
          <a:prstGeom prst="rect">
            <a:avLst/>
          </a:prstGeom>
          <a:noFill/>
        </p:spPr>
        <p:txBody>
          <a:bodyPr wrap="square" lIns="0" tIns="0" rIns="0" bIns="0" rtlCol="0">
            <a:noAutofit/>
          </a:bodyPr>
          <a:lstStyle>
            <a:defPPr>
              <a:defRPr lang="en-US"/>
            </a:defPPr>
            <a:lvl1pPr fontAlgn="auto">
              <a:spcBef>
                <a:spcPts val="0"/>
              </a:spcBef>
              <a:spcAft>
                <a:spcPts val="0"/>
              </a:spcAft>
              <a:defRPr sz="900">
                <a:solidFill>
                  <a:srgbClr val="39454B"/>
                </a:solidFill>
                <a:latin typeface="Arial"/>
                <a:ea typeface="+mn-ea"/>
              </a:defRPr>
            </a:lvl1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a:ea typeface="+mn-ea"/>
                <a:cs typeface="+mn-cs"/>
              </a:rPr>
              <a:t>* Final S/4 validations to be included in </a:t>
            </a:r>
            <a:r>
              <a:rPr kumimoji="0" lang="en-US" sz="1200" b="0" i="0" u="none" strike="noStrike" kern="0" cap="none" spc="0" normalizeH="0" baseline="0" noProof="0" err="1">
                <a:ln>
                  <a:noFill/>
                </a:ln>
                <a:solidFill>
                  <a:srgbClr val="000000"/>
                </a:solidFill>
                <a:effectLst/>
                <a:uLnTx/>
                <a:uFillTx/>
                <a:latin typeface="Arial"/>
                <a:ea typeface="+mn-ea"/>
                <a:cs typeface="+mn-cs"/>
              </a:rPr>
              <a:t>MyRequest</a:t>
            </a:r>
            <a:r>
              <a:rPr kumimoji="0" lang="en-US" sz="1200" b="0" i="0" u="none" strike="noStrike" kern="0" cap="none" spc="0" normalizeH="0" baseline="0" noProof="0">
                <a:ln>
                  <a:noFill/>
                </a:ln>
                <a:solidFill>
                  <a:srgbClr val="000000"/>
                </a:solidFill>
                <a:effectLst/>
                <a:uLnTx/>
                <a:uFillTx/>
                <a:latin typeface="Arial"/>
                <a:ea typeface="+mn-ea"/>
                <a:cs typeface="+mn-cs"/>
              </a:rPr>
              <a:t> are subject to changes (only in Direct FI and Journal Posting templates)</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a:ea typeface="+mn-ea"/>
                <a:cs typeface="+mn-cs"/>
              </a:rPr>
              <a:t>** Strongly recommended to trigger Granularity check via &lt;GL account Check&gt; button</a:t>
            </a:r>
            <a:endParaRPr kumimoji="0" lang="en-US" sz="1200" b="0" i="0" u="none" strike="noStrike" kern="0" cap="none" spc="0" normalizeH="0" baseline="0" noProof="0">
              <a:ln>
                <a:noFill/>
              </a:ln>
              <a:solidFill>
                <a:srgbClr val="FF0000"/>
              </a:solidFill>
              <a:effectLst/>
              <a:uLnTx/>
              <a:uFillTx/>
              <a:latin typeface="Arial"/>
              <a:ea typeface="+mn-ea"/>
              <a:cs typeface="+mn-cs"/>
            </a:endParaRPr>
          </a:p>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8661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11277" y="210344"/>
            <a:ext cx="10338978" cy="984247"/>
          </a:xfrm>
        </p:spPr>
        <p:txBody>
          <a:bodyPr>
            <a:normAutofit/>
          </a:bodyPr>
          <a:lstStyle/>
          <a:p>
            <a:r>
              <a:rPr lang="en-GB"/>
              <a:t>Controls for Required Dimensions in </a:t>
            </a:r>
            <a:r>
              <a:rPr lang="en-GB" err="1"/>
              <a:t>MyRequest</a:t>
            </a:r>
            <a:r>
              <a:rPr lang="en-GB"/>
              <a:t> Templates – Field Status Group</a:t>
            </a:r>
          </a:p>
        </p:txBody>
      </p:sp>
      <p:sp>
        <p:nvSpPr>
          <p:cNvPr id="4" name="Slide Number Placeholder 3"/>
          <p:cNvSpPr>
            <a:spLocks noGrp="1"/>
          </p:cNvSpPr>
          <p:nvPr>
            <p:ph type="sldNum" sz="quarter" idx="12"/>
          </p:nvPr>
        </p:nvSpPr>
        <p:spPr>
          <a:xfrm>
            <a:off x="11278800" y="6242105"/>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77248-F92F-47C9-97FD-9CF7B39594FC}" type="slidenum">
              <a:rPr kumimoji="0" lang="en-GB" sz="800" b="0" i="0" u="none" strike="noStrike" kern="1200" cap="none" spc="0" normalizeH="0" baseline="0" noProof="0" smtClean="0">
                <a:ln>
                  <a:noFill/>
                </a:ln>
                <a:solidFill>
                  <a:srgbClr val="12263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122632"/>
              </a:solidFill>
              <a:effectLst/>
              <a:uLnTx/>
              <a:uFillTx/>
              <a:latin typeface="Arial" panose="020B0604020202020204"/>
              <a:ea typeface="+mn-ea"/>
              <a:cs typeface="+mn-cs"/>
            </a:endParaRPr>
          </a:p>
        </p:txBody>
      </p:sp>
      <p:pic>
        <p:nvPicPr>
          <p:cNvPr id="2" name="Picture 1">
            <a:extLst>
              <a:ext uri="{FF2B5EF4-FFF2-40B4-BE49-F238E27FC236}">
                <a16:creationId xmlns:a16="http://schemas.microsoft.com/office/drawing/2014/main" id="{A2160BE1-C4C8-46FE-9FFD-D23FCC1A0879}"/>
              </a:ext>
            </a:extLst>
          </p:cNvPr>
          <p:cNvPicPr>
            <a:picLocks noChangeAspect="1"/>
          </p:cNvPicPr>
          <p:nvPr/>
        </p:nvPicPr>
        <p:blipFill>
          <a:blip r:embed="rId3"/>
          <a:stretch>
            <a:fillRect/>
          </a:stretch>
        </p:blipFill>
        <p:spPr>
          <a:xfrm>
            <a:off x="506703" y="1426760"/>
            <a:ext cx="3224788" cy="5374647"/>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587D1C2D-B3D8-4A90-A00F-CCD6B5E57BE1}"/>
              </a:ext>
            </a:extLst>
          </p:cNvPr>
          <p:cNvSpPr txBox="1"/>
          <p:nvPr/>
        </p:nvSpPr>
        <p:spPr>
          <a:xfrm>
            <a:off x="6404668" y="2326640"/>
            <a:ext cx="5531786" cy="4055687"/>
          </a:xfrm>
          <a:prstGeom prst="rect">
            <a:avLst/>
          </a:prstGeom>
          <a:noFill/>
          <a:ln w="19050">
            <a:solidFill>
              <a:schemeClr val="accent3"/>
            </a:solidFill>
          </a:ln>
        </p:spPr>
        <p:txBody>
          <a:bodyPr wrap="square" lIns="72000" tIns="72000" rIns="72000" bIns="72000" rtlCol="0">
            <a:noAutofit/>
          </a:bodyPr>
          <a:lstStyle/>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Assigned to P&amp;L Accounts including Secondary Cost Elements</a:t>
            </a:r>
          </a:p>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Different set up for supressed/required/optional fields based on minimum Market P&amp;L Granularity requirement set by Corporate FP&amp;A</a:t>
            </a:r>
          </a:p>
          <a:p>
            <a:pPr marL="144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It is important to note that </a:t>
            </a:r>
            <a:r>
              <a:rPr kumimoji="0" lang="en-GB" sz="1400" b="1" i="0" u="none" strike="noStrike" kern="1200" cap="none" spc="0" normalizeH="0" baseline="0" noProof="0">
                <a:ln>
                  <a:noFill/>
                </a:ln>
                <a:solidFill>
                  <a:srgbClr val="000000"/>
                </a:solidFill>
                <a:effectLst/>
                <a:uLnTx/>
                <a:uFillTx/>
                <a:latin typeface="Arial" panose="020B0604020202020204"/>
                <a:ea typeface="+mn-ea"/>
                <a:cs typeface="+mn-cs"/>
              </a:rPr>
              <a:t>FSG works in conjunction with other settings </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in G/L Master Data. E.g.</a:t>
            </a: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All Primary Cost Elements (CE Cat. 0x, 1x, 22) require account assignment objects which accept either revenue, such as Profit </a:t>
            </a:r>
            <a:r>
              <a:rPr kumimoji="0" lang="en-GB" sz="1200" b="0" i="0" u="none" strike="noStrike" kern="1200" cap="none" spc="0" normalizeH="0" baseline="0" noProof="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 Profitability Segment for revenue accounts, or cost objects such as Cost </a:t>
            </a:r>
            <a:r>
              <a:rPr kumimoji="0" lang="en-GB" sz="1200" b="0" i="0" u="none" strike="noStrike" kern="1200" cap="none" spc="0" normalizeH="0" baseline="0" noProof="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 WBS element, etc. for expense accounts.</a:t>
            </a: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601200" marR="0" lvl="1"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Arial" panose="020B0604020202020204"/>
                <a:ea typeface="+mn-ea"/>
                <a:cs typeface="+mn-cs"/>
              </a:rPr>
              <a:t>Therefore although you may see in a FSG set up that a field is optional, you may still get error message if you do not post the required account assignment object as described above.</a:t>
            </a:r>
          </a:p>
        </p:txBody>
      </p:sp>
      <p:sp>
        <p:nvSpPr>
          <p:cNvPr id="8" name="Rectangle 7">
            <a:extLst>
              <a:ext uri="{FF2B5EF4-FFF2-40B4-BE49-F238E27FC236}">
                <a16:creationId xmlns:a16="http://schemas.microsoft.com/office/drawing/2014/main" id="{A3DA0003-AF04-4570-A234-B16ED113F74F}"/>
              </a:ext>
            </a:extLst>
          </p:cNvPr>
          <p:cNvSpPr/>
          <p:nvPr/>
        </p:nvSpPr>
        <p:spPr>
          <a:xfrm rot="5400000">
            <a:off x="7308800" y="686702"/>
            <a:ext cx="541335" cy="2288736"/>
          </a:xfrm>
          <a:prstGeom prst="rect">
            <a:avLst/>
          </a:prstGeom>
          <a:solidFill>
            <a:schemeClr val="accent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FSG for P&amp;L Accounts</a:t>
            </a:r>
          </a:p>
        </p:txBody>
      </p:sp>
      <p:sp>
        <p:nvSpPr>
          <p:cNvPr id="22" name="Rectangle 21">
            <a:extLst>
              <a:ext uri="{FF2B5EF4-FFF2-40B4-BE49-F238E27FC236}">
                <a16:creationId xmlns:a16="http://schemas.microsoft.com/office/drawing/2014/main" id="{EA77156D-EF96-479D-A49F-161EBBEEF671}"/>
              </a:ext>
            </a:extLst>
          </p:cNvPr>
          <p:cNvSpPr/>
          <p:nvPr/>
        </p:nvSpPr>
        <p:spPr>
          <a:xfrm>
            <a:off x="515278" y="4114083"/>
            <a:ext cx="3095479" cy="2268244"/>
          </a:xfrm>
          <a:prstGeom prst="rect">
            <a:avLst/>
          </a:prstGeom>
          <a:noFill/>
          <a:ln w="19050">
            <a:solidFill>
              <a:schemeClr val="accent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4" name="Straight Arrow Connector 23">
            <a:extLst>
              <a:ext uri="{FF2B5EF4-FFF2-40B4-BE49-F238E27FC236}">
                <a16:creationId xmlns:a16="http://schemas.microsoft.com/office/drawing/2014/main" id="{11D3EB63-FB41-4BC1-A32F-1255B94B6692}"/>
              </a:ext>
            </a:extLst>
          </p:cNvPr>
          <p:cNvCxnSpPr>
            <a:cxnSpLocks/>
          </p:cNvCxnSpPr>
          <p:nvPr/>
        </p:nvCxnSpPr>
        <p:spPr>
          <a:xfrm flipV="1">
            <a:off x="2842352" y="2475463"/>
            <a:ext cx="1118750" cy="1638455"/>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B11A3E6-2B17-4380-AE99-F6BC6FEC626A}"/>
              </a:ext>
            </a:extLst>
          </p:cNvPr>
          <p:cNvSpPr txBox="1"/>
          <p:nvPr/>
        </p:nvSpPr>
        <p:spPr>
          <a:xfrm>
            <a:off x="5638800" y="3051463"/>
            <a:ext cx="914400" cy="9144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endParaRPr>
          </a:p>
        </p:txBody>
      </p:sp>
      <p:pic>
        <p:nvPicPr>
          <p:cNvPr id="20" name="Picture 19">
            <a:extLst>
              <a:ext uri="{FF2B5EF4-FFF2-40B4-BE49-F238E27FC236}">
                <a16:creationId xmlns:a16="http://schemas.microsoft.com/office/drawing/2014/main" id="{186FCC4E-897E-47FB-91DC-A551E97A52FE}"/>
              </a:ext>
            </a:extLst>
          </p:cNvPr>
          <p:cNvPicPr>
            <a:picLocks noChangeAspect="1"/>
          </p:cNvPicPr>
          <p:nvPr/>
        </p:nvPicPr>
        <p:blipFill>
          <a:blip r:embed="rId4"/>
          <a:stretch>
            <a:fillRect/>
          </a:stretch>
        </p:blipFill>
        <p:spPr>
          <a:xfrm>
            <a:off x="4069019" y="1584679"/>
            <a:ext cx="1998121" cy="2175429"/>
          </a:xfrm>
          <a:prstGeom prst="rect">
            <a:avLst/>
          </a:prstGeom>
        </p:spPr>
      </p:pic>
      <p:pic>
        <p:nvPicPr>
          <p:cNvPr id="6" name="Picture 5">
            <a:extLst>
              <a:ext uri="{FF2B5EF4-FFF2-40B4-BE49-F238E27FC236}">
                <a16:creationId xmlns:a16="http://schemas.microsoft.com/office/drawing/2014/main" id="{8162199F-F079-4900-96B4-1FAFEF584A5D}"/>
              </a:ext>
            </a:extLst>
          </p:cNvPr>
          <p:cNvPicPr>
            <a:picLocks noChangeAspect="1"/>
          </p:cNvPicPr>
          <p:nvPr/>
        </p:nvPicPr>
        <p:blipFill>
          <a:blip r:embed="rId5"/>
          <a:stretch>
            <a:fillRect/>
          </a:stretch>
        </p:blipFill>
        <p:spPr>
          <a:xfrm>
            <a:off x="8180491" y="4618350"/>
            <a:ext cx="2277874" cy="745853"/>
          </a:xfrm>
          <a:prstGeom prst="rect">
            <a:avLst/>
          </a:prstGeom>
          <a:ln w="19050">
            <a:solidFill>
              <a:schemeClr val="accent1"/>
            </a:solidFill>
            <a:prstDash val="dash"/>
          </a:ln>
        </p:spPr>
      </p:pic>
    </p:spTree>
    <p:extLst>
      <p:ext uri="{BB962C8B-B14F-4D97-AF65-F5344CB8AC3E}">
        <p14:creationId xmlns:p14="http://schemas.microsoft.com/office/powerpoint/2010/main" val="2215951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p:txBody>
          <a:bodyPr/>
          <a:lstStyle/>
          <a:p>
            <a:r>
              <a:rPr lang="en-GB" dirty="0"/>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641334" y="3121981"/>
            <a:ext cx="8177215" cy="921699"/>
          </a:xfrm>
          <a:prstGeom prst="rect">
            <a:avLst/>
          </a:prstGeom>
          <a:noFill/>
          <a:ln w="12700">
            <a:noFill/>
            <a:miter lim="800000"/>
            <a:headEnd/>
            <a:tailEnd/>
          </a:ln>
          <a:effectLst/>
        </p:spPr>
        <p:txBody>
          <a:bodyPr lIns="92075" tIns="457200" rIns="92075" bIns="457200"/>
          <a:lstStyle/>
          <a:p>
            <a:pPr marL="180000" marR="0" lvl="0"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Exercise 1.2: Display Sales Order and Material Master Data</a:t>
            </a:r>
          </a:p>
          <a:p>
            <a:pPr marL="637200" marR="0" lvl="1"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VA03 – Display Sales Order</a:t>
            </a:r>
          </a:p>
          <a:p>
            <a:pPr marL="637200" marR="0" lvl="1"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MM03 - Display Material Master</a:t>
            </a:r>
          </a:p>
          <a:p>
            <a:pPr marL="1094400" marR="0" lvl="2"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Sales General/Plant – Profit Center</a:t>
            </a:r>
          </a:p>
          <a:p>
            <a:pPr marL="1094400" marR="0" lvl="2"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Accounting 1 – Cost Component Split</a:t>
            </a: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515938" y="3286778"/>
            <a:ext cx="8428008" cy="3094529"/>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19422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wLtFvJPmZMIJRo0G1gMKg"/>
</p:tagLst>
</file>

<file path=ppt/theme/theme1.xml><?xml version="1.0" encoding="utf-8"?>
<a:theme xmlns:a="http://schemas.openxmlformats.org/drawingml/2006/main" name="S4F-ERP Profitability Analysis">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C44AD133-1764-428D-ACCB-7C34E21F839D}">
  <ds:schemaRefs>
    <ds:schemaRef ds:uri="http://schemas.microsoft.com/sharepoint/v3/contenttype/forms"/>
  </ds:schemaRefs>
</ds:datastoreItem>
</file>

<file path=customXml/itemProps2.xml><?xml version="1.0" encoding="utf-8"?>
<ds:datastoreItem xmlns:ds="http://schemas.openxmlformats.org/officeDocument/2006/customXml" ds:itemID="{B2EFB184-106E-4862-87A3-87FFCE60D4EB}"/>
</file>

<file path=customXml/itemProps3.xml><?xml version="1.0" encoding="utf-8"?>
<ds:datastoreItem xmlns:ds="http://schemas.openxmlformats.org/officeDocument/2006/customXml" ds:itemID="{7D2F7F02-50D9-4596-9511-0A6280989EDC}">
  <ds:schemaRefs>
    <ds:schemaRef ds:uri="http://schemas.microsoft.com/office/2006/documentManagement/types"/>
    <ds:schemaRef ds:uri="http://www.w3.org/XML/1998/namespace"/>
    <ds:schemaRef ds:uri="http://schemas.microsoft.com/office/infopath/2007/PartnerControls"/>
    <ds:schemaRef ds:uri="http://purl.org/dc/elements/1.1/"/>
    <ds:schemaRef ds:uri="da913ec1-a210-4093-97d6-83558d020e4c"/>
    <ds:schemaRef ds:uri="http://schemas.microsoft.com/office/2006/metadata/properties"/>
    <ds:schemaRef ds:uri="http://purl.org/dc/terms/"/>
    <ds:schemaRef ds:uri="033d2065-0f41-4cc7-b07b-20f12998cf87"/>
    <ds:schemaRef ds:uri="http://schemas.openxmlformats.org/package/2006/metadata/core-properties"/>
    <ds:schemaRef ds:uri="http://purl.org/dc/dcmitype/"/>
    <ds:schemaRef ds:uri="ba249638-b5c4-4b59-8094-70d8491c2e9c"/>
    <ds:schemaRef ds:uri="91871c47-af2e-43ea-ad3f-7bb4c536bc45"/>
  </ds:schemaRefs>
</ds:datastoreItem>
</file>

<file path=docProps/app.xml><?xml version="1.0" encoding="utf-8"?>
<Properties xmlns="http://schemas.openxmlformats.org/officeDocument/2006/extended-properties" xmlns:vt="http://schemas.openxmlformats.org/officeDocument/2006/docPropsVTypes">
  <TotalTime>4</TotalTime>
  <Words>2004</Words>
  <Application>Microsoft Office PowerPoint</Application>
  <PresentationFormat>Widescreen</PresentationFormat>
  <Paragraphs>277</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S4F-ERP Profitability Analysis</vt:lpstr>
      <vt:lpstr>Course Structure</vt:lpstr>
      <vt:lpstr>Profitability Analysis – Value Flows</vt:lpstr>
      <vt:lpstr>SALES &amp; Distribution  (SD) flows</vt:lpstr>
      <vt:lpstr>Sales &amp; Distribution Value Flows</vt:lpstr>
      <vt:lpstr>Sales &amp; Distribution: Profit Center Derivation </vt:lpstr>
      <vt:lpstr>Sales &amp; Distribution: G/L Account determination</vt:lpstr>
      <vt:lpstr>Sales &amp; Distribution: Pricing Determination</vt:lpstr>
      <vt:lpstr>Sales &amp; Distribution: Condition Types – ZPD0</vt:lpstr>
      <vt:lpstr>Allocations &amp; settlements</vt:lpstr>
      <vt:lpstr>WBS Settlement to CO-PA - Branded</vt:lpstr>
      <vt:lpstr>WBS Settlement to CO-PA – Multi-Branded</vt:lpstr>
      <vt:lpstr>WBS Settlement Flow to CO-PA</vt:lpstr>
      <vt:lpstr>Cost Center Allocation - Introduction</vt:lpstr>
      <vt:lpstr>Cost Center Allocations for OpEx</vt:lpstr>
      <vt:lpstr>Direct fi postings - Manual postings</vt:lpstr>
      <vt:lpstr>Manual Postings via MyRequest templates</vt:lpstr>
      <vt:lpstr>Validations/Dropdowns in S/4 &amp; MyRequest Templates *</vt:lpstr>
      <vt:lpstr>Controls for Required Dimensions in MyRequest Templates – Field Status Group</vt:lpstr>
      <vt:lpstr>Demonstration &amp;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2</cp:revision>
  <dcterms:created xsi:type="dcterms:W3CDTF">2019-10-14T14:13:14Z</dcterms:created>
  <dcterms:modified xsi:type="dcterms:W3CDTF">2023-02-14T14:43:39Z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1284200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MSIP_Label_b020b37f-db72-473e-ae54-fb16df408069_Enabled">
    <vt:lpwstr>true</vt:lpwstr>
  </property>
  <property fmtid="{D5CDD505-2E9C-101B-9397-08002B2CF9AE}" pid="11" name="MSIP_Label_b020b37f-db72-473e-ae54-fb16df408069_SetDate">
    <vt:lpwstr>2023-02-14T14:43:39Z</vt:lpwstr>
  </property>
  <property fmtid="{D5CDD505-2E9C-101B-9397-08002B2CF9AE}" pid="12" name="MSIP_Label_b020b37f-db72-473e-ae54-fb16df408069_Method">
    <vt:lpwstr>Standard</vt:lpwstr>
  </property>
  <property fmtid="{D5CDD505-2E9C-101B-9397-08002B2CF9AE}" pid="13" name="MSIP_Label_b020b37f-db72-473e-ae54-fb16df408069_Name">
    <vt:lpwstr>General</vt:lpwstr>
  </property>
  <property fmtid="{D5CDD505-2E9C-101B-9397-08002B2CF9AE}" pid="14" name="MSIP_Label_b020b37f-db72-473e-ae54-fb16df408069_SiteId">
    <vt:lpwstr>705d07a3-2eea-4f3b-ab59-65ca29abeb26</vt:lpwstr>
  </property>
  <property fmtid="{D5CDD505-2E9C-101B-9397-08002B2CF9AE}" pid="15" name="MSIP_Label_b020b37f-db72-473e-ae54-fb16df408069_ActionId">
    <vt:lpwstr>cb1da654-c49c-4e61-91a7-d0f80c39ddea</vt:lpwstr>
  </property>
  <property fmtid="{D5CDD505-2E9C-101B-9397-08002B2CF9AE}" pid="16" name="MSIP_Label_b020b37f-db72-473e-ae54-fb16df408069_ContentBits">
    <vt:lpwstr>0</vt:lpwstr>
  </property>
</Properties>
</file>