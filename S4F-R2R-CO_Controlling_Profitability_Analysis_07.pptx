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415" r:id="rId5"/>
    <p:sldId id="2331" r:id="rId6"/>
    <p:sldId id="2332" r:id="rId7"/>
    <p:sldId id="2333" r:id="rId8"/>
    <p:sldId id="2421" r:id="rId9"/>
    <p:sldId id="2295" r:id="rId10"/>
    <p:sldId id="2296" r:id="rId11"/>
    <p:sldId id="30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11116E-8B09-B579-E3E9-467ACBB84317}" v="2" dt="2021-06-14T11:11:31.7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'Neill, Shauna" userId="S::cstoneils2@corp.jti.com::1d0a8ccc-c260-429c-86e4-d406a5ac1d3d" providerId="AD" clId="Web-{E511116E-8B09-B579-E3E9-467ACBB84317}"/>
    <pc:docChg chg="modSld">
      <pc:chgData name="O'Neill, Shauna" userId="S::cstoneils2@corp.jti.com::1d0a8ccc-c260-429c-86e4-d406a5ac1d3d" providerId="AD" clId="Web-{E511116E-8B09-B579-E3E9-467ACBB84317}" dt="2021-06-14T11:11:31.798" v="1" actId="14100"/>
      <pc:docMkLst>
        <pc:docMk/>
      </pc:docMkLst>
      <pc:sldChg chg="modSp">
        <pc:chgData name="O'Neill, Shauna" userId="S::cstoneils2@corp.jti.com::1d0a8ccc-c260-429c-86e4-d406a5ac1d3d" providerId="AD" clId="Web-{E511116E-8B09-B579-E3E9-467ACBB84317}" dt="2021-06-14T11:11:31.798" v="1" actId="14100"/>
        <pc:sldMkLst>
          <pc:docMk/>
          <pc:sldMk cId="1717068302" sldId="2333"/>
        </pc:sldMkLst>
        <pc:picChg chg="mod">
          <ac:chgData name="O'Neill, Shauna" userId="S::cstoneils2@corp.jti.com::1d0a8ccc-c260-429c-86e4-d406a5ac1d3d" providerId="AD" clId="Web-{E511116E-8B09-B579-E3E9-467ACBB84317}" dt="2021-06-14T11:11:31.798" v="1" actId="14100"/>
          <ac:picMkLst>
            <pc:docMk/>
            <pc:sldMk cId="1717068302" sldId="2333"/>
            <ac:picMk id="7" creationId="{88A2D19A-E4F7-45F1-AFC4-7C4B7CD7BE50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908DAC-57EC-4315-9BA0-79A1D7F907E0}" type="doc">
      <dgm:prSet loTypeId="urn:microsoft.com/office/officeart/2005/8/layout/hList6" loCatId="list" qsTypeId="urn:microsoft.com/office/officeart/2005/8/quickstyle/simple1" qsCatId="simple" csTypeId="urn:microsoft.com/office/officeart/2005/8/colors/accent3_5" csCatId="accent3" phldr="1"/>
      <dgm:spPr/>
      <dgm:t>
        <a:bodyPr/>
        <a:lstStyle/>
        <a:p>
          <a:endParaRPr lang="en-US"/>
        </a:p>
      </dgm:t>
    </dgm:pt>
    <dgm:pt modelId="{56404A18-1F04-4D2D-B5AD-B28B531B89C6}">
      <dgm:prSet phldrT="[Text]" custT="1"/>
      <dgm:spPr>
        <a:solidFill>
          <a:srgbClr val="ABD9CE">
            <a:alpha val="90000"/>
          </a:srgbClr>
        </a:solidFill>
      </dgm:spPr>
      <dgm:t>
        <a:bodyPr/>
        <a:lstStyle/>
        <a:p>
          <a:pPr>
            <a:spcBef>
              <a:spcPts val="300"/>
            </a:spcBef>
          </a:pPr>
          <a:r>
            <a:rPr lang="en-US" sz="2400"/>
            <a:t>ECC…</a:t>
          </a:r>
        </a:p>
      </dgm:t>
    </dgm:pt>
    <dgm:pt modelId="{60470A4F-6FE8-44BD-94EB-A9A06EE47AA9}" type="parTrans" cxnId="{06FD0C8B-CD83-40E4-9105-2DB9F29E12DE}">
      <dgm:prSet/>
      <dgm:spPr/>
      <dgm:t>
        <a:bodyPr/>
        <a:lstStyle/>
        <a:p>
          <a:pPr>
            <a:spcBef>
              <a:spcPts val="300"/>
            </a:spcBef>
          </a:pPr>
          <a:endParaRPr lang="en-US"/>
        </a:p>
      </dgm:t>
    </dgm:pt>
    <dgm:pt modelId="{92737812-C3EF-4D2C-919F-8A9FAB6175D9}" type="sibTrans" cxnId="{06FD0C8B-CD83-40E4-9105-2DB9F29E12DE}">
      <dgm:prSet/>
      <dgm:spPr/>
      <dgm:t>
        <a:bodyPr/>
        <a:lstStyle/>
        <a:p>
          <a:pPr>
            <a:spcBef>
              <a:spcPts val="300"/>
            </a:spcBef>
          </a:pPr>
          <a:endParaRPr lang="en-US"/>
        </a:p>
      </dgm:t>
    </dgm:pt>
    <dgm:pt modelId="{D8A9053F-23C6-490D-9E9D-3A4CB888315A}">
      <dgm:prSet phldrT="[Text]" custT="1"/>
      <dgm:spPr>
        <a:solidFill>
          <a:srgbClr val="ABD9CE">
            <a:alpha val="90000"/>
          </a:srgbClr>
        </a:solidFill>
      </dgm:spPr>
      <dgm:t>
        <a:bodyPr/>
        <a:lstStyle/>
        <a:p>
          <a:pPr>
            <a:spcBef>
              <a:spcPts val="800"/>
            </a:spcBef>
          </a:pPr>
          <a:r>
            <a:rPr lang="en-US" sz="1800"/>
            <a:t>Different logic for different applications in BW </a:t>
          </a:r>
        </a:p>
      </dgm:t>
    </dgm:pt>
    <dgm:pt modelId="{D2055DE8-FE2F-4BF4-B14C-82B51DF53E53}" type="parTrans" cxnId="{BAC7033F-8D35-4378-AD38-5FEBDA2469E1}">
      <dgm:prSet/>
      <dgm:spPr/>
      <dgm:t>
        <a:bodyPr/>
        <a:lstStyle/>
        <a:p>
          <a:pPr>
            <a:spcBef>
              <a:spcPts val="300"/>
            </a:spcBef>
          </a:pPr>
          <a:endParaRPr lang="en-US"/>
        </a:p>
      </dgm:t>
    </dgm:pt>
    <dgm:pt modelId="{B1F3C03C-3FC7-488B-BFCB-6823BF7284D6}" type="sibTrans" cxnId="{BAC7033F-8D35-4378-AD38-5FEBDA2469E1}">
      <dgm:prSet/>
      <dgm:spPr/>
      <dgm:t>
        <a:bodyPr/>
        <a:lstStyle/>
        <a:p>
          <a:pPr>
            <a:spcBef>
              <a:spcPts val="300"/>
            </a:spcBef>
          </a:pPr>
          <a:endParaRPr lang="en-US"/>
        </a:p>
      </dgm:t>
    </dgm:pt>
    <dgm:pt modelId="{32A90147-6DBE-4E90-AB6A-9ECF245FA77F}">
      <dgm:prSet phldrT="[Text]" custT="1"/>
      <dgm:spPr/>
      <dgm:t>
        <a:bodyPr/>
        <a:lstStyle/>
        <a:p>
          <a:pPr>
            <a:spcBef>
              <a:spcPts val="300"/>
            </a:spcBef>
          </a:pPr>
          <a:r>
            <a:rPr lang="en-US" sz="2400"/>
            <a:t>…S/4</a:t>
          </a:r>
        </a:p>
      </dgm:t>
    </dgm:pt>
    <dgm:pt modelId="{BDF831B8-56E9-4A2B-A878-5CEDF3583DA9}" type="parTrans" cxnId="{252D44F3-1CA6-490C-8CA3-34EB8832A5DC}">
      <dgm:prSet/>
      <dgm:spPr/>
      <dgm:t>
        <a:bodyPr/>
        <a:lstStyle/>
        <a:p>
          <a:pPr>
            <a:spcBef>
              <a:spcPts val="300"/>
            </a:spcBef>
          </a:pPr>
          <a:endParaRPr lang="en-US"/>
        </a:p>
      </dgm:t>
    </dgm:pt>
    <dgm:pt modelId="{B440FF44-A1FD-4B3F-B7A7-0E650F9E1395}" type="sibTrans" cxnId="{252D44F3-1CA6-490C-8CA3-34EB8832A5DC}">
      <dgm:prSet/>
      <dgm:spPr/>
      <dgm:t>
        <a:bodyPr/>
        <a:lstStyle/>
        <a:p>
          <a:pPr>
            <a:spcBef>
              <a:spcPts val="300"/>
            </a:spcBef>
          </a:pPr>
          <a:endParaRPr lang="en-US"/>
        </a:p>
      </dgm:t>
    </dgm:pt>
    <dgm:pt modelId="{43354A04-1D91-4240-88E9-4C80CE8A054C}">
      <dgm:prSet phldrT="[Text]" custT="1"/>
      <dgm:spPr/>
      <dgm:t>
        <a:bodyPr/>
        <a:lstStyle/>
        <a:p>
          <a:pPr>
            <a:spcBef>
              <a:spcPts val="300"/>
            </a:spcBef>
          </a:pPr>
          <a:r>
            <a:rPr lang="en-US" sz="2000"/>
            <a:t>Standard SAP functionality</a:t>
          </a:r>
        </a:p>
      </dgm:t>
    </dgm:pt>
    <dgm:pt modelId="{83F6CA36-20C2-4DC8-9759-45AABD8090C6}" type="parTrans" cxnId="{BF6D32DB-45ED-4C18-A874-D9D766F4EAF8}">
      <dgm:prSet/>
      <dgm:spPr/>
      <dgm:t>
        <a:bodyPr/>
        <a:lstStyle/>
        <a:p>
          <a:pPr>
            <a:spcBef>
              <a:spcPts val="300"/>
            </a:spcBef>
          </a:pPr>
          <a:endParaRPr lang="en-US"/>
        </a:p>
      </dgm:t>
    </dgm:pt>
    <dgm:pt modelId="{9D615E74-6A7D-427F-ABE7-CF84D0843F1D}" type="sibTrans" cxnId="{BF6D32DB-45ED-4C18-A874-D9D766F4EAF8}">
      <dgm:prSet/>
      <dgm:spPr/>
      <dgm:t>
        <a:bodyPr/>
        <a:lstStyle/>
        <a:p>
          <a:pPr>
            <a:spcBef>
              <a:spcPts val="300"/>
            </a:spcBef>
          </a:pPr>
          <a:endParaRPr lang="en-US"/>
        </a:p>
      </dgm:t>
    </dgm:pt>
    <dgm:pt modelId="{5D9647EF-2CAF-419C-BF7F-D7EE61CBE55C}">
      <dgm:prSet phldrT="[Text]" custT="1"/>
      <dgm:spPr>
        <a:solidFill>
          <a:srgbClr val="ABD9CE">
            <a:alpha val="90000"/>
          </a:srgbClr>
        </a:solidFill>
      </dgm:spPr>
      <dgm:t>
        <a:bodyPr/>
        <a:lstStyle/>
        <a:p>
          <a:pPr>
            <a:spcBef>
              <a:spcPts val="800"/>
            </a:spcBef>
          </a:pPr>
          <a:r>
            <a:rPr lang="en-US" sz="1800"/>
            <a:t>GL Accounts created for different product types on which conversion is based in GPM</a:t>
          </a:r>
        </a:p>
      </dgm:t>
    </dgm:pt>
    <dgm:pt modelId="{99AA6D4F-586E-42FF-9F7E-DEB6B48E266C}" type="parTrans" cxnId="{D7C93AC6-BE9E-43E4-906B-E19A9BE8BFF5}">
      <dgm:prSet/>
      <dgm:spPr/>
      <dgm:t>
        <a:bodyPr/>
        <a:lstStyle/>
        <a:p>
          <a:pPr>
            <a:spcBef>
              <a:spcPts val="300"/>
            </a:spcBef>
          </a:pPr>
          <a:endParaRPr lang="en-US"/>
        </a:p>
      </dgm:t>
    </dgm:pt>
    <dgm:pt modelId="{901580A1-8A3D-45F2-A85F-D3AECA7EF16C}" type="sibTrans" cxnId="{D7C93AC6-BE9E-43E4-906B-E19A9BE8BFF5}">
      <dgm:prSet/>
      <dgm:spPr/>
      <dgm:t>
        <a:bodyPr/>
        <a:lstStyle/>
        <a:p>
          <a:pPr>
            <a:spcBef>
              <a:spcPts val="300"/>
            </a:spcBef>
          </a:pPr>
          <a:endParaRPr lang="en-US"/>
        </a:p>
      </dgm:t>
    </dgm:pt>
    <dgm:pt modelId="{EE23BD6E-E41E-4C40-8615-F24514E8D4AB}">
      <dgm:prSet phldrT="[Text]" custT="1"/>
      <dgm:spPr>
        <a:solidFill>
          <a:srgbClr val="ABD9CE">
            <a:alpha val="90000"/>
          </a:srgbClr>
        </a:solidFill>
      </dgm:spPr>
      <dgm:t>
        <a:bodyPr/>
        <a:lstStyle/>
        <a:p>
          <a:pPr>
            <a:spcBef>
              <a:spcPts val="800"/>
            </a:spcBef>
          </a:pPr>
          <a:r>
            <a:rPr lang="en-US" sz="1800"/>
            <a:t>Issues in mismatches between MM and account determination (i.e. product type does not match category of the GL account)  </a:t>
          </a:r>
        </a:p>
      </dgm:t>
    </dgm:pt>
    <dgm:pt modelId="{90DE9087-E7E5-493B-A3C1-5C3E8646F5B5}" type="parTrans" cxnId="{0E39C415-3B31-4380-935D-31F4202F0A20}">
      <dgm:prSet/>
      <dgm:spPr/>
      <dgm:t>
        <a:bodyPr/>
        <a:lstStyle/>
        <a:p>
          <a:pPr>
            <a:spcBef>
              <a:spcPts val="300"/>
            </a:spcBef>
          </a:pPr>
          <a:endParaRPr lang="en-US"/>
        </a:p>
      </dgm:t>
    </dgm:pt>
    <dgm:pt modelId="{41F41A83-D63E-45D0-A8E5-3FEE8A8B6A45}" type="sibTrans" cxnId="{0E39C415-3B31-4380-935D-31F4202F0A20}">
      <dgm:prSet/>
      <dgm:spPr/>
      <dgm:t>
        <a:bodyPr/>
        <a:lstStyle/>
        <a:p>
          <a:pPr>
            <a:spcBef>
              <a:spcPts val="300"/>
            </a:spcBef>
          </a:pPr>
          <a:endParaRPr lang="en-US"/>
        </a:p>
      </dgm:t>
    </dgm:pt>
    <dgm:pt modelId="{80AAF91A-F6D1-4862-AD5F-13C2DD77E230}">
      <dgm:prSet phldrT="[Text]" custT="1"/>
      <dgm:spPr/>
      <dgm:t>
        <a:bodyPr/>
        <a:lstStyle/>
        <a:p>
          <a:pPr>
            <a:spcBef>
              <a:spcPts val="300"/>
            </a:spcBef>
          </a:pPr>
          <a:r>
            <a:rPr lang="en-US" sz="2000"/>
            <a:t>Conversion linked to the source data of MM </a:t>
          </a:r>
        </a:p>
      </dgm:t>
    </dgm:pt>
    <dgm:pt modelId="{16A16B20-B6F5-4222-94DB-913756DB724C}" type="parTrans" cxnId="{14F56BA9-08FF-459F-A2CF-795D7E8EC453}">
      <dgm:prSet/>
      <dgm:spPr/>
      <dgm:t>
        <a:bodyPr/>
        <a:lstStyle/>
        <a:p>
          <a:pPr>
            <a:spcBef>
              <a:spcPts val="300"/>
            </a:spcBef>
          </a:pPr>
          <a:endParaRPr lang="en-US"/>
        </a:p>
      </dgm:t>
    </dgm:pt>
    <dgm:pt modelId="{2CA34471-A1C3-4B3F-9D6A-FD0CA5332BF5}" type="sibTrans" cxnId="{14F56BA9-08FF-459F-A2CF-795D7E8EC453}">
      <dgm:prSet/>
      <dgm:spPr/>
      <dgm:t>
        <a:bodyPr/>
        <a:lstStyle/>
        <a:p>
          <a:pPr>
            <a:spcBef>
              <a:spcPts val="300"/>
            </a:spcBef>
          </a:pPr>
          <a:endParaRPr lang="en-US"/>
        </a:p>
      </dgm:t>
    </dgm:pt>
    <dgm:pt modelId="{A6F1CE5A-26A8-4579-A173-0782A35DE3F7}">
      <dgm:prSet phldrT="[Text]" custT="1"/>
      <dgm:spPr/>
      <dgm:t>
        <a:bodyPr/>
        <a:lstStyle/>
        <a:p>
          <a:pPr>
            <a:spcBef>
              <a:spcPts val="300"/>
            </a:spcBef>
          </a:pPr>
          <a:r>
            <a:rPr lang="en-US" sz="2000"/>
            <a:t>One Logic for all applications</a:t>
          </a:r>
        </a:p>
      </dgm:t>
    </dgm:pt>
    <dgm:pt modelId="{A6324364-B5A0-4020-9FC6-88F8C8BFAE6C}" type="parTrans" cxnId="{D47C006D-5964-4B34-A794-8A26B9A8C4BE}">
      <dgm:prSet/>
      <dgm:spPr/>
      <dgm:t>
        <a:bodyPr/>
        <a:lstStyle/>
        <a:p>
          <a:pPr>
            <a:spcBef>
              <a:spcPts val="300"/>
            </a:spcBef>
          </a:pPr>
          <a:endParaRPr lang="en-US"/>
        </a:p>
      </dgm:t>
    </dgm:pt>
    <dgm:pt modelId="{D4CAD283-72A1-4696-8AE4-D44B185730B4}" type="sibTrans" cxnId="{D47C006D-5964-4B34-A794-8A26B9A8C4BE}">
      <dgm:prSet/>
      <dgm:spPr/>
      <dgm:t>
        <a:bodyPr/>
        <a:lstStyle/>
        <a:p>
          <a:pPr>
            <a:spcBef>
              <a:spcPts val="300"/>
            </a:spcBef>
          </a:pPr>
          <a:endParaRPr lang="en-US"/>
        </a:p>
      </dgm:t>
    </dgm:pt>
    <dgm:pt modelId="{01DC6F08-1653-4EEA-A36B-48EDE8072426}">
      <dgm:prSet phldrT="[Text]" custT="1"/>
      <dgm:spPr/>
      <dgm:t>
        <a:bodyPr/>
        <a:lstStyle/>
        <a:p>
          <a:pPr>
            <a:spcBef>
              <a:spcPts val="300"/>
            </a:spcBef>
          </a:pPr>
          <a:r>
            <a:rPr lang="en-US" sz="2000"/>
            <a:t>Flexible solution to tailor for specificities if needed</a:t>
          </a:r>
        </a:p>
      </dgm:t>
    </dgm:pt>
    <dgm:pt modelId="{8709D3FE-A8D7-4BDD-8A34-818215CBAD80}" type="parTrans" cxnId="{A158C93C-CA0E-469D-8BFE-C65F0A3B93E8}">
      <dgm:prSet/>
      <dgm:spPr/>
      <dgm:t>
        <a:bodyPr/>
        <a:lstStyle/>
        <a:p>
          <a:pPr>
            <a:spcBef>
              <a:spcPts val="300"/>
            </a:spcBef>
          </a:pPr>
          <a:endParaRPr lang="en-US"/>
        </a:p>
      </dgm:t>
    </dgm:pt>
    <dgm:pt modelId="{3C220117-3524-4A83-AB71-3E3284DCFFB3}" type="sibTrans" cxnId="{A158C93C-CA0E-469D-8BFE-C65F0A3B93E8}">
      <dgm:prSet/>
      <dgm:spPr/>
      <dgm:t>
        <a:bodyPr/>
        <a:lstStyle/>
        <a:p>
          <a:pPr>
            <a:spcBef>
              <a:spcPts val="300"/>
            </a:spcBef>
          </a:pPr>
          <a:endParaRPr lang="en-US"/>
        </a:p>
      </dgm:t>
    </dgm:pt>
    <dgm:pt modelId="{D1AB578E-273F-4441-BBC7-E8917024C1A7}" type="pres">
      <dgm:prSet presAssocID="{9A908DAC-57EC-4315-9BA0-79A1D7F907E0}" presName="Name0" presStyleCnt="0">
        <dgm:presLayoutVars>
          <dgm:dir/>
          <dgm:resizeHandles val="exact"/>
        </dgm:presLayoutVars>
      </dgm:prSet>
      <dgm:spPr/>
    </dgm:pt>
    <dgm:pt modelId="{C6011CC2-03F2-4306-B09C-D6B70D350B33}" type="pres">
      <dgm:prSet presAssocID="{56404A18-1F04-4D2D-B5AD-B28B531B89C6}" presName="node" presStyleLbl="node1" presStyleIdx="0" presStyleCnt="2">
        <dgm:presLayoutVars>
          <dgm:bulletEnabled val="1"/>
        </dgm:presLayoutVars>
      </dgm:prSet>
      <dgm:spPr/>
    </dgm:pt>
    <dgm:pt modelId="{6FBD48B7-FA69-4F76-BBF3-7EB988EBDDD2}" type="pres">
      <dgm:prSet presAssocID="{92737812-C3EF-4D2C-919F-8A9FAB6175D9}" presName="sibTrans" presStyleCnt="0"/>
      <dgm:spPr/>
    </dgm:pt>
    <dgm:pt modelId="{0D1DF0BC-C1B5-4E04-A11B-9405C7744C8A}" type="pres">
      <dgm:prSet presAssocID="{32A90147-6DBE-4E90-AB6A-9ECF245FA77F}" presName="node" presStyleLbl="node1" presStyleIdx="1" presStyleCnt="2">
        <dgm:presLayoutVars>
          <dgm:bulletEnabled val="1"/>
        </dgm:presLayoutVars>
      </dgm:prSet>
      <dgm:spPr/>
    </dgm:pt>
  </dgm:ptLst>
  <dgm:cxnLst>
    <dgm:cxn modelId="{02B59E10-3BC5-44CF-A379-25C5D7B3EE77}" type="presOf" srcId="{01DC6F08-1653-4EEA-A36B-48EDE8072426}" destId="{0D1DF0BC-C1B5-4E04-A11B-9405C7744C8A}" srcOrd="0" destOrd="4" presId="urn:microsoft.com/office/officeart/2005/8/layout/hList6"/>
    <dgm:cxn modelId="{0E39C415-3B31-4380-935D-31F4202F0A20}" srcId="{56404A18-1F04-4D2D-B5AD-B28B531B89C6}" destId="{EE23BD6E-E41E-4C40-8615-F24514E8D4AB}" srcOrd="1" destOrd="0" parTransId="{90DE9087-E7E5-493B-A3C1-5C3E8646F5B5}" sibTransId="{41F41A83-D63E-45D0-A8E5-3FEE8A8B6A45}"/>
    <dgm:cxn modelId="{9077481C-3EE2-486C-BFC9-C066503C4925}" type="presOf" srcId="{80AAF91A-F6D1-4862-AD5F-13C2DD77E230}" destId="{0D1DF0BC-C1B5-4E04-A11B-9405C7744C8A}" srcOrd="0" destOrd="1" presId="urn:microsoft.com/office/officeart/2005/8/layout/hList6"/>
    <dgm:cxn modelId="{A4931F21-7385-4218-BFCE-E70C703D04C2}" type="presOf" srcId="{43354A04-1D91-4240-88E9-4C80CE8A054C}" destId="{0D1DF0BC-C1B5-4E04-A11B-9405C7744C8A}" srcOrd="0" destOrd="3" presId="urn:microsoft.com/office/officeart/2005/8/layout/hList6"/>
    <dgm:cxn modelId="{6BBD3E38-E4D4-4B3A-A4E7-DCF9F6914E45}" type="presOf" srcId="{A6F1CE5A-26A8-4579-A173-0782A35DE3F7}" destId="{0D1DF0BC-C1B5-4E04-A11B-9405C7744C8A}" srcOrd="0" destOrd="2" presId="urn:microsoft.com/office/officeart/2005/8/layout/hList6"/>
    <dgm:cxn modelId="{A158C93C-CA0E-469D-8BFE-C65F0A3B93E8}" srcId="{32A90147-6DBE-4E90-AB6A-9ECF245FA77F}" destId="{01DC6F08-1653-4EEA-A36B-48EDE8072426}" srcOrd="3" destOrd="0" parTransId="{8709D3FE-A8D7-4BDD-8A34-818215CBAD80}" sibTransId="{3C220117-3524-4A83-AB71-3E3284DCFFB3}"/>
    <dgm:cxn modelId="{BAC7033F-8D35-4378-AD38-5FEBDA2469E1}" srcId="{56404A18-1F04-4D2D-B5AD-B28B531B89C6}" destId="{D8A9053F-23C6-490D-9E9D-3A4CB888315A}" srcOrd="2" destOrd="0" parTransId="{D2055DE8-FE2F-4BF4-B14C-82B51DF53E53}" sibTransId="{B1F3C03C-3FC7-488B-BFCB-6823BF7284D6}"/>
    <dgm:cxn modelId="{4657425D-E35B-4EF2-BCA0-DB8324A8B9D8}" type="presOf" srcId="{32A90147-6DBE-4E90-AB6A-9ECF245FA77F}" destId="{0D1DF0BC-C1B5-4E04-A11B-9405C7744C8A}" srcOrd="0" destOrd="0" presId="urn:microsoft.com/office/officeart/2005/8/layout/hList6"/>
    <dgm:cxn modelId="{D47C006D-5964-4B34-A794-8A26B9A8C4BE}" srcId="{32A90147-6DBE-4E90-AB6A-9ECF245FA77F}" destId="{A6F1CE5A-26A8-4579-A173-0782A35DE3F7}" srcOrd="1" destOrd="0" parTransId="{A6324364-B5A0-4020-9FC6-88F8C8BFAE6C}" sibTransId="{D4CAD283-72A1-4696-8AE4-D44B185730B4}"/>
    <dgm:cxn modelId="{04E3CF80-0C61-4729-973F-FB54ABD72236}" type="presOf" srcId="{5D9647EF-2CAF-419C-BF7F-D7EE61CBE55C}" destId="{C6011CC2-03F2-4306-B09C-D6B70D350B33}" srcOrd="0" destOrd="1" presId="urn:microsoft.com/office/officeart/2005/8/layout/hList6"/>
    <dgm:cxn modelId="{06FD0C8B-CD83-40E4-9105-2DB9F29E12DE}" srcId="{9A908DAC-57EC-4315-9BA0-79A1D7F907E0}" destId="{56404A18-1F04-4D2D-B5AD-B28B531B89C6}" srcOrd="0" destOrd="0" parTransId="{60470A4F-6FE8-44BD-94EB-A9A06EE47AA9}" sibTransId="{92737812-C3EF-4D2C-919F-8A9FAB6175D9}"/>
    <dgm:cxn modelId="{16B0B8A6-D04C-4A6B-AF65-70A3ADEAFA7E}" type="presOf" srcId="{9A908DAC-57EC-4315-9BA0-79A1D7F907E0}" destId="{D1AB578E-273F-4441-BBC7-E8917024C1A7}" srcOrd="0" destOrd="0" presId="urn:microsoft.com/office/officeart/2005/8/layout/hList6"/>
    <dgm:cxn modelId="{14F56BA9-08FF-459F-A2CF-795D7E8EC453}" srcId="{32A90147-6DBE-4E90-AB6A-9ECF245FA77F}" destId="{80AAF91A-F6D1-4862-AD5F-13C2DD77E230}" srcOrd="0" destOrd="0" parTransId="{16A16B20-B6F5-4222-94DB-913756DB724C}" sibTransId="{2CA34471-A1C3-4B3F-9D6A-FD0CA5332BF5}"/>
    <dgm:cxn modelId="{A4D4FFBB-DDA3-461B-B657-E38ACEE7EC03}" type="presOf" srcId="{D8A9053F-23C6-490D-9E9D-3A4CB888315A}" destId="{C6011CC2-03F2-4306-B09C-D6B70D350B33}" srcOrd="0" destOrd="3" presId="urn:microsoft.com/office/officeart/2005/8/layout/hList6"/>
    <dgm:cxn modelId="{205FE0BD-7055-4F8A-8AA2-11BE0A863D0E}" type="presOf" srcId="{56404A18-1F04-4D2D-B5AD-B28B531B89C6}" destId="{C6011CC2-03F2-4306-B09C-D6B70D350B33}" srcOrd="0" destOrd="0" presId="urn:microsoft.com/office/officeart/2005/8/layout/hList6"/>
    <dgm:cxn modelId="{D7C93AC6-BE9E-43E4-906B-E19A9BE8BFF5}" srcId="{56404A18-1F04-4D2D-B5AD-B28B531B89C6}" destId="{5D9647EF-2CAF-419C-BF7F-D7EE61CBE55C}" srcOrd="0" destOrd="0" parTransId="{99AA6D4F-586E-42FF-9F7E-DEB6B48E266C}" sibTransId="{901580A1-8A3D-45F2-A85F-D3AECA7EF16C}"/>
    <dgm:cxn modelId="{34F787D2-6127-47E8-A579-7D19E653E289}" type="presOf" srcId="{EE23BD6E-E41E-4C40-8615-F24514E8D4AB}" destId="{C6011CC2-03F2-4306-B09C-D6B70D350B33}" srcOrd="0" destOrd="2" presId="urn:microsoft.com/office/officeart/2005/8/layout/hList6"/>
    <dgm:cxn modelId="{BF6D32DB-45ED-4C18-A874-D9D766F4EAF8}" srcId="{32A90147-6DBE-4E90-AB6A-9ECF245FA77F}" destId="{43354A04-1D91-4240-88E9-4C80CE8A054C}" srcOrd="2" destOrd="0" parTransId="{83F6CA36-20C2-4DC8-9759-45AABD8090C6}" sibTransId="{9D615E74-6A7D-427F-ABE7-CF84D0843F1D}"/>
    <dgm:cxn modelId="{252D44F3-1CA6-490C-8CA3-34EB8832A5DC}" srcId="{9A908DAC-57EC-4315-9BA0-79A1D7F907E0}" destId="{32A90147-6DBE-4E90-AB6A-9ECF245FA77F}" srcOrd="1" destOrd="0" parTransId="{BDF831B8-56E9-4A2B-A878-5CEDF3583DA9}" sibTransId="{B440FF44-A1FD-4B3F-B7A7-0E650F9E1395}"/>
    <dgm:cxn modelId="{F675FD22-A679-4D24-B873-55B877BF44B0}" type="presParOf" srcId="{D1AB578E-273F-4441-BBC7-E8917024C1A7}" destId="{C6011CC2-03F2-4306-B09C-D6B70D350B33}" srcOrd="0" destOrd="0" presId="urn:microsoft.com/office/officeart/2005/8/layout/hList6"/>
    <dgm:cxn modelId="{D70D2276-0790-4B99-AF58-7CAE40498E9B}" type="presParOf" srcId="{D1AB578E-273F-4441-BBC7-E8917024C1A7}" destId="{6FBD48B7-FA69-4F76-BBF3-7EB988EBDDD2}" srcOrd="1" destOrd="0" presId="urn:microsoft.com/office/officeart/2005/8/layout/hList6"/>
    <dgm:cxn modelId="{5FA6DFCB-8918-4B1C-B95B-3383688ADF57}" type="presParOf" srcId="{D1AB578E-273F-4441-BBC7-E8917024C1A7}" destId="{0D1DF0BC-C1B5-4E04-A11B-9405C7744C8A}" srcOrd="2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011CC2-03F2-4306-B09C-D6B70D350B33}">
      <dsp:nvSpPr>
        <dsp:cNvPr id="0" name=""/>
        <dsp:cNvSpPr/>
      </dsp:nvSpPr>
      <dsp:spPr>
        <a:xfrm rot="16200000">
          <a:off x="-128819" y="133308"/>
          <a:ext cx="4584525" cy="4317907"/>
        </a:xfrm>
        <a:prstGeom prst="flowChartManualOperation">
          <a:avLst/>
        </a:prstGeom>
        <a:solidFill>
          <a:srgbClr val="ABD9CE">
            <a:alpha val="9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0" rIns="15240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ECC…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GL Accounts created for different product types on which conversion is based in GPM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Issues in mismatches between MM and account determination (i.e. product type does not match category of the GL account) 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Different logic for different applications in BW </a:t>
          </a:r>
        </a:p>
      </dsp:txBody>
      <dsp:txXfrm rot="5400000">
        <a:off x="4490" y="916904"/>
        <a:ext cx="4317907" cy="2750715"/>
      </dsp:txXfrm>
    </dsp:sp>
    <dsp:sp modelId="{0D1DF0BC-C1B5-4E04-A11B-9405C7744C8A}">
      <dsp:nvSpPr>
        <dsp:cNvPr id="0" name=""/>
        <dsp:cNvSpPr/>
      </dsp:nvSpPr>
      <dsp:spPr>
        <a:xfrm rot="16200000">
          <a:off x="4512930" y="133308"/>
          <a:ext cx="4584525" cy="4317907"/>
        </a:xfrm>
        <a:prstGeom prst="flowChartManualOperation">
          <a:avLst/>
        </a:prstGeom>
        <a:solidFill>
          <a:schemeClr val="accent3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0" rIns="15240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…S/4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Conversion linked to the source data of MM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One Logic for all applications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Standard SAP functionality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Flexible solution to tailor for specificities if needed</a:t>
          </a:r>
        </a:p>
      </dsp:txBody>
      <dsp:txXfrm rot="5400000">
        <a:off x="4646239" y="916904"/>
        <a:ext cx="4317907" cy="27507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1.bin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46816"/>
            <a:ext cx="12193200" cy="4993114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0" y="4199439"/>
            <a:ext cx="12192000" cy="1440000"/>
          </a:xfrm>
          <a:prstGeom prst="rect">
            <a:avLst/>
          </a:prstGeom>
          <a:solidFill>
            <a:schemeClr val="accent2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480B215-A81F-481D-8C0E-6BF46A6156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999" y="5879560"/>
            <a:ext cx="829976" cy="6212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6C11B0-82D2-4B1D-A080-5DEC7B98E4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4199439"/>
            <a:ext cx="8472253" cy="1440000"/>
          </a:xfrm>
        </p:spPr>
        <p:txBody>
          <a:bodyPr anchor="ctr" anchorCtr="0"/>
          <a:lstStyle>
            <a:lvl1pPr algn="l">
              <a:defRPr sz="44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0359" y="4381467"/>
            <a:ext cx="1118616" cy="1075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98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2BE79-9CF6-49D0-828F-83304EE10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276" y="210344"/>
            <a:ext cx="8902723" cy="9842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31794-EBBB-48C2-B2AE-5771C52F0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3pPr marL="400050" indent="-195263"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396C8-82EE-4828-BB90-F70077CC6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in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CAEA2-92AB-4512-A9D7-FD0A72486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‹#›</a:t>
            </a:fld>
            <a:endParaRPr lang="en-GB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10086109" y="417870"/>
            <a:ext cx="2105891" cy="569193"/>
            <a:chOff x="10086109" y="5763491"/>
            <a:chExt cx="2105891" cy="569193"/>
          </a:xfrm>
        </p:grpSpPr>
        <p:sp>
          <p:nvSpPr>
            <p:cNvPr id="8" name="Rectangle 7"/>
            <p:cNvSpPr/>
            <p:nvPr/>
          </p:nvSpPr>
          <p:spPr>
            <a:xfrm>
              <a:off x="10086109" y="5763491"/>
              <a:ext cx="2105891" cy="51904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10538695" y="5812704"/>
              <a:ext cx="1343888" cy="519980"/>
              <a:chOff x="515938" y="466803"/>
              <a:chExt cx="2499478" cy="967103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515938" y="466803"/>
                <a:ext cx="281354" cy="780960"/>
                <a:chOff x="4342156" y="2541184"/>
                <a:chExt cx="219003" cy="683186"/>
              </a:xfrm>
            </p:grpSpPr>
            <p:sp>
              <p:nvSpPr>
                <p:cNvPr id="12" name="Rectangle 11"/>
                <p:cNvSpPr/>
                <p:nvPr/>
              </p:nvSpPr>
              <p:spPr>
                <a:xfrm>
                  <a:off x="4342156" y="2541184"/>
                  <a:ext cx="92606" cy="544709"/>
                </a:xfrm>
                <a:prstGeom prst="rect">
                  <a:avLst/>
                </a:prstGeom>
                <a:solidFill>
                  <a:schemeClr val="tx2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Rounded Rectangle 12"/>
                <p:cNvSpPr/>
                <p:nvPr/>
              </p:nvSpPr>
              <p:spPr bwMode="auto">
                <a:xfrm>
                  <a:off x="4475003" y="2541184"/>
                  <a:ext cx="86156" cy="683186"/>
                </a:xfrm>
                <a:prstGeom prst="roundRect">
                  <a:avLst>
                    <a:gd name="adj" fmla="val 6597"/>
                  </a:avLst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vert="horz" wrap="square" lIns="0" tIns="0" rIns="0" bIns="0" numCol="1" rtlCol="0" anchor="ctr" anchorCtr="1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122632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sp>
            <p:nvSpPr>
              <p:cNvPr id="11" name="TextBox 10"/>
              <p:cNvSpPr txBox="1"/>
              <p:nvPr/>
            </p:nvSpPr>
            <p:spPr>
              <a:xfrm>
                <a:off x="891194" y="589844"/>
                <a:ext cx="2124222" cy="8440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l"/>
                <a:r>
                  <a:rPr lang="en-US" sz="2000" b="1">
                    <a:solidFill>
                      <a:schemeClr val="bg1"/>
                    </a:solidFill>
                  </a:rPr>
                  <a:t>S4F-ERP</a:t>
                </a:r>
              </a:p>
            </p:txBody>
          </p:sp>
        </p:grpSp>
      </p:grpSp>
      <p:sp>
        <p:nvSpPr>
          <p:cNvPr id="14" name="Rectangle 13"/>
          <p:cNvSpPr/>
          <p:nvPr userDrawn="1"/>
        </p:nvSpPr>
        <p:spPr>
          <a:xfrm>
            <a:off x="0" y="678873"/>
            <a:ext cx="207818" cy="596878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515937" y="326276"/>
            <a:ext cx="902611" cy="902611"/>
            <a:chOff x="515937" y="326276"/>
            <a:chExt cx="902611" cy="902611"/>
          </a:xfrm>
        </p:grpSpPr>
        <p:grpSp>
          <p:nvGrpSpPr>
            <p:cNvPr id="17" name="Group 16"/>
            <p:cNvGrpSpPr/>
            <p:nvPr/>
          </p:nvGrpSpPr>
          <p:grpSpPr>
            <a:xfrm>
              <a:off x="515937" y="326276"/>
              <a:ext cx="902611" cy="902611"/>
              <a:chOff x="4492144" y="190843"/>
              <a:chExt cx="855656" cy="855656"/>
            </a:xfrm>
          </p:grpSpPr>
          <p:sp>
            <p:nvSpPr>
              <p:cNvPr id="18" name="Oval 17"/>
              <p:cNvSpPr/>
              <p:nvPr/>
            </p:nvSpPr>
            <p:spPr>
              <a:xfrm>
                <a:off x="4492144" y="190843"/>
                <a:ext cx="855656" cy="855656"/>
              </a:xfrm>
              <a:prstGeom prst="ellipse">
                <a:avLst/>
              </a:prstGeom>
              <a:solidFill>
                <a:schemeClr val="bg1"/>
              </a:solidFill>
              <a:ln w="76200"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" name="Oval 18"/>
              <p:cNvSpPr/>
              <p:nvPr/>
            </p:nvSpPr>
            <p:spPr>
              <a:xfrm>
                <a:off x="4551137" y="249836"/>
                <a:ext cx="737671" cy="737671"/>
              </a:xfrm>
              <a:prstGeom prst="ellipse">
                <a:avLst/>
              </a:prstGeom>
              <a:solidFill>
                <a:schemeClr val="accent2"/>
              </a:solidFill>
              <a:ln w="76200"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pic>
          <p:nvPicPr>
            <p:cNvPr id="20" name="Picture 19"/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34805" y="553120"/>
              <a:ext cx="448056" cy="4297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80873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2BE79-9CF6-49D0-828F-83304EE10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277" y="210344"/>
            <a:ext cx="8902723" cy="9842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31794-EBBB-48C2-B2AE-5771C52F0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695450"/>
            <a:ext cx="4824413" cy="4587081"/>
          </a:xfrm>
        </p:spPr>
        <p:txBody>
          <a:bodyPr/>
          <a:lstStyle>
            <a:lvl1pPr>
              <a:defRPr sz="1400"/>
            </a:lvl1pPr>
            <a:lvl2pPr marL="165100" indent="-165100">
              <a:defRPr sz="1400"/>
            </a:lvl2pPr>
            <a:lvl3pPr marL="344488" indent="-160338">
              <a:defRPr sz="1200"/>
            </a:lvl3pPr>
            <a:lvl4pPr marL="544513" indent="-184150">
              <a:defRPr sz="1100"/>
            </a:lvl4pPr>
            <a:lvl5pPr marL="746125" indent="-176213"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396C8-82EE-4828-BB90-F70077CC6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in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CAEA2-92AB-4512-A9D7-FD0A72486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0463241-5450-4976-8525-5C06611D08B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591175" y="1695450"/>
            <a:ext cx="6084886" cy="4587081"/>
          </a:xfrm>
        </p:spPr>
        <p:txBody>
          <a:bodyPr/>
          <a:lstStyle>
            <a:lvl1pPr>
              <a:defRPr sz="1400"/>
            </a:lvl1pPr>
            <a:lvl2pPr marL="165100" indent="-165100">
              <a:defRPr sz="1400"/>
            </a:lvl2pPr>
            <a:lvl3pPr marL="344488" indent="-160338">
              <a:defRPr sz="1200"/>
            </a:lvl3pPr>
            <a:lvl4pPr marL="544513" indent="-184150">
              <a:defRPr sz="1100"/>
            </a:lvl4pPr>
            <a:lvl5pPr marL="746125" indent="-176213"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515938" y="1344706"/>
            <a:ext cx="11160123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 userDrawn="1"/>
        </p:nvGrpSpPr>
        <p:grpSpPr>
          <a:xfrm>
            <a:off x="10086109" y="417870"/>
            <a:ext cx="2105891" cy="569193"/>
            <a:chOff x="10086109" y="5763491"/>
            <a:chExt cx="2105891" cy="569193"/>
          </a:xfrm>
        </p:grpSpPr>
        <p:sp>
          <p:nvSpPr>
            <p:cNvPr id="11" name="Rectangle 10"/>
            <p:cNvSpPr/>
            <p:nvPr/>
          </p:nvSpPr>
          <p:spPr>
            <a:xfrm>
              <a:off x="10086109" y="5763491"/>
              <a:ext cx="2105891" cy="51904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10538695" y="5812704"/>
              <a:ext cx="1343888" cy="519980"/>
              <a:chOff x="515938" y="466803"/>
              <a:chExt cx="2499478" cy="967103"/>
            </a:xfrm>
          </p:grpSpPr>
          <p:grpSp>
            <p:nvGrpSpPr>
              <p:cNvPr id="13" name="Group 12"/>
              <p:cNvGrpSpPr/>
              <p:nvPr/>
            </p:nvGrpSpPr>
            <p:grpSpPr>
              <a:xfrm>
                <a:off x="515938" y="466803"/>
                <a:ext cx="281354" cy="780960"/>
                <a:chOff x="4342156" y="2541184"/>
                <a:chExt cx="219003" cy="683186"/>
              </a:xfrm>
            </p:grpSpPr>
            <p:sp>
              <p:nvSpPr>
                <p:cNvPr id="15" name="Rectangle 14"/>
                <p:cNvSpPr/>
                <p:nvPr/>
              </p:nvSpPr>
              <p:spPr>
                <a:xfrm>
                  <a:off x="4342156" y="2541184"/>
                  <a:ext cx="92606" cy="544709"/>
                </a:xfrm>
                <a:prstGeom prst="rect">
                  <a:avLst/>
                </a:prstGeom>
                <a:solidFill>
                  <a:schemeClr val="tx2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6" name="Rounded Rectangle 15"/>
                <p:cNvSpPr/>
                <p:nvPr/>
              </p:nvSpPr>
              <p:spPr bwMode="auto">
                <a:xfrm>
                  <a:off x="4475003" y="2541184"/>
                  <a:ext cx="86156" cy="683186"/>
                </a:xfrm>
                <a:prstGeom prst="roundRect">
                  <a:avLst>
                    <a:gd name="adj" fmla="val 6597"/>
                  </a:avLst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vert="horz" wrap="square" lIns="0" tIns="0" rIns="0" bIns="0" numCol="1" rtlCol="0" anchor="ctr" anchorCtr="1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122632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sp>
            <p:nvSpPr>
              <p:cNvPr id="14" name="TextBox 13"/>
              <p:cNvSpPr txBox="1"/>
              <p:nvPr/>
            </p:nvSpPr>
            <p:spPr>
              <a:xfrm>
                <a:off x="891194" y="589844"/>
                <a:ext cx="2124222" cy="8440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l"/>
                <a:r>
                  <a:rPr lang="en-US" sz="2000" b="1">
                    <a:solidFill>
                      <a:schemeClr val="bg1"/>
                    </a:solidFill>
                  </a:rPr>
                  <a:t>S4F-ERP</a:t>
                </a:r>
              </a:p>
            </p:txBody>
          </p:sp>
        </p:grpSp>
      </p:grpSp>
      <p:sp>
        <p:nvSpPr>
          <p:cNvPr id="17" name="Rectangle 16"/>
          <p:cNvSpPr/>
          <p:nvPr userDrawn="1"/>
        </p:nvSpPr>
        <p:spPr>
          <a:xfrm>
            <a:off x="0" y="678873"/>
            <a:ext cx="207818" cy="596878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3" name="Group 22"/>
          <p:cNvGrpSpPr/>
          <p:nvPr userDrawn="1"/>
        </p:nvGrpSpPr>
        <p:grpSpPr>
          <a:xfrm>
            <a:off x="515937" y="326276"/>
            <a:ext cx="902611" cy="902611"/>
            <a:chOff x="515937" y="326276"/>
            <a:chExt cx="902611" cy="902611"/>
          </a:xfrm>
        </p:grpSpPr>
        <p:grpSp>
          <p:nvGrpSpPr>
            <p:cNvPr id="24" name="Group 23"/>
            <p:cNvGrpSpPr/>
            <p:nvPr/>
          </p:nvGrpSpPr>
          <p:grpSpPr>
            <a:xfrm>
              <a:off x="515937" y="326276"/>
              <a:ext cx="902611" cy="902611"/>
              <a:chOff x="4492144" y="190843"/>
              <a:chExt cx="855656" cy="855656"/>
            </a:xfrm>
          </p:grpSpPr>
          <p:sp>
            <p:nvSpPr>
              <p:cNvPr id="26" name="Oval 25"/>
              <p:cNvSpPr/>
              <p:nvPr/>
            </p:nvSpPr>
            <p:spPr>
              <a:xfrm>
                <a:off x="4492144" y="190843"/>
                <a:ext cx="855656" cy="855656"/>
              </a:xfrm>
              <a:prstGeom prst="ellipse">
                <a:avLst/>
              </a:prstGeom>
              <a:solidFill>
                <a:schemeClr val="bg1"/>
              </a:solidFill>
              <a:ln w="76200"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7" name="Oval 26"/>
              <p:cNvSpPr/>
              <p:nvPr/>
            </p:nvSpPr>
            <p:spPr>
              <a:xfrm>
                <a:off x="4551137" y="249836"/>
                <a:ext cx="737671" cy="737671"/>
              </a:xfrm>
              <a:prstGeom prst="ellipse">
                <a:avLst/>
              </a:prstGeom>
              <a:solidFill>
                <a:schemeClr val="accent2"/>
              </a:solidFill>
              <a:ln w="76200"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34805" y="553120"/>
              <a:ext cx="448056" cy="4297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56569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08513E-D1D6-4909-A6A1-E798C3840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in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81A9FA-9619-43AB-B085-D7F021094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511277" y="210344"/>
            <a:ext cx="8902723" cy="98424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7" name="Group 6"/>
          <p:cNvGrpSpPr/>
          <p:nvPr userDrawn="1"/>
        </p:nvGrpSpPr>
        <p:grpSpPr>
          <a:xfrm>
            <a:off x="10086109" y="417870"/>
            <a:ext cx="2105891" cy="569193"/>
            <a:chOff x="10086109" y="5763491"/>
            <a:chExt cx="2105891" cy="569193"/>
          </a:xfrm>
        </p:grpSpPr>
        <p:sp>
          <p:nvSpPr>
            <p:cNvPr id="8" name="Rectangle 7"/>
            <p:cNvSpPr/>
            <p:nvPr/>
          </p:nvSpPr>
          <p:spPr>
            <a:xfrm>
              <a:off x="10086109" y="5763491"/>
              <a:ext cx="2105891" cy="51904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10538695" y="5812704"/>
              <a:ext cx="1343888" cy="519980"/>
              <a:chOff x="515938" y="466803"/>
              <a:chExt cx="2499478" cy="967103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515938" y="466803"/>
                <a:ext cx="281354" cy="780960"/>
                <a:chOff x="4342156" y="2541184"/>
                <a:chExt cx="219003" cy="683186"/>
              </a:xfrm>
            </p:grpSpPr>
            <p:sp>
              <p:nvSpPr>
                <p:cNvPr id="12" name="Rectangle 11"/>
                <p:cNvSpPr/>
                <p:nvPr/>
              </p:nvSpPr>
              <p:spPr>
                <a:xfrm>
                  <a:off x="4342156" y="2541184"/>
                  <a:ext cx="92606" cy="544709"/>
                </a:xfrm>
                <a:prstGeom prst="rect">
                  <a:avLst/>
                </a:prstGeom>
                <a:solidFill>
                  <a:schemeClr val="tx2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Rounded Rectangle 12"/>
                <p:cNvSpPr/>
                <p:nvPr/>
              </p:nvSpPr>
              <p:spPr bwMode="auto">
                <a:xfrm>
                  <a:off x="4475003" y="2541184"/>
                  <a:ext cx="86156" cy="683186"/>
                </a:xfrm>
                <a:prstGeom prst="roundRect">
                  <a:avLst>
                    <a:gd name="adj" fmla="val 6597"/>
                  </a:avLst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vert="horz" wrap="square" lIns="0" tIns="0" rIns="0" bIns="0" numCol="1" rtlCol="0" anchor="ctr" anchorCtr="1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122632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sp>
            <p:nvSpPr>
              <p:cNvPr id="11" name="TextBox 10"/>
              <p:cNvSpPr txBox="1"/>
              <p:nvPr/>
            </p:nvSpPr>
            <p:spPr>
              <a:xfrm>
                <a:off x="891194" y="589844"/>
                <a:ext cx="2124222" cy="8440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l"/>
                <a:r>
                  <a:rPr lang="en-US" sz="2000" b="1">
                    <a:solidFill>
                      <a:schemeClr val="bg1"/>
                    </a:solidFill>
                  </a:rPr>
                  <a:t>S4F-ERP</a:t>
                </a:r>
              </a:p>
            </p:txBody>
          </p:sp>
        </p:grpSp>
      </p:grpSp>
      <p:sp>
        <p:nvSpPr>
          <p:cNvPr id="14" name="Rectangle 13"/>
          <p:cNvSpPr/>
          <p:nvPr userDrawn="1"/>
        </p:nvSpPr>
        <p:spPr>
          <a:xfrm>
            <a:off x="0" y="678873"/>
            <a:ext cx="207818" cy="596878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515937" y="326276"/>
            <a:ext cx="902611" cy="902611"/>
            <a:chOff x="515937" y="326276"/>
            <a:chExt cx="902611" cy="902611"/>
          </a:xfrm>
        </p:grpSpPr>
        <p:grpSp>
          <p:nvGrpSpPr>
            <p:cNvPr id="21" name="Group 20"/>
            <p:cNvGrpSpPr/>
            <p:nvPr/>
          </p:nvGrpSpPr>
          <p:grpSpPr>
            <a:xfrm>
              <a:off x="515937" y="326276"/>
              <a:ext cx="902611" cy="902611"/>
              <a:chOff x="4492144" y="190843"/>
              <a:chExt cx="855656" cy="855656"/>
            </a:xfrm>
          </p:grpSpPr>
          <p:sp>
            <p:nvSpPr>
              <p:cNvPr id="23" name="Oval 22"/>
              <p:cNvSpPr/>
              <p:nvPr/>
            </p:nvSpPr>
            <p:spPr>
              <a:xfrm>
                <a:off x="4492144" y="190843"/>
                <a:ext cx="855656" cy="855656"/>
              </a:xfrm>
              <a:prstGeom prst="ellipse">
                <a:avLst/>
              </a:prstGeom>
              <a:solidFill>
                <a:schemeClr val="bg1"/>
              </a:solidFill>
              <a:ln w="76200"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4" name="Oval 23"/>
              <p:cNvSpPr/>
              <p:nvPr/>
            </p:nvSpPr>
            <p:spPr>
              <a:xfrm>
                <a:off x="4551137" y="249836"/>
                <a:ext cx="737671" cy="737671"/>
              </a:xfrm>
              <a:prstGeom prst="ellipse">
                <a:avLst/>
              </a:prstGeom>
              <a:solidFill>
                <a:schemeClr val="accent2"/>
              </a:solidFill>
              <a:ln w="76200"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pic>
          <p:nvPicPr>
            <p:cNvPr id="22" name="Picture 21"/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34805" y="553120"/>
              <a:ext cx="448056" cy="4297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06032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der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5EFAC8-0232-4ACB-8A16-76099AC73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1947863"/>
            <a:ext cx="8961437" cy="4334668"/>
          </a:xfrm>
        </p:spPr>
        <p:txBody>
          <a:bodyPr anchor="t" anchorCtr="0"/>
          <a:lstStyle>
            <a:lvl1pPr>
              <a:lnSpc>
                <a:spcPct val="80000"/>
              </a:lnSpc>
              <a:defRPr sz="5400" cap="all" spc="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BD97A-1CD4-44FA-84FA-934F1FF54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 in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2C075-17B3-4F6A-89D1-B6091271B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C94289-3309-4C35-850A-56FD49B3E346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04388B-09B7-42D5-B607-EFED05EEE73A}"/>
              </a:ext>
            </a:extLst>
          </p:cNvPr>
          <p:cNvSpPr txBox="1"/>
          <p:nvPr userDrawn="1"/>
        </p:nvSpPr>
        <p:spPr>
          <a:xfrm>
            <a:off x="515938" y="6282531"/>
            <a:ext cx="1799722" cy="3651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00">
                <a:solidFill>
                  <a:schemeClr val="bg1"/>
                </a:solidFill>
              </a:rPr>
              <a:t>© </a:t>
            </a:r>
            <a:r>
              <a:rPr lang="en-GB" sz="800" err="1">
                <a:solidFill>
                  <a:schemeClr val="bg1"/>
                </a:solidFill>
              </a:rPr>
              <a:t>JTI</a:t>
            </a:r>
            <a:r>
              <a:rPr lang="en-GB" sz="800">
                <a:solidFill>
                  <a:schemeClr val="bg1"/>
                </a:solidFill>
              </a:rPr>
              <a:t> 2019 Confidential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2F868E-F9E5-4FD0-AA54-A0611266E9A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08226" y="1887473"/>
            <a:ext cx="767837" cy="5747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1E89007-8C14-45BA-9B75-C9A19A48430E}"/>
              </a:ext>
            </a:extLst>
          </p:cNvPr>
          <p:cNvSpPr txBox="1"/>
          <p:nvPr userDrawn="1"/>
        </p:nvSpPr>
        <p:spPr>
          <a:xfrm>
            <a:off x="4703985" y="6535710"/>
            <a:ext cx="2802070" cy="27683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latin typeface="+mn-lt"/>
                <a:ea typeface="Roboto" charset="0"/>
                <a:cs typeface="Roboto" charset="0"/>
              </a:rPr>
              <a:t>Simplify, Standardize, Accelerate </a:t>
            </a:r>
          </a:p>
        </p:txBody>
      </p:sp>
    </p:spTree>
    <p:extLst>
      <p:ext uri="{BB962C8B-B14F-4D97-AF65-F5344CB8AC3E}">
        <p14:creationId xmlns:p14="http://schemas.microsoft.com/office/powerpoint/2010/main" val="2791249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der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5EFAC8-0232-4ACB-8A16-76099AC73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819338"/>
            <a:ext cx="8961437" cy="1463192"/>
          </a:xfrm>
        </p:spPr>
        <p:txBody>
          <a:bodyPr anchor="t" anchorCtr="0"/>
          <a:lstStyle>
            <a:lvl1pPr>
              <a:lnSpc>
                <a:spcPct val="80000"/>
              </a:lnSpc>
              <a:defRPr sz="5400" cap="all" spc="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BD97A-1CD4-44FA-84FA-934F1FF54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 in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2C075-17B3-4F6A-89D1-B6091271B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C94289-3309-4C35-850A-56FD49B3E346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04388B-09B7-42D5-B607-EFED05EEE73A}"/>
              </a:ext>
            </a:extLst>
          </p:cNvPr>
          <p:cNvSpPr txBox="1"/>
          <p:nvPr userDrawn="1"/>
        </p:nvSpPr>
        <p:spPr>
          <a:xfrm>
            <a:off x="515938" y="6282531"/>
            <a:ext cx="1799722" cy="3651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00">
                <a:solidFill>
                  <a:schemeClr val="bg1"/>
                </a:solidFill>
              </a:rPr>
              <a:t>© </a:t>
            </a:r>
            <a:r>
              <a:rPr lang="en-GB" sz="800" err="1">
                <a:solidFill>
                  <a:schemeClr val="bg1"/>
                </a:solidFill>
              </a:rPr>
              <a:t>JTI</a:t>
            </a:r>
            <a:r>
              <a:rPr lang="en-GB" sz="800">
                <a:solidFill>
                  <a:schemeClr val="bg1"/>
                </a:solidFill>
              </a:rPr>
              <a:t> 2019 Confidential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2F868E-F9E5-4FD0-AA54-A0611266E9A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08226" y="1887473"/>
            <a:ext cx="767837" cy="5747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1E89007-8C14-45BA-9B75-C9A19A48430E}"/>
              </a:ext>
            </a:extLst>
          </p:cNvPr>
          <p:cNvSpPr txBox="1"/>
          <p:nvPr userDrawn="1"/>
        </p:nvSpPr>
        <p:spPr>
          <a:xfrm>
            <a:off x="4703985" y="6535710"/>
            <a:ext cx="2802070" cy="27683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latin typeface="+mn-lt"/>
                <a:ea typeface="Roboto" charset="0"/>
                <a:cs typeface="Roboto" charset="0"/>
              </a:rPr>
              <a:t>Simplify, Standardize, Accelerate </a:t>
            </a:r>
          </a:p>
        </p:txBody>
      </p:sp>
    </p:spTree>
    <p:extLst>
      <p:ext uri="{BB962C8B-B14F-4D97-AF65-F5344CB8AC3E}">
        <p14:creationId xmlns:p14="http://schemas.microsoft.com/office/powerpoint/2010/main" val="2379175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pectrum Titl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45274"/>
            <a:ext cx="12193587" cy="50012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6C11B0-82D2-4B1D-A080-5DEC7B98E4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1103313"/>
            <a:ext cx="11161713" cy="1468437"/>
          </a:xfrm>
        </p:spPr>
        <p:txBody>
          <a:bodyPr anchor="b" anchorCtr="0"/>
          <a:lstStyle>
            <a:lvl1pPr algn="l">
              <a:defRPr sz="44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31D629-EA3E-4A82-8438-59B781EBBD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4350" y="2703059"/>
            <a:ext cx="8295821" cy="1655762"/>
          </a:xfrm>
        </p:spPr>
        <p:txBody>
          <a:bodyPr anchor="t" anchorCtr="0"/>
          <a:lstStyle>
            <a:lvl1pPr marL="0" indent="0" algn="l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480B215-A81F-481D-8C0E-6BF46A6156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999" y="5879560"/>
            <a:ext cx="829976" cy="621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969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der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5EFAC8-0232-4ACB-8A16-76099AC73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1947863"/>
            <a:ext cx="8961437" cy="4334668"/>
          </a:xfrm>
        </p:spPr>
        <p:txBody>
          <a:bodyPr anchor="t" anchorCtr="0"/>
          <a:lstStyle>
            <a:lvl1pPr>
              <a:lnSpc>
                <a:spcPct val="80000"/>
              </a:lnSpc>
              <a:defRPr sz="5400" cap="all" spc="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BD97A-1CD4-44FA-84FA-934F1FF54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Presentation title in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2C075-17B3-4F6A-89D1-B6091271B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C94289-3309-4C35-850A-56FD49B3E346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04388B-09B7-42D5-B607-EFED05EEE73A}"/>
              </a:ext>
            </a:extLst>
          </p:cNvPr>
          <p:cNvSpPr txBox="1"/>
          <p:nvPr userDrawn="1"/>
        </p:nvSpPr>
        <p:spPr>
          <a:xfrm>
            <a:off x="515938" y="6282531"/>
            <a:ext cx="1799722" cy="3651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</a:t>
            </a:r>
            <a:r>
              <a:rPr kumimoji="0" lang="en-GB" sz="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JTI</a:t>
            </a: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2019 Confidential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2F868E-F9E5-4FD0-AA54-A0611266E9A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08226" y="1887473"/>
            <a:ext cx="767837" cy="5747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1E89007-8C14-45BA-9B75-C9A19A48430E}"/>
              </a:ext>
            </a:extLst>
          </p:cNvPr>
          <p:cNvSpPr txBox="1"/>
          <p:nvPr userDrawn="1"/>
        </p:nvSpPr>
        <p:spPr>
          <a:xfrm>
            <a:off x="4703985" y="6535710"/>
            <a:ext cx="2802070" cy="27683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Roboto" charset="0"/>
                <a:cs typeface="Roboto" charset="0"/>
              </a:rPr>
              <a:t>Simplify, Standardize, Accelerate </a:t>
            </a:r>
          </a:p>
        </p:txBody>
      </p:sp>
    </p:spTree>
    <p:extLst>
      <p:ext uri="{BB962C8B-B14F-4D97-AF65-F5344CB8AC3E}">
        <p14:creationId xmlns:p14="http://schemas.microsoft.com/office/powerpoint/2010/main" val="3338274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938" y="12539"/>
            <a:ext cx="10837863" cy="1325563"/>
          </a:xfrm>
        </p:spPr>
        <p:txBody>
          <a:bodyPr>
            <a:normAutofit/>
          </a:bodyPr>
          <a:lstStyle>
            <a:lvl1pPr>
              <a:defRPr sz="3199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5131794-EBBB-48C2-B2AE-5771C52F0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8" y="1695452"/>
            <a:ext cx="10837863" cy="4067101"/>
          </a:xfrm>
        </p:spPr>
        <p:txBody>
          <a:bodyPr/>
          <a:lstStyle>
            <a:lvl3pPr marL="399930" indent="-195204"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7316057" y="6356352"/>
            <a:ext cx="4114800" cy="365125"/>
          </a:xfrm>
        </p:spPr>
        <p:txBody>
          <a:bodyPr/>
          <a:lstStyle>
            <a:lvl1pPr algn="r">
              <a:defRPr sz="800"/>
            </a:lvl1pPr>
          </a:lstStyle>
          <a:p>
            <a:pPr>
              <a:defRPr/>
            </a:pPr>
            <a:fld id="{737923CA-60CF-4E27-AE00-5869EACE0DF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288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1BBF04DD-055F-4DF8-8046-823C8DE061D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think-cell Slide" r:id="rId5" imgW="415" imgH="416" progId="TCLayout.ActiveDocument.1">
                  <p:embed/>
                </p:oleObj>
              </mc:Choice>
              <mc:Fallback>
                <p:oleObj name="think-cell Slide" r:id="rId5" imgW="415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1BBF04DD-055F-4DF8-8046-823C8DE061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31270673-9415-401F-89B5-DB068CE9828E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3199" b="1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0" y="-11151"/>
            <a:ext cx="12192000" cy="6869151"/>
            <a:chOff x="0" y="-11151"/>
            <a:chExt cx="12192000" cy="6869151"/>
          </a:xfrm>
        </p:grpSpPr>
        <p:grpSp>
          <p:nvGrpSpPr>
            <p:cNvPr id="7" name="Group 6"/>
            <p:cNvGrpSpPr/>
            <p:nvPr/>
          </p:nvGrpSpPr>
          <p:grpSpPr>
            <a:xfrm>
              <a:off x="0" y="30978"/>
              <a:ext cx="7346443" cy="6827022"/>
              <a:chOff x="0" y="30978"/>
              <a:chExt cx="7346443" cy="6827022"/>
            </a:xfrm>
          </p:grpSpPr>
          <p:sp>
            <p:nvSpPr>
              <p:cNvPr id="9" name="Freeform 8"/>
              <p:cNvSpPr/>
              <p:nvPr/>
            </p:nvSpPr>
            <p:spPr>
              <a:xfrm>
                <a:off x="0" y="30978"/>
                <a:ext cx="7346443" cy="6827022"/>
              </a:xfrm>
              <a:custGeom>
                <a:avLst/>
                <a:gdLst>
                  <a:gd name="connsiteX0" fmla="*/ 0 w 7346443"/>
                  <a:gd name="connsiteY0" fmla="*/ 0 h 6827022"/>
                  <a:gd name="connsiteX1" fmla="*/ 7346443 w 7346443"/>
                  <a:gd name="connsiteY1" fmla="*/ 6827022 h 6827022"/>
                  <a:gd name="connsiteX2" fmla="*/ 0 w 7346443"/>
                  <a:gd name="connsiteY2" fmla="*/ 6827022 h 6827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346443" h="6827022">
                    <a:moveTo>
                      <a:pt x="0" y="0"/>
                    </a:moveTo>
                    <a:lnTo>
                      <a:pt x="7346443" y="6827022"/>
                    </a:lnTo>
                    <a:lnTo>
                      <a:pt x="0" y="6827022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600"/>
              </a:p>
            </p:txBody>
          </p:sp>
          <p:sp>
            <p:nvSpPr>
              <p:cNvPr id="10" name="Freeform 9"/>
              <p:cNvSpPr/>
              <p:nvPr/>
            </p:nvSpPr>
            <p:spPr>
              <a:xfrm>
                <a:off x="0" y="1696574"/>
                <a:ext cx="802656" cy="1625366"/>
              </a:xfrm>
              <a:custGeom>
                <a:avLst/>
                <a:gdLst>
                  <a:gd name="connsiteX0" fmla="*/ 0 w 802656"/>
                  <a:gd name="connsiteY0" fmla="*/ 0 h 1625366"/>
                  <a:gd name="connsiteX1" fmla="*/ 152859 w 802656"/>
                  <a:gd name="connsiteY1" fmla="*/ 15410 h 1625366"/>
                  <a:gd name="connsiteX2" fmla="*/ 802656 w 802656"/>
                  <a:gd name="connsiteY2" fmla="*/ 812683 h 1625366"/>
                  <a:gd name="connsiteX3" fmla="*/ 152859 w 802656"/>
                  <a:gd name="connsiteY3" fmla="*/ 1609956 h 1625366"/>
                  <a:gd name="connsiteX4" fmla="*/ 0 w 802656"/>
                  <a:gd name="connsiteY4" fmla="*/ 1625366 h 16253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02656" h="1625366">
                    <a:moveTo>
                      <a:pt x="0" y="0"/>
                    </a:moveTo>
                    <a:lnTo>
                      <a:pt x="152859" y="15410"/>
                    </a:lnTo>
                    <a:cubicBezTo>
                      <a:pt x="523697" y="91294"/>
                      <a:pt x="802656" y="419412"/>
                      <a:pt x="802656" y="812683"/>
                    </a:cubicBezTo>
                    <a:cubicBezTo>
                      <a:pt x="802656" y="1205955"/>
                      <a:pt x="523697" y="1534072"/>
                      <a:pt x="152859" y="1609956"/>
                    </a:cubicBezTo>
                    <a:lnTo>
                      <a:pt x="0" y="1625366"/>
                    </a:lnTo>
                    <a:close/>
                  </a:path>
                </a:pathLst>
              </a:custGeom>
              <a:solidFill>
                <a:srgbClr val="A7E6E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  <p:sp>
          <p:nvSpPr>
            <p:cNvPr id="8" name="Rectangle 7"/>
            <p:cNvSpPr/>
            <p:nvPr/>
          </p:nvSpPr>
          <p:spPr>
            <a:xfrm>
              <a:off x="6096000" y="-11151"/>
              <a:ext cx="6096000" cy="6869151"/>
            </a:xfrm>
            <a:prstGeom prst="rect">
              <a:avLst/>
            </a:prstGeom>
            <a:solidFill>
              <a:srgbClr val="A7E6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S4F-ERP FIT 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144000" y="6465095"/>
            <a:ext cx="2743200" cy="365125"/>
          </a:xfrm>
        </p:spPr>
        <p:txBody>
          <a:bodyPr/>
          <a:lstStyle>
            <a:lvl1pPr>
              <a:defRPr sz="800"/>
            </a:lvl1pPr>
          </a:lstStyle>
          <a:p>
            <a:fld id="{1A6A2304-23DC-2B46-BD14-F082077842F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2F2BE79-9CF6-49D0-828F-83304EE10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40" y="210346"/>
            <a:ext cx="9898061" cy="984247"/>
          </a:xfrm>
        </p:spPr>
        <p:txBody>
          <a:bodyPr>
            <a:normAutofit/>
          </a:bodyPr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515940" y="1348042"/>
            <a:ext cx="989806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EC8EE6D-3E29-41D5-BCF4-F699C8F035C9}"/>
              </a:ext>
            </a:extLst>
          </p:cNvPr>
          <p:cNvSpPr txBox="1"/>
          <p:nvPr/>
        </p:nvSpPr>
        <p:spPr>
          <a:xfrm>
            <a:off x="515938" y="6282533"/>
            <a:ext cx="1799722" cy="3651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US" sz="800"/>
              <a:t>© JTI 2018 Confidential </a:t>
            </a:r>
          </a:p>
        </p:txBody>
      </p:sp>
    </p:spTree>
    <p:extLst>
      <p:ext uri="{BB962C8B-B14F-4D97-AF65-F5344CB8AC3E}">
        <p14:creationId xmlns:p14="http://schemas.microsoft.com/office/powerpoint/2010/main" val="3332484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19571F-E128-4FF8-A846-91352A101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9" y="210344"/>
            <a:ext cx="9898061" cy="98424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EE3A9-E955-4AFD-9C72-3106238E9A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695450"/>
            <a:ext cx="9898063" cy="458708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7185E-8EC7-42C4-875B-7957276D60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77073" y="6297521"/>
            <a:ext cx="4201727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title in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505A6-DE1E-455A-9F96-B1BC2DE26A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8800" y="6297521"/>
            <a:ext cx="397261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F4C94289-3309-4C35-850A-56FD49B3E346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E89007-8C14-45BA-9B75-C9A19A48430E}"/>
              </a:ext>
            </a:extLst>
          </p:cNvPr>
          <p:cNvSpPr txBox="1"/>
          <p:nvPr userDrawn="1"/>
        </p:nvSpPr>
        <p:spPr>
          <a:xfrm>
            <a:off x="515938" y="6282531"/>
            <a:ext cx="1799722" cy="3651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00"/>
              <a:t>© </a:t>
            </a:r>
            <a:r>
              <a:rPr lang="en-GB" sz="800" err="1"/>
              <a:t>JTI</a:t>
            </a:r>
            <a:r>
              <a:rPr lang="en-GB" sz="800"/>
              <a:t> 2019 Confidential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558707-958B-46B5-B09F-9B53C1657C43}"/>
              </a:ext>
            </a:extLst>
          </p:cNvPr>
          <p:cNvCxnSpPr/>
          <p:nvPr userDrawn="1"/>
        </p:nvCxnSpPr>
        <p:spPr>
          <a:xfrm>
            <a:off x="515937" y="1343026"/>
            <a:ext cx="1116012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1E89007-8C14-45BA-9B75-C9A19A48430E}"/>
              </a:ext>
            </a:extLst>
          </p:cNvPr>
          <p:cNvSpPr txBox="1"/>
          <p:nvPr userDrawn="1"/>
        </p:nvSpPr>
        <p:spPr>
          <a:xfrm>
            <a:off x="4703985" y="6535710"/>
            <a:ext cx="2802070" cy="27683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/>
            <a:r>
              <a:rPr lang="en-US" sz="1000">
                <a:latin typeface="+mn-lt"/>
                <a:ea typeface="Roboto" charset="0"/>
                <a:cs typeface="Roboto" charset="0"/>
              </a:rPr>
              <a:t>Simplify, Standardize, Accelerate </a:t>
            </a:r>
          </a:p>
        </p:txBody>
      </p:sp>
    </p:spTree>
    <p:extLst>
      <p:ext uri="{BB962C8B-B14F-4D97-AF65-F5344CB8AC3E}">
        <p14:creationId xmlns:p14="http://schemas.microsoft.com/office/powerpoint/2010/main" val="3537894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79388" indent="-179388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207963" indent="182563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08013" indent="-198438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31850" indent="-204788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25">
          <p15:clr>
            <a:srgbClr val="F26B43"/>
          </p15:clr>
        </p15:guide>
        <p15:guide id="3" pos="7355">
          <p15:clr>
            <a:srgbClr val="F26B43"/>
          </p15:clr>
        </p15:guide>
        <p15:guide id="4" pos="3364">
          <p15:clr>
            <a:srgbClr val="F26B43"/>
          </p15:clr>
        </p15:guide>
        <p15:guide id="5" pos="3522">
          <p15:clr>
            <a:srgbClr val="F26B43"/>
          </p15:clr>
        </p15:guide>
        <p15:guide id="6" orient="horz" pos="1068">
          <p15:clr>
            <a:srgbClr val="F26B43"/>
          </p15:clr>
        </p15:guide>
        <p15:guide id="7" orient="horz" pos="3959">
          <p15:clr>
            <a:srgbClr val="F26B43"/>
          </p15:clr>
        </p15:guide>
        <p15:guide id="8" pos="3840">
          <p15:clr>
            <a:srgbClr val="F26B43"/>
          </p15:clr>
        </p15:guide>
        <p15:guide id="9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21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340603"/>
            <a:ext cx="12192000" cy="4902408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0" y="1342562"/>
            <a:ext cx="12192000" cy="4902409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  <a:alpha val="85000"/>
                </a:schemeClr>
              </a:gs>
              <a:gs pos="100000">
                <a:schemeClr val="accent3">
                  <a:alpha val="8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Presentation title in footer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C94289-3309-4C35-850A-56FD49B3E346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4" name="Title 3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Course Structure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F49BABF-73A4-41A0-8EC8-DC283FC79D84}"/>
              </a:ext>
            </a:extLst>
          </p:cNvPr>
          <p:cNvGrpSpPr/>
          <p:nvPr/>
        </p:nvGrpSpPr>
        <p:grpSpPr>
          <a:xfrm>
            <a:off x="5521845" y="3290404"/>
            <a:ext cx="5544642" cy="2507306"/>
            <a:chOff x="6584291" y="1837512"/>
            <a:chExt cx="5544642" cy="2507306"/>
          </a:xfrm>
        </p:grpSpPr>
        <p:cxnSp>
          <p:nvCxnSpPr>
            <p:cNvPr id="8" name="Elbow Connector 7"/>
            <p:cNvCxnSpPr>
              <a:cxnSpLocks/>
            </p:cNvCxnSpPr>
            <p:nvPr/>
          </p:nvCxnSpPr>
          <p:spPr>
            <a:xfrm>
              <a:off x="6623879" y="3060320"/>
              <a:ext cx="1648012" cy="768387"/>
            </a:xfrm>
            <a:prstGeom prst="bentConnector3">
              <a:avLst/>
            </a:prstGeom>
            <a:ln w="28575">
              <a:solidFill>
                <a:schemeClr val="bg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Elbow Connector 4"/>
            <p:cNvCxnSpPr>
              <a:cxnSpLocks/>
            </p:cNvCxnSpPr>
            <p:nvPr/>
          </p:nvCxnSpPr>
          <p:spPr>
            <a:xfrm flipV="1">
              <a:off x="6584291" y="2095050"/>
              <a:ext cx="1728470" cy="965270"/>
            </a:xfrm>
            <a:prstGeom prst="bentConnector3">
              <a:avLst/>
            </a:prstGeom>
            <a:ln w="28575">
              <a:solidFill>
                <a:schemeClr val="bg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>
              <a:cxnSpLocks/>
            </p:cNvCxnSpPr>
            <p:nvPr/>
          </p:nvCxnSpPr>
          <p:spPr>
            <a:xfrm>
              <a:off x="7454594" y="3062279"/>
              <a:ext cx="856885" cy="0"/>
            </a:xfrm>
            <a:prstGeom prst="line">
              <a:avLst/>
            </a:prstGeom>
            <a:ln w="28575">
              <a:solidFill>
                <a:schemeClr val="bg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ounded Rectangle 38"/>
            <p:cNvSpPr/>
            <p:nvPr/>
          </p:nvSpPr>
          <p:spPr>
            <a:xfrm>
              <a:off x="8437137" y="3541006"/>
              <a:ext cx="3691795" cy="803812"/>
            </a:xfrm>
            <a:prstGeom prst="roundRect">
              <a:avLst>
                <a:gd name="adj" fmla="val 31330"/>
              </a:avLst>
            </a:prstGeom>
            <a:solidFill>
              <a:schemeClr val="accent1"/>
            </a:solidFill>
            <a:ln w="50800">
              <a:solidFill>
                <a:schemeClr val="bg1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46800" rIns="90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1A3040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Volume Conversion</a:t>
              </a: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8437138" y="1837512"/>
              <a:ext cx="3691795" cy="543084"/>
            </a:xfrm>
            <a:prstGeom prst="roundRect">
              <a:avLst>
                <a:gd name="adj" fmla="val 31330"/>
              </a:avLst>
            </a:prstGeom>
            <a:solidFill>
              <a:schemeClr val="accent6">
                <a:lumMod val="75000"/>
              </a:schemeClr>
            </a:solidFill>
            <a:ln w="50800">
              <a:solidFill>
                <a:schemeClr val="bg1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46800" rIns="90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Changes to Market P&amp;L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8437137" y="2756386"/>
              <a:ext cx="3691795" cy="530609"/>
            </a:xfrm>
            <a:prstGeom prst="roundRect">
              <a:avLst>
                <a:gd name="adj" fmla="val 31330"/>
              </a:avLst>
            </a:prstGeom>
            <a:solidFill>
              <a:schemeClr val="accent6">
                <a:lumMod val="75000"/>
              </a:schemeClr>
            </a:solidFill>
            <a:ln w="50800">
              <a:solidFill>
                <a:schemeClr val="bg1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46800" rIns="90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Granularity behind P&amp;L Lines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0555613-F22D-4BB3-BCF9-AF0097D6E9F2}"/>
              </a:ext>
            </a:extLst>
          </p:cNvPr>
          <p:cNvGrpSpPr/>
          <p:nvPr/>
        </p:nvGrpSpPr>
        <p:grpSpPr>
          <a:xfrm>
            <a:off x="215248" y="2612021"/>
            <a:ext cx="6096106" cy="2669582"/>
            <a:chOff x="4428422" y="2334368"/>
            <a:chExt cx="7806123" cy="3512903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5A632B17-1CC6-4724-91A6-1E987411C861}"/>
                </a:ext>
              </a:extLst>
            </p:cNvPr>
            <p:cNvCxnSpPr>
              <a:cxnSpLocks/>
            </p:cNvCxnSpPr>
            <p:nvPr/>
          </p:nvCxnSpPr>
          <p:spPr>
            <a:xfrm>
              <a:off x="6781086" y="3324312"/>
              <a:ext cx="57729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F496E5B1-FE09-4E0E-856E-8F3D88D4E5F6}"/>
                </a:ext>
              </a:extLst>
            </p:cNvPr>
            <p:cNvCxnSpPr>
              <a:cxnSpLocks/>
            </p:cNvCxnSpPr>
            <p:nvPr/>
          </p:nvCxnSpPr>
          <p:spPr>
            <a:xfrm>
              <a:off x="6795663" y="4793898"/>
              <a:ext cx="57729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B942BBF-E0B1-419B-9AE9-1854132C3519}"/>
                </a:ext>
              </a:extLst>
            </p:cNvPr>
            <p:cNvGrpSpPr/>
            <p:nvPr/>
          </p:nvGrpSpPr>
          <p:grpSpPr>
            <a:xfrm>
              <a:off x="4428422" y="2334368"/>
              <a:ext cx="7806123" cy="3512903"/>
              <a:chOff x="4428422" y="2334368"/>
              <a:chExt cx="7806123" cy="3512903"/>
            </a:xfrm>
          </p:grpSpPr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E4FF5C35-ABA7-4636-931A-4DA1EA51A908}"/>
                  </a:ext>
                </a:extLst>
              </p:cNvPr>
              <p:cNvGrpSpPr/>
              <p:nvPr/>
            </p:nvGrpSpPr>
            <p:grpSpPr>
              <a:xfrm>
                <a:off x="4428422" y="2334368"/>
                <a:ext cx="7796979" cy="3512903"/>
                <a:chOff x="4371016" y="2260587"/>
                <a:chExt cx="7796979" cy="3512903"/>
              </a:xfrm>
            </p:grpSpPr>
            <p:cxnSp>
              <p:nvCxnSpPr>
                <p:cNvPr id="62" name="Elbow Connector 37">
                  <a:extLst>
                    <a:ext uri="{FF2B5EF4-FFF2-40B4-BE49-F238E27FC236}">
                      <a16:creationId xmlns:a16="http://schemas.microsoft.com/office/drawing/2014/main" id="{5E8D9549-0177-41D9-B36E-F5B697BB99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4970" y="3996147"/>
                  <a:ext cx="1096000" cy="1499749"/>
                </a:xfrm>
                <a:prstGeom prst="bentConnector3">
                  <a:avLst>
                    <a:gd name="adj1" fmla="val 50000"/>
                  </a:avLst>
                </a:prstGeom>
                <a:ln w="38100">
                  <a:solidFill>
                    <a:schemeClr val="bg1"/>
                  </a:solidFill>
                  <a:tail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3" name="Group 62">
                  <a:extLst>
                    <a:ext uri="{FF2B5EF4-FFF2-40B4-BE49-F238E27FC236}">
                      <a16:creationId xmlns:a16="http://schemas.microsoft.com/office/drawing/2014/main" id="{E0A35512-9F69-4E8C-934D-0532B2B17E93}"/>
                    </a:ext>
                  </a:extLst>
                </p:cNvPr>
                <p:cNvGrpSpPr/>
                <p:nvPr/>
              </p:nvGrpSpPr>
              <p:grpSpPr>
                <a:xfrm>
                  <a:off x="4371016" y="2260587"/>
                  <a:ext cx="7796979" cy="3512903"/>
                  <a:chOff x="4371016" y="2260587"/>
                  <a:chExt cx="7796979" cy="3512903"/>
                </a:xfrm>
              </p:grpSpPr>
              <p:cxnSp>
                <p:nvCxnSpPr>
                  <p:cNvPr id="64" name="Elbow Connector 31">
                    <a:extLst>
                      <a:ext uri="{FF2B5EF4-FFF2-40B4-BE49-F238E27FC236}">
                        <a16:creationId xmlns:a16="http://schemas.microsoft.com/office/drawing/2014/main" id="{C36A78B5-81B5-4880-A517-1FAEB82BFA1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194084" y="2527165"/>
                    <a:ext cx="1121463" cy="1465481"/>
                  </a:xfrm>
                  <a:prstGeom prst="bentConnector3">
                    <a:avLst>
                      <a:gd name="adj1" fmla="val 50000"/>
                    </a:avLst>
                  </a:prstGeom>
                  <a:ln w="38100">
                    <a:solidFill>
                      <a:schemeClr val="bg1"/>
                    </a:solidFill>
                    <a:tailEnd type="oval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65" name="Group 64">
                    <a:extLst>
                      <a:ext uri="{FF2B5EF4-FFF2-40B4-BE49-F238E27FC236}">
                        <a16:creationId xmlns:a16="http://schemas.microsoft.com/office/drawing/2014/main" id="{C4BA624B-CF60-48F5-8FB7-BA5710E8C066}"/>
                      </a:ext>
                    </a:extLst>
                  </p:cNvPr>
                  <p:cNvGrpSpPr/>
                  <p:nvPr/>
                </p:nvGrpSpPr>
                <p:grpSpPr>
                  <a:xfrm>
                    <a:off x="4371016" y="2260587"/>
                    <a:ext cx="7796979" cy="3512903"/>
                    <a:chOff x="4371016" y="2260587"/>
                    <a:chExt cx="7796979" cy="3512903"/>
                  </a:xfrm>
                </p:grpSpPr>
                <p:sp>
                  <p:nvSpPr>
                    <p:cNvPr id="66" name="TextBox 65">
                      <a:extLst>
                        <a:ext uri="{FF2B5EF4-FFF2-40B4-BE49-F238E27FC236}">
                          <a16:creationId xmlns:a16="http://schemas.microsoft.com/office/drawing/2014/main" id="{39847180-FDC7-4686-B52B-11ECA7F4ED4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532636" y="2260587"/>
                      <a:ext cx="4635359" cy="55518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lIns="0" tIns="0" rIns="0" bIns="0" rtlCol="0" anchor="ctr">
                      <a:no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Profitability Analysis: Intro to S/4 </a:t>
                      </a:r>
                    </a:p>
                  </p:txBody>
                </p:sp>
                <p:grpSp>
                  <p:nvGrpSpPr>
                    <p:cNvPr id="67" name="Group 66">
                      <a:extLst>
                        <a:ext uri="{FF2B5EF4-FFF2-40B4-BE49-F238E27FC236}">
                          <a16:creationId xmlns:a16="http://schemas.microsoft.com/office/drawing/2014/main" id="{F764E175-1717-4AB3-9374-FFA60798D55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1016" y="3031011"/>
                      <a:ext cx="1867560" cy="1901181"/>
                      <a:chOff x="575788" y="4361808"/>
                      <a:chExt cx="624164" cy="624164"/>
                    </a:xfrm>
                  </p:grpSpPr>
                  <p:grpSp>
                    <p:nvGrpSpPr>
                      <p:cNvPr id="69" name="Group 68">
                        <a:extLst>
                          <a:ext uri="{FF2B5EF4-FFF2-40B4-BE49-F238E27FC236}">
                            <a16:creationId xmlns:a16="http://schemas.microsoft.com/office/drawing/2014/main" id="{6F5D503C-8743-4DB4-B5A1-9AFA94D2657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5788" y="4361808"/>
                        <a:ext cx="624164" cy="624164"/>
                        <a:chOff x="4492144" y="190843"/>
                        <a:chExt cx="855656" cy="855656"/>
                      </a:xfrm>
                    </p:grpSpPr>
                    <p:sp>
                      <p:nvSpPr>
                        <p:cNvPr id="71" name="Oval 70">
                          <a:extLst>
                            <a:ext uri="{FF2B5EF4-FFF2-40B4-BE49-F238E27FC236}">
                              <a16:creationId xmlns:a16="http://schemas.microsoft.com/office/drawing/2014/main" id="{13D34BC4-A62B-4B39-8830-712A7642D19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492144" y="190843"/>
                          <a:ext cx="855656" cy="855656"/>
                        </a:xfrm>
                        <a:prstGeom prst="ellipse">
                          <a:avLst/>
                        </a:prstGeom>
                        <a:solidFill>
                          <a:schemeClr val="bg1"/>
                        </a:solidFill>
                        <a:ln w="76200">
                          <a:noFill/>
                        </a:ln>
                        <a:effectLst>
                          <a:outerShdw blurRad="50800" dist="38100" dir="10800000" algn="r" rotWithShape="0">
                            <a:prstClr val="black">
                              <a:alpha val="40000"/>
                            </a:prstClr>
                          </a:outerShdw>
                        </a:effectLst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Arial" panose="020B0604020202020204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72" name="Oval 71">
                          <a:extLst>
                            <a:ext uri="{FF2B5EF4-FFF2-40B4-BE49-F238E27FC236}">
                              <a16:creationId xmlns:a16="http://schemas.microsoft.com/office/drawing/2014/main" id="{53878725-03E7-4570-8CE0-DD318E4186C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551137" y="249836"/>
                          <a:ext cx="737671" cy="737671"/>
                        </a:xfrm>
                        <a:prstGeom prst="ellipse">
                          <a:avLst/>
                        </a:prstGeom>
                        <a:solidFill>
                          <a:schemeClr val="accent2"/>
                        </a:solidFill>
                        <a:ln w="76200">
                          <a:noFill/>
                        </a:ln>
                        <a:effectLst>
                          <a:innerShdw blurRad="63500" dist="50800" dir="13500000">
                            <a:prstClr val="black">
                              <a:alpha val="50000"/>
                            </a:prstClr>
                          </a:innerShdw>
                        </a:effectLst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Arial" panose="020B0604020202020204"/>
                            <a:ea typeface="+mn-ea"/>
                            <a:cs typeface="+mn-cs"/>
                          </a:endParaRPr>
                        </a:p>
                      </p:txBody>
                    </p:sp>
                  </p:grpSp>
                  <p:pic>
                    <p:nvPicPr>
                      <p:cNvPr id="70" name="Picture 69">
                        <a:extLst>
                          <a:ext uri="{FF2B5EF4-FFF2-40B4-BE49-F238E27FC236}">
                            <a16:creationId xmlns:a16="http://schemas.microsoft.com/office/drawing/2014/main" id="{076E3E04-0530-4384-B95F-BA87726C652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18607" y="4514537"/>
                        <a:ext cx="328080" cy="318706"/>
                      </a:xfrm>
                      <a:prstGeom prst="rect">
                        <a:avLst/>
                      </a:prstGeom>
                    </p:spPr>
                  </p:pic>
                </p:grpSp>
                <p:sp>
                  <p:nvSpPr>
                    <p:cNvPr id="68" name="TextBox 67">
                      <a:extLst>
                        <a:ext uri="{FF2B5EF4-FFF2-40B4-BE49-F238E27FC236}">
                          <a16:creationId xmlns:a16="http://schemas.microsoft.com/office/drawing/2014/main" id="{73823A81-D2C6-4937-B73F-AE386A7CB47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558856" y="5218301"/>
                      <a:ext cx="4033704" cy="55518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>
                      <a:no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Reporting Capabilities</a:t>
                      </a:r>
                      <a:endParaRPr kumimoji="0" lang="en-GB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p:txBody>
                </p:sp>
              </p:grpSp>
            </p:grpSp>
          </p:grp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5ACE441-4F17-4B06-9174-7AB1B922BAF8}"/>
                  </a:ext>
                </a:extLst>
              </p:cNvPr>
              <p:cNvSpPr txBox="1"/>
              <p:nvPr/>
            </p:nvSpPr>
            <p:spPr>
              <a:xfrm>
                <a:off x="7616262" y="4511768"/>
                <a:ext cx="4033704" cy="55518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Market P&amp;L</a:t>
                </a: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0005ADBC-10B8-4B7B-9AA3-4291EF7C00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10376" y="4066427"/>
                <a:ext cx="577290" cy="0"/>
              </a:xfrm>
              <a:prstGeom prst="line">
                <a:avLst/>
              </a:prstGeom>
              <a:ln w="28575">
                <a:solidFill>
                  <a:schemeClr val="bg1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26CCA67F-8CF2-48ED-8F22-3890C55F6118}"/>
                  </a:ext>
                </a:extLst>
              </p:cNvPr>
              <p:cNvSpPr txBox="1"/>
              <p:nvPr/>
            </p:nvSpPr>
            <p:spPr>
              <a:xfrm>
                <a:off x="7590041" y="3107175"/>
                <a:ext cx="4635359" cy="5551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Profit </a:t>
                </a:r>
                <a:r>
                  <a:rPr kumimoji="0" lang="en-GB" sz="1800" b="1" i="0" u="none" strike="noStrike" kern="1200" cap="none" spc="0" normalizeH="0" baseline="0" noProof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Center</a:t>
                </a:r>
                <a:r>
                  <a:rPr kumimoji="0" lang="en-GB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Reorganization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ECFEC7BB-233F-4AA3-A453-5490468E89D4}"/>
                  </a:ext>
                </a:extLst>
              </p:cNvPr>
              <p:cNvSpPr txBox="1"/>
              <p:nvPr/>
            </p:nvSpPr>
            <p:spPr>
              <a:xfrm>
                <a:off x="7599186" y="3836827"/>
                <a:ext cx="4635359" cy="5551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Standardization of Dimensions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80240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C600C-4D80-4EAC-BD5F-88D12F3C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Volume Conversion Table – Embedded in S/4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F7DCD7-4EA5-4F29-9923-B8DC49D29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Presentation title in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7D4825-9FD5-4E36-8F21-80C92A50C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C94289-3309-4C35-850A-56FD49B3E346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BFE70964-6C9B-4190-B481-5FB87F387C7A}"/>
              </a:ext>
            </a:extLst>
          </p:cNvPr>
          <p:cNvGraphicFramePr/>
          <p:nvPr/>
        </p:nvGraphicFramePr>
        <p:xfrm>
          <a:off x="1816275" y="1853852"/>
          <a:ext cx="8968636" cy="4584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16855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C600C-4D80-4EAC-BD5F-88D12F3C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Volume Conversions used in JTI Volumes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F7DCD7-4EA5-4F29-9923-B8DC49D29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Presentation title in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7D4825-9FD5-4E36-8F21-80C92A50C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C94289-3309-4C35-850A-56FD49B3E346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FCD8E3A-8B3F-4863-B800-25322056F69F}"/>
              </a:ext>
            </a:extLst>
          </p:cNvPr>
          <p:cNvSpPr txBox="1">
            <a:spLocks/>
          </p:cNvSpPr>
          <p:nvPr/>
        </p:nvSpPr>
        <p:spPr>
          <a:xfrm>
            <a:off x="440937" y="1194591"/>
            <a:ext cx="10837863" cy="597038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de-CH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</a:br>
            <a:r>
              <a:rPr kumimoji="0" lang="de-CH" sz="2000" b="0" i="1" u="none" strike="noStrike" kern="1200" cap="none" spc="0" normalizeH="0" baseline="0" noProof="0">
                <a:ln>
                  <a:noFill/>
                </a:ln>
                <a:solidFill>
                  <a:srgbClr val="DDDDDD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S/4 (source) into GPM</a:t>
            </a:r>
            <a:endParaRPr kumimoji="0" lang="en-US" sz="3200" b="0" i="1" u="none" strike="noStrike" kern="1200" cap="none" spc="0" normalizeH="0" baseline="0" noProof="0">
              <a:ln>
                <a:noFill/>
              </a:ln>
              <a:solidFill>
                <a:srgbClr val="DDDDDD">
                  <a:lumMod val="75000"/>
                </a:srgbClr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48316B5-DEC9-4B62-B3F9-5B4110DDAE94}"/>
              </a:ext>
            </a:extLst>
          </p:cNvPr>
          <p:cNvSpPr/>
          <p:nvPr/>
        </p:nvSpPr>
        <p:spPr>
          <a:xfrm>
            <a:off x="9703203" y="3854370"/>
            <a:ext cx="2158409" cy="2184991"/>
          </a:xfrm>
          <a:prstGeom prst="roundRect">
            <a:avLst/>
          </a:prstGeom>
          <a:solidFill>
            <a:srgbClr val="00BDB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MPL KPIs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DB328FE-2B87-4075-9589-88DD4C757DCC}"/>
              </a:ext>
            </a:extLst>
          </p:cNvPr>
          <p:cNvGraphicFramePr>
            <a:graphicFrameLocks noGrp="1"/>
          </p:cNvGraphicFramePr>
          <p:nvPr/>
        </p:nvGraphicFramePr>
        <p:xfrm>
          <a:off x="9903109" y="4237274"/>
          <a:ext cx="1818167" cy="1642262"/>
        </p:xfrm>
        <a:graphic>
          <a:graphicData uri="http://schemas.openxmlformats.org/drawingml/2006/table">
            <a:tbl>
              <a:tblPr/>
              <a:tblGrid>
                <a:gridCol w="1818167">
                  <a:extLst>
                    <a:ext uri="{9D8B030D-6E8A-4147-A177-3AD203B41FA5}">
                      <a16:colId xmlns:a16="http://schemas.microsoft.com/office/drawing/2014/main" val="345270173"/>
                    </a:ext>
                  </a:extLst>
                </a:gridCol>
              </a:tblGrid>
              <a:tr h="19030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     Stick Equivalent Volume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b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D5B8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8294124"/>
                  </a:ext>
                </a:extLst>
              </a:tr>
              <a:tr h="17940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     Waterpipe Volume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b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1005305"/>
                  </a:ext>
                </a:extLst>
              </a:tr>
              <a:tr h="23173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     Non-Tobacco Emerging Volume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b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7EC9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4403275"/>
                  </a:ext>
                </a:extLst>
              </a:tr>
              <a:tr h="1486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     Non-JTI Brands Volume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b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3809378"/>
                  </a:ext>
                </a:extLst>
              </a:tr>
              <a:tr h="1486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     GFB Volume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b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036805"/>
                  </a:ext>
                </a:extLst>
              </a:tr>
              <a:tr h="1486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     GFB Revenue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b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7734587"/>
                  </a:ext>
                </a:extLst>
              </a:tr>
              <a:tr h="1486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     Core Revenue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b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877815"/>
                  </a:ext>
                </a:extLst>
              </a:tr>
              <a:tr h="1486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     Marketing investments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b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160353"/>
                  </a:ext>
                </a:extLst>
              </a:tr>
              <a:tr h="1486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     Controllable </a:t>
                      </a:r>
                      <a:r>
                        <a:rPr lang="en-US" sz="800" u="none" strike="noStrike" err="1">
                          <a:effectLst/>
                        </a:rPr>
                        <a:t>Opex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b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102439"/>
                  </a:ext>
                </a:extLst>
              </a:tr>
              <a:tr h="1486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     OCC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b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2551654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96740C1-D7F5-4746-90EF-4F696E73A5B2}"/>
              </a:ext>
            </a:extLst>
          </p:cNvPr>
          <p:cNvGraphicFramePr>
            <a:graphicFrameLocks noGrp="1"/>
          </p:cNvGraphicFramePr>
          <p:nvPr/>
        </p:nvGraphicFramePr>
        <p:xfrm>
          <a:off x="1606579" y="1930025"/>
          <a:ext cx="7823200" cy="4547870"/>
        </p:xfrm>
        <a:graphic>
          <a:graphicData uri="http://schemas.openxmlformats.org/drawingml/2006/table">
            <a:tbl>
              <a:tblPr firstRow="1" bandRow="1"/>
              <a:tblGrid>
                <a:gridCol w="3873500">
                  <a:extLst>
                    <a:ext uri="{9D8B030D-6E8A-4147-A177-3AD203B41FA5}">
                      <a16:colId xmlns:a16="http://schemas.microsoft.com/office/drawing/2014/main" val="248192271"/>
                    </a:ext>
                  </a:extLst>
                </a:gridCol>
                <a:gridCol w="3949700">
                  <a:extLst>
                    <a:ext uri="{9D8B030D-6E8A-4147-A177-3AD203B41FA5}">
                      <a16:colId xmlns:a16="http://schemas.microsoft.com/office/drawing/2014/main" val="3161411641"/>
                    </a:ext>
                  </a:extLst>
                </a:gridCol>
              </a:tblGrid>
              <a:tr h="23495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Product Type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DB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Measure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D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19407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RYO / MYO (Standard conversion rate)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8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0.75g = 1 Stick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8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214008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RYO/MYO (High volume tobacco)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F3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0.5g = 1 Stick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862634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UK / Ireland – SKR category = RYO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8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0.40g = 1 Stick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8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979947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Canada – SKR Category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F3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As agreed with the OTP group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85369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Cigars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8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 Stick = 1 Stick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8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47671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Pipe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F3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1g = 1 Stick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55041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Snus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8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 Can = 20 Sticks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8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70466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T-Vapor Ploom 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 refill pack (20 sticks) = 20 sticks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2086998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T-Vapor Ploom Tech / Ploom 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8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 refill pack (5 pods) = 20 sticks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8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954468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E-Vapor - Open Tanks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CBE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 liquid refill (10 ml bottle) = 100 sticks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CB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108513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E-Vapor - Closed Tanks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CBE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 liquid refill (capsule) = 20 sticks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CB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90873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RRP Packaging Units (incl. access)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5F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1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Out of Scope for Conversion *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0170604"/>
                  </a:ext>
                </a:extLst>
              </a:tr>
              <a:tr h="184150">
                <a:tc gridSpan="2">
                  <a:txBody>
                    <a:bodyPr/>
                    <a:lstStyle/>
                    <a:p>
                      <a:pPr algn="r" rtl="0" fontAlgn="b"/>
                      <a:r>
                        <a:rPr lang="en-US" sz="1100" b="0" i="0" u="none" strike="noStrike">
                          <a:solidFill>
                            <a:srgbClr val="808080"/>
                          </a:solidFill>
                          <a:effectLst/>
                          <a:latin typeface="Arial"/>
                        </a:rPr>
                        <a:t>Shisha volumes are not converted but reported separately in tons (Waterpipe Volume)</a:t>
                      </a:r>
                    </a:p>
                    <a:p>
                      <a:pPr marL="171450" indent="-171450" algn="r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>
                          <a:solidFill>
                            <a:srgbClr val="808080"/>
                          </a:solidFill>
                          <a:effectLst/>
                          <a:latin typeface="Arial"/>
                        </a:rPr>
                        <a:t>Due to the planning is done from KU in BW, a “dummy” conversion has been configured </a:t>
                      </a:r>
                    </a:p>
                    <a:p>
                      <a:pPr marL="0" indent="0" algn="r" rtl="0" fontAlgn="b">
                        <a:buFont typeface="Arial" panose="020B0604020202020204" pitchFamily="34" charset="0"/>
                        <a:buNone/>
                      </a:pPr>
                      <a:r>
                        <a:rPr lang="en-US" sz="1100" b="0" i="0" u="none" strike="noStrike">
                          <a:solidFill>
                            <a:srgbClr val="808080"/>
                          </a:solidFill>
                          <a:effectLst/>
                          <a:latin typeface="Arial"/>
                        </a:rPr>
                        <a:t>(diving by 1000) for product type "DEVICE"  in S4.In BW DEVICE product type is not included into volume reporting. 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16901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E46CAEE-C984-47D1-999B-616EEF144954}"/>
              </a:ext>
            </a:extLst>
          </p:cNvPr>
          <p:cNvCxnSpPr>
            <a:cxnSpLocks/>
          </p:cNvCxnSpPr>
          <p:nvPr/>
        </p:nvCxnSpPr>
        <p:spPr>
          <a:xfrm flipV="1">
            <a:off x="9044896" y="4587871"/>
            <a:ext cx="584789" cy="978194"/>
          </a:xfrm>
          <a:prstGeom prst="straightConnector1">
            <a:avLst/>
          </a:prstGeom>
          <a:noFill/>
          <a:ln w="38100" cap="flat" cmpd="sng" algn="ctr">
            <a:solidFill>
              <a:srgbClr val="407EC9">
                <a:lumMod val="60000"/>
                <a:lumOff val="40000"/>
              </a:srgbClr>
            </a:solidFill>
            <a:prstDash val="solid"/>
            <a:miter lim="800000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704390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C600C-4D80-4EAC-BD5F-88D12F3C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Volume conversion &amp; Mapping Table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F7DCD7-4EA5-4F29-9923-B8DC49D29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Presentation title in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7D4825-9FD5-4E36-8F21-80C92A50C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C94289-3309-4C35-850A-56FD49B3E346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80B915-27CC-43E7-B7A1-599128605172}"/>
              </a:ext>
            </a:extLst>
          </p:cNvPr>
          <p:cNvSpPr/>
          <p:nvPr/>
        </p:nvSpPr>
        <p:spPr bwMode="auto">
          <a:xfrm>
            <a:off x="8205679" y="2733259"/>
            <a:ext cx="1744424" cy="24836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txBody>
          <a:bodyPr vert="horz" wrap="square" lIns="0" tIns="0" rIns="0" bIns="0" numCol="1" rtlCol="0" anchor="t" anchorCtr="1" compatLnSpc="1">
            <a:prstTxWarp prst="textNoShape">
              <a:avLst/>
            </a:prstTxWarp>
          </a:bodyPr>
          <a:lstStyle/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Mapping  table maintained by BTS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A2D19A-E4F7-45F1-AFC4-7C4B7CD7BE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b="25096"/>
          <a:stretch/>
        </p:blipFill>
        <p:spPr>
          <a:xfrm>
            <a:off x="5934355" y="1993563"/>
            <a:ext cx="5800445" cy="230763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2125ABF-E015-4F14-81AC-EF016712B64F}"/>
              </a:ext>
            </a:extLst>
          </p:cNvPr>
          <p:cNvSpPr/>
          <p:nvPr/>
        </p:nvSpPr>
        <p:spPr bwMode="auto">
          <a:xfrm>
            <a:off x="8066623" y="3642475"/>
            <a:ext cx="1535908" cy="157698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2BE5F2A-AFBE-41C2-92AD-F287C61363C9}"/>
              </a:ext>
            </a:extLst>
          </p:cNvPr>
          <p:cNvSpPr/>
          <p:nvPr/>
        </p:nvSpPr>
        <p:spPr>
          <a:xfrm rot="1674530">
            <a:off x="10660135" y="1655697"/>
            <a:ext cx="1199589" cy="350118"/>
          </a:xfrm>
          <a:prstGeom prst="roundRect">
            <a:avLst/>
          </a:prstGeom>
          <a:solidFill>
            <a:srgbClr val="33C1BA"/>
          </a:solidFill>
          <a:ln>
            <a:solidFill>
              <a:srgbClr val="74D9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ABSTRACT TABLE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3D78C8-380B-4A49-9139-1FA874744916}"/>
              </a:ext>
            </a:extLst>
          </p:cNvPr>
          <p:cNvSpPr/>
          <p:nvPr/>
        </p:nvSpPr>
        <p:spPr bwMode="auto">
          <a:xfrm>
            <a:off x="8066623" y="4125572"/>
            <a:ext cx="1535908" cy="157698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2B19CE6F-BD89-4A4A-A8C4-120DA1D5633B}"/>
              </a:ext>
            </a:extLst>
          </p:cNvPr>
          <p:cNvSpPr txBox="1">
            <a:spLocks/>
          </p:cNvSpPr>
          <p:nvPr/>
        </p:nvSpPr>
        <p:spPr>
          <a:xfrm>
            <a:off x="457200" y="1695450"/>
            <a:ext cx="5294313" cy="4705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1999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799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26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Conversion factor in MM for each product</a:t>
            </a:r>
          </a:p>
          <a:p>
            <a:pPr marL="285664" marR="0" lvl="0" indent="-285664" algn="l" defTabSz="914126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Automated population of an Alternative Unit of Measure and Conversion Denominators </a:t>
            </a:r>
          </a:p>
          <a:p>
            <a:pPr marL="228531" marR="0" lvl="0" indent="-228531" algn="l" defTabSz="914126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Arial" charset="0"/>
            </a:endParaRPr>
          </a:p>
          <a:p>
            <a:pPr marL="0" marR="0" lvl="0" indent="0" algn="l" defTabSz="914126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Based on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Mapping table </a:t>
            </a:r>
          </a:p>
          <a:p>
            <a:pPr marL="228531" marR="0" lvl="0" indent="-228531" algn="l" defTabSz="914126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Which will provide conversion denominators for specific material characteristics such as Material Group, SKR Category and Sub Brand and Markets </a:t>
            </a:r>
          </a:p>
          <a:p>
            <a:pPr marL="228531" marR="0" lvl="0" indent="-228531" algn="l" defTabSz="914126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Arial" charset="0"/>
            </a:endParaRPr>
          </a:p>
          <a:p>
            <a:pPr marL="0" marR="0" lvl="0" indent="0" algn="l" defTabSz="914126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Trigger for conversion factor population: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Arial" charset="0"/>
            </a:endParaRPr>
          </a:p>
          <a:p>
            <a:pPr marL="285664" marR="0" lvl="0" indent="-285664" algn="l" defTabSz="914126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Initial load (product creation)</a:t>
            </a:r>
          </a:p>
          <a:p>
            <a:pPr marL="285664" marR="0" lvl="0" indent="-285664" algn="l" defTabSz="914126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Changes in specific material characteristic</a:t>
            </a:r>
          </a:p>
          <a:p>
            <a:pPr marL="228531" marR="0" lvl="0" indent="-228531" algn="l" defTabSz="9141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Arial" charset="0"/>
            </a:endParaRPr>
          </a:p>
          <a:p>
            <a:pPr marL="228531" marR="0" lvl="0" indent="-228531" algn="l" defTabSz="9141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B01C99-3C34-43DB-BA00-B8CC8F912F4F}"/>
              </a:ext>
            </a:extLst>
          </p:cNvPr>
          <p:cNvSpPr txBox="1"/>
          <p:nvPr/>
        </p:nvSpPr>
        <p:spPr>
          <a:xfrm>
            <a:off x="5934355" y="4551973"/>
            <a:ext cx="5735019" cy="8309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itchFamily="34" charset="0"/>
                <a:ea typeface="ＭＳ Ｐゴシック" pitchFamily="80" charset="-128"/>
                <a:cs typeface="+mn-cs"/>
              </a:rPr>
              <a:t>Mapping table allows to introduce into the volume conversion logic more dimensions to distinguish between for example product types, brands, markets.</a:t>
            </a:r>
          </a:p>
        </p:txBody>
      </p:sp>
    </p:spTree>
    <p:extLst>
      <p:ext uri="{BB962C8B-B14F-4D97-AF65-F5344CB8AC3E}">
        <p14:creationId xmlns:p14="http://schemas.microsoft.com/office/powerpoint/2010/main" val="1717068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3284B-AC10-4BE0-B9A9-4C4DEDE1A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Volume Conversion – FAGLL03H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C78AB5-A592-439C-973E-8848F27BA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Presentation title in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7D51A2-868F-48C6-AC00-C2E6EE33B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C94289-3309-4C35-850A-56FD49B3E346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6F14BC-85A5-4A88-8A04-B8AF6F0E2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005" y="2815754"/>
            <a:ext cx="8233523" cy="3481767"/>
          </a:xfrm>
          <a:prstGeom prst="rect">
            <a:avLst/>
          </a:prstGeom>
        </p:spPr>
      </p:pic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5C1FC889-F1DD-44F7-931E-84F545F9ED8E}"/>
              </a:ext>
            </a:extLst>
          </p:cNvPr>
          <p:cNvSpPr/>
          <p:nvPr/>
        </p:nvSpPr>
        <p:spPr>
          <a:xfrm>
            <a:off x="3936694" y="1419901"/>
            <a:ext cx="2159306" cy="1170542"/>
          </a:xfrm>
          <a:prstGeom prst="wedgeRoundRectCallout">
            <a:avLst>
              <a:gd name="adj1" fmla="val 61310"/>
              <a:gd name="adj2" fmla="val 165088"/>
              <a:gd name="adj3" fmla="val 16667"/>
            </a:avLst>
          </a:prstGeom>
          <a:solidFill>
            <a:srgbClr val="33C1BA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Original Quantity in Base Unit of Measure (</a:t>
            </a:r>
            <a:r>
              <a:rPr kumimoji="0" lang="en-GB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BUoM</a:t>
            </a: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)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6DA95241-74C8-4E21-B8B2-C1D55891B6F3}"/>
              </a:ext>
            </a:extLst>
          </p:cNvPr>
          <p:cNvSpPr/>
          <p:nvPr/>
        </p:nvSpPr>
        <p:spPr>
          <a:xfrm>
            <a:off x="6875222" y="1488489"/>
            <a:ext cx="2159306" cy="1170542"/>
          </a:xfrm>
          <a:prstGeom prst="wedgeRoundRectCallout">
            <a:avLst>
              <a:gd name="adj1" fmla="val -38690"/>
              <a:gd name="adj2" fmla="val 155676"/>
              <a:gd name="adj3" fmla="val 16667"/>
            </a:avLst>
          </a:prstGeom>
          <a:solidFill>
            <a:srgbClr val="33C1BA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Conversion Factor from Configuration table 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5F5BD322-9A1F-4C2C-92F8-E4F501C807B2}"/>
              </a:ext>
            </a:extLst>
          </p:cNvPr>
          <p:cNvSpPr/>
          <p:nvPr/>
        </p:nvSpPr>
        <p:spPr>
          <a:xfrm>
            <a:off x="9610983" y="2407326"/>
            <a:ext cx="2159306" cy="1170542"/>
          </a:xfrm>
          <a:prstGeom prst="wedgeRoundRectCallout">
            <a:avLst>
              <a:gd name="adj1" fmla="val -110509"/>
              <a:gd name="adj2" fmla="val 77520"/>
              <a:gd name="adj3" fmla="val 16667"/>
            </a:avLst>
          </a:prstGeom>
          <a:solidFill>
            <a:srgbClr val="33C1BA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Converted volumes in KU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5991260-A10C-4695-B999-D88BF518785C}"/>
              </a:ext>
            </a:extLst>
          </p:cNvPr>
          <p:cNvSpPr/>
          <p:nvPr/>
        </p:nvSpPr>
        <p:spPr>
          <a:xfrm>
            <a:off x="1827014" y="2843729"/>
            <a:ext cx="1735992" cy="297736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00B2A9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FAGLL03H – Display Actual Line Item Report </a:t>
            </a:r>
          </a:p>
        </p:txBody>
      </p:sp>
    </p:spTree>
    <p:extLst>
      <p:ext uri="{BB962C8B-B14F-4D97-AF65-F5344CB8AC3E}">
        <p14:creationId xmlns:p14="http://schemas.microsoft.com/office/powerpoint/2010/main" val="3123035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9616760-64F0-4BC5-9C26-CA2346FF9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4196" y="1381380"/>
            <a:ext cx="4593341" cy="19762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B17416-4AD1-4E37-B13D-D1AA30011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Volume Conversion Example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CC331-0B3F-4388-8FC9-4208591EE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9" y="1409663"/>
            <a:ext cx="5107096" cy="5106751"/>
          </a:xfrm>
          <a:ln w="19050">
            <a:solidFill>
              <a:srgbClr val="36C4BE"/>
            </a:solidFill>
            <a:prstDash val="dash"/>
          </a:ln>
        </p:spPr>
        <p:txBody>
          <a:bodyPr lIns="91440" tIns="91440" rIns="91440" bIns="91440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/>
              <a:t>Volume conversion takes the </a:t>
            </a:r>
            <a:r>
              <a:rPr lang="en-GB" sz="1400" b="1"/>
              <a:t>Base Unit of Measure (</a:t>
            </a:r>
            <a:r>
              <a:rPr lang="en-GB" sz="1400" b="1" err="1"/>
              <a:t>BUoM</a:t>
            </a:r>
            <a:r>
              <a:rPr lang="en-GB" sz="1400" b="1"/>
              <a:t>) from Material master </a:t>
            </a:r>
            <a:r>
              <a:rPr lang="en-GB" sz="1400"/>
              <a:t>and converts it using the mapping table seen previously as well as conversions also within the Material Master.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/>
              <a:t>The conversion information can be found in Basic Data 1 tab, Additional Data, Units of Measure.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b="1"/>
              <a:t>In this example 50 KG is equal to 100 KU (Kilo Units = universal measurement) so the conversion of 2.000 is applied</a:t>
            </a:r>
            <a:r>
              <a:rPr lang="en-GB" sz="140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/>
              <a:t>However some IDs may have different Unit of Measure (</a:t>
            </a:r>
            <a:r>
              <a:rPr lang="en-GB" sz="1400" err="1"/>
              <a:t>UoMs</a:t>
            </a:r>
            <a:r>
              <a:rPr lang="en-GB" sz="1400"/>
              <a:t>) in different processes in the system. For example  an ID can be input into Sales Orders/Purchase Orders as UN or even in Cases (CS).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/>
              <a:t>If Case is used and CS is not the </a:t>
            </a:r>
            <a:r>
              <a:rPr lang="en-GB" sz="1400" err="1"/>
              <a:t>BUoM</a:t>
            </a:r>
            <a:r>
              <a:rPr lang="en-GB" sz="1400"/>
              <a:t> in the Material Master then the system must convert the UoM to the </a:t>
            </a:r>
            <a:r>
              <a:rPr lang="en-GB" sz="1400" err="1"/>
              <a:t>BUoM</a:t>
            </a:r>
            <a:r>
              <a:rPr lang="en-GB" sz="1400"/>
              <a:t> before further volume conversion can occur.  In this example, 1,000 CS is equal to 1,260 KG (KG being the </a:t>
            </a:r>
            <a:r>
              <a:rPr lang="en-GB" sz="1400" err="1"/>
              <a:t>BUoM</a:t>
            </a:r>
            <a:r>
              <a:rPr lang="en-GB" sz="1400"/>
              <a:t>) so the conversion of CS to KG must happen before the Volume conversion of </a:t>
            </a:r>
            <a:r>
              <a:rPr lang="en-GB" sz="1400" err="1"/>
              <a:t>BUoM</a:t>
            </a:r>
            <a:r>
              <a:rPr lang="en-GB" sz="1400"/>
              <a:t> to KU</a:t>
            </a:r>
            <a:endParaRPr lang="en-GB" sz="20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BC0FC3-A089-4CB1-AFD6-F22DED333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Presentation title in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249439-B24D-42F9-94F8-CF98BC52A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C94289-3309-4C35-850A-56FD49B3E346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CBA95F5-5B11-473C-AF2E-B907A3F0243C}"/>
              </a:ext>
            </a:extLst>
          </p:cNvPr>
          <p:cNvSpPr/>
          <p:nvPr/>
        </p:nvSpPr>
        <p:spPr>
          <a:xfrm>
            <a:off x="8333487" y="1385256"/>
            <a:ext cx="1344468" cy="376097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00B2A9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MM03 – Display Material Master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2D72C21-1A3F-4F79-B536-2C157FB06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0658" y="3409650"/>
            <a:ext cx="5458142" cy="304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044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17416-4AD1-4E37-B13D-D1AA30011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Volume Conversion not visible in GR55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BC0FC3-A089-4CB1-AFD6-F22DED333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Presentation title in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249439-B24D-42F9-94F8-CF98BC52A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C94289-3309-4C35-850A-56FD49B3E346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FB619BB-0702-41EA-A74D-6D5F6D77E740}"/>
              </a:ext>
            </a:extLst>
          </p:cNvPr>
          <p:cNvSpPr txBox="1">
            <a:spLocks/>
          </p:cNvSpPr>
          <p:nvPr/>
        </p:nvSpPr>
        <p:spPr>
          <a:xfrm>
            <a:off x="654205" y="1647379"/>
            <a:ext cx="4644591" cy="4723684"/>
          </a:xfrm>
          <a:prstGeom prst="rect">
            <a:avLst/>
          </a:prstGeom>
          <a:ln w="19050">
            <a:solidFill>
              <a:srgbClr val="33C1BA"/>
            </a:solidFill>
            <a:prstDash val="dash"/>
          </a:ln>
        </p:spPr>
        <p:txBody>
          <a:bodyPr vert="horz" lIns="91440" tIns="91440" rIns="91440" bIns="9144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388" indent="-17938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0050" indent="-1952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08013" indent="-198438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850" indent="-204788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Although Volume Conversion takes place in real time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GR55 Z4PL report does not show converted Volumes.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 GR55 you will find the 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BuOM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However, if the drill down functionality is used to 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drill down to FAGLL03H the volume conversion will be shown.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Volume conversion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can also be viewed in real time via 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CDS S/4 queries using Analysis for Office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8040E6-BF90-4B3A-A23D-4D05EC88E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0616" y="1647379"/>
            <a:ext cx="4433702" cy="23468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C3FCD8C-7CF7-41DA-9611-E2BDD5993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0616" y="4106611"/>
            <a:ext cx="5221423" cy="2208019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5824829-3980-4C4A-A7DA-A8813E01FCF4}"/>
              </a:ext>
            </a:extLst>
          </p:cNvPr>
          <p:cNvSpPr/>
          <p:nvPr/>
        </p:nvSpPr>
        <p:spPr>
          <a:xfrm>
            <a:off x="6404839" y="1647379"/>
            <a:ext cx="1488430" cy="44418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00B2A9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GR55 – Z4PL Display Market P&amp;L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693128D-718A-49D9-8518-49AA9D16EB89}"/>
              </a:ext>
            </a:extLst>
          </p:cNvPr>
          <p:cNvSpPr/>
          <p:nvPr/>
        </p:nvSpPr>
        <p:spPr>
          <a:xfrm>
            <a:off x="6269037" y="4060379"/>
            <a:ext cx="1488430" cy="44418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00B2A9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FAGLL03H – Line Item Browser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761EDD1F-8224-4BBC-97A8-F83A3CCE42A0}"/>
              </a:ext>
            </a:extLst>
          </p:cNvPr>
          <p:cNvSpPr/>
          <p:nvPr/>
        </p:nvSpPr>
        <p:spPr>
          <a:xfrm rot="5400000">
            <a:off x="8807553" y="3971032"/>
            <a:ext cx="740764" cy="622875"/>
          </a:xfrm>
          <a:prstGeom prst="rightArrow">
            <a:avLst>
              <a:gd name="adj1" fmla="val 50000"/>
              <a:gd name="adj2" fmla="val 30275"/>
            </a:avLst>
          </a:prstGeom>
          <a:gradFill flip="none" rotWithShape="1">
            <a:gsLst>
              <a:gs pos="0">
                <a:schemeClr val="accent2"/>
              </a:gs>
              <a:gs pos="50000">
                <a:schemeClr val="accent2">
                  <a:lumMod val="40000"/>
                  <a:lumOff val="6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81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6FB8F55-50C0-4C74-97F1-D10E1B8E859F}"/>
              </a:ext>
            </a:extLst>
          </p:cNvPr>
          <p:cNvSpPr txBox="1">
            <a:spLocks/>
          </p:cNvSpPr>
          <p:nvPr/>
        </p:nvSpPr>
        <p:spPr>
          <a:xfrm>
            <a:off x="9428417" y="4106611"/>
            <a:ext cx="1091802" cy="264247"/>
          </a:xfrm>
          <a:prstGeom prst="rect">
            <a:avLst/>
          </a:prstGeom>
          <a:ln w="19050">
            <a:solidFill>
              <a:srgbClr val="FFC000"/>
            </a:solidFill>
            <a:prstDash val="dash"/>
          </a:ln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388" indent="-17938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0050" indent="-1952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08013" indent="-198438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850" indent="-204788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Drilldown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EFA27931-197D-4D8A-A61A-53F25B3AADF5}"/>
              </a:ext>
            </a:extLst>
          </p:cNvPr>
          <p:cNvSpPr/>
          <p:nvPr/>
        </p:nvSpPr>
        <p:spPr>
          <a:xfrm>
            <a:off x="8374660" y="1400172"/>
            <a:ext cx="3230042" cy="297010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Only </a:t>
            </a:r>
            <a:r>
              <a:rPr kumimoji="0" lang="en-US" sz="1000" b="1" i="0" u="none" strike="noStrike" kern="1200" cap="none" spc="0" normalizeH="0" baseline="0" noProof="0" err="1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BUoM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in GR55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175DCD-2D3F-41E2-9454-77C2B5EB777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" r="33918" b="1589"/>
          <a:stretch/>
        </p:blipFill>
        <p:spPr>
          <a:xfrm>
            <a:off x="9971335" y="1709742"/>
            <a:ext cx="1704726" cy="2854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09AACB-D1CA-443E-8CC0-9F087AD9F9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3925" y="2359425"/>
            <a:ext cx="1474167" cy="398132"/>
          </a:xfrm>
          <a:prstGeom prst="rect">
            <a:avLst/>
          </a:pr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92395790-DE7B-47BE-8D09-3D88D2CC888A}"/>
              </a:ext>
            </a:extLst>
          </p:cNvPr>
          <p:cNvSpPr txBox="1">
            <a:spLocks/>
          </p:cNvSpPr>
          <p:nvPr/>
        </p:nvSpPr>
        <p:spPr>
          <a:xfrm>
            <a:off x="10118646" y="2240356"/>
            <a:ext cx="1704726" cy="1357385"/>
          </a:xfrm>
          <a:prstGeom prst="rect">
            <a:avLst/>
          </a:prstGeom>
          <a:ln w="19050">
            <a:solidFill>
              <a:srgbClr val="36C4BE"/>
            </a:solidFill>
            <a:prstDash val="dash"/>
          </a:ln>
        </p:spPr>
        <p:txBody>
          <a:bodyPr vert="horz" lIns="182880" tIns="91440" rIns="182880" bIns="9144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388" indent="-17938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0050" indent="-195263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08013" indent="-198438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850" indent="-204788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Click on toolbar To the far right to visualize other </a:t>
            </a:r>
            <a:r>
              <a:rPr kumimoji="0" lang="en-GB" sz="14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BUoM</a:t>
            </a: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used. </a:t>
            </a:r>
          </a:p>
        </p:txBody>
      </p:sp>
      <p:sp>
        <p:nvSpPr>
          <p:cNvPr id="17" name="Freeform 29">
            <a:extLst>
              <a:ext uri="{FF2B5EF4-FFF2-40B4-BE49-F238E27FC236}">
                <a16:creationId xmlns:a16="http://schemas.microsoft.com/office/drawing/2014/main" id="{3BD0DAF0-6DA4-4278-8FA3-0F89F2965277}"/>
              </a:ext>
            </a:extLst>
          </p:cNvPr>
          <p:cNvSpPr>
            <a:spLocks/>
          </p:cNvSpPr>
          <p:nvPr/>
        </p:nvSpPr>
        <p:spPr bwMode="gray">
          <a:xfrm>
            <a:off x="8872720" y="4466086"/>
            <a:ext cx="1966265" cy="735980"/>
          </a:xfrm>
          <a:custGeom>
            <a:avLst/>
            <a:gdLst>
              <a:gd name="T0" fmla="*/ 2147483647 w 3884"/>
              <a:gd name="T1" fmla="*/ 2147483647 h 1600"/>
              <a:gd name="T2" fmla="*/ 2147483647 w 3884"/>
              <a:gd name="T3" fmla="*/ 2147483647 h 1600"/>
              <a:gd name="T4" fmla="*/ 2147483647 w 3884"/>
              <a:gd name="T5" fmla="*/ 2147483647 h 1600"/>
              <a:gd name="T6" fmla="*/ 2147483647 w 3884"/>
              <a:gd name="T7" fmla="*/ 2147483647 h 1600"/>
              <a:gd name="T8" fmla="*/ 2147483647 w 3884"/>
              <a:gd name="T9" fmla="*/ 2147483647 h 1600"/>
              <a:gd name="T10" fmla="*/ 2147483647 w 3884"/>
              <a:gd name="T11" fmla="*/ 2147483647 h 1600"/>
              <a:gd name="T12" fmla="*/ 0 w 3884"/>
              <a:gd name="T13" fmla="*/ 2147483647 h 1600"/>
              <a:gd name="T14" fmla="*/ 2147483647 w 3884"/>
              <a:gd name="T15" fmla="*/ 2147483647 h 1600"/>
              <a:gd name="T16" fmla="*/ 2147483647 w 3884"/>
              <a:gd name="T17" fmla="*/ 2147483647 h 1600"/>
              <a:gd name="T18" fmla="*/ 2147483647 w 3884"/>
              <a:gd name="T19" fmla="*/ 2147483647 h 1600"/>
              <a:gd name="T20" fmla="*/ 2147483647 w 3884"/>
              <a:gd name="T21" fmla="*/ 2147483647 h 160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3884"/>
              <a:gd name="T34" fmla="*/ 0 h 1600"/>
              <a:gd name="T35" fmla="*/ 3884 w 3884"/>
              <a:gd name="T36" fmla="*/ 1600 h 1600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3884" h="1600">
                <a:moveTo>
                  <a:pt x="297" y="1346"/>
                </a:moveTo>
                <a:cubicBezTo>
                  <a:pt x="918" y="1523"/>
                  <a:pt x="1726" y="1533"/>
                  <a:pt x="2310" y="1448"/>
                </a:cubicBezTo>
                <a:cubicBezTo>
                  <a:pt x="3125" y="1334"/>
                  <a:pt x="3798" y="1192"/>
                  <a:pt x="3810" y="884"/>
                </a:cubicBezTo>
                <a:cubicBezTo>
                  <a:pt x="3822" y="576"/>
                  <a:pt x="3114" y="204"/>
                  <a:pt x="1945" y="137"/>
                </a:cubicBezTo>
                <a:cubicBezTo>
                  <a:pt x="645" y="63"/>
                  <a:pt x="74" y="564"/>
                  <a:pt x="74" y="724"/>
                </a:cubicBezTo>
                <a:cubicBezTo>
                  <a:pt x="74" y="884"/>
                  <a:pt x="394" y="1032"/>
                  <a:pt x="781" y="1072"/>
                </a:cubicBezTo>
                <a:cubicBezTo>
                  <a:pt x="280" y="1135"/>
                  <a:pt x="0" y="912"/>
                  <a:pt x="0" y="724"/>
                </a:cubicBezTo>
                <a:cubicBezTo>
                  <a:pt x="0" y="536"/>
                  <a:pt x="473" y="0"/>
                  <a:pt x="1951" y="68"/>
                </a:cubicBezTo>
                <a:cubicBezTo>
                  <a:pt x="2863" y="110"/>
                  <a:pt x="3884" y="433"/>
                  <a:pt x="3878" y="884"/>
                </a:cubicBezTo>
                <a:cubicBezTo>
                  <a:pt x="3872" y="1335"/>
                  <a:pt x="2873" y="1446"/>
                  <a:pt x="2276" y="1523"/>
                </a:cubicBezTo>
                <a:cubicBezTo>
                  <a:pt x="1679" y="1600"/>
                  <a:pt x="553" y="1580"/>
                  <a:pt x="297" y="1346"/>
                </a:cubicBezTo>
                <a:close/>
              </a:path>
            </a:pathLst>
          </a:custGeom>
          <a:solidFill>
            <a:srgbClr val="00BDB7"/>
          </a:solidFill>
          <a:ln w="19050">
            <a:solidFill>
              <a:srgbClr val="74D9D5"/>
            </a:solidFill>
            <a:round/>
            <a:headEnd/>
            <a:tailEnd/>
          </a:ln>
        </p:spPr>
        <p:txBody>
          <a:bodyPr vert="horz" wrap="square" lIns="91440" tIns="91440" rIns="91440" bIns="9144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ＭＳ Ｐゴシック" pitchFamily="80" charset="-128"/>
              <a:cs typeface="+mn-cs"/>
            </a:endParaRPr>
          </a:p>
        </p:txBody>
      </p:sp>
      <p:pic>
        <p:nvPicPr>
          <p:cNvPr id="18" name="Graphic 17" descr="Warning">
            <a:extLst>
              <a:ext uri="{FF2B5EF4-FFF2-40B4-BE49-F238E27FC236}">
                <a16:creationId xmlns:a16="http://schemas.microsoft.com/office/drawing/2014/main" id="{4122B16C-D0CA-47FE-B0AD-349B3B78C7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366172" y="3188321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64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90CC5F-7E64-4D1A-90F2-3D2368F93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Demonstration &amp; exercises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968D6E-A1C2-48A1-8EEA-68D04FC7D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A2304-23DC-2B46-BD14-F082077842FF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F6DE24-71F6-4B4D-B00E-1C92B20D8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334" y="3121980"/>
            <a:ext cx="8177215" cy="309452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2075" tIns="457200" rIns="92075" bIns="457200"/>
          <a:lstStyle/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ct val="40000"/>
              </a:spcBef>
              <a:spcAft>
                <a:spcPts val="0"/>
              </a:spcAft>
              <a:buClr>
                <a:srgbClr val="DDDDDD"/>
              </a:buClr>
              <a:buSzPct val="80000"/>
              <a:buFont typeface="Wingdings" pitchFamily="2" charset="2"/>
              <a:buChar char="§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Exercise for Volume Conversion in Reporting section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E07B137-E250-4AC5-81D1-F142F8E125F0}"/>
              </a:ext>
            </a:extLst>
          </p:cNvPr>
          <p:cNvSpPr/>
          <p:nvPr/>
        </p:nvSpPr>
        <p:spPr>
          <a:xfrm>
            <a:off x="515938" y="3286778"/>
            <a:ext cx="8428008" cy="3094529"/>
          </a:xfrm>
          <a:prstGeom prst="roundRect">
            <a:avLst>
              <a:gd name="adj" fmla="val 7381"/>
            </a:avLst>
          </a:prstGeom>
          <a:noFill/>
          <a:ln w="57150">
            <a:solidFill>
              <a:schemeClr val="bg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61355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wLtFvJPmZMIJRo0G1gMKg"/>
</p:tagLst>
</file>

<file path=ppt/theme/theme1.xml><?xml version="1.0" encoding="utf-8"?>
<a:theme xmlns:a="http://schemas.openxmlformats.org/drawingml/2006/main" name="S4F-ERP Profitability Analysis">
  <a:themeElements>
    <a:clrScheme name="Custom 9">
      <a:dk1>
        <a:srgbClr val="000000"/>
      </a:dk1>
      <a:lt1>
        <a:srgbClr val="FFFFFF"/>
      </a:lt1>
      <a:dk2>
        <a:srgbClr val="1A3040"/>
      </a:dk2>
      <a:lt2>
        <a:srgbClr val="DDDDDD"/>
      </a:lt2>
      <a:accent1>
        <a:srgbClr val="74D9D5"/>
      </a:accent1>
      <a:accent2>
        <a:srgbClr val="EAAA00"/>
      </a:accent2>
      <a:accent3>
        <a:srgbClr val="00B2A9"/>
      </a:accent3>
      <a:accent4>
        <a:srgbClr val="8031A7"/>
      </a:accent4>
      <a:accent5>
        <a:srgbClr val="E782A9"/>
      </a:accent5>
      <a:accent6>
        <a:srgbClr val="407EC9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4F Template" id="{8187A0D7-44D4-4A4B-A36D-CEF7DE641DC2}" vid="{E04EDAD1-AFC5-BE4E-A44C-E641ABC5FF6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EA691DA1475FED40816A34A9887BD419" ma:contentTypeVersion="26" ma:contentTypeDescription="Создание документа." ma:contentTypeScope="" ma:versionID="559e90d719ff0254e378a0bb7967f071">
  <xsd:schema xmlns:xsd="http://www.w3.org/2001/XMLSchema" xmlns:xs="http://www.w3.org/2001/XMLSchema" xmlns:p="http://schemas.microsoft.com/office/2006/metadata/properties" xmlns:ns1="http://schemas.microsoft.com/sharepoint/v3" xmlns:ns2="91871c47-af2e-43ea-ad3f-7bb4c536bc45" xmlns:ns3="ba249638-b5c4-4b59-8094-70d8491c2e9c" xmlns:ns4="cb52ee0d-5346-4ae8-a9f9-d746adffeb6b" targetNamespace="http://schemas.microsoft.com/office/2006/metadata/properties" ma:root="true" ma:fieldsID="a3b096dd063bdcacd4429cc4e08033be" ns1:_="" ns2:_="" ns3:_="" ns4:_="">
    <xsd:import namespace="http://schemas.microsoft.com/sharepoint/v3"/>
    <xsd:import namespace="91871c47-af2e-43ea-ad3f-7bb4c536bc45"/>
    <xsd:import namespace="ba249638-b5c4-4b59-8094-70d8491c2e9c"/>
    <xsd:import namespace="cb52ee0d-5346-4ae8-a9f9-d746adffeb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ReportDate" minOccurs="0"/>
                <xsd:element ref="ns2:MediaServiceAutoTags" minOccurs="0"/>
                <xsd:element ref="ns2:lcf76f155ced4ddcb4097134ff3c332f" minOccurs="0"/>
                <xsd:element ref="ns4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  <xsd:element ref="ns2:Remarks" minOccurs="0"/>
                <xsd:element ref="ns2:Details" minOccurs="0"/>
                <xsd:element ref="ns2:FolderInfo" minOccurs="0"/>
                <xsd:element ref="ns2:T_x002d_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7" nillable="true" ma:displayName="Свойства единой политики соответствия требованиям" ma:hidden="true" ma:internalName="_ip_UnifiedCompliancePolicyProperties">
      <xsd:simpleType>
        <xsd:restriction base="dms:Note"/>
      </xsd:simpleType>
    </xsd:element>
    <xsd:element name="_ip_UnifiedCompliancePolicyUIAction" ma:index="28" nillable="true" ma:displayName="Действие с пользовательским интерфейсом в рамках единой политики соответствия требованиям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871c47-af2e-43ea-ad3f-7bb4c536bc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ReportDate" ma:index="16" nillable="true" ma:displayName="Report Date" ma:format="DateOnly" ma:internalName="ReportDate">
      <xsd:simpleType>
        <xsd:restriction base="dms:DateTime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c3dfe741-475c-44cf-bcd4-46bfd3fd069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Remarks" ma:index="29" nillable="true" ma:displayName="Remarks" ma:format="Dropdown" ma:internalName="Remarks">
      <xsd:simpleType>
        <xsd:restriction base="dms:Text">
          <xsd:maxLength value="255"/>
        </xsd:restriction>
      </xsd:simpleType>
    </xsd:element>
    <xsd:element name="Details" ma:index="30" nillable="true" ma:displayName="Details" ma:format="Dropdown" ma:internalName="Details">
      <xsd:simpleType>
        <xsd:restriction base="dms:Note">
          <xsd:maxLength value="255"/>
        </xsd:restriction>
      </xsd:simpleType>
    </xsd:element>
    <xsd:element name="FolderInfo" ma:index="31" nillable="true" ma:displayName="Folder/File Info" ma:format="Dropdown" ma:internalName="FolderInfo">
      <xsd:simpleType>
        <xsd:restriction base="dms:Note">
          <xsd:maxLength value="255"/>
        </xsd:restriction>
      </xsd:simpleType>
    </xsd:element>
    <xsd:element name="T_x002d_Code" ma:index="32" nillable="true" ma:displayName="T-Code" ma:format="Dropdown" ma:internalName="T_x002d_Code">
      <xsd:simpleType>
        <xsd:restriction base="dms:Text">
          <xsd:maxLength value="255"/>
        </xsd:restriction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249638-b5c4-4b59-8094-70d8491c2e9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52ee0d-5346-4ae8-a9f9-d746adffeb6b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4cb22aed-3451-4198-9f27-006c28665e31}" ma:internalName="TaxCatchAll" ma:showField="CatchAllData" ma:web="cb52ee0d-5346-4ae8-a9f9-d746adffeb6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ba249638-b5c4-4b59-8094-70d8491c2e9c">
      <UserInfo>
        <DisplayName/>
        <AccountId xsi:nil="true"/>
        <AccountType/>
      </UserInfo>
    </SharedWithUsers>
    <ReportDate xmlns="91871c47-af2e-43ea-ad3f-7bb4c536bc45" xsi:nil="true"/>
    <lcf76f155ced4ddcb4097134ff3c332f xmlns="91871c47-af2e-43ea-ad3f-7bb4c536bc45">
      <Terms xmlns="http://schemas.microsoft.com/office/infopath/2007/PartnerControls"/>
    </lcf76f155ced4ddcb4097134ff3c332f>
    <TaxCatchAll xmlns="cb52ee0d-5346-4ae8-a9f9-d746adffeb6b" xsi:nil="true"/>
    <_ip_UnifiedCompliancePolicyUIAction xmlns="http://schemas.microsoft.com/sharepoint/v3" xsi:nil="true"/>
    <_ip_UnifiedCompliancePolicyProperties xmlns="http://schemas.microsoft.com/sharepoint/v3" xsi:nil="true"/>
    <Details xmlns="91871c47-af2e-43ea-ad3f-7bb4c536bc45" xsi:nil="true"/>
    <FolderInfo xmlns="91871c47-af2e-43ea-ad3f-7bb4c536bc45" xsi:nil="true"/>
    <Remarks xmlns="91871c47-af2e-43ea-ad3f-7bb4c536bc45" xsi:nil="true"/>
    <T_x002d_Code xmlns="91871c47-af2e-43ea-ad3f-7bb4c536bc45" xsi:nil="true"/>
  </documentManagement>
</p:properties>
</file>

<file path=customXml/itemProps1.xml><?xml version="1.0" encoding="utf-8"?>
<ds:datastoreItem xmlns:ds="http://schemas.openxmlformats.org/officeDocument/2006/customXml" ds:itemID="{CCC6F97A-3191-4F55-A00B-FAC0AC755D9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9C43C71-DD92-43AC-A1FE-4BB5FEED8F54}"/>
</file>

<file path=customXml/itemProps3.xml><?xml version="1.0" encoding="utf-8"?>
<ds:datastoreItem xmlns:ds="http://schemas.openxmlformats.org/officeDocument/2006/customXml" ds:itemID="{341E45DC-B4D8-48C0-890F-CA0137C950C2}">
  <ds:schemaRefs>
    <ds:schemaRef ds:uri="da913ec1-a210-4093-97d6-83558d020e4c"/>
    <ds:schemaRef ds:uri="http://purl.org/dc/elements/1.1/"/>
    <ds:schemaRef ds:uri="http://schemas.microsoft.com/office/2006/metadata/properties"/>
    <ds:schemaRef ds:uri="033d2065-0f41-4cc7-b07b-20f12998cf87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  <ds:schemaRef ds:uri="ba249638-b5c4-4b59-8094-70d8491c2e9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785</Words>
  <Application>Microsoft Office PowerPoint</Application>
  <PresentationFormat>Widescreen</PresentationFormat>
  <Paragraphs>114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S4F-ERP Profitability Analysis</vt:lpstr>
      <vt:lpstr>Course Structure</vt:lpstr>
      <vt:lpstr>Volume Conversion Table – Embedded in S/4</vt:lpstr>
      <vt:lpstr>Volume Conversions used in JTI Volumes</vt:lpstr>
      <vt:lpstr>Volume conversion &amp; Mapping Table</vt:lpstr>
      <vt:lpstr>Volume Conversion – FAGLL03H</vt:lpstr>
      <vt:lpstr>Volume Conversion Example</vt:lpstr>
      <vt:lpstr>Volume Conversion not visible in GR55</vt:lpstr>
      <vt:lpstr>Demonstration &amp; exercises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Structure</dc:title>
  <dc:creator>O'Neill, Shauna</dc:creator>
  <cp:lastModifiedBy>O'Neill, Shauna</cp:lastModifiedBy>
  <cp:revision>3</cp:revision>
  <dcterms:created xsi:type="dcterms:W3CDTF">2019-10-14T14:18:07Z</dcterms:created>
  <dcterms:modified xsi:type="dcterms:W3CDTF">2021-06-14T11:11:39Z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0x010100EA691DA1475FED40816A34A9887BD419</vt:lpwstr>
  </property>
  <property fmtid="{D5CDD505-2E9C-101B-9397-08002B2CF9AE}" pid="3" name="Order">
    <vt:r8>1284500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</Properties>
</file>