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648" r:id="rId5"/>
    <p:sldMasterId id="2147483926" r:id="rId6"/>
    <p:sldMasterId id="2147483931" r:id="rId7"/>
  </p:sldMasterIdLst>
  <p:notesMasterIdLst>
    <p:notesMasterId r:id="rId22"/>
  </p:notesMasterIdLst>
  <p:sldIdLst>
    <p:sldId id="3359" r:id="rId8"/>
    <p:sldId id="2574" r:id="rId9"/>
    <p:sldId id="3293" r:id="rId10"/>
    <p:sldId id="3292" r:id="rId11"/>
    <p:sldId id="3295" r:id="rId12"/>
    <p:sldId id="3296" r:id="rId13"/>
    <p:sldId id="3297" r:id="rId14"/>
    <p:sldId id="3298" r:id="rId15"/>
    <p:sldId id="3299" r:id="rId16"/>
    <p:sldId id="2559" r:id="rId17"/>
    <p:sldId id="3402" r:id="rId18"/>
    <p:sldId id="2134961523" r:id="rId19"/>
    <p:sldId id="2147477286" r:id="rId20"/>
    <p:sldId id="263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24514E-CE52-4B5C-96D7-86713BDF64F2}" v="1" dt="2024-04-25T18:20:04.3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5024514E-CE52-4B5C-96D7-86713BDF64F2}"/>
    <pc:docChg chg="delSld">
      <pc:chgData name="Wang, Wei" userId="627587dd-935f-4f2b-a6c6-edd4e0dcbff5" providerId="ADAL" clId="{5024514E-CE52-4B5C-96D7-86713BDF64F2}" dt="2024-04-25T18:19:46.280" v="0" actId="47"/>
      <pc:docMkLst>
        <pc:docMk/>
      </pc:docMkLst>
      <pc:sldChg chg="del">
        <pc:chgData name="Wang, Wei" userId="627587dd-935f-4f2b-a6c6-edd4e0dcbff5" providerId="ADAL" clId="{5024514E-CE52-4B5C-96D7-86713BDF64F2}" dt="2024-04-25T18:19:46.280" v="0" actId="47"/>
        <pc:sldMkLst>
          <pc:docMk/>
          <pc:sldMk cId="2955668432" sldId="2559"/>
        </pc:sldMkLst>
      </pc:sldChg>
      <pc:sldChg chg="del">
        <pc:chgData name="Wang, Wei" userId="627587dd-935f-4f2b-a6c6-edd4e0dcbff5" providerId="ADAL" clId="{5024514E-CE52-4B5C-96D7-86713BDF64F2}" dt="2024-04-25T18:19:46.280" v="0" actId="47"/>
        <pc:sldMkLst>
          <pc:docMk/>
          <pc:sldMk cId="2795661269" sldId="3292"/>
        </pc:sldMkLst>
      </pc:sldChg>
      <pc:sldChg chg="del">
        <pc:chgData name="Wang, Wei" userId="627587dd-935f-4f2b-a6c6-edd4e0dcbff5" providerId="ADAL" clId="{5024514E-CE52-4B5C-96D7-86713BDF64F2}" dt="2024-04-25T18:19:46.280" v="0" actId="47"/>
        <pc:sldMkLst>
          <pc:docMk/>
          <pc:sldMk cId="1553453907" sldId="3293"/>
        </pc:sldMkLst>
      </pc:sldChg>
      <pc:sldChg chg="del">
        <pc:chgData name="Wang, Wei" userId="627587dd-935f-4f2b-a6c6-edd4e0dcbff5" providerId="ADAL" clId="{5024514E-CE52-4B5C-96D7-86713BDF64F2}" dt="2024-04-25T18:19:46.280" v="0" actId="47"/>
        <pc:sldMkLst>
          <pc:docMk/>
          <pc:sldMk cId="1479512413" sldId="3295"/>
        </pc:sldMkLst>
      </pc:sldChg>
      <pc:sldChg chg="del">
        <pc:chgData name="Wang, Wei" userId="627587dd-935f-4f2b-a6c6-edd4e0dcbff5" providerId="ADAL" clId="{5024514E-CE52-4B5C-96D7-86713BDF64F2}" dt="2024-04-25T18:19:46.280" v="0" actId="47"/>
        <pc:sldMkLst>
          <pc:docMk/>
          <pc:sldMk cId="3954248733" sldId="3296"/>
        </pc:sldMkLst>
      </pc:sldChg>
      <pc:sldChg chg="del">
        <pc:chgData name="Wang, Wei" userId="627587dd-935f-4f2b-a6c6-edd4e0dcbff5" providerId="ADAL" clId="{5024514E-CE52-4B5C-96D7-86713BDF64F2}" dt="2024-04-25T18:19:46.280" v="0" actId="47"/>
        <pc:sldMkLst>
          <pc:docMk/>
          <pc:sldMk cId="3156802134" sldId="3297"/>
        </pc:sldMkLst>
      </pc:sldChg>
      <pc:sldChg chg="del">
        <pc:chgData name="Wang, Wei" userId="627587dd-935f-4f2b-a6c6-edd4e0dcbff5" providerId="ADAL" clId="{5024514E-CE52-4B5C-96D7-86713BDF64F2}" dt="2024-04-25T18:19:46.280" v="0" actId="47"/>
        <pc:sldMkLst>
          <pc:docMk/>
          <pc:sldMk cId="2403325956" sldId="3298"/>
        </pc:sldMkLst>
      </pc:sldChg>
      <pc:sldChg chg="del">
        <pc:chgData name="Wang, Wei" userId="627587dd-935f-4f2b-a6c6-edd4e0dcbff5" providerId="ADAL" clId="{5024514E-CE52-4B5C-96D7-86713BDF64F2}" dt="2024-04-25T18:19:46.280" v="0" actId="47"/>
        <pc:sldMkLst>
          <pc:docMk/>
          <pc:sldMk cId="4278664167" sldId="3299"/>
        </pc:sldMkLst>
      </pc:sldChg>
      <pc:sldChg chg="del">
        <pc:chgData name="Wang, Wei" userId="627587dd-935f-4f2b-a6c6-edd4e0dcbff5" providerId="ADAL" clId="{5024514E-CE52-4B5C-96D7-86713BDF64F2}" dt="2024-04-25T18:19:46.280" v="0" actId="47"/>
        <pc:sldMkLst>
          <pc:docMk/>
          <pc:sldMk cId="2707993506" sldId="3402"/>
        </pc:sldMkLst>
      </pc:sldChg>
      <pc:sldMasterChg chg="delSldLayout">
        <pc:chgData name="Wang, Wei" userId="627587dd-935f-4f2b-a6c6-edd4e0dcbff5" providerId="ADAL" clId="{5024514E-CE52-4B5C-96D7-86713BDF64F2}" dt="2024-04-25T18:19:46.280" v="0" actId="47"/>
        <pc:sldMasterMkLst>
          <pc:docMk/>
          <pc:sldMasterMk cId="2027459739" sldId="2147483926"/>
        </pc:sldMasterMkLst>
        <pc:sldLayoutChg chg="del">
          <pc:chgData name="Wang, Wei" userId="627587dd-935f-4f2b-a6c6-edd4e0dcbff5" providerId="ADAL" clId="{5024514E-CE52-4B5C-96D7-86713BDF64F2}" dt="2024-04-25T18:19:46.280" v="0" actId="47"/>
          <pc:sldLayoutMkLst>
            <pc:docMk/>
            <pc:sldMasterMk cId="2027459739" sldId="2147483926"/>
            <pc:sldLayoutMk cId="1571272697" sldId="2147483992"/>
          </pc:sldLayoutMkLst>
        </pc:sldLayoutChg>
      </pc:sldMasterChg>
    </pc:docChg>
  </pc:docChgLst>
  <pc:docChgLst>
    <pc:chgData name="Wang, Wei" userId="627587dd-935f-4f2b-a6c6-edd4e0dcbff5" providerId="ADAL" clId="{C4D1AEE6-7444-4BA9-8FF9-A050714816C3}"/>
    <pc:docChg chg="addSld delSld modSld delMainMaster">
      <pc:chgData name="Wang, Wei" userId="627587dd-935f-4f2b-a6c6-edd4e0dcbff5" providerId="ADAL" clId="{C4D1AEE6-7444-4BA9-8FF9-A050714816C3}" dt="2020-05-22T10:44:37.408" v="79" actId="14100"/>
      <pc:docMkLst>
        <pc:docMk/>
      </pc:docMkLst>
      <pc:sldChg chg="del">
        <pc:chgData name="Wang, Wei" userId="627587dd-935f-4f2b-a6c6-edd4e0dcbff5" providerId="ADAL" clId="{C4D1AEE6-7444-4BA9-8FF9-A050714816C3}" dt="2020-05-21T16:13:09.571" v="46" actId="2696"/>
        <pc:sldMkLst>
          <pc:docMk/>
          <pc:sldMk cId="22907484" sldId="2522"/>
        </pc:sldMkLst>
      </pc:sldChg>
      <pc:sldChg chg="del">
        <pc:chgData name="Wang, Wei" userId="627587dd-935f-4f2b-a6c6-edd4e0dcbff5" providerId="ADAL" clId="{C4D1AEE6-7444-4BA9-8FF9-A050714816C3}" dt="2020-05-21T16:13:08.991" v="19" actId="2696"/>
        <pc:sldMkLst>
          <pc:docMk/>
          <pc:sldMk cId="1713380516" sldId="2558"/>
        </pc:sldMkLst>
      </pc:sldChg>
      <pc:sldChg chg="del">
        <pc:chgData name="Wang, Wei" userId="627587dd-935f-4f2b-a6c6-edd4e0dcbff5" providerId="ADAL" clId="{C4D1AEE6-7444-4BA9-8FF9-A050714816C3}" dt="2020-05-21T16:13:08.794" v="12" actId="2696"/>
        <pc:sldMkLst>
          <pc:docMk/>
          <pc:sldMk cId="523632826" sldId="2560"/>
        </pc:sldMkLst>
      </pc:sldChg>
      <pc:sldChg chg="del">
        <pc:chgData name="Wang, Wei" userId="627587dd-935f-4f2b-a6c6-edd4e0dcbff5" providerId="ADAL" clId="{C4D1AEE6-7444-4BA9-8FF9-A050714816C3}" dt="2020-05-21T16:13:08.598" v="5" actId="2696"/>
        <pc:sldMkLst>
          <pc:docMk/>
          <pc:sldMk cId="167443583" sldId="2561"/>
        </pc:sldMkLst>
      </pc:sldChg>
      <pc:sldChg chg="del">
        <pc:chgData name="Wang, Wei" userId="627587dd-935f-4f2b-a6c6-edd4e0dcbff5" providerId="ADAL" clId="{C4D1AEE6-7444-4BA9-8FF9-A050714816C3}" dt="2020-05-21T16:13:08.825" v="13" actId="2696"/>
        <pc:sldMkLst>
          <pc:docMk/>
          <pc:sldMk cId="881083979" sldId="2564"/>
        </pc:sldMkLst>
      </pc:sldChg>
      <pc:sldChg chg="modSp add del">
        <pc:chgData name="Wang, Wei" userId="627587dd-935f-4f2b-a6c6-edd4e0dcbff5" providerId="ADAL" clId="{C4D1AEE6-7444-4BA9-8FF9-A050714816C3}" dt="2020-05-22T10:44:37.408" v="79" actId="14100"/>
        <pc:sldMkLst>
          <pc:docMk/>
          <pc:sldMk cId="391170887" sldId="2638"/>
        </pc:sldMkLst>
        <pc:spChg chg="mod">
          <ac:chgData name="Wang, Wei" userId="627587dd-935f-4f2b-a6c6-edd4e0dcbff5" providerId="ADAL" clId="{C4D1AEE6-7444-4BA9-8FF9-A050714816C3}" dt="2020-05-22T10:44:35.211" v="78" actId="14100"/>
          <ac:spMkLst>
            <pc:docMk/>
            <pc:sldMk cId="391170887" sldId="2638"/>
            <ac:spMk id="4" creationId="{7DF6DE24-71F6-4B4D-B00E-1C92B20D83D9}"/>
          </ac:spMkLst>
        </pc:spChg>
        <pc:spChg chg="mod">
          <ac:chgData name="Wang, Wei" userId="627587dd-935f-4f2b-a6c6-edd4e0dcbff5" providerId="ADAL" clId="{C4D1AEE6-7444-4BA9-8FF9-A050714816C3}" dt="2020-05-22T10:44:37.408" v="79" actId="14100"/>
          <ac:spMkLst>
            <pc:docMk/>
            <pc:sldMk cId="391170887" sldId="2638"/>
            <ac:spMk id="6" creationId="{BE07B137-E250-4AC5-81D1-F142F8E125F0}"/>
          </ac:spMkLst>
        </pc:spChg>
      </pc:sldChg>
      <pc:sldChg chg="del">
        <pc:chgData name="Wang, Wei" userId="627587dd-935f-4f2b-a6c6-edd4e0dcbff5" providerId="ADAL" clId="{C4D1AEE6-7444-4BA9-8FF9-A050714816C3}" dt="2020-05-21T16:13:08.501" v="1" actId="2696"/>
        <pc:sldMkLst>
          <pc:docMk/>
          <pc:sldMk cId="929812060" sldId="3294"/>
        </pc:sldMkLst>
      </pc:sldChg>
      <pc:sldChg chg="del">
        <pc:chgData name="Wang, Wei" userId="627587dd-935f-4f2b-a6c6-edd4e0dcbff5" providerId="ADAL" clId="{C4D1AEE6-7444-4BA9-8FF9-A050714816C3}" dt="2020-05-21T16:13:08.671" v="7" actId="2696"/>
        <pc:sldMkLst>
          <pc:docMk/>
          <pc:sldMk cId="2813254392" sldId="3300"/>
        </pc:sldMkLst>
      </pc:sldChg>
      <pc:sldChg chg="del">
        <pc:chgData name="Wang, Wei" userId="627587dd-935f-4f2b-a6c6-edd4e0dcbff5" providerId="ADAL" clId="{C4D1AEE6-7444-4BA9-8FF9-A050714816C3}" dt="2020-05-21T16:13:08.693" v="8" actId="2696"/>
        <pc:sldMkLst>
          <pc:docMk/>
          <pc:sldMk cId="2168276619" sldId="3301"/>
        </pc:sldMkLst>
      </pc:sldChg>
      <pc:sldChg chg="del">
        <pc:chgData name="Wang, Wei" userId="627587dd-935f-4f2b-a6c6-edd4e0dcbff5" providerId="ADAL" clId="{C4D1AEE6-7444-4BA9-8FF9-A050714816C3}" dt="2020-05-21T16:13:08.733" v="9" actId="2696"/>
        <pc:sldMkLst>
          <pc:docMk/>
          <pc:sldMk cId="606603448" sldId="3302"/>
        </pc:sldMkLst>
      </pc:sldChg>
      <pc:sldChg chg="del">
        <pc:chgData name="Wang, Wei" userId="627587dd-935f-4f2b-a6c6-edd4e0dcbff5" providerId="ADAL" clId="{C4D1AEE6-7444-4BA9-8FF9-A050714816C3}" dt="2020-05-21T16:13:08.752" v="10" actId="2696"/>
        <pc:sldMkLst>
          <pc:docMk/>
          <pc:sldMk cId="83612990" sldId="3305"/>
        </pc:sldMkLst>
      </pc:sldChg>
      <pc:sldChg chg="del">
        <pc:chgData name="Wang, Wei" userId="627587dd-935f-4f2b-a6c6-edd4e0dcbff5" providerId="ADAL" clId="{C4D1AEE6-7444-4BA9-8FF9-A050714816C3}" dt="2020-05-21T16:13:08.773" v="11" actId="2696"/>
        <pc:sldMkLst>
          <pc:docMk/>
          <pc:sldMk cId="1312951834" sldId="3306"/>
        </pc:sldMkLst>
      </pc:sldChg>
      <pc:sldChg chg="del">
        <pc:chgData name="Wang, Wei" userId="627587dd-935f-4f2b-a6c6-edd4e0dcbff5" providerId="ADAL" clId="{C4D1AEE6-7444-4BA9-8FF9-A050714816C3}" dt="2020-05-21T16:13:08.526" v="2" actId="2696"/>
        <pc:sldMkLst>
          <pc:docMk/>
          <pc:sldMk cId="1996300682" sldId="3307"/>
        </pc:sldMkLst>
      </pc:sldChg>
      <pc:sldChg chg="del">
        <pc:chgData name="Wang, Wei" userId="627587dd-935f-4f2b-a6c6-edd4e0dcbff5" providerId="ADAL" clId="{C4D1AEE6-7444-4BA9-8FF9-A050714816C3}" dt="2020-05-21T16:13:08.552" v="3" actId="2696"/>
        <pc:sldMkLst>
          <pc:docMk/>
          <pc:sldMk cId="2269029745" sldId="3309"/>
        </pc:sldMkLst>
      </pc:sldChg>
      <pc:sldChg chg="del">
        <pc:chgData name="Wang, Wei" userId="627587dd-935f-4f2b-a6c6-edd4e0dcbff5" providerId="ADAL" clId="{C4D1AEE6-7444-4BA9-8FF9-A050714816C3}" dt="2020-05-21T16:13:08.576" v="4" actId="2696"/>
        <pc:sldMkLst>
          <pc:docMk/>
          <pc:sldMk cId="667677968" sldId="3310"/>
        </pc:sldMkLst>
      </pc:sldChg>
      <pc:sldChg chg="del">
        <pc:chgData name="Wang, Wei" userId="627587dd-935f-4f2b-a6c6-edd4e0dcbff5" providerId="ADAL" clId="{C4D1AEE6-7444-4BA9-8FF9-A050714816C3}" dt="2020-05-21T16:13:08.473" v="0" actId="2696"/>
        <pc:sldMkLst>
          <pc:docMk/>
          <pc:sldMk cId="1892545769" sldId="3311"/>
        </pc:sldMkLst>
      </pc:sldChg>
      <pc:sldChg chg="del">
        <pc:chgData name="Wang, Wei" userId="627587dd-935f-4f2b-a6c6-edd4e0dcbff5" providerId="ADAL" clId="{C4D1AEE6-7444-4BA9-8FF9-A050714816C3}" dt="2020-05-21T16:13:08.636" v="6" actId="2696"/>
        <pc:sldMkLst>
          <pc:docMk/>
          <pc:sldMk cId="2194838920" sldId="3312"/>
        </pc:sldMkLst>
      </pc:sldChg>
      <pc:sldChg chg="del">
        <pc:chgData name="Wang, Wei" userId="627587dd-935f-4f2b-a6c6-edd4e0dcbff5" providerId="ADAL" clId="{C4D1AEE6-7444-4BA9-8FF9-A050714816C3}" dt="2020-05-21T16:13:08.891" v="15" actId="2696"/>
        <pc:sldMkLst>
          <pc:docMk/>
          <pc:sldMk cId="215748073" sldId="3313"/>
        </pc:sldMkLst>
      </pc:sldChg>
      <pc:sldChg chg="del">
        <pc:chgData name="Wang, Wei" userId="627587dd-935f-4f2b-a6c6-edd4e0dcbff5" providerId="ADAL" clId="{C4D1AEE6-7444-4BA9-8FF9-A050714816C3}" dt="2020-05-21T16:13:08.921" v="16" actId="2696"/>
        <pc:sldMkLst>
          <pc:docMk/>
          <pc:sldMk cId="4262673835" sldId="3314"/>
        </pc:sldMkLst>
      </pc:sldChg>
      <pc:sldChg chg="del">
        <pc:chgData name="Wang, Wei" userId="627587dd-935f-4f2b-a6c6-edd4e0dcbff5" providerId="ADAL" clId="{C4D1AEE6-7444-4BA9-8FF9-A050714816C3}" dt="2020-05-21T16:13:08.943" v="17" actId="2696"/>
        <pc:sldMkLst>
          <pc:docMk/>
          <pc:sldMk cId="3335184793" sldId="3315"/>
        </pc:sldMkLst>
      </pc:sldChg>
      <pc:sldChg chg="del">
        <pc:chgData name="Wang, Wei" userId="627587dd-935f-4f2b-a6c6-edd4e0dcbff5" providerId="ADAL" clId="{C4D1AEE6-7444-4BA9-8FF9-A050714816C3}" dt="2020-05-21T16:13:09.008" v="20" actId="2696"/>
        <pc:sldMkLst>
          <pc:docMk/>
          <pc:sldMk cId="2416137483" sldId="3316"/>
        </pc:sldMkLst>
      </pc:sldChg>
      <pc:sldChg chg="del">
        <pc:chgData name="Wang, Wei" userId="627587dd-935f-4f2b-a6c6-edd4e0dcbff5" providerId="ADAL" clId="{C4D1AEE6-7444-4BA9-8FF9-A050714816C3}" dt="2020-05-21T16:13:09.252" v="29" actId="2696"/>
        <pc:sldMkLst>
          <pc:docMk/>
          <pc:sldMk cId="526447841" sldId="3317"/>
        </pc:sldMkLst>
      </pc:sldChg>
      <pc:sldChg chg="del">
        <pc:chgData name="Wang, Wei" userId="627587dd-935f-4f2b-a6c6-edd4e0dcbff5" providerId="ADAL" clId="{C4D1AEE6-7444-4BA9-8FF9-A050714816C3}" dt="2020-05-21T16:13:08.968" v="18" actId="2696"/>
        <pc:sldMkLst>
          <pc:docMk/>
          <pc:sldMk cId="2947608363" sldId="3318"/>
        </pc:sldMkLst>
      </pc:sldChg>
      <pc:sldChg chg="del">
        <pc:chgData name="Wang, Wei" userId="627587dd-935f-4f2b-a6c6-edd4e0dcbff5" providerId="ADAL" clId="{C4D1AEE6-7444-4BA9-8FF9-A050714816C3}" dt="2020-05-21T16:13:09.051" v="21" actId="2696"/>
        <pc:sldMkLst>
          <pc:docMk/>
          <pc:sldMk cId="2127992302" sldId="3319"/>
        </pc:sldMkLst>
      </pc:sldChg>
      <pc:sldChg chg="del">
        <pc:chgData name="Wang, Wei" userId="627587dd-935f-4f2b-a6c6-edd4e0dcbff5" providerId="ADAL" clId="{C4D1AEE6-7444-4BA9-8FF9-A050714816C3}" dt="2020-05-21T16:13:09.075" v="22" actId="2696"/>
        <pc:sldMkLst>
          <pc:docMk/>
          <pc:sldMk cId="2777060430" sldId="3320"/>
        </pc:sldMkLst>
      </pc:sldChg>
      <pc:sldChg chg="del">
        <pc:chgData name="Wang, Wei" userId="627587dd-935f-4f2b-a6c6-edd4e0dcbff5" providerId="ADAL" clId="{C4D1AEE6-7444-4BA9-8FF9-A050714816C3}" dt="2020-05-21T16:13:09.105" v="24" actId="2696"/>
        <pc:sldMkLst>
          <pc:docMk/>
          <pc:sldMk cId="1945554767" sldId="3321"/>
        </pc:sldMkLst>
      </pc:sldChg>
      <pc:sldChg chg="del">
        <pc:chgData name="Wang, Wei" userId="627587dd-935f-4f2b-a6c6-edd4e0dcbff5" providerId="ADAL" clId="{C4D1AEE6-7444-4BA9-8FF9-A050714816C3}" dt="2020-05-21T16:13:09.123" v="25" actId="2696"/>
        <pc:sldMkLst>
          <pc:docMk/>
          <pc:sldMk cId="2127991632" sldId="3322"/>
        </pc:sldMkLst>
      </pc:sldChg>
      <pc:sldChg chg="del">
        <pc:chgData name="Wang, Wei" userId="627587dd-935f-4f2b-a6c6-edd4e0dcbff5" providerId="ADAL" clId="{C4D1AEE6-7444-4BA9-8FF9-A050714816C3}" dt="2020-05-21T16:13:09.170" v="26" actId="2696"/>
        <pc:sldMkLst>
          <pc:docMk/>
          <pc:sldMk cId="4281611941" sldId="3323"/>
        </pc:sldMkLst>
      </pc:sldChg>
      <pc:sldChg chg="del">
        <pc:chgData name="Wang, Wei" userId="627587dd-935f-4f2b-a6c6-edd4e0dcbff5" providerId="ADAL" clId="{C4D1AEE6-7444-4BA9-8FF9-A050714816C3}" dt="2020-05-21T16:13:09.207" v="28" actId="2696"/>
        <pc:sldMkLst>
          <pc:docMk/>
          <pc:sldMk cId="3390179843" sldId="3326"/>
        </pc:sldMkLst>
      </pc:sldChg>
      <pc:sldChg chg="del">
        <pc:chgData name="Wang, Wei" userId="627587dd-935f-4f2b-a6c6-edd4e0dcbff5" providerId="ADAL" clId="{C4D1AEE6-7444-4BA9-8FF9-A050714816C3}" dt="2020-05-21T16:13:09.190" v="27" actId="2696"/>
        <pc:sldMkLst>
          <pc:docMk/>
          <pc:sldMk cId="3124520466" sldId="3327"/>
        </pc:sldMkLst>
      </pc:sldChg>
      <pc:sldChg chg="del">
        <pc:chgData name="Wang, Wei" userId="627587dd-935f-4f2b-a6c6-edd4e0dcbff5" providerId="ADAL" clId="{C4D1AEE6-7444-4BA9-8FF9-A050714816C3}" dt="2020-05-21T16:13:09.297" v="31" actId="2696"/>
        <pc:sldMkLst>
          <pc:docMk/>
          <pc:sldMk cId="3477645088" sldId="3328"/>
        </pc:sldMkLst>
      </pc:sldChg>
      <pc:sldChg chg="del">
        <pc:chgData name="Wang, Wei" userId="627587dd-935f-4f2b-a6c6-edd4e0dcbff5" providerId="ADAL" clId="{C4D1AEE6-7444-4BA9-8FF9-A050714816C3}" dt="2020-05-21T16:13:09.319" v="32" actId="2696"/>
        <pc:sldMkLst>
          <pc:docMk/>
          <pc:sldMk cId="1662053451" sldId="3329"/>
        </pc:sldMkLst>
      </pc:sldChg>
      <pc:sldChg chg="del">
        <pc:chgData name="Wang, Wei" userId="627587dd-935f-4f2b-a6c6-edd4e0dcbff5" providerId="ADAL" clId="{C4D1AEE6-7444-4BA9-8FF9-A050714816C3}" dt="2020-05-21T16:13:09.373" v="35" actId="2696"/>
        <pc:sldMkLst>
          <pc:docMk/>
          <pc:sldMk cId="346396587" sldId="3330"/>
        </pc:sldMkLst>
      </pc:sldChg>
      <pc:sldChg chg="del">
        <pc:chgData name="Wang, Wei" userId="627587dd-935f-4f2b-a6c6-edd4e0dcbff5" providerId="ADAL" clId="{C4D1AEE6-7444-4BA9-8FF9-A050714816C3}" dt="2020-05-21T16:13:09.419" v="37" actId="2696"/>
        <pc:sldMkLst>
          <pc:docMk/>
          <pc:sldMk cId="1291678737" sldId="3331"/>
        </pc:sldMkLst>
      </pc:sldChg>
      <pc:sldChg chg="del">
        <pc:chgData name="Wang, Wei" userId="627587dd-935f-4f2b-a6c6-edd4e0dcbff5" providerId="ADAL" clId="{C4D1AEE6-7444-4BA9-8FF9-A050714816C3}" dt="2020-05-21T16:13:09.466" v="39" actId="2696"/>
        <pc:sldMkLst>
          <pc:docMk/>
          <pc:sldMk cId="3148421959" sldId="3332"/>
        </pc:sldMkLst>
      </pc:sldChg>
      <pc:sldChg chg="del">
        <pc:chgData name="Wang, Wei" userId="627587dd-935f-4f2b-a6c6-edd4e0dcbff5" providerId="ADAL" clId="{C4D1AEE6-7444-4BA9-8FF9-A050714816C3}" dt="2020-05-21T16:13:09.273" v="30" actId="2696"/>
        <pc:sldMkLst>
          <pc:docMk/>
          <pc:sldMk cId="3111119971" sldId="3334"/>
        </pc:sldMkLst>
      </pc:sldChg>
      <pc:sldChg chg="del">
        <pc:chgData name="Wang, Wei" userId="627587dd-935f-4f2b-a6c6-edd4e0dcbff5" providerId="ADAL" clId="{C4D1AEE6-7444-4BA9-8FF9-A050714816C3}" dt="2020-05-21T16:13:09.337" v="33" actId="2696"/>
        <pc:sldMkLst>
          <pc:docMk/>
          <pc:sldMk cId="380740504" sldId="3335"/>
        </pc:sldMkLst>
      </pc:sldChg>
      <pc:sldChg chg="del">
        <pc:chgData name="Wang, Wei" userId="627587dd-935f-4f2b-a6c6-edd4e0dcbff5" providerId="ADAL" clId="{C4D1AEE6-7444-4BA9-8FF9-A050714816C3}" dt="2020-05-21T16:13:09.505" v="41" actId="2696"/>
        <pc:sldMkLst>
          <pc:docMk/>
          <pc:sldMk cId="4214234733" sldId="3337"/>
        </pc:sldMkLst>
      </pc:sldChg>
      <pc:sldChg chg="del">
        <pc:chgData name="Wang, Wei" userId="627587dd-935f-4f2b-a6c6-edd4e0dcbff5" providerId="ADAL" clId="{C4D1AEE6-7444-4BA9-8FF9-A050714816C3}" dt="2020-05-21T16:13:09.549" v="43" actId="2696"/>
        <pc:sldMkLst>
          <pc:docMk/>
          <pc:sldMk cId="3949925884" sldId="3338"/>
        </pc:sldMkLst>
      </pc:sldChg>
      <pc:sldChg chg="del">
        <pc:chgData name="Wang, Wei" userId="627587dd-935f-4f2b-a6c6-edd4e0dcbff5" providerId="ADAL" clId="{C4D1AEE6-7444-4BA9-8FF9-A050714816C3}" dt="2020-05-21T16:13:09.525" v="42" actId="2696"/>
        <pc:sldMkLst>
          <pc:docMk/>
          <pc:sldMk cId="4188551729" sldId="3339"/>
        </pc:sldMkLst>
      </pc:sldChg>
      <pc:sldChg chg="del">
        <pc:chgData name="Wang, Wei" userId="627587dd-935f-4f2b-a6c6-edd4e0dcbff5" providerId="ADAL" clId="{C4D1AEE6-7444-4BA9-8FF9-A050714816C3}" dt="2020-05-21T16:13:09.356" v="34" actId="2696"/>
        <pc:sldMkLst>
          <pc:docMk/>
          <pc:sldMk cId="3603535866" sldId="3340"/>
        </pc:sldMkLst>
      </pc:sldChg>
      <pc:sldChg chg="del">
        <pc:chgData name="Wang, Wei" userId="627587dd-935f-4f2b-a6c6-edd4e0dcbff5" providerId="ADAL" clId="{C4D1AEE6-7444-4BA9-8FF9-A050714816C3}" dt="2020-05-21T16:13:09.400" v="36" actId="2696"/>
        <pc:sldMkLst>
          <pc:docMk/>
          <pc:sldMk cId="3144107531" sldId="3341"/>
        </pc:sldMkLst>
      </pc:sldChg>
      <pc:sldChg chg="del">
        <pc:chgData name="Wang, Wei" userId="627587dd-935f-4f2b-a6c6-edd4e0dcbff5" providerId="ADAL" clId="{C4D1AEE6-7444-4BA9-8FF9-A050714816C3}" dt="2020-05-21T16:13:09.443" v="38" actId="2696"/>
        <pc:sldMkLst>
          <pc:docMk/>
          <pc:sldMk cId="2740622052" sldId="3342"/>
        </pc:sldMkLst>
      </pc:sldChg>
      <pc:sldChg chg="del">
        <pc:chgData name="Wang, Wei" userId="627587dd-935f-4f2b-a6c6-edd4e0dcbff5" providerId="ADAL" clId="{C4D1AEE6-7444-4BA9-8FF9-A050714816C3}" dt="2020-05-21T16:13:09.484" v="40" actId="2696"/>
        <pc:sldMkLst>
          <pc:docMk/>
          <pc:sldMk cId="2567629624" sldId="3394"/>
        </pc:sldMkLst>
      </pc:sldChg>
      <pc:sldChg chg="del">
        <pc:chgData name="Wang, Wei" userId="627587dd-935f-4f2b-a6c6-edd4e0dcbff5" providerId="ADAL" clId="{C4D1AEE6-7444-4BA9-8FF9-A050714816C3}" dt="2020-05-21T16:13:08.851" v="14" actId="2696"/>
        <pc:sldMkLst>
          <pc:docMk/>
          <pc:sldMk cId="3615517084" sldId="3403"/>
        </pc:sldMkLst>
      </pc:sldChg>
      <pc:sldMasterChg chg="del delSldLayout">
        <pc:chgData name="Wang, Wei" userId="627587dd-935f-4f2b-a6c6-edd4e0dcbff5" providerId="ADAL" clId="{C4D1AEE6-7444-4BA9-8FF9-A050714816C3}" dt="2020-05-21T16:13:09.618" v="74" actId="2696"/>
        <pc:sldMasterMkLst>
          <pc:docMk/>
          <pc:sldMasterMk cId="3877396151" sldId="2147483849"/>
        </pc:sldMasterMkLst>
        <pc:sldLayoutChg chg="del">
          <pc:chgData name="Wang, Wei" userId="627587dd-935f-4f2b-a6c6-edd4e0dcbff5" providerId="ADAL" clId="{C4D1AEE6-7444-4BA9-8FF9-A050714816C3}" dt="2020-05-21T16:13:09.573" v="47" actId="2696"/>
          <pc:sldLayoutMkLst>
            <pc:docMk/>
            <pc:sldMasterMk cId="3877396151" sldId="2147483849"/>
            <pc:sldLayoutMk cId="2809059773" sldId="2147483850"/>
          </pc:sldLayoutMkLst>
        </pc:sldLayoutChg>
        <pc:sldLayoutChg chg="del">
          <pc:chgData name="Wang, Wei" userId="627587dd-935f-4f2b-a6c6-edd4e0dcbff5" providerId="ADAL" clId="{C4D1AEE6-7444-4BA9-8FF9-A050714816C3}" dt="2020-05-21T16:13:09.574" v="48" actId="2696"/>
          <pc:sldLayoutMkLst>
            <pc:docMk/>
            <pc:sldMasterMk cId="3877396151" sldId="2147483849"/>
            <pc:sldLayoutMk cId="4210182259" sldId="2147483851"/>
          </pc:sldLayoutMkLst>
        </pc:sldLayoutChg>
        <pc:sldLayoutChg chg="del">
          <pc:chgData name="Wang, Wei" userId="627587dd-935f-4f2b-a6c6-edd4e0dcbff5" providerId="ADAL" clId="{C4D1AEE6-7444-4BA9-8FF9-A050714816C3}" dt="2020-05-21T16:13:09.576" v="49" actId="2696"/>
          <pc:sldLayoutMkLst>
            <pc:docMk/>
            <pc:sldMasterMk cId="3877396151" sldId="2147483849"/>
            <pc:sldLayoutMk cId="3881125674" sldId="2147483852"/>
          </pc:sldLayoutMkLst>
        </pc:sldLayoutChg>
        <pc:sldLayoutChg chg="del">
          <pc:chgData name="Wang, Wei" userId="627587dd-935f-4f2b-a6c6-edd4e0dcbff5" providerId="ADAL" clId="{C4D1AEE6-7444-4BA9-8FF9-A050714816C3}" dt="2020-05-21T16:13:09.581" v="50" actId="2696"/>
          <pc:sldLayoutMkLst>
            <pc:docMk/>
            <pc:sldMasterMk cId="3877396151" sldId="2147483849"/>
            <pc:sldLayoutMk cId="214291803" sldId="2147483853"/>
          </pc:sldLayoutMkLst>
        </pc:sldLayoutChg>
        <pc:sldLayoutChg chg="del">
          <pc:chgData name="Wang, Wei" userId="627587dd-935f-4f2b-a6c6-edd4e0dcbff5" providerId="ADAL" clId="{C4D1AEE6-7444-4BA9-8FF9-A050714816C3}" dt="2020-05-21T16:13:09.582" v="51" actId="2696"/>
          <pc:sldLayoutMkLst>
            <pc:docMk/>
            <pc:sldMasterMk cId="3877396151" sldId="2147483849"/>
            <pc:sldLayoutMk cId="1474066911" sldId="2147483854"/>
          </pc:sldLayoutMkLst>
        </pc:sldLayoutChg>
        <pc:sldLayoutChg chg="del">
          <pc:chgData name="Wang, Wei" userId="627587dd-935f-4f2b-a6c6-edd4e0dcbff5" providerId="ADAL" clId="{C4D1AEE6-7444-4BA9-8FF9-A050714816C3}" dt="2020-05-21T16:13:09.584" v="52" actId="2696"/>
          <pc:sldLayoutMkLst>
            <pc:docMk/>
            <pc:sldMasterMk cId="3877396151" sldId="2147483849"/>
            <pc:sldLayoutMk cId="1847845935" sldId="2147483855"/>
          </pc:sldLayoutMkLst>
        </pc:sldLayoutChg>
        <pc:sldLayoutChg chg="del">
          <pc:chgData name="Wang, Wei" userId="627587dd-935f-4f2b-a6c6-edd4e0dcbff5" providerId="ADAL" clId="{C4D1AEE6-7444-4BA9-8FF9-A050714816C3}" dt="2020-05-21T16:13:09.585" v="53" actId="2696"/>
          <pc:sldLayoutMkLst>
            <pc:docMk/>
            <pc:sldMasterMk cId="3877396151" sldId="2147483849"/>
            <pc:sldLayoutMk cId="4057498967" sldId="2147483856"/>
          </pc:sldLayoutMkLst>
        </pc:sldLayoutChg>
        <pc:sldLayoutChg chg="del">
          <pc:chgData name="Wang, Wei" userId="627587dd-935f-4f2b-a6c6-edd4e0dcbff5" providerId="ADAL" clId="{C4D1AEE6-7444-4BA9-8FF9-A050714816C3}" dt="2020-05-21T16:13:09.586" v="54" actId="2696"/>
          <pc:sldLayoutMkLst>
            <pc:docMk/>
            <pc:sldMasterMk cId="3877396151" sldId="2147483849"/>
            <pc:sldLayoutMk cId="439931139" sldId="2147483857"/>
          </pc:sldLayoutMkLst>
        </pc:sldLayoutChg>
        <pc:sldLayoutChg chg="del">
          <pc:chgData name="Wang, Wei" userId="627587dd-935f-4f2b-a6c6-edd4e0dcbff5" providerId="ADAL" clId="{C4D1AEE6-7444-4BA9-8FF9-A050714816C3}" dt="2020-05-21T16:13:09.588" v="55" actId="2696"/>
          <pc:sldLayoutMkLst>
            <pc:docMk/>
            <pc:sldMasterMk cId="3877396151" sldId="2147483849"/>
            <pc:sldLayoutMk cId="740488066" sldId="2147483858"/>
          </pc:sldLayoutMkLst>
        </pc:sldLayoutChg>
        <pc:sldLayoutChg chg="del">
          <pc:chgData name="Wang, Wei" userId="627587dd-935f-4f2b-a6c6-edd4e0dcbff5" providerId="ADAL" clId="{C4D1AEE6-7444-4BA9-8FF9-A050714816C3}" dt="2020-05-21T16:13:09.589" v="56" actId="2696"/>
          <pc:sldLayoutMkLst>
            <pc:docMk/>
            <pc:sldMasterMk cId="3877396151" sldId="2147483849"/>
            <pc:sldLayoutMk cId="1760919890" sldId="2147483859"/>
          </pc:sldLayoutMkLst>
        </pc:sldLayoutChg>
        <pc:sldLayoutChg chg="del">
          <pc:chgData name="Wang, Wei" userId="627587dd-935f-4f2b-a6c6-edd4e0dcbff5" providerId="ADAL" clId="{C4D1AEE6-7444-4BA9-8FF9-A050714816C3}" dt="2020-05-21T16:13:09.590" v="57" actId="2696"/>
          <pc:sldLayoutMkLst>
            <pc:docMk/>
            <pc:sldMasterMk cId="3877396151" sldId="2147483849"/>
            <pc:sldLayoutMk cId="2694469045" sldId="2147483860"/>
          </pc:sldLayoutMkLst>
        </pc:sldLayoutChg>
        <pc:sldLayoutChg chg="del">
          <pc:chgData name="Wang, Wei" userId="627587dd-935f-4f2b-a6c6-edd4e0dcbff5" providerId="ADAL" clId="{C4D1AEE6-7444-4BA9-8FF9-A050714816C3}" dt="2020-05-21T16:13:09.591" v="58" actId="2696"/>
          <pc:sldLayoutMkLst>
            <pc:docMk/>
            <pc:sldMasterMk cId="3877396151" sldId="2147483849"/>
            <pc:sldLayoutMk cId="2180933198" sldId="2147483861"/>
          </pc:sldLayoutMkLst>
        </pc:sldLayoutChg>
        <pc:sldLayoutChg chg="del">
          <pc:chgData name="Wang, Wei" userId="627587dd-935f-4f2b-a6c6-edd4e0dcbff5" providerId="ADAL" clId="{C4D1AEE6-7444-4BA9-8FF9-A050714816C3}" dt="2020-05-21T16:13:09.592" v="59" actId="2696"/>
          <pc:sldLayoutMkLst>
            <pc:docMk/>
            <pc:sldMasterMk cId="3877396151" sldId="2147483849"/>
            <pc:sldLayoutMk cId="3841452663" sldId="2147483862"/>
          </pc:sldLayoutMkLst>
        </pc:sldLayoutChg>
        <pc:sldLayoutChg chg="del">
          <pc:chgData name="Wang, Wei" userId="627587dd-935f-4f2b-a6c6-edd4e0dcbff5" providerId="ADAL" clId="{C4D1AEE6-7444-4BA9-8FF9-A050714816C3}" dt="2020-05-21T16:13:09.595" v="60" actId="2696"/>
          <pc:sldLayoutMkLst>
            <pc:docMk/>
            <pc:sldMasterMk cId="3877396151" sldId="2147483849"/>
            <pc:sldLayoutMk cId="1875997094" sldId="2147483863"/>
          </pc:sldLayoutMkLst>
        </pc:sldLayoutChg>
        <pc:sldLayoutChg chg="del">
          <pc:chgData name="Wang, Wei" userId="627587dd-935f-4f2b-a6c6-edd4e0dcbff5" providerId="ADAL" clId="{C4D1AEE6-7444-4BA9-8FF9-A050714816C3}" dt="2020-05-21T16:13:09.598" v="61" actId="2696"/>
          <pc:sldLayoutMkLst>
            <pc:docMk/>
            <pc:sldMasterMk cId="3877396151" sldId="2147483849"/>
            <pc:sldLayoutMk cId="2610778980" sldId="2147483864"/>
          </pc:sldLayoutMkLst>
        </pc:sldLayoutChg>
        <pc:sldLayoutChg chg="del">
          <pc:chgData name="Wang, Wei" userId="627587dd-935f-4f2b-a6c6-edd4e0dcbff5" providerId="ADAL" clId="{C4D1AEE6-7444-4BA9-8FF9-A050714816C3}" dt="2020-05-21T16:13:09.600" v="62" actId="2696"/>
          <pc:sldLayoutMkLst>
            <pc:docMk/>
            <pc:sldMasterMk cId="3877396151" sldId="2147483849"/>
            <pc:sldLayoutMk cId="2535699597" sldId="2147483865"/>
          </pc:sldLayoutMkLst>
        </pc:sldLayoutChg>
        <pc:sldLayoutChg chg="del">
          <pc:chgData name="Wang, Wei" userId="627587dd-935f-4f2b-a6c6-edd4e0dcbff5" providerId="ADAL" clId="{C4D1AEE6-7444-4BA9-8FF9-A050714816C3}" dt="2020-05-21T16:13:09.601" v="63" actId="2696"/>
          <pc:sldLayoutMkLst>
            <pc:docMk/>
            <pc:sldMasterMk cId="3877396151" sldId="2147483849"/>
            <pc:sldLayoutMk cId="3601425507" sldId="2147483866"/>
          </pc:sldLayoutMkLst>
        </pc:sldLayoutChg>
        <pc:sldLayoutChg chg="del">
          <pc:chgData name="Wang, Wei" userId="627587dd-935f-4f2b-a6c6-edd4e0dcbff5" providerId="ADAL" clId="{C4D1AEE6-7444-4BA9-8FF9-A050714816C3}" dt="2020-05-21T16:13:09.602" v="64" actId="2696"/>
          <pc:sldLayoutMkLst>
            <pc:docMk/>
            <pc:sldMasterMk cId="3877396151" sldId="2147483849"/>
            <pc:sldLayoutMk cId="2609394409" sldId="2147483867"/>
          </pc:sldLayoutMkLst>
        </pc:sldLayoutChg>
        <pc:sldLayoutChg chg="del">
          <pc:chgData name="Wang, Wei" userId="627587dd-935f-4f2b-a6c6-edd4e0dcbff5" providerId="ADAL" clId="{C4D1AEE6-7444-4BA9-8FF9-A050714816C3}" dt="2020-05-21T16:13:09.603" v="65" actId="2696"/>
          <pc:sldLayoutMkLst>
            <pc:docMk/>
            <pc:sldMasterMk cId="3877396151" sldId="2147483849"/>
            <pc:sldLayoutMk cId="3610381843" sldId="2147483868"/>
          </pc:sldLayoutMkLst>
        </pc:sldLayoutChg>
        <pc:sldLayoutChg chg="del">
          <pc:chgData name="Wang, Wei" userId="627587dd-935f-4f2b-a6c6-edd4e0dcbff5" providerId="ADAL" clId="{C4D1AEE6-7444-4BA9-8FF9-A050714816C3}" dt="2020-05-21T16:13:09.605" v="66" actId="2696"/>
          <pc:sldLayoutMkLst>
            <pc:docMk/>
            <pc:sldMasterMk cId="3877396151" sldId="2147483849"/>
            <pc:sldLayoutMk cId="286573086" sldId="2147483869"/>
          </pc:sldLayoutMkLst>
        </pc:sldLayoutChg>
        <pc:sldLayoutChg chg="del">
          <pc:chgData name="Wang, Wei" userId="627587dd-935f-4f2b-a6c6-edd4e0dcbff5" providerId="ADAL" clId="{C4D1AEE6-7444-4BA9-8FF9-A050714816C3}" dt="2020-05-21T16:13:09.606" v="67" actId="2696"/>
          <pc:sldLayoutMkLst>
            <pc:docMk/>
            <pc:sldMasterMk cId="3877396151" sldId="2147483849"/>
            <pc:sldLayoutMk cId="1939716253" sldId="2147483870"/>
          </pc:sldLayoutMkLst>
        </pc:sldLayoutChg>
        <pc:sldLayoutChg chg="del">
          <pc:chgData name="Wang, Wei" userId="627587dd-935f-4f2b-a6c6-edd4e0dcbff5" providerId="ADAL" clId="{C4D1AEE6-7444-4BA9-8FF9-A050714816C3}" dt="2020-05-21T16:13:09.607" v="68" actId="2696"/>
          <pc:sldLayoutMkLst>
            <pc:docMk/>
            <pc:sldMasterMk cId="3877396151" sldId="2147483849"/>
            <pc:sldLayoutMk cId="3360775297" sldId="2147483871"/>
          </pc:sldLayoutMkLst>
        </pc:sldLayoutChg>
        <pc:sldLayoutChg chg="del">
          <pc:chgData name="Wang, Wei" userId="627587dd-935f-4f2b-a6c6-edd4e0dcbff5" providerId="ADAL" clId="{C4D1AEE6-7444-4BA9-8FF9-A050714816C3}" dt="2020-05-21T16:13:09.608" v="69" actId="2696"/>
          <pc:sldLayoutMkLst>
            <pc:docMk/>
            <pc:sldMasterMk cId="3877396151" sldId="2147483849"/>
            <pc:sldLayoutMk cId="1765900942" sldId="2147483872"/>
          </pc:sldLayoutMkLst>
        </pc:sldLayoutChg>
        <pc:sldLayoutChg chg="del">
          <pc:chgData name="Wang, Wei" userId="627587dd-935f-4f2b-a6c6-edd4e0dcbff5" providerId="ADAL" clId="{C4D1AEE6-7444-4BA9-8FF9-A050714816C3}" dt="2020-05-21T16:13:09.609" v="70" actId="2696"/>
          <pc:sldLayoutMkLst>
            <pc:docMk/>
            <pc:sldMasterMk cId="3877396151" sldId="2147483849"/>
            <pc:sldLayoutMk cId="1953932773" sldId="2147483873"/>
          </pc:sldLayoutMkLst>
        </pc:sldLayoutChg>
        <pc:sldLayoutChg chg="del">
          <pc:chgData name="Wang, Wei" userId="627587dd-935f-4f2b-a6c6-edd4e0dcbff5" providerId="ADAL" clId="{C4D1AEE6-7444-4BA9-8FF9-A050714816C3}" dt="2020-05-21T16:13:09.614" v="71" actId="2696"/>
          <pc:sldLayoutMkLst>
            <pc:docMk/>
            <pc:sldMasterMk cId="3877396151" sldId="2147483849"/>
            <pc:sldLayoutMk cId="2795723551" sldId="2147483874"/>
          </pc:sldLayoutMkLst>
        </pc:sldLayoutChg>
        <pc:sldLayoutChg chg="del">
          <pc:chgData name="Wang, Wei" userId="627587dd-935f-4f2b-a6c6-edd4e0dcbff5" providerId="ADAL" clId="{C4D1AEE6-7444-4BA9-8FF9-A050714816C3}" dt="2020-05-21T16:13:09.615" v="72" actId="2696"/>
          <pc:sldLayoutMkLst>
            <pc:docMk/>
            <pc:sldMasterMk cId="3877396151" sldId="2147483849"/>
            <pc:sldLayoutMk cId="3625183382" sldId="2147483875"/>
          </pc:sldLayoutMkLst>
        </pc:sldLayoutChg>
        <pc:sldLayoutChg chg="del">
          <pc:chgData name="Wang, Wei" userId="627587dd-935f-4f2b-a6c6-edd4e0dcbff5" providerId="ADAL" clId="{C4D1AEE6-7444-4BA9-8FF9-A050714816C3}" dt="2020-05-21T16:13:09.616" v="73" actId="2696"/>
          <pc:sldLayoutMkLst>
            <pc:docMk/>
            <pc:sldMasterMk cId="3877396151" sldId="2147483849"/>
            <pc:sldLayoutMk cId="3754326233" sldId="2147483876"/>
          </pc:sldLayoutMkLst>
        </pc:sldLayoutChg>
      </pc:sldMasterChg>
      <pc:sldMasterChg chg="delSldLayout">
        <pc:chgData name="Wang, Wei" userId="627587dd-935f-4f2b-a6c6-edd4e0dcbff5" providerId="ADAL" clId="{C4D1AEE6-7444-4BA9-8FF9-A050714816C3}" dt="2020-05-21T16:13:09.555" v="45" actId="2696"/>
        <pc:sldMasterMkLst>
          <pc:docMk/>
          <pc:sldMasterMk cId="2216067138" sldId="2147483931"/>
        </pc:sldMasterMkLst>
        <pc:sldLayoutChg chg="del">
          <pc:chgData name="Wang, Wei" userId="627587dd-935f-4f2b-a6c6-edd4e0dcbff5" providerId="ADAL" clId="{C4D1AEE6-7444-4BA9-8FF9-A050714816C3}" dt="2020-05-21T16:13:09.077" v="23" actId="2696"/>
          <pc:sldLayoutMkLst>
            <pc:docMk/>
            <pc:sldMasterMk cId="2216067138" sldId="2147483931"/>
            <pc:sldLayoutMk cId="3162750045" sldId="2147483996"/>
          </pc:sldLayoutMkLst>
        </pc:sldLayoutChg>
        <pc:sldLayoutChg chg="del">
          <pc:chgData name="Wang, Wei" userId="627587dd-935f-4f2b-a6c6-edd4e0dcbff5" providerId="ADAL" clId="{C4D1AEE6-7444-4BA9-8FF9-A050714816C3}" dt="2020-05-21T16:13:09.555" v="45" actId="2696"/>
          <pc:sldLayoutMkLst>
            <pc:docMk/>
            <pc:sldMasterMk cId="2216067138" sldId="2147483931"/>
            <pc:sldLayoutMk cId="852366077" sldId="2147483997"/>
          </pc:sldLayoutMkLst>
        </pc:sldLayoutChg>
      </pc:sldMasterChg>
    </pc:docChg>
  </pc:docChgLst>
  <pc:docChgLst>
    <pc:chgData name="Wang, Wei" userId="627587dd-935f-4f2b-a6c6-edd4e0dcbff5" providerId="ADAL" clId="{CA4E89E4-842A-4FC6-8E2B-51B2DA5662AB}"/>
    <pc:docChg chg="delSld">
      <pc:chgData name="Wang, Wei" userId="627587dd-935f-4f2b-a6c6-edd4e0dcbff5" providerId="ADAL" clId="{CA4E89E4-842A-4FC6-8E2B-51B2DA5662AB}" dt="2020-05-21T16:11:59.706" v="18" actId="2696"/>
      <pc:docMkLst>
        <pc:docMk/>
      </pc:docMkLst>
      <pc:sldChg chg="del">
        <pc:chgData name="Wang, Wei" userId="627587dd-935f-4f2b-a6c6-edd4e0dcbff5" providerId="ADAL" clId="{CA4E89E4-842A-4FC6-8E2B-51B2DA5662AB}" dt="2020-05-21T16:11:59.280" v="2" actId="2696"/>
        <pc:sldMkLst>
          <pc:docMk/>
          <pc:sldMk cId="3466899689" sldId="264"/>
        </pc:sldMkLst>
      </pc:sldChg>
      <pc:sldChg chg="del">
        <pc:chgData name="Wang, Wei" userId="627587dd-935f-4f2b-a6c6-edd4e0dcbff5" providerId="ADAL" clId="{CA4E89E4-842A-4FC6-8E2B-51B2DA5662AB}" dt="2020-05-21T16:11:59.341" v="4" actId="2696"/>
        <pc:sldMkLst>
          <pc:docMk/>
          <pc:sldMk cId="3228592079" sldId="2529"/>
        </pc:sldMkLst>
      </pc:sldChg>
      <pc:sldChg chg="del">
        <pc:chgData name="Wang, Wei" userId="627587dd-935f-4f2b-a6c6-edd4e0dcbff5" providerId="ADAL" clId="{CA4E89E4-842A-4FC6-8E2B-51B2DA5662AB}" dt="2020-05-21T16:11:59.513" v="11" actId="2696"/>
        <pc:sldMkLst>
          <pc:docMk/>
          <pc:sldMk cId="2993275869" sldId="2530"/>
        </pc:sldMkLst>
      </pc:sldChg>
      <pc:sldChg chg="del">
        <pc:chgData name="Wang, Wei" userId="627587dd-935f-4f2b-a6c6-edd4e0dcbff5" providerId="ADAL" clId="{CA4E89E4-842A-4FC6-8E2B-51B2DA5662AB}" dt="2020-05-21T16:11:59.398" v="6" actId="2696"/>
        <pc:sldMkLst>
          <pc:docMk/>
          <pc:sldMk cId="3687469778" sldId="2537"/>
        </pc:sldMkLst>
      </pc:sldChg>
      <pc:sldChg chg="del">
        <pc:chgData name="Wang, Wei" userId="627587dd-935f-4f2b-a6c6-edd4e0dcbff5" providerId="ADAL" clId="{CA4E89E4-842A-4FC6-8E2B-51B2DA5662AB}" dt="2020-05-21T16:11:59.706" v="18" actId="2696"/>
        <pc:sldMkLst>
          <pc:docMk/>
          <pc:sldMk cId="1679945427" sldId="2538"/>
        </pc:sldMkLst>
      </pc:sldChg>
      <pc:sldChg chg="del">
        <pc:chgData name="Wang, Wei" userId="627587dd-935f-4f2b-a6c6-edd4e0dcbff5" providerId="ADAL" clId="{CA4E89E4-842A-4FC6-8E2B-51B2DA5662AB}" dt="2020-05-21T16:11:59.457" v="9" actId="2696"/>
        <pc:sldMkLst>
          <pc:docMk/>
          <pc:sldMk cId="2156271036" sldId="3180"/>
        </pc:sldMkLst>
      </pc:sldChg>
      <pc:sldChg chg="del">
        <pc:chgData name="Wang, Wei" userId="627587dd-935f-4f2b-a6c6-edd4e0dcbff5" providerId="ADAL" clId="{CA4E89E4-842A-4FC6-8E2B-51B2DA5662AB}" dt="2020-05-21T16:11:59.257" v="1" actId="2696"/>
        <pc:sldMkLst>
          <pc:docMk/>
          <pc:sldMk cId="3197551137" sldId="3287"/>
        </pc:sldMkLst>
      </pc:sldChg>
      <pc:sldChg chg="del">
        <pc:chgData name="Wang, Wei" userId="627587dd-935f-4f2b-a6c6-edd4e0dcbff5" providerId="ADAL" clId="{CA4E89E4-842A-4FC6-8E2B-51B2DA5662AB}" dt="2020-05-21T16:11:59.536" v="12" actId="2696"/>
        <pc:sldMkLst>
          <pc:docMk/>
          <pc:sldMk cId="3798856135" sldId="3288"/>
        </pc:sldMkLst>
      </pc:sldChg>
      <pc:sldChg chg="del">
        <pc:chgData name="Wang, Wei" userId="627587dd-935f-4f2b-a6c6-edd4e0dcbff5" providerId="ADAL" clId="{CA4E89E4-842A-4FC6-8E2B-51B2DA5662AB}" dt="2020-05-21T16:11:59.558" v="13" actId="2696"/>
        <pc:sldMkLst>
          <pc:docMk/>
          <pc:sldMk cId="19228181" sldId="3289"/>
        </pc:sldMkLst>
      </pc:sldChg>
      <pc:sldChg chg="del">
        <pc:chgData name="Wang, Wei" userId="627587dd-935f-4f2b-a6c6-edd4e0dcbff5" providerId="ADAL" clId="{CA4E89E4-842A-4FC6-8E2B-51B2DA5662AB}" dt="2020-05-21T16:11:59.368" v="5" actId="2696"/>
        <pc:sldMkLst>
          <pc:docMk/>
          <pc:sldMk cId="2303224268" sldId="3290"/>
        </pc:sldMkLst>
      </pc:sldChg>
      <pc:sldChg chg="del">
        <pc:chgData name="Wang, Wei" userId="627587dd-935f-4f2b-a6c6-edd4e0dcbff5" providerId="ADAL" clId="{CA4E89E4-842A-4FC6-8E2B-51B2DA5662AB}" dt="2020-05-21T16:11:59.600" v="14" actId="2696"/>
        <pc:sldMkLst>
          <pc:docMk/>
          <pc:sldMk cId="864121547" sldId="3291"/>
        </pc:sldMkLst>
      </pc:sldChg>
      <pc:sldChg chg="del">
        <pc:chgData name="Wang, Wei" userId="627587dd-935f-4f2b-a6c6-edd4e0dcbff5" providerId="ADAL" clId="{CA4E89E4-842A-4FC6-8E2B-51B2DA5662AB}" dt="2020-05-21T16:11:59.219" v="0" actId="2696"/>
        <pc:sldMkLst>
          <pc:docMk/>
          <pc:sldMk cId="981708690" sldId="3358"/>
        </pc:sldMkLst>
      </pc:sldChg>
      <pc:sldChg chg="del">
        <pc:chgData name="Wang, Wei" userId="627587dd-935f-4f2b-a6c6-edd4e0dcbff5" providerId="ADAL" clId="{CA4E89E4-842A-4FC6-8E2B-51B2DA5662AB}" dt="2020-05-21T16:11:59.486" v="10" actId="2696"/>
        <pc:sldMkLst>
          <pc:docMk/>
          <pc:sldMk cId="947442939" sldId="3395"/>
        </pc:sldMkLst>
      </pc:sldChg>
      <pc:sldChg chg="del">
        <pc:chgData name="Wang, Wei" userId="627587dd-935f-4f2b-a6c6-edd4e0dcbff5" providerId="ADAL" clId="{CA4E89E4-842A-4FC6-8E2B-51B2DA5662AB}" dt="2020-05-21T16:11:59.315" v="3" actId="2696"/>
        <pc:sldMkLst>
          <pc:docMk/>
          <pc:sldMk cId="3504699625" sldId="3396"/>
        </pc:sldMkLst>
      </pc:sldChg>
      <pc:sldChg chg="del">
        <pc:chgData name="Wang, Wei" userId="627587dd-935f-4f2b-a6c6-edd4e0dcbff5" providerId="ADAL" clId="{CA4E89E4-842A-4FC6-8E2B-51B2DA5662AB}" dt="2020-05-21T16:11:59.422" v="7" actId="2696"/>
        <pc:sldMkLst>
          <pc:docMk/>
          <pc:sldMk cId="328478141" sldId="3397"/>
        </pc:sldMkLst>
      </pc:sldChg>
      <pc:sldChg chg="del">
        <pc:chgData name="Wang, Wei" userId="627587dd-935f-4f2b-a6c6-edd4e0dcbff5" providerId="ADAL" clId="{CA4E89E4-842A-4FC6-8E2B-51B2DA5662AB}" dt="2020-05-21T16:11:59.623" v="15" actId="2696"/>
        <pc:sldMkLst>
          <pc:docMk/>
          <pc:sldMk cId="1157161006" sldId="3398"/>
        </pc:sldMkLst>
      </pc:sldChg>
      <pc:sldChg chg="del">
        <pc:chgData name="Wang, Wei" userId="627587dd-935f-4f2b-a6c6-edd4e0dcbff5" providerId="ADAL" clId="{CA4E89E4-842A-4FC6-8E2B-51B2DA5662AB}" dt="2020-05-21T16:11:59.441" v="8" actId="2696"/>
        <pc:sldMkLst>
          <pc:docMk/>
          <pc:sldMk cId="2824584400" sldId="3399"/>
        </pc:sldMkLst>
      </pc:sldChg>
      <pc:sldChg chg="del">
        <pc:chgData name="Wang, Wei" userId="627587dd-935f-4f2b-a6c6-edd4e0dcbff5" providerId="ADAL" clId="{CA4E89E4-842A-4FC6-8E2B-51B2DA5662AB}" dt="2020-05-21T16:11:59.649" v="16" actId="2696"/>
        <pc:sldMkLst>
          <pc:docMk/>
          <pc:sldMk cId="3420566958" sldId="3400"/>
        </pc:sldMkLst>
      </pc:sldChg>
      <pc:sldChg chg="del">
        <pc:chgData name="Wang, Wei" userId="627587dd-935f-4f2b-a6c6-edd4e0dcbff5" providerId="ADAL" clId="{CA4E89E4-842A-4FC6-8E2B-51B2DA5662AB}" dt="2020-05-21T16:11:59.673" v="17" actId="2696"/>
        <pc:sldMkLst>
          <pc:docMk/>
          <pc:sldMk cId="4176833171" sldId="34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1600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4</a:t>
            </a:fld>
            <a:endParaRPr lang="en-GB"/>
          </a:p>
        </p:txBody>
      </p:sp>
    </p:spTree>
    <p:extLst>
      <p:ext uri="{BB962C8B-B14F-4D97-AF65-F5344CB8AC3E}">
        <p14:creationId xmlns:p14="http://schemas.microsoft.com/office/powerpoint/2010/main" val="3273412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5</a:t>
            </a:fld>
            <a:endParaRPr lang="en-GB"/>
          </a:p>
        </p:txBody>
      </p:sp>
    </p:spTree>
    <p:extLst>
      <p:ext uri="{BB962C8B-B14F-4D97-AF65-F5344CB8AC3E}">
        <p14:creationId xmlns:p14="http://schemas.microsoft.com/office/powerpoint/2010/main" val="572860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6</a:t>
            </a:fld>
            <a:endParaRPr lang="en-GB"/>
          </a:p>
        </p:txBody>
      </p:sp>
    </p:spTree>
    <p:extLst>
      <p:ext uri="{BB962C8B-B14F-4D97-AF65-F5344CB8AC3E}">
        <p14:creationId xmlns:p14="http://schemas.microsoft.com/office/powerpoint/2010/main" val="2724757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7</a:t>
            </a:fld>
            <a:endParaRPr lang="en-GB"/>
          </a:p>
        </p:txBody>
      </p:sp>
    </p:spTree>
    <p:extLst>
      <p:ext uri="{BB962C8B-B14F-4D97-AF65-F5344CB8AC3E}">
        <p14:creationId xmlns:p14="http://schemas.microsoft.com/office/powerpoint/2010/main" val="3017355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8</a:t>
            </a:fld>
            <a:endParaRPr lang="en-GB"/>
          </a:p>
        </p:txBody>
      </p:sp>
    </p:spTree>
    <p:extLst>
      <p:ext uri="{BB962C8B-B14F-4D97-AF65-F5344CB8AC3E}">
        <p14:creationId xmlns:p14="http://schemas.microsoft.com/office/powerpoint/2010/main" val="10074989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9</a:t>
            </a:fld>
            <a:endParaRPr lang="en-GB"/>
          </a:p>
        </p:txBody>
      </p:sp>
    </p:spTree>
    <p:extLst>
      <p:ext uri="{BB962C8B-B14F-4D97-AF65-F5344CB8AC3E}">
        <p14:creationId xmlns:p14="http://schemas.microsoft.com/office/powerpoint/2010/main" val="3738750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10</a:t>
            </a:fld>
            <a:endParaRPr lang="en-GB"/>
          </a:p>
        </p:txBody>
      </p:sp>
    </p:spTree>
    <p:extLst>
      <p:ext uri="{BB962C8B-B14F-4D97-AF65-F5344CB8AC3E}">
        <p14:creationId xmlns:p14="http://schemas.microsoft.com/office/powerpoint/2010/main" val="1774982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11</a:t>
            </a:fld>
            <a:endParaRPr lang="en-GB"/>
          </a:p>
        </p:txBody>
      </p:sp>
    </p:spTree>
    <p:extLst>
      <p:ext uri="{BB962C8B-B14F-4D97-AF65-F5344CB8AC3E}">
        <p14:creationId xmlns:p14="http://schemas.microsoft.com/office/powerpoint/2010/main" val="765766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5"/>
          </p:nvPr>
        </p:nvSpPr>
        <p:spPr/>
        <p:txBody>
          <a:bodyPr/>
          <a:lstStyle/>
          <a:p>
            <a:fld id="{02944EB3-E743-414B-A21A-64E051E5FA09}" type="slidenum">
              <a:rPr lang="en-GB" smtClean="0"/>
              <a:t>12</a:t>
            </a:fld>
            <a:endParaRPr lang="en-GB"/>
          </a:p>
        </p:txBody>
      </p:sp>
    </p:spTree>
    <p:extLst>
      <p:ext uri="{BB962C8B-B14F-4D97-AF65-F5344CB8AC3E}">
        <p14:creationId xmlns:p14="http://schemas.microsoft.com/office/powerpoint/2010/main" val="16962457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7.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jpeg"/><Relationship Id="rId1" Type="http://schemas.openxmlformats.org/officeDocument/2006/relationships/slideMaster" Target="../slideMasters/slideMaster2.xml"/><Relationship Id="rId4" Type="http://schemas.openxmlformats.org/officeDocument/2006/relationships/image" Target="../media/image7.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4.jpe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4.jpe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3343037" cy="6858001"/>
          </a:xfrm>
          <a:prstGeom prst="rect">
            <a:avLst/>
          </a:prstGeom>
        </p:spPr>
      </p:pic>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10" name="Content Placeholder 2"/>
          <p:cNvSpPr>
            <a:spLocks noGrp="1"/>
          </p:cNvSpPr>
          <p:nvPr>
            <p:ph idx="1"/>
          </p:nvPr>
        </p:nvSpPr>
        <p:spPr>
          <a:xfrm>
            <a:off x="5792779" y="987425"/>
            <a:ext cx="5561021" cy="4873625"/>
          </a:xfrm>
        </p:spPr>
        <p:txBody>
          <a:bodyPr>
            <a:normAutofit/>
          </a:bodyPr>
          <a:lstStyle>
            <a:lvl1pPr>
              <a:defRPr sz="2000">
                <a:latin typeface="Arial" charset="0"/>
                <a:ea typeface="Arial" charset="0"/>
                <a:cs typeface="Arial" charset="0"/>
              </a:defRPr>
            </a:lvl1pPr>
            <a:lvl2pPr>
              <a:defRPr sz="1800">
                <a:latin typeface="Arial" charset="0"/>
                <a:ea typeface="Arial" charset="0"/>
                <a:cs typeface="Arial" charset="0"/>
              </a:defRPr>
            </a:lvl2pPr>
            <a:lvl3pPr>
              <a:defRPr sz="1600">
                <a:latin typeface="Arial" charset="0"/>
                <a:ea typeface="Arial" charset="0"/>
                <a:cs typeface="Arial" charset="0"/>
              </a:defRPr>
            </a:lvl3pPr>
            <a:lvl4pPr>
              <a:defRPr sz="1400">
                <a:latin typeface="Arial" charset="0"/>
                <a:ea typeface="Arial" charset="0"/>
                <a:cs typeface="Arial" charset="0"/>
              </a:defRPr>
            </a:lvl4pPr>
            <a:lvl5pPr>
              <a:defRPr sz="1400">
                <a:latin typeface="Arial" charset="0"/>
                <a:ea typeface="Arial" charset="0"/>
                <a:cs typeface="Arial"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p:cNvSpPr txBox="1"/>
          <p:nvPr userDrawn="1"/>
        </p:nvSpPr>
        <p:spPr>
          <a:xfrm>
            <a:off x="141298" y="2139775"/>
            <a:ext cx="2989658" cy="1941342"/>
          </a:xfrm>
          <a:prstGeom prst="rect">
            <a:avLst/>
          </a:prstGeom>
          <a:noFill/>
        </p:spPr>
        <p:txBody>
          <a:bodyPr wrap="square" lIns="0" tIns="0" rIns="0" bIns="0" rtlCol="0">
            <a:noAutofit/>
          </a:bodyPr>
          <a:lstStyle/>
          <a:p>
            <a:pPr algn="ctr"/>
            <a:r>
              <a:rPr lang="en-US" sz="4400" b="1">
                <a:solidFill>
                  <a:schemeClr val="bg1"/>
                </a:solidFill>
                <a:latin typeface="Arial" charset="0"/>
                <a:ea typeface="Arial" charset="0"/>
                <a:cs typeface="Arial" charset="0"/>
              </a:rPr>
              <a:t>S4F-ERP</a:t>
            </a:r>
          </a:p>
        </p:txBody>
      </p:sp>
      <p:sp>
        <p:nvSpPr>
          <p:cNvPr id="12" name="Rectangle 11"/>
          <p:cNvSpPr/>
          <p:nvPr userDrawn="1"/>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3" name="Rectangle 12"/>
          <p:cNvSpPr/>
          <p:nvPr userDrawn="1"/>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Date Placeholder 1"/>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sp>
        <p:nvSpPr>
          <p:cNvPr id="15" name="Rectangle 14"/>
          <p:cNvSpPr/>
          <p:nvPr userDrawn="1"/>
        </p:nvSpPr>
        <p:spPr>
          <a:xfrm>
            <a:off x="4731547" y="1017332"/>
            <a:ext cx="250825" cy="58406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pic>
        <p:nvPicPr>
          <p:cNvPr id="16" name="Picture 15">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sp>
        <p:nvSpPr>
          <p:cNvPr id="17" name="TextBox 16"/>
          <p:cNvSpPr txBox="1"/>
          <p:nvPr userDrawn="1"/>
        </p:nvSpPr>
        <p:spPr>
          <a:xfrm>
            <a:off x="389295" y="3213617"/>
            <a:ext cx="2493664" cy="704538"/>
          </a:xfrm>
          <a:prstGeom prst="rect">
            <a:avLst/>
          </a:prstGeom>
          <a:noFill/>
        </p:spPr>
        <p:txBody>
          <a:bodyPr wrap="square" lIns="0" tIns="0" rIns="0" bIns="0" rtlCol="0">
            <a:noAutofit/>
          </a:bodyPr>
          <a:lstStyle/>
          <a:p>
            <a:pPr algn="ctr"/>
            <a:r>
              <a:rPr lang="en-US" sz="1600" spc="1000">
                <a:solidFill>
                  <a:schemeClr val="bg1"/>
                </a:solidFill>
                <a:latin typeface="Arial" charset="0"/>
                <a:ea typeface="Arial" charset="0"/>
                <a:cs typeface="Arial" charset="0"/>
              </a:rPr>
              <a:t>PROJECT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1"/>
            <a:ext cx="3332215" cy="6858001"/>
          </a:xfrm>
          <a:prstGeom prst="rect">
            <a:avLst/>
          </a:prstGeom>
        </p:spPr>
      </p:pic>
      <p:sp>
        <p:nvSpPr>
          <p:cNvPr id="6" name="Slide Number Placeholder 5"/>
          <p:cNvSpPr>
            <a:spLocks noGrp="1"/>
          </p:cNvSpPr>
          <p:nvPr>
            <p:ph type="sldNum" sz="quarter" idx="12"/>
          </p:nvPr>
        </p:nvSpPr>
        <p:spPr>
          <a:xfrm>
            <a:off x="9448800" y="6492875"/>
            <a:ext cx="2743200" cy="365125"/>
          </a:xfrm>
        </p:spPr>
        <p:txBody>
          <a:bodyPr/>
          <a:lstStyle>
            <a:lvl1pPr>
              <a:defRPr sz="800"/>
            </a:lvl1pPr>
          </a:lstStyle>
          <a:p>
            <a:fld id="{1A6A2304-23DC-2B46-BD14-F082077842FF}" type="slidenum">
              <a:rPr lang="en-US" smtClean="0"/>
              <a:pPr/>
              <a:t>‹#›</a:t>
            </a:fld>
            <a:endParaRPr lang="en-US"/>
          </a:p>
        </p:txBody>
      </p:sp>
      <p:sp>
        <p:nvSpPr>
          <p:cNvPr id="12" name="Date Placeholder 1"/>
          <p:cNvSpPr txBox="1">
            <a:spLocks/>
          </p:cNvSpPr>
          <p:nvPr/>
        </p:nvSpPr>
        <p:spPr>
          <a:xfrm>
            <a:off x="-308599" y="5855770"/>
            <a:ext cx="3889454"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1">
                <a:solidFill>
                  <a:schemeClr val="bg1"/>
                </a:solidFill>
                <a:latin typeface="Roboto" charset="0"/>
                <a:ea typeface="Roboto" charset="0"/>
                <a:cs typeface="Roboto" charset="0"/>
              </a:rPr>
              <a:t>Simplify, Standardize, Accelerate </a:t>
            </a:r>
          </a:p>
        </p:txBody>
      </p:sp>
      <p:sp>
        <p:nvSpPr>
          <p:cNvPr id="8" name="Rectangle 7"/>
          <p:cNvSpPr/>
          <p:nvPr userDrawn="1"/>
        </p:nvSpPr>
        <p:spPr>
          <a:xfrm>
            <a:off x="1060933" y="1604524"/>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1A3140"/>
              </a:solidFill>
            </a:endParaRPr>
          </a:p>
        </p:txBody>
      </p:sp>
      <p:sp>
        <p:nvSpPr>
          <p:cNvPr id="9" name="Rectangle 8"/>
          <p:cNvSpPr/>
          <p:nvPr userDrawn="1"/>
        </p:nvSpPr>
        <p:spPr>
          <a:xfrm>
            <a:off x="1060933" y="4091122"/>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Tree>
    <p:extLst>
      <p:ext uri="{BB962C8B-B14F-4D97-AF65-F5344CB8AC3E}">
        <p14:creationId xmlns:p14="http://schemas.microsoft.com/office/powerpoint/2010/main" val="4061941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Image Title 01">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647272"/>
            <a:ext cx="12192001" cy="4498847"/>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8" name="Picture 7"/>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Image Title 0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633845"/>
            <a:ext cx="12201057" cy="4499140"/>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10" name="Picture 9"/>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3792690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Spectrum Title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1650472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1882155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16365895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grpSp>
        <p:nvGrpSpPr>
          <p:cNvPr id="6" name="Group 5"/>
          <p:cNvGrpSpPr/>
          <p:nvPr userDrawn="1"/>
        </p:nvGrpSpPr>
        <p:grpSpPr>
          <a:xfrm>
            <a:off x="10086109" y="417870"/>
            <a:ext cx="2105891" cy="569193"/>
            <a:chOff x="10086109" y="5763491"/>
            <a:chExt cx="2105891" cy="569193"/>
          </a:xfrm>
        </p:grpSpPr>
        <p:sp>
          <p:nvSpPr>
            <p:cNvPr id="7" name="Rectangle 6"/>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8" name="Group 7"/>
            <p:cNvGrpSpPr/>
            <p:nvPr/>
          </p:nvGrpSpPr>
          <p:grpSpPr>
            <a:xfrm>
              <a:off x="10538695" y="5812704"/>
              <a:ext cx="1343888" cy="519980"/>
              <a:chOff x="515938" y="466803"/>
              <a:chExt cx="2499478" cy="967103"/>
            </a:xfrm>
          </p:grpSpPr>
          <p:grpSp>
            <p:nvGrpSpPr>
              <p:cNvPr id="9" name="Group 8"/>
              <p:cNvGrpSpPr/>
              <p:nvPr/>
            </p:nvGrpSpPr>
            <p:grpSpPr>
              <a:xfrm>
                <a:off x="515938" y="466803"/>
                <a:ext cx="281354" cy="780960"/>
                <a:chOff x="4342156" y="2541184"/>
                <a:chExt cx="219003" cy="683186"/>
              </a:xfrm>
            </p:grpSpPr>
            <p:sp>
              <p:nvSpPr>
                <p:cNvPr id="11" name="Rectangle 10"/>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2" name="Rounded Rectangle 11"/>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0" name="TextBox 9"/>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239496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2659349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Divider 02">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6739993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0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itle Only 0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5" name="TextBox 4">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7" name="Title 6"/>
          <p:cNvSpPr>
            <a:spLocks noGrp="1"/>
          </p:cNvSpPr>
          <p:nvPr>
            <p:ph type="title"/>
          </p:nvPr>
        </p:nvSpPr>
        <p:spPr/>
        <p:txBody>
          <a:bodyPr/>
          <a:lstStyle/>
          <a:p>
            <a:r>
              <a:rPr lang="en-US"/>
              <a:t>Click to edit Master title style</a:t>
            </a:r>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023055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836832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3916663" y="1945294"/>
            <a:ext cx="4405534" cy="1971681"/>
          </a:xfrm>
          <a:prstGeom prst="rect">
            <a:avLst/>
          </a:prstGeom>
          <a:noFill/>
        </p:spPr>
        <p:txBody>
          <a:bodyPr wrap="square" lIns="0" tIns="0" rIns="0" bIns="0" rtlCol="0">
            <a:noAutofit/>
          </a:bodyPr>
          <a:lstStyle/>
          <a:p>
            <a:pPr algn="l"/>
            <a:r>
              <a:rPr lang="en-US" sz="15000" b="1" i="0">
                <a:solidFill>
                  <a:schemeClr val="bg1"/>
                </a:solidFill>
                <a:latin typeface="Arial" charset="0"/>
                <a:ea typeface="Arial" charset="0"/>
                <a:cs typeface="Arial" charset="0"/>
              </a:rPr>
              <a:t>Q&amp;A</a:t>
            </a:r>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rgbClr val="A7E6E4"/>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6" name="TextBox 15">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sp>
        <p:nvSpPr>
          <p:cNvPr id="18" name="TextBox 1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7" name="TextBox 16">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770608" y="2544869"/>
            <a:ext cx="2650782" cy="1984161"/>
          </a:xfrm>
          <a:prstGeom prst="rect">
            <a:avLst/>
          </a:prstGeom>
        </p:spPr>
      </p:pic>
      <p:sp>
        <p:nvSpPr>
          <p:cNvPr id="6" name="TextBox 5">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6697118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448800" y="6484902"/>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12287486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S4F-ERP Knowledge Transfer</a:t>
            </a:r>
          </a:p>
        </p:txBody>
      </p:sp>
      <p:sp>
        <p:nvSpPr>
          <p:cNvPr id="4" name="Slide Number Placeholder 3"/>
          <p:cNvSpPr>
            <a:spLocks noGrp="1"/>
          </p:cNvSpPr>
          <p:nvPr>
            <p:ph type="sldNum" sz="quarter" idx="12"/>
          </p:nvPr>
        </p:nvSpPr>
        <p:spPr>
          <a:xfrm>
            <a:off x="9448800" y="6492875"/>
            <a:ext cx="2743200" cy="365125"/>
          </a:xfrm>
        </p:spPr>
        <p:txBody>
          <a:bodyPr/>
          <a:lstStyle>
            <a:lvl1pPr>
              <a:defRPr sz="800"/>
            </a:lvl1pPr>
          </a:lstStyle>
          <a:p>
            <a:fld id="{1A6A2304-23DC-2B46-BD14-F082077842FF}" type="slidenum">
              <a:rPr lang="en-US" smtClean="0"/>
              <a:pPr/>
              <a:t>‹#›</a:t>
            </a:fld>
            <a:endParaRPr lang="en-US"/>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6" name="TextBox 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spTree>
    <p:extLst>
      <p:ext uri="{BB962C8B-B14F-4D97-AF65-F5344CB8AC3E}">
        <p14:creationId xmlns:p14="http://schemas.microsoft.com/office/powerpoint/2010/main" val="2804075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3704960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3" Type="http://schemas.openxmlformats.org/officeDocument/2006/relationships/slideLayout" Target="../slideLayouts/slideLayout7.xml"/><Relationship Id="rId21" Type="http://schemas.openxmlformats.org/officeDocument/2006/relationships/slideLayout" Target="../slideLayouts/slideLayout25.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0" Type="http://schemas.openxmlformats.org/officeDocument/2006/relationships/slideLayout" Target="../slideLayouts/slideLayout24.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24" Type="http://schemas.openxmlformats.org/officeDocument/2006/relationships/theme" Target="../theme/theme2.xml"/><Relationship Id="rId5" Type="http://schemas.openxmlformats.org/officeDocument/2006/relationships/slideLayout" Target="../slideLayouts/slideLayout9.xml"/><Relationship Id="rId15" Type="http://schemas.openxmlformats.org/officeDocument/2006/relationships/slideLayout" Target="../slideLayouts/slideLayout19.xml"/><Relationship Id="rId23" Type="http://schemas.openxmlformats.org/officeDocument/2006/relationships/slideLayout" Target="../slideLayouts/slideLayout27.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theme" Target="../theme/theme3.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theme" Target="../theme/theme4.xml"/><Relationship Id="rId5" Type="http://schemas.openxmlformats.org/officeDocument/2006/relationships/slideLayout" Target="../slideLayouts/slideLayout37.xml"/><Relationship Id="rId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583574900"/>
      </p:ext>
    </p:extLst>
  </p:cSld>
  <p:clrMap bg1="lt1" tx1="dk1" bg2="lt2" tx2="dk2" accent1="accent1" accent2="accent2" accent3="accent3" accent4="accent4" accent5="accent5" accent6="accent6" hlink="hlink" folHlink="folHlink"/>
  <p:sldLayoutIdLst>
    <p:sldLayoutId id="2147483696" r:id="rId1"/>
    <p:sldLayoutId id="2147483818" r:id="rId2"/>
    <p:sldLayoutId id="2147483692" r:id="rId3"/>
    <p:sldLayoutId id="2147483668" r:id="rId4"/>
    <p:sldLayoutId id="2147483695" r:id="rId5"/>
    <p:sldLayoutId id="2147483650" r:id="rId6"/>
    <p:sldLayoutId id="2147483657" r:id="rId7"/>
    <p:sldLayoutId id="2147483654" r:id="rId8"/>
    <p:sldLayoutId id="2147483679" r:id="rId9"/>
    <p:sldLayoutId id="2147483664" r:id="rId10"/>
    <p:sldLayoutId id="2147483688" r:id="rId11"/>
    <p:sldLayoutId id="2147483700" r:id="rId12"/>
    <p:sldLayoutId id="2147483701" r:id="rId13"/>
    <p:sldLayoutId id="2147483698" r:id="rId14"/>
    <p:sldLayoutId id="2147483699" r:id="rId15"/>
    <p:sldLayoutId id="2147483655" r:id="rId16"/>
    <p:sldLayoutId id="2147483693" r:id="rId17"/>
    <p:sldLayoutId id="2147483685" r:id="rId18"/>
    <p:sldLayoutId id="2147483691" r:id="rId19"/>
    <p:sldLayoutId id="2147483684" r:id="rId20"/>
    <p:sldLayoutId id="2147483717" r:id="rId21"/>
    <p:sldLayoutId id="2147483817" r:id="rId22"/>
    <p:sldLayoutId id="2147483819" r:id="rId23"/>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userDrawn="1">
          <p15:clr>
            <a:srgbClr val="F26B43"/>
          </p15:clr>
        </p15:guide>
        <p15:guide id="9" orient="horz" pos="216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95"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1.xml"/><Relationship Id="rId5" Type="http://schemas.microsoft.com/office/2007/relationships/hdphoto" Target="../media/hdphoto1.wdp"/><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microsoft.com/office/2007/relationships/hdphoto" Target="../media/hdphoto3.wdp"/><Relationship Id="rId5" Type="http://schemas.openxmlformats.org/officeDocument/2006/relationships/image" Target="../media/image20.png"/><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microsoft.com/office/2007/relationships/hdphoto" Target="../media/hdphoto5.wdp"/><Relationship Id="rId5" Type="http://schemas.openxmlformats.org/officeDocument/2006/relationships/image" Target="../media/image24.png"/><Relationship Id="rId4" Type="http://schemas.microsoft.com/office/2007/relationships/hdphoto" Target="../media/hdphoto4.wdp"/></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7" Type="http://schemas.microsoft.com/office/2007/relationships/hdphoto" Target="../media/hdphoto7.wdp"/><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27.png"/><Relationship Id="rId5" Type="http://schemas.microsoft.com/office/2007/relationships/hdphoto" Target="../media/hdphoto6.wdp"/><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32.png"/><Relationship Id="rId5" Type="http://schemas.openxmlformats.org/officeDocument/2006/relationships/image" Target="../media/image31.png"/><Relationship Id="rId4" Type="http://schemas.microsoft.com/office/2007/relationships/hdphoto" Target="../media/hdphoto8.wdp"/></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095"/>
            <a:ext cx="12192000" cy="4902409"/>
          </a:xfrm>
          <a:prstGeom prst="rect">
            <a:avLst/>
          </a:prstGeom>
          <a:gradFill flip="none" rotWithShape="1">
            <a:gsLst>
              <a:gs pos="0">
                <a:schemeClr val="accent6"/>
              </a:gs>
              <a:gs pos="100000">
                <a:schemeClr val="accent1">
                  <a:lumMod val="20000"/>
                  <a:lumOff val="80000"/>
                  <a:alpha val="4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Period End Closing Execution (BSC) </a:t>
            </a:r>
          </a:p>
        </p:txBody>
      </p:sp>
      <p:sp>
        <p:nvSpPr>
          <p:cNvPr id="40" name="Rounded Rectangle 39"/>
          <p:cNvSpPr/>
          <p:nvPr/>
        </p:nvSpPr>
        <p:spPr>
          <a:xfrm>
            <a:off x="3281078" y="1399526"/>
            <a:ext cx="609852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000000"/>
                </a:solidFill>
                <a:effectLst/>
                <a:uLnTx/>
                <a:uFillTx/>
                <a:latin typeface="Arial" charset="0"/>
                <a:ea typeface="+mn-ea"/>
                <a:cs typeface="Arial" charset="0"/>
              </a:rPr>
              <a:t>Period End Closing Key Process Areas and New Period End Checks</a:t>
            </a:r>
          </a:p>
        </p:txBody>
      </p:sp>
      <p:sp>
        <p:nvSpPr>
          <p:cNvPr id="41" name="Rounded Rectangle 40"/>
          <p:cNvSpPr/>
          <p:nvPr/>
        </p:nvSpPr>
        <p:spPr>
          <a:xfrm>
            <a:off x="673313" y="291072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Lease Accounting and Period End Closing</a:t>
            </a:r>
          </a:p>
        </p:txBody>
      </p:sp>
      <p:sp>
        <p:nvSpPr>
          <p:cNvPr id="22" name="Rounded Rectangle 40">
            <a:extLst>
              <a:ext uri="{FF2B5EF4-FFF2-40B4-BE49-F238E27FC236}">
                <a16:creationId xmlns:a16="http://schemas.microsoft.com/office/drawing/2014/main" id="{091BB016-E8F1-4AAD-AF98-88E474CD8BB2}"/>
              </a:ext>
            </a:extLst>
          </p:cNvPr>
          <p:cNvSpPr/>
          <p:nvPr/>
        </p:nvSpPr>
        <p:spPr>
          <a:xfrm>
            <a:off x="673313"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Period End Closing for Accruals and Recurring Entries</a:t>
            </a:r>
          </a:p>
        </p:txBody>
      </p:sp>
      <p:sp>
        <p:nvSpPr>
          <p:cNvPr id="23" name="Rounded Rectangle 40">
            <a:extLst>
              <a:ext uri="{FF2B5EF4-FFF2-40B4-BE49-F238E27FC236}">
                <a16:creationId xmlns:a16="http://schemas.microsoft.com/office/drawing/2014/main" id="{205DE5C2-7760-4191-BCD4-8195DDE0BF39}"/>
              </a:ext>
            </a:extLst>
          </p:cNvPr>
          <p:cNvSpPr/>
          <p:nvPr/>
        </p:nvSpPr>
        <p:spPr>
          <a:xfrm>
            <a:off x="673313" y="427661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Asset Accounting Closing Activities</a:t>
            </a:r>
          </a:p>
        </p:txBody>
      </p:sp>
      <p:sp>
        <p:nvSpPr>
          <p:cNvPr id="24" name="Rounded Rectangle 40">
            <a:extLst>
              <a:ext uri="{FF2B5EF4-FFF2-40B4-BE49-F238E27FC236}">
                <a16:creationId xmlns:a16="http://schemas.microsoft.com/office/drawing/2014/main" id="{8FFA192F-87C5-48EB-9C2E-BEAA28CDE5C6}"/>
              </a:ext>
            </a:extLst>
          </p:cNvPr>
          <p:cNvSpPr/>
          <p:nvPr/>
        </p:nvSpPr>
        <p:spPr>
          <a:xfrm>
            <a:off x="673313"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GR/IR Closing Activities</a:t>
            </a:r>
          </a:p>
        </p:txBody>
      </p:sp>
      <p:sp>
        <p:nvSpPr>
          <p:cNvPr id="25" name="Rounded Rectangle 40">
            <a:extLst>
              <a:ext uri="{FF2B5EF4-FFF2-40B4-BE49-F238E27FC236}">
                <a16:creationId xmlns:a16="http://schemas.microsoft.com/office/drawing/2014/main" id="{E379EF69-99DA-4912-A17E-41FCD589B730}"/>
              </a:ext>
            </a:extLst>
          </p:cNvPr>
          <p:cNvSpPr/>
          <p:nvPr/>
        </p:nvSpPr>
        <p:spPr>
          <a:xfrm>
            <a:off x="673313" y="5642505"/>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Automatic Clearing of LSC</a:t>
            </a:r>
            <a:r>
              <a:rPr lang="en-GB" sz="1400" i="1" baseline="30000">
                <a:solidFill>
                  <a:srgbClr val="FF0000"/>
                </a:solidFill>
                <a:latin typeface="Arial" charset="0"/>
                <a:cs typeface="Arial" charset="0"/>
              </a:rPr>
              <a:t>1)</a:t>
            </a:r>
            <a:r>
              <a:rPr lang="en-GB" sz="1400" b="1">
                <a:solidFill>
                  <a:srgbClr val="FFFFFF"/>
                </a:solidFill>
                <a:latin typeface="Arial" charset="0"/>
                <a:cs typeface="Arial" charset="0"/>
              </a:rPr>
              <a:t>  Accounts</a:t>
            </a:r>
          </a:p>
        </p:txBody>
      </p:sp>
      <p:sp>
        <p:nvSpPr>
          <p:cNvPr id="26" name="Rounded Rectangle 40">
            <a:extLst>
              <a:ext uri="{FF2B5EF4-FFF2-40B4-BE49-F238E27FC236}">
                <a16:creationId xmlns:a16="http://schemas.microsoft.com/office/drawing/2014/main" id="{4329EBC2-8992-4195-8E13-999726E21761}"/>
              </a:ext>
            </a:extLst>
          </p:cNvPr>
          <p:cNvSpPr/>
          <p:nvPr/>
        </p:nvSpPr>
        <p:spPr>
          <a:xfrm>
            <a:off x="6695134" y="291072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Cost Management Closing Activities</a:t>
            </a:r>
          </a:p>
        </p:txBody>
      </p:sp>
      <p:sp>
        <p:nvSpPr>
          <p:cNvPr id="27" name="Rounded Rectangle 40">
            <a:extLst>
              <a:ext uri="{FF2B5EF4-FFF2-40B4-BE49-F238E27FC236}">
                <a16:creationId xmlns:a16="http://schemas.microsoft.com/office/drawing/2014/main" id="{478B7F94-42EC-425F-9F47-5A42225822AD}"/>
              </a:ext>
            </a:extLst>
          </p:cNvPr>
          <p:cNvSpPr/>
          <p:nvPr/>
        </p:nvSpPr>
        <p:spPr>
          <a:xfrm>
            <a:off x="6695134"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Period End Data Checks</a:t>
            </a:r>
          </a:p>
        </p:txBody>
      </p:sp>
      <p:sp>
        <p:nvSpPr>
          <p:cNvPr id="28" name="Rounded Rectangle 40">
            <a:extLst>
              <a:ext uri="{FF2B5EF4-FFF2-40B4-BE49-F238E27FC236}">
                <a16:creationId xmlns:a16="http://schemas.microsoft.com/office/drawing/2014/main" id="{1C57AD5B-BBB5-4766-909A-B0F414925B5B}"/>
              </a:ext>
            </a:extLst>
          </p:cNvPr>
          <p:cNvSpPr/>
          <p:nvPr/>
        </p:nvSpPr>
        <p:spPr>
          <a:xfrm>
            <a:off x="6695134" y="427661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VAT Clearing and Reporting</a:t>
            </a:r>
          </a:p>
        </p:txBody>
      </p:sp>
      <p:sp>
        <p:nvSpPr>
          <p:cNvPr id="29" name="Rounded Rectangle 40">
            <a:extLst>
              <a:ext uri="{FF2B5EF4-FFF2-40B4-BE49-F238E27FC236}">
                <a16:creationId xmlns:a16="http://schemas.microsoft.com/office/drawing/2014/main" id="{D796FE03-AABA-4EB3-BA42-BC9F43C15FD3}"/>
              </a:ext>
            </a:extLst>
          </p:cNvPr>
          <p:cNvSpPr/>
          <p:nvPr/>
        </p:nvSpPr>
        <p:spPr>
          <a:xfrm>
            <a:off x="6695134"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Material Ledger Closing (Non-GSC Activities)</a:t>
            </a:r>
          </a:p>
        </p:txBody>
      </p:sp>
      <p:sp>
        <p:nvSpPr>
          <p:cNvPr id="30" name="Rounded Rectangle 40">
            <a:extLst>
              <a:ext uri="{FF2B5EF4-FFF2-40B4-BE49-F238E27FC236}">
                <a16:creationId xmlns:a16="http://schemas.microsoft.com/office/drawing/2014/main" id="{7DD719F9-E985-4F5E-A70A-5AFC7C99D2CE}"/>
              </a:ext>
            </a:extLst>
          </p:cNvPr>
          <p:cNvSpPr/>
          <p:nvPr/>
        </p:nvSpPr>
        <p:spPr>
          <a:xfrm>
            <a:off x="6695134" y="5642505"/>
            <a:ext cx="4944971"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G/L Closing Activities for Financial Statement Preparation</a:t>
            </a:r>
          </a:p>
        </p:txBody>
      </p:sp>
      <p:cxnSp>
        <p:nvCxnSpPr>
          <p:cNvPr id="5" name="Connector: Elbow 4">
            <a:extLst>
              <a:ext uri="{FF2B5EF4-FFF2-40B4-BE49-F238E27FC236}">
                <a16:creationId xmlns:a16="http://schemas.microsoft.com/office/drawing/2014/main" id="{E4E3B551-8A19-41F9-B96A-F3D36604A60A}"/>
              </a:ext>
            </a:extLst>
          </p:cNvPr>
          <p:cNvCxnSpPr>
            <a:cxnSpLocks/>
          </p:cNvCxnSpPr>
          <p:nvPr/>
        </p:nvCxnSpPr>
        <p:spPr>
          <a:xfrm rot="10800000" flipV="1">
            <a:off x="571718" y="2082470"/>
            <a:ext cx="5657025" cy="3811882"/>
          </a:xfrm>
          <a:prstGeom prst="bentConnector3">
            <a:avLst>
              <a:gd name="adj1" fmla="val 105978"/>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91E4123E-477A-425D-9FBC-58AF1A698C84}"/>
              </a:ext>
            </a:extLst>
          </p:cNvPr>
          <p:cNvCxnSpPr>
            <a:cxnSpLocks/>
          </p:cNvCxnSpPr>
          <p:nvPr/>
        </p:nvCxnSpPr>
        <p:spPr>
          <a:xfrm rot="16200000" flipH="1">
            <a:off x="4405376" y="3706192"/>
            <a:ext cx="3991130" cy="385189"/>
          </a:xfrm>
          <a:prstGeom prst="bentConnector3">
            <a:avLst>
              <a:gd name="adj1" fmla="val 10016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3EBEE6B-2DD2-4C84-98CD-E5ED4E58D20C}"/>
              </a:ext>
            </a:extLst>
          </p:cNvPr>
          <p:cNvCxnSpPr>
            <a:cxnSpLocks/>
          </p:cNvCxnSpPr>
          <p:nvPr/>
        </p:nvCxnSpPr>
        <p:spPr>
          <a:xfrm>
            <a:off x="237114" y="309996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88FA4E5-5E3C-4BAB-8D83-7A18F42B78B6}"/>
              </a:ext>
            </a:extLst>
          </p:cNvPr>
          <p:cNvCxnSpPr>
            <a:cxnSpLocks/>
          </p:cNvCxnSpPr>
          <p:nvPr/>
        </p:nvCxnSpPr>
        <p:spPr>
          <a:xfrm>
            <a:off x="237114" y="37711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5E2183E-AF10-4629-B7B8-E9B9986DB435}"/>
              </a:ext>
            </a:extLst>
          </p:cNvPr>
          <p:cNvCxnSpPr>
            <a:cxnSpLocks/>
          </p:cNvCxnSpPr>
          <p:nvPr/>
        </p:nvCxnSpPr>
        <p:spPr>
          <a:xfrm>
            <a:off x="237114" y="455997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638197A-BD05-4467-A0B3-1123B54A7910}"/>
              </a:ext>
            </a:extLst>
          </p:cNvPr>
          <p:cNvCxnSpPr>
            <a:cxnSpLocks/>
          </p:cNvCxnSpPr>
          <p:nvPr/>
        </p:nvCxnSpPr>
        <p:spPr>
          <a:xfrm>
            <a:off x="237114" y="52114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0BA6438-1A74-436F-9160-CB0FB704C8A4}"/>
              </a:ext>
            </a:extLst>
          </p:cNvPr>
          <p:cNvCxnSpPr>
            <a:cxnSpLocks/>
          </p:cNvCxnSpPr>
          <p:nvPr/>
        </p:nvCxnSpPr>
        <p:spPr>
          <a:xfrm>
            <a:off x="6235949" y="3094104"/>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933A4AA-F545-4E3B-B48D-08711E8FCF6A}"/>
              </a:ext>
            </a:extLst>
          </p:cNvPr>
          <p:cNvCxnSpPr>
            <a:cxnSpLocks/>
          </p:cNvCxnSpPr>
          <p:nvPr/>
        </p:nvCxnSpPr>
        <p:spPr>
          <a:xfrm>
            <a:off x="6235949" y="381800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46830C5-8D0A-496A-9F17-E7945754D25C}"/>
              </a:ext>
            </a:extLst>
          </p:cNvPr>
          <p:cNvCxnSpPr>
            <a:cxnSpLocks/>
          </p:cNvCxnSpPr>
          <p:nvPr/>
        </p:nvCxnSpPr>
        <p:spPr>
          <a:xfrm>
            <a:off x="6235949" y="4554117"/>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D59F-EA27-49EC-A25F-785761157405}"/>
              </a:ext>
            </a:extLst>
          </p:cNvPr>
          <p:cNvCxnSpPr>
            <a:cxnSpLocks/>
          </p:cNvCxnSpPr>
          <p:nvPr/>
        </p:nvCxnSpPr>
        <p:spPr>
          <a:xfrm>
            <a:off x="6235949" y="5205550"/>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1" name="Rounded Rectangle 40">
            <a:extLst>
              <a:ext uri="{FF2B5EF4-FFF2-40B4-BE49-F238E27FC236}">
                <a16:creationId xmlns:a16="http://schemas.microsoft.com/office/drawing/2014/main" id="{BDACF3D3-2286-4EE6-939F-BD6495EE430E}"/>
              </a:ext>
            </a:extLst>
          </p:cNvPr>
          <p:cNvSpPr/>
          <p:nvPr/>
        </p:nvSpPr>
        <p:spPr>
          <a:xfrm>
            <a:off x="6675312" y="2211643"/>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Intercompany and Period End Closing</a:t>
            </a:r>
          </a:p>
        </p:txBody>
      </p:sp>
      <p:cxnSp>
        <p:nvCxnSpPr>
          <p:cNvPr id="32" name="Straight Connector 31">
            <a:extLst>
              <a:ext uri="{FF2B5EF4-FFF2-40B4-BE49-F238E27FC236}">
                <a16:creationId xmlns:a16="http://schemas.microsoft.com/office/drawing/2014/main" id="{884238E6-E8C6-46A4-A65E-938DFAE16828}"/>
              </a:ext>
            </a:extLst>
          </p:cNvPr>
          <p:cNvCxnSpPr>
            <a:cxnSpLocks/>
          </p:cNvCxnSpPr>
          <p:nvPr/>
        </p:nvCxnSpPr>
        <p:spPr>
          <a:xfrm>
            <a:off x="6228742" y="242002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3035EF1-E9BE-44DE-BA35-80386C719969}"/>
              </a:ext>
            </a:extLst>
          </p:cNvPr>
          <p:cNvSpPr txBox="1"/>
          <p:nvPr/>
        </p:nvSpPr>
        <p:spPr>
          <a:xfrm>
            <a:off x="1978269" y="6409592"/>
            <a:ext cx="3490546" cy="365125"/>
          </a:xfrm>
          <a:prstGeom prst="rect">
            <a:avLst/>
          </a:prstGeom>
          <a:noFill/>
        </p:spPr>
        <p:txBody>
          <a:bodyPr wrap="square" lIns="0" tIns="0" rIns="0" bIns="0" rtlCol="0">
            <a:noAutofit/>
          </a:bodyPr>
          <a:lstStyle/>
          <a:p>
            <a:pPr algn="l"/>
            <a:r>
              <a:rPr lang="en-US" sz="900" i="1" baseline="30000">
                <a:solidFill>
                  <a:srgbClr val="FF0000"/>
                </a:solidFill>
              </a:rPr>
              <a:t>1) </a:t>
            </a:r>
            <a:r>
              <a:rPr lang="en-US" sz="900" b="1" i="1"/>
              <a:t>LSC</a:t>
            </a:r>
            <a:r>
              <a:rPr lang="en-US" sz="900" i="1"/>
              <a:t> – Accounts with indicator “Clearing Specific to Ledger Groups” active.</a:t>
            </a:r>
          </a:p>
        </p:txBody>
      </p:sp>
      <p:sp>
        <p:nvSpPr>
          <p:cNvPr id="33" name="Rounded Rectangle 40">
            <a:extLst>
              <a:ext uri="{FF2B5EF4-FFF2-40B4-BE49-F238E27FC236}">
                <a16:creationId xmlns:a16="http://schemas.microsoft.com/office/drawing/2014/main" id="{3B7A6A7E-D54B-4464-8203-DF984ED60F8B}"/>
              </a:ext>
            </a:extLst>
          </p:cNvPr>
          <p:cNvSpPr/>
          <p:nvPr/>
        </p:nvSpPr>
        <p:spPr>
          <a:xfrm>
            <a:off x="673313" y="222380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Posting Period Control</a:t>
            </a:r>
          </a:p>
        </p:txBody>
      </p:sp>
      <p:cxnSp>
        <p:nvCxnSpPr>
          <p:cNvPr id="37" name="Straight Connector 36">
            <a:extLst>
              <a:ext uri="{FF2B5EF4-FFF2-40B4-BE49-F238E27FC236}">
                <a16:creationId xmlns:a16="http://schemas.microsoft.com/office/drawing/2014/main" id="{401AB3D3-7BD8-4F78-9906-C339BF054918}"/>
              </a:ext>
            </a:extLst>
          </p:cNvPr>
          <p:cNvCxnSpPr>
            <a:cxnSpLocks/>
          </p:cNvCxnSpPr>
          <p:nvPr/>
        </p:nvCxnSpPr>
        <p:spPr>
          <a:xfrm>
            <a:off x="247717" y="245026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571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9406"/>
            <a:ext cx="12192000" cy="4902409"/>
          </a:xfrm>
          <a:prstGeom prst="rect">
            <a:avLst/>
          </a:prstGeom>
          <a:gradFill flip="none" rotWithShape="1">
            <a:gsLst>
              <a:gs pos="0">
                <a:schemeClr val="accent1">
                  <a:lumMod val="75000"/>
                </a:schemeClr>
              </a:gs>
              <a:gs pos="100000">
                <a:schemeClr val="accent1">
                  <a:lumMod val="20000"/>
                  <a:lumOff val="80000"/>
                  <a:alpha val="3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Period End Closing Key Process Areas and New Period End Checks</a:t>
            </a:r>
          </a:p>
        </p:txBody>
      </p:sp>
      <p:sp>
        <p:nvSpPr>
          <p:cNvPr id="40" name="Rounded Rectangle 39"/>
          <p:cNvSpPr/>
          <p:nvPr/>
        </p:nvSpPr>
        <p:spPr>
          <a:xfrm>
            <a:off x="164492" y="3524970"/>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lvl="0" algn="ctr">
              <a:spcAft>
                <a:spcPts val="1000"/>
              </a:spcAft>
              <a:defRPr/>
            </a:pPr>
            <a:r>
              <a:rPr lang="en-GB" sz="1400" b="1">
                <a:solidFill>
                  <a:srgbClr val="000000"/>
                </a:solidFill>
                <a:latin typeface="Arial" charset="0"/>
                <a:cs typeface="Arial" charset="0"/>
              </a:rPr>
              <a:t>G/L Closing Activities for Financial Statement Preparation</a:t>
            </a:r>
          </a:p>
        </p:txBody>
      </p:sp>
      <p:sp>
        <p:nvSpPr>
          <p:cNvPr id="32" name="Rounded Rectangle 39">
            <a:extLst>
              <a:ext uri="{FF2B5EF4-FFF2-40B4-BE49-F238E27FC236}">
                <a16:creationId xmlns:a16="http://schemas.microsoft.com/office/drawing/2014/main" id="{95943B57-958A-4B14-9959-D27D9C2163B5}"/>
              </a:ext>
            </a:extLst>
          </p:cNvPr>
          <p:cNvSpPr/>
          <p:nvPr/>
        </p:nvSpPr>
        <p:spPr>
          <a:xfrm>
            <a:off x="5087053" y="5025947"/>
            <a:ext cx="2623046"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Arial"/>
              </a:rPr>
              <a:t>Functional Area Adjustment</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087053" y="2654953"/>
            <a:ext cx="2623046"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US" sz="1400" b="1">
                <a:solidFill>
                  <a:srgbClr val="000000"/>
                </a:solidFill>
                <a:latin typeface="Arial" charset="0"/>
                <a:cs typeface="Arial" charset="0"/>
              </a:rPr>
              <a:t>Currency Revaluation</a:t>
            </a:r>
          </a:p>
        </p:txBody>
      </p:sp>
      <p:cxnSp>
        <p:nvCxnSpPr>
          <p:cNvPr id="41" name="Elbow Connector 7">
            <a:extLst>
              <a:ext uri="{FF2B5EF4-FFF2-40B4-BE49-F238E27FC236}">
                <a16:creationId xmlns:a16="http://schemas.microsoft.com/office/drawing/2014/main" id="{9D5CB863-C719-46D6-930C-1EFAD313C26F}"/>
              </a:ext>
            </a:extLst>
          </p:cNvPr>
          <p:cNvCxnSpPr>
            <a:cxnSpLocks/>
          </p:cNvCxnSpPr>
          <p:nvPr/>
        </p:nvCxnSpPr>
        <p:spPr>
          <a:xfrm rot="16200000" flipH="1">
            <a:off x="3534061" y="3851968"/>
            <a:ext cx="2299014" cy="552637"/>
          </a:xfrm>
          <a:prstGeom prst="bentConnector3">
            <a:avLst>
              <a:gd name="adj1" fmla="val 99898"/>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3940233" y="2906801"/>
            <a:ext cx="1044304" cy="797376"/>
          </a:xfrm>
          <a:prstGeom prst="bentConnector3">
            <a:avLst>
              <a:gd name="adj1" fmla="val 44428"/>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E7F26A0-7314-4FF1-BA92-49E05E717F58}"/>
              </a:ext>
            </a:extLst>
          </p:cNvPr>
          <p:cNvCxnSpPr>
            <a:cxnSpLocks/>
          </p:cNvCxnSpPr>
          <p:nvPr/>
        </p:nvCxnSpPr>
        <p:spPr>
          <a:xfrm>
            <a:off x="3854608" y="3707971"/>
            <a:ext cx="1105279" cy="6992"/>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3" name="Rounded Rectangle 39">
            <a:extLst>
              <a:ext uri="{FF2B5EF4-FFF2-40B4-BE49-F238E27FC236}">
                <a16:creationId xmlns:a16="http://schemas.microsoft.com/office/drawing/2014/main" id="{84DE1B7C-5151-4EC9-B9A5-B80A5BD549E1}"/>
              </a:ext>
            </a:extLst>
          </p:cNvPr>
          <p:cNvSpPr/>
          <p:nvPr/>
        </p:nvSpPr>
        <p:spPr>
          <a:xfrm>
            <a:off x="5087053" y="3445284"/>
            <a:ext cx="2623046"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Arial"/>
              </a:rPr>
              <a:t>AP/AR Regrouping</a:t>
            </a:r>
          </a:p>
        </p:txBody>
      </p:sp>
      <p:sp>
        <p:nvSpPr>
          <p:cNvPr id="15" name="Rounded Rectangle 39">
            <a:extLst>
              <a:ext uri="{FF2B5EF4-FFF2-40B4-BE49-F238E27FC236}">
                <a16:creationId xmlns:a16="http://schemas.microsoft.com/office/drawing/2014/main" id="{94A33D2A-CF2C-4FBA-BC57-8CA71CBA9B2B}"/>
              </a:ext>
            </a:extLst>
          </p:cNvPr>
          <p:cNvSpPr/>
          <p:nvPr/>
        </p:nvSpPr>
        <p:spPr>
          <a:xfrm>
            <a:off x="5087053" y="4235615"/>
            <a:ext cx="2623046"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Arial"/>
              </a:rPr>
              <a:t>Currency Translation</a:t>
            </a:r>
          </a:p>
        </p:txBody>
      </p:sp>
      <p:cxnSp>
        <p:nvCxnSpPr>
          <p:cNvPr id="36" name="Straight Connector 35">
            <a:extLst>
              <a:ext uri="{FF2B5EF4-FFF2-40B4-BE49-F238E27FC236}">
                <a16:creationId xmlns:a16="http://schemas.microsoft.com/office/drawing/2014/main" id="{AE381658-B4E2-44E0-B9F2-C2E7AAB62AFB}"/>
              </a:ext>
            </a:extLst>
          </p:cNvPr>
          <p:cNvCxnSpPr>
            <a:cxnSpLocks/>
          </p:cNvCxnSpPr>
          <p:nvPr/>
        </p:nvCxnSpPr>
        <p:spPr>
          <a:xfrm>
            <a:off x="4384940" y="4458139"/>
            <a:ext cx="585837" cy="0"/>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7758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2">
            <a:extLst>
              <a:ext uri="{FF2B5EF4-FFF2-40B4-BE49-F238E27FC236}">
                <a16:creationId xmlns:a16="http://schemas.microsoft.com/office/drawing/2014/main" id="{5F78778B-8AE7-403D-A352-D875AF28F1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2FDAB986-BF86-4644-9EF9-32D75C653C5E}"/>
              </a:ext>
            </a:extLst>
          </p:cNvPr>
          <p:cNvSpPr>
            <a:spLocks noGrp="1"/>
          </p:cNvSpPr>
          <p:nvPr>
            <p:ph type="title"/>
          </p:nvPr>
        </p:nvSpPr>
        <p:spPr>
          <a:xfrm>
            <a:off x="1576968" y="233127"/>
            <a:ext cx="10220126" cy="984247"/>
          </a:xfrm>
        </p:spPr>
        <p:txBody>
          <a:bodyPr/>
          <a:lstStyle/>
          <a:p>
            <a:r>
              <a:rPr lang="en-GB"/>
              <a:t>Currency Revaluation Period End Process Overview</a:t>
            </a:r>
          </a:p>
        </p:txBody>
      </p:sp>
      <p:sp>
        <p:nvSpPr>
          <p:cNvPr id="8" name="Rectangle 7">
            <a:extLst>
              <a:ext uri="{FF2B5EF4-FFF2-40B4-BE49-F238E27FC236}">
                <a16:creationId xmlns:a16="http://schemas.microsoft.com/office/drawing/2014/main" id="{23CA56EC-827F-49BB-A015-79EA68FD2EFE}"/>
              </a:ext>
            </a:extLst>
          </p:cNvPr>
          <p:cNvSpPr/>
          <p:nvPr/>
        </p:nvSpPr>
        <p:spPr>
          <a:xfrm>
            <a:off x="6395060" y="2383750"/>
            <a:ext cx="5429742" cy="307777"/>
          </a:xfrm>
          <a:prstGeom prst="rect">
            <a:avLst/>
          </a:prstGeom>
        </p:spPr>
        <p:txBody>
          <a:bodyPr wrap="square">
            <a:spAutoFit/>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Freeform: Shape 24">
            <a:extLst>
              <a:ext uri="{FF2B5EF4-FFF2-40B4-BE49-F238E27FC236}">
                <a16:creationId xmlns:a16="http://schemas.microsoft.com/office/drawing/2014/main" id="{513203DA-10E1-4520-B0AF-701FDA830BC8}"/>
              </a:ext>
            </a:extLst>
          </p:cNvPr>
          <p:cNvSpPr/>
          <p:nvPr/>
        </p:nvSpPr>
        <p:spPr>
          <a:xfrm>
            <a:off x="558224" y="4924886"/>
            <a:ext cx="3107689" cy="77448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T-Code</a:t>
            </a:r>
            <a:r>
              <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a:t>
            </a:r>
          </a:p>
          <a:p>
            <a:pPr marL="0" marR="0" lvl="0" indent="0" algn="ctr" defTabSz="1644650" rtl="0" eaLnBrk="1" fontAlgn="auto" latinLnBrk="0" hangingPunct="1">
              <a:lnSpc>
                <a:spcPct val="100000"/>
              </a:lnSpc>
              <a:spcBef>
                <a:spcPct val="0"/>
              </a:spcBef>
              <a:spcAft>
                <a:spcPts val="0"/>
              </a:spcAft>
              <a:buClrTx/>
              <a:buSzTx/>
              <a:buFontTx/>
              <a:buNone/>
              <a:tabLst/>
              <a:defRPr/>
            </a:pPr>
            <a:r>
              <a:rPr lang="en-US" sz="1600">
                <a:solidFill>
                  <a:srgbClr val="000000">
                    <a:hueOff val="0"/>
                    <a:satOff val="0"/>
                    <a:lumOff val="0"/>
                    <a:alphaOff val="0"/>
                  </a:srgbClr>
                </a:solidFill>
                <a:latin typeface="Arial" panose="020B0604020202020204"/>
              </a:rPr>
              <a:t>FAGL_FCV</a:t>
            </a: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7" name="Freeform: Shape 26">
            <a:extLst>
              <a:ext uri="{FF2B5EF4-FFF2-40B4-BE49-F238E27FC236}">
                <a16:creationId xmlns:a16="http://schemas.microsoft.com/office/drawing/2014/main" id="{F70E22DA-9C3D-4EF6-9EEC-7D94927A4C2B}"/>
              </a:ext>
            </a:extLst>
          </p:cNvPr>
          <p:cNvSpPr/>
          <p:nvPr/>
        </p:nvSpPr>
        <p:spPr>
          <a:xfrm>
            <a:off x="558224" y="6375164"/>
            <a:ext cx="3107689" cy="450330"/>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Timing: </a:t>
            </a:r>
            <a:r>
              <a:rPr kumimoji="0" lang="en-US" sz="13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WD3 – IFRS</a:t>
            </a:r>
          </a:p>
          <a:p>
            <a:pPr marL="0" marR="0" lvl="0" indent="0" algn="ctr" defTabSz="1644650" rtl="0" eaLnBrk="1" fontAlgn="auto" latinLnBrk="0" hangingPunct="1">
              <a:lnSpc>
                <a:spcPct val="100000"/>
              </a:lnSpc>
              <a:spcBef>
                <a:spcPct val="0"/>
              </a:spcBef>
              <a:spcAft>
                <a:spcPts val="0"/>
              </a:spcAft>
              <a:buClrTx/>
              <a:buSzTx/>
              <a:buFontTx/>
              <a:buNone/>
              <a:tabLst/>
              <a:defRPr/>
            </a:pPr>
            <a:r>
              <a:rPr lang="en-US" sz="1300">
                <a:solidFill>
                  <a:srgbClr val="000000">
                    <a:hueOff val="0"/>
                    <a:satOff val="0"/>
                    <a:lumOff val="0"/>
                    <a:alphaOff val="0"/>
                  </a:srgbClr>
                </a:solidFill>
                <a:latin typeface="Arial" panose="020B0604020202020204"/>
              </a:rPr>
              <a:t>WD10 – STAT/TAX</a:t>
            </a:r>
            <a:endParaRPr kumimoji="0" lang="en-US" sz="13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38" name="Freeform: Shape 37">
            <a:extLst>
              <a:ext uri="{FF2B5EF4-FFF2-40B4-BE49-F238E27FC236}">
                <a16:creationId xmlns:a16="http://schemas.microsoft.com/office/drawing/2014/main" id="{454F50E9-FEB5-4789-BF3B-3A639F5DC84C}"/>
              </a:ext>
            </a:extLst>
          </p:cNvPr>
          <p:cNvSpPr/>
          <p:nvPr/>
        </p:nvSpPr>
        <p:spPr>
          <a:xfrm>
            <a:off x="568102" y="5820291"/>
            <a:ext cx="3107689" cy="447612"/>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FCC Task</a:t>
            </a:r>
            <a:r>
              <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Entity Level</a:t>
            </a:r>
          </a:p>
        </p:txBody>
      </p:sp>
      <p:sp>
        <p:nvSpPr>
          <p:cNvPr id="5" name="Rectangle 4">
            <a:extLst>
              <a:ext uri="{FF2B5EF4-FFF2-40B4-BE49-F238E27FC236}">
                <a16:creationId xmlns:a16="http://schemas.microsoft.com/office/drawing/2014/main" id="{45F95EF3-7599-40F1-BC7E-247951A21F76}"/>
              </a:ext>
            </a:extLst>
          </p:cNvPr>
          <p:cNvSpPr/>
          <p:nvPr/>
        </p:nvSpPr>
        <p:spPr>
          <a:xfrm>
            <a:off x="3802937" y="4854189"/>
            <a:ext cx="8170987" cy="938719"/>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There should be more than one Revaluation tasks per entity as this is executed for each ledger using the corresponding Valuation Area, which determines the valuation calculation method, the rate and how postings should be made. Depending on the STAT and TAX ledger requirements, some entities may not have a Revaluation task for each ledger.</a:t>
            </a:r>
          </a:p>
          <a:p>
            <a:pPr marL="0" marR="0" lvl="0" indent="0" algn="l" defTabSz="914400" rtl="0" eaLnBrk="1" fontAlgn="auto" latinLnBrk="0" hangingPunct="1">
              <a:lnSpc>
                <a:spcPts val="1200"/>
              </a:lnSpc>
              <a:spcBef>
                <a:spcPts val="600"/>
              </a:spcBef>
              <a:spcAft>
                <a:spcPts val="0"/>
              </a:spcAft>
              <a:buClrTx/>
              <a:buSzTx/>
              <a:buFontTx/>
              <a:buNone/>
              <a:tabLst/>
              <a:defRPr/>
            </a:pPr>
            <a:r>
              <a:rPr lang="en-GB" sz="1150" i="1">
                <a:solidFill>
                  <a:srgbClr val="000000"/>
                </a:solidFill>
                <a:latin typeface="Georgia" panose="02040502050405020303" pitchFamily="18" charset="0"/>
              </a:rPr>
              <a:t>In S/4 HANA, the transaction will post the documents simultaneously with only erroneous entries sent to a Batch Input session for user to process.</a:t>
            </a:r>
            <a:r>
              <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a:t>
            </a:r>
          </a:p>
        </p:txBody>
      </p:sp>
      <p:sp>
        <p:nvSpPr>
          <p:cNvPr id="10" name="Rectangle 9">
            <a:extLst>
              <a:ext uri="{FF2B5EF4-FFF2-40B4-BE49-F238E27FC236}">
                <a16:creationId xmlns:a16="http://schemas.microsoft.com/office/drawing/2014/main" id="{141AA02A-B49B-45C1-8C1D-6AD74350EDB8}"/>
              </a:ext>
            </a:extLst>
          </p:cNvPr>
          <p:cNvSpPr/>
          <p:nvPr/>
        </p:nvSpPr>
        <p:spPr>
          <a:xfrm>
            <a:off x="3802937" y="6357230"/>
            <a:ext cx="7627062" cy="400110"/>
          </a:xfrm>
          <a:prstGeom prst="rect">
            <a:avLst/>
          </a:prstGeom>
        </p:spPr>
        <p:txBody>
          <a:bodyPr wrap="square" anchor="t">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GB" sz="1150" i="1">
                <a:latin typeface="Georgia"/>
              </a:rPr>
              <a:t>Revaluations are to be performed as one of the final financial statement</a:t>
            </a:r>
            <a:r>
              <a:rPr lang="en-GB" sz="1150" i="1" strike="sngStrike">
                <a:latin typeface="Georgia"/>
              </a:rPr>
              <a:t>s</a:t>
            </a:r>
            <a:r>
              <a:rPr lang="en-GB" sz="1150" i="1">
                <a:latin typeface="Georgia"/>
              </a:rPr>
              <a:t> preparation tasks, which will be on WD3 for IFRS and WD10 for STAT/TAX.</a:t>
            </a:r>
            <a:endParaRPr kumimoji="0" lang="en-GB" sz="1150" b="0" i="1" u="none" strike="noStrike" kern="1200" cap="none" spc="0" normalizeH="0" baseline="0" noProof="0">
              <a:ln>
                <a:noFill/>
              </a:ln>
              <a:effectLst/>
              <a:uLnTx/>
              <a:uFillTx/>
              <a:latin typeface="Georgia"/>
            </a:endParaRPr>
          </a:p>
        </p:txBody>
      </p:sp>
      <p:sp>
        <p:nvSpPr>
          <p:cNvPr id="40" name="Rectangle 39">
            <a:extLst>
              <a:ext uri="{FF2B5EF4-FFF2-40B4-BE49-F238E27FC236}">
                <a16:creationId xmlns:a16="http://schemas.microsoft.com/office/drawing/2014/main" id="{689CBDBA-83EE-41DF-8DA7-B8B49163AD50}"/>
              </a:ext>
            </a:extLst>
          </p:cNvPr>
          <p:cNvSpPr/>
          <p:nvPr/>
        </p:nvSpPr>
        <p:spPr>
          <a:xfrm>
            <a:off x="3802937" y="5922569"/>
            <a:ext cx="7873124" cy="246221"/>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 Revaluation tasks are set at entity level.</a:t>
            </a:r>
          </a:p>
        </p:txBody>
      </p:sp>
      <p:grpSp>
        <p:nvGrpSpPr>
          <p:cNvPr id="39" name="Group 38">
            <a:extLst>
              <a:ext uri="{FF2B5EF4-FFF2-40B4-BE49-F238E27FC236}">
                <a16:creationId xmlns:a16="http://schemas.microsoft.com/office/drawing/2014/main" id="{D0FA25D9-BF41-4683-B496-FC5050A69AEA}"/>
              </a:ext>
            </a:extLst>
          </p:cNvPr>
          <p:cNvGrpSpPr/>
          <p:nvPr/>
        </p:nvGrpSpPr>
        <p:grpSpPr>
          <a:xfrm>
            <a:off x="441244" y="1453783"/>
            <a:ext cx="5609953" cy="3361438"/>
            <a:chOff x="589454" y="3508514"/>
            <a:chExt cx="5428347" cy="1872367"/>
          </a:xfrm>
        </p:grpSpPr>
        <p:sp>
          <p:nvSpPr>
            <p:cNvPr id="41" name="Rectangle: Rounded Corners 40">
              <a:extLst>
                <a:ext uri="{FF2B5EF4-FFF2-40B4-BE49-F238E27FC236}">
                  <a16:creationId xmlns:a16="http://schemas.microsoft.com/office/drawing/2014/main" id="{B73273D1-46D9-4C6D-8AB9-D75A7F54A84F}"/>
                </a:ext>
              </a:extLst>
            </p:cNvPr>
            <p:cNvSpPr/>
            <p:nvPr/>
          </p:nvSpPr>
          <p:spPr>
            <a:xfrm>
              <a:off x="607926" y="3508514"/>
              <a:ext cx="5409875" cy="1872367"/>
            </a:xfrm>
            <a:prstGeom prst="roundRect">
              <a:avLst>
                <a:gd name="adj" fmla="val 4667"/>
              </a:avLst>
            </a:prstGeom>
            <a:solidFill>
              <a:schemeClr val="accent6">
                <a:lumMod val="20000"/>
                <a:lumOff val="80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TextBox 41">
              <a:extLst>
                <a:ext uri="{FF2B5EF4-FFF2-40B4-BE49-F238E27FC236}">
                  <a16:creationId xmlns:a16="http://schemas.microsoft.com/office/drawing/2014/main" id="{63255F36-FCDE-4F4F-9E48-50B709331374}"/>
                </a:ext>
              </a:extLst>
            </p:cNvPr>
            <p:cNvSpPr txBox="1"/>
            <p:nvPr/>
          </p:nvSpPr>
          <p:spPr>
            <a:xfrm>
              <a:off x="589454" y="3559809"/>
              <a:ext cx="5409875" cy="288235"/>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sng" strike="noStrike" kern="1200" cap="none" spc="0" normalizeH="0" baseline="0" noProof="0">
                  <a:ln>
                    <a:noFill/>
                  </a:ln>
                  <a:solidFill>
                    <a:srgbClr val="000000"/>
                  </a:solidFill>
                  <a:effectLst/>
                  <a:uLnTx/>
                  <a:uFillTx/>
                  <a:latin typeface="Aharoni" panose="02010803020104030203" pitchFamily="2" charset="-79"/>
                  <a:ea typeface="+mn-ea"/>
                  <a:cs typeface="Aharoni" panose="02010803020104030203" pitchFamily="2" charset="-79"/>
                </a:rPr>
                <a:t>Basic Process of Currency Revaluation</a:t>
              </a:r>
            </a:p>
          </p:txBody>
        </p:sp>
      </p:grpSp>
      <p:pic>
        <p:nvPicPr>
          <p:cNvPr id="28" name="Picture 27">
            <a:extLst>
              <a:ext uri="{FF2B5EF4-FFF2-40B4-BE49-F238E27FC236}">
                <a16:creationId xmlns:a16="http://schemas.microsoft.com/office/drawing/2014/main" id="{24AE9822-925F-478F-90A8-15739091F043}"/>
              </a:ext>
            </a:extLst>
          </p:cNvPr>
          <p:cNvPicPr>
            <a:picLocks noChangeAspect="1"/>
          </p:cNvPicPr>
          <p:nvPr/>
        </p:nvPicPr>
        <p:blipFill>
          <a:blip r:embed="rId3"/>
          <a:stretch>
            <a:fillRect/>
          </a:stretch>
        </p:blipFill>
        <p:spPr>
          <a:xfrm>
            <a:off x="500591" y="2222444"/>
            <a:ext cx="5515166" cy="1362362"/>
          </a:xfrm>
          <a:prstGeom prst="rect">
            <a:avLst/>
          </a:prstGeom>
        </p:spPr>
      </p:pic>
      <p:sp>
        <p:nvSpPr>
          <p:cNvPr id="29" name="Rectangle 28">
            <a:extLst>
              <a:ext uri="{FF2B5EF4-FFF2-40B4-BE49-F238E27FC236}">
                <a16:creationId xmlns:a16="http://schemas.microsoft.com/office/drawing/2014/main" id="{C6FA43B1-8FE4-4D0A-9406-73BA43774C56}"/>
              </a:ext>
            </a:extLst>
          </p:cNvPr>
          <p:cNvSpPr/>
          <p:nvPr/>
        </p:nvSpPr>
        <p:spPr>
          <a:xfrm>
            <a:off x="460334" y="3024579"/>
            <a:ext cx="5266406" cy="245853"/>
          </a:xfrm>
          <a:prstGeom prst="rect">
            <a:avLst/>
          </a:prstGeom>
          <a:noFill/>
          <a:ln w="28575">
            <a:solidFill>
              <a:srgbClr val="FF0000"/>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8EEC0292-E3C7-4626-938D-F1DB79238E3F}"/>
              </a:ext>
            </a:extLst>
          </p:cNvPr>
          <p:cNvSpPr/>
          <p:nvPr/>
        </p:nvSpPr>
        <p:spPr>
          <a:xfrm>
            <a:off x="617913" y="1912052"/>
            <a:ext cx="5321069" cy="374718"/>
          </a:xfrm>
          <a:prstGeom prst="rect">
            <a:avLst/>
          </a:prstGeom>
          <a:noFill/>
        </p:spPr>
        <p:txBody>
          <a:bodyPr wrap="square" lIns="0" tIns="0" rIns="0" bIns="0" rtlCol="0">
            <a:noAutofit/>
          </a:bodyPr>
          <a:lstStyle/>
          <a:p>
            <a:pPr marL="108000"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Revaluation is the process at period end for foreign currency monetary items to be revaluated from Document Currency to LC1 at balance sheet date exchange rate (JT Rate)</a:t>
            </a:r>
          </a:p>
        </p:txBody>
      </p:sp>
      <p:sp>
        <p:nvSpPr>
          <p:cNvPr id="3" name="Rectangle 2">
            <a:extLst>
              <a:ext uri="{FF2B5EF4-FFF2-40B4-BE49-F238E27FC236}">
                <a16:creationId xmlns:a16="http://schemas.microsoft.com/office/drawing/2014/main" id="{9A9FBA65-5DA8-4D0B-A5A3-EB21A28EBDF0}"/>
              </a:ext>
            </a:extLst>
          </p:cNvPr>
          <p:cNvSpPr/>
          <p:nvPr/>
        </p:nvSpPr>
        <p:spPr>
          <a:xfrm>
            <a:off x="500590" y="3642772"/>
            <a:ext cx="5438391" cy="6468437"/>
          </a:xfrm>
          <a:prstGeom prst="rect">
            <a:avLst/>
          </a:prstGeom>
          <a:noFill/>
        </p:spPr>
        <p:txBody>
          <a:bodyPr wrap="square" lIns="0" tIns="0" rIns="0" bIns="0" rtlCol="0">
            <a:noAutofit/>
          </a:bodyPr>
          <a:lstStyle/>
          <a:p>
            <a:pPr marL="108000"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In S/4HANA the </a:t>
            </a:r>
            <a:r>
              <a:rPr lang="en-GB" sz="1050" b="1">
                <a:solidFill>
                  <a:srgbClr val="000000"/>
                </a:solidFill>
                <a:latin typeface="Calibri" panose="020F0502020204030204" pitchFamily="34" charset="0"/>
                <a:cs typeface="Calibri" panose="020F0502020204030204" pitchFamily="34" charset="0"/>
              </a:rPr>
              <a:t>Core Principles </a:t>
            </a:r>
            <a:r>
              <a:rPr lang="en-GB" sz="1050">
                <a:solidFill>
                  <a:srgbClr val="000000"/>
                </a:solidFill>
                <a:latin typeface="Calibri" panose="020F0502020204030204" pitchFamily="34" charset="0"/>
                <a:cs typeface="Calibri" panose="020F0502020204030204" pitchFamily="34" charset="0"/>
              </a:rPr>
              <a:t>on FX Rate sources, FX Rate trigger dates and Revaluation calculations remain unchanged.</a:t>
            </a:r>
          </a:p>
          <a:p>
            <a:pPr marL="108000" indent="-108000">
              <a:lnSpc>
                <a:spcPts val="1050"/>
              </a:lnSpc>
              <a:spcBef>
                <a:spcPts val="300"/>
              </a:spcBef>
              <a:buFont typeface="Arial" panose="020B0604020202020204" pitchFamily="34" charset="0"/>
              <a:buChar char="•"/>
            </a:pPr>
            <a:r>
              <a:rPr lang="en-US" sz="1050">
                <a:solidFill>
                  <a:srgbClr val="000000"/>
                </a:solidFill>
                <a:latin typeface="Calibri" panose="020F0502020204030204" pitchFamily="34" charset="0"/>
                <a:cs typeface="Calibri" panose="020F0502020204030204" pitchFamily="34" charset="0"/>
              </a:rPr>
              <a:t>At period end </a:t>
            </a:r>
            <a:r>
              <a:rPr lang="en-US" sz="1050" b="1">
                <a:solidFill>
                  <a:srgbClr val="000000"/>
                </a:solidFill>
                <a:latin typeface="Calibri" panose="020F0502020204030204" pitchFamily="34" charset="0"/>
                <a:cs typeface="Calibri" panose="020F0502020204030204" pitchFamily="34" charset="0"/>
              </a:rPr>
              <a:t>all B/S Monetary items with DC ≠ LC1 </a:t>
            </a:r>
            <a:r>
              <a:rPr lang="en-US" sz="1050">
                <a:solidFill>
                  <a:srgbClr val="000000"/>
                </a:solidFill>
                <a:latin typeface="Calibri" panose="020F0502020204030204" pitchFamily="34" charset="0"/>
                <a:cs typeface="Calibri" panose="020F0502020204030204" pitchFamily="34" charset="0"/>
              </a:rPr>
              <a:t>are to be revaluated from DC to LC1 so that Revaluated </a:t>
            </a:r>
            <a:r>
              <a:rPr lang="en-GB" sz="1050">
                <a:solidFill>
                  <a:srgbClr val="000000"/>
                </a:solidFill>
                <a:latin typeface="Calibri" panose="020F0502020204030204" pitchFamily="34" charset="0"/>
                <a:cs typeface="Calibri" panose="020F0502020204030204" pitchFamily="34" charset="0"/>
              </a:rPr>
              <a:t>LC1 = DC @ JT Rate.</a:t>
            </a:r>
          </a:p>
          <a:p>
            <a:pPr marL="108000" lvl="3" indent="-108000">
              <a:lnSpc>
                <a:spcPts val="1050"/>
              </a:lnSpc>
              <a:spcBef>
                <a:spcPts val="300"/>
              </a:spcBef>
              <a:buFont typeface="Arial" panose="020B0604020202020204" pitchFamily="34" charset="0"/>
              <a:buChar char="•"/>
            </a:pPr>
            <a:r>
              <a:rPr lang="en-US" sz="1050">
                <a:solidFill>
                  <a:srgbClr val="000000"/>
                </a:solidFill>
                <a:latin typeface="Calibri" panose="020F0502020204030204" pitchFamily="34" charset="0"/>
                <a:cs typeface="Calibri" panose="020F0502020204030204" pitchFamily="34" charset="0"/>
              </a:rPr>
              <a:t>Revaluation posts UFX (B/S and P&amp;L) in LC1 and in LC3 (LC3=LC1@ RM rate).</a:t>
            </a:r>
          </a:p>
          <a:p>
            <a:pPr marL="108000" lvl="3" indent="-108000">
              <a:lnSpc>
                <a:spcPts val="1050"/>
              </a:lnSpc>
              <a:spcBef>
                <a:spcPts val="300"/>
              </a:spcBef>
              <a:buFont typeface="Arial" panose="020B0604020202020204" pitchFamily="34" charset="0"/>
              <a:buChar char="•"/>
            </a:pPr>
            <a:r>
              <a:rPr lang="en-US" sz="1050">
                <a:solidFill>
                  <a:srgbClr val="000000"/>
                </a:solidFill>
                <a:latin typeface="Calibri" panose="020F0502020204030204" pitchFamily="34" charset="0"/>
                <a:cs typeface="Calibri" panose="020F0502020204030204" pitchFamily="34" charset="0"/>
              </a:rPr>
              <a:t>Revaluation is performed separately for different ledgers as per closing calendar. To meet the different revaluation calculation requirements in different ledgers, </a:t>
            </a:r>
            <a:r>
              <a:rPr lang="en-US" sz="1050" b="1">
                <a:solidFill>
                  <a:srgbClr val="000000"/>
                </a:solidFill>
                <a:latin typeface="Calibri" panose="020F0502020204030204" pitchFamily="34" charset="0"/>
                <a:cs typeface="Calibri" panose="020F0502020204030204" pitchFamily="34" charset="0"/>
              </a:rPr>
              <a:t>Valuation Areas</a:t>
            </a:r>
            <a:r>
              <a:rPr lang="en-US" sz="1050" i="1" baseline="30000">
                <a:solidFill>
                  <a:srgbClr val="FF0000"/>
                </a:solidFill>
                <a:latin typeface="Calibri" panose="020F0502020204030204" pitchFamily="34" charset="0"/>
                <a:cs typeface="Calibri" panose="020F0502020204030204" pitchFamily="34" charset="0"/>
              </a:rPr>
              <a:t>1)</a:t>
            </a:r>
            <a:r>
              <a:rPr lang="en-US" sz="1050" b="1">
                <a:solidFill>
                  <a:srgbClr val="000000"/>
                </a:solidFill>
                <a:latin typeface="Calibri" panose="020F0502020204030204" pitchFamily="34" charset="0"/>
                <a:cs typeface="Calibri" panose="020F0502020204030204" pitchFamily="34" charset="0"/>
              </a:rPr>
              <a:t> </a:t>
            </a:r>
            <a:r>
              <a:rPr lang="en-US" sz="1050">
                <a:solidFill>
                  <a:srgbClr val="000000"/>
                </a:solidFill>
                <a:latin typeface="Calibri" panose="020F0502020204030204" pitchFamily="34" charset="0"/>
                <a:cs typeface="Calibri" panose="020F0502020204030204" pitchFamily="34" charset="0"/>
              </a:rPr>
              <a:t>are used.</a:t>
            </a:r>
          </a:p>
        </p:txBody>
      </p:sp>
      <p:sp>
        <p:nvSpPr>
          <p:cNvPr id="6" name="TextBox 5">
            <a:extLst>
              <a:ext uri="{FF2B5EF4-FFF2-40B4-BE49-F238E27FC236}">
                <a16:creationId xmlns:a16="http://schemas.microsoft.com/office/drawing/2014/main" id="{77DEEF9E-A697-41A4-B6CC-62B8FA5DA639}"/>
              </a:ext>
            </a:extLst>
          </p:cNvPr>
          <p:cNvSpPr txBox="1"/>
          <p:nvPr/>
        </p:nvSpPr>
        <p:spPr>
          <a:xfrm>
            <a:off x="6170239" y="4688768"/>
            <a:ext cx="5190837" cy="162848"/>
          </a:xfrm>
          <a:prstGeom prst="rect">
            <a:avLst/>
          </a:prstGeom>
          <a:noFill/>
        </p:spPr>
        <p:txBody>
          <a:bodyPr wrap="square" lIns="0" tIns="0" rIns="0" bIns="0" rtlCol="0">
            <a:noAutofit/>
          </a:bodyPr>
          <a:lstStyle/>
          <a:p>
            <a:pPr algn="l"/>
            <a:r>
              <a:rPr lang="en-US" sz="800" i="1" baseline="30000">
                <a:solidFill>
                  <a:srgbClr val="FF0000"/>
                </a:solidFill>
              </a:rPr>
              <a:t>1) </a:t>
            </a:r>
            <a:r>
              <a:rPr lang="en-US" sz="800" i="1"/>
              <a:t>Details on Valuation Areas and Revaluation Calculation Methods are available in Parallel Ledger training course.</a:t>
            </a:r>
          </a:p>
        </p:txBody>
      </p:sp>
      <p:pic>
        <p:nvPicPr>
          <p:cNvPr id="7" name="Picture 6">
            <a:extLst>
              <a:ext uri="{FF2B5EF4-FFF2-40B4-BE49-F238E27FC236}">
                <a16:creationId xmlns:a16="http://schemas.microsoft.com/office/drawing/2014/main" id="{F8B1CD74-98DE-4433-8A18-12FB5800988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6115851" y="1467109"/>
            <a:ext cx="6035407" cy="2403585"/>
          </a:xfrm>
          <a:prstGeom prst="rect">
            <a:avLst/>
          </a:prstGeom>
          <a:effectLst>
            <a:outerShdw blurRad="50800" dist="38100" dir="2700000" algn="tl" rotWithShape="0">
              <a:prstClr val="black">
                <a:alpha val="40000"/>
              </a:prstClr>
            </a:outerShdw>
          </a:effectLst>
        </p:spPr>
      </p:pic>
      <p:sp>
        <p:nvSpPr>
          <p:cNvPr id="33" name="Rectangle: Rounded Corners 32">
            <a:extLst>
              <a:ext uri="{FF2B5EF4-FFF2-40B4-BE49-F238E27FC236}">
                <a16:creationId xmlns:a16="http://schemas.microsoft.com/office/drawing/2014/main" id="{D94C164B-9BFC-4199-84A2-74E148F9B267}"/>
              </a:ext>
            </a:extLst>
          </p:cNvPr>
          <p:cNvSpPr/>
          <p:nvPr/>
        </p:nvSpPr>
        <p:spPr>
          <a:xfrm>
            <a:off x="8205661" y="2206343"/>
            <a:ext cx="3898350" cy="485184"/>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1" name="Speech Bubble: Rectangle 20">
            <a:extLst>
              <a:ext uri="{FF2B5EF4-FFF2-40B4-BE49-F238E27FC236}">
                <a16:creationId xmlns:a16="http://schemas.microsoft.com/office/drawing/2014/main" id="{4FCFC3ED-4AD0-41A7-857C-705FD5B2C550}"/>
              </a:ext>
            </a:extLst>
          </p:cNvPr>
          <p:cNvSpPr/>
          <p:nvPr/>
        </p:nvSpPr>
        <p:spPr>
          <a:xfrm>
            <a:off x="6170239" y="3937549"/>
            <a:ext cx="5274563" cy="672380"/>
          </a:xfrm>
          <a:prstGeom prst="wedgeRectCallout">
            <a:avLst>
              <a:gd name="adj1" fmla="val 41403"/>
              <a:gd name="adj2" fmla="val -80617"/>
            </a:avLst>
          </a:prstGeom>
          <a:solidFill>
            <a:schemeClr val="accent6">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nSpc>
                <a:spcPts val="1200"/>
              </a:lnSpc>
              <a:spcBef>
                <a:spcPts val="600"/>
              </a:spcBef>
              <a:defRPr/>
            </a:pPr>
            <a:r>
              <a:rPr lang="en-US" sz="1100" i="1">
                <a:solidFill>
                  <a:schemeClr val="tx1"/>
                </a:solidFill>
                <a:latin typeface="Georgia" panose="02040502050405020303" pitchFamily="18" charset="0"/>
              </a:rPr>
              <a:t>The variants used in Revaluation transaction are unique to each entity but they all use variables for dates/periods/years fields. You should always check/amend the values of these fields to ensure they are correct before executing Revaluation outside of FCC.</a:t>
            </a:r>
          </a:p>
        </p:txBody>
      </p:sp>
      <p:sp>
        <p:nvSpPr>
          <p:cNvPr id="22" name="Rectangle: Rounded Corners 21">
            <a:extLst>
              <a:ext uri="{FF2B5EF4-FFF2-40B4-BE49-F238E27FC236}">
                <a16:creationId xmlns:a16="http://schemas.microsoft.com/office/drawing/2014/main" id="{97C7EF74-6857-4C28-B673-CCC2EE82BA76}"/>
              </a:ext>
            </a:extLst>
          </p:cNvPr>
          <p:cNvSpPr/>
          <p:nvPr/>
        </p:nvSpPr>
        <p:spPr>
          <a:xfrm>
            <a:off x="10951916" y="3655827"/>
            <a:ext cx="1225859" cy="187028"/>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553453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Currency Revaluation: Execution (1/4)</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4</a:t>
            </a:fld>
            <a:endParaRPr lang="en-GB"/>
          </a:p>
        </p:txBody>
      </p:sp>
      <p:pic>
        <p:nvPicPr>
          <p:cNvPr id="5" name="Picture 4">
            <a:extLst>
              <a:ext uri="{FF2B5EF4-FFF2-40B4-BE49-F238E27FC236}">
                <a16:creationId xmlns:a16="http://schemas.microsoft.com/office/drawing/2014/main" id="{D3633089-DDA3-464A-9006-DE607CD98A9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515939" y="1355712"/>
            <a:ext cx="3014368" cy="5035852"/>
          </a:xfrm>
          <a:prstGeom prst="rect">
            <a:avLst/>
          </a:prstGeom>
          <a:effectLst>
            <a:outerShdw blurRad="50800" dist="38100" dir="2700000" algn="tl" rotWithShape="0">
              <a:prstClr val="black">
                <a:alpha val="40000"/>
              </a:prstClr>
            </a:outerShdw>
          </a:effectLst>
        </p:spPr>
      </p:pic>
      <p:sp>
        <p:nvSpPr>
          <p:cNvPr id="17" name="Rectangle 16">
            <a:extLst>
              <a:ext uri="{FF2B5EF4-FFF2-40B4-BE49-F238E27FC236}">
                <a16:creationId xmlns:a16="http://schemas.microsoft.com/office/drawing/2014/main" id="{A7B60E32-AD4C-46BB-BFE4-F836B84BE9D5}"/>
              </a:ext>
            </a:extLst>
          </p:cNvPr>
          <p:cNvSpPr/>
          <p:nvPr/>
        </p:nvSpPr>
        <p:spPr>
          <a:xfrm>
            <a:off x="3701336" y="1369048"/>
            <a:ext cx="8296700" cy="553998"/>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GB" sz="1150" i="1">
                <a:solidFill>
                  <a:srgbClr val="000000"/>
                </a:solidFill>
                <a:latin typeface="Georgia" panose="02040502050405020303" pitchFamily="18" charset="0"/>
              </a:rPr>
              <a:t>Transaction FAGL_FCV is new in S/4 HANA. There are many similar fields which were in the ECC Revaluation transaction but also some new features which are described here and the next few slides. Make sure you use the same Variant as stated in the FCC task if you execute this transaction outside of FCC.</a:t>
            </a:r>
            <a:endPar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18" name="Rectangle: Rounded Corners 17">
            <a:extLst>
              <a:ext uri="{FF2B5EF4-FFF2-40B4-BE49-F238E27FC236}">
                <a16:creationId xmlns:a16="http://schemas.microsoft.com/office/drawing/2014/main" id="{072FB5AF-7560-4EEA-83C0-F9B01C02B6C0}"/>
              </a:ext>
            </a:extLst>
          </p:cNvPr>
          <p:cNvSpPr/>
          <p:nvPr/>
        </p:nvSpPr>
        <p:spPr>
          <a:xfrm>
            <a:off x="1303457" y="2346036"/>
            <a:ext cx="1993923" cy="208888"/>
          </a:xfrm>
          <a:prstGeom prst="roundRect">
            <a:avLst>
              <a:gd name="adj" fmla="val 4268"/>
            </a:avLst>
          </a:prstGeom>
          <a:no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0" name="Rectangle: Rounded Corners 19">
            <a:extLst>
              <a:ext uri="{FF2B5EF4-FFF2-40B4-BE49-F238E27FC236}">
                <a16:creationId xmlns:a16="http://schemas.microsoft.com/office/drawing/2014/main" id="{59C291AA-FBB5-411D-9300-25C08C79BF1F}"/>
              </a:ext>
            </a:extLst>
          </p:cNvPr>
          <p:cNvSpPr/>
          <p:nvPr/>
        </p:nvSpPr>
        <p:spPr>
          <a:xfrm>
            <a:off x="1303457" y="2586181"/>
            <a:ext cx="1993923" cy="192396"/>
          </a:xfrm>
          <a:prstGeom prst="roundRect">
            <a:avLst>
              <a:gd name="adj" fmla="val 4268"/>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1" name="Rectangle: Rounded Corners 20">
            <a:extLst>
              <a:ext uri="{FF2B5EF4-FFF2-40B4-BE49-F238E27FC236}">
                <a16:creationId xmlns:a16="http://schemas.microsoft.com/office/drawing/2014/main" id="{14367CE5-506F-4835-83A5-C9887B3E4251}"/>
              </a:ext>
            </a:extLst>
          </p:cNvPr>
          <p:cNvSpPr/>
          <p:nvPr/>
        </p:nvSpPr>
        <p:spPr>
          <a:xfrm>
            <a:off x="1303457" y="2810952"/>
            <a:ext cx="1993923" cy="192396"/>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2" name="Rectangle: Rounded Corners 21">
            <a:extLst>
              <a:ext uri="{FF2B5EF4-FFF2-40B4-BE49-F238E27FC236}">
                <a16:creationId xmlns:a16="http://schemas.microsoft.com/office/drawing/2014/main" id="{83413D00-23F1-4BD8-A198-75828C9BD269}"/>
              </a:ext>
            </a:extLst>
          </p:cNvPr>
          <p:cNvSpPr/>
          <p:nvPr/>
        </p:nvSpPr>
        <p:spPr>
          <a:xfrm>
            <a:off x="1303457" y="3751531"/>
            <a:ext cx="1993923" cy="192396"/>
          </a:xfrm>
          <a:prstGeom prst="roundRect">
            <a:avLst>
              <a:gd name="adj" fmla="val 4268"/>
            </a:avLst>
          </a:prstGeom>
          <a:noFill/>
          <a:ln w="19050">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3" name="Rectangle: Rounded Corners 22">
            <a:extLst>
              <a:ext uri="{FF2B5EF4-FFF2-40B4-BE49-F238E27FC236}">
                <a16:creationId xmlns:a16="http://schemas.microsoft.com/office/drawing/2014/main" id="{BD6AFB87-9808-4259-A040-EE489F58908C}"/>
              </a:ext>
            </a:extLst>
          </p:cNvPr>
          <p:cNvSpPr/>
          <p:nvPr/>
        </p:nvSpPr>
        <p:spPr>
          <a:xfrm>
            <a:off x="1303457" y="4891438"/>
            <a:ext cx="1993923" cy="192396"/>
          </a:xfrm>
          <a:prstGeom prst="roundRect">
            <a:avLst>
              <a:gd name="adj" fmla="val 4268"/>
            </a:avLst>
          </a:prstGeom>
          <a:noFill/>
          <a:ln w="1905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4" name="Rectangle: Rounded Corners 23">
            <a:extLst>
              <a:ext uri="{FF2B5EF4-FFF2-40B4-BE49-F238E27FC236}">
                <a16:creationId xmlns:a16="http://schemas.microsoft.com/office/drawing/2014/main" id="{A47F0F12-4232-4BF0-AD17-AF7E93784EF5}"/>
              </a:ext>
            </a:extLst>
          </p:cNvPr>
          <p:cNvSpPr/>
          <p:nvPr/>
        </p:nvSpPr>
        <p:spPr>
          <a:xfrm>
            <a:off x="1303458" y="5118779"/>
            <a:ext cx="1993924" cy="339909"/>
          </a:xfrm>
          <a:prstGeom prst="roundRect">
            <a:avLst>
              <a:gd name="adj" fmla="val 4268"/>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5" name="Rectangle: Rounded Corners 24">
            <a:extLst>
              <a:ext uri="{FF2B5EF4-FFF2-40B4-BE49-F238E27FC236}">
                <a16:creationId xmlns:a16="http://schemas.microsoft.com/office/drawing/2014/main" id="{C1940AE6-EC1A-454A-A2D1-9A43A82CEC0B}"/>
              </a:ext>
            </a:extLst>
          </p:cNvPr>
          <p:cNvSpPr/>
          <p:nvPr/>
        </p:nvSpPr>
        <p:spPr>
          <a:xfrm>
            <a:off x="1303458" y="5885560"/>
            <a:ext cx="1993924" cy="339909"/>
          </a:xfrm>
          <a:prstGeom prst="roundRect">
            <a:avLst>
              <a:gd name="adj" fmla="val 4268"/>
            </a:avLst>
          </a:prstGeom>
          <a:noFill/>
          <a:ln w="19050">
            <a:solidFill>
              <a:schemeClr val="accent2"/>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6" name="Rectangle: Rounded Corners 25">
            <a:extLst>
              <a:ext uri="{FF2B5EF4-FFF2-40B4-BE49-F238E27FC236}">
                <a16:creationId xmlns:a16="http://schemas.microsoft.com/office/drawing/2014/main" id="{06997168-EBD7-48A1-B1E3-1BBC47C11B91}"/>
              </a:ext>
            </a:extLst>
          </p:cNvPr>
          <p:cNvSpPr/>
          <p:nvPr/>
        </p:nvSpPr>
        <p:spPr>
          <a:xfrm>
            <a:off x="515939" y="1328908"/>
            <a:ext cx="2365806" cy="226292"/>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FAGL_FCV: Revaluation – </a:t>
            </a:r>
            <a:r>
              <a:rPr kumimoji="0" lang="en-GB" sz="900" b="1" i="0" u="sng" strike="noStrike" kern="1200" cap="none" spc="0" normalizeH="0" baseline="0" noProof="0">
                <a:ln>
                  <a:noFill/>
                </a:ln>
                <a:solidFill>
                  <a:srgbClr val="00B2A9">
                    <a:lumMod val="50000"/>
                  </a:srgbClr>
                </a:solidFill>
                <a:effectLst/>
                <a:uLnTx/>
                <a:uFillTx/>
                <a:latin typeface="Arial" panose="020B0604020202020204"/>
                <a:ea typeface="+mn-ea"/>
                <a:cs typeface="+mn-cs"/>
              </a:rPr>
              <a:t>Postings</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tab</a:t>
            </a:r>
          </a:p>
        </p:txBody>
      </p:sp>
      <p:sp>
        <p:nvSpPr>
          <p:cNvPr id="16" name="Rectangle 15">
            <a:extLst>
              <a:ext uri="{FF2B5EF4-FFF2-40B4-BE49-F238E27FC236}">
                <a16:creationId xmlns:a16="http://schemas.microsoft.com/office/drawing/2014/main" id="{F602B4F0-5D98-4157-B579-7381D0B9B34B}"/>
              </a:ext>
            </a:extLst>
          </p:cNvPr>
          <p:cNvSpPr/>
          <p:nvPr/>
        </p:nvSpPr>
        <p:spPr>
          <a:xfrm>
            <a:off x="3786908" y="2098821"/>
            <a:ext cx="8211128" cy="365125"/>
          </a:xfrm>
          <a:prstGeom prst="rect">
            <a:avLst/>
          </a:prstGeom>
          <a:no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a:cs typeface="Calibri"/>
              </a:rPr>
              <a:t>Revaluation is executed </a:t>
            </a:r>
            <a:r>
              <a:rPr lang="en-US" sz="1100" b="1">
                <a:solidFill>
                  <a:schemeClr val="tx1"/>
                </a:solidFill>
                <a:latin typeface="Calibri"/>
                <a:cs typeface="Calibri"/>
              </a:rPr>
              <a:t>for one entity at a time</a:t>
            </a:r>
            <a:r>
              <a:rPr lang="en-US" sz="1100">
                <a:solidFill>
                  <a:schemeClr val="tx1"/>
                </a:solidFill>
                <a:latin typeface="Calibri"/>
                <a:cs typeface="Calibri"/>
              </a:rPr>
              <a:t>. Variants for each revaluation requirements of each entity has bee</a:t>
            </a:r>
            <a:r>
              <a:rPr lang="en-US" sz="1100">
                <a:solidFill>
                  <a:srgbClr val="FF0000"/>
                </a:solidFill>
                <a:latin typeface="Calibri"/>
                <a:cs typeface="Calibri"/>
              </a:rPr>
              <a:t>n </a:t>
            </a:r>
            <a:r>
              <a:rPr lang="en-US" sz="1100">
                <a:solidFill>
                  <a:schemeClr val="tx1"/>
                </a:solidFill>
                <a:latin typeface="Calibri"/>
                <a:cs typeface="Calibri"/>
              </a:rPr>
              <a:t>created. If you have a new requirement you should liaise with the entity and BTS to have the new variant created and updated in FCC. </a:t>
            </a:r>
            <a:endParaRPr lang="en-US" sz="1100">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492E6C75-DEB3-40A2-A5B6-1CE9B2DE5FA6}"/>
              </a:ext>
            </a:extLst>
          </p:cNvPr>
          <p:cNvSpPr/>
          <p:nvPr/>
        </p:nvSpPr>
        <p:spPr>
          <a:xfrm>
            <a:off x="3786908" y="2499816"/>
            <a:ext cx="8211128" cy="206439"/>
          </a:xfrm>
          <a:prstGeom prst="rect">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The Valuation Key Date should always be the Balance Sheet date of the month that is being closed.</a:t>
            </a:r>
          </a:p>
        </p:txBody>
      </p:sp>
      <p:sp>
        <p:nvSpPr>
          <p:cNvPr id="28" name="Rectangle 27">
            <a:extLst>
              <a:ext uri="{FF2B5EF4-FFF2-40B4-BE49-F238E27FC236}">
                <a16:creationId xmlns:a16="http://schemas.microsoft.com/office/drawing/2014/main" id="{AFD12024-D026-4993-B0BB-F497293FB460}"/>
              </a:ext>
            </a:extLst>
          </p:cNvPr>
          <p:cNvSpPr/>
          <p:nvPr/>
        </p:nvSpPr>
        <p:spPr>
          <a:xfrm>
            <a:off x="5606472" y="2783055"/>
            <a:ext cx="6391563" cy="968476"/>
          </a:xfrm>
          <a:prstGeom prst="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b="1">
                <a:solidFill>
                  <a:schemeClr val="tx1"/>
                </a:solidFill>
                <a:latin typeface="Calibri" panose="020F0502020204030204" pitchFamily="34" charset="0"/>
                <a:cs typeface="Calibri" panose="020F0502020204030204" pitchFamily="34" charset="0"/>
              </a:rPr>
              <a:t>Value Area </a:t>
            </a:r>
            <a:r>
              <a:rPr lang="en-GB" sz="1100">
                <a:solidFill>
                  <a:schemeClr val="tx1"/>
                </a:solidFill>
                <a:latin typeface="Calibri" panose="020F0502020204030204" pitchFamily="34" charset="0"/>
                <a:cs typeface="Calibri" panose="020F0502020204030204" pitchFamily="34" charset="0"/>
              </a:rPr>
              <a:t>determines how the revaluation is to be calculated. We use different Valuation Areas for different Accounting Principles (E.g. IFRS, STAT, Tax).</a:t>
            </a:r>
            <a:r>
              <a:rPr lang="en-US" sz="1100">
                <a:solidFill>
                  <a:schemeClr val="tx1"/>
                </a:solidFill>
                <a:latin typeface="Calibri" panose="020F0502020204030204" pitchFamily="34" charset="0"/>
                <a:cs typeface="Calibri" panose="020F0502020204030204" pitchFamily="34" charset="0"/>
              </a:rPr>
              <a:t> </a:t>
            </a:r>
            <a:r>
              <a:rPr lang="en-GB" sz="1100">
                <a:solidFill>
                  <a:schemeClr val="tx1"/>
                </a:solidFill>
                <a:latin typeface="Calibri" panose="020F0502020204030204" pitchFamily="34" charset="0"/>
                <a:cs typeface="Calibri" panose="020F0502020204030204" pitchFamily="34" charset="0"/>
              </a:rPr>
              <a:t>As a general guide:</a:t>
            </a:r>
          </a:p>
          <a:p>
            <a:pPr lvl="1"/>
            <a:r>
              <a:rPr lang="en-GB" sz="1100">
                <a:solidFill>
                  <a:schemeClr val="tx1"/>
                </a:solidFill>
                <a:latin typeface="Calibri" panose="020F0502020204030204" pitchFamily="34" charset="0"/>
                <a:cs typeface="Calibri" panose="020F0502020204030204" pitchFamily="34" charset="0"/>
              </a:rPr>
              <a:t>- </a:t>
            </a:r>
            <a:r>
              <a:rPr lang="en-GB" sz="1100" b="1">
                <a:solidFill>
                  <a:schemeClr val="tx1"/>
                </a:solidFill>
                <a:latin typeface="Calibri" panose="020F0502020204030204" pitchFamily="34" charset="0"/>
                <a:cs typeface="Calibri" panose="020F0502020204030204" pitchFamily="34" charset="0"/>
              </a:rPr>
              <a:t>01, 02, 03</a:t>
            </a:r>
            <a:r>
              <a:rPr lang="en-GB" sz="1100">
                <a:solidFill>
                  <a:schemeClr val="tx1"/>
                </a:solidFill>
                <a:latin typeface="Calibri" panose="020F0502020204030204" pitchFamily="34" charset="0"/>
                <a:cs typeface="Calibri" panose="020F0502020204030204" pitchFamily="34" charset="0"/>
              </a:rPr>
              <a:t>: for</a:t>
            </a:r>
            <a:r>
              <a:rPr lang="en-GB" sz="1100" b="1">
                <a:solidFill>
                  <a:schemeClr val="tx1"/>
                </a:solidFill>
                <a:latin typeface="Calibri" panose="020F0502020204030204" pitchFamily="34" charset="0"/>
                <a:cs typeface="Calibri" panose="020F0502020204030204" pitchFamily="34" charset="0"/>
              </a:rPr>
              <a:t> IFRS</a:t>
            </a:r>
            <a:r>
              <a:rPr lang="en-GB" sz="1100">
                <a:solidFill>
                  <a:schemeClr val="tx1"/>
                </a:solidFill>
                <a:latin typeface="Calibri" panose="020F0502020204030204" pitchFamily="34" charset="0"/>
                <a:cs typeface="Calibri" panose="020F0502020204030204" pitchFamily="34" charset="0"/>
              </a:rPr>
              <a:t>. Majority of the entities use 01.</a:t>
            </a:r>
          </a:p>
          <a:p>
            <a:pPr lvl="1"/>
            <a:r>
              <a:rPr lang="en-GB" sz="1100">
                <a:solidFill>
                  <a:schemeClr val="tx1"/>
                </a:solidFill>
                <a:latin typeface="Calibri" panose="020F0502020204030204" pitchFamily="34" charset="0"/>
                <a:cs typeface="Calibri" panose="020F0502020204030204" pitchFamily="34" charset="0"/>
              </a:rPr>
              <a:t>- </a:t>
            </a:r>
            <a:r>
              <a:rPr lang="en-GB" sz="1100" b="1">
                <a:solidFill>
                  <a:schemeClr val="tx1"/>
                </a:solidFill>
                <a:latin typeface="Calibri" panose="020F0502020204030204" pitchFamily="34" charset="0"/>
                <a:cs typeface="Calibri" panose="020F0502020204030204" pitchFamily="34" charset="0"/>
              </a:rPr>
              <a:t>S1 to S7</a:t>
            </a:r>
            <a:r>
              <a:rPr lang="en-GB" sz="1100">
                <a:solidFill>
                  <a:schemeClr val="tx1"/>
                </a:solidFill>
                <a:latin typeface="Calibri" panose="020F0502020204030204" pitchFamily="34" charset="0"/>
                <a:cs typeface="Calibri" panose="020F0502020204030204" pitchFamily="34" charset="0"/>
              </a:rPr>
              <a:t>: for </a:t>
            </a:r>
            <a:r>
              <a:rPr lang="en-GB" sz="1100" b="1">
                <a:solidFill>
                  <a:schemeClr val="tx1"/>
                </a:solidFill>
                <a:latin typeface="Calibri" panose="020F0502020204030204" pitchFamily="34" charset="0"/>
                <a:cs typeface="Calibri" panose="020F0502020204030204" pitchFamily="34" charset="0"/>
              </a:rPr>
              <a:t>Statutory </a:t>
            </a:r>
            <a:r>
              <a:rPr lang="en-GB" sz="1100">
                <a:solidFill>
                  <a:schemeClr val="tx1"/>
                </a:solidFill>
                <a:latin typeface="Calibri" panose="020F0502020204030204" pitchFamily="34" charset="0"/>
                <a:cs typeface="Calibri" panose="020F0502020204030204" pitchFamily="34" charset="0"/>
              </a:rPr>
              <a:t>Currency Revaluation based on different statutory reporting requirements.</a:t>
            </a:r>
          </a:p>
          <a:p>
            <a:pPr lvl="1"/>
            <a:r>
              <a:rPr lang="en-GB" sz="1100">
                <a:solidFill>
                  <a:schemeClr val="tx1"/>
                </a:solidFill>
                <a:latin typeface="Calibri" panose="020F0502020204030204" pitchFamily="34" charset="0"/>
                <a:cs typeface="Calibri" panose="020F0502020204030204" pitchFamily="34" charset="0"/>
              </a:rPr>
              <a:t>- </a:t>
            </a:r>
            <a:r>
              <a:rPr lang="en-GB" sz="1100" b="1">
                <a:solidFill>
                  <a:schemeClr val="tx1"/>
                </a:solidFill>
                <a:latin typeface="Calibri" panose="020F0502020204030204" pitchFamily="34" charset="0"/>
                <a:cs typeface="Calibri" panose="020F0502020204030204" pitchFamily="34" charset="0"/>
              </a:rPr>
              <a:t>T1 to T7</a:t>
            </a:r>
            <a:r>
              <a:rPr lang="en-GB" sz="1100">
                <a:solidFill>
                  <a:schemeClr val="tx1"/>
                </a:solidFill>
                <a:latin typeface="Calibri" panose="020F0502020204030204" pitchFamily="34" charset="0"/>
                <a:cs typeface="Calibri" panose="020F0502020204030204" pitchFamily="34" charset="0"/>
              </a:rPr>
              <a:t>: for </a:t>
            </a:r>
            <a:r>
              <a:rPr lang="en-GB" sz="1100" b="1">
                <a:solidFill>
                  <a:schemeClr val="tx1"/>
                </a:solidFill>
                <a:latin typeface="Calibri" panose="020F0502020204030204" pitchFamily="34" charset="0"/>
                <a:cs typeface="Calibri" panose="020F0502020204030204" pitchFamily="34" charset="0"/>
              </a:rPr>
              <a:t>Tax</a:t>
            </a:r>
            <a:r>
              <a:rPr lang="en-GB" sz="1100">
                <a:solidFill>
                  <a:schemeClr val="tx1"/>
                </a:solidFill>
                <a:latin typeface="Calibri" panose="020F0502020204030204" pitchFamily="34" charset="0"/>
                <a:cs typeface="Calibri" panose="020F0502020204030204" pitchFamily="34" charset="0"/>
              </a:rPr>
              <a:t> Currency Revaluation based on different tax reporting requirements. </a:t>
            </a:r>
            <a:endParaRPr lang="en-US" sz="1100">
              <a:solidFill>
                <a:schemeClr val="tx1"/>
              </a:solidFill>
              <a:latin typeface="Calibri" panose="020F0502020204030204" pitchFamily="34" charset="0"/>
              <a:cs typeface="Calibri" panose="020F0502020204030204" pitchFamily="34" charset="0"/>
            </a:endParaRPr>
          </a:p>
        </p:txBody>
      </p:sp>
      <p:pic>
        <p:nvPicPr>
          <p:cNvPr id="30" name="Picture 29">
            <a:extLst>
              <a:ext uri="{FF2B5EF4-FFF2-40B4-BE49-F238E27FC236}">
                <a16:creationId xmlns:a16="http://schemas.microsoft.com/office/drawing/2014/main" id="{85A293E6-8F4B-42AB-A03C-F61CC2509E8D}"/>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3786907" y="2792291"/>
            <a:ext cx="1653311" cy="1302117"/>
          </a:xfrm>
          <a:prstGeom prst="rect">
            <a:avLst/>
          </a:prstGeom>
          <a:ln>
            <a:solidFill>
              <a:srgbClr val="FF0000"/>
            </a:solidFill>
          </a:ln>
          <a:effectLst>
            <a:outerShdw blurRad="63500" sx="102000" sy="102000" algn="ctr" rotWithShape="0">
              <a:prstClr val="black">
                <a:alpha val="40000"/>
              </a:prstClr>
            </a:outerShdw>
          </a:effectLst>
        </p:spPr>
      </p:pic>
      <p:cxnSp>
        <p:nvCxnSpPr>
          <p:cNvPr id="32" name="Straight Arrow Connector 31">
            <a:extLst>
              <a:ext uri="{FF2B5EF4-FFF2-40B4-BE49-F238E27FC236}">
                <a16:creationId xmlns:a16="http://schemas.microsoft.com/office/drawing/2014/main" id="{2E291B14-D80F-4165-B0F7-884AB6A6CAEE}"/>
              </a:ext>
            </a:extLst>
          </p:cNvPr>
          <p:cNvCxnSpPr>
            <a:cxnSpLocks/>
            <a:stCxn id="21" idx="3"/>
          </p:cNvCxnSpPr>
          <p:nvPr/>
        </p:nvCxnSpPr>
        <p:spPr>
          <a:xfrm>
            <a:off x="3297380" y="2907150"/>
            <a:ext cx="489527" cy="0"/>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56E64BC0-2D95-4336-B5E8-0AB0E43783DB}"/>
              </a:ext>
            </a:extLst>
          </p:cNvPr>
          <p:cNvCxnSpPr>
            <a:cxnSpLocks/>
            <a:endCxn id="28" idx="1"/>
          </p:cNvCxnSpPr>
          <p:nvPr/>
        </p:nvCxnSpPr>
        <p:spPr>
          <a:xfrm>
            <a:off x="5440218" y="3267293"/>
            <a:ext cx="166254" cy="0"/>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832D4AF1-3771-40AB-B4C2-C1C93597D560}"/>
              </a:ext>
            </a:extLst>
          </p:cNvPr>
          <p:cNvSpPr/>
          <p:nvPr/>
        </p:nvSpPr>
        <p:spPr>
          <a:xfrm>
            <a:off x="3786907" y="4145746"/>
            <a:ext cx="8211128" cy="391865"/>
          </a:xfrm>
          <a:prstGeom prst="rect">
            <a:avLst/>
          </a:prstGeom>
          <a:noFill/>
          <a:ln w="19050">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Test Run should be selected if you execute Revaluation outside of FCC for any reason. This allows you to check if there’s any errors which you should fix before executing the transaction in update run.</a:t>
            </a:r>
            <a:endParaRPr lang="en-US" sz="1100">
              <a:solidFill>
                <a:schemeClr val="tx1"/>
              </a:solidFill>
              <a:latin typeface="Calibri" panose="020F0502020204030204" pitchFamily="34" charset="0"/>
              <a:cs typeface="Calibri" panose="020F0502020204030204" pitchFamily="34" charset="0"/>
            </a:endParaRPr>
          </a:p>
        </p:txBody>
      </p:sp>
      <p:cxnSp>
        <p:nvCxnSpPr>
          <p:cNvPr id="45" name="Connector: Elbow 44">
            <a:extLst>
              <a:ext uri="{FF2B5EF4-FFF2-40B4-BE49-F238E27FC236}">
                <a16:creationId xmlns:a16="http://schemas.microsoft.com/office/drawing/2014/main" id="{A126DB8F-651C-4DDC-8AAA-6A5F0863C996}"/>
              </a:ext>
            </a:extLst>
          </p:cNvPr>
          <p:cNvCxnSpPr>
            <a:endCxn id="16" idx="1"/>
          </p:cNvCxnSpPr>
          <p:nvPr/>
        </p:nvCxnSpPr>
        <p:spPr>
          <a:xfrm flipV="1">
            <a:off x="3297380" y="2281384"/>
            <a:ext cx="489528" cy="182562"/>
          </a:xfrm>
          <a:prstGeom prst="bentConnector3">
            <a:avLst>
              <a:gd name="adj1" fmla="val 65094"/>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5CF2CC16-698B-4F6E-992F-D7937AF21E0B}"/>
              </a:ext>
            </a:extLst>
          </p:cNvPr>
          <p:cNvCxnSpPr>
            <a:stCxn id="20" idx="3"/>
            <a:endCxn id="27" idx="1"/>
          </p:cNvCxnSpPr>
          <p:nvPr/>
        </p:nvCxnSpPr>
        <p:spPr>
          <a:xfrm flipV="1">
            <a:off x="3297380" y="2603036"/>
            <a:ext cx="489528" cy="79343"/>
          </a:xfrm>
          <a:prstGeom prst="bentConnector3">
            <a:avLst>
              <a:gd name="adj1" fmla="val 61321"/>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CC804835-3AFF-4D06-9743-36186D0A75ED}"/>
              </a:ext>
            </a:extLst>
          </p:cNvPr>
          <p:cNvCxnSpPr>
            <a:stCxn id="22" idx="3"/>
            <a:endCxn id="43" idx="1"/>
          </p:cNvCxnSpPr>
          <p:nvPr/>
        </p:nvCxnSpPr>
        <p:spPr>
          <a:xfrm>
            <a:off x="3297380" y="3847729"/>
            <a:ext cx="489527" cy="493950"/>
          </a:xfrm>
          <a:prstGeom prst="bentConnector3">
            <a:avLst>
              <a:gd name="adj1" fmla="val 63208"/>
            </a:avLst>
          </a:prstGeom>
          <a:ln w="12700">
            <a:solidFill>
              <a:schemeClr val="accent4">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1136A41D-0272-4146-8570-C3713E9F0F54}"/>
              </a:ext>
            </a:extLst>
          </p:cNvPr>
          <p:cNvSpPr/>
          <p:nvPr/>
        </p:nvSpPr>
        <p:spPr>
          <a:xfrm>
            <a:off x="3786907" y="4894275"/>
            <a:ext cx="8211128" cy="189559"/>
          </a:xfrm>
          <a:prstGeom prst="rect">
            <a:avLst/>
          </a:prstGeom>
          <a:noFill/>
          <a:ln w="1905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Update run is set in the FCC variant but as stated before you should Test run first if you execute the transaction outside of FCC.</a:t>
            </a:r>
            <a:endParaRPr lang="en-US" sz="1100">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6EBCD3F5-FC0B-4E73-A9EF-864A3BEBCBA4}"/>
              </a:ext>
            </a:extLst>
          </p:cNvPr>
          <p:cNvSpPr/>
          <p:nvPr/>
        </p:nvSpPr>
        <p:spPr>
          <a:xfrm>
            <a:off x="3786907" y="5160125"/>
            <a:ext cx="8211128" cy="591173"/>
          </a:xfrm>
          <a:prstGeom prst="rect">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In S/4HANA when the Revaluation transaction is executed, the revaluation accounting entries are posted simultaneously. A batch input session is only going to be generated if there are accounting entries which can’t be posted due to any errors.</a:t>
            </a:r>
          </a:p>
          <a:p>
            <a:r>
              <a:rPr lang="en-GB" sz="1100">
                <a:solidFill>
                  <a:schemeClr val="tx1"/>
                </a:solidFill>
                <a:latin typeface="Calibri" panose="020F0502020204030204" pitchFamily="34" charset="0"/>
                <a:cs typeface="Calibri" panose="020F0502020204030204" pitchFamily="34" charset="0"/>
              </a:rPr>
              <a:t>The Batch Input session name in each variant matches the name of the variant for easy identification in SM35.</a:t>
            </a:r>
            <a:endParaRPr lang="en-US" sz="1100">
              <a:solidFill>
                <a:schemeClr val="tx1"/>
              </a:solidFill>
              <a:latin typeface="Calibri" panose="020F0502020204030204" pitchFamily="34" charset="0"/>
              <a:cs typeface="Calibri" panose="020F0502020204030204" pitchFamily="34" charset="0"/>
            </a:endParaRPr>
          </a:p>
        </p:txBody>
      </p:sp>
      <p:cxnSp>
        <p:nvCxnSpPr>
          <p:cNvPr id="56" name="Connector: Elbow 55">
            <a:extLst>
              <a:ext uri="{FF2B5EF4-FFF2-40B4-BE49-F238E27FC236}">
                <a16:creationId xmlns:a16="http://schemas.microsoft.com/office/drawing/2014/main" id="{B46A399A-BCC5-4750-B0ED-F38B3F9C4052}"/>
              </a:ext>
            </a:extLst>
          </p:cNvPr>
          <p:cNvCxnSpPr>
            <a:stCxn id="23" idx="3"/>
            <a:endCxn id="53" idx="1"/>
          </p:cNvCxnSpPr>
          <p:nvPr/>
        </p:nvCxnSpPr>
        <p:spPr>
          <a:xfrm>
            <a:off x="3297380" y="4987636"/>
            <a:ext cx="489527" cy="1419"/>
          </a:xfrm>
          <a:prstGeom prst="bentConnector3">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84C0FBE9-06C0-4EB6-9E59-6454A2629FEB}"/>
              </a:ext>
            </a:extLst>
          </p:cNvPr>
          <p:cNvCxnSpPr>
            <a:cxnSpLocks/>
            <a:stCxn id="24" idx="3"/>
            <a:endCxn id="54" idx="1"/>
          </p:cNvCxnSpPr>
          <p:nvPr/>
        </p:nvCxnSpPr>
        <p:spPr>
          <a:xfrm>
            <a:off x="3297382" y="5288734"/>
            <a:ext cx="489525" cy="166978"/>
          </a:xfrm>
          <a:prstGeom prst="bentConnector3">
            <a:avLst>
              <a:gd name="adj1" fmla="val 63208"/>
            </a:avLst>
          </a:prstGeom>
          <a:ln w="127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1DD333B8-D081-486E-BD13-966724165915}"/>
              </a:ext>
            </a:extLst>
          </p:cNvPr>
          <p:cNvSpPr/>
          <p:nvPr/>
        </p:nvSpPr>
        <p:spPr>
          <a:xfrm>
            <a:off x="3786907" y="5829251"/>
            <a:ext cx="8211128" cy="721178"/>
          </a:xfrm>
          <a:prstGeom prst="rect">
            <a:avLst/>
          </a:prstGeom>
          <a:noFill/>
          <a:ln w="19050">
            <a:solidFill>
              <a:schemeClr val="accent2"/>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These fields need to be populated in case you wish to reset a previous Revaluation run. You should </a:t>
            </a:r>
            <a:r>
              <a:rPr lang="en-GB" sz="1100" b="1">
                <a:solidFill>
                  <a:schemeClr val="tx1"/>
                </a:solidFill>
                <a:latin typeface="Calibri" panose="020F0502020204030204" pitchFamily="34" charset="0"/>
                <a:cs typeface="Calibri" panose="020F0502020204030204" pitchFamily="34" charset="0"/>
              </a:rPr>
              <a:t>populate other fields based on the actual Revaluation run you wish to reverse</a:t>
            </a:r>
            <a:r>
              <a:rPr lang="en-GB" sz="1100">
                <a:solidFill>
                  <a:schemeClr val="tx1"/>
                </a:solidFill>
                <a:latin typeface="Calibri" panose="020F0502020204030204" pitchFamily="34" charset="0"/>
                <a:cs typeface="Calibri" panose="020F0502020204030204" pitchFamily="34" charset="0"/>
              </a:rPr>
              <a:t>, otherwise you may be reversing a wrong Revaluation Run. </a:t>
            </a:r>
          </a:p>
          <a:p>
            <a:r>
              <a:rPr lang="en-GB" sz="1100">
                <a:solidFill>
                  <a:schemeClr val="tx1"/>
                </a:solidFill>
                <a:latin typeface="Calibri" panose="020F0502020204030204" pitchFamily="34" charset="0"/>
                <a:cs typeface="Calibri" panose="020F0502020204030204" pitchFamily="34" charset="0"/>
              </a:rPr>
              <a:t>This will reverse the revaluation postings, which is why you need to provide a Reason for Reset. Make sure you consult your GL Team Lead or the person in charge of closing before resetting any revaluation. </a:t>
            </a:r>
            <a:endParaRPr lang="en-US" sz="1100">
              <a:solidFill>
                <a:schemeClr val="tx1"/>
              </a:solidFill>
              <a:latin typeface="Calibri" panose="020F0502020204030204" pitchFamily="34" charset="0"/>
              <a:cs typeface="Calibri" panose="020F0502020204030204" pitchFamily="34" charset="0"/>
            </a:endParaRPr>
          </a:p>
        </p:txBody>
      </p:sp>
      <p:cxnSp>
        <p:nvCxnSpPr>
          <p:cNvPr id="66" name="Connector: Elbow 65">
            <a:extLst>
              <a:ext uri="{FF2B5EF4-FFF2-40B4-BE49-F238E27FC236}">
                <a16:creationId xmlns:a16="http://schemas.microsoft.com/office/drawing/2014/main" id="{13F30D70-067A-4080-B000-474DC9A09821}"/>
              </a:ext>
            </a:extLst>
          </p:cNvPr>
          <p:cNvCxnSpPr>
            <a:cxnSpLocks/>
            <a:stCxn id="25" idx="3"/>
            <a:endCxn id="64" idx="1"/>
          </p:cNvCxnSpPr>
          <p:nvPr/>
        </p:nvCxnSpPr>
        <p:spPr>
          <a:xfrm>
            <a:off x="3297382" y="6055515"/>
            <a:ext cx="489525" cy="134325"/>
          </a:xfrm>
          <a:prstGeom prst="bentConnector3">
            <a:avLst>
              <a:gd name="adj1" fmla="val 50000"/>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5661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Currency Revaluation: Execution (2/4)</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5</a:t>
            </a:fld>
            <a:endParaRPr lang="en-GB"/>
          </a:p>
        </p:txBody>
      </p:sp>
      <p:pic>
        <p:nvPicPr>
          <p:cNvPr id="2" name="Picture 1">
            <a:extLst>
              <a:ext uri="{FF2B5EF4-FFF2-40B4-BE49-F238E27FC236}">
                <a16:creationId xmlns:a16="http://schemas.microsoft.com/office/drawing/2014/main" id="{96988EDC-20C5-42E9-92B0-4FB5E08F2ECB}"/>
              </a:ext>
            </a:extLst>
          </p:cNvPr>
          <p:cNvPicPr>
            <a:picLocks noChangeAspect="1"/>
          </p:cNvPicPr>
          <p:nvPr/>
        </p:nvPicPr>
        <p:blipFill>
          <a:blip r:embed="rId3"/>
          <a:stretch>
            <a:fillRect/>
          </a:stretch>
        </p:blipFill>
        <p:spPr>
          <a:xfrm>
            <a:off x="541726" y="1513972"/>
            <a:ext cx="2895016" cy="2660861"/>
          </a:xfrm>
          <a:prstGeom prst="rect">
            <a:avLst/>
          </a:prstGeom>
          <a:effectLst>
            <a:outerShdw blurRad="50800" dist="38100" dir="2700000" algn="tl" rotWithShape="0">
              <a:prstClr val="black">
                <a:alpha val="40000"/>
              </a:prstClr>
            </a:outerShdw>
          </a:effectLst>
        </p:spPr>
      </p:pic>
      <p:sp>
        <p:nvSpPr>
          <p:cNvPr id="6" name="Rectangle: Rounded Corners 5">
            <a:extLst>
              <a:ext uri="{FF2B5EF4-FFF2-40B4-BE49-F238E27FC236}">
                <a16:creationId xmlns:a16="http://schemas.microsoft.com/office/drawing/2014/main" id="{A1AB32CB-5447-44B5-BEE2-91F69DF64C70}"/>
              </a:ext>
            </a:extLst>
          </p:cNvPr>
          <p:cNvSpPr/>
          <p:nvPr/>
        </p:nvSpPr>
        <p:spPr>
          <a:xfrm>
            <a:off x="515939" y="1328908"/>
            <a:ext cx="2365806" cy="226292"/>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FAGL_FCV: Revaluation –</a:t>
            </a:r>
            <a:r>
              <a:rPr kumimoji="0" lang="en-GB" sz="900" b="1" i="0" u="sng" strike="noStrike" kern="1200" cap="none" spc="0" normalizeH="0" baseline="0" noProof="0">
                <a:ln>
                  <a:noFill/>
                </a:ln>
                <a:solidFill>
                  <a:srgbClr val="00B2A9">
                    <a:lumMod val="50000"/>
                  </a:srgbClr>
                </a:solidFill>
                <a:effectLst/>
                <a:uLnTx/>
                <a:uFillTx/>
                <a:latin typeface="Arial" panose="020B0604020202020204"/>
                <a:ea typeface="+mn-ea"/>
                <a:cs typeface="+mn-cs"/>
              </a:rPr>
              <a:t> Postings </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tab</a:t>
            </a:r>
          </a:p>
        </p:txBody>
      </p:sp>
      <p:sp>
        <p:nvSpPr>
          <p:cNvPr id="7" name="Rectangle: Rounded Corners 6">
            <a:extLst>
              <a:ext uri="{FF2B5EF4-FFF2-40B4-BE49-F238E27FC236}">
                <a16:creationId xmlns:a16="http://schemas.microsoft.com/office/drawing/2014/main" id="{817A3B96-C341-4E37-87A2-A5E460BEAB96}"/>
              </a:ext>
            </a:extLst>
          </p:cNvPr>
          <p:cNvSpPr/>
          <p:nvPr/>
        </p:nvSpPr>
        <p:spPr>
          <a:xfrm>
            <a:off x="1236956" y="1979899"/>
            <a:ext cx="1993923" cy="1200378"/>
          </a:xfrm>
          <a:prstGeom prst="roundRect">
            <a:avLst>
              <a:gd name="adj" fmla="val 4268"/>
            </a:avLst>
          </a:prstGeom>
          <a:no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C2D9AD11-AD2A-4C57-9724-542FD3B0E3CA}"/>
              </a:ext>
            </a:extLst>
          </p:cNvPr>
          <p:cNvSpPr/>
          <p:nvPr/>
        </p:nvSpPr>
        <p:spPr>
          <a:xfrm>
            <a:off x="1236956" y="3499658"/>
            <a:ext cx="1993923" cy="430653"/>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4307EDEC-99AE-4BBB-ABD9-495E89423475}"/>
              </a:ext>
            </a:extLst>
          </p:cNvPr>
          <p:cNvSpPr/>
          <p:nvPr/>
        </p:nvSpPr>
        <p:spPr>
          <a:xfrm>
            <a:off x="3786908" y="1463305"/>
            <a:ext cx="8211128" cy="1105327"/>
          </a:xfrm>
          <a:prstGeom prst="rect">
            <a:avLst/>
          </a:prstGeom>
          <a:no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Revaluation should be posted on the last date of the month that is being closed. </a:t>
            </a:r>
          </a:p>
          <a:p>
            <a:r>
              <a:rPr lang="en-US" sz="1100">
                <a:solidFill>
                  <a:schemeClr val="tx1"/>
                </a:solidFill>
                <a:latin typeface="Calibri" panose="020F0502020204030204" pitchFamily="34" charset="0"/>
                <a:cs typeface="Calibri" panose="020F0502020204030204" pitchFamily="34" charset="0"/>
              </a:rPr>
              <a:t>Most of the revaluation postings are to be reversed on the first date of the following period, however some STAT and/or TAX accounting principles require revaluation not to be reversed. These are defined in the Valuation Area (the S* and T* areas) and set up accordingly in the Revaluation Variants. </a:t>
            </a:r>
          </a:p>
          <a:p>
            <a:r>
              <a:rPr lang="en-US" sz="1100">
                <a:solidFill>
                  <a:schemeClr val="tx1"/>
                </a:solidFill>
                <a:latin typeface="Calibri" panose="020F0502020204030204" pitchFamily="34" charset="0"/>
                <a:cs typeface="Calibri" panose="020F0502020204030204" pitchFamily="34" charset="0"/>
              </a:rPr>
              <a:t>In case you are not sure what has been set up for your company code you can always approach BTS for this information.</a:t>
            </a:r>
          </a:p>
        </p:txBody>
      </p:sp>
      <p:sp>
        <p:nvSpPr>
          <p:cNvPr id="12" name="Rectangle 11">
            <a:extLst>
              <a:ext uri="{FF2B5EF4-FFF2-40B4-BE49-F238E27FC236}">
                <a16:creationId xmlns:a16="http://schemas.microsoft.com/office/drawing/2014/main" id="{A58C24B0-AA42-4DBB-883F-A32E9CA708A1}"/>
              </a:ext>
            </a:extLst>
          </p:cNvPr>
          <p:cNvSpPr/>
          <p:nvPr/>
        </p:nvSpPr>
        <p:spPr>
          <a:xfrm>
            <a:off x="3786908" y="2755393"/>
            <a:ext cx="8211128" cy="1824920"/>
          </a:xfrm>
          <a:prstGeom prst="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IFRS Revaluation Variants using Valuation Area 01 has these two fields populated as shown on the screenshot. This means that when revaluation difference (UFX-Unrealized FX differences) are posted to LC1, they are also posted to LC3 (Currency Type 31) at the same time and the value in LC3 is translated from the value posted in LC1 at the monthly average (RM) rate.</a:t>
            </a:r>
          </a:p>
          <a:p>
            <a:endParaRPr lang="en-GB" sz="1100">
              <a:solidFill>
                <a:schemeClr val="tx1"/>
              </a:solidFill>
              <a:latin typeface="Calibri" panose="020F0502020204030204" pitchFamily="34" charset="0"/>
              <a:cs typeface="Calibri" panose="020F0502020204030204" pitchFamily="34" charset="0"/>
            </a:endParaRPr>
          </a:p>
          <a:p>
            <a:r>
              <a:rPr lang="en-GB" sz="1100">
                <a:solidFill>
                  <a:schemeClr val="tx1"/>
                </a:solidFill>
                <a:latin typeface="Calibri" panose="020F0502020204030204" pitchFamily="34" charset="0"/>
                <a:cs typeface="Calibri" panose="020F0502020204030204" pitchFamily="34" charset="0"/>
              </a:rPr>
              <a:t>For other Revaluation Variants, these fields may not be used. This depends on the actual requirement of each requirement, especially for STAT and Tax ledgers.</a:t>
            </a:r>
          </a:p>
          <a:p>
            <a:endParaRPr lang="en-GB" sz="1100">
              <a:solidFill>
                <a:schemeClr val="tx1"/>
              </a:solidFill>
              <a:latin typeface="Calibri" panose="020F0502020204030204" pitchFamily="34" charset="0"/>
              <a:cs typeface="Calibri" panose="020F0502020204030204" pitchFamily="34" charset="0"/>
            </a:endParaRPr>
          </a:p>
          <a:p>
            <a:r>
              <a:rPr lang="en-US" sz="1100">
                <a:solidFill>
                  <a:schemeClr val="tx1"/>
                </a:solidFill>
                <a:latin typeface="Calibri" panose="020F0502020204030204" pitchFamily="34" charset="0"/>
                <a:cs typeface="Calibri" panose="020F0502020204030204" pitchFamily="34" charset="0"/>
              </a:rPr>
              <a:t>Entities that use USD as functional currency but not LC1 do not normally have these fields populated. In these cases Revaluations are performed for LC1 and LC2 (in STAT/TAX ledger) or LC3 (in IFRS ledger) as target currencies separately, which do not require any “Force Translation” from LC1.</a:t>
            </a:r>
          </a:p>
        </p:txBody>
      </p:sp>
      <p:cxnSp>
        <p:nvCxnSpPr>
          <p:cNvPr id="14" name="Connector: Elbow 13">
            <a:extLst>
              <a:ext uri="{FF2B5EF4-FFF2-40B4-BE49-F238E27FC236}">
                <a16:creationId xmlns:a16="http://schemas.microsoft.com/office/drawing/2014/main" id="{C5925B01-1307-46AB-8E31-DD29B24819B4}"/>
              </a:ext>
            </a:extLst>
          </p:cNvPr>
          <p:cNvCxnSpPr>
            <a:cxnSpLocks/>
            <a:stCxn id="7" idx="3"/>
            <a:endCxn id="10" idx="1"/>
          </p:cNvCxnSpPr>
          <p:nvPr/>
        </p:nvCxnSpPr>
        <p:spPr>
          <a:xfrm flipV="1">
            <a:off x="3230879" y="2015969"/>
            <a:ext cx="556029" cy="564119"/>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5371C3D4-738C-4362-B6C6-CEC1F222728E}"/>
              </a:ext>
            </a:extLst>
          </p:cNvPr>
          <p:cNvPicPr>
            <a:picLocks noChangeAspect="1"/>
          </p:cNvPicPr>
          <p:nvPr/>
        </p:nvPicPr>
        <p:blipFill>
          <a:blip r:embed="rId4"/>
          <a:stretch>
            <a:fillRect/>
          </a:stretch>
        </p:blipFill>
        <p:spPr>
          <a:xfrm>
            <a:off x="510263" y="4640760"/>
            <a:ext cx="2895016" cy="2168432"/>
          </a:xfrm>
          <a:prstGeom prst="rect">
            <a:avLst/>
          </a:prstGeom>
          <a:effectLst>
            <a:outerShdw blurRad="50800" dist="38100" dir="2700000" algn="tl" rotWithShape="0">
              <a:prstClr val="black">
                <a:alpha val="40000"/>
              </a:prstClr>
            </a:outerShdw>
          </a:effectLst>
        </p:spPr>
      </p:pic>
      <p:sp>
        <p:nvSpPr>
          <p:cNvPr id="22" name="Rectangle: Rounded Corners 21">
            <a:extLst>
              <a:ext uri="{FF2B5EF4-FFF2-40B4-BE49-F238E27FC236}">
                <a16:creationId xmlns:a16="http://schemas.microsoft.com/office/drawing/2014/main" id="{8CB812B7-4E1F-4A83-9753-CE3AA1931F93}"/>
              </a:ext>
            </a:extLst>
          </p:cNvPr>
          <p:cNvSpPr/>
          <p:nvPr/>
        </p:nvSpPr>
        <p:spPr>
          <a:xfrm>
            <a:off x="510263" y="4327199"/>
            <a:ext cx="2365806" cy="334030"/>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FAGL_FCV: Revaluation – </a:t>
            </a:r>
            <a:r>
              <a:rPr kumimoji="0" lang="en-GB" sz="900" b="1" i="0" u="sng" strike="noStrike" kern="1200" cap="none" spc="0" normalizeH="0" baseline="0" noProof="0">
                <a:ln>
                  <a:noFill/>
                </a:ln>
                <a:solidFill>
                  <a:srgbClr val="00B2A9">
                    <a:lumMod val="50000"/>
                  </a:srgbClr>
                </a:solidFill>
                <a:effectLst/>
                <a:uLnTx/>
                <a:uFillTx/>
                <a:latin typeface="Arial" panose="020B0604020202020204"/>
                <a:ea typeface="+mn-ea"/>
                <a:cs typeface="+mn-cs"/>
              </a:rPr>
              <a:t>Open Items: Subledger</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tab</a:t>
            </a:r>
          </a:p>
        </p:txBody>
      </p:sp>
      <p:cxnSp>
        <p:nvCxnSpPr>
          <p:cNvPr id="26" name="Connector: Elbow 25">
            <a:extLst>
              <a:ext uri="{FF2B5EF4-FFF2-40B4-BE49-F238E27FC236}">
                <a16:creationId xmlns:a16="http://schemas.microsoft.com/office/drawing/2014/main" id="{F7F76B8C-C45F-4694-844C-FC3E682FFE3A}"/>
              </a:ext>
            </a:extLst>
          </p:cNvPr>
          <p:cNvCxnSpPr>
            <a:cxnSpLocks/>
            <a:stCxn id="9" idx="3"/>
            <a:endCxn id="12" idx="1"/>
          </p:cNvCxnSpPr>
          <p:nvPr/>
        </p:nvCxnSpPr>
        <p:spPr>
          <a:xfrm flipV="1">
            <a:off x="3230879" y="3667853"/>
            <a:ext cx="556029" cy="47132"/>
          </a:xfrm>
          <a:prstGeom prst="bentConnector3">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Rounded Corners 30">
            <a:extLst>
              <a:ext uri="{FF2B5EF4-FFF2-40B4-BE49-F238E27FC236}">
                <a16:creationId xmlns:a16="http://schemas.microsoft.com/office/drawing/2014/main" id="{E6368C0D-F7D2-4459-B79A-78561EE01D9F}"/>
              </a:ext>
            </a:extLst>
          </p:cNvPr>
          <p:cNvSpPr/>
          <p:nvPr/>
        </p:nvSpPr>
        <p:spPr>
          <a:xfrm>
            <a:off x="1236956" y="5127157"/>
            <a:ext cx="1993923" cy="224930"/>
          </a:xfrm>
          <a:prstGeom prst="roundRect">
            <a:avLst>
              <a:gd name="adj" fmla="val 4268"/>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2" name="Rectangle 31">
            <a:extLst>
              <a:ext uri="{FF2B5EF4-FFF2-40B4-BE49-F238E27FC236}">
                <a16:creationId xmlns:a16="http://schemas.microsoft.com/office/drawing/2014/main" id="{67011EF6-0C3B-49FC-9534-AF809F600815}"/>
              </a:ext>
            </a:extLst>
          </p:cNvPr>
          <p:cNvSpPr/>
          <p:nvPr/>
        </p:nvSpPr>
        <p:spPr>
          <a:xfrm>
            <a:off x="3786908" y="5455636"/>
            <a:ext cx="8211128" cy="424884"/>
          </a:xfrm>
          <a:prstGeom prst="rect">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In Revaluation runs, we select all vendors and customers, with the exceptions of some accounts, which some restrictions set in the “Display selection”, which we will take a look later.</a:t>
            </a:r>
            <a:endParaRPr lang="en-US" sz="1100">
              <a:solidFill>
                <a:schemeClr val="tx1"/>
              </a:solidFill>
              <a:latin typeface="Calibri" panose="020F0502020204030204" pitchFamily="34" charset="0"/>
              <a:cs typeface="Calibri" panose="020F0502020204030204" pitchFamily="34" charset="0"/>
            </a:endParaRPr>
          </a:p>
        </p:txBody>
      </p:sp>
      <p:cxnSp>
        <p:nvCxnSpPr>
          <p:cNvPr id="33" name="Connector: Elbow 32">
            <a:extLst>
              <a:ext uri="{FF2B5EF4-FFF2-40B4-BE49-F238E27FC236}">
                <a16:creationId xmlns:a16="http://schemas.microsoft.com/office/drawing/2014/main" id="{23B69CCD-F004-4737-A7D9-34D1B0694E97}"/>
              </a:ext>
            </a:extLst>
          </p:cNvPr>
          <p:cNvCxnSpPr>
            <a:cxnSpLocks/>
            <a:stCxn id="31" idx="3"/>
            <a:endCxn id="32" idx="1"/>
          </p:cNvCxnSpPr>
          <p:nvPr/>
        </p:nvCxnSpPr>
        <p:spPr>
          <a:xfrm>
            <a:off x="3230879" y="5239622"/>
            <a:ext cx="556029" cy="428456"/>
          </a:xfrm>
          <a:prstGeom prst="bentConnector3">
            <a:avLst/>
          </a:prstGeom>
          <a:ln w="95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Rounded Corners 36">
            <a:extLst>
              <a:ext uri="{FF2B5EF4-FFF2-40B4-BE49-F238E27FC236}">
                <a16:creationId xmlns:a16="http://schemas.microsoft.com/office/drawing/2014/main" id="{9020D6E1-3EE3-4F60-AEF2-8AAD383202E6}"/>
              </a:ext>
            </a:extLst>
          </p:cNvPr>
          <p:cNvSpPr/>
          <p:nvPr/>
        </p:nvSpPr>
        <p:spPr>
          <a:xfrm>
            <a:off x="1236955" y="6144273"/>
            <a:ext cx="1993923" cy="224930"/>
          </a:xfrm>
          <a:prstGeom prst="roundRect">
            <a:avLst>
              <a:gd name="adj" fmla="val 4268"/>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39" name="Connector: Elbow 38">
            <a:extLst>
              <a:ext uri="{FF2B5EF4-FFF2-40B4-BE49-F238E27FC236}">
                <a16:creationId xmlns:a16="http://schemas.microsoft.com/office/drawing/2014/main" id="{AD992263-3D2D-4CEF-A347-A4658779D95A}"/>
              </a:ext>
            </a:extLst>
          </p:cNvPr>
          <p:cNvCxnSpPr>
            <a:cxnSpLocks/>
            <a:stCxn id="37" idx="3"/>
            <a:endCxn id="32" idx="1"/>
          </p:cNvCxnSpPr>
          <p:nvPr/>
        </p:nvCxnSpPr>
        <p:spPr>
          <a:xfrm flipV="1">
            <a:off x="3230878" y="5668078"/>
            <a:ext cx="556030" cy="588660"/>
          </a:xfrm>
          <a:prstGeom prst="bentConnector3">
            <a:avLst>
              <a:gd name="adj1" fmla="val 50000"/>
            </a:avLst>
          </a:prstGeom>
          <a:ln w="95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Rounded Corners 46">
            <a:extLst>
              <a:ext uri="{FF2B5EF4-FFF2-40B4-BE49-F238E27FC236}">
                <a16:creationId xmlns:a16="http://schemas.microsoft.com/office/drawing/2014/main" id="{E07EF37D-A3AD-4BBB-8076-DFE80BDBB6C3}"/>
              </a:ext>
            </a:extLst>
          </p:cNvPr>
          <p:cNvSpPr/>
          <p:nvPr/>
        </p:nvSpPr>
        <p:spPr>
          <a:xfrm>
            <a:off x="660268" y="5553183"/>
            <a:ext cx="1993923" cy="224930"/>
          </a:xfrm>
          <a:prstGeom prst="roundRect">
            <a:avLst>
              <a:gd name="adj" fmla="val 4268"/>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8" name="Rectangle: Rounded Corners 47">
            <a:extLst>
              <a:ext uri="{FF2B5EF4-FFF2-40B4-BE49-F238E27FC236}">
                <a16:creationId xmlns:a16="http://schemas.microsoft.com/office/drawing/2014/main" id="{41250CA5-71AE-41B3-B37F-77E3D87E9CC0}"/>
              </a:ext>
            </a:extLst>
          </p:cNvPr>
          <p:cNvSpPr/>
          <p:nvPr/>
        </p:nvSpPr>
        <p:spPr>
          <a:xfrm>
            <a:off x="660267" y="6514944"/>
            <a:ext cx="1993923" cy="224930"/>
          </a:xfrm>
          <a:prstGeom prst="roundRect">
            <a:avLst>
              <a:gd name="adj" fmla="val 4268"/>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479512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9DEF5E7B-889F-4B41-B9DC-3D187589195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499361" y="4636830"/>
            <a:ext cx="2915696" cy="2010825"/>
          </a:xfrm>
          <a:prstGeom prst="rect">
            <a:avLst/>
          </a:prstGeom>
        </p:spPr>
      </p:pic>
      <p:pic>
        <p:nvPicPr>
          <p:cNvPr id="5" name="Picture 4">
            <a:extLst>
              <a:ext uri="{FF2B5EF4-FFF2-40B4-BE49-F238E27FC236}">
                <a16:creationId xmlns:a16="http://schemas.microsoft.com/office/drawing/2014/main" id="{F23A3DF7-53C8-4C61-AAC7-2105AC085BA7}"/>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510263" y="1585282"/>
            <a:ext cx="2830147" cy="2579284"/>
          </a:xfrm>
          <a:prstGeom prst="rect">
            <a:avLst/>
          </a:prstGeom>
          <a:effectLst>
            <a:outerShdw blurRad="50800" dist="38100" dir="2700000" algn="tl" rotWithShape="0">
              <a:prstClr val="black">
                <a:alpha val="40000"/>
              </a:prstClr>
            </a:outerShdw>
          </a:effectLst>
        </p:spPr>
      </p:pic>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Currency Revaluation: Execution (3/4)</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6</a:t>
            </a:fld>
            <a:endParaRPr lang="en-GB"/>
          </a:p>
        </p:txBody>
      </p:sp>
      <p:sp>
        <p:nvSpPr>
          <p:cNvPr id="6" name="Rectangle: Rounded Corners 5">
            <a:extLst>
              <a:ext uri="{FF2B5EF4-FFF2-40B4-BE49-F238E27FC236}">
                <a16:creationId xmlns:a16="http://schemas.microsoft.com/office/drawing/2014/main" id="{A1AB32CB-5447-44B5-BEE2-91F69DF64C70}"/>
              </a:ext>
            </a:extLst>
          </p:cNvPr>
          <p:cNvSpPr/>
          <p:nvPr/>
        </p:nvSpPr>
        <p:spPr>
          <a:xfrm>
            <a:off x="515939" y="1328907"/>
            <a:ext cx="2365806" cy="317035"/>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FAGL_FCV: Revaluation – </a:t>
            </a:r>
            <a:r>
              <a:rPr kumimoji="0" lang="en-GB" sz="900" b="1" i="0" u="sng" strike="noStrike" kern="1200" cap="none" spc="0" normalizeH="0" baseline="0" noProof="0">
                <a:ln>
                  <a:noFill/>
                </a:ln>
                <a:solidFill>
                  <a:srgbClr val="00B2A9">
                    <a:lumMod val="50000"/>
                  </a:srgbClr>
                </a:solidFill>
                <a:effectLst/>
                <a:uLnTx/>
                <a:uFillTx/>
                <a:latin typeface="Arial" panose="020B0604020202020204"/>
                <a:ea typeface="+mn-ea"/>
                <a:cs typeface="+mn-cs"/>
              </a:rPr>
              <a:t>Open Items: G/L Accounts</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tab</a:t>
            </a:r>
          </a:p>
        </p:txBody>
      </p:sp>
      <p:sp>
        <p:nvSpPr>
          <p:cNvPr id="7" name="Rectangle: Rounded Corners 6">
            <a:extLst>
              <a:ext uri="{FF2B5EF4-FFF2-40B4-BE49-F238E27FC236}">
                <a16:creationId xmlns:a16="http://schemas.microsoft.com/office/drawing/2014/main" id="{817A3B96-C341-4E37-87A2-A5E460BEAB96}"/>
              </a:ext>
            </a:extLst>
          </p:cNvPr>
          <p:cNvSpPr/>
          <p:nvPr/>
        </p:nvSpPr>
        <p:spPr>
          <a:xfrm>
            <a:off x="1236956" y="2036633"/>
            <a:ext cx="1993923" cy="208171"/>
          </a:xfrm>
          <a:prstGeom prst="roundRect">
            <a:avLst>
              <a:gd name="adj" fmla="val 4268"/>
            </a:avLst>
          </a:prstGeom>
          <a:no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4307EDEC-99AE-4BBB-ABD9-495E89423475}"/>
              </a:ext>
            </a:extLst>
          </p:cNvPr>
          <p:cNvSpPr/>
          <p:nvPr/>
        </p:nvSpPr>
        <p:spPr>
          <a:xfrm>
            <a:off x="3786908" y="1463305"/>
            <a:ext cx="8211128" cy="1105327"/>
          </a:xfrm>
          <a:prstGeom prst="rect">
            <a:avLst/>
          </a:prstGeom>
          <a:no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These selections mean that we revaluate G/L accounts with </a:t>
            </a:r>
            <a:r>
              <a:rPr lang="en-US" sz="1100" b="1">
                <a:solidFill>
                  <a:schemeClr val="tx1"/>
                </a:solidFill>
                <a:latin typeface="Calibri" panose="020F0502020204030204" pitchFamily="34" charset="0"/>
                <a:cs typeface="Calibri" panose="020F0502020204030204" pitchFamily="34" charset="0"/>
              </a:rPr>
              <a:t>Open Item Management </a:t>
            </a:r>
            <a:r>
              <a:rPr lang="en-US" sz="1100">
                <a:solidFill>
                  <a:schemeClr val="tx1"/>
                </a:solidFill>
                <a:latin typeface="Calibri" panose="020F0502020204030204" pitchFamily="34" charset="0"/>
                <a:cs typeface="Calibri" panose="020F0502020204030204" pitchFamily="34" charset="0"/>
              </a:rPr>
              <a:t>or </a:t>
            </a:r>
            <a:r>
              <a:rPr lang="en-US" sz="1100" b="1">
                <a:solidFill>
                  <a:schemeClr val="tx1"/>
                </a:solidFill>
                <a:latin typeface="Calibri" panose="020F0502020204030204" pitchFamily="34" charset="0"/>
                <a:cs typeface="Calibri" panose="020F0502020204030204" pitchFamily="34" charset="0"/>
              </a:rPr>
              <a:t>Clearing Specific to Ledger Groups </a:t>
            </a:r>
            <a:r>
              <a:rPr lang="en-US" sz="1100">
                <a:solidFill>
                  <a:schemeClr val="tx1"/>
                </a:solidFill>
                <a:latin typeface="Calibri" panose="020F0502020204030204" pitchFamily="34" charset="0"/>
                <a:cs typeface="Calibri" panose="020F0502020204030204" pitchFamily="34" charset="0"/>
              </a:rPr>
              <a:t>indicators activated in their G/L Master Data. There is also a “Display selection” criterion activated for the G/L Open Items accounts selection, which we will take a look later. </a:t>
            </a:r>
          </a:p>
        </p:txBody>
      </p:sp>
      <p:cxnSp>
        <p:nvCxnSpPr>
          <p:cNvPr id="14" name="Connector: Elbow 13">
            <a:extLst>
              <a:ext uri="{FF2B5EF4-FFF2-40B4-BE49-F238E27FC236}">
                <a16:creationId xmlns:a16="http://schemas.microsoft.com/office/drawing/2014/main" id="{C5925B01-1307-46AB-8E31-DD29B24819B4}"/>
              </a:ext>
            </a:extLst>
          </p:cNvPr>
          <p:cNvCxnSpPr>
            <a:cxnSpLocks/>
            <a:stCxn id="7" idx="3"/>
            <a:endCxn id="10" idx="1"/>
          </p:cNvCxnSpPr>
          <p:nvPr/>
        </p:nvCxnSpPr>
        <p:spPr>
          <a:xfrm flipV="1">
            <a:off x="3230879" y="2015969"/>
            <a:ext cx="556029" cy="12475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8CB812B7-4E1F-4A83-9753-CE3AA1931F93}"/>
              </a:ext>
            </a:extLst>
          </p:cNvPr>
          <p:cNvSpPr/>
          <p:nvPr/>
        </p:nvSpPr>
        <p:spPr>
          <a:xfrm>
            <a:off x="510263" y="4327199"/>
            <a:ext cx="2365806" cy="334030"/>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FAGL_FCV: Revaluation </a:t>
            </a:r>
            <a:r>
              <a:rPr kumimoji="0" lang="en-GB" sz="900" b="1" i="0" u="sng" strike="noStrike" kern="1200" cap="none" spc="0" normalizeH="0" baseline="0" noProof="0">
                <a:ln>
                  <a:noFill/>
                </a:ln>
                <a:solidFill>
                  <a:srgbClr val="00B2A9">
                    <a:lumMod val="50000"/>
                  </a:srgbClr>
                </a:solidFill>
                <a:effectLst/>
                <a:uLnTx/>
                <a:uFillTx/>
                <a:latin typeface="Arial" panose="020B0604020202020204"/>
                <a:ea typeface="+mn-ea"/>
                <a:cs typeface="+mn-cs"/>
              </a:rPr>
              <a:t>– G/L Account Balances</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tab</a:t>
            </a:r>
          </a:p>
        </p:txBody>
      </p:sp>
      <p:cxnSp>
        <p:nvCxnSpPr>
          <p:cNvPr id="26" name="Connector: Elbow 25">
            <a:extLst>
              <a:ext uri="{FF2B5EF4-FFF2-40B4-BE49-F238E27FC236}">
                <a16:creationId xmlns:a16="http://schemas.microsoft.com/office/drawing/2014/main" id="{F7F76B8C-C45F-4694-844C-FC3E682FFE3A}"/>
              </a:ext>
            </a:extLst>
          </p:cNvPr>
          <p:cNvCxnSpPr>
            <a:cxnSpLocks/>
            <a:stCxn id="25" idx="3"/>
            <a:endCxn id="10" idx="1"/>
          </p:cNvCxnSpPr>
          <p:nvPr/>
        </p:nvCxnSpPr>
        <p:spPr>
          <a:xfrm flipV="1">
            <a:off x="3230878" y="2015969"/>
            <a:ext cx="556030" cy="1804181"/>
          </a:xfrm>
          <a:prstGeom prst="bentConnector3">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Rounded Corners 30">
            <a:extLst>
              <a:ext uri="{FF2B5EF4-FFF2-40B4-BE49-F238E27FC236}">
                <a16:creationId xmlns:a16="http://schemas.microsoft.com/office/drawing/2014/main" id="{E6368C0D-F7D2-4459-B79A-78561EE01D9F}"/>
              </a:ext>
            </a:extLst>
          </p:cNvPr>
          <p:cNvSpPr/>
          <p:nvPr/>
        </p:nvSpPr>
        <p:spPr>
          <a:xfrm>
            <a:off x="1062389" y="5110286"/>
            <a:ext cx="1993923" cy="150345"/>
          </a:xfrm>
          <a:prstGeom prst="roundRect">
            <a:avLst>
              <a:gd name="adj" fmla="val 4268"/>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2" name="Rectangle 31">
            <a:extLst>
              <a:ext uri="{FF2B5EF4-FFF2-40B4-BE49-F238E27FC236}">
                <a16:creationId xmlns:a16="http://schemas.microsoft.com/office/drawing/2014/main" id="{67011EF6-0C3B-49FC-9534-AF809F600815}"/>
              </a:ext>
            </a:extLst>
          </p:cNvPr>
          <p:cNvSpPr/>
          <p:nvPr/>
        </p:nvSpPr>
        <p:spPr>
          <a:xfrm>
            <a:off x="3786908" y="4038394"/>
            <a:ext cx="8211128" cy="885085"/>
          </a:xfrm>
          <a:prstGeom prst="rect">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These selections mean that we revaluate G/L accounts which are not managed with open/cleared items. These are revaluated by the G/L account balances by each document currency. There is a “Display selection” criterion activated here for restriction of G/L accounts which are to be valuated based on balances, which we will take a look later.</a:t>
            </a:r>
            <a:endParaRPr lang="en-US" sz="1100">
              <a:solidFill>
                <a:schemeClr val="tx1"/>
              </a:solidFill>
              <a:latin typeface="Calibri" panose="020F0502020204030204" pitchFamily="34" charset="0"/>
              <a:cs typeface="Calibri" panose="020F0502020204030204" pitchFamily="34" charset="0"/>
            </a:endParaRPr>
          </a:p>
        </p:txBody>
      </p:sp>
      <p:cxnSp>
        <p:nvCxnSpPr>
          <p:cNvPr id="33" name="Connector: Elbow 32">
            <a:extLst>
              <a:ext uri="{FF2B5EF4-FFF2-40B4-BE49-F238E27FC236}">
                <a16:creationId xmlns:a16="http://schemas.microsoft.com/office/drawing/2014/main" id="{23B69CCD-F004-4737-A7D9-34D1B0694E97}"/>
              </a:ext>
            </a:extLst>
          </p:cNvPr>
          <p:cNvCxnSpPr>
            <a:cxnSpLocks/>
            <a:stCxn id="31" idx="3"/>
            <a:endCxn id="32" idx="1"/>
          </p:cNvCxnSpPr>
          <p:nvPr/>
        </p:nvCxnSpPr>
        <p:spPr>
          <a:xfrm flipV="1">
            <a:off x="3056312" y="4480937"/>
            <a:ext cx="730596" cy="704522"/>
          </a:xfrm>
          <a:prstGeom prst="bentConnector3">
            <a:avLst/>
          </a:prstGeom>
          <a:ln w="95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Rounded Corners 46">
            <a:extLst>
              <a:ext uri="{FF2B5EF4-FFF2-40B4-BE49-F238E27FC236}">
                <a16:creationId xmlns:a16="http://schemas.microsoft.com/office/drawing/2014/main" id="{E07EF37D-A3AD-4BBB-8076-DFE80BDBB6C3}"/>
              </a:ext>
            </a:extLst>
          </p:cNvPr>
          <p:cNvSpPr/>
          <p:nvPr/>
        </p:nvSpPr>
        <p:spPr>
          <a:xfrm>
            <a:off x="617064" y="5378749"/>
            <a:ext cx="1294864" cy="150344"/>
          </a:xfrm>
          <a:prstGeom prst="roundRect">
            <a:avLst>
              <a:gd name="adj" fmla="val 4268"/>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8" name="Rectangle: Rounded Corners 47">
            <a:extLst>
              <a:ext uri="{FF2B5EF4-FFF2-40B4-BE49-F238E27FC236}">
                <a16:creationId xmlns:a16="http://schemas.microsoft.com/office/drawing/2014/main" id="{41250CA5-71AE-41B3-B37F-77E3D87E9CC0}"/>
              </a:ext>
            </a:extLst>
          </p:cNvPr>
          <p:cNvSpPr/>
          <p:nvPr/>
        </p:nvSpPr>
        <p:spPr>
          <a:xfrm>
            <a:off x="1062389" y="6470075"/>
            <a:ext cx="1993923" cy="150344"/>
          </a:xfrm>
          <a:prstGeom prst="roundRect">
            <a:avLst>
              <a:gd name="adj" fmla="val 4268"/>
            </a:avLst>
          </a:prstGeom>
          <a:noFill/>
          <a:ln w="19050">
            <a:solidFill>
              <a:schemeClr val="accent2"/>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4" name="Rectangle: Rounded Corners 23">
            <a:extLst>
              <a:ext uri="{FF2B5EF4-FFF2-40B4-BE49-F238E27FC236}">
                <a16:creationId xmlns:a16="http://schemas.microsoft.com/office/drawing/2014/main" id="{D8B58F00-D4CE-455B-A5B1-C8215AF14C76}"/>
              </a:ext>
            </a:extLst>
          </p:cNvPr>
          <p:cNvSpPr/>
          <p:nvPr/>
        </p:nvSpPr>
        <p:spPr>
          <a:xfrm>
            <a:off x="572775" y="2346940"/>
            <a:ext cx="1993923" cy="208171"/>
          </a:xfrm>
          <a:prstGeom prst="roundRect">
            <a:avLst>
              <a:gd name="adj" fmla="val 4268"/>
            </a:avLst>
          </a:prstGeom>
          <a:no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5" name="Rectangle: Rounded Corners 24">
            <a:extLst>
              <a:ext uri="{FF2B5EF4-FFF2-40B4-BE49-F238E27FC236}">
                <a16:creationId xmlns:a16="http://schemas.microsoft.com/office/drawing/2014/main" id="{87B638F6-F011-4124-9389-66BD927BC769}"/>
              </a:ext>
            </a:extLst>
          </p:cNvPr>
          <p:cNvSpPr/>
          <p:nvPr/>
        </p:nvSpPr>
        <p:spPr>
          <a:xfrm>
            <a:off x="1236955" y="3716064"/>
            <a:ext cx="1993923" cy="208171"/>
          </a:xfrm>
          <a:prstGeom prst="roundRect">
            <a:avLst>
              <a:gd name="adj" fmla="val 4268"/>
            </a:avLst>
          </a:prstGeom>
          <a:no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4" name="Rectangle 33">
            <a:extLst>
              <a:ext uri="{FF2B5EF4-FFF2-40B4-BE49-F238E27FC236}">
                <a16:creationId xmlns:a16="http://schemas.microsoft.com/office/drawing/2014/main" id="{83306F7E-14EF-4977-8F4E-E0F8D8D22AB2}"/>
              </a:ext>
            </a:extLst>
          </p:cNvPr>
          <p:cNvSpPr/>
          <p:nvPr/>
        </p:nvSpPr>
        <p:spPr>
          <a:xfrm>
            <a:off x="3786908" y="5105548"/>
            <a:ext cx="8211128" cy="885085"/>
          </a:xfrm>
          <a:prstGeom prst="rect">
            <a:avLst/>
          </a:prstGeom>
          <a:noFill/>
          <a:ln w="19050">
            <a:solidFill>
              <a:schemeClr val="accent2"/>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For the variants which require the revaluation postings to be reversed on the specified Reversal Date (on Postings tab), this checkbox needs to be ticked so that reversal postings can take place accordingly.</a:t>
            </a:r>
            <a:endParaRPr lang="en-US" sz="1100">
              <a:solidFill>
                <a:schemeClr val="tx1"/>
              </a:solidFill>
              <a:latin typeface="Calibri" panose="020F0502020204030204" pitchFamily="34" charset="0"/>
              <a:cs typeface="Calibri" panose="020F0502020204030204" pitchFamily="34" charset="0"/>
            </a:endParaRPr>
          </a:p>
        </p:txBody>
      </p:sp>
      <p:cxnSp>
        <p:nvCxnSpPr>
          <p:cNvPr id="35" name="Connector: Elbow 34">
            <a:extLst>
              <a:ext uri="{FF2B5EF4-FFF2-40B4-BE49-F238E27FC236}">
                <a16:creationId xmlns:a16="http://schemas.microsoft.com/office/drawing/2014/main" id="{D8003082-C26E-48AC-AA45-427D4A59E1B4}"/>
              </a:ext>
            </a:extLst>
          </p:cNvPr>
          <p:cNvCxnSpPr>
            <a:cxnSpLocks/>
            <a:stCxn id="48" idx="3"/>
            <a:endCxn id="34" idx="1"/>
          </p:cNvCxnSpPr>
          <p:nvPr/>
        </p:nvCxnSpPr>
        <p:spPr>
          <a:xfrm flipV="1">
            <a:off x="3056312" y="5548091"/>
            <a:ext cx="730596" cy="997156"/>
          </a:xfrm>
          <a:prstGeom prst="bentConnector3">
            <a:avLst/>
          </a:prstGeom>
          <a:ln w="95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248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6DB57060-E3D9-40B3-B438-50D25386903B}"/>
              </a:ext>
            </a:extLst>
          </p:cNvPr>
          <p:cNvPicPr>
            <a:picLocks noChangeAspect="1"/>
          </p:cNvPicPr>
          <p:nvPr/>
        </p:nvPicPr>
        <p:blipFill>
          <a:blip r:embed="rId3"/>
          <a:stretch>
            <a:fillRect/>
          </a:stretch>
        </p:blipFill>
        <p:spPr>
          <a:xfrm>
            <a:off x="510264" y="4000977"/>
            <a:ext cx="4198649" cy="1953826"/>
          </a:xfrm>
          <a:prstGeom prst="rect">
            <a:avLst/>
          </a:prstGeom>
          <a:ln>
            <a:solidFill>
              <a:srgbClr val="FF0000"/>
            </a:solidFill>
          </a:ln>
        </p:spPr>
      </p:pic>
      <p:pic>
        <p:nvPicPr>
          <p:cNvPr id="13" name="Picture 12">
            <a:extLst>
              <a:ext uri="{FF2B5EF4-FFF2-40B4-BE49-F238E27FC236}">
                <a16:creationId xmlns:a16="http://schemas.microsoft.com/office/drawing/2014/main" id="{B7305F47-788C-4FF9-9969-7BF9CE63E60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524117" y="3403893"/>
            <a:ext cx="3006021" cy="493802"/>
          </a:xfrm>
          <a:prstGeom prst="rect">
            <a:avLst/>
          </a:prstGeom>
        </p:spPr>
      </p:pic>
      <p:pic>
        <p:nvPicPr>
          <p:cNvPr id="2" name="Picture 1">
            <a:extLst>
              <a:ext uri="{FF2B5EF4-FFF2-40B4-BE49-F238E27FC236}">
                <a16:creationId xmlns:a16="http://schemas.microsoft.com/office/drawing/2014/main" id="{F835F1EA-1F3D-4F78-A404-D802687ECB6B}"/>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510264" y="1577461"/>
            <a:ext cx="2889642" cy="1480308"/>
          </a:xfrm>
          <a:prstGeom prst="rect">
            <a:avLst/>
          </a:prstGeom>
          <a:effectLst>
            <a:outerShdw blurRad="50800" dist="38100" dir="2700000" algn="tl" rotWithShape="0">
              <a:prstClr val="black">
                <a:alpha val="40000"/>
              </a:prstClr>
            </a:outerShdw>
          </a:effectLst>
        </p:spPr>
      </p:pic>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Currency Revaluation: Execution (4/4)</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7</a:t>
            </a:fld>
            <a:endParaRPr lang="en-GB"/>
          </a:p>
        </p:txBody>
      </p:sp>
      <p:sp>
        <p:nvSpPr>
          <p:cNvPr id="6" name="Rectangle: Rounded Corners 5">
            <a:extLst>
              <a:ext uri="{FF2B5EF4-FFF2-40B4-BE49-F238E27FC236}">
                <a16:creationId xmlns:a16="http://schemas.microsoft.com/office/drawing/2014/main" id="{A1AB32CB-5447-44B5-BEE2-91F69DF64C70}"/>
              </a:ext>
            </a:extLst>
          </p:cNvPr>
          <p:cNvSpPr/>
          <p:nvPr/>
        </p:nvSpPr>
        <p:spPr>
          <a:xfrm>
            <a:off x="515939" y="1328907"/>
            <a:ext cx="2365806" cy="317035"/>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FAGL_FCV: Revaluation – </a:t>
            </a:r>
            <a:r>
              <a:rPr kumimoji="0" lang="en-GB" sz="900" b="1" i="0" u="sng" strike="noStrike" kern="1200" cap="none" spc="0" normalizeH="0" baseline="0" noProof="0">
                <a:ln>
                  <a:noFill/>
                </a:ln>
                <a:solidFill>
                  <a:srgbClr val="00B2A9">
                    <a:lumMod val="50000"/>
                  </a:srgbClr>
                </a:solidFill>
                <a:effectLst/>
                <a:uLnTx/>
                <a:uFillTx/>
                <a:latin typeface="Arial" panose="020B0604020202020204"/>
                <a:ea typeface="+mn-ea"/>
                <a:cs typeface="+mn-cs"/>
              </a:rPr>
              <a:t>Output /technical Settings </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tab</a:t>
            </a:r>
          </a:p>
        </p:txBody>
      </p:sp>
      <p:sp>
        <p:nvSpPr>
          <p:cNvPr id="7" name="Rectangle: Rounded Corners 6">
            <a:extLst>
              <a:ext uri="{FF2B5EF4-FFF2-40B4-BE49-F238E27FC236}">
                <a16:creationId xmlns:a16="http://schemas.microsoft.com/office/drawing/2014/main" id="{817A3B96-C341-4E37-87A2-A5E460BEAB96}"/>
              </a:ext>
            </a:extLst>
          </p:cNvPr>
          <p:cNvSpPr/>
          <p:nvPr/>
        </p:nvSpPr>
        <p:spPr>
          <a:xfrm>
            <a:off x="524117" y="2844968"/>
            <a:ext cx="2210769" cy="153576"/>
          </a:xfrm>
          <a:prstGeom prst="roundRect">
            <a:avLst>
              <a:gd name="adj" fmla="val 4268"/>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4307EDEC-99AE-4BBB-ABD9-495E89423475}"/>
              </a:ext>
            </a:extLst>
          </p:cNvPr>
          <p:cNvSpPr/>
          <p:nvPr/>
        </p:nvSpPr>
        <p:spPr>
          <a:xfrm>
            <a:off x="3786908" y="1463305"/>
            <a:ext cx="8211128" cy="1105327"/>
          </a:xfrm>
          <a:prstGeom prst="rect">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dirty="0">
                <a:solidFill>
                  <a:schemeClr val="tx1"/>
                </a:solidFill>
                <a:latin typeface="Calibri" panose="020F0502020204030204" pitchFamily="34" charset="0"/>
                <a:cs typeface="Calibri" panose="020F0502020204030204" pitchFamily="34" charset="0"/>
              </a:rPr>
              <a:t>There is a specific layout that the GBS/JTBC has defined for the output log of Revaluation run. This layout allows all the output from all Revaluation runs to show the same columns every time when the same variant is executed, which also allows easier analysis if the output is to be downloaded to excel for further analysis using for example macros if needed.</a:t>
            </a:r>
          </a:p>
        </p:txBody>
      </p:sp>
      <p:cxnSp>
        <p:nvCxnSpPr>
          <p:cNvPr id="14" name="Connector: Elbow 13">
            <a:extLst>
              <a:ext uri="{FF2B5EF4-FFF2-40B4-BE49-F238E27FC236}">
                <a16:creationId xmlns:a16="http://schemas.microsoft.com/office/drawing/2014/main" id="{C5925B01-1307-46AB-8E31-DD29B24819B4}"/>
              </a:ext>
            </a:extLst>
          </p:cNvPr>
          <p:cNvCxnSpPr>
            <a:cxnSpLocks/>
            <a:stCxn id="7" idx="3"/>
            <a:endCxn id="10" idx="1"/>
          </p:cNvCxnSpPr>
          <p:nvPr/>
        </p:nvCxnSpPr>
        <p:spPr>
          <a:xfrm flipV="1">
            <a:off x="2734886" y="2015969"/>
            <a:ext cx="1052022" cy="905787"/>
          </a:xfrm>
          <a:prstGeom prst="bentConnector3">
            <a:avLst>
              <a:gd name="adj1" fmla="val 50000"/>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8CB812B7-4E1F-4A83-9753-CE3AA1931F93}"/>
              </a:ext>
            </a:extLst>
          </p:cNvPr>
          <p:cNvSpPr/>
          <p:nvPr/>
        </p:nvSpPr>
        <p:spPr>
          <a:xfrm>
            <a:off x="524117" y="3218146"/>
            <a:ext cx="2365806" cy="183137"/>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FAGL_FCV: Menu bar</a:t>
            </a:r>
          </a:p>
        </p:txBody>
      </p:sp>
      <p:sp>
        <p:nvSpPr>
          <p:cNvPr id="32" name="Rectangle 31">
            <a:extLst>
              <a:ext uri="{FF2B5EF4-FFF2-40B4-BE49-F238E27FC236}">
                <a16:creationId xmlns:a16="http://schemas.microsoft.com/office/drawing/2014/main" id="{67011EF6-0C3B-49FC-9534-AF809F600815}"/>
              </a:ext>
            </a:extLst>
          </p:cNvPr>
          <p:cNvSpPr/>
          <p:nvPr/>
        </p:nvSpPr>
        <p:spPr>
          <a:xfrm>
            <a:off x="5328458" y="2921756"/>
            <a:ext cx="6669578" cy="3033047"/>
          </a:xfrm>
          <a:prstGeom prst="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As mentioned before we have activated some </a:t>
            </a:r>
            <a:r>
              <a:rPr lang="en-GB" sz="1100" b="1">
                <a:solidFill>
                  <a:schemeClr val="tx1"/>
                </a:solidFill>
                <a:latin typeface="Calibri" panose="020F0502020204030204" pitchFamily="34" charset="0"/>
                <a:cs typeface="Calibri" panose="020F0502020204030204" pitchFamily="34" charset="0"/>
              </a:rPr>
              <a:t>“Display Selections” (or Dynamic Selections)</a:t>
            </a:r>
            <a:r>
              <a:rPr lang="en-GB" sz="1100">
                <a:solidFill>
                  <a:schemeClr val="tx1"/>
                </a:solidFill>
                <a:latin typeface="Calibri" panose="020F0502020204030204" pitchFamily="34" charset="0"/>
                <a:cs typeface="Calibri" panose="020F0502020204030204" pitchFamily="34" charset="0"/>
              </a:rPr>
              <a:t> on several tabs of the Revaluation selection screen. You can see all of them together by clicking on the corresponding button on the menu bar.</a:t>
            </a:r>
          </a:p>
          <a:p>
            <a:endParaRPr lang="en-GB" sz="1100">
              <a:solidFill>
                <a:schemeClr val="tx1"/>
              </a:solidFill>
              <a:latin typeface="Calibri" panose="020F0502020204030204" pitchFamily="34" charset="0"/>
              <a:cs typeface="Calibri" panose="020F0502020204030204" pitchFamily="34" charset="0"/>
            </a:endParaRPr>
          </a:p>
          <a:p>
            <a:r>
              <a:rPr lang="en-GB" sz="1100">
                <a:solidFill>
                  <a:schemeClr val="tx1"/>
                </a:solidFill>
                <a:latin typeface="Calibri" panose="020F0502020204030204" pitchFamily="34" charset="0"/>
                <a:cs typeface="Calibri" panose="020F0502020204030204" pitchFamily="34" charset="0"/>
              </a:rPr>
              <a:t>The following dynamic selections have been activated for a typical Revaluation run:</a:t>
            </a:r>
          </a:p>
          <a:p>
            <a:pPr marL="171450" indent="-171450">
              <a:buFont typeface="Arial" panose="020B0604020202020204" pitchFamily="34" charset="0"/>
              <a:buChar char="•"/>
            </a:pPr>
            <a:r>
              <a:rPr lang="en-GB" sz="1100" b="1">
                <a:solidFill>
                  <a:schemeClr val="tx1"/>
                </a:solidFill>
                <a:latin typeface="Calibri" panose="020F0502020204030204" pitchFamily="34" charset="0"/>
                <a:cs typeface="Calibri" panose="020F0502020204030204" pitchFamily="34" charset="0"/>
              </a:rPr>
              <a:t>Exchange Rate Different Key (ERDK)</a:t>
            </a:r>
          </a:p>
          <a:p>
            <a:pPr marL="628650" lvl="1" indent="-171450">
              <a:buFont typeface="Courier New" panose="02070309020205020404" pitchFamily="49" charset="0"/>
              <a:buChar char="o"/>
            </a:pPr>
            <a:r>
              <a:rPr lang="en-GB" sz="1100">
                <a:solidFill>
                  <a:schemeClr val="tx1"/>
                </a:solidFill>
                <a:latin typeface="Calibri" panose="020F0502020204030204" pitchFamily="34" charset="0"/>
                <a:cs typeface="Calibri" panose="020F0502020204030204" pitchFamily="34" charset="0"/>
              </a:rPr>
              <a:t>This is for both G/L accounts with open items and G/L account balances. </a:t>
            </a:r>
          </a:p>
          <a:p>
            <a:pPr marL="628650" lvl="1" indent="-171450">
              <a:buFont typeface="Courier New" panose="02070309020205020404" pitchFamily="49" charset="0"/>
              <a:buChar char="o"/>
            </a:pPr>
            <a:r>
              <a:rPr lang="en-GB" sz="1100" b="1">
                <a:solidFill>
                  <a:schemeClr val="tx1"/>
                </a:solidFill>
                <a:latin typeface="Calibri" panose="020F0502020204030204" pitchFamily="34" charset="0"/>
                <a:cs typeface="Calibri" panose="020F0502020204030204" pitchFamily="34" charset="0"/>
              </a:rPr>
              <a:t>ERDK range 9000-9999</a:t>
            </a:r>
            <a:r>
              <a:rPr lang="en-GB" sz="1100">
                <a:solidFill>
                  <a:schemeClr val="tx1"/>
                </a:solidFill>
                <a:latin typeface="Calibri" panose="020F0502020204030204" pitchFamily="34" charset="0"/>
                <a:cs typeface="Calibri" panose="020F0502020204030204" pitchFamily="34" charset="0"/>
              </a:rPr>
              <a:t> are assigned for all G/L accounts which are monetary, therefore need to be included in Revaluation.</a:t>
            </a:r>
          </a:p>
          <a:p>
            <a:pPr marL="628650" lvl="1" indent="-171450">
              <a:buFont typeface="Courier New" panose="02070309020205020404" pitchFamily="49" charset="0"/>
              <a:buChar char="o"/>
            </a:pPr>
            <a:r>
              <a:rPr lang="en-GB" sz="1100">
                <a:solidFill>
                  <a:schemeClr val="tx1"/>
                </a:solidFill>
                <a:latin typeface="Calibri" panose="020F0502020204030204" pitchFamily="34" charset="0"/>
                <a:cs typeface="Calibri" panose="020F0502020204030204" pitchFamily="34" charset="0"/>
              </a:rPr>
              <a:t>Refer to Chart of Accounts course material for details of ERDK.</a:t>
            </a:r>
          </a:p>
          <a:p>
            <a:pPr marL="171450" indent="-171450">
              <a:buFont typeface="Arial" panose="020B0604020202020204" pitchFamily="34" charset="0"/>
              <a:buChar char="•"/>
            </a:pPr>
            <a:r>
              <a:rPr lang="en-GB" sz="1100" b="1">
                <a:solidFill>
                  <a:schemeClr val="tx1"/>
                </a:solidFill>
                <a:latin typeface="Calibri" panose="020F0502020204030204" pitchFamily="34" charset="0"/>
                <a:cs typeface="Calibri" panose="020F0502020204030204" pitchFamily="34" charset="0"/>
              </a:rPr>
              <a:t>Customer Line Items and Vendor Line Items</a:t>
            </a:r>
          </a:p>
          <a:p>
            <a:pPr marL="628650" lvl="1" indent="-171450">
              <a:buFont typeface="Courier New" panose="02070309020205020404" pitchFamily="49" charset="0"/>
              <a:buChar char="o"/>
            </a:pPr>
            <a:r>
              <a:rPr lang="en-GB" sz="1100">
                <a:solidFill>
                  <a:schemeClr val="tx1"/>
                </a:solidFill>
                <a:latin typeface="Calibri" panose="020F0502020204030204" pitchFamily="34" charset="0"/>
                <a:cs typeface="Calibri" panose="020F0502020204030204" pitchFamily="34" charset="0"/>
              </a:rPr>
              <a:t>As you can see that we have excluded a number of customer/vendor reconciliation accounts from revaluation, e.g. down payment accounts, which has to be excluded at line item level as postings made to them are via the use of Special GL Indicators. </a:t>
            </a:r>
          </a:p>
          <a:p>
            <a:pPr marL="628650" lvl="1" indent="-171450">
              <a:buFont typeface="Courier New" panose="02070309020205020404" pitchFamily="49" charset="0"/>
              <a:buChar char="o"/>
            </a:pPr>
            <a:r>
              <a:rPr lang="en-GB" sz="1100">
                <a:solidFill>
                  <a:schemeClr val="tx1"/>
                </a:solidFill>
                <a:latin typeface="Calibri" panose="020F0502020204030204" pitchFamily="34" charset="0"/>
                <a:cs typeface="Calibri" panose="020F0502020204030204" pitchFamily="34" charset="0"/>
              </a:rPr>
              <a:t>The global guidance on this comes from Corporate Accounting/R2R Competency Center, while specific exclusions for individual entities need to be approved by R2R Competency Center too.</a:t>
            </a:r>
            <a:endParaRPr lang="en-US" sz="1100">
              <a:solidFill>
                <a:schemeClr val="tx1"/>
              </a:solidFill>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87B638F6-F011-4124-9389-66BD927BC769}"/>
              </a:ext>
            </a:extLst>
          </p:cNvPr>
          <p:cNvSpPr/>
          <p:nvPr/>
        </p:nvSpPr>
        <p:spPr>
          <a:xfrm>
            <a:off x="2169622" y="3716064"/>
            <a:ext cx="886690" cy="111479"/>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18" name="Straight Arrow Connector 17">
            <a:extLst>
              <a:ext uri="{FF2B5EF4-FFF2-40B4-BE49-F238E27FC236}">
                <a16:creationId xmlns:a16="http://schemas.microsoft.com/office/drawing/2014/main" id="{AB2A7812-84F6-4591-8698-72BDA97E3B6F}"/>
              </a:ext>
            </a:extLst>
          </p:cNvPr>
          <p:cNvCxnSpPr>
            <a:cxnSpLocks/>
            <a:stCxn id="25" idx="2"/>
            <a:endCxn id="15" idx="0"/>
          </p:cNvCxnSpPr>
          <p:nvPr/>
        </p:nvCxnSpPr>
        <p:spPr>
          <a:xfrm flipH="1">
            <a:off x="2609589" y="3827543"/>
            <a:ext cx="3378" cy="173434"/>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BDFD6A44-32ED-4665-BCFF-000592FA5487}"/>
              </a:ext>
            </a:extLst>
          </p:cNvPr>
          <p:cNvCxnSpPr>
            <a:cxnSpLocks/>
            <a:stCxn id="15" idx="3"/>
            <a:endCxn id="32" idx="1"/>
          </p:cNvCxnSpPr>
          <p:nvPr/>
        </p:nvCxnSpPr>
        <p:spPr>
          <a:xfrm flipV="1">
            <a:off x="4708913" y="4438280"/>
            <a:ext cx="619545" cy="539610"/>
          </a:xfrm>
          <a:prstGeom prst="bentConnector3">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6802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Currency Revaluation: Output</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8</a:t>
            </a:fld>
            <a:endParaRPr lang="en-GB"/>
          </a:p>
        </p:txBody>
      </p:sp>
      <p:pic>
        <p:nvPicPr>
          <p:cNvPr id="17" name="Picture 16">
            <a:extLst>
              <a:ext uri="{FF2B5EF4-FFF2-40B4-BE49-F238E27FC236}">
                <a16:creationId xmlns:a16="http://schemas.microsoft.com/office/drawing/2014/main" id="{3C375944-BAA7-4CF6-9BA5-E46AA4B86A18}"/>
              </a:ext>
            </a:extLst>
          </p:cNvPr>
          <p:cNvPicPr>
            <a:picLocks noChangeAspect="1"/>
          </p:cNvPicPr>
          <p:nvPr/>
        </p:nvPicPr>
        <p:blipFill>
          <a:blip r:embed="rId3"/>
          <a:stretch>
            <a:fillRect/>
          </a:stretch>
        </p:blipFill>
        <p:spPr>
          <a:xfrm>
            <a:off x="1589027" y="1871496"/>
            <a:ext cx="9499295" cy="4299017"/>
          </a:xfrm>
          <a:prstGeom prst="rect">
            <a:avLst/>
          </a:prstGeom>
          <a:effectLst>
            <a:outerShdw blurRad="63500" sx="102000" sy="102000" algn="ctr" rotWithShape="0">
              <a:prstClr val="black">
                <a:alpha val="40000"/>
              </a:prstClr>
            </a:outerShdw>
          </a:effectLst>
        </p:spPr>
      </p:pic>
      <p:sp>
        <p:nvSpPr>
          <p:cNvPr id="19" name="Rectangle 18">
            <a:extLst>
              <a:ext uri="{FF2B5EF4-FFF2-40B4-BE49-F238E27FC236}">
                <a16:creationId xmlns:a16="http://schemas.microsoft.com/office/drawing/2014/main" id="{DDB3A223-6DF6-4163-9D0C-F182F66106D2}"/>
              </a:ext>
            </a:extLst>
          </p:cNvPr>
          <p:cNvSpPr/>
          <p:nvPr/>
        </p:nvSpPr>
        <p:spPr>
          <a:xfrm>
            <a:off x="4176732" y="5738825"/>
            <a:ext cx="1236510" cy="243852"/>
          </a:xfrm>
          <a:prstGeom prst="rect">
            <a:avLst/>
          </a:prstGeom>
          <a:noFill/>
          <a:ln w="28575">
            <a:solidFill>
              <a:srgbClr val="00B0F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F5397ABD-B332-42B0-916A-CBA41B3CB80C}"/>
              </a:ext>
            </a:extLst>
          </p:cNvPr>
          <p:cNvSpPr/>
          <p:nvPr/>
        </p:nvSpPr>
        <p:spPr>
          <a:xfrm>
            <a:off x="5449425" y="5738825"/>
            <a:ext cx="1103787" cy="243852"/>
          </a:xfrm>
          <a:prstGeom prst="rect">
            <a:avLst/>
          </a:prstGeom>
          <a:noFill/>
          <a:ln w="28575">
            <a:solidFill>
              <a:srgbClr val="06F09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8A1B062C-512C-4DAE-A803-77C8A277F4DE}"/>
              </a:ext>
            </a:extLst>
          </p:cNvPr>
          <p:cNvSpPr/>
          <p:nvPr/>
        </p:nvSpPr>
        <p:spPr>
          <a:xfrm>
            <a:off x="4176731" y="5432263"/>
            <a:ext cx="1236510" cy="336460"/>
          </a:xfrm>
          <a:prstGeom prst="rect">
            <a:avLst/>
          </a:prstGeom>
          <a:solidFill>
            <a:schemeClr val="bg1"/>
          </a:solidFill>
          <a:ln w="28575">
            <a:solidFill>
              <a:srgbClr val="00B0F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rgbClr val="00B0F0"/>
                </a:solidFill>
              </a:rPr>
              <a:t>Document Curr. </a:t>
            </a:r>
          </a:p>
        </p:txBody>
      </p:sp>
      <p:sp>
        <p:nvSpPr>
          <p:cNvPr id="23" name="Rectangle 22">
            <a:extLst>
              <a:ext uri="{FF2B5EF4-FFF2-40B4-BE49-F238E27FC236}">
                <a16:creationId xmlns:a16="http://schemas.microsoft.com/office/drawing/2014/main" id="{A3619FD0-CBD9-4973-8FDD-1E8E405E54B4}"/>
              </a:ext>
            </a:extLst>
          </p:cNvPr>
          <p:cNvSpPr/>
          <p:nvPr/>
        </p:nvSpPr>
        <p:spPr>
          <a:xfrm>
            <a:off x="5448411" y="5432364"/>
            <a:ext cx="1103787" cy="316297"/>
          </a:xfrm>
          <a:prstGeom prst="rect">
            <a:avLst/>
          </a:prstGeom>
          <a:solidFill>
            <a:schemeClr val="bg1"/>
          </a:solidFill>
          <a:ln w="28575">
            <a:solidFill>
              <a:srgbClr val="06F09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rgbClr val="06F091"/>
                </a:solidFill>
              </a:rPr>
              <a:t>Original LC1</a:t>
            </a:r>
          </a:p>
        </p:txBody>
      </p:sp>
      <p:sp>
        <p:nvSpPr>
          <p:cNvPr id="24" name="Rectangle 23">
            <a:extLst>
              <a:ext uri="{FF2B5EF4-FFF2-40B4-BE49-F238E27FC236}">
                <a16:creationId xmlns:a16="http://schemas.microsoft.com/office/drawing/2014/main" id="{42B6B4F6-6FCE-4CED-9328-445FCEFD8CF2}"/>
              </a:ext>
            </a:extLst>
          </p:cNvPr>
          <p:cNvSpPr/>
          <p:nvPr/>
        </p:nvSpPr>
        <p:spPr>
          <a:xfrm>
            <a:off x="6564221" y="5738724"/>
            <a:ext cx="609971" cy="243852"/>
          </a:xfrm>
          <a:prstGeom prst="rect">
            <a:avLst/>
          </a:prstGeom>
          <a:noFill/>
          <a:ln w="28575">
            <a:solidFill>
              <a:schemeClr val="accent4">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7AE12111-A5B1-4037-8ED5-B932F83364FE}"/>
              </a:ext>
            </a:extLst>
          </p:cNvPr>
          <p:cNvSpPr/>
          <p:nvPr/>
        </p:nvSpPr>
        <p:spPr>
          <a:xfrm>
            <a:off x="6563207" y="5432263"/>
            <a:ext cx="609971" cy="316297"/>
          </a:xfrm>
          <a:prstGeom prst="rect">
            <a:avLst/>
          </a:prstGeom>
          <a:solidFill>
            <a:schemeClr val="bg1"/>
          </a:solidFill>
          <a:ln w="28575">
            <a:solidFill>
              <a:schemeClr val="accent4">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accent4">
                    <a:lumMod val="40000"/>
                    <a:lumOff val="60000"/>
                  </a:schemeClr>
                </a:solidFill>
              </a:rPr>
              <a:t>JT Rate</a:t>
            </a:r>
          </a:p>
        </p:txBody>
      </p:sp>
      <p:sp>
        <p:nvSpPr>
          <p:cNvPr id="27" name="Rectangle 26">
            <a:extLst>
              <a:ext uri="{FF2B5EF4-FFF2-40B4-BE49-F238E27FC236}">
                <a16:creationId xmlns:a16="http://schemas.microsoft.com/office/drawing/2014/main" id="{BB2F27FB-625F-4BDC-835A-C916422236F2}"/>
              </a:ext>
            </a:extLst>
          </p:cNvPr>
          <p:cNvSpPr/>
          <p:nvPr/>
        </p:nvSpPr>
        <p:spPr>
          <a:xfrm>
            <a:off x="7254025" y="5734147"/>
            <a:ext cx="695004" cy="243852"/>
          </a:xfrm>
          <a:prstGeom prst="rect">
            <a:avLst/>
          </a:prstGeom>
          <a:noFill/>
          <a:ln w="28575">
            <a:solidFill>
              <a:schemeClr val="accent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6340C2CE-CE3E-486A-AE9B-3C069AFF82E0}"/>
              </a:ext>
            </a:extLst>
          </p:cNvPr>
          <p:cNvSpPr/>
          <p:nvPr/>
        </p:nvSpPr>
        <p:spPr>
          <a:xfrm>
            <a:off x="7253010" y="5427686"/>
            <a:ext cx="696185" cy="316297"/>
          </a:xfrm>
          <a:prstGeom prst="rect">
            <a:avLst/>
          </a:prstGeom>
          <a:solidFill>
            <a:schemeClr val="bg1"/>
          </a:solidFill>
          <a:ln w="28575">
            <a:solidFill>
              <a:schemeClr val="accent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accent1"/>
                </a:solidFill>
              </a:rPr>
              <a:t>Original Rate</a:t>
            </a:r>
          </a:p>
        </p:txBody>
      </p:sp>
      <p:sp>
        <p:nvSpPr>
          <p:cNvPr id="29" name="Rectangle 28">
            <a:extLst>
              <a:ext uri="{FF2B5EF4-FFF2-40B4-BE49-F238E27FC236}">
                <a16:creationId xmlns:a16="http://schemas.microsoft.com/office/drawing/2014/main" id="{23CBFD51-CF2D-4A16-A17A-5743210CE9A8}"/>
              </a:ext>
            </a:extLst>
          </p:cNvPr>
          <p:cNvSpPr/>
          <p:nvPr/>
        </p:nvSpPr>
        <p:spPr>
          <a:xfrm>
            <a:off x="9016151" y="5750858"/>
            <a:ext cx="1616289" cy="243852"/>
          </a:xfrm>
          <a:prstGeom prst="rect">
            <a:avLst/>
          </a:prstGeom>
          <a:noFill/>
          <a:ln w="28575">
            <a:solidFill>
              <a:schemeClr val="accent4">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6EF0FBD5-E873-4293-B12A-67F5762C62FE}"/>
              </a:ext>
            </a:extLst>
          </p:cNvPr>
          <p:cNvSpPr/>
          <p:nvPr/>
        </p:nvSpPr>
        <p:spPr>
          <a:xfrm>
            <a:off x="9015137" y="5444397"/>
            <a:ext cx="1616289" cy="316297"/>
          </a:xfrm>
          <a:prstGeom prst="rect">
            <a:avLst/>
          </a:prstGeom>
          <a:solidFill>
            <a:schemeClr val="bg1"/>
          </a:solidFill>
          <a:ln w="28575">
            <a:solidFill>
              <a:schemeClr val="accent4">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accent4">
                    <a:lumMod val="40000"/>
                    <a:lumOff val="60000"/>
                  </a:schemeClr>
                </a:solidFill>
              </a:rPr>
              <a:t>UFX calculated and posted</a:t>
            </a:r>
          </a:p>
        </p:txBody>
      </p:sp>
      <p:pic>
        <p:nvPicPr>
          <p:cNvPr id="33" name="Picture 32">
            <a:extLst>
              <a:ext uri="{FF2B5EF4-FFF2-40B4-BE49-F238E27FC236}">
                <a16:creationId xmlns:a16="http://schemas.microsoft.com/office/drawing/2014/main" id="{5DF13D24-305B-43D2-8A4F-06EA64E606B8}"/>
              </a:ext>
            </a:extLst>
          </p:cNvPr>
          <p:cNvPicPr>
            <a:picLocks noChangeAspect="1"/>
          </p:cNvPicPr>
          <p:nvPr/>
        </p:nvPicPr>
        <p:blipFill>
          <a:blip r:embed="rId4"/>
          <a:stretch>
            <a:fillRect/>
          </a:stretch>
        </p:blipFill>
        <p:spPr>
          <a:xfrm>
            <a:off x="5081785" y="6226435"/>
            <a:ext cx="3286357" cy="539988"/>
          </a:xfrm>
          <a:prstGeom prst="rect">
            <a:avLst/>
          </a:prstGeom>
          <a:effectLst>
            <a:outerShdw blurRad="50800" dist="38100" dir="5400000" algn="t" rotWithShape="0">
              <a:prstClr val="black">
                <a:alpha val="40000"/>
              </a:prstClr>
            </a:outerShdw>
          </a:effectLst>
        </p:spPr>
      </p:pic>
      <p:sp>
        <p:nvSpPr>
          <p:cNvPr id="34" name="Rectangle: Rounded Corners 33">
            <a:extLst>
              <a:ext uri="{FF2B5EF4-FFF2-40B4-BE49-F238E27FC236}">
                <a16:creationId xmlns:a16="http://schemas.microsoft.com/office/drawing/2014/main" id="{62064EEC-E64D-4E39-AEF9-0F5C3B2F159E}"/>
              </a:ext>
            </a:extLst>
          </p:cNvPr>
          <p:cNvSpPr/>
          <p:nvPr/>
        </p:nvSpPr>
        <p:spPr>
          <a:xfrm>
            <a:off x="3987552" y="6251178"/>
            <a:ext cx="1094233" cy="530754"/>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000" b="1">
                <a:solidFill>
                  <a:schemeClr val="accent3">
                    <a:lumMod val="50000"/>
                  </a:schemeClr>
                </a:solidFill>
              </a:rPr>
              <a:t>ZFCMA13 – Display FX Rate</a:t>
            </a:r>
          </a:p>
        </p:txBody>
      </p:sp>
      <p:sp>
        <p:nvSpPr>
          <p:cNvPr id="35" name="Speech Bubble: Rectangle 34">
            <a:extLst>
              <a:ext uri="{FF2B5EF4-FFF2-40B4-BE49-F238E27FC236}">
                <a16:creationId xmlns:a16="http://schemas.microsoft.com/office/drawing/2014/main" id="{59A2DDBC-0234-4F47-B436-5198A8DC63FF}"/>
              </a:ext>
            </a:extLst>
          </p:cNvPr>
          <p:cNvSpPr/>
          <p:nvPr/>
        </p:nvSpPr>
        <p:spPr>
          <a:xfrm>
            <a:off x="9204385" y="4459856"/>
            <a:ext cx="2812211" cy="725187"/>
          </a:xfrm>
          <a:prstGeom prst="wedgeRectCallout">
            <a:avLst>
              <a:gd name="adj1" fmla="val -68850"/>
              <a:gd name="adj2" fmla="val 89707"/>
            </a:avLst>
          </a:prstGeom>
          <a:solidFill>
            <a:schemeClr val="accent1"/>
          </a:solidFill>
          <a:ln w="1905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GB" sz="1000">
                <a:solidFill>
                  <a:schemeClr val="bg1"/>
                </a:solidFill>
              </a:rPr>
              <a:t>Revaluated LC1 (RUB) = </a:t>
            </a:r>
          </a:p>
          <a:p>
            <a:r>
              <a:rPr lang="en-GB" sz="1000">
                <a:solidFill>
                  <a:schemeClr val="bg1"/>
                </a:solidFill>
              </a:rPr>
              <a:t>     (-2,000) * 70.598 = -141,196</a:t>
            </a:r>
          </a:p>
          <a:p>
            <a:pPr marL="171450" indent="-171450">
              <a:buFont typeface="Arial" panose="020B0604020202020204" pitchFamily="34" charset="0"/>
              <a:buChar char="•"/>
            </a:pPr>
            <a:r>
              <a:rPr lang="en-GB" sz="1000">
                <a:solidFill>
                  <a:schemeClr val="bg1"/>
                </a:solidFill>
              </a:rPr>
              <a:t>UFX= -141,196 - (-141,588.20) = 392.20</a:t>
            </a:r>
          </a:p>
        </p:txBody>
      </p:sp>
      <p:sp>
        <p:nvSpPr>
          <p:cNvPr id="36" name="Rectangle 35">
            <a:extLst>
              <a:ext uri="{FF2B5EF4-FFF2-40B4-BE49-F238E27FC236}">
                <a16:creationId xmlns:a16="http://schemas.microsoft.com/office/drawing/2014/main" id="{25AA2B82-BE34-488D-B5ED-DF229167A8EE}"/>
              </a:ext>
            </a:extLst>
          </p:cNvPr>
          <p:cNvSpPr/>
          <p:nvPr/>
        </p:nvSpPr>
        <p:spPr>
          <a:xfrm>
            <a:off x="428515" y="1377941"/>
            <a:ext cx="11247545" cy="400110"/>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GB" sz="1150" i="1">
                <a:solidFill>
                  <a:srgbClr val="000000"/>
                </a:solidFill>
                <a:latin typeface="Georgia" panose="02040502050405020303" pitchFamily="18" charset="0"/>
              </a:rPr>
              <a:t>If you execute Revaluation outside of FCC, you will see an output looks like the below. You receive the same output from the Revaluation FCC task. The illustration below explains how the Revaluation is calculated using an example for IFRS revaluation, i.e. target currency is LC1.</a:t>
            </a:r>
            <a:endPar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37" name="Rectangle: Rounded Corners 36">
            <a:extLst>
              <a:ext uri="{FF2B5EF4-FFF2-40B4-BE49-F238E27FC236}">
                <a16:creationId xmlns:a16="http://schemas.microsoft.com/office/drawing/2014/main" id="{A65E40A5-4060-4839-9205-8A91B77DBA2C}"/>
              </a:ext>
            </a:extLst>
          </p:cNvPr>
          <p:cNvSpPr/>
          <p:nvPr/>
        </p:nvSpPr>
        <p:spPr>
          <a:xfrm>
            <a:off x="4887204" y="2218458"/>
            <a:ext cx="2365806" cy="317035"/>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FAGL_FCV: Revaluation – Output Log</a:t>
            </a:r>
          </a:p>
        </p:txBody>
      </p:sp>
    </p:spTree>
    <p:extLst>
      <p:ext uri="{BB962C8B-B14F-4D97-AF65-F5344CB8AC3E}">
        <p14:creationId xmlns:p14="http://schemas.microsoft.com/office/powerpoint/2010/main" val="2403325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Currency Revaluation: Output</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9</a:t>
            </a:fld>
            <a:endParaRPr lang="en-GB"/>
          </a:p>
        </p:txBody>
      </p:sp>
      <p:pic>
        <p:nvPicPr>
          <p:cNvPr id="5" name="Picture 4">
            <a:extLst>
              <a:ext uri="{FF2B5EF4-FFF2-40B4-BE49-F238E27FC236}">
                <a16:creationId xmlns:a16="http://schemas.microsoft.com/office/drawing/2014/main" id="{C3FC8D0C-5813-4E66-BC03-BFC2491876B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252153" y="1382098"/>
            <a:ext cx="6819418" cy="2549822"/>
          </a:xfrm>
          <a:prstGeom prst="rect">
            <a:avLst/>
          </a:prstGeom>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B4A91E02-B70E-4C51-9376-9077335D289B}"/>
              </a:ext>
            </a:extLst>
          </p:cNvPr>
          <p:cNvPicPr>
            <a:picLocks noChangeAspect="1"/>
          </p:cNvPicPr>
          <p:nvPr/>
        </p:nvPicPr>
        <p:blipFill>
          <a:blip r:embed="rId5"/>
          <a:stretch>
            <a:fillRect/>
          </a:stretch>
        </p:blipFill>
        <p:spPr>
          <a:xfrm>
            <a:off x="7189032" y="1382098"/>
            <a:ext cx="4487029" cy="3734868"/>
          </a:xfrm>
          <a:prstGeom prst="rect">
            <a:avLst/>
          </a:prstGeom>
          <a:ln>
            <a:solidFill>
              <a:srgbClr val="FF0000"/>
            </a:solidFill>
          </a:ln>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364239F2-8B29-4D96-9E09-59BA5D4F84F3}"/>
              </a:ext>
            </a:extLst>
          </p:cNvPr>
          <p:cNvPicPr>
            <a:picLocks noChangeAspect="1"/>
          </p:cNvPicPr>
          <p:nvPr/>
        </p:nvPicPr>
        <p:blipFill>
          <a:blip r:embed="rId6"/>
          <a:stretch>
            <a:fillRect/>
          </a:stretch>
        </p:blipFill>
        <p:spPr>
          <a:xfrm>
            <a:off x="252152" y="4156833"/>
            <a:ext cx="5843847" cy="2309213"/>
          </a:xfrm>
          <a:prstGeom prst="rect">
            <a:avLst/>
          </a:prstGeom>
          <a:ln>
            <a:solidFill>
              <a:schemeClr val="accent6"/>
            </a:solidFill>
          </a:ln>
          <a:effectLst>
            <a:outerShdw blurRad="50800" dist="38100" dir="2700000" algn="tl" rotWithShape="0">
              <a:prstClr val="black">
                <a:alpha val="40000"/>
              </a:prstClr>
            </a:outerShdw>
          </a:effectLst>
        </p:spPr>
      </p:pic>
      <p:sp>
        <p:nvSpPr>
          <p:cNvPr id="25" name="Rectangle: Rounded Corners 24">
            <a:extLst>
              <a:ext uri="{FF2B5EF4-FFF2-40B4-BE49-F238E27FC236}">
                <a16:creationId xmlns:a16="http://schemas.microsoft.com/office/drawing/2014/main" id="{AD527BD7-A69B-4DF3-8495-1C5741317F3B}"/>
              </a:ext>
            </a:extLst>
          </p:cNvPr>
          <p:cNvSpPr/>
          <p:nvPr/>
        </p:nvSpPr>
        <p:spPr>
          <a:xfrm>
            <a:off x="4705765" y="1382098"/>
            <a:ext cx="2365806" cy="208858"/>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FAGL_FCV: Revaluation – Output Log</a:t>
            </a:r>
          </a:p>
        </p:txBody>
      </p:sp>
      <p:sp>
        <p:nvSpPr>
          <p:cNvPr id="30" name="Rectangle: Rounded Corners 29">
            <a:extLst>
              <a:ext uri="{FF2B5EF4-FFF2-40B4-BE49-F238E27FC236}">
                <a16:creationId xmlns:a16="http://schemas.microsoft.com/office/drawing/2014/main" id="{DB422197-7A5B-41C9-9DF7-2695DA209E24}"/>
              </a:ext>
            </a:extLst>
          </p:cNvPr>
          <p:cNvSpPr/>
          <p:nvPr/>
        </p:nvSpPr>
        <p:spPr>
          <a:xfrm>
            <a:off x="1820488" y="1654507"/>
            <a:ext cx="448887" cy="124417"/>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2" name="Rectangle: Rounded Corners 31">
            <a:extLst>
              <a:ext uri="{FF2B5EF4-FFF2-40B4-BE49-F238E27FC236}">
                <a16:creationId xmlns:a16="http://schemas.microsoft.com/office/drawing/2014/main" id="{B5D94432-7B24-40D0-B2A1-923A563BEFFE}"/>
              </a:ext>
            </a:extLst>
          </p:cNvPr>
          <p:cNvSpPr/>
          <p:nvPr/>
        </p:nvSpPr>
        <p:spPr>
          <a:xfrm>
            <a:off x="2319253" y="1657278"/>
            <a:ext cx="448887" cy="124417"/>
          </a:xfrm>
          <a:prstGeom prst="roundRect">
            <a:avLst>
              <a:gd name="adj" fmla="val 4268"/>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9" name="Connector: Elbow 8">
            <a:extLst>
              <a:ext uri="{FF2B5EF4-FFF2-40B4-BE49-F238E27FC236}">
                <a16:creationId xmlns:a16="http://schemas.microsoft.com/office/drawing/2014/main" id="{2DE364C4-7B0B-4B1B-BF0D-96769A182ADB}"/>
              </a:ext>
            </a:extLst>
          </p:cNvPr>
          <p:cNvCxnSpPr>
            <a:endCxn id="7" idx="0"/>
          </p:cNvCxnSpPr>
          <p:nvPr/>
        </p:nvCxnSpPr>
        <p:spPr>
          <a:xfrm rot="16200000" flipH="1">
            <a:off x="1669932" y="2652688"/>
            <a:ext cx="2377909" cy="630380"/>
          </a:xfrm>
          <a:prstGeom prst="bentConnector3">
            <a:avLst>
              <a:gd name="adj1" fmla="val 30073"/>
            </a:avLst>
          </a:prstGeom>
          <a:ln w="952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C3A5CB6B-480E-4B46-8F15-9F4DECA18077}"/>
              </a:ext>
            </a:extLst>
          </p:cNvPr>
          <p:cNvCxnSpPr>
            <a:cxnSpLocks/>
            <a:stCxn id="30" idx="0"/>
            <a:endCxn id="6" idx="0"/>
          </p:cNvCxnSpPr>
          <p:nvPr/>
        </p:nvCxnSpPr>
        <p:spPr>
          <a:xfrm rot="5400000" flipH="1" flipV="1">
            <a:off x="5602535" y="-2175504"/>
            <a:ext cx="272409" cy="7387615"/>
          </a:xfrm>
          <a:prstGeom prst="bentConnector3">
            <a:avLst>
              <a:gd name="adj1" fmla="val 15035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D867C01B-4A10-416A-8D67-2A280BE3AA30}"/>
              </a:ext>
            </a:extLst>
          </p:cNvPr>
          <p:cNvSpPr/>
          <p:nvPr/>
        </p:nvSpPr>
        <p:spPr>
          <a:xfrm>
            <a:off x="6251170" y="5260381"/>
            <a:ext cx="5688678" cy="1323439"/>
          </a:xfrm>
          <a:prstGeom prst="rect">
            <a:avLst/>
          </a:prstGeom>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a:solidFill>
                  <a:srgbClr val="000000"/>
                </a:solidFill>
                <a:latin typeface="Georgia" panose="02040502050405020303" pitchFamily="18" charset="0"/>
              </a:rPr>
              <a:t>You should review and save the output log of FAGL_FCV if you execute it outside of FCC.</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Postings log allows you to see the document posted (Revaluation and Reversal), which even allows you to Display the document directly from this screen if needed.</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a:solidFill>
                  <a:srgbClr val="000000"/>
                </a:solidFill>
                <a:latin typeface="Georgia" panose="02040502050405020303" pitchFamily="18" charset="0"/>
              </a:rPr>
              <a:t>Messages are important especially when there are errors. You should Test Run this transaction to prevent critical errors during update run.</a:t>
            </a:r>
            <a:endPar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38" name="Rectangle: Rounded Corners 37">
            <a:extLst>
              <a:ext uri="{FF2B5EF4-FFF2-40B4-BE49-F238E27FC236}">
                <a16:creationId xmlns:a16="http://schemas.microsoft.com/office/drawing/2014/main" id="{60BA275B-3AA0-4AAB-95D4-1D1DE2A81391}"/>
              </a:ext>
            </a:extLst>
          </p:cNvPr>
          <p:cNvSpPr/>
          <p:nvPr/>
        </p:nvSpPr>
        <p:spPr>
          <a:xfrm>
            <a:off x="7842576" y="2880730"/>
            <a:ext cx="378712" cy="152117"/>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9" name="Rectangle: Rounded Corners 38">
            <a:extLst>
              <a:ext uri="{FF2B5EF4-FFF2-40B4-BE49-F238E27FC236}">
                <a16:creationId xmlns:a16="http://schemas.microsoft.com/office/drawing/2014/main" id="{6C55EB17-D6AC-4D26-ABDF-14490468E2FF}"/>
              </a:ext>
            </a:extLst>
          </p:cNvPr>
          <p:cNvSpPr/>
          <p:nvPr/>
        </p:nvSpPr>
        <p:spPr>
          <a:xfrm>
            <a:off x="8740458" y="1768974"/>
            <a:ext cx="567240" cy="151265"/>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78664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Currency Revaluation: Posting Example</a:t>
            </a:r>
          </a:p>
        </p:txBody>
      </p:sp>
      <p:pic>
        <p:nvPicPr>
          <p:cNvPr id="6" name="Picture 5">
            <a:extLst>
              <a:ext uri="{FF2B5EF4-FFF2-40B4-BE49-F238E27FC236}">
                <a16:creationId xmlns:a16="http://schemas.microsoft.com/office/drawing/2014/main" id="{B1B17EE6-207B-4848-A982-78205A0AE15B}"/>
              </a:ext>
            </a:extLst>
          </p:cNvPr>
          <p:cNvPicPr>
            <a:picLocks noChangeAspect="1"/>
          </p:cNvPicPr>
          <p:nvPr/>
        </p:nvPicPr>
        <p:blipFill>
          <a:blip r:embed="rId3"/>
          <a:stretch>
            <a:fillRect/>
          </a:stretch>
        </p:blipFill>
        <p:spPr>
          <a:xfrm>
            <a:off x="332509" y="1363840"/>
            <a:ext cx="11746589" cy="4718594"/>
          </a:xfrm>
          <a:prstGeom prst="rect">
            <a:avLst/>
          </a:prstGeom>
          <a:effectLst>
            <a:outerShdw blurRad="50800" dist="38100" dir="2700000" algn="tl" rotWithShape="0">
              <a:prstClr val="black">
                <a:alpha val="40000"/>
              </a:prstClr>
            </a:outerShdw>
          </a:effectLst>
        </p:spPr>
      </p:pic>
      <p:sp>
        <p:nvSpPr>
          <p:cNvPr id="7" name="Rectangle 6">
            <a:extLst>
              <a:ext uri="{FF2B5EF4-FFF2-40B4-BE49-F238E27FC236}">
                <a16:creationId xmlns:a16="http://schemas.microsoft.com/office/drawing/2014/main" id="{79A8EB94-B2D6-4C8D-A87E-A781BD5DA790}"/>
              </a:ext>
            </a:extLst>
          </p:cNvPr>
          <p:cNvSpPr/>
          <p:nvPr/>
        </p:nvSpPr>
        <p:spPr>
          <a:xfrm>
            <a:off x="5273964" y="3288145"/>
            <a:ext cx="1154545" cy="212437"/>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80D3E2CF-D6F6-4B58-8290-BDBD278FBAD2}"/>
              </a:ext>
            </a:extLst>
          </p:cNvPr>
          <p:cNvSpPr/>
          <p:nvPr/>
        </p:nvSpPr>
        <p:spPr>
          <a:xfrm>
            <a:off x="8229600" y="5606473"/>
            <a:ext cx="2438400" cy="475961"/>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1AF2E8AF-DC0A-4C77-A0BD-452CECB1BEC8}"/>
              </a:ext>
            </a:extLst>
          </p:cNvPr>
          <p:cNvSpPr/>
          <p:nvPr/>
        </p:nvSpPr>
        <p:spPr>
          <a:xfrm>
            <a:off x="8340436" y="4221018"/>
            <a:ext cx="1579419" cy="221673"/>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CC7886CB-8C2B-44EF-83A6-F4563C7AE1F6}"/>
              </a:ext>
            </a:extLst>
          </p:cNvPr>
          <p:cNvSpPr/>
          <p:nvPr/>
        </p:nvSpPr>
        <p:spPr>
          <a:xfrm>
            <a:off x="1191491" y="4987636"/>
            <a:ext cx="1884218" cy="434109"/>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6ED2B03B-AF0A-4296-8B94-A823D06EC991}"/>
              </a:ext>
            </a:extLst>
          </p:cNvPr>
          <p:cNvSpPr/>
          <p:nvPr/>
        </p:nvSpPr>
        <p:spPr>
          <a:xfrm>
            <a:off x="8109527" y="2419927"/>
            <a:ext cx="2179782" cy="217055"/>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Speech Bubble: Rectangle 11">
            <a:extLst>
              <a:ext uri="{FF2B5EF4-FFF2-40B4-BE49-F238E27FC236}">
                <a16:creationId xmlns:a16="http://schemas.microsoft.com/office/drawing/2014/main" id="{D33FBEA5-18FE-44BA-99C7-93FDB1BB0EDB}"/>
              </a:ext>
            </a:extLst>
          </p:cNvPr>
          <p:cNvSpPr/>
          <p:nvPr/>
        </p:nvSpPr>
        <p:spPr>
          <a:xfrm>
            <a:off x="7225205" y="6142470"/>
            <a:ext cx="4252225" cy="683492"/>
          </a:xfrm>
          <a:prstGeom prst="wedgeRectCallout">
            <a:avLst>
              <a:gd name="adj1" fmla="val -8528"/>
              <a:gd name="adj2" fmla="val -68173"/>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t>Revaluation is </a:t>
            </a:r>
            <a:r>
              <a:rPr lang="en-GB" sz="1050" b="1" u="sng"/>
              <a:t>executed for each accounting principle separately </a:t>
            </a:r>
            <a:r>
              <a:rPr lang="en-GB" sz="1050" b="1"/>
              <a:t>using different valuation areas (explained in Parallel Ledger course). Postings are made to the corresponding ledger only.</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10</a:t>
            </a:fld>
            <a:endParaRPr lang="en-GB"/>
          </a:p>
        </p:txBody>
      </p:sp>
      <p:sp>
        <p:nvSpPr>
          <p:cNvPr id="13" name="Speech Bubble: Rectangle 12">
            <a:extLst>
              <a:ext uri="{FF2B5EF4-FFF2-40B4-BE49-F238E27FC236}">
                <a16:creationId xmlns:a16="http://schemas.microsoft.com/office/drawing/2014/main" id="{8AE06E3C-B475-46C1-86A8-611FB8556D34}"/>
              </a:ext>
            </a:extLst>
          </p:cNvPr>
          <p:cNvSpPr/>
          <p:nvPr/>
        </p:nvSpPr>
        <p:spPr>
          <a:xfrm>
            <a:off x="7830196" y="4710545"/>
            <a:ext cx="2837804" cy="612594"/>
          </a:xfrm>
          <a:prstGeom prst="wedgeRectCallout">
            <a:avLst>
              <a:gd name="adj1" fmla="val 22950"/>
              <a:gd name="adj2" fmla="val -95633"/>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t>Revaluation task is built in FCC, which is automatically triggered. Entities can display the job log and spool list in FCC.</a:t>
            </a:r>
          </a:p>
        </p:txBody>
      </p:sp>
      <p:sp>
        <p:nvSpPr>
          <p:cNvPr id="14" name="Speech Bubble: Rectangle 13">
            <a:extLst>
              <a:ext uri="{FF2B5EF4-FFF2-40B4-BE49-F238E27FC236}">
                <a16:creationId xmlns:a16="http://schemas.microsoft.com/office/drawing/2014/main" id="{B2FFC0BC-11C4-4B53-978B-8C96D0AF45A3}"/>
              </a:ext>
            </a:extLst>
          </p:cNvPr>
          <p:cNvSpPr/>
          <p:nvPr/>
        </p:nvSpPr>
        <p:spPr>
          <a:xfrm>
            <a:off x="10492509" y="2113630"/>
            <a:ext cx="1475440" cy="612594"/>
          </a:xfrm>
          <a:prstGeom prst="wedgeRectCallout">
            <a:avLst>
              <a:gd name="adj1" fmla="val -74223"/>
              <a:gd name="adj2" fmla="val 32526"/>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t>Revaluation posting uses Doc. Type SR, same as in ECC.</a:t>
            </a:r>
          </a:p>
        </p:txBody>
      </p:sp>
      <p:sp>
        <p:nvSpPr>
          <p:cNvPr id="15" name="Speech Bubble: Rectangle 14">
            <a:extLst>
              <a:ext uri="{FF2B5EF4-FFF2-40B4-BE49-F238E27FC236}">
                <a16:creationId xmlns:a16="http://schemas.microsoft.com/office/drawing/2014/main" id="{931A18C6-311E-4101-A734-11AAD23CB542}"/>
              </a:ext>
            </a:extLst>
          </p:cNvPr>
          <p:cNvSpPr/>
          <p:nvPr/>
        </p:nvSpPr>
        <p:spPr>
          <a:xfrm>
            <a:off x="1102078" y="5712924"/>
            <a:ext cx="3537299" cy="1069071"/>
          </a:xfrm>
          <a:prstGeom prst="wedgeRectCallout">
            <a:avLst>
              <a:gd name="adj1" fmla="val -11627"/>
              <a:gd name="adj2" fmla="val -73359"/>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t>Accounting entries on Revaluation documents are between the original account or FX adjustment accounts (for OIM, LSC and AR/AP Reconciliation accounts) and UFX Gain/Loss accounts. Refer to Currency Conversion section of Parallel Ledger course for how the values are calculated.</a:t>
            </a:r>
          </a:p>
        </p:txBody>
      </p:sp>
      <p:cxnSp>
        <p:nvCxnSpPr>
          <p:cNvPr id="19" name="Straight Connector 18">
            <a:extLst>
              <a:ext uri="{FF2B5EF4-FFF2-40B4-BE49-F238E27FC236}">
                <a16:creationId xmlns:a16="http://schemas.microsoft.com/office/drawing/2014/main" id="{0671F20C-0A48-4A0D-B6E3-C74E535E2774}"/>
              </a:ext>
            </a:extLst>
          </p:cNvPr>
          <p:cNvCxnSpPr>
            <a:stCxn id="7" idx="3"/>
            <a:endCxn id="8" idx="1"/>
          </p:cNvCxnSpPr>
          <p:nvPr/>
        </p:nvCxnSpPr>
        <p:spPr>
          <a:xfrm>
            <a:off x="6428509" y="3394364"/>
            <a:ext cx="1801091" cy="2450090"/>
          </a:xfrm>
          <a:prstGeom prst="line">
            <a:avLst/>
          </a:prstGeom>
          <a:ln w="9525">
            <a:solidFill>
              <a:srgbClr val="FF0000"/>
            </a:solidFill>
            <a:tailEnd type="non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5668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a:xfrm>
            <a:off x="1511277" y="210344"/>
            <a:ext cx="9672538" cy="984247"/>
          </a:xfrm>
        </p:spPr>
        <p:txBody>
          <a:bodyPr/>
          <a:lstStyle/>
          <a:p>
            <a:r>
              <a:rPr lang="en-GB"/>
              <a:t>Currency Revaluation: FX Adjustment Accounts</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11</a:t>
            </a:fld>
            <a:endParaRPr lang="en-GB"/>
          </a:p>
        </p:txBody>
      </p:sp>
      <p:pic>
        <p:nvPicPr>
          <p:cNvPr id="2" name="Picture 1">
            <a:extLst>
              <a:ext uri="{FF2B5EF4-FFF2-40B4-BE49-F238E27FC236}">
                <a16:creationId xmlns:a16="http://schemas.microsoft.com/office/drawing/2014/main" id="{090B9234-C33B-4B4F-AEF2-027AFF94B187}"/>
              </a:ext>
            </a:extLst>
          </p:cNvPr>
          <p:cNvPicPr>
            <a:picLocks noChangeAspect="1"/>
          </p:cNvPicPr>
          <p:nvPr/>
        </p:nvPicPr>
        <p:blipFill>
          <a:blip r:embed="rId3"/>
          <a:stretch>
            <a:fillRect/>
          </a:stretch>
        </p:blipFill>
        <p:spPr>
          <a:xfrm>
            <a:off x="303796" y="2033966"/>
            <a:ext cx="4009676" cy="2654871"/>
          </a:xfrm>
          <a:prstGeom prst="rect">
            <a:avLst/>
          </a:prstGeom>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E9392EEA-E78F-432B-BD90-B17787C658A2}"/>
              </a:ext>
            </a:extLst>
          </p:cNvPr>
          <p:cNvPicPr>
            <a:picLocks noChangeAspect="1"/>
          </p:cNvPicPr>
          <p:nvPr/>
        </p:nvPicPr>
        <p:blipFill>
          <a:blip r:embed="rId4"/>
          <a:stretch>
            <a:fillRect/>
          </a:stretch>
        </p:blipFill>
        <p:spPr>
          <a:xfrm>
            <a:off x="3616455" y="2795870"/>
            <a:ext cx="4518307" cy="2273919"/>
          </a:xfrm>
          <a:prstGeom prst="rect">
            <a:avLst/>
          </a:prstGeom>
          <a:effectLst>
            <a:outerShdw blurRad="50800" dist="38100" dir="2700000" algn="tl" rotWithShape="0">
              <a:prstClr val="black">
                <a:alpha val="40000"/>
              </a:prstClr>
            </a:outerShdw>
          </a:effectLst>
        </p:spPr>
      </p:pic>
      <p:pic>
        <p:nvPicPr>
          <p:cNvPr id="16" name="Picture 15">
            <a:extLst>
              <a:ext uri="{FF2B5EF4-FFF2-40B4-BE49-F238E27FC236}">
                <a16:creationId xmlns:a16="http://schemas.microsoft.com/office/drawing/2014/main" id="{1508B595-4728-4659-B5A9-00A2882CB95C}"/>
              </a:ext>
            </a:extLst>
          </p:cNvPr>
          <p:cNvPicPr>
            <a:picLocks noChangeAspect="1"/>
          </p:cNvPicPr>
          <p:nvPr/>
        </p:nvPicPr>
        <p:blipFill>
          <a:blip r:embed="rId5"/>
          <a:stretch>
            <a:fillRect/>
          </a:stretch>
        </p:blipFill>
        <p:spPr>
          <a:xfrm>
            <a:off x="6652904" y="3518853"/>
            <a:ext cx="3513400" cy="3231253"/>
          </a:xfrm>
          <a:prstGeom prst="rect">
            <a:avLst/>
          </a:prstGeom>
          <a:effectLst>
            <a:outerShdw blurRad="50800" dist="38100" dir="2700000" algn="tl" rotWithShape="0">
              <a:prstClr val="black">
                <a:alpha val="40000"/>
              </a:prstClr>
            </a:outerShdw>
          </a:effectLst>
        </p:spPr>
      </p:pic>
      <p:sp>
        <p:nvSpPr>
          <p:cNvPr id="18" name="TextBox 17">
            <a:extLst>
              <a:ext uri="{FF2B5EF4-FFF2-40B4-BE49-F238E27FC236}">
                <a16:creationId xmlns:a16="http://schemas.microsoft.com/office/drawing/2014/main" id="{54E6E96D-604B-4728-ADA7-E4709BFC1901}"/>
              </a:ext>
            </a:extLst>
          </p:cNvPr>
          <p:cNvSpPr txBox="1"/>
          <p:nvPr/>
        </p:nvSpPr>
        <p:spPr>
          <a:xfrm>
            <a:off x="212436" y="6422171"/>
            <a:ext cx="5523968" cy="413651"/>
          </a:xfrm>
          <a:prstGeom prst="rect">
            <a:avLst/>
          </a:prstGeom>
          <a:solidFill>
            <a:schemeClr val="bg1"/>
          </a:solidFill>
        </p:spPr>
        <p:txBody>
          <a:bodyPr wrap="square" lIns="0" tIns="0" rIns="252000" bIns="0" rtlCol="0">
            <a:noAutofit/>
          </a:bodyPr>
          <a:lstStyle/>
          <a:p>
            <a:pPr algn="l"/>
            <a:r>
              <a:rPr lang="en-US" sz="900" i="1" baseline="30000" dirty="0">
                <a:solidFill>
                  <a:srgbClr val="FF0000"/>
                </a:solidFill>
              </a:rPr>
              <a:t>1) </a:t>
            </a:r>
            <a:r>
              <a:rPr lang="en-US" sz="900" i="1" dirty="0"/>
              <a:t>This is not a routine activity for end users. Authorized GBS/JTBC G/L users may want to perform this check during testing (e.g. test a newly created G/L account) or investigate any posting errors during period end Currency Revaluation. R2R CC should be contacted for any queries.</a:t>
            </a:r>
          </a:p>
        </p:txBody>
      </p:sp>
      <p:sp>
        <p:nvSpPr>
          <p:cNvPr id="20" name="Rectangle: Rounded Corners 19">
            <a:extLst>
              <a:ext uri="{FF2B5EF4-FFF2-40B4-BE49-F238E27FC236}">
                <a16:creationId xmlns:a16="http://schemas.microsoft.com/office/drawing/2014/main" id="{E64C8652-4F43-40F6-8B41-E45E063CC33E}"/>
              </a:ext>
            </a:extLst>
          </p:cNvPr>
          <p:cNvSpPr/>
          <p:nvPr/>
        </p:nvSpPr>
        <p:spPr>
          <a:xfrm>
            <a:off x="306558" y="1356910"/>
            <a:ext cx="11705771" cy="599586"/>
          </a:xfrm>
          <a:prstGeom prst="roundRect">
            <a:avLst>
              <a:gd name="adj" fmla="val 8611"/>
            </a:avLst>
          </a:prstGeom>
          <a:gradFill>
            <a:gsLst>
              <a:gs pos="0">
                <a:schemeClr val="accent1">
                  <a:lumMod val="5000"/>
                  <a:lumOff val="95000"/>
                </a:schemeClr>
              </a:gs>
              <a:gs pos="74000">
                <a:schemeClr val="accent1"/>
              </a:gs>
              <a:gs pos="83000">
                <a:schemeClr val="accent1"/>
              </a:gs>
              <a:gs pos="100000">
                <a:schemeClr val="accent1">
                  <a:lumMod val="75000"/>
                </a:schemeClr>
              </a:gs>
            </a:gsLst>
            <a:lin ang="5400000" scaled="1"/>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21" name="Graphic 20" descr="Lightbulb and gear">
            <a:extLst>
              <a:ext uri="{FF2B5EF4-FFF2-40B4-BE49-F238E27FC236}">
                <a16:creationId xmlns:a16="http://schemas.microsoft.com/office/drawing/2014/main" id="{ECE43C0C-716E-40BE-8359-E69B3961A56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5044" y="1376848"/>
            <a:ext cx="377268" cy="377268"/>
          </a:xfrm>
          <a:prstGeom prst="rect">
            <a:avLst/>
          </a:prstGeom>
        </p:spPr>
      </p:pic>
      <p:sp>
        <p:nvSpPr>
          <p:cNvPr id="22" name="TextBox 21">
            <a:extLst>
              <a:ext uri="{FF2B5EF4-FFF2-40B4-BE49-F238E27FC236}">
                <a16:creationId xmlns:a16="http://schemas.microsoft.com/office/drawing/2014/main" id="{E5E48DFB-59A2-4EFF-ABED-327801F8DEED}"/>
              </a:ext>
            </a:extLst>
          </p:cNvPr>
          <p:cNvSpPr txBox="1"/>
          <p:nvPr/>
        </p:nvSpPr>
        <p:spPr>
          <a:xfrm>
            <a:off x="700798" y="1375072"/>
            <a:ext cx="11202102" cy="500914"/>
          </a:xfrm>
          <a:prstGeom prst="rect">
            <a:avLst/>
          </a:prstGeom>
          <a:noFill/>
        </p:spPr>
        <p:txBody>
          <a:bodyPr wrap="square" lIns="0" tIns="0" rIns="0" bIns="0" rtlCol="0">
            <a:noAutofit/>
          </a:bodyPr>
          <a:lstStyle/>
          <a:p>
            <a:pPr lvl="0">
              <a:spcBef>
                <a:spcPts val="200"/>
              </a:spcBef>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In S/4 the FX Adjustment Accounts for Revaluation postings are still defined in </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OBA1</a:t>
            </a:r>
            <a:r>
              <a:rPr lang="en-GB" sz="1200" i="1" dirty="0">
                <a:solidFill>
                  <a:srgbClr val="000000"/>
                </a:solidFill>
                <a:latin typeface="Georgia" panose="02040502050405020303" pitchFamily="18" charset="0"/>
              </a:rPr>
              <a:t>. The authorized GBS/JTBC users can access this T-Code to check the corresponding FX Adjustment accounts when needed. </a:t>
            </a:r>
            <a:r>
              <a:rPr lang="en-GB" sz="1200" i="1" baseline="30000" dirty="0">
                <a:solidFill>
                  <a:srgbClr val="FF0000"/>
                </a:solidFill>
                <a:latin typeface="Georgia" panose="02040502050405020303" pitchFamily="18" charset="0"/>
              </a:rPr>
              <a:t>1)  </a:t>
            </a:r>
            <a:r>
              <a:rPr lang="en-GB" sz="1200" i="1" dirty="0">
                <a:solidFill>
                  <a:srgbClr val="000000"/>
                </a:solidFill>
                <a:latin typeface="Georgia" panose="02040502050405020303" pitchFamily="18" charset="0"/>
              </a:rPr>
              <a:t>Only AP/AR Reconciliation accounts and Open Item Managed (OIM or LSC) accounts required FX Adjustment accounts.</a:t>
            </a:r>
            <a:r>
              <a:rPr lang="en-GB" sz="1200" i="1" baseline="30000" dirty="0">
                <a:solidFill>
                  <a:srgbClr val="FF0000"/>
                </a:solidFill>
                <a:latin typeface="Georgia" panose="02040502050405020303" pitchFamily="18" charset="0"/>
              </a:rPr>
              <a:t> 2)</a:t>
            </a:r>
            <a:r>
              <a:rPr lang="en-GB" sz="1200" i="1" dirty="0">
                <a:solidFill>
                  <a:srgbClr val="000000"/>
                </a:solidFill>
                <a:latin typeface="Georgia" panose="02040502050405020303" pitchFamily="18" charset="0"/>
              </a:rPr>
              <a:t> Other Balance Sheet Accounts included in Revaluation post the Revaluation results to themselves against UFX (Unrealised Foreign Exchange ) gain/loss accounts. </a:t>
            </a:r>
            <a:endParaRPr kumimoji="0" lang="en-GB" sz="1200" b="0" i="1" u="none" strike="noStrike" kern="1200" cap="none" spc="0" normalizeH="0" baseline="30000" noProof="0" dirty="0">
              <a:ln>
                <a:noFill/>
              </a:ln>
              <a:solidFill>
                <a:srgbClr val="FF0000"/>
              </a:solidFill>
              <a:effectLst/>
              <a:uLnTx/>
              <a:uFillTx/>
              <a:latin typeface="Georgia" panose="02040502050405020303" pitchFamily="18" charset="0"/>
              <a:ea typeface="+mn-ea"/>
              <a:cs typeface="+mn-cs"/>
            </a:endParaRP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endPar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p:txBody>
      </p:sp>
      <p:sp>
        <p:nvSpPr>
          <p:cNvPr id="23" name="Rectangle: Rounded Corners 22">
            <a:extLst>
              <a:ext uri="{FF2B5EF4-FFF2-40B4-BE49-F238E27FC236}">
                <a16:creationId xmlns:a16="http://schemas.microsoft.com/office/drawing/2014/main" id="{9BC0B737-CC6E-4E28-AF9B-148D96766F69}"/>
              </a:ext>
            </a:extLst>
          </p:cNvPr>
          <p:cNvSpPr/>
          <p:nvPr/>
        </p:nvSpPr>
        <p:spPr>
          <a:xfrm>
            <a:off x="309488" y="1990733"/>
            <a:ext cx="2581494" cy="224930"/>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OBA1: Revaluation Posting Configuration</a:t>
            </a:r>
          </a:p>
        </p:txBody>
      </p:sp>
      <p:sp>
        <p:nvSpPr>
          <p:cNvPr id="17" name="Rectangle: Rounded Corners 16">
            <a:extLst>
              <a:ext uri="{FF2B5EF4-FFF2-40B4-BE49-F238E27FC236}">
                <a16:creationId xmlns:a16="http://schemas.microsoft.com/office/drawing/2014/main" id="{D1465CAD-7F71-4203-84A4-6AB1A103A7F8}"/>
              </a:ext>
            </a:extLst>
          </p:cNvPr>
          <p:cNvSpPr/>
          <p:nvPr/>
        </p:nvSpPr>
        <p:spPr>
          <a:xfrm>
            <a:off x="452582" y="3888509"/>
            <a:ext cx="2438400" cy="129797"/>
          </a:xfrm>
          <a:prstGeom prst="round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CFC9A5CD-7B5C-4906-9918-637D74C6A649}"/>
              </a:ext>
            </a:extLst>
          </p:cNvPr>
          <p:cNvSpPr/>
          <p:nvPr/>
        </p:nvSpPr>
        <p:spPr>
          <a:xfrm>
            <a:off x="3740727" y="4470400"/>
            <a:ext cx="1708728" cy="138545"/>
          </a:xfrm>
          <a:prstGeom prst="round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C19E184A-565C-48BD-ACB8-CBCEB118E0BC}"/>
              </a:ext>
            </a:extLst>
          </p:cNvPr>
          <p:cNvCxnSpPr>
            <a:stCxn id="17" idx="3"/>
            <a:endCxn id="25" idx="1"/>
          </p:cNvCxnSpPr>
          <p:nvPr/>
        </p:nvCxnSpPr>
        <p:spPr>
          <a:xfrm>
            <a:off x="2890982" y="3953408"/>
            <a:ext cx="849745" cy="586265"/>
          </a:xfrm>
          <a:prstGeom prst="straightConnector1">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8" name="Speech Bubble: Rectangle 27">
            <a:extLst>
              <a:ext uri="{FF2B5EF4-FFF2-40B4-BE49-F238E27FC236}">
                <a16:creationId xmlns:a16="http://schemas.microsoft.com/office/drawing/2014/main" id="{BF7AAA3A-4439-4C83-B577-045191300C4E}"/>
              </a:ext>
            </a:extLst>
          </p:cNvPr>
          <p:cNvSpPr/>
          <p:nvPr/>
        </p:nvSpPr>
        <p:spPr>
          <a:xfrm>
            <a:off x="1847805" y="5273245"/>
            <a:ext cx="3537299" cy="1069071"/>
          </a:xfrm>
          <a:prstGeom prst="wedgeRectCallout">
            <a:avLst>
              <a:gd name="adj1" fmla="val 27801"/>
              <a:gd name="adj2" fmla="val -105326"/>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t>Revaluation is only relevant to currency type 10 – LC1.</a:t>
            </a:r>
          </a:p>
          <a:p>
            <a:r>
              <a:rPr lang="en-GB" sz="1050" b="1"/>
              <a:t>Translation posting configuration is done separately in S/4 therefore the currency type 30 and 31 configurations listed in OBA1 is not relevant any more.</a:t>
            </a:r>
          </a:p>
        </p:txBody>
      </p:sp>
      <p:cxnSp>
        <p:nvCxnSpPr>
          <p:cNvPr id="30" name="Straight Arrow Connector 29">
            <a:extLst>
              <a:ext uri="{FF2B5EF4-FFF2-40B4-BE49-F238E27FC236}">
                <a16:creationId xmlns:a16="http://schemas.microsoft.com/office/drawing/2014/main" id="{CC884AF6-0E19-4108-BCAC-21E49C1B69EF}"/>
              </a:ext>
            </a:extLst>
          </p:cNvPr>
          <p:cNvCxnSpPr>
            <a:stCxn id="25" idx="3"/>
          </p:cNvCxnSpPr>
          <p:nvPr/>
        </p:nvCxnSpPr>
        <p:spPr>
          <a:xfrm>
            <a:off x="5449455" y="4539673"/>
            <a:ext cx="1671781" cy="2018145"/>
          </a:xfrm>
          <a:prstGeom prst="straightConnector1">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130DE38F-CA31-4779-990B-26F15A4C32C1}"/>
              </a:ext>
            </a:extLst>
          </p:cNvPr>
          <p:cNvSpPr txBox="1"/>
          <p:nvPr/>
        </p:nvSpPr>
        <p:spPr>
          <a:xfrm>
            <a:off x="10438290" y="5928665"/>
            <a:ext cx="1574039" cy="413651"/>
          </a:xfrm>
          <a:prstGeom prst="rect">
            <a:avLst/>
          </a:prstGeom>
          <a:solidFill>
            <a:schemeClr val="bg1"/>
          </a:solidFill>
        </p:spPr>
        <p:txBody>
          <a:bodyPr wrap="square" lIns="0" tIns="0" rIns="252000" bIns="0" rtlCol="0">
            <a:noAutofit/>
          </a:bodyPr>
          <a:lstStyle/>
          <a:p>
            <a:pPr algn="l"/>
            <a:r>
              <a:rPr lang="en-US" sz="900" i="1" baseline="30000">
                <a:solidFill>
                  <a:srgbClr val="FF0000"/>
                </a:solidFill>
              </a:rPr>
              <a:t>2) </a:t>
            </a:r>
            <a:r>
              <a:rPr lang="en-US" sz="900" i="1"/>
              <a:t>Refer to Chart of Accounts training materials.</a:t>
            </a:r>
          </a:p>
        </p:txBody>
      </p:sp>
    </p:spTree>
    <p:extLst>
      <p:ext uri="{BB962C8B-B14F-4D97-AF65-F5344CB8AC3E}">
        <p14:creationId xmlns:p14="http://schemas.microsoft.com/office/powerpoint/2010/main" val="2707993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0000000-0008-0000-0C00-000003000000}"/>
              </a:ext>
              <a:ext uri="{147F2762-F138-4A5C-976F-8EAC2B608ADB}">
                <a16:predDERef xmlns:a16="http://schemas.microsoft.com/office/drawing/2014/main" pred="{8FF05171-39C1-26D9-7722-6F8BB56FFC2B}"/>
              </a:ext>
            </a:extLst>
          </p:cNvPr>
          <p:cNvPicPr>
            <a:picLocks noChangeAspect="1"/>
          </p:cNvPicPr>
          <p:nvPr/>
        </p:nvPicPr>
        <p:blipFill>
          <a:blip r:embed="rId3"/>
          <a:stretch>
            <a:fillRect/>
          </a:stretch>
        </p:blipFill>
        <p:spPr>
          <a:xfrm>
            <a:off x="5962638" y="5066287"/>
            <a:ext cx="5562185" cy="1537697"/>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00000000-0008-0000-0C00-000002000000}"/>
              </a:ext>
            </a:extLst>
          </p:cNvPr>
          <p:cNvPicPr>
            <a:picLocks noChangeAspect="1"/>
          </p:cNvPicPr>
          <p:nvPr/>
        </p:nvPicPr>
        <p:blipFill>
          <a:blip r:embed="rId4"/>
          <a:stretch>
            <a:fillRect/>
          </a:stretch>
        </p:blipFill>
        <p:spPr>
          <a:xfrm>
            <a:off x="515939" y="5066287"/>
            <a:ext cx="4978147" cy="1480516"/>
          </a:xfrm>
          <a:prstGeom prst="rect">
            <a:avLst/>
          </a:prstGeom>
          <a:effectLst>
            <a:outerShdw blurRad="63500" sx="102000" sy="102000" algn="ctr" rotWithShape="0">
              <a:prstClr val="black">
                <a:alpha val="40000"/>
              </a:prstClr>
            </a:outerShdw>
          </a:effectLst>
        </p:spPr>
      </p:pic>
      <p:sp>
        <p:nvSpPr>
          <p:cNvPr id="3" name="Slide Number Placeholder 2">
            <a:extLst>
              <a:ext uri="{FF2B5EF4-FFF2-40B4-BE49-F238E27FC236}">
                <a16:creationId xmlns:a16="http://schemas.microsoft.com/office/drawing/2014/main" id="{D6F24A8E-1191-B58C-C7F7-A6DAA8B9E888}"/>
              </a:ext>
            </a:extLst>
          </p:cNvPr>
          <p:cNvSpPr>
            <a:spLocks noGrp="1"/>
          </p:cNvSpPr>
          <p:nvPr>
            <p:ph type="sldNum" sz="quarter" idx="12"/>
          </p:nvPr>
        </p:nvSpPr>
        <p:spPr/>
        <p:txBody>
          <a:bodyPr/>
          <a:lstStyle/>
          <a:p>
            <a:fld id="{F4C94289-3309-4C35-850A-56FD49B3E346}" type="slidenum">
              <a:rPr lang="en-GB" smtClean="0"/>
              <a:t>12</a:t>
            </a:fld>
            <a:endParaRPr lang="en-GB"/>
          </a:p>
        </p:txBody>
      </p:sp>
      <p:sp>
        <p:nvSpPr>
          <p:cNvPr id="4" name="Title 3">
            <a:extLst>
              <a:ext uri="{FF2B5EF4-FFF2-40B4-BE49-F238E27FC236}">
                <a16:creationId xmlns:a16="http://schemas.microsoft.com/office/drawing/2014/main" id="{D70DFC20-DE46-45FB-9E38-039F9C02A5ED}"/>
              </a:ext>
            </a:extLst>
          </p:cNvPr>
          <p:cNvSpPr>
            <a:spLocks noGrp="1"/>
          </p:cNvSpPr>
          <p:nvPr>
            <p:ph type="title"/>
          </p:nvPr>
        </p:nvSpPr>
        <p:spPr/>
        <p:txBody>
          <a:bodyPr/>
          <a:lstStyle/>
          <a:p>
            <a:r>
              <a:rPr lang="en-GB" dirty="0"/>
              <a:t>Currency Revaluation - </a:t>
            </a:r>
            <a:r>
              <a:rPr lang="en-GB" cap="none" dirty="0"/>
              <a:t>Common Errors</a:t>
            </a:r>
            <a:endParaRPr lang="en-US" dirty="0"/>
          </a:p>
        </p:txBody>
      </p:sp>
      <p:sp>
        <p:nvSpPr>
          <p:cNvPr id="12" name="Rectangle 11">
            <a:extLst>
              <a:ext uri="{FF2B5EF4-FFF2-40B4-BE49-F238E27FC236}">
                <a16:creationId xmlns:a16="http://schemas.microsoft.com/office/drawing/2014/main" id="{55657E6C-0E96-1EBE-B2B7-F5BE4C5C9809}"/>
              </a:ext>
            </a:extLst>
          </p:cNvPr>
          <p:cNvSpPr/>
          <p:nvPr/>
        </p:nvSpPr>
        <p:spPr>
          <a:xfrm>
            <a:off x="515939" y="5598141"/>
            <a:ext cx="3251543" cy="3992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861C6DD-E062-6526-7A9D-9AC776226B66}"/>
              </a:ext>
            </a:extLst>
          </p:cNvPr>
          <p:cNvSpPr/>
          <p:nvPr/>
        </p:nvSpPr>
        <p:spPr>
          <a:xfrm>
            <a:off x="5962638" y="5683205"/>
            <a:ext cx="4984790" cy="353009"/>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0425E31-4F53-9C78-56A8-B9CFB998B2F5}"/>
              </a:ext>
            </a:extLst>
          </p:cNvPr>
          <p:cNvSpPr txBox="1"/>
          <p:nvPr/>
        </p:nvSpPr>
        <p:spPr>
          <a:xfrm>
            <a:off x="365590" y="1427303"/>
            <a:ext cx="11283853" cy="276999"/>
          </a:xfrm>
          <a:prstGeom prst="rect">
            <a:avLst/>
          </a:prstGeom>
          <a:ln/>
        </p:spPr>
        <p:style>
          <a:lnRef idx="0">
            <a:schemeClr val="accent3"/>
          </a:lnRef>
          <a:fillRef idx="3">
            <a:schemeClr val="accent3"/>
          </a:fillRef>
          <a:effectRef idx="3">
            <a:schemeClr val="accent3"/>
          </a:effectRef>
          <a:fontRef idx="minor">
            <a:schemeClr val="lt1"/>
          </a:fontRef>
        </p:style>
        <p:txBody>
          <a:bodyPr wrap="square">
            <a:spAutoFit/>
          </a:bodyPr>
          <a:lstStyle>
            <a:defPPr>
              <a:defRPr lang="en-US"/>
            </a:defPPr>
            <a:lvl1pPr>
              <a:defRPr sz="1200"/>
            </a:lvl1pPr>
          </a:lstStyle>
          <a:p>
            <a:r>
              <a:rPr lang="en-US" sz="1200" dirty="0"/>
              <a:t>Detail of the “Errors” can be checked from the “Output Logs”. GL Team needs to check the error and work as per the resolution mentioned below.</a:t>
            </a:r>
          </a:p>
        </p:txBody>
      </p:sp>
      <p:graphicFrame>
        <p:nvGraphicFramePr>
          <p:cNvPr id="6" name="Table 5">
            <a:extLst>
              <a:ext uri="{FF2B5EF4-FFF2-40B4-BE49-F238E27FC236}">
                <a16:creationId xmlns:a16="http://schemas.microsoft.com/office/drawing/2014/main" id="{15239CE9-1D5F-347C-FDE1-58BEF2A4493E}"/>
              </a:ext>
            </a:extLst>
          </p:cNvPr>
          <p:cNvGraphicFramePr>
            <a:graphicFrameLocks noGrp="1"/>
          </p:cNvGraphicFramePr>
          <p:nvPr/>
        </p:nvGraphicFramePr>
        <p:xfrm>
          <a:off x="365590" y="1787337"/>
          <a:ext cx="11283854" cy="3146816"/>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854694">
                  <a:extLst>
                    <a:ext uri="{9D8B030D-6E8A-4147-A177-3AD203B41FA5}">
                      <a16:colId xmlns:a16="http://schemas.microsoft.com/office/drawing/2014/main" val="9356114"/>
                    </a:ext>
                  </a:extLst>
                </a:gridCol>
                <a:gridCol w="3356365">
                  <a:extLst>
                    <a:ext uri="{9D8B030D-6E8A-4147-A177-3AD203B41FA5}">
                      <a16:colId xmlns:a16="http://schemas.microsoft.com/office/drawing/2014/main" val="1965869314"/>
                    </a:ext>
                  </a:extLst>
                </a:gridCol>
                <a:gridCol w="5072795">
                  <a:extLst>
                    <a:ext uri="{9D8B030D-6E8A-4147-A177-3AD203B41FA5}">
                      <a16:colId xmlns:a16="http://schemas.microsoft.com/office/drawing/2014/main" val="566335056"/>
                    </a:ext>
                  </a:extLst>
                </a:gridCol>
              </a:tblGrid>
              <a:tr h="292909">
                <a:tc>
                  <a:txBody>
                    <a:bodyPr/>
                    <a:lstStyle/>
                    <a:p>
                      <a:pPr algn="ctr" fontAlgn="b"/>
                      <a:r>
                        <a:rPr lang="en-US" sz="1100" b="1" i="0" u="none" strike="noStrike">
                          <a:solidFill>
                            <a:srgbClr val="000000"/>
                          </a:solidFill>
                          <a:effectLst/>
                          <a:latin typeface="+mn-lt"/>
                        </a:rPr>
                        <a:t>Errors</a:t>
                      </a:r>
                    </a:p>
                  </a:txBody>
                  <a:tcPr marL="72000" marR="6350" marT="6350" marB="0" anchor="ctr"/>
                </a:tc>
                <a:tc>
                  <a:txBody>
                    <a:bodyPr/>
                    <a:lstStyle/>
                    <a:p>
                      <a:pPr algn="ctr" fontAlgn="b"/>
                      <a:r>
                        <a:rPr lang="en-US" sz="1100" b="1" i="0" u="none" strike="noStrike">
                          <a:solidFill>
                            <a:srgbClr val="000000"/>
                          </a:solidFill>
                          <a:effectLst/>
                          <a:latin typeface="+mn-lt"/>
                        </a:rPr>
                        <a:t>Error Description (Reason)</a:t>
                      </a:r>
                    </a:p>
                  </a:txBody>
                  <a:tcPr marL="72000" marR="6350" marT="6350" marB="0" anchor="ctr"/>
                </a:tc>
                <a:tc>
                  <a:txBody>
                    <a:bodyPr/>
                    <a:lstStyle/>
                    <a:p>
                      <a:pPr algn="ctr" fontAlgn="b"/>
                      <a:r>
                        <a:rPr lang="en-US" sz="1100" b="1" i="0" u="none" strike="noStrike">
                          <a:solidFill>
                            <a:srgbClr val="000000"/>
                          </a:solidFill>
                          <a:effectLst/>
                          <a:latin typeface="+mn-lt"/>
                        </a:rPr>
                        <a:t>Resolution </a:t>
                      </a:r>
                    </a:p>
                  </a:txBody>
                  <a:tcPr marL="72000" marR="6350" marT="6350" marB="0" anchor="ctr"/>
                </a:tc>
                <a:extLst>
                  <a:ext uri="{0D108BD9-81ED-4DB2-BD59-A6C34878D82A}">
                    <a16:rowId xmlns:a16="http://schemas.microsoft.com/office/drawing/2014/main" val="409099569"/>
                  </a:ext>
                </a:extLst>
              </a:tr>
              <a:tr h="2137068">
                <a:tc>
                  <a:txBody>
                    <a:bodyPr/>
                    <a:lstStyle/>
                    <a:p>
                      <a:pPr algn="l" fontAlgn="b"/>
                      <a:r>
                        <a:rPr lang="en-US" sz="1100">
                          <a:solidFill>
                            <a:schemeClr val="tx1"/>
                          </a:solidFill>
                        </a:rPr>
                        <a:t>Account XXX is blocked for posting</a:t>
                      </a:r>
                      <a:endParaRPr lang="en-US" sz="1100" b="0" i="0" u="none" strike="noStrike">
                        <a:solidFill>
                          <a:schemeClr val="tx1"/>
                        </a:solidFill>
                        <a:effectLst/>
                        <a:latin typeface="+mn-lt"/>
                      </a:endParaRPr>
                    </a:p>
                  </a:txBody>
                  <a:tcPr marL="72000" marR="6350" marT="6350" marB="0" anchor="ctr"/>
                </a:tc>
                <a:tc>
                  <a:txBody>
                    <a:bodyPr/>
                    <a:lstStyle/>
                    <a:p>
                      <a:r>
                        <a:rPr lang="en-US" sz="1100" dirty="0">
                          <a:solidFill>
                            <a:schemeClr val="tx1"/>
                          </a:solidFill>
                        </a:rPr>
                        <a:t>This error occurs when Account is not in use and block for the posting in Company Code.</a:t>
                      </a:r>
                      <a:endParaRPr lang="en-US" sz="1100" dirty="0">
                        <a:solidFill>
                          <a:schemeClr val="tx1"/>
                        </a:solidFill>
                        <a:latin typeface="+mn-lt"/>
                      </a:endParaRPr>
                    </a:p>
                  </a:txBody>
                  <a:tcPr marL="72000" marR="6350" marT="6350" marB="0" anchor="ctr"/>
                </a:tc>
                <a:tc>
                  <a:txBody>
                    <a:bodyPr/>
                    <a:lstStyle/>
                    <a:p>
                      <a:pPr marL="0" indent="0">
                        <a:buNone/>
                      </a:pPr>
                      <a:r>
                        <a:rPr lang="en-US" sz="1100" dirty="0">
                          <a:solidFill>
                            <a:schemeClr val="tx1"/>
                          </a:solidFill>
                        </a:rPr>
                        <a:t>GL Team needs to check the balance on the account:</a:t>
                      </a:r>
                    </a:p>
                    <a:p>
                      <a:pPr marL="228600" indent="-228600">
                        <a:buFont typeface="Arial" panose="020B0604020202020204" pitchFamily="34" charset="0"/>
                        <a:buChar char="•"/>
                      </a:pPr>
                      <a:r>
                        <a:rPr lang="en-US" sz="1100" dirty="0">
                          <a:solidFill>
                            <a:schemeClr val="tx1"/>
                          </a:solidFill>
                        </a:rPr>
                        <a:t>If there is a balance and amount is not material, GL Team  contacts Market to unblock account a</a:t>
                      </a:r>
                      <a:r>
                        <a:rPr lang="ru-RU" sz="1100" dirty="0">
                          <a:solidFill>
                            <a:schemeClr val="tx1"/>
                          </a:solidFill>
                        </a:rPr>
                        <a:t>т</a:t>
                      </a:r>
                      <a:r>
                        <a:rPr lang="en-US" sz="1100" dirty="0">
                          <a:solidFill>
                            <a:schemeClr val="tx1"/>
                          </a:solidFill>
                        </a:rPr>
                        <a:t>d clean-up the balance  for next period. </a:t>
                      </a:r>
                    </a:p>
                    <a:p>
                      <a:pPr marL="228600" indent="-228600">
                        <a:buFont typeface="Arial" panose="020B0604020202020204" pitchFamily="34" charset="0"/>
                        <a:buChar char="•"/>
                      </a:pPr>
                      <a:r>
                        <a:rPr lang="en-US" sz="1100" dirty="0">
                          <a:solidFill>
                            <a:schemeClr val="tx1"/>
                          </a:solidFill>
                        </a:rPr>
                        <a:t>If amount is material, GL Team needs to ask Market to unblock account for the same period. Once account is unblocked GL Team can run the revaluation for this particular account manually. If Market is not be able to unblock account quickly then HQ journal will be required.</a:t>
                      </a:r>
                    </a:p>
                    <a:p>
                      <a:pPr marL="228600" indent="-228600">
                        <a:buFont typeface="Arial" panose="020B0604020202020204" pitchFamily="34" charset="0"/>
                        <a:buChar char="•"/>
                      </a:pPr>
                      <a:r>
                        <a:rPr lang="en-US" sz="1100" dirty="0">
                          <a:solidFill>
                            <a:schemeClr val="tx1"/>
                          </a:solidFill>
                        </a:rPr>
                        <a:t>If account balance is zero GL Team needs to check whether posting on blocked account is </a:t>
                      </a:r>
                      <a:r>
                        <a:rPr lang="en-US" sz="1100" dirty="0">
                          <a:solidFill>
                            <a:schemeClr val="tx1"/>
                          </a:solidFill>
                          <a:latin typeface="+mn-lt"/>
                        </a:rPr>
                        <a:t>zeroed out on Profit Center and/or Trading partner level. If not,  GL Team needs contact market to perform necessary corrections, otherwise the system will be picking up these items for revaluation even though on the account level the balance is zero. </a:t>
                      </a:r>
                    </a:p>
                  </a:txBody>
                  <a:tcPr marL="72000" marR="36000" marT="6350" marB="0" anchor="ctr"/>
                </a:tc>
                <a:extLst>
                  <a:ext uri="{0D108BD9-81ED-4DB2-BD59-A6C34878D82A}">
                    <a16:rowId xmlns:a16="http://schemas.microsoft.com/office/drawing/2014/main" val="583018577"/>
                  </a:ext>
                </a:extLst>
              </a:tr>
              <a:tr h="716839">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a:solidFill>
                            <a:schemeClr val="tx1"/>
                          </a:solidFill>
                        </a:rPr>
                        <a:t>GL Account XXX is not defined in company code XXXX</a:t>
                      </a:r>
                      <a:endParaRPr lang="en-US" sz="1100" b="0" i="0" u="none" strike="noStrike">
                        <a:solidFill>
                          <a:schemeClr val="tx1"/>
                        </a:solidFill>
                        <a:effectLst/>
                        <a:latin typeface="+mn-lt"/>
                      </a:endParaRPr>
                    </a:p>
                  </a:txBody>
                  <a:tcPr marL="7200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This error occurs when Account is not created for Company Code.</a:t>
                      </a:r>
                      <a:endParaRPr lang="en-US" sz="1100" dirty="0">
                        <a:solidFill>
                          <a:schemeClr val="tx1"/>
                        </a:solidFill>
                        <a:latin typeface="+mn-lt"/>
                      </a:endParaRPr>
                    </a:p>
                  </a:txBody>
                  <a:tcPr marL="72000" marR="6350" marT="6350" marB="0" anchor="ctr"/>
                </a:tc>
                <a:tc>
                  <a:txBody>
                    <a:bodyPr/>
                    <a:lstStyle/>
                    <a:p>
                      <a:r>
                        <a:rPr lang="en-US" sz="1100" dirty="0">
                          <a:solidFill>
                            <a:schemeClr val="tx1"/>
                          </a:solidFill>
                        </a:rPr>
                        <a:t>GL Team needs to ask market to create the account for Company Code. If amount is immaterial, it is ok to change status to checked. </a:t>
                      </a:r>
                    </a:p>
                    <a:p>
                      <a:r>
                        <a:rPr lang="en-US" sz="1100" dirty="0">
                          <a:solidFill>
                            <a:schemeClr val="tx1"/>
                          </a:solidFill>
                        </a:rPr>
                        <a:t>If material, it might be a subject to HQ.</a:t>
                      </a:r>
                    </a:p>
                    <a:p>
                      <a:endParaRPr lang="en-US" sz="1100" dirty="0">
                        <a:solidFill>
                          <a:schemeClr val="tx1"/>
                        </a:solidFill>
                        <a:latin typeface="+mn-lt"/>
                      </a:endParaRPr>
                    </a:p>
                  </a:txBody>
                  <a:tcPr marL="72000" marR="36000" marT="6350" marB="0" anchor="ctr"/>
                </a:tc>
                <a:extLst>
                  <a:ext uri="{0D108BD9-81ED-4DB2-BD59-A6C34878D82A}">
                    <a16:rowId xmlns:a16="http://schemas.microsoft.com/office/drawing/2014/main" val="151272233"/>
                  </a:ext>
                </a:extLst>
              </a:tr>
            </a:tbl>
          </a:graphicData>
        </a:graphic>
      </p:graphicFrame>
      <p:sp>
        <p:nvSpPr>
          <p:cNvPr id="8" name="Rectangle 7">
            <a:extLst>
              <a:ext uri="{FF2B5EF4-FFF2-40B4-BE49-F238E27FC236}">
                <a16:creationId xmlns:a16="http://schemas.microsoft.com/office/drawing/2014/main" id="{872AA339-B9A5-9639-9C7A-8A114FA03AE5}"/>
              </a:ext>
            </a:extLst>
          </p:cNvPr>
          <p:cNvSpPr/>
          <p:nvPr/>
        </p:nvSpPr>
        <p:spPr>
          <a:xfrm>
            <a:off x="365590" y="2901742"/>
            <a:ext cx="2611526" cy="33369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85F37E7-5019-B120-0C2D-A1A0D6D1D793}"/>
              </a:ext>
            </a:extLst>
          </p:cNvPr>
          <p:cNvSpPr/>
          <p:nvPr/>
        </p:nvSpPr>
        <p:spPr>
          <a:xfrm>
            <a:off x="365588" y="4176679"/>
            <a:ext cx="2784461" cy="470373"/>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Connector: Elbow 13">
            <a:extLst>
              <a:ext uri="{FF2B5EF4-FFF2-40B4-BE49-F238E27FC236}">
                <a16:creationId xmlns:a16="http://schemas.microsoft.com/office/drawing/2014/main" id="{8EB38C2A-72CD-B1C1-D9E7-692F4F5997C4}"/>
              </a:ext>
            </a:extLst>
          </p:cNvPr>
          <p:cNvCxnSpPr>
            <a:stCxn id="8" idx="1"/>
            <a:endCxn id="12" idx="1"/>
          </p:cNvCxnSpPr>
          <p:nvPr/>
        </p:nvCxnSpPr>
        <p:spPr>
          <a:xfrm rot="10800000" flipH="1" flipV="1">
            <a:off x="365589" y="3068589"/>
            <a:ext cx="150349" cy="2729162"/>
          </a:xfrm>
          <a:prstGeom prst="bentConnector3">
            <a:avLst>
              <a:gd name="adj1" fmla="val -152046"/>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4B84025D-0F75-8B1B-C927-A7D11037D2C1}"/>
              </a:ext>
            </a:extLst>
          </p:cNvPr>
          <p:cNvCxnSpPr>
            <a:cxnSpLocks/>
            <a:stCxn id="11" idx="2"/>
            <a:endCxn id="34" idx="0"/>
          </p:cNvCxnSpPr>
          <p:nvPr/>
        </p:nvCxnSpPr>
        <p:spPr>
          <a:xfrm rot="16200000" flipH="1">
            <a:off x="4588350" y="1816521"/>
            <a:ext cx="1036153" cy="6697214"/>
          </a:xfrm>
          <a:prstGeom prst="bentConnector3">
            <a:avLst>
              <a:gd name="adj1" fmla="val 50000"/>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3757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000000-0008-0000-0C00-000004000000}"/>
              </a:ext>
              <a:ext uri="{147F2762-F138-4A5C-976F-8EAC2B608ADB}">
                <a16:predDERef xmlns:a16="http://schemas.microsoft.com/office/drawing/2014/main" pred="{8A8C0731-E16F-3A13-2919-829811D60B2E}"/>
              </a:ext>
            </a:extLst>
          </p:cNvPr>
          <p:cNvPicPr>
            <a:picLocks noChangeAspect="1"/>
          </p:cNvPicPr>
          <p:nvPr/>
        </p:nvPicPr>
        <p:blipFill>
          <a:blip r:embed="rId2"/>
          <a:stretch>
            <a:fillRect/>
          </a:stretch>
        </p:blipFill>
        <p:spPr>
          <a:xfrm>
            <a:off x="385068" y="4234782"/>
            <a:ext cx="4923337" cy="1762185"/>
          </a:xfrm>
          <a:prstGeom prst="rect">
            <a:avLst/>
          </a:prstGeom>
        </p:spPr>
      </p:pic>
      <p:sp>
        <p:nvSpPr>
          <p:cNvPr id="3" name="Slide Number Placeholder 2">
            <a:extLst>
              <a:ext uri="{FF2B5EF4-FFF2-40B4-BE49-F238E27FC236}">
                <a16:creationId xmlns:a16="http://schemas.microsoft.com/office/drawing/2014/main" id="{D6F24A8E-1191-B58C-C7F7-A6DAA8B9E888}"/>
              </a:ext>
            </a:extLst>
          </p:cNvPr>
          <p:cNvSpPr>
            <a:spLocks noGrp="1"/>
          </p:cNvSpPr>
          <p:nvPr>
            <p:ph type="sldNum" sz="quarter" idx="12"/>
          </p:nvPr>
        </p:nvSpPr>
        <p:spPr/>
        <p:txBody>
          <a:bodyPr/>
          <a:lstStyle/>
          <a:p>
            <a:fld id="{F4C94289-3309-4C35-850A-56FD49B3E346}" type="slidenum">
              <a:rPr lang="en-GB" smtClean="0"/>
              <a:t>13</a:t>
            </a:fld>
            <a:endParaRPr lang="en-GB"/>
          </a:p>
        </p:txBody>
      </p:sp>
      <p:sp>
        <p:nvSpPr>
          <p:cNvPr id="4" name="Title 3">
            <a:extLst>
              <a:ext uri="{FF2B5EF4-FFF2-40B4-BE49-F238E27FC236}">
                <a16:creationId xmlns:a16="http://schemas.microsoft.com/office/drawing/2014/main" id="{D70DFC20-DE46-45FB-9E38-039F9C02A5ED}"/>
              </a:ext>
            </a:extLst>
          </p:cNvPr>
          <p:cNvSpPr>
            <a:spLocks noGrp="1"/>
          </p:cNvSpPr>
          <p:nvPr>
            <p:ph type="title"/>
          </p:nvPr>
        </p:nvSpPr>
        <p:spPr/>
        <p:txBody>
          <a:bodyPr/>
          <a:lstStyle/>
          <a:p>
            <a:r>
              <a:rPr lang="en-GB" dirty="0"/>
              <a:t>Currency Revaluation - </a:t>
            </a:r>
            <a:r>
              <a:rPr lang="en-GB" cap="none" dirty="0"/>
              <a:t>Common Errors</a:t>
            </a:r>
            <a:endParaRPr lang="en-US" dirty="0"/>
          </a:p>
        </p:txBody>
      </p:sp>
      <p:sp>
        <p:nvSpPr>
          <p:cNvPr id="12" name="Rectangle 11">
            <a:extLst>
              <a:ext uri="{FF2B5EF4-FFF2-40B4-BE49-F238E27FC236}">
                <a16:creationId xmlns:a16="http://schemas.microsoft.com/office/drawing/2014/main" id="{55657E6C-0E96-1EBE-B2B7-F5BE4C5C9809}"/>
              </a:ext>
            </a:extLst>
          </p:cNvPr>
          <p:cNvSpPr/>
          <p:nvPr/>
        </p:nvSpPr>
        <p:spPr>
          <a:xfrm>
            <a:off x="385068" y="4816592"/>
            <a:ext cx="4312721" cy="5985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E53D7598-CBBD-DB05-BB3D-F80E94DF5F0D}"/>
              </a:ext>
            </a:extLst>
          </p:cNvPr>
          <p:cNvGraphicFramePr>
            <a:graphicFrameLocks noGrp="1"/>
          </p:cNvGraphicFramePr>
          <p:nvPr/>
        </p:nvGraphicFramePr>
        <p:xfrm>
          <a:off x="385068" y="1431935"/>
          <a:ext cx="11310471" cy="2675897"/>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861428">
                  <a:extLst>
                    <a:ext uri="{9D8B030D-6E8A-4147-A177-3AD203B41FA5}">
                      <a16:colId xmlns:a16="http://schemas.microsoft.com/office/drawing/2014/main" val="9356114"/>
                    </a:ext>
                  </a:extLst>
                </a:gridCol>
                <a:gridCol w="3220979">
                  <a:extLst>
                    <a:ext uri="{9D8B030D-6E8A-4147-A177-3AD203B41FA5}">
                      <a16:colId xmlns:a16="http://schemas.microsoft.com/office/drawing/2014/main" val="1965869314"/>
                    </a:ext>
                  </a:extLst>
                </a:gridCol>
                <a:gridCol w="5228064">
                  <a:extLst>
                    <a:ext uri="{9D8B030D-6E8A-4147-A177-3AD203B41FA5}">
                      <a16:colId xmlns:a16="http://schemas.microsoft.com/office/drawing/2014/main" val="566335056"/>
                    </a:ext>
                  </a:extLst>
                </a:gridCol>
              </a:tblGrid>
              <a:tr h="643171">
                <a:tc>
                  <a:txBody>
                    <a:bodyPr/>
                    <a:lstStyle/>
                    <a:p>
                      <a:pPr algn="ctr" fontAlgn="b"/>
                      <a:r>
                        <a:rPr lang="en-US" sz="1200" b="1" i="0" u="none" strike="noStrike" dirty="0">
                          <a:solidFill>
                            <a:srgbClr val="000000"/>
                          </a:solidFill>
                          <a:effectLst/>
                          <a:latin typeface="+mn-lt"/>
                        </a:rPr>
                        <a:t>Errors</a:t>
                      </a:r>
                    </a:p>
                  </a:txBody>
                  <a:tcPr marL="72000" marR="6350" marT="6350" marB="0" anchor="ctr"/>
                </a:tc>
                <a:tc>
                  <a:txBody>
                    <a:bodyPr/>
                    <a:lstStyle/>
                    <a:p>
                      <a:pPr algn="ctr" fontAlgn="b"/>
                      <a:r>
                        <a:rPr lang="en-US" sz="1200" b="1" i="0" u="none" strike="noStrike">
                          <a:solidFill>
                            <a:srgbClr val="000000"/>
                          </a:solidFill>
                          <a:effectLst/>
                          <a:latin typeface="+mn-lt"/>
                        </a:rPr>
                        <a:t>Error Description (Reason)</a:t>
                      </a:r>
                    </a:p>
                  </a:txBody>
                  <a:tcPr marL="72000" marR="6350" marT="6350" marB="0" anchor="ctr"/>
                </a:tc>
                <a:tc>
                  <a:txBody>
                    <a:bodyPr/>
                    <a:lstStyle/>
                    <a:p>
                      <a:pPr algn="ctr" fontAlgn="b"/>
                      <a:r>
                        <a:rPr lang="en-US" sz="1200" b="1" i="0" u="none" strike="noStrike">
                          <a:solidFill>
                            <a:srgbClr val="000000"/>
                          </a:solidFill>
                          <a:effectLst/>
                          <a:latin typeface="+mn-lt"/>
                        </a:rPr>
                        <a:t>Resolution </a:t>
                      </a:r>
                    </a:p>
                  </a:txBody>
                  <a:tcPr marL="72000" marR="6350" marT="6350" marB="0" anchor="ctr"/>
                </a:tc>
                <a:extLst>
                  <a:ext uri="{0D108BD9-81ED-4DB2-BD59-A6C34878D82A}">
                    <a16:rowId xmlns:a16="http://schemas.microsoft.com/office/drawing/2014/main" val="409099569"/>
                  </a:ext>
                </a:extLst>
              </a:tr>
              <a:tr h="746216">
                <a:tc>
                  <a:txBody>
                    <a:bodyPr/>
                    <a:lstStyle/>
                    <a:p>
                      <a:pPr algn="l" fontAlgn="b"/>
                      <a:r>
                        <a:rPr lang="en-US" sz="1200">
                          <a:solidFill>
                            <a:schemeClr val="tx1"/>
                          </a:solidFill>
                        </a:rPr>
                        <a:t>GL Account XXX is not defined in chart of accounts JTIO</a:t>
                      </a:r>
                      <a:endParaRPr lang="en-US" sz="1200" b="0" i="0" u="none" strike="noStrike">
                        <a:solidFill>
                          <a:schemeClr val="tx1"/>
                        </a:solidFill>
                        <a:effectLst/>
                        <a:latin typeface="+mn-lt"/>
                      </a:endParaRPr>
                    </a:p>
                  </a:txBody>
                  <a:tcPr marL="72000" marR="6350" marT="6350" marB="0" anchor="ctr"/>
                </a:tc>
                <a:tc>
                  <a:txBody>
                    <a:bodyPr/>
                    <a:lstStyle/>
                    <a:p>
                      <a:r>
                        <a:rPr lang="en-US" sz="1200">
                          <a:solidFill>
                            <a:schemeClr val="tx1"/>
                          </a:solidFill>
                        </a:rPr>
                        <a:t>This error occurs when the Account is not created on Chart of Account (CoA) level. Chart of Account (CoA)-”JTIO”. </a:t>
                      </a:r>
                      <a:endParaRPr lang="en-US" sz="1200">
                        <a:solidFill>
                          <a:schemeClr val="tx1"/>
                        </a:solidFill>
                        <a:latin typeface="+mn-lt"/>
                      </a:endParaRPr>
                    </a:p>
                  </a:txBody>
                  <a:tcPr marL="72000" marR="6350" marT="6350" marB="0" anchor="ctr"/>
                </a:tc>
                <a:tc>
                  <a:txBody>
                    <a:bodyPr/>
                    <a:lstStyle/>
                    <a:p>
                      <a:r>
                        <a:rPr lang="en-US" sz="1200" dirty="0"/>
                        <a:t>GL Team to ask market to raise IT Request to update OBA1 table with proper adjustment account. If amount is immaterial, it is ok to change status to “checked”, if material it might be a subject to HQ.</a:t>
                      </a:r>
                      <a:endParaRPr lang="en-US" sz="1200" dirty="0">
                        <a:solidFill>
                          <a:schemeClr val="tx1"/>
                        </a:solidFill>
                      </a:endParaRPr>
                    </a:p>
                  </a:txBody>
                  <a:tcPr marL="72000" marR="6350" marT="6350" marB="0" anchor="ctr"/>
                </a:tc>
                <a:extLst>
                  <a:ext uri="{0D108BD9-81ED-4DB2-BD59-A6C34878D82A}">
                    <a16:rowId xmlns:a16="http://schemas.microsoft.com/office/drawing/2014/main" val="583018577"/>
                  </a:ext>
                </a:extLst>
              </a:tr>
              <a:tr h="537862">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a:solidFill>
                            <a:schemeClr val="tx1"/>
                          </a:solidFill>
                        </a:rPr>
                        <a:t>Balancing field "Profit Center" not filled</a:t>
                      </a:r>
                      <a:endParaRPr lang="en-US" sz="1200" b="0" i="0" u="none" strike="noStrike">
                        <a:solidFill>
                          <a:schemeClr val="tx1"/>
                        </a:solidFill>
                        <a:effectLst/>
                        <a:latin typeface="+mn-lt"/>
                      </a:endParaRPr>
                    </a:p>
                  </a:txBody>
                  <a:tcPr marL="7200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rPr>
                        <a:t>This error occurs when Profit Center is entered in initial posting.</a:t>
                      </a:r>
                      <a:endParaRPr lang="en-US" sz="1200">
                        <a:solidFill>
                          <a:schemeClr val="tx1"/>
                        </a:solidFill>
                        <a:latin typeface="+mn-lt"/>
                      </a:endParaRPr>
                    </a:p>
                  </a:txBody>
                  <a:tcPr marL="72000" marR="6350" marT="6350" marB="0" anchor="ctr"/>
                </a:tc>
                <a:tc>
                  <a:txBody>
                    <a:bodyPr/>
                    <a:lstStyle/>
                    <a:p>
                      <a:endParaRPr lang="en-US" sz="1200" dirty="0">
                        <a:solidFill>
                          <a:schemeClr val="tx1"/>
                        </a:solidFill>
                      </a:endParaRPr>
                    </a:p>
                    <a:p>
                      <a:r>
                        <a:rPr lang="en-US" sz="1200" dirty="0">
                          <a:solidFill>
                            <a:schemeClr val="tx1"/>
                          </a:solidFill>
                        </a:rPr>
                        <a:t>From S/4HANA perspective such items are not subject to revaluation.</a:t>
                      </a:r>
                    </a:p>
                    <a:p>
                      <a:r>
                        <a:rPr lang="en-US" sz="1200" dirty="0">
                          <a:solidFill>
                            <a:schemeClr val="tx1"/>
                          </a:solidFill>
                        </a:rPr>
                        <a:t>Moreover, such documents should not exist in the system at all.</a:t>
                      </a:r>
                    </a:p>
                    <a:p>
                      <a:r>
                        <a:rPr lang="en-US" sz="1200" dirty="0">
                          <a:solidFill>
                            <a:schemeClr val="tx1"/>
                          </a:solidFill>
                        </a:rPr>
                        <a:t> GL Team needs to skip such error messages during SM35 processing and discuss with Market how to correct incorrectly posted documents.</a:t>
                      </a:r>
                    </a:p>
                    <a:p>
                      <a:r>
                        <a:rPr lang="en-US" sz="1200" dirty="0">
                          <a:solidFill>
                            <a:schemeClr val="tx1"/>
                          </a:solidFill>
                        </a:rPr>
                        <a:t>Workaround - Enter a Profit Center number to clear the items.</a:t>
                      </a:r>
                    </a:p>
                    <a:p>
                      <a:endParaRPr lang="en-US" sz="1200" dirty="0">
                        <a:solidFill>
                          <a:schemeClr val="tx1"/>
                        </a:solidFill>
                        <a:latin typeface="+mn-lt"/>
                      </a:endParaRPr>
                    </a:p>
                  </a:txBody>
                  <a:tcPr marL="72000" marR="6350" marT="6350" marB="0" anchor="ctr"/>
                </a:tc>
                <a:extLst>
                  <a:ext uri="{0D108BD9-81ED-4DB2-BD59-A6C34878D82A}">
                    <a16:rowId xmlns:a16="http://schemas.microsoft.com/office/drawing/2014/main" val="151272233"/>
                  </a:ext>
                </a:extLst>
              </a:tr>
            </a:tbl>
          </a:graphicData>
        </a:graphic>
      </p:graphicFrame>
      <p:sp>
        <p:nvSpPr>
          <p:cNvPr id="7" name="Rectangle 6">
            <a:extLst>
              <a:ext uri="{FF2B5EF4-FFF2-40B4-BE49-F238E27FC236}">
                <a16:creationId xmlns:a16="http://schemas.microsoft.com/office/drawing/2014/main" id="{5E72F9BE-BF79-1651-F4A3-DC72190D2212}"/>
              </a:ext>
            </a:extLst>
          </p:cNvPr>
          <p:cNvSpPr/>
          <p:nvPr/>
        </p:nvSpPr>
        <p:spPr>
          <a:xfrm>
            <a:off x="385067" y="2153468"/>
            <a:ext cx="2740905" cy="56846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Elbow 9">
            <a:extLst>
              <a:ext uri="{FF2B5EF4-FFF2-40B4-BE49-F238E27FC236}">
                <a16:creationId xmlns:a16="http://schemas.microsoft.com/office/drawing/2014/main" id="{B85364E0-556A-F2EF-6DD2-548DD9F2D656}"/>
              </a:ext>
            </a:extLst>
          </p:cNvPr>
          <p:cNvCxnSpPr>
            <a:cxnSpLocks/>
            <a:stCxn id="7" idx="1"/>
            <a:endCxn id="12" idx="1"/>
          </p:cNvCxnSpPr>
          <p:nvPr/>
        </p:nvCxnSpPr>
        <p:spPr>
          <a:xfrm rot="10800000" flipH="1" flipV="1">
            <a:off x="385066" y="2437702"/>
            <a:ext cx="1" cy="2678172"/>
          </a:xfrm>
          <a:prstGeom prst="bentConnector3">
            <a:avLst>
              <a:gd name="adj1" fmla="val -22860000000"/>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6612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90CC5F-7E64-4D1A-90F2-3D2368F93671}"/>
              </a:ext>
            </a:extLst>
          </p:cNvPr>
          <p:cNvSpPr>
            <a:spLocks noGrp="1"/>
          </p:cNvSpPr>
          <p:nvPr>
            <p:ph type="title"/>
          </p:nvPr>
        </p:nvSpPr>
        <p:spPr>
          <a:xfrm>
            <a:off x="515938" y="866408"/>
            <a:ext cx="8961437" cy="4334668"/>
          </a:xfrm>
        </p:spPr>
        <p:txBody>
          <a:bodyPr/>
          <a:lstStyle/>
          <a:p>
            <a:r>
              <a:rPr lang="en-GB"/>
              <a:t>Demonstration &amp; exercises</a:t>
            </a:r>
          </a:p>
        </p:txBody>
      </p:sp>
      <p:sp>
        <p:nvSpPr>
          <p:cNvPr id="2" name="Slide Number Placeholder 1">
            <a:extLst>
              <a:ext uri="{FF2B5EF4-FFF2-40B4-BE49-F238E27FC236}">
                <a16:creationId xmlns:a16="http://schemas.microsoft.com/office/drawing/2014/main" id="{45968D6E-A1C2-48A1-8EEA-68D04FC7DD8F}"/>
              </a:ext>
            </a:extLst>
          </p:cNvPr>
          <p:cNvSpPr>
            <a:spLocks noGrp="1"/>
          </p:cNvSpPr>
          <p:nvPr>
            <p:ph type="sldNum" sz="quarter" idx="12"/>
          </p:nvPr>
        </p:nvSpPr>
        <p:spPr/>
        <p:txBody>
          <a:bodyPr/>
          <a:lstStyle/>
          <a:p>
            <a:fld id="{1A6A2304-23DC-2B46-BD14-F082077842FF}" type="slidenum">
              <a:rPr lang="en-US" smtClean="0"/>
              <a:t>14</a:t>
            </a:fld>
            <a:endParaRPr lang="en-US"/>
          </a:p>
        </p:txBody>
      </p:sp>
      <p:sp>
        <p:nvSpPr>
          <p:cNvPr id="4" name="Rectangle 3">
            <a:extLst>
              <a:ext uri="{FF2B5EF4-FFF2-40B4-BE49-F238E27FC236}">
                <a16:creationId xmlns:a16="http://schemas.microsoft.com/office/drawing/2014/main" id="{7DF6DE24-71F6-4B4D-B00E-1C92B20D83D9}"/>
              </a:ext>
            </a:extLst>
          </p:cNvPr>
          <p:cNvSpPr>
            <a:spLocks noChangeArrowheads="1"/>
          </p:cNvSpPr>
          <p:nvPr/>
        </p:nvSpPr>
        <p:spPr bwMode="auto">
          <a:xfrm>
            <a:off x="725715" y="3244362"/>
            <a:ext cx="10111656" cy="3235720"/>
          </a:xfrm>
          <a:prstGeom prst="rect">
            <a:avLst/>
          </a:prstGeom>
          <a:noFill/>
          <a:ln w="12700">
            <a:noFill/>
            <a:miter lim="800000"/>
            <a:headEnd/>
            <a:tailEnd/>
          </a:ln>
          <a:effectLst/>
        </p:spPr>
        <p:txBody>
          <a:bodyPr lIns="92075" tIns="457200" rIns="92075" bIns="457200"/>
          <a:lstStyle/>
          <a:p>
            <a:pPr marL="180000" indent="-180000" algn="l">
              <a:spcBef>
                <a:spcPct val="40000"/>
              </a:spcBef>
              <a:buClr>
                <a:schemeClr val="bg2"/>
              </a:buClr>
              <a:buSzPct val="80000"/>
              <a:buFont typeface="Wingdings" pitchFamily="2" charset="2"/>
              <a:buChar char="§"/>
            </a:pPr>
            <a:r>
              <a:rPr lang="en-US" b="1" dirty="0">
                <a:solidFill>
                  <a:schemeClr val="bg1"/>
                </a:solidFill>
                <a:cs typeface="Arial" pitchFamily="34" charset="0"/>
              </a:rPr>
              <a:t>Exercise No. 3: </a:t>
            </a:r>
            <a:r>
              <a:rPr lang="en-US" dirty="0">
                <a:solidFill>
                  <a:schemeClr val="bg1"/>
                </a:solidFill>
                <a:cs typeface="Arial" pitchFamily="34" charset="0"/>
              </a:rPr>
              <a:t>Perform Currency Revaluation using T-Code FAGL_FCV</a:t>
            </a:r>
          </a:p>
          <a:p>
            <a:pPr marL="180000" indent="-180000" algn="l">
              <a:spcBef>
                <a:spcPct val="40000"/>
              </a:spcBef>
              <a:buClr>
                <a:schemeClr val="bg2"/>
              </a:buClr>
              <a:buSzPct val="80000"/>
              <a:buFont typeface="Wingdings" pitchFamily="2" charset="2"/>
              <a:buChar char="§"/>
            </a:pPr>
            <a:endParaRPr lang="en-US" sz="1800" dirty="0">
              <a:solidFill>
                <a:schemeClr val="bg1"/>
              </a:solidFill>
              <a:cs typeface="Arial" pitchFamily="34" charset="0"/>
            </a:endParaRPr>
          </a:p>
        </p:txBody>
      </p:sp>
      <p:sp>
        <p:nvSpPr>
          <p:cNvPr id="6" name="Rectangle: Rounded Corners 5">
            <a:extLst>
              <a:ext uri="{FF2B5EF4-FFF2-40B4-BE49-F238E27FC236}">
                <a16:creationId xmlns:a16="http://schemas.microsoft.com/office/drawing/2014/main" id="{BE07B137-E250-4AC5-81D1-F142F8E125F0}"/>
              </a:ext>
            </a:extLst>
          </p:cNvPr>
          <p:cNvSpPr/>
          <p:nvPr/>
        </p:nvSpPr>
        <p:spPr>
          <a:xfrm>
            <a:off x="600318" y="3244362"/>
            <a:ext cx="10152673" cy="3235720"/>
          </a:xfrm>
          <a:prstGeom prst="roundRect">
            <a:avLst>
              <a:gd name="adj" fmla="val 7381"/>
            </a:avLst>
          </a:prstGeom>
          <a:noFill/>
          <a:ln w="57150">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1170887"/>
      </p:ext>
    </p:extLst>
  </p:cSld>
  <p:clrMapOvr>
    <a:masterClrMapping/>
  </p:clrMapOvr>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JTI">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BC77B7-89BE-45D2-B43A-94AB4C5F40F4}">
  <ds:schemaRefs>
    <ds:schemaRef ds:uri="ba249638-b5c4-4b59-8094-70d8491c2e9c"/>
    <ds:schemaRef ds:uri="91871c47-af2e-43ea-ad3f-7bb4c536bc45"/>
    <ds:schemaRef ds:uri="http://purl.org/dc/elements/1.1/"/>
    <ds:schemaRef ds:uri="http://schemas.microsoft.com/office/2006/documentManagement/types"/>
    <ds:schemaRef ds:uri="http://schemas.microsoft.com/office/infopath/2007/PartnerControls"/>
    <ds:schemaRef ds:uri="http://purl.org/dc/dcmitype/"/>
    <ds:schemaRef ds:uri="http://purl.org/dc/terms/"/>
    <ds:schemaRef ds:uri="http://schemas.openxmlformats.org/package/2006/metadata/core-properties"/>
    <ds:schemaRef ds:uri="cb52ee0d-5346-4ae8-a9f9-d746adffeb6b"/>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5F43394D-A9A2-4315-AC7E-DD8C77BEB19A}">
  <ds:schemaRefs>
    <ds:schemaRef ds:uri="http://schemas.microsoft.com/sharepoint/v3/contenttype/forms"/>
  </ds:schemaRefs>
</ds:datastoreItem>
</file>

<file path=customXml/itemProps3.xml><?xml version="1.0" encoding="utf-8"?>
<ds:datastoreItem xmlns:ds="http://schemas.openxmlformats.org/officeDocument/2006/customXml" ds:itemID="{8BB5A171-B094-4F51-8B3F-8C2D0F1240F1}"/>
</file>

<file path=docMetadata/LabelInfo.xml><?xml version="1.0" encoding="utf-8"?>
<clbl:labelList xmlns:clbl="http://schemas.microsoft.com/office/2020/mipLabelMetadata">
  <clbl:label id="{b020b37f-db72-473e-ae54-fb16df408069}" enabled="1" method="Standard" siteId="{705d07a3-2eea-4f3b-ab59-65ca29abeb26}" removed="0"/>
</clbl:labelList>
</file>

<file path=docProps/app.xml><?xml version="1.0" encoding="utf-8"?>
<Properties xmlns="http://schemas.openxmlformats.org/officeDocument/2006/extended-properties" xmlns:vt="http://schemas.openxmlformats.org/officeDocument/2006/docPropsVTypes">
  <Template>S4F Template</Template>
  <TotalTime>75</TotalTime>
  <Words>2750</Words>
  <Application>Microsoft Office PowerPoint</Application>
  <PresentationFormat>Widescreen</PresentationFormat>
  <Paragraphs>170</Paragraphs>
  <Slides>14</Slides>
  <Notes>10</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14</vt:i4>
      </vt:variant>
    </vt:vector>
  </HeadingPairs>
  <TitlesOfParts>
    <vt:vector size="25" baseType="lpstr">
      <vt:lpstr>Aharoni</vt:lpstr>
      <vt:lpstr>Arial</vt:lpstr>
      <vt:lpstr>Calibri</vt:lpstr>
      <vt:lpstr>Courier New</vt:lpstr>
      <vt:lpstr>Georgia</vt:lpstr>
      <vt:lpstr>Roboto</vt:lpstr>
      <vt:lpstr>Wingdings</vt:lpstr>
      <vt:lpstr>1_S4F-ERP Clean IFRS Stat &amp; Tax Rep</vt:lpstr>
      <vt:lpstr>JTI</vt:lpstr>
      <vt:lpstr>S4F-ERP Period End Closing</vt:lpstr>
      <vt:lpstr>1_S4F-ERP Period End Closing</vt:lpstr>
      <vt:lpstr>Period End Closing Execution (BSC) </vt:lpstr>
      <vt:lpstr>Period End Closing Key Process Areas and New Period End Checks</vt:lpstr>
      <vt:lpstr>Currency Revaluation Period End Process Overview</vt:lpstr>
      <vt:lpstr>Currency Revaluation: Execution (1/4)</vt:lpstr>
      <vt:lpstr>Currency Revaluation: Execution (2/4)</vt:lpstr>
      <vt:lpstr>Currency Revaluation: Execution (3/4)</vt:lpstr>
      <vt:lpstr>Currency Revaluation: Execution (4/4)</vt:lpstr>
      <vt:lpstr>Currency Revaluation: Output</vt:lpstr>
      <vt:lpstr>Currency Revaluation: Output</vt:lpstr>
      <vt:lpstr>Currency Revaluation: Posting Example</vt:lpstr>
      <vt:lpstr>Currency Revaluation: FX Adjustment Accounts</vt:lpstr>
      <vt:lpstr>Currency Revaluation - Common Errors</vt:lpstr>
      <vt:lpstr>Currency Revaluation - Common Errors</vt:lpstr>
      <vt:lpstr>Demonstration &amp; exercises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4</cp:revision>
  <dcterms:created xsi:type="dcterms:W3CDTF">2019-04-11T09:35:08Z</dcterms:created>
  <dcterms:modified xsi:type="dcterms:W3CDTF">2024-04-25T18:20:04Z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1338600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