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2" r:id="rId5"/>
  </p:sldMasterIdLst>
  <p:notesMasterIdLst>
    <p:notesMasterId r:id="rId43"/>
  </p:notesMasterIdLst>
  <p:sldIdLst>
    <p:sldId id="403" r:id="rId6"/>
    <p:sldId id="427" r:id="rId7"/>
    <p:sldId id="454" r:id="rId8"/>
    <p:sldId id="455" r:id="rId9"/>
    <p:sldId id="456" r:id="rId10"/>
    <p:sldId id="2351" r:id="rId11"/>
    <p:sldId id="463" r:id="rId12"/>
    <p:sldId id="2288" r:id="rId13"/>
    <p:sldId id="2354" r:id="rId14"/>
    <p:sldId id="2290" r:id="rId15"/>
    <p:sldId id="2488" r:id="rId16"/>
    <p:sldId id="2484" r:id="rId17"/>
    <p:sldId id="2510" r:id="rId18"/>
    <p:sldId id="2511" r:id="rId19"/>
    <p:sldId id="2302" r:id="rId20"/>
    <p:sldId id="2300" r:id="rId21"/>
    <p:sldId id="2500" r:id="rId22"/>
    <p:sldId id="2301" r:id="rId23"/>
    <p:sldId id="3025" r:id="rId24"/>
    <p:sldId id="2496" r:id="rId25"/>
    <p:sldId id="2518" r:id="rId26"/>
    <p:sldId id="2497" r:id="rId27"/>
    <p:sldId id="3004" r:id="rId28"/>
    <p:sldId id="2499" r:id="rId29"/>
    <p:sldId id="3005" r:id="rId30"/>
    <p:sldId id="2486" r:id="rId31"/>
    <p:sldId id="3024" r:id="rId32"/>
    <p:sldId id="3007" r:id="rId33"/>
    <p:sldId id="3008" r:id="rId34"/>
    <p:sldId id="3026" r:id="rId35"/>
    <p:sldId id="2485" r:id="rId36"/>
    <p:sldId id="2508" r:id="rId37"/>
    <p:sldId id="2509" r:id="rId38"/>
    <p:sldId id="2512" r:id="rId39"/>
    <p:sldId id="2513" r:id="rId40"/>
    <p:sldId id="2355" r:id="rId41"/>
    <p:sldId id="42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4" d="100"/>
          <a:sy n="64" d="100"/>
        </p:scale>
        <p:origin x="68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50AA455C-1633-4E17-9E18-1DB83D9579FB}"/>
    <pc:docChg chg="undo addSld modSld">
      <pc:chgData name="O'Neill, Shauna" userId="1d0a8ccc-c260-429c-86e4-d406a5ac1d3d" providerId="ADAL" clId="{50AA455C-1633-4E17-9E18-1DB83D9579FB}" dt="2020-03-13T10:34:18.786" v="38" actId="1076"/>
      <pc:docMkLst>
        <pc:docMk/>
      </pc:docMkLst>
      <pc:sldChg chg="modSp">
        <pc:chgData name="O'Neill, Shauna" userId="1d0a8ccc-c260-429c-86e4-d406a5ac1d3d" providerId="ADAL" clId="{50AA455C-1633-4E17-9E18-1DB83D9579FB}" dt="2020-03-13T10:34:18.786" v="38" actId="1076"/>
        <pc:sldMkLst>
          <pc:docMk/>
          <pc:sldMk cId="3931410168" sldId="2511"/>
        </pc:sldMkLst>
        <pc:spChg chg="mod">
          <ac:chgData name="O'Neill, Shauna" userId="1d0a8ccc-c260-429c-86e4-d406a5ac1d3d" providerId="ADAL" clId="{50AA455C-1633-4E17-9E18-1DB83D9579FB}" dt="2020-03-13T10:17:32.051" v="37" actId="20577"/>
          <ac:spMkLst>
            <pc:docMk/>
            <pc:sldMk cId="3931410168" sldId="2511"/>
            <ac:spMk id="19" creationId="{5A857411-A6C8-4BE8-B1C6-5DC54EF4AEAF}"/>
          </ac:spMkLst>
        </pc:spChg>
        <pc:spChg chg="mod">
          <ac:chgData name="O'Neill, Shauna" userId="1d0a8ccc-c260-429c-86e4-d406a5ac1d3d" providerId="ADAL" clId="{50AA455C-1633-4E17-9E18-1DB83D9579FB}" dt="2020-03-13T10:17:14.853" v="27" actId="1076"/>
          <ac:spMkLst>
            <pc:docMk/>
            <pc:sldMk cId="3931410168" sldId="2511"/>
            <ac:spMk id="33" creationId="{78C1A71C-C6EF-4D7C-9E2B-1B85EC609E20}"/>
          </ac:spMkLst>
        </pc:spChg>
        <pc:picChg chg="mod">
          <ac:chgData name="O'Neill, Shauna" userId="1d0a8ccc-c260-429c-86e4-d406a5ac1d3d" providerId="ADAL" clId="{50AA455C-1633-4E17-9E18-1DB83D9579FB}" dt="2020-03-13T10:34:18.786" v="38" actId="1076"/>
          <ac:picMkLst>
            <pc:docMk/>
            <pc:sldMk cId="3931410168" sldId="2511"/>
            <ac:picMk id="2048" creationId="{DFB76974-5B9F-49E1-9031-1A26E9879231}"/>
          </ac:picMkLst>
        </pc:picChg>
      </pc:sldChg>
      <pc:sldChg chg="addSp modSp add">
        <pc:chgData name="O'Neill, Shauna" userId="1d0a8ccc-c260-429c-86e4-d406a5ac1d3d" providerId="ADAL" clId="{50AA455C-1633-4E17-9E18-1DB83D9579FB}" dt="2020-03-13T10:16:38.309" v="26" actId="1076"/>
        <pc:sldMkLst>
          <pc:docMk/>
          <pc:sldMk cId="313506946" sldId="3026"/>
        </pc:sldMkLst>
        <pc:spChg chg="mod">
          <ac:chgData name="O'Neill, Shauna" userId="1d0a8ccc-c260-429c-86e4-d406a5ac1d3d" providerId="ADAL" clId="{50AA455C-1633-4E17-9E18-1DB83D9579FB}" dt="2020-03-13T10:16:33.120" v="25" actId="20577"/>
          <ac:spMkLst>
            <pc:docMk/>
            <pc:sldMk cId="313506946" sldId="3026"/>
            <ac:spMk id="13" creationId="{8C3AC2F9-39C4-41E5-B5E7-56075EB7D0AB}"/>
          </ac:spMkLst>
        </pc:spChg>
        <pc:spChg chg="mod ord">
          <ac:chgData name="O'Neill, Shauna" userId="1d0a8ccc-c260-429c-86e4-d406a5ac1d3d" providerId="ADAL" clId="{50AA455C-1633-4E17-9E18-1DB83D9579FB}" dt="2020-03-13T10:15:09.381" v="8" actId="14100"/>
          <ac:spMkLst>
            <pc:docMk/>
            <pc:sldMk cId="313506946" sldId="3026"/>
            <ac:spMk id="20" creationId="{680D77FC-619F-4249-A8F8-5DFD24623D72}"/>
          </ac:spMkLst>
        </pc:spChg>
        <pc:picChg chg="add mod">
          <ac:chgData name="O'Neill, Shauna" userId="1d0a8ccc-c260-429c-86e4-d406a5ac1d3d" providerId="ADAL" clId="{50AA455C-1633-4E17-9E18-1DB83D9579FB}" dt="2020-03-13T10:14:54.164" v="3" actId="1076"/>
          <ac:picMkLst>
            <pc:docMk/>
            <pc:sldMk cId="313506946" sldId="3026"/>
            <ac:picMk id="3" creationId="{28ACF5A6-1E81-4F55-8473-97BFE4458803}"/>
          </ac:picMkLst>
        </pc:picChg>
        <pc:picChg chg="add mod">
          <ac:chgData name="O'Neill, Shauna" userId="1d0a8ccc-c260-429c-86e4-d406a5ac1d3d" providerId="ADAL" clId="{50AA455C-1633-4E17-9E18-1DB83D9579FB}" dt="2020-03-13T10:16:38.309" v="26" actId="1076"/>
          <ac:picMkLst>
            <pc:docMk/>
            <pc:sldMk cId="313506946" sldId="3026"/>
            <ac:picMk id="4" creationId="{C7EDF202-0062-4923-BBF0-C89C9067C939}"/>
          </ac:picMkLst>
        </pc:picChg>
        <pc:picChg chg="ord">
          <ac:chgData name="O'Neill, Shauna" userId="1d0a8ccc-c260-429c-86e4-d406a5ac1d3d" providerId="ADAL" clId="{50AA455C-1633-4E17-9E18-1DB83D9579FB}" dt="2020-03-13T10:14:59.748" v="5" actId="166"/>
          <ac:picMkLst>
            <pc:docMk/>
            <pc:sldMk cId="313506946" sldId="3026"/>
            <ac:picMk id="6" creationId="{346BB38E-76B5-410B-A258-AB7AF78968A8}"/>
          </ac:picMkLst>
        </pc:picChg>
      </pc:sldChg>
    </pc:docChg>
  </pc:docChgLst>
  <pc:docChgLst>
    <pc:chgData name="O'Neill, Shauna" userId="1d0a8ccc-c260-429c-86e4-d406a5ac1d3d" providerId="ADAL" clId="{6BC32168-7D7C-4071-A1B7-11500AEFC344}"/>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17BB4F-B3F3-4D6E-AECE-7D5A3D3C65F9}" type="doc">
      <dgm:prSet loTypeId="urn:microsoft.com/office/officeart/2005/8/layout/cycle4" loCatId="cycle" qsTypeId="urn:microsoft.com/office/officeart/2005/8/quickstyle/simple1" qsCatId="simple" csTypeId="urn:microsoft.com/office/officeart/2005/8/colors/colorful3" csCatId="colorful" phldr="1"/>
      <dgm:spPr/>
      <dgm:t>
        <a:bodyPr/>
        <a:lstStyle/>
        <a:p>
          <a:endParaRPr lang="ru-RU"/>
        </a:p>
      </dgm:t>
    </dgm:pt>
    <dgm:pt modelId="{00FB5ECD-6BEA-415E-90AF-A9410D892763}">
      <dgm:prSet phldrT="[Text]"/>
      <dgm:spPr/>
      <dgm:t>
        <a:bodyPr/>
        <a:lstStyle/>
        <a:p>
          <a:r>
            <a:rPr lang="en-GB" dirty="0"/>
            <a:t>WBS Allocations and </a:t>
          </a:r>
          <a:r>
            <a:rPr lang="en-US" dirty="0"/>
            <a:t>Reporting</a:t>
          </a:r>
          <a:endParaRPr lang="ru-RU" dirty="0"/>
        </a:p>
      </dgm:t>
    </dgm:pt>
    <dgm:pt modelId="{03B99D31-C08A-4883-83E7-A801DF1D8AF2}" type="parTrans" cxnId="{0902D5F5-20A7-424A-B171-F3D595A121F0}">
      <dgm:prSet/>
      <dgm:spPr/>
      <dgm:t>
        <a:bodyPr/>
        <a:lstStyle/>
        <a:p>
          <a:endParaRPr lang="ru-RU"/>
        </a:p>
      </dgm:t>
    </dgm:pt>
    <dgm:pt modelId="{C1CCFBA7-88E9-4137-9BE6-E96E605510E6}" type="sibTrans" cxnId="{0902D5F5-20A7-424A-B171-F3D595A121F0}">
      <dgm:prSet/>
      <dgm:spPr/>
      <dgm:t>
        <a:bodyPr/>
        <a:lstStyle/>
        <a:p>
          <a:endParaRPr lang="ru-RU"/>
        </a:p>
      </dgm:t>
    </dgm:pt>
    <dgm:pt modelId="{E9A2ABCA-8E60-49E4-B8D0-62E8B2A23EF2}">
      <dgm:prSet phldrT="[Text]" custT="1"/>
      <dgm:spPr/>
      <dgm:t>
        <a:bodyPr/>
        <a:lstStyle/>
        <a:p>
          <a:r>
            <a:rPr lang="en-US" sz="1800" dirty="0">
              <a:solidFill>
                <a:schemeClr val="tx1"/>
              </a:solidFill>
            </a:rPr>
            <a:t>Cost allocations for WBS elements</a:t>
          </a:r>
          <a:endParaRPr lang="ru-RU" sz="1800" dirty="0">
            <a:solidFill>
              <a:schemeClr val="tx1"/>
            </a:solidFill>
          </a:endParaRPr>
        </a:p>
      </dgm:t>
    </dgm:pt>
    <dgm:pt modelId="{7A987784-655B-4BC1-96A8-F4AB5FA43EE2}" type="parTrans" cxnId="{F39BF7F6-74AB-4BC7-ACC6-BB57597FB654}">
      <dgm:prSet/>
      <dgm:spPr/>
      <dgm:t>
        <a:bodyPr/>
        <a:lstStyle/>
        <a:p>
          <a:endParaRPr lang="ru-RU"/>
        </a:p>
      </dgm:t>
    </dgm:pt>
    <dgm:pt modelId="{4CD8A939-B000-4BD6-95C6-A1C2E84A9E1E}" type="sibTrans" cxnId="{F39BF7F6-74AB-4BC7-ACC6-BB57597FB654}">
      <dgm:prSet/>
      <dgm:spPr/>
      <dgm:t>
        <a:bodyPr/>
        <a:lstStyle/>
        <a:p>
          <a:endParaRPr lang="ru-RU"/>
        </a:p>
      </dgm:t>
    </dgm:pt>
    <dgm:pt modelId="{F6D6F1B6-F935-4371-9D7A-E0CF9F1334C6}">
      <dgm:prSet phldrT="[Text]"/>
      <dgm:spPr/>
      <dgm:t>
        <a:bodyPr/>
        <a:lstStyle/>
        <a:p>
          <a:r>
            <a:rPr lang="en-US" dirty="0"/>
            <a:t>WBS Approval and Creation</a:t>
          </a:r>
          <a:endParaRPr lang="ru-RU" dirty="0"/>
        </a:p>
      </dgm:t>
    </dgm:pt>
    <dgm:pt modelId="{DC72CA0E-6C14-4499-A159-28E3B7A9841A}" type="parTrans" cxnId="{C46DE1EC-3017-4879-A203-D711BB1FD1FE}">
      <dgm:prSet/>
      <dgm:spPr/>
      <dgm:t>
        <a:bodyPr/>
        <a:lstStyle/>
        <a:p>
          <a:endParaRPr lang="ru-RU"/>
        </a:p>
      </dgm:t>
    </dgm:pt>
    <dgm:pt modelId="{1E221EA4-3D22-4D7B-81B2-E11E1E4551D6}" type="sibTrans" cxnId="{C46DE1EC-3017-4879-A203-D711BB1FD1FE}">
      <dgm:prSet/>
      <dgm:spPr/>
      <dgm:t>
        <a:bodyPr/>
        <a:lstStyle/>
        <a:p>
          <a:endParaRPr lang="ru-RU"/>
        </a:p>
      </dgm:t>
    </dgm:pt>
    <dgm:pt modelId="{A850864F-2042-46EE-A59E-76E9A6155BF2}">
      <dgm:prSet phldrT="[Text]" custT="1"/>
      <dgm:spPr/>
      <dgm:t>
        <a:bodyPr/>
        <a:lstStyle/>
        <a:p>
          <a:r>
            <a:rPr lang="en-GB" sz="1800" dirty="0">
              <a:solidFill>
                <a:schemeClr val="tx1"/>
              </a:solidFill>
            </a:rPr>
            <a:t>SAP Fiori</a:t>
          </a:r>
          <a:endParaRPr lang="ru-RU" sz="1800" dirty="0">
            <a:solidFill>
              <a:schemeClr val="tx1"/>
            </a:solidFill>
          </a:endParaRPr>
        </a:p>
      </dgm:t>
    </dgm:pt>
    <dgm:pt modelId="{8FBA4BA7-2C34-497A-8C0B-E980CC697BB6}" type="parTrans" cxnId="{8B485872-F802-4CA0-A1D2-1AC74649C3BA}">
      <dgm:prSet/>
      <dgm:spPr/>
      <dgm:t>
        <a:bodyPr/>
        <a:lstStyle/>
        <a:p>
          <a:endParaRPr lang="ru-RU"/>
        </a:p>
      </dgm:t>
    </dgm:pt>
    <dgm:pt modelId="{C78A2FCB-7CC0-46FC-8C80-1FA55D052BD9}" type="sibTrans" cxnId="{8B485872-F802-4CA0-A1D2-1AC74649C3BA}">
      <dgm:prSet/>
      <dgm:spPr/>
      <dgm:t>
        <a:bodyPr/>
        <a:lstStyle/>
        <a:p>
          <a:endParaRPr lang="ru-RU"/>
        </a:p>
      </dgm:t>
    </dgm:pt>
    <dgm:pt modelId="{7399B660-E81B-4726-A27E-3B9D2FCDA028}">
      <dgm:prSet phldrT="[Text]"/>
      <dgm:spPr/>
      <dgm:t>
        <a:bodyPr/>
        <a:lstStyle/>
        <a:p>
          <a:endParaRPr lang="en-US" dirty="0">
            <a:solidFill>
              <a:schemeClr val="bg1"/>
            </a:solidFill>
          </a:endParaRPr>
        </a:p>
        <a:p>
          <a:r>
            <a:rPr lang="en-US" dirty="0">
              <a:solidFill>
                <a:schemeClr val="bg1"/>
              </a:solidFill>
            </a:rPr>
            <a:t>WBS Budgeting</a:t>
          </a:r>
          <a:endParaRPr lang="ru-RU" dirty="0">
            <a:solidFill>
              <a:schemeClr val="bg1"/>
            </a:solidFill>
          </a:endParaRPr>
        </a:p>
      </dgm:t>
    </dgm:pt>
    <dgm:pt modelId="{73A679A7-4DA3-41EB-AD01-A7132ECF34E0}" type="parTrans" cxnId="{C5427A3C-E9A9-4DE7-8E98-0615BF479157}">
      <dgm:prSet/>
      <dgm:spPr/>
      <dgm:t>
        <a:bodyPr/>
        <a:lstStyle/>
        <a:p>
          <a:endParaRPr lang="ru-RU"/>
        </a:p>
      </dgm:t>
    </dgm:pt>
    <dgm:pt modelId="{E477960C-64F7-4AB9-B547-DD2CBB4CA5BF}" type="sibTrans" cxnId="{C5427A3C-E9A9-4DE7-8E98-0615BF479157}">
      <dgm:prSet/>
      <dgm:spPr/>
      <dgm:t>
        <a:bodyPr/>
        <a:lstStyle/>
        <a:p>
          <a:endParaRPr lang="ru-RU"/>
        </a:p>
      </dgm:t>
    </dgm:pt>
    <dgm:pt modelId="{6F413482-4970-487B-AF1D-AF7887BBBDC8}">
      <dgm:prSet phldrT="[Text]" custT="1"/>
      <dgm:spPr/>
      <dgm:t>
        <a:bodyPr/>
        <a:lstStyle/>
        <a:p>
          <a:r>
            <a:rPr lang="en-GB" sz="1800" dirty="0">
              <a:solidFill>
                <a:schemeClr val="tx1"/>
              </a:solidFill>
            </a:rPr>
            <a:t>How to maintain budget</a:t>
          </a:r>
          <a:endParaRPr lang="ru-RU" sz="1800" dirty="0">
            <a:solidFill>
              <a:schemeClr val="tx1"/>
            </a:solidFill>
          </a:endParaRPr>
        </a:p>
      </dgm:t>
    </dgm:pt>
    <dgm:pt modelId="{00FF3399-FF8B-4487-BE31-FAB2BAA49E5A}" type="parTrans" cxnId="{ABCDA020-D516-4C78-A422-C99E02E19392}">
      <dgm:prSet/>
      <dgm:spPr/>
      <dgm:t>
        <a:bodyPr/>
        <a:lstStyle/>
        <a:p>
          <a:endParaRPr lang="ru-RU"/>
        </a:p>
      </dgm:t>
    </dgm:pt>
    <dgm:pt modelId="{0DD95717-C3BC-463E-A8F8-A8C054F1E00E}" type="sibTrans" cxnId="{ABCDA020-D516-4C78-A422-C99E02E19392}">
      <dgm:prSet/>
      <dgm:spPr/>
      <dgm:t>
        <a:bodyPr/>
        <a:lstStyle/>
        <a:p>
          <a:endParaRPr lang="ru-RU"/>
        </a:p>
      </dgm:t>
    </dgm:pt>
    <dgm:pt modelId="{349F34C1-464F-4D9B-9EE3-E6C621A91100}">
      <dgm:prSet phldrT="[Text]"/>
      <dgm:spPr/>
      <dgm:t>
        <a:bodyPr/>
        <a:lstStyle/>
        <a:p>
          <a:endParaRPr lang="en-GB" dirty="0"/>
        </a:p>
        <a:p>
          <a:r>
            <a:rPr lang="en-GB" dirty="0"/>
            <a:t>WBS and Project Maintenance</a:t>
          </a:r>
          <a:endParaRPr lang="ru-RU" dirty="0"/>
        </a:p>
      </dgm:t>
    </dgm:pt>
    <dgm:pt modelId="{A6654983-6539-43E7-8F06-3DB3DD6024AE}" type="parTrans" cxnId="{BDA646B7-5C53-4B4E-A37B-9EA18FC08128}">
      <dgm:prSet/>
      <dgm:spPr/>
      <dgm:t>
        <a:bodyPr/>
        <a:lstStyle/>
        <a:p>
          <a:endParaRPr lang="ru-RU"/>
        </a:p>
      </dgm:t>
    </dgm:pt>
    <dgm:pt modelId="{4C3AC1F6-222E-4295-9B09-EDC6993522A8}" type="sibTrans" cxnId="{BDA646B7-5C53-4B4E-A37B-9EA18FC08128}">
      <dgm:prSet/>
      <dgm:spPr/>
      <dgm:t>
        <a:bodyPr/>
        <a:lstStyle/>
        <a:p>
          <a:endParaRPr lang="ru-RU"/>
        </a:p>
      </dgm:t>
    </dgm:pt>
    <dgm:pt modelId="{DB6CA8D2-A844-49E1-B406-FEC278C6AC19}">
      <dgm:prSet phldrT="[Text]" custT="1"/>
      <dgm:spPr/>
      <dgm:t>
        <a:bodyPr/>
        <a:lstStyle/>
        <a:p>
          <a:r>
            <a:rPr lang="en-GB" sz="1600" dirty="0">
              <a:solidFill>
                <a:schemeClr val="tx1"/>
              </a:solidFill>
            </a:rPr>
            <a:t>SAP GUI 	</a:t>
          </a:r>
          <a:endParaRPr lang="ru-RU" sz="1600" dirty="0">
            <a:solidFill>
              <a:schemeClr val="tx1"/>
            </a:solidFill>
          </a:endParaRPr>
        </a:p>
      </dgm:t>
    </dgm:pt>
    <dgm:pt modelId="{E99ED006-943B-48E4-BE08-4DA4DC231B07}" type="parTrans" cxnId="{A4C1E269-086F-4E50-9F18-089D6B7ED204}">
      <dgm:prSet/>
      <dgm:spPr/>
      <dgm:t>
        <a:bodyPr/>
        <a:lstStyle/>
        <a:p>
          <a:endParaRPr lang="ru-RU"/>
        </a:p>
      </dgm:t>
    </dgm:pt>
    <dgm:pt modelId="{CD7F008B-B48E-49BE-93A3-57E813F51F3B}" type="sibTrans" cxnId="{A4C1E269-086F-4E50-9F18-089D6B7ED204}">
      <dgm:prSet/>
      <dgm:spPr/>
      <dgm:t>
        <a:bodyPr/>
        <a:lstStyle/>
        <a:p>
          <a:endParaRPr lang="ru-RU"/>
        </a:p>
      </dgm:t>
    </dgm:pt>
    <dgm:pt modelId="{AF041E0D-2B4D-49A6-89DD-08FC777FAE9E}">
      <dgm:prSet phldrT="[Text]" custT="1"/>
      <dgm:spPr/>
      <dgm:t>
        <a:bodyPr/>
        <a:lstStyle/>
        <a:p>
          <a:endParaRPr lang="ru-RU" sz="1500" dirty="0"/>
        </a:p>
      </dgm:t>
    </dgm:pt>
    <dgm:pt modelId="{C4A574A3-CA8E-4395-B60B-4A35AC8DEB2F}" type="parTrans" cxnId="{0C8FA35C-9486-49B7-8AA9-055011188479}">
      <dgm:prSet/>
      <dgm:spPr/>
      <dgm:t>
        <a:bodyPr/>
        <a:lstStyle/>
        <a:p>
          <a:endParaRPr lang="ru-RU"/>
        </a:p>
      </dgm:t>
    </dgm:pt>
    <dgm:pt modelId="{48A1EB07-B6A8-4EF5-873C-CDFBCA22118F}" type="sibTrans" cxnId="{0C8FA35C-9486-49B7-8AA9-055011188479}">
      <dgm:prSet/>
      <dgm:spPr/>
      <dgm:t>
        <a:bodyPr/>
        <a:lstStyle/>
        <a:p>
          <a:endParaRPr lang="ru-RU"/>
        </a:p>
      </dgm:t>
    </dgm:pt>
    <dgm:pt modelId="{948DF411-9E40-4CB7-890E-F07DB9AD297E}">
      <dgm:prSet phldrT="[Text]" custT="1"/>
      <dgm:spPr/>
      <dgm:t>
        <a:bodyPr/>
        <a:lstStyle/>
        <a:p>
          <a:endParaRPr lang="ru-RU" sz="1500" dirty="0"/>
        </a:p>
      </dgm:t>
    </dgm:pt>
    <dgm:pt modelId="{41A158C6-29F5-4656-96BB-3E66D2E0F13D}" type="parTrans" cxnId="{036A3ADA-C7DB-432B-8B7C-6AD1F036C26B}">
      <dgm:prSet/>
      <dgm:spPr/>
      <dgm:t>
        <a:bodyPr/>
        <a:lstStyle/>
        <a:p>
          <a:endParaRPr lang="en-US"/>
        </a:p>
      </dgm:t>
    </dgm:pt>
    <dgm:pt modelId="{98CEC944-38B5-46B9-AF09-ABF169A66A9B}" type="sibTrans" cxnId="{036A3ADA-C7DB-432B-8B7C-6AD1F036C26B}">
      <dgm:prSet/>
      <dgm:spPr/>
      <dgm:t>
        <a:bodyPr/>
        <a:lstStyle/>
        <a:p>
          <a:endParaRPr lang="en-US"/>
        </a:p>
      </dgm:t>
    </dgm:pt>
    <dgm:pt modelId="{D581B58E-FB1B-4EC9-B9E8-E855008EB0A5}">
      <dgm:prSet phldrT="[Text]" custT="1"/>
      <dgm:spPr/>
      <dgm:t>
        <a:bodyPr/>
        <a:lstStyle/>
        <a:p>
          <a:endParaRPr lang="ru-RU" sz="1500" dirty="0"/>
        </a:p>
      </dgm:t>
    </dgm:pt>
    <dgm:pt modelId="{28E4B611-4463-4D36-B514-5CCE9A04A389}" type="parTrans" cxnId="{CAB8B838-32E5-47A5-B54E-1240E087C8DB}">
      <dgm:prSet/>
      <dgm:spPr/>
      <dgm:t>
        <a:bodyPr/>
        <a:lstStyle/>
        <a:p>
          <a:endParaRPr lang="en-US"/>
        </a:p>
      </dgm:t>
    </dgm:pt>
    <dgm:pt modelId="{95E4E689-9717-492A-A44B-A3CCDBAF37CD}" type="sibTrans" cxnId="{CAB8B838-32E5-47A5-B54E-1240E087C8DB}">
      <dgm:prSet/>
      <dgm:spPr/>
      <dgm:t>
        <a:bodyPr/>
        <a:lstStyle/>
        <a:p>
          <a:endParaRPr lang="en-US"/>
        </a:p>
      </dgm:t>
    </dgm:pt>
    <dgm:pt modelId="{8E6E043F-CBF8-4B90-8C61-7C86DF589FF6}">
      <dgm:prSet phldrT="[Text]" custT="1"/>
      <dgm:spPr/>
      <dgm:t>
        <a:bodyPr/>
        <a:lstStyle/>
        <a:p>
          <a:r>
            <a:rPr lang="en-GB" sz="1800" dirty="0">
              <a:solidFill>
                <a:schemeClr val="tx1"/>
              </a:solidFill>
            </a:rPr>
            <a:t>Daily/Month end Reporting</a:t>
          </a:r>
          <a:endParaRPr lang="ru-RU" sz="1800" dirty="0">
            <a:solidFill>
              <a:schemeClr val="tx1"/>
            </a:solidFill>
          </a:endParaRPr>
        </a:p>
      </dgm:t>
    </dgm:pt>
    <dgm:pt modelId="{C61F461E-C4ED-428A-A517-25867DC43566}" type="parTrans" cxnId="{F50C2F8D-4F42-4D0E-90ED-3073E432E2BB}">
      <dgm:prSet/>
      <dgm:spPr/>
      <dgm:t>
        <a:bodyPr/>
        <a:lstStyle/>
        <a:p>
          <a:endParaRPr lang="en-US"/>
        </a:p>
      </dgm:t>
    </dgm:pt>
    <dgm:pt modelId="{B59DB11D-C768-4B9A-873F-4CA52350A6A9}" type="sibTrans" cxnId="{F50C2F8D-4F42-4D0E-90ED-3073E432E2BB}">
      <dgm:prSet/>
      <dgm:spPr/>
      <dgm:t>
        <a:bodyPr/>
        <a:lstStyle/>
        <a:p>
          <a:endParaRPr lang="en-US"/>
        </a:p>
      </dgm:t>
    </dgm:pt>
    <dgm:pt modelId="{31AB2194-DF39-4F04-AA1F-D823EC70D0E2}">
      <dgm:prSet phldrT="[Text]" custT="1"/>
      <dgm:spPr/>
      <dgm:t>
        <a:bodyPr/>
        <a:lstStyle/>
        <a:p>
          <a:r>
            <a:rPr lang="en-GB" sz="1600" dirty="0">
              <a:solidFill>
                <a:schemeClr val="tx1"/>
              </a:solidFill>
            </a:rPr>
            <a:t>System/User status</a:t>
          </a:r>
          <a:endParaRPr lang="ru-RU" sz="1600" dirty="0">
            <a:solidFill>
              <a:schemeClr val="tx1"/>
            </a:solidFill>
          </a:endParaRPr>
        </a:p>
      </dgm:t>
    </dgm:pt>
    <dgm:pt modelId="{FBC59BC2-7F02-4E8F-BDC8-6C19A592C99E}" type="parTrans" cxnId="{2E2345F1-EC2F-4BC1-9363-70375038640D}">
      <dgm:prSet/>
      <dgm:spPr/>
      <dgm:t>
        <a:bodyPr/>
        <a:lstStyle/>
        <a:p>
          <a:endParaRPr lang="en-US"/>
        </a:p>
      </dgm:t>
    </dgm:pt>
    <dgm:pt modelId="{9D06625A-1568-4828-949F-373D2DA5C3BA}" type="sibTrans" cxnId="{2E2345F1-EC2F-4BC1-9363-70375038640D}">
      <dgm:prSet/>
      <dgm:spPr/>
      <dgm:t>
        <a:bodyPr/>
        <a:lstStyle/>
        <a:p>
          <a:endParaRPr lang="en-US"/>
        </a:p>
      </dgm:t>
    </dgm:pt>
    <dgm:pt modelId="{0018964F-2BEC-4EE7-A093-B3EA0A2ACF22}">
      <dgm:prSet phldrT="[Text]" custT="1"/>
      <dgm:spPr/>
      <dgm:t>
        <a:bodyPr/>
        <a:lstStyle/>
        <a:p>
          <a:r>
            <a:rPr lang="en-GB" sz="1800" dirty="0">
              <a:solidFill>
                <a:schemeClr val="tx1"/>
              </a:solidFill>
            </a:rPr>
            <a:t>WBS Creation and Priorities</a:t>
          </a:r>
          <a:endParaRPr lang="ru-RU" sz="1800" dirty="0">
            <a:solidFill>
              <a:schemeClr val="tx1"/>
            </a:solidFill>
          </a:endParaRPr>
        </a:p>
      </dgm:t>
    </dgm:pt>
    <dgm:pt modelId="{859773DD-E3C9-4D22-BD16-22F9B444B0C2}" type="parTrans" cxnId="{82B9F768-08D4-4C22-81DD-98121EA242D4}">
      <dgm:prSet/>
      <dgm:spPr/>
      <dgm:t>
        <a:bodyPr/>
        <a:lstStyle/>
        <a:p>
          <a:endParaRPr lang="en-US"/>
        </a:p>
      </dgm:t>
    </dgm:pt>
    <dgm:pt modelId="{D48D5763-03B0-4FCE-B321-737C38B320E9}" type="sibTrans" cxnId="{82B9F768-08D4-4C22-81DD-98121EA242D4}">
      <dgm:prSet/>
      <dgm:spPr/>
      <dgm:t>
        <a:bodyPr/>
        <a:lstStyle/>
        <a:p>
          <a:endParaRPr lang="en-US"/>
        </a:p>
      </dgm:t>
    </dgm:pt>
    <dgm:pt modelId="{7EBE8F03-F640-4B18-A52F-A6F20F66E6F5}">
      <dgm:prSet phldrT="[Text]" custT="1"/>
      <dgm:spPr/>
      <dgm:t>
        <a:bodyPr/>
        <a:lstStyle/>
        <a:p>
          <a:r>
            <a:rPr lang="en-GB" sz="1800" dirty="0">
              <a:solidFill>
                <a:schemeClr val="tx1"/>
              </a:solidFill>
            </a:rPr>
            <a:t>Budget Distribution</a:t>
          </a:r>
          <a:endParaRPr lang="ru-RU" sz="1800" dirty="0">
            <a:solidFill>
              <a:schemeClr val="tx1"/>
            </a:solidFill>
          </a:endParaRPr>
        </a:p>
      </dgm:t>
    </dgm:pt>
    <dgm:pt modelId="{0026EC3D-A3E7-4634-AD1D-6F61A449131D}" type="parTrans" cxnId="{0AECF7E4-6654-4C70-9998-1AA2F0A4C860}">
      <dgm:prSet/>
      <dgm:spPr/>
      <dgm:t>
        <a:bodyPr/>
        <a:lstStyle/>
        <a:p>
          <a:endParaRPr lang="en-US"/>
        </a:p>
      </dgm:t>
    </dgm:pt>
    <dgm:pt modelId="{7C1C3BD5-6757-49FE-966B-35E051F6B0EA}" type="sibTrans" cxnId="{0AECF7E4-6654-4C70-9998-1AA2F0A4C860}">
      <dgm:prSet/>
      <dgm:spPr/>
      <dgm:t>
        <a:bodyPr/>
        <a:lstStyle/>
        <a:p>
          <a:endParaRPr lang="en-US"/>
        </a:p>
      </dgm:t>
    </dgm:pt>
    <dgm:pt modelId="{957F19A3-44DC-4C6F-BAA3-2002BC2ECA76}">
      <dgm:prSet phldrT="[Text]" custT="1"/>
      <dgm:spPr/>
      <dgm:t>
        <a:bodyPr/>
        <a:lstStyle/>
        <a:p>
          <a:r>
            <a:rPr lang="en-GB" sz="1600" dirty="0">
              <a:solidFill>
                <a:schemeClr val="tx1"/>
              </a:solidFill>
            </a:rPr>
            <a:t>Master Data</a:t>
          </a:r>
          <a:endParaRPr lang="ru-RU" sz="1600" dirty="0">
            <a:solidFill>
              <a:schemeClr val="tx1"/>
            </a:solidFill>
          </a:endParaRPr>
        </a:p>
      </dgm:t>
    </dgm:pt>
    <dgm:pt modelId="{53EF436F-ECDE-459C-9A3E-4627F86978BC}" type="parTrans" cxnId="{A2AB5CA7-865C-45B8-A81A-26B0DAAF56CD}">
      <dgm:prSet/>
      <dgm:spPr/>
      <dgm:t>
        <a:bodyPr/>
        <a:lstStyle/>
        <a:p>
          <a:endParaRPr lang="en-US"/>
        </a:p>
      </dgm:t>
    </dgm:pt>
    <dgm:pt modelId="{316C7972-4017-4586-B8F7-4306E4D722CA}" type="sibTrans" cxnId="{A2AB5CA7-865C-45B8-A81A-26B0DAAF56CD}">
      <dgm:prSet/>
      <dgm:spPr/>
      <dgm:t>
        <a:bodyPr/>
        <a:lstStyle/>
        <a:p>
          <a:endParaRPr lang="en-US"/>
        </a:p>
      </dgm:t>
    </dgm:pt>
    <dgm:pt modelId="{7655CD46-CEF9-4D1E-BF24-0E055C07065D}">
      <dgm:prSet phldrT="[Text]" custT="1"/>
      <dgm:spPr/>
      <dgm:t>
        <a:bodyPr/>
        <a:lstStyle/>
        <a:p>
          <a:r>
            <a:rPr lang="en-GB" sz="1800" dirty="0">
              <a:solidFill>
                <a:schemeClr val="tx1"/>
              </a:solidFill>
            </a:rPr>
            <a:t>Project Creation and types</a:t>
          </a:r>
          <a:endParaRPr lang="ru-RU" sz="1800" dirty="0">
            <a:solidFill>
              <a:schemeClr val="tx1"/>
            </a:solidFill>
          </a:endParaRPr>
        </a:p>
      </dgm:t>
    </dgm:pt>
    <dgm:pt modelId="{03A88C9C-048E-463D-AB44-981535C0FA5A}" type="parTrans" cxnId="{1964B5D1-EBF3-4AA5-859B-6B1B761FFEFF}">
      <dgm:prSet/>
      <dgm:spPr/>
      <dgm:t>
        <a:bodyPr/>
        <a:lstStyle/>
        <a:p>
          <a:endParaRPr lang="en-US"/>
        </a:p>
      </dgm:t>
    </dgm:pt>
    <dgm:pt modelId="{4614BF21-84FF-40BB-9149-EA7A91370DF5}" type="sibTrans" cxnId="{1964B5D1-EBF3-4AA5-859B-6B1B761FFEFF}">
      <dgm:prSet/>
      <dgm:spPr/>
      <dgm:t>
        <a:bodyPr/>
        <a:lstStyle/>
        <a:p>
          <a:endParaRPr lang="en-US"/>
        </a:p>
      </dgm:t>
    </dgm:pt>
    <dgm:pt modelId="{59FC85EF-5A41-4960-8842-5AE5F3B46486}">
      <dgm:prSet phldrT="[Text]" custT="1"/>
      <dgm:spPr/>
      <dgm:t>
        <a:bodyPr/>
        <a:lstStyle/>
        <a:p>
          <a:r>
            <a:rPr lang="en-GB" sz="1600" dirty="0">
              <a:solidFill>
                <a:schemeClr val="tx1"/>
              </a:solidFill>
            </a:rPr>
            <a:t>CJ03/CJ13/CN43N	</a:t>
          </a:r>
          <a:endParaRPr lang="ru-RU" sz="1600" dirty="0">
            <a:solidFill>
              <a:schemeClr val="tx1"/>
            </a:solidFill>
          </a:endParaRPr>
        </a:p>
      </dgm:t>
    </dgm:pt>
    <dgm:pt modelId="{9937BB7E-3D60-4B82-87E6-7AE8598242A0}" type="parTrans" cxnId="{D1B6E18C-B591-4472-8D52-8EE2681D3639}">
      <dgm:prSet/>
      <dgm:spPr/>
      <dgm:t>
        <a:bodyPr/>
        <a:lstStyle/>
        <a:p>
          <a:endParaRPr lang="en-US"/>
        </a:p>
      </dgm:t>
    </dgm:pt>
    <dgm:pt modelId="{D85A98A0-B970-4F2E-8E74-AB7914B79E76}" type="sibTrans" cxnId="{D1B6E18C-B591-4472-8D52-8EE2681D3639}">
      <dgm:prSet/>
      <dgm:spPr/>
      <dgm:t>
        <a:bodyPr/>
        <a:lstStyle/>
        <a:p>
          <a:endParaRPr lang="en-US"/>
        </a:p>
      </dgm:t>
    </dgm:pt>
    <dgm:pt modelId="{BBCC42F9-8D0B-4F23-8D47-A3FC85E12391}">
      <dgm:prSet phldrT="[Text]" custT="1"/>
      <dgm:spPr/>
      <dgm:t>
        <a:bodyPr/>
        <a:lstStyle/>
        <a:p>
          <a:r>
            <a:rPr lang="en-GB" sz="1600" dirty="0">
              <a:solidFill>
                <a:schemeClr val="tx1"/>
              </a:solidFill>
            </a:rPr>
            <a:t>Project Structure</a:t>
          </a:r>
          <a:endParaRPr lang="ru-RU" sz="1600" dirty="0">
            <a:solidFill>
              <a:schemeClr val="tx1"/>
            </a:solidFill>
          </a:endParaRPr>
        </a:p>
      </dgm:t>
    </dgm:pt>
    <dgm:pt modelId="{015901F5-5BBB-463C-B765-DC05B0C557C2}" type="parTrans" cxnId="{1171C363-0895-4CE8-97B6-B83282C6D2A0}">
      <dgm:prSet/>
      <dgm:spPr/>
    </dgm:pt>
    <dgm:pt modelId="{7C0C16B1-65A8-4A12-A4F3-6BA7CD2CDD64}" type="sibTrans" cxnId="{1171C363-0895-4CE8-97B6-B83282C6D2A0}">
      <dgm:prSet/>
      <dgm:spPr/>
    </dgm:pt>
    <dgm:pt modelId="{C3ECF951-2C97-4904-88E3-330393AD1852}">
      <dgm:prSet phldrT="[Text]" custT="1"/>
      <dgm:spPr/>
      <dgm:t>
        <a:bodyPr/>
        <a:lstStyle/>
        <a:p>
          <a:r>
            <a:rPr lang="en-GB" sz="1600" dirty="0">
              <a:solidFill>
                <a:schemeClr val="tx1"/>
              </a:solidFill>
            </a:rPr>
            <a:t>Organizational details</a:t>
          </a:r>
          <a:endParaRPr lang="ru-RU" sz="1600" dirty="0">
            <a:solidFill>
              <a:schemeClr val="tx1"/>
            </a:solidFill>
          </a:endParaRPr>
        </a:p>
      </dgm:t>
    </dgm:pt>
    <dgm:pt modelId="{364E8BEB-912D-43B8-B18E-9CCCCF559DCD}" type="parTrans" cxnId="{A41388F6-A64E-4206-BB1F-8A5E9C056F73}">
      <dgm:prSet/>
      <dgm:spPr/>
    </dgm:pt>
    <dgm:pt modelId="{C892E655-4019-4E01-9708-BD348BC96C02}" type="sibTrans" cxnId="{A41388F6-A64E-4206-BB1F-8A5E9C056F73}">
      <dgm:prSet/>
      <dgm:spPr/>
    </dgm:pt>
    <dgm:pt modelId="{456D4858-C79E-45D5-B94C-34CC773FC7BF}" type="pres">
      <dgm:prSet presAssocID="{7A17BB4F-B3F3-4D6E-AECE-7D5A3D3C65F9}" presName="cycleMatrixDiagram" presStyleCnt="0">
        <dgm:presLayoutVars>
          <dgm:chMax val="1"/>
          <dgm:dir/>
          <dgm:animLvl val="lvl"/>
          <dgm:resizeHandles val="exact"/>
        </dgm:presLayoutVars>
      </dgm:prSet>
      <dgm:spPr/>
    </dgm:pt>
    <dgm:pt modelId="{9A631F88-2FAD-49C6-BD11-E4A65701C126}" type="pres">
      <dgm:prSet presAssocID="{7A17BB4F-B3F3-4D6E-AECE-7D5A3D3C65F9}" presName="children" presStyleCnt="0"/>
      <dgm:spPr/>
    </dgm:pt>
    <dgm:pt modelId="{37F50C0A-FF63-40CB-A039-D23010717BA5}" type="pres">
      <dgm:prSet presAssocID="{7A17BB4F-B3F3-4D6E-AECE-7D5A3D3C65F9}" presName="child1group" presStyleCnt="0"/>
      <dgm:spPr/>
    </dgm:pt>
    <dgm:pt modelId="{B19A6B7E-D3D2-4634-9526-FCF4D340250C}" type="pres">
      <dgm:prSet presAssocID="{7A17BB4F-B3F3-4D6E-AECE-7D5A3D3C65F9}" presName="child1" presStyleLbl="bgAcc1" presStyleIdx="0" presStyleCnt="4" custScaleX="152681" custScaleY="127296" custLinFactNeighborX="-11914" custLinFactNeighborY="26504"/>
      <dgm:spPr/>
    </dgm:pt>
    <dgm:pt modelId="{0259A741-096C-42F6-B428-31621093548B}" type="pres">
      <dgm:prSet presAssocID="{7A17BB4F-B3F3-4D6E-AECE-7D5A3D3C65F9}" presName="child1Text" presStyleLbl="bgAcc1" presStyleIdx="0" presStyleCnt="4">
        <dgm:presLayoutVars>
          <dgm:bulletEnabled val="1"/>
        </dgm:presLayoutVars>
      </dgm:prSet>
      <dgm:spPr/>
    </dgm:pt>
    <dgm:pt modelId="{50D9527B-35A6-4C9F-BADB-83CF554AAAB3}" type="pres">
      <dgm:prSet presAssocID="{7A17BB4F-B3F3-4D6E-AECE-7D5A3D3C65F9}" presName="child2group" presStyleCnt="0"/>
      <dgm:spPr/>
    </dgm:pt>
    <dgm:pt modelId="{1E4A753E-33B0-4650-88C1-705251F20492}" type="pres">
      <dgm:prSet presAssocID="{7A17BB4F-B3F3-4D6E-AECE-7D5A3D3C65F9}" presName="child2" presStyleLbl="bgAcc1" presStyleIdx="1" presStyleCnt="4" custScaleX="135471" custScaleY="120242" custLinFactNeighborX="27946" custLinFactNeighborY="23387"/>
      <dgm:spPr/>
    </dgm:pt>
    <dgm:pt modelId="{9F3CE8A5-5057-42AA-BFC5-71CDEE150CB0}" type="pres">
      <dgm:prSet presAssocID="{7A17BB4F-B3F3-4D6E-AECE-7D5A3D3C65F9}" presName="child2Text" presStyleLbl="bgAcc1" presStyleIdx="1" presStyleCnt="4">
        <dgm:presLayoutVars>
          <dgm:bulletEnabled val="1"/>
        </dgm:presLayoutVars>
      </dgm:prSet>
      <dgm:spPr/>
    </dgm:pt>
    <dgm:pt modelId="{B9FD52CF-534F-475A-B041-97DF7BD0979E}" type="pres">
      <dgm:prSet presAssocID="{7A17BB4F-B3F3-4D6E-AECE-7D5A3D3C65F9}" presName="child3group" presStyleCnt="0"/>
      <dgm:spPr/>
    </dgm:pt>
    <dgm:pt modelId="{01ED3AD5-DE31-4F45-942B-F872688845E0}" type="pres">
      <dgm:prSet presAssocID="{7A17BB4F-B3F3-4D6E-AECE-7D5A3D3C65F9}" presName="child3" presStyleLbl="bgAcc1" presStyleIdx="2" presStyleCnt="4" custScaleX="160153" custScaleY="158993" custLinFactNeighborX="31808" custLinFactNeighborY="-14208"/>
      <dgm:spPr/>
    </dgm:pt>
    <dgm:pt modelId="{167147AC-4E68-4AB5-8A9F-A52E3F1BD0B2}" type="pres">
      <dgm:prSet presAssocID="{7A17BB4F-B3F3-4D6E-AECE-7D5A3D3C65F9}" presName="child3Text" presStyleLbl="bgAcc1" presStyleIdx="2" presStyleCnt="4">
        <dgm:presLayoutVars>
          <dgm:bulletEnabled val="1"/>
        </dgm:presLayoutVars>
      </dgm:prSet>
      <dgm:spPr/>
    </dgm:pt>
    <dgm:pt modelId="{426AF075-BBF7-47A7-9421-F9D1567684CC}" type="pres">
      <dgm:prSet presAssocID="{7A17BB4F-B3F3-4D6E-AECE-7D5A3D3C65F9}" presName="child4group" presStyleCnt="0"/>
      <dgm:spPr/>
    </dgm:pt>
    <dgm:pt modelId="{1AF3A53C-56BB-467C-80AA-3D046360B793}" type="pres">
      <dgm:prSet presAssocID="{7A17BB4F-B3F3-4D6E-AECE-7D5A3D3C65F9}" presName="child4" presStyleLbl="bgAcc1" presStyleIdx="3" presStyleCnt="4" custScaleX="171589" custScaleY="176586" custLinFactNeighborX="-12936" custLinFactNeighborY="-12087"/>
      <dgm:spPr/>
    </dgm:pt>
    <dgm:pt modelId="{FF1B687F-0B47-46B3-9385-988F68D21592}" type="pres">
      <dgm:prSet presAssocID="{7A17BB4F-B3F3-4D6E-AECE-7D5A3D3C65F9}" presName="child4Text" presStyleLbl="bgAcc1" presStyleIdx="3" presStyleCnt="4">
        <dgm:presLayoutVars>
          <dgm:bulletEnabled val="1"/>
        </dgm:presLayoutVars>
      </dgm:prSet>
      <dgm:spPr/>
    </dgm:pt>
    <dgm:pt modelId="{36B4DAE9-966A-4F94-AD8D-542BD9999DCF}" type="pres">
      <dgm:prSet presAssocID="{7A17BB4F-B3F3-4D6E-AECE-7D5A3D3C65F9}" presName="childPlaceholder" presStyleCnt="0"/>
      <dgm:spPr/>
    </dgm:pt>
    <dgm:pt modelId="{8E1A1BB7-7807-45EC-91B6-27A8EB9E2C46}" type="pres">
      <dgm:prSet presAssocID="{7A17BB4F-B3F3-4D6E-AECE-7D5A3D3C65F9}" presName="circle" presStyleCnt="0"/>
      <dgm:spPr/>
    </dgm:pt>
    <dgm:pt modelId="{AF8B70A9-E5BF-4FE8-8604-ABEAFAA7D0AB}" type="pres">
      <dgm:prSet presAssocID="{7A17BB4F-B3F3-4D6E-AECE-7D5A3D3C65F9}" presName="quadrant1" presStyleLbl="node1" presStyleIdx="0" presStyleCnt="4">
        <dgm:presLayoutVars>
          <dgm:chMax val="1"/>
          <dgm:bulletEnabled val="1"/>
        </dgm:presLayoutVars>
      </dgm:prSet>
      <dgm:spPr/>
    </dgm:pt>
    <dgm:pt modelId="{15B9AFCD-E4A9-4732-A0CA-EAC3C5755211}" type="pres">
      <dgm:prSet presAssocID="{7A17BB4F-B3F3-4D6E-AECE-7D5A3D3C65F9}" presName="quadrant2" presStyleLbl="node1" presStyleIdx="1" presStyleCnt="4">
        <dgm:presLayoutVars>
          <dgm:chMax val="1"/>
          <dgm:bulletEnabled val="1"/>
        </dgm:presLayoutVars>
      </dgm:prSet>
      <dgm:spPr/>
    </dgm:pt>
    <dgm:pt modelId="{E10F2CDE-226A-4019-B233-26338D4DBA81}" type="pres">
      <dgm:prSet presAssocID="{7A17BB4F-B3F3-4D6E-AECE-7D5A3D3C65F9}" presName="quadrant3" presStyleLbl="node1" presStyleIdx="2" presStyleCnt="4">
        <dgm:presLayoutVars>
          <dgm:chMax val="1"/>
          <dgm:bulletEnabled val="1"/>
        </dgm:presLayoutVars>
      </dgm:prSet>
      <dgm:spPr/>
    </dgm:pt>
    <dgm:pt modelId="{2E0E27B9-93F3-457C-8650-BBB3C2C4868A}" type="pres">
      <dgm:prSet presAssocID="{7A17BB4F-B3F3-4D6E-AECE-7D5A3D3C65F9}" presName="quadrant4" presStyleLbl="node1" presStyleIdx="3" presStyleCnt="4">
        <dgm:presLayoutVars>
          <dgm:chMax val="1"/>
          <dgm:bulletEnabled val="1"/>
        </dgm:presLayoutVars>
      </dgm:prSet>
      <dgm:spPr/>
    </dgm:pt>
    <dgm:pt modelId="{39C32BB8-A564-4285-B345-840BB744B213}" type="pres">
      <dgm:prSet presAssocID="{7A17BB4F-B3F3-4D6E-AECE-7D5A3D3C65F9}" presName="quadrantPlaceholder" presStyleCnt="0"/>
      <dgm:spPr/>
    </dgm:pt>
    <dgm:pt modelId="{15CA9C7E-5C11-43AF-BBE1-73F539DBA6E9}" type="pres">
      <dgm:prSet presAssocID="{7A17BB4F-B3F3-4D6E-AECE-7D5A3D3C65F9}" presName="center1" presStyleLbl="fgShp" presStyleIdx="0" presStyleCnt="2" custAng="5400000" custScaleX="63619" custScaleY="63852" custLinFactNeighborX="61101" custLinFactNeighborY="19465"/>
      <dgm:spPr/>
    </dgm:pt>
    <dgm:pt modelId="{5A14F350-7D70-4476-8E62-9B5571328BE8}" type="pres">
      <dgm:prSet presAssocID="{7A17BB4F-B3F3-4D6E-AECE-7D5A3D3C65F9}" presName="center2" presStyleLbl="fgShp" presStyleIdx="1" presStyleCnt="2" custScaleX="67491" custScaleY="83983" custLinFactNeighborX="-6749" custLinFactNeighborY="46569"/>
      <dgm:spPr/>
    </dgm:pt>
  </dgm:ptLst>
  <dgm:cxnLst>
    <dgm:cxn modelId="{FAB7F203-3702-4C08-A576-DD8A9A99AA54}" type="presOf" srcId="{D581B58E-FB1B-4EC9-B9E8-E855008EB0A5}" destId="{01ED3AD5-DE31-4F45-942B-F872688845E0}" srcOrd="0" destOrd="2" presId="urn:microsoft.com/office/officeart/2005/8/layout/cycle4"/>
    <dgm:cxn modelId="{A20FBF04-4D72-405F-B6D8-1FE2081F750C}" type="presOf" srcId="{BBCC42F9-8D0B-4F23-8D47-A3FC85E12391}" destId="{FF1B687F-0B47-46B3-9385-988F68D21592}" srcOrd="1" destOrd="3" presId="urn:microsoft.com/office/officeart/2005/8/layout/cycle4"/>
    <dgm:cxn modelId="{2842AF10-E1BC-4248-A41F-85153745832F}" type="presOf" srcId="{0018964F-2BEC-4EE7-A093-B3EA0A2ACF22}" destId="{1E4A753E-33B0-4650-88C1-705251F20492}" srcOrd="0" destOrd="2" presId="urn:microsoft.com/office/officeart/2005/8/layout/cycle4"/>
    <dgm:cxn modelId="{5603AC19-33E2-409D-B09A-B658C20A03D4}" type="presOf" srcId="{0018964F-2BEC-4EE7-A093-B3EA0A2ACF22}" destId="{9F3CE8A5-5057-42AA-BFC5-71CDEE150CB0}" srcOrd="1" destOrd="2" presId="urn:microsoft.com/office/officeart/2005/8/layout/cycle4"/>
    <dgm:cxn modelId="{97D3861E-AB60-491B-8098-29BF82525699}" type="presOf" srcId="{E9A2ABCA-8E60-49E4-B8D0-62E8B2A23EF2}" destId="{0259A741-096C-42F6-B428-31621093548B}" srcOrd="1" destOrd="0" presId="urn:microsoft.com/office/officeart/2005/8/layout/cycle4"/>
    <dgm:cxn modelId="{ABCDA020-D516-4C78-A422-C99E02E19392}" srcId="{7399B660-E81B-4726-A27E-3B9D2FCDA028}" destId="{6F413482-4970-487B-AF1D-AF7887BBBDC8}" srcOrd="0" destOrd="0" parTransId="{00FF3399-FF8B-4487-BE31-FAB2BAA49E5A}" sibTransId="{0DD95717-C3BC-463E-A8F8-A8C054F1E00E}"/>
    <dgm:cxn modelId="{57011B24-39D9-48E5-94E7-4F295413A19F}" type="presOf" srcId="{DB6CA8D2-A844-49E1-B406-FEC278C6AC19}" destId="{FF1B687F-0B47-46B3-9385-988F68D21592}" srcOrd="1" destOrd="0" presId="urn:microsoft.com/office/officeart/2005/8/layout/cycle4"/>
    <dgm:cxn modelId="{3EE2312E-78A2-4B5A-912D-6FBD2B9514A2}" type="presOf" srcId="{C3ECF951-2C97-4904-88E3-330393AD1852}" destId="{1AF3A53C-56BB-467C-80AA-3D046360B793}" srcOrd="0" destOrd="5" presId="urn:microsoft.com/office/officeart/2005/8/layout/cycle4"/>
    <dgm:cxn modelId="{CAB8B838-32E5-47A5-B54E-1240E087C8DB}" srcId="{7399B660-E81B-4726-A27E-3B9D2FCDA028}" destId="{D581B58E-FB1B-4EC9-B9E8-E855008EB0A5}" srcOrd="2" destOrd="0" parTransId="{28E4B611-4463-4D36-B514-5CCE9A04A389}" sibTransId="{95E4E689-9717-492A-A44B-A3CCDBAF37CD}"/>
    <dgm:cxn modelId="{C5427A3C-E9A9-4DE7-8E98-0615BF479157}" srcId="{7A17BB4F-B3F3-4D6E-AECE-7D5A3D3C65F9}" destId="{7399B660-E81B-4726-A27E-3B9D2FCDA028}" srcOrd="2" destOrd="0" parTransId="{73A679A7-4DA3-41EB-AD01-A7132ECF34E0}" sibTransId="{E477960C-64F7-4AB9-B547-DD2CBB4CA5BF}"/>
    <dgm:cxn modelId="{87DBEB3C-BF03-4119-9AA4-BB401E60E001}" type="presOf" srcId="{349F34C1-464F-4D9B-9EE3-E6C621A91100}" destId="{2E0E27B9-93F3-457C-8650-BBB3C2C4868A}" srcOrd="0" destOrd="0" presId="urn:microsoft.com/office/officeart/2005/8/layout/cycle4"/>
    <dgm:cxn modelId="{0C8FA35C-9486-49B7-8AA9-055011188479}" srcId="{F6D6F1B6-F935-4371-9D7A-E0CF9F1334C6}" destId="{AF041E0D-2B4D-49A6-89DD-08FC777FAE9E}" srcOrd="3" destOrd="0" parTransId="{C4A574A3-CA8E-4395-B60B-4A35AC8DEB2F}" sibTransId="{48A1EB07-B6A8-4EF5-873C-CDFBCA22118F}"/>
    <dgm:cxn modelId="{61567C5E-912C-4D48-804D-BC2A04C63E9F}" type="presOf" srcId="{59FC85EF-5A41-4960-8842-5AE5F3B46486}" destId="{1AF3A53C-56BB-467C-80AA-3D046360B793}" srcOrd="0" destOrd="1" presId="urn:microsoft.com/office/officeart/2005/8/layout/cycle4"/>
    <dgm:cxn modelId="{1171C363-0895-4CE8-97B6-B83282C6D2A0}" srcId="{59FC85EF-5A41-4960-8842-5AE5F3B46486}" destId="{BBCC42F9-8D0B-4F23-8D47-A3FC85E12391}" srcOrd="1" destOrd="0" parTransId="{015901F5-5BBB-463C-B765-DC05B0C557C2}" sibTransId="{7C0C16B1-65A8-4A12-A4F3-6BA7CD2CDD64}"/>
    <dgm:cxn modelId="{2209DF63-D4F6-4B0C-AB2A-0395C997F6E9}" type="presOf" srcId="{6F413482-4970-487B-AF1D-AF7887BBBDC8}" destId="{167147AC-4E68-4AB5-8A9F-A52E3F1BD0B2}" srcOrd="1" destOrd="0" presId="urn:microsoft.com/office/officeart/2005/8/layout/cycle4"/>
    <dgm:cxn modelId="{945FC767-1138-47BF-AD40-DAAB7A2BFD73}" type="presOf" srcId="{8E6E043F-CBF8-4B90-8C61-7C86DF589FF6}" destId="{B19A6B7E-D3D2-4634-9526-FCF4D340250C}" srcOrd="0" destOrd="1" presId="urn:microsoft.com/office/officeart/2005/8/layout/cycle4"/>
    <dgm:cxn modelId="{82B9F768-08D4-4C22-81DD-98121EA242D4}" srcId="{F6D6F1B6-F935-4371-9D7A-E0CF9F1334C6}" destId="{0018964F-2BEC-4EE7-A093-B3EA0A2ACF22}" srcOrd="2" destOrd="0" parTransId="{859773DD-E3C9-4D22-BD16-22F9B444B0C2}" sibTransId="{D48D5763-03B0-4FCE-B321-737C38B320E9}"/>
    <dgm:cxn modelId="{A4C1E269-086F-4E50-9F18-089D6B7ED204}" srcId="{349F34C1-464F-4D9B-9EE3-E6C621A91100}" destId="{DB6CA8D2-A844-49E1-B406-FEC278C6AC19}" srcOrd="0" destOrd="0" parTransId="{E99ED006-943B-48E4-BE08-4DA4DC231B07}" sibTransId="{CD7F008B-B48E-49BE-93A3-57E813F51F3B}"/>
    <dgm:cxn modelId="{E178166A-86C0-4798-91A6-313BB8B53F4B}" type="presOf" srcId="{00FB5ECD-6BEA-415E-90AF-A9410D892763}" destId="{AF8B70A9-E5BF-4FE8-8604-ABEAFAA7D0AB}" srcOrd="0" destOrd="0" presId="urn:microsoft.com/office/officeart/2005/8/layout/cycle4"/>
    <dgm:cxn modelId="{01D50E4C-74BA-408F-B96C-2F9883D94DEE}" type="presOf" srcId="{A850864F-2042-46EE-A59E-76E9A6155BF2}" destId="{9F3CE8A5-5057-42AA-BFC5-71CDEE150CB0}" srcOrd="1" destOrd="0" presId="urn:microsoft.com/office/officeart/2005/8/layout/cycle4"/>
    <dgm:cxn modelId="{0F967B6F-4D1E-46CC-8D85-6881EB568EA8}" type="presOf" srcId="{F6D6F1B6-F935-4371-9D7A-E0CF9F1334C6}" destId="{15B9AFCD-E4A9-4732-A0CA-EAC3C5755211}" srcOrd="0" destOrd="0" presId="urn:microsoft.com/office/officeart/2005/8/layout/cycle4"/>
    <dgm:cxn modelId="{B33E0550-B3E6-429C-9AB1-027520B23BFE}" type="presOf" srcId="{948DF411-9E40-4CB7-890E-F07DB9AD297E}" destId="{0259A741-096C-42F6-B428-31621093548B}" srcOrd="1" destOrd="2" presId="urn:microsoft.com/office/officeart/2005/8/layout/cycle4"/>
    <dgm:cxn modelId="{AB622A72-ADF0-4917-AFC7-84BD9CE53FE7}" type="presOf" srcId="{6F413482-4970-487B-AF1D-AF7887BBBDC8}" destId="{01ED3AD5-DE31-4F45-942B-F872688845E0}" srcOrd="0" destOrd="0" presId="urn:microsoft.com/office/officeart/2005/8/layout/cycle4"/>
    <dgm:cxn modelId="{8B485872-F802-4CA0-A1D2-1AC74649C3BA}" srcId="{F6D6F1B6-F935-4371-9D7A-E0CF9F1334C6}" destId="{A850864F-2042-46EE-A59E-76E9A6155BF2}" srcOrd="0" destOrd="0" parTransId="{8FBA4BA7-2C34-497A-8C0B-E980CC697BB6}" sibTransId="{C78A2FCB-7CC0-46FC-8C80-1FA55D052BD9}"/>
    <dgm:cxn modelId="{F71AF273-EF4E-4D54-8815-F2140CBCAD9C}" type="presOf" srcId="{7A17BB4F-B3F3-4D6E-AECE-7D5A3D3C65F9}" destId="{456D4858-C79E-45D5-B94C-34CC773FC7BF}" srcOrd="0" destOrd="0" presId="urn:microsoft.com/office/officeart/2005/8/layout/cycle4"/>
    <dgm:cxn modelId="{94E05E5A-130B-458A-851C-2092476FEC4C}" type="presOf" srcId="{7EBE8F03-F640-4B18-A52F-A6F20F66E6F5}" destId="{01ED3AD5-DE31-4F45-942B-F872688845E0}" srcOrd="0" destOrd="1" presId="urn:microsoft.com/office/officeart/2005/8/layout/cycle4"/>
    <dgm:cxn modelId="{4D01957B-8D84-43A7-9F76-08727CE72EBD}" type="presOf" srcId="{7399B660-E81B-4726-A27E-3B9D2FCDA028}" destId="{E10F2CDE-226A-4019-B233-26338D4DBA81}" srcOrd="0" destOrd="0" presId="urn:microsoft.com/office/officeart/2005/8/layout/cycle4"/>
    <dgm:cxn modelId="{0CB77F7E-EC43-41DA-9E04-2F6C3878613F}" type="presOf" srcId="{7655CD46-CEF9-4D1E-BF24-0E055C07065D}" destId="{1E4A753E-33B0-4650-88C1-705251F20492}" srcOrd="0" destOrd="1" presId="urn:microsoft.com/office/officeart/2005/8/layout/cycle4"/>
    <dgm:cxn modelId="{C6E3E488-F1C4-4633-823A-39FFD7536F3A}" type="presOf" srcId="{A850864F-2042-46EE-A59E-76E9A6155BF2}" destId="{1E4A753E-33B0-4650-88C1-705251F20492}" srcOrd="0" destOrd="0" presId="urn:microsoft.com/office/officeart/2005/8/layout/cycle4"/>
    <dgm:cxn modelId="{D1B6E18C-B591-4472-8D52-8EE2681D3639}" srcId="{349F34C1-464F-4D9B-9EE3-E6C621A91100}" destId="{59FC85EF-5A41-4960-8842-5AE5F3B46486}" srcOrd="1" destOrd="0" parTransId="{9937BB7E-3D60-4B82-87E6-7AE8598242A0}" sibTransId="{D85A98A0-B970-4F2E-8E74-AB7914B79E76}"/>
    <dgm:cxn modelId="{F50C2F8D-4F42-4D0E-90ED-3073E432E2BB}" srcId="{00FB5ECD-6BEA-415E-90AF-A9410D892763}" destId="{8E6E043F-CBF8-4B90-8C61-7C86DF589FF6}" srcOrd="1" destOrd="0" parTransId="{C61F461E-C4ED-428A-A517-25867DC43566}" sibTransId="{B59DB11D-C768-4B9A-873F-4CA52350A6A9}"/>
    <dgm:cxn modelId="{18206393-B109-4444-A125-390BA67DAC9C}" type="presOf" srcId="{AF041E0D-2B4D-49A6-89DD-08FC777FAE9E}" destId="{9F3CE8A5-5057-42AA-BFC5-71CDEE150CB0}" srcOrd="1" destOrd="3" presId="urn:microsoft.com/office/officeart/2005/8/layout/cycle4"/>
    <dgm:cxn modelId="{5E4C5A93-6299-434D-BF94-4F325A8B6ADB}" type="presOf" srcId="{7EBE8F03-F640-4B18-A52F-A6F20F66E6F5}" destId="{167147AC-4E68-4AB5-8A9F-A52E3F1BD0B2}" srcOrd="1" destOrd="1" presId="urn:microsoft.com/office/officeart/2005/8/layout/cycle4"/>
    <dgm:cxn modelId="{0DE1389B-94A7-4658-9FD2-F010B2ECEDE7}" type="presOf" srcId="{957F19A3-44DC-4C6F-BAA3-2002BC2ECA76}" destId="{FF1B687F-0B47-46B3-9385-988F68D21592}" srcOrd="1" destOrd="2" presId="urn:microsoft.com/office/officeart/2005/8/layout/cycle4"/>
    <dgm:cxn modelId="{5857B9A2-EB51-4C4C-9913-E1E61A59B33B}" type="presOf" srcId="{31AB2194-DF39-4F04-AA1F-D823EC70D0E2}" destId="{FF1B687F-0B47-46B3-9385-988F68D21592}" srcOrd="1" destOrd="4" presId="urn:microsoft.com/office/officeart/2005/8/layout/cycle4"/>
    <dgm:cxn modelId="{A2AB5CA7-865C-45B8-A81A-26B0DAAF56CD}" srcId="{59FC85EF-5A41-4960-8842-5AE5F3B46486}" destId="{957F19A3-44DC-4C6F-BAA3-2002BC2ECA76}" srcOrd="0" destOrd="0" parTransId="{53EF436F-ECDE-459C-9A3E-4627F86978BC}" sibTransId="{316C7972-4017-4586-B8F7-4306E4D722CA}"/>
    <dgm:cxn modelId="{24E2CAA9-CC28-42EA-9B69-AB05FC89A8C6}" type="presOf" srcId="{E9A2ABCA-8E60-49E4-B8D0-62E8B2A23EF2}" destId="{B19A6B7E-D3D2-4634-9526-FCF4D340250C}" srcOrd="0" destOrd="0" presId="urn:microsoft.com/office/officeart/2005/8/layout/cycle4"/>
    <dgm:cxn modelId="{BDA646B7-5C53-4B4E-A37B-9EA18FC08128}" srcId="{7A17BB4F-B3F3-4D6E-AECE-7D5A3D3C65F9}" destId="{349F34C1-464F-4D9B-9EE3-E6C621A91100}" srcOrd="3" destOrd="0" parTransId="{A6654983-6539-43E7-8F06-3DB3DD6024AE}" sibTransId="{4C3AC1F6-222E-4295-9B09-EDC6993522A8}"/>
    <dgm:cxn modelId="{CB7D93B8-5B94-4147-BA37-202B4AB7452D}" type="presOf" srcId="{AF041E0D-2B4D-49A6-89DD-08FC777FAE9E}" destId="{1E4A753E-33B0-4650-88C1-705251F20492}" srcOrd="0" destOrd="3" presId="urn:microsoft.com/office/officeart/2005/8/layout/cycle4"/>
    <dgm:cxn modelId="{B3949BBF-789F-464A-9B5A-BE40401629F0}" type="presOf" srcId="{7655CD46-CEF9-4D1E-BF24-0E055C07065D}" destId="{9F3CE8A5-5057-42AA-BFC5-71CDEE150CB0}" srcOrd="1" destOrd="1" presId="urn:microsoft.com/office/officeart/2005/8/layout/cycle4"/>
    <dgm:cxn modelId="{34FC0BC3-36C0-4E99-8A46-A3A9867310A9}" type="presOf" srcId="{DB6CA8D2-A844-49E1-B406-FEC278C6AC19}" destId="{1AF3A53C-56BB-467C-80AA-3D046360B793}" srcOrd="0" destOrd="0" presId="urn:microsoft.com/office/officeart/2005/8/layout/cycle4"/>
    <dgm:cxn modelId="{4F5C46C4-8313-48AA-987C-1C179C29EDE3}" type="presOf" srcId="{59FC85EF-5A41-4960-8842-5AE5F3B46486}" destId="{FF1B687F-0B47-46B3-9385-988F68D21592}" srcOrd="1" destOrd="1" presId="urn:microsoft.com/office/officeart/2005/8/layout/cycle4"/>
    <dgm:cxn modelId="{1964B5D1-EBF3-4AA5-859B-6B1B761FFEFF}" srcId="{F6D6F1B6-F935-4371-9D7A-E0CF9F1334C6}" destId="{7655CD46-CEF9-4D1E-BF24-0E055C07065D}" srcOrd="1" destOrd="0" parTransId="{03A88C9C-048E-463D-AB44-981535C0FA5A}" sibTransId="{4614BF21-84FF-40BB-9149-EA7A91370DF5}"/>
    <dgm:cxn modelId="{AC5EEFD6-2AEB-43DE-8F79-845D23A831FE}" type="presOf" srcId="{31AB2194-DF39-4F04-AA1F-D823EC70D0E2}" destId="{1AF3A53C-56BB-467C-80AA-3D046360B793}" srcOrd="0" destOrd="4" presId="urn:microsoft.com/office/officeart/2005/8/layout/cycle4"/>
    <dgm:cxn modelId="{A627D6D9-989A-40C7-8C64-D4B9BF43D1A4}" type="presOf" srcId="{BBCC42F9-8D0B-4F23-8D47-A3FC85E12391}" destId="{1AF3A53C-56BB-467C-80AA-3D046360B793}" srcOrd="0" destOrd="3" presId="urn:microsoft.com/office/officeart/2005/8/layout/cycle4"/>
    <dgm:cxn modelId="{036A3ADA-C7DB-432B-8B7C-6AD1F036C26B}" srcId="{00FB5ECD-6BEA-415E-90AF-A9410D892763}" destId="{948DF411-9E40-4CB7-890E-F07DB9AD297E}" srcOrd="2" destOrd="0" parTransId="{41A158C6-29F5-4656-96BB-3E66D2E0F13D}" sibTransId="{98CEC944-38B5-46B9-AF09-ABF169A66A9B}"/>
    <dgm:cxn modelId="{6F53A4E1-BF97-4424-9CBA-FFF983D3A2CC}" type="presOf" srcId="{8E6E043F-CBF8-4B90-8C61-7C86DF589FF6}" destId="{0259A741-096C-42F6-B428-31621093548B}" srcOrd="1" destOrd="1" presId="urn:microsoft.com/office/officeart/2005/8/layout/cycle4"/>
    <dgm:cxn modelId="{0AECF7E4-6654-4C70-9998-1AA2F0A4C860}" srcId="{7399B660-E81B-4726-A27E-3B9D2FCDA028}" destId="{7EBE8F03-F640-4B18-A52F-A6F20F66E6F5}" srcOrd="1" destOrd="0" parTransId="{0026EC3D-A3E7-4634-AD1D-6F61A449131D}" sibTransId="{7C1C3BD5-6757-49FE-966B-35E051F6B0EA}"/>
    <dgm:cxn modelId="{64EC7BE6-07B6-45A4-8106-2730D04A0028}" type="presOf" srcId="{957F19A3-44DC-4C6F-BAA3-2002BC2ECA76}" destId="{1AF3A53C-56BB-467C-80AA-3D046360B793}" srcOrd="0" destOrd="2" presId="urn:microsoft.com/office/officeart/2005/8/layout/cycle4"/>
    <dgm:cxn modelId="{C46DE1EC-3017-4879-A203-D711BB1FD1FE}" srcId="{7A17BB4F-B3F3-4D6E-AECE-7D5A3D3C65F9}" destId="{F6D6F1B6-F935-4371-9D7A-E0CF9F1334C6}" srcOrd="1" destOrd="0" parTransId="{DC72CA0E-6C14-4499-A159-28E3B7A9841A}" sibTransId="{1E221EA4-3D22-4D7B-81B2-E11E1E4551D6}"/>
    <dgm:cxn modelId="{AE285EEE-1012-4185-ADF7-23CB8939D76D}" type="presOf" srcId="{C3ECF951-2C97-4904-88E3-330393AD1852}" destId="{FF1B687F-0B47-46B3-9385-988F68D21592}" srcOrd="1" destOrd="5" presId="urn:microsoft.com/office/officeart/2005/8/layout/cycle4"/>
    <dgm:cxn modelId="{2E2345F1-EC2F-4BC1-9363-70375038640D}" srcId="{59FC85EF-5A41-4960-8842-5AE5F3B46486}" destId="{31AB2194-DF39-4F04-AA1F-D823EC70D0E2}" srcOrd="2" destOrd="0" parTransId="{FBC59BC2-7F02-4E8F-BDC8-6C19A592C99E}" sibTransId="{9D06625A-1568-4828-949F-373D2DA5C3BA}"/>
    <dgm:cxn modelId="{D134F8F4-5ECF-4351-B5D7-C9A00C868AE4}" type="presOf" srcId="{D581B58E-FB1B-4EC9-B9E8-E855008EB0A5}" destId="{167147AC-4E68-4AB5-8A9F-A52E3F1BD0B2}" srcOrd="1" destOrd="2" presId="urn:microsoft.com/office/officeart/2005/8/layout/cycle4"/>
    <dgm:cxn modelId="{0902D5F5-20A7-424A-B171-F3D595A121F0}" srcId="{7A17BB4F-B3F3-4D6E-AECE-7D5A3D3C65F9}" destId="{00FB5ECD-6BEA-415E-90AF-A9410D892763}" srcOrd="0" destOrd="0" parTransId="{03B99D31-C08A-4883-83E7-A801DF1D8AF2}" sibTransId="{C1CCFBA7-88E9-4137-9BE6-E96E605510E6}"/>
    <dgm:cxn modelId="{7F2D6EF6-3C4A-40E7-A463-AADADA542C1E}" type="presOf" srcId="{948DF411-9E40-4CB7-890E-F07DB9AD297E}" destId="{B19A6B7E-D3D2-4634-9526-FCF4D340250C}" srcOrd="0" destOrd="2" presId="urn:microsoft.com/office/officeart/2005/8/layout/cycle4"/>
    <dgm:cxn modelId="{A41388F6-A64E-4206-BB1F-8A5E9C056F73}" srcId="{59FC85EF-5A41-4960-8842-5AE5F3B46486}" destId="{C3ECF951-2C97-4904-88E3-330393AD1852}" srcOrd="3" destOrd="0" parTransId="{364E8BEB-912D-43B8-B18E-9CCCCF559DCD}" sibTransId="{C892E655-4019-4E01-9708-BD348BC96C02}"/>
    <dgm:cxn modelId="{F39BF7F6-74AB-4BC7-ACC6-BB57597FB654}" srcId="{00FB5ECD-6BEA-415E-90AF-A9410D892763}" destId="{E9A2ABCA-8E60-49E4-B8D0-62E8B2A23EF2}" srcOrd="0" destOrd="0" parTransId="{7A987784-655B-4BC1-96A8-F4AB5FA43EE2}" sibTransId="{4CD8A939-B000-4BD6-95C6-A1C2E84A9E1E}"/>
    <dgm:cxn modelId="{93A2AE2C-5F9F-415B-998C-05F15F45AF4C}" type="presParOf" srcId="{456D4858-C79E-45D5-B94C-34CC773FC7BF}" destId="{9A631F88-2FAD-49C6-BD11-E4A65701C126}" srcOrd="0" destOrd="0" presId="urn:microsoft.com/office/officeart/2005/8/layout/cycle4"/>
    <dgm:cxn modelId="{DE39917B-C67F-420A-96A4-34EF5866F2C6}" type="presParOf" srcId="{9A631F88-2FAD-49C6-BD11-E4A65701C126}" destId="{37F50C0A-FF63-40CB-A039-D23010717BA5}" srcOrd="0" destOrd="0" presId="urn:microsoft.com/office/officeart/2005/8/layout/cycle4"/>
    <dgm:cxn modelId="{CC65D473-C126-4D89-B708-AB5C942C342B}" type="presParOf" srcId="{37F50C0A-FF63-40CB-A039-D23010717BA5}" destId="{B19A6B7E-D3D2-4634-9526-FCF4D340250C}" srcOrd="0" destOrd="0" presId="urn:microsoft.com/office/officeart/2005/8/layout/cycle4"/>
    <dgm:cxn modelId="{91D0F39D-1AC8-44A3-B33D-5C9D56A72C01}" type="presParOf" srcId="{37F50C0A-FF63-40CB-A039-D23010717BA5}" destId="{0259A741-096C-42F6-B428-31621093548B}" srcOrd="1" destOrd="0" presId="urn:microsoft.com/office/officeart/2005/8/layout/cycle4"/>
    <dgm:cxn modelId="{F2E18AD5-34A4-4518-8AAC-46C42690F32E}" type="presParOf" srcId="{9A631F88-2FAD-49C6-BD11-E4A65701C126}" destId="{50D9527B-35A6-4C9F-BADB-83CF554AAAB3}" srcOrd="1" destOrd="0" presId="urn:microsoft.com/office/officeart/2005/8/layout/cycle4"/>
    <dgm:cxn modelId="{CC308969-9ACA-4958-A749-FF16087B6A02}" type="presParOf" srcId="{50D9527B-35A6-4C9F-BADB-83CF554AAAB3}" destId="{1E4A753E-33B0-4650-88C1-705251F20492}" srcOrd="0" destOrd="0" presId="urn:microsoft.com/office/officeart/2005/8/layout/cycle4"/>
    <dgm:cxn modelId="{E8ABFE05-5F30-4177-9EAE-92BD09957BBE}" type="presParOf" srcId="{50D9527B-35A6-4C9F-BADB-83CF554AAAB3}" destId="{9F3CE8A5-5057-42AA-BFC5-71CDEE150CB0}" srcOrd="1" destOrd="0" presId="urn:microsoft.com/office/officeart/2005/8/layout/cycle4"/>
    <dgm:cxn modelId="{932E5CC9-8203-4356-86BA-47BD20A6FD6B}" type="presParOf" srcId="{9A631F88-2FAD-49C6-BD11-E4A65701C126}" destId="{B9FD52CF-534F-475A-B041-97DF7BD0979E}" srcOrd="2" destOrd="0" presId="urn:microsoft.com/office/officeart/2005/8/layout/cycle4"/>
    <dgm:cxn modelId="{7A9A47E9-C63C-462C-91A3-886AE500FB42}" type="presParOf" srcId="{B9FD52CF-534F-475A-B041-97DF7BD0979E}" destId="{01ED3AD5-DE31-4F45-942B-F872688845E0}" srcOrd="0" destOrd="0" presId="urn:microsoft.com/office/officeart/2005/8/layout/cycle4"/>
    <dgm:cxn modelId="{85B8A050-C3C4-4E54-94E3-112F75364924}" type="presParOf" srcId="{B9FD52CF-534F-475A-B041-97DF7BD0979E}" destId="{167147AC-4E68-4AB5-8A9F-A52E3F1BD0B2}" srcOrd="1" destOrd="0" presId="urn:microsoft.com/office/officeart/2005/8/layout/cycle4"/>
    <dgm:cxn modelId="{2B1A293E-6179-4197-B049-C453E461FA7A}" type="presParOf" srcId="{9A631F88-2FAD-49C6-BD11-E4A65701C126}" destId="{426AF075-BBF7-47A7-9421-F9D1567684CC}" srcOrd="3" destOrd="0" presId="urn:microsoft.com/office/officeart/2005/8/layout/cycle4"/>
    <dgm:cxn modelId="{6F77AF00-C925-456D-8EB1-BCA803325BD6}" type="presParOf" srcId="{426AF075-BBF7-47A7-9421-F9D1567684CC}" destId="{1AF3A53C-56BB-467C-80AA-3D046360B793}" srcOrd="0" destOrd="0" presId="urn:microsoft.com/office/officeart/2005/8/layout/cycle4"/>
    <dgm:cxn modelId="{EBB325B5-6C24-426D-98FD-3F554CE87F50}" type="presParOf" srcId="{426AF075-BBF7-47A7-9421-F9D1567684CC}" destId="{FF1B687F-0B47-46B3-9385-988F68D21592}" srcOrd="1" destOrd="0" presId="urn:microsoft.com/office/officeart/2005/8/layout/cycle4"/>
    <dgm:cxn modelId="{90F1B499-A8BF-47B1-A586-F31649F75FE1}" type="presParOf" srcId="{9A631F88-2FAD-49C6-BD11-E4A65701C126}" destId="{36B4DAE9-966A-4F94-AD8D-542BD9999DCF}" srcOrd="4" destOrd="0" presId="urn:microsoft.com/office/officeart/2005/8/layout/cycle4"/>
    <dgm:cxn modelId="{234B47F7-DDA1-4953-9265-F98633A99C57}" type="presParOf" srcId="{456D4858-C79E-45D5-B94C-34CC773FC7BF}" destId="{8E1A1BB7-7807-45EC-91B6-27A8EB9E2C46}" srcOrd="1" destOrd="0" presId="urn:microsoft.com/office/officeart/2005/8/layout/cycle4"/>
    <dgm:cxn modelId="{29F2F593-CCD4-4F6A-9674-3382189D20FF}" type="presParOf" srcId="{8E1A1BB7-7807-45EC-91B6-27A8EB9E2C46}" destId="{AF8B70A9-E5BF-4FE8-8604-ABEAFAA7D0AB}" srcOrd="0" destOrd="0" presId="urn:microsoft.com/office/officeart/2005/8/layout/cycle4"/>
    <dgm:cxn modelId="{CCCFFFDB-6291-4FEC-8BFD-4C0C2EB18FB7}" type="presParOf" srcId="{8E1A1BB7-7807-45EC-91B6-27A8EB9E2C46}" destId="{15B9AFCD-E4A9-4732-A0CA-EAC3C5755211}" srcOrd="1" destOrd="0" presId="urn:microsoft.com/office/officeart/2005/8/layout/cycle4"/>
    <dgm:cxn modelId="{CA1EE3EF-D99E-4887-8017-E98C1F937B18}" type="presParOf" srcId="{8E1A1BB7-7807-45EC-91B6-27A8EB9E2C46}" destId="{E10F2CDE-226A-4019-B233-26338D4DBA81}" srcOrd="2" destOrd="0" presId="urn:microsoft.com/office/officeart/2005/8/layout/cycle4"/>
    <dgm:cxn modelId="{0C606FF0-F7EE-4DCD-8C3E-86C958F33BB9}" type="presParOf" srcId="{8E1A1BB7-7807-45EC-91B6-27A8EB9E2C46}" destId="{2E0E27B9-93F3-457C-8650-BBB3C2C4868A}" srcOrd="3" destOrd="0" presId="urn:microsoft.com/office/officeart/2005/8/layout/cycle4"/>
    <dgm:cxn modelId="{31D47C7D-8216-4359-9E57-3DDA20179F4A}" type="presParOf" srcId="{8E1A1BB7-7807-45EC-91B6-27A8EB9E2C46}" destId="{39C32BB8-A564-4285-B345-840BB744B213}" srcOrd="4" destOrd="0" presId="urn:microsoft.com/office/officeart/2005/8/layout/cycle4"/>
    <dgm:cxn modelId="{63C9F19B-A444-43EE-A3B4-20D591FF729F}" type="presParOf" srcId="{456D4858-C79E-45D5-B94C-34CC773FC7BF}" destId="{15CA9C7E-5C11-43AF-BBE1-73F539DBA6E9}" srcOrd="2" destOrd="0" presId="urn:microsoft.com/office/officeart/2005/8/layout/cycle4"/>
    <dgm:cxn modelId="{43148E35-7D35-46F2-B306-D9E6717A96AB}" type="presParOf" srcId="{456D4858-C79E-45D5-B94C-34CC773FC7BF}" destId="{5A14F350-7D70-4476-8E62-9B5571328BE8}"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ED3AD5-DE31-4F45-942B-F872688845E0}">
      <dsp:nvSpPr>
        <dsp:cNvPr id="0" name=""/>
        <dsp:cNvSpPr/>
      </dsp:nvSpPr>
      <dsp:spPr>
        <a:xfrm>
          <a:off x="4712749" y="2218678"/>
          <a:ext cx="3372829" cy="2169003"/>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4128129"/>
              <a:satOff val="-30245"/>
              <a:lumOff val="49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GB" sz="1800" kern="1200" dirty="0">
              <a:solidFill>
                <a:schemeClr val="tx1"/>
              </a:solidFill>
            </a:rPr>
            <a:t>How to maintain budget</a:t>
          </a:r>
          <a:endParaRPr lang="ru-RU" sz="1800" kern="1200" dirty="0">
            <a:solidFill>
              <a:schemeClr val="tx1"/>
            </a:solidFill>
          </a:endParaRPr>
        </a:p>
        <a:p>
          <a:pPr marL="171450" lvl="1" indent="-171450" algn="l" defTabSz="800100">
            <a:lnSpc>
              <a:spcPct val="90000"/>
            </a:lnSpc>
            <a:spcBef>
              <a:spcPct val="0"/>
            </a:spcBef>
            <a:spcAft>
              <a:spcPct val="15000"/>
            </a:spcAft>
            <a:buChar char="•"/>
          </a:pPr>
          <a:r>
            <a:rPr lang="en-GB" sz="1800" kern="1200" dirty="0">
              <a:solidFill>
                <a:schemeClr val="tx1"/>
              </a:solidFill>
            </a:rPr>
            <a:t>Budget Distribution</a:t>
          </a:r>
          <a:endParaRPr lang="ru-RU" sz="1800" kern="1200" dirty="0">
            <a:solidFill>
              <a:schemeClr val="tx1"/>
            </a:solidFill>
          </a:endParaRPr>
        </a:p>
        <a:p>
          <a:pPr marL="114300" lvl="1" indent="-114300" algn="l" defTabSz="666750">
            <a:lnSpc>
              <a:spcPct val="90000"/>
            </a:lnSpc>
            <a:spcBef>
              <a:spcPct val="0"/>
            </a:spcBef>
            <a:spcAft>
              <a:spcPct val="15000"/>
            </a:spcAft>
            <a:buChar char="•"/>
          </a:pPr>
          <a:endParaRPr lang="ru-RU" sz="1500" kern="1200" dirty="0"/>
        </a:p>
      </dsp:txBody>
      <dsp:txXfrm>
        <a:off x="5772244" y="2808575"/>
        <a:ext cx="2265688" cy="1531460"/>
      </dsp:txXfrm>
    </dsp:sp>
    <dsp:sp modelId="{1AF3A53C-56BB-467C-80AA-3D046360B793}">
      <dsp:nvSpPr>
        <dsp:cNvPr id="0" name=""/>
        <dsp:cNvSpPr/>
      </dsp:nvSpPr>
      <dsp:spPr>
        <a:xfrm>
          <a:off x="305675" y="2127610"/>
          <a:ext cx="3613671" cy="240900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6192194"/>
              <a:satOff val="-45368"/>
              <a:lumOff val="745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en-GB" sz="1600" kern="1200" dirty="0">
              <a:solidFill>
                <a:schemeClr val="tx1"/>
              </a:solidFill>
            </a:rPr>
            <a:t>SAP GUI 	</a:t>
          </a:r>
          <a:endParaRPr lang="ru-RU" sz="1600" kern="1200" dirty="0">
            <a:solidFill>
              <a:schemeClr val="tx1"/>
            </a:solidFill>
          </a:endParaRPr>
        </a:p>
        <a:p>
          <a:pPr marL="171450" lvl="1" indent="-171450" algn="l" defTabSz="711200">
            <a:lnSpc>
              <a:spcPct val="90000"/>
            </a:lnSpc>
            <a:spcBef>
              <a:spcPct val="0"/>
            </a:spcBef>
            <a:spcAft>
              <a:spcPct val="15000"/>
            </a:spcAft>
            <a:buChar char="•"/>
          </a:pPr>
          <a:r>
            <a:rPr lang="en-GB" sz="1600" kern="1200" dirty="0">
              <a:solidFill>
                <a:schemeClr val="tx1"/>
              </a:solidFill>
            </a:rPr>
            <a:t>CJ03/CJ13/CN43N	</a:t>
          </a:r>
          <a:endParaRPr lang="ru-RU" sz="1600" kern="1200" dirty="0">
            <a:solidFill>
              <a:schemeClr val="tx1"/>
            </a:solidFill>
          </a:endParaRPr>
        </a:p>
        <a:p>
          <a:pPr marL="342900" lvl="2" indent="-171450" algn="l" defTabSz="711200">
            <a:lnSpc>
              <a:spcPct val="90000"/>
            </a:lnSpc>
            <a:spcBef>
              <a:spcPct val="0"/>
            </a:spcBef>
            <a:spcAft>
              <a:spcPct val="15000"/>
            </a:spcAft>
            <a:buChar char="•"/>
          </a:pPr>
          <a:r>
            <a:rPr lang="en-GB" sz="1600" kern="1200" dirty="0">
              <a:solidFill>
                <a:schemeClr val="tx1"/>
              </a:solidFill>
            </a:rPr>
            <a:t>Master Data</a:t>
          </a:r>
          <a:endParaRPr lang="ru-RU" sz="1600" kern="1200" dirty="0">
            <a:solidFill>
              <a:schemeClr val="tx1"/>
            </a:solidFill>
          </a:endParaRPr>
        </a:p>
        <a:p>
          <a:pPr marL="342900" lvl="2" indent="-171450" algn="l" defTabSz="711200">
            <a:lnSpc>
              <a:spcPct val="90000"/>
            </a:lnSpc>
            <a:spcBef>
              <a:spcPct val="0"/>
            </a:spcBef>
            <a:spcAft>
              <a:spcPct val="15000"/>
            </a:spcAft>
            <a:buChar char="•"/>
          </a:pPr>
          <a:r>
            <a:rPr lang="en-GB" sz="1600" kern="1200" dirty="0">
              <a:solidFill>
                <a:schemeClr val="tx1"/>
              </a:solidFill>
            </a:rPr>
            <a:t>Project Structure</a:t>
          </a:r>
          <a:endParaRPr lang="ru-RU" sz="1600" kern="1200" dirty="0">
            <a:solidFill>
              <a:schemeClr val="tx1"/>
            </a:solidFill>
          </a:endParaRPr>
        </a:p>
        <a:p>
          <a:pPr marL="342900" lvl="2" indent="-171450" algn="l" defTabSz="711200">
            <a:lnSpc>
              <a:spcPct val="90000"/>
            </a:lnSpc>
            <a:spcBef>
              <a:spcPct val="0"/>
            </a:spcBef>
            <a:spcAft>
              <a:spcPct val="15000"/>
            </a:spcAft>
            <a:buChar char="•"/>
          </a:pPr>
          <a:r>
            <a:rPr lang="en-GB" sz="1600" kern="1200" dirty="0">
              <a:solidFill>
                <a:schemeClr val="tx1"/>
              </a:solidFill>
            </a:rPr>
            <a:t>System/User status</a:t>
          </a:r>
          <a:endParaRPr lang="ru-RU" sz="1600" kern="1200" dirty="0">
            <a:solidFill>
              <a:schemeClr val="tx1"/>
            </a:solidFill>
          </a:endParaRPr>
        </a:p>
        <a:p>
          <a:pPr marL="342900" lvl="2" indent="-171450" algn="l" defTabSz="711200">
            <a:lnSpc>
              <a:spcPct val="90000"/>
            </a:lnSpc>
            <a:spcBef>
              <a:spcPct val="0"/>
            </a:spcBef>
            <a:spcAft>
              <a:spcPct val="15000"/>
            </a:spcAft>
            <a:buChar char="•"/>
          </a:pPr>
          <a:r>
            <a:rPr lang="en-GB" sz="1600" kern="1200" dirty="0">
              <a:solidFill>
                <a:schemeClr val="tx1"/>
              </a:solidFill>
            </a:rPr>
            <a:t>Organizational details</a:t>
          </a:r>
          <a:endParaRPr lang="ru-RU" sz="1600" kern="1200" dirty="0">
            <a:solidFill>
              <a:schemeClr val="tx1"/>
            </a:solidFill>
          </a:endParaRPr>
        </a:p>
      </dsp:txBody>
      <dsp:txXfrm>
        <a:off x="358593" y="2782780"/>
        <a:ext cx="2423734" cy="1700921"/>
      </dsp:txXfrm>
    </dsp:sp>
    <dsp:sp modelId="{1E4A753E-33B0-4650-88C1-705251F20492}">
      <dsp:nvSpPr>
        <dsp:cNvPr id="0" name=""/>
        <dsp:cNvSpPr/>
      </dsp:nvSpPr>
      <dsp:spPr>
        <a:xfrm>
          <a:off x="4983087" y="96923"/>
          <a:ext cx="2853025" cy="1640357"/>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2064065"/>
              <a:satOff val="-15123"/>
              <a:lumOff val="24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GB" sz="1800" kern="1200" dirty="0">
              <a:solidFill>
                <a:schemeClr val="tx1"/>
              </a:solidFill>
            </a:rPr>
            <a:t>SAP Fiori</a:t>
          </a:r>
          <a:endParaRPr lang="ru-RU" sz="1800" kern="1200" dirty="0">
            <a:solidFill>
              <a:schemeClr val="tx1"/>
            </a:solidFill>
          </a:endParaRPr>
        </a:p>
        <a:p>
          <a:pPr marL="171450" lvl="1" indent="-171450" algn="l" defTabSz="800100">
            <a:lnSpc>
              <a:spcPct val="90000"/>
            </a:lnSpc>
            <a:spcBef>
              <a:spcPct val="0"/>
            </a:spcBef>
            <a:spcAft>
              <a:spcPct val="15000"/>
            </a:spcAft>
            <a:buChar char="•"/>
          </a:pPr>
          <a:r>
            <a:rPr lang="en-GB" sz="1800" kern="1200" dirty="0">
              <a:solidFill>
                <a:schemeClr val="tx1"/>
              </a:solidFill>
            </a:rPr>
            <a:t>Project Creation and types</a:t>
          </a:r>
          <a:endParaRPr lang="ru-RU" sz="1800" kern="1200" dirty="0">
            <a:solidFill>
              <a:schemeClr val="tx1"/>
            </a:solidFill>
          </a:endParaRPr>
        </a:p>
        <a:p>
          <a:pPr marL="171450" lvl="1" indent="-171450" algn="l" defTabSz="800100">
            <a:lnSpc>
              <a:spcPct val="90000"/>
            </a:lnSpc>
            <a:spcBef>
              <a:spcPct val="0"/>
            </a:spcBef>
            <a:spcAft>
              <a:spcPct val="15000"/>
            </a:spcAft>
            <a:buChar char="•"/>
          </a:pPr>
          <a:r>
            <a:rPr lang="en-GB" sz="1800" kern="1200" dirty="0">
              <a:solidFill>
                <a:schemeClr val="tx1"/>
              </a:solidFill>
            </a:rPr>
            <a:t>WBS Creation and Priorities</a:t>
          </a:r>
          <a:endParaRPr lang="ru-RU" sz="1800" kern="1200" dirty="0">
            <a:solidFill>
              <a:schemeClr val="tx1"/>
            </a:solidFill>
          </a:endParaRPr>
        </a:p>
        <a:p>
          <a:pPr marL="114300" lvl="1" indent="-114300" algn="l" defTabSz="666750">
            <a:lnSpc>
              <a:spcPct val="90000"/>
            </a:lnSpc>
            <a:spcBef>
              <a:spcPct val="0"/>
            </a:spcBef>
            <a:spcAft>
              <a:spcPct val="15000"/>
            </a:spcAft>
            <a:buChar char="•"/>
          </a:pPr>
          <a:endParaRPr lang="ru-RU" sz="1500" kern="1200" dirty="0"/>
        </a:p>
      </dsp:txBody>
      <dsp:txXfrm>
        <a:off x="5875028" y="132956"/>
        <a:ext cx="1925051" cy="1158202"/>
      </dsp:txXfrm>
    </dsp:sp>
    <dsp:sp modelId="{B19A6B7E-D3D2-4634-9526-FCF4D340250C}">
      <dsp:nvSpPr>
        <dsp:cNvPr id="0" name=""/>
        <dsp:cNvSpPr/>
      </dsp:nvSpPr>
      <dsp:spPr>
        <a:xfrm>
          <a:off x="526300" y="91330"/>
          <a:ext cx="3215468" cy="173658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chemeClr val="tx1"/>
              </a:solidFill>
            </a:rPr>
            <a:t>Cost allocations for WBS elements</a:t>
          </a:r>
          <a:endParaRPr lang="ru-RU" sz="1800" kern="1200" dirty="0">
            <a:solidFill>
              <a:schemeClr val="tx1"/>
            </a:solidFill>
          </a:endParaRPr>
        </a:p>
        <a:p>
          <a:pPr marL="171450" lvl="1" indent="-171450" algn="l" defTabSz="800100">
            <a:lnSpc>
              <a:spcPct val="90000"/>
            </a:lnSpc>
            <a:spcBef>
              <a:spcPct val="0"/>
            </a:spcBef>
            <a:spcAft>
              <a:spcPct val="15000"/>
            </a:spcAft>
            <a:buChar char="•"/>
          </a:pPr>
          <a:r>
            <a:rPr lang="en-GB" sz="1800" kern="1200" dirty="0">
              <a:solidFill>
                <a:schemeClr val="tx1"/>
              </a:solidFill>
            </a:rPr>
            <a:t>Daily/Month end Reporting</a:t>
          </a:r>
          <a:endParaRPr lang="ru-RU" sz="1800" kern="1200" dirty="0">
            <a:solidFill>
              <a:schemeClr val="tx1"/>
            </a:solidFill>
          </a:endParaRPr>
        </a:p>
        <a:p>
          <a:pPr marL="114300" lvl="1" indent="-114300" algn="l" defTabSz="666750">
            <a:lnSpc>
              <a:spcPct val="90000"/>
            </a:lnSpc>
            <a:spcBef>
              <a:spcPct val="0"/>
            </a:spcBef>
            <a:spcAft>
              <a:spcPct val="15000"/>
            </a:spcAft>
            <a:buChar char="•"/>
          </a:pPr>
          <a:endParaRPr lang="ru-RU" sz="1500" kern="1200" dirty="0"/>
        </a:p>
      </dsp:txBody>
      <dsp:txXfrm>
        <a:off x="564447" y="129477"/>
        <a:ext cx="2174534" cy="1226147"/>
      </dsp:txXfrm>
    </dsp:sp>
    <dsp:sp modelId="{AF8B70A9-E5BF-4FE8-8604-ABEAFAA7D0AB}">
      <dsp:nvSpPr>
        <dsp:cNvPr id="0" name=""/>
        <dsp:cNvSpPr/>
      </dsp:nvSpPr>
      <dsp:spPr>
        <a:xfrm>
          <a:off x="2154206" y="327053"/>
          <a:ext cx="1845951" cy="1845951"/>
        </a:xfrm>
        <a:prstGeom prst="pieWedg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kern="1200" dirty="0"/>
            <a:t>WBS Allocations and </a:t>
          </a:r>
          <a:r>
            <a:rPr lang="en-US" sz="1500" kern="1200" dirty="0"/>
            <a:t>Reporting</a:t>
          </a:r>
          <a:endParaRPr lang="ru-RU" sz="1500" kern="1200" dirty="0"/>
        </a:p>
      </dsp:txBody>
      <dsp:txXfrm>
        <a:off x="2694873" y="867720"/>
        <a:ext cx="1305284" cy="1305284"/>
      </dsp:txXfrm>
    </dsp:sp>
    <dsp:sp modelId="{15B9AFCD-E4A9-4732-A0CA-EAC3C5755211}">
      <dsp:nvSpPr>
        <dsp:cNvPr id="0" name=""/>
        <dsp:cNvSpPr/>
      </dsp:nvSpPr>
      <dsp:spPr>
        <a:xfrm rot="5400000">
          <a:off x="4085421" y="327053"/>
          <a:ext cx="1845951" cy="1845951"/>
        </a:xfrm>
        <a:prstGeom prst="pieWedge">
          <a:avLst/>
        </a:prstGeom>
        <a:solidFill>
          <a:schemeClr val="accent3">
            <a:hueOff val="2064065"/>
            <a:satOff val="-15123"/>
            <a:lumOff val="24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WBS Approval and Creation</a:t>
          </a:r>
          <a:endParaRPr lang="ru-RU" sz="1500" kern="1200" dirty="0"/>
        </a:p>
      </dsp:txBody>
      <dsp:txXfrm rot="-5400000">
        <a:off x="4085421" y="867720"/>
        <a:ext cx="1305284" cy="1305284"/>
      </dsp:txXfrm>
    </dsp:sp>
    <dsp:sp modelId="{E10F2CDE-226A-4019-B233-26338D4DBA81}">
      <dsp:nvSpPr>
        <dsp:cNvPr id="0" name=""/>
        <dsp:cNvSpPr/>
      </dsp:nvSpPr>
      <dsp:spPr>
        <a:xfrm rot="10800000">
          <a:off x="4085421" y="2258267"/>
          <a:ext cx="1845951" cy="1845951"/>
        </a:xfrm>
        <a:prstGeom prst="pieWedge">
          <a:avLst/>
        </a:prstGeom>
        <a:solidFill>
          <a:schemeClr val="accent3">
            <a:hueOff val="4128129"/>
            <a:satOff val="-30245"/>
            <a:lumOff val="496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endParaRPr lang="en-US" sz="1500" kern="1200" dirty="0">
            <a:solidFill>
              <a:schemeClr val="bg1"/>
            </a:solidFill>
          </a:endParaRPr>
        </a:p>
        <a:p>
          <a:pPr marL="0" lvl="0" indent="0" algn="ctr" defTabSz="666750">
            <a:lnSpc>
              <a:spcPct val="90000"/>
            </a:lnSpc>
            <a:spcBef>
              <a:spcPct val="0"/>
            </a:spcBef>
            <a:spcAft>
              <a:spcPct val="35000"/>
            </a:spcAft>
            <a:buNone/>
          </a:pPr>
          <a:r>
            <a:rPr lang="en-US" sz="1500" kern="1200" dirty="0">
              <a:solidFill>
                <a:schemeClr val="bg1"/>
              </a:solidFill>
            </a:rPr>
            <a:t>WBS Budgeting</a:t>
          </a:r>
          <a:endParaRPr lang="ru-RU" sz="1500" kern="1200" dirty="0">
            <a:solidFill>
              <a:schemeClr val="bg1"/>
            </a:solidFill>
          </a:endParaRPr>
        </a:p>
      </dsp:txBody>
      <dsp:txXfrm rot="10800000">
        <a:off x="4085421" y="2258267"/>
        <a:ext cx="1305284" cy="1305284"/>
      </dsp:txXfrm>
    </dsp:sp>
    <dsp:sp modelId="{2E0E27B9-93F3-457C-8650-BBB3C2C4868A}">
      <dsp:nvSpPr>
        <dsp:cNvPr id="0" name=""/>
        <dsp:cNvSpPr/>
      </dsp:nvSpPr>
      <dsp:spPr>
        <a:xfrm rot="16200000">
          <a:off x="2154206" y="2258267"/>
          <a:ext cx="1845951" cy="1845951"/>
        </a:xfrm>
        <a:prstGeom prst="pieWedge">
          <a:avLst/>
        </a:prstGeom>
        <a:solidFill>
          <a:schemeClr val="accent3">
            <a:hueOff val="6192194"/>
            <a:satOff val="-45368"/>
            <a:lumOff val="745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endParaRPr lang="en-GB" sz="1500" kern="1200" dirty="0"/>
        </a:p>
        <a:p>
          <a:pPr marL="0" lvl="0" indent="0" algn="ctr" defTabSz="666750">
            <a:lnSpc>
              <a:spcPct val="90000"/>
            </a:lnSpc>
            <a:spcBef>
              <a:spcPct val="0"/>
            </a:spcBef>
            <a:spcAft>
              <a:spcPct val="35000"/>
            </a:spcAft>
            <a:buNone/>
          </a:pPr>
          <a:r>
            <a:rPr lang="en-GB" sz="1500" kern="1200" dirty="0"/>
            <a:t>WBS and Project Maintenance</a:t>
          </a:r>
          <a:endParaRPr lang="ru-RU" sz="1500" kern="1200" dirty="0"/>
        </a:p>
      </dsp:txBody>
      <dsp:txXfrm rot="5400000">
        <a:off x="2694873" y="2258267"/>
        <a:ext cx="1305284" cy="1305284"/>
      </dsp:txXfrm>
    </dsp:sp>
    <dsp:sp modelId="{15CA9C7E-5C11-43AF-BBE1-73F539DBA6E9}">
      <dsp:nvSpPr>
        <dsp:cNvPr id="0" name=""/>
        <dsp:cNvSpPr/>
      </dsp:nvSpPr>
      <dsp:spPr>
        <a:xfrm rot="5400000">
          <a:off x="4229476" y="2039996"/>
          <a:ext cx="405471" cy="353875"/>
        </a:xfrm>
        <a:prstGeom prst="circularArrow">
          <a:avLst/>
        </a:prstGeom>
        <a:solidFill>
          <a:schemeClr val="accent3">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A14F350-7D70-4476-8E62-9B5571328BE8}">
      <dsp:nvSpPr>
        <dsp:cNvPr id="0" name=""/>
        <dsp:cNvSpPr/>
      </dsp:nvSpPr>
      <dsp:spPr>
        <a:xfrm rot="10800000">
          <a:off x="3784700" y="2347584"/>
          <a:ext cx="430149" cy="465443"/>
        </a:xfrm>
        <a:prstGeom prst="circularArrow">
          <a:avLst/>
        </a:prstGeom>
        <a:solidFill>
          <a:schemeClr val="accent3">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8686EF-5F1D-4052-BCC2-B8F9046889BF}" type="datetimeFigureOut">
              <a:rPr lang="en-US" smtClean="0"/>
              <a:t>05/07/2020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5AFB79-3158-40DA-8983-4E06CBD3C51C}" type="slidenum">
              <a:rPr lang="en-US" smtClean="0"/>
              <a:t>‹#›</a:t>
            </a:fld>
            <a:endParaRPr lang="en-US"/>
          </a:p>
        </p:txBody>
      </p:sp>
    </p:spTree>
    <p:extLst>
      <p:ext uri="{BB962C8B-B14F-4D97-AF65-F5344CB8AC3E}">
        <p14:creationId xmlns:p14="http://schemas.microsoft.com/office/powerpoint/2010/main" val="1418417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0947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9995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8016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066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9995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2224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0588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0517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2637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37880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roject 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Date Placeholder 1"/>
          <p:cNvSpPr txBox="1">
            <a:spLocks/>
          </p:cNvSpPr>
          <p:nvPr userDrawn="1"/>
        </p:nvSpPr>
        <p:spPr>
          <a:xfrm>
            <a:off x="4151273" y="5923728"/>
            <a:ext cx="3889454"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i="0">
                <a:solidFill>
                  <a:schemeClr val="bg1"/>
                </a:solidFill>
                <a:latin typeface="+mn-lt"/>
                <a:ea typeface="Roboto" charset="0"/>
                <a:cs typeface="Roboto" charset="0"/>
              </a:rPr>
              <a:t>Simplify, Standardize, Accelerate </a:t>
            </a:r>
          </a:p>
        </p:txBody>
      </p:sp>
      <p:sp>
        <p:nvSpPr>
          <p:cNvPr id="9" name="TextBox 8"/>
          <p:cNvSpPr txBox="1"/>
          <p:nvPr userDrawn="1"/>
        </p:nvSpPr>
        <p:spPr>
          <a:xfrm>
            <a:off x="3398969" y="2345440"/>
            <a:ext cx="5387927" cy="1941342"/>
          </a:xfrm>
          <a:prstGeom prst="rect">
            <a:avLst/>
          </a:prstGeom>
          <a:noFill/>
        </p:spPr>
        <p:txBody>
          <a:bodyPr wrap="square" lIns="0" tIns="0" rIns="0" bIns="0" rtlCol="0">
            <a:noAutofit/>
          </a:bodyPr>
          <a:lstStyle/>
          <a:p>
            <a:pPr algn="l"/>
            <a:r>
              <a:rPr lang="en-US" sz="9600" b="1">
                <a:solidFill>
                  <a:schemeClr val="bg1"/>
                </a:solidFill>
                <a:latin typeface="Arial" charset="0"/>
                <a:ea typeface="Arial" charset="0"/>
                <a:cs typeface="Arial" charset="0"/>
              </a:rPr>
              <a:t>S4F-ERP</a:t>
            </a:r>
          </a:p>
        </p:txBody>
      </p:sp>
      <p:sp>
        <p:nvSpPr>
          <p:cNvPr id="10" name="Rectangle 9"/>
          <p:cNvSpPr/>
          <p:nvPr userDrawn="1"/>
        </p:nvSpPr>
        <p:spPr>
          <a:xfrm>
            <a:off x="5517737" y="164298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userDrawn="1"/>
        </p:nvSpPr>
        <p:spPr>
          <a:xfrm>
            <a:off x="4271627" y="4115677"/>
            <a:ext cx="3642610" cy="704538"/>
          </a:xfrm>
          <a:prstGeom prst="rect">
            <a:avLst/>
          </a:prstGeom>
          <a:noFill/>
        </p:spPr>
        <p:txBody>
          <a:bodyPr wrap="square" lIns="0" tIns="0" rIns="0" bIns="0" rtlCol="0">
            <a:noAutofit/>
          </a:bodyPr>
          <a:lstStyle/>
          <a:p>
            <a:pPr algn="ctr"/>
            <a:r>
              <a:rPr lang="en-US" spc="1000">
                <a:solidFill>
                  <a:schemeClr val="bg1"/>
                </a:solidFill>
                <a:latin typeface="Arial" charset="0"/>
                <a:ea typeface="Arial" charset="0"/>
                <a:cs typeface="Arial" charset="0"/>
              </a:rPr>
              <a:t>PROJECT</a:t>
            </a:r>
          </a:p>
        </p:txBody>
      </p:sp>
      <p:sp>
        <p:nvSpPr>
          <p:cNvPr id="12" name="Rectangle 11"/>
          <p:cNvSpPr/>
          <p:nvPr userDrawn="1"/>
        </p:nvSpPr>
        <p:spPr>
          <a:xfrm>
            <a:off x="5517737" y="5047786"/>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2512625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PROJECT</a:t>
            </a:r>
          </a:p>
        </p:txBody>
      </p:sp>
    </p:spTree>
    <p:extLst>
      <p:ext uri="{BB962C8B-B14F-4D97-AF65-F5344CB8AC3E}">
        <p14:creationId xmlns:p14="http://schemas.microsoft.com/office/powerpoint/2010/main" val="2798264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4254754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1120820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67069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2964003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2743039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2808948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710899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714540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709214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002076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6185110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7888566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104687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773050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2" name="Title 1"/>
          <p:cNvSpPr>
            <a:spLocks noGrp="1"/>
          </p:cNvSpPr>
          <p:nvPr>
            <p:ph type="title"/>
          </p:nvPr>
        </p:nvSpPr>
        <p:spPr/>
        <p:txBody>
          <a:bodyPr/>
          <a:lstStyle/>
          <a:p>
            <a:r>
              <a:rPr lang="en-US"/>
              <a:t>Click to edit Master title style</a:t>
            </a:r>
          </a:p>
        </p:txBody>
      </p:sp>
      <p:sp>
        <p:nvSpPr>
          <p:cNvPr id="14" name="TextBox 13">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280600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5583325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246016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4219265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61784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3768200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4204498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0764308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528394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dirty="0"/>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dirty="0"/>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215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vmlDrawing" Target="../drawings/vmlDrawing1.v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24.xml"/><Relationship Id="rId7" Type="http://schemas.openxmlformats.org/officeDocument/2006/relationships/vmlDrawing" Target="../drawings/vmlDrawing2.v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2.xml"/><Relationship Id="rId11" Type="http://schemas.openxmlformats.org/officeDocument/2006/relationships/image" Target="../media/image1.emf"/><Relationship Id="rId5" Type="http://schemas.openxmlformats.org/officeDocument/2006/relationships/slideLayout" Target="../slideLayouts/slideLayout26.xml"/><Relationship Id="rId10" Type="http://schemas.openxmlformats.org/officeDocument/2006/relationships/oleObject" Target="../embeddings/oleObject2.bin"/><Relationship Id="rId4" Type="http://schemas.openxmlformats.org/officeDocument/2006/relationships/slideLayout" Target="../slideLayouts/slideLayout25.xml"/><Relationship Id="rId9"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E9B5EEC-4D83-42FF-8370-70803C4ED96D}"/>
              </a:ext>
            </a:extLst>
          </p:cNvPr>
          <p:cNvGraphicFramePr>
            <a:graphicFrameLocks noChangeAspect="1"/>
          </p:cNvGraphicFramePr>
          <p:nvPr userDrawn="1">
            <p:custDataLst>
              <p:tags r:id="rId24"/>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26" imgW="415" imgH="416" progId="TCLayout.ActiveDocument.1">
                  <p:embed/>
                </p:oleObj>
              </mc:Choice>
              <mc:Fallback>
                <p:oleObj name="think-cell Slide" r:id="rId26" imgW="415" imgH="416" progId="TCLayout.ActiveDocument.1">
                  <p:embed/>
                  <p:pic>
                    <p:nvPicPr>
                      <p:cNvPr id="7" name="Object 6" hidden="1">
                        <a:extLst>
                          <a:ext uri="{FF2B5EF4-FFF2-40B4-BE49-F238E27FC236}">
                            <a16:creationId xmlns:a16="http://schemas.microsoft.com/office/drawing/2014/main" id="{2E9B5EEC-4D83-42FF-8370-70803C4ED96D}"/>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DF39405-4964-42F3-9680-2EE387636997}"/>
              </a:ext>
            </a:extLst>
          </p:cNvPr>
          <p:cNvSpPr/>
          <p:nvPr userDrawn="1">
            <p:custDataLst>
              <p:tags r:id="rId25"/>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4685519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4C61B20-CA8C-448B-B3DE-7949AC7831DB}"/>
              </a:ext>
            </a:extLst>
          </p:cNvPr>
          <p:cNvGraphicFramePr>
            <a:graphicFrameLocks noChangeAspect="1"/>
          </p:cNvGraphicFramePr>
          <p:nvPr userDrawn="1">
            <p:custDataLst>
              <p:tags r:id="rId8"/>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0" name="think-cell Slide" r:id="rId10" imgW="415" imgH="416" progId="TCLayout.ActiveDocument.1">
                  <p:embed/>
                </p:oleObj>
              </mc:Choice>
              <mc:Fallback>
                <p:oleObj name="think-cell Slide" r:id="rId10" imgW="415" imgH="416" progId="TCLayout.ActiveDocument.1">
                  <p:embed/>
                  <p:pic>
                    <p:nvPicPr>
                      <p:cNvPr id="7" name="Object 6" hidden="1">
                        <a:extLst>
                          <a:ext uri="{FF2B5EF4-FFF2-40B4-BE49-F238E27FC236}">
                            <a16:creationId xmlns:a16="http://schemas.microsoft.com/office/drawing/2014/main" id="{74C61B20-CA8C-448B-B3DE-7949AC7831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349891-03CB-4764-ACA2-C55EBD04A016}"/>
              </a:ext>
            </a:extLst>
          </p:cNvPr>
          <p:cNvSpPr/>
          <p:nvPr userDrawn="1">
            <p:custDataLst>
              <p:tags r:id="rId9"/>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36131683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6.jpeg"/><Relationship Id="rId1" Type="http://schemas.openxmlformats.org/officeDocument/2006/relationships/slideLayout" Target="../slideLayouts/slideLayout21.xml"/><Relationship Id="rId5" Type="http://schemas.openxmlformats.org/officeDocument/2006/relationships/image" Target="../media/image17.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3.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23.xml"/><Relationship Id="rId5" Type="http://schemas.openxmlformats.org/officeDocument/2006/relationships/image" Target="../media/image24.sv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3.xml"/><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23.xml"/><Relationship Id="rId5" Type="http://schemas.openxmlformats.org/officeDocument/2006/relationships/image" Target="../media/image24.sv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3.xml"/><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24.svg"/></Relationships>
</file>

<file path=ppt/slides/_rels/slide3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1.png"/><Relationship Id="rId7" Type="http://schemas.openxmlformats.org/officeDocument/2006/relationships/image" Target="../media/image63.pn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62.png"/><Relationship Id="rId9" Type="http://schemas.openxmlformats.org/officeDocument/2006/relationships/image" Target="../media/image65.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3.xml"/><Relationship Id="rId5" Type="http://schemas.openxmlformats.org/officeDocument/2006/relationships/image" Target="../media/image66.png"/><Relationship Id="rId4" Type="http://schemas.openxmlformats.org/officeDocument/2006/relationships/image" Target="../media/image24.svg"/></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69.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23.xml"/><Relationship Id="rId6" Type="http://schemas.openxmlformats.org/officeDocument/2006/relationships/image" Target="../media/image71.png"/><Relationship Id="rId5" Type="http://schemas.openxmlformats.org/officeDocument/2006/relationships/image" Target="../media/image24.svg"/><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9.jpeg"/><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59003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cap="none" dirty="0"/>
              <a:t>WBS ELEMENTS</a:t>
            </a:r>
            <a:endParaRPr lang="en-GB" cap="none" dirty="0"/>
          </a:p>
        </p:txBody>
      </p:sp>
    </p:spTree>
    <p:extLst>
      <p:ext uri="{BB962C8B-B14F-4D97-AF65-F5344CB8AC3E}">
        <p14:creationId xmlns:p14="http://schemas.microsoft.com/office/powerpoint/2010/main" val="200685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27F01-56E1-472B-8442-78F4860F1A7D}"/>
              </a:ext>
            </a:extLst>
          </p:cNvPr>
          <p:cNvSpPr>
            <a:spLocks noGrp="1"/>
          </p:cNvSpPr>
          <p:nvPr>
            <p:ph type="title"/>
          </p:nvPr>
        </p:nvSpPr>
        <p:spPr/>
        <p:txBody>
          <a:bodyPr/>
          <a:lstStyle/>
          <a:p>
            <a:r>
              <a:rPr lang="en-GB"/>
              <a:t>Generic slides for each course</a:t>
            </a:r>
            <a:endParaRPr lang="en-US"/>
          </a:p>
        </p:txBody>
      </p:sp>
    </p:spTree>
    <p:extLst>
      <p:ext uri="{BB962C8B-B14F-4D97-AF65-F5344CB8AC3E}">
        <p14:creationId xmlns:p14="http://schemas.microsoft.com/office/powerpoint/2010/main" val="1778985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13" name="Rectangle 12"/>
          <p:cNvSpPr/>
          <p:nvPr/>
        </p:nvSpPr>
        <p:spPr>
          <a:xfrm>
            <a:off x="3433287" y="0"/>
            <a:ext cx="8759126" cy="6857352"/>
          </a:xfrm>
          <a:prstGeom prst="rect">
            <a:avLst/>
          </a:prstGeom>
          <a:gradFill flip="none" rotWithShape="1">
            <a:gsLst>
              <a:gs pos="0">
                <a:schemeClr val="accent6">
                  <a:lumMod val="75000"/>
                  <a:alpha val="80000"/>
                </a:schemeClr>
              </a:gs>
              <a:gs pos="100000">
                <a:schemeClr val="accent3">
                  <a:alpha val="8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6" name="Group 15"/>
          <p:cNvGrpSpPr/>
          <p:nvPr/>
        </p:nvGrpSpPr>
        <p:grpSpPr>
          <a:xfrm>
            <a:off x="0" y="0"/>
            <a:ext cx="3343037" cy="6858001"/>
            <a:chOff x="0" y="0"/>
            <a:chExt cx="3343037" cy="6858001"/>
          </a:xfrm>
        </p:grpSpPr>
        <p:pic>
          <p:nvPicPr>
            <p:cNvPr id="23" name="Picture 22"/>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24" name="TextBox 23"/>
            <p:cNvSpPr txBox="1"/>
            <p:nvPr/>
          </p:nvSpPr>
          <p:spPr>
            <a:xfrm>
              <a:off x="141298" y="2139775"/>
              <a:ext cx="2989658" cy="1941342"/>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charset="0"/>
                  <a:ea typeface="Arial" charset="0"/>
                  <a:cs typeface="Arial" charset="0"/>
                </a:rPr>
                <a:t>S4F-ERP</a:t>
              </a:r>
            </a:p>
          </p:txBody>
        </p:sp>
        <p:sp>
          <p:nvSpPr>
            <p:cNvPr id="25" name="Rectangle 24"/>
            <p:cNvSpPr/>
            <p:nvPr/>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3140"/>
                </a:solidFill>
                <a:effectLst/>
                <a:uLnTx/>
                <a:uFillTx/>
                <a:latin typeface="Arial" panose="020B0604020202020204"/>
                <a:ea typeface="+mn-ea"/>
                <a:cs typeface="+mn-cs"/>
              </a:endParaRPr>
            </a:p>
          </p:txBody>
        </p:sp>
        <p:sp>
          <p:nvSpPr>
            <p:cNvPr id="26" name="Rectangle 25"/>
            <p:cNvSpPr/>
            <p:nvPr/>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Date Placeholder 1"/>
            <p:cNvSpPr txBox="1">
              <a:spLocks/>
            </p:cNvSpPr>
            <p:nvPr/>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pic>
          <p:nvPicPr>
            <p:cNvPr id="28" name="Picture 27">
              <a:extLst>
                <a:ext uri="{FF2B5EF4-FFF2-40B4-BE49-F238E27FC236}">
                  <a16:creationId xmlns:a16="http://schemas.microsoft.com/office/drawing/2014/main" id="{DD2F868E-F9E5-4FD0-AA54-A0611266E9A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29" name="TextBox 28"/>
            <p:cNvSpPr txBox="1"/>
            <p:nvPr/>
          </p:nvSpPr>
          <p:spPr>
            <a:xfrm>
              <a:off x="389295" y="3213617"/>
              <a:ext cx="2493664" cy="704538"/>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00" normalizeH="0" baseline="0" noProof="0">
                  <a:ln>
                    <a:noFill/>
                  </a:ln>
                  <a:solidFill>
                    <a:srgbClr val="FFFFFF"/>
                  </a:solidFill>
                  <a:effectLst/>
                  <a:uLnTx/>
                  <a:uFillTx/>
                  <a:latin typeface="Arial" charset="0"/>
                  <a:ea typeface="Arial" charset="0"/>
                  <a:cs typeface="Arial" charset="0"/>
                </a:rPr>
                <a:t>PROJECT</a:t>
              </a:r>
            </a:p>
          </p:txBody>
        </p:sp>
      </p:gr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FFFFFF"/>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TextBox 4"/>
          <p:cNvSpPr txBox="1"/>
          <p:nvPr/>
        </p:nvSpPr>
        <p:spPr>
          <a:xfrm>
            <a:off x="0" y="4657460"/>
            <a:ext cx="3332136" cy="6541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98" b="1" i="0" u="none" strike="noStrike" kern="1200" cap="none" spc="0" normalizeH="0" baseline="0" noProof="0">
                <a:ln>
                  <a:noFill/>
                </a:ln>
                <a:solidFill>
                  <a:srgbClr val="FFFFFF"/>
                </a:solidFill>
                <a:effectLst/>
                <a:uLnTx/>
                <a:uFillTx/>
                <a:latin typeface="Arial" charset="0"/>
                <a:ea typeface="Arial" charset="0"/>
                <a:cs typeface="Arial" charset="0"/>
              </a:rPr>
              <a:t>TRAINING</a:t>
            </a:r>
          </a:p>
        </p:txBody>
      </p:sp>
      <p:grpSp>
        <p:nvGrpSpPr>
          <p:cNvPr id="22" name="Group 21"/>
          <p:cNvGrpSpPr/>
          <p:nvPr/>
        </p:nvGrpSpPr>
        <p:grpSpPr>
          <a:xfrm>
            <a:off x="4384219" y="3076671"/>
            <a:ext cx="1809865" cy="1809865"/>
            <a:chOff x="6929804" y="2305098"/>
            <a:chExt cx="1809865" cy="1809865"/>
          </a:xfrm>
        </p:grpSpPr>
        <p:grpSp>
          <p:nvGrpSpPr>
            <p:cNvPr id="7" name="Group 6"/>
            <p:cNvGrpSpPr/>
            <p:nvPr/>
          </p:nvGrpSpPr>
          <p:grpSpPr>
            <a:xfrm>
              <a:off x="6929804" y="2305098"/>
              <a:ext cx="1809865" cy="1809865"/>
              <a:chOff x="4492144" y="190843"/>
              <a:chExt cx="855656" cy="855656"/>
            </a:xfrm>
          </p:grpSpPr>
          <p:sp>
            <p:nvSpPr>
              <p:cNvPr id="8" name="Oval 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Oval 8"/>
              <p:cNvSpPr/>
              <p:nvPr/>
            </p:nvSpPr>
            <p:spPr>
              <a:xfrm>
                <a:off x="4551137" y="249836"/>
                <a:ext cx="737671" cy="737671"/>
              </a:xfrm>
              <a:prstGeom prst="ellipse">
                <a:avLst/>
              </a:prstGeom>
              <a:solidFill>
                <a:schemeClr val="bg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2" name="Rectangle 11"/>
            <p:cNvSpPr/>
            <p:nvPr/>
          </p:nvSpPr>
          <p:spPr>
            <a:xfrm>
              <a:off x="7059626" y="2732976"/>
              <a:ext cx="1555265" cy="954107"/>
            </a:xfrm>
            <a:prstGeom prst="rect">
              <a:avLst/>
            </a:prstGeom>
          </p:spPr>
          <p:txBody>
            <a:bodyPr wrap="square" anchor="ctr">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GB" sz="2800" b="1" i="0" u="none" strike="noStrike" kern="1200" cap="none" spc="0" normalizeH="0" baseline="0" noProof="0">
                  <a:ln>
                    <a:noFill/>
                  </a:ln>
                  <a:solidFill>
                    <a:srgbClr val="000000"/>
                  </a:solidFill>
                  <a:effectLst/>
                  <a:uLnTx/>
                  <a:uFillTx/>
                  <a:latin typeface="Arial" panose="020B0604020202020204"/>
                  <a:ea typeface="+mn-ea"/>
                  <a:cs typeface="+mn-cs"/>
                </a:rPr>
                <a:t>Icon here</a:t>
              </a:r>
            </a:p>
          </p:txBody>
        </p:sp>
      </p:grpSp>
      <p:sp>
        <p:nvSpPr>
          <p:cNvPr id="19" name="Title 33"/>
          <p:cNvSpPr txBox="1">
            <a:spLocks/>
          </p:cNvSpPr>
          <p:nvPr/>
        </p:nvSpPr>
        <p:spPr>
          <a:xfrm>
            <a:off x="4434237" y="736170"/>
            <a:ext cx="6756400" cy="1073112"/>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1000"/>
              </a:spcAft>
              <a:buClrTx/>
              <a:buSzTx/>
              <a:buFontTx/>
              <a:buNone/>
              <a:tabLst/>
              <a:defRPr/>
            </a:pPr>
            <a:r>
              <a:rPr kumimoji="0" lang="en-GB" sz="3200" b="1" i="0" u="none" strike="noStrike" kern="1200" cap="none" spc="0" normalizeH="0" baseline="0" noProof="0" dirty="0">
                <a:ln>
                  <a:noFill/>
                </a:ln>
                <a:solidFill>
                  <a:srgbClr val="FFFFFF"/>
                </a:solidFill>
                <a:effectLst/>
                <a:uLnTx/>
                <a:uFillTx/>
                <a:latin typeface="Arial" panose="020B0604020202020204"/>
                <a:ea typeface="+mj-ea"/>
                <a:cs typeface="+mj-cs"/>
              </a:rPr>
              <a:t>WBS Elements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3200" b="0" i="0" u="none" strike="noStrike" kern="1200" cap="none" spc="0" normalizeH="0" baseline="0" noProof="0" dirty="0">
                <a:ln>
                  <a:noFill/>
                </a:ln>
                <a:solidFill>
                  <a:srgbClr val="FFFFFF"/>
                </a:solidFill>
                <a:effectLst/>
                <a:uLnTx/>
                <a:uFillTx/>
                <a:latin typeface="Arial" panose="020B0604020202020204"/>
                <a:ea typeface="+mj-ea"/>
                <a:cs typeface="+mj-cs"/>
              </a:rPr>
              <a:t>Structure of the course</a:t>
            </a:r>
            <a:endParaRPr kumimoji="0" lang="en-GB" sz="3200" b="1" i="0" u="none" strike="noStrike" kern="1200" cap="none" spc="0" normalizeH="0" baseline="0" noProof="0" dirty="0">
              <a:ln>
                <a:noFill/>
              </a:ln>
              <a:solidFill>
                <a:srgbClr val="FFFFFF"/>
              </a:solidFill>
              <a:effectLst/>
              <a:uLnTx/>
              <a:uFillTx/>
              <a:latin typeface="Arial" panose="020B0604020202020204"/>
              <a:ea typeface="+mj-ea"/>
              <a:cs typeface="+mj-cs"/>
            </a:endParaRPr>
          </a:p>
        </p:txBody>
      </p:sp>
      <p:grpSp>
        <p:nvGrpSpPr>
          <p:cNvPr id="6" name="Group 5">
            <a:extLst>
              <a:ext uri="{FF2B5EF4-FFF2-40B4-BE49-F238E27FC236}">
                <a16:creationId xmlns:a16="http://schemas.microsoft.com/office/drawing/2014/main" id="{B0C7F967-6D57-423F-9046-CAAB12C737EE}"/>
              </a:ext>
            </a:extLst>
          </p:cNvPr>
          <p:cNvGrpSpPr/>
          <p:nvPr/>
        </p:nvGrpSpPr>
        <p:grpSpPr>
          <a:xfrm>
            <a:off x="4372240" y="2883731"/>
            <a:ext cx="7678462" cy="2313241"/>
            <a:chOff x="4372240" y="2883731"/>
            <a:chExt cx="7678462" cy="2313241"/>
          </a:xfrm>
        </p:grpSpPr>
        <p:sp>
          <p:nvSpPr>
            <p:cNvPr id="20" name="TextBox 19"/>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1" name="TextBox 20"/>
            <p:cNvSpPr txBox="1"/>
            <p:nvPr/>
          </p:nvSpPr>
          <p:spPr>
            <a:xfrm>
              <a:off x="7444304" y="4651702"/>
              <a:ext cx="4606398"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Costs &amp; Reporting</a:t>
              </a:r>
              <a:endParaRPr kumimoji="0" lang="en-GB" sz="2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32" name="Elbow Connector 31"/>
            <p:cNvCxnSpPr>
              <a:stCxn id="8" idx="6"/>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38" name="Elbow Connector 37"/>
            <p:cNvCxnSpPr>
              <a:cxnSpLocks/>
              <a:stCxn id="8" idx="6"/>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E71DF702-DC4F-48EF-BBFC-AE9A80FE5D7A}"/>
                </a:ext>
              </a:extLst>
            </p:cNvPr>
            <p:cNvGrpSpPr/>
            <p:nvPr/>
          </p:nvGrpSpPr>
          <p:grpSpPr>
            <a:xfrm>
              <a:off x="4372240" y="3074237"/>
              <a:ext cx="1850100" cy="1850100"/>
              <a:chOff x="4401574" y="3295146"/>
              <a:chExt cx="624164" cy="624164"/>
            </a:xfrm>
          </p:grpSpPr>
          <p:grpSp>
            <p:nvGrpSpPr>
              <p:cNvPr id="31" name="Group 30">
                <a:extLst>
                  <a:ext uri="{FF2B5EF4-FFF2-40B4-BE49-F238E27FC236}">
                    <a16:creationId xmlns:a16="http://schemas.microsoft.com/office/drawing/2014/main" id="{36716172-8A2F-49D4-A347-B7036DE73277}"/>
                  </a:ext>
                </a:extLst>
              </p:cNvPr>
              <p:cNvGrpSpPr/>
              <p:nvPr/>
            </p:nvGrpSpPr>
            <p:grpSpPr>
              <a:xfrm>
                <a:off x="4401574" y="3295146"/>
                <a:ext cx="624164" cy="624164"/>
                <a:chOff x="4492144" y="190843"/>
                <a:chExt cx="855656" cy="855656"/>
              </a:xfrm>
            </p:grpSpPr>
            <p:sp>
              <p:nvSpPr>
                <p:cNvPr id="34" name="Oval 33">
                  <a:extLst>
                    <a:ext uri="{FF2B5EF4-FFF2-40B4-BE49-F238E27FC236}">
                      <a16:creationId xmlns:a16="http://schemas.microsoft.com/office/drawing/2014/main" id="{CF169B5B-DE52-4005-9FA1-02C962D8DF3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5" name="Oval 34">
                  <a:extLst>
                    <a:ext uri="{FF2B5EF4-FFF2-40B4-BE49-F238E27FC236}">
                      <a16:creationId xmlns:a16="http://schemas.microsoft.com/office/drawing/2014/main" id="{81A7CECB-A71D-4E3D-B131-11B6E46B122D}"/>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33" name="Picture 32">
                <a:extLst>
                  <a:ext uri="{FF2B5EF4-FFF2-40B4-BE49-F238E27FC236}">
                    <a16:creationId xmlns:a16="http://schemas.microsoft.com/office/drawing/2014/main" id="{61237349-D6B6-446B-80CE-5F02D4DF779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36" name="TextBox 35">
              <a:extLst>
                <a:ext uri="{FF2B5EF4-FFF2-40B4-BE49-F238E27FC236}">
                  <a16:creationId xmlns:a16="http://schemas.microsoft.com/office/drawing/2014/main" id="{3EE4C980-4ED3-4C74-A94D-F9B4AD5A5B92}"/>
                </a:ext>
              </a:extLst>
            </p:cNvPr>
            <p:cNvSpPr txBox="1"/>
            <p:nvPr/>
          </p:nvSpPr>
          <p:spPr>
            <a:xfrm>
              <a:off x="7444304" y="376771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Projects</a:t>
              </a:r>
            </a:p>
          </p:txBody>
        </p:sp>
        <p:cxnSp>
          <p:nvCxnSpPr>
            <p:cNvPr id="37" name="Straight Connector 36">
              <a:extLst>
                <a:ext uri="{FF2B5EF4-FFF2-40B4-BE49-F238E27FC236}">
                  <a16:creationId xmlns:a16="http://schemas.microsoft.com/office/drawing/2014/main" id="{1EE32AB7-FE88-43E8-9DE2-0609D035D295}"/>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3658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cstate="email">
            <a:alphaModFix/>
            <a:extLst>
              <a:ext uri="{28A0092B-C50C-407E-A947-70E740481C1C}">
                <a14:useLocalDpi xmlns:a14="http://schemas.microsoft.com/office/drawing/2010/main"/>
              </a:ext>
            </a:extLst>
          </a:blip>
          <a:srcRect/>
          <a:stretch/>
        </p:blipFill>
        <p:spPr>
          <a:xfrm>
            <a:off x="0" y="1340603"/>
            <a:ext cx="12192000" cy="4897465"/>
          </a:xfrm>
          <a:prstGeom prst="rect">
            <a:avLst/>
          </a:prstGeom>
        </p:spPr>
      </p:pic>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Overview – About this course</a:t>
            </a:r>
          </a:p>
        </p:txBody>
      </p:sp>
      <p:sp>
        <p:nvSpPr>
          <p:cNvPr id="13" name="Rounded Rectangle 12"/>
          <p:cNvSpPr/>
          <p:nvPr/>
        </p:nvSpPr>
        <p:spPr>
          <a:xfrm>
            <a:off x="515939" y="1650568"/>
            <a:ext cx="3265647" cy="4277534"/>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charset="0"/>
                <a:ea typeface="Arial" charset="0"/>
                <a:cs typeface="Arial" charset="0"/>
              </a:rPr>
              <a:t>Course Objectives</a:t>
            </a:r>
          </a:p>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00B2A9"/>
                </a:solidFill>
                <a:effectLst/>
                <a:uLnTx/>
                <a:uFillTx/>
                <a:latin typeface="Arial" panose="020B0604020202020204"/>
                <a:ea typeface="+mn-ea"/>
                <a:cs typeface="+mn-cs"/>
              </a:rPr>
              <a:t>This course provides information on:</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Prepare Power Users for delivering this training materials to end-users</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Refresh knowledge of Power Users in the creation, maintenance and allocation processes involved using WBS Elements  </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Provide the understanding of the newly implemented and refined    processes</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Address any initial questions </a:t>
            </a:r>
          </a:p>
        </p:txBody>
      </p:sp>
      <p:sp>
        <p:nvSpPr>
          <p:cNvPr id="17" name="Rounded Rectangle 16"/>
          <p:cNvSpPr/>
          <p:nvPr/>
        </p:nvSpPr>
        <p:spPr>
          <a:xfrm>
            <a:off x="4430553" y="1650568"/>
            <a:ext cx="3265647" cy="4277534"/>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1A3040">
                    <a:lumMod val="50000"/>
                  </a:srgbClr>
                </a:solidFill>
                <a:effectLst/>
                <a:uLnTx/>
                <a:uFillTx/>
                <a:latin typeface="Arial" charset="0"/>
                <a:ea typeface="Arial" charset="0"/>
                <a:cs typeface="Arial" charset="0"/>
              </a:rPr>
              <a:t>Target Audiences</a:t>
            </a:r>
          </a:p>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00B2A9"/>
                </a:solidFill>
                <a:effectLst/>
                <a:uLnTx/>
                <a:uFillTx/>
                <a:latin typeface="Arial" panose="020B0604020202020204"/>
                <a:ea typeface="+mn-ea"/>
                <a:cs typeface="+mn-cs"/>
              </a:rPr>
              <a:t>This course is mandatory for:</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Power Users who will be involved in Projects using WBS Elements for OPEX or Above Brand Contributions (ABC) </a:t>
            </a:r>
          </a:p>
        </p:txBody>
      </p:sp>
      <p:sp>
        <p:nvSpPr>
          <p:cNvPr id="18" name="Rounded Rectangle 17"/>
          <p:cNvSpPr/>
          <p:nvPr/>
        </p:nvSpPr>
        <p:spPr>
          <a:xfrm>
            <a:off x="8345166" y="1650568"/>
            <a:ext cx="3265647" cy="4277534"/>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1A3040">
                    <a:lumMod val="50000"/>
                  </a:srgbClr>
                </a:solidFill>
                <a:effectLst/>
                <a:uLnTx/>
                <a:uFillTx/>
                <a:latin typeface="Arial" charset="0"/>
                <a:ea typeface="Arial" charset="0"/>
                <a:cs typeface="Arial" charset="0"/>
              </a:rPr>
              <a:t>Learning Guide</a:t>
            </a:r>
          </a:p>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00B2A9"/>
                </a:solidFill>
                <a:effectLst/>
                <a:uLnTx/>
                <a:uFillTx/>
                <a:latin typeface="Arial" panose="020B0604020202020204"/>
                <a:ea typeface="+mn-ea"/>
                <a:cs typeface="+mn-cs"/>
              </a:rPr>
              <a:t>Related courses:</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Prerequisite course:</a:t>
            </a:r>
          </a:p>
          <a:p>
            <a:pPr marL="637146" marR="0" lvl="3" indent="-179946"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000000"/>
                </a:solidFill>
                <a:effectLst/>
                <a:uLnTx/>
                <a:uFillTx/>
                <a:latin typeface="Arial" charset="0"/>
                <a:ea typeface="+mn-ea"/>
                <a:cs typeface="Arial" charset="0"/>
              </a:rPr>
              <a:t>Finance Fundamentals Overview</a:t>
            </a:r>
          </a:p>
          <a:p>
            <a:pPr marL="637146" marR="0" lvl="3" indent="-179946"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000000"/>
                </a:solidFill>
                <a:effectLst/>
                <a:uLnTx/>
                <a:uFillTx/>
                <a:latin typeface="Arial" charset="0"/>
                <a:ea typeface="+mn-ea"/>
                <a:cs typeface="Arial" charset="0"/>
              </a:rPr>
              <a:t>Finance Fundamentals</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Profitability Analysis</a:t>
            </a:r>
            <a:endParaRPr kumimoji="0" lang="en-GB" sz="1400" b="0" i="0" u="none" strike="noStrike" kern="1200" cap="none" spc="0" normalizeH="0" baseline="0" noProof="0" dirty="0">
              <a:ln>
                <a:noFill/>
              </a:ln>
              <a:solidFill>
                <a:srgbClr val="FF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0000"/>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2982873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6833269" y="1685580"/>
            <a:ext cx="4880066" cy="2081034"/>
            <a:chOff x="6011091" y="1730135"/>
            <a:chExt cx="4880066" cy="2081034"/>
          </a:xfrm>
        </p:grpSpPr>
        <p:cxnSp>
          <p:nvCxnSpPr>
            <p:cNvPr id="5" name="Elbow Connector 4"/>
            <p:cNvCxnSpPr/>
            <p:nvPr/>
          </p:nvCxnSpPr>
          <p:spPr>
            <a:xfrm flipV="1">
              <a:off x="6011091" y="195391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6011091" y="1730135"/>
              <a:ext cx="4880066" cy="2081034"/>
              <a:chOff x="6011091" y="1730135"/>
              <a:chExt cx="4880066" cy="2081034"/>
            </a:xfrm>
          </p:grpSpPr>
          <p:cxnSp>
            <p:nvCxnSpPr>
              <p:cNvPr id="8" name="Elbow Connector 7"/>
              <p:cNvCxnSpPr/>
              <p:nvPr/>
            </p:nvCxnSpPr>
            <p:spPr>
              <a:xfrm>
                <a:off x="6011091" y="2844850"/>
                <a:ext cx="1521084" cy="737049"/>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4" y="2844850"/>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4" y="1730135"/>
                <a:ext cx="3224093" cy="605927"/>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800" b="1" i="0" u="none" strike="noStrike" kern="1200" cap="none" spc="0" normalizeH="0" baseline="0" noProof="0" dirty="0">
                    <a:ln>
                      <a:noFill/>
                    </a:ln>
                    <a:solidFill>
                      <a:srgbClr val="1A3040"/>
                    </a:solidFill>
                    <a:effectLst/>
                    <a:uLnTx/>
                    <a:uFillTx/>
                    <a:latin typeface="Arial" charset="0"/>
                    <a:ea typeface="+mn-ea"/>
                    <a:cs typeface="Arial" charset="0"/>
                  </a:rPr>
                  <a:t>I</a:t>
                </a:r>
                <a:r>
                  <a:rPr kumimoji="0" lang="en-US" sz="1800" b="1" i="0" u="none" strike="noStrike" kern="1200" cap="none" spc="0" normalizeH="0" baseline="0" noProof="0" dirty="0" err="1">
                    <a:ln>
                      <a:noFill/>
                    </a:ln>
                    <a:solidFill>
                      <a:srgbClr val="1A3040"/>
                    </a:solidFill>
                    <a:effectLst/>
                    <a:uLnTx/>
                    <a:uFillTx/>
                    <a:latin typeface="Arial" charset="0"/>
                    <a:ea typeface="+mn-ea"/>
                    <a:cs typeface="Arial" charset="0"/>
                  </a:rPr>
                  <a:t>ntroduction</a:t>
                </a:r>
                <a:r>
                  <a:rPr kumimoji="0" lang="en-US" sz="1800" b="1" i="0" u="none" strike="noStrike" kern="1200" cap="none" spc="0" normalizeH="0" baseline="0" noProof="0" dirty="0">
                    <a:ln>
                      <a:noFill/>
                    </a:ln>
                    <a:solidFill>
                      <a:srgbClr val="1A3040"/>
                    </a:solidFill>
                    <a:effectLst/>
                    <a:uLnTx/>
                    <a:uFillTx/>
                    <a:latin typeface="Arial" charset="0"/>
                    <a:ea typeface="+mn-ea"/>
                    <a:cs typeface="Arial" charset="0"/>
                  </a:rPr>
                  <a:t> to SAP Fiori</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67063" y="2573879"/>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charset="0"/>
                    <a:ea typeface="+mn-ea"/>
                    <a:cs typeface="Arial" charset="0"/>
                  </a:rPr>
                  <a:t>What are WBS Elements</a:t>
                </a:r>
                <a:endParaRPr kumimoji="0" lang="en-US" sz="2000" b="1" i="0" u="none" strike="noStrike" kern="1200" cap="none" spc="0" normalizeH="0" baseline="0" noProof="0" dirty="0">
                  <a:ln>
                    <a:noFill/>
                  </a:ln>
                  <a:solidFill>
                    <a:srgbClr val="FFFFFF"/>
                  </a:solidFill>
                  <a:effectLst/>
                  <a:uLnTx/>
                  <a:uFillTx/>
                  <a:latin typeface="Arial" charset="0"/>
                  <a:ea typeface="+mn-ea"/>
                  <a:cs typeface="Arial" charset="0"/>
                </a:endParaRPr>
              </a:p>
            </p:txBody>
          </p:sp>
          <p:sp>
            <p:nvSpPr>
              <p:cNvPr id="41" name="Rounded Rectangle 40"/>
              <p:cNvSpPr/>
              <p:nvPr/>
            </p:nvSpPr>
            <p:spPr>
              <a:xfrm>
                <a:off x="7667063" y="3352629"/>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WBS Process Overview</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887360" y="2609089"/>
            <a:ext cx="5980800" cy="1801797"/>
            <a:chOff x="4372240" y="2883731"/>
            <a:chExt cx="7678462"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4393910"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Cost management</a:t>
              </a:r>
              <a:endParaRPr kumimoji="0" lang="en-GB" sz="2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4864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SAP Fiori</a:t>
            </a:r>
          </a:p>
        </p:txBody>
      </p:sp>
      <p:sp>
        <p:nvSpPr>
          <p:cNvPr id="4" name="Footer Placeholder 3"/>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Text Placeholder 2">
            <a:extLst>
              <a:ext uri="{FF2B5EF4-FFF2-40B4-BE49-F238E27FC236}">
                <a16:creationId xmlns:a16="http://schemas.microsoft.com/office/drawing/2014/main" id="{D5D282B5-FD25-43B7-BABD-0D382BF30E65}"/>
              </a:ext>
            </a:extLst>
          </p:cNvPr>
          <p:cNvSpPr>
            <a:spLocks noGrp="1"/>
          </p:cNvSpPr>
          <p:nvPr>
            <p:ph idx="1"/>
          </p:nvPr>
        </p:nvSpPr>
        <p:spPr>
          <a:xfrm>
            <a:off x="514290" y="1470247"/>
            <a:ext cx="10837863" cy="350590"/>
          </a:xfrm>
        </p:spPr>
        <p:txBody>
          <a:bodyPr vert="horz" lIns="91440" tIns="45720" rIns="91440" bIns="45720" rtlCol="0">
            <a:normAutofit lnSpcReduction="10000"/>
          </a:bodyPr>
          <a:lstStyle/>
          <a:p>
            <a:pPr marL="0" indent="0">
              <a:buNone/>
            </a:pPr>
            <a:r>
              <a:rPr lang="en-GB" sz="1800" i="1" dirty="0">
                <a:solidFill>
                  <a:schemeClr val="bg1">
                    <a:lumMod val="65000"/>
                  </a:schemeClr>
                </a:solidFill>
                <a:latin typeface="Georgia" panose="02040502050405020303" pitchFamily="18" charset="0"/>
              </a:rPr>
              <a:t>Introducing the Fiori Launchpad</a:t>
            </a:r>
          </a:p>
          <a:p>
            <a:pPr marL="0" indent="0">
              <a:buNone/>
            </a:pPr>
            <a:endParaRPr lang="en-GB" sz="1800" i="1" dirty="0">
              <a:solidFill>
                <a:schemeClr val="bg1">
                  <a:lumMod val="65000"/>
                </a:schemeClr>
              </a:solidFill>
              <a:latin typeface="Georgia" panose="02040502050405020303" pitchFamily="18" charset="0"/>
            </a:endParaRPr>
          </a:p>
        </p:txBody>
      </p:sp>
      <p:sp>
        <p:nvSpPr>
          <p:cNvPr id="7" name="Rectangle 6">
            <a:extLst>
              <a:ext uri="{FF2B5EF4-FFF2-40B4-BE49-F238E27FC236}">
                <a16:creationId xmlns:a16="http://schemas.microsoft.com/office/drawing/2014/main" id="{79CCEAD7-65A8-4C23-BE29-6288F02084AB}"/>
              </a:ext>
            </a:extLst>
          </p:cNvPr>
          <p:cNvSpPr/>
          <p:nvPr/>
        </p:nvSpPr>
        <p:spPr>
          <a:xfrm>
            <a:off x="573452" y="1874378"/>
            <a:ext cx="11200625" cy="1200329"/>
          </a:xfrm>
          <a:prstGeom prst="rect">
            <a:avLst/>
          </a:prstGeom>
        </p:spPr>
        <p:txBody>
          <a:bodyPr wrap="square">
            <a:spAutoFit/>
          </a:bodyPr>
          <a:lstStyle/>
          <a:p>
            <a:pPr marL="0" marR="0" lvl="0" indent="0" algn="l" defTabSz="914400" rtl="0" eaLnBrk="1" fontAlgn="auto" latinLnBrk="0" hangingPunct="1">
              <a:lnSpc>
                <a:spcPct val="90000"/>
              </a:lnSpc>
              <a:spcBef>
                <a:spcPts val="100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mn-ea"/>
                <a:cs typeface="Arial" charset="0"/>
              </a:rPr>
              <a:t>WBS Projects and Elements will be created via SAP Fiori Launchpad. SAP Fiori Launchpad is a new user experience for SAP software and applications. It provides a set of applications (Apps) that are used in regular business functions. Apps are represented as square tiles in a user’s Home Page. A user can easily customize their home page with the Apps that they use as part of their daily work by pinning them and organizing them into different task areas. These tasks appear vertically down the page or as tabs across the top for users to be able to easily access the required App. </a:t>
            </a:r>
            <a:endParaRPr kumimoji="0" lang="en-US" sz="1600" b="1" i="0" u="none" strike="noStrike" kern="1200" cap="none" spc="0" normalizeH="0" baseline="0" noProof="0" dirty="0">
              <a:ln>
                <a:noFill/>
              </a:ln>
              <a:solidFill>
                <a:srgbClr val="000000"/>
              </a:solidFill>
              <a:effectLst/>
              <a:uLnTx/>
              <a:uFillTx/>
              <a:latin typeface="Arial" charset="0"/>
              <a:ea typeface="+mn-ea"/>
              <a:cs typeface="Arial" charset="0"/>
            </a:endParaRPr>
          </a:p>
        </p:txBody>
      </p:sp>
      <p:pic>
        <p:nvPicPr>
          <p:cNvPr id="8" name="Picture 2">
            <a:extLst>
              <a:ext uri="{FF2B5EF4-FFF2-40B4-BE49-F238E27FC236}">
                <a16:creationId xmlns:a16="http://schemas.microsoft.com/office/drawing/2014/main" id="{20AF9261-FEB5-4AA9-A9CF-69DB946615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504" y="4720329"/>
            <a:ext cx="4200525" cy="13430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FA5F6E4-51D5-4A2D-9362-88001DBFC584}"/>
              </a:ext>
            </a:extLst>
          </p:cNvPr>
          <p:cNvSpPr/>
          <p:nvPr/>
        </p:nvSpPr>
        <p:spPr>
          <a:xfrm>
            <a:off x="861683" y="3945462"/>
            <a:ext cx="5034274" cy="646331"/>
          </a:xfrm>
          <a:prstGeom prst="rect">
            <a:avLst/>
          </a:prstGeom>
        </p:spPr>
        <p:txBody>
          <a:bodyPr wrap="square">
            <a:spAutoFit/>
          </a:bodyPr>
          <a:lstStyle/>
          <a:p>
            <a:pPr marL="0" marR="0" lvl="0" indent="0" algn="l" defTabSz="914400" rtl="0" eaLnBrk="1" fontAlgn="auto" latinLnBrk="0" hangingPunct="1">
              <a:lnSpc>
                <a:spcPct val="90000"/>
              </a:lnSpc>
              <a:spcBef>
                <a:spcPts val="1000"/>
              </a:spcBef>
              <a:spcAft>
                <a:spcPts val="6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Arial" charset="0"/>
              </a:rPr>
              <a:t>Enter</a:t>
            </a:r>
            <a:r>
              <a:rPr kumimoji="0" lang="en-US" sz="2000" b="1" i="0" u="none" strike="noStrike" kern="1200" cap="none" spc="0" normalizeH="0" baseline="0" noProof="0" dirty="0">
                <a:ln>
                  <a:noFill/>
                </a:ln>
                <a:solidFill>
                  <a:srgbClr val="000000"/>
                </a:solidFill>
                <a:effectLst/>
                <a:uLnTx/>
                <a:uFillTx/>
                <a:latin typeface="Arial" charset="0"/>
                <a:ea typeface="+mn-ea"/>
                <a:cs typeface="Arial" charset="0"/>
              </a:rPr>
              <a:t> /n/ui2/</a:t>
            </a:r>
            <a:r>
              <a:rPr kumimoji="0" lang="en-US" sz="2000" b="1" i="0" u="none" strike="noStrike" kern="1200" cap="none" spc="0" normalizeH="0" baseline="0" noProof="0" dirty="0" err="1">
                <a:ln>
                  <a:noFill/>
                </a:ln>
                <a:solidFill>
                  <a:srgbClr val="000000"/>
                </a:solidFill>
                <a:effectLst/>
                <a:uLnTx/>
                <a:uFillTx/>
                <a:latin typeface="Arial" charset="0"/>
                <a:ea typeface="+mn-ea"/>
                <a:cs typeface="Arial" charset="0"/>
              </a:rPr>
              <a:t>flp</a:t>
            </a:r>
            <a:r>
              <a:rPr kumimoji="0" lang="en-US" sz="2000" b="1" i="0" u="none" strike="noStrike" kern="1200" cap="none" spc="0" normalizeH="0" baseline="0" noProof="0" dirty="0">
                <a:ln>
                  <a:noFill/>
                </a:ln>
                <a:solidFill>
                  <a:srgbClr val="000000"/>
                </a:solidFill>
                <a:effectLst/>
                <a:uLnTx/>
                <a:uFillTx/>
                <a:latin typeface="Arial" charset="0"/>
                <a:ea typeface="+mn-ea"/>
                <a:cs typeface="Arial" charset="0"/>
              </a:rPr>
              <a:t> </a:t>
            </a:r>
            <a:r>
              <a:rPr kumimoji="0" lang="en-US" sz="2000" b="0" i="0" u="none" strike="noStrike" kern="1200" cap="none" spc="0" normalizeH="0" baseline="0" noProof="0" dirty="0">
                <a:ln>
                  <a:noFill/>
                </a:ln>
                <a:solidFill>
                  <a:srgbClr val="000000"/>
                </a:solidFill>
                <a:effectLst/>
                <a:uLnTx/>
                <a:uFillTx/>
                <a:latin typeface="Arial" charset="0"/>
                <a:ea typeface="+mn-ea"/>
                <a:cs typeface="Arial" charset="0"/>
              </a:rPr>
              <a:t>in the SAP Easy Access Menu within SAP GUI and press Enter</a:t>
            </a:r>
            <a:endParaRPr kumimoji="0" lang="en-US" sz="2000" b="1" i="0" u="none" strike="noStrike" kern="1200" cap="none" spc="0" normalizeH="0" baseline="0" noProof="0" dirty="0">
              <a:ln>
                <a:noFill/>
              </a:ln>
              <a:solidFill>
                <a:srgbClr val="000000"/>
              </a:solidFill>
              <a:effectLst/>
              <a:uLnTx/>
              <a:uFillTx/>
              <a:latin typeface="Arial" charset="0"/>
              <a:ea typeface="+mn-ea"/>
              <a:cs typeface="Arial" charset="0"/>
            </a:endParaRPr>
          </a:p>
        </p:txBody>
      </p:sp>
      <p:pic>
        <p:nvPicPr>
          <p:cNvPr id="10" name="Picture 9">
            <a:extLst>
              <a:ext uri="{FF2B5EF4-FFF2-40B4-BE49-F238E27FC236}">
                <a16:creationId xmlns:a16="http://schemas.microsoft.com/office/drawing/2014/main" id="{D80AD4DC-E717-458D-93DA-DF4294DB1E79}"/>
              </a:ext>
            </a:extLst>
          </p:cNvPr>
          <p:cNvPicPr>
            <a:picLocks noChangeAspect="1"/>
          </p:cNvPicPr>
          <p:nvPr/>
        </p:nvPicPr>
        <p:blipFill>
          <a:blip r:embed="rId3"/>
          <a:stretch>
            <a:fillRect/>
          </a:stretch>
        </p:blipFill>
        <p:spPr>
          <a:xfrm>
            <a:off x="6221186" y="3353469"/>
            <a:ext cx="4732385" cy="3180531"/>
          </a:xfrm>
          <a:prstGeom prst="rect">
            <a:avLst/>
          </a:prstGeom>
        </p:spPr>
      </p:pic>
      <p:sp>
        <p:nvSpPr>
          <p:cNvPr id="11" name="Text Placeholder 2">
            <a:extLst>
              <a:ext uri="{FF2B5EF4-FFF2-40B4-BE49-F238E27FC236}">
                <a16:creationId xmlns:a16="http://schemas.microsoft.com/office/drawing/2014/main" id="{34CD4698-F5C0-4109-B60A-FF3AD23ACA25}"/>
              </a:ext>
            </a:extLst>
          </p:cNvPr>
          <p:cNvSpPr txBox="1">
            <a:spLocks/>
          </p:cNvSpPr>
          <p:nvPr/>
        </p:nvSpPr>
        <p:spPr>
          <a:xfrm>
            <a:off x="908504" y="3530283"/>
            <a:ext cx="10837863" cy="350590"/>
          </a:xfrm>
          <a:prstGeom prst="rect">
            <a:avLst/>
          </a:prstGeom>
        </p:spPr>
        <p:txBody>
          <a:bodyPr vert="horz" lIns="91440" tIns="45720" rIns="91440" bIns="45720" rtlCol="0">
            <a:norm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399930" indent="-195204"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914126" rtl="0" eaLnBrk="1" fontAlgn="auto" latinLnBrk="0" hangingPunct="1">
              <a:lnSpc>
                <a:spcPct val="90000"/>
              </a:lnSpc>
              <a:spcBef>
                <a:spcPts val="1000"/>
              </a:spcBef>
              <a:spcAft>
                <a:spcPts val="0"/>
              </a:spcAft>
              <a:buClrTx/>
              <a:buSzTx/>
              <a:buFont typeface="Arial"/>
              <a:buNone/>
              <a:tabLst/>
              <a:defRPr/>
            </a:pPr>
            <a:r>
              <a:rPr kumimoji="0" lang="en-GB" sz="1800" b="0" i="1" u="none" strike="noStrike" kern="1200" cap="none" spc="0" normalizeH="0" baseline="0" noProof="0" dirty="0">
                <a:ln>
                  <a:noFill/>
                </a:ln>
                <a:solidFill>
                  <a:srgbClr val="FFFFFF">
                    <a:lumMod val="65000"/>
                  </a:srgbClr>
                </a:solidFill>
                <a:effectLst/>
                <a:uLnTx/>
                <a:uFillTx/>
                <a:latin typeface="Georgia" panose="02040502050405020303" pitchFamily="18" charset="0"/>
                <a:cs typeface="Arial" charset="0"/>
              </a:rPr>
              <a:t>Accessing the Fiori Launchpad</a:t>
            </a:r>
          </a:p>
          <a:p>
            <a:pPr marL="0" marR="0" lvl="0" indent="0" algn="l" defTabSz="914126" rtl="0" eaLnBrk="1" fontAlgn="auto" latinLnBrk="0" hangingPunct="1">
              <a:lnSpc>
                <a:spcPct val="90000"/>
              </a:lnSpc>
              <a:spcBef>
                <a:spcPts val="1000"/>
              </a:spcBef>
              <a:spcAft>
                <a:spcPts val="0"/>
              </a:spcAft>
              <a:buClrTx/>
              <a:buSzTx/>
              <a:buFont typeface="Arial"/>
              <a:buNone/>
              <a:tabLst/>
              <a:defRPr/>
            </a:pPr>
            <a:endParaRPr kumimoji="0" lang="en-GB" sz="1800" b="0" i="1" u="none" strike="noStrike" kern="1200" cap="none" spc="0" normalizeH="0" baseline="0" noProof="0" dirty="0">
              <a:ln>
                <a:noFill/>
              </a:ln>
              <a:solidFill>
                <a:srgbClr val="FFFFFF">
                  <a:lumMod val="65000"/>
                </a:srgbClr>
              </a:solidFill>
              <a:effectLst/>
              <a:uLnTx/>
              <a:uFillTx/>
              <a:latin typeface="Georgia" panose="02040502050405020303" pitchFamily="18" charset="0"/>
              <a:cs typeface="Arial" charset="0"/>
            </a:endParaRPr>
          </a:p>
        </p:txBody>
      </p:sp>
      <p:sp>
        <p:nvSpPr>
          <p:cNvPr id="12" name="Rectangle 11">
            <a:extLst>
              <a:ext uri="{FF2B5EF4-FFF2-40B4-BE49-F238E27FC236}">
                <a16:creationId xmlns:a16="http://schemas.microsoft.com/office/drawing/2014/main" id="{8E02DD2C-99ED-4FE4-AAB6-956977B20C78}"/>
              </a:ext>
            </a:extLst>
          </p:cNvPr>
          <p:cNvSpPr/>
          <p:nvPr/>
        </p:nvSpPr>
        <p:spPr>
          <a:xfrm>
            <a:off x="553132" y="3120881"/>
            <a:ext cx="11293428" cy="124418"/>
          </a:xfrm>
          <a:prstGeom prst="rect">
            <a:avLst/>
          </a:prstGeom>
          <a:solidFill>
            <a:srgbClr val="00BD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593242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16" name="Group 15">
            <a:extLst>
              <a:ext uri="{FF2B5EF4-FFF2-40B4-BE49-F238E27FC236}">
                <a16:creationId xmlns:a16="http://schemas.microsoft.com/office/drawing/2014/main" id="{3CDC24B6-3BB6-4F9B-B18A-F92D9BA1DA15}"/>
              </a:ext>
            </a:extLst>
          </p:cNvPr>
          <p:cNvGrpSpPr/>
          <p:nvPr/>
        </p:nvGrpSpPr>
        <p:grpSpPr>
          <a:xfrm>
            <a:off x="8382790" y="1826228"/>
            <a:ext cx="1522420" cy="1058861"/>
            <a:chOff x="7621010" y="5243201"/>
            <a:chExt cx="1277716" cy="879658"/>
          </a:xfrm>
        </p:grpSpPr>
        <p:pic>
          <p:nvPicPr>
            <p:cNvPr id="17" name="Picture 16">
              <a:extLst>
                <a:ext uri="{FF2B5EF4-FFF2-40B4-BE49-F238E27FC236}">
                  <a16:creationId xmlns:a16="http://schemas.microsoft.com/office/drawing/2014/main" id="{7CC94B94-4D2B-4A30-A907-862D134F25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1010" y="5243201"/>
              <a:ext cx="1277716" cy="879658"/>
            </a:xfrm>
            <a:prstGeom prst="rect">
              <a:avLst/>
            </a:prstGeom>
          </p:spPr>
        </p:pic>
        <p:sp>
          <p:nvSpPr>
            <p:cNvPr id="9" name="TextBox 8">
              <a:extLst>
                <a:ext uri="{FF2B5EF4-FFF2-40B4-BE49-F238E27FC236}">
                  <a16:creationId xmlns:a16="http://schemas.microsoft.com/office/drawing/2014/main" id="{7211FB24-66F5-422E-AFD0-48F500612EAE}"/>
                </a:ext>
              </a:extLst>
            </p:cNvPr>
            <p:cNvSpPr txBox="1"/>
            <p:nvPr/>
          </p:nvSpPr>
          <p:spPr>
            <a:xfrm>
              <a:off x="7833747" y="5373990"/>
              <a:ext cx="92354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Black" panose="020B0A04020102020204" pitchFamily="34" charset="0"/>
                  <a:ea typeface="+mn-ea"/>
                  <a:cs typeface="+mn-cs"/>
                </a:rPr>
                <a:t>DEMO</a:t>
              </a:r>
            </a:p>
          </p:txBody>
        </p:sp>
      </p:grpSp>
      <p:sp>
        <p:nvSpPr>
          <p:cNvPr id="19" name="Rectangle: Rounded Corners 18">
            <a:extLst>
              <a:ext uri="{FF2B5EF4-FFF2-40B4-BE49-F238E27FC236}">
                <a16:creationId xmlns:a16="http://schemas.microsoft.com/office/drawing/2014/main" id="{3E87892C-444D-4E5E-93FF-D16AA1D6EE86}"/>
              </a:ext>
            </a:extLst>
          </p:cNvPr>
          <p:cNvSpPr/>
          <p:nvPr/>
        </p:nvSpPr>
        <p:spPr>
          <a:xfrm>
            <a:off x="7380514" y="2996136"/>
            <a:ext cx="3696789" cy="984247"/>
          </a:xfrm>
          <a:prstGeom prst="roundRect">
            <a:avLst>
              <a:gd name="adj" fmla="val 915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/N/UI2/FLP: </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Access Fiori Launchpad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mn-cs"/>
              </a:rPr>
              <a:t>SAP Fiori: </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Navigation, Catalogue and pinning Apps</a:t>
            </a: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dirty="0"/>
              <a:t>Demonstration: SAP Fiori Launchpad</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Show: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Arial"/>
              </a:rPr>
              <a:t>Accessing Fiori Launchpad via SAP GUI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Arial"/>
              </a:rPr>
              <a:t>Navigating Fiori Launchpad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Arial"/>
              </a:rPr>
              <a:t>Catalogue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Arial"/>
              </a:rPr>
              <a:t>Pinning App in Fiori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dirty="0">
              <a:ln>
                <a:noFill/>
              </a:ln>
              <a:solidFill>
                <a:srgbClr val="000000"/>
              </a:solidFill>
              <a:effectLst/>
              <a:uLnTx/>
              <a:uFillTx/>
              <a:latin typeface="Arial" panose="020B0604020202020204"/>
              <a:ea typeface="+mn-ea"/>
              <a:cs typeface="Arial"/>
            </a:endParaRPr>
          </a:p>
        </p:txBody>
      </p:sp>
    </p:spTree>
    <p:extLst>
      <p:ext uri="{BB962C8B-B14F-4D97-AF65-F5344CB8AC3E}">
        <p14:creationId xmlns:p14="http://schemas.microsoft.com/office/powerpoint/2010/main" val="3369177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6833269" y="1740301"/>
            <a:ext cx="4880065" cy="2026313"/>
            <a:chOff x="6011091" y="1784856"/>
            <a:chExt cx="4880065" cy="2026313"/>
          </a:xfrm>
        </p:grpSpPr>
        <p:cxnSp>
          <p:nvCxnSpPr>
            <p:cNvPr id="5" name="Elbow Connector 4"/>
            <p:cNvCxnSpPr/>
            <p:nvPr/>
          </p:nvCxnSpPr>
          <p:spPr>
            <a:xfrm flipV="1">
              <a:off x="6011091" y="195391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6011091" y="1784856"/>
              <a:ext cx="4880065" cy="2026313"/>
              <a:chOff x="6011091" y="1784856"/>
              <a:chExt cx="4880065" cy="2026313"/>
            </a:xfrm>
          </p:grpSpPr>
          <p:cxnSp>
            <p:nvCxnSpPr>
              <p:cNvPr id="8" name="Elbow Connector 7"/>
              <p:cNvCxnSpPr/>
              <p:nvPr/>
            </p:nvCxnSpPr>
            <p:spPr>
              <a:xfrm>
                <a:off x="6011091" y="2844850"/>
                <a:ext cx="1521084" cy="737049"/>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4" y="2844850"/>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2" y="2550183"/>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600" b="1" i="0" u="none" strike="noStrike" kern="1200" cap="none" spc="0" normalizeH="0" baseline="0" noProof="0" dirty="0">
                    <a:ln>
                      <a:noFill/>
                    </a:ln>
                    <a:solidFill>
                      <a:srgbClr val="1A3040"/>
                    </a:solidFill>
                    <a:effectLst/>
                    <a:uLnTx/>
                    <a:uFillTx/>
                    <a:latin typeface="Arial" charset="0"/>
                    <a:ea typeface="Arial" charset="0"/>
                    <a:cs typeface="Arial" charset="0"/>
                  </a:rPr>
                  <a:t>WBS Elements Master Data</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67062" y="1784856"/>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charset="0"/>
                    <a:ea typeface="+mn-ea"/>
                    <a:cs typeface="Arial" charset="0"/>
                  </a:rPr>
                  <a:t>Introduction to SAP Fiori</a:t>
                </a:r>
              </a:p>
            </p:txBody>
          </p:sp>
          <p:sp>
            <p:nvSpPr>
              <p:cNvPr id="41" name="Rounded Rectangle 40"/>
              <p:cNvSpPr/>
              <p:nvPr/>
            </p:nvSpPr>
            <p:spPr>
              <a:xfrm>
                <a:off x="7667063" y="3352629"/>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WBS Process Overview</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887360" y="2609089"/>
            <a:ext cx="6641200" cy="1801797"/>
            <a:chOff x="4372240" y="2883731"/>
            <a:chExt cx="8526318"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454254"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5344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FD2B6-FFC8-4786-AC62-EE59DD3AEF93}"/>
              </a:ext>
            </a:extLst>
          </p:cNvPr>
          <p:cNvSpPr>
            <a:spLocks noGrp="1"/>
          </p:cNvSpPr>
          <p:nvPr>
            <p:ph type="title"/>
          </p:nvPr>
        </p:nvSpPr>
        <p:spPr/>
        <p:txBody>
          <a:bodyPr/>
          <a:lstStyle/>
          <a:p>
            <a:r>
              <a:rPr lang="en-GB" dirty="0"/>
              <a:t>Introduction to WBS</a:t>
            </a:r>
            <a:endParaRPr lang="en-US" dirty="0"/>
          </a:p>
        </p:txBody>
      </p:sp>
      <p:sp>
        <p:nvSpPr>
          <p:cNvPr id="4" name="Footer Placeholder 3">
            <a:extLst>
              <a:ext uri="{FF2B5EF4-FFF2-40B4-BE49-F238E27FC236}">
                <a16:creationId xmlns:a16="http://schemas.microsoft.com/office/drawing/2014/main" id="{315B475D-0E6A-4273-9343-7B04EA048EA8}"/>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A2A0CB4-30C9-4E8F-9943-DE7A57A5B1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07E5A8F8-EAE2-4105-8DA1-AAA7D569CEA0}"/>
              </a:ext>
            </a:extLst>
          </p:cNvPr>
          <p:cNvSpPr/>
          <p:nvPr/>
        </p:nvSpPr>
        <p:spPr>
          <a:xfrm>
            <a:off x="460521" y="1502768"/>
            <a:ext cx="11242249" cy="2429152"/>
          </a:xfrm>
          <a:prstGeom prst="roundRect">
            <a:avLst/>
          </a:prstGeom>
          <a:gradFill>
            <a:gsLst>
              <a:gs pos="0">
                <a:srgbClr val="A7E6E4"/>
              </a:gs>
              <a:gs pos="50000">
                <a:srgbClr val="D4F3F2"/>
              </a:gs>
              <a:gs pos="100000">
                <a:srgbClr val="74D9D5"/>
              </a:gs>
            </a:gsLst>
          </a:gradFill>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DB054E74-5AF2-4668-9A25-38628B7EA8F0}"/>
              </a:ext>
            </a:extLst>
          </p:cNvPr>
          <p:cNvSpPr txBox="1"/>
          <p:nvPr/>
        </p:nvSpPr>
        <p:spPr>
          <a:xfrm>
            <a:off x="709919" y="1649729"/>
            <a:ext cx="10837863" cy="1779271"/>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WBS stands for “Work Breakdown Structure”.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A work breakdown structure is a model of a project and shows all the activities to be carried out as a hierarchical structure thereby splitting the project into manageable units.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panose="020B0604020202020204"/>
                <a:ea typeface="ＭＳ Ｐゴシック" pitchFamily="80" charset="-128"/>
                <a:cs typeface="+mn-cs"/>
              </a:rPr>
              <a:t>WBS are used to divide a project step by step into structure elements. Various parts of an overall project are described in individual work breakdown structures (WBS Elements). You can further divide these elements at various levels until you reach the level of detail required.</a:t>
            </a:r>
            <a:endParaRPr kumimoji="0" lang="en-US" sz="2000" b="0" i="0" u="none" strike="noStrike" kern="1200" cap="none" spc="0" normalizeH="0" baseline="0" noProof="0" dirty="0" err="1">
              <a:ln>
                <a:noFill/>
              </a:ln>
              <a:solidFill>
                <a:srgbClr val="FFC000"/>
              </a:solidFill>
              <a:effectLst/>
              <a:uLnTx/>
              <a:uFillTx/>
              <a:latin typeface="Arial" panose="020B0604020202020204"/>
              <a:ea typeface="ＭＳ Ｐゴシック" pitchFamily="80" charset="-128"/>
              <a:cs typeface="+mn-cs"/>
            </a:endParaRPr>
          </a:p>
        </p:txBody>
      </p:sp>
      <p:sp>
        <p:nvSpPr>
          <p:cNvPr id="8" name="Rectangle: Single Corner Snipped 7">
            <a:extLst>
              <a:ext uri="{FF2B5EF4-FFF2-40B4-BE49-F238E27FC236}">
                <a16:creationId xmlns:a16="http://schemas.microsoft.com/office/drawing/2014/main" id="{0D642716-7879-4A55-A725-A0CBCE2789DC}"/>
              </a:ext>
            </a:extLst>
          </p:cNvPr>
          <p:cNvSpPr/>
          <p:nvPr/>
        </p:nvSpPr>
        <p:spPr>
          <a:xfrm>
            <a:off x="465609" y="4267199"/>
            <a:ext cx="11082173" cy="2030321"/>
          </a:xfrm>
          <a:prstGeom prst="snip1Rect">
            <a:avLst/>
          </a:prstGeom>
          <a:gradFill>
            <a:gsLst>
              <a:gs pos="0">
                <a:srgbClr val="A7E6E4"/>
              </a:gs>
              <a:gs pos="50000">
                <a:srgbClr val="D4F3F2"/>
              </a:gs>
              <a:gs pos="100000">
                <a:srgbClr val="74D9D5"/>
              </a:gs>
            </a:gsLst>
          </a:gradFill>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If you have a project with many WBS elements linked to it, these can be grouped using a WBS type called a structure, which is similar to a node in a hierarchy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It is not possible to record any actual postings against a structure WBS element, this should only be used for reporting purposes</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2201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9437461" cy="984247"/>
          </a:xfrm>
        </p:spPr>
        <p:txBody>
          <a:bodyPr/>
          <a:lstStyle/>
          <a:p>
            <a:r>
              <a:rPr lang="en-GB" dirty="0"/>
              <a:t>Why Replacing Internal Orders with WBS?</a:t>
            </a:r>
          </a:p>
        </p:txBody>
      </p:sp>
      <p:graphicFrame>
        <p:nvGraphicFramePr>
          <p:cNvPr id="7" name="Content Placeholder 6">
            <a:extLst>
              <a:ext uri="{FF2B5EF4-FFF2-40B4-BE49-F238E27FC236}">
                <a16:creationId xmlns:a16="http://schemas.microsoft.com/office/drawing/2014/main" id="{E63171F9-2564-47E6-BB5E-0C9B78857D72}"/>
              </a:ext>
            </a:extLst>
          </p:cNvPr>
          <p:cNvGraphicFramePr>
            <a:graphicFrameLocks noGrp="1"/>
          </p:cNvGraphicFramePr>
          <p:nvPr>
            <p:ph idx="1"/>
            <p:extLst/>
          </p:nvPr>
        </p:nvGraphicFramePr>
        <p:xfrm>
          <a:off x="517236" y="1472972"/>
          <a:ext cx="11158825" cy="4492053"/>
        </p:xfrm>
        <a:graphic>
          <a:graphicData uri="http://schemas.openxmlformats.org/drawingml/2006/table">
            <a:tbl>
              <a:tblPr firstRow="1" bandRow="1">
                <a:tableStyleId>{5C22544A-7EE6-4342-B048-85BDC9FD1C3A}</a:tableStyleId>
              </a:tblPr>
              <a:tblGrid>
                <a:gridCol w="2632364">
                  <a:extLst>
                    <a:ext uri="{9D8B030D-6E8A-4147-A177-3AD203B41FA5}">
                      <a16:colId xmlns:a16="http://schemas.microsoft.com/office/drawing/2014/main" val="2149724214"/>
                    </a:ext>
                  </a:extLst>
                </a:gridCol>
                <a:gridCol w="1754909">
                  <a:extLst>
                    <a:ext uri="{9D8B030D-6E8A-4147-A177-3AD203B41FA5}">
                      <a16:colId xmlns:a16="http://schemas.microsoft.com/office/drawing/2014/main" val="192737522"/>
                    </a:ext>
                  </a:extLst>
                </a:gridCol>
                <a:gridCol w="1930244">
                  <a:extLst>
                    <a:ext uri="{9D8B030D-6E8A-4147-A177-3AD203B41FA5}">
                      <a16:colId xmlns:a16="http://schemas.microsoft.com/office/drawing/2014/main" val="1927813928"/>
                    </a:ext>
                  </a:extLst>
                </a:gridCol>
                <a:gridCol w="4841308">
                  <a:extLst>
                    <a:ext uri="{9D8B030D-6E8A-4147-A177-3AD203B41FA5}">
                      <a16:colId xmlns:a16="http://schemas.microsoft.com/office/drawing/2014/main" val="207294981"/>
                    </a:ext>
                  </a:extLst>
                </a:gridCol>
              </a:tblGrid>
              <a:tr h="590613">
                <a:tc>
                  <a:txBody>
                    <a:bodyPr/>
                    <a:lstStyle/>
                    <a:p>
                      <a:pPr algn="ctr"/>
                      <a:r>
                        <a:rPr lang="en-GB" sz="1600" dirty="0"/>
                        <a:t>Feature/</a:t>
                      </a:r>
                    </a:p>
                    <a:p>
                      <a:pPr algn="ctr"/>
                      <a:r>
                        <a:rPr lang="en-GB" sz="1600" dirty="0"/>
                        <a:t>Functionality</a:t>
                      </a:r>
                    </a:p>
                  </a:txBody>
                  <a:tcPr anchor="ct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lnB w="28575" cap="flat" cmpd="sng" algn="ctr">
                      <a:solidFill>
                        <a:schemeClr val="accent1">
                          <a:lumMod val="50000"/>
                        </a:schemeClr>
                      </a:solidFill>
                      <a:prstDash val="solid"/>
                      <a:round/>
                      <a:headEnd type="none" w="med" len="med"/>
                      <a:tailEnd type="none" w="med" len="med"/>
                    </a:lnB>
                  </a:tcPr>
                </a:tc>
                <a:tc>
                  <a:txBody>
                    <a:bodyPr/>
                    <a:lstStyle/>
                    <a:p>
                      <a:pPr algn="ctr"/>
                      <a:r>
                        <a:rPr lang="en-GB" sz="1600" dirty="0"/>
                        <a:t>Internal Order</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lnB w="28575" cap="flat" cmpd="sng" algn="ctr">
                      <a:solidFill>
                        <a:schemeClr val="accent1">
                          <a:lumMod val="50000"/>
                        </a:schemeClr>
                      </a:solidFill>
                      <a:prstDash val="solid"/>
                      <a:round/>
                      <a:headEnd type="none" w="med" len="med"/>
                      <a:tailEnd type="none" w="med" len="med"/>
                    </a:lnB>
                  </a:tcPr>
                </a:tc>
                <a:tc>
                  <a:txBody>
                    <a:bodyPr/>
                    <a:lstStyle/>
                    <a:p>
                      <a:pPr algn="ctr"/>
                      <a:r>
                        <a:rPr lang="en-GB" sz="1600" dirty="0"/>
                        <a:t>WBS</a:t>
                      </a:r>
                    </a:p>
                  </a:txBody>
                  <a:tcPr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lnB w="28575" cap="flat" cmpd="sng" algn="ctr">
                      <a:solidFill>
                        <a:schemeClr val="accent1">
                          <a:lumMod val="50000"/>
                        </a:schemeClr>
                      </a:solidFill>
                      <a:prstDash val="solid"/>
                      <a:round/>
                      <a:headEnd type="none" w="med" len="med"/>
                      <a:tailEnd type="none" w="med" len="med"/>
                    </a:lnB>
                  </a:tcPr>
                </a:tc>
                <a:tc>
                  <a:txBody>
                    <a:bodyPr/>
                    <a:lstStyle/>
                    <a:p>
                      <a:pPr algn="ctr"/>
                      <a:r>
                        <a:rPr lang="en-GB" sz="1600" dirty="0"/>
                        <a:t>Advantage of using WBS</a:t>
                      </a:r>
                    </a:p>
                  </a:txBody>
                  <a:tcPr anchor="ct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lnB w="28575" cap="flat" cmpd="sng" algn="ctr">
                      <a:solidFill>
                        <a:schemeClr val="accent1">
                          <a:lumMod val="50000"/>
                        </a:schemeClr>
                      </a:solidFill>
                      <a:prstDash val="solid"/>
                      <a:round/>
                      <a:headEnd type="none" w="med" len="med"/>
                      <a:tailEnd type="none" w="med" len="med"/>
                    </a:lnB>
                  </a:tcPr>
                </a:tc>
                <a:extLst>
                  <a:ext uri="{0D108BD9-81ED-4DB2-BD59-A6C34878D82A}">
                    <a16:rowId xmlns:a16="http://schemas.microsoft.com/office/drawing/2014/main" val="157612100"/>
                  </a:ext>
                </a:extLst>
              </a:tr>
              <a:tr h="342180">
                <a:tc>
                  <a:txBody>
                    <a:bodyPr/>
                    <a:lstStyle/>
                    <a:p>
                      <a:r>
                        <a:rPr lang="en-GB" sz="1400" dirty="0"/>
                        <a:t>Collect cost for a project</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tcPr>
                </a:tc>
                <a:tc>
                  <a:txBody>
                    <a:bodyPr/>
                    <a:lstStyle/>
                    <a:p>
                      <a:r>
                        <a:rPr lang="en-GB" sz="1400" dirty="0"/>
                        <a:t>Yes – only for statistical purpose</a:t>
                      </a:r>
                      <a:r>
                        <a:rPr lang="en-GB" sz="1400" b="0" i="1" baseline="30000" dirty="0">
                          <a:solidFill>
                            <a:srgbClr val="FF0000"/>
                          </a:solidFill>
                        </a:rPr>
                        <a:t>1)</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tcPr>
                </a:tc>
                <a:tc>
                  <a:txBody>
                    <a:bodyPr/>
                    <a:lstStyle/>
                    <a:p>
                      <a:r>
                        <a:rPr lang="en-GB" sz="1400" dirty="0"/>
                        <a:t>Yes – can be either statistical or real</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tcPr>
                </a:tc>
                <a:tc>
                  <a:txBody>
                    <a:bodyPr/>
                    <a:lstStyle/>
                    <a:p>
                      <a:r>
                        <a:rPr lang="en-GB" sz="1200" dirty="0"/>
                        <a:t>As real cost objects, WBS can be settled to final cost receivers, e.g. fixed assets for Capex project, CO-PA characteristics for Marketing projects.</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lnT w="28575" cap="flat" cmpd="sng" algn="ctr">
                      <a:solidFill>
                        <a:schemeClr val="accent1">
                          <a:lumMod val="50000"/>
                        </a:schemeClr>
                      </a:solidFill>
                      <a:prstDash val="solid"/>
                      <a:round/>
                      <a:headEnd type="none" w="med" len="med"/>
                      <a:tailEnd type="none" w="med" len="med"/>
                    </a:lnT>
                  </a:tcPr>
                </a:tc>
                <a:extLst>
                  <a:ext uri="{0D108BD9-81ED-4DB2-BD59-A6C34878D82A}">
                    <a16:rowId xmlns:a16="http://schemas.microsoft.com/office/drawing/2014/main" val="3269856921"/>
                  </a:ext>
                </a:extLst>
              </a:tr>
              <a:tr h="342180">
                <a:tc>
                  <a:txBody>
                    <a:bodyPr/>
                    <a:lstStyle/>
                    <a:p>
                      <a:r>
                        <a:rPr lang="en-GB" sz="1400" dirty="0"/>
                        <a:t>Be assigned with a budget and perform availability control</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dirty="0"/>
                        <a:t>Yes – only at overall project level</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dirty="0"/>
                        <a:t>Yes – project or WBS level</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200" dirty="0"/>
                        <a:t>Exchange rate can be specified so that budget availability control is done at the exchange rate used for budget, eliminating the noises caused by fluctuation of actual exchange rates.</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tcPr>
                </a:tc>
                <a:extLst>
                  <a:ext uri="{0D108BD9-81ED-4DB2-BD59-A6C34878D82A}">
                    <a16:rowId xmlns:a16="http://schemas.microsoft.com/office/drawing/2014/main" val="267425218"/>
                  </a:ext>
                </a:extLst>
              </a:tr>
              <a:tr h="342180">
                <a:tc>
                  <a:txBody>
                    <a:bodyPr/>
                    <a:lstStyle/>
                    <a:p>
                      <a:r>
                        <a:rPr lang="en-GB" sz="1400" dirty="0"/>
                        <a:t>Different types to distinguish usage</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dirty="0"/>
                        <a:t>Yes – however no standardization</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dirty="0"/>
                        <a:t>Yes – clearly defined and fit for purpose</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200" dirty="0"/>
                        <a:t>Project types and WBS priorities are clearly defined for WBS to ensure correct WBS elements are used for the specific purposes.</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tcPr>
                </a:tc>
                <a:extLst>
                  <a:ext uri="{0D108BD9-81ED-4DB2-BD59-A6C34878D82A}">
                    <a16:rowId xmlns:a16="http://schemas.microsoft.com/office/drawing/2014/main" val="2919635700"/>
                  </a:ext>
                </a:extLst>
              </a:tr>
              <a:tr h="342180">
                <a:tc>
                  <a:txBody>
                    <a:bodyPr/>
                    <a:lstStyle/>
                    <a:p>
                      <a:r>
                        <a:rPr lang="en-GB" sz="1400" dirty="0"/>
                        <a:t>Can be structured</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dirty="0">
                          <a:solidFill>
                            <a:schemeClr val="tx1"/>
                          </a:solidFill>
                        </a:rPr>
                        <a:t>No</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dirty="0"/>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200"/>
                        <a:t>WBS can be structured based on the nature of the spending. E.g. Capex projects can be structured based on the structure of the components of building an equipment; Opex/Marketing projects can be structured based on groups of activities, etc.</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tcPr>
                </a:tc>
                <a:extLst>
                  <a:ext uri="{0D108BD9-81ED-4DB2-BD59-A6C34878D82A}">
                    <a16:rowId xmlns:a16="http://schemas.microsoft.com/office/drawing/2014/main" val="2645495381"/>
                  </a:ext>
                </a:extLst>
              </a:tr>
              <a:tr h="342180">
                <a:tc>
                  <a:txBody>
                    <a:bodyPr/>
                    <a:lstStyle/>
                    <a:p>
                      <a:r>
                        <a:rPr lang="en-GB" sz="1400" dirty="0"/>
                        <a:t>Can be linked to multiple company codes</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dirty="0">
                          <a:solidFill>
                            <a:schemeClr val="tx1"/>
                          </a:solidFill>
                        </a:rPr>
                        <a:t>No</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400" dirty="0"/>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tcPr>
                </a:tc>
                <a:tc>
                  <a:txBody>
                    <a:bodyPr/>
                    <a:lstStyle/>
                    <a:p>
                      <a:r>
                        <a:rPr lang="en-GB" sz="1200" dirty="0"/>
                        <a:t>Different WBS elements within a project can be linked to different company codes, e.g. in the use of Interco asset transfer or Interco Non-trade cross charge processes.</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tcPr>
                </a:tc>
                <a:extLst>
                  <a:ext uri="{0D108BD9-81ED-4DB2-BD59-A6C34878D82A}">
                    <a16:rowId xmlns:a16="http://schemas.microsoft.com/office/drawing/2014/main" val="900903693"/>
                  </a:ext>
                </a:extLst>
              </a:tr>
              <a:tr h="342180">
                <a:tc>
                  <a:txBody>
                    <a:bodyPr/>
                    <a:lstStyle/>
                    <a:p>
                      <a:r>
                        <a:rPr lang="en-GB" sz="1400" dirty="0"/>
                        <a:t>Can be used to generate invoices</a:t>
                      </a:r>
                    </a:p>
                  </a:txBody>
                  <a:tcPr>
                    <a:lnL w="28575"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28575" cap="flat" cmpd="sng" algn="ctr">
                      <a:solidFill>
                        <a:schemeClr val="accent1">
                          <a:lumMod val="50000"/>
                        </a:schemeClr>
                      </a:solidFill>
                      <a:prstDash val="solid"/>
                      <a:round/>
                      <a:headEnd type="none" w="med" len="med"/>
                      <a:tailEnd type="none" w="med" len="med"/>
                    </a:lnB>
                  </a:tcPr>
                </a:tc>
                <a:tc>
                  <a:txBody>
                    <a:bodyPr/>
                    <a:lstStyle/>
                    <a:p>
                      <a:r>
                        <a:rPr lang="en-GB" sz="1400" dirty="0">
                          <a:solidFill>
                            <a:schemeClr val="tx1"/>
                          </a:solidFill>
                        </a:rPr>
                        <a:t>No</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28575" cap="flat" cmpd="sng" algn="ctr">
                      <a:solidFill>
                        <a:schemeClr val="accent1">
                          <a:lumMod val="50000"/>
                        </a:schemeClr>
                      </a:solidFill>
                      <a:prstDash val="solid"/>
                      <a:round/>
                      <a:headEnd type="none" w="med" len="med"/>
                      <a:tailEnd type="none" w="med" len="med"/>
                    </a:lnB>
                  </a:tcPr>
                </a:tc>
                <a:tc>
                  <a:txBody>
                    <a:bodyPr/>
                    <a:lstStyle/>
                    <a:p>
                      <a:r>
                        <a:rPr lang="en-GB" sz="1400" dirty="0"/>
                        <a:t>Yes</a:t>
                      </a:r>
                    </a:p>
                  </a:txBody>
                  <a:tcP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B w="28575" cap="flat" cmpd="sng" algn="ctr">
                      <a:solidFill>
                        <a:schemeClr val="accent1">
                          <a:lumMod val="50000"/>
                        </a:schemeClr>
                      </a:solidFill>
                      <a:prstDash val="solid"/>
                      <a:round/>
                      <a:headEnd type="none" w="med" len="med"/>
                      <a:tailEnd type="none" w="med" len="med"/>
                    </a:lnB>
                  </a:tcPr>
                </a:tc>
                <a:tc>
                  <a:txBody>
                    <a:bodyPr/>
                    <a:lstStyle/>
                    <a:p>
                      <a:r>
                        <a:rPr lang="en-GB" sz="1200" dirty="0"/>
                        <a:t>WBS elements can be linked to sales orders so that invoices can be automatically generated. </a:t>
                      </a:r>
                      <a:r>
                        <a:rPr lang="en-GB" sz="1200" dirty="0" err="1"/>
                        <a:t>E.g</a:t>
                      </a:r>
                      <a:r>
                        <a:rPr lang="en-GB" sz="1200" dirty="0"/>
                        <a:t> in the use of Interco Non-trade cross charge processes.</a:t>
                      </a:r>
                    </a:p>
                  </a:txBody>
                  <a:tcPr>
                    <a:lnL w="12700" cap="flat" cmpd="sng" algn="ctr">
                      <a:solidFill>
                        <a:schemeClr val="accent1">
                          <a:lumMod val="50000"/>
                        </a:schemeClr>
                      </a:solidFill>
                      <a:prstDash val="solid"/>
                      <a:round/>
                      <a:headEnd type="none" w="med" len="med"/>
                      <a:tailEnd type="none" w="med" len="med"/>
                    </a:lnL>
                    <a:lnR w="28575" cap="flat" cmpd="sng" algn="ctr">
                      <a:solidFill>
                        <a:schemeClr val="accent1">
                          <a:lumMod val="50000"/>
                        </a:schemeClr>
                      </a:solidFill>
                      <a:prstDash val="solid"/>
                      <a:round/>
                      <a:headEnd type="none" w="med" len="med"/>
                      <a:tailEnd type="none" w="med" len="med"/>
                    </a:lnR>
                    <a:lnB w="28575" cap="flat" cmpd="sng" algn="ctr">
                      <a:solidFill>
                        <a:schemeClr val="accent1">
                          <a:lumMod val="50000"/>
                        </a:schemeClr>
                      </a:solidFill>
                      <a:prstDash val="solid"/>
                      <a:round/>
                      <a:headEnd type="none" w="med" len="med"/>
                      <a:tailEnd type="none" w="med" len="med"/>
                    </a:lnB>
                  </a:tcPr>
                </a:tc>
                <a:extLst>
                  <a:ext uri="{0D108BD9-81ED-4DB2-BD59-A6C34878D82A}">
                    <a16:rowId xmlns:a16="http://schemas.microsoft.com/office/drawing/2014/main" val="1058165328"/>
                  </a:ext>
                </a:extLst>
              </a:tr>
            </a:tbl>
          </a:graphicData>
        </a:graphic>
      </p:graphicFrame>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17420A1F-9848-43DF-B0F6-E542DFDB1600}"/>
              </a:ext>
            </a:extLst>
          </p:cNvPr>
          <p:cNvSpPr/>
          <p:nvPr/>
        </p:nvSpPr>
        <p:spPr>
          <a:xfrm>
            <a:off x="397163" y="6112855"/>
            <a:ext cx="11278897" cy="2308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30000" noProof="0" dirty="0">
                <a:ln>
                  <a:noFill/>
                </a:ln>
                <a:solidFill>
                  <a:srgbClr val="FF0000"/>
                </a:solidFill>
                <a:effectLst/>
                <a:uLnTx/>
                <a:uFillTx/>
                <a:latin typeface="Arial" panose="020B0604020202020204"/>
                <a:ea typeface="+mn-ea"/>
                <a:cs typeface="+mn-cs"/>
              </a:rPr>
              <a:t>1) </a:t>
            </a:r>
            <a:r>
              <a:rPr kumimoji="0" lang="en-GB" sz="900" b="0" i="1" u="none" strike="noStrike" kern="1200" cap="none" spc="0" normalizeH="0" baseline="0" noProof="0" dirty="0">
                <a:ln>
                  <a:noFill/>
                </a:ln>
                <a:solidFill>
                  <a:srgbClr val="000000"/>
                </a:solidFill>
                <a:effectLst/>
                <a:uLnTx/>
                <a:uFillTx/>
                <a:latin typeface="Arial" panose="020B0604020202020204"/>
                <a:ea typeface="+mn-ea"/>
                <a:cs typeface="+mn-cs"/>
              </a:rPr>
              <a:t>Technically Internal Orders can be used as Real cost objects as well. However in JTI for the purpose of tracking project costs prior to S4F project, this particular usage is for statistical purposes only. </a:t>
            </a:r>
          </a:p>
        </p:txBody>
      </p:sp>
    </p:spTree>
    <p:extLst>
      <p:ext uri="{BB962C8B-B14F-4D97-AF65-F5344CB8AC3E}">
        <p14:creationId xmlns:p14="http://schemas.microsoft.com/office/powerpoint/2010/main" val="188950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Rounded Corners 66">
            <a:extLst>
              <a:ext uri="{FF2B5EF4-FFF2-40B4-BE49-F238E27FC236}">
                <a16:creationId xmlns:a16="http://schemas.microsoft.com/office/drawing/2014/main" id="{AC7DE98D-EC07-457B-9FA9-97E2CF7630F5}"/>
              </a:ext>
            </a:extLst>
          </p:cNvPr>
          <p:cNvSpPr/>
          <p:nvPr/>
        </p:nvSpPr>
        <p:spPr>
          <a:xfrm>
            <a:off x="515939" y="1382358"/>
            <a:ext cx="11259172" cy="55748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68" name="Graphic 67" descr="Lightbulb and gear">
            <a:extLst>
              <a:ext uri="{FF2B5EF4-FFF2-40B4-BE49-F238E27FC236}">
                <a16:creationId xmlns:a16="http://schemas.microsoft.com/office/drawing/2014/main" id="{A40DFEB4-986A-4AB0-8660-F5F73475F6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1095" y="1438319"/>
            <a:ext cx="445564" cy="445564"/>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p:txBody>
          <a:bodyPr/>
          <a:lstStyle/>
          <a:p>
            <a:r>
              <a:rPr lang="en-GB" dirty="0"/>
              <a:t>Project and Work Breakdown Structure</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3" name="Rectangle 32">
            <a:extLst>
              <a:ext uri="{FF2B5EF4-FFF2-40B4-BE49-F238E27FC236}">
                <a16:creationId xmlns:a16="http://schemas.microsoft.com/office/drawing/2014/main" id="{3B0DB5DE-CC66-4BD9-BA10-E91481348A83}"/>
              </a:ext>
            </a:extLst>
          </p:cNvPr>
          <p:cNvSpPr/>
          <p:nvPr/>
        </p:nvSpPr>
        <p:spPr>
          <a:xfrm>
            <a:off x="7564583" y="4944887"/>
            <a:ext cx="4210527" cy="1800037"/>
          </a:xfrm>
          <a:prstGeom prst="rect">
            <a:avLst/>
          </a:prstGeom>
          <a:noFill/>
          <a:ln w="19050">
            <a:solidFill>
              <a:schemeClr val="accent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The </a:t>
            </a:r>
            <a:r>
              <a:rPr kumimoji="0" lang="en-GB" sz="1300" b="1" i="0" u="none" strike="noStrike" kern="1200" cap="none" spc="0" normalizeH="0" baseline="0" noProof="0" dirty="0">
                <a:ln>
                  <a:noFill/>
                </a:ln>
                <a:solidFill>
                  <a:srgbClr val="000000"/>
                </a:solidFill>
                <a:effectLst/>
                <a:uLnTx/>
                <a:uFillTx/>
                <a:latin typeface="Arial" panose="020B0604020202020204"/>
                <a:ea typeface="+mn-ea"/>
                <a:cs typeface="+mn-cs"/>
              </a:rPr>
              <a:t>individual elements</a:t>
            </a: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 represent activities within a WBS are called </a:t>
            </a:r>
            <a:r>
              <a:rPr kumimoji="0" lang="en-GB" sz="1300" b="1" i="0" u="none" strike="noStrike" kern="1200" cap="none" spc="0" normalizeH="0" baseline="0" noProof="0" dirty="0">
                <a:ln>
                  <a:noFill/>
                </a:ln>
                <a:solidFill>
                  <a:srgbClr val="000000"/>
                </a:solidFill>
                <a:effectLst/>
                <a:uLnTx/>
                <a:uFillTx/>
                <a:latin typeface="Arial" panose="020B0604020202020204"/>
                <a:ea typeface="+mn-ea"/>
                <a:cs typeface="+mn-cs"/>
              </a:rPr>
              <a:t>WBS Elements</a:t>
            </a: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 A WBS elements </a:t>
            </a:r>
            <a:r>
              <a:rPr kumimoji="0" lang="en-GB" sz="1300" b="1" i="0" u="none" strike="noStrike" kern="1200" cap="none" spc="0" normalizeH="0" baseline="0" noProof="0" dirty="0">
                <a:ln>
                  <a:noFill/>
                </a:ln>
                <a:solidFill>
                  <a:srgbClr val="000000"/>
                </a:solidFill>
                <a:effectLst/>
                <a:uLnTx/>
                <a:uFillTx/>
                <a:latin typeface="Arial" panose="020B0604020202020204"/>
                <a:ea typeface="+mn-ea"/>
                <a:cs typeface="+mn-cs"/>
              </a:rPr>
              <a:t>can be a structure</a:t>
            </a: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 (a node) which is further divided into lower level tasks. These are called </a:t>
            </a:r>
            <a:r>
              <a:rPr kumimoji="0" lang="en-GB" sz="1300" b="1" i="0" u="none" strike="noStrike" kern="1200" cap="none" spc="0" normalizeH="0" baseline="0" noProof="0" dirty="0">
                <a:ln>
                  <a:noFill/>
                </a:ln>
                <a:solidFill>
                  <a:srgbClr val="000000"/>
                </a:solidFill>
                <a:effectLst/>
                <a:uLnTx/>
                <a:uFillTx/>
                <a:latin typeface="Arial" panose="020B0604020202020204"/>
                <a:ea typeface="+mn-ea"/>
                <a:cs typeface="+mn-cs"/>
              </a:rPr>
              <a:t>WBS Structure element</a:t>
            </a: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 Technically you can define as many levels as you need. But no more than 5 is recommended.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In SAP, the system automatically creates a WBS with the same code as Project Definition when a project is created. This is also a WBS Structure element.</a:t>
            </a:r>
          </a:p>
        </p:txBody>
      </p:sp>
      <p:pic>
        <p:nvPicPr>
          <p:cNvPr id="3" name="Picture 2">
            <a:extLst>
              <a:ext uri="{FF2B5EF4-FFF2-40B4-BE49-F238E27FC236}">
                <a16:creationId xmlns:a16="http://schemas.microsoft.com/office/drawing/2014/main" id="{BFED576F-4FE3-44B3-B557-85954738D432}"/>
              </a:ext>
            </a:extLst>
          </p:cNvPr>
          <p:cNvPicPr>
            <a:picLocks noChangeAspect="1"/>
          </p:cNvPicPr>
          <p:nvPr/>
        </p:nvPicPr>
        <p:blipFill>
          <a:blip r:embed="rId5"/>
          <a:stretch>
            <a:fillRect/>
          </a:stretch>
        </p:blipFill>
        <p:spPr>
          <a:xfrm>
            <a:off x="635827" y="2167316"/>
            <a:ext cx="3871520" cy="3501124"/>
          </a:xfrm>
          <a:prstGeom prst="rect">
            <a:avLst/>
          </a:prstGeom>
        </p:spPr>
      </p:pic>
      <p:sp>
        <p:nvSpPr>
          <p:cNvPr id="7" name="Rectangle: Rounded Corners 6">
            <a:extLst>
              <a:ext uri="{FF2B5EF4-FFF2-40B4-BE49-F238E27FC236}">
                <a16:creationId xmlns:a16="http://schemas.microsoft.com/office/drawing/2014/main" id="{B569DADE-13DC-47BB-9E20-FAF87183FBA1}"/>
              </a:ext>
            </a:extLst>
          </p:cNvPr>
          <p:cNvSpPr/>
          <p:nvPr/>
        </p:nvSpPr>
        <p:spPr>
          <a:xfrm>
            <a:off x="566351" y="2082501"/>
            <a:ext cx="4086453" cy="3699464"/>
          </a:xfrm>
          <a:prstGeom prst="roundRect">
            <a:avLst>
              <a:gd name="adj" fmla="val 4321"/>
            </a:avLst>
          </a:prstGeom>
          <a:noFill/>
          <a:ln w="28575" cmpd="dbl">
            <a:solidFill>
              <a:schemeClr val="accent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62A30DA6-D1CD-41A4-9A9C-982C7F37BD28}"/>
              </a:ext>
            </a:extLst>
          </p:cNvPr>
          <p:cNvSpPr/>
          <p:nvPr/>
        </p:nvSpPr>
        <p:spPr>
          <a:xfrm>
            <a:off x="1006659" y="1400831"/>
            <a:ext cx="10669402" cy="492443"/>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3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 SAP, </a:t>
            </a:r>
            <a:r>
              <a:rPr kumimoji="0" lang="en-GB" sz="13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Projects</a:t>
            </a:r>
            <a:r>
              <a:rPr kumimoji="0" lang="en-GB" sz="13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are used in </a:t>
            </a:r>
            <a:r>
              <a:rPr kumimoji="0" lang="en-GB" sz="13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Project System (PS) module</a:t>
            </a:r>
            <a:r>
              <a:rPr kumimoji="0" lang="en-GB" sz="13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which represent tasks meeting specific criteria, e.g. there is a clear goal, a defined duration, mile stones, a budget, etc. for a given project.</a:t>
            </a:r>
            <a:r>
              <a:rPr kumimoji="0" lang="en-GB" sz="1000" b="0" i="1" u="none" strike="noStrike" kern="1200" cap="none" spc="0" normalizeH="0" baseline="30000" noProof="0" dirty="0">
                <a:ln>
                  <a:noFill/>
                </a:ln>
                <a:solidFill>
                  <a:srgbClr val="FF0000"/>
                </a:solidFill>
                <a:effectLst/>
                <a:uLnTx/>
                <a:uFillTx/>
                <a:latin typeface="Arial" panose="020B0604020202020204" pitchFamily="34" charset="0"/>
                <a:ea typeface="+mn-ea"/>
                <a:cs typeface="+mn-cs"/>
              </a:rPr>
              <a:t>1)</a:t>
            </a:r>
            <a:endParaRPr kumimoji="0" lang="en-GB" sz="10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
        <p:nvSpPr>
          <p:cNvPr id="9" name="Rectangle 8">
            <a:extLst>
              <a:ext uri="{FF2B5EF4-FFF2-40B4-BE49-F238E27FC236}">
                <a16:creationId xmlns:a16="http://schemas.microsoft.com/office/drawing/2014/main" id="{687ED4B3-2D99-43A7-8E59-F2E599E73A09}"/>
              </a:ext>
            </a:extLst>
          </p:cNvPr>
          <p:cNvSpPr/>
          <p:nvPr/>
        </p:nvSpPr>
        <p:spPr>
          <a:xfrm>
            <a:off x="7564584" y="2082501"/>
            <a:ext cx="4289466" cy="1954381"/>
          </a:xfrm>
          <a:prstGeom prst="rect">
            <a:avLst/>
          </a:prstGeom>
        </p:spPr>
        <p:txBody>
          <a:bodyPr wrap="square">
            <a:spAutoFit/>
          </a:bodyPr>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Projects are organized using </a:t>
            </a:r>
            <a:r>
              <a:rPr kumimoji="0" lang="en-GB" sz="1200" b="1" i="0" u="sng" strike="noStrike" kern="1200" cap="none" spc="0" normalizeH="0" baseline="0" noProof="0" dirty="0">
                <a:ln>
                  <a:noFill/>
                </a:ln>
                <a:solidFill>
                  <a:srgbClr val="000000"/>
                </a:solidFill>
                <a:effectLst/>
                <a:uLnTx/>
                <a:uFillTx/>
                <a:latin typeface="Arial" panose="020B0604020202020204"/>
                <a:ea typeface="+mn-ea"/>
                <a:cs typeface="+mn-cs"/>
              </a:rPr>
              <a:t>W</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ork </a:t>
            </a:r>
            <a:r>
              <a:rPr kumimoji="0" lang="en-GB" sz="1200" b="1" i="0" u="sng" strike="noStrike" kern="1200" cap="none" spc="0" normalizeH="0" baseline="0" noProof="0" dirty="0">
                <a:ln>
                  <a:noFill/>
                </a:ln>
                <a:solidFill>
                  <a:srgbClr val="000000"/>
                </a:solidFill>
                <a:effectLst/>
                <a:uLnTx/>
                <a:uFillTx/>
                <a:latin typeface="Arial" panose="020B0604020202020204"/>
                <a:ea typeface="+mn-ea"/>
                <a:cs typeface="+mn-cs"/>
              </a:rPr>
              <a:t>B</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reakdown </a:t>
            </a:r>
            <a:r>
              <a:rPr kumimoji="0" lang="en-GB" sz="1200" b="1" i="0" u="sng" strike="noStrike" kern="1200" cap="none" spc="0" normalizeH="0" baseline="0" noProof="0" dirty="0">
                <a:ln>
                  <a:noFill/>
                </a:ln>
                <a:solidFill>
                  <a:srgbClr val="000000"/>
                </a:solidFill>
                <a:effectLst/>
                <a:uLnTx/>
                <a:uFillTx/>
                <a:latin typeface="Arial" panose="020B0604020202020204"/>
                <a:ea typeface="+mn-ea"/>
                <a:cs typeface="+mn-cs"/>
              </a:rPr>
              <a:t>S</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tructures (WBS). A WBS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is a model of the work to be performed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in a project </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organized in a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hierarchical</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structure.</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The WBS is an important tool which helps you keep an overview of the project:</a:t>
            </a:r>
          </a:p>
          <a:p>
            <a:pPr marL="3874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It forms the basis for organization and coordination in the project.</a:t>
            </a:r>
          </a:p>
          <a:p>
            <a:pPr marL="3874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It shows the amount of work, the time required, and the costs involved in the project.</a:t>
            </a:r>
          </a:p>
        </p:txBody>
      </p:sp>
      <p:grpSp>
        <p:nvGrpSpPr>
          <p:cNvPr id="15" name="Group 14">
            <a:extLst>
              <a:ext uri="{FF2B5EF4-FFF2-40B4-BE49-F238E27FC236}">
                <a16:creationId xmlns:a16="http://schemas.microsoft.com/office/drawing/2014/main" id="{673D9D19-C302-4883-93C9-2454F53002FC}"/>
              </a:ext>
            </a:extLst>
          </p:cNvPr>
          <p:cNvGrpSpPr/>
          <p:nvPr/>
        </p:nvGrpSpPr>
        <p:grpSpPr>
          <a:xfrm>
            <a:off x="4722280" y="2527573"/>
            <a:ext cx="2600891" cy="1473837"/>
            <a:chOff x="4731311" y="2807091"/>
            <a:chExt cx="2600891" cy="1473837"/>
          </a:xfrm>
        </p:grpSpPr>
        <p:pic>
          <p:nvPicPr>
            <p:cNvPr id="4" name="Picture 3">
              <a:extLst>
                <a:ext uri="{FF2B5EF4-FFF2-40B4-BE49-F238E27FC236}">
                  <a16:creationId xmlns:a16="http://schemas.microsoft.com/office/drawing/2014/main" id="{26B5597B-C32A-4EF9-950D-191A0D146FE6}"/>
                </a:ext>
              </a:extLst>
            </p:cNvPr>
            <p:cNvPicPr>
              <a:picLocks noChangeAspect="1"/>
            </p:cNvPicPr>
            <p:nvPr/>
          </p:nvPicPr>
          <p:blipFill>
            <a:blip r:embed="rId6"/>
            <a:stretch>
              <a:fillRect/>
            </a:stretch>
          </p:blipFill>
          <p:spPr>
            <a:xfrm>
              <a:off x="4769778" y="3055431"/>
              <a:ext cx="2553393" cy="1225497"/>
            </a:xfrm>
            <a:prstGeom prst="rect">
              <a:avLst/>
            </a:prstGeom>
            <a:ln cmpd="dbl">
              <a:solidFill>
                <a:schemeClr val="accent1"/>
              </a:solidFill>
            </a:ln>
            <a:effectLst>
              <a:outerShdw blurRad="63500" sx="102000" sy="102000" algn="ctr" rotWithShape="0">
                <a:prstClr val="black">
                  <a:alpha val="40000"/>
                </a:prstClr>
              </a:outerShdw>
            </a:effectLst>
          </p:spPr>
        </p:pic>
        <p:sp>
          <p:nvSpPr>
            <p:cNvPr id="10" name="TextBox 9">
              <a:extLst>
                <a:ext uri="{FF2B5EF4-FFF2-40B4-BE49-F238E27FC236}">
                  <a16:creationId xmlns:a16="http://schemas.microsoft.com/office/drawing/2014/main" id="{6CF101FF-E29C-416F-8E07-1B85C3A3E80C}"/>
                </a:ext>
              </a:extLst>
            </p:cNvPr>
            <p:cNvSpPr txBox="1"/>
            <p:nvPr/>
          </p:nvSpPr>
          <p:spPr>
            <a:xfrm>
              <a:off x="4731311" y="2807091"/>
              <a:ext cx="2600891" cy="197155"/>
            </a:xfrm>
            <a:prstGeom prst="rect">
              <a:avLst/>
            </a:prstGeom>
            <a:noFill/>
            <a:ln cmpd="dbl">
              <a:noFill/>
            </a:ln>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sng" strike="noStrike" kern="1200" cap="none" spc="0" normalizeH="0" baseline="0" noProof="0" dirty="0">
                  <a:ln>
                    <a:noFill/>
                  </a:ln>
                  <a:solidFill>
                    <a:srgbClr val="000000"/>
                  </a:solidFill>
                  <a:effectLst/>
                  <a:uLnTx/>
                  <a:uFillTx/>
                  <a:latin typeface="Arial" panose="020B0604020202020204"/>
                  <a:ea typeface="+mn-ea"/>
                  <a:cs typeface="+mn-cs"/>
                </a:rPr>
                <a:t>A project structure in S/4HANA</a:t>
              </a:r>
            </a:p>
          </p:txBody>
        </p:sp>
      </p:grpSp>
      <p:sp>
        <p:nvSpPr>
          <p:cNvPr id="11" name="Rectangle 10">
            <a:extLst>
              <a:ext uri="{FF2B5EF4-FFF2-40B4-BE49-F238E27FC236}">
                <a16:creationId xmlns:a16="http://schemas.microsoft.com/office/drawing/2014/main" id="{63934595-85A9-4133-A0F1-360E08B0BD81}"/>
              </a:ext>
            </a:extLst>
          </p:cNvPr>
          <p:cNvSpPr/>
          <p:nvPr/>
        </p:nvSpPr>
        <p:spPr>
          <a:xfrm>
            <a:off x="7564584" y="2082501"/>
            <a:ext cx="4210527" cy="1918909"/>
          </a:xfrm>
          <a:prstGeom prst="rect">
            <a:avLst/>
          </a:prstGeom>
          <a:noFill/>
          <a:ln w="19050">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3" name="Straight Arrow Connector 12">
            <a:extLst>
              <a:ext uri="{FF2B5EF4-FFF2-40B4-BE49-F238E27FC236}">
                <a16:creationId xmlns:a16="http://schemas.microsoft.com/office/drawing/2014/main" id="{23589600-7210-45C8-A9E1-69E341C301B5}"/>
              </a:ext>
            </a:extLst>
          </p:cNvPr>
          <p:cNvCxnSpPr/>
          <p:nvPr/>
        </p:nvCxnSpPr>
        <p:spPr>
          <a:xfrm>
            <a:off x="4627418" y="2447636"/>
            <a:ext cx="2937166" cy="0"/>
          </a:xfrm>
          <a:prstGeom prst="straightConnector1">
            <a:avLst/>
          </a:prstGeom>
          <a:ln w="1905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14AF0C9-F7A0-4628-9D9A-1DB45590D642}"/>
              </a:ext>
            </a:extLst>
          </p:cNvPr>
          <p:cNvCxnSpPr>
            <a:cxnSpLocks/>
          </p:cNvCxnSpPr>
          <p:nvPr/>
        </p:nvCxnSpPr>
        <p:spPr>
          <a:xfrm>
            <a:off x="7323171" y="3429000"/>
            <a:ext cx="241413" cy="0"/>
          </a:xfrm>
          <a:prstGeom prst="straightConnector1">
            <a:avLst/>
          </a:prstGeom>
          <a:ln w="1905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9D62C321-F876-49EC-9551-39662F98E82E}"/>
              </a:ext>
            </a:extLst>
          </p:cNvPr>
          <p:cNvSpPr/>
          <p:nvPr/>
        </p:nvSpPr>
        <p:spPr>
          <a:xfrm>
            <a:off x="515939" y="5883417"/>
            <a:ext cx="6980083" cy="486906"/>
          </a:xfrm>
          <a:prstGeom prst="rect">
            <a:avLst/>
          </a:prstGeom>
          <a:noFill/>
          <a:ln w="19050">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The </a:t>
            </a:r>
            <a:r>
              <a:rPr kumimoji="0" lang="en-GB" sz="1300" b="1" i="0" u="none" strike="noStrike" kern="1200" cap="none" spc="0" normalizeH="0" baseline="0" noProof="0" dirty="0">
                <a:ln>
                  <a:noFill/>
                </a:ln>
                <a:solidFill>
                  <a:srgbClr val="000000"/>
                </a:solidFill>
                <a:effectLst/>
                <a:uLnTx/>
                <a:uFillTx/>
                <a:latin typeface="Arial" panose="020B0604020202020204"/>
                <a:ea typeface="+mn-ea"/>
                <a:cs typeface="+mn-cs"/>
              </a:rPr>
              <a:t>WBS elements </a:t>
            </a: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at the lowest level of the Work Breakdown Structure contain the most detailed project tasks/activities, where the detailed costs are recorded. </a:t>
            </a:r>
          </a:p>
        </p:txBody>
      </p:sp>
      <p:sp>
        <p:nvSpPr>
          <p:cNvPr id="71" name="Rectangle 70">
            <a:extLst>
              <a:ext uri="{FF2B5EF4-FFF2-40B4-BE49-F238E27FC236}">
                <a16:creationId xmlns:a16="http://schemas.microsoft.com/office/drawing/2014/main" id="{2C0463A6-5DDE-482D-94CF-AA2CFAD5E3EE}"/>
              </a:ext>
            </a:extLst>
          </p:cNvPr>
          <p:cNvSpPr/>
          <p:nvPr/>
        </p:nvSpPr>
        <p:spPr>
          <a:xfrm>
            <a:off x="1256144" y="3519079"/>
            <a:ext cx="1348511" cy="708511"/>
          </a:xfrm>
          <a:prstGeom prst="rect">
            <a:avLst/>
          </a:prstGeom>
          <a:noFill/>
          <a:ln w="19050">
            <a:solidFill>
              <a:schemeClr val="accent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Rectangle 71">
            <a:extLst>
              <a:ext uri="{FF2B5EF4-FFF2-40B4-BE49-F238E27FC236}">
                <a16:creationId xmlns:a16="http://schemas.microsoft.com/office/drawing/2014/main" id="{DCBA1EC9-35D1-4464-83BC-299A01A573DF}"/>
              </a:ext>
            </a:extLst>
          </p:cNvPr>
          <p:cNvSpPr/>
          <p:nvPr/>
        </p:nvSpPr>
        <p:spPr>
          <a:xfrm>
            <a:off x="2881745" y="3511796"/>
            <a:ext cx="1348511" cy="708511"/>
          </a:xfrm>
          <a:prstGeom prst="rect">
            <a:avLst/>
          </a:prstGeom>
          <a:noFill/>
          <a:ln w="19050">
            <a:solidFill>
              <a:schemeClr val="accent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3" name="Rectangle 72">
            <a:extLst>
              <a:ext uri="{FF2B5EF4-FFF2-40B4-BE49-F238E27FC236}">
                <a16:creationId xmlns:a16="http://schemas.microsoft.com/office/drawing/2014/main" id="{A968B347-A585-4752-A073-61222B8DE81B}"/>
              </a:ext>
            </a:extLst>
          </p:cNvPr>
          <p:cNvSpPr/>
          <p:nvPr/>
        </p:nvSpPr>
        <p:spPr>
          <a:xfrm>
            <a:off x="858982" y="4950691"/>
            <a:ext cx="3371274" cy="470436"/>
          </a:xfrm>
          <a:prstGeom prst="rect">
            <a:avLst/>
          </a:prstGeom>
          <a:noFill/>
          <a:ln w="19050">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6" name="Rectangle 75">
            <a:extLst>
              <a:ext uri="{FF2B5EF4-FFF2-40B4-BE49-F238E27FC236}">
                <a16:creationId xmlns:a16="http://schemas.microsoft.com/office/drawing/2014/main" id="{FD92415E-3F9C-4BDC-AD75-6305DEDB6A1D}"/>
              </a:ext>
            </a:extLst>
          </p:cNvPr>
          <p:cNvSpPr/>
          <p:nvPr/>
        </p:nvSpPr>
        <p:spPr>
          <a:xfrm>
            <a:off x="2008909" y="2241204"/>
            <a:ext cx="1547091" cy="810597"/>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7" name="Rectangle 76">
            <a:extLst>
              <a:ext uri="{FF2B5EF4-FFF2-40B4-BE49-F238E27FC236}">
                <a16:creationId xmlns:a16="http://schemas.microsoft.com/office/drawing/2014/main" id="{04D0079F-BD7E-4D13-8820-6073541FBD82}"/>
              </a:ext>
            </a:extLst>
          </p:cNvPr>
          <p:cNvSpPr/>
          <p:nvPr/>
        </p:nvSpPr>
        <p:spPr>
          <a:xfrm>
            <a:off x="4779219" y="3005621"/>
            <a:ext cx="2516448" cy="305360"/>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8" name="Rectangle 77">
            <a:extLst>
              <a:ext uri="{FF2B5EF4-FFF2-40B4-BE49-F238E27FC236}">
                <a16:creationId xmlns:a16="http://schemas.microsoft.com/office/drawing/2014/main" id="{964D5D1D-95AC-459A-89FD-6083B4D2EED5}"/>
              </a:ext>
            </a:extLst>
          </p:cNvPr>
          <p:cNvSpPr/>
          <p:nvPr/>
        </p:nvSpPr>
        <p:spPr>
          <a:xfrm>
            <a:off x="7564583" y="4043859"/>
            <a:ext cx="4210527" cy="810838"/>
          </a:xfrm>
          <a:prstGeom prst="rect">
            <a:avLst/>
          </a:prstGeom>
          <a:noFill/>
          <a:ln w="190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The top node in a work breakdown structure represents the project as a whole,  which is called </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Project Definition</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in SAP. Project Definition can be used for reporting purpose but does not accept direct postings.</a:t>
            </a:r>
          </a:p>
        </p:txBody>
      </p:sp>
      <p:cxnSp>
        <p:nvCxnSpPr>
          <p:cNvPr id="17" name="Connector: Elbow 16">
            <a:extLst>
              <a:ext uri="{FF2B5EF4-FFF2-40B4-BE49-F238E27FC236}">
                <a16:creationId xmlns:a16="http://schemas.microsoft.com/office/drawing/2014/main" id="{94BE62A6-0E9A-4BFB-957D-85744394814D}"/>
              </a:ext>
            </a:extLst>
          </p:cNvPr>
          <p:cNvCxnSpPr>
            <a:cxnSpLocks/>
            <a:endCxn id="78" idx="1"/>
          </p:cNvCxnSpPr>
          <p:nvPr/>
        </p:nvCxnSpPr>
        <p:spPr>
          <a:xfrm>
            <a:off x="3556000" y="2503976"/>
            <a:ext cx="4008583" cy="1945302"/>
          </a:xfrm>
          <a:prstGeom prst="bentConnector3">
            <a:avLst>
              <a:gd name="adj1" fmla="val 25115"/>
            </a:avLst>
          </a:prstGeom>
          <a:ln w="1905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395A45DC-4447-458A-BE9D-693C502AA146}"/>
              </a:ext>
            </a:extLst>
          </p:cNvPr>
          <p:cNvCxnSpPr>
            <a:cxnSpLocks/>
          </p:cNvCxnSpPr>
          <p:nvPr/>
        </p:nvCxnSpPr>
        <p:spPr>
          <a:xfrm rot="16200000" flipH="1">
            <a:off x="6808303" y="3568493"/>
            <a:ext cx="972128" cy="549463"/>
          </a:xfrm>
          <a:prstGeom prst="bentConnector3">
            <a:avLst>
              <a:gd name="adj1" fmla="val 101306"/>
            </a:avLst>
          </a:prstGeom>
          <a:ln w="1905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3DBAC28F-207E-4E7C-9ECF-0D79A0F9B9CE}"/>
              </a:ext>
            </a:extLst>
          </p:cNvPr>
          <p:cNvSpPr/>
          <p:nvPr/>
        </p:nvSpPr>
        <p:spPr>
          <a:xfrm>
            <a:off x="4779219" y="3346925"/>
            <a:ext cx="1843254" cy="146399"/>
          </a:xfrm>
          <a:prstGeom prst="rect">
            <a:avLst/>
          </a:prstGeom>
          <a:noFill/>
          <a:ln w="19050">
            <a:solidFill>
              <a:schemeClr val="accent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7" name="Connector: Elbow 36">
            <a:extLst>
              <a:ext uri="{FF2B5EF4-FFF2-40B4-BE49-F238E27FC236}">
                <a16:creationId xmlns:a16="http://schemas.microsoft.com/office/drawing/2014/main" id="{5F701695-7AC4-4FE1-BAF4-9B79CDA0B29B}"/>
              </a:ext>
            </a:extLst>
          </p:cNvPr>
          <p:cNvCxnSpPr>
            <a:cxnSpLocks/>
            <a:stCxn id="71" idx="1"/>
          </p:cNvCxnSpPr>
          <p:nvPr/>
        </p:nvCxnSpPr>
        <p:spPr>
          <a:xfrm rot="10800000" flipH="1" flipV="1">
            <a:off x="1256144" y="3873335"/>
            <a:ext cx="6308438" cy="1631538"/>
          </a:xfrm>
          <a:prstGeom prst="bentConnector3">
            <a:avLst>
              <a:gd name="adj1" fmla="val -13726"/>
            </a:avLst>
          </a:prstGeom>
          <a:ln w="19050">
            <a:solidFill>
              <a:schemeClr val="accent1">
                <a:lumMod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C4B339A3-9850-4257-94A6-143253DF8018}"/>
              </a:ext>
            </a:extLst>
          </p:cNvPr>
          <p:cNvCxnSpPr>
            <a:cxnSpLocks/>
          </p:cNvCxnSpPr>
          <p:nvPr/>
        </p:nvCxnSpPr>
        <p:spPr>
          <a:xfrm>
            <a:off x="4829693" y="3486315"/>
            <a:ext cx="2725860" cy="1858597"/>
          </a:xfrm>
          <a:prstGeom prst="bentConnector3">
            <a:avLst>
              <a:gd name="adj1" fmla="val 529"/>
            </a:avLst>
          </a:prstGeom>
          <a:ln w="19050">
            <a:solidFill>
              <a:schemeClr val="accent1">
                <a:lumMod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0F4F5E01-F2AE-49FB-AE00-6D9091F78DF7}"/>
              </a:ext>
            </a:extLst>
          </p:cNvPr>
          <p:cNvSpPr/>
          <p:nvPr/>
        </p:nvSpPr>
        <p:spPr>
          <a:xfrm>
            <a:off x="5024579" y="3559217"/>
            <a:ext cx="1728686" cy="154156"/>
          </a:xfrm>
          <a:prstGeom prst="rect">
            <a:avLst/>
          </a:prstGeom>
          <a:noFill/>
          <a:ln w="19050">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04" name="Straight Arrow Connector 103">
            <a:extLst>
              <a:ext uri="{FF2B5EF4-FFF2-40B4-BE49-F238E27FC236}">
                <a16:creationId xmlns:a16="http://schemas.microsoft.com/office/drawing/2014/main" id="{690520F1-FB09-4505-BBA4-BD66DD313518}"/>
              </a:ext>
            </a:extLst>
          </p:cNvPr>
          <p:cNvCxnSpPr>
            <a:cxnSpLocks/>
          </p:cNvCxnSpPr>
          <p:nvPr/>
        </p:nvCxnSpPr>
        <p:spPr>
          <a:xfrm>
            <a:off x="5181600" y="3709769"/>
            <a:ext cx="0" cy="2173648"/>
          </a:xfrm>
          <a:prstGeom prst="straightConnector1">
            <a:avLst/>
          </a:prstGeom>
          <a:ln w="19050">
            <a:solidFill>
              <a:schemeClr val="accent5"/>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82BCB0E7-8793-4CD7-A773-CDBD715E2C55}"/>
              </a:ext>
            </a:extLst>
          </p:cNvPr>
          <p:cNvCxnSpPr>
            <a:cxnSpLocks/>
          </p:cNvCxnSpPr>
          <p:nvPr/>
        </p:nvCxnSpPr>
        <p:spPr>
          <a:xfrm>
            <a:off x="3292764" y="5435093"/>
            <a:ext cx="0" cy="448324"/>
          </a:xfrm>
          <a:prstGeom prst="straightConnector1">
            <a:avLst/>
          </a:prstGeom>
          <a:ln w="19050">
            <a:solidFill>
              <a:schemeClr val="accent5"/>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CD5FE6DD-984C-4373-89A2-27EC17832DF8}"/>
              </a:ext>
            </a:extLst>
          </p:cNvPr>
          <p:cNvSpPr txBox="1"/>
          <p:nvPr/>
        </p:nvSpPr>
        <p:spPr>
          <a:xfrm>
            <a:off x="409269" y="6496099"/>
            <a:ext cx="7086753" cy="320948"/>
          </a:xfrm>
          <a:prstGeom prst="rect">
            <a:avLst/>
          </a:prstGeom>
          <a:solidFill>
            <a:schemeClr val="bg1"/>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30000" noProof="0" dirty="0">
                <a:ln>
                  <a:noFill/>
                </a:ln>
                <a:solidFill>
                  <a:srgbClr val="FF0000"/>
                </a:solidFill>
                <a:effectLst/>
                <a:uLnTx/>
                <a:uFillTx/>
                <a:latin typeface="Arial" panose="020B0604020202020204"/>
                <a:ea typeface="+mn-ea"/>
                <a:cs typeface="+mn-cs"/>
              </a:rPr>
              <a:t>1) </a:t>
            </a:r>
            <a:r>
              <a:rPr kumimoji="0" lang="en-GB" sz="900" b="0" i="1" u="none" strike="noStrike" kern="1200" cap="none" spc="0" normalizeH="0" baseline="0" noProof="0" dirty="0">
                <a:ln>
                  <a:noFill/>
                </a:ln>
                <a:solidFill>
                  <a:srgbClr val="000000"/>
                </a:solidFill>
                <a:effectLst/>
                <a:uLnTx/>
                <a:uFillTx/>
                <a:latin typeface="Arial" panose="020B0604020202020204"/>
                <a:ea typeface="+mn-ea"/>
                <a:cs typeface="+mn-cs"/>
              </a:rPr>
              <a:t>Based on different WBS scenarios used in JTI, the criteria of each type of projects are not entirely the same. Refer to respective courses for further details. </a:t>
            </a:r>
          </a:p>
        </p:txBody>
      </p:sp>
    </p:spTree>
    <p:extLst>
      <p:ext uri="{BB962C8B-B14F-4D97-AF65-F5344CB8AC3E}">
        <p14:creationId xmlns:p14="http://schemas.microsoft.com/office/powerpoint/2010/main" val="380558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0D4E-131C-4658-883B-FC873434006B}"/>
              </a:ext>
            </a:extLst>
          </p:cNvPr>
          <p:cNvSpPr>
            <a:spLocks noGrp="1"/>
          </p:cNvSpPr>
          <p:nvPr>
            <p:ph type="title"/>
          </p:nvPr>
        </p:nvSpPr>
        <p:spPr/>
        <p:txBody>
          <a:bodyPr/>
          <a:lstStyle/>
          <a:p>
            <a:r>
              <a:rPr lang="en-GB" dirty="0"/>
              <a:t>WBS Priorities – WBS element types creation</a:t>
            </a:r>
            <a:endParaRPr lang="en-US" dirty="0"/>
          </a:p>
        </p:txBody>
      </p:sp>
      <p:sp>
        <p:nvSpPr>
          <p:cNvPr id="4" name="Footer Placeholder 3">
            <a:extLst>
              <a:ext uri="{FF2B5EF4-FFF2-40B4-BE49-F238E27FC236}">
                <a16:creationId xmlns:a16="http://schemas.microsoft.com/office/drawing/2014/main" id="{24477E87-1E19-4C42-AC88-62B19C05092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D4AD82F-5A54-4EBC-9F19-86C8B70571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2" name="Picture 11">
            <a:extLst>
              <a:ext uri="{FF2B5EF4-FFF2-40B4-BE49-F238E27FC236}">
                <a16:creationId xmlns:a16="http://schemas.microsoft.com/office/drawing/2014/main" id="{004FFEEA-268E-4203-9898-55573FF7E34A}"/>
              </a:ext>
            </a:extLst>
          </p:cNvPr>
          <p:cNvPicPr>
            <a:picLocks noChangeAspect="1"/>
          </p:cNvPicPr>
          <p:nvPr/>
        </p:nvPicPr>
        <p:blipFill>
          <a:blip r:embed="rId2"/>
          <a:stretch>
            <a:fillRect/>
          </a:stretch>
        </p:blipFill>
        <p:spPr>
          <a:xfrm>
            <a:off x="565589" y="3394092"/>
            <a:ext cx="3660971" cy="1001085"/>
          </a:xfrm>
          <a:prstGeom prst="rect">
            <a:avLst/>
          </a:prstGeom>
        </p:spPr>
      </p:pic>
      <p:pic>
        <p:nvPicPr>
          <p:cNvPr id="13" name="Picture 12">
            <a:extLst>
              <a:ext uri="{FF2B5EF4-FFF2-40B4-BE49-F238E27FC236}">
                <a16:creationId xmlns:a16="http://schemas.microsoft.com/office/drawing/2014/main" id="{A4117458-F8BE-4A96-B764-683C91CF6576}"/>
              </a:ext>
            </a:extLst>
          </p:cNvPr>
          <p:cNvPicPr>
            <a:picLocks noChangeAspect="1"/>
          </p:cNvPicPr>
          <p:nvPr/>
        </p:nvPicPr>
        <p:blipFill>
          <a:blip r:embed="rId3"/>
          <a:stretch>
            <a:fillRect/>
          </a:stretch>
        </p:blipFill>
        <p:spPr>
          <a:xfrm>
            <a:off x="565589" y="4524307"/>
            <a:ext cx="3355445" cy="1784245"/>
          </a:xfrm>
          <a:prstGeom prst="rect">
            <a:avLst/>
          </a:prstGeom>
        </p:spPr>
      </p:pic>
      <p:pic>
        <p:nvPicPr>
          <p:cNvPr id="14" name="Picture 4" descr="C:\Users\CSTSHA~1\AppData\Local\Temp\SNAGHTML27fd3ebd.PNG">
            <a:extLst>
              <a:ext uri="{FF2B5EF4-FFF2-40B4-BE49-F238E27FC236}">
                <a16:creationId xmlns:a16="http://schemas.microsoft.com/office/drawing/2014/main" id="{115CAEF9-789F-489D-97D1-F472C7B9A5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6174" y="3394091"/>
            <a:ext cx="1783638" cy="305046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8A2ADA9-120D-4343-AC98-3BBA8BA79BA9}"/>
              </a:ext>
            </a:extLst>
          </p:cNvPr>
          <p:cNvSpPr txBox="1"/>
          <p:nvPr/>
        </p:nvSpPr>
        <p:spPr>
          <a:xfrm>
            <a:off x="6679812" y="3246723"/>
            <a:ext cx="4946599" cy="3416320"/>
          </a:xfrm>
          <a:prstGeom prst="rect">
            <a:avLst/>
          </a:prstGeom>
          <a:noFill/>
          <a:ln w="12700">
            <a:solidFill>
              <a:srgbClr val="000000"/>
            </a:solidFill>
            <a:prstDash val="sysDash"/>
            <a:beve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Arial" panose="020B0604020202020204"/>
                <a:ea typeface="+mn-ea"/>
                <a:cs typeface="+mn-cs"/>
              </a:rPr>
              <a:t>Rules: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GB" sz="1200" b="0" i="0" u="none" strike="noStrike" kern="0" cap="none" spc="0" normalizeH="0" baseline="0" noProof="0" dirty="0" err="1">
                <a:ln>
                  <a:noFill/>
                </a:ln>
                <a:solidFill>
                  <a:srgbClr val="000000"/>
                </a:solidFill>
                <a:effectLst/>
                <a:uLnTx/>
                <a:uFillTx/>
                <a:latin typeface="Arial" panose="020B0604020202020204"/>
                <a:ea typeface="+mn-ea"/>
                <a:cs typeface="+mn-cs"/>
              </a:rPr>
              <a:t>OpEx</a:t>
            </a:r>
            <a:r>
              <a:rPr kumimoji="0" lang="en-GB" sz="1200" b="0" i="0" u="none" strike="noStrike" kern="0" cap="none" spc="0" normalizeH="0" baseline="0" noProof="0" dirty="0">
                <a:ln>
                  <a:noFill/>
                </a:ln>
                <a:solidFill>
                  <a:srgbClr val="000000"/>
                </a:solidFill>
                <a:effectLst/>
                <a:uLnTx/>
                <a:uFillTx/>
                <a:latin typeface="Arial" panose="020B0604020202020204"/>
                <a:ea typeface="+mn-ea"/>
                <a:cs typeface="+mn-cs"/>
              </a:rPr>
              <a:t> priority type E WBS Elements can only be created under another E WBS Priority or under a structure element (W)</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GB" sz="12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GB" sz="1200" b="0" i="0" u="none" strike="noStrike" kern="0" cap="none" spc="0" normalizeH="0" baseline="0" noProof="0" dirty="0">
                <a:ln>
                  <a:noFill/>
                </a:ln>
                <a:solidFill>
                  <a:srgbClr val="000000"/>
                </a:solidFill>
                <a:effectLst/>
                <a:uLnTx/>
                <a:uFillTx/>
                <a:latin typeface="Arial" panose="020B0604020202020204"/>
                <a:ea typeface="+mn-ea"/>
                <a:cs typeface="+mn-cs"/>
              </a:rPr>
              <a:t>Multi Branded Allocations type M WBS Elements can only be created under another M WBS Priority or under a structure element (W)</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GB" sz="12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GB" sz="1200" b="0" i="0" u="none" strike="noStrike" kern="0" cap="none" spc="0" normalizeH="0" baseline="0" noProof="0" dirty="0">
                <a:ln>
                  <a:noFill/>
                </a:ln>
                <a:solidFill>
                  <a:srgbClr val="000000"/>
                </a:solidFill>
                <a:effectLst/>
                <a:uLnTx/>
                <a:uFillTx/>
                <a:latin typeface="Arial" panose="020B0604020202020204"/>
                <a:ea typeface="+mn-ea"/>
                <a:cs typeface="+mn-cs"/>
              </a:rPr>
              <a:t>Multi Branded Allocations can also have type 1 – Allocation Statistical and these WBS Elements can only be created under another 1 WBS Priority or under a structure element (W)</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GB" sz="12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GB" sz="1200" b="0" i="0" u="none" strike="noStrike" kern="0" cap="none" spc="0" normalizeH="0" baseline="0" noProof="0" dirty="0">
                <a:ln>
                  <a:noFill/>
                </a:ln>
                <a:solidFill>
                  <a:srgbClr val="000000"/>
                </a:solidFill>
                <a:effectLst/>
                <a:uLnTx/>
                <a:uFillTx/>
                <a:latin typeface="Arial" panose="020B0604020202020204"/>
                <a:ea typeface="+mn-ea"/>
                <a:cs typeface="+mn-cs"/>
              </a:rPr>
              <a:t>Branded Allocations type B WBS Elements can only be created under another B WBS Priority or under a structure element (W)</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GB" sz="14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B92759A1-EE68-4FCF-88BF-C16472EF13CB}"/>
              </a:ext>
            </a:extLst>
          </p:cNvPr>
          <p:cNvSpPr/>
          <p:nvPr/>
        </p:nvSpPr>
        <p:spPr>
          <a:xfrm>
            <a:off x="466414" y="1449893"/>
            <a:ext cx="11259172" cy="1655229"/>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BCEA4E34-91EF-4E33-B4DE-C6D7D1BA847D}"/>
              </a:ext>
            </a:extLst>
          </p:cNvPr>
          <p:cNvSpPr/>
          <p:nvPr/>
        </p:nvSpPr>
        <p:spPr>
          <a:xfrm>
            <a:off x="466414" y="1504684"/>
            <a:ext cx="11380146" cy="160043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WBS Priorities are used to determine what type of WBS Element is to be used. Each different type determines different Master Data fields depending on the needs of the Project. Different WBS element types (priorities) allow for different activities, for example branded WBS elements are linked to a brand family and product type. Multi-brand WBS elements will be allocated to brand family / product type or even SKU depending on pre-defined rules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In SAP Fiori the “Create WBS Element” App is used to create new WBS elements within the Project in order to structure it to individual business needs. The user enters the Project Definition previously created during Project creation process and presses Execute. The Parent WBS element will be the WBS element ID of the WBS node a user wants to create the WBS under. Consequently creating a Project structure. </a:t>
            </a:r>
          </a:p>
        </p:txBody>
      </p:sp>
      <p:sp>
        <p:nvSpPr>
          <p:cNvPr id="3" name="Rectangle 2">
            <a:extLst>
              <a:ext uri="{FF2B5EF4-FFF2-40B4-BE49-F238E27FC236}">
                <a16:creationId xmlns:a16="http://schemas.microsoft.com/office/drawing/2014/main" id="{F60E7851-9D7B-4A20-990C-9F78BDDD76E8}"/>
              </a:ext>
            </a:extLst>
          </p:cNvPr>
          <p:cNvSpPr/>
          <p:nvPr/>
        </p:nvSpPr>
        <p:spPr>
          <a:xfrm>
            <a:off x="4896174" y="3394091"/>
            <a:ext cx="1474146" cy="192389"/>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45688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BEC55374-C116-4849-B7F9-B63E51B4413C}"/>
              </a:ext>
            </a:extLst>
          </p:cNvPr>
          <p:cNvPicPr>
            <a:picLocks noChangeAspect="1"/>
          </p:cNvPicPr>
          <p:nvPr/>
        </p:nvPicPr>
        <p:blipFill>
          <a:blip r:embed="rId2"/>
          <a:stretch>
            <a:fillRect/>
          </a:stretch>
        </p:blipFill>
        <p:spPr>
          <a:xfrm>
            <a:off x="540319" y="4230334"/>
            <a:ext cx="3242409" cy="2308621"/>
          </a:xfrm>
          <a:prstGeom prst="rect">
            <a:avLst/>
          </a:prstGeom>
          <a:ln w="19050">
            <a:solidFill>
              <a:srgbClr val="EAAA00"/>
            </a:solidFill>
          </a:ln>
        </p:spPr>
      </p:pic>
      <p:pic>
        <p:nvPicPr>
          <p:cNvPr id="3" name="Picture 2">
            <a:extLst>
              <a:ext uri="{FF2B5EF4-FFF2-40B4-BE49-F238E27FC236}">
                <a16:creationId xmlns:a16="http://schemas.microsoft.com/office/drawing/2014/main" id="{4B9740AB-E7B9-444A-B871-00585A365D5B}"/>
              </a:ext>
            </a:extLst>
          </p:cNvPr>
          <p:cNvPicPr>
            <a:picLocks noChangeAspect="1"/>
          </p:cNvPicPr>
          <p:nvPr/>
        </p:nvPicPr>
        <p:blipFill>
          <a:blip r:embed="rId3"/>
          <a:stretch>
            <a:fillRect/>
          </a:stretch>
        </p:blipFill>
        <p:spPr>
          <a:xfrm>
            <a:off x="540319" y="2053225"/>
            <a:ext cx="3242409" cy="2083726"/>
          </a:xfrm>
          <a:prstGeom prst="rect">
            <a:avLst/>
          </a:prstGeom>
          <a:ln w="19050">
            <a:solidFill>
              <a:srgbClr val="00B050"/>
            </a:solidFill>
          </a:ln>
        </p:spPr>
      </p:pic>
      <p:sp>
        <p:nvSpPr>
          <p:cNvPr id="2" name="Title 1">
            <a:extLst>
              <a:ext uri="{FF2B5EF4-FFF2-40B4-BE49-F238E27FC236}">
                <a16:creationId xmlns:a16="http://schemas.microsoft.com/office/drawing/2014/main" id="{7EA30D4E-131C-4658-883B-FC873434006B}"/>
              </a:ext>
            </a:extLst>
          </p:cNvPr>
          <p:cNvSpPr>
            <a:spLocks noGrp="1"/>
          </p:cNvSpPr>
          <p:nvPr>
            <p:ph type="title"/>
          </p:nvPr>
        </p:nvSpPr>
        <p:spPr/>
        <p:txBody>
          <a:bodyPr/>
          <a:lstStyle/>
          <a:p>
            <a:r>
              <a:rPr lang="en-GB" dirty="0"/>
              <a:t>WBS Priorities – WBS element types creation</a:t>
            </a:r>
            <a:endParaRPr lang="en-US" dirty="0"/>
          </a:p>
        </p:txBody>
      </p:sp>
      <p:sp>
        <p:nvSpPr>
          <p:cNvPr id="4" name="Footer Placeholder 3">
            <a:extLst>
              <a:ext uri="{FF2B5EF4-FFF2-40B4-BE49-F238E27FC236}">
                <a16:creationId xmlns:a16="http://schemas.microsoft.com/office/drawing/2014/main" id="{24477E87-1E19-4C42-AC88-62B19C05092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D4AD82F-5A54-4EBC-9F19-86C8B70571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B92759A1-EE68-4FCF-88BF-C16472EF13CB}"/>
              </a:ext>
            </a:extLst>
          </p:cNvPr>
          <p:cNvSpPr/>
          <p:nvPr/>
        </p:nvSpPr>
        <p:spPr>
          <a:xfrm>
            <a:off x="466414" y="1449894"/>
            <a:ext cx="11259172" cy="47516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BCEA4E34-91EF-4E33-B4DE-C6D7D1BA847D}"/>
              </a:ext>
            </a:extLst>
          </p:cNvPr>
          <p:cNvSpPr/>
          <p:nvPr/>
        </p:nvSpPr>
        <p:spPr>
          <a:xfrm>
            <a:off x="466414" y="1504684"/>
            <a:ext cx="11380146"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Multi-Brand and Branded WBS Priorities on creation each require additional fields to be populated. </a:t>
            </a:r>
          </a:p>
        </p:txBody>
      </p:sp>
      <p:sp>
        <p:nvSpPr>
          <p:cNvPr id="17" name="TextBox 16">
            <a:extLst>
              <a:ext uri="{FF2B5EF4-FFF2-40B4-BE49-F238E27FC236}">
                <a16:creationId xmlns:a16="http://schemas.microsoft.com/office/drawing/2014/main" id="{C8482F9C-C601-46BC-8871-6D58E3BEB4C0}"/>
              </a:ext>
            </a:extLst>
          </p:cNvPr>
          <p:cNvSpPr txBox="1"/>
          <p:nvPr/>
        </p:nvSpPr>
        <p:spPr>
          <a:xfrm>
            <a:off x="2119287" y="2046707"/>
            <a:ext cx="1453840" cy="22879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3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Multi-brand WBS</a:t>
            </a:r>
            <a:endParaRPr kumimoji="0" lang="en-GB"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
        <p:nvSpPr>
          <p:cNvPr id="18" name="TextBox 17">
            <a:extLst>
              <a:ext uri="{FF2B5EF4-FFF2-40B4-BE49-F238E27FC236}">
                <a16:creationId xmlns:a16="http://schemas.microsoft.com/office/drawing/2014/main" id="{E792A819-8DDE-41E6-826D-94AE8734753F}"/>
              </a:ext>
            </a:extLst>
          </p:cNvPr>
          <p:cNvSpPr txBox="1"/>
          <p:nvPr/>
        </p:nvSpPr>
        <p:spPr>
          <a:xfrm>
            <a:off x="2243990" y="4230334"/>
            <a:ext cx="1453840" cy="22879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3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Branded WBS</a:t>
            </a:r>
            <a:endParaRPr kumimoji="0" lang="en-GB"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
        <p:nvSpPr>
          <p:cNvPr id="19" name="Rectangle 18">
            <a:extLst>
              <a:ext uri="{FF2B5EF4-FFF2-40B4-BE49-F238E27FC236}">
                <a16:creationId xmlns:a16="http://schemas.microsoft.com/office/drawing/2014/main" id="{5A857411-A6C8-4BE8-B1C6-5DC54EF4AEAF}"/>
              </a:ext>
            </a:extLst>
          </p:cNvPr>
          <p:cNvSpPr/>
          <p:nvPr/>
        </p:nvSpPr>
        <p:spPr>
          <a:xfrm>
            <a:off x="7403620" y="2053226"/>
            <a:ext cx="4321966" cy="2941393"/>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Allocation Key (Mandatory)</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A key which determines the rule for WBS allocation at month end. The allocation key defines which brand family and product types should be considered for the allocation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lvl="0">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Hub (Optional):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A key which determines the reference market(s) from which the system should analyze sales to calculate the allocation, to be used in cases where the costs are incurred in a difference profit center(s) to the sales revenue or volumes. Please note – in most cases this should not be populated. There is a validation that will prevent hub being used except for management or global functions profit </a:t>
            </a:r>
            <a:r>
              <a:rPr lang="en-US" sz="1200" dirty="0">
                <a:solidFill>
                  <a:srgbClr val="000000"/>
                </a:solidFill>
              </a:rPr>
              <a:t>centers. It is used by profit centers where we have above brand contribution expenses, but don’t have 3rd party sales. This is mainly for Global Functions (G* profit centers) or Management profit centers (M*).</a:t>
            </a: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0" name="Arrow: Right 19">
            <a:extLst>
              <a:ext uri="{FF2B5EF4-FFF2-40B4-BE49-F238E27FC236}">
                <a16:creationId xmlns:a16="http://schemas.microsoft.com/office/drawing/2014/main" id="{9B21D707-C079-475A-ADEE-1F08B98CEF55}"/>
              </a:ext>
            </a:extLst>
          </p:cNvPr>
          <p:cNvSpPr/>
          <p:nvPr/>
        </p:nvSpPr>
        <p:spPr>
          <a:xfrm>
            <a:off x="6117593" y="2490063"/>
            <a:ext cx="919930" cy="686273"/>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C3EE82D1-2458-41C9-A749-9B512711966C}"/>
              </a:ext>
            </a:extLst>
          </p:cNvPr>
          <p:cNvPicPr>
            <a:picLocks noChangeAspect="1"/>
          </p:cNvPicPr>
          <p:nvPr/>
        </p:nvPicPr>
        <p:blipFill>
          <a:blip r:embed="rId4"/>
          <a:stretch>
            <a:fillRect/>
          </a:stretch>
        </p:blipFill>
        <p:spPr>
          <a:xfrm>
            <a:off x="4275577" y="2040453"/>
            <a:ext cx="1611344" cy="1985268"/>
          </a:xfrm>
          <a:prstGeom prst="rect">
            <a:avLst/>
          </a:prstGeom>
          <a:ln w="19050">
            <a:solidFill>
              <a:srgbClr val="00B050"/>
            </a:solidFill>
            <a:prstDash val="sysDash"/>
          </a:ln>
        </p:spPr>
      </p:pic>
      <p:cxnSp>
        <p:nvCxnSpPr>
          <p:cNvPr id="21" name="Straight Arrow Connector 20">
            <a:extLst>
              <a:ext uri="{FF2B5EF4-FFF2-40B4-BE49-F238E27FC236}">
                <a16:creationId xmlns:a16="http://schemas.microsoft.com/office/drawing/2014/main" id="{8DFBD214-EF4B-40E4-B107-AD04D1F2B202}"/>
              </a:ext>
            </a:extLst>
          </p:cNvPr>
          <p:cNvCxnSpPr>
            <a:cxnSpLocks/>
          </p:cNvCxnSpPr>
          <p:nvPr/>
        </p:nvCxnSpPr>
        <p:spPr>
          <a:xfrm flipV="1">
            <a:off x="1909686" y="2275507"/>
            <a:ext cx="2365891" cy="1604374"/>
          </a:xfrm>
          <a:prstGeom prst="straightConnector1">
            <a:avLst/>
          </a:prstGeom>
          <a:noFill/>
          <a:ln w="28575">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cxnSp>
      <p:pic>
        <p:nvPicPr>
          <p:cNvPr id="9" name="Picture 8">
            <a:extLst>
              <a:ext uri="{FF2B5EF4-FFF2-40B4-BE49-F238E27FC236}">
                <a16:creationId xmlns:a16="http://schemas.microsoft.com/office/drawing/2014/main" id="{546538C9-469E-4BE1-B254-893B530FA3DA}"/>
              </a:ext>
            </a:extLst>
          </p:cNvPr>
          <p:cNvPicPr>
            <a:picLocks noChangeAspect="1"/>
          </p:cNvPicPr>
          <p:nvPr/>
        </p:nvPicPr>
        <p:blipFill>
          <a:blip r:embed="rId5"/>
          <a:stretch>
            <a:fillRect/>
          </a:stretch>
        </p:blipFill>
        <p:spPr>
          <a:xfrm>
            <a:off x="5692382" y="3164938"/>
            <a:ext cx="1426624" cy="974070"/>
          </a:xfrm>
          <a:prstGeom prst="rect">
            <a:avLst/>
          </a:prstGeom>
          <a:ln w="19050">
            <a:solidFill>
              <a:srgbClr val="00B050"/>
            </a:solidFill>
            <a:prstDash val="sysDash"/>
          </a:ln>
        </p:spPr>
      </p:pic>
      <p:cxnSp>
        <p:nvCxnSpPr>
          <p:cNvPr id="24" name="Straight Arrow Connector 23">
            <a:extLst>
              <a:ext uri="{FF2B5EF4-FFF2-40B4-BE49-F238E27FC236}">
                <a16:creationId xmlns:a16="http://schemas.microsoft.com/office/drawing/2014/main" id="{53B61051-1935-4114-913B-C0C95F99319E}"/>
              </a:ext>
            </a:extLst>
          </p:cNvPr>
          <p:cNvCxnSpPr>
            <a:cxnSpLocks/>
          </p:cNvCxnSpPr>
          <p:nvPr/>
        </p:nvCxnSpPr>
        <p:spPr>
          <a:xfrm flipV="1">
            <a:off x="1896020" y="3513221"/>
            <a:ext cx="3782696" cy="482060"/>
          </a:xfrm>
          <a:prstGeom prst="straightConnector1">
            <a:avLst/>
          </a:prstGeom>
          <a:noFill/>
          <a:ln w="28575">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3" name="Rectangle 32">
            <a:extLst>
              <a:ext uri="{FF2B5EF4-FFF2-40B4-BE49-F238E27FC236}">
                <a16:creationId xmlns:a16="http://schemas.microsoft.com/office/drawing/2014/main" id="{78C1A71C-C6EF-4D7C-9E2B-1B85EC609E20}"/>
              </a:ext>
            </a:extLst>
          </p:cNvPr>
          <p:cNvSpPr/>
          <p:nvPr/>
        </p:nvSpPr>
        <p:spPr>
          <a:xfrm>
            <a:off x="7403620" y="5120580"/>
            <a:ext cx="4321965" cy="1359503"/>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Brand Family (Mandatory):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Brand Family receiving the costs from this WBS, such as Camel, Winston, LD, Glamour etc.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Product Type (Mandatory):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Product type receiving the costs from this WBS, such as RMC, RYO, MYO, Cigars etc. </a:t>
            </a:r>
          </a:p>
        </p:txBody>
      </p:sp>
      <p:cxnSp>
        <p:nvCxnSpPr>
          <p:cNvPr id="34" name="Straight Arrow Connector 33">
            <a:extLst>
              <a:ext uri="{FF2B5EF4-FFF2-40B4-BE49-F238E27FC236}">
                <a16:creationId xmlns:a16="http://schemas.microsoft.com/office/drawing/2014/main" id="{D4F1E020-87D5-40F0-8E18-CD8761F26542}"/>
              </a:ext>
            </a:extLst>
          </p:cNvPr>
          <p:cNvCxnSpPr>
            <a:cxnSpLocks/>
          </p:cNvCxnSpPr>
          <p:nvPr/>
        </p:nvCxnSpPr>
        <p:spPr>
          <a:xfrm flipV="1">
            <a:off x="2396691" y="4623171"/>
            <a:ext cx="1512789" cy="1604375"/>
          </a:xfrm>
          <a:prstGeom prst="straightConnector1">
            <a:avLst/>
          </a:prstGeom>
          <a:noFill/>
          <a:ln w="28575">
            <a:solidFill>
              <a:srgbClr val="EAAA00"/>
            </a:solidFill>
            <a:tailEnd type="triangle"/>
          </a:ln>
        </p:spPr>
        <p:style>
          <a:lnRef idx="2">
            <a:schemeClr val="accent1">
              <a:shade val="50000"/>
            </a:schemeClr>
          </a:lnRef>
          <a:fillRef idx="1">
            <a:schemeClr val="accent1"/>
          </a:fillRef>
          <a:effectRef idx="0">
            <a:schemeClr val="accent1"/>
          </a:effectRef>
          <a:fontRef idx="minor">
            <a:schemeClr val="lt1"/>
          </a:fontRef>
        </p:style>
      </p:cxnSp>
      <p:pic>
        <p:nvPicPr>
          <p:cNvPr id="2048" name="Picture 2047">
            <a:extLst>
              <a:ext uri="{FF2B5EF4-FFF2-40B4-BE49-F238E27FC236}">
                <a16:creationId xmlns:a16="http://schemas.microsoft.com/office/drawing/2014/main" id="{DFB76974-5B9F-49E1-9031-1A26E9879231}"/>
              </a:ext>
            </a:extLst>
          </p:cNvPr>
          <p:cNvPicPr>
            <a:picLocks noChangeAspect="1"/>
          </p:cNvPicPr>
          <p:nvPr/>
        </p:nvPicPr>
        <p:blipFill>
          <a:blip r:embed="rId6"/>
          <a:stretch>
            <a:fillRect/>
          </a:stretch>
        </p:blipFill>
        <p:spPr>
          <a:xfrm>
            <a:off x="3909480" y="4329141"/>
            <a:ext cx="1611344" cy="1740957"/>
          </a:xfrm>
          <a:prstGeom prst="rect">
            <a:avLst/>
          </a:prstGeom>
          <a:ln w="19050">
            <a:solidFill>
              <a:srgbClr val="EAAA00"/>
            </a:solidFill>
            <a:prstDash val="sysDash"/>
          </a:ln>
        </p:spPr>
      </p:pic>
      <p:pic>
        <p:nvPicPr>
          <p:cNvPr id="2049" name="Picture 2048">
            <a:extLst>
              <a:ext uri="{FF2B5EF4-FFF2-40B4-BE49-F238E27FC236}">
                <a16:creationId xmlns:a16="http://schemas.microsoft.com/office/drawing/2014/main" id="{D4AB9F63-33E7-48E4-A906-9EE1CE2C64D6}"/>
              </a:ext>
            </a:extLst>
          </p:cNvPr>
          <p:cNvPicPr>
            <a:picLocks noChangeAspect="1"/>
          </p:cNvPicPr>
          <p:nvPr/>
        </p:nvPicPr>
        <p:blipFill>
          <a:blip r:embed="rId7"/>
          <a:stretch>
            <a:fillRect/>
          </a:stretch>
        </p:blipFill>
        <p:spPr>
          <a:xfrm>
            <a:off x="4947345" y="4676686"/>
            <a:ext cx="1686090" cy="1870179"/>
          </a:xfrm>
          <a:prstGeom prst="rect">
            <a:avLst/>
          </a:prstGeom>
          <a:ln w="19050">
            <a:solidFill>
              <a:srgbClr val="EAAA00"/>
            </a:solidFill>
            <a:prstDash val="sysDash"/>
          </a:ln>
        </p:spPr>
      </p:pic>
      <p:sp>
        <p:nvSpPr>
          <p:cNvPr id="35" name="Arrow: Right 34">
            <a:extLst>
              <a:ext uri="{FF2B5EF4-FFF2-40B4-BE49-F238E27FC236}">
                <a16:creationId xmlns:a16="http://schemas.microsoft.com/office/drawing/2014/main" id="{63DED78E-E9DB-4D39-9C4B-8D2F2829B67C}"/>
              </a:ext>
            </a:extLst>
          </p:cNvPr>
          <p:cNvSpPr/>
          <p:nvPr/>
        </p:nvSpPr>
        <p:spPr>
          <a:xfrm>
            <a:off x="6156487" y="4702464"/>
            <a:ext cx="881035" cy="705642"/>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40" name="Straight Arrow Connector 39">
            <a:extLst>
              <a:ext uri="{FF2B5EF4-FFF2-40B4-BE49-F238E27FC236}">
                <a16:creationId xmlns:a16="http://schemas.microsoft.com/office/drawing/2014/main" id="{1C324E2C-8127-4D8C-B103-4CDFA2CB3CFB}"/>
              </a:ext>
            </a:extLst>
          </p:cNvPr>
          <p:cNvCxnSpPr>
            <a:cxnSpLocks/>
          </p:cNvCxnSpPr>
          <p:nvPr/>
        </p:nvCxnSpPr>
        <p:spPr>
          <a:xfrm flipV="1">
            <a:off x="2396691" y="4994619"/>
            <a:ext cx="2560789" cy="1369510"/>
          </a:xfrm>
          <a:prstGeom prst="straightConnector1">
            <a:avLst/>
          </a:prstGeom>
          <a:noFill/>
          <a:ln w="28575">
            <a:solidFill>
              <a:srgbClr val="EAAA00"/>
            </a:solidFill>
            <a:tailEnd type="triangle"/>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931410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0D4E-131C-4658-883B-FC873434006B}"/>
              </a:ext>
            </a:extLst>
          </p:cNvPr>
          <p:cNvSpPr>
            <a:spLocks noGrp="1"/>
          </p:cNvSpPr>
          <p:nvPr>
            <p:ph type="title"/>
          </p:nvPr>
        </p:nvSpPr>
        <p:spPr/>
        <p:txBody>
          <a:bodyPr/>
          <a:lstStyle/>
          <a:p>
            <a:r>
              <a:rPr lang="en-GB" dirty="0"/>
              <a:t>WBS element – Master Data</a:t>
            </a:r>
            <a:endParaRPr lang="en-US" dirty="0"/>
          </a:p>
        </p:txBody>
      </p:sp>
      <p:sp>
        <p:nvSpPr>
          <p:cNvPr id="4" name="Footer Placeholder 3">
            <a:extLst>
              <a:ext uri="{FF2B5EF4-FFF2-40B4-BE49-F238E27FC236}">
                <a16:creationId xmlns:a16="http://schemas.microsoft.com/office/drawing/2014/main" id="{24477E87-1E19-4C42-AC88-62B19C05092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D4AD82F-5A54-4EBC-9F19-86C8B70571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B1F8CD15-EA69-44E9-8EF0-207B6F6C28CE}"/>
              </a:ext>
            </a:extLst>
          </p:cNvPr>
          <p:cNvGrpSpPr/>
          <p:nvPr/>
        </p:nvGrpSpPr>
        <p:grpSpPr>
          <a:xfrm>
            <a:off x="505591" y="1639340"/>
            <a:ext cx="7097705" cy="4717012"/>
            <a:chOff x="505591" y="801278"/>
            <a:chExt cx="5345416" cy="5555074"/>
          </a:xfrm>
        </p:grpSpPr>
        <p:sp>
          <p:nvSpPr>
            <p:cNvPr id="7" name="Snip Diagonal Corner Rectangle 23">
              <a:extLst>
                <a:ext uri="{FF2B5EF4-FFF2-40B4-BE49-F238E27FC236}">
                  <a16:creationId xmlns:a16="http://schemas.microsoft.com/office/drawing/2014/main" id="{7ACF5D02-9E85-4BE2-9568-9C5E6678F826}"/>
                </a:ext>
              </a:extLst>
            </p:cNvPr>
            <p:cNvSpPr/>
            <p:nvPr/>
          </p:nvSpPr>
          <p:spPr bwMode="auto">
            <a:xfrm>
              <a:off x="505591" y="801278"/>
              <a:ext cx="5345416" cy="5555074"/>
            </a:xfrm>
            <a:prstGeom prst="snip2DiagRect">
              <a:avLst/>
            </a:prstGeom>
            <a:gradFill rotWithShape="1">
              <a:gsLst>
                <a:gs pos="0">
                  <a:srgbClr val="00BDB7">
                    <a:lumMod val="110000"/>
                    <a:satMod val="105000"/>
                    <a:tint val="67000"/>
                  </a:srgbClr>
                </a:gs>
                <a:gs pos="50000">
                  <a:srgbClr val="00BDB7">
                    <a:lumMod val="105000"/>
                    <a:satMod val="103000"/>
                    <a:tint val="73000"/>
                  </a:srgbClr>
                </a:gs>
                <a:gs pos="100000">
                  <a:srgbClr val="00BDB7">
                    <a:lumMod val="105000"/>
                    <a:satMod val="109000"/>
                    <a:tint val="81000"/>
                  </a:srgbClr>
                </a:gs>
              </a:gsLst>
              <a:lin ang="5400000" scaled="0"/>
            </a:gradFill>
            <a:ln w="6350" cap="flat" cmpd="sng" algn="ctr">
              <a:solidFill>
                <a:srgbClr val="00BDB7"/>
              </a:solidFill>
              <a:prstDash val="solid"/>
              <a:miter lim="800000"/>
            </a:ln>
            <a:effectLst/>
            <a:ex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a:ln>
                  <a:noFill/>
                </a:ln>
                <a:solidFill>
                  <a:srgbClr val="122632"/>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573CA8CE-8498-4727-A9CA-F3F3F18CF706}"/>
                </a:ext>
              </a:extLst>
            </p:cNvPr>
            <p:cNvSpPr txBox="1"/>
            <p:nvPr/>
          </p:nvSpPr>
          <p:spPr>
            <a:xfrm>
              <a:off x="882233" y="999533"/>
              <a:ext cx="4801929" cy="5132500"/>
            </a:xfrm>
            <a:prstGeom prst="rect">
              <a:avLst/>
            </a:prstGeom>
            <a:noFill/>
          </p:spPr>
          <p:txBody>
            <a:bodyPr wrap="square" lIns="0" tIns="0" rIns="0" bIns="0" rtlCol="0">
              <a:normAutofit fontScale="850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WBS element</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Represents particular project activity</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There are different WBS element types configured for different usage, for example for opex, branded, multi-brand </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Branded WBS elements have specific fields where the brand family and product type must be populated</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WBS elements that are migrated to S/4HANA from internal orders in ECC will contain the former internal order number</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The settlement rule is defined on the WBS element (for settlement to capex or CO-PA)</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p:txBody>
        </p:sp>
      </p:grpSp>
      <p:sp>
        <p:nvSpPr>
          <p:cNvPr id="10" name="Snip Diagonal Corner Rectangle 25">
            <a:extLst>
              <a:ext uri="{FF2B5EF4-FFF2-40B4-BE49-F238E27FC236}">
                <a16:creationId xmlns:a16="http://schemas.microsoft.com/office/drawing/2014/main" id="{E5F361B5-6F1A-44DA-B180-86A952B6C080}"/>
              </a:ext>
            </a:extLst>
          </p:cNvPr>
          <p:cNvSpPr/>
          <p:nvPr/>
        </p:nvSpPr>
        <p:spPr bwMode="auto">
          <a:xfrm>
            <a:off x="7889987" y="1698170"/>
            <a:ext cx="3919823" cy="4658182"/>
          </a:xfrm>
          <a:prstGeom prst="snip2DiagRect">
            <a:avLst/>
          </a:prstGeom>
          <a:solidFill>
            <a:srgbClr val="88D5B8">
              <a:lumMod val="40000"/>
              <a:lumOff val="60000"/>
            </a:srgbClr>
          </a:solidFill>
          <a:ln w="6350" cap="flat" cmpd="sng" algn="ctr">
            <a:solidFill>
              <a:srgbClr val="00BDB7"/>
            </a:solidFill>
            <a:prstDash val="solid"/>
            <a:miter lim="800000"/>
          </a:ln>
          <a:effectLst/>
          <a:ex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ＭＳ Ｐゴシック" charset="0"/>
              <a:cs typeface="+mn-cs"/>
            </a:endParaRPr>
          </a:p>
        </p:txBody>
      </p:sp>
      <p:pic>
        <p:nvPicPr>
          <p:cNvPr id="11" name="Picture 10">
            <a:extLst>
              <a:ext uri="{FF2B5EF4-FFF2-40B4-BE49-F238E27FC236}">
                <a16:creationId xmlns:a16="http://schemas.microsoft.com/office/drawing/2014/main" id="{D4966C0A-DA5A-4148-A7C2-732474B427FA}"/>
              </a:ext>
            </a:extLst>
          </p:cNvPr>
          <p:cNvPicPr>
            <a:picLocks noChangeAspect="1"/>
          </p:cNvPicPr>
          <p:nvPr/>
        </p:nvPicPr>
        <p:blipFill rotWithShape="1">
          <a:blip r:embed="rId2"/>
          <a:srcRect l="738"/>
          <a:stretch/>
        </p:blipFill>
        <p:spPr>
          <a:xfrm>
            <a:off x="8126384" y="2394674"/>
            <a:ext cx="3447029" cy="2569479"/>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B3A78FF-BFCC-4DEC-BD49-2CABC55C1AAE}"/>
              </a:ext>
            </a:extLst>
          </p:cNvPr>
          <p:cNvPicPr>
            <a:picLocks noChangeAspect="1"/>
          </p:cNvPicPr>
          <p:nvPr/>
        </p:nvPicPr>
        <p:blipFill rotWithShape="1">
          <a:blip r:embed="rId3"/>
          <a:srcRect r="1422"/>
          <a:stretch/>
        </p:blipFill>
        <p:spPr>
          <a:xfrm>
            <a:off x="8086582" y="5068204"/>
            <a:ext cx="3526632" cy="820098"/>
          </a:xfrm>
          <a:prstGeom prst="rect">
            <a:avLst/>
          </a:prstGeom>
          <a:ln>
            <a:noFill/>
          </a:ln>
          <a:effectLst>
            <a:outerShdw blurRad="292100" dist="139700" dir="2700000" algn="tl" rotWithShape="0">
              <a:srgbClr val="333333">
                <a:alpha val="65000"/>
              </a:srgbClr>
            </a:outerShdw>
          </a:effectLst>
        </p:spPr>
      </p:pic>
      <p:sp>
        <p:nvSpPr>
          <p:cNvPr id="12" name="Freeform 29">
            <a:extLst>
              <a:ext uri="{FF2B5EF4-FFF2-40B4-BE49-F238E27FC236}">
                <a16:creationId xmlns:a16="http://schemas.microsoft.com/office/drawing/2014/main" id="{BB095439-CD9F-4C91-AA4C-3AB024A6CE65}"/>
              </a:ext>
            </a:extLst>
          </p:cNvPr>
          <p:cNvSpPr>
            <a:spLocks/>
          </p:cNvSpPr>
          <p:nvPr/>
        </p:nvSpPr>
        <p:spPr bwMode="gray">
          <a:xfrm>
            <a:off x="8000557" y="4964154"/>
            <a:ext cx="1780258" cy="1037234"/>
          </a:xfrm>
          <a:custGeom>
            <a:avLst/>
            <a:gdLst>
              <a:gd name="T0" fmla="*/ 2147483647 w 3884"/>
              <a:gd name="T1" fmla="*/ 2147483647 h 1600"/>
              <a:gd name="T2" fmla="*/ 2147483647 w 3884"/>
              <a:gd name="T3" fmla="*/ 2147483647 h 1600"/>
              <a:gd name="T4" fmla="*/ 2147483647 w 3884"/>
              <a:gd name="T5" fmla="*/ 2147483647 h 1600"/>
              <a:gd name="T6" fmla="*/ 2147483647 w 3884"/>
              <a:gd name="T7" fmla="*/ 2147483647 h 1600"/>
              <a:gd name="T8" fmla="*/ 2147483647 w 3884"/>
              <a:gd name="T9" fmla="*/ 2147483647 h 1600"/>
              <a:gd name="T10" fmla="*/ 2147483647 w 3884"/>
              <a:gd name="T11" fmla="*/ 2147483647 h 1600"/>
              <a:gd name="T12" fmla="*/ 0 w 3884"/>
              <a:gd name="T13" fmla="*/ 2147483647 h 1600"/>
              <a:gd name="T14" fmla="*/ 2147483647 w 3884"/>
              <a:gd name="T15" fmla="*/ 2147483647 h 1600"/>
              <a:gd name="T16" fmla="*/ 2147483647 w 3884"/>
              <a:gd name="T17" fmla="*/ 2147483647 h 1600"/>
              <a:gd name="T18" fmla="*/ 2147483647 w 3884"/>
              <a:gd name="T19" fmla="*/ 2147483647 h 1600"/>
              <a:gd name="T20" fmla="*/ 2147483647 w 3884"/>
              <a:gd name="T21" fmla="*/ 2147483647 h 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84"/>
              <a:gd name="T34" fmla="*/ 0 h 1600"/>
              <a:gd name="T35" fmla="*/ 3884 w 3884"/>
              <a:gd name="T36" fmla="*/ 1600 h 16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84" h="1600">
                <a:moveTo>
                  <a:pt x="297" y="1346"/>
                </a:moveTo>
                <a:cubicBezTo>
                  <a:pt x="918" y="1523"/>
                  <a:pt x="1726" y="1533"/>
                  <a:pt x="2310" y="1448"/>
                </a:cubicBezTo>
                <a:cubicBezTo>
                  <a:pt x="3125" y="1334"/>
                  <a:pt x="3798" y="1192"/>
                  <a:pt x="3810" y="884"/>
                </a:cubicBezTo>
                <a:cubicBezTo>
                  <a:pt x="3822" y="576"/>
                  <a:pt x="3114" y="204"/>
                  <a:pt x="1945" y="137"/>
                </a:cubicBezTo>
                <a:cubicBezTo>
                  <a:pt x="645" y="63"/>
                  <a:pt x="74" y="564"/>
                  <a:pt x="74" y="724"/>
                </a:cubicBezTo>
                <a:cubicBezTo>
                  <a:pt x="74" y="884"/>
                  <a:pt x="394" y="1032"/>
                  <a:pt x="781" y="1072"/>
                </a:cubicBezTo>
                <a:cubicBezTo>
                  <a:pt x="280" y="1135"/>
                  <a:pt x="0" y="912"/>
                  <a:pt x="0" y="724"/>
                </a:cubicBezTo>
                <a:cubicBezTo>
                  <a:pt x="0" y="536"/>
                  <a:pt x="473" y="0"/>
                  <a:pt x="1951" y="68"/>
                </a:cubicBezTo>
                <a:cubicBezTo>
                  <a:pt x="2863" y="110"/>
                  <a:pt x="3884" y="433"/>
                  <a:pt x="3878" y="884"/>
                </a:cubicBezTo>
                <a:cubicBezTo>
                  <a:pt x="3872" y="1335"/>
                  <a:pt x="2873" y="1446"/>
                  <a:pt x="2276" y="1523"/>
                </a:cubicBezTo>
                <a:cubicBezTo>
                  <a:pt x="1679" y="1600"/>
                  <a:pt x="553" y="1580"/>
                  <a:pt x="297" y="1346"/>
                </a:cubicBezTo>
                <a:close/>
              </a:path>
            </a:pathLst>
          </a:custGeom>
          <a:solidFill>
            <a:srgbClr val="00BDB7"/>
          </a:solidFill>
          <a:ln w="38100">
            <a:solidFill>
              <a:srgbClr val="00BDB7"/>
            </a:solidFill>
            <a:round/>
            <a:headEnd/>
            <a:tailEnd/>
          </a:ln>
        </p:spPr>
        <p:txBody>
          <a:bodyPr vert="horz" wrap="square" lIns="91440" tIns="91440" rIns="91440" bIns="9144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endParaRPr>
          </a:p>
        </p:txBody>
      </p:sp>
      <p:sp>
        <p:nvSpPr>
          <p:cNvPr id="14" name="TextBox 13">
            <a:extLst>
              <a:ext uri="{FF2B5EF4-FFF2-40B4-BE49-F238E27FC236}">
                <a16:creationId xmlns:a16="http://schemas.microsoft.com/office/drawing/2014/main" id="{1F18BEC7-3915-4B75-B5D8-741263E4D358}"/>
              </a:ext>
            </a:extLst>
          </p:cNvPr>
          <p:cNvSpPr txBox="1"/>
          <p:nvPr/>
        </p:nvSpPr>
        <p:spPr>
          <a:xfrm>
            <a:off x="8126384" y="1922380"/>
            <a:ext cx="3815823" cy="63094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900" b="1" i="0" u="none" strike="noStrike" kern="0" cap="none" spc="0" normalizeH="0" baseline="0" noProof="0" dirty="0">
                <a:ln>
                  <a:noFill/>
                </a:ln>
                <a:solidFill>
                  <a:srgbClr val="122632"/>
                </a:solidFill>
                <a:effectLst/>
                <a:uLnTx/>
                <a:uFillTx/>
                <a:latin typeface="Arial"/>
                <a:ea typeface="ＭＳ Ｐゴシック" pitchFamily="80" charset="-128"/>
                <a:cs typeface="+mn-cs"/>
              </a:rPr>
              <a:t>WBS element in SAP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itchFamily="34" charset="0"/>
              <a:ea typeface="ＭＳ Ｐゴシック" pitchFamily="80" charset="-128"/>
              <a:cs typeface="+mn-cs"/>
            </a:endParaRPr>
          </a:p>
        </p:txBody>
      </p:sp>
    </p:spTree>
    <p:extLst>
      <p:ext uri="{BB962C8B-B14F-4D97-AF65-F5344CB8AC3E}">
        <p14:creationId xmlns:p14="http://schemas.microsoft.com/office/powerpoint/2010/main" val="229504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0D4E-131C-4658-883B-FC873434006B}"/>
              </a:ext>
            </a:extLst>
          </p:cNvPr>
          <p:cNvSpPr>
            <a:spLocks noGrp="1"/>
          </p:cNvSpPr>
          <p:nvPr>
            <p:ph type="title"/>
          </p:nvPr>
        </p:nvSpPr>
        <p:spPr/>
        <p:txBody>
          <a:bodyPr/>
          <a:lstStyle/>
          <a:p>
            <a:r>
              <a:rPr lang="en-GB" dirty="0"/>
              <a:t>WBS Elements types</a:t>
            </a:r>
            <a:endParaRPr lang="en-US" dirty="0"/>
          </a:p>
        </p:txBody>
      </p:sp>
      <p:sp>
        <p:nvSpPr>
          <p:cNvPr id="4" name="Footer Placeholder 3">
            <a:extLst>
              <a:ext uri="{FF2B5EF4-FFF2-40B4-BE49-F238E27FC236}">
                <a16:creationId xmlns:a16="http://schemas.microsoft.com/office/drawing/2014/main" id="{24477E87-1E19-4C42-AC88-62B19C05092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D4AD82F-5A54-4EBC-9F19-86C8B70571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Table 5">
            <a:extLst>
              <a:ext uri="{FF2B5EF4-FFF2-40B4-BE49-F238E27FC236}">
                <a16:creationId xmlns:a16="http://schemas.microsoft.com/office/drawing/2014/main" id="{FA5B8C62-D212-4E7B-8EB5-85DEB2AA3346}"/>
              </a:ext>
            </a:extLst>
          </p:cNvPr>
          <p:cNvGraphicFramePr>
            <a:graphicFrameLocks noGrp="1"/>
          </p:cNvGraphicFramePr>
          <p:nvPr>
            <p:extLst/>
          </p:nvPr>
        </p:nvGraphicFramePr>
        <p:xfrm>
          <a:off x="474875" y="1539732"/>
          <a:ext cx="11242249" cy="4906252"/>
        </p:xfrm>
        <a:graphic>
          <a:graphicData uri="http://schemas.openxmlformats.org/drawingml/2006/table">
            <a:tbl>
              <a:tblPr firstRow="1" bandRow="1"/>
              <a:tblGrid>
                <a:gridCol w="1489938">
                  <a:extLst>
                    <a:ext uri="{9D8B030D-6E8A-4147-A177-3AD203B41FA5}">
                      <a16:colId xmlns:a16="http://schemas.microsoft.com/office/drawing/2014/main" val="20000"/>
                    </a:ext>
                  </a:extLst>
                </a:gridCol>
                <a:gridCol w="2244579">
                  <a:extLst>
                    <a:ext uri="{9D8B030D-6E8A-4147-A177-3AD203B41FA5}">
                      <a16:colId xmlns:a16="http://schemas.microsoft.com/office/drawing/2014/main" val="20002"/>
                    </a:ext>
                  </a:extLst>
                </a:gridCol>
                <a:gridCol w="1993033">
                  <a:extLst>
                    <a:ext uri="{9D8B030D-6E8A-4147-A177-3AD203B41FA5}">
                      <a16:colId xmlns:a16="http://schemas.microsoft.com/office/drawing/2014/main" val="20003"/>
                    </a:ext>
                  </a:extLst>
                </a:gridCol>
                <a:gridCol w="2496128">
                  <a:extLst>
                    <a:ext uri="{9D8B030D-6E8A-4147-A177-3AD203B41FA5}">
                      <a16:colId xmlns:a16="http://schemas.microsoft.com/office/drawing/2014/main" val="20004"/>
                    </a:ext>
                  </a:extLst>
                </a:gridCol>
                <a:gridCol w="3018571">
                  <a:extLst>
                    <a:ext uri="{9D8B030D-6E8A-4147-A177-3AD203B41FA5}">
                      <a16:colId xmlns:a16="http://schemas.microsoft.com/office/drawing/2014/main" val="3069262505"/>
                    </a:ext>
                  </a:extLst>
                </a:gridCol>
              </a:tblGrid>
              <a:tr h="381948">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Project</a:t>
                      </a:r>
                      <a:r>
                        <a:rPr lang="en-US" sz="1550" baseline="0" dirty="0"/>
                        <a:t> type</a:t>
                      </a:r>
                      <a:endParaRPr lang="en-US" sz="1550"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WBS element priority</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a:t>Type</a:t>
                      </a:r>
                      <a:r>
                        <a:rPr lang="en-US" sz="1550" baseline="0"/>
                        <a:t> of CO object</a:t>
                      </a:r>
                      <a:endParaRPr lang="en-US" sz="155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Settlement</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BDB7"/>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GB" sz="1550" dirty="0"/>
                        <a:t>Note</a:t>
                      </a:r>
                      <a:endParaRPr lang="en-US" sz="1550"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BDB7"/>
                    </a:solidFill>
                  </a:tcPr>
                </a:tc>
                <a:extLst>
                  <a:ext uri="{0D108BD9-81ED-4DB2-BD59-A6C34878D82A}">
                    <a16:rowId xmlns:a16="http://schemas.microsoft.com/office/drawing/2014/main" val="10000"/>
                  </a:ext>
                </a:extLst>
              </a:tr>
              <a:tr h="349161">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Intercompany</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B0D83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Intercompany</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B0D83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Real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B0D83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GB" sz="1550" dirty="0"/>
                        <a:t>Via </a:t>
                      </a:r>
                      <a:r>
                        <a:rPr lang="en-GB" sz="1550" dirty="0" err="1"/>
                        <a:t>interco</a:t>
                      </a:r>
                      <a:r>
                        <a:rPr lang="en-GB" sz="1550" dirty="0"/>
                        <a:t> invoices</a:t>
                      </a:r>
                      <a:endParaRPr lang="en-US" sz="1550"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B0D83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l"/>
                      <a:r>
                        <a:rPr lang="en-GB" sz="1550" dirty="0"/>
                        <a:t>Can only be created by BSC</a:t>
                      </a:r>
                      <a:endParaRPr lang="en-US" sz="1550"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B0D838">
                        <a:lumMod val="20000"/>
                        <a:lumOff val="80000"/>
                      </a:srgbClr>
                    </a:solidFill>
                  </a:tcPr>
                </a:tc>
                <a:extLst>
                  <a:ext uri="{0D108BD9-81ED-4DB2-BD59-A6C34878D82A}">
                    <a16:rowId xmlns:a16="http://schemas.microsoft.com/office/drawing/2014/main" val="10001"/>
                  </a:ext>
                </a:extLst>
              </a:tr>
              <a:tr h="411659">
                <a:tc rowSpan="2">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endParaRPr lang="en-US" sz="1550" dirty="0"/>
                    </a:p>
                    <a:p>
                      <a:pPr algn="ctr"/>
                      <a:r>
                        <a:rPr lang="en-US" sz="1550" dirty="0"/>
                        <a:t>Opex / Capex</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Opex</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Statistical</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GB" sz="1550" dirty="0"/>
                        <a:t>N</a:t>
                      </a:r>
                      <a:r>
                        <a:rPr lang="en-US" sz="1550" dirty="0" err="1"/>
                        <a:t>ot</a:t>
                      </a:r>
                      <a:r>
                        <a:rPr lang="en-US" sz="1550" dirty="0"/>
                        <a:t> applicable</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l"/>
                      <a:r>
                        <a:rPr lang="en-GB" sz="1550" dirty="0"/>
                        <a:t>In S/4 HANA, we will no longer settle opex WBS elements</a:t>
                      </a:r>
                      <a:endParaRPr lang="en-US" sz="1550"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10002"/>
                  </a:ext>
                </a:extLst>
              </a:tr>
              <a:tr h="445372">
                <a:tc vMerge="1">
                  <a:txBody>
                    <a:bodyPr/>
                    <a:lstStyle/>
                    <a:p>
                      <a:endParaRPr lang="ru-RU"/>
                    </a:p>
                  </a:txBody>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a:t>Capex</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Real</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Asset</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endParaRPr lang="en-US" sz="1550"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10003"/>
                  </a:ext>
                </a:extLst>
              </a:tr>
              <a:tr h="857031">
                <a:tc rowSpan="3">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GB" sz="1550" dirty="0"/>
                        <a:t>Ab</a:t>
                      </a:r>
                      <a:r>
                        <a:rPr lang="en-US" sz="1550" dirty="0" err="1"/>
                        <a:t>ove</a:t>
                      </a:r>
                      <a:r>
                        <a:rPr lang="en-US" sz="1550" dirty="0"/>
                        <a:t> brand contribution</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742913" rtl="0" eaLnBrk="1" fontAlgn="auto" latinLnBrk="0" hangingPunct="1">
                        <a:lnSpc>
                          <a:spcPct val="100000"/>
                        </a:lnSpc>
                        <a:spcBef>
                          <a:spcPts val="0"/>
                        </a:spcBef>
                        <a:spcAft>
                          <a:spcPts val="0"/>
                        </a:spcAft>
                        <a:buClrTx/>
                        <a:buSzTx/>
                        <a:buFontTx/>
                        <a:buNone/>
                        <a:tabLst/>
                        <a:defRPr/>
                      </a:pPr>
                      <a:r>
                        <a:rPr lang="en-US" sz="1550" dirty="0"/>
                        <a:t>Branded</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GB" sz="1550" dirty="0"/>
                        <a:t>Real</a:t>
                      </a:r>
                      <a:endParaRPr lang="en-US" sz="1550" dirty="0"/>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Settlement to</a:t>
                      </a:r>
                      <a:r>
                        <a:rPr lang="en-US" sz="1550" baseline="0" dirty="0"/>
                        <a:t> CO-PA (brand family and product type)</a:t>
                      </a:r>
                      <a:endParaRPr lang="en-US" sz="1550" dirty="0"/>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l"/>
                      <a:r>
                        <a:rPr lang="en-GB" sz="1550" dirty="0"/>
                        <a:t>Brand family and product type must be populated on the WBS master data</a:t>
                      </a:r>
                      <a:endParaRPr lang="en-US" sz="1550"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extLst>
                  <a:ext uri="{0D108BD9-81ED-4DB2-BD59-A6C34878D82A}">
                    <a16:rowId xmlns:a16="http://schemas.microsoft.com/office/drawing/2014/main" val="10005"/>
                  </a:ext>
                </a:extLst>
              </a:tr>
              <a:tr h="946725">
                <a:tc vMerge="1">
                  <a:txBody>
                    <a:bodyPr/>
                    <a:lstStyle/>
                    <a:p>
                      <a:endParaRPr lang="ru-RU"/>
                    </a:p>
                  </a:txBody>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742913" rtl="0" eaLnBrk="1" fontAlgn="auto" latinLnBrk="0" hangingPunct="1">
                        <a:lnSpc>
                          <a:spcPct val="100000"/>
                        </a:lnSpc>
                        <a:spcBef>
                          <a:spcPts val="0"/>
                        </a:spcBef>
                        <a:spcAft>
                          <a:spcPts val="0"/>
                        </a:spcAft>
                        <a:buClrTx/>
                        <a:buSzTx/>
                        <a:buFontTx/>
                        <a:buNone/>
                        <a:tabLst/>
                        <a:defRPr/>
                      </a:pPr>
                      <a:r>
                        <a:rPr lang="en-US" sz="1550" dirty="0"/>
                        <a:t>Multi-brand</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GB" sz="1550" dirty="0"/>
                        <a:t>Real</a:t>
                      </a:r>
                      <a:endParaRPr lang="ru-RU" sz="1550" dirty="0"/>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Settlement to</a:t>
                      </a:r>
                      <a:r>
                        <a:rPr lang="en-US" sz="1550" baseline="0" dirty="0"/>
                        <a:t> CO-PA</a:t>
                      </a:r>
                    </a:p>
                    <a:p>
                      <a:pPr algn="ctr"/>
                      <a:r>
                        <a:rPr lang="en-US" sz="1550" baseline="0" dirty="0"/>
                        <a:t>(SKU or brand family and product type depending on P&amp;L line) </a:t>
                      </a:r>
                      <a:endParaRPr lang="ru-RU" sz="1550" dirty="0"/>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r>
                        <a:rPr lang="en-GB" sz="1550" dirty="0"/>
                        <a:t>Settlement can be via the automated allocation, or a settlement rule can be entered on the WBS master data</a:t>
                      </a:r>
                      <a:endParaRPr lang="en-US" sz="1550"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extLst>
                  <a:ext uri="{0D108BD9-81ED-4DB2-BD59-A6C34878D82A}">
                    <a16:rowId xmlns:a16="http://schemas.microsoft.com/office/drawing/2014/main" val="10008"/>
                  </a:ext>
                </a:extLst>
              </a:tr>
              <a:tr h="829212">
                <a:tc vMerge="1">
                  <a:txBody>
                    <a:bodyPr/>
                    <a:lstStyle/>
                    <a:p>
                      <a:pPr algn="ctr"/>
                      <a:endParaRPr lang="en-US" sz="1600" dirty="0"/>
                    </a:p>
                  </a:txBody>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Statistical above brand contribution</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550" dirty="0"/>
                        <a:t>Statistical</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GB" sz="1550" dirty="0"/>
                        <a:t>N</a:t>
                      </a:r>
                      <a:r>
                        <a:rPr lang="en-US" sz="1550" dirty="0" err="1"/>
                        <a:t>ot</a:t>
                      </a:r>
                      <a:r>
                        <a:rPr lang="en-US" sz="1550" dirty="0"/>
                        <a:t> applicable</a:t>
                      </a:r>
                    </a:p>
                  </a:txBody>
                  <a:tcPr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50" dirty="0"/>
                        <a:t>Should only be used where other WBS types cannot be used the split between brand family / product type is available in another system such as TME</a:t>
                      </a:r>
                      <a:endParaRPr lang="en-US" sz="1550"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407EC9">
                        <a:lumMod val="20000"/>
                        <a:lumOff val="80000"/>
                      </a:srgb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3981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890A3A-AEF0-4204-8632-41172A4F68B1}"/>
              </a:ext>
            </a:extLst>
          </p:cNvPr>
          <p:cNvPicPr>
            <a:picLocks noChangeAspect="1"/>
          </p:cNvPicPr>
          <p:nvPr/>
        </p:nvPicPr>
        <p:blipFill>
          <a:blip r:embed="rId3"/>
          <a:stretch>
            <a:fillRect/>
          </a:stretch>
        </p:blipFill>
        <p:spPr>
          <a:xfrm>
            <a:off x="515939" y="2207800"/>
            <a:ext cx="7459368" cy="3034760"/>
          </a:xfrm>
          <a:prstGeom prst="rect">
            <a:avLst/>
          </a:prstGeom>
        </p:spPr>
      </p:pic>
      <p:sp>
        <p:nvSpPr>
          <p:cNvPr id="11" name="Rectangle: Rounded Corners 10">
            <a:extLst>
              <a:ext uri="{FF2B5EF4-FFF2-40B4-BE49-F238E27FC236}">
                <a16:creationId xmlns:a16="http://schemas.microsoft.com/office/drawing/2014/main" id="{B96AB70F-F6A5-4617-9C26-22707B437D27}"/>
              </a:ext>
            </a:extLst>
          </p:cNvPr>
          <p:cNvSpPr/>
          <p:nvPr/>
        </p:nvSpPr>
        <p:spPr>
          <a:xfrm>
            <a:off x="8277484" y="2015691"/>
            <a:ext cx="3633792" cy="4547424"/>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From cost management perspective, a WBS element is also a cost object, which is similar to a cost center or an internal order that is used to collect costs. Therefore for JTI, all WBS elements are  created within the JTI Controlling Area 1000 for cost management purposes.</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The Company Code information at project level is taken from the “Bucket” when a project is created. At lower WBS elements level you may extend the WBS to different company codes depending on the business scenarios.</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WBS elements used for cost management purposes also need “Functional Area”, which will support the categorization of costs in Market P&amp;L.</a:t>
            </a:r>
          </a:p>
        </p:txBody>
      </p:sp>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WBS Elements Master Data</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B94A97F-1925-4343-AF06-A4A24B3BCB18}"/>
              </a:ext>
            </a:extLst>
          </p:cNvPr>
          <p:cNvSpPr/>
          <p:nvPr/>
        </p:nvSpPr>
        <p:spPr>
          <a:xfrm>
            <a:off x="5303520" y="2119677"/>
            <a:ext cx="2021840" cy="358284"/>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CJ03 – Display WBS Master Data </a:t>
            </a:r>
          </a:p>
        </p:txBody>
      </p:sp>
      <p:sp>
        <p:nvSpPr>
          <p:cNvPr id="10" name="Callout: Line 9">
            <a:extLst>
              <a:ext uri="{FF2B5EF4-FFF2-40B4-BE49-F238E27FC236}">
                <a16:creationId xmlns:a16="http://schemas.microsoft.com/office/drawing/2014/main" id="{D6C8494C-1308-4C3A-B2AA-F847BC8E5E86}"/>
              </a:ext>
            </a:extLst>
          </p:cNvPr>
          <p:cNvSpPr/>
          <p:nvPr/>
        </p:nvSpPr>
        <p:spPr>
          <a:xfrm>
            <a:off x="2327204" y="4358383"/>
            <a:ext cx="3185486" cy="884177"/>
          </a:xfrm>
          <a:prstGeom prst="borderCallout1">
            <a:avLst>
              <a:gd name="adj1" fmla="val 58238"/>
              <a:gd name="adj2" fmla="val 100313"/>
              <a:gd name="adj3" fmla="val 53122"/>
              <a:gd name="adj4" fmla="val 187232"/>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9A225A5D-798C-445E-9F76-54BF3A213BC0}"/>
              </a:ext>
            </a:extLst>
          </p:cNvPr>
          <p:cNvSpPr/>
          <p:nvPr/>
        </p:nvSpPr>
        <p:spPr>
          <a:xfrm>
            <a:off x="515939" y="1382359"/>
            <a:ext cx="11259172" cy="445564"/>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6" name="Graphic 15" descr="Lightbulb and gear">
            <a:extLst>
              <a:ext uri="{FF2B5EF4-FFF2-40B4-BE49-F238E27FC236}">
                <a16:creationId xmlns:a16="http://schemas.microsoft.com/office/drawing/2014/main" id="{09E6794A-298D-4715-822D-7A95B96072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5939" y="1382359"/>
            <a:ext cx="445564" cy="445564"/>
          </a:xfrm>
          <a:prstGeom prst="rect">
            <a:avLst/>
          </a:prstGeom>
        </p:spPr>
      </p:pic>
      <p:sp>
        <p:nvSpPr>
          <p:cNvPr id="17" name="Rectangle 16">
            <a:extLst>
              <a:ext uri="{FF2B5EF4-FFF2-40B4-BE49-F238E27FC236}">
                <a16:creationId xmlns:a16="http://schemas.microsoft.com/office/drawing/2014/main" id="{F14020F5-C06B-433F-A298-37FF2CFF9658}"/>
              </a:ext>
            </a:extLst>
          </p:cNvPr>
          <p:cNvSpPr/>
          <p:nvPr/>
        </p:nvSpPr>
        <p:spPr>
          <a:xfrm>
            <a:off x="515939" y="1401744"/>
            <a:ext cx="11259172"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For different types (WBS Priority) of WBS elements, different fields are maintained in the WBS master data. See below examples.</a:t>
            </a:r>
          </a:p>
        </p:txBody>
      </p:sp>
    </p:spTree>
    <p:extLst>
      <p:ext uri="{BB962C8B-B14F-4D97-AF65-F5344CB8AC3E}">
        <p14:creationId xmlns:p14="http://schemas.microsoft.com/office/powerpoint/2010/main" val="204801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0D4E-131C-4658-883B-FC873434006B}"/>
              </a:ext>
            </a:extLst>
          </p:cNvPr>
          <p:cNvSpPr>
            <a:spLocks noGrp="1"/>
          </p:cNvSpPr>
          <p:nvPr>
            <p:ph type="title"/>
          </p:nvPr>
        </p:nvSpPr>
        <p:spPr/>
        <p:txBody>
          <a:bodyPr/>
          <a:lstStyle/>
          <a:p>
            <a:r>
              <a:rPr lang="en-GB" dirty="0"/>
              <a:t>WBS Project Definition – Master Data</a:t>
            </a:r>
            <a:endParaRPr lang="en-US" dirty="0"/>
          </a:p>
        </p:txBody>
      </p:sp>
      <p:sp>
        <p:nvSpPr>
          <p:cNvPr id="4" name="Footer Placeholder 3">
            <a:extLst>
              <a:ext uri="{FF2B5EF4-FFF2-40B4-BE49-F238E27FC236}">
                <a16:creationId xmlns:a16="http://schemas.microsoft.com/office/drawing/2014/main" id="{24477E87-1E19-4C42-AC88-62B19C05092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D4AD82F-5A54-4EBC-9F19-86C8B70571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1" name="Group 20">
            <a:extLst>
              <a:ext uri="{FF2B5EF4-FFF2-40B4-BE49-F238E27FC236}">
                <a16:creationId xmlns:a16="http://schemas.microsoft.com/office/drawing/2014/main" id="{36206B4D-A211-4C03-B9B5-9E4378431D62}"/>
              </a:ext>
            </a:extLst>
          </p:cNvPr>
          <p:cNvGrpSpPr/>
          <p:nvPr/>
        </p:nvGrpSpPr>
        <p:grpSpPr>
          <a:xfrm>
            <a:off x="956902" y="1553443"/>
            <a:ext cx="5238059" cy="4744078"/>
            <a:chOff x="1285656" y="1586100"/>
            <a:chExt cx="4621874" cy="4744078"/>
          </a:xfrm>
        </p:grpSpPr>
        <p:sp>
          <p:nvSpPr>
            <p:cNvPr id="14" name="Snip Diagonal Corner Rectangle 51">
              <a:extLst>
                <a:ext uri="{FF2B5EF4-FFF2-40B4-BE49-F238E27FC236}">
                  <a16:creationId xmlns:a16="http://schemas.microsoft.com/office/drawing/2014/main" id="{8B9F00AE-9C49-4046-8D83-84C68D9ECCA0}"/>
                </a:ext>
              </a:extLst>
            </p:cNvPr>
            <p:cNvSpPr/>
            <p:nvPr/>
          </p:nvSpPr>
          <p:spPr bwMode="auto">
            <a:xfrm>
              <a:off x="1285656" y="1586100"/>
              <a:ext cx="4621874" cy="4744078"/>
            </a:xfrm>
            <a:prstGeom prst="snip2DiagRect">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a:ex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tab pos="4479925" algn="l"/>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sp>
          <p:nvSpPr>
            <p:cNvPr id="16" name="TextBox 15">
              <a:extLst>
                <a:ext uri="{FF2B5EF4-FFF2-40B4-BE49-F238E27FC236}">
                  <a16:creationId xmlns:a16="http://schemas.microsoft.com/office/drawing/2014/main" id="{5875416D-55D3-4CAE-A884-508C7181549B}"/>
                </a:ext>
              </a:extLst>
            </p:cNvPr>
            <p:cNvSpPr txBox="1"/>
            <p:nvPr/>
          </p:nvSpPr>
          <p:spPr>
            <a:xfrm>
              <a:off x="1678783" y="1711580"/>
              <a:ext cx="4126242" cy="4618598"/>
            </a:xfrm>
            <a:prstGeom prst="rect">
              <a:avLst/>
            </a:prstGeom>
            <a:noFill/>
          </p:spPr>
          <p:txBody>
            <a:bodyPr wrap="square" lIns="0" tIns="0" rIns="0" bIns="0" rtlCol="0">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WBS project definition</a:t>
              </a:r>
              <a:endParaRPr kumimoji="0" lang="en-US" sz="22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1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Represents the ‘header’ of a project</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1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Contains information about project, budgeting and settlement profiles</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1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Contains system and user status of the project, e.g. if it is released, closed etc.</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21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The initiative number can be populated on the project definition </a:t>
              </a:r>
              <a:endParaRPr kumimoji="0" lang="en-US" sz="21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1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Contains the company code with overall responsibility for the project, although this does not drive any postings in SAP </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endParaRPr>
            </a:p>
          </p:txBody>
        </p:sp>
      </p:grpSp>
      <p:grpSp>
        <p:nvGrpSpPr>
          <p:cNvPr id="20" name="Group 19">
            <a:extLst>
              <a:ext uri="{FF2B5EF4-FFF2-40B4-BE49-F238E27FC236}">
                <a16:creationId xmlns:a16="http://schemas.microsoft.com/office/drawing/2014/main" id="{6A4695E2-29D4-4EB9-BD4C-BFF8149D737E}"/>
              </a:ext>
            </a:extLst>
          </p:cNvPr>
          <p:cNvGrpSpPr/>
          <p:nvPr/>
        </p:nvGrpSpPr>
        <p:grpSpPr>
          <a:xfrm>
            <a:off x="6656926" y="1553443"/>
            <a:ext cx="4621874" cy="4744078"/>
            <a:chOff x="6187641" y="1586100"/>
            <a:chExt cx="4621874" cy="4744078"/>
          </a:xfrm>
        </p:grpSpPr>
        <p:sp>
          <p:nvSpPr>
            <p:cNvPr id="17" name="Snip Diagonal Corner Rectangle 69">
              <a:extLst>
                <a:ext uri="{FF2B5EF4-FFF2-40B4-BE49-F238E27FC236}">
                  <a16:creationId xmlns:a16="http://schemas.microsoft.com/office/drawing/2014/main" id="{E1EB4CA7-7CA8-4E45-B48F-A5F1FAF62383}"/>
                </a:ext>
              </a:extLst>
            </p:cNvPr>
            <p:cNvSpPr/>
            <p:nvPr/>
          </p:nvSpPr>
          <p:spPr bwMode="auto">
            <a:xfrm>
              <a:off x="6187641" y="1586100"/>
              <a:ext cx="4621874" cy="4744078"/>
            </a:xfrm>
            <a:prstGeom prst="snip2DiagRect">
              <a:avLst/>
            </a:prstGeom>
            <a:solidFill>
              <a:srgbClr val="88D5B8">
                <a:lumMod val="20000"/>
                <a:lumOff val="80000"/>
              </a:srgbClr>
            </a:solidFill>
            <a:ln w="6350" cap="flat" cmpd="sng" algn="ctr">
              <a:solidFill>
                <a:srgbClr val="88D5B8"/>
              </a:solidFill>
              <a:prstDash val="solid"/>
              <a:miter lim="800000"/>
            </a:ln>
            <a:effectLst/>
            <a:ex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2000" b="1" i="0" u="none" strike="noStrike" kern="0" cap="none" spc="0" normalizeH="0" baseline="0" noProof="0" dirty="0">
                <a:ln>
                  <a:noFill/>
                </a:ln>
                <a:solidFill>
                  <a:srgbClr val="122632"/>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ECDBA8EC-BF4A-4B06-BFD4-0C203FD90516}"/>
                </a:ext>
              </a:extLst>
            </p:cNvPr>
            <p:cNvSpPr txBox="1"/>
            <p:nvPr/>
          </p:nvSpPr>
          <p:spPr>
            <a:xfrm>
              <a:off x="6747982" y="1688234"/>
              <a:ext cx="3308420" cy="529898"/>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900" b="1" i="0" u="none" strike="noStrike" kern="0" cap="none" spc="0" normalizeH="0" baseline="0" noProof="0" dirty="0">
                  <a:ln>
                    <a:noFill/>
                  </a:ln>
                  <a:solidFill>
                    <a:srgbClr val="122632"/>
                  </a:solidFill>
                  <a:effectLst/>
                  <a:uLnTx/>
                  <a:uFillTx/>
                  <a:latin typeface="Arial" panose="020B0604020202020204"/>
                  <a:ea typeface="ＭＳ Ｐゴシック" pitchFamily="80" charset="-128"/>
                  <a:cs typeface="+mn-cs"/>
                </a:rPr>
                <a:t>WBS project definition in SAP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Arial" panose="020B0604020202020204"/>
                <a:ea typeface="ＭＳ Ｐゴシック" pitchFamily="80" charset="-128"/>
                <a:cs typeface="+mn-cs"/>
              </a:endParaRPr>
            </a:p>
          </p:txBody>
        </p:sp>
        <p:pic>
          <p:nvPicPr>
            <p:cNvPr id="19" name="Picture 18">
              <a:extLst>
                <a:ext uri="{FF2B5EF4-FFF2-40B4-BE49-F238E27FC236}">
                  <a16:creationId xmlns:a16="http://schemas.microsoft.com/office/drawing/2014/main" id="{C69247E6-9FB1-4328-A36C-13CDF9390C82}"/>
                </a:ext>
              </a:extLst>
            </p:cNvPr>
            <p:cNvPicPr>
              <a:picLocks noChangeAspect="1"/>
            </p:cNvPicPr>
            <p:nvPr/>
          </p:nvPicPr>
          <p:blipFill>
            <a:blip r:embed="rId2"/>
            <a:stretch>
              <a:fillRect/>
            </a:stretch>
          </p:blipFill>
          <p:spPr>
            <a:xfrm>
              <a:off x="6299929" y="4102002"/>
              <a:ext cx="4344736" cy="1549907"/>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2227118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6C24-8747-4B3A-AFF8-61446C27574C}"/>
              </a:ext>
            </a:extLst>
          </p:cNvPr>
          <p:cNvSpPr>
            <a:spLocks noGrp="1"/>
          </p:cNvSpPr>
          <p:nvPr>
            <p:ph type="title"/>
          </p:nvPr>
        </p:nvSpPr>
        <p:spPr/>
        <p:txBody>
          <a:bodyPr/>
          <a:lstStyle/>
          <a:p>
            <a:r>
              <a:rPr lang="en-GB" dirty="0"/>
              <a:t>Master Data T:Codes</a:t>
            </a:r>
            <a:endParaRPr lang="en-US" dirty="0"/>
          </a:p>
        </p:txBody>
      </p:sp>
      <p:sp>
        <p:nvSpPr>
          <p:cNvPr id="4" name="Footer Placeholder 3">
            <a:extLst>
              <a:ext uri="{FF2B5EF4-FFF2-40B4-BE49-F238E27FC236}">
                <a16:creationId xmlns:a16="http://schemas.microsoft.com/office/drawing/2014/main" id="{7C851E52-33C7-4364-94A3-08575C37103C}"/>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456385A6-AA15-45DB-B051-C1DBF5A2035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9C4B910E-2331-4750-B068-C442BEF5372C}"/>
              </a:ext>
            </a:extLst>
          </p:cNvPr>
          <p:cNvPicPr>
            <a:picLocks noChangeAspect="1"/>
          </p:cNvPicPr>
          <p:nvPr/>
        </p:nvPicPr>
        <p:blipFill>
          <a:blip r:embed="rId2"/>
          <a:stretch>
            <a:fillRect/>
          </a:stretch>
        </p:blipFill>
        <p:spPr>
          <a:xfrm>
            <a:off x="581982" y="1544859"/>
            <a:ext cx="7287873" cy="2229277"/>
          </a:xfrm>
          <a:prstGeom prst="rect">
            <a:avLst/>
          </a:prstGeom>
        </p:spPr>
      </p:pic>
      <p:sp>
        <p:nvSpPr>
          <p:cNvPr id="7" name="Rectangle: Rounded Corners 6">
            <a:extLst>
              <a:ext uri="{FF2B5EF4-FFF2-40B4-BE49-F238E27FC236}">
                <a16:creationId xmlns:a16="http://schemas.microsoft.com/office/drawing/2014/main" id="{F6EA0D48-4802-484B-BE7B-2951A7BCA930}"/>
              </a:ext>
            </a:extLst>
          </p:cNvPr>
          <p:cNvSpPr/>
          <p:nvPr/>
        </p:nvSpPr>
        <p:spPr>
          <a:xfrm>
            <a:off x="5797560" y="1544859"/>
            <a:ext cx="2076440" cy="38554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CJ03 – Display Project: WBS Overview</a:t>
            </a:r>
          </a:p>
        </p:txBody>
      </p:sp>
      <p:sp>
        <p:nvSpPr>
          <p:cNvPr id="8" name="Rectangle: Rounded Corners 7">
            <a:extLst>
              <a:ext uri="{FF2B5EF4-FFF2-40B4-BE49-F238E27FC236}">
                <a16:creationId xmlns:a16="http://schemas.microsoft.com/office/drawing/2014/main" id="{09916C51-D8A9-4582-BA45-BE0EA6492F89}"/>
              </a:ext>
            </a:extLst>
          </p:cNvPr>
          <p:cNvSpPr/>
          <p:nvPr/>
        </p:nvSpPr>
        <p:spPr>
          <a:xfrm>
            <a:off x="8267640" y="1462518"/>
            <a:ext cx="3408422" cy="2320672"/>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CJ03 – Displays a Project including all WBS Elements if you leave the WBS Element entry field blank (WBS Element is not mandatory in CJ03)</a:t>
            </a:r>
          </a:p>
          <a:p>
            <a:pPr marL="144000" marR="0" lvl="0" indent="-1440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The report displays in tabular form and is good to use to view Project overall but if specific WBS element details are required it is best to use CJ13</a:t>
            </a:r>
          </a:p>
        </p:txBody>
      </p:sp>
      <p:pic>
        <p:nvPicPr>
          <p:cNvPr id="9" name="Picture 8">
            <a:extLst>
              <a:ext uri="{FF2B5EF4-FFF2-40B4-BE49-F238E27FC236}">
                <a16:creationId xmlns:a16="http://schemas.microsoft.com/office/drawing/2014/main" id="{5B17503A-6FD0-4A7E-8D2F-4D4B55A17847}"/>
              </a:ext>
            </a:extLst>
          </p:cNvPr>
          <p:cNvPicPr>
            <a:picLocks noChangeAspect="1"/>
          </p:cNvPicPr>
          <p:nvPr/>
        </p:nvPicPr>
        <p:blipFill>
          <a:blip r:embed="rId3"/>
          <a:stretch>
            <a:fillRect/>
          </a:stretch>
        </p:blipFill>
        <p:spPr>
          <a:xfrm>
            <a:off x="8562803" y="2879752"/>
            <a:ext cx="2715997" cy="651839"/>
          </a:xfrm>
          <a:prstGeom prst="rect">
            <a:avLst/>
          </a:prstGeom>
        </p:spPr>
      </p:pic>
      <p:sp>
        <p:nvSpPr>
          <p:cNvPr id="10" name="Rectangle: Rounded Corners 9">
            <a:extLst>
              <a:ext uri="{FF2B5EF4-FFF2-40B4-BE49-F238E27FC236}">
                <a16:creationId xmlns:a16="http://schemas.microsoft.com/office/drawing/2014/main" id="{4A00E018-43E6-4D69-87CB-806F1D03D164}"/>
              </a:ext>
            </a:extLst>
          </p:cNvPr>
          <p:cNvSpPr/>
          <p:nvPr/>
        </p:nvSpPr>
        <p:spPr>
          <a:xfrm>
            <a:off x="966889" y="4152805"/>
            <a:ext cx="3408422" cy="2320672"/>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CJ13 – Displays a Project by WBS Elements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WBS Element is a mandatory field in CJ13 and therefore the master data being shown is ONLY for the named WBS</a:t>
            </a:r>
          </a:p>
          <a:p>
            <a:pPr marL="144000" marR="0" lvl="0" indent="-1440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The report shows in a more structural view with the specific WBS master data easily seen</a:t>
            </a:r>
          </a:p>
        </p:txBody>
      </p:sp>
      <p:pic>
        <p:nvPicPr>
          <p:cNvPr id="11" name="Picture 10">
            <a:extLst>
              <a:ext uri="{FF2B5EF4-FFF2-40B4-BE49-F238E27FC236}">
                <a16:creationId xmlns:a16="http://schemas.microsoft.com/office/drawing/2014/main" id="{6B4A0634-C878-4EC4-BE95-8ED7B3D13F9B}"/>
              </a:ext>
            </a:extLst>
          </p:cNvPr>
          <p:cNvPicPr>
            <a:picLocks noChangeAspect="1"/>
          </p:cNvPicPr>
          <p:nvPr/>
        </p:nvPicPr>
        <p:blipFill>
          <a:blip r:embed="rId4"/>
          <a:stretch>
            <a:fillRect/>
          </a:stretch>
        </p:blipFill>
        <p:spPr>
          <a:xfrm>
            <a:off x="1040218" y="5487239"/>
            <a:ext cx="3261764" cy="649401"/>
          </a:xfrm>
          <a:prstGeom prst="rect">
            <a:avLst/>
          </a:prstGeom>
        </p:spPr>
      </p:pic>
      <p:pic>
        <p:nvPicPr>
          <p:cNvPr id="12" name="Picture 11">
            <a:extLst>
              <a:ext uri="{FF2B5EF4-FFF2-40B4-BE49-F238E27FC236}">
                <a16:creationId xmlns:a16="http://schemas.microsoft.com/office/drawing/2014/main" id="{6BFF931B-7CC0-476D-A63B-601161F6A0DC}"/>
              </a:ext>
            </a:extLst>
          </p:cNvPr>
          <p:cNvPicPr>
            <a:picLocks noChangeAspect="1"/>
          </p:cNvPicPr>
          <p:nvPr/>
        </p:nvPicPr>
        <p:blipFill>
          <a:blip r:embed="rId5"/>
          <a:stretch>
            <a:fillRect/>
          </a:stretch>
        </p:blipFill>
        <p:spPr>
          <a:xfrm>
            <a:off x="4566390" y="4057587"/>
            <a:ext cx="5847610" cy="2456419"/>
          </a:xfrm>
          <a:prstGeom prst="rect">
            <a:avLst/>
          </a:prstGeom>
        </p:spPr>
      </p:pic>
      <p:sp>
        <p:nvSpPr>
          <p:cNvPr id="13" name="Rectangle: Rounded Corners 12">
            <a:extLst>
              <a:ext uri="{FF2B5EF4-FFF2-40B4-BE49-F238E27FC236}">
                <a16:creationId xmlns:a16="http://schemas.microsoft.com/office/drawing/2014/main" id="{1351028C-DDCD-4CB1-8746-F83B36EADB4E}"/>
              </a:ext>
            </a:extLst>
          </p:cNvPr>
          <p:cNvSpPr/>
          <p:nvPr/>
        </p:nvSpPr>
        <p:spPr>
          <a:xfrm>
            <a:off x="8829698" y="4132485"/>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p:txBody>
      </p:sp>
    </p:spTree>
    <p:extLst>
      <p:ext uri="{BB962C8B-B14F-4D97-AF65-F5344CB8AC3E}">
        <p14:creationId xmlns:p14="http://schemas.microsoft.com/office/powerpoint/2010/main" val="4174262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16BDD6-BDF0-4464-B034-28A03E4096F2}"/>
              </a:ext>
            </a:extLst>
          </p:cNvPr>
          <p:cNvPicPr>
            <a:picLocks noChangeAspect="1"/>
          </p:cNvPicPr>
          <p:nvPr/>
        </p:nvPicPr>
        <p:blipFill>
          <a:blip r:embed="rId3"/>
          <a:stretch>
            <a:fillRect/>
          </a:stretch>
        </p:blipFill>
        <p:spPr>
          <a:xfrm>
            <a:off x="973673" y="1415240"/>
            <a:ext cx="9398483" cy="3289469"/>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CJ03 – Display Project: </a:t>
            </a:r>
            <a:br>
              <a:rPr lang="en-GB" dirty="0"/>
            </a:br>
            <a:r>
              <a:rPr lang="en-GB" dirty="0"/>
              <a:t>Hierarchy and numbering convention</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B94A97F-1925-4343-AF06-A4A24B3BCB18}"/>
              </a:ext>
            </a:extLst>
          </p:cNvPr>
          <p:cNvSpPr/>
          <p:nvPr/>
        </p:nvSpPr>
        <p:spPr>
          <a:xfrm>
            <a:off x="8662680" y="1453005"/>
            <a:ext cx="1760104" cy="37579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CJ03 – Display Project: WBS Overview</a:t>
            </a:r>
          </a:p>
        </p:txBody>
      </p:sp>
      <p:sp>
        <p:nvSpPr>
          <p:cNvPr id="10" name="Callout: Bent Line 9">
            <a:extLst>
              <a:ext uri="{FF2B5EF4-FFF2-40B4-BE49-F238E27FC236}">
                <a16:creationId xmlns:a16="http://schemas.microsoft.com/office/drawing/2014/main" id="{4BF659CE-2B2B-4581-A4C2-747CC7FCB22A}"/>
              </a:ext>
            </a:extLst>
          </p:cNvPr>
          <p:cNvSpPr/>
          <p:nvPr/>
        </p:nvSpPr>
        <p:spPr>
          <a:xfrm>
            <a:off x="1156393" y="3647323"/>
            <a:ext cx="2410691" cy="1099127"/>
          </a:xfrm>
          <a:prstGeom prst="borderCallout2">
            <a:avLst>
              <a:gd name="adj1" fmla="val 102083"/>
              <a:gd name="adj2" fmla="val 52372"/>
              <a:gd name="adj3" fmla="val 127573"/>
              <a:gd name="adj4" fmla="val 37487"/>
              <a:gd name="adj5" fmla="val 128046"/>
              <a:gd name="adj6" fmla="val 37184"/>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B0961001-EA94-4169-B4AA-7F1ECDB31A7D}"/>
              </a:ext>
            </a:extLst>
          </p:cNvPr>
          <p:cNvSpPr/>
          <p:nvPr/>
        </p:nvSpPr>
        <p:spPr>
          <a:xfrm>
            <a:off x="743526" y="4819376"/>
            <a:ext cx="3706553" cy="1094511"/>
          </a:xfrm>
          <a:prstGeom prst="roundRect">
            <a:avLst>
              <a:gd name="adj" fmla="val 11539"/>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rPr>
              <a:t>You can display the full hierarchical project structure and navigate to individual WBS elements within it</a:t>
            </a: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rPr>
              <a:t>Details of the selected WBS is displayed on the right hand side of the screen and you can make changes to allowed fields and modify its status </a:t>
            </a:r>
            <a:endParaRPr kumimoji="0" lang="en-GB" sz="1100" b="0" i="1" u="none" strike="noStrike" kern="1200" cap="none" spc="0" normalizeH="0" baseline="30000" noProof="0" dirty="0">
              <a:ln>
                <a:noFill/>
              </a:ln>
              <a:solidFill>
                <a:srgbClr val="FF0000"/>
              </a:solidFill>
              <a:effectLst/>
              <a:uLnTx/>
              <a:uFillTx/>
              <a:latin typeface="Arial" panose="020B0604020202020204"/>
              <a:ea typeface="+mn-ea"/>
              <a:cs typeface="+mn-cs"/>
            </a:endParaRPr>
          </a:p>
        </p:txBody>
      </p:sp>
      <p:sp>
        <p:nvSpPr>
          <p:cNvPr id="3" name="Callout: Line 2">
            <a:extLst>
              <a:ext uri="{FF2B5EF4-FFF2-40B4-BE49-F238E27FC236}">
                <a16:creationId xmlns:a16="http://schemas.microsoft.com/office/drawing/2014/main" id="{A896027A-6912-4949-A653-16E85BB84081}"/>
              </a:ext>
            </a:extLst>
          </p:cNvPr>
          <p:cNvSpPr/>
          <p:nvPr/>
        </p:nvSpPr>
        <p:spPr>
          <a:xfrm>
            <a:off x="8566159" y="3769182"/>
            <a:ext cx="1988718" cy="935527"/>
          </a:xfrm>
          <a:prstGeom prst="borderCallout1">
            <a:avLst>
              <a:gd name="adj1" fmla="val 134636"/>
              <a:gd name="adj2" fmla="val -39454"/>
              <a:gd name="adj3" fmla="val 89380"/>
              <a:gd name="adj4" fmla="val 894"/>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1F6C871D-E788-4CA3-9D4E-29B3BF83EE87}"/>
              </a:ext>
            </a:extLst>
          </p:cNvPr>
          <p:cNvSpPr/>
          <p:nvPr/>
        </p:nvSpPr>
        <p:spPr>
          <a:xfrm>
            <a:off x="5758119" y="4925358"/>
            <a:ext cx="5387401" cy="1094510"/>
          </a:xfrm>
          <a:prstGeom prst="roundRect">
            <a:avLst>
              <a:gd name="adj" fmla="val 1153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There is a numbering convention of WBS as you can see. All WBS elements below the project WBS Structure element have a code ending with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t>
            </a:r>
            <a:r>
              <a:rPr kumimoji="0" lang="en-GB" sz="1100" b="0" i="0" u="none" strike="noStrike" kern="1200" cap="none" spc="0" normalizeH="0" baseline="0" noProof="0" dirty="0" err="1">
                <a:ln>
                  <a:noFill/>
                </a:ln>
                <a:solidFill>
                  <a:srgbClr val="000000"/>
                </a:solidFill>
                <a:effectLst/>
                <a:uLnTx/>
                <a:uFillTx/>
                <a:latin typeface="Arial" panose="020B0604020202020204"/>
                <a:ea typeface="+mn-ea"/>
                <a:cs typeface="+mn-cs"/>
              </a:rPr>
              <a:t>xxxxx</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which represents the running number of WBS elements within a project, e.g.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00001,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00002. etc.</a:t>
            </a: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The name of the WBS element was provided when it was created but can be modified if needed </a:t>
            </a:r>
          </a:p>
        </p:txBody>
      </p:sp>
    </p:spTree>
    <p:extLst>
      <p:ext uri="{BB962C8B-B14F-4D97-AF65-F5344CB8AC3E}">
        <p14:creationId xmlns:p14="http://schemas.microsoft.com/office/powerpoint/2010/main" val="599657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E92BDD-D6FE-472E-B551-AAFC57D19686}"/>
              </a:ext>
            </a:extLst>
          </p:cNvPr>
          <p:cNvPicPr>
            <a:picLocks noChangeAspect="1"/>
          </p:cNvPicPr>
          <p:nvPr/>
        </p:nvPicPr>
        <p:blipFill>
          <a:blip r:embed="rId3"/>
          <a:stretch>
            <a:fillRect/>
          </a:stretch>
        </p:blipFill>
        <p:spPr>
          <a:xfrm>
            <a:off x="654736" y="1531590"/>
            <a:ext cx="5441264" cy="4639883"/>
          </a:xfrm>
          <a:prstGeom prst="rect">
            <a:avLst/>
          </a:prstGeom>
        </p:spPr>
      </p:pic>
      <p:pic>
        <p:nvPicPr>
          <p:cNvPr id="4" name="Picture 3">
            <a:extLst>
              <a:ext uri="{FF2B5EF4-FFF2-40B4-BE49-F238E27FC236}">
                <a16:creationId xmlns:a16="http://schemas.microsoft.com/office/drawing/2014/main" id="{ED6AE771-0400-4088-AFE1-90F7C1108813}"/>
              </a:ext>
            </a:extLst>
          </p:cNvPr>
          <p:cNvPicPr>
            <a:picLocks noChangeAspect="1"/>
          </p:cNvPicPr>
          <p:nvPr/>
        </p:nvPicPr>
        <p:blipFill>
          <a:blip r:embed="rId4"/>
          <a:stretch>
            <a:fillRect/>
          </a:stretch>
        </p:blipFill>
        <p:spPr>
          <a:xfrm>
            <a:off x="7210663" y="1721035"/>
            <a:ext cx="4266767" cy="2721432"/>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CJ13 – Display WBS Element: </a:t>
            </a:r>
            <a:br>
              <a:rPr lang="en-GB" dirty="0"/>
            </a:br>
            <a:r>
              <a:rPr lang="en-GB" dirty="0"/>
              <a:t>Project Type and Priority</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B94A97F-1925-4343-AF06-A4A24B3BCB18}"/>
              </a:ext>
            </a:extLst>
          </p:cNvPr>
          <p:cNvSpPr/>
          <p:nvPr/>
        </p:nvSpPr>
        <p:spPr>
          <a:xfrm>
            <a:off x="4941455" y="1369162"/>
            <a:ext cx="1760104" cy="32485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p:txBody>
      </p:sp>
      <p:sp>
        <p:nvSpPr>
          <p:cNvPr id="18" name="Callout: Line 17">
            <a:extLst>
              <a:ext uri="{FF2B5EF4-FFF2-40B4-BE49-F238E27FC236}">
                <a16:creationId xmlns:a16="http://schemas.microsoft.com/office/drawing/2014/main" id="{359E9546-D59D-4C00-86E5-B851ACA15121}"/>
              </a:ext>
            </a:extLst>
          </p:cNvPr>
          <p:cNvSpPr/>
          <p:nvPr/>
        </p:nvSpPr>
        <p:spPr>
          <a:xfrm>
            <a:off x="7897040" y="2853445"/>
            <a:ext cx="2894011" cy="318216"/>
          </a:xfrm>
          <a:prstGeom prst="borderCallout1">
            <a:avLst>
              <a:gd name="adj1" fmla="val 40913"/>
              <a:gd name="adj2" fmla="val -710"/>
              <a:gd name="adj3" fmla="val 635688"/>
              <a:gd name="adj4" fmla="val -13512"/>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Callout: Line 18">
            <a:extLst>
              <a:ext uri="{FF2B5EF4-FFF2-40B4-BE49-F238E27FC236}">
                <a16:creationId xmlns:a16="http://schemas.microsoft.com/office/drawing/2014/main" id="{E5F7A53F-8E9B-4F5C-84D3-F298BECFA97F}"/>
              </a:ext>
            </a:extLst>
          </p:cNvPr>
          <p:cNvSpPr/>
          <p:nvPr/>
        </p:nvSpPr>
        <p:spPr>
          <a:xfrm>
            <a:off x="1563496" y="3266572"/>
            <a:ext cx="3607943" cy="421508"/>
          </a:xfrm>
          <a:prstGeom prst="borderCallout1">
            <a:avLst>
              <a:gd name="adj1" fmla="val 37981"/>
              <a:gd name="adj2" fmla="val 100017"/>
              <a:gd name="adj3" fmla="val 392410"/>
              <a:gd name="adj4" fmla="val 150725"/>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4ACEF317-23B1-4AB3-8953-B919753289CE}"/>
              </a:ext>
            </a:extLst>
          </p:cNvPr>
          <p:cNvSpPr/>
          <p:nvPr/>
        </p:nvSpPr>
        <p:spPr>
          <a:xfrm>
            <a:off x="6946839" y="4876278"/>
            <a:ext cx="4986543" cy="1669130"/>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Each Project Definition has a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Project Profile</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assigned to it upon creation. Project Profile determines the purpose of the project, i.e. for Intercompany Non-trade cross charge, GSC Capex, etc.</a:t>
            </a:r>
          </a:p>
          <a:p>
            <a:pPr marL="144000" marR="0" lvl="0" indent="-1440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Depending on the Project Profile, you can select different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Project Priority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at the WBS element level to indicate the usage of it, which also determines what you can or cannot do with the respective WBS later in the process.</a:t>
            </a:r>
          </a:p>
          <a:p>
            <a:pPr marL="144000" marR="0" lvl="0" indent="-1440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You will also notice there is a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Project Type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field at WBS level. This field is derived from Project profile and only visible in WBS elements belonging to projects of certain project profiles.</a:t>
            </a:r>
          </a:p>
        </p:txBody>
      </p:sp>
    </p:spTree>
    <p:extLst>
      <p:ext uri="{BB962C8B-B14F-4D97-AF65-F5344CB8AC3E}">
        <p14:creationId xmlns:p14="http://schemas.microsoft.com/office/powerpoint/2010/main" val="1735287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EAA742-A0C7-432E-A154-05ED352819F9}"/>
              </a:ext>
            </a:extLst>
          </p:cNvPr>
          <p:cNvPicPr>
            <a:picLocks noChangeAspect="1"/>
          </p:cNvPicPr>
          <p:nvPr/>
        </p:nvPicPr>
        <p:blipFill>
          <a:blip r:embed="rId2"/>
          <a:stretch>
            <a:fillRect/>
          </a:stretch>
        </p:blipFill>
        <p:spPr>
          <a:xfrm>
            <a:off x="926805" y="1728003"/>
            <a:ext cx="5759746" cy="4280120"/>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CJ13 – Display WBS Element: </a:t>
            </a:r>
            <a:br>
              <a:rPr lang="en-GB" dirty="0"/>
            </a:br>
            <a:r>
              <a:rPr lang="en-GB" dirty="0"/>
              <a:t>Priorities</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B94A97F-1925-4343-AF06-A4A24B3BCB18}"/>
              </a:ext>
            </a:extLst>
          </p:cNvPr>
          <p:cNvSpPr/>
          <p:nvPr/>
        </p:nvSpPr>
        <p:spPr>
          <a:xfrm>
            <a:off x="4528012" y="1759743"/>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p:txBody>
      </p:sp>
      <p:sp>
        <p:nvSpPr>
          <p:cNvPr id="15" name="Rectangle: Rounded Corners 14">
            <a:extLst>
              <a:ext uri="{FF2B5EF4-FFF2-40B4-BE49-F238E27FC236}">
                <a16:creationId xmlns:a16="http://schemas.microsoft.com/office/drawing/2014/main" id="{4ACEF317-23B1-4AB3-8953-B919753289CE}"/>
              </a:ext>
            </a:extLst>
          </p:cNvPr>
          <p:cNvSpPr/>
          <p:nvPr/>
        </p:nvSpPr>
        <p:spPr>
          <a:xfrm>
            <a:off x="9099813" y="1461394"/>
            <a:ext cx="2790435" cy="5012160"/>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Each WBS element has a “Priority”. It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distinguishes the types and usage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of different WBS elements.</a:t>
            </a: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Examples of WBS Priority:</a:t>
            </a:r>
          </a:p>
          <a:p>
            <a:pPr marL="468000" marR="0" lvl="1" indent="-22860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Structure – to be used for a higher level WBS element which groups multiple lower level WBS elements. At WBS Structure level no posting can be made but reporting is possible.</a:t>
            </a:r>
          </a:p>
          <a:p>
            <a:pPr marL="468000" marR="0" lvl="1" indent="-22860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OPEX * - to be used for </a:t>
            </a:r>
            <a:r>
              <a:rPr kumimoji="0" lang="en-GB" sz="1100" b="0" i="0" u="none" strike="noStrike" kern="1200" cap="none" spc="0" normalizeH="0" baseline="0" noProof="0" dirty="0" err="1">
                <a:ln>
                  <a:noFill/>
                </a:ln>
                <a:solidFill>
                  <a:srgbClr val="000000"/>
                </a:solidFill>
                <a:effectLst/>
                <a:uLnTx/>
                <a:uFillTx/>
                <a:latin typeface="Arial" panose="020B0604020202020204"/>
                <a:ea typeface="+mn-ea"/>
                <a:cs typeface="+mn-cs"/>
              </a:rPr>
              <a:t>OpEx</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costs which are statistical postings for traceability of costs, therefore are not settled at month end.</a:t>
            </a:r>
          </a:p>
          <a:p>
            <a:pPr marL="468000" marR="0" lvl="1" indent="-22860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Multi Branded Allocation – to be used for Marketing expenses that are to be settled to CO-PA on multiple SKU/brand </a:t>
            </a:r>
            <a:r>
              <a:rPr kumimoji="0" lang="en-GB" sz="1100" b="0" i="0" u="none" strike="noStrike" kern="1200" cap="none" spc="0" normalizeH="0" baseline="0" noProof="0" dirty="0" err="1">
                <a:ln>
                  <a:noFill/>
                </a:ln>
                <a:solidFill>
                  <a:srgbClr val="000000"/>
                </a:solidFill>
                <a:effectLst/>
                <a:uLnTx/>
                <a:uFillTx/>
                <a:latin typeface="Arial" panose="020B0604020202020204"/>
                <a:ea typeface="+mn-ea"/>
                <a:cs typeface="+mn-cs"/>
              </a:rPr>
              <a:t>family+product</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 type. </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Users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need to select the correct “Priority”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when creating each WBS element. Wrong Priority may restrict further processing of WBS elements, e.g. required master data field not populated, required posting cannot be made, period end settlement cannot be performed, etc.</a:t>
            </a:r>
          </a:p>
          <a:p>
            <a:pPr marL="239400" marR="0" lvl="1" indent="0" algn="l" defTabSz="914400" rtl="0" eaLnBrk="1" fontAlgn="auto" latinLnBrk="0" hangingPunct="1">
              <a:lnSpc>
                <a:spcPct val="100000"/>
              </a:lnSpc>
              <a:spcBef>
                <a:spcPts val="600"/>
              </a:spcBef>
              <a:spcAft>
                <a:spcPts val="0"/>
              </a:spcAft>
              <a:buClrTx/>
              <a:buSzTx/>
              <a:buFontTx/>
              <a:buNone/>
              <a:tabLst/>
              <a:defRPr/>
            </a:pPr>
            <a:endPar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0FF040A6-DCE7-4991-8862-436E6935FCC1}"/>
              </a:ext>
            </a:extLst>
          </p:cNvPr>
          <p:cNvPicPr>
            <a:picLocks noChangeAspect="1"/>
          </p:cNvPicPr>
          <p:nvPr/>
        </p:nvPicPr>
        <p:blipFill>
          <a:blip r:embed="rId3"/>
          <a:stretch>
            <a:fillRect/>
          </a:stretch>
        </p:blipFill>
        <p:spPr>
          <a:xfrm>
            <a:off x="5412509" y="2248674"/>
            <a:ext cx="3493341" cy="3444512"/>
          </a:xfrm>
          <a:prstGeom prst="rect">
            <a:avLst/>
          </a:prstGeom>
          <a:ln>
            <a:solidFill>
              <a:schemeClr val="accent1"/>
            </a:solidFill>
          </a:ln>
          <a:effectLst>
            <a:outerShdw blurRad="50800" dist="38100" dir="2700000" algn="tl" rotWithShape="0">
              <a:prstClr val="black">
                <a:alpha val="40000"/>
              </a:prstClr>
            </a:outerShdw>
          </a:effectLst>
        </p:spPr>
      </p:pic>
      <p:sp>
        <p:nvSpPr>
          <p:cNvPr id="14" name="Callout: Line 13">
            <a:extLst>
              <a:ext uri="{FF2B5EF4-FFF2-40B4-BE49-F238E27FC236}">
                <a16:creationId xmlns:a16="http://schemas.microsoft.com/office/drawing/2014/main" id="{E6A06899-2B07-4819-A17B-C1E9A67C2715}"/>
              </a:ext>
            </a:extLst>
          </p:cNvPr>
          <p:cNvSpPr/>
          <p:nvPr/>
        </p:nvSpPr>
        <p:spPr>
          <a:xfrm>
            <a:off x="1852816" y="4572924"/>
            <a:ext cx="3462712" cy="527396"/>
          </a:xfrm>
          <a:prstGeom prst="borderCallout1">
            <a:avLst>
              <a:gd name="adj1" fmla="val 37981"/>
              <a:gd name="adj2" fmla="val 100017"/>
              <a:gd name="adj3" fmla="val -385744"/>
              <a:gd name="adj4" fmla="val 120263"/>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Callout: Line 11">
            <a:extLst>
              <a:ext uri="{FF2B5EF4-FFF2-40B4-BE49-F238E27FC236}">
                <a16:creationId xmlns:a16="http://schemas.microsoft.com/office/drawing/2014/main" id="{8426530E-818E-48DF-8AFC-9119762AC6A4}"/>
              </a:ext>
            </a:extLst>
          </p:cNvPr>
          <p:cNvSpPr/>
          <p:nvPr/>
        </p:nvSpPr>
        <p:spPr>
          <a:xfrm>
            <a:off x="5997434" y="4743088"/>
            <a:ext cx="1043446" cy="265792"/>
          </a:xfrm>
          <a:prstGeom prst="borderCallout1">
            <a:avLst>
              <a:gd name="adj1" fmla="val 37981"/>
              <a:gd name="adj2" fmla="val 100017"/>
              <a:gd name="adj3" fmla="val -832981"/>
              <a:gd name="adj4" fmla="val 314029"/>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Callout: Line 12">
            <a:extLst>
              <a:ext uri="{FF2B5EF4-FFF2-40B4-BE49-F238E27FC236}">
                <a16:creationId xmlns:a16="http://schemas.microsoft.com/office/drawing/2014/main" id="{514E006F-31C9-455F-A80A-300C9849DFF2}"/>
              </a:ext>
            </a:extLst>
          </p:cNvPr>
          <p:cNvSpPr/>
          <p:nvPr/>
        </p:nvSpPr>
        <p:spPr>
          <a:xfrm>
            <a:off x="5997434" y="3710210"/>
            <a:ext cx="1043446" cy="265792"/>
          </a:xfrm>
          <a:prstGeom prst="borderCallout1">
            <a:avLst>
              <a:gd name="adj1" fmla="val 37981"/>
              <a:gd name="adj2" fmla="val 100017"/>
              <a:gd name="adj3" fmla="val 46203"/>
              <a:gd name="adj4" fmla="val 304292"/>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Callout: Line 16">
            <a:extLst>
              <a:ext uri="{FF2B5EF4-FFF2-40B4-BE49-F238E27FC236}">
                <a16:creationId xmlns:a16="http://schemas.microsoft.com/office/drawing/2014/main" id="{4B2991F4-0FCA-4C23-B7CC-3E678232CF9E}"/>
              </a:ext>
            </a:extLst>
          </p:cNvPr>
          <p:cNvSpPr/>
          <p:nvPr/>
        </p:nvSpPr>
        <p:spPr>
          <a:xfrm>
            <a:off x="5989468" y="4327202"/>
            <a:ext cx="1234292" cy="265792"/>
          </a:xfrm>
          <a:prstGeom prst="borderCallout1">
            <a:avLst>
              <a:gd name="adj1" fmla="val 37981"/>
              <a:gd name="adj2" fmla="val 100017"/>
              <a:gd name="adj3" fmla="val 46203"/>
              <a:gd name="adj4" fmla="val 267933"/>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21169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7128CA-925D-415B-9825-03DCF626F673}"/>
              </a:ext>
            </a:extLst>
          </p:cNvPr>
          <p:cNvPicPr>
            <a:picLocks noChangeAspect="1"/>
          </p:cNvPicPr>
          <p:nvPr/>
        </p:nvPicPr>
        <p:blipFill>
          <a:blip r:embed="rId2"/>
          <a:stretch>
            <a:fillRect/>
          </a:stretch>
        </p:blipFill>
        <p:spPr>
          <a:xfrm>
            <a:off x="1023786" y="1593740"/>
            <a:ext cx="5759746" cy="4280120"/>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CJ13 – Display WBS Element: </a:t>
            </a:r>
            <a:br>
              <a:rPr lang="en-GB" dirty="0"/>
            </a:br>
            <a:r>
              <a:rPr lang="en-GB" dirty="0"/>
              <a:t>Project Status</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B94A97F-1925-4343-AF06-A4A24B3BCB18}"/>
              </a:ext>
            </a:extLst>
          </p:cNvPr>
          <p:cNvSpPr/>
          <p:nvPr/>
        </p:nvSpPr>
        <p:spPr>
          <a:xfrm>
            <a:off x="4842972" y="1594460"/>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p:txBody>
      </p:sp>
      <p:sp>
        <p:nvSpPr>
          <p:cNvPr id="15" name="Rectangle: Rounded Corners 14">
            <a:extLst>
              <a:ext uri="{FF2B5EF4-FFF2-40B4-BE49-F238E27FC236}">
                <a16:creationId xmlns:a16="http://schemas.microsoft.com/office/drawing/2014/main" id="{4ACEF317-23B1-4AB3-8953-B919753289CE}"/>
              </a:ext>
            </a:extLst>
          </p:cNvPr>
          <p:cNvSpPr/>
          <p:nvPr/>
        </p:nvSpPr>
        <p:spPr>
          <a:xfrm>
            <a:off x="8433527" y="1415690"/>
            <a:ext cx="3242534" cy="5012160"/>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Every project and every WBS element has a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System Status and User Status</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Both Statuses are set either by users manually or by system automatically upon certain triggers, e.g. the WBS status will reflect that a budget has been entered if a user maintains budget for it.</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Status set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at Project level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is automatically inherited by its lower level WBS elements, however status set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at WBS element level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is only applicable to itself.</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Depending on the statuses of a WBS element, the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system restricts the user actions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that can be taken to process a WBS element. </a:t>
            </a:r>
          </a:p>
          <a:p>
            <a:pPr marL="468000" marR="0" lvl="1" indent="-22860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E.g. if the WBS element has status “TECO”, it means no further purchase requisitions can be raised against this WBS but you can continue to post invoices from POs linked to this WBS that were created before the TECO status was set</a:t>
            </a:r>
          </a:p>
          <a:p>
            <a:pPr marL="468000" marR="0" lvl="1" indent="-22860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endPar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39400" marR="0" lvl="1" indent="0" algn="l" defTabSz="914400" rtl="0" eaLnBrk="1" fontAlgn="auto" latinLnBrk="0" hangingPunct="1">
              <a:lnSpc>
                <a:spcPct val="100000"/>
              </a:lnSpc>
              <a:spcBef>
                <a:spcPts val="60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More on statuses in following slides. </a:t>
            </a:r>
          </a:p>
        </p:txBody>
      </p:sp>
      <p:sp>
        <p:nvSpPr>
          <p:cNvPr id="14" name="Callout: Line 13">
            <a:extLst>
              <a:ext uri="{FF2B5EF4-FFF2-40B4-BE49-F238E27FC236}">
                <a16:creationId xmlns:a16="http://schemas.microsoft.com/office/drawing/2014/main" id="{E6A06899-2B07-4819-A17B-C1E9A67C2715}"/>
              </a:ext>
            </a:extLst>
          </p:cNvPr>
          <p:cNvSpPr/>
          <p:nvPr/>
        </p:nvSpPr>
        <p:spPr>
          <a:xfrm>
            <a:off x="1633458" y="4887443"/>
            <a:ext cx="4553982" cy="986417"/>
          </a:xfrm>
          <a:prstGeom prst="borderCallout1">
            <a:avLst>
              <a:gd name="adj1" fmla="val 37981"/>
              <a:gd name="adj2" fmla="val 100017"/>
              <a:gd name="adj3" fmla="val 33651"/>
              <a:gd name="adj4" fmla="val 151810"/>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11468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2C149C-EC72-493D-B86E-0BBFF7BAC72B}"/>
              </a:ext>
            </a:extLst>
          </p:cNvPr>
          <p:cNvPicPr>
            <a:picLocks noChangeAspect="1"/>
          </p:cNvPicPr>
          <p:nvPr/>
        </p:nvPicPr>
        <p:blipFill>
          <a:blip r:embed="rId2"/>
          <a:stretch>
            <a:fillRect/>
          </a:stretch>
        </p:blipFill>
        <p:spPr>
          <a:xfrm>
            <a:off x="783500" y="1660686"/>
            <a:ext cx="6672266" cy="4636835"/>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CJ13 – Display WBS Element: Responsibilities</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B94A97F-1925-4343-AF06-A4A24B3BCB18}"/>
              </a:ext>
            </a:extLst>
          </p:cNvPr>
          <p:cNvSpPr/>
          <p:nvPr/>
        </p:nvSpPr>
        <p:spPr>
          <a:xfrm>
            <a:off x="6214572" y="1660686"/>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p:txBody>
      </p:sp>
      <p:sp>
        <p:nvSpPr>
          <p:cNvPr id="15" name="Rectangle: Rounded Corners 14">
            <a:extLst>
              <a:ext uri="{FF2B5EF4-FFF2-40B4-BE49-F238E27FC236}">
                <a16:creationId xmlns:a16="http://schemas.microsoft.com/office/drawing/2014/main" id="{4ACEF317-23B1-4AB3-8953-B919753289CE}"/>
              </a:ext>
            </a:extLst>
          </p:cNvPr>
          <p:cNvSpPr/>
          <p:nvPr/>
        </p:nvSpPr>
        <p:spPr>
          <a:xfrm>
            <a:off x="8433527" y="2225041"/>
            <a:ext cx="3242534" cy="4267199"/>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In JTI, projects are created via FIORI launchpad (with the exception of Interco cross charge projects), where users select within which JTI organization ( “Bucket”) a project is to be created.</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Depending on the “Bucket” selected, some default information such as company code, cost centers, etc. are assigned automatically. Users can modify them in Project master data if needed.</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The information here will be used for postings, e.g. any costs posted against the WBS will also have the corresponding “Responsible cost center” assigned to the same accounting line item, unless this has been changed in the relevant purchase order.</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The requesting cost </a:t>
            </a:r>
            <a:r>
              <a:rPr kumimoji="0" lang="en-GB" sz="1200" b="0"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 will pull into any PRs created for the WBS automatically on creation and entry of WBS Element</a:t>
            </a:r>
          </a:p>
        </p:txBody>
      </p:sp>
      <p:sp>
        <p:nvSpPr>
          <p:cNvPr id="14" name="Callout: Line 13">
            <a:extLst>
              <a:ext uri="{FF2B5EF4-FFF2-40B4-BE49-F238E27FC236}">
                <a16:creationId xmlns:a16="http://schemas.microsoft.com/office/drawing/2014/main" id="{E6A06899-2B07-4819-A17B-C1E9A67C2715}"/>
              </a:ext>
            </a:extLst>
          </p:cNvPr>
          <p:cNvSpPr/>
          <p:nvPr/>
        </p:nvSpPr>
        <p:spPr>
          <a:xfrm>
            <a:off x="783500" y="4873093"/>
            <a:ext cx="4225380" cy="1497227"/>
          </a:xfrm>
          <a:prstGeom prst="borderCallout1">
            <a:avLst>
              <a:gd name="adj1" fmla="val 58238"/>
              <a:gd name="adj2" fmla="val 100313"/>
              <a:gd name="adj3" fmla="val -34729"/>
              <a:gd name="adj4" fmla="val 181886"/>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41929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66AEBF3-0039-4931-B973-447A784A0097}"/>
              </a:ext>
            </a:extLst>
          </p:cNvPr>
          <p:cNvPicPr>
            <a:picLocks noChangeAspect="1"/>
          </p:cNvPicPr>
          <p:nvPr/>
        </p:nvPicPr>
        <p:blipFill>
          <a:blip r:embed="rId3"/>
          <a:stretch>
            <a:fillRect/>
          </a:stretch>
        </p:blipFill>
        <p:spPr>
          <a:xfrm>
            <a:off x="648862" y="1934224"/>
            <a:ext cx="5447138" cy="4600828"/>
          </a:xfrm>
          <a:prstGeom prst="rect">
            <a:avLst/>
          </a:prstGeom>
        </p:spPr>
      </p:pic>
      <p:sp>
        <p:nvSpPr>
          <p:cNvPr id="11" name="Rectangle: Rounded Corners 10">
            <a:extLst>
              <a:ext uri="{FF2B5EF4-FFF2-40B4-BE49-F238E27FC236}">
                <a16:creationId xmlns:a16="http://schemas.microsoft.com/office/drawing/2014/main" id="{B96AB70F-F6A5-4617-9C26-22707B437D27}"/>
              </a:ext>
            </a:extLst>
          </p:cNvPr>
          <p:cNvSpPr/>
          <p:nvPr/>
        </p:nvSpPr>
        <p:spPr>
          <a:xfrm>
            <a:off x="7645008" y="2350549"/>
            <a:ext cx="3633792" cy="3946972"/>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From cost management perspective, a WBS element is also a cost object, which is similar to a cost center or an internal order that is used to collect costs. Therefore for JTI, all WBS elements are  created within the JTI Controlling Area 1000 for cost management purposes.</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The Company Code information at project level is taken from the “Bucket” when a project is created. At lower WBS elements level you may extend the WBS to different company codes depending on the business scenarios.</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WBS elements used for cost management purposes also need “Functional Area”, which will support the categorization of costs in Market P&amp;L.</a:t>
            </a:r>
          </a:p>
        </p:txBody>
      </p:sp>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CJ13 – Display WBS Element: </a:t>
            </a:r>
            <a:br>
              <a:rPr lang="en-GB" dirty="0"/>
            </a:br>
            <a:r>
              <a:rPr lang="en-GB" dirty="0"/>
              <a:t>Organizational Data</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B94A97F-1925-4343-AF06-A4A24B3BCB18}"/>
              </a:ext>
            </a:extLst>
          </p:cNvPr>
          <p:cNvSpPr/>
          <p:nvPr/>
        </p:nvSpPr>
        <p:spPr>
          <a:xfrm>
            <a:off x="3657600" y="1897687"/>
            <a:ext cx="2082800" cy="337514"/>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p:txBody>
      </p:sp>
      <p:sp>
        <p:nvSpPr>
          <p:cNvPr id="10" name="Callout: Line 9">
            <a:extLst>
              <a:ext uri="{FF2B5EF4-FFF2-40B4-BE49-F238E27FC236}">
                <a16:creationId xmlns:a16="http://schemas.microsoft.com/office/drawing/2014/main" id="{D6C8494C-1308-4C3A-B2AA-F847BC8E5E86}"/>
              </a:ext>
            </a:extLst>
          </p:cNvPr>
          <p:cNvSpPr/>
          <p:nvPr/>
        </p:nvSpPr>
        <p:spPr>
          <a:xfrm>
            <a:off x="515939" y="5014167"/>
            <a:ext cx="3318409" cy="1520885"/>
          </a:xfrm>
          <a:prstGeom prst="borderCallout1">
            <a:avLst>
              <a:gd name="adj1" fmla="val 58238"/>
              <a:gd name="adj2" fmla="val 100313"/>
              <a:gd name="adj3" fmla="val -120460"/>
              <a:gd name="adj4" fmla="val 21543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9A225A5D-798C-445E-9F76-54BF3A213BC0}"/>
              </a:ext>
            </a:extLst>
          </p:cNvPr>
          <p:cNvSpPr/>
          <p:nvPr/>
        </p:nvSpPr>
        <p:spPr>
          <a:xfrm>
            <a:off x="515939" y="1382359"/>
            <a:ext cx="11259172" cy="445564"/>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6" name="Graphic 15" descr="Lightbulb and gear">
            <a:extLst>
              <a:ext uri="{FF2B5EF4-FFF2-40B4-BE49-F238E27FC236}">
                <a16:creationId xmlns:a16="http://schemas.microsoft.com/office/drawing/2014/main" id="{09E6794A-298D-4715-822D-7A95B96072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5939" y="1382359"/>
            <a:ext cx="445564" cy="445564"/>
          </a:xfrm>
          <a:prstGeom prst="rect">
            <a:avLst/>
          </a:prstGeom>
        </p:spPr>
      </p:pic>
      <p:sp>
        <p:nvSpPr>
          <p:cNvPr id="17" name="Rectangle 16">
            <a:extLst>
              <a:ext uri="{FF2B5EF4-FFF2-40B4-BE49-F238E27FC236}">
                <a16:creationId xmlns:a16="http://schemas.microsoft.com/office/drawing/2014/main" id="{F14020F5-C06B-433F-A298-37FF2CFF9658}"/>
              </a:ext>
            </a:extLst>
          </p:cNvPr>
          <p:cNvSpPr/>
          <p:nvPr/>
        </p:nvSpPr>
        <p:spPr>
          <a:xfrm>
            <a:off x="515939" y="1401744"/>
            <a:ext cx="11259172"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For different types (WBS Priority) of WBS elements, different fields are maintained in the WBS master data. See below examples.</a:t>
            </a:r>
          </a:p>
        </p:txBody>
      </p:sp>
    </p:spTree>
    <p:extLst>
      <p:ext uri="{BB962C8B-B14F-4D97-AF65-F5344CB8AC3E}">
        <p14:creationId xmlns:p14="http://schemas.microsoft.com/office/powerpoint/2010/main" val="1132564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FE2582F-5808-4E5B-9B43-8F00C8B7F779}"/>
              </a:ext>
            </a:extLst>
          </p:cNvPr>
          <p:cNvPicPr>
            <a:picLocks noChangeAspect="1"/>
          </p:cNvPicPr>
          <p:nvPr/>
        </p:nvPicPr>
        <p:blipFill>
          <a:blip r:embed="rId2"/>
          <a:stretch>
            <a:fillRect/>
          </a:stretch>
        </p:blipFill>
        <p:spPr>
          <a:xfrm>
            <a:off x="594374" y="1666241"/>
            <a:ext cx="6771626" cy="4662278"/>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CJ13 – Display WBS Element: </a:t>
            </a:r>
            <a:br>
              <a:rPr lang="en-GB" dirty="0"/>
            </a:br>
            <a:r>
              <a:rPr lang="en-GB" dirty="0"/>
              <a:t>Control Tab</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40B5810B-8FB2-42F7-AE82-758653D9CEE3}"/>
              </a:ext>
            </a:extLst>
          </p:cNvPr>
          <p:cNvSpPr/>
          <p:nvPr/>
        </p:nvSpPr>
        <p:spPr>
          <a:xfrm>
            <a:off x="3888250" y="1513371"/>
            <a:ext cx="3477750" cy="51839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Project Structure Level 1</a:t>
            </a:r>
          </a:p>
        </p:txBody>
      </p:sp>
      <p:sp>
        <p:nvSpPr>
          <p:cNvPr id="13" name="Rectangle: Rounded Corners 12">
            <a:extLst>
              <a:ext uri="{FF2B5EF4-FFF2-40B4-BE49-F238E27FC236}">
                <a16:creationId xmlns:a16="http://schemas.microsoft.com/office/drawing/2014/main" id="{8C3AC2F9-39C4-41E5-B5E7-56075EB7D0AB}"/>
              </a:ext>
            </a:extLst>
          </p:cNvPr>
          <p:cNvSpPr/>
          <p:nvPr/>
        </p:nvSpPr>
        <p:spPr>
          <a:xfrm>
            <a:off x="7963832" y="1666241"/>
            <a:ext cx="3801447" cy="4216399"/>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For </a:t>
            </a: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Opex</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and Above Brand Contribution WBS, you may have a BAP and budget control, which is populated in the “Control” tab on creation of Project in PPM.</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This is also informs users of the FX Rate type and date which is again indicated during Project creation in PPM, for example </a:t>
            </a: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P rate is AP rate, LE1 is June LE etc. The FX date just refers to the year that the FX is set for (e.g. AP20 rate will have 31.12.20) </a:t>
            </a: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If a project is part of a group of projects/initiative the ID of that initiative will be populated. </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If the project is one that involves different company codes it is set as a Global Project and the check box will indicate this</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0" name="Callout: Line 19">
            <a:extLst>
              <a:ext uri="{FF2B5EF4-FFF2-40B4-BE49-F238E27FC236}">
                <a16:creationId xmlns:a16="http://schemas.microsoft.com/office/drawing/2014/main" id="{680D77FC-619F-4249-A8F8-5DFD24623D72}"/>
              </a:ext>
            </a:extLst>
          </p:cNvPr>
          <p:cNvSpPr/>
          <p:nvPr/>
        </p:nvSpPr>
        <p:spPr>
          <a:xfrm>
            <a:off x="594375" y="4277361"/>
            <a:ext cx="2668674" cy="2020160"/>
          </a:xfrm>
          <a:prstGeom prst="borderCallout1">
            <a:avLst>
              <a:gd name="adj1" fmla="val 58238"/>
              <a:gd name="adj2" fmla="val 100313"/>
              <a:gd name="adj3" fmla="val -77711"/>
              <a:gd name="adj4" fmla="val 280920"/>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Callout: Line 20">
            <a:extLst>
              <a:ext uri="{FF2B5EF4-FFF2-40B4-BE49-F238E27FC236}">
                <a16:creationId xmlns:a16="http://schemas.microsoft.com/office/drawing/2014/main" id="{CC8EDD5F-AA1E-4513-AA29-E8B014AC5829}"/>
              </a:ext>
            </a:extLst>
          </p:cNvPr>
          <p:cNvSpPr/>
          <p:nvPr/>
        </p:nvSpPr>
        <p:spPr>
          <a:xfrm>
            <a:off x="3427326" y="5628639"/>
            <a:ext cx="1764434" cy="668881"/>
          </a:xfrm>
          <a:prstGeom prst="borderCallout1">
            <a:avLst>
              <a:gd name="adj1" fmla="val 58238"/>
              <a:gd name="adj2" fmla="val 100313"/>
              <a:gd name="adj3" fmla="val -55582"/>
              <a:gd name="adj4" fmla="val 267595"/>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97021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BCF5-0079-479B-8419-07B83D78437B}"/>
              </a:ext>
            </a:extLst>
          </p:cNvPr>
          <p:cNvSpPr>
            <a:spLocks noGrp="1"/>
          </p:cNvSpPr>
          <p:nvPr>
            <p:ph type="title"/>
          </p:nvPr>
        </p:nvSpPr>
        <p:spPr/>
        <p:txBody>
          <a:bodyPr/>
          <a:lstStyle/>
          <a:p>
            <a:r>
              <a:rPr lang="en-GB" dirty="0"/>
              <a:t>CJ13 – Display WBS Element: </a:t>
            </a:r>
            <a:br>
              <a:rPr lang="en-GB" dirty="0"/>
            </a:br>
            <a:r>
              <a:rPr lang="en-GB" dirty="0"/>
              <a:t>Statistical WBS Elements</a:t>
            </a:r>
            <a:endParaRPr lang="en-US" dirty="0"/>
          </a:p>
        </p:txBody>
      </p:sp>
      <p:sp>
        <p:nvSpPr>
          <p:cNvPr id="4" name="Footer Placeholder 3">
            <a:extLst>
              <a:ext uri="{FF2B5EF4-FFF2-40B4-BE49-F238E27FC236}">
                <a16:creationId xmlns:a16="http://schemas.microsoft.com/office/drawing/2014/main" id="{88D1FE8B-2242-4BDF-B52D-25F91DE83B8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D531B23D-180E-44BC-99C1-90B46D3DA3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95077D0C-C163-44E5-A802-6453BB75C9F4}"/>
              </a:ext>
            </a:extLst>
          </p:cNvPr>
          <p:cNvPicPr>
            <a:picLocks noChangeAspect="1"/>
          </p:cNvPicPr>
          <p:nvPr/>
        </p:nvPicPr>
        <p:blipFill>
          <a:blip r:embed="rId2"/>
          <a:stretch>
            <a:fillRect/>
          </a:stretch>
        </p:blipFill>
        <p:spPr>
          <a:xfrm>
            <a:off x="780203" y="1671205"/>
            <a:ext cx="7023752" cy="3794875"/>
          </a:xfrm>
          <a:prstGeom prst="rect">
            <a:avLst/>
          </a:prstGeom>
        </p:spPr>
      </p:pic>
      <p:sp>
        <p:nvSpPr>
          <p:cNvPr id="7" name="Rectangle: Rounded Corners 6">
            <a:extLst>
              <a:ext uri="{FF2B5EF4-FFF2-40B4-BE49-F238E27FC236}">
                <a16:creationId xmlns:a16="http://schemas.microsoft.com/office/drawing/2014/main" id="{EAC5FDAA-C601-4E5D-8EBC-2F67899F7BF0}"/>
              </a:ext>
            </a:extLst>
          </p:cNvPr>
          <p:cNvSpPr/>
          <p:nvPr/>
        </p:nvSpPr>
        <p:spPr>
          <a:xfrm>
            <a:off x="7963833" y="1666241"/>
            <a:ext cx="3633792" cy="3794876"/>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For </a:t>
            </a:r>
            <a:r>
              <a:rPr kumimoji="0" lang="en-GB" sz="1600" b="0" i="0" u="none" strike="noStrike" kern="1200" cap="none" spc="0" normalizeH="0" baseline="0" noProof="0" dirty="0" err="1">
                <a:ln>
                  <a:noFill/>
                </a:ln>
                <a:solidFill>
                  <a:srgbClr val="000000"/>
                </a:solidFill>
                <a:effectLst/>
                <a:uLnTx/>
                <a:uFillTx/>
                <a:latin typeface="Arial" panose="020B0604020202020204"/>
                <a:ea typeface="+mn-ea"/>
                <a:cs typeface="+mn-cs"/>
              </a:rPr>
              <a:t>Opex</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 and Above Brand Contribution WBS, you can have Statistical WBS Elements.</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Statistical WBS elements </a:t>
            </a: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are a reporting object only. You cannot post costs to a statistical WBS element. It is used for reporting purposes only as a view of the costs as a flow through object.</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Statistical WBS Elements are therefore not settled</a:t>
            </a: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 name="Callout: Line 7">
            <a:extLst>
              <a:ext uri="{FF2B5EF4-FFF2-40B4-BE49-F238E27FC236}">
                <a16:creationId xmlns:a16="http://schemas.microsoft.com/office/drawing/2014/main" id="{5BFBCBF5-860E-4978-8EF6-E69AFF4FC7FA}"/>
              </a:ext>
            </a:extLst>
          </p:cNvPr>
          <p:cNvSpPr/>
          <p:nvPr/>
        </p:nvSpPr>
        <p:spPr>
          <a:xfrm>
            <a:off x="4216400" y="3881119"/>
            <a:ext cx="1483360" cy="660401"/>
          </a:xfrm>
          <a:prstGeom prst="borderCallout1">
            <a:avLst>
              <a:gd name="adj1" fmla="val 58238"/>
              <a:gd name="adj2" fmla="val 100313"/>
              <a:gd name="adj3" fmla="val -55582"/>
              <a:gd name="adj4" fmla="val 267595"/>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590288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597DE6-AC4A-4BB8-9EB7-CE47410D3B6D}"/>
              </a:ext>
            </a:extLst>
          </p:cNvPr>
          <p:cNvPicPr>
            <a:picLocks noChangeAspect="1"/>
          </p:cNvPicPr>
          <p:nvPr/>
        </p:nvPicPr>
        <p:blipFill>
          <a:blip r:embed="rId2"/>
          <a:stretch>
            <a:fillRect/>
          </a:stretch>
        </p:blipFill>
        <p:spPr>
          <a:xfrm>
            <a:off x="515939" y="1513371"/>
            <a:ext cx="6550019" cy="4470869"/>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CJ13 – Display WBS Element: </a:t>
            </a:r>
            <a:br>
              <a:rPr lang="en-GB" dirty="0"/>
            </a:br>
            <a:r>
              <a:rPr lang="en-GB" dirty="0"/>
              <a:t>Branded WBS Elements: Master Data</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40B5810B-8FB2-42F7-AE82-758653D9CEE3}"/>
              </a:ext>
            </a:extLst>
          </p:cNvPr>
          <p:cNvSpPr/>
          <p:nvPr/>
        </p:nvSpPr>
        <p:spPr>
          <a:xfrm>
            <a:off x="5303520" y="1513371"/>
            <a:ext cx="1615440" cy="376389"/>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p:txBody>
      </p:sp>
      <p:sp>
        <p:nvSpPr>
          <p:cNvPr id="13" name="Rectangle: Rounded Corners 12">
            <a:extLst>
              <a:ext uri="{FF2B5EF4-FFF2-40B4-BE49-F238E27FC236}">
                <a16:creationId xmlns:a16="http://schemas.microsoft.com/office/drawing/2014/main" id="{8C3AC2F9-39C4-41E5-B5E7-56075EB7D0AB}"/>
              </a:ext>
            </a:extLst>
          </p:cNvPr>
          <p:cNvSpPr/>
          <p:nvPr/>
        </p:nvSpPr>
        <p:spPr>
          <a:xfrm>
            <a:off x="7963833" y="1666241"/>
            <a:ext cx="3633792" cy="1879599"/>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For a Branded WBS which is an Above Brand Contribution WBS that is used for one Brand family &amp; Product Type, these details are auto populated in CJ13 upon creation of the Branded WBS in Fiori.</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0" name="Callout: Line 19">
            <a:extLst>
              <a:ext uri="{FF2B5EF4-FFF2-40B4-BE49-F238E27FC236}">
                <a16:creationId xmlns:a16="http://schemas.microsoft.com/office/drawing/2014/main" id="{680D77FC-619F-4249-A8F8-5DFD24623D72}"/>
              </a:ext>
            </a:extLst>
          </p:cNvPr>
          <p:cNvSpPr/>
          <p:nvPr/>
        </p:nvSpPr>
        <p:spPr>
          <a:xfrm>
            <a:off x="594375" y="4826232"/>
            <a:ext cx="3571226" cy="629688"/>
          </a:xfrm>
          <a:prstGeom prst="borderCallout1">
            <a:avLst>
              <a:gd name="adj1" fmla="val 58238"/>
              <a:gd name="adj2" fmla="val 100313"/>
              <a:gd name="adj3" fmla="val -413618"/>
              <a:gd name="adj4" fmla="val 208403"/>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4" name="Picture 3">
            <a:extLst>
              <a:ext uri="{FF2B5EF4-FFF2-40B4-BE49-F238E27FC236}">
                <a16:creationId xmlns:a16="http://schemas.microsoft.com/office/drawing/2014/main" id="{A3E97505-56DF-4D59-9BFB-7EA4B31FDE75}"/>
              </a:ext>
            </a:extLst>
          </p:cNvPr>
          <p:cNvPicPr>
            <a:picLocks noChangeAspect="1"/>
          </p:cNvPicPr>
          <p:nvPr/>
        </p:nvPicPr>
        <p:blipFill>
          <a:blip r:embed="rId3"/>
          <a:stretch>
            <a:fillRect/>
          </a:stretch>
        </p:blipFill>
        <p:spPr>
          <a:xfrm>
            <a:off x="5938176" y="4608537"/>
            <a:ext cx="5340624" cy="1339919"/>
          </a:xfrm>
          <a:prstGeom prst="rect">
            <a:avLst/>
          </a:prstGeom>
          <a:ln w="22225">
            <a:solidFill>
              <a:schemeClr val="accent1"/>
            </a:solidFill>
            <a:prstDash val="dash"/>
          </a:ln>
        </p:spPr>
      </p:pic>
    </p:spTree>
    <p:extLst>
      <p:ext uri="{BB962C8B-B14F-4D97-AF65-F5344CB8AC3E}">
        <p14:creationId xmlns:p14="http://schemas.microsoft.com/office/powerpoint/2010/main" val="515637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46BB38E-76B5-410B-A258-AB7AF78968A8}"/>
              </a:ext>
            </a:extLst>
          </p:cNvPr>
          <p:cNvPicPr>
            <a:picLocks noChangeAspect="1"/>
          </p:cNvPicPr>
          <p:nvPr/>
        </p:nvPicPr>
        <p:blipFill>
          <a:blip r:embed="rId2"/>
          <a:stretch>
            <a:fillRect/>
          </a:stretch>
        </p:blipFill>
        <p:spPr>
          <a:xfrm>
            <a:off x="535277" y="1513371"/>
            <a:ext cx="6705945" cy="4400776"/>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CJ13 – Display WBS Element: </a:t>
            </a:r>
            <a:br>
              <a:rPr lang="en-GB" dirty="0"/>
            </a:br>
            <a:r>
              <a:rPr lang="en-GB" dirty="0"/>
              <a:t>Multi - Branded WBS Elements: Master Data</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40B5810B-8FB2-42F7-AE82-758653D9CEE3}"/>
              </a:ext>
            </a:extLst>
          </p:cNvPr>
          <p:cNvSpPr/>
          <p:nvPr/>
        </p:nvSpPr>
        <p:spPr>
          <a:xfrm>
            <a:off x="3888250" y="1513371"/>
            <a:ext cx="3477750" cy="51839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Tabs for an </a:t>
            </a:r>
            <a:r>
              <a:rPr kumimoji="0" lang="en-GB" sz="10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Opex</a:t>
            </a: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WBS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Project Structure Level 1</a:t>
            </a:r>
          </a:p>
        </p:txBody>
      </p:sp>
      <p:sp>
        <p:nvSpPr>
          <p:cNvPr id="13" name="Rectangle: Rounded Corners 12">
            <a:extLst>
              <a:ext uri="{FF2B5EF4-FFF2-40B4-BE49-F238E27FC236}">
                <a16:creationId xmlns:a16="http://schemas.microsoft.com/office/drawing/2014/main" id="{8C3AC2F9-39C4-41E5-B5E7-56075EB7D0AB}"/>
              </a:ext>
            </a:extLst>
          </p:cNvPr>
          <p:cNvSpPr/>
          <p:nvPr/>
        </p:nvSpPr>
        <p:spPr>
          <a:xfrm>
            <a:off x="7963833" y="1666241"/>
            <a:ext cx="3633792" cy="3881119"/>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For a Multi-Branded WBS which is an Above Brand Contribution WBS that cannot be assigned to a specific Brand family &amp; Product Type, an allocation key needs to be created to determine the rules by which the system should allocate costs to the different brand family/product types. </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This is indicated in the control tab of the Multi Branded WBS and is assigned in PPM at the time of creating the WBS</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0" name="Callout: Line 19">
            <a:extLst>
              <a:ext uri="{FF2B5EF4-FFF2-40B4-BE49-F238E27FC236}">
                <a16:creationId xmlns:a16="http://schemas.microsoft.com/office/drawing/2014/main" id="{680D77FC-619F-4249-A8F8-5DFD24623D72}"/>
              </a:ext>
            </a:extLst>
          </p:cNvPr>
          <p:cNvSpPr/>
          <p:nvPr/>
        </p:nvSpPr>
        <p:spPr>
          <a:xfrm>
            <a:off x="1031255" y="4511388"/>
            <a:ext cx="3571226" cy="629688"/>
          </a:xfrm>
          <a:prstGeom prst="borderCallout1">
            <a:avLst>
              <a:gd name="adj1" fmla="val 58238"/>
              <a:gd name="adj2" fmla="val 100313"/>
              <a:gd name="adj3" fmla="val -339397"/>
              <a:gd name="adj4" fmla="val 196454"/>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03026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46BB38E-76B5-410B-A258-AB7AF78968A8}"/>
              </a:ext>
            </a:extLst>
          </p:cNvPr>
          <p:cNvPicPr>
            <a:picLocks noChangeAspect="1"/>
          </p:cNvPicPr>
          <p:nvPr/>
        </p:nvPicPr>
        <p:blipFill>
          <a:blip r:embed="rId2"/>
          <a:stretch>
            <a:fillRect/>
          </a:stretch>
        </p:blipFill>
        <p:spPr>
          <a:xfrm>
            <a:off x="535277" y="1513371"/>
            <a:ext cx="6705945" cy="4400776"/>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CJ13 – Display WBS Element: </a:t>
            </a:r>
            <a:br>
              <a:rPr lang="en-GB" dirty="0"/>
            </a:br>
            <a:r>
              <a:rPr lang="en-GB" dirty="0"/>
              <a:t>Multi - Branded WBS Elements: Master Data</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40B5810B-8FB2-42F7-AE82-758653D9CEE3}"/>
              </a:ext>
            </a:extLst>
          </p:cNvPr>
          <p:cNvSpPr/>
          <p:nvPr/>
        </p:nvSpPr>
        <p:spPr>
          <a:xfrm>
            <a:off x="3888250" y="1513371"/>
            <a:ext cx="3477750" cy="51839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Element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Tabs for an </a:t>
            </a:r>
            <a:r>
              <a:rPr kumimoji="0" lang="en-GB" sz="10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Opex</a:t>
            </a: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WBS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Project Structure Level 1</a:t>
            </a:r>
          </a:p>
        </p:txBody>
      </p:sp>
      <p:sp>
        <p:nvSpPr>
          <p:cNvPr id="13" name="Rectangle: Rounded Corners 12">
            <a:extLst>
              <a:ext uri="{FF2B5EF4-FFF2-40B4-BE49-F238E27FC236}">
                <a16:creationId xmlns:a16="http://schemas.microsoft.com/office/drawing/2014/main" id="{8C3AC2F9-39C4-41E5-B5E7-56075EB7D0AB}"/>
              </a:ext>
            </a:extLst>
          </p:cNvPr>
          <p:cNvSpPr/>
          <p:nvPr/>
        </p:nvSpPr>
        <p:spPr>
          <a:xfrm>
            <a:off x="7963833" y="1666241"/>
            <a:ext cx="3633792" cy="3881119"/>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lvl="0" indent="-144000">
              <a:spcBef>
                <a:spcPts val="600"/>
              </a:spcBef>
              <a:buFont typeface="Arial" panose="020B0604020202020204" pitchFamily="34" charset="0"/>
              <a:buChar char="•"/>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Hub: is </a:t>
            </a:r>
            <a:r>
              <a:rPr lang="en-US" sz="1600" dirty="0">
                <a:solidFill>
                  <a:srgbClr val="000000"/>
                </a:solidFill>
              </a:rPr>
              <a:t>used by profit centers where we have above brand contribution expenses, but don’t have 3rd party sales. This is mainly for Global Functions (G* profit centers) or Management profit centers (M*).</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 </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28ACF5A6-1E81-4F55-8473-97BFE4458803}"/>
              </a:ext>
            </a:extLst>
          </p:cNvPr>
          <p:cNvPicPr>
            <a:picLocks noChangeAspect="1"/>
          </p:cNvPicPr>
          <p:nvPr/>
        </p:nvPicPr>
        <p:blipFill>
          <a:blip r:embed="rId3"/>
          <a:stretch>
            <a:fillRect/>
          </a:stretch>
        </p:blipFill>
        <p:spPr>
          <a:xfrm>
            <a:off x="731024" y="4187777"/>
            <a:ext cx="4381725" cy="1854295"/>
          </a:xfrm>
          <a:prstGeom prst="rect">
            <a:avLst/>
          </a:prstGeom>
        </p:spPr>
      </p:pic>
      <p:sp>
        <p:nvSpPr>
          <p:cNvPr id="20" name="Callout: Line 19">
            <a:extLst>
              <a:ext uri="{FF2B5EF4-FFF2-40B4-BE49-F238E27FC236}">
                <a16:creationId xmlns:a16="http://schemas.microsoft.com/office/drawing/2014/main" id="{680D77FC-619F-4249-A8F8-5DFD24623D72}"/>
              </a:ext>
            </a:extLst>
          </p:cNvPr>
          <p:cNvSpPr/>
          <p:nvPr/>
        </p:nvSpPr>
        <p:spPr>
          <a:xfrm>
            <a:off x="1031255" y="4905375"/>
            <a:ext cx="3571226" cy="342900"/>
          </a:xfrm>
          <a:prstGeom prst="borderCallout1">
            <a:avLst>
              <a:gd name="adj1" fmla="val 58238"/>
              <a:gd name="adj2" fmla="val 100313"/>
              <a:gd name="adj3" fmla="val -339397"/>
              <a:gd name="adj4" fmla="val 196454"/>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4" name="Picture 3">
            <a:extLst>
              <a:ext uri="{FF2B5EF4-FFF2-40B4-BE49-F238E27FC236}">
                <a16:creationId xmlns:a16="http://schemas.microsoft.com/office/drawing/2014/main" id="{C7EDF202-0062-4923-BBF0-C89C9067C939}"/>
              </a:ext>
            </a:extLst>
          </p:cNvPr>
          <p:cNvPicPr>
            <a:picLocks noChangeAspect="1"/>
          </p:cNvPicPr>
          <p:nvPr/>
        </p:nvPicPr>
        <p:blipFill>
          <a:blip r:embed="rId4"/>
          <a:stretch>
            <a:fillRect/>
          </a:stretch>
        </p:blipFill>
        <p:spPr>
          <a:xfrm>
            <a:off x="8856752" y="3279719"/>
            <a:ext cx="2000353" cy="2165461"/>
          </a:xfrm>
          <a:prstGeom prst="rect">
            <a:avLst/>
          </a:prstGeom>
        </p:spPr>
      </p:pic>
    </p:spTree>
    <p:extLst>
      <p:ext uri="{BB962C8B-B14F-4D97-AF65-F5344CB8AC3E}">
        <p14:creationId xmlns:p14="http://schemas.microsoft.com/office/powerpoint/2010/main" val="313506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p:txBody>
          <a:bodyPr/>
          <a:lstStyle/>
          <a:p>
            <a:r>
              <a:rPr lang="en-GB" dirty="0"/>
              <a:t>Master Data: Initiatives</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FCC0F233-5FA0-49AF-8892-8705CD35E655}"/>
              </a:ext>
            </a:extLst>
          </p:cNvPr>
          <p:cNvSpPr/>
          <p:nvPr/>
        </p:nvSpPr>
        <p:spPr>
          <a:xfrm>
            <a:off x="515939" y="1382359"/>
            <a:ext cx="11259172" cy="445564"/>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 name="Graphic 10" descr="Lightbulb and gear">
            <a:extLst>
              <a:ext uri="{FF2B5EF4-FFF2-40B4-BE49-F238E27FC236}">
                <a16:creationId xmlns:a16="http://schemas.microsoft.com/office/drawing/2014/main" id="{489B1E92-042A-4146-A76E-DD7E3CF745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1095" y="1382358"/>
            <a:ext cx="445564" cy="445564"/>
          </a:xfrm>
          <a:prstGeom prst="rect">
            <a:avLst/>
          </a:prstGeom>
        </p:spPr>
      </p:pic>
      <p:sp>
        <p:nvSpPr>
          <p:cNvPr id="13" name="Rectangle 12">
            <a:extLst>
              <a:ext uri="{FF2B5EF4-FFF2-40B4-BE49-F238E27FC236}">
                <a16:creationId xmlns:a16="http://schemas.microsoft.com/office/drawing/2014/main" id="{833C310F-0115-4B32-8779-59EBFBA488B5}"/>
              </a:ext>
            </a:extLst>
          </p:cNvPr>
          <p:cNvSpPr/>
          <p:nvPr/>
        </p:nvSpPr>
        <p:spPr>
          <a:xfrm>
            <a:off x="895268" y="1447291"/>
            <a:ext cx="10991234"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If multiple projects should be linked to one another for reporting / analysis purposes, this can be achieved by creating an </a:t>
            </a:r>
            <a:r>
              <a:rPr kumimoji="0" lang="en-US" sz="14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Initiative</a:t>
            </a: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t>
            </a:r>
          </a:p>
        </p:txBody>
      </p:sp>
      <p:pic>
        <p:nvPicPr>
          <p:cNvPr id="14" name="Picture 13">
            <a:extLst>
              <a:ext uri="{FF2B5EF4-FFF2-40B4-BE49-F238E27FC236}">
                <a16:creationId xmlns:a16="http://schemas.microsoft.com/office/drawing/2014/main" id="{175EC4A4-331B-4AF2-8C1C-BC118F40950D}"/>
              </a:ext>
            </a:extLst>
          </p:cNvPr>
          <p:cNvPicPr>
            <a:picLocks noChangeAspect="1"/>
          </p:cNvPicPr>
          <p:nvPr/>
        </p:nvPicPr>
        <p:blipFill>
          <a:blip r:embed="rId5"/>
          <a:stretch>
            <a:fillRect/>
          </a:stretch>
        </p:blipFill>
        <p:spPr>
          <a:xfrm>
            <a:off x="515938" y="1913672"/>
            <a:ext cx="9122603" cy="1993309"/>
          </a:xfrm>
          <a:prstGeom prst="rect">
            <a:avLst/>
          </a:prstGeom>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340022F7-6589-4814-965D-69B9C2565E3A}"/>
              </a:ext>
            </a:extLst>
          </p:cNvPr>
          <p:cNvPicPr>
            <a:picLocks noChangeAspect="1"/>
          </p:cNvPicPr>
          <p:nvPr/>
        </p:nvPicPr>
        <p:blipFill>
          <a:blip r:embed="rId6"/>
          <a:stretch>
            <a:fillRect/>
          </a:stretch>
        </p:blipFill>
        <p:spPr>
          <a:xfrm>
            <a:off x="2700787" y="3639734"/>
            <a:ext cx="5851096" cy="2898207"/>
          </a:xfrm>
          <a:prstGeom prst="rect">
            <a:avLst/>
          </a:prstGeom>
          <a:effectLst>
            <a:outerShdw blurRad="50800" dist="38100" dir="2700000" algn="tl" rotWithShape="0">
              <a:prstClr val="black">
                <a:alpha val="40000"/>
              </a:prstClr>
            </a:outerShdw>
          </a:effectLst>
        </p:spPr>
      </p:pic>
      <p:sp>
        <p:nvSpPr>
          <p:cNvPr id="16" name="Rectangle: Rounded Corners 15">
            <a:extLst>
              <a:ext uri="{FF2B5EF4-FFF2-40B4-BE49-F238E27FC236}">
                <a16:creationId xmlns:a16="http://schemas.microsoft.com/office/drawing/2014/main" id="{F3330CE3-AFFF-4C6B-9AF3-9C7667C947D9}"/>
              </a:ext>
            </a:extLst>
          </p:cNvPr>
          <p:cNvSpPr/>
          <p:nvPr/>
        </p:nvSpPr>
        <p:spPr>
          <a:xfrm>
            <a:off x="8294073" y="1923104"/>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FIORI – Display Initiative</a:t>
            </a:r>
          </a:p>
        </p:txBody>
      </p:sp>
      <p:sp>
        <p:nvSpPr>
          <p:cNvPr id="17" name="Rectangle: Rounded Corners 16">
            <a:extLst>
              <a:ext uri="{FF2B5EF4-FFF2-40B4-BE49-F238E27FC236}">
                <a16:creationId xmlns:a16="http://schemas.microsoft.com/office/drawing/2014/main" id="{F801C8CB-B3FC-4D1B-B3D7-B405B84D9C2C}"/>
              </a:ext>
            </a:extLst>
          </p:cNvPr>
          <p:cNvSpPr/>
          <p:nvPr/>
        </p:nvSpPr>
        <p:spPr>
          <a:xfrm>
            <a:off x="7207415" y="3649166"/>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CJ20N – Project Builder</a:t>
            </a:r>
          </a:p>
        </p:txBody>
      </p:sp>
      <p:cxnSp>
        <p:nvCxnSpPr>
          <p:cNvPr id="21" name="Connector: Elbow 20">
            <a:extLst>
              <a:ext uri="{FF2B5EF4-FFF2-40B4-BE49-F238E27FC236}">
                <a16:creationId xmlns:a16="http://schemas.microsoft.com/office/drawing/2014/main" id="{9038BE19-F4AD-443A-B4C5-BE00D281B4F3}"/>
              </a:ext>
            </a:extLst>
          </p:cNvPr>
          <p:cNvCxnSpPr/>
          <p:nvPr/>
        </p:nvCxnSpPr>
        <p:spPr>
          <a:xfrm>
            <a:off x="1511276" y="2111152"/>
            <a:ext cx="4115059" cy="3855539"/>
          </a:xfrm>
          <a:prstGeom prst="bentConnector3">
            <a:avLst>
              <a:gd name="adj1" fmla="val 87484"/>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6F9C288-E8C4-4926-8FB3-E26B6E1E35AF}"/>
              </a:ext>
            </a:extLst>
          </p:cNvPr>
          <p:cNvSpPr/>
          <p:nvPr/>
        </p:nvSpPr>
        <p:spPr>
          <a:xfrm>
            <a:off x="8628061" y="4018125"/>
            <a:ext cx="3388448" cy="2519815"/>
          </a:xfrm>
          <a:prstGeom prst="rect">
            <a:avLst/>
          </a:prstGeom>
        </p:spPr>
        <p:txBody>
          <a:bodyPr wrap="square">
            <a:noAutofit/>
          </a:bodyPr>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If a project is assigned to an Initiative, the number of the Initiative is visible in the project master data.</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It is possible to search for projects linked to a particular initiative in standard SAP WBS reports, such as line items reports/master data reports and GPM05</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300" b="0" i="0" u="none" strike="noStrike" kern="1200" cap="none" spc="0" normalizeH="0" baseline="0" noProof="0" dirty="0">
                <a:ln>
                  <a:noFill/>
                </a:ln>
                <a:solidFill>
                  <a:srgbClr val="000000"/>
                </a:solidFill>
                <a:effectLst/>
                <a:uLnTx/>
                <a:uFillTx/>
                <a:latin typeface="Arial" panose="020B0604020202020204"/>
                <a:ea typeface="+mn-ea"/>
                <a:cs typeface="+mn-cs"/>
              </a:rPr>
              <a:t>Examples of using Initiatives:</a:t>
            </a:r>
          </a:p>
          <a:p>
            <a:pPr marL="3874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Intercompany Asset Transfer </a:t>
            </a:r>
          </a:p>
          <a:p>
            <a:pPr marL="3874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Group multiple Opex/Marketing projects for reporting purpose.</a:t>
            </a:r>
          </a:p>
          <a:p>
            <a:pPr marL="387450" marR="0" lvl="1" indent="-17145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endPar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601200" marR="0" lvl="1"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60435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89240D-8588-4D4C-9A9C-BDE54614A510}"/>
              </a:ext>
            </a:extLst>
          </p:cNvPr>
          <p:cNvPicPr>
            <a:picLocks noChangeAspect="1"/>
          </p:cNvPicPr>
          <p:nvPr/>
        </p:nvPicPr>
        <p:blipFill>
          <a:blip r:embed="rId3"/>
          <a:stretch>
            <a:fillRect/>
          </a:stretch>
        </p:blipFill>
        <p:spPr>
          <a:xfrm>
            <a:off x="6667803" y="2429391"/>
            <a:ext cx="4881373" cy="1157684"/>
          </a:xfrm>
          <a:prstGeom prst="rect">
            <a:avLst/>
          </a:prstGeom>
        </p:spPr>
      </p:pic>
      <p:pic>
        <p:nvPicPr>
          <p:cNvPr id="3" name="Picture 2">
            <a:extLst>
              <a:ext uri="{FF2B5EF4-FFF2-40B4-BE49-F238E27FC236}">
                <a16:creationId xmlns:a16="http://schemas.microsoft.com/office/drawing/2014/main" id="{E8DA06B9-FED1-4578-AAF4-05E1A152BC9C}"/>
              </a:ext>
            </a:extLst>
          </p:cNvPr>
          <p:cNvPicPr>
            <a:picLocks noChangeAspect="1"/>
          </p:cNvPicPr>
          <p:nvPr/>
        </p:nvPicPr>
        <p:blipFill>
          <a:blip r:embed="rId4"/>
          <a:stretch>
            <a:fillRect/>
          </a:stretch>
        </p:blipFill>
        <p:spPr>
          <a:xfrm>
            <a:off x="515939" y="2429755"/>
            <a:ext cx="2939530" cy="833293"/>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p:txBody>
          <a:bodyPr/>
          <a:lstStyle/>
          <a:p>
            <a:r>
              <a:rPr lang="en-GB" dirty="0"/>
              <a:t>Master Data: Initiatives Creation</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FCC0F233-5FA0-49AF-8892-8705CD35E655}"/>
              </a:ext>
            </a:extLst>
          </p:cNvPr>
          <p:cNvSpPr/>
          <p:nvPr/>
        </p:nvSpPr>
        <p:spPr>
          <a:xfrm>
            <a:off x="515939" y="1382359"/>
            <a:ext cx="11259172" cy="845232"/>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 name="Graphic 10" descr="Lightbulb and gear">
            <a:extLst>
              <a:ext uri="{FF2B5EF4-FFF2-40B4-BE49-F238E27FC236}">
                <a16:creationId xmlns:a16="http://schemas.microsoft.com/office/drawing/2014/main" id="{489B1E92-042A-4146-A76E-DD7E3CF7454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1095" y="1382358"/>
            <a:ext cx="445564" cy="445564"/>
          </a:xfrm>
          <a:prstGeom prst="rect">
            <a:avLst/>
          </a:prstGeom>
        </p:spPr>
      </p:pic>
      <p:sp>
        <p:nvSpPr>
          <p:cNvPr id="13" name="Rectangle 12">
            <a:extLst>
              <a:ext uri="{FF2B5EF4-FFF2-40B4-BE49-F238E27FC236}">
                <a16:creationId xmlns:a16="http://schemas.microsoft.com/office/drawing/2014/main" id="{833C310F-0115-4B32-8779-59EBFBA488B5}"/>
              </a:ext>
            </a:extLst>
          </p:cNvPr>
          <p:cNvSpPr/>
          <p:nvPr/>
        </p:nvSpPr>
        <p:spPr>
          <a:xfrm>
            <a:off x="895268" y="1447291"/>
            <a:ext cx="10991234" cy="7386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Initiatives are created in SAP Fiori App “Initiatives”. Select Create Initiatives, choose the bucket required. This creates the initiative and then users just needs to assign the required projects they want to link together using the search functionality in Assigned Items after clicking Add. The Initiative field in CJ20N for all assigned projects will update with the newly created Initiative number</a:t>
            </a:r>
          </a:p>
        </p:txBody>
      </p:sp>
      <p:sp>
        <p:nvSpPr>
          <p:cNvPr id="16" name="Rectangle: Rounded Corners 15">
            <a:extLst>
              <a:ext uri="{FF2B5EF4-FFF2-40B4-BE49-F238E27FC236}">
                <a16:creationId xmlns:a16="http://schemas.microsoft.com/office/drawing/2014/main" id="{F3330CE3-AFFF-4C6B-9AF3-9C7667C947D9}"/>
              </a:ext>
            </a:extLst>
          </p:cNvPr>
          <p:cNvSpPr/>
          <p:nvPr/>
        </p:nvSpPr>
        <p:spPr>
          <a:xfrm>
            <a:off x="481803" y="2411691"/>
            <a:ext cx="1154492" cy="173934"/>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FIORI – Initiatives</a:t>
            </a:r>
          </a:p>
        </p:txBody>
      </p:sp>
      <p:pic>
        <p:nvPicPr>
          <p:cNvPr id="1026" name="Picture 2" descr="C:\Users\CSTSHA~1\AppData\Local\Temp\SNAGHTML1ad217e8.PNG">
            <a:extLst>
              <a:ext uri="{FF2B5EF4-FFF2-40B4-BE49-F238E27FC236}">
                <a16:creationId xmlns:a16="http://schemas.microsoft.com/office/drawing/2014/main" id="{27384A3A-9CD2-4181-8087-A1A8EA4CBF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27890" y="2430674"/>
            <a:ext cx="2939530" cy="7988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CSTSHA~1\AppData\Local\Temp\SNAGHTML1ad78cc2.PNG">
            <a:extLst>
              <a:ext uri="{FF2B5EF4-FFF2-40B4-BE49-F238E27FC236}">
                <a16:creationId xmlns:a16="http://schemas.microsoft.com/office/drawing/2014/main" id="{774BD3C6-90A5-4E3E-B11B-70274D1665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9180" y="3909407"/>
            <a:ext cx="2271532" cy="2083331"/>
          </a:xfrm>
          <a:prstGeom prst="rect">
            <a:avLst/>
          </a:prstGeom>
          <a:noFill/>
          <a:ln w="28575">
            <a:solidFill>
              <a:srgbClr val="33C1BA"/>
            </a:solidFill>
            <a:prstDash val="dash"/>
          </a:ln>
          <a:extLst>
            <a:ext uri="{909E8E84-426E-40DD-AFC4-6F175D3DCCD1}">
              <a14:hiddenFill xmlns:a14="http://schemas.microsoft.com/office/drawing/2010/main">
                <a:solidFill>
                  <a:srgbClr val="FFFFFF"/>
                </a:solidFill>
              </a14:hiddenFill>
            </a:ext>
          </a:extLst>
        </p:spPr>
      </p:pic>
      <p:cxnSp>
        <p:nvCxnSpPr>
          <p:cNvPr id="20" name="Connector: Elbow 19">
            <a:extLst>
              <a:ext uri="{FF2B5EF4-FFF2-40B4-BE49-F238E27FC236}">
                <a16:creationId xmlns:a16="http://schemas.microsoft.com/office/drawing/2014/main" id="{1921A46B-EFE0-4C30-A4C5-BD20622B75D0}"/>
              </a:ext>
            </a:extLst>
          </p:cNvPr>
          <p:cNvCxnSpPr>
            <a:cxnSpLocks/>
          </p:cNvCxnSpPr>
          <p:nvPr/>
        </p:nvCxnSpPr>
        <p:spPr>
          <a:xfrm flipV="1">
            <a:off x="1556085" y="3429000"/>
            <a:ext cx="5111718" cy="1837973"/>
          </a:xfrm>
          <a:prstGeom prst="bentConnector3">
            <a:avLst>
              <a:gd name="adj1" fmla="val 50000"/>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DAF7871D-8E2E-47B7-94BA-5143AAEA2A9F}"/>
              </a:ext>
            </a:extLst>
          </p:cNvPr>
          <p:cNvPicPr>
            <a:picLocks noChangeAspect="1"/>
          </p:cNvPicPr>
          <p:nvPr/>
        </p:nvPicPr>
        <p:blipFill>
          <a:blip r:embed="rId9"/>
          <a:stretch>
            <a:fillRect/>
          </a:stretch>
        </p:blipFill>
        <p:spPr>
          <a:xfrm>
            <a:off x="4253044" y="3788876"/>
            <a:ext cx="6382871" cy="2750705"/>
          </a:xfrm>
          <a:prstGeom prst="rect">
            <a:avLst/>
          </a:prstGeom>
        </p:spPr>
      </p:pic>
    </p:spTree>
    <p:extLst>
      <p:ext uri="{BB962C8B-B14F-4D97-AF65-F5344CB8AC3E}">
        <p14:creationId xmlns:p14="http://schemas.microsoft.com/office/powerpoint/2010/main" val="292679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p:txBody>
          <a:bodyPr/>
          <a:lstStyle/>
          <a:p>
            <a:r>
              <a:rPr lang="en-GB" dirty="0"/>
              <a:t>Master Data: Global Projects</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FCC0F233-5FA0-49AF-8892-8705CD35E655}"/>
              </a:ext>
            </a:extLst>
          </p:cNvPr>
          <p:cNvSpPr/>
          <p:nvPr/>
        </p:nvSpPr>
        <p:spPr>
          <a:xfrm>
            <a:off x="515939" y="1382357"/>
            <a:ext cx="11259172" cy="181378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 name="Graphic 10" descr="Lightbulb and gear">
            <a:extLst>
              <a:ext uri="{FF2B5EF4-FFF2-40B4-BE49-F238E27FC236}">
                <a16:creationId xmlns:a16="http://schemas.microsoft.com/office/drawing/2014/main" id="{489B1E92-042A-4146-A76E-DD7E3CF745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1095" y="1382358"/>
            <a:ext cx="445564" cy="445564"/>
          </a:xfrm>
          <a:prstGeom prst="rect">
            <a:avLst/>
          </a:prstGeom>
        </p:spPr>
      </p:pic>
      <p:sp>
        <p:nvSpPr>
          <p:cNvPr id="13" name="Rectangle 12">
            <a:extLst>
              <a:ext uri="{FF2B5EF4-FFF2-40B4-BE49-F238E27FC236}">
                <a16:creationId xmlns:a16="http://schemas.microsoft.com/office/drawing/2014/main" id="{833C310F-0115-4B32-8779-59EBFBA488B5}"/>
              </a:ext>
            </a:extLst>
          </p:cNvPr>
          <p:cNvSpPr/>
          <p:nvPr/>
        </p:nvSpPr>
        <p:spPr>
          <a:xfrm>
            <a:off x="895268" y="1447291"/>
            <a:ext cx="10991234" cy="160043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 global project is defined as an </a:t>
            </a:r>
            <a:r>
              <a:rPr kumimoji="0" lang="en-US" sz="14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rPr>
              <a:t>OpEx</a:t>
            </a: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or above brand contribution project that exists in more than one company code. They can be used for large projects across many entities such as BPM, or even relatively simple projects that such as shared costs between factory and market in the same location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Global Projects are created as per normal Project creation process. CJ20N is used to make a general Project a “Global” project. On the root (Level 2) WBS, Control tab the “Global Project” check box is checked. This defines the project as a global project and will allow different entities in different WBS elements. Without the tick you will get error messages when trying to save different WBS with different company codes. It can be made a Global Project at any time and doesn’t have to be immediately after creation.</a:t>
            </a:r>
          </a:p>
        </p:txBody>
      </p:sp>
      <p:pic>
        <p:nvPicPr>
          <p:cNvPr id="7" name="Picture 6">
            <a:extLst>
              <a:ext uri="{FF2B5EF4-FFF2-40B4-BE49-F238E27FC236}">
                <a16:creationId xmlns:a16="http://schemas.microsoft.com/office/drawing/2014/main" id="{6B5E4009-41F3-49D3-90AF-35D213A94D3B}"/>
              </a:ext>
            </a:extLst>
          </p:cNvPr>
          <p:cNvPicPr>
            <a:picLocks noChangeAspect="1"/>
          </p:cNvPicPr>
          <p:nvPr/>
        </p:nvPicPr>
        <p:blipFill>
          <a:blip r:embed="rId5"/>
          <a:stretch>
            <a:fillRect/>
          </a:stretch>
        </p:blipFill>
        <p:spPr>
          <a:xfrm>
            <a:off x="515939" y="3320710"/>
            <a:ext cx="6817484" cy="2897122"/>
          </a:xfrm>
          <a:prstGeom prst="rect">
            <a:avLst/>
          </a:prstGeom>
        </p:spPr>
      </p:pic>
    </p:spTree>
    <p:extLst>
      <p:ext uri="{BB962C8B-B14F-4D97-AF65-F5344CB8AC3E}">
        <p14:creationId xmlns:p14="http://schemas.microsoft.com/office/powerpoint/2010/main" val="25392557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43B927FF-8583-435F-B6C6-61ECC645CF61}"/>
              </a:ext>
            </a:extLst>
          </p:cNvPr>
          <p:cNvPicPr>
            <a:picLocks noChangeAspect="1"/>
          </p:cNvPicPr>
          <p:nvPr/>
        </p:nvPicPr>
        <p:blipFill>
          <a:blip r:embed="rId3"/>
          <a:stretch>
            <a:fillRect/>
          </a:stretch>
        </p:blipFill>
        <p:spPr>
          <a:xfrm>
            <a:off x="1511276" y="4335924"/>
            <a:ext cx="6546119" cy="1936048"/>
          </a:xfrm>
          <a:prstGeom prst="rect">
            <a:avLst/>
          </a:prstGeom>
        </p:spPr>
      </p:pic>
      <p:pic>
        <p:nvPicPr>
          <p:cNvPr id="18" name="Picture 17">
            <a:extLst>
              <a:ext uri="{FF2B5EF4-FFF2-40B4-BE49-F238E27FC236}">
                <a16:creationId xmlns:a16="http://schemas.microsoft.com/office/drawing/2014/main" id="{00DC123F-7983-4E11-B1BA-AA7F5FAA74E6}"/>
              </a:ext>
            </a:extLst>
          </p:cNvPr>
          <p:cNvPicPr>
            <a:picLocks noChangeAspect="1"/>
          </p:cNvPicPr>
          <p:nvPr/>
        </p:nvPicPr>
        <p:blipFill>
          <a:blip r:embed="rId4"/>
          <a:stretch>
            <a:fillRect/>
          </a:stretch>
        </p:blipFill>
        <p:spPr>
          <a:xfrm>
            <a:off x="720612" y="2038297"/>
            <a:ext cx="3519002" cy="2231684"/>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p:txBody>
          <a:bodyPr/>
          <a:lstStyle/>
          <a:p>
            <a:r>
              <a:rPr lang="en-GB" dirty="0"/>
              <a:t>Master Data: Global Projects Overview</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FCC0F233-5FA0-49AF-8892-8705CD35E655}"/>
              </a:ext>
            </a:extLst>
          </p:cNvPr>
          <p:cNvSpPr/>
          <p:nvPr/>
        </p:nvSpPr>
        <p:spPr>
          <a:xfrm>
            <a:off x="515939" y="1382359"/>
            <a:ext cx="11259172" cy="445564"/>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 name="Graphic 10" descr="Lightbulb and gear">
            <a:extLst>
              <a:ext uri="{FF2B5EF4-FFF2-40B4-BE49-F238E27FC236}">
                <a16:creationId xmlns:a16="http://schemas.microsoft.com/office/drawing/2014/main" id="{489B1E92-042A-4146-A76E-DD7E3CF7454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1095" y="1382358"/>
            <a:ext cx="445564" cy="445564"/>
          </a:xfrm>
          <a:prstGeom prst="rect">
            <a:avLst/>
          </a:prstGeom>
        </p:spPr>
      </p:pic>
      <p:sp>
        <p:nvSpPr>
          <p:cNvPr id="13" name="Rectangle 12">
            <a:extLst>
              <a:ext uri="{FF2B5EF4-FFF2-40B4-BE49-F238E27FC236}">
                <a16:creationId xmlns:a16="http://schemas.microsoft.com/office/drawing/2014/main" id="{833C310F-0115-4B32-8779-59EBFBA488B5}"/>
              </a:ext>
            </a:extLst>
          </p:cNvPr>
          <p:cNvSpPr/>
          <p:nvPr/>
        </p:nvSpPr>
        <p:spPr>
          <a:xfrm>
            <a:off x="895268" y="1447291"/>
            <a:ext cx="1099123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 </a:t>
            </a:r>
            <a:r>
              <a:rPr kumimoji="0" lang="en-US" sz="14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global project </a:t>
            </a: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is defined as an </a:t>
            </a:r>
            <a:r>
              <a:rPr kumimoji="0" lang="en-US" sz="14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rPr>
              <a:t>OpEx</a:t>
            </a: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or above brand contribution project that exists in more than one company code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t>
            </a:r>
          </a:p>
        </p:txBody>
      </p:sp>
      <p:sp>
        <p:nvSpPr>
          <p:cNvPr id="17" name="Rectangle: Rounded Corners 16">
            <a:extLst>
              <a:ext uri="{FF2B5EF4-FFF2-40B4-BE49-F238E27FC236}">
                <a16:creationId xmlns:a16="http://schemas.microsoft.com/office/drawing/2014/main" id="{F801C8CB-B3FC-4D1B-B3D7-B405B84D9C2C}"/>
              </a:ext>
            </a:extLst>
          </p:cNvPr>
          <p:cNvSpPr/>
          <p:nvPr/>
        </p:nvSpPr>
        <p:spPr>
          <a:xfrm>
            <a:off x="720612" y="2005774"/>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CJ20N – Project Builder</a:t>
            </a:r>
          </a:p>
        </p:txBody>
      </p:sp>
      <p:sp>
        <p:nvSpPr>
          <p:cNvPr id="19" name="Rectangle 18">
            <a:extLst>
              <a:ext uri="{FF2B5EF4-FFF2-40B4-BE49-F238E27FC236}">
                <a16:creationId xmlns:a16="http://schemas.microsoft.com/office/drawing/2014/main" id="{492A1176-F2AE-4B26-8981-25FED2C83BDF}"/>
              </a:ext>
            </a:extLst>
          </p:cNvPr>
          <p:cNvSpPr/>
          <p:nvPr/>
        </p:nvSpPr>
        <p:spPr>
          <a:xfrm>
            <a:off x="8324356" y="2054060"/>
            <a:ext cx="3323043" cy="2981463"/>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The Project is created by the responsible Entity/Function/Market etc</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as per usual project creation process and will create the structural WBS to be used.</a:t>
            </a:r>
            <a:endPar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For global projects the second level of WBS must still be W (Structure) elements. It is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mandatory</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that there should be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a structure WBS element per company code</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involved in the global project.</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Each entity can then create their own structure below this level 2  Structure WBS.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Each WBS element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MUST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have the Global Project check box checked.</a:t>
            </a:r>
            <a:endPar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7" name="Rectangle 26">
            <a:extLst>
              <a:ext uri="{FF2B5EF4-FFF2-40B4-BE49-F238E27FC236}">
                <a16:creationId xmlns:a16="http://schemas.microsoft.com/office/drawing/2014/main" id="{DA30C706-E9FF-475E-B40A-ACFBA6C788A9}"/>
              </a:ext>
            </a:extLst>
          </p:cNvPr>
          <p:cNvSpPr/>
          <p:nvPr/>
        </p:nvSpPr>
        <p:spPr>
          <a:xfrm>
            <a:off x="895268" y="2829827"/>
            <a:ext cx="1799806" cy="1319598"/>
          </a:xfrm>
          <a:prstGeom prst="rect">
            <a:avLst/>
          </a:prstGeom>
          <a:noFill/>
          <a:ln w="2222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8" name="Picture 27">
            <a:extLst>
              <a:ext uri="{FF2B5EF4-FFF2-40B4-BE49-F238E27FC236}">
                <a16:creationId xmlns:a16="http://schemas.microsoft.com/office/drawing/2014/main" id="{462AC0B7-6342-451F-A382-BF4489CB5C03}"/>
              </a:ext>
            </a:extLst>
          </p:cNvPr>
          <p:cNvPicPr>
            <a:picLocks noChangeAspect="1"/>
          </p:cNvPicPr>
          <p:nvPr/>
        </p:nvPicPr>
        <p:blipFill>
          <a:blip r:embed="rId7"/>
          <a:stretch>
            <a:fillRect/>
          </a:stretch>
        </p:blipFill>
        <p:spPr>
          <a:xfrm>
            <a:off x="4329249" y="2054060"/>
            <a:ext cx="3565338" cy="1877786"/>
          </a:xfrm>
          <a:prstGeom prst="rect">
            <a:avLst/>
          </a:prstGeom>
        </p:spPr>
      </p:pic>
      <p:sp>
        <p:nvSpPr>
          <p:cNvPr id="29" name="Rectangle: Rounded Corners 28">
            <a:extLst>
              <a:ext uri="{FF2B5EF4-FFF2-40B4-BE49-F238E27FC236}">
                <a16:creationId xmlns:a16="http://schemas.microsoft.com/office/drawing/2014/main" id="{55606E92-A26F-432A-87DD-B1E2CB118072}"/>
              </a:ext>
            </a:extLst>
          </p:cNvPr>
          <p:cNvSpPr/>
          <p:nvPr/>
        </p:nvSpPr>
        <p:spPr>
          <a:xfrm>
            <a:off x="1541820" y="4302504"/>
            <a:ext cx="1462562" cy="41543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CN43N – WBS Elements Overview</a:t>
            </a:r>
          </a:p>
        </p:txBody>
      </p:sp>
      <p:sp>
        <p:nvSpPr>
          <p:cNvPr id="30" name="Rectangle 29">
            <a:extLst>
              <a:ext uri="{FF2B5EF4-FFF2-40B4-BE49-F238E27FC236}">
                <a16:creationId xmlns:a16="http://schemas.microsoft.com/office/drawing/2014/main" id="{718FA643-F0B3-48A5-BB74-668CF0016F2C}"/>
              </a:ext>
            </a:extLst>
          </p:cNvPr>
          <p:cNvSpPr/>
          <p:nvPr/>
        </p:nvSpPr>
        <p:spPr>
          <a:xfrm rot="20096093">
            <a:off x="684568" y="3711840"/>
            <a:ext cx="2075942" cy="390843"/>
          </a:xfrm>
          <a:prstGeom prst="rect">
            <a:avLst/>
          </a:prstGeom>
          <a:solidFill>
            <a:schemeClr val="bg1"/>
          </a:solidFill>
          <a:ln w="19050"/>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Structural WBS Elements for each Company Code</a:t>
            </a:r>
          </a:p>
        </p:txBody>
      </p:sp>
      <p:sp>
        <p:nvSpPr>
          <p:cNvPr id="31" name="Rectangle 30">
            <a:extLst>
              <a:ext uri="{FF2B5EF4-FFF2-40B4-BE49-F238E27FC236}">
                <a16:creationId xmlns:a16="http://schemas.microsoft.com/office/drawing/2014/main" id="{2AD1A591-451D-4211-89DF-E8B5D420F6DB}"/>
              </a:ext>
            </a:extLst>
          </p:cNvPr>
          <p:cNvSpPr/>
          <p:nvPr/>
        </p:nvSpPr>
        <p:spPr>
          <a:xfrm rot="20096093">
            <a:off x="6061661" y="2746486"/>
            <a:ext cx="2009427" cy="659721"/>
          </a:xfrm>
          <a:prstGeom prst="rect">
            <a:avLst/>
          </a:prstGeom>
          <a:solidFill>
            <a:schemeClr val="bg1"/>
          </a:solidFill>
          <a:ln w="19050">
            <a:solidFill>
              <a:srgbClr val="06AF8F"/>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rPr>
              <a:t>Cost WBS Elements built under structural WBS for each Company Code</a:t>
            </a:r>
          </a:p>
        </p:txBody>
      </p:sp>
      <p:cxnSp>
        <p:nvCxnSpPr>
          <p:cNvPr id="34" name="Straight Arrow Connector 33">
            <a:extLst>
              <a:ext uri="{FF2B5EF4-FFF2-40B4-BE49-F238E27FC236}">
                <a16:creationId xmlns:a16="http://schemas.microsoft.com/office/drawing/2014/main" id="{A0D8C40B-AFBC-4EDC-9314-AA269184C6DF}"/>
              </a:ext>
            </a:extLst>
          </p:cNvPr>
          <p:cNvCxnSpPr/>
          <p:nvPr/>
        </p:nvCxnSpPr>
        <p:spPr>
          <a:xfrm>
            <a:off x="2480113" y="3800788"/>
            <a:ext cx="4190194" cy="1396854"/>
          </a:xfrm>
          <a:prstGeom prst="straightConnector1">
            <a:avLst/>
          </a:prstGeom>
          <a:ln w="19050">
            <a:solidFill>
              <a:srgbClr val="EAAA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286F116-823D-4978-BAD1-C99838F66B51}"/>
              </a:ext>
            </a:extLst>
          </p:cNvPr>
          <p:cNvCxnSpPr>
            <a:cxnSpLocks/>
          </p:cNvCxnSpPr>
          <p:nvPr/>
        </p:nvCxnSpPr>
        <p:spPr>
          <a:xfrm flipH="1">
            <a:off x="7080994" y="3106411"/>
            <a:ext cx="724259" cy="2415782"/>
          </a:xfrm>
          <a:prstGeom prst="straightConnector1">
            <a:avLst/>
          </a:prstGeom>
          <a:ln w="19050">
            <a:solidFill>
              <a:srgbClr val="06AF8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67EFA30-955A-4021-97E2-A14EE1D9F9F9}"/>
              </a:ext>
            </a:extLst>
          </p:cNvPr>
          <p:cNvCxnSpPr>
            <a:cxnSpLocks/>
          </p:cNvCxnSpPr>
          <p:nvPr/>
        </p:nvCxnSpPr>
        <p:spPr>
          <a:xfrm flipH="1">
            <a:off x="5443584" y="3021800"/>
            <a:ext cx="935267" cy="0"/>
          </a:xfrm>
          <a:prstGeom prst="straightConnector1">
            <a:avLst/>
          </a:prstGeom>
          <a:ln w="19050">
            <a:solidFill>
              <a:srgbClr val="06AF8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5780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0E2F0D-3963-401A-B177-7C46FBC3849A}"/>
              </a:ext>
            </a:extLst>
          </p:cNvPr>
          <p:cNvPicPr>
            <a:picLocks noChangeAspect="1"/>
          </p:cNvPicPr>
          <p:nvPr/>
        </p:nvPicPr>
        <p:blipFill>
          <a:blip r:embed="rId3"/>
          <a:stretch>
            <a:fillRect/>
          </a:stretch>
        </p:blipFill>
        <p:spPr>
          <a:xfrm>
            <a:off x="720612" y="2011458"/>
            <a:ext cx="5940070" cy="2778723"/>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p:txBody>
          <a:bodyPr/>
          <a:lstStyle/>
          <a:p>
            <a:r>
              <a:rPr lang="en-GB" dirty="0"/>
              <a:t>Master Data: Global Projects Overview</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FCC0F233-5FA0-49AF-8892-8705CD35E655}"/>
              </a:ext>
            </a:extLst>
          </p:cNvPr>
          <p:cNvSpPr/>
          <p:nvPr/>
        </p:nvSpPr>
        <p:spPr>
          <a:xfrm>
            <a:off x="515939" y="1382359"/>
            <a:ext cx="11259172" cy="445564"/>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 name="Graphic 10" descr="Lightbulb and gear">
            <a:extLst>
              <a:ext uri="{FF2B5EF4-FFF2-40B4-BE49-F238E27FC236}">
                <a16:creationId xmlns:a16="http://schemas.microsoft.com/office/drawing/2014/main" id="{489B1E92-042A-4146-A76E-DD7E3CF745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1095" y="1382358"/>
            <a:ext cx="445564" cy="445564"/>
          </a:xfrm>
          <a:prstGeom prst="rect">
            <a:avLst/>
          </a:prstGeom>
        </p:spPr>
      </p:pic>
      <p:sp>
        <p:nvSpPr>
          <p:cNvPr id="13" name="Rectangle 12">
            <a:extLst>
              <a:ext uri="{FF2B5EF4-FFF2-40B4-BE49-F238E27FC236}">
                <a16:creationId xmlns:a16="http://schemas.microsoft.com/office/drawing/2014/main" id="{833C310F-0115-4B32-8779-59EBFBA488B5}"/>
              </a:ext>
            </a:extLst>
          </p:cNvPr>
          <p:cNvSpPr/>
          <p:nvPr/>
        </p:nvSpPr>
        <p:spPr>
          <a:xfrm>
            <a:off x="895268" y="1447291"/>
            <a:ext cx="1099123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When creating the Structure WBS, due to several validation rules it is important to finalize all changes before pressing &lt;ENTER&gt;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t>
            </a:r>
          </a:p>
        </p:txBody>
      </p:sp>
      <p:sp>
        <p:nvSpPr>
          <p:cNvPr id="19" name="Rectangle 18">
            <a:extLst>
              <a:ext uri="{FF2B5EF4-FFF2-40B4-BE49-F238E27FC236}">
                <a16:creationId xmlns:a16="http://schemas.microsoft.com/office/drawing/2014/main" id="{492A1176-F2AE-4B26-8981-25FED2C83BDF}"/>
              </a:ext>
            </a:extLst>
          </p:cNvPr>
          <p:cNvSpPr/>
          <p:nvPr/>
        </p:nvSpPr>
        <p:spPr>
          <a:xfrm>
            <a:off x="7345786" y="2054060"/>
            <a:ext cx="4293484" cy="4365991"/>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The fields that must be populated before pressing enter are as follows: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Structure WBS element name: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Provide a suitable name for the structure element, there are 40 characters available. It is recommended that the structure element name should include the company code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Priority: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This should always be W for a structure WBS element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Responsible / requesting cost centers: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The cost centers applicable for the company code and profit center which you are creating the structure element for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Company Code: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The company code the structure element relates to. Ensure to enter the company code otherwise the Company code from the Project definition will default in</a:t>
            </a:r>
            <a:endPar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Profit Center: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The profit center the structure element relates to. Again this needs to entered manually so as not to default from Project Definition</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Currency: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This should be derived from the cost center, but this can also be entered when the structure WBS element is created </a:t>
            </a:r>
            <a:endParaRPr kumimoji="0" lang="en-GB"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4" name="Picture 3">
            <a:extLst>
              <a:ext uri="{FF2B5EF4-FFF2-40B4-BE49-F238E27FC236}">
                <a16:creationId xmlns:a16="http://schemas.microsoft.com/office/drawing/2014/main" id="{C987C5AD-9968-4835-A4DC-2E0768B75F2D}"/>
              </a:ext>
            </a:extLst>
          </p:cNvPr>
          <p:cNvPicPr>
            <a:picLocks noChangeAspect="1"/>
          </p:cNvPicPr>
          <p:nvPr/>
        </p:nvPicPr>
        <p:blipFill>
          <a:blip r:embed="rId6"/>
          <a:stretch>
            <a:fillRect/>
          </a:stretch>
        </p:blipFill>
        <p:spPr>
          <a:xfrm>
            <a:off x="2711771" y="4472068"/>
            <a:ext cx="3948911" cy="1825453"/>
          </a:xfrm>
          <a:prstGeom prst="rect">
            <a:avLst/>
          </a:prstGeom>
        </p:spPr>
      </p:pic>
    </p:spTree>
    <p:extLst>
      <p:ext uri="{BB962C8B-B14F-4D97-AF65-F5344CB8AC3E}">
        <p14:creationId xmlns:p14="http://schemas.microsoft.com/office/powerpoint/2010/main" val="2780004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6833269" y="1740301"/>
            <a:ext cx="4920619" cy="2062915"/>
            <a:chOff x="6011091" y="1784856"/>
            <a:chExt cx="4920619" cy="2062915"/>
          </a:xfrm>
        </p:grpSpPr>
        <p:cxnSp>
          <p:nvCxnSpPr>
            <p:cNvPr id="5" name="Elbow Connector 4"/>
            <p:cNvCxnSpPr/>
            <p:nvPr/>
          </p:nvCxnSpPr>
          <p:spPr>
            <a:xfrm flipV="1">
              <a:off x="6011091" y="195391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6011091" y="1784856"/>
              <a:ext cx="4920619" cy="2062915"/>
              <a:chOff x="6011091" y="1784856"/>
              <a:chExt cx="4920619" cy="2062915"/>
            </a:xfrm>
          </p:grpSpPr>
          <p:cxnSp>
            <p:nvCxnSpPr>
              <p:cNvPr id="8" name="Elbow Connector 7"/>
              <p:cNvCxnSpPr/>
              <p:nvPr/>
            </p:nvCxnSpPr>
            <p:spPr>
              <a:xfrm>
                <a:off x="6011091" y="2844850"/>
                <a:ext cx="1521084" cy="737049"/>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4" y="2844850"/>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707617" y="3344078"/>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1A3040"/>
                    </a:solidFill>
                    <a:effectLst/>
                    <a:uLnTx/>
                    <a:uFillTx/>
                    <a:latin typeface="Arial" charset="0"/>
                    <a:ea typeface="Arial" charset="0"/>
                    <a:cs typeface="Arial" charset="0"/>
                  </a:rPr>
                  <a:t>WBS Process Overview</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67062" y="1784856"/>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charset="0"/>
                    <a:ea typeface="+mn-ea"/>
                    <a:cs typeface="Arial" charset="0"/>
                  </a:rPr>
                  <a:t>Introduction to SAP Fiori</a:t>
                </a:r>
                <a:endParaRPr kumimoji="0" lang="en-GB" sz="2000" b="1" i="0" u="none" strike="noStrike" kern="1200" cap="none" spc="0" normalizeH="0" baseline="0" noProof="0" dirty="0">
                  <a:ln>
                    <a:noFill/>
                  </a:ln>
                  <a:solidFill>
                    <a:srgbClr val="FFFFFF"/>
                  </a:solidFill>
                  <a:effectLst/>
                  <a:uLnTx/>
                  <a:uFillTx/>
                  <a:latin typeface="Arial" charset="0"/>
                  <a:ea typeface="+mn-ea"/>
                  <a:cs typeface="Arial" charset="0"/>
                </a:endParaRPr>
              </a:p>
            </p:txBody>
          </p:sp>
          <p:sp>
            <p:nvSpPr>
              <p:cNvPr id="41" name="Rounded Rectangle 40"/>
              <p:cNvSpPr/>
              <p:nvPr/>
            </p:nvSpPr>
            <p:spPr>
              <a:xfrm>
                <a:off x="7667062" y="2540514"/>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Arial" charset="0"/>
                    <a:cs typeface="Arial" charset="0"/>
                  </a:rPr>
                  <a:t>WBS Elements Master Data</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887360" y="2609089"/>
            <a:ext cx="6717422" cy="1801797"/>
            <a:chOff x="4372240" y="2883731"/>
            <a:chExt cx="8624176"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552112"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69678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WBS Elements Process Overview</a:t>
            </a:r>
          </a:p>
        </p:txBody>
      </p:sp>
      <p:sp>
        <p:nvSpPr>
          <p:cNvPr id="4" name="Footer Placeholder 3"/>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Diagram 5">
            <a:extLst>
              <a:ext uri="{FF2B5EF4-FFF2-40B4-BE49-F238E27FC236}">
                <a16:creationId xmlns:a16="http://schemas.microsoft.com/office/drawing/2014/main" id="{6E756219-460C-4CAB-9C73-467BBF7209A7}"/>
              </a:ext>
            </a:extLst>
          </p:cNvPr>
          <p:cNvGraphicFramePr/>
          <p:nvPr>
            <p:extLst/>
          </p:nvPr>
        </p:nvGraphicFramePr>
        <p:xfrm>
          <a:off x="2328421" y="1612063"/>
          <a:ext cx="8085579" cy="4431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Arrow: Circular 7">
            <a:extLst>
              <a:ext uri="{FF2B5EF4-FFF2-40B4-BE49-F238E27FC236}">
                <a16:creationId xmlns:a16="http://schemas.microsoft.com/office/drawing/2014/main" id="{D872381F-2701-4275-AD5E-04F18C9658F4}"/>
              </a:ext>
            </a:extLst>
          </p:cNvPr>
          <p:cNvSpPr/>
          <p:nvPr/>
        </p:nvSpPr>
        <p:spPr>
          <a:xfrm rot="16200000">
            <a:off x="5713856" y="3628494"/>
            <a:ext cx="415946" cy="363017"/>
          </a:xfrm>
          <a:prstGeom prst="circularArrow">
            <a:avLst/>
          </a:prstGeom>
        </p:spPr>
        <p:style>
          <a:lnRef idx="2">
            <a:schemeClr val="lt1">
              <a:hueOff val="0"/>
              <a:satOff val="0"/>
              <a:lumOff val="0"/>
              <a:alphaOff val="0"/>
            </a:schemeClr>
          </a:lnRef>
          <a:fillRef idx="1">
            <a:schemeClr val="accent3">
              <a:tint val="40000"/>
              <a:hueOff val="0"/>
              <a:satOff val="0"/>
              <a:lumOff val="0"/>
              <a:alphaOff val="0"/>
            </a:schemeClr>
          </a:fillRef>
          <a:effectRef idx="0">
            <a:schemeClr val="accent3">
              <a:tint val="40000"/>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24978957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OVDSgFjbGT2kxK92sAlqD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nsZEfql.UEc4aecHaoopIA"/>
</p:tagLst>
</file>

<file path=ppt/theme/theme1.xml><?xml version="1.0" encoding="utf-8"?>
<a:theme xmlns:a="http://schemas.openxmlformats.org/drawingml/2006/main" name="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889A42-877C-4641-9508-4779F1FF17ED}">
  <ds:schemaRefs>
    <ds:schemaRef ds:uri="http://schemas.microsoft.com/sharepoint/v3/contenttype/forms"/>
  </ds:schemaRefs>
</ds:datastoreItem>
</file>

<file path=customXml/itemProps2.xml><?xml version="1.0" encoding="utf-8"?>
<ds:datastoreItem xmlns:ds="http://schemas.openxmlformats.org/officeDocument/2006/customXml" ds:itemID="{C76A1815-A7A5-4145-9D3D-304BD2B3AB18}">
  <ds:schemaRefs>
    <ds:schemaRef ds:uri="033d2065-0f41-4cc7-b07b-20f12998cf8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da913ec1-a210-4093-97d6-83558d020e4c"/>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57C027C1-4FAF-4DDF-AF2E-A1ED2B4AF681}"/>
</file>

<file path=docProps/app.xml><?xml version="1.0" encoding="utf-8"?>
<Properties xmlns="http://schemas.openxmlformats.org/officeDocument/2006/extended-properties" xmlns:vt="http://schemas.openxmlformats.org/officeDocument/2006/docPropsVTypes">
  <TotalTime>73</TotalTime>
  <Words>4447</Words>
  <Application>Microsoft Office PowerPoint</Application>
  <PresentationFormat>Widescreen</PresentationFormat>
  <Paragraphs>414</Paragraphs>
  <Slides>37</Slides>
  <Notes>10</Notes>
  <HiddenSlides>1</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37</vt:i4>
      </vt:variant>
    </vt:vector>
  </HeadingPairs>
  <TitlesOfParts>
    <vt:vector size="46" baseType="lpstr">
      <vt:lpstr>Arial</vt:lpstr>
      <vt:lpstr>Arial Black</vt:lpstr>
      <vt:lpstr>Calibri</vt:lpstr>
      <vt:lpstr>Courier New</vt:lpstr>
      <vt:lpstr>Georgia</vt:lpstr>
      <vt:lpstr>Wingdings</vt:lpstr>
      <vt:lpstr>JTI</vt:lpstr>
      <vt:lpstr>S4F-ERP G&amp;A &amp; Marketing Cost Management</vt:lpstr>
      <vt:lpstr>think-cell Slide</vt:lpstr>
      <vt:lpstr>PowerPoint Presentation</vt:lpstr>
      <vt:lpstr>WBS ELEMENTS</vt:lpstr>
      <vt:lpstr>Generic slides for each course</vt:lpstr>
      <vt:lpstr>PowerPoint Presentation</vt:lpstr>
      <vt:lpstr>Overview – About this course</vt:lpstr>
      <vt:lpstr>Course Structure</vt:lpstr>
      <vt:lpstr>SAP Fiori</vt:lpstr>
      <vt:lpstr>Demonstration: SAP Fiori Launchpad</vt:lpstr>
      <vt:lpstr>Course Structure</vt:lpstr>
      <vt:lpstr>Introduction to WBS</vt:lpstr>
      <vt:lpstr>Why Replacing Internal Orders with WBS?</vt:lpstr>
      <vt:lpstr>Project and Work Breakdown Structure</vt:lpstr>
      <vt:lpstr>WBS Priorities – WBS element types creation</vt:lpstr>
      <vt:lpstr>WBS Priorities – WBS element types creation</vt:lpstr>
      <vt:lpstr>WBS element – Master Data</vt:lpstr>
      <vt:lpstr>WBS Elements types</vt:lpstr>
      <vt:lpstr>WBS Elements Master Data</vt:lpstr>
      <vt:lpstr>WBS Project Definition – Master Data</vt:lpstr>
      <vt:lpstr>Master Data T:Codes</vt:lpstr>
      <vt:lpstr>CJ03 – Display Project:  Hierarchy and numbering convention</vt:lpstr>
      <vt:lpstr>CJ13 – Display WBS Element:  Project Type and Priority</vt:lpstr>
      <vt:lpstr>CJ13 – Display WBS Element:  Priorities</vt:lpstr>
      <vt:lpstr>CJ13 – Display WBS Element:  Project Status</vt:lpstr>
      <vt:lpstr>CJ13 – Display WBS Element: Responsibilities</vt:lpstr>
      <vt:lpstr>CJ13 – Display WBS Element:  Organizational Data</vt:lpstr>
      <vt:lpstr>CJ13 – Display WBS Element:  Control Tab</vt:lpstr>
      <vt:lpstr>CJ13 – Display WBS Element:  Statistical WBS Elements</vt:lpstr>
      <vt:lpstr>CJ13 – Display WBS Element:  Branded WBS Elements: Master Data</vt:lpstr>
      <vt:lpstr>CJ13 – Display WBS Element:  Multi - Branded WBS Elements: Master Data</vt:lpstr>
      <vt:lpstr>CJ13 – Display WBS Element:  Multi - Branded WBS Elements: Master Data</vt:lpstr>
      <vt:lpstr>Master Data: Initiatives</vt:lpstr>
      <vt:lpstr>Master Data: Initiatives Creation</vt:lpstr>
      <vt:lpstr>Master Data: Global Projects</vt:lpstr>
      <vt:lpstr>Master Data: Global Projects Overview</vt:lpstr>
      <vt:lpstr>Master Data: Global Projects Overview</vt:lpstr>
      <vt:lpstr>Course Structure</vt:lpstr>
      <vt:lpstr>WBS Elements Process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O'Neill, Shauna</dc:creator>
  <cp:lastModifiedBy>Kuznetsova, Elena</cp:lastModifiedBy>
  <cp:revision>1</cp:revision>
  <dcterms:created xsi:type="dcterms:W3CDTF">2019-10-10T12:18:36Z</dcterms:created>
  <dcterms:modified xsi:type="dcterms:W3CDTF">2020-05-06T23:28:50Z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1279400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